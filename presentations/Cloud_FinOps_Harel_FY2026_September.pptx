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5.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charts/chart16.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3f91821-b7e5-a4d5-6b2b-ffbbe65f8b4e}">
          <p14:sldIdLst>
            <p14:sldId id="256"/>
            <p14:sldId id="257"/>
            <p14:sldId id="258"/>
          </p14:sldIdLst>
        </p14:section>
        <p14:section name="01 Where the money goes" id="{a2097e76-4604-bd9e-b63c-e6e11798cd05}">
          <p14:sldIdLst>
            <p14:sldId id="259"/>
            <p14:sldId id="260"/>
            <p14:sldId id="261"/>
            <p14:sldId id="262"/>
          </p14:sldIdLst>
        </p14:section>
        <p14:section name="02 AI and the Factory" id="{741b7339-e771-6058-47f4-27aa455ed0f3}">
          <p14:sldIdLst>
            <p14:sldId id="263"/>
            <p14:sldId id="264"/>
            <p14:sldId id="265"/>
            <p14:sldId id="266"/>
            <p14:sldId id="267"/>
            <p14:sldId id="268"/>
          </p14:sldIdLst>
        </p14:section>
        <p14:section name="03 AWS" id="{b81e3d62-2d55-173a-e561-7f615b81e7d0}">
          <p14:sldIdLst>
            <p14:sldId id="269"/>
            <p14:sldId id="270"/>
            <p14:sldId id="271"/>
            <p14:sldId id="272"/>
            <p14:sldId id="273"/>
          </p14:sldIdLst>
        </p14:section>
        <p14:section name="04 Azure" id="{b4de6bb8-afb7-8071-ec19-51a2e20f2331}">
          <p14:sldIdLst>
            <p14:sldId id="274"/>
            <p14:sldId id="275"/>
            <p14:sldId id="276"/>
            <p14:sldId id="277"/>
            <p14:sldId id="278"/>
            <p14:sldId id="279"/>
            <p14:sldId id="280"/>
          </p14:sldIdLst>
        </p14:section>
        <p14:section name="05 Savings delivered" id="{abaa8b0d-4a09-df86-6377-c6d2c1e60c5c}">
          <p14:sldIdLst>
            <p14:sldId id="281"/>
            <p14:sldId id="282"/>
            <p14:sldId id="283"/>
            <p14:sldId id="284"/>
          </p14:sldIdLst>
        </p14:section>
        <p14:section name="06 Risks and next steps" id="{1d782143-c953-2689-e302-1cd7427f0409}">
          <p14:sldIdLst>
            <p14:sldId id="285"/>
            <p14:sldId id="286"/>
            <p14:sldId id="287"/>
            <p14:sldId id="288"/>
            <p14:sldId id="289"/>
          </p14:sldIdLst>
        </p14:section>
        <p14:section name="Appendix" id="{fd84044a-7f69-b93d-d159-32e4beced02b}">
          <p14:sldIdLst>
            <p14:sldId id="290"/>
            <p14:sldId id="291"/>
            <p14:sldId id="292"/>
            <p14:sldId id="293"/>
            <p14:sldId id="294"/>
            <p14:sldId id="295"/>
            <p14:sldId id="2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Azure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157</c:v>
                </c:pt>
                <c:pt idx="1">
                  <c:v>135.7</c:v>
                </c:pt>
                <c:pt idx="2">
                  <c:v>165.2</c:v>
                </c:pt>
                <c:pt idx="3">
                  <c:v>152.6</c:v>
                </c:pt>
                <c:pt idx="4">
                  <c:v>152.3</c:v>
                </c:pt>
                <c:pt idx="5">
                  <c:v>167.4</c:v>
                </c:pt>
                <c:pt idx="6">
                  <c:v>186.9</c:v>
                </c:pt>
                <c:pt idx="7">
                  <c:v>191.4</c:v>
                </c:pt>
                <c:pt idx="8">
                  <c:v>197.6</c:v>
                </c:pt>
              </c:numCache>
            </c:numRef>
          </c:val>
        </c:ser>
        <c:ser>
          <c:idx val="1"/>
          <c:order val="1"/>
          <c:tx>
            <c:strRef>
              <c:f>Sheet1!$C$1</c:f>
              <c:strCache>
                <c:ptCount val="1"/>
                <c:pt idx="0">
                  <c:v>AWS</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77.1</c:v>
                </c:pt>
                <c:pt idx="1">
                  <c:v>82.6</c:v>
                </c:pt>
                <c:pt idx="2">
                  <c:v>95.9</c:v>
                </c:pt>
                <c:pt idx="3">
                  <c:v>81.9</c:v>
                </c:pt>
                <c:pt idx="4">
                  <c:v>83.1</c:v>
                </c:pt>
                <c:pt idx="5">
                  <c:v>86.6</c:v>
                </c:pt>
                <c:pt idx="6">
                  <c:v>76.8</c:v>
                </c:pt>
                <c:pt idx="7">
                  <c:v>106.5</c:v>
                </c:pt>
                <c:pt idx="8">
                  <c:v>101</c:v>
                </c:pt>
              </c:numCache>
            </c:numRef>
          </c:val>
        </c:ser>
        <c:ser>
          <c:idx val="2"/>
          <c:order val="2"/>
          <c:tx>
            <c:strRef>
              <c:f>Sheet1!$D$1</c:f>
              <c:strCache>
                <c:ptCount val="1"/>
                <c:pt idx="0">
                  <c:v>GCP</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0.4</c:v>
                </c:pt>
                <c:pt idx="3">
                  <c:v>0.4</c:v>
                </c:pt>
                <c:pt idx="4">
                  <c:v>1.4</c:v>
                </c:pt>
                <c:pt idx="5">
                  <c:v>2.2</c:v>
                </c:pt>
                <c:pt idx="6">
                  <c:v>3.7</c:v>
                </c:pt>
                <c:pt idx="7">
                  <c:v>2.8</c:v>
                </c:pt>
                <c:pt idx="8">
                  <c:v>2.5</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2"/>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320"/>
        </c:scaling>
        <c:delete val="0"/>
        <c:axPos val="l"/>
        <c:majorGridlines>
          <c:spPr>
            <a:ln w="12700" cap="flat">
              <a:solidFill>
                <a:srgbClr val="E4EAF1"/>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majorUnit val="80"/>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AI services</c:v>
                </c:pt>
              </c:strCache>
            </c:strRef>
          </c:tx>
          <c:spPr>
            <a:solidFill>
              <a:srgbClr val="7C5CFF"/>
            </a:solidFill>
            <a:ln w="45720" cap="flat">
              <a:solidFill>
                <a:srgbClr val="7C5CFF"/>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7C5CFF"/>
              </a:solidFill>
              <a:ln w="9525" cap="flat">
                <a:solidFill>
                  <a:srgbClr val="7C5CFF"/>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9.2</c:v>
                </c:pt>
                <c:pt idx="1">
                  <c:v>11.2</c:v>
                </c:pt>
                <c:pt idx="2">
                  <c:v>14.4</c:v>
                </c:pt>
                <c:pt idx="3">
                  <c:v>17.7</c:v>
                </c:pt>
                <c:pt idx="4">
                  <c:v>27.6</c:v>
                </c:pt>
                <c:pt idx="5">
                  <c:v>52.4</c:v>
                </c:pt>
                <c:pt idx="6">
                  <c:v>78.5</c:v>
                </c:pt>
                <c:pt idx="7">
                  <c:v>99.7</c:v>
                </c:pt>
                <c:pt idx="8">
                  <c:v>101.7</c:v>
                </c:pt>
              </c:numCache>
            </c:numRef>
          </c:val>
          <c:smooth val="0"/>
        </c:ser>
        <c:ser>
          <c:idx val="1"/>
          <c:order val="1"/>
          <c:tx>
            <c:strRef>
              <c:f>Sheet1!$C$1</c:f>
              <c:strCache>
                <c:ptCount val="1"/>
                <c:pt idx="0">
                  <c:v>Everything else</c:v>
                </c:pt>
              </c:strCache>
            </c:strRef>
          </c:tx>
          <c:spPr>
            <a:solidFill>
              <a:srgbClr val="27496B"/>
            </a:solidFill>
            <a:ln w="45720" cap="flat">
              <a:solidFill>
                <a:srgbClr val="27496B"/>
              </a:solidFill>
              <a:prstDash val="solid"/>
              <a:round/>
            </a:ln>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27496B"/>
              </a:solidFill>
              <a:ln w="9525" cap="flat">
                <a:solidFill>
                  <a:srgbClr val="27496B"/>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224.9</c:v>
                </c:pt>
                <c:pt idx="1">
                  <c:v>207.1</c:v>
                </c:pt>
                <c:pt idx="2">
                  <c:v>247</c:v>
                </c:pt>
                <c:pt idx="3">
                  <c:v>217.2</c:v>
                </c:pt>
                <c:pt idx="4">
                  <c:v>209.1</c:v>
                </c:pt>
                <c:pt idx="5">
                  <c:v>203.8</c:v>
                </c:pt>
                <c:pt idx="6">
                  <c:v>189</c:v>
                </c:pt>
                <c:pt idx="7">
                  <c:v>201.1</c:v>
                </c:pt>
                <c:pt idx="8">
                  <c:v>199.4</c:v>
                </c:pt>
              </c:numCache>
            </c:numRef>
          </c:val>
          <c:smooth val="0"/>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260"/>
          <c:min val="0"/>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majorUnit val="65"/>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AWS Marketplace</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583.6</c:v>
                </c:pt>
                <c:pt idx="1">
                  <c:v>19.4</c:v>
                </c:pt>
                <c:pt idx="2">
                  <c:v>6.3</c:v>
                </c:pt>
                <c:pt idx="3">
                  <c:v>376.5</c:v>
                </c:pt>
                <c:pt idx="4">
                  <c:v>25.3</c:v>
                </c:pt>
                <c:pt idx="5">
                  <c:v>350.5</c:v>
                </c:pt>
                <c:pt idx="6">
                  <c:v>182.1</c:v>
                </c:pt>
                <c:pt idx="7">
                  <c:v>59.5</c:v>
                </c:pt>
                <c:pt idx="8">
                  <c:v>213.6</c:v>
                </c:pt>
              </c:numCache>
            </c:numRef>
          </c:val>
        </c:ser>
        <c:ser>
          <c:idx val="1"/>
          <c:order val="1"/>
          <c:tx>
            <c:strRef>
              <c:f>Sheet1!$C$1</c:f>
              <c:strCache>
                <c:ptCount val="1"/>
                <c:pt idx="0">
                  <c:v>Azure Marketplace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2.1</c:v>
                </c:pt>
                <c:pt idx="1">
                  <c:v>2</c:v>
                </c:pt>
                <c:pt idx="2">
                  <c:v>3.8</c:v>
                </c:pt>
                <c:pt idx="3">
                  <c:v>506.1</c:v>
                </c:pt>
                <c:pt idx="4">
                  <c:v>5.7</c:v>
                </c:pt>
                <c:pt idx="5">
                  <c:v>4.3</c:v>
                </c:pt>
                <c:pt idx="6">
                  <c:v>4.9</c:v>
                </c:pt>
                <c:pt idx="7">
                  <c:v>4.9</c:v>
                </c:pt>
                <c:pt idx="8">
                  <c:v>7.7</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2"/>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Amazon Bedrock (Claude)</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0.8</c:v>
                </c:pt>
                <c:pt idx="3">
                  <c:v>1.6</c:v>
                </c:pt>
                <c:pt idx="4">
                  <c:v>3.8</c:v>
                </c:pt>
                <c:pt idx="5">
                  <c:v>10.5</c:v>
                </c:pt>
                <c:pt idx="6">
                  <c:v>25.3</c:v>
                </c:pt>
                <c:pt idx="7">
                  <c:v>44.7</c:v>
                </c:pt>
                <c:pt idx="8">
                  <c:v>41.1</c:v>
                </c:pt>
              </c:numCache>
            </c:numRef>
          </c:val>
        </c:ser>
        <c:ser>
          <c:idx val="1"/>
          <c:order val="1"/>
          <c:tx>
            <c:strRef>
              <c:f>Sheet1!$C$1</c:f>
              <c:strCache>
                <c:ptCount val="1"/>
                <c:pt idx="0">
                  <c:v>Azure AI Foundry</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5.8</c:v>
                </c:pt>
                <c:pt idx="1">
                  <c:v>6.9</c:v>
                </c:pt>
                <c:pt idx="2">
                  <c:v>7.8</c:v>
                </c:pt>
                <c:pt idx="3">
                  <c:v>10.5</c:v>
                </c:pt>
                <c:pt idx="4">
                  <c:v>14.9</c:v>
                </c:pt>
                <c:pt idx="5">
                  <c:v>21.6</c:v>
                </c:pt>
                <c:pt idx="6">
                  <c:v>19.6</c:v>
                </c:pt>
                <c:pt idx="7">
                  <c:v>16.4</c:v>
                </c:pt>
                <c:pt idx="8">
                  <c:v>16.3</c:v>
                </c:pt>
              </c:numCache>
            </c:numRef>
          </c:val>
        </c:ser>
        <c:ser>
          <c:idx val="2"/>
          <c:order val="2"/>
          <c:tx>
            <c:strRef>
              <c:f>Sheet1!$D$1</c:f>
              <c:strCache>
                <c:ptCount val="1"/>
                <c:pt idx="0">
                  <c:v>GitHub + Copilot</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2.8</c:v>
                </c:pt>
                <c:pt idx="1">
                  <c:v>3.6</c:v>
                </c:pt>
                <c:pt idx="2">
                  <c:v>4.3</c:v>
                </c:pt>
                <c:pt idx="3">
                  <c:v>4.1</c:v>
                </c:pt>
                <c:pt idx="4">
                  <c:v>6.5</c:v>
                </c:pt>
                <c:pt idx="5">
                  <c:v>16.7</c:v>
                </c:pt>
                <c:pt idx="6">
                  <c:v>19.3</c:v>
                </c:pt>
                <c:pt idx="7">
                  <c:v>24</c:v>
                </c:pt>
                <c:pt idx="8">
                  <c:v>28.4</c:v>
                </c:pt>
              </c:numCache>
            </c:numRef>
          </c:val>
        </c:ser>
        <c:ser>
          <c:idx val="3"/>
          <c:order val="3"/>
          <c:tx>
            <c:strRef>
              <c:f>Sheet1!$E$1</c:f>
              <c:strCache>
                <c:ptCount val="1"/>
                <c:pt idx="0">
                  <c:v>Copilot Studio</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0.1</c:v>
                </c:pt>
                <c:pt idx="1">
                  <c:v>0.1</c:v>
                </c:pt>
                <c:pt idx="2">
                  <c:v>0.1</c:v>
                </c:pt>
                <c:pt idx="3">
                  <c:v>0.1</c:v>
                </c:pt>
                <c:pt idx="4">
                  <c:v>0.1</c:v>
                </c:pt>
                <c:pt idx="5">
                  <c:v>0</c:v>
                </c:pt>
                <c:pt idx="6">
                  <c:v>8.9</c:v>
                </c:pt>
                <c:pt idx="7">
                  <c:v>9.9</c:v>
                </c:pt>
                <c:pt idx="8">
                  <c:v>11.5</c:v>
                </c:pt>
              </c:numCache>
            </c:numRef>
          </c:val>
        </c:ser>
        <c:ser>
          <c:idx val="4"/>
          <c:order val="4"/>
          <c:tx>
            <c:strRef>
              <c:f>Sheet1!$F$1</c:f>
              <c:strCache>
                <c:ptCount val="1"/>
                <c:pt idx="0">
                  <c:v>Cognitive Search</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0.6</c:v>
                </c:pt>
                <c:pt idx="1">
                  <c:v>0.6</c:v>
                </c:pt>
                <c:pt idx="2">
                  <c:v>0.9</c:v>
                </c:pt>
                <c:pt idx="3">
                  <c:v>1.2</c:v>
                </c:pt>
                <c:pt idx="4">
                  <c:v>1.9</c:v>
                </c:pt>
                <c:pt idx="5">
                  <c:v>2.7</c:v>
                </c:pt>
                <c:pt idx="6">
                  <c:v>3</c:v>
                </c:pt>
                <c:pt idx="7">
                  <c:v>3.1</c:v>
                </c:pt>
                <c:pt idx="8">
                  <c:v>3.2</c:v>
                </c:pt>
              </c:numCache>
            </c:numRef>
          </c:val>
        </c:ser>
        <c:ser>
          <c:idx val="5"/>
          <c:order val="5"/>
          <c:tx>
            <c:strRef>
              <c:f>Sheet1!$G$1</c:f>
              <c:strCache>
                <c:ptCount val="1"/>
                <c:pt idx="0">
                  <c:v>GCP Vertex + Gemini</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0</c:v>
                </c:pt>
                <c:pt idx="1">
                  <c:v>0</c:v>
                </c:pt>
                <c:pt idx="2">
                  <c:v>0.4</c:v>
                </c:pt>
                <c:pt idx="3">
                  <c:v>0.1</c:v>
                </c:pt>
                <c:pt idx="4">
                  <c:v>0.5</c:v>
                </c:pt>
                <c:pt idx="5">
                  <c:v>1</c:v>
                </c:pt>
                <c:pt idx="6">
                  <c:v>2.4</c:v>
                </c:pt>
                <c:pt idx="7">
                  <c:v>1.5</c:v>
                </c:pt>
                <c:pt idx="8">
                  <c:v>1.2</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AI Factory core</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0.9</c:v>
                </c:pt>
                <c:pt idx="1">
                  <c:v>3.5</c:v>
                </c:pt>
                <c:pt idx="2">
                  <c:v>12.6</c:v>
                </c:pt>
                <c:pt idx="3">
                  <c:v>11.7</c:v>
                </c:pt>
                <c:pt idx="4">
                  <c:v>13.7</c:v>
                </c:pt>
                <c:pt idx="5">
                  <c:v>26.3</c:v>
                </c:pt>
                <c:pt idx="6">
                  <c:v>23.4</c:v>
                </c:pt>
                <c:pt idx="7">
                  <c:v>21.5</c:v>
                </c:pt>
                <c:pt idx="8">
                  <c:v>25.5</c:v>
                </c:pt>
              </c:numCache>
            </c:numRef>
          </c:val>
        </c:ser>
        <c:ser>
          <c:idx val="1"/>
          <c:order val="1"/>
          <c:tx>
            <c:strRef>
              <c:f>Sheet1!$C$1</c:f>
              <c:strCache>
                <c:ptCount val="1"/>
                <c:pt idx="0">
                  <c:v>Solugen</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0.9</c:v>
                </c:pt>
                <c:pt idx="1">
                  <c:v>0.9</c:v>
                </c:pt>
                <c:pt idx="2">
                  <c:v>1</c:v>
                </c:pt>
                <c:pt idx="3">
                  <c:v>2</c:v>
                </c:pt>
                <c:pt idx="4">
                  <c:v>10.7</c:v>
                </c:pt>
                <c:pt idx="5">
                  <c:v>7.2</c:v>
                </c:pt>
                <c:pt idx="6">
                  <c:v>8.9</c:v>
                </c:pt>
                <c:pt idx="7">
                  <c:v>7.6</c:v>
                </c:pt>
                <c:pt idx="8">
                  <c:v>8</c:v>
                </c:pt>
              </c:numCache>
            </c:numRef>
          </c:val>
        </c:ser>
        <c:ser>
          <c:idx val="2"/>
          <c:order val="2"/>
          <c:tx>
            <c:strRef>
              <c:f>Sheet1!$D$1</c:f>
              <c:strCache>
                <c:ptCount val="1"/>
                <c:pt idx="0">
                  <c:v>Document Intelligence (OCR)</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4.2</c:v>
                </c:pt>
                <c:pt idx="1">
                  <c:v>4.3</c:v>
                </c:pt>
                <c:pt idx="2">
                  <c:v>3.6</c:v>
                </c:pt>
                <c:pt idx="3">
                  <c:v>2.2</c:v>
                </c:pt>
                <c:pt idx="4">
                  <c:v>3.4</c:v>
                </c:pt>
                <c:pt idx="5">
                  <c:v>6.1</c:v>
                </c:pt>
                <c:pt idx="6">
                  <c:v>7.3</c:v>
                </c:pt>
                <c:pt idx="7">
                  <c:v>6.3</c:v>
                </c:pt>
                <c:pt idx="8">
                  <c:v>5.8</c:v>
                </c:pt>
              </c:numCache>
            </c:numRef>
          </c:val>
        </c:ser>
        <c:ser>
          <c:idx val="3"/>
          <c:order val="3"/>
          <c:tx>
            <c:strRef>
              <c:f>Sheet1!$E$1</c:f>
              <c:strCache>
                <c:ptCount val="1"/>
                <c:pt idx="0">
                  <c:v>INSAIT</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1.1</c:v>
                </c:pt>
                <c:pt idx="1">
                  <c:v>1.9</c:v>
                </c:pt>
                <c:pt idx="2">
                  <c:v>1.4</c:v>
                </c:pt>
                <c:pt idx="3">
                  <c:v>1.4</c:v>
                </c:pt>
                <c:pt idx="4">
                  <c:v>1.5</c:v>
                </c:pt>
                <c:pt idx="5">
                  <c:v>1.6</c:v>
                </c:pt>
                <c:pt idx="6">
                  <c:v>2</c:v>
                </c:pt>
                <c:pt idx="7">
                  <c:v>2.8</c:v>
                </c:pt>
                <c:pt idx="8">
                  <c:v>2.6</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Claude Opus 5</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0</c:v>
                </c:pt>
                <c:pt idx="5">
                  <c:v>0</c:v>
                </c:pt>
                <c:pt idx="6">
                  <c:v>0.69</c:v>
                </c:pt>
                <c:pt idx="7">
                  <c:v>9.02</c:v>
                </c:pt>
                <c:pt idx="8">
                  <c:v>14.24</c:v>
                </c:pt>
              </c:numCache>
            </c:numRef>
          </c:val>
        </c:ser>
        <c:ser>
          <c:idx val="1"/>
          <c:order val="1"/>
          <c:tx>
            <c:strRef>
              <c:f>Sheet1!$C$1</c:f>
              <c:strCache>
                <c:ptCount val="1"/>
                <c:pt idx="0">
                  <c:v>Claude Sonnet 4.6</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c:v>
                </c:pt>
                <c:pt idx="1">
                  <c:v>0</c:v>
                </c:pt>
                <c:pt idx="2">
                  <c:v>0</c:v>
                </c:pt>
                <c:pt idx="3">
                  <c:v>0</c:v>
                </c:pt>
                <c:pt idx="4">
                  <c:v>0.01</c:v>
                </c:pt>
                <c:pt idx="5">
                  <c:v>0.54</c:v>
                </c:pt>
                <c:pt idx="6">
                  <c:v>0.69</c:v>
                </c:pt>
                <c:pt idx="7">
                  <c:v>9.47</c:v>
                </c:pt>
                <c:pt idx="8">
                  <c:v>12.39</c:v>
                </c:pt>
              </c:numCache>
            </c:numRef>
          </c:val>
        </c:ser>
        <c:ser>
          <c:idx val="2"/>
          <c:order val="2"/>
          <c:tx>
            <c:strRef>
              <c:f>Sheet1!$D$1</c:f>
              <c:strCache>
                <c:ptCount val="1"/>
                <c:pt idx="0">
                  <c:v>Claude Opus 4.8</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c:v>
                </c:pt>
                <c:pt idx="3">
                  <c:v>0</c:v>
                </c:pt>
                <c:pt idx="4">
                  <c:v>0.08</c:v>
                </c:pt>
                <c:pt idx="5">
                  <c:v>2.02</c:v>
                </c:pt>
                <c:pt idx="6">
                  <c:v>11.36</c:v>
                </c:pt>
                <c:pt idx="7">
                  <c:v>15.63</c:v>
                </c:pt>
                <c:pt idx="8">
                  <c:v>7.04</c:v>
                </c:pt>
              </c:numCache>
            </c:numRef>
          </c:val>
        </c:ser>
        <c:ser>
          <c:idx val="3"/>
          <c:order val="3"/>
          <c:tx>
            <c:strRef>
              <c:f>Sheet1!$E$1</c:f>
              <c:strCache>
                <c:ptCount val="1"/>
                <c:pt idx="0">
                  <c:v>Claude Opus 4.6</c:v>
                </c:pt>
              </c:strCache>
            </c:strRef>
          </c:tx>
          <c:spPr>
            <a:solidFill>
              <a:srgbClr val="8FA7B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c:v>
                </c:pt>
                <c:pt idx="1">
                  <c:v>0</c:v>
                </c:pt>
                <c:pt idx="2">
                  <c:v>0</c:v>
                </c:pt>
                <c:pt idx="3">
                  <c:v>0</c:v>
                </c:pt>
                <c:pt idx="4">
                  <c:v>2.87</c:v>
                </c:pt>
                <c:pt idx="5">
                  <c:v>4.81</c:v>
                </c:pt>
                <c:pt idx="6">
                  <c:v>9.87</c:v>
                </c:pt>
                <c:pt idx="7">
                  <c:v>8.73</c:v>
                </c:pt>
                <c:pt idx="8">
                  <c:v>5.07</c:v>
                </c:pt>
              </c:numCache>
            </c:numRef>
          </c:val>
        </c:ser>
        <c:ser>
          <c:idx val="4"/>
          <c:order val="4"/>
          <c:tx>
            <c:strRef>
              <c:f>Sheet1!$F$1</c:f>
              <c:strCache>
                <c:ptCount val="1"/>
                <c:pt idx="0">
                  <c:v>Claude Opus 4.7</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c:v>
                </c:pt>
                <c:pt idx="1">
                  <c:v>0</c:v>
                </c:pt>
                <c:pt idx="2">
                  <c:v>0</c:v>
                </c:pt>
                <c:pt idx="3">
                  <c:v>0</c:v>
                </c:pt>
                <c:pt idx="4">
                  <c:v>0.79</c:v>
                </c:pt>
                <c:pt idx="5">
                  <c:v>2.92</c:v>
                </c:pt>
                <c:pt idx="6">
                  <c:v>2.44</c:v>
                </c:pt>
                <c:pt idx="7">
                  <c:v>0.81</c:v>
                </c:pt>
                <c:pt idx="8">
                  <c:v>0.38</c:v>
                </c:pt>
              </c:numCache>
            </c:numRef>
          </c:val>
        </c:ser>
        <c:ser>
          <c:idx val="5"/>
          <c:order val="5"/>
          <c:tx>
            <c:strRef>
              <c:f>Sheet1!$G$1</c:f>
              <c:strCache>
                <c:ptCount val="1"/>
                <c:pt idx="0">
                  <c:v>Other models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0</c:v>
                </c:pt>
                <c:pt idx="1">
                  <c:v>0</c:v>
                </c:pt>
                <c:pt idx="2">
                  <c:v>0.84</c:v>
                </c:pt>
                <c:pt idx="3">
                  <c:v>1.61</c:v>
                </c:pt>
                <c:pt idx="4">
                  <c:v>0.07</c:v>
                </c:pt>
                <c:pt idx="5">
                  <c:v>0.22</c:v>
                </c:pt>
                <c:pt idx="6">
                  <c:v>0.24</c:v>
                </c:pt>
                <c:pt idx="7">
                  <c:v>1.09</c:v>
                </c:pt>
                <c:pt idx="8">
                  <c:v>1.98</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GitHub</c:v>
                </c:pt>
              </c:strCache>
            </c:strRef>
          </c:tx>
          <c:spPr>
            <a:solidFill>
              <a:srgbClr val="7C5CFF"/>
            </a:solidFill>
            <a:effectLst/>
          </c:spPr>
          <c:invertIfNegative val="0"/>
          <c:dLbls>
            <c:numFmt formatCode="$#,##0.0&quot;K&quot;" sourceLinked="0"/>
            <c:txPr>
              <a:bodyPr/>
              <a:lstStyle/>
              <a:p>
                <a:pPr>
                  <a:defRPr b="0" i="0" strike="noStrike" sz="1150" u="none">
                    <a:solidFill>
                      <a:srgbClr val="0B1B2E"/>
                    </a:solidFill>
                    <a:latin typeface="+mn-lt"/>
                  </a:defRPr>
                </a:pPr>
              </a:p>
            </c:txPr>
            <c:showLegendKey val="0"/>
            <c:showVal val="1"/>
            <c:showCatName val="0"/>
            <c:showSerName val="0"/>
            <c:showPercent val="0"/>
            <c:showBubbleSize val="0"/>
            <c:showLeaderLines val="0"/>
          </c:dLbls>
          <c:cat>
            <c:multiLvlStrRef>
              <c:f>Sheet1!$A$2:$A$6</c:f>
              <c:multiLvlStrCache>
                <c:ptCount val="5"/>
                <c:lvl>
                  <c:pt idx="0">
                    <c:v>May</c:v>
                  </c:pt>
                  <c:pt idx="1">
                    <c:v>Jun</c:v>
                  </c:pt>
                  <c:pt idx="2">
                    <c:v>Jul</c:v>
                  </c:pt>
                  <c:pt idx="3">
                    <c:v>Aug</c:v>
                  </c:pt>
                  <c:pt idx="4">
                    <c:v>Sep</c:v>
                  </c:pt>
                </c:lvl>
              </c:multiLvlStrCache>
            </c:multiLvlStrRef>
          </c:cat>
          <c:val>
            <c:numRef>
              <c:f>Sheet1!$B$2:$B$6</c:f>
              <c:numCache>
                <c:formatCode>General</c:formatCode>
                <c:ptCount val="5"/>
                <c:pt idx="0">
                  <c:v>6.5</c:v>
                </c:pt>
                <c:pt idx="1">
                  <c:v>16.7</c:v>
                </c:pt>
                <c:pt idx="2">
                  <c:v>19.3</c:v>
                </c:pt>
                <c:pt idx="3">
                  <c:v>24</c:v>
                </c:pt>
                <c:pt idx="4">
                  <c:v>28.4</c:v>
                </c:pt>
              </c:numCache>
            </c:numRef>
          </c:val>
        </c:ser>
        <c:dLbls>
          <c:numFmt formatCode="$#,##0.0&quot;K&quot;" sourceLinked="0"/>
          <c:txPr>
            <a:bodyPr/>
            <a:lstStyle/>
            <a:p>
              <a:pPr>
                <a:defRPr b="0" i="0" strike="noStrike" sz="1150" u="none">
                  <a:solidFill>
                    <a:srgbClr val="0B1B2E"/>
                  </a:solidFill>
                  <a:latin typeface="+mn-lt"/>
                </a:defRPr>
              </a:pPr>
            </a:p>
          </c:txPr>
          <c:showLegendKey val="0"/>
          <c:showVal val="1"/>
          <c:showCatName val="0"/>
          <c:showSerName val="0"/>
          <c:showPercent val="0"/>
          <c:showBubbleSize val="0"/>
          <c:showLeaderLines val="0"/>
        </c:dLbls>
        <c:gapWidth val="58"/>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34"/>
        </c:scaling>
        <c:delete val="1"/>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AWS consumption</c:v>
                </c:pt>
              </c:strCache>
            </c:strRef>
          </c:tx>
          <c:spPr>
            <a:solidFill>
              <a:srgbClr val="F2A900"/>
            </a:solidFill>
            <a:effectLst/>
          </c:spPr>
          <c:invertIfNegative val="0"/>
          <c:dLbls>
            <c:numFmt formatCode="#,##0" sourceLinked="0"/>
            <c:txPr>
              <a:bodyPr/>
              <a:lstStyle/>
              <a:p>
                <a:pPr>
                  <a:defRPr b="0" i="0" strike="noStrike" sz="1050" u="none">
                    <a:solidFill>
                      <a:srgbClr val="0B1B2E"/>
                    </a:solidFill>
                    <a:latin typeface="+mn-lt"/>
                  </a:defRPr>
                </a:pPr>
              </a:p>
            </c:txPr>
            <c:showLegendKey val="0"/>
            <c:showVal val="1"/>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77.1</c:v>
                </c:pt>
                <c:pt idx="1">
                  <c:v>82.6</c:v>
                </c:pt>
                <c:pt idx="2">
                  <c:v>95.9</c:v>
                </c:pt>
                <c:pt idx="3">
                  <c:v>81.9</c:v>
                </c:pt>
                <c:pt idx="4">
                  <c:v>83.1</c:v>
                </c:pt>
                <c:pt idx="5">
                  <c:v>86.6</c:v>
                </c:pt>
                <c:pt idx="6">
                  <c:v>76.8</c:v>
                </c:pt>
                <c:pt idx="7">
                  <c:v>106.5</c:v>
                </c:pt>
                <c:pt idx="8">
                  <c:v>101</c:v>
                </c:pt>
              </c:numCache>
            </c:numRef>
          </c:val>
        </c:ser>
        <c:dLbls>
          <c:numFmt formatCode="#,##0" sourceLinked="0"/>
          <c:txPr>
            <a:bodyPr/>
            <a:lstStyle/>
            <a:p>
              <a:pPr>
                <a:defRPr b="0" i="0" strike="noStrike" sz="1050" u="none">
                  <a:solidFill>
                    <a:srgbClr val="0B1B2E"/>
                  </a:solidFill>
                  <a:latin typeface="+mn-lt"/>
                </a:defRPr>
              </a:pPr>
            </a:p>
          </c:txPr>
          <c:showLegendKey val="0"/>
          <c:showVal val="1"/>
          <c:showCatName val="0"/>
          <c:showSerName val="0"/>
          <c:showPercent val="0"/>
          <c:showBubbleSize val="0"/>
          <c:showLeaderLines val="0"/>
        </c:dLbls>
        <c:gapWidth val="48"/>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125"/>
        </c:scaling>
        <c:delete val="1"/>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aws-prod-Digital</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22.3</c:v>
                </c:pt>
                <c:pt idx="1">
                  <c:v>21.1</c:v>
                </c:pt>
                <c:pt idx="2">
                  <c:v>21.6</c:v>
                </c:pt>
                <c:pt idx="3">
                  <c:v>21.1</c:v>
                </c:pt>
                <c:pt idx="4">
                  <c:v>21.5</c:v>
                </c:pt>
                <c:pt idx="5">
                  <c:v>21.5</c:v>
                </c:pt>
                <c:pt idx="6">
                  <c:v>22.3</c:v>
                </c:pt>
                <c:pt idx="7">
                  <c:v>25.3</c:v>
                </c:pt>
                <c:pt idx="8">
                  <c:v>21.2</c:v>
                </c:pt>
              </c:numCache>
            </c:numRef>
          </c:val>
        </c:ser>
        <c:ser>
          <c:idx val="1"/>
          <c:order val="1"/>
          <c:tx>
            <c:strRef>
              <c:f>Sheet1!$C$1</c:f>
              <c:strCache>
                <c:ptCount val="1"/>
                <c:pt idx="0">
                  <c:v>aws-devTest-digital</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9.8</c:v>
                </c:pt>
                <c:pt idx="1">
                  <c:v>9.3</c:v>
                </c:pt>
                <c:pt idx="2">
                  <c:v>13</c:v>
                </c:pt>
                <c:pt idx="3">
                  <c:v>12.9</c:v>
                </c:pt>
                <c:pt idx="4">
                  <c:v>14.5</c:v>
                </c:pt>
                <c:pt idx="5">
                  <c:v>13.2</c:v>
                </c:pt>
                <c:pt idx="6">
                  <c:v>13.7</c:v>
                </c:pt>
                <c:pt idx="7">
                  <c:v>13.6</c:v>
                </c:pt>
                <c:pt idx="8">
                  <c:v>14</c:v>
                </c:pt>
              </c:numCache>
            </c:numRef>
          </c:val>
        </c:ser>
        <c:ser>
          <c:idx val="2"/>
          <c:order val="2"/>
          <c:tx>
            <c:strRef>
              <c:f>Sheet1!$D$1</c:f>
              <c:strCache>
                <c:ptCount val="1"/>
                <c:pt idx="0">
                  <c:v>aws-preProd-digital</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10.8</c:v>
                </c:pt>
                <c:pt idx="1">
                  <c:v>9.2</c:v>
                </c:pt>
                <c:pt idx="2">
                  <c:v>10.8</c:v>
                </c:pt>
                <c:pt idx="3">
                  <c:v>10.6</c:v>
                </c:pt>
                <c:pt idx="4">
                  <c:v>11.4</c:v>
                </c:pt>
                <c:pt idx="5">
                  <c:v>10.2</c:v>
                </c:pt>
                <c:pt idx="6">
                  <c:v>10.8</c:v>
                </c:pt>
                <c:pt idx="7">
                  <c:v>10.9</c:v>
                </c:pt>
                <c:pt idx="8">
                  <c:v>10</c:v>
                </c:pt>
              </c:numCache>
            </c:numRef>
          </c:val>
        </c:ser>
        <c:ser>
          <c:idx val="3"/>
          <c:order val="3"/>
          <c:tx>
            <c:strRef>
              <c:f>Sheet1!$E$1</c:f>
              <c:strCache>
                <c:ptCount val="1"/>
                <c:pt idx="0">
                  <c:v>aws-foundation-security</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8.2</c:v>
                </c:pt>
                <c:pt idx="1">
                  <c:v>7.4</c:v>
                </c:pt>
                <c:pt idx="2">
                  <c:v>8</c:v>
                </c:pt>
                <c:pt idx="3">
                  <c:v>7.8</c:v>
                </c:pt>
                <c:pt idx="4">
                  <c:v>8.6</c:v>
                </c:pt>
                <c:pt idx="5">
                  <c:v>8.6</c:v>
                </c:pt>
                <c:pt idx="6">
                  <c:v>8.8</c:v>
                </c:pt>
                <c:pt idx="7">
                  <c:v>8.9</c:v>
                </c:pt>
                <c:pt idx="8">
                  <c:v>8</c:v>
                </c:pt>
              </c:numCache>
            </c:numRef>
          </c:val>
        </c:ser>
        <c:ser>
          <c:idx val="4"/>
          <c:order val="4"/>
          <c:tx>
            <c:strRef>
              <c:f>Sheet1!$F$1</c:f>
              <c:strCache>
                <c:ptCount val="1"/>
                <c:pt idx="0">
                  <c:v>customers3-prod</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0.9</c:v>
                </c:pt>
                <c:pt idx="1">
                  <c:v>13.5</c:v>
                </c:pt>
                <c:pt idx="2">
                  <c:v>11.1</c:v>
                </c:pt>
                <c:pt idx="3">
                  <c:v>2.4</c:v>
                </c:pt>
                <c:pt idx="4">
                  <c:v>4.2</c:v>
                </c:pt>
                <c:pt idx="5">
                  <c:v>6.5</c:v>
                </c:pt>
                <c:pt idx="6">
                  <c:v>9.1</c:v>
                </c:pt>
                <c:pt idx="7">
                  <c:v>13.1</c:v>
                </c:pt>
                <c:pt idx="8">
                  <c:v>13.2</c:v>
                </c:pt>
              </c:numCache>
            </c:numRef>
          </c:val>
        </c:ser>
        <c:ser>
          <c:idx val="5"/>
          <c:order val="5"/>
          <c:tx>
            <c:strRef>
              <c:f>Sheet1!$G$1</c:f>
              <c:strCache>
                <c:ptCount val="1"/>
                <c:pt idx="0">
                  <c:v>cloudops-network</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6.2</c:v>
                </c:pt>
                <c:pt idx="1">
                  <c:v>5.8</c:v>
                </c:pt>
                <c:pt idx="2">
                  <c:v>7</c:v>
                </c:pt>
                <c:pt idx="3">
                  <c:v>6.9</c:v>
                </c:pt>
                <c:pt idx="4">
                  <c:v>7.2</c:v>
                </c:pt>
                <c:pt idx="5">
                  <c:v>7.1</c:v>
                </c:pt>
                <c:pt idx="6">
                  <c:v>7.4</c:v>
                </c:pt>
                <c:pt idx="7">
                  <c:v>7.4</c:v>
                </c:pt>
                <c:pt idx="8">
                  <c:v>7.4</c:v>
                </c:pt>
              </c:numCache>
            </c:numRef>
          </c:val>
        </c:ser>
        <c:ser>
          <c:idx val="6"/>
          <c:order val="6"/>
          <c:tx>
            <c:strRef>
              <c:f>Sheet1!$H$1</c:f>
              <c:strCache>
                <c:ptCount val="1"/>
                <c:pt idx="0">
                  <c:v>All other accounts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Sheet1!$H$2:$H$10</c:f>
              <c:numCache>
                <c:formatCode>General</c:formatCode>
                <c:ptCount val="9"/>
                <c:pt idx="0">
                  <c:v>18.9</c:v>
                </c:pt>
                <c:pt idx="1">
                  <c:v>16.3</c:v>
                </c:pt>
                <c:pt idx="2">
                  <c:v>24.3</c:v>
                </c:pt>
                <c:pt idx="3">
                  <c:v>20.2</c:v>
                </c:pt>
                <c:pt idx="4">
                  <c:v>15.6</c:v>
                </c:pt>
                <c:pt idx="5">
                  <c:v>19.5</c:v>
                </c:pt>
                <c:pt idx="6">
                  <c:v>4.9</c:v>
                </c:pt>
                <c:pt idx="7">
                  <c:v>27.2</c:v>
                </c:pt>
                <c:pt idx="8">
                  <c:v>27.2</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EC2 · Compute</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31.2</c:v>
                </c:pt>
                <c:pt idx="1">
                  <c:v>28.2</c:v>
                </c:pt>
                <c:pt idx="2">
                  <c:v>33</c:v>
                </c:pt>
                <c:pt idx="3">
                  <c:v>32</c:v>
                </c:pt>
                <c:pt idx="4">
                  <c:v>35.1</c:v>
                </c:pt>
                <c:pt idx="5">
                  <c:v>33.4</c:v>
                </c:pt>
                <c:pt idx="6">
                  <c:v>35.4</c:v>
                </c:pt>
                <c:pt idx="7">
                  <c:v>36.3</c:v>
                </c:pt>
                <c:pt idx="8">
                  <c:v>35.8</c:v>
                </c:pt>
              </c:numCache>
            </c:numRef>
          </c:val>
        </c:ser>
        <c:ser>
          <c:idx val="1"/>
          <c:order val="1"/>
          <c:tx>
            <c:strRef>
              <c:f>Sheet1!$C$1</c:f>
              <c:strCache>
                <c:ptCount val="1"/>
                <c:pt idx="0">
                  <c:v>Business Support</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3.9</c:v>
                </c:pt>
                <c:pt idx="1">
                  <c:v>4.3</c:v>
                </c:pt>
                <c:pt idx="2">
                  <c:v>4.6</c:v>
                </c:pt>
                <c:pt idx="3">
                  <c:v>4.1</c:v>
                </c:pt>
                <c:pt idx="4">
                  <c:v>4.5</c:v>
                </c:pt>
                <c:pt idx="5">
                  <c:v>4.8</c:v>
                </c:pt>
                <c:pt idx="6">
                  <c:v>5.9</c:v>
                </c:pt>
                <c:pt idx="7">
                  <c:v>7.2</c:v>
                </c:pt>
                <c:pt idx="8">
                  <c:v>6.8</c:v>
                </c:pt>
              </c:numCache>
            </c:numRef>
          </c:val>
        </c:ser>
        <c:ser>
          <c:idx val="2"/>
          <c:order val="2"/>
          <c:tx>
            <c:strRef>
              <c:f>Sheet1!$D$1</c:f>
              <c:strCache>
                <c:ptCount val="1"/>
                <c:pt idx="0">
                  <c:v>S3 · Glacier Deep Archive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0.9</c:v>
                </c:pt>
                <c:pt idx="3">
                  <c:v>1.6</c:v>
                </c:pt>
                <c:pt idx="4">
                  <c:v>3.1</c:v>
                </c:pt>
                <c:pt idx="5">
                  <c:v>5.3</c:v>
                </c:pt>
                <c:pt idx="6">
                  <c:v>7.4</c:v>
                </c:pt>
                <c:pt idx="7">
                  <c:v>10.6</c:v>
                </c:pt>
                <c:pt idx="8">
                  <c:v>12</c:v>
                </c:pt>
              </c:numCache>
            </c:numRef>
          </c:val>
        </c:ser>
        <c:ser>
          <c:idx val="3"/>
          <c:order val="3"/>
          <c:tx>
            <c:strRef>
              <c:f>Sheet1!$E$1</c:f>
              <c:strCache>
                <c:ptCount val="1"/>
                <c:pt idx="0">
                  <c:v>Virtual Private Cloud · Transit Gateway</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3.9</c:v>
                </c:pt>
                <c:pt idx="1">
                  <c:v>3.6</c:v>
                </c:pt>
                <c:pt idx="2">
                  <c:v>4</c:v>
                </c:pt>
                <c:pt idx="3">
                  <c:v>3.9</c:v>
                </c:pt>
                <c:pt idx="4">
                  <c:v>4.4</c:v>
                </c:pt>
                <c:pt idx="5">
                  <c:v>4.6</c:v>
                </c:pt>
                <c:pt idx="6">
                  <c:v>4.7</c:v>
                </c:pt>
                <c:pt idx="7">
                  <c:v>4.5</c:v>
                </c:pt>
                <c:pt idx="8">
                  <c:v>4</c:v>
                </c:pt>
              </c:numCache>
            </c:numRef>
          </c:val>
        </c:ser>
        <c:ser>
          <c:idx val="4"/>
          <c:order val="4"/>
          <c:tx>
            <c:strRef>
              <c:f>Sheet1!$F$1</c:f>
              <c:strCache>
                <c:ptCount val="1"/>
                <c:pt idx="0">
                  <c:v>RDS · Compute</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4.9</c:v>
                </c:pt>
                <c:pt idx="1">
                  <c:v>3.3</c:v>
                </c:pt>
                <c:pt idx="2">
                  <c:v>3.5</c:v>
                </c:pt>
                <c:pt idx="3">
                  <c:v>3.4</c:v>
                </c:pt>
                <c:pt idx="4">
                  <c:v>3.5</c:v>
                </c:pt>
                <c:pt idx="5">
                  <c:v>4</c:v>
                </c:pt>
                <c:pt idx="6">
                  <c:v>4.4</c:v>
                </c:pt>
                <c:pt idx="7">
                  <c:v>4.4</c:v>
                </c:pt>
                <c:pt idx="8">
                  <c:v>4.2</c:v>
                </c:pt>
              </c:numCache>
            </c:numRef>
          </c:val>
        </c:ser>
        <c:ser>
          <c:idx val="5"/>
          <c:order val="5"/>
          <c:tx>
            <c:strRef>
              <c:f>Sheet1!$G$1</c:f>
              <c:strCache>
                <c:ptCount val="1"/>
                <c:pt idx="0">
                  <c:v>All other services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33</c:v>
                </c:pt>
                <c:pt idx="1">
                  <c:v>43</c:v>
                </c:pt>
                <c:pt idx="2">
                  <c:v>49.6</c:v>
                </c:pt>
                <c:pt idx="3">
                  <c:v>36.6</c:v>
                </c:pt>
                <c:pt idx="4">
                  <c:v>32.3</c:v>
                </c:pt>
                <c:pt idx="5">
                  <c:v>34.3</c:v>
                </c:pt>
                <c:pt idx="6">
                  <c:v>19.1</c:v>
                </c:pt>
                <c:pt idx="7">
                  <c:v>43.6</c:v>
                </c:pt>
                <c:pt idx="8">
                  <c:v>38.3</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Azure consumption</c:v>
                </c:pt>
              </c:strCache>
            </c:strRef>
          </c:tx>
          <c:spPr>
            <a:solidFill>
              <a:srgbClr val="0F7DC2"/>
            </a:solidFill>
            <a:effectLst/>
          </c:spPr>
          <c:invertIfNegative val="0"/>
          <c:dLbls>
            <c:numFmt formatCode="#,##0" sourceLinked="0"/>
            <c:txPr>
              <a:bodyPr/>
              <a:lstStyle/>
              <a:p>
                <a:pPr>
                  <a:defRPr b="0" i="0" strike="noStrike" sz="1050" u="none">
                    <a:solidFill>
                      <a:srgbClr val="0B1B2E"/>
                    </a:solidFill>
                    <a:latin typeface="+mn-lt"/>
                  </a:defRPr>
                </a:pPr>
              </a:p>
            </c:txPr>
            <c:showLegendKey val="0"/>
            <c:showVal val="1"/>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157</c:v>
                </c:pt>
                <c:pt idx="1">
                  <c:v>135.7</c:v>
                </c:pt>
                <c:pt idx="2">
                  <c:v>165.2</c:v>
                </c:pt>
                <c:pt idx="3">
                  <c:v>152.6</c:v>
                </c:pt>
                <c:pt idx="4">
                  <c:v>152.3</c:v>
                </c:pt>
                <c:pt idx="5">
                  <c:v>167.4</c:v>
                </c:pt>
                <c:pt idx="6">
                  <c:v>186.9</c:v>
                </c:pt>
                <c:pt idx="7">
                  <c:v>191.4</c:v>
                </c:pt>
                <c:pt idx="8">
                  <c:v>197.6</c:v>
                </c:pt>
              </c:numCache>
            </c:numRef>
          </c:val>
        </c:ser>
        <c:dLbls>
          <c:numFmt formatCode="#,##0" sourceLinked="0"/>
          <c:txPr>
            <a:bodyPr/>
            <a:lstStyle/>
            <a:p>
              <a:pPr>
                <a:defRPr b="0" i="0" strike="noStrike" sz="1050" u="none">
                  <a:solidFill>
                    <a:srgbClr val="0B1B2E"/>
                  </a:solidFill>
                  <a:latin typeface="+mn-lt"/>
                </a:defRPr>
              </a:pPr>
            </a:p>
          </c:txPr>
          <c:showLegendKey val="0"/>
          <c:showVal val="1"/>
          <c:showCatName val="0"/>
          <c:showSerName val="0"/>
          <c:showPercent val="0"/>
          <c:showBubbleSize val="0"/>
          <c:showLeaderLines val="0"/>
        </c:dLbls>
        <c:gapWidth val="48"/>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max val="235"/>
        </c:scaling>
        <c:delete val="1"/>
        <c:axPos val="l"/>
        <c:majorGridlines>
          <c:spPr>
            <a:ln w="12700" cap="flat">
              <a:solidFill>
                <a:srgbClr val="E4EA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DataCloud</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47.5</c:v>
                </c:pt>
                <c:pt idx="1">
                  <c:v>49.2</c:v>
                </c:pt>
                <c:pt idx="2">
                  <c:v>54.5</c:v>
                </c:pt>
                <c:pt idx="3">
                  <c:v>50.2</c:v>
                </c:pt>
                <c:pt idx="4">
                  <c:v>43.9</c:v>
                </c:pt>
                <c:pt idx="5">
                  <c:v>44.4</c:v>
                </c:pt>
                <c:pt idx="6">
                  <c:v>49.1</c:v>
                </c:pt>
                <c:pt idx="7">
                  <c:v>50.9</c:v>
                </c:pt>
                <c:pt idx="8">
                  <c:v>47.4</c:v>
                </c:pt>
              </c:numCache>
            </c:numRef>
          </c:val>
        </c:ser>
        <c:ser>
          <c:idx val="1"/>
          <c:order val="1"/>
          <c:tx>
            <c:strRef>
              <c:f>Sheet1!$C$1</c:f>
              <c:strCache>
                <c:ptCount val="1"/>
                <c:pt idx="0">
                  <c:v>SAP</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42.3</c:v>
                </c:pt>
                <c:pt idx="1">
                  <c:v>39.1</c:v>
                </c:pt>
                <c:pt idx="2">
                  <c:v>41.5</c:v>
                </c:pt>
                <c:pt idx="3">
                  <c:v>40.8</c:v>
                </c:pt>
                <c:pt idx="4">
                  <c:v>46.6</c:v>
                </c:pt>
                <c:pt idx="5">
                  <c:v>42.7</c:v>
                </c:pt>
                <c:pt idx="6">
                  <c:v>40.9</c:v>
                </c:pt>
                <c:pt idx="7">
                  <c:v>41.3</c:v>
                </c:pt>
                <c:pt idx="8">
                  <c:v>41.3</c:v>
                </c:pt>
              </c:numCache>
            </c:numRef>
          </c:val>
        </c:ser>
        <c:ser>
          <c:idx val="2"/>
          <c:order val="2"/>
          <c:tx>
            <c:strRef>
              <c:f>Sheet1!$D$1</c:f>
              <c:strCache>
                <c:ptCount val="1"/>
                <c:pt idx="0">
                  <c:v>CloudIT</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30.9</c:v>
                </c:pt>
                <c:pt idx="1">
                  <c:v>24.7</c:v>
                </c:pt>
                <c:pt idx="2">
                  <c:v>40.7</c:v>
                </c:pt>
                <c:pt idx="3">
                  <c:v>29.2</c:v>
                </c:pt>
                <c:pt idx="4">
                  <c:v>28.6</c:v>
                </c:pt>
                <c:pt idx="5">
                  <c:v>28.6</c:v>
                </c:pt>
                <c:pt idx="6">
                  <c:v>33.4</c:v>
                </c:pt>
                <c:pt idx="7">
                  <c:v>32.1</c:v>
                </c:pt>
                <c:pt idx="8">
                  <c:v>31.9</c:v>
                </c:pt>
              </c:numCache>
            </c:numRef>
          </c:val>
        </c:ser>
        <c:ser>
          <c:idx val="3"/>
          <c:order val="3"/>
          <c:tx>
            <c:strRef>
              <c:f>Sheet1!$E$1</c:f>
              <c:strCache>
                <c:ptCount val="1"/>
                <c:pt idx="0">
                  <c:v>AI Factory</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0.9</c:v>
                </c:pt>
                <c:pt idx="1">
                  <c:v>3.5</c:v>
                </c:pt>
                <c:pt idx="2">
                  <c:v>12.6</c:v>
                </c:pt>
                <c:pt idx="3">
                  <c:v>11.7</c:v>
                </c:pt>
                <c:pt idx="4">
                  <c:v>13.7</c:v>
                </c:pt>
                <c:pt idx="5">
                  <c:v>26.5</c:v>
                </c:pt>
                <c:pt idx="6">
                  <c:v>24.5</c:v>
                </c:pt>
                <c:pt idx="7">
                  <c:v>23.1</c:v>
                </c:pt>
                <c:pt idx="8">
                  <c:v>27.4</c:v>
                </c:pt>
              </c:numCache>
            </c:numRef>
          </c:val>
        </c:ser>
        <c:ser>
          <c:idx val="4"/>
          <c:order val="4"/>
          <c:tx>
            <c:strRef>
              <c:f>Sheet1!$F$1</c:f>
              <c:strCache>
                <c:ptCount val="1"/>
                <c:pt idx="0">
                  <c:v>Other</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4.4</c:v>
                </c:pt>
                <c:pt idx="1">
                  <c:v>5.2</c:v>
                </c:pt>
                <c:pt idx="2">
                  <c:v>5.6</c:v>
                </c:pt>
                <c:pt idx="3">
                  <c:v>5.8</c:v>
                </c:pt>
                <c:pt idx="4">
                  <c:v>8.7</c:v>
                </c:pt>
                <c:pt idx="5">
                  <c:v>18.1</c:v>
                </c:pt>
                <c:pt idx="6">
                  <c:v>22.4</c:v>
                </c:pt>
                <c:pt idx="7">
                  <c:v>25.2</c:v>
                </c:pt>
                <c:pt idx="8">
                  <c:v>29.2</c:v>
                </c:pt>
              </c:numCache>
            </c:numRef>
          </c:val>
        </c:ser>
        <c:ser>
          <c:idx val="5"/>
          <c:order val="5"/>
          <c:tx>
            <c:strRef>
              <c:f>Sheet1!$G$1</c:f>
              <c:strCache>
                <c:ptCount val="1"/>
                <c:pt idx="0">
                  <c:v>All other centres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31.1</c:v>
                </c:pt>
                <c:pt idx="1">
                  <c:v>14</c:v>
                </c:pt>
                <c:pt idx="2">
                  <c:v>10.1</c:v>
                </c:pt>
                <c:pt idx="3">
                  <c:v>14.9</c:v>
                </c:pt>
                <c:pt idx="4">
                  <c:v>10.8</c:v>
                </c:pt>
                <c:pt idx="5">
                  <c:v>7.2</c:v>
                </c:pt>
                <c:pt idx="6">
                  <c:v>16.5</c:v>
                </c:pt>
                <c:pt idx="7">
                  <c:v>18.8</c:v>
                </c:pt>
                <c:pt idx="8">
                  <c:v>20.4</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Virtual Machines</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58.5</c:v>
                </c:pt>
                <c:pt idx="1">
                  <c:v>48.3</c:v>
                </c:pt>
                <c:pt idx="2">
                  <c:v>52.6</c:v>
                </c:pt>
                <c:pt idx="3">
                  <c:v>51.5</c:v>
                </c:pt>
                <c:pt idx="4">
                  <c:v>57.5</c:v>
                </c:pt>
                <c:pt idx="5">
                  <c:v>52.2</c:v>
                </c:pt>
                <c:pt idx="6">
                  <c:v>53.3</c:v>
                </c:pt>
                <c:pt idx="7">
                  <c:v>54.8</c:v>
                </c:pt>
                <c:pt idx="8">
                  <c:v>55.6</c:v>
                </c:pt>
              </c:numCache>
            </c:numRef>
          </c:val>
        </c:ser>
        <c:ser>
          <c:idx val="1"/>
          <c:order val="1"/>
          <c:tx>
            <c:strRef>
              <c:f>Sheet1!$C$1</c:f>
              <c:strCache>
                <c:ptCount val="1"/>
                <c:pt idx="0">
                  <c:v>Storage</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24.1</c:v>
                </c:pt>
                <c:pt idx="1">
                  <c:v>23</c:v>
                </c:pt>
                <c:pt idx="2">
                  <c:v>22.5</c:v>
                </c:pt>
                <c:pt idx="3">
                  <c:v>22.7</c:v>
                </c:pt>
                <c:pt idx="4">
                  <c:v>24.6</c:v>
                </c:pt>
                <c:pt idx="5">
                  <c:v>25</c:v>
                </c:pt>
                <c:pt idx="6">
                  <c:v>26.4</c:v>
                </c:pt>
                <c:pt idx="7">
                  <c:v>28.1</c:v>
                </c:pt>
                <c:pt idx="8">
                  <c:v>28</c:v>
                </c:pt>
              </c:numCache>
            </c:numRef>
          </c:val>
        </c:ser>
        <c:ser>
          <c:idx val="2"/>
          <c:order val="2"/>
          <c:tx>
            <c:strRef>
              <c:f>Sheet1!$D$1</c:f>
              <c:strCache>
                <c:ptCount val="1"/>
                <c:pt idx="0">
                  <c:v>Virtual Network</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12.7</c:v>
                </c:pt>
                <c:pt idx="1">
                  <c:v>12.1</c:v>
                </c:pt>
                <c:pt idx="2">
                  <c:v>14.1</c:v>
                </c:pt>
                <c:pt idx="3">
                  <c:v>15.3</c:v>
                </c:pt>
                <c:pt idx="4">
                  <c:v>18.3</c:v>
                </c:pt>
                <c:pt idx="5">
                  <c:v>18.6</c:v>
                </c:pt>
                <c:pt idx="6">
                  <c:v>22</c:v>
                </c:pt>
                <c:pt idx="7">
                  <c:v>20.9</c:v>
                </c:pt>
                <c:pt idx="8">
                  <c:v>21.6</c:v>
                </c:pt>
              </c:numCache>
            </c:numRef>
          </c:val>
        </c:ser>
        <c:ser>
          <c:idx val="3"/>
          <c:order val="3"/>
          <c:tx>
            <c:strRef>
              <c:f>Sheet1!$E$1</c:f>
              <c:strCache>
                <c:ptCount val="1"/>
                <c:pt idx="0">
                  <c:v>Other services</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12.3</c:v>
                </c:pt>
                <c:pt idx="1">
                  <c:v>12.8</c:v>
                </c:pt>
                <c:pt idx="2">
                  <c:v>19.1</c:v>
                </c:pt>
                <c:pt idx="3">
                  <c:v>11.3</c:v>
                </c:pt>
                <c:pt idx="4">
                  <c:v>12.6</c:v>
                </c:pt>
                <c:pt idx="5">
                  <c:v>14.3</c:v>
                </c:pt>
                <c:pt idx="6">
                  <c:v>14.8</c:v>
                </c:pt>
                <c:pt idx="7">
                  <c:v>14.3</c:v>
                </c:pt>
                <c:pt idx="8">
                  <c:v>13.9</c:v>
                </c:pt>
              </c:numCache>
            </c:numRef>
          </c:val>
        </c:ser>
        <c:ser>
          <c:idx val="4"/>
          <c:order val="4"/>
          <c:tx>
            <c:strRef>
              <c:f>Sheet1!$F$1</c:f>
              <c:strCache>
                <c:ptCount val="1"/>
                <c:pt idx="0">
                  <c:v>GitHub</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2.8</c:v>
                </c:pt>
                <c:pt idx="1">
                  <c:v>3.6</c:v>
                </c:pt>
                <c:pt idx="2">
                  <c:v>4.3</c:v>
                </c:pt>
                <c:pt idx="3">
                  <c:v>4.1</c:v>
                </c:pt>
                <c:pt idx="4">
                  <c:v>6.5</c:v>
                </c:pt>
                <c:pt idx="5">
                  <c:v>16.7</c:v>
                </c:pt>
                <c:pt idx="6">
                  <c:v>19.3</c:v>
                </c:pt>
                <c:pt idx="7">
                  <c:v>24</c:v>
                </c:pt>
                <c:pt idx="8">
                  <c:v>28.4</c:v>
                </c:pt>
              </c:numCache>
            </c:numRef>
          </c:val>
        </c:ser>
        <c:ser>
          <c:idx val="5"/>
          <c:order val="5"/>
          <c:tx>
            <c:strRef>
              <c:f>Sheet1!$G$1</c:f>
              <c:strCache>
                <c:ptCount val="1"/>
                <c:pt idx="0">
                  <c:v>All other services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46.5</c:v>
                </c:pt>
                <c:pt idx="1">
                  <c:v>37.9</c:v>
                </c:pt>
                <c:pt idx="2">
                  <c:v>52.6</c:v>
                </c:pt>
                <c:pt idx="3">
                  <c:v>45.3</c:v>
                </c:pt>
                <c:pt idx="4">
                  <c:v>32.7</c:v>
                </c:pt>
                <c:pt idx="5">
                  <c:v>40.7</c:v>
                </c:pt>
                <c:pt idx="6">
                  <c:v>51.2</c:v>
                </c:pt>
                <c:pt idx="7">
                  <c:v>49.1</c:v>
                </c:pt>
                <c:pt idx="8">
                  <c:v>50.2</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Vertex AI</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379</c:v>
                </c:pt>
                <c:pt idx="5">
                  <c:v>958</c:v>
                </c:pt>
                <c:pt idx="6">
                  <c:v>2359</c:v>
                </c:pt>
                <c:pt idx="7">
                  <c:v>1522</c:v>
                </c:pt>
                <c:pt idx="8">
                  <c:v>1236</c:v>
                </c:pt>
              </c:numCache>
            </c:numRef>
          </c:val>
        </c:ser>
        <c:ser>
          <c:idx val="1"/>
          <c:order val="1"/>
          <c:tx>
            <c:strRef>
              <c:f>Sheet1!$C$1</c:f>
              <c:strCache>
                <c:ptCount val="1"/>
                <c:pt idx="0">
                  <c:v>Compute Engine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c:v>
                </c:pt>
                <c:pt idx="1">
                  <c:v>0</c:v>
                </c:pt>
                <c:pt idx="2">
                  <c:v>0</c:v>
                </c:pt>
                <c:pt idx="3">
                  <c:v>222</c:v>
                </c:pt>
                <c:pt idx="4">
                  <c:v>714</c:v>
                </c:pt>
                <c:pt idx="5">
                  <c:v>977</c:v>
                </c:pt>
                <c:pt idx="6">
                  <c:v>1012</c:v>
                </c:pt>
                <c:pt idx="7">
                  <c:v>1031</c:v>
                </c:pt>
                <c:pt idx="8">
                  <c:v>999</c:v>
                </c:pt>
              </c:numCache>
            </c:numRef>
          </c:val>
        </c:ser>
        <c:ser>
          <c:idx val="2"/>
          <c:order val="2"/>
          <c:tx>
            <c:strRef>
              <c:f>Sheet1!$D$1</c:f>
              <c:strCache>
                <c:ptCount val="1"/>
                <c:pt idx="0">
                  <c:v>Networking</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c:v>
                </c:pt>
                <c:pt idx="3">
                  <c:v>74</c:v>
                </c:pt>
                <c:pt idx="4">
                  <c:v>311</c:v>
                </c:pt>
                <c:pt idx="5">
                  <c:v>304</c:v>
                </c:pt>
                <c:pt idx="6">
                  <c:v>310</c:v>
                </c:pt>
                <c:pt idx="7">
                  <c:v>314</c:v>
                </c:pt>
                <c:pt idx="8">
                  <c:v>304</c:v>
                </c:pt>
              </c:numCache>
            </c:numRef>
          </c:val>
        </c:ser>
        <c:ser>
          <c:idx val="3"/>
          <c:order val="3"/>
          <c:tx>
            <c:strRef>
              <c:f>Sheet1!$E$1</c:f>
              <c:strCache>
                <c:ptCount val="1"/>
                <c:pt idx="0">
                  <c:v>Gemini API</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c:v>
                </c:pt>
                <c:pt idx="1">
                  <c:v>0</c:v>
                </c:pt>
                <c:pt idx="2">
                  <c:v>396</c:v>
                </c:pt>
                <c:pt idx="3">
                  <c:v>135</c:v>
                </c:pt>
                <c:pt idx="4">
                  <c:v>92</c:v>
                </c:pt>
                <c:pt idx="5">
                  <c:v>0</c:v>
                </c:pt>
                <c:pt idx="6">
                  <c:v>0</c:v>
                </c:pt>
                <c:pt idx="7">
                  <c:v>0</c:v>
                </c:pt>
                <c:pt idx="8">
                  <c:v>0</c:v>
                </c:pt>
              </c:numCache>
            </c:numRef>
          </c:val>
        </c:ser>
        <c:ser>
          <c:idx val="4"/>
          <c:order val="4"/>
          <c:tx>
            <c:strRef>
              <c:f>Sheet1!$F$1</c:f>
              <c:strCache>
                <c:ptCount val="1"/>
                <c:pt idx="0">
                  <c:v>Support</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0</c:v>
                </c:pt>
                <c:pt idx="1">
                  <c:v>0</c:v>
                </c:pt>
                <c:pt idx="2">
                  <c:v>0</c:v>
                </c:pt>
                <c:pt idx="3">
                  <c:v>0</c:v>
                </c:pt>
                <c:pt idx="4">
                  <c:v>26</c:v>
                </c:pt>
                <c:pt idx="5">
                  <c:v>98</c:v>
                </c:pt>
                <c:pt idx="6">
                  <c:v>142</c:v>
                </c:pt>
                <c:pt idx="7">
                  <c:v>117</c:v>
                </c:pt>
                <c:pt idx="8">
                  <c:v>108</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4"/>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S3 · Glacier Deep Archive</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0.9</c:v>
                </c:pt>
                <c:pt idx="3">
                  <c:v>1.6</c:v>
                </c:pt>
                <c:pt idx="4">
                  <c:v>3.1</c:v>
                </c:pt>
                <c:pt idx="5">
                  <c:v>5.3</c:v>
                </c:pt>
                <c:pt idx="6">
                  <c:v>7.4</c:v>
                </c:pt>
                <c:pt idx="7">
                  <c:v>10.6</c:v>
                </c:pt>
                <c:pt idx="8">
                  <c:v>12</c:v>
                </c:pt>
              </c:numCache>
            </c:numRef>
          </c:val>
        </c:ser>
        <c:ser>
          <c:idx val="1"/>
          <c:order val="1"/>
          <c:tx>
            <c:strRef>
              <c:f>Sheet1!$C$1</c:f>
              <c:strCache>
                <c:ptCount val="1"/>
                <c:pt idx="0">
                  <c:v>Other services</c:v>
                </c:pt>
              </c:strCache>
            </c:strRef>
          </c:tx>
          <c:spPr>
            <a:solidFill>
              <a:srgbClr val="9FB3C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2.8</c:v>
                </c:pt>
                <c:pt idx="1">
                  <c:v>14.7</c:v>
                </c:pt>
                <c:pt idx="2">
                  <c:v>12.6</c:v>
                </c:pt>
                <c:pt idx="3">
                  <c:v>1.9</c:v>
                </c:pt>
                <c:pt idx="4">
                  <c:v>1.9</c:v>
                </c:pt>
                <c:pt idx="5">
                  <c:v>2.4</c:v>
                </c:pt>
                <c:pt idx="6">
                  <c:v>-13</c:v>
                </c:pt>
                <c:pt idx="7">
                  <c:v>3.6</c:v>
                </c:pt>
                <c:pt idx="8">
                  <c:v>4.4</c:v>
                </c:pt>
              </c:numCache>
            </c:numRef>
          </c:val>
        </c:ser>
        <c:ser>
          <c:idx val="2"/>
          <c:order val="2"/>
          <c:tx>
            <c:strRef>
              <c:f>Sheet1!$D$1</c:f>
              <c:strCache>
                <c:ptCount val="1"/>
                <c:pt idx="0">
                  <c:v>Direct Connect · Port Hours</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3.3</c:v>
                </c:pt>
                <c:pt idx="1">
                  <c:v>3</c:v>
                </c:pt>
                <c:pt idx="2">
                  <c:v>3.3</c:v>
                </c:pt>
                <c:pt idx="3">
                  <c:v>3.2</c:v>
                </c:pt>
                <c:pt idx="4">
                  <c:v>3.3</c:v>
                </c:pt>
                <c:pt idx="5">
                  <c:v>3.2</c:v>
                </c:pt>
                <c:pt idx="6">
                  <c:v>3.3</c:v>
                </c:pt>
                <c:pt idx="7">
                  <c:v>3.3</c:v>
                </c:pt>
                <c:pt idx="8">
                  <c:v>3.2</c:v>
                </c:pt>
              </c:numCache>
            </c:numRef>
          </c:val>
        </c:ser>
        <c:ser>
          <c:idx val="3"/>
          <c:order val="3"/>
          <c:tx>
            <c:strRef>
              <c:f>Sheet1!$E$1</c:f>
              <c:strCache>
                <c:ptCount val="1"/>
                <c:pt idx="0">
                  <c:v>Business Support</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0.6</c:v>
                </c:pt>
                <c:pt idx="1">
                  <c:v>1.3</c:v>
                </c:pt>
                <c:pt idx="2">
                  <c:v>1.3</c:v>
                </c:pt>
                <c:pt idx="3">
                  <c:v>0.8</c:v>
                </c:pt>
                <c:pt idx="4">
                  <c:v>1</c:v>
                </c:pt>
                <c:pt idx="5">
                  <c:v>1.5</c:v>
                </c:pt>
                <c:pt idx="6">
                  <c:v>2.5</c:v>
                </c:pt>
                <c:pt idx="7">
                  <c:v>3.7</c:v>
                </c:pt>
                <c:pt idx="8">
                  <c:v>3.5</c:v>
                </c:pt>
              </c:numCache>
            </c:numRef>
          </c:val>
        </c:ser>
        <c:ser>
          <c:idx val="4"/>
          <c:order val="4"/>
          <c:tx>
            <c:strRef>
              <c:f>Sheet1!$F$1</c:f>
              <c:strCache>
                <c:ptCount val="1"/>
                <c:pt idx="0">
                  <c:v>EC2 · Compute</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1</c:v>
                </c:pt>
                <c:pt idx="1">
                  <c:v>1.1</c:v>
                </c:pt>
                <c:pt idx="2">
                  <c:v>1.1</c:v>
                </c:pt>
                <c:pt idx="3">
                  <c:v>1</c:v>
                </c:pt>
                <c:pt idx="4">
                  <c:v>1.1</c:v>
                </c:pt>
                <c:pt idx="5">
                  <c:v>1.4</c:v>
                </c:pt>
                <c:pt idx="6">
                  <c:v>1.5</c:v>
                </c:pt>
                <c:pt idx="7">
                  <c:v>1.8</c:v>
                </c:pt>
                <c:pt idx="8">
                  <c:v>2</c:v>
                </c:pt>
              </c:numCache>
            </c:numRef>
          </c:val>
        </c:ser>
        <c:ser>
          <c:idx val="5"/>
          <c:order val="5"/>
          <c:tx>
            <c:strRef>
              <c:f>Sheet1!$G$1</c:f>
              <c:strCache>
                <c:ptCount val="1"/>
                <c:pt idx="0">
                  <c:v>All other services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1.8</c:v>
                </c:pt>
                <c:pt idx="1">
                  <c:v>2.6</c:v>
                </c:pt>
                <c:pt idx="2">
                  <c:v>7.4</c:v>
                </c:pt>
                <c:pt idx="3">
                  <c:v>2.7</c:v>
                </c:pt>
                <c:pt idx="4">
                  <c:v>3</c:v>
                </c:pt>
                <c:pt idx="5">
                  <c:v>3.7</c:v>
                </c:pt>
                <c:pt idx="6">
                  <c:v>4.6</c:v>
                </c:pt>
                <c:pt idx="7">
                  <c:v>6</c:v>
                </c:pt>
                <c:pt idx="8">
                  <c:v>4.7</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S0 Custom Pages</c:v>
                </c:pt>
              </c:strCache>
            </c:strRef>
          </c:tx>
          <c:spPr>
            <a:solidFill>
              <a:srgbClr val="7C5CF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3.3</c:v>
                </c:pt>
                <c:pt idx="1">
                  <c:v>3.7</c:v>
                </c:pt>
                <c:pt idx="2">
                  <c:v>2.8</c:v>
                </c:pt>
                <c:pt idx="3">
                  <c:v>1.5</c:v>
                </c:pt>
                <c:pt idx="4">
                  <c:v>2.2</c:v>
                </c:pt>
                <c:pt idx="5">
                  <c:v>2.8</c:v>
                </c:pt>
                <c:pt idx="6">
                  <c:v>2.4</c:v>
                </c:pt>
                <c:pt idx="7">
                  <c:v>1.8</c:v>
                </c:pt>
                <c:pt idx="8">
                  <c:v>1.4</c:v>
                </c:pt>
              </c:numCache>
            </c:numRef>
          </c:val>
        </c:ser>
        <c:ser>
          <c:idx val="1"/>
          <c:order val="1"/>
          <c:tx>
            <c:strRef>
              <c:f>Sheet1!$C$1</c:f>
              <c:strCache>
                <c:ptCount val="1"/>
                <c:pt idx="0">
                  <c:v>5.4 opt</c:v>
                </c:pt>
              </c:strCache>
            </c:strRef>
          </c:tx>
          <c:spPr>
            <a:solidFill>
              <a:srgbClr val="0F7DC2"/>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0</c:v>
                </c:pt>
                <c:pt idx="1">
                  <c:v>0</c:v>
                </c:pt>
                <c:pt idx="2">
                  <c:v>0</c:v>
                </c:pt>
                <c:pt idx="3">
                  <c:v>0</c:v>
                </c:pt>
                <c:pt idx="4">
                  <c:v>0.9</c:v>
                </c:pt>
                <c:pt idx="5">
                  <c:v>6.3</c:v>
                </c:pt>
                <c:pt idx="6">
                  <c:v>3.9</c:v>
                </c:pt>
                <c:pt idx="7">
                  <c:v>3.6</c:v>
                </c:pt>
                <c:pt idx="8">
                  <c:v>4.3</c:v>
                </c:pt>
              </c:numCache>
            </c:numRef>
          </c:val>
        </c:ser>
        <c:ser>
          <c:idx val="2"/>
          <c:order val="2"/>
          <c:tx>
            <c:strRef>
              <c:f>Sheet1!$D$1</c:f>
              <c:strCache>
                <c:ptCount val="1"/>
                <c:pt idx="0">
                  <c:v>5.4 inp</c:v>
                </c:pt>
              </c:strCache>
            </c:strRef>
          </c:tx>
          <c:spPr>
            <a:solidFill>
              <a:srgbClr val="00A8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0</c:v>
                </c:pt>
                <c:pt idx="1">
                  <c:v>0</c:v>
                </c:pt>
                <c:pt idx="2">
                  <c:v>0</c:v>
                </c:pt>
                <c:pt idx="3">
                  <c:v>0</c:v>
                </c:pt>
                <c:pt idx="4">
                  <c:v>1.1</c:v>
                </c:pt>
                <c:pt idx="5">
                  <c:v>4.9</c:v>
                </c:pt>
                <c:pt idx="6">
                  <c:v>4.9</c:v>
                </c:pt>
                <c:pt idx="7">
                  <c:v>3.6</c:v>
                </c:pt>
                <c:pt idx="8">
                  <c:v>3.6</c:v>
                </c:pt>
              </c:numCache>
            </c:numRef>
          </c:val>
        </c:ser>
        <c:ser>
          <c:idx val="3"/>
          <c:order val="3"/>
          <c:tx>
            <c:strRef>
              <c:f>Sheet1!$E$1</c:f>
              <c:strCache>
                <c:ptCount val="1"/>
                <c:pt idx="0">
                  <c:v>S0 Pre-built Pages</c:v>
                </c:pt>
              </c:strCache>
            </c:strRef>
          </c:tx>
          <c:spPr>
            <a:solidFill>
              <a:srgbClr val="F2A9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Sheet1!$E$2:$E$10</c:f>
              <c:numCache>
                <c:formatCode>General</c:formatCode>
                <c:ptCount val="9"/>
                <c:pt idx="0">
                  <c:v>0.8</c:v>
                </c:pt>
                <c:pt idx="1">
                  <c:v>0.4</c:v>
                </c:pt>
                <c:pt idx="2">
                  <c:v>0.5</c:v>
                </c:pt>
                <c:pt idx="3">
                  <c:v>0.3</c:v>
                </c:pt>
                <c:pt idx="4">
                  <c:v>0.6</c:v>
                </c:pt>
                <c:pt idx="5">
                  <c:v>2</c:v>
                </c:pt>
                <c:pt idx="6">
                  <c:v>3.4</c:v>
                </c:pt>
                <c:pt idx="7">
                  <c:v>3.3</c:v>
                </c:pt>
                <c:pt idx="8">
                  <c:v>3.2</c:v>
                </c:pt>
              </c:numCache>
            </c:numRef>
          </c:val>
        </c:ser>
        <c:ser>
          <c:idx val="4"/>
          <c:order val="4"/>
          <c:tx>
            <c:strRef>
              <c:f>Sheet1!$F$1</c:f>
              <c:strCache>
                <c:ptCount val="1"/>
                <c:pt idx="0">
                  <c:v>gpt 4o 0513</c:v>
                </c:pt>
              </c:strCache>
            </c:strRef>
          </c:tx>
          <c:spPr>
            <a:solidFill>
              <a:srgbClr val="27496B"/>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Sheet1!$F$2:$F$10</c:f>
              <c:numCache>
                <c:formatCode>General</c:formatCode>
                <c:ptCount val="9"/>
                <c:pt idx="0">
                  <c:v>1.1</c:v>
                </c:pt>
                <c:pt idx="1">
                  <c:v>1.3</c:v>
                </c:pt>
                <c:pt idx="2">
                  <c:v>1.1</c:v>
                </c:pt>
                <c:pt idx="3">
                  <c:v>3.2</c:v>
                </c:pt>
                <c:pt idx="4">
                  <c:v>0.9</c:v>
                </c:pt>
                <c:pt idx="5">
                  <c:v>0.3</c:v>
                </c:pt>
                <c:pt idx="6">
                  <c:v>0.2</c:v>
                </c:pt>
                <c:pt idx="7">
                  <c:v>0.2</c:v>
                </c:pt>
                <c:pt idx="8">
                  <c:v>0.2</c:v>
                </c:pt>
              </c:numCache>
            </c:numRef>
          </c:val>
        </c:ser>
        <c:ser>
          <c:idx val="5"/>
          <c:order val="5"/>
          <c:tx>
            <c:strRef>
              <c:f>Sheet1!$G$1</c:f>
              <c:strCache>
                <c:ptCount val="1"/>
                <c:pt idx="0">
                  <c:v>All other SKUs</c:v>
                </c:pt>
              </c:strCache>
            </c:strRef>
          </c:tx>
          <c:spPr>
            <a:solidFill>
              <a:srgbClr val="C3CDD9"/>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Sheet1!$G$2:$G$10</c:f>
              <c:numCache>
                <c:formatCode>General</c:formatCode>
                <c:ptCount val="9"/>
                <c:pt idx="0">
                  <c:v>0.5</c:v>
                </c:pt>
                <c:pt idx="1">
                  <c:v>1.4</c:v>
                </c:pt>
                <c:pt idx="2">
                  <c:v>3.4</c:v>
                </c:pt>
                <c:pt idx="3">
                  <c:v>5.5</c:v>
                </c:pt>
                <c:pt idx="4">
                  <c:v>9.1</c:v>
                </c:pt>
                <c:pt idx="5">
                  <c:v>5.4</c:v>
                </c:pt>
                <c:pt idx="6">
                  <c:v>4.8</c:v>
                </c:pt>
                <c:pt idx="7">
                  <c:v>3.9</c:v>
                </c:pt>
                <c:pt idx="8">
                  <c:v>3.6</c:v>
                </c:pt>
              </c:numCache>
            </c:numRef>
          </c:val>
        </c:ser>
        <c:dLbls>
          <c:numFmt formatCode="#,##0" sourceLinked="0"/>
          <c:txPr>
            <a:bodyPr/>
            <a:lstStyle/>
            <a:p>
              <a:pPr>
                <a:defRPr b="0" i="0" strike="noStrike" sz="1100" u="none">
                  <a:solidFill>
                    <a:srgbClr val="000000"/>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B6B7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F1"/>
              </a:solidFill>
              <a:prstDash val="solid"/>
              <a:round/>
            </a:ln>
          </c:spPr>
        </c:majorGridlines>
        <c:title>
          <c:tx>
            <c:rich>
              <a:bodyPr/>
              <a:lstStyle/>
              <a:p>
                <a:pPr>
                  <a:defRPr sz="1100" b="0" i="0" u="none" strike="noStrike">
                    <a:solidFill>
                      <a:srgbClr val="5B6B7E"/>
                    </a:solidFill>
                    <a:latin typeface="+mn-lt"/>
                  </a:defRPr>
                </a:pPr>
                <a:r>
                  <a:rPr sz="1100" b="0" i="0" u="none" strike="noStrike">
                    <a:solidFill>
                      <a:srgbClr val="5B6B7E"/>
                    </a:solidFill>
                    <a:latin typeface="+mn-lt"/>
                  </a:rPr>
                  <a:t>$K per month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B7E"/>
                </a:solidFill>
                <a:latin typeface="+mn-lt"/>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100">
              <a:solidFill>
                <a:srgbClr val="41546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Nine months of FY2026. Total cloud commitment and consumption is 4.67 million dollars. Two messages tonight: the savings programme is working on the traditional estate, and AI has become the fastest growing line in the cloud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Growth is real but it is concentrated: AI is the whole story. Everything else is coming down, which is what the FinOps programme was asked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 six seven million year to date. Two thirds of AWS spend is Marketplace contracts, not metered usage — that is why AWS looks larger than Azure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The purple line is AI. The grey line is everything else. Without AI, our cloud bill would be falling. The question for FY2027 is not how to cut cloud — it is how to govern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Committed spend is lumpy by design. The point for planning is that two thirds of the AWS bill is contracts we signed, not usage we can 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platforms, one trend. Bedrock went from nothing in February to forty one thousand dollars in September. GitHub more than quadrupled since May.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Factory moved from fourteen thousand a month in January to eighty four thousand in September. Core AI Factory is more than half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noting the migration: older Opus versions are draining away and Opus 5 plus Sonnet 4.6 now carry two thirds of the spend. Routing cheaper work to Sonnet or Haiku is the main lever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problems. Licences are a seat-count conversation. AI credit is a governance conversation — one model and one cost centre dominate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what we need agreement on. Tagging is already running; the other three need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metered spend is essentially flat at around ninety thousand a month. The swings are credits and archive storage, not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Digital accounts carry half the bill. That is where rightsizing effort pays back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dominates but it is well covered by Spot and Savings Plans. The line to watch is Glacier Deep Archive, which went from zero to twelve thousand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three quarters of the Marketplace bill is security tooling bought through AWS. It is a procurement conversation more than a FinOps one — but it is the biggest single block of cloud spend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is the growth engine, and the growth is concentrated in three places, two of which are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other bucket at one hundred twenty five thousand — that is untagged spend, and closing it is the point of the tagging workstream.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classic estate. It is not growing, and it is where the savings pipeline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optimisation number, make it this one. Nearly half of Azure VM spend is still paying list price, where AWS is almost fully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Burn is running twice as fast as the term. That is not necessarily wrong — it may just mean the commitment was sized conservatively — but it needs a decision before the FY2027 budget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thousand dollars. Worth a slide only because it is where Vertex and Gemini evaluation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hundred seventy eight thousand returned. A quarter of what we actually metered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Europe exit, the reservations and the savings plan are the three that matter. The avoidance column is alerting doing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this is purchasing, not engineering. Those are the quick ones — they need budget approval, and they are the hedge against the February 2027 price 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need a decision from you. The third is a budget number to carry into 2027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workstreams. Tagging is the one already running and the one everything else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One is money, one is policy, one is a choice between two valid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It answers the "where did this number come from" question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591056" y="6437376"/>
            <a:ext cx="6766560" cy="274320"/>
          </a:xfrm>
          <a:prstGeom prst="rect">
            <a:avLst/>
          </a:prstGeom>
          <a:noFill/>
          <a:ln/>
        </p:spPr>
        <p:txBody>
          <a:bodyPr wrap="square" lIns="0" tIns="0" rIns="0" bIns="0" rtlCol="0" anchor="ctr"/>
          <a:lstStyle/>
          <a:p>
            <a:pPr algn="l" indent="0" marL="0">
              <a:buNone/>
            </a:pPr>
            <a:r>
              <a:rPr lang="en-US" sz="900" dirty="0">
                <a:solidFill>
                  <a:srgbClr val="93A3B5"/>
                </a:solidFill>
              </a:rPr>
              <a:t>Cloud FinOps  ·  FY2026 year to date (January – September 2026)</a:t>
            </a:r>
            <a:endParaRPr lang="en-US" sz="900" dirty="0"/>
          </a:p>
        </p:txBody>
      </p:sp>
      <p:pic>
        <p:nvPicPr>
          <p:cNvPr id="3" name="Image 0" descr="/tmp/claude-0/-home-user-Finops/a0c4678f-b3c9-5fb7-b436-dff734416b7d/scratchpad/assets/harel_dark.png">    </p:cNvPr>
          <p:cNvPicPr>
            <a:picLocks noChangeAspect="1"/>
          </p:cNvPicPr>
          <p:nvPr/>
        </p:nvPicPr>
        <p:blipFill>
          <a:blip r:embed="rId1"/>
          <a:stretch>
            <a:fillRect/>
          </a:stretch>
        </p:blipFill>
        <p:spPr>
          <a:xfrm>
            <a:off x="566928" y="6400800"/>
            <a:ext cx="859536" cy="371246"/>
          </a:xfrm>
          <a:prstGeom prst="rect">
            <a:avLst/>
          </a:prstGeom>
        </p:spPr>
      </p:pic>
      <p:sp>
        <p:nvSpPr>
          <p:cNvPr id="4" name="Text 1"/>
          <p:cNvSpPr txBox="1"/>
          <p:nvPr/>
        </p:nvSpPr>
        <p:spPr>
          <a:xfrm>
            <a:off x="10607040" y="6437376"/>
            <a:ext cx="1014984" cy="274320"/>
          </a:xfrm>
          <a:prstGeom prst="rect">
            <a:avLst/>
          </a:prstGeom>
          <a:noFill/>
          <a:ln/>
        </p:spPr>
        <p:txBody>
          <a:bodyPr wrap="square" lIns="0" tIns="0" rIns="0" bIns="0" rtlCol="0" anchor="ctr"/>
          <a:lstStyle/>
          <a:p>
            <a:pPr algn="r" indent="0" marL="0">
              <a:buNone/>
            </a:pP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B2E"/>
        </a:solidFill>
      </p:bgPr>
    </p:bg>
    <p:spTree>
      <p:nvGrpSpPr>
        <p:cNvPr id="1" name=""/>
        <p:cNvGrpSpPr/>
        <p:nvPr/>
      </p:nvGrpSpPr>
      <p:grpSpPr>
        <a:xfrm>
          <a:off x="0" y="0"/>
          <a:ext cx="0" cy="0"/>
          <a:chOff x="0" y="0"/>
          <a:chExt cx="0" cy="0"/>
        </a:xfrm>
      </p:grpSpPr>
      <p:sp>
        <p:nvSpPr>
          <p:cNvPr id="2" name="Text 0"/>
          <p:cNvSpPr txBox="1"/>
          <p:nvPr/>
        </p:nvSpPr>
        <p:spPr>
          <a:xfrm>
            <a:off x="1591056" y="6437376"/>
            <a:ext cx="6766560" cy="274320"/>
          </a:xfrm>
          <a:prstGeom prst="rect">
            <a:avLst/>
          </a:prstGeom>
          <a:noFill/>
          <a:ln/>
        </p:spPr>
        <p:txBody>
          <a:bodyPr wrap="square" lIns="0" tIns="0" rIns="0" bIns="0" rtlCol="0" anchor="ctr"/>
          <a:lstStyle/>
          <a:p>
            <a:pPr algn="l" indent="0" marL="0">
              <a:buNone/>
            </a:pPr>
            <a:r>
              <a:rPr lang="en-US" sz="900" dirty="0">
                <a:solidFill>
                  <a:srgbClr val="6E8299"/>
                </a:solidFill>
              </a:rPr>
              <a:t>Cloud FinOps  ·  FY2026 year to date (January – September 2026)</a:t>
            </a:r>
            <a:endParaRPr lang="en-US" sz="900" dirty="0"/>
          </a:p>
        </p:txBody>
      </p:sp>
      <p:pic>
        <p:nvPicPr>
          <p:cNvPr id="3" name="Image 0" descr="/tmp/claude-0/-home-user-Finops/a0c4678f-b3c9-5fb7-b436-dff734416b7d/scratchpad/assets/harel_light.png">    </p:cNvPr>
          <p:cNvPicPr>
            <a:picLocks noChangeAspect="1"/>
          </p:cNvPicPr>
          <p:nvPr/>
        </p:nvPicPr>
        <p:blipFill>
          <a:blip r:embed="rId1"/>
          <a:stretch>
            <a:fillRect/>
          </a:stretch>
        </p:blipFill>
        <p:spPr>
          <a:xfrm>
            <a:off x="566928" y="6400800"/>
            <a:ext cx="859536" cy="371246"/>
          </a:xfrm>
          <a:prstGeom prst="rect">
            <a:avLst/>
          </a:prstGeom>
        </p:spPr>
      </p:pic>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p:bg>
      <p:bgPr>
        <a:solidFill>
          <a:srgbClr val="0B1B2E"/>
        </a:solidFill>
      </p:bgPr>
    </p:bg>
    <p:spTree>
      <p:nvGrpSpPr>
        <p:cNvPr id="1" name=""/>
        <p:cNvGrpSpPr/>
        <p:nvPr/>
      </p:nvGrpSpPr>
      <p:grpSpPr>
        <a:xfrm>
          <a:off x="0" y="0"/>
          <a:ext cx="0" cy="0"/>
          <a:chOff x="0" y="0"/>
          <a:chExt cx="0" cy="0"/>
        </a:xfrm>
      </p:grpSpPr>
      <p:pic>
        <p:nvPicPr>
          <p:cNvPr id="2" name="Image 0" descr="/tmp/claude-0/-home-user-Finops/a0c4678f-b3c9-5fb7-b436-dff734416b7d/scratchpad/assets/harel_light.png">    </p:cNvPr>
          <p:cNvPicPr>
            <a:picLocks noChangeAspect="1"/>
          </p:cNvPicPr>
          <p:nvPr/>
        </p:nvPicPr>
        <p:blipFill>
          <a:blip r:embed="rId1"/>
          <a:stretch>
            <a:fillRect/>
          </a:stretch>
        </p:blipFill>
        <p:spPr>
          <a:xfrm>
            <a:off x="566928" y="6400800"/>
            <a:ext cx="859536" cy="371246"/>
          </a:xfrm>
          <a:prstGeom prst="rect">
            <a:avLst/>
          </a:prstGeom>
        </p:spPr>
      </p:pic>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B1B2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image" Target="../media/image-25-1.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66928" y="1325880"/>
            <a:ext cx="8595360" cy="329184"/>
          </a:xfrm>
          <a:prstGeom prst="rect">
            <a:avLst/>
          </a:prstGeom>
          <a:noFill/>
          <a:ln/>
        </p:spPr>
        <p:txBody>
          <a:bodyPr wrap="square" lIns="0" tIns="0" rIns="0" bIns="0" rtlCol="0" anchor="ctr"/>
          <a:lstStyle/>
          <a:p>
            <a:pPr algn="l" indent="0" marL="0">
              <a:buNone/>
            </a:pPr>
            <a:r>
              <a:rPr lang="en-US" sz="1200" b="1" spc="180" kern="0" dirty="0">
                <a:solidFill>
                  <a:srgbClr val="7FA8C9"/>
                </a:solidFill>
                <a:latin typeface="Arial" pitchFamily="34" charset="0"/>
                <a:ea typeface="Arial" pitchFamily="34" charset="-122"/>
                <a:cs typeface="Arial" pitchFamily="34" charset="-120"/>
              </a:rPr>
              <a:t>HAREL INSURANCE &amp; FINANCE   ·   CLOUD INFRASTRUCTURE, DEVOPS &amp; DATABASES</a:t>
            </a:r>
            <a:endParaRPr lang="en-US" sz="1200" dirty="0"/>
          </a:p>
        </p:txBody>
      </p:sp>
      <p:sp>
        <p:nvSpPr>
          <p:cNvPr id="3" name="title"/>
          <p:cNvSpPr txBox="1"/>
          <p:nvPr/>
        </p:nvSpPr>
        <p:spPr>
          <a:xfrm>
            <a:off x="566928" y="1755648"/>
            <a:ext cx="8778240" cy="1005840"/>
          </a:xfrm>
          <a:prstGeom prst="rect">
            <a:avLst/>
          </a:prstGeom>
          <a:noFill/>
          <a:ln/>
        </p:spPr>
        <p:txBody>
          <a:bodyPr wrap="square" lIns="0" tIns="0" rIns="0" bIns="0" rtlCol="0" anchor="ctr"/>
          <a:lstStyle/>
          <a:p>
            <a:pPr algn="l" indent="0" marL="0">
              <a:buNone/>
            </a:pPr>
            <a:r>
              <a:rPr lang="en-US" sz="5400" b="1" dirty="0">
                <a:solidFill>
                  <a:srgbClr val="FFFFFF"/>
                </a:solidFill>
                <a:latin typeface="Cambria" pitchFamily="34" charset="0"/>
                <a:ea typeface="Cambria" pitchFamily="34" charset="-122"/>
                <a:cs typeface="Cambria" pitchFamily="34" charset="-120"/>
              </a:rPr>
              <a:t>Cloud Cost Summary</a:t>
            </a:r>
            <a:endParaRPr lang="en-US" sz="5400" dirty="0"/>
          </a:p>
        </p:txBody>
      </p:sp>
      <p:sp>
        <p:nvSpPr>
          <p:cNvPr id="4" name="Text 2"/>
          <p:cNvSpPr txBox="1"/>
          <p:nvPr/>
        </p:nvSpPr>
        <p:spPr>
          <a:xfrm>
            <a:off x="566928" y="2761488"/>
            <a:ext cx="8778240" cy="475488"/>
          </a:xfrm>
          <a:prstGeom prst="rect">
            <a:avLst/>
          </a:prstGeom>
          <a:noFill/>
          <a:ln/>
        </p:spPr>
        <p:txBody>
          <a:bodyPr wrap="square" lIns="0" tIns="0" rIns="0" bIns="0" rtlCol="0" anchor="ctr"/>
          <a:lstStyle/>
          <a:p>
            <a:pPr algn="l" indent="0" marL="0">
              <a:buNone/>
            </a:pPr>
            <a:r>
              <a:rPr lang="en-US" sz="2300" i="1" dirty="0">
                <a:solidFill>
                  <a:srgbClr val="9EC6E6"/>
                </a:solidFill>
                <a:latin typeface="Cambria" pitchFamily="34" charset="0"/>
                <a:ea typeface="Cambria" pitchFamily="34" charset="-122"/>
                <a:cs typeface="Cambria" pitchFamily="34" charset="-120"/>
              </a:rPr>
              <a:t>FY2026  ·  January – September</a:t>
            </a:r>
            <a:endParaRPr lang="en-US" sz="2300" dirty="0"/>
          </a:p>
        </p:txBody>
      </p:sp>
      <p:sp>
        <p:nvSpPr>
          <p:cNvPr id="5" name="dept-he"/>
          <p:cNvSpPr txBox="1"/>
          <p:nvPr/>
        </p:nvSpPr>
        <p:spPr>
          <a:xfrm>
            <a:off x="566928" y="3346704"/>
            <a:ext cx="8778240" cy="365760"/>
          </a:xfrm>
          <a:prstGeom prst="rect">
            <a:avLst/>
          </a:prstGeom>
          <a:noFill/>
          <a:ln/>
        </p:spPr>
        <p:txBody>
          <a:bodyPr wrap="square" lIns="0" tIns="0" rIns="0" bIns="0" rtlCol="0" anchor="ctr"/>
          <a:lstStyle/>
          <a:p>
            <a:pPr rtl="1" algn="l" indent="0" marL="0">
              <a:buNone/>
            </a:pPr>
            <a:r>
              <a:rPr lang="en-US" sz="1400" dirty="0">
                <a:solidFill>
                  <a:srgbClr val="A9BCCF"/>
                </a:solidFill>
                <a:latin typeface="Arial" pitchFamily="34" charset="0"/>
                <a:ea typeface="Arial" pitchFamily="34" charset="-122"/>
                <a:cs typeface="Arial" pitchFamily="34" charset="-120"/>
              </a:rPr>
              <a:t>מחלקת תשתיות ענן, DevOps ובסיסי נתונים  ·  אגף טכנולוגיות והגנת הסייבר</a:t>
            </a:r>
            <a:endParaRPr lang="en-US" sz="1400" dirty="0"/>
          </a:p>
        </p:txBody>
      </p:sp>
      <p:sp>
        <p:nvSpPr>
          <p:cNvPr id="6" name="fig-dot-0"/>
          <p:cNvSpPr/>
          <p:nvPr/>
        </p:nvSpPr>
        <p:spPr>
          <a:xfrm>
            <a:off x="566928" y="4133088"/>
            <a:ext cx="91440" cy="91440"/>
          </a:xfrm>
          <a:prstGeom prst="ellipse">
            <a:avLst/>
          </a:prstGeom>
          <a:solidFill>
            <a:srgbClr val="0F7DC2"/>
          </a:solidFill>
          <a:ln/>
        </p:spPr>
      </p:sp>
      <p:sp>
        <p:nvSpPr>
          <p:cNvPr id="7" name="Text 5"/>
          <p:cNvSpPr txBox="1"/>
          <p:nvPr/>
        </p:nvSpPr>
        <p:spPr>
          <a:xfrm>
            <a:off x="566928" y="4279392"/>
            <a:ext cx="274320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$4.67M</a:t>
            </a:r>
            <a:endParaRPr lang="en-US" sz="3000" dirty="0"/>
          </a:p>
        </p:txBody>
      </p:sp>
      <p:sp>
        <p:nvSpPr>
          <p:cNvPr id="8" name="Text 6"/>
          <p:cNvSpPr txBox="1"/>
          <p:nvPr/>
        </p:nvSpPr>
        <p:spPr>
          <a:xfrm>
            <a:off x="566928" y="4828032"/>
            <a:ext cx="2697480" cy="384048"/>
          </a:xfrm>
          <a:prstGeom prst="rect">
            <a:avLst/>
          </a:prstGeom>
          <a:noFill/>
          <a:ln/>
        </p:spPr>
        <p:txBody>
          <a:bodyPr wrap="square" lIns="0" tIns="0" rIns="0" bIns="0" rtlCol="0" anchor="t"/>
          <a:lstStyle/>
          <a:p>
            <a:pPr algn="l" indent="0" marL="0">
              <a:buNone/>
            </a:pPr>
            <a:r>
              <a:rPr lang="en-US" sz="1150" dirty="0">
                <a:solidFill>
                  <a:srgbClr val="8FA7BF"/>
                </a:solidFill>
                <a:latin typeface="Arial" pitchFamily="34" charset="0"/>
                <a:ea typeface="Arial" pitchFamily="34" charset="-122"/>
                <a:cs typeface="Arial" pitchFamily="34" charset="-120"/>
              </a:rPr>
              <a:t>Total cloud, YTD</a:t>
            </a:r>
            <a:endParaRPr lang="en-US" sz="1150" dirty="0"/>
          </a:p>
        </p:txBody>
      </p:sp>
      <p:sp>
        <p:nvSpPr>
          <p:cNvPr id="9" name="fig-dot-1"/>
          <p:cNvSpPr/>
          <p:nvPr/>
        </p:nvSpPr>
        <p:spPr>
          <a:xfrm>
            <a:off x="3447288" y="4133088"/>
            <a:ext cx="91440" cy="91440"/>
          </a:xfrm>
          <a:prstGeom prst="ellipse">
            <a:avLst/>
          </a:prstGeom>
          <a:solidFill>
            <a:srgbClr val="00A878"/>
          </a:solidFill>
          <a:ln/>
        </p:spPr>
      </p:sp>
      <p:sp>
        <p:nvSpPr>
          <p:cNvPr id="10" name="Text 8"/>
          <p:cNvSpPr txBox="1"/>
          <p:nvPr/>
        </p:nvSpPr>
        <p:spPr>
          <a:xfrm>
            <a:off x="3447288" y="4279392"/>
            <a:ext cx="274320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$578K</a:t>
            </a:r>
            <a:endParaRPr lang="en-US" sz="3000" dirty="0"/>
          </a:p>
        </p:txBody>
      </p:sp>
      <p:sp>
        <p:nvSpPr>
          <p:cNvPr id="11" name="Text 9"/>
          <p:cNvSpPr txBox="1"/>
          <p:nvPr/>
        </p:nvSpPr>
        <p:spPr>
          <a:xfrm>
            <a:off x="3447288" y="4828032"/>
            <a:ext cx="2697480" cy="384048"/>
          </a:xfrm>
          <a:prstGeom prst="rect">
            <a:avLst/>
          </a:prstGeom>
          <a:noFill/>
          <a:ln/>
        </p:spPr>
        <p:txBody>
          <a:bodyPr wrap="square" lIns="0" tIns="0" rIns="0" bIns="0" rtlCol="0" anchor="t"/>
          <a:lstStyle/>
          <a:p>
            <a:pPr algn="l" indent="0" marL="0">
              <a:buNone/>
            </a:pPr>
            <a:r>
              <a:rPr lang="en-US" sz="1150" dirty="0">
                <a:solidFill>
                  <a:srgbClr val="8FA7BF"/>
                </a:solidFill>
                <a:latin typeface="Arial" pitchFamily="34" charset="0"/>
                <a:ea typeface="Arial" pitchFamily="34" charset="-122"/>
                <a:cs typeface="Arial" pitchFamily="34" charset="-120"/>
              </a:rPr>
              <a:t>Savings delivered</a:t>
            </a:r>
            <a:endParaRPr lang="en-US" sz="1150" dirty="0"/>
          </a:p>
        </p:txBody>
      </p:sp>
      <p:sp>
        <p:nvSpPr>
          <p:cNvPr id="12" name="fig-dot-2"/>
          <p:cNvSpPr/>
          <p:nvPr/>
        </p:nvSpPr>
        <p:spPr>
          <a:xfrm>
            <a:off x="6327648" y="4133088"/>
            <a:ext cx="91440" cy="91440"/>
          </a:xfrm>
          <a:prstGeom prst="ellipse">
            <a:avLst/>
          </a:prstGeom>
          <a:solidFill>
            <a:srgbClr val="7C5CFF"/>
          </a:solidFill>
          <a:ln/>
        </p:spPr>
      </p:sp>
      <p:sp>
        <p:nvSpPr>
          <p:cNvPr id="13" name="Text 11"/>
          <p:cNvSpPr txBox="1"/>
          <p:nvPr/>
        </p:nvSpPr>
        <p:spPr>
          <a:xfrm>
            <a:off x="6327648" y="4279392"/>
            <a:ext cx="274320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34%</a:t>
            </a:r>
            <a:endParaRPr lang="en-US" sz="3000" dirty="0"/>
          </a:p>
        </p:txBody>
      </p:sp>
      <p:sp>
        <p:nvSpPr>
          <p:cNvPr id="14" name="Text 12"/>
          <p:cNvSpPr txBox="1"/>
          <p:nvPr/>
        </p:nvSpPr>
        <p:spPr>
          <a:xfrm>
            <a:off x="6327648" y="4828032"/>
            <a:ext cx="2697480" cy="384048"/>
          </a:xfrm>
          <a:prstGeom prst="rect">
            <a:avLst/>
          </a:prstGeom>
          <a:noFill/>
          <a:ln/>
        </p:spPr>
        <p:txBody>
          <a:bodyPr wrap="square" lIns="0" tIns="0" rIns="0" bIns="0" rtlCol="0" anchor="t"/>
          <a:lstStyle/>
          <a:p>
            <a:pPr algn="l" indent="0" marL="0">
              <a:buNone/>
            </a:pPr>
            <a:r>
              <a:rPr lang="en-US" sz="1150" dirty="0">
                <a:solidFill>
                  <a:srgbClr val="8FA7BF"/>
                </a:solidFill>
                <a:latin typeface="Arial" pitchFamily="34" charset="0"/>
                <a:ea typeface="Arial" pitchFamily="34" charset="-122"/>
                <a:cs typeface="Arial" pitchFamily="34" charset="-120"/>
              </a:rPr>
              <a:t>Of September spend is AI</a:t>
            </a:r>
            <a:endParaRPr lang="en-US" sz="1150" dirty="0"/>
          </a:p>
        </p:txBody>
      </p:sp>
      <p:sp>
        <p:nvSpPr>
          <p:cNvPr id="15" name="motif-0"/>
          <p:cNvSpPr/>
          <p:nvPr/>
        </p:nvSpPr>
        <p:spPr>
          <a:xfrm>
            <a:off x="9464040" y="2560992"/>
            <a:ext cx="143256" cy="2559648"/>
          </a:xfrm>
          <a:prstGeom prst="rect">
            <a:avLst/>
          </a:prstGeom>
          <a:solidFill>
            <a:srgbClr val="21466B"/>
          </a:solidFill>
          <a:ln/>
        </p:spPr>
      </p:sp>
      <p:sp>
        <p:nvSpPr>
          <p:cNvPr id="16" name="motif-1"/>
          <p:cNvSpPr/>
          <p:nvPr/>
        </p:nvSpPr>
        <p:spPr>
          <a:xfrm>
            <a:off x="9702800" y="2733644"/>
            <a:ext cx="143256" cy="2386996"/>
          </a:xfrm>
          <a:prstGeom prst="rect">
            <a:avLst/>
          </a:prstGeom>
          <a:solidFill>
            <a:srgbClr val="21466B"/>
          </a:solidFill>
          <a:ln/>
        </p:spPr>
      </p:sp>
      <p:sp>
        <p:nvSpPr>
          <p:cNvPr id="17" name="motif-2"/>
          <p:cNvSpPr/>
          <p:nvPr/>
        </p:nvSpPr>
        <p:spPr>
          <a:xfrm>
            <a:off x="9941560" y="2262075"/>
            <a:ext cx="143256" cy="2858565"/>
          </a:xfrm>
          <a:prstGeom prst="rect">
            <a:avLst/>
          </a:prstGeom>
          <a:solidFill>
            <a:srgbClr val="21466B"/>
          </a:solidFill>
          <a:ln/>
        </p:spPr>
      </p:sp>
      <p:sp>
        <p:nvSpPr>
          <p:cNvPr id="18" name="motif-3"/>
          <p:cNvSpPr/>
          <p:nvPr/>
        </p:nvSpPr>
        <p:spPr>
          <a:xfrm>
            <a:off x="10180320" y="2551900"/>
            <a:ext cx="143256" cy="2568740"/>
          </a:xfrm>
          <a:prstGeom prst="rect">
            <a:avLst/>
          </a:prstGeom>
          <a:solidFill>
            <a:srgbClr val="21466B"/>
          </a:solidFill>
          <a:ln/>
        </p:spPr>
      </p:sp>
      <p:sp>
        <p:nvSpPr>
          <p:cNvPr id="19" name="motif-4"/>
          <p:cNvSpPr/>
          <p:nvPr/>
        </p:nvSpPr>
        <p:spPr>
          <a:xfrm>
            <a:off x="10419080" y="2531912"/>
            <a:ext cx="143256" cy="2588728"/>
          </a:xfrm>
          <a:prstGeom prst="rect">
            <a:avLst/>
          </a:prstGeom>
          <a:solidFill>
            <a:srgbClr val="21466B"/>
          </a:solidFill>
          <a:ln/>
        </p:spPr>
      </p:sp>
      <p:sp>
        <p:nvSpPr>
          <p:cNvPr id="20" name="motif-5"/>
          <p:cNvSpPr/>
          <p:nvPr/>
        </p:nvSpPr>
        <p:spPr>
          <a:xfrm>
            <a:off x="10657840" y="2319457"/>
            <a:ext cx="143256" cy="2801183"/>
          </a:xfrm>
          <a:prstGeom prst="rect">
            <a:avLst/>
          </a:prstGeom>
          <a:solidFill>
            <a:srgbClr val="21466B"/>
          </a:solidFill>
          <a:ln/>
        </p:spPr>
      </p:sp>
      <p:sp>
        <p:nvSpPr>
          <p:cNvPr id="21" name="motif-6"/>
          <p:cNvSpPr/>
          <p:nvPr/>
        </p:nvSpPr>
        <p:spPr>
          <a:xfrm>
            <a:off x="10896600" y="2196491"/>
            <a:ext cx="143256" cy="2924149"/>
          </a:xfrm>
          <a:prstGeom prst="rect">
            <a:avLst/>
          </a:prstGeom>
          <a:solidFill>
            <a:srgbClr val="21466B"/>
          </a:solidFill>
          <a:ln/>
        </p:spPr>
      </p:sp>
      <p:sp>
        <p:nvSpPr>
          <p:cNvPr id="22" name="motif-7"/>
          <p:cNvSpPr/>
          <p:nvPr/>
        </p:nvSpPr>
        <p:spPr>
          <a:xfrm>
            <a:off x="11135360" y="1832150"/>
            <a:ext cx="143256" cy="3288490"/>
          </a:xfrm>
          <a:prstGeom prst="rect">
            <a:avLst/>
          </a:prstGeom>
          <a:solidFill>
            <a:srgbClr val="21466B"/>
          </a:solidFill>
          <a:ln/>
        </p:spPr>
      </p:sp>
      <p:sp>
        <p:nvSpPr>
          <p:cNvPr id="23" name="motif-8"/>
          <p:cNvSpPr/>
          <p:nvPr/>
        </p:nvSpPr>
        <p:spPr>
          <a:xfrm>
            <a:off x="11374120" y="1828800"/>
            <a:ext cx="143256" cy="3291840"/>
          </a:xfrm>
          <a:prstGeom prst="rect">
            <a:avLst/>
          </a:prstGeom>
          <a:solidFill>
            <a:srgbClr val="F2A900"/>
          </a:solidFill>
          <a:ln/>
        </p:spPr>
      </p:sp>
      <p:sp>
        <p:nvSpPr>
          <p:cNvPr id="24" name="Text 22"/>
          <p:cNvSpPr txBox="1"/>
          <p:nvPr/>
        </p:nvSpPr>
        <p:spPr>
          <a:xfrm>
            <a:off x="9464040" y="5248656"/>
            <a:ext cx="2514600" cy="237744"/>
          </a:xfrm>
          <a:prstGeom prst="rect">
            <a:avLst/>
          </a:prstGeom>
          <a:noFill/>
          <a:ln/>
        </p:spPr>
        <p:txBody>
          <a:bodyPr wrap="square" lIns="0" tIns="0" rIns="0" bIns="0" rtlCol="0" anchor="ctr"/>
          <a:lstStyle/>
          <a:p>
            <a:pPr algn="l" indent="0" marL="0">
              <a:buNone/>
            </a:pPr>
            <a:r>
              <a:rPr lang="en-US" sz="850" b="1" spc="110" kern="0" dirty="0">
                <a:solidFill>
                  <a:srgbClr val="6E8299"/>
                </a:solidFill>
                <a:latin typeface="Arial" pitchFamily="34" charset="0"/>
                <a:ea typeface="Arial" pitchFamily="34" charset="-122"/>
                <a:cs typeface="Arial" pitchFamily="34" charset="-120"/>
              </a:rPr>
              <a:t>MONTHLY CLOUD CONSUMPTION</a:t>
            </a:r>
            <a:endParaRPr lang="en-US" sz="850" dirty="0"/>
          </a:p>
        </p:txBody>
      </p:sp>
      <p:sp>
        <p:nvSpPr>
          <p:cNvPr id="25" name="Text 23"/>
          <p:cNvSpPr txBox="1"/>
          <p:nvPr/>
        </p:nvSpPr>
        <p:spPr>
          <a:xfrm>
            <a:off x="9464040" y="5468112"/>
            <a:ext cx="2514600" cy="237744"/>
          </a:xfrm>
          <a:prstGeom prst="rect">
            <a:avLst/>
          </a:prstGeom>
          <a:noFill/>
          <a:ln/>
        </p:spPr>
        <p:txBody>
          <a:bodyPr wrap="square" lIns="0" tIns="0" rIns="0" bIns="0" rtlCol="0" anchor="ctr"/>
          <a:lstStyle/>
          <a:p>
            <a:pPr algn="l" indent="0" marL="0">
              <a:buNone/>
            </a:pPr>
            <a:r>
              <a:rPr lang="en-US" sz="900" dirty="0">
                <a:solidFill>
                  <a:srgbClr val="55687E"/>
                </a:solidFill>
                <a:latin typeface="Arial" pitchFamily="34" charset="0"/>
                <a:ea typeface="Arial" pitchFamily="34" charset="-122"/>
                <a:cs typeface="Arial" pitchFamily="34" charset="-120"/>
              </a:rPr>
              <a:t>Jan → Sep 2026</a:t>
            </a:r>
            <a:endParaRPr lang="en-US" sz="900" dirty="0"/>
          </a:p>
        </p:txBody>
      </p:sp>
      <p:pic>
        <p:nvPicPr>
          <p:cNvPr id="26" name="Image 0" descr="/tmp/claude-0/-home-user-Finops/a0c4678f-b3c9-5fb7-b436-dff734416b7d/scratchpad/assets/harel_light.png">    </p:cNvPr>
          <p:cNvPicPr>
            <a:picLocks noChangeAspect="1"/>
          </p:cNvPicPr>
          <p:nvPr/>
        </p:nvPicPr>
        <p:blipFill>
          <a:blip r:embed="rId1"/>
          <a:stretch>
            <a:fillRect/>
          </a:stretch>
        </p:blipFill>
        <p:spPr>
          <a:xfrm>
            <a:off x="9464040" y="5870448"/>
            <a:ext cx="1143000" cy="493776"/>
          </a:xfrm>
          <a:prstGeom prst="rect">
            <a:avLst/>
          </a:prstGeom>
        </p:spPr>
      </p:pic>
      <p:sp>
        <p:nvSpPr>
          <p:cNvPr id="27" name="Text 24"/>
          <p:cNvSpPr txBox="1"/>
          <p:nvPr/>
        </p:nvSpPr>
        <p:spPr>
          <a:xfrm>
            <a:off x="5486400" y="5943600"/>
            <a:ext cx="3657600" cy="329184"/>
          </a:xfrm>
          <a:prstGeom prst="rect">
            <a:avLst/>
          </a:prstGeom>
          <a:noFill/>
          <a:ln/>
        </p:spPr>
        <p:txBody>
          <a:bodyPr wrap="square" lIns="0" tIns="0" rIns="0" bIns="0" rtlCol="0" anchor="ctr"/>
          <a:lstStyle/>
          <a:p>
            <a:pPr algn="r" indent="0" marL="0">
              <a:buNone/>
            </a:pPr>
            <a:r>
              <a:rPr lang="en-US" sz="1100" dirty="0">
                <a:solidFill>
                  <a:srgbClr val="6E8299"/>
                </a:solidFill>
                <a:latin typeface="Arial" pitchFamily="34" charset="0"/>
                <a:ea typeface="Arial" pitchFamily="34" charset="-122"/>
                <a:cs typeface="Arial" pitchFamily="34" charset="-120"/>
              </a:rPr>
              <a:t>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8FA7BF"/>
                </a:solidFill>
                <a:latin typeface="Arial" pitchFamily="34" charset="0"/>
                <a:ea typeface="Arial" pitchFamily="34" charset="-122"/>
                <a:cs typeface="Arial" pitchFamily="34" charset="-120"/>
              </a:rPr>
              <a:t>THE BOTTOM LINE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FFFFFF"/>
                </a:solidFill>
                <a:latin typeface="Cambria" pitchFamily="34" charset="0"/>
                <a:ea typeface="Cambria" pitchFamily="34" charset="-122"/>
                <a:cs typeface="Cambria" pitchFamily="34" charset="-120"/>
              </a:rPr>
              <a:t>Spend is up 22%, but every dollar of growth is AI</a:t>
            </a:r>
            <a:endParaRPr lang="en-US" sz="2800" dirty="0"/>
          </a:p>
        </p:txBody>
      </p:sp>
      <p:sp>
        <p:nvSpPr>
          <p:cNvPr id="5" name="stat-card-Total cloud YT"/>
          <p:cNvSpPr/>
          <p:nvPr/>
        </p:nvSpPr>
        <p:spPr>
          <a:xfrm>
            <a:off x="566928" y="1572768"/>
            <a:ext cx="2593010" cy="2029968"/>
          </a:xfrm>
          <a:prstGeom prst="roundRect">
            <a:avLst>
              <a:gd name="adj" fmla="val 2703"/>
            </a:avLst>
          </a:prstGeom>
          <a:solidFill>
            <a:srgbClr val="13324F"/>
          </a:solidFill>
          <a:ln/>
        </p:spPr>
      </p:sp>
      <p:sp>
        <p:nvSpPr>
          <p:cNvPr id="6" name="stat-dot"/>
          <p:cNvSpPr/>
          <p:nvPr/>
        </p:nvSpPr>
        <p:spPr>
          <a:xfrm>
            <a:off x="804672" y="1847088"/>
            <a:ext cx="91440" cy="91440"/>
          </a:xfrm>
          <a:prstGeom prst="ellipse">
            <a:avLst/>
          </a:prstGeom>
          <a:solidFill>
            <a:srgbClr val="0F7DC2"/>
          </a:solidFill>
          <a:ln/>
        </p:spPr>
      </p:sp>
      <p:sp>
        <p:nvSpPr>
          <p:cNvPr id="7" name="Text 5"/>
          <p:cNvSpPr txBox="1"/>
          <p:nvPr/>
        </p:nvSpPr>
        <p:spPr>
          <a:xfrm>
            <a:off x="98755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TOTAL CLOUD YTD</a:t>
            </a:r>
            <a:endParaRPr lang="en-US" sz="1000" dirty="0"/>
          </a:p>
        </p:txBody>
      </p:sp>
      <p:sp>
        <p:nvSpPr>
          <p:cNvPr id="8" name="Text 6"/>
          <p:cNvSpPr txBox="1"/>
          <p:nvPr/>
        </p:nvSpPr>
        <p:spPr>
          <a:xfrm>
            <a:off x="80467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$4.67M</a:t>
            </a:r>
            <a:endParaRPr lang="en-US" sz="3600" dirty="0"/>
          </a:p>
        </p:txBody>
      </p:sp>
      <p:sp>
        <p:nvSpPr>
          <p:cNvPr id="9" name="Text 7"/>
          <p:cNvSpPr txBox="1"/>
          <p:nvPr/>
        </p:nvSpPr>
        <p:spPr>
          <a:xfrm>
            <a:off x="804672"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Consumption $2.31M</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Committed $2.36M</a:t>
            </a:r>
            <a:endParaRPr lang="en-US" sz="1150" dirty="0"/>
          </a:p>
        </p:txBody>
      </p:sp>
      <p:sp>
        <p:nvSpPr>
          <p:cNvPr id="10" name="stat-card-Consumption ru"/>
          <p:cNvSpPr/>
          <p:nvPr/>
        </p:nvSpPr>
        <p:spPr>
          <a:xfrm>
            <a:off x="3388538" y="1572768"/>
            <a:ext cx="2593010" cy="2029968"/>
          </a:xfrm>
          <a:prstGeom prst="roundRect">
            <a:avLst>
              <a:gd name="adj" fmla="val 2703"/>
            </a:avLst>
          </a:prstGeom>
          <a:solidFill>
            <a:srgbClr val="13324F"/>
          </a:solidFill>
          <a:ln/>
        </p:spPr>
      </p:sp>
      <p:sp>
        <p:nvSpPr>
          <p:cNvPr id="11" name="stat-dot"/>
          <p:cNvSpPr/>
          <p:nvPr/>
        </p:nvSpPr>
        <p:spPr>
          <a:xfrm>
            <a:off x="3626282" y="1847088"/>
            <a:ext cx="91440" cy="91440"/>
          </a:xfrm>
          <a:prstGeom prst="ellipse">
            <a:avLst/>
          </a:prstGeom>
          <a:solidFill>
            <a:srgbClr val="F2A900"/>
          </a:solidFill>
          <a:ln/>
        </p:spPr>
      </p:sp>
      <p:sp>
        <p:nvSpPr>
          <p:cNvPr id="12" name="Text 10"/>
          <p:cNvSpPr txBox="1"/>
          <p:nvPr/>
        </p:nvSpPr>
        <p:spPr>
          <a:xfrm>
            <a:off x="380916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CONSUMPTION RUN-RATE</a:t>
            </a:r>
            <a:endParaRPr lang="en-US" sz="1000" dirty="0"/>
          </a:p>
        </p:txBody>
      </p:sp>
      <p:sp>
        <p:nvSpPr>
          <p:cNvPr id="13" name="Text 11"/>
          <p:cNvSpPr txBox="1"/>
          <p:nvPr/>
        </p:nvSpPr>
        <p:spPr>
          <a:xfrm>
            <a:off x="362628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+22%</a:t>
            </a:r>
            <a:endParaRPr lang="en-US" sz="3600" dirty="0"/>
          </a:p>
        </p:txBody>
      </p:sp>
      <p:sp>
        <p:nvSpPr>
          <p:cNvPr id="14" name="Text 12"/>
          <p:cNvSpPr txBox="1"/>
          <p:nvPr/>
        </p:nvSpPr>
        <p:spPr>
          <a:xfrm>
            <a:off x="3626282"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Q1 avg $238K/mo →</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Q3 avg $290K/mo</a:t>
            </a:r>
            <a:endParaRPr lang="en-US" sz="1150" dirty="0"/>
          </a:p>
        </p:txBody>
      </p:sp>
      <p:sp>
        <p:nvSpPr>
          <p:cNvPr id="15" name="stat-card-Traditional es"/>
          <p:cNvSpPr/>
          <p:nvPr/>
        </p:nvSpPr>
        <p:spPr>
          <a:xfrm>
            <a:off x="6210148" y="1572768"/>
            <a:ext cx="2593010" cy="2029968"/>
          </a:xfrm>
          <a:prstGeom prst="roundRect">
            <a:avLst>
              <a:gd name="adj" fmla="val 2703"/>
            </a:avLst>
          </a:prstGeom>
          <a:solidFill>
            <a:srgbClr val="13324F"/>
          </a:solidFill>
          <a:ln/>
        </p:spPr>
      </p:sp>
      <p:sp>
        <p:nvSpPr>
          <p:cNvPr id="16" name="stat-dot"/>
          <p:cNvSpPr/>
          <p:nvPr/>
        </p:nvSpPr>
        <p:spPr>
          <a:xfrm>
            <a:off x="6447892" y="1847088"/>
            <a:ext cx="91440" cy="91440"/>
          </a:xfrm>
          <a:prstGeom prst="ellipse">
            <a:avLst/>
          </a:prstGeom>
          <a:solidFill>
            <a:srgbClr val="00A878"/>
          </a:solidFill>
          <a:ln/>
        </p:spPr>
      </p:sp>
      <p:sp>
        <p:nvSpPr>
          <p:cNvPr id="17" name="Text 15"/>
          <p:cNvSpPr txBox="1"/>
          <p:nvPr/>
        </p:nvSpPr>
        <p:spPr>
          <a:xfrm>
            <a:off x="663077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TRADITIONAL ESTATE</a:t>
            </a:r>
            <a:endParaRPr lang="en-US" sz="1000" dirty="0"/>
          </a:p>
        </p:txBody>
      </p:sp>
      <p:sp>
        <p:nvSpPr>
          <p:cNvPr id="18" name="Text 16"/>
          <p:cNvSpPr txBox="1"/>
          <p:nvPr/>
        </p:nvSpPr>
        <p:spPr>
          <a:xfrm>
            <a:off x="644789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–13%</a:t>
            </a:r>
            <a:endParaRPr lang="en-US" sz="3600" dirty="0"/>
          </a:p>
        </p:txBody>
      </p:sp>
      <p:sp>
        <p:nvSpPr>
          <p:cNvPr id="19" name="Text 17"/>
          <p:cNvSpPr txBox="1"/>
          <p:nvPr/>
        </p:nvSpPr>
        <p:spPr>
          <a:xfrm>
            <a:off x="6447892"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Non-AI spend fell</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Q1 → Q3</a:t>
            </a:r>
            <a:endParaRPr lang="en-US" sz="1150" dirty="0"/>
          </a:p>
        </p:txBody>
      </p:sp>
      <p:sp>
        <p:nvSpPr>
          <p:cNvPr id="20" name="stat-card-Savings delive"/>
          <p:cNvSpPr/>
          <p:nvPr/>
        </p:nvSpPr>
        <p:spPr>
          <a:xfrm>
            <a:off x="9031757" y="1572768"/>
            <a:ext cx="2593010" cy="2029968"/>
          </a:xfrm>
          <a:prstGeom prst="roundRect">
            <a:avLst>
              <a:gd name="adj" fmla="val 2703"/>
            </a:avLst>
          </a:prstGeom>
          <a:solidFill>
            <a:srgbClr val="13324F"/>
          </a:solidFill>
          <a:ln/>
        </p:spPr>
      </p:sp>
      <p:sp>
        <p:nvSpPr>
          <p:cNvPr id="21" name="stat-dot"/>
          <p:cNvSpPr/>
          <p:nvPr/>
        </p:nvSpPr>
        <p:spPr>
          <a:xfrm>
            <a:off x="9269501" y="1847088"/>
            <a:ext cx="91440" cy="91440"/>
          </a:xfrm>
          <a:prstGeom prst="ellipse">
            <a:avLst/>
          </a:prstGeom>
          <a:solidFill>
            <a:srgbClr val="00A878"/>
          </a:solidFill>
          <a:ln/>
        </p:spPr>
      </p:sp>
      <p:sp>
        <p:nvSpPr>
          <p:cNvPr id="22" name="Text 20"/>
          <p:cNvSpPr txBox="1"/>
          <p:nvPr/>
        </p:nvSpPr>
        <p:spPr>
          <a:xfrm>
            <a:off x="9452381"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SAVINGS DELIVERED</a:t>
            </a:r>
            <a:endParaRPr lang="en-US" sz="1000" dirty="0"/>
          </a:p>
        </p:txBody>
      </p:sp>
      <p:sp>
        <p:nvSpPr>
          <p:cNvPr id="23" name="Text 21"/>
          <p:cNvSpPr txBox="1"/>
          <p:nvPr/>
        </p:nvSpPr>
        <p:spPr>
          <a:xfrm>
            <a:off x="9269501"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$578K</a:t>
            </a:r>
            <a:endParaRPr lang="en-US" sz="3600" dirty="0"/>
          </a:p>
        </p:txBody>
      </p:sp>
      <p:sp>
        <p:nvSpPr>
          <p:cNvPr id="24" name="Text 22"/>
          <p:cNvSpPr txBox="1"/>
          <p:nvPr/>
        </p:nvSpPr>
        <p:spPr>
          <a:xfrm>
            <a:off x="9269501" y="2688336"/>
            <a:ext cx="2135810" cy="713232"/>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Realised $268K</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Avoided $310K</a:t>
            </a:r>
            <a:endParaRPr lang="en-US" sz="1150" dirty="0"/>
          </a:p>
        </p:txBody>
      </p:sp>
      <p:sp>
        <p:nvSpPr>
          <p:cNvPr id="25" name="Text 23"/>
          <p:cNvSpPr txBox="1"/>
          <p:nvPr/>
        </p:nvSpPr>
        <p:spPr>
          <a:xfrm>
            <a:off x="566928" y="3858768"/>
            <a:ext cx="11057839" cy="274320"/>
          </a:xfrm>
          <a:prstGeom prst="rect">
            <a:avLst/>
          </a:prstGeom>
          <a:noFill/>
          <a:ln/>
        </p:spPr>
        <p:txBody>
          <a:bodyPr wrap="square" lIns="0" tIns="0" rIns="0" bIns="0" rtlCol="0" anchor="ctr"/>
          <a:lstStyle/>
          <a:p>
            <a:pPr algn="l" indent="0" marL="0">
              <a:buNone/>
            </a:pPr>
            <a:r>
              <a:rPr lang="en-US" sz="1050" b="1" spc="160" kern="0" dirty="0">
                <a:solidFill>
                  <a:srgbClr val="8FA7BF"/>
                </a:solidFill>
                <a:latin typeface="Arial" pitchFamily="34" charset="0"/>
                <a:ea typeface="Arial" pitchFamily="34" charset="-122"/>
                <a:cs typeface="Arial" pitchFamily="34" charset="-120"/>
              </a:rPr>
              <a:t>THREE THINGS TO TAKE AWAY</a:t>
            </a:r>
            <a:endParaRPr lang="en-US" sz="1050" dirty="0"/>
          </a:p>
        </p:txBody>
      </p:sp>
      <p:sp>
        <p:nvSpPr>
          <p:cNvPr id="26" name="takeaway-1"/>
          <p:cNvSpPr/>
          <p:nvPr/>
        </p:nvSpPr>
        <p:spPr>
          <a:xfrm>
            <a:off x="566928" y="4169664"/>
            <a:ext cx="3503066" cy="1773936"/>
          </a:xfrm>
          <a:prstGeom prst="roundRect">
            <a:avLst>
              <a:gd name="adj" fmla="val 3093"/>
            </a:avLst>
          </a:prstGeom>
          <a:solidFill>
            <a:srgbClr val="112C45"/>
          </a:solidFill>
          <a:ln/>
        </p:spPr>
      </p:sp>
      <p:sp>
        <p:nvSpPr>
          <p:cNvPr id="27" name="num-badge"/>
          <p:cNvSpPr/>
          <p:nvPr/>
        </p:nvSpPr>
        <p:spPr>
          <a:xfrm>
            <a:off x="822960" y="4407408"/>
            <a:ext cx="274320" cy="274320"/>
          </a:xfrm>
          <a:prstGeom prst="ellipse">
            <a:avLst/>
          </a:prstGeom>
          <a:solidFill>
            <a:srgbClr val="7C5CFF"/>
          </a:solidFill>
          <a:ln/>
        </p:spPr>
      </p:sp>
      <p:sp>
        <p:nvSpPr>
          <p:cNvPr id="28" name="Text 26"/>
          <p:cNvSpPr txBox="1"/>
          <p:nvPr/>
        </p:nvSpPr>
        <p:spPr>
          <a:xfrm>
            <a:off x="822960"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9" name="Text 27"/>
          <p:cNvSpPr txBox="1"/>
          <p:nvPr/>
        </p:nvSpPr>
        <p:spPr>
          <a:xfrm>
            <a:off x="1243584" y="4370832"/>
            <a:ext cx="2570378" cy="493776"/>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AI went from $9K to $102K a month</a:t>
            </a:r>
            <a:endParaRPr lang="en-US" sz="1400" dirty="0"/>
          </a:p>
        </p:txBody>
      </p:sp>
      <p:sp>
        <p:nvSpPr>
          <p:cNvPr id="30" name="Text 28"/>
          <p:cNvSpPr txBox="1"/>
          <p:nvPr/>
        </p:nvSpPr>
        <p:spPr>
          <a:xfrm>
            <a:off x="1243584" y="4882896"/>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An 11× rise in nine months. At the September run-rate that is $1.22M a year — now 34% of all cloud consumption.</a:t>
            </a:r>
            <a:endParaRPr lang="en-US" sz="1200" dirty="0"/>
          </a:p>
        </p:txBody>
      </p:sp>
      <p:sp>
        <p:nvSpPr>
          <p:cNvPr id="31" name="takeaway-2"/>
          <p:cNvSpPr/>
          <p:nvPr/>
        </p:nvSpPr>
        <p:spPr>
          <a:xfrm>
            <a:off x="4344314" y="4169664"/>
            <a:ext cx="3503066" cy="1773936"/>
          </a:xfrm>
          <a:prstGeom prst="roundRect">
            <a:avLst>
              <a:gd name="adj" fmla="val 3093"/>
            </a:avLst>
          </a:prstGeom>
          <a:solidFill>
            <a:srgbClr val="112C45"/>
          </a:solidFill>
          <a:ln/>
        </p:spPr>
      </p:sp>
      <p:sp>
        <p:nvSpPr>
          <p:cNvPr id="32" name="num-badge"/>
          <p:cNvSpPr/>
          <p:nvPr/>
        </p:nvSpPr>
        <p:spPr>
          <a:xfrm>
            <a:off x="4600346" y="4407408"/>
            <a:ext cx="274320" cy="274320"/>
          </a:xfrm>
          <a:prstGeom prst="ellipse">
            <a:avLst/>
          </a:prstGeom>
          <a:solidFill>
            <a:srgbClr val="00A878"/>
          </a:solidFill>
          <a:ln/>
        </p:spPr>
      </p:sp>
      <p:sp>
        <p:nvSpPr>
          <p:cNvPr id="33" name="Text 31"/>
          <p:cNvSpPr txBox="1"/>
          <p:nvPr/>
        </p:nvSpPr>
        <p:spPr>
          <a:xfrm>
            <a:off x="4600346"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4" name="Text 32"/>
          <p:cNvSpPr txBox="1"/>
          <p:nvPr/>
        </p:nvSpPr>
        <p:spPr>
          <a:xfrm>
            <a:off x="5020970" y="4370832"/>
            <a:ext cx="2570378" cy="493776"/>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The classic estate is shrinking</a:t>
            </a:r>
            <a:endParaRPr lang="en-US" sz="1400" dirty="0"/>
          </a:p>
        </p:txBody>
      </p:sp>
      <p:sp>
        <p:nvSpPr>
          <p:cNvPr id="35" name="Text 33"/>
          <p:cNvSpPr txBox="1"/>
          <p:nvPr/>
        </p:nvSpPr>
        <p:spPr>
          <a:xfrm>
            <a:off x="5020970" y="4882896"/>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Strip out AI and spend is down 13% Q1 to Q3. Rightsizing, RI purchases and the North Europe exit are landing.</a:t>
            </a:r>
            <a:endParaRPr lang="en-US" sz="1200" dirty="0"/>
          </a:p>
        </p:txBody>
      </p:sp>
      <p:sp>
        <p:nvSpPr>
          <p:cNvPr id="36" name="takeaway-3"/>
          <p:cNvSpPr/>
          <p:nvPr/>
        </p:nvSpPr>
        <p:spPr>
          <a:xfrm>
            <a:off x="8121701" y="4169664"/>
            <a:ext cx="3503066" cy="1773936"/>
          </a:xfrm>
          <a:prstGeom prst="roundRect">
            <a:avLst>
              <a:gd name="adj" fmla="val 3093"/>
            </a:avLst>
          </a:prstGeom>
          <a:solidFill>
            <a:srgbClr val="112C45"/>
          </a:solidFill>
          <a:ln/>
        </p:spPr>
      </p:sp>
      <p:sp>
        <p:nvSpPr>
          <p:cNvPr id="37" name="num-badge"/>
          <p:cNvSpPr/>
          <p:nvPr/>
        </p:nvSpPr>
        <p:spPr>
          <a:xfrm>
            <a:off x="8377733" y="4407408"/>
            <a:ext cx="274320" cy="274320"/>
          </a:xfrm>
          <a:prstGeom prst="ellipse">
            <a:avLst/>
          </a:prstGeom>
          <a:solidFill>
            <a:srgbClr val="F2A900"/>
          </a:solidFill>
          <a:ln/>
        </p:spPr>
      </p:sp>
      <p:sp>
        <p:nvSpPr>
          <p:cNvPr id="38" name="Text 36"/>
          <p:cNvSpPr txBox="1"/>
          <p:nvPr/>
        </p:nvSpPr>
        <p:spPr>
          <a:xfrm>
            <a:off x="8377733"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9" name="Text 37"/>
          <p:cNvSpPr txBox="1"/>
          <p:nvPr/>
        </p:nvSpPr>
        <p:spPr>
          <a:xfrm>
            <a:off x="8798357" y="4370832"/>
            <a:ext cx="2570378" cy="493776"/>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Two decisions are needed now</a:t>
            </a:r>
            <a:endParaRPr lang="en-US" sz="1400" dirty="0"/>
          </a:p>
        </p:txBody>
      </p:sp>
      <p:sp>
        <p:nvSpPr>
          <p:cNvPr id="40" name="Text 38"/>
          <p:cNvSpPr txBox="1"/>
          <p:nvPr/>
        </p:nvSpPr>
        <p:spPr>
          <a:xfrm>
            <a:off x="8798357" y="4882896"/>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The Databricks commitment is 29% used, and Azure raises prices in February 2027. Both hit the 2027 budget.</a:t>
            </a:r>
            <a:endParaRPr lang="en-US" sz="12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AGENDA</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What we will cover</a:t>
            </a:r>
            <a:endParaRPr lang="en-US" sz="2800" dirty="0"/>
          </a:p>
        </p:txBody>
      </p:sp>
      <p:sp>
        <p:nvSpPr>
          <p:cNvPr id="5" name="agenda-01"/>
          <p:cNvSpPr/>
          <p:nvPr/>
        </p:nvSpPr>
        <p:spPr>
          <a:xfrm>
            <a:off x="566928" y="1572768"/>
            <a:ext cx="5336896" cy="1389888"/>
          </a:xfrm>
          <a:prstGeom prst="roundRect">
            <a:avLst>
              <a:gd name="adj" fmla="val 3947"/>
            </a:avLst>
          </a:prstGeom>
          <a:solidFill>
            <a:srgbClr val="EEF2F7"/>
          </a:solidFill>
          <a:ln/>
        </p:spPr>
      </p:sp>
      <p:sp>
        <p:nvSpPr>
          <p:cNvPr id="6" name="Text 4"/>
          <p:cNvSpPr txBox="1"/>
          <p:nvPr/>
        </p:nvSpPr>
        <p:spPr>
          <a:xfrm>
            <a:off x="841248" y="1810512"/>
            <a:ext cx="914400" cy="548640"/>
          </a:xfrm>
          <a:prstGeom prst="rect">
            <a:avLst/>
          </a:prstGeom>
          <a:noFill/>
          <a:ln/>
        </p:spPr>
        <p:txBody>
          <a:bodyPr wrap="square" lIns="0" tIns="0" rIns="0" bIns="0" rtlCol="0" anchor="ctr"/>
          <a:lstStyle/>
          <a:p>
            <a:pPr algn="l" indent="0" marL="0">
              <a:buNone/>
            </a:pPr>
            <a:r>
              <a:rPr lang="en-US" sz="3000" b="1" dirty="0">
                <a:solidFill>
                  <a:srgbClr val="0F7DC2"/>
                </a:solidFill>
                <a:latin typeface="Cambria" pitchFamily="34" charset="0"/>
                <a:ea typeface="Cambria" pitchFamily="34" charset="-122"/>
                <a:cs typeface="Cambria" pitchFamily="34" charset="-120"/>
              </a:rPr>
              <a:t>01</a:t>
            </a:r>
            <a:endParaRPr lang="en-US" sz="3000" dirty="0"/>
          </a:p>
        </p:txBody>
      </p:sp>
      <p:sp>
        <p:nvSpPr>
          <p:cNvPr id="7" name="Text 5"/>
          <p:cNvSpPr txBox="1"/>
          <p:nvPr/>
        </p:nvSpPr>
        <p:spPr>
          <a:xfrm>
            <a:off x="1719072" y="1828800"/>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Where the money goes</a:t>
            </a:r>
            <a:endParaRPr lang="en-US" sz="1700" dirty="0"/>
          </a:p>
        </p:txBody>
      </p:sp>
      <p:sp>
        <p:nvSpPr>
          <p:cNvPr id="8" name="Text 6"/>
          <p:cNvSpPr txBox="1"/>
          <p:nvPr/>
        </p:nvSpPr>
        <p:spPr>
          <a:xfrm>
            <a:off x="1719072" y="2231136"/>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Total spend, run-rate and the consumption vs. commitment split</a:t>
            </a:r>
            <a:endParaRPr lang="en-US" sz="1200" dirty="0"/>
          </a:p>
        </p:txBody>
      </p:sp>
      <p:sp>
        <p:nvSpPr>
          <p:cNvPr id="9" name="agenda-02"/>
          <p:cNvSpPr/>
          <p:nvPr/>
        </p:nvSpPr>
        <p:spPr>
          <a:xfrm>
            <a:off x="6287872" y="1572768"/>
            <a:ext cx="5336896" cy="1389888"/>
          </a:xfrm>
          <a:prstGeom prst="roundRect">
            <a:avLst>
              <a:gd name="adj" fmla="val 3947"/>
            </a:avLst>
          </a:prstGeom>
          <a:solidFill>
            <a:srgbClr val="EEF2F7"/>
          </a:solidFill>
          <a:ln/>
        </p:spPr>
      </p:sp>
      <p:sp>
        <p:nvSpPr>
          <p:cNvPr id="10" name="Text 8"/>
          <p:cNvSpPr txBox="1"/>
          <p:nvPr/>
        </p:nvSpPr>
        <p:spPr>
          <a:xfrm>
            <a:off x="6562192" y="1810512"/>
            <a:ext cx="914400" cy="548640"/>
          </a:xfrm>
          <a:prstGeom prst="rect">
            <a:avLst/>
          </a:prstGeom>
          <a:noFill/>
          <a:ln/>
        </p:spPr>
        <p:txBody>
          <a:bodyPr wrap="square" lIns="0" tIns="0" rIns="0" bIns="0" rtlCol="0" anchor="ctr"/>
          <a:lstStyle/>
          <a:p>
            <a:pPr algn="l" indent="0" marL="0">
              <a:buNone/>
            </a:pPr>
            <a:r>
              <a:rPr lang="en-US" sz="3000" b="1" dirty="0">
                <a:solidFill>
                  <a:srgbClr val="7C5CFF"/>
                </a:solidFill>
                <a:latin typeface="Cambria" pitchFamily="34" charset="0"/>
                <a:ea typeface="Cambria" pitchFamily="34" charset="-122"/>
                <a:cs typeface="Cambria" pitchFamily="34" charset="-120"/>
              </a:rPr>
              <a:t>02</a:t>
            </a:r>
            <a:endParaRPr lang="en-US" sz="3000" dirty="0"/>
          </a:p>
        </p:txBody>
      </p:sp>
      <p:sp>
        <p:nvSpPr>
          <p:cNvPr id="11" name="Text 9"/>
          <p:cNvSpPr txBox="1"/>
          <p:nvPr/>
        </p:nvSpPr>
        <p:spPr>
          <a:xfrm>
            <a:off x="7440016" y="1828800"/>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AI &amp; the Factory</a:t>
            </a:r>
            <a:endParaRPr lang="en-US" sz="1700" dirty="0"/>
          </a:p>
        </p:txBody>
      </p:sp>
      <p:sp>
        <p:nvSpPr>
          <p:cNvPr id="12" name="Text 10"/>
          <p:cNvSpPr txBox="1"/>
          <p:nvPr/>
        </p:nvSpPr>
        <p:spPr>
          <a:xfrm>
            <a:off x="7440016" y="2231136"/>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The fastest-growing line: Bedrock, Foundry, Copilot and the AI Factory</a:t>
            </a:r>
            <a:endParaRPr lang="en-US" sz="1200" dirty="0"/>
          </a:p>
        </p:txBody>
      </p:sp>
      <p:sp>
        <p:nvSpPr>
          <p:cNvPr id="13" name="agenda-03"/>
          <p:cNvSpPr/>
          <p:nvPr/>
        </p:nvSpPr>
        <p:spPr>
          <a:xfrm>
            <a:off x="566928" y="3154680"/>
            <a:ext cx="5336896" cy="1389888"/>
          </a:xfrm>
          <a:prstGeom prst="roundRect">
            <a:avLst>
              <a:gd name="adj" fmla="val 3947"/>
            </a:avLst>
          </a:prstGeom>
          <a:solidFill>
            <a:srgbClr val="EEF2F7"/>
          </a:solidFill>
          <a:ln/>
        </p:spPr>
      </p:sp>
      <p:sp>
        <p:nvSpPr>
          <p:cNvPr id="14" name="Text 12"/>
          <p:cNvSpPr txBox="1"/>
          <p:nvPr/>
        </p:nvSpPr>
        <p:spPr>
          <a:xfrm>
            <a:off x="841248" y="3392424"/>
            <a:ext cx="914400" cy="548640"/>
          </a:xfrm>
          <a:prstGeom prst="rect">
            <a:avLst/>
          </a:prstGeom>
          <a:noFill/>
          <a:ln/>
        </p:spPr>
        <p:txBody>
          <a:bodyPr wrap="square" lIns="0" tIns="0" rIns="0" bIns="0" rtlCol="0" anchor="ctr"/>
          <a:lstStyle/>
          <a:p>
            <a:pPr algn="l" indent="0" marL="0">
              <a:buNone/>
            </a:pPr>
            <a:r>
              <a:rPr lang="en-US" sz="3000" b="1" dirty="0">
                <a:solidFill>
                  <a:srgbClr val="F2A900"/>
                </a:solidFill>
                <a:latin typeface="Cambria" pitchFamily="34" charset="0"/>
                <a:ea typeface="Cambria" pitchFamily="34" charset="-122"/>
                <a:cs typeface="Cambria" pitchFamily="34" charset="-120"/>
              </a:rPr>
              <a:t>03</a:t>
            </a:r>
            <a:endParaRPr lang="en-US" sz="3000" dirty="0"/>
          </a:p>
        </p:txBody>
      </p:sp>
      <p:sp>
        <p:nvSpPr>
          <p:cNvPr id="15" name="Text 13"/>
          <p:cNvSpPr txBox="1"/>
          <p:nvPr/>
        </p:nvSpPr>
        <p:spPr>
          <a:xfrm>
            <a:off x="1719072" y="3410712"/>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AWS</a:t>
            </a:r>
            <a:endParaRPr lang="en-US" sz="1700" dirty="0"/>
          </a:p>
        </p:txBody>
      </p:sp>
      <p:sp>
        <p:nvSpPr>
          <p:cNvPr id="16" name="Text 14"/>
          <p:cNvSpPr txBox="1"/>
          <p:nvPr/>
        </p:nvSpPr>
        <p:spPr>
          <a:xfrm>
            <a:off x="1719072" y="3813048"/>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$2.61M — accounts, services and Marketplace contracts</a:t>
            </a:r>
            <a:endParaRPr lang="en-US" sz="1200" dirty="0"/>
          </a:p>
        </p:txBody>
      </p:sp>
      <p:sp>
        <p:nvSpPr>
          <p:cNvPr id="17" name="agenda-04"/>
          <p:cNvSpPr/>
          <p:nvPr/>
        </p:nvSpPr>
        <p:spPr>
          <a:xfrm>
            <a:off x="6287872" y="3154680"/>
            <a:ext cx="5336896" cy="1389888"/>
          </a:xfrm>
          <a:prstGeom prst="roundRect">
            <a:avLst>
              <a:gd name="adj" fmla="val 3947"/>
            </a:avLst>
          </a:prstGeom>
          <a:solidFill>
            <a:srgbClr val="EEF2F7"/>
          </a:solidFill>
          <a:ln/>
        </p:spPr>
      </p:sp>
      <p:sp>
        <p:nvSpPr>
          <p:cNvPr id="18" name="Text 16"/>
          <p:cNvSpPr txBox="1"/>
          <p:nvPr/>
        </p:nvSpPr>
        <p:spPr>
          <a:xfrm>
            <a:off x="6562192" y="3392424"/>
            <a:ext cx="914400" cy="548640"/>
          </a:xfrm>
          <a:prstGeom prst="rect">
            <a:avLst/>
          </a:prstGeom>
          <a:noFill/>
          <a:ln/>
        </p:spPr>
        <p:txBody>
          <a:bodyPr wrap="square" lIns="0" tIns="0" rIns="0" bIns="0" rtlCol="0" anchor="ctr"/>
          <a:lstStyle/>
          <a:p>
            <a:pPr algn="l" indent="0" marL="0">
              <a:buNone/>
            </a:pPr>
            <a:r>
              <a:rPr lang="en-US" sz="3000" b="1" dirty="0">
                <a:solidFill>
                  <a:srgbClr val="0F7DC2"/>
                </a:solidFill>
                <a:latin typeface="Cambria" pitchFamily="34" charset="0"/>
                <a:ea typeface="Cambria" pitchFamily="34" charset="-122"/>
                <a:cs typeface="Cambria" pitchFamily="34" charset="-120"/>
              </a:rPr>
              <a:t>04</a:t>
            </a:r>
            <a:endParaRPr lang="en-US" sz="3000" dirty="0"/>
          </a:p>
        </p:txBody>
      </p:sp>
      <p:sp>
        <p:nvSpPr>
          <p:cNvPr id="19" name="Text 17"/>
          <p:cNvSpPr txBox="1"/>
          <p:nvPr/>
        </p:nvSpPr>
        <p:spPr>
          <a:xfrm>
            <a:off x="7440016" y="3410712"/>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Azure</a:t>
            </a:r>
            <a:endParaRPr lang="en-US" sz="1700" dirty="0"/>
          </a:p>
        </p:txBody>
      </p:sp>
      <p:sp>
        <p:nvSpPr>
          <p:cNvPr id="20" name="Text 18"/>
          <p:cNvSpPr txBox="1"/>
          <p:nvPr/>
        </p:nvSpPr>
        <p:spPr>
          <a:xfrm>
            <a:off x="7440016" y="3813048"/>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$2.05M — cost centres, services, Databricks and coverage</a:t>
            </a:r>
            <a:endParaRPr lang="en-US" sz="1200" dirty="0"/>
          </a:p>
        </p:txBody>
      </p:sp>
      <p:sp>
        <p:nvSpPr>
          <p:cNvPr id="21" name="agenda-05"/>
          <p:cNvSpPr/>
          <p:nvPr/>
        </p:nvSpPr>
        <p:spPr>
          <a:xfrm>
            <a:off x="566928" y="4736592"/>
            <a:ext cx="5336896" cy="1389888"/>
          </a:xfrm>
          <a:prstGeom prst="roundRect">
            <a:avLst>
              <a:gd name="adj" fmla="val 3947"/>
            </a:avLst>
          </a:prstGeom>
          <a:solidFill>
            <a:srgbClr val="EEF2F7"/>
          </a:solidFill>
          <a:ln/>
        </p:spPr>
      </p:sp>
      <p:sp>
        <p:nvSpPr>
          <p:cNvPr id="22" name="Text 20"/>
          <p:cNvSpPr txBox="1"/>
          <p:nvPr/>
        </p:nvSpPr>
        <p:spPr>
          <a:xfrm>
            <a:off x="841248" y="4974336"/>
            <a:ext cx="914400" cy="548640"/>
          </a:xfrm>
          <a:prstGeom prst="rect">
            <a:avLst/>
          </a:prstGeom>
          <a:noFill/>
          <a:ln/>
        </p:spPr>
        <p:txBody>
          <a:bodyPr wrap="square" lIns="0" tIns="0" rIns="0" bIns="0" rtlCol="0" anchor="ctr"/>
          <a:lstStyle/>
          <a:p>
            <a:pPr algn="l" indent="0" marL="0">
              <a:buNone/>
            </a:pPr>
            <a:r>
              <a:rPr lang="en-US" sz="3000" b="1" dirty="0">
                <a:solidFill>
                  <a:srgbClr val="00A878"/>
                </a:solidFill>
                <a:latin typeface="Cambria" pitchFamily="34" charset="0"/>
                <a:ea typeface="Cambria" pitchFamily="34" charset="-122"/>
                <a:cs typeface="Cambria" pitchFamily="34" charset="-120"/>
              </a:rPr>
              <a:t>05</a:t>
            </a:r>
            <a:endParaRPr lang="en-US" sz="3000" dirty="0"/>
          </a:p>
        </p:txBody>
      </p:sp>
      <p:sp>
        <p:nvSpPr>
          <p:cNvPr id="23" name="Text 21"/>
          <p:cNvSpPr txBox="1"/>
          <p:nvPr/>
        </p:nvSpPr>
        <p:spPr>
          <a:xfrm>
            <a:off x="1719072" y="4992624"/>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Savings delivered</a:t>
            </a:r>
            <a:endParaRPr lang="en-US" sz="1700" dirty="0"/>
          </a:p>
        </p:txBody>
      </p:sp>
      <p:sp>
        <p:nvSpPr>
          <p:cNvPr id="24" name="Text 22"/>
          <p:cNvSpPr txBox="1"/>
          <p:nvPr/>
        </p:nvSpPr>
        <p:spPr>
          <a:xfrm>
            <a:off x="1719072" y="5394960"/>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$578K realised and avoided, plus a $190K pipeline</a:t>
            </a:r>
            <a:endParaRPr lang="en-US" sz="1200" dirty="0"/>
          </a:p>
        </p:txBody>
      </p:sp>
      <p:sp>
        <p:nvSpPr>
          <p:cNvPr id="25" name="agenda-06"/>
          <p:cNvSpPr/>
          <p:nvPr/>
        </p:nvSpPr>
        <p:spPr>
          <a:xfrm>
            <a:off x="6287872" y="4736592"/>
            <a:ext cx="5336896" cy="1389888"/>
          </a:xfrm>
          <a:prstGeom prst="roundRect">
            <a:avLst>
              <a:gd name="adj" fmla="val 3947"/>
            </a:avLst>
          </a:prstGeom>
          <a:solidFill>
            <a:srgbClr val="EEF2F7"/>
          </a:solidFill>
          <a:ln/>
        </p:spPr>
      </p:sp>
      <p:sp>
        <p:nvSpPr>
          <p:cNvPr id="26" name="Text 24"/>
          <p:cNvSpPr txBox="1"/>
          <p:nvPr/>
        </p:nvSpPr>
        <p:spPr>
          <a:xfrm>
            <a:off x="6562192" y="4974336"/>
            <a:ext cx="914400" cy="548640"/>
          </a:xfrm>
          <a:prstGeom prst="rect">
            <a:avLst/>
          </a:prstGeom>
          <a:noFill/>
          <a:ln/>
        </p:spPr>
        <p:txBody>
          <a:bodyPr wrap="square" lIns="0" tIns="0" rIns="0" bIns="0" rtlCol="0" anchor="ctr"/>
          <a:lstStyle/>
          <a:p>
            <a:pPr algn="l" indent="0" marL="0">
              <a:buNone/>
            </a:pPr>
            <a:r>
              <a:rPr lang="en-US" sz="3000" b="1" dirty="0">
                <a:solidFill>
                  <a:srgbClr val="D7263D"/>
                </a:solidFill>
                <a:latin typeface="Cambria" pitchFamily="34" charset="0"/>
                <a:ea typeface="Cambria" pitchFamily="34" charset="-122"/>
                <a:cs typeface="Cambria" pitchFamily="34" charset="-120"/>
              </a:rPr>
              <a:t>06</a:t>
            </a:r>
            <a:endParaRPr lang="en-US" sz="3000" dirty="0"/>
          </a:p>
        </p:txBody>
      </p:sp>
      <p:sp>
        <p:nvSpPr>
          <p:cNvPr id="27" name="Text 25"/>
          <p:cNvSpPr txBox="1"/>
          <p:nvPr/>
        </p:nvSpPr>
        <p:spPr>
          <a:xfrm>
            <a:off x="7440016" y="4992624"/>
            <a:ext cx="3910432" cy="384048"/>
          </a:xfrm>
          <a:prstGeom prst="rect">
            <a:avLst/>
          </a:prstGeom>
          <a:noFill/>
          <a:ln/>
        </p:spPr>
        <p:txBody>
          <a:bodyPr wrap="square" lIns="0" tIns="0" rIns="0" bIns="0" rtlCol="0" anchor="ctr"/>
          <a:lstStyle/>
          <a:p>
            <a:pPr algn="l" indent="0" marL="0">
              <a:buNone/>
            </a:pPr>
            <a:r>
              <a:rPr lang="en-US" sz="1700" b="1" dirty="0">
                <a:solidFill>
                  <a:srgbClr val="0B1B2E"/>
                </a:solidFill>
                <a:latin typeface="Arial" pitchFamily="34" charset="0"/>
                <a:ea typeface="Arial" pitchFamily="34" charset="-122"/>
                <a:cs typeface="Arial" pitchFamily="34" charset="-120"/>
              </a:rPr>
              <a:t>Risks &amp; next steps</a:t>
            </a:r>
            <a:endParaRPr lang="en-US" sz="1700" dirty="0"/>
          </a:p>
        </p:txBody>
      </p:sp>
      <p:sp>
        <p:nvSpPr>
          <p:cNvPr id="28" name="Text 26"/>
          <p:cNvSpPr txBox="1"/>
          <p:nvPr/>
        </p:nvSpPr>
        <p:spPr>
          <a:xfrm>
            <a:off x="7440016" y="5394960"/>
            <a:ext cx="3910432" cy="566928"/>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Azure 2027 pricing, Databricks utilisation and the FinOps roadmap</a:t>
            </a:r>
            <a:endParaRPr lang="en-US" sz="1200" dirty="0"/>
          </a:p>
        </p:txBody>
      </p:sp>
      <p:sp>
        <p:nvSpPr>
          <p:cNvPr id="29"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Detailed cost-centre and project breakdowns are in the appendix.</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0F7DC2"/>
                </a:solidFill>
                <a:latin typeface="Cambria" pitchFamily="34" charset="0"/>
                <a:ea typeface="Cambria" pitchFamily="34" charset="-122"/>
                <a:cs typeface="Cambria" pitchFamily="34" charset="-120"/>
              </a:rPr>
              <a:t>01</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Where the money goes</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Total spend, run-rate, and the split between what we consume and what we commit to up front.</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TOTAL CLOUD SPEND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Harel spent $4.67M on cloud in the first nine months of FY2026</a:t>
            </a:r>
            <a:endParaRPr lang="en-US" sz="2800" dirty="0"/>
          </a:p>
        </p:txBody>
      </p:sp>
      <p:sp>
        <p:nvSpPr>
          <p:cNvPr id="5" name="stat-card-Amazon Web Ser"/>
          <p:cNvSpPr/>
          <p:nvPr/>
        </p:nvSpPr>
        <p:spPr>
          <a:xfrm>
            <a:off x="566928" y="1572768"/>
            <a:ext cx="3533546" cy="1481328"/>
          </a:xfrm>
          <a:prstGeom prst="roundRect">
            <a:avLst>
              <a:gd name="adj" fmla="val 3704"/>
            </a:avLst>
          </a:prstGeom>
          <a:solidFill>
            <a:srgbClr val="EEF2F7"/>
          </a:solidFill>
          <a:ln/>
        </p:spPr>
      </p:sp>
      <p:sp>
        <p:nvSpPr>
          <p:cNvPr id="6" name="stat-dot"/>
          <p:cNvSpPr/>
          <p:nvPr/>
        </p:nvSpPr>
        <p:spPr>
          <a:xfrm>
            <a:off x="804672" y="1847088"/>
            <a:ext cx="91440" cy="91440"/>
          </a:xfrm>
          <a:prstGeom prst="ellipse">
            <a:avLst/>
          </a:prstGeom>
          <a:solidFill>
            <a:srgbClr val="F2A900"/>
          </a:solidFill>
          <a:ln/>
        </p:spPr>
      </p:sp>
      <p:sp>
        <p:nvSpPr>
          <p:cNvPr id="7" name="Text 5"/>
          <p:cNvSpPr txBox="1"/>
          <p:nvPr/>
        </p:nvSpPr>
        <p:spPr>
          <a:xfrm>
            <a:off x="987552"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AMAZON WEB SERVICES</a:t>
            </a:r>
            <a:endParaRPr lang="en-US" sz="1000" dirty="0"/>
          </a:p>
        </p:txBody>
      </p:sp>
      <p:sp>
        <p:nvSpPr>
          <p:cNvPr id="8" name="Text 6"/>
          <p:cNvSpPr txBox="1"/>
          <p:nvPr/>
        </p:nvSpPr>
        <p:spPr>
          <a:xfrm>
            <a:off x="804672"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$2.61M</a:t>
            </a:r>
            <a:endParaRPr lang="en-US" sz="3400" dirty="0"/>
          </a:p>
        </p:txBody>
      </p:sp>
      <p:sp>
        <p:nvSpPr>
          <p:cNvPr id="9" name="Text 7"/>
          <p:cNvSpPr txBox="1"/>
          <p:nvPr/>
        </p:nvSpPr>
        <p:spPr>
          <a:xfrm>
            <a:off x="804672" y="2615184"/>
            <a:ext cx="3076346" cy="384048"/>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Consumption $792K  ·  Marketplace $1.82M</a:t>
            </a:r>
            <a:endParaRPr lang="en-US" sz="1100" dirty="0"/>
          </a:p>
        </p:txBody>
      </p:sp>
      <p:sp>
        <p:nvSpPr>
          <p:cNvPr id="10" name="stat-card-Microsoft Azur"/>
          <p:cNvSpPr/>
          <p:nvPr/>
        </p:nvSpPr>
        <p:spPr>
          <a:xfrm>
            <a:off x="4329074" y="1572768"/>
            <a:ext cx="3533546" cy="1481328"/>
          </a:xfrm>
          <a:prstGeom prst="roundRect">
            <a:avLst>
              <a:gd name="adj" fmla="val 3704"/>
            </a:avLst>
          </a:prstGeom>
          <a:solidFill>
            <a:srgbClr val="EEF2F7"/>
          </a:solidFill>
          <a:ln/>
        </p:spPr>
      </p:sp>
      <p:sp>
        <p:nvSpPr>
          <p:cNvPr id="11" name="stat-dot"/>
          <p:cNvSpPr/>
          <p:nvPr/>
        </p:nvSpPr>
        <p:spPr>
          <a:xfrm>
            <a:off x="4566818" y="1847088"/>
            <a:ext cx="91440" cy="91440"/>
          </a:xfrm>
          <a:prstGeom prst="ellipse">
            <a:avLst/>
          </a:prstGeom>
          <a:solidFill>
            <a:srgbClr val="0F7DC2"/>
          </a:solidFill>
          <a:ln/>
        </p:spPr>
      </p:sp>
      <p:sp>
        <p:nvSpPr>
          <p:cNvPr id="12" name="Text 10"/>
          <p:cNvSpPr txBox="1"/>
          <p:nvPr/>
        </p:nvSpPr>
        <p:spPr>
          <a:xfrm>
            <a:off x="4749698"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MICROSOFT AZURE</a:t>
            </a:r>
            <a:endParaRPr lang="en-US" sz="1000" dirty="0"/>
          </a:p>
        </p:txBody>
      </p:sp>
      <p:sp>
        <p:nvSpPr>
          <p:cNvPr id="13" name="Text 11"/>
          <p:cNvSpPr txBox="1"/>
          <p:nvPr/>
        </p:nvSpPr>
        <p:spPr>
          <a:xfrm>
            <a:off x="4566818"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$2.05M</a:t>
            </a:r>
            <a:endParaRPr lang="en-US" sz="3400" dirty="0"/>
          </a:p>
        </p:txBody>
      </p:sp>
      <p:sp>
        <p:nvSpPr>
          <p:cNvPr id="14" name="Text 12"/>
          <p:cNvSpPr txBox="1"/>
          <p:nvPr/>
        </p:nvSpPr>
        <p:spPr>
          <a:xfrm>
            <a:off x="4566818" y="2615184"/>
            <a:ext cx="3076346" cy="384048"/>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Consumption $1.51M  ·  Marketplace $542K</a:t>
            </a:r>
            <a:endParaRPr lang="en-US" sz="1100" dirty="0"/>
          </a:p>
        </p:txBody>
      </p:sp>
      <p:sp>
        <p:nvSpPr>
          <p:cNvPr id="15" name="stat-card-Google Cloud"/>
          <p:cNvSpPr/>
          <p:nvPr/>
        </p:nvSpPr>
        <p:spPr>
          <a:xfrm>
            <a:off x="8091221" y="1572768"/>
            <a:ext cx="3533546" cy="1481328"/>
          </a:xfrm>
          <a:prstGeom prst="roundRect">
            <a:avLst>
              <a:gd name="adj" fmla="val 3704"/>
            </a:avLst>
          </a:prstGeom>
          <a:solidFill>
            <a:srgbClr val="EEF2F7"/>
          </a:solidFill>
          <a:ln/>
        </p:spPr>
      </p:sp>
      <p:sp>
        <p:nvSpPr>
          <p:cNvPr id="16" name="stat-dot"/>
          <p:cNvSpPr/>
          <p:nvPr/>
        </p:nvSpPr>
        <p:spPr>
          <a:xfrm>
            <a:off x="8328965" y="1847088"/>
            <a:ext cx="91440" cy="91440"/>
          </a:xfrm>
          <a:prstGeom prst="ellipse">
            <a:avLst/>
          </a:prstGeom>
          <a:solidFill>
            <a:srgbClr val="00A878"/>
          </a:solidFill>
          <a:ln/>
        </p:spPr>
      </p:sp>
      <p:sp>
        <p:nvSpPr>
          <p:cNvPr id="17" name="Text 15"/>
          <p:cNvSpPr txBox="1"/>
          <p:nvPr/>
        </p:nvSpPr>
        <p:spPr>
          <a:xfrm>
            <a:off x="8511845"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GOOGLE CLOUD</a:t>
            </a:r>
            <a:endParaRPr lang="en-US" sz="1000" dirty="0"/>
          </a:p>
        </p:txBody>
      </p:sp>
      <p:sp>
        <p:nvSpPr>
          <p:cNvPr id="18" name="Text 16"/>
          <p:cNvSpPr txBox="1"/>
          <p:nvPr/>
        </p:nvSpPr>
        <p:spPr>
          <a:xfrm>
            <a:off x="8328965"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$14K</a:t>
            </a:r>
            <a:endParaRPr lang="en-US" sz="3400" dirty="0"/>
          </a:p>
        </p:txBody>
      </p:sp>
      <p:sp>
        <p:nvSpPr>
          <p:cNvPr id="19" name="Text 17"/>
          <p:cNvSpPr txBox="1"/>
          <p:nvPr/>
        </p:nvSpPr>
        <p:spPr>
          <a:xfrm>
            <a:off x="8328965" y="2615184"/>
            <a:ext cx="3076346" cy="384048"/>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New in March 2026  ·  Vertex AI pilot</a:t>
            </a:r>
            <a:endParaRPr lang="en-US" sz="1100" dirty="0"/>
          </a:p>
        </p:txBody>
      </p:sp>
      <p:sp>
        <p:nvSpPr>
          <p:cNvPr id="20" name="Text 18"/>
          <p:cNvSpPr txBox="1"/>
          <p:nvPr/>
        </p:nvSpPr>
        <p:spPr>
          <a:xfrm>
            <a:off x="566928" y="3346704"/>
            <a:ext cx="640080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Monthly consumption by provider  ($K)</a:t>
            </a:r>
            <a:endParaRPr lang="en-US" sz="1300" dirty="0"/>
          </a:p>
        </p:txBody>
      </p:sp>
      <p:graphicFrame>
        <p:nvGraphicFramePr>
          <p:cNvPr id="21" name="Chart 0" descr=""/>
          <p:cNvGraphicFramePr/>
          <p:nvPr/>
        </p:nvGraphicFramePr>
        <p:xfrm>
          <a:off x="457200" y="3657600"/>
          <a:ext cx="6858000" cy="2286000"/>
        </p:xfrm>
        <a:graphic xmlns:a="http://schemas.openxmlformats.org/drawingml/2006/main">
          <a:graphicData uri="http://schemas.openxmlformats.org/drawingml/2006/chart">
            <c:chart xmlns:c="http://schemas.openxmlformats.org/drawingml/2006/chart" r:id="rId1"/>
          </a:graphicData>
        </a:graphic>
      </p:graphicFrame>
      <p:sp>
        <p:nvSpPr>
          <p:cNvPr id="22" name="panel"/>
          <p:cNvSpPr/>
          <p:nvPr/>
        </p:nvSpPr>
        <p:spPr>
          <a:xfrm>
            <a:off x="7699248" y="3346704"/>
            <a:ext cx="3925519" cy="2615184"/>
          </a:xfrm>
          <a:prstGeom prst="roundRect">
            <a:avLst>
              <a:gd name="adj" fmla="val 2098"/>
            </a:avLst>
          </a:prstGeom>
          <a:solidFill>
            <a:srgbClr val="EEF2F7"/>
          </a:solidFill>
          <a:ln/>
        </p:spPr>
      </p:sp>
      <p:sp>
        <p:nvSpPr>
          <p:cNvPr id="23" name="Text 20"/>
          <p:cNvSpPr txBox="1"/>
          <p:nvPr/>
        </p:nvSpPr>
        <p:spPr>
          <a:xfrm>
            <a:off x="7991856" y="3529584"/>
            <a:ext cx="3291840" cy="310896"/>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How to read this</a:t>
            </a:r>
            <a:endParaRPr lang="en-US" sz="1300" dirty="0"/>
          </a:p>
        </p:txBody>
      </p:sp>
      <p:sp>
        <p:nvSpPr>
          <p:cNvPr id="24" name="read-dot-0"/>
          <p:cNvSpPr/>
          <p:nvPr/>
        </p:nvSpPr>
        <p:spPr>
          <a:xfrm>
            <a:off x="7991856" y="3931920"/>
            <a:ext cx="91440" cy="91440"/>
          </a:xfrm>
          <a:prstGeom prst="ellipse">
            <a:avLst/>
          </a:prstGeom>
          <a:solidFill>
            <a:srgbClr val="0F7DC2"/>
          </a:solidFill>
          <a:ln/>
        </p:spPr>
      </p:sp>
      <p:sp>
        <p:nvSpPr>
          <p:cNvPr id="25" name="Text 22"/>
          <p:cNvSpPr txBox="1"/>
          <p:nvPr/>
        </p:nvSpPr>
        <p:spPr>
          <a:xfrm>
            <a:off x="8174736" y="3840480"/>
            <a:ext cx="292608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Consumption</a:t>
            </a:r>
            <a:endParaRPr lang="en-US" sz="1200" dirty="0"/>
          </a:p>
        </p:txBody>
      </p:sp>
      <p:sp>
        <p:nvSpPr>
          <p:cNvPr id="26" name="Text 23"/>
          <p:cNvSpPr txBox="1"/>
          <p:nvPr/>
        </p:nvSpPr>
        <p:spPr>
          <a:xfrm>
            <a:off x="8174736" y="4096512"/>
            <a:ext cx="3017520" cy="530352"/>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$2.31M — the metered bill we can optimise month to month.</a:t>
            </a:r>
            <a:endParaRPr lang="en-US" sz="1100" dirty="0"/>
          </a:p>
        </p:txBody>
      </p:sp>
      <p:sp>
        <p:nvSpPr>
          <p:cNvPr id="27" name="read-dot-1"/>
          <p:cNvSpPr/>
          <p:nvPr/>
        </p:nvSpPr>
        <p:spPr>
          <a:xfrm>
            <a:off x="7991856" y="4645152"/>
            <a:ext cx="91440" cy="91440"/>
          </a:xfrm>
          <a:prstGeom prst="ellipse">
            <a:avLst/>
          </a:prstGeom>
          <a:solidFill>
            <a:srgbClr val="7C5CFF"/>
          </a:solidFill>
          <a:ln/>
        </p:spPr>
      </p:sp>
      <p:sp>
        <p:nvSpPr>
          <p:cNvPr id="28" name="Text 25"/>
          <p:cNvSpPr txBox="1"/>
          <p:nvPr/>
        </p:nvSpPr>
        <p:spPr>
          <a:xfrm>
            <a:off x="8174736" y="4553712"/>
            <a:ext cx="292608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Committed</a:t>
            </a:r>
            <a:endParaRPr lang="en-US" sz="1200" dirty="0"/>
          </a:p>
        </p:txBody>
      </p:sp>
      <p:sp>
        <p:nvSpPr>
          <p:cNvPr id="29" name="Text 26"/>
          <p:cNvSpPr txBox="1"/>
          <p:nvPr/>
        </p:nvSpPr>
        <p:spPr>
          <a:xfrm>
            <a:off x="8174736" y="4809744"/>
            <a:ext cx="3017520" cy="530352"/>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$2.36M — Marketplace and prepaid contracts, billed in lumps.</a:t>
            </a:r>
            <a:endParaRPr lang="en-US" sz="1100" dirty="0"/>
          </a:p>
        </p:txBody>
      </p:sp>
      <p:sp>
        <p:nvSpPr>
          <p:cNvPr id="30" name="read-dot-2"/>
          <p:cNvSpPr/>
          <p:nvPr/>
        </p:nvSpPr>
        <p:spPr>
          <a:xfrm>
            <a:off x="7991856" y="5358384"/>
            <a:ext cx="91440" cy="91440"/>
          </a:xfrm>
          <a:prstGeom prst="ellipse">
            <a:avLst/>
          </a:prstGeom>
          <a:solidFill>
            <a:srgbClr val="F2A900"/>
          </a:solidFill>
          <a:ln/>
        </p:spPr>
      </p:sp>
      <p:sp>
        <p:nvSpPr>
          <p:cNvPr id="31" name="Text 28"/>
          <p:cNvSpPr txBox="1"/>
          <p:nvPr/>
        </p:nvSpPr>
        <p:spPr>
          <a:xfrm>
            <a:off x="8174736" y="5266944"/>
            <a:ext cx="292608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The trend</a:t>
            </a:r>
            <a:endParaRPr lang="en-US" sz="1200" dirty="0"/>
          </a:p>
        </p:txBody>
      </p:sp>
      <p:sp>
        <p:nvSpPr>
          <p:cNvPr id="32" name="Text 29"/>
          <p:cNvSpPr txBox="1"/>
          <p:nvPr/>
        </p:nvSpPr>
        <p:spPr>
          <a:xfrm>
            <a:off x="8174736" y="5522976"/>
            <a:ext cx="3017520" cy="530352"/>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September was the highest consumption month of the year.</a:t>
            </a:r>
            <a:endParaRPr lang="en-US" sz="1100" dirty="0"/>
          </a:p>
        </p:txBody>
      </p:sp>
      <p:sp>
        <p:nvSpPr>
          <p:cNvPr id="3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Consumption excludes Marketplace charges. AWS is billed across two payer accounts.</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RUN-RATE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All of the growth is AI — the traditional estate is shrinking</a:t>
            </a:r>
            <a:endParaRPr lang="en-US" sz="2800" dirty="0"/>
          </a:p>
        </p:txBody>
      </p:sp>
      <p:graphicFrame>
        <p:nvGraphicFramePr>
          <p:cNvPr id="5" name="Chart 0" descr=""/>
          <p:cNvGraphicFramePr/>
          <p:nvPr/>
        </p:nvGraphicFramePr>
        <p:xfrm>
          <a:off x="457200" y="1536192"/>
          <a:ext cx="7406640" cy="4206240"/>
        </p:xfrm>
        <a:graphic xmlns:a="http://schemas.openxmlformats.org/drawingml/2006/main">
          <a:graphicData uri="http://schemas.openxmlformats.org/drawingml/2006/chart">
            <c:chart xmlns:c="http://schemas.openxmlformats.org/drawingml/2006/chart" r:id="rId1"/>
          </a:graphicData>
        </a:graphic>
      </p:graphicFrame>
      <p:sp>
        <p:nvSpPr>
          <p:cNvPr id="6" name="stat-card-AI services"/>
          <p:cNvSpPr/>
          <p:nvPr/>
        </p:nvSpPr>
        <p:spPr>
          <a:xfrm>
            <a:off x="8138160" y="1536192"/>
            <a:ext cx="3486607" cy="1316736"/>
          </a:xfrm>
          <a:prstGeom prst="roundRect">
            <a:avLst>
              <a:gd name="adj" fmla="val 4167"/>
            </a:avLst>
          </a:prstGeom>
          <a:solidFill>
            <a:srgbClr val="EEF2F7"/>
          </a:solidFill>
          <a:ln/>
        </p:spPr>
      </p:sp>
      <p:sp>
        <p:nvSpPr>
          <p:cNvPr id="7" name="stat-dot"/>
          <p:cNvSpPr/>
          <p:nvPr/>
        </p:nvSpPr>
        <p:spPr>
          <a:xfrm>
            <a:off x="8375904" y="1810512"/>
            <a:ext cx="91440" cy="91440"/>
          </a:xfrm>
          <a:prstGeom prst="ellipse">
            <a:avLst/>
          </a:prstGeom>
          <a:solidFill>
            <a:srgbClr val="7C5CFF"/>
          </a:solidFill>
          <a:ln/>
        </p:spPr>
      </p:sp>
      <p:sp>
        <p:nvSpPr>
          <p:cNvPr id="8" name="Text 5"/>
          <p:cNvSpPr txBox="1"/>
          <p:nvPr/>
        </p:nvSpPr>
        <p:spPr>
          <a:xfrm>
            <a:off x="8558784" y="1709928"/>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AI SERVICES</a:t>
            </a:r>
            <a:endParaRPr lang="en-US" sz="1000" dirty="0"/>
          </a:p>
        </p:txBody>
      </p:sp>
      <p:sp>
        <p:nvSpPr>
          <p:cNvPr id="9" name="Text 6"/>
          <p:cNvSpPr txBox="1"/>
          <p:nvPr/>
        </p:nvSpPr>
        <p:spPr>
          <a:xfrm>
            <a:off x="8375904" y="1993392"/>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+703%</a:t>
            </a:r>
            <a:endParaRPr lang="en-US" sz="2800" dirty="0"/>
          </a:p>
        </p:txBody>
      </p:sp>
      <p:sp>
        <p:nvSpPr>
          <p:cNvPr id="10" name="Text 7"/>
          <p:cNvSpPr txBox="1"/>
          <p:nvPr/>
        </p:nvSpPr>
        <p:spPr>
          <a:xfrm>
            <a:off x="8375904" y="2523744"/>
            <a:ext cx="3029407" cy="38404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Q1 avg $12K/mo → Q3 avg $93K/mo</a:t>
            </a:r>
            <a:endParaRPr lang="en-US" sz="1050" dirty="0"/>
          </a:p>
        </p:txBody>
      </p:sp>
      <p:sp>
        <p:nvSpPr>
          <p:cNvPr id="11" name="stat-card-Everything els"/>
          <p:cNvSpPr/>
          <p:nvPr/>
        </p:nvSpPr>
        <p:spPr>
          <a:xfrm>
            <a:off x="8138160" y="2999232"/>
            <a:ext cx="3486607" cy="1316736"/>
          </a:xfrm>
          <a:prstGeom prst="roundRect">
            <a:avLst>
              <a:gd name="adj" fmla="val 4167"/>
            </a:avLst>
          </a:prstGeom>
          <a:solidFill>
            <a:srgbClr val="EEF2F7"/>
          </a:solidFill>
          <a:ln/>
        </p:spPr>
      </p:sp>
      <p:sp>
        <p:nvSpPr>
          <p:cNvPr id="12" name="stat-dot"/>
          <p:cNvSpPr/>
          <p:nvPr/>
        </p:nvSpPr>
        <p:spPr>
          <a:xfrm>
            <a:off x="8375904" y="3273552"/>
            <a:ext cx="91440" cy="91440"/>
          </a:xfrm>
          <a:prstGeom prst="ellipse">
            <a:avLst/>
          </a:prstGeom>
          <a:solidFill>
            <a:srgbClr val="00A878"/>
          </a:solidFill>
          <a:ln/>
        </p:spPr>
      </p:sp>
      <p:sp>
        <p:nvSpPr>
          <p:cNvPr id="13" name="Text 10"/>
          <p:cNvSpPr txBox="1"/>
          <p:nvPr/>
        </p:nvSpPr>
        <p:spPr>
          <a:xfrm>
            <a:off x="8558784" y="3172968"/>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EVERYTHING ELSE</a:t>
            </a:r>
            <a:endParaRPr lang="en-US" sz="1000" dirty="0"/>
          </a:p>
        </p:txBody>
      </p:sp>
      <p:sp>
        <p:nvSpPr>
          <p:cNvPr id="14" name="Text 11"/>
          <p:cNvSpPr txBox="1"/>
          <p:nvPr/>
        </p:nvSpPr>
        <p:spPr>
          <a:xfrm>
            <a:off x="8375904" y="3456432"/>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–13%</a:t>
            </a:r>
            <a:endParaRPr lang="en-US" sz="2800" dirty="0"/>
          </a:p>
        </p:txBody>
      </p:sp>
      <p:sp>
        <p:nvSpPr>
          <p:cNvPr id="15" name="Text 12"/>
          <p:cNvSpPr txBox="1"/>
          <p:nvPr/>
        </p:nvSpPr>
        <p:spPr>
          <a:xfrm>
            <a:off x="8375904" y="3986784"/>
            <a:ext cx="3029407" cy="38404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Q1 avg $226K/mo → Q3 avg $196K/mo</a:t>
            </a:r>
            <a:endParaRPr lang="en-US" sz="1050" dirty="0"/>
          </a:p>
        </p:txBody>
      </p:sp>
      <p:sp>
        <p:nvSpPr>
          <p:cNvPr id="16" name="stat-card-AI annualised"/>
          <p:cNvSpPr/>
          <p:nvPr/>
        </p:nvSpPr>
        <p:spPr>
          <a:xfrm>
            <a:off x="8138160" y="4462272"/>
            <a:ext cx="3486607" cy="1316736"/>
          </a:xfrm>
          <a:prstGeom prst="roundRect">
            <a:avLst>
              <a:gd name="adj" fmla="val 4167"/>
            </a:avLst>
          </a:prstGeom>
          <a:solidFill>
            <a:srgbClr val="EEF2F7"/>
          </a:solidFill>
          <a:ln/>
        </p:spPr>
      </p:sp>
      <p:sp>
        <p:nvSpPr>
          <p:cNvPr id="17" name="stat-dot"/>
          <p:cNvSpPr/>
          <p:nvPr/>
        </p:nvSpPr>
        <p:spPr>
          <a:xfrm>
            <a:off x="8375904" y="4736592"/>
            <a:ext cx="91440" cy="91440"/>
          </a:xfrm>
          <a:prstGeom prst="ellipse">
            <a:avLst/>
          </a:prstGeom>
          <a:solidFill>
            <a:srgbClr val="F2A900"/>
          </a:solidFill>
          <a:ln/>
        </p:spPr>
      </p:sp>
      <p:sp>
        <p:nvSpPr>
          <p:cNvPr id="18" name="Text 15"/>
          <p:cNvSpPr txBox="1"/>
          <p:nvPr/>
        </p:nvSpPr>
        <p:spPr>
          <a:xfrm>
            <a:off x="8558784" y="4636008"/>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AI ANNUALISED</a:t>
            </a:r>
            <a:endParaRPr lang="en-US" sz="1000" dirty="0"/>
          </a:p>
        </p:txBody>
      </p:sp>
      <p:sp>
        <p:nvSpPr>
          <p:cNvPr id="19" name="Text 16"/>
          <p:cNvSpPr txBox="1"/>
          <p:nvPr/>
        </p:nvSpPr>
        <p:spPr>
          <a:xfrm>
            <a:off x="8375904" y="4919472"/>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$1.22M</a:t>
            </a:r>
            <a:endParaRPr lang="en-US" sz="2800" dirty="0"/>
          </a:p>
        </p:txBody>
      </p:sp>
      <p:sp>
        <p:nvSpPr>
          <p:cNvPr id="20" name="Text 17"/>
          <p:cNvSpPr txBox="1"/>
          <p:nvPr/>
        </p:nvSpPr>
        <p:spPr>
          <a:xfrm>
            <a:off x="8375904" y="5449824"/>
            <a:ext cx="3029407" cy="38404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September run-rate × 12</a:t>
            </a:r>
            <a:endParaRPr lang="en-US" sz="1050" dirty="0"/>
          </a:p>
        </p:txBody>
      </p:sp>
      <p:sp>
        <p:nvSpPr>
          <p:cNvPr id="2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AI services = Amazon Bedrock, Azure AI Foundry, Copilot Studio, Azure Cognitive Search, GitHub Copilot and GCP Vertex/Gemini.</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COMMITTED PURCHASES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$2.36M sits in Marketplace contracts, billed in a few lumps</a:t>
            </a:r>
            <a:endParaRPr lang="en-US" sz="2800" dirty="0"/>
          </a:p>
        </p:txBody>
      </p:sp>
      <p:sp>
        <p:nvSpPr>
          <p:cNvPr id="5" name="Text 3"/>
          <p:cNvSpPr txBox="1"/>
          <p:nvPr/>
        </p:nvSpPr>
        <p:spPr>
          <a:xfrm>
            <a:off x="566928" y="1572768"/>
            <a:ext cx="676656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Marketplace &amp; prepaid contracts by month  ($K)</a:t>
            </a:r>
            <a:endParaRPr lang="en-US" sz="1300" dirty="0"/>
          </a:p>
        </p:txBody>
      </p:sp>
      <p:graphicFrame>
        <p:nvGraphicFramePr>
          <p:cNvPr id="6" name="Chart 0" descr=""/>
          <p:cNvGraphicFramePr/>
          <p:nvPr/>
        </p:nvGraphicFramePr>
        <p:xfrm>
          <a:off x="457200" y="1883664"/>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699248" y="1572768"/>
            <a:ext cx="365760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Largest contracts, year to date</a:t>
            </a:r>
            <a:endParaRPr lang="en-US" sz="1300" dirty="0"/>
          </a:p>
        </p:txBody>
      </p:sp>
      <p:sp>
        <p:nvSpPr>
          <p:cNvPr id="8" name="Text 5"/>
          <p:cNvSpPr txBox="1"/>
          <p:nvPr/>
        </p:nvSpPr>
        <p:spPr>
          <a:xfrm>
            <a:off x="7699248" y="1975104"/>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Databricks P3 pre-purchase</a:t>
            </a:r>
            <a:endParaRPr lang="en-US" sz="1100" dirty="0"/>
          </a:p>
        </p:txBody>
      </p:sp>
      <p:sp>
        <p:nvSpPr>
          <p:cNvPr id="9" name="ct-bar-0"/>
          <p:cNvSpPr/>
          <p:nvPr/>
        </p:nvSpPr>
        <p:spPr>
          <a:xfrm>
            <a:off x="10149840" y="2043684"/>
            <a:ext cx="1152144" cy="137160"/>
          </a:xfrm>
          <a:prstGeom prst="rect">
            <a:avLst/>
          </a:prstGeom>
          <a:solidFill>
            <a:srgbClr val="D7263D"/>
          </a:solidFill>
          <a:ln/>
        </p:spPr>
      </p:sp>
      <p:sp>
        <p:nvSpPr>
          <p:cNvPr id="10" name="Text 7"/>
          <p:cNvSpPr txBox="1"/>
          <p:nvPr/>
        </p:nvSpPr>
        <p:spPr>
          <a:xfrm>
            <a:off x="11356848" y="1975104"/>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$504K</a:t>
            </a:r>
            <a:endParaRPr lang="en-US" sz="1050" dirty="0"/>
          </a:p>
        </p:txBody>
      </p:sp>
      <p:sp>
        <p:nvSpPr>
          <p:cNvPr id="11" name="Text 8"/>
          <p:cNvSpPr txBox="1"/>
          <p:nvPr/>
        </p:nvSpPr>
        <p:spPr>
          <a:xfrm>
            <a:off x="7699248" y="2450592"/>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Splunk</a:t>
            </a:r>
            <a:endParaRPr lang="en-US" sz="1100" dirty="0"/>
          </a:p>
        </p:txBody>
      </p:sp>
      <p:sp>
        <p:nvSpPr>
          <p:cNvPr id="12" name="ct-bar-1"/>
          <p:cNvSpPr/>
          <p:nvPr/>
        </p:nvSpPr>
        <p:spPr>
          <a:xfrm>
            <a:off x="10149840" y="2519172"/>
            <a:ext cx="834390" cy="137160"/>
          </a:xfrm>
          <a:prstGeom prst="rect">
            <a:avLst/>
          </a:prstGeom>
          <a:solidFill>
            <a:srgbClr val="27496B"/>
          </a:solidFill>
          <a:ln/>
        </p:spPr>
      </p:sp>
      <p:sp>
        <p:nvSpPr>
          <p:cNvPr id="13" name="Text 10"/>
          <p:cNvSpPr txBox="1"/>
          <p:nvPr/>
        </p:nvSpPr>
        <p:spPr>
          <a:xfrm>
            <a:off x="11356848" y="2450592"/>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$365K</a:t>
            </a:r>
            <a:endParaRPr lang="en-US" sz="1050" dirty="0"/>
          </a:p>
        </p:txBody>
      </p:sp>
      <p:sp>
        <p:nvSpPr>
          <p:cNvPr id="14" name="Text 11"/>
          <p:cNvSpPr txBox="1"/>
          <p:nvPr/>
        </p:nvSpPr>
        <p:spPr>
          <a:xfrm>
            <a:off x="7699248" y="2926080"/>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TrendAI security</a:t>
            </a:r>
            <a:endParaRPr lang="en-US" sz="1100" dirty="0"/>
          </a:p>
        </p:txBody>
      </p:sp>
      <p:sp>
        <p:nvSpPr>
          <p:cNvPr id="15" name="ct-bar-2"/>
          <p:cNvSpPr/>
          <p:nvPr/>
        </p:nvSpPr>
        <p:spPr>
          <a:xfrm>
            <a:off x="10149840" y="2994660"/>
            <a:ext cx="587502" cy="137160"/>
          </a:xfrm>
          <a:prstGeom prst="rect">
            <a:avLst/>
          </a:prstGeom>
          <a:solidFill>
            <a:srgbClr val="27496B"/>
          </a:solidFill>
          <a:ln/>
        </p:spPr>
      </p:sp>
      <p:sp>
        <p:nvSpPr>
          <p:cNvPr id="16" name="Text 13"/>
          <p:cNvSpPr txBox="1"/>
          <p:nvPr/>
        </p:nvSpPr>
        <p:spPr>
          <a:xfrm>
            <a:off x="11356848" y="2926080"/>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$257K</a:t>
            </a:r>
            <a:endParaRPr lang="en-US" sz="1050" dirty="0"/>
          </a:p>
        </p:txBody>
      </p:sp>
      <p:sp>
        <p:nvSpPr>
          <p:cNvPr id="17" name="Text 14"/>
          <p:cNvSpPr txBox="1"/>
          <p:nvPr/>
        </p:nvSpPr>
        <p:spPr>
          <a:xfrm>
            <a:off x="7699248" y="3401568"/>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MongoDB Atlas</a:t>
            </a:r>
            <a:endParaRPr lang="en-US" sz="1100" dirty="0"/>
          </a:p>
        </p:txBody>
      </p:sp>
      <p:sp>
        <p:nvSpPr>
          <p:cNvPr id="18" name="ct-bar-3"/>
          <p:cNvSpPr/>
          <p:nvPr/>
        </p:nvSpPr>
        <p:spPr>
          <a:xfrm>
            <a:off x="10149840" y="3470148"/>
            <a:ext cx="438912" cy="137160"/>
          </a:xfrm>
          <a:prstGeom prst="rect">
            <a:avLst/>
          </a:prstGeom>
          <a:solidFill>
            <a:srgbClr val="27496B"/>
          </a:solidFill>
          <a:ln/>
        </p:spPr>
      </p:sp>
      <p:sp>
        <p:nvSpPr>
          <p:cNvPr id="19" name="Text 16"/>
          <p:cNvSpPr txBox="1"/>
          <p:nvPr/>
        </p:nvSpPr>
        <p:spPr>
          <a:xfrm>
            <a:off x="11356848" y="3401568"/>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$192K</a:t>
            </a:r>
            <a:endParaRPr lang="en-US" sz="1050" dirty="0"/>
          </a:p>
        </p:txBody>
      </p:sp>
      <p:sp>
        <p:nvSpPr>
          <p:cNvPr id="20" name="Text 17"/>
          <p:cNvSpPr txBox="1"/>
          <p:nvPr/>
        </p:nvSpPr>
        <p:spPr>
          <a:xfrm>
            <a:off x="7699248" y="3877056"/>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CrowdStrike Falcon</a:t>
            </a:r>
            <a:endParaRPr lang="en-US" sz="1100" dirty="0"/>
          </a:p>
        </p:txBody>
      </p:sp>
      <p:sp>
        <p:nvSpPr>
          <p:cNvPr id="21" name="ct-bar-4"/>
          <p:cNvSpPr/>
          <p:nvPr/>
        </p:nvSpPr>
        <p:spPr>
          <a:xfrm>
            <a:off x="10149840" y="3945636"/>
            <a:ext cx="390906" cy="137160"/>
          </a:xfrm>
          <a:prstGeom prst="rect">
            <a:avLst/>
          </a:prstGeom>
          <a:solidFill>
            <a:srgbClr val="27496B"/>
          </a:solidFill>
          <a:ln/>
        </p:spPr>
      </p:sp>
      <p:sp>
        <p:nvSpPr>
          <p:cNvPr id="22" name="Text 19"/>
          <p:cNvSpPr txBox="1"/>
          <p:nvPr/>
        </p:nvSpPr>
        <p:spPr>
          <a:xfrm>
            <a:off x="11356848" y="3877056"/>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$171K</a:t>
            </a:r>
            <a:endParaRPr lang="en-US" sz="1050" dirty="0"/>
          </a:p>
        </p:txBody>
      </p:sp>
      <p:sp>
        <p:nvSpPr>
          <p:cNvPr id="23" name="Text 20"/>
          <p:cNvSpPr txBox="1"/>
          <p:nvPr/>
        </p:nvSpPr>
        <p:spPr>
          <a:xfrm>
            <a:off x="7699248" y="4352544"/>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F5 Distributed Cloud</a:t>
            </a:r>
            <a:endParaRPr lang="en-US" sz="1100" dirty="0"/>
          </a:p>
        </p:txBody>
      </p:sp>
      <p:sp>
        <p:nvSpPr>
          <p:cNvPr id="24" name="ct-bar-5"/>
          <p:cNvSpPr/>
          <p:nvPr/>
        </p:nvSpPr>
        <p:spPr>
          <a:xfrm>
            <a:off x="10149840" y="4421124"/>
            <a:ext cx="379476" cy="137160"/>
          </a:xfrm>
          <a:prstGeom prst="rect">
            <a:avLst/>
          </a:prstGeom>
          <a:solidFill>
            <a:srgbClr val="27496B"/>
          </a:solidFill>
          <a:ln/>
        </p:spPr>
      </p:sp>
      <p:sp>
        <p:nvSpPr>
          <p:cNvPr id="25" name="Text 22"/>
          <p:cNvSpPr txBox="1"/>
          <p:nvPr/>
        </p:nvSpPr>
        <p:spPr>
          <a:xfrm>
            <a:off x="11356848" y="4352544"/>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$166K</a:t>
            </a:r>
            <a:endParaRPr lang="en-US" sz="1050" dirty="0"/>
          </a:p>
        </p:txBody>
      </p:sp>
      <p:sp>
        <p:nvSpPr>
          <p:cNvPr id="26" name="Text 23"/>
          <p:cNvSpPr txBox="1"/>
          <p:nvPr/>
        </p:nvSpPr>
        <p:spPr>
          <a:xfrm>
            <a:off x="7699248" y="4828032"/>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JFrog (new, September)</a:t>
            </a:r>
            <a:endParaRPr lang="en-US" sz="1100" dirty="0"/>
          </a:p>
        </p:txBody>
      </p:sp>
      <p:sp>
        <p:nvSpPr>
          <p:cNvPr id="27" name="ct-bar-6"/>
          <p:cNvSpPr/>
          <p:nvPr/>
        </p:nvSpPr>
        <p:spPr>
          <a:xfrm>
            <a:off x="10149840" y="4896612"/>
            <a:ext cx="361188" cy="137160"/>
          </a:xfrm>
          <a:prstGeom prst="rect">
            <a:avLst/>
          </a:prstGeom>
          <a:solidFill>
            <a:srgbClr val="F2A900"/>
          </a:solidFill>
          <a:ln/>
        </p:spPr>
      </p:sp>
      <p:sp>
        <p:nvSpPr>
          <p:cNvPr id="28" name="Text 25"/>
          <p:cNvSpPr txBox="1"/>
          <p:nvPr/>
        </p:nvSpPr>
        <p:spPr>
          <a:xfrm>
            <a:off x="11356848" y="4828032"/>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$158K</a:t>
            </a:r>
            <a:endParaRPr lang="en-US" sz="1050" dirty="0"/>
          </a:p>
        </p:txBody>
      </p:sp>
      <p:sp>
        <p:nvSpPr>
          <p:cNvPr id="29" name="Text 26"/>
          <p:cNvSpPr txBox="1"/>
          <p:nvPr/>
        </p:nvSpPr>
        <p:spPr>
          <a:xfrm>
            <a:off x="7699248" y="5303520"/>
            <a:ext cx="2395728" cy="274320"/>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Amazon Bedrock</a:t>
            </a:r>
            <a:endParaRPr lang="en-US" sz="1100" dirty="0"/>
          </a:p>
        </p:txBody>
      </p:sp>
      <p:sp>
        <p:nvSpPr>
          <p:cNvPr id="30" name="ct-bar-7"/>
          <p:cNvSpPr/>
          <p:nvPr/>
        </p:nvSpPr>
        <p:spPr>
          <a:xfrm>
            <a:off x="10149840" y="5372100"/>
            <a:ext cx="292608" cy="137160"/>
          </a:xfrm>
          <a:prstGeom prst="rect">
            <a:avLst/>
          </a:prstGeom>
          <a:solidFill>
            <a:srgbClr val="7C5CFF"/>
          </a:solidFill>
          <a:ln/>
        </p:spPr>
      </p:sp>
      <p:sp>
        <p:nvSpPr>
          <p:cNvPr id="31" name="Text 28"/>
          <p:cNvSpPr txBox="1"/>
          <p:nvPr/>
        </p:nvSpPr>
        <p:spPr>
          <a:xfrm>
            <a:off x="11356848" y="5303520"/>
            <a:ext cx="658368" cy="274320"/>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$128K</a:t>
            </a:r>
            <a:endParaRPr lang="en-US" sz="1050" dirty="0"/>
          </a:p>
        </p:txBody>
      </p:sp>
      <p:sp>
        <p:nvSpPr>
          <p:cNvPr id="32" name="chip"/>
          <p:cNvSpPr/>
          <p:nvPr/>
        </p:nvSpPr>
        <p:spPr>
          <a:xfrm>
            <a:off x="7699248" y="5614416"/>
            <a:ext cx="3931920" cy="329184"/>
          </a:xfrm>
          <a:prstGeom prst="roundRect">
            <a:avLst>
              <a:gd name="adj" fmla="val 33333"/>
            </a:avLst>
          </a:prstGeom>
          <a:solidFill>
            <a:srgbClr val="FBE9EC"/>
          </a:solidFill>
          <a:ln/>
        </p:spPr>
      </p:sp>
      <p:sp>
        <p:nvSpPr>
          <p:cNvPr id="33" name="Text 30"/>
          <p:cNvSpPr txBox="1"/>
          <p:nvPr/>
        </p:nvSpPr>
        <p:spPr>
          <a:xfrm>
            <a:off x="7699248" y="5614416"/>
            <a:ext cx="3931920" cy="329184"/>
          </a:xfrm>
          <a:prstGeom prst="rect">
            <a:avLst/>
          </a:prstGeom>
          <a:noFill/>
          <a:ln/>
        </p:spPr>
        <p:txBody>
          <a:bodyPr wrap="square" lIns="0" tIns="0" rIns="0" bIns="0" rtlCol="0" anchor="ctr"/>
          <a:lstStyle/>
          <a:p>
            <a:pPr algn="ctr" indent="0" marL="0">
              <a:buNone/>
            </a:pPr>
            <a:r>
              <a:rPr lang="en-US" sz="1050" b="1" dirty="0">
                <a:solidFill>
                  <a:srgbClr val="9A1C2E"/>
                </a:solidFill>
                <a:latin typeface="Arial" pitchFamily="34" charset="0"/>
                <a:ea typeface="Arial" pitchFamily="34" charset="-122"/>
                <a:cs typeface="Arial" pitchFamily="34" charset="-120"/>
              </a:rPr>
              <a:t>Databricks alone is 21% of all committed spend</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January and April carry the annual renewals; September is the new JFrog supply-chain contract.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7C5CFF"/>
                </a:solidFill>
                <a:latin typeface="Cambria" pitchFamily="34" charset="0"/>
                <a:ea typeface="Cambria" pitchFamily="34" charset="-122"/>
                <a:cs typeface="Cambria" pitchFamily="34" charset="-120"/>
              </a:rPr>
              <a:t>02</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AI &amp; the AI Factory</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Amazon Bedrock, Azure AI Foundry, Copilot and the AI Factory programme — $412K year to date and the only line that is growing.</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AI SPEND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AI grew 11× in nine months and is now a third of the cloud bill</a:t>
            </a:r>
            <a:endParaRPr lang="en-US" sz="2800" dirty="0"/>
          </a:p>
        </p:txBody>
      </p:sp>
      <p:graphicFrame>
        <p:nvGraphicFramePr>
          <p:cNvPr id="5" name="Chart 0" descr=""/>
          <p:cNvGraphicFramePr/>
          <p:nvPr/>
        </p:nvGraphicFramePr>
        <p:xfrm>
          <a:off x="457200" y="1517904"/>
          <a:ext cx="7406640" cy="4242816"/>
        </p:xfrm>
        <a:graphic xmlns:a="http://schemas.openxmlformats.org/drawingml/2006/main">
          <a:graphicData uri="http://schemas.openxmlformats.org/drawingml/2006/chart">
            <c:chart xmlns:c="http://schemas.openxmlformats.org/drawingml/2006/chart" r:id="rId1"/>
          </a:graphicData>
        </a:graphic>
      </p:graphicFrame>
      <p:sp>
        <p:nvSpPr>
          <p:cNvPr id="6" name="stat-card-AI spend, YTD"/>
          <p:cNvSpPr/>
          <p:nvPr/>
        </p:nvSpPr>
        <p:spPr>
          <a:xfrm>
            <a:off x="8138160" y="1517904"/>
            <a:ext cx="3486607" cy="1316736"/>
          </a:xfrm>
          <a:prstGeom prst="roundRect">
            <a:avLst>
              <a:gd name="adj" fmla="val 4167"/>
            </a:avLst>
          </a:prstGeom>
          <a:solidFill>
            <a:srgbClr val="EEF2F7"/>
          </a:solidFill>
          <a:ln/>
        </p:spPr>
      </p:sp>
      <p:sp>
        <p:nvSpPr>
          <p:cNvPr id="7" name="stat-dot"/>
          <p:cNvSpPr/>
          <p:nvPr/>
        </p:nvSpPr>
        <p:spPr>
          <a:xfrm>
            <a:off x="8375904" y="1792224"/>
            <a:ext cx="91440" cy="91440"/>
          </a:xfrm>
          <a:prstGeom prst="ellipse">
            <a:avLst/>
          </a:prstGeom>
          <a:solidFill>
            <a:srgbClr val="7C5CFF"/>
          </a:solidFill>
          <a:ln/>
        </p:spPr>
      </p:sp>
      <p:sp>
        <p:nvSpPr>
          <p:cNvPr id="8" name="Text 5"/>
          <p:cNvSpPr txBox="1"/>
          <p:nvPr/>
        </p:nvSpPr>
        <p:spPr>
          <a:xfrm>
            <a:off x="8558784" y="169164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AI SPEND, YTD</a:t>
            </a:r>
            <a:endParaRPr lang="en-US" sz="1000" dirty="0"/>
          </a:p>
        </p:txBody>
      </p:sp>
      <p:sp>
        <p:nvSpPr>
          <p:cNvPr id="9" name="Text 6"/>
          <p:cNvSpPr txBox="1"/>
          <p:nvPr/>
        </p:nvSpPr>
        <p:spPr>
          <a:xfrm>
            <a:off x="8375904" y="197510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$412K</a:t>
            </a:r>
            <a:endParaRPr lang="en-US" sz="2800" dirty="0"/>
          </a:p>
        </p:txBody>
      </p:sp>
      <p:sp>
        <p:nvSpPr>
          <p:cNvPr id="10" name="Text 7"/>
          <p:cNvSpPr txBox="1"/>
          <p:nvPr/>
        </p:nvSpPr>
        <p:spPr>
          <a:xfrm>
            <a:off x="8375904" y="2505456"/>
            <a:ext cx="3029407"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18% of all consumption</a:t>
            </a:r>
            <a:endParaRPr lang="en-US" sz="1100" dirty="0"/>
          </a:p>
        </p:txBody>
      </p:sp>
      <p:sp>
        <p:nvSpPr>
          <p:cNvPr id="11" name="stat-card-September alon"/>
          <p:cNvSpPr/>
          <p:nvPr/>
        </p:nvSpPr>
        <p:spPr>
          <a:xfrm>
            <a:off x="8138160" y="2980944"/>
            <a:ext cx="3486607" cy="1316736"/>
          </a:xfrm>
          <a:prstGeom prst="roundRect">
            <a:avLst>
              <a:gd name="adj" fmla="val 4167"/>
            </a:avLst>
          </a:prstGeom>
          <a:solidFill>
            <a:srgbClr val="EEF2F7"/>
          </a:solidFill>
          <a:ln/>
        </p:spPr>
      </p:sp>
      <p:sp>
        <p:nvSpPr>
          <p:cNvPr id="12" name="stat-dot"/>
          <p:cNvSpPr/>
          <p:nvPr/>
        </p:nvSpPr>
        <p:spPr>
          <a:xfrm>
            <a:off x="8375904" y="3255264"/>
            <a:ext cx="91440" cy="91440"/>
          </a:xfrm>
          <a:prstGeom prst="ellipse">
            <a:avLst/>
          </a:prstGeom>
          <a:solidFill>
            <a:srgbClr val="F2A900"/>
          </a:solidFill>
          <a:ln/>
        </p:spPr>
      </p:sp>
      <p:sp>
        <p:nvSpPr>
          <p:cNvPr id="13" name="Text 10"/>
          <p:cNvSpPr txBox="1"/>
          <p:nvPr/>
        </p:nvSpPr>
        <p:spPr>
          <a:xfrm>
            <a:off x="8558784" y="315468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 ALONE</a:t>
            </a:r>
            <a:endParaRPr lang="en-US" sz="1000" dirty="0"/>
          </a:p>
        </p:txBody>
      </p:sp>
      <p:sp>
        <p:nvSpPr>
          <p:cNvPr id="14" name="Text 11"/>
          <p:cNvSpPr txBox="1"/>
          <p:nvPr/>
        </p:nvSpPr>
        <p:spPr>
          <a:xfrm>
            <a:off x="8375904" y="343814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$102K</a:t>
            </a:r>
            <a:endParaRPr lang="en-US" sz="2800" dirty="0"/>
          </a:p>
        </p:txBody>
      </p:sp>
      <p:sp>
        <p:nvSpPr>
          <p:cNvPr id="15" name="Text 12"/>
          <p:cNvSpPr txBox="1"/>
          <p:nvPr/>
        </p:nvSpPr>
        <p:spPr>
          <a:xfrm>
            <a:off x="8375904" y="3968496"/>
            <a:ext cx="3029407"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vs $9K in January</a:t>
            </a:r>
            <a:endParaRPr lang="en-US" sz="1100" dirty="0"/>
          </a:p>
        </p:txBody>
      </p:sp>
      <p:sp>
        <p:nvSpPr>
          <p:cNvPr id="16" name="stat-card-Of September s"/>
          <p:cNvSpPr/>
          <p:nvPr/>
        </p:nvSpPr>
        <p:spPr>
          <a:xfrm>
            <a:off x="8138160" y="4443984"/>
            <a:ext cx="3486607" cy="1316736"/>
          </a:xfrm>
          <a:prstGeom prst="roundRect">
            <a:avLst>
              <a:gd name="adj" fmla="val 4167"/>
            </a:avLst>
          </a:prstGeom>
          <a:solidFill>
            <a:srgbClr val="EEF2F7"/>
          </a:solidFill>
          <a:ln/>
        </p:spPr>
      </p:sp>
      <p:sp>
        <p:nvSpPr>
          <p:cNvPr id="17" name="stat-dot"/>
          <p:cNvSpPr/>
          <p:nvPr/>
        </p:nvSpPr>
        <p:spPr>
          <a:xfrm>
            <a:off x="8375904" y="4718304"/>
            <a:ext cx="91440" cy="91440"/>
          </a:xfrm>
          <a:prstGeom prst="ellipse">
            <a:avLst/>
          </a:prstGeom>
          <a:solidFill>
            <a:srgbClr val="0F7DC2"/>
          </a:solidFill>
          <a:ln/>
        </p:spPr>
      </p:sp>
      <p:sp>
        <p:nvSpPr>
          <p:cNvPr id="18" name="Text 15"/>
          <p:cNvSpPr txBox="1"/>
          <p:nvPr/>
        </p:nvSpPr>
        <p:spPr>
          <a:xfrm>
            <a:off x="8558784" y="4617720"/>
            <a:ext cx="28465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OF SEPTEMBER SPEND</a:t>
            </a:r>
            <a:endParaRPr lang="en-US" sz="1000" dirty="0"/>
          </a:p>
        </p:txBody>
      </p:sp>
      <p:sp>
        <p:nvSpPr>
          <p:cNvPr id="19" name="Text 16"/>
          <p:cNvSpPr txBox="1"/>
          <p:nvPr/>
        </p:nvSpPr>
        <p:spPr>
          <a:xfrm>
            <a:off x="8375904" y="4901184"/>
            <a:ext cx="30294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34%</a:t>
            </a:r>
            <a:endParaRPr lang="en-US" sz="2800" dirty="0"/>
          </a:p>
        </p:txBody>
      </p:sp>
      <p:sp>
        <p:nvSpPr>
          <p:cNvPr id="20" name="Text 17"/>
          <p:cNvSpPr txBox="1"/>
          <p:nvPr/>
        </p:nvSpPr>
        <p:spPr>
          <a:xfrm>
            <a:off x="8375904" y="5431536"/>
            <a:ext cx="3029407"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was AI services</a:t>
            </a:r>
            <a:endParaRPr lang="en-US" sz="1100" dirty="0"/>
          </a:p>
        </p:txBody>
      </p:sp>
      <p:sp>
        <p:nvSpPr>
          <p:cNvPr id="2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Bedrock is billed through AWS Marketplace; Foundry, Copilot Studio, Cognitive Search and GitHub through Azure.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AI FACTORY</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AI Factory programme has consumed $246K across four projects</a:t>
            </a:r>
            <a:endParaRPr lang="en-US" sz="2800" dirty="0"/>
          </a:p>
        </p:txBody>
      </p:sp>
      <p:graphicFrame>
        <p:nvGraphicFramePr>
          <p:cNvPr id="5" name="Chart 0" descr=""/>
          <p:cNvGraphicFramePr/>
          <p:nvPr/>
        </p:nvGraphicFramePr>
        <p:xfrm>
          <a:off x="457200" y="1517904"/>
          <a:ext cx="7223760" cy="4242816"/>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51199" cy="4242816"/>
          </a:xfrm>
          <a:prstGeom prst="roundRect">
            <a:avLst>
              <a:gd name="adj" fmla="val 1503"/>
            </a:avLst>
          </a:prstGeom>
          <a:solidFill>
            <a:srgbClr val="EEF2F7"/>
          </a:solidFill>
          <a:ln/>
        </p:spPr>
      </p:sp>
      <p:sp>
        <p:nvSpPr>
          <p:cNvPr id="7" name="Text 4"/>
          <p:cNvSpPr txBox="1"/>
          <p:nvPr/>
        </p:nvSpPr>
        <p:spPr>
          <a:xfrm>
            <a:off x="8229600" y="1737360"/>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project</a:t>
            </a:r>
            <a:endParaRPr lang="en-US" sz="1300" dirty="0"/>
          </a:p>
        </p:txBody>
      </p:sp>
      <p:sp>
        <p:nvSpPr>
          <p:cNvPr id="8" name="proj-dot-0"/>
          <p:cNvSpPr/>
          <p:nvPr/>
        </p:nvSpPr>
        <p:spPr>
          <a:xfrm>
            <a:off x="8229600" y="2267712"/>
            <a:ext cx="109728" cy="109728"/>
          </a:xfrm>
          <a:prstGeom prst="ellipse">
            <a:avLst/>
          </a:prstGeom>
          <a:solidFill>
            <a:srgbClr val="7C5CFF"/>
          </a:solidFill>
          <a:ln/>
        </p:spPr>
      </p:sp>
      <p:sp>
        <p:nvSpPr>
          <p:cNvPr id="9" name="Text 6"/>
          <p:cNvSpPr txBox="1"/>
          <p:nvPr/>
        </p:nvSpPr>
        <p:spPr>
          <a:xfrm>
            <a:off x="8430768" y="2176272"/>
            <a:ext cx="2103120" cy="292608"/>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AI Factory core</a:t>
            </a:r>
            <a:endParaRPr lang="en-US" sz="1200" dirty="0"/>
          </a:p>
        </p:txBody>
      </p:sp>
      <p:sp>
        <p:nvSpPr>
          <p:cNvPr id="10" name="Text 7"/>
          <p:cNvSpPr txBox="1"/>
          <p:nvPr/>
        </p:nvSpPr>
        <p:spPr>
          <a:xfrm>
            <a:off x="10332720" y="2176272"/>
            <a:ext cx="987552" cy="292608"/>
          </a:xfrm>
          <a:prstGeom prst="rect">
            <a:avLst/>
          </a:prstGeom>
          <a:noFill/>
          <a:ln/>
        </p:spPr>
        <p:txBody>
          <a:bodyPr wrap="square" lIns="0" tIns="0" rIns="0" bIns="0" rtlCol="0" anchor="ctr"/>
          <a:lstStyle/>
          <a:p>
            <a:pPr algn="r" indent="0" marL="0">
              <a:buNone/>
            </a:pPr>
            <a:r>
              <a:rPr lang="en-US" sz="1500" b="1" dirty="0">
                <a:solidFill>
                  <a:srgbClr val="0B1B2E"/>
                </a:solidFill>
                <a:latin typeface="Arial" pitchFamily="34" charset="0"/>
                <a:ea typeface="Arial" pitchFamily="34" charset="-122"/>
                <a:cs typeface="Arial" pitchFamily="34" charset="-120"/>
              </a:rPr>
              <a:t>$139K</a:t>
            </a:r>
            <a:endParaRPr lang="en-US" sz="1500" dirty="0"/>
          </a:p>
        </p:txBody>
      </p:sp>
      <p:sp>
        <p:nvSpPr>
          <p:cNvPr id="11" name="Text 8"/>
          <p:cNvSpPr txBox="1"/>
          <p:nvPr/>
        </p:nvSpPr>
        <p:spPr>
          <a:xfrm>
            <a:off x="8430768" y="2450592"/>
            <a:ext cx="2834640" cy="256032"/>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57% of programme</a:t>
            </a:r>
            <a:endParaRPr lang="en-US" sz="1000" dirty="0"/>
          </a:p>
        </p:txBody>
      </p:sp>
      <p:sp>
        <p:nvSpPr>
          <p:cNvPr id="12" name="proj-dot-1"/>
          <p:cNvSpPr/>
          <p:nvPr/>
        </p:nvSpPr>
        <p:spPr>
          <a:xfrm>
            <a:off x="8229600" y="3035808"/>
            <a:ext cx="109728" cy="109728"/>
          </a:xfrm>
          <a:prstGeom prst="ellipse">
            <a:avLst/>
          </a:prstGeom>
          <a:solidFill>
            <a:srgbClr val="0F7DC2"/>
          </a:solidFill>
          <a:ln/>
        </p:spPr>
      </p:sp>
      <p:sp>
        <p:nvSpPr>
          <p:cNvPr id="13" name="Text 10"/>
          <p:cNvSpPr txBox="1"/>
          <p:nvPr/>
        </p:nvSpPr>
        <p:spPr>
          <a:xfrm>
            <a:off x="8430768" y="2944368"/>
            <a:ext cx="2103120" cy="292608"/>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Solugen</a:t>
            </a:r>
            <a:endParaRPr lang="en-US" sz="1200" dirty="0"/>
          </a:p>
        </p:txBody>
      </p:sp>
      <p:sp>
        <p:nvSpPr>
          <p:cNvPr id="14" name="Text 11"/>
          <p:cNvSpPr txBox="1"/>
          <p:nvPr/>
        </p:nvSpPr>
        <p:spPr>
          <a:xfrm>
            <a:off x="10332720" y="2944368"/>
            <a:ext cx="987552" cy="292608"/>
          </a:xfrm>
          <a:prstGeom prst="rect">
            <a:avLst/>
          </a:prstGeom>
          <a:noFill/>
          <a:ln/>
        </p:spPr>
        <p:txBody>
          <a:bodyPr wrap="square" lIns="0" tIns="0" rIns="0" bIns="0" rtlCol="0" anchor="ctr"/>
          <a:lstStyle/>
          <a:p>
            <a:pPr algn="r" indent="0" marL="0">
              <a:buNone/>
            </a:pPr>
            <a:r>
              <a:rPr lang="en-US" sz="1500" b="1" dirty="0">
                <a:solidFill>
                  <a:srgbClr val="0B1B2E"/>
                </a:solidFill>
                <a:latin typeface="Arial" pitchFamily="34" charset="0"/>
                <a:ea typeface="Arial" pitchFamily="34" charset="-122"/>
                <a:cs typeface="Arial" pitchFamily="34" charset="-120"/>
              </a:rPr>
              <a:t>$47K</a:t>
            </a:r>
            <a:endParaRPr lang="en-US" sz="1500" dirty="0"/>
          </a:p>
        </p:txBody>
      </p:sp>
      <p:sp>
        <p:nvSpPr>
          <p:cNvPr id="15" name="Text 12"/>
          <p:cNvSpPr txBox="1"/>
          <p:nvPr/>
        </p:nvSpPr>
        <p:spPr>
          <a:xfrm>
            <a:off x="8430768" y="3218688"/>
            <a:ext cx="2834640" cy="256032"/>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19% of programme</a:t>
            </a:r>
            <a:endParaRPr lang="en-US" sz="1000" dirty="0"/>
          </a:p>
        </p:txBody>
      </p:sp>
      <p:sp>
        <p:nvSpPr>
          <p:cNvPr id="16" name="proj-dot-2"/>
          <p:cNvSpPr/>
          <p:nvPr/>
        </p:nvSpPr>
        <p:spPr>
          <a:xfrm>
            <a:off x="8229600" y="3803904"/>
            <a:ext cx="109728" cy="109728"/>
          </a:xfrm>
          <a:prstGeom prst="ellipse">
            <a:avLst/>
          </a:prstGeom>
          <a:solidFill>
            <a:srgbClr val="00A878"/>
          </a:solidFill>
          <a:ln/>
        </p:spPr>
      </p:sp>
      <p:sp>
        <p:nvSpPr>
          <p:cNvPr id="17" name="Text 14"/>
          <p:cNvSpPr txBox="1"/>
          <p:nvPr/>
        </p:nvSpPr>
        <p:spPr>
          <a:xfrm>
            <a:off x="8430768" y="3712464"/>
            <a:ext cx="2103120" cy="292608"/>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Document Intelligence (OCR)</a:t>
            </a:r>
            <a:endParaRPr lang="en-US" sz="1200" dirty="0"/>
          </a:p>
        </p:txBody>
      </p:sp>
      <p:sp>
        <p:nvSpPr>
          <p:cNvPr id="18" name="Text 15"/>
          <p:cNvSpPr txBox="1"/>
          <p:nvPr/>
        </p:nvSpPr>
        <p:spPr>
          <a:xfrm>
            <a:off x="10332720" y="3712464"/>
            <a:ext cx="987552" cy="292608"/>
          </a:xfrm>
          <a:prstGeom prst="rect">
            <a:avLst/>
          </a:prstGeom>
          <a:noFill/>
          <a:ln/>
        </p:spPr>
        <p:txBody>
          <a:bodyPr wrap="square" lIns="0" tIns="0" rIns="0" bIns="0" rtlCol="0" anchor="ctr"/>
          <a:lstStyle/>
          <a:p>
            <a:pPr algn="r" indent="0" marL="0">
              <a:buNone/>
            </a:pPr>
            <a:r>
              <a:rPr lang="en-US" sz="1500" b="1" dirty="0">
                <a:solidFill>
                  <a:srgbClr val="0B1B2E"/>
                </a:solidFill>
                <a:latin typeface="Arial" pitchFamily="34" charset="0"/>
                <a:ea typeface="Arial" pitchFamily="34" charset="-122"/>
                <a:cs typeface="Arial" pitchFamily="34" charset="-120"/>
              </a:rPr>
              <a:t>$43K</a:t>
            </a:r>
            <a:endParaRPr lang="en-US" sz="1500" dirty="0"/>
          </a:p>
        </p:txBody>
      </p:sp>
      <p:sp>
        <p:nvSpPr>
          <p:cNvPr id="19" name="Text 16"/>
          <p:cNvSpPr txBox="1"/>
          <p:nvPr/>
        </p:nvSpPr>
        <p:spPr>
          <a:xfrm>
            <a:off x="8430768" y="3986784"/>
            <a:ext cx="2834640" cy="256032"/>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18% of programme</a:t>
            </a:r>
            <a:endParaRPr lang="en-US" sz="1000" dirty="0"/>
          </a:p>
        </p:txBody>
      </p:sp>
      <p:sp>
        <p:nvSpPr>
          <p:cNvPr id="20" name="proj-dot-3"/>
          <p:cNvSpPr/>
          <p:nvPr/>
        </p:nvSpPr>
        <p:spPr>
          <a:xfrm>
            <a:off x="8229600" y="4572000"/>
            <a:ext cx="109728" cy="109728"/>
          </a:xfrm>
          <a:prstGeom prst="ellipse">
            <a:avLst/>
          </a:prstGeom>
          <a:solidFill>
            <a:srgbClr val="F2A900"/>
          </a:solidFill>
          <a:ln/>
        </p:spPr>
      </p:sp>
      <p:sp>
        <p:nvSpPr>
          <p:cNvPr id="21" name="Text 18"/>
          <p:cNvSpPr txBox="1"/>
          <p:nvPr/>
        </p:nvSpPr>
        <p:spPr>
          <a:xfrm>
            <a:off x="8430768" y="4480560"/>
            <a:ext cx="2103120" cy="292608"/>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INSAIT</a:t>
            </a:r>
            <a:endParaRPr lang="en-US" sz="1200" dirty="0"/>
          </a:p>
        </p:txBody>
      </p:sp>
      <p:sp>
        <p:nvSpPr>
          <p:cNvPr id="22" name="Text 19"/>
          <p:cNvSpPr txBox="1"/>
          <p:nvPr/>
        </p:nvSpPr>
        <p:spPr>
          <a:xfrm>
            <a:off x="10332720" y="4480560"/>
            <a:ext cx="987552" cy="292608"/>
          </a:xfrm>
          <a:prstGeom prst="rect">
            <a:avLst/>
          </a:prstGeom>
          <a:noFill/>
          <a:ln/>
        </p:spPr>
        <p:txBody>
          <a:bodyPr wrap="square" lIns="0" tIns="0" rIns="0" bIns="0" rtlCol="0" anchor="ctr"/>
          <a:lstStyle/>
          <a:p>
            <a:pPr algn="r" indent="0" marL="0">
              <a:buNone/>
            </a:pPr>
            <a:r>
              <a:rPr lang="en-US" sz="1500" b="1" dirty="0">
                <a:solidFill>
                  <a:srgbClr val="0B1B2E"/>
                </a:solidFill>
                <a:latin typeface="Arial" pitchFamily="34" charset="0"/>
                <a:ea typeface="Arial" pitchFamily="34" charset="-122"/>
                <a:cs typeface="Arial" pitchFamily="34" charset="-120"/>
              </a:rPr>
              <a:t>$16K</a:t>
            </a:r>
            <a:endParaRPr lang="en-US" sz="1500" dirty="0"/>
          </a:p>
        </p:txBody>
      </p:sp>
      <p:sp>
        <p:nvSpPr>
          <p:cNvPr id="23" name="Text 20"/>
          <p:cNvSpPr txBox="1"/>
          <p:nvPr/>
        </p:nvSpPr>
        <p:spPr>
          <a:xfrm>
            <a:off x="8430768" y="4754880"/>
            <a:ext cx="2834640" cy="256032"/>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7% of programme</a:t>
            </a:r>
            <a:endParaRPr lang="en-US" sz="1000" dirty="0"/>
          </a:p>
        </p:txBody>
      </p:sp>
      <p:sp>
        <p:nvSpPr>
          <p:cNvPr id="24" name="Text 21"/>
          <p:cNvSpPr txBox="1"/>
          <p:nvPr/>
        </p:nvSpPr>
        <p:spPr>
          <a:xfrm>
            <a:off x="8229600" y="5230368"/>
            <a:ext cx="1463040" cy="402336"/>
          </a:xfrm>
          <a:prstGeom prst="rect">
            <a:avLst/>
          </a:prstGeom>
          <a:noFill/>
          <a:ln/>
        </p:spPr>
        <p:txBody>
          <a:bodyPr wrap="square" lIns="0" tIns="0" rIns="0" bIns="0" rtlCol="0" anchor="ctr"/>
          <a:lstStyle/>
          <a:p>
            <a:pPr algn="l" indent="0" marL="0">
              <a:buNone/>
            </a:pPr>
            <a:r>
              <a:rPr lang="en-US" sz="2400" b="1" dirty="0">
                <a:solidFill>
                  <a:srgbClr val="7C5CFF"/>
                </a:solidFill>
                <a:latin typeface="Arial" pitchFamily="34" charset="0"/>
                <a:ea typeface="Arial" pitchFamily="34" charset="-122"/>
                <a:cs typeface="Arial" pitchFamily="34" charset="-120"/>
              </a:rPr>
              <a:t>$246K</a:t>
            </a:r>
            <a:endParaRPr lang="en-US" sz="2400" dirty="0"/>
          </a:p>
        </p:txBody>
      </p:sp>
      <p:sp>
        <p:nvSpPr>
          <p:cNvPr id="25" name="Text 22"/>
          <p:cNvSpPr txBox="1"/>
          <p:nvPr/>
        </p:nvSpPr>
        <p:spPr>
          <a:xfrm>
            <a:off x="9692640" y="5230368"/>
            <a:ext cx="1645920" cy="402336"/>
          </a:xfrm>
          <a:prstGeom prst="rect">
            <a:avLst/>
          </a:prstGeom>
          <a:noFill/>
          <a:ln/>
        </p:spPr>
        <p:txBody>
          <a:bodyPr wrap="square" lIns="0" tIns="0" rIns="0" bIns="0" rtlCol="0" anchor="ctr"/>
          <a:lstStyle/>
          <a:p>
            <a:pPr algn="r" indent="0" marL="0">
              <a:buNone/>
            </a:pPr>
            <a:r>
              <a:rPr lang="en-US" sz="1050" dirty="0">
                <a:solidFill>
                  <a:srgbClr val="5B6B7E"/>
                </a:solidFill>
                <a:latin typeface="Arial" pitchFamily="34" charset="0"/>
                <a:ea typeface="Arial" pitchFamily="34" charset="-122"/>
                <a:cs typeface="Arial" pitchFamily="34" charset="-120"/>
              </a:rPr>
              <a:t>total programme spend</a:t>
            </a:r>
            <a:endParaRPr lang="en-US" sz="1050" dirty="0"/>
          </a:p>
        </p:txBody>
      </p:sp>
      <p:sp>
        <p:nvSpPr>
          <p:cNvPr id="26"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AI Factory spend spans several Azure cost centres; project view is the planning unit, cost centre is the billing unit.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AMAZON BEDROCK</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Bedrock reached $41K in September, with newer models taking over</a:t>
            </a:r>
            <a:endParaRPr lang="en-US" sz="2800" dirty="0"/>
          </a:p>
        </p:txBody>
      </p:sp>
      <p:graphicFrame>
        <p:nvGraphicFramePr>
          <p:cNvPr id="5" name="Chart 0" descr=""/>
          <p:cNvGraphicFramePr/>
          <p:nvPr/>
        </p:nvGraphicFramePr>
        <p:xfrm>
          <a:off x="457200" y="1517904"/>
          <a:ext cx="7223760" cy="4242816"/>
        </p:xfrm>
        <a:graphic xmlns:a="http://schemas.openxmlformats.org/drawingml/2006/main">
          <a:graphicData uri="http://schemas.openxmlformats.org/drawingml/2006/chart">
            <c:chart xmlns:c="http://schemas.openxmlformats.org/drawingml/2006/chart" r:id="rId1"/>
          </a:graphicData>
        </a:graphic>
      </p:graphicFrame>
      <p:sp>
        <p:nvSpPr>
          <p:cNvPr id="6" name="stat-card-Bedrock YTD"/>
          <p:cNvSpPr/>
          <p:nvPr/>
        </p:nvSpPr>
        <p:spPr>
          <a:xfrm>
            <a:off x="7973568" y="1517904"/>
            <a:ext cx="3651199" cy="1316736"/>
          </a:xfrm>
          <a:prstGeom prst="roundRect">
            <a:avLst>
              <a:gd name="adj" fmla="val 4167"/>
            </a:avLst>
          </a:prstGeom>
          <a:solidFill>
            <a:srgbClr val="EEF2F7"/>
          </a:solidFill>
          <a:ln/>
        </p:spPr>
      </p:sp>
      <p:sp>
        <p:nvSpPr>
          <p:cNvPr id="7" name="stat-dot"/>
          <p:cNvSpPr/>
          <p:nvPr/>
        </p:nvSpPr>
        <p:spPr>
          <a:xfrm>
            <a:off x="8211312" y="1792224"/>
            <a:ext cx="91440" cy="91440"/>
          </a:xfrm>
          <a:prstGeom prst="ellipse">
            <a:avLst/>
          </a:prstGeom>
          <a:solidFill>
            <a:srgbClr val="7C5CFF"/>
          </a:solidFill>
          <a:ln/>
        </p:spPr>
      </p:sp>
      <p:sp>
        <p:nvSpPr>
          <p:cNvPr id="8" name="Text 5"/>
          <p:cNvSpPr txBox="1"/>
          <p:nvPr/>
        </p:nvSpPr>
        <p:spPr>
          <a:xfrm>
            <a:off x="8394192" y="1691640"/>
            <a:ext cx="301111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BEDROCK YTD</a:t>
            </a:r>
            <a:endParaRPr lang="en-US" sz="1000" dirty="0"/>
          </a:p>
        </p:txBody>
      </p:sp>
      <p:sp>
        <p:nvSpPr>
          <p:cNvPr id="9" name="Text 6"/>
          <p:cNvSpPr txBox="1"/>
          <p:nvPr/>
        </p:nvSpPr>
        <p:spPr>
          <a:xfrm>
            <a:off x="8211312" y="1975104"/>
            <a:ext cx="3193999"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$128K</a:t>
            </a:r>
            <a:endParaRPr lang="en-US" sz="2800" dirty="0"/>
          </a:p>
        </p:txBody>
      </p:sp>
      <p:sp>
        <p:nvSpPr>
          <p:cNvPr id="10" name="Text 7"/>
          <p:cNvSpPr txBox="1"/>
          <p:nvPr/>
        </p:nvSpPr>
        <p:spPr>
          <a:xfrm>
            <a:off x="8211312" y="2505456"/>
            <a:ext cx="3193999" cy="36576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Billed via AWS Marketplace</a:t>
            </a:r>
            <a:endParaRPr lang="en-US" sz="1050" dirty="0"/>
          </a:p>
        </p:txBody>
      </p:sp>
      <p:sp>
        <p:nvSpPr>
          <p:cNvPr id="11" name="stat-card-On latest mode"/>
          <p:cNvSpPr/>
          <p:nvPr/>
        </p:nvSpPr>
        <p:spPr>
          <a:xfrm>
            <a:off x="7973568" y="2980944"/>
            <a:ext cx="3651199" cy="1316736"/>
          </a:xfrm>
          <a:prstGeom prst="roundRect">
            <a:avLst>
              <a:gd name="adj" fmla="val 4167"/>
            </a:avLst>
          </a:prstGeom>
          <a:solidFill>
            <a:srgbClr val="EEF2F7"/>
          </a:solidFill>
          <a:ln/>
        </p:spPr>
      </p:sp>
      <p:sp>
        <p:nvSpPr>
          <p:cNvPr id="12" name="stat-dot"/>
          <p:cNvSpPr/>
          <p:nvPr/>
        </p:nvSpPr>
        <p:spPr>
          <a:xfrm>
            <a:off x="8211312" y="3255264"/>
            <a:ext cx="91440" cy="91440"/>
          </a:xfrm>
          <a:prstGeom prst="ellipse">
            <a:avLst/>
          </a:prstGeom>
          <a:solidFill>
            <a:srgbClr val="0F7DC2"/>
          </a:solidFill>
          <a:ln/>
        </p:spPr>
      </p:sp>
      <p:sp>
        <p:nvSpPr>
          <p:cNvPr id="13" name="Text 10"/>
          <p:cNvSpPr txBox="1"/>
          <p:nvPr/>
        </p:nvSpPr>
        <p:spPr>
          <a:xfrm>
            <a:off x="8394192" y="3154680"/>
            <a:ext cx="301111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ON LATEST MODELS</a:t>
            </a:r>
            <a:endParaRPr lang="en-US" sz="1000" dirty="0"/>
          </a:p>
        </p:txBody>
      </p:sp>
      <p:sp>
        <p:nvSpPr>
          <p:cNvPr id="14" name="Text 11"/>
          <p:cNvSpPr txBox="1"/>
          <p:nvPr/>
        </p:nvSpPr>
        <p:spPr>
          <a:xfrm>
            <a:off x="8211312" y="3438144"/>
            <a:ext cx="3193999"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65%</a:t>
            </a:r>
            <a:endParaRPr lang="en-US" sz="2800" dirty="0"/>
          </a:p>
        </p:txBody>
      </p:sp>
      <p:sp>
        <p:nvSpPr>
          <p:cNvPr id="15" name="Text 12"/>
          <p:cNvSpPr txBox="1"/>
          <p:nvPr/>
        </p:nvSpPr>
        <p:spPr>
          <a:xfrm>
            <a:off x="8211312" y="3968496"/>
            <a:ext cx="3193999" cy="36576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Opus 5 + Sonnet 4.6, September</a:t>
            </a:r>
            <a:endParaRPr lang="en-US" sz="1050" dirty="0"/>
          </a:p>
        </p:txBody>
      </p:sp>
      <p:sp>
        <p:nvSpPr>
          <p:cNvPr id="16" name="stat-card-Growth since M"/>
          <p:cNvSpPr/>
          <p:nvPr/>
        </p:nvSpPr>
        <p:spPr>
          <a:xfrm>
            <a:off x="7973568" y="4443984"/>
            <a:ext cx="3651199" cy="1316736"/>
          </a:xfrm>
          <a:prstGeom prst="roundRect">
            <a:avLst>
              <a:gd name="adj" fmla="val 4167"/>
            </a:avLst>
          </a:prstGeom>
          <a:solidFill>
            <a:srgbClr val="EEF2F7"/>
          </a:solidFill>
          <a:ln/>
        </p:spPr>
      </p:sp>
      <p:sp>
        <p:nvSpPr>
          <p:cNvPr id="17" name="stat-dot"/>
          <p:cNvSpPr/>
          <p:nvPr/>
        </p:nvSpPr>
        <p:spPr>
          <a:xfrm>
            <a:off x="8211312" y="4718304"/>
            <a:ext cx="91440" cy="91440"/>
          </a:xfrm>
          <a:prstGeom prst="ellipse">
            <a:avLst/>
          </a:prstGeom>
          <a:solidFill>
            <a:srgbClr val="F2A900"/>
          </a:solidFill>
          <a:ln/>
        </p:spPr>
      </p:sp>
      <p:sp>
        <p:nvSpPr>
          <p:cNvPr id="18" name="Text 15"/>
          <p:cNvSpPr txBox="1"/>
          <p:nvPr/>
        </p:nvSpPr>
        <p:spPr>
          <a:xfrm>
            <a:off x="8394192" y="4617720"/>
            <a:ext cx="301111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GROWTH SINCE MARCH</a:t>
            </a:r>
            <a:endParaRPr lang="en-US" sz="1000" dirty="0"/>
          </a:p>
        </p:txBody>
      </p:sp>
      <p:sp>
        <p:nvSpPr>
          <p:cNvPr id="19" name="Text 16"/>
          <p:cNvSpPr txBox="1"/>
          <p:nvPr/>
        </p:nvSpPr>
        <p:spPr>
          <a:xfrm>
            <a:off x="8211312" y="4901184"/>
            <a:ext cx="3193999"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49×</a:t>
            </a:r>
            <a:endParaRPr lang="en-US" sz="2800" dirty="0"/>
          </a:p>
        </p:txBody>
      </p:sp>
      <p:sp>
        <p:nvSpPr>
          <p:cNvPr id="20" name="Text 17"/>
          <p:cNvSpPr txBox="1"/>
          <p:nvPr/>
        </p:nvSpPr>
        <p:spPr>
          <a:xfrm>
            <a:off x="8211312" y="5431536"/>
            <a:ext cx="3193999" cy="365760"/>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$0.8K → $41.1K per month</a:t>
            </a:r>
            <a:endParaRPr lang="en-US" sz="1050" dirty="0"/>
          </a:p>
        </p:txBody>
      </p:sp>
      <p:sp>
        <p:nvSpPr>
          <p:cNvPr id="2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Model mix is shifting to Opus 5 and Sonnet 4.6 — a routing and governance decision as much as a cost one.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GITHUB &amp; COPILOT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GitHub is now $28K a month, and AI credit is the fast part</a:t>
            </a:r>
            <a:endParaRPr lang="en-US" sz="2800" dirty="0"/>
          </a:p>
        </p:txBody>
      </p:sp>
      <p:sp>
        <p:nvSpPr>
          <p:cNvPr id="5" name="Text 3"/>
          <p:cNvSpPr txBox="1"/>
          <p:nvPr/>
        </p:nvSpPr>
        <p:spPr>
          <a:xfrm>
            <a:off x="566928" y="1554480"/>
            <a:ext cx="548640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GitHub billed through Azure  ($K per month)</a:t>
            </a:r>
            <a:endParaRPr lang="en-US" sz="1300" dirty="0"/>
          </a:p>
        </p:txBody>
      </p:sp>
      <p:graphicFrame>
        <p:nvGraphicFramePr>
          <p:cNvPr id="6" name="Chart 0" descr=""/>
          <p:cNvGraphicFramePr/>
          <p:nvPr/>
        </p:nvGraphicFramePr>
        <p:xfrm>
          <a:off x="457200" y="1865376"/>
          <a:ext cx="5577840" cy="2286000"/>
        </p:xfrm>
        <a:graphic xmlns:a="http://schemas.openxmlformats.org/drawingml/2006/main">
          <a:graphicData uri="http://schemas.openxmlformats.org/drawingml/2006/chart">
            <c:chart xmlns:c="http://schemas.openxmlformats.org/drawingml/2006/chart" r:id="rId1"/>
          </a:graphicData>
        </a:graphic>
      </p:graphicFrame>
      <p:sp>
        <p:nvSpPr>
          <p:cNvPr id="7" name="panel"/>
          <p:cNvSpPr/>
          <p:nvPr/>
        </p:nvSpPr>
        <p:spPr>
          <a:xfrm>
            <a:off x="566928" y="4297680"/>
            <a:ext cx="5577840" cy="1463040"/>
          </a:xfrm>
          <a:prstGeom prst="roundRect">
            <a:avLst>
              <a:gd name="adj" fmla="val 3750"/>
            </a:avLst>
          </a:prstGeom>
          <a:solidFill>
            <a:srgbClr val="EEF2F7"/>
          </a:solidFill>
          <a:ln/>
        </p:spPr>
      </p:sp>
      <p:sp>
        <p:nvSpPr>
          <p:cNvPr id="8" name="Text 5"/>
          <p:cNvSpPr txBox="1"/>
          <p:nvPr/>
        </p:nvSpPr>
        <p:spPr>
          <a:xfrm>
            <a:off x="822960" y="4443984"/>
            <a:ext cx="5029200" cy="274320"/>
          </a:xfrm>
          <a:prstGeom prst="rect">
            <a:avLst/>
          </a:prstGeom>
          <a:noFill/>
          <a:ln/>
        </p:spPr>
        <p:txBody>
          <a:bodyPr wrap="square" lIns="0" tIns="0" rIns="0" bIns="0" rtlCol="0" anchor="ctr"/>
          <a:lstStyle/>
          <a:p>
            <a:pPr algn="l" indent="0" marL="0">
              <a:buNone/>
            </a:pPr>
            <a:r>
              <a:rPr lang="en-US" sz="1150" b="1" dirty="0">
                <a:solidFill>
                  <a:srgbClr val="0B1B2E"/>
                </a:solidFill>
                <a:latin typeface="Arial" pitchFamily="34" charset="0"/>
                <a:ea typeface="Arial" pitchFamily="34" charset="-122"/>
                <a:cs typeface="Arial" pitchFamily="34" charset="-120"/>
              </a:rPr>
              <a:t>AI credit budget — enterprise harel-ins</a:t>
            </a:r>
            <a:endParaRPr lang="en-US" sz="1150" dirty="0"/>
          </a:p>
        </p:txBody>
      </p:sp>
      <p:sp>
        <p:nvSpPr>
          <p:cNvPr id="9" name="gauge-bg"/>
          <p:cNvSpPr/>
          <p:nvPr/>
        </p:nvSpPr>
        <p:spPr>
          <a:xfrm>
            <a:off x="822960" y="4828032"/>
            <a:ext cx="5029200" cy="237744"/>
          </a:xfrm>
          <a:prstGeom prst="roundRect">
            <a:avLst>
              <a:gd name="adj" fmla="val 50000"/>
            </a:avLst>
          </a:prstGeom>
          <a:solidFill>
            <a:srgbClr val="DCE4ED"/>
          </a:solidFill>
          <a:ln/>
        </p:spPr>
      </p:sp>
      <p:sp>
        <p:nvSpPr>
          <p:cNvPr id="10" name="gauge-fill"/>
          <p:cNvSpPr/>
          <p:nvPr/>
        </p:nvSpPr>
        <p:spPr>
          <a:xfrm>
            <a:off x="822960" y="4828032"/>
            <a:ext cx="3721608" cy="237744"/>
          </a:xfrm>
          <a:prstGeom prst="roundRect">
            <a:avLst>
              <a:gd name="adj" fmla="val 50000"/>
            </a:avLst>
          </a:prstGeom>
          <a:solidFill>
            <a:srgbClr val="F2A900"/>
          </a:solidFill>
          <a:ln/>
        </p:spPr>
      </p:sp>
      <p:sp>
        <p:nvSpPr>
          <p:cNvPr id="11" name="Text 8"/>
          <p:cNvSpPr txBox="1"/>
          <p:nvPr/>
        </p:nvSpPr>
        <p:spPr>
          <a:xfrm>
            <a:off x="822960" y="5157216"/>
            <a:ext cx="3291840" cy="274320"/>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$2,960 spent of $4,000  ·  74%</a:t>
            </a:r>
            <a:endParaRPr lang="en-US" sz="1100" dirty="0"/>
          </a:p>
        </p:txBody>
      </p:sp>
      <p:sp>
        <p:nvSpPr>
          <p:cNvPr id="12" name="chip"/>
          <p:cNvSpPr/>
          <p:nvPr/>
        </p:nvSpPr>
        <p:spPr>
          <a:xfrm>
            <a:off x="4407408" y="5157216"/>
            <a:ext cx="1444752" cy="274320"/>
          </a:xfrm>
          <a:prstGeom prst="roundRect">
            <a:avLst>
              <a:gd name="adj" fmla="val 40000"/>
            </a:avLst>
          </a:prstGeom>
          <a:solidFill>
            <a:srgbClr val="E3F5EE"/>
          </a:solidFill>
          <a:ln/>
        </p:spPr>
      </p:sp>
      <p:sp>
        <p:nvSpPr>
          <p:cNvPr id="13" name="Text 10"/>
          <p:cNvSpPr txBox="1"/>
          <p:nvPr/>
        </p:nvSpPr>
        <p:spPr>
          <a:xfrm>
            <a:off x="4407408" y="5157216"/>
            <a:ext cx="1444752" cy="274320"/>
          </a:xfrm>
          <a:prstGeom prst="rect">
            <a:avLst/>
          </a:prstGeom>
          <a:noFill/>
          <a:ln/>
        </p:spPr>
        <p:txBody>
          <a:bodyPr wrap="square" lIns="0" tIns="0" rIns="0" bIns="0" rtlCol="0" anchor="ctr"/>
          <a:lstStyle/>
          <a:p>
            <a:pPr algn="ctr" indent="0" marL="0">
              <a:buNone/>
            </a:pPr>
            <a:r>
              <a:rPr lang="en-US" sz="950" b="1" dirty="0">
                <a:solidFill>
                  <a:srgbClr val="046A4E"/>
                </a:solidFill>
                <a:latin typeface="Arial" pitchFamily="34" charset="0"/>
                <a:ea typeface="Arial" pitchFamily="34" charset="-122"/>
                <a:cs typeface="Arial" pitchFamily="34" charset="-120"/>
              </a:rPr>
              <a:t>Hard stop enabled</a:t>
            </a:r>
            <a:endParaRPr lang="en-US" sz="950" dirty="0"/>
          </a:p>
        </p:txBody>
      </p:sp>
      <p:sp>
        <p:nvSpPr>
          <p:cNvPr id="14" name="Text 11"/>
          <p:cNvSpPr txBox="1"/>
          <p:nvPr/>
        </p:nvSpPr>
        <p:spPr>
          <a:xfrm>
            <a:off x="6492240"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Anatomy of the GitHub bill  ·  June 2026 invoice</a:t>
            </a:r>
            <a:endParaRPr lang="en-US" sz="1300" dirty="0"/>
          </a:p>
        </p:txBody>
      </p:sp>
      <p:sp>
        <p:nvSpPr>
          <p:cNvPr id="15" name="gh-0"/>
          <p:cNvSpPr/>
          <p:nvPr/>
        </p:nvSpPr>
        <p:spPr>
          <a:xfrm>
            <a:off x="6492240" y="1956816"/>
            <a:ext cx="5138928" cy="731520"/>
          </a:xfrm>
          <a:prstGeom prst="roundRect">
            <a:avLst>
              <a:gd name="adj" fmla="val 7500"/>
            </a:avLst>
          </a:prstGeom>
          <a:solidFill>
            <a:srgbClr val="EEF2F7"/>
          </a:solidFill>
          <a:ln/>
        </p:spPr>
      </p:sp>
      <p:sp>
        <p:nvSpPr>
          <p:cNvPr id="16" name="gh-dot-0"/>
          <p:cNvSpPr/>
          <p:nvPr/>
        </p:nvSpPr>
        <p:spPr>
          <a:xfrm>
            <a:off x="6729984" y="2267712"/>
            <a:ext cx="109728" cy="109728"/>
          </a:xfrm>
          <a:prstGeom prst="ellipse">
            <a:avLst/>
          </a:prstGeom>
          <a:solidFill>
            <a:srgbClr val="0F7DC2"/>
          </a:solidFill>
          <a:ln/>
        </p:spPr>
      </p:sp>
      <p:sp>
        <p:nvSpPr>
          <p:cNvPr id="17" name="Text 14"/>
          <p:cNvSpPr txBox="1"/>
          <p:nvPr/>
        </p:nvSpPr>
        <p:spPr>
          <a:xfrm>
            <a:off x="6931152" y="2048256"/>
            <a:ext cx="2926080" cy="292608"/>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GitHub Enterprise</a:t>
            </a:r>
            <a:endParaRPr lang="en-US" sz="1250" dirty="0"/>
          </a:p>
        </p:txBody>
      </p:sp>
      <p:sp>
        <p:nvSpPr>
          <p:cNvPr id="18" name="Text 15"/>
          <p:cNvSpPr txBox="1"/>
          <p:nvPr/>
        </p:nvSpPr>
        <p:spPr>
          <a:xfrm>
            <a:off x="6931152" y="2340864"/>
            <a:ext cx="3291840"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~170 licences</a:t>
            </a:r>
            <a:endParaRPr lang="en-US" sz="1050" dirty="0"/>
          </a:p>
        </p:txBody>
      </p:sp>
      <p:sp>
        <p:nvSpPr>
          <p:cNvPr id="19" name="Text 16"/>
          <p:cNvSpPr txBox="1"/>
          <p:nvPr/>
        </p:nvSpPr>
        <p:spPr>
          <a:xfrm>
            <a:off x="10058400" y="2121408"/>
            <a:ext cx="1335024" cy="402336"/>
          </a:xfrm>
          <a:prstGeom prst="rect">
            <a:avLst/>
          </a:prstGeom>
          <a:noFill/>
          <a:ln/>
        </p:spPr>
        <p:txBody>
          <a:bodyPr wrap="square" lIns="0" tIns="0" rIns="0" bIns="0" rtlCol="0" anchor="ctr"/>
          <a:lstStyle/>
          <a:p>
            <a:pPr algn="r" indent="0" marL="0">
              <a:buNone/>
            </a:pPr>
            <a:r>
              <a:rPr lang="en-US" sz="1800" b="1" dirty="0">
                <a:solidFill>
                  <a:srgbClr val="0B1B2E"/>
                </a:solidFill>
                <a:latin typeface="Arial" pitchFamily="34" charset="0"/>
                <a:ea typeface="Arial" pitchFamily="34" charset="-122"/>
                <a:cs typeface="Arial" pitchFamily="34" charset="-120"/>
              </a:rPr>
              <a:t>$3,574</a:t>
            </a:r>
            <a:endParaRPr lang="en-US" sz="1800" dirty="0"/>
          </a:p>
        </p:txBody>
      </p:sp>
      <p:sp>
        <p:nvSpPr>
          <p:cNvPr id="20" name="gh-1"/>
          <p:cNvSpPr/>
          <p:nvPr/>
        </p:nvSpPr>
        <p:spPr>
          <a:xfrm>
            <a:off x="6492240" y="2798064"/>
            <a:ext cx="5138928" cy="731520"/>
          </a:xfrm>
          <a:prstGeom prst="roundRect">
            <a:avLst>
              <a:gd name="adj" fmla="val 7500"/>
            </a:avLst>
          </a:prstGeom>
          <a:solidFill>
            <a:srgbClr val="EEF2F7"/>
          </a:solidFill>
          <a:ln/>
        </p:spPr>
      </p:sp>
      <p:sp>
        <p:nvSpPr>
          <p:cNvPr id="21" name="gh-dot-1"/>
          <p:cNvSpPr/>
          <p:nvPr/>
        </p:nvSpPr>
        <p:spPr>
          <a:xfrm>
            <a:off x="6729984" y="3108960"/>
            <a:ext cx="109728" cy="109728"/>
          </a:xfrm>
          <a:prstGeom prst="ellipse">
            <a:avLst/>
          </a:prstGeom>
          <a:solidFill>
            <a:srgbClr val="27496B"/>
          </a:solidFill>
          <a:ln/>
        </p:spPr>
      </p:sp>
      <p:sp>
        <p:nvSpPr>
          <p:cNvPr id="22" name="Text 19"/>
          <p:cNvSpPr txBox="1"/>
          <p:nvPr/>
        </p:nvSpPr>
        <p:spPr>
          <a:xfrm>
            <a:off x="6931152" y="2889504"/>
            <a:ext cx="2926080" cy="292608"/>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Copilot Business</a:t>
            </a:r>
            <a:endParaRPr lang="en-US" sz="1250" dirty="0"/>
          </a:p>
        </p:txBody>
      </p:sp>
      <p:sp>
        <p:nvSpPr>
          <p:cNvPr id="23" name="Text 20"/>
          <p:cNvSpPr txBox="1"/>
          <p:nvPr/>
        </p:nvSpPr>
        <p:spPr>
          <a:xfrm>
            <a:off x="6931152" y="3182112"/>
            <a:ext cx="3291840"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~160 licences</a:t>
            </a:r>
            <a:endParaRPr lang="en-US" sz="1050" dirty="0"/>
          </a:p>
        </p:txBody>
      </p:sp>
      <p:sp>
        <p:nvSpPr>
          <p:cNvPr id="24" name="Text 21"/>
          <p:cNvSpPr txBox="1"/>
          <p:nvPr/>
        </p:nvSpPr>
        <p:spPr>
          <a:xfrm>
            <a:off x="10058400" y="2962656"/>
            <a:ext cx="1335024" cy="402336"/>
          </a:xfrm>
          <a:prstGeom prst="rect">
            <a:avLst/>
          </a:prstGeom>
          <a:noFill/>
          <a:ln/>
        </p:spPr>
        <p:txBody>
          <a:bodyPr wrap="square" lIns="0" tIns="0" rIns="0" bIns="0" rtlCol="0" anchor="ctr"/>
          <a:lstStyle/>
          <a:p>
            <a:pPr algn="r" indent="0" marL="0">
              <a:buNone/>
            </a:pPr>
            <a:r>
              <a:rPr lang="en-US" sz="1800" b="1" dirty="0">
                <a:solidFill>
                  <a:srgbClr val="0B1B2E"/>
                </a:solidFill>
                <a:latin typeface="Arial" pitchFamily="34" charset="0"/>
                <a:ea typeface="Arial" pitchFamily="34" charset="-122"/>
                <a:cs typeface="Arial" pitchFamily="34" charset="-120"/>
              </a:rPr>
              <a:t>$3,044</a:t>
            </a:r>
            <a:endParaRPr lang="en-US" sz="1800" dirty="0"/>
          </a:p>
        </p:txBody>
      </p:sp>
      <p:sp>
        <p:nvSpPr>
          <p:cNvPr id="25" name="gh-2"/>
          <p:cNvSpPr/>
          <p:nvPr/>
        </p:nvSpPr>
        <p:spPr>
          <a:xfrm>
            <a:off x="6492240" y="3639312"/>
            <a:ext cx="5138928" cy="731520"/>
          </a:xfrm>
          <a:prstGeom prst="roundRect">
            <a:avLst>
              <a:gd name="adj" fmla="val 7500"/>
            </a:avLst>
          </a:prstGeom>
          <a:solidFill>
            <a:srgbClr val="EEF2F7"/>
          </a:solidFill>
          <a:ln/>
        </p:spPr>
      </p:sp>
      <p:sp>
        <p:nvSpPr>
          <p:cNvPr id="26" name="gh-dot-2"/>
          <p:cNvSpPr/>
          <p:nvPr/>
        </p:nvSpPr>
        <p:spPr>
          <a:xfrm>
            <a:off x="6729984" y="3950208"/>
            <a:ext cx="109728" cy="109728"/>
          </a:xfrm>
          <a:prstGeom prst="ellipse">
            <a:avLst/>
          </a:prstGeom>
          <a:solidFill>
            <a:srgbClr val="7C5CFF"/>
          </a:solidFill>
          <a:ln/>
        </p:spPr>
      </p:sp>
      <p:sp>
        <p:nvSpPr>
          <p:cNvPr id="27" name="Text 24"/>
          <p:cNvSpPr txBox="1"/>
          <p:nvPr/>
        </p:nvSpPr>
        <p:spPr>
          <a:xfrm>
            <a:off x="6931152" y="3730752"/>
            <a:ext cx="2926080" cy="292608"/>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AI credit (GAC)</a:t>
            </a:r>
            <a:endParaRPr lang="en-US" sz="1250" dirty="0"/>
          </a:p>
        </p:txBody>
      </p:sp>
      <p:sp>
        <p:nvSpPr>
          <p:cNvPr id="28" name="Text 25"/>
          <p:cNvSpPr txBox="1"/>
          <p:nvPr/>
        </p:nvSpPr>
        <p:spPr>
          <a:xfrm>
            <a:off x="6931152" y="4023360"/>
            <a:ext cx="3291840"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214,924 credits · 217 active users</a:t>
            </a:r>
            <a:endParaRPr lang="en-US" sz="1050" dirty="0"/>
          </a:p>
        </p:txBody>
      </p:sp>
      <p:sp>
        <p:nvSpPr>
          <p:cNvPr id="29" name="Text 26"/>
          <p:cNvSpPr txBox="1"/>
          <p:nvPr/>
        </p:nvSpPr>
        <p:spPr>
          <a:xfrm>
            <a:off x="10058400" y="3803904"/>
            <a:ext cx="1335024" cy="402336"/>
          </a:xfrm>
          <a:prstGeom prst="rect">
            <a:avLst/>
          </a:prstGeom>
          <a:noFill/>
          <a:ln/>
        </p:spPr>
        <p:txBody>
          <a:bodyPr wrap="square" lIns="0" tIns="0" rIns="0" bIns="0" rtlCol="0" anchor="ctr"/>
          <a:lstStyle/>
          <a:p>
            <a:pPr algn="r" indent="0" marL="0">
              <a:buNone/>
            </a:pPr>
            <a:r>
              <a:rPr lang="en-US" sz="1800" b="1" dirty="0">
                <a:solidFill>
                  <a:srgbClr val="0B1B2E"/>
                </a:solidFill>
                <a:latin typeface="Arial" pitchFamily="34" charset="0"/>
                <a:ea typeface="Arial" pitchFamily="34" charset="-122"/>
                <a:cs typeface="Arial" pitchFamily="34" charset="-120"/>
              </a:rPr>
              <a:t>$2,149</a:t>
            </a:r>
            <a:endParaRPr lang="en-US" sz="1800" dirty="0"/>
          </a:p>
        </p:txBody>
      </p:sp>
      <p:sp>
        <p:nvSpPr>
          <p:cNvPr id="30" name="panel"/>
          <p:cNvSpPr/>
          <p:nvPr/>
        </p:nvSpPr>
        <p:spPr>
          <a:xfrm>
            <a:off x="6492240" y="4517136"/>
            <a:ext cx="5138928" cy="1243584"/>
          </a:xfrm>
          <a:prstGeom prst="roundRect">
            <a:avLst>
              <a:gd name="adj" fmla="val 4412"/>
            </a:avLst>
          </a:prstGeom>
          <a:solidFill>
            <a:srgbClr val="F3F0FF"/>
          </a:solidFill>
          <a:ln/>
        </p:spPr>
      </p:sp>
      <p:sp>
        <p:nvSpPr>
          <p:cNvPr id="31" name="Text 28"/>
          <p:cNvSpPr txBox="1"/>
          <p:nvPr/>
        </p:nvSpPr>
        <p:spPr>
          <a:xfrm>
            <a:off x="6729984" y="4645152"/>
            <a:ext cx="4663440" cy="274320"/>
          </a:xfrm>
          <a:prstGeom prst="rect">
            <a:avLst/>
          </a:prstGeom>
          <a:noFill/>
          <a:ln/>
        </p:spPr>
        <p:txBody>
          <a:bodyPr wrap="square" lIns="0" tIns="0" rIns="0" bIns="0" rtlCol="0" anchor="ctr"/>
          <a:lstStyle/>
          <a:p>
            <a:pPr algn="l" indent="0" marL="0">
              <a:buNone/>
            </a:pPr>
            <a:r>
              <a:rPr lang="en-US" sz="1150" b="1" dirty="0">
                <a:solidFill>
                  <a:srgbClr val="4A33B5"/>
                </a:solidFill>
                <a:latin typeface="Arial" pitchFamily="34" charset="0"/>
                <a:ea typeface="Arial" pitchFamily="34" charset="-122"/>
                <a:cs typeface="Arial" pitchFamily="34" charset="-120"/>
              </a:rPr>
              <a:t>Where the AI credit goes</a:t>
            </a:r>
            <a:endParaRPr lang="en-US" sz="1150" dirty="0"/>
          </a:p>
        </p:txBody>
      </p:sp>
      <p:sp>
        <p:nvSpPr>
          <p:cNvPr id="32" name="Text 29"/>
          <p:cNvSpPr txBox="1"/>
          <p:nvPr/>
        </p:nvSpPr>
        <p:spPr>
          <a:xfrm>
            <a:off x="6729984" y="4937760"/>
            <a:ext cx="4663440" cy="749808"/>
          </a:xfrm>
          <a:prstGeom prst="rect">
            <a:avLst/>
          </a:prstGeom>
          <a:noFill/>
          <a:ln/>
        </p:spPr>
        <p:txBody>
          <a:bodyPr wrap="square" lIns="0" tIns="0" rIns="0" bIns="0" rtlCol="0" anchor="t"/>
          <a:lstStyle/>
          <a:p>
            <a:pPr algn="l" indent="0" marL="0">
              <a:buNone/>
            </a:pPr>
            <a:r>
              <a:rPr lang="en-US" sz="1100" dirty="0">
                <a:solidFill>
                  <a:srgbClr val="3B3270"/>
                </a:solidFill>
                <a:latin typeface="Arial" pitchFamily="34" charset="0"/>
                <a:ea typeface="Arial" pitchFamily="34" charset="-122"/>
                <a:cs typeface="Arial" pitchFamily="34" charset="-120"/>
              </a:rPr>
              <a:t>Claude Opus 4.6 is 75% of all AI-credit consumption, and a single cost centre (HR) accounts for 73%. Model routing and a per-user quota of ~1,900 credits are the two levers.</a:t>
            </a:r>
            <a:endParaRPr lang="en-US" sz="1100" dirty="0"/>
          </a:p>
        </p:txBody>
      </p:sp>
      <p:sp>
        <p:nvSpPr>
          <p:cNvPr id="3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Licensing is 75% of the GitHub bill and AI credit 25% — but the credit line is the one compounding.</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GOVERNANCE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Four controls to bring AI spend under the same discipline</a:t>
            </a:r>
            <a:endParaRPr lang="en-US" sz="2800" dirty="0"/>
          </a:p>
        </p:txBody>
      </p:sp>
      <p:sp>
        <p:nvSpPr>
          <p:cNvPr id="5" name="ctrl-1"/>
          <p:cNvSpPr/>
          <p:nvPr/>
        </p:nvSpPr>
        <p:spPr>
          <a:xfrm>
            <a:off x="566928" y="1572768"/>
            <a:ext cx="5391760" cy="2103120"/>
          </a:xfrm>
          <a:prstGeom prst="roundRect">
            <a:avLst>
              <a:gd name="adj" fmla="val 2609"/>
            </a:avLst>
          </a:prstGeom>
          <a:solidFill>
            <a:srgbClr val="EEF2F7"/>
          </a:solidFill>
          <a:ln/>
        </p:spPr>
      </p:sp>
      <p:sp>
        <p:nvSpPr>
          <p:cNvPr id="6" name="ctrl-badge-1"/>
          <p:cNvSpPr/>
          <p:nvPr/>
        </p:nvSpPr>
        <p:spPr>
          <a:xfrm>
            <a:off x="841248" y="1847088"/>
            <a:ext cx="347472" cy="347472"/>
          </a:xfrm>
          <a:prstGeom prst="ellipse">
            <a:avLst/>
          </a:prstGeom>
          <a:solidFill>
            <a:srgbClr val="F2A900"/>
          </a:solidFill>
          <a:ln/>
        </p:spPr>
      </p:sp>
      <p:sp>
        <p:nvSpPr>
          <p:cNvPr id="7" name="Text 5"/>
          <p:cNvSpPr txBox="1"/>
          <p:nvPr/>
        </p:nvSpPr>
        <p:spPr>
          <a:xfrm>
            <a:off x="841248" y="1847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316736" y="1828800"/>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Tag every AI service</a:t>
            </a:r>
            <a:endParaRPr lang="en-US" sz="1600" dirty="0"/>
          </a:p>
        </p:txBody>
      </p:sp>
      <p:sp>
        <p:nvSpPr>
          <p:cNvPr id="9" name="Text 7"/>
          <p:cNvSpPr txBox="1"/>
          <p:nvPr/>
        </p:nvSpPr>
        <p:spPr>
          <a:xfrm>
            <a:off x="1316736" y="2267712"/>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Complete resource tagging by Service, Application, Cost Centre and Environment — including AI Gateway and AWS Bedrock / Claude CLI — so AI can be charged back like any other service.</a:t>
            </a:r>
            <a:endParaRPr lang="en-US" sz="1200" dirty="0"/>
          </a:p>
        </p:txBody>
      </p:sp>
      <p:sp>
        <p:nvSpPr>
          <p:cNvPr id="10" name="chip"/>
          <p:cNvSpPr/>
          <p:nvPr/>
        </p:nvSpPr>
        <p:spPr>
          <a:xfrm>
            <a:off x="1316736" y="3255264"/>
            <a:ext cx="1097280" cy="274320"/>
          </a:xfrm>
          <a:prstGeom prst="roundRect">
            <a:avLst>
              <a:gd name="adj" fmla="val 40000"/>
            </a:avLst>
          </a:prstGeom>
          <a:solidFill>
            <a:srgbClr val="F2A900"/>
          </a:solidFill>
          <a:ln/>
        </p:spPr>
      </p:sp>
      <p:sp>
        <p:nvSpPr>
          <p:cNvPr id="11" name="Text 9"/>
          <p:cNvSpPr txBox="1"/>
          <p:nvPr/>
        </p:nvSpPr>
        <p:spPr>
          <a:xfrm>
            <a:off x="1316736" y="3255264"/>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In progress</a:t>
            </a:r>
            <a:endParaRPr lang="en-US" sz="950" dirty="0"/>
          </a:p>
        </p:txBody>
      </p:sp>
      <p:sp>
        <p:nvSpPr>
          <p:cNvPr id="12" name="Text 10"/>
          <p:cNvSpPr txBox="1"/>
          <p:nvPr/>
        </p:nvSpPr>
        <p:spPr>
          <a:xfrm>
            <a:off x="2523744" y="3255264"/>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Ariel Oral</a:t>
            </a:r>
            <a:endParaRPr lang="en-US" sz="1050" dirty="0"/>
          </a:p>
        </p:txBody>
      </p:sp>
      <p:sp>
        <p:nvSpPr>
          <p:cNvPr id="13" name="ctrl-2"/>
          <p:cNvSpPr/>
          <p:nvPr/>
        </p:nvSpPr>
        <p:spPr>
          <a:xfrm>
            <a:off x="6233008" y="1572768"/>
            <a:ext cx="5391760" cy="2103120"/>
          </a:xfrm>
          <a:prstGeom prst="roundRect">
            <a:avLst>
              <a:gd name="adj" fmla="val 2609"/>
            </a:avLst>
          </a:prstGeom>
          <a:solidFill>
            <a:srgbClr val="EEF2F7"/>
          </a:solidFill>
          <a:ln/>
        </p:spPr>
      </p:sp>
      <p:sp>
        <p:nvSpPr>
          <p:cNvPr id="14" name="ctrl-badge-2"/>
          <p:cNvSpPr/>
          <p:nvPr/>
        </p:nvSpPr>
        <p:spPr>
          <a:xfrm>
            <a:off x="6507328" y="1847088"/>
            <a:ext cx="347472" cy="347472"/>
          </a:xfrm>
          <a:prstGeom prst="ellipse">
            <a:avLst/>
          </a:prstGeom>
          <a:solidFill>
            <a:srgbClr val="0F7DC2"/>
          </a:solidFill>
          <a:ln/>
        </p:spPr>
      </p:sp>
      <p:sp>
        <p:nvSpPr>
          <p:cNvPr id="15" name="Text 13"/>
          <p:cNvSpPr txBox="1"/>
          <p:nvPr/>
        </p:nvSpPr>
        <p:spPr>
          <a:xfrm>
            <a:off x="6507328" y="1847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txBox="1"/>
          <p:nvPr/>
        </p:nvSpPr>
        <p:spPr>
          <a:xfrm>
            <a:off x="6982816" y="1828800"/>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Budgets with a hard stop</a:t>
            </a:r>
            <a:endParaRPr lang="en-US" sz="1600" dirty="0"/>
          </a:p>
        </p:txBody>
      </p:sp>
      <p:sp>
        <p:nvSpPr>
          <p:cNvPr id="17" name="Text 15"/>
          <p:cNvSpPr txBox="1"/>
          <p:nvPr/>
        </p:nvSpPr>
        <p:spPr>
          <a:xfrm>
            <a:off x="6982816" y="2267712"/>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The GitHub AI-credit budget already stops usage at its ceiling. Extend the same pattern to Azure AI Foundry and Amazon Bedrock before the FY2027 ramp.</a:t>
            </a:r>
            <a:endParaRPr lang="en-US" sz="1200" dirty="0"/>
          </a:p>
        </p:txBody>
      </p:sp>
      <p:sp>
        <p:nvSpPr>
          <p:cNvPr id="18" name="chip"/>
          <p:cNvSpPr/>
          <p:nvPr/>
        </p:nvSpPr>
        <p:spPr>
          <a:xfrm>
            <a:off x="6982816" y="3255264"/>
            <a:ext cx="1097280" cy="274320"/>
          </a:xfrm>
          <a:prstGeom prst="roundRect">
            <a:avLst>
              <a:gd name="adj" fmla="val 40000"/>
            </a:avLst>
          </a:prstGeom>
          <a:solidFill>
            <a:srgbClr val="0F7DC2"/>
          </a:solidFill>
          <a:ln/>
        </p:spPr>
      </p:sp>
      <p:sp>
        <p:nvSpPr>
          <p:cNvPr id="19" name="Text 17"/>
          <p:cNvSpPr txBox="1"/>
          <p:nvPr/>
        </p:nvSpPr>
        <p:spPr>
          <a:xfrm>
            <a:off x="6982816" y="3255264"/>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Planned</a:t>
            </a:r>
            <a:endParaRPr lang="en-US" sz="950" dirty="0"/>
          </a:p>
        </p:txBody>
      </p:sp>
      <p:sp>
        <p:nvSpPr>
          <p:cNvPr id="20" name="Text 18"/>
          <p:cNvSpPr txBox="1"/>
          <p:nvPr/>
        </p:nvSpPr>
        <p:spPr>
          <a:xfrm>
            <a:off x="8189824" y="3255264"/>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Cloud Infrastructure</a:t>
            </a:r>
            <a:endParaRPr lang="en-US" sz="1050" dirty="0"/>
          </a:p>
        </p:txBody>
      </p:sp>
      <p:sp>
        <p:nvSpPr>
          <p:cNvPr id="21" name="ctrl-3"/>
          <p:cNvSpPr/>
          <p:nvPr/>
        </p:nvSpPr>
        <p:spPr>
          <a:xfrm>
            <a:off x="566928" y="3877056"/>
            <a:ext cx="5391760" cy="2103120"/>
          </a:xfrm>
          <a:prstGeom prst="roundRect">
            <a:avLst>
              <a:gd name="adj" fmla="val 2609"/>
            </a:avLst>
          </a:prstGeom>
          <a:solidFill>
            <a:srgbClr val="EEF2F7"/>
          </a:solidFill>
          <a:ln/>
        </p:spPr>
      </p:sp>
      <p:sp>
        <p:nvSpPr>
          <p:cNvPr id="22" name="ctrl-badge-3"/>
          <p:cNvSpPr/>
          <p:nvPr/>
        </p:nvSpPr>
        <p:spPr>
          <a:xfrm>
            <a:off x="841248" y="4151376"/>
            <a:ext cx="347472" cy="347472"/>
          </a:xfrm>
          <a:prstGeom prst="ellipse">
            <a:avLst/>
          </a:prstGeom>
          <a:solidFill>
            <a:srgbClr val="7C5CFF"/>
          </a:solidFill>
          <a:ln/>
        </p:spPr>
      </p:sp>
      <p:sp>
        <p:nvSpPr>
          <p:cNvPr id="23" name="Text 21"/>
          <p:cNvSpPr txBox="1"/>
          <p:nvPr/>
        </p:nvSpPr>
        <p:spPr>
          <a:xfrm>
            <a:off x="841248" y="41513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4" name="Text 22"/>
          <p:cNvSpPr txBox="1"/>
          <p:nvPr/>
        </p:nvSpPr>
        <p:spPr>
          <a:xfrm>
            <a:off x="1316736" y="4133088"/>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Model routing policy</a:t>
            </a:r>
            <a:endParaRPr lang="en-US" sz="1600" dirty="0"/>
          </a:p>
        </p:txBody>
      </p:sp>
      <p:sp>
        <p:nvSpPr>
          <p:cNvPr id="25" name="Text 23"/>
          <p:cNvSpPr txBox="1"/>
          <p:nvPr/>
        </p:nvSpPr>
        <p:spPr>
          <a:xfrm>
            <a:off x="1316736" y="4572000"/>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Opus-class models carry two thirds of both Bedrock and GitHub AI spend. Define which workloads justify a frontier model and route the rest to Sonnet or Haiku tiers.</a:t>
            </a:r>
            <a:endParaRPr lang="en-US" sz="1200" dirty="0"/>
          </a:p>
        </p:txBody>
      </p:sp>
      <p:sp>
        <p:nvSpPr>
          <p:cNvPr id="26" name="chip"/>
          <p:cNvSpPr/>
          <p:nvPr/>
        </p:nvSpPr>
        <p:spPr>
          <a:xfrm>
            <a:off x="1316736" y="5559552"/>
            <a:ext cx="1097280" cy="274320"/>
          </a:xfrm>
          <a:prstGeom prst="roundRect">
            <a:avLst>
              <a:gd name="adj" fmla="val 40000"/>
            </a:avLst>
          </a:prstGeom>
          <a:solidFill>
            <a:srgbClr val="7C5CFF"/>
          </a:solidFill>
          <a:ln/>
        </p:spPr>
      </p:sp>
      <p:sp>
        <p:nvSpPr>
          <p:cNvPr id="27" name="Text 25"/>
          <p:cNvSpPr txBox="1"/>
          <p:nvPr/>
        </p:nvSpPr>
        <p:spPr>
          <a:xfrm>
            <a:off x="1316736" y="5559552"/>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Proposed</a:t>
            </a:r>
            <a:endParaRPr lang="en-US" sz="950" dirty="0"/>
          </a:p>
        </p:txBody>
      </p:sp>
      <p:sp>
        <p:nvSpPr>
          <p:cNvPr id="28" name="Text 26"/>
          <p:cNvSpPr txBox="1"/>
          <p:nvPr/>
        </p:nvSpPr>
        <p:spPr>
          <a:xfrm>
            <a:off x="2523744" y="5559552"/>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AI Factory + FinOps</a:t>
            </a:r>
            <a:endParaRPr lang="en-US" sz="1050" dirty="0"/>
          </a:p>
        </p:txBody>
      </p:sp>
      <p:sp>
        <p:nvSpPr>
          <p:cNvPr id="29" name="ctrl-4"/>
          <p:cNvSpPr/>
          <p:nvPr/>
        </p:nvSpPr>
        <p:spPr>
          <a:xfrm>
            <a:off x="6233008" y="3877056"/>
            <a:ext cx="5391760" cy="2103120"/>
          </a:xfrm>
          <a:prstGeom prst="roundRect">
            <a:avLst>
              <a:gd name="adj" fmla="val 2609"/>
            </a:avLst>
          </a:prstGeom>
          <a:solidFill>
            <a:srgbClr val="EEF2F7"/>
          </a:solidFill>
          <a:ln/>
        </p:spPr>
      </p:sp>
      <p:sp>
        <p:nvSpPr>
          <p:cNvPr id="30" name="ctrl-badge-4"/>
          <p:cNvSpPr/>
          <p:nvPr/>
        </p:nvSpPr>
        <p:spPr>
          <a:xfrm>
            <a:off x="6507328" y="4151376"/>
            <a:ext cx="347472" cy="347472"/>
          </a:xfrm>
          <a:prstGeom prst="ellipse">
            <a:avLst/>
          </a:prstGeom>
          <a:solidFill>
            <a:srgbClr val="7C5CFF"/>
          </a:solidFill>
          <a:ln/>
        </p:spPr>
      </p:sp>
      <p:sp>
        <p:nvSpPr>
          <p:cNvPr id="31" name="Text 29"/>
          <p:cNvSpPr txBox="1"/>
          <p:nvPr/>
        </p:nvSpPr>
        <p:spPr>
          <a:xfrm>
            <a:off x="6507328" y="415137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2" name="Text 30"/>
          <p:cNvSpPr txBox="1"/>
          <p:nvPr/>
        </p:nvSpPr>
        <p:spPr>
          <a:xfrm>
            <a:off x="6982816" y="4133088"/>
            <a:ext cx="4385920" cy="384048"/>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Per-user and per-project quotas</a:t>
            </a:r>
            <a:endParaRPr lang="en-US" sz="1600" dirty="0"/>
          </a:p>
        </p:txBody>
      </p:sp>
      <p:sp>
        <p:nvSpPr>
          <p:cNvPr id="33" name="Text 31"/>
          <p:cNvSpPr txBox="1"/>
          <p:nvPr/>
        </p:nvSpPr>
        <p:spPr>
          <a:xfrm>
            <a:off x="6982816" y="4572000"/>
            <a:ext cx="4367632" cy="969264"/>
          </a:xfrm>
          <a:prstGeom prst="rect">
            <a:avLst/>
          </a:prstGeom>
          <a:noFill/>
          <a:ln/>
        </p:spPr>
        <p:txBody>
          <a:bodyPr wrap="square" lIns="0" tIns="0" rIns="0" bIns="0" rtlCol="0" anchor="t"/>
          <a:lstStyle/>
          <a:p>
            <a:pPr algn="l" indent="0" marL="0">
              <a:buNone/>
            </a:pPr>
            <a:r>
              <a:rPr lang="en-US" sz="1200" dirty="0">
                <a:solidFill>
                  <a:srgbClr val="5B6B7E"/>
                </a:solidFill>
                <a:latin typeface="Arial" pitchFamily="34" charset="0"/>
                <a:ea typeface="Arial" pitchFamily="34" charset="-122"/>
                <a:cs typeface="Arial" pitchFamily="34" charset="-120"/>
              </a:rPr>
              <a:t>Publish a monthly credit allowance per developer (~1,900) and a project-level ceiling, with consumption visible to the owning cost centre.</a:t>
            </a:r>
            <a:endParaRPr lang="en-US" sz="1200" dirty="0"/>
          </a:p>
        </p:txBody>
      </p:sp>
      <p:sp>
        <p:nvSpPr>
          <p:cNvPr id="34" name="chip"/>
          <p:cNvSpPr/>
          <p:nvPr/>
        </p:nvSpPr>
        <p:spPr>
          <a:xfrm>
            <a:off x="6982816" y="5559552"/>
            <a:ext cx="1097280" cy="274320"/>
          </a:xfrm>
          <a:prstGeom prst="roundRect">
            <a:avLst>
              <a:gd name="adj" fmla="val 40000"/>
            </a:avLst>
          </a:prstGeom>
          <a:solidFill>
            <a:srgbClr val="7C5CFF"/>
          </a:solidFill>
          <a:ln/>
        </p:spPr>
      </p:sp>
      <p:sp>
        <p:nvSpPr>
          <p:cNvPr id="35" name="Text 33"/>
          <p:cNvSpPr txBox="1"/>
          <p:nvPr/>
        </p:nvSpPr>
        <p:spPr>
          <a:xfrm>
            <a:off x="6982816" y="5559552"/>
            <a:ext cx="10972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Proposed</a:t>
            </a:r>
            <a:endParaRPr lang="en-US" sz="950" dirty="0"/>
          </a:p>
        </p:txBody>
      </p:sp>
      <p:sp>
        <p:nvSpPr>
          <p:cNvPr id="36" name="Text 34"/>
          <p:cNvSpPr txBox="1"/>
          <p:nvPr/>
        </p:nvSpPr>
        <p:spPr>
          <a:xfrm>
            <a:off x="8189824" y="5559552"/>
            <a:ext cx="3160624" cy="274320"/>
          </a:xfrm>
          <a:prstGeom prst="rect">
            <a:avLst/>
          </a:prstGeom>
          <a:noFill/>
          <a:ln/>
        </p:spPr>
        <p:txBody>
          <a:bodyPr wrap="square" lIns="0" tIns="0" rIns="0" bIns="0" rtlCol="0" anchor="ctr"/>
          <a:lstStyle/>
          <a:p>
            <a:pPr algn="l" indent="0" marL="0">
              <a:buNone/>
            </a:pPr>
            <a:r>
              <a:rPr lang="en-US" sz="1050" dirty="0">
                <a:solidFill>
                  <a:srgbClr val="5B6B7E"/>
                </a:solidFill>
                <a:latin typeface="Arial" pitchFamily="34" charset="0"/>
                <a:ea typeface="Arial" pitchFamily="34" charset="-122"/>
                <a:cs typeface="Arial" pitchFamily="34" charset="-120"/>
              </a:rPr>
              <a:t>Owner: AI Factory + FinOps</a:t>
            </a:r>
            <a:endParaRPr lang="en-US" sz="105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F2A900"/>
                </a:solidFill>
                <a:latin typeface="Cambria" pitchFamily="34" charset="0"/>
                <a:ea typeface="Cambria" pitchFamily="34" charset="-122"/>
                <a:cs typeface="Cambria" pitchFamily="34" charset="-120"/>
              </a:rPr>
              <a:t>03</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Amazon Web Services</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$2.61M year to date — $792K of metered consumption and $1.82M of Marketplace contracts across two payer accounts.</a:t>
            </a:r>
            <a:endParaRPr lang="en-US" sz="1500" dirty="0"/>
          </a:p>
        </p:txBody>
      </p:sp>
      <p:pic>
        <p:nvPicPr>
          <p:cNvPr id="5" name="Image 0" descr="/tmp/claude-0/-home-user-Finops/a0c4678f-b3c9-5fb7-b436-dff734416b7d/scratchpad/assets/aws.png">    </p:cNvPr>
          <p:cNvPicPr>
            <a:picLocks noChangeAspect="1"/>
          </p:cNvPicPr>
          <p:nvPr/>
        </p:nvPicPr>
        <p:blipFill>
          <a:blip r:embed="rId1"/>
          <a:stretch>
            <a:fillRect/>
          </a:stretch>
        </p:blipFill>
        <p:spPr>
          <a:xfrm>
            <a:off x="9601200" y="2011680"/>
            <a:ext cx="1920240" cy="1170432"/>
          </a:xfrm>
          <a:prstGeom prst="rect">
            <a:avLst/>
          </a:prstGeom>
        </p:spPr>
      </p:pic>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AWS OVERVIEW</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AWS consumption is flat; Marketplace contracts move the total</a:t>
            </a:r>
            <a:endParaRPr lang="en-US" sz="2800" dirty="0"/>
          </a:p>
        </p:txBody>
      </p:sp>
      <p:sp>
        <p:nvSpPr>
          <p:cNvPr id="5" name="stat-card-Consumption YT"/>
          <p:cNvSpPr/>
          <p:nvPr/>
        </p:nvSpPr>
        <p:spPr>
          <a:xfrm>
            <a:off x="566928" y="1572768"/>
            <a:ext cx="3533546" cy="1481328"/>
          </a:xfrm>
          <a:prstGeom prst="roundRect">
            <a:avLst>
              <a:gd name="adj" fmla="val 3704"/>
            </a:avLst>
          </a:prstGeom>
          <a:solidFill>
            <a:srgbClr val="EEF2F7"/>
          </a:solidFill>
          <a:ln/>
        </p:spPr>
      </p:sp>
      <p:sp>
        <p:nvSpPr>
          <p:cNvPr id="6" name="stat-dot"/>
          <p:cNvSpPr/>
          <p:nvPr/>
        </p:nvSpPr>
        <p:spPr>
          <a:xfrm>
            <a:off x="804672" y="1847088"/>
            <a:ext cx="91440" cy="91440"/>
          </a:xfrm>
          <a:prstGeom prst="ellipse">
            <a:avLst/>
          </a:prstGeom>
          <a:solidFill>
            <a:srgbClr val="F2A900"/>
          </a:solidFill>
          <a:ln/>
        </p:spPr>
      </p:sp>
      <p:sp>
        <p:nvSpPr>
          <p:cNvPr id="7" name="Text 5"/>
          <p:cNvSpPr txBox="1"/>
          <p:nvPr/>
        </p:nvSpPr>
        <p:spPr>
          <a:xfrm>
            <a:off x="987552"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CONSUMPTION YTD</a:t>
            </a:r>
            <a:endParaRPr lang="en-US" sz="1000" dirty="0"/>
          </a:p>
        </p:txBody>
      </p:sp>
      <p:sp>
        <p:nvSpPr>
          <p:cNvPr id="8" name="Text 6"/>
          <p:cNvSpPr txBox="1"/>
          <p:nvPr/>
        </p:nvSpPr>
        <p:spPr>
          <a:xfrm>
            <a:off x="804672"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$792K</a:t>
            </a:r>
            <a:endParaRPr lang="en-US" sz="3400" dirty="0"/>
          </a:p>
        </p:txBody>
      </p:sp>
      <p:sp>
        <p:nvSpPr>
          <p:cNvPr id="9" name="Text 7"/>
          <p:cNvSpPr txBox="1"/>
          <p:nvPr/>
        </p:nvSpPr>
        <p:spPr>
          <a:xfrm>
            <a:off x="804672"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$88K average per month</a:t>
            </a:r>
            <a:endParaRPr lang="en-US" sz="1100" dirty="0"/>
          </a:p>
        </p:txBody>
      </p:sp>
      <p:sp>
        <p:nvSpPr>
          <p:cNvPr id="10" name="stat-card-Marketplace YT"/>
          <p:cNvSpPr/>
          <p:nvPr/>
        </p:nvSpPr>
        <p:spPr>
          <a:xfrm>
            <a:off x="4329074" y="1572768"/>
            <a:ext cx="3533546" cy="1481328"/>
          </a:xfrm>
          <a:prstGeom prst="roundRect">
            <a:avLst>
              <a:gd name="adj" fmla="val 3704"/>
            </a:avLst>
          </a:prstGeom>
          <a:solidFill>
            <a:srgbClr val="EEF2F7"/>
          </a:solidFill>
          <a:ln/>
        </p:spPr>
      </p:sp>
      <p:sp>
        <p:nvSpPr>
          <p:cNvPr id="11" name="stat-dot"/>
          <p:cNvSpPr/>
          <p:nvPr/>
        </p:nvSpPr>
        <p:spPr>
          <a:xfrm>
            <a:off x="4566818" y="1847088"/>
            <a:ext cx="91440" cy="91440"/>
          </a:xfrm>
          <a:prstGeom prst="ellipse">
            <a:avLst/>
          </a:prstGeom>
          <a:solidFill>
            <a:srgbClr val="27496B"/>
          </a:solidFill>
          <a:ln/>
        </p:spPr>
      </p:sp>
      <p:sp>
        <p:nvSpPr>
          <p:cNvPr id="12" name="Text 10"/>
          <p:cNvSpPr txBox="1"/>
          <p:nvPr/>
        </p:nvSpPr>
        <p:spPr>
          <a:xfrm>
            <a:off x="4749698"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MARKETPLACE YTD</a:t>
            </a:r>
            <a:endParaRPr lang="en-US" sz="1000" dirty="0"/>
          </a:p>
        </p:txBody>
      </p:sp>
      <p:sp>
        <p:nvSpPr>
          <p:cNvPr id="13" name="Text 11"/>
          <p:cNvSpPr txBox="1"/>
          <p:nvPr/>
        </p:nvSpPr>
        <p:spPr>
          <a:xfrm>
            <a:off x="4566818"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$1.82M</a:t>
            </a:r>
            <a:endParaRPr lang="en-US" sz="3400" dirty="0"/>
          </a:p>
        </p:txBody>
      </p:sp>
      <p:sp>
        <p:nvSpPr>
          <p:cNvPr id="14" name="Text 12"/>
          <p:cNvSpPr txBox="1"/>
          <p:nvPr/>
        </p:nvSpPr>
        <p:spPr>
          <a:xfrm>
            <a:off x="4566818"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70% of the AWS total</a:t>
            </a:r>
            <a:endParaRPr lang="en-US" sz="1100" dirty="0"/>
          </a:p>
        </p:txBody>
      </p:sp>
      <p:sp>
        <p:nvSpPr>
          <p:cNvPr id="15" name="stat-card-Is the Digital"/>
          <p:cNvSpPr/>
          <p:nvPr/>
        </p:nvSpPr>
        <p:spPr>
          <a:xfrm>
            <a:off x="8091221" y="1572768"/>
            <a:ext cx="3533546" cy="1481328"/>
          </a:xfrm>
          <a:prstGeom prst="roundRect">
            <a:avLst>
              <a:gd name="adj" fmla="val 3704"/>
            </a:avLst>
          </a:prstGeom>
          <a:solidFill>
            <a:srgbClr val="EEF2F7"/>
          </a:solidFill>
          <a:ln/>
        </p:spPr>
      </p:sp>
      <p:sp>
        <p:nvSpPr>
          <p:cNvPr id="16" name="stat-dot"/>
          <p:cNvSpPr/>
          <p:nvPr/>
        </p:nvSpPr>
        <p:spPr>
          <a:xfrm>
            <a:off x="8328965" y="1847088"/>
            <a:ext cx="91440" cy="91440"/>
          </a:xfrm>
          <a:prstGeom prst="ellipse">
            <a:avLst/>
          </a:prstGeom>
          <a:solidFill>
            <a:srgbClr val="0F7DC2"/>
          </a:solidFill>
          <a:ln/>
        </p:spPr>
      </p:sp>
      <p:sp>
        <p:nvSpPr>
          <p:cNvPr id="17" name="Text 15"/>
          <p:cNvSpPr txBox="1"/>
          <p:nvPr/>
        </p:nvSpPr>
        <p:spPr>
          <a:xfrm>
            <a:off x="8511845"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IS THE DIGITAL PLATFORM</a:t>
            </a:r>
            <a:endParaRPr lang="en-US" sz="1000" dirty="0"/>
          </a:p>
        </p:txBody>
      </p:sp>
      <p:sp>
        <p:nvSpPr>
          <p:cNvPr id="18" name="Text 16"/>
          <p:cNvSpPr txBox="1"/>
          <p:nvPr/>
        </p:nvSpPr>
        <p:spPr>
          <a:xfrm>
            <a:off x="8328965"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51%</a:t>
            </a:r>
            <a:endParaRPr lang="en-US" sz="3400" dirty="0"/>
          </a:p>
        </p:txBody>
      </p:sp>
      <p:sp>
        <p:nvSpPr>
          <p:cNvPr id="19" name="Text 17"/>
          <p:cNvSpPr txBox="1"/>
          <p:nvPr/>
        </p:nvSpPr>
        <p:spPr>
          <a:xfrm>
            <a:off x="8328965"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prod + preProd + devTest</a:t>
            </a:r>
            <a:endParaRPr lang="en-US" sz="1100" dirty="0"/>
          </a:p>
        </p:txBody>
      </p:sp>
      <p:sp>
        <p:nvSpPr>
          <p:cNvPr id="20" name="Text 18"/>
          <p:cNvSpPr txBox="1"/>
          <p:nvPr/>
        </p:nvSpPr>
        <p:spPr>
          <a:xfrm>
            <a:off x="566928" y="3310128"/>
            <a:ext cx="640080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Monthly consumption  ($K)</a:t>
            </a:r>
            <a:endParaRPr lang="en-US" sz="1300" dirty="0"/>
          </a:p>
        </p:txBody>
      </p:sp>
      <p:graphicFrame>
        <p:nvGraphicFramePr>
          <p:cNvPr id="21" name="Chart 0" descr=""/>
          <p:cNvGraphicFramePr/>
          <p:nvPr/>
        </p:nvGraphicFramePr>
        <p:xfrm>
          <a:off x="457200" y="3621024"/>
          <a:ext cx="6858000" cy="2286000"/>
        </p:xfrm>
        <a:graphic xmlns:a="http://schemas.openxmlformats.org/drawingml/2006/main">
          <a:graphicData uri="http://schemas.openxmlformats.org/drawingml/2006/chart">
            <c:chart xmlns:c="http://schemas.openxmlformats.org/drawingml/2006/chart" r:id="rId1"/>
          </a:graphicData>
        </a:graphic>
      </p:graphicFrame>
      <p:sp>
        <p:nvSpPr>
          <p:cNvPr id="22" name="panel"/>
          <p:cNvSpPr/>
          <p:nvPr/>
        </p:nvSpPr>
        <p:spPr>
          <a:xfrm>
            <a:off x="7699248" y="3310128"/>
            <a:ext cx="3925519" cy="2596896"/>
          </a:xfrm>
          <a:prstGeom prst="roundRect">
            <a:avLst>
              <a:gd name="adj" fmla="val 2113"/>
            </a:avLst>
          </a:prstGeom>
          <a:solidFill>
            <a:srgbClr val="EEF2F7"/>
          </a:solidFill>
          <a:ln/>
        </p:spPr>
      </p:sp>
      <p:sp>
        <p:nvSpPr>
          <p:cNvPr id="23" name="Text 20"/>
          <p:cNvSpPr txBox="1"/>
          <p:nvPr/>
        </p:nvSpPr>
        <p:spPr>
          <a:xfrm>
            <a:off x="7991856" y="3493008"/>
            <a:ext cx="329184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What moved</a:t>
            </a:r>
            <a:endParaRPr lang="en-US" sz="1300" dirty="0"/>
          </a:p>
        </p:txBody>
      </p:sp>
      <p:sp>
        <p:nvSpPr>
          <p:cNvPr id="24" name="mv-dot-0"/>
          <p:cNvSpPr/>
          <p:nvPr/>
        </p:nvSpPr>
        <p:spPr>
          <a:xfrm>
            <a:off x="7991856" y="3931920"/>
            <a:ext cx="91440" cy="91440"/>
          </a:xfrm>
          <a:prstGeom prst="ellipse">
            <a:avLst/>
          </a:prstGeom>
          <a:solidFill>
            <a:srgbClr val="00A878"/>
          </a:solidFill>
          <a:ln/>
        </p:spPr>
      </p:sp>
      <p:sp>
        <p:nvSpPr>
          <p:cNvPr id="25" name="Text 22"/>
          <p:cNvSpPr txBox="1"/>
          <p:nvPr/>
        </p:nvSpPr>
        <p:spPr>
          <a:xfrm>
            <a:off x="8174736" y="3840480"/>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July dipped to $77K</a:t>
            </a:r>
            <a:endParaRPr lang="en-US" sz="1200" dirty="0"/>
          </a:p>
        </p:txBody>
      </p:sp>
      <p:sp>
        <p:nvSpPr>
          <p:cNvPr id="26" name="Text 23"/>
          <p:cNvSpPr txBox="1"/>
          <p:nvPr/>
        </p:nvSpPr>
        <p:spPr>
          <a:xfrm>
            <a:off x="8174736" y="4096512"/>
            <a:ext cx="3017520" cy="47548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A MAP contract credit of $15.3K landed on ai-factory-dev.</a:t>
            </a:r>
            <a:endParaRPr lang="en-US" sz="1050" dirty="0"/>
          </a:p>
        </p:txBody>
      </p:sp>
      <p:sp>
        <p:nvSpPr>
          <p:cNvPr id="27" name="mv-dot-1"/>
          <p:cNvSpPr/>
          <p:nvPr/>
        </p:nvSpPr>
        <p:spPr>
          <a:xfrm>
            <a:off x="7991856" y="4626864"/>
            <a:ext cx="91440" cy="91440"/>
          </a:xfrm>
          <a:prstGeom prst="ellipse">
            <a:avLst/>
          </a:prstGeom>
          <a:solidFill>
            <a:srgbClr val="F2A900"/>
          </a:solidFill>
          <a:ln/>
        </p:spPr>
      </p:sp>
      <p:sp>
        <p:nvSpPr>
          <p:cNvPr id="28" name="Text 25"/>
          <p:cNvSpPr txBox="1"/>
          <p:nvPr/>
        </p:nvSpPr>
        <p:spPr>
          <a:xfrm>
            <a:off x="8174736" y="4535424"/>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August peaked at $107K</a:t>
            </a:r>
            <a:endParaRPr lang="en-US" sz="1200" dirty="0"/>
          </a:p>
        </p:txBody>
      </p:sp>
      <p:sp>
        <p:nvSpPr>
          <p:cNvPr id="29" name="Text 26"/>
          <p:cNvSpPr txBox="1"/>
          <p:nvPr/>
        </p:nvSpPr>
        <p:spPr>
          <a:xfrm>
            <a:off x="8174736" y="4791456"/>
            <a:ext cx="3017520" cy="47548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Glacier Deep Archive and customers3-prod both stepped up.</a:t>
            </a:r>
            <a:endParaRPr lang="en-US" sz="1050" dirty="0"/>
          </a:p>
        </p:txBody>
      </p:sp>
      <p:sp>
        <p:nvSpPr>
          <p:cNvPr id="30" name="mv-dot-2"/>
          <p:cNvSpPr/>
          <p:nvPr/>
        </p:nvSpPr>
        <p:spPr>
          <a:xfrm>
            <a:off x="7991856" y="5321808"/>
            <a:ext cx="91440" cy="91440"/>
          </a:xfrm>
          <a:prstGeom prst="ellipse">
            <a:avLst/>
          </a:prstGeom>
          <a:solidFill>
            <a:srgbClr val="0F7DC2"/>
          </a:solidFill>
          <a:ln/>
        </p:spPr>
      </p:sp>
      <p:sp>
        <p:nvSpPr>
          <p:cNvPr id="31" name="Text 28"/>
          <p:cNvSpPr txBox="1"/>
          <p:nvPr/>
        </p:nvSpPr>
        <p:spPr>
          <a:xfrm>
            <a:off x="8174736" y="5230368"/>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September $101K</a:t>
            </a:r>
            <a:endParaRPr lang="en-US" sz="1200" dirty="0"/>
          </a:p>
        </p:txBody>
      </p:sp>
      <p:sp>
        <p:nvSpPr>
          <p:cNvPr id="32" name="Text 29"/>
          <p:cNvSpPr txBox="1"/>
          <p:nvPr/>
        </p:nvSpPr>
        <p:spPr>
          <a:xfrm>
            <a:off x="8174736" y="5486400"/>
            <a:ext cx="3017520" cy="47548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Steady; S3 archive growth continues.</a:t>
            </a:r>
            <a:endParaRPr lang="en-US" sz="1050" dirty="0"/>
          </a:p>
        </p:txBody>
      </p:sp>
      <p:sp>
        <p:nvSpPr>
          <p:cNvPr id="3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Consumption excludes Marketplace. Charges span two payer accounts; the Harel IL payer is $166K of the total.</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AWS BY ACCOUNT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Digital platform is half of all AWS consumption</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51199" cy="4114800"/>
          </a:xfrm>
          <a:prstGeom prst="roundRect">
            <a:avLst>
              <a:gd name="adj" fmla="val 1503"/>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account</a:t>
            </a:r>
            <a:endParaRPr lang="en-US" sz="1300" dirty="0"/>
          </a:p>
        </p:txBody>
      </p:sp>
      <p:sp>
        <p:nvSpPr>
          <p:cNvPr id="8" name="Text 5"/>
          <p:cNvSpPr txBox="1"/>
          <p:nvPr/>
        </p:nvSpPr>
        <p:spPr>
          <a:xfrm>
            <a:off x="8229600" y="2103120"/>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aws-prod-Digital</a:t>
            </a:r>
            <a:endParaRPr lang="en-US" sz="1000" dirty="0"/>
          </a:p>
        </p:txBody>
      </p:sp>
      <p:sp>
        <p:nvSpPr>
          <p:cNvPr id="9" name="rank-bar-0"/>
          <p:cNvSpPr/>
          <p:nvPr/>
        </p:nvSpPr>
        <p:spPr>
          <a:xfrm>
            <a:off x="9948672" y="2189988"/>
            <a:ext cx="640080" cy="137160"/>
          </a:xfrm>
          <a:prstGeom prst="rect">
            <a:avLst/>
          </a:prstGeom>
          <a:solidFill>
            <a:srgbClr val="F2A900"/>
          </a:solidFill>
          <a:ln/>
        </p:spPr>
      </p:sp>
      <p:sp>
        <p:nvSpPr>
          <p:cNvPr id="10" name="Text 7"/>
          <p:cNvSpPr txBox="1"/>
          <p:nvPr/>
        </p:nvSpPr>
        <p:spPr>
          <a:xfrm>
            <a:off x="10680192" y="2103120"/>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$198K</a:t>
            </a:r>
            <a:endParaRPr lang="en-US" sz="1050" dirty="0"/>
          </a:p>
        </p:txBody>
      </p:sp>
      <p:sp>
        <p:nvSpPr>
          <p:cNvPr id="11" name="Text 8"/>
          <p:cNvSpPr txBox="1"/>
          <p:nvPr/>
        </p:nvSpPr>
        <p:spPr>
          <a:xfrm>
            <a:off x="8229600" y="2487168"/>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aws-devTest-digital</a:t>
            </a:r>
            <a:endParaRPr lang="en-US" sz="1000" dirty="0"/>
          </a:p>
        </p:txBody>
      </p:sp>
      <p:sp>
        <p:nvSpPr>
          <p:cNvPr id="12" name="rank-bar-1"/>
          <p:cNvSpPr/>
          <p:nvPr/>
        </p:nvSpPr>
        <p:spPr>
          <a:xfrm>
            <a:off x="9948672" y="2574036"/>
            <a:ext cx="368283" cy="137160"/>
          </a:xfrm>
          <a:prstGeom prst="rect">
            <a:avLst/>
          </a:prstGeom>
          <a:solidFill>
            <a:srgbClr val="F2A900"/>
          </a:solidFill>
          <a:ln/>
        </p:spPr>
      </p:sp>
      <p:sp>
        <p:nvSpPr>
          <p:cNvPr id="13" name="Text 10"/>
          <p:cNvSpPr txBox="1"/>
          <p:nvPr/>
        </p:nvSpPr>
        <p:spPr>
          <a:xfrm>
            <a:off x="10680192" y="2487168"/>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$114K</a:t>
            </a:r>
            <a:endParaRPr lang="en-US" sz="1050" dirty="0"/>
          </a:p>
        </p:txBody>
      </p:sp>
      <p:sp>
        <p:nvSpPr>
          <p:cNvPr id="14" name="Text 11"/>
          <p:cNvSpPr txBox="1"/>
          <p:nvPr/>
        </p:nvSpPr>
        <p:spPr>
          <a:xfrm>
            <a:off x="8229600" y="2871216"/>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aws-preProd-digital</a:t>
            </a:r>
            <a:endParaRPr lang="en-US" sz="1000" dirty="0"/>
          </a:p>
        </p:txBody>
      </p:sp>
      <p:sp>
        <p:nvSpPr>
          <p:cNvPr id="15" name="rank-bar-2"/>
          <p:cNvSpPr/>
          <p:nvPr/>
        </p:nvSpPr>
        <p:spPr>
          <a:xfrm>
            <a:off x="9948672" y="2958084"/>
            <a:ext cx="305942" cy="137160"/>
          </a:xfrm>
          <a:prstGeom prst="rect">
            <a:avLst/>
          </a:prstGeom>
          <a:solidFill>
            <a:srgbClr val="F2A900"/>
          </a:solidFill>
          <a:ln/>
        </p:spPr>
      </p:sp>
      <p:sp>
        <p:nvSpPr>
          <p:cNvPr id="16" name="Text 13"/>
          <p:cNvSpPr txBox="1"/>
          <p:nvPr/>
        </p:nvSpPr>
        <p:spPr>
          <a:xfrm>
            <a:off x="10680192" y="2871216"/>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$95K</a:t>
            </a:r>
            <a:endParaRPr lang="en-US" sz="1050" dirty="0"/>
          </a:p>
        </p:txBody>
      </p:sp>
      <p:sp>
        <p:nvSpPr>
          <p:cNvPr id="17" name="Text 14"/>
          <p:cNvSpPr txBox="1"/>
          <p:nvPr/>
        </p:nvSpPr>
        <p:spPr>
          <a:xfrm>
            <a:off x="8229600" y="3255264"/>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foundation-security</a:t>
            </a:r>
            <a:endParaRPr lang="en-US" sz="1000" dirty="0"/>
          </a:p>
        </p:txBody>
      </p:sp>
      <p:sp>
        <p:nvSpPr>
          <p:cNvPr id="18" name="rank-bar-3"/>
          <p:cNvSpPr/>
          <p:nvPr/>
        </p:nvSpPr>
        <p:spPr>
          <a:xfrm>
            <a:off x="9948672" y="3342132"/>
            <a:ext cx="240415" cy="137160"/>
          </a:xfrm>
          <a:prstGeom prst="rect">
            <a:avLst/>
          </a:prstGeom>
          <a:solidFill>
            <a:srgbClr val="0F7DC2"/>
          </a:solidFill>
          <a:ln/>
        </p:spPr>
      </p:sp>
      <p:sp>
        <p:nvSpPr>
          <p:cNvPr id="19" name="Text 16"/>
          <p:cNvSpPr txBox="1"/>
          <p:nvPr/>
        </p:nvSpPr>
        <p:spPr>
          <a:xfrm>
            <a:off x="10680192" y="3255264"/>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$74K</a:t>
            </a:r>
            <a:endParaRPr lang="en-US" sz="1050" dirty="0"/>
          </a:p>
        </p:txBody>
      </p:sp>
      <p:sp>
        <p:nvSpPr>
          <p:cNvPr id="20" name="Text 17"/>
          <p:cNvSpPr txBox="1"/>
          <p:nvPr/>
        </p:nvSpPr>
        <p:spPr>
          <a:xfrm>
            <a:off x="8229600" y="3639312"/>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customers3-prod</a:t>
            </a:r>
            <a:endParaRPr lang="en-US" sz="1000" dirty="0"/>
          </a:p>
        </p:txBody>
      </p:sp>
      <p:sp>
        <p:nvSpPr>
          <p:cNvPr id="21" name="rank-bar-4"/>
          <p:cNvSpPr/>
          <p:nvPr/>
        </p:nvSpPr>
        <p:spPr>
          <a:xfrm>
            <a:off x="9948672" y="3726180"/>
            <a:ext cx="238877" cy="137160"/>
          </a:xfrm>
          <a:prstGeom prst="rect">
            <a:avLst/>
          </a:prstGeom>
          <a:solidFill>
            <a:srgbClr val="00A878"/>
          </a:solidFill>
          <a:ln/>
        </p:spPr>
      </p:sp>
      <p:sp>
        <p:nvSpPr>
          <p:cNvPr id="22" name="Text 19"/>
          <p:cNvSpPr txBox="1"/>
          <p:nvPr/>
        </p:nvSpPr>
        <p:spPr>
          <a:xfrm>
            <a:off x="10680192" y="3639312"/>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$74K</a:t>
            </a:r>
            <a:endParaRPr lang="en-US" sz="1050" dirty="0"/>
          </a:p>
        </p:txBody>
      </p:sp>
      <p:sp>
        <p:nvSpPr>
          <p:cNvPr id="23" name="Text 20"/>
          <p:cNvSpPr txBox="1"/>
          <p:nvPr/>
        </p:nvSpPr>
        <p:spPr>
          <a:xfrm>
            <a:off x="8229600" y="4023360"/>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cloudops-network</a:t>
            </a:r>
            <a:endParaRPr lang="en-US" sz="1000" dirty="0"/>
          </a:p>
        </p:txBody>
      </p:sp>
      <p:sp>
        <p:nvSpPr>
          <p:cNvPr id="24" name="rank-bar-5"/>
          <p:cNvSpPr/>
          <p:nvPr/>
        </p:nvSpPr>
        <p:spPr>
          <a:xfrm>
            <a:off x="9948672" y="4110228"/>
            <a:ext cx="201362" cy="137160"/>
          </a:xfrm>
          <a:prstGeom prst="rect">
            <a:avLst/>
          </a:prstGeom>
          <a:solidFill>
            <a:srgbClr val="0F7DC2"/>
          </a:solidFill>
          <a:ln/>
        </p:spPr>
      </p:sp>
      <p:sp>
        <p:nvSpPr>
          <p:cNvPr id="25" name="Text 22"/>
          <p:cNvSpPr txBox="1"/>
          <p:nvPr/>
        </p:nvSpPr>
        <p:spPr>
          <a:xfrm>
            <a:off x="10680192" y="4023360"/>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$62K</a:t>
            </a:r>
            <a:endParaRPr lang="en-US" sz="1050" dirty="0"/>
          </a:p>
        </p:txBody>
      </p:sp>
      <p:sp>
        <p:nvSpPr>
          <p:cNvPr id="26" name="Text 23"/>
          <p:cNvSpPr txBox="1"/>
          <p:nvPr/>
        </p:nvSpPr>
        <p:spPr>
          <a:xfrm>
            <a:off x="8229600" y="4407408"/>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Harel Insurance</a:t>
            </a:r>
            <a:endParaRPr lang="en-US" sz="1000" dirty="0"/>
          </a:p>
        </p:txBody>
      </p:sp>
      <p:sp>
        <p:nvSpPr>
          <p:cNvPr id="27" name="rank-bar-6"/>
          <p:cNvSpPr/>
          <p:nvPr/>
        </p:nvSpPr>
        <p:spPr>
          <a:xfrm>
            <a:off x="9948672" y="4494276"/>
            <a:ext cx="189164" cy="137160"/>
          </a:xfrm>
          <a:prstGeom prst="rect">
            <a:avLst/>
          </a:prstGeom>
          <a:solidFill>
            <a:srgbClr val="7C5CFF"/>
          </a:solidFill>
          <a:ln/>
        </p:spPr>
      </p:sp>
      <p:sp>
        <p:nvSpPr>
          <p:cNvPr id="28" name="Text 25"/>
          <p:cNvSpPr txBox="1"/>
          <p:nvPr/>
        </p:nvSpPr>
        <p:spPr>
          <a:xfrm>
            <a:off x="10680192" y="4407408"/>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$59K</a:t>
            </a:r>
            <a:endParaRPr lang="en-US" sz="1050" dirty="0"/>
          </a:p>
        </p:txBody>
      </p:sp>
      <p:sp>
        <p:nvSpPr>
          <p:cNvPr id="29" name="Text 26"/>
          <p:cNvSpPr txBox="1"/>
          <p:nvPr/>
        </p:nvSpPr>
        <p:spPr>
          <a:xfrm>
            <a:off x="8229600" y="4791456"/>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foundation-shared</a:t>
            </a:r>
            <a:endParaRPr lang="en-US" sz="1000" dirty="0"/>
          </a:p>
        </p:txBody>
      </p:sp>
      <p:sp>
        <p:nvSpPr>
          <p:cNvPr id="30" name="rank-bar-7"/>
          <p:cNvSpPr/>
          <p:nvPr/>
        </p:nvSpPr>
        <p:spPr>
          <a:xfrm>
            <a:off x="9948672" y="4878324"/>
            <a:ext cx="173874" cy="137160"/>
          </a:xfrm>
          <a:prstGeom prst="rect">
            <a:avLst/>
          </a:prstGeom>
          <a:solidFill>
            <a:srgbClr val="0F7DC2"/>
          </a:solidFill>
          <a:ln/>
        </p:spPr>
      </p:sp>
      <p:sp>
        <p:nvSpPr>
          <p:cNvPr id="31" name="Text 28"/>
          <p:cNvSpPr txBox="1"/>
          <p:nvPr/>
        </p:nvSpPr>
        <p:spPr>
          <a:xfrm>
            <a:off x="10680192" y="4791456"/>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$54K</a:t>
            </a:r>
            <a:endParaRPr lang="en-US" sz="1050" dirty="0"/>
          </a:p>
        </p:txBody>
      </p:sp>
      <p:sp>
        <p:nvSpPr>
          <p:cNvPr id="32" name="chip"/>
          <p:cNvSpPr/>
          <p:nvPr/>
        </p:nvSpPr>
        <p:spPr>
          <a:xfrm>
            <a:off x="8229600" y="5285232"/>
            <a:ext cx="3145536" cy="310896"/>
          </a:xfrm>
          <a:prstGeom prst="roundRect">
            <a:avLst>
              <a:gd name="adj" fmla="val 35294"/>
            </a:avLst>
          </a:prstGeom>
          <a:solidFill>
            <a:srgbClr val="FFF4DE"/>
          </a:solidFill>
          <a:ln/>
        </p:spPr>
      </p:sp>
      <p:sp>
        <p:nvSpPr>
          <p:cNvPr id="33" name="Text 30"/>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8A5A00"/>
                </a:solidFill>
                <a:latin typeface="Arial" pitchFamily="34" charset="0"/>
                <a:ea typeface="Arial" pitchFamily="34" charset="-122"/>
                <a:cs typeface="Arial" pitchFamily="34" charset="-120"/>
              </a:rPr>
              <a:t>Top 3 Digital accounts = $407K</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customers3-prod is the most volatile account — it swung between $0.9K and $13.5K a month.</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AWS BY SERVICE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EC2 compute is 38% of the AWS bill — and already 93% covered</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51199" cy="4114800"/>
          </a:xfrm>
          <a:prstGeom prst="roundRect">
            <a:avLst>
              <a:gd name="adj" fmla="val 1503"/>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service</a:t>
            </a:r>
            <a:endParaRPr lang="en-US" sz="1300" dirty="0"/>
          </a:p>
        </p:txBody>
      </p:sp>
      <p:sp>
        <p:nvSpPr>
          <p:cNvPr id="8" name="Text 5"/>
          <p:cNvSpPr txBox="1"/>
          <p:nvPr/>
        </p:nvSpPr>
        <p:spPr>
          <a:xfrm>
            <a:off x="8229600" y="2103120"/>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EC2 · Compute</a:t>
            </a:r>
            <a:endParaRPr lang="en-US" sz="1000" dirty="0"/>
          </a:p>
        </p:txBody>
      </p:sp>
      <p:sp>
        <p:nvSpPr>
          <p:cNvPr id="9" name="rank-bar-0"/>
          <p:cNvSpPr/>
          <p:nvPr/>
        </p:nvSpPr>
        <p:spPr>
          <a:xfrm>
            <a:off x="9948672" y="2189988"/>
            <a:ext cx="640080" cy="137160"/>
          </a:xfrm>
          <a:prstGeom prst="rect">
            <a:avLst/>
          </a:prstGeom>
          <a:solidFill>
            <a:srgbClr val="F2A900"/>
          </a:solidFill>
          <a:ln/>
        </p:spPr>
      </p:sp>
      <p:sp>
        <p:nvSpPr>
          <p:cNvPr id="10" name="Text 7"/>
          <p:cNvSpPr txBox="1"/>
          <p:nvPr/>
        </p:nvSpPr>
        <p:spPr>
          <a:xfrm>
            <a:off x="10680192" y="2103120"/>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$300K</a:t>
            </a:r>
            <a:endParaRPr lang="en-US" sz="1050" dirty="0"/>
          </a:p>
        </p:txBody>
      </p:sp>
      <p:sp>
        <p:nvSpPr>
          <p:cNvPr id="11" name="Text 8"/>
          <p:cNvSpPr txBox="1"/>
          <p:nvPr/>
        </p:nvSpPr>
        <p:spPr>
          <a:xfrm>
            <a:off x="8229600" y="2487168"/>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Business Support</a:t>
            </a:r>
            <a:endParaRPr lang="en-US" sz="1000" dirty="0"/>
          </a:p>
        </p:txBody>
      </p:sp>
      <p:sp>
        <p:nvSpPr>
          <p:cNvPr id="12" name="rank-bar-1"/>
          <p:cNvSpPr/>
          <p:nvPr/>
        </p:nvSpPr>
        <p:spPr>
          <a:xfrm>
            <a:off x="9948672" y="2574036"/>
            <a:ext cx="98184" cy="137160"/>
          </a:xfrm>
          <a:prstGeom prst="rect">
            <a:avLst/>
          </a:prstGeom>
          <a:solidFill>
            <a:srgbClr val="27496B"/>
          </a:solidFill>
          <a:ln/>
        </p:spPr>
      </p:sp>
      <p:sp>
        <p:nvSpPr>
          <p:cNvPr id="13" name="Text 10"/>
          <p:cNvSpPr txBox="1"/>
          <p:nvPr/>
        </p:nvSpPr>
        <p:spPr>
          <a:xfrm>
            <a:off x="10680192" y="2487168"/>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$46K</a:t>
            </a:r>
            <a:endParaRPr lang="en-US" sz="1050" dirty="0"/>
          </a:p>
        </p:txBody>
      </p:sp>
      <p:sp>
        <p:nvSpPr>
          <p:cNvPr id="14" name="Text 11"/>
          <p:cNvSpPr txBox="1"/>
          <p:nvPr/>
        </p:nvSpPr>
        <p:spPr>
          <a:xfrm>
            <a:off x="8229600" y="2871216"/>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S3 · Glacier Archive</a:t>
            </a:r>
            <a:endParaRPr lang="en-US" sz="1000" dirty="0"/>
          </a:p>
        </p:txBody>
      </p:sp>
      <p:sp>
        <p:nvSpPr>
          <p:cNvPr id="15" name="rank-bar-2"/>
          <p:cNvSpPr/>
          <p:nvPr/>
        </p:nvSpPr>
        <p:spPr>
          <a:xfrm>
            <a:off x="9948672" y="2958084"/>
            <a:ext cx="87261" cy="137160"/>
          </a:xfrm>
          <a:prstGeom prst="rect">
            <a:avLst/>
          </a:prstGeom>
          <a:solidFill>
            <a:srgbClr val="0F7DC2"/>
          </a:solidFill>
          <a:ln/>
        </p:spPr>
      </p:sp>
      <p:sp>
        <p:nvSpPr>
          <p:cNvPr id="16" name="Text 13"/>
          <p:cNvSpPr txBox="1"/>
          <p:nvPr/>
        </p:nvSpPr>
        <p:spPr>
          <a:xfrm>
            <a:off x="10680192" y="2871216"/>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$41K</a:t>
            </a:r>
            <a:endParaRPr lang="en-US" sz="1050" dirty="0"/>
          </a:p>
        </p:txBody>
      </p:sp>
      <p:sp>
        <p:nvSpPr>
          <p:cNvPr id="17" name="Text 14"/>
          <p:cNvSpPr txBox="1"/>
          <p:nvPr/>
        </p:nvSpPr>
        <p:spPr>
          <a:xfrm>
            <a:off x="8229600" y="3255264"/>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VPC · Transit Gateway</a:t>
            </a:r>
            <a:endParaRPr lang="en-US" sz="1000" dirty="0"/>
          </a:p>
        </p:txBody>
      </p:sp>
      <p:sp>
        <p:nvSpPr>
          <p:cNvPr id="18" name="rank-bar-3"/>
          <p:cNvSpPr/>
          <p:nvPr/>
        </p:nvSpPr>
        <p:spPr>
          <a:xfrm>
            <a:off x="9948672" y="3342132"/>
            <a:ext cx="80031" cy="137160"/>
          </a:xfrm>
          <a:prstGeom prst="rect">
            <a:avLst/>
          </a:prstGeom>
          <a:solidFill>
            <a:srgbClr val="0F7DC2"/>
          </a:solidFill>
          <a:ln/>
        </p:spPr>
      </p:sp>
      <p:sp>
        <p:nvSpPr>
          <p:cNvPr id="19" name="Text 16"/>
          <p:cNvSpPr txBox="1"/>
          <p:nvPr/>
        </p:nvSpPr>
        <p:spPr>
          <a:xfrm>
            <a:off x="10680192" y="3255264"/>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$38K</a:t>
            </a:r>
            <a:endParaRPr lang="en-US" sz="1050" dirty="0"/>
          </a:p>
        </p:txBody>
      </p:sp>
      <p:sp>
        <p:nvSpPr>
          <p:cNvPr id="20" name="Text 17"/>
          <p:cNvSpPr txBox="1"/>
          <p:nvPr/>
        </p:nvSpPr>
        <p:spPr>
          <a:xfrm>
            <a:off x="8229600" y="3639312"/>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RDS · Compute</a:t>
            </a:r>
            <a:endParaRPr lang="en-US" sz="1000" dirty="0"/>
          </a:p>
        </p:txBody>
      </p:sp>
      <p:sp>
        <p:nvSpPr>
          <p:cNvPr id="21" name="rank-bar-4"/>
          <p:cNvSpPr/>
          <p:nvPr/>
        </p:nvSpPr>
        <p:spPr>
          <a:xfrm>
            <a:off x="9948672" y="3726180"/>
            <a:ext cx="75844" cy="137160"/>
          </a:xfrm>
          <a:prstGeom prst="rect">
            <a:avLst/>
          </a:prstGeom>
          <a:solidFill>
            <a:srgbClr val="00A878"/>
          </a:solidFill>
          <a:ln/>
        </p:spPr>
      </p:sp>
      <p:sp>
        <p:nvSpPr>
          <p:cNvPr id="22" name="Text 19"/>
          <p:cNvSpPr txBox="1"/>
          <p:nvPr/>
        </p:nvSpPr>
        <p:spPr>
          <a:xfrm>
            <a:off x="10680192" y="3639312"/>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$36K</a:t>
            </a:r>
            <a:endParaRPr lang="en-US" sz="1050" dirty="0"/>
          </a:p>
        </p:txBody>
      </p:sp>
      <p:sp>
        <p:nvSpPr>
          <p:cNvPr id="23" name="Text 20"/>
          <p:cNvSpPr txBox="1"/>
          <p:nvPr/>
        </p:nvSpPr>
        <p:spPr>
          <a:xfrm>
            <a:off x="8229600" y="4023360"/>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S3 · Storage</a:t>
            </a:r>
            <a:endParaRPr lang="en-US" sz="1000" dirty="0"/>
          </a:p>
        </p:txBody>
      </p:sp>
      <p:sp>
        <p:nvSpPr>
          <p:cNvPr id="24" name="rank-bar-5"/>
          <p:cNvSpPr/>
          <p:nvPr/>
        </p:nvSpPr>
        <p:spPr>
          <a:xfrm>
            <a:off x="9948672" y="4110228"/>
            <a:ext cx="73207" cy="137160"/>
          </a:xfrm>
          <a:prstGeom prst="rect">
            <a:avLst/>
          </a:prstGeom>
          <a:solidFill>
            <a:srgbClr val="0F7DC2"/>
          </a:solidFill>
          <a:ln/>
        </p:spPr>
      </p:sp>
      <p:sp>
        <p:nvSpPr>
          <p:cNvPr id="25" name="Text 22"/>
          <p:cNvSpPr txBox="1"/>
          <p:nvPr/>
        </p:nvSpPr>
        <p:spPr>
          <a:xfrm>
            <a:off x="10680192" y="4023360"/>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$34K</a:t>
            </a:r>
            <a:endParaRPr lang="en-US" sz="1050" dirty="0"/>
          </a:p>
        </p:txBody>
      </p:sp>
      <p:sp>
        <p:nvSpPr>
          <p:cNvPr id="26" name="Text 23"/>
          <p:cNvSpPr txBox="1"/>
          <p:nvPr/>
        </p:nvSpPr>
        <p:spPr>
          <a:xfrm>
            <a:off x="8229600" y="4407408"/>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Direct Connect</a:t>
            </a:r>
            <a:endParaRPr lang="en-US" sz="1000" dirty="0"/>
          </a:p>
        </p:txBody>
      </p:sp>
      <p:sp>
        <p:nvSpPr>
          <p:cNvPr id="27" name="rank-bar-6"/>
          <p:cNvSpPr/>
          <p:nvPr/>
        </p:nvSpPr>
        <p:spPr>
          <a:xfrm>
            <a:off x="9948672" y="4494276"/>
            <a:ext cx="71189" cy="137160"/>
          </a:xfrm>
          <a:prstGeom prst="rect">
            <a:avLst/>
          </a:prstGeom>
          <a:solidFill>
            <a:srgbClr val="27496B"/>
          </a:solidFill>
          <a:ln/>
        </p:spPr>
      </p:sp>
      <p:sp>
        <p:nvSpPr>
          <p:cNvPr id="28" name="Text 25"/>
          <p:cNvSpPr txBox="1"/>
          <p:nvPr/>
        </p:nvSpPr>
        <p:spPr>
          <a:xfrm>
            <a:off x="10680192" y="4407408"/>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$33K</a:t>
            </a:r>
            <a:endParaRPr lang="en-US" sz="1050" dirty="0"/>
          </a:p>
        </p:txBody>
      </p:sp>
      <p:sp>
        <p:nvSpPr>
          <p:cNvPr id="29" name="Text 26"/>
          <p:cNvSpPr txBox="1"/>
          <p:nvPr/>
        </p:nvSpPr>
        <p:spPr>
          <a:xfrm>
            <a:off x="8229600" y="4791456"/>
            <a:ext cx="1627632"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CloudWatch Logs</a:t>
            </a:r>
            <a:endParaRPr lang="en-US" sz="1000" dirty="0"/>
          </a:p>
        </p:txBody>
      </p:sp>
      <p:sp>
        <p:nvSpPr>
          <p:cNvPr id="30" name="rank-bar-7"/>
          <p:cNvSpPr/>
          <p:nvPr/>
        </p:nvSpPr>
        <p:spPr>
          <a:xfrm>
            <a:off x="9948672" y="4878324"/>
            <a:ext cx="61979" cy="137160"/>
          </a:xfrm>
          <a:prstGeom prst="rect">
            <a:avLst/>
          </a:prstGeom>
          <a:solidFill>
            <a:srgbClr val="7C5CFF"/>
          </a:solidFill>
          <a:ln/>
        </p:spPr>
      </p:sp>
      <p:sp>
        <p:nvSpPr>
          <p:cNvPr id="31" name="Text 28"/>
          <p:cNvSpPr txBox="1"/>
          <p:nvPr/>
        </p:nvSpPr>
        <p:spPr>
          <a:xfrm>
            <a:off x="10680192" y="4791456"/>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$29K</a:t>
            </a:r>
            <a:endParaRPr lang="en-US" sz="1050" dirty="0"/>
          </a:p>
        </p:txBody>
      </p:sp>
      <p:sp>
        <p:nvSpPr>
          <p:cNvPr id="32" name="chip"/>
          <p:cNvSpPr/>
          <p:nvPr/>
        </p:nvSpPr>
        <p:spPr>
          <a:xfrm>
            <a:off x="8229600" y="5285232"/>
            <a:ext cx="3145536" cy="310896"/>
          </a:xfrm>
          <a:prstGeom prst="roundRect">
            <a:avLst>
              <a:gd name="adj" fmla="val 35294"/>
            </a:avLst>
          </a:prstGeom>
          <a:solidFill>
            <a:srgbClr val="E3F5EE"/>
          </a:solidFill>
          <a:ln/>
        </p:spPr>
      </p:sp>
      <p:sp>
        <p:nvSpPr>
          <p:cNvPr id="33" name="Text 30"/>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046A4E"/>
                </a:solidFill>
                <a:latin typeface="Arial" pitchFamily="34" charset="0"/>
                <a:ea typeface="Arial" pitchFamily="34" charset="-122"/>
                <a:cs typeface="Arial" pitchFamily="34" charset="-120"/>
              </a:rPr>
              <a:t>S3 archive grew $0 → $12K a month</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Glacier Deep Archive started in February and is now the third largest AWS service line — worth a retention review.</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AWS MARKETPLACE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Nine vendors carry 91% of the $1.82M Marketplace spend</a:t>
            </a:r>
            <a:endParaRPr lang="en-US" sz="2800" dirty="0"/>
          </a:p>
        </p:txBody>
      </p:sp>
      <p:sp>
        <p:nvSpPr>
          <p:cNvPr id="5" name="Text 3"/>
          <p:cNvSpPr txBox="1"/>
          <p:nvPr/>
        </p:nvSpPr>
        <p:spPr>
          <a:xfrm>
            <a:off x="566928" y="1664208"/>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Splunk (private offer)</a:t>
            </a:r>
            <a:endParaRPr lang="en-US" sz="1150" dirty="0"/>
          </a:p>
        </p:txBody>
      </p:sp>
      <p:sp>
        <p:nvSpPr>
          <p:cNvPr id="6" name="rank-bar-0"/>
          <p:cNvSpPr/>
          <p:nvPr/>
        </p:nvSpPr>
        <p:spPr>
          <a:xfrm>
            <a:off x="3675888" y="1815084"/>
            <a:ext cx="1783080" cy="137160"/>
          </a:xfrm>
          <a:prstGeom prst="rect">
            <a:avLst/>
          </a:prstGeom>
          <a:solidFill>
            <a:srgbClr val="27496B"/>
          </a:solidFill>
          <a:ln/>
        </p:spPr>
      </p:sp>
      <p:sp>
        <p:nvSpPr>
          <p:cNvPr id="7" name="Text 5"/>
          <p:cNvSpPr txBox="1"/>
          <p:nvPr/>
        </p:nvSpPr>
        <p:spPr>
          <a:xfrm>
            <a:off x="5550408" y="1664208"/>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$365K</a:t>
            </a:r>
            <a:endParaRPr lang="en-US" sz="1200" dirty="0"/>
          </a:p>
        </p:txBody>
      </p:sp>
      <p:sp>
        <p:nvSpPr>
          <p:cNvPr id="8" name="Text 6"/>
          <p:cNvSpPr txBox="1"/>
          <p:nvPr/>
        </p:nvSpPr>
        <p:spPr>
          <a:xfrm>
            <a:off x="566928" y="2176272"/>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TrendAI Enterprise Security</a:t>
            </a:r>
            <a:endParaRPr lang="en-US" sz="1150" dirty="0"/>
          </a:p>
        </p:txBody>
      </p:sp>
      <p:sp>
        <p:nvSpPr>
          <p:cNvPr id="9" name="rank-bar-1"/>
          <p:cNvSpPr/>
          <p:nvPr/>
        </p:nvSpPr>
        <p:spPr>
          <a:xfrm>
            <a:off x="3675888" y="2327148"/>
            <a:ext cx="1257000" cy="137160"/>
          </a:xfrm>
          <a:prstGeom prst="rect">
            <a:avLst/>
          </a:prstGeom>
          <a:solidFill>
            <a:srgbClr val="27496B"/>
          </a:solidFill>
          <a:ln/>
        </p:spPr>
      </p:sp>
      <p:sp>
        <p:nvSpPr>
          <p:cNvPr id="10" name="Text 8"/>
          <p:cNvSpPr txBox="1"/>
          <p:nvPr/>
        </p:nvSpPr>
        <p:spPr>
          <a:xfrm>
            <a:off x="5550408" y="2176272"/>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$257K</a:t>
            </a:r>
            <a:endParaRPr lang="en-US" sz="1200" dirty="0"/>
          </a:p>
        </p:txBody>
      </p:sp>
      <p:sp>
        <p:nvSpPr>
          <p:cNvPr id="11" name="Text 9"/>
          <p:cNvSpPr txBox="1"/>
          <p:nvPr/>
        </p:nvSpPr>
        <p:spPr>
          <a:xfrm>
            <a:off x="566928" y="2688336"/>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MongoDB Atlas</a:t>
            </a:r>
            <a:endParaRPr lang="en-US" sz="1150" dirty="0"/>
          </a:p>
        </p:txBody>
      </p:sp>
      <p:sp>
        <p:nvSpPr>
          <p:cNvPr id="12" name="rank-bar-2"/>
          <p:cNvSpPr/>
          <p:nvPr/>
        </p:nvSpPr>
        <p:spPr>
          <a:xfrm>
            <a:off x="3675888" y="2839212"/>
            <a:ext cx="936984" cy="137160"/>
          </a:xfrm>
          <a:prstGeom prst="rect">
            <a:avLst/>
          </a:prstGeom>
          <a:solidFill>
            <a:srgbClr val="0F7DC2"/>
          </a:solidFill>
          <a:ln/>
        </p:spPr>
      </p:sp>
      <p:sp>
        <p:nvSpPr>
          <p:cNvPr id="13" name="Text 11"/>
          <p:cNvSpPr txBox="1"/>
          <p:nvPr/>
        </p:nvSpPr>
        <p:spPr>
          <a:xfrm>
            <a:off x="5550408" y="2688336"/>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$192K</a:t>
            </a:r>
            <a:endParaRPr lang="en-US" sz="1200" dirty="0"/>
          </a:p>
        </p:txBody>
      </p:sp>
      <p:sp>
        <p:nvSpPr>
          <p:cNvPr id="14" name="Text 12"/>
          <p:cNvSpPr txBox="1"/>
          <p:nvPr/>
        </p:nvSpPr>
        <p:spPr>
          <a:xfrm>
            <a:off x="566928" y="3200400"/>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CrowdStrike Falcon</a:t>
            </a:r>
            <a:endParaRPr lang="en-US" sz="1150" dirty="0"/>
          </a:p>
        </p:txBody>
      </p:sp>
      <p:sp>
        <p:nvSpPr>
          <p:cNvPr id="15" name="rank-bar-3"/>
          <p:cNvSpPr/>
          <p:nvPr/>
        </p:nvSpPr>
        <p:spPr>
          <a:xfrm>
            <a:off x="3675888" y="3351276"/>
            <a:ext cx="836800" cy="137160"/>
          </a:xfrm>
          <a:prstGeom prst="rect">
            <a:avLst/>
          </a:prstGeom>
          <a:solidFill>
            <a:srgbClr val="27496B"/>
          </a:solidFill>
          <a:ln/>
        </p:spPr>
      </p:sp>
      <p:sp>
        <p:nvSpPr>
          <p:cNvPr id="16" name="Text 14"/>
          <p:cNvSpPr txBox="1"/>
          <p:nvPr/>
        </p:nvSpPr>
        <p:spPr>
          <a:xfrm>
            <a:off x="5550408" y="3200400"/>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$171K</a:t>
            </a:r>
            <a:endParaRPr lang="en-US" sz="1200" dirty="0"/>
          </a:p>
        </p:txBody>
      </p:sp>
      <p:sp>
        <p:nvSpPr>
          <p:cNvPr id="17" name="Text 15"/>
          <p:cNvSpPr txBox="1"/>
          <p:nvPr/>
        </p:nvSpPr>
        <p:spPr>
          <a:xfrm>
            <a:off x="566928" y="3712464"/>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F5 Distributed Cloud</a:t>
            </a:r>
            <a:endParaRPr lang="en-US" sz="1150" dirty="0"/>
          </a:p>
        </p:txBody>
      </p:sp>
      <p:sp>
        <p:nvSpPr>
          <p:cNvPr id="18" name="rank-bar-4"/>
          <p:cNvSpPr/>
          <p:nvPr/>
        </p:nvSpPr>
        <p:spPr>
          <a:xfrm>
            <a:off x="3675888" y="3863340"/>
            <a:ext cx="812326" cy="137160"/>
          </a:xfrm>
          <a:prstGeom prst="rect">
            <a:avLst/>
          </a:prstGeom>
          <a:solidFill>
            <a:srgbClr val="27496B"/>
          </a:solidFill>
          <a:ln/>
        </p:spPr>
      </p:sp>
      <p:sp>
        <p:nvSpPr>
          <p:cNvPr id="19" name="Text 17"/>
          <p:cNvSpPr txBox="1"/>
          <p:nvPr/>
        </p:nvSpPr>
        <p:spPr>
          <a:xfrm>
            <a:off x="5550408" y="3712464"/>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$166K</a:t>
            </a:r>
            <a:endParaRPr lang="en-US" sz="1200" dirty="0"/>
          </a:p>
        </p:txBody>
      </p:sp>
      <p:sp>
        <p:nvSpPr>
          <p:cNvPr id="20" name="Text 18"/>
          <p:cNvSpPr txBox="1"/>
          <p:nvPr/>
        </p:nvSpPr>
        <p:spPr>
          <a:xfrm>
            <a:off x="566928" y="4224528"/>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JFrog Supply Chain</a:t>
            </a:r>
            <a:endParaRPr lang="en-US" sz="1150" dirty="0"/>
          </a:p>
        </p:txBody>
      </p:sp>
      <p:sp>
        <p:nvSpPr>
          <p:cNvPr id="21" name="rank-bar-5"/>
          <p:cNvSpPr/>
          <p:nvPr/>
        </p:nvSpPr>
        <p:spPr>
          <a:xfrm>
            <a:off x="3675888" y="4375404"/>
            <a:ext cx="773081" cy="137160"/>
          </a:xfrm>
          <a:prstGeom prst="rect">
            <a:avLst/>
          </a:prstGeom>
          <a:solidFill>
            <a:srgbClr val="F2A900"/>
          </a:solidFill>
          <a:ln/>
        </p:spPr>
      </p:sp>
      <p:sp>
        <p:nvSpPr>
          <p:cNvPr id="22" name="Text 20"/>
          <p:cNvSpPr txBox="1"/>
          <p:nvPr/>
        </p:nvSpPr>
        <p:spPr>
          <a:xfrm>
            <a:off x="5550408" y="4224528"/>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$158K</a:t>
            </a:r>
            <a:endParaRPr lang="en-US" sz="1200" dirty="0"/>
          </a:p>
        </p:txBody>
      </p:sp>
      <p:sp>
        <p:nvSpPr>
          <p:cNvPr id="23" name="Text 21"/>
          <p:cNvSpPr txBox="1"/>
          <p:nvPr/>
        </p:nvSpPr>
        <p:spPr>
          <a:xfrm>
            <a:off x="566928" y="4736592"/>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Cortex (private offer)</a:t>
            </a:r>
            <a:endParaRPr lang="en-US" sz="1150" dirty="0"/>
          </a:p>
        </p:txBody>
      </p:sp>
      <p:sp>
        <p:nvSpPr>
          <p:cNvPr id="24" name="rank-bar-6"/>
          <p:cNvSpPr/>
          <p:nvPr/>
        </p:nvSpPr>
        <p:spPr>
          <a:xfrm>
            <a:off x="3675888" y="4887468"/>
            <a:ext cx="698347" cy="137160"/>
          </a:xfrm>
          <a:prstGeom prst="rect">
            <a:avLst/>
          </a:prstGeom>
          <a:solidFill>
            <a:srgbClr val="27496B"/>
          </a:solidFill>
          <a:ln/>
        </p:spPr>
      </p:sp>
      <p:sp>
        <p:nvSpPr>
          <p:cNvPr id="25" name="Text 23"/>
          <p:cNvSpPr txBox="1"/>
          <p:nvPr/>
        </p:nvSpPr>
        <p:spPr>
          <a:xfrm>
            <a:off x="5550408" y="4736592"/>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$143K</a:t>
            </a:r>
            <a:endParaRPr lang="en-US" sz="1200" dirty="0"/>
          </a:p>
        </p:txBody>
      </p:sp>
      <p:sp>
        <p:nvSpPr>
          <p:cNvPr id="26" name="Text 24"/>
          <p:cNvSpPr txBox="1"/>
          <p:nvPr/>
        </p:nvSpPr>
        <p:spPr>
          <a:xfrm>
            <a:off x="566928" y="5248656"/>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Amazon Bedrock</a:t>
            </a:r>
            <a:endParaRPr lang="en-US" sz="1150" dirty="0"/>
          </a:p>
        </p:txBody>
      </p:sp>
      <p:sp>
        <p:nvSpPr>
          <p:cNvPr id="27" name="rank-bar-7"/>
          <p:cNvSpPr/>
          <p:nvPr/>
        </p:nvSpPr>
        <p:spPr>
          <a:xfrm>
            <a:off x="3675888" y="5399532"/>
            <a:ext cx="624800" cy="137160"/>
          </a:xfrm>
          <a:prstGeom prst="rect">
            <a:avLst/>
          </a:prstGeom>
          <a:solidFill>
            <a:srgbClr val="7C5CFF"/>
          </a:solidFill>
          <a:ln/>
        </p:spPr>
      </p:sp>
      <p:sp>
        <p:nvSpPr>
          <p:cNvPr id="28" name="Text 26"/>
          <p:cNvSpPr txBox="1"/>
          <p:nvPr/>
        </p:nvSpPr>
        <p:spPr>
          <a:xfrm>
            <a:off x="5550408" y="5248656"/>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$128K</a:t>
            </a:r>
            <a:endParaRPr lang="en-US" sz="1200" dirty="0"/>
          </a:p>
        </p:txBody>
      </p:sp>
      <p:sp>
        <p:nvSpPr>
          <p:cNvPr id="29" name="Text 27"/>
          <p:cNvSpPr txBox="1"/>
          <p:nvPr/>
        </p:nvSpPr>
        <p:spPr>
          <a:xfrm>
            <a:off x="566928" y="5760720"/>
            <a:ext cx="3017520" cy="438912"/>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Trellix (private offer)</a:t>
            </a:r>
            <a:endParaRPr lang="en-US" sz="1150" dirty="0"/>
          </a:p>
        </p:txBody>
      </p:sp>
      <p:sp>
        <p:nvSpPr>
          <p:cNvPr id="30" name="rank-bar-8"/>
          <p:cNvSpPr/>
          <p:nvPr/>
        </p:nvSpPr>
        <p:spPr>
          <a:xfrm>
            <a:off x="3675888" y="5911596"/>
            <a:ext cx="345265" cy="137160"/>
          </a:xfrm>
          <a:prstGeom prst="rect">
            <a:avLst/>
          </a:prstGeom>
          <a:solidFill>
            <a:srgbClr val="27496B"/>
          </a:solidFill>
          <a:ln/>
        </p:spPr>
      </p:sp>
      <p:sp>
        <p:nvSpPr>
          <p:cNvPr id="31" name="Text 29"/>
          <p:cNvSpPr txBox="1"/>
          <p:nvPr/>
        </p:nvSpPr>
        <p:spPr>
          <a:xfrm>
            <a:off x="5550408" y="5760720"/>
            <a:ext cx="868680" cy="43891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$71K</a:t>
            </a:r>
            <a:endParaRPr lang="en-US" sz="1200" dirty="0"/>
          </a:p>
        </p:txBody>
      </p:sp>
      <p:sp>
        <p:nvSpPr>
          <p:cNvPr id="32" name="stat-card-Marketplace YT"/>
          <p:cNvSpPr/>
          <p:nvPr/>
        </p:nvSpPr>
        <p:spPr>
          <a:xfrm>
            <a:off x="6766560" y="1572768"/>
            <a:ext cx="4858207" cy="1316736"/>
          </a:xfrm>
          <a:prstGeom prst="roundRect">
            <a:avLst>
              <a:gd name="adj" fmla="val 4167"/>
            </a:avLst>
          </a:prstGeom>
          <a:solidFill>
            <a:srgbClr val="EEF2F7"/>
          </a:solidFill>
          <a:ln/>
        </p:spPr>
      </p:sp>
      <p:sp>
        <p:nvSpPr>
          <p:cNvPr id="33" name="stat-dot"/>
          <p:cNvSpPr/>
          <p:nvPr/>
        </p:nvSpPr>
        <p:spPr>
          <a:xfrm>
            <a:off x="7004304" y="1847088"/>
            <a:ext cx="91440" cy="91440"/>
          </a:xfrm>
          <a:prstGeom prst="ellipse">
            <a:avLst/>
          </a:prstGeom>
          <a:solidFill>
            <a:srgbClr val="F2A900"/>
          </a:solidFill>
          <a:ln/>
        </p:spPr>
      </p:sp>
      <p:sp>
        <p:nvSpPr>
          <p:cNvPr id="34" name="Text 32"/>
          <p:cNvSpPr txBox="1"/>
          <p:nvPr/>
        </p:nvSpPr>
        <p:spPr>
          <a:xfrm>
            <a:off x="7187184" y="1746504"/>
            <a:ext cx="42181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MARKETPLACE YTD</a:t>
            </a:r>
            <a:endParaRPr lang="en-US" sz="1000" dirty="0"/>
          </a:p>
        </p:txBody>
      </p:sp>
      <p:sp>
        <p:nvSpPr>
          <p:cNvPr id="35" name="Text 33"/>
          <p:cNvSpPr txBox="1"/>
          <p:nvPr/>
        </p:nvSpPr>
        <p:spPr>
          <a:xfrm>
            <a:off x="7004304" y="2029968"/>
            <a:ext cx="44010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$1.82M</a:t>
            </a:r>
            <a:endParaRPr lang="en-US" sz="2800" dirty="0"/>
          </a:p>
        </p:txBody>
      </p:sp>
      <p:sp>
        <p:nvSpPr>
          <p:cNvPr id="36" name="Text 34"/>
          <p:cNvSpPr txBox="1"/>
          <p:nvPr/>
        </p:nvSpPr>
        <p:spPr>
          <a:xfrm>
            <a:off x="7004304" y="2560320"/>
            <a:ext cx="4401007"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70% of total AWS spend</a:t>
            </a:r>
            <a:endParaRPr lang="en-US" sz="1050" dirty="0"/>
          </a:p>
        </p:txBody>
      </p:sp>
      <p:sp>
        <p:nvSpPr>
          <p:cNvPr id="37" name="stat-card-New in Septemb"/>
          <p:cNvSpPr/>
          <p:nvPr/>
        </p:nvSpPr>
        <p:spPr>
          <a:xfrm>
            <a:off x="6766560" y="3035808"/>
            <a:ext cx="4858207" cy="1316736"/>
          </a:xfrm>
          <a:prstGeom prst="roundRect">
            <a:avLst>
              <a:gd name="adj" fmla="val 4167"/>
            </a:avLst>
          </a:prstGeom>
          <a:solidFill>
            <a:srgbClr val="EEF2F7"/>
          </a:solidFill>
          <a:ln/>
        </p:spPr>
      </p:sp>
      <p:sp>
        <p:nvSpPr>
          <p:cNvPr id="38" name="stat-dot"/>
          <p:cNvSpPr/>
          <p:nvPr/>
        </p:nvSpPr>
        <p:spPr>
          <a:xfrm>
            <a:off x="7004304" y="3310128"/>
            <a:ext cx="91440" cy="91440"/>
          </a:xfrm>
          <a:prstGeom prst="ellipse">
            <a:avLst/>
          </a:prstGeom>
          <a:solidFill>
            <a:srgbClr val="7C5CFF"/>
          </a:solidFill>
          <a:ln/>
        </p:spPr>
      </p:sp>
      <p:sp>
        <p:nvSpPr>
          <p:cNvPr id="39" name="Text 37"/>
          <p:cNvSpPr txBox="1"/>
          <p:nvPr/>
        </p:nvSpPr>
        <p:spPr>
          <a:xfrm>
            <a:off x="7187184" y="3209544"/>
            <a:ext cx="42181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NEW IN SEPTEMBER</a:t>
            </a:r>
            <a:endParaRPr lang="en-US" sz="1000" dirty="0"/>
          </a:p>
        </p:txBody>
      </p:sp>
      <p:sp>
        <p:nvSpPr>
          <p:cNvPr id="40" name="Text 38"/>
          <p:cNvSpPr txBox="1"/>
          <p:nvPr/>
        </p:nvSpPr>
        <p:spPr>
          <a:xfrm>
            <a:off x="7004304" y="3493008"/>
            <a:ext cx="44010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$158K</a:t>
            </a:r>
            <a:endParaRPr lang="en-US" sz="2800" dirty="0"/>
          </a:p>
        </p:txBody>
      </p:sp>
      <p:sp>
        <p:nvSpPr>
          <p:cNvPr id="41" name="Text 39"/>
          <p:cNvSpPr txBox="1"/>
          <p:nvPr/>
        </p:nvSpPr>
        <p:spPr>
          <a:xfrm>
            <a:off x="7004304" y="4023360"/>
            <a:ext cx="4401007"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JFrog Software Supply Chain</a:t>
            </a:r>
            <a:endParaRPr lang="en-US" sz="1050" dirty="0"/>
          </a:p>
        </p:txBody>
      </p:sp>
      <p:sp>
        <p:nvSpPr>
          <p:cNvPr id="42" name="stat-card-Is security to"/>
          <p:cNvSpPr/>
          <p:nvPr/>
        </p:nvSpPr>
        <p:spPr>
          <a:xfrm>
            <a:off x="6766560" y="4498848"/>
            <a:ext cx="4858207" cy="1316736"/>
          </a:xfrm>
          <a:prstGeom prst="roundRect">
            <a:avLst>
              <a:gd name="adj" fmla="val 4167"/>
            </a:avLst>
          </a:prstGeom>
          <a:solidFill>
            <a:srgbClr val="EEF2F7"/>
          </a:solidFill>
          <a:ln/>
        </p:spPr>
      </p:sp>
      <p:sp>
        <p:nvSpPr>
          <p:cNvPr id="43" name="stat-dot"/>
          <p:cNvSpPr/>
          <p:nvPr/>
        </p:nvSpPr>
        <p:spPr>
          <a:xfrm>
            <a:off x="7004304" y="4773168"/>
            <a:ext cx="91440" cy="91440"/>
          </a:xfrm>
          <a:prstGeom prst="ellipse">
            <a:avLst/>
          </a:prstGeom>
          <a:solidFill>
            <a:srgbClr val="27496B"/>
          </a:solidFill>
          <a:ln/>
        </p:spPr>
      </p:sp>
      <p:sp>
        <p:nvSpPr>
          <p:cNvPr id="44" name="Text 42"/>
          <p:cNvSpPr txBox="1"/>
          <p:nvPr/>
        </p:nvSpPr>
        <p:spPr>
          <a:xfrm>
            <a:off x="7187184" y="4672584"/>
            <a:ext cx="4218127"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IS SECURITY TOOLING</a:t>
            </a:r>
            <a:endParaRPr lang="en-US" sz="1000" dirty="0"/>
          </a:p>
        </p:txBody>
      </p:sp>
      <p:sp>
        <p:nvSpPr>
          <p:cNvPr id="45" name="Text 43"/>
          <p:cNvSpPr txBox="1"/>
          <p:nvPr/>
        </p:nvSpPr>
        <p:spPr>
          <a:xfrm>
            <a:off x="7004304" y="4956048"/>
            <a:ext cx="4401007" cy="548640"/>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72%</a:t>
            </a:r>
            <a:endParaRPr lang="en-US" sz="2800" dirty="0"/>
          </a:p>
        </p:txBody>
      </p:sp>
      <p:sp>
        <p:nvSpPr>
          <p:cNvPr id="46" name="Text 44"/>
          <p:cNvSpPr txBox="1"/>
          <p:nvPr/>
        </p:nvSpPr>
        <p:spPr>
          <a:xfrm>
            <a:off x="7004304" y="5486400"/>
            <a:ext cx="4401007"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Splunk, TrendAI, CrowdStrike, F5,</a:t>
            </a:r>
            <a:endParaRPr lang="en-US" sz="1050" dirty="0"/>
          </a:p>
          <a:p>
            <a:pPr algn="l" indent="0" marL="0">
              <a:buNone/>
            </a:pPr>
            <a:r>
              <a:rPr lang="en-US" sz="1050" dirty="0">
                <a:solidFill>
                  <a:srgbClr val="5B6B7E"/>
                </a:solidFill>
                <a:latin typeface="Arial" pitchFamily="34" charset="0"/>
                <a:ea typeface="Arial" pitchFamily="34" charset="-122"/>
                <a:cs typeface="Arial" pitchFamily="34" charset="-120"/>
              </a:rPr>
              <a:t>Trellix, Cortex, Fortinet</a:t>
            </a:r>
            <a:endParaRPr lang="en-US" sz="1050" dirty="0"/>
          </a:p>
        </p:txBody>
      </p:sp>
      <p:sp>
        <p:nvSpPr>
          <p:cNvPr id="47"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Marketplace charges are billed as contracts, mostly annual, so monthly comparison is not meaningful.</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0F7DC2"/>
                </a:solidFill>
                <a:latin typeface="Cambria" pitchFamily="34" charset="0"/>
                <a:ea typeface="Cambria" pitchFamily="34" charset="-122"/>
                <a:cs typeface="Cambria" pitchFamily="34" charset="-120"/>
              </a:rPr>
              <a:t>04</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Microsoft Azure</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$2.05M year to date — the largest metered estate, growing every month since February, and the home of the Databricks commitment.</a:t>
            </a:r>
            <a:endParaRPr lang="en-US" sz="1500" dirty="0"/>
          </a:p>
        </p:txBody>
      </p:sp>
      <p:pic>
        <p:nvPicPr>
          <p:cNvPr id="5" name="Image 0" descr="/tmp/claude-0/-home-user-Finops/a0c4678f-b3c9-5fb7-b436-dff734416b7d/scratchpad/assets/azure.png">    </p:cNvPr>
          <p:cNvPicPr>
            <a:picLocks noChangeAspect="1"/>
          </p:cNvPicPr>
          <p:nvPr/>
        </p:nvPicPr>
        <p:blipFill>
          <a:blip r:embed="rId1"/>
          <a:stretch>
            <a:fillRect/>
          </a:stretch>
        </p:blipFill>
        <p:spPr>
          <a:xfrm>
            <a:off x="9692640" y="2011680"/>
            <a:ext cx="1737360" cy="969264"/>
          </a:xfrm>
          <a:prstGeom prst="rect">
            <a:avLst/>
          </a:prstGeom>
        </p:spPr>
      </p:pic>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AZURE OVERVIEW</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Azure has grown every month since February — up 26% on January</a:t>
            </a:r>
            <a:endParaRPr lang="en-US" sz="2800" dirty="0"/>
          </a:p>
        </p:txBody>
      </p:sp>
      <p:sp>
        <p:nvSpPr>
          <p:cNvPr id="5" name="stat-card-Consumption YT"/>
          <p:cNvSpPr/>
          <p:nvPr/>
        </p:nvSpPr>
        <p:spPr>
          <a:xfrm>
            <a:off x="566928" y="1572768"/>
            <a:ext cx="3533546" cy="1481328"/>
          </a:xfrm>
          <a:prstGeom prst="roundRect">
            <a:avLst>
              <a:gd name="adj" fmla="val 3704"/>
            </a:avLst>
          </a:prstGeom>
          <a:solidFill>
            <a:srgbClr val="EEF2F7"/>
          </a:solidFill>
          <a:ln/>
        </p:spPr>
      </p:sp>
      <p:sp>
        <p:nvSpPr>
          <p:cNvPr id="6" name="stat-dot"/>
          <p:cNvSpPr/>
          <p:nvPr/>
        </p:nvSpPr>
        <p:spPr>
          <a:xfrm>
            <a:off x="804672" y="1847088"/>
            <a:ext cx="91440" cy="91440"/>
          </a:xfrm>
          <a:prstGeom prst="ellipse">
            <a:avLst/>
          </a:prstGeom>
          <a:solidFill>
            <a:srgbClr val="0F7DC2"/>
          </a:solidFill>
          <a:ln/>
        </p:spPr>
      </p:sp>
      <p:sp>
        <p:nvSpPr>
          <p:cNvPr id="7" name="Text 5"/>
          <p:cNvSpPr txBox="1"/>
          <p:nvPr/>
        </p:nvSpPr>
        <p:spPr>
          <a:xfrm>
            <a:off x="987552"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CONSUMPTION YTD</a:t>
            </a:r>
            <a:endParaRPr lang="en-US" sz="1000" dirty="0"/>
          </a:p>
        </p:txBody>
      </p:sp>
      <p:sp>
        <p:nvSpPr>
          <p:cNvPr id="8" name="Text 6"/>
          <p:cNvSpPr txBox="1"/>
          <p:nvPr/>
        </p:nvSpPr>
        <p:spPr>
          <a:xfrm>
            <a:off x="804672"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$1.51M</a:t>
            </a:r>
            <a:endParaRPr lang="en-US" sz="3400" dirty="0"/>
          </a:p>
        </p:txBody>
      </p:sp>
      <p:sp>
        <p:nvSpPr>
          <p:cNvPr id="9" name="Text 7"/>
          <p:cNvSpPr txBox="1"/>
          <p:nvPr/>
        </p:nvSpPr>
        <p:spPr>
          <a:xfrm>
            <a:off x="804672"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$167K average per month</a:t>
            </a:r>
            <a:endParaRPr lang="en-US" sz="1100" dirty="0"/>
          </a:p>
        </p:txBody>
      </p:sp>
      <p:sp>
        <p:nvSpPr>
          <p:cNvPr id="10" name="stat-card-September"/>
          <p:cNvSpPr/>
          <p:nvPr/>
        </p:nvSpPr>
        <p:spPr>
          <a:xfrm>
            <a:off x="4329074" y="1572768"/>
            <a:ext cx="3533546" cy="1481328"/>
          </a:xfrm>
          <a:prstGeom prst="roundRect">
            <a:avLst>
              <a:gd name="adj" fmla="val 3704"/>
            </a:avLst>
          </a:prstGeom>
          <a:solidFill>
            <a:srgbClr val="EEF2F7"/>
          </a:solidFill>
          <a:ln/>
        </p:spPr>
      </p:sp>
      <p:sp>
        <p:nvSpPr>
          <p:cNvPr id="11" name="stat-dot"/>
          <p:cNvSpPr/>
          <p:nvPr/>
        </p:nvSpPr>
        <p:spPr>
          <a:xfrm>
            <a:off x="4566818" y="1847088"/>
            <a:ext cx="91440" cy="91440"/>
          </a:xfrm>
          <a:prstGeom prst="ellipse">
            <a:avLst/>
          </a:prstGeom>
          <a:solidFill>
            <a:srgbClr val="F2A900"/>
          </a:solidFill>
          <a:ln/>
        </p:spPr>
      </p:sp>
      <p:sp>
        <p:nvSpPr>
          <p:cNvPr id="12" name="Text 10"/>
          <p:cNvSpPr txBox="1"/>
          <p:nvPr/>
        </p:nvSpPr>
        <p:spPr>
          <a:xfrm>
            <a:off x="4749698"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SEPTEMBER</a:t>
            </a:r>
            <a:endParaRPr lang="en-US" sz="1000" dirty="0"/>
          </a:p>
        </p:txBody>
      </p:sp>
      <p:sp>
        <p:nvSpPr>
          <p:cNvPr id="13" name="Text 11"/>
          <p:cNvSpPr txBox="1"/>
          <p:nvPr/>
        </p:nvSpPr>
        <p:spPr>
          <a:xfrm>
            <a:off x="4566818"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$198K</a:t>
            </a:r>
            <a:endParaRPr lang="en-US" sz="3400" dirty="0"/>
          </a:p>
        </p:txBody>
      </p:sp>
      <p:sp>
        <p:nvSpPr>
          <p:cNvPr id="14" name="Text 12"/>
          <p:cNvSpPr txBox="1"/>
          <p:nvPr/>
        </p:nvSpPr>
        <p:spPr>
          <a:xfrm>
            <a:off x="4566818"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Highest month of the year</a:t>
            </a:r>
            <a:endParaRPr lang="en-US" sz="1100" dirty="0"/>
          </a:p>
        </p:txBody>
      </p:sp>
      <p:sp>
        <p:nvSpPr>
          <p:cNvPr id="15" name="stat-card-Marketplace YT"/>
          <p:cNvSpPr/>
          <p:nvPr/>
        </p:nvSpPr>
        <p:spPr>
          <a:xfrm>
            <a:off x="8091221" y="1572768"/>
            <a:ext cx="3533546" cy="1481328"/>
          </a:xfrm>
          <a:prstGeom prst="roundRect">
            <a:avLst>
              <a:gd name="adj" fmla="val 3704"/>
            </a:avLst>
          </a:prstGeom>
          <a:solidFill>
            <a:srgbClr val="EEF2F7"/>
          </a:solidFill>
          <a:ln/>
        </p:spPr>
      </p:sp>
      <p:sp>
        <p:nvSpPr>
          <p:cNvPr id="16" name="stat-dot"/>
          <p:cNvSpPr/>
          <p:nvPr/>
        </p:nvSpPr>
        <p:spPr>
          <a:xfrm>
            <a:off x="8328965" y="1847088"/>
            <a:ext cx="91440" cy="91440"/>
          </a:xfrm>
          <a:prstGeom prst="ellipse">
            <a:avLst/>
          </a:prstGeom>
          <a:solidFill>
            <a:srgbClr val="7C5CFF"/>
          </a:solidFill>
          <a:ln/>
        </p:spPr>
      </p:sp>
      <p:sp>
        <p:nvSpPr>
          <p:cNvPr id="17" name="Text 15"/>
          <p:cNvSpPr txBox="1"/>
          <p:nvPr/>
        </p:nvSpPr>
        <p:spPr>
          <a:xfrm>
            <a:off x="8511845" y="1746504"/>
            <a:ext cx="2893466"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MARKETPLACE YTD</a:t>
            </a:r>
            <a:endParaRPr lang="en-US" sz="1000" dirty="0"/>
          </a:p>
        </p:txBody>
      </p:sp>
      <p:sp>
        <p:nvSpPr>
          <p:cNvPr id="18" name="Text 16"/>
          <p:cNvSpPr txBox="1"/>
          <p:nvPr/>
        </p:nvSpPr>
        <p:spPr>
          <a:xfrm>
            <a:off x="8328965" y="2029968"/>
            <a:ext cx="3076346" cy="603504"/>
          </a:xfrm>
          <a:prstGeom prst="rect">
            <a:avLst/>
          </a:prstGeom>
          <a:noFill/>
          <a:ln/>
        </p:spPr>
        <p:txBody>
          <a:bodyPr wrap="square" lIns="0" tIns="0" rIns="0" bIns="0" rtlCol="0" anchor="ctr"/>
          <a:lstStyle/>
          <a:p>
            <a:pPr algn="l" indent="0" marL="0">
              <a:buNone/>
            </a:pPr>
            <a:r>
              <a:rPr lang="en-US" sz="3400" b="1" dirty="0">
                <a:solidFill>
                  <a:srgbClr val="0B1B2E"/>
                </a:solidFill>
                <a:latin typeface="Arial" pitchFamily="34" charset="0"/>
                <a:ea typeface="Arial" pitchFamily="34" charset="-122"/>
                <a:cs typeface="Arial" pitchFamily="34" charset="-120"/>
              </a:rPr>
              <a:t>$542K</a:t>
            </a:r>
            <a:endParaRPr lang="en-US" sz="3400" dirty="0"/>
          </a:p>
        </p:txBody>
      </p:sp>
      <p:sp>
        <p:nvSpPr>
          <p:cNvPr id="19" name="Text 17"/>
          <p:cNvSpPr txBox="1"/>
          <p:nvPr/>
        </p:nvSpPr>
        <p:spPr>
          <a:xfrm>
            <a:off x="8328965" y="2615184"/>
            <a:ext cx="3076346" cy="36576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93% of it is Databricks</a:t>
            </a:r>
            <a:endParaRPr lang="en-US" sz="1100" dirty="0"/>
          </a:p>
        </p:txBody>
      </p:sp>
      <p:sp>
        <p:nvSpPr>
          <p:cNvPr id="20" name="Text 18"/>
          <p:cNvSpPr txBox="1"/>
          <p:nvPr/>
        </p:nvSpPr>
        <p:spPr>
          <a:xfrm>
            <a:off x="566928" y="3310128"/>
            <a:ext cx="640080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Monthly consumption  ($K)</a:t>
            </a:r>
            <a:endParaRPr lang="en-US" sz="1300" dirty="0"/>
          </a:p>
        </p:txBody>
      </p:sp>
      <p:graphicFrame>
        <p:nvGraphicFramePr>
          <p:cNvPr id="21" name="Chart 0" descr=""/>
          <p:cNvGraphicFramePr/>
          <p:nvPr/>
        </p:nvGraphicFramePr>
        <p:xfrm>
          <a:off x="457200" y="3621024"/>
          <a:ext cx="6858000" cy="2286000"/>
        </p:xfrm>
        <a:graphic xmlns:a="http://schemas.openxmlformats.org/drawingml/2006/main">
          <a:graphicData uri="http://schemas.openxmlformats.org/drawingml/2006/chart">
            <c:chart xmlns:c="http://schemas.openxmlformats.org/drawingml/2006/chart" r:id="rId1"/>
          </a:graphicData>
        </a:graphic>
      </p:graphicFrame>
      <p:sp>
        <p:nvSpPr>
          <p:cNvPr id="22" name="panel"/>
          <p:cNvSpPr/>
          <p:nvPr/>
        </p:nvSpPr>
        <p:spPr>
          <a:xfrm>
            <a:off x="7699248" y="3310128"/>
            <a:ext cx="3925519" cy="2596896"/>
          </a:xfrm>
          <a:prstGeom prst="roundRect">
            <a:avLst>
              <a:gd name="adj" fmla="val 2113"/>
            </a:avLst>
          </a:prstGeom>
          <a:solidFill>
            <a:srgbClr val="EEF2F7"/>
          </a:solidFill>
          <a:ln/>
        </p:spPr>
      </p:sp>
      <p:sp>
        <p:nvSpPr>
          <p:cNvPr id="23" name="Text 20"/>
          <p:cNvSpPr txBox="1"/>
          <p:nvPr/>
        </p:nvSpPr>
        <p:spPr>
          <a:xfrm>
            <a:off x="7991856" y="3493008"/>
            <a:ext cx="329184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What is driving it</a:t>
            </a:r>
            <a:endParaRPr lang="en-US" sz="1300" dirty="0"/>
          </a:p>
        </p:txBody>
      </p:sp>
      <p:sp>
        <p:nvSpPr>
          <p:cNvPr id="24" name="drv-dot-0"/>
          <p:cNvSpPr/>
          <p:nvPr/>
        </p:nvSpPr>
        <p:spPr>
          <a:xfrm>
            <a:off x="7991856" y="3931920"/>
            <a:ext cx="91440" cy="91440"/>
          </a:xfrm>
          <a:prstGeom prst="ellipse">
            <a:avLst/>
          </a:prstGeom>
          <a:solidFill>
            <a:srgbClr val="7C5CFF"/>
          </a:solidFill>
          <a:ln/>
        </p:spPr>
      </p:sp>
      <p:sp>
        <p:nvSpPr>
          <p:cNvPr id="25" name="Text 22"/>
          <p:cNvSpPr txBox="1"/>
          <p:nvPr/>
        </p:nvSpPr>
        <p:spPr>
          <a:xfrm>
            <a:off x="8174736" y="3840480"/>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AI Factory</a:t>
            </a:r>
            <a:endParaRPr lang="en-US" sz="1200" dirty="0"/>
          </a:p>
        </p:txBody>
      </p:sp>
      <p:sp>
        <p:nvSpPr>
          <p:cNvPr id="26" name="Text 23"/>
          <p:cNvSpPr txBox="1"/>
          <p:nvPr/>
        </p:nvSpPr>
        <p:spPr>
          <a:xfrm>
            <a:off x="8174736" y="4096512"/>
            <a:ext cx="3017520" cy="47548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$0.9K → $27.4K a month. The single biggest change.</a:t>
            </a:r>
            <a:endParaRPr lang="en-US" sz="1050" dirty="0"/>
          </a:p>
        </p:txBody>
      </p:sp>
      <p:sp>
        <p:nvSpPr>
          <p:cNvPr id="27" name="drv-dot-1"/>
          <p:cNvSpPr/>
          <p:nvPr/>
        </p:nvSpPr>
        <p:spPr>
          <a:xfrm>
            <a:off x="7991856" y="4626864"/>
            <a:ext cx="91440" cy="91440"/>
          </a:xfrm>
          <a:prstGeom prst="ellipse">
            <a:avLst/>
          </a:prstGeom>
          <a:solidFill>
            <a:srgbClr val="7C5CFF"/>
          </a:solidFill>
          <a:ln/>
        </p:spPr>
      </p:sp>
      <p:sp>
        <p:nvSpPr>
          <p:cNvPr id="28" name="Text 25"/>
          <p:cNvSpPr txBox="1"/>
          <p:nvPr/>
        </p:nvSpPr>
        <p:spPr>
          <a:xfrm>
            <a:off x="8174736" y="4535424"/>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GitHub</a:t>
            </a:r>
            <a:endParaRPr lang="en-US" sz="1200" dirty="0"/>
          </a:p>
        </p:txBody>
      </p:sp>
      <p:sp>
        <p:nvSpPr>
          <p:cNvPr id="29" name="Text 26"/>
          <p:cNvSpPr txBox="1"/>
          <p:nvPr/>
        </p:nvSpPr>
        <p:spPr>
          <a:xfrm>
            <a:off x="8174736" y="4791456"/>
            <a:ext cx="3017520" cy="47548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$6.5K → $28.4K since May, licences and AI credit.</a:t>
            </a:r>
            <a:endParaRPr lang="en-US" sz="1050" dirty="0"/>
          </a:p>
        </p:txBody>
      </p:sp>
      <p:sp>
        <p:nvSpPr>
          <p:cNvPr id="30" name="drv-dot-2"/>
          <p:cNvSpPr/>
          <p:nvPr/>
        </p:nvSpPr>
        <p:spPr>
          <a:xfrm>
            <a:off x="7991856" y="5321808"/>
            <a:ext cx="91440" cy="91440"/>
          </a:xfrm>
          <a:prstGeom prst="ellipse">
            <a:avLst/>
          </a:prstGeom>
          <a:solidFill>
            <a:srgbClr val="F2A900"/>
          </a:solidFill>
          <a:ln/>
        </p:spPr>
      </p:sp>
      <p:sp>
        <p:nvSpPr>
          <p:cNvPr id="31" name="Text 28"/>
          <p:cNvSpPr txBox="1"/>
          <p:nvPr/>
        </p:nvSpPr>
        <p:spPr>
          <a:xfrm>
            <a:off x="8174736" y="5230368"/>
            <a:ext cx="3017520" cy="256032"/>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CloudOps</a:t>
            </a:r>
            <a:endParaRPr lang="en-US" sz="1200" dirty="0"/>
          </a:p>
        </p:txBody>
      </p:sp>
      <p:sp>
        <p:nvSpPr>
          <p:cNvPr id="32" name="Text 29"/>
          <p:cNvSpPr txBox="1"/>
          <p:nvPr/>
        </p:nvSpPr>
        <p:spPr>
          <a:xfrm>
            <a:off x="8174736" y="5486400"/>
            <a:ext cx="3017520" cy="475488"/>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$0.3K → $11.3K from July — new workloads landed.</a:t>
            </a:r>
            <a:endParaRPr lang="en-US" sz="1050" dirty="0"/>
          </a:p>
        </p:txBody>
      </p:sp>
      <p:sp>
        <p:nvSpPr>
          <p:cNvPr id="3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Consumption excludes Marketplace. The three classic cost centres — DataCloud, SAP and CloudIT — were flat to down.</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AZURE BY COST CENTRE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Three cost centres hold 73% of Azure — AI Factory is the mover</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51199" cy="4114800"/>
          </a:xfrm>
          <a:prstGeom prst="roundRect">
            <a:avLst>
              <a:gd name="adj" fmla="val 1503"/>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cost centre</a:t>
            </a:r>
            <a:endParaRPr lang="en-US" sz="1300" dirty="0"/>
          </a:p>
        </p:txBody>
      </p:sp>
      <p:sp>
        <p:nvSpPr>
          <p:cNvPr id="8" name="Text 5"/>
          <p:cNvSpPr txBox="1"/>
          <p:nvPr/>
        </p:nvSpPr>
        <p:spPr>
          <a:xfrm>
            <a:off x="8229600" y="2103120"/>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DataCloud</a:t>
            </a:r>
            <a:endParaRPr lang="en-US" sz="1000" dirty="0"/>
          </a:p>
        </p:txBody>
      </p:sp>
      <p:sp>
        <p:nvSpPr>
          <p:cNvPr id="9" name="rank-bar-0"/>
          <p:cNvSpPr/>
          <p:nvPr/>
        </p:nvSpPr>
        <p:spPr>
          <a:xfrm>
            <a:off x="9893808" y="2189988"/>
            <a:ext cx="658368" cy="137160"/>
          </a:xfrm>
          <a:prstGeom prst="rect">
            <a:avLst/>
          </a:prstGeom>
          <a:solidFill>
            <a:srgbClr val="0F7DC2"/>
          </a:solidFill>
          <a:ln/>
        </p:spPr>
      </p:sp>
      <p:sp>
        <p:nvSpPr>
          <p:cNvPr id="10" name="Text 7"/>
          <p:cNvSpPr txBox="1"/>
          <p:nvPr/>
        </p:nvSpPr>
        <p:spPr>
          <a:xfrm>
            <a:off x="10643616" y="210312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$437K</a:t>
            </a:r>
            <a:endParaRPr lang="en-US" sz="1050" dirty="0"/>
          </a:p>
        </p:txBody>
      </p:sp>
      <p:sp>
        <p:nvSpPr>
          <p:cNvPr id="11" name="Text 8"/>
          <p:cNvSpPr txBox="1"/>
          <p:nvPr/>
        </p:nvSpPr>
        <p:spPr>
          <a:xfrm>
            <a:off x="8229600" y="2487168"/>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SAP</a:t>
            </a:r>
            <a:endParaRPr lang="en-US" sz="1000" dirty="0"/>
          </a:p>
        </p:txBody>
      </p:sp>
      <p:sp>
        <p:nvSpPr>
          <p:cNvPr id="12" name="rank-bar-1"/>
          <p:cNvSpPr/>
          <p:nvPr/>
        </p:nvSpPr>
        <p:spPr>
          <a:xfrm>
            <a:off x="9893808" y="2574036"/>
            <a:ext cx="567058" cy="137160"/>
          </a:xfrm>
          <a:prstGeom prst="rect">
            <a:avLst/>
          </a:prstGeom>
          <a:solidFill>
            <a:srgbClr val="27496B"/>
          </a:solidFill>
          <a:ln/>
        </p:spPr>
      </p:sp>
      <p:sp>
        <p:nvSpPr>
          <p:cNvPr id="13" name="Text 10"/>
          <p:cNvSpPr txBox="1"/>
          <p:nvPr/>
        </p:nvSpPr>
        <p:spPr>
          <a:xfrm>
            <a:off x="10643616" y="248716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$377K</a:t>
            </a:r>
            <a:endParaRPr lang="en-US" sz="1050" dirty="0"/>
          </a:p>
        </p:txBody>
      </p:sp>
      <p:sp>
        <p:nvSpPr>
          <p:cNvPr id="14" name="Text 11"/>
          <p:cNvSpPr txBox="1"/>
          <p:nvPr/>
        </p:nvSpPr>
        <p:spPr>
          <a:xfrm>
            <a:off x="8229600" y="2871216"/>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CloudIT</a:t>
            </a:r>
            <a:endParaRPr lang="en-US" sz="1000" dirty="0"/>
          </a:p>
        </p:txBody>
      </p:sp>
      <p:sp>
        <p:nvSpPr>
          <p:cNvPr id="15" name="rank-bar-2"/>
          <p:cNvSpPr/>
          <p:nvPr/>
        </p:nvSpPr>
        <p:spPr>
          <a:xfrm>
            <a:off x="9893808" y="2958084"/>
            <a:ext cx="421839" cy="137160"/>
          </a:xfrm>
          <a:prstGeom prst="rect">
            <a:avLst/>
          </a:prstGeom>
          <a:solidFill>
            <a:srgbClr val="00A878"/>
          </a:solidFill>
          <a:ln/>
        </p:spPr>
      </p:sp>
      <p:sp>
        <p:nvSpPr>
          <p:cNvPr id="16" name="Text 13"/>
          <p:cNvSpPr txBox="1"/>
          <p:nvPr/>
        </p:nvSpPr>
        <p:spPr>
          <a:xfrm>
            <a:off x="10643616" y="287121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$280K</a:t>
            </a:r>
            <a:endParaRPr lang="en-US" sz="1050" dirty="0"/>
          </a:p>
        </p:txBody>
      </p:sp>
      <p:sp>
        <p:nvSpPr>
          <p:cNvPr id="17" name="Text 14"/>
          <p:cNvSpPr txBox="1"/>
          <p:nvPr/>
        </p:nvSpPr>
        <p:spPr>
          <a:xfrm>
            <a:off x="8229600" y="3255264"/>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AI Factory</a:t>
            </a:r>
            <a:endParaRPr lang="en-US" sz="1000" dirty="0"/>
          </a:p>
        </p:txBody>
      </p:sp>
      <p:sp>
        <p:nvSpPr>
          <p:cNvPr id="18" name="rank-bar-3"/>
          <p:cNvSpPr/>
          <p:nvPr/>
        </p:nvSpPr>
        <p:spPr>
          <a:xfrm>
            <a:off x="9893808" y="3342132"/>
            <a:ext cx="216577" cy="137160"/>
          </a:xfrm>
          <a:prstGeom prst="rect">
            <a:avLst/>
          </a:prstGeom>
          <a:solidFill>
            <a:srgbClr val="7C5CFF"/>
          </a:solidFill>
          <a:ln/>
        </p:spPr>
      </p:sp>
      <p:sp>
        <p:nvSpPr>
          <p:cNvPr id="19" name="Text 16"/>
          <p:cNvSpPr txBox="1"/>
          <p:nvPr/>
        </p:nvSpPr>
        <p:spPr>
          <a:xfrm>
            <a:off x="10643616" y="3255264"/>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$144K</a:t>
            </a:r>
            <a:endParaRPr lang="en-US" sz="1050" dirty="0"/>
          </a:p>
        </p:txBody>
      </p:sp>
      <p:sp>
        <p:nvSpPr>
          <p:cNvPr id="20" name="Text 17"/>
          <p:cNvSpPr txBox="1"/>
          <p:nvPr/>
        </p:nvSpPr>
        <p:spPr>
          <a:xfrm>
            <a:off x="8229600" y="3639312"/>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Other</a:t>
            </a:r>
            <a:endParaRPr lang="en-US" sz="1000" dirty="0"/>
          </a:p>
        </p:txBody>
      </p:sp>
      <p:sp>
        <p:nvSpPr>
          <p:cNvPr id="21" name="rank-bar-4"/>
          <p:cNvSpPr/>
          <p:nvPr/>
        </p:nvSpPr>
        <p:spPr>
          <a:xfrm>
            <a:off x="9893808" y="3726180"/>
            <a:ext cx="187624" cy="137160"/>
          </a:xfrm>
          <a:prstGeom prst="rect">
            <a:avLst/>
          </a:prstGeom>
          <a:solidFill>
            <a:srgbClr val="9FB3C8"/>
          </a:solidFill>
          <a:ln/>
        </p:spPr>
      </p:sp>
      <p:sp>
        <p:nvSpPr>
          <p:cNvPr id="22" name="Text 19"/>
          <p:cNvSpPr txBox="1"/>
          <p:nvPr/>
        </p:nvSpPr>
        <p:spPr>
          <a:xfrm>
            <a:off x="10643616" y="3639312"/>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$125K</a:t>
            </a:r>
            <a:endParaRPr lang="en-US" sz="1050" dirty="0"/>
          </a:p>
        </p:txBody>
      </p:sp>
      <p:sp>
        <p:nvSpPr>
          <p:cNvPr id="23" name="Text 20"/>
          <p:cNvSpPr txBox="1"/>
          <p:nvPr/>
        </p:nvSpPr>
        <p:spPr>
          <a:xfrm>
            <a:off x="8229600" y="4023360"/>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Actuary</a:t>
            </a:r>
            <a:endParaRPr lang="en-US" sz="1000" dirty="0"/>
          </a:p>
        </p:txBody>
      </p:sp>
      <p:sp>
        <p:nvSpPr>
          <p:cNvPr id="24" name="rank-bar-5"/>
          <p:cNvSpPr/>
          <p:nvPr/>
        </p:nvSpPr>
        <p:spPr>
          <a:xfrm>
            <a:off x="9893808" y="4110228"/>
            <a:ext cx="74257" cy="137160"/>
          </a:xfrm>
          <a:prstGeom prst="rect">
            <a:avLst/>
          </a:prstGeom>
          <a:solidFill>
            <a:srgbClr val="C3CDD9"/>
          </a:solidFill>
          <a:ln/>
        </p:spPr>
      </p:sp>
      <p:sp>
        <p:nvSpPr>
          <p:cNvPr id="25" name="Text 22"/>
          <p:cNvSpPr txBox="1"/>
          <p:nvPr/>
        </p:nvSpPr>
        <p:spPr>
          <a:xfrm>
            <a:off x="10643616" y="402336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$49K</a:t>
            </a:r>
            <a:endParaRPr lang="en-US" sz="1050" dirty="0"/>
          </a:p>
        </p:txBody>
      </p:sp>
      <p:sp>
        <p:nvSpPr>
          <p:cNvPr id="26" name="Text 23"/>
          <p:cNvSpPr txBox="1"/>
          <p:nvPr/>
        </p:nvSpPr>
        <p:spPr>
          <a:xfrm>
            <a:off x="8229600" y="4407408"/>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Risk Agility</a:t>
            </a:r>
            <a:endParaRPr lang="en-US" sz="1000" dirty="0"/>
          </a:p>
        </p:txBody>
      </p:sp>
      <p:sp>
        <p:nvSpPr>
          <p:cNvPr id="27" name="rank-bar-6"/>
          <p:cNvSpPr/>
          <p:nvPr/>
        </p:nvSpPr>
        <p:spPr>
          <a:xfrm>
            <a:off x="9893808" y="4494276"/>
            <a:ext cx="50739" cy="137160"/>
          </a:xfrm>
          <a:prstGeom prst="rect">
            <a:avLst/>
          </a:prstGeom>
          <a:solidFill>
            <a:srgbClr val="C3CDD9"/>
          </a:solidFill>
          <a:ln/>
        </p:spPr>
      </p:sp>
      <p:sp>
        <p:nvSpPr>
          <p:cNvPr id="28" name="Text 25"/>
          <p:cNvSpPr txBox="1"/>
          <p:nvPr/>
        </p:nvSpPr>
        <p:spPr>
          <a:xfrm>
            <a:off x="10643616" y="440740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$34K</a:t>
            </a:r>
            <a:endParaRPr lang="en-US" sz="1050" dirty="0"/>
          </a:p>
        </p:txBody>
      </p:sp>
      <p:sp>
        <p:nvSpPr>
          <p:cNvPr id="29" name="Text 26"/>
          <p:cNvSpPr txBox="1"/>
          <p:nvPr/>
        </p:nvSpPr>
        <p:spPr>
          <a:xfrm>
            <a:off x="8229600" y="4791456"/>
            <a:ext cx="1572768"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CloudOps</a:t>
            </a:r>
            <a:endParaRPr lang="en-US" sz="1000" dirty="0"/>
          </a:p>
        </p:txBody>
      </p:sp>
      <p:sp>
        <p:nvSpPr>
          <p:cNvPr id="30" name="rank-bar-7"/>
          <p:cNvSpPr/>
          <p:nvPr/>
        </p:nvSpPr>
        <p:spPr>
          <a:xfrm>
            <a:off x="9893808" y="4878324"/>
            <a:ext cx="44148" cy="137160"/>
          </a:xfrm>
          <a:prstGeom prst="rect">
            <a:avLst/>
          </a:prstGeom>
          <a:solidFill>
            <a:srgbClr val="F2A900"/>
          </a:solidFill>
          <a:ln/>
        </p:spPr>
      </p:sp>
      <p:sp>
        <p:nvSpPr>
          <p:cNvPr id="31" name="Text 28"/>
          <p:cNvSpPr txBox="1"/>
          <p:nvPr/>
        </p:nvSpPr>
        <p:spPr>
          <a:xfrm>
            <a:off x="10643616" y="479145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$29K</a:t>
            </a:r>
            <a:endParaRPr lang="en-US" sz="1050" dirty="0"/>
          </a:p>
        </p:txBody>
      </p:sp>
      <p:sp>
        <p:nvSpPr>
          <p:cNvPr id="32" name="chip"/>
          <p:cNvSpPr/>
          <p:nvPr/>
        </p:nvSpPr>
        <p:spPr>
          <a:xfrm>
            <a:off x="8229600" y="5285232"/>
            <a:ext cx="3145536" cy="310896"/>
          </a:xfrm>
          <a:prstGeom prst="roundRect">
            <a:avLst>
              <a:gd name="adj" fmla="val 35294"/>
            </a:avLst>
          </a:prstGeom>
          <a:solidFill>
            <a:srgbClr val="F3F0FF"/>
          </a:solidFill>
          <a:ln/>
        </p:spPr>
      </p:sp>
      <p:sp>
        <p:nvSpPr>
          <p:cNvPr id="33" name="Text 30"/>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4A33B5"/>
                </a:solidFill>
                <a:latin typeface="Arial" pitchFamily="34" charset="0"/>
                <a:ea typeface="Arial" pitchFamily="34" charset="-122"/>
                <a:cs typeface="Arial" pitchFamily="34" charset="-120"/>
              </a:rPr>
              <a:t>AI Factory: $0.9K → $27.4K a month</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DataCloud, SAP and CloudIT are stable; growth sits in AI Factory, CloudOps and the unallocated "other" bucket.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AZURE BY SERVICE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Core infrastructure is 57% of Azure — and that is the lever</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51199" cy="4114800"/>
          </a:xfrm>
          <a:prstGeom prst="roundRect">
            <a:avLst>
              <a:gd name="adj" fmla="val 1503"/>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service</a:t>
            </a:r>
            <a:endParaRPr lang="en-US" sz="1300" dirty="0"/>
          </a:p>
        </p:txBody>
      </p:sp>
      <p:sp>
        <p:nvSpPr>
          <p:cNvPr id="8" name="Text 5"/>
          <p:cNvSpPr txBox="1"/>
          <p:nvPr/>
        </p:nvSpPr>
        <p:spPr>
          <a:xfrm>
            <a:off x="8229600" y="210312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Virtual Machines</a:t>
            </a:r>
            <a:endParaRPr lang="en-US" sz="1000" dirty="0"/>
          </a:p>
        </p:txBody>
      </p:sp>
      <p:sp>
        <p:nvSpPr>
          <p:cNvPr id="9" name="rank-bar-0"/>
          <p:cNvSpPr/>
          <p:nvPr/>
        </p:nvSpPr>
        <p:spPr>
          <a:xfrm>
            <a:off x="10003536" y="2189988"/>
            <a:ext cx="548640" cy="137160"/>
          </a:xfrm>
          <a:prstGeom prst="rect">
            <a:avLst/>
          </a:prstGeom>
          <a:solidFill>
            <a:srgbClr val="0F7DC2"/>
          </a:solidFill>
          <a:ln/>
        </p:spPr>
      </p:sp>
      <p:sp>
        <p:nvSpPr>
          <p:cNvPr id="10" name="Text 7"/>
          <p:cNvSpPr txBox="1"/>
          <p:nvPr/>
        </p:nvSpPr>
        <p:spPr>
          <a:xfrm>
            <a:off x="10643616" y="210312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$484K</a:t>
            </a:r>
            <a:endParaRPr lang="en-US" sz="1050" dirty="0"/>
          </a:p>
        </p:txBody>
      </p:sp>
      <p:sp>
        <p:nvSpPr>
          <p:cNvPr id="11" name="Text 8"/>
          <p:cNvSpPr txBox="1"/>
          <p:nvPr/>
        </p:nvSpPr>
        <p:spPr>
          <a:xfrm>
            <a:off x="8229600" y="248716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Storage</a:t>
            </a:r>
            <a:endParaRPr lang="en-US" sz="1000" dirty="0"/>
          </a:p>
        </p:txBody>
      </p:sp>
      <p:sp>
        <p:nvSpPr>
          <p:cNvPr id="12" name="rank-bar-1"/>
          <p:cNvSpPr/>
          <p:nvPr/>
        </p:nvSpPr>
        <p:spPr>
          <a:xfrm>
            <a:off x="10003536" y="2574036"/>
            <a:ext cx="254079" cy="137160"/>
          </a:xfrm>
          <a:prstGeom prst="rect">
            <a:avLst/>
          </a:prstGeom>
          <a:solidFill>
            <a:srgbClr val="27496B"/>
          </a:solidFill>
          <a:ln/>
        </p:spPr>
      </p:sp>
      <p:sp>
        <p:nvSpPr>
          <p:cNvPr id="13" name="Text 10"/>
          <p:cNvSpPr txBox="1"/>
          <p:nvPr/>
        </p:nvSpPr>
        <p:spPr>
          <a:xfrm>
            <a:off x="10643616" y="248716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$224K</a:t>
            </a:r>
            <a:endParaRPr lang="en-US" sz="1050" dirty="0"/>
          </a:p>
        </p:txBody>
      </p:sp>
      <p:sp>
        <p:nvSpPr>
          <p:cNvPr id="14" name="Text 11"/>
          <p:cNvSpPr txBox="1"/>
          <p:nvPr/>
        </p:nvSpPr>
        <p:spPr>
          <a:xfrm>
            <a:off x="8229600" y="287121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Virtual Network</a:t>
            </a:r>
            <a:endParaRPr lang="en-US" sz="1000" dirty="0"/>
          </a:p>
        </p:txBody>
      </p:sp>
      <p:sp>
        <p:nvSpPr>
          <p:cNvPr id="15" name="rank-bar-2"/>
          <p:cNvSpPr/>
          <p:nvPr/>
        </p:nvSpPr>
        <p:spPr>
          <a:xfrm>
            <a:off x="10003536" y="2958084"/>
            <a:ext cx="176316" cy="137160"/>
          </a:xfrm>
          <a:prstGeom prst="rect">
            <a:avLst/>
          </a:prstGeom>
          <a:solidFill>
            <a:srgbClr val="00A878"/>
          </a:solidFill>
          <a:ln/>
        </p:spPr>
      </p:sp>
      <p:sp>
        <p:nvSpPr>
          <p:cNvPr id="16" name="Text 13"/>
          <p:cNvSpPr txBox="1"/>
          <p:nvPr/>
        </p:nvSpPr>
        <p:spPr>
          <a:xfrm>
            <a:off x="10643616" y="287121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$156K</a:t>
            </a:r>
            <a:endParaRPr lang="en-US" sz="1050" dirty="0"/>
          </a:p>
        </p:txBody>
      </p:sp>
      <p:sp>
        <p:nvSpPr>
          <p:cNvPr id="17" name="Text 14"/>
          <p:cNvSpPr txBox="1"/>
          <p:nvPr/>
        </p:nvSpPr>
        <p:spPr>
          <a:xfrm>
            <a:off x="8229600" y="3255264"/>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Other services</a:t>
            </a:r>
            <a:endParaRPr lang="en-US" sz="1000" dirty="0"/>
          </a:p>
        </p:txBody>
      </p:sp>
      <p:sp>
        <p:nvSpPr>
          <p:cNvPr id="18" name="rank-bar-3"/>
          <p:cNvSpPr/>
          <p:nvPr/>
        </p:nvSpPr>
        <p:spPr>
          <a:xfrm>
            <a:off x="10003536" y="3342132"/>
            <a:ext cx="142138" cy="137160"/>
          </a:xfrm>
          <a:prstGeom prst="rect">
            <a:avLst/>
          </a:prstGeom>
          <a:solidFill>
            <a:srgbClr val="9FB3C8"/>
          </a:solidFill>
          <a:ln/>
        </p:spPr>
      </p:sp>
      <p:sp>
        <p:nvSpPr>
          <p:cNvPr id="19" name="Text 16"/>
          <p:cNvSpPr txBox="1"/>
          <p:nvPr/>
        </p:nvSpPr>
        <p:spPr>
          <a:xfrm>
            <a:off x="10643616" y="3255264"/>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$125K</a:t>
            </a:r>
            <a:endParaRPr lang="en-US" sz="1050" dirty="0"/>
          </a:p>
        </p:txBody>
      </p:sp>
      <p:sp>
        <p:nvSpPr>
          <p:cNvPr id="20" name="Text 17"/>
          <p:cNvSpPr txBox="1"/>
          <p:nvPr/>
        </p:nvSpPr>
        <p:spPr>
          <a:xfrm>
            <a:off x="8229600" y="3639312"/>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GitHub</a:t>
            </a:r>
            <a:endParaRPr lang="en-US" sz="1000" dirty="0"/>
          </a:p>
        </p:txBody>
      </p:sp>
      <p:sp>
        <p:nvSpPr>
          <p:cNvPr id="21" name="rank-bar-4"/>
          <p:cNvSpPr/>
          <p:nvPr/>
        </p:nvSpPr>
        <p:spPr>
          <a:xfrm>
            <a:off x="10003536" y="3726180"/>
            <a:ext cx="124129" cy="137160"/>
          </a:xfrm>
          <a:prstGeom prst="rect">
            <a:avLst/>
          </a:prstGeom>
          <a:solidFill>
            <a:srgbClr val="7C5CFF"/>
          </a:solidFill>
          <a:ln/>
        </p:spPr>
      </p:sp>
      <p:sp>
        <p:nvSpPr>
          <p:cNvPr id="22" name="Text 19"/>
          <p:cNvSpPr txBox="1"/>
          <p:nvPr/>
        </p:nvSpPr>
        <p:spPr>
          <a:xfrm>
            <a:off x="10643616" y="3639312"/>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$110K</a:t>
            </a:r>
            <a:endParaRPr lang="en-US" sz="1050" dirty="0"/>
          </a:p>
        </p:txBody>
      </p:sp>
      <p:sp>
        <p:nvSpPr>
          <p:cNvPr id="23" name="Text 20"/>
          <p:cNvSpPr txBox="1"/>
          <p:nvPr/>
        </p:nvSpPr>
        <p:spPr>
          <a:xfrm>
            <a:off x="8229600" y="402336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Databricks</a:t>
            </a:r>
            <a:endParaRPr lang="en-US" sz="1000" dirty="0"/>
          </a:p>
        </p:txBody>
      </p:sp>
      <p:sp>
        <p:nvSpPr>
          <p:cNvPr id="24" name="rank-bar-5"/>
          <p:cNvSpPr/>
          <p:nvPr/>
        </p:nvSpPr>
        <p:spPr>
          <a:xfrm>
            <a:off x="10003536" y="4110228"/>
            <a:ext cx="96944" cy="137160"/>
          </a:xfrm>
          <a:prstGeom prst="rect">
            <a:avLst/>
          </a:prstGeom>
          <a:solidFill>
            <a:srgbClr val="F2A900"/>
          </a:solidFill>
          <a:ln/>
        </p:spPr>
      </p:sp>
      <p:sp>
        <p:nvSpPr>
          <p:cNvPr id="25" name="Text 22"/>
          <p:cNvSpPr txBox="1"/>
          <p:nvPr/>
        </p:nvSpPr>
        <p:spPr>
          <a:xfrm>
            <a:off x="10643616" y="402336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$86K</a:t>
            </a:r>
            <a:endParaRPr lang="en-US" sz="1050" dirty="0"/>
          </a:p>
        </p:txBody>
      </p:sp>
      <p:sp>
        <p:nvSpPr>
          <p:cNvPr id="26" name="Text 23"/>
          <p:cNvSpPr txBox="1"/>
          <p:nvPr/>
        </p:nvSpPr>
        <p:spPr>
          <a:xfrm>
            <a:off x="8229600" y="440740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Foundry Models</a:t>
            </a:r>
            <a:endParaRPr lang="en-US" sz="1000" dirty="0"/>
          </a:p>
        </p:txBody>
      </p:sp>
      <p:sp>
        <p:nvSpPr>
          <p:cNvPr id="27" name="rank-bar-6"/>
          <p:cNvSpPr/>
          <p:nvPr/>
        </p:nvSpPr>
        <p:spPr>
          <a:xfrm>
            <a:off x="10003536" y="4494276"/>
            <a:ext cx="86075" cy="137160"/>
          </a:xfrm>
          <a:prstGeom prst="rect">
            <a:avLst/>
          </a:prstGeom>
          <a:solidFill>
            <a:srgbClr val="7C5CFF"/>
          </a:solidFill>
          <a:ln/>
        </p:spPr>
      </p:sp>
      <p:sp>
        <p:nvSpPr>
          <p:cNvPr id="28" name="Text 25"/>
          <p:cNvSpPr txBox="1"/>
          <p:nvPr/>
        </p:nvSpPr>
        <p:spPr>
          <a:xfrm>
            <a:off x="10643616" y="440740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$76K</a:t>
            </a:r>
            <a:endParaRPr lang="en-US" sz="1050" dirty="0"/>
          </a:p>
        </p:txBody>
      </p:sp>
      <p:sp>
        <p:nvSpPr>
          <p:cNvPr id="29" name="Text 26"/>
          <p:cNvSpPr txBox="1"/>
          <p:nvPr/>
        </p:nvSpPr>
        <p:spPr>
          <a:xfrm>
            <a:off x="8229600" y="479145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Foundry Tools</a:t>
            </a:r>
            <a:endParaRPr lang="en-US" sz="1000" dirty="0"/>
          </a:p>
        </p:txBody>
      </p:sp>
      <p:sp>
        <p:nvSpPr>
          <p:cNvPr id="30" name="rank-bar-7"/>
          <p:cNvSpPr/>
          <p:nvPr/>
        </p:nvSpPr>
        <p:spPr>
          <a:xfrm>
            <a:off x="10003536" y="4878324"/>
            <a:ext cx="49715" cy="137160"/>
          </a:xfrm>
          <a:prstGeom prst="rect">
            <a:avLst/>
          </a:prstGeom>
          <a:solidFill>
            <a:srgbClr val="7C5CFF"/>
          </a:solidFill>
          <a:ln/>
        </p:spPr>
      </p:sp>
      <p:sp>
        <p:nvSpPr>
          <p:cNvPr id="31" name="Text 28"/>
          <p:cNvSpPr txBox="1"/>
          <p:nvPr/>
        </p:nvSpPr>
        <p:spPr>
          <a:xfrm>
            <a:off x="10643616" y="479145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$44K</a:t>
            </a:r>
            <a:endParaRPr lang="en-US" sz="1050" dirty="0"/>
          </a:p>
        </p:txBody>
      </p:sp>
      <p:sp>
        <p:nvSpPr>
          <p:cNvPr id="32" name="chip"/>
          <p:cNvSpPr/>
          <p:nvPr/>
        </p:nvSpPr>
        <p:spPr>
          <a:xfrm>
            <a:off x="8229600" y="5285232"/>
            <a:ext cx="3145536" cy="310896"/>
          </a:xfrm>
          <a:prstGeom prst="roundRect">
            <a:avLst>
              <a:gd name="adj" fmla="val 35294"/>
            </a:avLst>
          </a:prstGeom>
          <a:solidFill>
            <a:srgbClr val="E6F1FA"/>
          </a:solidFill>
          <a:ln/>
        </p:spPr>
      </p:sp>
      <p:sp>
        <p:nvSpPr>
          <p:cNvPr id="33" name="Text 30"/>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0A4E7A"/>
                </a:solidFill>
                <a:latin typeface="Arial" pitchFamily="34" charset="0"/>
                <a:ea typeface="Arial" pitchFamily="34" charset="-122"/>
                <a:cs typeface="Arial" pitchFamily="34" charset="-120"/>
              </a:rPr>
              <a:t>VMs alone are 32% of Azure spend</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Virtual Machines, Storage and Virtual Network total $864K — the target for rightsizing, reservations and disk tiering.</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COMPUTE COVERAGE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AWS compute is 93% covered; Azure is only 54%</a:t>
            </a:r>
            <a:endParaRPr lang="en-US" sz="2800" dirty="0"/>
          </a:p>
        </p:txBody>
      </p:sp>
      <p:sp>
        <p:nvSpPr>
          <p:cNvPr id="5" name="cov-0"/>
          <p:cNvSpPr/>
          <p:nvPr/>
        </p:nvSpPr>
        <p:spPr>
          <a:xfrm>
            <a:off x="566928" y="1517904"/>
            <a:ext cx="5385816" cy="4114800"/>
          </a:xfrm>
          <a:prstGeom prst="roundRect">
            <a:avLst>
              <a:gd name="adj" fmla="val 1333"/>
            </a:avLst>
          </a:prstGeom>
          <a:solidFill>
            <a:srgbClr val="EEF2F7"/>
          </a:solidFill>
          <a:ln/>
        </p:spPr>
      </p:sp>
      <p:sp>
        <p:nvSpPr>
          <p:cNvPr id="6" name="Text 4"/>
          <p:cNvSpPr txBox="1"/>
          <p:nvPr/>
        </p:nvSpPr>
        <p:spPr>
          <a:xfrm>
            <a:off x="859536" y="1700784"/>
            <a:ext cx="3931920" cy="310896"/>
          </a:xfrm>
          <a:prstGeom prst="rect">
            <a:avLst/>
          </a:prstGeom>
          <a:noFill/>
          <a:ln/>
        </p:spPr>
        <p:txBody>
          <a:bodyPr wrap="square" lIns="0" tIns="0" rIns="0" bIns="0" rtlCol="0" anchor="ctr"/>
          <a:lstStyle/>
          <a:p>
            <a:pPr algn="l" indent="0" marL="0">
              <a:buNone/>
            </a:pPr>
            <a:r>
              <a:rPr lang="en-US" sz="1350" b="1" dirty="0">
                <a:solidFill>
                  <a:srgbClr val="0B1B2E"/>
                </a:solidFill>
                <a:latin typeface="Arial" pitchFamily="34" charset="0"/>
                <a:ea typeface="Arial" pitchFamily="34" charset="-122"/>
                <a:cs typeface="Arial" pitchFamily="34" charset="-120"/>
              </a:rPr>
              <a:t>AWS — EC2 compute, September</a:t>
            </a:r>
            <a:endParaRPr lang="en-US" sz="1350" dirty="0"/>
          </a:p>
        </p:txBody>
      </p:sp>
      <p:pic>
        <p:nvPicPr>
          <p:cNvPr id="7" name="Image 0" descr="/tmp/claude-0/-home-user-Finops/a0c4678f-b3c9-5fb7-b436-dff734416b7d/scratchpad/assets/aws.png">    </p:cNvPr>
          <p:cNvPicPr>
            <a:picLocks noChangeAspect="1"/>
          </p:cNvPicPr>
          <p:nvPr/>
        </p:nvPicPr>
        <p:blipFill>
          <a:blip r:embed="rId1"/>
          <a:stretch>
            <a:fillRect/>
          </a:stretch>
        </p:blipFill>
        <p:spPr>
          <a:xfrm>
            <a:off x="4745736" y="1664208"/>
            <a:ext cx="914400" cy="557784"/>
          </a:xfrm>
          <a:prstGeom prst="rect">
            <a:avLst/>
          </a:prstGeom>
        </p:spPr>
      </p:pic>
      <p:sp>
        <p:nvSpPr>
          <p:cNvPr id="8" name="cov-seg-0-0"/>
          <p:cNvSpPr/>
          <p:nvPr/>
        </p:nvSpPr>
        <p:spPr>
          <a:xfrm>
            <a:off x="859536" y="2340864"/>
            <a:ext cx="2352294" cy="402336"/>
          </a:xfrm>
          <a:prstGeom prst="rect">
            <a:avLst/>
          </a:prstGeom>
          <a:solidFill>
            <a:srgbClr val="00A878"/>
          </a:solidFill>
          <a:ln/>
        </p:spPr>
      </p:sp>
      <p:sp>
        <p:nvSpPr>
          <p:cNvPr id="9" name="Text 6"/>
          <p:cNvSpPr txBox="1"/>
          <p:nvPr/>
        </p:nvSpPr>
        <p:spPr>
          <a:xfrm>
            <a:off x="859536" y="2340864"/>
            <a:ext cx="235229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49%</a:t>
            </a:r>
            <a:endParaRPr lang="en-US" sz="1200" dirty="0"/>
          </a:p>
        </p:txBody>
      </p:sp>
      <p:sp>
        <p:nvSpPr>
          <p:cNvPr id="10" name="cov-seg-0-1"/>
          <p:cNvSpPr/>
          <p:nvPr/>
        </p:nvSpPr>
        <p:spPr>
          <a:xfrm>
            <a:off x="3211830" y="2340864"/>
            <a:ext cx="2112264" cy="402336"/>
          </a:xfrm>
          <a:prstGeom prst="rect">
            <a:avLst/>
          </a:prstGeom>
          <a:solidFill>
            <a:srgbClr val="0F7DC2"/>
          </a:solidFill>
          <a:ln/>
        </p:spPr>
      </p:sp>
      <p:sp>
        <p:nvSpPr>
          <p:cNvPr id="11" name="Text 8"/>
          <p:cNvSpPr txBox="1"/>
          <p:nvPr/>
        </p:nvSpPr>
        <p:spPr>
          <a:xfrm>
            <a:off x="3211830" y="2340864"/>
            <a:ext cx="211226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44%</a:t>
            </a:r>
            <a:endParaRPr lang="en-US" sz="1200" dirty="0"/>
          </a:p>
        </p:txBody>
      </p:sp>
      <p:sp>
        <p:nvSpPr>
          <p:cNvPr id="12" name="cov-seg-0-2"/>
          <p:cNvSpPr/>
          <p:nvPr/>
        </p:nvSpPr>
        <p:spPr>
          <a:xfrm>
            <a:off x="5324094" y="2340864"/>
            <a:ext cx="336042" cy="402336"/>
          </a:xfrm>
          <a:prstGeom prst="rect">
            <a:avLst/>
          </a:prstGeom>
          <a:solidFill>
            <a:srgbClr val="D7263D"/>
          </a:solidFill>
          <a:ln/>
        </p:spPr>
      </p:sp>
      <p:sp>
        <p:nvSpPr>
          <p:cNvPr id="13" name="cov-dot-0-0"/>
          <p:cNvSpPr/>
          <p:nvPr/>
        </p:nvSpPr>
        <p:spPr>
          <a:xfrm>
            <a:off x="859536" y="3108960"/>
            <a:ext cx="128016" cy="128016"/>
          </a:xfrm>
          <a:prstGeom prst="ellipse">
            <a:avLst/>
          </a:prstGeom>
          <a:solidFill>
            <a:srgbClr val="00A878"/>
          </a:solidFill>
          <a:ln/>
        </p:spPr>
      </p:sp>
      <p:sp>
        <p:nvSpPr>
          <p:cNvPr id="14" name="Text 11"/>
          <p:cNvSpPr txBox="1"/>
          <p:nvPr/>
        </p:nvSpPr>
        <p:spPr>
          <a:xfrm>
            <a:off x="1078992" y="2999232"/>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Spot</a:t>
            </a:r>
            <a:endParaRPr lang="en-US" sz="1200" dirty="0"/>
          </a:p>
        </p:txBody>
      </p:sp>
      <p:sp>
        <p:nvSpPr>
          <p:cNvPr id="15" name="Text 12"/>
          <p:cNvSpPr txBox="1"/>
          <p:nvPr/>
        </p:nvSpPr>
        <p:spPr>
          <a:xfrm>
            <a:off x="3767328" y="2999232"/>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$17,416</a:t>
            </a:r>
            <a:endParaRPr lang="en-US" sz="1200" dirty="0"/>
          </a:p>
        </p:txBody>
      </p:sp>
      <p:sp>
        <p:nvSpPr>
          <p:cNvPr id="16" name="Text 13"/>
          <p:cNvSpPr txBox="1"/>
          <p:nvPr/>
        </p:nvSpPr>
        <p:spPr>
          <a:xfrm>
            <a:off x="5047488" y="2999232"/>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49%</a:t>
            </a:r>
            <a:endParaRPr lang="en-US" sz="1200" dirty="0"/>
          </a:p>
        </p:txBody>
      </p:sp>
      <p:sp>
        <p:nvSpPr>
          <p:cNvPr id="17" name="cov-dot-0-1"/>
          <p:cNvSpPr/>
          <p:nvPr/>
        </p:nvSpPr>
        <p:spPr>
          <a:xfrm>
            <a:off x="859536" y="3584448"/>
            <a:ext cx="128016" cy="128016"/>
          </a:xfrm>
          <a:prstGeom prst="ellipse">
            <a:avLst/>
          </a:prstGeom>
          <a:solidFill>
            <a:srgbClr val="0F7DC2"/>
          </a:solidFill>
          <a:ln/>
        </p:spPr>
      </p:sp>
      <p:sp>
        <p:nvSpPr>
          <p:cNvPr id="18" name="Text 15"/>
          <p:cNvSpPr txBox="1"/>
          <p:nvPr/>
        </p:nvSpPr>
        <p:spPr>
          <a:xfrm>
            <a:off x="1078992" y="3474720"/>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Compute Savings Plan</a:t>
            </a:r>
            <a:endParaRPr lang="en-US" sz="1200" dirty="0"/>
          </a:p>
        </p:txBody>
      </p:sp>
      <p:sp>
        <p:nvSpPr>
          <p:cNvPr id="19" name="Text 16"/>
          <p:cNvSpPr txBox="1"/>
          <p:nvPr/>
        </p:nvSpPr>
        <p:spPr>
          <a:xfrm>
            <a:off x="3767328" y="3474720"/>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$15,837</a:t>
            </a:r>
            <a:endParaRPr lang="en-US" sz="1200" dirty="0"/>
          </a:p>
        </p:txBody>
      </p:sp>
      <p:sp>
        <p:nvSpPr>
          <p:cNvPr id="20" name="Text 17"/>
          <p:cNvSpPr txBox="1"/>
          <p:nvPr/>
        </p:nvSpPr>
        <p:spPr>
          <a:xfrm>
            <a:off x="5047488" y="3474720"/>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44%</a:t>
            </a:r>
            <a:endParaRPr lang="en-US" sz="1200" dirty="0"/>
          </a:p>
        </p:txBody>
      </p:sp>
      <p:sp>
        <p:nvSpPr>
          <p:cNvPr id="21" name="cov-dot-0-2"/>
          <p:cNvSpPr/>
          <p:nvPr/>
        </p:nvSpPr>
        <p:spPr>
          <a:xfrm>
            <a:off x="859536" y="4059936"/>
            <a:ext cx="128016" cy="128016"/>
          </a:xfrm>
          <a:prstGeom prst="ellipse">
            <a:avLst/>
          </a:prstGeom>
          <a:solidFill>
            <a:srgbClr val="D7263D"/>
          </a:solidFill>
          <a:ln/>
        </p:spPr>
      </p:sp>
      <p:sp>
        <p:nvSpPr>
          <p:cNvPr id="22" name="Text 19"/>
          <p:cNvSpPr txBox="1"/>
          <p:nvPr/>
        </p:nvSpPr>
        <p:spPr>
          <a:xfrm>
            <a:off x="1078992" y="3950208"/>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On-demand</a:t>
            </a:r>
            <a:endParaRPr lang="en-US" sz="1200" dirty="0"/>
          </a:p>
        </p:txBody>
      </p:sp>
      <p:sp>
        <p:nvSpPr>
          <p:cNvPr id="23" name="Text 20"/>
          <p:cNvSpPr txBox="1"/>
          <p:nvPr/>
        </p:nvSpPr>
        <p:spPr>
          <a:xfrm>
            <a:off x="3767328" y="3950208"/>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$2,495</a:t>
            </a:r>
            <a:endParaRPr lang="en-US" sz="1200" dirty="0"/>
          </a:p>
        </p:txBody>
      </p:sp>
      <p:sp>
        <p:nvSpPr>
          <p:cNvPr id="24" name="Text 21"/>
          <p:cNvSpPr txBox="1"/>
          <p:nvPr/>
        </p:nvSpPr>
        <p:spPr>
          <a:xfrm>
            <a:off x="5047488" y="3950208"/>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7%</a:t>
            </a:r>
            <a:endParaRPr lang="en-US" sz="1200" dirty="0"/>
          </a:p>
        </p:txBody>
      </p:sp>
      <p:sp>
        <p:nvSpPr>
          <p:cNvPr id="25" name="Text 22"/>
          <p:cNvSpPr txBox="1"/>
          <p:nvPr/>
        </p:nvSpPr>
        <p:spPr>
          <a:xfrm>
            <a:off x="859536" y="4882896"/>
            <a:ext cx="1371600" cy="603504"/>
          </a:xfrm>
          <a:prstGeom prst="rect">
            <a:avLst/>
          </a:prstGeom>
          <a:noFill/>
          <a:ln/>
        </p:spPr>
        <p:txBody>
          <a:bodyPr wrap="square" lIns="0" tIns="0" rIns="0" bIns="0" rtlCol="0" anchor="ctr"/>
          <a:lstStyle/>
          <a:p>
            <a:pPr algn="l" indent="0" marL="0">
              <a:buNone/>
            </a:pPr>
            <a:r>
              <a:rPr lang="en-US" sz="3400" b="1" dirty="0">
                <a:solidFill>
                  <a:srgbClr val="00A878"/>
                </a:solidFill>
                <a:latin typeface="Arial" pitchFamily="34" charset="0"/>
                <a:ea typeface="Arial" pitchFamily="34" charset="-122"/>
                <a:cs typeface="Arial" pitchFamily="34" charset="-120"/>
              </a:rPr>
              <a:t>93%</a:t>
            </a:r>
            <a:endParaRPr lang="en-US" sz="3400" dirty="0"/>
          </a:p>
        </p:txBody>
      </p:sp>
      <p:sp>
        <p:nvSpPr>
          <p:cNvPr id="26" name="Text 23"/>
          <p:cNvSpPr txBox="1"/>
          <p:nvPr/>
        </p:nvSpPr>
        <p:spPr>
          <a:xfrm>
            <a:off x="2304288" y="4882896"/>
            <a:ext cx="3291840" cy="603504"/>
          </a:xfrm>
          <a:prstGeom prst="rect">
            <a:avLst/>
          </a:prstGeom>
          <a:noFill/>
          <a:ln/>
        </p:spPr>
        <p:txBody>
          <a:bodyPr wrap="square" lIns="0" tIns="0" rIns="0" bIns="0" rtlCol="0" anchor="ctr"/>
          <a:lstStyle/>
          <a:p>
            <a:pPr algn="l" indent="0" marL="0">
              <a:buNone/>
            </a:pPr>
            <a:r>
              <a:rPr lang="en-US" sz="1150" dirty="0">
                <a:solidFill>
                  <a:srgbClr val="5B6B7E"/>
                </a:solidFill>
                <a:latin typeface="Arial" pitchFamily="34" charset="0"/>
                <a:ea typeface="Arial" pitchFamily="34" charset="-122"/>
                <a:cs typeface="Arial" pitchFamily="34" charset="-120"/>
              </a:rPr>
              <a:t>of compute is on a discounted</a:t>
            </a:r>
            <a:endParaRPr lang="en-US" sz="1150" dirty="0"/>
          </a:p>
          <a:p>
            <a:pPr algn="l" indent="0" marL="0">
              <a:buNone/>
            </a:pPr>
            <a:r>
              <a:rPr lang="en-US" sz="1150" dirty="0">
                <a:solidFill>
                  <a:srgbClr val="5B6B7E"/>
                </a:solidFill>
                <a:latin typeface="Arial" pitchFamily="34" charset="0"/>
                <a:ea typeface="Arial" pitchFamily="34" charset="-122"/>
                <a:cs typeface="Arial" pitchFamily="34" charset="-120"/>
              </a:rPr>
              <a:t>purchase option</a:t>
            </a:r>
            <a:endParaRPr lang="en-US" sz="1150" dirty="0"/>
          </a:p>
        </p:txBody>
      </p:sp>
      <p:sp>
        <p:nvSpPr>
          <p:cNvPr id="27" name="Text 24"/>
          <p:cNvSpPr txBox="1"/>
          <p:nvPr/>
        </p:nvSpPr>
        <p:spPr>
          <a:xfrm>
            <a:off x="859536" y="1993392"/>
            <a:ext cx="3931920" cy="256032"/>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Total $35,748</a:t>
            </a:r>
            <a:endParaRPr lang="en-US" sz="1100" dirty="0"/>
          </a:p>
        </p:txBody>
      </p:sp>
      <p:sp>
        <p:nvSpPr>
          <p:cNvPr id="28" name="cov-1"/>
          <p:cNvSpPr/>
          <p:nvPr/>
        </p:nvSpPr>
        <p:spPr>
          <a:xfrm>
            <a:off x="6236208" y="1517904"/>
            <a:ext cx="5385816" cy="4114800"/>
          </a:xfrm>
          <a:prstGeom prst="roundRect">
            <a:avLst>
              <a:gd name="adj" fmla="val 1333"/>
            </a:avLst>
          </a:prstGeom>
          <a:solidFill>
            <a:srgbClr val="EEF2F7"/>
          </a:solidFill>
          <a:ln/>
        </p:spPr>
      </p:sp>
      <p:sp>
        <p:nvSpPr>
          <p:cNvPr id="29" name="Text 26"/>
          <p:cNvSpPr txBox="1"/>
          <p:nvPr/>
        </p:nvSpPr>
        <p:spPr>
          <a:xfrm>
            <a:off x="6528816" y="1700784"/>
            <a:ext cx="3931920" cy="310896"/>
          </a:xfrm>
          <a:prstGeom prst="rect">
            <a:avLst/>
          </a:prstGeom>
          <a:noFill/>
          <a:ln/>
        </p:spPr>
        <p:txBody>
          <a:bodyPr wrap="square" lIns="0" tIns="0" rIns="0" bIns="0" rtlCol="0" anchor="ctr"/>
          <a:lstStyle/>
          <a:p>
            <a:pPr algn="l" indent="0" marL="0">
              <a:buNone/>
            </a:pPr>
            <a:r>
              <a:rPr lang="en-US" sz="1350" b="1" dirty="0">
                <a:solidFill>
                  <a:srgbClr val="0B1B2E"/>
                </a:solidFill>
                <a:latin typeface="Arial" pitchFamily="34" charset="0"/>
                <a:ea typeface="Arial" pitchFamily="34" charset="-122"/>
                <a:cs typeface="Arial" pitchFamily="34" charset="-120"/>
              </a:rPr>
              <a:t>Azure — virtual machines, September</a:t>
            </a:r>
            <a:endParaRPr lang="en-US" sz="1350" dirty="0"/>
          </a:p>
        </p:txBody>
      </p:sp>
      <p:pic>
        <p:nvPicPr>
          <p:cNvPr id="30" name="Image 1" descr="/tmp/claude-0/-home-user-Finops/a0c4678f-b3c9-5fb7-b436-dff734416b7d/scratchpad/assets/azure.png">    </p:cNvPr>
          <p:cNvPicPr>
            <a:picLocks noChangeAspect="1"/>
          </p:cNvPicPr>
          <p:nvPr/>
        </p:nvPicPr>
        <p:blipFill>
          <a:blip r:embed="rId2"/>
          <a:stretch>
            <a:fillRect/>
          </a:stretch>
        </p:blipFill>
        <p:spPr>
          <a:xfrm>
            <a:off x="10524744" y="1664208"/>
            <a:ext cx="804672" cy="448056"/>
          </a:xfrm>
          <a:prstGeom prst="rect">
            <a:avLst/>
          </a:prstGeom>
        </p:spPr>
      </p:pic>
      <p:sp>
        <p:nvSpPr>
          <p:cNvPr id="31" name="cov-seg-1-0"/>
          <p:cNvSpPr/>
          <p:nvPr/>
        </p:nvSpPr>
        <p:spPr>
          <a:xfrm>
            <a:off x="6528816" y="2340864"/>
            <a:ext cx="2208276" cy="402336"/>
          </a:xfrm>
          <a:prstGeom prst="rect">
            <a:avLst/>
          </a:prstGeom>
          <a:solidFill>
            <a:srgbClr val="D7263D"/>
          </a:solidFill>
          <a:ln/>
        </p:spPr>
      </p:sp>
      <p:sp>
        <p:nvSpPr>
          <p:cNvPr id="32" name="Text 28"/>
          <p:cNvSpPr txBox="1"/>
          <p:nvPr/>
        </p:nvSpPr>
        <p:spPr>
          <a:xfrm>
            <a:off x="6528816" y="2340864"/>
            <a:ext cx="220827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46%</a:t>
            </a:r>
            <a:endParaRPr lang="en-US" sz="1200" dirty="0"/>
          </a:p>
        </p:txBody>
      </p:sp>
      <p:sp>
        <p:nvSpPr>
          <p:cNvPr id="33" name="cov-seg-1-1"/>
          <p:cNvSpPr/>
          <p:nvPr/>
        </p:nvSpPr>
        <p:spPr>
          <a:xfrm>
            <a:off x="8737092" y="2340864"/>
            <a:ext cx="1776222" cy="402336"/>
          </a:xfrm>
          <a:prstGeom prst="rect">
            <a:avLst/>
          </a:prstGeom>
          <a:solidFill>
            <a:srgbClr val="0F7DC2"/>
          </a:solidFill>
          <a:ln/>
        </p:spPr>
      </p:sp>
      <p:sp>
        <p:nvSpPr>
          <p:cNvPr id="34" name="Text 30"/>
          <p:cNvSpPr txBox="1"/>
          <p:nvPr/>
        </p:nvSpPr>
        <p:spPr>
          <a:xfrm>
            <a:off x="8737092" y="2340864"/>
            <a:ext cx="177622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37%</a:t>
            </a:r>
            <a:endParaRPr lang="en-US" sz="1200" dirty="0"/>
          </a:p>
        </p:txBody>
      </p:sp>
      <p:sp>
        <p:nvSpPr>
          <p:cNvPr id="35" name="cov-seg-1-2"/>
          <p:cNvSpPr/>
          <p:nvPr/>
        </p:nvSpPr>
        <p:spPr>
          <a:xfrm>
            <a:off x="10513314" y="2340864"/>
            <a:ext cx="768096" cy="402336"/>
          </a:xfrm>
          <a:prstGeom prst="rect">
            <a:avLst/>
          </a:prstGeom>
          <a:solidFill>
            <a:srgbClr val="00A878"/>
          </a:solidFill>
          <a:ln/>
        </p:spPr>
      </p:sp>
      <p:sp>
        <p:nvSpPr>
          <p:cNvPr id="36" name="Text 32"/>
          <p:cNvSpPr txBox="1"/>
          <p:nvPr/>
        </p:nvSpPr>
        <p:spPr>
          <a:xfrm>
            <a:off x="10513314" y="2340864"/>
            <a:ext cx="76809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16%</a:t>
            </a:r>
            <a:endParaRPr lang="en-US" sz="1200" dirty="0"/>
          </a:p>
        </p:txBody>
      </p:sp>
      <p:sp>
        <p:nvSpPr>
          <p:cNvPr id="37" name="cov-seg-1-3"/>
          <p:cNvSpPr/>
          <p:nvPr/>
        </p:nvSpPr>
        <p:spPr>
          <a:xfrm>
            <a:off x="11281410" y="2340864"/>
            <a:ext cx="48006" cy="402336"/>
          </a:xfrm>
          <a:prstGeom prst="rect">
            <a:avLst/>
          </a:prstGeom>
          <a:solidFill>
            <a:srgbClr val="F2A900"/>
          </a:solidFill>
          <a:ln/>
        </p:spPr>
      </p:sp>
      <p:sp>
        <p:nvSpPr>
          <p:cNvPr id="38" name="cov-dot-1-0"/>
          <p:cNvSpPr/>
          <p:nvPr/>
        </p:nvSpPr>
        <p:spPr>
          <a:xfrm>
            <a:off x="6528816" y="3108960"/>
            <a:ext cx="128016" cy="128016"/>
          </a:xfrm>
          <a:prstGeom prst="ellipse">
            <a:avLst/>
          </a:prstGeom>
          <a:solidFill>
            <a:srgbClr val="D7263D"/>
          </a:solidFill>
          <a:ln/>
        </p:spPr>
      </p:sp>
      <p:sp>
        <p:nvSpPr>
          <p:cNvPr id="39" name="Text 35"/>
          <p:cNvSpPr txBox="1"/>
          <p:nvPr/>
        </p:nvSpPr>
        <p:spPr>
          <a:xfrm>
            <a:off x="6748272" y="2999232"/>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On-demand</a:t>
            </a:r>
            <a:endParaRPr lang="en-US" sz="1200" dirty="0"/>
          </a:p>
        </p:txBody>
      </p:sp>
      <p:sp>
        <p:nvSpPr>
          <p:cNvPr id="40" name="Text 36"/>
          <p:cNvSpPr txBox="1"/>
          <p:nvPr/>
        </p:nvSpPr>
        <p:spPr>
          <a:xfrm>
            <a:off x="9436608" y="2999232"/>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$25,606</a:t>
            </a:r>
            <a:endParaRPr lang="en-US" sz="1200" dirty="0"/>
          </a:p>
        </p:txBody>
      </p:sp>
      <p:sp>
        <p:nvSpPr>
          <p:cNvPr id="41" name="Text 37"/>
          <p:cNvSpPr txBox="1"/>
          <p:nvPr/>
        </p:nvSpPr>
        <p:spPr>
          <a:xfrm>
            <a:off x="10716768" y="2999232"/>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46%</a:t>
            </a:r>
            <a:endParaRPr lang="en-US" sz="1200" dirty="0"/>
          </a:p>
        </p:txBody>
      </p:sp>
      <p:sp>
        <p:nvSpPr>
          <p:cNvPr id="42" name="cov-dot-1-1"/>
          <p:cNvSpPr/>
          <p:nvPr/>
        </p:nvSpPr>
        <p:spPr>
          <a:xfrm>
            <a:off x="6528816" y="3584448"/>
            <a:ext cx="128016" cy="128016"/>
          </a:xfrm>
          <a:prstGeom prst="ellipse">
            <a:avLst/>
          </a:prstGeom>
          <a:solidFill>
            <a:srgbClr val="0F7DC2"/>
          </a:solidFill>
          <a:ln/>
        </p:spPr>
      </p:sp>
      <p:sp>
        <p:nvSpPr>
          <p:cNvPr id="43" name="Text 39"/>
          <p:cNvSpPr txBox="1"/>
          <p:nvPr/>
        </p:nvSpPr>
        <p:spPr>
          <a:xfrm>
            <a:off x="6748272" y="3474720"/>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Reservation</a:t>
            </a:r>
            <a:endParaRPr lang="en-US" sz="1200" dirty="0"/>
          </a:p>
        </p:txBody>
      </p:sp>
      <p:sp>
        <p:nvSpPr>
          <p:cNvPr id="44" name="Text 40"/>
          <p:cNvSpPr txBox="1"/>
          <p:nvPr/>
        </p:nvSpPr>
        <p:spPr>
          <a:xfrm>
            <a:off x="9436608" y="3474720"/>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$20,346</a:t>
            </a:r>
            <a:endParaRPr lang="en-US" sz="1200" dirty="0"/>
          </a:p>
        </p:txBody>
      </p:sp>
      <p:sp>
        <p:nvSpPr>
          <p:cNvPr id="45" name="Text 41"/>
          <p:cNvSpPr txBox="1"/>
          <p:nvPr/>
        </p:nvSpPr>
        <p:spPr>
          <a:xfrm>
            <a:off x="10716768" y="3474720"/>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37%</a:t>
            </a:r>
            <a:endParaRPr lang="en-US" sz="1200" dirty="0"/>
          </a:p>
        </p:txBody>
      </p:sp>
      <p:sp>
        <p:nvSpPr>
          <p:cNvPr id="46" name="cov-dot-1-2"/>
          <p:cNvSpPr/>
          <p:nvPr/>
        </p:nvSpPr>
        <p:spPr>
          <a:xfrm>
            <a:off x="6528816" y="4059936"/>
            <a:ext cx="128016" cy="128016"/>
          </a:xfrm>
          <a:prstGeom prst="ellipse">
            <a:avLst/>
          </a:prstGeom>
          <a:solidFill>
            <a:srgbClr val="00A878"/>
          </a:solidFill>
          <a:ln/>
        </p:spPr>
      </p:sp>
      <p:sp>
        <p:nvSpPr>
          <p:cNvPr id="47" name="Text 43"/>
          <p:cNvSpPr txBox="1"/>
          <p:nvPr/>
        </p:nvSpPr>
        <p:spPr>
          <a:xfrm>
            <a:off x="6748272" y="3950208"/>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Compute Savings Plan</a:t>
            </a:r>
            <a:endParaRPr lang="en-US" sz="1200" dirty="0"/>
          </a:p>
        </p:txBody>
      </p:sp>
      <p:sp>
        <p:nvSpPr>
          <p:cNvPr id="48" name="Text 44"/>
          <p:cNvSpPr txBox="1"/>
          <p:nvPr/>
        </p:nvSpPr>
        <p:spPr>
          <a:xfrm>
            <a:off x="9436608" y="3950208"/>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$9,120</a:t>
            </a:r>
            <a:endParaRPr lang="en-US" sz="1200" dirty="0"/>
          </a:p>
        </p:txBody>
      </p:sp>
      <p:sp>
        <p:nvSpPr>
          <p:cNvPr id="49" name="Text 45"/>
          <p:cNvSpPr txBox="1"/>
          <p:nvPr/>
        </p:nvSpPr>
        <p:spPr>
          <a:xfrm>
            <a:off x="10716768" y="3950208"/>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16%</a:t>
            </a:r>
            <a:endParaRPr lang="en-US" sz="1200" dirty="0"/>
          </a:p>
        </p:txBody>
      </p:sp>
      <p:sp>
        <p:nvSpPr>
          <p:cNvPr id="50" name="cov-dot-1-3"/>
          <p:cNvSpPr/>
          <p:nvPr/>
        </p:nvSpPr>
        <p:spPr>
          <a:xfrm>
            <a:off x="6528816" y="4535424"/>
            <a:ext cx="128016" cy="128016"/>
          </a:xfrm>
          <a:prstGeom prst="ellipse">
            <a:avLst/>
          </a:prstGeom>
          <a:solidFill>
            <a:srgbClr val="F2A900"/>
          </a:solidFill>
          <a:ln/>
        </p:spPr>
      </p:sp>
      <p:sp>
        <p:nvSpPr>
          <p:cNvPr id="51" name="Text 47"/>
          <p:cNvSpPr txBox="1"/>
          <p:nvPr/>
        </p:nvSpPr>
        <p:spPr>
          <a:xfrm>
            <a:off x="6748272" y="4425696"/>
            <a:ext cx="2651760" cy="347472"/>
          </a:xfrm>
          <a:prstGeom prst="rect">
            <a:avLst/>
          </a:prstGeom>
          <a:noFill/>
          <a:ln/>
        </p:spPr>
        <p:txBody>
          <a:bodyPr wrap="square" lIns="0" tIns="0" rIns="0" bIns="0" rtlCol="0" anchor="ctr"/>
          <a:lstStyle/>
          <a:p>
            <a:pPr algn="l" indent="0" marL="0">
              <a:buNone/>
            </a:pPr>
            <a:r>
              <a:rPr lang="en-US" sz="1200" dirty="0">
                <a:solidFill>
                  <a:srgbClr val="0B1B2E"/>
                </a:solidFill>
                <a:latin typeface="Arial" pitchFamily="34" charset="0"/>
                <a:ea typeface="Arial" pitchFamily="34" charset="-122"/>
                <a:cs typeface="Arial" pitchFamily="34" charset="-120"/>
              </a:rPr>
              <a:t>Spot</a:t>
            </a:r>
            <a:endParaRPr lang="en-US" sz="1200" dirty="0"/>
          </a:p>
        </p:txBody>
      </p:sp>
      <p:sp>
        <p:nvSpPr>
          <p:cNvPr id="52" name="Text 48"/>
          <p:cNvSpPr txBox="1"/>
          <p:nvPr/>
        </p:nvSpPr>
        <p:spPr>
          <a:xfrm>
            <a:off x="9436608" y="4425696"/>
            <a:ext cx="1188720" cy="347472"/>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$504</a:t>
            </a:r>
            <a:endParaRPr lang="en-US" sz="1200" dirty="0"/>
          </a:p>
        </p:txBody>
      </p:sp>
      <p:sp>
        <p:nvSpPr>
          <p:cNvPr id="53" name="Text 49"/>
          <p:cNvSpPr txBox="1"/>
          <p:nvPr/>
        </p:nvSpPr>
        <p:spPr>
          <a:xfrm>
            <a:off x="10716768" y="4425696"/>
            <a:ext cx="612648" cy="347472"/>
          </a:xfrm>
          <a:prstGeom prst="rect">
            <a:avLst/>
          </a:prstGeom>
          <a:noFill/>
          <a:ln/>
        </p:spPr>
        <p:txBody>
          <a:bodyPr wrap="square" lIns="0" tIns="0" rIns="0" bIns="0" rtlCol="0" anchor="ctr"/>
          <a:lstStyle/>
          <a:p>
            <a:pPr algn="r" indent="0" marL="0">
              <a:buNone/>
            </a:pPr>
            <a:r>
              <a:rPr lang="en-US" sz="1200" dirty="0">
                <a:solidFill>
                  <a:srgbClr val="5B6B7E"/>
                </a:solidFill>
                <a:latin typeface="Arial" pitchFamily="34" charset="0"/>
                <a:ea typeface="Arial" pitchFamily="34" charset="-122"/>
                <a:cs typeface="Arial" pitchFamily="34" charset="-120"/>
              </a:rPr>
              <a:t>1%</a:t>
            </a:r>
            <a:endParaRPr lang="en-US" sz="1200" dirty="0"/>
          </a:p>
        </p:txBody>
      </p:sp>
      <p:sp>
        <p:nvSpPr>
          <p:cNvPr id="54" name="Text 50"/>
          <p:cNvSpPr txBox="1"/>
          <p:nvPr/>
        </p:nvSpPr>
        <p:spPr>
          <a:xfrm>
            <a:off x="6528816" y="4882896"/>
            <a:ext cx="1371600" cy="603504"/>
          </a:xfrm>
          <a:prstGeom prst="rect">
            <a:avLst/>
          </a:prstGeom>
          <a:noFill/>
          <a:ln/>
        </p:spPr>
        <p:txBody>
          <a:bodyPr wrap="square" lIns="0" tIns="0" rIns="0" bIns="0" rtlCol="0" anchor="ctr"/>
          <a:lstStyle/>
          <a:p>
            <a:pPr algn="l" indent="0" marL="0">
              <a:buNone/>
            </a:pPr>
            <a:r>
              <a:rPr lang="en-US" sz="3400" b="1" dirty="0">
                <a:solidFill>
                  <a:srgbClr val="D7263D"/>
                </a:solidFill>
                <a:latin typeface="Arial" pitchFamily="34" charset="0"/>
                <a:ea typeface="Arial" pitchFamily="34" charset="-122"/>
                <a:cs typeface="Arial" pitchFamily="34" charset="-120"/>
              </a:rPr>
              <a:t>54%</a:t>
            </a:r>
            <a:endParaRPr lang="en-US" sz="3400" dirty="0"/>
          </a:p>
        </p:txBody>
      </p:sp>
      <p:sp>
        <p:nvSpPr>
          <p:cNvPr id="55" name="Text 51"/>
          <p:cNvSpPr txBox="1"/>
          <p:nvPr/>
        </p:nvSpPr>
        <p:spPr>
          <a:xfrm>
            <a:off x="7973568" y="4882896"/>
            <a:ext cx="3291840" cy="603504"/>
          </a:xfrm>
          <a:prstGeom prst="rect">
            <a:avLst/>
          </a:prstGeom>
          <a:noFill/>
          <a:ln/>
        </p:spPr>
        <p:txBody>
          <a:bodyPr wrap="square" lIns="0" tIns="0" rIns="0" bIns="0" rtlCol="0" anchor="ctr"/>
          <a:lstStyle/>
          <a:p>
            <a:pPr algn="l" indent="0" marL="0">
              <a:buNone/>
            </a:pPr>
            <a:r>
              <a:rPr lang="en-US" sz="1150" dirty="0">
                <a:solidFill>
                  <a:srgbClr val="5B6B7E"/>
                </a:solidFill>
                <a:latin typeface="Arial" pitchFamily="34" charset="0"/>
                <a:ea typeface="Arial" pitchFamily="34" charset="-122"/>
                <a:cs typeface="Arial" pitchFamily="34" charset="-120"/>
              </a:rPr>
              <a:t>of compute is on a discounted</a:t>
            </a:r>
            <a:endParaRPr lang="en-US" sz="1150" dirty="0"/>
          </a:p>
          <a:p>
            <a:pPr algn="l" indent="0" marL="0">
              <a:buNone/>
            </a:pPr>
            <a:r>
              <a:rPr lang="en-US" sz="1150" dirty="0">
                <a:solidFill>
                  <a:srgbClr val="5B6B7E"/>
                </a:solidFill>
                <a:latin typeface="Arial" pitchFamily="34" charset="0"/>
                <a:ea typeface="Arial" pitchFamily="34" charset="-122"/>
                <a:cs typeface="Arial" pitchFamily="34" charset="-120"/>
              </a:rPr>
              <a:t>purchase option</a:t>
            </a:r>
            <a:endParaRPr lang="en-US" sz="1150" dirty="0"/>
          </a:p>
        </p:txBody>
      </p:sp>
      <p:sp>
        <p:nvSpPr>
          <p:cNvPr id="56" name="Text 52"/>
          <p:cNvSpPr txBox="1"/>
          <p:nvPr/>
        </p:nvSpPr>
        <p:spPr>
          <a:xfrm>
            <a:off x="6528816" y="1993392"/>
            <a:ext cx="3931920" cy="256032"/>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Total $55,576</a:t>
            </a:r>
            <a:endParaRPr lang="en-US" sz="1100" dirty="0"/>
          </a:p>
        </p:txBody>
      </p:sp>
      <p:sp>
        <p:nvSpPr>
          <p:cNvPr id="57"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Closing the Azure gap is worth $47K a year in identified VM reservation purchases alone — see the savings pipeline.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D7263D"/>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DATABRICKS COMMITMENT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$504K commitment is 29% used after five of thirty-six months</a:t>
            </a:r>
            <a:endParaRPr lang="en-US" sz="2800" dirty="0"/>
          </a:p>
        </p:txBody>
      </p:sp>
      <p:sp>
        <p:nvSpPr>
          <p:cNvPr id="5" name="panel"/>
          <p:cNvSpPr/>
          <p:nvPr/>
        </p:nvSpPr>
        <p:spPr>
          <a:xfrm>
            <a:off x="566928" y="1517904"/>
            <a:ext cx="6858000" cy="2286000"/>
          </a:xfrm>
          <a:prstGeom prst="roundRect">
            <a:avLst>
              <a:gd name="adj" fmla="val 2400"/>
            </a:avLst>
          </a:prstGeom>
          <a:solidFill>
            <a:srgbClr val="EEF2F7"/>
          </a:solidFill>
          <a:ln/>
        </p:spPr>
      </p:sp>
      <p:sp>
        <p:nvSpPr>
          <p:cNvPr id="6" name="Text 4"/>
          <p:cNvSpPr txBox="1"/>
          <p:nvPr/>
        </p:nvSpPr>
        <p:spPr>
          <a:xfrm>
            <a:off x="877824" y="1700784"/>
            <a:ext cx="2743200" cy="274320"/>
          </a:xfrm>
          <a:prstGeom prst="rect">
            <a:avLst/>
          </a:prstGeom>
          <a:noFill/>
          <a:ln/>
        </p:spPr>
        <p:txBody>
          <a:bodyPr wrap="square" lIns="0" tIns="0" rIns="0" bIns="0" rtlCol="0" anchor="ctr"/>
          <a:lstStyle/>
          <a:p>
            <a:pPr algn="l" indent="0" marL="0">
              <a:buNone/>
            </a:pPr>
            <a:r>
              <a:rPr lang="en-US" sz="1100" b="1" spc="120" kern="0" dirty="0">
                <a:solidFill>
                  <a:srgbClr val="5B6B7E"/>
                </a:solidFill>
                <a:latin typeface="Arial" pitchFamily="34" charset="0"/>
                <a:ea typeface="Arial" pitchFamily="34" charset="-122"/>
                <a:cs typeface="Arial" pitchFamily="34" charset="-120"/>
              </a:rPr>
              <a:t>Contract</a:t>
            </a:r>
            <a:endParaRPr lang="en-US" sz="1100" dirty="0"/>
          </a:p>
        </p:txBody>
      </p:sp>
      <p:sp>
        <p:nvSpPr>
          <p:cNvPr id="7" name="Text 5"/>
          <p:cNvSpPr txBox="1"/>
          <p:nvPr/>
        </p:nvSpPr>
        <p:spPr>
          <a:xfrm>
            <a:off x="877824" y="2048256"/>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Purchased</a:t>
            </a:r>
            <a:endParaRPr lang="en-US" sz="1200" dirty="0"/>
          </a:p>
        </p:txBody>
      </p:sp>
      <p:sp>
        <p:nvSpPr>
          <p:cNvPr id="8" name="Text 6"/>
          <p:cNvSpPr txBox="1"/>
          <p:nvPr/>
        </p:nvSpPr>
        <p:spPr>
          <a:xfrm>
            <a:off x="2395728" y="2048256"/>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28 April 2026</a:t>
            </a:r>
            <a:endParaRPr lang="en-US" sz="1250" dirty="0"/>
          </a:p>
        </p:txBody>
      </p:sp>
      <p:sp>
        <p:nvSpPr>
          <p:cNvPr id="9" name="Text 7"/>
          <p:cNvSpPr txBox="1"/>
          <p:nvPr/>
        </p:nvSpPr>
        <p:spPr>
          <a:xfrm>
            <a:off x="877824" y="2450592"/>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Term</a:t>
            </a:r>
            <a:endParaRPr lang="en-US" sz="1200" dirty="0"/>
          </a:p>
        </p:txBody>
      </p:sp>
      <p:sp>
        <p:nvSpPr>
          <p:cNvPr id="10" name="Text 8"/>
          <p:cNvSpPr txBox="1"/>
          <p:nvPr/>
        </p:nvSpPr>
        <p:spPr>
          <a:xfrm>
            <a:off x="2395728" y="2450592"/>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3 years (P3Y)</a:t>
            </a:r>
            <a:endParaRPr lang="en-US" sz="1250" dirty="0"/>
          </a:p>
        </p:txBody>
      </p:sp>
      <p:sp>
        <p:nvSpPr>
          <p:cNvPr id="11" name="Text 9"/>
          <p:cNvSpPr txBox="1"/>
          <p:nvPr/>
        </p:nvSpPr>
        <p:spPr>
          <a:xfrm>
            <a:off x="877824" y="2852928"/>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Product</a:t>
            </a:r>
            <a:endParaRPr lang="en-US" sz="1200" dirty="0"/>
          </a:p>
        </p:txBody>
      </p:sp>
      <p:sp>
        <p:nvSpPr>
          <p:cNvPr id="12" name="Text 10"/>
          <p:cNvSpPr txBox="1"/>
          <p:nvPr/>
        </p:nvSpPr>
        <p:spPr>
          <a:xfrm>
            <a:off x="2395728" y="2852928"/>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600,000 Databricks DBU hours</a:t>
            </a:r>
            <a:endParaRPr lang="en-US" sz="1250" dirty="0"/>
          </a:p>
        </p:txBody>
      </p:sp>
      <p:sp>
        <p:nvSpPr>
          <p:cNvPr id="13" name="Text 11"/>
          <p:cNvSpPr txBox="1"/>
          <p:nvPr/>
        </p:nvSpPr>
        <p:spPr>
          <a:xfrm>
            <a:off x="877824" y="3255264"/>
            <a:ext cx="1554480" cy="347472"/>
          </a:xfrm>
          <a:prstGeom prst="rect">
            <a:avLst/>
          </a:prstGeom>
          <a:noFill/>
          <a:ln/>
        </p:spPr>
        <p:txBody>
          <a:bodyPr wrap="square" lIns="0" tIns="0" rIns="0" bIns="0" rtlCol="0" anchor="ctr"/>
          <a:lstStyle/>
          <a:p>
            <a:pPr algn="l" indent="0" marL="0">
              <a:buNone/>
            </a:pPr>
            <a:r>
              <a:rPr lang="en-US" sz="1200" dirty="0">
                <a:solidFill>
                  <a:srgbClr val="5B6B7E"/>
                </a:solidFill>
                <a:latin typeface="Arial" pitchFamily="34" charset="0"/>
                <a:ea typeface="Arial" pitchFamily="34" charset="-122"/>
                <a:cs typeface="Arial" pitchFamily="34" charset="-120"/>
              </a:rPr>
              <a:t>Prepaid</a:t>
            </a:r>
            <a:endParaRPr lang="en-US" sz="1200" dirty="0"/>
          </a:p>
        </p:txBody>
      </p:sp>
      <p:sp>
        <p:nvSpPr>
          <p:cNvPr id="14" name="Text 12"/>
          <p:cNvSpPr txBox="1"/>
          <p:nvPr/>
        </p:nvSpPr>
        <p:spPr>
          <a:xfrm>
            <a:off x="2395728" y="3255264"/>
            <a:ext cx="4663440" cy="347472"/>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$504,000 via Azure Marketplace</a:t>
            </a:r>
            <a:endParaRPr lang="en-US" sz="1250" dirty="0"/>
          </a:p>
        </p:txBody>
      </p:sp>
      <p:sp>
        <p:nvSpPr>
          <p:cNvPr id="15" name="panel"/>
          <p:cNvSpPr/>
          <p:nvPr/>
        </p:nvSpPr>
        <p:spPr>
          <a:xfrm>
            <a:off x="566928" y="3968496"/>
            <a:ext cx="6858000" cy="1664208"/>
          </a:xfrm>
          <a:prstGeom prst="roundRect">
            <a:avLst>
              <a:gd name="adj" fmla="val 3297"/>
            </a:avLst>
          </a:prstGeom>
          <a:solidFill>
            <a:srgbClr val="EEF2F7"/>
          </a:solidFill>
          <a:ln/>
        </p:spPr>
      </p:sp>
      <p:sp>
        <p:nvSpPr>
          <p:cNvPr id="16" name="Text 14"/>
          <p:cNvSpPr txBox="1"/>
          <p:nvPr/>
        </p:nvSpPr>
        <p:spPr>
          <a:xfrm>
            <a:off x="877824" y="4114800"/>
            <a:ext cx="457200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Cumulative utilisation at September 2026</a:t>
            </a:r>
            <a:endParaRPr lang="en-US" sz="1200" dirty="0"/>
          </a:p>
        </p:txBody>
      </p:sp>
      <p:sp>
        <p:nvSpPr>
          <p:cNvPr id="17" name="db-gauge-bg"/>
          <p:cNvSpPr/>
          <p:nvPr/>
        </p:nvSpPr>
        <p:spPr>
          <a:xfrm>
            <a:off x="877824" y="4498848"/>
            <a:ext cx="6236208" cy="310896"/>
          </a:xfrm>
          <a:prstGeom prst="roundRect">
            <a:avLst>
              <a:gd name="adj" fmla="val 50000"/>
            </a:avLst>
          </a:prstGeom>
          <a:solidFill>
            <a:srgbClr val="DCE4ED"/>
          </a:solidFill>
          <a:ln/>
        </p:spPr>
      </p:sp>
      <p:sp>
        <p:nvSpPr>
          <p:cNvPr id="18" name="db-gauge-fill"/>
          <p:cNvSpPr/>
          <p:nvPr/>
        </p:nvSpPr>
        <p:spPr>
          <a:xfrm>
            <a:off x="877824" y="4498848"/>
            <a:ext cx="1808500" cy="310896"/>
          </a:xfrm>
          <a:prstGeom prst="roundRect">
            <a:avLst>
              <a:gd name="adj" fmla="val 50000"/>
            </a:avLst>
          </a:prstGeom>
          <a:solidFill>
            <a:srgbClr val="D7263D"/>
          </a:solidFill>
          <a:ln/>
        </p:spPr>
      </p:sp>
      <p:sp>
        <p:nvSpPr>
          <p:cNvPr id="19" name="Text 17"/>
          <p:cNvSpPr txBox="1"/>
          <p:nvPr/>
        </p:nvSpPr>
        <p:spPr>
          <a:xfrm>
            <a:off x="877824" y="4901184"/>
            <a:ext cx="3657600" cy="292608"/>
          </a:xfrm>
          <a:prstGeom prst="rect">
            <a:avLst/>
          </a:prstGeom>
          <a:noFill/>
          <a:ln/>
        </p:spPr>
        <p:txBody>
          <a:bodyPr wrap="square" lIns="0" tIns="0" rIns="0" bIns="0" rtlCol="0" anchor="ctr"/>
          <a:lstStyle/>
          <a:p>
            <a:pPr algn="l" indent="0" marL="0">
              <a:buNone/>
            </a:pPr>
            <a:r>
              <a:rPr lang="en-US" sz="1150" dirty="0">
                <a:solidFill>
                  <a:srgbClr val="5B6B7E"/>
                </a:solidFill>
                <a:latin typeface="Arial" pitchFamily="34" charset="0"/>
                <a:ea typeface="Arial" pitchFamily="34" charset="-122"/>
                <a:cs typeface="Arial" pitchFamily="34" charset="-120"/>
              </a:rPr>
              <a:t>29% of DBU hours consumed</a:t>
            </a:r>
            <a:endParaRPr lang="en-US" sz="1150" dirty="0"/>
          </a:p>
        </p:txBody>
      </p:sp>
      <p:sp>
        <p:nvSpPr>
          <p:cNvPr id="20" name="Text 18"/>
          <p:cNvSpPr txBox="1"/>
          <p:nvPr/>
        </p:nvSpPr>
        <p:spPr>
          <a:xfrm>
            <a:off x="4590288" y="4901184"/>
            <a:ext cx="2523744" cy="292608"/>
          </a:xfrm>
          <a:prstGeom prst="rect">
            <a:avLst/>
          </a:prstGeom>
          <a:noFill/>
          <a:ln/>
        </p:spPr>
        <p:txBody>
          <a:bodyPr wrap="square" lIns="0" tIns="0" rIns="0" bIns="0" rtlCol="0" anchor="ctr"/>
          <a:lstStyle/>
          <a:p>
            <a:pPr algn="r" indent="0" marL="0">
              <a:buNone/>
            </a:pPr>
            <a:r>
              <a:rPr lang="en-US" sz="1150" dirty="0">
                <a:solidFill>
                  <a:srgbClr val="5B6B7E"/>
                </a:solidFill>
                <a:latin typeface="Arial" pitchFamily="34" charset="0"/>
                <a:ea typeface="Arial" pitchFamily="34" charset="-122"/>
                <a:cs typeface="Arial" pitchFamily="34" charset="-120"/>
              </a:rPr>
              <a:t>14% of the term elapsed</a:t>
            </a:r>
            <a:endParaRPr lang="en-US" sz="1150" dirty="0"/>
          </a:p>
        </p:txBody>
      </p:sp>
      <p:sp>
        <p:nvSpPr>
          <p:cNvPr id="21" name="stat-card-Databricks lin"/>
          <p:cNvSpPr/>
          <p:nvPr/>
        </p:nvSpPr>
        <p:spPr>
          <a:xfrm>
            <a:off x="7699248" y="1517904"/>
            <a:ext cx="3925519" cy="1298448"/>
          </a:xfrm>
          <a:prstGeom prst="roundRect">
            <a:avLst>
              <a:gd name="adj" fmla="val 4225"/>
            </a:avLst>
          </a:prstGeom>
          <a:solidFill>
            <a:srgbClr val="EEF2F7"/>
          </a:solidFill>
          <a:ln/>
        </p:spPr>
      </p:sp>
      <p:sp>
        <p:nvSpPr>
          <p:cNvPr id="22" name="stat-dot"/>
          <p:cNvSpPr/>
          <p:nvPr/>
        </p:nvSpPr>
        <p:spPr>
          <a:xfrm>
            <a:off x="7936992" y="1792224"/>
            <a:ext cx="91440" cy="91440"/>
          </a:xfrm>
          <a:prstGeom prst="ellipse">
            <a:avLst/>
          </a:prstGeom>
          <a:solidFill>
            <a:srgbClr val="00A878"/>
          </a:solidFill>
          <a:ln/>
        </p:spPr>
      </p:sp>
      <p:sp>
        <p:nvSpPr>
          <p:cNvPr id="23" name="Text 21"/>
          <p:cNvSpPr txBox="1"/>
          <p:nvPr/>
        </p:nvSpPr>
        <p:spPr>
          <a:xfrm>
            <a:off x="8119872" y="1691640"/>
            <a:ext cx="328543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DATABRICKS LINE COST</a:t>
            </a:r>
            <a:endParaRPr lang="en-US" sz="1000" dirty="0"/>
          </a:p>
        </p:txBody>
      </p:sp>
      <p:sp>
        <p:nvSpPr>
          <p:cNvPr id="24" name="Text 22"/>
          <p:cNvSpPr txBox="1"/>
          <p:nvPr/>
        </p:nvSpPr>
        <p:spPr>
          <a:xfrm>
            <a:off x="7936992" y="1975104"/>
            <a:ext cx="3468319" cy="530352"/>
          </a:xfrm>
          <a:prstGeom prst="rect">
            <a:avLst/>
          </a:prstGeom>
          <a:noFill/>
          <a:ln/>
        </p:spPr>
        <p:txBody>
          <a:bodyPr wrap="square" lIns="0" tIns="0" rIns="0" bIns="0" rtlCol="0" anchor="ctr"/>
          <a:lstStyle/>
          <a:p>
            <a:pPr algn="l" indent="0" marL="0">
              <a:buNone/>
            </a:pPr>
            <a:r>
              <a:rPr lang="en-US" sz="2600" b="1" dirty="0">
                <a:solidFill>
                  <a:srgbClr val="0B1B2E"/>
                </a:solidFill>
                <a:latin typeface="Arial" pitchFamily="34" charset="0"/>
                <a:ea typeface="Arial" pitchFamily="34" charset="-122"/>
                <a:cs typeface="Arial" pitchFamily="34" charset="-120"/>
              </a:rPr>
              <a:t>$0</a:t>
            </a:r>
            <a:endParaRPr lang="en-US" sz="2600" dirty="0"/>
          </a:p>
        </p:txBody>
      </p:sp>
      <p:sp>
        <p:nvSpPr>
          <p:cNvPr id="25" name="Text 23"/>
          <p:cNvSpPr txBox="1"/>
          <p:nvPr/>
        </p:nvSpPr>
        <p:spPr>
          <a:xfrm>
            <a:off x="7936992" y="2487168"/>
            <a:ext cx="346831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All usage draws down the prepaid commitment</a:t>
            </a:r>
            <a:endParaRPr lang="en-US" sz="1050" dirty="0"/>
          </a:p>
        </p:txBody>
      </p:sp>
      <p:sp>
        <p:nvSpPr>
          <p:cNvPr id="26" name="stat-card-Projected exha"/>
          <p:cNvSpPr/>
          <p:nvPr/>
        </p:nvSpPr>
        <p:spPr>
          <a:xfrm>
            <a:off x="7699248" y="2953512"/>
            <a:ext cx="3925519" cy="1298448"/>
          </a:xfrm>
          <a:prstGeom prst="roundRect">
            <a:avLst>
              <a:gd name="adj" fmla="val 4225"/>
            </a:avLst>
          </a:prstGeom>
          <a:solidFill>
            <a:srgbClr val="EEF2F7"/>
          </a:solidFill>
          <a:ln/>
        </p:spPr>
      </p:sp>
      <p:sp>
        <p:nvSpPr>
          <p:cNvPr id="27" name="stat-dot"/>
          <p:cNvSpPr/>
          <p:nvPr/>
        </p:nvSpPr>
        <p:spPr>
          <a:xfrm>
            <a:off x="7936992" y="3227832"/>
            <a:ext cx="91440" cy="91440"/>
          </a:xfrm>
          <a:prstGeom prst="ellipse">
            <a:avLst/>
          </a:prstGeom>
          <a:solidFill>
            <a:srgbClr val="D7263D"/>
          </a:solidFill>
          <a:ln/>
        </p:spPr>
      </p:sp>
      <p:sp>
        <p:nvSpPr>
          <p:cNvPr id="28" name="Text 26"/>
          <p:cNvSpPr txBox="1"/>
          <p:nvPr/>
        </p:nvSpPr>
        <p:spPr>
          <a:xfrm>
            <a:off x="8119872" y="3127248"/>
            <a:ext cx="328543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PROJECTED EXHAUSTION</a:t>
            </a:r>
            <a:endParaRPr lang="en-US" sz="1000" dirty="0"/>
          </a:p>
        </p:txBody>
      </p:sp>
      <p:sp>
        <p:nvSpPr>
          <p:cNvPr id="29" name="Text 27"/>
          <p:cNvSpPr txBox="1"/>
          <p:nvPr/>
        </p:nvSpPr>
        <p:spPr>
          <a:xfrm>
            <a:off x="7936992" y="3410712"/>
            <a:ext cx="3468319" cy="530352"/>
          </a:xfrm>
          <a:prstGeom prst="rect">
            <a:avLst/>
          </a:prstGeom>
          <a:noFill/>
          <a:ln/>
        </p:spPr>
        <p:txBody>
          <a:bodyPr wrap="square" lIns="0" tIns="0" rIns="0" bIns="0" rtlCol="0" anchor="ctr"/>
          <a:lstStyle/>
          <a:p>
            <a:pPr algn="l" indent="0" marL="0">
              <a:buNone/>
            </a:pPr>
            <a:r>
              <a:rPr lang="en-US" sz="2600" b="1" dirty="0">
                <a:solidFill>
                  <a:srgbClr val="0B1B2E"/>
                </a:solidFill>
                <a:latin typeface="Arial" pitchFamily="34" charset="0"/>
                <a:ea typeface="Arial" pitchFamily="34" charset="-122"/>
                <a:cs typeface="Arial" pitchFamily="34" charset="-120"/>
              </a:rPr>
              <a:t>Sep 2027</a:t>
            </a:r>
            <a:endParaRPr lang="en-US" sz="2600" dirty="0"/>
          </a:p>
        </p:txBody>
      </p:sp>
      <p:sp>
        <p:nvSpPr>
          <p:cNvPr id="30" name="Text 28"/>
          <p:cNvSpPr txBox="1"/>
          <p:nvPr/>
        </p:nvSpPr>
        <p:spPr>
          <a:xfrm>
            <a:off x="7936992" y="3922776"/>
            <a:ext cx="346831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At the current burn rate — two years early</a:t>
            </a:r>
            <a:endParaRPr lang="en-US" sz="1050" dirty="0"/>
          </a:p>
        </p:txBody>
      </p:sp>
      <p:sp>
        <p:nvSpPr>
          <p:cNvPr id="31" name="stat-card-Supporting inf"/>
          <p:cNvSpPr/>
          <p:nvPr/>
        </p:nvSpPr>
        <p:spPr>
          <a:xfrm>
            <a:off x="7699248" y="4389120"/>
            <a:ext cx="3925519" cy="1298448"/>
          </a:xfrm>
          <a:prstGeom prst="roundRect">
            <a:avLst>
              <a:gd name="adj" fmla="val 4225"/>
            </a:avLst>
          </a:prstGeom>
          <a:solidFill>
            <a:srgbClr val="EEF2F7"/>
          </a:solidFill>
          <a:ln/>
        </p:spPr>
      </p:sp>
      <p:sp>
        <p:nvSpPr>
          <p:cNvPr id="32" name="stat-dot"/>
          <p:cNvSpPr/>
          <p:nvPr/>
        </p:nvSpPr>
        <p:spPr>
          <a:xfrm>
            <a:off x="7936992" y="4663440"/>
            <a:ext cx="91440" cy="91440"/>
          </a:xfrm>
          <a:prstGeom prst="ellipse">
            <a:avLst/>
          </a:prstGeom>
          <a:solidFill>
            <a:srgbClr val="0F7DC2"/>
          </a:solidFill>
          <a:ln/>
        </p:spPr>
      </p:sp>
      <p:sp>
        <p:nvSpPr>
          <p:cNvPr id="33" name="Text 31"/>
          <p:cNvSpPr txBox="1"/>
          <p:nvPr/>
        </p:nvSpPr>
        <p:spPr>
          <a:xfrm>
            <a:off x="8119872" y="4562856"/>
            <a:ext cx="328543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SUPPORTING INFRA / MONTH</a:t>
            </a:r>
            <a:endParaRPr lang="en-US" sz="1000" dirty="0"/>
          </a:p>
        </p:txBody>
      </p:sp>
      <p:sp>
        <p:nvSpPr>
          <p:cNvPr id="34" name="Text 32"/>
          <p:cNvSpPr txBox="1"/>
          <p:nvPr/>
        </p:nvSpPr>
        <p:spPr>
          <a:xfrm>
            <a:off x="7936992" y="4846320"/>
            <a:ext cx="3468319" cy="530352"/>
          </a:xfrm>
          <a:prstGeom prst="rect">
            <a:avLst/>
          </a:prstGeom>
          <a:noFill/>
          <a:ln/>
        </p:spPr>
        <p:txBody>
          <a:bodyPr wrap="square" lIns="0" tIns="0" rIns="0" bIns="0" rtlCol="0" anchor="ctr"/>
          <a:lstStyle/>
          <a:p>
            <a:pPr algn="l" indent="0" marL="0">
              <a:buNone/>
            </a:pPr>
            <a:r>
              <a:rPr lang="en-US" sz="2600" b="1" dirty="0">
                <a:solidFill>
                  <a:srgbClr val="0B1B2E"/>
                </a:solidFill>
                <a:latin typeface="Arial" pitchFamily="34" charset="0"/>
                <a:ea typeface="Arial" pitchFamily="34" charset="-122"/>
                <a:cs typeface="Arial" pitchFamily="34" charset="-120"/>
              </a:rPr>
              <a:t>$21.5K</a:t>
            </a:r>
            <a:endParaRPr lang="en-US" sz="2600" dirty="0"/>
          </a:p>
        </p:txBody>
      </p:sp>
      <p:sp>
        <p:nvSpPr>
          <p:cNvPr id="35" name="Text 33"/>
          <p:cNvSpPr txBox="1"/>
          <p:nvPr/>
        </p:nvSpPr>
        <p:spPr>
          <a:xfrm>
            <a:off x="7936992" y="5358384"/>
            <a:ext cx="346831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VMs, network and storage, outside the commitment</a:t>
            </a:r>
            <a:endParaRPr lang="en-US" sz="1050" dirty="0"/>
          </a:p>
        </p:txBody>
      </p:sp>
      <p:sp>
        <p:nvSpPr>
          <p:cNvPr id="36"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Decision needed: top up the commitment in FY2027, or optimise the Classic / Serverless mix to extend it.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GOOGLE CLOUD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GCP is a $14K pilot — small, but almost entirely AI</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pic>
        <p:nvPicPr>
          <p:cNvPr id="6" name="Image 0" descr="/tmp/claude-0/-home-user-Finops/a0c4678f-b3c9-5fb7-b436-dff734416b7d/scratchpad/assets/gcp.png">    </p:cNvPr>
          <p:cNvPicPr>
            <a:picLocks noChangeAspect="1"/>
          </p:cNvPicPr>
          <p:nvPr/>
        </p:nvPicPr>
        <p:blipFill>
          <a:blip r:embed="rId2"/>
          <a:stretch>
            <a:fillRect/>
          </a:stretch>
        </p:blipFill>
        <p:spPr>
          <a:xfrm>
            <a:off x="10424160" y="1627632"/>
            <a:ext cx="896112" cy="841248"/>
          </a:xfrm>
          <a:prstGeom prst="rect">
            <a:avLst/>
          </a:prstGeom>
        </p:spPr>
      </p:pic>
      <p:sp>
        <p:nvSpPr>
          <p:cNvPr id="7" name="stat-card-GCP YTD"/>
          <p:cNvSpPr/>
          <p:nvPr/>
        </p:nvSpPr>
        <p:spPr>
          <a:xfrm>
            <a:off x="7973568" y="2615184"/>
            <a:ext cx="3651199" cy="1417320"/>
          </a:xfrm>
          <a:prstGeom prst="roundRect">
            <a:avLst>
              <a:gd name="adj" fmla="val 3871"/>
            </a:avLst>
          </a:prstGeom>
          <a:solidFill>
            <a:srgbClr val="EEF2F7"/>
          </a:solidFill>
          <a:ln/>
        </p:spPr>
      </p:sp>
      <p:sp>
        <p:nvSpPr>
          <p:cNvPr id="8" name="stat-dot"/>
          <p:cNvSpPr/>
          <p:nvPr/>
        </p:nvSpPr>
        <p:spPr>
          <a:xfrm>
            <a:off x="8211312" y="2889504"/>
            <a:ext cx="91440" cy="91440"/>
          </a:xfrm>
          <a:prstGeom prst="ellipse">
            <a:avLst/>
          </a:prstGeom>
          <a:solidFill>
            <a:srgbClr val="00A878"/>
          </a:solidFill>
          <a:ln/>
        </p:spPr>
      </p:sp>
      <p:sp>
        <p:nvSpPr>
          <p:cNvPr id="9" name="Text 5"/>
          <p:cNvSpPr txBox="1"/>
          <p:nvPr/>
        </p:nvSpPr>
        <p:spPr>
          <a:xfrm>
            <a:off x="8394192" y="2788920"/>
            <a:ext cx="301111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GCP YTD</a:t>
            </a:r>
            <a:endParaRPr lang="en-US" sz="1000" dirty="0"/>
          </a:p>
        </p:txBody>
      </p:sp>
      <p:sp>
        <p:nvSpPr>
          <p:cNvPr id="10" name="Text 6"/>
          <p:cNvSpPr txBox="1"/>
          <p:nvPr/>
        </p:nvSpPr>
        <p:spPr>
          <a:xfrm>
            <a:off x="8211312" y="3072384"/>
            <a:ext cx="3193999" cy="566928"/>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$13.5K</a:t>
            </a:r>
            <a:endParaRPr lang="en-US" sz="2800" dirty="0"/>
          </a:p>
        </p:txBody>
      </p:sp>
      <p:sp>
        <p:nvSpPr>
          <p:cNvPr id="11" name="Text 7"/>
          <p:cNvSpPr txBox="1"/>
          <p:nvPr/>
        </p:nvSpPr>
        <p:spPr>
          <a:xfrm>
            <a:off x="8211312" y="3621024"/>
            <a:ext cx="319399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Started March 2026</a:t>
            </a:r>
            <a:endParaRPr lang="en-US" sz="1050" dirty="0"/>
          </a:p>
        </p:txBody>
      </p:sp>
      <p:sp>
        <p:nvSpPr>
          <p:cNvPr id="12" name="stat-card-Is Vertex AI +"/>
          <p:cNvSpPr/>
          <p:nvPr/>
        </p:nvSpPr>
        <p:spPr>
          <a:xfrm>
            <a:off x="7973568" y="4160520"/>
            <a:ext cx="3651199" cy="1417320"/>
          </a:xfrm>
          <a:prstGeom prst="roundRect">
            <a:avLst>
              <a:gd name="adj" fmla="val 3871"/>
            </a:avLst>
          </a:prstGeom>
          <a:solidFill>
            <a:srgbClr val="EEF2F7"/>
          </a:solidFill>
          <a:ln/>
        </p:spPr>
      </p:sp>
      <p:sp>
        <p:nvSpPr>
          <p:cNvPr id="13" name="stat-dot"/>
          <p:cNvSpPr/>
          <p:nvPr/>
        </p:nvSpPr>
        <p:spPr>
          <a:xfrm>
            <a:off x="8211312" y="4434840"/>
            <a:ext cx="91440" cy="91440"/>
          </a:xfrm>
          <a:prstGeom prst="ellipse">
            <a:avLst/>
          </a:prstGeom>
          <a:solidFill>
            <a:srgbClr val="7C5CFF"/>
          </a:solidFill>
          <a:ln/>
        </p:spPr>
      </p:sp>
      <p:sp>
        <p:nvSpPr>
          <p:cNvPr id="14" name="Text 10"/>
          <p:cNvSpPr txBox="1"/>
          <p:nvPr/>
        </p:nvSpPr>
        <p:spPr>
          <a:xfrm>
            <a:off x="8394192" y="4334256"/>
            <a:ext cx="3011119"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IS VERTEX AI + GEMINI</a:t>
            </a:r>
            <a:endParaRPr lang="en-US" sz="1000" dirty="0"/>
          </a:p>
        </p:txBody>
      </p:sp>
      <p:sp>
        <p:nvSpPr>
          <p:cNvPr id="15" name="Text 11"/>
          <p:cNvSpPr txBox="1"/>
          <p:nvPr/>
        </p:nvSpPr>
        <p:spPr>
          <a:xfrm>
            <a:off x="8211312" y="4617720"/>
            <a:ext cx="3193999" cy="566928"/>
          </a:xfrm>
          <a:prstGeom prst="rect">
            <a:avLst/>
          </a:prstGeom>
          <a:noFill/>
          <a:ln/>
        </p:spPr>
        <p:txBody>
          <a:bodyPr wrap="square" lIns="0" tIns="0" rIns="0" bIns="0" rtlCol="0" anchor="ctr"/>
          <a:lstStyle/>
          <a:p>
            <a:pPr algn="l" indent="0" marL="0">
              <a:buNone/>
            </a:pPr>
            <a:r>
              <a:rPr lang="en-US" sz="2800" b="1" dirty="0">
                <a:solidFill>
                  <a:srgbClr val="0B1B2E"/>
                </a:solidFill>
                <a:latin typeface="Arial" pitchFamily="34" charset="0"/>
                <a:ea typeface="Arial" pitchFamily="34" charset="-122"/>
                <a:cs typeface="Arial" pitchFamily="34" charset="-120"/>
              </a:rPr>
              <a:t>52%</a:t>
            </a:r>
            <a:endParaRPr lang="en-US" sz="2800" dirty="0"/>
          </a:p>
        </p:txBody>
      </p:sp>
      <p:sp>
        <p:nvSpPr>
          <p:cNvPr id="16" name="Text 12"/>
          <p:cNvSpPr txBox="1"/>
          <p:nvPr/>
        </p:nvSpPr>
        <p:spPr>
          <a:xfrm>
            <a:off x="8211312" y="5166360"/>
            <a:ext cx="3193999" cy="420624"/>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Vertex $6.5K, Gemini $0.6K</a:t>
            </a:r>
            <a:endParaRPr lang="en-US" sz="1050" dirty="0"/>
          </a:p>
        </p:txBody>
      </p:sp>
      <p:sp>
        <p:nvSpPr>
          <p:cNvPr id="17"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No commitment and no contract — GCP stays a pilot until a workload justifies a third platform. A negative "other services" line reflects credits applied during the pilot.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00A878"/>
                </a:solidFill>
                <a:latin typeface="Cambria" pitchFamily="34" charset="0"/>
                <a:ea typeface="Cambria" pitchFamily="34" charset="-122"/>
                <a:cs typeface="Cambria" pitchFamily="34" charset="-120"/>
              </a:rPr>
              <a:t>05</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Savings delivered</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$578K realised and avoided so far this year, with a further $190K identified and waiting on approval.</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8FA7BF"/>
                </a:solidFill>
                <a:latin typeface="Arial" pitchFamily="34" charset="0"/>
                <a:ea typeface="Arial" pitchFamily="34" charset="-122"/>
                <a:cs typeface="Arial" pitchFamily="34" charset="-120"/>
              </a:rPr>
              <a:t>SCORECARD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FFFFFF"/>
                </a:solidFill>
                <a:latin typeface="Cambria" pitchFamily="34" charset="0"/>
                <a:ea typeface="Cambria" pitchFamily="34" charset="-122"/>
                <a:cs typeface="Cambria" pitchFamily="34" charset="-120"/>
              </a:rPr>
              <a:t>The FinOps programme has returned $578K against FY2026</a:t>
            </a:r>
            <a:endParaRPr lang="en-US" sz="2800" dirty="0"/>
          </a:p>
        </p:txBody>
      </p:sp>
      <p:sp>
        <p:nvSpPr>
          <p:cNvPr id="5" name="stat-card-Realised savin"/>
          <p:cNvSpPr/>
          <p:nvPr/>
        </p:nvSpPr>
        <p:spPr>
          <a:xfrm>
            <a:off x="566928" y="1572768"/>
            <a:ext cx="2593010" cy="1920240"/>
          </a:xfrm>
          <a:prstGeom prst="roundRect">
            <a:avLst>
              <a:gd name="adj" fmla="val 2857"/>
            </a:avLst>
          </a:prstGeom>
          <a:solidFill>
            <a:srgbClr val="13324F"/>
          </a:solidFill>
          <a:ln/>
        </p:spPr>
      </p:sp>
      <p:sp>
        <p:nvSpPr>
          <p:cNvPr id="6" name="stat-dot"/>
          <p:cNvSpPr/>
          <p:nvPr/>
        </p:nvSpPr>
        <p:spPr>
          <a:xfrm>
            <a:off x="804672" y="1847088"/>
            <a:ext cx="91440" cy="91440"/>
          </a:xfrm>
          <a:prstGeom prst="ellipse">
            <a:avLst/>
          </a:prstGeom>
          <a:solidFill>
            <a:srgbClr val="00A878"/>
          </a:solidFill>
          <a:ln/>
        </p:spPr>
      </p:sp>
      <p:sp>
        <p:nvSpPr>
          <p:cNvPr id="7" name="Text 5"/>
          <p:cNvSpPr txBox="1"/>
          <p:nvPr/>
        </p:nvSpPr>
        <p:spPr>
          <a:xfrm>
            <a:off x="98755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REALISED SAVINGS</a:t>
            </a:r>
            <a:endParaRPr lang="en-US" sz="1000" dirty="0"/>
          </a:p>
        </p:txBody>
      </p:sp>
      <p:sp>
        <p:nvSpPr>
          <p:cNvPr id="8" name="Text 6"/>
          <p:cNvSpPr txBox="1"/>
          <p:nvPr/>
        </p:nvSpPr>
        <p:spPr>
          <a:xfrm>
            <a:off x="80467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$268K</a:t>
            </a:r>
            <a:endParaRPr lang="en-US" sz="3600" dirty="0"/>
          </a:p>
        </p:txBody>
      </p:sp>
      <p:sp>
        <p:nvSpPr>
          <p:cNvPr id="9" name="Text 7"/>
          <p:cNvSpPr txBox="1"/>
          <p:nvPr/>
        </p:nvSpPr>
        <p:spPr>
          <a:xfrm>
            <a:off x="804672"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Cost removed from the</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running bill</a:t>
            </a:r>
            <a:endParaRPr lang="en-US" sz="1150" dirty="0"/>
          </a:p>
        </p:txBody>
      </p:sp>
      <p:sp>
        <p:nvSpPr>
          <p:cNvPr id="10" name="stat-card-Cost avoided"/>
          <p:cNvSpPr/>
          <p:nvPr/>
        </p:nvSpPr>
        <p:spPr>
          <a:xfrm>
            <a:off x="3388538" y="1572768"/>
            <a:ext cx="2593010" cy="1920240"/>
          </a:xfrm>
          <a:prstGeom prst="roundRect">
            <a:avLst>
              <a:gd name="adj" fmla="val 2857"/>
            </a:avLst>
          </a:prstGeom>
          <a:solidFill>
            <a:srgbClr val="13324F"/>
          </a:solidFill>
          <a:ln/>
        </p:spPr>
      </p:sp>
      <p:sp>
        <p:nvSpPr>
          <p:cNvPr id="11" name="stat-dot"/>
          <p:cNvSpPr/>
          <p:nvPr/>
        </p:nvSpPr>
        <p:spPr>
          <a:xfrm>
            <a:off x="3626282" y="1847088"/>
            <a:ext cx="91440" cy="91440"/>
          </a:xfrm>
          <a:prstGeom prst="ellipse">
            <a:avLst/>
          </a:prstGeom>
          <a:solidFill>
            <a:srgbClr val="0F7DC2"/>
          </a:solidFill>
          <a:ln/>
        </p:spPr>
      </p:sp>
      <p:sp>
        <p:nvSpPr>
          <p:cNvPr id="12" name="Text 10"/>
          <p:cNvSpPr txBox="1"/>
          <p:nvPr/>
        </p:nvSpPr>
        <p:spPr>
          <a:xfrm>
            <a:off x="380916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COST AVOIDED</a:t>
            </a:r>
            <a:endParaRPr lang="en-US" sz="1000" dirty="0"/>
          </a:p>
        </p:txBody>
      </p:sp>
      <p:sp>
        <p:nvSpPr>
          <p:cNvPr id="13" name="Text 11"/>
          <p:cNvSpPr txBox="1"/>
          <p:nvPr/>
        </p:nvSpPr>
        <p:spPr>
          <a:xfrm>
            <a:off x="362628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$310K</a:t>
            </a:r>
            <a:endParaRPr lang="en-US" sz="3600" dirty="0"/>
          </a:p>
        </p:txBody>
      </p:sp>
      <p:sp>
        <p:nvSpPr>
          <p:cNvPr id="14" name="Text 12"/>
          <p:cNvSpPr txBox="1"/>
          <p:nvPr/>
        </p:nvSpPr>
        <p:spPr>
          <a:xfrm>
            <a:off x="3626282"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Increases caught before</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they landed</a:t>
            </a:r>
            <a:endParaRPr lang="en-US" sz="1150" dirty="0"/>
          </a:p>
        </p:txBody>
      </p:sp>
      <p:sp>
        <p:nvSpPr>
          <p:cNvPr id="15" name="stat-card-Total returned"/>
          <p:cNvSpPr/>
          <p:nvPr/>
        </p:nvSpPr>
        <p:spPr>
          <a:xfrm>
            <a:off x="6210148" y="1572768"/>
            <a:ext cx="2593010" cy="1920240"/>
          </a:xfrm>
          <a:prstGeom prst="roundRect">
            <a:avLst>
              <a:gd name="adj" fmla="val 2857"/>
            </a:avLst>
          </a:prstGeom>
          <a:solidFill>
            <a:srgbClr val="13324F"/>
          </a:solidFill>
          <a:ln/>
        </p:spPr>
      </p:sp>
      <p:sp>
        <p:nvSpPr>
          <p:cNvPr id="16" name="stat-dot"/>
          <p:cNvSpPr/>
          <p:nvPr/>
        </p:nvSpPr>
        <p:spPr>
          <a:xfrm>
            <a:off x="6447892" y="1847088"/>
            <a:ext cx="91440" cy="91440"/>
          </a:xfrm>
          <a:prstGeom prst="ellipse">
            <a:avLst/>
          </a:prstGeom>
          <a:solidFill>
            <a:srgbClr val="F2A900"/>
          </a:solidFill>
          <a:ln/>
        </p:spPr>
      </p:sp>
      <p:sp>
        <p:nvSpPr>
          <p:cNvPr id="17" name="Text 15"/>
          <p:cNvSpPr txBox="1"/>
          <p:nvPr/>
        </p:nvSpPr>
        <p:spPr>
          <a:xfrm>
            <a:off x="6630772"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TOTAL RETURNED</a:t>
            </a:r>
            <a:endParaRPr lang="en-US" sz="1000" dirty="0"/>
          </a:p>
        </p:txBody>
      </p:sp>
      <p:sp>
        <p:nvSpPr>
          <p:cNvPr id="18" name="Text 16"/>
          <p:cNvSpPr txBox="1"/>
          <p:nvPr/>
        </p:nvSpPr>
        <p:spPr>
          <a:xfrm>
            <a:off x="6447892"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$578K</a:t>
            </a:r>
            <a:endParaRPr lang="en-US" sz="3600" dirty="0"/>
          </a:p>
        </p:txBody>
      </p:sp>
      <p:sp>
        <p:nvSpPr>
          <p:cNvPr id="19" name="Text 17"/>
          <p:cNvSpPr txBox="1"/>
          <p:nvPr/>
        </p:nvSpPr>
        <p:spPr>
          <a:xfrm>
            <a:off x="6447892"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25% of YTD metered</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consumption</a:t>
            </a:r>
            <a:endParaRPr lang="en-US" sz="1150" dirty="0"/>
          </a:p>
        </p:txBody>
      </p:sp>
      <p:sp>
        <p:nvSpPr>
          <p:cNvPr id="20" name="stat-card-Identified pip"/>
          <p:cNvSpPr/>
          <p:nvPr/>
        </p:nvSpPr>
        <p:spPr>
          <a:xfrm>
            <a:off x="9031757" y="1572768"/>
            <a:ext cx="2593010" cy="1920240"/>
          </a:xfrm>
          <a:prstGeom prst="roundRect">
            <a:avLst>
              <a:gd name="adj" fmla="val 2857"/>
            </a:avLst>
          </a:prstGeom>
          <a:solidFill>
            <a:srgbClr val="13324F"/>
          </a:solidFill>
          <a:ln/>
        </p:spPr>
      </p:sp>
      <p:sp>
        <p:nvSpPr>
          <p:cNvPr id="21" name="stat-dot"/>
          <p:cNvSpPr/>
          <p:nvPr/>
        </p:nvSpPr>
        <p:spPr>
          <a:xfrm>
            <a:off x="9269501" y="1847088"/>
            <a:ext cx="91440" cy="91440"/>
          </a:xfrm>
          <a:prstGeom prst="ellipse">
            <a:avLst/>
          </a:prstGeom>
          <a:solidFill>
            <a:srgbClr val="7C5CFF"/>
          </a:solidFill>
          <a:ln/>
        </p:spPr>
      </p:sp>
      <p:sp>
        <p:nvSpPr>
          <p:cNvPr id="22" name="Text 20"/>
          <p:cNvSpPr txBox="1"/>
          <p:nvPr/>
        </p:nvSpPr>
        <p:spPr>
          <a:xfrm>
            <a:off x="9452381" y="1746504"/>
            <a:ext cx="1952930" cy="292608"/>
          </a:xfrm>
          <a:prstGeom prst="rect">
            <a:avLst/>
          </a:prstGeom>
          <a:noFill/>
          <a:ln/>
        </p:spPr>
        <p:txBody>
          <a:bodyPr wrap="square" lIns="0" tIns="0" rIns="0" bIns="0" rtlCol="0" anchor="ctr"/>
          <a:lstStyle/>
          <a:p>
            <a:pPr algn="l" indent="0" marL="0">
              <a:buNone/>
            </a:pPr>
            <a:r>
              <a:rPr lang="en-US" sz="1000" b="1" spc="110" kern="0" dirty="0">
                <a:solidFill>
                  <a:srgbClr val="9FB3C8"/>
                </a:solidFill>
                <a:latin typeface="Arial" pitchFamily="34" charset="0"/>
                <a:ea typeface="Arial" pitchFamily="34" charset="-122"/>
                <a:cs typeface="Arial" pitchFamily="34" charset="-120"/>
              </a:rPr>
              <a:t>IDENTIFIED PIPELINE</a:t>
            </a:r>
            <a:endParaRPr lang="en-US" sz="1000" dirty="0"/>
          </a:p>
        </p:txBody>
      </p:sp>
      <p:sp>
        <p:nvSpPr>
          <p:cNvPr id="23" name="Text 21"/>
          <p:cNvSpPr txBox="1"/>
          <p:nvPr/>
        </p:nvSpPr>
        <p:spPr>
          <a:xfrm>
            <a:off x="9269501" y="2029968"/>
            <a:ext cx="2135810" cy="676656"/>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$190K</a:t>
            </a:r>
            <a:endParaRPr lang="en-US" sz="3600" dirty="0"/>
          </a:p>
        </p:txBody>
      </p:sp>
      <p:sp>
        <p:nvSpPr>
          <p:cNvPr id="24" name="Text 22"/>
          <p:cNvSpPr txBox="1"/>
          <p:nvPr/>
        </p:nvSpPr>
        <p:spPr>
          <a:xfrm>
            <a:off x="9269501" y="2688336"/>
            <a:ext cx="2135810" cy="640080"/>
          </a:xfrm>
          <a:prstGeom prst="rect">
            <a:avLst/>
          </a:prstGeom>
          <a:noFill/>
          <a:ln/>
        </p:spPr>
        <p:txBody>
          <a:bodyPr wrap="square" lIns="0" tIns="0" rIns="0" bIns="0" rtlCol="0" anchor="t"/>
          <a:lstStyle/>
          <a:p>
            <a:pPr algn="l" indent="0" marL="0">
              <a:buNone/>
            </a:pPr>
            <a:r>
              <a:rPr lang="en-US" sz="1150" dirty="0">
                <a:solidFill>
                  <a:srgbClr val="A9BCCF"/>
                </a:solidFill>
                <a:latin typeface="Arial" pitchFamily="34" charset="0"/>
                <a:ea typeface="Arial" pitchFamily="34" charset="-122"/>
                <a:cs typeface="Arial" pitchFamily="34" charset="-120"/>
              </a:rPr>
              <a:t>Approved actions not</a:t>
            </a:r>
            <a:endParaRPr lang="en-US" sz="1150" dirty="0"/>
          </a:p>
          <a:p>
            <a:pPr algn="l" indent="0" marL="0">
              <a:buNone/>
            </a:pPr>
            <a:r>
              <a:rPr lang="en-US" sz="1150" dirty="0">
                <a:solidFill>
                  <a:srgbClr val="A9BCCF"/>
                </a:solidFill>
                <a:latin typeface="Arial" pitchFamily="34" charset="0"/>
                <a:ea typeface="Arial" pitchFamily="34" charset="-122"/>
                <a:cs typeface="Arial" pitchFamily="34" charset="-120"/>
              </a:rPr>
              <a:t>yet implemented</a:t>
            </a:r>
            <a:endParaRPr lang="en-US" sz="1150" dirty="0"/>
          </a:p>
        </p:txBody>
      </p:sp>
      <p:sp>
        <p:nvSpPr>
          <p:cNvPr id="25" name="Text 23"/>
          <p:cNvSpPr txBox="1"/>
          <p:nvPr/>
        </p:nvSpPr>
        <p:spPr>
          <a:xfrm>
            <a:off x="566928" y="3822192"/>
            <a:ext cx="11057839" cy="274320"/>
          </a:xfrm>
          <a:prstGeom prst="rect">
            <a:avLst/>
          </a:prstGeom>
          <a:noFill/>
          <a:ln/>
        </p:spPr>
        <p:txBody>
          <a:bodyPr wrap="square" lIns="0" tIns="0" rIns="0" bIns="0" rtlCol="0" anchor="ctr"/>
          <a:lstStyle/>
          <a:p>
            <a:pPr algn="l" indent="0" marL="0">
              <a:buNone/>
            </a:pPr>
            <a:r>
              <a:rPr lang="en-US" sz="1050" b="1" spc="160" kern="0" dirty="0">
                <a:solidFill>
                  <a:srgbClr val="8FA7BF"/>
                </a:solidFill>
                <a:latin typeface="Arial" pitchFamily="34" charset="0"/>
                <a:ea typeface="Arial" pitchFamily="34" charset="-122"/>
                <a:cs typeface="Arial" pitchFamily="34" charset="-120"/>
              </a:rPr>
              <a:t>WHERE IT CAME FROM</a:t>
            </a:r>
            <a:endParaRPr lang="en-US" sz="1050" dirty="0"/>
          </a:p>
        </p:txBody>
      </p:sp>
      <p:sp>
        <p:nvSpPr>
          <p:cNvPr id="26" name="src-1"/>
          <p:cNvSpPr/>
          <p:nvPr/>
        </p:nvSpPr>
        <p:spPr>
          <a:xfrm>
            <a:off x="566928" y="4133088"/>
            <a:ext cx="3503066" cy="1572768"/>
          </a:xfrm>
          <a:prstGeom prst="roundRect">
            <a:avLst>
              <a:gd name="adj" fmla="val 3488"/>
            </a:avLst>
          </a:prstGeom>
          <a:solidFill>
            <a:srgbClr val="112C45"/>
          </a:solidFill>
          <a:ln/>
        </p:spPr>
      </p:sp>
      <p:sp>
        <p:nvSpPr>
          <p:cNvPr id="27" name="num-badge"/>
          <p:cNvSpPr/>
          <p:nvPr/>
        </p:nvSpPr>
        <p:spPr>
          <a:xfrm>
            <a:off x="822960" y="4407408"/>
            <a:ext cx="274320" cy="274320"/>
          </a:xfrm>
          <a:prstGeom prst="ellipse">
            <a:avLst/>
          </a:prstGeom>
          <a:solidFill>
            <a:srgbClr val="00A878"/>
          </a:solidFill>
          <a:ln/>
        </p:spPr>
      </p:sp>
      <p:sp>
        <p:nvSpPr>
          <p:cNvPr id="28" name="Text 26"/>
          <p:cNvSpPr txBox="1"/>
          <p:nvPr/>
        </p:nvSpPr>
        <p:spPr>
          <a:xfrm>
            <a:off x="822960"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9" name="Text 27"/>
          <p:cNvSpPr txBox="1"/>
          <p:nvPr/>
        </p:nvSpPr>
        <p:spPr>
          <a:xfrm>
            <a:off x="1243584" y="4370832"/>
            <a:ext cx="2570378" cy="292608"/>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Decommissioning</a:t>
            </a:r>
            <a:endParaRPr lang="en-US" sz="1400" dirty="0"/>
          </a:p>
        </p:txBody>
      </p:sp>
      <p:sp>
        <p:nvSpPr>
          <p:cNvPr id="30" name="Text 28"/>
          <p:cNvSpPr txBox="1"/>
          <p:nvPr/>
        </p:nvSpPr>
        <p:spPr>
          <a:xfrm>
            <a:off x="1243584" y="4681728"/>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Closing North Europe removed $70K a year of duplicated VMs, storage and gateways.</a:t>
            </a:r>
            <a:endParaRPr lang="en-US" sz="1200" dirty="0"/>
          </a:p>
        </p:txBody>
      </p:sp>
      <p:sp>
        <p:nvSpPr>
          <p:cNvPr id="31" name="src-2"/>
          <p:cNvSpPr/>
          <p:nvPr/>
        </p:nvSpPr>
        <p:spPr>
          <a:xfrm>
            <a:off x="4344314" y="4133088"/>
            <a:ext cx="3503066" cy="1572768"/>
          </a:xfrm>
          <a:prstGeom prst="roundRect">
            <a:avLst>
              <a:gd name="adj" fmla="val 3488"/>
            </a:avLst>
          </a:prstGeom>
          <a:solidFill>
            <a:srgbClr val="112C45"/>
          </a:solidFill>
          <a:ln/>
        </p:spPr>
      </p:sp>
      <p:sp>
        <p:nvSpPr>
          <p:cNvPr id="32" name="num-badge"/>
          <p:cNvSpPr/>
          <p:nvPr/>
        </p:nvSpPr>
        <p:spPr>
          <a:xfrm>
            <a:off x="4600346" y="4407408"/>
            <a:ext cx="274320" cy="274320"/>
          </a:xfrm>
          <a:prstGeom prst="ellipse">
            <a:avLst/>
          </a:prstGeom>
          <a:solidFill>
            <a:srgbClr val="0F7DC2"/>
          </a:solidFill>
          <a:ln/>
        </p:spPr>
      </p:sp>
      <p:sp>
        <p:nvSpPr>
          <p:cNvPr id="33" name="Text 31"/>
          <p:cNvSpPr txBox="1"/>
          <p:nvPr/>
        </p:nvSpPr>
        <p:spPr>
          <a:xfrm>
            <a:off x="4600346"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4" name="Text 32"/>
          <p:cNvSpPr txBox="1"/>
          <p:nvPr/>
        </p:nvSpPr>
        <p:spPr>
          <a:xfrm>
            <a:off x="5020970" y="4370832"/>
            <a:ext cx="2570378" cy="292608"/>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Commitments</a:t>
            </a:r>
            <a:endParaRPr lang="en-US" sz="1400" dirty="0"/>
          </a:p>
        </p:txBody>
      </p:sp>
      <p:sp>
        <p:nvSpPr>
          <p:cNvPr id="35" name="Text 33"/>
          <p:cNvSpPr txBox="1"/>
          <p:nvPr/>
        </p:nvSpPr>
        <p:spPr>
          <a:xfrm>
            <a:off x="5020970" y="4681728"/>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VM reservations and a compute savings plan together returned $132K a year.</a:t>
            </a:r>
            <a:endParaRPr lang="en-US" sz="1200" dirty="0"/>
          </a:p>
        </p:txBody>
      </p:sp>
      <p:sp>
        <p:nvSpPr>
          <p:cNvPr id="36" name="src-3"/>
          <p:cNvSpPr/>
          <p:nvPr/>
        </p:nvSpPr>
        <p:spPr>
          <a:xfrm>
            <a:off x="8121701" y="4133088"/>
            <a:ext cx="3503066" cy="1572768"/>
          </a:xfrm>
          <a:prstGeom prst="roundRect">
            <a:avLst>
              <a:gd name="adj" fmla="val 3488"/>
            </a:avLst>
          </a:prstGeom>
          <a:solidFill>
            <a:srgbClr val="112C45"/>
          </a:solidFill>
          <a:ln/>
        </p:spPr>
      </p:sp>
      <p:sp>
        <p:nvSpPr>
          <p:cNvPr id="37" name="num-badge"/>
          <p:cNvSpPr/>
          <p:nvPr/>
        </p:nvSpPr>
        <p:spPr>
          <a:xfrm>
            <a:off x="8377733" y="4407408"/>
            <a:ext cx="274320" cy="274320"/>
          </a:xfrm>
          <a:prstGeom prst="ellipse">
            <a:avLst/>
          </a:prstGeom>
          <a:solidFill>
            <a:srgbClr val="F2A900"/>
          </a:solidFill>
          <a:ln/>
        </p:spPr>
      </p:sp>
      <p:sp>
        <p:nvSpPr>
          <p:cNvPr id="38" name="Text 36"/>
          <p:cNvSpPr txBox="1"/>
          <p:nvPr/>
        </p:nvSpPr>
        <p:spPr>
          <a:xfrm>
            <a:off x="8377733" y="4407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9" name="Text 37"/>
          <p:cNvSpPr txBox="1"/>
          <p:nvPr/>
        </p:nvSpPr>
        <p:spPr>
          <a:xfrm>
            <a:off x="8798357" y="4370832"/>
            <a:ext cx="2570378" cy="292608"/>
          </a:xfrm>
          <a:prstGeom prst="rect">
            <a:avLst/>
          </a:prstGeom>
          <a:noFill/>
          <a:ln/>
        </p:spPr>
        <p:txBody>
          <a:bodyPr wrap="square" lIns="0" tIns="0" rIns="0" bIns="0" rtlCol="0" anchor="t"/>
          <a:lstStyle/>
          <a:p>
            <a:pPr algn="l" indent="0" marL="0">
              <a:buNone/>
            </a:pPr>
            <a:r>
              <a:rPr lang="en-US" sz="1400" b="1" dirty="0">
                <a:solidFill>
                  <a:srgbClr val="FFFFFF"/>
                </a:solidFill>
                <a:latin typeface="Arial" pitchFamily="34" charset="0"/>
                <a:ea typeface="Arial" pitchFamily="34" charset="-122"/>
                <a:cs typeface="Arial" pitchFamily="34" charset="-120"/>
              </a:rPr>
              <a:t>Alerting</a:t>
            </a:r>
            <a:endParaRPr lang="en-US" sz="1400" dirty="0"/>
          </a:p>
        </p:txBody>
      </p:sp>
      <p:sp>
        <p:nvSpPr>
          <p:cNvPr id="40" name="Text 38"/>
          <p:cNvSpPr txBox="1"/>
          <p:nvPr/>
        </p:nvSpPr>
        <p:spPr>
          <a:xfrm>
            <a:off x="8798357" y="4681728"/>
            <a:ext cx="2570378" cy="100584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Two spend alerts caught $291K of increases before they became permanent.</a:t>
            </a:r>
            <a:endParaRPr lang="en-US" sz="12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WHAT WE IMPLEMENTED</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Five actions produced 94% of the $268K realised</a:t>
            </a:r>
            <a:endParaRPr lang="en-US" sz="2800" dirty="0"/>
          </a:p>
        </p:txBody>
      </p:sp>
      <p:sp>
        <p:nvSpPr>
          <p:cNvPr id="5" name="Text 3"/>
          <p:cNvSpPr txBox="1"/>
          <p:nvPr/>
        </p:nvSpPr>
        <p:spPr>
          <a:xfrm>
            <a:off x="566928"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Realised savings  ·  annualised</a:t>
            </a:r>
            <a:endParaRPr lang="en-US" sz="1300" dirty="0"/>
          </a:p>
        </p:txBody>
      </p:sp>
      <p:sp>
        <p:nvSpPr>
          <p:cNvPr id="6" name="Text 4"/>
          <p:cNvSpPr txBox="1"/>
          <p:nvPr/>
        </p:nvSpPr>
        <p:spPr>
          <a:xfrm>
            <a:off x="566928" y="1938528"/>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Decommission North Europe</a:t>
            </a:r>
            <a:endParaRPr lang="en-US" sz="1100" dirty="0"/>
          </a:p>
        </p:txBody>
      </p:sp>
      <p:sp>
        <p:nvSpPr>
          <p:cNvPr id="7" name="rank-bar-0"/>
          <p:cNvSpPr/>
          <p:nvPr/>
        </p:nvSpPr>
        <p:spPr>
          <a:xfrm>
            <a:off x="3858768" y="2048256"/>
            <a:ext cx="1234440" cy="137160"/>
          </a:xfrm>
          <a:prstGeom prst="rect">
            <a:avLst/>
          </a:prstGeom>
          <a:solidFill>
            <a:srgbClr val="00A878"/>
          </a:solidFill>
          <a:ln/>
        </p:spPr>
      </p:sp>
      <p:sp>
        <p:nvSpPr>
          <p:cNvPr id="8" name="Text 6"/>
          <p:cNvSpPr txBox="1"/>
          <p:nvPr/>
        </p:nvSpPr>
        <p:spPr>
          <a:xfrm>
            <a:off x="5184648" y="1938528"/>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$70K</a:t>
            </a:r>
            <a:endParaRPr lang="en-US" sz="1150" dirty="0"/>
          </a:p>
        </p:txBody>
      </p:sp>
      <p:sp>
        <p:nvSpPr>
          <p:cNvPr id="9" name="Text 7"/>
          <p:cNvSpPr txBox="1"/>
          <p:nvPr/>
        </p:nvSpPr>
        <p:spPr>
          <a:xfrm>
            <a:off x="566928" y="2368296"/>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VM reserved instances (Azure)</a:t>
            </a:r>
            <a:endParaRPr lang="en-US" sz="1100" dirty="0"/>
          </a:p>
        </p:txBody>
      </p:sp>
      <p:sp>
        <p:nvSpPr>
          <p:cNvPr id="10" name="rank-bar-1"/>
          <p:cNvSpPr/>
          <p:nvPr/>
        </p:nvSpPr>
        <p:spPr>
          <a:xfrm>
            <a:off x="3858768" y="2478024"/>
            <a:ext cx="1170153" cy="137160"/>
          </a:xfrm>
          <a:prstGeom prst="rect">
            <a:avLst/>
          </a:prstGeom>
          <a:solidFill>
            <a:srgbClr val="00A878"/>
          </a:solidFill>
          <a:ln/>
        </p:spPr>
      </p:sp>
      <p:sp>
        <p:nvSpPr>
          <p:cNvPr id="11" name="Text 9"/>
          <p:cNvSpPr txBox="1"/>
          <p:nvPr/>
        </p:nvSpPr>
        <p:spPr>
          <a:xfrm>
            <a:off x="5184648" y="2368296"/>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$67K</a:t>
            </a:r>
            <a:endParaRPr lang="en-US" sz="1150" dirty="0"/>
          </a:p>
        </p:txBody>
      </p:sp>
      <p:sp>
        <p:nvSpPr>
          <p:cNvPr id="12" name="Text 10"/>
          <p:cNvSpPr txBox="1"/>
          <p:nvPr/>
        </p:nvSpPr>
        <p:spPr>
          <a:xfrm>
            <a:off x="566928" y="2798064"/>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Compute savings plan (Azure)</a:t>
            </a:r>
            <a:endParaRPr lang="en-US" sz="1100" dirty="0"/>
          </a:p>
        </p:txBody>
      </p:sp>
      <p:sp>
        <p:nvSpPr>
          <p:cNvPr id="13" name="rank-bar-2"/>
          <p:cNvSpPr/>
          <p:nvPr/>
        </p:nvSpPr>
        <p:spPr>
          <a:xfrm>
            <a:off x="3858768" y="2907792"/>
            <a:ext cx="1144781" cy="137160"/>
          </a:xfrm>
          <a:prstGeom prst="rect">
            <a:avLst/>
          </a:prstGeom>
          <a:solidFill>
            <a:srgbClr val="00A878"/>
          </a:solidFill>
          <a:ln/>
        </p:spPr>
      </p:sp>
      <p:sp>
        <p:nvSpPr>
          <p:cNvPr id="14" name="Text 12"/>
          <p:cNvSpPr txBox="1"/>
          <p:nvPr/>
        </p:nvSpPr>
        <p:spPr>
          <a:xfrm>
            <a:off x="5184648" y="2798064"/>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$65K</a:t>
            </a:r>
            <a:endParaRPr lang="en-US" sz="1150" dirty="0"/>
          </a:p>
        </p:txBody>
      </p:sp>
      <p:sp>
        <p:nvSpPr>
          <p:cNvPr id="15" name="Text 13"/>
          <p:cNvSpPr txBox="1"/>
          <p:nvPr/>
        </p:nvSpPr>
        <p:spPr>
          <a:xfrm>
            <a:off x="566928" y="3227832"/>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Removed unnecessary VMs</a:t>
            </a:r>
            <a:endParaRPr lang="en-US" sz="1100" dirty="0"/>
          </a:p>
        </p:txBody>
      </p:sp>
      <p:sp>
        <p:nvSpPr>
          <p:cNvPr id="16" name="rank-bar-3"/>
          <p:cNvSpPr/>
          <p:nvPr/>
        </p:nvSpPr>
        <p:spPr>
          <a:xfrm>
            <a:off x="3858768" y="3337560"/>
            <a:ext cx="492448" cy="137160"/>
          </a:xfrm>
          <a:prstGeom prst="rect">
            <a:avLst/>
          </a:prstGeom>
          <a:solidFill>
            <a:srgbClr val="00A878"/>
          </a:solidFill>
          <a:ln/>
        </p:spPr>
      </p:sp>
      <p:sp>
        <p:nvSpPr>
          <p:cNvPr id="17" name="Text 15"/>
          <p:cNvSpPr txBox="1"/>
          <p:nvPr/>
        </p:nvSpPr>
        <p:spPr>
          <a:xfrm>
            <a:off x="5184648" y="3227832"/>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$28K</a:t>
            </a:r>
            <a:endParaRPr lang="en-US" sz="1150" dirty="0"/>
          </a:p>
        </p:txBody>
      </p:sp>
      <p:sp>
        <p:nvSpPr>
          <p:cNvPr id="18" name="Text 16"/>
          <p:cNvSpPr txBox="1"/>
          <p:nvPr/>
        </p:nvSpPr>
        <p:spPr>
          <a:xfrm>
            <a:off x="566928" y="3657600"/>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Idle unattached disks</a:t>
            </a:r>
            <a:endParaRPr lang="en-US" sz="1100" dirty="0"/>
          </a:p>
        </p:txBody>
      </p:sp>
      <p:sp>
        <p:nvSpPr>
          <p:cNvPr id="19" name="rank-bar-4"/>
          <p:cNvSpPr/>
          <p:nvPr/>
        </p:nvSpPr>
        <p:spPr>
          <a:xfrm>
            <a:off x="3858768" y="3767328"/>
            <a:ext cx="360527" cy="137160"/>
          </a:xfrm>
          <a:prstGeom prst="rect">
            <a:avLst/>
          </a:prstGeom>
          <a:solidFill>
            <a:srgbClr val="00A878"/>
          </a:solidFill>
          <a:ln/>
        </p:spPr>
      </p:sp>
      <p:sp>
        <p:nvSpPr>
          <p:cNvPr id="20" name="Text 18"/>
          <p:cNvSpPr txBox="1"/>
          <p:nvPr/>
        </p:nvSpPr>
        <p:spPr>
          <a:xfrm>
            <a:off x="5184648" y="3657600"/>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$21K</a:t>
            </a:r>
            <a:endParaRPr lang="en-US" sz="1150" dirty="0"/>
          </a:p>
        </p:txBody>
      </p:sp>
      <p:sp>
        <p:nvSpPr>
          <p:cNvPr id="21" name="Text 19"/>
          <p:cNvSpPr txBox="1"/>
          <p:nvPr/>
        </p:nvSpPr>
        <p:spPr>
          <a:xfrm>
            <a:off x="566928" y="4087368"/>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RDS reserved instances (AWS)</a:t>
            </a:r>
            <a:endParaRPr lang="en-US" sz="1100" dirty="0"/>
          </a:p>
        </p:txBody>
      </p:sp>
      <p:sp>
        <p:nvSpPr>
          <p:cNvPr id="22" name="rank-bar-5"/>
          <p:cNvSpPr/>
          <p:nvPr/>
        </p:nvSpPr>
        <p:spPr>
          <a:xfrm>
            <a:off x="3858768" y="4197096"/>
            <a:ext cx="139193" cy="137160"/>
          </a:xfrm>
          <a:prstGeom prst="rect">
            <a:avLst/>
          </a:prstGeom>
          <a:solidFill>
            <a:srgbClr val="F2A900"/>
          </a:solidFill>
          <a:ln/>
        </p:spPr>
      </p:sp>
      <p:sp>
        <p:nvSpPr>
          <p:cNvPr id="23" name="Text 21"/>
          <p:cNvSpPr txBox="1"/>
          <p:nvPr/>
        </p:nvSpPr>
        <p:spPr>
          <a:xfrm>
            <a:off x="5184648" y="4087368"/>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$8K</a:t>
            </a:r>
            <a:endParaRPr lang="en-US" sz="1150" dirty="0"/>
          </a:p>
        </p:txBody>
      </p:sp>
      <p:sp>
        <p:nvSpPr>
          <p:cNvPr id="24" name="Text 22"/>
          <p:cNvSpPr txBox="1"/>
          <p:nvPr/>
        </p:nvSpPr>
        <p:spPr>
          <a:xfrm>
            <a:off x="566928" y="4517136"/>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Unused SQL on expiring RI</a:t>
            </a:r>
            <a:endParaRPr lang="en-US" sz="1100" dirty="0"/>
          </a:p>
        </p:txBody>
      </p:sp>
      <p:sp>
        <p:nvSpPr>
          <p:cNvPr id="25" name="rank-bar-6"/>
          <p:cNvSpPr/>
          <p:nvPr/>
        </p:nvSpPr>
        <p:spPr>
          <a:xfrm>
            <a:off x="3858768" y="4626864"/>
            <a:ext cx="79952" cy="137160"/>
          </a:xfrm>
          <a:prstGeom prst="rect">
            <a:avLst/>
          </a:prstGeom>
          <a:solidFill>
            <a:srgbClr val="0F7DC2"/>
          </a:solidFill>
          <a:ln/>
        </p:spPr>
      </p:sp>
      <p:sp>
        <p:nvSpPr>
          <p:cNvPr id="26" name="Text 24"/>
          <p:cNvSpPr txBox="1"/>
          <p:nvPr/>
        </p:nvSpPr>
        <p:spPr>
          <a:xfrm>
            <a:off x="5184648" y="4517136"/>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$5K</a:t>
            </a:r>
            <a:endParaRPr lang="en-US" sz="1150" dirty="0"/>
          </a:p>
        </p:txBody>
      </p:sp>
      <p:sp>
        <p:nvSpPr>
          <p:cNvPr id="27" name="Text 25"/>
          <p:cNvSpPr txBox="1"/>
          <p:nvPr/>
        </p:nvSpPr>
        <p:spPr>
          <a:xfrm>
            <a:off x="566928" y="4946904"/>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SageMaker account clean-up (AWS)</a:t>
            </a:r>
            <a:endParaRPr lang="en-US" sz="1100" dirty="0"/>
          </a:p>
        </p:txBody>
      </p:sp>
      <p:sp>
        <p:nvSpPr>
          <p:cNvPr id="28" name="rank-bar-7"/>
          <p:cNvSpPr/>
          <p:nvPr/>
        </p:nvSpPr>
        <p:spPr>
          <a:xfrm>
            <a:off x="3858768" y="5056632"/>
            <a:ext cx="49008" cy="137160"/>
          </a:xfrm>
          <a:prstGeom prst="rect">
            <a:avLst/>
          </a:prstGeom>
          <a:solidFill>
            <a:srgbClr val="F2A900"/>
          </a:solidFill>
          <a:ln/>
        </p:spPr>
      </p:sp>
      <p:sp>
        <p:nvSpPr>
          <p:cNvPr id="29" name="Text 27"/>
          <p:cNvSpPr txBox="1"/>
          <p:nvPr/>
        </p:nvSpPr>
        <p:spPr>
          <a:xfrm>
            <a:off x="5184648" y="4946904"/>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$3K</a:t>
            </a:r>
            <a:endParaRPr lang="en-US" sz="1150" dirty="0"/>
          </a:p>
        </p:txBody>
      </p:sp>
      <p:sp>
        <p:nvSpPr>
          <p:cNvPr id="30" name="Text 28"/>
          <p:cNvSpPr txBox="1"/>
          <p:nvPr/>
        </p:nvSpPr>
        <p:spPr>
          <a:xfrm>
            <a:off x="566928" y="5376672"/>
            <a:ext cx="3200400" cy="35661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App Service RI + RI refund</a:t>
            </a:r>
            <a:endParaRPr lang="en-US" sz="1100" dirty="0"/>
          </a:p>
        </p:txBody>
      </p:sp>
      <p:sp>
        <p:nvSpPr>
          <p:cNvPr id="31" name="rank-bar-8"/>
          <p:cNvSpPr/>
          <p:nvPr/>
        </p:nvSpPr>
        <p:spPr>
          <a:xfrm>
            <a:off x="3858768" y="5486400"/>
            <a:ext cx="27432" cy="137160"/>
          </a:xfrm>
          <a:prstGeom prst="rect">
            <a:avLst/>
          </a:prstGeom>
          <a:solidFill>
            <a:srgbClr val="0F7DC2"/>
          </a:solidFill>
          <a:ln/>
        </p:spPr>
      </p:sp>
      <p:sp>
        <p:nvSpPr>
          <p:cNvPr id="32" name="Text 30"/>
          <p:cNvSpPr txBox="1"/>
          <p:nvPr/>
        </p:nvSpPr>
        <p:spPr>
          <a:xfrm>
            <a:off x="5184648" y="5376672"/>
            <a:ext cx="777240" cy="35661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$1K</a:t>
            </a:r>
            <a:endParaRPr lang="en-US" sz="1150" dirty="0"/>
          </a:p>
        </p:txBody>
      </p:sp>
      <p:sp>
        <p:nvSpPr>
          <p:cNvPr id="33" name="Text 31"/>
          <p:cNvSpPr txBox="1"/>
          <p:nvPr/>
        </p:nvSpPr>
        <p:spPr>
          <a:xfrm>
            <a:off x="6400800"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Cost avoided  ·  annualised</a:t>
            </a:r>
            <a:endParaRPr lang="en-US" sz="1300" dirty="0"/>
          </a:p>
        </p:txBody>
      </p:sp>
      <p:sp>
        <p:nvSpPr>
          <p:cNvPr id="34" name="Text 32"/>
          <p:cNvSpPr txBox="1"/>
          <p:nvPr/>
        </p:nvSpPr>
        <p:spPr>
          <a:xfrm>
            <a:off x="6400800" y="1975104"/>
            <a:ext cx="3108960" cy="40233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Alert — CloudWatch increase</a:t>
            </a:r>
            <a:endParaRPr lang="en-US" sz="1100" dirty="0"/>
          </a:p>
        </p:txBody>
      </p:sp>
      <p:sp>
        <p:nvSpPr>
          <p:cNvPr id="35" name="rank-bar-0"/>
          <p:cNvSpPr/>
          <p:nvPr/>
        </p:nvSpPr>
        <p:spPr>
          <a:xfrm>
            <a:off x="9601200" y="2107692"/>
            <a:ext cx="1152144" cy="137160"/>
          </a:xfrm>
          <a:prstGeom prst="rect">
            <a:avLst/>
          </a:prstGeom>
          <a:solidFill>
            <a:srgbClr val="0F7DC2"/>
          </a:solidFill>
          <a:ln/>
        </p:spPr>
      </p:sp>
      <p:sp>
        <p:nvSpPr>
          <p:cNvPr id="36" name="Text 34"/>
          <p:cNvSpPr txBox="1"/>
          <p:nvPr/>
        </p:nvSpPr>
        <p:spPr>
          <a:xfrm>
            <a:off x="10844784" y="1975104"/>
            <a:ext cx="777240" cy="40233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$219K</a:t>
            </a:r>
            <a:endParaRPr lang="en-US" sz="1150" dirty="0"/>
          </a:p>
        </p:txBody>
      </p:sp>
      <p:sp>
        <p:nvSpPr>
          <p:cNvPr id="37" name="Text 35"/>
          <p:cNvSpPr txBox="1"/>
          <p:nvPr/>
        </p:nvSpPr>
        <p:spPr>
          <a:xfrm>
            <a:off x="6400800" y="2450592"/>
            <a:ext cx="3108960" cy="40233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Alert — ongoing E1 increase</a:t>
            </a:r>
            <a:endParaRPr lang="en-US" sz="1100" dirty="0"/>
          </a:p>
        </p:txBody>
      </p:sp>
      <p:sp>
        <p:nvSpPr>
          <p:cNvPr id="38" name="rank-bar-1"/>
          <p:cNvSpPr/>
          <p:nvPr/>
        </p:nvSpPr>
        <p:spPr>
          <a:xfrm>
            <a:off x="9601200" y="2583180"/>
            <a:ext cx="378287" cy="137160"/>
          </a:xfrm>
          <a:prstGeom prst="rect">
            <a:avLst/>
          </a:prstGeom>
          <a:solidFill>
            <a:srgbClr val="0F7DC2"/>
          </a:solidFill>
          <a:ln/>
        </p:spPr>
      </p:sp>
      <p:sp>
        <p:nvSpPr>
          <p:cNvPr id="39" name="Text 37"/>
          <p:cNvSpPr txBox="1"/>
          <p:nvPr/>
        </p:nvSpPr>
        <p:spPr>
          <a:xfrm>
            <a:off x="10844784" y="2450592"/>
            <a:ext cx="777240" cy="40233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$72K</a:t>
            </a:r>
            <a:endParaRPr lang="en-US" sz="1150" dirty="0"/>
          </a:p>
        </p:txBody>
      </p:sp>
      <p:sp>
        <p:nvSpPr>
          <p:cNvPr id="40" name="Text 38"/>
          <p:cNvSpPr txBox="1"/>
          <p:nvPr/>
        </p:nvSpPr>
        <p:spPr>
          <a:xfrm>
            <a:off x="6400800" y="2926080"/>
            <a:ext cx="3108960" cy="40233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RI renewal, blob storage</a:t>
            </a:r>
            <a:endParaRPr lang="en-US" sz="1100" dirty="0"/>
          </a:p>
        </p:txBody>
      </p:sp>
      <p:sp>
        <p:nvSpPr>
          <p:cNvPr id="41" name="rank-bar-2"/>
          <p:cNvSpPr/>
          <p:nvPr/>
        </p:nvSpPr>
        <p:spPr>
          <a:xfrm>
            <a:off x="9601200" y="3058668"/>
            <a:ext cx="49621" cy="137160"/>
          </a:xfrm>
          <a:prstGeom prst="rect">
            <a:avLst/>
          </a:prstGeom>
          <a:solidFill>
            <a:srgbClr val="0F7DC2"/>
          </a:solidFill>
          <a:ln/>
        </p:spPr>
      </p:sp>
      <p:sp>
        <p:nvSpPr>
          <p:cNvPr id="42" name="Text 40"/>
          <p:cNvSpPr txBox="1"/>
          <p:nvPr/>
        </p:nvSpPr>
        <p:spPr>
          <a:xfrm>
            <a:off x="10844784" y="2926080"/>
            <a:ext cx="777240" cy="40233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$9K</a:t>
            </a:r>
            <a:endParaRPr lang="en-US" sz="1150" dirty="0"/>
          </a:p>
        </p:txBody>
      </p:sp>
      <p:sp>
        <p:nvSpPr>
          <p:cNvPr id="43" name="Text 41"/>
          <p:cNvSpPr txBox="1"/>
          <p:nvPr/>
        </p:nvSpPr>
        <p:spPr>
          <a:xfrm>
            <a:off x="6400800" y="3401568"/>
            <a:ext cx="3108960" cy="40233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EKS extended support, pre-prod</a:t>
            </a:r>
            <a:endParaRPr lang="en-US" sz="1100" dirty="0"/>
          </a:p>
        </p:txBody>
      </p:sp>
      <p:sp>
        <p:nvSpPr>
          <p:cNvPr id="44" name="rank-bar-3"/>
          <p:cNvSpPr/>
          <p:nvPr/>
        </p:nvSpPr>
        <p:spPr>
          <a:xfrm>
            <a:off x="9601200" y="3534156"/>
            <a:ext cx="46086" cy="137160"/>
          </a:xfrm>
          <a:prstGeom prst="rect">
            <a:avLst/>
          </a:prstGeom>
          <a:solidFill>
            <a:srgbClr val="F2A900"/>
          </a:solidFill>
          <a:ln/>
        </p:spPr>
      </p:sp>
      <p:sp>
        <p:nvSpPr>
          <p:cNvPr id="45" name="Text 43"/>
          <p:cNvSpPr txBox="1"/>
          <p:nvPr/>
        </p:nvSpPr>
        <p:spPr>
          <a:xfrm>
            <a:off x="10844784" y="3401568"/>
            <a:ext cx="777240" cy="40233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$9K</a:t>
            </a:r>
            <a:endParaRPr lang="en-US" sz="1150" dirty="0"/>
          </a:p>
        </p:txBody>
      </p:sp>
      <p:sp>
        <p:nvSpPr>
          <p:cNvPr id="46" name="Text 44"/>
          <p:cNvSpPr txBox="1"/>
          <p:nvPr/>
        </p:nvSpPr>
        <p:spPr>
          <a:xfrm>
            <a:off x="6400800" y="3877056"/>
            <a:ext cx="3108960" cy="402336"/>
          </a:xfrm>
          <a:prstGeom prst="rect">
            <a:avLst/>
          </a:prstGeom>
          <a:noFill/>
          <a:ln/>
        </p:spPr>
        <p:txBody>
          <a:bodyPr wrap="square" lIns="0" tIns="0" rIns="0" bIns="0" rtlCol="0" anchor="ctr"/>
          <a:lstStyle/>
          <a:p>
            <a:pPr algn="l" indent="0" marL="0">
              <a:buNone/>
            </a:pPr>
            <a:r>
              <a:rPr lang="en-US" sz="1100" dirty="0">
                <a:solidFill>
                  <a:srgbClr val="0B1B2E"/>
                </a:solidFill>
                <a:latin typeface="Arial" pitchFamily="34" charset="0"/>
                <a:ea typeface="Arial" pitchFamily="34" charset="-122"/>
                <a:cs typeface="Arial" pitchFamily="34" charset="-120"/>
              </a:rPr>
              <a:t>RI renewal, Redis Cache</a:t>
            </a:r>
            <a:endParaRPr lang="en-US" sz="1100" dirty="0"/>
          </a:p>
        </p:txBody>
      </p:sp>
      <p:sp>
        <p:nvSpPr>
          <p:cNvPr id="47" name="rank-bar-4"/>
          <p:cNvSpPr/>
          <p:nvPr/>
        </p:nvSpPr>
        <p:spPr>
          <a:xfrm>
            <a:off x="9601200" y="4009644"/>
            <a:ext cx="27432" cy="137160"/>
          </a:xfrm>
          <a:prstGeom prst="rect">
            <a:avLst/>
          </a:prstGeom>
          <a:solidFill>
            <a:srgbClr val="0F7DC2"/>
          </a:solidFill>
          <a:ln/>
        </p:spPr>
      </p:sp>
      <p:sp>
        <p:nvSpPr>
          <p:cNvPr id="48" name="Text 46"/>
          <p:cNvSpPr txBox="1"/>
          <p:nvPr/>
        </p:nvSpPr>
        <p:spPr>
          <a:xfrm>
            <a:off x="10844784" y="3877056"/>
            <a:ext cx="777240" cy="402336"/>
          </a:xfrm>
          <a:prstGeom prst="rect">
            <a:avLst/>
          </a:prstGeom>
          <a:noFill/>
          <a:ln/>
        </p:spPr>
        <p:txBody>
          <a:bodyPr wrap="square" lIns="0" tIns="0" rIns="0" bIns="0" rtlCol="0" anchor="ctr"/>
          <a:lstStyle/>
          <a:p>
            <a:pPr algn="r" indent="0" marL="0">
              <a:buNone/>
            </a:pPr>
            <a:r>
              <a:rPr lang="en-US" sz="1150" b="1" dirty="0">
                <a:solidFill>
                  <a:srgbClr val="0B1B2E"/>
                </a:solidFill>
                <a:latin typeface="Arial" pitchFamily="34" charset="0"/>
                <a:ea typeface="Arial" pitchFamily="34" charset="-122"/>
                <a:cs typeface="Arial" pitchFamily="34" charset="-120"/>
              </a:rPr>
              <a:t>$1K</a:t>
            </a:r>
            <a:endParaRPr lang="en-US" sz="1150" dirty="0"/>
          </a:p>
        </p:txBody>
      </p:sp>
      <p:sp>
        <p:nvSpPr>
          <p:cNvPr id="49" name="panel"/>
          <p:cNvSpPr/>
          <p:nvPr/>
        </p:nvSpPr>
        <p:spPr>
          <a:xfrm>
            <a:off x="6400800" y="4407408"/>
            <a:ext cx="5221224" cy="1225296"/>
          </a:xfrm>
          <a:prstGeom prst="roundRect">
            <a:avLst>
              <a:gd name="adj" fmla="val 4478"/>
            </a:avLst>
          </a:prstGeom>
          <a:solidFill>
            <a:srgbClr val="E6F1FA"/>
          </a:solidFill>
          <a:ln/>
        </p:spPr>
      </p:sp>
      <p:sp>
        <p:nvSpPr>
          <p:cNvPr id="50" name="Text 48"/>
          <p:cNvSpPr txBox="1"/>
          <p:nvPr/>
        </p:nvSpPr>
        <p:spPr>
          <a:xfrm>
            <a:off x="6656832" y="4553712"/>
            <a:ext cx="4663440" cy="274320"/>
          </a:xfrm>
          <a:prstGeom prst="rect">
            <a:avLst/>
          </a:prstGeom>
          <a:noFill/>
          <a:ln/>
        </p:spPr>
        <p:txBody>
          <a:bodyPr wrap="square" lIns="0" tIns="0" rIns="0" bIns="0" rtlCol="0" anchor="ctr"/>
          <a:lstStyle/>
          <a:p>
            <a:pPr algn="l" indent="0" marL="0">
              <a:buNone/>
            </a:pPr>
            <a:r>
              <a:rPr lang="en-US" sz="1200" b="1" dirty="0">
                <a:solidFill>
                  <a:srgbClr val="0A4E7A"/>
                </a:solidFill>
                <a:latin typeface="Arial" pitchFamily="34" charset="0"/>
                <a:ea typeface="Arial" pitchFamily="34" charset="-122"/>
                <a:cs typeface="Arial" pitchFamily="34" charset="-120"/>
              </a:rPr>
              <a:t>Why avoidance counts</a:t>
            </a:r>
            <a:endParaRPr lang="en-US" sz="1200" dirty="0"/>
          </a:p>
        </p:txBody>
      </p:sp>
      <p:sp>
        <p:nvSpPr>
          <p:cNvPr id="51" name="Text 49"/>
          <p:cNvSpPr txBox="1"/>
          <p:nvPr/>
        </p:nvSpPr>
        <p:spPr>
          <a:xfrm>
            <a:off x="6656832" y="4846320"/>
            <a:ext cx="4709160" cy="694944"/>
          </a:xfrm>
          <a:prstGeom prst="rect">
            <a:avLst/>
          </a:prstGeom>
          <a:noFill/>
          <a:ln/>
        </p:spPr>
        <p:txBody>
          <a:bodyPr wrap="square" lIns="0" tIns="0" rIns="0" bIns="0" rtlCol="0" anchor="t"/>
          <a:lstStyle/>
          <a:p>
            <a:pPr algn="l" indent="0" marL="0">
              <a:buNone/>
            </a:pPr>
            <a:r>
              <a:rPr lang="en-US" sz="1100" dirty="0">
                <a:solidFill>
                  <a:srgbClr val="134B70"/>
                </a:solidFill>
                <a:latin typeface="Arial" pitchFamily="34" charset="0"/>
                <a:ea typeface="Arial" pitchFamily="34" charset="-122"/>
                <a:cs typeface="Arial" pitchFamily="34" charset="-120"/>
              </a:rPr>
              <a:t>These are increases our monitoring caught and stopped. They never reached an invoice, so they do not show as a reduction — but the budget would have carried them.</a:t>
            </a:r>
            <a:endParaRPr lang="en-US" sz="1100" dirty="0"/>
          </a:p>
        </p:txBody>
      </p:sp>
      <p:sp>
        <p:nvSpPr>
          <p:cNvPr id="5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All figures annualised. Realised $267,707 · avoided $309,973.</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SAVINGS PIPELINE</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$190K is identified and ready — 41% of it is reservations</a:t>
            </a:r>
            <a:endParaRPr lang="en-US" sz="2800" dirty="0"/>
          </a:p>
        </p:txBody>
      </p:sp>
      <p:sp>
        <p:nvSpPr>
          <p:cNvPr id="5" name="Text 3"/>
          <p:cNvSpPr txBox="1"/>
          <p:nvPr/>
        </p:nvSpPr>
        <p:spPr>
          <a:xfrm>
            <a:off x="566928"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By business unit</a:t>
            </a:r>
            <a:endParaRPr lang="en-US" sz="1300" dirty="0"/>
          </a:p>
        </p:txBody>
      </p:sp>
      <p:sp>
        <p:nvSpPr>
          <p:cNvPr id="6" name="Text 4"/>
          <p:cNvSpPr txBox="1"/>
          <p:nvPr/>
        </p:nvSpPr>
        <p:spPr>
          <a:xfrm>
            <a:off x="566928" y="193852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SAP</a:t>
            </a:r>
            <a:endParaRPr lang="en-US" sz="1150" dirty="0"/>
          </a:p>
        </p:txBody>
      </p:sp>
      <p:sp>
        <p:nvSpPr>
          <p:cNvPr id="7" name="rank-bar-0"/>
          <p:cNvSpPr/>
          <p:nvPr/>
        </p:nvSpPr>
        <p:spPr>
          <a:xfrm>
            <a:off x="3675888" y="2048256"/>
            <a:ext cx="1417320" cy="137160"/>
          </a:xfrm>
          <a:prstGeom prst="rect">
            <a:avLst/>
          </a:prstGeom>
          <a:solidFill>
            <a:srgbClr val="7C5CFF"/>
          </a:solidFill>
          <a:ln/>
        </p:spPr>
      </p:sp>
      <p:sp>
        <p:nvSpPr>
          <p:cNvPr id="8" name="Text 6"/>
          <p:cNvSpPr txBox="1"/>
          <p:nvPr/>
        </p:nvSpPr>
        <p:spPr>
          <a:xfrm>
            <a:off x="5184648" y="193852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$80K</a:t>
            </a:r>
            <a:endParaRPr lang="en-US" sz="1200" dirty="0"/>
          </a:p>
        </p:txBody>
      </p:sp>
      <p:sp>
        <p:nvSpPr>
          <p:cNvPr id="9" name="Text 7"/>
          <p:cNvSpPr txBox="1"/>
          <p:nvPr/>
        </p:nvSpPr>
        <p:spPr>
          <a:xfrm>
            <a:off x="566928" y="236829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CloudIT</a:t>
            </a:r>
            <a:endParaRPr lang="en-US" sz="1150" dirty="0"/>
          </a:p>
        </p:txBody>
      </p:sp>
      <p:sp>
        <p:nvSpPr>
          <p:cNvPr id="10" name="rank-bar-1"/>
          <p:cNvSpPr/>
          <p:nvPr/>
        </p:nvSpPr>
        <p:spPr>
          <a:xfrm>
            <a:off x="3675888" y="2478024"/>
            <a:ext cx="625638" cy="137160"/>
          </a:xfrm>
          <a:prstGeom prst="rect">
            <a:avLst/>
          </a:prstGeom>
          <a:solidFill>
            <a:srgbClr val="7C5CFF"/>
          </a:solidFill>
          <a:ln/>
        </p:spPr>
      </p:sp>
      <p:sp>
        <p:nvSpPr>
          <p:cNvPr id="11" name="Text 9"/>
          <p:cNvSpPr txBox="1"/>
          <p:nvPr/>
        </p:nvSpPr>
        <p:spPr>
          <a:xfrm>
            <a:off x="5184648" y="236829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$35K</a:t>
            </a:r>
            <a:endParaRPr lang="en-US" sz="1200" dirty="0"/>
          </a:p>
        </p:txBody>
      </p:sp>
      <p:sp>
        <p:nvSpPr>
          <p:cNvPr id="12" name="Text 10"/>
          <p:cNvSpPr txBox="1"/>
          <p:nvPr/>
        </p:nvSpPr>
        <p:spPr>
          <a:xfrm>
            <a:off x="566928" y="279806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AI Factory</a:t>
            </a:r>
            <a:endParaRPr lang="en-US" sz="1150" dirty="0"/>
          </a:p>
        </p:txBody>
      </p:sp>
      <p:sp>
        <p:nvSpPr>
          <p:cNvPr id="13" name="rank-bar-2"/>
          <p:cNvSpPr/>
          <p:nvPr/>
        </p:nvSpPr>
        <p:spPr>
          <a:xfrm>
            <a:off x="3675888" y="2907792"/>
            <a:ext cx="601753" cy="137160"/>
          </a:xfrm>
          <a:prstGeom prst="rect">
            <a:avLst/>
          </a:prstGeom>
          <a:solidFill>
            <a:srgbClr val="7C5CFF"/>
          </a:solidFill>
          <a:ln/>
        </p:spPr>
      </p:sp>
      <p:sp>
        <p:nvSpPr>
          <p:cNvPr id="14" name="Text 12"/>
          <p:cNvSpPr txBox="1"/>
          <p:nvPr/>
        </p:nvSpPr>
        <p:spPr>
          <a:xfrm>
            <a:off x="5184648" y="279806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$34K</a:t>
            </a:r>
            <a:endParaRPr lang="en-US" sz="1200" dirty="0"/>
          </a:p>
        </p:txBody>
      </p:sp>
      <p:sp>
        <p:nvSpPr>
          <p:cNvPr id="15" name="Text 13"/>
          <p:cNvSpPr txBox="1"/>
          <p:nvPr/>
        </p:nvSpPr>
        <p:spPr>
          <a:xfrm>
            <a:off x="566928" y="322783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Data Cloud</a:t>
            </a:r>
            <a:endParaRPr lang="en-US" sz="1150" dirty="0"/>
          </a:p>
        </p:txBody>
      </p:sp>
      <p:sp>
        <p:nvSpPr>
          <p:cNvPr id="16" name="rank-bar-3"/>
          <p:cNvSpPr/>
          <p:nvPr/>
        </p:nvSpPr>
        <p:spPr>
          <a:xfrm>
            <a:off x="3675888" y="3337560"/>
            <a:ext cx="316301" cy="137160"/>
          </a:xfrm>
          <a:prstGeom prst="rect">
            <a:avLst/>
          </a:prstGeom>
          <a:solidFill>
            <a:srgbClr val="0F7DC2"/>
          </a:solidFill>
          <a:ln/>
        </p:spPr>
      </p:sp>
      <p:sp>
        <p:nvSpPr>
          <p:cNvPr id="17" name="Text 15"/>
          <p:cNvSpPr txBox="1"/>
          <p:nvPr/>
        </p:nvSpPr>
        <p:spPr>
          <a:xfrm>
            <a:off x="5184648" y="322783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$18K</a:t>
            </a:r>
            <a:endParaRPr lang="en-US" sz="1200" dirty="0"/>
          </a:p>
        </p:txBody>
      </p:sp>
      <p:sp>
        <p:nvSpPr>
          <p:cNvPr id="18" name="Text 16"/>
          <p:cNvSpPr txBox="1"/>
          <p:nvPr/>
        </p:nvSpPr>
        <p:spPr>
          <a:xfrm>
            <a:off x="566928" y="3657600"/>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Actuary</a:t>
            </a:r>
            <a:endParaRPr lang="en-US" sz="1150" dirty="0"/>
          </a:p>
        </p:txBody>
      </p:sp>
      <p:sp>
        <p:nvSpPr>
          <p:cNvPr id="19" name="rank-bar-4"/>
          <p:cNvSpPr/>
          <p:nvPr/>
        </p:nvSpPr>
        <p:spPr>
          <a:xfrm>
            <a:off x="3675888" y="3767328"/>
            <a:ext cx="141787" cy="137160"/>
          </a:xfrm>
          <a:prstGeom prst="rect">
            <a:avLst/>
          </a:prstGeom>
          <a:solidFill>
            <a:srgbClr val="0F7DC2"/>
          </a:solidFill>
          <a:ln/>
        </p:spPr>
      </p:sp>
      <p:sp>
        <p:nvSpPr>
          <p:cNvPr id="20" name="Text 18"/>
          <p:cNvSpPr txBox="1"/>
          <p:nvPr/>
        </p:nvSpPr>
        <p:spPr>
          <a:xfrm>
            <a:off x="5184648" y="3657600"/>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$8K</a:t>
            </a:r>
            <a:endParaRPr lang="en-US" sz="1200" dirty="0"/>
          </a:p>
        </p:txBody>
      </p:sp>
      <p:sp>
        <p:nvSpPr>
          <p:cNvPr id="21" name="Text 19"/>
          <p:cNvSpPr txBox="1"/>
          <p:nvPr/>
        </p:nvSpPr>
        <p:spPr>
          <a:xfrm>
            <a:off x="566928" y="408736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AWS (all accounts)</a:t>
            </a:r>
            <a:endParaRPr lang="en-US" sz="1150" dirty="0"/>
          </a:p>
        </p:txBody>
      </p:sp>
      <p:sp>
        <p:nvSpPr>
          <p:cNvPr id="22" name="rank-bar-5"/>
          <p:cNvSpPr/>
          <p:nvPr/>
        </p:nvSpPr>
        <p:spPr>
          <a:xfrm>
            <a:off x="3675888" y="4197096"/>
            <a:ext cx="127505" cy="137160"/>
          </a:xfrm>
          <a:prstGeom prst="rect">
            <a:avLst/>
          </a:prstGeom>
          <a:solidFill>
            <a:srgbClr val="F2A900"/>
          </a:solidFill>
          <a:ln/>
        </p:spPr>
      </p:sp>
      <p:sp>
        <p:nvSpPr>
          <p:cNvPr id="23" name="Text 21"/>
          <p:cNvSpPr txBox="1"/>
          <p:nvPr/>
        </p:nvSpPr>
        <p:spPr>
          <a:xfrm>
            <a:off x="5184648" y="408736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$7K</a:t>
            </a:r>
            <a:endParaRPr lang="en-US" sz="1200" dirty="0"/>
          </a:p>
        </p:txBody>
      </p:sp>
      <p:sp>
        <p:nvSpPr>
          <p:cNvPr id="24" name="Text 22"/>
          <p:cNvSpPr txBox="1"/>
          <p:nvPr/>
        </p:nvSpPr>
        <p:spPr>
          <a:xfrm>
            <a:off x="566928" y="451713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Azure Sandbox</a:t>
            </a:r>
            <a:endParaRPr lang="en-US" sz="1150" dirty="0"/>
          </a:p>
        </p:txBody>
      </p:sp>
      <p:sp>
        <p:nvSpPr>
          <p:cNvPr id="25" name="rank-bar-6"/>
          <p:cNvSpPr/>
          <p:nvPr/>
        </p:nvSpPr>
        <p:spPr>
          <a:xfrm>
            <a:off x="3675888" y="4626864"/>
            <a:ext cx="78495" cy="137160"/>
          </a:xfrm>
          <a:prstGeom prst="rect">
            <a:avLst/>
          </a:prstGeom>
          <a:solidFill>
            <a:srgbClr val="0F7DC2"/>
          </a:solidFill>
          <a:ln/>
        </p:spPr>
      </p:sp>
      <p:sp>
        <p:nvSpPr>
          <p:cNvPr id="26" name="Text 24"/>
          <p:cNvSpPr txBox="1"/>
          <p:nvPr/>
        </p:nvSpPr>
        <p:spPr>
          <a:xfrm>
            <a:off x="5184648" y="451713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$4K</a:t>
            </a:r>
            <a:endParaRPr lang="en-US" sz="1200" dirty="0"/>
          </a:p>
        </p:txBody>
      </p:sp>
      <p:sp>
        <p:nvSpPr>
          <p:cNvPr id="27" name="Text 25"/>
          <p:cNvSpPr txBox="1"/>
          <p:nvPr/>
        </p:nvSpPr>
        <p:spPr>
          <a:xfrm>
            <a:off x="566928" y="494690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CloudOps</a:t>
            </a:r>
            <a:endParaRPr lang="en-US" sz="1150" dirty="0"/>
          </a:p>
        </p:txBody>
      </p:sp>
      <p:sp>
        <p:nvSpPr>
          <p:cNvPr id="28" name="rank-bar-7"/>
          <p:cNvSpPr/>
          <p:nvPr/>
        </p:nvSpPr>
        <p:spPr>
          <a:xfrm>
            <a:off x="3675888" y="5056632"/>
            <a:ext cx="37741" cy="137160"/>
          </a:xfrm>
          <a:prstGeom prst="rect">
            <a:avLst/>
          </a:prstGeom>
          <a:solidFill>
            <a:srgbClr val="0F7DC2"/>
          </a:solidFill>
          <a:ln/>
        </p:spPr>
      </p:sp>
      <p:sp>
        <p:nvSpPr>
          <p:cNvPr id="29" name="Text 27"/>
          <p:cNvSpPr txBox="1"/>
          <p:nvPr/>
        </p:nvSpPr>
        <p:spPr>
          <a:xfrm>
            <a:off x="5184648" y="494690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$2K</a:t>
            </a:r>
            <a:endParaRPr lang="en-US" sz="1200" dirty="0"/>
          </a:p>
        </p:txBody>
      </p:sp>
      <p:sp>
        <p:nvSpPr>
          <p:cNvPr id="30" name="Text 28"/>
          <p:cNvSpPr txBox="1"/>
          <p:nvPr/>
        </p:nvSpPr>
        <p:spPr>
          <a:xfrm>
            <a:off x="566928" y="537667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ITSec</a:t>
            </a:r>
            <a:endParaRPr lang="en-US" sz="1150" dirty="0"/>
          </a:p>
        </p:txBody>
      </p:sp>
      <p:sp>
        <p:nvSpPr>
          <p:cNvPr id="31" name="rank-bar-8"/>
          <p:cNvSpPr/>
          <p:nvPr/>
        </p:nvSpPr>
        <p:spPr>
          <a:xfrm>
            <a:off x="3675888" y="5486400"/>
            <a:ext cx="27432" cy="137160"/>
          </a:xfrm>
          <a:prstGeom prst="rect">
            <a:avLst/>
          </a:prstGeom>
          <a:solidFill>
            <a:srgbClr val="0F7DC2"/>
          </a:solidFill>
          <a:ln/>
        </p:spPr>
      </p:sp>
      <p:sp>
        <p:nvSpPr>
          <p:cNvPr id="32" name="Text 30"/>
          <p:cNvSpPr txBox="1"/>
          <p:nvPr/>
        </p:nvSpPr>
        <p:spPr>
          <a:xfrm>
            <a:off x="5184648" y="537667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$1K</a:t>
            </a:r>
            <a:endParaRPr lang="en-US" sz="1200" dirty="0"/>
          </a:p>
        </p:txBody>
      </p:sp>
      <p:sp>
        <p:nvSpPr>
          <p:cNvPr id="33" name="Text 31"/>
          <p:cNvSpPr txBox="1"/>
          <p:nvPr/>
        </p:nvSpPr>
        <p:spPr>
          <a:xfrm>
            <a:off x="6400800" y="1554480"/>
            <a:ext cx="5120640" cy="274320"/>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By type of action</a:t>
            </a:r>
            <a:endParaRPr lang="en-US" sz="1300" dirty="0"/>
          </a:p>
        </p:txBody>
      </p:sp>
      <p:sp>
        <p:nvSpPr>
          <p:cNvPr id="34" name="Text 32"/>
          <p:cNvSpPr txBox="1"/>
          <p:nvPr/>
        </p:nvSpPr>
        <p:spPr>
          <a:xfrm>
            <a:off x="6400800" y="193852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VM reserved instances</a:t>
            </a:r>
            <a:endParaRPr lang="en-US" sz="1150" dirty="0"/>
          </a:p>
        </p:txBody>
      </p:sp>
      <p:sp>
        <p:nvSpPr>
          <p:cNvPr id="35" name="rank-bar-0"/>
          <p:cNvSpPr/>
          <p:nvPr/>
        </p:nvSpPr>
        <p:spPr>
          <a:xfrm>
            <a:off x="9509760" y="2048256"/>
            <a:ext cx="1243584" cy="137160"/>
          </a:xfrm>
          <a:prstGeom prst="rect">
            <a:avLst/>
          </a:prstGeom>
          <a:solidFill>
            <a:srgbClr val="00A878"/>
          </a:solidFill>
          <a:ln/>
        </p:spPr>
      </p:sp>
      <p:sp>
        <p:nvSpPr>
          <p:cNvPr id="36" name="Text 34"/>
          <p:cNvSpPr txBox="1"/>
          <p:nvPr/>
        </p:nvSpPr>
        <p:spPr>
          <a:xfrm>
            <a:off x="10844784" y="193852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$47K</a:t>
            </a:r>
            <a:endParaRPr lang="en-US" sz="1200" dirty="0"/>
          </a:p>
        </p:txBody>
      </p:sp>
      <p:sp>
        <p:nvSpPr>
          <p:cNvPr id="37" name="Text 35"/>
          <p:cNvSpPr txBox="1"/>
          <p:nvPr/>
        </p:nvSpPr>
        <p:spPr>
          <a:xfrm>
            <a:off x="6400800" y="236829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VM rightsizing</a:t>
            </a:r>
            <a:endParaRPr lang="en-US" sz="1150" dirty="0"/>
          </a:p>
        </p:txBody>
      </p:sp>
      <p:sp>
        <p:nvSpPr>
          <p:cNvPr id="38" name="rank-bar-1"/>
          <p:cNvSpPr/>
          <p:nvPr/>
        </p:nvSpPr>
        <p:spPr>
          <a:xfrm>
            <a:off x="9509760" y="2478024"/>
            <a:ext cx="808093" cy="137160"/>
          </a:xfrm>
          <a:prstGeom prst="rect">
            <a:avLst/>
          </a:prstGeom>
          <a:solidFill>
            <a:srgbClr val="00A878"/>
          </a:solidFill>
          <a:ln/>
        </p:spPr>
      </p:sp>
      <p:sp>
        <p:nvSpPr>
          <p:cNvPr id="39" name="Text 37"/>
          <p:cNvSpPr txBox="1"/>
          <p:nvPr/>
        </p:nvSpPr>
        <p:spPr>
          <a:xfrm>
            <a:off x="10844784" y="236829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$31K</a:t>
            </a:r>
            <a:endParaRPr lang="en-US" sz="1200" dirty="0"/>
          </a:p>
        </p:txBody>
      </p:sp>
      <p:sp>
        <p:nvSpPr>
          <p:cNvPr id="40" name="Text 38"/>
          <p:cNvSpPr txBox="1"/>
          <p:nvPr/>
        </p:nvSpPr>
        <p:spPr>
          <a:xfrm>
            <a:off x="6400800" y="279806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PostgreSQL reservations</a:t>
            </a:r>
            <a:endParaRPr lang="en-US" sz="1150" dirty="0"/>
          </a:p>
        </p:txBody>
      </p:sp>
      <p:sp>
        <p:nvSpPr>
          <p:cNvPr id="41" name="rank-bar-2"/>
          <p:cNvSpPr/>
          <p:nvPr/>
        </p:nvSpPr>
        <p:spPr>
          <a:xfrm>
            <a:off x="9509760" y="2907792"/>
            <a:ext cx="562722" cy="137160"/>
          </a:xfrm>
          <a:prstGeom prst="rect">
            <a:avLst/>
          </a:prstGeom>
          <a:solidFill>
            <a:srgbClr val="00A878"/>
          </a:solidFill>
          <a:ln/>
        </p:spPr>
      </p:sp>
      <p:sp>
        <p:nvSpPr>
          <p:cNvPr id="42" name="Text 40"/>
          <p:cNvSpPr txBox="1"/>
          <p:nvPr/>
        </p:nvSpPr>
        <p:spPr>
          <a:xfrm>
            <a:off x="10844784" y="279806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$21K</a:t>
            </a:r>
            <a:endParaRPr lang="en-US" sz="1200" dirty="0"/>
          </a:p>
        </p:txBody>
      </p:sp>
      <p:sp>
        <p:nvSpPr>
          <p:cNvPr id="43" name="Text 41"/>
          <p:cNvSpPr txBox="1"/>
          <p:nvPr/>
        </p:nvSpPr>
        <p:spPr>
          <a:xfrm>
            <a:off x="6400800" y="322783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Premium → standard disks</a:t>
            </a:r>
            <a:endParaRPr lang="en-US" sz="1150" dirty="0"/>
          </a:p>
        </p:txBody>
      </p:sp>
      <p:sp>
        <p:nvSpPr>
          <p:cNvPr id="44" name="rank-bar-3"/>
          <p:cNvSpPr/>
          <p:nvPr/>
        </p:nvSpPr>
        <p:spPr>
          <a:xfrm>
            <a:off x="9509760" y="3337560"/>
            <a:ext cx="555270" cy="137160"/>
          </a:xfrm>
          <a:prstGeom prst="rect">
            <a:avLst/>
          </a:prstGeom>
          <a:solidFill>
            <a:srgbClr val="0F7DC2"/>
          </a:solidFill>
          <a:ln/>
        </p:spPr>
      </p:sp>
      <p:sp>
        <p:nvSpPr>
          <p:cNvPr id="45" name="Text 43"/>
          <p:cNvSpPr txBox="1"/>
          <p:nvPr/>
        </p:nvSpPr>
        <p:spPr>
          <a:xfrm>
            <a:off x="10844784" y="322783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$21K</a:t>
            </a:r>
            <a:endParaRPr lang="en-US" sz="1200" dirty="0"/>
          </a:p>
        </p:txBody>
      </p:sp>
      <p:sp>
        <p:nvSpPr>
          <p:cNvPr id="46" name="Text 44"/>
          <p:cNvSpPr txBox="1"/>
          <p:nvPr/>
        </p:nvSpPr>
        <p:spPr>
          <a:xfrm>
            <a:off x="6400800" y="3657600"/>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Scheduled shutdown of 24/7 VMs</a:t>
            </a:r>
            <a:endParaRPr lang="en-US" sz="1150" dirty="0"/>
          </a:p>
        </p:txBody>
      </p:sp>
      <p:sp>
        <p:nvSpPr>
          <p:cNvPr id="47" name="rank-bar-4"/>
          <p:cNvSpPr/>
          <p:nvPr/>
        </p:nvSpPr>
        <p:spPr>
          <a:xfrm>
            <a:off x="9509760" y="3767328"/>
            <a:ext cx="654756" cy="137160"/>
          </a:xfrm>
          <a:prstGeom prst="rect">
            <a:avLst/>
          </a:prstGeom>
          <a:solidFill>
            <a:srgbClr val="0F7DC2"/>
          </a:solidFill>
          <a:ln/>
        </p:spPr>
      </p:sp>
      <p:sp>
        <p:nvSpPr>
          <p:cNvPr id="48" name="Text 46"/>
          <p:cNvSpPr txBox="1"/>
          <p:nvPr/>
        </p:nvSpPr>
        <p:spPr>
          <a:xfrm>
            <a:off x="10844784" y="3657600"/>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$25K</a:t>
            </a:r>
            <a:endParaRPr lang="en-US" sz="1200" dirty="0"/>
          </a:p>
        </p:txBody>
      </p:sp>
      <p:sp>
        <p:nvSpPr>
          <p:cNvPr id="49" name="Text 47"/>
          <p:cNvSpPr txBox="1"/>
          <p:nvPr/>
        </p:nvSpPr>
        <p:spPr>
          <a:xfrm>
            <a:off x="6400800" y="4087368"/>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Idle reserved disks</a:t>
            </a:r>
            <a:endParaRPr lang="en-US" sz="1150" dirty="0"/>
          </a:p>
        </p:txBody>
      </p:sp>
      <p:sp>
        <p:nvSpPr>
          <p:cNvPr id="50" name="rank-bar-5"/>
          <p:cNvSpPr/>
          <p:nvPr/>
        </p:nvSpPr>
        <p:spPr>
          <a:xfrm>
            <a:off x="9509760" y="4197096"/>
            <a:ext cx="349006" cy="137160"/>
          </a:xfrm>
          <a:prstGeom prst="rect">
            <a:avLst/>
          </a:prstGeom>
          <a:solidFill>
            <a:srgbClr val="0F7DC2"/>
          </a:solidFill>
          <a:ln/>
        </p:spPr>
      </p:sp>
      <p:sp>
        <p:nvSpPr>
          <p:cNvPr id="51" name="Text 49"/>
          <p:cNvSpPr txBox="1"/>
          <p:nvPr/>
        </p:nvSpPr>
        <p:spPr>
          <a:xfrm>
            <a:off x="10844784" y="4087368"/>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$13K</a:t>
            </a:r>
            <a:endParaRPr lang="en-US" sz="1200" dirty="0"/>
          </a:p>
        </p:txBody>
      </p:sp>
      <p:sp>
        <p:nvSpPr>
          <p:cNvPr id="52" name="Text 50"/>
          <p:cNvSpPr txBox="1"/>
          <p:nvPr/>
        </p:nvSpPr>
        <p:spPr>
          <a:xfrm>
            <a:off x="6400800" y="4517136"/>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AKS reservations</a:t>
            </a:r>
            <a:endParaRPr lang="en-US" sz="1150" dirty="0"/>
          </a:p>
        </p:txBody>
      </p:sp>
      <p:sp>
        <p:nvSpPr>
          <p:cNvPr id="53" name="rank-bar-6"/>
          <p:cNvSpPr/>
          <p:nvPr/>
        </p:nvSpPr>
        <p:spPr>
          <a:xfrm>
            <a:off x="9509760" y="4626864"/>
            <a:ext cx="262309" cy="137160"/>
          </a:xfrm>
          <a:prstGeom prst="rect">
            <a:avLst/>
          </a:prstGeom>
          <a:solidFill>
            <a:srgbClr val="00A878"/>
          </a:solidFill>
          <a:ln/>
        </p:spPr>
      </p:sp>
      <p:sp>
        <p:nvSpPr>
          <p:cNvPr id="54" name="Text 52"/>
          <p:cNvSpPr txBox="1"/>
          <p:nvPr/>
        </p:nvSpPr>
        <p:spPr>
          <a:xfrm>
            <a:off x="10844784" y="4517136"/>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$10K</a:t>
            </a:r>
            <a:endParaRPr lang="en-US" sz="1200" dirty="0"/>
          </a:p>
        </p:txBody>
      </p:sp>
      <p:sp>
        <p:nvSpPr>
          <p:cNvPr id="55" name="Text 53"/>
          <p:cNvSpPr txBox="1"/>
          <p:nvPr/>
        </p:nvSpPr>
        <p:spPr>
          <a:xfrm>
            <a:off x="6400800" y="4946904"/>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Idle unattached disks</a:t>
            </a:r>
            <a:endParaRPr lang="en-US" sz="1150" dirty="0"/>
          </a:p>
        </p:txBody>
      </p:sp>
      <p:sp>
        <p:nvSpPr>
          <p:cNvPr id="56" name="rank-bar-7"/>
          <p:cNvSpPr/>
          <p:nvPr/>
        </p:nvSpPr>
        <p:spPr>
          <a:xfrm>
            <a:off x="9509760" y="5056632"/>
            <a:ext cx="191969" cy="137160"/>
          </a:xfrm>
          <a:prstGeom prst="rect">
            <a:avLst/>
          </a:prstGeom>
          <a:solidFill>
            <a:srgbClr val="0F7DC2"/>
          </a:solidFill>
          <a:ln/>
        </p:spPr>
      </p:sp>
      <p:sp>
        <p:nvSpPr>
          <p:cNvPr id="57" name="Text 55"/>
          <p:cNvSpPr txBox="1"/>
          <p:nvPr/>
        </p:nvSpPr>
        <p:spPr>
          <a:xfrm>
            <a:off x="10844784" y="4946904"/>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$7K</a:t>
            </a:r>
            <a:endParaRPr lang="en-US" sz="1200" dirty="0"/>
          </a:p>
        </p:txBody>
      </p:sp>
      <p:sp>
        <p:nvSpPr>
          <p:cNvPr id="58" name="Text 56"/>
          <p:cNvSpPr txBox="1"/>
          <p:nvPr/>
        </p:nvSpPr>
        <p:spPr>
          <a:xfrm>
            <a:off x="6400800" y="5376672"/>
            <a:ext cx="3017520" cy="356616"/>
          </a:xfrm>
          <a:prstGeom prst="rect">
            <a:avLst/>
          </a:prstGeom>
          <a:noFill/>
          <a:ln/>
        </p:spPr>
        <p:txBody>
          <a:bodyPr wrap="square" lIns="0" tIns="0" rIns="0" bIns="0" rtlCol="0" anchor="ctr"/>
          <a:lstStyle/>
          <a:p>
            <a:pPr algn="l" indent="0" marL="0">
              <a:buNone/>
            </a:pPr>
            <a:r>
              <a:rPr lang="en-US" sz="1150" dirty="0">
                <a:solidFill>
                  <a:srgbClr val="0B1B2E"/>
                </a:solidFill>
                <a:latin typeface="Arial" pitchFamily="34" charset="0"/>
                <a:ea typeface="Arial" pitchFamily="34" charset="-122"/>
                <a:cs typeface="Arial" pitchFamily="34" charset="-120"/>
              </a:rPr>
              <a:t>Other (AWS EC2, SQL, Redis)</a:t>
            </a:r>
            <a:endParaRPr lang="en-US" sz="1150" dirty="0"/>
          </a:p>
        </p:txBody>
      </p:sp>
      <p:sp>
        <p:nvSpPr>
          <p:cNvPr id="59" name="rank-bar-8"/>
          <p:cNvSpPr/>
          <p:nvPr/>
        </p:nvSpPr>
        <p:spPr>
          <a:xfrm>
            <a:off x="9509760" y="5486400"/>
            <a:ext cx="393900" cy="137160"/>
          </a:xfrm>
          <a:prstGeom prst="rect">
            <a:avLst/>
          </a:prstGeom>
          <a:solidFill>
            <a:srgbClr val="F2A900"/>
          </a:solidFill>
          <a:ln/>
        </p:spPr>
      </p:sp>
      <p:sp>
        <p:nvSpPr>
          <p:cNvPr id="60" name="Text 58"/>
          <p:cNvSpPr txBox="1"/>
          <p:nvPr/>
        </p:nvSpPr>
        <p:spPr>
          <a:xfrm>
            <a:off x="10844784" y="5376672"/>
            <a:ext cx="777240" cy="356616"/>
          </a:xfrm>
          <a:prstGeom prst="rect">
            <a:avLst/>
          </a:prstGeom>
          <a:noFill/>
          <a:ln/>
        </p:spPr>
        <p:txBody>
          <a:bodyPr wrap="square" lIns="0" tIns="0" rIns="0" bIns="0" rtlCol="0" anchor="ctr"/>
          <a:lstStyle/>
          <a:p>
            <a:pPr algn="r" indent="0" marL="0">
              <a:buNone/>
            </a:pPr>
            <a:r>
              <a:rPr lang="en-US" sz="1200" b="1" dirty="0">
                <a:solidFill>
                  <a:srgbClr val="0B1B2E"/>
                </a:solidFill>
                <a:latin typeface="Arial" pitchFamily="34" charset="0"/>
                <a:ea typeface="Arial" pitchFamily="34" charset="-122"/>
                <a:cs typeface="Arial" pitchFamily="34" charset="-120"/>
              </a:rPr>
              <a:t>$15K</a:t>
            </a:r>
            <a:endParaRPr lang="en-US" sz="1200" dirty="0"/>
          </a:p>
        </p:txBody>
      </p:sp>
      <p:sp>
        <p:nvSpPr>
          <p:cNvPr id="61"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Reservations and savings plans are $78K of the $190K — a purchase decision, not engineering effort.</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D7263D"/>
                </a:solidFill>
                <a:latin typeface="Cambria" pitchFamily="34" charset="0"/>
                <a:ea typeface="Cambria" pitchFamily="34" charset="-122"/>
                <a:cs typeface="Cambria" pitchFamily="34" charset="-120"/>
              </a:rPr>
              <a:t>06</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Risks &amp; next steps</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Three items that affect the FY2027 budget, the FinOps roadmap, and the decisions we are asking for today.</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D7263D"/>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RISKS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Three things that will move the FY2027 budget</a:t>
            </a:r>
            <a:endParaRPr lang="en-US" sz="2800" dirty="0"/>
          </a:p>
        </p:txBody>
      </p:sp>
      <p:sp>
        <p:nvSpPr>
          <p:cNvPr id="5" name="risk-0"/>
          <p:cNvSpPr/>
          <p:nvPr/>
        </p:nvSpPr>
        <p:spPr>
          <a:xfrm>
            <a:off x="566928" y="1517904"/>
            <a:ext cx="11057839" cy="1371600"/>
          </a:xfrm>
          <a:prstGeom prst="roundRect">
            <a:avLst>
              <a:gd name="adj" fmla="val 4000"/>
            </a:avLst>
          </a:prstGeom>
          <a:solidFill>
            <a:srgbClr val="EEF2F7"/>
          </a:solidFill>
          <a:ln/>
        </p:spPr>
      </p:sp>
      <p:sp>
        <p:nvSpPr>
          <p:cNvPr id="6" name="chip"/>
          <p:cNvSpPr/>
          <p:nvPr/>
        </p:nvSpPr>
        <p:spPr>
          <a:xfrm>
            <a:off x="841248" y="1737360"/>
            <a:ext cx="1133856" cy="256032"/>
          </a:xfrm>
          <a:prstGeom prst="roundRect">
            <a:avLst>
              <a:gd name="adj" fmla="val 42857"/>
            </a:avLst>
          </a:prstGeom>
          <a:solidFill>
            <a:srgbClr val="D7263D"/>
          </a:solidFill>
          <a:ln/>
        </p:spPr>
      </p:sp>
      <p:sp>
        <p:nvSpPr>
          <p:cNvPr id="7" name="Text 5"/>
          <p:cNvSpPr txBox="1"/>
          <p:nvPr/>
        </p:nvSpPr>
        <p:spPr>
          <a:xfrm>
            <a:off x="841248" y="1737360"/>
            <a:ext cx="113385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PRICING</a:t>
            </a:r>
            <a:endParaRPr lang="en-US" sz="900" dirty="0"/>
          </a:p>
        </p:txBody>
      </p:sp>
      <p:sp>
        <p:nvSpPr>
          <p:cNvPr id="8" name="Text 6"/>
          <p:cNvSpPr txBox="1"/>
          <p:nvPr/>
        </p:nvSpPr>
        <p:spPr>
          <a:xfrm>
            <a:off x="2157984" y="1682496"/>
            <a:ext cx="5943600" cy="347472"/>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Azure raises prices on 1 February 2027</a:t>
            </a:r>
            <a:endParaRPr lang="en-US" sz="1600" dirty="0"/>
          </a:p>
        </p:txBody>
      </p:sp>
      <p:sp>
        <p:nvSpPr>
          <p:cNvPr id="9" name="Text 7"/>
          <p:cNvSpPr txBox="1"/>
          <p:nvPr/>
        </p:nvSpPr>
        <p:spPr>
          <a:xfrm>
            <a:off x="2157984" y="2048256"/>
            <a:ext cx="6035040" cy="457200"/>
          </a:xfrm>
          <a:prstGeom prst="rect">
            <a:avLst/>
          </a:prstGeom>
          <a:noFill/>
          <a:ln/>
        </p:spPr>
        <p:txBody>
          <a:bodyPr wrap="square" lIns="0" tIns="0" rIns="0" bIns="0" rtlCol="0" anchor="t"/>
          <a:lstStyle/>
          <a:p>
            <a:pPr algn="l" indent="0" marL="0">
              <a:buNone/>
            </a:pPr>
            <a:r>
              <a:rPr lang="en-US" sz="1150" dirty="0">
                <a:solidFill>
                  <a:srgbClr val="5B6B7E"/>
                </a:solidFill>
                <a:latin typeface="Arial" pitchFamily="34" charset="0"/>
                <a:ea typeface="Arial" pitchFamily="34" charset="-122"/>
                <a:cs typeface="Arial" pitchFamily="34" charset="-120"/>
              </a:rPr>
              <a:t>Microsoft is expected to lift on-demand VM pricing for v1 and v2 series by about 25%, with further regional increases in West EU, North EU, France, Norway and Singapore.</a:t>
            </a:r>
            <a:endParaRPr lang="en-US" sz="1150" dirty="0"/>
          </a:p>
        </p:txBody>
      </p:sp>
      <p:sp>
        <p:nvSpPr>
          <p:cNvPr id="10" name="Text 8"/>
          <p:cNvSpPr txBox="1"/>
          <p:nvPr/>
        </p:nvSpPr>
        <p:spPr>
          <a:xfrm>
            <a:off x="2157984" y="2523744"/>
            <a:ext cx="6035040" cy="274320"/>
          </a:xfrm>
          <a:prstGeom prst="rect">
            <a:avLst/>
          </a:prstGeom>
          <a:noFill/>
          <a:ln/>
        </p:spPr>
        <p:txBody>
          <a:bodyPr wrap="square" lIns="0" tIns="0" rIns="0" bIns="0" rtlCol="0" anchor="ctr"/>
          <a:lstStyle/>
          <a:p>
            <a:pPr algn="l" indent="0" marL="0">
              <a:buNone/>
            </a:pPr>
            <a:r>
              <a:rPr lang="en-US" sz="1100" b="1" dirty="0">
                <a:solidFill>
                  <a:srgbClr val="D7263D"/>
                </a:solidFill>
                <a:latin typeface="Arial" pitchFamily="34" charset="0"/>
                <a:ea typeface="Arial" pitchFamily="34" charset="-122"/>
                <a:cs typeface="Arial" pitchFamily="34" charset="-120"/>
              </a:rPr>
              <a:t>Mitigation — reservations lock today’s rate; buy the RI pipeline before February.</a:t>
            </a:r>
            <a:endParaRPr lang="en-US" sz="1100" dirty="0"/>
          </a:p>
        </p:txBody>
      </p:sp>
      <p:sp>
        <p:nvSpPr>
          <p:cNvPr id="11" name="Text 9"/>
          <p:cNvSpPr txBox="1"/>
          <p:nvPr/>
        </p:nvSpPr>
        <p:spPr>
          <a:xfrm>
            <a:off x="8430768" y="1700784"/>
            <a:ext cx="2834640" cy="530352"/>
          </a:xfrm>
          <a:prstGeom prst="rect">
            <a:avLst/>
          </a:prstGeom>
          <a:noFill/>
          <a:ln/>
        </p:spPr>
        <p:txBody>
          <a:bodyPr wrap="square" lIns="0" tIns="0" rIns="0" bIns="0" rtlCol="0" anchor="ctr"/>
          <a:lstStyle/>
          <a:p>
            <a:pPr algn="r" indent="0" marL="0">
              <a:buNone/>
            </a:pPr>
            <a:r>
              <a:rPr lang="en-US" sz="2600" b="1" dirty="0">
                <a:solidFill>
                  <a:srgbClr val="0B1B2E"/>
                </a:solidFill>
                <a:latin typeface="Arial" pitchFamily="34" charset="0"/>
                <a:ea typeface="Arial" pitchFamily="34" charset="-122"/>
                <a:cs typeface="Arial" pitchFamily="34" charset="-120"/>
              </a:rPr>
              <a:t>+$4,700</a:t>
            </a:r>
            <a:endParaRPr lang="en-US" sz="2600" dirty="0"/>
          </a:p>
        </p:txBody>
      </p:sp>
      <p:sp>
        <p:nvSpPr>
          <p:cNvPr id="12" name="Text 10"/>
          <p:cNvSpPr txBox="1"/>
          <p:nvPr/>
        </p:nvSpPr>
        <p:spPr>
          <a:xfrm>
            <a:off x="8430768" y="2212848"/>
            <a:ext cx="2834640" cy="256032"/>
          </a:xfrm>
          <a:prstGeom prst="rect">
            <a:avLst/>
          </a:prstGeom>
          <a:noFill/>
          <a:ln/>
        </p:spPr>
        <p:txBody>
          <a:bodyPr wrap="square" lIns="0" tIns="0" rIns="0" bIns="0" rtlCol="0" anchor="ctr"/>
          <a:lstStyle/>
          <a:p>
            <a:pPr algn="r" indent="0" marL="0">
              <a:buNone/>
            </a:pPr>
            <a:r>
              <a:rPr lang="en-US" sz="1050" dirty="0">
                <a:solidFill>
                  <a:srgbClr val="5B6B7E"/>
                </a:solidFill>
                <a:latin typeface="Arial" pitchFamily="34" charset="0"/>
                <a:ea typeface="Arial" pitchFamily="34" charset="-122"/>
                <a:cs typeface="Arial" pitchFamily="34" charset="-120"/>
              </a:rPr>
              <a:t>per month</a:t>
            </a:r>
            <a:endParaRPr lang="en-US" sz="1050" dirty="0"/>
          </a:p>
        </p:txBody>
      </p:sp>
      <p:sp>
        <p:nvSpPr>
          <p:cNvPr id="13" name="Text 11"/>
          <p:cNvSpPr txBox="1"/>
          <p:nvPr/>
        </p:nvSpPr>
        <p:spPr>
          <a:xfrm>
            <a:off x="8430768" y="2468880"/>
            <a:ext cx="2834640" cy="237744"/>
          </a:xfrm>
          <a:prstGeom prst="rect">
            <a:avLst/>
          </a:prstGeom>
          <a:noFill/>
          <a:ln/>
        </p:spPr>
        <p:txBody>
          <a:bodyPr wrap="square" lIns="0" tIns="0" rIns="0" bIns="0" rtlCol="0" anchor="ctr"/>
          <a:lstStyle/>
          <a:p>
            <a:pPr algn="r" indent="0" marL="0">
              <a:buNone/>
            </a:pPr>
            <a:r>
              <a:rPr lang="en-US" sz="1100" b="1" dirty="0">
                <a:solidFill>
                  <a:srgbClr val="D7263D"/>
                </a:solidFill>
                <a:latin typeface="Arial" pitchFamily="34" charset="0"/>
                <a:ea typeface="Arial" pitchFamily="34" charset="-122"/>
                <a:cs typeface="Arial" pitchFamily="34" charset="-120"/>
              </a:rPr>
              <a:t>+$56,400 a year</a:t>
            </a:r>
            <a:endParaRPr lang="en-US" sz="1100" dirty="0"/>
          </a:p>
        </p:txBody>
      </p:sp>
      <p:sp>
        <p:nvSpPr>
          <p:cNvPr id="14" name="Text 12"/>
          <p:cNvSpPr txBox="1"/>
          <p:nvPr/>
        </p:nvSpPr>
        <p:spPr>
          <a:xfrm>
            <a:off x="8430768" y="2670048"/>
            <a:ext cx="2834640" cy="219456"/>
          </a:xfrm>
          <a:prstGeom prst="rect">
            <a:avLst/>
          </a:prstGeom>
          <a:noFill/>
          <a:ln/>
        </p:spPr>
        <p:txBody>
          <a:bodyPr wrap="square" lIns="0" tIns="0" rIns="0" bIns="0" rtlCol="0" anchor="ctr"/>
          <a:lstStyle/>
          <a:p>
            <a:pPr algn="r" indent="0" marL="0">
              <a:buNone/>
            </a:pPr>
            <a:r>
              <a:rPr lang="en-US" sz="950" dirty="0">
                <a:solidFill>
                  <a:srgbClr val="5B6B7E"/>
                </a:solidFill>
                <a:latin typeface="Arial" pitchFamily="34" charset="0"/>
                <a:ea typeface="Arial" pitchFamily="34" charset="-122"/>
                <a:cs typeface="Arial" pitchFamily="34" charset="-120"/>
              </a:rPr>
              <a:t>Estimated on September usage</a:t>
            </a:r>
            <a:endParaRPr lang="en-US" sz="950" dirty="0"/>
          </a:p>
        </p:txBody>
      </p:sp>
      <p:sp>
        <p:nvSpPr>
          <p:cNvPr id="15" name="risk-1"/>
          <p:cNvSpPr/>
          <p:nvPr/>
        </p:nvSpPr>
        <p:spPr>
          <a:xfrm>
            <a:off x="566928" y="3035808"/>
            <a:ext cx="11057839" cy="1371600"/>
          </a:xfrm>
          <a:prstGeom prst="roundRect">
            <a:avLst>
              <a:gd name="adj" fmla="val 4000"/>
            </a:avLst>
          </a:prstGeom>
          <a:solidFill>
            <a:srgbClr val="EEF2F7"/>
          </a:solidFill>
          <a:ln/>
        </p:spPr>
      </p:sp>
      <p:sp>
        <p:nvSpPr>
          <p:cNvPr id="16" name="chip"/>
          <p:cNvSpPr/>
          <p:nvPr/>
        </p:nvSpPr>
        <p:spPr>
          <a:xfrm>
            <a:off x="841248" y="3255264"/>
            <a:ext cx="1133856" cy="256032"/>
          </a:xfrm>
          <a:prstGeom prst="roundRect">
            <a:avLst>
              <a:gd name="adj" fmla="val 42857"/>
            </a:avLst>
          </a:prstGeom>
          <a:solidFill>
            <a:srgbClr val="F2A900"/>
          </a:solidFill>
          <a:ln/>
        </p:spPr>
      </p:sp>
      <p:sp>
        <p:nvSpPr>
          <p:cNvPr id="17" name="Text 15"/>
          <p:cNvSpPr txBox="1"/>
          <p:nvPr/>
        </p:nvSpPr>
        <p:spPr>
          <a:xfrm>
            <a:off x="841248" y="3255264"/>
            <a:ext cx="113385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COMMITMENT</a:t>
            </a:r>
            <a:endParaRPr lang="en-US" sz="900" dirty="0"/>
          </a:p>
        </p:txBody>
      </p:sp>
      <p:sp>
        <p:nvSpPr>
          <p:cNvPr id="18" name="Text 16"/>
          <p:cNvSpPr txBox="1"/>
          <p:nvPr/>
        </p:nvSpPr>
        <p:spPr>
          <a:xfrm>
            <a:off x="2157984" y="3200400"/>
            <a:ext cx="5943600" cy="347472"/>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The Databricks commitment burns out two years early</a:t>
            </a:r>
            <a:endParaRPr lang="en-US" sz="1600" dirty="0"/>
          </a:p>
        </p:txBody>
      </p:sp>
      <p:sp>
        <p:nvSpPr>
          <p:cNvPr id="19" name="Text 17"/>
          <p:cNvSpPr txBox="1"/>
          <p:nvPr/>
        </p:nvSpPr>
        <p:spPr>
          <a:xfrm>
            <a:off x="2157984" y="3566160"/>
            <a:ext cx="6035040" cy="457200"/>
          </a:xfrm>
          <a:prstGeom prst="rect">
            <a:avLst/>
          </a:prstGeom>
          <a:noFill/>
          <a:ln/>
        </p:spPr>
        <p:txBody>
          <a:bodyPr wrap="square" lIns="0" tIns="0" rIns="0" bIns="0" rtlCol="0" anchor="t"/>
          <a:lstStyle/>
          <a:p>
            <a:pPr algn="l" indent="0" marL="0">
              <a:buNone/>
            </a:pPr>
            <a:r>
              <a:rPr lang="en-US" sz="1150" dirty="0">
                <a:solidFill>
                  <a:srgbClr val="5B6B7E"/>
                </a:solidFill>
                <a:latin typeface="Arial" pitchFamily="34" charset="0"/>
                <a:ea typeface="Arial" pitchFamily="34" charset="-122"/>
                <a:cs typeface="Arial" pitchFamily="34" charset="-120"/>
              </a:rPr>
              <a:t>29% of the 600,000 prepaid DBU hours were consumed in the first five months of a thirty-six month term. At that rate the $504K commitment is exhausted around September 2027.</a:t>
            </a:r>
            <a:endParaRPr lang="en-US" sz="1150" dirty="0"/>
          </a:p>
        </p:txBody>
      </p:sp>
      <p:sp>
        <p:nvSpPr>
          <p:cNvPr id="20" name="Text 18"/>
          <p:cNvSpPr txBox="1"/>
          <p:nvPr/>
        </p:nvSpPr>
        <p:spPr>
          <a:xfrm>
            <a:off x="2157984" y="4041648"/>
            <a:ext cx="6035040" cy="274320"/>
          </a:xfrm>
          <a:prstGeom prst="rect">
            <a:avLst/>
          </a:prstGeom>
          <a:noFill/>
          <a:ln/>
        </p:spPr>
        <p:txBody>
          <a:bodyPr wrap="square" lIns="0" tIns="0" rIns="0" bIns="0" rtlCol="0" anchor="ctr"/>
          <a:lstStyle/>
          <a:p>
            <a:pPr algn="l" indent="0" marL="0">
              <a:buNone/>
            </a:pPr>
            <a:r>
              <a:rPr lang="en-US" sz="1100" b="1" dirty="0">
                <a:solidFill>
                  <a:srgbClr val="F2A900"/>
                </a:solidFill>
                <a:latin typeface="Arial" pitchFamily="34" charset="0"/>
                <a:ea typeface="Arial" pitchFamily="34" charset="-122"/>
                <a:cs typeface="Arial" pitchFamily="34" charset="-120"/>
              </a:rPr>
              <a:t>Decision — top up in FY2027, or rebalance Classic and Serverless to extend the term.</a:t>
            </a:r>
            <a:endParaRPr lang="en-US" sz="1100" dirty="0"/>
          </a:p>
        </p:txBody>
      </p:sp>
      <p:sp>
        <p:nvSpPr>
          <p:cNvPr id="21" name="Text 19"/>
          <p:cNvSpPr txBox="1"/>
          <p:nvPr/>
        </p:nvSpPr>
        <p:spPr>
          <a:xfrm>
            <a:off x="8430768" y="3218688"/>
            <a:ext cx="2834640" cy="530352"/>
          </a:xfrm>
          <a:prstGeom prst="rect">
            <a:avLst/>
          </a:prstGeom>
          <a:noFill/>
          <a:ln/>
        </p:spPr>
        <p:txBody>
          <a:bodyPr wrap="square" lIns="0" tIns="0" rIns="0" bIns="0" rtlCol="0" anchor="ctr"/>
          <a:lstStyle/>
          <a:p>
            <a:pPr algn="r" indent="0" marL="0">
              <a:buNone/>
            </a:pPr>
            <a:r>
              <a:rPr lang="en-US" sz="2600" b="1" dirty="0">
                <a:solidFill>
                  <a:srgbClr val="0B1B2E"/>
                </a:solidFill>
                <a:latin typeface="Arial" pitchFamily="34" charset="0"/>
                <a:ea typeface="Arial" pitchFamily="34" charset="-122"/>
                <a:cs typeface="Arial" pitchFamily="34" charset="-120"/>
              </a:rPr>
              <a:t>Sep 2027</a:t>
            </a:r>
            <a:endParaRPr lang="en-US" sz="2600" dirty="0"/>
          </a:p>
        </p:txBody>
      </p:sp>
      <p:sp>
        <p:nvSpPr>
          <p:cNvPr id="22" name="Text 20"/>
          <p:cNvSpPr txBox="1"/>
          <p:nvPr/>
        </p:nvSpPr>
        <p:spPr>
          <a:xfrm>
            <a:off x="8430768" y="3730752"/>
            <a:ext cx="2834640" cy="256032"/>
          </a:xfrm>
          <a:prstGeom prst="rect">
            <a:avLst/>
          </a:prstGeom>
          <a:noFill/>
          <a:ln/>
        </p:spPr>
        <p:txBody>
          <a:bodyPr wrap="square" lIns="0" tIns="0" rIns="0" bIns="0" rtlCol="0" anchor="ctr"/>
          <a:lstStyle/>
          <a:p>
            <a:pPr algn="r" indent="0" marL="0">
              <a:buNone/>
            </a:pPr>
            <a:r>
              <a:rPr lang="en-US" sz="1050" dirty="0">
                <a:solidFill>
                  <a:srgbClr val="5B6B7E"/>
                </a:solidFill>
                <a:latin typeface="Arial" pitchFamily="34" charset="0"/>
                <a:ea typeface="Arial" pitchFamily="34" charset="-122"/>
                <a:cs typeface="Arial" pitchFamily="34" charset="-120"/>
              </a:rPr>
              <a:t>projected exhaustion</a:t>
            </a:r>
            <a:endParaRPr lang="en-US" sz="1050" dirty="0"/>
          </a:p>
        </p:txBody>
      </p:sp>
      <p:sp>
        <p:nvSpPr>
          <p:cNvPr id="23" name="Text 21"/>
          <p:cNvSpPr txBox="1"/>
          <p:nvPr/>
        </p:nvSpPr>
        <p:spPr>
          <a:xfrm>
            <a:off x="8430768" y="3986784"/>
            <a:ext cx="2834640" cy="237744"/>
          </a:xfrm>
          <a:prstGeom prst="rect">
            <a:avLst/>
          </a:prstGeom>
          <a:noFill/>
          <a:ln/>
        </p:spPr>
        <p:txBody>
          <a:bodyPr wrap="square" lIns="0" tIns="0" rIns="0" bIns="0" rtlCol="0" anchor="ctr"/>
          <a:lstStyle/>
          <a:p>
            <a:pPr algn="r" indent="0" marL="0">
              <a:buNone/>
            </a:pPr>
            <a:r>
              <a:rPr lang="en-US" sz="1100" b="1" dirty="0">
                <a:solidFill>
                  <a:srgbClr val="F2A900"/>
                </a:solidFill>
                <a:latin typeface="Arial" pitchFamily="34" charset="0"/>
                <a:ea typeface="Arial" pitchFamily="34" charset="-122"/>
                <a:cs typeface="Arial" pitchFamily="34" charset="-120"/>
              </a:rPr>
              <a:t>$504K prepaid</a:t>
            </a:r>
            <a:endParaRPr lang="en-US" sz="1100" dirty="0"/>
          </a:p>
        </p:txBody>
      </p:sp>
      <p:sp>
        <p:nvSpPr>
          <p:cNvPr id="24" name="Text 22"/>
          <p:cNvSpPr txBox="1"/>
          <p:nvPr/>
        </p:nvSpPr>
        <p:spPr>
          <a:xfrm>
            <a:off x="8430768" y="4187952"/>
            <a:ext cx="2834640" cy="219456"/>
          </a:xfrm>
          <a:prstGeom prst="rect">
            <a:avLst/>
          </a:prstGeom>
          <a:noFill/>
          <a:ln/>
        </p:spPr>
        <p:txBody>
          <a:bodyPr wrap="square" lIns="0" tIns="0" rIns="0" bIns="0" rtlCol="0" anchor="ctr"/>
          <a:lstStyle/>
          <a:p>
            <a:pPr algn="r" indent="0" marL="0">
              <a:buNone/>
            </a:pPr>
            <a:r>
              <a:rPr lang="en-US" sz="950" dirty="0">
                <a:solidFill>
                  <a:srgbClr val="5B6B7E"/>
                </a:solidFill>
                <a:latin typeface="Arial" pitchFamily="34" charset="0"/>
                <a:ea typeface="Arial" pitchFamily="34" charset="-122"/>
                <a:cs typeface="Arial" pitchFamily="34" charset="-120"/>
              </a:rPr>
              <a:t>29% consumed to date</a:t>
            </a:r>
            <a:endParaRPr lang="en-US" sz="950" dirty="0"/>
          </a:p>
        </p:txBody>
      </p:sp>
      <p:sp>
        <p:nvSpPr>
          <p:cNvPr id="25" name="risk-2"/>
          <p:cNvSpPr/>
          <p:nvPr/>
        </p:nvSpPr>
        <p:spPr>
          <a:xfrm>
            <a:off x="566928" y="4553712"/>
            <a:ext cx="11057839" cy="1371600"/>
          </a:xfrm>
          <a:prstGeom prst="roundRect">
            <a:avLst>
              <a:gd name="adj" fmla="val 4000"/>
            </a:avLst>
          </a:prstGeom>
          <a:solidFill>
            <a:srgbClr val="EEF2F7"/>
          </a:solidFill>
          <a:ln/>
        </p:spPr>
      </p:sp>
      <p:sp>
        <p:nvSpPr>
          <p:cNvPr id="26" name="chip"/>
          <p:cNvSpPr/>
          <p:nvPr/>
        </p:nvSpPr>
        <p:spPr>
          <a:xfrm>
            <a:off x="841248" y="4773168"/>
            <a:ext cx="1133856" cy="256032"/>
          </a:xfrm>
          <a:prstGeom prst="roundRect">
            <a:avLst>
              <a:gd name="adj" fmla="val 42857"/>
            </a:avLst>
          </a:prstGeom>
          <a:solidFill>
            <a:srgbClr val="7C5CFF"/>
          </a:solidFill>
          <a:ln/>
        </p:spPr>
      </p:sp>
      <p:sp>
        <p:nvSpPr>
          <p:cNvPr id="27" name="Text 25"/>
          <p:cNvSpPr txBox="1"/>
          <p:nvPr/>
        </p:nvSpPr>
        <p:spPr>
          <a:xfrm>
            <a:off x="841248" y="4773168"/>
            <a:ext cx="1133856"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AI RUN-RATE</a:t>
            </a:r>
            <a:endParaRPr lang="en-US" sz="900" dirty="0"/>
          </a:p>
        </p:txBody>
      </p:sp>
      <p:sp>
        <p:nvSpPr>
          <p:cNvPr id="28" name="Text 26"/>
          <p:cNvSpPr txBox="1"/>
          <p:nvPr/>
        </p:nvSpPr>
        <p:spPr>
          <a:xfrm>
            <a:off x="2157984" y="4718304"/>
            <a:ext cx="5943600" cy="347472"/>
          </a:xfrm>
          <a:prstGeom prst="rect">
            <a:avLst/>
          </a:prstGeom>
          <a:noFill/>
          <a:ln/>
        </p:spPr>
        <p:txBody>
          <a:bodyPr wrap="square" lIns="0" tIns="0" rIns="0" bIns="0" rtlCol="0" anchor="ctr"/>
          <a:lstStyle/>
          <a:p>
            <a:pPr algn="l" indent="0" marL="0">
              <a:buNone/>
            </a:pPr>
            <a:r>
              <a:rPr lang="en-US" sz="1600" b="1" dirty="0">
                <a:solidFill>
                  <a:srgbClr val="0B1B2E"/>
                </a:solidFill>
                <a:latin typeface="Arial" pitchFamily="34" charset="0"/>
                <a:ea typeface="Arial" pitchFamily="34" charset="-122"/>
                <a:cs typeface="Arial" pitchFamily="34" charset="-120"/>
              </a:rPr>
              <a:t>AI spend has no ceiling yet</a:t>
            </a:r>
            <a:endParaRPr lang="en-US" sz="1600" dirty="0"/>
          </a:p>
        </p:txBody>
      </p:sp>
      <p:sp>
        <p:nvSpPr>
          <p:cNvPr id="29" name="Text 27"/>
          <p:cNvSpPr txBox="1"/>
          <p:nvPr/>
        </p:nvSpPr>
        <p:spPr>
          <a:xfrm>
            <a:off x="2157984" y="5084064"/>
            <a:ext cx="6035040" cy="457200"/>
          </a:xfrm>
          <a:prstGeom prst="rect">
            <a:avLst/>
          </a:prstGeom>
          <a:noFill/>
          <a:ln/>
        </p:spPr>
        <p:txBody>
          <a:bodyPr wrap="square" lIns="0" tIns="0" rIns="0" bIns="0" rtlCol="0" anchor="t"/>
          <a:lstStyle/>
          <a:p>
            <a:pPr algn="l" indent="0" marL="0">
              <a:buNone/>
            </a:pPr>
            <a:r>
              <a:rPr lang="en-US" sz="1150" dirty="0">
                <a:solidFill>
                  <a:srgbClr val="5B6B7E"/>
                </a:solidFill>
                <a:latin typeface="Arial" pitchFamily="34" charset="0"/>
                <a:ea typeface="Arial" pitchFamily="34" charset="-122"/>
                <a:cs typeface="Arial" pitchFamily="34" charset="-120"/>
              </a:rPr>
              <a:t>AI reached $102K in September and is still climbing. Only GitHub AI credit has a budget with a hard stop; Foundry and Bedrock have neither a cap nor a quota.</a:t>
            </a:r>
            <a:endParaRPr lang="en-US" sz="1150" dirty="0"/>
          </a:p>
        </p:txBody>
      </p:sp>
      <p:sp>
        <p:nvSpPr>
          <p:cNvPr id="30" name="Text 28"/>
          <p:cNvSpPr txBox="1"/>
          <p:nvPr/>
        </p:nvSpPr>
        <p:spPr>
          <a:xfrm>
            <a:off x="2157984" y="5559552"/>
            <a:ext cx="6035040" cy="274320"/>
          </a:xfrm>
          <a:prstGeom prst="rect">
            <a:avLst/>
          </a:prstGeom>
          <a:noFill/>
          <a:ln/>
        </p:spPr>
        <p:txBody>
          <a:bodyPr wrap="square" lIns="0" tIns="0" rIns="0" bIns="0" rtlCol="0" anchor="ctr"/>
          <a:lstStyle/>
          <a:p>
            <a:pPr algn="l" indent="0" marL="0">
              <a:buNone/>
            </a:pPr>
            <a:r>
              <a:rPr lang="en-US" sz="1100" b="1" dirty="0">
                <a:solidFill>
                  <a:srgbClr val="7C5CFF"/>
                </a:solidFill>
                <a:latin typeface="Arial" pitchFamily="34" charset="0"/>
                <a:ea typeface="Arial" pitchFamily="34" charset="-122"/>
                <a:cs typeface="Arial" pitchFamily="34" charset="-120"/>
              </a:rPr>
              <a:t>Mitigation — extend the GitHub budget pattern to Foundry and Bedrock.</a:t>
            </a:r>
            <a:endParaRPr lang="en-US" sz="1100" dirty="0"/>
          </a:p>
        </p:txBody>
      </p:sp>
      <p:sp>
        <p:nvSpPr>
          <p:cNvPr id="31" name="Text 29"/>
          <p:cNvSpPr txBox="1"/>
          <p:nvPr/>
        </p:nvSpPr>
        <p:spPr>
          <a:xfrm>
            <a:off x="8430768" y="4736592"/>
            <a:ext cx="2834640" cy="530352"/>
          </a:xfrm>
          <a:prstGeom prst="rect">
            <a:avLst/>
          </a:prstGeom>
          <a:noFill/>
          <a:ln/>
        </p:spPr>
        <p:txBody>
          <a:bodyPr wrap="square" lIns="0" tIns="0" rIns="0" bIns="0" rtlCol="0" anchor="ctr"/>
          <a:lstStyle/>
          <a:p>
            <a:pPr algn="r" indent="0" marL="0">
              <a:buNone/>
            </a:pPr>
            <a:r>
              <a:rPr lang="en-US" sz="2600" b="1" dirty="0">
                <a:solidFill>
                  <a:srgbClr val="0B1B2E"/>
                </a:solidFill>
                <a:latin typeface="Arial" pitchFamily="34" charset="0"/>
                <a:ea typeface="Arial" pitchFamily="34" charset="-122"/>
                <a:cs typeface="Arial" pitchFamily="34" charset="-120"/>
              </a:rPr>
              <a:t>$1.22M</a:t>
            </a:r>
            <a:endParaRPr lang="en-US" sz="2600" dirty="0"/>
          </a:p>
        </p:txBody>
      </p:sp>
      <p:sp>
        <p:nvSpPr>
          <p:cNvPr id="32" name="Text 30"/>
          <p:cNvSpPr txBox="1"/>
          <p:nvPr/>
        </p:nvSpPr>
        <p:spPr>
          <a:xfrm>
            <a:off x="8430768" y="5248656"/>
            <a:ext cx="2834640" cy="256032"/>
          </a:xfrm>
          <a:prstGeom prst="rect">
            <a:avLst/>
          </a:prstGeom>
          <a:noFill/>
          <a:ln/>
        </p:spPr>
        <p:txBody>
          <a:bodyPr wrap="square" lIns="0" tIns="0" rIns="0" bIns="0" rtlCol="0" anchor="ctr"/>
          <a:lstStyle/>
          <a:p>
            <a:pPr algn="r" indent="0" marL="0">
              <a:buNone/>
            </a:pPr>
            <a:r>
              <a:rPr lang="en-US" sz="1050" dirty="0">
                <a:solidFill>
                  <a:srgbClr val="5B6B7E"/>
                </a:solidFill>
                <a:latin typeface="Arial" pitchFamily="34" charset="0"/>
                <a:ea typeface="Arial" pitchFamily="34" charset="-122"/>
                <a:cs typeface="Arial" pitchFamily="34" charset="-120"/>
              </a:rPr>
              <a:t>annualised at Sep run-rate</a:t>
            </a:r>
            <a:endParaRPr lang="en-US" sz="1050" dirty="0"/>
          </a:p>
        </p:txBody>
      </p:sp>
      <p:sp>
        <p:nvSpPr>
          <p:cNvPr id="33" name="Text 31"/>
          <p:cNvSpPr txBox="1"/>
          <p:nvPr/>
        </p:nvSpPr>
        <p:spPr>
          <a:xfrm>
            <a:off x="8430768" y="5504688"/>
            <a:ext cx="2834640" cy="237744"/>
          </a:xfrm>
          <a:prstGeom prst="rect">
            <a:avLst/>
          </a:prstGeom>
          <a:noFill/>
          <a:ln/>
        </p:spPr>
        <p:txBody>
          <a:bodyPr wrap="square" lIns="0" tIns="0" rIns="0" bIns="0" rtlCol="0" anchor="ctr"/>
          <a:lstStyle/>
          <a:p>
            <a:pPr algn="r" indent="0" marL="0">
              <a:buNone/>
            </a:pPr>
            <a:r>
              <a:rPr lang="en-US" sz="1100" b="1" dirty="0">
                <a:solidFill>
                  <a:srgbClr val="7C5CFF"/>
                </a:solidFill>
                <a:latin typeface="Arial" pitchFamily="34" charset="0"/>
                <a:ea typeface="Arial" pitchFamily="34" charset="-122"/>
                <a:cs typeface="Arial" pitchFamily="34" charset="-120"/>
              </a:rPr>
              <a:t>11× since January</a:t>
            </a:r>
            <a:endParaRPr lang="en-US" sz="1100" dirty="0"/>
          </a:p>
        </p:txBody>
      </p:sp>
      <p:sp>
        <p:nvSpPr>
          <p:cNvPr id="34" name="Text 32"/>
          <p:cNvSpPr txBox="1"/>
          <p:nvPr/>
        </p:nvSpPr>
        <p:spPr>
          <a:xfrm>
            <a:off x="8430768" y="5705856"/>
            <a:ext cx="2834640" cy="219456"/>
          </a:xfrm>
          <a:prstGeom prst="rect">
            <a:avLst/>
          </a:prstGeom>
          <a:noFill/>
          <a:ln/>
        </p:spPr>
        <p:txBody>
          <a:bodyPr wrap="square" lIns="0" tIns="0" rIns="0" bIns="0" rtlCol="0" anchor="ctr"/>
          <a:lstStyle/>
          <a:p>
            <a:pPr algn="r" indent="0" marL="0">
              <a:buNone/>
            </a:pPr>
            <a:r>
              <a:rPr lang="en-US" sz="950" dirty="0">
                <a:solidFill>
                  <a:srgbClr val="5B6B7E"/>
                </a:solidFill>
                <a:latin typeface="Arial" pitchFamily="34" charset="0"/>
                <a:ea typeface="Arial" pitchFamily="34" charset="-122"/>
                <a:cs typeface="Arial" pitchFamily="34" charset="-120"/>
              </a:rPr>
              <a:t>34% of all consumption</a:t>
            </a:r>
            <a:endParaRPr lang="en-US" sz="95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ROADMAP</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FinOps workplan for the next two quarters</a:t>
            </a:r>
            <a:endParaRPr lang="en-US" sz="2800" dirty="0"/>
          </a:p>
        </p:txBody>
      </p:sp>
      <p:sp>
        <p:nvSpPr>
          <p:cNvPr id="5" name="Text 3"/>
          <p:cNvSpPr txBox="1"/>
          <p:nvPr/>
        </p:nvSpPr>
        <p:spPr>
          <a:xfrm>
            <a:off x="4443984" y="1481328"/>
            <a:ext cx="6656832" cy="274320"/>
          </a:xfrm>
          <a:prstGeom prst="rect">
            <a:avLst/>
          </a:prstGeom>
          <a:noFill/>
          <a:ln/>
        </p:spPr>
        <p:txBody>
          <a:bodyPr wrap="square" lIns="0" tIns="0" rIns="0" bIns="0" rtlCol="0" anchor="ctr"/>
          <a:lstStyle/>
          <a:p>
            <a:pPr rtl="1" algn="r" indent="0" marL="0">
              <a:buNone/>
            </a:pPr>
            <a:r>
              <a:rPr lang="en-US" sz="1050" b="1" spc="80" kern="0" dirty="0">
                <a:solidFill>
                  <a:srgbClr val="5B6B7E"/>
                </a:solidFill>
                <a:latin typeface="Arial" pitchFamily="34" charset="0"/>
                <a:ea typeface="Arial" pitchFamily="34" charset="-122"/>
                <a:cs typeface="Arial" pitchFamily="34" charset="-120"/>
              </a:rPr>
              <a:t>משימה</a:t>
            </a:r>
            <a:endParaRPr lang="en-US" sz="1050" dirty="0"/>
          </a:p>
        </p:txBody>
      </p:sp>
      <p:sp>
        <p:nvSpPr>
          <p:cNvPr id="6" name="Text 4"/>
          <p:cNvSpPr txBox="1"/>
          <p:nvPr/>
        </p:nvSpPr>
        <p:spPr>
          <a:xfrm>
            <a:off x="2962656" y="1481328"/>
            <a:ext cx="1325880" cy="274320"/>
          </a:xfrm>
          <a:prstGeom prst="rect">
            <a:avLst/>
          </a:prstGeom>
          <a:noFill/>
          <a:ln/>
        </p:spPr>
        <p:txBody>
          <a:bodyPr wrap="square" lIns="0" tIns="0" rIns="0" bIns="0" rtlCol="0" anchor="ctr"/>
          <a:lstStyle/>
          <a:p>
            <a:pPr rtl="1" algn="ctr" indent="0" marL="0">
              <a:buNone/>
            </a:pPr>
            <a:r>
              <a:rPr lang="en-US" sz="1050" b="1" spc="80" kern="0" dirty="0">
                <a:solidFill>
                  <a:srgbClr val="5B6B7E"/>
                </a:solidFill>
                <a:latin typeface="Arial" pitchFamily="34" charset="0"/>
                <a:ea typeface="Arial" pitchFamily="34" charset="-122"/>
                <a:cs typeface="Arial" pitchFamily="34" charset="-120"/>
              </a:rPr>
              <a:t>סטטוס</a:t>
            </a:r>
            <a:endParaRPr lang="en-US" sz="1050" dirty="0"/>
          </a:p>
        </p:txBody>
      </p:sp>
      <p:sp>
        <p:nvSpPr>
          <p:cNvPr id="7" name="Text 5"/>
          <p:cNvSpPr txBox="1"/>
          <p:nvPr/>
        </p:nvSpPr>
        <p:spPr>
          <a:xfrm>
            <a:off x="566928" y="1481328"/>
            <a:ext cx="2194560" cy="274320"/>
          </a:xfrm>
          <a:prstGeom prst="rect">
            <a:avLst/>
          </a:prstGeom>
          <a:noFill/>
          <a:ln/>
        </p:spPr>
        <p:txBody>
          <a:bodyPr wrap="square" lIns="0" tIns="0" rIns="0" bIns="0" rtlCol="0" anchor="ctr"/>
          <a:lstStyle/>
          <a:p>
            <a:pPr rtl="1" algn="r" indent="0" marL="0">
              <a:buNone/>
            </a:pPr>
            <a:r>
              <a:rPr lang="en-US" sz="1050" b="1" spc="80" kern="0" dirty="0">
                <a:solidFill>
                  <a:srgbClr val="5B6B7E"/>
                </a:solidFill>
                <a:latin typeface="Arial" pitchFamily="34" charset="0"/>
                <a:ea typeface="Arial" pitchFamily="34" charset="-122"/>
                <a:cs typeface="Arial" pitchFamily="34" charset="-120"/>
              </a:rPr>
              <a:t>אחראי</a:t>
            </a:r>
            <a:endParaRPr lang="en-US" sz="1050" dirty="0"/>
          </a:p>
        </p:txBody>
      </p:sp>
      <p:sp>
        <p:nvSpPr>
          <p:cNvPr id="8" name="road-0"/>
          <p:cNvSpPr/>
          <p:nvPr/>
        </p:nvSpPr>
        <p:spPr>
          <a:xfrm>
            <a:off x="566928" y="1792224"/>
            <a:ext cx="11057839" cy="786384"/>
          </a:xfrm>
          <a:prstGeom prst="roundRect">
            <a:avLst>
              <a:gd name="adj" fmla="val 6977"/>
            </a:avLst>
          </a:prstGeom>
          <a:solidFill>
            <a:srgbClr val="F6F8FB"/>
          </a:solidFill>
          <a:ln/>
        </p:spPr>
      </p:sp>
      <p:sp>
        <p:nvSpPr>
          <p:cNvPr id="9" name="road-badge-0"/>
          <p:cNvSpPr/>
          <p:nvPr/>
        </p:nvSpPr>
        <p:spPr>
          <a:xfrm>
            <a:off x="11274552" y="2011680"/>
            <a:ext cx="329184" cy="329184"/>
          </a:xfrm>
          <a:prstGeom prst="ellipse">
            <a:avLst/>
          </a:prstGeom>
          <a:solidFill>
            <a:srgbClr val="0B1B2E"/>
          </a:solidFill>
          <a:ln/>
        </p:spPr>
      </p:sp>
      <p:sp>
        <p:nvSpPr>
          <p:cNvPr id="10" name="Text 8"/>
          <p:cNvSpPr txBox="1"/>
          <p:nvPr/>
        </p:nvSpPr>
        <p:spPr>
          <a:xfrm>
            <a:off x="11274552" y="2011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1" name="Text 9"/>
          <p:cNvSpPr txBox="1"/>
          <p:nvPr/>
        </p:nvSpPr>
        <p:spPr>
          <a:xfrm>
            <a:off x="4443984" y="1883664"/>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פרויקט חיסכון והתייעלות</a:t>
            </a:r>
            <a:endParaRPr lang="en-US" sz="1450" dirty="0"/>
          </a:p>
        </p:txBody>
      </p:sp>
      <p:sp>
        <p:nvSpPr>
          <p:cNvPr id="12" name="Text 10"/>
          <p:cNvSpPr txBox="1"/>
          <p:nvPr/>
        </p:nvSpPr>
        <p:spPr>
          <a:xfrm>
            <a:off x="4443984" y="2194560"/>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מימוש תכנית ⁦Cloud FinOps⁩ — ⁦Rightsizing⁩, ⁦Auto Shutdown⁩ ו-⁦Reserved Instances⁩</a:t>
            </a:r>
            <a:endParaRPr lang="en-US" sz="1150" dirty="0"/>
          </a:p>
        </p:txBody>
      </p:sp>
      <p:sp>
        <p:nvSpPr>
          <p:cNvPr id="13" name="road-chip-0"/>
          <p:cNvSpPr/>
          <p:nvPr/>
        </p:nvSpPr>
        <p:spPr>
          <a:xfrm>
            <a:off x="2962656" y="2066544"/>
            <a:ext cx="1325880" cy="292608"/>
          </a:xfrm>
          <a:prstGeom prst="roundRect">
            <a:avLst>
              <a:gd name="adj" fmla="val 40625"/>
            </a:avLst>
          </a:prstGeom>
          <a:solidFill>
            <a:srgbClr val="0F7DC2"/>
          </a:solidFill>
          <a:ln/>
        </p:spPr>
      </p:sp>
      <p:sp>
        <p:nvSpPr>
          <p:cNvPr id="14" name="Text 12"/>
          <p:cNvSpPr txBox="1"/>
          <p:nvPr/>
        </p:nvSpPr>
        <p:spPr>
          <a:xfrm>
            <a:off x="2962656" y="2066544"/>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מתוכנן</a:t>
            </a:r>
            <a:endParaRPr lang="en-US" sz="1050" dirty="0"/>
          </a:p>
        </p:txBody>
      </p:sp>
      <p:sp>
        <p:nvSpPr>
          <p:cNvPr id="15" name="Text 13"/>
          <p:cNvSpPr txBox="1"/>
          <p:nvPr/>
        </p:nvSpPr>
        <p:spPr>
          <a:xfrm>
            <a:off x="566928" y="2066544"/>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אגף תשתיות</a:t>
            </a:r>
            <a:endParaRPr lang="en-US" sz="1150" dirty="0"/>
          </a:p>
        </p:txBody>
      </p:sp>
      <p:sp>
        <p:nvSpPr>
          <p:cNvPr id="16" name="road-badge-1"/>
          <p:cNvSpPr/>
          <p:nvPr/>
        </p:nvSpPr>
        <p:spPr>
          <a:xfrm>
            <a:off x="11274552" y="2871216"/>
            <a:ext cx="329184" cy="329184"/>
          </a:xfrm>
          <a:prstGeom prst="ellipse">
            <a:avLst/>
          </a:prstGeom>
          <a:solidFill>
            <a:srgbClr val="0B1B2E"/>
          </a:solidFill>
          <a:ln/>
        </p:spPr>
      </p:sp>
      <p:sp>
        <p:nvSpPr>
          <p:cNvPr id="17" name="Text 15"/>
          <p:cNvSpPr txBox="1"/>
          <p:nvPr/>
        </p:nvSpPr>
        <p:spPr>
          <a:xfrm>
            <a:off x="11274552" y="28712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8" name="Text 16"/>
          <p:cNvSpPr txBox="1"/>
          <p:nvPr/>
        </p:nvSpPr>
        <p:spPr>
          <a:xfrm>
            <a:off x="4443984" y="2743200"/>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הטמעת ⁦WIV.AI⁩</a:t>
            </a:r>
            <a:endParaRPr lang="en-US" sz="1450" dirty="0"/>
          </a:p>
        </p:txBody>
      </p:sp>
      <p:sp>
        <p:nvSpPr>
          <p:cNvPr id="19" name="Text 17"/>
          <p:cNvSpPr txBox="1"/>
          <p:nvPr/>
        </p:nvSpPr>
        <p:spPr>
          <a:xfrm>
            <a:off x="4443984" y="3054096"/>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פלטפורמת ממשל וניטור עלויות ושימושים, ללא עלות רישוי</a:t>
            </a:r>
            <a:endParaRPr lang="en-US" sz="1150" dirty="0"/>
          </a:p>
        </p:txBody>
      </p:sp>
      <p:sp>
        <p:nvSpPr>
          <p:cNvPr id="20" name="road-chip-1"/>
          <p:cNvSpPr/>
          <p:nvPr/>
        </p:nvSpPr>
        <p:spPr>
          <a:xfrm>
            <a:off x="2962656" y="2926080"/>
            <a:ext cx="1325880" cy="292608"/>
          </a:xfrm>
          <a:prstGeom prst="roundRect">
            <a:avLst>
              <a:gd name="adj" fmla="val 40625"/>
            </a:avLst>
          </a:prstGeom>
          <a:solidFill>
            <a:srgbClr val="0F7DC2"/>
          </a:solidFill>
          <a:ln/>
        </p:spPr>
      </p:sp>
      <p:sp>
        <p:nvSpPr>
          <p:cNvPr id="21" name="Text 19"/>
          <p:cNvSpPr txBox="1"/>
          <p:nvPr/>
        </p:nvSpPr>
        <p:spPr>
          <a:xfrm>
            <a:off x="2962656" y="2926080"/>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מתוכנן</a:t>
            </a:r>
            <a:endParaRPr lang="en-US" sz="1050" dirty="0"/>
          </a:p>
        </p:txBody>
      </p:sp>
      <p:sp>
        <p:nvSpPr>
          <p:cNvPr id="22" name="Text 20"/>
          <p:cNvSpPr txBox="1"/>
          <p:nvPr/>
        </p:nvSpPr>
        <p:spPr>
          <a:xfrm>
            <a:off x="566928" y="2926080"/>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אריאל אוראל</a:t>
            </a:r>
            <a:endParaRPr lang="en-US" sz="1150" dirty="0"/>
          </a:p>
        </p:txBody>
      </p:sp>
      <p:sp>
        <p:nvSpPr>
          <p:cNvPr id="23" name="road-2"/>
          <p:cNvSpPr/>
          <p:nvPr/>
        </p:nvSpPr>
        <p:spPr>
          <a:xfrm>
            <a:off x="566928" y="3511296"/>
            <a:ext cx="11057839" cy="786384"/>
          </a:xfrm>
          <a:prstGeom prst="roundRect">
            <a:avLst>
              <a:gd name="adj" fmla="val 6977"/>
            </a:avLst>
          </a:prstGeom>
          <a:solidFill>
            <a:srgbClr val="F6F8FB"/>
          </a:solidFill>
          <a:ln/>
        </p:spPr>
      </p:sp>
      <p:sp>
        <p:nvSpPr>
          <p:cNvPr id="24" name="road-badge-2"/>
          <p:cNvSpPr/>
          <p:nvPr/>
        </p:nvSpPr>
        <p:spPr>
          <a:xfrm>
            <a:off x="11274552" y="3730752"/>
            <a:ext cx="329184" cy="329184"/>
          </a:xfrm>
          <a:prstGeom prst="ellipse">
            <a:avLst/>
          </a:prstGeom>
          <a:solidFill>
            <a:srgbClr val="0B1B2E"/>
          </a:solidFill>
          <a:ln/>
        </p:spPr>
      </p:sp>
      <p:sp>
        <p:nvSpPr>
          <p:cNvPr id="25" name="Text 23"/>
          <p:cNvSpPr txBox="1"/>
          <p:nvPr/>
        </p:nvSpPr>
        <p:spPr>
          <a:xfrm>
            <a:off x="11274552" y="37307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4"/>
          <p:cNvSpPr txBox="1"/>
          <p:nvPr/>
        </p:nvSpPr>
        <p:spPr>
          <a:xfrm>
            <a:off x="4443984" y="3602736"/>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תיוג משאבים לפי שירות</a:t>
            </a:r>
            <a:endParaRPr lang="en-US" sz="1450" dirty="0"/>
          </a:p>
        </p:txBody>
      </p:sp>
      <p:sp>
        <p:nvSpPr>
          <p:cNvPr id="27" name="Text 25"/>
          <p:cNvSpPr txBox="1"/>
          <p:nvPr/>
        </p:nvSpPr>
        <p:spPr>
          <a:xfrm>
            <a:off x="4443984" y="3913632"/>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השלמת תיוג לפי ⁦Service, Application, Cost Center⁩ ו-⁦Environment⁩ לצורך ⁦Chargeback/Showback⁩, כולל ⁦AI Gateway⁩ ו-⁦AWS Bedrock⁩</a:t>
            </a:r>
            <a:endParaRPr lang="en-US" sz="1150" dirty="0"/>
          </a:p>
        </p:txBody>
      </p:sp>
      <p:sp>
        <p:nvSpPr>
          <p:cNvPr id="28" name="road-chip-2"/>
          <p:cNvSpPr/>
          <p:nvPr/>
        </p:nvSpPr>
        <p:spPr>
          <a:xfrm>
            <a:off x="2962656" y="3785616"/>
            <a:ext cx="1325880" cy="292608"/>
          </a:xfrm>
          <a:prstGeom prst="roundRect">
            <a:avLst>
              <a:gd name="adj" fmla="val 40625"/>
            </a:avLst>
          </a:prstGeom>
          <a:solidFill>
            <a:srgbClr val="F2A900"/>
          </a:solidFill>
          <a:ln/>
        </p:spPr>
      </p:sp>
      <p:sp>
        <p:nvSpPr>
          <p:cNvPr id="29" name="Text 27"/>
          <p:cNvSpPr txBox="1"/>
          <p:nvPr/>
        </p:nvSpPr>
        <p:spPr>
          <a:xfrm>
            <a:off x="2962656" y="3785616"/>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בתהליך</a:t>
            </a:r>
            <a:endParaRPr lang="en-US" sz="1050" dirty="0"/>
          </a:p>
        </p:txBody>
      </p:sp>
      <p:sp>
        <p:nvSpPr>
          <p:cNvPr id="30" name="Text 28"/>
          <p:cNvSpPr txBox="1"/>
          <p:nvPr/>
        </p:nvSpPr>
        <p:spPr>
          <a:xfrm>
            <a:off x="566928" y="3785616"/>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אריאל אוראל</a:t>
            </a:r>
            <a:endParaRPr lang="en-US" sz="1150" dirty="0"/>
          </a:p>
        </p:txBody>
      </p:sp>
      <p:sp>
        <p:nvSpPr>
          <p:cNvPr id="31" name="road-badge-3"/>
          <p:cNvSpPr/>
          <p:nvPr/>
        </p:nvSpPr>
        <p:spPr>
          <a:xfrm>
            <a:off x="11274552" y="4590288"/>
            <a:ext cx="329184" cy="329184"/>
          </a:xfrm>
          <a:prstGeom prst="ellipse">
            <a:avLst/>
          </a:prstGeom>
          <a:solidFill>
            <a:srgbClr val="0B1B2E"/>
          </a:solidFill>
          <a:ln/>
        </p:spPr>
      </p:sp>
      <p:sp>
        <p:nvSpPr>
          <p:cNvPr id="32" name="Text 30"/>
          <p:cNvSpPr txBox="1"/>
          <p:nvPr/>
        </p:nvSpPr>
        <p:spPr>
          <a:xfrm>
            <a:off x="11274552" y="4590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3" name="Text 31"/>
          <p:cNvSpPr txBox="1"/>
          <p:nvPr/>
        </p:nvSpPr>
        <p:spPr>
          <a:xfrm>
            <a:off x="4443984" y="4462272"/>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הטמעת ⁦AWS FinOps Agent⁩</a:t>
            </a:r>
            <a:endParaRPr lang="en-US" sz="1450" dirty="0"/>
          </a:p>
        </p:txBody>
      </p:sp>
      <p:sp>
        <p:nvSpPr>
          <p:cNvPr id="34" name="Text 32"/>
          <p:cNvSpPr txBox="1"/>
          <p:nvPr/>
        </p:nvSpPr>
        <p:spPr>
          <a:xfrm>
            <a:off x="4443984" y="4773168"/>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ניתוח עלויות אוטומטי, זיהוי המלצות חיסכון ואופטימיזציה של שירותי ⁦AWS⁩</a:t>
            </a:r>
            <a:endParaRPr lang="en-US" sz="1150" dirty="0"/>
          </a:p>
        </p:txBody>
      </p:sp>
      <p:sp>
        <p:nvSpPr>
          <p:cNvPr id="35" name="road-chip-3"/>
          <p:cNvSpPr/>
          <p:nvPr/>
        </p:nvSpPr>
        <p:spPr>
          <a:xfrm>
            <a:off x="2962656" y="4645152"/>
            <a:ext cx="1325880" cy="292608"/>
          </a:xfrm>
          <a:prstGeom prst="roundRect">
            <a:avLst>
              <a:gd name="adj" fmla="val 40625"/>
            </a:avLst>
          </a:prstGeom>
          <a:solidFill>
            <a:srgbClr val="0F7DC2"/>
          </a:solidFill>
          <a:ln/>
        </p:spPr>
      </p:sp>
      <p:sp>
        <p:nvSpPr>
          <p:cNvPr id="36" name="Text 34"/>
          <p:cNvSpPr txBox="1"/>
          <p:nvPr/>
        </p:nvSpPr>
        <p:spPr>
          <a:xfrm>
            <a:off x="2962656" y="4645152"/>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מתוכנן</a:t>
            </a:r>
            <a:endParaRPr lang="en-US" sz="1050" dirty="0"/>
          </a:p>
        </p:txBody>
      </p:sp>
      <p:sp>
        <p:nvSpPr>
          <p:cNvPr id="37" name="Text 35"/>
          <p:cNvSpPr txBox="1"/>
          <p:nvPr/>
        </p:nvSpPr>
        <p:spPr>
          <a:xfrm>
            <a:off x="566928" y="4645152"/>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אריאל</a:t>
            </a:r>
            <a:endParaRPr lang="en-US" sz="1150" dirty="0"/>
          </a:p>
        </p:txBody>
      </p:sp>
      <p:sp>
        <p:nvSpPr>
          <p:cNvPr id="38" name="road-4"/>
          <p:cNvSpPr/>
          <p:nvPr/>
        </p:nvSpPr>
        <p:spPr>
          <a:xfrm>
            <a:off x="566928" y="5230368"/>
            <a:ext cx="11057839" cy="786384"/>
          </a:xfrm>
          <a:prstGeom prst="roundRect">
            <a:avLst>
              <a:gd name="adj" fmla="val 6977"/>
            </a:avLst>
          </a:prstGeom>
          <a:solidFill>
            <a:srgbClr val="F6F8FB"/>
          </a:solidFill>
          <a:ln/>
        </p:spPr>
      </p:sp>
      <p:sp>
        <p:nvSpPr>
          <p:cNvPr id="39" name="road-badge-4"/>
          <p:cNvSpPr/>
          <p:nvPr/>
        </p:nvSpPr>
        <p:spPr>
          <a:xfrm>
            <a:off x="11274552" y="5449824"/>
            <a:ext cx="329184" cy="329184"/>
          </a:xfrm>
          <a:prstGeom prst="ellipse">
            <a:avLst/>
          </a:prstGeom>
          <a:solidFill>
            <a:srgbClr val="0B1B2E"/>
          </a:solidFill>
          <a:ln/>
        </p:spPr>
      </p:sp>
      <p:sp>
        <p:nvSpPr>
          <p:cNvPr id="40" name="Text 38"/>
          <p:cNvSpPr txBox="1"/>
          <p:nvPr/>
        </p:nvSpPr>
        <p:spPr>
          <a:xfrm>
            <a:off x="11274552" y="54498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41" name="Text 39"/>
          <p:cNvSpPr txBox="1"/>
          <p:nvPr/>
        </p:nvSpPr>
        <p:spPr>
          <a:xfrm>
            <a:off x="4443984" y="5321808"/>
            <a:ext cx="6656832" cy="310896"/>
          </a:xfrm>
          <a:prstGeom prst="rect">
            <a:avLst/>
          </a:prstGeom>
          <a:noFill/>
          <a:ln/>
        </p:spPr>
        <p:txBody>
          <a:bodyPr wrap="square" lIns="0" tIns="0" rIns="0" bIns="0" rtlCol="0" anchor="ctr"/>
          <a:lstStyle/>
          <a:p>
            <a:pPr rtl="1" algn="r" indent="0" marL="0">
              <a:buNone/>
            </a:pPr>
            <a:r>
              <a:rPr lang="en-US" sz="1450" b="1" dirty="0">
                <a:solidFill>
                  <a:srgbClr val="0B1B2E"/>
                </a:solidFill>
                <a:latin typeface="Arial" pitchFamily="34" charset="0"/>
                <a:ea typeface="Arial" pitchFamily="34" charset="-122"/>
                <a:cs typeface="Arial" pitchFamily="34" charset="-120"/>
              </a:rPr>
              <a:t>אופטימיזציית ⁦Databricks Commitment⁩</a:t>
            </a:r>
            <a:endParaRPr lang="en-US" sz="1450" dirty="0"/>
          </a:p>
        </p:txBody>
      </p:sp>
      <p:sp>
        <p:nvSpPr>
          <p:cNvPr id="42" name="Text 40"/>
          <p:cNvSpPr txBox="1"/>
          <p:nvPr/>
        </p:nvSpPr>
        <p:spPr>
          <a:xfrm>
            <a:off x="4443984" y="5632704"/>
            <a:ext cx="6656832" cy="402336"/>
          </a:xfrm>
          <a:prstGeom prst="rect">
            <a:avLst/>
          </a:prstGeom>
          <a:noFill/>
          <a:ln/>
        </p:spPr>
        <p:txBody>
          <a:bodyPr wrap="square" lIns="0" tIns="0" rIns="0" bIns="0" rtlCol="0" anchor="t"/>
          <a:lstStyle/>
          <a:p>
            <a:pPr rtl="1" algn="r" indent="0" marL="0">
              <a:buNone/>
            </a:pPr>
            <a:r>
              <a:rPr lang="en-US" sz="1150" dirty="0">
                <a:solidFill>
                  <a:srgbClr val="5B6B7E"/>
                </a:solidFill>
                <a:latin typeface="Arial" pitchFamily="34" charset="0"/>
                <a:ea typeface="Arial" pitchFamily="34" charset="-122"/>
                <a:cs typeface="Arial" pitchFamily="34" charset="-120"/>
              </a:rPr>
              <a:t>הגדלת ניצול חוזה ה-⁦DBU⁩, מעקב ⁦Utilization⁩ ואיזון ⁦Classic/Serverless⁩</a:t>
            </a:r>
            <a:endParaRPr lang="en-US" sz="1150" dirty="0"/>
          </a:p>
        </p:txBody>
      </p:sp>
      <p:sp>
        <p:nvSpPr>
          <p:cNvPr id="43" name="road-chip-4"/>
          <p:cNvSpPr/>
          <p:nvPr/>
        </p:nvSpPr>
        <p:spPr>
          <a:xfrm>
            <a:off x="2962656" y="5504688"/>
            <a:ext cx="1325880" cy="292608"/>
          </a:xfrm>
          <a:prstGeom prst="roundRect">
            <a:avLst>
              <a:gd name="adj" fmla="val 40625"/>
            </a:avLst>
          </a:prstGeom>
          <a:solidFill>
            <a:srgbClr val="C3CDD9"/>
          </a:solidFill>
          <a:ln/>
        </p:spPr>
      </p:sp>
      <p:sp>
        <p:nvSpPr>
          <p:cNvPr id="44" name="Text 42"/>
          <p:cNvSpPr txBox="1"/>
          <p:nvPr/>
        </p:nvSpPr>
        <p:spPr>
          <a:xfrm>
            <a:off x="2962656" y="5504688"/>
            <a:ext cx="1325880" cy="292608"/>
          </a:xfrm>
          <a:prstGeom prst="rect">
            <a:avLst/>
          </a:prstGeom>
          <a:noFill/>
          <a:ln/>
        </p:spPr>
        <p:txBody>
          <a:bodyPr wrap="square" lIns="0" tIns="0" rIns="0" bIns="0" rtlCol="0" anchor="ctr"/>
          <a:lstStyle/>
          <a:p>
            <a:pPr rtl="1" algn="ctr" indent="0" marL="0">
              <a:buNone/>
            </a:pPr>
            <a:r>
              <a:rPr lang="en-US" sz="1050" b="1" dirty="0">
                <a:solidFill>
                  <a:srgbClr val="FFFFFF"/>
                </a:solidFill>
                <a:latin typeface="Arial" pitchFamily="34" charset="0"/>
                <a:ea typeface="Arial" pitchFamily="34" charset="-122"/>
                <a:cs typeface="Arial" pitchFamily="34" charset="-120"/>
              </a:rPr>
              <a:t>לקביעה</a:t>
            </a:r>
            <a:endParaRPr lang="en-US" sz="1050" dirty="0"/>
          </a:p>
        </p:txBody>
      </p:sp>
      <p:sp>
        <p:nvSpPr>
          <p:cNvPr id="45" name="Text 43"/>
          <p:cNvSpPr txBox="1"/>
          <p:nvPr/>
        </p:nvSpPr>
        <p:spPr>
          <a:xfrm>
            <a:off x="566928" y="5504688"/>
            <a:ext cx="2194560" cy="292608"/>
          </a:xfrm>
          <a:prstGeom prst="rect">
            <a:avLst/>
          </a:prstGeom>
          <a:noFill/>
          <a:ln/>
        </p:spPr>
        <p:txBody>
          <a:bodyPr wrap="square" lIns="0" tIns="0" rIns="0" bIns="0" rtlCol="0" anchor="ctr"/>
          <a:lstStyle/>
          <a:p>
            <a:pPr rtl="1" algn="r" indent="0" marL="0">
              <a:buNone/>
            </a:pPr>
            <a:r>
              <a:rPr lang="en-US" sz="1150" dirty="0">
                <a:solidFill>
                  <a:srgbClr val="0B1B2E"/>
                </a:solidFill>
                <a:latin typeface="Arial" pitchFamily="34" charset="0"/>
                <a:ea typeface="Arial" pitchFamily="34" charset="-122"/>
                <a:cs typeface="Arial" pitchFamily="34" charset="-120"/>
              </a:rPr>
              <a:t>—</a:t>
            </a:r>
            <a:endParaRPr lang="en-US" sz="1150" dirty="0"/>
          </a:p>
        </p:txBody>
      </p:sp>
      <p:sp>
        <p:nvSpPr>
          <p:cNvPr id="46"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Owners and status as at the September 2026 FinOps review.</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8FA7BF"/>
                </a:solidFill>
                <a:latin typeface="Arial" pitchFamily="34" charset="0"/>
                <a:ea typeface="Arial" pitchFamily="34" charset="-122"/>
                <a:cs typeface="Arial" pitchFamily="34" charset="-120"/>
              </a:rPr>
              <a:t>THE ASK</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FFFFFF"/>
                </a:solidFill>
                <a:latin typeface="Cambria" pitchFamily="34" charset="0"/>
                <a:ea typeface="Cambria" pitchFamily="34" charset="-122"/>
                <a:cs typeface="Cambria" pitchFamily="34" charset="-120"/>
              </a:rPr>
              <a:t>Three decisions we would like to close today</a:t>
            </a:r>
            <a:endParaRPr lang="en-US" sz="2800" dirty="0"/>
          </a:p>
        </p:txBody>
      </p:sp>
      <p:sp>
        <p:nvSpPr>
          <p:cNvPr id="5" name="ask-1"/>
          <p:cNvSpPr/>
          <p:nvPr/>
        </p:nvSpPr>
        <p:spPr>
          <a:xfrm>
            <a:off x="566928" y="1572768"/>
            <a:ext cx="3503066" cy="3931920"/>
          </a:xfrm>
          <a:prstGeom prst="roundRect">
            <a:avLst>
              <a:gd name="adj" fmla="val 1566"/>
            </a:avLst>
          </a:prstGeom>
          <a:solidFill>
            <a:srgbClr val="112C45"/>
          </a:solidFill>
          <a:ln/>
        </p:spPr>
      </p:sp>
      <p:sp>
        <p:nvSpPr>
          <p:cNvPr id="6" name="ask-badge-1"/>
          <p:cNvSpPr/>
          <p:nvPr/>
        </p:nvSpPr>
        <p:spPr>
          <a:xfrm>
            <a:off x="877824" y="1883664"/>
            <a:ext cx="420624" cy="420624"/>
          </a:xfrm>
          <a:prstGeom prst="ellipse">
            <a:avLst/>
          </a:prstGeom>
          <a:solidFill>
            <a:srgbClr val="00A878"/>
          </a:solidFill>
          <a:ln/>
        </p:spPr>
      </p:sp>
      <p:sp>
        <p:nvSpPr>
          <p:cNvPr id="7" name="Text 5"/>
          <p:cNvSpPr txBox="1"/>
          <p:nvPr/>
        </p:nvSpPr>
        <p:spPr>
          <a:xfrm>
            <a:off x="877824" y="1883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txBox="1"/>
          <p:nvPr/>
        </p:nvSpPr>
        <p:spPr>
          <a:xfrm>
            <a:off x="877824" y="2487168"/>
            <a:ext cx="2881274" cy="859536"/>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Approve the reservation purchase programme</a:t>
            </a:r>
            <a:endParaRPr lang="en-US" sz="1700" dirty="0"/>
          </a:p>
        </p:txBody>
      </p:sp>
      <p:sp>
        <p:nvSpPr>
          <p:cNvPr id="9" name="Text 7"/>
          <p:cNvSpPr txBox="1"/>
          <p:nvPr/>
        </p:nvSpPr>
        <p:spPr>
          <a:xfrm>
            <a:off x="877824" y="3401568"/>
            <a:ext cx="2881274" cy="137160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$78K a year of identified reserved-instance and savings-plan purchases across SAP, CloudIT, AI Factory and Data Cloud. Buying before February 2027 also locks pricing ahead of the Azure increase.</a:t>
            </a:r>
            <a:endParaRPr lang="en-US" sz="1200" dirty="0"/>
          </a:p>
        </p:txBody>
      </p:sp>
      <p:sp>
        <p:nvSpPr>
          <p:cNvPr id="10" name="Text 8"/>
          <p:cNvSpPr txBox="1"/>
          <p:nvPr/>
        </p:nvSpPr>
        <p:spPr>
          <a:xfrm>
            <a:off x="877824" y="4828032"/>
            <a:ext cx="2881274" cy="512064"/>
          </a:xfrm>
          <a:prstGeom prst="rect">
            <a:avLst/>
          </a:prstGeom>
          <a:noFill/>
          <a:ln/>
        </p:spPr>
        <p:txBody>
          <a:bodyPr wrap="square" lIns="0" tIns="0" rIns="0" bIns="0" rtlCol="0" anchor="t"/>
          <a:lstStyle/>
          <a:p>
            <a:pPr algn="l" indent="0" marL="0">
              <a:buNone/>
            </a:pPr>
            <a:r>
              <a:rPr lang="en-US" sz="1050" b="1" dirty="0">
                <a:solidFill>
                  <a:srgbClr val="00A878"/>
                </a:solidFill>
                <a:latin typeface="Arial" pitchFamily="34" charset="0"/>
                <a:ea typeface="Arial" pitchFamily="34" charset="-122"/>
                <a:cs typeface="Arial" pitchFamily="34" charset="-120"/>
              </a:rPr>
              <a:t>Needs: capital approval  ·  Owner: Cloud Infrastructure</a:t>
            </a:r>
            <a:endParaRPr lang="en-US" sz="1050" dirty="0"/>
          </a:p>
        </p:txBody>
      </p:sp>
      <p:sp>
        <p:nvSpPr>
          <p:cNvPr id="11" name="ask-2"/>
          <p:cNvSpPr/>
          <p:nvPr/>
        </p:nvSpPr>
        <p:spPr>
          <a:xfrm>
            <a:off x="4344314" y="1572768"/>
            <a:ext cx="3503066" cy="3931920"/>
          </a:xfrm>
          <a:prstGeom prst="roundRect">
            <a:avLst>
              <a:gd name="adj" fmla="val 1566"/>
            </a:avLst>
          </a:prstGeom>
          <a:solidFill>
            <a:srgbClr val="112C45"/>
          </a:solidFill>
          <a:ln/>
        </p:spPr>
      </p:sp>
      <p:sp>
        <p:nvSpPr>
          <p:cNvPr id="12" name="ask-badge-2"/>
          <p:cNvSpPr/>
          <p:nvPr/>
        </p:nvSpPr>
        <p:spPr>
          <a:xfrm>
            <a:off x="4655210" y="1883664"/>
            <a:ext cx="420624" cy="420624"/>
          </a:xfrm>
          <a:prstGeom prst="ellipse">
            <a:avLst/>
          </a:prstGeom>
          <a:solidFill>
            <a:srgbClr val="7C5CFF"/>
          </a:solidFill>
          <a:ln/>
        </p:spPr>
      </p:sp>
      <p:sp>
        <p:nvSpPr>
          <p:cNvPr id="13" name="Text 11"/>
          <p:cNvSpPr txBox="1"/>
          <p:nvPr/>
        </p:nvSpPr>
        <p:spPr>
          <a:xfrm>
            <a:off x="4655210" y="1883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txBox="1"/>
          <p:nvPr/>
        </p:nvSpPr>
        <p:spPr>
          <a:xfrm>
            <a:off x="4655210" y="2487168"/>
            <a:ext cx="2881274" cy="859536"/>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Set an FY2027 envelope and controls for AI</a:t>
            </a:r>
            <a:endParaRPr lang="en-US" sz="1700" dirty="0"/>
          </a:p>
        </p:txBody>
      </p:sp>
      <p:sp>
        <p:nvSpPr>
          <p:cNvPr id="15" name="Text 13"/>
          <p:cNvSpPr txBox="1"/>
          <p:nvPr/>
        </p:nvSpPr>
        <p:spPr>
          <a:xfrm>
            <a:off x="4655210" y="3401568"/>
            <a:ext cx="2881274" cy="137160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Budget for roughly $1.3M of AI consumption, and attach the controls: hard-stop budgets on Foundry and Bedrock, a model-routing policy, and per-project quotas.</a:t>
            </a:r>
            <a:endParaRPr lang="en-US" sz="1200" dirty="0"/>
          </a:p>
        </p:txBody>
      </p:sp>
      <p:sp>
        <p:nvSpPr>
          <p:cNvPr id="16" name="Text 14"/>
          <p:cNvSpPr txBox="1"/>
          <p:nvPr/>
        </p:nvSpPr>
        <p:spPr>
          <a:xfrm>
            <a:off x="4655210" y="4828032"/>
            <a:ext cx="2881274" cy="512064"/>
          </a:xfrm>
          <a:prstGeom prst="rect">
            <a:avLst/>
          </a:prstGeom>
          <a:noFill/>
          <a:ln/>
        </p:spPr>
        <p:txBody>
          <a:bodyPr wrap="square" lIns="0" tIns="0" rIns="0" bIns="0" rtlCol="0" anchor="t"/>
          <a:lstStyle/>
          <a:p>
            <a:pPr algn="l" indent="0" marL="0">
              <a:buNone/>
            </a:pPr>
            <a:r>
              <a:rPr lang="en-US" sz="1050" b="1" dirty="0">
                <a:solidFill>
                  <a:srgbClr val="7C5CFF"/>
                </a:solidFill>
                <a:latin typeface="Arial" pitchFamily="34" charset="0"/>
                <a:ea typeface="Arial" pitchFamily="34" charset="-122"/>
                <a:cs typeface="Arial" pitchFamily="34" charset="-120"/>
              </a:rPr>
              <a:t>Needs: budget line + policy sign-off  ·  Owner: AI Factory + FinOps</a:t>
            </a:r>
            <a:endParaRPr lang="en-US" sz="1050" dirty="0"/>
          </a:p>
        </p:txBody>
      </p:sp>
      <p:sp>
        <p:nvSpPr>
          <p:cNvPr id="17" name="ask-3"/>
          <p:cNvSpPr/>
          <p:nvPr/>
        </p:nvSpPr>
        <p:spPr>
          <a:xfrm>
            <a:off x="8121701" y="1572768"/>
            <a:ext cx="3503066" cy="3931920"/>
          </a:xfrm>
          <a:prstGeom prst="roundRect">
            <a:avLst>
              <a:gd name="adj" fmla="val 1566"/>
            </a:avLst>
          </a:prstGeom>
          <a:solidFill>
            <a:srgbClr val="112C45"/>
          </a:solidFill>
          <a:ln/>
        </p:spPr>
      </p:sp>
      <p:sp>
        <p:nvSpPr>
          <p:cNvPr id="18" name="ask-badge-3"/>
          <p:cNvSpPr/>
          <p:nvPr/>
        </p:nvSpPr>
        <p:spPr>
          <a:xfrm>
            <a:off x="8432597" y="1883664"/>
            <a:ext cx="420624" cy="420624"/>
          </a:xfrm>
          <a:prstGeom prst="ellipse">
            <a:avLst/>
          </a:prstGeom>
          <a:solidFill>
            <a:srgbClr val="F2A900"/>
          </a:solidFill>
          <a:ln/>
        </p:spPr>
      </p:sp>
      <p:sp>
        <p:nvSpPr>
          <p:cNvPr id="19" name="Text 17"/>
          <p:cNvSpPr txBox="1"/>
          <p:nvPr/>
        </p:nvSpPr>
        <p:spPr>
          <a:xfrm>
            <a:off x="8432597" y="188366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0" name="Text 18"/>
          <p:cNvSpPr txBox="1"/>
          <p:nvPr/>
        </p:nvSpPr>
        <p:spPr>
          <a:xfrm>
            <a:off x="8432597" y="2487168"/>
            <a:ext cx="2881274" cy="859536"/>
          </a:xfrm>
          <a:prstGeom prst="rect">
            <a:avLst/>
          </a:prstGeom>
          <a:noFill/>
          <a:ln/>
        </p:spPr>
        <p:txBody>
          <a:bodyPr wrap="square" lIns="0" tIns="0" rIns="0" bIns="0" rtlCol="0" anchor="t"/>
          <a:lstStyle/>
          <a:p>
            <a:pPr algn="l" indent="0" marL="0">
              <a:buNone/>
            </a:pPr>
            <a:r>
              <a:rPr lang="en-US" sz="1700" b="1" dirty="0">
                <a:solidFill>
                  <a:srgbClr val="FFFFFF"/>
                </a:solidFill>
                <a:latin typeface="Arial" pitchFamily="34" charset="0"/>
                <a:ea typeface="Arial" pitchFamily="34" charset="-122"/>
                <a:cs typeface="Arial" pitchFamily="34" charset="-120"/>
              </a:rPr>
              <a:t>Choose the Databricks path before Q1</a:t>
            </a:r>
            <a:endParaRPr lang="en-US" sz="1700" dirty="0"/>
          </a:p>
        </p:txBody>
      </p:sp>
      <p:sp>
        <p:nvSpPr>
          <p:cNvPr id="21" name="Text 19"/>
          <p:cNvSpPr txBox="1"/>
          <p:nvPr/>
        </p:nvSpPr>
        <p:spPr>
          <a:xfrm>
            <a:off x="8432597" y="3401568"/>
            <a:ext cx="2881274" cy="1371600"/>
          </a:xfrm>
          <a:prstGeom prst="rect">
            <a:avLst/>
          </a:prstGeom>
          <a:noFill/>
          <a:ln/>
        </p:spPr>
        <p:txBody>
          <a:bodyPr wrap="square" lIns="0" tIns="0" rIns="0" bIns="0" rtlCol="0" anchor="t"/>
          <a:lstStyle/>
          <a:p>
            <a:pPr algn="l" indent="0" marL="0">
              <a:buNone/>
            </a:pPr>
            <a:r>
              <a:rPr lang="en-US" sz="1200" dirty="0">
                <a:solidFill>
                  <a:srgbClr val="A9BCCF"/>
                </a:solidFill>
                <a:latin typeface="Arial" pitchFamily="34" charset="0"/>
                <a:ea typeface="Arial" pitchFamily="34" charset="-122"/>
                <a:cs typeface="Arial" pitchFamily="34" charset="-120"/>
              </a:rPr>
              <a:t>Either top up the DBU commitment in the FY2027 plan, or fund an optimisation sprint on the Classic / Serverless mix to stretch the existing contract.</a:t>
            </a:r>
            <a:endParaRPr lang="en-US" sz="1200" dirty="0"/>
          </a:p>
        </p:txBody>
      </p:sp>
      <p:sp>
        <p:nvSpPr>
          <p:cNvPr id="22" name="Text 20"/>
          <p:cNvSpPr txBox="1"/>
          <p:nvPr/>
        </p:nvSpPr>
        <p:spPr>
          <a:xfrm>
            <a:off x="8432597" y="4828032"/>
            <a:ext cx="2881274" cy="512064"/>
          </a:xfrm>
          <a:prstGeom prst="rect">
            <a:avLst/>
          </a:prstGeom>
          <a:noFill/>
          <a:ln/>
        </p:spPr>
        <p:txBody>
          <a:bodyPr wrap="square" lIns="0" tIns="0" rIns="0" bIns="0" rtlCol="0" anchor="t"/>
          <a:lstStyle/>
          <a:p>
            <a:pPr algn="l" indent="0" marL="0">
              <a:buNone/>
            </a:pPr>
            <a:r>
              <a:rPr lang="en-US" sz="1050" b="1" dirty="0">
                <a:solidFill>
                  <a:srgbClr val="F2A900"/>
                </a:solidFill>
                <a:latin typeface="Arial" pitchFamily="34" charset="0"/>
                <a:ea typeface="Arial" pitchFamily="34" charset="-122"/>
                <a:cs typeface="Arial" pitchFamily="34" charset="-120"/>
              </a:rPr>
              <a:t>Needs: a decision by December 2026  ·  Owner: Data Cloud + FinOps</a:t>
            </a:r>
            <a:endParaRPr lang="en-US" sz="1050" dirty="0"/>
          </a:p>
        </p:txBody>
      </p:sp>
      <p:sp>
        <p:nvSpPr>
          <p:cNvPr id="2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7E93AB"/>
                </a:solidFill>
              </a:rPr>
              <a:t>Recommended by the Cloud Infrastructure, DevOps &amp; Databases department for CIO decision.</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66928" y="2286000"/>
            <a:ext cx="8229600" cy="1097280"/>
          </a:xfrm>
          <a:prstGeom prst="rect">
            <a:avLst/>
          </a:prstGeom>
          <a:noFill/>
          <a:ln/>
        </p:spPr>
        <p:txBody>
          <a:bodyPr wrap="square" lIns="0" tIns="0" rIns="0" bIns="0" rtlCol="0" anchor="ctr"/>
          <a:lstStyle/>
          <a:p>
            <a:pPr algn="l"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566928" y="3419856"/>
            <a:ext cx="8229600" cy="420624"/>
          </a:xfrm>
          <a:prstGeom prst="rect">
            <a:avLst/>
          </a:prstGeom>
          <a:noFill/>
          <a:ln/>
        </p:spPr>
        <p:txBody>
          <a:bodyPr wrap="square" lIns="0" tIns="0" rIns="0" bIns="0" rtlCol="0" anchor="ctr"/>
          <a:lstStyle/>
          <a:p>
            <a:pPr algn="l" indent="0" marL="0">
              <a:buNone/>
            </a:pPr>
            <a:r>
              <a:rPr lang="en-US" sz="1700" i="1" dirty="0">
                <a:solidFill>
                  <a:srgbClr val="9EC6E6"/>
                </a:solidFill>
                <a:latin typeface="Cambria" pitchFamily="34" charset="0"/>
                <a:ea typeface="Cambria" pitchFamily="34" charset="-122"/>
                <a:cs typeface="Cambria" pitchFamily="34" charset="-120"/>
              </a:rPr>
              <a:t>Questions, and the detailed cost-centre views, are in the appendix.</a:t>
            </a:r>
            <a:endParaRPr lang="en-US" sz="1700" dirty="0"/>
          </a:p>
        </p:txBody>
      </p:sp>
      <p:sp>
        <p:nvSpPr>
          <p:cNvPr id="4" name="Text 2"/>
          <p:cNvSpPr txBox="1"/>
          <p:nvPr/>
        </p:nvSpPr>
        <p:spPr>
          <a:xfrm>
            <a:off x="566928" y="4041648"/>
            <a:ext cx="8229600" cy="365760"/>
          </a:xfrm>
          <a:prstGeom prst="rect">
            <a:avLst/>
          </a:prstGeom>
          <a:noFill/>
          <a:ln/>
        </p:spPr>
        <p:txBody>
          <a:bodyPr wrap="square" lIns="0" tIns="0" rIns="0" bIns="0" rtlCol="0" anchor="ctr"/>
          <a:lstStyle/>
          <a:p>
            <a:pPr rtl="1" algn="l" indent="0" marL="0">
              <a:buNone/>
            </a:pPr>
            <a:r>
              <a:rPr lang="en-US" sz="1300" dirty="0">
                <a:solidFill>
                  <a:srgbClr val="A9BCCF"/>
                </a:solidFill>
                <a:latin typeface="Arial" pitchFamily="34" charset="0"/>
                <a:ea typeface="Arial" pitchFamily="34" charset="-122"/>
                <a:cs typeface="Arial" pitchFamily="34" charset="-120"/>
              </a:rPr>
              <a:t>מחלקת תשתיות ענן, DevOps ובסיסי נתונים  ·  אגף טכנולוגיות והגנת הסייבר</a:t>
            </a:r>
            <a:endParaRPr lang="en-US" sz="1300" dirty="0"/>
          </a:p>
        </p:txBody>
      </p:sp>
      <p:sp>
        <p:nvSpPr>
          <p:cNvPr id="5" name="Text 3"/>
          <p:cNvSpPr txBox="1"/>
          <p:nvPr/>
        </p:nvSpPr>
        <p:spPr>
          <a:xfrm>
            <a:off x="566928" y="4462272"/>
            <a:ext cx="8229600" cy="365760"/>
          </a:xfrm>
          <a:prstGeom prst="rect">
            <a:avLst/>
          </a:prstGeom>
          <a:noFill/>
          <a:ln/>
        </p:spPr>
        <p:txBody>
          <a:bodyPr wrap="square" lIns="0" tIns="0" rIns="0" bIns="0" rtlCol="0" anchor="ctr"/>
          <a:lstStyle/>
          <a:p>
            <a:pPr rtl="1" algn="l" indent="0" marL="0">
              <a:buNone/>
            </a:pPr>
            <a:r>
              <a:rPr lang="en-US" sz="1300" dirty="0">
                <a:solidFill>
                  <a:srgbClr val="7FA8C9"/>
                </a:solidFill>
                <a:latin typeface="Arial" pitchFamily="34" charset="0"/>
                <a:ea typeface="Arial" pitchFamily="34" charset="-122"/>
                <a:cs typeface="Arial" pitchFamily="34" charset="-120"/>
              </a:rPr>
              <a:t>בשביל השקט הנפשי שלך</a:t>
            </a:r>
            <a:endParaRPr lang="en-US" sz="1300" dirty="0"/>
          </a:p>
        </p:txBody>
      </p:sp>
      <p:pic>
        <p:nvPicPr>
          <p:cNvPr id="6" name="Image 0" descr="/tmp/claude-0/-home-user-Finops/a0c4678f-b3c9-5fb7-b436-dff734416b7d/scratchpad/assets/harel_light.png">    </p:cNvPr>
          <p:cNvPicPr>
            <a:picLocks noChangeAspect="1"/>
          </p:cNvPicPr>
          <p:nvPr/>
        </p:nvPicPr>
        <p:blipFill>
          <a:blip r:embed="rId1"/>
          <a:stretch>
            <a:fillRect/>
          </a:stretch>
        </p:blipFill>
        <p:spPr>
          <a:xfrm>
            <a:off x="9692640" y="3017520"/>
            <a:ext cx="1463040" cy="63093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div-num"/>
          <p:cNvSpPr txBox="1"/>
          <p:nvPr/>
        </p:nvSpPr>
        <p:spPr>
          <a:xfrm>
            <a:off x="566928" y="1828800"/>
            <a:ext cx="2011680" cy="1371600"/>
          </a:xfrm>
          <a:prstGeom prst="rect">
            <a:avLst/>
          </a:prstGeom>
          <a:noFill/>
          <a:ln/>
        </p:spPr>
        <p:txBody>
          <a:bodyPr wrap="square" lIns="0" tIns="0" rIns="0" bIns="0" rtlCol="0" anchor="ctr"/>
          <a:lstStyle/>
          <a:p>
            <a:pPr algn="l" indent="0" marL="0">
              <a:buNone/>
            </a:pPr>
            <a:r>
              <a:rPr lang="en-US" sz="9600" b="1" dirty="0">
                <a:solidFill>
                  <a:srgbClr val="27496B"/>
                </a:solidFill>
                <a:latin typeface="Cambria" pitchFamily="34" charset="0"/>
                <a:ea typeface="Cambria" pitchFamily="34" charset="-122"/>
                <a:cs typeface="Cambria" pitchFamily="34" charset="-120"/>
              </a:rPr>
              <a:t>A</a:t>
            </a:r>
            <a:endParaRPr lang="en-US" sz="9600" dirty="0"/>
          </a:p>
        </p:txBody>
      </p:sp>
      <p:sp>
        <p:nvSpPr>
          <p:cNvPr id="3" name="div-title"/>
          <p:cNvSpPr txBox="1"/>
          <p:nvPr/>
        </p:nvSpPr>
        <p:spPr>
          <a:xfrm>
            <a:off x="566928" y="3200400"/>
            <a:ext cx="8961120" cy="877824"/>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Appendix</a:t>
            </a:r>
            <a:endParaRPr lang="en-US" sz="4000" dirty="0"/>
          </a:p>
        </p:txBody>
      </p:sp>
      <p:sp>
        <p:nvSpPr>
          <p:cNvPr id="4" name="div-body"/>
          <p:cNvSpPr txBox="1"/>
          <p:nvPr/>
        </p:nvSpPr>
        <p:spPr>
          <a:xfrm>
            <a:off x="566928" y="4169664"/>
            <a:ext cx="7498080" cy="868680"/>
          </a:xfrm>
          <a:prstGeom prst="rect">
            <a:avLst/>
          </a:prstGeom>
          <a:noFill/>
          <a:ln/>
        </p:spPr>
        <p:txBody>
          <a:bodyPr wrap="square" lIns="0" tIns="0" rIns="0" bIns="0" rtlCol="0" anchor="t"/>
          <a:lstStyle/>
          <a:p>
            <a:pPr algn="l" indent="0" marL="0">
              <a:buNone/>
            </a:pPr>
            <a:r>
              <a:rPr lang="en-US" sz="1500" dirty="0">
                <a:solidFill>
                  <a:srgbClr val="9FB3C8"/>
                </a:solidFill>
                <a:latin typeface="Arial" pitchFamily="34" charset="0"/>
                <a:ea typeface="Arial" pitchFamily="34" charset="-122"/>
                <a:cs typeface="Arial" pitchFamily="34" charset="-120"/>
              </a:rPr>
              <a:t>Cost-centre and project detail, the North Europe decommission, and notes on how these figures were produced.</a:t>
            </a:r>
            <a:endParaRPr lang="en-US" sz="15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E8299"/>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F7DC2"/>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AZURE COST CENTRES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Every Azure cost centre, January to September</a:t>
            </a:r>
            <a:endParaRPr lang="en-US" sz="2800" dirty="0"/>
          </a:p>
        </p:txBody>
      </p:sp>
      <p:sp>
        <p:nvSpPr>
          <p:cNvPr id="5" name="cc-datacloud"/>
          <p:cNvSpPr/>
          <p:nvPr/>
        </p:nvSpPr>
        <p:spPr>
          <a:xfrm>
            <a:off x="566928" y="1517904"/>
            <a:ext cx="2613584" cy="1280160"/>
          </a:xfrm>
          <a:prstGeom prst="roundRect">
            <a:avLst>
              <a:gd name="adj" fmla="val 4286"/>
            </a:avLst>
          </a:prstGeom>
          <a:solidFill>
            <a:srgbClr val="EEF2F7"/>
          </a:solidFill>
          <a:ln/>
        </p:spPr>
      </p:sp>
      <p:sp>
        <p:nvSpPr>
          <p:cNvPr id="6" name="Text 4"/>
          <p:cNvSpPr txBox="1"/>
          <p:nvPr/>
        </p:nvSpPr>
        <p:spPr>
          <a:xfrm>
            <a:off x="786384"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DataCloud</a:t>
            </a:r>
            <a:endParaRPr lang="en-US" sz="1200" dirty="0"/>
          </a:p>
        </p:txBody>
      </p:sp>
      <p:sp>
        <p:nvSpPr>
          <p:cNvPr id="7" name="Text 5"/>
          <p:cNvSpPr txBox="1"/>
          <p:nvPr/>
        </p:nvSpPr>
        <p:spPr>
          <a:xfrm>
            <a:off x="2083232"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$437K</a:t>
            </a:r>
            <a:endParaRPr lang="en-US" sz="1300" dirty="0"/>
          </a:p>
        </p:txBody>
      </p:sp>
      <p:sp>
        <p:nvSpPr>
          <p:cNvPr id="8" name="spark-0-0"/>
          <p:cNvSpPr/>
          <p:nvPr/>
        </p:nvSpPr>
        <p:spPr>
          <a:xfrm>
            <a:off x="786384" y="2103506"/>
            <a:ext cx="154643" cy="493390"/>
          </a:xfrm>
          <a:prstGeom prst="rect">
            <a:avLst/>
          </a:prstGeom>
          <a:solidFill>
            <a:srgbClr val="A8C0D6"/>
          </a:solidFill>
          <a:ln/>
        </p:spPr>
      </p:sp>
      <p:sp>
        <p:nvSpPr>
          <p:cNvPr id="9" name="spark-0-1"/>
          <p:cNvSpPr/>
          <p:nvPr/>
        </p:nvSpPr>
        <p:spPr>
          <a:xfrm>
            <a:off x="1028014" y="2085457"/>
            <a:ext cx="154643" cy="511439"/>
          </a:xfrm>
          <a:prstGeom prst="rect">
            <a:avLst/>
          </a:prstGeom>
          <a:solidFill>
            <a:srgbClr val="A8C0D6"/>
          </a:solidFill>
          <a:ln/>
        </p:spPr>
      </p:sp>
      <p:sp>
        <p:nvSpPr>
          <p:cNvPr id="10" name="spark-0-2"/>
          <p:cNvSpPr/>
          <p:nvPr/>
        </p:nvSpPr>
        <p:spPr>
          <a:xfrm>
            <a:off x="1269644" y="2029968"/>
            <a:ext cx="154643" cy="566928"/>
          </a:xfrm>
          <a:prstGeom prst="rect">
            <a:avLst/>
          </a:prstGeom>
          <a:solidFill>
            <a:srgbClr val="A8C0D6"/>
          </a:solidFill>
          <a:ln/>
        </p:spPr>
      </p:sp>
      <p:sp>
        <p:nvSpPr>
          <p:cNvPr id="11" name="spark-0-3"/>
          <p:cNvSpPr/>
          <p:nvPr/>
        </p:nvSpPr>
        <p:spPr>
          <a:xfrm>
            <a:off x="1511275" y="2074679"/>
            <a:ext cx="154643" cy="522217"/>
          </a:xfrm>
          <a:prstGeom prst="rect">
            <a:avLst/>
          </a:prstGeom>
          <a:solidFill>
            <a:srgbClr val="A8C0D6"/>
          </a:solidFill>
          <a:ln/>
        </p:spPr>
      </p:sp>
      <p:sp>
        <p:nvSpPr>
          <p:cNvPr id="12" name="spark-0-4"/>
          <p:cNvSpPr/>
          <p:nvPr/>
        </p:nvSpPr>
        <p:spPr>
          <a:xfrm>
            <a:off x="1752905" y="2140280"/>
            <a:ext cx="154643" cy="456616"/>
          </a:xfrm>
          <a:prstGeom prst="rect">
            <a:avLst/>
          </a:prstGeom>
          <a:solidFill>
            <a:srgbClr val="A8C0D6"/>
          </a:solidFill>
          <a:ln/>
        </p:spPr>
      </p:sp>
      <p:sp>
        <p:nvSpPr>
          <p:cNvPr id="13" name="spark-0-5"/>
          <p:cNvSpPr/>
          <p:nvPr/>
        </p:nvSpPr>
        <p:spPr>
          <a:xfrm>
            <a:off x="1994535" y="2135441"/>
            <a:ext cx="154643" cy="461455"/>
          </a:xfrm>
          <a:prstGeom prst="rect">
            <a:avLst/>
          </a:prstGeom>
          <a:solidFill>
            <a:srgbClr val="A8C0D6"/>
          </a:solidFill>
          <a:ln/>
        </p:spPr>
      </p:sp>
      <p:sp>
        <p:nvSpPr>
          <p:cNvPr id="14" name="spark-0-6"/>
          <p:cNvSpPr/>
          <p:nvPr/>
        </p:nvSpPr>
        <p:spPr>
          <a:xfrm>
            <a:off x="2236165" y="2086291"/>
            <a:ext cx="154643" cy="510605"/>
          </a:xfrm>
          <a:prstGeom prst="rect">
            <a:avLst/>
          </a:prstGeom>
          <a:solidFill>
            <a:srgbClr val="A8C0D6"/>
          </a:solidFill>
          <a:ln/>
        </p:spPr>
      </p:sp>
      <p:sp>
        <p:nvSpPr>
          <p:cNvPr id="15" name="spark-0-7"/>
          <p:cNvSpPr/>
          <p:nvPr/>
        </p:nvSpPr>
        <p:spPr>
          <a:xfrm>
            <a:off x="2477795" y="2067891"/>
            <a:ext cx="154643" cy="529005"/>
          </a:xfrm>
          <a:prstGeom prst="rect">
            <a:avLst/>
          </a:prstGeom>
          <a:solidFill>
            <a:srgbClr val="A8C0D6"/>
          </a:solidFill>
          <a:ln/>
        </p:spPr>
      </p:sp>
      <p:sp>
        <p:nvSpPr>
          <p:cNvPr id="16" name="spark-0-8"/>
          <p:cNvSpPr/>
          <p:nvPr/>
        </p:nvSpPr>
        <p:spPr>
          <a:xfrm>
            <a:off x="2719426" y="2104337"/>
            <a:ext cx="154643" cy="492559"/>
          </a:xfrm>
          <a:prstGeom prst="rect">
            <a:avLst/>
          </a:prstGeom>
          <a:solidFill>
            <a:srgbClr val="F2A900"/>
          </a:solidFill>
          <a:ln/>
        </p:spPr>
      </p:sp>
      <p:sp>
        <p:nvSpPr>
          <p:cNvPr id="17" name="Text 15"/>
          <p:cNvSpPr txBox="1"/>
          <p:nvPr/>
        </p:nvSpPr>
        <p:spPr>
          <a:xfrm>
            <a:off x="786384"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8" name="Text 16"/>
          <p:cNvSpPr txBox="1"/>
          <p:nvPr/>
        </p:nvSpPr>
        <p:spPr>
          <a:xfrm>
            <a:off x="2412416"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9" name="cc-sap"/>
          <p:cNvSpPr/>
          <p:nvPr/>
        </p:nvSpPr>
        <p:spPr>
          <a:xfrm>
            <a:off x="3381680" y="1517904"/>
            <a:ext cx="2613584" cy="1280160"/>
          </a:xfrm>
          <a:prstGeom prst="roundRect">
            <a:avLst>
              <a:gd name="adj" fmla="val 4286"/>
            </a:avLst>
          </a:prstGeom>
          <a:solidFill>
            <a:srgbClr val="EEF2F7"/>
          </a:solidFill>
          <a:ln/>
        </p:spPr>
      </p:sp>
      <p:sp>
        <p:nvSpPr>
          <p:cNvPr id="20" name="Text 18"/>
          <p:cNvSpPr txBox="1"/>
          <p:nvPr/>
        </p:nvSpPr>
        <p:spPr>
          <a:xfrm>
            <a:off x="3601136"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SAP</a:t>
            </a:r>
            <a:endParaRPr lang="en-US" sz="1200" dirty="0"/>
          </a:p>
        </p:txBody>
      </p:sp>
      <p:sp>
        <p:nvSpPr>
          <p:cNvPr id="21" name="Text 19"/>
          <p:cNvSpPr txBox="1"/>
          <p:nvPr/>
        </p:nvSpPr>
        <p:spPr>
          <a:xfrm>
            <a:off x="4897984"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$377K</a:t>
            </a:r>
            <a:endParaRPr lang="en-US" sz="1300" dirty="0"/>
          </a:p>
        </p:txBody>
      </p:sp>
      <p:sp>
        <p:nvSpPr>
          <p:cNvPr id="22" name="spark-1-0"/>
          <p:cNvSpPr/>
          <p:nvPr/>
        </p:nvSpPr>
        <p:spPr>
          <a:xfrm>
            <a:off x="3601136" y="2082706"/>
            <a:ext cx="154643" cy="514190"/>
          </a:xfrm>
          <a:prstGeom prst="rect">
            <a:avLst/>
          </a:prstGeom>
          <a:solidFill>
            <a:srgbClr val="A8C0D6"/>
          </a:solidFill>
          <a:ln/>
        </p:spPr>
      </p:sp>
      <p:sp>
        <p:nvSpPr>
          <p:cNvPr id="23" name="spark-1-1"/>
          <p:cNvSpPr/>
          <p:nvPr/>
        </p:nvSpPr>
        <p:spPr>
          <a:xfrm>
            <a:off x="3842766" y="2121246"/>
            <a:ext cx="154643" cy="475650"/>
          </a:xfrm>
          <a:prstGeom prst="rect">
            <a:avLst/>
          </a:prstGeom>
          <a:solidFill>
            <a:srgbClr val="A8C0D6"/>
          </a:solidFill>
          <a:ln/>
        </p:spPr>
      </p:sp>
      <p:sp>
        <p:nvSpPr>
          <p:cNvPr id="24" name="spark-1-2"/>
          <p:cNvSpPr/>
          <p:nvPr/>
        </p:nvSpPr>
        <p:spPr>
          <a:xfrm>
            <a:off x="4084396" y="2091465"/>
            <a:ext cx="154643" cy="505431"/>
          </a:xfrm>
          <a:prstGeom prst="rect">
            <a:avLst/>
          </a:prstGeom>
          <a:solidFill>
            <a:srgbClr val="A8C0D6"/>
          </a:solidFill>
          <a:ln/>
        </p:spPr>
      </p:sp>
      <p:sp>
        <p:nvSpPr>
          <p:cNvPr id="25" name="spark-1-3"/>
          <p:cNvSpPr/>
          <p:nvPr/>
        </p:nvSpPr>
        <p:spPr>
          <a:xfrm>
            <a:off x="4326026" y="2100232"/>
            <a:ext cx="154643" cy="496664"/>
          </a:xfrm>
          <a:prstGeom prst="rect">
            <a:avLst/>
          </a:prstGeom>
          <a:solidFill>
            <a:srgbClr val="A8C0D6"/>
          </a:solidFill>
          <a:ln/>
        </p:spPr>
      </p:sp>
      <p:sp>
        <p:nvSpPr>
          <p:cNvPr id="26" name="spark-1-4"/>
          <p:cNvSpPr/>
          <p:nvPr/>
        </p:nvSpPr>
        <p:spPr>
          <a:xfrm>
            <a:off x="4567657" y="2029968"/>
            <a:ext cx="154643" cy="566928"/>
          </a:xfrm>
          <a:prstGeom prst="rect">
            <a:avLst/>
          </a:prstGeom>
          <a:solidFill>
            <a:srgbClr val="A8C0D6"/>
          </a:solidFill>
          <a:ln/>
        </p:spPr>
      </p:sp>
      <p:sp>
        <p:nvSpPr>
          <p:cNvPr id="27" name="spark-1-5"/>
          <p:cNvSpPr/>
          <p:nvPr/>
        </p:nvSpPr>
        <p:spPr>
          <a:xfrm>
            <a:off x="4809287" y="2077852"/>
            <a:ext cx="154643" cy="519044"/>
          </a:xfrm>
          <a:prstGeom prst="rect">
            <a:avLst/>
          </a:prstGeom>
          <a:solidFill>
            <a:srgbClr val="A8C0D6"/>
          </a:solidFill>
          <a:ln/>
        </p:spPr>
      </p:sp>
      <p:sp>
        <p:nvSpPr>
          <p:cNvPr id="28" name="spark-1-6"/>
          <p:cNvSpPr/>
          <p:nvPr/>
        </p:nvSpPr>
        <p:spPr>
          <a:xfrm>
            <a:off x="5050917" y="2099020"/>
            <a:ext cx="154643" cy="497876"/>
          </a:xfrm>
          <a:prstGeom prst="rect">
            <a:avLst/>
          </a:prstGeom>
          <a:solidFill>
            <a:srgbClr val="A8C0D6"/>
          </a:solidFill>
          <a:ln/>
        </p:spPr>
      </p:sp>
      <p:sp>
        <p:nvSpPr>
          <p:cNvPr id="29" name="spark-1-7"/>
          <p:cNvSpPr/>
          <p:nvPr/>
        </p:nvSpPr>
        <p:spPr>
          <a:xfrm>
            <a:off x="5292547" y="2094166"/>
            <a:ext cx="154643" cy="502730"/>
          </a:xfrm>
          <a:prstGeom prst="rect">
            <a:avLst/>
          </a:prstGeom>
          <a:solidFill>
            <a:srgbClr val="A8C0D6"/>
          </a:solidFill>
          <a:ln/>
        </p:spPr>
      </p:sp>
      <p:sp>
        <p:nvSpPr>
          <p:cNvPr id="30" name="spark-1-8"/>
          <p:cNvSpPr/>
          <p:nvPr/>
        </p:nvSpPr>
        <p:spPr>
          <a:xfrm>
            <a:off x="5534177" y="2094981"/>
            <a:ext cx="154643" cy="501915"/>
          </a:xfrm>
          <a:prstGeom prst="rect">
            <a:avLst/>
          </a:prstGeom>
          <a:solidFill>
            <a:srgbClr val="F2A900"/>
          </a:solidFill>
          <a:ln/>
        </p:spPr>
      </p:sp>
      <p:sp>
        <p:nvSpPr>
          <p:cNvPr id="31" name="Text 29"/>
          <p:cNvSpPr txBox="1"/>
          <p:nvPr/>
        </p:nvSpPr>
        <p:spPr>
          <a:xfrm>
            <a:off x="3601136"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32" name="Text 30"/>
          <p:cNvSpPr txBox="1"/>
          <p:nvPr/>
        </p:nvSpPr>
        <p:spPr>
          <a:xfrm>
            <a:off x="5227168"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33" name="cc-cloudit"/>
          <p:cNvSpPr/>
          <p:nvPr/>
        </p:nvSpPr>
        <p:spPr>
          <a:xfrm>
            <a:off x="6196432" y="1517904"/>
            <a:ext cx="2613584" cy="1280160"/>
          </a:xfrm>
          <a:prstGeom prst="roundRect">
            <a:avLst>
              <a:gd name="adj" fmla="val 4286"/>
            </a:avLst>
          </a:prstGeom>
          <a:solidFill>
            <a:srgbClr val="EEF2F7"/>
          </a:solidFill>
          <a:ln/>
        </p:spPr>
      </p:sp>
      <p:sp>
        <p:nvSpPr>
          <p:cNvPr id="34" name="Text 32"/>
          <p:cNvSpPr txBox="1"/>
          <p:nvPr/>
        </p:nvSpPr>
        <p:spPr>
          <a:xfrm>
            <a:off x="6415888"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CloudIT</a:t>
            </a:r>
            <a:endParaRPr lang="en-US" sz="1200" dirty="0"/>
          </a:p>
        </p:txBody>
      </p:sp>
      <p:sp>
        <p:nvSpPr>
          <p:cNvPr id="35" name="Text 33"/>
          <p:cNvSpPr txBox="1"/>
          <p:nvPr/>
        </p:nvSpPr>
        <p:spPr>
          <a:xfrm>
            <a:off x="7712735"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$280K</a:t>
            </a:r>
            <a:endParaRPr lang="en-US" sz="1300" dirty="0"/>
          </a:p>
        </p:txBody>
      </p:sp>
      <p:sp>
        <p:nvSpPr>
          <p:cNvPr id="36" name="spark-2-0"/>
          <p:cNvSpPr/>
          <p:nvPr/>
        </p:nvSpPr>
        <p:spPr>
          <a:xfrm>
            <a:off x="6415888" y="2166585"/>
            <a:ext cx="154643" cy="430311"/>
          </a:xfrm>
          <a:prstGeom prst="rect">
            <a:avLst/>
          </a:prstGeom>
          <a:solidFill>
            <a:srgbClr val="A8C0D6"/>
          </a:solidFill>
          <a:ln/>
        </p:spPr>
      </p:sp>
      <p:sp>
        <p:nvSpPr>
          <p:cNvPr id="37" name="spark-2-1"/>
          <p:cNvSpPr/>
          <p:nvPr/>
        </p:nvSpPr>
        <p:spPr>
          <a:xfrm>
            <a:off x="6657518" y="2253357"/>
            <a:ext cx="154643" cy="343539"/>
          </a:xfrm>
          <a:prstGeom prst="rect">
            <a:avLst/>
          </a:prstGeom>
          <a:solidFill>
            <a:srgbClr val="A8C0D6"/>
          </a:solidFill>
          <a:ln/>
        </p:spPr>
      </p:sp>
      <p:sp>
        <p:nvSpPr>
          <p:cNvPr id="38" name="spark-2-2"/>
          <p:cNvSpPr/>
          <p:nvPr/>
        </p:nvSpPr>
        <p:spPr>
          <a:xfrm>
            <a:off x="6899148" y="2029968"/>
            <a:ext cx="154643" cy="566928"/>
          </a:xfrm>
          <a:prstGeom prst="rect">
            <a:avLst/>
          </a:prstGeom>
          <a:solidFill>
            <a:srgbClr val="A8C0D6"/>
          </a:solidFill>
          <a:ln/>
        </p:spPr>
      </p:sp>
      <p:sp>
        <p:nvSpPr>
          <p:cNvPr id="39" name="spark-2-3"/>
          <p:cNvSpPr/>
          <p:nvPr/>
        </p:nvSpPr>
        <p:spPr>
          <a:xfrm>
            <a:off x="7140778" y="2190519"/>
            <a:ext cx="154643" cy="406377"/>
          </a:xfrm>
          <a:prstGeom prst="rect">
            <a:avLst/>
          </a:prstGeom>
          <a:solidFill>
            <a:srgbClr val="A8C0D6"/>
          </a:solidFill>
          <a:ln/>
        </p:spPr>
      </p:sp>
      <p:sp>
        <p:nvSpPr>
          <p:cNvPr id="40" name="spark-2-4"/>
          <p:cNvSpPr/>
          <p:nvPr/>
        </p:nvSpPr>
        <p:spPr>
          <a:xfrm>
            <a:off x="7382408" y="2198599"/>
            <a:ext cx="154643" cy="398297"/>
          </a:xfrm>
          <a:prstGeom prst="rect">
            <a:avLst/>
          </a:prstGeom>
          <a:solidFill>
            <a:srgbClr val="A8C0D6"/>
          </a:solidFill>
          <a:ln/>
        </p:spPr>
      </p:sp>
      <p:sp>
        <p:nvSpPr>
          <p:cNvPr id="41" name="spark-2-5"/>
          <p:cNvSpPr/>
          <p:nvPr/>
        </p:nvSpPr>
        <p:spPr>
          <a:xfrm>
            <a:off x="7624039" y="2199016"/>
            <a:ext cx="154643" cy="397880"/>
          </a:xfrm>
          <a:prstGeom prst="rect">
            <a:avLst/>
          </a:prstGeom>
          <a:solidFill>
            <a:srgbClr val="A8C0D6"/>
          </a:solidFill>
          <a:ln/>
        </p:spPr>
      </p:sp>
      <p:sp>
        <p:nvSpPr>
          <p:cNvPr id="42" name="spark-2-6"/>
          <p:cNvSpPr/>
          <p:nvPr/>
        </p:nvSpPr>
        <p:spPr>
          <a:xfrm>
            <a:off x="7865669" y="2131703"/>
            <a:ext cx="154643" cy="465193"/>
          </a:xfrm>
          <a:prstGeom prst="rect">
            <a:avLst/>
          </a:prstGeom>
          <a:solidFill>
            <a:srgbClr val="A8C0D6"/>
          </a:solidFill>
          <a:ln/>
        </p:spPr>
      </p:sp>
      <p:sp>
        <p:nvSpPr>
          <p:cNvPr id="43" name="spark-2-7"/>
          <p:cNvSpPr/>
          <p:nvPr/>
        </p:nvSpPr>
        <p:spPr>
          <a:xfrm>
            <a:off x="8107299" y="2150271"/>
            <a:ext cx="154643" cy="446625"/>
          </a:xfrm>
          <a:prstGeom prst="rect">
            <a:avLst/>
          </a:prstGeom>
          <a:solidFill>
            <a:srgbClr val="A8C0D6"/>
          </a:solidFill>
          <a:ln/>
        </p:spPr>
      </p:sp>
      <p:sp>
        <p:nvSpPr>
          <p:cNvPr id="44" name="spark-2-8"/>
          <p:cNvSpPr/>
          <p:nvPr/>
        </p:nvSpPr>
        <p:spPr>
          <a:xfrm>
            <a:off x="8348929" y="2153459"/>
            <a:ext cx="154643" cy="443437"/>
          </a:xfrm>
          <a:prstGeom prst="rect">
            <a:avLst/>
          </a:prstGeom>
          <a:solidFill>
            <a:srgbClr val="F2A900"/>
          </a:solidFill>
          <a:ln/>
        </p:spPr>
      </p:sp>
      <p:sp>
        <p:nvSpPr>
          <p:cNvPr id="45" name="Text 43"/>
          <p:cNvSpPr txBox="1"/>
          <p:nvPr/>
        </p:nvSpPr>
        <p:spPr>
          <a:xfrm>
            <a:off x="6415888"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46" name="Text 44"/>
          <p:cNvSpPr txBox="1"/>
          <p:nvPr/>
        </p:nvSpPr>
        <p:spPr>
          <a:xfrm>
            <a:off x="8041919"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47" name="cc-aifactory"/>
          <p:cNvSpPr/>
          <p:nvPr/>
        </p:nvSpPr>
        <p:spPr>
          <a:xfrm>
            <a:off x="9011183" y="1517904"/>
            <a:ext cx="2613584" cy="1280160"/>
          </a:xfrm>
          <a:prstGeom prst="roundRect">
            <a:avLst>
              <a:gd name="adj" fmla="val 4286"/>
            </a:avLst>
          </a:prstGeom>
          <a:solidFill>
            <a:srgbClr val="EEF2F7"/>
          </a:solidFill>
          <a:ln/>
        </p:spPr>
      </p:sp>
      <p:sp>
        <p:nvSpPr>
          <p:cNvPr id="48" name="Text 46"/>
          <p:cNvSpPr txBox="1"/>
          <p:nvPr/>
        </p:nvSpPr>
        <p:spPr>
          <a:xfrm>
            <a:off x="9230639" y="164592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AI Factory</a:t>
            </a:r>
            <a:endParaRPr lang="en-US" sz="1200" dirty="0"/>
          </a:p>
        </p:txBody>
      </p:sp>
      <p:sp>
        <p:nvSpPr>
          <p:cNvPr id="49" name="Text 47"/>
          <p:cNvSpPr txBox="1"/>
          <p:nvPr/>
        </p:nvSpPr>
        <p:spPr>
          <a:xfrm>
            <a:off x="10527487" y="164592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$144K</a:t>
            </a:r>
            <a:endParaRPr lang="en-US" sz="1300" dirty="0"/>
          </a:p>
        </p:txBody>
      </p:sp>
      <p:sp>
        <p:nvSpPr>
          <p:cNvPr id="50" name="spark-3-0"/>
          <p:cNvSpPr/>
          <p:nvPr/>
        </p:nvSpPr>
        <p:spPr>
          <a:xfrm>
            <a:off x="9230639" y="2578608"/>
            <a:ext cx="154643" cy="18288"/>
          </a:xfrm>
          <a:prstGeom prst="rect">
            <a:avLst/>
          </a:prstGeom>
          <a:solidFill>
            <a:srgbClr val="A8C0D6"/>
          </a:solidFill>
          <a:ln/>
        </p:spPr>
      </p:sp>
      <p:sp>
        <p:nvSpPr>
          <p:cNvPr id="51" name="spark-3-1"/>
          <p:cNvSpPr/>
          <p:nvPr/>
        </p:nvSpPr>
        <p:spPr>
          <a:xfrm>
            <a:off x="9472270" y="2524897"/>
            <a:ext cx="154643" cy="71999"/>
          </a:xfrm>
          <a:prstGeom prst="rect">
            <a:avLst/>
          </a:prstGeom>
          <a:solidFill>
            <a:srgbClr val="A8C0D6"/>
          </a:solidFill>
          <a:ln/>
        </p:spPr>
      </p:sp>
      <p:sp>
        <p:nvSpPr>
          <p:cNvPr id="52" name="spark-3-2"/>
          <p:cNvSpPr/>
          <p:nvPr/>
        </p:nvSpPr>
        <p:spPr>
          <a:xfrm>
            <a:off x="9713900" y="2335368"/>
            <a:ext cx="154643" cy="261528"/>
          </a:xfrm>
          <a:prstGeom prst="rect">
            <a:avLst/>
          </a:prstGeom>
          <a:solidFill>
            <a:srgbClr val="A8C0D6"/>
          </a:solidFill>
          <a:ln/>
        </p:spPr>
      </p:sp>
      <p:sp>
        <p:nvSpPr>
          <p:cNvPr id="53" name="spark-3-3"/>
          <p:cNvSpPr/>
          <p:nvPr/>
        </p:nvSpPr>
        <p:spPr>
          <a:xfrm>
            <a:off x="9955530" y="2355168"/>
            <a:ext cx="154643" cy="241728"/>
          </a:xfrm>
          <a:prstGeom prst="rect">
            <a:avLst/>
          </a:prstGeom>
          <a:solidFill>
            <a:srgbClr val="A8C0D6"/>
          </a:solidFill>
          <a:ln/>
        </p:spPr>
      </p:sp>
      <p:sp>
        <p:nvSpPr>
          <p:cNvPr id="54" name="spark-3-4"/>
          <p:cNvSpPr/>
          <p:nvPr/>
        </p:nvSpPr>
        <p:spPr>
          <a:xfrm>
            <a:off x="10197160" y="2314167"/>
            <a:ext cx="154643" cy="282729"/>
          </a:xfrm>
          <a:prstGeom prst="rect">
            <a:avLst/>
          </a:prstGeom>
          <a:solidFill>
            <a:srgbClr val="A8C0D6"/>
          </a:solidFill>
          <a:ln/>
        </p:spPr>
      </p:sp>
      <p:sp>
        <p:nvSpPr>
          <p:cNvPr id="55" name="spark-3-5"/>
          <p:cNvSpPr/>
          <p:nvPr/>
        </p:nvSpPr>
        <p:spPr>
          <a:xfrm>
            <a:off x="10438790" y="2048746"/>
            <a:ext cx="154643" cy="548150"/>
          </a:xfrm>
          <a:prstGeom prst="rect">
            <a:avLst/>
          </a:prstGeom>
          <a:solidFill>
            <a:srgbClr val="A8C0D6"/>
          </a:solidFill>
          <a:ln/>
        </p:spPr>
      </p:sp>
      <p:sp>
        <p:nvSpPr>
          <p:cNvPr id="56" name="spark-3-6"/>
          <p:cNvSpPr/>
          <p:nvPr/>
        </p:nvSpPr>
        <p:spPr>
          <a:xfrm>
            <a:off x="10680421" y="2089015"/>
            <a:ext cx="154643" cy="507881"/>
          </a:xfrm>
          <a:prstGeom prst="rect">
            <a:avLst/>
          </a:prstGeom>
          <a:solidFill>
            <a:srgbClr val="A8C0D6"/>
          </a:solidFill>
          <a:ln/>
        </p:spPr>
      </p:sp>
      <p:sp>
        <p:nvSpPr>
          <p:cNvPr id="57" name="spark-3-7"/>
          <p:cNvSpPr/>
          <p:nvPr/>
        </p:nvSpPr>
        <p:spPr>
          <a:xfrm>
            <a:off x="10922051" y="2118331"/>
            <a:ext cx="154643" cy="478565"/>
          </a:xfrm>
          <a:prstGeom prst="rect">
            <a:avLst/>
          </a:prstGeom>
          <a:solidFill>
            <a:srgbClr val="A8C0D6"/>
          </a:solidFill>
          <a:ln/>
        </p:spPr>
      </p:sp>
      <p:sp>
        <p:nvSpPr>
          <p:cNvPr id="58" name="spark-3-8"/>
          <p:cNvSpPr/>
          <p:nvPr/>
        </p:nvSpPr>
        <p:spPr>
          <a:xfrm>
            <a:off x="11163681" y="2029968"/>
            <a:ext cx="154643" cy="566928"/>
          </a:xfrm>
          <a:prstGeom prst="rect">
            <a:avLst/>
          </a:prstGeom>
          <a:solidFill>
            <a:srgbClr val="F2A900"/>
          </a:solidFill>
          <a:ln/>
        </p:spPr>
      </p:sp>
      <p:sp>
        <p:nvSpPr>
          <p:cNvPr id="59" name="Text 57"/>
          <p:cNvSpPr txBox="1"/>
          <p:nvPr/>
        </p:nvSpPr>
        <p:spPr>
          <a:xfrm>
            <a:off x="9230639" y="256032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60" name="Text 58"/>
          <p:cNvSpPr txBox="1"/>
          <p:nvPr/>
        </p:nvSpPr>
        <p:spPr>
          <a:xfrm>
            <a:off x="10856671" y="256032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61" name="cc-other"/>
          <p:cNvSpPr/>
          <p:nvPr/>
        </p:nvSpPr>
        <p:spPr>
          <a:xfrm>
            <a:off x="566928" y="2980944"/>
            <a:ext cx="2613584" cy="1280160"/>
          </a:xfrm>
          <a:prstGeom prst="roundRect">
            <a:avLst>
              <a:gd name="adj" fmla="val 4286"/>
            </a:avLst>
          </a:prstGeom>
          <a:solidFill>
            <a:srgbClr val="EEF2F7"/>
          </a:solidFill>
          <a:ln/>
        </p:spPr>
      </p:sp>
      <p:sp>
        <p:nvSpPr>
          <p:cNvPr id="62" name="Text 60"/>
          <p:cNvSpPr txBox="1"/>
          <p:nvPr/>
        </p:nvSpPr>
        <p:spPr>
          <a:xfrm>
            <a:off x="786384"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Other</a:t>
            </a:r>
            <a:endParaRPr lang="en-US" sz="1200" dirty="0"/>
          </a:p>
        </p:txBody>
      </p:sp>
      <p:sp>
        <p:nvSpPr>
          <p:cNvPr id="63" name="Text 61"/>
          <p:cNvSpPr txBox="1"/>
          <p:nvPr/>
        </p:nvSpPr>
        <p:spPr>
          <a:xfrm>
            <a:off x="2083232"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$125K</a:t>
            </a:r>
            <a:endParaRPr lang="en-US" sz="1300" dirty="0"/>
          </a:p>
        </p:txBody>
      </p:sp>
      <p:sp>
        <p:nvSpPr>
          <p:cNvPr id="64" name="spark-4-0"/>
          <p:cNvSpPr/>
          <p:nvPr/>
        </p:nvSpPr>
        <p:spPr>
          <a:xfrm>
            <a:off x="786384" y="3975196"/>
            <a:ext cx="154643" cy="84740"/>
          </a:xfrm>
          <a:prstGeom prst="rect">
            <a:avLst/>
          </a:prstGeom>
          <a:solidFill>
            <a:srgbClr val="A8C0D6"/>
          </a:solidFill>
          <a:ln/>
        </p:spPr>
      </p:sp>
      <p:sp>
        <p:nvSpPr>
          <p:cNvPr id="65" name="spark-4-1"/>
          <p:cNvSpPr/>
          <p:nvPr/>
        </p:nvSpPr>
        <p:spPr>
          <a:xfrm>
            <a:off x="1028014" y="3958349"/>
            <a:ext cx="154643" cy="101587"/>
          </a:xfrm>
          <a:prstGeom prst="rect">
            <a:avLst/>
          </a:prstGeom>
          <a:solidFill>
            <a:srgbClr val="A8C0D6"/>
          </a:solidFill>
          <a:ln/>
        </p:spPr>
      </p:sp>
      <p:sp>
        <p:nvSpPr>
          <p:cNvPr id="66" name="spark-4-2"/>
          <p:cNvSpPr/>
          <p:nvPr/>
        </p:nvSpPr>
        <p:spPr>
          <a:xfrm>
            <a:off x="1269644" y="3951099"/>
            <a:ext cx="154643" cy="108837"/>
          </a:xfrm>
          <a:prstGeom prst="rect">
            <a:avLst/>
          </a:prstGeom>
          <a:solidFill>
            <a:srgbClr val="A8C0D6"/>
          </a:solidFill>
          <a:ln/>
        </p:spPr>
      </p:sp>
      <p:sp>
        <p:nvSpPr>
          <p:cNvPr id="67" name="spark-4-3"/>
          <p:cNvSpPr/>
          <p:nvPr/>
        </p:nvSpPr>
        <p:spPr>
          <a:xfrm>
            <a:off x="1511275" y="3948268"/>
            <a:ext cx="154643" cy="111668"/>
          </a:xfrm>
          <a:prstGeom prst="rect">
            <a:avLst/>
          </a:prstGeom>
          <a:solidFill>
            <a:srgbClr val="A8C0D6"/>
          </a:solidFill>
          <a:ln/>
        </p:spPr>
      </p:sp>
      <p:sp>
        <p:nvSpPr>
          <p:cNvPr id="68" name="spark-4-4"/>
          <p:cNvSpPr/>
          <p:nvPr/>
        </p:nvSpPr>
        <p:spPr>
          <a:xfrm>
            <a:off x="1752905" y="3891633"/>
            <a:ext cx="154643" cy="168303"/>
          </a:xfrm>
          <a:prstGeom prst="rect">
            <a:avLst/>
          </a:prstGeom>
          <a:solidFill>
            <a:srgbClr val="A8C0D6"/>
          </a:solidFill>
          <a:ln/>
        </p:spPr>
      </p:sp>
      <p:sp>
        <p:nvSpPr>
          <p:cNvPr id="69" name="spark-4-5"/>
          <p:cNvSpPr/>
          <p:nvPr/>
        </p:nvSpPr>
        <p:spPr>
          <a:xfrm>
            <a:off x="1994535" y="3709151"/>
            <a:ext cx="154643" cy="350785"/>
          </a:xfrm>
          <a:prstGeom prst="rect">
            <a:avLst/>
          </a:prstGeom>
          <a:solidFill>
            <a:srgbClr val="A8C0D6"/>
          </a:solidFill>
          <a:ln/>
        </p:spPr>
      </p:sp>
      <p:sp>
        <p:nvSpPr>
          <p:cNvPr id="70" name="spark-4-6"/>
          <p:cNvSpPr/>
          <p:nvPr/>
        </p:nvSpPr>
        <p:spPr>
          <a:xfrm>
            <a:off x="2236165" y="3625478"/>
            <a:ext cx="154643" cy="434458"/>
          </a:xfrm>
          <a:prstGeom prst="rect">
            <a:avLst/>
          </a:prstGeom>
          <a:solidFill>
            <a:srgbClr val="A8C0D6"/>
          </a:solidFill>
          <a:ln/>
        </p:spPr>
      </p:sp>
      <p:sp>
        <p:nvSpPr>
          <p:cNvPr id="71" name="spark-4-7"/>
          <p:cNvSpPr/>
          <p:nvPr/>
        </p:nvSpPr>
        <p:spPr>
          <a:xfrm>
            <a:off x="2477795" y="3572106"/>
            <a:ext cx="154643" cy="487830"/>
          </a:xfrm>
          <a:prstGeom prst="rect">
            <a:avLst/>
          </a:prstGeom>
          <a:solidFill>
            <a:srgbClr val="A8C0D6"/>
          </a:solidFill>
          <a:ln/>
        </p:spPr>
      </p:sp>
      <p:sp>
        <p:nvSpPr>
          <p:cNvPr id="72" name="spark-4-8"/>
          <p:cNvSpPr/>
          <p:nvPr/>
        </p:nvSpPr>
        <p:spPr>
          <a:xfrm>
            <a:off x="2719426" y="3493008"/>
            <a:ext cx="154643" cy="566928"/>
          </a:xfrm>
          <a:prstGeom prst="rect">
            <a:avLst/>
          </a:prstGeom>
          <a:solidFill>
            <a:srgbClr val="F2A900"/>
          </a:solidFill>
          <a:ln/>
        </p:spPr>
      </p:sp>
      <p:sp>
        <p:nvSpPr>
          <p:cNvPr id="73" name="Text 71"/>
          <p:cNvSpPr txBox="1"/>
          <p:nvPr/>
        </p:nvSpPr>
        <p:spPr>
          <a:xfrm>
            <a:off x="786384"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74" name="Text 72"/>
          <p:cNvSpPr txBox="1"/>
          <p:nvPr/>
        </p:nvSpPr>
        <p:spPr>
          <a:xfrm>
            <a:off x="2412416"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75" name="cc-actuary"/>
          <p:cNvSpPr/>
          <p:nvPr/>
        </p:nvSpPr>
        <p:spPr>
          <a:xfrm>
            <a:off x="3381680" y="2980944"/>
            <a:ext cx="2613584" cy="1280160"/>
          </a:xfrm>
          <a:prstGeom prst="roundRect">
            <a:avLst>
              <a:gd name="adj" fmla="val 4286"/>
            </a:avLst>
          </a:prstGeom>
          <a:solidFill>
            <a:srgbClr val="EEF2F7"/>
          </a:solidFill>
          <a:ln/>
        </p:spPr>
      </p:sp>
      <p:sp>
        <p:nvSpPr>
          <p:cNvPr id="76" name="Text 74"/>
          <p:cNvSpPr txBox="1"/>
          <p:nvPr/>
        </p:nvSpPr>
        <p:spPr>
          <a:xfrm>
            <a:off x="3601136"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Actuary</a:t>
            </a:r>
            <a:endParaRPr lang="en-US" sz="1200" dirty="0"/>
          </a:p>
        </p:txBody>
      </p:sp>
      <p:sp>
        <p:nvSpPr>
          <p:cNvPr id="77" name="Text 75"/>
          <p:cNvSpPr txBox="1"/>
          <p:nvPr/>
        </p:nvSpPr>
        <p:spPr>
          <a:xfrm>
            <a:off x="4897984"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$49K</a:t>
            </a:r>
            <a:endParaRPr lang="en-US" sz="1300" dirty="0"/>
          </a:p>
        </p:txBody>
      </p:sp>
      <p:sp>
        <p:nvSpPr>
          <p:cNvPr id="78" name="spark-5-0"/>
          <p:cNvSpPr/>
          <p:nvPr/>
        </p:nvSpPr>
        <p:spPr>
          <a:xfrm>
            <a:off x="3601136" y="3493008"/>
            <a:ext cx="154643" cy="566928"/>
          </a:xfrm>
          <a:prstGeom prst="rect">
            <a:avLst/>
          </a:prstGeom>
          <a:solidFill>
            <a:srgbClr val="A8C0D6"/>
          </a:solidFill>
          <a:ln/>
        </p:spPr>
      </p:sp>
      <p:sp>
        <p:nvSpPr>
          <p:cNvPr id="79" name="spark-5-1"/>
          <p:cNvSpPr/>
          <p:nvPr/>
        </p:nvSpPr>
        <p:spPr>
          <a:xfrm>
            <a:off x="3842766" y="3873767"/>
            <a:ext cx="154643" cy="186169"/>
          </a:xfrm>
          <a:prstGeom prst="rect">
            <a:avLst/>
          </a:prstGeom>
          <a:solidFill>
            <a:srgbClr val="A8C0D6"/>
          </a:solidFill>
          <a:ln/>
        </p:spPr>
      </p:sp>
      <p:sp>
        <p:nvSpPr>
          <p:cNvPr id="80" name="spark-5-2"/>
          <p:cNvSpPr/>
          <p:nvPr/>
        </p:nvSpPr>
        <p:spPr>
          <a:xfrm>
            <a:off x="4084396" y="3926707"/>
            <a:ext cx="154643" cy="133229"/>
          </a:xfrm>
          <a:prstGeom prst="rect">
            <a:avLst/>
          </a:prstGeom>
          <a:solidFill>
            <a:srgbClr val="A8C0D6"/>
          </a:solidFill>
          <a:ln/>
        </p:spPr>
      </p:sp>
      <p:sp>
        <p:nvSpPr>
          <p:cNvPr id="81" name="spark-5-3"/>
          <p:cNvSpPr/>
          <p:nvPr/>
        </p:nvSpPr>
        <p:spPr>
          <a:xfrm>
            <a:off x="4326026" y="3859435"/>
            <a:ext cx="154643" cy="200501"/>
          </a:xfrm>
          <a:prstGeom prst="rect">
            <a:avLst/>
          </a:prstGeom>
          <a:solidFill>
            <a:srgbClr val="A8C0D6"/>
          </a:solidFill>
          <a:ln/>
        </p:spPr>
      </p:sp>
      <p:sp>
        <p:nvSpPr>
          <p:cNvPr id="82" name="spark-5-4"/>
          <p:cNvSpPr/>
          <p:nvPr/>
        </p:nvSpPr>
        <p:spPr>
          <a:xfrm>
            <a:off x="4567657" y="3884549"/>
            <a:ext cx="154643" cy="175387"/>
          </a:xfrm>
          <a:prstGeom prst="rect">
            <a:avLst/>
          </a:prstGeom>
          <a:solidFill>
            <a:srgbClr val="A8C0D6"/>
          </a:solidFill>
          <a:ln/>
        </p:spPr>
      </p:sp>
      <p:sp>
        <p:nvSpPr>
          <p:cNvPr id="83" name="spark-5-5"/>
          <p:cNvSpPr/>
          <p:nvPr/>
        </p:nvSpPr>
        <p:spPr>
          <a:xfrm>
            <a:off x="4809287" y="3957339"/>
            <a:ext cx="154643" cy="102597"/>
          </a:xfrm>
          <a:prstGeom prst="rect">
            <a:avLst/>
          </a:prstGeom>
          <a:solidFill>
            <a:srgbClr val="A8C0D6"/>
          </a:solidFill>
          <a:ln/>
        </p:spPr>
      </p:sp>
      <p:sp>
        <p:nvSpPr>
          <p:cNvPr id="84" name="spark-5-6"/>
          <p:cNvSpPr/>
          <p:nvPr/>
        </p:nvSpPr>
        <p:spPr>
          <a:xfrm>
            <a:off x="5050917" y="3907599"/>
            <a:ext cx="154643" cy="152337"/>
          </a:xfrm>
          <a:prstGeom prst="rect">
            <a:avLst/>
          </a:prstGeom>
          <a:solidFill>
            <a:srgbClr val="A8C0D6"/>
          </a:solidFill>
          <a:ln/>
        </p:spPr>
      </p:sp>
      <p:sp>
        <p:nvSpPr>
          <p:cNvPr id="85" name="spark-5-7"/>
          <p:cNvSpPr/>
          <p:nvPr/>
        </p:nvSpPr>
        <p:spPr>
          <a:xfrm>
            <a:off x="5292547" y="3892057"/>
            <a:ext cx="154643" cy="167879"/>
          </a:xfrm>
          <a:prstGeom prst="rect">
            <a:avLst/>
          </a:prstGeom>
          <a:solidFill>
            <a:srgbClr val="A8C0D6"/>
          </a:solidFill>
          <a:ln/>
        </p:spPr>
      </p:sp>
      <p:sp>
        <p:nvSpPr>
          <p:cNvPr id="86" name="spark-5-8"/>
          <p:cNvSpPr/>
          <p:nvPr/>
        </p:nvSpPr>
        <p:spPr>
          <a:xfrm>
            <a:off x="5534177" y="3894085"/>
            <a:ext cx="154643" cy="165851"/>
          </a:xfrm>
          <a:prstGeom prst="rect">
            <a:avLst/>
          </a:prstGeom>
          <a:solidFill>
            <a:srgbClr val="F2A900"/>
          </a:solidFill>
          <a:ln/>
        </p:spPr>
      </p:sp>
      <p:sp>
        <p:nvSpPr>
          <p:cNvPr id="87" name="Text 85"/>
          <p:cNvSpPr txBox="1"/>
          <p:nvPr/>
        </p:nvSpPr>
        <p:spPr>
          <a:xfrm>
            <a:off x="3601136"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88" name="Text 86"/>
          <p:cNvSpPr txBox="1"/>
          <p:nvPr/>
        </p:nvSpPr>
        <p:spPr>
          <a:xfrm>
            <a:off x="5227168"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89" name="cc-Risk Agility"/>
          <p:cNvSpPr/>
          <p:nvPr/>
        </p:nvSpPr>
        <p:spPr>
          <a:xfrm>
            <a:off x="6196432" y="2980944"/>
            <a:ext cx="2613584" cy="1280160"/>
          </a:xfrm>
          <a:prstGeom prst="roundRect">
            <a:avLst>
              <a:gd name="adj" fmla="val 4286"/>
            </a:avLst>
          </a:prstGeom>
          <a:solidFill>
            <a:srgbClr val="EEF2F7"/>
          </a:solidFill>
          <a:ln/>
        </p:spPr>
      </p:sp>
      <p:sp>
        <p:nvSpPr>
          <p:cNvPr id="90" name="Text 88"/>
          <p:cNvSpPr txBox="1"/>
          <p:nvPr/>
        </p:nvSpPr>
        <p:spPr>
          <a:xfrm>
            <a:off x="6415888"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Risk Agility</a:t>
            </a:r>
            <a:endParaRPr lang="en-US" sz="1200" dirty="0"/>
          </a:p>
        </p:txBody>
      </p:sp>
      <p:sp>
        <p:nvSpPr>
          <p:cNvPr id="91" name="Text 89"/>
          <p:cNvSpPr txBox="1"/>
          <p:nvPr/>
        </p:nvSpPr>
        <p:spPr>
          <a:xfrm>
            <a:off x="7712735"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$34K</a:t>
            </a:r>
            <a:endParaRPr lang="en-US" sz="1300" dirty="0"/>
          </a:p>
        </p:txBody>
      </p:sp>
      <p:sp>
        <p:nvSpPr>
          <p:cNvPr id="92" name="spark-6-0"/>
          <p:cNvSpPr/>
          <p:nvPr/>
        </p:nvSpPr>
        <p:spPr>
          <a:xfrm>
            <a:off x="6415888" y="3493008"/>
            <a:ext cx="154643" cy="566928"/>
          </a:xfrm>
          <a:prstGeom prst="rect">
            <a:avLst/>
          </a:prstGeom>
          <a:solidFill>
            <a:srgbClr val="A8C0D6"/>
          </a:solidFill>
          <a:ln/>
        </p:spPr>
      </p:sp>
      <p:sp>
        <p:nvSpPr>
          <p:cNvPr id="93" name="spark-6-1"/>
          <p:cNvSpPr/>
          <p:nvPr/>
        </p:nvSpPr>
        <p:spPr>
          <a:xfrm>
            <a:off x="6657518" y="3831047"/>
            <a:ext cx="154643" cy="228889"/>
          </a:xfrm>
          <a:prstGeom prst="rect">
            <a:avLst/>
          </a:prstGeom>
          <a:solidFill>
            <a:srgbClr val="A8C0D6"/>
          </a:solidFill>
          <a:ln/>
        </p:spPr>
      </p:sp>
      <p:sp>
        <p:nvSpPr>
          <p:cNvPr id="94" name="spark-6-2"/>
          <p:cNvSpPr/>
          <p:nvPr/>
        </p:nvSpPr>
        <p:spPr>
          <a:xfrm>
            <a:off x="6899148" y="3946359"/>
            <a:ext cx="154643" cy="113577"/>
          </a:xfrm>
          <a:prstGeom prst="rect">
            <a:avLst/>
          </a:prstGeom>
          <a:solidFill>
            <a:srgbClr val="A8C0D6"/>
          </a:solidFill>
          <a:ln/>
        </p:spPr>
      </p:sp>
      <p:sp>
        <p:nvSpPr>
          <p:cNvPr id="95" name="spark-6-3"/>
          <p:cNvSpPr/>
          <p:nvPr/>
        </p:nvSpPr>
        <p:spPr>
          <a:xfrm>
            <a:off x="7140778" y="3809608"/>
            <a:ext cx="154643" cy="250328"/>
          </a:xfrm>
          <a:prstGeom prst="rect">
            <a:avLst/>
          </a:prstGeom>
          <a:solidFill>
            <a:srgbClr val="A8C0D6"/>
          </a:solidFill>
          <a:ln/>
        </p:spPr>
      </p:sp>
      <p:sp>
        <p:nvSpPr>
          <p:cNvPr id="96" name="spark-6-4"/>
          <p:cNvSpPr/>
          <p:nvPr/>
        </p:nvSpPr>
        <p:spPr>
          <a:xfrm>
            <a:off x="7382408" y="3936595"/>
            <a:ext cx="154643" cy="123341"/>
          </a:xfrm>
          <a:prstGeom prst="rect">
            <a:avLst/>
          </a:prstGeom>
          <a:solidFill>
            <a:srgbClr val="A8C0D6"/>
          </a:solidFill>
          <a:ln/>
        </p:spPr>
      </p:sp>
      <p:sp>
        <p:nvSpPr>
          <p:cNvPr id="97" name="spark-6-5"/>
          <p:cNvSpPr/>
          <p:nvPr/>
        </p:nvSpPr>
        <p:spPr>
          <a:xfrm>
            <a:off x="7624039" y="4015191"/>
            <a:ext cx="154643" cy="44745"/>
          </a:xfrm>
          <a:prstGeom prst="rect">
            <a:avLst/>
          </a:prstGeom>
          <a:solidFill>
            <a:srgbClr val="A8C0D6"/>
          </a:solidFill>
          <a:ln/>
        </p:spPr>
      </p:sp>
      <p:sp>
        <p:nvSpPr>
          <p:cNvPr id="98" name="spark-6-6"/>
          <p:cNvSpPr/>
          <p:nvPr/>
        </p:nvSpPr>
        <p:spPr>
          <a:xfrm>
            <a:off x="7865669" y="4015148"/>
            <a:ext cx="154643" cy="44788"/>
          </a:xfrm>
          <a:prstGeom prst="rect">
            <a:avLst/>
          </a:prstGeom>
          <a:solidFill>
            <a:srgbClr val="A8C0D6"/>
          </a:solidFill>
          <a:ln/>
        </p:spPr>
      </p:sp>
      <p:sp>
        <p:nvSpPr>
          <p:cNvPr id="99" name="spark-6-7"/>
          <p:cNvSpPr/>
          <p:nvPr/>
        </p:nvSpPr>
        <p:spPr>
          <a:xfrm>
            <a:off x="8107299" y="4015148"/>
            <a:ext cx="154643" cy="44788"/>
          </a:xfrm>
          <a:prstGeom prst="rect">
            <a:avLst/>
          </a:prstGeom>
          <a:solidFill>
            <a:srgbClr val="A8C0D6"/>
          </a:solidFill>
          <a:ln/>
        </p:spPr>
      </p:sp>
      <p:sp>
        <p:nvSpPr>
          <p:cNvPr id="100" name="spark-6-8"/>
          <p:cNvSpPr/>
          <p:nvPr/>
        </p:nvSpPr>
        <p:spPr>
          <a:xfrm>
            <a:off x="8348929" y="4015234"/>
            <a:ext cx="154643" cy="44702"/>
          </a:xfrm>
          <a:prstGeom prst="rect">
            <a:avLst/>
          </a:prstGeom>
          <a:solidFill>
            <a:srgbClr val="F2A900"/>
          </a:solidFill>
          <a:ln/>
        </p:spPr>
      </p:sp>
      <p:sp>
        <p:nvSpPr>
          <p:cNvPr id="101" name="Text 99"/>
          <p:cNvSpPr txBox="1"/>
          <p:nvPr/>
        </p:nvSpPr>
        <p:spPr>
          <a:xfrm>
            <a:off x="6415888"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02" name="Text 100"/>
          <p:cNvSpPr txBox="1"/>
          <p:nvPr/>
        </p:nvSpPr>
        <p:spPr>
          <a:xfrm>
            <a:off x="8041919"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03" name="cc-cloudops"/>
          <p:cNvSpPr/>
          <p:nvPr/>
        </p:nvSpPr>
        <p:spPr>
          <a:xfrm>
            <a:off x="9011183" y="2980944"/>
            <a:ext cx="2613584" cy="1280160"/>
          </a:xfrm>
          <a:prstGeom prst="roundRect">
            <a:avLst>
              <a:gd name="adj" fmla="val 4286"/>
            </a:avLst>
          </a:prstGeom>
          <a:solidFill>
            <a:srgbClr val="EEF2F7"/>
          </a:solidFill>
          <a:ln/>
        </p:spPr>
      </p:sp>
      <p:sp>
        <p:nvSpPr>
          <p:cNvPr id="104" name="Text 102"/>
          <p:cNvSpPr txBox="1"/>
          <p:nvPr/>
        </p:nvSpPr>
        <p:spPr>
          <a:xfrm>
            <a:off x="9230639" y="310896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CloudOps</a:t>
            </a:r>
            <a:endParaRPr lang="en-US" sz="1200" dirty="0"/>
          </a:p>
        </p:txBody>
      </p:sp>
      <p:sp>
        <p:nvSpPr>
          <p:cNvPr id="105" name="Text 103"/>
          <p:cNvSpPr txBox="1"/>
          <p:nvPr/>
        </p:nvSpPr>
        <p:spPr>
          <a:xfrm>
            <a:off x="10527487" y="310896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$29K</a:t>
            </a:r>
            <a:endParaRPr lang="en-US" sz="1300" dirty="0"/>
          </a:p>
        </p:txBody>
      </p:sp>
      <p:sp>
        <p:nvSpPr>
          <p:cNvPr id="106" name="spark-7-0"/>
          <p:cNvSpPr/>
          <p:nvPr/>
        </p:nvSpPr>
        <p:spPr>
          <a:xfrm>
            <a:off x="9230639" y="4041648"/>
            <a:ext cx="154643" cy="18288"/>
          </a:xfrm>
          <a:prstGeom prst="rect">
            <a:avLst/>
          </a:prstGeom>
          <a:solidFill>
            <a:srgbClr val="A8C0D6"/>
          </a:solidFill>
          <a:ln/>
        </p:spPr>
      </p:sp>
      <p:sp>
        <p:nvSpPr>
          <p:cNvPr id="107" name="spark-7-1"/>
          <p:cNvSpPr/>
          <p:nvPr/>
        </p:nvSpPr>
        <p:spPr>
          <a:xfrm>
            <a:off x="9472270" y="4041648"/>
            <a:ext cx="154643" cy="18288"/>
          </a:xfrm>
          <a:prstGeom prst="rect">
            <a:avLst/>
          </a:prstGeom>
          <a:solidFill>
            <a:srgbClr val="A8C0D6"/>
          </a:solidFill>
          <a:ln/>
        </p:spPr>
      </p:sp>
      <p:sp>
        <p:nvSpPr>
          <p:cNvPr id="108" name="spark-7-2"/>
          <p:cNvSpPr/>
          <p:nvPr/>
        </p:nvSpPr>
        <p:spPr>
          <a:xfrm>
            <a:off x="9713900" y="4041648"/>
            <a:ext cx="154643" cy="18288"/>
          </a:xfrm>
          <a:prstGeom prst="rect">
            <a:avLst/>
          </a:prstGeom>
          <a:solidFill>
            <a:srgbClr val="A8C0D6"/>
          </a:solidFill>
          <a:ln/>
        </p:spPr>
      </p:sp>
      <p:sp>
        <p:nvSpPr>
          <p:cNvPr id="109" name="spark-7-3"/>
          <p:cNvSpPr/>
          <p:nvPr/>
        </p:nvSpPr>
        <p:spPr>
          <a:xfrm>
            <a:off x="9955530" y="4041648"/>
            <a:ext cx="154643" cy="18288"/>
          </a:xfrm>
          <a:prstGeom prst="rect">
            <a:avLst/>
          </a:prstGeom>
          <a:solidFill>
            <a:srgbClr val="A8C0D6"/>
          </a:solidFill>
          <a:ln/>
        </p:spPr>
      </p:sp>
      <p:sp>
        <p:nvSpPr>
          <p:cNvPr id="110" name="spark-7-4"/>
          <p:cNvSpPr/>
          <p:nvPr/>
        </p:nvSpPr>
        <p:spPr>
          <a:xfrm>
            <a:off x="10197160" y="4041648"/>
            <a:ext cx="154643" cy="18288"/>
          </a:xfrm>
          <a:prstGeom prst="rect">
            <a:avLst/>
          </a:prstGeom>
          <a:solidFill>
            <a:srgbClr val="A8C0D6"/>
          </a:solidFill>
          <a:ln/>
        </p:spPr>
      </p:sp>
      <p:sp>
        <p:nvSpPr>
          <p:cNvPr id="111" name="spark-7-5"/>
          <p:cNvSpPr/>
          <p:nvPr/>
        </p:nvSpPr>
        <p:spPr>
          <a:xfrm>
            <a:off x="10438790" y="4041648"/>
            <a:ext cx="154643" cy="18288"/>
          </a:xfrm>
          <a:prstGeom prst="rect">
            <a:avLst/>
          </a:prstGeom>
          <a:solidFill>
            <a:srgbClr val="A8C0D6"/>
          </a:solidFill>
          <a:ln/>
        </p:spPr>
      </p:sp>
      <p:sp>
        <p:nvSpPr>
          <p:cNvPr id="112" name="spark-7-6"/>
          <p:cNvSpPr/>
          <p:nvPr/>
        </p:nvSpPr>
        <p:spPr>
          <a:xfrm>
            <a:off x="10680421" y="3666256"/>
            <a:ext cx="154643" cy="393680"/>
          </a:xfrm>
          <a:prstGeom prst="rect">
            <a:avLst/>
          </a:prstGeom>
          <a:solidFill>
            <a:srgbClr val="A8C0D6"/>
          </a:solidFill>
          <a:ln/>
        </p:spPr>
      </p:sp>
      <p:sp>
        <p:nvSpPr>
          <p:cNvPr id="113" name="spark-7-7"/>
          <p:cNvSpPr/>
          <p:nvPr/>
        </p:nvSpPr>
        <p:spPr>
          <a:xfrm>
            <a:off x="10922051" y="3580085"/>
            <a:ext cx="154643" cy="479851"/>
          </a:xfrm>
          <a:prstGeom prst="rect">
            <a:avLst/>
          </a:prstGeom>
          <a:solidFill>
            <a:srgbClr val="A8C0D6"/>
          </a:solidFill>
          <a:ln/>
        </p:spPr>
      </p:sp>
      <p:sp>
        <p:nvSpPr>
          <p:cNvPr id="114" name="spark-7-8"/>
          <p:cNvSpPr/>
          <p:nvPr/>
        </p:nvSpPr>
        <p:spPr>
          <a:xfrm>
            <a:off x="11163681" y="3493008"/>
            <a:ext cx="154643" cy="566928"/>
          </a:xfrm>
          <a:prstGeom prst="rect">
            <a:avLst/>
          </a:prstGeom>
          <a:solidFill>
            <a:srgbClr val="F2A900"/>
          </a:solidFill>
          <a:ln/>
        </p:spPr>
      </p:sp>
      <p:sp>
        <p:nvSpPr>
          <p:cNvPr id="115" name="Text 113"/>
          <p:cNvSpPr txBox="1"/>
          <p:nvPr/>
        </p:nvSpPr>
        <p:spPr>
          <a:xfrm>
            <a:off x="9230639" y="402336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16" name="Text 114"/>
          <p:cNvSpPr txBox="1"/>
          <p:nvPr/>
        </p:nvSpPr>
        <p:spPr>
          <a:xfrm>
            <a:off x="10856671" y="402336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17" name="cc-itsec"/>
          <p:cNvSpPr/>
          <p:nvPr/>
        </p:nvSpPr>
        <p:spPr>
          <a:xfrm>
            <a:off x="566928" y="4443984"/>
            <a:ext cx="2613584" cy="1280160"/>
          </a:xfrm>
          <a:prstGeom prst="roundRect">
            <a:avLst>
              <a:gd name="adj" fmla="val 4286"/>
            </a:avLst>
          </a:prstGeom>
          <a:solidFill>
            <a:srgbClr val="EEF2F7"/>
          </a:solidFill>
          <a:ln/>
        </p:spPr>
      </p:sp>
      <p:sp>
        <p:nvSpPr>
          <p:cNvPr id="118" name="Text 116"/>
          <p:cNvSpPr txBox="1"/>
          <p:nvPr/>
        </p:nvSpPr>
        <p:spPr>
          <a:xfrm>
            <a:off x="786384"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ITSec</a:t>
            </a:r>
            <a:endParaRPr lang="en-US" sz="1200" dirty="0"/>
          </a:p>
        </p:txBody>
      </p:sp>
      <p:sp>
        <p:nvSpPr>
          <p:cNvPr id="119" name="Text 117"/>
          <p:cNvSpPr txBox="1"/>
          <p:nvPr/>
        </p:nvSpPr>
        <p:spPr>
          <a:xfrm>
            <a:off x="2083232"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$19K</a:t>
            </a:r>
            <a:endParaRPr lang="en-US" sz="1300" dirty="0"/>
          </a:p>
        </p:txBody>
      </p:sp>
      <p:sp>
        <p:nvSpPr>
          <p:cNvPr id="120" name="spark-8-0"/>
          <p:cNvSpPr/>
          <p:nvPr/>
        </p:nvSpPr>
        <p:spPr>
          <a:xfrm>
            <a:off x="786384" y="5015955"/>
            <a:ext cx="154643" cy="507021"/>
          </a:xfrm>
          <a:prstGeom prst="rect">
            <a:avLst/>
          </a:prstGeom>
          <a:solidFill>
            <a:srgbClr val="A8C0D6"/>
          </a:solidFill>
          <a:ln/>
        </p:spPr>
      </p:sp>
      <p:sp>
        <p:nvSpPr>
          <p:cNvPr id="121" name="spark-8-1"/>
          <p:cNvSpPr/>
          <p:nvPr/>
        </p:nvSpPr>
        <p:spPr>
          <a:xfrm>
            <a:off x="1028014" y="5100784"/>
            <a:ext cx="154643" cy="422192"/>
          </a:xfrm>
          <a:prstGeom prst="rect">
            <a:avLst/>
          </a:prstGeom>
          <a:solidFill>
            <a:srgbClr val="A8C0D6"/>
          </a:solidFill>
          <a:ln/>
        </p:spPr>
      </p:sp>
      <p:sp>
        <p:nvSpPr>
          <p:cNvPr id="122" name="spark-8-2"/>
          <p:cNvSpPr/>
          <p:nvPr/>
        </p:nvSpPr>
        <p:spPr>
          <a:xfrm>
            <a:off x="1269644" y="5058329"/>
            <a:ext cx="154643" cy="464647"/>
          </a:xfrm>
          <a:prstGeom prst="rect">
            <a:avLst/>
          </a:prstGeom>
          <a:solidFill>
            <a:srgbClr val="A8C0D6"/>
          </a:solidFill>
          <a:ln/>
        </p:spPr>
      </p:sp>
      <p:sp>
        <p:nvSpPr>
          <p:cNvPr id="123" name="spark-8-3"/>
          <p:cNvSpPr/>
          <p:nvPr/>
        </p:nvSpPr>
        <p:spPr>
          <a:xfrm>
            <a:off x="1511275" y="5060815"/>
            <a:ext cx="154643" cy="462161"/>
          </a:xfrm>
          <a:prstGeom prst="rect">
            <a:avLst/>
          </a:prstGeom>
          <a:solidFill>
            <a:srgbClr val="A8C0D6"/>
          </a:solidFill>
          <a:ln/>
        </p:spPr>
      </p:sp>
      <p:sp>
        <p:nvSpPr>
          <p:cNvPr id="124" name="spark-8-4"/>
          <p:cNvSpPr/>
          <p:nvPr/>
        </p:nvSpPr>
        <p:spPr>
          <a:xfrm>
            <a:off x="1752905" y="5024479"/>
            <a:ext cx="154643" cy="498497"/>
          </a:xfrm>
          <a:prstGeom prst="rect">
            <a:avLst/>
          </a:prstGeom>
          <a:solidFill>
            <a:srgbClr val="A8C0D6"/>
          </a:solidFill>
          <a:ln/>
        </p:spPr>
      </p:sp>
      <p:sp>
        <p:nvSpPr>
          <p:cNvPr id="125" name="spark-8-5"/>
          <p:cNvSpPr/>
          <p:nvPr/>
        </p:nvSpPr>
        <p:spPr>
          <a:xfrm>
            <a:off x="1994535" y="5021556"/>
            <a:ext cx="154643" cy="501420"/>
          </a:xfrm>
          <a:prstGeom prst="rect">
            <a:avLst/>
          </a:prstGeom>
          <a:solidFill>
            <a:srgbClr val="A8C0D6"/>
          </a:solidFill>
          <a:ln/>
        </p:spPr>
      </p:sp>
      <p:sp>
        <p:nvSpPr>
          <p:cNvPr id="126" name="spark-8-6"/>
          <p:cNvSpPr/>
          <p:nvPr/>
        </p:nvSpPr>
        <p:spPr>
          <a:xfrm>
            <a:off x="2236165" y="4982105"/>
            <a:ext cx="154643" cy="540871"/>
          </a:xfrm>
          <a:prstGeom prst="rect">
            <a:avLst/>
          </a:prstGeom>
          <a:solidFill>
            <a:srgbClr val="A8C0D6"/>
          </a:solidFill>
          <a:ln/>
        </p:spPr>
      </p:sp>
      <p:sp>
        <p:nvSpPr>
          <p:cNvPr id="127" name="spark-8-7"/>
          <p:cNvSpPr/>
          <p:nvPr/>
        </p:nvSpPr>
        <p:spPr>
          <a:xfrm>
            <a:off x="2477795" y="4961893"/>
            <a:ext cx="154643" cy="561083"/>
          </a:xfrm>
          <a:prstGeom prst="rect">
            <a:avLst/>
          </a:prstGeom>
          <a:solidFill>
            <a:srgbClr val="A8C0D6"/>
          </a:solidFill>
          <a:ln/>
        </p:spPr>
      </p:sp>
      <p:sp>
        <p:nvSpPr>
          <p:cNvPr id="128" name="spark-8-8"/>
          <p:cNvSpPr/>
          <p:nvPr/>
        </p:nvSpPr>
        <p:spPr>
          <a:xfrm>
            <a:off x="2719426" y="4956048"/>
            <a:ext cx="154643" cy="566928"/>
          </a:xfrm>
          <a:prstGeom prst="rect">
            <a:avLst/>
          </a:prstGeom>
          <a:solidFill>
            <a:srgbClr val="F2A900"/>
          </a:solidFill>
          <a:ln/>
        </p:spPr>
      </p:sp>
      <p:sp>
        <p:nvSpPr>
          <p:cNvPr id="129" name="Text 127"/>
          <p:cNvSpPr txBox="1"/>
          <p:nvPr/>
        </p:nvSpPr>
        <p:spPr>
          <a:xfrm>
            <a:off x="786384"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30" name="Text 128"/>
          <p:cNvSpPr txBox="1"/>
          <p:nvPr/>
        </p:nvSpPr>
        <p:spPr>
          <a:xfrm>
            <a:off x="2412416"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31" name="cc-basasach"/>
          <p:cNvSpPr/>
          <p:nvPr/>
        </p:nvSpPr>
        <p:spPr>
          <a:xfrm>
            <a:off x="3381680" y="4443984"/>
            <a:ext cx="2613584" cy="1280160"/>
          </a:xfrm>
          <a:prstGeom prst="roundRect">
            <a:avLst>
              <a:gd name="adj" fmla="val 4286"/>
            </a:avLst>
          </a:prstGeom>
          <a:solidFill>
            <a:srgbClr val="EEF2F7"/>
          </a:solidFill>
          <a:ln/>
        </p:spPr>
      </p:sp>
      <p:sp>
        <p:nvSpPr>
          <p:cNvPr id="132" name="Text 130"/>
          <p:cNvSpPr txBox="1"/>
          <p:nvPr/>
        </p:nvSpPr>
        <p:spPr>
          <a:xfrm>
            <a:off x="3601136"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Basasach</a:t>
            </a:r>
            <a:endParaRPr lang="en-US" sz="1200" dirty="0"/>
          </a:p>
        </p:txBody>
      </p:sp>
      <p:sp>
        <p:nvSpPr>
          <p:cNvPr id="133" name="Text 131"/>
          <p:cNvSpPr txBox="1"/>
          <p:nvPr/>
        </p:nvSpPr>
        <p:spPr>
          <a:xfrm>
            <a:off x="4897984"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$7K</a:t>
            </a:r>
            <a:endParaRPr lang="en-US" sz="1300" dirty="0"/>
          </a:p>
        </p:txBody>
      </p:sp>
      <p:sp>
        <p:nvSpPr>
          <p:cNvPr id="134" name="spark-9-0"/>
          <p:cNvSpPr/>
          <p:nvPr/>
        </p:nvSpPr>
        <p:spPr>
          <a:xfrm>
            <a:off x="3601136" y="4957480"/>
            <a:ext cx="154643" cy="565496"/>
          </a:xfrm>
          <a:prstGeom prst="rect">
            <a:avLst/>
          </a:prstGeom>
          <a:solidFill>
            <a:srgbClr val="A8C0D6"/>
          </a:solidFill>
          <a:ln/>
        </p:spPr>
      </p:sp>
      <p:sp>
        <p:nvSpPr>
          <p:cNvPr id="135" name="spark-9-1"/>
          <p:cNvSpPr/>
          <p:nvPr/>
        </p:nvSpPr>
        <p:spPr>
          <a:xfrm>
            <a:off x="3842766" y="5010210"/>
            <a:ext cx="154643" cy="512766"/>
          </a:xfrm>
          <a:prstGeom prst="rect">
            <a:avLst/>
          </a:prstGeom>
          <a:solidFill>
            <a:srgbClr val="A8C0D6"/>
          </a:solidFill>
          <a:ln/>
        </p:spPr>
      </p:sp>
      <p:sp>
        <p:nvSpPr>
          <p:cNvPr id="136" name="spark-9-2"/>
          <p:cNvSpPr/>
          <p:nvPr/>
        </p:nvSpPr>
        <p:spPr>
          <a:xfrm>
            <a:off x="4084396" y="4957480"/>
            <a:ext cx="154643" cy="565496"/>
          </a:xfrm>
          <a:prstGeom prst="rect">
            <a:avLst/>
          </a:prstGeom>
          <a:solidFill>
            <a:srgbClr val="A8C0D6"/>
          </a:solidFill>
          <a:ln/>
        </p:spPr>
      </p:sp>
      <p:sp>
        <p:nvSpPr>
          <p:cNvPr id="137" name="spark-9-3"/>
          <p:cNvSpPr/>
          <p:nvPr/>
        </p:nvSpPr>
        <p:spPr>
          <a:xfrm>
            <a:off x="4326026" y="4975045"/>
            <a:ext cx="154643" cy="547931"/>
          </a:xfrm>
          <a:prstGeom prst="rect">
            <a:avLst/>
          </a:prstGeom>
          <a:solidFill>
            <a:srgbClr val="A8C0D6"/>
          </a:solidFill>
          <a:ln/>
        </p:spPr>
      </p:sp>
      <p:sp>
        <p:nvSpPr>
          <p:cNvPr id="138" name="spark-9-4"/>
          <p:cNvSpPr/>
          <p:nvPr/>
        </p:nvSpPr>
        <p:spPr>
          <a:xfrm>
            <a:off x="4567657" y="4957480"/>
            <a:ext cx="154643" cy="565496"/>
          </a:xfrm>
          <a:prstGeom prst="rect">
            <a:avLst/>
          </a:prstGeom>
          <a:solidFill>
            <a:srgbClr val="A8C0D6"/>
          </a:solidFill>
          <a:ln/>
        </p:spPr>
      </p:sp>
      <p:sp>
        <p:nvSpPr>
          <p:cNvPr id="139" name="spark-9-5"/>
          <p:cNvSpPr/>
          <p:nvPr/>
        </p:nvSpPr>
        <p:spPr>
          <a:xfrm>
            <a:off x="4809287" y="4974659"/>
            <a:ext cx="154643" cy="548317"/>
          </a:xfrm>
          <a:prstGeom prst="rect">
            <a:avLst/>
          </a:prstGeom>
          <a:solidFill>
            <a:srgbClr val="A8C0D6"/>
          </a:solidFill>
          <a:ln/>
        </p:spPr>
      </p:sp>
      <p:sp>
        <p:nvSpPr>
          <p:cNvPr id="140" name="spark-9-6"/>
          <p:cNvSpPr/>
          <p:nvPr/>
        </p:nvSpPr>
        <p:spPr>
          <a:xfrm>
            <a:off x="5050917" y="4956048"/>
            <a:ext cx="154643" cy="566928"/>
          </a:xfrm>
          <a:prstGeom prst="rect">
            <a:avLst/>
          </a:prstGeom>
          <a:solidFill>
            <a:srgbClr val="A8C0D6"/>
          </a:solidFill>
          <a:ln/>
        </p:spPr>
      </p:sp>
      <p:sp>
        <p:nvSpPr>
          <p:cNvPr id="141" name="spark-9-7"/>
          <p:cNvSpPr/>
          <p:nvPr/>
        </p:nvSpPr>
        <p:spPr>
          <a:xfrm>
            <a:off x="5292547" y="5001145"/>
            <a:ext cx="154643" cy="521831"/>
          </a:xfrm>
          <a:prstGeom prst="rect">
            <a:avLst/>
          </a:prstGeom>
          <a:solidFill>
            <a:srgbClr val="A8C0D6"/>
          </a:solidFill>
          <a:ln/>
        </p:spPr>
      </p:sp>
      <p:sp>
        <p:nvSpPr>
          <p:cNvPr id="142" name="spark-9-8"/>
          <p:cNvSpPr/>
          <p:nvPr/>
        </p:nvSpPr>
        <p:spPr>
          <a:xfrm>
            <a:off x="5534177" y="5019756"/>
            <a:ext cx="154643" cy="503220"/>
          </a:xfrm>
          <a:prstGeom prst="rect">
            <a:avLst/>
          </a:prstGeom>
          <a:solidFill>
            <a:srgbClr val="F2A900"/>
          </a:solidFill>
          <a:ln/>
        </p:spPr>
      </p:sp>
      <p:sp>
        <p:nvSpPr>
          <p:cNvPr id="143" name="Text 141"/>
          <p:cNvSpPr txBox="1"/>
          <p:nvPr/>
        </p:nvSpPr>
        <p:spPr>
          <a:xfrm>
            <a:off x="3601136"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44" name="Text 142"/>
          <p:cNvSpPr txBox="1"/>
          <p:nvPr/>
        </p:nvSpPr>
        <p:spPr>
          <a:xfrm>
            <a:off x="5227168"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45" name="cc-investments"/>
          <p:cNvSpPr/>
          <p:nvPr/>
        </p:nvSpPr>
        <p:spPr>
          <a:xfrm>
            <a:off x="6196432" y="4443984"/>
            <a:ext cx="2613584" cy="1280160"/>
          </a:xfrm>
          <a:prstGeom prst="roundRect">
            <a:avLst>
              <a:gd name="adj" fmla="val 4286"/>
            </a:avLst>
          </a:prstGeom>
          <a:solidFill>
            <a:srgbClr val="EEF2F7"/>
          </a:solidFill>
          <a:ln/>
        </p:spPr>
      </p:sp>
      <p:sp>
        <p:nvSpPr>
          <p:cNvPr id="146" name="Text 144"/>
          <p:cNvSpPr txBox="1"/>
          <p:nvPr/>
        </p:nvSpPr>
        <p:spPr>
          <a:xfrm>
            <a:off x="6415888"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Investments</a:t>
            </a:r>
            <a:endParaRPr lang="en-US" sz="1200" dirty="0"/>
          </a:p>
        </p:txBody>
      </p:sp>
      <p:sp>
        <p:nvSpPr>
          <p:cNvPr id="147" name="Text 145"/>
          <p:cNvSpPr txBox="1"/>
          <p:nvPr/>
        </p:nvSpPr>
        <p:spPr>
          <a:xfrm>
            <a:off x="7712735"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$6K</a:t>
            </a:r>
            <a:endParaRPr lang="en-US" sz="1300" dirty="0"/>
          </a:p>
        </p:txBody>
      </p:sp>
      <p:sp>
        <p:nvSpPr>
          <p:cNvPr id="148" name="spark-10-0"/>
          <p:cNvSpPr/>
          <p:nvPr/>
        </p:nvSpPr>
        <p:spPr>
          <a:xfrm>
            <a:off x="6415888" y="5504521"/>
            <a:ext cx="154643" cy="18455"/>
          </a:xfrm>
          <a:prstGeom prst="rect">
            <a:avLst/>
          </a:prstGeom>
          <a:solidFill>
            <a:srgbClr val="A8C0D6"/>
          </a:solidFill>
          <a:ln/>
        </p:spPr>
      </p:sp>
      <p:sp>
        <p:nvSpPr>
          <p:cNvPr id="149" name="spark-10-1"/>
          <p:cNvSpPr/>
          <p:nvPr/>
        </p:nvSpPr>
        <p:spPr>
          <a:xfrm>
            <a:off x="6657518" y="4956048"/>
            <a:ext cx="154643" cy="566928"/>
          </a:xfrm>
          <a:prstGeom prst="rect">
            <a:avLst/>
          </a:prstGeom>
          <a:solidFill>
            <a:srgbClr val="A8C0D6"/>
          </a:solidFill>
          <a:ln/>
        </p:spPr>
      </p:sp>
      <p:sp>
        <p:nvSpPr>
          <p:cNvPr id="150" name="spark-10-2"/>
          <p:cNvSpPr/>
          <p:nvPr/>
        </p:nvSpPr>
        <p:spPr>
          <a:xfrm>
            <a:off x="6899148" y="5008805"/>
            <a:ext cx="154643" cy="514171"/>
          </a:xfrm>
          <a:prstGeom prst="rect">
            <a:avLst/>
          </a:prstGeom>
          <a:solidFill>
            <a:srgbClr val="A8C0D6"/>
          </a:solidFill>
          <a:ln/>
        </p:spPr>
      </p:sp>
      <p:sp>
        <p:nvSpPr>
          <p:cNvPr id="151" name="spark-10-3"/>
          <p:cNvSpPr/>
          <p:nvPr/>
        </p:nvSpPr>
        <p:spPr>
          <a:xfrm>
            <a:off x="7140778" y="5142039"/>
            <a:ext cx="154643" cy="380937"/>
          </a:xfrm>
          <a:prstGeom prst="rect">
            <a:avLst/>
          </a:prstGeom>
          <a:solidFill>
            <a:srgbClr val="A8C0D6"/>
          </a:solidFill>
          <a:ln/>
        </p:spPr>
      </p:sp>
      <p:sp>
        <p:nvSpPr>
          <p:cNvPr id="152" name="spark-10-4"/>
          <p:cNvSpPr/>
          <p:nvPr/>
        </p:nvSpPr>
        <p:spPr>
          <a:xfrm>
            <a:off x="7382408" y="5437567"/>
            <a:ext cx="154643" cy="85409"/>
          </a:xfrm>
          <a:prstGeom prst="rect">
            <a:avLst/>
          </a:prstGeom>
          <a:solidFill>
            <a:srgbClr val="A8C0D6"/>
          </a:solidFill>
          <a:ln/>
        </p:spPr>
      </p:sp>
      <p:sp>
        <p:nvSpPr>
          <p:cNvPr id="153" name="spark-10-5"/>
          <p:cNvSpPr/>
          <p:nvPr/>
        </p:nvSpPr>
        <p:spPr>
          <a:xfrm>
            <a:off x="7624039" y="5392931"/>
            <a:ext cx="154643" cy="130045"/>
          </a:xfrm>
          <a:prstGeom prst="rect">
            <a:avLst/>
          </a:prstGeom>
          <a:solidFill>
            <a:srgbClr val="A8C0D6"/>
          </a:solidFill>
          <a:ln/>
        </p:spPr>
      </p:sp>
      <p:sp>
        <p:nvSpPr>
          <p:cNvPr id="154" name="spark-10-6"/>
          <p:cNvSpPr/>
          <p:nvPr/>
        </p:nvSpPr>
        <p:spPr>
          <a:xfrm>
            <a:off x="7865669" y="5295075"/>
            <a:ext cx="154643" cy="227901"/>
          </a:xfrm>
          <a:prstGeom prst="rect">
            <a:avLst/>
          </a:prstGeom>
          <a:solidFill>
            <a:srgbClr val="A8C0D6"/>
          </a:solidFill>
          <a:ln/>
        </p:spPr>
      </p:sp>
      <p:sp>
        <p:nvSpPr>
          <p:cNvPr id="155" name="spark-10-7"/>
          <p:cNvSpPr/>
          <p:nvPr/>
        </p:nvSpPr>
        <p:spPr>
          <a:xfrm>
            <a:off x="8107299" y="5220396"/>
            <a:ext cx="154643" cy="302580"/>
          </a:xfrm>
          <a:prstGeom prst="rect">
            <a:avLst/>
          </a:prstGeom>
          <a:solidFill>
            <a:srgbClr val="A8C0D6"/>
          </a:solidFill>
          <a:ln/>
        </p:spPr>
      </p:sp>
      <p:sp>
        <p:nvSpPr>
          <p:cNvPr id="156" name="spark-10-8"/>
          <p:cNvSpPr/>
          <p:nvPr/>
        </p:nvSpPr>
        <p:spPr>
          <a:xfrm>
            <a:off x="8348929" y="5243572"/>
            <a:ext cx="154643" cy="279404"/>
          </a:xfrm>
          <a:prstGeom prst="rect">
            <a:avLst/>
          </a:prstGeom>
          <a:solidFill>
            <a:srgbClr val="F2A900"/>
          </a:solidFill>
          <a:ln/>
        </p:spPr>
      </p:sp>
      <p:sp>
        <p:nvSpPr>
          <p:cNvPr id="157" name="Text 155"/>
          <p:cNvSpPr txBox="1"/>
          <p:nvPr/>
        </p:nvSpPr>
        <p:spPr>
          <a:xfrm>
            <a:off x="6415888"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58" name="Text 156"/>
          <p:cNvSpPr txBox="1"/>
          <p:nvPr/>
        </p:nvSpPr>
        <p:spPr>
          <a:xfrm>
            <a:off x="8041919"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59" name="cc-integration"/>
          <p:cNvSpPr/>
          <p:nvPr/>
        </p:nvSpPr>
        <p:spPr>
          <a:xfrm>
            <a:off x="9011183" y="4443984"/>
            <a:ext cx="2613584" cy="1280160"/>
          </a:xfrm>
          <a:prstGeom prst="roundRect">
            <a:avLst>
              <a:gd name="adj" fmla="val 4286"/>
            </a:avLst>
          </a:prstGeom>
          <a:solidFill>
            <a:srgbClr val="EEF2F7"/>
          </a:solidFill>
          <a:ln/>
        </p:spPr>
      </p:sp>
      <p:sp>
        <p:nvSpPr>
          <p:cNvPr id="160" name="Text 158"/>
          <p:cNvSpPr txBox="1"/>
          <p:nvPr/>
        </p:nvSpPr>
        <p:spPr>
          <a:xfrm>
            <a:off x="9230639" y="4572000"/>
            <a:ext cx="1461440" cy="274320"/>
          </a:xfrm>
          <a:prstGeom prst="rect">
            <a:avLst/>
          </a:prstGeom>
          <a:noFill/>
          <a:ln/>
        </p:spPr>
        <p:txBody>
          <a:bodyPr wrap="square" lIns="0" tIns="0" rIns="0" bIns="0" rtlCol="0" anchor="ctr"/>
          <a:lstStyle/>
          <a:p>
            <a:pPr algn="l" indent="0" marL="0">
              <a:buNone/>
            </a:pPr>
            <a:r>
              <a:rPr lang="en-US" sz="1200" b="1" dirty="0">
                <a:solidFill>
                  <a:srgbClr val="0B1B2E"/>
                </a:solidFill>
                <a:latin typeface="Arial" pitchFamily="34" charset="0"/>
                <a:ea typeface="Arial" pitchFamily="34" charset="-122"/>
                <a:cs typeface="Arial" pitchFamily="34" charset="-120"/>
              </a:rPr>
              <a:t>Integration</a:t>
            </a:r>
            <a:endParaRPr lang="en-US" sz="1200" dirty="0"/>
          </a:p>
        </p:txBody>
      </p:sp>
      <p:sp>
        <p:nvSpPr>
          <p:cNvPr id="161" name="Text 159"/>
          <p:cNvSpPr txBox="1"/>
          <p:nvPr/>
        </p:nvSpPr>
        <p:spPr>
          <a:xfrm>
            <a:off x="10527487" y="4572000"/>
            <a:ext cx="877824" cy="274320"/>
          </a:xfrm>
          <a:prstGeom prst="rect">
            <a:avLst/>
          </a:prstGeom>
          <a:noFill/>
          <a:ln/>
        </p:spPr>
        <p:txBody>
          <a:bodyPr wrap="square" lIns="0" tIns="0" rIns="0" bIns="0" rtlCol="0" anchor="ctr"/>
          <a:lstStyle/>
          <a:p>
            <a:pPr algn="r" indent="0" marL="0">
              <a:buNone/>
            </a:pPr>
            <a:r>
              <a:rPr lang="en-US" sz="1300" b="1" dirty="0">
                <a:solidFill>
                  <a:srgbClr val="0F7DC2"/>
                </a:solidFill>
                <a:latin typeface="Arial" pitchFamily="34" charset="0"/>
                <a:ea typeface="Arial" pitchFamily="34" charset="-122"/>
                <a:cs typeface="Arial" pitchFamily="34" charset="-120"/>
              </a:rPr>
              <a:t>$0.4K</a:t>
            </a:r>
            <a:endParaRPr lang="en-US" sz="1300" dirty="0"/>
          </a:p>
        </p:txBody>
      </p:sp>
      <p:sp>
        <p:nvSpPr>
          <p:cNvPr id="162" name="spark-11-0"/>
          <p:cNvSpPr/>
          <p:nvPr/>
        </p:nvSpPr>
        <p:spPr>
          <a:xfrm>
            <a:off x="9230639" y="5496553"/>
            <a:ext cx="154643" cy="26423"/>
          </a:xfrm>
          <a:prstGeom prst="rect">
            <a:avLst/>
          </a:prstGeom>
          <a:solidFill>
            <a:srgbClr val="A8C0D6"/>
          </a:solidFill>
          <a:ln/>
        </p:spPr>
      </p:sp>
      <p:sp>
        <p:nvSpPr>
          <p:cNvPr id="163" name="spark-11-1"/>
          <p:cNvSpPr/>
          <p:nvPr/>
        </p:nvSpPr>
        <p:spPr>
          <a:xfrm>
            <a:off x="9472270" y="5130748"/>
            <a:ext cx="154643" cy="392228"/>
          </a:xfrm>
          <a:prstGeom prst="rect">
            <a:avLst/>
          </a:prstGeom>
          <a:solidFill>
            <a:srgbClr val="A8C0D6"/>
          </a:solidFill>
          <a:ln/>
        </p:spPr>
      </p:sp>
      <p:sp>
        <p:nvSpPr>
          <p:cNvPr id="164" name="spark-11-2"/>
          <p:cNvSpPr/>
          <p:nvPr/>
        </p:nvSpPr>
        <p:spPr>
          <a:xfrm>
            <a:off x="9713900" y="4956048"/>
            <a:ext cx="154643" cy="566928"/>
          </a:xfrm>
          <a:prstGeom prst="rect">
            <a:avLst/>
          </a:prstGeom>
          <a:solidFill>
            <a:srgbClr val="A8C0D6"/>
          </a:solidFill>
          <a:ln/>
        </p:spPr>
      </p:sp>
      <p:sp>
        <p:nvSpPr>
          <p:cNvPr id="165" name="spark-11-3"/>
          <p:cNvSpPr/>
          <p:nvPr/>
        </p:nvSpPr>
        <p:spPr>
          <a:xfrm>
            <a:off x="9955530" y="5012325"/>
            <a:ext cx="154643" cy="510651"/>
          </a:xfrm>
          <a:prstGeom prst="rect">
            <a:avLst/>
          </a:prstGeom>
          <a:solidFill>
            <a:srgbClr val="A8C0D6"/>
          </a:solidFill>
          <a:ln/>
        </p:spPr>
      </p:sp>
      <p:sp>
        <p:nvSpPr>
          <p:cNvPr id="166" name="spark-11-4"/>
          <p:cNvSpPr/>
          <p:nvPr/>
        </p:nvSpPr>
        <p:spPr>
          <a:xfrm>
            <a:off x="10197160" y="4994518"/>
            <a:ext cx="154643" cy="528458"/>
          </a:xfrm>
          <a:prstGeom prst="rect">
            <a:avLst/>
          </a:prstGeom>
          <a:solidFill>
            <a:srgbClr val="A8C0D6"/>
          </a:solidFill>
          <a:ln/>
        </p:spPr>
      </p:sp>
      <p:sp>
        <p:nvSpPr>
          <p:cNvPr id="167" name="spark-11-5"/>
          <p:cNvSpPr/>
          <p:nvPr/>
        </p:nvSpPr>
        <p:spPr>
          <a:xfrm>
            <a:off x="10438790" y="5016790"/>
            <a:ext cx="154643" cy="506186"/>
          </a:xfrm>
          <a:prstGeom prst="rect">
            <a:avLst/>
          </a:prstGeom>
          <a:solidFill>
            <a:srgbClr val="A8C0D6"/>
          </a:solidFill>
          <a:ln/>
        </p:spPr>
      </p:sp>
      <p:sp>
        <p:nvSpPr>
          <p:cNvPr id="168" name="spark-11-6"/>
          <p:cNvSpPr/>
          <p:nvPr/>
        </p:nvSpPr>
        <p:spPr>
          <a:xfrm>
            <a:off x="10680421" y="4996543"/>
            <a:ext cx="154643" cy="526433"/>
          </a:xfrm>
          <a:prstGeom prst="rect">
            <a:avLst/>
          </a:prstGeom>
          <a:solidFill>
            <a:srgbClr val="A8C0D6"/>
          </a:solidFill>
          <a:ln/>
        </p:spPr>
      </p:sp>
      <p:sp>
        <p:nvSpPr>
          <p:cNvPr id="169" name="spark-11-7"/>
          <p:cNvSpPr/>
          <p:nvPr/>
        </p:nvSpPr>
        <p:spPr>
          <a:xfrm>
            <a:off x="10922051" y="4996543"/>
            <a:ext cx="154643" cy="526433"/>
          </a:xfrm>
          <a:prstGeom prst="rect">
            <a:avLst/>
          </a:prstGeom>
          <a:solidFill>
            <a:srgbClr val="A8C0D6"/>
          </a:solidFill>
          <a:ln/>
        </p:spPr>
      </p:sp>
      <p:sp>
        <p:nvSpPr>
          <p:cNvPr id="170" name="spark-11-8"/>
          <p:cNvSpPr/>
          <p:nvPr/>
        </p:nvSpPr>
        <p:spPr>
          <a:xfrm>
            <a:off x="11163681" y="5016790"/>
            <a:ext cx="154643" cy="506186"/>
          </a:xfrm>
          <a:prstGeom prst="rect">
            <a:avLst/>
          </a:prstGeom>
          <a:solidFill>
            <a:srgbClr val="F2A900"/>
          </a:solidFill>
          <a:ln/>
        </p:spPr>
      </p:sp>
      <p:sp>
        <p:nvSpPr>
          <p:cNvPr id="171" name="Text 169"/>
          <p:cNvSpPr txBox="1"/>
          <p:nvPr/>
        </p:nvSpPr>
        <p:spPr>
          <a:xfrm>
            <a:off x="9230639" y="5486400"/>
            <a:ext cx="548640" cy="182880"/>
          </a:xfrm>
          <a:prstGeom prst="rect">
            <a:avLst/>
          </a:prstGeom>
          <a:noFill/>
          <a:ln/>
        </p:spPr>
        <p:txBody>
          <a:bodyPr wrap="square" lIns="0" tIns="0" rIns="0" bIns="0" rtlCol="0" anchor="ctr"/>
          <a:lstStyle/>
          <a:p>
            <a:pPr algn="l" indent="0" marL="0">
              <a:buNone/>
            </a:pPr>
            <a:r>
              <a:rPr lang="en-US" sz="750" dirty="0">
                <a:solidFill>
                  <a:srgbClr val="93A3B5"/>
                </a:solidFill>
                <a:latin typeface="Arial" pitchFamily="34" charset="0"/>
                <a:ea typeface="Arial" pitchFamily="34" charset="-122"/>
                <a:cs typeface="Arial" pitchFamily="34" charset="-120"/>
              </a:rPr>
              <a:t>Jan</a:t>
            </a:r>
            <a:endParaRPr lang="en-US" sz="750" dirty="0"/>
          </a:p>
        </p:txBody>
      </p:sp>
      <p:sp>
        <p:nvSpPr>
          <p:cNvPr id="172" name="Text 170"/>
          <p:cNvSpPr txBox="1"/>
          <p:nvPr/>
        </p:nvSpPr>
        <p:spPr>
          <a:xfrm>
            <a:off x="10856671" y="5486400"/>
            <a:ext cx="548640" cy="182880"/>
          </a:xfrm>
          <a:prstGeom prst="rect">
            <a:avLst/>
          </a:prstGeom>
          <a:noFill/>
          <a:ln/>
        </p:spPr>
        <p:txBody>
          <a:bodyPr wrap="square" lIns="0" tIns="0" rIns="0" bIns="0" rtlCol="0" anchor="ctr"/>
          <a:lstStyle/>
          <a:p>
            <a:pPr algn="r" indent="0" marL="0">
              <a:buNone/>
            </a:pPr>
            <a:r>
              <a:rPr lang="en-US" sz="750" dirty="0">
                <a:solidFill>
                  <a:srgbClr val="93A3B5"/>
                </a:solidFill>
                <a:latin typeface="Arial" pitchFamily="34" charset="0"/>
                <a:ea typeface="Arial" pitchFamily="34" charset="-122"/>
                <a:cs typeface="Arial" pitchFamily="34" charset="-120"/>
              </a:rPr>
              <a:t>Sep</a:t>
            </a:r>
            <a:endParaRPr lang="en-US" sz="750" dirty="0"/>
          </a:p>
        </p:txBody>
      </p:sp>
      <p:sp>
        <p:nvSpPr>
          <p:cNvPr id="173"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Each sparkline is scaled to its own maximum; September is highlighted. Totals are year to date.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F2A900"/>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AWS HAREL IL PAYER</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The second AWS payer account is $166K year to date</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51199" cy="4114800"/>
          </a:xfrm>
          <a:prstGeom prst="roundRect">
            <a:avLst>
              <a:gd name="adj" fmla="val 1503"/>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Year to date by service</a:t>
            </a:r>
            <a:endParaRPr lang="en-US" sz="1300" dirty="0"/>
          </a:p>
        </p:txBody>
      </p:sp>
      <p:sp>
        <p:nvSpPr>
          <p:cNvPr id="8" name="Text 5"/>
          <p:cNvSpPr txBox="1"/>
          <p:nvPr/>
        </p:nvSpPr>
        <p:spPr>
          <a:xfrm>
            <a:off x="8229600" y="210312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S3 · Glacier Archive</a:t>
            </a:r>
            <a:endParaRPr lang="en-US" sz="1000" dirty="0"/>
          </a:p>
        </p:txBody>
      </p:sp>
      <p:sp>
        <p:nvSpPr>
          <p:cNvPr id="9" name="rank-bar-0"/>
          <p:cNvSpPr/>
          <p:nvPr/>
        </p:nvSpPr>
        <p:spPr>
          <a:xfrm>
            <a:off x="10003536" y="2189988"/>
            <a:ext cx="585216" cy="137160"/>
          </a:xfrm>
          <a:prstGeom prst="rect">
            <a:avLst/>
          </a:prstGeom>
          <a:solidFill>
            <a:srgbClr val="0F7DC2"/>
          </a:solidFill>
          <a:ln/>
        </p:spPr>
      </p:sp>
      <p:sp>
        <p:nvSpPr>
          <p:cNvPr id="10" name="Text 7"/>
          <p:cNvSpPr txBox="1"/>
          <p:nvPr/>
        </p:nvSpPr>
        <p:spPr>
          <a:xfrm>
            <a:off x="10680192" y="2103120"/>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$41K</a:t>
            </a:r>
            <a:endParaRPr lang="en-US" sz="1050" dirty="0"/>
          </a:p>
        </p:txBody>
      </p:sp>
      <p:sp>
        <p:nvSpPr>
          <p:cNvPr id="11" name="Text 8"/>
          <p:cNvSpPr txBox="1"/>
          <p:nvPr/>
        </p:nvSpPr>
        <p:spPr>
          <a:xfrm>
            <a:off x="8229600" y="248716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Other services</a:t>
            </a:r>
            <a:endParaRPr lang="en-US" sz="1000" dirty="0"/>
          </a:p>
        </p:txBody>
      </p:sp>
      <p:sp>
        <p:nvSpPr>
          <p:cNvPr id="12" name="rank-bar-1"/>
          <p:cNvSpPr/>
          <p:nvPr/>
        </p:nvSpPr>
        <p:spPr>
          <a:xfrm>
            <a:off x="10003536" y="2574036"/>
            <a:ext cx="447824" cy="137160"/>
          </a:xfrm>
          <a:prstGeom prst="rect">
            <a:avLst/>
          </a:prstGeom>
          <a:solidFill>
            <a:srgbClr val="9FB3C8"/>
          </a:solidFill>
          <a:ln/>
        </p:spPr>
      </p:sp>
      <p:sp>
        <p:nvSpPr>
          <p:cNvPr id="13" name="Text 10"/>
          <p:cNvSpPr txBox="1"/>
          <p:nvPr/>
        </p:nvSpPr>
        <p:spPr>
          <a:xfrm>
            <a:off x="10680192" y="2487168"/>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$31K</a:t>
            </a:r>
            <a:endParaRPr lang="en-US" sz="1050" dirty="0"/>
          </a:p>
        </p:txBody>
      </p:sp>
      <p:sp>
        <p:nvSpPr>
          <p:cNvPr id="14" name="Text 11"/>
          <p:cNvSpPr txBox="1"/>
          <p:nvPr/>
        </p:nvSpPr>
        <p:spPr>
          <a:xfrm>
            <a:off x="8229600" y="287121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Direct Connect</a:t>
            </a:r>
            <a:endParaRPr lang="en-US" sz="1000" dirty="0"/>
          </a:p>
        </p:txBody>
      </p:sp>
      <p:sp>
        <p:nvSpPr>
          <p:cNvPr id="15" name="rank-bar-2"/>
          <p:cNvSpPr/>
          <p:nvPr/>
        </p:nvSpPr>
        <p:spPr>
          <a:xfrm>
            <a:off x="10003536" y="2958084"/>
            <a:ext cx="421263" cy="137160"/>
          </a:xfrm>
          <a:prstGeom prst="rect">
            <a:avLst/>
          </a:prstGeom>
          <a:solidFill>
            <a:srgbClr val="27496B"/>
          </a:solidFill>
          <a:ln/>
        </p:spPr>
      </p:sp>
      <p:sp>
        <p:nvSpPr>
          <p:cNvPr id="16" name="Text 13"/>
          <p:cNvSpPr txBox="1"/>
          <p:nvPr/>
        </p:nvSpPr>
        <p:spPr>
          <a:xfrm>
            <a:off x="10680192" y="2871216"/>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$29K</a:t>
            </a:r>
            <a:endParaRPr lang="en-US" sz="1050" dirty="0"/>
          </a:p>
        </p:txBody>
      </p:sp>
      <p:sp>
        <p:nvSpPr>
          <p:cNvPr id="17" name="Text 14"/>
          <p:cNvSpPr txBox="1"/>
          <p:nvPr/>
        </p:nvSpPr>
        <p:spPr>
          <a:xfrm>
            <a:off x="8229600" y="3255264"/>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Business Support</a:t>
            </a:r>
            <a:endParaRPr lang="en-US" sz="1000" dirty="0"/>
          </a:p>
        </p:txBody>
      </p:sp>
      <p:sp>
        <p:nvSpPr>
          <p:cNvPr id="18" name="rank-bar-3"/>
          <p:cNvSpPr/>
          <p:nvPr/>
        </p:nvSpPr>
        <p:spPr>
          <a:xfrm>
            <a:off x="10003536" y="3342132"/>
            <a:ext cx="230520" cy="137160"/>
          </a:xfrm>
          <a:prstGeom prst="rect">
            <a:avLst/>
          </a:prstGeom>
          <a:solidFill>
            <a:srgbClr val="27496B"/>
          </a:solidFill>
          <a:ln/>
        </p:spPr>
      </p:sp>
      <p:sp>
        <p:nvSpPr>
          <p:cNvPr id="19" name="Text 16"/>
          <p:cNvSpPr txBox="1"/>
          <p:nvPr/>
        </p:nvSpPr>
        <p:spPr>
          <a:xfrm>
            <a:off x="10680192" y="3255264"/>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$16K</a:t>
            </a:r>
            <a:endParaRPr lang="en-US" sz="1050" dirty="0"/>
          </a:p>
        </p:txBody>
      </p:sp>
      <p:sp>
        <p:nvSpPr>
          <p:cNvPr id="20" name="Text 17"/>
          <p:cNvSpPr txBox="1"/>
          <p:nvPr/>
        </p:nvSpPr>
        <p:spPr>
          <a:xfrm>
            <a:off x="8229600" y="3639312"/>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EC2 · Compute</a:t>
            </a:r>
            <a:endParaRPr lang="en-US" sz="1000" dirty="0"/>
          </a:p>
        </p:txBody>
      </p:sp>
      <p:sp>
        <p:nvSpPr>
          <p:cNvPr id="21" name="rank-bar-4"/>
          <p:cNvSpPr/>
          <p:nvPr/>
        </p:nvSpPr>
        <p:spPr>
          <a:xfrm>
            <a:off x="10003536" y="3726180"/>
            <a:ext cx="171197" cy="137160"/>
          </a:xfrm>
          <a:prstGeom prst="rect">
            <a:avLst/>
          </a:prstGeom>
          <a:solidFill>
            <a:srgbClr val="F2A900"/>
          </a:solidFill>
          <a:ln/>
        </p:spPr>
      </p:sp>
      <p:sp>
        <p:nvSpPr>
          <p:cNvPr id="22" name="Text 19"/>
          <p:cNvSpPr txBox="1"/>
          <p:nvPr/>
        </p:nvSpPr>
        <p:spPr>
          <a:xfrm>
            <a:off x="10680192" y="3639312"/>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$12K</a:t>
            </a:r>
            <a:endParaRPr lang="en-US" sz="1050" dirty="0"/>
          </a:p>
        </p:txBody>
      </p:sp>
      <p:sp>
        <p:nvSpPr>
          <p:cNvPr id="23" name="Text 20"/>
          <p:cNvSpPr txBox="1"/>
          <p:nvPr/>
        </p:nvSpPr>
        <p:spPr>
          <a:xfrm>
            <a:off x="8229600" y="402336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S3 · API</a:t>
            </a:r>
            <a:endParaRPr lang="en-US" sz="1000" dirty="0"/>
          </a:p>
        </p:txBody>
      </p:sp>
      <p:sp>
        <p:nvSpPr>
          <p:cNvPr id="24" name="rank-bar-5"/>
          <p:cNvSpPr/>
          <p:nvPr/>
        </p:nvSpPr>
        <p:spPr>
          <a:xfrm>
            <a:off x="10003536" y="4110228"/>
            <a:ext cx="163982" cy="137160"/>
          </a:xfrm>
          <a:prstGeom prst="rect">
            <a:avLst/>
          </a:prstGeom>
          <a:solidFill>
            <a:srgbClr val="0F7DC2"/>
          </a:solidFill>
          <a:ln/>
        </p:spPr>
      </p:sp>
      <p:sp>
        <p:nvSpPr>
          <p:cNvPr id="25" name="Text 22"/>
          <p:cNvSpPr txBox="1"/>
          <p:nvPr/>
        </p:nvSpPr>
        <p:spPr>
          <a:xfrm>
            <a:off x="10680192" y="4023360"/>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$11K</a:t>
            </a:r>
            <a:endParaRPr lang="en-US" sz="1050" dirty="0"/>
          </a:p>
        </p:txBody>
      </p:sp>
      <p:sp>
        <p:nvSpPr>
          <p:cNvPr id="26" name="Text 23"/>
          <p:cNvSpPr txBox="1"/>
          <p:nvPr/>
        </p:nvSpPr>
        <p:spPr>
          <a:xfrm>
            <a:off x="8229600" y="440740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VPC Endpoints</a:t>
            </a:r>
            <a:endParaRPr lang="en-US" sz="1000" dirty="0"/>
          </a:p>
        </p:txBody>
      </p:sp>
      <p:sp>
        <p:nvSpPr>
          <p:cNvPr id="27" name="rank-bar-6"/>
          <p:cNvSpPr/>
          <p:nvPr/>
        </p:nvSpPr>
        <p:spPr>
          <a:xfrm>
            <a:off x="10003536" y="4494276"/>
            <a:ext cx="113131" cy="137160"/>
          </a:xfrm>
          <a:prstGeom prst="rect">
            <a:avLst/>
          </a:prstGeom>
          <a:solidFill>
            <a:srgbClr val="00A878"/>
          </a:solidFill>
          <a:ln/>
        </p:spPr>
      </p:sp>
      <p:sp>
        <p:nvSpPr>
          <p:cNvPr id="28" name="Text 25"/>
          <p:cNvSpPr txBox="1"/>
          <p:nvPr/>
        </p:nvSpPr>
        <p:spPr>
          <a:xfrm>
            <a:off x="10680192" y="4407408"/>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$8K</a:t>
            </a:r>
            <a:endParaRPr lang="en-US" sz="1050" dirty="0"/>
          </a:p>
        </p:txBody>
      </p:sp>
      <p:sp>
        <p:nvSpPr>
          <p:cNvPr id="29" name="Text 26"/>
          <p:cNvSpPr txBox="1"/>
          <p:nvPr/>
        </p:nvSpPr>
        <p:spPr>
          <a:xfrm>
            <a:off x="8229600" y="479145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Transit Gateway</a:t>
            </a:r>
            <a:endParaRPr lang="en-US" sz="1000" dirty="0"/>
          </a:p>
        </p:txBody>
      </p:sp>
      <p:sp>
        <p:nvSpPr>
          <p:cNvPr id="30" name="rank-bar-7"/>
          <p:cNvSpPr/>
          <p:nvPr/>
        </p:nvSpPr>
        <p:spPr>
          <a:xfrm>
            <a:off x="10003536" y="4878324"/>
            <a:ext cx="65324" cy="137160"/>
          </a:xfrm>
          <a:prstGeom prst="rect">
            <a:avLst/>
          </a:prstGeom>
          <a:solidFill>
            <a:srgbClr val="00A878"/>
          </a:solidFill>
          <a:ln/>
        </p:spPr>
      </p:sp>
      <p:sp>
        <p:nvSpPr>
          <p:cNvPr id="31" name="Text 28"/>
          <p:cNvSpPr txBox="1"/>
          <p:nvPr/>
        </p:nvSpPr>
        <p:spPr>
          <a:xfrm>
            <a:off x="10680192" y="4791456"/>
            <a:ext cx="694944"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$5K</a:t>
            </a:r>
            <a:endParaRPr lang="en-US" sz="1050" dirty="0"/>
          </a:p>
        </p:txBody>
      </p:sp>
      <p:sp>
        <p:nvSpPr>
          <p:cNvPr id="32" name="chip"/>
          <p:cNvSpPr/>
          <p:nvPr/>
        </p:nvSpPr>
        <p:spPr>
          <a:xfrm>
            <a:off x="8229600" y="5285232"/>
            <a:ext cx="3145536" cy="310896"/>
          </a:xfrm>
          <a:prstGeom prst="roundRect">
            <a:avLst>
              <a:gd name="adj" fmla="val 35294"/>
            </a:avLst>
          </a:prstGeom>
          <a:solidFill>
            <a:srgbClr val="E6F1FA"/>
          </a:solidFill>
          <a:ln/>
        </p:spPr>
      </p:sp>
      <p:sp>
        <p:nvSpPr>
          <p:cNvPr id="33" name="Text 30"/>
          <p:cNvSpPr txBox="1"/>
          <p:nvPr/>
        </p:nvSpPr>
        <p:spPr>
          <a:xfrm>
            <a:off x="8229600" y="5285232"/>
            <a:ext cx="3145536" cy="310896"/>
          </a:xfrm>
          <a:prstGeom prst="rect">
            <a:avLst/>
          </a:prstGeom>
          <a:noFill/>
          <a:ln/>
        </p:spPr>
        <p:txBody>
          <a:bodyPr wrap="square" lIns="0" tIns="0" rIns="0" bIns="0" rtlCol="0" anchor="ctr"/>
          <a:lstStyle/>
          <a:p>
            <a:pPr algn="ctr" indent="0" marL="0">
              <a:buNone/>
            </a:pPr>
            <a:r>
              <a:rPr lang="en-US" sz="1050" b="1" dirty="0">
                <a:solidFill>
                  <a:srgbClr val="0A4E7A"/>
                </a:solidFill>
                <a:latin typeface="Arial" pitchFamily="34" charset="0"/>
                <a:ea typeface="Arial" pitchFamily="34" charset="-122"/>
                <a:cs typeface="Arial" pitchFamily="34" charset="-120"/>
              </a:rPr>
              <a:t>Glacier Deep Archive is 25% of it</a:t>
            </a:r>
            <a:endParaRPr lang="en-US" sz="1050" dirty="0"/>
          </a:p>
        </p:txBody>
      </p:sp>
      <p:sp>
        <p:nvSpPr>
          <p:cNvPr id="34"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Included within the $792K AWS consumption total shown in the main deck.</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AI FACTORY PROJECTS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Monthly profile of the four AI Factory projects</a:t>
            </a:r>
            <a:endParaRPr lang="en-US" sz="2800" dirty="0"/>
          </a:p>
        </p:txBody>
      </p:sp>
      <p:sp>
        <p:nvSpPr>
          <p:cNvPr id="5" name="proj-AI Factory core"/>
          <p:cNvSpPr/>
          <p:nvPr/>
        </p:nvSpPr>
        <p:spPr>
          <a:xfrm>
            <a:off x="566928" y="1517904"/>
            <a:ext cx="2613584" cy="4114800"/>
          </a:xfrm>
          <a:prstGeom prst="roundRect">
            <a:avLst>
              <a:gd name="adj" fmla="val 2099"/>
            </a:avLst>
          </a:prstGeom>
          <a:solidFill>
            <a:srgbClr val="EEF2F7"/>
          </a:solidFill>
          <a:ln/>
        </p:spPr>
      </p:sp>
      <p:sp>
        <p:nvSpPr>
          <p:cNvPr id="6" name="Text 4"/>
          <p:cNvSpPr txBox="1"/>
          <p:nvPr/>
        </p:nvSpPr>
        <p:spPr>
          <a:xfrm>
            <a:off x="804672" y="1700784"/>
            <a:ext cx="2138096" cy="566928"/>
          </a:xfrm>
          <a:prstGeom prst="rect">
            <a:avLst/>
          </a:prstGeom>
          <a:noFill/>
          <a:ln/>
        </p:spPr>
        <p:txBody>
          <a:bodyPr wrap="square" lIns="0" tIns="0" rIns="0" bIns="0" rtlCol="0" anchor="t"/>
          <a:lstStyle/>
          <a:p>
            <a:pPr algn="l" indent="0" marL="0">
              <a:buNone/>
            </a:pPr>
            <a:r>
              <a:rPr lang="en-US" sz="1300" b="1" dirty="0">
                <a:solidFill>
                  <a:srgbClr val="0B1B2E"/>
                </a:solidFill>
                <a:latin typeface="Arial" pitchFamily="34" charset="0"/>
                <a:ea typeface="Arial" pitchFamily="34" charset="-122"/>
                <a:cs typeface="Arial" pitchFamily="34" charset="-120"/>
              </a:rPr>
              <a:t>AI Factory core</a:t>
            </a:r>
            <a:endParaRPr lang="en-US" sz="1300" dirty="0"/>
          </a:p>
        </p:txBody>
      </p:sp>
      <p:sp>
        <p:nvSpPr>
          <p:cNvPr id="7" name="Text 5"/>
          <p:cNvSpPr txBox="1"/>
          <p:nvPr/>
        </p:nvSpPr>
        <p:spPr>
          <a:xfrm>
            <a:off x="804672" y="2304288"/>
            <a:ext cx="2138096" cy="512064"/>
          </a:xfrm>
          <a:prstGeom prst="rect">
            <a:avLst/>
          </a:prstGeom>
          <a:noFill/>
          <a:ln/>
        </p:spPr>
        <p:txBody>
          <a:bodyPr wrap="square" lIns="0" tIns="0" rIns="0" bIns="0" rtlCol="0" anchor="ctr"/>
          <a:lstStyle/>
          <a:p>
            <a:pPr algn="l" indent="0" marL="0">
              <a:buNone/>
            </a:pPr>
            <a:r>
              <a:rPr lang="en-US" sz="2600" b="1" dirty="0">
                <a:solidFill>
                  <a:srgbClr val="7C5CFF"/>
                </a:solidFill>
                <a:latin typeface="Arial" pitchFamily="34" charset="0"/>
                <a:ea typeface="Arial" pitchFamily="34" charset="-122"/>
                <a:cs typeface="Arial" pitchFamily="34" charset="-120"/>
              </a:rPr>
              <a:t>$139K</a:t>
            </a:r>
            <a:endParaRPr lang="en-US" sz="2600" dirty="0"/>
          </a:p>
        </p:txBody>
      </p:sp>
      <p:sp>
        <p:nvSpPr>
          <p:cNvPr id="8" name="Text 6"/>
          <p:cNvSpPr txBox="1"/>
          <p:nvPr/>
        </p:nvSpPr>
        <p:spPr>
          <a:xfrm>
            <a:off x="804672" y="2798064"/>
            <a:ext cx="2138096" cy="237744"/>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year to date</a:t>
            </a:r>
            <a:endParaRPr lang="en-US" sz="1000" dirty="0"/>
          </a:p>
        </p:txBody>
      </p:sp>
      <p:sp>
        <p:nvSpPr>
          <p:cNvPr id="9" name="aif-spark-0-0"/>
          <p:cNvSpPr/>
          <p:nvPr/>
        </p:nvSpPr>
        <p:spPr>
          <a:xfrm>
            <a:off x="804672" y="5058212"/>
            <a:ext cx="156794" cy="62428"/>
          </a:xfrm>
          <a:prstGeom prst="rect">
            <a:avLst/>
          </a:prstGeom>
          <a:solidFill>
            <a:srgbClr val="B9C9D8"/>
          </a:solidFill>
          <a:ln/>
        </p:spPr>
      </p:sp>
      <p:sp>
        <p:nvSpPr>
          <p:cNvPr id="10" name="aif-spark-0-1"/>
          <p:cNvSpPr/>
          <p:nvPr/>
        </p:nvSpPr>
        <p:spPr>
          <a:xfrm>
            <a:off x="1042238" y="4866562"/>
            <a:ext cx="156794" cy="254078"/>
          </a:xfrm>
          <a:prstGeom prst="rect">
            <a:avLst/>
          </a:prstGeom>
          <a:solidFill>
            <a:srgbClr val="B9C9D8"/>
          </a:solidFill>
          <a:ln/>
        </p:spPr>
      </p:sp>
      <p:sp>
        <p:nvSpPr>
          <p:cNvPr id="11" name="aif-spark-0-2"/>
          <p:cNvSpPr/>
          <p:nvPr/>
        </p:nvSpPr>
        <p:spPr>
          <a:xfrm>
            <a:off x="1279804" y="4197569"/>
            <a:ext cx="156794" cy="923071"/>
          </a:xfrm>
          <a:prstGeom prst="rect">
            <a:avLst/>
          </a:prstGeom>
          <a:solidFill>
            <a:srgbClr val="B9C9D8"/>
          </a:solidFill>
          <a:ln/>
        </p:spPr>
      </p:sp>
      <p:sp>
        <p:nvSpPr>
          <p:cNvPr id="12" name="aif-spark-0-3"/>
          <p:cNvSpPr/>
          <p:nvPr/>
        </p:nvSpPr>
        <p:spPr>
          <a:xfrm>
            <a:off x="1517371" y="4267427"/>
            <a:ext cx="156794" cy="853213"/>
          </a:xfrm>
          <a:prstGeom prst="rect">
            <a:avLst/>
          </a:prstGeom>
          <a:solidFill>
            <a:srgbClr val="B9C9D8"/>
          </a:solidFill>
          <a:ln/>
        </p:spPr>
      </p:sp>
      <p:sp>
        <p:nvSpPr>
          <p:cNvPr id="13" name="aif-spark-0-4"/>
          <p:cNvSpPr/>
          <p:nvPr/>
        </p:nvSpPr>
        <p:spPr>
          <a:xfrm>
            <a:off x="1754937" y="4122741"/>
            <a:ext cx="156794" cy="997899"/>
          </a:xfrm>
          <a:prstGeom prst="rect">
            <a:avLst/>
          </a:prstGeom>
          <a:solidFill>
            <a:srgbClr val="B9C9D8"/>
          </a:solidFill>
          <a:ln/>
        </p:spPr>
      </p:sp>
      <p:sp>
        <p:nvSpPr>
          <p:cNvPr id="14" name="aif-spark-0-5"/>
          <p:cNvSpPr/>
          <p:nvPr/>
        </p:nvSpPr>
        <p:spPr>
          <a:xfrm>
            <a:off x="1992503" y="3200400"/>
            <a:ext cx="156794" cy="1920240"/>
          </a:xfrm>
          <a:prstGeom prst="rect">
            <a:avLst/>
          </a:prstGeom>
          <a:solidFill>
            <a:srgbClr val="B9C9D8"/>
          </a:solidFill>
          <a:ln/>
        </p:spPr>
      </p:sp>
      <p:sp>
        <p:nvSpPr>
          <p:cNvPr id="15" name="aif-spark-0-6"/>
          <p:cNvSpPr/>
          <p:nvPr/>
        </p:nvSpPr>
        <p:spPr>
          <a:xfrm>
            <a:off x="2230069" y="3408076"/>
            <a:ext cx="156794" cy="1712564"/>
          </a:xfrm>
          <a:prstGeom prst="rect">
            <a:avLst/>
          </a:prstGeom>
          <a:solidFill>
            <a:srgbClr val="B9C9D8"/>
          </a:solidFill>
          <a:ln/>
        </p:spPr>
      </p:sp>
      <p:sp>
        <p:nvSpPr>
          <p:cNvPr id="16" name="aif-spark-0-7"/>
          <p:cNvSpPr/>
          <p:nvPr/>
        </p:nvSpPr>
        <p:spPr>
          <a:xfrm>
            <a:off x="2467635" y="3549036"/>
            <a:ext cx="156794" cy="1571604"/>
          </a:xfrm>
          <a:prstGeom prst="rect">
            <a:avLst/>
          </a:prstGeom>
          <a:solidFill>
            <a:srgbClr val="B9C9D8"/>
          </a:solidFill>
          <a:ln/>
        </p:spPr>
      </p:sp>
      <p:sp>
        <p:nvSpPr>
          <p:cNvPr id="17" name="aif-spark-0-8"/>
          <p:cNvSpPr/>
          <p:nvPr/>
        </p:nvSpPr>
        <p:spPr>
          <a:xfrm>
            <a:off x="2705202" y="3259663"/>
            <a:ext cx="156794" cy="1860977"/>
          </a:xfrm>
          <a:prstGeom prst="rect">
            <a:avLst/>
          </a:prstGeom>
          <a:solidFill>
            <a:srgbClr val="7C5CFF"/>
          </a:solidFill>
          <a:ln/>
        </p:spPr>
      </p:sp>
      <p:sp>
        <p:nvSpPr>
          <p:cNvPr id="18" name="Text 16"/>
          <p:cNvSpPr txBox="1"/>
          <p:nvPr/>
        </p:nvSpPr>
        <p:spPr>
          <a:xfrm>
            <a:off x="804672" y="5175504"/>
            <a:ext cx="640080" cy="201168"/>
          </a:xfrm>
          <a:prstGeom prst="rect">
            <a:avLst/>
          </a:prstGeom>
          <a:noFill/>
          <a:ln/>
        </p:spPr>
        <p:txBody>
          <a:bodyPr wrap="square" lIns="0" tIns="0" rIns="0" bIns="0" rtlCol="0" anchor="ctr"/>
          <a:lstStyle/>
          <a:p>
            <a:pPr algn="l" indent="0" marL="0">
              <a:buNone/>
            </a:pPr>
            <a:r>
              <a:rPr lang="en-US" sz="800" dirty="0">
                <a:solidFill>
                  <a:srgbClr val="93A3B5"/>
                </a:solidFill>
                <a:latin typeface="Arial" pitchFamily="34" charset="0"/>
                <a:ea typeface="Arial" pitchFamily="34" charset="-122"/>
                <a:cs typeface="Arial" pitchFamily="34" charset="-120"/>
              </a:rPr>
              <a:t>Jan</a:t>
            </a:r>
            <a:endParaRPr lang="en-US" sz="800" dirty="0"/>
          </a:p>
        </p:txBody>
      </p:sp>
      <p:sp>
        <p:nvSpPr>
          <p:cNvPr id="19" name="Text 17"/>
          <p:cNvSpPr txBox="1"/>
          <p:nvPr/>
        </p:nvSpPr>
        <p:spPr>
          <a:xfrm>
            <a:off x="2302688" y="5175504"/>
            <a:ext cx="640080" cy="201168"/>
          </a:xfrm>
          <a:prstGeom prst="rect">
            <a:avLst/>
          </a:prstGeom>
          <a:noFill/>
          <a:ln/>
        </p:spPr>
        <p:txBody>
          <a:bodyPr wrap="square" lIns="0" tIns="0" rIns="0" bIns="0" rtlCol="0" anchor="ctr"/>
          <a:lstStyle/>
          <a:p>
            <a:pPr algn="r" indent="0" marL="0">
              <a:buNone/>
            </a:pPr>
            <a:r>
              <a:rPr lang="en-US" sz="800" dirty="0">
                <a:solidFill>
                  <a:srgbClr val="93A3B5"/>
                </a:solidFill>
                <a:latin typeface="Arial" pitchFamily="34" charset="0"/>
                <a:ea typeface="Arial" pitchFamily="34" charset="-122"/>
                <a:cs typeface="Arial" pitchFamily="34" charset="-120"/>
              </a:rPr>
              <a:t>Sep</a:t>
            </a:r>
            <a:endParaRPr lang="en-US" sz="800" dirty="0"/>
          </a:p>
        </p:txBody>
      </p:sp>
      <p:sp>
        <p:nvSpPr>
          <p:cNvPr id="20" name="Text 18"/>
          <p:cNvSpPr txBox="1"/>
          <p:nvPr/>
        </p:nvSpPr>
        <p:spPr>
          <a:xfrm>
            <a:off x="804672" y="5303520"/>
            <a:ext cx="2138096" cy="256032"/>
          </a:xfrm>
          <a:prstGeom prst="rect">
            <a:avLst/>
          </a:prstGeom>
          <a:noFill/>
          <a:ln/>
        </p:spPr>
        <p:txBody>
          <a:bodyPr wrap="square" lIns="0" tIns="0" rIns="0" bIns="0" rtlCol="0" anchor="ctr"/>
          <a:lstStyle/>
          <a:p>
            <a:pPr algn="l" indent="0" marL="0">
              <a:buNone/>
            </a:pPr>
            <a:r>
              <a:rPr lang="en-US" sz="1050" b="1" dirty="0">
                <a:solidFill>
                  <a:srgbClr val="0B1B2E"/>
                </a:solidFill>
                <a:latin typeface="Arial" pitchFamily="34" charset="0"/>
                <a:ea typeface="Arial" pitchFamily="34" charset="-122"/>
                <a:cs typeface="Arial" pitchFamily="34" charset="-120"/>
              </a:rPr>
              <a:t>September  $25K</a:t>
            </a:r>
            <a:endParaRPr lang="en-US" sz="1050" dirty="0"/>
          </a:p>
        </p:txBody>
      </p:sp>
      <p:sp>
        <p:nvSpPr>
          <p:cNvPr id="21" name="proj-Solugen"/>
          <p:cNvSpPr/>
          <p:nvPr/>
        </p:nvSpPr>
        <p:spPr>
          <a:xfrm>
            <a:off x="3381680" y="1517904"/>
            <a:ext cx="2613584" cy="4114800"/>
          </a:xfrm>
          <a:prstGeom prst="roundRect">
            <a:avLst>
              <a:gd name="adj" fmla="val 2099"/>
            </a:avLst>
          </a:prstGeom>
          <a:solidFill>
            <a:srgbClr val="EEF2F7"/>
          </a:solidFill>
          <a:ln/>
        </p:spPr>
      </p:sp>
      <p:sp>
        <p:nvSpPr>
          <p:cNvPr id="22" name="Text 20"/>
          <p:cNvSpPr txBox="1"/>
          <p:nvPr/>
        </p:nvSpPr>
        <p:spPr>
          <a:xfrm>
            <a:off x="3619424" y="1700784"/>
            <a:ext cx="2138096" cy="566928"/>
          </a:xfrm>
          <a:prstGeom prst="rect">
            <a:avLst/>
          </a:prstGeom>
          <a:noFill/>
          <a:ln/>
        </p:spPr>
        <p:txBody>
          <a:bodyPr wrap="square" lIns="0" tIns="0" rIns="0" bIns="0" rtlCol="0" anchor="t"/>
          <a:lstStyle/>
          <a:p>
            <a:pPr algn="l" indent="0" marL="0">
              <a:buNone/>
            </a:pPr>
            <a:r>
              <a:rPr lang="en-US" sz="1300" b="1" dirty="0">
                <a:solidFill>
                  <a:srgbClr val="0B1B2E"/>
                </a:solidFill>
                <a:latin typeface="Arial" pitchFamily="34" charset="0"/>
                <a:ea typeface="Arial" pitchFamily="34" charset="-122"/>
                <a:cs typeface="Arial" pitchFamily="34" charset="-120"/>
              </a:rPr>
              <a:t>Solugen</a:t>
            </a:r>
            <a:endParaRPr lang="en-US" sz="1300" dirty="0"/>
          </a:p>
        </p:txBody>
      </p:sp>
      <p:sp>
        <p:nvSpPr>
          <p:cNvPr id="23" name="Text 21"/>
          <p:cNvSpPr txBox="1"/>
          <p:nvPr/>
        </p:nvSpPr>
        <p:spPr>
          <a:xfrm>
            <a:off x="3619424" y="2304288"/>
            <a:ext cx="2138096" cy="512064"/>
          </a:xfrm>
          <a:prstGeom prst="rect">
            <a:avLst/>
          </a:prstGeom>
          <a:noFill/>
          <a:ln/>
        </p:spPr>
        <p:txBody>
          <a:bodyPr wrap="square" lIns="0" tIns="0" rIns="0" bIns="0" rtlCol="0" anchor="ctr"/>
          <a:lstStyle/>
          <a:p>
            <a:pPr algn="l" indent="0" marL="0">
              <a:buNone/>
            </a:pPr>
            <a:r>
              <a:rPr lang="en-US" sz="2600" b="1" dirty="0">
                <a:solidFill>
                  <a:srgbClr val="0F7DC2"/>
                </a:solidFill>
                <a:latin typeface="Arial" pitchFamily="34" charset="0"/>
                <a:ea typeface="Arial" pitchFamily="34" charset="-122"/>
                <a:cs typeface="Arial" pitchFamily="34" charset="-120"/>
              </a:rPr>
              <a:t>$47K</a:t>
            </a:r>
            <a:endParaRPr lang="en-US" sz="2600" dirty="0"/>
          </a:p>
        </p:txBody>
      </p:sp>
      <p:sp>
        <p:nvSpPr>
          <p:cNvPr id="24" name="Text 22"/>
          <p:cNvSpPr txBox="1"/>
          <p:nvPr/>
        </p:nvSpPr>
        <p:spPr>
          <a:xfrm>
            <a:off x="3619424" y="2798064"/>
            <a:ext cx="2138096" cy="237744"/>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year to date</a:t>
            </a:r>
            <a:endParaRPr lang="en-US" sz="1000" dirty="0"/>
          </a:p>
        </p:txBody>
      </p:sp>
      <p:sp>
        <p:nvSpPr>
          <p:cNvPr id="25" name="aif-spark-1-0"/>
          <p:cNvSpPr/>
          <p:nvPr/>
        </p:nvSpPr>
        <p:spPr>
          <a:xfrm>
            <a:off x="3619424" y="4951873"/>
            <a:ext cx="156794" cy="168767"/>
          </a:xfrm>
          <a:prstGeom prst="rect">
            <a:avLst/>
          </a:prstGeom>
          <a:solidFill>
            <a:srgbClr val="B9C9D8"/>
          </a:solidFill>
          <a:ln/>
        </p:spPr>
      </p:sp>
      <p:sp>
        <p:nvSpPr>
          <p:cNvPr id="26" name="aif-spark-1-1"/>
          <p:cNvSpPr/>
          <p:nvPr/>
        </p:nvSpPr>
        <p:spPr>
          <a:xfrm>
            <a:off x="3856990" y="4955410"/>
            <a:ext cx="156794" cy="165230"/>
          </a:xfrm>
          <a:prstGeom prst="rect">
            <a:avLst/>
          </a:prstGeom>
          <a:solidFill>
            <a:srgbClr val="B9C9D8"/>
          </a:solidFill>
          <a:ln/>
        </p:spPr>
      </p:sp>
      <p:sp>
        <p:nvSpPr>
          <p:cNvPr id="27" name="aif-spark-1-2"/>
          <p:cNvSpPr/>
          <p:nvPr/>
        </p:nvSpPr>
        <p:spPr>
          <a:xfrm>
            <a:off x="4094556" y="4935589"/>
            <a:ext cx="156794" cy="185051"/>
          </a:xfrm>
          <a:prstGeom prst="rect">
            <a:avLst/>
          </a:prstGeom>
          <a:solidFill>
            <a:srgbClr val="B9C9D8"/>
          </a:solidFill>
          <a:ln/>
        </p:spPr>
      </p:sp>
      <p:sp>
        <p:nvSpPr>
          <p:cNvPr id="28" name="aif-spark-1-3"/>
          <p:cNvSpPr/>
          <p:nvPr/>
        </p:nvSpPr>
        <p:spPr>
          <a:xfrm>
            <a:off x="4332122" y="4759367"/>
            <a:ext cx="156794" cy="361273"/>
          </a:xfrm>
          <a:prstGeom prst="rect">
            <a:avLst/>
          </a:prstGeom>
          <a:solidFill>
            <a:srgbClr val="B9C9D8"/>
          </a:solidFill>
          <a:ln/>
        </p:spPr>
      </p:sp>
      <p:sp>
        <p:nvSpPr>
          <p:cNvPr id="29" name="aif-spark-1-4"/>
          <p:cNvSpPr/>
          <p:nvPr/>
        </p:nvSpPr>
        <p:spPr>
          <a:xfrm>
            <a:off x="4569689" y="3200400"/>
            <a:ext cx="156794" cy="1920240"/>
          </a:xfrm>
          <a:prstGeom prst="rect">
            <a:avLst/>
          </a:prstGeom>
          <a:solidFill>
            <a:srgbClr val="B9C9D8"/>
          </a:solidFill>
          <a:ln/>
        </p:spPr>
      </p:sp>
      <p:sp>
        <p:nvSpPr>
          <p:cNvPr id="30" name="aif-spark-1-5"/>
          <p:cNvSpPr/>
          <p:nvPr/>
        </p:nvSpPr>
        <p:spPr>
          <a:xfrm>
            <a:off x="4807255" y="3817859"/>
            <a:ext cx="156794" cy="1302781"/>
          </a:xfrm>
          <a:prstGeom prst="rect">
            <a:avLst/>
          </a:prstGeom>
          <a:solidFill>
            <a:srgbClr val="B9C9D8"/>
          </a:solidFill>
          <a:ln/>
        </p:spPr>
      </p:sp>
      <p:sp>
        <p:nvSpPr>
          <p:cNvPr id="31" name="aif-spark-1-6"/>
          <p:cNvSpPr/>
          <p:nvPr/>
        </p:nvSpPr>
        <p:spPr>
          <a:xfrm>
            <a:off x="5044821" y="3524554"/>
            <a:ext cx="156794" cy="1596086"/>
          </a:xfrm>
          <a:prstGeom prst="rect">
            <a:avLst/>
          </a:prstGeom>
          <a:solidFill>
            <a:srgbClr val="B9C9D8"/>
          </a:solidFill>
          <a:ln/>
        </p:spPr>
      </p:sp>
      <p:sp>
        <p:nvSpPr>
          <p:cNvPr id="32" name="aif-spark-1-7"/>
          <p:cNvSpPr/>
          <p:nvPr/>
        </p:nvSpPr>
        <p:spPr>
          <a:xfrm>
            <a:off x="5282387" y="3756453"/>
            <a:ext cx="156794" cy="1364187"/>
          </a:xfrm>
          <a:prstGeom prst="rect">
            <a:avLst/>
          </a:prstGeom>
          <a:solidFill>
            <a:srgbClr val="B9C9D8"/>
          </a:solidFill>
          <a:ln/>
        </p:spPr>
      </p:sp>
      <p:sp>
        <p:nvSpPr>
          <p:cNvPr id="33" name="aif-spark-1-8"/>
          <p:cNvSpPr/>
          <p:nvPr/>
        </p:nvSpPr>
        <p:spPr>
          <a:xfrm>
            <a:off x="5519953" y="3671045"/>
            <a:ext cx="156794" cy="1449595"/>
          </a:xfrm>
          <a:prstGeom prst="rect">
            <a:avLst/>
          </a:prstGeom>
          <a:solidFill>
            <a:srgbClr val="0F7DC2"/>
          </a:solidFill>
          <a:ln/>
        </p:spPr>
      </p:sp>
      <p:sp>
        <p:nvSpPr>
          <p:cNvPr id="34" name="Text 32"/>
          <p:cNvSpPr txBox="1"/>
          <p:nvPr/>
        </p:nvSpPr>
        <p:spPr>
          <a:xfrm>
            <a:off x="3619424" y="5175504"/>
            <a:ext cx="640080" cy="201168"/>
          </a:xfrm>
          <a:prstGeom prst="rect">
            <a:avLst/>
          </a:prstGeom>
          <a:noFill/>
          <a:ln/>
        </p:spPr>
        <p:txBody>
          <a:bodyPr wrap="square" lIns="0" tIns="0" rIns="0" bIns="0" rtlCol="0" anchor="ctr"/>
          <a:lstStyle/>
          <a:p>
            <a:pPr algn="l" indent="0" marL="0">
              <a:buNone/>
            </a:pPr>
            <a:r>
              <a:rPr lang="en-US" sz="800" dirty="0">
                <a:solidFill>
                  <a:srgbClr val="93A3B5"/>
                </a:solidFill>
                <a:latin typeface="Arial" pitchFamily="34" charset="0"/>
                <a:ea typeface="Arial" pitchFamily="34" charset="-122"/>
                <a:cs typeface="Arial" pitchFamily="34" charset="-120"/>
              </a:rPr>
              <a:t>Jan</a:t>
            </a:r>
            <a:endParaRPr lang="en-US" sz="800" dirty="0"/>
          </a:p>
        </p:txBody>
      </p:sp>
      <p:sp>
        <p:nvSpPr>
          <p:cNvPr id="35" name="Text 33"/>
          <p:cNvSpPr txBox="1"/>
          <p:nvPr/>
        </p:nvSpPr>
        <p:spPr>
          <a:xfrm>
            <a:off x="5117440" y="5175504"/>
            <a:ext cx="640080" cy="201168"/>
          </a:xfrm>
          <a:prstGeom prst="rect">
            <a:avLst/>
          </a:prstGeom>
          <a:noFill/>
          <a:ln/>
        </p:spPr>
        <p:txBody>
          <a:bodyPr wrap="square" lIns="0" tIns="0" rIns="0" bIns="0" rtlCol="0" anchor="ctr"/>
          <a:lstStyle/>
          <a:p>
            <a:pPr algn="r" indent="0" marL="0">
              <a:buNone/>
            </a:pPr>
            <a:r>
              <a:rPr lang="en-US" sz="800" dirty="0">
                <a:solidFill>
                  <a:srgbClr val="93A3B5"/>
                </a:solidFill>
                <a:latin typeface="Arial" pitchFamily="34" charset="0"/>
                <a:ea typeface="Arial" pitchFamily="34" charset="-122"/>
                <a:cs typeface="Arial" pitchFamily="34" charset="-120"/>
              </a:rPr>
              <a:t>Sep</a:t>
            </a:r>
            <a:endParaRPr lang="en-US" sz="800" dirty="0"/>
          </a:p>
        </p:txBody>
      </p:sp>
      <p:sp>
        <p:nvSpPr>
          <p:cNvPr id="36" name="Text 34"/>
          <p:cNvSpPr txBox="1"/>
          <p:nvPr/>
        </p:nvSpPr>
        <p:spPr>
          <a:xfrm>
            <a:off x="3619424" y="5303520"/>
            <a:ext cx="2138096" cy="256032"/>
          </a:xfrm>
          <a:prstGeom prst="rect">
            <a:avLst/>
          </a:prstGeom>
          <a:noFill/>
          <a:ln/>
        </p:spPr>
        <p:txBody>
          <a:bodyPr wrap="square" lIns="0" tIns="0" rIns="0" bIns="0" rtlCol="0" anchor="ctr"/>
          <a:lstStyle/>
          <a:p>
            <a:pPr algn="l" indent="0" marL="0">
              <a:buNone/>
            </a:pPr>
            <a:r>
              <a:rPr lang="en-US" sz="1050" b="1" dirty="0">
                <a:solidFill>
                  <a:srgbClr val="0B1B2E"/>
                </a:solidFill>
                <a:latin typeface="Arial" pitchFamily="34" charset="0"/>
                <a:ea typeface="Arial" pitchFamily="34" charset="-122"/>
                <a:cs typeface="Arial" pitchFamily="34" charset="-120"/>
              </a:rPr>
              <a:t>September  $8K</a:t>
            </a:r>
            <a:endParaRPr lang="en-US" sz="1050" dirty="0"/>
          </a:p>
        </p:txBody>
      </p:sp>
      <p:sp>
        <p:nvSpPr>
          <p:cNvPr id="37" name="proj-Document Intelligence (OCR)"/>
          <p:cNvSpPr/>
          <p:nvPr/>
        </p:nvSpPr>
        <p:spPr>
          <a:xfrm>
            <a:off x="6196432" y="1517904"/>
            <a:ext cx="2613584" cy="4114800"/>
          </a:xfrm>
          <a:prstGeom prst="roundRect">
            <a:avLst>
              <a:gd name="adj" fmla="val 2099"/>
            </a:avLst>
          </a:prstGeom>
          <a:solidFill>
            <a:srgbClr val="EEF2F7"/>
          </a:solidFill>
          <a:ln/>
        </p:spPr>
      </p:sp>
      <p:sp>
        <p:nvSpPr>
          <p:cNvPr id="38" name="Text 36"/>
          <p:cNvSpPr txBox="1"/>
          <p:nvPr/>
        </p:nvSpPr>
        <p:spPr>
          <a:xfrm>
            <a:off x="6434176" y="1700784"/>
            <a:ext cx="2138096" cy="566928"/>
          </a:xfrm>
          <a:prstGeom prst="rect">
            <a:avLst/>
          </a:prstGeom>
          <a:noFill/>
          <a:ln/>
        </p:spPr>
        <p:txBody>
          <a:bodyPr wrap="square" lIns="0" tIns="0" rIns="0" bIns="0" rtlCol="0" anchor="t"/>
          <a:lstStyle/>
          <a:p>
            <a:pPr algn="l" indent="0" marL="0">
              <a:buNone/>
            </a:pPr>
            <a:r>
              <a:rPr lang="en-US" sz="1300" b="1" dirty="0">
                <a:solidFill>
                  <a:srgbClr val="0B1B2E"/>
                </a:solidFill>
                <a:latin typeface="Arial" pitchFamily="34" charset="0"/>
                <a:ea typeface="Arial" pitchFamily="34" charset="-122"/>
                <a:cs typeface="Arial" pitchFamily="34" charset="-120"/>
              </a:rPr>
              <a:t>Document Intelligence (OCR)</a:t>
            </a:r>
            <a:endParaRPr lang="en-US" sz="1300" dirty="0"/>
          </a:p>
        </p:txBody>
      </p:sp>
      <p:sp>
        <p:nvSpPr>
          <p:cNvPr id="39" name="Text 37"/>
          <p:cNvSpPr txBox="1"/>
          <p:nvPr/>
        </p:nvSpPr>
        <p:spPr>
          <a:xfrm>
            <a:off x="6434176" y="2304288"/>
            <a:ext cx="2138096" cy="512064"/>
          </a:xfrm>
          <a:prstGeom prst="rect">
            <a:avLst/>
          </a:prstGeom>
          <a:noFill/>
          <a:ln/>
        </p:spPr>
        <p:txBody>
          <a:bodyPr wrap="square" lIns="0" tIns="0" rIns="0" bIns="0" rtlCol="0" anchor="ctr"/>
          <a:lstStyle/>
          <a:p>
            <a:pPr algn="l" indent="0" marL="0">
              <a:buNone/>
            </a:pPr>
            <a:r>
              <a:rPr lang="en-US" sz="2600" b="1" dirty="0">
                <a:solidFill>
                  <a:srgbClr val="00A878"/>
                </a:solidFill>
                <a:latin typeface="Arial" pitchFamily="34" charset="0"/>
                <a:ea typeface="Arial" pitchFamily="34" charset="-122"/>
                <a:cs typeface="Arial" pitchFamily="34" charset="-120"/>
              </a:rPr>
              <a:t>$43K</a:t>
            </a:r>
            <a:endParaRPr lang="en-US" sz="2600" dirty="0"/>
          </a:p>
        </p:txBody>
      </p:sp>
      <p:sp>
        <p:nvSpPr>
          <p:cNvPr id="40" name="Text 38"/>
          <p:cNvSpPr txBox="1"/>
          <p:nvPr/>
        </p:nvSpPr>
        <p:spPr>
          <a:xfrm>
            <a:off x="6434176" y="2798064"/>
            <a:ext cx="2138096" cy="237744"/>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year to date</a:t>
            </a:r>
            <a:endParaRPr lang="en-US" sz="1000" dirty="0"/>
          </a:p>
        </p:txBody>
      </p:sp>
      <p:sp>
        <p:nvSpPr>
          <p:cNvPr id="41" name="aif-spark-2-0"/>
          <p:cNvSpPr/>
          <p:nvPr/>
        </p:nvSpPr>
        <p:spPr>
          <a:xfrm>
            <a:off x="6434176" y="4004172"/>
            <a:ext cx="156794" cy="1116468"/>
          </a:xfrm>
          <a:prstGeom prst="rect">
            <a:avLst/>
          </a:prstGeom>
          <a:solidFill>
            <a:srgbClr val="B9C9D8"/>
          </a:solidFill>
          <a:ln/>
        </p:spPr>
      </p:sp>
      <p:sp>
        <p:nvSpPr>
          <p:cNvPr id="42" name="aif-spark-2-1"/>
          <p:cNvSpPr/>
          <p:nvPr/>
        </p:nvSpPr>
        <p:spPr>
          <a:xfrm>
            <a:off x="6671742" y="3990715"/>
            <a:ext cx="156794" cy="1129925"/>
          </a:xfrm>
          <a:prstGeom prst="rect">
            <a:avLst/>
          </a:prstGeom>
          <a:solidFill>
            <a:srgbClr val="B9C9D8"/>
          </a:solidFill>
          <a:ln/>
        </p:spPr>
      </p:sp>
      <p:sp>
        <p:nvSpPr>
          <p:cNvPr id="43" name="aif-spark-2-2"/>
          <p:cNvSpPr/>
          <p:nvPr/>
        </p:nvSpPr>
        <p:spPr>
          <a:xfrm>
            <a:off x="6909308" y="4183345"/>
            <a:ext cx="156794" cy="937295"/>
          </a:xfrm>
          <a:prstGeom prst="rect">
            <a:avLst/>
          </a:prstGeom>
          <a:solidFill>
            <a:srgbClr val="B9C9D8"/>
          </a:solidFill>
          <a:ln/>
        </p:spPr>
      </p:sp>
      <p:sp>
        <p:nvSpPr>
          <p:cNvPr id="44" name="aif-spark-2-3"/>
          <p:cNvSpPr/>
          <p:nvPr/>
        </p:nvSpPr>
        <p:spPr>
          <a:xfrm>
            <a:off x="7146874" y="4552775"/>
            <a:ext cx="156794" cy="567865"/>
          </a:xfrm>
          <a:prstGeom prst="rect">
            <a:avLst/>
          </a:prstGeom>
          <a:solidFill>
            <a:srgbClr val="B9C9D8"/>
          </a:solidFill>
          <a:ln/>
        </p:spPr>
      </p:sp>
      <p:sp>
        <p:nvSpPr>
          <p:cNvPr id="45" name="aif-spark-2-4"/>
          <p:cNvSpPr/>
          <p:nvPr/>
        </p:nvSpPr>
        <p:spPr>
          <a:xfrm>
            <a:off x="7384440" y="4233482"/>
            <a:ext cx="156794" cy="887158"/>
          </a:xfrm>
          <a:prstGeom prst="rect">
            <a:avLst/>
          </a:prstGeom>
          <a:solidFill>
            <a:srgbClr val="B9C9D8"/>
          </a:solidFill>
          <a:ln/>
        </p:spPr>
      </p:sp>
      <p:sp>
        <p:nvSpPr>
          <p:cNvPr id="46" name="aif-spark-2-5"/>
          <p:cNvSpPr/>
          <p:nvPr/>
        </p:nvSpPr>
        <p:spPr>
          <a:xfrm>
            <a:off x="7622007" y="3507290"/>
            <a:ext cx="156794" cy="1613350"/>
          </a:xfrm>
          <a:prstGeom prst="rect">
            <a:avLst/>
          </a:prstGeom>
          <a:solidFill>
            <a:srgbClr val="B9C9D8"/>
          </a:solidFill>
          <a:ln/>
        </p:spPr>
      </p:sp>
      <p:sp>
        <p:nvSpPr>
          <p:cNvPr id="47" name="aif-spark-2-6"/>
          <p:cNvSpPr/>
          <p:nvPr/>
        </p:nvSpPr>
        <p:spPr>
          <a:xfrm>
            <a:off x="7859573" y="3200400"/>
            <a:ext cx="156794" cy="1920240"/>
          </a:xfrm>
          <a:prstGeom prst="rect">
            <a:avLst/>
          </a:prstGeom>
          <a:solidFill>
            <a:srgbClr val="B9C9D8"/>
          </a:solidFill>
          <a:ln/>
        </p:spPr>
      </p:sp>
      <p:sp>
        <p:nvSpPr>
          <p:cNvPr id="48" name="aif-spark-2-7"/>
          <p:cNvSpPr/>
          <p:nvPr/>
        </p:nvSpPr>
        <p:spPr>
          <a:xfrm>
            <a:off x="8097139" y="3449237"/>
            <a:ext cx="156794" cy="1671403"/>
          </a:xfrm>
          <a:prstGeom prst="rect">
            <a:avLst/>
          </a:prstGeom>
          <a:solidFill>
            <a:srgbClr val="B9C9D8"/>
          </a:solidFill>
          <a:ln/>
        </p:spPr>
      </p:sp>
      <p:sp>
        <p:nvSpPr>
          <p:cNvPr id="49" name="aif-spark-2-8"/>
          <p:cNvSpPr/>
          <p:nvPr/>
        </p:nvSpPr>
        <p:spPr>
          <a:xfrm>
            <a:off x="8334705" y="3594106"/>
            <a:ext cx="156794" cy="1526534"/>
          </a:xfrm>
          <a:prstGeom prst="rect">
            <a:avLst/>
          </a:prstGeom>
          <a:solidFill>
            <a:srgbClr val="00A878"/>
          </a:solidFill>
          <a:ln/>
        </p:spPr>
      </p:sp>
      <p:sp>
        <p:nvSpPr>
          <p:cNvPr id="50" name="Text 48"/>
          <p:cNvSpPr txBox="1"/>
          <p:nvPr/>
        </p:nvSpPr>
        <p:spPr>
          <a:xfrm>
            <a:off x="6434176" y="5175504"/>
            <a:ext cx="640080" cy="201168"/>
          </a:xfrm>
          <a:prstGeom prst="rect">
            <a:avLst/>
          </a:prstGeom>
          <a:noFill/>
          <a:ln/>
        </p:spPr>
        <p:txBody>
          <a:bodyPr wrap="square" lIns="0" tIns="0" rIns="0" bIns="0" rtlCol="0" anchor="ctr"/>
          <a:lstStyle/>
          <a:p>
            <a:pPr algn="l" indent="0" marL="0">
              <a:buNone/>
            </a:pPr>
            <a:r>
              <a:rPr lang="en-US" sz="800" dirty="0">
                <a:solidFill>
                  <a:srgbClr val="93A3B5"/>
                </a:solidFill>
                <a:latin typeface="Arial" pitchFamily="34" charset="0"/>
                <a:ea typeface="Arial" pitchFamily="34" charset="-122"/>
                <a:cs typeface="Arial" pitchFamily="34" charset="-120"/>
              </a:rPr>
              <a:t>Jan</a:t>
            </a:r>
            <a:endParaRPr lang="en-US" sz="800" dirty="0"/>
          </a:p>
        </p:txBody>
      </p:sp>
      <p:sp>
        <p:nvSpPr>
          <p:cNvPr id="51" name="Text 49"/>
          <p:cNvSpPr txBox="1"/>
          <p:nvPr/>
        </p:nvSpPr>
        <p:spPr>
          <a:xfrm>
            <a:off x="7932191" y="5175504"/>
            <a:ext cx="640080" cy="201168"/>
          </a:xfrm>
          <a:prstGeom prst="rect">
            <a:avLst/>
          </a:prstGeom>
          <a:noFill/>
          <a:ln/>
        </p:spPr>
        <p:txBody>
          <a:bodyPr wrap="square" lIns="0" tIns="0" rIns="0" bIns="0" rtlCol="0" anchor="ctr"/>
          <a:lstStyle/>
          <a:p>
            <a:pPr algn="r" indent="0" marL="0">
              <a:buNone/>
            </a:pPr>
            <a:r>
              <a:rPr lang="en-US" sz="800" dirty="0">
                <a:solidFill>
                  <a:srgbClr val="93A3B5"/>
                </a:solidFill>
                <a:latin typeface="Arial" pitchFamily="34" charset="0"/>
                <a:ea typeface="Arial" pitchFamily="34" charset="-122"/>
                <a:cs typeface="Arial" pitchFamily="34" charset="-120"/>
              </a:rPr>
              <a:t>Sep</a:t>
            </a:r>
            <a:endParaRPr lang="en-US" sz="800" dirty="0"/>
          </a:p>
        </p:txBody>
      </p:sp>
      <p:sp>
        <p:nvSpPr>
          <p:cNvPr id="52" name="Text 50"/>
          <p:cNvSpPr txBox="1"/>
          <p:nvPr/>
        </p:nvSpPr>
        <p:spPr>
          <a:xfrm>
            <a:off x="6434176" y="5303520"/>
            <a:ext cx="2138096" cy="256032"/>
          </a:xfrm>
          <a:prstGeom prst="rect">
            <a:avLst/>
          </a:prstGeom>
          <a:noFill/>
          <a:ln/>
        </p:spPr>
        <p:txBody>
          <a:bodyPr wrap="square" lIns="0" tIns="0" rIns="0" bIns="0" rtlCol="0" anchor="ctr"/>
          <a:lstStyle/>
          <a:p>
            <a:pPr algn="l" indent="0" marL="0">
              <a:buNone/>
            </a:pPr>
            <a:r>
              <a:rPr lang="en-US" sz="1050" b="1" dirty="0">
                <a:solidFill>
                  <a:srgbClr val="0B1B2E"/>
                </a:solidFill>
                <a:latin typeface="Arial" pitchFamily="34" charset="0"/>
                <a:ea typeface="Arial" pitchFamily="34" charset="-122"/>
                <a:cs typeface="Arial" pitchFamily="34" charset="-120"/>
              </a:rPr>
              <a:t>September  $6K</a:t>
            </a:r>
            <a:endParaRPr lang="en-US" sz="1050" dirty="0"/>
          </a:p>
        </p:txBody>
      </p:sp>
      <p:sp>
        <p:nvSpPr>
          <p:cNvPr id="53" name="proj-INSAIT"/>
          <p:cNvSpPr/>
          <p:nvPr/>
        </p:nvSpPr>
        <p:spPr>
          <a:xfrm>
            <a:off x="9011183" y="1517904"/>
            <a:ext cx="2613584" cy="4114800"/>
          </a:xfrm>
          <a:prstGeom prst="roundRect">
            <a:avLst>
              <a:gd name="adj" fmla="val 2099"/>
            </a:avLst>
          </a:prstGeom>
          <a:solidFill>
            <a:srgbClr val="EEF2F7"/>
          </a:solidFill>
          <a:ln/>
        </p:spPr>
      </p:sp>
      <p:sp>
        <p:nvSpPr>
          <p:cNvPr id="54" name="Text 52"/>
          <p:cNvSpPr txBox="1"/>
          <p:nvPr/>
        </p:nvSpPr>
        <p:spPr>
          <a:xfrm>
            <a:off x="9248927" y="1700784"/>
            <a:ext cx="2138096" cy="566928"/>
          </a:xfrm>
          <a:prstGeom prst="rect">
            <a:avLst/>
          </a:prstGeom>
          <a:noFill/>
          <a:ln/>
        </p:spPr>
        <p:txBody>
          <a:bodyPr wrap="square" lIns="0" tIns="0" rIns="0" bIns="0" rtlCol="0" anchor="t"/>
          <a:lstStyle/>
          <a:p>
            <a:pPr algn="l" indent="0" marL="0">
              <a:buNone/>
            </a:pPr>
            <a:r>
              <a:rPr lang="en-US" sz="1300" b="1" dirty="0">
                <a:solidFill>
                  <a:srgbClr val="0B1B2E"/>
                </a:solidFill>
                <a:latin typeface="Arial" pitchFamily="34" charset="0"/>
                <a:ea typeface="Arial" pitchFamily="34" charset="-122"/>
                <a:cs typeface="Arial" pitchFamily="34" charset="-120"/>
              </a:rPr>
              <a:t>INSAIT</a:t>
            </a:r>
            <a:endParaRPr lang="en-US" sz="1300" dirty="0"/>
          </a:p>
        </p:txBody>
      </p:sp>
      <p:sp>
        <p:nvSpPr>
          <p:cNvPr id="55" name="Text 53"/>
          <p:cNvSpPr txBox="1"/>
          <p:nvPr/>
        </p:nvSpPr>
        <p:spPr>
          <a:xfrm>
            <a:off x="9248927" y="2304288"/>
            <a:ext cx="2138096" cy="512064"/>
          </a:xfrm>
          <a:prstGeom prst="rect">
            <a:avLst/>
          </a:prstGeom>
          <a:noFill/>
          <a:ln/>
        </p:spPr>
        <p:txBody>
          <a:bodyPr wrap="square" lIns="0" tIns="0" rIns="0" bIns="0" rtlCol="0" anchor="ctr"/>
          <a:lstStyle/>
          <a:p>
            <a:pPr algn="l" indent="0" marL="0">
              <a:buNone/>
            </a:pPr>
            <a:r>
              <a:rPr lang="en-US" sz="2600" b="1" dirty="0">
                <a:solidFill>
                  <a:srgbClr val="F2A900"/>
                </a:solidFill>
                <a:latin typeface="Arial" pitchFamily="34" charset="0"/>
                <a:ea typeface="Arial" pitchFamily="34" charset="-122"/>
                <a:cs typeface="Arial" pitchFamily="34" charset="-120"/>
              </a:rPr>
              <a:t>$16K</a:t>
            </a:r>
            <a:endParaRPr lang="en-US" sz="2600" dirty="0"/>
          </a:p>
        </p:txBody>
      </p:sp>
      <p:sp>
        <p:nvSpPr>
          <p:cNvPr id="56" name="Text 54"/>
          <p:cNvSpPr txBox="1"/>
          <p:nvPr/>
        </p:nvSpPr>
        <p:spPr>
          <a:xfrm>
            <a:off x="9248927" y="2798064"/>
            <a:ext cx="2138096" cy="237744"/>
          </a:xfrm>
          <a:prstGeom prst="rect">
            <a:avLst/>
          </a:prstGeom>
          <a:noFill/>
          <a:ln/>
        </p:spPr>
        <p:txBody>
          <a:bodyPr wrap="square" lIns="0" tIns="0" rIns="0" bIns="0" rtlCol="0" anchor="ctr"/>
          <a:lstStyle/>
          <a:p>
            <a:pPr algn="l" indent="0" marL="0">
              <a:buNone/>
            </a:pPr>
            <a:r>
              <a:rPr lang="en-US" sz="1000" dirty="0">
                <a:solidFill>
                  <a:srgbClr val="5B6B7E"/>
                </a:solidFill>
                <a:latin typeface="Arial" pitchFamily="34" charset="0"/>
                <a:ea typeface="Arial" pitchFamily="34" charset="-122"/>
                <a:cs typeface="Arial" pitchFamily="34" charset="-120"/>
              </a:rPr>
              <a:t>year to date</a:t>
            </a:r>
            <a:endParaRPr lang="en-US" sz="1000" dirty="0"/>
          </a:p>
        </p:txBody>
      </p:sp>
      <p:sp>
        <p:nvSpPr>
          <p:cNvPr id="57" name="aif-spark-3-0"/>
          <p:cNvSpPr/>
          <p:nvPr/>
        </p:nvSpPr>
        <p:spPr>
          <a:xfrm>
            <a:off x="9248927" y="4394574"/>
            <a:ext cx="156794" cy="726066"/>
          </a:xfrm>
          <a:prstGeom prst="rect">
            <a:avLst/>
          </a:prstGeom>
          <a:solidFill>
            <a:srgbClr val="B9C9D8"/>
          </a:solidFill>
          <a:ln/>
        </p:spPr>
      </p:sp>
      <p:sp>
        <p:nvSpPr>
          <p:cNvPr id="58" name="aif-spark-3-1"/>
          <p:cNvSpPr/>
          <p:nvPr/>
        </p:nvSpPr>
        <p:spPr>
          <a:xfrm>
            <a:off x="9486494" y="3814085"/>
            <a:ext cx="156794" cy="1306555"/>
          </a:xfrm>
          <a:prstGeom prst="rect">
            <a:avLst/>
          </a:prstGeom>
          <a:solidFill>
            <a:srgbClr val="B9C9D8"/>
          </a:solidFill>
          <a:ln/>
        </p:spPr>
      </p:sp>
      <p:sp>
        <p:nvSpPr>
          <p:cNvPr id="59" name="aif-spark-3-2"/>
          <p:cNvSpPr/>
          <p:nvPr/>
        </p:nvSpPr>
        <p:spPr>
          <a:xfrm>
            <a:off x="9724060" y="4188849"/>
            <a:ext cx="156794" cy="931791"/>
          </a:xfrm>
          <a:prstGeom prst="rect">
            <a:avLst/>
          </a:prstGeom>
          <a:solidFill>
            <a:srgbClr val="B9C9D8"/>
          </a:solidFill>
          <a:ln/>
        </p:spPr>
      </p:sp>
      <p:sp>
        <p:nvSpPr>
          <p:cNvPr id="60" name="aif-spark-3-3"/>
          <p:cNvSpPr/>
          <p:nvPr/>
        </p:nvSpPr>
        <p:spPr>
          <a:xfrm>
            <a:off x="9961626" y="4196358"/>
            <a:ext cx="156794" cy="924282"/>
          </a:xfrm>
          <a:prstGeom prst="rect">
            <a:avLst/>
          </a:prstGeom>
          <a:solidFill>
            <a:srgbClr val="B9C9D8"/>
          </a:solidFill>
          <a:ln/>
        </p:spPr>
      </p:sp>
      <p:sp>
        <p:nvSpPr>
          <p:cNvPr id="61" name="aif-spark-3-4"/>
          <p:cNvSpPr/>
          <p:nvPr/>
        </p:nvSpPr>
        <p:spPr>
          <a:xfrm>
            <a:off x="10199192" y="4126730"/>
            <a:ext cx="156794" cy="993910"/>
          </a:xfrm>
          <a:prstGeom prst="rect">
            <a:avLst/>
          </a:prstGeom>
          <a:solidFill>
            <a:srgbClr val="B9C9D8"/>
          </a:solidFill>
          <a:ln/>
        </p:spPr>
      </p:sp>
      <p:sp>
        <p:nvSpPr>
          <p:cNvPr id="62" name="aif-spark-3-5"/>
          <p:cNvSpPr/>
          <p:nvPr/>
        </p:nvSpPr>
        <p:spPr>
          <a:xfrm>
            <a:off x="10436758" y="4025513"/>
            <a:ext cx="156794" cy="1095127"/>
          </a:xfrm>
          <a:prstGeom prst="rect">
            <a:avLst/>
          </a:prstGeom>
          <a:solidFill>
            <a:srgbClr val="B9C9D8"/>
          </a:solidFill>
          <a:ln/>
        </p:spPr>
      </p:sp>
      <p:sp>
        <p:nvSpPr>
          <p:cNvPr id="63" name="aif-spark-3-6"/>
          <p:cNvSpPr/>
          <p:nvPr/>
        </p:nvSpPr>
        <p:spPr>
          <a:xfrm>
            <a:off x="10674325" y="3766983"/>
            <a:ext cx="156794" cy="1353657"/>
          </a:xfrm>
          <a:prstGeom prst="rect">
            <a:avLst/>
          </a:prstGeom>
          <a:solidFill>
            <a:srgbClr val="B9C9D8"/>
          </a:solidFill>
          <a:ln/>
        </p:spPr>
      </p:sp>
      <p:sp>
        <p:nvSpPr>
          <p:cNvPr id="64" name="aif-spark-3-7"/>
          <p:cNvSpPr/>
          <p:nvPr/>
        </p:nvSpPr>
        <p:spPr>
          <a:xfrm>
            <a:off x="10911891" y="3200400"/>
            <a:ext cx="156794" cy="1920240"/>
          </a:xfrm>
          <a:prstGeom prst="rect">
            <a:avLst/>
          </a:prstGeom>
          <a:solidFill>
            <a:srgbClr val="B9C9D8"/>
          </a:solidFill>
          <a:ln/>
        </p:spPr>
      </p:sp>
      <p:sp>
        <p:nvSpPr>
          <p:cNvPr id="65" name="aif-spark-3-8"/>
          <p:cNvSpPr/>
          <p:nvPr/>
        </p:nvSpPr>
        <p:spPr>
          <a:xfrm>
            <a:off x="11149457" y="3325321"/>
            <a:ext cx="156794" cy="1795319"/>
          </a:xfrm>
          <a:prstGeom prst="rect">
            <a:avLst/>
          </a:prstGeom>
          <a:solidFill>
            <a:srgbClr val="F2A900"/>
          </a:solidFill>
          <a:ln/>
        </p:spPr>
      </p:sp>
      <p:sp>
        <p:nvSpPr>
          <p:cNvPr id="66" name="Text 64"/>
          <p:cNvSpPr txBox="1"/>
          <p:nvPr/>
        </p:nvSpPr>
        <p:spPr>
          <a:xfrm>
            <a:off x="9248927" y="5175504"/>
            <a:ext cx="640080" cy="201168"/>
          </a:xfrm>
          <a:prstGeom prst="rect">
            <a:avLst/>
          </a:prstGeom>
          <a:noFill/>
          <a:ln/>
        </p:spPr>
        <p:txBody>
          <a:bodyPr wrap="square" lIns="0" tIns="0" rIns="0" bIns="0" rtlCol="0" anchor="ctr"/>
          <a:lstStyle/>
          <a:p>
            <a:pPr algn="l" indent="0" marL="0">
              <a:buNone/>
            </a:pPr>
            <a:r>
              <a:rPr lang="en-US" sz="800" dirty="0">
                <a:solidFill>
                  <a:srgbClr val="93A3B5"/>
                </a:solidFill>
                <a:latin typeface="Arial" pitchFamily="34" charset="0"/>
                <a:ea typeface="Arial" pitchFamily="34" charset="-122"/>
                <a:cs typeface="Arial" pitchFamily="34" charset="-120"/>
              </a:rPr>
              <a:t>Jan</a:t>
            </a:r>
            <a:endParaRPr lang="en-US" sz="800" dirty="0"/>
          </a:p>
        </p:txBody>
      </p:sp>
      <p:sp>
        <p:nvSpPr>
          <p:cNvPr id="67" name="Text 65"/>
          <p:cNvSpPr txBox="1"/>
          <p:nvPr/>
        </p:nvSpPr>
        <p:spPr>
          <a:xfrm>
            <a:off x="10746943" y="5175504"/>
            <a:ext cx="640080" cy="201168"/>
          </a:xfrm>
          <a:prstGeom prst="rect">
            <a:avLst/>
          </a:prstGeom>
          <a:noFill/>
          <a:ln/>
        </p:spPr>
        <p:txBody>
          <a:bodyPr wrap="square" lIns="0" tIns="0" rIns="0" bIns="0" rtlCol="0" anchor="ctr"/>
          <a:lstStyle/>
          <a:p>
            <a:pPr algn="r" indent="0" marL="0">
              <a:buNone/>
            </a:pPr>
            <a:r>
              <a:rPr lang="en-US" sz="800" dirty="0">
                <a:solidFill>
                  <a:srgbClr val="93A3B5"/>
                </a:solidFill>
                <a:latin typeface="Arial" pitchFamily="34" charset="0"/>
                <a:ea typeface="Arial" pitchFamily="34" charset="-122"/>
                <a:cs typeface="Arial" pitchFamily="34" charset="-120"/>
              </a:rPr>
              <a:t>Sep</a:t>
            </a:r>
            <a:endParaRPr lang="en-US" sz="800" dirty="0"/>
          </a:p>
        </p:txBody>
      </p:sp>
      <p:sp>
        <p:nvSpPr>
          <p:cNvPr id="68" name="Text 66"/>
          <p:cNvSpPr txBox="1"/>
          <p:nvPr/>
        </p:nvSpPr>
        <p:spPr>
          <a:xfrm>
            <a:off x="9248927" y="5303520"/>
            <a:ext cx="2138096" cy="256032"/>
          </a:xfrm>
          <a:prstGeom prst="rect">
            <a:avLst/>
          </a:prstGeom>
          <a:noFill/>
          <a:ln/>
        </p:spPr>
        <p:txBody>
          <a:bodyPr wrap="square" lIns="0" tIns="0" rIns="0" bIns="0" rtlCol="0" anchor="ctr"/>
          <a:lstStyle/>
          <a:p>
            <a:pPr algn="l" indent="0" marL="0">
              <a:buNone/>
            </a:pPr>
            <a:r>
              <a:rPr lang="en-US" sz="1050" b="1" dirty="0">
                <a:solidFill>
                  <a:srgbClr val="0B1B2E"/>
                </a:solidFill>
                <a:latin typeface="Arial" pitchFamily="34" charset="0"/>
                <a:ea typeface="Arial" pitchFamily="34" charset="-122"/>
                <a:cs typeface="Arial" pitchFamily="34" charset="-120"/>
              </a:rPr>
              <a:t>September  $3K</a:t>
            </a:r>
            <a:endParaRPr lang="en-US" sz="1050" dirty="0"/>
          </a:p>
        </p:txBody>
      </p:sp>
      <p:sp>
        <p:nvSpPr>
          <p:cNvPr id="69"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Sparklines are scaled to each project’s own maximum month. Programme total $246K year to date.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7C5CFF"/>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AI FOUNDRY</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Foundry models and tools: $120K across 37 SKUs</a:t>
            </a:r>
            <a:endParaRPr lang="en-US" sz="2800" dirty="0"/>
          </a:p>
        </p:txBody>
      </p:sp>
      <p:graphicFrame>
        <p:nvGraphicFramePr>
          <p:cNvPr id="5" name="Chart 0" descr=""/>
          <p:cNvGraphicFramePr/>
          <p:nvPr/>
        </p:nvGraphicFramePr>
        <p:xfrm>
          <a:off x="457200" y="1517904"/>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panel"/>
          <p:cNvSpPr/>
          <p:nvPr/>
        </p:nvSpPr>
        <p:spPr>
          <a:xfrm>
            <a:off x="7973568" y="1517904"/>
            <a:ext cx="3651199" cy="4114800"/>
          </a:xfrm>
          <a:prstGeom prst="roundRect">
            <a:avLst>
              <a:gd name="adj" fmla="val 1503"/>
            </a:avLst>
          </a:prstGeom>
          <a:solidFill>
            <a:srgbClr val="EEF2F7"/>
          </a:solidFill>
          <a:ln/>
        </p:spPr>
      </p:sp>
      <p:sp>
        <p:nvSpPr>
          <p:cNvPr id="7" name="Text 4"/>
          <p:cNvSpPr txBox="1"/>
          <p:nvPr/>
        </p:nvSpPr>
        <p:spPr>
          <a:xfrm>
            <a:off x="8229600" y="1719072"/>
            <a:ext cx="3108960" cy="292608"/>
          </a:xfrm>
          <a:prstGeom prst="rect">
            <a:avLst/>
          </a:prstGeom>
          <a:noFill/>
          <a:ln/>
        </p:spPr>
        <p:txBody>
          <a:bodyPr wrap="square" lIns="0" tIns="0" rIns="0" bIns="0" rtlCol="0" anchor="ctr"/>
          <a:lstStyle/>
          <a:p>
            <a:pPr algn="l" indent="0" marL="0">
              <a:buNone/>
            </a:pPr>
            <a:r>
              <a:rPr lang="en-US" sz="1300" b="1" dirty="0">
                <a:solidFill>
                  <a:srgbClr val="0B1B2E"/>
                </a:solidFill>
                <a:latin typeface="Arial" pitchFamily="34" charset="0"/>
                <a:ea typeface="Arial" pitchFamily="34" charset="-122"/>
                <a:cs typeface="Arial" pitchFamily="34" charset="-120"/>
              </a:rPr>
              <a:t>Largest SKUs, year to date</a:t>
            </a:r>
            <a:endParaRPr lang="en-US" sz="1300" dirty="0"/>
          </a:p>
        </p:txBody>
      </p:sp>
      <p:sp>
        <p:nvSpPr>
          <p:cNvPr id="8" name="Text 5"/>
          <p:cNvSpPr txBox="1"/>
          <p:nvPr/>
        </p:nvSpPr>
        <p:spPr>
          <a:xfrm>
            <a:off x="8229600" y="210312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S0 Custom Pages</a:t>
            </a:r>
            <a:endParaRPr lang="en-US" sz="1000" dirty="0"/>
          </a:p>
        </p:txBody>
      </p:sp>
      <p:sp>
        <p:nvSpPr>
          <p:cNvPr id="9" name="rank-bar-0"/>
          <p:cNvSpPr/>
          <p:nvPr/>
        </p:nvSpPr>
        <p:spPr>
          <a:xfrm>
            <a:off x="10003536" y="2189988"/>
            <a:ext cx="548640" cy="137160"/>
          </a:xfrm>
          <a:prstGeom prst="rect">
            <a:avLst/>
          </a:prstGeom>
          <a:solidFill>
            <a:srgbClr val="7C5CFF"/>
          </a:solidFill>
          <a:ln/>
        </p:spPr>
      </p:sp>
      <p:sp>
        <p:nvSpPr>
          <p:cNvPr id="10" name="Text 7"/>
          <p:cNvSpPr txBox="1"/>
          <p:nvPr/>
        </p:nvSpPr>
        <p:spPr>
          <a:xfrm>
            <a:off x="10643616" y="210312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$22K</a:t>
            </a:r>
            <a:endParaRPr lang="en-US" sz="1050" dirty="0"/>
          </a:p>
        </p:txBody>
      </p:sp>
      <p:sp>
        <p:nvSpPr>
          <p:cNvPr id="11" name="Text 8"/>
          <p:cNvSpPr txBox="1"/>
          <p:nvPr/>
        </p:nvSpPr>
        <p:spPr>
          <a:xfrm>
            <a:off x="8229600" y="248716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5.4 opt</a:t>
            </a:r>
            <a:endParaRPr lang="en-US" sz="1000" dirty="0"/>
          </a:p>
        </p:txBody>
      </p:sp>
      <p:sp>
        <p:nvSpPr>
          <p:cNvPr id="12" name="rank-bar-1"/>
          <p:cNvSpPr/>
          <p:nvPr/>
        </p:nvSpPr>
        <p:spPr>
          <a:xfrm>
            <a:off x="10003536" y="2574036"/>
            <a:ext cx="475028" cy="137160"/>
          </a:xfrm>
          <a:prstGeom prst="rect">
            <a:avLst/>
          </a:prstGeom>
          <a:solidFill>
            <a:srgbClr val="7C5CFF"/>
          </a:solidFill>
          <a:ln/>
        </p:spPr>
      </p:sp>
      <p:sp>
        <p:nvSpPr>
          <p:cNvPr id="13" name="Text 10"/>
          <p:cNvSpPr txBox="1"/>
          <p:nvPr/>
        </p:nvSpPr>
        <p:spPr>
          <a:xfrm>
            <a:off x="10643616" y="248716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$19K</a:t>
            </a:r>
            <a:endParaRPr lang="en-US" sz="1050" dirty="0"/>
          </a:p>
        </p:txBody>
      </p:sp>
      <p:sp>
        <p:nvSpPr>
          <p:cNvPr id="14" name="Text 11"/>
          <p:cNvSpPr txBox="1"/>
          <p:nvPr/>
        </p:nvSpPr>
        <p:spPr>
          <a:xfrm>
            <a:off x="8229600" y="287121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5.4 inp</a:t>
            </a:r>
            <a:endParaRPr lang="en-US" sz="1000" dirty="0"/>
          </a:p>
        </p:txBody>
      </p:sp>
      <p:sp>
        <p:nvSpPr>
          <p:cNvPr id="15" name="rank-bar-2"/>
          <p:cNvSpPr/>
          <p:nvPr/>
        </p:nvSpPr>
        <p:spPr>
          <a:xfrm>
            <a:off x="10003536" y="2958084"/>
            <a:ext cx="449274" cy="137160"/>
          </a:xfrm>
          <a:prstGeom prst="rect">
            <a:avLst/>
          </a:prstGeom>
          <a:solidFill>
            <a:srgbClr val="7C5CFF"/>
          </a:solidFill>
          <a:ln/>
        </p:spPr>
      </p:sp>
      <p:sp>
        <p:nvSpPr>
          <p:cNvPr id="16" name="Text 13"/>
          <p:cNvSpPr txBox="1"/>
          <p:nvPr/>
        </p:nvSpPr>
        <p:spPr>
          <a:xfrm>
            <a:off x="10643616" y="287121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$18K</a:t>
            </a:r>
            <a:endParaRPr lang="en-US" sz="1050" dirty="0"/>
          </a:p>
        </p:txBody>
      </p:sp>
      <p:sp>
        <p:nvSpPr>
          <p:cNvPr id="17" name="Text 14"/>
          <p:cNvSpPr txBox="1"/>
          <p:nvPr/>
        </p:nvSpPr>
        <p:spPr>
          <a:xfrm>
            <a:off x="8229600" y="3255264"/>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S0 Pre-built Pages</a:t>
            </a:r>
            <a:endParaRPr lang="en-US" sz="1000" dirty="0"/>
          </a:p>
        </p:txBody>
      </p:sp>
      <p:sp>
        <p:nvSpPr>
          <p:cNvPr id="18" name="rank-bar-3"/>
          <p:cNvSpPr/>
          <p:nvPr/>
        </p:nvSpPr>
        <p:spPr>
          <a:xfrm>
            <a:off x="10003536" y="3342132"/>
            <a:ext cx="363287" cy="137160"/>
          </a:xfrm>
          <a:prstGeom prst="rect">
            <a:avLst/>
          </a:prstGeom>
          <a:solidFill>
            <a:srgbClr val="7C5CFF"/>
          </a:solidFill>
          <a:ln/>
        </p:spPr>
      </p:sp>
      <p:sp>
        <p:nvSpPr>
          <p:cNvPr id="19" name="Text 16"/>
          <p:cNvSpPr txBox="1"/>
          <p:nvPr/>
        </p:nvSpPr>
        <p:spPr>
          <a:xfrm>
            <a:off x="10643616" y="3255264"/>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$15K</a:t>
            </a:r>
            <a:endParaRPr lang="en-US" sz="1050" dirty="0"/>
          </a:p>
        </p:txBody>
      </p:sp>
      <p:sp>
        <p:nvSpPr>
          <p:cNvPr id="20" name="Text 17"/>
          <p:cNvSpPr txBox="1"/>
          <p:nvPr/>
        </p:nvSpPr>
        <p:spPr>
          <a:xfrm>
            <a:off x="8229600" y="3639312"/>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4o 0513</a:t>
            </a:r>
            <a:endParaRPr lang="en-US" sz="1000" dirty="0"/>
          </a:p>
        </p:txBody>
      </p:sp>
      <p:sp>
        <p:nvSpPr>
          <p:cNvPr id="21" name="rank-bar-4"/>
          <p:cNvSpPr/>
          <p:nvPr/>
        </p:nvSpPr>
        <p:spPr>
          <a:xfrm>
            <a:off x="10003536" y="3726180"/>
            <a:ext cx="211480" cy="137160"/>
          </a:xfrm>
          <a:prstGeom prst="rect">
            <a:avLst/>
          </a:prstGeom>
          <a:solidFill>
            <a:srgbClr val="7C5CFF"/>
          </a:solidFill>
          <a:ln/>
        </p:spPr>
      </p:sp>
      <p:sp>
        <p:nvSpPr>
          <p:cNvPr id="22" name="Text 19"/>
          <p:cNvSpPr txBox="1"/>
          <p:nvPr/>
        </p:nvSpPr>
        <p:spPr>
          <a:xfrm>
            <a:off x="10643616" y="3639312"/>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$8K</a:t>
            </a:r>
            <a:endParaRPr lang="en-US" sz="1050" dirty="0"/>
          </a:p>
        </p:txBody>
      </p:sp>
      <p:sp>
        <p:nvSpPr>
          <p:cNvPr id="23" name="Text 20"/>
          <p:cNvSpPr txBox="1"/>
          <p:nvPr/>
        </p:nvSpPr>
        <p:spPr>
          <a:xfrm>
            <a:off x="8229600" y="4023360"/>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4o 1120</a:t>
            </a:r>
            <a:endParaRPr lang="en-US" sz="1000" dirty="0"/>
          </a:p>
        </p:txBody>
      </p:sp>
      <p:sp>
        <p:nvSpPr>
          <p:cNvPr id="24" name="rank-bar-5"/>
          <p:cNvSpPr/>
          <p:nvPr/>
        </p:nvSpPr>
        <p:spPr>
          <a:xfrm>
            <a:off x="10003536" y="4110228"/>
            <a:ext cx="179514" cy="137160"/>
          </a:xfrm>
          <a:prstGeom prst="rect">
            <a:avLst/>
          </a:prstGeom>
          <a:solidFill>
            <a:srgbClr val="7C5CFF"/>
          </a:solidFill>
          <a:ln/>
        </p:spPr>
      </p:sp>
      <p:sp>
        <p:nvSpPr>
          <p:cNvPr id="25" name="Text 22"/>
          <p:cNvSpPr txBox="1"/>
          <p:nvPr/>
        </p:nvSpPr>
        <p:spPr>
          <a:xfrm>
            <a:off x="10643616" y="4023360"/>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$7K</a:t>
            </a:r>
            <a:endParaRPr lang="en-US" sz="1050" dirty="0"/>
          </a:p>
        </p:txBody>
      </p:sp>
      <p:sp>
        <p:nvSpPr>
          <p:cNvPr id="26" name="Text 23"/>
          <p:cNvSpPr txBox="1"/>
          <p:nvPr/>
        </p:nvSpPr>
        <p:spPr>
          <a:xfrm>
            <a:off x="8229600" y="4407408"/>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5</a:t>
            </a:r>
            <a:endParaRPr lang="en-US" sz="1000" dirty="0"/>
          </a:p>
        </p:txBody>
      </p:sp>
      <p:sp>
        <p:nvSpPr>
          <p:cNvPr id="27" name="rank-bar-6"/>
          <p:cNvSpPr/>
          <p:nvPr/>
        </p:nvSpPr>
        <p:spPr>
          <a:xfrm>
            <a:off x="10003536" y="4494276"/>
            <a:ext cx="169986" cy="137160"/>
          </a:xfrm>
          <a:prstGeom prst="rect">
            <a:avLst/>
          </a:prstGeom>
          <a:solidFill>
            <a:srgbClr val="7C5CFF"/>
          </a:solidFill>
          <a:ln/>
        </p:spPr>
      </p:sp>
      <p:sp>
        <p:nvSpPr>
          <p:cNvPr id="28" name="Text 25"/>
          <p:cNvSpPr txBox="1"/>
          <p:nvPr/>
        </p:nvSpPr>
        <p:spPr>
          <a:xfrm>
            <a:off x="10643616" y="4407408"/>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$7K</a:t>
            </a:r>
            <a:endParaRPr lang="en-US" sz="1050" dirty="0"/>
          </a:p>
        </p:txBody>
      </p:sp>
      <p:sp>
        <p:nvSpPr>
          <p:cNvPr id="29" name="Text 26"/>
          <p:cNvSpPr txBox="1"/>
          <p:nvPr/>
        </p:nvSpPr>
        <p:spPr>
          <a:xfrm>
            <a:off x="8229600" y="4791456"/>
            <a:ext cx="1682496" cy="310896"/>
          </a:xfrm>
          <a:prstGeom prst="rect">
            <a:avLst/>
          </a:prstGeom>
          <a:noFill/>
          <a:ln/>
        </p:spPr>
        <p:txBody>
          <a:bodyPr wrap="square" lIns="0" tIns="0" rIns="0" bIns="0" rtlCol="0" anchor="ctr"/>
          <a:lstStyle/>
          <a:p>
            <a:pPr algn="l" indent="0" marL="0">
              <a:buNone/>
            </a:pPr>
            <a:r>
              <a:rPr lang="en-US" sz="1000" dirty="0">
                <a:solidFill>
                  <a:srgbClr val="0B1B2E"/>
                </a:solidFill>
                <a:latin typeface="Arial" pitchFamily="34" charset="0"/>
                <a:ea typeface="Arial" pitchFamily="34" charset="-122"/>
                <a:cs typeface="Arial" pitchFamily="34" charset="-120"/>
              </a:rPr>
              <a:t>GPT 5.1</a:t>
            </a:r>
            <a:endParaRPr lang="en-US" sz="1000" dirty="0"/>
          </a:p>
        </p:txBody>
      </p:sp>
      <p:sp>
        <p:nvSpPr>
          <p:cNvPr id="30" name="rank-bar-7"/>
          <p:cNvSpPr/>
          <p:nvPr/>
        </p:nvSpPr>
        <p:spPr>
          <a:xfrm>
            <a:off x="10003536" y="4878324"/>
            <a:ext cx="119260" cy="137160"/>
          </a:xfrm>
          <a:prstGeom prst="rect">
            <a:avLst/>
          </a:prstGeom>
          <a:solidFill>
            <a:srgbClr val="7C5CFF"/>
          </a:solidFill>
          <a:ln/>
        </p:spPr>
      </p:sp>
      <p:sp>
        <p:nvSpPr>
          <p:cNvPr id="31" name="Text 28"/>
          <p:cNvSpPr txBox="1"/>
          <p:nvPr/>
        </p:nvSpPr>
        <p:spPr>
          <a:xfrm>
            <a:off x="10643616" y="4791456"/>
            <a:ext cx="731520" cy="310896"/>
          </a:xfrm>
          <a:prstGeom prst="rect">
            <a:avLst/>
          </a:prstGeom>
          <a:noFill/>
          <a:ln/>
        </p:spPr>
        <p:txBody>
          <a:bodyPr wrap="square" lIns="0" tIns="0" rIns="0" bIns="0" rtlCol="0" anchor="ctr"/>
          <a:lstStyle/>
          <a:p>
            <a:pPr algn="r" indent="0" marL="0">
              <a:buNone/>
            </a:pPr>
            <a:r>
              <a:rPr lang="en-US" sz="1050" b="1" dirty="0">
                <a:solidFill>
                  <a:srgbClr val="0B1B2E"/>
                </a:solidFill>
                <a:latin typeface="Arial" pitchFamily="34" charset="0"/>
                <a:ea typeface="Arial" pitchFamily="34" charset="-122"/>
                <a:cs typeface="Arial" pitchFamily="34" charset="-120"/>
              </a:rPr>
              <a:t>$5K</a:t>
            </a:r>
            <a:endParaRPr lang="en-US" sz="1050" dirty="0"/>
          </a:p>
        </p:txBody>
      </p:sp>
      <p:sp>
        <p:nvSpPr>
          <p:cNvPr id="3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Document-intelligence page SKUs (S0 Custom / Pre-built / Add-on) and the 5.4 model family dominate.</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00A878"/>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NORTH EUROPE EXIT</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Decommissioning North Europe removed $5,871 a month</a:t>
            </a:r>
            <a:endParaRPr lang="en-US" sz="2800" dirty="0"/>
          </a:p>
        </p:txBody>
      </p:sp>
      <p:sp>
        <p:nvSpPr>
          <p:cNvPr id="5" name="Text 3"/>
          <p:cNvSpPr txBox="1"/>
          <p:nvPr/>
        </p:nvSpPr>
        <p:spPr>
          <a:xfrm>
            <a:off x="566928" y="1517904"/>
            <a:ext cx="2615184" cy="310896"/>
          </a:xfrm>
          <a:prstGeom prst="rect">
            <a:avLst/>
          </a:prstGeom>
          <a:noFill/>
          <a:ln/>
        </p:spPr>
        <p:txBody>
          <a:bodyPr wrap="square" lIns="0" tIns="0" rIns="0" bIns="0" rtlCol="0" anchor="ctr"/>
          <a:lstStyle/>
          <a:p>
            <a:pPr algn="l" indent="0" marL="0">
              <a:buNone/>
            </a:pPr>
            <a:r>
              <a:rPr lang="en-US" sz="1050" b="1" spc="80" kern="0" dirty="0">
                <a:solidFill>
                  <a:srgbClr val="5B6B7E"/>
                </a:solidFill>
                <a:latin typeface="Arial" pitchFamily="34" charset="0"/>
                <a:ea typeface="Arial" pitchFamily="34" charset="-122"/>
                <a:cs typeface="Arial" pitchFamily="34" charset="-120"/>
              </a:rPr>
              <a:t>Service</a:t>
            </a:r>
            <a:endParaRPr lang="en-US" sz="1050" dirty="0"/>
          </a:p>
        </p:txBody>
      </p:sp>
      <p:sp>
        <p:nvSpPr>
          <p:cNvPr id="6" name="Text 4"/>
          <p:cNvSpPr txBox="1"/>
          <p:nvPr/>
        </p:nvSpPr>
        <p:spPr>
          <a:xfrm>
            <a:off x="3310128" y="1517904"/>
            <a:ext cx="133502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Prod</a:t>
            </a:r>
            <a:endParaRPr lang="en-US" sz="1050" dirty="0"/>
          </a:p>
        </p:txBody>
      </p:sp>
      <p:sp>
        <p:nvSpPr>
          <p:cNvPr id="7" name="Text 5"/>
          <p:cNvSpPr txBox="1"/>
          <p:nvPr/>
        </p:nvSpPr>
        <p:spPr>
          <a:xfrm>
            <a:off x="4773168" y="1517904"/>
            <a:ext cx="160934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SAP Production</a:t>
            </a:r>
            <a:endParaRPr lang="en-US" sz="1050" dirty="0"/>
          </a:p>
        </p:txBody>
      </p:sp>
      <p:sp>
        <p:nvSpPr>
          <p:cNvPr id="8" name="Text 6"/>
          <p:cNvSpPr txBox="1"/>
          <p:nvPr/>
        </p:nvSpPr>
        <p:spPr>
          <a:xfrm>
            <a:off x="6510528" y="1517904"/>
            <a:ext cx="174650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Shared Resources</a:t>
            </a:r>
            <a:endParaRPr lang="en-US" sz="1050" dirty="0"/>
          </a:p>
        </p:txBody>
      </p:sp>
      <p:sp>
        <p:nvSpPr>
          <p:cNvPr id="9" name="Text 7"/>
          <p:cNvSpPr txBox="1"/>
          <p:nvPr/>
        </p:nvSpPr>
        <p:spPr>
          <a:xfrm>
            <a:off x="8385048" y="1517904"/>
            <a:ext cx="969264" cy="310896"/>
          </a:xfrm>
          <a:prstGeom prst="rect">
            <a:avLst/>
          </a:prstGeom>
          <a:noFill/>
          <a:ln/>
        </p:spPr>
        <p:txBody>
          <a:bodyPr wrap="square" lIns="0" tIns="0" rIns="0" bIns="0" rtlCol="0" anchor="ctr"/>
          <a:lstStyle/>
          <a:p>
            <a:pPr algn="r" indent="0" marL="0">
              <a:buNone/>
            </a:pPr>
            <a:r>
              <a:rPr lang="en-US" sz="1050" b="1" spc="80" kern="0" dirty="0">
                <a:solidFill>
                  <a:srgbClr val="5B6B7E"/>
                </a:solidFill>
                <a:latin typeface="Arial" pitchFamily="34" charset="0"/>
                <a:ea typeface="Arial" pitchFamily="34" charset="-122"/>
                <a:cs typeface="Arial" pitchFamily="34" charset="-120"/>
              </a:rPr>
              <a:t>Total</a:t>
            </a:r>
            <a:endParaRPr lang="en-US" sz="1050" dirty="0"/>
          </a:p>
        </p:txBody>
      </p:sp>
      <p:sp>
        <p:nvSpPr>
          <p:cNvPr id="10" name="ne-0"/>
          <p:cNvSpPr/>
          <p:nvPr/>
        </p:nvSpPr>
        <p:spPr>
          <a:xfrm>
            <a:off x="475488" y="1883664"/>
            <a:ext cx="9015984" cy="315468"/>
          </a:xfrm>
          <a:prstGeom prst="roundRect">
            <a:avLst>
              <a:gd name="adj" fmla="val 17391"/>
            </a:avLst>
          </a:prstGeom>
          <a:solidFill>
            <a:srgbClr val="F6F8FB"/>
          </a:solidFill>
          <a:ln/>
        </p:spPr>
      </p:sp>
      <p:sp>
        <p:nvSpPr>
          <p:cNvPr id="11" name="Text 9"/>
          <p:cNvSpPr txBox="1"/>
          <p:nvPr/>
        </p:nvSpPr>
        <p:spPr>
          <a:xfrm>
            <a:off x="566928" y="1883664"/>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Virtual Machines</a:t>
            </a:r>
            <a:endParaRPr lang="en-US" sz="1100" dirty="0"/>
          </a:p>
        </p:txBody>
      </p:sp>
      <p:sp>
        <p:nvSpPr>
          <p:cNvPr id="12" name="Text 10"/>
          <p:cNvSpPr txBox="1"/>
          <p:nvPr/>
        </p:nvSpPr>
        <p:spPr>
          <a:xfrm>
            <a:off x="3310128" y="1883664"/>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$154</a:t>
            </a:r>
            <a:endParaRPr lang="en-US" sz="1100" dirty="0"/>
          </a:p>
        </p:txBody>
      </p:sp>
      <p:sp>
        <p:nvSpPr>
          <p:cNvPr id="13" name="Text 11"/>
          <p:cNvSpPr txBox="1"/>
          <p:nvPr/>
        </p:nvSpPr>
        <p:spPr>
          <a:xfrm>
            <a:off x="4773168" y="1883664"/>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$1,661</a:t>
            </a:r>
            <a:endParaRPr lang="en-US" sz="1100" dirty="0"/>
          </a:p>
        </p:txBody>
      </p:sp>
      <p:sp>
        <p:nvSpPr>
          <p:cNvPr id="14" name="Text 12"/>
          <p:cNvSpPr txBox="1"/>
          <p:nvPr/>
        </p:nvSpPr>
        <p:spPr>
          <a:xfrm>
            <a:off x="6510528" y="1883664"/>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$550</a:t>
            </a:r>
            <a:endParaRPr lang="en-US" sz="1100" dirty="0"/>
          </a:p>
        </p:txBody>
      </p:sp>
      <p:sp>
        <p:nvSpPr>
          <p:cNvPr id="15" name="Text 13"/>
          <p:cNvSpPr txBox="1"/>
          <p:nvPr/>
        </p:nvSpPr>
        <p:spPr>
          <a:xfrm>
            <a:off x="8385048" y="1883664"/>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$2,365</a:t>
            </a:r>
            <a:endParaRPr lang="en-US" sz="1100" dirty="0"/>
          </a:p>
        </p:txBody>
      </p:sp>
      <p:sp>
        <p:nvSpPr>
          <p:cNvPr id="16" name="Text 14"/>
          <p:cNvSpPr txBox="1"/>
          <p:nvPr/>
        </p:nvSpPr>
        <p:spPr>
          <a:xfrm>
            <a:off x="566928" y="2208276"/>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Storage</a:t>
            </a:r>
            <a:endParaRPr lang="en-US" sz="1100" dirty="0"/>
          </a:p>
        </p:txBody>
      </p:sp>
      <p:sp>
        <p:nvSpPr>
          <p:cNvPr id="17" name="Text 15"/>
          <p:cNvSpPr txBox="1"/>
          <p:nvPr/>
        </p:nvSpPr>
        <p:spPr>
          <a:xfrm>
            <a:off x="3310128" y="2208276"/>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$7</a:t>
            </a:r>
            <a:endParaRPr lang="en-US" sz="1100" dirty="0"/>
          </a:p>
        </p:txBody>
      </p:sp>
      <p:sp>
        <p:nvSpPr>
          <p:cNvPr id="18" name="Text 16"/>
          <p:cNvSpPr txBox="1"/>
          <p:nvPr/>
        </p:nvSpPr>
        <p:spPr>
          <a:xfrm>
            <a:off x="4773168" y="2208276"/>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$1,868</a:t>
            </a:r>
            <a:endParaRPr lang="en-US" sz="1100" dirty="0"/>
          </a:p>
        </p:txBody>
      </p:sp>
      <p:sp>
        <p:nvSpPr>
          <p:cNvPr id="19" name="Text 17"/>
          <p:cNvSpPr txBox="1"/>
          <p:nvPr/>
        </p:nvSpPr>
        <p:spPr>
          <a:xfrm>
            <a:off x="6510528" y="2208276"/>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$109</a:t>
            </a:r>
            <a:endParaRPr lang="en-US" sz="1100" dirty="0"/>
          </a:p>
        </p:txBody>
      </p:sp>
      <p:sp>
        <p:nvSpPr>
          <p:cNvPr id="20" name="Text 18"/>
          <p:cNvSpPr txBox="1"/>
          <p:nvPr/>
        </p:nvSpPr>
        <p:spPr>
          <a:xfrm>
            <a:off x="8385048" y="2208276"/>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$1,984</a:t>
            </a:r>
            <a:endParaRPr lang="en-US" sz="1100" dirty="0"/>
          </a:p>
        </p:txBody>
      </p:sp>
      <p:sp>
        <p:nvSpPr>
          <p:cNvPr id="21" name="ne-2"/>
          <p:cNvSpPr/>
          <p:nvPr/>
        </p:nvSpPr>
        <p:spPr>
          <a:xfrm>
            <a:off x="475488" y="2532888"/>
            <a:ext cx="9015984" cy="315468"/>
          </a:xfrm>
          <a:prstGeom prst="roundRect">
            <a:avLst>
              <a:gd name="adj" fmla="val 17391"/>
            </a:avLst>
          </a:prstGeom>
          <a:solidFill>
            <a:srgbClr val="F6F8FB"/>
          </a:solidFill>
          <a:ln/>
        </p:spPr>
      </p:sp>
      <p:sp>
        <p:nvSpPr>
          <p:cNvPr id="22" name="Text 20"/>
          <p:cNvSpPr txBox="1"/>
          <p:nvPr/>
        </p:nvSpPr>
        <p:spPr>
          <a:xfrm>
            <a:off x="566928" y="2532888"/>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VPN Gateway</a:t>
            </a:r>
            <a:endParaRPr lang="en-US" sz="1100" dirty="0"/>
          </a:p>
        </p:txBody>
      </p:sp>
      <p:sp>
        <p:nvSpPr>
          <p:cNvPr id="23" name="Text 21"/>
          <p:cNvSpPr txBox="1"/>
          <p:nvPr/>
        </p:nvSpPr>
        <p:spPr>
          <a:xfrm>
            <a:off x="3310128" y="2532888"/>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$930</a:t>
            </a:r>
            <a:endParaRPr lang="en-US" sz="1100" dirty="0"/>
          </a:p>
        </p:txBody>
      </p:sp>
      <p:sp>
        <p:nvSpPr>
          <p:cNvPr id="24" name="Text 22"/>
          <p:cNvSpPr txBox="1"/>
          <p:nvPr/>
        </p:nvSpPr>
        <p:spPr>
          <a:xfrm>
            <a:off x="4773168" y="2532888"/>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25" name="Text 23"/>
          <p:cNvSpPr txBox="1"/>
          <p:nvPr/>
        </p:nvSpPr>
        <p:spPr>
          <a:xfrm>
            <a:off x="6510528" y="2532888"/>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26" name="Text 24"/>
          <p:cNvSpPr txBox="1"/>
          <p:nvPr/>
        </p:nvSpPr>
        <p:spPr>
          <a:xfrm>
            <a:off x="8385048" y="2532888"/>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$930</a:t>
            </a:r>
            <a:endParaRPr lang="en-US" sz="1100" dirty="0"/>
          </a:p>
        </p:txBody>
      </p:sp>
      <p:sp>
        <p:nvSpPr>
          <p:cNvPr id="27" name="Text 25"/>
          <p:cNvSpPr txBox="1"/>
          <p:nvPr/>
        </p:nvSpPr>
        <p:spPr>
          <a:xfrm>
            <a:off x="566928" y="2857500"/>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Azure Site Recovery</a:t>
            </a:r>
            <a:endParaRPr lang="en-US" sz="1100" dirty="0"/>
          </a:p>
        </p:txBody>
      </p:sp>
      <p:sp>
        <p:nvSpPr>
          <p:cNvPr id="28" name="Text 26"/>
          <p:cNvSpPr txBox="1"/>
          <p:nvPr/>
        </p:nvSpPr>
        <p:spPr>
          <a:xfrm>
            <a:off x="3310128" y="2857500"/>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29" name="Text 27"/>
          <p:cNvSpPr txBox="1"/>
          <p:nvPr/>
        </p:nvSpPr>
        <p:spPr>
          <a:xfrm>
            <a:off x="4773168" y="2857500"/>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30" name="Text 28"/>
          <p:cNvSpPr txBox="1"/>
          <p:nvPr/>
        </p:nvSpPr>
        <p:spPr>
          <a:xfrm>
            <a:off x="6510528" y="2857500"/>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$200</a:t>
            </a:r>
            <a:endParaRPr lang="en-US" sz="1100" dirty="0"/>
          </a:p>
        </p:txBody>
      </p:sp>
      <p:sp>
        <p:nvSpPr>
          <p:cNvPr id="31" name="Text 29"/>
          <p:cNvSpPr txBox="1"/>
          <p:nvPr/>
        </p:nvSpPr>
        <p:spPr>
          <a:xfrm>
            <a:off x="8385048" y="2857500"/>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$200</a:t>
            </a:r>
            <a:endParaRPr lang="en-US" sz="1100" dirty="0"/>
          </a:p>
        </p:txBody>
      </p:sp>
      <p:sp>
        <p:nvSpPr>
          <p:cNvPr id="32" name="ne-4"/>
          <p:cNvSpPr/>
          <p:nvPr/>
        </p:nvSpPr>
        <p:spPr>
          <a:xfrm>
            <a:off x="475488" y="3182112"/>
            <a:ext cx="9015984" cy="315468"/>
          </a:xfrm>
          <a:prstGeom prst="roundRect">
            <a:avLst>
              <a:gd name="adj" fmla="val 17391"/>
            </a:avLst>
          </a:prstGeom>
          <a:solidFill>
            <a:srgbClr val="F6F8FB"/>
          </a:solidFill>
          <a:ln/>
        </p:spPr>
      </p:sp>
      <p:sp>
        <p:nvSpPr>
          <p:cNvPr id="33" name="Text 31"/>
          <p:cNvSpPr txBox="1"/>
          <p:nvPr/>
        </p:nvSpPr>
        <p:spPr>
          <a:xfrm>
            <a:off x="566928" y="3182112"/>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Azure DNS</a:t>
            </a:r>
            <a:endParaRPr lang="en-US" sz="1100" dirty="0"/>
          </a:p>
        </p:txBody>
      </p:sp>
      <p:sp>
        <p:nvSpPr>
          <p:cNvPr id="34" name="Text 32"/>
          <p:cNvSpPr txBox="1"/>
          <p:nvPr/>
        </p:nvSpPr>
        <p:spPr>
          <a:xfrm>
            <a:off x="3310128" y="3182112"/>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$180</a:t>
            </a:r>
            <a:endParaRPr lang="en-US" sz="1100" dirty="0"/>
          </a:p>
        </p:txBody>
      </p:sp>
      <p:sp>
        <p:nvSpPr>
          <p:cNvPr id="35" name="Text 33"/>
          <p:cNvSpPr txBox="1"/>
          <p:nvPr/>
        </p:nvSpPr>
        <p:spPr>
          <a:xfrm>
            <a:off x="4773168" y="3182112"/>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36" name="Text 34"/>
          <p:cNvSpPr txBox="1"/>
          <p:nvPr/>
        </p:nvSpPr>
        <p:spPr>
          <a:xfrm>
            <a:off x="6510528" y="3182112"/>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37" name="Text 35"/>
          <p:cNvSpPr txBox="1"/>
          <p:nvPr/>
        </p:nvSpPr>
        <p:spPr>
          <a:xfrm>
            <a:off x="8385048" y="3182112"/>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$180</a:t>
            </a:r>
            <a:endParaRPr lang="en-US" sz="1100" dirty="0"/>
          </a:p>
        </p:txBody>
      </p:sp>
      <p:sp>
        <p:nvSpPr>
          <p:cNvPr id="38" name="Text 36"/>
          <p:cNvSpPr txBox="1"/>
          <p:nvPr/>
        </p:nvSpPr>
        <p:spPr>
          <a:xfrm>
            <a:off x="566928" y="3506724"/>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Virtual Network</a:t>
            </a:r>
            <a:endParaRPr lang="en-US" sz="1100" dirty="0"/>
          </a:p>
        </p:txBody>
      </p:sp>
      <p:sp>
        <p:nvSpPr>
          <p:cNvPr id="39" name="Text 37"/>
          <p:cNvSpPr txBox="1"/>
          <p:nvPr/>
        </p:nvSpPr>
        <p:spPr>
          <a:xfrm>
            <a:off x="3310128" y="3506724"/>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$18</a:t>
            </a:r>
            <a:endParaRPr lang="en-US" sz="1100" dirty="0"/>
          </a:p>
        </p:txBody>
      </p:sp>
      <p:sp>
        <p:nvSpPr>
          <p:cNvPr id="40" name="Text 38"/>
          <p:cNvSpPr txBox="1"/>
          <p:nvPr/>
        </p:nvSpPr>
        <p:spPr>
          <a:xfrm>
            <a:off x="4773168" y="3506724"/>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$70</a:t>
            </a:r>
            <a:endParaRPr lang="en-US" sz="1100" dirty="0"/>
          </a:p>
        </p:txBody>
      </p:sp>
      <p:sp>
        <p:nvSpPr>
          <p:cNvPr id="41" name="Text 39"/>
          <p:cNvSpPr txBox="1"/>
          <p:nvPr/>
        </p:nvSpPr>
        <p:spPr>
          <a:xfrm>
            <a:off x="6510528" y="3506724"/>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a:t>
            </a:r>
            <a:endParaRPr lang="en-US" sz="1100" dirty="0"/>
          </a:p>
        </p:txBody>
      </p:sp>
      <p:sp>
        <p:nvSpPr>
          <p:cNvPr id="42" name="Text 40"/>
          <p:cNvSpPr txBox="1"/>
          <p:nvPr/>
        </p:nvSpPr>
        <p:spPr>
          <a:xfrm>
            <a:off x="8385048" y="3506724"/>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$91</a:t>
            </a:r>
            <a:endParaRPr lang="en-US" sz="1100" dirty="0"/>
          </a:p>
        </p:txBody>
      </p:sp>
      <p:sp>
        <p:nvSpPr>
          <p:cNvPr id="43" name="ne-6"/>
          <p:cNvSpPr/>
          <p:nvPr/>
        </p:nvSpPr>
        <p:spPr>
          <a:xfrm>
            <a:off x="475488" y="3831336"/>
            <a:ext cx="9015984" cy="315468"/>
          </a:xfrm>
          <a:prstGeom prst="roundRect">
            <a:avLst>
              <a:gd name="adj" fmla="val 17391"/>
            </a:avLst>
          </a:prstGeom>
          <a:solidFill>
            <a:srgbClr val="F6F8FB"/>
          </a:solidFill>
          <a:ln/>
        </p:spPr>
      </p:sp>
      <p:sp>
        <p:nvSpPr>
          <p:cNvPr id="44" name="Text 42"/>
          <p:cNvSpPr txBox="1"/>
          <p:nvPr/>
        </p:nvSpPr>
        <p:spPr>
          <a:xfrm>
            <a:off x="566928" y="3831336"/>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Bandwidth</a:t>
            </a:r>
            <a:endParaRPr lang="en-US" sz="1100" dirty="0"/>
          </a:p>
        </p:txBody>
      </p:sp>
      <p:sp>
        <p:nvSpPr>
          <p:cNvPr id="45" name="Text 43"/>
          <p:cNvSpPr txBox="1"/>
          <p:nvPr/>
        </p:nvSpPr>
        <p:spPr>
          <a:xfrm>
            <a:off x="3310128" y="3831336"/>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$25</a:t>
            </a:r>
            <a:endParaRPr lang="en-US" sz="1100" dirty="0"/>
          </a:p>
        </p:txBody>
      </p:sp>
      <p:sp>
        <p:nvSpPr>
          <p:cNvPr id="46" name="Text 44"/>
          <p:cNvSpPr txBox="1"/>
          <p:nvPr/>
        </p:nvSpPr>
        <p:spPr>
          <a:xfrm>
            <a:off x="4773168" y="3831336"/>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a:t>
            </a:r>
            <a:endParaRPr lang="en-US" sz="1100" dirty="0"/>
          </a:p>
        </p:txBody>
      </p:sp>
      <p:sp>
        <p:nvSpPr>
          <p:cNvPr id="47" name="Text 45"/>
          <p:cNvSpPr txBox="1"/>
          <p:nvPr/>
        </p:nvSpPr>
        <p:spPr>
          <a:xfrm>
            <a:off x="6510528" y="3831336"/>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$9</a:t>
            </a:r>
            <a:endParaRPr lang="en-US" sz="1100" dirty="0"/>
          </a:p>
        </p:txBody>
      </p:sp>
      <p:sp>
        <p:nvSpPr>
          <p:cNvPr id="48" name="Text 46"/>
          <p:cNvSpPr txBox="1"/>
          <p:nvPr/>
        </p:nvSpPr>
        <p:spPr>
          <a:xfrm>
            <a:off x="8385048" y="3831336"/>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$37</a:t>
            </a:r>
            <a:endParaRPr lang="en-US" sz="1100" dirty="0"/>
          </a:p>
        </p:txBody>
      </p:sp>
      <p:sp>
        <p:nvSpPr>
          <p:cNvPr id="49" name="Text 47"/>
          <p:cNvSpPr txBox="1"/>
          <p:nvPr/>
        </p:nvSpPr>
        <p:spPr>
          <a:xfrm>
            <a:off x="566928" y="4155948"/>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NAT Gateway</a:t>
            </a:r>
            <a:endParaRPr lang="en-US" sz="1100" dirty="0"/>
          </a:p>
        </p:txBody>
      </p:sp>
      <p:sp>
        <p:nvSpPr>
          <p:cNvPr id="50" name="Text 48"/>
          <p:cNvSpPr txBox="1"/>
          <p:nvPr/>
        </p:nvSpPr>
        <p:spPr>
          <a:xfrm>
            <a:off x="3310128" y="4155948"/>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$35</a:t>
            </a:r>
            <a:endParaRPr lang="en-US" sz="1100" dirty="0"/>
          </a:p>
        </p:txBody>
      </p:sp>
      <p:sp>
        <p:nvSpPr>
          <p:cNvPr id="51" name="Text 49"/>
          <p:cNvSpPr txBox="1"/>
          <p:nvPr/>
        </p:nvSpPr>
        <p:spPr>
          <a:xfrm>
            <a:off x="4773168" y="4155948"/>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2" name="Text 50"/>
          <p:cNvSpPr txBox="1"/>
          <p:nvPr/>
        </p:nvSpPr>
        <p:spPr>
          <a:xfrm>
            <a:off x="6510528" y="4155948"/>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3" name="Text 51"/>
          <p:cNvSpPr txBox="1"/>
          <p:nvPr/>
        </p:nvSpPr>
        <p:spPr>
          <a:xfrm>
            <a:off x="8385048" y="4155948"/>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$35</a:t>
            </a:r>
            <a:endParaRPr lang="en-US" sz="1100" dirty="0"/>
          </a:p>
        </p:txBody>
      </p:sp>
      <p:sp>
        <p:nvSpPr>
          <p:cNvPr id="54" name="ne-8"/>
          <p:cNvSpPr/>
          <p:nvPr/>
        </p:nvSpPr>
        <p:spPr>
          <a:xfrm>
            <a:off x="475488" y="4480560"/>
            <a:ext cx="9015984" cy="315468"/>
          </a:xfrm>
          <a:prstGeom prst="roundRect">
            <a:avLst>
              <a:gd name="adj" fmla="val 17391"/>
            </a:avLst>
          </a:prstGeom>
          <a:solidFill>
            <a:srgbClr val="F6F8FB"/>
          </a:solidFill>
          <a:ln/>
        </p:spPr>
      </p:sp>
      <p:sp>
        <p:nvSpPr>
          <p:cNvPr id="55" name="Text 53"/>
          <p:cNvSpPr txBox="1"/>
          <p:nvPr/>
        </p:nvSpPr>
        <p:spPr>
          <a:xfrm>
            <a:off x="566928" y="4480560"/>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Microsoft Defender for Cloud</a:t>
            </a:r>
            <a:endParaRPr lang="en-US" sz="1100" dirty="0"/>
          </a:p>
        </p:txBody>
      </p:sp>
      <p:sp>
        <p:nvSpPr>
          <p:cNvPr id="56" name="Text 54"/>
          <p:cNvSpPr txBox="1"/>
          <p:nvPr/>
        </p:nvSpPr>
        <p:spPr>
          <a:xfrm>
            <a:off x="3310128" y="4480560"/>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$30</a:t>
            </a:r>
            <a:endParaRPr lang="en-US" sz="1100" dirty="0"/>
          </a:p>
        </p:txBody>
      </p:sp>
      <p:sp>
        <p:nvSpPr>
          <p:cNvPr id="57" name="Text 55"/>
          <p:cNvSpPr txBox="1"/>
          <p:nvPr/>
        </p:nvSpPr>
        <p:spPr>
          <a:xfrm>
            <a:off x="4773168" y="4480560"/>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8" name="Text 56"/>
          <p:cNvSpPr txBox="1"/>
          <p:nvPr/>
        </p:nvSpPr>
        <p:spPr>
          <a:xfrm>
            <a:off x="6510528" y="4480560"/>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59" name="Text 57"/>
          <p:cNvSpPr txBox="1"/>
          <p:nvPr/>
        </p:nvSpPr>
        <p:spPr>
          <a:xfrm>
            <a:off x="8385048" y="4480560"/>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$30</a:t>
            </a:r>
            <a:endParaRPr lang="en-US" sz="1100" dirty="0"/>
          </a:p>
        </p:txBody>
      </p:sp>
      <p:sp>
        <p:nvSpPr>
          <p:cNvPr id="60" name="Text 58"/>
          <p:cNvSpPr txBox="1"/>
          <p:nvPr/>
        </p:nvSpPr>
        <p:spPr>
          <a:xfrm>
            <a:off x="566928" y="4805172"/>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Load Balancer</a:t>
            </a:r>
            <a:endParaRPr lang="en-US" sz="1100" dirty="0"/>
          </a:p>
        </p:txBody>
      </p:sp>
      <p:sp>
        <p:nvSpPr>
          <p:cNvPr id="61" name="Text 59"/>
          <p:cNvSpPr txBox="1"/>
          <p:nvPr/>
        </p:nvSpPr>
        <p:spPr>
          <a:xfrm>
            <a:off x="3310128" y="4805172"/>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$19</a:t>
            </a:r>
            <a:endParaRPr lang="en-US" sz="1100" dirty="0"/>
          </a:p>
        </p:txBody>
      </p:sp>
      <p:sp>
        <p:nvSpPr>
          <p:cNvPr id="62" name="Text 60"/>
          <p:cNvSpPr txBox="1"/>
          <p:nvPr/>
        </p:nvSpPr>
        <p:spPr>
          <a:xfrm>
            <a:off x="4773168" y="4805172"/>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3" name="Text 61"/>
          <p:cNvSpPr txBox="1"/>
          <p:nvPr/>
        </p:nvSpPr>
        <p:spPr>
          <a:xfrm>
            <a:off x="6510528" y="4805172"/>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4" name="Text 62"/>
          <p:cNvSpPr txBox="1"/>
          <p:nvPr/>
        </p:nvSpPr>
        <p:spPr>
          <a:xfrm>
            <a:off x="8385048" y="4805172"/>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$19</a:t>
            </a:r>
            <a:endParaRPr lang="en-US" sz="1100" dirty="0"/>
          </a:p>
        </p:txBody>
      </p:sp>
      <p:sp>
        <p:nvSpPr>
          <p:cNvPr id="65" name="ne-10"/>
          <p:cNvSpPr/>
          <p:nvPr/>
        </p:nvSpPr>
        <p:spPr>
          <a:xfrm>
            <a:off x="475488" y="5129784"/>
            <a:ext cx="9015984" cy="315468"/>
          </a:xfrm>
          <a:prstGeom prst="roundRect">
            <a:avLst>
              <a:gd name="adj" fmla="val 17391"/>
            </a:avLst>
          </a:prstGeom>
          <a:solidFill>
            <a:srgbClr val="F6F8FB"/>
          </a:solidFill>
          <a:ln/>
        </p:spPr>
      </p:sp>
      <p:sp>
        <p:nvSpPr>
          <p:cNvPr id="66" name="Text 64"/>
          <p:cNvSpPr txBox="1"/>
          <p:nvPr/>
        </p:nvSpPr>
        <p:spPr>
          <a:xfrm>
            <a:off x="566928" y="5129784"/>
            <a:ext cx="2615184" cy="315468"/>
          </a:xfrm>
          <a:prstGeom prst="rect">
            <a:avLst/>
          </a:prstGeom>
          <a:noFill/>
          <a:ln/>
        </p:spPr>
        <p:txBody>
          <a:bodyPr wrap="square" lIns="0" tIns="0" rIns="0" bIns="0" rtlCol="0" anchor="ctr"/>
          <a:lstStyle/>
          <a:p>
            <a:pPr algn="l" indent="0" marL="0">
              <a:buNone/>
            </a:pPr>
            <a:r>
              <a:rPr lang="en-US" sz="1100" dirty="0">
                <a:solidFill>
                  <a:srgbClr val="5B6B7E"/>
                </a:solidFill>
                <a:latin typeface="Arial" pitchFamily="34" charset="0"/>
                <a:ea typeface="Arial" pitchFamily="34" charset="-122"/>
                <a:cs typeface="Arial" pitchFamily="34" charset="-120"/>
              </a:rPr>
              <a:t>Automation</a:t>
            </a:r>
            <a:endParaRPr lang="en-US" sz="1100" dirty="0"/>
          </a:p>
        </p:txBody>
      </p:sp>
      <p:sp>
        <p:nvSpPr>
          <p:cNvPr id="67" name="Text 65"/>
          <p:cNvSpPr txBox="1"/>
          <p:nvPr/>
        </p:nvSpPr>
        <p:spPr>
          <a:xfrm>
            <a:off x="3310128" y="5129784"/>
            <a:ext cx="133502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8" name="Text 66"/>
          <p:cNvSpPr txBox="1"/>
          <p:nvPr/>
        </p:nvSpPr>
        <p:spPr>
          <a:xfrm>
            <a:off x="4773168" y="5129784"/>
            <a:ext cx="160934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69" name="Text 67"/>
          <p:cNvSpPr txBox="1"/>
          <p:nvPr/>
        </p:nvSpPr>
        <p:spPr>
          <a:xfrm>
            <a:off x="6510528" y="5129784"/>
            <a:ext cx="1746504" cy="315468"/>
          </a:xfrm>
          <a:prstGeom prst="rect">
            <a:avLst/>
          </a:prstGeom>
          <a:noFill/>
          <a:ln/>
        </p:spPr>
        <p:txBody>
          <a:bodyPr wrap="square" lIns="0" tIns="0" rIns="0" bIns="0" rtlCol="0" anchor="ctr"/>
          <a:lstStyle/>
          <a:p>
            <a:pPr algn="r" indent="0" marL="0">
              <a:buNone/>
            </a:pPr>
            <a:r>
              <a:rPr lang="en-US" sz="1100" dirty="0">
                <a:solidFill>
                  <a:srgbClr val="5B6B7E"/>
                </a:solidFill>
                <a:latin typeface="Arial" pitchFamily="34" charset="0"/>
                <a:ea typeface="Arial" pitchFamily="34" charset="-122"/>
                <a:cs typeface="Arial" pitchFamily="34" charset="-120"/>
              </a:rPr>
              <a:t>—</a:t>
            </a:r>
            <a:endParaRPr lang="en-US" sz="1100" dirty="0"/>
          </a:p>
        </p:txBody>
      </p:sp>
      <p:sp>
        <p:nvSpPr>
          <p:cNvPr id="70" name="Text 68"/>
          <p:cNvSpPr txBox="1"/>
          <p:nvPr/>
        </p:nvSpPr>
        <p:spPr>
          <a:xfrm>
            <a:off x="8385048" y="5129784"/>
            <a:ext cx="969264" cy="315468"/>
          </a:xfrm>
          <a:prstGeom prst="rect">
            <a:avLst/>
          </a:prstGeom>
          <a:noFill/>
          <a:ln/>
        </p:spPr>
        <p:txBody>
          <a:bodyPr wrap="square" lIns="0" tIns="0" rIns="0" bIns="0" rtlCol="0" anchor="ctr"/>
          <a:lstStyle/>
          <a:p>
            <a:pPr algn="r" indent="0" marL="0">
              <a:buNone/>
            </a:pPr>
            <a:r>
              <a:rPr lang="en-US" sz="1100" b="1" dirty="0">
                <a:solidFill>
                  <a:srgbClr val="0B1B2E"/>
                </a:solidFill>
                <a:latin typeface="Arial" pitchFamily="34" charset="0"/>
                <a:ea typeface="Arial" pitchFamily="34" charset="-122"/>
                <a:cs typeface="Arial" pitchFamily="34" charset="-120"/>
              </a:rPr>
              <a:t>—</a:t>
            </a:r>
            <a:endParaRPr lang="en-US" sz="1100" dirty="0"/>
          </a:p>
        </p:txBody>
      </p:sp>
      <p:sp>
        <p:nvSpPr>
          <p:cNvPr id="71" name="panel"/>
          <p:cNvSpPr/>
          <p:nvPr/>
        </p:nvSpPr>
        <p:spPr>
          <a:xfrm>
            <a:off x="475488" y="5509260"/>
            <a:ext cx="9015984" cy="384048"/>
          </a:xfrm>
          <a:prstGeom prst="roundRect">
            <a:avLst>
              <a:gd name="adj" fmla="val 14286"/>
            </a:avLst>
          </a:prstGeom>
          <a:solidFill>
            <a:srgbClr val="E3F5EE"/>
          </a:solidFill>
          <a:ln/>
        </p:spPr>
      </p:sp>
      <p:sp>
        <p:nvSpPr>
          <p:cNvPr id="72" name="Text 70"/>
          <p:cNvSpPr txBox="1"/>
          <p:nvPr/>
        </p:nvSpPr>
        <p:spPr>
          <a:xfrm>
            <a:off x="566928" y="5509260"/>
            <a:ext cx="2615184" cy="384048"/>
          </a:xfrm>
          <a:prstGeom prst="rect">
            <a:avLst/>
          </a:prstGeom>
          <a:noFill/>
          <a:ln/>
        </p:spPr>
        <p:txBody>
          <a:bodyPr wrap="square" lIns="0" tIns="0" rIns="0" bIns="0" rtlCol="0" anchor="ctr"/>
          <a:lstStyle/>
          <a:p>
            <a:pPr algn="l" indent="0" marL="0">
              <a:buNone/>
            </a:pPr>
            <a:r>
              <a:rPr lang="en-US" sz="1150" b="1" dirty="0">
                <a:solidFill>
                  <a:srgbClr val="046A4E"/>
                </a:solidFill>
                <a:latin typeface="Arial" pitchFamily="34" charset="0"/>
                <a:ea typeface="Arial" pitchFamily="34" charset="-122"/>
                <a:cs typeface="Arial" pitchFamily="34" charset="-120"/>
              </a:rPr>
              <a:t>Monthly total</a:t>
            </a:r>
            <a:endParaRPr lang="en-US" sz="1150" dirty="0"/>
          </a:p>
        </p:txBody>
      </p:sp>
      <p:sp>
        <p:nvSpPr>
          <p:cNvPr id="73" name="Text 71"/>
          <p:cNvSpPr txBox="1"/>
          <p:nvPr/>
        </p:nvSpPr>
        <p:spPr>
          <a:xfrm>
            <a:off x="3310128" y="5509260"/>
            <a:ext cx="133502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$1,397</a:t>
            </a:r>
            <a:endParaRPr lang="en-US" sz="1150" dirty="0"/>
          </a:p>
        </p:txBody>
      </p:sp>
      <p:sp>
        <p:nvSpPr>
          <p:cNvPr id="74" name="Text 72"/>
          <p:cNvSpPr txBox="1"/>
          <p:nvPr/>
        </p:nvSpPr>
        <p:spPr>
          <a:xfrm>
            <a:off x="4773168" y="5509260"/>
            <a:ext cx="160934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$3,601</a:t>
            </a:r>
            <a:endParaRPr lang="en-US" sz="1150" dirty="0"/>
          </a:p>
        </p:txBody>
      </p:sp>
      <p:sp>
        <p:nvSpPr>
          <p:cNvPr id="75" name="Text 73"/>
          <p:cNvSpPr txBox="1"/>
          <p:nvPr/>
        </p:nvSpPr>
        <p:spPr>
          <a:xfrm>
            <a:off x="6510528" y="5509260"/>
            <a:ext cx="174650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$872</a:t>
            </a:r>
            <a:endParaRPr lang="en-US" sz="1150" dirty="0"/>
          </a:p>
        </p:txBody>
      </p:sp>
      <p:sp>
        <p:nvSpPr>
          <p:cNvPr id="76" name="Text 74"/>
          <p:cNvSpPr txBox="1"/>
          <p:nvPr/>
        </p:nvSpPr>
        <p:spPr>
          <a:xfrm>
            <a:off x="8385048" y="5509260"/>
            <a:ext cx="969264" cy="384048"/>
          </a:xfrm>
          <a:prstGeom prst="rect">
            <a:avLst/>
          </a:prstGeom>
          <a:noFill/>
          <a:ln/>
        </p:spPr>
        <p:txBody>
          <a:bodyPr wrap="square" lIns="0" tIns="0" rIns="0" bIns="0" rtlCol="0" anchor="ctr"/>
          <a:lstStyle/>
          <a:p>
            <a:pPr algn="r" indent="0" marL="0">
              <a:buNone/>
            </a:pPr>
            <a:r>
              <a:rPr lang="en-US" sz="1150" b="1" dirty="0">
                <a:solidFill>
                  <a:srgbClr val="046A4E"/>
                </a:solidFill>
                <a:latin typeface="Arial" pitchFamily="34" charset="0"/>
                <a:ea typeface="Arial" pitchFamily="34" charset="-122"/>
                <a:cs typeface="Arial" pitchFamily="34" charset="-120"/>
              </a:rPr>
              <a:t>$5,871</a:t>
            </a:r>
            <a:endParaRPr lang="en-US" sz="1150" dirty="0"/>
          </a:p>
        </p:txBody>
      </p:sp>
      <p:sp>
        <p:nvSpPr>
          <p:cNvPr id="77" name="stat-card-Annualised"/>
          <p:cNvSpPr/>
          <p:nvPr/>
        </p:nvSpPr>
        <p:spPr>
          <a:xfrm>
            <a:off x="9601200" y="1883664"/>
            <a:ext cx="2020824" cy="1371600"/>
          </a:xfrm>
          <a:prstGeom prst="roundRect">
            <a:avLst>
              <a:gd name="adj" fmla="val 4000"/>
            </a:avLst>
          </a:prstGeom>
          <a:solidFill>
            <a:srgbClr val="EEF2F7"/>
          </a:solidFill>
          <a:ln/>
        </p:spPr>
      </p:sp>
      <p:sp>
        <p:nvSpPr>
          <p:cNvPr id="78" name="stat-dot"/>
          <p:cNvSpPr/>
          <p:nvPr/>
        </p:nvSpPr>
        <p:spPr>
          <a:xfrm>
            <a:off x="9838944" y="2157984"/>
            <a:ext cx="91440" cy="91440"/>
          </a:xfrm>
          <a:prstGeom prst="ellipse">
            <a:avLst/>
          </a:prstGeom>
          <a:solidFill>
            <a:srgbClr val="00A878"/>
          </a:solidFill>
          <a:ln/>
        </p:spPr>
      </p:sp>
      <p:sp>
        <p:nvSpPr>
          <p:cNvPr id="79" name="Text 77"/>
          <p:cNvSpPr txBox="1"/>
          <p:nvPr/>
        </p:nvSpPr>
        <p:spPr>
          <a:xfrm>
            <a:off x="10021824" y="2057400"/>
            <a:ext cx="1380744" cy="292608"/>
          </a:xfrm>
          <a:prstGeom prst="rect">
            <a:avLst/>
          </a:prstGeom>
          <a:noFill/>
          <a:ln/>
        </p:spPr>
        <p:txBody>
          <a:bodyPr wrap="square" lIns="0" tIns="0" rIns="0" bIns="0" rtlCol="0" anchor="ctr"/>
          <a:lstStyle/>
          <a:p>
            <a:pPr algn="l" indent="0" marL="0">
              <a:buNone/>
            </a:pPr>
            <a:r>
              <a:rPr lang="en-US" sz="1000" b="1" spc="110" kern="0" dirty="0">
                <a:solidFill>
                  <a:srgbClr val="5B6B7E"/>
                </a:solidFill>
                <a:latin typeface="Arial" pitchFamily="34" charset="0"/>
                <a:ea typeface="Arial" pitchFamily="34" charset="-122"/>
                <a:cs typeface="Arial" pitchFamily="34" charset="-120"/>
              </a:rPr>
              <a:t>ANNUALISED</a:t>
            </a:r>
            <a:endParaRPr lang="en-US" sz="1000" dirty="0"/>
          </a:p>
        </p:txBody>
      </p:sp>
      <p:sp>
        <p:nvSpPr>
          <p:cNvPr id="80" name="Text 78"/>
          <p:cNvSpPr txBox="1"/>
          <p:nvPr/>
        </p:nvSpPr>
        <p:spPr>
          <a:xfrm>
            <a:off x="9838944" y="2340864"/>
            <a:ext cx="1563624" cy="566928"/>
          </a:xfrm>
          <a:prstGeom prst="rect">
            <a:avLst/>
          </a:prstGeom>
          <a:noFill/>
          <a:ln/>
        </p:spPr>
        <p:txBody>
          <a:bodyPr wrap="square" lIns="0" tIns="0" rIns="0" bIns="0" rtlCol="0" anchor="ctr"/>
          <a:lstStyle/>
          <a:p>
            <a:pPr algn="l" indent="0" marL="0">
              <a:buNone/>
            </a:pPr>
            <a:r>
              <a:rPr lang="en-US" sz="3000" b="1" dirty="0">
                <a:solidFill>
                  <a:srgbClr val="0B1B2E"/>
                </a:solidFill>
                <a:latin typeface="Arial" pitchFamily="34" charset="0"/>
                <a:ea typeface="Arial" pitchFamily="34" charset="-122"/>
                <a:cs typeface="Arial" pitchFamily="34" charset="-120"/>
              </a:rPr>
              <a:t>$70K</a:t>
            </a:r>
            <a:endParaRPr lang="en-US" sz="3000" dirty="0"/>
          </a:p>
        </p:txBody>
      </p:sp>
      <p:sp>
        <p:nvSpPr>
          <p:cNvPr id="81" name="Text 79"/>
          <p:cNvSpPr txBox="1"/>
          <p:nvPr/>
        </p:nvSpPr>
        <p:spPr>
          <a:xfrm>
            <a:off x="9838944" y="2889504"/>
            <a:ext cx="1563624" cy="310896"/>
          </a:xfrm>
          <a:prstGeom prst="rect">
            <a:avLst/>
          </a:prstGeom>
          <a:noFill/>
          <a:ln/>
        </p:spPr>
        <p:txBody>
          <a:bodyPr wrap="square" lIns="0" tIns="0" rIns="0" bIns="0" rtlCol="0" anchor="t"/>
          <a:lstStyle/>
          <a:p>
            <a:pPr algn="l" indent="0" marL="0">
              <a:buNone/>
            </a:pPr>
            <a:r>
              <a:rPr lang="en-US" sz="1050" dirty="0">
                <a:solidFill>
                  <a:srgbClr val="5B6B7E"/>
                </a:solidFill>
                <a:latin typeface="Arial" pitchFamily="34" charset="0"/>
                <a:ea typeface="Arial" pitchFamily="34" charset="-122"/>
                <a:cs typeface="Arial" pitchFamily="34" charset="-120"/>
              </a:rPr>
              <a:t>$5,871 × 12</a:t>
            </a:r>
            <a:endParaRPr lang="en-US" sz="1050" dirty="0"/>
          </a:p>
        </p:txBody>
      </p:sp>
      <p:sp>
        <p:nvSpPr>
          <p:cNvPr id="82" name="note"/>
          <p:cNvSpPr txBox="1"/>
          <p:nvPr/>
        </p:nvSpPr>
        <p:spPr>
          <a:xfrm>
            <a:off x="566928" y="6089904"/>
            <a:ext cx="11057839" cy="274320"/>
          </a:xfrm>
          <a:prstGeom prst="rect">
            <a:avLst/>
          </a:prstGeom>
          <a:noFill/>
          <a:ln/>
        </p:spPr>
        <p:txBody>
          <a:bodyPr wrap="square" lIns="0" tIns="0" rIns="0" bIns="0" rtlCol="0" anchor="t"/>
          <a:lstStyle/>
          <a:p>
            <a:pPr algn="l" indent="0" marL="0">
              <a:buNone/>
            </a:pPr>
            <a:r>
              <a:rPr lang="en-US" sz="1000" i="1" dirty="0">
                <a:solidFill>
                  <a:srgbClr val="93A3B5"/>
                </a:solidFill>
              </a:rPr>
              <a:t>The largest single realised saving of FY2026. Figures are the final month of North Europe consumption.</a:t>
            </a:r>
            <a:endParaRPr lang="en-US" sz="10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kicker-dot"/>
          <p:cNvSpPr/>
          <p:nvPr/>
        </p:nvSpPr>
        <p:spPr>
          <a:xfrm>
            <a:off x="566928" y="475488"/>
            <a:ext cx="105156" cy="105156"/>
          </a:xfrm>
          <a:prstGeom prst="ellipse">
            <a:avLst/>
          </a:prstGeom>
          <a:solidFill>
            <a:srgbClr val="27496B"/>
          </a:solidFill>
          <a:ln/>
        </p:spPr>
      </p:sp>
      <p:sp>
        <p:nvSpPr>
          <p:cNvPr id="3" name="kicker"/>
          <p:cNvSpPr txBox="1"/>
          <p:nvPr/>
        </p:nvSpPr>
        <p:spPr>
          <a:xfrm>
            <a:off x="768096" y="365760"/>
            <a:ext cx="10856671" cy="310896"/>
          </a:xfrm>
          <a:prstGeom prst="rect">
            <a:avLst/>
          </a:prstGeom>
          <a:noFill/>
          <a:ln/>
        </p:spPr>
        <p:txBody>
          <a:bodyPr wrap="square" lIns="0" tIns="0" rIns="0" bIns="0" rtlCol="0" anchor="ctr"/>
          <a:lstStyle/>
          <a:p>
            <a:pPr algn="l" indent="0" marL="0">
              <a:buNone/>
            </a:pPr>
            <a:r>
              <a:rPr lang="en-US" sz="1150" b="1" spc="160" kern="0" dirty="0">
                <a:solidFill>
                  <a:srgbClr val="5B6B7E"/>
                </a:solidFill>
                <a:latin typeface="Arial" pitchFamily="34" charset="0"/>
                <a:ea typeface="Arial" pitchFamily="34" charset="-122"/>
                <a:cs typeface="Arial" pitchFamily="34" charset="-120"/>
              </a:rPr>
              <a:t>APPENDIX · NOTES</a:t>
            </a:r>
            <a:endParaRPr lang="en-US" sz="1150" dirty="0"/>
          </a:p>
        </p:txBody>
      </p:sp>
      <p:sp>
        <p:nvSpPr>
          <p:cNvPr id="4" name="action-title"/>
          <p:cNvSpPr txBox="1"/>
          <p:nvPr/>
        </p:nvSpPr>
        <p:spPr>
          <a:xfrm>
            <a:off x="566928" y="694944"/>
            <a:ext cx="11057839" cy="749808"/>
          </a:xfrm>
          <a:prstGeom prst="rect">
            <a:avLst/>
          </a:prstGeom>
          <a:noFill/>
          <a:ln/>
        </p:spPr>
        <p:txBody>
          <a:bodyPr wrap="square" lIns="0" tIns="0" rIns="0" bIns="0" rtlCol="0" anchor="ctr">
            <a:normAutofit/>
          </a:bodyPr>
          <a:lstStyle/>
          <a:p>
            <a:pPr algn="l" indent="0" marL="0">
              <a:buNone/>
            </a:pPr>
            <a:r>
              <a:rPr lang="en-US" sz="2800" b="1" dirty="0">
                <a:solidFill>
                  <a:srgbClr val="0B1B2E"/>
                </a:solidFill>
                <a:latin typeface="Cambria" pitchFamily="34" charset="0"/>
                <a:ea typeface="Cambria" pitchFamily="34" charset="-122"/>
                <a:cs typeface="Cambria" pitchFamily="34" charset="-120"/>
              </a:rPr>
              <a:t>How these figures were produced</a:t>
            </a:r>
            <a:endParaRPr lang="en-US" sz="2800" dirty="0"/>
          </a:p>
        </p:txBody>
      </p:sp>
      <p:sp>
        <p:nvSpPr>
          <p:cNvPr id="5" name="note-dot-0"/>
          <p:cNvSpPr/>
          <p:nvPr/>
        </p:nvSpPr>
        <p:spPr>
          <a:xfrm>
            <a:off x="566928" y="1609344"/>
            <a:ext cx="91440" cy="91440"/>
          </a:xfrm>
          <a:prstGeom prst="ellipse">
            <a:avLst/>
          </a:prstGeom>
          <a:solidFill>
            <a:srgbClr val="27496B"/>
          </a:solidFill>
          <a:ln/>
        </p:spPr>
      </p:sp>
      <p:sp>
        <p:nvSpPr>
          <p:cNvPr id="6" name="Text 4"/>
          <p:cNvSpPr txBox="1"/>
          <p:nvPr/>
        </p:nvSpPr>
        <p:spPr>
          <a:xfrm>
            <a:off x="768096" y="1517904"/>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Period and currency</a:t>
            </a:r>
            <a:endParaRPr lang="en-US" sz="1250" dirty="0"/>
          </a:p>
        </p:txBody>
      </p:sp>
      <p:sp>
        <p:nvSpPr>
          <p:cNvPr id="7" name="Text 5"/>
          <p:cNvSpPr txBox="1"/>
          <p:nvPr/>
        </p:nvSpPr>
        <p:spPr>
          <a:xfrm>
            <a:off x="768096" y="1792224"/>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All figures cover 1 January – 30 September 2026 (nine months) and are stated in US dollars.</a:t>
            </a:r>
            <a:endParaRPr lang="en-US" sz="1100" dirty="0"/>
          </a:p>
        </p:txBody>
      </p:sp>
      <p:sp>
        <p:nvSpPr>
          <p:cNvPr id="8" name="note-dot-1"/>
          <p:cNvSpPr/>
          <p:nvPr/>
        </p:nvSpPr>
        <p:spPr>
          <a:xfrm>
            <a:off x="6242152" y="1609344"/>
            <a:ext cx="91440" cy="91440"/>
          </a:xfrm>
          <a:prstGeom prst="ellipse">
            <a:avLst/>
          </a:prstGeom>
          <a:solidFill>
            <a:srgbClr val="27496B"/>
          </a:solidFill>
          <a:ln/>
        </p:spPr>
      </p:sp>
      <p:sp>
        <p:nvSpPr>
          <p:cNvPr id="9" name="Text 7"/>
          <p:cNvSpPr txBox="1"/>
          <p:nvPr/>
        </p:nvSpPr>
        <p:spPr>
          <a:xfrm>
            <a:off x="6443320" y="1517904"/>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Consumption vs. committed</a:t>
            </a:r>
            <a:endParaRPr lang="en-US" sz="1250" dirty="0"/>
          </a:p>
        </p:txBody>
      </p:sp>
      <p:sp>
        <p:nvSpPr>
          <p:cNvPr id="10" name="Text 8"/>
          <p:cNvSpPr txBox="1"/>
          <p:nvPr/>
        </p:nvSpPr>
        <p:spPr>
          <a:xfrm>
            <a:off x="6443320" y="1792224"/>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"Consumption" is metered usage. Marketplace and prepaid contracts are reported separately and are excluded from consumption totals unless stated.</a:t>
            </a:r>
            <a:endParaRPr lang="en-US" sz="1100" dirty="0"/>
          </a:p>
        </p:txBody>
      </p:sp>
      <p:sp>
        <p:nvSpPr>
          <p:cNvPr id="11" name="note-dot-2"/>
          <p:cNvSpPr/>
          <p:nvPr/>
        </p:nvSpPr>
        <p:spPr>
          <a:xfrm>
            <a:off x="566928" y="2688336"/>
            <a:ext cx="91440" cy="91440"/>
          </a:xfrm>
          <a:prstGeom prst="ellipse">
            <a:avLst/>
          </a:prstGeom>
          <a:solidFill>
            <a:srgbClr val="27496B"/>
          </a:solidFill>
          <a:ln/>
        </p:spPr>
      </p:sp>
      <p:sp>
        <p:nvSpPr>
          <p:cNvPr id="12" name="Text 10"/>
          <p:cNvSpPr txBox="1"/>
          <p:nvPr/>
        </p:nvSpPr>
        <p:spPr>
          <a:xfrm>
            <a:off x="768096" y="2596896"/>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AWS payers</a:t>
            </a:r>
            <a:endParaRPr lang="en-US" sz="1250" dirty="0"/>
          </a:p>
        </p:txBody>
      </p:sp>
      <p:sp>
        <p:nvSpPr>
          <p:cNvPr id="13" name="Text 11"/>
          <p:cNvSpPr txBox="1"/>
          <p:nvPr/>
        </p:nvSpPr>
        <p:spPr>
          <a:xfrm>
            <a:off x="768096" y="2871216"/>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AWS is billed across two payer accounts. The Harel IL payer is $166K of the $792K consumption total.</a:t>
            </a:r>
            <a:endParaRPr lang="en-US" sz="1100" dirty="0"/>
          </a:p>
        </p:txBody>
      </p:sp>
      <p:sp>
        <p:nvSpPr>
          <p:cNvPr id="14" name="note-dot-3"/>
          <p:cNvSpPr/>
          <p:nvPr/>
        </p:nvSpPr>
        <p:spPr>
          <a:xfrm>
            <a:off x="6242152" y="2688336"/>
            <a:ext cx="91440" cy="91440"/>
          </a:xfrm>
          <a:prstGeom prst="ellipse">
            <a:avLst/>
          </a:prstGeom>
          <a:solidFill>
            <a:srgbClr val="27496B"/>
          </a:solidFill>
          <a:ln/>
        </p:spPr>
      </p:sp>
      <p:sp>
        <p:nvSpPr>
          <p:cNvPr id="15" name="Text 13"/>
          <p:cNvSpPr txBox="1"/>
          <p:nvPr/>
        </p:nvSpPr>
        <p:spPr>
          <a:xfrm>
            <a:off x="6443320" y="2596896"/>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Azure Marketplace</a:t>
            </a:r>
            <a:endParaRPr lang="en-US" sz="1250" dirty="0"/>
          </a:p>
        </p:txBody>
      </p:sp>
      <p:sp>
        <p:nvSpPr>
          <p:cNvPr id="16" name="Text 14"/>
          <p:cNvSpPr txBox="1"/>
          <p:nvPr/>
        </p:nvSpPr>
        <p:spPr>
          <a:xfrm>
            <a:off x="6443320" y="2871216"/>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Marketplace charges sit under the Shared Resources subscription.</a:t>
            </a:r>
            <a:endParaRPr lang="en-US" sz="1100" dirty="0"/>
          </a:p>
        </p:txBody>
      </p:sp>
      <p:sp>
        <p:nvSpPr>
          <p:cNvPr id="17" name="note-dot-4"/>
          <p:cNvSpPr/>
          <p:nvPr/>
        </p:nvSpPr>
        <p:spPr>
          <a:xfrm>
            <a:off x="566928" y="3767328"/>
            <a:ext cx="91440" cy="91440"/>
          </a:xfrm>
          <a:prstGeom prst="ellipse">
            <a:avLst/>
          </a:prstGeom>
          <a:solidFill>
            <a:srgbClr val="27496B"/>
          </a:solidFill>
          <a:ln/>
        </p:spPr>
      </p:sp>
      <p:sp>
        <p:nvSpPr>
          <p:cNvPr id="18" name="Text 16"/>
          <p:cNvSpPr txBox="1"/>
          <p:nvPr/>
        </p:nvSpPr>
        <p:spPr>
          <a:xfrm>
            <a:off x="768096" y="3675888"/>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Savings basis</a:t>
            </a:r>
            <a:endParaRPr lang="en-US" sz="1250" dirty="0"/>
          </a:p>
        </p:txBody>
      </p:sp>
      <p:sp>
        <p:nvSpPr>
          <p:cNvPr id="19" name="Text 17"/>
          <p:cNvSpPr txBox="1"/>
          <p:nvPr/>
        </p:nvSpPr>
        <p:spPr>
          <a:xfrm>
            <a:off x="768096" y="3950208"/>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Realised savings and cost avoidance are annualised run-rate impacts at the point of implementation, not year-to-date cash.</a:t>
            </a:r>
            <a:endParaRPr lang="en-US" sz="1100" dirty="0"/>
          </a:p>
        </p:txBody>
      </p:sp>
      <p:sp>
        <p:nvSpPr>
          <p:cNvPr id="20" name="note-dot-5"/>
          <p:cNvSpPr/>
          <p:nvPr/>
        </p:nvSpPr>
        <p:spPr>
          <a:xfrm>
            <a:off x="6242152" y="3767328"/>
            <a:ext cx="91440" cy="91440"/>
          </a:xfrm>
          <a:prstGeom prst="ellipse">
            <a:avLst/>
          </a:prstGeom>
          <a:solidFill>
            <a:srgbClr val="27496B"/>
          </a:solidFill>
          <a:ln/>
        </p:spPr>
      </p:sp>
      <p:sp>
        <p:nvSpPr>
          <p:cNvPr id="21" name="Text 19"/>
          <p:cNvSpPr txBox="1"/>
          <p:nvPr/>
        </p:nvSpPr>
        <p:spPr>
          <a:xfrm>
            <a:off x="6443320" y="3675888"/>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AI definition</a:t>
            </a:r>
            <a:endParaRPr lang="en-US" sz="1250" dirty="0"/>
          </a:p>
        </p:txBody>
      </p:sp>
      <p:sp>
        <p:nvSpPr>
          <p:cNvPr id="22" name="Text 20"/>
          <p:cNvSpPr txBox="1"/>
          <p:nvPr/>
        </p:nvSpPr>
        <p:spPr>
          <a:xfrm>
            <a:off x="6443320" y="3950208"/>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AI services = Amazon Bedrock, Azure AI Foundry (models and tools), Microsoft Copilot Studio, Azure Cognitive Search, GitHub and Copilot, and GCP Vertex AI and Gemini.</a:t>
            </a:r>
            <a:endParaRPr lang="en-US" sz="1100" dirty="0"/>
          </a:p>
        </p:txBody>
      </p:sp>
      <p:sp>
        <p:nvSpPr>
          <p:cNvPr id="23" name="note-dot-6"/>
          <p:cNvSpPr/>
          <p:nvPr/>
        </p:nvSpPr>
        <p:spPr>
          <a:xfrm>
            <a:off x="566928" y="4846320"/>
            <a:ext cx="91440" cy="91440"/>
          </a:xfrm>
          <a:prstGeom prst="ellipse">
            <a:avLst/>
          </a:prstGeom>
          <a:solidFill>
            <a:srgbClr val="27496B"/>
          </a:solidFill>
          <a:ln/>
        </p:spPr>
      </p:sp>
      <p:sp>
        <p:nvSpPr>
          <p:cNvPr id="24" name="Text 22"/>
          <p:cNvSpPr txBox="1"/>
          <p:nvPr/>
        </p:nvSpPr>
        <p:spPr>
          <a:xfrm>
            <a:off x="768096" y="4754880"/>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Sources</a:t>
            </a:r>
            <a:endParaRPr lang="en-US" sz="1250" dirty="0"/>
          </a:p>
        </p:txBody>
      </p:sp>
      <p:sp>
        <p:nvSpPr>
          <p:cNvPr id="25" name="Text 23"/>
          <p:cNvSpPr txBox="1"/>
          <p:nvPr/>
        </p:nvSpPr>
        <p:spPr>
          <a:xfrm>
            <a:off x="768096" y="5029200"/>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AWS Cost Explorer, Azure Cost Management, Google Cloud Billing and the GitHub billing portal, as extracted for the September 2026 review.</a:t>
            </a:r>
            <a:endParaRPr lang="en-US" sz="1100" dirty="0"/>
          </a:p>
        </p:txBody>
      </p:sp>
      <p:sp>
        <p:nvSpPr>
          <p:cNvPr id="26" name="note-dot-7"/>
          <p:cNvSpPr/>
          <p:nvPr/>
        </p:nvSpPr>
        <p:spPr>
          <a:xfrm>
            <a:off x="6242152" y="4846320"/>
            <a:ext cx="91440" cy="91440"/>
          </a:xfrm>
          <a:prstGeom prst="ellipse">
            <a:avLst/>
          </a:prstGeom>
          <a:solidFill>
            <a:srgbClr val="F2A900"/>
          </a:solidFill>
          <a:ln/>
        </p:spPr>
      </p:sp>
      <p:sp>
        <p:nvSpPr>
          <p:cNvPr id="27" name="Text 25"/>
          <p:cNvSpPr txBox="1"/>
          <p:nvPr/>
        </p:nvSpPr>
        <p:spPr>
          <a:xfrm>
            <a:off x="6443320" y="4754880"/>
            <a:ext cx="5181448" cy="274320"/>
          </a:xfrm>
          <a:prstGeom prst="rect">
            <a:avLst/>
          </a:prstGeom>
          <a:noFill/>
          <a:ln/>
        </p:spPr>
        <p:txBody>
          <a:bodyPr wrap="square" lIns="0" tIns="0" rIns="0" bIns="0" rtlCol="0" anchor="ctr"/>
          <a:lstStyle/>
          <a:p>
            <a:pPr algn="l" indent="0" marL="0">
              <a:buNone/>
            </a:pPr>
            <a:r>
              <a:rPr lang="en-US" sz="1250" b="1" dirty="0">
                <a:solidFill>
                  <a:srgbClr val="0B1B2E"/>
                </a:solidFill>
                <a:latin typeface="Arial" pitchFamily="34" charset="0"/>
                <a:ea typeface="Arial" pitchFamily="34" charset="-122"/>
                <a:cs typeface="Arial" pitchFamily="34" charset="-120"/>
              </a:rPr>
              <a:t>Open reconciliation</a:t>
            </a:r>
            <a:endParaRPr lang="en-US" sz="1250" dirty="0"/>
          </a:p>
        </p:txBody>
      </p:sp>
      <p:sp>
        <p:nvSpPr>
          <p:cNvPr id="28" name="Text 26"/>
          <p:cNvSpPr txBox="1"/>
          <p:nvPr/>
        </p:nvSpPr>
        <p:spPr>
          <a:xfrm>
            <a:off x="6443320" y="5029200"/>
            <a:ext cx="5108296" cy="731520"/>
          </a:xfrm>
          <a:prstGeom prst="rect">
            <a:avLst/>
          </a:prstGeom>
          <a:noFill/>
          <a:ln/>
        </p:spPr>
        <p:txBody>
          <a:bodyPr wrap="square" lIns="0" tIns="0" rIns="0" bIns="0" rtlCol="0" anchor="t"/>
          <a:lstStyle/>
          <a:p>
            <a:pPr algn="l" indent="0" marL="0">
              <a:buNone/>
            </a:pPr>
            <a:r>
              <a:rPr lang="en-US" sz="1100" dirty="0">
                <a:solidFill>
                  <a:srgbClr val="5B6B7E"/>
                </a:solidFill>
                <a:latin typeface="Arial" pitchFamily="34" charset="0"/>
                <a:ea typeface="Arial" pitchFamily="34" charset="-122"/>
                <a:cs typeface="Arial" pitchFamily="34" charset="-120"/>
              </a:rPr>
              <a:t>Azure Marketplace sums to $542K here against $563K quoted in earlier reporting; the $21K difference is under review and does not affect the consumption figures.</a:t>
            </a:r>
            <a:endParaRPr lang="en-US" sz="1100" dirty="0"/>
          </a:p>
        </p:txBody>
      </p:sp>
      <p:sp>
        <p:nvSpPr>
          <p:cNvPr id="25" name="Slide Number Placeholder 0"/>
          <p:cNvSpPr>
            <a:spLocks noGrp="1"/>
          </p:cNvSpPr>
          <p:nvPr>
            <p:ph type="sldNum" sz="quarter" idx="4294967295"/>
          </p:nvPr>
        </p:nvSpPr>
        <p:spPr>
          <a:xfrm>
            <a:off x="11247120" y="6437376"/>
            <a:ext cx="384048"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B6B7E"/>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theme/theme1.xml><?xml version="1.0" encoding="utf-8"?>
<a:theme xmlns:a="http://schemas.openxmlformats.org/drawingml/2006/main" name="Harel Cloud FinOps">
  <a:themeElements>
    <a:clrScheme name="Harel Cloud FinOps">
      <a:dk1>
        <a:srgbClr val="0B1B2E"/>
      </a:dk1>
      <a:lt1>
        <a:srgbClr val="FFFFFF"/>
      </a:lt1>
      <a:dk2>
        <a:srgbClr val="5B6B7E"/>
      </a:dk2>
      <a:lt2>
        <a:srgbClr val="EEF2F7"/>
      </a:lt2>
      <a:accent1>
        <a:srgbClr val="00A878"/>
      </a:accent1>
      <a:accent2>
        <a:srgbClr val="0F7DC2"/>
      </a:accent2>
      <a:accent3>
        <a:srgbClr val="F2A900"/>
      </a:accent3>
      <a:accent4>
        <a:srgbClr val="7C5CFF"/>
      </a:accent4>
      <a:accent5>
        <a:srgbClr val="D7263D"/>
      </a:accent5>
      <a:accent6>
        <a:srgbClr val="13324F"/>
      </a:accent6>
      <a:hlink>
        <a:srgbClr val="0F7DC2"/>
      </a:hlink>
      <a:folHlink>
        <a:srgbClr val="7C5CFF"/>
      </a:folHlink>
    </a:clrScheme>
    <a:fontScheme name="Harel Cloud Fin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Harel Insurance &amp;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FinOps FY2026</dc:title>
  <dc:subject>Cloud FinOps — FY2026 cost summary</dc:subject>
  <dc:creator>Cloud Infrastructure, DevOps &amp; Databases</dc:creator>
  <cp:lastModifiedBy>Cloud Infrastructure, DevOps &amp; Databases</cp:lastModifiedBy>
  <cp:revision>1</cp:revision>
  <dcterms:created xsi:type="dcterms:W3CDTF">2026-10-11T19:40:49Z</dcterms:created>
  <dcterms:modified xsi:type="dcterms:W3CDTF">2026-10-11T19:40:49Z</dcterms:modified>
</cp:coreProperties>
</file>