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קיבולת</c:v>
                </c:pt>
              </c:strCache>
            </c:strRef>
          </c:tx>
          <c:spPr>
            <a:solidFill>
              <a:srgbClr val="2F8CFF"/>
            </a:solidFill>
            <a:ln w="31750" cap="flat">
              <a:solidFill>
                <a:srgbClr val="2F8C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8CFF"/>
              </a:solidFill>
              <a:ln w="9525" cap="flat">
                <a:solidFill>
                  <a:srgbClr val="2F8C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Apr-25</c:v>
                  </c:pt>
                  <c:pt idx="1">
                    <c:v>May-25</c:v>
                  </c:pt>
                  <c:pt idx="2">
                    <c:v>Jun-25</c:v>
                  </c:pt>
                  <c:pt idx="3">
                    <c:v>Jul-25</c:v>
                  </c:pt>
                  <c:pt idx="4">
                    <c:v>Aug-25</c:v>
                  </c:pt>
                  <c:pt idx="5">
                    <c:v>Sep-25</c:v>
                  </c:pt>
                  <c:pt idx="6">
                    <c:v>Oct-25</c:v>
                  </c:pt>
                  <c:pt idx="7">
                    <c:v>Nov-25</c:v>
                  </c:pt>
                  <c:pt idx="8">
                    <c:v>Dec-25</c:v>
                  </c:pt>
                  <c:pt idx="9">
                    <c:v>Jan-26</c:v>
                  </c:pt>
                  <c:pt idx="10">
                    <c:v>Feb-26</c:v>
                  </c:pt>
                  <c:pt idx="11">
                    <c:v>Mar-26</c:v>
                  </c:pt>
                  <c:pt idx="12">
                    <c:v>Apr-26</c:v>
                  </c:pt>
                  <c:pt idx="13">
                    <c:v>May-26</c:v>
                  </c:pt>
                  <c:pt idx="14">
                    <c:v>Jun-26</c:v>
                  </c:pt>
                  <c:pt idx="15">
                    <c:v>Jul-26</c:v>
                  </c:pt>
                  <c:pt idx="16">
                    <c:v>Aug-26</c:v>
                  </c:pt>
                  <c:pt idx="17">
                    <c:v>Sep-26</c:v>
                  </c:pt>
                  <c:pt idx="18">
                    <c:v>Oct-26</c:v>
                  </c:pt>
                  <c:pt idx="19">
                    <c:v>Nov-26</c:v>
                  </c:pt>
                  <c:pt idx="20">
                    <c:v>Dec-26</c:v>
                  </c:pt>
                  <c:pt idx="21">
                    <c:v>Jan-27</c:v>
                  </c:pt>
                  <c:pt idx="22">
                    <c:v>Feb-27</c:v>
                  </c:pt>
                  <c:pt idx="23">
                    <c:v>Mar-27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916</c:v>
                </c:pt>
                <c:pt idx="1">
                  <c:v>916</c:v>
                </c:pt>
                <c:pt idx="2">
                  <c:v>916</c:v>
                </c:pt>
                <c:pt idx="3">
                  <c:v>916</c:v>
                </c:pt>
                <c:pt idx="4">
                  <c:v>916</c:v>
                </c:pt>
                <c:pt idx="5">
                  <c:v>916</c:v>
                </c:pt>
                <c:pt idx="6">
                  <c:v>916</c:v>
                </c:pt>
                <c:pt idx="7">
                  <c:v>916</c:v>
                </c:pt>
                <c:pt idx="8">
                  <c:v>916</c:v>
                </c:pt>
                <c:pt idx="9">
                  <c:v>916</c:v>
                </c:pt>
                <c:pt idx="10">
                  <c:v>916</c:v>
                </c:pt>
                <c:pt idx="11">
                  <c:v>916</c:v>
                </c:pt>
                <c:pt idx="12">
                  <c:v>916</c:v>
                </c:pt>
                <c:pt idx="13">
                  <c:v>916</c:v>
                </c:pt>
                <c:pt idx="14">
                  <c:v>916</c:v>
                </c:pt>
                <c:pt idx="15">
                  <c:v>916</c:v>
                </c:pt>
                <c:pt idx="16">
                  <c:v>916</c:v>
                </c:pt>
                <c:pt idx="17">
                  <c:v>916</c:v>
                </c:pt>
                <c:pt idx="18">
                  <c:v>916</c:v>
                </c:pt>
                <c:pt idx="19">
                  <c:v>916</c:v>
                </c:pt>
                <c:pt idx="20">
                  <c:v>916</c:v>
                </c:pt>
                <c:pt idx="21">
                  <c:v>916</c:v>
                </c:pt>
                <c:pt idx="22">
                  <c:v>916</c:v>
                </c:pt>
                <c:pt idx="23">
                  <c:v>916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סף 80%</c:v>
                </c:pt>
              </c:strCache>
            </c:strRef>
          </c:tx>
          <c:spPr>
            <a:solidFill>
              <a:srgbClr val="FF6B7A"/>
            </a:solidFill>
            <a:ln w="31750" cap="flat">
              <a:solidFill>
                <a:srgbClr val="FF6B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6B7A"/>
              </a:solidFill>
              <a:ln w="9525" cap="flat">
                <a:solidFill>
                  <a:srgbClr val="FF6B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Apr-25</c:v>
                  </c:pt>
                  <c:pt idx="1">
                    <c:v>May-25</c:v>
                  </c:pt>
                  <c:pt idx="2">
                    <c:v>Jun-25</c:v>
                  </c:pt>
                  <c:pt idx="3">
                    <c:v>Jul-25</c:v>
                  </c:pt>
                  <c:pt idx="4">
                    <c:v>Aug-25</c:v>
                  </c:pt>
                  <c:pt idx="5">
                    <c:v>Sep-25</c:v>
                  </c:pt>
                  <c:pt idx="6">
                    <c:v>Oct-25</c:v>
                  </c:pt>
                  <c:pt idx="7">
                    <c:v>Nov-25</c:v>
                  </c:pt>
                  <c:pt idx="8">
                    <c:v>Dec-25</c:v>
                  </c:pt>
                  <c:pt idx="9">
                    <c:v>Jan-26</c:v>
                  </c:pt>
                  <c:pt idx="10">
                    <c:v>Feb-26</c:v>
                  </c:pt>
                  <c:pt idx="11">
                    <c:v>Mar-26</c:v>
                  </c:pt>
                  <c:pt idx="12">
                    <c:v>Apr-26</c:v>
                  </c:pt>
                  <c:pt idx="13">
                    <c:v>May-26</c:v>
                  </c:pt>
                  <c:pt idx="14">
                    <c:v>Jun-26</c:v>
                  </c:pt>
                  <c:pt idx="15">
                    <c:v>Jul-26</c:v>
                  </c:pt>
                  <c:pt idx="16">
                    <c:v>Aug-26</c:v>
                  </c:pt>
                  <c:pt idx="17">
                    <c:v>Sep-26</c:v>
                  </c:pt>
                  <c:pt idx="18">
                    <c:v>Oct-26</c:v>
                  </c:pt>
                  <c:pt idx="19">
                    <c:v>Nov-26</c:v>
                  </c:pt>
                  <c:pt idx="20">
                    <c:v>Dec-26</c:v>
                  </c:pt>
                  <c:pt idx="21">
                    <c:v>Jan-27</c:v>
                  </c:pt>
                  <c:pt idx="22">
                    <c:v>Feb-27</c:v>
                  </c:pt>
                  <c:pt idx="23">
                    <c:v>Mar-27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733</c:v>
                </c:pt>
                <c:pt idx="1">
                  <c:v>733</c:v>
                </c:pt>
                <c:pt idx="2">
                  <c:v>733</c:v>
                </c:pt>
                <c:pt idx="3">
                  <c:v>733</c:v>
                </c:pt>
                <c:pt idx="4">
                  <c:v>733</c:v>
                </c:pt>
                <c:pt idx="5">
                  <c:v>733</c:v>
                </c:pt>
                <c:pt idx="6">
                  <c:v>733</c:v>
                </c:pt>
                <c:pt idx="7">
                  <c:v>733</c:v>
                </c:pt>
                <c:pt idx="8">
                  <c:v>733</c:v>
                </c:pt>
                <c:pt idx="9">
                  <c:v>733</c:v>
                </c:pt>
                <c:pt idx="10">
                  <c:v>733</c:v>
                </c:pt>
                <c:pt idx="11">
                  <c:v>733</c:v>
                </c:pt>
                <c:pt idx="12">
                  <c:v>733</c:v>
                </c:pt>
                <c:pt idx="13">
                  <c:v>733</c:v>
                </c:pt>
                <c:pt idx="14">
                  <c:v>733</c:v>
                </c:pt>
                <c:pt idx="15">
                  <c:v>733</c:v>
                </c:pt>
                <c:pt idx="16">
                  <c:v>733</c:v>
                </c:pt>
                <c:pt idx="17">
                  <c:v>733</c:v>
                </c:pt>
                <c:pt idx="18">
                  <c:v>733</c:v>
                </c:pt>
                <c:pt idx="19">
                  <c:v>733</c:v>
                </c:pt>
                <c:pt idx="20">
                  <c:v>733</c:v>
                </c:pt>
                <c:pt idx="21">
                  <c:v>733</c:v>
                </c:pt>
                <c:pt idx="22">
                  <c:v>733</c:v>
                </c:pt>
                <c:pt idx="23">
                  <c:v>733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תרחיש מואץ</c:v>
                </c:pt>
              </c:strCache>
            </c:strRef>
          </c:tx>
          <c:spPr>
            <a:solidFill>
              <a:srgbClr val="B07CFF"/>
            </a:solidFill>
            <a:ln w="31750" cap="flat">
              <a:solidFill>
                <a:srgbClr val="B07C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07CFF"/>
              </a:solidFill>
              <a:ln w="9525" cap="flat">
                <a:solidFill>
                  <a:srgbClr val="B07C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Apr-25</c:v>
                  </c:pt>
                  <c:pt idx="1">
                    <c:v>May-25</c:v>
                  </c:pt>
                  <c:pt idx="2">
                    <c:v>Jun-25</c:v>
                  </c:pt>
                  <c:pt idx="3">
                    <c:v>Jul-25</c:v>
                  </c:pt>
                  <c:pt idx="4">
                    <c:v>Aug-25</c:v>
                  </c:pt>
                  <c:pt idx="5">
                    <c:v>Sep-25</c:v>
                  </c:pt>
                  <c:pt idx="6">
                    <c:v>Oct-25</c:v>
                  </c:pt>
                  <c:pt idx="7">
                    <c:v>Nov-25</c:v>
                  </c:pt>
                  <c:pt idx="8">
                    <c:v>Dec-25</c:v>
                  </c:pt>
                  <c:pt idx="9">
                    <c:v>Jan-26</c:v>
                  </c:pt>
                  <c:pt idx="10">
                    <c:v>Feb-26</c:v>
                  </c:pt>
                  <c:pt idx="11">
                    <c:v>Mar-26</c:v>
                  </c:pt>
                  <c:pt idx="12">
                    <c:v>Apr-26</c:v>
                  </c:pt>
                  <c:pt idx="13">
                    <c:v>May-26</c:v>
                  </c:pt>
                  <c:pt idx="14">
                    <c:v>Jun-26</c:v>
                  </c:pt>
                  <c:pt idx="15">
                    <c:v>Jul-26</c:v>
                  </c:pt>
                  <c:pt idx="16">
                    <c:v>Aug-26</c:v>
                  </c:pt>
                  <c:pt idx="17">
                    <c:v>Sep-26</c:v>
                  </c:pt>
                  <c:pt idx="18">
                    <c:v>Oct-26</c:v>
                  </c:pt>
                  <c:pt idx="19">
                    <c:v>Nov-26</c:v>
                  </c:pt>
                  <c:pt idx="20">
                    <c:v>Dec-26</c:v>
                  </c:pt>
                  <c:pt idx="21">
                    <c:v>Jan-27</c:v>
                  </c:pt>
                  <c:pt idx="22">
                    <c:v>Feb-27</c:v>
                  </c:pt>
                  <c:pt idx="23">
                    <c:v>Mar-27</c:v>
                  </c:pt>
                </c:lvl>
              </c:multiLvlStrCache>
            </c:multiLvl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668</c:v>
                </c:pt>
                <c:pt idx="17">
                  <c:v>691</c:v>
                </c:pt>
                <c:pt idx="18">
                  <c:v>714</c:v>
                </c:pt>
                <c:pt idx="19">
                  <c:v>737</c:v>
                </c:pt>
                <c:pt idx="20">
                  <c:v>760</c:v>
                </c:pt>
                <c:pt idx="21">
                  <c:v>783</c:v>
                </c:pt>
                <c:pt idx="22">
                  <c:v>806</c:v>
                </c:pt>
                <c:pt idx="23">
                  <c:v>829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תחזית מגמה</c:v>
                </c:pt>
              </c:strCache>
            </c:strRef>
          </c:tx>
          <c:spPr>
            <a:solidFill>
              <a:srgbClr val="3DD9EB"/>
            </a:solidFill>
            <a:ln w="31750" cap="flat">
              <a:solidFill>
                <a:srgbClr val="3DD9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DD9EB"/>
              </a:solidFill>
              <a:ln w="9525" cap="flat">
                <a:solidFill>
                  <a:srgbClr val="3DD9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Apr-25</c:v>
                  </c:pt>
                  <c:pt idx="1">
                    <c:v>May-25</c:v>
                  </c:pt>
                  <c:pt idx="2">
                    <c:v>Jun-25</c:v>
                  </c:pt>
                  <c:pt idx="3">
                    <c:v>Jul-25</c:v>
                  </c:pt>
                  <c:pt idx="4">
                    <c:v>Aug-25</c:v>
                  </c:pt>
                  <c:pt idx="5">
                    <c:v>Sep-25</c:v>
                  </c:pt>
                  <c:pt idx="6">
                    <c:v>Oct-25</c:v>
                  </c:pt>
                  <c:pt idx="7">
                    <c:v>Nov-25</c:v>
                  </c:pt>
                  <c:pt idx="8">
                    <c:v>Dec-25</c:v>
                  </c:pt>
                  <c:pt idx="9">
                    <c:v>Jan-26</c:v>
                  </c:pt>
                  <c:pt idx="10">
                    <c:v>Feb-26</c:v>
                  </c:pt>
                  <c:pt idx="11">
                    <c:v>Mar-26</c:v>
                  </c:pt>
                  <c:pt idx="12">
                    <c:v>Apr-26</c:v>
                  </c:pt>
                  <c:pt idx="13">
                    <c:v>May-26</c:v>
                  </c:pt>
                  <c:pt idx="14">
                    <c:v>Jun-26</c:v>
                  </c:pt>
                  <c:pt idx="15">
                    <c:v>Jul-26</c:v>
                  </c:pt>
                  <c:pt idx="16">
                    <c:v>Aug-26</c:v>
                  </c:pt>
                  <c:pt idx="17">
                    <c:v>Sep-26</c:v>
                  </c:pt>
                  <c:pt idx="18">
                    <c:v>Oct-26</c:v>
                  </c:pt>
                  <c:pt idx="19">
                    <c:v>Nov-26</c:v>
                  </c:pt>
                  <c:pt idx="20">
                    <c:v>Dec-26</c:v>
                  </c:pt>
                  <c:pt idx="21">
                    <c:v>Jan-27</c:v>
                  </c:pt>
                  <c:pt idx="22">
                    <c:v>Feb-27</c:v>
                  </c:pt>
                  <c:pt idx="23">
                    <c:v>Mar-27</c:v>
                  </c:pt>
                </c:lvl>
              </c:multiLvlStrCache>
            </c:multiLvl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668</c:v>
                </c:pt>
                <c:pt idx="17">
                  <c:v>678</c:v>
                </c:pt>
                <c:pt idx="18">
                  <c:v>688</c:v>
                </c:pt>
                <c:pt idx="19">
                  <c:v>698</c:v>
                </c:pt>
                <c:pt idx="20">
                  <c:v>708</c:v>
                </c:pt>
                <c:pt idx="21">
                  <c:v>718</c:v>
                </c:pt>
                <c:pt idx="22">
                  <c:v>727</c:v>
                </c:pt>
                <c:pt idx="23">
                  <c:v>737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בשימוש</c:v>
                </c:pt>
              </c:strCache>
            </c:strRef>
          </c:tx>
          <c:spPr>
            <a:solidFill>
              <a:srgbClr val="FF9F43"/>
            </a:solidFill>
            <a:ln w="31750" cap="flat">
              <a:solidFill>
                <a:srgbClr val="FF9F4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9F43"/>
              </a:solidFill>
              <a:ln w="9525" cap="flat">
                <a:solidFill>
                  <a:srgbClr val="FF9F4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Apr-25</c:v>
                  </c:pt>
                  <c:pt idx="1">
                    <c:v>May-25</c:v>
                  </c:pt>
                  <c:pt idx="2">
                    <c:v>Jun-25</c:v>
                  </c:pt>
                  <c:pt idx="3">
                    <c:v>Jul-25</c:v>
                  </c:pt>
                  <c:pt idx="4">
                    <c:v>Aug-25</c:v>
                  </c:pt>
                  <c:pt idx="5">
                    <c:v>Sep-25</c:v>
                  </c:pt>
                  <c:pt idx="6">
                    <c:v>Oct-25</c:v>
                  </c:pt>
                  <c:pt idx="7">
                    <c:v>Nov-25</c:v>
                  </c:pt>
                  <c:pt idx="8">
                    <c:v>Dec-25</c:v>
                  </c:pt>
                  <c:pt idx="9">
                    <c:v>Jan-26</c:v>
                  </c:pt>
                  <c:pt idx="10">
                    <c:v>Feb-26</c:v>
                  </c:pt>
                  <c:pt idx="11">
                    <c:v>Mar-26</c:v>
                  </c:pt>
                  <c:pt idx="12">
                    <c:v>Apr-26</c:v>
                  </c:pt>
                  <c:pt idx="13">
                    <c:v>May-26</c:v>
                  </c:pt>
                  <c:pt idx="14">
                    <c:v>Jun-26</c:v>
                  </c:pt>
                  <c:pt idx="15">
                    <c:v>Jul-26</c:v>
                  </c:pt>
                  <c:pt idx="16">
                    <c:v>Aug-26</c:v>
                  </c:pt>
                  <c:pt idx="17">
                    <c:v>Sep-26</c:v>
                  </c:pt>
                  <c:pt idx="18">
                    <c:v>Oct-26</c:v>
                  </c:pt>
                  <c:pt idx="19">
                    <c:v>Nov-26</c:v>
                  </c:pt>
                  <c:pt idx="20">
                    <c:v>Dec-26</c:v>
                  </c:pt>
                  <c:pt idx="21">
                    <c:v>Jan-27</c:v>
                  </c:pt>
                  <c:pt idx="22">
                    <c:v>Feb-27</c:v>
                  </c:pt>
                  <c:pt idx="23">
                    <c:v>Mar-27</c:v>
                  </c:pt>
                </c:lvl>
              </c:multiLvlStrCache>
            </c:multiLvlStrRef>
          </c:cat>
          <c:val>
            <c:numRef>
              <c:f>Sheet1!$F$2:$F$25</c:f>
              <c:numCache>
                <c:formatCode>General</c:formatCode>
                <c:ptCount val="24"/>
                <c:pt idx="0">
                  <c:v>516</c:v>
                </c:pt>
                <c:pt idx="1">
                  <c:v>520</c:v>
                </c:pt>
                <c:pt idx="2">
                  <c:v>526</c:v>
                </c:pt>
                <c:pt idx="3">
                  <c:v>530</c:v>
                </c:pt>
                <c:pt idx="4">
                  <c:v>549</c:v>
                </c:pt>
                <c:pt idx="5">
                  <c:v>560</c:v>
                </c:pt>
                <c:pt idx="6">
                  <c:v>569</c:v>
                </c:pt>
                <c:pt idx="7">
                  <c:v>577</c:v>
                </c:pt>
                <c:pt idx="8">
                  <c:v>605</c:v>
                </c:pt>
                <c:pt idx="9">
                  <c:v>628</c:v>
                </c:pt>
                <c:pt idx="10">
                  <c:v>642</c:v>
                </c:pt>
                <c:pt idx="11">
                  <c:v>650</c:v>
                </c:pt>
                <c:pt idx="12">
                  <c:v>660</c:v>
                </c:pt>
                <c:pt idx="13">
                  <c:v>668</c:v>
                </c:pt>
                <c:pt idx="14">
                  <c:v>680</c:v>
                </c:pt>
                <c:pt idx="15">
                  <c:v>679</c:v>
                </c:pt>
                <c:pt idx="16">
                  <c:v>668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304A"/>
            </a:solidFill>
            <a:prstDash val="solid"/>
            <a:round/>
          </a:ln>
        </c:spPr>
        <c:txPr>
          <a:bodyPr rot="18000000"/>
          <a:lstStyle/>
          <a:p>
            <a:pPr>
              <a:defRPr sz="850" b="0" i="0" u="none" strike="noStrike">
                <a:solidFill>
                  <a:srgbClr val="5E6E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0"/>
          <c:min val="450"/>
        </c:scaling>
        <c:delete val="0"/>
        <c:axPos val="l"/>
        <c:majorGridlines>
          <c:spPr>
            <a:ln w="12700" cap="flat">
              <a:solidFill>
                <a:srgbClr val="1C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solidFill>
          <a:srgbClr val="0E1422"/>
        </a:solidFill>
        <a:ln>
          <a:noFill/>
        </a:ln>
        <a:effectLst/>
      </c:spPr>
    </c:plotArea>
    <c:plotVisOnly val="1"/>
    <c:dispBlanksAs val="gap"/>
  </c:chart>
  <c:spPr>
    <a:solidFill>
      <a:srgbClr val="0E1422"/>
    </a:solidFill>
    <a:ln w="12700" cap="flat">
      <a:solidFill>
        <a:srgbClr val="0E1422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עלות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&quot;$&quot;0.0&quot;K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4F7F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DC9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D9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7CF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Dell ECS On-Prem</c:v>
                  </c:pt>
                  <c:pt idx="1">
                    <c:v>AWS S3 Standard</c:v>
                  </c:pt>
                  <c:pt idx="2">
                    <c:v>AWS S3 + API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115.8</c:v>
                </c:pt>
                <c:pt idx="1">
                  <c:v>146.5</c:v>
                </c:pt>
                <c:pt idx="2">
                  <c:v>155</c:v>
                </c:pt>
              </c:numCache>
            </c:numRef>
          </c:val>
        </c:ser>
        <c:dLbls>
          <c:numFmt formatCode="&quot;$&quot;0.0&quot;K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F4F7F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3304A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l"/>
        <c:majorGridlines>
          <c:spPr>
            <a:ln w="12700" cap="flat">
              <a:solidFill>
                <a:srgbClr val="1C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60"/>
      </c:valAx>
      <c:spPr>
        <a:solidFill>
          <a:srgbClr val="0E1422"/>
        </a:solidFill>
        <a:ln>
          <a:noFill/>
        </a:ln>
        <a:effectLst/>
      </c:spPr>
    </c:plotArea>
    <c:plotVisOnly val="1"/>
    <c:dispBlanksAs val="span"/>
  </c:chart>
  <c:spPr>
    <a:solidFill>
      <a:srgbClr val="0E1422"/>
    </a:solidFill>
    <a:ln w="12700" cap="flat">
      <a:solidFill>
        <a:srgbClr val="0E1422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-1005840"/>
            <a:ext cx="4754880" cy="4754880"/>
          </a:xfrm>
          <a:prstGeom prst="rect">
            <a:avLst/>
          </a:prstGeom>
          <a:solidFill>
            <a:srgbClr val="0C1322"/>
          </a:solidFill>
          <a:ln w="12700">
            <a:solidFill>
              <a:srgbClr val="0C13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3017520"/>
            <a:ext cx="3108960" cy="3108960"/>
          </a:xfrm>
          <a:prstGeom prst="rect">
            <a:avLst/>
          </a:prstGeom>
          <a:solidFill>
            <a:srgbClr val="0A101C"/>
          </a:solidFill>
          <a:ln w="12700">
            <a:solidFill>
              <a:srgbClr val="0A10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200" b="1" spc="120" kern="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‫הראל · תשתיות ‪IT‬ · ניהול קיבולת אחסון‬</a:t>
            </a:r>
            <a:endParaRPr lang="he-IL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4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‫העתקת מסמכי דימות ושיחות לענן‬</a:t>
            </a:r>
            <a:endParaRPr lang="he-IL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5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‫מ-‪ECS On-Prem‬ ל-‪AWS S3‬ · מצגת לקבלת החלטה · אוגוסט ‪2026‬‬</a:t>
            </a:r>
            <a:endParaRPr lang="he-IL" sz="1500" dirty="0"/>
          </a:p>
        </p:txBody>
      </p:sp>
      <p:sp>
        <p:nvSpPr>
          <p:cNvPr id="8" name="Shape 6"/>
          <p:cNvSpPr/>
          <p:nvPr/>
        </p:nvSpPr>
        <p:spPr>
          <a:xfrm>
            <a:off x="8109509" y="3950208"/>
            <a:ext cx="3259226" cy="1170432"/>
          </a:xfrm>
          <a:prstGeom prst="roundRect">
            <a:avLst>
              <a:gd name="adj" fmla="val 3906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65541" y="4078224"/>
            <a:ext cx="27471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b="1" spc="8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‫ניצולת האחסון היום‬</a:t>
            </a:r>
            <a:endParaRPr lang="he-IL" sz="1050" dirty="0"/>
          </a:p>
        </p:txBody>
      </p:sp>
      <p:sp>
        <p:nvSpPr>
          <p:cNvPr id="10" name="Text 8"/>
          <p:cNvSpPr/>
          <p:nvPr/>
        </p:nvSpPr>
        <p:spPr>
          <a:xfrm>
            <a:off x="8365541" y="4315968"/>
            <a:ext cx="27471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26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365541" y="4745736"/>
            <a:ext cx="2747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‫‪668 TB‬ מתוך ‪916 TB‬‬</a:t>
            </a:r>
            <a:endParaRPr lang="he-IL" sz="1100" dirty="0"/>
          </a:p>
        </p:txBody>
      </p:sp>
      <p:sp>
        <p:nvSpPr>
          <p:cNvPr id="12" name="Shape 10"/>
          <p:cNvSpPr/>
          <p:nvPr/>
        </p:nvSpPr>
        <p:spPr>
          <a:xfrm>
            <a:off x="4466234" y="3950208"/>
            <a:ext cx="3259226" cy="1170432"/>
          </a:xfrm>
          <a:prstGeom prst="roundRect">
            <a:avLst>
              <a:gd name="adj" fmla="val 3906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2266" y="4078224"/>
            <a:ext cx="27471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b="1" spc="8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‫המרווח עד סף ‪80%‬‬</a:t>
            </a:r>
            <a:endParaRPr lang="he-IL" sz="1050" dirty="0"/>
          </a:p>
        </p:txBody>
      </p:sp>
      <p:sp>
        <p:nvSpPr>
          <p:cNvPr id="14" name="Text 12"/>
          <p:cNvSpPr/>
          <p:nvPr/>
        </p:nvSpPr>
        <p:spPr>
          <a:xfrm>
            <a:off x="4722266" y="4315968"/>
            <a:ext cx="27471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26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TB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22266" y="4745736"/>
            <a:ext cx="2747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‫כ-‪6‬ חודשים בקצב המגמה‬</a:t>
            </a:r>
            <a:endParaRPr lang="he-IL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950208"/>
            <a:ext cx="3259226" cy="1170432"/>
          </a:xfrm>
          <a:prstGeom prst="roundRect">
            <a:avLst>
              <a:gd name="adj" fmla="val 3906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078224"/>
            <a:ext cx="27471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b="1" spc="8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‫עלות ‪100 TB‬ ל-‪5‬ שנים‬</a:t>
            </a:r>
            <a:endParaRPr lang="he-IL" sz="1050" dirty="0"/>
          </a:p>
        </p:txBody>
      </p:sp>
      <p:sp>
        <p:nvSpPr>
          <p:cNvPr id="18" name="Text 16"/>
          <p:cNvSpPr/>
          <p:nvPr/>
        </p:nvSpPr>
        <p:spPr>
          <a:xfrm>
            <a:off x="1078992" y="4315968"/>
            <a:ext cx="27471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2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$116K–141K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78992" y="4745736"/>
            <a:ext cx="2747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‫‪On-Prem‬ מול ‪AWS S3 Standard‬‬</a:t>
            </a:r>
            <a:endParaRPr lang="he-IL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870448"/>
            <a:ext cx="10543032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0167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‫‪Harel IT Infrastructure‬ · חסוי · הנתונים נכונים לאוגוסט ‪2026‬‬</a:t>
            </a:r>
            <a:endParaRPr lang="he-IL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00" b="1" spc="120" kern="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‫ההחלטה הנדרשת‬</a:t>
            </a:r>
            <a:endParaRPr lang="he-IL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86384"/>
            <a:ext cx="10545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7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‫שתי החלטות נפרדות — ורק אחת מהן דחופה היום‬</a:t>
            </a:r>
            <a:endParaRPr lang="he-IL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70078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29807" y="2103120"/>
            <a:ext cx="5138928" cy="2267712"/>
          </a:xfrm>
          <a:prstGeom prst="roundRect">
            <a:avLst>
              <a:gd name="adj" fmla="val 2016"/>
            </a:avLst>
          </a:prstGeom>
          <a:solidFill>
            <a:srgbClr val="182133"/>
          </a:solidFill>
          <a:ln w="12700">
            <a:solidFill>
              <a:srgbClr val="2E5F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54335" y="234086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2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40703" y="235915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6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‫העתקת מסמכי ‪Commit‬ ל-‪AWS S3‬‬</a:t>
            </a:r>
            <a:endParaRPr lang="he-IL" sz="1650" dirty="0"/>
          </a:p>
        </p:txBody>
      </p:sp>
      <p:sp>
        <p:nvSpPr>
          <p:cNvPr id="8" name="Text 6"/>
          <p:cNvSpPr/>
          <p:nvPr/>
        </p:nvSpPr>
        <p:spPr>
          <a:xfrm>
            <a:off x="6540703" y="2852928"/>
            <a:ext cx="45171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4000"/>
              </a:lnSpc>
              <a:buNone/>
            </a:pPr>
            <a:r>
              <a:rPr lang="he-IL" altLang="en-US" sz="12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‫מפנה שטח ב-‪ECS‬ תוך שבועות, ללא ‪PO‬ וללא זמן אספקה. זה המנוף היחיד שזמין לפני דצמבר ‪2026‬, והוא אינו תלוי בשרשרת האספקה של ‪Dell‬. החשיפה התקציבית המיידית מוגבלת ל-‪POC‬ בהיקף ‪1–2 TB‬ בלבד.‬</a:t>
            </a:r>
            <a:endParaRPr lang="he-IL" sz="1250" dirty="0"/>
          </a:p>
        </p:txBody>
      </p:sp>
      <p:sp>
        <p:nvSpPr>
          <p:cNvPr id="9" name="Shape 7"/>
          <p:cNvSpPr/>
          <p:nvPr/>
        </p:nvSpPr>
        <p:spPr>
          <a:xfrm>
            <a:off x="6540703" y="3767328"/>
            <a:ext cx="4517136" cy="457200"/>
          </a:xfrm>
          <a:prstGeom prst="roundRect">
            <a:avLst>
              <a:gd name="adj" fmla="val 24000"/>
            </a:avLst>
          </a:prstGeom>
          <a:solidFill>
            <a:srgbClr val="13303A"/>
          </a:solidFill>
          <a:ln w="12700">
            <a:solidFill>
              <a:srgbClr val="133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87007" y="376732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2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‫נדרש היום: אישור עקרוני + תקציב ‪POC‬‬</a:t>
            </a:r>
            <a:endParaRPr lang="he-IL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103120"/>
            <a:ext cx="5138928" cy="2267712"/>
          </a:xfrm>
          <a:prstGeom prst="roundRect">
            <a:avLst>
              <a:gd name="adj" fmla="val 2016"/>
            </a:avLst>
          </a:prstGeom>
          <a:solidFill>
            <a:srgbClr val="182133"/>
          </a:solidFill>
          <a:ln w="12700">
            <a:solidFill>
              <a:srgbClr val="5A4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234086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2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33856" y="235915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6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‫הרחבת דיסקים ב-‪Dell ECS On-Prem‬‬</a:t>
            </a:r>
            <a:endParaRPr lang="he-IL" sz="1650" dirty="0"/>
          </a:p>
        </p:txBody>
      </p:sp>
      <p:sp>
        <p:nvSpPr>
          <p:cNvPr id="14" name="Text 12"/>
          <p:cNvSpPr/>
          <p:nvPr/>
        </p:nvSpPr>
        <p:spPr>
          <a:xfrm>
            <a:off x="1133856" y="2852928"/>
            <a:ext cx="45171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4000"/>
              </a:lnSpc>
              <a:buNone/>
            </a:pPr>
            <a:r>
              <a:rPr lang="he-IL" altLang="en-US" sz="12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‫זמן אספקה כחודשיים. אינה דחופה השבוע — אך אסור שתיקבע לפי תאריך בלוח השנה, אלא לפי טריגר ניצולת שמבטיח חודשיים אספקה בכל תרחיש. הצעת ‪Dell‬ הנוכחית עומדת על ‪$695,520‬ עבור ‪600 TB‬ לוגי.‬</a:t>
            </a:r>
            <a:endParaRPr lang="he-IL" sz="1250" dirty="0"/>
          </a:p>
        </p:txBody>
      </p:sp>
      <p:sp>
        <p:nvSpPr>
          <p:cNvPr id="15" name="Shape 13"/>
          <p:cNvSpPr/>
          <p:nvPr/>
        </p:nvSpPr>
        <p:spPr>
          <a:xfrm>
            <a:off x="1133856" y="3767328"/>
            <a:ext cx="4517136" cy="457200"/>
          </a:xfrm>
          <a:prstGeom prst="roundRect">
            <a:avLst>
              <a:gd name="adj" fmla="val 24000"/>
            </a:avLst>
          </a:prstGeom>
          <a:solidFill>
            <a:srgbClr val="3A2A12"/>
          </a:solidFill>
          <a:ln w="12700">
            <a:solidFill>
              <a:srgbClr val="3A2A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76732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2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‫נדרש היום: אישור טריגר רכש בניצולת ‪75%‬‬</a:t>
            </a:r>
            <a:endParaRPr lang="he-IL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7091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‫שתי ההחלטות אינן חלופיות. ההעתקה לענן דוחה ומקטינה את הרכש — היא אינה מבטלת אותו.‬</a:t>
            </a:r>
            <a:endParaRPr lang="he-IL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590702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49863" y="6172200"/>
            <a:ext cx="118872" cy="118872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6089904"/>
            <a:ext cx="10289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‫אין צורך באישור תקציב סופי לרכש בישיבה זו. הנתון החסר להחלטה מלאה הוא גודל קורפוס ה-‪Commit‬ — כמה ‪TB‬ באמת יפונו.‬</a:t>
            </a:r>
            <a:endParaRPr lang="he-IL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00" b="1" spc="12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‫המצב היום‬</a:t>
            </a:r>
            <a:endParaRPr lang="he-IL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86384"/>
            <a:ext cx="10545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‫‪668 TB‬ מתוך ‪916 TB‬ — והגידול נעצר בשלושת החודשים האחרונים‬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70078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57016" y="2084832"/>
            <a:ext cx="50292" cy="106070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6654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30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523744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b="1" spc="8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‫ניצולת נוכחית‬</a:t>
            </a:r>
            <a:endParaRPr lang="he-IL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779776"/>
            <a:ext cx="2587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‫אוגוסט ‪2026 · 668 TB‬ מתוך ‪916 TB‬‬</a:t>
            </a:r>
            <a:endParaRPr lang="he-IL" sz="1100" dirty="0"/>
          </a:p>
        </p:txBody>
      </p:sp>
      <p:sp>
        <p:nvSpPr>
          <p:cNvPr id="9" name="Shape 7"/>
          <p:cNvSpPr/>
          <p:nvPr/>
        </p:nvSpPr>
        <p:spPr>
          <a:xfrm>
            <a:off x="3557016" y="3419856"/>
            <a:ext cx="50292" cy="1060704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40156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30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TB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2960" y="3858768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b="1" spc="8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‫מרווח עד סף ‪80%‬‬</a:t>
            </a:r>
            <a:endParaRPr lang="he-IL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2587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‫הסף עומד על ‪733 TB‬‬</a:t>
            </a:r>
            <a:endParaRPr lang="he-IL" sz="1100" dirty="0"/>
          </a:p>
        </p:txBody>
      </p:sp>
      <p:sp>
        <p:nvSpPr>
          <p:cNvPr id="13" name="Shape 11"/>
          <p:cNvSpPr/>
          <p:nvPr/>
        </p:nvSpPr>
        <p:spPr>
          <a:xfrm>
            <a:off x="3557016" y="4754880"/>
            <a:ext cx="50292" cy="1060704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73659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30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 TB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2960" y="5193792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b="1" spc="8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‫גידול חודשי · ‪12‬ חודשים‬</a:t>
            </a:r>
            <a:endParaRPr lang="he-IL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5449824"/>
            <a:ext cx="2587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‫אך מאי–אוגוסט ‪2026‬: ללא גידול נטו‬</a:t>
            </a:r>
            <a:endParaRPr lang="he-IL" sz="1100" dirty="0"/>
          </a:p>
        </p:txBody>
      </p:sp>
      <p:sp>
        <p:nvSpPr>
          <p:cNvPr id="17" name="Text 15"/>
          <p:cNvSpPr/>
          <p:nvPr/>
        </p:nvSpPr>
        <p:spPr>
          <a:xfrm>
            <a:off x="3913632" y="1828800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00" b="1" spc="8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‫ניצולת אחסון ותחזית · ‪TB‬‬</a:t>
            </a:r>
            <a:endParaRPr lang="he-IL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913632" y="2103120"/>
          <a:ext cx="7452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11222431" y="5481828"/>
            <a:ext cx="146304" cy="10058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05111" y="5431536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‫בשימוש בפועל‬</a:t>
            </a:r>
            <a:endParaRPr lang="he-IL" sz="1050" dirty="0"/>
          </a:p>
        </p:txBody>
      </p:sp>
      <p:sp>
        <p:nvSpPr>
          <p:cNvPr id="21" name="Shape 18"/>
          <p:cNvSpPr/>
          <p:nvPr/>
        </p:nvSpPr>
        <p:spPr>
          <a:xfrm>
            <a:off x="9741103" y="5481828"/>
            <a:ext cx="146304" cy="100584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23783" y="5431536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‫תחזית מגמה‬</a:t>
            </a:r>
            <a:endParaRPr lang="he-IL" sz="1050" dirty="0"/>
          </a:p>
        </p:txBody>
      </p:sp>
      <p:sp>
        <p:nvSpPr>
          <p:cNvPr id="23" name="Shape 20"/>
          <p:cNvSpPr/>
          <p:nvPr/>
        </p:nvSpPr>
        <p:spPr>
          <a:xfrm>
            <a:off x="8259775" y="5481828"/>
            <a:ext cx="146304" cy="100584"/>
          </a:xfrm>
          <a:prstGeom prst="rect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42455" y="5431536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‫תרחיש מואץ‬</a:t>
            </a:r>
            <a:endParaRPr lang="he-IL" sz="1050" dirty="0"/>
          </a:p>
        </p:txBody>
      </p:sp>
      <p:sp>
        <p:nvSpPr>
          <p:cNvPr id="25" name="Shape 22"/>
          <p:cNvSpPr/>
          <p:nvPr/>
        </p:nvSpPr>
        <p:spPr>
          <a:xfrm>
            <a:off x="6778447" y="5481828"/>
            <a:ext cx="146304" cy="100584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61127" y="5431536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‫סף ‪80%‬‬</a:t>
            </a:r>
            <a:endParaRPr lang="he-IL" sz="1050" dirty="0"/>
          </a:p>
        </p:txBody>
      </p:sp>
      <p:sp>
        <p:nvSpPr>
          <p:cNvPr id="27" name="Shape 24"/>
          <p:cNvSpPr/>
          <p:nvPr/>
        </p:nvSpPr>
        <p:spPr>
          <a:xfrm>
            <a:off x="5297119" y="5481828"/>
            <a:ext cx="146304" cy="100584"/>
          </a:xfrm>
          <a:prstGeom prst="rect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79799" y="5431536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‫קיבולת‬</a:t>
            </a:r>
            <a:endParaRPr lang="he-IL" sz="1050" dirty="0"/>
          </a:p>
        </p:txBody>
      </p:sp>
      <p:sp>
        <p:nvSpPr>
          <p:cNvPr id="29" name="Shape 26"/>
          <p:cNvSpPr/>
          <p:nvPr/>
        </p:nvSpPr>
        <p:spPr>
          <a:xfrm>
            <a:off x="822960" y="590702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1249863" y="6172200"/>
            <a:ext cx="118872" cy="11887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" y="6089904"/>
            <a:ext cx="10289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‫ההרחבה הקודמת העלתה את הקיבולת מ-‪696 TB‬ ל-‪916 TB‬ באפריל ‪2025 — 220 TB‬, כלומר כ-‪22‬ חודשי מרווח בקצב המגמה הנוכחי.‬</a:t>
            </a:r>
            <a:endParaRPr lang="he-IL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00" b="1" spc="120" kern="0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‫תיקון לתחזית‬</a:t>
            </a:r>
            <a:endParaRPr lang="he-IL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86384"/>
            <a:ext cx="10545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‫סף ‪80%‬ לא ייחצה באוקטובר ‪2026‬ — אלא בין נובמבר ‪2026‬ למרץ ‪2027‬‬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70078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2615" y="2066544"/>
            <a:ext cx="3246120" cy="1938528"/>
          </a:xfrm>
          <a:prstGeom prst="roundRect">
            <a:avLst>
              <a:gd name="adj" fmla="val 2358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11535" y="2340864"/>
            <a:ext cx="118872" cy="118872"/>
          </a:xfrm>
          <a:prstGeom prst="rect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6935" y="22677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‫תרחיש מואץ‬</a:t>
            </a:r>
            <a:endParaRPr lang="he-IL" sz="1300" dirty="0"/>
          </a:p>
        </p:txBody>
      </p:sp>
      <p:sp>
        <p:nvSpPr>
          <p:cNvPr id="8" name="Text 6"/>
          <p:cNvSpPr/>
          <p:nvPr/>
        </p:nvSpPr>
        <p:spPr>
          <a:xfrm>
            <a:off x="8396935" y="256032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‫כ-‪23 TB‬ לחודש‬</a:t>
            </a:r>
            <a:endParaRPr lang="he-IL" sz="1150" dirty="0"/>
          </a:p>
        </p:txBody>
      </p:sp>
      <p:sp>
        <p:nvSpPr>
          <p:cNvPr id="9" name="Text 7"/>
          <p:cNvSpPr/>
          <p:nvPr/>
        </p:nvSpPr>
        <p:spPr>
          <a:xfrm>
            <a:off x="8396935" y="288950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27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‫נובמבר ‪2026‬‬</a:t>
            </a:r>
            <a:endParaRPr lang="he-IL" sz="2700" dirty="0"/>
          </a:p>
        </p:txBody>
      </p:sp>
      <p:sp>
        <p:nvSpPr>
          <p:cNvPr id="10" name="Text 8"/>
          <p:cNvSpPr/>
          <p:nvPr/>
        </p:nvSpPr>
        <p:spPr>
          <a:xfrm>
            <a:off x="8396935" y="34381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‫גבול אי-הוודאות העליון של הדשבורד‬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4474159" y="2066544"/>
            <a:ext cx="3246120" cy="1938528"/>
          </a:xfrm>
          <a:prstGeom prst="roundRect">
            <a:avLst>
              <a:gd name="adj" fmla="val 2358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3079" y="2340864"/>
            <a:ext cx="118872" cy="11887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8479" y="22677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‫תחזית הדשבורד‬</a:t>
            </a:r>
            <a:endParaRPr lang="he-IL" sz="1300" dirty="0"/>
          </a:p>
        </p:txBody>
      </p:sp>
      <p:sp>
        <p:nvSpPr>
          <p:cNvPr id="14" name="Text 12"/>
          <p:cNvSpPr/>
          <p:nvPr/>
        </p:nvSpPr>
        <p:spPr>
          <a:xfrm>
            <a:off x="4748479" y="256032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‫כ-‪14 TB‬ לחודש‬</a:t>
            </a:r>
            <a:endParaRPr lang="he-IL" sz="1150" dirty="0"/>
          </a:p>
        </p:txBody>
      </p:sp>
      <p:sp>
        <p:nvSpPr>
          <p:cNvPr id="15" name="Text 13"/>
          <p:cNvSpPr/>
          <p:nvPr/>
        </p:nvSpPr>
        <p:spPr>
          <a:xfrm>
            <a:off x="4748479" y="288950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27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‫ינואר ‪2027‬‬</a:t>
            </a:r>
            <a:endParaRPr lang="he-IL" sz="2700" dirty="0"/>
          </a:p>
        </p:txBody>
      </p:sp>
      <p:sp>
        <p:nvSpPr>
          <p:cNvPr id="16" name="Text 14"/>
          <p:cNvSpPr/>
          <p:nvPr/>
        </p:nvSpPr>
        <p:spPr>
          <a:xfrm>
            <a:off x="4748479" y="34381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‫שיפוע סדרת התחזית הקיימת‬</a:t>
            </a:r>
            <a:endParaRPr lang="he-IL" sz="1100" dirty="0"/>
          </a:p>
        </p:txBody>
      </p:sp>
      <p:sp>
        <p:nvSpPr>
          <p:cNvPr id="17" name="Shape 15"/>
          <p:cNvSpPr/>
          <p:nvPr/>
        </p:nvSpPr>
        <p:spPr>
          <a:xfrm>
            <a:off x="825703" y="2066544"/>
            <a:ext cx="3246120" cy="1938528"/>
          </a:xfrm>
          <a:prstGeom prst="roundRect">
            <a:avLst>
              <a:gd name="adj" fmla="val 2358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14623" y="2340864"/>
            <a:ext cx="118872" cy="11887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0023" y="22677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‫תרחיש מגמה‬</a:t>
            </a:r>
            <a:endParaRPr lang="he-IL" sz="1300" dirty="0"/>
          </a:p>
        </p:txBody>
      </p:sp>
      <p:sp>
        <p:nvSpPr>
          <p:cNvPr id="20" name="Text 18"/>
          <p:cNvSpPr/>
          <p:nvPr/>
        </p:nvSpPr>
        <p:spPr>
          <a:xfrm>
            <a:off x="1100023" y="256032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‫‪9.9 TB‬ לחודש‬</a:t>
            </a:r>
            <a:endParaRPr lang="he-IL" sz="1150" dirty="0"/>
          </a:p>
        </p:txBody>
      </p:sp>
      <p:sp>
        <p:nvSpPr>
          <p:cNvPr id="21" name="Text 19"/>
          <p:cNvSpPr/>
          <p:nvPr/>
        </p:nvSpPr>
        <p:spPr>
          <a:xfrm>
            <a:off x="1100023" y="288950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27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‫מרץ ‪2027‬‬</a:t>
            </a:r>
            <a:endParaRPr lang="he-IL" sz="2700" dirty="0"/>
          </a:p>
        </p:txBody>
      </p:sp>
      <p:sp>
        <p:nvSpPr>
          <p:cNvPr id="22" name="Text 20"/>
          <p:cNvSpPr/>
          <p:nvPr/>
        </p:nvSpPr>
        <p:spPr>
          <a:xfrm>
            <a:off x="1100023" y="34381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‫ממוצע ‪12‬ החודשים האחרונים בפועל‬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4261104"/>
            <a:ext cx="10545775" cy="1243584"/>
          </a:xfrm>
          <a:prstGeom prst="roundRect">
            <a:avLst>
              <a:gd name="adj" fmla="val 3676"/>
            </a:avLst>
          </a:prstGeom>
          <a:solidFill>
            <a:srgbClr val="2A1620"/>
          </a:solidFill>
          <a:ln w="12700">
            <a:solidFill>
              <a:srgbClr val="5A2A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29823" y="4480560"/>
            <a:ext cx="118872" cy="118872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407408"/>
            <a:ext cx="9722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2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‫מה שהדשבורד מציג כיום — ומה שגוי בו‬</a:t>
            </a:r>
            <a:endParaRPr lang="he-IL" sz="1250" dirty="0"/>
          </a:p>
        </p:txBody>
      </p:sp>
      <p:sp>
        <p:nvSpPr>
          <p:cNvPr id="26" name="Text 24"/>
          <p:cNvSpPr/>
          <p:nvPr/>
        </p:nvSpPr>
        <p:spPr>
          <a:xfrm>
            <a:off x="1097280" y="4663440"/>
            <a:ext cx="99971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‫הדשבורד מסמן את אוקטובר ‪2026‬ כמועד חציית ‪80%‬ ומציין ‪733 TB‬. סדרת התחזית שבתוכו מגיעה באוקטובר ל-‪695 TB‬ בלבד — ‪75.9%‬ ניצולת. אוקטובר הוא מועד היעד להוצאת הרכש, לא מועד חציית הסף; שני הקווים מצוירים על אותו חודש וזה מקור הבלבול. בנוסף, הדשבורד מציג ניצולת של ‪75%‬ במקום ‪72.9%‬, ומציג תחזית של ‪710 TB‬ לדצמבר בעוד סדרת הנתונים שלו עצמה נותנת ‪725 TB‬.‬</a:t>
            </a:r>
            <a:endParaRPr lang="he-IL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590702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49863" y="6172200"/>
            <a:ext cx="118872" cy="11887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6089904"/>
            <a:ext cx="10289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‫המלצה: להחליף יעד-תאריך בטריגר ניצולת. הוצאת ‪PO‬ כאשר הניצולת מגיעה ל-‪75% (687 TB)‬ משאירה לפחות חודשיים אספקה גם בתרחיש המואץ. היום חסרים ‪19 TB‬ לטריגר.‬</a:t>
            </a:r>
            <a:endParaRPr lang="he-IL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00" b="1" spc="12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‫השוואת עלויות‬</a:t>
            </a:r>
            <a:endParaRPr lang="he-IL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86384"/>
            <a:ext cx="10545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‫‪100 TB‬ ל-‪5‬ שנים: ‪$116K‬ ב-‪On-Prem‬ מול ‪$138K–165K‬ ב-‪AWS S3 Standard‬‬</a:t>
            </a:r>
            <a:endParaRPr lang="he-IL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70078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13632" y="1847088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00" b="1" spc="8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‫עלות ‪100 TB‬ לחמש שנים · אלפי דולרים‬</a:t>
            </a:r>
            <a:endParaRPr lang="he-IL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913632" y="2121408"/>
          <a:ext cx="74523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3557016" y="2084832"/>
            <a:ext cx="50292" cy="1060704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06654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2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$1,158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2523744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b="1" spc="8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‫לכל ‪TB‬ לוגי · ‪Dell ECS‬‬</a:t>
            </a:r>
            <a:endParaRPr lang="he-IL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2779776"/>
            <a:ext cx="2587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‫כולל ‪Replica x3‬ בין שלושה אתרים‬</a:t>
            </a:r>
            <a:endParaRPr lang="he-IL" sz="1100" dirty="0"/>
          </a:p>
        </p:txBody>
      </p:sp>
      <p:sp>
        <p:nvSpPr>
          <p:cNvPr id="11" name="Shape 8"/>
          <p:cNvSpPr/>
          <p:nvPr/>
        </p:nvSpPr>
        <p:spPr>
          <a:xfrm>
            <a:off x="3557016" y="3419856"/>
            <a:ext cx="50292" cy="1060704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40156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26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$1,380–1,650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22960" y="3858768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b="1" spc="8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‫לכל ‪TB · AWS S3 Standard‬‬</a:t>
            </a:r>
            <a:endParaRPr lang="he-IL" sz="1050" dirty="0"/>
          </a:p>
        </p:txBody>
      </p:sp>
      <p:sp>
        <p:nvSpPr>
          <p:cNvPr id="14" name="Text 11"/>
          <p:cNvSpPr/>
          <p:nvPr/>
        </p:nvSpPr>
        <p:spPr>
          <a:xfrm>
            <a:off x="822960" y="4114800"/>
            <a:ext cx="2587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‫עמידות מובנית, ללא כפל אחסון מצידנו‬</a:t>
            </a:r>
            <a:endParaRPr lang="he-IL" sz="1100" dirty="0"/>
          </a:p>
        </p:txBody>
      </p:sp>
      <p:sp>
        <p:nvSpPr>
          <p:cNvPr id="15" name="Shape 12"/>
          <p:cNvSpPr/>
          <p:nvPr/>
        </p:nvSpPr>
        <p:spPr>
          <a:xfrm>
            <a:off x="3557016" y="4754880"/>
            <a:ext cx="50292" cy="1060704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73659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26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16%–30%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22960" y="5193792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b="1" spc="8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‫יתרון ל-‪Dell ECS‬‬</a:t>
            </a:r>
            <a:endParaRPr lang="he-IL" sz="1050" dirty="0"/>
          </a:p>
        </p:txBody>
      </p:sp>
      <p:sp>
        <p:nvSpPr>
          <p:cNvPr id="18" name="Text 15"/>
          <p:cNvSpPr/>
          <p:nvPr/>
        </p:nvSpPr>
        <p:spPr>
          <a:xfrm>
            <a:off x="822960" y="5449824"/>
            <a:ext cx="2587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0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‫מול ‪S3 Standard‬ בלבד — ראו השקף הבא‬</a:t>
            </a:r>
            <a:endParaRPr lang="he-IL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590702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249863" y="6172200"/>
            <a:ext cx="118872" cy="11887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6089904"/>
            <a:ext cx="10289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‫מקור ‪On-Prem‬: הצעת ‪Dell — $695,520‬ עבור ‪1,800 TB‬ נטו ‪(3,024 TB‬ ברוטו‪), $386‬ ל-‪TB‬ נטו, בהוספת דיסקים ל-‪21 nodes‬ קיימים ללא ‪nodes‬ חדשים. שני הצדדים מנורמלים ל-‪100 TB‬ לוגי.‬</a:t>
            </a:r>
            <a:endParaRPr lang="he-IL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00" b="1" spc="120" kern="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‫מה שההשוואה מפספסת‬</a:t>
            </a:r>
            <a:endParaRPr lang="he-IL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86384"/>
            <a:ext cx="10545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‫השוואנו מול ‪S3 Standard‬ — אבל דימות ושיחות הם דאטה ארכיוני‬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70078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55080" y="1938528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00" b="1" spc="8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‫עלות ‪100 TB‬ לחמש שנים לפי שכבת אחסון‬</a:t>
            </a:r>
            <a:endParaRPr lang="he-IL" sz="1100" dirty="0"/>
          </a:p>
        </p:txBody>
      </p:sp>
      <p:sp>
        <p:nvSpPr>
          <p:cNvPr id="6" name="Text 4"/>
          <p:cNvSpPr/>
          <p:nvPr/>
        </p:nvSpPr>
        <p:spPr>
          <a:xfrm>
            <a:off x="7836408" y="224942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‫‪S3 Standard‬‬</a:t>
            </a:r>
            <a:endParaRPr lang="he-IL" sz="1250" dirty="0"/>
          </a:p>
        </p:txBody>
      </p:sp>
      <p:sp>
        <p:nvSpPr>
          <p:cNvPr id="7" name="Text 5"/>
          <p:cNvSpPr/>
          <p:nvPr/>
        </p:nvSpPr>
        <p:spPr>
          <a:xfrm>
            <a:off x="7836408" y="248716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‫‪$0.023 / GB‬‬</a:t>
            </a:r>
            <a:endParaRPr lang="he-IL" sz="1050" dirty="0"/>
          </a:p>
        </p:txBody>
      </p:sp>
      <p:sp>
        <p:nvSpPr>
          <p:cNvPr id="8" name="Shape 6"/>
          <p:cNvSpPr/>
          <p:nvPr/>
        </p:nvSpPr>
        <p:spPr>
          <a:xfrm>
            <a:off x="7836408" y="2724912"/>
            <a:ext cx="3383280" cy="173736"/>
          </a:xfrm>
          <a:prstGeom prst="roundRect">
            <a:avLst>
              <a:gd name="adj" fmla="val 210526"/>
            </a:avLst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322576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20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$141K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836408" y="2999232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‫‪Dell ECS On-Prem‬‬</a:t>
            </a:r>
            <a:endParaRPr lang="he-IL" sz="1250" dirty="0"/>
          </a:p>
        </p:txBody>
      </p:sp>
      <p:sp>
        <p:nvSpPr>
          <p:cNvPr id="11" name="Text 9"/>
          <p:cNvSpPr/>
          <p:nvPr/>
        </p:nvSpPr>
        <p:spPr>
          <a:xfrm>
            <a:off x="7836408" y="323697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‫‪capex‬ דיסקים‬</a:t>
            </a:r>
            <a:endParaRPr lang="he-IL" sz="1050" dirty="0"/>
          </a:p>
        </p:txBody>
      </p:sp>
      <p:sp>
        <p:nvSpPr>
          <p:cNvPr id="12" name="Shape 10"/>
          <p:cNvSpPr/>
          <p:nvPr/>
        </p:nvSpPr>
        <p:spPr>
          <a:xfrm>
            <a:off x="8445398" y="3474720"/>
            <a:ext cx="2774290" cy="173736"/>
          </a:xfrm>
          <a:prstGeom prst="roundRect">
            <a:avLst>
              <a:gd name="adj" fmla="val 210526"/>
            </a:avLst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072384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20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$116K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36408" y="3749040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‫‪S3 Standard-IA‬‬</a:t>
            </a:r>
            <a:endParaRPr lang="he-IL" sz="1250" dirty="0"/>
          </a:p>
        </p:txBody>
      </p:sp>
      <p:sp>
        <p:nvSpPr>
          <p:cNvPr id="15" name="Text 13"/>
          <p:cNvSpPr/>
          <p:nvPr/>
        </p:nvSpPr>
        <p:spPr>
          <a:xfrm>
            <a:off x="7836408" y="398678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‫‪$0.0125 / GB‬‬</a:t>
            </a:r>
            <a:endParaRPr lang="he-IL" sz="1050" dirty="0"/>
          </a:p>
        </p:txBody>
      </p:sp>
      <p:sp>
        <p:nvSpPr>
          <p:cNvPr id="16" name="Shape 14"/>
          <p:cNvSpPr/>
          <p:nvPr/>
        </p:nvSpPr>
        <p:spPr>
          <a:xfrm>
            <a:off x="9392717" y="4224528"/>
            <a:ext cx="1826971" cy="173736"/>
          </a:xfrm>
          <a:prstGeom prst="roundRect">
            <a:avLst>
              <a:gd name="adj" fmla="val 210526"/>
            </a:avLst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82219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20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36408" y="4498848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‫‪S3 Glacier Instant Retrieval‬‬</a:t>
            </a:r>
            <a:endParaRPr lang="he-IL" sz="1250" dirty="0"/>
          </a:p>
        </p:txBody>
      </p:sp>
      <p:sp>
        <p:nvSpPr>
          <p:cNvPr id="19" name="Text 17"/>
          <p:cNvSpPr/>
          <p:nvPr/>
        </p:nvSpPr>
        <p:spPr>
          <a:xfrm>
            <a:off x="7836408" y="473659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5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‫‪$0.004 / GB‬‬</a:t>
            </a:r>
            <a:endParaRPr lang="he-IL" sz="1050" dirty="0"/>
          </a:p>
        </p:txBody>
      </p:sp>
      <p:sp>
        <p:nvSpPr>
          <p:cNvPr id="20" name="Shape 18"/>
          <p:cNvSpPr/>
          <p:nvPr/>
        </p:nvSpPr>
        <p:spPr>
          <a:xfrm>
            <a:off x="10644530" y="4974336"/>
            <a:ext cx="575158" cy="173736"/>
          </a:xfrm>
          <a:prstGeom prst="roundRect">
            <a:avLst>
              <a:gd name="adj" fmla="val 210526"/>
            </a:avLst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457200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20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22960" y="2286000"/>
            <a:ext cx="5212080" cy="1207008"/>
          </a:xfrm>
          <a:prstGeom prst="roundRect">
            <a:avLst>
              <a:gd name="adj" fmla="val 3030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2120" y="2578608"/>
            <a:ext cx="118872" cy="11887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3856" y="2523744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‫מה שמוזיל את הענן‬</a:t>
            </a:r>
            <a:endParaRPr lang="he-IL" sz="1350" dirty="0"/>
          </a:p>
        </p:txBody>
      </p:sp>
      <p:sp>
        <p:nvSpPr>
          <p:cNvPr id="25" name="Text 23"/>
          <p:cNvSpPr/>
          <p:nvPr/>
        </p:nvSpPr>
        <p:spPr>
          <a:xfrm>
            <a:off x="1133856" y="2871216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‫מסמכי ‪Commit‬ נכתבים פעם אחת ונקראים לעיתים נדירות. ב-‪Glacier Instant Retrieval‬, בזמן אחזור של מילישניות, העלות יורדת לכ-‪$25K‬ — פי ‪4.6‬ זול מ-‪On-Prem‬, ולא יקר ממנו ב-‪30%‬.‬</a:t>
            </a:r>
            <a:endParaRPr lang="he-IL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3712464"/>
            <a:ext cx="5212080" cy="1463040"/>
          </a:xfrm>
          <a:prstGeom prst="roundRect">
            <a:avLst>
              <a:gd name="adj" fmla="val 2500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32120" y="4005072"/>
            <a:ext cx="118872" cy="118872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856" y="3950208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‫מה שמייקר אותו‬</a:t>
            </a:r>
            <a:endParaRPr lang="he-IL" sz="1350" dirty="0"/>
          </a:p>
        </p:txBody>
      </p:sp>
      <p:sp>
        <p:nvSpPr>
          <p:cNvPr id="29" name="Text 27"/>
          <p:cNvSpPr/>
          <p:nvPr/>
        </p:nvSpPr>
        <p:spPr>
          <a:xfrm>
            <a:off x="1133856" y="4297680"/>
            <a:ext cx="4590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‫יציאת נתונים ‪$0.09‬ ל-‪GB (‬כ-‪$9K‬ להוצאת ‪100 TB‬ חזרה), דמי אחזור ‪$0.03‬ ל-‪GB‬ ב-‪Glacier IR‬, מינימום ‪90‬ יום אחסון, וחיוב מינימלי של ‪128 KB‬ לאובייקט — משמעותי בדימות עם ריבוי קבצים קטנים. מחירי אזור תל אביב גבוהים ב-‪10%–15%‬ ממחירון ‪us-east-1‬.‬</a:t>
            </a:r>
            <a:endParaRPr lang="he-IL" sz="1200" dirty="0"/>
          </a:p>
        </p:txBody>
      </p:sp>
      <p:sp>
        <p:nvSpPr>
          <p:cNvPr id="30" name="Shape 28"/>
          <p:cNvSpPr/>
          <p:nvPr/>
        </p:nvSpPr>
        <p:spPr>
          <a:xfrm>
            <a:off x="822960" y="590702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249863" y="6172200"/>
            <a:ext cx="118872" cy="118872"/>
          </a:xfrm>
          <a:prstGeom prst="rect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6089904"/>
            <a:ext cx="10289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‫הנתון שחסר להכרעה: פילוח גודל-אובייקט ותדירות אחזור של קורפוס ה-‪Commit‬. הוא שקובע איזו שכבה נכונה, והוא אינו קיים היום. המחירים הם מחירון רשימה, ללא הנחות נפח או התחייבות.‬</a:t>
            </a:r>
            <a:endParaRPr lang="he-IL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00" b="1" spc="120" kern="0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‫סיכונים‬</a:t>
            </a:r>
            <a:endParaRPr lang="he-IL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86384"/>
            <a:ext cx="10545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‫כל סיכון מהותי ניתן להפחתה — אך שניים מהם חוסמים התחלה‬</a:t>
            </a:r>
            <a:endParaRPr lang="he-IL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70078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2615" y="2048256"/>
            <a:ext cx="3246120" cy="1700784"/>
          </a:xfrm>
          <a:prstGeom prst="roundRect">
            <a:avLst>
              <a:gd name="adj" fmla="val 2688"/>
            </a:avLst>
          </a:prstGeom>
          <a:solidFill>
            <a:srgbClr val="182133"/>
          </a:solidFill>
          <a:ln w="12700">
            <a:solidFill>
              <a:srgbClr val="5A2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48111" y="2286000"/>
            <a:ext cx="118872" cy="118872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78647" y="221284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2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‫משפטי · קבילות‬</a:t>
            </a:r>
            <a:endParaRPr lang="he-IL" sz="1250" dirty="0"/>
          </a:p>
        </p:txBody>
      </p:sp>
      <p:sp>
        <p:nvSpPr>
          <p:cNvPr id="8" name="Text 6"/>
          <p:cNvSpPr/>
          <p:nvPr/>
        </p:nvSpPr>
        <p:spPr>
          <a:xfrm>
            <a:off x="8378647" y="2505456"/>
            <a:ext cx="2734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6000"/>
              </a:lnSpc>
              <a:buNone/>
            </a:pPr>
            <a:r>
              <a:rPr lang="he-IL" alt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‫תאריך היצירה של המסמך משתנה בהעתקה; בית משפט עשוי לדרוש אסמכתא שהמסמך לא שונה.‬</a:t>
            </a:r>
            <a:endParaRPr lang="he-IL" sz="1100" dirty="0"/>
          </a:p>
        </p:txBody>
      </p:sp>
      <p:sp>
        <p:nvSpPr>
          <p:cNvPr id="9" name="Shape 7"/>
          <p:cNvSpPr/>
          <p:nvPr/>
        </p:nvSpPr>
        <p:spPr>
          <a:xfrm>
            <a:off x="8378647" y="2999232"/>
            <a:ext cx="2734056" cy="9144"/>
          </a:xfrm>
          <a:prstGeom prst="rect">
            <a:avLst/>
          </a:prstGeom>
          <a:solidFill>
            <a:srgbClr val="2C3A54"/>
          </a:solidFill>
          <a:ln w="12700">
            <a:solidFill>
              <a:srgbClr val="2C3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78647" y="3063240"/>
            <a:ext cx="2734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6000"/>
              </a:lnSpc>
              <a:buNone/>
            </a:pPr>
            <a:r>
              <a:rPr lang="he-IL" alt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‫מיטיגציה: ‪S3 Object Lock‬ במצב ‪Compliance, manifest‬ חתום ‪SHA-256‬ לכל אובייקט, ושימור ה-‪metadata‬ המקורי כ-‪object metadata‬.‬</a:t>
            </a:r>
            <a:endParaRPr lang="he-IL" sz="1050" dirty="0"/>
          </a:p>
        </p:txBody>
      </p:sp>
      <p:sp>
        <p:nvSpPr>
          <p:cNvPr id="11" name="Shape 9"/>
          <p:cNvSpPr/>
          <p:nvPr/>
        </p:nvSpPr>
        <p:spPr>
          <a:xfrm>
            <a:off x="4474159" y="2048256"/>
            <a:ext cx="3246120" cy="1700784"/>
          </a:xfrm>
          <a:prstGeom prst="roundRect">
            <a:avLst>
              <a:gd name="adj" fmla="val 2688"/>
            </a:avLst>
          </a:prstGeom>
          <a:solidFill>
            <a:srgbClr val="182133"/>
          </a:solidFill>
          <a:ln w="12700">
            <a:solidFill>
              <a:srgbClr val="5A2A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99655" y="2286000"/>
            <a:ext cx="118872" cy="118872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0191" y="221284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2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‫רגולציה · ריבונות‬</a:t>
            </a:r>
            <a:endParaRPr lang="he-IL" sz="1250" dirty="0"/>
          </a:p>
        </p:txBody>
      </p:sp>
      <p:sp>
        <p:nvSpPr>
          <p:cNvPr id="14" name="Text 12"/>
          <p:cNvSpPr/>
          <p:nvPr/>
        </p:nvSpPr>
        <p:spPr>
          <a:xfrm>
            <a:off x="4730191" y="2505456"/>
            <a:ext cx="2734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6000"/>
              </a:lnSpc>
              <a:buNone/>
            </a:pPr>
            <a:r>
              <a:rPr lang="he-IL" alt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‫מידע רפואי ופיננסי מזוהה היוצא משליטת הארגון.‬</a:t>
            </a:r>
            <a:endParaRPr lang="he-IL" sz="1100" dirty="0"/>
          </a:p>
        </p:txBody>
      </p:sp>
      <p:sp>
        <p:nvSpPr>
          <p:cNvPr id="15" name="Shape 13"/>
          <p:cNvSpPr/>
          <p:nvPr/>
        </p:nvSpPr>
        <p:spPr>
          <a:xfrm>
            <a:off x="4730191" y="2999232"/>
            <a:ext cx="2734056" cy="9144"/>
          </a:xfrm>
          <a:prstGeom prst="rect">
            <a:avLst/>
          </a:prstGeom>
          <a:solidFill>
            <a:srgbClr val="2C3A54"/>
          </a:solidFill>
          <a:ln w="12700">
            <a:solidFill>
              <a:srgbClr val="2C3A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0191" y="3063240"/>
            <a:ext cx="2734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6000"/>
              </a:lnSpc>
              <a:buNone/>
            </a:pPr>
            <a:r>
              <a:rPr lang="he-IL" alt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‫מיטיגציה: אזור ‪il-central-1 (‬תל אביב), הצפנה ב-‪KMS‬ עם מפתח בבעלותנו, ואישור ‪DPO‬ ורגולטור לפני ההעתקה הראשונה.‬</a:t>
            </a:r>
            <a:endParaRPr lang="he-IL" sz="1050" dirty="0"/>
          </a:p>
        </p:txBody>
      </p:sp>
      <p:sp>
        <p:nvSpPr>
          <p:cNvPr id="17" name="Shape 15"/>
          <p:cNvSpPr/>
          <p:nvPr/>
        </p:nvSpPr>
        <p:spPr>
          <a:xfrm>
            <a:off x="825703" y="2048256"/>
            <a:ext cx="3246120" cy="1700784"/>
          </a:xfrm>
          <a:prstGeom prst="roundRect">
            <a:avLst>
              <a:gd name="adj" fmla="val 2688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1199" y="2286000"/>
            <a:ext cx="118872" cy="11887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1735" y="221284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2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‫טכני · שלמות‬</a:t>
            </a:r>
            <a:endParaRPr lang="he-IL" sz="1250" dirty="0"/>
          </a:p>
        </p:txBody>
      </p:sp>
      <p:sp>
        <p:nvSpPr>
          <p:cNvPr id="20" name="Text 18"/>
          <p:cNvSpPr/>
          <p:nvPr/>
        </p:nvSpPr>
        <p:spPr>
          <a:xfrm>
            <a:off x="1081735" y="2505456"/>
            <a:ext cx="2734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6000"/>
              </a:lnSpc>
              <a:buNone/>
            </a:pPr>
            <a:r>
              <a:rPr lang="he-IL" alt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‫אין כלי העתקה ייעודי; חלק מהקבצים עלולים להיכשל בהעברה.‬</a:t>
            </a:r>
            <a:endParaRPr lang="he-IL" sz="1100" dirty="0"/>
          </a:p>
        </p:txBody>
      </p:sp>
      <p:sp>
        <p:nvSpPr>
          <p:cNvPr id="21" name="Shape 19"/>
          <p:cNvSpPr/>
          <p:nvPr/>
        </p:nvSpPr>
        <p:spPr>
          <a:xfrm>
            <a:off x="1081735" y="2999232"/>
            <a:ext cx="2734056" cy="9144"/>
          </a:xfrm>
          <a:prstGeom prst="rect">
            <a:avLst/>
          </a:prstGeom>
          <a:solidFill>
            <a:srgbClr val="2C3A54"/>
          </a:solidFill>
          <a:ln w="12700">
            <a:solidFill>
              <a:srgbClr val="2C3A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1735" y="3063240"/>
            <a:ext cx="2734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6000"/>
              </a:lnSpc>
              <a:buNone/>
            </a:pPr>
            <a:r>
              <a:rPr lang="he-IL" alt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‫מיטיגציה: ‪AWS DataSync‬ עם ולידציה מובנית, דוח חריגים לכל ריצה, ומחיקה מ-‪ECS‬ רק לאחר ולידציה מלאה.‬</a:t>
            </a:r>
            <a:endParaRPr lang="he-IL" sz="1050" dirty="0"/>
          </a:p>
        </p:txBody>
      </p:sp>
      <p:sp>
        <p:nvSpPr>
          <p:cNvPr id="23" name="Shape 21"/>
          <p:cNvSpPr/>
          <p:nvPr/>
        </p:nvSpPr>
        <p:spPr>
          <a:xfrm>
            <a:off x="8122615" y="4041648"/>
            <a:ext cx="3246120" cy="1700784"/>
          </a:xfrm>
          <a:prstGeom prst="roundRect">
            <a:avLst>
              <a:gd name="adj" fmla="val 2688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48111" y="4279392"/>
            <a:ext cx="118872" cy="118872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78647" y="420624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2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‫ביצועים‬</a:t>
            </a:r>
            <a:endParaRPr lang="he-IL" sz="1250" dirty="0"/>
          </a:p>
        </p:txBody>
      </p:sp>
      <p:sp>
        <p:nvSpPr>
          <p:cNvPr id="26" name="Text 24"/>
          <p:cNvSpPr/>
          <p:nvPr/>
        </p:nvSpPr>
        <p:spPr>
          <a:xfrm>
            <a:off x="8378647" y="4498848"/>
            <a:ext cx="2734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6000"/>
              </a:lnSpc>
              <a:buNone/>
            </a:pPr>
            <a:r>
              <a:rPr lang="he-IL" alt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‫זמני אחזור בענן נמוכים יותר; למערכת הדימות אין ניסיון מול ענן.‬</a:t>
            </a:r>
            <a:endParaRPr lang="he-IL" sz="1100" dirty="0"/>
          </a:p>
        </p:txBody>
      </p:sp>
      <p:sp>
        <p:nvSpPr>
          <p:cNvPr id="27" name="Shape 25"/>
          <p:cNvSpPr/>
          <p:nvPr/>
        </p:nvSpPr>
        <p:spPr>
          <a:xfrm>
            <a:off x="8378647" y="4992624"/>
            <a:ext cx="2734056" cy="9144"/>
          </a:xfrm>
          <a:prstGeom prst="rect">
            <a:avLst/>
          </a:prstGeom>
          <a:solidFill>
            <a:srgbClr val="2C3A54"/>
          </a:solidFill>
          <a:ln w="12700">
            <a:solidFill>
              <a:srgbClr val="2C3A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8647" y="5056632"/>
            <a:ext cx="2734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6000"/>
              </a:lnSpc>
              <a:buNone/>
            </a:pPr>
            <a:r>
              <a:rPr lang="he-IL" alt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‫מיטיגציה: ‪POC‬ על ‪1–2 TB‬ לפני התחייבות, חיבור ‪Direct Connect‬ ולא אינטרנט, ומדידת זמני אחזור מול ה-‪SLA‬ הקיים.‬</a:t>
            </a:r>
            <a:endParaRPr lang="he-IL" sz="1050" dirty="0"/>
          </a:p>
        </p:txBody>
      </p:sp>
      <p:sp>
        <p:nvSpPr>
          <p:cNvPr id="29" name="Shape 27"/>
          <p:cNvSpPr/>
          <p:nvPr/>
        </p:nvSpPr>
        <p:spPr>
          <a:xfrm>
            <a:off x="4474159" y="4041648"/>
            <a:ext cx="3246120" cy="1700784"/>
          </a:xfrm>
          <a:prstGeom prst="roundRect">
            <a:avLst>
              <a:gd name="adj" fmla="val 2688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99655" y="4279392"/>
            <a:ext cx="118872" cy="118872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0191" y="420624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2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‫לוחות זמנים‬</a:t>
            </a:r>
            <a:endParaRPr lang="he-IL" sz="1250" dirty="0"/>
          </a:p>
        </p:txBody>
      </p:sp>
      <p:sp>
        <p:nvSpPr>
          <p:cNvPr id="32" name="Text 30"/>
          <p:cNvSpPr/>
          <p:nvPr/>
        </p:nvSpPr>
        <p:spPr>
          <a:xfrm>
            <a:off x="4730191" y="4498848"/>
            <a:ext cx="2734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6000"/>
              </a:lnSpc>
              <a:buNone/>
            </a:pPr>
            <a:r>
              <a:rPr lang="he-IL" alt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‫ההעתקה אורכת שבועות ותלויה בפס רוחב.‬</a:t>
            </a:r>
            <a:endParaRPr lang="he-IL" sz="1100" dirty="0"/>
          </a:p>
        </p:txBody>
      </p:sp>
      <p:sp>
        <p:nvSpPr>
          <p:cNvPr id="33" name="Shape 31"/>
          <p:cNvSpPr/>
          <p:nvPr/>
        </p:nvSpPr>
        <p:spPr>
          <a:xfrm>
            <a:off x="4730191" y="4992624"/>
            <a:ext cx="2734056" cy="9144"/>
          </a:xfrm>
          <a:prstGeom prst="rect">
            <a:avLst/>
          </a:prstGeom>
          <a:solidFill>
            <a:srgbClr val="2C3A54"/>
          </a:solidFill>
          <a:ln w="12700">
            <a:solidFill>
              <a:srgbClr val="2C3A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0191" y="5056632"/>
            <a:ext cx="2734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6000"/>
              </a:lnSpc>
              <a:buNone/>
            </a:pPr>
            <a:r>
              <a:rPr lang="he-IL" alt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‫מיטיגציה: העברה ראשונית ב-‪AWS Snowball‬. ההעתקה אינה על הנתיב הקריטי של הרכש — שני המסלולים רצים במקביל.‬</a:t>
            </a:r>
            <a:endParaRPr lang="he-IL" sz="1050" dirty="0"/>
          </a:p>
        </p:txBody>
      </p:sp>
      <p:sp>
        <p:nvSpPr>
          <p:cNvPr id="35" name="Shape 33"/>
          <p:cNvSpPr/>
          <p:nvPr/>
        </p:nvSpPr>
        <p:spPr>
          <a:xfrm>
            <a:off x="825703" y="4041648"/>
            <a:ext cx="3246120" cy="1700784"/>
          </a:xfrm>
          <a:prstGeom prst="roundRect">
            <a:avLst>
              <a:gd name="adj" fmla="val 2688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1199" y="4279392"/>
            <a:ext cx="118872" cy="118872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81735" y="420624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2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‫כלכלי · ‪Lock-in‬‬</a:t>
            </a:r>
            <a:endParaRPr lang="he-IL" sz="1250" dirty="0"/>
          </a:p>
        </p:txBody>
      </p:sp>
      <p:sp>
        <p:nvSpPr>
          <p:cNvPr id="38" name="Text 36"/>
          <p:cNvSpPr/>
          <p:nvPr/>
        </p:nvSpPr>
        <p:spPr>
          <a:xfrm>
            <a:off x="1081735" y="4498848"/>
            <a:ext cx="2734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6000"/>
              </a:lnSpc>
              <a:buNone/>
            </a:pPr>
            <a:r>
              <a:rPr lang="he-IL" alt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‫יציאה מהענן עולה ‪$0.09‬ ל-‪GB‬; מעבר ממודל ‪capex‬ למודל ‪opex‬.‬</a:t>
            </a:r>
            <a:endParaRPr lang="he-IL" sz="1100" dirty="0"/>
          </a:p>
        </p:txBody>
      </p:sp>
      <p:sp>
        <p:nvSpPr>
          <p:cNvPr id="39" name="Shape 37"/>
          <p:cNvSpPr/>
          <p:nvPr/>
        </p:nvSpPr>
        <p:spPr>
          <a:xfrm>
            <a:off x="1081735" y="4992624"/>
            <a:ext cx="2734056" cy="9144"/>
          </a:xfrm>
          <a:prstGeom prst="rect">
            <a:avLst/>
          </a:prstGeom>
          <a:solidFill>
            <a:srgbClr val="2C3A54"/>
          </a:solidFill>
          <a:ln w="12700">
            <a:solidFill>
              <a:srgbClr val="2C3A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81735" y="5056632"/>
            <a:ext cx="2734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6000"/>
              </a:lnSpc>
              <a:buNone/>
            </a:pPr>
            <a:r>
              <a:rPr lang="he-IL" alt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‫מיטיגציה: תמחור תרחיש יציאה מראש, התחלה בקורפוס אחד בלבד, ואישור תקציב ‪opex‬ רב-שנתי.‬</a:t>
            </a:r>
            <a:endParaRPr lang="he-IL" sz="1050" dirty="0"/>
          </a:p>
        </p:txBody>
      </p:sp>
      <p:sp>
        <p:nvSpPr>
          <p:cNvPr id="41" name="Shape 39"/>
          <p:cNvSpPr/>
          <p:nvPr/>
        </p:nvSpPr>
        <p:spPr>
          <a:xfrm>
            <a:off x="822960" y="590702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49863" y="6172200"/>
            <a:ext cx="118872" cy="118872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6089904"/>
            <a:ext cx="10289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‫שני הסיכונים המסומנים באדום — קבילות משפטית וריבונות נתונים — חוסמים התחלה. יש לסגור אותם בספטמבר, במקביל ל-‪POC‬ ולא אחריו.‬</a:t>
            </a:r>
            <a:endParaRPr lang="he-IL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00" b="1" spc="12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‫מה זה נותן‬</a:t>
            </a:r>
            <a:endParaRPr lang="he-IL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86384"/>
            <a:ext cx="10545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‫המנוף היחיד על השולחן שאינו תלוי בזמן אספקה של חודשיים‬</a:t>
            </a:r>
            <a:endParaRPr lang="he-IL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70078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2615" y="2121408"/>
            <a:ext cx="3246120" cy="1463040"/>
          </a:xfrm>
          <a:prstGeom prst="roundRect">
            <a:avLst>
              <a:gd name="adj" fmla="val 3125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48111" y="2377440"/>
            <a:ext cx="118872" cy="11887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78647" y="23042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‫פינוי שטח מיידי‬</a:t>
            </a:r>
            <a:endParaRPr lang="he-IL" sz="1350" dirty="0"/>
          </a:p>
        </p:txBody>
      </p:sp>
      <p:sp>
        <p:nvSpPr>
          <p:cNvPr id="8" name="Text 6"/>
          <p:cNvSpPr/>
          <p:nvPr/>
        </p:nvSpPr>
        <p:spPr>
          <a:xfrm>
            <a:off x="8378647" y="2651760"/>
            <a:ext cx="2734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‫העתקת קורפוס ה-‪Commit‬ מפנה שטח ב-‪ECS‬ תוך שבועות. זו האפשרות היחידה שמשפיעה על הניצולת לפני דצמבר ‪2026‬.‬</a:t>
            </a:r>
            <a:endParaRPr lang="he-IL" sz="1150" dirty="0"/>
          </a:p>
        </p:txBody>
      </p:sp>
      <p:sp>
        <p:nvSpPr>
          <p:cNvPr id="9" name="Shape 7"/>
          <p:cNvSpPr/>
          <p:nvPr/>
        </p:nvSpPr>
        <p:spPr>
          <a:xfrm>
            <a:off x="4474159" y="2121408"/>
            <a:ext cx="3246120" cy="1463040"/>
          </a:xfrm>
          <a:prstGeom prst="roundRect">
            <a:avLst>
              <a:gd name="adj" fmla="val 3125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99655" y="2377440"/>
            <a:ext cx="118872" cy="11887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0191" y="23042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‫דחיית והקטנת ‪capex‬‬</a:t>
            </a:r>
            <a:endParaRPr lang="he-IL" sz="1350" dirty="0"/>
          </a:p>
        </p:txBody>
      </p:sp>
      <p:sp>
        <p:nvSpPr>
          <p:cNvPr id="12" name="Text 10"/>
          <p:cNvSpPr/>
          <p:nvPr/>
        </p:nvSpPr>
        <p:spPr>
          <a:xfrm>
            <a:off x="4730191" y="2651760"/>
            <a:ext cx="2734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‫כל ‪TB‬ שמפונה דוחה את מועד הרכש ומקטין את היקפו. הצעת ‪Dell‬ הנוכחית עומדת על ‪$695,520‬ עבור ‪600 TB‬ לוגי.‬</a:t>
            </a:r>
            <a:endParaRPr lang="he-IL" sz="1150" dirty="0"/>
          </a:p>
        </p:txBody>
      </p:sp>
      <p:sp>
        <p:nvSpPr>
          <p:cNvPr id="13" name="Shape 11"/>
          <p:cNvSpPr/>
          <p:nvPr/>
        </p:nvSpPr>
        <p:spPr>
          <a:xfrm>
            <a:off x="825703" y="2121408"/>
            <a:ext cx="3246120" cy="1463040"/>
          </a:xfrm>
          <a:prstGeom prst="roundRect">
            <a:avLst>
              <a:gd name="adj" fmla="val 3125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1199" y="2377440"/>
            <a:ext cx="118872" cy="118872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1735" y="230428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‫ללא זמן אספקה‬</a:t>
            </a:r>
            <a:endParaRPr lang="he-IL" sz="1350" dirty="0"/>
          </a:p>
        </p:txBody>
      </p:sp>
      <p:sp>
        <p:nvSpPr>
          <p:cNvPr id="16" name="Text 14"/>
          <p:cNvSpPr/>
          <p:nvPr/>
        </p:nvSpPr>
        <p:spPr>
          <a:xfrm>
            <a:off x="1081735" y="2651760"/>
            <a:ext cx="2734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‫אין ‪PO‬, אין דיסקים, אין חלון התקנה. הקיבולת זמינה ביום הראשון, ומשלמים רק על מה שנצרך בפועל — בלי לרכוש מראש קיבולת לשלוש שנים.‬</a:t>
            </a:r>
            <a:endParaRPr lang="he-IL" sz="1150" dirty="0"/>
          </a:p>
        </p:txBody>
      </p:sp>
      <p:sp>
        <p:nvSpPr>
          <p:cNvPr id="17" name="Shape 15"/>
          <p:cNvSpPr/>
          <p:nvPr/>
        </p:nvSpPr>
        <p:spPr>
          <a:xfrm>
            <a:off x="8122615" y="3931920"/>
            <a:ext cx="3246120" cy="1463040"/>
          </a:xfrm>
          <a:prstGeom prst="roundRect">
            <a:avLst>
              <a:gd name="adj" fmla="val 3125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48111" y="4187952"/>
            <a:ext cx="118872" cy="118872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8647" y="411480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‫‪Lifecycle‬ אוטומטי‬</a:t>
            </a:r>
            <a:endParaRPr lang="he-IL" sz="1350" dirty="0"/>
          </a:p>
        </p:txBody>
      </p:sp>
      <p:sp>
        <p:nvSpPr>
          <p:cNvPr id="20" name="Text 18"/>
          <p:cNvSpPr/>
          <p:nvPr/>
        </p:nvSpPr>
        <p:spPr>
          <a:xfrm>
            <a:off x="8378647" y="4462272"/>
            <a:ext cx="2734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‫מדיניות שכבות מעבירה דאטה מתקרר לשכבה זולה יותר לאורך זמן — הוזלה שנמשכת ללא התערבות תפעולית ובלי פרויקט נוסף.‬</a:t>
            </a:r>
            <a:endParaRPr lang="he-IL" sz="1150" dirty="0"/>
          </a:p>
        </p:txBody>
      </p:sp>
      <p:sp>
        <p:nvSpPr>
          <p:cNvPr id="21" name="Shape 19"/>
          <p:cNvSpPr/>
          <p:nvPr/>
        </p:nvSpPr>
        <p:spPr>
          <a:xfrm>
            <a:off x="4474159" y="3931920"/>
            <a:ext cx="3246120" cy="1463040"/>
          </a:xfrm>
          <a:prstGeom prst="roundRect">
            <a:avLst>
              <a:gd name="adj" fmla="val 3125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9655" y="4187952"/>
            <a:ext cx="118872" cy="118872"/>
          </a:xfrm>
          <a:prstGeom prst="rect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0191" y="411480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5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‫עמידות מובנית‬</a:t>
            </a:r>
            <a:endParaRPr lang="he-IL" sz="1350" dirty="0"/>
          </a:p>
        </p:txBody>
      </p:sp>
      <p:sp>
        <p:nvSpPr>
          <p:cNvPr id="24" name="Text 22"/>
          <p:cNvSpPr/>
          <p:nvPr/>
        </p:nvSpPr>
        <p:spPr>
          <a:xfrm>
            <a:off x="4730191" y="4462272"/>
            <a:ext cx="2734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‫‪11‬ תשיעיות עמידות ופיזור בין אזורי זמינות, במקום שכפול משולש שאנחנו מתחזקים ומשלמים עליו פי שלושה בשלושה אתרים.‬</a:t>
            </a:r>
            <a:endParaRPr lang="he-IL" sz="1150" dirty="0"/>
          </a:p>
        </p:txBody>
      </p:sp>
      <p:sp>
        <p:nvSpPr>
          <p:cNvPr id="25" name="Shape 23"/>
          <p:cNvSpPr/>
          <p:nvPr/>
        </p:nvSpPr>
        <p:spPr>
          <a:xfrm>
            <a:off x="825703" y="3931920"/>
            <a:ext cx="3246120" cy="1463040"/>
          </a:xfrm>
          <a:prstGeom prst="roundRect">
            <a:avLst>
              <a:gd name="adj" fmla="val 3125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1199" y="4187952"/>
            <a:ext cx="118872" cy="118872"/>
          </a:xfrm>
          <a:prstGeom prst="rect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1735" y="411480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‫בסיס לשירותי ‪AI‬‬</a:t>
            </a:r>
            <a:endParaRPr lang="he-IL" sz="1350" dirty="0"/>
          </a:p>
        </p:txBody>
      </p:sp>
      <p:sp>
        <p:nvSpPr>
          <p:cNvPr id="28" name="Text 26"/>
          <p:cNvSpPr/>
          <p:nvPr/>
        </p:nvSpPr>
        <p:spPr>
          <a:xfrm>
            <a:off x="1081735" y="4462272"/>
            <a:ext cx="2734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‫תמלול שיחות וניתוח דימות כשירות מנוהל מעל אותו אחסון — יכולת שאינה קיימת על ‪ECS‬ היום ואינה דורשת פרויקט תשתית נפרד.‬</a:t>
            </a:r>
            <a:endParaRPr lang="he-IL" sz="1150" dirty="0"/>
          </a:p>
        </p:txBody>
      </p:sp>
      <p:sp>
        <p:nvSpPr>
          <p:cNvPr id="29" name="Shape 27"/>
          <p:cNvSpPr/>
          <p:nvPr/>
        </p:nvSpPr>
        <p:spPr>
          <a:xfrm>
            <a:off x="822960" y="590702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49863" y="6172200"/>
            <a:ext cx="118872" cy="11887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6089904"/>
            <a:ext cx="10289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‫התועלת נמדדת ב-‪TB‬ שפונו בפועל ובחודשי הדחייה שהושגו לרכש — לא באחוזי חיסכון תיאורטיים.‬</a:t>
            </a:r>
            <a:endParaRPr lang="he-IL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00" b="1" spc="120" kern="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‫ציר זמן‬</a:t>
            </a:r>
            <a:endParaRPr lang="he-IL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86384"/>
            <a:ext cx="10545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‫שני מסלולים במקביל: העתקה לענן מתחילה מיד, רכש נקבע לפי טריגר‬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70078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999232"/>
            <a:ext cx="10545775" cy="27432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0515" y="2322576"/>
            <a:ext cx="19482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‫אוגוסט ‪26‬‬</a:t>
            </a:r>
            <a:endParaRPr lang="he-IL" sz="1300" dirty="0"/>
          </a:p>
        </p:txBody>
      </p:sp>
      <p:sp>
        <p:nvSpPr>
          <p:cNvPr id="7" name="Shape 5"/>
          <p:cNvSpPr/>
          <p:nvPr/>
        </p:nvSpPr>
        <p:spPr>
          <a:xfrm>
            <a:off x="11204143" y="2935224"/>
            <a:ext cx="155448" cy="155448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20515" y="3273552"/>
            <a:ext cx="1948221" cy="1225296"/>
          </a:xfrm>
          <a:prstGeom prst="roundRect">
            <a:avLst>
              <a:gd name="adj" fmla="val 4478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21683" y="3401568"/>
            <a:ext cx="154588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‫אישור עקרוני להעתקה‬</a:t>
            </a:r>
            <a:endParaRPr lang="he-IL" sz="1150" dirty="0"/>
          </a:p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‫פילוח קורפוס ה-‪Commit‬‬</a:t>
            </a:r>
            <a:endParaRPr lang="he-IL" sz="1150" dirty="0"/>
          </a:p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‫הגדרת קריטריוני קבילות‬</a:t>
            </a:r>
            <a:endParaRPr lang="he-IL" sz="1150" dirty="0"/>
          </a:p>
        </p:txBody>
      </p:sp>
      <p:sp>
        <p:nvSpPr>
          <p:cNvPr id="10" name="Text 8"/>
          <p:cNvSpPr/>
          <p:nvPr/>
        </p:nvSpPr>
        <p:spPr>
          <a:xfrm>
            <a:off x="7271126" y="2322576"/>
            <a:ext cx="19482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‫ספטמבר ‪26‬‬</a:t>
            </a:r>
            <a:endParaRPr lang="he-IL" sz="1300" dirty="0"/>
          </a:p>
        </p:txBody>
      </p:sp>
      <p:sp>
        <p:nvSpPr>
          <p:cNvPr id="11" name="Shape 9"/>
          <p:cNvSpPr/>
          <p:nvPr/>
        </p:nvSpPr>
        <p:spPr>
          <a:xfrm>
            <a:off x="9054755" y="2935224"/>
            <a:ext cx="155448" cy="155448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71126" y="3273552"/>
            <a:ext cx="1948221" cy="1225296"/>
          </a:xfrm>
          <a:prstGeom prst="roundRect">
            <a:avLst>
              <a:gd name="adj" fmla="val 4478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72294" y="3401568"/>
            <a:ext cx="154588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‫‪POC‬ על ‪1–2 TB‬‬</a:t>
            </a:r>
            <a:endParaRPr lang="he-IL" sz="1150" dirty="0"/>
          </a:p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‫אישור ‪DPO‬ ורגולטור‬</a:t>
            </a:r>
            <a:endParaRPr lang="he-IL" sz="1150" dirty="0"/>
          </a:p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‫הקמת ‪Direct Connect‬‬</a:t>
            </a:r>
            <a:endParaRPr lang="he-IL" sz="1150" dirty="0"/>
          </a:p>
        </p:txBody>
      </p:sp>
      <p:sp>
        <p:nvSpPr>
          <p:cNvPr id="14" name="Text 12"/>
          <p:cNvSpPr/>
          <p:nvPr/>
        </p:nvSpPr>
        <p:spPr>
          <a:xfrm>
            <a:off x="5121737" y="2322576"/>
            <a:ext cx="19482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‫אוקטובר ‪26‬‬</a:t>
            </a:r>
            <a:endParaRPr lang="he-IL" sz="1300" dirty="0"/>
          </a:p>
        </p:txBody>
      </p:sp>
      <p:sp>
        <p:nvSpPr>
          <p:cNvPr id="15" name="Shape 13"/>
          <p:cNvSpPr/>
          <p:nvPr/>
        </p:nvSpPr>
        <p:spPr>
          <a:xfrm>
            <a:off x="6905366" y="2935224"/>
            <a:ext cx="155448" cy="15544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1737" y="3273552"/>
            <a:ext cx="1948221" cy="1225296"/>
          </a:xfrm>
          <a:prstGeom prst="roundRect">
            <a:avLst>
              <a:gd name="adj" fmla="val 4478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22905" y="3401568"/>
            <a:ext cx="154588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‫תחילת העתקה לייצור‬</a:t>
            </a:r>
            <a:endParaRPr lang="he-IL" sz="1150" dirty="0"/>
          </a:p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‫ולידציה ראשונה ודוח חריגים‬</a:t>
            </a:r>
            <a:endParaRPr lang="he-IL" sz="1150" dirty="0"/>
          </a:p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‫מדידת ניצולת מול טריגר ‪75%‬‬</a:t>
            </a:r>
            <a:endParaRPr lang="he-IL" sz="1150" dirty="0"/>
          </a:p>
        </p:txBody>
      </p:sp>
      <p:sp>
        <p:nvSpPr>
          <p:cNvPr id="18" name="Text 16"/>
          <p:cNvSpPr/>
          <p:nvPr/>
        </p:nvSpPr>
        <p:spPr>
          <a:xfrm>
            <a:off x="2972349" y="2322576"/>
            <a:ext cx="19482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‫נוב׳–דצמ׳ ‪26‬‬</a:t>
            </a:r>
            <a:endParaRPr lang="he-IL" sz="1300" dirty="0"/>
          </a:p>
        </p:txBody>
      </p:sp>
      <p:sp>
        <p:nvSpPr>
          <p:cNvPr id="19" name="Shape 17"/>
          <p:cNvSpPr/>
          <p:nvPr/>
        </p:nvSpPr>
        <p:spPr>
          <a:xfrm>
            <a:off x="4755977" y="2935224"/>
            <a:ext cx="155448" cy="15544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2349" y="3273552"/>
            <a:ext cx="1948221" cy="1225296"/>
          </a:xfrm>
          <a:prstGeom prst="roundRect">
            <a:avLst>
              <a:gd name="adj" fmla="val 4478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73517" y="3401568"/>
            <a:ext cx="154588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‫המשך העתקה ומחיקה מ-‪ECS‬‬</a:t>
            </a:r>
            <a:endParaRPr lang="he-IL" sz="1150" dirty="0"/>
          </a:p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‫טריגר רכש צפוי · ‪PO‬ ל-‪Dell‬‬</a:t>
            </a:r>
            <a:endParaRPr lang="he-IL" sz="1150" dirty="0"/>
          </a:p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‫דוח שלמות מסכם‬</a:t>
            </a:r>
            <a:endParaRPr lang="he-IL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2322576"/>
            <a:ext cx="19482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‫ינואר–מרץ ‪27‬‬</a:t>
            </a:r>
            <a:endParaRPr lang="he-IL" sz="1300" dirty="0"/>
          </a:p>
        </p:txBody>
      </p:sp>
      <p:sp>
        <p:nvSpPr>
          <p:cNvPr id="23" name="Shape 21"/>
          <p:cNvSpPr/>
          <p:nvPr/>
        </p:nvSpPr>
        <p:spPr>
          <a:xfrm>
            <a:off x="2606589" y="2935224"/>
            <a:ext cx="155448" cy="155448"/>
          </a:xfrm>
          <a:prstGeom prst="rect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3273552"/>
            <a:ext cx="1948221" cy="1225296"/>
          </a:xfrm>
          <a:prstGeom prst="roundRect">
            <a:avLst>
              <a:gd name="adj" fmla="val 4478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3401568"/>
            <a:ext cx="154588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‫אספקת דיסקים והתקנה‬</a:t>
            </a:r>
            <a:endParaRPr lang="he-IL" sz="1150" dirty="0"/>
          </a:p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‫צפי חציית ‪80%‬ בתרחיש המגמה‬</a:t>
            </a:r>
            <a:endParaRPr lang="he-IL" sz="1150" dirty="0"/>
          </a:p>
          <a:p>
            <a:pPr rtl="1" algn="r" indent="0" marL="0">
              <a:lnSpc>
                <a:spcPct val="122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‫החלטה על היקף הרחבה נוסף‬</a:t>
            </a:r>
            <a:endParaRPr lang="he-IL" sz="1150" dirty="0"/>
          </a:p>
        </p:txBody>
      </p:sp>
      <p:sp>
        <p:nvSpPr>
          <p:cNvPr id="26" name="Shape 24"/>
          <p:cNvSpPr/>
          <p:nvPr/>
        </p:nvSpPr>
        <p:spPr>
          <a:xfrm>
            <a:off x="822960" y="4809744"/>
            <a:ext cx="10545775" cy="566928"/>
          </a:xfrm>
          <a:prstGeom prst="roundRect">
            <a:avLst>
              <a:gd name="adj" fmla="val 12903"/>
            </a:avLst>
          </a:prstGeom>
          <a:solidFill>
            <a:srgbClr val="13303A"/>
          </a:solidFill>
          <a:ln w="12700">
            <a:solidFill>
              <a:srgbClr val="1330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66399" y="5029200"/>
            <a:ext cx="118872" cy="118872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4809744"/>
            <a:ext cx="9722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3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‫טריגר הרכש אינו תאריך: ‪PO‬ יוצא כאשר הניצולת מגיעה ל-‪75% (687 TB)‬. היום ‪72.9%‬ — מרחק של ‪19 TB‬.‬</a:t>
            </a:r>
            <a:endParaRPr lang="he-IL" sz="1300" dirty="0"/>
          </a:p>
        </p:txBody>
      </p:sp>
      <p:sp>
        <p:nvSpPr>
          <p:cNvPr id="29" name="Shape 27"/>
          <p:cNvSpPr/>
          <p:nvPr/>
        </p:nvSpPr>
        <p:spPr>
          <a:xfrm>
            <a:off x="822960" y="590702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49863" y="6172200"/>
            <a:ext cx="118872" cy="118872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6089904"/>
            <a:ext cx="10289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‫המסלולים אינם תלויים זה בזה. עיכוב ב-‪POC‬ אינו מעכב את הרכש, ועיכוב ברכש אינו מעכב את ההעתקה.‬</a:t>
            </a:r>
            <a:endParaRPr lang="he-IL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75488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100" b="1" spc="12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‫המלצה‬</a:t>
            </a:r>
            <a:endParaRPr lang="he-IL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86384"/>
            <a:ext cx="105457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7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‫לאשר את ההעתקה עכשיו, ולקשור את הרכש לניצולת ולא לתאריך‬</a:t>
            </a:r>
            <a:endParaRPr lang="he-IL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70078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29968"/>
            <a:ext cx="10545775" cy="914400"/>
          </a:xfrm>
          <a:prstGeom prst="roundRect">
            <a:avLst>
              <a:gd name="adj" fmla="val 5000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82351" y="208483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21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383280" y="2139696"/>
            <a:ext cx="7162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4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‫אישור עקרוני להעתקת מסמכי ‪Commit‬ ל-‪AWS S3‬‬</a:t>
            </a:r>
            <a:endParaRPr lang="he-IL" sz="1450" dirty="0"/>
          </a:p>
        </p:txBody>
      </p:sp>
      <p:sp>
        <p:nvSpPr>
          <p:cNvPr id="8" name="Text 6"/>
          <p:cNvSpPr/>
          <p:nvPr/>
        </p:nvSpPr>
        <p:spPr>
          <a:xfrm>
            <a:off x="3383280" y="2450592"/>
            <a:ext cx="71624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‫התנעה באוגוסט. תקציב ‪POC‬ על ‪1–2 TB‬, וסגירת חסמי הקבילות המשפטית והריבונות בספטמבר במקביל.‬</a:t>
            </a:r>
            <a:endParaRPr lang="he-IL" sz="1150" dirty="0"/>
          </a:p>
        </p:txBody>
      </p:sp>
      <p:sp>
        <p:nvSpPr>
          <p:cNvPr id="9" name="Text 7"/>
          <p:cNvSpPr/>
          <p:nvPr/>
        </p:nvSpPr>
        <p:spPr>
          <a:xfrm>
            <a:off x="1078992" y="21762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00" b="1" spc="80" kern="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‫אחריות‬</a:t>
            </a:r>
            <a:endParaRPr lang="he-IL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241401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0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‫תשתיות ‪IT +‬ יועץ משפטי ‪+ DPO‬‬</a:t>
            </a:r>
            <a:endParaRPr lang="he-IL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081528"/>
            <a:ext cx="10545775" cy="914400"/>
          </a:xfrm>
          <a:prstGeom prst="roundRect">
            <a:avLst>
              <a:gd name="adj" fmla="val 5000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82351" y="313639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21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383280" y="3191256"/>
            <a:ext cx="7162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4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‫טריגר רכש בניצולת ‪75%‬ במקום תאריך יעד‬</a:t>
            </a:r>
            <a:endParaRPr lang="he-IL" sz="1450" dirty="0"/>
          </a:p>
        </p:txBody>
      </p:sp>
      <p:sp>
        <p:nvSpPr>
          <p:cNvPr id="14" name="Text 12"/>
          <p:cNvSpPr/>
          <p:nvPr/>
        </p:nvSpPr>
        <p:spPr>
          <a:xfrm>
            <a:off x="3383280" y="3502152"/>
            <a:ext cx="71624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‫‪PO‬ ל-‪Dell‬ יוצא כאשר הניצולת מגיעה ל-‪687 TB‬. זה מבטיח חודשיים אספקה גם בתרחיש המואץ, ואינו מקדים רכש שאולי לא יידרש.‬</a:t>
            </a:r>
            <a:endParaRPr lang="he-IL" sz="1150" dirty="0"/>
          </a:p>
        </p:txBody>
      </p:sp>
      <p:sp>
        <p:nvSpPr>
          <p:cNvPr id="15" name="Text 13"/>
          <p:cNvSpPr/>
          <p:nvPr/>
        </p:nvSpPr>
        <p:spPr>
          <a:xfrm>
            <a:off x="1078992" y="32278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00" b="1" spc="80" kern="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‫אחריות‬</a:t>
            </a:r>
            <a:endParaRPr lang="he-IL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34655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0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‫תשתיות ‪IT +‬ רכש‬</a:t>
            </a:r>
            <a:endParaRPr lang="he-IL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133088"/>
            <a:ext cx="10545775" cy="914400"/>
          </a:xfrm>
          <a:prstGeom prst="roundRect">
            <a:avLst>
              <a:gd name="adj" fmla="val 5000"/>
            </a:avLst>
          </a:prstGeom>
          <a:solidFill>
            <a:srgbClr val="182133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2351" y="41879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altLang="en-US" sz="21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383280" y="4242816"/>
            <a:ext cx="7162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4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‫תמחור מחדש של חלופת הענן לפי שכבת אחסון נכונה‬</a:t>
            </a:r>
            <a:endParaRPr lang="he-IL" sz="1450" dirty="0"/>
          </a:p>
        </p:txBody>
      </p:sp>
      <p:sp>
        <p:nvSpPr>
          <p:cNvPr id="20" name="Text 18"/>
          <p:cNvSpPr/>
          <p:nvPr/>
        </p:nvSpPr>
        <p:spPr>
          <a:xfrm>
            <a:off x="3383280" y="4553712"/>
            <a:ext cx="71624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‫פילוח גודל-אובייקט ותדירות אחזור של הקורפוס, ותמחור מול ‪Glacier Instant Retrieval‬ באזור תל אביב — לא מול ‪S3 Standard‬.‬</a:t>
            </a:r>
            <a:endParaRPr lang="he-IL" sz="1150" dirty="0"/>
          </a:p>
        </p:txBody>
      </p:sp>
      <p:sp>
        <p:nvSpPr>
          <p:cNvPr id="21" name="Text 19"/>
          <p:cNvSpPr/>
          <p:nvPr/>
        </p:nvSpPr>
        <p:spPr>
          <a:xfrm>
            <a:off x="1078992" y="42793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000" b="1" spc="80" kern="0" dirty="0">
                <a:solidFill>
                  <a:srgbClr val="5E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‫אחריות‬</a:t>
            </a:r>
            <a:endParaRPr lang="he-IL" sz="1000" dirty="0"/>
          </a:p>
        </p:txBody>
      </p:sp>
      <p:sp>
        <p:nvSpPr>
          <p:cNvPr id="22" name="Text 20"/>
          <p:cNvSpPr/>
          <p:nvPr/>
        </p:nvSpPr>
        <p:spPr>
          <a:xfrm>
            <a:off x="1078992" y="45171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‫תשתיות ‪IT + FinOps‬‬</a:t>
            </a:r>
            <a:endParaRPr lang="he-IL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5175504"/>
            <a:ext cx="10545775" cy="548640"/>
          </a:xfrm>
          <a:prstGeom prst="roundRect">
            <a:avLst>
              <a:gd name="adj" fmla="val 13333"/>
            </a:avLst>
          </a:prstGeom>
          <a:solidFill>
            <a:srgbClr val="14302A"/>
          </a:solidFill>
          <a:ln w="12700">
            <a:solidFill>
              <a:srgbClr val="2A6A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66399" y="5385816"/>
            <a:ext cx="118872" cy="11887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175504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14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‫נדרש היום: אישור עקרוני להעתקה, תקציב ‪POC‬, ואישור טריגר הרכש ב-‪75%‬.‬</a:t>
            </a:r>
            <a:endParaRPr lang="he-IL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5907024"/>
            <a:ext cx="10545775" cy="10973"/>
          </a:xfrm>
          <a:prstGeom prst="rect">
            <a:avLst/>
          </a:prstGeom>
          <a:solidFill>
            <a:srgbClr val="23304A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49863" y="6172200"/>
            <a:ext cx="118872" cy="118872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6089904"/>
            <a:ext cx="10289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‫החלטת התקציב המלאה לרכש תובא לאישור כאשר הטריגר ייחצה, עם הצעת מחיר מעודכנת מ-‪Dell‬ ותמחור ענן מעודכן לצידה.‬</a:t>
            </a:r>
            <a:endParaRPr lang="he-IL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העתקת מסמכי דימות ושיחות לענן</dc:title>
  <dc:subject>PptxGenJS Presentation</dc:subject>
  <dc:creator>Harel IT Infrastructure</dc:creator>
  <cp:lastModifiedBy>Harel IT Infrastructure</cp:lastModifiedBy>
  <cp:revision>1</cp:revision>
  <dcterms:created xsi:type="dcterms:W3CDTF">2026-08-17T11:20:25Z</dcterms:created>
  <dcterms:modified xsi:type="dcterms:W3CDTF">2026-08-17T11:20:25Z</dcterms:modified>
</cp:coreProperties>
</file>