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קיבולת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916</c:v>
                </c:pt>
                <c:pt idx="1">
                  <c:v>916</c:v>
                </c:pt>
                <c:pt idx="2">
                  <c:v>916</c:v>
                </c:pt>
                <c:pt idx="3">
                  <c:v>916</c:v>
                </c:pt>
                <c:pt idx="4">
                  <c:v>916</c:v>
                </c:pt>
                <c:pt idx="5">
                  <c:v>916</c:v>
                </c:pt>
                <c:pt idx="6">
                  <c:v>916</c:v>
                </c:pt>
                <c:pt idx="7">
                  <c:v>916</c:v>
                </c:pt>
                <c:pt idx="8">
                  <c:v>916</c:v>
                </c:pt>
                <c:pt idx="9">
                  <c:v>916</c:v>
                </c:pt>
                <c:pt idx="10">
                  <c:v>916</c:v>
                </c:pt>
                <c:pt idx="11">
                  <c:v>916</c:v>
                </c:pt>
                <c:pt idx="12">
                  <c:v>916</c:v>
                </c:pt>
                <c:pt idx="13">
                  <c:v>916</c:v>
                </c:pt>
                <c:pt idx="14">
                  <c:v>916</c:v>
                </c:pt>
                <c:pt idx="15">
                  <c:v>916</c:v>
                </c:pt>
                <c:pt idx="16">
                  <c:v>916</c:v>
                </c:pt>
                <c:pt idx="17">
                  <c:v>916</c:v>
                </c:pt>
                <c:pt idx="18">
                  <c:v>916</c:v>
                </c:pt>
                <c:pt idx="19">
                  <c:v>916</c:v>
                </c:pt>
                <c:pt idx="20">
                  <c:v>916</c:v>
                </c:pt>
                <c:pt idx="21">
                  <c:v>916</c:v>
                </c:pt>
                <c:pt idx="22">
                  <c:v>916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סף 80%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733</c:v>
                </c:pt>
                <c:pt idx="1">
                  <c:v>733</c:v>
                </c:pt>
                <c:pt idx="2">
                  <c:v>733</c:v>
                </c:pt>
                <c:pt idx="3">
                  <c:v>733</c:v>
                </c:pt>
                <c:pt idx="4">
                  <c:v>733</c:v>
                </c:pt>
                <c:pt idx="5">
                  <c:v>733</c:v>
                </c:pt>
                <c:pt idx="6">
                  <c:v>733</c:v>
                </c:pt>
                <c:pt idx="7">
                  <c:v>733</c:v>
                </c:pt>
                <c:pt idx="8">
                  <c:v>733</c:v>
                </c:pt>
                <c:pt idx="9">
                  <c:v>733</c:v>
                </c:pt>
                <c:pt idx="10">
                  <c:v>733</c:v>
                </c:pt>
                <c:pt idx="11">
                  <c:v>733</c:v>
                </c:pt>
                <c:pt idx="12">
                  <c:v>733</c:v>
                </c:pt>
                <c:pt idx="13">
                  <c:v>733</c:v>
                </c:pt>
                <c:pt idx="14">
                  <c:v>733</c:v>
                </c:pt>
                <c:pt idx="15">
                  <c:v>733</c:v>
                </c:pt>
                <c:pt idx="16">
                  <c:v>733</c:v>
                </c:pt>
                <c:pt idx="17">
                  <c:v>733</c:v>
                </c:pt>
                <c:pt idx="18">
                  <c:v>733</c:v>
                </c:pt>
                <c:pt idx="19">
                  <c:v>733</c:v>
                </c:pt>
                <c:pt idx="20">
                  <c:v>733</c:v>
                </c:pt>
                <c:pt idx="21">
                  <c:v>733</c:v>
                </c:pt>
                <c:pt idx="22">
                  <c:v>733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תחזית</c:v>
                </c:pt>
              </c:strCache>
            </c:strRef>
          </c:tx>
          <c:spPr>
            <a:solidFill>
              <a:srgbClr val="3DD9EB"/>
            </a:solidFill>
            <a:ln w="31750" cap="flat">
              <a:solidFill>
                <a:srgbClr val="3DD9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D9EB"/>
              </a:solidFill>
              <a:ln w="9525" cap="flat">
                <a:solidFill>
                  <a:srgbClr val="3DD9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687</c:v>
                </c:pt>
                <c:pt idx="17">
                  <c:v>698</c:v>
                </c:pt>
                <c:pt idx="18">
                  <c:v>710</c:v>
                </c:pt>
                <c:pt idx="19">
                  <c:v>721</c:v>
                </c:pt>
                <c:pt idx="20">
                  <c:v>733</c:v>
                </c:pt>
                <c:pt idx="21">
                  <c:v>744</c:v>
                </c:pt>
                <c:pt idx="22">
                  <c:v>756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בשימוש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516</c:v>
                </c:pt>
                <c:pt idx="1">
                  <c:v>520</c:v>
                </c:pt>
                <c:pt idx="2">
                  <c:v>526</c:v>
                </c:pt>
                <c:pt idx="3">
                  <c:v>530</c:v>
                </c:pt>
                <c:pt idx="4">
                  <c:v>549</c:v>
                </c:pt>
                <c:pt idx="5">
                  <c:v>560</c:v>
                </c:pt>
                <c:pt idx="6">
                  <c:v>569</c:v>
                </c:pt>
                <c:pt idx="7">
                  <c:v>577</c:v>
                </c:pt>
                <c:pt idx="8">
                  <c:v>605</c:v>
                </c:pt>
                <c:pt idx="9">
                  <c:v>628</c:v>
                </c:pt>
                <c:pt idx="10">
                  <c:v>642</c:v>
                </c:pt>
                <c:pt idx="11">
                  <c:v>650</c:v>
                </c:pt>
                <c:pt idx="12">
                  <c:v>660</c:v>
                </c:pt>
                <c:pt idx="13">
                  <c:v>668</c:v>
                </c:pt>
                <c:pt idx="14">
                  <c:v>680</c:v>
                </c:pt>
                <c:pt idx="15">
                  <c:v>679</c:v>
                </c:pt>
                <c:pt idx="16">
                  <c:v>687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 rot="18000000"/>
          <a:lstStyle/>
          <a:p>
            <a:pPr>
              <a:defRPr sz="85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45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gap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עלות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&quot;$&quot;0.0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Dell ECS On-Prem</c:v>
                  </c:pt>
                  <c:pt idx="1">
                    <c:v>AWS S3 + API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115.8</c:v>
                </c:pt>
                <c:pt idx="1">
                  <c:v>155</c:v>
                </c:pt>
              </c:numCache>
            </c:numRef>
          </c:val>
        </c:ser>
        <c:dLbls>
          <c:numFmt formatCode="&quot;$&quot;0.0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span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566928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9863" y="512064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1284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‫הראל · תשתיות ‪IT‬‬</a:t>
            </a:r>
            <a:endParaRPr lang="he-IL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57860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לענן‬</a:t>
            </a:r>
            <a:endParaRPr lang="he-IL" sz="4000" dirty="0"/>
          </a:p>
        </p:txBody>
      </p:sp>
      <p:sp>
        <p:nvSpPr>
          <p:cNvPr id="7" name="Shape 5"/>
          <p:cNvSpPr/>
          <p:nvPr/>
        </p:nvSpPr>
        <p:spPr>
          <a:xfrm>
            <a:off x="8991295" y="3602736"/>
            <a:ext cx="2377440" cy="2743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673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‫מ-‪ECS On-Prem‬ ל-‪AWS S3‬ · מצגת לקבלת החלטה‬</a:t>
            </a:r>
            <a:endParaRPr lang="he-IL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5870448"/>
            <a:ext cx="10543032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‫‪Harel IT Infrastructure‬ · חסוי · הנתונים נכונים לאוגוסט ‪2026‬‬</a:t>
            </a:r>
            <a:endParaRPr lang="he-I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‫ההחלטה הנדרשת‬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על השולחן — ושניהם צריכים תשובה עוד באוקטובר‬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29807" y="2029968"/>
            <a:ext cx="5138928" cy="3749040"/>
          </a:xfrm>
          <a:prstGeom prst="roundRect">
            <a:avLst>
              <a:gd name="adj" fmla="val 1220"/>
            </a:avLst>
          </a:prstGeom>
          <a:solidFill>
            <a:srgbClr val="182133"/>
          </a:solidFill>
          <a:ln w="12700">
            <a:solidFill>
              <a:srgbClr val="5A42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13287" y="2359152"/>
            <a:ext cx="50292" cy="402336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98303" y="2340864"/>
            <a:ext cx="676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4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77279" y="2322576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דיסקים ב-‪Dell ECS‬‬</a:t>
            </a:r>
            <a:endParaRPr lang="he-IL" sz="1900" dirty="0"/>
          </a:p>
        </p:txBody>
      </p:sp>
      <p:sp>
        <p:nvSpPr>
          <p:cNvPr id="9" name="Shape 7"/>
          <p:cNvSpPr/>
          <p:nvPr/>
        </p:nvSpPr>
        <p:spPr>
          <a:xfrm>
            <a:off x="6577279" y="2944368"/>
            <a:ext cx="4443984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77279" y="3054096"/>
            <a:ext cx="4443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2000"/>
              </a:lnSpc>
              <a:buNone/>
            </a:pPr>
            <a:r>
              <a:rPr lang="he-IL" alt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המערך הקיים — באותה ארכיטקטורה ובאותם ממשקים.‬</a:t>
            </a:r>
            <a:endParaRPr lang="he-IL" sz="1400" dirty="0"/>
          </a:p>
        </p:txBody>
      </p:sp>
      <p:sp>
        <p:nvSpPr>
          <p:cNvPr id="11" name="Shape 9"/>
          <p:cNvSpPr/>
          <p:nvPr/>
        </p:nvSpPr>
        <p:spPr>
          <a:xfrm>
            <a:off x="10966399" y="3694176"/>
            <a:ext cx="91440" cy="914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77279" y="3566160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‫עלות: ‪$695,520 · 600 TB‬ לוגי · ‪Replica x3‬‬</a:t>
            </a:r>
            <a:endParaRPr lang="he-IL" sz="1300" dirty="0"/>
          </a:p>
        </p:txBody>
      </p:sp>
      <p:sp>
        <p:nvSpPr>
          <p:cNvPr id="13" name="Shape 11"/>
          <p:cNvSpPr/>
          <p:nvPr/>
        </p:nvSpPr>
        <p:spPr>
          <a:xfrm>
            <a:off x="10966399" y="4078224"/>
            <a:ext cx="91440" cy="914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77279" y="395020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‫זמן: ‪PO‬ באוקטובר, אספקה תוך כחודשיים‬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10966399" y="4462272"/>
            <a:ext cx="91440" cy="914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77279" y="433425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‫תוספת דיסקים ל-‪nodes‬ קיימים · תחזוקה ל-‪5‬ שנים‬</a:t>
            </a:r>
            <a:endParaRPr lang="he-IL" sz="1300" dirty="0"/>
          </a:p>
        </p:txBody>
      </p:sp>
      <p:sp>
        <p:nvSpPr>
          <p:cNvPr id="17" name="Shape 15"/>
          <p:cNvSpPr/>
          <p:nvPr/>
        </p:nvSpPr>
        <p:spPr>
          <a:xfrm>
            <a:off x="10966399" y="4846320"/>
            <a:ext cx="91440" cy="91440"/>
          </a:xfrm>
          <a:prstGeom prst="rect">
            <a:avLst/>
          </a:prstGeom>
          <a:solidFill>
            <a:srgbClr val="5E6E85"/>
          </a:solidFill>
          <a:ln w="12700">
            <a:solidFill>
              <a:srgbClr val="5E6E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77279" y="471830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שינוי באפליקציות, אך הוצאה הונית מלאה‬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6577279" y="5175504"/>
            <a:ext cx="4443984" cy="457200"/>
          </a:xfrm>
          <a:prstGeom prst="roundRect">
            <a:avLst>
              <a:gd name="adj" fmla="val 32000"/>
            </a:avLst>
          </a:prstGeom>
          <a:solidFill>
            <a:srgbClr val="3A2A12"/>
          </a:solidFill>
          <a:ln w="12700">
            <a:solidFill>
              <a:srgbClr val="3A2A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3583" y="5175504"/>
            <a:ext cx="4151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תקציב ויציאה ל-‪PO‬ באוקטובר‬</a:t>
            </a:r>
            <a:endParaRPr lang="he-IL" sz="1300" dirty="0"/>
          </a:p>
        </p:txBody>
      </p:sp>
      <p:sp>
        <p:nvSpPr>
          <p:cNvPr id="21" name="Shape 19"/>
          <p:cNvSpPr/>
          <p:nvPr/>
        </p:nvSpPr>
        <p:spPr>
          <a:xfrm>
            <a:off x="822960" y="2029968"/>
            <a:ext cx="5138928" cy="3749040"/>
          </a:xfrm>
          <a:prstGeom prst="roundRect">
            <a:avLst>
              <a:gd name="adj" fmla="val 1220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06440" y="2359152"/>
            <a:ext cx="50292" cy="402336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91456" y="2340864"/>
            <a:ext cx="676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4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170432" y="2322576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דימות ו-‪Verint‬ לענן‬</a:t>
            </a:r>
            <a:endParaRPr lang="he-IL" sz="1900" dirty="0"/>
          </a:p>
        </p:txBody>
      </p:sp>
      <p:sp>
        <p:nvSpPr>
          <p:cNvPr id="25" name="Shape 23"/>
          <p:cNvSpPr/>
          <p:nvPr/>
        </p:nvSpPr>
        <p:spPr>
          <a:xfrm>
            <a:off x="1170432" y="2944368"/>
            <a:ext cx="4443984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70432" y="3054096"/>
            <a:ext cx="4443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2000"/>
              </a:lnSpc>
              <a:buNone/>
            </a:pPr>
            <a:r>
              <a:rPr lang="he-IL" alt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‫העברת הארכיון לאחסון אובייקטים ב-‪AWS‬, ופינוי השטח שהוא תופס היום ב-‪ECS‬.‬</a:t>
            </a:r>
            <a:endParaRPr lang="he-IL" sz="1400" dirty="0"/>
          </a:p>
        </p:txBody>
      </p:sp>
      <p:sp>
        <p:nvSpPr>
          <p:cNvPr id="27" name="Shape 25"/>
          <p:cNvSpPr/>
          <p:nvPr/>
        </p:nvSpPr>
        <p:spPr>
          <a:xfrm>
            <a:off x="5559552" y="3694176"/>
            <a:ext cx="91440" cy="914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70432" y="3566160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‫עלות: תשלום לפי צריכה, ללא הוצאה הונית‬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5559552" y="4078224"/>
            <a:ext cx="91440" cy="914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0432" y="395020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‫זמן: שבועות — ללא ‪PO‬ וללא זמן אספקה‬</a:t>
            </a:r>
            <a:endParaRPr lang="he-IL" sz="1300" dirty="0"/>
          </a:p>
        </p:txBody>
      </p:sp>
      <p:sp>
        <p:nvSpPr>
          <p:cNvPr id="31" name="Shape 29"/>
          <p:cNvSpPr/>
          <p:nvPr/>
        </p:nvSpPr>
        <p:spPr>
          <a:xfrm>
            <a:off x="5559552" y="4462272"/>
            <a:ext cx="91440" cy="914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70432" y="433425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‫ניתן להתחיל בקורפוס אחד ולהרחיב בהדרגה‬</a:t>
            </a:r>
            <a:endParaRPr lang="he-IL" sz="1300" dirty="0"/>
          </a:p>
        </p:txBody>
      </p:sp>
      <p:sp>
        <p:nvSpPr>
          <p:cNvPr id="33" name="Shape 31"/>
          <p:cNvSpPr/>
          <p:nvPr/>
        </p:nvSpPr>
        <p:spPr>
          <a:xfrm>
            <a:off x="5559552" y="4846320"/>
            <a:ext cx="91440" cy="91440"/>
          </a:xfrm>
          <a:prstGeom prst="rect">
            <a:avLst/>
          </a:prstGeom>
          <a:solidFill>
            <a:srgbClr val="5E6E85"/>
          </a:solidFill>
          <a:ln w="12700">
            <a:solidFill>
              <a:srgbClr val="5E6E8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70432" y="471830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‫מפנה שטח מיד, אך נדרשת שכבת ‪API‬ באפליקציה‬</a:t>
            </a:r>
            <a:endParaRPr lang="he-IL" sz="1300" dirty="0"/>
          </a:p>
        </p:txBody>
      </p:sp>
      <p:sp>
        <p:nvSpPr>
          <p:cNvPr id="35" name="Shape 33"/>
          <p:cNvSpPr/>
          <p:nvPr/>
        </p:nvSpPr>
        <p:spPr>
          <a:xfrm>
            <a:off x="1170432" y="5175504"/>
            <a:ext cx="4443984" cy="457200"/>
          </a:xfrm>
          <a:prstGeom prst="roundRect">
            <a:avLst>
              <a:gd name="adj" fmla="val 32000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316736" y="5175504"/>
            <a:ext cx="4151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עקרוני + תקציב ‪POC‬‬</a:t>
            </a:r>
            <a:endParaRPr lang="he-IL" sz="1300" dirty="0"/>
          </a:p>
        </p:txBody>
      </p:sp>
      <p:sp>
        <p:nvSpPr>
          <p:cNvPr id="37" name="Shape 35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המסלולים אינם חלופיים: ‪01‬ מוסיף קיבולת, ‪02‬ מקטין את הצריכה. ה-‪PO‬ של ‪01‬ חייב לצאת באוקטובר — הרציונל והנתונים בשקפים הבאים.‬</a:t>
            </a:r>
            <a:endParaRPr lang="he-IL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‫המצב היום‬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 ניצולת — ובקצב הנוכחי הסף נחצה בדצמבר ‪2026‬‬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נוכחית‬</a:t>
            </a:r>
            <a:endParaRPr lang="he-IL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79776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 · 687 TB‬ מתוך ‪916 TB‬‬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‫מרווח עד סף ‪80%‬‬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 עומד על ‪733 TB‬‬</a:t>
            </a:r>
            <a:endParaRPr lang="he-IL" sz="1100" dirty="0"/>
          </a:p>
        </p:txBody>
      </p:sp>
      <p:sp>
        <p:nvSpPr>
          <p:cNvPr id="13" name="Shape 11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2500" dirty="0"/>
          </a:p>
        </p:txBody>
      </p:sp>
      <p:sp>
        <p:nvSpPr>
          <p:cNvPr id="15" name="Text 13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צפויה‬</a:t>
            </a:r>
            <a:endParaRPr lang="he-IL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54498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‫בקצב של כ-‪11.5 TB‬ לחודש‬</a:t>
            </a:r>
            <a:endParaRPr lang="he-IL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1828800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אחסון ותחזית · ‪TB‬‬</a:t>
            </a:r>
            <a:endParaRPr lang="he-IL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3913632" y="210312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11222431" y="5481828"/>
            <a:ext cx="146304" cy="10058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05111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‫בשימוש בפועל‬</a:t>
            </a:r>
            <a:endParaRPr lang="he-IL" sz="1050" dirty="0"/>
          </a:p>
        </p:txBody>
      </p:sp>
      <p:sp>
        <p:nvSpPr>
          <p:cNvPr id="21" name="Shape 18"/>
          <p:cNvSpPr/>
          <p:nvPr/>
        </p:nvSpPr>
        <p:spPr>
          <a:xfrm>
            <a:off x="9649663" y="5481828"/>
            <a:ext cx="146304" cy="10058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32343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‫תחזית‬</a:t>
            </a:r>
            <a:endParaRPr lang="he-IL" sz="1050" dirty="0"/>
          </a:p>
        </p:txBody>
      </p:sp>
      <p:sp>
        <p:nvSpPr>
          <p:cNvPr id="23" name="Shape 20"/>
          <p:cNvSpPr/>
          <p:nvPr/>
        </p:nvSpPr>
        <p:spPr>
          <a:xfrm>
            <a:off x="8076895" y="5481828"/>
            <a:ext cx="146304" cy="10058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59575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‫סף ‪80%‬‬</a:t>
            </a:r>
            <a:endParaRPr lang="he-IL" sz="1050" dirty="0"/>
          </a:p>
        </p:txBody>
      </p:sp>
      <p:sp>
        <p:nvSpPr>
          <p:cNvPr id="25" name="Shape 22"/>
          <p:cNvSpPr/>
          <p:nvPr/>
        </p:nvSpPr>
        <p:spPr>
          <a:xfrm>
            <a:off x="6504127" y="5481828"/>
            <a:ext cx="146304" cy="100584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86807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‫קיבולת‬</a:t>
            </a:r>
            <a:endParaRPr lang="he-IL" sz="1050" dirty="0"/>
          </a:p>
        </p:txBody>
      </p:sp>
      <p:sp>
        <p:nvSpPr>
          <p:cNvPr id="27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‫קו התחזית חוצה את סף ‪80%‬ בדצמבר ‪2026‬. מכיוון שזמן האספקה מ-‪Dell‬ הוא כחודשיים, ה-‪PO‬ חייב לצאת באוקטובר כדי שהדיסקים יגיעו לפני החצייה.‬</a:t>
            </a:r>
            <a:endParaRPr lang="he-IL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 הזמנים הקריטי‬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תאריכים שונים — ואוקטובר הוא זה שתלוי בנו‬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11535" y="2304288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96935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‫היום‬</a:t>
            </a:r>
            <a:endParaRPr lang="he-IL" sz="1100" dirty="0"/>
          </a:p>
        </p:txBody>
      </p:sp>
      <p:sp>
        <p:nvSpPr>
          <p:cNvPr id="8" name="Text 6"/>
          <p:cNvSpPr/>
          <p:nvPr/>
        </p:nvSpPr>
        <p:spPr>
          <a:xfrm>
            <a:off x="8396935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‪2026‬‬</a:t>
            </a:r>
            <a:endParaRPr lang="he-IL" sz="1900" dirty="0"/>
          </a:p>
        </p:txBody>
      </p:sp>
      <p:sp>
        <p:nvSpPr>
          <p:cNvPr id="9" name="Text 7"/>
          <p:cNvSpPr/>
          <p:nvPr/>
        </p:nvSpPr>
        <p:spPr>
          <a:xfrm>
            <a:off x="8396935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600" dirty="0"/>
          </a:p>
        </p:txBody>
      </p:sp>
      <p:sp>
        <p:nvSpPr>
          <p:cNvPr id="10" name="Text 8"/>
          <p:cNvSpPr/>
          <p:nvPr/>
        </p:nvSpPr>
        <p:spPr>
          <a:xfrm>
            <a:off x="83969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TB‬. נותרו ‪46 TB‬ עד לסף.‬</a:t>
            </a:r>
            <a:endParaRPr lang="he-IL" sz="1100" dirty="0"/>
          </a:p>
        </p:txBody>
      </p:sp>
      <p:sp>
        <p:nvSpPr>
          <p:cNvPr id="11" name="Text 9"/>
          <p:cNvSpPr/>
          <p:nvPr/>
        </p:nvSpPr>
        <p:spPr>
          <a:xfrm>
            <a:off x="7720279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474159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3079" y="2304288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48479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‫החלון להחלטה‬</a:t>
            </a:r>
            <a:endParaRPr lang="he-IL" sz="1100" dirty="0"/>
          </a:p>
        </p:txBody>
      </p:sp>
      <p:sp>
        <p:nvSpPr>
          <p:cNvPr id="15" name="Text 13"/>
          <p:cNvSpPr/>
          <p:nvPr/>
        </p:nvSpPr>
        <p:spPr>
          <a:xfrm>
            <a:off x="4748479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900" dirty="0"/>
          </a:p>
        </p:txBody>
      </p:sp>
      <p:sp>
        <p:nvSpPr>
          <p:cNvPr id="16" name="Text 14"/>
          <p:cNvSpPr/>
          <p:nvPr/>
        </p:nvSpPr>
        <p:spPr>
          <a:xfrm>
            <a:off x="4748479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600" dirty="0"/>
          </a:p>
        </p:txBody>
      </p:sp>
      <p:sp>
        <p:nvSpPr>
          <p:cNvPr id="17" name="Text 15"/>
          <p:cNvSpPr/>
          <p:nvPr/>
        </p:nvSpPr>
        <p:spPr>
          <a:xfrm>
            <a:off x="4748479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מ-‪Dell‬. זהו המועד האחרון שעדיין מביא דיסקים לפני דצמבר.‬</a:t>
            </a:r>
            <a:endParaRPr lang="he-IL" sz="1100" dirty="0"/>
          </a:p>
        </p:txBody>
      </p:sp>
      <p:sp>
        <p:nvSpPr>
          <p:cNvPr id="18" name="Text 16"/>
          <p:cNvSpPr/>
          <p:nvPr/>
        </p:nvSpPr>
        <p:spPr>
          <a:xfrm>
            <a:off x="4071823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25703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14623" y="2304288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00023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‫הסף‬</a:t>
            </a:r>
            <a:endParaRPr lang="he-IL" sz="1100" dirty="0"/>
          </a:p>
        </p:txBody>
      </p:sp>
      <p:sp>
        <p:nvSpPr>
          <p:cNvPr id="22" name="Text 20"/>
          <p:cNvSpPr/>
          <p:nvPr/>
        </p:nvSpPr>
        <p:spPr>
          <a:xfrm>
            <a:off x="1100023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900" dirty="0"/>
          </a:p>
        </p:txBody>
      </p:sp>
      <p:sp>
        <p:nvSpPr>
          <p:cNvPr id="23" name="Text 21"/>
          <p:cNvSpPr/>
          <p:nvPr/>
        </p:nvSpPr>
        <p:spPr>
          <a:xfrm>
            <a:off x="1100023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‫‪80%‬‬</a:t>
            </a:r>
            <a:endParaRPr lang="he-IL" sz="2600" dirty="0"/>
          </a:p>
        </p:txBody>
      </p:sp>
      <p:sp>
        <p:nvSpPr>
          <p:cNvPr id="24" name="Text 22"/>
          <p:cNvSpPr/>
          <p:nvPr/>
        </p:nvSpPr>
        <p:spPr>
          <a:xfrm>
            <a:off x="1100023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‫‪733 TB‬. מעל הסף הביצועים נפגעים והסיכון לזמינות המערכת עולה.‬</a:t>
            </a:r>
            <a:endParaRPr lang="he-IL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315968"/>
            <a:ext cx="10545775" cy="1188720"/>
          </a:xfrm>
          <a:prstGeom prst="roundRect">
            <a:avLst>
              <a:gd name="adj" fmla="val 3846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29823" y="45354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4462272"/>
            <a:ext cx="9722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‫למה אי אפשר לחכות‬</a:t>
            </a:r>
            <a:endParaRPr lang="he-IL" sz="1300" dirty="0"/>
          </a:p>
        </p:txBody>
      </p:sp>
      <p:sp>
        <p:nvSpPr>
          <p:cNvPr id="28" name="Text 26"/>
          <p:cNvSpPr/>
          <p:nvPr/>
        </p:nvSpPr>
        <p:spPr>
          <a:xfrm>
            <a:off x="1097280" y="4718304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אינה אירוע תקציבי אלא אירוע תפעולי: מעל הסף ביצועי המערכת נפגעים והחשיפה להשבתה עולה. את מועד החצייה איננו שולטים בו — הוא נגזר מקצב הגידול. את מועד הרכש כן. הוצאת ‪PO‬ באוקטובר היא הפעולה היחידה שמבטיחה שהדיסקים יהיו בבית ברגע שהסף נחצה; כל דחייה מעבירה אותנו לדצמבר עם ‪80%‬ ובלי קיבולת נוספת.‬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‫ההעתקה ל-‪AWS S3‬ רצה במקביל ומקטינה את קצב ההתקרבות לסף, אך היא אינה תחליף לרכש ואינה מבטלת את מועד האוקטובר.‬</a:t>
            </a:r>
            <a:endParaRPr lang="he-IL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‫השוואת עלויות‬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‫‪100 TB‬ ל-‪5‬ שנים: ‪$116K‬ ב-‪On-Prem‬ מול ‪$145K–165K‬ ב-‪AWS S3 + API‬‬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13632" y="1847088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· אלפי דולרים‬</a:t>
            </a:r>
            <a:endParaRPr lang="he-IL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913632" y="2121408"/>
          <a:ext cx="7452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$1,158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‪TB‬ לוגי · ‪Dell ECS‬‬</a:t>
            </a:r>
            <a:endParaRPr lang="he-IL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779776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‫כולל ‪Replica x3‬ בין שלושה אתרים‬</a:t>
            </a:r>
            <a:endParaRPr lang="he-IL" sz="1100" dirty="0"/>
          </a:p>
        </p:txBody>
      </p:sp>
      <p:sp>
        <p:nvSpPr>
          <p:cNvPr id="11" name="Shape 8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$1,450–1,650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 · AWS S3 + API‬‬</a:t>
            </a:r>
            <a:endParaRPr lang="he-IL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‫אחסון ופעילות שוטפת, ללא כפל אחסון מצידנו‬</a:t>
            </a:r>
            <a:endParaRPr lang="he-IL" sz="1100" dirty="0"/>
          </a:p>
        </p:txBody>
      </p:sp>
      <p:sp>
        <p:nvSpPr>
          <p:cNvPr id="15" name="Shape 12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20%–30%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‫יתרון ל-‪Dell ECS‬‬</a:t>
            </a:r>
            <a:endParaRPr lang="he-IL" sz="1050" dirty="0"/>
          </a:p>
        </p:txBody>
      </p:sp>
      <p:sp>
        <p:nvSpPr>
          <p:cNvPr id="18" name="Text 15"/>
          <p:cNvSpPr/>
          <p:nvPr/>
        </p:nvSpPr>
        <p:spPr>
          <a:xfrm>
            <a:off x="822960" y="5449824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‫בשכבה החמה בלבד — ראו השקף הבא‬</a:t>
            </a:r>
            <a:endParaRPr lang="he-IL" sz="1100" dirty="0"/>
          </a:p>
        </p:txBody>
      </p:sp>
      <p:sp>
        <p:nvSpPr>
          <p:cNvPr id="19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‫מקור ‪On-Prem‬: הצעת ‪Dell — $695,520‬ עבור ‪1,800 TB‬ נטו — ‪3,024 TB‬ ברוטו — ‪$386‬ ל-‪TB‬ נטו, בהוספת דיסקים ל-‪21 nodes‬ קיימים ללא ‪nodes‬ חדשים. שני הצדדים מנורמלים ל-‪100 TB‬ לוגי.‬</a:t>
            </a:r>
            <a:endParaRPr lang="he-IL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שההשוואה מפספסת‬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‫תמחרנו לפי שכבה חמה — אבל דימות ו-‪Verint‬ הם דאטה ארכיוני‬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55080" y="19385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לפי שכבת אחסון‬</a:t>
            </a:r>
            <a:endParaRPr lang="he-IL" sz="1100" dirty="0"/>
          </a:p>
        </p:txBody>
      </p:sp>
      <p:sp>
        <p:nvSpPr>
          <p:cNvPr id="6" name="Text 4"/>
          <p:cNvSpPr/>
          <p:nvPr/>
        </p:nvSpPr>
        <p:spPr>
          <a:xfrm>
            <a:off x="7836408" y="230428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‫‪Dell ECS On-Prem‬‬</a:t>
            </a:r>
            <a:endParaRPr lang="he-IL" sz="1250" dirty="0"/>
          </a:p>
        </p:txBody>
      </p:sp>
      <p:sp>
        <p:nvSpPr>
          <p:cNvPr id="7" name="Text 5"/>
          <p:cNvSpPr/>
          <p:nvPr/>
        </p:nvSpPr>
        <p:spPr>
          <a:xfrm>
            <a:off x="7836408" y="254203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‫‪capex‬ דיסקים‬</a:t>
            </a:r>
            <a:endParaRPr lang="he-IL" sz="1050" dirty="0"/>
          </a:p>
        </p:txBody>
      </p:sp>
      <p:sp>
        <p:nvSpPr>
          <p:cNvPr id="8" name="Shape 6"/>
          <p:cNvSpPr/>
          <p:nvPr/>
        </p:nvSpPr>
        <p:spPr>
          <a:xfrm>
            <a:off x="7836408" y="2779776"/>
            <a:ext cx="3383280" cy="173736"/>
          </a:xfrm>
          <a:prstGeom prst="roundRect">
            <a:avLst>
              <a:gd name="adj" fmla="val 210526"/>
            </a:avLst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774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36408" y="327355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Standard-IA‬‬</a:t>
            </a:r>
            <a:endParaRPr lang="he-IL" sz="1250" dirty="0"/>
          </a:p>
        </p:txBody>
      </p:sp>
      <p:sp>
        <p:nvSpPr>
          <p:cNvPr id="11" name="Text 9"/>
          <p:cNvSpPr/>
          <p:nvPr/>
        </p:nvSpPr>
        <p:spPr>
          <a:xfrm>
            <a:off x="7836408" y="351129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‫‪$0.0125 / GB‬‬</a:t>
            </a:r>
            <a:endParaRPr lang="he-IL" sz="1050" dirty="0"/>
          </a:p>
        </p:txBody>
      </p:sp>
      <p:sp>
        <p:nvSpPr>
          <p:cNvPr id="12" name="Shape 10"/>
          <p:cNvSpPr/>
          <p:nvPr/>
        </p:nvSpPr>
        <p:spPr>
          <a:xfrm>
            <a:off x="8986723" y="3749040"/>
            <a:ext cx="2232965" cy="173736"/>
          </a:xfrm>
          <a:prstGeom prst="roundRect">
            <a:avLst>
              <a:gd name="adj" fmla="val 210526"/>
            </a:avLst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334670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4242816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Glacier Instant Retrieval‬‬</a:t>
            </a:r>
            <a:endParaRPr lang="he-IL" sz="1250" dirty="0"/>
          </a:p>
        </p:txBody>
      </p:sp>
      <p:sp>
        <p:nvSpPr>
          <p:cNvPr id="15" name="Text 13"/>
          <p:cNvSpPr/>
          <p:nvPr/>
        </p:nvSpPr>
        <p:spPr>
          <a:xfrm>
            <a:off x="7836408" y="4480560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‫‪$0.004 / GB‬‬</a:t>
            </a:r>
            <a:endParaRPr lang="he-IL" sz="1050" dirty="0"/>
          </a:p>
        </p:txBody>
      </p:sp>
      <p:sp>
        <p:nvSpPr>
          <p:cNvPr id="16" name="Shape 14"/>
          <p:cNvSpPr/>
          <p:nvPr/>
        </p:nvSpPr>
        <p:spPr>
          <a:xfrm>
            <a:off x="10475366" y="4718304"/>
            <a:ext cx="744322" cy="173736"/>
          </a:xfrm>
          <a:prstGeom prst="roundRect">
            <a:avLst>
              <a:gd name="adj" fmla="val 210526"/>
            </a:avLst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431596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22960" y="2231136"/>
            <a:ext cx="5212080" cy="1389888"/>
          </a:xfrm>
          <a:prstGeom prst="roundRect">
            <a:avLst>
              <a:gd name="adj" fmla="val 26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32120" y="2523744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33856" y="246888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שמוזיל את הענן‬</a:t>
            </a:r>
            <a:endParaRPr lang="he-IL" sz="1350" dirty="0"/>
          </a:p>
        </p:txBody>
      </p:sp>
      <p:sp>
        <p:nvSpPr>
          <p:cNvPr id="21" name="Text 19"/>
          <p:cNvSpPr/>
          <p:nvPr/>
        </p:nvSpPr>
        <p:spPr>
          <a:xfrm>
            <a:off x="1133856" y="2816352"/>
            <a:ext cx="4590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‫מסמכי דימות ו-‪Verint‬ נכתבים פעם אחת ונקראים לעיתים נדירות. ב-‪Glacier Instant Retrieval‬, בזמן אחזור של מילישניות, העלות יורדת לכ-‪$25K‬ — פי ‪4.6‬ זול מ-‪On-Prem‬, ולא יקר ממנו ב-‪30%‬.‬</a:t>
            </a:r>
            <a:endParaRPr lang="he-IL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3785616"/>
            <a:ext cx="5212080" cy="1463040"/>
          </a:xfrm>
          <a:prstGeom prst="roundRect">
            <a:avLst>
              <a:gd name="adj" fmla="val 25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40782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402336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שמייקר אותו‬</a:t>
            </a:r>
            <a:endParaRPr lang="he-IL" sz="1350" dirty="0"/>
          </a:p>
        </p:txBody>
      </p:sp>
      <p:sp>
        <p:nvSpPr>
          <p:cNvPr id="25" name="Text 23"/>
          <p:cNvSpPr/>
          <p:nvPr/>
        </p:nvSpPr>
        <p:spPr>
          <a:xfrm>
            <a:off x="1133856" y="4370832"/>
            <a:ext cx="4590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‫יציאת נתונים ‪$0.09‬ ל-‪GB‬ — כ-‪$9K‬ להוצאת ‪100 TB‬ חזרה. דמי אחזור ‪$0.03‬ ל-‪GB‬ ב-‪Glacier IR‬, מינימום ‪90‬ יום אחסון, וחיוב מינימלי של ‪128 KB‬ לאובייקט — משמעותי בדימות עם ריבוי קבצים קטנים. מחירי אזור תל אביב גבוהים ב-‪10%–15%‬ ממחירון ‪us-east-1‬.‬</a:t>
            </a:r>
            <a:endParaRPr lang="he-IL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‫הנתון שחסר להכרעה: פילוח גודל-אובייקט ותדירות אחזור של קורפוס הדימות ו-‪Verint‬. הוא שקובע איזו שכבה נכונה, והוא אינו קיים היום. המחירים הם מחירון רשימה, ללא הנחות נפח או התחייבות.‬</a:t>
            </a:r>
            <a:endParaRPr lang="he-IL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‫סיכונים · חלק א‬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חוסמים שחייבים להיסגר לפני ההעתקה הראשונה‬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93815" y="2011680"/>
            <a:ext cx="5074920" cy="3712464"/>
          </a:xfrm>
          <a:prstGeom prst="roundRect">
            <a:avLst>
              <a:gd name="adj" fmla="val 1232"/>
            </a:avLst>
          </a:prstGeom>
          <a:solidFill>
            <a:srgbClr val="182133"/>
          </a:solidFill>
          <a:ln w="19050">
            <a:solidFill>
              <a:srgbClr val="FF6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18443" y="2194560"/>
            <a:ext cx="50292" cy="33467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04711" y="2286000"/>
            <a:ext cx="1078992" cy="274320"/>
          </a:xfrm>
          <a:prstGeom prst="roundRect">
            <a:avLst>
              <a:gd name="adj" fmla="val 100000"/>
            </a:avLst>
          </a:prstGeom>
          <a:solidFill>
            <a:srgbClr val="3A1620"/>
          </a:solidFill>
          <a:ln w="12700">
            <a:solidFill>
              <a:srgbClr val="3A16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04711" y="228600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he-IL" altLang="en-US" sz="10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‫חוסם התחלה‬</a:t>
            </a:r>
            <a:endParaRPr lang="he-IL" sz="1000" dirty="0"/>
          </a:p>
        </p:txBody>
      </p:sp>
      <p:sp>
        <p:nvSpPr>
          <p:cNvPr id="9" name="Text 7"/>
          <p:cNvSpPr/>
          <p:nvPr/>
        </p:nvSpPr>
        <p:spPr>
          <a:xfrm>
            <a:off x="7811719" y="2249424"/>
            <a:ext cx="3191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0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‫משפטי · קבילות המסמך‬</a:t>
            </a:r>
            <a:endParaRPr lang="he-IL" sz="2000" dirty="0"/>
          </a:p>
        </p:txBody>
      </p:sp>
      <p:sp>
        <p:nvSpPr>
          <p:cNvPr id="10" name="Shape 8"/>
          <p:cNvSpPr/>
          <p:nvPr/>
        </p:nvSpPr>
        <p:spPr>
          <a:xfrm>
            <a:off x="6604711" y="2724912"/>
            <a:ext cx="4453128" cy="10973"/>
          </a:xfrm>
          <a:prstGeom prst="rect">
            <a:avLst/>
          </a:prstGeom>
          <a:solidFill>
            <a:srgbClr val="3A2430"/>
          </a:solidFill>
          <a:ln w="12700">
            <a:solidFill>
              <a:srgbClr val="3A24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4711" y="2852928"/>
            <a:ext cx="44531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he-IL" alt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‫בהעתקה משתנים שם הקובץ, הנתיב ותאריך היצירה. במחלוקת משפטית ייתכן שנידרש להוכיח שהמסמך שהוצג הוא בדיוק המסמך המקורי, ושלא שונה מאז נוצר.‬</a:t>
            </a:r>
            <a:endParaRPr lang="he-IL" sz="1400" dirty="0"/>
          </a:p>
        </p:txBody>
      </p:sp>
      <p:sp>
        <p:nvSpPr>
          <p:cNvPr id="12" name="Text 10"/>
          <p:cNvSpPr/>
          <p:nvPr/>
        </p:nvSpPr>
        <p:spPr>
          <a:xfrm>
            <a:off x="6604711" y="3694176"/>
            <a:ext cx="4453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11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‫מיטיגציה‬</a:t>
            </a:r>
            <a:endParaRPr lang="he-IL" sz="1050" dirty="0"/>
          </a:p>
        </p:txBody>
      </p:sp>
      <p:sp>
        <p:nvSpPr>
          <p:cNvPr id="13" name="Shape 11"/>
          <p:cNvSpPr/>
          <p:nvPr/>
        </p:nvSpPr>
        <p:spPr>
          <a:xfrm>
            <a:off x="10966399" y="4087368"/>
            <a:ext cx="91440" cy="914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4711" y="3968496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‫‪manifest‬ חתום ‪SHA-256‬ לכל אובייקט: שם מקורי, נתיב ותאריך מקור‬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10966399" y="4471416"/>
            <a:ext cx="91440" cy="914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4711" y="4352544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Object Lock‬ במצב ‪Compliance‬ — אין שינוי ואין מחיקה‬</a:t>
            </a:r>
            <a:endParaRPr lang="he-IL" sz="1300" dirty="0"/>
          </a:p>
        </p:txBody>
      </p:sp>
      <p:sp>
        <p:nvSpPr>
          <p:cNvPr id="17" name="Shape 15"/>
          <p:cNvSpPr/>
          <p:nvPr/>
        </p:nvSpPr>
        <p:spPr>
          <a:xfrm>
            <a:off x="10966399" y="4855464"/>
            <a:ext cx="91440" cy="914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04711" y="4736592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‫שימור ה-‪metadata‬ המקורי לצד הקובץ ביעד‬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6604711" y="5157216"/>
            <a:ext cx="4453128" cy="457200"/>
          </a:xfrm>
          <a:prstGeom prst="roundRect">
            <a:avLst>
              <a:gd name="adj" fmla="val 32000"/>
            </a:avLst>
          </a:prstGeom>
          <a:solidFill>
            <a:srgbClr val="3A1620"/>
          </a:solidFill>
          <a:ln w="12700">
            <a:solidFill>
              <a:srgbClr val="3A16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1015" y="515721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הלשכה המשפטית לפני ההעתקה הראשונה‬</a:t>
            </a:r>
            <a:endParaRPr lang="he-IL" sz="1300" dirty="0"/>
          </a:p>
        </p:txBody>
      </p:sp>
      <p:sp>
        <p:nvSpPr>
          <p:cNvPr id="21" name="Shape 19"/>
          <p:cNvSpPr/>
          <p:nvPr/>
        </p:nvSpPr>
        <p:spPr>
          <a:xfrm>
            <a:off x="822960" y="2011680"/>
            <a:ext cx="5074920" cy="3712464"/>
          </a:xfrm>
          <a:prstGeom prst="roundRect">
            <a:avLst>
              <a:gd name="adj" fmla="val 1232"/>
            </a:avLst>
          </a:prstGeom>
          <a:solidFill>
            <a:srgbClr val="182133"/>
          </a:solidFill>
          <a:ln w="19050">
            <a:solidFill>
              <a:srgbClr val="FF6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47588" y="2194560"/>
            <a:ext cx="50292" cy="33467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3856" y="2286000"/>
            <a:ext cx="1078992" cy="274320"/>
          </a:xfrm>
          <a:prstGeom prst="roundRect">
            <a:avLst>
              <a:gd name="adj" fmla="val 100000"/>
            </a:avLst>
          </a:prstGeom>
          <a:solidFill>
            <a:srgbClr val="3A1620"/>
          </a:solidFill>
          <a:ln w="12700">
            <a:solidFill>
              <a:srgbClr val="3A1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228600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he-IL" altLang="en-US" sz="10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‫חוסם התחלה‬</a:t>
            </a:r>
            <a:endParaRPr lang="he-IL" sz="1000" dirty="0"/>
          </a:p>
        </p:txBody>
      </p:sp>
      <p:sp>
        <p:nvSpPr>
          <p:cNvPr id="25" name="Text 23"/>
          <p:cNvSpPr/>
          <p:nvPr/>
        </p:nvSpPr>
        <p:spPr>
          <a:xfrm>
            <a:off x="2340864" y="2249424"/>
            <a:ext cx="3191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0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‫רגולציה · ריבונות הנתונים‬</a:t>
            </a:r>
            <a:endParaRPr lang="he-IL" sz="2000" dirty="0"/>
          </a:p>
        </p:txBody>
      </p:sp>
      <p:sp>
        <p:nvSpPr>
          <p:cNvPr id="26" name="Shape 24"/>
          <p:cNvSpPr/>
          <p:nvPr/>
        </p:nvSpPr>
        <p:spPr>
          <a:xfrm>
            <a:off x="1133856" y="2724912"/>
            <a:ext cx="4453128" cy="10973"/>
          </a:xfrm>
          <a:prstGeom prst="rect">
            <a:avLst/>
          </a:prstGeom>
          <a:solidFill>
            <a:srgbClr val="3A2430"/>
          </a:solidFill>
          <a:ln w="12700">
            <a:solidFill>
              <a:srgbClr val="3A243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33856" y="2852928"/>
            <a:ext cx="44531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he-IL" alt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‫דימות והקלטות ‪Verint‬ מכילים מידע רפואי ופיננסי מזוהה. העברתם לספק ענן מוציאה אותם משליטת הארגון ונכנסת לתחום הרגולציה על מידע רגיש.‬</a:t>
            </a:r>
            <a:endParaRPr lang="he-IL" sz="1400" dirty="0"/>
          </a:p>
        </p:txBody>
      </p:sp>
      <p:sp>
        <p:nvSpPr>
          <p:cNvPr id="28" name="Text 26"/>
          <p:cNvSpPr/>
          <p:nvPr/>
        </p:nvSpPr>
        <p:spPr>
          <a:xfrm>
            <a:off x="1133856" y="3694176"/>
            <a:ext cx="4453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11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‫מיטיגציה‬</a:t>
            </a:r>
            <a:endParaRPr lang="he-IL" sz="1050" dirty="0"/>
          </a:p>
        </p:txBody>
      </p:sp>
      <p:sp>
        <p:nvSpPr>
          <p:cNvPr id="29" name="Shape 27"/>
          <p:cNvSpPr/>
          <p:nvPr/>
        </p:nvSpPr>
        <p:spPr>
          <a:xfrm>
            <a:off x="5495544" y="4087368"/>
            <a:ext cx="91440" cy="914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33856" y="3968496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‫אחסון באזור ‪il-central-1‬ בתל אביב — הדאטה אינו יוצא מישראל‬</a:t>
            </a:r>
            <a:endParaRPr lang="he-IL" sz="1300" dirty="0"/>
          </a:p>
        </p:txBody>
      </p:sp>
      <p:sp>
        <p:nvSpPr>
          <p:cNvPr id="31" name="Shape 29"/>
          <p:cNvSpPr/>
          <p:nvPr/>
        </p:nvSpPr>
        <p:spPr>
          <a:xfrm>
            <a:off x="5495544" y="4471416"/>
            <a:ext cx="91440" cy="914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33856" y="4352544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‫הצפנה ב-‪KMS‬ עם מפתח בבעלותנו; ל-‪AWS‬ אין גישה לתוכן‬</a:t>
            </a:r>
            <a:endParaRPr lang="he-IL" sz="1300" dirty="0"/>
          </a:p>
        </p:txBody>
      </p:sp>
      <p:sp>
        <p:nvSpPr>
          <p:cNvPr id="33" name="Shape 31"/>
          <p:cNvSpPr/>
          <p:nvPr/>
        </p:nvSpPr>
        <p:spPr>
          <a:xfrm>
            <a:off x="5495544" y="4855464"/>
            <a:ext cx="91440" cy="914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33856" y="4736592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‫הרשאות מינימום ותיעוד גישה מלא ב-‪CloudTrail‬‬</a:t>
            </a:r>
            <a:endParaRPr lang="he-IL" sz="1300" dirty="0"/>
          </a:p>
        </p:txBody>
      </p:sp>
      <p:sp>
        <p:nvSpPr>
          <p:cNvPr id="35" name="Shape 33"/>
          <p:cNvSpPr/>
          <p:nvPr/>
        </p:nvSpPr>
        <p:spPr>
          <a:xfrm>
            <a:off x="1133856" y="5157216"/>
            <a:ext cx="4453128" cy="457200"/>
          </a:xfrm>
          <a:prstGeom prst="roundRect">
            <a:avLst>
              <a:gd name="adj" fmla="val 32000"/>
            </a:avLst>
          </a:prstGeom>
          <a:solidFill>
            <a:srgbClr val="3A1620"/>
          </a:solidFill>
          <a:ln w="12700">
            <a:solidFill>
              <a:srgbClr val="3A162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80160" y="515721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‪DPO‬ והרגולטור לפני ההעתקה הראשונה‬</a:t>
            </a:r>
            <a:endParaRPr lang="he-IL" sz="1300" dirty="0"/>
          </a:p>
        </p:txBody>
      </p:sp>
      <p:sp>
        <p:nvSpPr>
          <p:cNvPr id="37" name="Shape 35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אלה אינם ניתנים לעקיפה ואינם נסגרים ב-‪POC‬. יש להתניע אותם בספטמבר, במקביל לבדיקות הטכניות ולא אחריהן.‬</a:t>
            </a:r>
            <a:endParaRPr lang="he-IL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‫סיכונים · חלק ב‬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‫ארבעה סיכוני ביצוע — כולם נסגרים ב-‪POC‬ ובאפיון מול הפיתוח‬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93815" y="2011680"/>
            <a:ext cx="5074920" cy="1792224"/>
          </a:xfrm>
          <a:prstGeom prst="roundRect">
            <a:avLst>
              <a:gd name="adj" fmla="val 2551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18443" y="2157984"/>
            <a:ext cx="50292" cy="1499616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8135" y="2157984"/>
            <a:ext cx="4489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‫אפליקציה · שינוי מצביעים‬</a:t>
            </a:r>
            <a:endParaRPr lang="he-IL" sz="1500" dirty="0"/>
          </a:p>
        </p:txBody>
      </p:sp>
      <p:sp>
        <p:nvSpPr>
          <p:cNvPr id="8" name="Text 6"/>
          <p:cNvSpPr/>
          <p:nvPr/>
        </p:nvSpPr>
        <p:spPr>
          <a:xfrm>
            <a:off x="6568135" y="2523744"/>
            <a:ext cx="4489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‫האפליקציות מצביעות היום לנתיב ב-‪ECS‬. מעבר ל-‪S3‬ מחייב פיתוח בצד היישום — זו אינה העברת דאטה בלבד.‬</a:t>
            </a:r>
            <a:endParaRPr lang="he-IL" sz="1300" dirty="0"/>
          </a:p>
        </p:txBody>
      </p:sp>
      <p:sp>
        <p:nvSpPr>
          <p:cNvPr id="9" name="Shape 7"/>
          <p:cNvSpPr/>
          <p:nvPr/>
        </p:nvSpPr>
        <p:spPr>
          <a:xfrm>
            <a:off x="6568135" y="2962656"/>
            <a:ext cx="4489704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8135" y="3035808"/>
            <a:ext cx="4489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אפיון מול צוותי הדימות ו-‪Verint‬, הערכת מאמץ פיתוח, ותקופת ביניים שבה שתי הכתובות פעילות במקביל.‬</a:t>
            </a:r>
            <a:endParaRPr lang="he-IL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011680"/>
            <a:ext cx="5074920" cy="1792224"/>
          </a:xfrm>
          <a:prstGeom prst="roundRect">
            <a:avLst>
              <a:gd name="adj" fmla="val 2551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47588" y="2157984"/>
            <a:ext cx="50292" cy="1499616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157984"/>
            <a:ext cx="4489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‫מיליוני קבצים קטנים‬</a:t>
            </a:r>
            <a:endParaRPr lang="he-IL" sz="1500" dirty="0"/>
          </a:p>
        </p:txBody>
      </p:sp>
      <p:sp>
        <p:nvSpPr>
          <p:cNvPr id="14" name="Text 12"/>
          <p:cNvSpPr/>
          <p:nvPr/>
        </p:nvSpPr>
        <p:spPr>
          <a:xfrm>
            <a:off x="1097280" y="2523744"/>
            <a:ext cx="4489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‫הקורפוס הוא מיליוני קבצים קטנים. השמות ומבנה התיקיות ב-‪S3‬ שונים, ואין מיפוי אחד-לאחד מהמצב היום.‬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1097280" y="2962656"/>
            <a:ext cx="4489704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035808"/>
            <a:ext cx="4489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מיפוי שמות ומבנה מוסכם מראש, ואימות של צוותי האפליקציה שכל מסמך נגיש בשמו החדש. נדרש זמן צוות ייעודי.‬</a:t>
            </a:r>
            <a:endParaRPr lang="he-IL" sz="1200" dirty="0"/>
          </a:p>
        </p:txBody>
      </p:sp>
      <p:sp>
        <p:nvSpPr>
          <p:cNvPr id="17" name="Shape 15"/>
          <p:cNvSpPr/>
          <p:nvPr/>
        </p:nvSpPr>
        <p:spPr>
          <a:xfrm>
            <a:off x="6293815" y="4023360"/>
            <a:ext cx="5074920" cy="1792224"/>
          </a:xfrm>
          <a:prstGeom prst="roundRect">
            <a:avLst>
              <a:gd name="adj" fmla="val 2551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318443" y="4169664"/>
            <a:ext cx="50292" cy="1499616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68135" y="4169664"/>
            <a:ext cx="4489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‫ביצועים · זמני אחזור‬</a:t>
            </a:r>
            <a:endParaRPr lang="he-IL" sz="1500" dirty="0"/>
          </a:p>
        </p:txBody>
      </p:sp>
      <p:sp>
        <p:nvSpPr>
          <p:cNvPr id="20" name="Text 18"/>
          <p:cNvSpPr/>
          <p:nvPr/>
        </p:nvSpPr>
        <p:spPr>
          <a:xfrm>
            <a:off x="6568135" y="4535424"/>
            <a:ext cx="4489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‫אחזור מהענן איטי מאחזור מ-‪ECS‬ מקומי. לטנציה בשליפה עלולה לפגוע בשירות למשתמש הקצה.‬</a:t>
            </a:r>
            <a:endParaRPr lang="he-IL" sz="1300" dirty="0"/>
          </a:p>
        </p:txBody>
      </p:sp>
      <p:sp>
        <p:nvSpPr>
          <p:cNvPr id="21" name="Shape 19"/>
          <p:cNvSpPr/>
          <p:nvPr/>
        </p:nvSpPr>
        <p:spPr>
          <a:xfrm>
            <a:off x="6568135" y="4974336"/>
            <a:ext cx="4489704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68135" y="5047488"/>
            <a:ext cx="4489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מדידת זמני אחזור מול ה-‪SLA‬ הקיים לפני התחייבות, חיבור ‪Direct Connect‬ ולא אינטרנט, וקאשינג מקומי לפריטים חמים.‬</a:t>
            </a:r>
            <a:endParaRPr lang="he-IL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4023360"/>
            <a:ext cx="5074920" cy="1792224"/>
          </a:xfrm>
          <a:prstGeom prst="roundRect">
            <a:avLst>
              <a:gd name="adj" fmla="val 2551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47588" y="4169664"/>
            <a:ext cx="50292" cy="1499616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4169664"/>
            <a:ext cx="4489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‫כלי ההעברה · ‪POC‬‬</a:t>
            </a:r>
            <a:endParaRPr lang="he-IL" sz="1500" dirty="0"/>
          </a:p>
        </p:txBody>
      </p:sp>
      <p:sp>
        <p:nvSpPr>
          <p:cNvPr id="26" name="Text 24"/>
          <p:cNvSpPr/>
          <p:nvPr/>
        </p:nvSpPr>
        <p:spPr>
          <a:xfrm>
            <a:off x="1097280" y="4535424"/>
            <a:ext cx="4489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כלי העתקה מוכח בסדר גודל כזה. קבצים עלולים להיכשל בהעברה בלי שהדבר יתגלה.‬</a:t>
            </a:r>
            <a:endParaRPr lang="he-IL" sz="1300" dirty="0"/>
          </a:p>
        </p:txBody>
      </p:sp>
      <p:sp>
        <p:nvSpPr>
          <p:cNvPr id="27" name="Shape 25"/>
          <p:cNvSpPr/>
          <p:nvPr/>
        </p:nvSpPr>
        <p:spPr>
          <a:xfrm>
            <a:off x="1097280" y="4974336"/>
            <a:ext cx="4489704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5047488"/>
            <a:ext cx="4489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‪POC‬ קצר על ‪1–2 TB‬ עם ‪AWS DataSync‬: ולידציה מובנית, דוח חריגים לכל ריצה, ומחיקה מ-‪ECS‬ רק לאחר אימות מלא.‬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‫ארבעת אלה אינם חוסמים החלטה — הם מגדירים את היקף ה-‪POC‬ ואת עומס העבודה על צוותי האפליקציה. אומדן המאמץ יתקבל בסיום האפיון.‬</a:t>
            </a:r>
            <a:endParaRPr lang="he-IL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זה נותן‬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‫המנוף היחיד על השולחן שאינו תלוי בזמן אספקה של חודשיים‬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‫פינוי שטח מיידי‬</a:t>
            </a:r>
            <a:endParaRPr lang="he-IL" sz="1350" dirty="0"/>
          </a:p>
        </p:txBody>
      </p:sp>
      <p:sp>
        <p:nvSpPr>
          <p:cNvPr id="8" name="Text 6"/>
          <p:cNvSpPr/>
          <p:nvPr/>
        </p:nvSpPr>
        <p:spPr>
          <a:xfrm>
            <a:off x="8378647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קורפוס הדימות ו-‪Verint‬ מפנה שטח ב-‪ECS‬ תוך שבועות, ומאטה את ההתקרבות לסף ‪80%‬ בדצמבר — בלי להמתין לאספקה.‬</a:t>
            </a:r>
            <a:endParaRPr lang="he-IL" sz="1150" dirty="0"/>
          </a:p>
        </p:txBody>
      </p:sp>
      <p:sp>
        <p:nvSpPr>
          <p:cNvPr id="9" name="Shape 7"/>
          <p:cNvSpPr/>
          <p:nvPr/>
        </p:nvSpPr>
        <p:spPr>
          <a:xfrm>
            <a:off x="4474159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99655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0191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‫דחיית והקטנת ‪capex‬‬</a:t>
            </a:r>
            <a:endParaRPr lang="he-IL" sz="1350" dirty="0"/>
          </a:p>
        </p:txBody>
      </p:sp>
      <p:sp>
        <p:nvSpPr>
          <p:cNvPr id="12" name="Text 10"/>
          <p:cNvSpPr/>
          <p:nvPr/>
        </p:nvSpPr>
        <p:spPr>
          <a:xfrm>
            <a:off x="4730191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‪TB‬ שמפונה מקטין את היקף ההרחבה הנדרשת. הצעת ‪Dell‬ הנוכחית עומדת על ‪$695,520‬ עבור ‪600 TB‬ לוגי.‬</a:t>
            </a:r>
            <a:endParaRPr lang="he-IL" sz="1150" dirty="0"/>
          </a:p>
        </p:txBody>
      </p:sp>
      <p:sp>
        <p:nvSpPr>
          <p:cNvPr id="13" name="Shape 11"/>
          <p:cNvSpPr/>
          <p:nvPr/>
        </p:nvSpPr>
        <p:spPr>
          <a:xfrm>
            <a:off x="825703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1199" y="237744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1735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זמן אספקה‬</a:t>
            </a:r>
            <a:endParaRPr lang="he-IL" sz="1350" dirty="0"/>
          </a:p>
        </p:txBody>
      </p:sp>
      <p:sp>
        <p:nvSpPr>
          <p:cNvPr id="16" name="Text 14"/>
          <p:cNvSpPr/>
          <p:nvPr/>
        </p:nvSpPr>
        <p:spPr>
          <a:xfrm>
            <a:off x="1081735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‪PO‬, אין דיסקים, אין חלון התקנה. הקיבולת זמינה ביום הראשון, ומשלמים רק על מה שנצרך בפועל — בלי לרכוש מראש קיבולת לשלוש שנים.‬</a:t>
            </a:r>
            <a:endParaRPr lang="he-IL" sz="1150" dirty="0"/>
          </a:p>
        </p:txBody>
      </p:sp>
      <p:sp>
        <p:nvSpPr>
          <p:cNvPr id="17" name="Shape 15"/>
          <p:cNvSpPr/>
          <p:nvPr/>
        </p:nvSpPr>
        <p:spPr>
          <a:xfrm>
            <a:off x="8122615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48111" y="418795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8647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‫‪Lifecycle‬ אוטומטי‬</a:t>
            </a:r>
            <a:endParaRPr lang="he-IL" sz="1350" dirty="0"/>
          </a:p>
        </p:txBody>
      </p:sp>
      <p:sp>
        <p:nvSpPr>
          <p:cNvPr id="20" name="Text 18"/>
          <p:cNvSpPr/>
          <p:nvPr/>
        </p:nvSpPr>
        <p:spPr>
          <a:xfrm>
            <a:off x="8378647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‫מדיניות שכבות מעבירה דאטה מתקרר לשכבה זולה יותר לאורך זמן — הוזלה שנמשכת ללא התערבות תפעולית ובלי פרויקט נוסף.‬</a:t>
            </a:r>
            <a:endParaRPr lang="he-IL" sz="1150" dirty="0"/>
          </a:p>
        </p:txBody>
      </p:sp>
      <p:sp>
        <p:nvSpPr>
          <p:cNvPr id="21" name="Shape 19"/>
          <p:cNvSpPr/>
          <p:nvPr/>
        </p:nvSpPr>
        <p:spPr>
          <a:xfrm>
            <a:off x="4474159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99655" y="4187952"/>
            <a:ext cx="118872" cy="118872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0191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‫עמידות מובנית‬</a:t>
            </a:r>
            <a:endParaRPr lang="he-IL" sz="1350" dirty="0"/>
          </a:p>
        </p:txBody>
      </p:sp>
      <p:sp>
        <p:nvSpPr>
          <p:cNvPr id="24" name="Text 22"/>
          <p:cNvSpPr/>
          <p:nvPr/>
        </p:nvSpPr>
        <p:spPr>
          <a:xfrm>
            <a:off x="4730191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‫‪11‬ תשיעיות עמידות ופיזור בין אזורי זמינות, במקום שכפול משולש שאנחנו מתחזקים ומשלמים עליו פי שלושה בשלושה אתרים.‬</a:t>
            </a:r>
            <a:endParaRPr lang="he-IL" sz="1150" dirty="0"/>
          </a:p>
        </p:txBody>
      </p:sp>
      <p:sp>
        <p:nvSpPr>
          <p:cNvPr id="25" name="Shape 23"/>
          <p:cNvSpPr/>
          <p:nvPr/>
        </p:nvSpPr>
        <p:spPr>
          <a:xfrm>
            <a:off x="825703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1199" y="4187952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1735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‫בסיס לשירותי ‪AI‬‬</a:t>
            </a:r>
            <a:endParaRPr lang="he-IL" sz="1350" dirty="0"/>
          </a:p>
        </p:txBody>
      </p:sp>
      <p:sp>
        <p:nvSpPr>
          <p:cNvPr id="28" name="Text 26"/>
          <p:cNvSpPr/>
          <p:nvPr/>
        </p:nvSpPr>
        <p:spPr>
          <a:xfrm>
            <a:off x="1081735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‫תמלול שיחות וניתוח דימות כשירות מנוהל מעל אותו אחסון — יכולת שאינה קיימת על ‪ECS‬ היום ואינה דורשת פרויקט תשתית נפרד.‬</a:t>
            </a:r>
            <a:endParaRPr lang="he-IL" sz="115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‫התועלת נמדדת ב-‪TB‬ שפונו בפועל ובחודשי הדחייה שהושגו לרכש — לא באחוזי חיסכון תיאורטיים.‬</a:t>
            </a:r>
            <a:endParaRPr lang="he-IL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‫ציר זמן‬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במקביל — והרכש נעול על אוקטובר‬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999232"/>
            <a:ext cx="10545775" cy="27432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20515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‪26‬‬</a:t>
            </a:r>
            <a:endParaRPr lang="he-IL" sz="1300" dirty="0"/>
          </a:p>
        </p:txBody>
      </p:sp>
      <p:sp>
        <p:nvSpPr>
          <p:cNvPr id="7" name="Shape 5"/>
          <p:cNvSpPr/>
          <p:nvPr/>
        </p:nvSpPr>
        <p:spPr>
          <a:xfrm>
            <a:off x="11204143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0515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21683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קורפוס הדימות ו-‪Verint‬‬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‫הגדרת קריטריוני קבילות‬</a:t>
            </a:r>
            <a:endParaRPr lang="he-IL" sz="1150" dirty="0"/>
          </a:p>
        </p:txBody>
      </p:sp>
      <p:sp>
        <p:nvSpPr>
          <p:cNvPr id="10" name="Text 8"/>
          <p:cNvSpPr/>
          <p:nvPr/>
        </p:nvSpPr>
        <p:spPr>
          <a:xfrm>
            <a:off x="7271126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‫ספטמבר ‪26‬‬</a:t>
            </a:r>
            <a:endParaRPr lang="he-IL" sz="1300" dirty="0"/>
          </a:p>
        </p:txBody>
      </p:sp>
      <p:sp>
        <p:nvSpPr>
          <p:cNvPr id="11" name="Shape 9"/>
          <p:cNvSpPr/>
          <p:nvPr/>
        </p:nvSpPr>
        <p:spPr>
          <a:xfrm>
            <a:off x="9054755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1126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2294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‫‪POC‬ על ‪1–2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‪DPO‬ ורגולטור‬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‫הקמת ‪Direct Connect‬‬</a:t>
            </a:r>
            <a:endParaRPr lang="he-IL" sz="1150" dirty="0"/>
          </a:p>
        </p:txBody>
      </p:sp>
      <p:sp>
        <p:nvSpPr>
          <p:cNvPr id="14" name="Text 12"/>
          <p:cNvSpPr/>
          <p:nvPr/>
        </p:nvSpPr>
        <p:spPr>
          <a:xfrm>
            <a:off x="5121737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‪26‬‬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6905366" y="2935224"/>
            <a:ext cx="155448" cy="15544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1737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22905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— מועד אחרון‬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‫תחילת העתקה לייצור‬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‫ולידציה ראשונה ודוח חריגים‬</a:t>
            </a:r>
            <a:endParaRPr lang="he-IL" sz="1150" dirty="0"/>
          </a:p>
        </p:txBody>
      </p:sp>
      <p:sp>
        <p:nvSpPr>
          <p:cNvPr id="18" name="Text 16"/>
          <p:cNvSpPr/>
          <p:nvPr/>
        </p:nvSpPr>
        <p:spPr>
          <a:xfrm>
            <a:off x="2972349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‫נוב׳–דצמ׳ ‪26‬‬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4755977" y="2935224"/>
            <a:ext cx="155448" cy="15544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2349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3517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‫ייצור והובלה אצל ‪Dell‬‬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‫המשך העתקה ומחיקה מ-‪ECS‬‬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‫דוח שלמות מסכם‬</a:t>
            </a:r>
            <a:endParaRPr lang="he-IL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‫ינואר–מרץ ‪27‬‬</a:t>
            </a:r>
            <a:endParaRPr lang="he-IL" sz="1300" dirty="0"/>
          </a:p>
        </p:txBody>
      </p:sp>
      <p:sp>
        <p:nvSpPr>
          <p:cNvPr id="23" name="Shape 21"/>
          <p:cNvSpPr/>
          <p:nvPr/>
        </p:nvSpPr>
        <p:spPr>
          <a:xfrm>
            <a:off x="2606589" y="2935224"/>
            <a:ext cx="155448" cy="15544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‫אספקת דיסקים והתקנה‬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סף ‪80% — 733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‫הקיבולת הנוספת נכנסת בזמן‬</a:t>
            </a:r>
            <a:endParaRPr lang="he-IL" sz="1150" dirty="0"/>
          </a:p>
        </p:txBody>
      </p:sp>
      <p:sp>
        <p:nvSpPr>
          <p:cNvPr id="26" name="Shape 24"/>
          <p:cNvSpPr/>
          <p:nvPr/>
        </p:nvSpPr>
        <p:spPr>
          <a:xfrm>
            <a:off x="822960" y="4809744"/>
            <a:ext cx="10545775" cy="566928"/>
          </a:xfrm>
          <a:prstGeom prst="roundRect">
            <a:avLst>
              <a:gd name="adj" fmla="val 1290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66399" y="5029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809744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הוא נקודת האל-חזור: חודשיים אספקה פירושם שכל ‪PO‬ שיוצא אחריו מגיע אחרי חציית ‪80%‬.‬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‫המסלולים אינם תלויים זה בזה: עיכוב ב-‪POC‬ אינו מעכב את הרכש, ועיכוב ברכש אינו מעכב את ההעתקה. רק מסלול הרכש נעול על תאריך.‬</a:t>
            </a:r>
            <a:endParaRPr lang="he-IL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‫המלצה‬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‫להוציא ‪PO‬ באוקטובר, ולהתניע את ההעתקה לענן במקביל‬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82351" y="20848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83280" y="213969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עד סוף אוקטובר ‪2026‬‬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3383280" y="245059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מחייבים יציאה באוקטובר כדי שהדיסקים יהיו מותקנים בדצמבר, במועד חציית ‪80%‬. אישור התקציב נדרש בספטמבר.‬</a:t>
            </a:r>
            <a:endParaRPr lang="he-IL" sz="1150" dirty="0"/>
          </a:p>
        </p:txBody>
      </p:sp>
      <p:sp>
        <p:nvSpPr>
          <p:cNvPr id="9" name="Text 7"/>
          <p:cNvSpPr/>
          <p:nvPr/>
        </p:nvSpPr>
        <p:spPr>
          <a:xfrm>
            <a:off x="1078992" y="21762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24140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ורכש‬</a:t>
            </a:r>
            <a:endParaRPr lang="he-IL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08152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82351" y="31363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83280" y="319125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להעתקת מסמכי דימות ו-‪Verint‬ ל-‪AWS S3‬‬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350215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‫התנעה באוגוסט. תקציב ‪POC‬ על ‪1–2 TB‬, וסגירת חסמי הקבילות המשפטית והריבונות בספטמבר במקביל.‬</a:t>
            </a:r>
            <a:endParaRPr lang="he-IL" sz="1150" dirty="0"/>
          </a:p>
        </p:txBody>
      </p:sp>
      <p:sp>
        <p:nvSpPr>
          <p:cNvPr id="15" name="Text 13"/>
          <p:cNvSpPr/>
          <p:nvPr/>
        </p:nvSpPr>
        <p:spPr>
          <a:xfrm>
            <a:off x="1078992" y="32278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6" name="Text 14"/>
          <p:cNvSpPr/>
          <p:nvPr/>
        </p:nvSpPr>
        <p:spPr>
          <a:xfrm>
            <a:off x="1078992" y="34655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‪IT‬, יועץ משפטי ו-‪DPO‬‬</a:t>
            </a:r>
            <a:endParaRPr lang="he-IL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82351" y="41879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3383280" y="424281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‫תמחור מחדש של חלופת הענן לפי שכבת אחסון נכונה‬</a:t>
            </a:r>
            <a:endParaRPr lang="he-IL" sz="1450" dirty="0"/>
          </a:p>
        </p:txBody>
      </p:sp>
      <p:sp>
        <p:nvSpPr>
          <p:cNvPr id="20" name="Text 18"/>
          <p:cNvSpPr/>
          <p:nvPr/>
        </p:nvSpPr>
        <p:spPr>
          <a:xfrm>
            <a:off x="3383280" y="455371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גודל-אובייקט ותדירות אחזור של הקורפוס, ותמחור מול ‪Glacier Instant Retrieval‬ ו-‪Standard-IA‬ באזור תל אביב.‬</a:t>
            </a:r>
            <a:endParaRPr lang="he-IL" sz="1150" dirty="0"/>
          </a:p>
        </p:txBody>
      </p:sp>
      <p:sp>
        <p:nvSpPr>
          <p:cNvPr id="21" name="Text 19"/>
          <p:cNvSpPr/>
          <p:nvPr/>
        </p:nvSpPr>
        <p:spPr>
          <a:xfrm>
            <a:off x="1078992" y="4279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22" name="Text 20"/>
          <p:cNvSpPr/>
          <p:nvPr/>
        </p:nvSpPr>
        <p:spPr>
          <a:xfrm>
            <a:off x="1078992" y="45171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ו-‪FinOps‬‬</a:t>
            </a:r>
            <a:endParaRPr lang="he-IL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5175504"/>
            <a:ext cx="10545775" cy="548640"/>
          </a:xfrm>
          <a:prstGeom prst="roundRect">
            <a:avLst>
              <a:gd name="adj" fmla="val 1333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66399" y="538581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175504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 היום: אישור תקציב הרכש כדי שה-‪PO‬ יצא באוקטובר, ואישור עקרוני להעתקה.‬</a:t>
            </a:r>
            <a:endParaRPr lang="he-IL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התקציב נדרש בספטמבר כדי שתהליך הרכש יסתיים בהוצאת ‪PO‬ באוקטובר. הצעת המחיר של ‪Dell‬ תרוענן לקראת האישור.‬</a:t>
            </a:r>
            <a:endParaRPr lang="he-IL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העתקת מסמכי דימות ו-Verint לענן</dc:title>
  <dc:subject>PptxGenJS Presentation</dc:subject>
  <dc:creator>Harel IT Infrastructure</dc:creator>
  <cp:lastModifiedBy>Harel IT Infrastructure</cp:lastModifiedBy>
  <cp:revision>1</cp:revision>
  <dcterms:created xsi:type="dcterms:W3CDTF">2026-08-17T15:25:05Z</dcterms:created>
  <dcterms:modified xsi:type="dcterms:W3CDTF">2026-08-17T15:25:05Z</dcterms:modified>
</cp:coreProperties>
</file>