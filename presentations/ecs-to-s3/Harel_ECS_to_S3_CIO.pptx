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Dell ECS On-Prem</c:v>
                  </c:pt>
                  <c:pt idx="1">
                    <c:v>AWS S3 + API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115.8</c:v>
                </c:pt>
                <c:pt idx="1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-1005840"/>
            <a:ext cx="4754880" cy="4754880"/>
          </a:xfrm>
          <a:prstGeom prst="rect">
            <a:avLst/>
          </a:prstGeom>
          <a:solidFill>
            <a:srgbClr val="0C1322"/>
          </a:solidFill>
          <a:ln w="12700">
            <a:solidFill>
              <a:srgbClr val="0C13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280160" y="3017520"/>
            <a:ext cx="3108960" cy="3108960"/>
          </a:xfrm>
          <a:prstGeom prst="rect">
            <a:avLst/>
          </a:prstGeom>
          <a:solidFill>
            <a:srgbClr val="0A101C"/>
          </a:solidFill>
          <a:ln w="12700">
            <a:solidFill>
              <a:srgbClr val="0A10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8132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 · ניהול קיבולת אחסון‬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 · אוגוסט ‪2026‬‬</a:t>
            </a:r>
            <a:endParaRPr lang="he-IL" sz="1500" dirty="0"/>
          </a:p>
        </p:txBody>
      </p:sp>
      <p:sp>
        <p:nvSpPr>
          <p:cNvPr id="8" name="Shape 6"/>
          <p:cNvSpPr/>
          <p:nvPr/>
        </p:nvSpPr>
        <p:spPr>
          <a:xfrm>
            <a:off x="8109509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65541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האחסון היום‬</a:t>
            </a:r>
            <a:endParaRPr lang="he-IL" sz="1050" dirty="0"/>
          </a:p>
        </p:txBody>
      </p:sp>
      <p:sp>
        <p:nvSpPr>
          <p:cNvPr id="10" name="Text 8"/>
          <p:cNvSpPr/>
          <p:nvPr/>
        </p:nvSpPr>
        <p:spPr>
          <a:xfrm>
            <a:off x="8365541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1" name="Text 9"/>
          <p:cNvSpPr/>
          <p:nvPr/>
        </p:nvSpPr>
        <p:spPr>
          <a:xfrm>
            <a:off x="8365541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TB‬‬</a:t>
            </a:r>
            <a:endParaRPr lang="he-IL" sz="1100" dirty="0"/>
          </a:p>
        </p:txBody>
      </p:sp>
      <p:sp>
        <p:nvSpPr>
          <p:cNvPr id="12" name="Shape 10"/>
          <p:cNvSpPr/>
          <p:nvPr/>
        </p:nvSpPr>
        <p:spPr>
          <a:xfrm>
            <a:off x="4466234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2266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‪80%‬‬</a:t>
            </a:r>
            <a:endParaRPr lang="he-IL" sz="1050" dirty="0"/>
          </a:p>
        </p:txBody>
      </p:sp>
      <p:sp>
        <p:nvSpPr>
          <p:cNvPr id="14" name="Text 12"/>
          <p:cNvSpPr/>
          <p:nvPr/>
        </p:nvSpPr>
        <p:spPr>
          <a:xfrm>
            <a:off x="4722266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600" dirty="0"/>
          </a:p>
        </p:txBody>
      </p:sp>
      <p:sp>
        <p:nvSpPr>
          <p:cNvPr id="15" name="Text 13"/>
          <p:cNvSpPr/>
          <p:nvPr/>
        </p:nvSpPr>
        <p:spPr>
          <a:xfrm>
            <a:off x="4722266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 · סיכון לזמינות‬</a:t>
            </a:r>
            <a:endParaRPr lang="he-IL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8992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‫מועד אחרון להוצאת ‪PO‬‬</a:t>
            </a:r>
            <a:endParaRPr lang="he-IL" sz="1050" dirty="0"/>
          </a:p>
        </p:txBody>
      </p:sp>
      <p:sp>
        <p:nvSpPr>
          <p:cNvPr id="18" name="Text 16"/>
          <p:cNvSpPr/>
          <p:nvPr/>
        </p:nvSpPr>
        <p:spPr>
          <a:xfrm>
            <a:off x="1078992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2600" dirty="0"/>
          </a:p>
        </p:txBody>
      </p:sp>
      <p:sp>
        <p:nvSpPr>
          <p:cNvPr id="19" name="Text 17"/>
          <p:cNvSpPr/>
          <p:nvPr/>
        </p:nvSpPr>
        <p:spPr>
          <a:xfrm>
            <a:off x="1078992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אספקה מ-‪Dell‬‬</a:t>
            </a:r>
            <a:endParaRPr lang="he-IL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‫ה-‪PO‬ חייב לצאת באוקטובר ‪2026‬ — אחרת נגיע ל-‪80%‬ בדצמבר בלי דיסקים‬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68335" y="2048256"/>
            <a:ext cx="3200400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24367" y="22128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 · אוגוסט ‪2026‬‬</a:t>
            </a:r>
            <a:endParaRPr lang="he-IL" sz="1050" dirty="0"/>
          </a:p>
        </p:txBody>
      </p:sp>
      <p:sp>
        <p:nvSpPr>
          <p:cNvPr id="7" name="Text 5"/>
          <p:cNvSpPr/>
          <p:nvPr/>
        </p:nvSpPr>
        <p:spPr>
          <a:xfrm>
            <a:off x="8424367" y="24688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400" dirty="0"/>
          </a:p>
        </p:txBody>
      </p:sp>
      <p:sp>
        <p:nvSpPr>
          <p:cNvPr id="8" name="Text 6"/>
          <p:cNvSpPr/>
          <p:nvPr/>
        </p:nvSpPr>
        <p:spPr>
          <a:xfrm>
            <a:off x="8424367" y="2907792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 בשימוש‬</a:t>
            </a:r>
            <a:endParaRPr lang="he-IL" sz="1100" dirty="0"/>
          </a:p>
        </p:txBody>
      </p:sp>
      <p:sp>
        <p:nvSpPr>
          <p:cNvPr id="9" name="Text 7"/>
          <p:cNvSpPr/>
          <p:nvPr/>
        </p:nvSpPr>
        <p:spPr>
          <a:xfrm>
            <a:off x="7692847" y="245059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9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492447" y="2048256"/>
            <a:ext cx="3200400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48479" y="22128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4748479" y="24688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4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400" dirty="0"/>
          </a:p>
        </p:txBody>
      </p:sp>
      <p:sp>
        <p:nvSpPr>
          <p:cNvPr id="13" name="Text 11"/>
          <p:cNvSpPr/>
          <p:nvPr/>
        </p:nvSpPr>
        <p:spPr>
          <a:xfrm>
            <a:off x="4748479" y="2907792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מ-‪Dell‬‬</a:t>
            </a:r>
            <a:endParaRPr lang="he-IL" sz="1100" dirty="0"/>
          </a:p>
        </p:txBody>
      </p:sp>
      <p:sp>
        <p:nvSpPr>
          <p:cNvPr id="14" name="Text 12"/>
          <p:cNvSpPr/>
          <p:nvPr/>
        </p:nvSpPr>
        <p:spPr>
          <a:xfrm>
            <a:off x="4016959" y="245059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9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16559" y="2048256"/>
            <a:ext cx="3200400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2591" y="22128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050" dirty="0"/>
          </a:p>
        </p:txBody>
      </p:sp>
      <p:sp>
        <p:nvSpPr>
          <p:cNvPr id="17" name="Text 15"/>
          <p:cNvSpPr/>
          <p:nvPr/>
        </p:nvSpPr>
        <p:spPr>
          <a:xfrm>
            <a:off x="1072591" y="24688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 ואספקה‬</a:t>
            </a:r>
            <a:endParaRPr lang="he-IL" sz="2400" dirty="0"/>
          </a:p>
        </p:txBody>
      </p:sp>
      <p:sp>
        <p:nvSpPr>
          <p:cNvPr id="18" name="Text 16"/>
          <p:cNvSpPr/>
          <p:nvPr/>
        </p:nvSpPr>
        <p:spPr>
          <a:xfrm>
            <a:off x="1072591" y="2907792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‫הדיסקים מגיעים בדיוק בזמן‬</a:t>
            </a:r>
            <a:endParaRPr lang="he-IL" sz="1100" dirty="0"/>
          </a:p>
        </p:txBody>
      </p:sp>
      <p:sp>
        <p:nvSpPr>
          <p:cNvPr id="19" name="Shape 17"/>
          <p:cNvSpPr/>
          <p:nvPr/>
        </p:nvSpPr>
        <p:spPr>
          <a:xfrm>
            <a:off x="6229807" y="3529584"/>
            <a:ext cx="5138928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54335" y="37307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40703" y="3749040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 On-Prem‬‬</a:t>
            </a:r>
            <a:endParaRPr lang="he-IL" sz="1600" dirty="0"/>
          </a:p>
        </p:txBody>
      </p:sp>
      <p:sp>
        <p:nvSpPr>
          <p:cNvPr id="22" name="Text 20"/>
          <p:cNvSpPr/>
          <p:nvPr/>
        </p:nvSpPr>
        <p:spPr>
          <a:xfrm>
            <a:off x="6540703" y="41696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מסכנת את זמינות המערכת. חודשיים אספקה מ-‪Dell‬ פירושם שהחלון להוצאת ‪PO‬ נסגר באוקטובר. הצעת ‪Dell‬ עומדת על ‪$695,520‬ עבור ‪600 TB‬ לוגי.‬</a:t>
            </a:r>
            <a:endParaRPr lang="he-IL" sz="1200" dirty="0"/>
          </a:p>
        </p:txBody>
      </p:sp>
      <p:sp>
        <p:nvSpPr>
          <p:cNvPr id="23" name="Shape 21"/>
          <p:cNvSpPr/>
          <p:nvPr/>
        </p:nvSpPr>
        <p:spPr>
          <a:xfrm>
            <a:off x="6540703" y="4773168"/>
            <a:ext cx="4517136" cy="329184"/>
          </a:xfrm>
          <a:prstGeom prst="roundRect">
            <a:avLst>
              <a:gd name="adj" fmla="val 44444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7007" y="4773168"/>
            <a:ext cx="4224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200" dirty="0"/>
          </a:p>
        </p:txBody>
      </p:sp>
      <p:sp>
        <p:nvSpPr>
          <p:cNvPr id="25" name="Shape 23"/>
          <p:cNvSpPr/>
          <p:nvPr/>
        </p:nvSpPr>
        <p:spPr>
          <a:xfrm>
            <a:off x="822960" y="3529584"/>
            <a:ext cx="5138928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7307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133856" y="3749040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ל-‪AWS S3‬‬</a:t>
            </a:r>
            <a:endParaRPr lang="he-IL" sz="1600" dirty="0"/>
          </a:p>
        </p:txBody>
      </p:sp>
      <p:sp>
        <p:nvSpPr>
          <p:cNvPr id="28" name="Text 26"/>
          <p:cNvSpPr/>
          <p:nvPr/>
        </p:nvSpPr>
        <p:spPr>
          <a:xfrm>
            <a:off x="1133856" y="41696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ב-‪ECS‬ תוך שבועות, ללא ‪PO‬ וללא זמן אספקה. רץ במקביל לרכש ומקטין את הלחץ על הסף — אך אינו מחליף את הדיסקים ואינו עוצר את השעון.‬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1133856" y="4773168"/>
            <a:ext cx="4517136" cy="329184"/>
          </a:xfrm>
          <a:prstGeom prst="roundRect">
            <a:avLst>
              <a:gd name="adj" fmla="val 44444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773168"/>
            <a:ext cx="4224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חודש עיכוב בהוצאת ה-‪PO‬ דוחה את האספקה בחודש — אך אינו דוחה את חציית ‪80%‬. עיכוב לנובמבר פירושו הגעה ל-‪80%‬ לפני שהדיסקים בבית.‬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‪$145K–165K‬ ב-‪AWS S3 + API‬‬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+ API‬‬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ופעילות שוטפת,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‫בשכבה החמה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‪(3,024 TB‬ ברוטו‪), 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‫תמחרנו לפי שכבה חמה — אבל דימות ו-‪Verint‬ הם דאטה ארכיוני‬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24942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487168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‫‪$0.023 / GB‬‬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24912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2257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299923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236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445398" y="3474720"/>
            <a:ext cx="277429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07238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374904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3986784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9392717" y="4224528"/>
            <a:ext cx="1826971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8221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36408" y="449884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9" name="Text 17"/>
          <p:cNvSpPr/>
          <p:nvPr/>
        </p:nvSpPr>
        <p:spPr>
          <a:xfrm>
            <a:off x="7836408" y="473659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20" name="Shape 18"/>
          <p:cNvSpPr/>
          <p:nvPr/>
        </p:nvSpPr>
        <p:spPr>
          <a:xfrm>
            <a:off x="10644530" y="4974336"/>
            <a:ext cx="575158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572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9" name="Text 27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 (‬כ-‪$9K‬ להוצאת ‪100 TB‬ חזרה),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30" name="Shape 28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קבילות‬</a:t>
            </a:r>
            <a:endParaRPr lang="he-IL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‫תאריך היצירה של המסמך משתנה בהעתקה; בית משפט עשוי לדרוש אסמכתא שהמסמך לא שונה.‬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‪S3 Object Lock‬ במצב ‪Compliance, manifest‬ חתום ‪SHA-256‬ לכל אובייקט, ושימור ה-‪metadata‬ המקורי כ-‪object metadata‬.‬</a:t>
            </a:r>
            <a:endParaRPr lang="he-IL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 (‬תל אביב), הצפנה ב-‪KMS‬ עם מפתח בבעלותנו, ואישור ‪DPO‬ ורגולטור לפני ההעתקה הראשונה.‬</a:t>
            </a:r>
            <a:endParaRPr lang="he-IL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860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‫טכני · שלמות‬</a:t>
            </a:r>
            <a:endParaRPr lang="he-IL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ייעודי; חלק מהקבצים עלולים להיכשל בהעברה.‬</a:t>
            </a:r>
            <a:endParaRPr lang="he-IL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‪AWS DataSync‬ עם ולידציה מובנית, דוח חריגים לכל ריצה, ומחיקה מ-‪ECS‬ רק לאחר ולידציה מלאה.‬</a:t>
            </a:r>
            <a:endParaRPr lang="he-IL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79392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‫זמני אחזור בענן נמוכים יותר; למערכת הדימות אין ניסיון מול ענן.‬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על ‪1–2 TB‬ לפני התחייבות, חיבור ‪Direct Connect‬ ולא אינטרנט, ומדידת זמני אחזור מול ה-‪SLA‬ הקיים.‬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79392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‫לוחות זמנים‬</a:t>
            </a:r>
            <a:endParaRPr lang="he-IL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 אספקה של חודשיים מ-‪Dell; PO‬ שיוצא אחרי אוקטובר מגיע אחרי חציית ‪80%‬.‬</a:t>
            </a:r>
            <a:endParaRPr lang="he-IL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אישור תקציב בספטמבר, ‪PO‬ באוקטובר. ההעתקה לענן רצה במקביל ומקטינה את הלחץ אם האספקה תתעכב.‬</a:t>
            </a:r>
            <a:endParaRPr lang="he-IL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‫כלכלי · ‪Lock-in‬‬</a:t>
            </a:r>
            <a:endParaRPr lang="he-IL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‫יציאה מהענן עולה ‪$0.09‬ ל-‪GB‬; מעבר ממודל ‪capex‬ למודל ‪opex‬.‬</a:t>
            </a:r>
            <a:endParaRPr lang="he-IL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תמחור תרחיש יציאה מראש, התחלה בקורפוס אחד בלבד, ואישור תקציב ‪opex‬ רב-שנתי.‬</a:t>
            </a:r>
            <a:endParaRPr lang="he-IL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המסומנים באדום — קבילות משפטית וריבונות נתונים — חוסמים התחלה. יש לסגור אותם בספטמבר, במקביל ל-‪POC‬ ולא אחריו.‬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באזור תל אביב — לא מול ‪S3 Standard‬.‬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2026-08-17T13:35:19Z</dcterms:created>
  <dcterms:modified xsi:type="dcterms:W3CDTF">2026-08-17T13:35:19Z</dcterms:modified>
</cp:coreProperties>
</file>