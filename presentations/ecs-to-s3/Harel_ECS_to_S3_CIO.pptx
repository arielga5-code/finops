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קיבולת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  <c:pt idx="23">
                    <c:v>Mar-27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916</c:v>
                </c:pt>
                <c:pt idx="1">
                  <c:v>916</c:v>
                </c:pt>
                <c:pt idx="2">
                  <c:v>916</c:v>
                </c:pt>
                <c:pt idx="3">
                  <c:v>916</c:v>
                </c:pt>
                <c:pt idx="4">
                  <c:v>916</c:v>
                </c:pt>
                <c:pt idx="5">
                  <c:v>916</c:v>
                </c:pt>
                <c:pt idx="6">
                  <c:v>916</c:v>
                </c:pt>
                <c:pt idx="7">
                  <c:v>916</c:v>
                </c:pt>
                <c:pt idx="8">
                  <c:v>916</c:v>
                </c:pt>
                <c:pt idx="9">
                  <c:v>916</c:v>
                </c:pt>
                <c:pt idx="10">
                  <c:v>916</c:v>
                </c:pt>
                <c:pt idx="11">
                  <c:v>916</c:v>
                </c:pt>
                <c:pt idx="12">
                  <c:v>916</c:v>
                </c:pt>
                <c:pt idx="13">
                  <c:v>916</c:v>
                </c:pt>
                <c:pt idx="14">
                  <c:v>916</c:v>
                </c:pt>
                <c:pt idx="15">
                  <c:v>916</c:v>
                </c:pt>
                <c:pt idx="16">
                  <c:v>916</c:v>
                </c:pt>
                <c:pt idx="17">
                  <c:v>916</c:v>
                </c:pt>
                <c:pt idx="18">
                  <c:v>916</c:v>
                </c:pt>
                <c:pt idx="19">
                  <c:v>916</c:v>
                </c:pt>
                <c:pt idx="20">
                  <c:v>916</c:v>
                </c:pt>
                <c:pt idx="21">
                  <c:v>916</c:v>
                </c:pt>
                <c:pt idx="22">
                  <c:v>916</c:v>
                </c:pt>
                <c:pt idx="23">
                  <c:v>916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סף 80%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  <c:pt idx="23">
                    <c:v>Mar-27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733</c:v>
                </c:pt>
                <c:pt idx="1">
                  <c:v>733</c:v>
                </c:pt>
                <c:pt idx="2">
                  <c:v>733</c:v>
                </c:pt>
                <c:pt idx="3">
                  <c:v>733</c:v>
                </c:pt>
                <c:pt idx="4">
                  <c:v>733</c:v>
                </c:pt>
                <c:pt idx="5">
                  <c:v>733</c:v>
                </c:pt>
                <c:pt idx="6">
                  <c:v>733</c:v>
                </c:pt>
                <c:pt idx="7">
                  <c:v>733</c:v>
                </c:pt>
                <c:pt idx="8">
                  <c:v>733</c:v>
                </c:pt>
                <c:pt idx="9">
                  <c:v>733</c:v>
                </c:pt>
                <c:pt idx="10">
                  <c:v>733</c:v>
                </c:pt>
                <c:pt idx="11">
                  <c:v>733</c:v>
                </c:pt>
                <c:pt idx="12">
                  <c:v>733</c:v>
                </c:pt>
                <c:pt idx="13">
                  <c:v>733</c:v>
                </c:pt>
                <c:pt idx="14">
                  <c:v>733</c:v>
                </c:pt>
                <c:pt idx="15">
                  <c:v>733</c:v>
                </c:pt>
                <c:pt idx="16">
                  <c:v>733</c:v>
                </c:pt>
                <c:pt idx="17">
                  <c:v>733</c:v>
                </c:pt>
                <c:pt idx="18">
                  <c:v>733</c:v>
                </c:pt>
                <c:pt idx="19">
                  <c:v>733</c:v>
                </c:pt>
                <c:pt idx="20">
                  <c:v>733</c:v>
                </c:pt>
                <c:pt idx="21">
                  <c:v>733</c:v>
                </c:pt>
                <c:pt idx="22">
                  <c:v>733</c:v>
                </c:pt>
                <c:pt idx="23">
                  <c:v>733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תרחיש מואץ</c:v>
                </c:pt>
              </c:strCache>
            </c:strRef>
          </c:tx>
          <c:spPr>
            <a:solidFill>
              <a:srgbClr val="B07CFF"/>
            </a:solidFill>
            <a:ln w="31750" cap="flat">
              <a:solidFill>
                <a:srgbClr val="B07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07CFF"/>
              </a:solidFill>
              <a:ln w="9525" cap="flat">
                <a:solidFill>
                  <a:srgbClr val="B07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  <c:pt idx="23">
                    <c:v>Mar-27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668</c:v>
                </c:pt>
                <c:pt idx="17">
                  <c:v>691</c:v>
                </c:pt>
                <c:pt idx="18">
                  <c:v>714</c:v>
                </c:pt>
                <c:pt idx="19">
                  <c:v>737</c:v>
                </c:pt>
                <c:pt idx="20">
                  <c:v>760</c:v>
                </c:pt>
                <c:pt idx="21">
                  <c:v>783</c:v>
                </c:pt>
                <c:pt idx="22">
                  <c:v>806</c:v>
                </c:pt>
                <c:pt idx="23">
                  <c:v>829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תחזית מגמה</c:v>
                </c:pt>
              </c:strCache>
            </c:strRef>
          </c:tx>
          <c:spPr>
            <a:solidFill>
              <a:srgbClr val="3DD9EB"/>
            </a:solidFill>
            <a:ln w="31750" cap="flat">
              <a:solidFill>
                <a:srgbClr val="3DD9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DD9EB"/>
              </a:solidFill>
              <a:ln w="9525" cap="flat">
                <a:solidFill>
                  <a:srgbClr val="3DD9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  <c:pt idx="23">
                    <c:v>Mar-27</c:v>
                  </c:pt>
                </c:lvl>
              </c:multiLvlStrCache>
            </c:multiLvl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668</c:v>
                </c:pt>
                <c:pt idx="17">
                  <c:v>678</c:v>
                </c:pt>
                <c:pt idx="18">
                  <c:v>688</c:v>
                </c:pt>
                <c:pt idx="19">
                  <c:v>698</c:v>
                </c:pt>
                <c:pt idx="20">
                  <c:v>708</c:v>
                </c:pt>
                <c:pt idx="21">
                  <c:v>718</c:v>
                </c:pt>
                <c:pt idx="22">
                  <c:v>727</c:v>
                </c:pt>
                <c:pt idx="23">
                  <c:v>737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בשימוש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  <c:pt idx="23">
                    <c:v>Mar-27</c:v>
                  </c:pt>
                </c:lvl>
              </c:multiLvlStrCache>
            </c:multiLvlStrRef>
          </c:cat>
          <c:val>
            <c:numRef>
              <c:f>Sheet1!$F$2:$F$25</c:f>
              <c:numCache>
                <c:formatCode>General</c:formatCode>
                <c:ptCount val="24"/>
                <c:pt idx="0">
                  <c:v>516</c:v>
                </c:pt>
                <c:pt idx="1">
                  <c:v>520</c:v>
                </c:pt>
                <c:pt idx="2">
                  <c:v>526</c:v>
                </c:pt>
                <c:pt idx="3">
                  <c:v>530</c:v>
                </c:pt>
                <c:pt idx="4">
                  <c:v>549</c:v>
                </c:pt>
                <c:pt idx="5">
                  <c:v>560</c:v>
                </c:pt>
                <c:pt idx="6">
                  <c:v>569</c:v>
                </c:pt>
                <c:pt idx="7">
                  <c:v>577</c:v>
                </c:pt>
                <c:pt idx="8">
                  <c:v>605</c:v>
                </c:pt>
                <c:pt idx="9">
                  <c:v>628</c:v>
                </c:pt>
                <c:pt idx="10">
                  <c:v>642</c:v>
                </c:pt>
                <c:pt idx="11">
                  <c:v>650</c:v>
                </c:pt>
                <c:pt idx="12">
                  <c:v>660</c:v>
                </c:pt>
                <c:pt idx="13">
                  <c:v>668</c:v>
                </c:pt>
                <c:pt idx="14">
                  <c:v>680</c:v>
                </c:pt>
                <c:pt idx="15">
                  <c:v>679</c:v>
                </c:pt>
                <c:pt idx="16">
                  <c:v>668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 rot="18000000"/>
          <a:lstStyle/>
          <a:p>
            <a:pPr>
              <a:defRPr sz="85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"/>
          <c:min val="45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gap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עלות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&quot;$&quot;0.0&quot;K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Dell ECS On-Prem</c:v>
                  </c:pt>
                  <c:pt idx="1">
                    <c:v>AWS S3 Standard</c:v>
                  </c:pt>
                  <c:pt idx="2">
                    <c:v>AWS S3 + API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115.8</c:v>
                </c:pt>
                <c:pt idx="1">
                  <c:v>146.5</c:v>
                </c:pt>
                <c:pt idx="2">
                  <c:v>155</c:v>
                </c:pt>
              </c:numCache>
            </c:numRef>
          </c:val>
        </c:ser>
        <c:dLbls>
          <c:numFmt formatCode="&quot;$&quot;0.0&quot;K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6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span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-1005840"/>
            <a:ext cx="4754880" cy="4754880"/>
          </a:xfrm>
          <a:prstGeom prst="rect">
            <a:avLst/>
          </a:prstGeom>
          <a:solidFill>
            <a:srgbClr val="0C1322"/>
          </a:solidFill>
          <a:ln w="12700">
            <a:solidFill>
              <a:srgbClr val="0C13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280160" y="3017520"/>
            <a:ext cx="3108960" cy="3108960"/>
          </a:xfrm>
          <a:prstGeom prst="rect">
            <a:avLst/>
          </a:prstGeom>
          <a:solidFill>
            <a:srgbClr val="0A101C"/>
          </a:solidFill>
          <a:ln w="12700">
            <a:solidFill>
              <a:srgbClr val="0A10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8132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spc="12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‫הראל · תשתיות ‪IT‬ · ניהול קיבולת אחסון‬</a:t>
            </a:r>
            <a:endParaRPr lang="he-IL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מסמכי דימות ו-‪Verint‬ לענן‬</a:t>
            </a:r>
            <a:endParaRPr lang="he-IL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‫מ-‪ECS On-Prem‬ ל-‪AWS S3‬ · מצגת לקבלת החלטה · אוגוסט ‪2026‬‬</a:t>
            </a:r>
            <a:endParaRPr lang="he-IL" sz="1500" dirty="0"/>
          </a:p>
        </p:txBody>
      </p:sp>
      <p:sp>
        <p:nvSpPr>
          <p:cNvPr id="8" name="Shape 6"/>
          <p:cNvSpPr/>
          <p:nvPr/>
        </p:nvSpPr>
        <p:spPr>
          <a:xfrm>
            <a:off x="8109509" y="3950208"/>
            <a:ext cx="3259226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65541" y="4078224"/>
            <a:ext cx="27471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האחסון היום‬</a:t>
            </a:r>
            <a:endParaRPr lang="he-IL" sz="1050" dirty="0"/>
          </a:p>
        </p:txBody>
      </p:sp>
      <p:sp>
        <p:nvSpPr>
          <p:cNvPr id="10" name="Text 8"/>
          <p:cNvSpPr/>
          <p:nvPr/>
        </p:nvSpPr>
        <p:spPr>
          <a:xfrm>
            <a:off x="8365541" y="4315968"/>
            <a:ext cx="27471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72.9%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8365541" y="4745736"/>
            <a:ext cx="27471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‫‪668 TB‬ מתוך ‪916 TB‬‬</a:t>
            </a:r>
            <a:endParaRPr lang="he-IL" sz="1100" dirty="0"/>
          </a:p>
        </p:txBody>
      </p:sp>
      <p:sp>
        <p:nvSpPr>
          <p:cNvPr id="12" name="Shape 10"/>
          <p:cNvSpPr/>
          <p:nvPr/>
        </p:nvSpPr>
        <p:spPr>
          <a:xfrm>
            <a:off x="4466234" y="3950208"/>
            <a:ext cx="3259226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2266" y="4078224"/>
            <a:ext cx="27471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‫המרווח עד סף ‪80%‬‬</a:t>
            </a:r>
            <a:endParaRPr lang="he-IL" sz="1050" dirty="0"/>
          </a:p>
        </p:txBody>
      </p:sp>
      <p:sp>
        <p:nvSpPr>
          <p:cNvPr id="14" name="Text 12"/>
          <p:cNvSpPr/>
          <p:nvPr/>
        </p:nvSpPr>
        <p:spPr>
          <a:xfrm>
            <a:off x="4722266" y="4315968"/>
            <a:ext cx="27471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TB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722266" y="4745736"/>
            <a:ext cx="27471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‫כ-‪6‬ חודשים בקצב המגמה‬</a:t>
            </a:r>
            <a:endParaRPr lang="he-IL" sz="1100" dirty="0"/>
          </a:p>
        </p:txBody>
      </p:sp>
      <p:sp>
        <p:nvSpPr>
          <p:cNvPr id="16" name="Shape 14"/>
          <p:cNvSpPr/>
          <p:nvPr/>
        </p:nvSpPr>
        <p:spPr>
          <a:xfrm>
            <a:off x="822960" y="3950208"/>
            <a:ext cx="3259226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78992" y="4078224"/>
            <a:ext cx="27471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ל-‪5‬ שנים‬</a:t>
            </a:r>
            <a:endParaRPr lang="he-IL" sz="1050" dirty="0"/>
          </a:p>
        </p:txBody>
      </p:sp>
      <p:sp>
        <p:nvSpPr>
          <p:cNvPr id="18" name="Text 16"/>
          <p:cNvSpPr/>
          <p:nvPr/>
        </p:nvSpPr>
        <p:spPr>
          <a:xfrm>
            <a:off x="1078992" y="4315968"/>
            <a:ext cx="27471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$116K–141K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078992" y="4745736"/>
            <a:ext cx="27471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‫‪On-Prem‬ מול ‪AWS S3 Standard‬‬</a:t>
            </a:r>
            <a:endParaRPr lang="he-IL" sz="1100" dirty="0"/>
          </a:p>
        </p:txBody>
      </p:sp>
      <p:sp>
        <p:nvSpPr>
          <p:cNvPr id="20" name="Shape 18"/>
          <p:cNvSpPr/>
          <p:nvPr/>
        </p:nvSpPr>
        <p:spPr>
          <a:xfrm>
            <a:off x="822960" y="5870448"/>
            <a:ext cx="10543032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‫‪Harel IT Infrastructure‬ · חסוי · הנתונים נכונים לאוגוסט ‪2026‬‬</a:t>
            </a:r>
            <a:endParaRPr lang="he-IL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‫ההחלטה הנדרשת‬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‫שתי החלטות נפרדות — ורק אחת מהן דחופה היום‬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29807" y="2103120"/>
            <a:ext cx="5138928" cy="2267712"/>
          </a:xfrm>
          <a:prstGeom prst="roundRect">
            <a:avLst>
              <a:gd name="adj" fmla="val 2016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54335" y="234086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40703" y="235915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מסמכי דימות ו-‪Verint‬ ל-‪AWS S3‬‬</a:t>
            </a:r>
            <a:endParaRPr lang="he-IL" sz="1650" dirty="0"/>
          </a:p>
        </p:txBody>
      </p:sp>
      <p:sp>
        <p:nvSpPr>
          <p:cNvPr id="8" name="Text 6"/>
          <p:cNvSpPr/>
          <p:nvPr/>
        </p:nvSpPr>
        <p:spPr>
          <a:xfrm>
            <a:off x="6540703" y="2852928"/>
            <a:ext cx="45171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4000"/>
              </a:lnSpc>
              <a:buNone/>
            </a:pPr>
            <a:r>
              <a:rPr lang="he-IL" altLang="en-US" sz="12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‫מפנה שטח ב-‪ECS‬ תוך שבועות, ללא ‪PO‬ וללא זמן אספקה. זה המנוף היחיד שזמין לפני דצמבר ‪2026‬, והוא אינו תלוי בשרשרת האספקה של ‪Dell‬. החשיפה התקציבית המיידית מוגבלת ל-‪POC‬ בהיקף ‪1–2 TB‬ בלבד.‬</a:t>
            </a:r>
            <a:endParaRPr lang="he-IL" sz="1250" dirty="0"/>
          </a:p>
        </p:txBody>
      </p:sp>
      <p:sp>
        <p:nvSpPr>
          <p:cNvPr id="9" name="Shape 7"/>
          <p:cNvSpPr/>
          <p:nvPr/>
        </p:nvSpPr>
        <p:spPr>
          <a:xfrm>
            <a:off x="6540703" y="3767328"/>
            <a:ext cx="4517136" cy="457200"/>
          </a:xfrm>
          <a:prstGeom prst="roundRect">
            <a:avLst>
              <a:gd name="adj" fmla="val 24000"/>
            </a:avLst>
          </a:prstGeom>
          <a:solidFill>
            <a:srgbClr val="13303A"/>
          </a:solidFill>
          <a:ln w="12700">
            <a:solidFill>
              <a:srgbClr val="133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87007" y="3767328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 היום: אישור עקרוני + תקציב ‪POC‬‬</a:t>
            </a:r>
            <a:endParaRPr lang="he-IL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2103120"/>
            <a:ext cx="5138928" cy="2267712"/>
          </a:xfrm>
          <a:prstGeom prst="roundRect">
            <a:avLst>
              <a:gd name="adj" fmla="val 2016"/>
            </a:avLst>
          </a:prstGeom>
          <a:solidFill>
            <a:srgbClr val="182133"/>
          </a:solidFill>
          <a:ln w="12700">
            <a:solidFill>
              <a:srgbClr val="5A42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47488" y="234086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133856" y="235915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‫הרחבת דיסקים ב-‪Dell ECS On-Prem‬‬</a:t>
            </a:r>
            <a:endParaRPr lang="he-IL" sz="1650" dirty="0"/>
          </a:p>
        </p:txBody>
      </p:sp>
      <p:sp>
        <p:nvSpPr>
          <p:cNvPr id="14" name="Text 12"/>
          <p:cNvSpPr/>
          <p:nvPr/>
        </p:nvSpPr>
        <p:spPr>
          <a:xfrm>
            <a:off x="1133856" y="2852928"/>
            <a:ext cx="45171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4000"/>
              </a:lnSpc>
              <a:buNone/>
            </a:pPr>
            <a:r>
              <a:rPr lang="he-IL" altLang="en-US" sz="12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‫זמן אספקה כחודשיים. אינה דחופה השבוע — אך אסור שתיקבע לפי תאריך בלוח השנה, אלא לפי טריגר ניצולת שמבטיח חודשיים אספקה בכל תרחיש. הצעת ‪Dell‬ הנוכחית עומדת על ‪$695,520‬ עבור ‪600 TB‬ לוגי.‬</a:t>
            </a:r>
            <a:endParaRPr lang="he-IL" sz="1250" dirty="0"/>
          </a:p>
        </p:txBody>
      </p:sp>
      <p:sp>
        <p:nvSpPr>
          <p:cNvPr id="15" name="Shape 13"/>
          <p:cNvSpPr/>
          <p:nvPr/>
        </p:nvSpPr>
        <p:spPr>
          <a:xfrm>
            <a:off x="1133856" y="3767328"/>
            <a:ext cx="4517136" cy="457200"/>
          </a:xfrm>
          <a:prstGeom prst="roundRect">
            <a:avLst>
              <a:gd name="adj" fmla="val 24000"/>
            </a:avLst>
          </a:prstGeom>
          <a:solidFill>
            <a:srgbClr val="3A2A12"/>
          </a:solidFill>
          <a:ln w="12700">
            <a:solidFill>
              <a:srgbClr val="3A2A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80160" y="3767328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 היום: אישור טריגר רכש בניצולת ‪75%‬‬</a:t>
            </a:r>
            <a:endParaRPr lang="he-IL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47091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‫שתי ההחלטות אינן חלופיות. ההעתקה לענן דוחה ומקטינה את הרכש — היא אינה מבטלת אותו.‬</a:t>
            </a:r>
            <a:endParaRPr lang="he-IL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צורך באישור תקציב סופי לרכש בישיבה זו. הנתון החסר להחלטה מלאה הוא גודל קורפוס הדימות ו-‪Verint‬ — כמה ‪TB‬ באמת יפונו.‬</a:t>
            </a:r>
            <a:endParaRPr lang="he-IL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‫המצב היום‬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‫‪668 TB‬ מתוך ‪916 TB‬ — והגידול נעצר בשלושת החודשים האחרונים‬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72.9%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נוכחית‬</a:t>
            </a:r>
            <a:endParaRPr lang="he-IL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79776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 · 668 TB‬ מתוך ‪916 TB‬‬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TB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‫מרווח עד סף ‪80%‬‬</a:t>
            </a:r>
            <a:endParaRPr lang="he-IL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 עומד על ‪733 TB‬‬</a:t>
            </a:r>
            <a:endParaRPr lang="he-IL" sz="1100" dirty="0"/>
          </a:p>
        </p:txBody>
      </p:sp>
      <p:sp>
        <p:nvSpPr>
          <p:cNvPr id="13" name="Shape 11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9.9 TB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‫גידול חודשי · ‪12‬ חודשים‬</a:t>
            </a:r>
            <a:endParaRPr lang="he-IL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54498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‫אך מאי–אוגוסט ‪2026‬: ללא גידול נטו‬</a:t>
            </a:r>
            <a:endParaRPr lang="he-IL" sz="1100" dirty="0"/>
          </a:p>
        </p:txBody>
      </p:sp>
      <p:sp>
        <p:nvSpPr>
          <p:cNvPr id="17" name="Text 15"/>
          <p:cNvSpPr/>
          <p:nvPr/>
        </p:nvSpPr>
        <p:spPr>
          <a:xfrm>
            <a:off x="3913632" y="1828800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אחסון ותחזית · ‪TB‬‬</a:t>
            </a:r>
            <a:endParaRPr lang="he-IL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3913632" y="2103120"/>
          <a:ext cx="74523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11222431" y="5481828"/>
            <a:ext cx="146304" cy="10058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05111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‫בשימוש בפועל‬</a:t>
            </a:r>
            <a:endParaRPr lang="he-IL" sz="1050" dirty="0"/>
          </a:p>
        </p:txBody>
      </p:sp>
      <p:sp>
        <p:nvSpPr>
          <p:cNvPr id="21" name="Shape 18"/>
          <p:cNvSpPr/>
          <p:nvPr/>
        </p:nvSpPr>
        <p:spPr>
          <a:xfrm>
            <a:off x="9741103" y="5481828"/>
            <a:ext cx="146304" cy="10058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23783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‫תחזית מגמה‬</a:t>
            </a:r>
            <a:endParaRPr lang="he-IL" sz="1050" dirty="0"/>
          </a:p>
        </p:txBody>
      </p:sp>
      <p:sp>
        <p:nvSpPr>
          <p:cNvPr id="23" name="Shape 20"/>
          <p:cNvSpPr/>
          <p:nvPr/>
        </p:nvSpPr>
        <p:spPr>
          <a:xfrm>
            <a:off x="8259775" y="5481828"/>
            <a:ext cx="146304" cy="100584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42455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‫תרחיש מואץ‬</a:t>
            </a:r>
            <a:endParaRPr lang="he-IL" sz="1050" dirty="0"/>
          </a:p>
        </p:txBody>
      </p:sp>
      <p:sp>
        <p:nvSpPr>
          <p:cNvPr id="25" name="Shape 22"/>
          <p:cNvSpPr/>
          <p:nvPr/>
        </p:nvSpPr>
        <p:spPr>
          <a:xfrm>
            <a:off x="6778447" y="5481828"/>
            <a:ext cx="146304" cy="10058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361127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‫סף ‪80%‬‬</a:t>
            </a:r>
            <a:endParaRPr lang="he-IL" sz="1050" dirty="0"/>
          </a:p>
        </p:txBody>
      </p:sp>
      <p:sp>
        <p:nvSpPr>
          <p:cNvPr id="27" name="Shape 24"/>
          <p:cNvSpPr/>
          <p:nvPr/>
        </p:nvSpPr>
        <p:spPr>
          <a:xfrm>
            <a:off x="5297119" y="5481828"/>
            <a:ext cx="146304" cy="100584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879799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‫קיבולת‬</a:t>
            </a:r>
            <a:endParaRPr lang="he-IL" sz="1050" dirty="0"/>
          </a:p>
        </p:txBody>
      </p:sp>
      <p:sp>
        <p:nvSpPr>
          <p:cNvPr id="29" name="Shape 26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‫ההרחבה הקודמת העלתה את הקיבולת מ-‪696 TB‬ ל-‪916 TB‬ באפריל ‪2025 — 220 TB‬, כלומר כ-‪22‬ חודשי מרווח בקצב המגמה הנוכחי.‬</a:t>
            </a:r>
            <a:endParaRPr lang="he-IL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‫תיקון לתחזית‬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‫סף ‪80%‬ לא ייחצה באוקטובר ‪2026‬ — אלא בין נובמבר ‪2026‬ למרץ ‪2027‬‬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66544"/>
            <a:ext cx="3246120" cy="1938528"/>
          </a:xfrm>
          <a:prstGeom prst="roundRect">
            <a:avLst>
              <a:gd name="adj" fmla="val 235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11535" y="2340864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96935" y="22677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‫תרחיש מואץ‬</a:t>
            </a:r>
            <a:endParaRPr lang="he-IL" sz="1300" dirty="0"/>
          </a:p>
        </p:txBody>
      </p:sp>
      <p:sp>
        <p:nvSpPr>
          <p:cNvPr id="8" name="Text 6"/>
          <p:cNvSpPr/>
          <p:nvPr/>
        </p:nvSpPr>
        <p:spPr>
          <a:xfrm>
            <a:off x="8396935" y="2560320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‫כ-‪23 TB‬ לחודש‬</a:t>
            </a:r>
            <a:endParaRPr lang="he-IL" sz="1150" dirty="0"/>
          </a:p>
        </p:txBody>
      </p:sp>
      <p:sp>
        <p:nvSpPr>
          <p:cNvPr id="9" name="Text 7"/>
          <p:cNvSpPr/>
          <p:nvPr/>
        </p:nvSpPr>
        <p:spPr>
          <a:xfrm>
            <a:off x="8396935" y="288950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7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‫נובמבר ‪2026‬‬</a:t>
            </a:r>
            <a:endParaRPr lang="he-IL" sz="2700" dirty="0"/>
          </a:p>
        </p:txBody>
      </p:sp>
      <p:sp>
        <p:nvSpPr>
          <p:cNvPr id="10" name="Text 8"/>
          <p:cNvSpPr/>
          <p:nvPr/>
        </p:nvSpPr>
        <p:spPr>
          <a:xfrm>
            <a:off x="8396935" y="343814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‫גבול אי-הוודאות העליון של הדשבורד‬</a:t>
            </a:r>
            <a:endParaRPr lang="he-IL" sz="1100" dirty="0"/>
          </a:p>
        </p:txBody>
      </p:sp>
      <p:sp>
        <p:nvSpPr>
          <p:cNvPr id="11" name="Shape 9"/>
          <p:cNvSpPr/>
          <p:nvPr/>
        </p:nvSpPr>
        <p:spPr>
          <a:xfrm>
            <a:off x="4474159" y="2066544"/>
            <a:ext cx="3246120" cy="1938528"/>
          </a:xfrm>
          <a:prstGeom prst="roundRect">
            <a:avLst>
              <a:gd name="adj" fmla="val 235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63079" y="2340864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8479" y="22677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‫תחזית הדשבורד‬</a:t>
            </a:r>
            <a:endParaRPr lang="he-IL" sz="1300" dirty="0"/>
          </a:p>
        </p:txBody>
      </p:sp>
      <p:sp>
        <p:nvSpPr>
          <p:cNvPr id="14" name="Text 12"/>
          <p:cNvSpPr/>
          <p:nvPr/>
        </p:nvSpPr>
        <p:spPr>
          <a:xfrm>
            <a:off x="4748479" y="2560320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‫כ-‪14 TB‬ לחודש‬</a:t>
            </a:r>
            <a:endParaRPr lang="he-IL" sz="1150" dirty="0"/>
          </a:p>
        </p:txBody>
      </p:sp>
      <p:sp>
        <p:nvSpPr>
          <p:cNvPr id="15" name="Text 13"/>
          <p:cNvSpPr/>
          <p:nvPr/>
        </p:nvSpPr>
        <p:spPr>
          <a:xfrm>
            <a:off x="4748479" y="288950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7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‫ינואר ‪2027‬‬</a:t>
            </a:r>
            <a:endParaRPr lang="he-IL" sz="2700" dirty="0"/>
          </a:p>
        </p:txBody>
      </p:sp>
      <p:sp>
        <p:nvSpPr>
          <p:cNvPr id="16" name="Text 14"/>
          <p:cNvSpPr/>
          <p:nvPr/>
        </p:nvSpPr>
        <p:spPr>
          <a:xfrm>
            <a:off x="4748479" y="343814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‫שיפוע סדרת התחזית הקיימת‬</a:t>
            </a:r>
            <a:endParaRPr lang="he-IL" sz="1100" dirty="0"/>
          </a:p>
        </p:txBody>
      </p:sp>
      <p:sp>
        <p:nvSpPr>
          <p:cNvPr id="17" name="Shape 15"/>
          <p:cNvSpPr/>
          <p:nvPr/>
        </p:nvSpPr>
        <p:spPr>
          <a:xfrm>
            <a:off x="825703" y="2066544"/>
            <a:ext cx="3246120" cy="1938528"/>
          </a:xfrm>
          <a:prstGeom prst="roundRect">
            <a:avLst>
              <a:gd name="adj" fmla="val 235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4623" y="2340864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00023" y="22677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‫תרחיש מגמה‬</a:t>
            </a:r>
            <a:endParaRPr lang="he-IL" sz="1300" dirty="0"/>
          </a:p>
        </p:txBody>
      </p:sp>
      <p:sp>
        <p:nvSpPr>
          <p:cNvPr id="20" name="Text 18"/>
          <p:cNvSpPr/>
          <p:nvPr/>
        </p:nvSpPr>
        <p:spPr>
          <a:xfrm>
            <a:off x="1100023" y="2560320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‫‪9.9 TB‬ לחודש‬</a:t>
            </a:r>
            <a:endParaRPr lang="he-IL" sz="1150" dirty="0"/>
          </a:p>
        </p:txBody>
      </p:sp>
      <p:sp>
        <p:nvSpPr>
          <p:cNvPr id="21" name="Text 19"/>
          <p:cNvSpPr/>
          <p:nvPr/>
        </p:nvSpPr>
        <p:spPr>
          <a:xfrm>
            <a:off x="1100023" y="288950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7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‫מרץ ‪2027‬‬</a:t>
            </a:r>
            <a:endParaRPr lang="he-IL" sz="2700" dirty="0"/>
          </a:p>
        </p:txBody>
      </p:sp>
      <p:sp>
        <p:nvSpPr>
          <p:cNvPr id="22" name="Text 20"/>
          <p:cNvSpPr/>
          <p:nvPr/>
        </p:nvSpPr>
        <p:spPr>
          <a:xfrm>
            <a:off x="1100023" y="343814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‫ממוצע ‪12‬ החודשים האחרונים בפועל‬</a:t>
            </a:r>
            <a:endParaRPr lang="he-IL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4261104"/>
            <a:ext cx="10545775" cy="1243584"/>
          </a:xfrm>
          <a:prstGeom prst="roundRect">
            <a:avLst>
              <a:gd name="adj" fmla="val 3676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29823" y="448056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4407408"/>
            <a:ext cx="9722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שהדשבורד מציג כיום — ומה שגוי בו‬</a:t>
            </a:r>
            <a:endParaRPr lang="he-IL" sz="1250" dirty="0"/>
          </a:p>
        </p:txBody>
      </p:sp>
      <p:sp>
        <p:nvSpPr>
          <p:cNvPr id="26" name="Text 24"/>
          <p:cNvSpPr/>
          <p:nvPr/>
        </p:nvSpPr>
        <p:spPr>
          <a:xfrm>
            <a:off x="1097280" y="4663440"/>
            <a:ext cx="999713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‫הדשבורד מסמן את אוקטובר ‪2026‬ כמועד חציית ‪80%‬ ומציין ‪733 TB‬. סדרת התחזית שבתוכו מגיעה באוקטובר ל-‪695 TB‬ בלבד — ‪75.9%‬ ניצולת. אוקטובר הוא מועד היעד להוצאת הרכש, לא מועד חציית הסף; שני הקווים מצוירים על אותו חודש וזה מקור הבלבול. בנוסף, הדשבורד מציג ניצולת של ‪75%‬ במקום ‪72.9%‬, ומציג תחזית של ‪710 TB‬ לדצמבר בעוד סדרת הנתונים שלו עצמה נותנת ‪725 TB‬.‬</a:t>
            </a:r>
            <a:endParaRPr lang="he-IL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‫המלצה: להחליף יעד-תאריך בטריגר ניצולת. הוצאת ‪PO‬ כאשר הניצולת מגיעה ל-‪75% (687 TB)‬ משאירה לפחות חודשיים אספקה גם בתרחיש המואץ. היום חסרים ‪19 TB‬ לטריגר.‬</a:t>
            </a:r>
            <a:endParaRPr lang="he-IL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‫השוואת עלויות‬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‫‪100 TB‬ ל-‪5‬ שנים: ‪$116K‬ ב-‪On-Prem‬ מול ‪$138K–165K‬ ב-‪AWS S3 Standard‬‬</a:t>
            </a:r>
            <a:endParaRPr lang="he-IL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13632" y="1847088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· אלפי דולרים‬</a:t>
            </a:r>
            <a:endParaRPr lang="he-IL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913632" y="2121408"/>
          <a:ext cx="7452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$1,158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‪TB‬ לוגי · ‪Dell ECS‬‬</a:t>
            </a:r>
            <a:endParaRPr lang="he-IL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779776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‫כולל ‪Replica x3‬ בין שלושה אתרים‬</a:t>
            </a:r>
            <a:endParaRPr lang="he-IL" sz="1100" dirty="0"/>
          </a:p>
        </p:txBody>
      </p:sp>
      <p:sp>
        <p:nvSpPr>
          <p:cNvPr id="11" name="Shape 8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$1,380–1,650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 · AWS S3 Standard‬‬</a:t>
            </a:r>
            <a:endParaRPr lang="he-IL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‫עמידות מובנית, ללא כפל אחסון מצידנו‬</a:t>
            </a:r>
            <a:endParaRPr lang="he-IL" sz="1100" dirty="0"/>
          </a:p>
        </p:txBody>
      </p:sp>
      <p:sp>
        <p:nvSpPr>
          <p:cNvPr id="15" name="Shape 12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16%–30%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‫יתרון ל-‪Dell ECS‬‬</a:t>
            </a:r>
            <a:endParaRPr lang="he-IL" sz="1050" dirty="0"/>
          </a:p>
        </p:txBody>
      </p:sp>
      <p:sp>
        <p:nvSpPr>
          <p:cNvPr id="18" name="Text 15"/>
          <p:cNvSpPr/>
          <p:nvPr/>
        </p:nvSpPr>
        <p:spPr>
          <a:xfrm>
            <a:off x="822960" y="5449824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‫מול ‪S3 Standard‬ בלבד — ראו השקף הבא‬</a:t>
            </a:r>
            <a:endParaRPr lang="he-IL" sz="1100" dirty="0"/>
          </a:p>
        </p:txBody>
      </p:sp>
      <p:sp>
        <p:nvSpPr>
          <p:cNvPr id="19" name="Shape 16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‫מקור ‪On-Prem‬: הצעת ‪Dell — $695,520‬ עבור ‪1,800 TB‬ נטו ‪(3,024 TB‬ ברוטו‪), $386‬ ל-‪TB‬ נטו, בהוספת דיסקים ל-‪21 nodes‬ קיימים ללא ‪nodes‬ חדשים. שני הצדדים מנורמלים ל-‪100 TB‬ לוגי.‬</a:t>
            </a:r>
            <a:endParaRPr lang="he-IL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שההשוואה מפספסת‬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‫השוואנו מול ‪S3 Standard‬ — אבל דימות ו-‪Verint‬ הם דאטה ארכיוני‬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55080" y="19385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לפי שכבת אחסון‬</a:t>
            </a:r>
            <a:endParaRPr lang="he-IL" sz="1100" dirty="0"/>
          </a:p>
        </p:txBody>
      </p:sp>
      <p:sp>
        <p:nvSpPr>
          <p:cNvPr id="6" name="Text 4"/>
          <p:cNvSpPr/>
          <p:nvPr/>
        </p:nvSpPr>
        <p:spPr>
          <a:xfrm>
            <a:off x="7836408" y="2249424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Standard‬‬</a:t>
            </a:r>
            <a:endParaRPr lang="he-IL" sz="1250" dirty="0"/>
          </a:p>
        </p:txBody>
      </p:sp>
      <p:sp>
        <p:nvSpPr>
          <p:cNvPr id="7" name="Text 5"/>
          <p:cNvSpPr/>
          <p:nvPr/>
        </p:nvSpPr>
        <p:spPr>
          <a:xfrm>
            <a:off x="7836408" y="2487168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‫‪$0.023 / GB‬‬</a:t>
            </a:r>
            <a:endParaRPr lang="he-IL" sz="1050" dirty="0"/>
          </a:p>
        </p:txBody>
      </p:sp>
      <p:sp>
        <p:nvSpPr>
          <p:cNvPr id="8" name="Shape 6"/>
          <p:cNvSpPr/>
          <p:nvPr/>
        </p:nvSpPr>
        <p:spPr>
          <a:xfrm>
            <a:off x="7836408" y="2724912"/>
            <a:ext cx="3383280" cy="173736"/>
          </a:xfrm>
          <a:prstGeom prst="roundRect">
            <a:avLst>
              <a:gd name="adj" fmla="val 210526"/>
            </a:avLst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322576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$141K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836408" y="2999232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‫‪Dell ECS On-Prem‬‬</a:t>
            </a:r>
            <a:endParaRPr lang="he-IL" sz="1250" dirty="0"/>
          </a:p>
        </p:txBody>
      </p:sp>
      <p:sp>
        <p:nvSpPr>
          <p:cNvPr id="11" name="Text 9"/>
          <p:cNvSpPr/>
          <p:nvPr/>
        </p:nvSpPr>
        <p:spPr>
          <a:xfrm>
            <a:off x="7836408" y="323697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‫‪capex‬ דיסקים‬</a:t>
            </a:r>
            <a:endParaRPr lang="he-IL" sz="1050" dirty="0"/>
          </a:p>
        </p:txBody>
      </p:sp>
      <p:sp>
        <p:nvSpPr>
          <p:cNvPr id="12" name="Shape 10"/>
          <p:cNvSpPr/>
          <p:nvPr/>
        </p:nvSpPr>
        <p:spPr>
          <a:xfrm>
            <a:off x="8445398" y="3474720"/>
            <a:ext cx="2774290" cy="173736"/>
          </a:xfrm>
          <a:prstGeom prst="roundRect">
            <a:avLst>
              <a:gd name="adj" fmla="val 210526"/>
            </a:avLst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307238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$116K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36408" y="3749040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Standard-IA‬‬</a:t>
            </a:r>
            <a:endParaRPr lang="he-IL" sz="1250" dirty="0"/>
          </a:p>
        </p:txBody>
      </p:sp>
      <p:sp>
        <p:nvSpPr>
          <p:cNvPr id="15" name="Text 13"/>
          <p:cNvSpPr/>
          <p:nvPr/>
        </p:nvSpPr>
        <p:spPr>
          <a:xfrm>
            <a:off x="7836408" y="3986784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‫‪$0.0125 / GB‬‬</a:t>
            </a:r>
            <a:endParaRPr lang="he-IL" sz="1050" dirty="0"/>
          </a:p>
        </p:txBody>
      </p:sp>
      <p:sp>
        <p:nvSpPr>
          <p:cNvPr id="16" name="Shape 14"/>
          <p:cNvSpPr/>
          <p:nvPr/>
        </p:nvSpPr>
        <p:spPr>
          <a:xfrm>
            <a:off x="9392717" y="4224528"/>
            <a:ext cx="1826971" cy="173736"/>
          </a:xfrm>
          <a:prstGeom prst="roundRect">
            <a:avLst>
              <a:gd name="adj" fmla="val 210526"/>
            </a:avLst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822192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836408" y="449884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Glacier Instant Retrieval‬‬</a:t>
            </a:r>
            <a:endParaRPr lang="he-IL" sz="1250" dirty="0"/>
          </a:p>
        </p:txBody>
      </p:sp>
      <p:sp>
        <p:nvSpPr>
          <p:cNvPr id="19" name="Text 17"/>
          <p:cNvSpPr/>
          <p:nvPr/>
        </p:nvSpPr>
        <p:spPr>
          <a:xfrm>
            <a:off x="7836408" y="4736592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‫‪$0.004 / GB‬‬</a:t>
            </a:r>
            <a:endParaRPr lang="he-IL" sz="1050" dirty="0"/>
          </a:p>
        </p:txBody>
      </p:sp>
      <p:sp>
        <p:nvSpPr>
          <p:cNvPr id="20" name="Shape 18"/>
          <p:cNvSpPr/>
          <p:nvPr/>
        </p:nvSpPr>
        <p:spPr>
          <a:xfrm>
            <a:off x="10644530" y="4974336"/>
            <a:ext cx="575158" cy="173736"/>
          </a:xfrm>
          <a:prstGeom prst="roundRect">
            <a:avLst>
              <a:gd name="adj" fmla="val 210526"/>
            </a:avLst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457200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22960" y="2231136"/>
            <a:ext cx="5212080" cy="1389888"/>
          </a:xfrm>
          <a:prstGeom prst="roundRect">
            <a:avLst>
              <a:gd name="adj" fmla="val 26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32120" y="2523744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246888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שמוזיל את הענן‬</a:t>
            </a:r>
            <a:endParaRPr lang="he-IL" sz="1350" dirty="0"/>
          </a:p>
        </p:txBody>
      </p:sp>
      <p:sp>
        <p:nvSpPr>
          <p:cNvPr id="25" name="Text 23"/>
          <p:cNvSpPr/>
          <p:nvPr/>
        </p:nvSpPr>
        <p:spPr>
          <a:xfrm>
            <a:off x="1133856" y="2816352"/>
            <a:ext cx="4590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‫מסמכי דימות ו-‪Verint‬ נכתבים פעם אחת ונקראים לעיתים נדירות. ב-‪Glacier Instant Retrieval‬, בזמן אחזור של מילישניות, העלות יורדת לכ-‪$25K‬ — פי ‪4.6‬ זול מ-‪On-Prem‬, ולא יקר ממנו ב-‪30%‬.‬</a:t>
            </a:r>
            <a:endParaRPr lang="he-IL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3785616"/>
            <a:ext cx="5212080" cy="1463040"/>
          </a:xfrm>
          <a:prstGeom prst="roundRect">
            <a:avLst>
              <a:gd name="adj" fmla="val 25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32120" y="40782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33856" y="402336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שמייקר אותו‬</a:t>
            </a:r>
            <a:endParaRPr lang="he-IL" sz="1350" dirty="0"/>
          </a:p>
        </p:txBody>
      </p:sp>
      <p:sp>
        <p:nvSpPr>
          <p:cNvPr id="29" name="Text 27"/>
          <p:cNvSpPr/>
          <p:nvPr/>
        </p:nvSpPr>
        <p:spPr>
          <a:xfrm>
            <a:off x="1133856" y="4370832"/>
            <a:ext cx="4590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‫יציאת נתונים ‪$0.09‬ ל-‪GB (‬כ-‪$9K‬ להוצאת ‪100 TB‬ חזרה), דמי אחזור ‪$0.03‬ ל-‪GB‬ ב-‪Glacier IR‬, מינימום ‪90‬ יום אחסון, וחיוב מינימלי של ‪128 KB‬ לאובייקט — משמעותי בדימות עם ריבוי קבצים קטנים. מחירי אזור תל אביב גבוהים ב-‪10%–15%‬ ממחירון ‪us-east-1‬.‬</a:t>
            </a:r>
            <a:endParaRPr lang="he-IL" sz="1200" dirty="0"/>
          </a:p>
        </p:txBody>
      </p:sp>
      <p:sp>
        <p:nvSpPr>
          <p:cNvPr id="30" name="Shape 28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‫הנתון שחסר להכרעה: פילוח גודל-אובייקט ותדירות אחזור של קורפוס הדימות ו-‪Verint‬. הוא שקובע איזו שכבה נכונה, והוא אינו קיים היום. המחירים הם מחירון רשימה, ללא הנחות נפח או התחייבות.‬</a:t>
            </a:r>
            <a:endParaRPr lang="he-IL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‫סיכונים‬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סיכון מהותי ניתן להפחתה — אך שניים מהם חוסמים התחלה‬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2860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‫משפטי · קבילות‬</a:t>
            </a:r>
            <a:endParaRPr lang="he-IL" sz="1250" dirty="0"/>
          </a:p>
        </p:txBody>
      </p:sp>
      <p:sp>
        <p:nvSpPr>
          <p:cNvPr id="8" name="Text 6"/>
          <p:cNvSpPr/>
          <p:nvPr/>
        </p:nvSpPr>
        <p:spPr>
          <a:xfrm>
            <a:off x="8378647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‫תאריך היצירה של המסמך משתנה בהעתקה; בית משפט עשוי לדרוש אסמכתא שהמסמך לא שונה.‬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8378647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78647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‪S3 Object Lock‬ במצב ‪Compliance, manifest‬ חתום ‪SHA-256‬ לכל אובייקט, ושימור ה-‪metadata‬ המקורי כ-‪object metadata‬.‬</a:t>
            </a:r>
            <a:endParaRPr lang="he-IL" sz="1050" dirty="0"/>
          </a:p>
        </p:txBody>
      </p:sp>
      <p:sp>
        <p:nvSpPr>
          <p:cNvPr id="11" name="Shape 9"/>
          <p:cNvSpPr/>
          <p:nvPr/>
        </p:nvSpPr>
        <p:spPr>
          <a:xfrm>
            <a:off x="4474159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99655" y="22860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0191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‫רגולציה · ריבונות‬</a:t>
            </a:r>
            <a:endParaRPr lang="he-IL" sz="1250" dirty="0"/>
          </a:p>
        </p:txBody>
      </p:sp>
      <p:sp>
        <p:nvSpPr>
          <p:cNvPr id="14" name="Text 12"/>
          <p:cNvSpPr/>
          <p:nvPr/>
        </p:nvSpPr>
        <p:spPr>
          <a:xfrm>
            <a:off x="4730191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‫מידע רפואי ופיננסי מזוהה היוצא משליטת הארגון.‬</a:t>
            </a:r>
            <a:endParaRPr lang="he-IL" sz="1100" dirty="0"/>
          </a:p>
        </p:txBody>
      </p:sp>
      <p:sp>
        <p:nvSpPr>
          <p:cNvPr id="15" name="Shape 13"/>
          <p:cNvSpPr/>
          <p:nvPr/>
        </p:nvSpPr>
        <p:spPr>
          <a:xfrm>
            <a:off x="4730191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0191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אזור ‪il-central-1 (‬תל אביב), הצפנה ב-‪KMS‬ עם מפתח בבעלותנו, ואישור ‪DPO‬ ורגולטור לפני ההעתקה הראשונה.‬</a:t>
            </a:r>
            <a:endParaRPr lang="he-IL" sz="1050" dirty="0"/>
          </a:p>
        </p:txBody>
      </p:sp>
      <p:sp>
        <p:nvSpPr>
          <p:cNvPr id="17" name="Shape 15"/>
          <p:cNvSpPr/>
          <p:nvPr/>
        </p:nvSpPr>
        <p:spPr>
          <a:xfrm>
            <a:off x="825703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1199" y="2286000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1735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‫טכני · שלמות‬</a:t>
            </a:r>
            <a:endParaRPr lang="he-IL" sz="1250" dirty="0"/>
          </a:p>
        </p:txBody>
      </p:sp>
      <p:sp>
        <p:nvSpPr>
          <p:cNvPr id="20" name="Text 18"/>
          <p:cNvSpPr/>
          <p:nvPr/>
        </p:nvSpPr>
        <p:spPr>
          <a:xfrm>
            <a:off x="1081735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כלי העתקה ייעודי; חלק מהקבצים עלולים להיכשל בהעברה.‬</a:t>
            </a:r>
            <a:endParaRPr lang="he-IL" sz="1100" dirty="0"/>
          </a:p>
        </p:txBody>
      </p:sp>
      <p:sp>
        <p:nvSpPr>
          <p:cNvPr id="21" name="Shape 19"/>
          <p:cNvSpPr/>
          <p:nvPr/>
        </p:nvSpPr>
        <p:spPr>
          <a:xfrm>
            <a:off x="1081735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1735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‪AWS DataSync‬ עם ולידציה מובנית, דוח חריגים לכל ריצה, ומחיקה מ-‪ECS‬ רק לאחר ולידציה מלאה.‬</a:t>
            </a:r>
            <a:endParaRPr lang="he-IL" sz="1050" dirty="0"/>
          </a:p>
        </p:txBody>
      </p:sp>
      <p:sp>
        <p:nvSpPr>
          <p:cNvPr id="23" name="Shape 21"/>
          <p:cNvSpPr/>
          <p:nvPr/>
        </p:nvSpPr>
        <p:spPr>
          <a:xfrm>
            <a:off x="8122615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48111" y="4279392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78647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‫ביצועים‬</a:t>
            </a:r>
            <a:endParaRPr lang="he-IL" sz="1250" dirty="0"/>
          </a:p>
        </p:txBody>
      </p:sp>
      <p:sp>
        <p:nvSpPr>
          <p:cNvPr id="26" name="Text 24"/>
          <p:cNvSpPr/>
          <p:nvPr/>
        </p:nvSpPr>
        <p:spPr>
          <a:xfrm>
            <a:off x="8378647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‫זמני אחזור בענן נמוכים יותר; למערכת הדימות אין ניסיון מול ענן.‬</a:t>
            </a:r>
            <a:endParaRPr lang="he-IL" sz="1100" dirty="0"/>
          </a:p>
        </p:txBody>
      </p:sp>
      <p:sp>
        <p:nvSpPr>
          <p:cNvPr id="27" name="Shape 25"/>
          <p:cNvSpPr/>
          <p:nvPr/>
        </p:nvSpPr>
        <p:spPr>
          <a:xfrm>
            <a:off x="8378647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78647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‪POC‬ על ‪1–2 TB‬ לפני התחייבות, חיבור ‪Direct Connect‬ ולא אינטרנט, ומדידת זמני אחזור מול ה-‪SLA‬ הקיים.‬</a:t>
            </a:r>
            <a:endParaRPr lang="he-IL" sz="1050" dirty="0"/>
          </a:p>
        </p:txBody>
      </p:sp>
      <p:sp>
        <p:nvSpPr>
          <p:cNvPr id="29" name="Shape 27"/>
          <p:cNvSpPr/>
          <p:nvPr/>
        </p:nvSpPr>
        <p:spPr>
          <a:xfrm>
            <a:off x="4474159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299655" y="427939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30191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‫לוחות זמנים‬</a:t>
            </a:r>
            <a:endParaRPr lang="he-IL" sz="1250" dirty="0"/>
          </a:p>
        </p:txBody>
      </p:sp>
      <p:sp>
        <p:nvSpPr>
          <p:cNvPr id="32" name="Text 30"/>
          <p:cNvSpPr/>
          <p:nvPr/>
        </p:nvSpPr>
        <p:spPr>
          <a:xfrm>
            <a:off x="4730191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‫ההעתקה אורכת שבועות ותלויה בפס רוחב.‬</a:t>
            </a:r>
            <a:endParaRPr lang="he-IL" sz="1100" dirty="0"/>
          </a:p>
        </p:txBody>
      </p:sp>
      <p:sp>
        <p:nvSpPr>
          <p:cNvPr id="33" name="Shape 31"/>
          <p:cNvSpPr/>
          <p:nvPr/>
        </p:nvSpPr>
        <p:spPr>
          <a:xfrm>
            <a:off x="4730191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30191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העברה ראשונית ב-‪AWS Snowball‬. ההעתקה אינה על הנתיב הקריטי של הרכש — שני המסלולים רצים במקביל.‬</a:t>
            </a:r>
            <a:endParaRPr lang="he-IL" sz="1050" dirty="0"/>
          </a:p>
        </p:txBody>
      </p:sp>
      <p:sp>
        <p:nvSpPr>
          <p:cNvPr id="35" name="Shape 33"/>
          <p:cNvSpPr/>
          <p:nvPr/>
        </p:nvSpPr>
        <p:spPr>
          <a:xfrm>
            <a:off x="825703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1199" y="427939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81735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‫כלכלי · ‪Lock-in‬‬</a:t>
            </a:r>
            <a:endParaRPr lang="he-IL" sz="1250" dirty="0"/>
          </a:p>
        </p:txBody>
      </p:sp>
      <p:sp>
        <p:nvSpPr>
          <p:cNvPr id="38" name="Text 36"/>
          <p:cNvSpPr/>
          <p:nvPr/>
        </p:nvSpPr>
        <p:spPr>
          <a:xfrm>
            <a:off x="1081735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‫יציאה מהענן עולה ‪$0.09‬ ל-‪GB‬; מעבר ממודל ‪capex‬ למודל ‪opex‬.‬</a:t>
            </a:r>
            <a:endParaRPr lang="he-IL" sz="1100" dirty="0"/>
          </a:p>
        </p:txBody>
      </p:sp>
      <p:sp>
        <p:nvSpPr>
          <p:cNvPr id="39" name="Shape 37"/>
          <p:cNvSpPr/>
          <p:nvPr/>
        </p:nvSpPr>
        <p:spPr>
          <a:xfrm>
            <a:off x="1081735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81735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תמחור תרחיש יציאה מראש, התחלה בקורפוס אחד בלבד, ואישור תקציב ‪opex‬ רב-שנתי.‬</a:t>
            </a:r>
            <a:endParaRPr lang="he-IL" sz="1050" dirty="0"/>
          </a:p>
        </p:txBody>
      </p:sp>
      <p:sp>
        <p:nvSpPr>
          <p:cNvPr id="41" name="Shape 39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הסיכונים המסומנים באדום — קבילות משפטית וריבונות נתונים — חוסמים התחלה. יש לסגור אותם בספטמבר, במקביל ל-‪POC‬ ולא אחריו.‬</a:t>
            </a:r>
            <a:endParaRPr lang="he-IL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זה נותן‬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‫המנוף היחיד על השולחן שאינו תלוי בזמן אספקה של חודשיים‬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‫פינוי שטח מיידי‬</a:t>
            </a:r>
            <a:endParaRPr lang="he-IL" sz="1350" dirty="0"/>
          </a:p>
        </p:txBody>
      </p:sp>
      <p:sp>
        <p:nvSpPr>
          <p:cNvPr id="8" name="Text 6"/>
          <p:cNvSpPr/>
          <p:nvPr/>
        </p:nvSpPr>
        <p:spPr>
          <a:xfrm>
            <a:off x="8378647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קורפוס הדימות ו-‪Verint‬ מפנה שטח ב-‪ECS‬ תוך שבועות. זו האפשרות היחידה שמשפיעה על הניצולת לפני דצמבר ‪2026‬.‬</a:t>
            </a:r>
            <a:endParaRPr lang="he-IL" sz="1150" dirty="0"/>
          </a:p>
        </p:txBody>
      </p:sp>
      <p:sp>
        <p:nvSpPr>
          <p:cNvPr id="9" name="Shape 7"/>
          <p:cNvSpPr/>
          <p:nvPr/>
        </p:nvSpPr>
        <p:spPr>
          <a:xfrm>
            <a:off x="4474159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99655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0191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‫דחיית והקטנת ‪capex‬‬</a:t>
            </a:r>
            <a:endParaRPr lang="he-IL" sz="1350" dirty="0"/>
          </a:p>
        </p:txBody>
      </p:sp>
      <p:sp>
        <p:nvSpPr>
          <p:cNvPr id="12" name="Text 10"/>
          <p:cNvSpPr/>
          <p:nvPr/>
        </p:nvSpPr>
        <p:spPr>
          <a:xfrm>
            <a:off x="4730191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‪TB‬ שמפונה דוחה את מועד הרכש ומקטין את היקפו. הצעת ‪Dell‬ הנוכחית עומדת על ‪$695,520‬ עבור ‪600 TB‬ לוגי.‬</a:t>
            </a:r>
            <a:endParaRPr lang="he-IL" sz="1150" dirty="0"/>
          </a:p>
        </p:txBody>
      </p:sp>
      <p:sp>
        <p:nvSpPr>
          <p:cNvPr id="13" name="Shape 11"/>
          <p:cNvSpPr/>
          <p:nvPr/>
        </p:nvSpPr>
        <p:spPr>
          <a:xfrm>
            <a:off x="825703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1199" y="237744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1735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‫ללא זמן אספקה‬</a:t>
            </a:r>
            <a:endParaRPr lang="he-IL" sz="1350" dirty="0"/>
          </a:p>
        </p:txBody>
      </p:sp>
      <p:sp>
        <p:nvSpPr>
          <p:cNvPr id="16" name="Text 14"/>
          <p:cNvSpPr/>
          <p:nvPr/>
        </p:nvSpPr>
        <p:spPr>
          <a:xfrm>
            <a:off x="1081735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‪PO‬, אין דיסקים, אין חלון התקנה. הקיבולת זמינה ביום הראשון, ומשלמים רק על מה שנצרך בפועל — בלי לרכוש מראש קיבולת לשלוש שנים.‬</a:t>
            </a:r>
            <a:endParaRPr lang="he-IL" sz="1150" dirty="0"/>
          </a:p>
        </p:txBody>
      </p:sp>
      <p:sp>
        <p:nvSpPr>
          <p:cNvPr id="17" name="Shape 15"/>
          <p:cNvSpPr/>
          <p:nvPr/>
        </p:nvSpPr>
        <p:spPr>
          <a:xfrm>
            <a:off x="8122615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48111" y="418795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78647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‫‪Lifecycle‬ אוטומטי‬</a:t>
            </a:r>
            <a:endParaRPr lang="he-IL" sz="1350" dirty="0"/>
          </a:p>
        </p:txBody>
      </p:sp>
      <p:sp>
        <p:nvSpPr>
          <p:cNvPr id="20" name="Text 18"/>
          <p:cNvSpPr/>
          <p:nvPr/>
        </p:nvSpPr>
        <p:spPr>
          <a:xfrm>
            <a:off x="8378647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‫מדיניות שכבות מעבירה דאטה מתקרר לשכבה זולה יותר לאורך זמן — הוזלה שנמשכת ללא התערבות תפעולית ובלי פרויקט נוסף.‬</a:t>
            </a:r>
            <a:endParaRPr lang="he-IL" sz="1150" dirty="0"/>
          </a:p>
        </p:txBody>
      </p:sp>
      <p:sp>
        <p:nvSpPr>
          <p:cNvPr id="21" name="Shape 19"/>
          <p:cNvSpPr/>
          <p:nvPr/>
        </p:nvSpPr>
        <p:spPr>
          <a:xfrm>
            <a:off x="4474159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99655" y="4187952"/>
            <a:ext cx="118872" cy="118872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30191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‫עמידות מובנית‬</a:t>
            </a:r>
            <a:endParaRPr lang="he-IL" sz="1350" dirty="0"/>
          </a:p>
        </p:txBody>
      </p:sp>
      <p:sp>
        <p:nvSpPr>
          <p:cNvPr id="24" name="Text 22"/>
          <p:cNvSpPr/>
          <p:nvPr/>
        </p:nvSpPr>
        <p:spPr>
          <a:xfrm>
            <a:off x="4730191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‫‪11‬ תשיעיות עמידות ופיזור בין אזורי זמינות, במקום שכפול משולש שאנחנו מתחזקים ומשלמים עליו פי שלושה בשלושה אתרים.‬</a:t>
            </a:r>
            <a:endParaRPr lang="he-IL" sz="1150" dirty="0"/>
          </a:p>
        </p:txBody>
      </p:sp>
      <p:sp>
        <p:nvSpPr>
          <p:cNvPr id="25" name="Shape 23"/>
          <p:cNvSpPr/>
          <p:nvPr/>
        </p:nvSpPr>
        <p:spPr>
          <a:xfrm>
            <a:off x="825703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1199" y="4187952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1735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‫בסיס לשירותי ‪AI‬‬</a:t>
            </a:r>
            <a:endParaRPr lang="he-IL" sz="1350" dirty="0"/>
          </a:p>
        </p:txBody>
      </p:sp>
      <p:sp>
        <p:nvSpPr>
          <p:cNvPr id="28" name="Text 26"/>
          <p:cNvSpPr/>
          <p:nvPr/>
        </p:nvSpPr>
        <p:spPr>
          <a:xfrm>
            <a:off x="1081735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‫תמלול שיחות וניתוח דימות כשירות מנוהל מעל אותו אחסון — יכולת שאינה קיימת על ‪ECS‬ היום ואינה דורשת פרויקט תשתית נפרד.‬</a:t>
            </a:r>
            <a:endParaRPr lang="he-IL" sz="115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‫התועלת נמדדת ב-‪TB‬ שפונו בפועל ובחודשי הדחייה שהושגו לרכש — לא באחוזי חיסכון תיאורטיים.‬</a:t>
            </a:r>
            <a:endParaRPr lang="he-IL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‫ציר זמן‬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מסלולים במקביל: העתקה לענן מתחילה מיד, רכש נקבע לפי טריגר‬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999232"/>
            <a:ext cx="10545775" cy="27432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20515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‪26‬‬</a:t>
            </a:r>
            <a:endParaRPr lang="he-IL" sz="1300" dirty="0"/>
          </a:p>
        </p:txBody>
      </p:sp>
      <p:sp>
        <p:nvSpPr>
          <p:cNvPr id="7" name="Shape 5"/>
          <p:cNvSpPr/>
          <p:nvPr/>
        </p:nvSpPr>
        <p:spPr>
          <a:xfrm>
            <a:off x="11204143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20515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21683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קורפוס הדימות ו-‪Verint‬‬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‫הגדרת קריטריוני קבילות‬</a:t>
            </a:r>
            <a:endParaRPr lang="he-IL" sz="1150" dirty="0"/>
          </a:p>
        </p:txBody>
      </p:sp>
      <p:sp>
        <p:nvSpPr>
          <p:cNvPr id="10" name="Text 8"/>
          <p:cNvSpPr/>
          <p:nvPr/>
        </p:nvSpPr>
        <p:spPr>
          <a:xfrm>
            <a:off x="7271126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‫ספטמבר ‪26‬‬</a:t>
            </a:r>
            <a:endParaRPr lang="he-IL" sz="1300" dirty="0"/>
          </a:p>
        </p:txBody>
      </p:sp>
      <p:sp>
        <p:nvSpPr>
          <p:cNvPr id="11" name="Shape 9"/>
          <p:cNvSpPr/>
          <p:nvPr/>
        </p:nvSpPr>
        <p:spPr>
          <a:xfrm>
            <a:off x="9054755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71126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72294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‫‪POC‬ על ‪1–2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‪DPO‬ ורגולטור‬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‫הקמת ‪Direct Connect‬‬</a:t>
            </a:r>
            <a:endParaRPr lang="he-IL" sz="1150" dirty="0"/>
          </a:p>
        </p:txBody>
      </p:sp>
      <p:sp>
        <p:nvSpPr>
          <p:cNvPr id="14" name="Text 12"/>
          <p:cNvSpPr/>
          <p:nvPr/>
        </p:nvSpPr>
        <p:spPr>
          <a:xfrm>
            <a:off x="5121737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‪26‬‬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6905366" y="2935224"/>
            <a:ext cx="155448" cy="155448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1737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22905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‫תחילת העתקה לייצור‬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‫ולידציה ראשונה ודוח חריגים‬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‫מדידת ניצולת מול טריגר ‪75%‬‬</a:t>
            </a:r>
            <a:endParaRPr lang="he-IL" sz="1150" dirty="0"/>
          </a:p>
        </p:txBody>
      </p:sp>
      <p:sp>
        <p:nvSpPr>
          <p:cNvPr id="18" name="Text 16"/>
          <p:cNvSpPr/>
          <p:nvPr/>
        </p:nvSpPr>
        <p:spPr>
          <a:xfrm>
            <a:off x="2972349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‫נוב׳–דצמ׳ ‪26‬‬</a:t>
            </a:r>
            <a:endParaRPr lang="he-IL" sz="1300" dirty="0"/>
          </a:p>
        </p:txBody>
      </p:sp>
      <p:sp>
        <p:nvSpPr>
          <p:cNvPr id="19" name="Shape 17"/>
          <p:cNvSpPr/>
          <p:nvPr/>
        </p:nvSpPr>
        <p:spPr>
          <a:xfrm>
            <a:off x="4755977" y="2935224"/>
            <a:ext cx="155448" cy="15544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2349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73517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‫המשך העתקה ומחיקה מ-‪ECS‬‬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‫טריגר רכש צפוי · ‪PO‬ ל-‪Dell‬‬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‫דוח שלמות מסכם‬</a:t>
            </a:r>
            <a:endParaRPr lang="he-IL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‫ינואר–מרץ ‪27‬‬</a:t>
            </a:r>
            <a:endParaRPr lang="he-IL" sz="1300" dirty="0"/>
          </a:p>
        </p:txBody>
      </p:sp>
      <p:sp>
        <p:nvSpPr>
          <p:cNvPr id="23" name="Shape 21"/>
          <p:cNvSpPr/>
          <p:nvPr/>
        </p:nvSpPr>
        <p:spPr>
          <a:xfrm>
            <a:off x="2606589" y="2935224"/>
            <a:ext cx="155448" cy="15544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4128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‫אספקת דיסקים והתקנה‬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‫צפי חציית ‪80%‬ בתרחיש המגמה‬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‫החלטה על היקף הרחבה נוסף‬</a:t>
            </a:r>
            <a:endParaRPr lang="he-IL" sz="1150" dirty="0"/>
          </a:p>
        </p:txBody>
      </p:sp>
      <p:sp>
        <p:nvSpPr>
          <p:cNvPr id="26" name="Shape 24"/>
          <p:cNvSpPr/>
          <p:nvPr/>
        </p:nvSpPr>
        <p:spPr>
          <a:xfrm>
            <a:off x="822960" y="4809744"/>
            <a:ext cx="10545775" cy="566928"/>
          </a:xfrm>
          <a:prstGeom prst="roundRect">
            <a:avLst>
              <a:gd name="adj" fmla="val 12903"/>
            </a:avLst>
          </a:prstGeom>
          <a:solidFill>
            <a:srgbClr val="13303A"/>
          </a:solidFill>
          <a:ln w="12700">
            <a:solidFill>
              <a:srgbClr val="1330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66399" y="502920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809744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‫טריגר הרכש אינו תאריך: ‪PO‬ יוצא כאשר הניצולת מגיעה ל-‪75% (687 TB)‬. היום ‪72.9%‬ — מרחק של ‪19 TB‬.‬</a:t>
            </a:r>
            <a:endParaRPr lang="he-IL" sz="13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‫המסלולים אינם תלויים זה בזה. עיכוב ב-‪POC‬ אינו מעכב את הרכש, ועיכוב ברכש אינו מעכב את ההעתקה.‬</a:t>
            </a:r>
            <a:endParaRPr lang="he-IL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‫המלצה‬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‫לאשר את ההעתקה עכשיו, ולקשור את הרכש לניצולת ולא לתאריך‬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996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82351" y="208483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383280" y="213969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להעתקת מסמכי דימות ו-‪Verint‬ ל-‪AWS S3‬‬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3383280" y="245059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‫התנעה באוגוסט. תקציב ‪POC‬ על ‪1–2 TB‬, וסגירת חסמי הקבילות המשפטית והריבונות בספטמבר במקביל.‬</a:t>
            </a:r>
            <a:endParaRPr lang="he-IL" sz="1150" dirty="0"/>
          </a:p>
        </p:txBody>
      </p:sp>
      <p:sp>
        <p:nvSpPr>
          <p:cNvPr id="9" name="Text 7"/>
          <p:cNvSpPr/>
          <p:nvPr/>
        </p:nvSpPr>
        <p:spPr>
          <a:xfrm>
            <a:off x="1078992" y="21762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0" name="Text 8"/>
          <p:cNvSpPr/>
          <p:nvPr/>
        </p:nvSpPr>
        <p:spPr>
          <a:xfrm>
            <a:off x="1078992" y="241401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 +‬ יועץ משפטי ‪+ DPO‬‬</a:t>
            </a:r>
            <a:endParaRPr lang="he-IL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08152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82351" y="313639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383280" y="319125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‫טריגר רכש בניצולת ‪75%‬ במקום תאריך יעד‬</a:t>
            </a:r>
            <a:endParaRPr lang="he-IL" sz="1450" dirty="0"/>
          </a:p>
        </p:txBody>
      </p:sp>
      <p:sp>
        <p:nvSpPr>
          <p:cNvPr id="14" name="Text 12"/>
          <p:cNvSpPr/>
          <p:nvPr/>
        </p:nvSpPr>
        <p:spPr>
          <a:xfrm>
            <a:off x="3383280" y="350215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‫‪PO‬ ל-‪Dell‬ יוצא כאשר הניצולת מגיעה ל-‪687 TB‬. זה מבטיח חודשיים אספקה גם בתרחיש המואץ, ואינו מקדים רכש שאולי לא יידרש.‬</a:t>
            </a:r>
            <a:endParaRPr lang="he-IL" sz="1150" dirty="0"/>
          </a:p>
        </p:txBody>
      </p:sp>
      <p:sp>
        <p:nvSpPr>
          <p:cNvPr id="15" name="Text 13"/>
          <p:cNvSpPr/>
          <p:nvPr/>
        </p:nvSpPr>
        <p:spPr>
          <a:xfrm>
            <a:off x="1078992" y="32278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6" name="Text 14"/>
          <p:cNvSpPr/>
          <p:nvPr/>
        </p:nvSpPr>
        <p:spPr>
          <a:xfrm>
            <a:off x="1078992" y="34655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 +‬ רכש‬</a:t>
            </a:r>
            <a:endParaRPr lang="he-IL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413308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82351" y="418795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3383280" y="424281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‫תמחור מחדש של חלופת הענן לפי שכבת אחסון נכונה‬</a:t>
            </a:r>
            <a:endParaRPr lang="he-IL" sz="1450" dirty="0"/>
          </a:p>
        </p:txBody>
      </p:sp>
      <p:sp>
        <p:nvSpPr>
          <p:cNvPr id="20" name="Text 18"/>
          <p:cNvSpPr/>
          <p:nvPr/>
        </p:nvSpPr>
        <p:spPr>
          <a:xfrm>
            <a:off x="3383280" y="455371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גודל-אובייקט ותדירות אחזור של הקורפוס, ותמחור מול ‪Glacier Instant Retrieval‬ באזור תל אביב — לא מול ‪S3 Standard‬.‬</a:t>
            </a:r>
            <a:endParaRPr lang="he-IL" sz="1150" dirty="0"/>
          </a:p>
        </p:txBody>
      </p:sp>
      <p:sp>
        <p:nvSpPr>
          <p:cNvPr id="21" name="Text 19"/>
          <p:cNvSpPr/>
          <p:nvPr/>
        </p:nvSpPr>
        <p:spPr>
          <a:xfrm>
            <a:off x="1078992" y="4279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22" name="Text 20"/>
          <p:cNvSpPr/>
          <p:nvPr/>
        </p:nvSpPr>
        <p:spPr>
          <a:xfrm>
            <a:off x="1078992" y="45171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 + FinOps‬‬</a:t>
            </a:r>
            <a:endParaRPr lang="he-IL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5175504"/>
            <a:ext cx="10545775" cy="548640"/>
          </a:xfrm>
          <a:prstGeom prst="roundRect">
            <a:avLst>
              <a:gd name="adj" fmla="val 13333"/>
            </a:avLst>
          </a:prstGeom>
          <a:solidFill>
            <a:srgbClr val="14302A"/>
          </a:solidFill>
          <a:ln w="12700">
            <a:solidFill>
              <a:srgbClr val="2A6A5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66399" y="5385816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5175504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 היום: אישור עקרוני להעתקה, תקציב ‪POC‬, ואישור טריגר הרכש ב-‪75%‬.‬</a:t>
            </a:r>
            <a:endParaRPr lang="he-IL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‫החלטת התקציב המלאה לרכש תובא לאישור כאשר הטריגר ייחצה, עם הצעת מחיר מעודכנת מ-‪Dell‬ ותמחור ענן מעודכן לצידה.‬</a:t>
            </a:r>
            <a:endParaRPr lang="he-IL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העתקת מסמכי דימות ושיחות לענן</dc:title>
  <dc:subject>PptxGenJS Presentation</dc:subject>
  <dc:creator>Harel IT Infrastructure</dc:creator>
  <cp:lastModifiedBy>Harel IT Infrastructure</cp:lastModifiedBy>
  <cp:revision>1</cp:revision>
  <dcterms:created xsi:type="dcterms:W3CDTF">2026-08-17T13:10:19Z</dcterms:created>
  <dcterms:modified xsi:type="dcterms:W3CDTF">2026-08-17T13:10:19Z</dcterms:modified>
</cp:coreProperties>
</file>