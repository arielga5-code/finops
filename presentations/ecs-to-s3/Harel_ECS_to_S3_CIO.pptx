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תחזית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687</c:v>
                </c:pt>
                <c:pt idx="17">
                  <c:v>698</c:v>
                </c:pt>
                <c:pt idx="18">
                  <c:v>710</c:v>
                </c:pt>
                <c:pt idx="19">
                  <c:v>721</c:v>
                </c:pt>
                <c:pt idx="20">
                  <c:v>733</c:v>
                </c:pt>
                <c:pt idx="21">
                  <c:v>744</c:v>
                </c:pt>
                <c:pt idx="22">
                  <c:v>756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687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Dell ECS On-Prem</c:v>
                  </c:pt>
                  <c:pt idx="1">
                    <c:v>AWS S3 + API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115.8</c:v>
                </c:pt>
                <c:pt idx="1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566928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9863" y="512064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1284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Shape 5"/>
          <p:cNvSpPr/>
          <p:nvPr/>
        </p:nvSpPr>
        <p:spPr>
          <a:xfrm>
            <a:off x="8991295" y="3602736"/>
            <a:ext cx="2377440" cy="2743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673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החלטה‬</a:t>
            </a:r>
            <a:endParaRPr lang="he-IL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על השולחן — ושניהם צריכים תשובה עוד באוקטובר‬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29807" y="2066544"/>
            <a:ext cx="5138928" cy="3657600"/>
          </a:xfrm>
          <a:prstGeom prst="roundRect">
            <a:avLst>
              <a:gd name="adj" fmla="val 1250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13287" y="2395728"/>
            <a:ext cx="50292" cy="402336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98303" y="2377440"/>
            <a:ext cx="676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7279" y="2359152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ECS‬‬</a:t>
            </a:r>
            <a:endParaRPr lang="he-IL" sz="1900" dirty="0"/>
          </a:p>
        </p:txBody>
      </p:sp>
      <p:sp>
        <p:nvSpPr>
          <p:cNvPr id="9" name="Shape 7"/>
          <p:cNvSpPr/>
          <p:nvPr/>
        </p:nvSpPr>
        <p:spPr>
          <a:xfrm>
            <a:off x="6577279" y="2980944"/>
            <a:ext cx="4443984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7279" y="3108960"/>
            <a:ext cx="4443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המערך הקיים: רכש תוספת דיסקים מ-‪Dell‬, באותה ארכיטקטורה ובאותם ממשקים.‬</a:t>
            </a:r>
            <a:endParaRPr lang="he-IL" sz="1400" dirty="0"/>
          </a:p>
        </p:txBody>
      </p:sp>
      <p:sp>
        <p:nvSpPr>
          <p:cNvPr id="11" name="Shape 9"/>
          <p:cNvSpPr/>
          <p:nvPr/>
        </p:nvSpPr>
        <p:spPr>
          <a:xfrm>
            <a:off x="10966399" y="3931920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77279" y="380390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‫עלות: ‪$695,520 · 600 TB‬ לוגי · ‪Replica x3‬‬</a:t>
            </a:r>
            <a:endParaRPr lang="he-IL" sz="1300" dirty="0"/>
          </a:p>
        </p:txBody>
      </p:sp>
      <p:sp>
        <p:nvSpPr>
          <p:cNvPr id="13" name="Shape 11"/>
          <p:cNvSpPr/>
          <p:nvPr/>
        </p:nvSpPr>
        <p:spPr>
          <a:xfrm>
            <a:off x="10966399" y="4334256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7279" y="420624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‫זמן: ‪PO‬ באוקטובר, אספקה תוך כחודשיים‬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10966399" y="4736592"/>
            <a:ext cx="91440" cy="91440"/>
          </a:xfrm>
          <a:prstGeom prst="rect">
            <a:avLst/>
          </a:prstGeom>
          <a:solidFill>
            <a:srgbClr val="5E6E85"/>
          </a:solidFill>
          <a:ln w="12700">
            <a:solidFill>
              <a:srgbClr val="5E6E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7279" y="460857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שינוי באפליקציות, אך הוצאה הונית מלאה‬</a:t>
            </a:r>
            <a:endParaRPr lang="he-IL" sz="1300" dirty="0"/>
          </a:p>
        </p:txBody>
      </p:sp>
      <p:sp>
        <p:nvSpPr>
          <p:cNvPr id="17" name="Shape 15"/>
          <p:cNvSpPr/>
          <p:nvPr/>
        </p:nvSpPr>
        <p:spPr>
          <a:xfrm>
            <a:off x="6577279" y="5120640"/>
            <a:ext cx="4443984" cy="457200"/>
          </a:xfrm>
          <a:prstGeom prst="roundRect">
            <a:avLst>
              <a:gd name="adj" fmla="val 32000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3583" y="5120640"/>
            <a:ext cx="4151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תקציב ויציאה ל-‪PO‬ באוקטובר‬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2066544"/>
            <a:ext cx="5138928" cy="3657600"/>
          </a:xfrm>
          <a:prstGeom prst="roundRect">
            <a:avLst>
              <a:gd name="adj" fmla="val 1250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06440" y="2395728"/>
            <a:ext cx="50292" cy="402336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91456" y="2377440"/>
            <a:ext cx="676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4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170432" y="2359152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דימות ו-‪Verint‬ לענן‬</a:t>
            </a:r>
            <a:endParaRPr lang="he-IL" sz="1900" dirty="0"/>
          </a:p>
        </p:txBody>
      </p:sp>
      <p:sp>
        <p:nvSpPr>
          <p:cNvPr id="23" name="Shape 21"/>
          <p:cNvSpPr/>
          <p:nvPr/>
        </p:nvSpPr>
        <p:spPr>
          <a:xfrm>
            <a:off x="1170432" y="2980944"/>
            <a:ext cx="4443984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70432" y="3108960"/>
            <a:ext cx="4443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‫העברת הארכיון לאחסון אובייקטים ב-‪AWS‬, ופינוי השטח שהוא תופס היום ב-‪ECS‬.‬</a:t>
            </a:r>
            <a:endParaRPr lang="he-IL" sz="1400" dirty="0"/>
          </a:p>
        </p:txBody>
      </p:sp>
      <p:sp>
        <p:nvSpPr>
          <p:cNvPr id="25" name="Shape 23"/>
          <p:cNvSpPr/>
          <p:nvPr/>
        </p:nvSpPr>
        <p:spPr>
          <a:xfrm>
            <a:off x="5559552" y="3931920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0432" y="380390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‫עלות: תשלום לפי צריכה, ללא הוצאה הונית‬</a:t>
            </a:r>
            <a:endParaRPr lang="he-IL" sz="1300" dirty="0"/>
          </a:p>
        </p:txBody>
      </p:sp>
      <p:sp>
        <p:nvSpPr>
          <p:cNvPr id="27" name="Shape 25"/>
          <p:cNvSpPr/>
          <p:nvPr/>
        </p:nvSpPr>
        <p:spPr>
          <a:xfrm>
            <a:off x="5559552" y="4334256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70432" y="420624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‫זמן: שבועות — ללא ‪PO‬ וללא זמן אספקה‬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5559552" y="4736592"/>
            <a:ext cx="91440" cy="91440"/>
          </a:xfrm>
          <a:prstGeom prst="rect">
            <a:avLst/>
          </a:prstGeom>
          <a:solidFill>
            <a:srgbClr val="5E6E85"/>
          </a:solidFill>
          <a:ln w="12700">
            <a:solidFill>
              <a:srgbClr val="5E6E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0432" y="460857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‫מפנה שטח מיד, אך נדרשת שכבת ‪API‬ באפליקציה‬</a:t>
            </a:r>
            <a:endParaRPr lang="he-IL" sz="1300" dirty="0"/>
          </a:p>
        </p:txBody>
      </p:sp>
      <p:sp>
        <p:nvSpPr>
          <p:cNvPr id="31" name="Shape 29"/>
          <p:cNvSpPr/>
          <p:nvPr/>
        </p:nvSpPr>
        <p:spPr>
          <a:xfrm>
            <a:off x="1170432" y="5120640"/>
            <a:ext cx="4443984" cy="457200"/>
          </a:xfrm>
          <a:prstGeom prst="roundRect">
            <a:avLst>
              <a:gd name="adj" fmla="val 32000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16736" y="5120640"/>
            <a:ext cx="4151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עקרוני + תקציב ‪POC‬‬</a:t>
            </a:r>
            <a:endParaRPr lang="he-IL" sz="1300" dirty="0"/>
          </a:p>
        </p:txBody>
      </p:sp>
      <p:sp>
        <p:nvSpPr>
          <p:cNvPr id="33" name="Shape 31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המסלולים אינם חלופיים: ‪01‬ מוסיף קיבולת, ‪02‬ מקטין את הצריכה. ה-‪PO‬ של ‪01‬ חייב לצאת באוקטובר — הרציונל והנתונים בשקפים הבאים.‬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 ניצולת — ובקצב הנוכחי הסף נחצה בדצמבר ‪2026‬‬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687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צפויה‬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‫בקצב של כ-‪11.5 TB‬ לחודש‬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64966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3234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076895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5957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504127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680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‫קו התחזית חוצה את סף ‪80%‬ בדצמבר ‪2026‬. מכיוון שזמן האספקה מ-‪Dell‬ הוא כחודשיים, ה-‪PO‬ חייב לצאת באוקטובר כדי שהדיסקים יגיעו לפני החצייה.‬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 הזמנים הקריטי‬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תאריכים שונים — ואוקטובר הוא זה שתלוי בנו‬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04288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‫היום‬</a:t>
            </a:r>
            <a:endParaRPr lang="he-IL" sz="1100" dirty="0"/>
          </a:p>
        </p:txBody>
      </p:sp>
      <p:sp>
        <p:nvSpPr>
          <p:cNvPr id="8" name="Text 6"/>
          <p:cNvSpPr/>
          <p:nvPr/>
        </p:nvSpPr>
        <p:spPr>
          <a:xfrm>
            <a:off x="8396935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‪2026‬‬</a:t>
            </a:r>
            <a:endParaRPr lang="he-IL" sz="1900" dirty="0"/>
          </a:p>
        </p:txBody>
      </p:sp>
      <p:sp>
        <p:nvSpPr>
          <p:cNvPr id="9" name="Text 7"/>
          <p:cNvSpPr/>
          <p:nvPr/>
        </p:nvSpPr>
        <p:spPr>
          <a:xfrm>
            <a:off x="8396935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TB‬. נותרו ‪46 TB‬ עד לסף.‬</a:t>
            </a:r>
            <a:endParaRPr lang="he-IL" sz="1100" dirty="0"/>
          </a:p>
        </p:txBody>
      </p:sp>
      <p:sp>
        <p:nvSpPr>
          <p:cNvPr id="11" name="Text 9"/>
          <p:cNvSpPr/>
          <p:nvPr/>
        </p:nvSpPr>
        <p:spPr>
          <a:xfrm>
            <a:off x="7720279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74159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3079" y="2304288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8479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‫החלון להחלטה‬</a:t>
            </a:r>
            <a:endParaRPr lang="he-IL" sz="1100" dirty="0"/>
          </a:p>
        </p:txBody>
      </p:sp>
      <p:sp>
        <p:nvSpPr>
          <p:cNvPr id="15" name="Text 13"/>
          <p:cNvSpPr/>
          <p:nvPr/>
        </p:nvSpPr>
        <p:spPr>
          <a:xfrm>
            <a:off x="4748479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900" dirty="0"/>
          </a:p>
        </p:txBody>
      </p:sp>
      <p:sp>
        <p:nvSpPr>
          <p:cNvPr id="16" name="Text 14"/>
          <p:cNvSpPr/>
          <p:nvPr/>
        </p:nvSpPr>
        <p:spPr>
          <a:xfrm>
            <a:off x="4748479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600" dirty="0"/>
          </a:p>
        </p:txBody>
      </p:sp>
      <p:sp>
        <p:nvSpPr>
          <p:cNvPr id="17" name="Text 15"/>
          <p:cNvSpPr/>
          <p:nvPr/>
        </p:nvSpPr>
        <p:spPr>
          <a:xfrm>
            <a:off x="4748479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מ-‪Dell‬. זהו המועד האחרון שעדיין מביא דיסקים לפני דצמבר.‬</a:t>
            </a:r>
            <a:endParaRPr lang="he-IL" sz="1100" dirty="0"/>
          </a:p>
        </p:txBody>
      </p:sp>
      <p:sp>
        <p:nvSpPr>
          <p:cNvPr id="18" name="Text 16"/>
          <p:cNvSpPr/>
          <p:nvPr/>
        </p:nvSpPr>
        <p:spPr>
          <a:xfrm>
            <a:off x="4071823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25703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4623" y="2304288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00023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‫הסף‬</a:t>
            </a:r>
            <a:endParaRPr lang="he-IL" sz="1100" dirty="0"/>
          </a:p>
        </p:txBody>
      </p:sp>
      <p:sp>
        <p:nvSpPr>
          <p:cNvPr id="22" name="Text 20"/>
          <p:cNvSpPr/>
          <p:nvPr/>
        </p:nvSpPr>
        <p:spPr>
          <a:xfrm>
            <a:off x="1100023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900" dirty="0"/>
          </a:p>
        </p:txBody>
      </p:sp>
      <p:sp>
        <p:nvSpPr>
          <p:cNvPr id="23" name="Text 21"/>
          <p:cNvSpPr/>
          <p:nvPr/>
        </p:nvSpPr>
        <p:spPr>
          <a:xfrm>
            <a:off x="1100023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‫‪80%‬‬</a:t>
            </a:r>
            <a:endParaRPr lang="he-IL" sz="2600" dirty="0"/>
          </a:p>
        </p:txBody>
      </p:sp>
      <p:sp>
        <p:nvSpPr>
          <p:cNvPr id="24" name="Text 22"/>
          <p:cNvSpPr/>
          <p:nvPr/>
        </p:nvSpPr>
        <p:spPr>
          <a:xfrm>
            <a:off x="1100023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TB‬. מעל הסף הביצועים נפגעים והסיכון לזמינות המערכת עולה.‬</a:t>
            </a:r>
            <a:endParaRPr lang="he-IL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315968"/>
            <a:ext cx="10545775" cy="1188720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9823" y="45354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4462272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‫למה אי אפשר לחכות‬</a:t>
            </a:r>
            <a:endParaRPr lang="he-IL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4718304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אינה אירוע תקציבי אלא אירוע תפעולי: מעל הסף ביצועי המערכת נפגעים והחשיפה להשבתה עולה. את מועד החצייה איננו שולטים בו — הוא נגזר מקצב הגידול. את מועד הרכש כן. הוצאת ‪PO‬ באוקטובר היא הפעולה היחידה שמבטיחה שהדיסקים יהיו בבית ברגע שהסף נחצה; כל דחייה מעבירה אותנו לדצמבר עם ‪80%‬ ובלי קיבולת נוספת.‬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ל-‪AWS S3‬ רצה במקביל ומקטינה את קצב ההתקרבות לסף, אך היא אינה תחליף לרכש ואינה מבטלת את מועד האוקטובר.‬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‪$145K–165K‬ ב-‪AWS S3 + API‬‬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$1,450–1,650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+ API‬‬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‫אחסון ופעילות שוטפת,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‫בשכבה החמה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— ‪3,024 TB‬ ברוטו — ‪$386‬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‫תמחרנו לפי שכבה חמה — אבל דימות ו-‪Verint‬ הם דאטה ארכיוני‬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30428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54203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79776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77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327355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51129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986723" y="3749040"/>
            <a:ext cx="2232965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34670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4242816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4480560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10475366" y="4718304"/>
            <a:ext cx="744322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431596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1" name="Text 19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ל-‪GB‬ — כ-‪$9K‬ להוצאת ‪100 TB‬ חזרה.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סיכון מהותי ניתן להפחתה — אך שניים מהם חוסמים התחלה‬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1168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23113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15798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 ואישור‬</a:t>
            </a:r>
            <a:endParaRPr lang="he-IL" sz="1250" dirty="0"/>
          </a:p>
        </p:txBody>
      </p:sp>
      <p:sp>
        <p:nvSpPr>
          <p:cNvPr id="8" name="Text 6"/>
          <p:cNvSpPr/>
          <p:nvPr/>
        </p:nvSpPr>
        <p:spPr>
          <a:xfrm>
            <a:off x="8378647" y="245059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‫שם הקובץ ותאריך היצירה משתנים בהעתקה. בית משפט עשוי לדרוש אסמכתא שהתוכן לא שונה.‬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8378647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78647" y="306324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‪manifest‬ חתום ‪SHA-256‬ לכל אובייקט — שם מקורי, שם יעד ותאריך מקור — יחד עם ‪S3 Object Lock‬. הפתרון מחייב אישור מפורש של הלשכה המשפטית לפני ההעתקה הראשונה.‬</a:t>
            </a:r>
            <a:endParaRPr lang="he-IL" sz="1050" dirty="0"/>
          </a:p>
        </p:txBody>
      </p:sp>
      <p:sp>
        <p:nvSpPr>
          <p:cNvPr id="11" name="Shape 9"/>
          <p:cNvSpPr/>
          <p:nvPr/>
        </p:nvSpPr>
        <p:spPr>
          <a:xfrm>
            <a:off x="4474159" y="201168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99655" y="223113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0191" y="215798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ריבונות‬</a:t>
            </a:r>
            <a:endParaRPr lang="he-IL" sz="1250" dirty="0"/>
          </a:p>
        </p:txBody>
      </p:sp>
      <p:sp>
        <p:nvSpPr>
          <p:cNvPr id="14" name="Text 12"/>
          <p:cNvSpPr/>
          <p:nvPr/>
        </p:nvSpPr>
        <p:spPr>
          <a:xfrm>
            <a:off x="4730191" y="245059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‫מידע רפואי ופיננסי מזוהה היוצא משליטת הארגון.‬</a:t>
            </a:r>
            <a:endParaRPr lang="he-IL" sz="1100" dirty="0"/>
          </a:p>
        </p:txBody>
      </p:sp>
      <p:sp>
        <p:nvSpPr>
          <p:cNvPr id="15" name="Shape 13"/>
          <p:cNvSpPr/>
          <p:nvPr/>
        </p:nvSpPr>
        <p:spPr>
          <a:xfrm>
            <a:off x="4730191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0191" y="306324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אזור ‪il-central-1‬ בתל אביב, הצפנה ב-‪KMS‬ עם מפתח בבעלותנו, ואישור ‪DPO‬ ורגולטור לפני ההעתקה.‬</a:t>
            </a:r>
            <a:endParaRPr lang="he-IL" sz="1050" dirty="0"/>
          </a:p>
        </p:txBody>
      </p:sp>
      <p:sp>
        <p:nvSpPr>
          <p:cNvPr id="17" name="Shape 15"/>
          <p:cNvSpPr/>
          <p:nvPr/>
        </p:nvSpPr>
        <p:spPr>
          <a:xfrm>
            <a:off x="825703" y="201168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1199" y="2231136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1735" y="215798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‫אפליקציה · שינוי מצביעים‬</a:t>
            </a:r>
            <a:endParaRPr lang="he-IL" sz="1250" dirty="0"/>
          </a:p>
        </p:txBody>
      </p:sp>
      <p:sp>
        <p:nvSpPr>
          <p:cNvPr id="20" name="Text 18"/>
          <p:cNvSpPr/>
          <p:nvPr/>
        </p:nvSpPr>
        <p:spPr>
          <a:xfrm>
            <a:off x="1081735" y="245059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‫האפליקציות מצביעות היום לנתיב ב-‪ECS‬. מעבר ל-‪S3‬ מחייב פיתוח בצד היישום, לא רק העברת דאטה.‬</a:t>
            </a:r>
            <a:endParaRPr lang="he-IL" sz="1100" dirty="0"/>
          </a:p>
        </p:txBody>
      </p:sp>
      <p:sp>
        <p:nvSpPr>
          <p:cNvPr id="21" name="Shape 19"/>
          <p:cNvSpPr/>
          <p:nvPr/>
        </p:nvSpPr>
        <p:spPr>
          <a:xfrm>
            <a:off x="1081735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1735" y="306324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אפיון מול צוותי הדימות ו-‪Verint‬, הערכת מאמץ פיתוח, ותקופת ביניים שבה שתי הכתובות פעילות במקביל.‬</a:t>
            </a:r>
            <a:endParaRPr lang="he-IL" sz="1050" dirty="0"/>
          </a:p>
        </p:txBody>
      </p:sp>
      <p:sp>
        <p:nvSpPr>
          <p:cNvPr id="23" name="Shape 21"/>
          <p:cNvSpPr/>
          <p:nvPr/>
        </p:nvSpPr>
        <p:spPr>
          <a:xfrm>
            <a:off x="8122615" y="402336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48111" y="4242816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8647" y="416966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‫מיליוני קבצים קטנים‬</a:t>
            </a:r>
            <a:endParaRPr lang="he-IL" sz="1250" dirty="0"/>
          </a:p>
        </p:txBody>
      </p:sp>
      <p:sp>
        <p:nvSpPr>
          <p:cNvPr id="26" name="Text 24"/>
          <p:cNvSpPr/>
          <p:nvPr/>
        </p:nvSpPr>
        <p:spPr>
          <a:xfrm>
            <a:off x="8378647" y="446227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‫הקורפוס הוא מיליוני קבצים קטנים; שמות ומבנה התיקיות ב-‪S3‬ שונים, ואין מיפוי אחד-לאחד.‬</a:t>
            </a:r>
            <a:endParaRPr lang="he-IL" sz="1100" dirty="0"/>
          </a:p>
        </p:txBody>
      </p:sp>
      <p:sp>
        <p:nvSpPr>
          <p:cNvPr id="27" name="Shape 25"/>
          <p:cNvSpPr/>
          <p:nvPr/>
        </p:nvSpPr>
        <p:spPr>
          <a:xfrm>
            <a:off x="8378647" y="501091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8647" y="507492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מיפוי שמות ומבנה מוסכם מראש, ואימות של צוותי האפליקציה שכל מסמך נגיש בשמו החדש. נדרש זמן צוות ייעודי.‬</a:t>
            </a:r>
            <a:endParaRPr lang="he-IL" sz="1050" dirty="0"/>
          </a:p>
        </p:txBody>
      </p:sp>
      <p:sp>
        <p:nvSpPr>
          <p:cNvPr id="29" name="Shape 27"/>
          <p:cNvSpPr/>
          <p:nvPr/>
        </p:nvSpPr>
        <p:spPr>
          <a:xfrm>
            <a:off x="4474159" y="402336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9655" y="4242816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0191" y="416966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 · זמני אחזור‬</a:t>
            </a:r>
            <a:endParaRPr lang="he-IL" sz="1250" dirty="0"/>
          </a:p>
        </p:txBody>
      </p:sp>
      <p:sp>
        <p:nvSpPr>
          <p:cNvPr id="32" name="Text 30"/>
          <p:cNvSpPr/>
          <p:nvPr/>
        </p:nvSpPr>
        <p:spPr>
          <a:xfrm>
            <a:off x="4730191" y="446227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‫אחזור מהענן איטי מאחזור מ-‪ECS‬ מקומי. לטנציה בשליפה עלולה לפגוע בשירות למשתמש הקצה.‬</a:t>
            </a:r>
            <a:endParaRPr lang="he-IL" sz="1100" dirty="0"/>
          </a:p>
        </p:txBody>
      </p:sp>
      <p:sp>
        <p:nvSpPr>
          <p:cNvPr id="33" name="Shape 31"/>
          <p:cNvSpPr/>
          <p:nvPr/>
        </p:nvSpPr>
        <p:spPr>
          <a:xfrm>
            <a:off x="4730191" y="501091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0191" y="507492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מדידת זמני אחזור מול ה-‪SLA‬ הקיים לפני התחייבות, חיבור ‪Direct Connect‬ ולא אינטרנט, וקאשינג מקומי לפריטים חמים.‬</a:t>
            </a:r>
            <a:endParaRPr lang="he-IL" sz="1050" dirty="0"/>
          </a:p>
        </p:txBody>
      </p:sp>
      <p:sp>
        <p:nvSpPr>
          <p:cNvPr id="35" name="Shape 33"/>
          <p:cNvSpPr/>
          <p:nvPr/>
        </p:nvSpPr>
        <p:spPr>
          <a:xfrm>
            <a:off x="825703" y="402336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1199" y="4242816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1735" y="416966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‫כלי ההעברה · ‪POC‬‬</a:t>
            </a:r>
            <a:endParaRPr lang="he-IL" sz="1250" dirty="0"/>
          </a:p>
        </p:txBody>
      </p:sp>
      <p:sp>
        <p:nvSpPr>
          <p:cNvPr id="38" name="Text 36"/>
          <p:cNvSpPr/>
          <p:nvPr/>
        </p:nvSpPr>
        <p:spPr>
          <a:xfrm>
            <a:off x="1081735" y="446227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מוכח בסדר גודל כזה; קבצים עלולים להיכשל בהעברה בלי שהדבר יתגלה.‬</a:t>
            </a:r>
            <a:endParaRPr lang="he-IL" sz="1100" dirty="0"/>
          </a:p>
        </p:txBody>
      </p:sp>
      <p:sp>
        <p:nvSpPr>
          <p:cNvPr id="39" name="Shape 37"/>
          <p:cNvSpPr/>
          <p:nvPr/>
        </p:nvSpPr>
        <p:spPr>
          <a:xfrm>
            <a:off x="1081735" y="501091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" y="507492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קצר על ‪1–2 TB‬ עם ‪AWS DataSync‬: ולידציה מובנית, דוח חריגים לכל ריצה, ומחיקה מ-‪ECS‬ רק לאחר אימות מלא.‬</a:t>
            </a:r>
            <a:endParaRPr lang="he-IL" sz="1050" dirty="0"/>
          </a:p>
        </p:txBody>
      </p:sp>
      <p:sp>
        <p:nvSpPr>
          <p:cNvPr id="41" name="Shape 3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הסיכונים באדום חוסמים התחלה: בלי אישור הלשכה המשפטית ובלי אישור ‪DPO‬ ורגולטור אין העתקה ראשונה. ארבעת הכתומים נסגרים ב-‪POC‬ ובאפיון מול צוותי האפליקציה.‬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שבועות, ומאטה את ההתקרבות לסף ‪80%‬ בדצמבר — בלי להמתין לאספקה.‬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מקטין את היקף ההרחבה הנדרשת.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 — והרכש נעול על אוקטובר‬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— מועד אחרון‬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‫ייצור והובלה אצל 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 — 733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‫הקיבולת הנוספת נכנסת בזמן‬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הוא נקודת האל-חזור: חודשיים אספקה פירושם שכל ‪PO‬ שיוצא אחריו מגיע אחרי חציית ‪80%‬.‬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בזה: עיכוב ב-‪POC‬ אינו מעכב את הרכש, ועיכוב ברכש אינו מעכב את ההעתקה. רק מסלול הרכש נעול על תאריך.‬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‫להוציא ‪PO‬ באוקטובר, ולהתניע את ההעתקה לענן במקביל‬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עד סוף אוקטובר ‪2026‬‬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מחייבים יציאה באוקטובר כדי שהדיסקים יהיו מותקנים בדצמבר, במועד חציית ‪80%‬. אישור התקציב נדרש בספטמבר.‬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ורכש‬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‪IT‬, יועץ משפטי ו-‪DPO‬‬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ו-‪Standard-IA‬ באזור תל אביב.‬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ו-‪FinOps‬‬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תקציב הרכש כדי שה-‪PO‬ יצא באוקטובר, ואישור עקרוני להעתקה.‬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התקציב נדרש בספטמבר כדי שתהליך הרכש יסתיים בהוצאת ‪PO‬ באוקטובר. הצעת המחיר של ‪Dell‬ תרוענן לקראת האישור.‬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ו-Verint לענן</dc:title>
  <dc:subject>PptxGenJS Presentation</dc:subject>
  <dc:creator>Harel IT Infrastructure</dc:creator>
  <cp:lastModifiedBy>Harel IT Infrastructure</cp:lastModifiedBy>
  <cp:revision>1</cp:revision>
  <dcterms:created xsi:type="dcterms:W3CDTF">2026-08-17T15:04:26Z</dcterms:created>
  <dcterms:modified xsi:type="dcterms:W3CDTF">2026-08-17T15:04:26Z</dcterms:modified>
</cp:coreProperties>
</file>