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קיבולת</c:v>
                </c:pt>
              </c:strCache>
            </c:strRef>
          </c:tx>
          <c:spPr>
            <a:solidFill>
              <a:srgbClr val="2F8CFF"/>
            </a:solidFill>
            <a:ln w="31750" cap="flat">
              <a:solidFill>
                <a:srgbClr val="2F8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8CFF"/>
              </a:solidFill>
              <a:ln w="9525" cap="flat">
                <a:solidFill>
                  <a:srgbClr val="2F8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  <c:pt idx="23">
                    <c:v>Mar-27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916</c:v>
                </c:pt>
                <c:pt idx="1">
                  <c:v>916</c:v>
                </c:pt>
                <c:pt idx="2">
                  <c:v>916</c:v>
                </c:pt>
                <c:pt idx="3">
                  <c:v>916</c:v>
                </c:pt>
                <c:pt idx="4">
                  <c:v>916</c:v>
                </c:pt>
                <c:pt idx="5">
                  <c:v>916</c:v>
                </c:pt>
                <c:pt idx="6">
                  <c:v>916</c:v>
                </c:pt>
                <c:pt idx="7">
                  <c:v>916</c:v>
                </c:pt>
                <c:pt idx="8">
                  <c:v>916</c:v>
                </c:pt>
                <c:pt idx="9">
                  <c:v>916</c:v>
                </c:pt>
                <c:pt idx="10">
                  <c:v>916</c:v>
                </c:pt>
                <c:pt idx="11">
                  <c:v>916</c:v>
                </c:pt>
                <c:pt idx="12">
                  <c:v>916</c:v>
                </c:pt>
                <c:pt idx="13">
                  <c:v>916</c:v>
                </c:pt>
                <c:pt idx="14">
                  <c:v>916</c:v>
                </c:pt>
                <c:pt idx="15">
                  <c:v>916</c:v>
                </c:pt>
                <c:pt idx="16">
                  <c:v>916</c:v>
                </c:pt>
                <c:pt idx="17">
                  <c:v>916</c:v>
                </c:pt>
                <c:pt idx="18">
                  <c:v>916</c:v>
                </c:pt>
                <c:pt idx="19">
                  <c:v>916</c:v>
                </c:pt>
                <c:pt idx="20">
                  <c:v>916</c:v>
                </c:pt>
                <c:pt idx="21">
                  <c:v>916</c:v>
                </c:pt>
                <c:pt idx="22">
                  <c:v>916</c:v>
                </c:pt>
                <c:pt idx="23">
                  <c:v>916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סף 80%</c:v>
                </c:pt>
              </c:strCache>
            </c:strRef>
          </c:tx>
          <c:spPr>
            <a:solidFill>
              <a:srgbClr val="FF6B7A"/>
            </a:solidFill>
            <a:ln w="31750" cap="flat">
              <a:solidFill>
                <a:srgbClr val="FF6B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6B7A"/>
              </a:solidFill>
              <a:ln w="9525" cap="flat">
                <a:solidFill>
                  <a:srgbClr val="FF6B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  <c:pt idx="23">
                    <c:v>Mar-27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733</c:v>
                </c:pt>
                <c:pt idx="1">
                  <c:v>733</c:v>
                </c:pt>
                <c:pt idx="2">
                  <c:v>733</c:v>
                </c:pt>
                <c:pt idx="3">
                  <c:v>733</c:v>
                </c:pt>
                <c:pt idx="4">
                  <c:v>733</c:v>
                </c:pt>
                <c:pt idx="5">
                  <c:v>733</c:v>
                </c:pt>
                <c:pt idx="6">
                  <c:v>733</c:v>
                </c:pt>
                <c:pt idx="7">
                  <c:v>733</c:v>
                </c:pt>
                <c:pt idx="8">
                  <c:v>733</c:v>
                </c:pt>
                <c:pt idx="9">
                  <c:v>733</c:v>
                </c:pt>
                <c:pt idx="10">
                  <c:v>733</c:v>
                </c:pt>
                <c:pt idx="11">
                  <c:v>733</c:v>
                </c:pt>
                <c:pt idx="12">
                  <c:v>733</c:v>
                </c:pt>
                <c:pt idx="13">
                  <c:v>733</c:v>
                </c:pt>
                <c:pt idx="14">
                  <c:v>733</c:v>
                </c:pt>
                <c:pt idx="15">
                  <c:v>733</c:v>
                </c:pt>
                <c:pt idx="16">
                  <c:v>733</c:v>
                </c:pt>
                <c:pt idx="17">
                  <c:v>733</c:v>
                </c:pt>
                <c:pt idx="18">
                  <c:v>733</c:v>
                </c:pt>
                <c:pt idx="19">
                  <c:v>733</c:v>
                </c:pt>
                <c:pt idx="20">
                  <c:v>733</c:v>
                </c:pt>
                <c:pt idx="21">
                  <c:v>733</c:v>
                </c:pt>
                <c:pt idx="22">
                  <c:v>733</c:v>
                </c:pt>
                <c:pt idx="23">
                  <c:v>733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תרחיש מואץ</c:v>
                </c:pt>
              </c:strCache>
            </c:strRef>
          </c:tx>
          <c:spPr>
            <a:solidFill>
              <a:srgbClr val="B07CFF"/>
            </a:solidFill>
            <a:ln w="31750" cap="flat">
              <a:solidFill>
                <a:srgbClr val="B07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07CFF"/>
              </a:solidFill>
              <a:ln w="9525" cap="flat">
                <a:solidFill>
                  <a:srgbClr val="B07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  <c:pt idx="23">
                    <c:v>Mar-27</c:v>
                  </c:pt>
                </c:lvl>
              </c:multiLvlStrCache>
            </c:multiLvl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668</c:v>
                </c:pt>
                <c:pt idx="17">
                  <c:v>691</c:v>
                </c:pt>
                <c:pt idx="18">
                  <c:v>714</c:v>
                </c:pt>
                <c:pt idx="19">
                  <c:v>737</c:v>
                </c:pt>
                <c:pt idx="20">
                  <c:v>760</c:v>
                </c:pt>
                <c:pt idx="21">
                  <c:v>783</c:v>
                </c:pt>
                <c:pt idx="22">
                  <c:v>806</c:v>
                </c:pt>
                <c:pt idx="23">
                  <c:v>829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תחזית מגמה</c:v>
                </c:pt>
              </c:strCache>
            </c:strRef>
          </c:tx>
          <c:spPr>
            <a:solidFill>
              <a:srgbClr val="3DD9EB"/>
            </a:solidFill>
            <a:ln w="31750" cap="flat">
              <a:solidFill>
                <a:srgbClr val="3DD9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DD9EB"/>
              </a:solidFill>
              <a:ln w="9525" cap="flat">
                <a:solidFill>
                  <a:srgbClr val="3DD9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  <c:pt idx="23">
                    <c:v>Mar-27</c:v>
                  </c:pt>
                </c:lvl>
              </c:multiLvlStrCache>
            </c:multiLvlStrRef>
          </c:cat>
          <c:val>
            <c:numRef>
              <c:f>Sheet1!$E$2:$E$25</c:f>
              <c:numCache>
                <c:formatCode>General</c:formatCode>
                <c:ptCount val="2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668</c:v>
                </c:pt>
                <c:pt idx="17">
                  <c:v>678</c:v>
                </c:pt>
                <c:pt idx="18">
                  <c:v>688</c:v>
                </c:pt>
                <c:pt idx="19">
                  <c:v>698</c:v>
                </c:pt>
                <c:pt idx="20">
                  <c:v>708</c:v>
                </c:pt>
                <c:pt idx="21">
                  <c:v>718</c:v>
                </c:pt>
                <c:pt idx="22">
                  <c:v>727</c:v>
                </c:pt>
                <c:pt idx="23">
                  <c:v>737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בשימוש</c:v>
                </c:pt>
              </c:strCache>
            </c:strRef>
          </c:tx>
          <c:spPr>
            <a:solidFill>
              <a:srgbClr val="FF9F43"/>
            </a:solidFill>
            <a:ln w="31750" cap="flat">
              <a:solidFill>
                <a:srgbClr val="FF9F4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9F43"/>
              </a:solidFill>
              <a:ln w="9525" cap="flat">
                <a:solidFill>
                  <a:srgbClr val="FF9F4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  <c:pt idx="23">
                    <c:v>Mar-27</c:v>
                  </c:pt>
                </c:lvl>
              </c:multiLvlStrCache>
            </c:multiLvlStrRef>
          </c:cat>
          <c:val>
            <c:numRef>
              <c:f>Sheet1!$F$2:$F$25</c:f>
              <c:numCache>
                <c:formatCode>General</c:formatCode>
                <c:ptCount val="24"/>
                <c:pt idx="0">
                  <c:v>516</c:v>
                </c:pt>
                <c:pt idx="1">
                  <c:v>520</c:v>
                </c:pt>
                <c:pt idx="2">
                  <c:v>526</c:v>
                </c:pt>
                <c:pt idx="3">
                  <c:v>530</c:v>
                </c:pt>
                <c:pt idx="4">
                  <c:v>549</c:v>
                </c:pt>
                <c:pt idx="5">
                  <c:v>560</c:v>
                </c:pt>
                <c:pt idx="6">
                  <c:v>569</c:v>
                </c:pt>
                <c:pt idx="7">
                  <c:v>577</c:v>
                </c:pt>
                <c:pt idx="8">
                  <c:v>605</c:v>
                </c:pt>
                <c:pt idx="9">
                  <c:v>628</c:v>
                </c:pt>
                <c:pt idx="10">
                  <c:v>642</c:v>
                </c:pt>
                <c:pt idx="11">
                  <c:v>650</c:v>
                </c:pt>
                <c:pt idx="12">
                  <c:v>660</c:v>
                </c:pt>
                <c:pt idx="13">
                  <c:v>668</c:v>
                </c:pt>
                <c:pt idx="14">
                  <c:v>680</c:v>
                </c:pt>
                <c:pt idx="15">
                  <c:v>679</c:v>
                </c:pt>
                <c:pt idx="16">
                  <c:v>668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3304A"/>
            </a:solidFill>
            <a:prstDash val="solid"/>
            <a:round/>
          </a:ln>
        </c:spPr>
        <c:txPr>
          <a:bodyPr rot="18000000"/>
          <a:lstStyle/>
          <a:p>
            <a:pPr>
              <a:defRPr sz="85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0"/>
          <c:min val="450"/>
        </c:scaling>
        <c:delete val="0"/>
        <c:axPos val="l"/>
        <c:majorGridlines>
          <c:spPr>
            <a:ln w="12700" cap="flat">
              <a:solidFill>
                <a:srgbClr val="1C27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solidFill>
          <a:srgbClr val="0E1422"/>
        </a:solidFill>
        <a:ln>
          <a:noFill/>
        </a:ln>
        <a:effectLst/>
      </c:spPr>
    </c:plotArea>
    <c:plotVisOnly val="1"/>
    <c:dispBlanksAs val="gap"/>
  </c:chart>
  <c:spPr>
    <a:solidFill>
      <a:srgbClr val="0E1422"/>
    </a:solidFill>
    <a:ln w="12700" cap="flat">
      <a:solidFill>
        <a:srgbClr val="0E1422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עלות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&quot;$&quot;0.0&quot;K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Dell ECS On-Prem</c:v>
                  </c:pt>
                  <c:pt idx="1">
                    <c:v>AWS S3 Standard</c:v>
                  </c:pt>
                  <c:pt idx="2">
                    <c:v>AWS S3 + API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115.8</c:v>
                </c:pt>
                <c:pt idx="1">
                  <c:v>146.5</c:v>
                </c:pt>
                <c:pt idx="2">
                  <c:v>155</c:v>
                </c:pt>
              </c:numCache>
            </c:numRef>
          </c:val>
        </c:ser>
        <c:dLbls>
          <c:numFmt formatCode="&quot;$&quot;0.0&quot;K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3304A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0"/>
        <c:axPos val="l"/>
        <c:majorGridlines>
          <c:spPr>
            <a:ln w="12700" cap="flat">
              <a:solidFill>
                <a:srgbClr val="1C27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60"/>
      </c:valAx>
      <c:spPr>
        <a:solidFill>
          <a:srgbClr val="0E1422"/>
        </a:solidFill>
        <a:ln>
          <a:noFill/>
        </a:ln>
        <a:effectLst/>
      </c:spPr>
    </c:plotArea>
    <c:plotVisOnly val="1"/>
    <c:dispBlanksAs val="span"/>
  </c:chart>
  <c:spPr>
    <a:solidFill>
      <a:srgbClr val="0E1422"/>
    </a:solidFill>
    <a:ln w="12700" cap="flat">
      <a:solidFill>
        <a:srgbClr val="0E1422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-1005840"/>
            <a:ext cx="4754880" cy="4754880"/>
          </a:xfrm>
          <a:prstGeom prst="rect">
            <a:avLst/>
          </a:prstGeom>
          <a:solidFill>
            <a:srgbClr val="0C1322"/>
          </a:solidFill>
          <a:ln w="12700">
            <a:solidFill>
              <a:srgbClr val="0C13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280160" y="3017520"/>
            <a:ext cx="3108960" cy="3108960"/>
          </a:xfrm>
          <a:prstGeom prst="rect">
            <a:avLst/>
          </a:prstGeom>
          <a:solidFill>
            <a:srgbClr val="0A101C"/>
          </a:solidFill>
          <a:ln w="12700">
            <a:solidFill>
              <a:srgbClr val="0A10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8132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200" b="1" spc="12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‏הראל · תשתיות ⁦IT⁩ · ניהול קיבולת אחסון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‏העתקת מסמכי דימות ושיחות לענן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‏מ-⁦ECS On-Prem⁩ ל-⁦AWS S3⁩ · מצגת לקבלת החלטה · אוגוסט ⁦2026⁩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109509" y="3950208"/>
            <a:ext cx="3259226" cy="1170432"/>
          </a:xfrm>
          <a:prstGeom prst="roundRect">
            <a:avLst>
              <a:gd name="adj" fmla="val 3906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65541" y="4078224"/>
            <a:ext cx="27471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‏ניצולת האחסון היום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365541" y="4315968"/>
            <a:ext cx="27471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72.9%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8365541" y="4745736"/>
            <a:ext cx="27471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‏⁦668 TB⁩ מתוך ⁦916 TB⁩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66234" y="3950208"/>
            <a:ext cx="3259226" cy="1170432"/>
          </a:xfrm>
          <a:prstGeom prst="roundRect">
            <a:avLst>
              <a:gd name="adj" fmla="val 3906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22266" y="4078224"/>
            <a:ext cx="27471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‏המרווח עד סף ⁦80%⁩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22266" y="4315968"/>
            <a:ext cx="27471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TB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722266" y="4745736"/>
            <a:ext cx="27471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‏כ-⁦6⁩ חודשים בקצב המגמה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2960" y="3950208"/>
            <a:ext cx="3259226" cy="1170432"/>
          </a:xfrm>
          <a:prstGeom prst="roundRect">
            <a:avLst>
              <a:gd name="adj" fmla="val 3906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78992" y="4078224"/>
            <a:ext cx="27471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‏עלות ⁦100 TB⁩ ל-⁦5⁩ שנים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78992" y="4315968"/>
            <a:ext cx="27471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$116K–141K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078992" y="4745736"/>
            <a:ext cx="27471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‏⁦On-Prem⁩ מול ⁦AWS S3 Standard⁩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2960" y="5870448"/>
            <a:ext cx="10543032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60167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‏⁦Harel IT Infrastructure⁩ · חסוי · הנתונים נכונים לאוגוסט ⁦2026⁩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100" b="1" spc="12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‏ההחלטה הנדרשת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‏שתי החלטות נפרדות — ורק אחת מהן דחופה היום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29807" y="2103120"/>
            <a:ext cx="5138928" cy="2267712"/>
          </a:xfrm>
          <a:prstGeom prst="roundRect">
            <a:avLst>
              <a:gd name="adj" fmla="val 2016"/>
            </a:avLst>
          </a:prstGeom>
          <a:solidFill>
            <a:srgbClr val="182133"/>
          </a:solidFill>
          <a:ln w="12700">
            <a:solidFill>
              <a:srgbClr val="2E5F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54335" y="234086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540703" y="2359152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‏העתקת מסמכי ⁦Commit⁩ ל-⁦AWS S3⁩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6540703" y="2852928"/>
            <a:ext cx="45171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‏מפנה שטח ב-⁦ECS⁩ תוך שבועות, ללא ⁦PO⁩ וללא זמן אספקה. זה המנוף היחיד שזמין לפני דצמבר ⁦2026⁩, והוא אינו תלוי בשרשרת האספקה של ⁦Dell⁩. החשיפה התקציבית המיידית מוגבלת ל-⁦POC⁩ בהיקף ⁦1–2 TB⁩ בלבד.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40703" y="3767328"/>
            <a:ext cx="4517136" cy="457200"/>
          </a:xfrm>
          <a:prstGeom prst="roundRect">
            <a:avLst>
              <a:gd name="adj" fmla="val 24000"/>
            </a:avLst>
          </a:prstGeom>
          <a:solidFill>
            <a:srgbClr val="13303A"/>
          </a:solidFill>
          <a:ln w="12700">
            <a:solidFill>
              <a:srgbClr val="133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87007" y="3767328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‏נדרש היום: אישור עקרוני + תקציב ⁦POC⁩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2103120"/>
            <a:ext cx="5138928" cy="2267712"/>
          </a:xfrm>
          <a:prstGeom prst="roundRect">
            <a:avLst>
              <a:gd name="adj" fmla="val 2016"/>
            </a:avLst>
          </a:prstGeom>
          <a:solidFill>
            <a:srgbClr val="182133"/>
          </a:solidFill>
          <a:ln w="12700">
            <a:solidFill>
              <a:srgbClr val="5A42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47488" y="234086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133856" y="2359152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‏הרחבת דיסקים ב-⁦Dell ECS On-Prem⁩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133856" y="2852928"/>
            <a:ext cx="45171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‏זמן אספקה כחודשיים. אינה דחופה השבוע — אך אסור שתיקבע לפי תאריך בלוח השנה, אלא לפי טריגר ניצולת שמבטיח חודשיים אספקה בכל תרחיש. הצעת ⁦Dell⁩ הנוכחית עומדת על ⁦$695,520⁩ עבור ⁦600 TB⁩ לוגי.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133856" y="3767328"/>
            <a:ext cx="4517136" cy="457200"/>
          </a:xfrm>
          <a:prstGeom prst="roundRect">
            <a:avLst>
              <a:gd name="adj" fmla="val 24000"/>
            </a:avLst>
          </a:prstGeom>
          <a:solidFill>
            <a:srgbClr val="3A2A12"/>
          </a:solidFill>
          <a:ln w="12700">
            <a:solidFill>
              <a:srgbClr val="3A2A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80160" y="3767328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‏נדרש היום: אישור טריגר רכש בניצולת ⁦75%⁩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470916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‏שתי ההחלטות אינן חלופיות. ההעתקה לענן דוחה ומקטינה את הרכש — היא אינה מבטלת אותו.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‏אין צורך באישור תקציב סופי לרכש בישיבה זו. הנתון החסר להחלטה מלאה הוא גודל קורפוס ה-⁦Commit⁩ — כמה ⁦TB⁩ באמת יפונו.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100" b="1" spc="12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‏המצב היום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‏⁦668 TB⁩ מתוך ⁦916 TB⁩ — והגידול נעצר בשלושת החודשים האחרונים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57016" y="2084832"/>
            <a:ext cx="50292" cy="10607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6654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72.9%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252374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‏ניצולת נוכחית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779776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‏אוגוסט ⁦2026⁩ · ⁦668 TB⁩ מתוך ⁦916 TB⁩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557016" y="3419856"/>
            <a:ext cx="50292" cy="106070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40156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TB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22960" y="3858768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‏מרווח עד סף ⁦80%⁩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‏הסף עומד על ⁦733 TB⁩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557016" y="4754880"/>
            <a:ext cx="50292" cy="1060704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73659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9.9 TB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22960" y="519379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‏גידול חודשי · ⁦12⁩ חודשים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5449824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‏אך מאי–אוגוסט ⁦2026⁩: ללא גידול נטו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913632" y="1828800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‏ניצולת אחסון ותחזית · ⁦TB⁩</a:t>
            </a:r>
            <a:endParaRPr lang="en-US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3913632" y="2103120"/>
          <a:ext cx="74523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11222431" y="5481828"/>
            <a:ext cx="146304" cy="10058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805111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‏בשימוש בפועל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741103" y="5481828"/>
            <a:ext cx="146304" cy="10058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23783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‏תחזית מגמה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259775" y="5481828"/>
            <a:ext cx="146304" cy="100584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842455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‏תרחיש מואץ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778447" y="5481828"/>
            <a:ext cx="146304" cy="100584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361127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‏סף ⁦80%⁩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297119" y="5481828"/>
            <a:ext cx="146304" cy="100584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879799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‏קיבולת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‏ההרחבה הקודמת העלתה את הקיבולת מ-⁦696 TB⁩ ל-⁦916 TB⁩ באפריל ⁦2025⁩ — ⁦220 TB⁩, כלומר כ-⁦22⁩ חודשי מרווח בקצב המגמה הנוכחי.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‏תיקון לתחזית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‏סף ⁦80%⁩ לא ייחצה באוקטובר ⁦2026⁩ — אלא בין נובמבר ⁦2026⁩ למרץ ⁦2027⁩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066544"/>
            <a:ext cx="3246120" cy="1938528"/>
          </a:xfrm>
          <a:prstGeom prst="roundRect">
            <a:avLst>
              <a:gd name="adj" fmla="val 235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11535" y="2340864"/>
            <a:ext cx="118872" cy="118872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96935" y="226771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‏תרחיש מואץ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396935" y="2560320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‏כ-⁦23 TB⁩ לחודש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396935" y="2889504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‏נובמבר ⁦2026⁩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8396935" y="343814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‏גבול אי-הוודאות העליון של הדשבורד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74159" y="2066544"/>
            <a:ext cx="3246120" cy="1938528"/>
          </a:xfrm>
          <a:prstGeom prst="roundRect">
            <a:avLst>
              <a:gd name="adj" fmla="val 235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63079" y="2340864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8479" y="226771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‏תחזית הדשבורד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748479" y="2560320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‏כ-⁦14 TB⁩ לחודש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748479" y="2889504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‏ינואר ⁦2027⁩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4748479" y="343814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‏שיפוע סדרת התחזית הקיימת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5703" y="2066544"/>
            <a:ext cx="3246120" cy="1938528"/>
          </a:xfrm>
          <a:prstGeom prst="roundRect">
            <a:avLst>
              <a:gd name="adj" fmla="val 235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4623" y="2340864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00023" y="226771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‏תרחיש מגמה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00023" y="2560320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‏⁦9.9 TB⁩ לחודש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00023" y="2889504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‏מרץ ⁦2027⁩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100023" y="343814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‏ממוצע ⁦12⁩ החודשים האחרונים בפועל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22960" y="4261104"/>
            <a:ext cx="10545775" cy="1243584"/>
          </a:xfrm>
          <a:prstGeom prst="roundRect">
            <a:avLst>
              <a:gd name="adj" fmla="val 3676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29823" y="448056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7280" y="4407408"/>
            <a:ext cx="9722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‏מה שהדשבורד מציג כיום — ומה שגוי בו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097280" y="4663440"/>
            <a:ext cx="999713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‏הדשבורד מסמן את אוקטובר ⁦2026⁩ כמועד חציית ⁦80%⁩ ומציין ⁦733 TB⁩. סדרת התחזית שבתוכו מגיעה באוקטובר ל-⁦695 TB⁩ בלבד — ⁦75.9%⁩ ניצולת. אוקטובר הוא מועד היעד להוצאת הרכש, לא מועד חציית הסף; שני הקווים מצוירים על אותו חודש וזה מקור הבלבול. בנוסף, הדשבורד מציג ניצולת של ⁦75%⁩ במקום ⁦72.9%⁩, ומציג תחזית של ⁦710 TB⁩ לדצמבר בעוד סדרת הנתונים שלו עצמה נותנת ⁦725 TB⁩.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‏המלצה: להחליף יעד-תאריך בטריגר ניצולת. הוצאת ⁦PO⁩ כאשר הניצולת מגיעה ל-⁦75%⁩ (⁦687 TB⁩) משאירה לפחות חודשיים אספקה גם בתרחיש המואץ. היום חסרים ⁦19 TB⁩ לטריגר.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100" b="1" spc="12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‏השוואת עלויות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‏⁦100 TB⁩ ל-⁦5⁩ שנים: ⁦$116K⁩ ב-⁦On-Prem⁩ מול ⁦$138K–165K⁩ ב-⁦AWS S3 Standard⁩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913632" y="1847088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‏עלות ⁦100 TB⁩ לחמש שנים · אלפי דולרים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913632" y="2121408"/>
          <a:ext cx="74523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3557016" y="2084832"/>
            <a:ext cx="50292" cy="1060704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06654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$1,158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22960" y="252374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‏לכל ⁦TB⁩ לוגי · ⁦Dell ECS⁩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22960" y="2779776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‏כולל ⁦Replica x3⁩ בין שלושה אתרים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557016" y="3419856"/>
            <a:ext cx="50292" cy="106070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40156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$1,380–1,650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2960" y="3858768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‏לכל ⁦TB⁩ · ⁦AWS S3 Standard⁩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22960" y="4114800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‏עמידות מובנית, ללא כפל אחסון מצידנו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557016" y="4754880"/>
            <a:ext cx="50292" cy="10607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473659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16%–30%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2960" y="519379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‏יתרון ל-⁦Dell ECS⁩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822960" y="5449824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‏מול ⁦S3 Standard⁩ בלבד — ראו השקף הבא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‏מקור ⁦On-Prem⁩: הצעת ⁦Dell⁩ — ⁦$695,520⁩ עבור ⁦1,800 TB⁩ נטו (⁦3,024 TB⁩ ברוטו), ⁦$386⁩ ל-⁦TB⁩ נטו, בהוספת דיסקים ל-⁦21 nodes⁩ קיימים ללא ⁦nodes⁩ חדשים. שני הצדדים מנורמלים ל-⁦100 TB⁩ לוגי.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100" b="1" spc="12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‏מה שההשוואה מפספסת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‏השוואנו מול ⁦S3 Standard⁩ — אבל דימות ושיחות הם דאטה ארכיוני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55080" y="193852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‏עלות ⁦100 TB⁩ לחמש שנים לפי שכבת אחסון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836408" y="2249424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‏⁦S3 Standard⁩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836408" y="2487168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‏⁦$0.023⁩ / ⁦GB⁩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836408" y="2724912"/>
            <a:ext cx="3383280" cy="173736"/>
          </a:xfrm>
          <a:prstGeom prst="roundRect">
            <a:avLst>
              <a:gd name="adj" fmla="val 210526"/>
            </a:avLst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2322576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$141K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836408" y="2999232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‏⁦Dell ECS On-Prem⁩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836408" y="323697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‏⁦capex⁩ דיסקים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445398" y="3474720"/>
            <a:ext cx="2774290" cy="173736"/>
          </a:xfrm>
          <a:prstGeom prst="roundRect">
            <a:avLst>
              <a:gd name="adj" fmla="val 210526"/>
            </a:avLst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3072384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$116K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836408" y="3749040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‏⁦S3 Standard-IA⁩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836408" y="3986784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‏⁦$0.0125⁩ / ⁦GB⁩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392717" y="4224528"/>
            <a:ext cx="1826971" cy="173736"/>
          </a:xfrm>
          <a:prstGeom prst="roundRect">
            <a:avLst>
              <a:gd name="adj" fmla="val 210526"/>
            </a:avLst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3822192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836408" y="449884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‏⁦S3 Glacier Instant Retrieval⁩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36408" y="4736592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‏⁦$0.004⁩ / ⁦GB⁩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644530" y="4974336"/>
            <a:ext cx="575158" cy="173736"/>
          </a:xfrm>
          <a:prstGeom prst="roundRect">
            <a:avLst>
              <a:gd name="adj" fmla="val 210526"/>
            </a:avLst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457200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822960" y="2286000"/>
            <a:ext cx="5212080" cy="1207008"/>
          </a:xfrm>
          <a:prstGeom prst="roundRect">
            <a:avLst>
              <a:gd name="adj" fmla="val 303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32120" y="2578608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33856" y="2523744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‏מה שמוזיל את הענן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133856" y="2871216"/>
            <a:ext cx="4590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‏מסמכי ⁦Commit⁩ נכתבים פעם אחת ונקראים לעיתים נדירות. ב-⁦Glacier Instant Retrieval⁩, בזמן אחזור של מילישניות, העלות יורדת לכ-⁦$25K⁩ — פי ⁦4.6⁩ זול מ-⁦On-Prem⁩, ולא יקר ממנו ב-⁦30%⁩.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22960" y="3712464"/>
            <a:ext cx="5212080" cy="1463040"/>
          </a:xfrm>
          <a:prstGeom prst="roundRect">
            <a:avLst>
              <a:gd name="adj" fmla="val 25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32120" y="4005072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33856" y="395020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‏מה שמייקר אותו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1133856" y="4297680"/>
            <a:ext cx="45902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‏יציאת נתונים ⁦$0.09⁩ ל-⁦GB⁩ (כ-⁦$9K⁩ להוצאת ⁦100 TB⁩ חזרה), דמי אחזור ⁦$0.03⁩ ל-⁦GB⁩ ב-⁦Glacier IR⁩, מינימום ⁦90⁩ יום אחסון, וחיוב מינימלי של ⁦128 KB⁩ לאובייקט — משמעותי בדימות עם ריבוי קבצים קטנים. מחירי אזור תל אביב גבוהים ב-⁦10%–15%⁩ ממחירון ⁦us-east-1⁩.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‏הנתון שחסר להכרעה: פילוח גודל-אובייקט ותדירות אחזור של קורפוס ה-⁦Commit⁩. הוא שקובע איזו שכבה נכונה, והוא אינו קיים היום. המחירים הם מחירון רשימה, ללא הנחות נפח או התחייבות.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‏סיכונים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‏כל סיכון מהותי ניתן להפחתה — אך שניים מהם חוסמים התחלה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048256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48111" y="22860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78647" y="2212848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‏משפטי · קבילות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378647" y="2505456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‏תאריך היצירה של המסמך משתנה בהעתקה; בית משפט עשוי לדרוש אסמכתא שהמסמך לא שונה.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378647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78647" y="3063240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‏מיטיגציה: ⁦S3 Object Lock⁩ במצב ⁦Compliance, manifest⁩ חתום ⁦SHA-256⁩ לכל אובייקט, ושימור ה-⁦metadata⁩ המקורי כ-⁦object metadata⁩.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74159" y="2048256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99655" y="22860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30191" y="2212848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‏רגולציה · ריבונות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730191" y="2505456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‏מידע רפואי ופיננסי מזוהה היוצא משליטת הארגון.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30191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30191" y="3063240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‏מיטיגציה: אזור ⁦il-central-1⁩ (תל אביב), הצפנה ב-⁦KMS⁩ עם מפתח בבעלותנו, ואישור ⁦DPO⁩ ורגולטור לפני ההעתקה הראשונה.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5703" y="2048256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1199" y="2286000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81735" y="2212848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‏טכני · שלמות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081735" y="2505456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‏אין כלי העתקה ייעודי; חלק מהקבצים עלולים להיכשל בהעברה.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81735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81735" y="3063240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‏מיטיגציה: ⁦AWS DataSync⁩ עם ולידציה מובנית, דוח חריגים לכל ריצה, ומחיקה מ-⁦ECS⁩ רק לאחר ולידציה מלאה.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122615" y="4041648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48111" y="4279392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78647" y="4206240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‏ביצועים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378647" y="4498848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‏זמני אחזור בענן נמוכים יותר; למערכת הדימות אין ניסיון מול ענן.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378647" y="4992624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78647" y="5056632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‏מיטיגציה: ⁦POC⁩ על ⁦1–2 TB⁩ לפני התחייבות, חיבור ⁦Direct Connect⁩ ולא אינטרנט, ומדידת זמני אחזור מול ה-⁦SLA⁩ הקיים.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474159" y="4041648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299655" y="4279392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30191" y="4206240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‏לוחות זמנים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730191" y="4498848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‏ההעתקה אורכת שבועות ותלויה בפס רוחב.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730191" y="4992624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30191" y="5056632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‏מיטיגציה: העברה ראשונית ב-⁦AWS Snowball⁩. ההעתקה אינה על הנתיב הקריטי של הרכש — שני המסלולים רצים במקביל.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25703" y="4041648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1199" y="4279392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81735" y="4206240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‏כלכלי · ⁦Lock-in⁩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1081735" y="4498848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‏יציאה מהענן עולה ⁦$0.09⁩ ל-⁦GB⁩; מעבר ממודל ⁦capex⁩ למודל ⁦opex⁩.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81735" y="4992624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81735" y="5056632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‏מיטיגציה: תמחור תרחיש יציאה מראש, התחלה בקורפוס אחד בלבד, ואישור תקציב ⁦opex⁩ רב-שנתי.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‏שני הסיכונים המסומנים באדום — קבילות משפטית וריבונות נתונים — חוסמים התחלה. יש לסגור אותם בספטמבר, במקביל ל-⁦POC⁩ ולא אחריו.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100" b="1" spc="12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‏מה זה נותן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‏המנוף היחיד על השולחן שאינו תלוי בזמן אספקה של חודשיים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48111" y="237744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78647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‏פינוי שטח מיידי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378647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‏העתקת קורפוס ה-⁦Commit⁩ מפנה שטח ב-⁦ECS⁩ תוך שבועות. זו האפשרות היחידה שמשפיעה על הניצולת לפני דצמבר ⁦2026⁩.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74159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99655" y="237744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0191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‏דחיית והקטנת ⁦capex⁩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730191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‏כל ⁦TB⁩ שמפונה דוחה את מועד הרכש ומקטין את היקפו. הצעת ⁦Dell⁩ הנוכחית עומדת על ⁦$695,520⁩ עבור ⁦600 TB⁩ לוגי.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5703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1199" y="237744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81735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‏ללא זמן אספקה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081735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‏אין ⁦PO⁩, אין דיסקים, אין חלון התקנה. הקיבולת זמינה ביום הראשון, ומשלמים רק על מה שנצרך בפועל — בלי לרכוש מראש קיבולת לשלוש שנים.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22615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48111" y="4187952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78647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‏⁦Lifecycle⁩ אוטומטי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378647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‏מדיניות שכבות מעבירה דאטה מתקרר לשכבה זולה יותר לאורך זמן — הוזלה שנמשכת ללא התערבות תפעולית ובלי פרויקט נוסף.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474159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99655" y="4187952"/>
            <a:ext cx="118872" cy="118872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30191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‏עמידות מובנית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730191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‏⁦11⁩ תשיעיות עמידות ופיזור בין אזורי זמינות, במקום שכפול משולש שאנחנו מתחזקים ומשלמים עליו פי שלושה בשלושה אתרים.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25703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1199" y="4187952"/>
            <a:ext cx="118872" cy="118872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81735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‏בסיס לשירותי ⁦AI⁩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081735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‏תמלול שיחות וניתוח דימות כשירות מנוהל מעל אותו אחסון — יכולת שאינה קיימת על ⁦ECS⁩ היום ואינה דורשת פרויקט תשתית נפרד.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‏התועלת נמדדת ב-⁦TB⁩ שפונו בפועל ובחודשי הדחייה שהושגו לרכש — לא באחוזי חיסכון תיאורטיים.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100" b="1" spc="12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‏ציר זמן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‏שני מסלולים במקביל: העתקה לענן מתחילה מיד, רכש נקבע לפי טריגר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999232"/>
            <a:ext cx="10545775" cy="27432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20515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‏אוגוסט ⁦26⁩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1204143" y="2935224"/>
            <a:ext cx="155448" cy="15544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20515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21683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‏אישור עקרוני להעתקה</a:t>
            </a:r>
            <a:endParaRPr lang="en-US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פילוח קורפוס ה-⁦Commit⁩</a:t>
            </a:r>
            <a:endParaRPr lang="en-US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הגדרת קריטריוני קבילות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271126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‏ספטמבר ⁦26⁩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054755" y="2935224"/>
            <a:ext cx="155448" cy="15544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71126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72294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‏⁦POC⁩ על ⁦1–2 TB⁩</a:t>
            </a:r>
            <a:endParaRPr lang="en-US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אישור ⁦DPO⁩ ורגולטור</a:t>
            </a:r>
            <a:endParaRPr lang="en-US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הקמת ⁦Direct Connect⁩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121737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‏אוקטובר ⁦26⁩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905366" y="2935224"/>
            <a:ext cx="155448" cy="155448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1737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22905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‏תחילת העתקה לייצור</a:t>
            </a:r>
            <a:endParaRPr lang="en-US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ולידציה ראשונה ודוח חריגים</a:t>
            </a:r>
            <a:endParaRPr lang="en-US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מדידת ניצולת מול טריגר ⁦75%⁩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972349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‏נוב׳–דצמ׳ ⁦26⁩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5977" y="2935224"/>
            <a:ext cx="155448" cy="15544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2349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73517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‏המשך העתקה ומחיקה מ-⁦ECS⁩</a:t>
            </a:r>
            <a:endParaRPr lang="en-US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טריגר רכש צפוי · ⁦PO⁩ ל-⁦Dell⁩</a:t>
            </a:r>
            <a:endParaRPr lang="en-US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דוח שלמות מסכם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22960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‏ינואר–מרץ ⁦27⁩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06589" y="2935224"/>
            <a:ext cx="155448" cy="15544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24128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‏אספקת דיסקים והתקנה</a:t>
            </a:r>
            <a:endParaRPr lang="en-US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צפי חציית ⁦80%⁩ בתרחיש המגמה</a:t>
            </a:r>
            <a:endParaRPr lang="en-US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החלטה על היקף הרחבה נוסף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22960" y="4809744"/>
            <a:ext cx="10545775" cy="566928"/>
          </a:xfrm>
          <a:prstGeom prst="roundRect">
            <a:avLst>
              <a:gd name="adj" fmla="val 12903"/>
            </a:avLst>
          </a:prstGeom>
          <a:solidFill>
            <a:srgbClr val="13303A"/>
          </a:solidFill>
          <a:ln w="12700">
            <a:solidFill>
              <a:srgbClr val="1330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966399" y="502920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97280" y="4809744"/>
            <a:ext cx="9722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‏טריגר הרכש אינו תאריך: ⁦PO⁩ יוצא כאשר הניצולת מגיעה ל-⁦75%⁩ (⁦687 TB⁩). היום ⁦72.9%⁩ — מרחק של ⁦19 TB⁩.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‏המסלולים אינם תלויים זה בזה. עיכוב ב-⁦POC⁩ אינו מעכב את הרכש, ועיכוב ברכש אינו מעכב את ההעתקה.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100" b="1" spc="12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‏המלצה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‏לאשר את ההעתקה עכשיו, ולקשור את הרכש לניצולת ולא לתאריך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2996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82351" y="208483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383280" y="213969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‏אישור עקרוני להעתקת מסמכי ⁦Commit⁩ ל-⁦AWS S3⁩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383280" y="245059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‏התנעה באוגוסט. תקציב ⁦POC⁩ על ⁦1–2 TB⁩, וסגירת חסמי הקבילות המשפטית והריבונות בספטמבר במקביל.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78992" y="217627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‏אחריות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78992" y="241401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‏תשתיות ⁦IT⁩ + יועץ משפטי + ⁦DPO⁩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308152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82351" y="313639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383280" y="319125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‏טריגר רכש בניצולת ⁦75%⁩ במקום תאריך יעד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383280" y="350215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‏⁦PO⁩ ל-⁦Dell⁩ יוצא כאשר הניצולת מגיעה ל-⁦687 TB⁩. זה מבטיח חודשיים אספקה גם בתרחיש המואץ, ואינו מקדים רכש שאולי לא יידרש.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078992" y="322783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‏אחריות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78992" y="346557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‏תשתיות ⁦IT⁩ + רכש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413308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82351" y="418795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3383280" y="424281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‏תמחור מחדש של חלופת הענן לפי שכבת אחסון נכונה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3383280" y="455371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‏פילוח גודל-אובייקט ותדירות אחזור של הקורפוס, ותמחור מול ⁦Glacier Instant Retrieval⁩ באזור תל אביב — לא מול ⁦S3 Standard⁩.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78992" y="427939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‏אחריות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78992" y="451713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‏תשתיות ⁦IT⁩ + ⁦FinOps⁩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22960" y="5175504"/>
            <a:ext cx="10545775" cy="548640"/>
          </a:xfrm>
          <a:prstGeom prst="roundRect">
            <a:avLst>
              <a:gd name="adj" fmla="val 13333"/>
            </a:avLst>
          </a:prstGeom>
          <a:solidFill>
            <a:srgbClr val="14302A"/>
          </a:solidFill>
          <a:ln w="12700">
            <a:solidFill>
              <a:srgbClr val="2A6A5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66399" y="5385816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7280" y="5175504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‏נדרש היום: אישור עקרוני להעתקה, תקציב ⁦POC⁩, ואישור טריגר הרכש ב-⁦75%⁩.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‏החלטת התקציב המלאה לרכש תובא לאישור כאשר הטריגר ייחצה, עם הצעת מחיר מעודכנת מ-⁦Dell⁩ ותמחור ענן מעודכן לצידה.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העתקת מסמכי דימות ושיחות לענן</dc:title>
  <dc:subject>PptxGenJS Presentation</dc:subject>
  <dc:creator>Harel IT Infrastructure</dc:creator>
  <cp:lastModifiedBy>Harel IT Infrastructure</cp:lastModifiedBy>
  <cp:revision>1</cp:revision>
  <dcterms:created xsi:type="dcterms:W3CDTF">2026-08-17T10:30:34Z</dcterms:created>
  <dcterms:modified xsi:type="dcterms:W3CDTF">2026-08-17T10:30:34Z</dcterms:modified>
</cp:coreProperties>
</file>