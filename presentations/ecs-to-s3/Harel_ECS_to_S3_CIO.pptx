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קיבולת</c:v>
                </c:pt>
              </c:strCache>
            </c:strRef>
          </c:tx>
          <c:spPr>
            <a:solidFill>
              <a:srgbClr val="2F8CFF"/>
            </a:solidFill>
            <a:ln w="31750" cap="flat">
              <a:solidFill>
                <a:srgbClr val="2F8CF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F8CFF"/>
              </a:solidFill>
              <a:ln w="9525" cap="flat">
                <a:solidFill>
                  <a:srgbClr val="2F8C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Sheet1!$A$2:$A$24</c:f>
              <c:multiLvlStrCache>
                <c:ptCount val="23"/>
                <c:lvl>
                  <c:pt idx="0">
                    <c:v>Apr-25</c:v>
                  </c:pt>
                  <c:pt idx="1">
                    <c:v>May-25</c:v>
                  </c:pt>
                  <c:pt idx="2">
                    <c:v>Jun-25</c:v>
                  </c:pt>
                  <c:pt idx="3">
                    <c:v>Jul-25</c:v>
                  </c:pt>
                  <c:pt idx="4">
                    <c:v>Aug-25</c:v>
                  </c:pt>
                  <c:pt idx="5">
                    <c:v>Sep-25</c:v>
                  </c:pt>
                  <c:pt idx="6">
                    <c:v>Oct-25</c:v>
                  </c:pt>
                  <c:pt idx="7">
                    <c:v>Nov-25</c:v>
                  </c:pt>
                  <c:pt idx="8">
                    <c:v>Dec-25</c:v>
                  </c:pt>
                  <c:pt idx="9">
                    <c:v>Jan-26</c:v>
                  </c:pt>
                  <c:pt idx="10">
                    <c:v>Feb-26</c:v>
                  </c:pt>
                  <c:pt idx="11">
                    <c:v>Mar-26</c:v>
                  </c:pt>
                  <c:pt idx="12">
                    <c:v>Apr-26</c:v>
                  </c:pt>
                  <c:pt idx="13">
                    <c:v>May-26</c:v>
                  </c:pt>
                  <c:pt idx="14">
                    <c:v>Jun-26</c:v>
                  </c:pt>
                  <c:pt idx="15">
                    <c:v>Jul-26</c:v>
                  </c:pt>
                  <c:pt idx="16">
                    <c:v>Aug-26</c:v>
                  </c:pt>
                  <c:pt idx="17">
                    <c:v>Sep-26</c:v>
                  </c:pt>
                  <c:pt idx="18">
                    <c:v>Oct-26</c:v>
                  </c:pt>
                  <c:pt idx="19">
                    <c:v>Nov-26</c:v>
                  </c:pt>
                  <c:pt idx="20">
                    <c:v>Dec-26</c:v>
                  </c:pt>
                  <c:pt idx="21">
                    <c:v>Jan-27</c:v>
                  </c:pt>
                  <c:pt idx="22">
                    <c:v>Feb-27</c:v>
                  </c:pt>
                </c:lvl>
              </c:multiLvlStrCache>
            </c:multiLvlStrRef>
          </c:cat>
          <c:val>
            <c:numRef>
              <c:f>Sheet1!$B$2:$B$24</c:f>
              <c:numCache>
                <c:formatCode>General</c:formatCode>
                <c:ptCount val="23"/>
                <c:pt idx="0">
                  <c:v>916</c:v>
                </c:pt>
                <c:pt idx="1">
                  <c:v>916</c:v>
                </c:pt>
                <c:pt idx="2">
                  <c:v>916</c:v>
                </c:pt>
                <c:pt idx="3">
                  <c:v>916</c:v>
                </c:pt>
                <c:pt idx="4">
                  <c:v>916</c:v>
                </c:pt>
                <c:pt idx="5">
                  <c:v>916</c:v>
                </c:pt>
                <c:pt idx="6">
                  <c:v>916</c:v>
                </c:pt>
                <c:pt idx="7">
                  <c:v>916</c:v>
                </c:pt>
                <c:pt idx="8">
                  <c:v>916</c:v>
                </c:pt>
                <c:pt idx="9">
                  <c:v>916</c:v>
                </c:pt>
                <c:pt idx="10">
                  <c:v>916</c:v>
                </c:pt>
                <c:pt idx="11">
                  <c:v>916</c:v>
                </c:pt>
                <c:pt idx="12">
                  <c:v>916</c:v>
                </c:pt>
                <c:pt idx="13">
                  <c:v>916</c:v>
                </c:pt>
                <c:pt idx="14">
                  <c:v>916</c:v>
                </c:pt>
                <c:pt idx="15">
                  <c:v>916</c:v>
                </c:pt>
                <c:pt idx="16">
                  <c:v>916</c:v>
                </c:pt>
                <c:pt idx="17">
                  <c:v>916</c:v>
                </c:pt>
                <c:pt idx="18">
                  <c:v>916</c:v>
                </c:pt>
                <c:pt idx="19">
                  <c:v>916</c:v>
                </c:pt>
                <c:pt idx="20">
                  <c:v>916</c:v>
                </c:pt>
                <c:pt idx="21">
                  <c:v>916</c:v>
                </c:pt>
                <c:pt idx="22">
                  <c:v>916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סף 80%</c:v>
                </c:pt>
              </c:strCache>
            </c:strRef>
          </c:tx>
          <c:spPr>
            <a:solidFill>
              <a:srgbClr val="FF6B7A"/>
            </a:solidFill>
            <a:ln w="31750" cap="flat">
              <a:solidFill>
                <a:srgbClr val="FF6B7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FF6B7A"/>
              </a:solidFill>
              <a:ln w="9525" cap="flat">
                <a:solidFill>
                  <a:srgbClr val="FF6B7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Sheet1!$A$2:$A$24</c:f>
              <c:multiLvlStrCache>
                <c:ptCount val="23"/>
                <c:lvl>
                  <c:pt idx="0">
                    <c:v>Apr-25</c:v>
                  </c:pt>
                  <c:pt idx="1">
                    <c:v>May-25</c:v>
                  </c:pt>
                  <c:pt idx="2">
                    <c:v>Jun-25</c:v>
                  </c:pt>
                  <c:pt idx="3">
                    <c:v>Jul-25</c:v>
                  </c:pt>
                  <c:pt idx="4">
                    <c:v>Aug-25</c:v>
                  </c:pt>
                  <c:pt idx="5">
                    <c:v>Sep-25</c:v>
                  </c:pt>
                  <c:pt idx="6">
                    <c:v>Oct-25</c:v>
                  </c:pt>
                  <c:pt idx="7">
                    <c:v>Nov-25</c:v>
                  </c:pt>
                  <c:pt idx="8">
                    <c:v>Dec-25</c:v>
                  </c:pt>
                  <c:pt idx="9">
                    <c:v>Jan-26</c:v>
                  </c:pt>
                  <c:pt idx="10">
                    <c:v>Feb-26</c:v>
                  </c:pt>
                  <c:pt idx="11">
                    <c:v>Mar-26</c:v>
                  </c:pt>
                  <c:pt idx="12">
                    <c:v>Apr-26</c:v>
                  </c:pt>
                  <c:pt idx="13">
                    <c:v>May-26</c:v>
                  </c:pt>
                  <c:pt idx="14">
                    <c:v>Jun-26</c:v>
                  </c:pt>
                  <c:pt idx="15">
                    <c:v>Jul-26</c:v>
                  </c:pt>
                  <c:pt idx="16">
                    <c:v>Aug-26</c:v>
                  </c:pt>
                  <c:pt idx="17">
                    <c:v>Sep-26</c:v>
                  </c:pt>
                  <c:pt idx="18">
                    <c:v>Oct-26</c:v>
                  </c:pt>
                  <c:pt idx="19">
                    <c:v>Nov-26</c:v>
                  </c:pt>
                  <c:pt idx="20">
                    <c:v>Dec-26</c:v>
                  </c:pt>
                  <c:pt idx="21">
                    <c:v>Jan-27</c:v>
                  </c:pt>
                  <c:pt idx="22">
                    <c:v>Feb-27</c:v>
                  </c:pt>
                </c:lvl>
              </c:multiLvlStrCache>
            </c:multiLvlStrRef>
          </c:cat>
          <c:val>
            <c:numRef>
              <c:f>Sheet1!$C$2:$C$24</c:f>
              <c:numCache>
                <c:formatCode>General</c:formatCode>
                <c:ptCount val="23"/>
                <c:pt idx="0">
                  <c:v>733</c:v>
                </c:pt>
                <c:pt idx="1">
                  <c:v>733</c:v>
                </c:pt>
                <c:pt idx="2">
                  <c:v>733</c:v>
                </c:pt>
                <c:pt idx="3">
                  <c:v>733</c:v>
                </c:pt>
                <c:pt idx="4">
                  <c:v>733</c:v>
                </c:pt>
                <c:pt idx="5">
                  <c:v>733</c:v>
                </c:pt>
                <c:pt idx="6">
                  <c:v>733</c:v>
                </c:pt>
                <c:pt idx="7">
                  <c:v>733</c:v>
                </c:pt>
                <c:pt idx="8">
                  <c:v>733</c:v>
                </c:pt>
                <c:pt idx="9">
                  <c:v>733</c:v>
                </c:pt>
                <c:pt idx="10">
                  <c:v>733</c:v>
                </c:pt>
                <c:pt idx="11">
                  <c:v>733</c:v>
                </c:pt>
                <c:pt idx="12">
                  <c:v>733</c:v>
                </c:pt>
                <c:pt idx="13">
                  <c:v>733</c:v>
                </c:pt>
                <c:pt idx="14">
                  <c:v>733</c:v>
                </c:pt>
                <c:pt idx="15">
                  <c:v>733</c:v>
                </c:pt>
                <c:pt idx="16">
                  <c:v>733</c:v>
                </c:pt>
                <c:pt idx="17">
                  <c:v>733</c:v>
                </c:pt>
                <c:pt idx="18">
                  <c:v>733</c:v>
                </c:pt>
                <c:pt idx="19">
                  <c:v>733</c:v>
                </c:pt>
                <c:pt idx="20">
                  <c:v>733</c:v>
                </c:pt>
                <c:pt idx="21">
                  <c:v>733</c:v>
                </c:pt>
                <c:pt idx="22">
                  <c:v>733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תחזית</c:v>
                </c:pt>
              </c:strCache>
            </c:strRef>
          </c:tx>
          <c:spPr>
            <a:solidFill>
              <a:srgbClr val="3DD9EB"/>
            </a:solidFill>
            <a:ln w="31750" cap="flat">
              <a:solidFill>
                <a:srgbClr val="3DD9E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3DD9EB"/>
              </a:solidFill>
              <a:ln w="9525" cap="flat">
                <a:solidFill>
                  <a:srgbClr val="3DD9E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Sheet1!$A$2:$A$24</c:f>
              <c:multiLvlStrCache>
                <c:ptCount val="23"/>
                <c:lvl>
                  <c:pt idx="0">
                    <c:v>Apr-25</c:v>
                  </c:pt>
                  <c:pt idx="1">
                    <c:v>May-25</c:v>
                  </c:pt>
                  <c:pt idx="2">
                    <c:v>Jun-25</c:v>
                  </c:pt>
                  <c:pt idx="3">
                    <c:v>Jul-25</c:v>
                  </c:pt>
                  <c:pt idx="4">
                    <c:v>Aug-25</c:v>
                  </c:pt>
                  <c:pt idx="5">
                    <c:v>Sep-25</c:v>
                  </c:pt>
                  <c:pt idx="6">
                    <c:v>Oct-25</c:v>
                  </c:pt>
                  <c:pt idx="7">
                    <c:v>Nov-25</c:v>
                  </c:pt>
                  <c:pt idx="8">
                    <c:v>Dec-25</c:v>
                  </c:pt>
                  <c:pt idx="9">
                    <c:v>Jan-26</c:v>
                  </c:pt>
                  <c:pt idx="10">
                    <c:v>Feb-26</c:v>
                  </c:pt>
                  <c:pt idx="11">
                    <c:v>Mar-26</c:v>
                  </c:pt>
                  <c:pt idx="12">
                    <c:v>Apr-26</c:v>
                  </c:pt>
                  <c:pt idx="13">
                    <c:v>May-26</c:v>
                  </c:pt>
                  <c:pt idx="14">
                    <c:v>Jun-26</c:v>
                  </c:pt>
                  <c:pt idx="15">
                    <c:v>Jul-26</c:v>
                  </c:pt>
                  <c:pt idx="16">
                    <c:v>Aug-26</c:v>
                  </c:pt>
                  <c:pt idx="17">
                    <c:v>Sep-26</c:v>
                  </c:pt>
                  <c:pt idx="18">
                    <c:v>Oct-26</c:v>
                  </c:pt>
                  <c:pt idx="19">
                    <c:v>Nov-26</c:v>
                  </c:pt>
                  <c:pt idx="20">
                    <c:v>Dec-26</c:v>
                  </c:pt>
                  <c:pt idx="21">
                    <c:v>Jan-27</c:v>
                  </c:pt>
                  <c:pt idx="22">
                    <c:v>Feb-27</c:v>
                  </c:pt>
                </c:lvl>
              </c:multiLvlStrCache>
            </c:multiLvlStrRef>
          </c:cat>
          <c:val>
            <c:numRef>
              <c:f>Sheet1!$D$2:$D$24</c:f>
              <c:numCache>
                <c:formatCode>General</c:formatCode>
                <c:ptCount val="23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>687</c:v>
                </c:pt>
                <c:pt idx="17">
                  <c:v>698</c:v>
                </c:pt>
                <c:pt idx="18">
                  <c:v>710</c:v>
                </c:pt>
                <c:pt idx="19">
                  <c:v>721</c:v>
                </c:pt>
                <c:pt idx="20">
                  <c:v>733</c:v>
                </c:pt>
                <c:pt idx="21">
                  <c:v>744</c:v>
                </c:pt>
                <c:pt idx="22">
                  <c:v>756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בשימוש</c:v>
                </c:pt>
              </c:strCache>
            </c:strRef>
          </c:tx>
          <c:spPr>
            <a:solidFill>
              <a:srgbClr val="FF9F43"/>
            </a:solidFill>
            <a:ln w="31750" cap="flat">
              <a:solidFill>
                <a:srgbClr val="FF9F4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FF9F43"/>
              </a:solidFill>
              <a:ln w="9525" cap="flat">
                <a:solidFill>
                  <a:srgbClr val="FF9F4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Sheet1!$A$2:$A$24</c:f>
              <c:multiLvlStrCache>
                <c:ptCount val="23"/>
                <c:lvl>
                  <c:pt idx="0">
                    <c:v>Apr-25</c:v>
                  </c:pt>
                  <c:pt idx="1">
                    <c:v>May-25</c:v>
                  </c:pt>
                  <c:pt idx="2">
                    <c:v>Jun-25</c:v>
                  </c:pt>
                  <c:pt idx="3">
                    <c:v>Jul-25</c:v>
                  </c:pt>
                  <c:pt idx="4">
                    <c:v>Aug-25</c:v>
                  </c:pt>
                  <c:pt idx="5">
                    <c:v>Sep-25</c:v>
                  </c:pt>
                  <c:pt idx="6">
                    <c:v>Oct-25</c:v>
                  </c:pt>
                  <c:pt idx="7">
                    <c:v>Nov-25</c:v>
                  </c:pt>
                  <c:pt idx="8">
                    <c:v>Dec-25</c:v>
                  </c:pt>
                  <c:pt idx="9">
                    <c:v>Jan-26</c:v>
                  </c:pt>
                  <c:pt idx="10">
                    <c:v>Feb-26</c:v>
                  </c:pt>
                  <c:pt idx="11">
                    <c:v>Mar-26</c:v>
                  </c:pt>
                  <c:pt idx="12">
                    <c:v>Apr-26</c:v>
                  </c:pt>
                  <c:pt idx="13">
                    <c:v>May-26</c:v>
                  </c:pt>
                  <c:pt idx="14">
                    <c:v>Jun-26</c:v>
                  </c:pt>
                  <c:pt idx="15">
                    <c:v>Jul-26</c:v>
                  </c:pt>
                  <c:pt idx="16">
                    <c:v>Aug-26</c:v>
                  </c:pt>
                  <c:pt idx="17">
                    <c:v>Sep-26</c:v>
                  </c:pt>
                  <c:pt idx="18">
                    <c:v>Oct-26</c:v>
                  </c:pt>
                  <c:pt idx="19">
                    <c:v>Nov-26</c:v>
                  </c:pt>
                  <c:pt idx="20">
                    <c:v>Dec-26</c:v>
                  </c:pt>
                  <c:pt idx="21">
                    <c:v>Jan-27</c:v>
                  </c:pt>
                  <c:pt idx="22">
                    <c:v>Feb-27</c:v>
                  </c:pt>
                </c:lvl>
              </c:multiLvlStrCache>
            </c:multiLvlStrRef>
          </c:cat>
          <c:val>
            <c:numRef>
              <c:f>Sheet1!$E$2:$E$24</c:f>
              <c:numCache>
                <c:formatCode>General</c:formatCode>
                <c:ptCount val="23"/>
                <c:pt idx="0">
                  <c:v>516</c:v>
                </c:pt>
                <c:pt idx="1">
                  <c:v>520</c:v>
                </c:pt>
                <c:pt idx="2">
                  <c:v>526</c:v>
                </c:pt>
                <c:pt idx="3">
                  <c:v>530</c:v>
                </c:pt>
                <c:pt idx="4">
                  <c:v>549</c:v>
                </c:pt>
                <c:pt idx="5">
                  <c:v>560</c:v>
                </c:pt>
                <c:pt idx="6">
                  <c:v>569</c:v>
                </c:pt>
                <c:pt idx="7">
                  <c:v>577</c:v>
                </c:pt>
                <c:pt idx="8">
                  <c:v>605</c:v>
                </c:pt>
                <c:pt idx="9">
                  <c:v>628</c:v>
                </c:pt>
                <c:pt idx="10">
                  <c:v>642</c:v>
                </c:pt>
                <c:pt idx="11">
                  <c:v>650</c:v>
                </c:pt>
                <c:pt idx="12">
                  <c:v>660</c:v>
                </c:pt>
                <c:pt idx="13">
                  <c:v>668</c:v>
                </c:pt>
                <c:pt idx="14">
                  <c:v>680</c:v>
                </c:pt>
                <c:pt idx="15">
                  <c:v>679</c:v>
                </c:pt>
                <c:pt idx="16">
                  <c:v>687</c:v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3304A"/>
            </a:solidFill>
            <a:prstDash val="solid"/>
            <a:round/>
          </a:ln>
        </c:spPr>
        <c:txPr>
          <a:bodyPr rot="18000000"/>
          <a:lstStyle/>
          <a:p>
            <a:pPr>
              <a:defRPr sz="850" b="0" i="0" u="none" strike="noStrike">
                <a:solidFill>
                  <a:srgbClr val="5E6E85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50"/>
          <c:min val="450"/>
        </c:scaling>
        <c:delete val="0"/>
        <c:axPos val="l"/>
        <c:majorGridlines>
          <c:spPr>
            <a:ln w="12700" cap="flat">
              <a:solidFill>
                <a:srgbClr val="1C274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E6E85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100"/>
      </c:valAx>
      <c:spPr>
        <a:solidFill>
          <a:srgbClr val="0E1422"/>
        </a:solidFill>
        <a:ln>
          <a:noFill/>
        </a:ln>
        <a:effectLst/>
      </c:spPr>
    </c:plotArea>
    <c:plotVisOnly val="1"/>
    <c:dispBlanksAs val="gap"/>
  </c:chart>
  <c:spPr>
    <a:solidFill>
      <a:srgbClr val="0E1422"/>
    </a:solidFill>
    <a:ln w="12700" cap="flat">
      <a:solidFill>
        <a:srgbClr val="0E1422"/>
      </a:solidFill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עלות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&quot;$&quot;0.0&quot;K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4F7F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DDC97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DD9EB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Dell ECS On-Prem</c:v>
                  </c:pt>
                  <c:pt idx="1">
                    <c:v>AWS S3 + API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115.8</c:v>
                </c:pt>
                <c:pt idx="1">
                  <c:v>155</c:v>
                </c:pt>
              </c:numCache>
            </c:numRef>
          </c:val>
        </c:ser>
        <c:dLbls>
          <c:numFmt formatCode="&quot;$&quot;0.0&quot;K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F4F7F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3304A"/>
            </a:solidFill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0"/>
          <c:min val="0"/>
        </c:scaling>
        <c:delete val="0"/>
        <c:axPos val="l"/>
        <c:majorGridlines>
          <c:spPr>
            <a:ln w="12700" cap="flat">
              <a:solidFill>
                <a:srgbClr val="1C274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E6E85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60"/>
      </c:valAx>
      <c:spPr>
        <a:solidFill>
          <a:srgbClr val="0E1422"/>
        </a:solidFill>
        <a:ln>
          <a:noFill/>
        </a:ln>
        <a:effectLst/>
      </c:spPr>
    </c:plotArea>
    <c:plotVisOnly val="1"/>
    <c:dispBlanksAs val="span"/>
  </c:chart>
  <c:spPr>
    <a:solidFill>
      <a:srgbClr val="0E1422"/>
    </a:solidFill>
    <a:ln w="12700" cap="flat">
      <a:solidFill>
        <a:srgbClr val="0E1422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566928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9863" y="512064"/>
            <a:ext cx="118872" cy="118872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212848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00" b="1" spc="12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‫הראל · תשתיות ‪IT‬‬</a:t>
            </a:r>
            <a:endParaRPr lang="he-IL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2578608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‫העתקת מסמכי דימות ו-‪Verint‬ לענן‬</a:t>
            </a:r>
            <a:endParaRPr lang="he-IL" sz="4000" dirty="0"/>
          </a:p>
        </p:txBody>
      </p:sp>
      <p:sp>
        <p:nvSpPr>
          <p:cNvPr id="7" name="Shape 5"/>
          <p:cNvSpPr/>
          <p:nvPr/>
        </p:nvSpPr>
        <p:spPr>
          <a:xfrm>
            <a:off x="8991295" y="3602736"/>
            <a:ext cx="2377440" cy="27432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767328"/>
            <a:ext cx="10545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6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‫מ-‪ECS On-Prem‬ ל-‪AWS S3‬ · מצגת לקבלת החלטה‬</a:t>
            </a:r>
            <a:endParaRPr lang="he-IL" sz="1600" dirty="0"/>
          </a:p>
        </p:txBody>
      </p:sp>
      <p:sp>
        <p:nvSpPr>
          <p:cNvPr id="9" name="Shape 7"/>
          <p:cNvSpPr/>
          <p:nvPr/>
        </p:nvSpPr>
        <p:spPr>
          <a:xfrm>
            <a:off x="822960" y="5870448"/>
            <a:ext cx="10543032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6016752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‫‪Harel IT Infrastructure‬ · חסוי · הנתונים נכונים לאוגוסט ‪2026‬‬</a:t>
            </a:r>
            <a:endParaRPr lang="he-IL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120" kern="0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‫ההחלטה הנדרשת‬</a:t>
            </a:r>
            <a:endParaRPr lang="he-IL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‫שני מסלולים על השולחן — ושניהם צריכים תשובה עוד באוקטובר‬</a:t>
            </a:r>
            <a:endParaRPr lang="he-IL" sz="26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229807" y="2560320"/>
            <a:ext cx="5138928" cy="2761488"/>
          </a:xfrm>
          <a:prstGeom prst="roundRect">
            <a:avLst>
              <a:gd name="adj" fmla="val 1656"/>
            </a:avLst>
          </a:prstGeom>
          <a:solidFill>
            <a:srgbClr val="182133"/>
          </a:solidFill>
          <a:ln w="12700">
            <a:solidFill>
              <a:srgbClr val="5A42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13287" y="2871216"/>
            <a:ext cx="50292" cy="38404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34879" y="2852928"/>
            <a:ext cx="6583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3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6558991" y="28346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‫הרחבת דיסקים ב-‪Dell ECS On-Prem‬‬</a:t>
            </a:r>
            <a:endParaRPr lang="he-IL" sz="1800" dirty="0"/>
          </a:p>
        </p:txBody>
      </p:sp>
      <p:sp>
        <p:nvSpPr>
          <p:cNvPr id="9" name="Shape 7"/>
          <p:cNvSpPr/>
          <p:nvPr/>
        </p:nvSpPr>
        <p:spPr>
          <a:xfrm>
            <a:off x="6558991" y="3438144"/>
            <a:ext cx="4480560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58991" y="3584448"/>
            <a:ext cx="448056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34000"/>
              </a:lnSpc>
              <a:buNone/>
            </a:pPr>
            <a:r>
              <a:rPr lang="he-IL" altLang="en-US" sz="14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‫רכש תוספת קיבולת מ-‪Dell‬. הצעה קיימת: ‪$695,520‬ עבור ‪600 TB‬ לוגי, כולל ‪Replica x3‬ בין שלושה אתרים. פתרון מוכר, בתוך המרכז שלנו — אך כרוך ב-‪PO‬, בזמן אספקה ובהוצאה הונית מלאה.‬</a:t>
            </a:r>
            <a:endParaRPr lang="he-IL" sz="1400" dirty="0"/>
          </a:p>
        </p:txBody>
      </p:sp>
      <p:sp>
        <p:nvSpPr>
          <p:cNvPr id="11" name="Shape 9"/>
          <p:cNvSpPr/>
          <p:nvPr/>
        </p:nvSpPr>
        <p:spPr>
          <a:xfrm>
            <a:off x="6558991" y="4626864"/>
            <a:ext cx="4480560" cy="420624"/>
          </a:xfrm>
          <a:prstGeom prst="roundRect">
            <a:avLst>
              <a:gd name="adj" fmla="val 34783"/>
            </a:avLst>
          </a:prstGeom>
          <a:solidFill>
            <a:srgbClr val="3A2A12"/>
          </a:solidFill>
          <a:ln w="12700">
            <a:solidFill>
              <a:srgbClr val="3A2A1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705295" y="4626864"/>
            <a:ext cx="41879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‫נדרש: אישור תקציב ויציאה ל-‪PO‬ באוקטובר‬</a:t>
            </a:r>
            <a:endParaRPr lang="he-IL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2560320"/>
            <a:ext cx="5138928" cy="2761488"/>
          </a:xfrm>
          <a:prstGeom prst="roundRect">
            <a:avLst>
              <a:gd name="adj" fmla="val 1656"/>
            </a:avLst>
          </a:prstGeom>
          <a:solidFill>
            <a:srgbClr val="182133"/>
          </a:solidFill>
          <a:ln w="12700">
            <a:solidFill>
              <a:srgbClr val="2E5F6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806440" y="2871216"/>
            <a:ext cx="50292" cy="384048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28032" y="2852928"/>
            <a:ext cx="6583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3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300" dirty="0"/>
          </a:p>
        </p:txBody>
      </p:sp>
      <p:sp>
        <p:nvSpPr>
          <p:cNvPr id="16" name="Text 14"/>
          <p:cNvSpPr/>
          <p:nvPr/>
        </p:nvSpPr>
        <p:spPr>
          <a:xfrm>
            <a:off x="1152144" y="28346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‫העתקת מסמכי דימות ו-‪Verint‬ ל-‪AWS S3‬‬</a:t>
            </a:r>
            <a:endParaRPr lang="he-IL" sz="1800" dirty="0"/>
          </a:p>
        </p:txBody>
      </p:sp>
      <p:sp>
        <p:nvSpPr>
          <p:cNvPr id="17" name="Shape 15"/>
          <p:cNvSpPr/>
          <p:nvPr/>
        </p:nvSpPr>
        <p:spPr>
          <a:xfrm>
            <a:off x="1152144" y="3438144"/>
            <a:ext cx="4480560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52144" y="3584448"/>
            <a:ext cx="448056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34000"/>
              </a:lnSpc>
              <a:buNone/>
            </a:pPr>
            <a:r>
              <a:rPr lang="he-IL" altLang="en-US" sz="14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‫העברת הארכיון לאחסון אובייקטים בענן. מפנה שטח ב-‪ECS‬ תוך שבועות, ללא ‪PO‬ וללא זמן אספקה, בתשלום לפי צריכה. רץ במקביל לרכש — אך אינו מחליף את הדיסקים.‬</a:t>
            </a:r>
            <a:endParaRPr lang="he-IL" sz="1400" dirty="0"/>
          </a:p>
        </p:txBody>
      </p:sp>
      <p:sp>
        <p:nvSpPr>
          <p:cNvPr id="19" name="Shape 17"/>
          <p:cNvSpPr/>
          <p:nvPr/>
        </p:nvSpPr>
        <p:spPr>
          <a:xfrm>
            <a:off x="1152144" y="4626864"/>
            <a:ext cx="4480560" cy="420624"/>
          </a:xfrm>
          <a:prstGeom prst="roundRect">
            <a:avLst>
              <a:gd name="adj" fmla="val 34783"/>
            </a:avLst>
          </a:prstGeom>
          <a:solidFill>
            <a:srgbClr val="13303A"/>
          </a:solidFill>
          <a:ln w="12700">
            <a:solidFill>
              <a:srgbClr val="13303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98448" y="4626864"/>
            <a:ext cx="41879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‫נדרש: אישור עקרוני + תקציב ‪POC‬‬</a:t>
            </a:r>
            <a:endParaRPr lang="he-IL" sz="1250" dirty="0"/>
          </a:p>
        </p:txBody>
      </p:sp>
      <p:sp>
        <p:nvSpPr>
          <p:cNvPr id="21" name="Shape 19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‫שני המסלולים אינם חלופיים: ‪01‬ מוסיף קיבולת, ‪02‬ מקטין את הצריכה. ה-‪PO‬ של ‪01‬ חייב לצאת באוקטובר — הרציונל והנתונים בשקפים הבאים.‬</a:t>
            </a:r>
            <a:endParaRPr lang="he-IL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12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‫המצב היום‬</a:t>
            </a:r>
            <a:endParaRPr lang="he-IL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‫‪75%‬ ניצולת — ובקצב הנוכחי הסף נחצה בדצמבר ‪2026‬‬</a:t>
            </a:r>
            <a:endParaRPr lang="he-IL" sz="26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557016" y="2084832"/>
            <a:ext cx="50292" cy="1060704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066544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30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75%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822960" y="2523744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‫ניצולת נוכחית‬</a:t>
            </a:r>
            <a:endParaRPr lang="he-IL" sz="1050" dirty="0"/>
          </a:p>
        </p:txBody>
      </p:sp>
      <p:sp>
        <p:nvSpPr>
          <p:cNvPr id="8" name="Text 6"/>
          <p:cNvSpPr/>
          <p:nvPr/>
        </p:nvSpPr>
        <p:spPr>
          <a:xfrm>
            <a:off x="822960" y="2779776"/>
            <a:ext cx="25877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‫אוגוסט ‪2026 · 687 TB‬ מתוך ‪916 TB‬‬</a:t>
            </a:r>
            <a:endParaRPr lang="he-IL" sz="1100" dirty="0"/>
          </a:p>
        </p:txBody>
      </p:sp>
      <p:sp>
        <p:nvSpPr>
          <p:cNvPr id="9" name="Shape 7"/>
          <p:cNvSpPr/>
          <p:nvPr/>
        </p:nvSpPr>
        <p:spPr>
          <a:xfrm>
            <a:off x="3557016" y="3419856"/>
            <a:ext cx="50292" cy="1060704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3401568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30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 TB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822960" y="3858768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‫מרווח עד סף ‪80%‬‬</a:t>
            </a:r>
            <a:endParaRPr lang="he-IL" sz="1050" dirty="0"/>
          </a:p>
        </p:txBody>
      </p:sp>
      <p:sp>
        <p:nvSpPr>
          <p:cNvPr id="12" name="Text 10"/>
          <p:cNvSpPr/>
          <p:nvPr/>
        </p:nvSpPr>
        <p:spPr>
          <a:xfrm>
            <a:off x="822960" y="4114800"/>
            <a:ext cx="25877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‫הסף עומד על ‪733 TB‬‬</a:t>
            </a:r>
            <a:endParaRPr lang="he-IL" sz="1100" dirty="0"/>
          </a:p>
        </p:txBody>
      </p:sp>
      <p:sp>
        <p:nvSpPr>
          <p:cNvPr id="13" name="Shape 11"/>
          <p:cNvSpPr/>
          <p:nvPr/>
        </p:nvSpPr>
        <p:spPr>
          <a:xfrm>
            <a:off x="3557016" y="4754880"/>
            <a:ext cx="50292" cy="1060704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4736592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25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‫דצמבר ‪2026‬‬</a:t>
            </a:r>
            <a:endParaRPr lang="he-IL" sz="2500" dirty="0"/>
          </a:p>
        </p:txBody>
      </p:sp>
      <p:sp>
        <p:nvSpPr>
          <p:cNvPr id="15" name="Text 13"/>
          <p:cNvSpPr/>
          <p:nvPr/>
        </p:nvSpPr>
        <p:spPr>
          <a:xfrm>
            <a:off x="822960" y="5193792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‫חציית ‪80%‬ צפויה‬</a:t>
            </a:r>
            <a:endParaRPr lang="he-IL" sz="1050" dirty="0"/>
          </a:p>
        </p:txBody>
      </p:sp>
      <p:sp>
        <p:nvSpPr>
          <p:cNvPr id="16" name="Text 14"/>
          <p:cNvSpPr/>
          <p:nvPr/>
        </p:nvSpPr>
        <p:spPr>
          <a:xfrm>
            <a:off x="822960" y="5449824"/>
            <a:ext cx="25877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‫בקצב של כ-‪11.5 TB‬ לחודש‬</a:t>
            </a:r>
            <a:endParaRPr lang="he-IL" sz="1100" dirty="0"/>
          </a:p>
        </p:txBody>
      </p:sp>
      <p:sp>
        <p:nvSpPr>
          <p:cNvPr id="17" name="Text 15"/>
          <p:cNvSpPr/>
          <p:nvPr/>
        </p:nvSpPr>
        <p:spPr>
          <a:xfrm>
            <a:off x="3913632" y="1828800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‫ניצולת אחסון ותחזית · ‪TB‬‬</a:t>
            </a:r>
            <a:endParaRPr lang="he-IL" sz="1100" dirty="0"/>
          </a:p>
        </p:txBody>
      </p:sp>
      <p:graphicFrame>
        <p:nvGraphicFramePr>
          <p:cNvPr id="18" name="Chart 0" descr=""/>
          <p:cNvGraphicFramePr/>
          <p:nvPr/>
        </p:nvGraphicFramePr>
        <p:xfrm>
          <a:off x="3913632" y="2103120"/>
          <a:ext cx="745236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Shape 16"/>
          <p:cNvSpPr/>
          <p:nvPr/>
        </p:nvSpPr>
        <p:spPr>
          <a:xfrm>
            <a:off x="11222431" y="5481828"/>
            <a:ext cx="146304" cy="100584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805111" y="5431536"/>
            <a:ext cx="1344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‫בשימוש בפועל‬</a:t>
            </a:r>
            <a:endParaRPr lang="he-IL" sz="1050" dirty="0"/>
          </a:p>
        </p:txBody>
      </p:sp>
      <p:sp>
        <p:nvSpPr>
          <p:cNvPr id="21" name="Shape 18"/>
          <p:cNvSpPr/>
          <p:nvPr/>
        </p:nvSpPr>
        <p:spPr>
          <a:xfrm>
            <a:off x="9649663" y="5481828"/>
            <a:ext cx="146304" cy="100584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232343" y="5431536"/>
            <a:ext cx="1344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‫תחזית‬</a:t>
            </a:r>
            <a:endParaRPr lang="he-IL" sz="1050" dirty="0"/>
          </a:p>
        </p:txBody>
      </p:sp>
      <p:sp>
        <p:nvSpPr>
          <p:cNvPr id="23" name="Shape 20"/>
          <p:cNvSpPr/>
          <p:nvPr/>
        </p:nvSpPr>
        <p:spPr>
          <a:xfrm>
            <a:off x="8076895" y="5481828"/>
            <a:ext cx="146304" cy="100584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659575" y="5431536"/>
            <a:ext cx="1344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‫סף ‪80%‬‬</a:t>
            </a:r>
            <a:endParaRPr lang="he-IL" sz="1050" dirty="0"/>
          </a:p>
        </p:txBody>
      </p:sp>
      <p:sp>
        <p:nvSpPr>
          <p:cNvPr id="25" name="Shape 22"/>
          <p:cNvSpPr/>
          <p:nvPr/>
        </p:nvSpPr>
        <p:spPr>
          <a:xfrm>
            <a:off x="6504127" y="5481828"/>
            <a:ext cx="146304" cy="100584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086807" y="5431536"/>
            <a:ext cx="1344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‫קיבולת‬</a:t>
            </a:r>
            <a:endParaRPr lang="he-IL" sz="1050" dirty="0"/>
          </a:p>
        </p:txBody>
      </p:sp>
      <p:sp>
        <p:nvSpPr>
          <p:cNvPr id="27" name="Shape 24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‫קו התחזית חוצה את סף ‪80%‬ בדצמבר ‪2026‬. מכיוון שזמן האספקה מ-‪Dell‬ הוא כחודשיים, ה-‪PO‬ חייב לצאת באוקטובר כדי שהדיסקים יגיעו לפני החצייה.‬</a:t>
            </a:r>
            <a:endParaRPr lang="he-IL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120" kern="0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‫לוח הזמנים הקריטי‬</a:t>
            </a:r>
            <a:endParaRPr lang="he-IL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7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‫שני תאריכים שונים — ואוקטובר הוא זה שתלוי בנו‬</a:t>
            </a:r>
            <a:endParaRPr lang="he-IL" sz="27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122615" y="2029968"/>
            <a:ext cx="3246120" cy="2048256"/>
          </a:xfrm>
          <a:prstGeom prst="roundRect">
            <a:avLst>
              <a:gd name="adj" fmla="val 2232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11535" y="2304288"/>
            <a:ext cx="118872" cy="118872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96935" y="223113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‫היום‬</a:t>
            </a:r>
            <a:endParaRPr lang="he-IL" sz="1100" dirty="0"/>
          </a:p>
        </p:txBody>
      </p:sp>
      <p:sp>
        <p:nvSpPr>
          <p:cNvPr id="8" name="Text 6"/>
          <p:cNvSpPr/>
          <p:nvPr/>
        </p:nvSpPr>
        <p:spPr>
          <a:xfrm>
            <a:off x="8396935" y="254203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9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‫אוגוסט ‪2026‬‬</a:t>
            </a:r>
            <a:endParaRPr lang="he-IL" sz="1900" dirty="0"/>
          </a:p>
        </p:txBody>
      </p:sp>
      <p:sp>
        <p:nvSpPr>
          <p:cNvPr id="9" name="Text 7"/>
          <p:cNvSpPr/>
          <p:nvPr/>
        </p:nvSpPr>
        <p:spPr>
          <a:xfrm>
            <a:off x="8396935" y="2944368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26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‫‪75%‬‬</a:t>
            </a:r>
            <a:endParaRPr lang="he-IL" sz="2600" dirty="0"/>
          </a:p>
        </p:txBody>
      </p:sp>
      <p:sp>
        <p:nvSpPr>
          <p:cNvPr id="10" name="Text 8"/>
          <p:cNvSpPr/>
          <p:nvPr/>
        </p:nvSpPr>
        <p:spPr>
          <a:xfrm>
            <a:off x="8396935" y="3438144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8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‫‪687 TB‬ מתוך ‪916 TB‬. נותרו ‪46 TB‬ עד לסף.‬</a:t>
            </a:r>
            <a:endParaRPr lang="he-IL" sz="1100" dirty="0"/>
          </a:p>
        </p:txBody>
      </p:sp>
      <p:sp>
        <p:nvSpPr>
          <p:cNvPr id="11" name="Text 9"/>
          <p:cNvSpPr/>
          <p:nvPr/>
        </p:nvSpPr>
        <p:spPr>
          <a:xfrm>
            <a:off x="7720279" y="2944368"/>
            <a:ext cx="402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altLang="en-US" sz="1800" b="1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474159" y="2029968"/>
            <a:ext cx="3246120" cy="2048256"/>
          </a:xfrm>
          <a:prstGeom prst="roundRect">
            <a:avLst>
              <a:gd name="adj" fmla="val 2232"/>
            </a:avLst>
          </a:prstGeom>
          <a:solidFill>
            <a:srgbClr val="182133"/>
          </a:solidFill>
          <a:ln w="12700">
            <a:solidFill>
              <a:srgbClr val="2E5F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263079" y="2304288"/>
            <a:ext cx="118872" cy="118872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48479" y="223113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‫החלון להחלטה‬</a:t>
            </a:r>
            <a:endParaRPr lang="he-IL" sz="1100" dirty="0"/>
          </a:p>
        </p:txBody>
      </p:sp>
      <p:sp>
        <p:nvSpPr>
          <p:cNvPr id="15" name="Text 13"/>
          <p:cNvSpPr/>
          <p:nvPr/>
        </p:nvSpPr>
        <p:spPr>
          <a:xfrm>
            <a:off x="4748479" y="254203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9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‫אוקטובר ‪2026‬‬</a:t>
            </a:r>
            <a:endParaRPr lang="he-IL" sz="1900" dirty="0"/>
          </a:p>
        </p:txBody>
      </p:sp>
      <p:sp>
        <p:nvSpPr>
          <p:cNvPr id="16" name="Text 14"/>
          <p:cNvSpPr/>
          <p:nvPr/>
        </p:nvSpPr>
        <p:spPr>
          <a:xfrm>
            <a:off x="4748479" y="2944368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26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‫הוצאת ‪PO‬‬</a:t>
            </a:r>
            <a:endParaRPr lang="he-IL" sz="2600" dirty="0"/>
          </a:p>
        </p:txBody>
      </p:sp>
      <p:sp>
        <p:nvSpPr>
          <p:cNvPr id="17" name="Text 15"/>
          <p:cNvSpPr/>
          <p:nvPr/>
        </p:nvSpPr>
        <p:spPr>
          <a:xfrm>
            <a:off x="4748479" y="3438144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8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‫חודשיים זמן אספקה מ-‪Dell‬. זהו המועד האחרון שעדיין מביא דיסקים לפני דצמבר.‬</a:t>
            </a:r>
            <a:endParaRPr lang="he-IL" sz="1100" dirty="0"/>
          </a:p>
        </p:txBody>
      </p:sp>
      <p:sp>
        <p:nvSpPr>
          <p:cNvPr id="18" name="Text 16"/>
          <p:cNvSpPr/>
          <p:nvPr/>
        </p:nvSpPr>
        <p:spPr>
          <a:xfrm>
            <a:off x="4071823" y="2944368"/>
            <a:ext cx="402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altLang="en-US" sz="1800" b="1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825703" y="2029968"/>
            <a:ext cx="3246120" cy="2048256"/>
          </a:xfrm>
          <a:prstGeom prst="roundRect">
            <a:avLst>
              <a:gd name="adj" fmla="val 2232"/>
            </a:avLst>
          </a:prstGeom>
          <a:solidFill>
            <a:srgbClr val="182133"/>
          </a:solidFill>
          <a:ln w="12700">
            <a:solidFill>
              <a:srgbClr val="5A2A3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614623" y="2304288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100023" y="223113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‫הסף‬</a:t>
            </a:r>
            <a:endParaRPr lang="he-IL" sz="1100" dirty="0"/>
          </a:p>
        </p:txBody>
      </p:sp>
      <p:sp>
        <p:nvSpPr>
          <p:cNvPr id="22" name="Text 20"/>
          <p:cNvSpPr/>
          <p:nvPr/>
        </p:nvSpPr>
        <p:spPr>
          <a:xfrm>
            <a:off x="1100023" y="254203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9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‫דצמבר ‪2026‬‬</a:t>
            </a:r>
            <a:endParaRPr lang="he-IL" sz="1900" dirty="0"/>
          </a:p>
        </p:txBody>
      </p:sp>
      <p:sp>
        <p:nvSpPr>
          <p:cNvPr id="23" name="Text 21"/>
          <p:cNvSpPr/>
          <p:nvPr/>
        </p:nvSpPr>
        <p:spPr>
          <a:xfrm>
            <a:off x="1100023" y="2944368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26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‫‪80%‬‬</a:t>
            </a:r>
            <a:endParaRPr lang="he-IL" sz="2600" dirty="0"/>
          </a:p>
        </p:txBody>
      </p:sp>
      <p:sp>
        <p:nvSpPr>
          <p:cNvPr id="24" name="Text 22"/>
          <p:cNvSpPr/>
          <p:nvPr/>
        </p:nvSpPr>
        <p:spPr>
          <a:xfrm>
            <a:off x="1100023" y="3438144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8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‫‪733 TB‬. מעל הסף הביצועים נפגעים והסיכון לזמינות המערכת עולה.‬</a:t>
            </a:r>
            <a:endParaRPr lang="he-IL" sz="1100" dirty="0"/>
          </a:p>
        </p:txBody>
      </p:sp>
      <p:sp>
        <p:nvSpPr>
          <p:cNvPr id="25" name="Shape 23"/>
          <p:cNvSpPr/>
          <p:nvPr/>
        </p:nvSpPr>
        <p:spPr>
          <a:xfrm>
            <a:off x="822960" y="4315968"/>
            <a:ext cx="10545775" cy="1188720"/>
          </a:xfrm>
          <a:prstGeom prst="roundRect">
            <a:avLst>
              <a:gd name="adj" fmla="val 3846"/>
            </a:avLst>
          </a:prstGeom>
          <a:solidFill>
            <a:srgbClr val="2A1620"/>
          </a:solidFill>
          <a:ln w="12700">
            <a:solidFill>
              <a:srgbClr val="5A2A3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929823" y="4535424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97280" y="4462272"/>
            <a:ext cx="9722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‫למה אי אפשר לחכות‬</a:t>
            </a:r>
            <a:endParaRPr lang="he-IL" sz="1300" dirty="0"/>
          </a:p>
        </p:txBody>
      </p:sp>
      <p:sp>
        <p:nvSpPr>
          <p:cNvPr id="28" name="Text 26"/>
          <p:cNvSpPr/>
          <p:nvPr/>
        </p:nvSpPr>
        <p:spPr>
          <a:xfrm>
            <a:off x="1097280" y="4718304"/>
            <a:ext cx="99971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‫חציית ‪80%‬ אינה אירוע תקציבי אלא אירוע תפעולי: מעל הסף ביצועי המערכת נפגעים והחשיפה להשבתה עולה. את מועד החצייה איננו שולטים בו — הוא נגזר מקצב הגידול. את מועד הרכש כן. הוצאת ‪PO‬ באוקטובר היא הפעולה היחידה שמבטיחה שהדיסקים יהיו בבית ברגע שהסף נחצה; כל דחייה מעבירה אותנו לדצמבר עם ‪80%‬ ובלי קיבולת נוספת.‬</a:t>
            </a:r>
            <a:endParaRPr lang="he-IL" sz="1200" dirty="0"/>
          </a:p>
        </p:txBody>
      </p:sp>
      <p:sp>
        <p:nvSpPr>
          <p:cNvPr id="29" name="Shape 27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‫ההעתקה ל-‪AWS S3‬ רצה במקביל ומקטינה את קצב ההתקרבות לסף, אך היא אינה תחליף לרכש ואינה מבטלת את מועד האוקטובר.‬</a:t>
            </a:r>
            <a:endParaRPr lang="he-IL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12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‫השוואת עלויות‬</a:t>
            </a:r>
            <a:endParaRPr lang="he-IL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‫‪100 TB‬ ל-‪5‬ שנים: ‪$116K‬ ב-‪On-Prem‬ מול ‪$145K–165K‬ ב-‪AWS S3 + API‬‬</a:t>
            </a:r>
            <a:endParaRPr lang="he-IL" sz="25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913632" y="1847088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‫עלות ‪100 TB‬ לחמש שנים · אלפי דולרים‬</a:t>
            </a:r>
            <a:endParaRPr lang="he-IL" sz="11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3913632" y="2121408"/>
          <a:ext cx="745236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3557016" y="2084832"/>
            <a:ext cx="50292" cy="1060704"/>
          </a:xfrm>
          <a:prstGeom prst="rect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2066544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6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$1,158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822960" y="2523744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‫לכל ‪TB‬ לוגי · ‪Dell ECS‬‬</a:t>
            </a:r>
            <a:endParaRPr lang="he-IL" sz="1050" dirty="0"/>
          </a:p>
        </p:txBody>
      </p:sp>
      <p:sp>
        <p:nvSpPr>
          <p:cNvPr id="10" name="Text 7"/>
          <p:cNvSpPr/>
          <p:nvPr/>
        </p:nvSpPr>
        <p:spPr>
          <a:xfrm>
            <a:off x="822960" y="2779776"/>
            <a:ext cx="2587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‫כולל ‪Replica x3‬ בין שלושה אתרים‬</a:t>
            </a:r>
            <a:endParaRPr lang="he-IL" sz="1100" dirty="0"/>
          </a:p>
        </p:txBody>
      </p:sp>
      <p:sp>
        <p:nvSpPr>
          <p:cNvPr id="11" name="Shape 8"/>
          <p:cNvSpPr/>
          <p:nvPr/>
        </p:nvSpPr>
        <p:spPr>
          <a:xfrm>
            <a:off x="3557016" y="3419856"/>
            <a:ext cx="50292" cy="1060704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3401568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6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$1,450–1,650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822960" y="3858768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‫לכל ‪TB · AWS S3 + API‬‬</a:t>
            </a:r>
            <a:endParaRPr lang="he-IL" sz="1050" dirty="0"/>
          </a:p>
        </p:txBody>
      </p:sp>
      <p:sp>
        <p:nvSpPr>
          <p:cNvPr id="14" name="Text 11"/>
          <p:cNvSpPr/>
          <p:nvPr/>
        </p:nvSpPr>
        <p:spPr>
          <a:xfrm>
            <a:off x="822960" y="4114800"/>
            <a:ext cx="2587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‫אחסון ופעילות שוטפת, ללא כפל אחסון מצידנו‬</a:t>
            </a:r>
            <a:endParaRPr lang="he-IL" sz="1100" dirty="0"/>
          </a:p>
        </p:txBody>
      </p:sp>
      <p:sp>
        <p:nvSpPr>
          <p:cNvPr id="15" name="Shape 12"/>
          <p:cNvSpPr/>
          <p:nvPr/>
        </p:nvSpPr>
        <p:spPr>
          <a:xfrm>
            <a:off x="3557016" y="4754880"/>
            <a:ext cx="50292" cy="1060704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2960" y="4736592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6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20%–30%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822960" y="5193792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‫יתרון ל-‪Dell ECS‬‬</a:t>
            </a:r>
            <a:endParaRPr lang="he-IL" sz="1050" dirty="0"/>
          </a:p>
        </p:txBody>
      </p:sp>
      <p:sp>
        <p:nvSpPr>
          <p:cNvPr id="18" name="Text 15"/>
          <p:cNvSpPr/>
          <p:nvPr/>
        </p:nvSpPr>
        <p:spPr>
          <a:xfrm>
            <a:off x="822960" y="5449824"/>
            <a:ext cx="2587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‫בשכבה החמה בלבד — ראו השקף הבא‬</a:t>
            </a:r>
            <a:endParaRPr lang="he-IL" sz="1100" dirty="0"/>
          </a:p>
        </p:txBody>
      </p:sp>
      <p:sp>
        <p:nvSpPr>
          <p:cNvPr id="19" name="Shape 16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‫מקור ‪On-Prem‬: הצעת ‪Dell — $695,520‬ עבור ‪1,800 TB‬ נטו ‪(3,024 TB‬ ברוטו‪), $386‬ ל-‪TB‬ נטו, בהוספת דיסקים ל-‪21 nodes‬ קיימים ללא ‪nodes‬ חדשים. שני הצדדים מנורמלים ל-‪100 TB‬ לוגי.‬</a:t>
            </a:r>
            <a:endParaRPr lang="he-IL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12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‫מה שההשוואה מפספסת‬</a:t>
            </a:r>
            <a:endParaRPr lang="he-IL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‫תמחרנו לפי שכבה חמה — אבל דימות ו-‪Verint‬ הם דאטה ארכיוני‬</a:t>
            </a:r>
            <a:endParaRPr lang="he-IL" sz="26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55080" y="1938528"/>
            <a:ext cx="5010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‫עלות ‪100 TB‬ לחמש שנים לפי שכבת אחסון‬</a:t>
            </a:r>
            <a:endParaRPr lang="he-IL" sz="1100" dirty="0"/>
          </a:p>
        </p:txBody>
      </p:sp>
      <p:sp>
        <p:nvSpPr>
          <p:cNvPr id="6" name="Text 4"/>
          <p:cNvSpPr/>
          <p:nvPr/>
        </p:nvSpPr>
        <p:spPr>
          <a:xfrm>
            <a:off x="7836408" y="2249424"/>
            <a:ext cx="3529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‫‪S3 Standard‬‬</a:t>
            </a:r>
            <a:endParaRPr lang="he-IL" sz="1250" dirty="0"/>
          </a:p>
        </p:txBody>
      </p:sp>
      <p:sp>
        <p:nvSpPr>
          <p:cNvPr id="7" name="Text 5"/>
          <p:cNvSpPr/>
          <p:nvPr/>
        </p:nvSpPr>
        <p:spPr>
          <a:xfrm>
            <a:off x="7836408" y="2487168"/>
            <a:ext cx="3529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‫‪$0.023 / GB‬‬</a:t>
            </a:r>
            <a:endParaRPr lang="he-IL" sz="1050" dirty="0"/>
          </a:p>
        </p:txBody>
      </p:sp>
      <p:sp>
        <p:nvSpPr>
          <p:cNvPr id="8" name="Shape 6"/>
          <p:cNvSpPr/>
          <p:nvPr/>
        </p:nvSpPr>
        <p:spPr>
          <a:xfrm>
            <a:off x="7836408" y="2724912"/>
            <a:ext cx="3383280" cy="173736"/>
          </a:xfrm>
          <a:prstGeom prst="roundRect">
            <a:avLst>
              <a:gd name="adj" fmla="val 210526"/>
            </a:avLst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55080" y="2322576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0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$141K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836408" y="2999232"/>
            <a:ext cx="3529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‫‪Dell ECS On-Prem‬‬</a:t>
            </a:r>
            <a:endParaRPr lang="he-IL" sz="1250" dirty="0"/>
          </a:p>
        </p:txBody>
      </p:sp>
      <p:sp>
        <p:nvSpPr>
          <p:cNvPr id="11" name="Text 9"/>
          <p:cNvSpPr/>
          <p:nvPr/>
        </p:nvSpPr>
        <p:spPr>
          <a:xfrm>
            <a:off x="7836408" y="3236976"/>
            <a:ext cx="3529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‫‪capex‬ דיסקים‬</a:t>
            </a:r>
            <a:endParaRPr lang="he-IL" sz="1050" dirty="0"/>
          </a:p>
        </p:txBody>
      </p:sp>
      <p:sp>
        <p:nvSpPr>
          <p:cNvPr id="12" name="Shape 10"/>
          <p:cNvSpPr/>
          <p:nvPr/>
        </p:nvSpPr>
        <p:spPr>
          <a:xfrm>
            <a:off x="8445398" y="3474720"/>
            <a:ext cx="2774290" cy="173736"/>
          </a:xfrm>
          <a:prstGeom prst="roundRect">
            <a:avLst>
              <a:gd name="adj" fmla="val 210526"/>
            </a:avLst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55080" y="3072384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0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$116K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836408" y="3749040"/>
            <a:ext cx="3529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‫‪S3 Standard-IA‬‬</a:t>
            </a:r>
            <a:endParaRPr lang="he-IL" sz="1250" dirty="0"/>
          </a:p>
        </p:txBody>
      </p:sp>
      <p:sp>
        <p:nvSpPr>
          <p:cNvPr id="15" name="Text 13"/>
          <p:cNvSpPr/>
          <p:nvPr/>
        </p:nvSpPr>
        <p:spPr>
          <a:xfrm>
            <a:off x="7836408" y="3986784"/>
            <a:ext cx="3529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‫‪$0.0125 / GB‬‬</a:t>
            </a:r>
            <a:endParaRPr lang="he-IL" sz="1050" dirty="0"/>
          </a:p>
        </p:txBody>
      </p:sp>
      <p:sp>
        <p:nvSpPr>
          <p:cNvPr id="16" name="Shape 14"/>
          <p:cNvSpPr/>
          <p:nvPr/>
        </p:nvSpPr>
        <p:spPr>
          <a:xfrm>
            <a:off x="9392717" y="4224528"/>
            <a:ext cx="1826971" cy="173736"/>
          </a:xfrm>
          <a:prstGeom prst="roundRect">
            <a:avLst>
              <a:gd name="adj" fmla="val 210526"/>
            </a:avLst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55080" y="3822192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0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$77K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7836408" y="4498848"/>
            <a:ext cx="3529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‫‪S3 Glacier Instant Retrieval‬‬</a:t>
            </a:r>
            <a:endParaRPr lang="he-IL" sz="1250" dirty="0"/>
          </a:p>
        </p:txBody>
      </p:sp>
      <p:sp>
        <p:nvSpPr>
          <p:cNvPr id="19" name="Text 17"/>
          <p:cNvSpPr/>
          <p:nvPr/>
        </p:nvSpPr>
        <p:spPr>
          <a:xfrm>
            <a:off x="7836408" y="4736592"/>
            <a:ext cx="3529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‫‪$0.004 / GB‬‬</a:t>
            </a:r>
            <a:endParaRPr lang="he-IL" sz="1050" dirty="0"/>
          </a:p>
        </p:txBody>
      </p:sp>
      <p:sp>
        <p:nvSpPr>
          <p:cNvPr id="20" name="Shape 18"/>
          <p:cNvSpPr/>
          <p:nvPr/>
        </p:nvSpPr>
        <p:spPr>
          <a:xfrm>
            <a:off x="10644530" y="4974336"/>
            <a:ext cx="575158" cy="173736"/>
          </a:xfrm>
          <a:prstGeom prst="roundRect">
            <a:avLst>
              <a:gd name="adj" fmla="val 210526"/>
            </a:avLst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55080" y="4572000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0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$25K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822960" y="2231136"/>
            <a:ext cx="5212080" cy="1389888"/>
          </a:xfrm>
          <a:prstGeom prst="roundRect">
            <a:avLst>
              <a:gd name="adj" fmla="val 2632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32120" y="2523744"/>
            <a:ext cx="118872" cy="118872"/>
          </a:xfrm>
          <a:prstGeom prst="rect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33856" y="2468880"/>
            <a:ext cx="4261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‫מה שמוזיל את הענן‬</a:t>
            </a:r>
            <a:endParaRPr lang="he-IL" sz="1350" dirty="0"/>
          </a:p>
        </p:txBody>
      </p:sp>
      <p:sp>
        <p:nvSpPr>
          <p:cNvPr id="25" name="Text 23"/>
          <p:cNvSpPr/>
          <p:nvPr/>
        </p:nvSpPr>
        <p:spPr>
          <a:xfrm>
            <a:off x="1133856" y="2816352"/>
            <a:ext cx="45902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‫מסמכי דימות ו-‪Verint‬ נכתבים פעם אחת ונקראים לעיתים נדירות. ב-‪Glacier Instant Retrieval‬, בזמן אחזור של מילישניות, העלות יורדת לכ-‪$25K‬ — פי ‪4.6‬ זול מ-‪On-Prem‬, ולא יקר ממנו ב-‪30%‬.‬</a:t>
            </a:r>
            <a:endParaRPr lang="he-IL" sz="1200" dirty="0"/>
          </a:p>
        </p:txBody>
      </p:sp>
      <p:sp>
        <p:nvSpPr>
          <p:cNvPr id="26" name="Shape 24"/>
          <p:cNvSpPr/>
          <p:nvPr/>
        </p:nvSpPr>
        <p:spPr>
          <a:xfrm>
            <a:off x="822960" y="3785616"/>
            <a:ext cx="5212080" cy="1463040"/>
          </a:xfrm>
          <a:prstGeom prst="roundRect">
            <a:avLst>
              <a:gd name="adj" fmla="val 2500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32120" y="4078224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33856" y="4023360"/>
            <a:ext cx="4261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‫מה שמייקר אותו‬</a:t>
            </a:r>
            <a:endParaRPr lang="he-IL" sz="1350" dirty="0"/>
          </a:p>
        </p:txBody>
      </p:sp>
      <p:sp>
        <p:nvSpPr>
          <p:cNvPr id="29" name="Text 27"/>
          <p:cNvSpPr/>
          <p:nvPr/>
        </p:nvSpPr>
        <p:spPr>
          <a:xfrm>
            <a:off x="1133856" y="4370832"/>
            <a:ext cx="459028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‫יציאת נתונים ‪$0.09‬ ל-‪GB (‬כ-‪$9K‬ להוצאת ‪100 TB‬ חזרה), דמי אחזור ‪$0.03‬ ל-‪GB‬ ב-‪Glacier IR‬, מינימום ‪90‬ יום אחסון, וחיוב מינימלי של ‪128 KB‬ לאובייקט — משמעותי בדימות עם ריבוי קבצים קטנים. מחירי אזור תל אביב גבוהים ב-‪10%–15%‬ ממחירון ‪us-east-1‬.‬</a:t>
            </a:r>
            <a:endParaRPr lang="he-IL" sz="1200" dirty="0"/>
          </a:p>
        </p:txBody>
      </p:sp>
      <p:sp>
        <p:nvSpPr>
          <p:cNvPr id="30" name="Shape 28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‫הנתון שחסר להכרעה: פילוח גודל-אובייקט ותדירות אחזור של קורפוס הדימות ו-‪Verint‬. הוא שקובע איזו שכבה נכונה, והוא אינו קיים היום. המחירים הם מחירון רשימה, ללא הנחות נפח או התחייבות.‬</a:t>
            </a:r>
            <a:endParaRPr lang="he-IL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120" kern="0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‫סיכונים‬</a:t>
            </a:r>
            <a:endParaRPr lang="he-IL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‫כל סיכון מהותי ניתן להפחתה — אך שניים מהם חוסמים התחלה‬</a:t>
            </a:r>
            <a:endParaRPr lang="he-IL" sz="26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122615" y="2048256"/>
            <a:ext cx="3246120" cy="1700784"/>
          </a:xfrm>
          <a:prstGeom prst="roundRect">
            <a:avLst>
              <a:gd name="adj" fmla="val 2688"/>
            </a:avLst>
          </a:prstGeom>
          <a:solidFill>
            <a:srgbClr val="182133"/>
          </a:solidFill>
          <a:ln w="12700">
            <a:solidFill>
              <a:srgbClr val="5A2A3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48111" y="2286000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78647" y="2212848"/>
            <a:ext cx="2478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‫משפטי · קבילות‬</a:t>
            </a:r>
            <a:endParaRPr lang="he-IL" sz="1250" dirty="0"/>
          </a:p>
        </p:txBody>
      </p:sp>
      <p:sp>
        <p:nvSpPr>
          <p:cNvPr id="8" name="Text 6"/>
          <p:cNvSpPr/>
          <p:nvPr/>
        </p:nvSpPr>
        <p:spPr>
          <a:xfrm>
            <a:off x="8378647" y="2505456"/>
            <a:ext cx="27340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‫תאריך היצירה של המסמך משתנה בהעתקה; בית משפט עשוי לדרוש אסמכתא שהמסמך לא שונה.‬</a:t>
            </a:r>
            <a:endParaRPr lang="he-IL" sz="1100" dirty="0"/>
          </a:p>
        </p:txBody>
      </p:sp>
      <p:sp>
        <p:nvSpPr>
          <p:cNvPr id="9" name="Shape 7"/>
          <p:cNvSpPr/>
          <p:nvPr/>
        </p:nvSpPr>
        <p:spPr>
          <a:xfrm>
            <a:off x="8378647" y="2999232"/>
            <a:ext cx="2734056" cy="9144"/>
          </a:xfrm>
          <a:prstGeom prst="rect">
            <a:avLst/>
          </a:prstGeom>
          <a:solidFill>
            <a:srgbClr val="2C3A54"/>
          </a:solidFill>
          <a:ln w="12700">
            <a:solidFill>
              <a:srgbClr val="2C3A5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378647" y="3063240"/>
            <a:ext cx="27340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‫מיטיגציה: ‪S3 Object Lock‬ במצב ‪Compliance, manifest‬ חתום ‪SHA-256‬ לכל אובייקט, ושימור ה-‪metadata‬ המקורי כ-‪object metadata‬.‬</a:t>
            </a:r>
            <a:endParaRPr lang="he-IL" sz="1050" dirty="0"/>
          </a:p>
        </p:txBody>
      </p:sp>
      <p:sp>
        <p:nvSpPr>
          <p:cNvPr id="11" name="Shape 9"/>
          <p:cNvSpPr/>
          <p:nvPr/>
        </p:nvSpPr>
        <p:spPr>
          <a:xfrm>
            <a:off x="4474159" y="2048256"/>
            <a:ext cx="3246120" cy="1700784"/>
          </a:xfrm>
          <a:prstGeom prst="roundRect">
            <a:avLst>
              <a:gd name="adj" fmla="val 2688"/>
            </a:avLst>
          </a:prstGeom>
          <a:solidFill>
            <a:srgbClr val="182133"/>
          </a:solidFill>
          <a:ln w="12700">
            <a:solidFill>
              <a:srgbClr val="5A2A3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299655" y="2286000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30191" y="2212848"/>
            <a:ext cx="2478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‫רגולציה · ריבונות‬</a:t>
            </a:r>
            <a:endParaRPr lang="he-IL" sz="1250" dirty="0"/>
          </a:p>
        </p:txBody>
      </p:sp>
      <p:sp>
        <p:nvSpPr>
          <p:cNvPr id="14" name="Text 12"/>
          <p:cNvSpPr/>
          <p:nvPr/>
        </p:nvSpPr>
        <p:spPr>
          <a:xfrm>
            <a:off x="4730191" y="2505456"/>
            <a:ext cx="27340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‫מידע רפואי ופיננסי מזוהה היוצא משליטת הארגון.‬</a:t>
            </a:r>
            <a:endParaRPr lang="he-IL" sz="1100" dirty="0"/>
          </a:p>
        </p:txBody>
      </p:sp>
      <p:sp>
        <p:nvSpPr>
          <p:cNvPr id="15" name="Shape 13"/>
          <p:cNvSpPr/>
          <p:nvPr/>
        </p:nvSpPr>
        <p:spPr>
          <a:xfrm>
            <a:off x="4730191" y="2999232"/>
            <a:ext cx="2734056" cy="9144"/>
          </a:xfrm>
          <a:prstGeom prst="rect">
            <a:avLst/>
          </a:prstGeom>
          <a:solidFill>
            <a:srgbClr val="2C3A54"/>
          </a:solidFill>
          <a:ln w="12700">
            <a:solidFill>
              <a:srgbClr val="2C3A5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30191" y="3063240"/>
            <a:ext cx="27340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‫מיטיגציה: אזור ‪il-central-1 (‬תל אביב), הצפנה ב-‪KMS‬ עם מפתח בבעלותנו, ואישור ‪DPO‬ ורגולטור לפני ההעתקה הראשונה.‬</a:t>
            </a:r>
            <a:endParaRPr lang="he-IL" sz="1050" dirty="0"/>
          </a:p>
        </p:txBody>
      </p:sp>
      <p:sp>
        <p:nvSpPr>
          <p:cNvPr id="17" name="Shape 15"/>
          <p:cNvSpPr/>
          <p:nvPr/>
        </p:nvSpPr>
        <p:spPr>
          <a:xfrm>
            <a:off x="825703" y="2048256"/>
            <a:ext cx="3246120" cy="1700784"/>
          </a:xfrm>
          <a:prstGeom prst="roundRect">
            <a:avLst>
              <a:gd name="adj" fmla="val 2688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1199" y="2286000"/>
            <a:ext cx="118872" cy="118872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81735" y="2212848"/>
            <a:ext cx="2478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‫טכני · שלמות‬</a:t>
            </a:r>
            <a:endParaRPr lang="he-IL" sz="1250" dirty="0"/>
          </a:p>
        </p:txBody>
      </p:sp>
      <p:sp>
        <p:nvSpPr>
          <p:cNvPr id="20" name="Text 18"/>
          <p:cNvSpPr/>
          <p:nvPr/>
        </p:nvSpPr>
        <p:spPr>
          <a:xfrm>
            <a:off x="1081735" y="2505456"/>
            <a:ext cx="27340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‫אין כלי העתקה ייעודי; חלק מהקבצים עלולים להיכשל בהעברה.‬</a:t>
            </a:r>
            <a:endParaRPr lang="he-IL" sz="1100" dirty="0"/>
          </a:p>
        </p:txBody>
      </p:sp>
      <p:sp>
        <p:nvSpPr>
          <p:cNvPr id="21" name="Shape 19"/>
          <p:cNvSpPr/>
          <p:nvPr/>
        </p:nvSpPr>
        <p:spPr>
          <a:xfrm>
            <a:off x="1081735" y="2999232"/>
            <a:ext cx="2734056" cy="9144"/>
          </a:xfrm>
          <a:prstGeom prst="rect">
            <a:avLst/>
          </a:prstGeom>
          <a:solidFill>
            <a:srgbClr val="2C3A54"/>
          </a:solidFill>
          <a:ln w="12700">
            <a:solidFill>
              <a:srgbClr val="2C3A5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81735" y="3063240"/>
            <a:ext cx="27340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‫מיטיגציה: ‪AWS DataSync‬ עם ולידציה מובנית, דוח חריגים לכל ריצה, ומחיקה מ-‪ECS‬ רק לאחר ולידציה מלאה.‬</a:t>
            </a:r>
            <a:endParaRPr lang="he-IL" sz="1050" dirty="0"/>
          </a:p>
        </p:txBody>
      </p:sp>
      <p:sp>
        <p:nvSpPr>
          <p:cNvPr id="23" name="Shape 21"/>
          <p:cNvSpPr/>
          <p:nvPr/>
        </p:nvSpPr>
        <p:spPr>
          <a:xfrm>
            <a:off x="8122615" y="4041648"/>
            <a:ext cx="3246120" cy="1700784"/>
          </a:xfrm>
          <a:prstGeom prst="roundRect">
            <a:avLst>
              <a:gd name="adj" fmla="val 2688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948111" y="4279392"/>
            <a:ext cx="118872" cy="118872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378647" y="4206240"/>
            <a:ext cx="2478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‫ביצועים‬</a:t>
            </a:r>
            <a:endParaRPr lang="he-IL" sz="1250" dirty="0"/>
          </a:p>
        </p:txBody>
      </p:sp>
      <p:sp>
        <p:nvSpPr>
          <p:cNvPr id="26" name="Text 24"/>
          <p:cNvSpPr/>
          <p:nvPr/>
        </p:nvSpPr>
        <p:spPr>
          <a:xfrm>
            <a:off x="8378647" y="4498848"/>
            <a:ext cx="27340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‫זמני אחזור בענן נמוכים יותר; למערכת הדימות אין ניסיון מול ענן.‬</a:t>
            </a:r>
            <a:endParaRPr lang="he-IL" sz="1100" dirty="0"/>
          </a:p>
        </p:txBody>
      </p:sp>
      <p:sp>
        <p:nvSpPr>
          <p:cNvPr id="27" name="Shape 25"/>
          <p:cNvSpPr/>
          <p:nvPr/>
        </p:nvSpPr>
        <p:spPr>
          <a:xfrm>
            <a:off x="8378647" y="4992624"/>
            <a:ext cx="2734056" cy="9144"/>
          </a:xfrm>
          <a:prstGeom prst="rect">
            <a:avLst/>
          </a:prstGeom>
          <a:solidFill>
            <a:srgbClr val="2C3A54"/>
          </a:solidFill>
          <a:ln w="12700">
            <a:solidFill>
              <a:srgbClr val="2C3A5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78647" y="5056632"/>
            <a:ext cx="27340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‫מיטיגציה: ‪POC‬ על ‪1–2 TB‬ לפני התחייבות, חיבור ‪Direct Connect‬ ולא אינטרנט, ומדידת זמני אחזור מול ה-‪SLA‬ הקיים.‬</a:t>
            </a:r>
            <a:endParaRPr lang="he-IL" sz="1050" dirty="0"/>
          </a:p>
        </p:txBody>
      </p:sp>
      <p:sp>
        <p:nvSpPr>
          <p:cNvPr id="29" name="Shape 27"/>
          <p:cNvSpPr/>
          <p:nvPr/>
        </p:nvSpPr>
        <p:spPr>
          <a:xfrm>
            <a:off x="4474159" y="4041648"/>
            <a:ext cx="3246120" cy="1700784"/>
          </a:xfrm>
          <a:prstGeom prst="roundRect">
            <a:avLst>
              <a:gd name="adj" fmla="val 2688"/>
            </a:avLst>
          </a:prstGeom>
          <a:solidFill>
            <a:srgbClr val="182133"/>
          </a:solidFill>
          <a:ln w="12700">
            <a:solidFill>
              <a:srgbClr val="5A2A3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299655" y="4279392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30191" y="4206240"/>
            <a:ext cx="2478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‫לוחות זמנים‬</a:t>
            </a:r>
            <a:endParaRPr lang="he-IL" sz="1250" dirty="0"/>
          </a:p>
        </p:txBody>
      </p:sp>
      <p:sp>
        <p:nvSpPr>
          <p:cNvPr id="32" name="Text 30"/>
          <p:cNvSpPr/>
          <p:nvPr/>
        </p:nvSpPr>
        <p:spPr>
          <a:xfrm>
            <a:off x="4730191" y="4498848"/>
            <a:ext cx="27340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‫זמן אספקה של חודשיים מ-‪Dell; PO‬ שיוצא אחרי אוקטובר מגיע אחרי חציית ‪80%‬.‬</a:t>
            </a:r>
            <a:endParaRPr lang="he-IL" sz="1100" dirty="0"/>
          </a:p>
        </p:txBody>
      </p:sp>
      <p:sp>
        <p:nvSpPr>
          <p:cNvPr id="33" name="Shape 31"/>
          <p:cNvSpPr/>
          <p:nvPr/>
        </p:nvSpPr>
        <p:spPr>
          <a:xfrm>
            <a:off x="4730191" y="4992624"/>
            <a:ext cx="2734056" cy="9144"/>
          </a:xfrm>
          <a:prstGeom prst="rect">
            <a:avLst/>
          </a:prstGeom>
          <a:solidFill>
            <a:srgbClr val="2C3A54"/>
          </a:solidFill>
          <a:ln w="12700">
            <a:solidFill>
              <a:srgbClr val="2C3A5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730191" y="5056632"/>
            <a:ext cx="27340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‫מיטיגציה: אישור תקציב בספטמבר, ‪PO‬ באוקטובר. ההעתקה לענן רצה במקביל ומקטינה את הלחץ אם האספקה תתעכב.‬</a:t>
            </a:r>
            <a:endParaRPr lang="he-IL" sz="1050" dirty="0"/>
          </a:p>
        </p:txBody>
      </p:sp>
      <p:sp>
        <p:nvSpPr>
          <p:cNvPr id="35" name="Shape 33"/>
          <p:cNvSpPr/>
          <p:nvPr/>
        </p:nvSpPr>
        <p:spPr>
          <a:xfrm>
            <a:off x="825703" y="4041648"/>
            <a:ext cx="3246120" cy="1700784"/>
          </a:xfrm>
          <a:prstGeom prst="roundRect">
            <a:avLst>
              <a:gd name="adj" fmla="val 2688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651199" y="4279392"/>
            <a:ext cx="118872" cy="118872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81735" y="4206240"/>
            <a:ext cx="2478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‫כלכלי · ‪Lock-in‬‬</a:t>
            </a:r>
            <a:endParaRPr lang="he-IL" sz="1250" dirty="0"/>
          </a:p>
        </p:txBody>
      </p:sp>
      <p:sp>
        <p:nvSpPr>
          <p:cNvPr id="38" name="Text 36"/>
          <p:cNvSpPr/>
          <p:nvPr/>
        </p:nvSpPr>
        <p:spPr>
          <a:xfrm>
            <a:off x="1081735" y="4498848"/>
            <a:ext cx="27340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‫יציאה מהענן עולה ‪$0.09‬ ל-‪GB‬; מעבר ממודל ‪capex‬ למודל ‪opex‬.‬</a:t>
            </a:r>
            <a:endParaRPr lang="he-IL" sz="1100" dirty="0"/>
          </a:p>
        </p:txBody>
      </p:sp>
      <p:sp>
        <p:nvSpPr>
          <p:cNvPr id="39" name="Shape 37"/>
          <p:cNvSpPr/>
          <p:nvPr/>
        </p:nvSpPr>
        <p:spPr>
          <a:xfrm>
            <a:off x="1081735" y="4992624"/>
            <a:ext cx="2734056" cy="9144"/>
          </a:xfrm>
          <a:prstGeom prst="rect">
            <a:avLst/>
          </a:prstGeom>
          <a:solidFill>
            <a:srgbClr val="2C3A54"/>
          </a:solidFill>
          <a:ln w="12700">
            <a:solidFill>
              <a:srgbClr val="2C3A5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81735" y="5056632"/>
            <a:ext cx="27340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‫מיטיגציה: תמחור תרחיש יציאה מראש, התחלה בקורפוס אחד בלבד, ואישור תקציב ‪opex‬ רב-שנתי.‬</a:t>
            </a:r>
            <a:endParaRPr lang="he-IL" sz="1050" dirty="0"/>
          </a:p>
        </p:txBody>
      </p:sp>
      <p:sp>
        <p:nvSpPr>
          <p:cNvPr id="41" name="Shape 39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‫שני הסיכונים המסומנים באדום — קבילות משפטית וריבונות נתונים — חוסמים התחלה. יש לסגור אותם בספטמבר, במקביל ל-‪POC‬ ולא אחריו.‬</a:t>
            </a:r>
            <a:endParaRPr lang="he-IL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12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‫מה זה נותן‬</a:t>
            </a:r>
            <a:endParaRPr lang="he-IL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‫המנוף היחיד על השולחן שאינו תלוי בזמן אספקה של חודשיים‬</a:t>
            </a:r>
            <a:endParaRPr lang="he-IL" sz="26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122615" y="2121408"/>
            <a:ext cx="3246120" cy="1463040"/>
          </a:xfrm>
          <a:prstGeom prst="roundRect">
            <a:avLst>
              <a:gd name="adj" fmla="val 3125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48111" y="2377440"/>
            <a:ext cx="118872" cy="118872"/>
          </a:xfrm>
          <a:prstGeom prst="rect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78647" y="2304288"/>
            <a:ext cx="2478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‫פינוי שטח מיידי‬</a:t>
            </a:r>
            <a:endParaRPr lang="he-IL" sz="1350" dirty="0"/>
          </a:p>
        </p:txBody>
      </p:sp>
      <p:sp>
        <p:nvSpPr>
          <p:cNvPr id="8" name="Text 6"/>
          <p:cNvSpPr/>
          <p:nvPr/>
        </p:nvSpPr>
        <p:spPr>
          <a:xfrm>
            <a:off x="8378647" y="2651760"/>
            <a:ext cx="2734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‫העתקת קורפוס הדימות ו-‪Verint‬ מפנה שטח ב-‪ECS‬ תוך שבועות, ומאטה את ההתקרבות לסף ‪80%‬ בדצמבר — בלי להמתין לאספקה.‬</a:t>
            </a:r>
            <a:endParaRPr lang="he-IL" sz="1150" dirty="0"/>
          </a:p>
        </p:txBody>
      </p:sp>
      <p:sp>
        <p:nvSpPr>
          <p:cNvPr id="9" name="Shape 7"/>
          <p:cNvSpPr/>
          <p:nvPr/>
        </p:nvSpPr>
        <p:spPr>
          <a:xfrm>
            <a:off x="4474159" y="2121408"/>
            <a:ext cx="3246120" cy="1463040"/>
          </a:xfrm>
          <a:prstGeom prst="roundRect">
            <a:avLst>
              <a:gd name="adj" fmla="val 3125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299655" y="2377440"/>
            <a:ext cx="118872" cy="118872"/>
          </a:xfrm>
          <a:prstGeom prst="rect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30191" y="2304288"/>
            <a:ext cx="2478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‫דחיית והקטנת ‪capex‬‬</a:t>
            </a:r>
            <a:endParaRPr lang="he-IL" sz="1350" dirty="0"/>
          </a:p>
        </p:txBody>
      </p:sp>
      <p:sp>
        <p:nvSpPr>
          <p:cNvPr id="12" name="Text 10"/>
          <p:cNvSpPr/>
          <p:nvPr/>
        </p:nvSpPr>
        <p:spPr>
          <a:xfrm>
            <a:off x="4730191" y="2651760"/>
            <a:ext cx="2734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‫כל ‪TB‬ שמפונה מקטין את היקף ההרחבה הנדרשת. הצעת ‪Dell‬ הנוכחית עומדת על ‪$695,520‬ עבור ‪600 TB‬ לוגי.‬</a:t>
            </a:r>
            <a:endParaRPr lang="he-IL" sz="1150" dirty="0"/>
          </a:p>
        </p:txBody>
      </p:sp>
      <p:sp>
        <p:nvSpPr>
          <p:cNvPr id="13" name="Shape 11"/>
          <p:cNvSpPr/>
          <p:nvPr/>
        </p:nvSpPr>
        <p:spPr>
          <a:xfrm>
            <a:off x="825703" y="2121408"/>
            <a:ext cx="3246120" cy="1463040"/>
          </a:xfrm>
          <a:prstGeom prst="roundRect">
            <a:avLst>
              <a:gd name="adj" fmla="val 3125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1199" y="2377440"/>
            <a:ext cx="118872" cy="118872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81735" y="2304288"/>
            <a:ext cx="2478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‫ללא זמן אספקה‬</a:t>
            </a:r>
            <a:endParaRPr lang="he-IL" sz="1350" dirty="0"/>
          </a:p>
        </p:txBody>
      </p:sp>
      <p:sp>
        <p:nvSpPr>
          <p:cNvPr id="16" name="Text 14"/>
          <p:cNvSpPr/>
          <p:nvPr/>
        </p:nvSpPr>
        <p:spPr>
          <a:xfrm>
            <a:off x="1081735" y="2651760"/>
            <a:ext cx="2734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‫אין ‪PO‬, אין דיסקים, אין חלון התקנה. הקיבולת זמינה ביום הראשון, ומשלמים רק על מה שנצרך בפועל — בלי לרכוש מראש קיבולת לשלוש שנים.‬</a:t>
            </a:r>
            <a:endParaRPr lang="he-IL" sz="1150" dirty="0"/>
          </a:p>
        </p:txBody>
      </p:sp>
      <p:sp>
        <p:nvSpPr>
          <p:cNvPr id="17" name="Shape 15"/>
          <p:cNvSpPr/>
          <p:nvPr/>
        </p:nvSpPr>
        <p:spPr>
          <a:xfrm>
            <a:off x="8122615" y="3931920"/>
            <a:ext cx="3246120" cy="1463040"/>
          </a:xfrm>
          <a:prstGeom prst="roundRect">
            <a:avLst>
              <a:gd name="adj" fmla="val 3125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948111" y="4187952"/>
            <a:ext cx="118872" cy="118872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78647" y="4114800"/>
            <a:ext cx="2478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‫‪Lifecycle‬ אוטומטי‬</a:t>
            </a:r>
            <a:endParaRPr lang="he-IL" sz="1350" dirty="0"/>
          </a:p>
        </p:txBody>
      </p:sp>
      <p:sp>
        <p:nvSpPr>
          <p:cNvPr id="20" name="Text 18"/>
          <p:cNvSpPr/>
          <p:nvPr/>
        </p:nvSpPr>
        <p:spPr>
          <a:xfrm>
            <a:off x="8378647" y="4462272"/>
            <a:ext cx="2734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‫מדיניות שכבות מעבירה דאטה מתקרר לשכבה זולה יותר לאורך זמן — הוזלה שנמשכת ללא התערבות תפעולית ובלי פרויקט נוסף.‬</a:t>
            </a:r>
            <a:endParaRPr lang="he-IL" sz="1150" dirty="0"/>
          </a:p>
        </p:txBody>
      </p:sp>
      <p:sp>
        <p:nvSpPr>
          <p:cNvPr id="21" name="Shape 19"/>
          <p:cNvSpPr/>
          <p:nvPr/>
        </p:nvSpPr>
        <p:spPr>
          <a:xfrm>
            <a:off x="4474159" y="3931920"/>
            <a:ext cx="3246120" cy="1463040"/>
          </a:xfrm>
          <a:prstGeom prst="roundRect">
            <a:avLst>
              <a:gd name="adj" fmla="val 3125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299655" y="4187952"/>
            <a:ext cx="118872" cy="118872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30191" y="4114800"/>
            <a:ext cx="2478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‫עמידות מובנית‬</a:t>
            </a:r>
            <a:endParaRPr lang="he-IL" sz="1350" dirty="0"/>
          </a:p>
        </p:txBody>
      </p:sp>
      <p:sp>
        <p:nvSpPr>
          <p:cNvPr id="24" name="Text 22"/>
          <p:cNvSpPr/>
          <p:nvPr/>
        </p:nvSpPr>
        <p:spPr>
          <a:xfrm>
            <a:off x="4730191" y="4462272"/>
            <a:ext cx="2734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‫‪11‬ תשיעיות עמידות ופיזור בין אזורי זמינות, במקום שכפול משולש שאנחנו מתחזקים ומשלמים עליו פי שלושה בשלושה אתרים.‬</a:t>
            </a:r>
            <a:endParaRPr lang="he-IL" sz="1150" dirty="0"/>
          </a:p>
        </p:txBody>
      </p:sp>
      <p:sp>
        <p:nvSpPr>
          <p:cNvPr id="25" name="Shape 23"/>
          <p:cNvSpPr/>
          <p:nvPr/>
        </p:nvSpPr>
        <p:spPr>
          <a:xfrm>
            <a:off x="825703" y="3931920"/>
            <a:ext cx="3246120" cy="1463040"/>
          </a:xfrm>
          <a:prstGeom prst="roundRect">
            <a:avLst>
              <a:gd name="adj" fmla="val 3125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651199" y="4187952"/>
            <a:ext cx="118872" cy="118872"/>
          </a:xfrm>
          <a:prstGeom prst="rect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81735" y="4114800"/>
            <a:ext cx="2478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‫בסיס לשירותי ‪AI‬‬</a:t>
            </a:r>
            <a:endParaRPr lang="he-IL" sz="1350" dirty="0"/>
          </a:p>
        </p:txBody>
      </p:sp>
      <p:sp>
        <p:nvSpPr>
          <p:cNvPr id="28" name="Text 26"/>
          <p:cNvSpPr/>
          <p:nvPr/>
        </p:nvSpPr>
        <p:spPr>
          <a:xfrm>
            <a:off x="1081735" y="4462272"/>
            <a:ext cx="2734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‫תמלול שיחות וניתוח דימות כשירות מנוהל מעל אותו אחסון — יכולת שאינה קיימת על ‪ECS‬ היום ואינה דורשת פרויקט תשתית נפרד.‬</a:t>
            </a:r>
            <a:endParaRPr lang="he-IL" sz="1150" dirty="0"/>
          </a:p>
        </p:txBody>
      </p:sp>
      <p:sp>
        <p:nvSpPr>
          <p:cNvPr id="29" name="Shape 27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‫התועלת נמדדת ב-‪TB‬ שפונו בפועל ובחודשי הדחייה שהושגו לרכש — לא באחוזי חיסכון תיאורטיים.‬</a:t>
            </a:r>
            <a:endParaRPr lang="he-IL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120" kern="0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‫ציר זמן‬</a:t>
            </a:r>
            <a:endParaRPr lang="he-IL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7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‫שני מסלולים במקביל — והרכש נעול על אוקטובר‬</a:t>
            </a:r>
            <a:endParaRPr lang="he-IL" sz="27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999232"/>
            <a:ext cx="10545775" cy="27432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420515" y="2322576"/>
            <a:ext cx="19482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‫אוגוסט ‪26‬‬</a:t>
            </a:r>
            <a:endParaRPr lang="he-IL" sz="1300" dirty="0"/>
          </a:p>
        </p:txBody>
      </p:sp>
      <p:sp>
        <p:nvSpPr>
          <p:cNvPr id="7" name="Shape 5"/>
          <p:cNvSpPr/>
          <p:nvPr/>
        </p:nvSpPr>
        <p:spPr>
          <a:xfrm>
            <a:off x="11204143" y="2935224"/>
            <a:ext cx="155448" cy="155448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420515" y="3273552"/>
            <a:ext cx="1948221" cy="1225296"/>
          </a:xfrm>
          <a:prstGeom prst="roundRect">
            <a:avLst>
              <a:gd name="adj" fmla="val 4478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21683" y="3401568"/>
            <a:ext cx="1545885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‫אישור עקרוני להעתקה‬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‫פילוח קורפוס הדימות ו-‪Verint‬‬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‫הגדרת קריטריוני קבילות‬</a:t>
            </a:r>
            <a:endParaRPr lang="he-IL" sz="1150" dirty="0"/>
          </a:p>
        </p:txBody>
      </p:sp>
      <p:sp>
        <p:nvSpPr>
          <p:cNvPr id="10" name="Text 8"/>
          <p:cNvSpPr/>
          <p:nvPr/>
        </p:nvSpPr>
        <p:spPr>
          <a:xfrm>
            <a:off x="7271126" y="2322576"/>
            <a:ext cx="19482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‫ספטמבר ‪26‬‬</a:t>
            </a:r>
            <a:endParaRPr lang="he-IL" sz="1300" dirty="0"/>
          </a:p>
        </p:txBody>
      </p:sp>
      <p:sp>
        <p:nvSpPr>
          <p:cNvPr id="11" name="Shape 9"/>
          <p:cNvSpPr/>
          <p:nvPr/>
        </p:nvSpPr>
        <p:spPr>
          <a:xfrm>
            <a:off x="9054755" y="2935224"/>
            <a:ext cx="155448" cy="155448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271126" y="3273552"/>
            <a:ext cx="1948221" cy="1225296"/>
          </a:xfrm>
          <a:prstGeom prst="roundRect">
            <a:avLst>
              <a:gd name="adj" fmla="val 4478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472294" y="3401568"/>
            <a:ext cx="1545885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‫‪POC‬ על ‪1–2 TB‬‬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‫אישור ‪DPO‬ ורגולטור‬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‫הקמת ‪Direct Connect‬‬</a:t>
            </a:r>
            <a:endParaRPr lang="he-IL" sz="1150" dirty="0"/>
          </a:p>
        </p:txBody>
      </p:sp>
      <p:sp>
        <p:nvSpPr>
          <p:cNvPr id="14" name="Text 12"/>
          <p:cNvSpPr/>
          <p:nvPr/>
        </p:nvSpPr>
        <p:spPr>
          <a:xfrm>
            <a:off x="5121737" y="2322576"/>
            <a:ext cx="19482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‫אוקטובר ‪26‬‬</a:t>
            </a:r>
            <a:endParaRPr lang="he-IL" sz="1300" dirty="0"/>
          </a:p>
        </p:txBody>
      </p:sp>
      <p:sp>
        <p:nvSpPr>
          <p:cNvPr id="15" name="Shape 13"/>
          <p:cNvSpPr/>
          <p:nvPr/>
        </p:nvSpPr>
        <p:spPr>
          <a:xfrm>
            <a:off x="6905366" y="2935224"/>
            <a:ext cx="155448" cy="155448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121737" y="3273552"/>
            <a:ext cx="1948221" cy="1225296"/>
          </a:xfrm>
          <a:prstGeom prst="roundRect">
            <a:avLst>
              <a:gd name="adj" fmla="val 4478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322905" y="3401568"/>
            <a:ext cx="1545885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‫הוצאת ‪PO‬ ל-‪Dell‬ — מועד אחרון‬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‫תחילת העתקה לייצור‬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‫ולידציה ראשונה ודוח חריגים‬</a:t>
            </a:r>
            <a:endParaRPr lang="he-IL" sz="1150" dirty="0"/>
          </a:p>
        </p:txBody>
      </p:sp>
      <p:sp>
        <p:nvSpPr>
          <p:cNvPr id="18" name="Text 16"/>
          <p:cNvSpPr/>
          <p:nvPr/>
        </p:nvSpPr>
        <p:spPr>
          <a:xfrm>
            <a:off x="2972349" y="2322576"/>
            <a:ext cx="19482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‫נוב׳–דצמ׳ ‪26‬‬</a:t>
            </a:r>
            <a:endParaRPr lang="he-IL" sz="1300" dirty="0"/>
          </a:p>
        </p:txBody>
      </p:sp>
      <p:sp>
        <p:nvSpPr>
          <p:cNvPr id="19" name="Shape 17"/>
          <p:cNvSpPr/>
          <p:nvPr/>
        </p:nvSpPr>
        <p:spPr>
          <a:xfrm>
            <a:off x="4755977" y="2935224"/>
            <a:ext cx="155448" cy="15544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72349" y="3273552"/>
            <a:ext cx="1948221" cy="1225296"/>
          </a:xfrm>
          <a:prstGeom prst="roundRect">
            <a:avLst>
              <a:gd name="adj" fmla="val 4478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173517" y="3401568"/>
            <a:ext cx="1545885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‫ייצור והובלה אצל ‪Dell‬‬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‫המשך העתקה ומחיקה מ-‪ECS‬‬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‫דוח שלמות מסכם‬</a:t>
            </a:r>
            <a:endParaRPr lang="he-IL" sz="1150" dirty="0"/>
          </a:p>
        </p:txBody>
      </p:sp>
      <p:sp>
        <p:nvSpPr>
          <p:cNvPr id="22" name="Text 20"/>
          <p:cNvSpPr/>
          <p:nvPr/>
        </p:nvSpPr>
        <p:spPr>
          <a:xfrm>
            <a:off x="822960" y="2322576"/>
            <a:ext cx="19482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‫ינואר–מרץ ‪27‬‬</a:t>
            </a:r>
            <a:endParaRPr lang="he-IL" sz="1300" dirty="0"/>
          </a:p>
        </p:txBody>
      </p:sp>
      <p:sp>
        <p:nvSpPr>
          <p:cNvPr id="23" name="Shape 21"/>
          <p:cNvSpPr/>
          <p:nvPr/>
        </p:nvSpPr>
        <p:spPr>
          <a:xfrm>
            <a:off x="2606589" y="2935224"/>
            <a:ext cx="155448" cy="155448"/>
          </a:xfrm>
          <a:prstGeom prst="rect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2960" y="3273552"/>
            <a:ext cx="1948221" cy="1225296"/>
          </a:xfrm>
          <a:prstGeom prst="roundRect">
            <a:avLst>
              <a:gd name="adj" fmla="val 4478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24128" y="3401568"/>
            <a:ext cx="1545885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‫אספקת דיסקים והתקנה‬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‫חציית סף ‪80% — 733 TB‬‬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‫הקיבולת הנוספת נכנסת בזמן‬</a:t>
            </a:r>
            <a:endParaRPr lang="he-IL" sz="1150" dirty="0"/>
          </a:p>
        </p:txBody>
      </p:sp>
      <p:sp>
        <p:nvSpPr>
          <p:cNvPr id="26" name="Shape 24"/>
          <p:cNvSpPr/>
          <p:nvPr/>
        </p:nvSpPr>
        <p:spPr>
          <a:xfrm>
            <a:off x="822960" y="4809744"/>
            <a:ext cx="10545775" cy="566928"/>
          </a:xfrm>
          <a:prstGeom prst="roundRect">
            <a:avLst>
              <a:gd name="adj" fmla="val 12903"/>
            </a:avLst>
          </a:prstGeom>
          <a:solidFill>
            <a:srgbClr val="2A1620"/>
          </a:solidFill>
          <a:ln w="12700">
            <a:solidFill>
              <a:srgbClr val="5A2A3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0966399" y="5029200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97280" y="4809744"/>
            <a:ext cx="97228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‫אוקטובר הוא נקודת האל-חזור: חודשיים אספקה פירושם שכל ‪PO‬ שיוצא אחריו מגיע אחרי חציית ‪80%‬.‬</a:t>
            </a:r>
            <a:endParaRPr lang="he-IL" sz="1300" dirty="0"/>
          </a:p>
        </p:txBody>
      </p:sp>
      <p:sp>
        <p:nvSpPr>
          <p:cNvPr id="29" name="Shape 27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‫המסלולים אינם תלויים זה בזה: עיכוב ב-‪POC‬ אינו מעכב את הרכש, ועיכוב ברכש אינו מעכב את ההעתקה. רק מסלול הרכש נעול על תאריך.‬</a:t>
            </a:r>
            <a:endParaRPr lang="he-IL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120" kern="0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‫המלצה‬</a:t>
            </a:r>
            <a:endParaRPr lang="he-IL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7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‫להוציא ‪PO‬ באוקטובר, ולהתניע את ההעתקה לענן במקביל‬</a:t>
            </a:r>
            <a:endParaRPr lang="he-IL" sz="27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029968"/>
            <a:ext cx="10545775" cy="914400"/>
          </a:xfrm>
          <a:prstGeom prst="roundRect">
            <a:avLst>
              <a:gd name="adj" fmla="val 5000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82351" y="2084832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1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383280" y="2139696"/>
            <a:ext cx="7162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4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‫הוצאת ‪PO‬ ל-‪Dell‬ עד סוף אוקטובר ‪2026‬‬</a:t>
            </a:r>
            <a:endParaRPr lang="he-IL" sz="1450" dirty="0"/>
          </a:p>
        </p:txBody>
      </p:sp>
      <p:sp>
        <p:nvSpPr>
          <p:cNvPr id="8" name="Text 6"/>
          <p:cNvSpPr/>
          <p:nvPr/>
        </p:nvSpPr>
        <p:spPr>
          <a:xfrm>
            <a:off x="3383280" y="2450592"/>
            <a:ext cx="71624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8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‫חודשיים זמן אספקה מחייבים יציאה באוקטובר כדי שהדיסקים יהיו מותקנים בדצמבר, במועד חציית ‪80%‬. אישור התקציב נדרש בספטמבר.‬</a:t>
            </a:r>
            <a:endParaRPr lang="he-IL" sz="1150" dirty="0"/>
          </a:p>
        </p:txBody>
      </p:sp>
      <p:sp>
        <p:nvSpPr>
          <p:cNvPr id="9" name="Text 7"/>
          <p:cNvSpPr/>
          <p:nvPr/>
        </p:nvSpPr>
        <p:spPr>
          <a:xfrm>
            <a:off x="1078992" y="2176272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00" b="1" spc="80" kern="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‫אחריות‬</a:t>
            </a:r>
            <a:endParaRPr lang="he-IL" sz="1000" dirty="0"/>
          </a:p>
        </p:txBody>
      </p:sp>
      <p:sp>
        <p:nvSpPr>
          <p:cNvPr id="10" name="Text 8"/>
          <p:cNvSpPr/>
          <p:nvPr/>
        </p:nvSpPr>
        <p:spPr>
          <a:xfrm>
            <a:off x="1078992" y="2414016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00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‫תשתיות ‪IT‬ ורכש‬</a:t>
            </a:r>
            <a:endParaRPr lang="he-IL" sz="1100" dirty="0"/>
          </a:p>
        </p:txBody>
      </p:sp>
      <p:sp>
        <p:nvSpPr>
          <p:cNvPr id="11" name="Shape 9"/>
          <p:cNvSpPr/>
          <p:nvPr/>
        </p:nvSpPr>
        <p:spPr>
          <a:xfrm>
            <a:off x="822960" y="3081528"/>
            <a:ext cx="10545775" cy="914400"/>
          </a:xfrm>
          <a:prstGeom prst="roundRect">
            <a:avLst>
              <a:gd name="adj" fmla="val 5000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582351" y="3136392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1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3383280" y="3191256"/>
            <a:ext cx="7162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4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‫אישור עקרוני להעתקת מסמכי דימות ו-‪Verint‬ ל-‪AWS S3‬‬</a:t>
            </a:r>
            <a:endParaRPr lang="he-IL" sz="1450" dirty="0"/>
          </a:p>
        </p:txBody>
      </p:sp>
      <p:sp>
        <p:nvSpPr>
          <p:cNvPr id="14" name="Text 12"/>
          <p:cNvSpPr/>
          <p:nvPr/>
        </p:nvSpPr>
        <p:spPr>
          <a:xfrm>
            <a:off x="3383280" y="3502152"/>
            <a:ext cx="71624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8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‫התנעה באוגוסט. תקציב ‪POC‬ על ‪1–2 TB‬, וסגירת חסמי הקבילות המשפטית והריבונות בספטמבר במקביל.‬</a:t>
            </a:r>
            <a:endParaRPr lang="he-IL" sz="1150" dirty="0"/>
          </a:p>
        </p:txBody>
      </p:sp>
      <p:sp>
        <p:nvSpPr>
          <p:cNvPr id="15" name="Text 13"/>
          <p:cNvSpPr/>
          <p:nvPr/>
        </p:nvSpPr>
        <p:spPr>
          <a:xfrm>
            <a:off x="1078992" y="3227832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00" b="1" spc="80" kern="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‫אחריות‬</a:t>
            </a:r>
            <a:endParaRPr lang="he-IL" sz="1000" dirty="0"/>
          </a:p>
        </p:txBody>
      </p:sp>
      <p:sp>
        <p:nvSpPr>
          <p:cNvPr id="16" name="Text 14"/>
          <p:cNvSpPr/>
          <p:nvPr/>
        </p:nvSpPr>
        <p:spPr>
          <a:xfrm>
            <a:off x="1078992" y="3465576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0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‫תשתיות ‪IT‬, יועץ משפטי ו-‪DPO‬‬</a:t>
            </a:r>
            <a:endParaRPr lang="he-IL" sz="1100" dirty="0"/>
          </a:p>
        </p:txBody>
      </p:sp>
      <p:sp>
        <p:nvSpPr>
          <p:cNvPr id="17" name="Shape 15"/>
          <p:cNvSpPr/>
          <p:nvPr/>
        </p:nvSpPr>
        <p:spPr>
          <a:xfrm>
            <a:off x="822960" y="4133088"/>
            <a:ext cx="10545775" cy="914400"/>
          </a:xfrm>
          <a:prstGeom prst="roundRect">
            <a:avLst>
              <a:gd name="adj" fmla="val 5000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582351" y="4187952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1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3383280" y="4242816"/>
            <a:ext cx="7162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4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‫תמחור מחדש של חלופת הענן לפי שכבת אחסון נכונה‬</a:t>
            </a:r>
            <a:endParaRPr lang="he-IL" sz="1450" dirty="0"/>
          </a:p>
        </p:txBody>
      </p:sp>
      <p:sp>
        <p:nvSpPr>
          <p:cNvPr id="20" name="Text 18"/>
          <p:cNvSpPr/>
          <p:nvPr/>
        </p:nvSpPr>
        <p:spPr>
          <a:xfrm>
            <a:off x="3383280" y="4553712"/>
            <a:ext cx="71624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8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‫פילוח גודל-אובייקט ותדירות אחזור של הקורפוס, ותמחור מול ‪Glacier Instant Retrieval‬ באזור תל אביב — לא מול ‪S3 Standard‬.‬</a:t>
            </a:r>
            <a:endParaRPr lang="he-IL" sz="1150" dirty="0"/>
          </a:p>
        </p:txBody>
      </p:sp>
      <p:sp>
        <p:nvSpPr>
          <p:cNvPr id="21" name="Text 19"/>
          <p:cNvSpPr/>
          <p:nvPr/>
        </p:nvSpPr>
        <p:spPr>
          <a:xfrm>
            <a:off x="1078992" y="4279392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00" b="1" spc="80" kern="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‫אחריות‬</a:t>
            </a:r>
            <a:endParaRPr lang="he-IL" sz="1000" dirty="0"/>
          </a:p>
        </p:txBody>
      </p:sp>
      <p:sp>
        <p:nvSpPr>
          <p:cNvPr id="22" name="Text 20"/>
          <p:cNvSpPr/>
          <p:nvPr/>
        </p:nvSpPr>
        <p:spPr>
          <a:xfrm>
            <a:off x="1078992" y="4517136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0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‫תשתיות ‪IT‬ ו-‪FinOps‬‬</a:t>
            </a:r>
            <a:endParaRPr lang="he-IL" sz="1100" dirty="0"/>
          </a:p>
        </p:txBody>
      </p:sp>
      <p:sp>
        <p:nvSpPr>
          <p:cNvPr id="23" name="Shape 21"/>
          <p:cNvSpPr/>
          <p:nvPr/>
        </p:nvSpPr>
        <p:spPr>
          <a:xfrm>
            <a:off x="822960" y="5175504"/>
            <a:ext cx="10545775" cy="548640"/>
          </a:xfrm>
          <a:prstGeom prst="roundRect">
            <a:avLst>
              <a:gd name="adj" fmla="val 13333"/>
            </a:avLst>
          </a:prstGeom>
          <a:solidFill>
            <a:srgbClr val="2A1620"/>
          </a:solidFill>
          <a:ln w="12700">
            <a:solidFill>
              <a:srgbClr val="5A2A3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966399" y="5385816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97280" y="5175504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4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‫נדרש היום: אישור תקציב הרכש כדי שה-‪PO‬ יצא באוקטובר, ואישור עקרוני להעתקה.‬</a:t>
            </a:r>
            <a:endParaRPr lang="he-IL" sz="1400" dirty="0"/>
          </a:p>
        </p:txBody>
      </p:sp>
      <p:sp>
        <p:nvSpPr>
          <p:cNvPr id="26" name="Shape 24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‫אישור התקציב נדרש בספטמבר כדי שתהליך הרכש יסתיים בהוצאת ‪PO‬ באוקטובר. הצעת המחיר של ‪Dell‬ תרוענן לקראת האישור.‬</a:t>
            </a:r>
            <a:endParaRPr lang="he-IL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העתקת מסמכי דימות ו-Verint לענן</dc:title>
  <dc:subject>PptxGenJS Presentation</dc:subject>
  <dc:creator>Harel IT Infrastructure</dc:creator>
  <cp:lastModifiedBy>Harel IT Infrastructure</cp:lastModifiedBy>
  <cp:revision>1</cp:revision>
  <dcterms:created xsi:type="dcterms:W3CDTF">2026-08-17T14:32:34Z</dcterms:created>
  <dcterms:modified xsi:type="dcterms:W3CDTF">2026-08-17T14:32:34Z</dcterms:modified>
</cp:coreProperties>
</file>