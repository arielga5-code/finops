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of material, so open on the ask and let the rest be evidence. The framing that works with a CIO is control, not thrift: this is the one large line where spending commitments are made daily, by engineers, with no approval step — everywhere else in the budget that would be considered a control gap. Fill in the three bullets with our own position before presenting: how long it actually took to explain the last unexpected increase, what share of spend currently lands unallocated, and whether any workload has a hard ceiling today. Specifics here are worth more than any slide later in the deck. Close the opening by reading the line under the asks — no new headcount, no platform purchase — because that is the first thing a CIO is calculating while you talk. If the meeting ends after this slide, the three asks are what you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answer 'why is this on my desk, and why now'. The 78% figure is the one that matters to this audience: FinOps has moved from a finance reporting function to a technology capability, and it now reports into the CTO/CIO organization in most practices — up eighteen points in three years. That is the industry telling us where accountability sits. The middle card is the scope point. Practices are no longer managing cloud alone: AI spend is now near-universal, SaaS is close behind, and data centre is climbing. If we build allocation and ownership only for cloud, we rebuild it twice. The third card pre-empts the obvious question, 'haven't we already done the cost work?'. Optimization dropped below governance and forecasting in the 2026 priorities because mature practices hit diminishing returns on hunting waste after the fact. Attribute the numbers to the State of FinOps 2026 out loud — this is external evidence, not our opinion, and it is the strongest slide in the deck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for the whole of part one, so keep it to the chain: tag, allocate, show, measure. The single sentence worth landing is that every interesting question about cloud spend collapses into one prerequisite — can this cost be traced to an owner? Give the allocation KPI a number, because a CIO will hold you to it: under 5% unallocated, reported weekly, is the target that makes the rest work. Expect the objection that tagging is an old idea nobody has managed to enforce. Agree, and make the distinction that matters: it fails when it is a reporting request and works when it is a deployment requirement. Enforcement at creation costs nothing after configuration; retrofitting a live estate is a manual project. The right-hand card is the outcome to promise — the shift from an argument about whether IT overspends to a sentence naming a team, a resource, a cost and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to make here is that there are two moments to control a cost, and most organizations only operate the second one. On the left is shift left: cost entering the engineering workflow at the moment the choice is made — priced architecture options, a cost diff on the pull request, tagging and budget rules enforced as policy in the pipeline. On the right are the runtime controls, which act on spend that already exists. The economics favour the left column heavily. The same decision costs a conversation at design, an edit at pull-request time, a migration once deployed and a negotiation once it is on a contract — nothing about the decision changed, only the price of revisiting it. Two things to say out loud. First, the external evidence: pre-deployment costing is the most requested capability in the State of FinOps 2026, so this is the direction of the discipline rather than a local preference. Second, the cultural condition — this works where FinOps partners with engineers and fails where it polices them. Nobody is being asked to become a pricing expert; they are being handed the number at the moment they are already deciding. If the CIO asks where to start, the pull-request cost diff is the answer: it lands inside a ritual every team already has, and it needs no new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on specifics. Ninety days, three phases, and nothing in it requires a purchase or a new team — that is deliberate, and worth saying, because a CIO has seen this proposal arrive with a licence attached before. The pull-request cost estimate in weeks 5–8 is the shift-left commitment, and it is a pipeline step rather than a product. Do not leave the room without the three decisions at the bottom. The third is the one people avoid: a limit that never blocks anything is treated as advisory, because it is. Ask explicitly whether we are willing to have a hard ceiling somewhere, and where. If time allows, the useful close is the outcome rather than the plan: at the end of this we are not promising a smaller bill, we are promising an invoice with nothing in it that has not already been seen, explained and decided about. A savings percentage promised before anyone can see where the waste is would be a guess. The longer 23-slide deck stands behind every claim here if anyone wants the detail — offer it as a follow-up rather than presenting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658368"/>
            <a:ext cx="6400800" cy="274320"/>
          </a:xfrm>
          <a:prstGeom prst="rect">
            <a:avLst/>
          </a:prstGeom>
          <a:noFill/>
          <a:ln/>
        </p:spPr>
        <p:txBody>
          <a:bodyPr wrap="square" lIns="0" tIns="0" rIns="0" bIns="0" rtlCol="0" anchor="ctr"/>
          <a:lstStyle/>
          <a:p>
            <a:pPr indent="0" marL="0">
              <a:buNone/>
            </a:pPr>
            <a:r>
              <a:rPr lang="en-US" sz="1150" b="1" spc="240" kern="0" dirty="0">
                <a:solidFill>
                  <a:srgbClr val="E39B2C"/>
                </a:solidFill>
                <a:latin typeface="Calibri" pitchFamily="34" charset="0"/>
                <a:ea typeface="Calibri" pitchFamily="34" charset="-122"/>
                <a:cs typeface="Calibri" pitchFamily="34" charset="-120"/>
              </a:rPr>
              <a:t>FINOPS — EXECUTIVE BRIEF</a:t>
            </a:r>
            <a:endParaRPr lang="en-US" sz="1150" dirty="0"/>
          </a:p>
        </p:txBody>
      </p:sp>
      <p:sp>
        <p:nvSpPr>
          <p:cNvPr id="3" name="Text 1"/>
          <p:cNvSpPr/>
          <p:nvPr/>
        </p:nvSpPr>
        <p:spPr>
          <a:xfrm>
            <a:off x="548640" y="1097280"/>
            <a:ext cx="7223760" cy="1371600"/>
          </a:xfrm>
          <a:prstGeom prst="rect">
            <a:avLst/>
          </a:prstGeom>
          <a:noFill/>
          <a:ln/>
        </p:spPr>
        <p:txBody>
          <a:bodyPr wrap="square" lIns="0" tIns="0" rIns="0" bIns="0" rtlCol="0" anchor="t"/>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We can see the bill.</a:t>
            </a:r>
            <a:endParaRPr lang="en-US" sz="3400" dirty="0"/>
          </a:p>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We cannot see the spend.</a:t>
            </a:r>
            <a:endParaRPr lang="en-US" sz="3400" dirty="0"/>
          </a:p>
        </p:txBody>
      </p:sp>
      <p:sp>
        <p:nvSpPr>
          <p:cNvPr id="4" name="Text 2"/>
          <p:cNvSpPr/>
          <p:nvPr/>
        </p:nvSpPr>
        <p:spPr>
          <a:xfrm>
            <a:off x="548640" y="2578608"/>
            <a:ext cx="6949440" cy="731520"/>
          </a:xfrm>
          <a:prstGeom prst="rect">
            <a:avLst/>
          </a:prstGeom>
          <a:noFill/>
          <a:ln/>
        </p:spPr>
        <p:txBody>
          <a:bodyPr wrap="square" lIns="0" tIns="0" rIns="0" bIns="0" rtlCol="0" anchor="t"/>
          <a:lstStyle/>
          <a:p>
            <a:pPr indent="0" marL="0">
              <a:lnSpc>
                <a:spcPts val="2100"/>
              </a:lnSpc>
              <a:buNone/>
            </a:pPr>
            <a:r>
              <a:rPr lang="en-US" sz="1500" dirty="0">
                <a:solidFill>
                  <a:srgbClr val="9EABBA"/>
                </a:solidFill>
                <a:latin typeface="Calibri" pitchFamily="34" charset="0"/>
                <a:ea typeface="Calibri" pitchFamily="34" charset="-122"/>
                <a:cs typeface="Calibri" pitchFamily="34" charset="-120"/>
              </a:rPr>
              <a:t>Cloud is the one large line where spending decisions are made daily, by people who never see the invoice, with no approval step in between.</a:t>
            </a:r>
            <a:endParaRPr lang="en-US" sz="1500" dirty="0"/>
          </a:p>
        </p:txBody>
      </p:sp>
      <p:sp>
        <p:nvSpPr>
          <p:cNvPr id="5" name="Shape 3"/>
          <p:cNvSpPr/>
          <p:nvPr/>
        </p:nvSpPr>
        <p:spPr>
          <a:xfrm>
            <a:off x="548640" y="3639312"/>
            <a:ext cx="457200" cy="457200"/>
          </a:xfrm>
          <a:prstGeom prst="ellipse">
            <a:avLst/>
          </a:prstGeom>
          <a:solidFill>
            <a:srgbClr val="2E3A48"/>
          </a:solidFill>
          <a:ln/>
        </p:spPr>
      </p:sp>
      <p:pic>
        <p:nvPicPr>
          <p:cNvPr id="6" name="Image 0" descr="preencoded.png">    </p:cNvPr>
          <p:cNvPicPr>
            <a:picLocks noChangeAspect="1"/>
          </p:cNvPicPr>
          <p:nvPr/>
        </p:nvPicPr>
        <p:blipFill>
          <a:blip r:embed="rId1"/>
          <a:stretch>
            <a:fillRect/>
          </a:stretch>
        </p:blipFill>
        <p:spPr>
          <a:xfrm>
            <a:off x="662940" y="3753612"/>
            <a:ext cx="228600" cy="228600"/>
          </a:xfrm>
          <a:prstGeom prst="rect">
            <a:avLst/>
          </a:prstGeom>
        </p:spPr>
      </p:pic>
      <p:sp>
        <p:nvSpPr>
          <p:cNvPr id="7" name="Text 4"/>
          <p:cNvSpPr/>
          <p:nvPr/>
        </p:nvSpPr>
        <p:spPr>
          <a:xfrm>
            <a:off x="1225296" y="3584448"/>
            <a:ext cx="6400800" cy="713232"/>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No owner on the change</a:t>
            </a:r>
            <a:endParaRPr lang="en-US" sz="1450" dirty="0"/>
          </a:p>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When the number moves, naming who caused it takes days — or never happens.</a:t>
            </a:r>
            <a:endParaRPr lang="en-US" sz="1450" dirty="0"/>
          </a:p>
        </p:txBody>
      </p:sp>
      <p:sp>
        <p:nvSpPr>
          <p:cNvPr id="8" name="Shape 5"/>
          <p:cNvSpPr/>
          <p:nvPr/>
        </p:nvSpPr>
        <p:spPr>
          <a:xfrm>
            <a:off x="548640" y="4480560"/>
            <a:ext cx="457200" cy="457200"/>
          </a:xfrm>
          <a:prstGeom prst="ellipse">
            <a:avLst/>
          </a:prstGeom>
          <a:solidFill>
            <a:srgbClr val="2E3A48"/>
          </a:solidFill>
          <a:ln/>
        </p:spPr>
      </p:sp>
      <p:pic>
        <p:nvPicPr>
          <p:cNvPr id="9" name="Image 1" descr="preencoded.png">    </p:cNvPr>
          <p:cNvPicPr>
            <a:picLocks noChangeAspect="1"/>
          </p:cNvPicPr>
          <p:nvPr/>
        </p:nvPicPr>
        <p:blipFill>
          <a:blip r:embed="rId2"/>
          <a:stretch>
            <a:fillRect/>
          </a:stretch>
        </p:blipFill>
        <p:spPr>
          <a:xfrm>
            <a:off x="662940" y="4594860"/>
            <a:ext cx="228600" cy="228600"/>
          </a:xfrm>
          <a:prstGeom prst="rect">
            <a:avLst/>
          </a:prstGeom>
        </p:spPr>
      </p:pic>
      <p:sp>
        <p:nvSpPr>
          <p:cNvPr id="10" name="Text 6"/>
          <p:cNvSpPr/>
          <p:nvPr/>
        </p:nvSpPr>
        <p:spPr>
          <a:xfrm>
            <a:off x="1225296" y="4425696"/>
            <a:ext cx="6400800" cy="713232"/>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Data arrives after the fact</a:t>
            </a:r>
            <a:endParaRPr lang="en-US" sz="1450" dirty="0"/>
          </a:p>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Billing lands 24–48h late, so every cost alert reports rather than prevents.</a:t>
            </a:r>
            <a:endParaRPr lang="en-US" sz="1450" dirty="0"/>
          </a:p>
        </p:txBody>
      </p:sp>
      <p:sp>
        <p:nvSpPr>
          <p:cNvPr id="11" name="Shape 7"/>
          <p:cNvSpPr/>
          <p:nvPr/>
        </p:nvSpPr>
        <p:spPr>
          <a:xfrm>
            <a:off x="548640" y="5321808"/>
            <a:ext cx="457200" cy="457200"/>
          </a:xfrm>
          <a:prstGeom prst="ellipse">
            <a:avLst/>
          </a:prstGeom>
          <a:solidFill>
            <a:srgbClr val="2E3A48"/>
          </a:solidFill>
          <a:ln/>
        </p:spPr>
      </p:sp>
      <p:pic>
        <p:nvPicPr>
          <p:cNvPr id="12" name="Image 2" descr="preencoded.png">    </p:cNvPr>
          <p:cNvPicPr>
            <a:picLocks noChangeAspect="1"/>
          </p:cNvPicPr>
          <p:nvPr/>
        </p:nvPicPr>
        <p:blipFill>
          <a:blip r:embed="rId3"/>
          <a:stretch>
            <a:fillRect/>
          </a:stretch>
        </p:blipFill>
        <p:spPr>
          <a:xfrm>
            <a:off x="662940" y="5436108"/>
            <a:ext cx="228600" cy="228600"/>
          </a:xfrm>
          <a:prstGeom prst="rect">
            <a:avLst/>
          </a:prstGeom>
        </p:spPr>
      </p:pic>
      <p:sp>
        <p:nvSpPr>
          <p:cNvPr id="13" name="Text 8"/>
          <p:cNvSpPr/>
          <p:nvPr/>
        </p:nvSpPr>
        <p:spPr>
          <a:xfrm>
            <a:off x="1225296" y="5266944"/>
            <a:ext cx="6400800" cy="713232"/>
          </a:xfrm>
          <a:prstGeom prst="rect">
            <a:avLst/>
          </a:prstGeom>
          <a:noFill/>
          <a:ln/>
        </p:spPr>
        <p:txBody>
          <a:bodyPr wrap="square" lIns="0" tIns="0" rIns="0" bIns="0" rtlCol="0" anchor="ctr"/>
          <a:lstStyle/>
          <a:p>
            <a:pPr indent="0" marL="0">
              <a:lnSpc>
                <a:spcPts val="1700"/>
              </a:lnSpc>
              <a:buNone/>
            </a:pPr>
            <a:r>
              <a:rPr lang="en-US" sz="1450" b="1" dirty="0">
                <a:solidFill>
                  <a:srgbClr val="FFFFFF"/>
                </a:solidFill>
                <a:latin typeface="Calibri" pitchFamily="34" charset="0"/>
                <a:ea typeface="Calibri" pitchFamily="34" charset="-122"/>
                <a:cs typeface="Calibri" pitchFamily="34" charset="-120"/>
              </a:rPr>
              <a:t>Nothing stops a runaway</a:t>
            </a:r>
            <a:endParaRPr lang="en-US" sz="1450" dirty="0"/>
          </a:p>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No quota, no ceiling, no gate. The first hard limit is the invoice.</a:t>
            </a:r>
            <a:endParaRPr lang="en-US" sz="1450" dirty="0"/>
          </a:p>
        </p:txBody>
      </p:sp>
      <p:sp>
        <p:nvSpPr>
          <p:cNvPr id="14" name="Shape 9"/>
          <p:cNvSpPr/>
          <p:nvPr/>
        </p:nvSpPr>
        <p:spPr>
          <a:xfrm>
            <a:off x="7863840" y="1097280"/>
            <a:ext cx="3776472" cy="5120640"/>
          </a:xfrm>
          <a:prstGeom prst="roundRect">
            <a:avLst>
              <a:gd name="adj" fmla="val 2179"/>
            </a:avLst>
          </a:prstGeom>
          <a:solidFill>
            <a:srgbClr val="1F2936"/>
          </a:solidFill>
          <a:ln/>
        </p:spPr>
      </p:sp>
      <p:sp>
        <p:nvSpPr>
          <p:cNvPr id="15" name="Text 10"/>
          <p:cNvSpPr/>
          <p:nvPr/>
        </p:nvSpPr>
        <p:spPr>
          <a:xfrm>
            <a:off x="8156448" y="1335024"/>
            <a:ext cx="3200400" cy="292608"/>
          </a:xfrm>
          <a:prstGeom prst="rect">
            <a:avLst/>
          </a:prstGeom>
          <a:noFill/>
          <a:ln/>
        </p:spPr>
        <p:txBody>
          <a:bodyPr wrap="square" lIns="0" tIns="0" rIns="0" bIns="0" rtlCol="0" anchor="ctr"/>
          <a:lstStyle/>
          <a:p>
            <a:pPr indent="0" marL="0">
              <a:buNone/>
            </a:pPr>
            <a:r>
              <a:rPr lang="en-US" sz="1150" b="1" spc="180" kern="0" dirty="0">
                <a:solidFill>
                  <a:srgbClr val="E39B2C"/>
                </a:solidFill>
                <a:latin typeface="Calibri" pitchFamily="34" charset="0"/>
                <a:ea typeface="Calibri" pitchFamily="34" charset="-122"/>
                <a:cs typeface="Calibri" pitchFamily="34" charset="-120"/>
              </a:rPr>
              <a:t>What this brief asks for</a:t>
            </a:r>
            <a:endParaRPr lang="en-US" sz="1150" dirty="0"/>
          </a:p>
        </p:txBody>
      </p:sp>
      <p:sp>
        <p:nvSpPr>
          <p:cNvPr id="16" name="Text 11"/>
          <p:cNvSpPr/>
          <p:nvPr/>
        </p:nvSpPr>
        <p:spPr>
          <a:xfrm>
            <a:off x="8156448" y="1783080"/>
            <a:ext cx="640080" cy="365760"/>
          </a:xfrm>
          <a:prstGeom prst="rect">
            <a:avLst/>
          </a:prstGeom>
          <a:noFill/>
          <a:ln/>
        </p:spPr>
        <p:txBody>
          <a:bodyPr wrap="square" lIns="0" tIns="0" rIns="0" bIns="0" rtlCol="0" anchor="ctr"/>
          <a:lstStyle/>
          <a:p>
            <a:pPr indent="0" marL="0">
              <a:buNone/>
            </a:pPr>
            <a:r>
              <a:rPr lang="en-US" sz="2000" b="1" dirty="0">
                <a:solidFill>
                  <a:srgbClr val="E39B2C"/>
                </a:solidFill>
                <a:latin typeface="Cambria" pitchFamily="34" charset="0"/>
                <a:ea typeface="Cambria" pitchFamily="34" charset="-122"/>
                <a:cs typeface="Cambria" pitchFamily="34" charset="-120"/>
              </a:rPr>
              <a:t>01</a:t>
            </a:r>
            <a:endParaRPr lang="en-US" sz="2000" dirty="0"/>
          </a:p>
        </p:txBody>
      </p:sp>
      <p:sp>
        <p:nvSpPr>
          <p:cNvPr id="17" name="Text 12"/>
          <p:cNvSpPr/>
          <p:nvPr/>
        </p:nvSpPr>
        <p:spPr>
          <a:xfrm>
            <a:off x="8156448" y="2130552"/>
            <a:ext cx="3200400" cy="566928"/>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A mandatory tagging standard</a:t>
            </a:r>
            <a:endParaRPr lang="en-US" sz="1500" dirty="0"/>
          </a:p>
        </p:txBody>
      </p:sp>
      <p:sp>
        <p:nvSpPr>
          <p:cNvPr id="18" name="Text 13"/>
          <p:cNvSpPr/>
          <p:nvPr/>
        </p:nvSpPr>
        <p:spPr>
          <a:xfrm>
            <a:off x="8156448" y="2715768"/>
            <a:ext cx="3200400" cy="384048"/>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Enforced at deployment</a:t>
            </a:r>
            <a:endParaRPr lang="en-US" sz="1250" dirty="0"/>
          </a:p>
        </p:txBody>
      </p:sp>
      <p:sp>
        <p:nvSpPr>
          <p:cNvPr id="19" name="Text 14"/>
          <p:cNvSpPr/>
          <p:nvPr/>
        </p:nvSpPr>
        <p:spPr>
          <a:xfrm>
            <a:off x="8156448" y="3108960"/>
            <a:ext cx="640080" cy="365760"/>
          </a:xfrm>
          <a:prstGeom prst="rect">
            <a:avLst/>
          </a:prstGeom>
          <a:noFill/>
          <a:ln/>
        </p:spPr>
        <p:txBody>
          <a:bodyPr wrap="square" lIns="0" tIns="0" rIns="0" bIns="0" rtlCol="0" anchor="ctr"/>
          <a:lstStyle/>
          <a:p>
            <a:pPr indent="0" marL="0">
              <a:buNone/>
            </a:pPr>
            <a:r>
              <a:rPr lang="en-US" sz="2000" b="1" dirty="0">
                <a:solidFill>
                  <a:srgbClr val="E39B2C"/>
                </a:solidFill>
                <a:latin typeface="Cambria" pitchFamily="34" charset="0"/>
                <a:ea typeface="Cambria" pitchFamily="34" charset="-122"/>
                <a:cs typeface="Cambria" pitchFamily="34" charset="-120"/>
              </a:rPr>
              <a:t>02</a:t>
            </a:r>
            <a:endParaRPr lang="en-US" sz="2000" dirty="0"/>
          </a:p>
        </p:txBody>
      </p:sp>
      <p:sp>
        <p:nvSpPr>
          <p:cNvPr id="20" name="Text 15"/>
          <p:cNvSpPr/>
          <p:nvPr/>
        </p:nvSpPr>
        <p:spPr>
          <a:xfrm>
            <a:off x="8156448" y="3456432"/>
            <a:ext cx="3200400" cy="566928"/>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A named owner per application</a:t>
            </a:r>
            <a:endParaRPr lang="en-US" sz="1500" dirty="0"/>
          </a:p>
        </p:txBody>
      </p:sp>
      <p:sp>
        <p:nvSpPr>
          <p:cNvPr id="21" name="Text 16"/>
          <p:cNvSpPr/>
          <p:nvPr/>
        </p:nvSpPr>
        <p:spPr>
          <a:xfrm>
            <a:off x="8156448" y="4041648"/>
            <a:ext cx="3200400" cy="384048"/>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A person, not a mailing list</a:t>
            </a:r>
            <a:endParaRPr lang="en-US" sz="1250" dirty="0"/>
          </a:p>
        </p:txBody>
      </p:sp>
      <p:sp>
        <p:nvSpPr>
          <p:cNvPr id="22" name="Text 17"/>
          <p:cNvSpPr/>
          <p:nvPr/>
        </p:nvSpPr>
        <p:spPr>
          <a:xfrm>
            <a:off x="8156448" y="4434840"/>
            <a:ext cx="640080" cy="365760"/>
          </a:xfrm>
          <a:prstGeom prst="rect">
            <a:avLst/>
          </a:prstGeom>
          <a:noFill/>
          <a:ln/>
        </p:spPr>
        <p:txBody>
          <a:bodyPr wrap="square" lIns="0" tIns="0" rIns="0" bIns="0" rtlCol="0" anchor="ctr"/>
          <a:lstStyle/>
          <a:p>
            <a:pPr indent="0" marL="0">
              <a:buNone/>
            </a:pPr>
            <a:r>
              <a:rPr lang="en-US" sz="2000" b="1" dirty="0">
                <a:solidFill>
                  <a:srgbClr val="E39B2C"/>
                </a:solidFill>
                <a:latin typeface="Cambria" pitchFamily="34" charset="0"/>
                <a:ea typeface="Cambria" pitchFamily="34" charset="-122"/>
                <a:cs typeface="Cambria" pitchFamily="34" charset="-120"/>
              </a:rPr>
              <a:t>03</a:t>
            </a:r>
            <a:endParaRPr lang="en-US" sz="2000" dirty="0"/>
          </a:p>
        </p:txBody>
      </p:sp>
      <p:sp>
        <p:nvSpPr>
          <p:cNvPr id="23" name="Text 18"/>
          <p:cNvSpPr/>
          <p:nvPr/>
        </p:nvSpPr>
        <p:spPr>
          <a:xfrm>
            <a:off x="8156448" y="4782312"/>
            <a:ext cx="3200400" cy="566928"/>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Guardrails on by default</a:t>
            </a:r>
            <a:endParaRPr lang="en-US" sz="1500" dirty="0"/>
          </a:p>
        </p:txBody>
      </p:sp>
      <p:sp>
        <p:nvSpPr>
          <p:cNvPr id="24" name="Text 19"/>
          <p:cNvSpPr/>
          <p:nvPr/>
        </p:nvSpPr>
        <p:spPr>
          <a:xfrm>
            <a:off x="8156448" y="5367528"/>
            <a:ext cx="3200400" cy="384048"/>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Quotas and budget thresholds</a:t>
            </a:r>
            <a:endParaRPr lang="en-US" sz="1250" dirty="0"/>
          </a:p>
        </p:txBody>
      </p:sp>
      <p:sp>
        <p:nvSpPr>
          <p:cNvPr id="25" name="Text 20"/>
          <p:cNvSpPr/>
          <p:nvPr/>
        </p:nvSpPr>
        <p:spPr>
          <a:xfrm>
            <a:off x="8156448" y="5742432"/>
            <a:ext cx="3200400" cy="292608"/>
          </a:xfrm>
          <a:prstGeom prst="rect">
            <a:avLst/>
          </a:prstGeom>
          <a:noFill/>
          <a:ln/>
        </p:spPr>
        <p:txBody>
          <a:bodyPr wrap="square" lIns="0" tIns="0" rIns="0" bIns="0" rtlCol="0" anchor="ctr"/>
          <a:lstStyle/>
          <a:p>
            <a:pPr indent="0" marL="0">
              <a:buNone/>
            </a:pPr>
            <a:r>
              <a:rPr lang="en-US" sz="1200" b="1" dirty="0">
                <a:solidFill>
                  <a:srgbClr val="DDEDE9"/>
                </a:solidFill>
                <a:latin typeface="Calibri" pitchFamily="34" charset="0"/>
                <a:ea typeface="Calibri" pitchFamily="34" charset="-122"/>
                <a:cs typeface="Calibri" pitchFamily="34" charset="-120"/>
              </a:rPr>
              <a:t>No new headcount or tooling spend.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WHY NOW</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The discipline moved this year — toward us</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FinOps Foundation, State of FinOps 2026 (n ≈ 1,500 practitioners worldwide).</a:t>
            </a:r>
            <a:endParaRPr lang="en-US" sz="1500" dirty="0"/>
          </a:p>
        </p:txBody>
      </p:sp>
      <p:sp>
        <p:nvSpPr>
          <p:cNvPr id="5" name="Shape 3"/>
          <p:cNvSpPr/>
          <p:nvPr/>
        </p:nvSpPr>
        <p:spPr>
          <a:xfrm>
            <a:off x="548640" y="2103120"/>
            <a:ext cx="3511296" cy="2606040"/>
          </a:xfrm>
          <a:prstGeom prst="roundRect">
            <a:avLst>
              <a:gd name="adj" fmla="val 3158"/>
            </a:avLst>
          </a:prstGeom>
          <a:solidFill>
            <a:srgbClr val="1F2936"/>
          </a:solidFill>
          <a:ln/>
        </p:spPr>
      </p:sp>
      <p:sp>
        <p:nvSpPr>
          <p:cNvPr id="6" name="Text 4"/>
          <p:cNvSpPr/>
          <p:nvPr/>
        </p:nvSpPr>
        <p:spPr>
          <a:xfrm>
            <a:off x="859536" y="2331720"/>
            <a:ext cx="2926080" cy="868680"/>
          </a:xfrm>
          <a:prstGeom prst="rect">
            <a:avLst/>
          </a:prstGeom>
          <a:noFill/>
          <a:ln/>
        </p:spPr>
        <p:txBody>
          <a:bodyPr wrap="square" lIns="0" tIns="0" rIns="0" bIns="0" rtlCol="0" anchor="ctr"/>
          <a:lstStyle/>
          <a:p>
            <a:pPr indent="0" marL="0">
              <a:buNone/>
            </a:pPr>
            <a:r>
              <a:rPr lang="en-US" sz="4400" b="1" dirty="0">
                <a:solidFill>
                  <a:srgbClr val="E39B2C"/>
                </a:solidFill>
                <a:latin typeface="Cambria" pitchFamily="34" charset="0"/>
                <a:ea typeface="Cambria" pitchFamily="34" charset="-122"/>
                <a:cs typeface="Cambria" pitchFamily="34" charset="-120"/>
              </a:rPr>
              <a:t>78%</a:t>
            </a:r>
            <a:endParaRPr lang="en-US" sz="4400" dirty="0"/>
          </a:p>
        </p:txBody>
      </p:sp>
      <p:sp>
        <p:nvSpPr>
          <p:cNvPr id="7" name="Text 5"/>
          <p:cNvSpPr/>
          <p:nvPr/>
        </p:nvSpPr>
        <p:spPr>
          <a:xfrm>
            <a:off x="859536" y="3273552"/>
            <a:ext cx="2926080" cy="868680"/>
          </a:xfrm>
          <a:prstGeom prst="rect">
            <a:avLst/>
          </a:prstGeom>
          <a:noFill/>
          <a:ln/>
        </p:spPr>
        <p:txBody>
          <a:bodyPr wrap="square" lIns="0" tIns="0" rIns="0" bIns="0" rtlCol="0" anchor="t"/>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of FinOps practices now report into the CTO/CIO organization</a:t>
            </a:r>
            <a:endParaRPr lang="en-US" sz="1400" dirty="0"/>
          </a:p>
        </p:txBody>
      </p:sp>
      <p:sp>
        <p:nvSpPr>
          <p:cNvPr id="8" name="Text 6"/>
          <p:cNvSpPr/>
          <p:nvPr/>
        </p:nvSpPr>
        <p:spPr>
          <a:xfrm>
            <a:off x="859536" y="416052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9EABBA"/>
                </a:solidFill>
                <a:latin typeface="Calibri" pitchFamily="34" charset="0"/>
                <a:ea typeface="Calibri" pitchFamily="34" charset="-122"/>
                <a:cs typeface="Calibri" pitchFamily="34" charset="-120"/>
              </a:rPr>
              <a:t>up 18 points since 2023</a:t>
            </a:r>
            <a:endParaRPr lang="en-US" sz="1150" dirty="0"/>
          </a:p>
        </p:txBody>
      </p:sp>
      <p:sp>
        <p:nvSpPr>
          <p:cNvPr id="9" name="Shape 7"/>
          <p:cNvSpPr/>
          <p:nvPr/>
        </p:nvSpPr>
        <p:spPr>
          <a:xfrm>
            <a:off x="4334256" y="2103120"/>
            <a:ext cx="3511296" cy="2606040"/>
          </a:xfrm>
          <a:prstGeom prst="roundRect">
            <a:avLst>
              <a:gd name="adj" fmla="val 3158"/>
            </a:avLst>
          </a:prstGeom>
          <a:solidFill>
            <a:srgbClr val="DDEDE9"/>
          </a:solidFill>
          <a:ln/>
        </p:spPr>
      </p:sp>
      <p:sp>
        <p:nvSpPr>
          <p:cNvPr id="10" name="Text 8"/>
          <p:cNvSpPr/>
          <p:nvPr/>
        </p:nvSpPr>
        <p:spPr>
          <a:xfrm>
            <a:off x="4645152" y="2331720"/>
            <a:ext cx="2926080" cy="868680"/>
          </a:xfrm>
          <a:prstGeom prst="rect">
            <a:avLst/>
          </a:prstGeom>
          <a:noFill/>
          <a:ln/>
        </p:spPr>
        <p:txBody>
          <a:bodyPr wrap="square" lIns="0" tIns="0" rIns="0" bIns="0" rtlCol="0" anchor="ctr"/>
          <a:lstStyle/>
          <a:p>
            <a:pPr indent="0" marL="0">
              <a:buNone/>
            </a:pPr>
            <a:r>
              <a:rPr lang="en-US" sz="4400" b="1" dirty="0">
                <a:solidFill>
                  <a:srgbClr val="1F6B5C"/>
                </a:solidFill>
                <a:latin typeface="Cambria" pitchFamily="34" charset="0"/>
                <a:ea typeface="Cambria" pitchFamily="34" charset="-122"/>
                <a:cs typeface="Cambria" pitchFamily="34" charset="-120"/>
              </a:rPr>
              <a:t>98%</a:t>
            </a:r>
            <a:endParaRPr lang="en-US" sz="4400" dirty="0"/>
          </a:p>
        </p:txBody>
      </p:sp>
      <p:sp>
        <p:nvSpPr>
          <p:cNvPr id="11" name="Text 9"/>
          <p:cNvSpPr/>
          <p:nvPr/>
        </p:nvSpPr>
        <p:spPr>
          <a:xfrm>
            <a:off x="4645152" y="3273552"/>
            <a:ext cx="2926080" cy="868680"/>
          </a:xfrm>
          <a:prstGeom prst="rect">
            <a:avLst/>
          </a:prstGeom>
          <a:noFill/>
          <a:ln/>
        </p:spPr>
        <p:txBody>
          <a:bodyPr wrap="square" lIns="0" tIns="0" rIns="0" bIns="0" rtlCol="0" anchor="t"/>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of practices now manage AI spend as a core operating cost</a:t>
            </a:r>
            <a:endParaRPr lang="en-US" sz="1400" dirty="0"/>
          </a:p>
        </p:txBody>
      </p:sp>
      <p:sp>
        <p:nvSpPr>
          <p:cNvPr id="12" name="Text 10"/>
          <p:cNvSpPr/>
          <p:nvPr/>
        </p:nvSpPr>
        <p:spPr>
          <a:xfrm>
            <a:off x="4645152" y="416052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SaaS 90% · licensing 64% · data centre 48%</a:t>
            </a:r>
            <a:endParaRPr lang="en-US" sz="1150" dirty="0"/>
          </a:p>
        </p:txBody>
      </p:sp>
      <p:sp>
        <p:nvSpPr>
          <p:cNvPr id="13" name="Shape 11"/>
          <p:cNvSpPr/>
          <p:nvPr/>
        </p:nvSpPr>
        <p:spPr>
          <a:xfrm>
            <a:off x="8119872" y="2103120"/>
            <a:ext cx="3511296" cy="2606040"/>
          </a:xfrm>
          <a:prstGeom prst="roundRect">
            <a:avLst>
              <a:gd name="adj" fmla="val 3158"/>
            </a:avLst>
          </a:prstGeom>
          <a:solidFill>
            <a:srgbClr val="FBEFD8"/>
          </a:solidFill>
          <a:ln/>
        </p:spPr>
      </p:sp>
      <p:sp>
        <p:nvSpPr>
          <p:cNvPr id="14" name="Text 12"/>
          <p:cNvSpPr/>
          <p:nvPr/>
        </p:nvSpPr>
        <p:spPr>
          <a:xfrm>
            <a:off x="8430768" y="2331720"/>
            <a:ext cx="2926080" cy="868680"/>
          </a:xfrm>
          <a:prstGeom prst="rect">
            <a:avLst/>
          </a:prstGeom>
          <a:noFill/>
          <a:ln/>
        </p:spPr>
        <p:txBody>
          <a:bodyPr wrap="square" lIns="0" tIns="0" rIns="0" bIns="0" rtlCol="0" anchor="ctr"/>
          <a:lstStyle/>
          <a:p>
            <a:pPr indent="0" marL="0">
              <a:buNone/>
            </a:pPr>
            <a:r>
              <a:rPr lang="en-US" sz="4400" b="1" dirty="0">
                <a:solidFill>
                  <a:srgbClr val="B87B18"/>
                </a:solidFill>
                <a:latin typeface="Cambria" pitchFamily="34" charset="0"/>
                <a:ea typeface="Cambria" pitchFamily="34" charset="-122"/>
                <a:cs typeface="Cambria" pitchFamily="34" charset="-120"/>
              </a:rPr>
              <a:t>#3</a:t>
            </a:r>
            <a:endParaRPr lang="en-US" sz="4400" dirty="0"/>
          </a:p>
        </p:txBody>
      </p:sp>
      <p:sp>
        <p:nvSpPr>
          <p:cNvPr id="15" name="Text 13"/>
          <p:cNvSpPr/>
          <p:nvPr/>
        </p:nvSpPr>
        <p:spPr>
          <a:xfrm>
            <a:off x="8430768" y="3273552"/>
            <a:ext cx="2926080" cy="868680"/>
          </a:xfrm>
          <a:prstGeom prst="rect">
            <a:avLst/>
          </a:prstGeom>
          <a:noFill/>
          <a:ln/>
        </p:spPr>
        <p:txBody>
          <a:bodyPr wrap="square" lIns="0" tIns="0" rIns="0" bIns="0" rtlCol="0" anchor="t"/>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governance ranks above optimization in 2026 priorities</a:t>
            </a:r>
            <a:endParaRPr lang="en-US" sz="1400" dirty="0"/>
          </a:p>
        </p:txBody>
      </p:sp>
      <p:sp>
        <p:nvSpPr>
          <p:cNvPr id="16" name="Text 14"/>
          <p:cNvSpPr/>
          <p:nvPr/>
        </p:nvSpPr>
        <p:spPr>
          <a:xfrm>
            <a:off x="8430768" y="416052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behind only AI cost management and AI-driven efficiency</a:t>
            </a:r>
            <a:endParaRPr lang="en-US" sz="1150" dirty="0"/>
          </a:p>
        </p:txBody>
      </p:sp>
      <p:sp>
        <p:nvSpPr>
          <p:cNvPr id="17" name="Shape 15"/>
          <p:cNvSpPr/>
          <p:nvPr/>
        </p:nvSpPr>
        <p:spPr>
          <a:xfrm>
            <a:off x="548640" y="4983480"/>
            <a:ext cx="11091672" cy="1325880"/>
          </a:xfrm>
          <a:prstGeom prst="roundRect">
            <a:avLst>
              <a:gd name="adj" fmla="val 6207"/>
            </a:avLst>
          </a:prstGeom>
          <a:solidFill>
            <a:srgbClr val="F1F3F6"/>
          </a:solidFill>
          <a:ln/>
        </p:spPr>
      </p:sp>
      <p:sp>
        <p:nvSpPr>
          <p:cNvPr id="18" name="Text 16"/>
          <p:cNvSpPr/>
          <p:nvPr/>
        </p:nvSpPr>
        <p:spPr>
          <a:xfrm>
            <a:off x="877824" y="5138928"/>
            <a:ext cx="5486400" cy="292608"/>
          </a:xfrm>
          <a:prstGeom prst="rect">
            <a:avLst/>
          </a:prstGeom>
          <a:noFill/>
          <a:ln/>
        </p:spPr>
        <p:txBody>
          <a:bodyPr wrap="square" lIns="0" tIns="0" rIns="0" bIns="0" rtlCol="0" anchor="ctr"/>
          <a:lstStyle/>
          <a:p>
            <a:pPr indent="0" marL="0">
              <a:buNone/>
            </a:pPr>
            <a:r>
              <a:rPr lang="en-US" sz="1200" b="1" spc="180" kern="0" dirty="0">
                <a:solidFill>
                  <a:srgbClr val="5C6675"/>
                </a:solidFill>
                <a:latin typeface="Calibri" pitchFamily="34" charset="0"/>
                <a:ea typeface="Calibri" pitchFamily="34" charset="-122"/>
                <a:cs typeface="Calibri" pitchFamily="34" charset="-120"/>
              </a:rPr>
              <a:t>What it means for this organization</a:t>
            </a:r>
            <a:endParaRPr lang="en-US" sz="1200" dirty="0"/>
          </a:p>
        </p:txBody>
      </p:sp>
      <p:sp>
        <p:nvSpPr>
          <p:cNvPr id="19" name="Text 17"/>
          <p:cNvSpPr/>
          <p:nvPr/>
        </p:nvSpPr>
        <p:spPr>
          <a:xfrm>
            <a:off x="877824" y="5449824"/>
            <a:ext cx="10424160" cy="731520"/>
          </a:xfrm>
          <a:prstGeom prst="rect">
            <a:avLst/>
          </a:prstGeom>
          <a:noFill/>
          <a:ln/>
        </p:spPr>
        <p:txBody>
          <a:bodyPr wrap="square" lIns="0" tIns="0" rIns="0" bIns="0" rtlCol="0" anchor="t"/>
          <a:lstStyle/>
          <a:p>
            <a:pPr indent="0" marL="0">
              <a:lnSpc>
                <a:spcPts val="2000"/>
              </a:lnSpc>
              <a:buNone/>
            </a:pPr>
            <a:r>
              <a:rPr lang="en-US" sz="1400" b="1" dirty="0">
                <a:solidFill>
                  <a:srgbClr val="1B2430"/>
                </a:solidFill>
                <a:latin typeface="Calibri" pitchFamily="34" charset="0"/>
                <a:ea typeface="Calibri" pitchFamily="34" charset="-122"/>
                <a:cs typeface="Calibri" pitchFamily="34" charset="-120"/>
              </a:rPr>
              <a:t>Cost control has stopped being a finance report and become a technology capability — </a:t>
            </a:r>
            <a:pPr indent="0" marL="0">
              <a:lnSpc>
                <a:spcPts val="2000"/>
              </a:lnSpc>
              <a:buNone/>
            </a:pPr>
            <a:r>
              <a:rPr lang="en-US" sz="1400" dirty="0">
                <a:solidFill>
                  <a:srgbClr val="5C6675"/>
                </a:solidFill>
                <a:latin typeface="Calibri" pitchFamily="34" charset="0"/>
                <a:ea typeface="Calibri" pitchFamily="34" charset="-122"/>
                <a:cs typeface="Calibri" pitchFamily="34" charset="-120"/>
              </a:rPr>
              <a:t>which puts it on this desk. The industry's own conclusion is that attacking waste after the fact has hit diminishing returns; the returns now come from governance, forecasting and scope.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PART ONE — SEE IT</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Allocation is the whole game</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Every question worth asking about cloud spend reduces to one prerequisite: can this cost be traced to an owner?</a:t>
            </a:r>
            <a:endParaRPr lang="en-US" sz="1500" dirty="0"/>
          </a:p>
        </p:txBody>
      </p:sp>
      <p:sp>
        <p:nvSpPr>
          <p:cNvPr id="5" name="Shape 3"/>
          <p:cNvSpPr/>
          <p:nvPr/>
        </p:nvSpPr>
        <p:spPr>
          <a:xfrm>
            <a:off x="548640" y="2212848"/>
            <a:ext cx="2587752" cy="2286000"/>
          </a:xfrm>
          <a:prstGeom prst="roundRect">
            <a:avLst>
              <a:gd name="adj" fmla="val 3600"/>
            </a:avLst>
          </a:prstGeom>
          <a:solidFill>
            <a:srgbClr val="1F2936"/>
          </a:solidFill>
          <a:ln/>
        </p:spPr>
      </p:sp>
      <p:sp>
        <p:nvSpPr>
          <p:cNvPr id="6" name="Shape 4"/>
          <p:cNvSpPr/>
          <p:nvPr/>
        </p:nvSpPr>
        <p:spPr>
          <a:xfrm>
            <a:off x="804672" y="2450592"/>
            <a:ext cx="530352" cy="530352"/>
          </a:xfrm>
          <a:prstGeom prst="ellipse">
            <a:avLst/>
          </a:prstGeom>
          <a:solidFill>
            <a:srgbClr val="E39B2C"/>
          </a:solidFill>
          <a:ln/>
        </p:spPr>
      </p:sp>
      <p:pic>
        <p:nvPicPr>
          <p:cNvPr id="7" name="Image 0" descr="preencoded.png">    </p:cNvPr>
          <p:cNvPicPr>
            <a:picLocks noChangeAspect="1"/>
          </p:cNvPicPr>
          <p:nvPr/>
        </p:nvPicPr>
        <p:blipFill>
          <a:blip r:embed="rId1"/>
          <a:stretch>
            <a:fillRect/>
          </a:stretch>
        </p:blipFill>
        <p:spPr>
          <a:xfrm>
            <a:off x="937260" y="2583180"/>
            <a:ext cx="265176" cy="265176"/>
          </a:xfrm>
          <a:prstGeom prst="rect">
            <a:avLst/>
          </a:prstGeom>
        </p:spPr>
      </p:pic>
      <p:sp>
        <p:nvSpPr>
          <p:cNvPr id="8" name="Text 5"/>
          <p:cNvSpPr/>
          <p:nvPr/>
        </p:nvSpPr>
        <p:spPr>
          <a:xfrm>
            <a:off x="804672" y="3090672"/>
            <a:ext cx="2103120" cy="658368"/>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Tag at creation</a:t>
            </a:r>
            <a:endParaRPr lang="en-US" sz="1500" dirty="0"/>
          </a:p>
        </p:txBody>
      </p:sp>
      <p:sp>
        <p:nvSpPr>
          <p:cNvPr id="9" name="Text 6"/>
          <p:cNvSpPr/>
          <p:nvPr/>
        </p:nvSpPr>
        <p:spPr>
          <a:xfrm>
            <a:off x="804672" y="3712464"/>
            <a:ext cx="2103120" cy="713232"/>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Five tags, enforced by policy. Untagged means undeployed.</a:t>
            </a:r>
            <a:endParaRPr lang="en-US" sz="1200" dirty="0"/>
          </a:p>
        </p:txBody>
      </p:sp>
      <p:sp>
        <p:nvSpPr>
          <p:cNvPr id="10" name="Shape 7"/>
          <p:cNvSpPr/>
          <p:nvPr/>
        </p:nvSpPr>
        <p:spPr>
          <a:xfrm>
            <a:off x="3182112" y="3273552"/>
            <a:ext cx="192024" cy="182880"/>
          </a:xfrm>
          <a:prstGeom prst="rightArrow">
            <a:avLst/>
          </a:prstGeom>
          <a:solidFill>
            <a:srgbClr val="C3CBD5"/>
          </a:solidFill>
          <a:ln/>
        </p:spPr>
      </p:sp>
      <p:sp>
        <p:nvSpPr>
          <p:cNvPr id="11" name="Shape 8"/>
          <p:cNvSpPr/>
          <p:nvPr/>
        </p:nvSpPr>
        <p:spPr>
          <a:xfrm>
            <a:off x="3383280" y="2212848"/>
            <a:ext cx="2587752" cy="2286000"/>
          </a:xfrm>
          <a:prstGeom prst="roundRect">
            <a:avLst>
              <a:gd name="adj" fmla="val 3600"/>
            </a:avLst>
          </a:prstGeom>
          <a:solidFill>
            <a:srgbClr val="F1F3F6"/>
          </a:solidFill>
          <a:ln/>
        </p:spPr>
      </p:sp>
      <p:sp>
        <p:nvSpPr>
          <p:cNvPr id="12" name="Shape 9"/>
          <p:cNvSpPr/>
          <p:nvPr/>
        </p:nvSpPr>
        <p:spPr>
          <a:xfrm>
            <a:off x="3639312" y="2450592"/>
            <a:ext cx="530352" cy="530352"/>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3771900" y="2583180"/>
            <a:ext cx="265176" cy="265176"/>
          </a:xfrm>
          <a:prstGeom prst="rect">
            <a:avLst/>
          </a:prstGeom>
        </p:spPr>
      </p:pic>
      <p:sp>
        <p:nvSpPr>
          <p:cNvPr id="14" name="Text 10"/>
          <p:cNvSpPr/>
          <p:nvPr/>
        </p:nvSpPr>
        <p:spPr>
          <a:xfrm>
            <a:off x="3639312" y="3090672"/>
            <a:ext cx="2103120" cy="658368"/>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Allocate the spend</a:t>
            </a:r>
            <a:endParaRPr lang="en-US" sz="1500" dirty="0"/>
          </a:p>
        </p:txBody>
      </p:sp>
      <p:sp>
        <p:nvSpPr>
          <p:cNvPr id="15" name="Text 11"/>
          <p:cNvSpPr/>
          <p:nvPr/>
        </p:nvSpPr>
        <p:spPr>
          <a:xfrm>
            <a:off x="3639312" y="3712464"/>
            <a:ext cx="2103120" cy="713232"/>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Target under 5% unallocated, tracked as a standing KPI.</a:t>
            </a:r>
            <a:endParaRPr lang="en-US" sz="1200" dirty="0"/>
          </a:p>
        </p:txBody>
      </p:sp>
      <p:sp>
        <p:nvSpPr>
          <p:cNvPr id="16" name="Shape 12"/>
          <p:cNvSpPr/>
          <p:nvPr/>
        </p:nvSpPr>
        <p:spPr>
          <a:xfrm>
            <a:off x="6016752" y="3273552"/>
            <a:ext cx="192024" cy="182880"/>
          </a:xfrm>
          <a:prstGeom prst="rightArrow">
            <a:avLst/>
          </a:prstGeom>
          <a:solidFill>
            <a:srgbClr val="C3CBD5"/>
          </a:solidFill>
          <a:ln/>
        </p:spPr>
      </p:sp>
      <p:sp>
        <p:nvSpPr>
          <p:cNvPr id="17" name="Shape 13"/>
          <p:cNvSpPr/>
          <p:nvPr/>
        </p:nvSpPr>
        <p:spPr>
          <a:xfrm>
            <a:off x="6217920" y="2212848"/>
            <a:ext cx="2587752" cy="2286000"/>
          </a:xfrm>
          <a:prstGeom prst="roundRect">
            <a:avLst>
              <a:gd name="adj" fmla="val 3600"/>
            </a:avLst>
          </a:prstGeom>
          <a:solidFill>
            <a:srgbClr val="F1F3F6"/>
          </a:solidFill>
          <a:ln/>
        </p:spPr>
      </p:sp>
      <p:sp>
        <p:nvSpPr>
          <p:cNvPr id="18" name="Shape 14"/>
          <p:cNvSpPr/>
          <p:nvPr/>
        </p:nvSpPr>
        <p:spPr>
          <a:xfrm>
            <a:off x="6473952" y="2450592"/>
            <a:ext cx="530352" cy="530352"/>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6606540" y="2583180"/>
            <a:ext cx="265176" cy="265176"/>
          </a:xfrm>
          <a:prstGeom prst="rect">
            <a:avLst/>
          </a:prstGeom>
        </p:spPr>
      </p:pic>
      <p:sp>
        <p:nvSpPr>
          <p:cNvPr id="20" name="Text 15"/>
          <p:cNvSpPr/>
          <p:nvPr/>
        </p:nvSpPr>
        <p:spPr>
          <a:xfrm>
            <a:off x="6473952" y="3090672"/>
            <a:ext cx="2103120" cy="658368"/>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Show teams their own numbers</a:t>
            </a:r>
            <a:endParaRPr lang="en-US" sz="1500" dirty="0"/>
          </a:p>
        </p:txBody>
      </p:sp>
      <p:sp>
        <p:nvSpPr>
          <p:cNvPr id="21" name="Text 16"/>
          <p:cNvSpPr/>
          <p:nvPr/>
        </p:nvSpPr>
        <p:spPr>
          <a:xfrm>
            <a:off x="6473952" y="3712464"/>
            <a:ext cx="2103120" cy="713232"/>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Showback for 4–6 weeks before anything hits a P&amp;L.</a:t>
            </a:r>
            <a:endParaRPr lang="en-US" sz="1200" dirty="0"/>
          </a:p>
        </p:txBody>
      </p:sp>
      <p:sp>
        <p:nvSpPr>
          <p:cNvPr id="22" name="Shape 17"/>
          <p:cNvSpPr/>
          <p:nvPr/>
        </p:nvSpPr>
        <p:spPr>
          <a:xfrm>
            <a:off x="8851392" y="3273552"/>
            <a:ext cx="192024" cy="182880"/>
          </a:xfrm>
          <a:prstGeom prst="rightArrow">
            <a:avLst/>
          </a:prstGeom>
          <a:solidFill>
            <a:srgbClr val="C3CBD5"/>
          </a:solidFill>
          <a:ln/>
        </p:spPr>
      </p:sp>
      <p:sp>
        <p:nvSpPr>
          <p:cNvPr id="23" name="Shape 18"/>
          <p:cNvSpPr/>
          <p:nvPr/>
        </p:nvSpPr>
        <p:spPr>
          <a:xfrm>
            <a:off x="9052560" y="2212848"/>
            <a:ext cx="2587752" cy="2286000"/>
          </a:xfrm>
          <a:prstGeom prst="roundRect">
            <a:avLst>
              <a:gd name="adj" fmla="val 3600"/>
            </a:avLst>
          </a:prstGeom>
          <a:solidFill>
            <a:srgbClr val="F1F3F6"/>
          </a:solidFill>
          <a:ln/>
        </p:spPr>
      </p:sp>
      <p:sp>
        <p:nvSpPr>
          <p:cNvPr id="24" name="Shape 19"/>
          <p:cNvSpPr/>
          <p:nvPr/>
        </p:nvSpPr>
        <p:spPr>
          <a:xfrm>
            <a:off x="9308592" y="2450592"/>
            <a:ext cx="530352" cy="530352"/>
          </a:xfrm>
          <a:prstGeom prst="ellipse">
            <a:avLst/>
          </a:prstGeom>
          <a:solidFill>
            <a:srgbClr val="FFFFFF"/>
          </a:solidFill>
          <a:ln/>
        </p:spPr>
      </p:sp>
      <p:pic>
        <p:nvPicPr>
          <p:cNvPr id="25" name="Image 3" descr="preencoded.png">    </p:cNvPr>
          <p:cNvPicPr>
            <a:picLocks noChangeAspect="1"/>
          </p:cNvPicPr>
          <p:nvPr/>
        </p:nvPicPr>
        <p:blipFill>
          <a:blip r:embed="rId4"/>
          <a:stretch>
            <a:fillRect/>
          </a:stretch>
        </p:blipFill>
        <p:spPr>
          <a:xfrm>
            <a:off x="9441180" y="2583180"/>
            <a:ext cx="265176" cy="265176"/>
          </a:xfrm>
          <a:prstGeom prst="rect">
            <a:avLst/>
          </a:prstGeom>
        </p:spPr>
      </p:pic>
      <p:sp>
        <p:nvSpPr>
          <p:cNvPr id="26" name="Text 20"/>
          <p:cNvSpPr/>
          <p:nvPr/>
        </p:nvSpPr>
        <p:spPr>
          <a:xfrm>
            <a:off x="9308592" y="3090672"/>
            <a:ext cx="2103120" cy="658368"/>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Measure per unit</a:t>
            </a:r>
            <a:endParaRPr lang="en-US" sz="1500" dirty="0"/>
          </a:p>
        </p:txBody>
      </p:sp>
      <p:sp>
        <p:nvSpPr>
          <p:cNvPr id="27" name="Text 21"/>
          <p:cNvSpPr/>
          <p:nvPr/>
        </p:nvSpPr>
        <p:spPr>
          <a:xfrm>
            <a:off x="9308592" y="3712464"/>
            <a:ext cx="2103120" cy="713232"/>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Cost per customer or transaction — the only honest efficiency signal.</a:t>
            </a:r>
            <a:endParaRPr lang="en-US" sz="1200" dirty="0"/>
          </a:p>
        </p:txBody>
      </p:sp>
      <p:sp>
        <p:nvSpPr>
          <p:cNvPr id="28" name="Shape 22"/>
          <p:cNvSpPr/>
          <p:nvPr/>
        </p:nvSpPr>
        <p:spPr>
          <a:xfrm>
            <a:off x="548640" y="4754880"/>
            <a:ext cx="5394960" cy="1554480"/>
          </a:xfrm>
          <a:prstGeom prst="roundRect">
            <a:avLst>
              <a:gd name="adj" fmla="val 5294"/>
            </a:avLst>
          </a:prstGeom>
          <a:solidFill>
            <a:srgbClr val="FBEFD8"/>
          </a:solidFill>
          <a:ln/>
        </p:spPr>
      </p:sp>
      <p:sp>
        <p:nvSpPr>
          <p:cNvPr id="29" name="Text 23"/>
          <p:cNvSpPr/>
          <p:nvPr/>
        </p:nvSpPr>
        <p:spPr>
          <a:xfrm>
            <a:off x="859536" y="4919472"/>
            <a:ext cx="4114800" cy="292608"/>
          </a:xfrm>
          <a:prstGeom prst="rect">
            <a:avLst/>
          </a:prstGeom>
          <a:noFill/>
          <a:ln/>
        </p:spPr>
        <p:txBody>
          <a:bodyPr wrap="square" lIns="0" tIns="0" rIns="0" bIns="0" rtlCol="0" anchor="ctr"/>
          <a:lstStyle/>
          <a:p>
            <a:pPr indent="0" marL="0">
              <a:buNone/>
            </a:pPr>
            <a:r>
              <a:rPr lang="en-US" sz="1200" b="1" spc="180" kern="0" dirty="0">
                <a:solidFill>
                  <a:srgbClr val="6B4A0E"/>
                </a:solidFill>
                <a:latin typeface="Calibri" pitchFamily="34" charset="0"/>
                <a:ea typeface="Calibri" pitchFamily="34" charset="-122"/>
                <a:cs typeface="Calibri" pitchFamily="34" charset="-120"/>
              </a:rPr>
              <a:t>The blocker, every time</a:t>
            </a:r>
            <a:endParaRPr lang="en-US" sz="1200" dirty="0"/>
          </a:p>
        </p:txBody>
      </p:sp>
      <p:sp>
        <p:nvSpPr>
          <p:cNvPr id="30" name="Text 24"/>
          <p:cNvSpPr/>
          <p:nvPr/>
        </p:nvSpPr>
        <p:spPr>
          <a:xfrm>
            <a:off x="859536" y="5230368"/>
            <a:ext cx="4773168" cy="914400"/>
          </a:xfrm>
          <a:prstGeom prst="rect">
            <a:avLst/>
          </a:prstGeom>
          <a:noFill/>
          <a:ln/>
        </p:spPr>
        <p:txBody>
          <a:bodyPr wrap="square" lIns="0" tIns="0" rIns="0" bIns="0" rtlCol="0" anchor="t"/>
          <a:lstStyle/>
          <a:p>
            <a:pPr indent="0" marL="0">
              <a:lnSpc>
                <a:spcPts val="1700"/>
              </a:lnSpc>
              <a:buNone/>
            </a:pPr>
            <a:r>
              <a:rPr lang="en-US" sz="1300" dirty="0">
                <a:solidFill>
                  <a:srgbClr val="6B4A0E"/>
                </a:solidFill>
                <a:latin typeface="Calibri" pitchFamily="34" charset="0"/>
                <a:ea typeface="Calibri" pitchFamily="34" charset="-122"/>
                <a:cs typeface="Calibri" pitchFamily="34" charset="-120"/>
              </a:rPr>
              <a:t>Tagging is the most foundational habit in the practice and the most frequently skipped. As an estate grows, coverage that was once adequate leaves a fifth of spend allocated to nobody.</a:t>
            </a:r>
            <a:endParaRPr lang="en-US" sz="1300" dirty="0"/>
          </a:p>
        </p:txBody>
      </p:sp>
      <p:sp>
        <p:nvSpPr>
          <p:cNvPr id="31" name="Shape 25"/>
          <p:cNvSpPr/>
          <p:nvPr/>
        </p:nvSpPr>
        <p:spPr>
          <a:xfrm>
            <a:off x="6245352" y="4754880"/>
            <a:ext cx="5394960" cy="1554480"/>
          </a:xfrm>
          <a:prstGeom prst="roundRect">
            <a:avLst>
              <a:gd name="adj" fmla="val 5294"/>
            </a:avLst>
          </a:prstGeom>
          <a:solidFill>
            <a:srgbClr val="1F2936"/>
          </a:solidFill>
          <a:ln/>
          <a:effectLst>
            <a:outerShdw sx="100000" sy="100000" kx="0" ky="0" algn="bl" rotWithShape="0" blurRad="127000" dist="25400" dir="5400000">
              <a:srgbClr val="8C99A8">
                <a:alpha val="16000"/>
              </a:srgbClr>
            </a:outerShdw>
          </a:effectLst>
        </p:spPr>
      </p:sp>
      <p:sp>
        <p:nvSpPr>
          <p:cNvPr id="32" name="Text 26"/>
          <p:cNvSpPr/>
          <p:nvPr/>
        </p:nvSpPr>
        <p:spPr>
          <a:xfrm>
            <a:off x="6556248" y="4919472"/>
            <a:ext cx="4114800" cy="292608"/>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What changes when it works</a:t>
            </a:r>
            <a:endParaRPr lang="en-US" sz="1200" dirty="0"/>
          </a:p>
        </p:txBody>
      </p:sp>
      <p:sp>
        <p:nvSpPr>
          <p:cNvPr id="33" name="Text 27"/>
          <p:cNvSpPr/>
          <p:nvPr/>
        </p:nvSpPr>
        <p:spPr>
          <a:xfrm>
            <a:off x="6556248" y="5266944"/>
            <a:ext cx="4773168" cy="868680"/>
          </a:xfrm>
          <a:prstGeom prst="rect">
            <a:avLst/>
          </a:prstGeom>
          <a:noFill/>
          <a:ln/>
        </p:spPr>
        <p:txBody>
          <a:bodyPr wrap="square" lIns="0" tIns="0" rIns="0" bIns="0" rtlCol="0" anchor="t"/>
          <a:lstStyle/>
          <a:p>
            <a:pPr indent="0" marL="0">
              <a:lnSpc>
                <a:spcPts val="2400"/>
              </a:lnSpc>
              <a:buNone/>
            </a:pPr>
            <a:r>
              <a:rPr lang="en-US" sz="1500" i="1" dirty="0">
                <a:solidFill>
                  <a:srgbClr val="9EABBA"/>
                </a:solidFill>
                <a:latin typeface="Calibri" pitchFamily="34" charset="0"/>
                <a:ea typeface="Calibri" pitchFamily="34" charset="-122"/>
                <a:cs typeface="Calibri" pitchFamily="34" charset="-120"/>
              </a:rPr>
              <a:t>From “IT is overspending”</a:t>
            </a:r>
            <a:endParaRPr lang="en-US" sz="1500" dirty="0"/>
          </a:p>
          <a:p>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to “Team X used Y, at cost Z, delivering 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PART TWO — CONTROL IT</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Two moments to control a cost</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9EABBA"/>
                </a:solidFill>
                <a:latin typeface="Calibri" pitchFamily="34" charset="0"/>
                <a:ea typeface="Calibri" pitchFamily="34" charset="-122"/>
                <a:cs typeface="Calibri" pitchFamily="34" charset="-120"/>
              </a:rPr>
              <a:t>Before it is deployed, when changing it is a conversation. After, when changing it is a migration.</a:t>
            </a:r>
            <a:endParaRPr lang="en-US" sz="1500" dirty="0"/>
          </a:p>
        </p:txBody>
      </p:sp>
      <p:sp>
        <p:nvSpPr>
          <p:cNvPr id="5" name="Shape 3"/>
          <p:cNvSpPr/>
          <p:nvPr/>
        </p:nvSpPr>
        <p:spPr>
          <a:xfrm>
            <a:off x="548640" y="2011680"/>
            <a:ext cx="5394960" cy="3529584"/>
          </a:xfrm>
          <a:prstGeom prst="roundRect">
            <a:avLst>
              <a:gd name="adj" fmla="val 2332"/>
            </a:avLst>
          </a:prstGeom>
          <a:solidFill>
            <a:srgbClr val="1F2936"/>
          </a:solidFill>
          <a:ln/>
        </p:spPr>
      </p:sp>
      <p:sp>
        <p:nvSpPr>
          <p:cNvPr id="6" name="Text 4"/>
          <p:cNvSpPr/>
          <p:nvPr/>
        </p:nvSpPr>
        <p:spPr>
          <a:xfrm>
            <a:off x="859536" y="2176272"/>
            <a:ext cx="475488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BEFORE DEPLOY — SHIFT LEFT</a:t>
            </a:r>
            <a:endParaRPr lang="en-US" sz="1150" dirty="0"/>
          </a:p>
        </p:txBody>
      </p:sp>
      <p:sp>
        <p:nvSpPr>
          <p:cNvPr id="7" name="Text 5"/>
          <p:cNvSpPr/>
          <p:nvPr/>
        </p:nvSpPr>
        <p:spPr>
          <a:xfrm>
            <a:off x="859536" y="2505456"/>
            <a:ext cx="4773168" cy="45720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Cost enters the engineering workflow, at the moment the choice is made.</a:t>
            </a:r>
            <a:endParaRPr lang="en-US" sz="1250" dirty="0"/>
          </a:p>
        </p:txBody>
      </p:sp>
      <p:sp>
        <p:nvSpPr>
          <p:cNvPr id="8" name="Shape 6"/>
          <p:cNvSpPr/>
          <p:nvPr/>
        </p:nvSpPr>
        <p:spPr>
          <a:xfrm>
            <a:off x="859536" y="3163824"/>
            <a:ext cx="420624" cy="420624"/>
          </a:xfrm>
          <a:prstGeom prst="ellipse">
            <a:avLst/>
          </a:prstGeom>
          <a:solidFill>
            <a:srgbClr val="2E3A48"/>
          </a:solidFill>
          <a:ln/>
        </p:spPr>
      </p:sp>
      <p:pic>
        <p:nvPicPr>
          <p:cNvPr id="9" name="Image 0" descr="preencoded.png">    </p:cNvPr>
          <p:cNvPicPr>
            <a:picLocks noChangeAspect="1"/>
          </p:cNvPicPr>
          <p:nvPr/>
        </p:nvPicPr>
        <p:blipFill>
          <a:blip r:embed="rId1"/>
          <a:stretch>
            <a:fillRect/>
          </a:stretch>
        </p:blipFill>
        <p:spPr>
          <a:xfrm>
            <a:off x="964692" y="3268980"/>
            <a:ext cx="210312" cy="210312"/>
          </a:xfrm>
          <a:prstGeom prst="rect">
            <a:avLst/>
          </a:prstGeom>
        </p:spPr>
      </p:pic>
      <p:sp>
        <p:nvSpPr>
          <p:cNvPr id="10" name="Text 7"/>
          <p:cNvSpPr/>
          <p:nvPr/>
        </p:nvSpPr>
        <p:spPr>
          <a:xfrm>
            <a:off x="1426464" y="307238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Priced architecture review</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Two or three options costed before one is chosen.</a:t>
            </a:r>
            <a:endParaRPr lang="en-US" sz="1350" dirty="0"/>
          </a:p>
        </p:txBody>
      </p:sp>
      <p:sp>
        <p:nvSpPr>
          <p:cNvPr id="11" name="Shape 8"/>
          <p:cNvSpPr/>
          <p:nvPr/>
        </p:nvSpPr>
        <p:spPr>
          <a:xfrm>
            <a:off x="859536" y="3986784"/>
            <a:ext cx="420624" cy="420624"/>
          </a:xfrm>
          <a:prstGeom prst="ellipse">
            <a:avLst/>
          </a:prstGeom>
          <a:solidFill>
            <a:srgbClr val="2E3A48"/>
          </a:solidFill>
          <a:ln/>
        </p:spPr>
      </p:sp>
      <p:pic>
        <p:nvPicPr>
          <p:cNvPr id="12" name="Image 1" descr="preencoded.png">    </p:cNvPr>
          <p:cNvPicPr>
            <a:picLocks noChangeAspect="1"/>
          </p:cNvPicPr>
          <p:nvPr/>
        </p:nvPicPr>
        <p:blipFill>
          <a:blip r:embed="rId2"/>
          <a:stretch>
            <a:fillRect/>
          </a:stretch>
        </p:blipFill>
        <p:spPr>
          <a:xfrm>
            <a:off x="964692" y="4091940"/>
            <a:ext cx="210312" cy="210312"/>
          </a:xfrm>
          <a:prstGeom prst="rect">
            <a:avLst/>
          </a:prstGeom>
        </p:spPr>
      </p:pic>
      <p:sp>
        <p:nvSpPr>
          <p:cNvPr id="13" name="Text 9"/>
          <p:cNvSpPr/>
          <p:nvPr/>
        </p:nvSpPr>
        <p:spPr>
          <a:xfrm>
            <a:off x="1426464" y="389534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Cost diff on the pull request</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Every infrastructure change shows its monthly delta.</a:t>
            </a:r>
            <a:endParaRPr lang="en-US" sz="1350" dirty="0"/>
          </a:p>
        </p:txBody>
      </p:sp>
      <p:sp>
        <p:nvSpPr>
          <p:cNvPr id="14" name="Shape 10"/>
          <p:cNvSpPr/>
          <p:nvPr/>
        </p:nvSpPr>
        <p:spPr>
          <a:xfrm>
            <a:off x="859536" y="4809744"/>
            <a:ext cx="420624" cy="420624"/>
          </a:xfrm>
          <a:prstGeom prst="ellipse">
            <a:avLst/>
          </a:prstGeom>
          <a:solidFill>
            <a:srgbClr val="2E3A48"/>
          </a:solidFill>
          <a:ln/>
        </p:spPr>
      </p:sp>
      <p:pic>
        <p:nvPicPr>
          <p:cNvPr id="15" name="Image 2" descr="preencoded.png">    </p:cNvPr>
          <p:cNvPicPr>
            <a:picLocks noChangeAspect="1"/>
          </p:cNvPicPr>
          <p:nvPr/>
        </p:nvPicPr>
        <p:blipFill>
          <a:blip r:embed="rId3"/>
          <a:stretch>
            <a:fillRect/>
          </a:stretch>
        </p:blipFill>
        <p:spPr>
          <a:xfrm>
            <a:off x="964692" y="4914900"/>
            <a:ext cx="210312" cy="210312"/>
          </a:xfrm>
          <a:prstGeom prst="rect">
            <a:avLst/>
          </a:prstGeom>
        </p:spPr>
      </p:pic>
      <p:sp>
        <p:nvSpPr>
          <p:cNvPr id="16" name="Text 11"/>
          <p:cNvSpPr/>
          <p:nvPr/>
        </p:nvSpPr>
        <p:spPr>
          <a:xfrm>
            <a:off x="1426464" y="471830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Policy as code</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Tagging and budget rules enforced in the pipeline.</a:t>
            </a:r>
            <a:endParaRPr lang="en-US" sz="1350" dirty="0"/>
          </a:p>
        </p:txBody>
      </p:sp>
      <p:sp>
        <p:nvSpPr>
          <p:cNvPr id="17" name="Shape 12"/>
          <p:cNvSpPr/>
          <p:nvPr/>
        </p:nvSpPr>
        <p:spPr>
          <a:xfrm>
            <a:off x="6245352" y="2011680"/>
            <a:ext cx="5394960" cy="3529584"/>
          </a:xfrm>
          <a:prstGeom prst="roundRect">
            <a:avLst>
              <a:gd name="adj" fmla="val 2332"/>
            </a:avLst>
          </a:prstGeom>
          <a:solidFill>
            <a:srgbClr val="1F2936"/>
          </a:solidFill>
          <a:ln/>
        </p:spPr>
      </p:sp>
      <p:sp>
        <p:nvSpPr>
          <p:cNvPr id="18" name="Text 13"/>
          <p:cNvSpPr/>
          <p:nvPr/>
        </p:nvSpPr>
        <p:spPr>
          <a:xfrm>
            <a:off x="6556248" y="2176272"/>
            <a:ext cx="4754880" cy="292608"/>
          </a:xfrm>
          <a:prstGeom prst="rect">
            <a:avLst/>
          </a:prstGeom>
          <a:noFill/>
          <a:ln/>
        </p:spPr>
        <p:txBody>
          <a:bodyPr wrap="square" lIns="0" tIns="0" rIns="0" bIns="0" rtlCol="0" anchor="ctr"/>
          <a:lstStyle/>
          <a:p>
            <a:pPr indent="0" marL="0">
              <a:buNone/>
            </a:pPr>
            <a:r>
              <a:rPr lang="en-US" sz="1150" b="1" spc="160" kern="0" dirty="0">
                <a:solidFill>
                  <a:srgbClr val="2E8B7A"/>
                </a:solidFill>
                <a:latin typeface="Calibri" pitchFamily="34" charset="0"/>
                <a:ea typeface="Calibri" pitchFamily="34" charset="-122"/>
                <a:cs typeface="Calibri" pitchFamily="34" charset="-120"/>
              </a:rPr>
              <a:t>AFTER DEPLOY — RUNTIME</a:t>
            </a:r>
            <a:endParaRPr lang="en-US" sz="1150" dirty="0"/>
          </a:p>
        </p:txBody>
      </p:sp>
      <p:sp>
        <p:nvSpPr>
          <p:cNvPr id="19" name="Text 14"/>
          <p:cNvSpPr/>
          <p:nvPr/>
        </p:nvSpPr>
        <p:spPr>
          <a:xfrm>
            <a:off x="6556248" y="2505456"/>
            <a:ext cx="4773168" cy="45720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Controls that act on spend already running, in the order they take effect.</a:t>
            </a:r>
            <a:endParaRPr lang="en-US" sz="1250" dirty="0"/>
          </a:p>
        </p:txBody>
      </p:sp>
      <p:sp>
        <p:nvSpPr>
          <p:cNvPr id="20" name="Shape 15"/>
          <p:cNvSpPr/>
          <p:nvPr/>
        </p:nvSpPr>
        <p:spPr>
          <a:xfrm>
            <a:off x="6556248" y="3163824"/>
            <a:ext cx="420624" cy="420624"/>
          </a:xfrm>
          <a:prstGeom prst="ellipse">
            <a:avLst/>
          </a:prstGeom>
          <a:solidFill>
            <a:srgbClr val="2E3A48"/>
          </a:solidFill>
          <a:ln/>
        </p:spPr>
      </p:sp>
      <p:pic>
        <p:nvPicPr>
          <p:cNvPr id="21" name="Image 3" descr="preencoded.png">    </p:cNvPr>
          <p:cNvPicPr>
            <a:picLocks noChangeAspect="1"/>
          </p:cNvPicPr>
          <p:nvPr/>
        </p:nvPicPr>
        <p:blipFill>
          <a:blip r:embed="rId4"/>
          <a:stretch>
            <a:fillRect/>
          </a:stretch>
        </p:blipFill>
        <p:spPr>
          <a:xfrm>
            <a:off x="6661404" y="3268980"/>
            <a:ext cx="210312" cy="210312"/>
          </a:xfrm>
          <a:prstGeom prst="rect">
            <a:avLst/>
          </a:prstGeom>
        </p:spPr>
      </p:pic>
      <p:sp>
        <p:nvSpPr>
          <p:cNvPr id="22" name="Text 16"/>
          <p:cNvSpPr/>
          <p:nvPr/>
        </p:nvSpPr>
        <p:spPr>
          <a:xfrm>
            <a:off x="7123176" y="307238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Quotas and rate limits</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Seconds. The only control that stops spend in progress.</a:t>
            </a:r>
            <a:endParaRPr lang="en-US" sz="1350" dirty="0"/>
          </a:p>
        </p:txBody>
      </p:sp>
      <p:sp>
        <p:nvSpPr>
          <p:cNvPr id="23" name="Shape 17"/>
          <p:cNvSpPr/>
          <p:nvPr/>
        </p:nvSpPr>
        <p:spPr>
          <a:xfrm>
            <a:off x="6556248" y="3986784"/>
            <a:ext cx="420624" cy="420624"/>
          </a:xfrm>
          <a:prstGeom prst="ellipse">
            <a:avLst/>
          </a:prstGeom>
          <a:solidFill>
            <a:srgbClr val="2E3A48"/>
          </a:solidFill>
          <a:ln/>
        </p:spPr>
      </p:sp>
      <p:pic>
        <p:nvPicPr>
          <p:cNvPr id="24" name="Image 4" descr="preencoded.png">    </p:cNvPr>
          <p:cNvPicPr>
            <a:picLocks noChangeAspect="1"/>
          </p:cNvPicPr>
          <p:nvPr/>
        </p:nvPicPr>
        <p:blipFill>
          <a:blip r:embed="rId5"/>
          <a:stretch>
            <a:fillRect/>
          </a:stretch>
        </p:blipFill>
        <p:spPr>
          <a:xfrm>
            <a:off x="6661404" y="4091940"/>
            <a:ext cx="210312" cy="210312"/>
          </a:xfrm>
          <a:prstGeom prst="rect">
            <a:avLst/>
          </a:prstGeom>
        </p:spPr>
      </p:pic>
      <p:sp>
        <p:nvSpPr>
          <p:cNvPr id="25" name="Text 18"/>
          <p:cNvSpPr/>
          <p:nvPr/>
        </p:nvSpPr>
        <p:spPr>
          <a:xfrm>
            <a:off x="7123176" y="389534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Tiered alerts to named owners</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Minutes on usage data; never a page on a budget number.</a:t>
            </a:r>
            <a:endParaRPr lang="en-US" sz="1350" dirty="0"/>
          </a:p>
        </p:txBody>
      </p:sp>
      <p:sp>
        <p:nvSpPr>
          <p:cNvPr id="26" name="Shape 19"/>
          <p:cNvSpPr/>
          <p:nvPr/>
        </p:nvSpPr>
        <p:spPr>
          <a:xfrm>
            <a:off x="6556248" y="4809744"/>
            <a:ext cx="420624" cy="420624"/>
          </a:xfrm>
          <a:prstGeom prst="ellipse">
            <a:avLst/>
          </a:prstGeom>
          <a:solidFill>
            <a:srgbClr val="2E3A48"/>
          </a:solidFill>
          <a:ln/>
        </p:spPr>
      </p:sp>
      <p:pic>
        <p:nvPicPr>
          <p:cNvPr id="27" name="Image 5" descr="preencoded.png">    </p:cNvPr>
          <p:cNvPicPr>
            <a:picLocks noChangeAspect="1"/>
          </p:cNvPicPr>
          <p:nvPr/>
        </p:nvPicPr>
        <p:blipFill>
          <a:blip r:embed="rId6"/>
          <a:stretch>
            <a:fillRect/>
          </a:stretch>
        </p:blipFill>
        <p:spPr>
          <a:xfrm>
            <a:off x="6661404" y="4914900"/>
            <a:ext cx="210312" cy="210312"/>
          </a:xfrm>
          <a:prstGeom prst="rect">
            <a:avLst/>
          </a:prstGeom>
        </p:spPr>
      </p:pic>
      <p:sp>
        <p:nvSpPr>
          <p:cNvPr id="28" name="Text 20"/>
          <p:cNvSpPr/>
          <p:nvPr/>
        </p:nvSpPr>
        <p:spPr>
          <a:xfrm>
            <a:off x="7123176" y="4718304"/>
            <a:ext cx="4206240" cy="786384"/>
          </a:xfrm>
          <a:prstGeom prst="rect">
            <a:avLst/>
          </a:prstGeom>
          <a:noFill/>
          <a:ln/>
        </p:spPr>
        <p:txBody>
          <a:bodyPr wrap="square" lIns="0" tIns="0" rIns="0" bIns="0" rtlCol="0" anchor="ctr"/>
          <a:lstStyle/>
          <a:p>
            <a:pPr indent="0" marL="0">
              <a:lnSpc>
                <a:spcPts val="1600"/>
              </a:lnSpc>
              <a:buNone/>
            </a:pPr>
            <a:r>
              <a:rPr lang="en-US" sz="1350" b="1" dirty="0">
                <a:solidFill>
                  <a:srgbClr val="FFFFFF"/>
                </a:solidFill>
                <a:latin typeface="Calibri" pitchFamily="34" charset="0"/>
                <a:ea typeface="Calibri" pitchFamily="34" charset="-122"/>
                <a:cs typeface="Calibri" pitchFamily="34" charset="-120"/>
              </a:rPr>
              <a:t>Budget thresholds</a:t>
            </a:r>
            <a:endParaRPr lang="en-US" sz="13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Notify, review, gate — measured against the elapsed month.</a:t>
            </a:r>
            <a:endParaRPr lang="en-US" sz="1350" dirty="0"/>
          </a:p>
        </p:txBody>
      </p:sp>
      <p:sp>
        <p:nvSpPr>
          <p:cNvPr id="29" name="Shape 21"/>
          <p:cNvSpPr/>
          <p:nvPr/>
        </p:nvSpPr>
        <p:spPr>
          <a:xfrm>
            <a:off x="548640" y="5687568"/>
            <a:ext cx="11091672" cy="786384"/>
          </a:xfrm>
          <a:prstGeom prst="roundRect">
            <a:avLst>
              <a:gd name="adj" fmla="val 10465"/>
            </a:avLst>
          </a:prstGeom>
          <a:solidFill>
            <a:srgbClr val="1A222C"/>
          </a:solidFill>
          <a:ln/>
        </p:spPr>
      </p:sp>
      <p:sp>
        <p:nvSpPr>
          <p:cNvPr id="30" name="Text 22"/>
          <p:cNvSpPr/>
          <p:nvPr/>
        </p:nvSpPr>
        <p:spPr>
          <a:xfrm>
            <a:off x="877824" y="5687568"/>
            <a:ext cx="10424160" cy="786384"/>
          </a:xfrm>
          <a:prstGeom prst="rect">
            <a:avLst/>
          </a:prstGeom>
          <a:noFill/>
          <a:ln/>
        </p:spPr>
        <p:txBody>
          <a:bodyPr wrap="square" lIns="0" tIns="0" rIns="0" bIns="0" rtlCol="0" anchor="ctr"/>
          <a:lstStyle/>
          <a:p>
            <a:pPr indent="0" marL="0">
              <a:lnSpc>
                <a:spcPts val="1700"/>
              </a:lnSpc>
              <a:buNone/>
            </a:pPr>
            <a:r>
              <a:rPr lang="en-US" sz="1250" b="1" dirty="0">
                <a:solidFill>
                  <a:srgbClr val="E39B2C"/>
                </a:solidFill>
                <a:latin typeface="Calibri" pitchFamily="34" charset="0"/>
                <a:ea typeface="Calibri" pitchFamily="34" charset="-122"/>
                <a:cs typeface="Calibri" pitchFamily="34" charset="-120"/>
              </a:rPr>
              <a:t>Pre-deployment costing is the most requested capability in the State of FinOps 2026. </a:t>
            </a:r>
            <a:pPr indent="0" marL="0">
              <a:lnSpc>
                <a:spcPts val="1700"/>
              </a:lnSpc>
              <a:buNone/>
            </a:pPr>
            <a:r>
              <a:rPr lang="en-US" sz="1250" dirty="0">
                <a:solidFill>
                  <a:srgbClr val="9EABBA"/>
                </a:solidFill>
                <a:latin typeface="Calibri" pitchFamily="34" charset="0"/>
                <a:ea typeface="Calibri" pitchFamily="34" charset="-122"/>
                <a:cs typeface="Calibri" pitchFamily="34" charset="-120"/>
              </a:rPr>
              <a:t>It works where FinOps partners with engineers rather than policing them — and a cost alert still cannot stop a runaway job, because by the time billing moves the money is spent.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Ninety days, three decisions</a:t>
            </a:r>
            <a:endParaRPr lang="en-US" sz="3100" dirty="0"/>
          </a:p>
        </p:txBody>
      </p:sp>
      <p:sp>
        <p:nvSpPr>
          <p:cNvPr id="4" name="Shape 2"/>
          <p:cNvSpPr/>
          <p:nvPr/>
        </p:nvSpPr>
        <p:spPr>
          <a:xfrm>
            <a:off x="548640" y="1783080"/>
            <a:ext cx="3511296" cy="3200400"/>
          </a:xfrm>
          <a:prstGeom prst="roundRect">
            <a:avLst>
              <a:gd name="adj" fmla="val 2571"/>
            </a:avLst>
          </a:prstGeom>
          <a:solidFill>
            <a:srgbClr val="1F2936"/>
          </a:solidFill>
          <a:ln/>
        </p:spPr>
      </p:sp>
      <p:sp>
        <p:nvSpPr>
          <p:cNvPr id="5" name="Text 3"/>
          <p:cNvSpPr/>
          <p:nvPr/>
        </p:nvSpPr>
        <p:spPr>
          <a:xfrm>
            <a:off x="859536" y="1965960"/>
            <a:ext cx="292608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Weeks 1–4</a:t>
            </a:r>
            <a:endParaRPr lang="en-US" sz="1150" dirty="0"/>
          </a:p>
        </p:txBody>
      </p:sp>
      <p:sp>
        <p:nvSpPr>
          <p:cNvPr id="6" name="Text 4"/>
          <p:cNvSpPr/>
          <p:nvPr/>
        </p:nvSpPr>
        <p:spPr>
          <a:xfrm>
            <a:off x="859536" y="2304288"/>
            <a:ext cx="2926080" cy="40233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Standard and baseline</a:t>
            </a:r>
            <a:endParaRPr lang="en-US" sz="1800" dirty="0"/>
          </a:p>
        </p:txBody>
      </p:sp>
      <p:sp>
        <p:nvSpPr>
          <p:cNvPr id="7" name="Shape 5"/>
          <p:cNvSpPr/>
          <p:nvPr/>
        </p:nvSpPr>
        <p:spPr>
          <a:xfrm>
            <a:off x="877824" y="2962656"/>
            <a:ext cx="100584" cy="100584"/>
          </a:xfrm>
          <a:prstGeom prst="ellipse">
            <a:avLst/>
          </a:prstGeom>
          <a:solidFill>
            <a:srgbClr val="E39B2C"/>
          </a:solidFill>
          <a:ln/>
        </p:spPr>
      </p:sp>
      <p:sp>
        <p:nvSpPr>
          <p:cNvPr id="8" name="Text 6"/>
          <p:cNvSpPr/>
          <p:nvPr/>
        </p:nvSpPr>
        <p:spPr>
          <a:xfrm>
            <a:off x="1115568" y="28346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Publish the tag taxonomy and enforce it on new resources</a:t>
            </a:r>
            <a:endParaRPr lang="en-US" sz="1200" dirty="0"/>
          </a:p>
        </p:txBody>
      </p:sp>
      <p:sp>
        <p:nvSpPr>
          <p:cNvPr id="9" name="Shape 7"/>
          <p:cNvSpPr/>
          <p:nvPr/>
        </p:nvSpPr>
        <p:spPr>
          <a:xfrm>
            <a:off x="877824" y="3648456"/>
            <a:ext cx="100584" cy="100584"/>
          </a:xfrm>
          <a:prstGeom prst="ellipse">
            <a:avLst/>
          </a:prstGeom>
          <a:solidFill>
            <a:srgbClr val="E39B2C"/>
          </a:solidFill>
          <a:ln/>
        </p:spPr>
      </p:sp>
      <p:sp>
        <p:nvSpPr>
          <p:cNvPr id="10" name="Text 8"/>
          <p:cNvSpPr/>
          <p:nvPr/>
        </p:nvSpPr>
        <p:spPr>
          <a:xfrm>
            <a:off x="1115568" y="35204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Name an owner for every application above a spend floor</a:t>
            </a:r>
            <a:endParaRPr lang="en-US" sz="1200" dirty="0"/>
          </a:p>
        </p:txBody>
      </p:sp>
      <p:sp>
        <p:nvSpPr>
          <p:cNvPr id="11" name="Shape 9"/>
          <p:cNvSpPr/>
          <p:nvPr/>
        </p:nvSpPr>
        <p:spPr>
          <a:xfrm>
            <a:off x="877824" y="4334256"/>
            <a:ext cx="100584" cy="100584"/>
          </a:xfrm>
          <a:prstGeom prst="ellipse">
            <a:avLst/>
          </a:prstGeom>
          <a:solidFill>
            <a:srgbClr val="E39B2C"/>
          </a:solidFill>
          <a:ln/>
        </p:spPr>
      </p:sp>
      <p:sp>
        <p:nvSpPr>
          <p:cNvPr id="12" name="Text 10"/>
          <p:cNvSpPr/>
          <p:nvPr/>
        </p:nvSpPr>
        <p:spPr>
          <a:xfrm>
            <a:off x="1115568" y="42062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Report allocation coverage as a number, weekly</a:t>
            </a:r>
            <a:endParaRPr lang="en-US" sz="1200" dirty="0"/>
          </a:p>
        </p:txBody>
      </p:sp>
      <p:sp>
        <p:nvSpPr>
          <p:cNvPr id="13" name="Shape 11"/>
          <p:cNvSpPr/>
          <p:nvPr/>
        </p:nvSpPr>
        <p:spPr>
          <a:xfrm>
            <a:off x="4334256" y="1783080"/>
            <a:ext cx="3511296" cy="3200400"/>
          </a:xfrm>
          <a:prstGeom prst="roundRect">
            <a:avLst>
              <a:gd name="adj" fmla="val 2571"/>
            </a:avLst>
          </a:prstGeom>
          <a:solidFill>
            <a:srgbClr val="F1F3F6"/>
          </a:solidFill>
          <a:ln/>
        </p:spPr>
      </p:sp>
      <p:sp>
        <p:nvSpPr>
          <p:cNvPr id="14" name="Text 12"/>
          <p:cNvSpPr/>
          <p:nvPr/>
        </p:nvSpPr>
        <p:spPr>
          <a:xfrm>
            <a:off x="4645152" y="1965960"/>
            <a:ext cx="2926080" cy="292608"/>
          </a:xfrm>
          <a:prstGeom prst="rect">
            <a:avLst/>
          </a:prstGeom>
          <a:noFill/>
          <a:ln/>
        </p:spPr>
        <p:txBody>
          <a:bodyPr wrap="square" lIns="0" tIns="0" rIns="0" bIns="0" rtlCol="0" anchor="ctr"/>
          <a:lstStyle/>
          <a:p>
            <a:pPr indent="0" marL="0">
              <a:buNone/>
            </a:pPr>
            <a:r>
              <a:rPr lang="en-US" sz="1150" b="1" spc="160" kern="0" dirty="0">
                <a:solidFill>
                  <a:srgbClr val="B87B18"/>
                </a:solidFill>
                <a:latin typeface="Calibri" pitchFamily="34" charset="0"/>
                <a:ea typeface="Calibri" pitchFamily="34" charset="-122"/>
                <a:cs typeface="Calibri" pitchFamily="34" charset="-120"/>
              </a:rPr>
              <a:t>Weeks 5–8</a:t>
            </a:r>
            <a:endParaRPr lang="en-US" sz="1150" dirty="0"/>
          </a:p>
        </p:txBody>
      </p:sp>
      <p:sp>
        <p:nvSpPr>
          <p:cNvPr id="15" name="Text 13"/>
          <p:cNvSpPr/>
          <p:nvPr/>
        </p:nvSpPr>
        <p:spPr>
          <a:xfrm>
            <a:off x="4645152" y="2304288"/>
            <a:ext cx="2926080" cy="402336"/>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Shift left, guardrails</a:t>
            </a:r>
            <a:endParaRPr lang="en-US" sz="1800" dirty="0"/>
          </a:p>
        </p:txBody>
      </p:sp>
      <p:sp>
        <p:nvSpPr>
          <p:cNvPr id="16" name="Shape 14"/>
          <p:cNvSpPr/>
          <p:nvPr/>
        </p:nvSpPr>
        <p:spPr>
          <a:xfrm>
            <a:off x="4663440" y="2962656"/>
            <a:ext cx="100584" cy="100584"/>
          </a:xfrm>
          <a:prstGeom prst="ellipse">
            <a:avLst/>
          </a:prstGeom>
          <a:solidFill>
            <a:srgbClr val="B87B18"/>
          </a:solidFill>
          <a:ln/>
        </p:spPr>
      </p:sp>
      <p:sp>
        <p:nvSpPr>
          <p:cNvPr id="17" name="Text 15"/>
          <p:cNvSpPr/>
          <p:nvPr/>
        </p:nvSpPr>
        <p:spPr>
          <a:xfrm>
            <a:off x="4901184" y="28346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Cost estimate on every infrastructure pull request</a:t>
            </a:r>
            <a:endParaRPr lang="en-US" sz="1200" dirty="0"/>
          </a:p>
        </p:txBody>
      </p:sp>
      <p:sp>
        <p:nvSpPr>
          <p:cNvPr id="18" name="Shape 16"/>
          <p:cNvSpPr/>
          <p:nvPr/>
        </p:nvSpPr>
        <p:spPr>
          <a:xfrm>
            <a:off x="4663440" y="3648456"/>
            <a:ext cx="100584" cy="100584"/>
          </a:xfrm>
          <a:prstGeom prst="ellipse">
            <a:avLst/>
          </a:prstGeom>
          <a:solidFill>
            <a:srgbClr val="B87B18"/>
          </a:solidFill>
          <a:ln/>
        </p:spPr>
      </p:sp>
      <p:sp>
        <p:nvSpPr>
          <p:cNvPr id="19" name="Text 17"/>
          <p:cNvSpPr/>
          <p:nvPr/>
        </p:nvSpPr>
        <p:spPr>
          <a:xfrm>
            <a:off x="4901184" y="35204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Quotas on the top ten workloads; alerts routed to owners</a:t>
            </a:r>
            <a:endParaRPr lang="en-US" sz="1200" dirty="0"/>
          </a:p>
        </p:txBody>
      </p:sp>
      <p:sp>
        <p:nvSpPr>
          <p:cNvPr id="20" name="Shape 18"/>
          <p:cNvSpPr/>
          <p:nvPr/>
        </p:nvSpPr>
        <p:spPr>
          <a:xfrm>
            <a:off x="4663440" y="4334256"/>
            <a:ext cx="100584" cy="100584"/>
          </a:xfrm>
          <a:prstGeom prst="ellipse">
            <a:avLst/>
          </a:prstGeom>
          <a:solidFill>
            <a:srgbClr val="B87B18"/>
          </a:solidFill>
          <a:ln/>
        </p:spPr>
      </p:sp>
      <p:sp>
        <p:nvSpPr>
          <p:cNvPr id="21" name="Text 19"/>
          <p:cNvSpPr/>
          <p:nvPr/>
        </p:nvSpPr>
        <p:spPr>
          <a:xfrm>
            <a:off x="4901184" y="42062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Showback: every team sees its own spend, nothing is charged</a:t>
            </a:r>
            <a:endParaRPr lang="en-US" sz="1200" dirty="0"/>
          </a:p>
        </p:txBody>
      </p:sp>
      <p:sp>
        <p:nvSpPr>
          <p:cNvPr id="22" name="Shape 20"/>
          <p:cNvSpPr/>
          <p:nvPr/>
        </p:nvSpPr>
        <p:spPr>
          <a:xfrm>
            <a:off x="8119872" y="1783080"/>
            <a:ext cx="3511296" cy="3200400"/>
          </a:xfrm>
          <a:prstGeom prst="roundRect">
            <a:avLst>
              <a:gd name="adj" fmla="val 2571"/>
            </a:avLst>
          </a:prstGeom>
          <a:solidFill>
            <a:srgbClr val="F1F3F6"/>
          </a:solidFill>
          <a:ln/>
        </p:spPr>
      </p:sp>
      <p:sp>
        <p:nvSpPr>
          <p:cNvPr id="23" name="Text 21"/>
          <p:cNvSpPr/>
          <p:nvPr/>
        </p:nvSpPr>
        <p:spPr>
          <a:xfrm>
            <a:off x="8430768" y="1965960"/>
            <a:ext cx="2926080" cy="292608"/>
          </a:xfrm>
          <a:prstGeom prst="rect">
            <a:avLst/>
          </a:prstGeom>
          <a:noFill/>
          <a:ln/>
        </p:spPr>
        <p:txBody>
          <a:bodyPr wrap="square" lIns="0" tIns="0" rIns="0" bIns="0" rtlCol="0" anchor="ctr"/>
          <a:lstStyle/>
          <a:p>
            <a:pPr indent="0" marL="0">
              <a:buNone/>
            </a:pPr>
            <a:r>
              <a:rPr lang="en-US" sz="1150" b="1" spc="160" kern="0" dirty="0">
                <a:solidFill>
                  <a:srgbClr val="B87B18"/>
                </a:solidFill>
                <a:latin typeface="Calibri" pitchFamily="34" charset="0"/>
                <a:ea typeface="Calibri" pitchFamily="34" charset="-122"/>
                <a:cs typeface="Calibri" pitchFamily="34" charset="-120"/>
              </a:rPr>
              <a:t>Weeks 9–12</a:t>
            </a:r>
            <a:endParaRPr lang="en-US" sz="1150" dirty="0"/>
          </a:p>
        </p:txBody>
      </p:sp>
      <p:sp>
        <p:nvSpPr>
          <p:cNvPr id="24" name="Text 22"/>
          <p:cNvSpPr/>
          <p:nvPr/>
        </p:nvSpPr>
        <p:spPr>
          <a:xfrm>
            <a:off x="8430768" y="2304288"/>
            <a:ext cx="2926080" cy="402336"/>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Review and decide</a:t>
            </a:r>
            <a:endParaRPr lang="en-US" sz="1800" dirty="0"/>
          </a:p>
        </p:txBody>
      </p:sp>
      <p:sp>
        <p:nvSpPr>
          <p:cNvPr id="25" name="Shape 23"/>
          <p:cNvSpPr/>
          <p:nvPr/>
        </p:nvSpPr>
        <p:spPr>
          <a:xfrm>
            <a:off x="8449056" y="2962656"/>
            <a:ext cx="100584" cy="100584"/>
          </a:xfrm>
          <a:prstGeom prst="ellipse">
            <a:avLst/>
          </a:prstGeom>
          <a:solidFill>
            <a:srgbClr val="B87B18"/>
          </a:solidFill>
          <a:ln/>
        </p:spPr>
      </p:sp>
      <p:sp>
        <p:nvSpPr>
          <p:cNvPr id="26" name="Text 24"/>
          <p:cNvSpPr/>
          <p:nvPr/>
        </p:nvSpPr>
        <p:spPr>
          <a:xfrm>
            <a:off x="8686800" y="28346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Monthly review with finance in the room</a:t>
            </a:r>
            <a:endParaRPr lang="en-US" sz="1200" dirty="0"/>
          </a:p>
        </p:txBody>
      </p:sp>
      <p:sp>
        <p:nvSpPr>
          <p:cNvPr id="27" name="Shape 25"/>
          <p:cNvSpPr/>
          <p:nvPr/>
        </p:nvSpPr>
        <p:spPr>
          <a:xfrm>
            <a:off x="8449056" y="3648456"/>
            <a:ext cx="100584" cy="100584"/>
          </a:xfrm>
          <a:prstGeom prst="ellipse">
            <a:avLst/>
          </a:prstGeom>
          <a:solidFill>
            <a:srgbClr val="B87B18"/>
          </a:solidFill>
          <a:ln/>
        </p:spPr>
      </p:sp>
      <p:sp>
        <p:nvSpPr>
          <p:cNvPr id="28" name="Text 26"/>
          <p:cNvSpPr/>
          <p:nvPr/>
        </p:nvSpPr>
        <p:spPr>
          <a:xfrm>
            <a:off x="8686800" y="35204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Unit-cost baseline for the two largest products</a:t>
            </a:r>
            <a:endParaRPr lang="en-US" sz="1200" dirty="0"/>
          </a:p>
        </p:txBody>
      </p:sp>
      <p:sp>
        <p:nvSpPr>
          <p:cNvPr id="29" name="Shape 27"/>
          <p:cNvSpPr/>
          <p:nvPr/>
        </p:nvSpPr>
        <p:spPr>
          <a:xfrm>
            <a:off x="8449056" y="4334256"/>
            <a:ext cx="100584" cy="100584"/>
          </a:xfrm>
          <a:prstGeom prst="ellipse">
            <a:avLst/>
          </a:prstGeom>
          <a:solidFill>
            <a:srgbClr val="B87B18"/>
          </a:solidFill>
          <a:ln/>
        </p:spPr>
      </p:sp>
      <p:sp>
        <p:nvSpPr>
          <p:cNvPr id="30" name="Text 28"/>
          <p:cNvSpPr/>
          <p:nvPr/>
        </p:nvSpPr>
        <p:spPr>
          <a:xfrm>
            <a:off x="8686800" y="4206240"/>
            <a:ext cx="2688336" cy="658368"/>
          </a:xfrm>
          <a:prstGeom prst="rect">
            <a:avLst/>
          </a:prstGeom>
          <a:noFill/>
          <a:ln/>
        </p:spPr>
        <p:txBody>
          <a:bodyPr wrap="square" lIns="0" tIns="0" rIns="0" bIns="0" rtlCol="0" anchor="t"/>
          <a:lstStyle/>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Decide whether and when showback becomes chargeback</a:t>
            </a:r>
            <a:endParaRPr lang="en-US" sz="1200" dirty="0"/>
          </a:p>
        </p:txBody>
      </p:sp>
      <p:sp>
        <p:nvSpPr>
          <p:cNvPr id="31" name="Shape 29"/>
          <p:cNvSpPr/>
          <p:nvPr/>
        </p:nvSpPr>
        <p:spPr>
          <a:xfrm>
            <a:off x="548640" y="5212080"/>
            <a:ext cx="11091672" cy="1097280"/>
          </a:xfrm>
          <a:prstGeom prst="roundRect">
            <a:avLst>
              <a:gd name="adj" fmla="val 7500"/>
            </a:avLst>
          </a:prstGeom>
          <a:solidFill>
            <a:srgbClr val="1F2936"/>
          </a:solidFill>
          <a:ln/>
          <a:effectLst>
            <a:outerShdw sx="100000" sy="100000" kx="0" ky="0" algn="bl" rotWithShape="0" blurRad="127000" dist="25400" dir="5400000">
              <a:srgbClr val="8C99A8">
                <a:alpha val="16000"/>
              </a:srgbClr>
            </a:outerShdw>
          </a:effectLst>
        </p:spPr>
      </p:sp>
      <p:sp>
        <p:nvSpPr>
          <p:cNvPr id="32" name="Text 30"/>
          <p:cNvSpPr/>
          <p:nvPr/>
        </p:nvSpPr>
        <p:spPr>
          <a:xfrm>
            <a:off x="877824" y="5358384"/>
            <a:ext cx="3657600" cy="274320"/>
          </a:xfrm>
          <a:prstGeom prst="rect">
            <a:avLst/>
          </a:prstGeom>
          <a:noFill/>
          <a:ln/>
        </p:spPr>
        <p:txBody>
          <a:bodyPr wrap="square" lIns="0" tIns="0" rIns="0" bIns="0" rtlCol="0" anchor="ctr"/>
          <a:lstStyle/>
          <a:p>
            <a:pPr indent="0" marL="0">
              <a:buNone/>
            </a:pPr>
            <a:r>
              <a:rPr lang="en-US" sz="1150" b="1" spc="180" kern="0" dirty="0">
                <a:solidFill>
                  <a:srgbClr val="E39B2C"/>
                </a:solidFill>
                <a:latin typeface="Calibri" pitchFamily="34" charset="0"/>
                <a:ea typeface="Calibri" pitchFamily="34" charset="-122"/>
                <a:cs typeface="Calibri" pitchFamily="34" charset="-120"/>
              </a:rPr>
              <a:t>Decisions needed today</a:t>
            </a:r>
            <a:endParaRPr lang="en-US" sz="1150" dirty="0"/>
          </a:p>
        </p:txBody>
      </p:sp>
      <p:sp>
        <p:nvSpPr>
          <p:cNvPr id="33" name="Text 31"/>
          <p:cNvSpPr/>
          <p:nvPr/>
        </p:nvSpPr>
        <p:spPr>
          <a:xfrm>
            <a:off x="877824" y="5669280"/>
            <a:ext cx="3566160" cy="45720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Do we enforce tagging at deployment?</a:t>
            </a:r>
            <a:endParaRPr lang="en-US" sz="1350" dirty="0"/>
          </a:p>
        </p:txBody>
      </p:sp>
      <p:sp>
        <p:nvSpPr>
          <p:cNvPr id="34" name="Text 32"/>
          <p:cNvSpPr/>
          <p:nvPr/>
        </p:nvSpPr>
        <p:spPr>
          <a:xfrm>
            <a:off x="4535424" y="5669280"/>
            <a:ext cx="3566160" cy="45720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Who owns the taxonomy — and by when?</a:t>
            </a:r>
            <a:endParaRPr lang="en-US" sz="1350" dirty="0"/>
          </a:p>
        </p:txBody>
      </p:sp>
      <p:sp>
        <p:nvSpPr>
          <p:cNvPr id="35" name="Text 33"/>
          <p:cNvSpPr/>
          <p:nvPr/>
        </p:nvSpPr>
        <p:spPr>
          <a:xfrm>
            <a:off x="8193024" y="5669280"/>
            <a:ext cx="3566160" cy="45720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Are we willing to have a limit that actually blocks?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FinOps — CIO brief</dc:title>
  <dc:subject>Cloud cost visibility and governance — five-slide executive cut</dc:subject>
  <dc:creator>FinOps</dc:creator>
  <cp:lastModifiedBy>FinOps</cp:lastModifiedBy>
  <cp:revision>1</cp:revision>
  <dcterms:created xsi:type="dcterms:W3CDTF">2026-08-04T16:34:15Z</dcterms:created>
  <dcterms:modified xsi:type="dcterms:W3CDTF">2026-08-04T16:34:15Z</dcterms:modified>
</cp:coreProperties>
</file>