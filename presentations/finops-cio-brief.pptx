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of material, so open on the ask and let the rest be evidence. The framing that works with a CIO is control, not thrift: this is the one large line where spending commitments are made daily, by engineers, with no approval step — everywhere else in the budget that would be considered a control gap. Fill in the three bullets with our own position before presenting: how long it actually took to explain the last unexpected increase, what share of spend currently lands unallocated, and whether any workload has a hard ceiling today. Specifics here are worth more than any slide later in the deck. Close the opening by reading the line under the asks — no new headcount, no platform purchase — because that is the first thing a CIO is calculating while you talk. If the meeting ends after this slide, the three asks are what you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answer 'why is this on my desk, and why now'. The 78% figure is the one that matters to this audience: FinOps has moved from a finance reporting function to a technology capability, and it now reports into the CTO/CIO organization in most practices — up eighteen points in three years. That is the industry telling us where accountability sits. The middle card is the scope point. Practices are no longer managing cloud alone: AI spend is now near-universal, SaaS is close behind, and data centre is climbing. If we build allocation and ownership only for cloud, we rebuild it twice. The third card pre-empts the obvious question, 'haven't we already done the cost work?'. Optimization dropped below governance and forecasting in the 2026 priorities because mature practices hit diminishing returns on hunting waste after the fact. Attribute the numbers to the State of FinOps 2026 out loud — this is external evidence, not our opinion, and it is the strongest slide in the deck for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of part one, so keep it to the chain: tag, allocate, show, measure. The single sentence worth landing is that every interesting question about cloud spend collapses into one prerequisite — can this cost be traced to an owner? Give the allocation KPI a number, because a CIO will hold you to it: under 5% unallocated, reported weekly, is the target that makes the rest work. Expect the objection that tagging is an old idea nobody has managed to enforce. Agree, and make the distinction that matters: it fails when it is a reporting request and works when it is a deployment requirement. Enforcement at creation costs nothing after configuration; retrofitting a live estate is a manual project. The right-hand card is the outcome to promise — the shift from an argument about whether IT overspends to a sentence naming a team, a resource, a cost and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ordering is the argument, so walk it in the order shown. Quotas act in seconds and are the only thing on the slide that can stop money being spent. Alerts act in minutes to days. Ownership and budget thresholds are always-on and within the month. Everything a cost dashboard does is downstream of all four. The quote at the bottom is the technical fact underneath the whole section: billing data arrives a day or two late, so any control built on it reports rather than prevents. If the CIO takes one thing from part two, this is it. Expect pushback that limits will throttle legitimate growth. The answer is that a ceiling is not a target — it is the point at which a human is asked whether this was intended — and that every control here is reversible in minutes, which is what makes it safe to set conservatively and loosen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specifics. Ninety days, three phases, and nothing in it requires a purchase or a new team — that is deliberate, and worth saying, because a CIO has seen this proposal arrive with a licence attached before. Do not leave the room without the three decisions at the bottom. The third is the one people avoid: a limit that never blocks anything is treated as advisory, because it is. Ask explicitly whether we are willing to have a hard ceiling somewhere, and where. If time allows, the useful close is the outcome rather than the plan: at the end of this we are not promising a smaller bill, we are promising an invoice with nothing in it that has not already been seen, explained and decided about. A savings percentage promised before anyone can see where the waste is would be a guess. The longer 22-slide deck stands behind every claim here if anyone wants the detail — offer it as a follow-up rather than presenting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658368"/>
            <a:ext cx="6400800" cy="274320"/>
          </a:xfrm>
          <a:prstGeom prst="rect">
            <a:avLst/>
          </a:prstGeom>
          <a:noFill/>
          <a:ln/>
        </p:spPr>
        <p:txBody>
          <a:bodyPr wrap="square" lIns="0" tIns="0" rIns="0" bIns="0" rtlCol="0" anchor="ctr"/>
          <a:lstStyle/>
          <a:p>
            <a:pPr indent="0" marL="0">
              <a:buNone/>
            </a:pPr>
            <a:r>
              <a:rPr lang="en-US" sz="1150" b="1" spc="240" kern="0" dirty="0">
                <a:solidFill>
                  <a:srgbClr val="E39B2C"/>
                </a:solidFill>
                <a:latin typeface="Calibri" pitchFamily="34" charset="0"/>
                <a:ea typeface="Calibri" pitchFamily="34" charset="-122"/>
                <a:cs typeface="Calibri" pitchFamily="34" charset="-120"/>
              </a:rPr>
              <a:t>FINOPS — EXECUTIVE BRIEF</a:t>
            </a:r>
            <a:endParaRPr lang="en-US" sz="1150" dirty="0"/>
          </a:p>
        </p:txBody>
      </p:sp>
      <p:sp>
        <p:nvSpPr>
          <p:cNvPr id="3" name="Text 1"/>
          <p:cNvSpPr/>
          <p:nvPr/>
        </p:nvSpPr>
        <p:spPr>
          <a:xfrm>
            <a:off x="548640" y="1097280"/>
            <a:ext cx="7223760" cy="1371600"/>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We can see the bill.</a:t>
            </a:r>
            <a:endParaRPr lang="en-US" sz="3400" dirty="0"/>
          </a:p>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We cannot see the spend.</a:t>
            </a:r>
            <a:endParaRPr lang="en-US" sz="3400" dirty="0"/>
          </a:p>
        </p:txBody>
      </p:sp>
      <p:sp>
        <p:nvSpPr>
          <p:cNvPr id="4" name="Text 2"/>
          <p:cNvSpPr/>
          <p:nvPr/>
        </p:nvSpPr>
        <p:spPr>
          <a:xfrm>
            <a:off x="548640" y="2578608"/>
            <a:ext cx="6949440" cy="731520"/>
          </a:xfrm>
          <a:prstGeom prst="rect">
            <a:avLst/>
          </a:prstGeom>
          <a:noFill/>
          <a:ln/>
        </p:spPr>
        <p:txBody>
          <a:bodyPr wrap="square" lIns="0" tIns="0" rIns="0" bIns="0" rtlCol="0" anchor="t"/>
          <a:lstStyle/>
          <a:p>
            <a:pPr indent="0" marL="0">
              <a:lnSpc>
                <a:spcPts val="2100"/>
              </a:lnSpc>
              <a:buNone/>
            </a:pPr>
            <a:r>
              <a:rPr lang="en-US" sz="1500" dirty="0">
                <a:solidFill>
                  <a:srgbClr val="9EABBA"/>
                </a:solidFill>
                <a:latin typeface="Calibri" pitchFamily="34" charset="0"/>
                <a:ea typeface="Calibri" pitchFamily="34" charset="-122"/>
                <a:cs typeface="Calibri" pitchFamily="34" charset="-120"/>
              </a:rPr>
              <a:t>Cloud is the one large line where spending decisions are made daily, by people who never see the invoice, with no approval step in between.</a:t>
            </a:r>
            <a:endParaRPr lang="en-US" sz="1500" dirty="0"/>
          </a:p>
        </p:txBody>
      </p:sp>
      <p:sp>
        <p:nvSpPr>
          <p:cNvPr id="5" name="Shape 3"/>
          <p:cNvSpPr/>
          <p:nvPr/>
        </p:nvSpPr>
        <p:spPr>
          <a:xfrm>
            <a:off x="548640" y="3639312"/>
            <a:ext cx="457200" cy="457200"/>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662940" y="3753612"/>
            <a:ext cx="228600" cy="228600"/>
          </a:xfrm>
          <a:prstGeom prst="rect">
            <a:avLst/>
          </a:prstGeom>
        </p:spPr>
      </p:pic>
      <p:sp>
        <p:nvSpPr>
          <p:cNvPr id="7" name="Text 4"/>
          <p:cNvSpPr/>
          <p:nvPr/>
        </p:nvSpPr>
        <p:spPr>
          <a:xfrm>
            <a:off x="1225296" y="3584448"/>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No owner on the change</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When the number moves, naming who caused it takes days — or never happens.</a:t>
            </a:r>
            <a:endParaRPr lang="en-US" sz="1450" dirty="0"/>
          </a:p>
        </p:txBody>
      </p:sp>
      <p:sp>
        <p:nvSpPr>
          <p:cNvPr id="8" name="Shape 5"/>
          <p:cNvSpPr/>
          <p:nvPr/>
        </p:nvSpPr>
        <p:spPr>
          <a:xfrm>
            <a:off x="548640" y="4480560"/>
            <a:ext cx="457200" cy="457200"/>
          </a:xfrm>
          <a:prstGeom prst="ellipse">
            <a:avLst/>
          </a:prstGeom>
          <a:solidFill>
            <a:srgbClr val="2E3A48"/>
          </a:solidFill>
          <a:ln/>
        </p:spPr>
      </p:sp>
      <p:pic>
        <p:nvPicPr>
          <p:cNvPr id="9" name="Image 1" descr="preencoded.png">    </p:cNvPr>
          <p:cNvPicPr>
            <a:picLocks noChangeAspect="1"/>
          </p:cNvPicPr>
          <p:nvPr/>
        </p:nvPicPr>
        <p:blipFill>
          <a:blip r:embed="rId2"/>
          <a:stretch>
            <a:fillRect/>
          </a:stretch>
        </p:blipFill>
        <p:spPr>
          <a:xfrm>
            <a:off x="662940" y="4594860"/>
            <a:ext cx="228600" cy="228600"/>
          </a:xfrm>
          <a:prstGeom prst="rect">
            <a:avLst/>
          </a:prstGeom>
        </p:spPr>
      </p:pic>
      <p:sp>
        <p:nvSpPr>
          <p:cNvPr id="10" name="Text 6"/>
          <p:cNvSpPr/>
          <p:nvPr/>
        </p:nvSpPr>
        <p:spPr>
          <a:xfrm>
            <a:off x="1225296" y="4425696"/>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Data arrives after the fact</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Billing lands 24–48h late, so every cost alert reports rather than prevents.</a:t>
            </a:r>
            <a:endParaRPr lang="en-US" sz="1450" dirty="0"/>
          </a:p>
        </p:txBody>
      </p:sp>
      <p:sp>
        <p:nvSpPr>
          <p:cNvPr id="11" name="Shape 7"/>
          <p:cNvSpPr/>
          <p:nvPr/>
        </p:nvSpPr>
        <p:spPr>
          <a:xfrm>
            <a:off x="548640" y="5321808"/>
            <a:ext cx="457200" cy="457200"/>
          </a:xfrm>
          <a:prstGeom prst="ellipse">
            <a:avLst/>
          </a:prstGeom>
          <a:solidFill>
            <a:srgbClr val="2E3A48"/>
          </a:solidFill>
          <a:ln/>
        </p:spPr>
      </p:sp>
      <p:pic>
        <p:nvPicPr>
          <p:cNvPr id="12" name="Image 2" descr="preencoded.png">    </p:cNvPr>
          <p:cNvPicPr>
            <a:picLocks noChangeAspect="1"/>
          </p:cNvPicPr>
          <p:nvPr/>
        </p:nvPicPr>
        <p:blipFill>
          <a:blip r:embed="rId3"/>
          <a:stretch>
            <a:fillRect/>
          </a:stretch>
        </p:blipFill>
        <p:spPr>
          <a:xfrm>
            <a:off x="662940" y="5436108"/>
            <a:ext cx="228600" cy="228600"/>
          </a:xfrm>
          <a:prstGeom prst="rect">
            <a:avLst/>
          </a:prstGeom>
        </p:spPr>
      </p:pic>
      <p:sp>
        <p:nvSpPr>
          <p:cNvPr id="13" name="Text 8"/>
          <p:cNvSpPr/>
          <p:nvPr/>
        </p:nvSpPr>
        <p:spPr>
          <a:xfrm>
            <a:off x="1225296" y="5266944"/>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Nothing stops a runaway</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No quota, no ceiling, no gate. The first hard limit is the invoice.</a:t>
            </a:r>
            <a:endParaRPr lang="en-US" sz="1450" dirty="0"/>
          </a:p>
        </p:txBody>
      </p:sp>
      <p:sp>
        <p:nvSpPr>
          <p:cNvPr id="14" name="Shape 9"/>
          <p:cNvSpPr/>
          <p:nvPr/>
        </p:nvSpPr>
        <p:spPr>
          <a:xfrm>
            <a:off x="7863840" y="1097280"/>
            <a:ext cx="3776472" cy="5120640"/>
          </a:xfrm>
          <a:prstGeom prst="roundRect">
            <a:avLst>
              <a:gd name="adj" fmla="val 2179"/>
            </a:avLst>
          </a:prstGeom>
          <a:solidFill>
            <a:srgbClr val="1F2936"/>
          </a:solidFill>
          <a:ln/>
        </p:spPr>
      </p:sp>
      <p:sp>
        <p:nvSpPr>
          <p:cNvPr id="15" name="Text 10"/>
          <p:cNvSpPr/>
          <p:nvPr/>
        </p:nvSpPr>
        <p:spPr>
          <a:xfrm>
            <a:off x="8156448" y="1335024"/>
            <a:ext cx="3200400" cy="292608"/>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What this brief asks for</a:t>
            </a:r>
            <a:endParaRPr lang="en-US" sz="1150" dirty="0"/>
          </a:p>
        </p:txBody>
      </p:sp>
      <p:sp>
        <p:nvSpPr>
          <p:cNvPr id="16" name="Text 11"/>
          <p:cNvSpPr/>
          <p:nvPr/>
        </p:nvSpPr>
        <p:spPr>
          <a:xfrm>
            <a:off x="8156448" y="178308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01</a:t>
            </a:r>
            <a:endParaRPr lang="en-US" sz="2000" dirty="0"/>
          </a:p>
        </p:txBody>
      </p:sp>
      <p:sp>
        <p:nvSpPr>
          <p:cNvPr id="17" name="Text 12"/>
          <p:cNvSpPr/>
          <p:nvPr/>
        </p:nvSpPr>
        <p:spPr>
          <a:xfrm>
            <a:off x="8156448" y="213055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A mandatory tagging standard</a:t>
            </a:r>
            <a:endParaRPr lang="en-US" sz="1500" dirty="0"/>
          </a:p>
        </p:txBody>
      </p:sp>
      <p:sp>
        <p:nvSpPr>
          <p:cNvPr id="18" name="Text 13"/>
          <p:cNvSpPr/>
          <p:nvPr/>
        </p:nvSpPr>
        <p:spPr>
          <a:xfrm>
            <a:off x="8156448" y="271576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Enforced at deployment</a:t>
            </a:r>
            <a:endParaRPr lang="en-US" sz="1250" dirty="0"/>
          </a:p>
        </p:txBody>
      </p:sp>
      <p:sp>
        <p:nvSpPr>
          <p:cNvPr id="19" name="Text 14"/>
          <p:cNvSpPr/>
          <p:nvPr/>
        </p:nvSpPr>
        <p:spPr>
          <a:xfrm>
            <a:off x="8156448" y="310896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02</a:t>
            </a:r>
            <a:endParaRPr lang="en-US" sz="2000" dirty="0"/>
          </a:p>
        </p:txBody>
      </p:sp>
      <p:sp>
        <p:nvSpPr>
          <p:cNvPr id="20" name="Text 15"/>
          <p:cNvSpPr/>
          <p:nvPr/>
        </p:nvSpPr>
        <p:spPr>
          <a:xfrm>
            <a:off x="8156448" y="345643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A named owner per application</a:t>
            </a:r>
            <a:endParaRPr lang="en-US" sz="1500" dirty="0"/>
          </a:p>
        </p:txBody>
      </p:sp>
      <p:sp>
        <p:nvSpPr>
          <p:cNvPr id="21" name="Text 16"/>
          <p:cNvSpPr/>
          <p:nvPr/>
        </p:nvSpPr>
        <p:spPr>
          <a:xfrm>
            <a:off x="8156448" y="404164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A person, not a mailing list</a:t>
            </a:r>
            <a:endParaRPr lang="en-US" sz="1250" dirty="0"/>
          </a:p>
        </p:txBody>
      </p:sp>
      <p:sp>
        <p:nvSpPr>
          <p:cNvPr id="22" name="Text 17"/>
          <p:cNvSpPr/>
          <p:nvPr/>
        </p:nvSpPr>
        <p:spPr>
          <a:xfrm>
            <a:off x="8156448" y="443484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03</a:t>
            </a:r>
            <a:endParaRPr lang="en-US" sz="2000" dirty="0"/>
          </a:p>
        </p:txBody>
      </p:sp>
      <p:sp>
        <p:nvSpPr>
          <p:cNvPr id="23" name="Text 18"/>
          <p:cNvSpPr/>
          <p:nvPr/>
        </p:nvSpPr>
        <p:spPr>
          <a:xfrm>
            <a:off x="8156448" y="478231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Guardrails on by default</a:t>
            </a:r>
            <a:endParaRPr lang="en-US" sz="1500" dirty="0"/>
          </a:p>
        </p:txBody>
      </p:sp>
      <p:sp>
        <p:nvSpPr>
          <p:cNvPr id="24" name="Text 19"/>
          <p:cNvSpPr/>
          <p:nvPr/>
        </p:nvSpPr>
        <p:spPr>
          <a:xfrm>
            <a:off x="8156448" y="536752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Quotas and budget thresholds</a:t>
            </a:r>
            <a:endParaRPr lang="en-US" sz="1250" dirty="0"/>
          </a:p>
        </p:txBody>
      </p:sp>
      <p:sp>
        <p:nvSpPr>
          <p:cNvPr id="25" name="Text 20"/>
          <p:cNvSpPr/>
          <p:nvPr/>
        </p:nvSpPr>
        <p:spPr>
          <a:xfrm>
            <a:off x="8156448" y="5742432"/>
            <a:ext cx="3200400" cy="292608"/>
          </a:xfrm>
          <a:prstGeom prst="rect">
            <a:avLst/>
          </a:prstGeom>
          <a:noFill/>
          <a:ln/>
        </p:spPr>
        <p:txBody>
          <a:bodyPr wrap="square" lIns="0" tIns="0" rIns="0" bIns="0" rtlCol="0" anchor="ctr"/>
          <a:lstStyle/>
          <a:p>
            <a:pPr indent="0" marL="0">
              <a:buNone/>
            </a:pPr>
            <a:r>
              <a:rPr lang="en-US" sz="1200" b="1" dirty="0">
                <a:solidFill>
                  <a:srgbClr val="DDEDE9"/>
                </a:solidFill>
                <a:latin typeface="Calibri" pitchFamily="34" charset="0"/>
                <a:ea typeface="Calibri" pitchFamily="34" charset="-122"/>
                <a:cs typeface="Calibri" pitchFamily="34" charset="-120"/>
              </a:rPr>
              <a:t>No new headcount or tooling spend.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NOW</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discipline moved this year — toward us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Foundation, State of FinOps 2026 (n ≈ 1,500 practitioners worldwide).</a:t>
            </a:r>
            <a:endParaRPr lang="en-US" sz="1500" dirty="0"/>
          </a:p>
        </p:txBody>
      </p:sp>
      <p:sp>
        <p:nvSpPr>
          <p:cNvPr id="5" name="Shape 3"/>
          <p:cNvSpPr/>
          <p:nvPr/>
        </p:nvSpPr>
        <p:spPr>
          <a:xfrm>
            <a:off x="548640" y="2103120"/>
            <a:ext cx="3511296" cy="2606040"/>
          </a:xfrm>
          <a:prstGeom prst="roundRect">
            <a:avLst>
              <a:gd name="adj" fmla="val 3158"/>
            </a:avLst>
          </a:prstGeom>
          <a:solidFill>
            <a:srgbClr val="1F2936"/>
          </a:solidFill>
          <a:ln/>
        </p:spPr>
      </p:sp>
      <p:sp>
        <p:nvSpPr>
          <p:cNvPr id="6" name="Text 4"/>
          <p:cNvSpPr/>
          <p:nvPr/>
        </p:nvSpPr>
        <p:spPr>
          <a:xfrm>
            <a:off x="859536" y="2331720"/>
            <a:ext cx="2926080" cy="868680"/>
          </a:xfrm>
          <a:prstGeom prst="rect">
            <a:avLst/>
          </a:prstGeom>
          <a:noFill/>
          <a:ln/>
        </p:spPr>
        <p:txBody>
          <a:bodyPr wrap="square" lIns="0" tIns="0" rIns="0" bIns="0" rtlCol="0" anchor="ctr"/>
          <a:lstStyle/>
          <a:p>
            <a:pPr indent="0" marL="0">
              <a:buNone/>
            </a:pPr>
            <a:r>
              <a:rPr lang="en-US" sz="4400" b="1" dirty="0">
                <a:solidFill>
                  <a:srgbClr val="E39B2C"/>
                </a:solidFill>
                <a:latin typeface="Cambria" pitchFamily="34" charset="0"/>
                <a:ea typeface="Cambria" pitchFamily="34" charset="-122"/>
                <a:cs typeface="Cambria" pitchFamily="34" charset="-120"/>
              </a:rPr>
              <a:t>78%</a:t>
            </a:r>
            <a:endParaRPr lang="en-US" sz="4400" dirty="0"/>
          </a:p>
        </p:txBody>
      </p:sp>
      <p:sp>
        <p:nvSpPr>
          <p:cNvPr id="7" name="Text 5"/>
          <p:cNvSpPr/>
          <p:nvPr/>
        </p:nvSpPr>
        <p:spPr>
          <a:xfrm>
            <a:off x="859536"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FFFFFF"/>
                </a:solidFill>
                <a:latin typeface="Calibri" pitchFamily="34" charset="0"/>
                <a:ea typeface="Calibri" pitchFamily="34" charset="-122"/>
                <a:cs typeface="Calibri" pitchFamily="34" charset="-120"/>
              </a:rPr>
              <a:t>of FinOps practices now report into the CTO/CIO organization</a:t>
            </a:r>
            <a:endParaRPr lang="en-US" sz="1400" dirty="0"/>
          </a:p>
        </p:txBody>
      </p:sp>
      <p:sp>
        <p:nvSpPr>
          <p:cNvPr id="8" name="Text 6"/>
          <p:cNvSpPr/>
          <p:nvPr/>
        </p:nvSpPr>
        <p:spPr>
          <a:xfrm>
            <a:off x="859536"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9EABBA"/>
                </a:solidFill>
                <a:latin typeface="Calibri" pitchFamily="34" charset="0"/>
                <a:ea typeface="Calibri" pitchFamily="34" charset="-122"/>
                <a:cs typeface="Calibri" pitchFamily="34" charset="-120"/>
              </a:rPr>
              <a:t>up 18 points since 2023</a:t>
            </a:r>
            <a:endParaRPr lang="en-US" sz="1150" dirty="0"/>
          </a:p>
        </p:txBody>
      </p:sp>
      <p:sp>
        <p:nvSpPr>
          <p:cNvPr id="9" name="Shape 7"/>
          <p:cNvSpPr/>
          <p:nvPr/>
        </p:nvSpPr>
        <p:spPr>
          <a:xfrm>
            <a:off x="4334256" y="2103120"/>
            <a:ext cx="3511296" cy="2606040"/>
          </a:xfrm>
          <a:prstGeom prst="roundRect">
            <a:avLst>
              <a:gd name="adj" fmla="val 3158"/>
            </a:avLst>
          </a:prstGeom>
          <a:solidFill>
            <a:srgbClr val="DDEDE9"/>
          </a:solidFill>
          <a:ln/>
        </p:spPr>
      </p:sp>
      <p:sp>
        <p:nvSpPr>
          <p:cNvPr id="10" name="Text 8"/>
          <p:cNvSpPr/>
          <p:nvPr/>
        </p:nvSpPr>
        <p:spPr>
          <a:xfrm>
            <a:off x="4645152" y="2331720"/>
            <a:ext cx="2926080" cy="868680"/>
          </a:xfrm>
          <a:prstGeom prst="rect">
            <a:avLst/>
          </a:prstGeom>
          <a:noFill/>
          <a:ln/>
        </p:spPr>
        <p:txBody>
          <a:bodyPr wrap="square" lIns="0" tIns="0" rIns="0" bIns="0" rtlCol="0" anchor="ctr"/>
          <a:lstStyle/>
          <a:p>
            <a:pPr indent="0" marL="0">
              <a:buNone/>
            </a:pPr>
            <a:r>
              <a:rPr lang="en-US" sz="4400" b="1" dirty="0">
                <a:solidFill>
                  <a:srgbClr val="1F6B5C"/>
                </a:solidFill>
                <a:latin typeface="Cambria" pitchFamily="34" charset="0"/>
                <a:ea typeface="Cambria" pitchFamily="34" charset="-122"/>
                <a:cs typeface="Cambria" pitchFamily="34" charset="-120"/>
              </a:rPr>
              <a:t>98%</a:t>
            </a:r>
            <a:endParaRPr lang="en-US" sz="4400" dirty="0"/>
          </a:p>
        </p:txBody>
      </p:sp>
      <p:sp>
        <p:nvSpPr>
          <p:cNvPr id="11" name="Text 9"/>
          <p:cNvSpPr/>
          <p:nvPr/>
        </p:nvSpPr>
        <p:spPr>
          <a:xfrm>
            <a:off x="4645152"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of practices now manage AI spend as a core operating cost</a:t>
            </a:r>
            <a:endParaRPr lang="en-US" sz="1400" dirty="0"/>
          </a:p>
        </p:txBody>
      </p:sp>
      <p:sp>
        <p:nvSpPr>
          <p:cNvPr id="12" name="Text 10"/>
          <p:cNvSpPr/>
          <p:nvPr/>
        </p:nvSpPr>
        <p:spPr>
          <a:xfrm>
            <a:off x="4645152"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SaaS 90% · licensing 64% · data centre 48%</a:t>
            </a:r>
            <a:endParaRPr lang="en-US" sz="1150" dirty="0"/>
          </a:p>
        </p:txBody>
      </p:sp>
      <p:sp>
        <p:nvSpPr>
          <p:cNvPr id="13" name="Shape 11"/>
          <p:cNvSpPr/>
          <p:nvPr/>
        </p:nvSpPr>
        <p:spPr>
          <a:xfrm>
            <a:off x="8119872" y="2103120"/>
            <a:ext cx="3511296" cy="2606040"/>
          </a:xfrm>
          <a:prstGeom prst="roundRect">
            <a:avLst>
              <a:gd name="adj" fmla="val 3158"/>
            </a:avLst>
          </a:prstGeom>
          <a:solidFill>
            <a:srgbClr val="FBEFD8"/>
          </a:solidFill>
          <a:ln/>
        </p:spPr>
      </p:sp>
      <p:sp>
        <p:nvSpPr>
          <p:cNvPr id="14" name="Text 12"/>
          <p:cNvSpPr/>
          <p:nvPr/>
        </p:nvSpPr>
        <p:spPr>
          <a:xfrm>
            <a:off x="8430768" y="2331720"/>
            <a:ext cx="2926080" cy="868680"/>
          </a:xfrm>
          <a:prstGeom prst="rect">
            <a:avLst/>
          </a:prstGeom>
          <a:noFill/>
          <a:ln/>
        </p:spPr>
        <p:txBody>
          <a:bodyPr wrap="square" lIns="0" tIns="0" rIns="0" bIns="0" rtlCol="0" anchor="ctr"/>
          <a:lstStyle/>
          <a:p>
            <a:pPr indent="0" marL="0">
              <a:buNone/>
            </a:pPr>
            <a:r>
              <a:rPr lang="en-US" sz="4400" b="1" dirty="0">
                <a:solidFill>
                  <a:srgbClr val="B87B18"/>
                </a:solidFill>
                <a:latin typeface="Cambria" pitchFamily="34" charset="0"/>
                <a:ea typeface="Cambria" pitchFamily="34" charset="-122"/>
                <a:cs typeface="Cambria" pitchFamily="34" charset="-120"/>
              </a:rPr>
              <a:t>#3</a:t>
            </a:r>
            <a:endParaRPr lang="en-US" sz="4400" dirty="0"/>
          </a:p>
        </p:txBody>
      </p:sp>
      <p:sp>
        <p:nvSpPr>
          <p:cNvPr id="15" name="Text 13"/>
          <p:cNvSpPr/>
          <p:nvPr/>
        </p:nvSpPr>
        <p:spPr>
          <a:xfrm>
            <a:off x="8430768"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governance ranks above optimization in 2026 priorities</a:t>
            </a:r>
            <a:endParaRPr lang="en-US" sz="1400" dirty="0"/>
          </a:p>
        </p:txBody>
      </p:sp>
      <p:sp>
        <p:nvSpPr>
          <p:cNvPr id="16" name="Text 14"/>
          <p:cNvSpPr/>
          <p:nvPr/>
        </p:nvSpPr>
        <p:spPr>
          <a:xfrm>
            <a:off x="8430768"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behind only AI cost management and AI-driven efficiency</a:t>
            </a:r>
            <a:endParaRPr lang="en-US" sz="1150" dirty="0"/>
          </a:p>
        </p:txBody>
      </p:sp>
      <p:sp>
        <p:nvSpPr>
          <p:cNvPr id="17" name="Shape 15"/>
          <p:cNvSpPr/>
          <p:nvPr/>
        </p:nvSpPr>
        <p:spPr>
          <a:xfrm>
            <a:off x="548640" y="4983480"/>
            <a:ext cx="11091672" cy="1325880"/>
          </a:xfrm>
          <a:prstGeom prst="roundRect">
            <a:avLst>
              <a:gd name="adj" fmla="val 6207"/>
            </a:avLst>
          </a:prstGeom>
          <a:solidFill>
            <a:srgbClr val="F1F3F6"/>
          </a:solidFill>
          <a:ln/>
        </p:spPr>
      </p:sp>
      <p:sp>
        <p:nvSpPr>
          <p:cNvPr id="18" name="Text 16"/>
          <p:cNvSpPr/>
          <p:nvPr/>
        </p:nvSpPr>
        <p:spPr>
          <a:xfrm>
            <a:off x="877824" y="5138928"/>
            <a:ext cx="54864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it means for this organization</a:t>
            </a:r>
            <a:endParaRPr lang="en-US" sz="1200" dirty="0"/>
          </a:p>
        </p:txBody>
      </p:sp>
      <p:sp>
        <p:nvSpPr>
          <p:cNvPr id="19" name="Text 17"/>
          <p:cNvSpPr/>
          <p:nvPr/>
        </p:nvSpPr>
        <p:spPr>
          <a:xfrm>
            <a:off x="877824" y="5449824"/>
            <a:ext cx="10424160" cy="731520"/>
          </a:xfrm>
          <a:prstGeom prst="rect">
            <a:avLst/>
          </a:prstGeom>
          <a:noFill/>
          <a:ln/>
        </p:spPr>
        <p:txBody>
          <a:bodyPr wrap="square" lIns="0" tIns="0" rIns="0" bIns="0" rtlCol="0" anchor="t"/>
          <a:lstStyle/>
          <a:p>
            <a:pPr indent="0" marL="0">
              <a:lnSpc>
                <a:spcPts val="2000"/>
              </a:lnSpc>
              <a:buNone/>
            </a:pPr>
            <a:r>
              <a:rPr lang="en-US" sz="1400" b="1" dirty="0">
                <a:solidFill>
                  <a:srgbClr val="1B2430"/>
                </a:solidFill>
                <a:latin typeface="Calibri" pitchFamily="34" charset="0"/>
                <a:ea typeface="Calibri" pitchFamily="34" charset="-122"/>
                <a:cs typeface="Calibri" pitchFamily="34" charset="-120"/>
              </a:rPr>
              <a:t>Cost control has stopped being a finance report and become a technology capability — </a:t>
            </a:r>
            <a:pPr indent="0" marL="0">
              <a:lnSpc>
                <a:spcPts val="2000"/>
              </a:lnSpc>
              <a:buNone/>
            </a:pPr>
            <a:r>
              <a:rPr lang="en-US" sz="1400" dirty="0">
                <a:solidFill>
                  <a:srgbClr val="5C6675"/>
                </a:solidFill>
                <a:latin typeface="Calibri" pitchFamily="34" charset="0"/>
                <a:ea typeface="Calibri" pitchFamily="34" charset="-122"/>
                <a:cs typeface="Calibri" pitchFamily="34" charset="-120"/>
              </a:rPr>
              <a:t>which puts it on this desk. The industry's own conclusion is that attacking waste after the fact has hit diminishing returns; the returns now come from governance, forecasting and scope.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PART ONE — SEE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Allocation is the whole game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Every question worth asking about cloud spend reduces to one prerequisite: can this cost be traced to an owner?</a:t>
            </a:r>
            <a:endParaRPr lang="en-US" sz="1500" dirty="0"/>
          </a:p>
        </p:txBody>
      </p:sp>
      <p:sp>
        <p:nvSpPr>
          <p:cNvPr id="5" name="Shape 3"/>
          <p:cNvSpPr/>
          <p:nvPr/>
        </p:nvSpPr>
        <p:spPr>
          <a:xfrm>
            <a:off x="548640" y="2212848"/>
            <a:ext cx="2587752" cy="2286000"/>
          </a:xfrm>
          <a:prstGeom prst="roundRect">
            <a:avLst>
              <a:gd name="adj" fmla="val 3600"/>
            </a:avLst>
          </a:prstGeom>
          <a:solidFill>
            <a:srgbClr val="1F2936"/>
          </a:solidFill>
          <a:ln/>
        </p:spPr>
      </p:sp>
      <p:sp>
        <p:nvSpPr>
          <p:cNvPr id="6" name="Shape 4"/>
          <p:cNvSpPr/>
          <p:nvPr/>
        </p:nvSpPr>
        <p:spPr>
          <a:xfrm>
            <a:off x="804672" y="2450592"/>
            <a:ext cx="530352" cy="530352"/>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937260" y="2583180"/>
            <a:ext cx="265176" cy="265176"/>
          </a:xfrm>
          <a:prstGeom prst="rect">
            <a:avLst/>
          </a:prstGeom>
        </p:spPr>
      </p:pic>
      <p:sp>
        <p:nvSpPr>
          <p:cNvPr id="8" name="Text 5"/>
          <p:cNvSpPr/>
          <p:nvPr/>
        </p:nvSpPr>
        <p:spPr>
          <a:xfrm>
            <a:off x="80467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Tag at creation</a:t>
            </a:r>
            <a:endParaRPr lang="en-US" sz="1500" dirty="0"/>
          </a:p>
        </p:txBody>
      </p:sp>
      <p:sp>
        <p:nvSpPr>
          <p:cNvPr id="9" name="Text 6"/>
          <p:cNvSpPr/>
          <p:nvPr/>
        </p:nvSpPr>
        <p:spPr>
          <a:xfrm>
            <a:off x="80467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Five tags, enforced by policy. Untagged means undeployed.</a:t>
            </a:r>
            <a:endParaRPr lang="en-US" sz="1200" dirty="0"/>
          </a:p>
        </p:txBody>
      </p:sp>
      <p:sp>
        <p:nvSpPr>
          <p:cNvPr id="10" name="Shape 7"/>
          <p:cNvSpPr/>
          <p:nvPr/>
        </p:nvSpPr>
        <p:spPr>
          <a:xfrm>
            <a:off x="3182112" y="3273552"/>
            <a:ext cx="192024" cy="182880"/>
          </a:xfrm>
          <a:prstGeom prst="rightArrow">
            <a:avLst/>
          </a:prstGeom>
          <a:solidFill>
            <a:srgbClr val="C3CBD5"/>
          </a:solidFill>
          <a:ln/>
        </p:spPr>
      </p:sp>
      <p:sp>
        <p:nvSpPr>
          <p:cNvPr id="11" name="Shape 8"/>
          <p:cNvSpPr/>
          <p:nvPr/>
        </p:nvSpPr>
        <p:spPr>
          <a:xfrm>
            <a:off x="3383280" y="2212848"/>
            <a:ext cx="2587752" cy="2286000"/>
          </a:xfrm>
          <a:prstGeom prst="roundRect">
            <a:avLst>
              <a:gd name="adj" fmla="val 3600"/>
            </a:avLst>
          </a:prstGeom>
          <a:solidFill>
            <a:srgbClr val="F1F3F6"/>
          </a:solidFill>
          <a:ln/>
        </p:spPr>
      </p:sp>
      <p:sp>
        <p:nvSpPr>
          <p:cNvPr id="12" name="Shape 9"/>
          <p:cNvSpPr/>
          <p:nvPr/>
        </p:nvSpPr>
        <p:spPr>
          <a:xfrm>
            <a:off x="3639312" y="2450592"/>
            <a:ext cx="530352" cy="530352"/>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771900" y="2583180"/>
            <a:ext cx="265176" cy="265176"/>
          </a:xfrm>
          <a:prstGeom prst="rect">
            <a:avLst/>
          </a:prstGeom>
        </p:spPr>
      </p:pic>
      <p:sp>
        <p:nvSpPr>
          <p:cNvPr id="14" name="Text 10"/>
          <p:cNvSpPr/>
          <p:nvPr/>
        </p:nvSpPr>
        <p:spPr>
          <a:xfrm>
            <a:off x="363931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Allocate the spend</a:t>
            </a:r>
            <a:endParaRPr lang="en-US" sz="1500" dirty="0"/>
          </a:p>
        </p:txBody>
      </p:sp>
      <p:sp>
        <p:nvSpPr>
          <p:cNvPr id="15" name="Text 11"/>
          <p:cNvSpPr/>
          <p:nvPr/>
        </p:nvSpPr>
        <p:spPr>
          <a:xfrm>
            <a:off x="363931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Target under 5% unallocated, tracked as a standing KPI.</a:t>
            </a:r>
            <a:endParaRPr lang="en-US" sz="1200" dirty="0"/>
          </a:p>
        </p:txBody>
      </p:sp>
      <p:sp>
        <p:nvSpPr>
          <p:cNvPr id="16" name="Shape 12"/>
          <p:cNvSpPr/>
          <p:nvPr/>
        </p:nvSpPr>
        <p:spPr>
          <a:xfrm>
            <a:off x="6016752" y="3273552"/>
            <a:ext cx="192024" cy="182880"/>
          </a:xfrm>
          <a:prstGeom prst="rightArrow">
            <a:avLst/>
          </a:prstGeom>
          <a:solidFill>
            <a:srgbClr val="C3CBD5"/>
          </a:solidFill>
          <a:ln/>
        </p:spPr>
      </p:sp>
      <p:sp>
        <p:nvSpPr>
          <p:cNvPr id="17" name="Shape 13"/>
          <p:cNvSpPr/>
          <p:nvPr/>
        </p:nvSpPr>
        <p:spPr>
          <a:xfrm>
            <a:off x="6217920" y="2212848"/>
            <a:ext cx="2587752" cy="2286000"/>
          </a:xfrm>
          <a:prstGeom prst="roundRect">
            <a:avLst>
              <a:gd name="adj" fmla="val 3600"/>
            </a:avLst>
          </a:prstGeom>
          <a:solidFill>
            <a:srgbClr val="F1F3F6"/>
          </a:solidFill>
          <a:ln/>
        </p:spPr>
      </p:sp>
      <p:sp>
        <p:nvSpPr>
          <p:cNvPr id="18" name="Shape 14"/>
          <p:cNvSpPr/>
          <p:nvPr/>
        </p:nvSpPr>
        <p:spPr>
          <a:xfrm>
            <a:off x="6473952" y="2450592"/>
            <a:ext cx="530352" cy="530352"/>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6606540" y="2583180"/>
            <a:ext cx="265176" cy="265176"/>
          </a:xfrm>
          <a:prstGeom prst="rect">
            <a:avLst/>
          </a:prstGeom>
        </p:spPr>
      </p:pic>
      <p:sp>
        <p:nvSpPr>
          <p:cNvPr id="20" name="Text 15"/>
          <p:cNvSpPr/>
          <p:nvPr/>
        </p:nvSpPr>
        <p:spPr>
          <a:xfrm>
            <a:off x="647395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Show teams their own numbers</a:t>
            </a:r>
            <a:endParaRPr lang="en-US" sz="1500" dirty="0"/>
          </a:p>
        </p:txBody>
      </p:sp>
      <p:sp>
        <p:nvSpPr>
          <p:cNvPr id="21" name="Text 16"/>
          <p:cNvSpPr/>
          <p:nvPr/>
        </p:nvSpPr>
        <p:spPr>
          <a:xfrm>
            <a:off x="647395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Showback for 4–6 weeks before anything hits a P&amp;L.</a:t>
            </a:r>
            <a:endParaRPr lang="en-US" sz="1200" dirty="0"/>
          </a:p>
        </p:txBody>
      </p:sp>
      <p:sp>
        <p:nvSpPr>
          <p:cNvPr id="22" name="Shape 17"/>
          <p:cNvSpPr/>
          <p:nvPr/>
        </p:nvSpPr>
        <p:spPr>
          <a:xfrm>
            <a:off x="8851392" y="3273552"/>
            <a:ext cx="192024" cy="182880"/>
          </a:xfrm>
          <a:prstGeom prst="rightArrow">
            <a:avLst/>
          </a:prstGeom>
          <a:solidFill>
            <a:srgbClr val="C3CBD5"/>
          </a:solidFill>
          <a:ln/>
        </p:spPr>
      </p:sp>
      <p:sp>
        <p:nvSpPr>
          <p:cNvPr id="23" name="Shape 18"/>
          <p:cNvSpPr/>
          <p:nvPr/>
        </p:nvSpPr>
        <p:spPr>
          <a:xfrm>
            <a:off x="9052560" y="2212848"/>
            <a:ext cx="2587752" cy="2286000"/>
          </a:xfrm>
          <a:prstGeom prst="roundRect">
            <a:avLst>
              <a:gd name="adj" fmla="val 3600"/>
            </a:avLst>
          </a:prstGeom>
          <a:solidFill>
            <a:srgbClr val="F1F3F6"/>
          </a:solidFill>
          <a:ln/>
        </p:spPr>
      </p:sp>
      <p:sp>
        <p:nvSpPr>
          <p:cNvPr id="24" name="Shape 19"/>
          <p:cNvSpPr/>
          <p:nvPr/>
        </p:nvSpPr>
        <p:spPr>
          <a:xfrm>
            <a:off x="9308592" y="2450592"/>
            <a:ext cx="530352" cy="530352"/>
          </a:xfrm>
          <a:prstGeom prst="ellipse">
            <a:avLst/>
          </a:prstGeom>
          <a:solidFill>
            <a:srgbClr val="FFFFFF"/>
          </a:solidFill>
          <a:ln/>
        </p:spPr>
      </p:sp>
      <p:pic>
        <p:nvPicPr>
          <p:cNvPr id="25" name="Image 3" descr="preencoded.png">    </p:cNvPr>
          <p:cNvPicPr>
            <a:picLocks noChangeAspect="1"/>
          </p:cNvPicPr>
          <p:nvPr/>
        </p:nvPicPr>
        <p:blipFill>
          <a:blip r:embed="rId4"/>
          <a:stretch>
            <a:fillRect/>
          </a:stretch>
        </p:blipFill>
        <p:spPr>
          <a:xfrm>
            <a:off x="9441180" y="2583180"/>
            <a:ext cx="265176" cy="265176"/>
          </a:xfrm>
          <a:prstGeom prst="rect">
            <a:avLst/>
          </a:prstGeom>
        </p:spPr>
      </p:pic>
      <p:sp>
        <p:nvSpPr>
          <p:cNvPr id="26" name="Text 20"/>
          <p:cNvSpPr/>
          <p:nvPr/>
        </p:nvSpPr>
        <p:spPr>
          <a:xfrm>
            <a:off x="930859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Measure per unit</a:t>
            </a:r>
            <a:endParaRPr lang="en-US" sz="1500" dirty="0"/>
          </a:p>
        </p:txBody>
      </p:sp>
      <p:sp>
        <p:nvSpPr>
          <p:cNvPr id="27" name="Text 21"/>
          <p:cNvSpPr/>
          <p:nvPr/>
        </p:nvSpPr>
        <p:spPr>
          <a:xfrm>
            <a:off x="930859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Cost per customer or transaction — the only honest efficiency signal.</a:t>
            </a:r>
            <a:endParaRPr lang="en-US" sz="1200" dirty="0"/>
          </a:p>
        </p:txBody>
      </p:sp>
      <p:sp>
        <p:nvSpPr>
          <p:cNvPr id="28" name="Shape 22"/>
          <p:cNvSpPr/>
          <p:nvPr/>
        </p:nvSpPr>
        <p:spPr>
          <a:xfrm>
            <a:off x="548640" y="4754880"/>
            <a:ext cx="5394960" cy="1554480"/>
          </a:xfrm>
          <a:prstGeom prst="roundRect">
            <a:avLst>
              <a:gd name="adj" fmla="val 5294"/>
            </a:avLst>
          </a:prstGeom>
          <a:solidFill>
            <a:srgbClr val="FBEFD8"/>
          </a:solidFill>
          <a:ln/>
        </p:spPr>
      </p:sp>
      <p:sp>
        <p:nvSpPr>
          <p:cNvPr id="29" name="Text 23"/>
          <p:cNvSpPr/>
          <p:nvPr/>
        </p:nvSpPr>
        <p:spPr>
          <a:xfrm>
            <a:off x="859536" y="4919472"/>
            <a:ext cx="41148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The blocker, every time</a:t>
            </a:r>
            <a:endParaRPr lang="en-US" sz="1200" dirty="0"/>
          </a:p>
        </p:txBody>
      </p:sp>
      <p:sp>
        <p:nvSpPr>
          <p:cNvPr id="30" name="Text 24"/>
          <p:cNvSpPr/>
          <p:nvPr/>
        </p:nvSpPr>
        <p:spPr>
          <a:xfrm>
            <a:off x="859536" y="5230368"/>
            <a:ext cx="4773168" cy="914400"/>
          </a:xfrm>
          <a:prstGeom prst="rect">
            <a:avLst/>
          </a:prstGeom>
          <a:noFill/>
          <a:ln/>
        </p:spPr>
        <p:txBody>
          <a:bodyPr wrap="square" lIns="0" tIns="0" rIns="0" bIns="0" rtlCol="0" anchor="t"/>
          <a:lstStyle/>
          <a:p>
            <a:pPr indent="0" marL="0">
              <a:lnSpc>
                <a:spcPts val="1700"/>
              </a:lnSpc>
              <a:buNone/>
            </a:pPr>
            <a:r>
              <a:rPr lang="en-US" sz="1300" dirty="0">
                <a:solidFill>
                  <a:srgbClr val="6B4A0E"/>
                </a:solidFill>
                <a:latin typeface="Calibri" pitchFamily="34" charset="0"/>
                <a:ea typeface="Calibri" pitchFamily="34" charset="-122"/>
                <a:cs typeface="Calibri" pitchFamily="34" charset="-120"/>
              </a:rPr>
              <a:t>Tagging is the most foundational habit in the practice and the most frequently skipped. As an estate grows, coverage that was once adequate leaves a fifth of spend allocated to nobody.</a:t>
            </a:r>
            <a:endParaRPr lang="en-US" sz="1300" dirty="0"/>
          </a:p>
        </p:txBody>
      </p:sp>
      <p:sp>
        <p:nvSpPr>
          <p:cNvPr id="31" name="Shape 25"/>
          <p:cNvSpPr/>
          <p:nvPr/>
        </p:nvSpPr>
        <p:spPr>
          <a:xfrm>
            <a:off x="6245352" y="4754880"/>
            <a:ext cx="5394960" cy="1554480"/>
          </a:xfrm>
          <a:prstGeom prst="roundRect">
            <a:avLst>
              <a:gd name="adj" fmla="val 5294"/>
            </a:avLst>
          </a:prstGeom>
          <a:solidFill>
            <a:srgbClr val="1F2936"/>
          </a:solidFill>
          <a:ln/>
          <a:effectLst>
            <a:outerShdw sx="100000" sy="100000" kx="0" ky="0" algn="bl" rotWithShape="0" blurRad="127000" dist="25400" dir="5400000">
              <a:srgbClr val="8C99A8">
                <a:alpha val="16000"/>
              </a:srgbClr>
            </a:outerShdw>
          </a:effectLst>
        </p:spPr>
      </p:sp>
      <p:sp>
        <p:nvSpPr>
          <p:cNvPr id="32" name="Text 26"/>
          <p:cNvSpPr/>
          <p:nvPr/>
        </p:nvSpPr>
        <p:spPr>
          <a:xfrm>
            <a:off x="6556248" y="4919472"/>
            <a:ext cx="41148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What changes when it works</a:t>
            </a:r>
            <a:endParaRPr lang="en-US" sz="1200" dirty="0"/>
          </a:p>
        </p:txBody>
      </p:sp>
      <p:sp>
        <p:nvSpPr>
          <p:cNvPr id="33" name="Text 27"/>
          <p:cNvSpPr/>
          <p:nvPr/>
        </p:nvSpPr>
        <p:spPr>
          <a:xfrm>
            <a:off x="6556248" y="5266944"/>
            <a:ext cx="4773168" cy="868680"/>
          </a:xfrm>
          <a:prstGeom prst="rect">
            <a:avLst/>
          </a:prstGeom>
          <a:noFill/>
          <a:ln/>
        </p:spPr>
        <p:txBody>
          <a:bodyPr wrap="square" lIns="0" tIns="0" rIns="0" bIns="0" rtlCol="0" anchor="t"/>
          <a:lstStyle/>
          <a:p>
            <a:pPr indent="0" marL="0">
              <a:lnSpc>
                <a:spcPts val="2400"/>
              </a:lnSpc>
              <a:buNone/>
            </a:pPr>
            <a:r>
              <a:rPr lang="en-US" sz="1500" i="1" dirty="0">
                <a:solidFill>
                  <a:srgbClr val="9EABBA"/>
                </a:solidFill>
                <a:latin typeface="Calibri" pitchFamily="34" charset="0"/>
                <a:ea typeface="Calibri" pitchFamily="34" charset="-122"/>
                <a:cs typeface="Calibri" pitchFamily="34" charset="-120"/>
              </a:rPr>
              <a:t>From “IT is overspending”</a:t>
            </a:r>
            <a:endParaRPr lang="en-US" sz="1500" dirty="0"/>
          </a:p>
          <a:p>
            <a:pPr indent="0" marL="0">
              <a:lnSpc>
                <a:spcPts val="2400"/>
              </a:lnSpc>
              <a:buNone/>
            </a:pPr>
            <a:r>
              <a:rPr lang="en-US" sz="1500" b="1" dirty="0">
                <a:solidFill>
                  <a:srgbClr val="FFFFFF"/>
                </a:solidFill>
                <a:latin typeface="Calibri" pitchFamily="34" charset="0"/>
                <a:ea typeface="Calibri" pitchFamily="34" charset="-122"/>
                <a:cs typeface="Calibri" pitchFamily="34" charset="-120"/>
              </a:rPr>
              <a:t>to “Team X used Y, at cost Z, delivering A.”</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PART TWO — CONTROL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Four controls, and only one of them is fast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A report is not a control. These are, in the order they take effect.</a:t>
            </a:r>
            <a:endParaRPr lang="en-US" sz="1500" dirty="0"/>
          </a:p>
        </p:txBody>
      </p:sp>
      <p:sp>
        <p:nvSpPr>
          <p:cNvPr id="5" name="Shape 3"/>
          <p:cNvSpPr/>
          <p:nvPr/>
        </p:nvSpPr>
        <p:spPr>
          <a:xfrm>
            <a:off x="548640" y="2121408"/>
            <a:ext cx="5394960" cy="1737360"/>
          </a:xfrm>
          <a:prstGeom prst="roundRect">
            <a:avLst>
              <a:gd name="adj" fmla="val 4737"/>
            </a:avLst>
          </a:prstGeom>
          <a:solidFill>
            <a:srgbClr val="1F2936"/>
          </a:solidFill>
          <a:ln/>
        </p:spPr>
      </p:sp>
      <p:sp>
        <p:nvSpPr>
          <p:cNvPr id="6" name="Shape 4"/>
          <p:cNvSpPr/>
          <p:nvPr/>
        </p:nvSpPr>
        <p:spPr>
          <a:xfrm>
            <a:off x="841248" y="2395728"/>
            <a:ext cx="512064" cy="512064"/>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69264" y="2523744"/>
            <a:ext cx="256032" cy="256032"/>
          </a:xfrm>
          <a:prstGeom prst="rect">
            <a:avLst/>
          </a:prstGeom>
        </p:spPr>
      </p:pic>
      <p:sp>
        <p:nvSpPr>
          <p:cNvPr id="8" name="Text 5"/>
          <p:cNvSpPr/>
          <p:nvPr/>
        </p:nvSpPr>
        <p:spPr>
          <a:xfrm>
            <a:off x="1499616" y="2377440"/>
            <a:ext cx="283464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Rate limits &amp; quotas</a:t>
            </a:r>
            <a:endParaRPr lang="en-US" sz="1700" dirty="0"/>
          </a:p>
        </p:txBody>
      </p:sp>
      <p:sp>
        <p:nvSpPr>
          <p:cNvPr id="9" name="Text 6"/>
          <p:cNvSpPr/>
          <p:nvPr/>
        </p:nvSpPr>
        <p:spPr>
          <a:xfrm>
            <a:off x="4206240" y="2377440"/>
            <a:ext cx="1426464" cy="548640"/>
          </a:xfrm>
          <a:prstGeom prst="rect">
            <a:avLst/>
          </a:prstGeom>
          <a:noFill/>
          <a:ln/>
        </p:spPr>
        <p:txBody>
          <a:bodyPr wrap="square" lIns="0" tIns="0" rIns="0" bIns="0" rtlCol="0" anchor="ctr"/>
          <a:lstStyle/>
          <a:p>
            <a:pPr algn="r" indent="0" marL="0">
              <a:buNone/>
            </a:pPr>
            <a:r>
              <a:rPr lang="en-US" sz="1200" b="1" dirty="0">
                <a:solidFill>
                  <a:srgbClr val="E39B2C"/>
                </a:solidFill>
                <a:latin typeface="Calibri" pitchFamily="34" charset="0"/>
                <a:ea typeface="Calibri" pitchFamily="34" charset="-122"/>
                <a:cs typeface="Calibri" pitchFamily="34" charset="-120"/>
              </a:rPr>
              <a:t>seconds</a:t>
            </a:r>
            <a:endParaRPr lang="en-US" sz="1200" dirty="0"/>
          </a:p>
        </p:txBody>
      </p:sp>
      <p:sp>
        <p:nvSpPr>
          <p:cNvPr id="10" name="Text 7"/>
          <p:cNvSpPr/>
          <p:nvPr/>
        </p:nvSpPr>
        <p:spPr>
          <a:xfrm>
            <a:off x="859536" y="2999232"/>
            <a:ext cx="4773168" cy="74980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only control that can stop spend in progress: token and request caps, gateway throttling, autoscale ceilings.</a:t>
            </a:r>
            <a:endParaRPr lang="en-US" sz="1250" dirty="0"/>
          </a:p>
        </p:txBody>
      </p:sp>
      <p:sp>
        <p:nvSpPr>
          <p:cNvPr id="11" name="Shape 8"/>
          <p:cNvSpPr/>
          <p:nvPr/>
        </p:nvSpPr>
        <p:spPr>
          <a:xfrm>
            <a:off x="6245352" y="2121408"/>
            <a:ext cx="5394960" cy="1737360"/>
          </a:xfrm>
          <a:prstGeom prst="roundRect">
            <a:avLst>
              <a:gd name="adj" fmla="val 4737"/>
            </a:avLst>
          </a:prstGeom>
          <a:solidFill>
            <a:srgbClr val="1F2936"/>
          </a:solidFill>
          <a:ln/>
        </p:spPr>
      </p:sp>
      <p:sp>
        <p:nvSpPr>
          <p:cNvPr id="12" name="Shape 9"/>
          <p:cNvSpPr/>
          <p:nvPr/>
        </p:nvSpPr>
        <p:spPr>
          <a:xfrm>
            <a:off x="6537960" y="2395728"/>
            <a:ext cx="512064" cy="512064"/>
          </a:xfrm>
          <a:prstGeom prst="ellipse">
            <a:avLst/>
          </a:prstGeom>
          <a:solidFill>
            <a:srgbClr val="2E3A48"/>
          </a:solidFill>
          <a:ln/>
        </p:spPr>
      </p:sp>
      <p:pic>
        <p:nvPicPr>
          <p:cNvPr id="13" name="Image 1" descr="preencoded.png">    </p:cNvPr>
          <p:cNvPicPr>
            <a:picLocks noChangeAspect="1"/>
          </p:cNvPicPr>
          <p:nvPr/>
        </p:nvPicPr>
        <p:blipFill>
          <a:blip r:embed="rId2"/>
          <a:stretch>
            <a:fillRect/>
          </a:stretch>
        </p:blipFill>
        <p:spPr>
          <a:xfrm>
            <a:off x="6665976" y="2523744"/>
            <a:ext cx="256032" cy="256032"/>
          </a:xfrm>
          <a:prstGeom prst="rect">
            <a:avLst/>
          </a:prstGeom>
        </p:spPr>
      </p:pic>
      <p:sp>
        <p:nvSpPr>
          <p:cNvPr id="14" name="Text 10"/>
          <p:cNvSpPr/>
          <p:nvPr/>
        </p:nvSpPr>
        <p:spPr>
          <a:xfrm>
            <a:off x="7196328" y="2377440"/>
            <a:ext cx="283464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Tiered alerts</a:t>
            </a:r>
            <a:endParaRPr lang="en-US" sz="1700" dirty="0"/>
          </a:p>
        </p:txBody>
      </p:sp>
      <p:sp>
        <p:nvSpPr>
          <p:cNvPr id="15" name="Text 11"/>
          <p:cNvSpPr/>
          <p:nvPr/>
        </p:nvSpPr>
        <p:spPr>
          <a:xfrm>
            <a:off x="9902952" y="2377440"/>
            <a:ext cx="1426464" cy="548640"/>
          </a:xfrm>
          <a:prstGeom prst="rect">
            <a:avLst/>
          </a:prstGeom>
          <a:noFill/>
          <a:ln/>
        </p:spPr>
        <p:txBody>
          <a:bodyPr wrap="square" lIns="0" tIns="0" rIns="0" bIns="0" rtlCol="0" anchor="ctr"/>
          <a:lstStyle/>
          <a:p>
            <a:pPr algn="r" indent="0" marL="0">
              <a:buNone/>
            </a:pPr>
            <a:r>
              <a:rPr lang="en-US" sz="1200" b="1" dirty="0">
                <a:solidFill>
                  <a:srgbClr val="E39B2C"/>
                </a:solidFill>
                <a:latin typeface="Calibri" pitchFamily="34" charset="0"/>
                <a:ea typeface="Calibri" pitchFamily="34" charset="-122"/>
                <a:cs typeface="Calibri" pitchFamily="34" charset="-120"/>
              </a:rPr>
              <a:t>minutes to days</a:t>
            </a:r>
            <a:endParaRPr lang="en-US" sz="1200" dirty="0"/>
          </a:p>
        </p:txBody>
      </p:sp>
      <p:sp>
        <p:nvSpPr>
          <p:cNvPr id="16" name="Text 12"/>
          <p:cNvSpPr/>
          <p:nvPr/>
        </p:nvSpPr>
        <p:spPr>
          <a:xfrm>
            <a:off x="6556248" y="2999232"/>
            <a:ext cx="4773168" cy="74980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Usage-plane alerts page someone. Budget alerts go to a channel. Advisory alerts become tickets — never a page.</a:t>
            </a:r>
            <a:endParaRPr lang="en-US" sz="1250" dirty="0"/>
          </a:p>
        </p:txBody>
      </p:sp>
      <p:sp>
        <p:nvSpPr>
          <p:cNvPr id="17" name="Shape 13"/>
          <p:cNvSpPr/>
          <p:nvPr/>
        </p:nvSpPr>
        <p:spPr>
          <a:xfrm>
            <a:off x="548640" y="4041648"/>
            <a:ext cx="5394960" cy="1737360"/>
          </a:xfrm>
          <a:prstGeom prst="roundRect">
            <a:avLst>
              <a:gd name="adj" fmla="val 4737"/>
            </a:avLst>
          </a:prstGeom>
          <a:solidFill>
            <a:srgbClr val="1F2936"/>
          </a:solidFill>
          <a:ln/>
        </p:spPr>
      </p:sp>
      <p:sp>
        <p:nvSpPr>
          <p:cNvPr id="18" name="Shape 14"/>
          <p:cNvSpPr/>
          <p:nvPr/>
        </p:nvSpPr>
        <p:spPr>
          <a:xfrm>
            <a:off x="841248" y="4315968"/>
            <a:ext cx="512064" cy="512064"/>
          </a:xfrm>
          <a:prstGeom prst="ellipse">
            <a:avLst/>
          </a:prstGeom>
          <a:solidFill>
            <a:srgbClr val="2E3A48"/>
          </a:solidFill>
          <a:ln/>
        </p:spPr>
      </p:sp>
      <p:pic>
        <p:nvPicPr>
          <p:cNvPr id="19" name="Image 2" descr="preencoded.png">    </p:cNvPr>
          <p:cNvPicPr>
            <a:picLocks noChangeAspect="1"/>
          </p:cNvPicPr>
          <p:nvPr/>
        </p:nvPicPr>
        <p:blipFill>
          <a:blip r:embed="rId3"/>
          <a:stretch>
            <a:fillRect/>
          </a:stretch>
        </p:blipFill>
        <p:spPr>
          <a:xfrm>
            <a:off x="969264" y="4443984"/>
            <a:ext cx="256032" cy="256032"/>
          </a:xfrm>
          <a:prstGeom prst="rect">
            <a:avLst/>
          </a:prstGeom>
        </p:spPr>
      </p:pic>
      <p:sp>
        <p:nvSpPr>
          <p:cNvPr id="20" name="Text 15"/>
          <p:cNvSpPr/>
          <p:nvPr/>
        </p:nvSpPr>
        <p:spPr>
          <a:xfrm>
            <a:off x="1499616" y="4297680"/>
            <a:ext cx="283464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Named application owners</a:t>
            </a:r>
            <a:endParaRPr lang="en-US" sz="1700" dirty="0"/>
          </a:p>
        </p:txBody>
      </p:sp>
      <p:sp>
        <p:nvSpPr>
          <p:cNvPr id="21" name="Text 16"/>
          <p:cNvSpPr/>
          <p:nvPr/>
        </p:nvSpPr>
        <p:spPr>
          <a:xfrm>
            <a:off x="4206240" y="4297680"/>
            <a:ext cx="1426464" cy="548640"/>
          </a:xfrm>
          <a:prstGeom prst="rect">
            <a:avLst/>
          </a:prstGeom>
          <a:noFill/>
          <a:ln/>
        </p:spPr>
        <p:txBody>
          <a:bodyPr wrap="square" lIns="0" tIns="0" rIns="0" bIns="0" rtlCol="0" anchor="ctr"/>
          <a:lstStyle/>
          <a:p>
            <a:pPr algn="r" indent="0" marL="0">
              <a:buNone/>
            </a:pPr>
            <a:r>
              <a:rPr lang="en-US" sz="1200" b="1" dirty="0">
                <a:solidFill>
                  <a:srgbClr val="2E8B7A"/>
                </a:solidFill>
                <a:latin typeface="Calibri" pitchFamily="34" charset="0"/>
                <a:ea typeface="Calibri" pitchFamily="34" charset="-122"/>
                <a:cs typeface="Calibri" pitchFamily="34" charset="-120"/>
              </a:rPr>
              <a:t>always on</a:t>
            </a:r>
            <a:endParaRPr lang="en-US" sz="1200" dirty="0"/>
          </a:p>
        </p:txBody>
      </p:sp>
      <p:sp>
        <p:nvSpPr>
          <p:cNvPr id="22" name="Text 17"/>
          <p:cNvSpPr/>
          <p:nvPr/>
        </p:nvSpPr>
        <p:spPr>
          <a:xfrm>
            <a:off x="859536" y="4919472"/>
            <a:ext cx="4773168" cy="74980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One person per workload who owns the budget, answers the alert and retires what is unused.</a:t>
            </a:r>
            <a:endParaRPr lang="en-US" sz="1250" dirty="0"/>
          </a:p>
        </p:txBody>
      </p:sp>
      <p:sp>
        <p:nvSpPr>
          <p:cNvPr id="23" name="Shape 18"/>
          <p:cNvSpPr/>
          <p:nvPr/>
        </p:nvSpPr>
        <p:spPr>
          <a:xfrm>
            <a:off x="6245352" y="4041648"/>
            <a:ext cx="5394960" cy="1737360"/>
          </a:xfrm>
          <a:prstGeom prst="roundRect">
            <a:avLst>
              <a:gd name="adj" fmla="val 4737"/>
            </a:avLst>
          </a:prstGeom>
          <a:solidFill>
            <a:srgbClr val="1F2936"/>
          </a:solidFill>
          <a:ln/>
        </p:spPr>
      </p:sp>
      <p:sp>
        <p:nvSpPr>
          <p:cNvPr id="24" name="Shape 19"/>
          <p:cNvSpPr/>
          <p:nvPr/>
        </p:nvSpPr>
        <p:spPr>
          <a:xfrm>
            <a:off x="6537960" y="4315968"/>
            <a:ext cx="512064" cy="512064"/>
          </a:xfrm>
          <a:prstGeom prst="ellipse">
            <a:avLst/>
          </a:prstGeom>
          <a:solidFill>
            <a:srgbClr val="2E3A48"/>
          </a:solidFill>
          <a:ln/>
        </p:spPr>
      </p:sp>
      <p:pic>
        <p:nvPicPr>
          <p:cNvPr id="25" name="Image 3" descr="preencoded.png">    </p:cNvPr>
          <p:cNvPicPr>
            <a:picLocks noChangeAspect="1"/>
          </p:cNvPicPr>
          <p:nvPr/>
        </p:nvPicPr>
        <p:blipFill>
          <a:blip r:embed="rId4"/>
          <a:stretch>
            <a:fillRect/>
          </a:stretch>
        </p:blipFill>
        <p:spPr>
          <a:xfrm>
            <a:off x="6665976" y="4443984"/>
            <a:ext cx="256032" cy="256032"/>
          </a:xfrm>
          <a:prstGeom prst="rect">
            <a:avLst/>
          </a:prstGeom>
        </p:spPr>
      </p:pic>
      <p:sp>
        <p:nvSpPr>
          <p:cNvPr id="26" name="Text 20"/>
          <p:cNvSpPr/>
          <p:nvPr/>
        </p:nvSpPr>
        <p:spPr>
          <a:xfrm>
            <a:off x="7196328" y="4297680"/>
            <a:ext cx="283464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Budget thresholds</a:t>
            </a:r>
            <a:endParaRPr lang="en-US" sz="1700" dirty="0"/>
          </a:p>
        </p:txBody>
      </p:sp>
      <p:sp>
        <p:nvSpPr>
          <p:cNvPr id="27" name="Text 21"/>
          <p:cNvSpPr/>
          <p:nvPr/>
        </p:nvSpPr>
        <p:spPr>
          <a:xfrm>
            <a:off x="9902952" y="4297680"/>
            <a:ext cx="1426464" cy="548640"/>
          </a:xfrm>
          <a:prstGeom prst="rect">
            <a:avLst/>
          </a:prstGeom>
          <a:noFill/>
          <a:ln/>
        </p:spPr>
        <p:txBody>
          <a:bodyPr wrap="square" lIns="0" tIns="0" rIns="0" bIns="0" rtlCol="0" anchor="ctr"/>
          <a:lstStyle/>
          <a:p>
            <a:pPr algn="r" indent="0" marL="0">
              <a:buNone/>
            </a:pPr>
            <a:r>
              <a:rPr lang="en-US" sz="1200" b="1" dirty="0">
                <a:solidFill>
                  <a:srgbClr val="2E8B7A"/>
                </a:solidFill>
                <a:latin typeface="Calibri" pitchFamily="34" charset="0"/>
                <a:ea typeface="Calibri" pitchFamily="34" charset="-122"/>
                <a:cs typeface="Calibri" pitchFamily="34" charset="-120"/>
              </a:rPr>
              <a:t>within the month</a:t>
            </a:r>
            <a:endParaRPr lang="en-US" sz="1200" dirty="0"/>
          </a:p>
        </p:txBody>
      </p:sp>
      <p:sp>
        <p:nvSpPr>
          <p:cNvPr id="28" name="Text 22"/>
          <p:cNvSpPr/>
          <p:nvPr/>
        </p:nvSpPr>
        <p:spPr>
          <a:xfrm>
            <a:off x="6556248" y="4919472"/>
            <a:ext cx="4773168" cy="74980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Notify, review, gate — measured against elapsed month, so drift shows in week one rather than at close.</a:t>
            </a:r>
            <a:endParaRPr lang="en-US" sz="1250" dirty="0"/>
          </a:p>
        </p:txBody>
      </p:sp>
      <p:sp>
        <p:nvSpPr>
          <p:cNvPr id="29" name="Text 23"/>
          <p:cNvSpPr/>
          <p:nvPr/>
        </p:nvSpPr>
        <p:spPr>
          <a:xfrm>
            <a:off x="548640" y="5943600"/>
            <a:ext cx="11091672" cy="566928"/>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“A cost alert cannot save you from a runaway job — by the time the billing data moves, the money is spent. Only the usage plane is fast enough.”</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ASK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Ninety days, three decisions</a:t>
            </a:r>
            <a:endParaRPr lang="en-US" sz="3100" dirty="0"/>
          </a:p>
        </p:txBody>
      </p:sp>
      <p:sp>
        <p:nvSpPr>
          <p:cNvPr id="4" name="Shape 2"/>
          <p:cNvSpPr/>
          <p:nvPr/>
        </p:nvSpPr>
        <p:spPr>
          <a:xfrm>
            <a:off x="548640" y="1783080"/>
            <a:ext cx="3511296" cy="3200400"/>
          </a:xfrm>
          <a:prstGeom prst="roundRect">
            <a:avLst>
              <a:gd name="adj" fmla="val 2571"/>
            </a:avLst>
          </a:prstGeom>
          <a:solidFill>
            <a:srgbClr val="1F2936"/>
          </a:solidFill>
          <a:ln/>
        </p:spPr>
      </p:sp>
      <p:sp>
        <p:nvSpPr>
          <p:cNvPr id="5" name="Text 3"/>
          <p:cNvSpPr/>
          <p:nvPr/>
        </p:nvSpPr>
        <p:spPr>
          <a:xfrm>
            <a:off x="859536" y="1965960"/>
            <a:ext cx="29260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Weeks 1–4</a:t>
            </a:r>
            <a:endParaRPr lang="en-US" sz="1150" dirty="0"/>
          </a:p>
        </p:txBody>
      </p:sp>
      <p:sp>
        <p:nvSpPr>
          <p:cNvPr id="6" name="Text 4"/>
          <p:cNvSpPr/>
          <p:nvPr/>
        </p:nvSpPr>
        <p:spPr>
          <a:xfrm>
            <a:off x="859536" y="2304288"/>
            <a:ext cx="2926080" cy="402336"/>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Standard and baseline</a:t>
            </a:r>
            <a:endParaRPr lang="en-US" sz="1800" dirty="0"/>
          </a:p>
        </p:txBody>
      </p:sp>
      <p:sp>
        <p:nvSpPr>
          <p:cNvPr id="7" name="Shape 5"/>
          <p:cNvSpPr/>
          <p:nvPr/>
        </p:nvSpPr>
        <p:spPr>
          <a:xfrm>
            <a:off x="877824" y="2962656"/>
            <a:ext cx="100584" cy="100584"/>
          </a:xfrm>
          <a:prstGeom prst="ellipse">
            <a:avLst/>
          </a:prstGeom>
          <a:solidFill>
            <a:srgbClr val="E39B2C"/>
          </a:solidFill>
          <a:ln/>
        </p:spPr>
      </p:sp>
      <p:sp>
        <p:nvSpPr>
          <p:cNvPr id="8" name="Text 6"/>
          <p:cNvSpPr/>
          <p:nvPr/>
        </p:nvSpPr>
        <p:spPr>
          <a:xfrm>
            <a:off x="1115568"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Publish the tag taxonomy and enforce it on new resources</a:t>
            </a:r>
            <a:endParaRPr lang="en-US" sz="1200" dirty="0"/>
          </a:p>
        </p:txBody>
      </p:sp>
      <p:sp>
        <p:nvSpPr>
          <p:cNvPr id="9" name="Shape 7"/>
          <p:cNvSpPr/>
          <p:nvPr/>
        </p:nvSpPr>
        <p:spPr>
          <a:xfrm>
            <a:off x="877824" y="3648456"/>
            <a:ext cx="100584" cy="100584"/>
          </a:xfrm>
          <a:prstGeom prst="ellipse">
            <a:avLst/>
          </a:prstGeom>
          <a:solidFill>
            <a:srgbClr val="E39B2C"/>
          </a:solidFill>
          <a:ln/>
        </p:spPr>
      </p:sp>
      <p:sp>
        <p:nvSpPr>
          <p:cNvPr id="10" name="Text 8"/>
          <p:cNvSpPr/>
          <p:nvPr/>
        </p:nvSpPr>
        <p:spPr>
          <a:xfrm>
            <a:off x="1115568"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Name an owner for every application above a spend floor</a:t>
            </a:r>
            <a:endParaRPr lang="en-US" sz="1200" dirty="0"/>
          </a:p>
        </p:txBody>
      </p:sp>
      <p:sp>
        <p:nvSpPr>
          <p:cNvPr id="11" name="Shape 9"/>
          <p:cNvSpPr/>
          <p:nvPr/>
        </p:nvSpPr>
        <p:spPr>
          <a:xfrm>
            <a:off x="877824" y="4334256"/>
            <a:ext cx="100584" cy="100584"/>
          </a:xfrm>
          <a:prstGeom prst="ellipse">
            <a:avLst/>
          </a:prstGeom>
          <a:solidFill>
            <a:srgbClr val="E39B2C"/>
          </a:solidFill>
          <a:ln/>
        </p:spPr>
      </p:sp>
      <p:sp>
        <p:nvSpPr>
          <p:cNvPr id="12" name="Text 10"/>
          <p:cNvSpPr/>
          <p:nvPr/>
        </p:nvSpPr>
        <p:spPr>
          <a:xfrm>
            <a:off x="1115568"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Report allocation coverage as a number, weekly</a:t>
            </a:r>
            <a:endParaRPr lang="en-US" sz="1200" dirty="0"/>
          </a:p>
        </p:txBody>
      </p:sp>
      <p:sp>
        <p:nvSpPr>
          <p:cNvPr id="13" name="Shape 11"/>
          <p:cNvSpPr/>
          <p:nvPr/>
        </p:nvSpPr>
        <p:spPr>
          <a:xfrm>
            <a:off x="4334256" y="1783080"/>
            <a:ext cx="3511296" cy="3200400"/>
          </a:xfrm>
          <a:prstGeom prst="roundRect">
            <a:avLst>
              <a:gd name="adj" fmla="val 2571"/>
            </a:avLst>
          </a:prstGeom>
          <a:solidFill>
            <a:srgbClr val="F1F3F6"/>
          </a:solidFill>
          <a:ln/>
        </p:spPr>
      </p:sp>
      <p:sp>
        <p:nvSpPr>
          <p:cNvPr id="14" name="Text 12"/>
          <p:cNvSpPr/>
          <p:nvPr/>
        </p:nvSpPr>
        <p:spPr>
          <a:xfrm>
            <a:off x="4645152" y="1965960"/>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5–8</a:t>
            </a:r>
            <a:endParaRPr lang="en-US" sz="1150" dirty="0"/>
          </a:p>
        </p:txBody>
      </p:sp>
      <p:sp>
        <p:nvSpPr>
          <p:cNvPr id="15" name="Text 13"/>
          <p:cNvSpPr/>
          <p:nvPr/>
        </p:nvSpPr>
        <p:spPr>
          <a:xfrm>
            <a:off x="4645152" y="2304288"/>
            <a:ext cx="2926080" cy="402336"/>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Guardrails, showback</a:t>
            </a:r>
            <a:endParaRPr lang="en-US" sz="1800" dirty="0"/>
          </a:p>
        </p:txBody>
      </p:sp>
      <p:sp>
        <p:nvSpPr>
          <p:cNvPr id="16" name="Shape 14"/>
          <p:cNvSpPr/>
          <p:nvPr/>
        </p:nvSpPr>
        <p:spPr>
          <a:xfrm>
            <a:off x="4663440" y="2962656"/>
            <a:ext cx="100584" cy="100584"/>
          </a:xfrm>
          <a:prstGeom prst="ellipse">
            <a:avLst/>
          </a:prstGeom>
          <a:solidFill>
            <a:srgbClr val="B87B18"/>
          </a:solidFill>
          <a:ln/>
        </p:spPr>
      </p:sp>
      <p:sp>
        <p:nvSpPr>
          <p:cNvPr id="17" name="Text 15"/>
          <p:cNvSpPr/>
          <p:nvPr/>
        </p:nvSpPr>
        <p:spPr>
          <a:xfrm>
            <a:off x="4901184"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Quotas and autoscale ceilings on the top ten workloads</a:t>
            </a:r>
            <a:endParaRPr lang="en-US" sz="1200" dirty="0"/>
          </a:p>
        </p:txBody>
      </p:sp>
      <p:sp>
        <p:nvSpPr>
          <p:cNvPr id="18" name="Shape 16"/>
          <p:cNvSpPr/>
          <p:nvPr/>
        </p:nvSpPr>
        <p:spPr>
          <a:xfrm>
            <a:off x="4663440" y="3648456"/>
            <a:ext cx="100584" cy="100584"/>
          </a:xfrm>
          <a:prstGeom prst="ellipse">
            <a:avLst/>
          </a:prstGeom>
          <a:solidFill>
            <a:srgbClr val="B87B18"/>
          </a:solidFill>
          <a:ln/>
        </p:spPr>
      </p:sp>
      <p:sp>
        <p:nvSpPr>
          <p:cNvPr id="19" name="Text 17"/>
          <p:cNvSpPr/>
          <p:nvPr/>
        </p:nvSpPr>
        <p:spPr>
          <a:xfrm>
            <a:off x="4901184"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Alert tiers wired to owners, not to a shared mailbox</a:t>
            </a:r>
            <a:endParaRPr lang="en-US" sz="1200" dirty="0"/>
          </a:p>
        </p:txBody>
      </p:sp>
      <p:sp>
        <p:nvSpPr>
          <p:cNvPr id="20" name="Shape 18"/>
          <p:cNvSpPr/>
          <p:nvPr/>
        </p:nvSpPr>
        <p:spPr>
          <a:xfrm>
            <a:off x="4663440" y="4334256"/>
            <a:ext cx="100584" cy="100584"/>
          </a:xfrm>
          <a:prstGeom prst="ellipse">
            <a:avLst/>
          </a:prstGeom>
          <a:solidFill>
            <a:srgbClr val="B87B18"/>
          </a:solidFill>
          <a:ln/>
        </p:spPr>
      </p:sp>
      <p:sp>
        <p:nvSpPr>
          <p:cNvPr id="21" name="Text 19"/>
          <p:cNvSpPr/>
          <p:nvPr/>
        </p:nvSpPr>
        <p:spPr>
          <a:xfrm>
            <a:off x="4901184"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Showback: every team sees its own spend, nothing is charged</a:t>
            </a:r>
            <a:endParaRPr lang="en-US" sz="1200" dirty="0"/>
          </a:p>
        </p:txBody>
      </p:sp>
      <p:sp>
        <p:nvSpPr>
          <p:cNvPr id="22" name="Shape 20"/>
          <p:cNvSpPr/>
          <p:nvPr/>
        </p:nvSpPr>
        <p:spPr>
          <a:xfrm>
            <a:off x="8119872" y="1783080"/>
            <a:ext cx="3511296" cy="3200400"/>
          </a:xfrm>
          <a:prstGeom prst="roundRect">
            <a:avLst>
              <a:gd name="adj" fmla="val 2571"/>
            </a:avLst>
          </a:prstGeom>
          <a:solidFill>
            <a:srgbClr val="F1F3F6"/>
          </a:solidFill>
          <a:ln/>
        </p:spPr>
      </p:sp>
      <p:sp>
        <p:nvSpPr>
          <p:cNvPr id="23" name="Text 21"/>
          <p:cNvSpPr/>
          <p:nvPr/>
        </p:nvSpPr>
        <p:spPr>
          <a:xfrm>
            <a:off x="8430768" y="1965960"/>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9–12</a:t>
            </a:r>
            <a:endParaRPr lang="en-US" sz="1150" dirty="0"/>
          </a:p>
        </p:txBody>
      </p:sp>
      <p:sp>
        <p:nvSpPr>
          <p:cNvPr id="24" name="Text 22"/>
          <p:cNvSpPr/>
          <p:nvPr/>
        </p:nvSpPr>
        <p:spPr>
          <a:xfrm>
            <a:off x="8430768" y="2304288"/>
            <a:ext cx="2926080" cy="402336"/>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Review and decide</a:t>
            </a:r>
            <a:endParaRPr lang="en-US" sz="1800" dirty="0"/>
          </a:p>
        </p:txBody>
      </p:sp>
      <p:sp>
        <p:nvSpPr>
          <p:cNvPr id="25" name="Shape 23"/>
          <p:cNvSpPr/>
          <p:nvPr/>
        </p:nvSpPr>
        <p:spPr>
          <a:xfrm>
            <a:off x="8449056" y="2962656"/>
            <a:ext cx="100584" cy="100584"/>
          </a:xfrm>
          <a:prstGeom prst="ellipse">
            <a:avLst/>
          </a:prstGeom>
          <a:solidFill>
            <a:srgbClr val="B87B18"/>
          </a:solidFill>
          <a:ln/>
        </p:spPr>
      </p:sp>
      <p:sp>
        <p:nvSpPr>
          <p:cNvPr id="26" name="Text 24"/>
          <p:cNvSpPr/>
          <p:nvPr/>
        </p:nvSpPr>
        <p:spPr>
          <a:xfrm>
            <a:off x="8686800"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Monthly review with finance in the room</a:t>
            </a:r>
            <a:endParaRPr lang="en-US" sz="1200" dirty="0"/>
          </a:p>
        </p:txBody>
      </p:sp>
      <p:sp>
        <p:nvSpPr>
          <p:cNvPr id="27" name="Shape 25"/>
          <p:cNvSpPr/>
          <p:nvPr/>
        </p:nvSpPr>
        <p:spPr>
          <a:xfrm>
            <a:off x="8449056" y="3648456"/>
            <a:ext cx="100584" cy="100584"/>
          </a:xfrm>
          <a:prstGeom prst="ellipse">
            <a:avLst/>
          </a:prstGeom>
          <a:solidFill>
            <a:srgbClr val="B87B18"/>
          </a:solidFill>
          <a:ln/>
        </p:spPr>
      </p:sp>
      <p:sp>
        <p:nvSpPr>
          <p:cNvPr id="28" name="Text 26"/>
          <p:cNvSpPr/>
          <p:nvPr/>
        </p:nvSpPr>
        <p:spPr>
          <a:xfrm>
            <a:off x="8686800"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Unit-cost baseline for the two largest products</a:t>
            </a:r>
            <a:endParaRPr lang="en-US" sz="1200" dirty="0"/>
          </a:p>
        </p:txBody>
      </p:sp>
      <p:sp>
        <p:nvSpPr>
          <p:cNvPr id="29" name="Shape 27"/>
          <p:cNvSpPr/>
          <p:nvPr/>
        </p:nvSpPr>
        <p:spPr>
          <a:xfrm>
            <a:off x="8449056" y="4334256"/>
            <a:ext cx="100584" cy="100584"/>
          </a:xfrm>
          <a:prstGeom prst="ellipse">
            <a:avLst/>
          </a:prstGeom>
          <a:solidFill>
            <a:srgbClr val="B87B18"/>
          </a:solidFill>
          <a:ln/>
        </p:spPr>
      </p:sp>
      <p:sp>
        <p:nvSpPr>
          <p:cNvPr id="30" name="Text 28"/>
          <p:cNvSpPr/>
          <p:nvPr/>
        </p:nvSpPr>
        <p:spPr>
          <a:xfrm>
            <a:off x="8686800"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Decide whether and when showback becomes chargeback</a:t>
            </a:r>
            <a:endParaRPr lang="en-US" sz="1200" dirty="0"/>
          </a:p>
        </p:txBody>
      </p:sp>
      <p:sp>
        <p:nvSpPr>
          <p:cNvPr id="31" name="Shape 29"/>
          <p:cNvSpPr/>
          <p:nvPr/>
        </p:nvSpPr>
        <p:spPr>
          <a:xfrm>
            <a:off x="548640" y="5212080"/>
            <a:ext cx="11091672" cy="1097280"/>
          </a:xfrm>
          <a:prstGeom prst="roundRect">
            <a:avLst>
              <a:gd name="adj" fmla="val 7500"/>
            </a:avLst>
          </a:prstGeom>
          <a:solidFill>
            <a:srgbClr val="1F2936"/>
          </a:solidFill>
          <a:ln/>
          <a:effectLst>
            <a:outerShdw sx="100000" sy="100000" kx="0" ky="0" algn="bl" rotWithShape="0" blurRad="127000" dist="25400" dir="5400000">
              <a:srgbClr val="8C99A8">
                <a:alpha val="16000"/>
              </a:srgbClr>
            </a:outerShdw>
          </a:effectLst>
        </p:spPr>
      </p:sp>
      <p:sp>
        <p:nvSpPr>
          <p:cNvPr id="32" name="Text 30"/>
          <p:cNvSpPr/>
          <p:nvPr/>
        </p:nvSpPr>
        <p:spPr>
          <a:xfrm>
            <a:off x="877824" y="5358384"/>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Decisions needed today</a:t>
            </a:r>
            <a:endParaRPr lang="en-US" sz="1150" dirty="0"/>
          </a:p>
        </p:txBody>
      </p:sp>
      <p:sp>
        <p:nvSpPr>
          <p:cNvPr id="33" name="Text 31"/>
          <p:cNvSpPr/>
          <p:nvPr/>
        </p:nvSpPr>
        <p:spPr>
          <a:xfrm>
            <a:off x="8778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Do we enforce tagging at deployment?</a:t>
            </a:r>
            <a:endParaRPr lang="en-US" sz="1350" dirty="0"/>
          </a:p>
        </p:txBody>
      </p:sp>
      <p:sp>
        <p:nvSpPr>
          <p:cNvPr id="34" name="Text 32"/>
          <p:cNvSpPr/>
          <p:nvPr/>
        </p:nvSpPr>
        <p:spPr>
          <a:xfrm>
            <a:off x="45354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Who owns the taxonomy — and by when?</a:t>
            </a:r>
            <a:endParaRPr lang="en-US" sz="1350" dirty="0"/>
          </a:p>
        </p:txBody>
      </p:sp>
      <p:sp>
        <p:nvSpPr>
          <p:cNvPr id="35" name="Text 33"/>
          <p:cNvSpPr/>
          <p:nvPr/>
        </p:nvSpPr>
        <p:spPr>
          <a:xfrm>
            <a:off x="81930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Are we willing to have a limit that actually blocks?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 CIO brief</dc:title>
  <dc:subject>Cloud cost visibility and governance — five-slide executive cut</dc:subject>
  <dc:creator>FinOps</dc:creator>
  <cp:lastModifiedBy>FinOps</cp:lastModifiedBy>
  <cp:revision>1</cp:revision>
  <dcterms:created xsi:type="dcterms:W3CDTF">2026-08-04T16:07:43Z</dcterms:created>
  <dcterms:modified xsi:type="dcterms:W3CDTF">2026-08-04T16:07:43Z</dcterms:modified>
</cp:coreProperties>
</file>