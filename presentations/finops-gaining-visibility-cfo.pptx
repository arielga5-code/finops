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questions, each mapping to something finance already owns: cost-centre allocation, the efficiency question behind gross margin, working capital sitting idle, and whether we can act before the period closes. Unit economics is the row to dwell on. Cost per customer separates 'spend is up twenty percent' from 'spend per customer is down eight' — the same invoice telling opposite stories, and only the second belongs in a margin discussion. The freshness row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are finance decisions dressed as technical ones. Shared platforms are internal transfer pricing: pick a basis you can defend to a budget owner motivated to dispute it, and freeze it for the fiscal year so period-over-period comparisons hold. Note the constraint before promising anything — splitting a shared platform needs usage instrumentation, not tags. Commitments carry the direct cash consequence. They are multi-year purchase obligations bought against a usage forecast, and unused commitment is already spent, cannot be released, and is invisible on a list-price report. Insist that coverage and utilization are reported as two numbers. The showback runway is risk management: a controlled parallel run before anything touches a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protects the business case. A project quoted at its model cost is understated by everything underneath it — compute, databases, cache, storage, gateway, egress and log ingestion — all of which bill monthly regardless of how heavily the AI feature is used. The four omissions on the right are the recurring causes of a first-month surprise, and three of them scale with traffic rather than staying fixed, so the pilot systematically understates the run rate. The ask is procedural and cheap: one application identifier across every resource a project touches, so the review sees a single number with a single owner rather than a set of resource lines nobody reconciles. Then divide by the business unit — per customer, per order — which is what turns this from a cost report into a margin conversation, and what makes a build-versus-buy comparison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risk slide for the fastest-growing line in the technology budget. The pattern is familiar — spend scaled before ownership and controls did — and the consequence is the same: variance nobody can explain quickly. The finance-relevant figure is the diagnosis time. Four in five organizations need a day or more to trace an AI cost spike to its source, which in practice means the exposure continues while the investigation runs. Framing that as a measurable target — hours rather than days — gives us something to report and improve, unlike a general commitment to better governance. Handle the source honestly and do it unprompted: this is vendor research from a company that sells AI cost management, and the 26% waste number is a self-reported estimate rather than a measurement. Cite the ownership and diagnosis findings, which independent coverage repeats, and treat the waste figure as directional only. Over-claiming it invites the audit question we cannot answer. If asked what would change: per-consumer attribution on AI traffic, so a spike resolves to a team and an application rather than to a shared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parallel is a capital request reviewed before commitment rather than after. These architectural decisions commit recurring spend without passing through a requisition, and this asks for a review point at the moment the commitment is made. The output is what matters here: a cost estimate attached to the design and a cost target recorded alongside the other requirements. That gives a budget baseline that exists before spend starts — without it, the first actual becomes the plan and variance means nothing. On resourcing, the honest answer is someone's time in design reviews rather than a new team. It is the cheapest control on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delegated budget authority expressed in engineering terms. The four duties are what any budget holder already does — sign off, explain variance, review monthly, retire what is unused — and the request is that cloud spend gets the same named accountability. A distribution list cannot hold budget authority, so a group address in the owner field is an unowned budget with better paperwork. The lower block is the governance structure, and it answers 'who is accountable' before the question is asked somewhere less comfortable. Finance owns budget and allocation policy; the platform function owns the standard and the data; engineering builds and responds; leadership arbitrates commitments. The consequence to name: unowned spend lands in central overhead, which is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control environment for the largest uncontrolled line in the budget. The tier that binds is the first one. Quotas are pre-approved spending limits — a ceiling on what can be consumed without someone authorising more, which is exactly how spend authority works elsewhere. The other two notify; only this one prevents. Proportional burn is a variance tool: comparing consumption against elapsed period rather than against the total, the same logic as phasing a budget rather than dividing it by twelve, and it warns earlier. The auditable point is the alert on silence. If the data feed stops, every threshold silently passes and the dashboards look calm — monitoring for the absence of data is a controls question, and the sort of gap an auditor eventually asks about. Ask directly whether we are willing to have a limit that stops something, and 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bring to the conversation about why the number moved, because it reframes the problem from cost to timing. The overrun is the same in all four columns; what changes is how much notice we get, and notice is what converts a write-off into a decision. The third point is the one with direct budget consequence — a forecast warning two weeks before month end can still change the month's outcome, while the invoice can only be explained after close. Be careful with the closing line and repeat it verbatim: this programme does not commit to reducing spend by a percentage, it commits to no unexplained variance. That is the promise we can actually keep, and it is worth more at the audit committee than a savings figure nobody can attribute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procurement slide. Treat the six capabilities as the requirement list rather than as an endorsement — they describe what this category of platform does, and the same list should go to any competing vendor so the comparison is like for like. Two commercial points. First, the pricing model in this market is usually a percentage of cloud spend under management or a tiered subscription, which means the cost grows with the estate — worth confirming before it becomes a line that scales with the problem it manages. Second, insist on FOCUS export in the contract: it is the standard that makes the data portable and keeps a future migration cheap. Be explicit about the published outcomes. Roughly 30% cost reduction and 50% engineer time saved are vendor marketing figures, not audited results and not a commitment to us. If we want a business case, it should be built on our own measured allocation gap and the cost of the analyst time this would replace — a proof of value on our data, with success criteria agreed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with the outcome folded in. Nothing here requires a purchase or a new team; the cost is effort, and naming the roles and the share of their time is more credible than quoting a budget figure we would have to defend. The KPI block is what belongs in the monthly pack, and none of the three is a savings number. Allocation coverage says whether the data can be trusted, time-to-attribute says whether we can act inside the month, and adoption — findings that acquired an owner and a date — moves months before savings do. Keep the promise precise, because it is the one we can keep: not a smaller invoice, but no unexplained variance. A savings percentage promised before anyone can see where the waste is would be a guess, and it is worth less at an audit committee than a variance we can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business must be able to answer — and the four capabilities that answer them.</a:t>
            </a:r>
            <a:endParaRPr lang="en-US" sz="1500" dirty="0"/>
          </a:p>
        </p:txBody>
      </p:sp>
      <p:sp>
        <p:nvSpPr>
          <p:cNvPr id="5" name="Shape 3"/>
          <p:cNvSpPr/>
          <p:nvPr/>
        </p:nvSpPr>
        <p:spPr>
          <a:xfrm>
            <a:off x="548640" y="2121408"/>
            <a:ext cx="11091672" cy="932688"/>
          </a:xfrm>
          <a:prstGeom prst="roundRect">
            <a:avLst>
              <a:gd name="adj" fmla="val 8824"/>
            </a:avLst>
          </a:prstGeom>
          <a:solidFill>
            <a:srgbClr val="F1F3F6"/>
          </a:solidFill>
          <a:ln/>
        </p:spPr>
      </p:sp>
      <p:sp>
        <p:nvSpPr>
          <p:cNvPr id="6" name="Text 4"/>
          <p:cNvSpPr/>
          <p:nvPr/>
        </p:nvSpPr>
        <p:spPr>
          <a:xfrm>
            <a:off x="859536" y="2121408"/>
            <a:ext cx="4663440" cy="932688"/>
          </a:xfrm>
          <a:prstGeom prst="rect">
            <a:avLst/>
          </a:prstGeom>
          <a:noFill/>
          <a:ln/>
        </p:spPr>
        <p:txBody>
          <a:bodyPr wrap="square" lIns="0" tIns="0" rIns="0" bIns="0"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Which teams and products drive the spend?</a:t>
            </a:r>
            <a:endParaRPr lang="en-US" sz="1450" dirty="0"/>
          </a:p>
        </p:txBody>
      </p:sp>
      <p:sp>
        <p:nvSpPr>
          <p:cNvPr id="7" name="Shape 5"/>
          <p:cNvSpPr/>
          <p:nvPr/>
        </p:nvSpPr>
        <p:spPr>
          <a:xfrm>
            <a:off x="5486400" y="2359152"/>
            <a:ext cx="457200" cy="45720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5600700" y="2473452"/>
            <a:ext cx="228600" cy="228600"/>
          </a:xfrm>
          <a:prstGeom prst="rect">
            <a:avLst/>
          </a:prstGeom>
        </p:spPr>
      </p:pic>
      <p:sp>
        <p:nvSpPr>
          <p:cNvPr id="9" name="Text 6"/>
          <p:cNvSpPr/>
          <p:nvPr/>
        </p:nvSpPr>
        <p:spPr>
          <a:xfrm>
            <a:off x="6071616" y="2121408"/>
            <a:ext cx="5257800" cy="932688"/>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Cost allocation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By team, product and environment — which depends on consistent tagging.</a:t>
            </a:r>
            <a:endParaRPr lang="en-US" sz="1400" dirty="0"/>
          </a:p>
        </p:txBody>
      </p:sp>
      <p:sp>
        <p:nvSpPr>
          <p:cNvPr id="10" name="Shape 7"/>
          <p:cNvSpPr/>
          <p:nvPr/>
        </p:nvSpPr>
        <p:spPr>
          <a:xfrm>
            <a:off x="548640" y="3127248"/>
            <a:ext cx="11091672" cy="932688"/>
          </a:xfrm>
          <a:prstGeom prst="roundRect">
            <a:avLst>
              <a:gd name="adj" fmla="val 8824"/>
            </a:avLst>
          </a:prstGeom>
          <a:solidFill>
            <a:srgbClr val="F1F3F6"/>
          </a:solidFill>
          <a:ln/>
        </p:spPr>
      </p:sp>
      <p:sp>
        <p:nvSpPr>
          <p:cNvPr id="11" name="Text 8"/>
          <p:cNvSpPr/>
          <p:nvPr/>
        </p:nvSpPr>
        <p:spPr>
          <a:xfrm>
            <a:off x="859536" y="3127248"/>
            <a:ext cx="4663440" cy="932688"/>
          </a:xfrm>
          <a:prstGeom prst="rect">
            <a:avLst/>
          </a:prstGeom>
          <a:noFill/>
          <a:ln/>
        </p:spPr>
        <p:txBody>
          <a:bodyPr wrap="square" lIns="0" tIns="0" rIns="0" bIns="0"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Is spend growing with the business, or faster?</a:t>
            </a:r>
            <a:endParaRPr lang="en-US" sz="1450" dirty="0"/>
          </a:p>
        </p:txBody>
      </p:sp>
      <p:sp>
        <p:nvSpPr>
          <p:cNvPr id="12" name="Shape 9"/>
          <p:cNvSpPr/>
          <p:nvPr/>
        </p:nvSpPr>
        <p:spPr>
          <a:xfrm>
            <a:off x="5486400" y="3364992"/>
            <a:ext cx="457200" cy="45720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5600700" y="3479292"/>
            <a:ext cx="228600" cy="228600"/>
          </a:xfrm>
          <a:prstGeom prst="rect">
            <a:avLst/>
          </a:prstGeom>
        </p:spPr>
      </p:pic>
      <p:sp>
        <p:nvSpPr>
          <p:cNvPr id="14" name="Text 10"/>
          <p:cNvSpPr/>
          <p:nvPr/>
        </p:nvSpPr>
        <p:spPr>
          <a:xfrm>
            <a:off x="6071616" y="3127248"/>
            <a:ext cx="5257800" cy="932688"/>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Unit economics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Cost per customer, per transaction, per model call.</a:t>
            </a:r>
            <a:endParaRPr lang="en-US" sz="1400" dirty="0"/>
          </a:p>
        </p:txBody>
      </p:sp>
      <p:sp>
        <p:nvSpPr>
          <p:cNvPr id="15" name="Shape 11"/>
          <p:cNvSpPr/>
          <p:nvPr/>
        </p:nvSpPr>
        <p:spPr>
          <a:xfrm>
            <a:off x="548640" y="4133088"/>
            <a:ext cx="11091672" cy="932688"/>
          </a:xfrm>
          <a:prstGeom prst="roundRect">
            <a:avLst>
              <a:gd name="adj" fmla="val 8824"/>
            </a:avLst>
          </a:prstGeom>
          <a:solidFill>
            <a:srgbClr val="F1F3F6"/>
          </a:solidFill>
          <a:ln/>
        </p:spPr>
      </p:sp>
      <p:sp>
        <p:nvSpPr>
          <p:cNvPr id="16" name="Text 12"/>
          <p:cNvSpPr/>
          <p:nvPr/>
        </p:nvSpPr>
        <p:spPr>
          <a:xfrm>
            <a:off x="859536" y="4133088"/>
            <a:ext cx="4663440" cy="932688"/>
          </a:xfrm>
          <a:prstGeom prst="rect">
            <a:avLst/>
          </a:prstGeom>
          <a:noFill/>
          <a:ln/>
        </p:spPr>
        <p:txBody>
          <a:bodyPr wrap="square" lIns="0" tIns="0" rIns="0" bIns="0"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What are we paying for and not using?</a:t>
            </a:r>
            <a:endParaRPr lang="en-US" sz="1450" dirty="0"/>
          </a:p>
        </p:txBody>
      </p:sp>
      <p:sp>
        <p:nvSpPr>
          <p:cNvPr id="17" name="Shape 13"/>
          <p:cNvSpPr/>
          <p:nvPr/>
        </p:nvSpPr>
        <p:spPr>
          <a:xfrm>
            <a:off x="5486400" y="4370832"/>
            <a:ext cx="457200" cy="457200"/>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5600700" y="4485132"/>
            <a:ext cx="228600" cy="228600"/>
          </a:xfrm>
          <a:prstGeom prst="rect">
            <a:avLst/>
          </a:prstGeom>
        </p:spPr>
      </p:pic>
      <p:sp>
        <p:nvSpPr>
          <p:cNvPr id="19" name="Text 14"/>
          <p:cNvSpPr/>
          <p:nvPr/>
        </p:nvSpPr>
        <p:spPr>
          <a:xfrm>
            <a:off x="6071616" y="4133088"/>
            <a:ext cx="5257800" cy="932688"/>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Granular reporting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By service and resource, over time — where trends and spikes show.</a:t>
            </a:r>
            <a:endParaRPr lang="en-US" sz="1400" dirty="0"/>
          </a:p>
        </p:txBody>
      </p:sp>
      <p:sp>
        <p:nvSpPr>
          <p:cNvPr id="20" name="Shape 15"/>
          <p:cNvSpPr/>
          <p:nvPr/>
        </p:nvSpPr>
        <p:spPr>
          <a:xfrm>
            <a:off x="548640" y="5138928"/>
            <a:ext cx="11091672" cy="932688"/>
          </a:xfrm>
          <a:prstGeom prst="roundRect">
            <a:avLst>
              <a:gd name="adj" fmla="val 8824"/>
            </a:avLst>
          </a:prstGeom>
          <a:solidFill>
            <a:srgbClr val="F1F3F6"/>
          </a:solidFill>
          <a:ln/>
        </p:spPr>
      </p:sp>
      <p:sp>
        <p:nvSpPr>
          <p:cNvPr id="21" name="Text 16"/>
          <p:cNvSpPr/>
          <p:nvPr/>
        </p:nvSpPr>
        <p:spPr>
          <a:xfrm>
            <a:off x="859536" y="5138928"/>
            <a:ext cx="4663440" cy="932688"/>
          </a:xfrm>
          <a:prstGeom prst="rect">
            <a:avLst/>
          </a:prstGeom>
          <a:noFill/>
          <a:ln/>
        </p:spPr>
        <p:txBody>
          <a:bodyPr wrap="square" lIns="0" tIns="0" rIns="0" bIns="0"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Can we act before the month closes?</a:t>
            </a:r>
            <a:endParaRPr lang="en-US" sz="1450" dirty="0"/>
          </a:p>
        </p:txBody>
      </p:sp>
      <p:sp>
        <p:nvSpPr>
          <p:cNvPr id="22" name="Shape 17"/>
          <p:cNvSpPr/>
          <p:nvPr/>
        </p:nvSpPr>
        <p:spPr>
          <a:xfrm>
            <a:off x="5486400" y="5376672"/>
            <a:ext cx="457200" cy="457200"/>
          </a:xfrm>
          <a:prstGeom prst="ellipse">
            <a:avLst/>
          </a:prstGeom>
          <a:solidFill>
            <a:srgbClr val="FFFFFF"/>
          </a:solidFill>
          <a:ln/>
        </p:spPr>
      </p:sp>
      <p:pic>
        <p:nvPicPr>
          <p:cNvPr id="23" name="Image 3" descr="preencoded.png">    </p:cNvPr>
          <p:cNvPicPr>
            <a:picLocks noChangeAspect="1"/>
          </p:cNvPicPr>
          <p:nvPr/>
        </p:nvPicPr>
        <p:blipFill>
          <a:blip r:embed="rId4"/>
          <a:stretch>
            <a:fillRect/>
          </a:stretch>
        </p:blipFill>
        <p:spPr>
          <a:xfrm>
            <a:off x="5600700" y="5490972"/>
            <a:ext cx="228600" cy="228600"/>
          </a:xfrm>
          <a:prstGeom prst="rect">
            <a:avLst/>
          </a:prstGeom>
        </p:spPr>
      </p:pic>
      <p:sp>
        <p:nvSpPr>
          <p:cNvPr id="24" name="Text 18"/>
          <p:cNvSpPr/>
          <p:nvPr/>
        </p:nvSpPr>
        <p:spPr>
          <a:xfrm>
            <a:off x="6071616" y="5138928"/>
            <a:ext cx="5257800" cy="932688"/>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Fresh data</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Daily, not monthly. Monthly reporting cannot catch a regression.</a:t>
            </a:r>
            <a:endParaRPr lang="en-US" sz="1400" dirty="0"/>
          </a:p>
        </p:txBody>
      </p:sp>
      <p:sp>
        <p:nvSpPr>
          <p:cNvPr id="25" name="Shape 19"/>
          <p:cNvSpPr/>
          <p:nvPr/>
        </p:nvSpPr>
        <p:spPr>
          <a:xfrm>
            <a:off x="548640" y="6144768"/>
            <a:ext cx="11091672" cy="566928"/>
          </a:xfrm>
          <a:prstGeom prst="roundRect">
            <a:avLst>
              <a:gd name="adj" fmla="val 14516"/>
            </a:avLst>
          </a:prstGeom>
          <a:solidFill>
            <a:srgbClr val="1F2936"/>
          </a:solidFill>
          <a:ln/>
        </p:spPr>
      </p:sp>
      <p:sp>
        <p:nvSpPr>
          <p:cNvPr id="26" name="Text 20"/>
          <p:cNvSpPr/>
          <p:nvPr/>
        </p:nvSpPr>
        <p:spPr>
          <a:xfrm>
            <a:off x="859536" y="6144768"/>
            <a:ext cx="10469880" cy="56692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goal:  </a:t>
            </a:r>
            <a:pPr indent="0" marL="0">
              <a:buNone/>
            </a:pPr>
            <a:r>
              <a:rPr lang="en-US" sz="1400" dirty="0">
                <a:solidFill>
                  <a:srgbClr val="FFFFFF"/>
                </a:solidFill>
                <a:latin typeface="Calibri" pitchFamily="34" charset="0"/>
                <a:ea typeface="Calibri" pitchFamily="34" charset="-122"/>
                <a:cs typeface="Calibri" pitchFamily="34" charset="-120"/>
              </a:rPr>
              <a:t>move from “IT is overspending” to “Team X used Y, at cost Z, delivering A.”</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HARD CASES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Two costs that resist a simple owner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Tagging solves most allocation. These two need a decision instead.</a:t>
            </a:r>
            <a:endParaRPr lang="en-US" sz="1500" dirty="0"/>
          </a:p>
        </p:txBody>
      </p:sp>
      <p:sp>
        <p:nvSpPr>
          <p:cNvPr id="5" name="Shape 3"/>
          <p:cNvSpPr/>
          <p:nvPr/>
        </p:nvSpPr>
        <p:spPr>
          <a:xfrm>
            <a:off x="548640" y="2121408"/>
            <a:ext cx="5394960" cy="3246120"/>
          </a:xfrm>
          <a:prstGeom prst="roundRect">
            <a:avLst>
              <a:gd name="adj" fmla="val 2535"/>
            </a:avLst>
          </a:prstGeom>
          <a:solidFill>
            <a:srgbClr val="DDEDE9"/>
          </a:solidFill>
          <a:ln/>
        </p:spPr>
      </p:sp>
      <p:sp>
        <p:nvSpPr>
          <p:cNvPr id="6" name="Shape 4"/>
          <p:cNvSpPr/>
          <p:nvPr/>
        </p:nvSpPr>
        <p:spPr>
          <a:xfrm>
            <a:off x="859536" y="2359152"/>
            <a:ext cx="512064" cy="512064"/>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87552" y="2487168"/>
            <a:ext cx="256032" cy="256032"/>
          </a:xfrm>
          <a:prstGeom prst="rect">
            <a:avLst/>
          </a:prstGeom>
        </p:spPr>
      </p:pic>
      <p:sp>
        <p:nvSpPr>
          <p:cNvPr id="8" name="Text 5"/>
          <p:cNvSpPr/>
          <p:nvPr/>
        </p:nvSpPr>
        <p:spPr>
          <a:xfrm>
            <a:off x="1517904" y="2340864"/>
            <a:ext cx="4114800" cy="548640"/>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Shared platforms</a:t>
            </a:r>
            <a:endParaRPr lang="en-US" sz="1900" dirty="0"/>
          </a:p>
        </p:txBody>
      </p:sp>
      <p:sp>
        <p:nvSpPr>
          <p:cNvPr id="9" name="Text 6"/>
          <p:cNvSpPr/>
          <p:nvPr/>
        </p:nvSpPr>
        <p:spPr>
          <a:xfrm>
            <a:off x="859536" y="2999232"/>
            <a:ext cx="4773168" cy="54864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Databases, clusters and gateways serve many teams under one set of tags.</a:t>
            </a:r>
            <a:endParaRPr lang="en-US" sz="1300" dirty="0"/>
          </a:p>
        </p:txBody>
      </p:sp>
      <p:sp>
        <p:nvSpPr>
          <p:cNvPr id="10" name="Shape 7"/>
          <p:cNvSpPr/>
          <p:nvPr/>
        </p:nvSpPr>
        <p:spPr>
          <a:xfrm>
            <a:off x="877824" y="3785616"/>
            <a:ext cx="100584" cy="100584"/>
          </a:xfrm>
          <a:prstGeom prst="ellipse">
            <a:avLst/>
          </a:prstGeom>
          <a:solidFill>
            <a:srgbClr val="1F6B5C"/>
          </a:solidFill>
          <a:ln/>
        </p:spPr>
      </p:sp>
      <p:sp>
        <p:nvSpPr>
          <p:cNvPr id="11" name="Text 8"/>
          <p:cNvSpPr/>
          <p:nvPr/>
        </p:nvSpPr>
        <p:spPr>
          <a:xfrm>
            <a:off x="1115568" y="365760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Split on measured consumption, not headcount — it survives the argument</a:t>
            </a:r>
            <a:endParaRPr lang="en-US" sz="1250" dirty="0"/>
          </a:p>
        </p:txBody>
      </p:sp>
      <p:sp>
        <p:nvSpPr>
          <p:cNvPr id="12" name="Shape 9"/>
          <p:cNvSpPr/>
          <p:nvPr/>
        </p:nvSpPr>
        <p:spPr>
          <a:xfrm>
            <a:off x="877824" y="4334256"/>
            <a:ext cx="100584" cy="100584"/>
          </a:xfrm>
          <a:prstGeom prst="ellipse">
            <a:avLst/>
          </a:prstGeom>
          <a:solidFill>
            <a:srgbClr val="1F6B5C"/>
          </a:solidFill>
          <a:ln/>
        </p:spPr>
      </p:sp>
      <p:sp>
        <p:nvSpPr>
          <p:cNvPr id="13" name="Text 10"/>
          <p:cNvSpPr/>
          <p:nvPr/>
        </p:nvSpPr>
        <p:spPr>
          <a:xfrm>
            <a:off x="1115568" y="420624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Freeze the method for the fiscal year and write it down</a:t>
            </a:r>
            <a:endParaRPr lang="en-US" sz="1250" dirty="0"/>
          </a:p>
        </p:txBody>
      </p:sp>
      <p:sp>
        <p:nvSpPr>
          <p:cNvPr id="14" name="Shape 11"/>
          <p:cNvSpPr/>
          <p:nvPr/>
        </p:nvSpPr>
        <p:spPr>
          <a:xfrm>
            <a:off x="877824" y="4882896"/>
            <a:ext cx="100584" cy="100584"/>
          </a:xfrm>
          <a:prstGeom prst="ellipse">
            <a:avLst/>
          </a:prstGeom>
          <a:solidFill>
            <a:srgbClr val="1F6B5C"/>
          </a:solidFill>
          <a:ln/>
        </p:spPr>
      </p:sp>
      <p:sp>
        <p:nvSpPr>
          <p:cNvPr id="15" name="Text 12"/>
          <p:cNvSpPr/>
          <p:nvPr/>
        </p:nvSpPr>
        <p:spPr>
          <a:xfrm>
            <a:off x="1115568" y="475488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Per-team attribution needs usage instrumentation, not tags</a:t>
            </a:r>
            <a:endParaRPr lang="en-US" sz="1250" dirty="0"/>
          </a:p>
        </p:txBody>
      </p:sp>
      <p:sp>
        <p:nvSpPr>
          <p:cNvPr id="16" name="Shape 13"/>
          <p:cNvSpPr/>
          <p:nvPr/>
        </p:nvSpPr>
        <p:spPr>
          <a:xfrm>
            <a:off x="6245352" y="2121408"/>
            <a:ext cx="5394960" cy="3246120"/>
          </a:xfrm>
          <a:prstGeom prst="roundRect">
            <a:avLst>
              <a:gd name="adj" fmla="val 2535"/>
            </a:avLst>
          </a:prstGeom>
          <a:solidFill>
            <a:srgbClr val="FBEFD8"/>
          </a:solidFill>
          <a:ln/>
        </p:spPr>
      </p:sp>
      <p:sp>
        <p:nvSpPr>
          <p:cNvPr id="17" name="Shape 14"/>
          <p:cNvSpPr/>
          <p:nvPr/>
        </p:nvSpPr>
        <p:spPr>
          <a:xfrm>
            <a:off x="6556248" y="2359152"/>
            <a:ext cx="512064" cy="512064"/>
          </a:xfrm>
          <a:prstGeom prst="ellipse">
            <a:avLst/>
          </a:prstGeom>
          <a:solidFill>
            <a:srgbClr val="FFFFFF"/>
          </a:solidFill>
          <a:ln/>
        </p:spPr>
      </p:sp>
      <p:pic>
        <p:nvPicPr>
          <p:cNvPr id="18" name="Image 1" descr="preencoded.png">    </p:cNvPr>
          <p:cNvPicPr>
            <a:picLocks noChangeAspect="1"/>
          </p:cNvPicPr>
          <p:nvPr/>
        </p:nvPicPr>
        <p:blipFill>
          <a:blip r:embed="rId2"/>
          <a:stretch>
            <a:fillRect/>
          </a:stretch>
        </p:blipFill>
        <p:spPr>
          <a:xfrm>
            <a:off x="6684264" y="2487168"/>
            <a:ext cx="256032" cy="256032"/>
          </a:xfrm>
          <a:prstGeom prst="rect">
            <a:avLst/>
          </a:prstGeom>
        </p:spPr>
      </p:pic>
      <p:sp>
        <p:nvSpPr>
          <p:cNvPr id="19" name="Text 15"/>
          <p:cNvSpPr/>
          <p:nvPr/>
        </p:nvSpPr>
        <p:spPr>
          <a:xfrm>
            <a:off x="7214616" y="2340864"/>
            <a:ext cx="4114800" cy="548640"/>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Commitments &amp; discounts</a:t>
            </a:r>
            <a:endParaRPr lang="en-US" sz="1900" dirty="0"/>
          </a:p>
        </p:txBody>
      </p:sp>
      <p:sp>
        <p:nvSpPr>
          <p:cNvPr id="20" name="Text 16"/>
          <p:cNvSpPr/>
          <p:nvPr/>
        </p:nvSpPr>
        <p:spPr>
          <a:xfrm>
            <a:off x="6556248" y="2999232"/>
            <a:ext cx="4773168" cy="54864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Reserved capacity and savings plans mean the rate shown is not the rate paid.</a:t>
            </a:r>
            <a:endParaRPr lang="en-US" sz="1300" dirty="0"/>
          </a:p>
        </p:txBody>
      </p:sp>
      <p:sp>
        <p:nvSpPr>
          <p:cNvPr id="21" name="Shape 17"/>
          <p:cNvSpPr/>
          <p:nvPr/>
        </p:nvSpPr>
        <p:spPr>
          <a:xfrm>
            <a:off x="6574536" y="3785616"/>
            <a:ext cx="100584" cy="100584"/>
          </a:xfrm>
          <a:prstGeom prst="ellipse">
            <a:avLst/>
          </a:prstGeom>
          <a:solidFill>
            <a:srgbClr val="B87B18"/>
          </a:solidFill>
          <a:ln/>
        </p:spPr>
      </p:sp>
      <p:sp>
        <p:nvSpPr>
          <p:cNvPr id="22" name="Text 18"/>
          <p:cNvSpPr/>
          <p:nvPr/>
        </p:nvSpPr>
        <p:spPr>
          <a:xfrm>
            <a:off x="6812280" y="365760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Report coverage and utilization separately — they fail differently</a:t>
            </a:r>
            <a:endParaRPr lang="en-US" sz="1250" dirty="0"/>
          </a:p>
        </p:txBody>
      </p:sp>
      <p:sp>
        <p:nvSpPr>
          <p:cNvPr id="23" name="Shape 19"/>
          <p:cNvSpPr/>
          <p:nvPr/>
        </p:nvSpPr>
        <p:spPr>
          <a:xfrm>
            <a:off x="6574536" y="4334256"/>
            <a:ext cx="100584" cy="100584"/>
          </a:xfrm>
          <a:prstGeom prst="ellipse">
            <a:avLst/>
          </a:prstGeom>
          <a:solidFill>
            <a:srgbClr val="B87B18"/>
          </a:solidFill>
          <a:ln/>
        </p:spPr>
      </p:sp>
      <p:sp>
        <p:nvSpPr>
          <p:cNvPr id="24" name="Text 20"/>
          <p:cNvSpPr/>
          <p:nvPr/>
        </p:nvSpPr>
        <p:spPr>
          <a:xfrm>
            <a:off x="6812280" y="420624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Show list and discounted price, and attribute the saving to who earned it</a:t>
            </a:r>
            <a:endParaRPr lang="en-US" sz="1250" dirty="0"/>
          </a:p>
        </p:txBody>
      </p:sp>
      <p:sp>
        <p:nvSpPr>
          <p:cNvPr id="25" name="Shape 21"/>
          <p:cNvSpPr/>
          <p:nvPr/>
        </p:nvSpPr>
        <p:spPr>
          <a:xfrm>
            <a:off x="6574536" y="4882896"/>
            <a:ext cx="100584" cy="100584"/>
          </a:xfrm>
          <a:prstGeom prst="ellipse">
            <a:avLst/>
          </a:prstGeom>
          <a:solidFill>
            <a:srgbClr val="B87B18"/>
          </a:solidFill>
          <a:ln/>
        </p:spPr>
      </p:sp>
      <p:sp>
        <p:nvSpPr>
          <p:cNvPr id="26" name="Text 22"/>
          <p:cNvSpPr/>
          <p:nvPr/>
        </p:nvSpPr>
        <p:spPr>
          <a:xfrm>
            <a:off x="6812280" y="4754880"/>
            <a:ext cx="4517136" cy="512064"/>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An unused commitment is prepaid waste, invisible on a list-price report</a:t>
            </a:r>
            <a:endParaRPr lang="en-US" sz="1250" dirty="0"/>
          </a:p>
        </p:txBody>
      </p:sp>
      <p:sp>
        <p:nvSpPr>
          <p:cNvPr id="27" name="Shape 23"/>
          <p:cNvSpPr/>
          <p:nvPr/>
        </p:nvSpPr>
        <p:spPr>
          <a:xfrm>
            <a:off x="548640" y="5577840"/>
            <a:ext cx="11091672" cy="1005840"/>
          </a:xfrm>
          <a:prstGeom prst="roundRect">
            <a:avLst>
              <a:gd name="adj" fmla="val 8182"/>
            </a:avLst>
          </a:prstGeom>
          <a:solidFill>
            <a:srgbClr val="1F2936"/>
          </a:solidFill>
          <a:ln/>
          <a:effectLst>
            <a:outerShdw sx="100000" sy="100000" kx="0" ky="0" algn="bl" rotWithShape="0" blurRad="127000" dist="25400" dir="5400000">
              <a:srgbClr val="8C99A8">
                <a:alpha val="16000"/>
              </a:srgbClr>
            </a:outerShdw>
          </a:effectLst>
        </p:spPr>
      </p:sp>
      <p:sp>
        <p:nvSpPr>
          <p:cNvPr id="28" name="Text 24"/>
          <p:cNvSpPr/>
          <p:nvPr/>
        </p:nvSpPr>
        <p:spPr>
          <a:xfrm>
            <a:off x="877824" y="5577840"/>
            <a:ext cx="10424160" cy="1005840"/>
          </a:xfrm>
          <a:prstGeom prst="rect">
            <a:avLst/>
          </a:prstGeom>
          <a:noFill/>
          <a:ln/>
        </p:spPr>
        <p:txBody>
          <a:bodyPr wrap="square" lIns="0" tIns="0" rIns="0" bIns="0" rtlCol="0" anchor="ctr"/>
          <a:lstStyle/>
          <a:p>
            <a:pPr indent="0" marL="0">
              <a:lnSpc>
                <a:spcPts val="1900"/>
              </a:lnSpc>
              <a:buNone/>
            </a:pPr>
            <a:r>
              <a:rPr lang="en-US" sz="1350" b="1" dirty="0">
                <a:solidFill>
                  <a:srgbClr val="E39B2C"/>
                </a:solidFill>
                <a:latin typeface="Calibri" pitchFamily="34" charset="0"/>
                <a:ea typeface="Calibri" pitchFamily="34" charset="-122"/>
                <a:cs typeface="Calibri" pitchFamily="34" charset="-120"/>
              </a:rPr>
              <a:t>Start with showback either way. </a:t>
            </a:r>
            <a:pPr indent="0" marL="0">
              <a:lnSpc>
                <a:spcPts val="1900"/>
              </a:lnSpc>
              <a:buNone/>
            </a:pPr>
            <a:r>
              <a:rPr lang="en-US" sz="1350" dirty="0">
                <a:solidFill>
                  <a:srgbClr val="9EABBA"/>
                </a:solidFill>
                <a:latin typeface="Calibri" pitchFamily="34" charset="0"/>
                <a:ea typeface="Calibri" pitchFamily="34" charset="-122"/>
                <a:cs typeface="Calibri" pitchFamily="34" charset="-120"/>
              </a:rPr>
              <a:t>Report each team's share for four to six weeks with nothing charged. It surfaces the allocation disputes while the stakes are low — then chargeback becomes a date rather than an argument.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WHAT A PROJECT ACTUALLY COSTS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model is one line on a longer bill</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An AI feature is quoted at its token cost. It runs on a stack that bills every month regardless.</a:t>
            </a:r>
            <a:endParaRPr lang="en-US" sz="1500" dirty="0"/>
          </a:p>
        </p:txBody>
      </p:sp>
      <p:sp>
        <p:nvSpPr>
          <p:cNvPr id="5" name="Shape 3"/>
          <p:cNvSpPr/>
          <p:nvPr/>
        </p:nvSpPr>
        <p:spPr>
          <a:xfrm>
            <a:off x="548640" y="2103120"/>
            <a:ext cx="5029200" cy="3703320"/>
          </a:xfrm>
          <a:prstGeom prst="roundRect">
            <a:avLst>
              <a:gd name="adj" fmla="val 2222"/>
            </a:avLst>
          </a:prstGeom>
          <a:solidFill>
            <a:srgbClr val="F1F3F6"/>
          </a:solidFill>
          <a:ln/>
        </p:spPr>
      </p:sp>
      <p:sp>
        <p:nvSpPr>
          <p:cNvPr id="6" name="Text 4"/>
          <p:cNvSpPr/>
          <p:nvPr/>
        </p:nvSpPr>
        <p:spPr>
          <a:xfrm>
            <a:off x="859536" y="2267712"/>
            <a:ext cx="438912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One project, billed in parts</a:t>
            </a:r>
            <a:endParaRPr lang="en-US" sz="1200" dirty="0"/>
          </a:p>
        </p:txBody>
      </p:sp>
      <p:sp>
        <p:nvSpPr>
          <p:cNvPr id="7" name="Shape 5"/>
          <p:cNvSpPr/>
          <p:nvPr/>
        </p:nvSpPr>
        <p:spPr>
          <a:xfrm>
            <a:off x="859536" y="2724912"/>
            <a:ext cx="91440" cy="292608"/>
          </a:xfrm>
          <a:prstGeom prst="roundRect">
            <a:avLst>
              <a:gd name="adj" fmla="val 50000"/>
            </a:avLst>
          </a:prstGeom>
          <a:solidFill>
            <a:srgbClr val="E39B2C"/>
          </a:solidFill>
          <a:ln/>
        </p:spPr>
      </p:sp>
      <p:sp>
        <p:nvSpPr>
          <p:cNvPr id="8" name="Text 6"/>
          <p:cNvSpPr/>
          <p:nvPr/>
        </p:nvSpPr>
        <p:spPr>
          <a:xfrm>
            <a:off x="1078992" y="2651760"/>
            <a:ext cx="4480560" cy="420624"/>
          </a:xfrm>
          <a:prstGeom prst="rect">
            <a:avLst/>
          </a:prstGeom>
          <a:noFill/>
          <a:ln/>
        </p:spPr>
        <p:txBody>
          <a:bodyPr wrap="square" lIns="0" tIns="0" rIns="0" bIns="0" rtlCol="0" anchor="ctr"/>
          <a:lstStyle/>
          <a:p>
            <a:pPr indent="0" marL="0">
              <a:buNone/>
            </a:pPr>
            <a:r>
              <a:rPr lang="en-US" sz="1250" b="1" dirty="0">
                <a:solidFill>
                  <a:srgbClr val="6B4A0E"/>
                </a:solidFill>
                <a:latin typeface="Calibri" pitchFamily="34" charset="0"/>
                <a:ea typeface="Calibri" pitchFamily="34" charset="-122"/>
                <a:cs typeface="Calibri" pitchFamily="34" charset="-120"/>
              </a:rPr>
              <a:t>Model / token spend   </a:t>
            </a:r>
            <a:pPr indent="0" marL="0">
              <a:buNone/>
            </a:pPr>
            <a:r>
              <a:rPr lang="en-US" sz="1250" dirty="0">
                <a:solidFill>
                  <a:srgbClr val="5C6675"/>
                </a:solidFill>
                <a:latin typeface="Calibri" pitchFamily="34" charset="0"/>
                <a:ea typeface="Calibri" pitchFamily="34" charset="-122"/>
                <a:cs typeface="Calibri" pitchFamily="34" charset="-120"/>
              </a:rPr>
              <a:t>the line everyone quotes</a:t>
            </a:r>
            <a:endParaRPr lang="en-US" sz="1250" dirty="0"/>
          </a:p>
        </p:txBody>
      </p:sp>
      <p:sp>
        <p:nvSpPr>
          <p:cNvPr id="9" name="Shape 7"/>
          <p:cNvSpPr/>
          <p:nvPr/>
        </p:nvSpPr>
        <p:spPr>
          <a:xfrm>
            <a:off x="859536" y="3154680"/>
            <a:ext cx="91440" cy="292608"/>
          </a:xfrm>
          <a:prstGeom prst="roundRect">
            <a:avLst>
              <a:gd name="adj" fmla="val 50000"/>
            </a:avLst>
          </a:prstGeom>
          <a:solidFill>
            <a:srgbClr val="6E7A88"/>
          </a:solidFill>
          <a:ln/>
        </p:spPr>
      </p:sp>
      <p:sp>
        <p:nvSpPr>
          <p:cNvPr id="10" name="Text 8"/>
          <p:cNvSpPr/>
          <p:nvPr/>
        </p:nvSpPr>
        <p:spPr>
          <a:xfrm>
            <a:off x="1078992" y="3081528"/>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Compute   </a:t>
            </a:r>
            <a:pPr indent="0" marL="0">
              <a:buNone/>
            </a:pPr>
            <a:r>
              <a:rPr lang="en-US" sz="1250" dirty="0">
                <a:solidFill>
                  <a:srgbClr val="5C6675"/>
                </a:solidFill>
                <a:latin typeface="Calibri" pitchFamily="34" charset="0"/>
                <a:ea typeface="Calibri" pitchFamily="34" charset="-122"/>
                <a:cs typeface="Calibri" pitchFamily="34" charset="-120"/>
              </a:rPr>
              <a:t>app services, containers, nodes</a:t>
            </a:r>
            <a:endParaRPr lang="en-US" sz="1250" dirty="0"/>
          </a:p>
        </p:txBody>
      </p:sp>
      <p:sp>
        <p:nvSpPr>
          <p:cNvPr id="11" name="Shape 9"/>
          <p:cNvSpPr/>
          <p:nvPr/>
        </p:nvSpPr>
        <p:spPr>
          <a:xfrm>
            <a:off x="859536" y="3584448"/>
            <a:ext cx="91440" cy="292608"/>
          </a:xfrm>
          <a:prstGeom prst="roundRect">
            <a:avLst>
              <a:gd name="adj" fmla="val 50000"/>
            </a:avLst>
          </a:prstGeom>
          <a:solidFill>
            <a:srgbClr val="6E7A88"/>
          </a:solidFill>
          <a:ln/>
        </p:spPr>
      </p:sp>
      <p:sp>
        <p:nvSpPr>
          <p:cNvPr id="12" name="Text 10"/>
          <p:cNvSpPr/>
          <p:nvPr/>
        </p:nvSpPr>
        <p:spPr>
          <a:xfrm>
            <a:off x="1078992" y="3511296"/>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Databases   </a:t>
            </a:r>
            <a:pPr indent="0" marL="0">
              <a:buNone/>
            </a:pPr>
            <a:r>
              <a:rPr lang="en-US" sz="1250" dirty="0">
                <a:solidFill>
                  <a:srgbClr val="5C6675"/>
                </a:solidFill>
                <a:latin typeface="Calibri" pitchFamily="34" charset="0"/>
                <a:ea typeface="Calibri" pitchFamily="34" charset="-122"/>
                <a:cs typeface="Calibri" pitchFamily="34" charset="-120"/>
              </a:rPr>
              <a:t>SQL, Cosmos, managed Postgres</a:t>
            </a:r>
            <a:endParaRPr lang="en-US" sz="1250" dirty="0"/>
          </a:p>
        </p:txBody>
      </p:sp>
      <p:sp>
        <p:nvSpPr>
          <p:cNvPr id="13" name="Shape 11"/>
          <p:cNvSpPr/>
          <p:nvPr/>
        </p:nvSpPr>
        <p:spPr>
          <a:xfrm>
            <a:off x="859536" y="4014216"/>
            <a:ext cx="91440" cy="292608"/>
          </a:xfrm>
          <a:prstGeom prst="roundRect">
            <a:avLst>
              <a:gd name="adj" fmla="val 50000"/>
            </a:avLst>
          </a:prstGeom>
          <a:solidFill>
            <a:srgbClr val="6E7A88"/>
          </a:solidFill>
          <a:ln/>
        </p:spPr>
      </p:sp>
      <p:sp>
        <p:nvSpPr>
          <p:cNvPr id="14" name="Text 12"/>
          <p:cNvSpPr/>
          <p:nvPr/>
        </p:nvSpPr>
        <p:spPr>
          <a:xfrm>
            <a:off x="1078992" y="3941064"/>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Cache &amp; queues   </a:t>
            </a:r>
            <a:pPr indent="0" marL="0">
              <a:buNone/>
            </a:pPr>
            <a:r>
              <a:rPr lang="en-US" sz="1250" dirty="0">
                <a:solidFill>
                  <a:srgbClr val="5C6675"/>
                </a:solidFill>
                <a:latin typeface="Calibri" pitchFamily="34" charset="0"/>
                <a:ea typeface="Calibri" pitchFamily="34" charset="-122"/>
                <a:cs typeface="Calibri" pitchFamily="34" charset="-120"/>
              </a:rPr>
              <a:t>Redis, Service Bus, event hubs</a:t>
            </a:r>
            <a:endParaRPr lang="en-US" sz="1250" dirty="0"/>
          </a:p>
        </p:txBody>
      </p:sp>
      <p:sp>
        <p:nvSpPr>
          <p:cNvPr id="15" name="Shape 13"/>
          <p:cNvSpPr/>
          <p:nvPr/>
        </p:nvSpPr>
        <p:spPr>
          <a:xfrm>
            <a:off x="859536" y="4443984"/>
            <a:ext cx="91440" cy="292608"/>
          </a:xfrm>
          <a:prstGeom prst="roundRect">
            <a:avLst>
              <a:gd name="adj" fmla="val 50000"/>
            </a:avLst>
          </a:prstGeom>
          <a:solidFill>
            <a:srgbClr val="6E7A88"/>
          </a:solidFill>
          <a:ln/>
        </p:spPr>
      </p:sp>
      <p:sp>
        <p:nvSpPr>
          <p:cNvPr id="16" name="Text 14"/>
          <p:cNvSpPr/>
          <p:nvPr/>
        </p:nvSpPr>
        <p:spPr>
          <a:xfrm>
            <a:off x="1078992" y="4370832"/>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Storage &amp; backup   </a:t>
            </a:r>
            <a:pPr indent="0" marL="0">
              <a:buNone/>
            </a:pPr>
            <a:r>
              <a:rPr lang="en-US" sz="1250" dirty="0">
                <a:solidFill>
                  <a:srgbClr val="5C6675"/>
                </a:solidFill>
                <a:latin typeface="Calibri" pitchFamily="34" charset="0"/>
                <a:ea typeface="Calibri" pitchFamily="34" charset="-122"/>
                <a:cs typeface="Calibri" pitchFamily="34" charset="-120"/>
              </a:rPr>
              <a:t>documents, embeddings, retention</a:t>
            </a:r>
            <a:endParaRPr lang="en-US" sz="1250" dirty="0"/>
          </a:p>
        </p:txBody>
      </p:sp>
      <p:sp>
        <p:nvSpPr>
          <p:cNvPr id="17" name="Shape 15"/>
          <p:cNvSpPr/>
          <p:nvPr/>
        </p:nvSpPr>
        <p:spPr>
          <a:xfrm>
            <a:off x="859536" y="4873752"/>
            <a:ext cx="91440" cy="292608"/>
          </a:xfrm>
          <a:prstGeom prst="roundRect">
            <a:avLst>
              <a:gd name="adj" fmla="val 50000"/>
            </a:avLst>
          </a:prstGeom>
          <a:solidFill>
            <a:srgbClr val="6E7A88"/>
          </a:solidFill>
          <a:ln/>
        </p:spPr>
      </p:sp>
      <p:sp>
        <p:nvSpPr>
          <p:cNvPr id="18" name="Text 16"/>
          <p:cNvSpPr/>
          <p:nvPr/>
        </p:nvSpPr>
        <p:spPr>
          <a:xfrm>
            <a:off x="1078992" y="4800600"/>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Network &amp; gateway   </a:t>
            </a:r>
            <a:pPr indent="0" marL="0">
              <a:buNone/>
            </a:pPr>
            <a:r>
              <a:rPr lang="en-US" sz="1250" dirty="0">
                <a:solidFill>
                  <a:srgbClr val="5C6675"/>
                </a:solidFill>
                <a:latin typeface="Calibri" pitchFamily="34" charset="0"/>
                <a:ea typeface="Calibri" pitchFamily="34" charset="-122"/>
                <a:cs typeface="Calibri" pitchFamily="34" charset="-120"/>
              </a:rPr>
              <a:t>egress, private endpoints, APIM</a:t>
            </a:r>
            <a:endParaRPr lang="en-US" sz="1250" dirty="0"/>
          </a:p>
        </p:txBody>
      </p:sp>
      <p:sp>
        <p:nvSpPr>
          <p:cNvPr id="19" name="Shape 17"/>
          <p:cNvSpPr/>
          <p:nvPr/>
        </p:nvSpPr>
        <p:spPr>
          <a:xfrm>
            <a:off x="859536" y="5303520"/>
            <a:ext cx="91440" cy="292608"/>
          </a:xfrm>
          <a:prstGeom prst="roundRect">
            <a:avLst>
              <a:gd name="adj" fmla="val 50000"/>
            </a:avLst>
          </a:prstGeom>
          <a:solidFill>
            <a:srgbClr val="6E7A88"/>
          </a:solidFill>
          <a:ln/>
        </p:spPr>
      </p:sp>
      <p:sp>
        <p:nvSpPr>
          <p:cNvPr id="20" name="Text 18"/>
          <p:cNvSpPr/>
          <p:nvPr/>
        </p:nvSpPr>
        <p:spPr>
          <a:xfrm>
            <a:off x="1078992" y="5230368"/>
            <a:ext cx="4480560" cy="420624"/>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Observability   </a:t>
            </a:r>
            <a:pPr indent="0" marL="0">
              <a:buNone/>
            </a:pPr>
            <a:r>
              <a:rPr lang="en-US" sz="1250" dirty="0">
                <a:solidFill>
                  <a:srgbClr val="5C6675"/>
                </a:solidFill>
                <a:latin typeface="Calibri" pitchFamily="34" charset="0"/>
                <a:ea typeface="Calibri" pitchFamily="34" charset="-122"/>
                <a:cs typeface="Calibri" pitchFamily="34" charset="-120"/>
              </a:rPr>
              <a:t>log and metric ingestion, retention</a:t>
            </a:r>
            <a:endParaRPr lang="en-US" sz="1250" dirty="0"/>
          </a:p>
        </p:txBody>
      </p:sp>
      <p:sp>
        <p:nvSpPr>
          <p:cNvPr id="21" name="Shape 19"/>
          <p:cNvSpPr/>
          <p:nvPr/>
        </p:nvSpPr>
        <p:spPr>
          <a:xfrm>
            <a:off x="5943600" y="2103120"/>
            <a:ext cx="5696712" cy="1755648"/>
          </a:xfrm>
          <a:prstGeom prst="roundRect">
            <a:avLst>
              <a:gd name="adj" fmla="val 4688"/>
            </a:avLst>
          </a:prstGeom>
          <a:solidFill>
            <a:srgbClr val="1F2936"/>
          </a:solidFill>
          <a:ln/>
          <a:effectLst>
            <a:outerShdw sx="100000" sy="100000" kx="0" ky="0" algn="bl" rotWithShape="0" blurRad="127000" dist="25400" dir="5400000">
              <a:srgbClr val="8C99A8">
                <a:alpha val="16000"/>
              </a:srgbClr>
            </a:outerShdw>
          </a:effectLst>
        </p:spPr>
      </p:sp>
      <p:sp>
        <p:nvSpPr>
          <p:cNvPr id="22" name="Text 20"/>
          <p:cNvSpPr/>
          <p:nvPr/>
        </p:nvSpPr>
        <p:spPr>
          <a:xfrm>
            <a:off x="6254496" y="2267712"/>
            <a:ext cx="50292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What gets left out of the estimate</a:t>
            </a:r>
            <a:endParaRPr lang="en-US" sz="1200" dirty="0"/>
          </a:p>
        </p:txBody>
      </p:sp>
      <p:sp>
        <p:nvSpPr>
          <p:cNvPr id="23" name="Shape 21"/>
          <p:cNvSpPr/>
          <p:nvPr/>
        </p:nvSpPr>
        <p:spPr>
          <a:xfrm>
            <a:off x="6272784" y="2724912"/>
            <a:ext cx="91440" cy="91440"/>
          </a:xfrm>
          <a:prstGeom prst="ellipse">
            <a:avLst/>
          </a:prstGeom>
          <a:solidFill>
            <a:srgbClr val="E39B2C"/>
          </a:solidFill>
          <a:ln/>
        </p:spPr>
      </p:sp>
      <p:sp>
        <p:nvSpPr>
          <p:cNvPr id="24" name="Text 22"/>
          <p:cNvSpPr/>
          <p:nvPr/>
        </p:nvSpPr>
        <p:spPr>
          <a:xfrm>
            <a:off x="6492240" y="2615184"/>
            <a:ext cx="4937760" cy="310896"/>
          </a:xfrm>
          <a:prstGeom prst="rect">
            <a:avLst/>
          </a:prstGeom>
          <a:noFill/>
          <a:ln/>
        </p:spPr>
        <p:txBody>
          <a:bodyPr wrap="square" lIns="0" tIns="0" rIns="0" bIns="0" rtlCol="0" anchor="ctr"/>
          <a:lstStyle/>
          <a:p>
            <a:pPr indent="0" marL="0">
              <a:buNone/>
            </a:pPr>
            <a:r>
              <a:rPr lang="en-US" sz="1250" dirty="0">
                <a:solidFill>
                  <a:srgbClr val="9EABBA"/>
                </a:solidFill>
                <a:latin typeface="Calibri" pitchFamily="34" charset="0"/>
                <a:ea typeface="Calibri" pitchFamily="34" charset="-122"/>
                <a:cs typeface="Calibri" pitchFamily="34" charset="-120"/>
              </a:rPr>
              <a:t>Non-production copies that never switch off</a:t>
            </a:r>
            <a:endParaRPr lang="en-US" sz="1250" dirty="0"/>
          </a:p>
        </p:txBody>
      </p:sp>
      <p:sp>
        <p:nvSpPr>
          <p:cNvPr id="25" name="Shape 23"/>
          <p:cNvSpPr/>
          <p:nvPr/>
        </p:nvSpPr>
        <p:spPr>
          <a:xfrm>
            <a:off x="6272784" y="3035808"/>
            <a:ext cx="91440" cy="91440"/>
          </a:xfrm>
          <a:prstGeom prst="ellipse">
            <a:avLst/>
          </a:prstGeom>
          <a:solidFill>
            <a:srgbClr val="E39B2C"/>
          </a:solidFill>
          <a:ln/>
        </p:spPr>
      </p:sp>
      <p:sp>
        <p:nvSpPr>
          <p:cNvPr id="26" name="Text 24"/>
          <p:cNvSpPr/>
          <p:nvPr/>
        </p:nvSpPr>
        <p:spPr>
          <a:xfrm>
            <a:off x="6492240" y="2926080"/>
            <a:ext cx="4937760" cy="310896"/>
          </a:xfrm>
          <a:prstGeom prst="rect">
            <a:avLst/>
          </a:prstGeom>
          <a:noFill/>
          <a:ln/>
        </p:spPr>
        <p:txBody>
          <a:bodyPr wrap="square" lIns="0" tIns="0" rIns="0" bIns="0" rtlCol="0" anchor="ctr"/>
          <a:lstStyle/>
          <a:p>
            <a:pPr indent="0" marL="0">
              <a:buNone/>
            </a:pPr>
            <a:r>
              <a:rPr lang="en-US" sz="1250" dirty="0">
                <a:solidFill>
                  <a:srgbClr val="9EABBA"/>
                </a:solidFill>
                <a:latin typeface="Calibri" pitchFamily="34" charset="0"/>
                <a:ea typeface="Calibri" pitchFamily="34" charset="-122"/>
                <a:cs typeface="Calibri" pitchFamily="34" charset="-120"/>
              </a:rPr>
              <a:t>Log and trace ingestion, which scales with traffic</a:t>
            </a:r>
            <a:endParaRPr lang="en-US" sz="1250" dirty="0"/>
          </a:p>
        </p:txBody>
      </p:sp>
      <p:sp>
        <p:nvSpPr>
          <p:cNvPr id="27" name="Shape 25"/>
          <p:cNvSpPr/>
          <p:nvPr/>
        </p:nvSpPr>
        <p:spPr>
          <a:xfrm>
            <a:off x="6272784" y="3346704"/>
            <a:ext cx="91440" cy="91440"/>
          </a:xfrm>
          <a:prstGeom prst="ellipse">
            <a:avLst/>
          </a:prstGeom>
          <a:solidFill>
            <a:srgbClr val="E39B2C"/>
          </a:solidFill>
          <a:ln/>
        </p:spPr>
      </p:sp>
      <p:sp>
        <p:nvSpPr>
          <p:cNvPr id="28" name="Text 26"/>
          <p:cNvSpPr/>
          <p:nvPr/>
        </p:nvSpPr>
        <p:spPr>
          <a:xfrm>
            <a:off x="6492240" y="3236976"/>
            <a:ext cx="4937760" cy="310896"/>
          </a:xfrm>
          <a:prstGeom prst="rect">
            <a:avLst/>
          </a:prstGeom>
          <a:noFill/>
          <a:ln/>
        </p:spPr>
        <p:txBody>
          <a:bodyPr wrap="square" lIns="0" tIns="0" rIns="0" bIns="0" rtlCol="0" anchor="ctr"/>
          <a:lstStyle/>
          <a:p>
            <a:pPr indent="0" marL="0">
              <a:buNone/>
            </a:pPr>
            <a:r>
              <a:rPr lang="en-US" sz="1250" dirty="0">
                <a:solidFill>
                  <a:srgbClr val="9EABBA"/>
                </a:solidFill>
                <a:latin typeface="Calibri" pitchFamily="34" charset="0"/>
                <a:ea typeface="Calibri" pitchFamily="34" charset="-122"/>
                <a:cs typeface="Calibri" pitchFamily="34" charset="-120"/>
              </a:rPr>
              <a:t>Egress and cross-region calls between the parts</a:t>
            </a:r>
            <a:endParaRPr lang="en-US" sz="1250" dirty="0"/>
          </a:p>
        </p:txBody>
      </p:sp>
      <p:sp>
        <p:nvSpPr>
          <p:cNvPr id="29" name="Shape 27"/>
          <p:cNvSpPr/>
          <p:nvPr/>
        </p:nvSpPr>
        <p:spPr>
          <a:xfrm>
            <a:off x="6272784" y="3657600"/>
            <a:ext cx="91440" cy="91440"/>
          </a:xfrm>
          <a:prstGeom prst="ellipse">
            <a:avLst/>
          </a:prstGeom>
          <a:solidFill>
            <a:srgbClr val="E39B2C"/>
          </a:solidFill>
          <a:ln/>
        </p:spPr>
      </p:sp>
      <p:sp>
        <p:nvSpPr>
          <p:cNvPr id="30" name="Text 28"/>
          <p:cNvSpPr/>
          <p:nvPr/>
        </p:nvSpPr>
        <p:spPr>
          <a:xfrm>
            <a:off x="6492240" y="3547872"/>
            <a:ext cx="4937760" cy="310896"/>
          </a:xfrm>
          <a:prstGeom prst="rect">
            <a:avLst/>
          </a:prstGeom>
          <a:noFill/>
          <a:ln/>
        </p:spPr>
        <p:txBody>
          <a:bodyPr wrap="square" lIns="0" tIns="0" rIns="0" bIns="0" rtlCol="0" anchor="ctr"/>
          <a:lstStyle/>
          <a:p>
            <a:pPr indent="0" marL="0">
              <a:buNone/>
            </a:pPr>
            <a:r>
              <a:rPr lang="en-US" sz="1250" dirty="0">
                <a:solidFill>
                  <a:srgbClr val="9EABBA"/>
                </a:solidFill>
                <a:latin typeface="Calibri" pitchFamily="34" charset="0"/>
                <a:ea typeface="Calibri" pitchFamily="34" charset="-122"/>
                <a:cs typeface="Calibri" pitchFamily="34" charset="-120"/>
              </a:rPr>
              <a:t>Retention — of documents, embeddings and backups</a:t>
            </a:r>
            <a:endParaRPr lang="en-US" sz="1250" dirty="0"/>
          </a:p>
        </p:txBody>
      </p:sp>
      <p:sp>
        <p:nvSpPr>
          <p:cNvPr id="31" name="Shape 29"/>
          <p:cNvSpPr/>
          <p:nvPr/>
        </p:nvSpPr>
        <p:spPr>
          <a:xfrm>
            <a:off x="5943600" y="4041648"/>
            <a:ext cx="5696712" cy="1764792"/>
          </a:xfrm>
          <a:prstGeom prst="roundRect">
            <a:avLst>
              <a:gd name="adj" fmla="val 4663"/>
            </a:avLst>
          </a:prstGeom>
          <a:solidFill>
            <a:srgbClr val="DDEDE9"/>
          </a:solidFill>
          <a:ln/>
        </p:spPr>
      </p:sp>
      <p:sp>
        <p:nvSpPr>
          <p:cNvPr id="32" name="Text 30"/>
          <p:cNvSpPr/>
          <p:nvPr/>
        </p:nvSpPr>
        <p:spPr>
          <a:xfrm>
            <a:off x="6254496" y="4206240"/>
            <a:ext cx="5029200" cy="292608"/>
          </a:xfrm>
          <a:prstGeom prst="rect">
            <a:avLst/>
          </a:prstGeom>
          <a:noFill/>
          <a:ln/>
        </p:spPr>
        <p:txBody>
          <a:bodyPr wrap="square" lIns="0" tIns="0" rIns="0" bIns="0" rtlCol="0" anchor="ctr"/>
          <a:lstStyle/>
          <a:p>
            <a:pPr indent="0" marL="0">
              <a:buNone/>
            </a:pPr>
            <a:r>
              <a:rPr lang="en-US" sz="1200" b="1" spc="180" kern="0" dirty="0">
                <a:solidFill>
                  <a:srgbClr val="1F6B5C"/>
                </a:solidFill>
                <a:latin typeface="Calibri" pitchFamily="34" charset="0"/>
                <a:ea typeface="Calibri" pitchFamily="34" charset="-122"/>
                <a:cs typeface="Calibri" pitchFamily="34" charset="-120"/>
              </a:rPr>
              <a:t>Report the project, not the resource</a:t>
            </a:r>
            <a:endParaRPr lang="en-US" sz="1200" dirty="0"/>
          </a:p>
        </p:txBody>
      </p:sp>
      <p:sp>
        <p:nvSpPr>
          <p:cNvPr id="33" name="Text 31"/>
          <p:cNvSpPr/>
          <p:nvPr/>
        </p:nvSpPr>
        <p:spPr>
          <a:xfrm>
            <a:off x="6254496" y="4535424"/>
            <a:ext cx="5074920" cy="1188720"/>
          </a:xfrm>
          <a:prstGeom prst="rect">
            <a:avLst/>
          </a:prstGeom>
          <a:noFill/>
          <a:ln/>
        </p:spPr>
        <p:txBody>
          <a:bodyPr wrap="square" lIns="0" tIns="0" rIns="0" bIns="0" rtlCol="0" anchor="t"/>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One ApplicationID across every resource the project touches, so the review sees a single number and a single owner. Then divide it by the unit that matters — cost per customer, per order, per conversation — and the model share becomes a ratio anyone can argue with.</a:t>
            </a:r>
            <a:endParaRPr lang="en-US" sz="1300" dirty="0"/>
          </a:p>
        </p:txBody>
      </p:sp>
      <p:sp>
        <p:nvSpPr>
          <p:cNvPr id="34" name="Text 32"/>
          <p:cNvSpPr/>
          <p:nvPr/>
        </p:nvSpPr>
        <p:spPr>
          <a:xfrm>
            <a:off x="548640" y="5943600"/>
            <a:ext cx="11091672" cy="457200"/>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A project quoted at its model cost alone will be wrong by the size of everything under it — and the surprise arrives at the first full month, not at the pilot.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THE AI LINE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AI is repeating the cloud journey, at speed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three failures — no owner, no attribution, no ceiling — arriving on a much shorter clock.</a:t>
            </a:r>
            <a:endParaRPr lang="en-US" sz="1500" dirty="0"/>
          </a:p>
        </p:txBody>
      </p:sp>
      <p:sp>
        <p:nvSpPr>
          <p:cNvPr id="5" name="Shape 3"/>
          <p:cNvSpPr/>
          <p:nvPr/>
        </p:nvSpPr>
        <p:spPr>
          <a:xfrm>
            <a:off x="548640" y="2121408"/>
            <a:ext cx="2587752" cy="2194560"/>
          </a:xfrm>
          <a:prstGeom prst="roundRect">
            <a:avLst>
              <a:gd name="adj" fmla="val 3750"/>
            </a:avLst>
          </a:prstGeom>
          <a:solidFill>
            <a:srgbClr val="F1F3F6"/>
          </a:solidFill>
          <a:ln/>
        </p:spPr>
      </p:sp>
      <p:sp>
        <p:nvSpPr>
          <p:cNvPr id="6" name="Text 4"/>
          <p:cNvSpPr/>
          <p:nvPr/>
        </p:nvSpPr>
        <p:spPr>
          <a:xfrm>
            <a:off x="804672" y="2286000"/>
            <a:ext cx="2103120" cy="640080"/>
          </a:xfrm>
          <a:prstGeom prst="rect">
            <a:avLst/>
          </a:prstGeom>
          <a:noFill/>
          <a:ln/>
        </p:spPr>
        <p:txBody>
          <a:bodyPr wrap="square" lIns="0" tIns="0" rIns="0" bIns="0" rtlCol="0" anchor="ctr"/>
          <a:lstStyle/>
          <a:p>
            <a:pPr indent="0" marL="0">
              <a:buNone/>
            </a:pPr>
            <a:r>
              <a:rPr lang="en-US" sz="3200" b="1" dirty="0">
                <a:solidFill>
                  <a:srgbClr val="A6432F"/>
                </a:solidFill>
                <a:latin typeface="Cambria" pitchFamily="34" charset="0"/>
                <a:ea typeface="Cambria" pitchFamily="34" charset="-122"/>
                <a:cs typeface="Cambria" pitchFamily="34" charset="-120"/>
              </a:rPr>
              <a:t>72%</a:t>
            </a:r>
            <a:endParaRPr lang="en-US" sz="3200" dirty="0"/>
          </a:p>
        </p:txBody>
      </p:sp>
      <p:sp>
        <p:nvSpPr>
          <p:cNvPr id="7" name="Text 5"/>
          <p:cNvSpPr/>
          <p:nvPr/>
        </p:nvSpPr>
        <p:spPr>
          <a:xfrm>
            <a:off x="80467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hit an unexpected AI bill in the past year</a:t>
            </a:r>
            <a:endParaRPr lang="en-US" sz="1300" dirty="0"/>
          </a:p>
        </p:txBody>
      </p:sp>
      <p:sp>
        <p:nvSpPr>
          <p:cNvPr id="8" name="Text 6"/>
          <p:cNvSpPr/>
          <p:nvPr/>
        </p:nvSpPr>
        <p:spPr>
          <a:xfrm>
            <a:off x="80467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One in three, more than once.</a:t>
            </a:r>
            <a:endParaRPr lang="en-US" sz="1100" dirty="0"/>
          </a:p>
        </p:txBody>
      </p:sp>
      <p:sp>
        <p:nvSpPr>
          <p:cNvPr id="9" name="Shape 7"/>
          <p:cNvSpPr/>
          <p:nvPr/>
        </p:nvSpPr>
        <p:spPr>
          <a:xfrm>
            <a:off x="3383280" y="2121408"/>
            <a:ext cx="2587752" cy="2194560"/>
          </a:xfrm>
          <a:prstGeom prst="roundRect">
            <a:avLst>
              <a:gd name="adj" fmla="val 3750"/>
            </a:avLst>
          </a:prstGeom>
          <a:solidFill>
            <a:srgbClr val="F1F3F6"/>
          </a:solidFill>
          <a:ln/>
        </p:spPr>
      </p:sp>
      <p:sp>
        <p:nvSpPr>
          <p:cNvPr id="10" name="Text 8"/>
          <p:cNvSpPr/>
          <p:nvPr/>
        </p:nvSpPr>
        <p:spPr>
          <a:xfrm>
            <a:off x="363931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52%</a:t>
            </a:r>
            <a:endParaRPr lang="en-US" sz="3200" dirty="0"/>
          </a:p>
        </p:txBody>
      </p:sp>
      <p:sp>
        <p:nvSpPr>
          <p:cNvPr id="11" name="Text 9"/>
          <p:cNvSpPr/>
          <p:nvPr/>
        </p:nvSpPr>
        <p:spPr>
          <a:xfrm>
            <a:off x="363931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have no clear owner for AI cost</a:t>
            </a:r>
            <a:endParaRPr lang="en-US" sz="1300" dirty="0"/>
          </a:p>
        </p:txBody>
      </p:sp>
      <p:sp>
        <p:nvSpPr>
          <p:cNvPr id="12" name="Text 10"/>
          <p:cNvSpPr/>
          <p:nvPr/>
        </p:nvSpPr>
        <p:spPr>
          <a:xfrm>
            <a:off x="363931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Split across engineering, FinOps, finance and IT.</a:t>
            </a:r>
            <a:endParaRPr lang="en-US" sz="1100" dirty="0"/>
          </a:p>
        </p:txBody>
      </p:sp>
      <p:sp>
        <p:nvSpPr>
          <p:cNvPr id="13" name="Shape 11"/>
          <p:cNvSpPr/>
          <p:nvPr/>
        </p:nvSpPr>
        <p:spPr>
          <a:xfrm>
            <a:off x="6217920" y="2121408"/>
            <a:ext cx="2587752" cy="2194560"/>
          </a:xfrm>
          <a:prstGeom prst="roundRect">
            <a:avLst>
              <a:gd name="adj" fmla="val 3750"/>
            </a:avLst>
          </a:prstGeom>
          <a:solidFill>
            <a:srgbClr val="F1F3F6"/>
          </a:solidFill>
          <a:ln/>
        </p:spPr>
      </p:sp>
      <p:sp>
        <p:nvSpPr>
          <p:cNvPr id="14" name="Text 12"/>
          <p:cNvSpPr/>
          <p:nvPr/>
        </p:nvSpPr>
        <p:spPr>
          <a:xfrm>
            <a:off x="647395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4 in 5</a:t>
            </a:r>
            <a:endParaRPr lang="en-US" sz="3200" dirty="0"/>
          </a:p>
        </p:txBody>
      </p:sp>
      <p:sp>
        <p:nvSpPr>
          <p:cNvPr id="15" name="Text 13"/>
          <p:cNvSpPr/>
          <p:nvPr/>
        </p:nvSpPr>
        <p:spPr>
          <a:xfrm>
            <a:off x="647395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need a day or more to trace a spike to its source</a:t>
            </a:r>
            <a:endParaRPr lang="en-US" sz="1300" dirty="0"/>
          </a:p>
        </p:txBody>
      </p:sp>
      <p:sp>
        <p:nvSpPr>
          <p:cNvPr id="16" name="Text 14"/>
          <p:cNvSpPr/>
          <p:nvPr/>
        </p:nvSpPr>
        <p:spPr>
          <a:xfrm>
            <a:off x="647395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Only about one in five manage it within hours.</a:t>
            </a:r>
            <a:endParaRPr lang="en-US" sz="1100" dirty="0"/>
          </a:p>
        </p:txBody>
      </p:sp>
      <p:sp>
        <p:nvSpPr>
          <p:cNvPr id="17" name="Shape 15"/>
          <p:cNvSpPr/>
          <p:nvPr/>
        </p:nvSpPr>
        <p:spPr>
          <a:xfrm>
            <a:off x="9052560" y="2121408"/>
            <a:ext cx="2587752" cy="2194560"/>
          </a:xfrm>
          <a:prstGeom prst="roundRect">
            <a:avLst>
              <a:gd name="adj" fmla="val 3750"/>
            </a:avLst>
          </a:prstGeom>
          <a:solidFill>
            <a:srgbClr val="F1F3F6"/>
          </a:solidFill>
          <a:ln/>
        </p:spPr>
      </p:sp>
      <p:sp>
        <p:nvSpPr>
          <p:cNvPr id="18" name="Text 16"/>
          <p:cNvSpPr/>
          <p:nvPr/>
        </p:nvSpPr>
        <p:spPr>
          <a:xfrm>
            <a:off x="9308592" y="2286000"/>
            <a:ext cx="2103120" cy="640080"/>
          </a:xfrm>
          <a:prstGeom prst="rect">
            <a:avLst/>
          </a:prstGeom>
          <a:noFill/>
          <a:ln/>
        </p:spPr>
        <p:txBody>
          <a:bodyPr wrap="square" lIns="0" tIns="0" rIns="0" bIns="0" rtlCol="0" anchor="ctr"/>
          <a:lstStyle/>
          <a:p>
            <a:pPr indent="0" marL="0">
              <a:buNone/>
            </a:pPr>
            <a:r>
              <a:rPr lang="en-US" sz="3200" b="1" dirty="0">
                <a:solidFill>
                  <a:srgbClr val="5C6675"/>
                </a:solidFill>
                <a:latin typeface="Cambria" pitchFamily="34" charset="0"/>
                <a:ea typeface="Cambria" pitchFamily="34" charset="-122"/>
                <a:cs typeface="Cambria" pitchFamily="34" charset="-120"/>
              </a:rPr>
              <a:t>26%</a:t>
            </a:r>
            <a:endParaRPr lang="en-US" sz="3200" dirty="0"/>
          </a:p>
        </p:txBody>
      </p:sp>
      <p:sp>
        <p:nvSpPr>
          <p:cNvPr id="19" name="Text 17"/>
          <p:cNvSpPr/>
          <p:nvPr/>
        </p:nvSpPr>
        <p:spPr>
          <a:xfrm>
            <a:off x="930859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of AI spend estimated wasted</a:t>
            </a:r>
            <a:endParaRPr lang="en-US" sz="1300" dirty="0"/>
          </a:p>
        </p:txBody>
      </p:sp>
      <p:sp>
        <p:nvSpPr>
          <p:cNvPr id="20" name="Text 18"/>
          <p:cNvSpPr/>
          <p:nvPr/>
        </p:nvSpPr>
        <p:spPr>
          <a:xfrm>
            <a:off x="930859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Respondents' own estimate, not a measurement.</a:t>
            </a:r>
            <a:endParaRPr lang="en-US" sz="1100" dirty="0"/>
          </a:p>
        </p:txBody>
      </p:sp>
      <p:sp>
        <p:nvSpPr>
          <p:cNvPr id="21" name="Shape 19"/>
          <p:cNvSpPr/>
          <p:nvPr/>
        </p:nvSpPr>
        <p:spPr>
          <a:xfrm>
            <a:off x="548640" y="4572000"/>
            <a:ext cx="6675120" cy="1481328"/>
          </a:xfrm>
          <a:prstGeom prst="roundRect">
            <a:avLst>
              <a:gd name="adj" fmla="val 5556"/>
            </a:avLst>
          </a:prstGeom>
          <a:solidFill>
            <a:srgbClr val="1F2936"/>
          </a:solidFill>
          <a:ln/>
          <a:effectLst>
            <a:outerShdw sx="100000" sy="100000" kx="0" ky="0" algn="bl" rotWithShape="0" blurRad="127000" dist="25400" dir="5400000">
              <a:srgbClr val="8C99A8">
                <a:alpha val="16000"/>
              </a:srgbClr>
            </a:outerShdw>
          </a:effectLst>
        </p:spPr>
      </p:sp>
      <p:sp>
        <p:nvSpPr>
          <p:cNvPr id="22" name="Text 20"/>
          <p:cNvSpPr/>
          <p:nvPr/>
        </p:nvSpPr>
        <p:spPr>
          <a:xfrm>
            <a:off x="859536" y="4736592"/>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number to manage</a:t>
            </a:r>
            <a:endParaRPr lang="en-US" sz="1200" dirty="0"/>
          </a:p>
        </p:txBody>
      </p:sp>
      <p:sp>
        <p:nvSpPr>
          <p:cNvPr id="23" name="Text 21"/>
          <p:cNvSpPr/>
          <p:nvPr/>
        </p:nvSpPr>
        <p:spPr>
          <a:xfrm>
            <a:off x="859536" y="5065776"/>
            <a:ext cx="6053328" cy="877824"/>
          </a:xfrm>
          <a:prstGeom prst="rect">
            <a:avLst/>
          </a:prstGeom>
          <a:noFill/>
          <a:ln/>
        </p:spPr>
        <p:txBody>
          <a:bodyPr wrap="square" lIns="0" tIns="0" rIns="0" bIns="0" rtlCol="0" anchor="t"/>
          <a:lstStyle/>
          <a:p>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Time to attribute a spike. </a:t>
            </a:r>
            <a:pPr indent="0" marL="0">
              <a:lnSpc>
                <a:spcPts val="1900"/>
              </a:lnSpc>
              <a:buNone/>
            </a:pPr>
            <a:r>
              <a:rPr lang="en-US" sz="1350" dirty="0">
                <a:solidFill>
                  <a:srgbClr val="9EABBA"/>
                </a:solidFill>
                <a:latin typeface="Calibri" pitchFamily="34" charset="0"/>
                <a:ea typeface="Calibri" pitchFamily="34" charset="-122"/>
                <a:cs typeface="Calibri" pitchFamily="34" charset="-120"/>
              </a:rPr>
              <a:t>It turns an argument about governance into a number we can move — days today, hours as the target — and it is the one metric a runaway AI workload is measured against.</a:t>
            </a:r>
            <a:endParaRPr lang="en-US" sz="1350" dirty="0"/>
          </a:p>
        </p:txBody>
      </p:sp>
      <p:sp>
        <p:nvSpPr>
          <p:cNvPr id="24" name="Shape 22"/>
          <p:cNvSpPr/>
          <p:nvPr/>
        </p:nvSpPr>
        <p:spPr>
          <a:xfrm>
            <a:off x="7525512" y="4572000"/>
            <a:ext cx="4114800" cy="1481328"/>
          </a:xfrm>
          <a:prstGeom prst="roundRect">
            <a:avLst>
              <a:gd name="adj" fmla="val 5556"/>
            </a:avLst>
          </a:prstGeom>
          <a:solidFill>
            <a:srgbClr val="FBEFD8"/>
          </a:solidFill>
          <a:ln/>
        </p:spPr>
      </p:sp>
      <p:sp>
        <p:nvSpPr>
          <p:cNvPr id="25" name="Text 23"/>
          <p:cNvSpPr/>
          <p:nvPr/>
        </p:nvSpPr>
        <p:spPr>
          <a:xfrm>
            <a:off x="7836408" y="4736592"/>
            <a:ext cx="36576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Why a rollup will not do it</a:t>
            </a:r>
            <a:endParaRPr lang="en-US" sz="1200" dirty="0"/>
          </a:p>
        </p:txBody>
      </p:sp>
      <p:sp>
        <p:nvSpPr>
          <p:cNvPr id="26" name="Text 24"/>
          <p:cNvSpPr/>
          <p:nvPr/>
        </p:nvSpPr>
        <p:spPr>
          <a:xfrm>
            <a:off x="7836408" y="5065776"/>
            <a:ext cx="3529584" cy="877824"/>
          </a:xfrm>
          <a:prstGeom prst="rect">
            <a:avLst/>
          </a:prstGeom>
          <a:noFill/>
          <a:ln/>
        </p:spPr>
        <p:txBody>
          <a:bodyPr wrap="square" lIns="0" tIns="0" rIns="0" bIns="0" rtlCol="0" anchor="t"/>
          <a:lstStyle/>
          <a:p>
            <a:pPr indent="0" marL="0">
              <a:lnSpc>
                <a:spcPts val="1700"/>
              </a:lnSpc>
              <a:buNone/>
            </a:pPr>
            <a:r>
              <a:rPr lang="en-US" sz="1250" dirty="0">
                <a:solidFill>
                  <a:srgbClr val="6B4A0E"/>
                </a:solidFill>
                <a:latin typeface="Calibri" pitchFamily="34" charset="0"/>
                <a:ea typeface="Calibri" pitchFamily="34" charset="-122"/>
                <a:cs typeface="Calibri" pitchFamily="34" charset="-120"/>
              </a:rPr>
              <a:t>AI waste hides in prompt design, model choice and retry logic. A monthly bill by resource cannot name the caller — that needs per-consumer token attribution.</a:t>
            </a:r>
            <a:endParaRPr lang="en-US" sz="1250" dirty="0"/>
          </a:p>
        </p:txBody>
      </p:sp>
      <p:sp>
        <p:nvSpPr>
          <p:cNvPr id="27" name="Text 25"/>
          <p:cNvSpPr/>
          <p:nvPr/>
        </p:nvSpPr>
        <p:spPr>
          <a:xfrm>
            <a:off x="548640" y="6199632"/>
            <a:ext cx="11091672" cy="457200"/>
          </a:xfrm>
          <a:prstGeom prst="rect">
            <a:avLst/>
          </a:prstGeom>
          <a:noFill/>
          <a:ln/>
        </p:spPr>
        <p:txBody>
          <a:bodyPr wrap="square" lIns="0" tIns="0" rIns="0" bIns="0" rtlCol="0" anchor="ctr"/>
          <a:lstStyle/>
          <a:p>
            <a:pPr indent="0" marL="0">
              <a:buNone/>
            </a:pPr>
            <a:r>
              <a:rPr lang="en-US" sz="1050" dirty="0">
                <a:solidFill>
                  <a:srgbClr val="5C6675"/>
                </a:solidFill>
                <a:latin typeface="Calibri" pitchFamily="34" charset="0"/>
                <a:ea typeface="Calibri" pitchFamily="34" charset="-122"/>
                <a:cs typeface="Calibri" pitchFamily="34" charset="-120"/>
              </a:rPr>
              <a:t>Harness / Sapio Research, 2026 State of AI in FinOps — 700 engineering leaders and practitioners, May–June 2026. Vendor-sponsored research; the waste and maturity figures are self-reported estimates.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Most of a workload's lifetime cost is settled once the architecture is agreed. FinOps belongs in that conversation, not in the postmortem.</a:t>
            </a:r>
            <a:endParaRPr lang="en-US" sz="1500" dirty="0"/>
          </a:p>
        </p:txBody>
      </p:sp>
      <p:sp>
        <p:nvSpPr>
          <p:cNvPr id="5" name="Shape 3"/>
          <p:cNvSpPr/>
          <p:nvPr/>
        </p:nvSpPr>
        <p:spPr>
          <a:xfrm>
            <a:off x="548640" y="2487168"/>
            <a:ext cx="1773936" cy="530352"/>
          </a:xfrm>
          <a:prstGeom prst="roundRect">
            <a:avLst>
              <a:gd name="adj" fmla="val 13793"/>
            </a:avLst>
          </a:prstGeom>
          <a:solidFill>
            <a:srgbClr val="FBEFD8"/>
          </a:solidFill>
          <a:ln/>
        </p:spPr>
      </p:sp>
      <p:sp>
        <p:nvSpPr>
          <p:cNvPr id="6" name="Text 4"/>
          <p:cNvSpPr/>
          <p:nvPr/>
        </p:nvSpPr>
        <p:spPr>
          <a:xfrm>
            <a:off x="548640" y="2487168"/>
            <a:ext cx="1773936" cy="530352"/>
          </a:xfrm>
          <a:prstGeom prst="rect">
            <a:avLst/>
          </a:prstGeom>
          <a:noFill/>
          <a:ln/>
        </p:spPr>
        <p:txBody>
          <a:bodyPr wrap="square" lIns="0" tIns="0" rIns="0" bIns="0" rtlCol="0" anchor="ctr"/>
          <a:lstStyle/>
          <a:p>
            <a:pPr algn="ctr" indent="0" marL="0">
              <a:buNone/>
            </a:pPr>
            <a:r>
              <a:rPr lang="en-US" sz="1250" b="1" dirty="0">
                <a:solidFill>
                  <a:srgbClr val="6B4A0E"/>
                </a:solidFill>
                <a:latin typeface="Calibri" pitchFamily="34" charset="0"/>
                <a:ea typeface="Calibri" pitchFamily="34" charset="-122"/>
                <a:cs typeface="Calibri" pitchFamily="34" charset="-120"/>
              </a:rPr>
              <a:t>Requirements</a:t>
            </a:r>
            <a:endParaRPr lang="en-US" sz="1250" dirty="0"/>
          </a:p>
        </p:txBody>
      </p:sp>
      <p:sp>
        <p:nvSpPr>
          <p:cNvPr id="7" name="Shape 5"/>
          <p:cNvSpPr/>
          <p:nvPr/>
        </p:nvSpPr>
        <p:spPr>
          <a:xfrm>
            <a:off x="2423160" y="2487168"/>
            <a:ext cx="1773936" cy="530352"/>
          </a:xfrm>
          <a:prstGeom prst="roundRect">
            <a:avLst>
              <a:gd name="adj" fmla="val 13793"/>
            </a:avLst>
          </a:prstGeom>
          <a:solidFill>
            <a:srgbClr val="FBEFD8"/>
          </a:solidFill>
          <a:ln/>
        </p:spPr>
      </p:sp>
      <p:sp>
        <p:nvSpPr>
          <p:cNvPr id="8" name="Text 6"/>
          <p:cNvSpPr/>
          <p:nvPr/>
        </p:nvSpPr>
        <p:spPr>
          <a:xfrm>
            <a:off x="2423160" y="2487168"/>
            <a:ext cx="1773936" cy="530352"/>
          </a:xfrm>
          <a:prstGeom prst="rect">
            <a:avLst/>
          </a:prstGeom>
          <a:noFill/>
          <a:ln/>
        </p:spPr>
        <p:txBody>
          <a:bodyPr wrap="square" lIns="0" tIns="0" rIns="0" bIns="0" rtlCol="0" anchor="ctr"/>
          <a:lstStyle/>
          <a:p>
            <a:pPr algn="ctr" indent="0" marL="0">
              <a:buNone/>
            </a:pPr>
            <a:r>
              <a:rPr lang="en-US" sz="1250" b="1" dirty="0">
                <a:solidFill>
                  <a:srgbClr val="6B4A0E"/>
                </a:solidFill>
                <a:latin typeface="Calibri" pitchFamily="34" charset="0"/>
                <a:ea typeface="Calibri" pitchFamily="34" charset="-122"/>
                <a:cs typeface="Calibri" pitchFamily="34" charset="-120"/>
              </a:rPr>
              <a:t>Design</a:t>
            </a:r>
            <a:endParaRPr lang="en-US" sz="1250" dirty="0"/>
          </a:p>
        </p:txBody>
      </p:sp>
      <p:sp>
        <p:nvSpPr>
          <p:cNvPr id="9" name="Shape 7"/>
          <p:cNvSpPr/>
          <p:nvPr/>
        </p:nvSpPr>
        <p:spPr>
          <a:xfrm>
            <a:off x="4297680" y="2487168"/>
            <a:ext cx="1773936" cy="530352"/>
          </a:xfrm>
          <a:prstGeom prst="roundRect">
            <a:avLst>
              <a:gd name="adj" fmla="val 13793"/>
            </a:avLst>
          </a:prstGeom>
          <a:solidFill>
            <a:srgbClr val="F1F3F6"/>
          </a:solidFill>
          <a:ln/>
        </p:spPr>
      </p:sp>
      <p:sp>
        <p:nvSpPr>
          <p:cNvPr id="10" name="Text 8"/>
          <p:cNvSpPr/>
          <p:nvPr/>
        </p:nvSpPr>
        <p:spPr>
          <a:xfrm>
            <a:off x="4297680" y="2487168"/>
            <a:ext cx="1773936" cy="530352"/>
          </a:xfrm>
          <a:prstGeom prst="rect">
            <a:avLst/>
          </a:prstGeom>
          <a:noFill/>
          <a:ln/>
        </p:spPr>
        <p:txBody>
          <a:bodyPr wrap="square" lIns="0" tIns="0" rIns="0" bIns="0" rtlCol="0" anchor="ctr"/>
          <a:lstStyle/>
          <a:p>
            <a:pPr algn="ctr" indent="0" marL="0">
              <a:buNone/>
            </a:pPr>
            <a:r>
              <a:rPr lang="en-US" sz="1250" dirty="0">
                <a:solidFill>
                  <a:srgbClr val="5C6675"/>
                </a:solidFill>
                <a:latin typeface="Calibri" pitchFamily="34" charset="0"/>
                <a:ea typeface="Calibri" pitchFamily="34" charset="-122"/>
                <a:cs typeface="Calibri" pitchFamily="34" charset="-120"/>
              </a:rPr>
              <a:t>Build</a:t>
            </a:r>
            <a:endParaRPr lang="en-US" sz="1250" dirty="0"/>
          </a:p>
        </p:txBody>
      </p:sp>
      <p:sp>
        <p:nvSpPr>
          <p:cNvPr id="11" name="Shape 9"/>
          <p:cNvSpPr/>
          <p:nvPr/>
        </p:nvSpPr>
        <p:spPr>
          <a:xfrm>
            <a:off x="6172200" y="2487168"/>
            <a:ext cx="1773936" cy="530352"/>
          </a:xfrm>
          <a:prstGeom prst="roundRect">
            <a:avLst>
              <a:gd name="adj" fmla="val 13793"/>
            </a:avLst>
          </a:prstGeom>
          <a:solidFill>
            <a:srgbClr val="F1F3F6"/>
          </a:solidFill>
          <a:ln/>
        </p:spPr>
      </p:sp>
      <p:sp>
        <p:nvSpPr>
          <p:cNvPr id="12" name="Text 10"/>
          <p:cNvSpPr/>
          <p:nvPr/>
        </p:nvSpPr>
        <p:spPr>
          <a:xfrm>
            <a:off x="6172200" y="2487168"/>
            <a:ext cx="1773936" cy="530352"/>
          </a:xfrm>
          <a:prstGeom prst="rect">
            <a:avLst/>
          </a:prstGeom>
          <a:noFill/>
          <a:ln/>
        </p:spPr>
        <p:txBody>
          <a:bodyPr wrap="square" lIns="0" tIns="0" rIns="0" bIns="0" rtlCol="0" anchor="ctr"/>
          <a:lstStyle/>
          <a:p>
            <a:pPr algn="ctr" indent="0" marL="0">
              <a:buNone/>
            </a:pPr>
            <a:r>
              <a:rPr lang="en-US" sz="1250" dirty="0">
                <a:solidFill>
                  <a:srgbClr val="5C6675"/>
                </a:solidFill>
                <a:latin typeface="Calibri" pitchFamily="34" charset="0"/>
                <a:ea typeface="Calibri" pitchFamily="34" charset="-122"/>
                <a:cs typeface="Calibri" pitchFamily="34" charset="-120"/>
              </a:rPr>
              <a:t>Deploy</a:t>
            </a:r>
            <a:endParaRPr lang="en-US" sz="1250" dirty="0"/>
          </a:p>
        </p:txBody>
      </p:sp>
      <p:sp>
        <p:nvSpPr>
          <p:cNvPr id="13" name="Shape 11"/>
          <p:cNvSpPr/>
          <p:nvPr/>
        </p:nvSpPr>
        <p:spPr>
          <a:xfrm>
            <a:off x="8046720" y="2487168"/>
            <a:ext cx="1773936" cy="530352"/>
          </a:xfrm>
          <a:prstGeom prst="roundRect">
            <a:avLst>
              <a:gd name="adj" fmla="val 13793"/>
            </a:avLst>
          </a:prstGeom>
          <a:solidFill>
            <a:srgbClr val="F1F3F6"/>
          </a:solidFill>
          <a:ln/>
        </p:spPr>
      </p:sp>
      <p:sp>
        <p:nvSpPr>
          <p:cNvPr id="14" name="Text 12"/>
          <p:cNvSpPr/>
          <p:nvPr/>
        </p:nvSpPr>
        <p:spPr>
          <a:xfrm>
            <a:off x="8046720" y="2487168"/>
            <a:ext cx="1773936" cy="530352"/>
          </a:xfrm>
          <a:prstGeom prst="rect">
            <a:avLst/>
          </a:prstGeom>
          <a:noFill/>
          <a:ln/>
        </p:spPr>
        <p:txBody>
          <a:bodyPr wrap="square" lIns="0" tIns="0" rIns="0" bIns="0" rtlCol="0" anchor="ctr"/>
          <a:lstStyle/>
          <a:p>
            <a:pPr algn="ctr" indent="0" marL="0">
              <a:buNone/>
            </a:pPr>
            <a:r>
              <a:rPr lang="en-US" sz="1250" dirty="0">
                <a:solidFill>
                  <a:srgbClr val="5C6675"/>
                </a:solidFill>
                <a:latin typeface="Calibri" pitchFamily="34" charset="0"/>
                <a:ea typeface="Calibri" pitchFamily="34" charset="-122"/>
                <a:cs typeface="Calibri" pitchFamily="34" charset="-120"/>
              </a:rPr>
              <a:t>Run</a:t>
            </a:r>
            <a:endParaRPr lang="en-US" sz="1250" dirty="0"/>
          </a:p>
        </p:txBody>
      </p:sp>
      <p:sp>
        <p:nvSpPr>
          <p:cNvPr id="15" name="Shape 13"/>
          <p:cNvSpPr/>
          <p:nvPr/>
        </p:nvSpPr>
        <p:spPr>
          <a:xfrm>
            <a:off x="9921240" y="2487168"/>
            <a:ext cx="1773936" cy="530352"/>
          </a:xfrm>
          <a:prstGeom prst="roundRect">
            <a:avLst>
              <a:gd name="adj" fmla="val 13793"/>
            </a:avLst>
          </a:prstGeom>
          <a:solidFill>
            <a:srgbClr val="F1F3F6"/>
          </a:solidFill>
          <a:ln/>
        </p:spPr>
      </p:sp>
      <p:sp>
        <p:nvSpPr>
          <p:cNvPr id="16" name="Text 14"/>
          <p:cNvSpPr/>
          <p:nvPr/>
        </p:nvSpPr>
        <p:spPr>
          <a:xfrm>
            <a:off x="9921240" y="2487168"/>
            <a:ext cx="1773936" cy="530352"/>
          </a:xfrm>
          <a:prstGeom prst="rect">
            <a:avLst/>
          </a:prstGeom>
          <a:noFill/>
          <a:ln/>
        </p:spPr>
        <p:txBody>
          <a:bodyPr wrap="square" lIns="0" tIns="0" rIns="0" bIns="0" rtlCol="0" anchor="ctr"/>
          <a:lstStyle/>
          <a:p>
            <a:pPr algn="ctr" indent="0" marL="0">
              <a:buNone/>
            </a:pPr>
            <a:r>
              <a:rPr lang="en-US" sz="1250" dirty="0">
                <a:solidFill>
                  <a:srgbClr val="5C6675"/>
                </a:solidFill>
                <a:latin typeface="Calibri" pitchFamily="34" charset="0"/>
                <a:ea typeface="Calibri" pitchFamily="34" charset="-122"/>
                <a:cs typeface="Calibri" pitchFamily="34" charset="-120"/>
              </a:rPr>
              <a:t>Invoice</a:t>
            </a:r>
            <a:endParaRPr lang="en-US" sz="1250" dirty="0"/>
          </a:p>
        </p:txBody>
      </p:sp>
      <p:sp>
        <p:nvSpPr>
          <p:cNvPr id="17" name="Text 15"/>
          <p:cNvSpPr/>
          <p:nvPr/>
        </p:nvSpPr>
        <p:spPr>
          <a:xfrm>
            <a:off x="548640" y="2139696"/>
            <a:ext cx="3749040" cy="274320"/>
          </a:xfrm>
          <a:prstGeom prst="rect">
            <a:avLst/>
          </a:prstGeom>
          <a:noFill/>
          <a:ln/>
        </p:spPr>
        <p:txBody>
          <a:bodyPr wrap="square" lIns="0" tIns="0" rIns="0" bIns="0" rtlCol="0" anchor="ctr"/>
          <a:lstStyle/>
          <a:p>
            <a:pPr indent="0" marL="0">
              <a:buNone/>
            </a:pPr>
            <a:r>
              <a:rPr lang="en-US" sz="1150" b="1" spc="140" kern="0" dirty="0">
                <a:solidFill>
                  <a:srgbClr val="B87B18"/>
                </a:solidFill>
                <a:latin typeface="Calibri" pitchFamily="34" charset="0"/>
                <a:ea typeface="Calibri" pitchFamily="34" charset="-122"/>
                <a:cs typeface="Calibri" pitchFamily="34" charset="-120"/>
              </a:rPr>
              <a:t>Where FinOps belongs</a:t>
            </a:r>
            <a:endParaRPr lang="en-US" sz="1150" dirty="0"/>
          </a:p>
        </p:txBody>
      </p:sp>
      <p:sp>
        <p:nvSpPr>
          <p:cNvPr id="18" name="Text 16"/>
          <p:cNvSpPr/>
          <p:nvPr/>
        </p:nvSpPr>
        <p:spPr>
          <a:xfrm>
            <a:off x="8046720" y="2139696"/>
            <a:ext cx="3593592" cy="274320"/>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Where FinOps usually arrives</a:t>
            </a:r>
            <a:endParaRPr lang="en-US" sz="1150" dirty="0"/>
          </a:p>
        </p:txBody>
      </p:sp>
      <p:sp>
        <p:nvSpPr>
          <p:cNvPr id="19" name="Shape 17"/>
          <p:cNvSpPr/>
          <p:nvPr/>
        </p:nvSpPr>
        <p:spPr>
          <a:xfrm>
            <a:off x="548640" y="3401568"/>
            <a:ext cx="5394960" cy="2286000"/>
          </a:xfrm>
          <a:prstGeom prst="roundRect">
            <a:avLst>
              <a:gd name="adj" fmla="val 3600"/>
            </a:avLst>
          </a:prstGeom>
          <a:solidFill>
            <a:srgbClr val="1F2936"/>
          </a:solidFill>
          <a:ln/>
          <a:effectLst>
            <a:outerShdw sx="100000" sy="100000" kx="0" ky="0" algn="bl" rotWithShape="0" blurRad="127000" dist="25400" dir="5400000">
              <a:srgbClr val="8C99A8">
                <a:alpha val="16000"/>
              </a:srgbClr>
            </a:outerShdw>
          </a:effectLst>
        </p:spPr>
      </p:sp>
      <p:sp>
        <p:nvSpPr>
          <p:cNvPr id="20" name="Text 18"/>
          <p:cNvSpPr/>
          <p:nvPr/>
        </p:nvSpPr>
        <p:spPr>
          <a:xfrm>
            <a:off x="859536" y="3566160"/>
            <a:ext cx="4572000" cy="274320"/>
          </a:xfrm>
          <a:prstGeom prst="rect">
            <a:avLst/>
          </a:prstGeom>
          <a:noFill/>
          <a:ln/>
        </p:spPr>
        <p:txBody>
          <a:bodyPr wrap="square" lIns="0" tIns="0" rIns="0" bIns="0" rtlCol="0" anchor="ctr"/>
          <a:lstStyle/>
          <a:p>
            <a:pPr indent="0" marL="0">
              <a:buNone/>
            </a:pPr>
            <a:r>
              <a:rPr lang="en-US" sz="1150" b="1" spc="140" kern="0" dirty="0">
                <a:solidFill>
                  <a:srgbClr val="E39B2C"/>
                </a:solidFill>
                <a:latin typeface="Calibri" pitchFamily="34" charset="0"/>
                <a:ea typeface="Calibri" pitchFamily="34" charset="-122"/>
                <a:cs typeface="Calibri" pitchFamily="34" charset="-120"/>
              </a:rPr>
              <a:t>The exchange in the room</a:t>
            </a:r>
            <a:endParaRPr lang="en-US" sz="1150" dirty="0"/>
          </a:p>
        </p:txBody>
      </p:sp>
      <p:sp>
        <p:nvSpPr>
          <p:cNvPr id="21" name="Text 19"/>
          <p:cNvSpPr/>
          <p:nvPr/>
        </p:nvSpPr>
        <p:spPr>
          <a:xfrm>
            <a:off x="859536" y="3931920"/>
            <a:ext cx="4773168" cy="822960"/>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FinOps brings</a:t>
            </a:r>
            <a:endParaRPr lang="en-US" sz="1300" dirty="0"/>
          </a:p>
          <a:p>
            <a:pPr indent="0" marL="0">
              <a:lnSpc>
                <a:spcPts val="1800"/>
              </a:lnSpc>
              <a:buNone/>
            </a:pPr>
            <a:r>
              <a:rPr lang="en-US" sz="1300" dirty="0">
                <a:solidFill>
                  <a:srgbClr val="9EABBA"/>
                </a:solidFill>
                <a:latin typeface="Calibri" pitchFamily="34" charset="0"/>
                <a:ea typeface="Calibri" pitchFamily="34" charset="-122"/>
                <a:cs typeface="Calibri" pitchFamily="34" charset="-120"/>
              </a:rPr>
              <a:t>two or three priced options, a cost target, the allocation plan</a:t>
            </a:r>
            <a:endParaRPr lang="en-US" sz="1300" dirty="0"/>
          </a:p>
        </p:txBody>
      </p:sp>
      <p:sp>
        <p:nvSpPr>
          <p:cNvPr id="22" name="Text 20"/>
          <p:cNvSpPr/>
          <p:nvPr/>
        </p:nvSpPr>
        <p:spPr>
          <a:xfrm>
            <a:off x="859536" y="4791456"/>
            <a:ext cx="4773168" cy="822960"/>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FinOps leaves with</a:t>
            </a:r>
            <a:endParaRPr lang="en-US" sz="1300" dirty="0"/>
          </a:p>
          <a:p>
            <a:pPr indent="0" marL="0">
              <a:lnSpc>
                <a:spcPts val="1800"/>
              </a:lnSpc>
              <a:buNone/>
            </a:pPr>
            <a:r>
              <a:rPr lang="en-US" sz="1300" dirty="0">
                <a:solidFill>
                  <a:srgbClr val="9EABBA"/>
                </a:solidFill>
                <a:latin typeface="Calibri" pitchFamily="34" charset="0"/>
                <a:ea typeface="Calibri" pitchFamily="34" charset="-122"/>
                <a:cs typeface="Calibri" pitchFamily="34" charset="-120"/>
              </a:rPr>
              <a:t>the real SLO, what is temporary, which unit carries the value</a:t>
            </a:r>
            <a:endParaRPr lang="en-US" sz="1300" dirty="0"/>
          </a:p>
        </p:txBody>
      </p:sp>
      <p:sp>
        <p:nvSpPr>
          <p:cNvPr id="23" name="Shape 21"/>
          <p:cNvSpPr/>
          <p:nvPr/>
        </p:nvSpPr>
        <p:spPr>
          <a:xfrm>
            <a:off x="6245352" y="3401568"/>
            <a:ext cx="5394960" cy="2286000"/>
          </a:xfrm>
          <a:prstGeom prst="roundRect">
            <a:avLst>
              <a:gd name="adj" fmla="val 3600"/>
            </a:avLst>
          </a:prstGeom>
          <a:solidFill>
            <a:srgbClr val="F1F3F6"/>
          </a:solidFill>
          <a:ln/>
        </p:spPr>
      </p:sp>
      <p:sp>
        <p:nvSpPr>
          <p:cNvPr id="24" name="Text 22"/>
          <p:cNvSpPr/>
          <p:nvPr/>
        </p:nvSpPr>
        <p:spPr>
          <a:xfrm>
            <a:off x="6556248" y="3566160"/>
            <a:ext cx="4572000" cy="274320"/>
          </a:xfrm>
          <a:prstGeom prst="rect">
            <a:avLst/>
          </a:prstGeom>
          <a:noFill/>
          <a:ln/>
        </p:spPr>
        <p:txBody>
          <a:bodyPr wrap="square" lIns="0" tIns="0" rIns="0" bIns="0" rtlCol="0" anchor="ctr"/>
          <a:lstStyle/>
          <a:p>
            <a:pPr indent="0" marL="0">
              <a:buNone/>
            </a:pPr>
            <a:r>
              <a:rPr lang="en-US" sz="1150" b="1" spc="140" kern="0" dirty="0">
                <a:solidFill>
                  <a:srgbClr val="5C6675"/>
                </a:solidFill>
                <a:latin typeface="Calibri" pitchFamily="34" charset="0"/>
                <a:ea typeface="Calibri" pitchFamily="34" charset="-122"/>
                <a:cs typeface="Calibri" pitchFamily="34" charset="-120"/>
              </a:rPr>
              <a:t>Six questions before the build starts</a:t>
            </a:r>
            <a:endParaRPr lang="en-US" sz="1150" dirty="0"/>
          </a:p>
        </p:txBody>
      </p:sp>
      <p:sp>
        <p:nvSpPr>
          <p:cNvPr id="25" name="Shape 23"/>
          <p:cNvSpPr/>
          <p:nvPr/>
        </p:nvSpPr>
        <p:spPr>
          <a:xfrm>
            <a:off x="6574536" y="3968496"/>
            <a:ext cx="91440" cy="91440"/>
          </a:xfrm>
          <a:prstGeom prst="ellipse">
            <a:avLst/>
          </a:prstGeom>
          <a:solidFill>
            <a:srgbClr val="B87B18"/>
          </a:solidFill>
          <a:ln/>
        </p:spPr>
      </p:sp>
      <p:sp>
        <p:nvSpPr>
          <p:cNvPr id="26" name="Text 24"/>
          <p:cNvSpPr/>
          <p:nvPr/>
        </p:nvSpPr>
        <p:spPr>
          <a:xfrm>
            <a:off x="6793992" y="3877056"/>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Peak versus average — how spiky is the load?</a:t>
            </a:r>
            <a:endParaRPr lang="en-US" sz="1250" dirty="0"/>
          </a:p>
        </p:txBody>
      </p:sp>
      <p:sp>
        <p:nvSpPr>
          <p:cNvPr id="27" name="Shape 25"/>
          <p:cNvSpPr/>
          <p:nvPr/>
        </p:nvSpPr>
        <p:spPr>
          <a:xfrm>
            <a:off x="6574536" y="4261104"/>
            <a:ext cx="91440" cy="91440"/>
          </a:xfrm>
          <a:prstGeom prst="ellipse">
            <a:avLst/>
          </a:prstGeom>
          <a:solidFill>
            <a:srgbClr val="B87B18"/>
          </a:solidFill>
          <a:ln/>
        </p:spPr>
      </p:sp>
      <p:sp>
        <p:nvSpPr>
          <p:cNvPr id="28" name="Text 26"/>
          <p:cNvSpPr/>
          <p:nvPr/>
        </p:nvSpPr>
        <p:spPr>
          <a:xfrm>
            <a:off x="6793992" y="4169664"/>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How much data, kept how long, leaving the region?</a:t>
            </a:r>
            <a:endParaRPr lang="en-US" sz="1250" dirty="0"/>
          </a:p>
        </p:txBody>
      </p:sp>
      <p:sp>
        <p:nvSpPr>
          <p:cNvPr id="29" name="Shape 27"/>
          <p:cNvSpPr/>
          <p:nvPr/>
        </p:nvSpPr>
        <p:spPr>
          <a:xfrm>
            <a:off x="6574536" y="4553712"/>
            <a:ext cx="91440" cy="91440"/>
          </a:xfrm>
          <a:prstGeom prst="ellipse">
            <a:avLst/>
          </a:prstGeom>
          <a:solidFill>
            <a:srgbClr val="B87B18"/>
          </a:solidFill>
          <a:ln/>
        </p:spPr>
      </p:sp>
      <p:sp>
        <p:nvSpPr>
          <p:cNvPr id="30" name="Text 28"/>
          <p:cNvSpPr/>
          <p:nvPr/>
        </p:nvSpPr>
        <p:spPr>
          <a:xfrm>
            <a:off x="6793992" y="4462272"/>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What does the SLO genuinely require?</a:t>
            </a:r>
            <a:endParaRPr lang="en-US" sz="1250" dirty="0"/>
          </a:p>
        </p:txBody>
      </p:sp>
      <p:sp>
        <p:nvSpPr>
          <p:cNvPr id="31" name="Shape 29"/>
          <p:cNvSpPr/>
          <p:nvPr/>
        </p:nvSpPr>
        <p:spPr>
          <a:xfrm>
            <a:off x="6574536" y="4846320"/>
            <a:ext cx="91440" cy="91440"/>
          </a:xfrm>
          <a:prstGeom prst="ellipse">
            <a:avLst/>
          </a:prstGeom>
          <a:solidFill>
            <a:srgbClr val="B87B18"/>
          </a:solidFill>
          <a:ln/>
        </p:spPr>
      </p:sp>
      <p:sp>
        <p:nvSpPr>
          <p:cNvPr id="32" name="Text 30"/>
          <p:cNvSpPr/>
          <p:nvPr/>
        </p:nvSpPr>
        <p:spPr>
          <a:xfrm>
            <a:off x="6793992" y="4754880"/>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What is temporary, and when does it switch off?</a:t>
            </a:r>
            <a:endParaRPr lang="en-US" sz="1250" dirty="0"/>
          </a:p>
        </p:txBody>
      </p:sp>
      <p:sp>
        <p:nvSpPr>
          <p:cNvPr id="33" name="Shape 31"/>
          <p:cNvSpPr/>
          <p:nvPr/>
        </p:nvSpPr>
        <p:spPr>
          <a:xfrm>
            <a:off x="6574536" y="5138928"/>
            <a:ext cx="91440" cy="91440"/>
          </a:xfrm>
          <a:prstGeom prst="ellipse">
            <a:avLst/>
          </a:prstGeom>
          <a:solidFill>
            <a:srgbClr val="B87B18"/>
          </a:solidFill>
          <a:ln/>
        </p:spPr>
      </p:sp>
      <p:sp>
        <p:nvSpPr>
          <p:cNvPr id="34" name="Text 32"/>
          <p:cNvSpPr/>
          <p:nvPr/>
        </p:nvSpPr>
        <p:spPr>
          <a:xfrm>
            <a:off x="6793992" y="5047488"/>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For AI: tokens, cache rate, model tier</a:t>
            </a:r>
            <a:endParaRPr lang="en-US" sz="1250" dirty="0"/>
          </a:p>
        </p:txBody>
      </p:sp>
      <p:sp>
        <p:nvSpPr>
          <p:cNvPr id="35" name="Shape 33"/>
          <p:cNvSpPr/>
          <p:nvPr/>
        </p:nvSpPr>
        <p:spPr>
          <a:xfrm>
            <a:off x="6574536" y="5431536"/>
            <a:ext cx="91440" cy="91440"/>
          </a:xfrm>
          <a:prstGeom prst="ellipse">
            <a:avLst/>
          </a:prstGeom>
          <a:solidFill>
            <a:srgbClr val="B87B18"/>
          </a:solidFill>
          <a:ln/>
        </p:spPr>
      </p:sp>
      <p:sp>
        <p:nvSpPr>
          <p:cNvPr id="36" name="Text 34"/>
          <p:cNvSpPr/>
          <p:nvPr/>
        </p:nvSpPr>
        <p:spPr>
          <a:xfrm>
            <a:off x="6793992" y="5340096"/>
            <a:ext cx="4663440" cy="292608"/>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Which owner, and which unit do we divide by?</a:t>
            </a:r>
            <a:endParaRPr lang="en-US" sz="1250" dirty="0"/>
          </a:p>
        </p:txBody>
      </p:sp>
      <p:sp>
        <p:nvSpPr>
          <p:cNvPr id="37" name="Text 35"/>
          <p:cNvSpPr/>
          <p:nvPr/>
        </p:nvSpPr>
        <p:spPr>
          <a:xfrm>
            <a:off x="548640" y="5888736"/>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output is a cost target recorded beside the latency and availability targets. It works where FinOps sits with engineers rather than auditing them.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person, not a distribution list. A group address answers nothing at 2am on a Sunday.</a:t>
            </a:r>
            <a:endParaRPr lang="en-US" sz="1500" dirty="0"/>
          </a:p>
        </p:txBody>
      </p:sp>
      <p:sp>
        <p:nvSpPr>
          <p:cNvPr id="5" name="Shape 3"/>
          <p:cNvSpPr/>
          <p:nvPr/>
        </p:nvSpPr>
        <p:spPr>
          <a:xfrm>
            <a:off x="548640" y="2103120"/>
            <a:ext cx="2587752" cy="1783080"/>
          </a:xfrm>
          <a:prstGeom prst="roundRect">
            <a:avLst>
              <a:gd name="adj" fmla="val 4615"/>
            </a:avLst>
          </a:prstGeom>
          <a:solidFill>
            <a:srgbClr val="F1F3F6"/>
          </a:solidFill>
          <a:ln/>
        </p:spPr>
      </p:sp>
      <p:sp>
        <p:nvSpPr>
          <p:cNvPr id="6" name="Shape 4"/>
          <p:cNvSpPr/>
          <p:nvPr/>
        </p:nvSpPr>
        <p:spPr>
          <a:xfrm>
            <a:off x="804672" y="2322576"/>
            <a:ext cx="457200" cy="45720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18972" y="2436876"/>
            <a:ext cx="228600" cy="228600"/>
          </a:xfrm>
          <a:prstGeom prst="rect">
            <a:avLst/>
          </a:prstGeom>
        </p:spPr>
      </p:pic>
      <p:sp>
        <p:nvSpPr>
          <p:cNvPr id="8" name="Text 5"/>
          <p:cNvSpPr/>
          <p:nvPr/>
        </p:nvSpPr>
        <p:spPr>
          <a:xfrm>
            <a:off x="804672" y="2889504"/>
            <a:ext cx="2103120" cy="329184"/>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Owns the budget</a:t>
            </a:r>
            <a:endParaRPr lang="en-US" sz="1500" dirty="0"/>
          </a:p>
        </p:txBody>
      </p:sp>
      <p:sp>
        <p:nvSpPr>
          <p:cNvPr id="9" name="Text 6"/>
          <p:cNvSpPr/>
          <p:nvPr/>
        </p:nvSpPr>
        <p:spPr>
          <a:xfrm>
            <a:off x="804672" y="3236976"/>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Signs it off and explains the variance.</a:t>
            </a:r>
            <a:endParaRPr lang="en-US" sz="1200" dirty="0"/>
          </a:p>
        </p:txBody>
      </p:sp>
      <p:sp>
        <p:nvSpPr>
          <p:cNvPr id="10" name="Shape 7"/>
          <p:cNvSpPr/>
          <p:nvPr/>
        </p:nvSpPr>
        <p:spPr>
          <a:xfrm>
            <a:off x="3383280" y="2103120"/>
            <a:ext cx="2587752" cy="1783080"/>
          </a:xfrm>
          <a:prstGeom prst="roundRect">
            <a:avLst>
              <a:gd name="adj" fmla="val 4615"/>
            </a:avLst>
          </a:prstGeom>
          <a:solidFill>
            <a:srgbClr val="F1F3F6"/>
          </a:solidFill>
          <a:ln/>
        </p:spPr>
      </p:sp>
      <p:sp>
        <p:nvSpPr>
          <p:cNvPr id="11" name="Shape 8"/>
          <p:cNvSpPr/>
          <p:nvPr/>
        </p:nvSpPr>
        <p:spPr>
          <a:xfrm>
            <a:off x="3639312" y="2322576"/>
            <a:ext cx="457200" cy="45720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3753612" y="2436876"/>
            <a:ext cx="228600" cy="228600"/>
          </a:xfrm>
          <a:prstGeom prst="rect">
            <a:avLst/>
          </a:prstGeom>
        </p:spPr>
      </p:pic>
      <p:sp>
        <p:nvSpPr>
          <p:cNvPr id="13" name="Text 9"/>
          <p:cNvSpPr/>
          <p:nvPr/>
        </p:nvSpPr>
        <p:spPr>
          <a:xfrm>
            <a:off x="3639312" y="2889504"/>
            <a:ext cx="2103120" cy="329184"/>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Answers the alerts</a:t>
            </a:r>
            <a:endParaRPr lang="en-US" sz="1500" dirty="0"/>
          </a:p>
        </p:txBody>
      </p:sp>
      <p:sp>
        <p:nvSpPr>
          <p:cNvPr id="14" name="Text 10"/>
          <p:cNvSpPr/>
          <p:nvPr/>
        </p:nvSpPr>
        <p:spPr>
          <a:xfrm>
            <a:off x="3639312" y="3236976"/>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The routing target for their workload.</a:t>
            </a:r>
            <a:endParaRPr lang="en-US" sz="1200" dirty="0"/>
          </a:p>
        </p:txBody>
      </p:sp>
      <p:sp>
        <p:nvSpPr>
          <p:cNvPr id="15" name="Shape 11"/>
          <p:cNvSpPr/>
          <p:nvPr/>
        </p:nvSpPr>
        <p:spPr>
          <a:xfrm>
            <a:off x="6217920" y="2103120"/>
            <a:ext cx="2587752" cy="1783080"/>
          </a:xfrm>
          <a:prstGeom prst="roundRect">
            <a:avLst>
              <a:gd name="adj" fmla="val 4615"/>
            </a:avLst>
          </a:prstGeom>
          <a:solidFill>
            <a:srgbClr val="F1F3F6"/>
          </a:solidFill>
          <a:ln/>
        </p:spPr>
      </p:sp>
      <p:sp>
        <p:nvSpPr>
          <p:cNvPr id="16" name="Shape 12"/>
          <p:cNvSpPr/>
          <p:nvPr/>
        </p:nvSpPr>
        <p:spPr>
          <a:xfrm>
            <a:off x="6473952" y="2322576"/>
            <a:ext cx="457200" cy="45720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6588252" y="2436876"/>
            <a:ext cx="228600" cy="228600"/>
          </a:xfrm>
          <a:prstGeom prst="rect">
            <a:avLst/>
          </a:prstGeom>
        </p:spPr>
      </p:pic>
      <p:sp>
        <p:nvSpPr>
          <p:cNvPr id="18" name="Text 13"/>
          <p:cNvSpPr/>
          <p:nvPr/>
        </p:nvSpPr>
        <p:spPr>
          <a:xfrm>
            <a:off x="6473952" y="2889504"/>
            <a:ext cx="2103120" cy="329184"/>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Reviews monthly</a:t>
            </a:r>
            <a:endParaRPr lang="en-US" sz="1500" dirty="0"/>
          </a:p>
        </p:txBody>
      </p:sp>
      <p:sp>
        <p:nvSpPr>
          <p:cNvPr id="19" name="Text 14"/>
          <p:cNvSpPr/>
          <p:nvPr/>
        </p:nvSpPr>
        <p:spPr>
          <a:xfrm>
            <a:off x="6473952" y="3236976"/>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With their own numbers, not a summary.</a:t>
            </a:r>
            <a:endParaRPr lang="en-US" sz="1200" dirty="0"/>
          </a:p>
        </p:txBody>
      </p:sp>
      <p:sp>
        <p:nvSpPr>
          <p:cNvPr id="20" name="Shape 15"/>
          <p:cNvSpPr/>
          <p:nvPr/>
        </p:nvSpPr>
        <p:spPr>
          <a:xfrm>
            <a:off x="9052560" y="2103120"/>
            <a:ext cx="2587752" cy="1783080"/>
          </a:xfrm>
          <a:prstGeom prst="roundRect">
            <a:avLst>
              <a:gd name="adj" fmla="val 4615"/>
            </a:avLst>
          </a:prstGeom>
          <a:solidFill>
            <a:srgbClr val="F1F3F6"/>
          </a:solidFill>
          <a:ln/>
        </p:spPr>
      </p:sp>
      <p:sp>
        <p:nvSpPr>
          <p:cNvPr id="21" name="Shape 16"/>
          <p:cNvSpPr/>
          <p:nvPr/>
        </p:nvSpPr>
        <p:spPr>
          <a:xfrm>
            <a:off x="9308592" y="2322576"/>
            <a:ext cx="457200" cy="45720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422892" y="2436876"/>
            <a:ext cx="228600" cy="228600"/>
          </a:xfrm>
          <a:prstGeom prst="rect">
            <a:avLst/>
          </a:prstGeom>
        </p:spPr>
      </p:pic>
      <p:sp>
        <p:nvSpPr>
          <p:cNvPr id="23" name="Text 17"/>
          <p:cNvSpPr/>
          <p:nvPr/>
        </p:nvSpPr>
        <p:spPr>
          <a:xfrm>
            <a:off x="9308592" y="2889504"/>
            <a:ext cx="2103120" cy="329184"/>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Decommissions</a:t>
            </a:r>
            <a:endParaRPr lang="en-US" sz="1500" dirty="0"/>
          </a:p>
        </p:txBody>
      </p:sp>
      <p:sp>
        <p:nvSpPr>
          <p:cNvPr id="24" name="Text 18"/>
          <p:cNvSpPr/>
          <p:nvPr/>
        </p:nvSpPr>
        <p:spPr>
          <a:xfrm>
            <a:off x="9308592" y="3236976"/>
            <a:ext cx="2103120" cy="56692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Nothing else retires unused resources.</a:t>
            </a:r>
            <a:endParaRPr lang="en-US" sz="1200" dirty="0"/>
          </a:p>
        </p:txBody>
      </p:sp>
      <p:sp>
        <p:nvSpPr>
          <p:cNvPr id="25" name="Shape 19"/>
          <p:cNvSpPr/>
          <p:nvPr/>
        </p:nvSpPr>
        <p:spPr>
          <a:xfrm>
            <a:off x="548640" y="4114800"/>
            <a:ext cx="6675120" cy="1783080"/>
          </a:xfrm>
          <a:prstGeom prst="roundRect">
            <a:avLst>
              <a:gd name="adj" fmla="val 4615"/>
            </a:avLst>
          </a:prstGeom>
          <a:solidFill>
            <a:srgbClr val="F1F3F6"/>
          </a:solidFill>
          <a:ln/>
        </p:spPr>
      </p:sp>
      <p:sp>
        <p:nvSpPr>
          <p:cNvPr id="26" name="Text 20"/>
          <p:cNvSpPr/>
          <p:nvPr/>
        </p:nvSpPr>
        <p:spPr>
          <a:xfrm>
            <a:off x="859536" y="4279392"/>
            <a:ext cx="4572000" cy="274320"/>
          </a:xfrm>
          <a:prstGeom prst="rect">
            <a:avLst/>
          </a:prstGeom>
          <a:noFill/>
          <a:ln/>
        </p:spPr>
        <p:txBody>
          <a:bodyPr wrap="square" lIns="0" tIns="0" rIns="0" bIns="0" rtlCol="0" anchor="ctr"/>
          <a:lstStyle/>
          <a:p>
            <a:pPr indent="0" marL="0">
              <a:buNone/>
            </a:pPr>
            <a:r>
              <a:rPr lang="en-US" sz="1150" b="1" spc="140" kern="0" dirty="0">
                <a:solidFill>
                  <a:srgbClr val="5C6675"/>
                </a:solidFill>
                <a:latin typeface="Calibri" pitchFamily="34" charset="0"/>
                <a:ea typeface="Calibri" pitchFamily="34" charset="-122"/>
                <a:cs typeface="Calibri" pitchFamily="34" charset="-120"/>
              </a:rPr>
              <a:t>And who owns the practice</a:t>
            </a:r>
            <a:endParaRPr lang="en-US" sz="1150" dirty="0"/>
          </a:p>
        </p:txBody>
      </p:sp>
      <p:sp>
        <p:nvSpPr>
          <p:cNvPr id="27" name="Text 21"/>
          <p:cNvSpPr/>
          <p:nvPr/>
        </p:nvSpPr>
        <p:spPr>
          <a:xfrm>
            <a:off x="859536" y="4626864"/>
            <a:ext cx="201168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Finance</a:t>
            </a:r>
            <a:endParaRPr lang="en-US" sz="1250" dirty="0"/>
          </a:p>
        </p:txBody>
      </p:sp>
      <p:sp>
        <p:nvSpPr>
          <p:cNvPr id="28" name="Text 22"/>
          <p:cNvSpPr/>
          <p:nvPr/>
        </p:nvSpPr>
        <p:spPr>
          <a:xfrm>
            <a:off x="2926080" y="4626864"/>
            <a:ext cx="3986784" cy="292608"/>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budgets and allocation policy</a:t>
            </a:r>
            <a:endParaRPr lang="en-US" sz="1250" dirty="0"/>
          </a:p>
        </p:txBody>
      </p:sp>
      <p:sp>
        <p:nvSpPr>
          <p:cNvPr id="29" name="Text 23"/>
          <p:cNvSpPr/>
          <p:nvPr/>
        </p:nvSpPr>
        <p:spPr>
          <a:xfrm>
            <a:off x="859536" y="4937760"/>
            <a:ext cx="201168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Platform / FinOps</a:t>
            </a:r>
            <a:endParaRPr lang="en-US" sz="1250" dirty="0"/>
          </a:p>
        </p:txBody>
      </p:sp>
      <p:sp>
        <p:nvSpPr>
          <p:cNvPr id="30" name="Text 24"/>
          <p:cNvSpPr/>
          <p:nvPr/>
        </p:nvSpPr>
        <p:spPr>
          <a:xfrm>
            <a:off x="2926080" y="4937760"/>
            <a:ext cx="3986784" cy="292608"/>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standard, the data, the tooling</a:t>
            </a:r>
            <a:endParaRPr lang="en-US" sz="1250" dirty="0"/>
          </a:p>
        </p:txBody>
      </p:sp>
      <p:sp>
        <p:nvSpPr>
          <p:cNvPr id="31" name="Text 25"/>
          <p:cNvSpPr/>
          <p:nvPr/>
        </p:nvSpPr>
        <p:spPr>
          <a:xfrm>
            <a:off x="859536" y="5248656"/>
            <a:ext cx="201168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Engineering</a:t>
            </a:r>
            <a:endParaRPr lang="en-US" sz="1250" dirty="0"/>
          </a:p>
        </p:txBody>
      </p:sp>
      <p:sp>
        <p:nvSpPr>
          <p:cNvPr id="32" name="Text 26"/>
          <p:cNvSpPr/>
          <p:nvPr/>
        </p:nvSpPr>
        <p:spPr>
          <a:xfrm>
            <a:off x="2926080" y="5248656"/>
            <a:ext cx="3986784" cy="292608"/>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guardrails, instrumentation, response</a:t>
            </a:r>
            <a:endParaRPr lang="en-US" sz="1250" dirty="0"/>
          </a:p>
        </p:txBody>
      </p:sp>
      <p:sp>
        <p:nvSpPr>
          <p:cNvPr id="33" name="Text 27"/>
          <p:cNvSpPr/>
          <p:nvPr/>
        </p:nvSpPr>
        <p:spPr>
          <a:xfrm>
            <a:off x="859536" y="5559552"/>
            <a:ext cx="201168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Leadership</a:t>
            </a:r>
            <a:endParaRPr lang="en-US" sz="1250" dirty="0"/>
          </a:p>
        </p:txBody>
      </p:sp>
      <p:sp>
        <p:nvSpPr>
          <p:cNvPr id="34" name="Text 28"/>
          <p:cNvSpPr/>
          <p:nvPr/>
        </p:nvSpPr>
        <p:spPr>
          <a:xfrm>
            <a:off x="2926080" y="5559552"/>
            <a:ext cx="3986784" cy="292608"/>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commitments and the trade-offs</a:t>
            </a:r>
            <a:endParaRPr lang="en-US" sz="1250" dirty="0"/>
          </a:p>
        </p:txBody>
      </p:sp>
      <p:sp>
        <p:nvSpPr>
          <p:cNvPr id="35" name="Shape 29"/>
          <p:cNvSpPr/>
          <p:nvPr/>
        </p:nvSpPr>
        <p:spPr>
          <a:xfrm>
            <a:off x="7525512" y="4114800"/>
            <a:ext cx="4114800" cy="1783080"/>
          </a:xfrm>
          <a:prstGeom prst="roundRect">
            <a:avLst>
              <a:gd name="adj" fmla="val 4615"/>
            </a:avLst>
          </a:prstGeom>
          <a:solidFill>
            <a:srgbClr val="FBEFD8"/>
          </a:solidFill>
          <a:ln/>
        </p:spPr>
      </p:sp>
      <p:sp>
        <p:nvSpPr>
          <p:cNvPr id="36" name="Text 30"/>
          <p:cNvSpPr/>
          <p:nvPr/>
        </p:nvSpPr>
        <p:spPr>
          <a:xfrm>
            <a:off x="7836408" y="4279392"/>
            <a:ext cx="3657600" cy="274320"/>
          </a:xfrm>
          <a:prstGeom prst="rect">
            <a:avLst/>
          </a:prstGeom>
          <a:noFill/>
          <a:ln/>
        </p:spPr>
        <p:txBody>
          <a:bodyPr wrap="square" lIns="0" tIns="0" rIns="0" bIns="0" rtlCol="0" anchor="ctr"/>
          <a:lstStyle/>
          <a:p>
            <a:pPr indent="0" marL="0">
              <a:buNone/>
            </a:pPr>
            <a:r>
              <a:rPr lang="en-US" sz="1150" b="1" spc="140" kern="0" dirty="0">
                <a:solidFill>
                  <a:srgbClr val="6B4A0E"/>
                </a:solidFill>
                <a:latin typeface="Calibri" pitchFamily="34" charset="0"/>
                <a:ea typeface="Calibri" pitchFamily="34" charset="-122"/>
                <a:cs typeface="Calibri" pitchFamily="34" charset="-120"/>
              </a:rPr>
              <a:t>Unowned is not unbudgeted</a:t>
            </a:r>
            <a:endParaRPr lang="en-US" sz="1150" dirty="0"/>
          </a:p>
        </p:txBody>
      </p:sp>
      <p:sp>
        <p:nvSpPr>
          <p:cNvPr id="37" name="Text 31"/>
          <p:cNvSpPr/>
          <p:nvPr/>
        </p:nvSpPr>
        <p:spPr>
          <a:xfrm>
            <a:off x="7836408" y="4608576"/>
            <a:ext cx="3529584" cy="1188720"/>
          </a:xfrm>
          <a:prstGeom prst="rect">
            <a:avLst/>
          </a:prstGeom>
          <a:noFill/>
          <a:ln/>
        </p:spPr>
        <p:txBody>
          <a:bodyPr wrap="square" lIns="0" tIns="0" rIns="0" bIns="0" rtlCol="0" anchor="t"/>
          <a:lstStyle/>
          <a:p>
            <a:pPr indent="0" marL="0">
              <a:lnSpc>
                <a:spcPts val="1700"/>
              </a:lnSpc>
              <a:buNone/>
            </a:pPr>
            <a:r>
              <a:rPr lang="en-US" sz="1250" dirty="0">
                <a:solidFill>
                  <a:srgbClr val="6B4A0E"/>
                </a:solidFill>
                <a:latin typeface="Calibri" pitchFamily="34" charset="0"/>
                <a:ea typeface="Calibri" pitchFamily="34" charset="-122"/>
                <a:cs typeface="Calibri" pitchFamily="34" charset="-120"/>
              </a:rPr>
              <a:t>A resource with no owner is charged to the central budget — the one place cost is hardest to challenge. Make ownership a deployment requirement, and give orphans a standing rule: no owner, no renewal.</a:t>
            </a:r>
            <a:endParaRPr lang="en-US" sz="1250" dirty="0"/>
          </a:p>
        </p:txBody>
      </p:sp>
      <p:sp>
        <p:nvSpPr>
          <p:cNvPr id="38" name="Text 32"/>
          <p:cNvSpPr/>
          <p:nvPr/>
        </p:nvSpPr>
        <p:spPr>
          <a:xfrm>
            <a:off x="548640" y="6053328"/>
            <a:ext cx="11091672" cy="40233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FinOps fails when it is one team's job — no single function above owns more than one line of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A report is not a control</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Three mechanisms, ordered by how fast each one acts on spend that is already running.</a:t>
            </a:r>
            <a:endParaRPr lang="en-US" sz="1500" dirty="0"/>
          </a:p>
        </p:txBody>
      </p:sp>
      <p:sp>
        <p:nvSpPr>
          <p:cNvPr id="5" name="Shape 3"/>
          <p:cNvSpPr/>
          <p:nvPr/>
        </p:nvSpPr>
        <p:spPr>
          <a:xfrm>
            <a:off x="548640" y="2212848"/>
            <a:ext cx="11091672" cy="1225296"/>
          </a:xfrm>
          <a:prstGeom prst="roundRect">
            <a:avLst>
              <a:gd name="adj" fmla="val 6716"/>
            </a:avLst>
          </a:prstGeom>
          <a:solidFill>
            <a:srgbClr val="1F2936"/>
          </a:solidFill>
          <a:ln/>
        </p:spPr>
      </p:sp>
      <p:sp>
        <p:nvSpPr>
          <p:cNvPr id="6" name="Shape 4"/>
          <p:cNvSpPr/>
          <p:nvPr/>
        </p:nvSpPr>
        <p:spPr>
          <a:xfrm>
            <a:off x="859536" y="2523744"/>
            <a:ext cx="512064" cy="512064"/>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87552" y="2651760"/>
            <a:ext cx="256032" cy="256032"/>
          </a:xfrm>
          <a:prstGeom prst="rect">
            <a:avLst/>
          </a:prstGeom>
        </p:spPr>
      </p:pic>
      <p:sp>
        <p:nvSpPr>
          <p:cNvPr id="8" name="Text 5"/>
          <p:cNvSpPr/>
          <p:nvPr/>
        </p:nvSpPr>
        <p:spPr>
          <a:xfrm>
            <a:off x="1517904" y="2359152"/>
            <a:ext cx="402336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Quotas and rate limits</a:t>
            </a:r>
            <a:endParaRPr lang="en-US" sz="1700" dirty="0"/>
          </a:p>
        </p:txBody>
      </p:sp>
      <p:sp>
        <p:nvSpPr>
          <p:cNvPr id="9" name="Text 6"/>
          <p:cNvSpPr/>
          <p:nvPr/>
        </p:nvSpPr>
        <p:spPr>
          <a:xfrm>
            <a:off x="1517904" y="2816352"/>
            <a:ext cx="4023360" cy="365760"/>
          </a:xfrm>
          <a:prstGeom prst="rect">
            <a:avLst/>
          </a:prstGeom>
          <a:noFill/>
          <a:ln/>
        </p:spPr>
        <p:txBody>
          <a:bodyPr wrap="square" lIns="0" tIns="0" rIns="0" bIns="0" rtlCol="0" anchor="ctr"/>
          <a:lstStyle/>
          <a:p>
            <a:pPr indent="0" marL="0">
              <a:buNone/>
            </a:pPr>
            <a:r>
              <a:rPr lang="en-US" sz="1200" b="1" dirty="0">
                <a:solidFill>
                  <a:srgbClr val="E39B2C"/>
                </a:solidFill>
                <a:latin typeface="Calibri" pitchFamily="34" charset="0"/>
                <a:ea typeface="Calibri" pitchFamily="34" charset="-122"/>
                <a:cs typeface="Calibri" pitchFamily="34" charset="-120"/>
              </a:rPr>
              <a:t>seconds</a:t>
            </a:r>
            <a:endParaRPr lang="en-US" sz="1200" dirty="0"/>
          </a:p>
        </p:txBody>
      </p:sp>
      <p:sp>
        <p:nvSpPr>
          <p:cNvPr id="10" name="Text 7"/>
          <p:cNvSpPr/>
          <p:nvPr/>
        </p:nvSpPr>
        <p:spPr>
          <a:xfrm>
            <a:off x="5760720" y="2395728"/>
            <a:ext cx="5852160" cy="914400"/>
          </a:xfrm>
          <a:prstGeom prst="rect">
            <a:avLst/>
          </a:prstGeom>
          <a:noFill/>
          <a:ln/>
        </p:spPr>
        <p:txBody>
          <a:bodyPr wrap="square" lIns="0" tIns="0" rIns="0" bIns="0" rtlCol="0" anchor="ctr"/>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Token and request caps, gateway throttling, autoscale ceilings. The only control that stops spend in progress — and reversible in minutes, which is what makes it safe to set.</a:t>
            </a:r>
            <a:endParaRPr lang="en-US" sz="1250" dirty="0"/>
          </a:p>
        </p:txBody>
      </p:sp>
      <p:sp>
        <p:nvSpPr>
          <p:cNvPr id="11" name="Shape 8"/>
          <p:cNvSpPr/>
          <p:nvPr/>
        </p:nvSpPr>
        <p:spPr>
          <a:xfrm>
            <a:off x="548640" y="3529584"/>
            <a:ext cx="11091672" cy="1225296"/>
          </a:xfrm>
          <a:prstGeom prst="roundRect">
            <a:avLst>
              <a:gd name="adj" fmla="val 6716"/>
            </a:avLst>
          </a:prstGeom>
          <a:solidFill>
            <a:srgbClr val="1F2936"/>
          </a:solidFill>
          <a:ln/>
        </p:spPr>
      </p:sp>
      <p:sp>
        <p:nvSpPr>
          <p:cNvPr id="12" name="Shape 9"/>
          <p:cNvSpPr/>
          <p:nvPr/>
        </p:nvSpPr>
        <p:spPr>
          <a:xfrm>
            <a:off x="859536" y="3840480"/>
            <a:ext cx="512064" cy="512064"/>
          </a:xfrm>
          <a:prstGeom prst="ellipse">
            <a:avLst/>
          </a:prstGeom>
          <a:solidFill>
            <a:srgbClr val="2E3A48"/>
          </a:solidFill>
          <a:ln/>
        </p:spPr>
      </p:sp>
      <p:pic>
        <p:nvPicPr>
          <p:cNvPr id="13" name="Image 1" descr="preencoded.png">    </p:cNvPr>
          <p:cNvPicPr>
            <a:picLocks noChangeAspect="1"/>
          </p:cNvPicPr>
          <p:nvPr/>
        </p:nvPicPr>
        <p:blipFill>
          <a:blip r:embed="rId2"/>
          <a:stretch>
            <a:fillRect/>
          </a:stretch>
        </p:blipFill>
        <p:spPr>
          <a:xfrm>
            <a:off x="987552" y="3968496"/>
            <a:ext cx="256032" cy="256032"/>
          </a:xfrm>
          <a:prstGeom prst="rect">
            <a:avLst/>
          </a:prstGeom>
        </p:spPr>
      </p:pic>
      <p:sp>
        <p:nvSpPr>
          <p:cNvPr id="14" name="Text 10"/>
          <p:cNvSpPr/>
          <p:nvPr/>
        </p:nvSpPr>
        <p:spPr>
          <a:xfrm>
            <a:off x="1517904" y="3675888"/>
            <a:ext cx="402336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Alerts, tiered by what they prevent</a:t>
            </a:r>
            <a:endParaRPr lang="en-US" sz="1700" dirty="0"/>
          </a:p>
        </p:txBody>
      </p:sp>
      <p:sp>
        <p:nvSpPr>
          <p:cNvPr id="15" name="Text 11"/>
          <p:cNvSpPr/>
          <p:nvPr/>
        </p:nvSpPr>
        <p:spPr>
          <a:xfrm>
            <a:off x="1517904" y="4133088"/>
            <a:ext cx="4023360" cy="365760"/>
          </a:xfrm>
          <a:prstGeom prst="rect">
            <a:avLst/>
          </a:prstGeom>
          <a:noFill/>
          <a:ln/>
        </p:spPr>
        <p:txBody>
          <a:bodyPr wrap="square" lIns="0" tIns="0" rIns="0" bIns="0" rtlCol="0" anchor="ctr"/>
          <a:lstStyle/>
          <a:p>
            <a:pPr indent="0" marL="0">
              <a:buNone/>
            </a:pPr>
            <a:r>
              <a:rPr lang="en-US" sz="1200" b="1" dirty="0">
                <a:solidFill>
                  <a:srgbClr val="E39B2C"/>
                </a:solidFill>
                <a:latin typeface="Calibri" pitchFamily="34" charset="0"/>
                <a:ea typeface="Calibri" pitchFamily="34" charset="-122"/>
                <a:cs typeface="Calibri" pitchFamily="34" charset="-120"/>
              </a:rPr>
              <a:t>minutes to days</a:t>
            </a:r>
            <a:endParaRPr lang="en-US" sz="1200" dirty="0"/>
          </a:p>
        </p:txBody>
      </p:sp>
      <p:sp>
        <p:nvSpPr>
          <p:cNvPr id="16" name="Text 12"/>
          <p:cNvSpPr/>
          <p:nvPr/>
        </p:nvSpPr>
        <p:spPr>
          <a:xfrm>
            <a:off x="5760720" y="3712464"/>
            <a:ext cx="5852160" cy="914400"/>
          </a:xfrm>
          <a:prstGeom prst="rect">
            <a:avLst/>
          </a:prstGeom>
          <a:noFill/>
          <a:ln/>
        </p:spPr>
        <p:txBody>
          <a:bodyPr wrap="square" lIns="0" tIns="0" rIns="0" bIns="0" rtlCol="0" anchor="ctr"/>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Usage-plane alerts page an owner. Billing-plane alerts go to a channel. Advisory alerts become tickets. Never page on a budget number — and alert on silence too, because a stopped feed looks like a good month.</a:t>
            </a:r>
            <a:endParaRPr lang="en-US" sz="1250" dirty="0"/>
          </a:p>
        </p:txBody>
      </p:sp>
      <p:sp>
        <p:nvSpPr>
          <p:cNvPr id="17" name="Shape 13"/>
          <p:cNvSpPr/>
          <p:nvPr/>
        </p:nvSpPr>
        <p:spPr>
          <a:xfrm>
            <a:off x="548640" y="4846320"/>
            <a:ext cx="11091672" cy="1225296"/>
          </a:xfrm>
          <a:prstGeom prst="roundRect">
            <a:avLst>
              <a:gd name="adj" fmla="val 6716"/>
            </a:avLst>
          </a:prstGeom>
          <a:solidFill>
            <a:srgbClr val="1F2936"/>
          </a:solidFill>
          <a:ln/>
        </p:spPr>
      </p:sp>
      <p:sp>
        <p:nvSpPr>
          <p:cNvPr id="18" name="Shape 14"/>
          <p:cNvSpPr/>
          <p:nvPr/>
        </p:nvSpPr>
        <p:spPr>
          <a:xfrm>
            <a:off x="859536" y="5157216"/>
            <a:ext cx="512064" cy="512064"/>
          </a:xfrm>
          <a:prstGeom prst="ellipse">
            <a:avLst/>
          </a:prstGeom>
          <a:solidFill>
            <a:srgbClr val="2E3A48"/>
          </a:solidFill>
          <a:ln/>
        </p:spPr>
      </p:sp>
      <p:pic>
        <p:nvPicPr>
          <p:cNvPr id="19" name="Image 2" descr="preencoded.png">    </p:cNvPr>
          <p:cNvPicPr>
            <a:picLocks noChangeAspect="1"/>
          </p:cNvPicPr>
          <p:nvPr/>
        </p:nvPicPr>
        <p:blipFill>
          <a:blip r:embed="rId3"/>
          <a:stretch>
            <a:fillRect/>
          </a:stretch>
        </p:blipFill>
        <p:spPr>
          <a:xfrm>
            <a:off x="987552" y="5285232"/>
            <a:ext cx="256032" cy="256032"/>
          </a:xfrm>
          <a:prstGeom prst="rect">
            <a:avLst/>
          </a:prstGeom>
        </p:spPr>
      </p:pic>
      <p:sp>
        <p:nvSpPr>
          <p:cNvPr id="20" name="Text 15"/>
          <p:cNvSpPr/>
          <p:nvPr/>
        </p:nvSpPr>
        <p:spPr>
          <a:xfrm>
            <a:off x="1517904" y="4992624"/>
            <a:ext cx="4023360" cy="45720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Budget thresholds</a:t>
            </a:r>
            <a:endParaRPr lang="en-US" sz="1700" dirty="0"/>
          </a:p>
        </p:txBody>
      </p:sp>
      <p:sp>
        <p:nvSpPr>
          <p:cNvPr id="21" name="Text 16"/>
          <p:cNvSpPr/>
          <p:nvPr/>
        </p:nvSpPr>
        <p:spPr>
          <a:xfrm>
            <a:off x="1517904" y="5449824"/>
            <a:ext cx="4023360" cy="365760"/>
          </a:xfrm>
          <a:prstGeom prst="rect">
            <a:avLst/>
          </a:prstGeom>
          <a:noFill/>
          <a:ln/>
        </p:spPr>
        <p:txBody>
          <a:bodyPr wrap="square" lIns="0" tIns="0" rIns="0" bIns="0" rtlCol="0" anchor="ctr"/>
          <a:lstStyle/>
          <a:p>
            <a:pPr indent="0" marL="0">
              <a:buNone/>
            </a:pPr>
            <a:r>
              <a:rPr lang="en-US" sz="1200" b="1" dirty="0">
                <a:solidFill>
                  <a:srgbClr val="2E8B7A"/>
                </a:solidFill>
                <a:latin typeface="Calibri" pitchFamily="34" charset="0"/>
                <a:ea typeface="Calibri" pitchFamily="34" charset="-122"/>
                <a:cs typeface="Calibri" pitchFamily="34" charset="-120"/>
              </a:rPr>
              <a:t>within the month</a:t>
            </a:r>
            <a:endParaRPr lang="en-US" sz="1200" dirty="0"/>
          </a:p>
        </p:txBody>
      </p:sp>
      <p:sp>
        <p:nvSpPr>
          <p:cNvPr id="22" name="Text 17"/>
          <p:cNvSpPr/>
          <p:nvPr/>
        </p:nvSpPr>
        <p:spPr>
          <a:xfrm>
            <a:off x="5760720" y="5029200"/>
            <a:ext cx="5852160" cy="914400"/>
          </a:xfrm>
          <a:prstGeom prst="rect">
            <a:avLst/>
          </a:prstGeom>
          <a:noFill/>
          <a:ln/>
        </p:spPr>
        <p:txBody>
          <a:bodyPr wrap="square" lIns="0" tIns="0" rIns="0" bIns="0" rtlCol="0" anchor="ctr"/>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Notify, review, gate — measured against the elapsed month, so day 10 at 60% of budget is the alert. A flat 80% fires on day 24 of a healthy month and day 8 of a catastrophic one.</a:t>
            </a:r>
            <a:endParaRPr lang="en-US" sz="1250" dirty="0"/>
          </a:p>
        </p:txBody>
      </p:sp>
      <p:sp>
        <p:nvSpPr>
          <p:cNvPr id="23" name="Text 18"/>
          <p:cNvSpPr/>
          <p:nvPr/>
        </p:nvSpPr>
        <p:spPr>
          <a:xfrm>
            <a:off x="548640" y="6199632"/>
            <a:ext cx="11091672" cy="45720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“A cost alert cannot save you from a runaway job — by the time the billing data moves, the money is spent.”</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TOOLING — A WORKED EXAMPLE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a FinOps platform adds: Finout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capabilities a dedicated platform brings over native billing consoles, and what to test before buying one.</a:t>
            </a:r>
            <a:endParaRPr lang="en-US" sz="1500" dirty="0"/>
          </a:p>
        </p:txBody>
      </p:sp>
      <p:sp>
        <p:nvSpPr>
          <p:cNvPr id="5" name="Shape 3"/>
          <p:cNvSpPr/>
          <p:nvPr/>
        </p:nvSpPr>
        <p:spPr>
          <a:xfrm>
            <a:off x="548640" y="2121408"/>
            <a:ext cx="3511296" cy="1719072"/>
          </a:xfrm>
          <a:prstGeom prst="roundRect">
            <a:avLst>
              <a:gd name="adj" fmla="val 4787"/>
            </a:avLst>
          </a:prstGeom>
          <a:solidFill>
            <a:srgbClr val="F1F3F6"/>
          </a:solidFill>
          <a:ln/>
        </p:spPr>
      </p:sp>
      <p:sp>
        <p:nvSpPr>
          <p:cNvPr id="6" name="Shape 4"/>
          <p:cNvSpPr/>
          <p:nvPr/>
        </p:nvSpPr>
        <p:spPr>
          <a:xfrm>
            <a:off x="841248" y="2359152"/>
            <a:ext cx="457200" cy="45720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55548" y="2473452"/>
            <a:ext cx="228600" cy="228600"/>
          </a:xfrm>
          <a:prstGeom prst="rect">
            <a:avLst/>
          </a:prstGeom>
        </p:spPr>
      </p:pic>
      <p:sp>
        <p:nvSpPr>
          <p:cNvPr id="8" name="Text 5"/>
          <p:cNvSpPr/>
          <p:nvPr/>
        </p:nvSpPr>
        <p:spPr>
          <a:xfrm>
            <a:off x="1426464"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One normalized bill</a:t>
            </a:r>
            <a:endParaRPr lang="en-US" sz="1500" dirty="0"/>
          </a:p>
        </p:txBody>
      </p:sp>
      <p:sp>
        <p:nvSpPr>
          <p:cNvPr id="9" name="Text 6"/>
          <p:cNvSpPr/>
          <p:nvPr/>
        </p:nvSpPr>
        <p:spPr>
          <a:xfrm>
            <a:off x="841248"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Cloud, SaaS and AI in one view — AWS, Azure, GCP, OCI, Kubernetes, Snowflake, Databricks, OpenAI, Anthropic. FOCUS supported.</a:t>
            </a:r>
            <a:endParaRPr lang="en-US" sz="1150" dirty="0"/>
          </a:p>
        </p:txBody>
      </p:sp>
      <p:sp>
        <p:nvSpPr>
          <p:cNvPr id="10" name="Shape 7"/>
          <p:cNvSpPr/>
          <p:nvPr/>
        </p:nvSpPr>
        <p:spPr>
          <a:xfrm>
            <a:off x="4334256" y="2121408"/>
            <a:ext cx="3511296" cy="1719072"/>
          </a:xfrm>
          <a:prstGeom prst="roundRect">
            <a:avLst>
              <a:gd name="adj" fmla="val 4787"/>
            </a:avLst>
          </a:prstGeom>
          <a:solidFill>
            <a:srgbClr val="F1F3F6"/>
          </a:solidFill>
          <a:ln/>
        </p:spPr>
      </p:sp>
      <p:sp>
        <p:nvSpPr>
          <p:cNvPr id="11" name="Shape 8"/>
          <p:cNvSpPr/>
          <p:nvPr/>
        </p:nvSpPr>
        <p:spPr>
          <a:xfrm>
            <a:off x="4626864" y="2359152"/>
            <a:ext cx="457200" cy="45720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41164" y="2473452"/>
            <a:ext cx="228600" cy="228600"/>
          </a:xfrm>
          <a:prstGeom prst="rect">
            <a:avLst/>
          </a:prstGeom>
        </p:spPr>
      </p:pic>
      <p:sp>
        <p:nvSpPr>
          <p:cNvPr id="13" name="Text 9"/>
          <p:cNvSpPr/>
          <p:nvPr/>
        </p:nvSpPr>
        <p:spPr>
          <a:xfrm>
            <a:off x="5212080"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Virtual tags</a:t>
            </a:r>
            <a:endParaRPr lang="en-US" sz="1500" dirty="0"/>
          </a:p>
        </p:txBody>
      </p:sp>
      <p:sp>
        <p:nvSpPr>
          <p:cNvPr id="14" name="Text 10"/>
          <p:cNvSpPr/>
          <p:nvPr/>
        </p:nvSpPr>
        <p:spPr>
          <a:xfrm>
            <a:off x="4626864"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Allocates untagged and shared cost by rule, without touching infrastructure tags — showback without a retagging project.</a:t>
            </a:r>
            <a:endParaRPr lang="en-US" sz="1150" dirty="0"/>
          </a:p>
        </p:txBody>
      </p:sp>
      <p:sp>
        <p:nvSpPr>
          <p:cNvPr id="15" name="Shape 11"/>
          <p:cNvSpPr/>
          <p:nvPr/>
        </p:nvSpPr>
        <p:spPr>
          <a:xfrm>
            <a:off x="8119872" y="2121408"/>
            <a:ext cx="3511296" cy="1719072"/>
          </a:xfrm>
          <a:prstGeom prst="roundRect">
            <a:avLst>
              <a:gd name="adj" fmla="val 4787"/>
            </a:avLst>
          </a:prstGeom>
          <a:solidFill>
            <a:srgbClr val="F1F3F6"/>
          </a:solidFill>
          <a:ln/>
        </p:spPr>
      </p:sp>
      <p:sp>
        <p:nvSpPr>
          <p:cNvPr id="16" name="Shape 12"/>
          <p:cNvSpPr/>
          <p:nvPr/>
        </p:nvSpPr>
        <p:spPr>
          <a:xfrm>
            <a:off x="8412480" y="2359152"/>
            <a:ext cx="457200" cy="45720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26780" y="2473452"/>
            <a:ext cx="228600" cy="228600"/>
          </a:xfrm>
          <a:prstGeom prst="rect">
            <a:avLst/>
          </a:prstGeom>
        </p:spPr>
      </p:pic>
      <p:sp>
        <p:nvSpPr>
          <p:cNvPr id="18" name="Text 13"/>
          <p:cNvSpPr/>
          <p:nvPr/>
        </p:nvSpPr>
        <p:spPr>
          <a:xfrm>
            <a:off x="8997696" y="2340864"/>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Kubernetes to pod level</a:t>
            </a:r>
            <a:endParaRPr lang="en-US" sz="1500" dirty="0"/>
          </a:p>
        </p:txBody>
      </p:sp>
      <p:sp>
        <p:nvSpPr>
          <p:cNvPr id="19" name="Text 14"/>
          <p:cNvSpPr/>
          <p:nvPr/>
        </p:nvSpPr>
        <p:spPr>
          <a:xfrm>
            <a:off x="8412480" y="2907792"/>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Cluster, namespace and pod allocation without an agent, which is the shared-cost problem most tools leave unsolved.</a:t>
            </a:r>
            <a:endParaRPr lang="en-US" sz="1150" dirty="0"/>
          </a:p>
        </p:txBody>
      </p:sp>
      <p:sp>
        <p:nvSpPr>
          <p:cNvPr id="20" name="Shape 15"/>
          <p:cNvSpPr/>
          <p:nvPr/>
        </p:nvSpPr>
        <p:spPr>
          <a:xfrm>
            <a:off x="548640" y="3986784"/>
            <a:ext cx="3511296" cy="1719072"/>
          </a:xfrm>
          <a:prstGeom prst="roundRect">
            <a:avLst>
              <a:gd name="adj" fmla="val 4787"/>
            </a:avLst>
          </a:prstGeom>
          <a:solidFill>
            <a:srgbClr val="F1F3F6"/>
          </a:solidFill>
          <a:ln/>
        </p:spPr>
      </p:sp>
      <p:sp>
        <p:nvSpPr>
          <p:cNvPr id="21" name="Shape 16"/>
          <p:cNvSpPr/>
          <p:nvPr/>
        </p:nvSpPr>
        <p:spPr>
          <a:xfrm>
            <a:off x="841248" y="4224528"/>
            <a:ext cx="457200" cy="45720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55548" y="4338828"/>
            <a:ext cx="228600" cy="228600"/>
          </a:xfrm>
          <a:prstGeom prst="rect">
            <a:avLst/>
          </a:prstGeom>
        </p:spPr>
      </p:pic>
      <p:sp>
        <p:nvSpPr>
          <p:cNvPr id="23" name="Text 17"/>
          <p:cNvSpPr/>
          <p:nvPr/>
        </p:nvSpPr>
        <p:spPr>
          <a:xfrm>
            <a:off x="1426464"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Dashboards and unit economics</a:t>
            </a:r>
            <a:endParaRPr lang="en-US" sz="1500" dirty="0"/>
          </a:p>
        </p:txBody>
      </p:sp>
      <p:sp>
        <p:nvSpPr>
          <p:cNvPr id="24" name="Text 18"/>
          <p:cNvSpPr/>
          <p:nvPr/>
        </p:nvSpPr>
        <p:spPr>
          <a:xfrm>
            <a:off x="841248"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Widgets for cost, usage, waste, budget and unit cost; business metrics from Datadog, Salesforce or Looker to divide by.</a:t>
            </a:r>
            <a:endParaRPr lang="en-US" sz="1150" dirty="0"/>
          </a:p>
        </p:txBody>
      </p:sp>
      <p:sp>
        <p:nvSpPr>
          <p:cNvPr id="25" name="Shape 19"/>
          <p:cNvSpPr/>
          <p:nvPr/>
        </p:nvSpPr>
        <p:spPr>
          <a:xfrm>
            <a:off x="4334256" y="3986784"/>
            <a:ext cx="3511296" cy="1719072"/>
          </a:xfrm>
          <a:prstGeom prst="roundRect">
            <a:avLst>
              <a:gd name="adj" fmla="val 4787"/>
            </a:avLst>
          </a:prstGeom>
          <a:solidFill>
            <a:srgbClr val="F1F3F6"/>
          </a:solidFill>
          <a:ln/>
        </p:spPr>
      </p:sp>
      <p:sp>
        <p:nvSpPr>
          <p:cNvPr id="26" name="Shape 20"/>
          <p:cNvSpPr/>
          <p:nvPr/>
        </p:nvSpPr>
        <p:spPr>
          <a:xfrm>
            <a:off x="4626864" y="4224528"/>
            <a:ext cx="457200" cy="45720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41164" y="4338828"/>
            <a:ext cx="228600" cy="228600"/>
          </a:xfrm>
          <a:prstGeom prst="rect">
            <a:avLst/>
          </a:prstGeom>
        </p:spPr>
      </p:pic>
      <p:sp>
        <p:nvSpPr>
          <p:cNvPr id="28" name="Text 21"/>
          <p:cNvSpPr/>
          <p:nvPr/>
        </p:nvSpPr>
        <p:spPr>
          <a:xfrm>
            <a:off x="5212080"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Budgets, forecast, anomalies</a:t>
            </a:r>
            <a:endParaRPr lang="en-US" sz="1500" dirty="0"/>
          </a:p>
        </p:txBody>
      </p:sp>
      <p:sp>
        <p:nvSpPr>
          <p:cNvPr id="29" name="Text 22"/>
          <p:cNvSpPr/>
          <p:nvPr/>
        </p:nvSpPr>
        <p:spPr>
          <a:xfrm>
            <a:off x="4626864"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Budget structures, forecasting on any unit cost, and anomaly alerts on unexpected movement.</a:t>
            </a:r>
            <a:endParaRPr lang="en-US" sz="1150" dirty="0"/>
          </a:p>
        </p:txBody>
      </p:sp>
      <p:sp>
        <p:nvSpPr>
          <p:cNvPr id="30" name="Shape 23"/>
          <p:cNvSpPr/>
          <p:nvPr/>
        </p:nvSpPr>
        <p:spPr>
          <a:xfrm>
            <a:off x="8119872" y="3986784"/>
            <a:ext cx="3511296" cy="1719072"/>
          </a:xfrm>
          <a:prstGeom prst="roundRect">
            <a:avLst>
              <a:gd name="adj" fmla="val 4787"/>
            </a:avLst>
          </a:prstGeom>
          <a:solidFill>
            <a:srgbClr val="F1F3F6"/>
          </a:solidFill>
          <a:ln/>
        </p:spPr>
      </p:sp>
      <p:sp>
        <p:nvSpPr>
          <p:cNvPr id="31" name="Shape 24"/>
          <p:cNvSpPr/>
          <p:nvPr/>
        </p:nvSpPr>
        <p:spPr>
          <a:xfrm>
            <a:off x="8412480" y="4224528"/>
            <a:ext cx="457200" cy="45720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26780" y="4338828"/>
            <a:ext cx="228600" cy="228600"/>
          </a:xfrm>
          <a:prstGeom prst="rect">
            <a:avLst/>
          </a:prstGeom>
        </p:spPr>
      </p:pic>
      <p:sp>
        <p:nvSpPr>
          <p:cNvPr id="33" name="Text 25"/>
          <p:cNvSpPr/>
          <p:nvPr/>
        </p:nvSpPr>
        <p:spPr>
          <a:xfrm>
            <a:off x="8997696" y="4206240"/>
            <a:ext cx="2468880" cy="493776"/>
          </a:xfrm>
          <a:prstGeom prst="rect">
            <a:avLst/>
          </a:prstGeom>
          <a:noFill/>
          <a:ln/>
        </p:spPr>
        <p:txBody>
          <a:bodyPr wrap="square" lIns="0" tIns="0" rIns="0" bIns="0" rtlCol="0" anchor="ctr"/>
          <a:lstStyle/>
          <a:p>
            <a:pPr indent="0" marL="0">
              <a:buNone/>
            </a:pPr>
            <a:r>
              <a:rPr lang="en-US" sz="1500" b="1" dirty="0">
                <a:solidFill>
                  <a:srgbClr val="1B2430"/>
                </a:solidFill>
                <a:latin typeface="Cambria" pitchFamily="34" charset="0"/>
                <a:ea typeface="Cambria" pitchFamily="34" charset="-122"/>
                <a:cs typeface="Cambria" pitchFamily="34" charset="-120"/>
              </a:rPr>
              <a:t>Waste detection with an owner</a:t>
            </a:r>
            <a:endParaRPr lang="en-US" sz="1500" dirty="0"/>
          </a:p>
        </p:txBody>
      </p:sp>
      <p:sp>
        <p:nvSpPr>
          <p:cNvPr id="34" name="Text 26"/>
          <p:cNvSpPr/>
          <p:nvPr/>
        </p:nvSpPr>
        <p:spPr>
          <a:xfrm>
            <a:off x="8412480" y="4773168"/>
            <a:ext cx="2926080" cy="859536"/>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CostGuard consolidates recommendations across providers, assigns an owner and tracks the saving — into Jira, Slack or ServiceNow.</a:t>
            </a:r>
            <a:endParaRPr lang="en-US" sz="1150" dirty="0"/>
          </a:p>
        </p:txBody>
      </p:sp>
      <p:sp>
        <p:nvSpPr>
          <p:cNvPr id="35" name="Shape 27"/>
          <p:cNvSpPr/>
          <p:nvPr/>
        </p:nvSpPr>
        <p:spPr>
          <a:xfrm>
            <a:off x="548640" y="5852160"/>
            <a:ext cx="11091672" cy="786384"/>
          </a:xfrm>
          <a:prstGeom prst="roundRect">
            <a:avLst>
              <a:gd name="adj" fmla="val 10465"/>
            </a:avLst>
          </a:prstGeom>
          <a:solidFill>
            <a:srgbClr val="1F2936"/>
          </a:solidFill>
          <a:ln/>
          <a:effectLst>
            <a:outerShdw sx="100000" sy="100000" kx="0" ky="0" algn="bl" rotWithShape="0" blurRad="127000" dist="25400" dir="5400000">
              <a:srgbClr val="8C99A8">
                <a:alpha val="16000"/>
              </a:srgbClr>
            </a:outerShdw>
          </a:effectLst>
        </p:spPr>
      </p:sp>
      <p:sp>
        <p:nvSpPr>
          <p:cNvPr id="36" name="Text 28"/>
          <p:cNvSpPr/>
          <p:nvPr/>
        </p:nvSpPr>
        <p:spPr>
          <a:xfrm>
            <a:off x="877824" y="5852160"/>
            <a:ext cx="10424160" cy="786384"/>
          </a:xfrm>
          <a:prstGeom prst="rect">
            <a:avLst/>
          </a:prstGeom>
          <a:noFill/>
          <a:ln/>
        </p:spPr>
        <p:txBody>
          <a:bodyPr wrap="square" lIns="0" tIns="0" rIns="0" bIns="0" rtlCol="0" anchor="ctr"/>
          <a:lstStyle/>
          <a:p>
            <a:pPr indent="0" marL="0">
              <a:lnSpc>
                <a:spcPts val="1600"/>
              </a:lnSpc>
              <a:buNone/>
            </a:pPr>
            <a:r>
              <a:rPr lang="en-US" sz="1200" b="1" dirty="0">
                <a:solidFill>
                  <a:srgbClr val="E39B2C"/>
                </a:solidFill>
                <a:latin typeface="Calibri" pitchFamily="34" charset="0"/>
                <a:ea typeface="Calibri" pitchFamily="34" charset="-122"/>
                <a:cs typeface="Calibri" pitchFamily="34" charset="-120"/>
              </a:rPr>
              <a:t>Before buying, prove three things on our own data:  </a:t>
            </a:r>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that it allocates the spend we cannot allocate today, that it attributes Azure OpenAI cost per calling application rather than per resource, and that it exports FOCUS so we are not locked in. Vendor-published outcomes — around 30% cost reduction and 50% engineer time saved — are marketing claims, not a forecast for us.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 and what it buys</a:t>
            </a:r>
            <a:endParaRPr lang="en-US" sz="3100" dirty="0"/>
          </a:p>
        </p:txBody>
      </p:sp>
      <p:sp>
        <p:nvSpPr>
          <p:cNvPr id="4" name="Shape 2"/>
          <p:cNvSpPr/>
          <p:nvPr/>
        </p:nvSpPr>
        <p:spPr>
          <a:xfrm>
            <a:off x="548640" y="1965960"/>
            <a:ext cx="2587752" cy="2194560"/>
          </a:xfrm>
          <a:prstGeom prst="roundRect">
            <a:avLst>
              <a:gd name="adj" fmla="val 3750"/>
            </a:avLst>
          </a:prstGeom>
          <a:solidFill>
            <a:srgbClr val="1F2936"/>
          </a:solidFill>
          <a:ln/>
        </p:spPr>
      </p:sp>
      <p:sp>
        <p:nvSpPr>
          <p:cNvPr id="5" name="Text 3"/>
          <p:cNvSpPr/>
          <p:nvPr/>
        </p:nvSpPr>
        <p:spPr>
          <a:xfrm>
            <a:off x="804672" y="2139696"/>
            <a:ext cx="1097280" cy="457200"/>
          </a:xfrm>
          <a:prstGeom prst="rect">
            <a:avLst/>
          </a:prstGeom>
          <a:noFill/>
          <a:ln/>
        </p:spPr>
        <p:txBody>
          <a:bodyPr wrap="square" lIns="0" tIns="0" rIns="0" bIns="0" rtlCol="0" anchor="ctr"/>
          <a:lstStyle/>
          <a:p>
            <a:pPr indent="0" marL="0">
              <a:buNone/>
            </a:pPr>
            <a:r>
              <a:rPr lang="en-US" sz="2600" b="1" dirty="0">
                <a:solidFill>
                  <a:srgbClr val="E39B2C"/>
                </a:solidFill>
                <a:latin typeface="Cambria" pitchFamily="34" charset="0"/>
                <a:ea typeface="Cambria" pitchFamily="34" charset="-122"/>
                <a:cs typeface="Cambria" pitchFamily="34" charset="-120"/>
              </a:rPr>
              <a:t>01</a:t>
            </a:r>
            <a:endParaRPr lang="en-US" sz="2600" dirty="0"/>
          </a:p>
        </p:txBody>
      </p:sp>
      <p:sp>
        <p:nvSpPr>
          <p:cNvPr id="6" name="Text 4"/>
          <p:cNvSpPr/>
          <p:nvPr/>
        </p:nvSpPr>
        <p:spPr>
          <a:xfrm>
            <a:off x="804672" y="2651760"/>
            <a:ext cx="2103120" cy="548640"/>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Tagging standard</a:t>
            </a:r>
            <a:endParaRPr lang="en-US" sz="1500" dirty="0"/>
          </a:p>
        </p:txBody>
      </p:sp>
      <p:sp>
        <p:nvSpPr>
          <p:cNvPr id="7" name="Text 5"/>
          <p:cNvSpPr/>
          <p:nvPr/>
        </p:nvSpPr>
        <p:spPr>
          <a:xfrm>
            <a:off x="804672" y="3218688"/>
            <a:ext cx="2103120" cy="786384"/>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Agreed and enforced at deployment, with an owner per application.</a:t>
            </a:r>
            <a:endParaRPr lang="en-US" sz="1200" dirty="0"/>
          </a:p>
        </p:txBody>
      </p:sp>
      <p:sp>
        <p:nvSpPr>
          <p:cNvPr id="8" name="Shape 6"/>
          <p:cNvSpPr/>
          <p:nvPr/>
        </p:nvSpPr>
        <p:spPr>
          <a:xfrm>
            <a:off x="3383280" y="1965960"/>
            <a:ext cx="2587752" cy="2194560"/>
          </a:xfrm>
          <a:prstGeom prst="roundRect">
            <a:avLst>
              <a:gd name="adj" fmla="val 3750"/>
            </a:avLst>
          </a:prstGeom>
          <a:solidFill>
            <a:srgbClr val="F1F3F6"/>
          </a:solidFill>
          <a:ln/>
        </p:spPr>
      </p:sp>
      <p:sp>
        <p:nvSpPr>
          <p:cNvPr id="9" name="Text 7"/>
          <p:cNvSpPr/>
          <p:nvPr/>
        </p:nvSpPr>
        <p:spPr>
          <a:xfrm>
            <a:off x="3639312" y="2139696"/>
            <a:ext cx="1097280" cy="457200"/>
          </a:xfrm>
          <a:prstGeom prst="rect">
            <a:avLst/>
          </a:prstGeom>
          <a:noFill/>
          <a:ln/>
        </p:spPr>
        <p:txBody>
          <a:bodyPr wrap="square" lIns="0" tIns="0" rIns="0" bIns="0" rtlCol="0" anchor="ctr"/>
          <a:lstStyle/>
          <a:p>
            <a:pPr indent="0" marL="0">
              <a:buNone/>
            </a:pPr>
            <a:r>
              <a:rPr lang="en-US" sz="2600" b="1" dirty="0">
                <a:solidFill>
                  <a:srgbClr val="B9C2CD"/>
                </a:solidFill>
                <a:latin typeface="Cambria" pitchFamily="34" charset="0"/>
                <a:ea typeface="Cambria" pitchFamily="34" charset="-122"/>
                <a:cs typeface="Cambria" pitchFamily="34" charset="-120"/>
              </a:rPr>
              <a:t>02</a:t>
            </a:r>
            <a:endParaRPr lang="en-US" sz="2600" dirty="0"/>
          </a:p>
        </p:txBody>
      </p:sp>
      <p:sp>
        <p:nvSpPr>
          <p:cNvPr id="10" name="Text 8"/>
          <p:cNvSpPr/>
          <p:nvPr/>
        </p:nvSpPr>
        <p:spPr>
          <a:xfrm>
            <a:off x="3639312" y="2651760"/>
            <a:ext cx="2103120" cy="548640"/>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Biggest spend first</a:t>
            </a:r>
            <a:endParaRPr lang="en-US" sz="1500" dirty="0"/>
          </a:p>
        </p:txBody>
      </p:sp>
      <p:sp>
        <p:nvSpPr>
          <p:cNvPr id="11" name="Text 9"/>
          <p:cNvSpPr/>
          <p:nvPr/>
        </p:nvSpPr>
        <p:spPr>
          <a:xfrm>
            <a:off x="3639312" y="3218688"/>
            <a:ext cx="2103120" cy="786384"/>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Perfect granularity everywhere is a trap.</a:t>
            </a:r>
            <a:endParaRPr lang="en-US" sz="1200" dirty="0"/>
          </a:p>
        </p:txBody>
      </p:sp>
      <p:sp>
        <p:nvSpPr>
          <p:cNvPr id="12" name="Shape 10"/>
          <p:cNvSpPr/>
          <p:nvPr/>
        </p:nvSpPr>
        <p:spPr>
          <a:xfrm>
            <a:off x="6217920" y="1965960"/>
            <a:ext cx="2587752" cy="2194560"/>
          </a:xfrm>
          <a:prstGeom prst="roundRect">
            <a:avLst>
              <a:gd name="adj" fmla="val 3750"/>
            </a:avLst>
          </a:prstGeom>
          <a:solidFill>
            <a:srgbClr val="F1F3F6"/>
          </a:solidFill>
          <a:ln/>
        </p:spPr>
      </p:sp>
      <p:sp>
        <p:nvSpPr>
          <p:cNvPr id="13" name="Text 11"/>
          <p:cNvSpPr/>
          <p:nvPr/>
        </p:nvSpPr>
        <p:spPr>
          <a:xfrm>
            <a:off x="6473952" y="2139696"/>
            <a:ext cx="1097280" cy="457200"/>
          </a:xfrm>
          <a:prstGeom prst="rect">
            <a:avLst/>
          </a:prstGeom>
          <a:noFill/>
          <a:ln/>
        </p:spPr>
        <p:txBody>
          <a:bodyPr wrap="square" lIns="0" tIns="0" rIns="0" bIns="0" rtlCol="0" anchor="ctr"/>
          <a:lstStyle/>
          <a:p>
            <a:pPr indent="0" marL="0">
              <a:buNone/>
            </a:pPr>
            <a:r>
              <a:rPr lang="en-US" sz="2600" b="1" dirty="0">
                <a:solidFill>
                  <a:srgbClr val="B9C2CD"/>
                </a:solidFill>
                <a:latin typeface="Cambria" pitchFamily="34" charset="0"/>
                <a:ea typeface="Cambria" pitchFamily="34" charset="-122"/>
                <a:cs typeface="Cambria" pitchFamily="34" charset="-120"/>
              </a:rPr>
              <a:t>03</a:t>
            </a:r>
            <a:endParaRPr lang="en-US" sz="2600" dirty="0"/>
          </a:p>
        </p:txBody>
      </p:sp>
      <p:sp>
        <p:nvSpPr>
          <p:cNvPr id="14" name="Text 12"/>
          <p:cNvSpPr/>
          <p:nvPr/>
        </p:nvSpPr>
        <p:spPr>
          <a:xfrm>
            <a:off x="6473952" y="2651760"/>
            <a:ext cx="2103120" cy="548640"/>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Guardrails on</a:t>
            </a:r>
            <a:endParaRPr lang="en-US" sz="1500" dirty="0"/>
          </a:p>
        </p:txBody>
      </p:sp>
      <p:sp>
        <p:nvSpPr>
          <p:cNvPr id="15" name="Text 13"/>
          <p:cNvSpPr/>
          <p:nvPr/>
        </p:nvSpPr>
        <p:spPr>
          <a:xfrm>
            <a:off x="6473952" y="3218688"/>
            <a:ext cx="2103120" cy="786384"/>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Quotas and budget thresholds before they are needed, not after.</a:t>
            </a:r>
            <a:endParaRPr lang="en-US" sz="1200" dirty="0"/>
          </a:p>
        </p:txBody>
      </p:sp>
      <p:sp>
        <p:nvSpPr>
          <p:cNvPr id="16" name="Shape 14"/>
          <p:cNvSpPr/>
          <p:nvPr/>
        </p:nvSpPr>
        <p:spPr>
          <a:xfrm>
            <a:off x="9052560" y="1965960"/>
            <a:ext cx="2587752" cy="2194560"/>
          </a:xfrm>
          <a:prstGeom prst="roundRect">
            <a:avLst>
              <a:gd name="adj" fmla="val 3750"/>
            </a:avLst>
          </a:prstGeom>
          <a:solidFill>
            <a:srgbClr val="F1F3F6"/>
          </a:solidFill>
          <a:ln/>
        </p:spPr>
      </p:sp>
      <p:sp>
        <p:nvSpPr>
          <p:cNvPr id="17" name="Text 15"/>
          <p:cNvSpPr/>
          <p:nvPr/>
        </p:nvSpPr>
        <p:spPr>
          <a:xfrm>
            <a:off x="9308592" y="2139696"/>
            <a:ext cx="1097280" cy="457200"/>
          </a:xfrm>
          <a:prstGeom prst="rect">
            <a:avLst/>
          </a:prstGeom>
          <a:noFill/>
          <a:ln/>
        </p:spPr>
        <p:txBody>
          <a:bodyPr wrap="square" lIns="0" tIns="0" rIns="0" bIns="0" rtlCol="0" anchor="ctr"/>
          <a:lstStyle/>
          <a:p>
            <a:pPr indent="0" marL="0">
              <a:buNone/>
            </a:pPr>
            <a:r>
              <a:rPr lang="en-US" sz="2600" b="1" dirty="0">
                <a:solidFill>
                  <a:srgbClr val="B9C2CD"/>
                </a:solidFill>
                <a:latin typeface="Cambria" pitchFamily="34" charset="0"/>
                <a:ea typeface="Cambria" pitchFamily="34" charset="-122"/>
                <a:cs typeface="Cambria" pitchFamily="34" charset="-120"/>
              </a:rPr>
              <a:t>04</a:t>
            </a:r>
            <a:endParaRPr lang="en-US" sz="2600" dirty="0"/>
          </a:p>
        </p:txBody>
      </p:sp>
      <p:sp>
        <p:nvSpPr>
          <p:cNvPr id="18" name="Text 16"/>
          <p:cNvSpPr/>
          <p:nvPr/>
        </p:nvSpPr>
        <p:spPr>
          <a:xfrm>
            <a:off x="9308592" y="2651760"/>
            <a:ext cx="2103120" cy="548640"/>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Finance in the room</a:t>
            </a:r>
            <a:endParaRPr lang="en-US" sz="1500" dirty="0"/>
          </a:p>
        </p:txBody>
      </p:sp>
      <p:sp>
        <p:nvSpPr>
          <p:cNvPr id="19" name="Text 17"/>
          <p:cNvSpPr/>
          <p:nvPr/>
        </p:nvSpPr>
        <p:spPr>
          <a:xfrm>
            <a:off x="9308592" y="3218688"/>
            <a:ext cx="2103120" cy="786384"/>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 monthly review with real numbers, and a date for chargeback.</a:t>
            </a:r>
            <a:endParaRPr lang="en-US" sz="1200" dirty="0"/>
          </a:p>
        </p:txBody>
      </p:sp>
      <p:sp>
        <p:nvSpPr>
          <p:cNvPr id="20" name="Shape 18"/>
          <p:cNvSpPr/>
          <p:nvPr/>
        </p:nvSpPr>
        <p:spPr>
          <a:xfrm>
            <a:off x="548640" y="4370832"/>
            <a:ext cx="5394960" cy="1691640"/>
          </a:xfrm>
          <a:prstGeom prst="roundRect">
            <a:avLst>
              <a:gd name="adj" fmla="val 4865"/>
            </a:avLst>
          </a:prstGeom>
          <a:solidFill>
            <a:srgbClr val="F1F3F6"/>
          </a:solidFill>
          <a:ln/>
        </p:spPr>
      </p:sp>
      <p:sp>
        <p:nvSpPr>
          <p:cNvPr id="21" name="Text 19"/>
          <p:cNvSpPr/>
          <p:nvPr/>
        </p:nvSpPr>
        <p:spPr>
          <a:xfrm>
            <a:off x="859536" y="4535424"/>
            <a:ext cx="4572000" cy="274320"/>
          </a:xfrm>
          <a:prstGeom prst="rect">
            <a:avLst/>
          </a:prstGeom>
          <a:noFill/>
          <a:ln/>
        </p:spPr>
        <p:txBody>
          <a:bodyPr wrap="square" lIns="0" tIns="0" rIns="0" bIns="0" rtlCol="0" anchor="ctr"/>
          <a:lstStyle/>
          <a:p>
            <a:pPr indent="0" marL="0">
              <a:buNone/>
            </a:pPr>
            <a:r>
              <a:rPr lang="en-US" sz="1150" b="1" spc="140" kern="0" dirty="0">
                <a:solidFill>
                  <a:srgbClr val="5C6675"/>
                </a:solidFill>
                <a:latin typeface="Calibri" pitchFamily="34" charset="0"/>
                <a:ea typeface="Calibri" pitchFamily="34" charset="-122"/>
                <a:cs typeface="Calibri" pitchFamily="34" charset="-120"/>
              </a:rPr>
              <a:t>How we will know it is working</a:t>
            </a:r>
            <a:endParaRPr lang="en-US" sz="1150" dirty="0"/>
          </a:p>
        </p:txBody>
      </p:sp>
      <p:sp>
        <p:nvSpPr>
          <p:cNvPr id="22" name="Text 20"/>
          <p:cNvSpPr/>
          <p:nvPr/>
        </p:nvSpPr>
        <p:spPr>
          <a:xfrm>
            <a:off x="859536" y="4882896"/>
            <a:ext cx="237744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Allocation coverage</a:t>
            </a:r>
            <a:endParaRPr lang="en-US" sz="1250" dirty="0"/>
          </a:p>
        </p:txBody>
      </p:sp>
      <p:sp>
        <p:nvSpPr>
          <p:cNvPr id="23" name="Text 21"/>
          <p:cNvSpPr/>
          <p:nvPr/>
        </p:nvSpPr>
        <p:spPr>
          <a:xfrm>
            <a:off x="3291840" y="4882896"/>
            <a:ext cx="2340864" cy="292608"/>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under 5%, reported weekly</a:t>
            </a:r>
            <a:endParaRPr lang="en-US" sz="1250" dirty="0"/>
          </a:p>
        </p:txBody>
      </p:sp>
      <p:sp>
        <p:nvSpPr>
          <p:cNvPr id="24" name="Text 22"/>
          <p:cNvSpPr/>
          <p:nvPr/>
        </p:nvSpPr>
        <p:spPr>
          <a:xfrm>
            <a:off x="859536" y="5212080"/>
            <a:ext cx="237744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Time to attribute a spike</a:t>
            </a:r>
            <a:endParaRPr lang="en-US" sz="1250" dirty="0"/>
          </a:p>
        </p:txBody>
      </p:sp>
      <p:sp>
        <p:nvSpPr>
          <p:cNvPr id="25" name="Text 23"/>
          <p:cNvSpPr/>
          <p:nvPr/>
        </p:nvSpPr>
        <p:spPr>
          <a:xfrm>
            <a:off x="3291840" y="5212080"/>
            <a:ext cx="2340864" cy="292608"/>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hours, not days</a:t>
            </a:r>
            <a:endParaRPr lang="en-US" sz="1250" dirty="0"/>
          </a:p>
        </p:txBody>
      </p:sp>
      <p:sp>
        <p:nvSpPr>
          <p:cNvPr id="26" name="Text 24"/>
          <p:cNvSpPr/>
          <p:nvPr/>
        </p:nvSpPr>
        <p:spPr>
          <a:xfrm>
            <a:off x="859536" y="5541264"/>
            <a:ext cx="2377440" cy="292608"/>
          </a:xfrm>
          <a:prstGeom prst="rect">
            <a:avLst/>
          </a:prstGeom>
          <a:noFill/>
          <a:ln/>
        </p:spPr>
        <p:txBody>
          <a:bodyPr wrap="square" lIns="0" tIns="0" rIns="0" bIns="0" rtlCol="0" anchor="ctr"/>
          <a:lstStyle/>
          <a:p>
            <a:pPr indent="0" marL="0">
              <a:buNone/>
            </a:pPr>
            <a:r>
              <a:rPr lang="en-US" sz="1250" b="1" dirty="0">
                <a:solidFill>
                  <a:srgbClr val="1B2430"/>
                </a:solidFill>
                <a:latin typeface="Calibri" pitchFamily="34" charset="0"/>
                <a:ea typeface="Calibri" pitchFamily="34" charset="-122"/>
                <a:cs typeface="Calibri" pitchFamily="34" charset="-120"/>
              </a:rPr>
              <a:t>Findings owned and dated</a:t>
            </a:r>
            <a:endParaRPr lang="en-US" sz="1250" dirty="0"/>
          </a:p>
        </p:txBody>
      </p:sp>
      <p:sp>
        <p:nvSpPr>
          <p:cNvPr id="27" name="Text 25"/>
          <p:cNvSpPr/>
          <p:nvPr/>
        </p:nvSpPr>
        <p:spPr>
          <a:xfrm>
            <a:off x="3291840" y="5541264"/>
            <a:ext cx="2340864" cy="292608"/>
          </a:xfrm>
          <a:prstGeom prst="rect">
            <a:avLst/>
          </a:prstGeom>
          <a:noFill/>
          <a:ln/>
        </p:spPr>
        <p:txBody>
          <a:bodyPr wrap="square" lIns="0" tIns="0" rIns="0" bIns="0" rtlCol="0" anchor="ctr"/>
          <a:lstStyle/>
          <a:p>
            <a:pPr algn="r" indent="0" marL="0">
              <a:buNone/>
            </a:pPr>
            <a:r>
              <a:rPr lang="en-US" sz="1250" dirty="0">
                <a:solidFill>
                  <a:srgbClr val="5C6675"/>
                </a:solidFill>
                <a:latin typeface="Calibri" pitchFamily="34" charset="0"/>
                <a:ea typeface="Calibri" pitchFamily="34" charset="-122"/>
                <a:cs typeface="Calibri" pitchFamily="34" charset="-120"/>
              </a:rPr>
              <a:t>adoption, not accuracy</a:t>
            </a:r>
            <a:endParaRPr lang="en-US" sz="1250" dirty="0"/>
          </a:p>
        </p:txBody>
      </p:sp>
      <p:sp>
        <p:nvSpPr>
          <p:cNvPr id="28" name="Shape 26"/>
          <p:cNvSpPr/>
          <p:nvPr/>
        </p:nvSpPr>
        <p:spPr>
          <a:xfrm>
            <a:off x="6245352" y="4370832"/>
            <a:ext cx="5394960" cy="1691640"/>
          </a:xfrm>
          <a:prstGeom prst="roundRect">
            <a:avLst>
              <a:gd name="adj" fmla="val 4865"/>
            </a:avLst>
          </a:prstGeom>
          <a:solidFill>
            <a:srgbClr val="1F2936"/>
          </a:solidFill>
          <a:ln/>
          <a:effectLst>
            <a:outerShdw sx="100000" sy="100000" kx="0" ky="0" algn="bl" rotWithShape="0" blurRad="127000" dist="25400" dir="5400000">
              <a:srgbClr val="8C99A8">
                <a:alpha val="16000"/>
              </a:srgbClr>
            </a:outerShdw>
          </a:effectLst>
        </p:spPr>
      </p:sp>
      <p:sp>
        <p:nvSpPr>
          <p:cNvPr id="29" name="Text 27"/>
          <p:cNvSpPr/>
          <p:nvPr/>
        </p:nvSpPr>
        <p:spPr>
          <a:xfrm>
            <a:off x="6556248" y="4535424"/>
            <a:ext cx="4572000" cy="274320"/>
          </a:xfrm>
          <a:prstGeom prst="rect">
            <a:avLst/>
          </a:prstGeom>
          <a:noFill/>
          <a:ln/>
        </p:spPr>
        <p:txBody>
          <a:bodyPr wrap="square" lIns="0" tIns="0" rIns="0" bIns="0" rtlCol="0" anchor="ctr"/>
          <a:lstStyle/>
          <a:p>
            <a:pPr indent="0" marL="0">
              <a:buNone/>
            </a:pPr>
            <a:r>
              <a:rPr lang="en-US" sz="1150" b="1" spc="140" kern="0" dirty="0">
                <a:solidFill>
                  <a:srgbClr val="E39B2C"/>
                </a:solidFill>
                <a:latin typeface="Calibri" pitchFamily="34" charset="0"/>
                <a:ea typeface="Calibri" pitchFamily="34" charset="-122"/>
                <a:cs typeface="Calibri" pitchFamily="34" charset="-120"/>
              </a:rPr>
              <a:t>What it buys</a:t>
            </a:r>
            <a:endParaRPr lang="en-US" sz="1150" dirty="0"/>
          </a:p>
        </p:txBody>
      </p:sp>
      <p:sp>
        <p:nvSpPr>
          <p:cNvPr id="30" name="Text 28"/>
          <p:cNvSpPr/>
          <p:nvPr/>
        </p:nvSpPr>
        <p:spPr>
          <a:xfrm>
            <a:off x="6556248" y="4864608"/>
            <a:ext cx="4773168" cy="1097280"/>
          </a:xfrm>
          <a:prstGeom prst="rect">
            <a:avLst/>
          </a:prstGeom>
          <a:noFill/>
          <a:ln/>
        </p:spPr>
        <p:txBody>
          <a:bodyPr wrap="square" lIns="0" tIns="0" rIns="0" bIns="0" rtlCol="0" anchor="t"/>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Not a smaller invoice — an invoice with nothing in it we have not already seen, explained and decided about. Visibility makes ownership possible, ownership changes behaviour, and changed behaviour is the only saving that survives the quarter.</a:t>
            </a:r>
            <a:endParaRPr lang="en-US" sz="1300" dirty="0"/>
          </a:p>
        </p:txBody>
      </p:sp>
      <p:sp>
        <p:nvSpPr>
          <p:cNvPr id="31" name="Text 29"/>
          <p:cNvSpPr/>
          <p:nvPr/>
        </p:nvSpPr>
        <p:spPr>
          <a:xfrm>
            <a:off x="548640" y="6199632"/>
            <a:ext cx="11091672" cy="420624"/>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Two decisions today: who owns the tagging standard, and whether we are willing to have a limit that actually blocks.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2026-08-05T08:44:40Z</dcterms:created>
  <dcterms:modified xsi:type="dcterms:W3CDTF">2026-08-05T08:44:40Z</dcterms:modified>
</cp:coreProperties>
</file>