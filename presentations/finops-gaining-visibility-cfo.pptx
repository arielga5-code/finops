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what you want from this meeting, because a CFO will be listening for the ask. Two decisions: sponsorship of a mandatory cost-allocation standard, and a date for moving from showback to chargeback. Everything else on these slides is supporting argument. Frame the subject as controllability, not technology — cloud is one of the few large opex lines where the spending decisions are made daily, by people who never see the invoice, with no purchase order in between. This briefing is about restoring the coding and ownership discipline that every other cost line already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finance symptom is variance you cannot explain, and an accrual you are guessing at. Cloud arrives as one large invoice after the fact, without a requisition trail, and the detail behind it is a usage file rather than a coded ledger. Put the test to the room: for last quarter's largest unfavourable variance on this line, how long did it take to name the owner and the cause? If the answer is weeks, or never, that is the gap this programme closes. Note the second-order cost too — unexplained variance drives conservative padding into next year's budget, so poor visibility quietly inflates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 finance audience the useful analogy is standard costing and variance analysis, not DevOps culture. Inform is the ledger detail and the cost-centre coding. Optimize is acting on the variance once it can be attributed. Operate is making that a monthly discipline rather than an annual exercise. The reason it is a cycle rather than a project is that the estate changes continuously — an allocation model that was accurate in January describes a different business by June. Budget for it as an ongoing process cost, small, not a one-time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questions are the acceptance criteria, and each maps to something finance already owns. Which teams drive spend is cost-centre ownership. Whether spend grows faster than the business is the efficiency question behind gross margin. Paid-for-but-unused is working capital sitting idle. Accurate allocation is what makes a budget owner genuinely accountable rather than nominally so. The bottom line is the argument against the alternative: without allocation the only available lever is an across-the-board reduction, which is applied by negotiating strength rather than by waste, and which tends to reverse within two quarters.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as four finance capabilities. Allocation is a chart-of-accounts problem — cost cannot be coded to an owner that was never recorded. Granular reporting is what turns a variance into an explanation short enough to put in a board pack. Unit economics is the one to dwell on: cost per customer, per transaction, per active user is what separates 'spend is up twenty percent' from 'spend per customer is down eight' — the same invoice, opposite stories, and only the second one belongs in a margin discussion. Daily data matters for the close: a monthly-only feed means the accrual is an estimate and the first reliable number arrives after the period is shut.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has a direct finance consequence worth naming. Inconsistent tagging is a suspense account — spend that lands nowhere and gets allocated by argument. Shared resources are an internal transfer-pricing question. Commitments break unit cost reporting, because the rate on the resource is not the rate the business paid. Multi-cloud means no consolidated view without a normalization step. SaaS and marketplace spend is the one to flag to procurement rather than engineering — it is maverick spend, often on corporate cards, frequently auto-renewing, and it will not appear anywhere in the cloud reporting we are discussing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needs a CFO decision, and the parallel is exact: we already refuse to process an invoice without a cost centre, and this is the same control applied at the point of resource creation. Enforcement is cheap at creation and expensive in arrears — retagging a live estate is a manual project, while a policy that blocks untagged resources costs nothing after it is configured. The showback runway is the part to sell as risk management: four to six weeks of reporting with no charge to any P&amp;L is a controlled parallel run that surfaces the allocation disputes before they touch anyone's budget. Ask for finance to own the taxonomy — it is a coding standard, and engineering should not be defining it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Shared platforms are an internal transfer-pricing decision, so treat the choice of basis the way you would any other allocation method. Two practical points. First, pick a basis you can defend to a budget owner who is motivated to dispute it — measured consumption beats headcount or an equal split, because it survives the conversation. Second, freeze it for the fiscal year and document it; a method that changes mid-year makes every period-over-period comparison unusable and invites the argument you were trying to end. Note the technical caveat, because it constrains what we can promise: a shared platform carries a single set of tags, so splitting it needs usage instrumentation, not tagging. Confirm that exists before committing to chargeback on a shared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has the most direct cash and balance-sheet consequence, so take it slowly. A commitment is a multi-year purchase obligation bought at a discount against a usage forecast — under-committing means paying on-demand rates for workloads that never turn off, and over-committing means prepaying for a peak that does not return. Both are visible only if coverage and utilization are reported separately: coverage says how much of steady-state spend sits under a commitment, utilization says whether what we bought is being used. Unused commitment is the worst line on this slide, because it is already spent, cannot be released, and is invisible on any report priced at list. Also make the reporting point: showing only discounted rates hides whether the commitment is earning its keep, and showing only list price makes the savings claim unverifiable. Both belong in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Calibrate this one to our actual footprint before presenting it, because a CFO will hear a platform purchase coming. If we are effectively single-cloud, say so plainly and recommend against buying anything — the native tooling is adequate and a third-party platform is a licence cost with no incremental answer. The durable point is FOCUS: it is a common chart of accounts across vendors, and asking for FOCUS-compliant exports in the next contract renewal costs nothing today while keeping consolidated reporting cheap if the footprint changes later. That is the recommendation here — a procurement clause, not a purchase.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Chargeback is an accounting change, so treat it like one. Moving cloud cost into business unit P&amp;L changes reported margins by unit, changes what budget owners are measured against, and will be contested in the first month it happens. That contest is survivable if the allocation is trusted and fatal to the programme if it is not — the failure mode is a quarter spent arguing about the numbers rather than about the spend, after which nobody believes the report. Hence the sequencing: showback until allocation coverage is high and stable, then chargeback at a fiscal-year or half-year boundary so budgets are set with the new basis rather than restated mid-period. That date is the second decision to take away from this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these six as the KPI set finance should own and see monthly, not as an engineering maturity model. Four are directly reportable: percentage of spend allocated, forecast accuracy against actuals, unit cost trend, and commitment coverage against utilization. The other two are controls rather than metrics — cost review inside the design process, and policy that blocks expensive configurations before they are deployed, which is the closest thing here to a spending approval gate. Score each as in place, partial or absent for our estate, and the gaps become the work plan. Worth noting that most of this list is about seeing spend earlier rather than cutting it, which is the argument of the whole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Signal the shift explicitly: part one asked for visibility, part two asks for controls, and controls are where the money is actually protected. The framing that lands with a finance audience is that we are adding the approval and limit structure that every other spend category already has — cloud is the one line where large amounts are committed daily with no requisition, no ceiling and no named approver. Nothing in this section is exotic; it is delegation of authority, budget thresholds and exception handling, applied to a cost line that has been running without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delegated budget authority, expressed in engineering terms. The four duties map to what any budget holder already does — sign off the number, explain the variance, review monthly, retire what is not needed — and the request is simply that cloud spend gets the same named accountability. The point to press: a distribution list cannot hold budget authority, so a group address in the owner field is an unowned budget with better paperwork. The bottom line is the finance consequence — unowned spend is not unbudgeted, it lands in central overhead, which is exactly where cost is hardest to challenge and easiest to grow.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tier that matters to this audience is the third one, because it is the only place a financial control actually binds — the first two are notifications. Ask directly whether we are willing to have a limit that stops something, and where; without one, the budget is a forecast with a stern tone. Proportional burn is worth understanding as a variance tool: it compares consumption against elapsed period rather than against the total, which is the same logic as phasing a budget rather than dividing it by twelve. It also gives earlier warning — a flat threshold cannot fire before the money is largely spent. Finally, budgets should live in one place finance maintains, not embedded in engineering tooling where changing a number requires a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latency chart explains something that surprises most finance teams: the cost data behind every budget report is a day or two stale, so no threshold built on it can prevent an overrun — it can only report one. That is the argument for technical limits, which act in seconds on live usage. Frame the four controls as pre-approved spending limits rather than engineering settings: a quota is a ceiling on what can be consumed without someone authorizing more, which is precisely how spend authority works elsewhere. They are also cheap to reverse, so the asymmetry favours setting them: a limit set too low costs a short delay, while no limit costs whatever the incident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as the escalation policy behind the budget controls, and note who is on the receiving end of each tier — that is the operational commitment being requested. The finance-relevant caution is the middle one: alerts that fire without a possible response get muted, and muted alerting produces false assurance in exactly the reports leadership relies on. The third caution deserves a controller's attention — if the data feed stops, every threshold silently passes and the dashboards look calm, so we monitor for the absence of data as well as for bad numbers. That is a controls question, not a technical one, and it is the sort of gap an auditor will eventually ask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governance structure, because this is the slide that answers 'who is accountable' before the question is asked in a less comfortable setting. Finance owns budget and allocation policy; the platform function owns the standard and the instrumentation; engineering owns building and responding; leadership arbitrates the commitments and the trade-offs. Note that authority and execution are deliberately separated on the guardrails and alert rows — the people who build the limits are not the people who decide where they sit. Ask for two names today, the taxonomy owner and the budget-policy owner, and the rest of the grid can be filled in by the next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bring to the conversation about why the number moved, because it reframes the problem from cost to timing. The overrun is the same in all four columns; what changes is how much notice we get, and notice is what converts a write-off into a decision. The third point is the one with direct budget consequence — a forecast warning two weeks before month end can still change the month's outcome, while the invoice can only be explained after close. Be careful with the closing line and repeat it verbatim: this programme does not commit to reducing spend by a percentage, it commits to no unexplained variance. That is the promise we can actually keep, and it is worth more at the audit committee than a savings figure nobody can attribute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ask, and the honest cost answer is effort rather than licence spend if we stay on native tooling — name the roles and the share of their time instead of quoting a budget number you would have to defend. Step one is the only item that cannot run in parallel: every downstream report degrades if the taxonomy is still moving. Split the ownership explicitly — finance owns the taxonomy, the allocation policy and the KPI definitions; engineering owns enforcement, instrumentation and remediation. Steps two and four are both arguments for restraint: attack the largest cost categories rather than pursuing complete granularity, and buy tooling that matches the estate we have rather than the one we might have in three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why this sequencing produces a better financial outcome than cutting first. A cut delivers a one-time step down and reverses as soon as attention moves elsewhere; allocation plus ownership changes the rate at which cost is added, which compounds across every subsequent period. That is also the honest framing for the board: the near-term deliverable is explainable variance and a forecast we can stand behind, with targeted savings following the first full period of clean data. Ask for the first two links today — the allocation standard and published ownership — because the rest follow from them and cannot be bought separately.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five questions and have the answers ready. What does it cost: effort, principally, plus any tooling only if we are genuinely multi-cloud. When do savings appear: allocation coverage improves within weeks, targeted savings follow the first full period of clean data, and be careful not to promise a percentage before we can see where the waste is. Who owns it: name the taxonomy owner and the monthly review before leaving the room, or none of this happens. Does it affect the close: better, not worse — daily data improves the accrual, though chargeback adds a journal step worth scoping with the controller. And will chargeback start an internal war: only if we launch it on allocation nobody trusts, which is exactly what the showback runway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A22"/>
        </a:solidFill>
      </p:bgPr>
    </p:bg>
    <p:spTree>
      <p:nvGrpSpPr>
        <p:cNvPr id="1" name=""/>
        <p:cNvGrpSpPr/>
        <p:nvPr/>
      </p:nvGrpSpPr>
      <p:grpSpPr>
        <a:xfrm>
          <a:off x="0" y="0"/>
          <a:ext cx="0" cy="0"/>
          <a:chOff x="0" y="0"/>
          <a:chExt cx="0" cy="0"/>
        </a:xfrm>
      </p:grpSpPr>
      <p:sp>
        <p:nvSpPr>
          <p:cNvPr id="2" name="Text 0"/>
          <p:cNvSpPr/>
          <p:nvPr/>
        </p:nvSpPr>
        <p:spPr>
          <a:xfrm>
            <a:off x="548640" y="1371600"/>
            <a:ext cx="6400800" cy="274320"/>
          </a:xfrm>
          <a:prstGeom prst="rect">
            <a:avLst/>
          </a:prstGeom>
          <a:noFill/>
          <a:ln/>
        </p:spPr>
        <p:txBody>
          <a:bodyPr wrap="square" lIns="0" tIns="0" rIns="0" bIns="0" rtlCol="0" anchor="ctr"/>
          <a:lstStyle/>
          <a:p>
            <a:pPr indent="0" marL="0">
              <a:buNone/>
            </a:pPr>
            <a:r>
              <a:rPr lang="en-US" sz="1200" b="1" spc="260" kern="0" dirty="0">
                <a:solidFill>
                  <a:srgbClr val="E39B2C"/>
                </a:solidFill>
                <a:latin typeface="Calibri" pitchFamily="34" charset="0"/>
                <a:ea typeface="Calibri" pitchFamily="34" charset="-122"/>
                <a:cs typeface="Calibri" pitchFamily="34" charset="-120"/>
              </a:rPr>
              <a:t>MANAGEMENT BRIEFING</a:t>
            </a:r>
            <a:endParaRPr lang="en-US" sz="1200" dirty="0"/>
          </a:p>
        </p:txBody>
      </p:sp>
      <p:sp>
        <p:nvSpPr>
          <p:cNvPr id="3" name="Text 1"/>
          <p:cNvSpPr/>
          <p:nvPr/>
        </p:nvSpPr>
        <p:spPr>
          <a:xfrm>
            <a:off x="548640" y="1783080"/>
            <a:ext cx="7315200" cy="1463040"/>
          </a:xfrm>
          <a:prstGeom prst="rect">
            <a:avLst/>
          </a:prstGeom>
          <a:noFill/>
          <a:ln/>
        </p:spPr>
        <p:txBody>
          <a:bodyPr wrap="square" lIns="0" tIns="0" rIns="0" bIns="0" rtlCol="0" anchor="t"/>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FinOps:</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Visibility &amp; Governance</a:t>
            </a:r>
            <a:endParaRPr lang="en-US" sz="3800" dirty="0"/>
          </a:p>
        </p:txBody>
      </p:sp>
      <p:sp>
        <p:nvSpPr>
          <p:cNvPr id="4" name="Text 2"/>
          <p:cNvSpPr/>
          <p:nvPr/>
        </p:nvSpPr>
        <p:spPr>
          <a:xfrm>
            <a:off x="548640" y="3401568"/>
            <a:ext cx="6766560" cy="365760"/>
          </a:xfrm>
          <a:prstGeom prst="rect">
            <a:avLst/>
          </a:prstGeom>
          <a:noFill/>
          <a:ln/>
        </p:spPr>
        <p:txBody>
          <a:bodyPr wrap="square" lIns="0" tIns="0" rIns="0" bIns="0" rtlCol="0" anchor="ctr"/>
          <a:lstStyle/>
          <a:p>
            <a:pPr indent="0" marL="0">
              <a:buNone/>
            </a:pPr>
            <a:r>
              <a:rPr lang="en-US" sz="1900" dirty="0">
                <a:solidFill>
                  <a:srgbClr val="9EABBA"/>
                </a:solidFill>
                <a:latin typeface="Calibri" pitchFamily="34" charset="0"/>
                <a:ea typeface="Calibri" pitchFamily="34" charset="-122"/>
                <a:cs typeface="Calibri" pitchFamily="34" charset="-120"/>
              </a:rPr>
              <a:t>Seeing cloud spend — and controlling it</a:t>
            </a:r>
            <a:endParaRPr lang="en-US" sz="1900" dirty="0"/>
          </a:p>
        </p:txBody>
      </p:sp>
      <p:sp>
        <p:nvSpPr>
          <p:cNvPr id="5" name="Text 3"/>
          <p:cNvSpPr/>
          <p:nvPr/>
        </p:nvSpPr>
        <p:spPr>
          <a:xfrm>
            <a:off x="548640" y="5120640"/>
            <a:ext cx="3108960" cy="731520"/>
          </a:xfrm>
          <a:prstGeom prst="rect">
            <a:avLst/>
          </a:prstGeom>
          <a:noFill/>
          <a:ln/>
        </p:spPr>
        <p:txBody>
          <a:bodyPr wrap="square" lIns="0" tIns="0" rIns="0" bIns="0" rtlCol="0" anchor="ctr"/>
          <a:lstStyle/>
          <a:p>
            <a:pPr indent="0" marL="0">
              <a:lnSpc>
                <a:spcPts val="2000"/>
              </a:lnSpc>
              <a:buNone/>
            </a:pPr>
            <a:r>
              <a:rPr lang="en-US" sz="1100" b="1" spc="140" kern="0" dirty="0">
                <a:solidFill>
                  <a:srgbClr val="9EABBA"/>
                </a:solidFill>
                <a:latin typeface="Calibri" pitchFamily="34" charset="0"/>
                <a:ea typeface="Calibri" pitchFamily="34" charset="-122"/>
                <a:cs typeface="Calibri" pitchFamily="34" charset="-120"/>
              </a:rPr>
              <a:t>Presented to</a:t>
            </a:r>
            <a:endParaRPr lang="en-US" sz="1100" dirty="0"/>
          </a:p>
          <a:p>
            <a:pPr indent="0" marL="0">
              <a:lnSpc>
                <a:spcPts val="2000"/>
              </a:lnSpc>
              <a:buNone/>
            </a:pPr>
            <a:r>
              <a:rPr lang="en-US" sz="1500" dirty="0">
                <a:solidFill>
                  <a:srgbClr val="FFFFFF"/>
                </a:solidFill>
                <a:latin typeface="Calibri" pitchFamily="34" charset="0"/>
                <a:ea typeface="Calibri" pitchFamily="34" charset="-122"/>
                <a:cs typeface="Calibri" pitchFamily="34" charset="-120"/>
              </a:rPr>
              <a:t>Executive Leadership</a:t>
            </a:r>
            <a:endParaRPr lang="en-US" sz="1100" dirty="0"/>
          </a:p>
        </p:txBody>
      </p:sp>
      <p:sp>
        <p:nvSpPr>
          <p:cNvPr id="6" name="Text 4"/>
          <p:cNvSpPr/>
          <p:nvPr/>
        </p:nvSpPr>
        <p:spPr>
          <a:xfrm>
            <a:off x="3931920" y="5120640"/>
            <a:ext cx="3108960" cy="731520"/>
          </a:xfrm>
          <a:prstGeom prst="rect">
            <a:avLst/>
          </a:prstGeom>
          <a:noFill/>
          <a:ln/>
        </p:spPr>
        <p:txBody>
          <a:bodyPr wrap="square" lIns="0" tIns="0" rIns="0" bIns="0" rtlCol="0" anchor="ctr"/>
          <a:lstStyle/>
          <a:p>
            <a:pPr indent="0" marL="0">
              <a:lnSpc>
                <a:spcPts val="2000"/>
              </a:lnSpc>
              <a:buNone/>
            </a:pPr>
            <a:r>
              <a:rPr lang="en-US" sz="1100" b="1" spc="140" kern="0" dirty="0">
                <a:solidFill>
                  <a:srgbClr val="9EABBA"/>
                </a:solidFill>
                <a:latin typeface="Calibri" pitchFamily="34" charset="0"/>
                <a:ea typeface="Calibri" pitchFamily="34" charset="-122"/>
                <a:cs typeface="Calibri" pitchFamily="34" charset="-120"/>
              </a:rPr>
              <a:t>Date</a:t>
            </a:r>
            <a:endParaRPr lang="en-US" sz="1100" dirty="0"/>
          </a:p>
          <a:p>
            <a:pPr indent="0" marL="0">
              <a:lnSpc>
                <a:spcPts val="2000"/>
              </a:lnSpc>
              <a:buNone/>
            </a:pPr>
            <a:r>
              <a:rPr lang="en-US" sz="1500" dirty="0">
                <a:solidFill>
                  <a:srgbClr val="9EABBA"/>
                </a:solidFill>
                <a:latin typeface="Calibri" pitchFamily="34" charset="0"/>
                <a:ea typeface="Calibri" pitchFamily="34" charset="-122"/>
                <a:cs typeface="Calibri" pitchFamily="34" charset="-120"/>
              </a:rPr>
              <a:t>____________________</a:t>
            </a:r>
            <a:endParaRPr lang="en-US" sz="1100" dirty="0"/>
          </a:p>
        </p:txBody>
      </p:sp>
      <p:sp>
        <p:nvSpPr>
          <p:cNvPr id="7" name="Shape 5"/>
          <p:cNvSpPr/>
          <p:nvPr/>
        </p:nvSpPr>
        <p:spPr>
          <a:xfrm>
            <a:off x="8001000" y="1572768"/>
            <a:ext cx="274320" cy="274320"/>
          </a:xfrm>
          <a:prstGeom prst="ellipse">
            <a:avLst/>
          </a:prstGeom>
          <a:solidFill>
            <a:srgbClr val="27313E"/>
          </a:solidFill>
          <a:ln/>
        </p:spPr>
      </p:sp>
      <p:sp>
        <p:nvSpPr>
          <p:cNvPr id="8" name="Shape 6"/>
          <p:cNvSpPr/>
          <p:nvPr/>
        </p:nvSpPr>
        <p:spPr>
          <a:xfrm>
            <a:off x="8513064" y="1572768"/>
            <a:ext cx="274320" cy="274320"/>
          </a:xfrm>
          <a:prstGeom prst="ellipse">
            <a:avLst/>
          </a:prstGeom>
          <a:solidFill>
            <a:srgbClr val="27313E"/>
          </a:solidFill>
          <a:ln/>
        </p:spPr>
      </p:sp>
      <p:sp>
        <p:nvSpPr>
          <p:cNvPr id="9" name="Shape 7"/>
          <p:cNvSpPr/>
          <p:nvPr/>
        </p:nvSpPr>
        <p:spPr>
          <a:xfrm>
            <a:off x="9025128" y="1572768"/>
            <a:ext cx="274320" cy="274320"/>
          </a:xfrm>
          <a:prstGeom prst="ellipse">
            <a:avLst/>
          </a:prstGeom>
          <a:solidFill>
            <a:srgbClr val="27313E"/>
          </a:solidFill>
          <a:ln/>
        </p:spPr>
      </p:sp>
      <p:sp>
        <p:nvSpPr>
          <p:cNvPr id="10" name="Shape 8"/>
          <p:cNvSpPr/>
          <p:nvPr/>
        </p:nvSpPr>
        <p:spPr>
          <a:xfrm>
            <a:off x="9537192" y="1572768"/>
            <a:ext cx="274320" cy="274320"/>
          </a:xfrm>
          <a:prstGeom prst="ellipse">
            <a:avLst/>
          </a:prstGeom>
          <a:solidFill>
            <a:srgbClr val="27313E"/>
          </a:solidFill>
          <a:ln/>
        </p:spPr>
      </p:sp>
      <p:sp>
        <p:nvSpPr>
          <p:cNvPr id="11" name="Shape 9"/>
          <p:cNvSpPr/>
          <p:nvPr/>
        </p:nvSpPr>
        <p:spPr>
          <a:xfrm>
            <a:off x="10049256" y="1572768"/>
            <a:ext cx="274320" cy="274320"/>
          </a:xfrm>
          <a:prstGeom prst="ellipse">
            <a:avLst/>
          </a:prstGeom>
          <a:solidFill>
            <a:srgbClr val="27313E"/>
          </a:solidFill>
          <a:ln/>
        </p:spPr>
      </p:sp>
      <p:sp>
        <p:nvSpPr>
          <p:cNvPr id="12" name="Shape 10"/>
          <p:cNvSpPr/>
          <p:nvPr/>
        </p:nvSpPr>
        <p:spPr>
          <a:xfrm>
            <a:off x="10561320" y="1572768"/>
            <a:ext cx="274320" cy="274320"/>
          </a:xfrm>
          <a:prstGeom prst="ellipse">
            <a:avLst/>
          </a:prstGeom>
          <a:solidFill>
            <a:srgbClr val="27313E"/>
          </a:solidFill>
          <a:ln/>
        </p:spPr>
      </p:sp>
      <p:sp>
        <p:nvSpPr>
          <p:cNvPr id="13" name="Shape 11"/>
          <p:cNvSpPr/>
          <p:nvPr/>
        </p:nvSpPr>
        <p:spPr>
          <a:xfrm>
            <a:off x="11073384" y="1572768"/>
            <a:ext cx="274320" cy="274320"/>
          </a:xfrm>
          <a:prstGeom prst="ellipse">
            <a:avLst/>
          </a:prstGeom>
          <a:solidFill>
            <a:srgbClr val="27313E"/>
          </a:solidFill>
          <a:ln/>
        </p:spPr>
      </p:sp>
      <p:sp>
        <p:nvSpPr>
          <p:cNvPr id="14" name="Shape 12"/>
          <p:cNvSpPr/>
          <p:nvPr/>
        </p:nvSpPr>
        <p:spPr>
          <a:xfrm>
            <a:off x="8001000" y="2084832"/>
            <a:ext cx="274320" cy="274320"/>
          </a:xfrm>
          <a:prstGeom prst="ellipse">
            <a:avLst/>
          </a:prstGeom>
          <a:solidFill>
            <a:srgbClr val="27313E"/>
          </a:solidFill>
          <a:ln/>
        </p:spPr>
      </p:sp>
      <p:sp>
        <p:nvSpPr>
          <p:cNvPr id="15" name="Shape 13"/>
          <p:cNvSpPr/>
          <p:nvPr/>
        </p:nvSpPr>
        <p:spPr>
          <a:xfrm>
            <a:off x="8513064" y="2084832"/>
            <a:ext cx="274320" cy="274320"/>
          </a:xfrm>
          <a:prstGeom prst="ellipse">
            <a:avLst/>
          </a:prstGeom>
          <a:solidFill>
            <a:srgbClr val="27313E"/>
          </a:solidFill>
          <a:ln/>
        </p:spPr>
      </p:sp>
      <p:sp>
        <p:nvSpPr>
          <p:cNvPr id="16" name="Shape 14"/>
          <p:cNvSpPr/>
          <p:nvPr/>
        </p:nvSpPr>
        <p:spPr>
          <a:xfrm>
            <a:off x="9025128" y="2084832"/>
            <a:ext cx="274320" cy="274320"/>
          </a:xfrm>
          <a:prstGeom prst="ellipse">
            <a:avLst/>
          </a:prstGeom>
          <a:solidFill>
            <a:srgbClr val="27313E"/>
          </a:solidFill>
          <a:ln/>
        </p:spPr>
      </p:sp>
      <p:sp>
        <p:nvSpPr>
          <p:cNvPr id="17" name="Shape 15"/>
          <p:cNvSpPr/>
          <p:nvPr/>
        </p:nvSpPr>
        <p:spPr>
          <a:xfrm>
            <a:off x="9537192" y="2084832"/>
            <a:ext cx="274320" cy="274320"/>
          </a:xfrm>
          <a:prstGeom prst="ellipse">
            <a:avLst/>
          </a:prstGeom>
          <a:solidFill>
            <a:srgbClr val="27313E"/>
          </a:solidFill>
          <a:ln/>
        </p:spPr>
      </p:sp>
      <p:sp>
        <p:nvSpPr>
          <p:cNvPr id="18" name="Shape 16"/>
          <p:cNvSpPr/>
          <p:nvPr/>
        </p:nvSpPr>
        <p:spPr>
          <a:xfrm>
            <a:off x="10049256" y="2084832"/>
            <a:ext cx="274320" cy="274320"/>
          </a:xfrm>
          <a:prstGeom prst="ellipse">
            <a:avLst/>
          </a:prstGeom>
          <a:solidFill>
            <a:srgbClr val="27313E"/>
          </a:solidFill>
          <a:ln/>
        </p:spPr>
      </p:sp>
      <p:sp>
        <p:nvSpPr>
          <p:cNvPr id="19" name="Shape 17"/>
          <p:cNvSpPr/>
          <p:nvPr/>
        </p:nvSpPr>
        <p:spPr>
          <a:xfrm>
            <a:off x="10561320" y="2084832"/>
            <a:ext cx="274320" cy="274320"/>
          </a:xfrm>
          <a:prstGeom prst="ellipse">
            <a:avLst/>
          </a:prstGeom>
          <a:solidFill>
            <a:srgbClr val="27313E"/>
          </a:solidFill>
          <a:ln/>
        </p:spPr>
      </p:sp>
      <p:sp>
        <p:nvSpPr>
          <p:cNvPr id="20" name="Shape 18"/>
          <p:cNvSpPr/>
          <p:nvPr/>
        </p:nvSpPr>
        <p:spPr>
          <a:xfrm>
            <a:off x="11073384" y="2084832"/>
            <a:ext cx="274320" cy="274320"/>
          </a:xfrm>
          <a:prstGeom prst="ellipse">
            <a:avLst/>
          </a:prstGeom>
          <a:solidFill>
            <a:srgbClr val="27313E"/>
          </a:solidFill>
          <a:ln/>
        </p:spPr>
      </p:sp>
      <p:sp>
        <p:nvSpPr>
          <p:cNvPr id="21" name="Shape 19"/>
          <p:cNvSpPr/>
          <p:nvPr/>
        </p:nvSpPr>
        <p:spPr>
          <a:xfrm>
            <a:off x="8001000" y="2596896"/>
            <a:ext cx="274320" cy="274320"/>
          </a:xfrm>
          <a:prstGeom prst="ellipse">
            <a:avLst/>
          </a:prstGeom>
          <a:solidFill>
            <a:srgbClr val="27313E"/>
          </a:solidFill>
          <a:ln/>
        </p:spPr>
      </p:sp>
      <p:sp>
        <p:nvSpPr>
          <p:cNvPr id="22" name="Shape 20"/>
          <p:cNvSpPr/>
          <p:nvPr/>
        </p:nvSpPr>
        <p:spPr>
          <a:xfrm>
            <a:off x="8513064" y="2596896"/>
            <a:ext cx="274320" cy="274320"/>
          </a:xfrm>
          <a:prstGeom prst="ellipse">
            <a:avLst/>
          </a:prstGeom>
          <a:solidFill>
            <a:srgbClr val="27313E"/>
          </a:solidFill>
          <a:ln/>
        </p:spPr>
      </p:sp>
      <p:sp>
        <p:nvSpPr>
          <p:cNvPr id="23" name="Shape 21"/>
          <p:cNvSpPr/>
          <p:nvPr/>
        </p:nvSpPr>
        <p:spPr>
          <a:xfrm>
            <a:off x="9025128" y="2596896"/>
            <a:ext cx="274320" cy="274320"/>
          </a:xfrm>
          <a:prstGeom prst="ellipse">
            <a:avLst/>
          </a:prstGeom>
          <a:solidFill>
            <a:srgbClr val="27313E"/>
          </a:solidFill>
          <a:ln/>
        </p:spPr>
      </p:sp>
      <p:sp>
        <p:nvSpPr>
          <p:cNvPr id="24" name="Shape 22"/>
          <p:cNvSpPr/>
          <p:nvPr/>
        </p:nvSpPr>
        <p:spPr>
          <a:xfrm>
            <a:off x="9537192" y="2596896"/>
            <a:ext cx="274320" cy="274320"/>
          </a:xfrm>
          <a:prstGeom prst="ellipse">
            <a:avLst/>
          </a:prstGeom>
          <a:solidFill>
            <a:srgbClr val="27313E"/>
          </a:solidFill>
          <a:ln/>
        </p:spPr>
      </p:sp>
      <p:sp>
        <p:nvSpPr>
          <p:cNvPr id="25" name="Shape 23"/>
          <p:cNvSpPr/>
          <p:nvPr/>
        </p:nvSpPr>
        <p:spPr>
          <a:xfrm>
            <a:off x="10049256" y="2596896"/>
            <a:ext cx="274320" cy="274320"/>
          </a:xfrm>
          <a:prstGeom prst="ellipse">
            <a:avLst/>
          </a:prstGeom>
          <a:solidFill>
            <a:srgbClr val="27313E"/>
          </a:solidFill>
          <a:ln/>
        </p:spPr>
      </p:sp>
      <p:sp>
        <p:nvSpPr>
          <p:cNvPr id="26" name="Shape 24"/>
          <p:cNvSpPr/>
          <p:nvPr/>
        </p:nvSpPr>
        <p:spPr>
          <a:xfrm>
            <a:off x="10561320" y="2596896"/>
            <a:ext cx="274320" cy="274320"/>
          </a:xfrm>
          <a:prstGeom prst="ellipse">
            <a:avLst/>
          </a:prstGeom>
          <a:solidFill>
            <a:srgbClr val="27313E"/>
          </a:solidFill>
          <a:ln/>
        </p:spPr>
      </p:sp>
      <p:sp>
        <p:nvSpPr>
          <p:cNvPr id="27" name="Shape 25"/>
          <p:cNvSpPr/>
          <p:nvPr/>
        </p:nvSpPr>
        <p:spPr>
          <a:xfrm>
            <a:off x="11073384" y="2596896"/>
            <a:ext cx="274320" cy="274320"/>
          </a:xfrm>
          <a:prstGeom prst="ellipse">
            <a:avLst/>
          </a:prstGeom>
          <a:solidFill>
            <a:srgbClr val="E39B2C"/>
          </a:solidFill>
          <a:ln/>
        </p:spPr>
      </p:sp>
      <p:sp>
        <p:nvSpPr>
          <p:cNvPr id="28" name="Shape 26"/>
          <p:cNvSpPr/>
          <p:nvPr/>
        </p:nvSpPr>
        <p:spPr>
          <a:xfrm>
            <a:off x="8001000" y="3108960"/>
            <a:ext cx="274320" cy="274320"/>
          </a:xfrm>
          <a:prstGeom prst="ellipse">
            <a:avLst/>
          </a:prstGeom>
          <a:solidFill>
            <a:srgbClr val="27313E"/>
          </a:solidFill>
          <a:ln/>
        </p:spPr>
      </p:sp>
      <p:sp>
        <p:nvSpPr>
          <p:cNvPr id="29" name="Shape 27"/>
          <p:cNvSpPr/>
          <p:nvPr/>
        </p:nvSpPr>
        <p:spPr>
          <a:xfrm>
            <a:off x="8513064" y="3108960"/>
            <a:ext cx="274320" cy="274320"/>
          </a:xfrm>
          <a:prstGeom prst="ellipse">
            <a:avLst/>
          </a:prstGeom>
          <a:solidFill>
            <a:srgbClr val="27313E"/>
          </a:solidFill>
          <a:ln/>
        </p:spPr>
      </p:sp>
      <p:sp>
        <p:nvSpPr>
          <p:cNvPr id="30" name="Shape 28"/>
          <p:cNvSpPr/>
          <p:nvPr/>
        </p:nvSpPr>
        <p:spPr>
          <a:xfrm>
            <a:off x="9025128" y="3108960"/>
            <a:ext cx="274320" cy="274320"/>
          </a:xfrm>
          <a:prstGeom prst="ellipse">
            <a:avLst/>
          </a:prstGeom>
          <a:solidFill>
            <a:srgbClr val="27313E"/>
          </a:solidFill>
          <a:ln/>
        </p:spPr>
      </p:sp>
      <p:sp>
        <p:nvSpPr>
          <p:cNvPr id="31" name="Shape 29"/>
          <p:cNvSpPr/>
          <p:nvPr/>
        </p:nvSpPr>
        <p:spPr>
          <a:xfrm>
            <a:off x="9537192" y="3108960"/>
            <a:ext cx="274320" cy="274320"/>
          </a:xfrm>
          <a:prstGeom prst="ellipse">
            <a:avLst/>
          </a:prstGeom>
          <a:solidFill>
            <a:srgbClr val="27313E"/>
          </a:solidFill>
          <a:ln/>
        </p:spPr>
      </p:sp>
      <p:sp>
        <p:nvSpPr>
          <p:cNvPr id="32" name="Shape 30"/>
          <p:cNvSpPr/>
          <p:nvPr/>
        </p:nvSpPr>
        <p:spPr>
          <a:xfrm>
            <a:off x="10049256" y="3108960"/>
            <a:ext cx="274320" cy="274320"/>
          </a:xfrm>
          <a:prstGeom prst="ellipse">
            <a:avLst/>
          </a:prstGeom>
          <a:solidFill>
            <a:srgbClr val="27313E"/>
          </a:solidFill>
          <a:ln/>
        </p:spPr>
      </p:sp>
      <p:sp>
        <p:nvSpPr>
          <p:cNvPr id="33" name="Shape 31"/>
          <p:cNvSpPr/>
          <p:nvPr/>
        </p:nvSpPr>
        <p:spPr>
          <a:xfrm>
            <a:off x="10561320" y="3108960"/>
            <a:ext cx="274320" cy="274320"/>
          </a:xfrm>
          <a:prstGeom prst="ellipse">
            <a:avLst/>
          </a:prstGeom>
          <a:solidFill>
            <a:srgbClr val="E39B2C"/>
          </a:solidFill>
          <a:ln/>
        </p:spPr>
      </p:sp>
      <p:sp>
        <p:nvSpPr>
          <p:cNvPr id="34" name="Shape 32"/>
          <p:cNvSpPr/>
          <p:nvPr/>
        </p:nvSpPr>
        <p:spPr>
          <a:xfrm>
            <a:off x="11073384" y="3108960"/>
            <a:ext cx="274320" cy="274320"/>
          </a:xfrm>
          <a:prstGeom prst="ellipse">
            <a:avLst/>
          </a:prstGeom>
          <a:solidFill>
            <a:srgbClr val="E39B2C"/>
          </a:solidFill>
          <a:ln/>
        </p:spPr>
      </p:sp>
      <p:sp>
        <p:nvSpPr>
          <p:cNvPr id="35" name="Shape 33"/>
          <p:cNvSpPr/>
          <p:nvPr/>
        </p:nvSpPr>
        <p:spPr>
          <a:xfrm>
            <a:off x="8001000" y="3621024"/>
            <a:ext cx="274320" cy="274320"/>
          </a:xfrm>
          <a:prstGeom prst="ellipse">
            <a:avLst/>
          </a:prstGeom>
          <a:solidFill>
            <a:srgbClr val="27313E"/>
          </a:solidFill>
          <a:ln/>
        </p:spPr>
      </p:sp>
      <p:sp>
        <p:nvSpPr>
          <p:cNvPr id="36" name="Shape 34"/>
          <p:cNvSpPr/>
          <p:nvPr/>
        </p:nvSpPr>
        <p:spPr>
          <a:xfrm>
            <a:off x="8513064" y="3621024"/>
            <a:ext cx="274320" cy="274320"/>
          </a:xfrm>
          <a:prstGeom prst="ellipse">
            <a:avLst/>
          </a:prstGeom>
          <a:solidFill>
            <a:srgbClr val="27313E"/>
          </a:solidFill>
          <a:ln/>
        </p:spPr>
      </p:sp>
      <p:sp>
        <p:nvSpPr>
          <p:cNvPr id="37" name="Shape 35"/>
          <p:cNvSpPr/>
          <p:nvPr/>
        </p:nvSpPr>
        <p:spPr>
          <a:xfrm>
            <a:off x="9025128" y="3621024"/>
            <a:ext cx="274320" cy="274320"/>
          </a:xfrm>
          <a:prstGeom prst="ellipse">
            <a:avLst/>
          </a:prstGeom>
          <a:solidFill>
            <a:srgbClr val="27313E"/>
          </a:solidFill>
          <a:ln/>
        </p:spPr>
      </p:sp>
      <p:sp>
        <p:nvSpPr>
          <p:cNvPr id="38" name="Shape 36"/>
          <p:cNvSpPr/>
          <p:nvPr/>
        </p:nvSpPr>
        <p:spPr>
          <a:xfrm>
            <a:off x="9537192" y="3621024"/>
            <a:ext cx="274320" cy="274320"/>
          </a:xfrm>
          <a:prstGeom prst="ellipse">
            <a:avLst/>
          </a:prstGeom>
          <a:solidFill>
            <a:srgbClr val="27313E"/>
          </a:solidFill>
          <a:ln/>
        </p:spPr>
      </p:sp>
      <p:sp>
        <p:nvSpPr>
          <p:cNvPr id="39" name="Shape 37"/>
          <p:cNvSpPr/>
          <p:nvPr/>
        </p:nvSpPr>
        <p:spPr>
          <a:xfrm>
            <a:off x="10049256" y="3621024"/>
            <a:ext cx="274320" cy="274320"/>
          </a:xfrm>
          <a:prstGeom prst="ellipse">
            <a:avLst/>
          </a:prstGeom>
          <a:solidFill>
            <a:srgbClr val="E39B2C"/>
          </a:solidFill>
          <a:ln/>
        </p:spPr>
      </p:sp>
      <p:sp>
        <p:nvSpPr>
          <p:cNvPr id="40" name="Shape 38"/>
          <p:cNvSpPr/>
          <p:nvPr/>
        </p:nvSpPr>
        <p:spPr>
          <a:xfrm>
            <a:off x="10561320" y="3621024"/>
            <a:ext cx="274320" cy="274320"/>
          </a:xfrm>
          <a:prstGeom prst="ellipse">
            <a:avLst/>
          </a:prstGeom>
          <a:solidFill>
            <a:srgbClr val="E39B2C"/>
          </a:solidFill>
          <a:ln/>
        </p:spPr>
      </p:sp>
      <p:sp>
        <p:nvSpPr>
          <p:cNvPr id="41" name="Shape 39"/>
          <p:cNvSpPr/>
          <p:nvPr/>
        </p:nvSpPr>
        <p:spPr>
          <a:xfrm>
            <a:off x="11073384" y="3621024"/>
            <a:ext cx="274320" cy="274320"/>
          </a:xfrm>
          <a:prstGeom prst="ellipse">
            <a:avLst/>
          </a:prstGeom>
          <a:solidFill>
            <a:srgbClr val="E39B2C"/>
          </a:solidFill>
          <a:ln/>
        </p:spPr>
      </p:sp>
      <p:sp>
        <p:nvSpPr>
          <p:cNvPr id="42" name="Shape 40"/>
          <p:cNvSpPr/>
          <p:nvPr/>
        </p:nvSpPr>
        <p:spPr>
          <a:xfrm>
            <a:off x="8001000" y="4133088"/>
            <a:ext cx="274320" cy="274320"/>
          </a:xfrm>
          <a:prstGeom prst="ellipse">
            <a:avLst/>
          </a:prstGeom>
          <a:solidFill>
            <a:srgbClr val="27313E"/>
          </a:solidFill>
          <a:ln/>
        </p:spPr>
      </p:sp>
      <p:sp>
        <p:nvSpPr>
          <p:cNvPr id="43" name="Shape 41"/>
          <p:cNvSpPr/>
          <p:nvPr/>
        </p:nvSpPr>
        <p:spPr>
          <a:xfrm>
            <a:off x="8513064" y="4133088"/>
            <a:ext cx="274320" cy="274320"/>
          </a:xfrm>
          <a:prstGeom prst="ellipse">
            <a:avLst/>
          </a:prstGeom>
          <a:solidFill>
            <a:srgbClr val="27313E"/>
          </a:solidFill>
          <a:ln/>
        </p:spPr>
      </p:sp>
      <p:sp>
        <p:nvSpPr>
          <p:cNvPr id="44" name="Shape 42"/>
          <p:cNvSpPr/>
          <p:nvPr/>
        </p:nvSpPr>
        <p:spPr>
          <a:xfrm>
            <a:off x="9025128" y="4133088"/>
            <a:ext cx="274320" cy="274320"/>
          </a:xfrm>
          <a:prstGeom prst="ellipse">
            <a:avLst/>
          </a:prstGeom>
          <a:solidFill>
            <a:srgbClr val="27313E"/>
          </a:solidFill>
          <a:ln/>
        </p:spPr>
      </p:sp>
      <p:sp>
        <p:nvSpPr>
          <p:cNvPr id="45" name="Shape 43"/>
          <p:cNvSpPr/>
          <p:nvPr/>
        </p:nvSpPr>
        <p:spPr>
          <a:xfrm>
            <a:off x="9537192" y="4133088"/>
            <a:ext cx="274320" cy="274320"/>
          </a:xfrm>
          <a:prstGeom prst="ellipse">
            <a:avLst/>
          </a:prstGeom>
          <a:solidFill>
            <a:srgbClr val="E39B2C"/>
          </a:solidFill>
          <a:ln/>
        </p:spPr>
      </p:sp>
      <p:sp>
        <p:nvSpPr>
          <p:cNvPr id="46" name="Shape 44"/>
          <p:cNvSpPr/>
          <p:nvPr/>
        </p:nvSpPr>
        <p:spPr>
          <a:xfrm>
            <a:off x="10049256" y="4133088"/>
            <a:ext cx="274320" cy="274320"/>
          </a:xfrm>
          <a:prstGeom prst="ellipse">
            <a:avLst/>
          </a:prstGeom>
          <a:solidFill>
            <a:srgbClr val="E39B2C"/>
          </a:solidFill>
          <a:ln/>
        </p:spPr>
      </p:sp>
      <p:sp>
        <p:nvSpPr>
          <p:cNvPr id="47" name="Shape 45"/>
          <p:cNvSpPr/>
          <p:nvPr/>
        </p:nvSpPr>
        <p:spPr>
          <a:xfrm>
            <a:off x="10561320" y="4133088"/>
            <a:ext cx="274320" cy="274320"/>
          </a:xfrm>
          <a:prstGeom prst="ellipse">
            <a:avLst/>
          </a:prstGeom>
          <a:solidFill>
            <a:srgbClr val="E39B2C"/>
          </a:solidFill>
          <a:ln/>
        </p:spPr>
      </p:sp>
      <p:sp>
        <p:nvSpPr>
          <p:cNvPr id="48" name="Shape 46"/>
          <p:cNvSpPr/>
          <p:nvPr/>
        </p:nvSpPr>
        <p:spPr>
          <a:xfrm>
            <a:off x="11073384" y="4133088"/>
            <a:ext cx="274320" cy="274320"/>
          </a:xfrm>
          <a:prstGeom prst="ellipse">
            <a:avLst/>
          </a:prstGeom>
          <a:solidFill>
            <a:srgbClr val="E39B2C"/>
          </a:solidFill>
          <a:ln/>
        </p:spPr>
      </p:sp>
      <p:sp>
        <p:nvSpPr>
          <p:cNvPr id="49" name="Shape 47"/>
          <p:cNvSpPr/>
          <p:nvPr/>
        </p:nvSpPr>
        <p:spPr>
          <a:xfrm>
            <a:off x="8001000" y="4645152"/>
            <a:ext cx="274320" cy="274320"/>
          </a:xfrm>
          <a:prstGeom prst="ellipse">
            <a:avLst/>
          </a:prstGeom>
          <a:solidFill>
            <a:srgbClr val="27313E"/>
          </a:solidFill>
          <a:ln/>
        </p:spPr>
      </p:sp>
      <p:sp>
        <p:nvSpPr>
          <p:cNvPr id="50" name="Shape 48"/>
          <p:cNvSpPr/>
          <p:nvPr/>
        </p:nvSpPr>
        <p:spPr>
          <a:xfrm>
            <a:off x="8513064" y="4645152"/>
            <a:ext cx="274320" cy="274320"/>
          </a:xfrm>
          <a:prstGeom prst="ellipse">
            <a:avLst/>
          </a:prstGeom>
          <a:solidFill>
            <a:srgbClr val="27313E"/>
          </a:solidFill>
          <a:ln/>
        </p:spPr>
      </p:sp>
      <p:sp>
        <p:nvSpPr>
          <p:cNvPr id="51" name="Shape 49"/>
          <p:cNvSpPr/>
          <p:nvPr/>
        </p:nvSpPr>
        <p:spPr>
          <a:xfrm>
            <a:off x="9025128" y="4645152"/>
            <a:ext cx="274320" cy="274320"/>
          </a:xfrm>
          <a:prstGeom prst="ellipse">
            <a:avLst/>
          </a:prstGeom>
          <a:solidFill>
            <a:srgbClr val="E39B2C"/>
          </a:solidFill>
          <a:ln/>
        </p:spPr>
      </p:sp>
      <p:sp>
        <p:nvSpPr>
          <p:cNvPr id="52" name="Shape 50"/>
          <p:cNvSpPr/>
          <p:nvPr/>
        </p:nvSpPr>
        <p:spPr>
          <a:xfrm>
            <a:off x="9537192" y="4645152"/>
            <a:ext cx="274320" cy="274320"/>
          </a:xfrm>
          <a:prstGeom prst="ellipse">
            <a:avLst/>
          </a:prstGeom>
          <a:solidFill>
            <a:srgbClr val="E39B2C"/>
          </a:solidFill>
          <a:ln/>
        </p:spPr>
      </p:sp>
      <p:sp>
        <p:nvSpPr>
          <p:cNvPr id="53" name="Shape 51"/>
          <p:cNvSpPr/>
          <p:nvPr/>
        </p:nvSpPr>
        <p:spPr>
          <a:xfrm>
            <a:off x="10049256" y="4645152"/>
            <a:ext cx="274320" cy="274320"/>
          </a:xfrm>
          <a:prstGeom prst="ellipse">
            <a:avLst/>
          </a:prstGeom>
          <a:solidFill>
            <a:srgbClr val="E39B2C"/>
          </a:solidFill>
          <a:ln/>
        </p:spPr>
      </p:sp>
      <p:sp>
        <p:nvSpPr>
          <p:cNvPr id="54" name="Shape 52"/>
          <p:cNvSpPr/>
          <p:nvPr/>
        </p:nvSpPr>
        <p:spPr>
          <a:xfrm>
            <a:off x="10561320" y="4645152"/>
            <a:ext cx="274320" cy="274320"/>
          </a:xfrm>
          <a:prstGeom prst="ellipse">
            <a:avLst/>
          </a:prstGeom>
          <a:solidFill>
            <a:srgbClr val="E39B2C"/>
          </a:solidFill>
          <a:ln/>
        </p:spPr>
      </p:sp>
      <p:sp>
        <p:nvSpPr>
          <p:cNvPr id="55" name="Shape 53"/>
          <p:cNvSpPr/>
          <p:nvPr/>
        </p:nvSpPr>
        <p:spPr>
          <a:xfrm>
            <a:off x="11073384" y="4645152"/>
            <a:ext cx="274320" cy="274320"/>
          </a:xfrm>
          <a:prstGeom prst="ellipse">
            <a:avLst/>
          </a:prstGeom>
          <a:solidFill>
            <a:srgbClr val="E39B2C"/>
          </a:solidFill>
          <a:ln/>
        </p:spPr>
      </p:sp>
      <p:sp>
        <p:nvSpPr>
          <p:cNvPr id="56" name="Text 54"/>
          <p:cNvSpPr/>
          <p:nvPr/>
        </p:nvSpPr>
        <p:spPr>
          <a:xfrm>
            <a:off x="8001000" y="5257800"/>
            <a:ext cx="3657600" cy="274320"/>
          </a:xfrm>
          <a:prstGeom prst="rect">
            <a:avLst/>
          </a:prstGeom>
          <a:noFill/>
          <a:ln/>
        </p:spPr>
        <p:txBody>
          <a:bodyPr wrap="square" lIns="0" tIns="0" rIns="0" bIns="0" rtlCol="0" anchor="ctr"/>
          <a:lstStyle/>
          <a:p>
            <a:pPr indent="0" marL="0">
              <a:buNone/>
            </a:pPr>
            <a:r>
              <a:rPr lang="en-US" sz="1150" b="1" spc="160" kern="0" dirty="0">
                <a:solidFill>
                  <a:srgbClr val="E39B2C"/>
                </a:solidFill>
                <a:latin typeface="Calibri" pitchFamily="34" charset="0"/>
                <a:ea typeface="Calibri" pitchFamily="34" charset="-122"/>
                <a:cs typeface="Calibri" pitchFamily="34" charset="-120"/>
              </a:rPr>
              <a:t>Spend you can see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THE PROBLEM WE FACE</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Cloud spend is dynamic, distributed and opaque</a:t>
            </a:r>
            <a:endParaRPr lang="en-US" sz="3100" dirty="0"/>
          </a:p>
        </p:txBody>
      </p:sp>
      <p:sp>
        <p:nvSpPr>
          <p:cNvPr id="4" name="Shape 2"/>
          <p:cNvSpPr/>
          <p:nvPr/>
        </p:nvSpPr>
        <p:spPr>
          <a:xfrm>
            <a:off x="548640" y="2103120"/>
            <a:ext cx="512064" cy="512064"/>
          </a:xfrm>
          <a:prstGeom prst="ellipse">
            <a:avLst/>
          </a:prstGeom>
          <a:solidFill>
            <a:srgbClr val="FBEFD8"/>
          </a:solidFill>
          <a:ln/>
        </p:spPr>
      </p:sp>
      <p:pic>
        <p:nvPicPr>
          <p:cNvPr id="5" name="Image 0" descr="preencoded.png">    </p:cNvPr>
          <p:cNvPicPr>
            <a:picLocks noChangeAspect="1"/>
          </p:cNvPicPr>
          <p:nvPr/>
        </p:nvPicPr>
        <p:blipFill>
          <a:blip r:embed="rId1"/>
          <a:stretch>
            <a:fillRect/>
          </a:stretch>
        </p:blipFill>
        <p:spPr>
          <a:xfrm>
            <a:off x="676656" y="2231136"/>
            <a:ext cx="256032" cy="256032"/>
          </a:xfrm>
          <a:prstGeom prst="rect">
            <a:avLst/>
          </a:prstGeom>
        </p:spPr>
      </p:pic>
      <p:sp>
        <p:nvSpPr>
          <p:cNvPr id="6" name="Text 3"/>
          <p:cNvSpPr/>
          <p:nvPr/>
        </p:nvSpPr>
        <p:spPr>
          <a:xfrm>
            <a:off x="1316736" y="1965960"/>
            <a:ext cx="5175504" cy="786384"/>
          </a:xfrm>
          <a:prstGeom prst="rect">
            <a:avLst/>
          </a:prstGeom>
          <a:noFill/>
          <a:ln/>
        </p:spPr>
        <p:txBody>
          <a:bodyPr wrap="square" lIns="0" tIns="0" rIns="0" bIns="0" rtlCol="0" anchor="ctr"/>
          <a:lstStyle/>
          <a:p>
            <a:pPr indent="0" marL="0">
              <a:lnSpc>
                <a:spcPts val="1600"/>
              </a:lnSpc>
              <a:buNone/>
            </a:pPr>
            <a:r>
              <a:rPr lang="en-US" sz="1500" b="1" dirty="0">
                <a:solidFill>
                  <a:srgbClr val="1B2430"/>
                </a:solidFill>
                <a:latin typeface="Calibri" pitchFamily="34" charset="0"/>
                <a:ea typeface="Calibri" pitchFamily="34" charset="-122"/>
                <a:cs typeface="Calibri" pitchFamily="34" charset="-120"/>
              </a:rPr>
              <a:t>Costs move daily</a:t>
            </a:r>
            <a:endParaRPr lang="en-US" sz="1500" dirty="0"/>
          </a:p>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Spend is dynamic and distributed across teams, services and regions.</a:t>
            </a:r>
            <a:endParaRPr lang="en-US" sz="1500" dirty="0"/>
          </a:p>
        </p:txBody>
      </p:sp>
      <p:sp>
        <p:nvSpPr>
          <p:cNvPr id="7" name="Shape 4"/>
          <p:cNvSpPr/>
          <p:nvPr/>
        </p:nvSpPr>
        <p:spPr>
          <a:xfrm>
            <a:off x="548640" y="3108960"/>
            <a:ext cx="512064" cy="512064"/>
          </a:xfrm>
          <a:prstGeom prst="ellipse">
            <a:avLst/>
          </a:prstGeom>
          <a:solidFill>
            <a:srgbClr val="FBEFD8"/>
          </a:solidFill>
          <a:ln/>
        </p:spPr>
      </p:sp>
      <p:pic>
        <p:nvPicPr>
          <p:cNvPr id="8" name="Image 1" descr="preencoded.png">    </p:cNvPr>
          <p:cNvPicPr>
            <a:picLocks noChangeAspect="1"/>
          </p:cNvPicPr>
          <p:nvPr/>
        </p:nvPicPr>
        <p:blipFill>
          <a:blip r:embed="rId2"/>
          <a:stretch>
            <a:fillRect/>
          </a:stretch>
        </p:blipFill>
        <p:spPr>
          <a:xfrm>
            <a:off x="676656" y="3236976"/>
            <a:ext cx="256032" cy="256032"/>
          </a:xfrm>
          <a:prstGeom prst="rect">
            <a:avLst/>
          </a:prstGeom>
        </p:spPr>
      </p:pic>
      <p:sp>
        <p:nvSpPr>
          <p:cNvPr id="9" name="Text 5"/>
          <p:cNvSpPr/>
          <p:nvPr/>
        </p:nvSpPr>
        <p:spPr>
          <a:xfrm>
            <a:off x="1316736" y="2971800"/>
            <a:ext cx="5175504" cy="786384"/>
          </a:xfrm>
          <a:prstGeom prst="rect">
            <a:avLst/>
          </a:prstGeom>
          <a:noFill/>
          <a:ln/>
        </p:spPr>
        <p:txBody>
          <a:bodyPr wrap="square" lIns="0" tIns="0" rIns="0" bIns="0" rtlCol="0" anchor="ctr"/>
          <a:lstStyle/>
          <a:p>
            <a:pPr indent="0" marL="0">
              <a:lnSpc>
                <a:spcPts val="1600"/>
              </a:lnSpc>
              <a:buNone/>
            </a:pPr>
            <a:r>
              <a:rPr lang="en-US" sz="1500" b="1" dirty="0">
                <a:solidFill>
                  <a:srgbClr val="1B2430"/>
                </a:solidFill>
                <a:latin typeface="Calibri" pitchFamily="34" charset="0"/>
                <a:ea typeface="Calibri" pitchFamily="34" charset="-122"/>
                <a:cs typeface="Calibri" pitchFamily="34" charset="-120"/>
              </a:rPr>
              <a:t>Budgeting models don't fit</a:t>
            </a:r>
            <a:endParaRPr lang="en-US" sz="1500" dirty="0"/>
          </a:p>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Traditional IT budgeting assumes fixed, predictable costs. Cloud is neither.</a:t>
            </a:r>
            <a:endParaRPr lang="en-US" sz="1500" dirty="0"/>
          </a:p>
        </p:txBody>
      </p:sp>
      <p:sp>
        <p:nvSpPr>
          <p:cNvPr id="10" name="Shape 6"/>
          <p:cNvSpPr/>
          <p:nvPr/>
        </p:nvSpPr>
        <p:spPr>
          <a:xfrm>
            <a:off x="548640" y="4114800"/>
            <a:ext cx="512064" cy="512064"/>
          </a:xfrm>
          <a:prstGeom prst="ellipse">
            <a:avLst/>
          </a:prstGeom>
          <a:solidFill>
            <a:srgbClr val="FBEFD8"/>
          </a:solidFill>
          <a:ln/>
        </p:spPr>
      </p:sp>
      <p:pic>
        <p:nvPicPr>
          <p:cNvPr id="11" name="Image 2" descr="preencoded.png">    </p:cNvPr>
          <p:cNvPicPr>
            <a:picLocks noChangeAspect="1"/>
          </p:cNvPicPr>
          <p:nvPr/>
        </p:nvPicPr>
        <p:blipFill>
          <a:blip r:embed="rId3"/>
          <a:stretch>
            <a:fillRect/>
          </a:stretch>
        </p:blipFill>
        <p:spPr>
          <a:xfrm>
            <a:off x="676656" y="4242816"/>
            <a:ext cx="256032" cy="256032"/>
          </a:xfrm>
          <a:prstGeom prst="rect">
            <a:avLst/>
          </a:prstGeom>
        </p:spPr>
      </p:pic>
      <p:sp>
        <p:nvSpPr>
          <p:cNvPr id="12" name="Text 7"/>
          <p:cNvSpPr/>
          <p:nvPr/>
        </p:nvSpPr>
        <p:spPr>
          <a:xfrm>
            <a:off x="1316736" y="3977640"/>
            <a:ext cx="5175504" cy="786384"/>
          </a:xfrm>
          <a:prstGeom prst="rect">
            <a:avLst/>
          </a:prstGeom>
          <a:noFill/>
          <a:ln/>
        </p:spPr>
        <p:txBody>
          <a:bodyPr wrap="square" lIns="0" tIns="0" rIns="0" bIns="0" rtlCol="0" anchor="ctr"/>
          <a:lstStyle/>
          <a:p>
            <a:pPr indent="0" marL="0">
              <a:lnSpc>
                <a:spcPts val="1600"/>
              </a:lnSpc>
              <a:buNone/>
            </a:pPr>
            <a:r>
              <a:rPr lang="en-US" sz="1500" b="1" dirty="0">
                <a:solidFill>
                  <a:srgbClr val="1B2430"/>
                </a:solidFill>
                <a:latin typeface="Calibri" pitchFamily="34" charset="0"/>
                <a:ea typeface="Calibri" pitchFamily="34" charset="-122"/>
                <a:cs typeface="Calibri" pitchFamily="34" charset="-120"/>
              </a:rPr>
              <a:t>Engineers spend money</a:t>
            </a:r>
            <a:endParaRPr lang="en-US" sz="1500" dirty="0"/>
          </a:p>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Technical decisions made daily carry direct, immediate financial consequences.</a:t>
            </a:r>
            <a:endParaRPr lang="en-US" sz="1500" dirty="0"/>
          </a:p>
        </p:txBody>
      </p:sp>
      <p:sp>
        <p:nvSpPr>
          <p:cNvPr id="13" name="Shape 8"/>
          <p:cNvSpPr/>
          <p:nvPr/>
        </p:nvSpPr>
        <p:spPr>
          <a:xfrm>
            <a:off x="548640" y="5120640"/>
            <a:ext cx="512064" cy="512064"/>
          </a:xfrm>
          <a:prstGeom prst="ellipse">
            <a:avLst/>
          </a:prstGeom>
          <a:solidFill>
            <a:srgbClr val="FBEFD8"/>
          </a:solidFill>
          <a:ln/>
        </p:spPr>
      </p:sp>
      <p:pic>
        <p:nvPicPr>
          <p:cNvPr id="14" name="Image 3" descr="preencoded.png">    </p:cNvPr>
          <p:cNvPicPr>
            <a:picLocks noChangeAspect="1"/>
          </p:cNvPicPr>
          <p:nvPr/>
        </p:nvPicPr>
        <p:blipFill>
          <a:blip r:embed="rId4"/>
          <a:stretch>
            <a:fillRect/>
          </a:stretch>
        </p:blipFill>
        <p:spPr>
          <a:xfrm>
            <a:off x="676656" y="5248656"/>
            <a:ext cx="256032" cy="256032"/>
          </a:xfrm>
          <a:prstGeom prst="rect">
            <a:avLst/>
          </a:prstGeom>
        </p:spPr>
      </p:pic>
      <p:sp>
        <p:nvSpPr>
          <p:cNvPr id="15" name="Text 9"/>
          <p:cNvSpPr/>
          <p:nvPr/>
        </p:nvSpPr>
        <p:spPr>
          <a:xfrm>
            <a:off x="1316736" y="4983480"/>
            <a:ext cx="5175504" cy="786384"/>
          </a:xfrm>
          <a:prstGeom prst="rect">
            <a:avLst/>
          </a:prstGeom>
          <a:noFill/>
          <a:ln/>
        </p:spPr>
        <p:txBody>
          <a:bodyPr wrap="square" lIns="0" tIns="0" rIns="0" bIns="0" rtlCol="0" anchor="ctr"/>
          <a:lstStyle/>
          <a:p>
            <a:pPr indent="0" marL="0">
              <a:lnSpc>
                <a:spcPts val="1600"/>
              </a:lnSpc>
              <a:buNone/>
            </a:pPr>
            <a:r>
              <a:rPr lang="en-US" sz="1500" b="1" dirty="0">
                <a:solidFill>
                  <a:srgbClr val="1B2430"/>
                </a:solidFill>
                <a:latin typeface="Calibri" pitchFamily="34" charset="0"/>
                <a:ea typeface="Calibri" pitchFamily="34" charset="-122"/>
                <a:cs typeface="Calibri" pitchFamily="34" charset="-120"/>
              </a:rPr>
              <a:t>Bills arrive without context</a:t>
            </a:r>
            <a:endParaRPr lang="en-US" sz="1500" dirty="0"/>
          </a:p>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Monthly invoices show what was spent — rarely who spent it, or why.</a:t>
            </a:r>
            <a:endParaRPr lang="en-US" sz="1500" dirty="0"/>
          </a:p>
        </p:txBody>
      </p:sp>
      <p:sp>
        <p:nvSpPr>
          <p:cNvPr id="16" name="Shape 10"/>
          <p:cNvSpPr/>
          <p:nvPr/>
        </p:nvSpPr>
        <p:spPr>
          <a:xfrm>
            <a:off x="6858000" y="1965960"/>
            <a:ext cx="4782312" cy="2194560"/>
          </a:xfrm>
          <a:prstGeom prst="roundRect">
            <a:avLst>
              <a:gd name="adj" fmla="val 3750"/>
            </a:avLst>
          </a:prstGeom>
          <a:solidFill>
            <a:srgbClr val="F1F3F6"/>
          </a:solidFill>
          <a:ln/>
          <a:effectLst>
            <a:outerShdw sx="100000" sy="100000" kx="0" ky="0" algn="bl" rotWithShape="0" blurRad="127000" dist="25400" dir="5400000">
              <a:srgbClr val="8C99A8">
                <a:alpha val="16000"/>
              </a:srgbClr>
            </a:outerShdw>
          </a:effectLst>
        </p:spPr>
      </p:sp>
      <p:sp>
        <p:nvSpPr>
          <p:cNvPr id="17" name="Text 11"/>
          <p:cNvSpPr/>
          <p:nvPr/>
        </p:nvSpPr>
        <p:spPr>
          <a:xfrm>
            <a:off x="7150608" y="2075688"/>
            <a:ext cx="4197096" cy="1975104"/>
          </a:xfrm>
          <a:prstGeom prst="rect">
            <a:avLst/>
          </a:prstGeom>
          <a:noFill/>
          <a:ln/>
        </p:spPr>
        <p:txBody>
          <a:bodyPr wrap="square" lIns="0" tIns="0" rIns="0" bIns="0" rtlCol="0" anchor="ctr"/>
          <a:lstStyle/>
          <a:p>
            <a:pPr indent="0" marL="0">
              <a:lnSpc>
                <a:spcPts val="2000"/>
              </a:lnSpc>
              <a:buNone/>
            </a:pPr>
            <a:r>
              <a:rPr lang="en-US" sz="1450" i="1" dirty="0">
                <a:solidFill>
                  <a:srgbClr val="1B2430"/>
                </a:solidFill>
                <a:latin typeface="Cambria" pitchFamily="34" charset="0"/>
                <a:ea typeface="Cambria" pitchFamily="34" charset="-122"/>
                <a:cs typeface="Cambria" pitchFamily="34" charset="-120"/>
              </a:rPr>
              <a:t>“When costs rise and no one can explain who owns the change or what caused it, visibility has failed — even if a dashboard is showing numbers.”</a:t>
            </a:r>
            <a:endParaRPr lang="en-US" sz="1450" dirty="0"/>
          </a:p>
        </p:txBody>
      </p:sp>
      <p:sp>
        <p:nvSpPr>
          <p:cNvPr id="18" name="Shape 12"/>
          <p:cNvSpPr/>
          <p:nvPr/>
        </p:nvSpPr>
        <p:spPr>
          <a:xfrm>
            <a:off x="6858000" y="4352544"/>
            <a:ext cx="4782312" cy="1508760"/>
          </a:xfrm>
          <a:prstGeom prst="roundRect">
            <a:avLst>
              <a:gd name="adj" fmla="val 5455"/>
            </a:avLst>
          </a:prstGeom>
          <a:solidFill>
            <a:srgbClr val="1F2936"/>
          </a:solidFill>
          <a:ln/>
          <a:effectLst>
            <a:outerShdw sx="100000" sy="100000" kx="0" ky="0" algn="bl" rotWithShape="0" blurRad="127000" dist="25400" dir="5400000">
              <a:srgbClr val="8C99A8">
                <a:alpha val="16000"/>
              </a:srgbClr>
            </a:outerShdw>
          </a:effectLst>
        </p:spPr>
      </p:sp>
      <p:sp>
        <p:nvSpPr>
          <p:cNvPr id="19" name="Text 13"/>
          <p:cNvSpPr/>
          <p:nvPr/>
        </p:nvSpPr>
        <p:spPr>
          <a:xfrm>
            <a:off x="7150608" y="4489704"/>
            <a:ext cx="4197096" cy="1234440"/>
          </a:xfrm>
          <a:prstGeom prst="rect">
            <a:avLst/>
          </a:prstGeom>
          <a:noFill/>
          <a:ln/>
        </p:spPr>
        <p:txBody>
          <a:bodyPr wrap="square" lIns="0" tIns="0" rIns="0" bIns="0" rtlCol="0" anchor="ctr"/>
          <a:lstStyle/>
          <a:p>
            <a:pPr indent="0" marL="0">
              <a:lnSpc>
                <a:spcPts val="2000"/>
              </a:lnSpc>
              <a:buNone/>
            </a:pPr>
            <a:r>
              <a:rPr lang="en-US" sz="1200" b="1" spc="180" kern="0" dirty="0">
                <a:solidFill>
                  <a:srgbClr val="E39B2C"/>
                </a:solidFill>
                <a:latin typeface="Calibri" pitchFamily="34" charset="0"/>
                <a:ea typeface="Calibri" pitchFamily="34" charset="-122"/>
                <a:cs typeface="Calibri" pitchFamily="34" charset="-120"/>
              </a:rPr>
              <a:t>The result</a:t>
            </a:r>
            <a:endParaRPr lang="en-US" sz="1200" dirty="0"/>
          </a:p>
          <a:p>
            <a:pPr indent="0" marL="0">
              <a:lnSpc>
                <a:spcPts val="2000"/>
              </a:lnSpc>
              <a:buNone/>
            </a:pPr>
            <a:r>
              <a:rPr lang="en-US" sz="1450" dirty="0">
                <a:solidFill>
                  <a:srgbClr val="FFFFFF"/>
                </a:solidFill>
                <a:latin typeface="Calibri" pitchFamily="34" charset="0"/>
                <a:ea typeface="Calibri" pitchFamily="34" charset="-122"/>
                <a:cs typeface="Calibri" pitchFamily="34" charset="-120"/>
              </a:rPr>
              <a:t>Sticker shock, finger-pointing and reactive cost-cutting instead of strategic optimization.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DEFINITION</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FinOps = Finance + DevOps</a:t>
            </a:r>
            <a:endParaRPr lang="en-US" sz="3100" dirty="0"/>
          </a:p>
        </p:txBody>
      </p:sp>
      <p:sp>
        <p:nvSpPr>
          <p:cNvPr id="4" name="Text 2"/>
          <p:cNvSpPr/>
          <p:nvPr/>
        </p:nvSpPr>
        <p:spPr>
          <a:xfrm>
            <a:off x="548640" y="1572768"/>
            <a:ext cx="10881360" cy="566928"/>
          </a:xfrm>
          <a:prstGeom prst="rect">
            <a:avLst/>
          </a:prstGeom>
          <a:noFill/>
          <a:ln/>
        </p:spPr>
        <p:txBody>
          <a:bodyPr wrap="square" lIns="0" tIns="0" rIns="0" bIns="0" rtlCol="0" anchor="ctr"/>
          <a:lstStyle/>
          <a:p>
            <a:pPr indent="0" marL="0">
              <a:buNone/>
            </a:pPr>
            <a:r>
              <a:rPr lang="en-US" sz="1450" dirty="0">
                <a:solidFill>
                  <a:srgbClr val="5C6675"/>
                </a:solidFill>
                <a:latin typeface="Calibri" pitchFamily="34" charset="0"/>
                <a:ea typeface="Calibri" pitchFamily="34" charset="-122"/>
                <a:cs typeface="Calibri" pitchFamily="34" charset="-120"/>
              </a:rPr>
              <a:t>An operational framework and cultural practice for maximizing the business value of cloud investment. Not a cost-cutting programme — a way to make the financial impact of technical choices visible to everyone.</a:t>
            </a:r>
            <a:endParaRPr lang="en-US" sz="1450" dirty="0"/>
          </a:p>
        </p:txBody>
      </p:sp>
      <p:sp>
        <p:nvSpPr>
          <p:cNvPr id="5" name="Shape 3"/>
          <p:cNvSpPr/>
          <p:nvPr/>
        </p:nvSpPr>
        <p:spPr>
          <a:xfrm>
            <a:off x="548640" y="2468880"/>
            <a:ext cx="3511296" cy="2423160"/>
          </a:xfrm>
          <a:prstGeom prst="roundRect">
            <a:avLst>
              <a:gd name="adj" fmla="val 3396"/>
            </a:avLst>
          </a:prstGeom>
          <a:solidFill>
            <a:srgbClr val="1F2936"/>
          </a:solidFill>
          <a:ln/>
          <a:effectLst>
            <a:outerShdw sx="100000" sy="100000" kx="0" ky="0" algn="bl" rotWithShape="0" blurRad="127000" dist="25400" dir="5400000">
              <a:srgbClr val="8C99A8">
                <a:alpha val="16000"/>
              </a:srgbClr>
            </a:outerShdw>
          </a:effectLst>
        </p:spPr>
      </p:sp>
      <p:sp>
        <p:nvSpPr>
          <p:cNvPr id="6" name="Shape 4"/>
          <p:cNvSpPr/>
          <p:nvPr/>
        </p:nvSpPr>
        <p:spPr>
          <a:xfrm>
            <a:off x="859536" y="2743200"/>
            <a:ext cx="603504" cy="603504"/>
          </a:xfrm>
          <a:prstGeom prst="ellipse">
            <a:avLst/>
          </a:prstGeom>
          <a:solidFill>
            <a:srgbClr val="E39B2C"/>
          </a:solidFill>
          <a:ln/>
        </p:spPr>
      </p:sp>
      <p:pic>
        <p:nvPicPr>
          <p:cNvPr id="7" name="Image 0" descr="preencoded.png">    </p:cNvPr>
          <p:cNvPicPr>
            <a:picLocks noChangeAspect="1"/>
          </p:cNvPicPr>
          <p:nvPr/>
        </p:nvPicPr>
        <p:blipFill>
          <a:blip r:embed="rId1"/>
          <a:stretch>
            <a:fillRect/>
          </a:stretch>
        </p:blipFill>
        <p:spPr>
          <a:xfrm>
            <a:off x="1010412" y="2894076"/>
            <a:ext cx="301752" cy="301752"/>
          </a:xfrm>
          <a:prstGeom prst="rect">
            <a:avLst/>
          </a:prstGeom>
        </p:spPr>
      </p:pic>
      <p:sp>
        <p:nvSpPr>
          <p:cNvPr id="8" name="Text 5"/>
          <p:cNvSpPr/>
          <p:nvPr/>
        </p:nvSpPr>
        <p:spPr>
          <a:xfrm>
            <a:off x="2926080" y="2743200"/>
            <a:ext cx="822960" cy="603504"/>
          </a:xfrm>
          <a:prstGeom prst="rect">
            <a:avLst/>
          </a:prstGeom>
          <a:noFill/>
          <a:ln/>
        </p:spPr>
        <p:txBody>
          <a:bodyPr wrap="square" lIns="0" tIns="0" rIns="0" bIns="0" rtlCol="0" anchor="ctr"/>
          <a:lstStyle/>
          <a:p>
            <a:pPr algn="r" indent="0" marL="0">
              <a:buNone/>
            </a:pPr>
            <a:r>
              <a:rPr lang="en-US" sz="2600" b="1" dirty="0">
                <a:solidFill>
                  <a:srgbClr val="3B4A5A"/>
                </a:solidFill>
                <a:latin typeface="Cambria" pitchFamily="34" charset="0"/>
                <a:ea typeface="Cambria" pitchFamily="34" charset="-122"/>
                <a:cs typeface="Cambria" pitchFamily="34" charset="-120"/>
              </a:rPr>
              <a:t>01</a:t>
            </a:r>
            <a:endParaRPr lang="en-US" sz="2600" dirty="0"/>
          </a:p>
        </p:txBody>
      </p:sp>
      <p:sp>
        <p:nvSpPr>
          <p:cNvPr id="9" name="Text 6"/>
          <p:cNvSpPr/>
          <p:nvPr/>
        </p:nvSpPr>
        <p:spPr>
          <a:xfrm>
            <a:off x="859536" y="3493008"/>
            <a:ext cx="2889504" cy="38404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Inform</a:t>
            </a:r>
            <a:endParaRPr lang="en-US" sz="2200" dirty="0"/>
          </a:p>
        </p:txBody>
      </p:sp>
      <p:sp>
        <p:nvSpPr>
          <p:cNvPr id="10" name="Text 7"/>
          <p:cNvSpPr/>
          <p:nvPr/>
        </p:nvSpPr>
        <p:spPr>
          <a:xfrm>
            <a:off x="859536" y="3913632"/>
            <a:ext cx="2889504" cy="822960"/>
          </a:xfrm>
          <a:prstGeom prst="rect">
            <a:avLst/>
          </a:prstGeom>
          <a:noFill/>
          <a:ln/>
        </p:spPr>
        <p:txBody>
          <a:bodyPr wrap="square" lIns="0" tIns="0" rIns="0" bIns="0" rtlCol="0" anchor="t"/>
          <a:lstStyle/>
          <a:p>
            <a:pPr indent="0" marL="0">
              <a:lnSpc>
                <a:spcPts val="1700"/>
              </a:lnSpc>
              <a:buNone/>
            </a:pPr>
            <a:r>
              <a:rPr lang="en-US" sz="1300" dirty="0">
                <a:solidFill>
                  <a:srgbClr val="9EABBA"/>
                </a:solidFill>
                <a:latin typeface="Calibri" pitchFamily="34" charset="0"/>
                <a:ea typeface="Calibri" pitchFamily="34" charset="-122"/>
                <a:cs typeface="Calibri" pitchFamily="34" charset="-120"/>
              </a:rPr>
              <a:t>Build visibility. Understand who is spending what, where, and why.</a:t>
            </a:r>
            <a:endParaRPr lang="en-US" sz="1300" dirty="0"/>
          </a:p>
        </p:txBody>
      </p:sp>
      <p:sp>
        <p:nvSpPr>
          <p:cNvPr id="11" name="Shape 8"/>
          <p:cNvSpPr/>
          <p:nvPr/>
        </p:nvSpPr>
        <p:spPr>
          <a:xfrm>
            <a:off x="4334256" y="2468880"/>
            <a:ext cx="3511296" cy="2423160"/>
          </a:xfrm>
          <a:prstGeom prst="roundRect">
            <a:avLst>
              <a:gd name="adj" fmla="val 3396"/>
            </a:avLst>
          </a:prstGeom>
          <a:solidFill>
            <a:srgbClr val="F1F3F6"/>
          </a:solidFill>
          <a:ln/>
          <a:effectLst>
            <a:outerShdw sx="100000" sy="100000" kx="0" ky="0" algn="bl" rotWithShape="0" blurRad="127000" dist="25400" dir="5400000">
              <a:srgbClr val="8C99A8">
                <a:alpha val="16000"/>
              </a:srgbClr>
            </a:outerShdw>
          </a:effectLst>
        </p:spPr>
      </p:sp>
      <p:sp>
        <p:nvSpPr>
          <p:cNvPr id="12" name="Shape 9"/>
          <p:cNvSpPr/>
          <p:nvPr/>
        </p:nvSpPr>
        <p:spPr>
          <a:xfrm>
            <a:off x="4645152" y="2743200"/>
            <a:ext cx="603504" cy="603504"/>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4796028" y="2894076"/>
            <a:ext cx="301752" cy="301752"/>
          </a:xfrm>
          <a:prstGeom prst="rect">
            <a:avLst/>
          </a:prstGeom>
        </p:spPr>
      </p:pic>
      <p:sp>
        <p:nvSpPr>
          <p:cNvPr id="14" name="Text 10"/>
          <p:cNvSpPr/>
          <p:nvPr/>
        </p:nvSpPr>
        <p:spPr>
          <a:xfrm>
            <a:off x="6711696" y="2743200"/>
            <a:ext cx="822960" cy="603504"/>
          </a:xfrm>
          <a:prstGeom prst="rect">
            <a:avLst/>
          </a:prstGeom>
          <a:noFill/>
          <a:ln/>
        </p:spPr>
        <p:txBody>
          <a:bodyPr wrap="square" lIns="0" tIns="0" rIns="0" bIns="0" rtlCol="0" anchor="ctr"/>
          <a:lstStyle/>
          <a:p>
            <a:pPr algn="r" indent="0" marL="0">
              <a:buNone/>
            </a:pPr>
            <a:r>
              <a:rPr lang="en-US" sz="2600" b="1" dirty="0">
                <a:solidFill>
                  <a:srgbClr val="C8D0DA"/>
                </a:solidFill>
                <a:latin typeface="Cambria" pitchFamily="34" charset="0"/>
                <a:ea typeface="Cambria" pitchFamily="34" charset="-122"/>
                <a:cs typeface="Cambria" pitchFamily="34" charset="-120"/>
              </a:rPr>
              <a:t>02</a:t>
            </a:r>
            <a:endParaRPr lang="en-US" sz="2600" dirty="0"/>
          </a:p>
        </p:txBody>
      </p:sp>
      <p:sp>
        <p:nvSpPr>
          <p:cNvPr id="15" name="Text 11"/>
          <p:cNvSpPr/>
          <p:nvPr/>
        </p:nvSpPr>
        <p:spPr>
          <a:xfrm>
            <a:off x="4645152" y="3493008"/>
            <a:ext cx="2889504" cy="384048"/>
          </a:xfrm>
          <a:prstGeom prst="rect">
            <a:avLst/>
          </a:prstGeom>
          <a:noFill/>
          <a:ln/>
        </p:spPr>
        <p:txBody>
          <a:bodyPr wrap="square" lIns="0" tIns="0" rIns="0" bIns="0" rtlCol="0" anchor="ctr"/>
          <a:lstStyle/>
          <a:p>
            <a:pPr indent="0" marL="0">
              <a:buNone/>
            </a:pPr>
            <a:r>
              <a:rPr lang="en-US" sz="2200" b="1" dirty="0">
                <a:solidFill>
                  <a:srgbClr val="1B2430"/>
                </a:solidFill>
                <a:latin typeface="Cambria" pitchFamily="34" charset="0"/>
                <a:ea typeface="Cambria" pitchFamily="34" charset="-122"/>
                <a:cs typeface="Cambria" pitchFamily="34" charset="-120"/>
              </a:rPr>
              <a:t>Optimize</a:t>
            </a:r>
            <a:endParaRPr lang="en-US" sz="2200" dirty="0"/>
          </a:p>
        </p:txBody>
      </p:sp>
      <p:sp>
        <p:nvSpPr>
          <p:cNvPr id="16" name="Text 12"/>
          <p:cNvSpPr/>
          <p:nvPr/>
        </p:nvSpPr>
        <p:spPr>
          <a:xfrm>
            <a:off x="4645152" y="3913632"/>
            <a:ext cx="2889504" cy="822960"/>
          </a:xfrm>
          <a:prstGeom prst="rect">
            <a:avLst/>
          </a:prstGeom>
          <a:noFill/>
          <a:ln/>
        </p:spPr>
        <p:txBody>
          <a:bodyPr wrap="square" lIns="0" tIns="0" rIns="0" bIns="0" rtlCol="0" anchor="t"/>
          <a:lstStyle/>
          <a:p>
            <a:pPr indent="0" marL="0">
              <a:lnSpc>
                <a:spcPts val="1700"/>
              </a:lnSpc>
              <a:buNone/>
            </a:pPr>
            <a:r>
              <a:rPr lang="en-US" sz="1300" dirty="0">
                <a:solidFill>
                  <a:srgbClr val="5C6675"/>
                </a:solidFill>
                <a:latin typeface="Calibri" pitchFamily="34" charset="0"/>
                <a:ea typeface="Calibri" pitchFamily="34" charset="-122"/>
                <a:cs typeface="Calibri" pitchFamily="34" charset="-120"/>
              </a:rPr>
              <a:t>Act on the insight. Rightsize, eliminate waste, manage commitments.</a:t>
            </a:r>
            <a:endParaRPr lang="en-US" sz="1300" dirty="0"/>
          </a:p>
        </p:txBody>
      </p:sp>
      <p:sp>
        <p:nvSpPr>
          <p:cNvPr id="17" name="Shape 13"/>
          <p:cNvSpPr/>
          <p:nvPr/>
        </p:nvSpPr>
        <p:spPr>
          <a:xfrm>
            <a:off x="8119872" y="2468880"/>
            <a:ext cx="3511296" cy="2423160"/>
          </a:xfrm>
          <a:prstGeom prst="roundRect">
            <a:avLst>
              <a:gd name="adj" fmla="val 3396"/>
            </a:avLst>
          </a:prstGeom>
          <a:solidFill>
            <a:srgbClr val="F1F3F6"/>
          </a:solidFill>
          <a:ln/>
          <a:effectLst>
            <a:outerShdw sx="100000" sy="100000" kx="0" ky="0" algn="bl" rotWithShape="0" blurRad="127000" dist="25400" dir="5400000">
              <a:srgbClr val="8C99A8">
                <a:alpha val="16000"/>
              </a:srgbClr>
            </a:outerShdw>
          </a:effectLst>
        </p:spPr>
      </p:sp>
      <p:sp>
        <p:nvSpPr>
          <p:cNvPr id="18" name="Shape 14"/>
          <p:cNvSpPr/>
          <p:nvPr/>
        </p:nvSpPr>
        <p:spPr>
          <a:xfrm>
            <a:off x="8430768" y="2743200"/>
            <a:ext cx="603504" cy="603504"/>
          </a:xfrm>
          <a:prstGeom prst="ellipse">
            <a:avLst/>
          </a:prstGeom>
          <a:solidFill>
            <a:srgbClr val="FFFFFF"/>
          </a:solidFill>
          <a:ln/>
        </p:spPr>
      </p:sp>
      <p:pic>
        <p:nvPicPr>
          <p:cNvPr id="19" name="Image 2" descr="preencoded.png">    </p:cNvPr>
          <p:cNvPicPr>
            <a:picLocks noChangeAspect="1"/>
          </p:cNvPicPr>
          <p:nvPr/>
        </p:nvPicPr>
        <p:blipFill>
          <a:blip r:embed="rId3"/>
          <a:stretch>
            <a:fillRect/>
          </a:stretch>
        </p:blipFill>
        <p:spPr>
          <a:xfrm>
            <a:off x="8581644" y="2894076"/>
            <a:ext cx="301752" cy="301752"/>
          </a:xfrm>
          <a:prstGeom prst="rect">
            <a:avLst/>
          </a:prstGeom>
        </p:spPr>
      </p:pic>
      <p:sp>
        <p:nvSpPr>
          <p:cNvPr id="20" name="Text 15"/>
          <p:cNvSpPr/>
          <p:nvPr/>
        </p:nvSpPr>
        <p:spPr>
          <a:xfrm>
            <a:off x="10497312" y="2743200"/>
            <a:ext cx="822960" cy="603504"/>
          </a:xfrm>
          <a:prstGeom prst="rect">
            <a:avLst/>
          </a:prstGeom>
          <a:noFill/>
          <a:ln/>
        </p:spPr>
        <p:txBody>
          <a:bodyPr wrap="square" lIns="0" tIns="0" rIns="0" bIns="0" rtlCol="0" anchor="ctr"/>
          <a:lstStyle/>
          <a:p>
            <a:pPr algn="r" indent="0" marL="0">
              <a:buNone/>
            </a:pPr>
            <a:r>
              <a:rPr lang="en-US" sz="2600" b="1" dirty="0">
                <a:solidFill>
                  <a:srgbClr val="C8D0DA"/>
                </a:solidFill>
                <a:latin typeface="Cambria" pitchFamily="34" charset="0"/>
                <a:ea typeface="Cambria" pitchFamily="34" charset="-122"/>
                <a:cs typeface="Cambria" pitchFamily="34" charset="-120"/>
              </a:rPr>
              <a:t>03</a:t>
            </a:r>
            <a:endParaRPr lang="en-US" sz="2600" dirty="0"/>
          </a:p>
        </p:txBody>
      </p:sp>
      <p:sp>
        <p:nvSpPr>
          <p:cNvPr id="21" name="Text 16"/>
          <p:cNvSpPr/>
          <p:nvPr/>
        </p:nvSpPr>
        <p:spPr>
          <a:xfrm>
            <a:off x="8430768" y="3493008"/>
            <a:ext cx="2889504" cy="384048"/>
          </a:xfrm>
          <a:prstGeom prst="rect">
            <a:avLst/>
          </a:prstGeom>
          <a:noFill/>
          <a:ln/>
        </p:spPr>
        <p:txBody>
          <a:bodyPr wrap="square" lIns="0" tIns="0" rIns="0" bIns="0" rtlCol="0" anchor="ctr"/>
          <a:lstStyle/>
          <a:p>
            <a:pPr indent="0" marL="0">
              <a:buNone/>
            </a:pPr>
            <a:r>
              <a:rPr lang="en-US" sz="2200" b="1" dirty="0">
                <a:solidFill>
                  <a:srgbClr val="1B2430"/>
                </a:solidFill>
                <a:latin typeface="Cambria" pitchFamily="34" charset="0"/>
                <a:ea typeface="Cambria" pitchFamily="34" charset="-122"/>
                <a:cs typeface="Cambria" pitchFamily="34" charset="-120"/>
              </a:rPr>
              <a:t>Operate</a:t>
            </a:r>
            <a:endParaRPr lang="en-US" sz="2200" dirty="0"/>
          </a:p>
        </p:txBody>
      </p:sp>
      <p:sp>
        <p:nvSpPr>
          <p:cNvPr id="22" name="Text 17"/>
          <p:cNvSpPr/>
          <p:nvPr/>
        </p:nvSpPr>
        <p:spPr>
          <a:xfrm>
            <a:off x="8430768" y="3913632"/>
            <a:ext cx="2889504" cy="822960"/>
          </a:xfrm>
          <a:prstGeom prst="rect">
            <a:avLst/>
          </a:prstGeom>
          <a:noFill/>
          <a:ln/>
        </p:spPr>
        <p:txBody>
          <a:bodyPr wrap="square" lIns="0" tIns="0" rIns="0" bIns="0" rtlCol="0" anchor="t"/>
          <a:lstStyle/>
          <a:p>
            <a:pPr indent="0" marL="0">
              <a:lnSpc>
                <a:spcPts val="1700"/>
              </a:lnSpc>
              <a:buNone/>
            </a:pPr>
            <a:r>
              <a:rPr lang="en-US" sz="1300" dirty="0">
                <a:solidFill>
                  <a:srgbClr val="5C6675"/>
                </a:solidFill>
                <a:latin typeface="Calibri" pitchFamily="34" charset="0"/>
                <a:ea typeface="Calibri" pitchFamily="34" charset="-122"/>
                <a:cs typeface="Calibri" pitchFamily="34" charset="-120"/>
              </a:rPr>
              <a:t>Embed cost awareness into daily engineering and business process.</a:t>
            </a:r>
            <a:endParaRPr lang="en-US" sz="1300" dirty="0"/>
          </a:p>
        </p:txBody>
      </p:sp>
      <p:sp>
        <p:nvSpPr>
          <p:cNvPr id="23" name="Text 18"/>
          <p:cNvSpPr/>
          <p:nvPr/>
        </p:nvSpPr>
        <p:spPr>
          <a:xfrm>
            <a:off x="548640" y="5074920"/>
            <a:ext cx="5486400" cy="310896"/>
          </a:xfrm>
          <a:prstGeom prst="rect">
            <a:avLst/>
          </a:prstGeom>
          <a:noFill/>
          <a:ln/>
        </p:spPr>
        <p:txBody>
          <a:bodyPr wrap="square" lIns="0" tIns="0" rIns="0" bIns="0" rtlCol="0" anchor="ctr"/>
          <a:lstStyle/>
          <a:p>
            <a:pPr indent="0" marL="0">
              <a:buNone/>
            </a:pPr>
            <a:r>
              <a:rPr lang="en-US" sz="1250" dirty="0">
                <a:solidFill>
                  <a:srgbClr val="5C6675"/>
                </a:solidFill>
                <a:latin typeface="Calibri" pitchFamily="34" charset="0"/>
                <a:ea typeface="Calibri" pitchFamily="34" charset="-122"/>
                <a:cs typeface="Calibri" pitchFamily="34" charset="-120"/>
              </a:rPr>
              <a:t>A continuous cycle, not a sequence of projects.</a:t>
            </a:r>
            <a:endParaRPr lang="en-US" sz="1250" dirty="0"/>
          </a:p>
        </p:txBody>
      </p:sp>
      <p:sp>
        <p:nvSpPr>
          <p:cNvPr id="24" name="Shape 19"/>
          <p:cNvSpPr/>
          <p:nvPr/>
        </p:nvSpPr>
        <p:spPr>
          <a:xfrm>
            <a:off x="548640" y="5532120"/>
            <a:ext cx="11091672" cy="749808"/>
          </a:xfrm>
          <a:prstGeom prst="roundRect">
            <a:avLst>
              <a:gd name="adj" fmla="val 10976"/>
            </a:avLst>
          </a:prstGeom>
          <a:solidFill>
            <a:srgbClr val="FBEFD8"/>
          </a:solidFill>
          <a:ln/>
          <a:effectLst>
            <a:outerShdw sx="100000" sy="100000" kx="0" ky="0" algn="bl" rotWithShape="0" blurRad="127000" dist="25400" dir="5400000">
              <a:srgbClr val="8C99A8">
                <a:alpha val="16000"/>
              </a:srgbClr>
            </a:outerShdw>
          </a:effectLst>
        </p:spPr>
      </p:sp>
      <p:sp>
        <p:nvSpPr>
          <p:cNvPr id="25" name="Text 20"/>
          <p:cNvSpPr/>
          <p:nvPr/>
        </p:nvSpPr>
        <p:spPr>
          <a:xfrm>
            <a:off x="841248" y="5641848"/>
            <a:ext cx="10506456" cy="530352"/>
          </a:xfrm>
          <a:prstGeom prst="rect">
            <a:avLst/>
          </a:prstGeom>
          <a:noFill/>
          <a:ln/>
        </p:spPr>
        <p:txBody>
          <a:bodyPr wrap="square" lIns="0" tIns="0" rIns="0" bIns="0" rtlCol="0" anchor="ctr"/>
          <a:lstStyle/>
          <a:p>
            <a:pPr indent="0" marL="0">
              <a:lnSpc>
                <a:spcPts val="2000"/>
              </a:lnSpc>
              <a:buNone/>
            </a:pPr>
            <a:r>
              <a:rPr lang="en-US" sz="1600" i="1" dirty="0">
                <a:solidFill>
                  <a:srgbClr val="6B4A0E"/>
                </a:solidFill>
                <a:latin typeface="Cambria" pitchFamily="34" charset="0"/>
                <a:ea typeface="Cambria" pitchFamily="34" charset="-122"/>
                <a:cs typeface="Cambria" pitchFamily="34" charset="-120"/>
              </a:rPr>
              <a:t>“Without visibility, nothing else in the practice works.”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WHY VISIBILITY FIRST</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You cannot optimize what you cannot see</a:t>
            </a:r>
            <a:endParaRPr lang="en-US" sz="3100" dirty="0"/>
          </a:p>
        </p:txBody>
      </p:sp>
      <p:sp>
        <p:nvSpPr>
          <p:cNvPr id="4" name="Text 2"/>
          <p:cNvSpPr/>
          <p:nvPr/>
        </p:nvSpPr>
        <p:spPr>
          <a:xfrm>
            <a:off x="548640" y="1536192"/>
            <a:ext cx="10607040" cy="365760"/>
          </a:xfrm>
          <a:prstGeom prst="rect">
            <a:avLst/>
          </a:prstGeom>
          <a:noFill/>
          <a:ln/>
        </p:spPr>
        <p:txBody>
          <a:bodyPr wrap="square" lIns="0" tIns="0" rIns="0" bIns="0" rtlCol="0" anchor="ctr"/>
          <a:lstStyle/>
          <a:p>
            <a:pPr indent="0" marL="0">
              <a:buNone/>
            </a:pPr>
            <a:r>
              <a:rPr lang="en-US" sz="1500" dirty="0">
                <a:solidFill>
                  <a:srgbClr val="5C6675"/>
                </a:solidFill>
                <a:latin typeface="Calibri" pitchFamily="34" charset="0"/>
                <a:ea typeface="Calibri" pitchFamily="34" charset="-122"/>
                <a:cs typeface="Calibri" pitchFamily="34" charset="-120"/>
              </a:rPr>
              <a:t>Four questions the organization must be able to answer before any meaningful optimization begins.</a:t>
            </a:r>
            <a:endParaRPr lang="en-US" sz="1500" dirty="0"/>
          </a:p>
        </p:txBody>
      </p:sp>
      <p:sp>
        <p:nvSpPr>
          <p:cNvPr id="5" name="Shape 3"/>
          <p:cNvSpPr/>
          <p:nvPr/>
        </p:nvSpPr>
        <p:spPr>
          <a:xfrm>
            <a:off x="548640" y="2084832"/>
            <a:ext cx="11091672" cy="713232"/>
          </a:xfrm>
          <a:prstGeom prst="roundRect">
            <a:avLst>
              <a:gd name="adj" fmla="val 11538"/>
            </a:avLst>
          </a:prstGeom>
          <a:solidFill>
            <a:srgbClr val="F1F3F6"/>
          </a:solidFill>
          <a:ln/>
        </p:spPr>
      </p:sp>
      <p:sp>
        <p:nvSpPr>
          <p:cNvPr id="6" name="Text 4"/>
          <p:cNvSpPr/>
          <p:nvPr/>
        </p:nvSpPr>
        <p:spPr>
          <a:xfrm>
            <a:off x="859536" y="2084832"/>
            <a:ext cx="7315200" cy="713232"/>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Which teams, products or features drive cloud spend?</a:t>
            </a:r>
            <a:endParaRPr lang="en-US" sz="1500" dirty="0"/>
          </a:p>
        </p:txBody>
      </p:sp>
      <p:sp>
        <p:nvSpPr>
          <p:cNvPr id="7" name="Text 5"/>
          <p:cNvSpPr/>
          <p:nvPr/>
        </p:nvSpPr>
        <p:spPr>
          <a:xfrm>
            <a:off x="8321040" y="2258568"/>
            <a:ext cx="3017520" cy="365760"/>
          </a:xfrm>
          <a:prstGeom prst="rect">
            <a:avLst/>
          </a:prstGeom>
          <a:noFill/>
          <a:ln/>
        </p:spPr>
        <p:txBody>
          <a:bodyPr wrap="square" lIns="0" tIns="0" rIns="0" bIns="0" rtlCol="0" anchor="ctr"/>
          <a:lstStyle/>
          <a:p>
            <a:pPr algn="r" indent="0" marL="0">
              <a:buNone/>
            </a:pPr>
            <a:r>
              <a:rPr lang="en-US" sz="1250" b="1" spc="80" kern="0" dirty="0">
                <a:solidFill>
                  <a:srgbClr val="2E8B7A"/>
                </a:solidFill>
                <a:latin typeface="Calibri" pitchFamily="34" charset="0"/>
                <a:ea typeface="Calibri" pitchFamily="34" charset="-122"/>
                <a:cs typeface="Calibri" pitchFamily="34" charset="-120"/>
              </a:rPr>
              <a:t>Accountability</a:t>
            </a:r>
            <a:endParaRPr lang="en-US" sz="1250" dirty="0"/>
          </a:p>
        </p:txBody>
      </p:sp>
      <p:sp>
        <p:nvSpPr>
          <p:cNvPr id="8" name="Shape 6"/>
          <p:cNvSpPr/>
          <p:nvPr/>
        </p:nvSpPr>
        <p:spPr>
          <a:xfrm>
            <a:off x="548640" y="2907792"/>
            <a:ext cx="11091672" cy="713232"/>
          </a:xfrm>
          <a:prstGeom prst="roundRect">
            <a:avLst>
              <a:gd name="adj" fmla="val 11538"/>
            </a:avLst>
          </a:prstGeom>
          <a:solidFill>
            <a:srgbClr val="F1F3F6"/>
          </a:solidFill>
          <a:ln/>
        </p:spPr>
      </p:sp>
      <p:sp>
        <p:nvSpPr>
          <p:cNvPr id="9" name="Text 7"/>
          <p:cNvSpPr/>
          <p:nvPr/>
        </p:nvSpPr>
        <p:spPr>
          <a:xfrm>
            <a:off x="859536" y="2907792"/>
            <a:ext cx="7315200" cy="713232"/>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Is spend growing with the business — or faster than it?</a:t>
            </a:r>
            <a:endParaRPr lang="en-US" sz="1500" dirty="0"/>
          </a:p>
        </p:txBody>
      </p:sp>
      <p:sp>
        <p:nvSpPr>
          <p:cNvPr id="10" name="Text 8"/>
          <p:cNvSpPr/>
          <p:nvPr/>
        </p:nvSpPr>
        <p:spPr>
          <a:xfrm>
            <a:off x="8321040" y="3081528"/>
            <a:ext cx="3017520" cy="365760"/>
          </a:xfrm>
          <a:prstGeom prst="rect">
            <a:avLst/>
          </a:prstGeom>
          <a:noFill/>
          <a:ln/>
        </p:spPr>
        <p:txBody>
          <a:bodyPr wrap="square" lIns="0" tIns="0" rIns="0" bIns="0" rtlCol="0" anchor="ctr"/>
          <a:lstStyle/>
          <a:p>
            <a:pPr algn="r" indent="0" marL="0">
              <a:buNone/>
            </a:pPr>
            <a:r>
              <a:rPr lang="en-US" sz="1250" b="1" spc="80" kern="0" dirty="0">
                <a:solidFill>
                  <a:srgbClr val="2E8B7A"/>
                </a:solidFill>
                <a:latin typeface="Calibri" pitchFamily="34" charset="0"/>
                <a:ea typeface="Calibri" pitchFamily="34" charset="-122"/>
                <a:cs typeface="Calibri" pitchFamily="34" charset="-120"/>
              </a:rPr>
              <a:t>Efficiency signal</a:t>
            </a:r>
            <a:endParaRPr lang="en-US" sz="1250" dirty="0"/>
          </a:p>
        </p:txBody>
      </p:sp>
      <p:sp>
        <p:nvSpPr>
          <p:cNvPr id="11" name="Shape 9"/>
          <p:cNvSpPr/>
          <p:nvPr/>
        </p:nvSpPr>
        <p:spPr>
          <a:xfrm>
            <a:off x="548640" y="3730752"/>
            <a:ext cx="11091672" cy="713232"/>
          </a:xfrm>
          <a:prstGeom prst="roundRect">
            <a:avLst>
              <a:gd name="adj" fmla="val 11538"/>
            </a:avLst>
          </a:prstGeom>
          <a:solidFill>
            <a:srgbClr val="F1F3F6"/>
          </a:solidFill>
          <a:ln/>
        </p:spPr>
      </p:sp>
      <p:sp>
        <p:nvSpPr>
          <p:cNvPr id="12" name="Text 10"/>
          <p:cNvSpPr/>
          <p:nvPr/>
        </p:nvSpPr>
        <p:spPr>
          <a:xfrm>
            <a:off x="859536" y="3730752"/>
            <a:ext cx="7315200" cy="713232"/>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Which resources are paid for but sitting unused?</a:t>
            </a:r>
            <a:endParaRPr lang="en-US" sz="1500" dirty="0"/>
          </a:p>
        </p:txBody>
      </p:sp>
      <p:sp>
        <p:nvSpPr>
          <p:cNvPr id="13" name="Text 11"/>
          <p:cNvSpPr/>
          <p:nvPr/>
        </p:nvSpPr>
        <p:spPr>
          <a:xfrm>
            <a:off x="8321040" y="3904488"/>
            <a:ext cx="3017520" cy="365760"/>
          </a:xfrm>
          <a:prstGeom prst="rect">
            <a:avLst/>
          </a:prstGeom>
          <a:noFill/>
          <a:ln/>
        </p:spPr>
        <p:txBody>
          <a:bodyPr wrap="square" lIns="0" tIns="0" rIns="0" bIns="0" rtlCol="0" anchor="ctr"/>
          <a:lstStyle/>
          <a:p>
            <a:pPr algn="r" indent="0" marL="0">
              <a:buNone/>
            </a:pPr>
            <a:r>
              <a:rPr lang="en-US" sz="1250" b="1" spc="80" kern="0" dirty="0">
                <a:solidFill>
                  <a:srgbClr val="2E8B7A"/>
                </a:solidFill>
                <a:latin typeface="Calibri" pitchFamily="34" charset="0"/>
                <a:ea typeface="Calibri" pitchFamily="34" charset="-122"/>
                <a:cs typeface="Calibri" pitchFamily="34" charset="-120"/>
              </a:rPr>
              <a:t>Waste identification</a:t>
            </a:r>
            <a:endParaRPr lang="en-US" sz="1250" dirty="0"/>
          </a:p>
        </p:txBody>
      </p:sp>
      <p:sp>
        <p:nvSpPr>
          <p:cNvPr id="14" name="Shape 12"/>
          <p:cNvSpPr/>
          <p:nvPr/>
        </p:nvSpPr>
        <p:spPr>
          <a:xfrm>
            <a:off x="548640" y="4553712"/>
            <a:ext cx="11091672" cy="713232"/>
          </a:xfrm>
          <a:prstGeom prst="roundRect">
            <a:avLst>
              <a:gd name="adj" fmla="val 11538"/>
            </a:avLst>
          </a:prstGeom>
          <a:solidFill>
            <a:srgbClr val="F1F3F6"/>
          </a:solidFill>
          <a:ln/>
        </p:spPr>
      </p:sp>
      <p:sp>
        <p:nvSpPr>
          <p:cNvPr id="15" name="Text 13"/>
          <p:cNvSpPr/>
          <p:nvPr/>
        </p:nvSpPr>
        <p:spPr>
          <a:xfrm>
            <a:off x="859536" y="4553712"/>
            <a:ext cx="7315200" cy="713232"/>
          </a:xfrm>
          <a:prstGeom prst="rect">
            <a:avLst/>
          </a:prstGeom>
          <a:noFill/>
          <a:ln/>
        </p:spPr>
        <p:txBody>
          <a:bodyPr wrap="square" lIns="0" tIns="0" rIns="0" bIns="0" rtlCol="0" anchor="ctr"/>
          <a:lstStyle/>
          <a:p>
            <a:pPr indent="0" marL="0">
              <a:buNone/>
            </a:pPr>
            <a:r>
              <a:rPr lang="en-US" sz="1500" b="1" dirty="0">
                <a:solidFill>
                  <a:srgbClr val="1B2430"/>
                </a:solidFill>
                <a:latin typeface="Calibri" pitchFamily="34" charset="0"/>
                <a:ea typeface="Calibri" pitchFamily="34" charset="-122"/>
                <a:cs typeface="Calibri" pitchFamily="34" charset="-120"/>
              </a:rPr>
              <a:t>Are costs allocated accurately enough to drive ownership?</a:t>
            </a:r>
            <a:endParaRPr lang="en-US" sz="1500" dirty="0"/>
          </a:p>
        </p:txBody>
      </p:sp>
      <p:sp>
        <p:nvSpPr>
          <p:cNvPr id="16" name="Text 14"/>
          <p:cNvSpPr/>
          <p:nvPr/>
        </p:nvSpPr>
        <p:spPr>
          <a:xfrm>
            <a:off x="8321040" y="4727448"/>
            <a:ext cx="3017520" cy="365760"/>
          </a:xfrm>
          <a:prstGeom prst="rect">
            <a:avLst/>
          </a:prstGeom>
          <a:noFill/>
          <a:ln/>
        </p:spPr>
        <p:txBody>
          <a:bodyPr wrap="square" lIns="0" tIns="0" rIns="0" bIns="0" rtlCol="0" anchor="ctr"/>
          <a:lstStyle/>
          <a:p>
            <a:pPr algn="r" indent="0" marL="0">
              <a:buNone/>
            </a:pPr>
            <a:r>
              <a:rPr lang="en-US" sz="1250" b="1" spc="80" kern="0" dirty="0">
                <a:solidFill>
                  <a:srgbClr val="2E8B7A"/>
                </a:solidFill>
                <a:latin typeface="Calibri" pitchFamily="34" charset="0"/>
                <a:ea typeface="Calibri" pitchFamily="34" charset="-122"/>
                <a:cs typeface="Calibri" pitchFamily="34" charset="-120"/>
              </a:rPr>
              <a:t>Behaviour change</a:t>
            </a:r>
            <a:endParaRPr lang="en-US" sz="1250" dirty="0"/>
          </a:p>
        </p:txBody>
      </p:sp>
      <p:sp>
        <p:nvSpPr>
          <p:cNvPr id="17" name="Shape 15"/>
          <p:cNvSpPr/>
          <p:nvPr/>
        </p:nvSpPr>
        <p:spPr>
          <a:xfrm>
            <a:off x="548640" y="5504688"/>
            <a:ext cx="11091672" cy="841248"/>
          </a:xfrm>
          <a:prstGeom prst="roundRect">
            <a:avLst>
              <a:gd name="adj" fmla="val 9783"/>
            </a:avLst>
          </a:prstGeom>
          <a:solidFill>
            <a:srgbClr val="1F2936"/>
          </a:solidFill>
          <a:ln/>
          <a:effectLst>
            <a:outerShdw sx="100000" sy="100000" kx="0" ky="0" algn="bl" rotWithShape="0" blurRad="127000" dist="25400" dir="5400000">
              <a:srgbClr val="8C99A8">
                <a:alpha val="16000"/>
              </a:srgbClr>
            </a:outerShdw>
          </a:effectLst>
        </p:spPr>
      </p:sp>
      <p:sp>
        <p:nvSpPr>
          <p:cNvPr id="18" name="Text 16"/>
          <p:cNvSpPr/>
          <p:nvPr/>
        </p:nvSpPr>
        <p:spPr>
          <a:xfrm>
            <a:off x="859536" y="5504688"/>
            <a:ext cx="10469880" cy="841248"/>
          </a:xfrm>
          <a:prstGeom prst="rect">
            <a:avLst/>
          </a:prstGeom>
          <a:noFill/>
          <a:ln/>
        </p:spPr>
        <p:txBody>
          <a:bodyPr wrap="square" lIns="0" tIns="0" rIns="0" bIns="0" rtlCol="0" anchor="ctr"/>
          <a:lstStyle/>
          <a:p>
            <a:pPr indent="0" marL="0">
              <a:buNone/>
            </a:pPr>
            <a:r>
              <a:rPr lang="en-US" sz="1400" b="1" dirty="0">
                <a:solidFill>
                  <a:srgbClr val="E39B2C"/>
                </a:solidFill>
                <a:latin typeface="Calibri" pitchFamily="34" charset="0"/>
                <a:ea typeface="Calibri" pitchFamily="34" charset="-122"/>
                <a:cs typeface="Calibri" pitchFamily="34" charset="-120"/>
              </a:rPr>
              <a:t>The risk of skipping visibility:  </a:t>
            </a:r>
            <a:pPr indent="0" marL="0">
              <a:buNone/>
            </a:pPr>
            <a:r>
              <a:rPr lang="en-US" sz="1400" dirty="0">
                <a:solidFill>
                  <a:srgbClr val="FFFFFF"/>
                </a:solidFill>
                <a:latin typeface="Calibri" pitchFamily="34" charset="0"/>
                <a:ea typeface="Calibri" pitchFamily="34" charset="-122"/>
                <a:cs typeface="Calibri" pitchFamily="34" charset="-120"/>
              </a:rPr>
              <a:t>optimization becomes reactive and superficial — blanket cost-cutting instead of targeted action against real waste.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THE VISIBILITY FRAMEWORK</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What “good visibility” looks like</a:t>
            </a:r>
            <a:endParaRPr lang="en-US" sz="3100" dirty="0"/>
          </a:p>
        </p:txBody>
      </p:sp>
      <p:sp>
        <p:nvSpPr>
          <p:cNvPr id="4" name="Shape 2"/>
          <p:cNvSpPr/>
          <p:nvPr/>
        </p:nvSpPr>
        <p:spPr>
          <a:xfrm>
            <a:off x="548640" y="1783080"/>
            <a:ext cx="5394960" cy="1481328"/>
          </a:xfrm>
          <a:prstGeom prst="roundRect">
            <a:avLst>
              <a:gd name="adj" fmla="val 5556"/>
            </a:avLst>
          </a:prstGeom>
          <a:solidFill>
            <a:srgbClr val="F1F3F6"/>
          </a:solidFill>
          <a:ln/>
        </p:spPr>
      </p:sp>
      <p:sp>
        <p:nvSpPr>
          <p:cNvPr id="5" name="Shape 3"/>
          <p:cNvSpPr/>
          <p:nvPr/>
        </p:nvSpPr>
        <p:spPr>
          <a:xfrm>
            <a:off x="841248" y="2185416"/>
            <a:ext cx="640080" cy="64008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001268" y="2345436"/>
            <a:ext cx="320040" cy="320040"/>
          </a:xfrm>
          <a:prstGeom prst="rect">
            <a:avLst/>
          </a:prstGeom>
        </p:spPr>
      </p:pic>
      <p:sp>
        <p:nvSpPr>
          <p:cNvPr id="7" name="Text 4"/>
          <p:cNvSpPr/>
          <p:nvPr/>
        </p:nvSpPr>
        <p:spPr>
          <a:xfrm>
            <a:off x="1645920" y="2002536"/>
            <a:ext cx="4023360" cy="347472"/>
          </a:xfrm>
          <a:prstGeom prst="rect">
            <a:avLst/>
          </a:prstGeom>
          <a:noFill/>
          <a:ln/>
        </p:spPr>
        <p:txBody>
          <a:bodyPr wrap="square" lIns="0" tIns="0" rIns="0" bIns="0" rtlCol="0" anchor="ctr"/>
          <a:lstStyle/>
          <a:p>
            <a:pPr indent="0" marL="0">
              <a:buNone/>
            </a:pPr>
            <a:r>
              <a:rPr lang="en-US" sz="1900" b="1" dirty="0">
                <a:solidFill>
                  <a:srgbClr val="1B2430"/>
                </a:solidFill>
                <a:latin typeface="Cambria" pitchFamily="34" charset="0"/>
                <a:ea typeface="Cambria" pitchFamily="34" charset="-122"/>
                <a:cs typeface="Cambria" pitchFamily="34" charset="-120"/>
              </a:rPr>
              <a:t>Cost allocation</a:t>
            </a:r>
            <a:endParaRPr lang="en-US" sz="1900" dirty="0"/>
          </a:p>
        </p:txBody>
      </p:sp>
      <p:sp>
        <p:nvSpPr>
          <p:cNvPr id="8" name="Text 5"/>
          <p:cNvSpPr/>
          <p:nvPr/>
        </p:nvSpPr>
        <p:spPr>
          <a:xfrm>
            <a:off x="1645920" y="2368296"/>
            <a:ext cx="4041648" cy="749808"/>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Breakdown by team, product, environment or business unit. Depends entirely on a consistent tagging strategy.</a:t>
            </a:r>
            <a:endParaRPr lang="en-US" sz="1250" dirty="0"/>
          </a:p>
        </p:txBody>
      </p:sp>
      <p:sp>
        <p:nvSpPr>
          <p:cNvPr id="9" name="Shape 6"/>
          <p:cNvSpPr/>
          <p:nvPr/>
        </p:nvSpPr>
        <p:spPr>
          <a:xfrm>
            <a:off x="6245352" y="1783080"/>
            <a:ext cx="5394960" cy="1481328"/>
          </a:xfrm>
          <a:prstGeom prst="roundRect">
            <a:avLst>
              <a:gd name="adj" fmla="val 5556"/>
            </a:avLst>
          </a:prstGeom>
          <a:solidFill>
            <a:srgbClr val="F1F3F6"/>
          </a:solidFill>
          <a:ln/>
        </p:spPr>
      </p:sp>
      <p:sp>
        <p:nvSpPr>
          <p:cNvPr id="10" name="Shape 7"/>
          <p:cNvSpPr/>
          <p:nvPr/>
        </p:nvSpPr>
        <p:spPr>
          <a:xfrm>
            <a:off x="6537960" y="2185416"/>
            <a:ext cx="640080" cy="640080"/>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6697980" y="2345436"/>
            <a:ext cx="320040" cy="320040"/>
          </a:xfrm>
          <a:prstGeom prst="rect">
            <a:avLst/>
          </a:prstGeom>
        </p:spPr>
      </p:pic>
      <p:sp>
        <p:nvSpPr>
          <p:cNvPr id="12" name="Text 8"/>
          <p:cNvSpPr/>
          <p:nvPr/>
        </p:nvSpPr>
        <p:spPr>
          <a:xfrm>
            <a:off x="7342632" y="2002536"/>
            <a:ext cx="4023360" cy="347472"/>
          </a:xfrm>
          <a:prstGeom prst="rect">
            <a:avLst/>
          </a:prstGeom>
          <a:noFill/>
          <a:ln/>
        </p:spPr>
        <p:txBody>
          <a:bodyPr wrap="square" lIns="0" tIns="0" rIns="0" bIns="0" rtlCol="0" anchor="ctr"/>
          <a:lstStyle/>
          <a:p>
            <a:pPr indent="0" marL="0">
              <a:buNone/>
            </a:pPr>
            <a:r>
              <a:rPr lang="en-US" sz="1900" b="1" dirty="0">
                <a:solidFill>
                  <a:srgbClr val="1B2430"/>
                </a:solidFill>
                <a:latin typeface="Cambria" pitchFamily="34" charset="0"/>
                <a:ea typeface="Cambria" pitchFamily="34" charset="-122"/>
                <a:cs typeface="Cambria" pitchFamily="34" charset="-120"/>
              </a:rPr>
              <a:t>Granular reporting</a:t>
            </a:r>
            <a:endParaRPr lang="en-US" sz="1900" dirty="0"/>
          </a:p>
        </p:txBody>
      </p:sp>
      <p:sp>
        <p:nvSpPr>
          <p:cNvPr id="13" name="Text 9"/>
          <p:cNvSpPr/>
          <p:nvPr/>
        </p:nvSpPr>
        <p:spPr>
          <a:xfrm>
            <a:off x="7342632" y="2368296"/>
            <a:ext cx="4041648" cy="749808"/>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Breakdown by service, resource type and time period — this is what reveals trends, spikes and anomalies.</a:t>
            </a:r>
            <a:endParaRPr lang="en-US" sz="1250" dirty="0"/>
          </a:p>
        </p:txBody>
      </p:sp>
      <p:sp>
        <p:nvSpPr>
          <p:cNvPr id="14" name="Shape 10"/>
          <p:cNvSpPr/>
          <p:nvPr/>
        </p:nvSpPr>
        <p:spPr>
          <a:xfrm>
            <a:off x="548640" y="3401568"/>
            <a:ext cx="5394960" cy="1481328"/>
          </a:xfrm>
          <a:prstGeom prst="roundRect">
            <a:avLst>
              <a:gd name="adj" fmla="val 5556"/>
            </a:avLst>
          </a:prstGeom>
          <a:solidFill>
            <a:srgbClr val="F1F3F6"/>
          </a:solidFill>
          <a:ln/>
        </p:spPr>
      </p:sp>
      <p:sp>
        <p:nvSpPr>
          <p:cNvPr id="15" name="Shape 11"/>
          <p:cNvSpPr/>
          <p:nvPr/>
        </p:nvSpPr>
        <p:spPr>
          <a:xfrm>
            <a:off x="841248" y="3803904"/>
            <a:ext cx="640080" cy="64008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1001268" y="3963924"/>
            <a:ext cx="320040" cy="320040"/>
          </a:xfrm>
          <a:prstGeom prst="rect">
            <a:avLst/>
          </a:prstGeom>
        </p:spPr>
      </p:pic>
      <p:sp>
        <p:nvSpPr>
          <p:cNvPr id="17" name="Text 12"/>
          <p:cNvSpPr/>
          <p:nvPr/>
        </p:nvSpPr>
        <p:spPr>
          <a:xfrm>
            <a:off x="1645920" y="3621024"/>
            <a:ext cx="4023360" cy="347472"/>
          </a:xfrm>
          <a:prstGeom prst="rect">
            <a:avLst/>
          </a:prstGeom>
          <a:noFill/>
          <a:ln/>
        </p:spPr>
        <p:txBody>
          <a:bodyPr wrap="square" lIns="0" tIns="0" rIns="0" bIns="0" rtlCol="0" anchor="ctr"/>
          <a:lstStyle/>
          <a:p>
            <a:pPr indent="0" marL="0">
              <a:buNone/>
            </a:pPr>
            <a:r>
              <a:rPr lang="en-US" sz="1900" b="1" dirty="0">
                <a:solidFill>
                  <a:srgbClr val="1B2430"/>
                </a:solidFill>
                <a:latin typeface="Cambria" pitchFamily="34" charset="0"/>
                <a:ea typeface="Cambria" pitchFamily="34" charset="-122"/>
                <a:cs typeface="Cambria" pitchFamily="34" charset="-120"/>
              </a:rPr>
              <a:t>Unit economics</a:t>
            </a:r>
            <a:endParaRPr lang="en-US" sz="1900" dirty="0"/>
          </a:p>
        </p:txBody>
      </p:sp>
      <p:sp>
        <p:nvSpPr>
          <p:cNvPr id="18" name="Text 13"/>
          <p:cNvSpPr/>
          <p:nvPr/>
        </p:nvSpPr>
        <p:spPr>
          <a:xfrm>
            <a:off x="1645920" y="3986784"/>
            <a:ext cx="4041648" cy="749808"/>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Cost per customer, per transaction, per active user. The measure of whether spend growth is healthy.</a:t>
            </a:r>
            <a:endParaRPr lang="en-US" sz="1250" dirty="0"/>
          </a:p>
        </p:txBody>
      </p:sp>
      <p:sp>
        <p:nvSpPr>
          <p:cNvPr id="19" name="Shape 14"/>
          <p:cNvSpPr/>
          <p:nvPr/>
        </p:nvSpPr>
        <p:spPr>
          <a:xfrm>
            <a:off x="6245352" y="3401568"/>
            <a:ext cx="5394960" cy="1481328"/>
          </a:xfrm>
          <a:prstGeom prst="roundRect">
            <a:avLst>
              <a:gd name="adj" fmla="val 5556"/>
            </a:avLst>
          </a:prstGeom>
          <a:solidFill>
            <a:srgbClr val="F1F3F6"/>
          </a:solidFill>
          <a:ln/>
        </p:spPr>
      </p:sp>
      <p:sp>
        <p:nvSpPr>
          <p:cNvPr id="20" name="Shape 15"/>
          <p:cNvSpPr/>
          <p:nvPr/>
        </p:nvSpPr>
        <p:spPr>
          <a:xfrm>
            <a:off x="6537960" y="3803904"/>
            <a:ext cx="640080" cy="640080"/>
          </a:xfrm>
          <a:prstGeom prst="ellipse">
            <a:avLst/>
          </a:prstGeom>
          <a:solidFill>
            <a:srgbClr val="FFFFFF"/>
          </a:solidFill>
          <a:ln/>
        </p:spPr>
      </p:sp>
      <p:pic>
        <p:nvPicPr>
          <p:cNvPr id="21" name="Image 3" descr="preencoded.png">    </p:cNvPr>
          <p:cNvPicPr>
            <a:picLocks noChangeAspect="1"/>
          </p:cNvPicPr>
          <p:nvPr/>
        </p:nvPicPr>
        <p:blipFill>
          <a:blip r:embed="rId4"/>
          <a:stretch>
            <a:fillRect/>
          </a:stretch>
        </p:blipFill>
        <p:spPr>
          <a:xfrm>
            <a:off x="6697980" y="3963924"/>
            <a:ext cx="320040" cy="320040"/>
          </a:xfrm>
          <a:prstGeom prst="rect">
            <a:avLst/>
          </a:prstGeom>
        </p:spPr>
      </p:pic>
      <p:sp>
        <p:nvSpPr>
          <p:cNvPr id="22" name="Text 16"/>
          <p:cNvSpPr/>
          <p:nvPr/>
        </p:nvSpPr>
        <p:spPr>
          <a:xfrm>
            <a:off x="7342632" y="3621024"/>
            <a:ext cx="4023360" cy="347472"/>
          </a:xfrm>
          <a:prstGeom prst="rect">
            <a:avLst/>
          </a:prstGeom>
          <a:noFill/>
          <a:ln/>
        </p:spPr>
        <p:txBody>
          <a:bodyPr wrap="square" lIns="0" tIns="0" rIns="0" bIns="0" rtlCol="0" anchor="ctr"/>
          <a:lstStyle/>
          <a:p>
            <a:pPr indent="0" marL="0">
              <a:buNone/>
            </a:pPr>
            <a:r>
              <a:rPr lang="en-US" sz="1900" b="1" dirty="0">
                <a:solidFill>
                  <a:srgbClr val="1B2430"/>
                </a:solidFill>
                <a:latin typeface="Cambria" pitchFamily="34" charset="0"/>
                <a:ea typeface="Cambria" pitchFamily="34" charset="-122"/>
                <a:cs typeface="Cambria" pitchFamily="34" charset="-120"/>
              </a:rPr>
              <a:t>Near real-time data</a:t>
            </a:r>
            <a:endParaRPr lang="en-US" sz="1900" dirty="0"/>
          </a:p>
        </p:txBody>
      </p:sp>
      <p:sp>
        <p:nvSpPr>
          <p:cNvPr id="23" name="Text 17"/>
          <p:cNvSpPr/>
          <p:nvPr/>
        </p:nvSpPr>
        <p:spPr>
          <a:xfrm>
            <a:off x="7342632" y="3986784"/>
            <a:ext cx="4041648" cy="749808"/>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Monthly reporting is too slow. Cost data must arrive with enough immediacy to respond to anomalies.</a:t>
            </a:r>
            <a:endParaRPr lang="en-US" sz="1250" dirty="0"/>
          </a:p>
        </p:txBody>
      </p:sp>
      <p:sp>
        <p:nvSpPr>
          <p:cNvPr id="24" name="Shape 18"/>
          <p:cNvSpPr/>
          <p:nvPr/>
        </p:nvSpPr>
        <p:spPr>
          <a:xfrm>
            <a:off x="548640" y="5138928"/>
            <a:ext cx="11091672" cy="1188720"/>
          </a:xfrm>
          <a:prstGeom prst="roundRect">
            <a:avLst>
              <a:gd name="adj" fmla="val 6923"/>
            </a:avLst>
          </a:prstGeom>
          <a:solidFill>
            <a:srgbClr val="1F2936"/>
          </a:solidFill>
          <a:ln/>
          <a:effectLst>
            <a:outerShdw sx="100000" sy="100000" kx="0" ky="0" algn="bl" rotWithShape="0" blurRad="127000" dist="25400" dir="5400000">
              <a:srgbClr val="8C99A8">
                <a:alpha val="16000"/>
              </a:srgbClr>
            </a:outerShdw>
          </a:effectLst>
        </p:spPr>
      </p:sp>
      <p:sp>
        <p:nvSpPr>
          <p:cNvPr id="25" name="Text 19"/>
          <p:cNvSpPr/>
          <p:nvPr/>
        </p:nvSpPr>
        <p:spPr>
          <a:xfrm>
            <a:off x="877824" y="5285232"/>
            <a:ext cx="2743200" cy="274320"/>
          </a:xfrm>
          <a:prstGeom prst="rect">
            <a:avLst/>
          </a:prstGeom>
          <a:noFill/>
          <a:ln/>
        </p:spPr>
        <p:txBody>
          <a:bodyPr wrap="square" lIns="0" tIns="0" rIns="0" bIns="0" rtlCol="0" anchor="ctr"/>
          <a:lstStyle/>
          <a:p>
            <a:pPr indent="0" marL="0">
              <a:buNone/>
            </a:pPr>
            <a:r>
              <a:rPr lang="en-US" sz="1200" b="1" spc="180" kern="0" dirty="0">
                <a:solidFill>
                  <a:srgbClr val="E39B2C"/>
                </a:solidFill>
                <a:latin typeface="Calibri" pitchFamily="34" charset="0"/>
                <a:ea typeface="Calibri" pitchFamily="34" charset="-122"/>
                <a:cs typeface="Calibri" pitchFamily="34" charset="-120"/>
              </a:rPr>
              <a:t>The goal</a:t>
            </a:r>
            <a:endParaRPr lang="en-US" sz="1200" dirty="0"/>
          </a:p>
        </p:txBody>
      </p:sp>
      <p:sp>
        <p:nvSpPr>
          <p:cNvPr id="26" name="Text 20"/>
          <p:cNvSpPr/>
          <p:nvPr/>
        </p:nvSpPr>
        <p:spPr>
          <a:xfrm>
            <a:off x="877824" y="5596128"/>
            <a:ext cx="10424160" cy="566928"/>
          </a:xfrm>
          <a:prstGeom prst="rect">
            <a:avLst/>
          </a:prstGeom>
          <a:noFill/>
          <a:ln/>
        </p:spPr>
        <p:txBody>
          <a:bodyPr wrap="square" lIns="0" tIns="0" rIns="0" bIns="0" rtlCol="0" anchor="ctr"/>
          <a:lstStyle/>
          <a:p>
            <a:pPr indent="0" marL="0">
              <a:buNone/>
            </a:pPr>
            <a:r>
              <a:rPr lang="en-US" sz="1600" dirty="0">
                <a:solidFill>
                  <a:srgbClr val="9EABBA"/>
                </a:solidFill>
                <a:latin typeface="Calibri" pitchFamily="34" charset="0"/>
                <a:ea typeface="Calibri" pitchFamily="34" charset="-122"/>
                <a:cs typeface="Calibri" pitchFamily="34" charset="-120"/>
              </a:rPr>
              <a:t>Move from  </a:t>
            </a:r>
            <a:pPr indent="0" marL="0">
              <a:buNone/>
            </a:pPr>
            <a:r>
              <a:rPr lang="en-US" sz="1600" i="1" dirty="0">
                <a:solidFill>
                  <a:srgbClr val="9EABBA"/>
                </a:solidFill>
                <a:latin typeface="Calibri" pitchFamily="34" charset="0"/>
                <a:ea typeface="Calibri" pitchFamily="34" charset="-122"/>
                <a:cs typeface="Calibri" pitchFamily="34" charset="-120"/>
              </a:rPr>
              <a:t>“IT is overspending”</a:t>
            </a:r>
            <a:pPr indent="0" marL="0">
              <a:buNone/>
            </a:pPr>
            <a:r>
              <a:rPr lang="en-US" sz="1600" dirty="0">
                <a:solidFill>
                  <a:srgbClr val="9EABBA"/>
                </a:solidFill>
                <a:latin typeface="Calibri" pitchFamily="34" charset="0"/>
                <a:ea typeface="Calibri" pitchFamily="34" charset="-122"/>
                <a:cs typeface="Calibri" pitchFamily="34" charset="-120"/>
              </a:rPr>
              <a:t>  to  </a:t>
            </a:r>
            <a:pPr indent="0" marL="0">
              <a:buNone/>
            </a:pPr>
            <a:r>
              <a:rPr lang="en-US" sz="1600" b="1" dirty="0">
                <a:solidFill>
                  <a:srgbClr val="FFFFFF"/>
                </a:solidFill>
                <a:latin typeface="Calibri" pitchFamily="34" charset="0"/>
                <a:ea typeface="Calibri" pitchFamily="34" charset="-122"/>
                <a:cs typeface="Calibri" pitchFamily="34" charset="-120"/>
              </a:rPr>
              <a:t>“Team X used Y resources, costing $Z, delivering A value.”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A22"/>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THE VISIBILITY BLOCKERS</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Five filters between us and a clear view</a:t>
            </a:r>
            <a:endParaRPr lang="en-US" sz="3100" dirty="0"/>
          </a:p>
        </p:txBody>
      </p:sp>
      <p:sp>
        <p:nvSpPr>
          <p:cNvPr id="4" name="Shape 2"/>
          <p:cNvSpPr/>
          <p:nvPr/>
        </p:nvSpPr>
        <p:spPr>
          <a:xfrm>
            <a:off x="548640" y="1719072"/>
            <a:ext cx="11091672" cy="713232"/>
          </a:xfrm>
          <a:prstGeom prst="roundRect">
            <a:avLst>
              <a:gd name="adj" fmla="val 11538"/>
            </a:avLst>
          </a:prstGeom>
          <a:solidFill>
            <a:srgbClr val="1F2936"/>
          </a:solidFill>
          <a:ln/>
        </p:spPr>
      </p:sp>
      <p:sp>
        <p:nvSpPr>
          <p:cNvPr id="5" name="Shape 3"/>
          <p:cNvSpPr/>
          <p:nvPr/>
        </p:nvSpPr>
        <p:spPr>
          <a:xfrm>
            <a:off x="804672" y="1837944"/>
            <a:ext cx="475488" cy="475488"/>
          </a:xfrm>
          <a:prstGeom prst="ellipse">
            <a:avLst/>
          </a:prstGeom>
          <a:solidFill>
            <a:srgbClr val="2E3A48"/>
          </a:solidFill>
          <a:ln/>
        </p:spPr>
      </p:sp>
      <p:pic>
        <p:nvPicPr>
          <p:cNvPr id="6" name="Image 0" descr="preencoded.png">    </p:cNvPr>
          <p:cNvPicPr>
            <a:picLocks noChangeAspect="1"/>
          </p:cNvPicPr>
          <p:nvPr/>
        </p:nvPicPr>
        <p:blipFill>
          <a:blip r:embed="rId1"/>
          <a:stretch>
            <a:fillRect/>
          </a:stretch>
        </p:blipFill>
        <p:spPr>
          <a:xfrm>
            <a:off x="923544" y="1956816"/>
            <a:ext cx="237744" cy="237744"/>
          </a:xfrm>
          <a:prstGeom prst="rect">
            <a:avLst/>
          </a:prstGeom>
        </p:spPr>
      </p:pic>
      <p:sp>
        <p:nvSpPr>
          <p:cNvPr id="7" name="Text 4"/>
          <p:cNvSpPr/>
          <p:nvPr/>
        </p:nvSpPr>
        <p:spPr>
          <a:xfrm>
            <a:off x="1481328" y="1719072"/>
            <a:ext cx="3200400" cy="71323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Inconsistent tagging</a:t>
            </a:r>
            <a:endParaRPr lang="en-US" sz="1500" dirty="0"/>
          </a:p>
        </p:txBody>
      </p:sp>
      <p:sp>
        <p:nvSpPr>
          <p:cNvPr id="8" name="Text 5"/>
          <p:cNvSpPr/>
          <p:nvPr/>
        </p:nvSpPr>
        <p:spPr>
          <a:xfrm>
            <a:off x="4754880" y="1719072"/>
            <a:ext cx="6766560" cy="713232"/>
          </a:xfrm>
          <a:prstGeom prst="rect">
            <a:avLst/>
          </a:prstGeom>
          <a:noFill/>
          <a:ln/>
        </p:spPr>
        <p:txBody>
          <a:bodyPr wrap="square" lIns="0" tIns="0" rIns="0" bIns="0" rtlCol="0" anchor="ctr"/>
          <a:lstStyle/>
          <a:p>
            <a:pPr indent="0" marL="0">
              <a:buNone/>
            </a:pPr>
            <a:r>
              <a:rPr lang="en-US" sz="1300" dirty="0">
                <a:solidFill>
                  <a:srgbClr val="9EABBA"/>
                </a:solidFill>
                <a:latin typeface="Calibri" pitchFamily="34" charset="0"/>
                <a:ea typeface="Calibri" pitchFamily="34" charset="-122"/>
                <a:cs typeface="Calibri" pitchFamily="34" charset="-120"/>
              </a:rPr>
              <a:t>A significant portion of spend stays unallocated or misallocated.</a:t>
            </a:r>
            <a:endParaRPr lang="en-US" sz="1300" dirty="0"/>
          </a:p>
        </p:txBody>
      </p:sp>
      <p:sp>
        <p:nvSpPr>
          <p:cNvPr id="9" name="Shape 6"/>
          <p:cNvSpPr/>
          <p:nvPr/>
        </p:nvSpPr>
        <p:spPr>
          <a:xfrm>
            <a:off x="548640" y="2523744"/>
            <a:ext cx="11091672" cy="713232"/>
          </a:xfrm>
          <a:prstGeom prst="roundRect">
            <a:avLst>
              <a:gd name="adj" fmla="val 11538"/>
            </a:avLst>
          </a:prstGeom>
          <a:solidFill>
            <a:srgbClr val="1F2936"/>
          </a:solidFill>
          <a:ln/>
        </p:spPr>
      </p:sp>
      <p:sp>
        <p:nvSpPr>
          <p:cNvPr id="10" name="Shape 7"/>
          <p:cNvSpPr/>
          <p:nvPr/>
        </p:nvSpPr>
        <p:spPr>
          <a:xfrm>
            <a:off x="804672" y="2642616"/>
            <a:ext cx="475488" cy="475488"/>
          </a:xfrm>
          <a:prstGeom prst="ellipse">
            <a:avLst/>
          </a:prstGeom>
          <a:solidFill>
            <a:srgbClr val="2E3A48"/>
          </a:solidFill>
          <a:ln/>
        </p:spPr>
      </p:sp>
      <p:pic>
        <p:nvPicPr>
          <p:cNvPr id="11" name="Image 1" descr="preencoded.png">    </p:cNvPr>
          <p:cNvPicPr>
            <a:picLocks noChangeAspect="1"/>
          </p:cNvPicPr>
          <p:nvPr/>
        </p:nvPicPr>
        <p:blipFill>
          <a:blip r:embed="rId2"/>
          <a:stretch>
            <a:fillRect/>
          </a:stretch>
        </p:blipFill>
        <p:spPr>
          <a:xfrm>
            <a:off x="923544" y="2761488"/>
            <a:ext cx="237744" cy="237744"/>
          </a:xfrm>
          <a:prstGeom prst="rect">
            <a:avLst/>
          </a:prstGeom>
        </p:spPr>
      </p:pic>
      <p:sp>
        <p:nvSpPr>
          <p:cNvPr id="12" name="Text 8"/>
          <p:cNvSpPr/>
          <p:nvPr/>
        </p:nvSpPr>
        <p:spPr>
          <a:xfrm>
            <a:off x="1481328" y="2523744"/>
            <a:ext cx="3200400" cy="71323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Shared resources</a:t>
            </a:r>
            <a:endParaRPr lang="en-US" sz="1500" dirty="0"/>
          </a:p>
        </p:txBody>
      </p:sp>
      <p:sp>
        <p:nvSpPr>
          <p:cNvPr id="13" name="Text 9"/>
          <p:cNvSpPr/>
          <p:nvPr/>
        </p:nvSpPr>
        <p:spPr>
          <a:xfrm>
            <a:off x="4754880" y="2523744"/>
            <a:ext cx="6766560" cy="713232"/>
          </a:xfrm>
          <a:prstGeom prst="rect">
            <a:avLst/>
          </a:prstGeom>
          <a:noFill/>
          <a:ln/>
        </p:spPr>
        <p:txBody>
          <a:bodyPr wrap="square" lIns="0" tIns="0" rIns="0" bIns="0" rtlCol="0" anchor="ctr"/>
          <a:lstStyle/>
          <a:p>
            <a:pPr indent="0" marL="0">
              <a:buNone/>
            </a:pPr>
            <a:r>
              <a:rPr lang="en-US" sz="1300" dirty="0">
                <a:solidFill>
                  <a:srgbClr val="9EABBA"/>
                </a:solidFill>
                <a:latin typeface="Calibri" pitchFamily="34" charset="0"/>
                <a:ea typeface="Calibri" pitchFamily="34" charset="-122"/>
                <a:cs typeface="Calibri" pitchFamily="34" charset="-120"/>
              </a:rPr>
              <a:t>Databases, Kubernetes clusters and networking resist clean attribution to one team.</a:t>
            </a:r>
            <a:endParaRPr lang="en-US" sz="1300" dirty="0"/>
          </a:p>
        </p:txBody>
      </p:sp>
      <p:sp>
        <p:nvSpPr>
          <p:cNvPr id="14" name="Shape 10"/>
          <p:cNvSpPr/>
          <p:nvPr/>
        </p:nvSpPr>
        <p:spPr>
          <a:xfrm>
            <a:off x="548640" y="3328416"/>
            <a:ext cx="11091672" cy="713232"/>
          </a:xfrm>
          <a:prstGeom prst="roundRect">
            <a:avLst>
              <a:gd name="adj" fmla="val 11538"/>
            </a:avLst>
          </a:prstGeom>
          <a:solidFill>
            <a:srgbClr val="1F2936"/>
          </a:solidFill>
          <a:ln/>
        </p:spPr>
      </p:sp>
      <p:sp>
        <p:nvSpPr>
          <p:cNvPr id="15" name="Shape 11"/>
          <p:cNvSpPr/>
          <p:nvPr/>
        </p:nvSpPr>
        <p:spPr>
          <a:xfrm>
            <a:off x="804672" y="3447288"/>
            <a:ext cx="475488" cy="475488"/>
          </a:xfrm>
          <a:prstGeom prst="ellipse">
            <a:avLst/>
          </a:prstGeom>
          <a:solidFill>
            <a:srgbClr val="2E3A48"/>
          </a:solidFill>
          <a:ln/>
        </p:spPr>
      </p:sp>
      <p:pic>
        <p:nvPicPr>
          <p:cNvPr id="16" name="Image 2" descr="preencoded.png">    </p:cNvPr>
          <p:cNvPicPr>
            <a:picLocks noChangeAspect="1"/>
          </p:cNvPicPr>
          <p:nvPr/>
        </p:nvPicPr>
        <p:blipFill>
          <a:blip r:embed="rId3"/>
          <a:stretch>
            <a:fillRect/>
          </a:stretch>
        </p:blipFill>
        <p:spPr>
          <a:xfrm>
            <a:off x="923544" y="3566160"/>
            <a:ext cx="237744" cy="237744"/>
          </a:xfrm>
          <a:prstGeom prst="rect">
            <a:avLst/>
          </a:prstGeom>
        </p:spPr>
      </p:pic>
      <p:sp>
        <p:nvSpPr>
          <p:cNvPr id="17" name="Text 12"/>
          <p:cNvSpPr/>
          <p:nvPr/>
        </p:nvSpPr>
        <p:spPr>
          <a:xfrm>
            <a:off x="1481328" y="3328416"/>
            <a:ext cx="3200400" cy="71323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Commitments &amp; discounts</a:t>
            </a:r>
            <a:endParaRPr lang="en-US" sz="1500" dirty="0"/>
          </a:p>
        </p:txBody>
      </p:sp>
      <p:sp>
        <p:nvSpPr>
          <p:cNvPr id="18" name="Text 13"/>
          <p:cNvSpPr/>
          <p:nvPr/>
        </p:nvSpPr>
        <p:spPr>
          <a:xfrm>
            <a:off x="4754880" y="3328416"/>
            <a:ext cx="6766560" cy="713232"/>
          </a:xfrm>
          <a:prstGeom prst="rect">
            <a:avLst/>
          </a:prstGeom>
          <a:noFill/>
          <a:ln/>
        </p:spPr>
        <p:txBody>
          <a:bodyPr wrap="square" lIns="0" tIns="0" rIns="0" bIns="0" rtlCol="0" anchor="ctr"/>
          <a:lstStyle/>
          <a:p>
            <a:pPr indent="0" marL="0">
              <a:buNone/>
            </a:pPr>
            <a:r>
              <a:rPr lang="en-US" sz="1300" dirty="0">
                <a:solidFill>
                  <a:srgbClr val="9EABBA"/>
                </a:solidFill>
                <a:latin typeface="Calibri" pitchFamily="34" charset="0"/>
                <a:ea typeface="Calibri" pitchFamily="34" charset="-122"/>
                <a:cs typeface="Calibri" pitchFamily="34" charset="-120"/>
              </a:rPr>
              <a:t>Reserved Instances and Savings Plans break attribution — list price ≠ price paid.</a:t>
            </a:r>
            <a:endParaRPr lang="en-US" sz="1300" dirty="0"/>
          </a:p>
        </p:txBody>
      </p:sp>
      <p:sp>
        <p:nvSpPr>
          <p:cNvPr id="19" name="Shape 14"/>
          <p:cNvSpPr/>
          <p:nvPr/>
        </p:nvSpPr>
        <p:spPr>
          <a:xfrm>
            <a:off x="548640" y="4133088"/>
            <a:ext cx="11091672" cy="713232"/>
          </a:xfrm>
          <a:prstGeom prst="roundRect">
            <a:avLst>
              <a:gd name="adj" fmla="val 11538"/>
            </a:avLst>
          </a:prstGeom>
          <a:solidFill>
            <a:srgbClr val="1F2936"/>
          </a:solidFill>
          <a:ln/>
        </p:spPr>
      </p:sp>
      <p:sp>
        <p:nvSpPr>
          <p:cNvPr id="20" name="Shape 15"/>
          <p:cNvSpPr/>
          <p:nvPr/>
        </p:nvSpPr>
        <p:spPr>
          <a:xfrm>
            <a:off x="804672" y="4251960"/>
            <a:ext cx="475488" cy="475488"/>
          </a:xfrm>
          <a:prstGeom prst="ellipse">
            <a:avLst/>
          </a:prstGeom>
          <a:solidFill>
            <a:srgbClr val="2E3A48"/>
          </a:solidFill>
          <a:ln/>
        </p:spPr>
      </p:sp>
      <p:pic>
        <p:nvPicPr>
          <p:cNvPr id="21" name="Image 3" descr="preencoded.png">    </p:cNvPr>
          <p:cNvPicPr>
            <a:picLocks noChangeAspect="1"/>
          </p:cNvPicPr>
          <p:nvPr/>
        </p:nvPicPr>
        <p:blipFill>
          <a:blip r:embed="rId4"/>
          <a:stretch>
            <a:fillRect/>
          </a:stretch>
        </p:blipFill>
        <p:spPr>
          <a:xfrm>
            <a:off x="923544" y="4370832"/>
            <a:ext cx="237744" cy="237744"/>
          </a:xfrm>
          <a:prstGeom prst="rect">
            <a:avLst/>
          </a:prstGeom>
        </p:spPr>
      </p:pic>
      <p:sp>
        <p:nvSpPr>
          <p:cNvPr id="22" name="Text 16"/>
          <p:cNvSpPr/>
          <p:nvPr/>
        </p:nvSpPr>
        <p:spPr>
          <a:xfrm>
            <a:off x="1481328" y="4133088"/>
            <a:ext cx="3200400" cy="71323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Multi-cloud estates</a:t>
            </a:r>
            <a:endParaRPr lang="en-US" sz="1500" dirty="0"/>
          </a:p>
        </p:txBody>
      </p:sp>
      <p:sp>
        <p:nvSpPr>
          <p:cNvPr id="23" name="Text 17"/>
          <p:cNvSpPr/>
          <p:nvPr/>
        </p:nvSpPr>
        <p:spPr>
          <a:xfrm>
            <a:off x="4754880" y="4133088"/>
            <a:ext cx="6766560" cy="713232"/>
          </a:xfrm>
          <a:prstGeom prst="rect">
            <a:avLst/>
          </a:prstGeom>
          <a:noFill/>
          <a:ln/>
        </p:spPr>
        <p:txBody>
          <a:bodyPr wrap="square" lIns="0" tIns="0" rIns="0" bIns="0" rtlCol="0" anchor="ctr"/>
          <a:lstStyle/>
          <a:p>
            <a:pPr indent="0" marL="0">
              <a:buNone/>
            </a:pPr>
            <a:r>
              <a:rPr lang="en-US" sz="1300" dirty="0">
                <a:solidFill>
                  <a:srgbClr val="9EABBA"/>
                </a:solidFill>
                <a:latin typeface="Calibri" pitchFamily="34" charset="0"/>
                <a:ea typeface="Calibri" pitchFamily="34" charset="-122"/>
                <a:cs typeface="Calibri" pitchFamily="34" charset="-120"/>
              </a:rPr>
              <a:t>Each provider bills and reports differently; a unified view has to be constructed.</a:t>
            </a:r>
            <a:endParaRPr lang="en-US" sz="1300" dirty="0"/>
          </a:p>
        </p:txBody>
      </p:sp>
      <p:sp>
        <p:nvSpPr>
          <p:cNvPr id="24" name="Shape 18"/>
          <p:cNvSpPr/>
          <p:nvPr/>
        </p:nvSpPr>
        <p:spPr>
          <a:xfrm>
            <a:off x="548640" y="4937760"/>
            <a:ext cx="11091672" cy="713232"/>
          </a:xfrm>
          <a:prstGeom prst="roundRect">
            <a:avLst>
              <a:gd name="adj" fmla="val 11538"/>
            </a:avLst>
          </a:prstGeom>
          <a:solidFill>
            <a:srgbClr val="1F2936"/>
          </a:solidFill>
          <a:ln/>
        </p:spPr>
      </p:sp>
      <p:sp>
        <p:nvSpPr>
          <p:cNvPr id="25" name="Shape 19"/>
          <p:cNvSpPr/>
          <p:nvPr/>
        </p:nvSpPr>
        <p:spPr>
          <a:xfrm>
            <a:off x="804672" y="5056632"/>
            <a:ext cx="475488" cy="475488"/>
          </a:xfrm>
          <a:prstGeom prst="ellipse">
            <a:avLst/>
          </a:prstGeom>
          <a:solidFill>
            <a:srgbClr val="2E3A48"/>
          </a:solidFill>
          <a:ln/>
        </p:spPr>
      </p:sp>
      <p:pic>
        <p:nvPicPr>
          <p:cNvPr id="26" name="Image 4" descr="preencoded.png">    </p:cNvPr>
          <p:cNvPicPr>
            <a:picLocks noChangeAspect="1"/>
          </p:cNvPicPr>
          <p:nvPr/>
        </p:nvPicPr>
        <p:blipFill>
          <a:blip r:embed="rId5"/>
          <a:stretch>
            <a:fillRect/>
          </a:stretch>
        </p:blipFill>
        <p:spPr>
          <a:xfrm>
            <a:off x="923544" y="5175504"/>
            <a:ext cx="237744" cy="237744"/>
          </a:xfrm>
          <a:prstGeom prst="rect">
            <a:avLst/>
          </a:prstGeom>
        </p:spPr>
      </p:pic>
      <p:sp>
        <p:nvSpPr>
          <p:cNvPr id="27" name="Text 20"/>
          <p:cNvSpPr/>
          <p:nvPr/>
        </p:nvSpPr>
        <p:spPr>
          <a:xfrm>
            <a:off x="1481328" y="4937760"/>
            <a:ext cx="3200400" cy="71323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SaaS &amp; marketplace spend</a:t>
            </a:r>
            <a:endParaRPr lang="en-US" sz="1500" dirty="0"/>
          </a:p>
        </p:txBody>
      </p:sp>
      <p:sp>
        <p:nvSpPr>
          <p:cNvPr id="28" name="Text 21"/>
          <p:cNvSpPr/>
          <p:nvPr/>
        </p:nvSpPr>
        <p:spPr>
          <a:xfrm>
            <a:off x="4754880" y="4937760"/>
            <a:ext cx="6766560" cy="713232"/>
          </a:xfrm>
          <a:prstGeom prst="rect">
            <a:avLst/>
          </a:prstGeom>
          <a:noFill/>
          <a:ln/>
        </p:spPr>
        <p:txBody>
          <a:bodyPr wrap="square" lIns="0" tIns="0" rIns="0" bIns="0" rtlCol="0" anchor="ctr"/>
          <a:lstStyle/>
          <a:p>
            <a:pPr indent="0" marL="0">
              <a:buNone/>
            </a:pPr>
            <a:r>
              <a:rPr lang="en-US" sz="1300" dirty="0">
                <a:solidFill>
                  <a:srgbClr val="9EABBA"/>
                </a:solidFill>
                <a:latin typeface="Calibri" pitchFamily="34" charset="0"/>
                <a:ea typeface="Calibri" pitchFamily="34" charset="-122"/>
                <a:cs typeface="Calibri" pitchFamily="34" charset="-120"/>
              </a:rPr>
              <a:t>Invisible in cloud billing. Teams forget the subscriptions they signed.</a:t>
            </a:r>
            <a:endParaRPr lang="en-US" sz="1300" dirty="0"/>
          </a:p>
        </p:txBody>
      </p:sp>
      <p:sp>
        <p:nvSpPr>
          <p:cNvPr id="29" name="Text 22"/>
          <p:cNvSpPr/>
          <p:nvPr/>
        </p:nvSpPr>
        <p:spPr>
          <a:xfrm>
            <a:off x="548640" y="5852160"/>
            <a:ext cx="11091672" cy="548640"/>
          </a:xfrm>
          <a:prstGeom prst="rect">
            <a:avLst/>
          </a:prstGeom>
          <a:noFill/>
          <a:ln/>
        </p:spPr>
        <p:txBody>
          <a:bodyPr wrap="square" lIns="0" tIns="0" rIns="0" bIns="0" rtlCol="0" anchor="ctr"/>
          <a:lstStyle/>
          <a:p>
            <a:pPr indent="0" marL="0">
              <a:buNone/>
            </a:pPr>
            <a:r>
              <a:rPr lang="en-US" sz="1450" i="1" dirty="0">
                <a:solidFill>
                  <a:srgbClr val="E39B2C"/>
                </a:solidFill>
                <a:latin typeface="Cambria" pitchFamily="34" charset="0"/>
                <a:ea typeface="Cambria" pitchFamily="34" charset="-122"/>
                <a:cs typeface="Cambria" pitchFamily="34" charset="-120"/>
              </a:rPr>
              <a:t>“Different clouds report data differently, network traffic adds up fast, and Kubernetes or SaaS often hide who generated the spend.”</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SOLUTION 1 — TAGGING STRATEGY</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The foundation of all visibility</a:t>
            </a:r>
            <a:endParaRPr lang="en-US" sz="3100" dirty="0"/>
          </a:p>
        </p:txBody>
      </p:sp>
      <p:sp>
        <p:nvSpPr>
          <p:cNvPr id="4" name="Shape 2"/>
          <p:cNvSpPr/>
          <p:nvPr/>
        </p:nvSpPr>
        <p:spPr>
          <a:xfrm>
            <a:off x="548640" y="1783080"/>
            <a:ext cx="3749040" cy="3035808"/>
          </a:xfrm>
          <a:prstGeom prst="roundRect">
            <a:avLst>
              <a:gd name="adj" fmla="val 2711"/>
            </a:avLst>
          </a:prstGeom>
          <a:solidFill>
            <a:srgbClr val="1F2936"/>
          </a:solidFill>
          <a:ln/>
          <a:effectLst>
            <a:outerShdw sx="100000" sy="100000" kx="0" ky="0" algn="bl" rotWithShape="0" blurRad="127000" dist="25400" dir="5400000">
              <a:srgbClr val="8C99A8">
                <a:alpha val="16000"/>
              </a:srgbClr>
            </a:outerShdw>
          </a:effectLst>
        </p:spPr>
      </p:sp>
      <p:sp>
        <p:nvSpPr>
          <p:cNvPr id="5" name="Shape 3"/>
          <p:cNvSpPr/>
          <p:nvPr/>
        </p:nvSpPr>
        <p:spPr>
          <a:xfrm>
            <a:off x="859536" y="2048256"/>
            <a:ext cx="603504" cy="603504"/>
          </a:xfrm>
          <a:prstGeom prst="ellipse">
            <a:avLst/>
          </a:prstGeom>
          <a:solidFill>
            <a:srgbClr val="E39B2C"/>
          </a:solidFill>
          <a:ln/>
        </p:spPr>
      </p:sp>
      <p:pic>
        <p:nvPicPr>
          <p:cNvPr id="6" name="Image 0" descr="preencoded.png">    </p:cNvPr>
          <p:cNvPicPr>
            <a:picLocks noChangeAspect="1"/>
          </p:cNvPicPr>
          <p:nvPr/>
        </p:nvPicPr>
        <p:blipFill>
          <a:blip r:embed="rId1"/>
          <a:stretch>
            <a:fillRect/>
          </a:stretch>
        </p:blipFill>
        <p:spPr>
          <a:xfrm>
            <a:off x="1010412" y="2199132"/>
            <a:ext cx="301752" cy="301752"/>
          </a:xfrm>
          <a:prstGeom prst="rect">
            <a:avLst/>
          </a:prstGeom>
        </p:spPr>
      </p:pic>
      <p:sp>
        <p:nvSpPr>
          <p:cNvPr id="7" name="Text 4"/>
          <p:cNvSpPr/>
          <p:nvPr/>
        </p:nvSpPr>
        <p:spPr>
          <a:xfrm>
            <a:off x="859536" y="2788920"/>
            <a:ext cx="3108960" cy="310896"/>
          </a:xfrm>
          <a:prstGeom prst="rect">
            <a:avLst/>
          </a:prstGeom>
          <a:noFill/>
          <a:ln/>
        </p:spPr>
        <p:txBody>
          <a:bodyPr wrap="square" lIns="0" tIns="0" rIns="0" bIns="0" rtlCol="0" anchor="ctr"/>
          <a:lstStyle/>
          <a:p>
            <a:pPr indent="0" marL="0">
              <a:buNone/>
            </a:pPr>
            <a:r>
              <a:rPr lang="en-US" sz="1200" b="1" spc="180" kern="0" dirty="0">
                <a:solidFill>
                  <a:srgbClr val="E39B2C"/>
                </a:solidFill>
                <a:latin typeface="Calibri" pitchFamily="34" charset="0"/>
                <a:ea typeface="Calibri" pitchFamily="34" charset="-122"/>
                <a:cs typeface="Calibri" pitchFamily="34" charset="-120"/>
              </a:rPr>
              <a:t>The challenge</a:t>
            </a:r>
            <a:endParaRPr lang="en-US" sz="1200" dirty="0"/>
          </a:p>
        </p:txBody>
      </p:sp>
      <p:sp>
        <p:nvSpPr>
          <p:cNvPr id="8" name="Text 5"/>
          <p:cNvSpPr/>
          <p:nvPr/>
        </p:nvSpPr>
        <p:spPr>
          <a:xfrm>
            <a:off x="859536" y="3127248"/>
            <a:ext cx="3127248" cy="1463040"/>
          </a:xfrm>
          <a:prstGeom prst="rect">
            <a:avLst/>
          </a:prstGeom>
          <a:noFill/>
          <a:ln/>
        </p:spPr>
        <p:txBody>
          <a:bodyPr wrap="square" lIns="0" tIns="0" rIns="0" bIns="0" rtlCol="0" anchor="t"/>
          <a:lstStyle/>
          <a:p>
            <a:pPr indent="0" marL="0">
              <a:lnSpc>
                <a:spcPts val="2100"/>
              </a:lnSpc>
              <a:buNone/>
            </a:pPr>
            <a:r>
              <a:rPr lang="en-US" sz="1500" i="1" dirty="0">
                <a:solidFill>
                  <a:srgbClr val="FFFFFF"/>
                </a:solidFill>
                <a:latin typeface="Cambria" pitchFamily="34" charset="0"/>
                <a:ea typeface="Cambria" pitchFamily="34" charset="-122"/>
                <a:cs typeface="Cambria" pitchFamily="34" charset="-120"/>
              </a:rPr>
              <a:t>“Tagging is the single most foundational habit for sustainable FinOps maturity. It is also the most frequently skipped.”</a:t>
            </a:r>
            <a:endParaRPr lang="en-US" sz="1500" dirty="0"/>
          </a:p>
        </p:txBody>
      </p:sp>
      <p:sp>
        <p:nvSpPr>
          <p:cNvPr id="9" name="Shape 6"/>
          <p:cNvSpPr/>
          <p:nvPr/>
        </p:nvSpPr>
        <p:spPr>
          <a:xfrm>
            <a:off x="4663440" y="1911096"/>
            <a:ext cx="457200" cy="457200"/>
          </a:xfrm>
          <a:prstGeom prst="ellipse">
            <a:avLst/>
          </a:prstGeom>
          <a:solidFill>
            <a:srgbClr val="DDEDE9"/>
          </a:solidFill>
          <a:ln/>
        </p:spPr>
      </p:sp>
      <p:pic>
        <p:nvPicPr>
          <p:cNvPr id="10" name="Image 1" descr="preencoded.png">    </p:cNvPr>
          <p:cNvPicPr>
            <a:picLocks noChangeAspect="1"/>
          </p:cNvPicPr>
          <p:nvPr/>
        </p:nvPicPr>
        <p:blipFill>
          <a:blip r:embed="rId2"/>
          <a:stretch>
            <a:fillRect/>
          </a:stretch>
        </p:blipFill>
        <p:spPr>
          <a:xfrm>
            <a:off x="4777740" y="2025396"/>
            <a:ext cx="228600" cy="228600"/>
          </a:xfrm>
          <a:prstGeom prst="rect">
            <a:avLst/>
          </a:prstGeom>
        </p:spPr>
      </p:pic>
      <p:sp>
        <p:nvSpPr>
          <p:cNvPr id="11" name="Text 7"/>
          <p:cNvSpPr/>
          <p:nvPr/>
        </p:nvSpPr>
        <p:spPr>
          <a:xfrm>
            <a:off x="5376672" y="1783080"/>
            <a:ext cx="6263640" cy="713232"/>
          </a:xfrm>
          <a:prstGeom prst="rect">
            <a:avLst/>
          </a:prstGeom>
          <a:noFill/>
          <a:ln/>
        </p:spPr>
        <p:txBody>
          <a:bodyPr wrap="square" lIns="0" tIns="0" rIns="0" bIns="0" rtlCol="0" anchor="ctr"/>
          <a:lstStyle/>
          <a:p>
            <a:pPr indent="0" marL="0">
              <a:lnSpc>
                <a:spcPts val="1600"/>
              </a:lnSpc>
              <a:buNone/>
            </a:pPr>
            <a:r>
              <a:rPr lang="en-US" sz="1450" b="1" dirty="0">
                <a:solidFill>
                  <a:srgbClr val="1B2430"/>
                </a:solidFill>
                <a:latin typeface="Calibri" pitchFamily="34" charset="0"/>
                <a:ea typeface="Calibri" pitchFamily="34" charset="-122"/>
                <a:cs typeface="Calibri" pitchFamily="34" charset="-120"/>
              </a:rPr>
              <a:t>Define a global tag taxonomy</a:t>
            </a:r>
            <a:endParaRPr lang="en-US" sz="1450" dirty="0"/>
          </a:p>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One master list, agreed across the business — aligned to business need, not just cloud ops.</a:t>
            </a:r>
            <a:endParaRPr lang="en-US" sz="1450" dirty="0"/>
          </a:p>
        </p:txBody>
      </p:sp>
      <p:sp>
        <p:nvSpPr>
          <p:cNvPr id="12" name="Shape 8"/>
          <p:cNvSpPr/>
          <p:nvPr/>
        </p:nvSpPr>
        <p:spPr>
          <a:xfrm>
            <a:off x="4663440" y="2688336"/>
            <a:ext cx="457200" cy="457200"/>
          </a:xfrm>
          <a:prstGeom prst="ellipse">
            <a:avLst/>
          </a:prstGeom>
          <a:solidFill>
            <a:srgbClr val="DDEDE9"/>
          </a:solidFill>
          <a:ln/>
        </p:spPr>
      </p:sp>
      <p:pic>
        <p:nvPicPr>
          <p:cNvPr id="13" name="Image 2" descr="preencoded.png">    </p:cNvPr>
          <p:cNvPicPr>
            <a:picLocks noChangeAspect="1"/>
          </p:cNvPicPr>
          <p:nvPr/>
        </p:nvPicPr>
        <p:blipFill>
          <a:blip r:embed="rId3"/>
          <a:stretch>
            <a:fillRect/>
          </a:stretch>
        </p:blipFill>
        <p:spPr>
          <a:xfrm>
            <a:off x="4777740" y="2802636"/>
            <a:ext cx="228600" cy="228600"/>
          </a:xfrm>
          <a:prstGeom prst="rect">
            <a:avLst/>
          </a:prstGeom>
        </p:spPr>
      </p:pic>
      <p:sp>
        <p:nvSpPr>
          <p:cNvPr id="14" name="Text 9"/>
          <p:cNvSpPr/>
          <p:nvPr/>
        </p:nvSpPr>
        <p:spPr>
          <a:xfrm>
            <a:off x="5376672" y="2560320"/>
            <a:ext cx="6263640" cy="713232"/>
          </a:xfrm>
          <a:prstGeom prst="rect">
            <a:avLst/>
          </a:prstGeom>
          <a:noFill/>
          <a:ln/>
        </p:spPr>
        <p:txBody>
          <a:bodyPr wrap="square" lIns="0" tIns="0" rIns="0" bIns="0" rtlCol="0" anchor="ctr"/>
          <a:lstStyle/>
          <a:p>
            <a:pPr indent="0" marL="0">
              <a:lnSpc>
                <a:spcPts val="1600"/>
              </a:lnSpc>
              <a:buNone/>
            </a:pPr>
            <a:r>
              <a:rPr lang="en-US" sz="1450" b="1" dirty="0">
                <a:solidFill>
                  <a:srgbClr val="1B2430"/>
                </a:solidFill>
                <a:latin typeface="Calibri" pitchFamily="34" charset="0"/>
                <a:ea typeface="Calibri" pitchFamily="34" charset="-122"/>
                <a:cs typeface="Calibri" pitchFamily="34" charset="-120"/>
              </a:rPr>
              <a:t>Enforce tags at creation</a:t>
            </a:r>
            <a:endParaRPr lang="en-US" sz="1450" dirty="0"/>
          </a:p>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Azure Policy, AWS Organizations tag policies, or Terraform. Retrofitting later is painful.</a:t>
            </a:r>
            <a:endParaRPr lang="en-US" sz="1450" dirty="0"/>
          </a:p>
        </p:txBody>
      </p:sp>
      <p:sp>
        <p:nvSpPr>
          <p:cNvPr id="15" name="Shape 10"/>
          <p:cNvSpPr/>
          <p:nvPr/>
        </p:nvSpPr>
        <p:spPr>
          <a:xfrm>
            <a:off x="4663440" y="3465576"/>
            <a:ext cx="457200" cy="457200"/>
          </a:xfrm>
          <a:prstGeom prst="ellipse">
            <a:avLst/>
          </a:prstGeom>
          <a:solidFill>
            <a:srgbClr val="DDEDE9"/>
          </a:solidFill>
          <a:ln/>
        </p:spPr>
      </p:sp>
      <p:pic>
        <p:nvPicPr>
          <p:cNvPr id="16" name="Image 3" descr="preencoded.png">    </p:cNvPr>
          <p:cNvPicPr>
            <a:picLocks noChangeAspect="1"/>
          </p:cNvPicPr>
          <p:nvPr/>
        </p:nvPicPr>
        <p:blipFill>
          <a:blip r:embed="rId4"/>
          <a:stretch>
            <a:fillRect/>
          </a:stretch>
        </p:blipFill>
        <p:spPr>
          <a:xfrm>
            <a:off x="4777740" y="3579876"/>
            <a:ext cx="228600" cy="228600"/>
          </a:xfrm>
          <a:prstGeom prst="rect">
            <a:avLst/>
          </a:prstGeom>
        </p:spPr>
      </p:pic>
      <p:sp>
        <p:nvSpPr>
          <p:cNvPr id="17" name="Text 11"/>
          <p:cNvSpPr/>
          <p:nvPr/>
        </p:nvSpPr>
        <p:spPr>
          <a:xfrm>
            <a:off x="5376672" y="3337560"/>
            <a:ext cx="6263640" cy="713232"/>
          </a:xfrm>
          <a:prstGeom prst="rect">
            <a:avLst/>
          </a:prstGeom>
          <a:noFill/>
          <a:ln/>
        </p:spPr>
        <p:txBody>
          <a:bodyPr wrap="square" lIns="0" tIns="0" rIns="0" bIns="0" rtlCol="0" anchor="ctr"/>
          <a:lstStyle/>
          <a:p>
            <a:pPr indent="0" marL="0">
              <a:lnSpc>
                <a:spcPts val="1600"/>
              </a:lnSpc>
              <a:buNone/>
            </a:pPr>
            <a:r>
              <a:rPr lang="en-US" sz="1450" b="1" dirty="0">
                <a:solidFill>
                  <a:srgbClr val="1B2430"/>
                </a:solidFill>
                <a:latin typeface="Calibri" pitchFamily="34" charset="0"/>
                <a:ea typeface="Calibri" pitchFamily="34" charset="-122"/>
                <a:cs typeface="Calibri" pitchFamily="34" charset="-120"/>
              </a:rPr>
              <a:t>Start with showback</a:t>
            </a:r>
            <a:endParaRPr lang="en-US" sz="1450" dirty="0"/>
          </a:p>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Show teams their spend, uncharged, for 4–6 weeks — gaps surface before money is on the line.</a:t>
            </a:r>
            <a:endParaRPr lang="en-US" sz="1450" dirty="0"/>
          </a:p>
        </p:txBody>
      </p:sp>
      <p:sp>
        <p:nvSpPr>
          <p:cNvPr id="18" name="Shape 12"/>
          <p:cNvSpPr/>
          <p:nvPr/>
        </p:nvSpPr>
        <p:spPr>
          <a:xfrm>
            <a:off x="4663440" y="4242816"/>
            <a:ext cx="457200" cy="457200"/>
          </a:xfrm>
          <a:prstGeom prst="ellipse">
            <a:avLst/>
          </a:prstGeom>
          <a:solidFill>
            <a:srgbClr val="DDEDE9"/>
          </a:solidFill>
          <a:ln/>
        </p:spPr>
      </p:sp>
      <p:pic>
        <p:nvPicPr>
          <p:cNvPr id="19" name="Image 4" descr="preencoded.png">    </p:cNvPr>
          <p:cNvPicPr>
            <a:picLocks noChangeAspect="1"/>
          </p:cNvPicPr>
          <p:nvPr/>
        </p:nvPicPr>
        <p:blipFill>
          <a:blip r:embed="rId5"/>
          <a:stretch>
            <a:fillRect/>
          </a:stretch>
        </p:blipFill>
        <p:spPr>
          <a:xfrm>
            <a:off x="4777740" y="4357116"/>
            <a:ext cx="228600" cy="228600"/>
          </a:xfrm>
          <a:prstGeom prst="rect">
            <a:avLst/>
          </a:prstGeom>
        </p:spPr>
      </p:pic>
      <p:sp>
        <p:nvSpPr>
          <p:cNvPr id="20" name="Text 13"/>
          <p:cNvSpPr/>
          <p:nvPr/>
        </p:nvSpPr>
        <p:spPr>
          <a:xfrm>
            <a:off x="5376672" y="4114800"/>
            <a:ext cx="6263640" cy="713232"/>
          </a:xfrm>
          <a:prstGeom prst="rect">
            <a:avLst/>
          </a:prstGeom>
          <a:noFill/>
          <a:ln/>
        </p:spPr>
        <p:txBody>
          <a:bodyPr wrap="square" lIns="0" tIns="0" rIns="0" bIns="0" rtlCol="0" anchor="ctr"/>
          <a:lstStyle/>
          <a:p>
            <a:pPr indent="0" marL="0">
              <a:lnSpc>
                <a:spcPts val="1600"/>
              </a:lnSpc>
              <a:buNone/>
            </a:pPr>
            <a:r>
              <a:rPr lang="en-US" sz="1450" b="1" dirty="0">
                <a:solidFill>
                  <a:srgbClr val="1B2430"/>
                </a:solidFill>
                <a:latin typeface="Calibri" pitchFamily="34" charset="0"/>
                <a:ea typeface="Calibri" pitchFamily="34" charset="-122"/>
                <a:cs typeface="Calibri" pitchFamily="34" charset="-120"/>
              </a:rPr>
              <a:t>Monitor tag compliance</a:t>
            </a:r>
            <a:endParaRPr lang="en-US" sz="1450" dirty="0"/>
          </a:p>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Dashboards that surface missing or incorrect metadata, tracked as a KPI.</a:t>
            </a:r>
            <a:endParaRPr lang="en-US" sz="1450" dirty="0"/>
          </a:p>
        </p:txBody>
      </p:sp>
      <p:sp>
        <p:nvSpPr>
          <p:cNvPr id="21" name="Text 14"/>
          <p:cNvSpPr/>
          <p:nvPr/>
        </p:nvSpPr>
        <p:spPr>
          <a:xfrm>
            <a:off x="548640" y="5047488"/>
            <a:ext cx="3657600" cy="292608"/>
          </a:xfrm>
          <a:prstGeom prst="rect">
            <a:avLst/>
          </a:prstGeom>
          <a:noFill/>
          <a:ln/>
        </p:spPr>
        <p:txBody>
          <a:bodyPr wrap="square" lIns="0" tIns="0" rIns="0" bIns="0" rtlCol="0" anchor="ctr"/>
          <a:lstStyle/>
          <a:p>
            <a:pPr indent="0" marL="0">
              <a:buNone/>
            </a:pPr>
            <a:r>
              <a:rPr lang="en-US" sz="1200" b="1" spc="180" kern="0" dirty="0">
                <a:solidFill>
                  <a:srgbClr val="5C6675"/>
                </a:solidFill>
                <a:latin typeface="Calibri" pitchFamily="34" charset="0"/>
                <a:ea typeface="Calibri" pitchFamily="34" charset="-122"/>
                <a:cs typeface="Calibri" pitchFamily="34" charset="-120"/>
              </a:rPr>
              <a:t>Minimum viable tags</a:t>
            </a:r>
            <a:endParaRPr lang="en-US" sz="1200" dirty="0"/>
          </a:p>
        </p:txBody>
      </p:sp>
      <p:sp>
        <p:nvSpPr>
          <p:cNvPr id="22" name="Shape 15"/>
          <p:cNvSpPr/>
          <p:nvPr/>
        </p:nvSpPr>
        <p:spPr>
          <a:xfrm>
            <a:off x="548640" y="5440680"/>
            <a:ext cx="2103120" cy="566928"/>
          </a:xfrm>
          <a:prstGeom prst="roundRect">
            <a:avLst>
              <a:gd name="adj" fmla="val 48387"/>
            </a:avLst>
          </a:prstGeom>
          <a:solidFill>
            <a:srgbClr val="FBEFD8"/>
          </a:solidFill>
          <a:ln/>
        </p:spPr>
      </p:sp>
      <p:sp>
        <p:nvSpPr>
          <p:cNvPr id="23" name="Text 16"/>
          <p:cNvSpPr/>
          <p:nvPr/>
        </p:nvSpPr>
        <p:spPr>
          <a:xfrm>
            <a:off x="548640" y="5440680"/>
            <a:ext cx="2103120" cy="566928"/>
          </a:xfrm>
          <a:prstGeom prst="rect">
            <a:avLst/>
          </a:prstGeom>
          <a:noFill/>
          <a:ln/>
        </p:spPr>
        <p:txBody>
          <a:bodyPr wrap="square" lIns="0" tIns="0" rIns="0" bIns="0" rtlCol="0" anchor="ctr"/>
          <a:lstStyle/>
          <a:p>
            <a:pPr algn="ctr" indent="0" marL="0">
              <a:buNone/>
            </a:pPr>
            <a:r>
              <a:rPr lang="en-US" sz="1400" b="1" dirty="0">
                <a:solidFill>
                  <a:srgbClr val="6B4A0E"/>
                </a:solidFill>
                <a:latin typeface="Calibri" pitchFamily="34" charset="0"/>
                <a:ea typeface="Calibri" pitchFamily="34" charset="-122"/>
                <a:cs typeface="Calibri" pitchFamily="34" charset="-120"/>
              </a:rPr>
              <a:t>Environment</a:t>
            </a:r>
            <a:endParaRPr lang="en-US" sz="1400" dirty="0"/>
          </a:p>
        </p:txBody>
      </p:sp>
      <p:sp>
        <p:nvSpPr>
          <p:cNvPr id="24" name="Shape 17"/>
          <p:cNvSpPr/>
          <p:nvPr/>
        </p:nvSpPr>
        <p:spPr>
          <a:xfrm>
            <a:off x="2761488" y="5440680"/>
            <a:ext cx="2103120" cy="566928"/>
          </a:xfrm>
          <a:prstGeom prst="roundRect">
            <a:avLst>
              <a:gd name="adj" fmla="val 48387"/>
            </a:avLst>
          </a:prstGeom>
          <a:solidFill>
            <a:srgbClr val="FBEFD8"/>
          </a:solidFill>
          <a:ln/>
        </p:spPr>
      </p:sp>
      <p:sp>
        <p:nvSpPr>
          <p:cNvPr id="25" name="Text 18"/>
          <p:cNvSpPr/>
          <p:nvPr/>
        </p:nvSpPr>
        <p:spPr>
          <a:xfrm>
            <a:off x="2761488" y="5440680"/>
            <a:ext cx="2103120" cy="566928"/>
          </a:xfrm>
          <a:prstGeom prst="rect">
            <a:avLst/>
          </a:prstGeom>
          <a:noFill/>
          <a:ln/>
        </p:spPr>
        <p:txBody>
          <a:bodyPr wrap="square" lIns="0" tIns="0" rIns="0" bIns="0" rtlCol="0" anchor="ctr"/>
          <a:lstStyle/>
          <a:p>
            <a:pPr algn="ctr" indent="0" marL="0">
              <a:buNone/>
            </a:pPr>
            <a:r>
              <a:rPr lang="en-US" sz="1400" b="1" dirty="0">
                <a:solidFill>
                  <a:srgbClr val="6B4A0E"/>
                </a:solidFill>
                <a:latin typeface="Calibri" pitchFamily="34" charset="0"/>
                <a:ea typeface="Calibri" pitchFamily="34" charset="-122"/>
                <a:cs typeface="Calibri" pitchFamily="34" charset="-120"/>
              </a:rPr>
              <a:t>CostCenter</a:t>
            </a:r>
            <a:endParaRPr lang="en-US" sz="1400" dirty="0"/>
          </a:p>
        </p:txBody>
      </p:sp>
      <p:sp>
        <p:nvSpPr>
          <p:cNvPr id="26" name="Shape 19"/>
          <p:cNvSpPr/>
          <p:nvPr/>
        </p:nvSpPr>
        <p:spPr>
          <a:xfrm>
            <a:off x="4974336" y="5440680"/>
            <a:ext cx="2103120" cy="566928"/>
          </a:xfrm>
          <a:prstGeom prst="roundRect">
            <a:avLst>
              <a:gd name="adj" fmla="val 48387"/>
            </a:avLst>
          </a:prstGeom>
          <a:solidFill>
            <a:srgbClr val="FBEFD8"/>
          </a:solidFill>
          <a:ln/>
        </p:spPr>
      </p:sp>
      <p:sp>
        <p:nvSpPr>
          <p:cNvPr id="27" name="Text 20"/>
          <p:cNvSpPr/>
          <p:nvPr/>
        </p:nvSpPr>
        <p:spPr>
          <a:xfrm>
            <a:off x="4974336" y="5440680"/>
            <a:ext cx="2103120" cy="566928"/>
          </a:xfrm>
          <a:prstGeom prst="rect">
            <a:avLst/>
          </a:prstGeom>
          <a:noFill/>
          <a:ln/>
        </p:spPr>
        <p:txBody>
          <a:bodyPr wrap="square" lIns="0" tIns="0" rIns="0" bIns="0" rtlCol="0" anchor="ctr"/>
          <a:lstStyle/>
          <a:p>
            <a:pPr algn="ctr" indent="0" marL="0">
              <a:buNone/>
            </a:pPr>
            <a:r>
              <a:rPr lang="en-US" sz="1400" b="1" dirty="0">
                <a:solidFill>
                  <a:srgbClr val="6B4A0E"/>
                </a:solidFill>
                <a:latin typeface="Calibri" pitchFamily="34" charset="0"/>
                <a:ea typeface="Calibri" pitchFamily="34" charset="-122"/>
                <a:cs typeface="Calibri" pitchFamily="34" charset="-120"/>
              </a:rPr>
              <a:t>ApplicationID</a:t>
            </a:r>
            <a:endParaRPr lang="en-US" sz="1400" dirty="0"/>
          </a:p>
        </p:txBody>
      </p:sp>
      <p:sp>
        <p:nvSpPr>
          <p:cNvPr id="28" name="Shape 21"/>
          <p:cNvSpPr/>
          <p:nvPr/>
        </p:nvSpPr>
        <p:spPr>
          <a:xfrm>
            <a:off x="7187184" y="5440680"/>
            <a:ext cx="2103120" cy="566928"/>
          </a:xfrm>
          <a:prstGeom prst="roundRect">
            <a:avLst>
              <a:gd name="adj" fmla="val 48387"/>
            </a:avLst>
          </a:prstGeom>
          <a:solidFill>
            <a:srgbClr val="FBEFD8"/>
          </a:solidFill>
          <a:ln/>
        </p:spPr>
      </p:sp>
      <p:sp>
        <p:nvSpPr>
          <p:cNvPr id="29" name="Text 22"/>
          <p:cNvSpPr/>
          <p:nvPr/>
        </p:nvSpPr>
        <p:spPr>
          <a:xfrm>
            <a:off x="7187184" y="5440680"/>
            <a:ext cx="2103120" cy="566928"/>
          </a:xfrm>
          <a:prstGeom prst="rect">
            <a:avLst/>
          </a:prstGeom>
          <a:noFill/>
          <a:ln/>
        </p:spPr>
        <p:txBody>
          <a:bodyPr wrap="square" lIns="0" tIns="0" rIns="0" bIns="0" rtlCol="0" anchor="ctr"/>
          <a:lstStyle/>
          <a:p>
            <a:pPr algn="ctr" indent="0" marL="0">
              <a:buNone/>
            </a:pPr>
            <a:r>
              <a:rPr lang="en-US" sz="1400" b="1" dirty="0">
                <a:solidFill>
                  <a:srgbClr val="6B4A0E"/>
                </a:solidFill>
                <a:latin typeface="Calibri" pitchFamily="34" charset="0"/>
                <a:ea typeface="Calibri" pitchFamily="34" charset="-122"/>
                <a:cs typeface="Calibri" pitchFamily="34" charset="-120"/>
              </a:rPr>
              <a:t>Owner</a:t>
            </a:r>
            <a:endParaRPr lang="en-US" sz="1400" dirty="0"/>
          </a:p>
        </p:txBody>
      </p:sp>
      <p:sp>
        <p:nvSpPr>
          <p:cNvPr id="30" name="Shape 23"/>
          <p:cNvSpPr/>
          <p:nvPr/>
        </p:nvSpPr>
        <p:spPr>
          <a:xfrm>
            <a:off x="9400032" y="5440680"/>
            <a:ext cx="2103120" cy="566928"/>
          </a:xfrm>
          <a:prstGeom prst="roundRect">
            <a:avLst>
              <a:gd name="adj" fmla="val 48387"/>
            </a:avLst>
          </a:prstGeom>
          <a:solidFill>
            <a:srgbClr val="FBEFD8"/>
          </a:solidFill>
          <a:ln/>
        </p:spPr>
      </p:sp>
      <p:sp>
        <p:nvSpPr>
          <p:cNvPr id="31" name="Text 24"/>
          <p:cNvSpPr/>
          <p:nvPr/>
        </p:nvSpPr>
        <p:spPr>
          <a:xfrm>
            <a:off x="9400032" y="5440680"/>
            <a:ext cx="2103120" cy="566928"/>
          </a:xfrm>
          <a:prstGeom prst="rect">
            <a:avLst/>
          </a:prstGeom>
          <a:noFill/>
          <a:ln/>
        </p:spPr>
        <p:txBody>
          <a:bodyPr wrap="square" lIns="0" tIns="0" rIns="0" bIns="0" rtlCol="0" anchor="ctr"/>
          <a:lstStyle/>
          <a:p>
            <a:pPr algn="ctr" indent="0" marL="0">
              <a:buNone/>
            </a:pPr>
            <a:r>
              <a:rPr lang="en-US" sz="1400" b="1" dirty="0">
                <a:solidFill>
                  <a:srgbClr val="6B4A0E"/>
                </a:solidFill>
                <a:latin typeface="Calibri" pitchFamily="34" charset="0"/>
                <a:ea typeface="Calibri" pitchFamily="34" charset="-122"/>
                <a:cs typeface="Calibri" pitchFamily="34" charset="-120"/>
              </a:rPr>
              <a:t>Project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SOLUTION 2 — SHARED RESOURCES</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Attributing costs that belong to everyone</a:t>
            </a:r>
            <a:endParaRPr lang="en-US" sz="3100" dirty="0"/>
          </a:p>
        </p:txBody>
      </p:sp>
      <p:sp>
        <p:nvSpPr>
          <p:cNvPr id="4" name="Text 2"/>
          <p:cNvSpPr/>
          <p:nvPr/>
        </p:nvSpPr>
        <p:spPr>
          <a:xfrm>
            <a:off x="548640" y="1536192"/>
            <a:ext cx="10607040" cy="365760"/>
          </a:xfrm>
          <a:prstGeom prst="rect">
            <a:avLst/>
          </a:prstGeom>
          <a:noFill/>
          <a:ln/>
        </p:spPr>
        <p:txBody>
          <a:bodyPr wrap="square" lIns="0" tIns="0" rIns="0" bIns="0" rtlCol="0" anchor="ctr"/>
          <a:lstStyle/>
          <a:p>
            <a:pPr indent="0" marL="0">
              <a:buNone/>
            </a:pPr>
            <a:r>
              <a:rPr lang="en-US" sz="1500" dirty="0">
                <a:solidFill>
                  <a:srgbClr val="5C6675"/>
                </a:solidFill>
                <a:latin typeface="Calibri" pitchFamily="34" charset="0"/>
                <a:ea typeface="Calibri" pitchFamily="34" charset="-122"/>
                <a:cs typeface="Calibri" pitchFamily="34" charset="-120"/>
              </a:rPr>
              <a:t>Shared databases, Kubernetes clusters and networking are the hardest costs to assign to a single owner.</a:t>
            </a:r>
            <a:endParaRPr lang="en-US" sz="1500" dirty="0"/>
          </a:p>
        </p:txBody>
      </p:sp>
      <p:sp>
        <p:nvSpPr>
          <p:cNvPr id="5" name="Shape 3"/>
          <p:cNvSpPr/>
          <p:nvPr/>
        </p:nvSpPr>
        <p:spPr>
          <a:xfrm>
            <a:off x="548640" y="2103120"/>
            <a:ext cx="5394960" cy="1417320"/>
          </a:xfrm>
          <a:prstGeom prst="roundRect">
            <a:avLst>
              <a:gd name="adj" fmla="val 5806"/>
            </a:avLst>
          </a:prstGeom>
          <a:solidFill>
            <a:srgbClr val="DDEDE9"/>
          </a:solidFill>
          <a:ln/>
        </p:spPr>
      </p:sp>
      <p:sp>
        <p:nvSpPr>
          <p:cNvPr id="6" name="Shape 4"/>
          <p:cNvSpPr/>
          <p:nvPr/>
        </p:nvSpPr>
        <p:spPr>
          <a:xfrm>
            <a:off x="841248" y="2359152"/>
            <a:ext cx="548640" cy="54864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978408" y="2496312"/>
            <a:ext cx="274320" cy="274320"/>
          </a:xfrm>
          <a:prstGeom prst="rect">
            <a:avLst/>
          </a:prstGeom>
        </p:spPr>
      </p:pic>
      <p:sp>
        <p:nvSpPr>
          <p:cNvPr id="8" name="Text 5"/>
          <p:cNvSpPr/>
          <p:nvPr/>
        </p:nvSpPr>
        <p:spPr>
          <a:xfrm>
            <a:off x="1517904" y="2322576"/>
            <a:ext cx="4114800" cy="365760"/>
          </a:xfrm>
          <a:prstGeom prst="rect">
            <a:avLst/>
          </a:prstGeom>
          <a:noFill/>
          <a:ln/>
        </p:spPr>
        <p:txBody>
          <a:bodyPr wrap="square" lIns="0" tIns="0" rIns="0" bIns="0" rtlCol="0" anchor="ctr"/>
          <a:lstStyle/>
          <a:p>
            <a:pPr indent="0" marL="0">
              <a:buNone/>
            </a:pPr>
            <a:r>
              <a:rPr lang="en-US" sz="1800" b="1" dirty="0">
                <a:solidFill>
                  <a:srgbClr val="1B2430"/>
                </a:solidFill>
                <a:latin typeface="Cambria" pitchFamily="34" charset="0"/>
                <a:ea typeface="Cambria" pitchFamily="34" charset="-122"/>
                <a:cs typeface="Cambria" pitchFamily="34" charset="-120"/>
              </a:rPr>
              <a:t>Attribute-based allocation</a:t>
            </a:r>
            <a:endParaRPr lang="en-US" sz="1800" dirty="0"/>
          </a:p>
        </p:txBody>
      </p:sp>
      <p:sp>
        <p:nvSpPr>
          <p:cNvPr id="9" name="Text 6"/>
          <p:cNvSpPr/>
          <p:nvPr/>
        </p:nvSpPr>
        <p:spPr>
          <a:xfrm>
            <a:off x="859536" y="2761488"/>
            <a:ext cx="4773168" cy="713232"/>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Identify consumption at runtime and allocate on actual usage rather than an arbitrary key.</a:t>
            </a:r>
            <a:endParaRPr lang="en-US" sz="1250" dirty="0"/>
          </a:p>
        </p:txBody>
      </p:sp>
      <p:sp>
        <p:nvSpPr>
          <p:cNvPr id="10" name="Shape 7"/>
          <p:cNvSpPr/>
          <p:nvPr/>
        </p:nvSpPr>
        <p:spPr>
          <a:xfrm>
            <a:off x="6245352" y="2103120"/>
            <a:ext cx="5394960" cy="1417320"/>
          </a:xfrm>
          <a:prstGeom prst="roundRect">
            <a:avLst>
              <a:gd name="adj" fmla="val 5806"/>
            </a:avLst>
          </a:prstGeom>
          <a:solidFill>
            <a:srgbClr val="DDEDE9"/>
          </a:solidFill>
          <a:ln/>
        </p:spPr>
      </p:sp>
      <p:sp>
        <p:nvSpPr>
          <p:cNvPr id="11" name="Shape 8"/>
          <p:cNvSpPr/>
          <p:nvPr/>
        </p:nvSpPr>
        <p:spPr>
          <a:xfrm>
            <a:off x="6537960" y="2359152"/>
            <a:ext cx="548640" cy="548640"/>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6675120" y="2496312"/>
            <a:ext cx="274320" cy="274320"/>
          </a:xfrm>
          <a:prstGeom prst="rect">
            <a:avLst/>
          </a:prstGeom>
        </p:spPr>
      </p:pic>
      <p:sp>
        <p:nvSpPr>
          <p:cNvPr id="13" name="Text 9"/>
          <p:cNvSpPr/>
          <p:nvPr/>
        </p:nvSpPr>
        <p:spPr>
          <a:xfrm>
            <a:off x="7214616" y="2322576"/>
            <a:ext cx="4114800" cy="365760"/>
          </a:xfrm>
          <a:prstGeom prst="rect">
            <a:avLst/>
          </a:prstGeom>
          <a:noFill/>
          <a:ln/>
        </p:spPr>
        <p:txBody>
          <a:bodyPr wrap="square" lIns="0" tIns="0" rIns="0" bIns="0" rtlCol="0" anchor="ctr"/>
          <a:lstStyle/>
          <a:p>
            <a:pPr indent="0" marL="0">
              <a:buNone/>
            </a:pPr>
            <a:r>
              <a:rPr lang="en-US" sz="1800" b="1" dirty="0">
                <a:solidFill>
                  <a:srgbClr val="1B2430"/>
                </a:solidFill>
                <a:latin typeface="Cambria" pitchFamily="34" charset="0"/>
                <a:ea typeface="Cambria" pitchFamily="34" charset="-122"/>
                <a:cs typeface="Cambria" pitchFamily="34" charset="-120"/>
              </a:rPr>
              <a:t>Define a splitting strategy</a:t>
            </a:r>
            <a:endParaRPr lang="en-US" sz="1800" dirty="0"/>
          </a:p>
        </p:txBody>
      </p:sp>
      <p:sp>
        <p:nvSpPr>
          <p:cNvPr id="14" name="Text 10"/>
          <p:cNvSpPr/>
          <p:nvPr/>
        </p:nvSpPr>
        <p:spPr>
          <a:xfrm>
            <a:off x="6556248" y="2761488"/>
            <a:ext cx="4773168" cy="713232"/>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Pick one consistent method — proportional usage, team count, or a business metric — and publish it.</a:t>
            </a:r>
            <a:endParaRPr lang="en-US" sz="1250" dirty="0"/>
          </a:p>
        </p:txBody>
      </p:sp>
      <p:sp>
        <p:nvSpPr>
          <p:cNvPr id="15" name="Shape 11"/>
          <p:cNvSpPr/>
          <p:nvPr/>
        </p:nvSpPr>
        <p:spPr>
          <a:xfrm>
            <a:off x="548640" y="3657600"/>
            <a:ext cx="5394960" cy="1417320"/>
          </a:xfrm>
          <a:prstGeom prst="roundRect">
            <a:avLst>
              <a:gd name="adj" fmla="val 5806"/>
            </a:avLst>
          </a:prstGeom>
          <a:solidFill>
            <a:srgbClr val="DDEDE9"/>
          </a:solidFill>
          <a:ln/>
        </p:spPr>
      </p:sp>
      <p:sp>
        <p:nvSpPr>
          <p:cNvPr id="16" name="Shape 12"/>
          <p:cNvSpPr/>
          <p:nvPr/>
        </p:nvSpPr>
        <p:spPr>
          <a:xfrm>
            <a:off x="841248" y="3913632"/>
            <a:ext cx="548640" cy="548640"/>
          </a:xfrm>
          <a:prstGeom prst="ellipse">
            <a:avLst/>
          </a:prstGeom>
          <a:solidFill>
            <a:srgbClr val="FFFFFF"/>
          </a:solidFill>
          <a:ln/>
        </p:spPr>
      </p:sp>
      <p:pic>
        <p:nvPicPr>
          <p:cNvPr id="17" name="Image 2" descr="preencoded.png">    </p:cNvPr>
          <p:cNvPicPr>
            <a:picLocks noChangeAspect="1"/>
          </p:cNvPicPr>
          <p:nvPr/>
        </p:nvPicPr>
        <p:blipFill>
          <a:blip r:embed="rId3"/>
          <a:stretch>
            <a:fillRect/>
          </a:stretch>
        </p:blipFill>
        <p:spPr>
          <a:xfrm>
            <a:off x="978408" y="4050792"/>
            <a:ext cx="274320" cy="274320"/>
          </a:xfrm>
          <a:prstGeom prst="rect">
            <a:avLst/>
          </a:prstGeom>
        </p:spPr>
      </p:pic>
      <p:sp>
        <p:nvSpPr>
          <p:cNvPr id="18" name="Text 13"/>
          <p:cNvSpPr/>
          <p:nvPr/>
        </p:nvSpPr>
        <p:spPr>
          <a:xfrm>
            <a:off x="1517904" y="3877056"/>
            <a:ext cx="4114800" cy="365760"/>
          </a:xfrm>
          <a:prstGeom prst="rect">
            <a:avLst/>
          </a:prstGeom>
          <a:noFill/>
          <a:ln/>
        </p:spPr>
        <p:txBody>
          <a:bodyPr wrap="square" lIns="0" tIns="0" rIns="0" bIns="0" rtlCol="0" anchor="ctr"/>
          <a:lstStyle/>
          <a:p>
            <a:pPr indent="0" marL="0">
              <a:buNone/>
            </a:pPr>
            <a:r>
              <a:rPr lang="en-US" sz="1800" b="1" dirty="0">
                <a:solidFill>
                  <a:srgbClr val="1B2430"/>
                </a:solidFill>
                <a:latin typeface="Cambria" pitchFamily="34" charset="0"/>
                <a:ea typeface="Cambria" pitchFamily="34" charset="-122"/>
                <a:cs typeface="Cambria" pitchFamily="34" charset="-120"/>
              </a:rPr>
              <a:t>Start with showback</a:t>
            </a:r>
            <a:endParaRPr lang="en-US" sz="1800" dirty="0"/>
          </a:p>
        </p:txBody>
      </p:sp>
      <p:sp>
        <p:nvSpPr>
          <p:cNvPr id="19" name="Text 14"/>
          <p:cNvSpPr/>
          <p:nvPr/>
        </p:nvSpPr>
        <p:spPr>
          <a:xfrm>
            <a:off x="859536" y="4315968"/>
            <a:ext cx="4773168" cy="713232"/>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Report each team's share of shared cost without billing it. Builds awareness and surfaces disputes early.</a:t>
            </a:r>
            <a:endParaRPr lang="en-US" sz="1250" dirty="0"/>
          </a:p>
        </p:txBody>
      </p:sp>
      <p:sp>
        <p:nvSpPr>
          <p:cNvPr id="20" name="Shape 15"/>
          <p:cNvSpPr/>
          <p:nvPr/>
        </p:nvSpPr>
        <p:spPr>
          <a:xfrm>
            <a:off x="6245352" y="3657600"/>
            <a:ext cx="5394960" cy="1417320"/>
          </a:xfrm>
          <a:prstGeom prst="roundRect">
            <a:avLst>
              <a:gd name="adj" fmla="val 5806"/>
            </a:avLst>
          </a:prstGeom>
          <a:solidFill>
            <a:srgbClr val="DDEDE9"/>
          </a:solidFill>
          <a:ln/>
        </p:spPr>
      </p:sp>
      <p:sp>
        <p:nvSpPr>
          <p:cNvPr id="21" name="Shape 16"/>
          <p:cNvSpPr/>
          <p:nvPr/>
        </p:nvSpPr>
        <p:spPr>
          <a:xfrm>
            <a:off x="6537960" y="3913632"/>
            <a:ext cx="548640" cy="548640"/>
          </a:xfrm>
          <a:prstGeom prst="ellipse">
            <a:avLst/>
          </a:prstGeom>
          <a:solidFill>
            <a:srgbClr val="FFFFFF"/>
          </a:solidFill>
          <a:ln/>
        </p:spPr>
      </p:sp>
      <p:pic>
        <p:nvPicPr>
          <p:cNvPr id="22" name="Image 3" descr="preencoded.png">    </p:cNvPr>
          <p:cNvPicPr>
            <a:picLocks noChangeAspect="1"/>
          </p:cNvPicPr>
          <p:nvPr/>
        </p:nvPicPr>
        <p:blipFill>
          <a:blip r:embed="rId4"/>
          <a:stretch>
            <a:fillRect/>
          </a:stretch>
        </p:blipFill>
        <p:spPr>
          <a:xfrm>
            <a:off x="6675120" y="4050792"/>
            <a:ext cx="274320" cy="274320"/>
          </a:xfrm>
          <a:prstGeom prst="rect">
            <a:avLst/>
          </a:prstGeom>
        </p:spPr>
      </p:pic>
      <p:sp>
        <p:nvSpPr>
          <p:cNvPr id="23" name="Text 17"/>
          <p:cNvSpPr/>
          <p:nvPr/>
        </p:nvSpPr>
        <p:spPr>
          <a:xfrm>
            <a:off x="7214616" y="3877056"/>
            <a:ext cx="4114800" cy="365760"/>
          </a:xfrm>
          <a:prstGeom prst="rect">
            <a:avLst/>
          </a:prstGeom>
          <a:noFill/>
          <a:ln/>
        </p:spPr>
        <p:txBody>
          <a:bodyPr wrap="square" lIns="0" tIns="0" rIns="0" bIns="0" rtlCol="0" anchor="ctr"/>
          <a:lstStyle/>
          <a:p>
            <a:pPr indent="0" marL="0">
              <a:buNone/>
            </a:pPr>
            <a:r>
              <a:rPr lang="en-US" sz="1800" b="1" dirty="0">
                <a:solidFill>
                  <a:srgbClr val="1B2430"/>
                </a:solidFill>
                <a:latin typeface="Cambria" pitchFamily="34" charset="0"/>
                <a:ea typeface="Cambria" pitchFamily="34" charset="-122"/>
                <a:cs typeface="Cambria" pitchFamily="34" charset="-120"/>
              </a:rPr>
              <a:t>Progress to chargeback</a:t>
            </a:r>
            <a:endParaRPr lang="en-US" sz="1800" dirty="0"/>
          </a:p>
        </p:txBody>
      </p:sp>
      <p:sp>
        <p:nvSpPr>
          <p:cNvPr id="24" name="Text 18"/>
          <p:cNvSpPr/>
          <p:nvPr/>
        </p:nvSpPr>
        <p:spPr>
          <a:xfrm>
            <a:off x="6556248" y="4315968"/>
            <a:ext cx="4773168" cy="713232"/>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Bill teams on actual consumption once the usage patterns are understood and trusted.</a:t>
            </a:r>
            <a:endParaRPr lang="en-US" sz="1250" dirty="0"/>
          </a:p>
        </p:txBody>
      </p:sp>
      <p:sp>
        <p:nvSpPr>
          <p:cNvPr id="25" name="Shape 19"/>
          <p:cNvSpPr/>
          <p:nvPr/>
        </p:nvSpPr>
        <p:spPr>
          <a:xfrm>
            <a:off x="548640" y="5440680"/>
            <a:ext cx="11091672" cy="868680"/>
          </a:xfrm>
          <a:prstGeom prst="roundRect">
            <a:avLst>
              <a:gd name="adj" fmla="val 9474"/>
            </a:avLst>
          </a:prstGeom>
          <a:solidFill>
            <a:srgbClr val="1F2936"/>
          </a:solidFill>
          <a:ln/>
          <a:effectLst>
            <a:outerShdw sx="100000" sy="100000" kx="0" ky="0" algn="bl" rotWithShape="0" blurRad="127000" dist="25400" dir="5400000">
              <a:srgbClr val="8C99A8">
                <a:alpha val="16000"/>
              </a:srgbClr>
            </a:outerShdw>
          </a:effectLst>
        </p:spPr>
      </p:sp>
      <p:sp>
        <p:nvSpPr>
          <p:cNvPr id="26" name="Text 20"/>
          <p:cNvSpPr/>
          <p:nvPr/>
        </p:nvSpPr>
        <p:spPr>
          <a:xfrm>
            <a:off x="841248" y="5550408"/>
            <a:ext cx="10506456" cy="649224"/>
          </a:xfrm>
          <a:prstGeom prst="rect">
            <a:avLst/>
          </a:prstGeom>
          <a:noFill/>
          <a:ln/>
        </p:spPr>
        <p:txBody>
          <a:bodyPr wrap="square" lIns="0" tIns="0" rIns="0" bIns="0" rtlCol="0" anchor="ctr"/>
          <a:lstStyle/>
          <a:p>
            <a:pPr indent="0" marL="0">
              <a:lnSpc>
                <a:spcPts val="2000"/>
              </a:lnSpc>
              <a:buNone/>
            </a:pPr>
            <a:r>
              <a:rPr lang="en-US" sz="1500" i="1" dirty="0">
                <a:solidFill>
                  <a:srgbClr val="FFFFFF"/>
                </a:solidFill>
                <a:latin typeface="Cambria" pitchFamily="34" charset="0"/>
                <a:ea typeface="Cambria" pitchFamily="34" charset="-122"/>
                <a:cs typeface="Cambria" pitchFamily="34" charset="-120"/>
              </a:rPr>
              <a:t>“A thoughtful chargeback model often drives more intentional decisions and long-term discipline.”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SOLUTION 3 — COMMITMENTS &amp; DISCOUNTS</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Making the price we actually pay visible</a:t>
            </a:r>
            <a:endParaRPr lang="en-US" sz="3100" dirty="0"/>
          </a:p>
        </p:txBody>
      </p:sp>
      <p:sp>
        <p:nvSpPr>
          <p:cNvPr id="4" name="Text 2"/>
          <p:cNvSpPr/>
          <p:nvPr/>
        </p:nvSpPr>
        <p:spPr>
          <a:xfrm>
            <a:off x="548640" y="1536192"/>
            <a:ext cx="10607040" cy="365760"/>
          </a:xfrm>
          <a:prstGeom prst="rect">
            <a:avLst/>
          </a:prstGeom>
          <a:noFill/>
          <a:ln/>
        </p:spPr>
        <p:txBody>
          <a:bodyPr wrap="square" lIns="0" tIns="0" rIns="0" bIns="0" rtlCol="0" anchor="ctr"/>
          <a:lstStyle/>
          <a:p>
            <a:pPr indent="0" marL="0">
              <a:buNone/>
            </a:pPr>
            <a:r>
              <a:rPr lang="en-US" sz="1500" dirty="0">
                <a:solidFill>
                  <a:srgbClr val="5C6675"/>
                </a:solidFill>
                <a:latin typeface="Calibri" pitchFamily="34" charset="0"/>
                <a:ea typeface="Calibri" pitchFamily="34" charset="-122"/>
                <a:cs typeface="Calibri" pitchFamily="34" charset="-120"/>
              </a:rPr>
              <a:t>Discounts obscure true attribution: the price shown on a resource is not the price the business paid.</a:t>
            </a:r>
            <a:endParaRPr lang="en-US" sz="1500" dirty="0"/>
          </a:p>
        </p:txBody>
      </p:sp>
      <p:sp>
        <p:nvSpPr>
          <p:cNvPr id="5" name="Shape 3"/>
          <p:cNvSpPr/>
          <p:nvPr/>
        </p:nvSpPr>
        <p:spPr>
          <a:xfrm>
            <a:off x="548640" y="2103120"/>
            <a:ext cx="3520440" cy="2724912"/>
          </a:xfrm>
          <a:prstGeom prst="roundRect">
            <a:avLst>
              <a:gd name="adj" fmla="val 3020"/>
            </a:avLst>
          </a:prstGeom>
          <a:solidFill>
            <a:srgbClr val="1F2936"/>
          </a:solidFill>
          <a:ln/>
          <a:effectLst>
            <a:outerShdw sx="100000" sy="100000" kx="0" ky="0" algn="bl" rotWithShape="0" blurRad="127000" dist="25400" dir="5400000">
              <a:srgbClr val="8C99A8">
                <a:alpha val="16000"/>
              </a:srgbClr>
            </a:outerShdw>
          </a:effectLst>
        </p:spPr>
      </p:sp>
      <p:sp>
        <p:nvSpPr>
          <p:cNvPr id="6" name="Text 4"/>
          <p:cNvSpPr/>
          <p:nvPr/>
        </p:nvSpPr>
        <p:spPr>
          <a:xfrm>
            <a:off x="804672" y="2615184"/>
            <a:ext cx="3017520" cy="960120"/>
          </a:xfrm>
          <a:prstGeom prst="rect">
            <a:avLst/>
          </a:prstGeom>
          <a:noFill/>
          <a:ln/>
        </p:spPr>
        <p:txBody>
          <a:bodyPr wrap="square" lIns="0" tIns="0" rIns="0" bIns="0" rtlCol="0" anchor="ctr"/>
          <a:lstStyle/>
          <a:p>
            <a:pPr indent="0" marL="0">
              <a:buNone/>
            </a:pPr>
            <a:r>
              <a:rPr lang="en-US" sz="4600" b="1" dirty="0">
                <a:solidFill>
                  <a:srgbClr val="E39B2C"/>
                </a:solidFill>
                <a:latin typeface="Cambria" pitchFamily="34" charset="0"/>
                <a:ea typeface="Cambria" pitchFamily="34" charset="-122"/>
                <a:cs typeface="Cambria" pitchFamily="34" charset="-120"/>
              </a:rPr>
              <a:t>60–80%</a:t>
            </a:r>
            <a:endParaRPr lang="en-US" sz="4600" dirty="0"/>
          </a:p>
        </p:txBody>
      </p:sp>
      <p:sp>
        <p:nvSpPr>
          <p:cNvPr id="7" name="Text 5"/>
          <p:cNvSpPr/>
          <p:nvPr/>
        </p:nvSpPr>
        <p:spPr>
          <a:xfrm>
            <a:off x="841248" y="3703320"/>
            <a:ext cx="2926080" cy="914400"/>
          </a:xfrm>
          <a:prstGeom prst="rect">
            <a:avLst/>
          </a:prstGeom>
          <a:noFill/>
          <a:ln/>
        </p:spPr>
        <p:txBody>
          <a:bodyPr wrap="square" lIns="0" tIns="0" rIns="0" bIns="0" rtlCol="0" anchor="t"/>
          <a:lstStyle/>
          <a:p>
            <a:pPr indent="0" marL="0">
              <a:lnSpc>
                <a:spcPts val="1900"/>
              </a:lnSpc>
              <a:buNone/>
            </a:pPr>
            <a:r>
              <a:rPr lang="en-US" sz="1400" dirty="0">
                <a:solidFill>
                  <a:srgbClr val="9EABBA"/>
                </a:solidFill>
                <a:latin typeface="Calibri" pitchFamily="34" charset="0"/>
                <a:ea typeface="Calibri" pitchFamily="34" charset="-122"/>
                <a:cs typeface="Calibri" pitchFamily="34" charset="-120"/>
              </a:rPr>
              <a:t>Target commitment coverage on stable, predictable workloads.</a:t>
            </a:r>
            <a:endParaRPr lang="en-US" sz="1400" dirty="0"/>
          </a:p>
        </p:txBody>
      </p:sp>
      <p:sp>
        <p:nvSpPr>
          <p:cNvPr id="8" name="Shape 6"/>
          <p:cNvSpPr/>
          <p:nvPr/>
        </p:nvSpPr>
        <p:spPr>
          <a:xfrm>
            <a:off x="4462272" y="2103120"/>
            <a:ext cx="7178040" cy="640080"/>
          </a:xfrm>
          <a:prstGeom prst="roundRect">
            <a:avLst>
              <a:gd name="adj" fmla="val 12857"/>
            </a:avLst>
          </a:prstGeom>
          <a:solidFill>
            <a:srgbClr val="F1F3F6"/>
          </a:solidFill>
          <a:ln/>
        </p:spPr>
      </p:sp>
      <p:sp>
        <p:nvSpPr>
          <p:cNvPr id="9" name="Shape 7"/>
          <p:cNvSpPr/>
          <p:nvPr/>
        </p:nvSpPr>
        <p:spPr>
          <a:xfrm>
            <a:off x="4681728" y="2203704"/>
            <a:ext cx="438912" cy="438912"/>
          </a:xfrm>
          <a:prstGeom prst="ellipse">
            <a:avLst/>
          </a:prstGeom>
          <a:solidFill>
            <a:srgbClr val="FFFFFF"/>
          </a:solidFill>
          <a:ln/>
        </p:spPr>
      </p:sp>
      <p:pic>
        <p:nvPicPr>
          <p:cNvPr id="10" name="Image 0" descr="preencoded.png">    </p:cNvPr>
          <p:cNvPicPr>
            <a:picLocks noChangeAspect="1"/>
          </p:cNvPicPr>
          <p:nvPr/>
        </p:nvPicPr>
        <p:blipFill>
          <a:blip r:embed="rId1"/>
          <a:stretch>
            <a:fillRect/>
          </a:stretch>
        </p:blipFill>
        <p:spPr>
          <a:xfrm>
            <a:off x="4791456" y="2313432"/>
            <a:ext cx="219456" cy="219456"/>
          </a:xfrm>
          <a:prstGeom prst="rect">
            <a:avLst/>
          </a:prstGeom>
        </p:spPr>
      </p:pic>
      <p:sp>
        <p:nvSpPr>
          <p:cNvPr id="11" name="Text 8"/>
          <p:cNvSpPr/>
          <p:nvPr/>
        </p:nvSpPr>
        <p:spPr>
          <a:xfrm>
            <a:off x="5285232" y="2103120"/>
            <a:ext cx="6217920" cy="640080"/>
          </a:xfrm>
          <a:prstGeom prst="rect">
            <a:avLst/>
          </a:prstGeom>
          <a:noFill/>
          <a:ln/>
        </p:spPr>
        <p:txBody>
          <a:bodyPr wrap="square" lIns="0" tIns="0" rIns="0" bIns="0" rtlCol="0" anchor="ctr"/>
          <a:lstStyle/>
          <a:p>
            <a:pPr indent="0" marL="0">
              <a:lnSpc>
                <a:spcPts val="1600"/>
              </a:lnSpc>
              <a:buNone/>
            </a:pPr>
            <a:r>
              <a:rPr lang="en-US" sz="1400" b="1" dirty="0">
                <a:solidFill>
                  <a:srgbClr val="1B2430"/>
                </a:solidFill>
                <a:latin typeface="Calibri" pitchFamily="34" charset="0"/>
                <a:ea typeface="Calibri" pitchFamily="34" charset="-122"/>
                <a:cs typeface="Calibri" pitchFamily="34" charset="-120"/>
              </a:rPr>
              <a:t>Separate discount from list price   </a:t>
            </a:r>
            <a:pPr indent="0" marL="0">
              <a:lnSpc>
                <a:spcPts val="1600"/>
              </a:lnSpc>
              <a:buNone/>
            </a:pPr>
            <a:r>
              <a:rPr lang="en-US" sz="1200" dirty="0">
                <a:solidFill>
                  <a:srgbClr val="5C6675"/>
                </a:solidFill>
                <a:latin typeface="Calibri" pitchFamily="34" charset="0"/>
                <a:ea typeface="Calibri" pitchFamily="34" charset="-122"/>
                <a:cs typeface="Calibri" pitchFamily="34" charset="-120"/>
              </a:rPr>
              <a:t>Show MSRP and the discounted price side by side, with the attributed saving alongside.</a:t>
            </a:r>
            <a:endParaRPr lang="en-US" sz="1400" dirty="0"/>
          </a:p>
        </p:txBody>
      </p:sp>
      <p:sp>
        <p:nvSpPr>
          <p:cNvPr id="12" name="Shape 9"/>
          <p:cNvSpPr/>
          <p:nvPr/>
        </p:nvSpPr>
        <p:spPr>
          <a:xfrm>
            <a:off x="4462272" y="2798064"/>
            <a:ext cx="7178040" cy="640080"/>
          </a:xfrm>
          <a:prstGeom prst="roundRect">
            <a:avLst>
              <a:gd name="adj" fmla="val 12857"/>
            </a:avLst>
          </a:prstGeom>
          <a:solidFill>
            <a:srgbClr val="F1F3F6"/>
          </a:solidFill>
          <a:ln/>
        </p:spPr>
      </p:sp>
      <p:sp>
        <p:nvSpPr>
          <p:cNvPr id="13" name="Shape 10"/>
          <p:cNvSpPr/>
          <p:nvPr/>
        </p:nvSpPr>
        <p:spPr>
          <a:xfrm>
            <a:off x="4681728" y="2898648"/>
            <a:ext cx="438912" cy="438912"/>
          </a:xfrm>
          <a:prstGeom prst="ellipse">
            <a:avLst/>
          </a:prstGeom>
          <a:solidFill>
            <a:srgbClr val="FFFFFF"/>
          </a:solidFill>
          <a:ln/>
        </p:spPr>
      </p:sp>
      <p:pic>
        <p:nvPicPr>
          <p:cNvPr id="14" name="Image 1" descr="preencoded.png">    </p:cNvPr>
          <p:cNvPicPr>
            <a:picLocks noChangeAspect="1"/>
          </p:cNvPicPr>
          <p:nvPr/>
        </p:nvPicPr>
        <p:blipFill>
          <a:blip r:embed="rId2"/>
          <a:stretch>
            <a:fillRect/>
          </a:stretch>
        </p:blipFill>
        <p:spPr>
          <a:xfrm>
            <a:off x="4791456" y="3008376"/>
            <a:ext cx="219456" cy="219456"/>
          </a:xfrm>
          <a:prstGeom prst="rect">
            <a:avLst/>
          </a:prstGeom>
        </p:spPr>
      </p:pic>
      <p:sp>
        <p:nvSpPr>
          <p:cNvPr id="15" name="Text 11"/>
          <p:cNvSpPr/>
          <p:nvPr/>
        </p:nvSpPr>
        <p:spPr>
          <a:xfrm>
            <a:off x="5285232" y="2798064"/>
            <a:ext cx="6217920" cy="640080"/>
          </a:xfrm>
          <a:prstGeom prst="rect">
            <a:avLst/>
          </a:prstGeom>
          <a:noFill/>
          <a:ln/>
        </p:spPr>
        <p:txBody>
          <a:bodyPr wrap="square" lIns="0" tIns="0" rIns="0" bIns="0" rtlCol="0" anchor="ctr"/>
          <a:lstStyle/>
          <a:p>
            <a:pPr indent="0" marL="0">
              <a:lnSpc>
                <a:spcPts val="1600"/>
              </a:lnSpc>
              <a:buNone/>
            </a:pPr>
            <a:r>
              <a:rPr lang="en-US" sz="1400" b="1" dirty="0">
                <a:solidFill>
                  <a:srgbClr val="1B2430"/>
                </a:solidFill>
                <a:latin typeface="Calibri" pitchFamily="34" charset="0"/>
                <a:ea typeface="Calibri" pitchFamily="34" charset="-122"/>
                <a:cs typeface="Calibri" pitchFamily="34" charset="-120"/>
              </a:rPr>
              <a:t>Attribute savings to the beneficiary   </a:t>
            </a:r>
            <a:pPr indent="0" marL="0">
              <a:lnSpc>
                <a:spcPts val="1600"/>
              </a:lnSpc>
              <a:buNone/>
            </a:pPr>
            <a:r>
              <a:rPr lang="en-US" sz="1200" dirty="0">
                <a:solidFill>
                  <a:srgbClr val="5C6675"/>
                </a:solidFill>
                <a:latin typeface="Calibri" pitchFamily="34" charset="0"/>
                <a:ea typeface="Calibri" pitchFamily="34" charset="-122"/>
                <a:cs typeface="Calibri" pitchFamily="34" charset="-120"/>
              </a:rPr>
              <a:t>If a team consumes the resources that earned the discount, that team should see the saving.</a:t>
            </a:r>
            <a:endParaRPr lang="en-US" sz="1400" dirty="0"/>
          </a:p>
        </p:txBody>
      </p:sp>
      <p:sp>
        <p:nvSpPr>
          <p:cNvPr id="16" name="Shape 12"/>
          <p:cNvSpPr/>
          <p:nvPr/>
        </p:nvSpPr>
        <p:spPr>
          <a:xfrm>
            <a:off x="4462272" y="3493008"/>
            <a:ext cx="7178040" cy="640080"/>
          </a:xfrm>
          <a:prstGeom prst="roundRect">
            <a:avLst>
              <a:gd name="adj" fmla="val 12857"/>
            </a:avLst>
          </a:prstGeom>
          <a:solidFill>
            <a:srgbClr val="F1F3F6"/>
          </a:solidFill>
          <a:ln/>
        </p:spPr>
      </p:sp>
      <p:sp>
        <p:nvSpPr>
          <p:cNvPr id="17" name="Shape 13"/>
          <p:cNvSpPr/>
          <p:nvPr/>
        </p:nvSpPr>
        <p:spPr>
          <a:xfrm>
            <a:off x="4681728" y="3593592"/>
            <a:ext cx="438912" cy="438912"/>
          </a:xfrm>
          <a:prstGeom prst="ellipse">
            <a:avLst/>
          </a:prstGeom>
          <a:solidFill>
            <a:srgbClr val="FFFFFF"/>
          </a:solidFill>
          <a:ln/>
        </p:spPr>
      </p:sp>
      <p:pic>
        <p:nvPicPr>
          <p:cNvPr id="18" name="Image 2" descr="preencoded.png">    </p:cNvPr>
          <p:cNvPicPr>
            <a:picLocks noChangeAspect="1"/>
          </p:cNvPicPr>
          <p:nvPr/>
        </p:nvPicPr>
        <p:blipFill>
          <a:blip r:embed="rId3"/>
          <a:stretch>
            <a:fillRect/>
          </a:stretch>
        </p:blipFill>
        <p:spPr>
          <a:xfrm>
            <a:off x="4791456" y="3703320"/>
            <a:ext cx="219456" cy="219456"/>
          </a:xfrm>
          <a:prstGeom prst="rect">
            <a:avLst/>
          </a:prstGeom>
        </p:spPr>
      </p:pic>
      <p:sp>
        <p:nvSpPr>
          <p:cNvPr id="19" name="Text 14"/>
          <p:cNvSpPr/>
          <p:nvPr/>
        </p:nvSpPr>
        <p:spPr>
          <a:xfrm>
            <a:off x="5285232" y="3493008"/>
            <a:ext cx="6217920" cy="640080"/>
          </a:xfrm>
          <a:prstGeom prst="rect">
            <a:avLst/>
          </a:prstGeom>
          <a:noFill/>
          <a:ln/>
        </p:spPr>
        <p:txBody>
          <a:bodyPr wrap="square" lIns="0" tIns="0" rIns="0" bIns="0" rtlCol="0" anchor="ctr"/>
          <a:lstStyle/>
          <a:p>
            <a:pPr indent="0" marL="0">
              <a:lnSpc>
                <a:spcPts val="1600"/>
              </a:lnSpc>
              <a:buNone/>
            </a:pPr>
            <a:r>
              <a:rPr lang="en-US" sz="1400" b="1" dirty="0">
                <a:solidFill>
                  <a:srgbClr val="1B2430"/>
                </a:solidFill>
                <a:latin typeface="Calibri" pitchFamily="34" charset="0"/>
                <a:ea typeface="Calibri" pitchFamily="34" charset="-122"/>
                <a:cs typeface="Calibri" pitchFamily="34" charset="-120"/>
              </a:rPr>
              <a:t>Track commitment coverage   </a:t>
            </a:r>
            <a:pPr indent="0" marL="0">
              <a:lnSpc>
                <a:spcPts val="1600"/>
              </a:lnSpc>
              <a:buNone/>
            </a:pPr>
            <a:r>
              <a:rPr lang="en-US" sz="1200" dirty="0">
                <a:solidFill>
                  <a:srgbClr val="5C6675"/>
                </a:solidFill>
                <a:latin typeface="Calibri" pitchFamily="34" charset="0"/>
                <a:ea typeface="Calibri" pitchFamily="34" charset="-122"/>
                <a:cs typeface="Calibri" pitchFamily="34" charset="-120"/>
              </a:rPr>
              <a:t>Know what share of steady-state spend sits under a commitment, and where the gaps are.</a:t>
            </a:r>
            <a:endParaRPr lang="en-US" sz="1400" dirty="0"/>
          </a:p>
        </p:txBody>
      </p:sp>
      <p:sp>
        <p:nvSpPr>
          <p:cNvPr id="20" name="Shape 15"/>
          <p:cNvSpPr/>
          <p:nvPr/>
        </p:nvSpPr>
        <p:spPr>
          <a:xfrm>
            <a:off x="4462272" y="4187952"/>
            <a:ext cx="7178040" cy="640080"/>
          </a:xfrm>
          <a:prstGeom prst="roundRect">
            <a:avLst>
              <a:gd name="adj" fmla="val 12857"/>
            </a:avLst>
          </a:prstGeom>
          <a:solidFill>
            <a:srgbClr val="F1F3F6"/>
          </a:solidFill>
          <a:ln/>
        </p:spPr>
      </p:sp>
      <p:sp>
        <p:nvSpPr>
          <p:cNvPr id="21" name="Shape 16"/>
          <p:cNvSpPr/>
          <p:nvPr/>
        </p:nvSpPr>
        <p:spPr>
          <a:xfrm>
            <a:off x="4681728" y="4288536"/>
            <a:ext cx="438912" cy="438912"/>
          </a:xfrm>
          <a:prstGeom prst="ellipse">
            <a:avLst/>
          </a:prstGeom>
          <a:solidFill>
            <a:srgbClr val="FFFFFF"/>
          </a:solidFill>
          <a:ln/>
        </p:spPr>
      </p:sp>
      <p:pic>
        <p:nvPicPr>
          <p:cNvPr id="22" name="Image 3" descr="preencoded.png">    </p:cNvPr>
          <p:cNvPicPr>
            <a:picLocks noChangeAspect="1"/>
          </p:cNvPicPr>
          <p:nvPr/>
        </p:nvPicPr>
        <p:blipFill>
          <a:blip r:embed="rId4"/>
          <a:stretch>
            <a:fillRect/>
          </a:stretch>
        </p:blipFill>
        <p:spPr>
          <a:xfrm>
            <a:off x="4791456" y="4398264"/>
            <a:ext cx="219456" cy="219456"/>
          </a:xfrm>
          <a:prstGeom prst="rect">
            <a:avLst/>
          </a:prstGeom>
        </p:spPr>
      </p:pic>
      <p:sp>
        <p:nvSpPr>
          <p:cNvPr id="23" name="Text 17"/>
          <p:cNvSpPr/>
          <p:nvPr/>
        </p:nvSpPr>
        <p:spPr>
          <a:xfrm>
            <a:off x="5285232" y="4187952"/>
            <a:ext cx="6217920" cy="640080"/>
          </a:xfrm>
          <a:prstGeom prst="rect">
            <a:avLst/>
          </a:prstGeom>
          <a:noFill/>
          <a:ln/>
        </p:spPr>
        <p:txBody>
          <a:bodyPr wrap="square" lIns="0" tIns="0" rIns="0" bIns="0" rtlCol="0" anchor="ctr"/>
          <a:lstStyle/>
          <a:p>
            <a:pPr indent="0" marL="0">
              <a:lnSpc>
                <a:spcPts val="1600"/>
              </a:lnSpc>
              <a:buNone/>
            </a:pPr>
            <a:r>
              <a:rPr lang="en-US" sz="1400" b="1" dirty="0">
                <a:solidFill>
                  <a:srgbClr val="1B2430"/>
                </a:solidFill>
                <a:latin typeface="Calibri" pitchFamily="34" charset="0"/>
                <a:ea typeface="Calibri" pitchFamily="34" charset="-122"/>
                <a:cs typeface="Calibri" pitchFamily="34" charset="-120"/>
              </a:rPr>
              <a:t>Monitor utilization   </a:t>
            </a:r>
            <a:pPr indent="0" marL="0">
              <a:lnSpc>
                <a:spcPts val="1600"/>
              </a:lnSpc>
              <a:buNone/>
            </a:pPr>
            <a:r>
              <a:rPr lang="en-US" sz="1200" dirty="0">
                <a:solidFill>
                  <a:srgbClr val="5C6675"/>
                </a:solidFill>
                <a:latin typeface="Calibri" pitchFamily="34" charset="0"/>
                <a:ea typeface="Calibri" pitchFamily="34" charset="-122"/>
                <a:cs typeface="Calibri" pitchFamily="34" charset="-120"/>
              </a:rPr>
              <a:t>An unused commitment is not a discount — it is prepaid waste.</a:t>
            </a:r>
            <a:endParaRPr lang="en-US" sz="1400" dirty="0"/>
          </a:p>
        </p:txBody>
      </p:sp>
      <p:sp>
        <p:nvSpPr>
          <p:cNvPr id="24" name="Shape 18"/>
          <p:cNvSpPr/>
          <p:nvPr/>
        </p:nvSpPr>
        <p:spPr>
          <a:xfrm>
            <a:off x="548640" y="5138928"/>
            <a:ext cx="11091672" cy="777240"/>
          </a:xfrm>
          <a:prstGeom prst="roundRect">
            <a:avLst>
              <a:gd name="adj" fmla="val 10588"/>
            </a:avLst>
          </a:prstGeom>
          <a:solidFill>
            <a:srgbClr val="FBEFD8"/>
          </a:solidFill>
          <a:ln/>
          <a:effectLst>
            <a:outerShdw sx="100000" sy="100000" kx="0" ky="0" algn="bl" rotWithShape="0" blurRad="127000" dist="25400" dir="5400000">
              <a:srgbClr val="8C99A8">
                <a:alpha val="16000"/>
              </a:srgbClr>
            </a:outerShdw>
          </a:effectLst>
        </p:spPr>
      </p:sp>
      <p:sp>
        <p:nvSpPr>
          <p:cNvPr id="25" name="Text 19"/>
          <p:cNvSpPr/>
          <p:nvPr/>
        </p:nvSpPr>
        <p:spPr>
          <a:xfrm>
            <a:off x="841248" y="5248656"/>
            <a:ext cx="10506456" cy="557784"/>
          </a:xfrm>
          <a:prstGeom prst="rect">
            <a:avLst/>
          </a:prstGeom>
          <a:noFill/>
          <a:ln/>
        </p:spPr>
        <p:txBody>
          <a:bodyPr wrap="square" lIns="0" tIns="0" rIns="0" bIns="0" rtlCol="0" anchor="ctr"/>
          <a:lstStyle/>
          <a:p>
            <a:pPr indent="0" marL="0">
              <a:lnSpc>
                <a:spcPts val="2000"/>
              </a:lnSpc>
              <a:buNone/>
            </a:pPr>
            <a:r>
              <a:rPr lang="en-US" sz="1500" i="1" dirty="0">
                <a:solidFill>
                  <a:srgbClr val="6B4A0E"/>
                </a:solidFill>
                <a:latin typeface="Cambria" pitchFamily="34" charset="0"/>
                <a:ea typeface="Cambria" pitchFamily="34" charset="-122"/>
                <a:cs typeface="Cambria" pitchFamily="34" charset="-120"/>
              </a:rPr>
              <a:t>A commitment nobody uses is the most expensive form of waste — it is locked in, and it is invisible on a list-price report.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SOLUTION 4 — MULTI-CLOUD VISIBILITY</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One view across every provider</a:t>
            </a:r>
            <a:endParaRPr lang="en-US" sz="3100" dirty="0"/>
          </a:p>
        </p:txBody>
      </p:sp>
      <p:sp>
        <p:nvSpPr>
          <p:cNvPr id="4" name="Text 2"/>
          <p:cNvSpPr/>
          <p:nvPr/>
        </p:nvSpPr>
        <p:spPr>
          <a:xfrm>
            <a:off x="548640" y="1536192"/>
            <a:ext cx="10607040" cy="365760"/>
          </a:xfrm>
          <a:prstGeom prst="rect">
            <a:avLst/>
          </a:prstGeom>
          <a:noFill/>
          <a:ln/>
        </p:spPr>
        <p:txBody>
          <a:bodyPr wrap="square" lIns="0" tIns="0" rIns="0" bIns="0" rtlCol="0" anchor="ctr"/>
          <a:lstStyle/>
          <a:p>
            <a:pPr indent="0" marL="0">
              <a:buNone/>
            </a:pPr>
            <a:r>
              <a:rPr lang="en-US" sz="1500" dirty="0">
                <a:solidFill>
                  <a:srgbClr val="5C6675"/>
                </a:solidFill>
                <a:latin typeface="Calibri" pitchFamily="34" charset="0"/>
                <a:ea typeface="Calibri" pitchFamily="34" charset="-122"/>
                <a:cs typeface="Calibri" pitchFamily="34" charset="-120"/>
              </a:rPr>
              <a:t>AWS Cost Explorer, Azure Cost Management and GCP Billing are capable — but each sees only its own silo.</a:t>
            </a:r>
            <a:endParaRPr lang="en-US" sz="1500" dirty="0"/>
          </a:p>
        </p:txBody>
      </p:sp>
      <p:sp>
        <p:nvSpPr>
          <p:cNvPr id="5" name="Shape 3"/>
          <p:cNvSpPr/>
          <p:nvPr/>
        </p:nvSpPr>
        <p:spPr>
          <a:xfrm>
            <a:off x="548640" y="2148840"/>
            <a:ext cx="3511296" cy="2468880"/>
          </a:xfrm>
          <a:prstGeom prst="roundRect">
            <a:avLst>
              <a:gd name="adj" fmla="val 3333"/>
            </a:avLst>
          </a:prstGeom>
          <a:solidFill>
            <a:srgbClr val="F1F3F6"/>
          </a:solidFill>
          <a:ln/>
        </p:spPr>
      </p:sp>
      <p:sp>
        <p:nvSpPr>
          <p:cNvPr id="6" name="Shape 4"/>
          <p:cNvSpPr/>
          <p:nvPr/>
        </p:nvSpPr>
        <p:spPr>
          <a:xfrm>
            <a:off x="859536" y="2423160"/>
            <a:ext cx="640080" cy="64008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1019556" y="2583180"/>
            <a:ext cx="320040" cy="320040"/>
          </a:xfrm>
          <a:prstGeom prst="rect">
            <a:avLst/>
          </a:prstGeom>
        </p:spPr>
      </p:pic>
      <p:sp>
        <p:nvSpPr>
          <p:cNvPr id="8" name="Text 5"/>
          <p:cNvSpPr/>
          <p:nvPr/>
        </p:nvSpPr>
        <p:spPr>
          <a:xfrm>
            <a:off x="859536" y="3200400"/>
            <a:ext cx="2889504" cy="384048"/>
          </a:xfrm>
          <a:prstGeom prst="rect">
            <a:avLst/>
          </a:prstGeom>
          <a:noFill/>
          <a:ln/>
        </p:spPr>
        <p:txBody>
          <a:bodyPr wrap="square" lIns="0" tIns="0" rIns="0" bIns="0" rtlCol="0" anchor="ctr"/>
          <a:lstStyle/>
          <a:p>
            <a:pPr indent="0" marL="0">
              <a:buNone/>
            </a:pPr>
            <a:r>
              <a:rPr lang="en-US" sz="1900" b="1" dirty="0">
                <a:solidFill>
                  <a:srgbClr val="1B2430"/>
                </a:solidFill>
                <a:latin typeface="Cambria" pitchFamily="34" charset="0"/>
                <a:ea typeface="Cambria" pitchFamily="34" charset="-122"/>
                <a:cs typeface="Cambria" pitchFamily="34" charset="-120"/>
              </a:rPr>
              <a:t>Centralized platform</a:t>
            </a:r>
            <a:endParaRPr lang="en-US" sz="1900" dirty="0"/>
          </a:p>
        </p:txBody>
      </p:sp>
      <p:sp>
        <p:nvSpPr>
          <p:cNvPr id="9" name="Text 6"/>
          <p:cNvSpPr/>
          <p:nvPr/>
        </p:nvSpPr>
        <p:spPr>
          <a:xfrm>
            <a:off x="859536" y="3621024"/>
            <a:ext cx="2889504" cy="868680"/>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Ingest, normalize and enrich cost data from every provider into a single store.</a:t>
            </a:r>
            <a:endParaRPr lang="en-US" sz="1250" dirty="0"/>
          </a:p>
        </p:txBody>
      </p:sp>
      <p:sp>
        <p:nvSpPr>
          <p:cNvPr id="10" name="Shape 7"/>
          <p:cNvSpPr/>
          <p:nvPr/>
        </p:nvSpPr>
        <p:spPr>
          <a:xfrm>
            <a:off x="4334256" y="2148840"/>
            <a:ext cx="3511296" cy="2468880"/>
          </a:xfrm>
          <a:prstGeom prst="roundRect">
            <a:avLst>
              <a:gd name="adj" fmla="val 3333"/>
            </a:avLst>
          </a:prstGeom>
          <a:solidFill>
            <a:srgbClr val="F1F3F6"/>
          </a:solidFill>
          <a:ln/>
        </p:spPr>
      </p:sp>
      <p:sp>
        <p:nvSpPr>
          <p:cNvPr id="11" name="Shape 8"/>
          <p:cNvSpPr/>
          <p:nvPr/>
        </p:nvSpPr>
        <p:spPr>
          <a:xfrm>
            <a:off x="4645152" y="2423160"/>
            <a:ext cx="640080" cy="640080"/>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4805172" y="2583180"/>
            <a:ext cx="320040" cy="320040"/>
          </a:xfrm>
          <a:prstGeom prst="rect">
            <a:avLst/>
          </a:prstGeom>
        </p:spPr>
      </p:pic>
      <p:sp>
        <p:nvSpPr>
          <p:cNvPr id="13" name="Text 9"/>
          <p:cNvSpPr/>
          <p:nvPr/>
        </p:nvSpPr>
        <p:spPr>
          <a:xfrm>
            <a:off x="4645152" y="3200400"/>
            <a:ext cx="2889504" cy="384048"/>
          </a:xfrm>
          <a:prstGeom prst="rect">
            <a:avLst/>
          </a:prstGeom>
          <a:noFill/>
          <a:ln/>
        </p:spPr>
        <p:txBody>
          <a:bodyPr wrap="square" lIns="0" tIns="0" rIns="0" bIns="0" rtlCol="0" anchor="ctr"/>
          <a:lstStyle/>
          <a:p>
            <a:pPr indent="0" marL="0">
              <a:buNone/>
            </a:pPr>
            <a:r>
              <a:rPr lang="en-US" sz="1900" b="1" dirty="0">
                <a:solidFill>
                  <a:srgbClr val="1B2430"/>
                </a:solidFill>
                <a:latin typeface="Cambria" pitchFamily="34" charset="0"/>
                <a:ea typeface="Cambria" pitchFamily="34" charset="-122"/>
                <a:cs typeface="Cambria" pitchFamily="34" charset="-120"/>
              </a:rPr>
              <a:t>Adopt the FOCUS standard</a:t>
            </a:r>
            <a:endParaRPr lang="en-US" sz="1900" dirty="0"/>
          </a:p>
        </p:txBody>
      </p:sp>
      <p:sp>
        <p:nvSpPr>
          <p:cNvPr id="14" name="Text 10"/>
          <p:cNvSpPr/>
          <p:nvPr/>
        </p:nvSpPr>
        <p:spPr>
          <a:xfrm>
            <a:off x="4645152" y="3621024"/>
            <a:ext cx="2889504" cy="868680"/>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The FinOps Open Cost and Usage Specification normalizes cloud billing into a vendor-agnostic schema.</a:t>
            </a:r>
            <a:endParaRPr lang="en-US" sz="1250" dirty="0"/>
          </a:p>
        </p:txBody>
      </p:sp>
      <p:sp>
        <p:nvSpPr>
          <p:cNvPr id="15" name="Shape 11"/>
          <p:cNvSpPr/>
          <p:nvPr/>
        </p:nvSpPr>
        <p:spPr>
          <a:xfrm>
            <a:off x="8119872" y="2148840"/>
            <a:ext cx="3511296" cy="2468880"/>
          </a:xfrm>
          <a:prstGeom prst="roundRect">
            <a:avLst>
              <a:gd name="adj" fmla="val 3333"/>
            </a:avLst>
          </a:prstGeom>
          <a:solidFill>
            <a:srgbClr val="F1F3F6"/>
          </a:solidFill>
          <a:ln/>
        </p:spPr>
      </p:sp>
      <p:sp>
        <p:nvSpPr>
          <p:cNvPr id="16" name="Shape 12"/>
          <p:cNvSpPr/>
          <p:nvPr/>
        </p:nvSpPr>
        <p:spPr>
          <a:xfrm>
            <a:off x="8430768" y="2423160"/>
            <a:ext cx="640080" cy="640080"/>
          </a:xfrm>
          <a:prstGeom prst="ellipse">
            <a:avLst/>
          </a:prstGeom>
          <a:solidFill>
            <a:srgbClr val="FFFFFF"/>
          </a:solidFill>
          <a:ln/>
        </p:spPr>
      </p:sp>
      <p:pic>
        <p:nvPicPr>
          <p:cNvPr id="17" name="Image 2" descr="preencoded.png">    </p:cNvPr>
          <p:cNvPicPr>
            <a:picLocks noChangeAspect="1"/>
          </p:cNvPicPr>
          <p:nvPr/>
        </p:nvPicPr>
        <p:blipFill>
          <a:blip r:embed="rId3"/>
          <a:stretch>
            <a:fillRect/>
          </a:stretch>
        </p:blipFill>
        <p:spPr>
          <a:xfrm>
            <a:off x="8590788" y="2583180"/>
            <a:ext cx="320040" cy="320040"/>
          </a:xfrm>
          <a:prstGeom prst="rect">
            <a:avLst/>
          </a:prstGeom>
        </p:spPr>
      </p:pic>
      <p:sp>
        <p:nvSpPr>
          <p:cNvPr id="18" name="Text 13"/>
          <p:cNvSpPr/>
          <p:nvPr/>
        </p:nvSpPr>
        <p:spPr>
          <a:xfrm>
            <a:off x="8430768" y="3200400"/>
            <a:ext cx="2889504" cy="384048"/>
          </a:xfrm>
          <a:prstGeom prst="rect">
            <a:avLst/>
          </a:prstGeom>
          <a:noFill/>
          <a:ln/>
        </p:spPr>
        <p:txBody>
          <a:bodyPr wrap="square" lIns="0" tIns="0" rIns="0" bIns="0" rtlCol="0" anchor="ctr"/>
          <a:lstStyle/>
          <a:p>
            <a:pPr indent="0" marL="0">
              <a:buNone/>
            </a:pPr>
            <a:r>
              <a:rPr lang="en-US" sz="1900" b="1" dirty="0">
                <a:solidFill>
                  <a:srgbClr val="1B2430"/>
                </a:solidFill>
                <a:latin typeface="Cambria" pitchFamily="34" charset="0"/>
                <a:ea typeface="Cambria" pitchFamily="34" charset="-122"/>
                <a:cs typeface="Cambria" pitchFamily="34" charset="-120"/>
              </a:rPr>
              <a:t>Unified dashboard</a:t>
            </a:r>
            <a:endParaRPr lang="en-US" sz="1900" dirty="0"/>
          </a:p>
        </p:txBody>
      </p:sp>
      <p:sp>
        <p:nvSpPr>
          <p:cNvPr id="19" name="Text 14"/>
          <p:cNvSpPr/>
          <p:nvPr/>
        </p:nvSpPr>
        <p:spPr>
          <a:xfrm>
            <a:off x="8430768" y="3621024"/>
            <a:ext cx="2889504" cy="868680"/>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One place for analysis, reporting and optimization — across all clouds and vendors.</a:t>
            </a:r>
            <a:endParaRPr lang="en-US" sz="1250" dirty="0"/>
          </a:p>
        </p:txBody>
      </p:sp>
      <p:sp>
        <p:nvSpPr>
          <p:cNvPr id="20" name="Shape 15"/>
          <p:cNvSpPr/>
          <p:nvPr/>
        </p:nvSpPr>
        <p:spPr>
          <a:xfrm>
            <a:off x="548640" y="4892040"/>
            <a:ext cx="11091672" cy="1234440"/>
          </a:xfrm>
          <a:prstGeom prst="roundRect">
            <a:avLst>
              <a:gd name="adj" fmla="val 6667"/>
            </a:avLst>
          </a:prstGeom>
          <a:solidFill>
            <a:srgbClr val="1F2936"/>
          </a:solidFill>
          <a:ln/>
          <a:effectLst>
            <a:outerShdw sx="100000" sy="100000" kx="0" ky="0" algn="bl" rotWithShape="0" blurRad="127000" dist="25400" dir="5400000">
              <a:srgbClr val="8C99A8">
                <a:alpha val="16000"/>
              </a:srgbClr>
            </a:outerShdw>
          </a:effectLst>
        </p:spPr>
      </p:sp>
      <p:sp>
        <p:nvSpPr>
          <p:cNvPr id="21" name="Text 16"/>
          <p:cNvSpPr/>
          <p:nvPr/>
        </p:nvSpPr>
        <p:spPr>
          <a:xfrm>
            <a:off x="841248" y="5001768"/>
            <a:ext cx="10506456" cy="1014984"/>
          </a:xfrm>
          <a:prstGeom prst="rect">
            <a:avLst/>
          </a:prstGeom>
          <a:noFill/>
          <a:ln/>
        </p:spPr>
        <p:txBody>
          <a:bodyPr wrap="square" lIns="0" tIns="0" rIns="0" bIns="0" rtlCol="0" anchor="ctr"/>
          <a:lstStyle/>
          <a:p>
            <a:pPr indent="0" marL="0">
              <a:lnSpc>
                <a:spcPts val="2000"/>
              </a:lnSpc>
              <a:buNone/>
            </a:pPr>
            <a:r>
              <a:rPr lang="en-US" sz="1500" i="1" dirty="0">
                <a:solidFill>
                  <a:srgbClr val="FFFFFF"/>
                </a:solidFill>
                <a:latin typeface="Cambria" pitchFamily="34" charset="0"/>
                <a:ea typeface="Cambria" pitchFamily="34" charset="-122"/>
                <a:cs typeface="Cambria" pitchFamily="34" charset="-120"/>
              </a:rPr>
              <a:t>“FOCUS enables consistent reporting across vendors, so leadership can analyze the whole environment instead of looking at each cloud or vendor in a silo.”</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BUILDING ACCOUNTABILITY</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Showback, then chargeback</a:t>
            </a:r>
            <a:endParaRPr lang="en-US" sz="3100" dirty="0"/>
          </a:p>
        </p:txBody>
      </p:sp>
      <p:sp>
        <p:nvSpPr>
          <p:cNvPr id="4" name="Shape 2"/>
          <p:cNvSpPr/>
          <p:nvPr/>
        </p:nvSpPr>
        <p:spPr>
          <a:xfrm>
            <a:off x="548640" y="1783080"/>
            <a:ext cx="5394960" cy="3063240"/>
          </a:xfrm>
          <a:prstGeom prst="roundRect">
            <a:avLst>
              <a:gd name="adj" fmla="val 2687"/>
            </a:avLst>
          </a:prstGeom>
          <a:solidFill>
            <a:srgbClr val="DDEDE9"/>
          </a:solidFill>
          <a:ln/>
        </p:spPr>
      </p:sp>
      <p:sp>
        <p:nvSpPr>
          <p:cNvPr id="5" name="Shape 3"/>
          <p:cNvSpPr/>
          <p:nvPr/>
        </p:nvSpPr>
        <p:spPr>
          <a:xfrm>
            <a:off x="859536" y="2029968"/>
            <a:ext cx="585216" cy="585216"/>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1005840" y="2176272"/>
            <a:ext cx="292608" cy="292608"/>
          </a:xfrm>
          <a:prstGeom prst="rect">
            <a:avLst/>
          </a:prstGeom>
        </p:spPr>
      </p:pic>
      <p:sp>
        <p:nvSpPr>
          <p:cNvPr id="7" name="Text 4"/>
          <p:cNvSpPr/>
          <p:nvPr/>
        </p:nvSpPr>
        <p:spPr>
          <a:xfrm>
            <a:off x="1572768" y="2029968"/>
            <a:ext cx="2377440" cy="585216"/>
          </a:xfrm>
          <a:prstGeom prst="rect">
            <a:avLst/>
          </a:prstGeom>
          <a:noFill/>
          <a:ln/>
        </p:spPr>
        <p:txBody>
          <a:bodyPr wrap="square" lIns="0" tIns="0" rIns="0" bIns="0" rtlCol="0" anchor="ctr"/>
          <a:lstStyle/>
          <a:p>
            <a:pPr indent="0" marL="0">
              <a:buNone/>
            </a:pPr>
            <a:r>
              <a:rPr lang="en-US" sz="2100" b="1" dirty="0">
                <a:solidFill>
                  <a:srgbClr val="1B2430"/>
                </a:solidFill>
                <a:latin typeface="Cambria" pitchFamily="34" charset="0"/>
                <a:ea typeface="Cambria" pitchFamily="34" charset="-122"/>
                <a:cs typeface="Cambria" pitchFamily="34" charset="-120"/>
              </a:rPr>
              <a:t>Showback</a:t>
            </a:r>
            <a:endParaRPr lang="en-US" sz="2100" dirty="0"/>
          </a:p>
        </p:txBody>
      </p:sp>
      <p:sp>
        <p:nvSpPr>
          <p:cNvPr id="8" name="Text 5"/>
          <p:cNvSpPr/>
          <p:nvPr/>
        </p:nvSpPr>
        <p:spPr>
          <a:xfrm>
            <a:off x="3977640" y="2029968"/>
            <a:ext cx="1655064" cy="585216"/>
          </a:xfrm>
          <a:prstGeom prst="rect">
            <a:avLst/>
          </a:prstGeom>
          <a:noFill/>
          <a:ln/>
        </p:spPr>
        <p:txBody>
          <a:bodyPr wrap="square" lIns="0" tIns="0" rIns="0" bIns="0" rtlCol="0" anchor="ctr"/>
          <a:lstStyle/>
          <a:p>
            <a:pPr algn="r" indent="0" marL="0">
              <a:buNone/>
            </a:pPr>
            <a:r>
              <a:rPr lang="en-US" sz="1150" b="1" spc="140" kern="0" dirty="0">
                <a:solidFill>
                  <a:srgbClr val="5C6675"/>
                </a:solidFill>
                <a:latin typeface="Calibri" pitchFamily="34" charset="0"/>
                <a:ea typeface="Calibri" pitchFamily="34" charset="-122"/>
                <a:cs typeface="Calibri" pitchFamily="34" charset="-120"/>
              </a:rPr>
              <a:t>The visibility layer</a:t>
            </a:r>
            <a:endParaRPr lang="en-US" sz="1150" dirty="0"/>
          </a:p>
        </p:txBody>
      </p:sp>
      <p:sp>
        <p:nvSpPr>
          <p:cNvPr id="9" name="Text 6"/>
          <p:cNvSpPr/>
          <p:nvPr/>
        </p:nvSpPr>
        <p:spPr>
          <a:xfrm>
            <a:off x="859536" y="2743200"/>
            <a:ext cx="4773168" cy="548640"/>
          </a:xfrm>
          <a:prstGeom prst="rect">
            <a:avLst/>
          </a:prstGeom>
          <a:noFill/>
          <a:ln/>
        </p:spPr>
        <p:txBody>
          <a:bodyPr wrap="square" lIns="0" tIns="0" rIns="0" bIns="0" rtlCol="0" anchor="t"/>
          <a:lstStyle/>
          <a:p>
            <a:pPr indent="0" marL="0">
              <a:lnSpc>
                <a:spcPts val="1900"/>
              </a:lnSpc>
              <a:buNone/>
            </a:pPr>
            <a:r>
              <a:rPr lang="en-US" sz="1450" dirty="0">
                <a:solidFill>
                  <a:srgbClr val="1B2430"/>
                </a:solidFill>
                <a:latin typeface="Calibri" pitchFamily="34" charset="0"/>
                <a:ea typeface="Calibri" pitchFamily="34" charset="-122"/>
                <a:cs typeface="Calibri" pitchFamily="34" charset="-120"/>
              </a:rPr>
              <a:t>Teams see their spend. No money changes hands.</a:t>
            </a:r>
            <a:endParaRPr lang="en-US" sz="1450" dirty="0"/>
          </a:p>
        </p:txBody>
      </p:sp>
      <p:sp>
        <p:nvSpPr>
          <p:cNvPr id="10" name="Text 7"/>
          <p:cNvSpPr/>
          <p:nvPr/>
        </p:nvSpPr>
        <p:spPr>
          <a:xfrm>
            <a:off x="859536" y="3310128"/>
            <a:ext cx="2743200" cy="274320"/>
          </a:xfrm>
          <a:prstGeom prst="rect">
            <a:avLst/>
          </a:prstGeom>
          <a:noFill/>
          <a:ln/>
        </p:spPr>
        <p:txBody>
          <a:bodyPr wrap="square" lIns="0" tIns="0" rIns="0" bIns="0" rtlCol="0" anchor="ctr"/>
          <a:lstStyle/>
          <a:p>
            <a:pPr indent="0" marL="0">
              <a:buNone/>
            </a:pPr>
            <a:r>
              <a:rPr lang="en-US" sz="1100" b="1" spc="160" kern="0" dirty="0">
                <a:solidFill>
                  <a:srgbClr val="5C6675"/>
                </a:solidFill>
                <a:latin typeface="Calibri" pitchFamily="34" charset="0"/>
                <a:ea typeface="Calibri" pitchFamily="34" charset="-122"/>
                <a:cs typeface="Calibri" pitchFamily="34" charset="-120"/>
              </a:rPr>
              <a:t>Best for</a:t>
            </a:r>
            <a:endParaRPr lang="en-US" sz="1100" dirty="0"/>
          </a:p>
        </p:txBody>
      </p:sp>
      <p:sp>
        <p:nvSpPr>
          <p:cNvPr id="11" name="Text 8"/>
          <p:cNvSpPr/>
          <p:nvPr/>
        </p:nvSpPr>
        <p:spPr>
          <a:xfrm>
            <a:off x="932688" y="3611880"/>
            <a:ext cx="4663440" cy="1051560"/>
          </a:xfrm>
          <a:prstGeom prst="rect">
            <a:avLst/>
          </a:prstGeom>
          <a:noFill/>
          <a:ln/>
        </p:spPr>
        <p:txBody>
          <a:bodyPr wrap="square" lIns="0" tIns="0" rIns="0" bIns="0" rtlCol="0" anchor="ctr"/>
          <a:lstStyle/>
          <a:p>
            <a:pPr marL="342900" indent="-342900">
              <a:spcAft>
                <a:spcPts val="500"/>
              </a:spcAft>
              <a:buSzPct val="100000"/>
              <a:buChar char="•"/>
            </a:pPr>
            <a:r>
              <a:rPr lang="en-US" sz="1300" dirty="0">
                <a:solidFill>
                  <a:srgbClr val="5C6675"/>
                </a:solidFill>
                <a:latin typeface="Calibri" pitchFamily="34" charset="0"/>
                <a:ea typeface="Calibri" pitchFamily="34" charset="-122"/>
                <a:cs typeface="Calibri" pitchFamily="34" charset="-120"/>
              </a:rPr>
              <a:t>Early FinOps practice</a:t>
            </a:r>
            <a:endParaRPr lang="en-US" sz="1300" dirty="0"/>
          </a:p>
          <a:p>
            <a:pPr marL="342900" indent="-342900">
              <a:spcAft>
                <a:spcPts val="500"/>
              </a:spcAft>
              <a:buSzPct val="100000"/>
              <a:buChar char="•"/>
            </a:pPr>
            <a:r>
              <a:rPr lang="en-US" sz="1300" dirty="0">
                <a:solidFill>
                  <a:srgbClr val="5C6675"/>
                </a:solidFill>
                <a:latin typeface="Calibri" pitchFamily="34" charset="0"/>
                <a:ea typeface="Calibri" pitchFamily="34" charset="-122"/>
                <a:cs typeface="Calibri" pitchFamily="34" charset="-120"/>
              </a:rPr>
              <a:t>Tagging coverage of 70–85%</a:t>
            </a:r>
            <a:endParaRPr lang="en-US" sz="1300" dirty="0"/>
          </a:p>
          <a:p>
            <a:pPr marL="342900" indent="-342900">
              <a:spcAft>
                <a:spcPts val="500"/>
              </a:spcAft>
              <a:buSzPct val="100000"/>
              <a:buChar char="•"/>
            </a:pPr>
            <a:r>
              <a:rPr lang="en-US" sz="1300" dirty="0">
                <a:solidFill>
                  <a:srgbClr val="5C6675"/>
                </a:solidFill>
                <a:latin typeface="Calibri" pitchFamily="34" charset="0"/>
                <a:ea typeface="Calibri" pitchFamily="34" charset="-122"/>
                <a:cs typeface="Calibri" pitchFamily="34" charset="-120"/>
              </a:rPr>
              <a:t>Building awareness and trust</a:t>
            </a:r>
            <a:endParaRPr lang="en-US" sz="1300" dirty="0"/>
          </a:p>
        </p:txBody>
      </p:sp>
      <p:sp>
        <p:nvSpPr>
          <p:cNvPr id="12" name="Shape 9"/>
          <p:cNvSpPr/>
          <p:nvPr/>
        </p:nvSpPr>
        <p:spPr>
          <a:xfrm>
            <a:off x="6245352" y="1783080"/>
            <a:ext cx="5394960" cy="3063240"/>
          </a:xfrm>
          <a:prstGeom prst="roundRect">
            <a:avLst>
              <a:gd name="adj" fmla="val 2687"/>
            </a:avLst>
          </a:prstGeom>
          <a:solidFill>
            <a:srgbClr val="FBEFD8"/>
          </a:solidFill>
          <a:ln/>
        </p:spPr>
      </p:sp>
      <p:sp>
        <p:nvSpPr>
          <p:cNvPr id="13" name="Shape 10"/>
          <p:cNvSpPr/>
          <p:nvPr/>
        </p:nvSpPr>
        <p:spPr>
          <a:xfrm>
            <a:off x="6556248" y="2029968"/>
            <a:ext cx="585216" cy="585216"/>
          </a:xfrm>
          <a:prstGeom prst="ellipse">
            <a:avLst/>
          </a:prstGeom>
          <a:solidFill>
            <a:srgbClr val="FFFFFF"/>
          </a:solidFill>
          <a:ln/>
        </p:spPr>
      </p:sp>
      <p:pic>
        <p:nvPicPr>
          <p:cNvPr id="14" name="Image 1" descr="preencoded.png">    </p:cNvPr>
          <p:cNvPicPr>
            <a:picLocks noChangeAspect="1"/>
          </p:cNvPicPr>
          <p:nvPr/>
        </p:nvPicPr>
        <p:blipFill>
          <a:blip r:embed="rId2"/>
          <a:stretch>
            <a:fillRect/>
          </a:stretch>
        </p:blipFill>
        <p:spPr>
          <a:xfrm>
            <a:off x="6702552" y="2176272"/>
            <a:ext cx="292608" cy="292608"/>
          </a:xfrm>
          <a:prstGeom prst="rect">
            <a:avLst/>
          </a:prstGeom>
        </p:spPr>
      </p:pic>
      <p:sp>
        <p:nvSpPr>
          <p:cNvPr id="15" name="Text 11"/>
          <p:cNvSpPr/>
          <p:nvPr/>
        </p:nvSpPr>
        <p:spPr>
          <a:xfrm>
            <a:off x="7269480" y="2029968"/>
            <a:ext cx="2377440" cy="585216"/>
          </a:xfrm>
          <a:prstGeom prst="rect">
            <a:avLst/>
          </a:prstGeom>
          <a:noFill/>
          <a:ln/>
        </p:spPr>
        <p:txBody>
          <a:bodyPr wrap="square" lIns="0" tIns="0" rIns="0" bIns="0" rtlCol="0" anchor="ctr"/>
          <a:lstStyle/>
          <a:p>
            <a:pPr indent="0" marL="0">
              <a:buNone/>
            </a:pPr>
            <a:r>
              <a:rPr lang="en-US" sz="2100" b="1" dirty="0">
                <a:solidFill>
                  <a:srgbClr val="1B2430"/>
                </a:solidFill>
                <a:latin typeface="Cambria" pitchFamily="34" charset="0"/>
                <a:ea typeface="Cambria" pitchFamily="34" charset="-122"/>
                <a:cs typeface="Cambria" pitchFamily="34" charset="-120"/>
              </a:rPr>
              <a:t>Chargeback</a:t>
            </a:r>
            <a:endParaRPr lang="en-US" sz="2100" dirty="0"/>
          </a:p>
        </p:txBody>
      </p:sp>
      <p:sp>
        <p:nvSpPr>
          <p:cNvPr id="16" name="Text 12"/>
          <p:cNvSpPr/>
          <p:nvPr/>
        </p:nvSpPr>
        <p:spPr>
          <a:xfrm>
            <a:off x="9674352" y="2029968"/>
            <a:ext cx="1655064" cy="585216"/>
          </a:xfrm>
          <a:prstGeom prst="rect">
            <a:avLst/>
          </a:prstGeom>
          <a:noFill/>
          <a:ln/>
        </p:spPr>
        <p:txBody>
          <a:bodyPr wrap="square" lIns="0" tIns="0" rIns="0" bIns="0" rtlCol="0" anchor="ctr"/>
          <a:lstStyle/>
          <a:p>
            <a:pPr algn="r" indent="0" marL="0">
              <a:buNone/>
            </a:pPr>
            <a:r>
              <a:rPr lang="en-US" sz="1150" b="1" spc="140" kern="0" dirty="0">
                <a:solidFill>
                  <a:srgbClr val="5C6675"/>
                </a:solidFill>
                <a:latin typeface="Calibri" pitchFamily="34" charset="0"/>
                <a:ea typeface="Calibri" pitchFamily="34" charset="-122"/>
                <a:cs typeface="Calibri" pitchFamily="34" charset="-120"/>
              </a:rPr>
              <a:t>The real consequence</a:t>
            </a:r>
            <a:endParaRPr lang="en-US" sz="1150" dirty="0"/>
          </a:p>
        </p:txBody>
      </p:sp>
      <p:sp>
        <p:nvSpPr>
          <p:cNvPr id="17" name="Text 13"/>
          <p:cNvSpPr/>
          <p:nvPr/>
        </p:nvSpPr>
        <p:spPr>
          <a:xfrm>
            <a:off x="6556248" y="2743200"/>
            <a:ext cx="4773168" cy="548640"/>
          </a:xfrm>
          <a:prstGeom prst="rect">
            <a:avLst/>
          </a:prstGeom>
          <a:noFill/>
          <a:ln/>
        </p:spPr>
        <p:txBody>
          <a:bodyPr wrap="square" lIns="0" tIns="0" rIns="0" bIns="0" rtlCol="0" anchor="t"/>
          <a:lstStyle/>
          <a:p>
            <a:pPr indent="0" marL="0">
              <a:lnSpc>
                <a:spcPts val="1900"/>
              </a:lnSpc>
              <a:buNone/>
            </a:pPr>
            <a:r>
              <a:rPr lang="en-US" sz="1450" dirty="0">
                <a:solidFill>
                  <a:srgbClr val="1B2430"/>
                </a:solidFill>
                <a:latin typeface="Calibri" pitchFamily="34" charset="0"/>
                <a:ea typeface="Calibri" pitchFamily="34" charset="-122"/>
                <a:cs typeface="Calibri" pitchFamily="34" charset="-120"/>
              </a:rPr>
              <a:t>Costs are billed back to business units and hit their P&amp;L.</a:t>
            </a:r>
            <a:endParaRPr lang="en-US" sz="1450" dirty="0"/>
          </a:p>
        </p:txBody>
      </p:sp>
      <p:sp>
        <p:nvSpPr>
          <p:cNvPr id="18" name="Text 14"/>
          <p:cNvSpPr/>
          <p:nvPr/>
        </p:nvSpPr>
        <p:spPr>
          <a:xfrm>
            <a:off x="6556248" y="3310128"/>
            <a:ext cx="2743200" cy="274320"/>
          </a:xfrm>
          <a:prstGeom prst="rect">
            <a:avLst/>
          </a:prstGeom>
          <a:noFill/>
          <a:ln/>
        </p:spPr>
        <p:txBody>
          <a:bodyPr wrap="square" lIns="0" tIns="0" rIns="0" bIns="0" rtlCol="0" anchor="ctr"/>
          <a:lstStyle/>
          <a:p>
            <a:pPr indent="0" marL="0">
              <a:buNone/>
            </a:pPr>
            <a:r>
              <a:rPr lang="en-US" sz="1100" b="1" spc="160" kern="0" dirty="0">
                <a:solidFill>
                  <a:srgbClr val="5C6675"/>
                </a:solidFill>
                <a:latin typeface="Calibri" pitchFamily="34" charset="0"/>
                <a:ea typeface="Calibri" pitchFamily="34" charset="-122"/>
                <a:cs typeface="Calibri" pitchFamily="34" charset="-120"/>
              </a:rPr>
              <a:t>Best for</a:t>
            </a:r>
            <a:endParaRPr lang="en-US" sz="1100" dirty="0"/>
          </a:p>
        </p:txBody>
      </p:sp>
      <p:sp>
        <p:nvSpPr>
          <p:cNvPr id="19" name="Text 15"/>
          <p:cNvSpPr/>
          <p:nvPr/>
        </p:nvSpPr>
        <p:spPr>
          <a:xfrm>
            <a:off x="6629400" y="3611880"/>
            <a:ext cx="4663440" cy="1051560"/>
          </a:xfrm>
          <a:prstGeom prst="rect">
            <a:avLst/>
          </a:prstGeom>
          <a:noFill/>
          <a:ln/>
        </p:spPr>
        <p:txBody>
          <a:bodyPr wrap="square" lIns="0" tIns="0" rIns="0" bIns="0" rtlCol="0" anchor="ctr"/>
          <a:lstStyle/>
          <a:p>
            <a:pPr marL="342900" indent="-342900">
              <a:spcAft>
                <a:spcPts val="500"/>
              </a:spcAft>
              <a:buSzPct val="100000"/>
              <a:buChar char="•"/>
            </a:pPr>
            <a:r>
              <a:rPr lang="en-US" sz="1300" dirty="0">
                <a:solidFill>
                  <a:srgbClr val="5C6675"/>
                </a:solidFill>
                <a:latin typeface="Calibri" pitchFamily="34" charset="0"/>
                <a:ea typeface="Calibri" pitchFamily="34" charset="-122"/>
                <a:cs typeface="Calibri" pitchFamily="34" charset="-120"/>
              </a:rPr>
              <a:t>Mature, trusted allocation</a:t>
            </a:r>
            <a:endParaRPr lang="en-US" sz="1300" dirty="0"/>
          </a:p>
          <a:p>
            <a:pPr marL="342900" indent="-342900">
              <a:spcAft>
                <a:spcPts val="500"/>
              </a:spcAft>
              <a:buSzPct val="100000"/>
              <a:buChar char="•"/>
            </a:pPr>
            <a:r>
              <a:rPr lang="en-US" sz="1300" dirty="0">
                <a:solidFill>
                  <a:srgbClr val="5C6675"/>
                </a:solidFill>
                <a:latin typeface="Calibri" pitchFamily="34" charset="0"/>
                <a:ea typeface="Calibri" pitchFamily="34" charset="-122"/>
                <a:cs typeface="Calibri" pitchFamily="34" charset="-120"/>
              </a:rPr>
              <a:t>Budget-owner accountability</a:t>
            </a:r>
            <a:endParaRPr lang="en-US" sz="1300" dirty="0"/>
          </a:p>
          <a:p>
            <a:pPr marL="342900" indent="-342900">
              <a:spcAft>
                <a:spcPts val="500"/>
              </a:spcAft>
              <a:buSzPct val="100000"/>
              <a:buChar char="•"/>
            </a:pPr>
            <a:r>
              <a:rPr lang="en-US" sz="1300" dirty="0">
                <a:solidFill>
                  <a:srgbClr val="5C6675"/>
                </a:solidFill>
                <a:latin typeface="Calibri" pitchFamily="34" charset="0"/>
                <a:ea typeface="Calibri" pitchFamily="34" charset="-122"/>
                <a:cs typeface="Calibri" pitchFamily="34" charset="-120"/>
              </a:rPr>
              <a:t>Driving behaviour change</a:t>
            </a:r>
            <a:endParaRPr lang="en-US" sz="1300" dirty="0"/>
          </a:p>
        </p:txBody>
      </p:sp>
      <p:sp>
        <p:nvSpPr>
          <p:cNvPr id="20" name="Shape 16"/>
          <p:cNvSpPr/>
          <p:nvPr/>
        </p:nvSpPr>
        <p:spPr>
          <a:xfrm>
            <a:off x="548640" y="5120640"/>
            <a:ext cx="11091672" cy="731520"/>
          </a:xfrm>
          <a:prstGeom prst="roundRect">
            <a:avLst>
              <a:gd name="adj" fmla="val 11250"/>
            </a:avLst>
          </a:prstGeom>
          <a:solidFill>
            <a:srgbClr val="1F2936"/>
          </a:solidFill>
          <a:ln/>
          <a:effectLst>
            <a:outerShdw sx="100000" sy="100000" kx="0" ky="0" algn="bl" rotWithShape="0" blurRad="127000" dist="25400" dir="5400000">
              <a:srgbClr val="8C99A8">
                <a:alpha val="16000"/>
              </a:srgbClr>
            </a:outerShdw>
          </a:effectLst>
        </p:spPr>
      </p:sp>
      <p:sp>
        <p:nvSpPr>
          <p:cNvPr id="21" name="Text 17"/>
          <p:cNvSpPr/>
          <p:nvPr/>
        </p:nvSpPr>
        <p:spPr>
          <a:xfrm>
            <a:off x="859536" y="5120640"/>
            <a:ext cx="10469880" cy="731520"/>
          </a:xfrm>
          <a:prstGeom prst="rect">
            <a:avLst/>
          </a:prstGeom>
          <a:noFill/>
          <a:ln/>
        </p:spPr>
        <p:txBody>
          <a:bodyPr wrap="square" lIns="0" tIns="0" rIns="0" bIns="0" rtlCol="0" anchor="ctr"/>
          <a:lstStyle/>
          <a:p>
            <a:pPr indent="0" marL="0">
              <a:buNone/>
            </a:pPr>
            <a:r>
              <a:rPr lang="en-US" sz="1450" b="1" dirty="0">
                <a:solidFill>
                  <a:srgbClr val="E39B2C"/>
                </a:solidFill>
                <a:latin typeface="Calibri" pitchFamily="34" charset="0"/>
                <a:ea typeface="Calibri" pitchFamily="34" charset="-122"/>
                <a:cs typeface="Calibri" pitchFamily="34" charset="-120"/>
              </a:rPr>
              <a:t>Recommendation:  </a:t>
            </a:r>
            <a:pPr indent="0" marL="0">
              <a:buNone/>
            </a:pPr>
            <a:r>
              <a:rPr lang="en-US" sz="1450" dirty="0">
                <a:solidFill>
                  <a:srgbClr val="FFFFFF"/>
                </a:solidFill>
                <a:latin typeface="Calibri" pitchFamily="34" charset="0"/>
                <a:ea typeface="Calibri" pitchFamily="34" charset="-122"/>
                <a:cs typeface="Calibri" pitchFamily="34" charset="-120"/>
              </a:rPr>
              <a:t>start with showback to build tagging discipline and trust. Move to chargeback once allocation is accurate and finance is ready.</a:t>
            </a:r>
            <a:endParaRPr lang="en-US" sz="1450" dirty="0"/>
          </a:p>
        </p:txBody>
      </p:sp>
      <p:sp>
        <p:nvSpPr>
          <p:cNvPr id="22" name="Text 18"/>
          <p:cNvSpPr/>
          <p:nvPr/>
        </p:nvSpPr>
        <p:spPr>
          <a:xfrm>
            <a:off x="548640" y="5943600"/>
            <a:ext cx="11091672" cy="384048"/>
          </a:xfrm>
          <a:prstGeom prst="rect">
            <a:avLst/>
          </a:prstGeom>
          <a:noFill/>
          <a:ln/>
        </p:spPr>
        <p:txBody>
          <a:bodyPr wrap="square" lIns="0" tIns="0" rIns="0" bIns="0" rtlCol="0" anchor="ctr"/>
          <a:lstStyle/>
          <a:p>
            <a:pPr indent="0" marL="0">
              <a:buNone/>
            </a:pPr>
            <a:r>
              <a:rPr lang="en-US" sz="1400" i="1" dirty="0">
                <a:solidFill>
                  <a:srgbClr val="5C6675"/>
                </a:solidFill>
                <a:latin typeface="Cambria" pitchFamily="34" charset="0"/>
                <a:ea typeface="Cambria" pitchFamily="34" charset="-122"/>
                <a:cs typeface="Cambria" pitchFamily="34" charset="-120"/>
              </a:rPr>
              <a:t>“Most teams skip this runway and pay for it later with a chargeback rollout that nobody trusts.”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2025–2026 BEST PRACTICES</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What high-performing FinOps teams do</a:t>
            </a:r>
            <a:endParaRPr lang="en-US" sz="3100" dirty="0"/>
          </a:p>
        </p:txBody>
      </p:sp>
      <p:sp>
        <p:nvSpPr>
          <p:cNvPr id="4" name="Text 2"/>
          <p:cNvSpPr/>
          <p:nvPr/>
        </p:nvSpPr>
        <p:spPr>
          <a:xfrm>
            <a:off x="548640" y="1536192"/>
            <a:ext cx="10607040" cy="365760"/>
          </a:xfrm>
          <a:prstGeom prst="rect">
            <a:avLst/>
          </a:prstGeom>
          <a:noFill/>
          <a:ln/>
        </p:spPr>
        <p:txBody>
          <a:bodyPr wrap="square" lIns="0" tIns="0" rIns="0" bIns="0" rtlCol="0" anchor="ctr"/>
          <a:lstStyle/>
          <a:p>
            <a:pPr indent="0" marL="0">
              <a:buNone/>
            </a:pPr>
            <a:r>
              <a:rPr lang="en-US" sz="1500" dirty="0">
                <a:solidFill>
                  <a:srgbClr val="5C6675"/>
                </a:solidFill>
                <a:latin typeface="Calibri" pitchFamily="34" charset="0"/>
                <a:ea typeface="Calibri" pitchFamily="34" charset="-122"/>
                <a:cs typeface="Calibri" pitchFamily="34" charset="-120"/>
              </a:rPr>
              <a:t>Drawn from the 2025 State of FinOps report — the practices that consistently precede durable savings.</a:t>
            </a:r>
            <a:endParaRPr lang="en-US" sz="1500" dirty="0"/>
          </a:p>
        </p:txBody>
      </p:sp>
      <p:sp>
        <p:nvSpPr>
          <p:cNvPr id="5" name="Shape 3"/>
          <p:cNvSpPr/>
          <p:nvPr/>
        </p:nvSpPr>
        <p:spPr>
          <a:xfrm>
            <a:off x="548640" y="2121408"/>
            <a:ext cx="3511296" cy="1783080"/>
          </a:xfrm>
          <a:prstGeom prst="roundRect">
            <a:avLst>
              <a:gd name="adj" fmla="val 4615"/>
            </a:avLst>
          </a:prstGeom>
          <a:solidFill>
            <a:srgbClr val="F1F3F6"/>
          </a:solidFill>
          <a:ln/>
        </p:spPr>
      </p:sp>
      <p:sp>
        <p:nvSpPr>
          <p:cNvPr id="6" name="Shape 4"/>
          <p:cNvSpPr/>
          <p:nvPr/>
        </p:nvSpPr>
        <p:spPr>
          <a:xfrm>
            <a:off x="841248" y="2377440"/>
            <a:ext cx="548640" cy="54864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978408" y="2514600"/>
            <a:ext cx="274320" cy="274320"/>
          </a:xfrm>
          <a:prstGeom prst="rect">
            <a:avLst/>
          </a:prstGeom>
        </p:spPr>
      </p:pic>
      <p:sp>
        <p:nvSpPr>
          <p:cNvPr id="8" name="Text 5"/>
          <p:cNvSpPr/>
          <p:nvPr/>
        </p:nvSpPr>
        <p:spPr>
          <a:xfrm>
            <a:off x="1499616" y="2377440"/>
            <a:ext cx="2377440" cy="54864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Clean allocation</a:t>
            </a:r>
            <a:endParaRPr lang="en-US" sz="1700" dirty="0"/>
          </a:p>
        </p:txBody>
      </p:sp>
      <p:sp>
        <p:nvSpPr>
          <p:cNvPr id="9" name="Text 6"/>
          <p:cNvSpPr/>
          <p:nvPr/>
        </p:nvSpPr>
        <p:spPr>
          <a:xfrm>
            <a:off x="841248" y="3054096"/>
            <a:ext cx="2926080" cy="777240"/>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100% of spend allocated. No “unallocated” bucket left to argue about.</a:t>
            </a:r>
            <a:endParaRPr lang="en-US" sz="1250" dirty="0"/>
          </a:p>
        </p:txBody>
      </p:sp>
      <p:sp>
        <p:nvSpPr>
          <p:cNvPr id="10" name="Shape 7"/>
          <p:cNvSpPr/>
          <p:nvPr/>
        </p:nvSpPr>
        <p:spPr>
          <a:xfrm>
            <a:off x="4334256" y="2121408"/>
            <a:ext cx="3511296" cy="1783080"/>
          </a:xfrm>
          <a:prstGeom prst="roundRect">
            <a:avLst>
              <a:gd name="adj" fmla="val 4615"/>
            </a:avLst>
          </a:prstGeom>
          <a:solidFill>
            <a:srgbClr val="F1F3F6"/>
          </a:solidFill>
          <a:ln/>
        </p:spPr>
      </p:sp>
      <p:sp>
        <p:nvSpPr>
          <p:cNvPr id="11" name="Shape 8"/>
          <p:cNvSpPr/>
          <p:nvPr/>
        </p:nvSpPr>
        <p:spPr>
          <a:xfrm>
            <a:off x="4626864" y="2377440"/>
            <a:ext cx="548640" cy="548640"/>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4764024" y="2514600"/>
            <a:ext cx="274320" cy="274320"/>
          </a:xfrm>
          <a:prstGeom prst="rect">
            <a:avLst/>
          </a:prstGeom>
        </p:spPr>
      </p:pic>
      <p:sp>
        <p:nvSpPr>
          <p:cNvPr id="13" name="Text 9"/>
          <p:cNvSpPr/>
          <p:nvPr/>
        </p:nvSpPr>
        <p:spPr>
          <a:xfrm>
            <a:off x="5285232" y="2377440"/>
            <a:ext cx="2377440" cy="54864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Daily visibility</a:t>
            </a:r>
            <a:endParaRPr lang="en-US" sz="1700" dirty="0"/>
          </a:p>
        </p:txBody>
      </p:sp>
      <p:sp>
        <p:nvSpPr>
          <p:cNvPr id="14" name="Text 10"/>
          <p:cNvSpPr/>
          <p:nvPr/>
        </p:nvSpPr>
        <p:spPr>
          <a:xfrm>
            <a:off x="4626864" y="3054096"/>
            <a:ext cx="2926080" cy="777240"/>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Cost data refreshed daily, not monthly. Monthly is too slow to catch a regression.</a:t>
            </a:r>
            <a:endParaRPr lang="en-US" sz="1250" dirty="0"/>
          </a:p>
        </p:txBody>
      </p:sp>
      <p:sp>
        <p:nvSpPr>
          <p:cNvPr id="15" name="Shape 11"/>
          <p:cNvSpPr/>
          <p:nvPr/>
        </p:nvSpPr>
        <p:spPr>
          <a:xfrm>
            <a:off x="8119872" y="2121408"/>
            <a:ext cx="3511296" cy="1783080"/>
          </a:xfrm>
          <a:prstGeom prst="roundRect">
            <a:avLst>
              <a:gd name="adj" fmla="val 4615"/>
            </a:avLst>
          </a:prstGeom>
          <a:solidFill>
            <a:srgbClr val="F1F3F6"/>
          </a:solidFill>
          <a:ln/>
        </p:spPr>
      </p:sp>
      <p:sp>
        <p:nvSpPr>
          <p:cNvPr id="16" name="Shape 12"/>
          <p:cNvSpPr/>
          <p:nvPr/>
        </p:nvSpPr>
        <p:spPr>
          <a:xfrm>
            <a:off x="8412480" y="2377440"/>
            <a:ext cx="548640" cy="548640"/>
          </a:xfrm>
          <a:prstGeom prst="ellipse">
            <a:avLst/>
          </a:prstGeom>
          <a:solidFill>
            <a:srgbClr val="FFFFFF"/>
          </a:solidFill>
          <a:ln/>
        </p:spPr>
      </p:sp>
      <p:pic>
        <p:nvPicPr>
          <p:cNvPr id="17" name="Image 2" descr="preencoded.png">    </p:cNvPr>
          <p:cNvPicPr>
            <a:picLocks noChangeAspect="1"/>
          </p:cNvPicPr>
          <p:nvPr/>
        </p:nvPicPr>
        <p:blipFill>
          <a:blip r:embed="rId3"/>
          <a:stretch>
            <a:fillRect/>
          </a:stretch>
        </p:blipFill>
        <p:spPr>
          <a:xfrm>
            <a:off x="8549640" y="2514600"/>
            <a:ext cx="274320" cy="274320"/>
          </a:xfrm>
          <a:prstGeom prst="rect">
            <a:avLst/>
          </a:prstGeom>
        </p:spPr>
      </p:pic>
      <p:sp>
        <p:nvSpPr>
          <p:cNvPr id="18" name="Text 13"/>
          <p:cNvSpPr/>
          <p:nvPr/>
        </p:nvSpPr>
        <p:spPr>
          <a:xfrm>
            <a:off x="9070848" y="2377440"/>
            <a:ext cx="2377440" cy="54864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Shared KPIs</a:t>
            </a:r>
            <a:endParaRPr lang="en-US" sz="1700" dirty="0"/>
          </a:p>
        </p:txBody>
      </p:sp>
      <p:sp>
        <p:nvSpPr>
          <p:cNvPr id="19" name="Text 14"/>
          <p:cNvSpPr/>
          <p:nvPr/>
        </p:nvSpPr>
        <p:spPr>
          <a:xfrm>
            <a:off x="8412480" y="3054096"/>
            <a:ext cx="2926080" cy="777240"/>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One agreed set of metrics across finance and engineering, reviewed together.</a:t>
            </a:r>
            <a:endParaRPr lang="en-US" sz="1250" dirty="0"/>
          </a:p>
        </p:txBody>
      </p:sp>
      <p:sp>
        <p:nvSpPr>
          <p:cNvPr id="20" name="Shape 15"/>
          <p:cNvSpPr/>
          <p:nvPr/>
        </p:nvSpPr>
        <p:spPr>
          <a:xfrm>
            <a:off x="548640" y="4206240"/>
            <a:ext cx="3511296" cy="1783080"/>
          </a:xfrm>
          <a:prstGeom prst="roundRect">
            <a:avLst>
              <a:gd name="adj" fmla="val 4615"/>
            </a:avLst>
          </a:prstGeom>
          <a:solidFill>
            <a:srgbClr val="F1F3F6"/>
          </a:solidFill>
          <a:ln/>
        </p:spPr>
      </p:sp>
      <p:sp>
        <p:nvSpPr>
          <p:cNvPr id="21" name="Shape 16"/>
          <p:cNvSpPr/>
          <p:nvPr/>
        </p:nvSpPr>
        <p:spPr>
          <a:xfrm>
            <a:off x="841248" y="4462272"/>
            <a:ext cx="548640" cy="548640"/>
          </a:xfrm>
          <a:prstGeom prst="ellipse">
            <a:avLst/>
          </a:prstGeom>
          <a:solidFill>
            <a:srgbClr val="FFFFFF"/>
          </a:solidFill>
          <a:ln/>
        </p:spPr>
      </p:sp>
      <p:pic>
        <p:nvPicPr>
          <p:cNvPr id="22" name="Image 3" descr="preencoded.png">    </p:cNvPr>
          <p:cNvPicPr>
            <a:picLocks noChangeAspect="1"/>
          </p:cNvPicPr>
          <p:nvPr/>
        </p:nvPicPr>
        <p:blipFill>
          <a:blip r:embed="rId4"/>
          <a:stretch>
            <a:fillRect/>
          </a:stretch>
        </p:blipFill>
        <p:spPr>
          <a:xfrm>
            <a:off x="978408" y="4599432"/>
            <a:ext cx="274320" cy="274320"/>
          </a:xfrm>
          <a:prstGeom prst="rect">
            <a:avLst/>
          </a:prstGeom>
        </p:spPr>
      </p:pic>
      <p:sp>
        <p:nvSpPr>
          <p:cNvPr id="23" name="Text 17"/>
          <p:cNvSpPr/>
          <p:nvPr/>
        </p:nvSpPr>
        <p:spPr>
          <a:xfrm>
            <a:off x="1499616" y="4462272"/>
            <a:ext cx="2377440" cy="54864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Shift-left cost visibility</a:t>
            </a:r>
            <a:endParaRPr lang="en-US" sz="1700" dirty="0"/>
          </a:p>
        </p:txBody>
      </p:sp>
      <p:sp>
        <p:nvSpPr>
          <p:cNvPr id="24" name="Text 18"/>
          <p:cNvSpPr/>
          <p:nvPr/>
        </p:nvSpPr>
        <p:spPr>
          <a:xfrm>
            <a:off x="841248" y="5138928"/>
            <a:ext cx="2926080" cy="777240"/>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Cost checks during design and development — treated like performance and security.</a:t>
            </a:r>
            <a:endParaRPr lang="en-US" sz="1250" dirty="0"/>
          </a:p>
        </p:txBody>
      </p:sp>
      <p:sp>
        <p:nvSpPr>
          <p:cNvPr id="25" name="Shape 19"/>
          <p:cNvSpPr/>
          <p:nvPr/>
        </p:nvSpPr>
        <p:spPr>
          <a:xfrm>
            <a:off x="4334256" y="4206240"/>
            <a:ext cx="3511296" cy="1783080"/>
          </a:xfrm>
          <a:prstGeom prst="roundRect">
            <a:avLst>
              <a:gd name="adj" fmla="val 4615"/>
            </a:avLst>
          </a:prstGeom>
          <a:solidFill>
            <a:srgbClr val="F1F3F6"/>
          </a:solidFill>
          <a:ln/>
        </p:spPr>
      </p:sp>
      <p:sp>
        <p:nvSpPr>
          <p:cNvPr id="26" name="Shape 20"/>
          <p:cNvSpPr/>
          <p:nvPr/>
        </p:nvSpPr>
        <p:spPr>
          <a:xfrm>
            <a:off x="4626864" y="4462272"/>
            <a:ext cx="548640" cy="548640"/>
          </a:xfrm>
          <a:prstGeom prst="ellipse">
            <a:avLst/>
          </a:prstGeom>
          <a:solidFill>
            <a:srgbClr val="FFFFFF"/>
          </a:solidFill>
          <a:ln/>
        </p:spPr>
      </p:sp>
      <p:pic>
        <p:nvPicPr>
          <p:cNvPr id="27" name="Image 4" descr="preencoded.png">    </p:cNvPr>
          <p:cNvPicPr>
            <a:picLocks noChangeAspect="1"/>
          </p:cNvPicPr>
          <p:nvPr/>
        </p:nvPicPr>
        <p:blipFill>
          <a:blip r:embed="rId5"/>
          <a:stretch>
            <a:fillRect/>
          </a:stretch>
        </p:blipFill>
        <p:spPr>
          <a:xfrm>
            <a:off x="4764024" y="4599432"/>
            <a:ext cx="274320" cy="274320"/>
          </a:xfrm>
          <a:prstGeom prst="rect">
            <a:avLst/>
          </a:prstGeom>
        </p:spPr>
      </p:pic>
      <p:sp>
        <p:nvSpPr>
          <p:cNvPr id="28" name="Text 21"/>
          <p:cNvSpPr/>
          <p:nvPr/>
        </p:nvSpPr>
        <p:spPr>
          <a:xfrm>
            <a:off x="5285232" y="4462272"/>
            <a:ext cx="2377440" cy="54864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Anomaly alerts</a:t>
            </a:r>
            <a:endParaRPr lang="en-US" sz="1700" dirty="0"/>
          </a:p>
        </p:txBody>
      </p:sp>
      <p:sp>
        <p:nvSpPr>
          <p:cNvPr id="29" name="Text 22"/>
          <p:cNvSpPr/>
          <p:nvPr/>
        </p:nvSpPr>
        <p:spPr>
          <a:xfrm>
            <a:off x="4626864" y="5138928"/>
            <a:ext cx="2926080" cy="777240"/>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Real-time alerts routed to the owner of the spend, not to a shared mailbox.</a:t>
            </a:r>
            <a:endParaRPr lang="en-US" sz="1250" dirty="0"/>
          </a:p>
        </p:txBody>
      </p:sp>
      <p:sp>
        <p:nvSpPr>
          <p:cNvPr id="30" name="Shape 23"/>
          <p:cNvSpPr/>
          <p:nvPr/>
        </p:nvSpPr>
        <p:spPr>
          <a:xfrm>
            <a:off x="8119872" y="4206240"/>
            <a:ext cx="3511296" cy="1783080"/>
          </a:xfrm>
          <a:prstGeom prst="roundRect">
            <a:avLst>
              <a:gd name="adj" fmla="val 4615"/>
            </a:avLst>
          </a:prstGeom>
          <a:solidFill>
            <a:srgbClr val="F1F3F6"/>
          </a:solidFill>
          <a:ln/>
        </p:spPr>
      </p:sp>
      <p:sp>
        <p:nvSpPr>
          <p:cNvPr id="31" name="Shape 24"/>
          <p:cNvSpPr/>
          <p:nvPr/>
        </p:nvSpPr>
        <p:spPr>
          <a:xfrm>
            <a:off x="8412480" y="4462272"/>
            <a:ext cx="548640" cy="548640"/>
          </a:xfrm>
          <a:prstGeom prst="ellipse">
            <a:avLst/>
          </a:prstGeom>
          <a:solidFill>
            <a:srgbClr val="FFFFFF"/>
          </a:solidFill>
          <a:ln/>
        </p:spPr>
      </p:sp>
      <p:pic>
        <p:nvPicPr>
          <p:cNvPr id="32" name="Image 5" descr="preencoded.png">    </p:cNvPr>
          <p:cNvPicPr>
            <a:picLocks noChangeAspect="1"/>
          </p:cNvPicPr>
          <p:nvPr/>
        </p:nvPicPr>
        <p:blipFill>
          <a:blip r:embed="rId6"/>
          <a:stretch>
            <a:fillRect/>
          </a:stretch>
        </p:blipFill>
        <p:spPr>
          <a:xfrm>
            <a:off x="8549640" y="4599432"/>
            <a:ext cx="274320" cy="274320"/>
          </a:xfrm>
          <a:prstGeom prst="rect">
            <a:avLst/>
          </a:prstGeom>
        </p:spPr>
      </p:pic>
      <p:sp>
        <p:nvSpPr>
          <p:cNvPr id="33" name="Text 25"/>
          <p:cNvSpPr/>
          <p:nvPr/>
        </p:nvSpPr>
        <p:spPr>
          <a:xfrm>
            <a:off x="9070848" y="4462272"/>
            <a:ext cx="2377440" cy="548640"/>
          </a:xfrm>
          <a:prstGeom prst="rect">
            <a:avLst/>
          </a:prstGeom>
          <a:noFill/>
          <a:ln/>
        </p:spPr>
        <p:txBody>
          <a:bodyPr wrap="square" lIns="0" tIns="0" rIns="0" bIns="0" rtlCol="0" anchor="ctr"/>
          <a:lstStyle/>
          <a:p>
            <a:pPr indent="0" marL="0">
              <a:buNone/>
            </a:pPr>
            <a:r>
              <a:rPr lang="en-US" sz="1700" b="1" dirty="0">
                <a:solidFill>
                  <a:srgbClr val="1B2430"/>
                </a:solidFill>
                <a:latin typeface="Cambria" pitchFamily="34" charset="0"/>
                <a:ea typeface="Cambria" pitchFamily="34" charset="-122"/>
                <a:cs typeface="Cambria" pitchFamily="34" charset="-120"/>
              </a:rPr>
              <a:t>Automated guardrails</a:t>
            </a:r>
            <a:endParaRPr lang="en-US" sz="1700" dirty="0"/>
          </a:p>
        </p:txBody>
      </p:sp>
      <p:sp>
        <p:nvSpPr>
          <p:cNvPr id="34" name="Text 26"/>
          <p:cNvSpPr/>
          <p:nvPr/>
        </p:nvSpPr>
        <p:spPr>
          <a:xfrm>
            <a:off x="8412480" y="5138928"/>
            <a:ext cx="2926080" cy="777240"/>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Policy-as-code that prevents costly deployments before they happen.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A22"/>
        </a:solidFill>
      </p:bgPr>
    </p:bg>
    <p:spTree>
      <p:nvGrpSpPr>
        <p:cNvPr id="1" name=""/>
        <p:cNvGrpSpPr/>
        <p:nvPr/>
      </p:nvGrpSpPr>
      <p:grpSpPr>
        <a:xfrm>
          <a:off x="0" y="0"/>
          <a:ext cx="0" cy="0"/>
          <a:chOff x="0" y="0"/>
          <a:chExt cx="0" cy="0"/>
        </a:xfrm>
      </p:grpSpPr>
      <p:sp>
        <p:nvSpPr>
          <p:cNvPr id="2" name="Text 0"/>
          <p:cNvSpPr/>
          <p:nvPr/>
        </p:nvSpPr>
        <p:spPr>
          <a:xfrm>
            <a:off x="548640" y="1234440"/>
            <a:ext cx="5486400" cy="274320"/>
          </a:xfrm>
          <a:prstGeom prst="rect">
            <a:avLst/>
          </a:prstGeom>
          <a:noFill/>
          <a:ln/>
        </p:spPr>
        <p:txBody>
          <a:bodyPr wrap="square" lIns="0" tIns="0" rIns="0" bIns="0" rtlCol="0" anchor="ctr"/>
          <a:lstStyle/>
          <a:p>
            <a:pPr indent="0" marL="0">
              <a:buNone/>
            </a:pPr>
            <a:r>
              <a:rPr lang="en-US" sz="1200" b="1" spc="260" kern="0" dirty="0">
                <a:solidFill>
                  <a:srgbClr val="E39B2C"/>
                </a:solidFill>
                <a:latin typeface="Calibri" pitchFamily="34" charset="0"/>
                <a:ea typeface="Calibri" pitchFamily="34" charset="-122"/>
                <a:cs typeface="Calibri" pitchFamily="34" charset="-120"/>
              </a:rPr>
              <a:t>PART TWO</a:t>
            </a:r>
            <a:endParaRPr lang="en-US" sz="1200" dirty="0"/>
          </a:p>
        </p:txBody>
      </p:sp>
      <p:sp>
        <p:nvSpPr>
          <p:cNvPr id="3" name="Text 1"/>
          <p:cNvSpPr/>
          <p:nvPr/>
        </p:nvSpPr>
        <p:spPr>
          <a:xfrm>
            <a:off x="548640" y="1600200"/>
            <a:ext cx="6035040" cy="91440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Governance</a:t>
            </a:r>
            <a:endParaRPr lang="en-US" sz="4200" dirty="0"/>
          </a:p>
        </p:txBody>
      </p:sp>
      <p:sp>
        <p:nvSpPr>
          <p:cNvPr id="4" name="Text 2"/>
          <p:cNvSpPr/>
          <p:nvPr/>
        </p:nvSpPr>
        <p:spPr>
          <a:xfrm>
            <a:off x="548640" y="2651760"/>
            <a:ext cx="5760720" cy="1005840"/>
          </a:xfrm>
          <a:prstGeom prst="rect">
            <a:avLst/>
          </a:prstGeom>
          <a:noFill/>
          <a:ln/>
        </p:spPr>
        <p:txBody>
          <a:bodyPr wrap="square" lIns="0" tIns="0" rIns="0" bIns="0" rtlCol="0" anchor="t"/>
          <a:lstStyle/>
          <a:p>
            <a:pPr indent="0" marL="0">
              <a:lnSpc>
                <a:spcPts val="2200"/>
              </a:lnSpc>
              <a:buNone/>
            </a:pPr>
            <a:r>
              <a:rPr lang="en-US" sz="1550" dirty="0">
                <a:solidFill>
                  <a:srgbClr val="9EABBA"/>
                </a:solidFill>
                <a:latin typeface="Calibri" pitchFamily="34" charset="0"/>
                <a:ea typeface="Calibri" pitchFamily="34" charset="-122"/>
                <a:cs typeface="Calibri" pitchFamily="34" charset="-120"/>
              </a:rPr>
              <a:t>Visibility tells you what happened. Governance decides what is allowed to happen — who owns the spend, what it may reach, and what stops it automatically.</a:t>
            </a:r>
            <a:endParaRPr lang="en-US" sz="1550" dirty="0"/>
          </a:p>
        </p:txBody>
      </p:sp>
      <p:sp>
        <p:nvSpPr>
          <p:cNvPr id="5" name="Text 3"/>
          <p:cNvSpPr/>
          <p:nvPr/>
        </p:nvSpPr>
        <p:spPr>
          <a:xfrm>
            <a:off x="548640" y="3886200"/>
            <a:ext cx="5760720" cy="731520"/>
          </a:xfrm>
          <a:prstGeom prst="rect">
            <a:avLst/>
          </a:prstGeom>
          <a:noFill/>
          <a:ln/>
        </p:spPr>
        <p:txBody>
          <a:bodyPr wrap="square" lIns="0" tIns="0" rIns="0" bIns="0" rtlCol="0" anchor="t"/>
          <a:lstStyle/>
          <a:p>
            <a:pPr indent="0" marL="0">
              <a:lnSpc>
                <a:spcPts val="2100"/>
              </a:lnSpc>
              <a:buNone/>
            </a:pPr>
            <a:r>
              <a:rPr lang="en-US" sz="1450" i="1" dirty="0">
                <a:solidFill>
                  <a:srgbClr val="E39B2C"/>
                </a:solidFill>
                <a:latin typeface="Cambria" pitchFamily="34" charset="0"/>
                <a:ea typeface="Cambria" pitchFamily="34" charset="-122"/>
                <a:cs typeface="Cambria" pitchFamily="34" charset="-120"/>
              </a:rPr>
              <a:t>Reporting is not a control. Every item on the right exists because someone found that out the expensive way.</a:t>
            </a:r>
            <a:endParaRPr lang="en-US" sz="1450" dirty="0"/>
          </a:p>
        </p:txBody>
      </p:sp>
      <p:sp>
        <p:nvSpPr>
          <p:cNvPr id="6" name="Shape 4"/>
          <p:cNvSpPr/>
          <p:nvPr/>
        </p:nvSpPr>
        <p:spPr>
          <a:xfrm>
            <a:off x="6675120" y="1371600"/>
            <a:ext cx="4965192" cy="786384"/>
          </a:xfrm>
          <a:prstGeom prst="roundRect">
            <a:avLst>
              <a:gd name="adj" fmla="val 10465"/>
            </a:avLst>
          </a:prstGeom>
          <a:solidFill>
            <a:srgbClr val="1F2936"/>
          </a:solidFill>
          <a:ln/>
        </p:spPr>
      </p:sp>
      <p:sp>
        <p:nvSpPr>
          <p:cNvPr id="7" name="Text 5"/>
          <p:cNvSpPr/>
          <p:nvPr/>
        </p:nvSpPr>
        <p:spPr>
          <a:xfrm>
            <a:off x="6912864" y="1371600"/>
            <a:ext cx="548640" cy="786384"/>
          </a:xfrm>
          <a:prstGeom prst="rect">
            <a:avLst/>
          </a:prstGeom>
          <a:noFill/>
          <a:ln/>
        </p:spPr>
        <p:txBody>
          <a:bodyPr wrap="square" lIns="0" tIns="0" rIns="0" bIns="0" rtlCol="0" anchor="ctr"/>
          <a:lstStyle/>
          <a:p>
            <a:pPr indent="0" marL="0">
              <a:buNone/>
            </a:pPr>
            <a:r>
              <a:rPr lang="en-US" sz="1900" b="1" dirty="0">
                <a:solidFill>
                  <a:srgbClr val="E39B2C"/>
                </a:solidFill>
                <a:latin typeface="Cambria" pitchFamily="34" charset="0"/>
                <a:ea typeface="Cambria" pitchFamily="34" charset="-122"/>
                <a:cs typeface="Cambria" pitchFamily="34" charset="-120"/>
              </a:rPr>
              <a:t>01</a:t>
            </a:r>
            <a:endParaRPr lang="en-US" sz="1900" dirty="0"/>
          </a:p>
        </p:txBody>
      </p:sp>
      <p:sp>
        <p:nvSpPr>
          <p:cNvPr id="8" name="Text 6"/>
          <p:cNvSpPr/>
          <p:nvPr/>
        </p:nvSpPr>
        <p:spPr>
          <a:xfrm>
            <a:off x="7534656" y="1371600"/>
            <a:ext cx="3931920" cy="786384"/>
          </a:xfrm>
          <a:prstGeom prst="rect">
            <a:avLst/>
          </a:prstGeom>
          <a:noFill/>
          <a:ln/>
        </p:spPr>
        <p:txBody>
          <a:bodyPr wrap="square" lIns="0" tIns="0" rIns="0" bIns="0" rtlCol="0" anchor="ctr"/>
          <a:lstStyle/>
          <a:p>
            <a:pPr indent="0" marL="0">
              <a:lnSpc>
                <a:spcPts val="1600"/>
              </a:lnSpc>
              <a:buNone/>
            </a:pPr>
            <a:r>
              <a:rPr lang="en-US" sz="1450" b="1" dirty="0">
                <a:solidFill>
                  <a:srgbClr val="FFFFFF"/>
                </a:solidFill>
                <a:latin typeface="Calibri" pitchFamily="34" charset="0"/>
                <a:ea typeface="Calibri" pitchFamily="34" charset="-122"/>
                <a:cs typeface="Calibri" pitchFamily="34" charset="-120"/>
              </a:rPr>
              <a:t>Application ownership</a:t>
            </a:r>
            <a:endParaRPr lang="en-US" sz="1450" dirty="0"/>
          </a:p>
          <a:p>
            <a:pPr indent="0" marL="0">
              <a:lnSpc>
                <a:spcPts val="1600"/>
              </a:lnSpc>
              <a:buNone/>
            </a:pPr>
            <a:r>
              <a:rPr lang="en-US" sz="1200" dirty="0">
                <a:solidFill>
                  <a:srgbClr val="9EABBA"/>
                </a:solidFill>
                <a:latin typeface="Calibri" pitchFamily="34" charset="0"/>
                <a:ea typeface="Calibri" pitchFamily="34" charset="-122"/>
                <a:cs typeface="Calibri" pitchFamily="34" charset="-120"/>
              </a:rPr>
              <a:t>A named owner for every workload</a:t>
            </a:r>
            <a:endParaRPr lang="en-US" sz="1450" dirty="0"/>
          </a:p>
        </p:txBody>
      </p:sp>
      <p:sp>
        <p:nvSpPr>
          <p:cNvPr id="9" name="Shape 7"/>
          <p:cNvSpPr/>
          <p:nvPr/>
        </p:nvSpPr>
        <p:spPr>
          <a:xfrm>
            <a:off x="6675120" y="2249424"/>
            <a:ext cx="4965192" cy="786384"/>
          </a:xfrm>
          <a:prstGeom prst="roundRect">
            <a:avLst>
              <a:gd name="adj" fmla="val 10465"/>
            </a:avLst>
          </a:prstGeom>
          <a:solidFill>
            <a:srgbClr val="1F2936"/>
          </a:solidFill>
          <a:ln/>
        </p:spPr>
      </p:sp>
      <p:sp>
        <p:nvSpPr>
          <p:cNvPr id="10" name="Text 8"/>
          <p:cNvSpPr/>
          <p:nvPr/>
        </p:nvSpPr>
        <p:spPr>
          <a:xfrm>
            <a:off x="6912864" y="2249424"/>
            <a:ext cx="548640" cy="786384"/>
          </a:xfrm>
          <a:prstGeom prst="rect">
            <a:avLst/>
          </a:prstGeom>
          <a:noFill/>
          <a:ln/>
        </p:spPr>
        <p:txBody>
          <a:bodyPr wrap="square" lIns="0" tIns="0" rIns="0" bIns="0" rtlCol="0" anchor="ctr"/>
          <a:lstStyle/>
          <a:p>
            <a:pPr indent="0" marL="0">
              <a:buNone/>
            </a:pPr>
            <a:r>
              <a:rPr lang="en-US" sz="1900" b="1" dirty="0">
                <a:solidFill>
                  <a:srgbClr val="E39B2C"/>
                </a:solidFill>
                <a:latin typeface="Cambria" pitchFamily="34" charset="0"/>
                <a:ea typeface="Cambria" pitchFamily="34" charset="-122"/>
                <a:cs typeface="Cambria" pitchFamily="34" charset="-120"/>
              </a:rPr>
              <a:t>02</a:t>
            </a:r>
            <a:endParaRPr lang="en-US" sz="1900" dirty="0"/>
          </a:p>
        </p:txBody>
      </p:sp>
      <p:sp>
        <p:nvSpPr>
          <p:cNvPr id="11" name="Text 9"/>
          <p:cNvSpPr/>
          <p:nvPr/>
        </p:nvSpPr>
        <p:spPr>
          <a:xfrm>
            <a:off x="7534656" y="2249424"/>
            <a:ext cx="3931920" cy="786384"/>
          </a:xfrm>
          <a:prstGeom prst="rect">
            <a:avLst/>
          </a:prstGeom>
          <a:noFill/>
          <a:ln/>
        </p:spPr>
        <p:txBody>
          <a:bodyPr wrap="square" lIns="0" tIns="0" rIns="0" bIns="0" rtlCol="0" anchor="ctr"/>
          <a:lstStyle/>
          <a:p>
            <a:pPr indent="0" marL="0">
              <a:lnSpc>
                <a:spcPts val="1600"/>
              </a:lnSpc>
              <a:buNone/>
            </a:pPr>
            <a:r>
              <a:rPr lang="en-US" sz="1450" b="1" dirty="0">
                <a:solidFill>
                  <a:srgbClr val="FFFFFF"/>
                </a:solidFill>
                <a:latin typeface="Calibri" pitchFamily="34" charset="0"/>
                <a:ea typeface="Calibri" pitchFamily="34" charset="-122"/>
                <a:cs typeface="Calibri" pitchFamily="34" charset="-120"/>
              </a:rPr>
              <a:t>Budget controls</a:t>
            </a:r>
            <a:endParaRPr lang="en-US" sz="1450" dirty="0"/>
          </a:p>
          <a:p>
            <a:pPr indent="0" marL="0">
              <a:lnSpc>
                <a:spcPts val="1600"/>
              </a:lnSpc>
              <a:buNone/>
            </a:pPr>
            <a:r>
              <a:rPr lang="en-US" sz="1200" dirty="0">
                <a:solidFill>
                  <a:srgbClr val="9EABBA"/>
                </a:solidFill>
                <a:latin typeface="Calibri" pitchFamily="34" charset="0"/>
                <a:ea typeface="Calibri" pitchFamily="34" charset="-122"/>
                <a:cs typeface="Calibri" pitchFamily="34" charset="-120"/>
              </a:rPr>
              <a:t>Thresholds that trigger before month-end</a:t>
            </a:r>
            <a:endParaRPr lang="en-US" sz="1450" dirty="0"/>
          </a:p>
        </p:txBody>
      </p:sp>
      <p:sp>
        <p:nvSpPr>
          <p:cNvPr id="12" name="Shape 10"/>
          <p:cNvSpPr/>
          <p:nvPr/>
        </p:nvSpPr>
        <p:spPr>
          <a:xfrm>
            <a:off x="6675120" y="3127248"/>
            <a:ext cx="4965192" cy="786384"/>
          </a:xfrm>
          <a:prstGeom prst="roundRect">
            <a:avLst>
              <a:gd name="adj" fmla="val 10465"/>
            </a:avLst>
          </a:prstGeom>
          <a:solidFill>
            <a:srgbClr val="1F2936"/>
          </a:solidFill>
          <a:ln/>
        </p:spPr>
      </p:sp>
      <p:sp>
        <p:nvSpPr>
          <p:cNvPr id="13" name="Text 11"/>
          <p:cNvSpPr/>
          <p:nvPr/>
        </p:nvSpPr>
        <p:spPr>
          <a:xfrm>
            <a:off x="6912864" y="3127248"/>
            <a:ext cx="548640" cy="786384"/>
          </a:xfrm>
          <a:prstGeom prst="rect">
            <a:avLst/>
          </a:prstGeom>
          <a:noFill/>
          <a:ln/>
        </p:spPr>
        <p:txBody>
          <a:bodyPr wrap="square" lIns="0" tIns="0" rIns="0" bIns="0" rtlCol="0" anchor="ctr"/>
          <a:lstStyle/>
          <a:p>
            <a:pPr indent="0" marL="0">
              <a:buNone/>
            </a:pPr>
            <a:r>
              <a:rPr lang="en-US" sz="1900" b="1" dirty="0">
                <a:solidFill>
                  <a:srgbClr val="E39B2C"/>
                </a:solidFill>
                <a:latin typeface="Cambria" pitchFamily="34" charset="0"/>
                <a:ea typeface="Cambria" pitchFamily="34" charset="-122"/>
                <a:cs typeface="Cambria" pitchFamily="34" charset="-120"/>
              </a:rPr>
              <a:t>03</a:t>
            </a:r>
            <a:endParaRPr lang="en-US" sz="1900" dirty="0"/>
          </a:p>
        </p:txBody>
      </p:sp>
      <p:sp>
        <p:nvSpPr>
          <p:cNvPr id="14" name="Text 12"/>
          <p:cNvSpPr/>
          <p:nvPr/>
        </p:nvSpPr>
        <p:spPr>
          <a:xfrm>
            <a:off x="7534656" y="3127248"/>
            <a:ext cx="3931920" cy="786384"/>
          </a:xfrm>
          <a:prstGeom prst="rect">
            <a:avLst/>
          </a:prstGeom>
          <a:noFill/>
          <a:ln/>
        </p:spPr>
        <p:txBody>
          <a:bodyPr wrap="square" lIns="0" tIns="0" rIns="0" bIns="0" rtlCol="0" anchor="ctr"/>
          <a:lstStyle/>
          <a:p>
            <a:pPr indent="0" marL="0">
              <a:lnSpc>
                <a:spcPts val="1600"/>
              </a:lnSpc>
              <a:buNone/>
            </a:pPr>
            <a:r>
              <a:rPr lang="en-US" sz="1450" b="1" dirty="0">
                <a:solidFill>
                  <a:srgbClr val="FFFFFF"/>
                </a:solidFill>
                <a:latin typeface="Calibri" pitchFamily="34" charset="0"/>
                <a:ea typeface="Calibri" pitchFamily="34" charset="-122"/>
                <a:cs typeface="Calibri" pitchFamily="34" charset="-120"/>
              </a:rPr>
              <a:t>Rate limits &amp; quotas</a:t>
            </a:r>
            <a:endParaRPr lang="en-US" sz="1450" dirty="0"/>
          </a:p>
          <a:p>
            <a:pPr indent="0" marL="0">
              <a:lnSpc>
                <a:spcPts val="1600"/>
              </a:lnSpc>
              <a:buNone/>
            </a:pPr>
            <a:r>
              <a:rPr lang="en-US" sz="1200" dirty="0">
                <a:solidFill>
                  <a:srgbClr val="9EABBA"/>
                </a:solidFill>
                <a:latin typeface="Calibri" pitchFamily="34" charset="0"/>
                <a:ea typeface="Calibri" pitchFamily="34" charset="-122"/>
                <a:cs typeface="Calibri" pitchFamily="34" charset="-120"/>
              </a:rPr>
              <a:t>The only control fast enough to stop spend</a:t>
            </a:r>
            <a:endParaRPr lang="en-US" sz="1450" dirty="0"/>
          </a:p>
        </p:txBody>
      </p:sp>
      <p:sp>
        <p:nvSpPr>
          <p:cNvPr id="15" name="Shape 13"/>
          <p:cNvSpPr/>
          <p:nvPr/>
        </p:nvSpPr>
        <p:spPr>
          <a:xfrm>
            <a:off x="6675120" y="4005072"/>
            <a:ext cx="4965192" cy="786384"/>
          </a:xfrm>
          <a:prstGeom prst="roundRect">
            <a:avLst>
              <a:gd name="adj" fmla="val 10465"/>
            </a:avLst>
          </a:prstGeom>
          <a:solidFill>
            <a:srgbClr val="1F2936"/>
          </a:solidFill>
          <a:ln/>
        </p:spPr>
      </p:sp>
      <p:sp>
        <p:nvSpPr>
          <p:cNvPr id="16" name="Text 14"/>
          <p:cNvSpPr/>
          <p:nvPr/>
        </p:nvSpPr>
        <p:spPr>
          <a:xfrm>
            <a:off x="6912864" y="4005072"/>
            <a:ext cx="548640" cy="786384"/>
          </a:xfrm>
          <a:prstGeom prst="rect">
            <a:avLst/>
          </a:prstGeom>
          <a:noFill/>
          <a:ln/>
        </p:spPr>
        <p:txBody>
          <a:bodyPr wrap="square" lIns="0" tIns="0" rIns="0" bIns="0" rtlCol="0" anchor="ctr"/>
          <a:lstStyle/>
          <a:p>
            <a:pPr indent="0" marL="0">
              <a:buNone/>
            </a:pPr>
            <a:r>
              <a:rPr lang="en-US" sz="1900" b="1" dirty="0">
                <a:solidFill>
                  <a:srgbClr val="E39B2C"/>
                </a:solidFill>
                <a:latin typeface="Cambria" pitchFamily="34" charset="0"/>
                <a:ea typeface="Cambria" pitchFamily="34" charset="-122"/>
                <a:cs typeface="Cambria" pitchFamily="34" charset="-120"/>
              </a:rPr>
              <a:t>04</a:t>
            </a:r>
            <a:endParaRPr lang="en-US" sz="1900" dirty="0"/>
          </a:p>
        </p:txBody>
      </p:sp>
      <p:sp>
        <p:nvSpPr>
          <p:cNvPr id="17" name="Text 15"/>
          <p:cNvSpPr/>
          <p:nvPr/>
        </p:nvSpPr>
        <p:spPr>
          <a:xfrm>
            <a:off x="7534656" y="4005072"/>
            <a:ext cx="3931920" cy="786384"/>
          </a:xfrm>
          <a:prstGeom prst="rect">
            <a:avLst/>
          </a:prstGeom>
          <a:noFill/>
          <a:ln/>
        </p:spPr>
        <p:txBody>
          <a:bodyPr wrap="square" lIns="0" tIns="0" rIns="0" bIns="0" rtlCol="0" anchor="ctr"/>
          <a:lstStyle/>
          <a:p>
            <a:pPr indent="0" marL="0">
              <a:lnSpc>
                <a:spcPts val="1600"/>
              </a:lnSpc>
              <a:buNone/>
            </a:pPr>
            <a:r>
              <a:rPr lang="en-US" sz="1450" b="1" dirty="0">
                <a:solidFill>
                  <a:srgbClr val="FFFFFF"/>
                </a:solidFill>
                <a:latin typeface="Calibri" pitchFamily="34" charset="0"/>
                <a:ea typeface="Calibri" pitchFamily="34" charset="-122"/>
                <a:cs typeface="Calibri" pitchFamily="34" charset="-120"/>
              </a:rPr>
              <a:t>Automated alerts</a:t>
            </a:r>
            <a:endParaRPr lang="en-US" sz="1450" dirty="0"/>
          </a:p>
          <a:p>
            <a:pPr indent="0" marL="0">
              <a:lnSpc>
                <a:spcPts val="1600"/>
              </a:lnSpc>
              <a:buNone/>
            </a:pPr>
            <a:r>
              <a:rPr lang="en-US" sz="1200" dirty="0">
                <a:solidFill>
                  <a:srgbClr val="9EABBA"/>
                </a:solidFill>
                <a:latin typeface="Calibri" pitchFamily="34" charset="0"/>
                <a:ea typeface="Calibri" pitchFamily="34" charset="-122"/>
                <a:cs typeface="Calibri" pitchFamily="34" charset="-120"/>
              </a:rPr>
              <a:t>Routed to the person who can act</a:t>
            </a:r>
            <a:endParaRPr lang="en-US" sz="1450" dirty="0"/>
          </a:p>
        </p:txBody>
      </p:sp>
      <p:sp>
        <p:nvSpPr>
          <p:cNvPr id="18" name="Shape 16"/>
          <p:cNvSpPr/>
          <p:nvPr/>
        </p:nvSpPr>
        <p:spPr>
          <a:xfrm>
            <a:off x="6675120" y="4882896"/>
            <a:ext cx="4965192" cy="786384"/>
          </a:xfrm>
          <a:prstGeom prst="roundRect">
            <a:avLst>
              <a:gd name="adj" fmla="val 10465"/>
            </a:avLst>
          </a:prstGeom>
          <a:solidFill>
            <a:srgbClr val="1F2936"/>
          </a:solidFill>
          <a:ln/>
        </p:spPr>
      </p:sp>
      <p:sp>
        <p:nvSpPr>
          <p:cNvPr id="19" name="Text 17"/>
          <p:cNvSpPr/>
          <p:nvPr/>
        </p:nvSpPr>
        <p:spPr>
          <a:xfrm>
            <a:off x="6912864" y="4882896"/>
            <a:ext cx="548640" cy="786384"/>
          </a:xfrm>
          <a:prstGeom prst="rect">
            <a:avLst/>
          </a:prstGeom>
          <a:noFill/>
          <a:ln/>
        </p:spPr>
        <p:txBody>
          <a:bodyPr wrap="square" lIns="0" tIns="0" rIns="0" bIns="0" rtlCol="0" anchor="ctr"/>
          <a:lstStyle/>
          <a:p>
            <a:pPr indent="0" marL="0">
              <a:buNone/>
            </a:pPr>
            <a:r>
              <a:rPr lang="en-US" sz="1900" b="1" dirty="0">
                <a:solidFill>
                  <a:srgbClr val="E39B2C"/>
                </a:solidFill>
                <a:latin typeface="Cambria" pitchFamily="34" charset="0"/>
                <a:ea typeface="Cambria" pitchFamily="34" charset="-122"/>
                <a:cs typeface="Cambria" pitchFamily="34" charset="-120"/>
              </a:rPr>
              <a:t>05</a:t>
            </a:r>
            <a:endParaRPr lang="en-US" sz="1900" dirty="0"/>
          </a:p>
        </p:txBody>
      </p:sp>
      <p:sp>
        <p:nvSpPr>
          <p:cNvPr id="20" name="Text 18"/>
          <p:cNvSpPr/>
          <p:nvPr/>
        </p:nvSpPr>
        <p:spPr>
          <a:xfrm>
            <a:off x="7534656" y="4882896"/>
            <a:ext cx="3931920" cy="786384"/>
          </a:xfrm>
          <a:prstGeom prst="rect">
            <a:avLst/>
          </a:prstGeom>
          <a:noFill/>
          <a:ln/>
        </p:spPr>
        <p:txBody>
          <a:bodyPr wrap="square" lIns="0" tIns="0" rIns="0" bIns="0" rtlCol="0" anchor="ctr"/>
          <a:lstStyle/>
          <a:p>
            <a:pPr indent="0" marL="0">
              <a:lnSpc>
                <a:spcPts val="1600"/>
              </a:lnSpc>
              <a:buNone/>
            </a:pPr>
            <a:r>
              <a:rPr lang="en-US" sz="1450" b="1" dirty="0">
                <a:solidFill>
                  <a:srgbClr val="FFFFFF"/>
                </a:solidFill>
                <a:latin typeface="Calibri" pitchFamily="34" charset="0"/>
                <a:ea typeface="Calibri" pitchFamily="34" charset="-122"/>
                <a:cs typeface="Calibri" pitchFamily="34" charset="-120"/>
              </a:rPr>
              <a:t>Shared responsibility</a:t>
            </a:r>
            <a:endParaRPr lang="en-US" sz="1450" dirty="0"/>
          </a:p>
          <a:p>
            <a:pPr indent="0" marL="0">
              <a:lnSpc>
                <a:spcPts val="1600"/>
              </a:lnSpc>
              <a:buNone/>
            </a:pPr>
            <a:r>
              <a:rPr lang="en-US" sz="1200" dirty="0">
                <a:solidFill>
                  <a:srgbClr val="9EABBA"/>
                </a:solidFill>
                <a:latin typeface="Calibri" pitchFamily="34" charset="0"/>
                <a:ea typeface="Calibri" pitchFamily="34" charset="-122"/>
                <a:cs typeface="Calibri" pitchFamily="34" charset="-120"/>
              </a:rPr>
              <a:t>Who decides, who builds, who pays</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GOVERNANCE 1 — APPLICATION OWNERSHIP</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Every workload has a named owner</a:t>
            </a:r>
            <a:endParaRPr lang="en-US" sz="3100" dirty="0"/>
          </a:p>
        </p:txBody>
      </p:sp>
      <p:sp>
        <p:nvSpPr>
          <p:cNvPr id="4" name="Shape 2"/>
          <p:cNvSpPr/>
          <p:nvPr/>
        </p:nvSpPr>
        <p:spPr>
          <a:xfrm>
            <a:off x="548640" y="1783080"/>
            <a:ext cx="3749040" cy="3017520"/>
          </a:xfrm>
          <a:prstGeom prst="roundRect">
            <a:avLst>
              <a:gd name="adj" fmla="val 2727"/>
            </a:avLst>
          </a:prstGeom>
          <a:solidFill>
            <a:srgbClr val="1F2936"/>
          </a:solidFill>
          <a:ln/>
          <a:effectLst>
            <a:outerShdw sx="100000" sy="100000" kx="0" ky="0" algn="bl" rotWithShape="0" blurRad="127000" dist="25400" dir="5400000">
              <a:srgbClr val="8C99A8">
                <a:alpha val="16000"/>
              </a:srgbClr>
            </a:outerShdw>
          </a:effectLst>
        </p:spPr>
      </p:sp>
      <p:sp>
        <p:nvSpPr>
          <p:cNvPr id="5" name="Shape 3"/>
          <p:cNvSpPr/>
          <p:nvPr/>
        </p:nvSpPr>
        <p:spPr>
          <a:xfrm>
            <a:off x="859536" y="2048256"/>
            <a:ext cx="603504" cy="603504"/>
          </a:xfrm>
          <a:prstGeom prst="ellipse">
            <a:avLst/>
          </a:prstGeom>
          <a:solidFill>
            <a:srgbClr val="E39B2C"/>
          </a:solidFill>
          <a:ln/>
        </p:spPr>
      </p:sp>
      <p:pic>
        <p:nvPicPr>
          <p:cNvPr id="6" name="Image 0" descr="preencoded.png">    </p:cNvPr>
          <p:cNvPicPr>
            <a:picLocks noChangeAspect="1"/>
          </p:cNvPicPr>
          <p:nvPr/>
        </p:nvPicPr>
        <p:blipFill>
          <a:blip r:embed="rId1"/>
          <a:stretch>
            <a:fillRect/>
          </a:stretch>
        </p:blipFill>
        <p:spPr>
          <a:xfrm>
            <a:off x="1010412" y="2199132"/>
            <a:ext cx="301752" cy="301752"/>
          </a:xfrm>
          <a:prstGeom prst="rect">
            <a:avLst/>
          </a:prstGeom>
        </p:spPr>
      </p:pic>
      <p:sp>
        <p:nvSpPr>
          <p:cNvPr id="7" name="Text 4"/>
          <p:cNvSpPr/>
          <p:nvPr/>
        </p:nvSpPr>
        <p:spPr>
          <a:xfrm>
            <a:off x="859536" y="2788920"/>
            <a:ext cx="3108960" cy="310896"/>
          </a:xfrm>
          <a:prstGeom prst="rect">
            <a:avLst/>
          </a:prstGeom>
          <a:noFill/>
          <a:ln/>
        </p:spPr>
        <p:txBody>
          <a:bodyPr wrap="square" lIns="0" tIns="0" rIns="0" bIns="0" rtlCol="0" anchor="ctr"/>
          <a:lstStyle/>
          <a:p>
            <a:pPr indent="0" marL="0">
              <a:buNone/>
            </a:pPr>
            <a:r>
              <a:rPr lang="en-US" sz="1200" b="1" spc="180" kern="0" dirty="0">
                <a:solidFill>
                  <a:srgbClr val="E39B2C"/>
                </a:solidFill>
                <a:latin typeface="Calibri" pitchFamily="34" charset="0"/>
                <a:ea typeface="Calibri" pitchFamily="34" charset="-122"/>
                <a:cs typeface="Calibri" pitchFamily="34" charset="-120"/>
              </a:rPr>
              <a:t>Owner of record</a:t>
            </a:r>
            <a:endParaRPr lang="en-US" sz="1200" dirty="0"/>
          </a:p>
        </p:txBody>
      </p:sp>
      <p:sp>
        <p:nvSpPr>
          <p:cNvPr id="8" name="Text 5"/>
          <p:cNvSpPr/>
          <p:nvPr/>
        </p:nvSpPr>
        <p:spPr>
          <a:xfrm>
            <a:off x="859536" y="3127248"/>
            <a:ext cx="3127248" cy="1463040"/>
          </a:xfrm>
          <a:prstGeom prst="rect">
            <a:avLst/>
          </a:prstGeom>
          <a:noFill/>
          <a:ln/>
        </p:spPr>
        <p:txBody>
          <a:bodyPr wrap="square" lIns="0" tIns="0" rIns="0" bIns="0" rtlCol="0" anchor="t"/>
          <a:lstStyle/>
          <a:p>
            <a:pPr indent="0" marL="0">
              <a:lnSpc>
                <a:spcPts val="2100"/>
              </a:lnSpc>
              <a:buNone/>
            </a:pPr>
            <a:r>
              <a:rPr lang="en-US" sz="1450" i="1" dirty="0">
                <a:solidFill>
                  <a:srgbClr val="FFFFFF"/>
                </a:solidFill>
                <a:latin typeface="Cambria" pitchFamily="34" charset="0"/>
                <a:ea typeface="Cambria" pitchFamily="34" charset="-122"/>
                <a:cs typeface="Cambria" pitchFamily="34" charset="-120"/>
              </a:rPr>
              <a:t>A named person, not a distribution list and not “the platform team”. A group address means nobody answers the alert at 2am on a Sunday.</a:t>
            </a:r>
            <a:endParaRPr lang="en-US" sz="1450" dirty="0"/>
          </a:p>
        </p:txBody>
      </p:sp>
      <p:sp>
        <p:nvSpPr>
          <p:cNvPr id="9" name="Shape 6"/>
          <p:cNvSpPr/>
          <p:nvPr/>
        </p:nvSpPr>
        <p:spPr>
          <a:xfrm>
            <a:off x="4663440" y="1911096"/>
            <a:ext cx="457200" cy="457200"/>
          </a:xfrm>
          <a:prstGeom prst="ellipse">
            <a:avLst/>
          </a:prstGeom>
          <a:solidFill>
            <a:srgbClr val="DDEDE9"/>
          </a:solidFill>
          <a:ln/>
        </p:spPr>
      </p:sp>
      <p:pic>
        <p:nvPicPr>
          <p:cNvPr id="10" name="Image 1" descr="preencoded.png">    </p:cNvPr>
          <p:cNvPicPr>
            <a:picLocks noChangeAspect="1"/>
          </p:cNvPicPr>
          <p:nvPr/>
        </p:nvPicPr>
        <p:blipFill>
          <a:blip r:embed="rId2"/>
          <a:stretch>
            <a:fillRect/>
          </a:stretch>
        </p:blipFill>
        <p:spPr>
          <a:xfrm>
            <a:off x="4777740" y="2025396"/>
            <a:ext cx="228600" cy="228600"/>
          </a:xfrm>
          <a:prstGeom prst="rect">
            <a:avLst/>
          </a:prstGeom>
        </p:spPr>
      </p:pic>
      <p:sp>
        <p:nvSpPr>
          <p:cNvPr id="11" name="Text 7"/>
          <p:cNvSpPr/>
          <p:nvPr/>
        </p:nvSpPr>
        <p:spPr>
          <a:xfrm>
            <a:off x="5376672" y="1783080"/>
            <a:ext cx="6263640" cy="713232"/>
          </a:xfrm>
          <a:prstGeom prst="rect">
            <a:avLst/>
          </a:prstGeom>
          <a:noFill/>
          <a:ln/>
        </p:spPr>
        <p:txBody>
          <a:bodyPr wrap="square" lIns="0" tIns="0" rIns="0" bIns="0" rtlCol="0" anchor="ctr"/>
          <a:lstStyle/>
          <a:p>
            <a:pPr indent="0" marL="0">
              <a:lnSpc>
                <a:spcPts val="1600"/>
              </a:lnSpc>
              <a:buNone/>
            </a:pPr>
            <a:r>
              <a:rPr lang="en-US" sz="1450" b="1" dirty="0">
                <a:solidFill>
                  <a:srgbClr val="1B2430"/>
                </a:solidFill>
                <a:latin typeface="Calibri" pitchFamily="34" charset="0"/>
                <a:ea typeface="Calibri" pitchFamily="34" charset="-122"/>
                <a:cs typeface="Calibri" pitchFamily="34" charset="-120"/>
              </a:rPr>
              <a:t>Owns the budget</a:t>
            </a:r>
            <a:endParaRPr lang="en-US" sz="1450" dirty="0"/>
          </a:p>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Signs off the application's budget and explains the variance when it moves.</a:t>
            </a:r>
            <a:endParaRPr lang="en-US" sz="1450" dirty="0"/>
          </a:p>
        </p:txBody>
      </p:sp>
      <p:sp>
        <p:nvSpPr>
          <p:cNvPr id="12" name="Shape 8"/>
          <p:cNvSpPr/>
          <p:nvPr/>
        </p:nvSpPr>
        <p:spPr>
          <a:xfrm>
            <a:off x="4663440" y="2688336"/>
            <a:ext cx="457200" cy="457200"/>
          </a:xfrm>
          <a:prstGeom prst="ellipse">
            <a:avLst/>
          </a:prstGeom>
          <a:solidFill>
            <a:srgbClr val="DDEDE9"/>
          </a:solidFill>
          <a:ln/>
        </p:spPr>
      </p:sp>
      <p:pic>
        <p:nvPicPr>
          <p:cNvPr id="13" name="Image 2" descr="preencoded.png">    </p:cNvPr>
          <p:cNvPicPr>
            <a:picLocks noChangeAspect="1"/>
          </p:cNvPicPr>
          <p:nvPr/>
        </p:nvPicPr>
        <p:blipFill>
          <a:blip r:embed="rId3"/>
          <a:stretch>
            <a:fillRect/>
          </a:stretch>
        </p:blipFill>
        <p:spPr>
          <a:xfrm>
            <a:off x="4777740" y="2802636"/>
            <a:ext cx="228600" cy="228600"/>
          </a:xfrm>
          <a:prstGeom prst="rect">
            <a:avLst/>
          </a:prstGeom>
        </p:spPr>
      </p:pic>
      <p:sp>
        <p:nvSpPr>
          <p:cNvPr id="14" name="Text 9"/>
          <p:cNvSpPr/>
          <p:nvPr/>
        </p:nvSpPr>
        <p:spPr>
          <a:xfrm>
            <a:off x="5376672" y="2560320"/>
            <a:ext cx="6263640" cy="713232"/>
          </a:xfrm>
          <a:prstGeom prst="rect">
            <a:avLst/>
          </a:prstGeom>
          <a:noFill/>
          <a:ln/>
        </p:spPr>
        <p:txBody>
          <a:bodyPr wrap="square" lIns="0" tIns="0" rIns="0" bIns="0" rtlCol="0" anchor="ctr"/>
          <a:lstStyle/>
          <a:p>
            <a:pPr indent="0" marL="0">
              <a:lnSpc>
                <a:spcPts val="1600"/>
              </a:lnSpc>
              <a:buNone/>
            </a:pPr>
            <a:r>
              <a:rPr lang="en-US" sz="1450" b="1" dirty="0">
                <a:solidFill>
                  <a:srgbClr val="1B2430"/>
                </a:solidFill>
                <a:latin typeface="Calibri" pitchFamily="34" charset="0"/>
                <a:ea typeface="Calibri" pitchFamily="34" charset="-122"/>
                <a:cs typeface="Calibri" pitchFamily="34" charset="-120"/>
              </a:rPr>
              <a:t>Answers the alerts</a:t>
            </a:r>
            <a:endParaRPr lang="en-US" sz="1450" dirty="0"/>
          </a:p>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Named as the routing target for anomalies and threshold breaches on their workload.</a:t>
            </a:r>
            <a:endParaRPr lang="en-US" sz="1450" dirty="0"/>
          </a:p>
        </p:txBody>
      </p:sp>
      <p:sp>
        <p:nvSpPr>
          <p:cNvPr id="15" name="Shape 10"/>
          <p:cNvSpPr/>
          <p:nvPr/>
        </p:nvSpPr>
        <p:spPr>
          <a:xfrm>
            <a:off x="4663440" y="3465576"/>
            <a:ext cx="457200" cy="457200"/>
          </a:xfrm>
          <a:prstGeom prst="ellipse">
            <a:avLst/>
          </a:prstGeom>
          <a:solidFill>
            <a:srgbClr val="DDEDE9"/>
          </a:solidFill>
          <a:ln/>
        </p:spPr>
      </p:sp>
      <p:pic>
        <p:nvPicPr>
          <p:cNvPr id="16" name="Image 3" descr="preencoded.png">    </p:cNvPr>
          <p:cNvPicPr>
            <a:picLocks noChangeAspect="1"/>
          </p:cNvPicPr>
          <p:nvPr/>
        </p:nvPicPr>
        <p:blipFill>
          <a:blip r:embed="rId4"/>
          <a:stretch>
            <a:fillRect/>
          </a:stretch>
        </p:blipFill>
        <p:spPr>
          <a:xfrm>
            <a:off x="4777740" y="3579876"/>
            <a:ext cx="228600" cy="228600"/>
          </a:xfrm>
          <a:prstGeom prst="rect">
            <a:avLst/>
          </a:prstGeom>
        </p:spPr>
      </p:pic>
      <p:sp>
        <p:nvSpPr>
          <p:cNvPr id="17" name="Text 11"/>
          <p:cNvSpPr/>
          <p:nvPr/>
        </p:nvSpPr>
        <p:spPr>
          <a:xfrm>
            <a:off x="5376672" y="3337560"/>
            <a:ext cx="6263640" cy="713232"/>
          </a:xfrm>
          <a:prstGeom prst="rect">
            <a:avLst/>
          </a:prstGeom>
          <a:noFill/>
          <a:ln/>
        </p:spPr>
        <p:txBody>
          <a:bodyPr wrap="square" lIns="0" tIns="0" rIns="0" bIns="0" rtlCol="0" anchor="ctr"/>
          <a:lstStyle/>
          <a:p>
            <a:pPr indent="0" marL="0">
              <a:lnSpc>
                <a:spcPts val="1600"/>
              </a:lnSpc>
              <a:buNone/>
            </a:pPr>
            <a:r>
              <a:rPr lang="en-US" sz="1450" b="1" dirty="0">
                <a:solidFill>
                  <a:srgbClr val="1B2430"/>
                </a:solidFill>
                <a:latin typeface="Calibri" pitchFamily="34" charset="0"/>
                <a:ea typeface="Calibri" pitchFamily="34" charset="-122"/>
                <a:cs typeface="Calibri" pitchFamily="34" charset="-120"/>
              </a:rPr>
              <a:t>Reviews monthly</a:t>
            </a:r>
            <a:endParaRPr lang="en-US" sz="1450" dirty="0"/>
          </a:p>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Attends the monthly review with their own numbers, not a summary of everyone's.</a:t>
            </a:r>
            <a:endParaRPr lang="en-US" sz="1450" dirty="0"/>
          </a:p>
        </p:txBody>
      </p:sp>
      <p:sp>
        <p:nvSpPr>
          <p:cNvPr id="18" name="Shape 12"/>
          <p:cNvSpPr/>
          <p:nvPr/>
        </p:nvSpPr>
        <p:spPr>
          <a:xfrm>
            <a:off x="4663440" y="4242816"/>
            <a:ext cx="457200" cy="457200"/>
          </a:xfrm>
          <a:prstGeom prst="ellipse">
            <a:avLst/>
          </a:prstGeom>
          <a:solidFill>
            <a:srgbClr val="DDEDE9"/>
          </a:solidFill>
          <a:ln/>
        </p:spPr>
      </p:sp>
      <p:pic>
        <p:nvPicPr>
          <p:cNvPr id="19" name="Image 4" descr="preencoded.png">    </p:cNvPr>
          <p:cNvPicPr>
            <a:picLocks noChangeAspect="1"/>
          </p:cNvPicPr>
          <p:nvPr/>
        </p:nvPicPr>
        <p:blipFill>
          <a:blip r:embed="rId5"/>
          <a:stretch>
            <a:fillRect/>
          </a:stretch>
        </p:blipFill>
        <p:spPr>
          <a:xfrm>
            <a:off x="4777740" y="4357116"/>
            <a:ext cx="228600" cy="228600"/>
          </a:xfrm>
          <a:prstGeom prst="rect">
            <a:avLst/>
          </a:prstGeom>
        </p:spPr>
      </p:pic>
      <p:sp>
        <p:nvSpPr>
          <p:cNvPr id="20" name="Text 13"/>
          <p:cNvSpPr/>
          <p:nvPr/>
        </p:nvSpPr>
        <p:spPr>
          <a:xfrm>
            <a:off x="5376672" y="4114800"/>
            <a:ext cx="6263640" cy="713232"/>
          </a:xfrm>
          <a:prstGeom prst="rect">
            <a:avLst/>
          </a:prstGeom>
          <a:noFill/>
          <a:ln/>
        </p:spPr>
        <p:txBody>
          <a:bodyPr wrap="square" lIns="0" tIns="0" rIns="0" bIns="0" rtlCol="0" anchor="ctr"/>
          <a:lstStyle/>
          <a:p>
            <a:pPr indent="0" marL="0">
              <a:lnSpc>
                <a:spcPts val="1600"/>
              </a:lnSpc>
              <a:buNone/>
            </a:pPr>
            <a:r>
              <a:rPr lang="en-US" sz="1450" b="1" dirty="0">
                <a:solidFill>
                  <a:srgbClr val="1B2430"/>
                </a:solidFill>
                <a:latin typeface="Calibri" pitchFamily="34" charset="0"/>
                <a:ea typeface="Calibri" pitchFamily="34" charset="-122"/>
                <a:cs typeface="Calibri" pitchFamily="34" charset="-120"/>
              </a:rPr>
              <a:t>Decommissions</a:t>
            </a:r>
            <a:endParaRPr lang="en-US" sz="1450" dirty="0"/>
          </a:p>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Retires what is no longer used. Nothing else in the estate does this by itself.</a:t>
            </a:r>
            <a:endParaRPr lang="en-US" sz="1450" dirty="0"/>
          </a:p>
        </p:txBody>
      </p:sp>
      <p:sp>
        <p:nvSpPr>
          <p:cNvPr id="21" name="Shape 14"/>
          <p:cNvSpPr/>
          <p:nvPr/>
        </p:nvSpPr>
        <p:spPr>
          <a:xfrm>
            <a:off x="548640" y="5047488"/>
            <a:ext cx="11091672" cy="1207008"/>
          </a:xfrm>
          <a:prstGeom prst="roundRect">
            <a:avLst>
              <a:gd name="adj" fmla="val 6818"/>
            </a:avLst>
          </a:prstGeom>
          <a:solidFill>
            <a:srgbClr val="FBEFD8"/>
          </a:solidFill>
          <a:ln/>
        </p:spPr>
      </p:sp>
      <p:sp>
        <p:nvSpPr>
          <p:cNvPr id="22" name="Text 15"/>
          <p:cNvSpPr/>
          <p:nvPr/>
        </p:nvSpPr>
        <p:spPr>
          <a:xfrm>
            <a:off x="877824" y="5193792"/>
            <a:ext cx="4572000" cy="292608"/>
          </a:xfrm>
          <a:prstGeom prst="rect">
            <a:avLst/>
          </a:prstGeom>
          <a:noFill/>
          <a:ln/>
        </p:spPr>
        <p:txBody>
          <a:bodyPr wrap="square" lIns="0" tIns="0" rIns="0" bIns="0" rtlCol="0" anchor="ctr"/>
          <a:lstStyle/>
          <a:p>
            <a:pPr indent="0" marL="0">
              <a:buNone/>
            </a:pPr>
            <a:r>
              <a:rPr lang="en-US" sz="1200" b="1" spc="180" kern="0" dirty="0">
                <a:solidFill>
                  <a:srgbClr val="6B4A0E"/>
                </a:solidFill>
                <a:latin typeface="Calibri" pitchFamily="34" charset="0"/>
                <a:ea typeface="Calibri" pitchFamily="34" charset="-122"/>
                <a:cs typeface="Calibri" pitchFamily="34" charset="-120"/>
              </a:rPr>
              <a:t>Unowned is not unowned</a:t>
            </a:r>
            <a:endParaRPr lang="en-US" sz="1200" dirty="0"/>
          </a:p>
        </p:txBody>
      </p:sp>
      <p:sp>
        <p:nvSpPr>
          <p:cNvPr id="23" name="Text 16"/>
          <p:cNvSpPr/>
          <p:nvPr/>
        </p:nvSpPr>
        <p:spPr>
          <a:xfrm>
            <a:off x="877824" y="5486400"/>
            <a:ext cx="10424160" cy="658368"/>
          </a:xfrm>
          <a:prstGeom prst="rect">
            <a:avLst/>
          </a:prstGeom>
          <a:noFill/>
          <a:ln/>
        </p:spPr>
        <p:txBody>
          <a:bodyPr wrap="square" lIns="0" tIns="0" rIns="0" bIns="0" rtlCol="0" anchor="t"/>
          <a:lstStyle/>
          <a:p>
            <a:pPr indent="0" marL="0">
              <a:lnSpc>
                <a:spcPts val="1900"/>
              </a:lnSpc>
              <a:buNone/>
            </a:pPr>
            <a:r>
              <a:rPr lang="en-US" sz="1400" dirty="0">
                <a:solidFill>
                  <a:srgbClr val="6B4A0E"/>
                </a:solidFill>
                <a:latin typeface="Calibri" pitchFamily="34" charset="0"/>
                <a:ea typeface="Calibri" pitchFamily="34" charset="-122"/>
                <a:cs typeface="Calibri" pitchFamily="34" charset="-120"/>
              </a:rPr>
              <a:t>Every resource without an owner already has one — the central budget. Make ownership a deployment requirement rather than a reporting field, and give orphaned resources a standing rule: no owner, no renewal.</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GOVERNANCE 2 — BUDGET CONTROLS</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Thresholds that fire before month-end</a:t>
            </a:r>
            <a:endParaRPr lang="en-US" sz="3100" dirty="0"/>
          </a:p>
        </p:txBody>
      </p:sp>
      <p:sp>
        <p:nvSpPr>
          <p:cNvPr id="4" name="Text 2"/>
          <p:cNvSpPr/>
          <p:nvPr/>
        </p:nvSpPr>
        <p:spPr>
          <a:xfrm>
            <a:off x="548640" y="1536192"/>
            <a:ext cx="10607040" cy="365760"/>
          </a:xfrm>
          <a:prstGeom prst="rect">
            <a:avLst/>
          </a:prstGeom>
          <a:noFill/>
          <a:ln/>
        </p:spPr>
        <p:txBody>
          <a:bodyPr wrap="square" lIns="0" tIns="0" rIns="0" bIns="0" rtlCol="0" anchor="ctr"/>
          <a:lstStyle/>
          <a:p>
            <a:pPr indent="0" marL="0">
              <a:buNone/>
            </a:pPr>
            <a:r>
              <a:rPr lang="en-US" sz="1500" dirty="0">
                <a:solidFill>
                  <a:srgbClr val="5C6675"/>
                </a:solidFill>
                <a:latin typeface="Calibri" pitchFamily="34" charset="0"/>
                <a:ea typeface="Calibri" pitchFamily="34" charset="-122"/>
                <a:cs typeface="Calibri" pitchFamily="34" charset="-120"/>
              </a:rPr>
              <a:t>A budget nobody is warned about is a number in a spreadsheet, not a control.</a:t>
            </a:r>
            <a:endParaRPr lang="en-US" sz="1500" dirty="0"/>
          </a:p>
        </p:txBody>
      </p:sp>
      <p:sp>
        <p:nvSpPr>
          <p:cNvPr id="5" name="Shape 3"/>
          <p:cNvSpPr/>
          <p:nvPr/>
        </p:nvSpPr>
        <p:spPr>
          <a:xfrm>
            <a:off x="548640" y="2103120"/>
            <a:ext cx="3511296" cy="2148840"/>
          </a:xfrm>
          <a:prstGeom prst="roundRect">
            <a:avLst>
              <a:gd name="adj" fmla="val 3830"/>
            </a:avLst>
          </a:prstGeom>
          <a:solidFill>
            <a:srgbClr val="DDEDE9"/>
          </a:solidFill>
          <a:ln/>
        </p:spPr>
      </p:sp>
      <p:sp>
        <p:nvSpPr>
          <p:cNvPr id="6" name="Shape 4"/>
          <p:cNvSpPr/>
          <p:nvPr/>
        </p:nvSpPr>
        <p:spPr>
          <a:xfrm>
            <a:off x="841248" y="2359152"/>
            <a:ext cx="548640" cy="54864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978408" y="2496312"/>
            <a:ext cx="274320" cy="274320"/>
          </a:xfrm>
          <a:prstGeom prst="rect">
            <a:avLst/>
          </a:prstGeom>
        </p:spPr>
      </p:pic>
      <p:sp>
        <p:nvSpPr>
          <p:cNvPr id="8" name="Text 5"/>
          <p:cNvSpPr/>
          <p:nvPr/>
        </p:nvSpPr>
        <p:spPr>
          <a:xfrm>
            <a:off x="1499616" y="2359152"/>
            <a:ext cx="2286000" cy="548640"/>
          </a:xfrm>
          <a:prstGeom prst="rect">
            <a:avLst/>
          </a:prstGeom>
          <a:noFill/>
          <a:ln/>
        </p:spPr>
        <p:txBody>
          <a:bodyPr wrap="square" lIns="0" tIns="0" rIns="0" bIns="0" rtlCol="0" anchor="ctr"/>
          <a:lstStyle/>
          <a:p>
            <a:pPr indent="0" marL="0">
              <a:buNone/>
            </a:pPr>
            <a:r>
              <a:rPr lang="en-US" sz="2000" b="1" dirty="0">
                <a:solidFill>
                  <a:srgbClr val="1B2430"/>
                </a:solidFill>
                <a:latin typeface="Cambria" pitchFamily="34" charset="0"/>
                <a:ea typeface="Cambria" pitchFamily="34" charset="-122"/>
                <a:cs typeface="Cambria" pitchFamily="34" charset="-120"/>
              </a:rPr>
              <a:t>Notify</a:t>
            </a:r>
            <a:endParaRPr lang="en-US" sz="2000" dirty="0"/>
          </a:p>
        </p:txBody>
      </p:sp>
      <p:sp>
        <p:nvSpPr>
          <p:cNvPr id="9" name="Text 6"/>
          <p:cNvSpPr/>
          <p:nvPr/>
        </p:nvSpPr>
        <p:spPr>
          <a:xfrm>
            <a:off x="841248" y="3035808"/>
            <a:ext cx="2926080" cy="310896"/>
          </a:xfrm>
          <a:prstGeom prst="rect">
            <a:avLst/>
          </a:prstGeom>
          <a:noFill/>
          <a:ln/>
        </p:spPr>
        <p:txBody>
          <a:bodyPr wrap="square" lIns="0" tIns="0" rIns="0" bIns="0" rtlCol="0" anchor="ctr"/>
          <a:lstStyle/>
          <a:p>
            <a:pPr indent="0" marL="0">
              <a:buNone/>
            </a:pPr>
            <a:r>
              <a:rPr lang="en-US" sz="1250" b="1" dirty="0">
                <a:solidFill>
                  <a:srgbClr val="1F6B5C"/>
                </a:solidFill>
                <a:latin typeface="Calibri" pitchFamily="34" charset="0"/>
                <a:ea typeface="Calibri" pitchFamily="34" charset="-122"/>
                <a:cs typeface="Calibri" pitchFamily="34" charset="-120"/>
              </a:rPr>
              <a:t>Burn ahead of plan</a:t>
            </a:r>
            <a:endParaRPr lang="en-US" sz="1250" dirty="0"/>
          </a:p>
        </p:txBody>
      </p:sp>
      <p:sp>
        <p:nvSpPr>
          <p:cNvPr id="10" name="Text 7"/>
          <p:cNvSpPr/>
          <p:nvPr/>
        </p:nvSpPr>
        <p:spPr>
          <a:xfrm>
            <a:off x="841248" y="3383280"/>
            <a:ext cx="2926080" cy="731520"/>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Proportional to the month elapsed. Goes to the team channel.</a:t>
            </a:r>
            <a:endParaRPr lang="en-US" sz="1250" dirty="0"/>
          </a:p>
        </p:txBody>
      </p:sp>
      <p:sp>
        <p:nvSpPr>
          <p:cNvPr id="11" name="Shape 8"/>
          <p:cNvSpPr/>
          <p:nvPr/>
        </p:nvSpPr>
        <p:spPr>
          <a:xfrm>
            <a:off x="4114800" y="3090672"/>
            <a:ext cx="201168" cy="182880"/>
          </a:xfrm>
          <a:prstGeom prst="rightArrow">
            <a:avLst/>
          </a:prstGeom>
          <a:solidFill>
            <a:srgbClr val="C3CBD5"/>
          </a:solidFill>
          <a:ln/>
        </p:spPr>
      </p:sp>
      <p:sp>
        <p:nvSpPr>
          <p:cNvPr id="12" name="Shape 9"/>
          <p:cNvSpPr/>
          <p:nvPr/>
        </p:nvSpPr>
        <p:spPr>
          <a:xfrm>
            <a:off x="4334256" y="2103120"/>
            <a:ext cx="3511296" cy="2148840"/>
          </a:xfrm>
          <a:prstGeom prst="roundRect">
            <a:avLst>
              <a:gd name="adj" fmla="val 3830"/>
            </a:avLst>
          </a:prstGeom>
          <a:solidFill>
            <a:srgbClr val="FBEFD8"/>
          </a:solidFill>
          <a:ln/>
        </p:spPr>
      </p:sp>
      <p:sp>
        <p:nvSpPr>
          <p:cNvPr id="13" name="Shape 10"/>
          <p:cNvSpPr/>
          <p:nvPr/>
        </p:nvSpPr>
        <p:spPr>
          <a:xfrm>
            <a:off x="4626864" y="2359152"/>
            <a:ext cx="548640" cy="548640"/>
          </a:xfrm>
          <a:prstGeom prst="ellipse">
            <a:avLst/>
          </a:prstGeom>
          <a:solidFill>
            <a:srgbClr val="FFFFFF"/>
          </a:solidFill>
          <a:ln/>
        </p:spPr>
      </p:sp>
      <p:pic>
        <p:nvPicPr>
          <p:cNvPr id="14" name="Image 1" descr="preencoded.png">    </p:cNvPr>
          <p:cNvPicPr>
            <a:picLocks noChangeAspect="1"/>
          </p:cNvPicPr>
          <p:nvPr/>
        </p:nvPicPr>
        <p:blipFill>
          <a:blip r:embed="rId2"/>
          <a:stretch>
            <a:fillRect/>
          </a:stretch>
        </p:blipFill>
        <p:spPr>
          <a:xfrm>
            <a:off x="4764024" y="2496312"/>
            <a:ext cx="274320" cy="274320"/>
          </a:xfrm>
          <a:prstGeom prst="rect">
            <a:avLst/>
          </a:prstGeom>
        </p:spPr>
      </p:pic>
      <p:sp>
        <p:nvSpPr>
          <p:cNvPr id="15" name="Text 11"/>
          <p:cNvSpPr/>
          <p:nvPr/>
        </p:nvSpPr>
        <p:spPr>
          <a:xfrm>
            <a:off x="5285232" y="2359152"/>
            <a:ext cx="2286000" cy="548640"/>
          </a:xfrm>
          <a:prstGeom prst="rect">
            <a:avLst/>
          </a:prstGeom>
          <a:noFill/>
          <a:ln/>
        </p:spPr>
        <p:txBody>
          <a:bodyPr wrap="square" lIns="0" tIns="0" rIns="0" bIns="0" rtlCol="0" anchor="ctr"/>
          <a:lstStyle/>
          <a:p>
            <a:pPr indent="0" marL="0">
              <a:buNone/>
            </a:pPr>
            <a:r>
              <a:rPr lang="en-US" sz="2000" b="1" dirty="0">
                <a:solidFill>
                  <a:srgbClr val="1B2430"/>
                </a:solidFill>
                <a:latin typeface="Cambria" pitchFamily="34" charset="0"/>
                <a:ea typeface="Cambria" pitchFamily="34" charset="-122"/>
                <a:cs typeface="Cambria" pitchFamily="34" charset="-120"/>
              </a:rPr>
              <a:t>Review</a:t>
            </a:r>
            <a:endParaRPr lang="en-US" sz="2000" dirty="0"/>
          </a:p>
        </p:txBody>
      </p:sp>
      <p:sp>
        <p:nvSpPr>
          <p:cNvPr id="16" name="Text 12"/>
          <p:cNvSpPr/>
          <p:nvPr/>
        </p:nvSpPr>
        <p:spPr>
          <a:xfrm>
            <a:off x="4626864" y="3035808"/>
            <a:ext cx="2926080" cy="310896"/>
          </a:xfrm>
          <a:prstGeom prst="rect">
            <a:avLst/>
          </a:prstGeom>
          <a:noFill/>
          <a:ln/>
        </p:spPr>
        <p:txBody>
          <a:bodyPr wrap="square" lIns="0" tIns="0" rIns="0" bIns="0" rtlCol="0" anchor="ctr"/>
          <a:lstStyle/>
          <a:p>
            <a:pPr indent="0" marL="0">
              <a:buNone/>
            </a:pPr>
            <a:r>
              <a:rPr lang="en-US" sz="1250" b="1" dirty="0">
                <a:solidFill>
                  <a:srgbClr val="B87B18"/>
                </a:solidFill>
                <a:latin typeface="Calibri" pitchFamily="34" charset="0"/>
                <a:ea typeface="Calibri" pitchFamily="34" charset="-122"/>
                <a:cs typeface="Calibri" pitchFamily="34" charset="-120"/>
              </a:rPr>
              <a:t>Forecast exceeds budget</a:t>
            </a:r>
            <a:endParaRPr lang="en-US" sz="1250" dirty="0"/>
          </a:p>
        </p:txBody>
      </p:sp>
      <p:sp>
        <p:nvSpPr>
          <p:cNvPr id="17" name="Text 13"/>
          <p:cNvSpPr/>
          <p:nvPr/>
        </p:nvSpPr>
        <p:spPr>
          <a:xfrm>
            <a:off x="4626864" y="3383280"/>
            <a:ext cx="2926080" cy="731520"/>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Projected month-end overrun. Owner and finance review within days.</a:t>
            </a:r>
            <a:endParaRPr lang="en-US" sz="1250" dirty="0"/>
          </a:p>
        </p:txBody>
      </p:sp>
      <p:sp>
        <p:nvSpPr>
          <p:cNvPr id="18" name="Shape 14"/>
          <p:cNvSpPr/>
          <p:nvPr/>
        </p:nvSpPr>
        <p:spPr>
          <a:xfrm>
            <a:off x="7900416" y="3090672"/>
            <a:ext cx="201168" cy="182880"/>
          </a:xfrm>
          <a:prstGeom prst="rightArrow">
            <a:avLst/>
          </a:prstGeom>
          <a:solidFill>
            <a:srgbClr val="C3CBD5"/>
          </a:solidFill>
          <a:ln/>
        </p:spPr>
      </p:sp>
      <p:sp>
        <p:nvSpPr>
          <p:cNvPr id="19" name="Shape 15"/>
          <p:cNvSpPr/>
          <p:nvPr/>
        </p:nvSpPr>
        <p:spPr>
          <a:xfrm>
            <a:off x="8119872" y="2103120"/>
            <a:ext cx="3511296" cy="2148840"/>
          </a:xfrm>
          <a:prstGeom prst="roundRect">
            <a:avLst>
              <a:gd name="adj" fmla="val 3830"/>
            </a:avLst>
          </a:prstGeom>
          <a:solidFill>
            <a:srgbClr val="F6E0DC"/>
          </a:solidFill>
          <a:ln/>
        </p:spPr>
      </p:sp>
      <p:sp>
        <p:nvSpPr>
          <p:cNvPr id="20" name="Shape 16"/>
          <p:cNvSpPr/>
          <p:nvPr/>
        </p:nvSpPr>
        <p:spPr>
          <a:xfrm>
            <a:off x="8412480" y="2359152"/>
            <a:ext cx="548640" cy="548640"/>
          </a:xfrm>
          <a:prstGeom prst="ellipse">
            <a:avLst/>
          </a:prstGeom>
          <a:solidFill>
            <a:srgbClr val="FFFFFF"/>
          </a:solidFill>
          <a:ln/>
        </p:spPr>
      </p:sp>
      <p:pic>
        <p:nvPicPr>
          <p:cNvPr id="21" name="Image 2" descr="preencoded.png">    </p:cNvPr>
          <p:cNvPicPr>
            <a:picLocks noChangeAspect="1"/>
          </p:cNvPicPr>
          <p:nvPr/>
        </p:nvPicPr>
        <p:blipFill>
          <a:blip r:embed="rId3"/>
          <a:stretch>
            <a:fillRect/>
          </a:stretch>
        </p:blipFill>
        <p:spPr>
          <a:xfrm>
            <a:off x="8549640" y="2496312"/>
            <a:ext cx="274320" cy="274320"/>
          </a:xfrm>
          <a:prstGeom prst="rect">
            <a:avLst/>
          </a:prstGeom>
        </p:spPr>
      </p:pic>
      <p:sp>
        <p:nvSpPr>
          <p:cNvPr id="22" name="Text 17"/>
          <p:cNvSpPr/>
          <p:nvPr/>
        </p:nvSpPr>
        <p:spPr>
          <a:xfrm>
            <a:off x="9070848" y="2359152"/>
            <a:ext cx="2286000" cy="548640"/>
          </a:xfrm>
          <a:prstGeom prst="rect">
            <a:avLst/>
          </a:prstGeom>
          <a:noFill/>
          <a:ln/>
        </p:spPr>
        <p:txBody>
          <a:bodyPr wrap="square" lIns="0" tIns="0" rIns="0" bIns="0" rtlCol="0" anchor="ctr"/>
          <a:lstStyle/>
          <a:p>
            <a:pPr indent="0" marL="0">
              <a:buNone/>
            </a:pPr>
            <a:r>
              <a:rPr lang="en-US" sz="2000" b="1" dirty="0">
                <a:solidFill>
                  <a:srgbClr val="1B2430"/>
                </a:solidFill>
                <a:latin typeface="Cambria" pitchFamily="34" charset="0"/>
                <a:ea typeface="Cambria" pitchFamily="34" charset="-122"/>
                <a:cs typeface="Cambria" pitchFamily="34" charset="-120"/>
              </a:rPr>
              <a:t>Gate</a:t>
            </a:r>
            <a:endParaRPr lang="en-US" sz="2000" dirty="0"/>
          </a:p>
        </p:txBody>
      </p:sp>
      <p:sp>
        <p:nvSpPr>
          <p:cNvPr id="23" name="Text 18"/>
          <p:cNvSpPr/>
          <p:nvPr/>
        </p:nvSpPr>
        <p:spPr>
          <a:xfrm>
            <a:off x="8412480" y="3035808"/>
            <a:ext cx="2926080" cy="310896"/>
          </a:xfrm>
          <a:prstGeom prst="rect">
            <a:avLst/>
          </a:prstGeom>
          <a:noFill/>
          <a:ln/>
        </p:spPr>
        <p:txBody>
          <a:bodyPr wrap="square" lIns="0" tIns="0" rIns="0" bIns="0" rtlCol="0" anchor="ctr"/>
          <a:lstStyle/>
          <a:p>
            <a:pPr indent="0" marL="0">
              <a:buNone/>
            </a:pPr>
            <a:r>
              <a:rPr lang="en-US" sz="1250" b="1" dirty="0">
                <a:solidFill>
                  <a:srgbClr val="A6432F"/>
                </a:solidFill>
                <a:latin typeface="Calibri" pitchFamily="34" charset="0"/>
                <a:ea typeface="Calibri" pitchFamily="34" charset="-122"/>
                <a:cs typeface="Calibri" pitchFamily="34" charset="-120"/>
              </a:rPr>
              <a:t>Hard ceiling reached</a:t>
            </a:r>
            <a:endParaRPr lang="en-US" sz="1250" dirty="0"/>
          </a:p>
        </p:txBody>
      </p:sp>
      <p:sp>
        <p:nvSpPr>
          <p:cNvPr id="24" name="Text 19"/>
          <p:cNvSpPr/>
          <p:nvPr/>
        </p:nvSpPr>
        <p:spPr>
          <a:xfrm>
            <a:off x="8412480" y="3383280"/>
            <a:ext cx="2926080" cy="731520"/>
          </a:xfrm>
          <a:prstGeom prst="rect">
            <a:avLst/>
          </a:prstGeom>
          <a:noFill/>
          <a:ln/>
        </p:spPr>
        <p:txBody>
          <a:bodyPr wrap="square" lIns="0" tIns="0" rIns="0" bIns="0" rtlCol="0" anchor="t"/>
          <a:lstStyle/>
          <a:p>
            <a:pPr indent="0" marL="0">
              <a:lnSpc>
                <a:spcPts val="1600"/>
              </a:lnSpc>
              <a:buNone/>
            </a:pPr>
            <a:r>
              <a:rPr lang="en-US" sz="1250" dirty="0">
                <a:solidFill>
                  <a:srgbClr val="5C6675"/>
                </a:solidFill>
                <a:latin typeface="Calibri" pitchFamily="34" charset="0"/>
                <a:ea typeface="Calibri" pitchFamily="34" charset="-122"/>
                <a:cs typeface="Calibri" pitchFamily="34" charset="-120"/>
              </a:rPr>
              <a:t>New spend needs explicit approval, or the quota is capped.</a:t>
            </a:r>
            <a:endParaRPr lang="en-US" sz="1250" dirty="0"/>
          </a:p>
        </p:txBody>
      </p:sp>
      <p:sp>
        <p:nvSpPr>
          <p:cNvPr id="25" name="Shape 20"/>
          <p:cNvSpPr/>
          <p:nvPr/>
        </p:nvSpPr>
        <p:spPr>
          <a:xfrm>
            <a:off x="548640" y="4526280"/>
            <a:ext cx="11091672" cy="1783080"/>
          </a:xfrm>
          <a:prstGeom prst="roundRect">
            <a:avLst>
              <a:gd name="adj" fmla="val 4615"/>
            </a:avLst>
          </a:prstGeom>
          <a:solidFill>
            <a:srgbClr val="1F2936"/>
          </a:solidFill>
          <a:ln/>
          <a:effectLst>
            <a:outerShdw sx="100000" sy="100000" kx="0" ky="0" algn="bl" rotWithShape="0" blurRad="127000" dist="25400" dir="5400000">
              <a:srgbClr val="8C99A8">
                <a:alpha val="16000"/>
              </a:srgbClr>
            </a:outerShdw>
          </a:effectLst>
        </p:spPr>
      </p:sp>
      <p:sp>
        <p:nvSpPr>
          <p:cNvPr id="26" name="Text 21"/>
          <p:cNvSpPr/>
          <p:nvPr/>
        </p:nvSpPr>
        <p:spPr>
          <a:xfrm>
            <a:off x="877824" y="4681728"/>
            <a:ext cx="5486400" cy="310896"/>
          </a:xfrm>
          <a:prstGeom prst="rect">
            <a:avLst/>
          </a:prstGeom>
          <a:noFill/>
          <a:ln/>
        </p:spPr>
        <p:txBody>
          <a:bodyPr wrap="square" lIns="0" tIns="0" rIns="0" bIns="0" rtlCol="0" anchor="ctr"/>
          <a:lstStyle/>
          <a:p>
            <a:pPr indent="0" marL="0">
              <a:buNone/>
            </a:pPr>
            <a:r>
              <a:rPr lang="en-US" sz="1200" b="1" spc="180" kern="0" dirty="0">
                <a:solidFill>
                  <a:srgbClr val="E39B2C"/>
                </a:solidFill>
                <a:latin typeface="Calibri" pitchFamily="34" charset="0"/>
                <a:ea typeface="Calibri" pitchFamily="34" charset="-122"/>
                <a:cs typeface="Calibri" pitchFamily="34" charset="-120"/>
              </a:rPr>
              <a:t>Make it proportional, not flat</a:t>
            </a:r>
            <a:endParaRPr lang="en-US" sz="1200" dirty="0"/>
          </a:p>
        </p:txBody>
      </p:sp>
      <p:sp>
        <p:nvSpPr>
          <p:cNvPr id="27" name="Text 22"/>
          <p:cNvSpPr/>
          <p:nvPr/>
        </p:nvSpPr>
        <p:spPr>
          <a:xfrm>
            <a:off x="877824" y="5029200"/>
            <a:ext cx="10424160" cy="1097280"/>
          </a:xfrm>
          <a:prstGeom prst="rect">
            <a:avLst/>
          </a:prstGeom>
          <a:noFill/>
          <a:ln/>
        </p:spPr>
        <p:txBody>
          <a:bodyPr wrap="square" lIns="0" tIns="0" rIns="0" bIns="0" rtlCol="0" anchor="t"/>
          <a:lstStyle/>
          <a:p>
            <a:pPr indent="0" marL="0">
              <a:lnSpc>
                <a:spcPts val="2100"/>
              </a:lnSpc>
              <a:buNone/>
            </a:pPr>
            <a:r>
              <a:rPr lang="en-US" sz="1400" dirty="0">
                <a:solidFill>
                  <a:srgbClr val="FFFFFF"/>
                </a:solidFill>
                <a:latin typeface="Calibri" pitchFamily="34" charset="0"/>
                <a:ea typeface="Calibri" pitchFamily="34" charset="-122"/>
                <a:cs typeface="Calibri" pitchFamily="34" charset="-120"/>
              </a:rPr>
              <a:t>Day 10 of a 30-day month should be near a third of budget. At 60%, that is the alert. </a:t>
            </a:r>
            <a:pPr indent="0" marL="0">
              <a:lnSpc>
                <a:spcPts val="2100"/>
              </a:lnSpc>
              <a:buNone/>
            </a:pPr>
            <a:r>
              <a:rPr lang="en-US" sz="1400" dirty="0">
                <a:solidFill>
                  <a:srgbClr val="9EABBA"/>
                </a:solidFill>
                <a:latin typeface="Calibri" pitchFamily="34" charset="0"/>
                <a:ea typeface="Calibri" pitchFamily="34" charset="-122"/>
                <a:cs typeface="Calibri" pitchFamily="34" charset="-120"/>
              </a:rPr>
              <a:t>A flat “80% of budget” threshold fires on day 24 of a healthy month and day 8 of a catastrophic one — with equal urgency, and therefore equal indifference.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GOVERNANCE 3 — RATE LIMITS &amp; QUOTAS</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The only control fast enough to stop spend</a:t>
            </a:r>
            <a:endParaRPr lang="en-US" sz="3100" dirty="0"/>
          </a:p>
        </p:txBody>
      </p:sp>
      <p:sp>
        <p:nvSpPr>
          <p:cNvPr id="4" name="Shape 2"/>
          <p:cNvSpPr/>
          <p:nvPr/>
        </p:nvSpPr>
        <p:spPr>
          <a:xfrm>
            <a:off x="548640" y="1737360"/>
            <a:ext cx="5074920" cy="2395728"/>
          </a:xfrm>
          <a:prstGeom prst="roundRect">
            <a:avLst>
              <a:gd name="adj" fmla="val 3435"/>
            </a:avLst>
          </a:prstGeom>
          <a:solidFill>
            <a:srgbClr val="F1F3F6"/>
          </a:solidFill>
          <a:ln/>
        </p:spPr>
      </p:sp>
      <p:sp>
        <p:nvSpPr>
          <p:cNvPr id="5" name="Text 3"/>
          <p:cNvSpPr/>
          <p:nvPr/>
        </p:nvSpPr>
        <p:spPr>
          <a:xfrm>
            <a:off x="859536" y="1883664"/>
            <a:ext cx="4389120" cy="310896"/>
          </a:xfrm>
          <a:prstGeom prst="rect">
            <a:avLst/>
          </a:prstGeom>
          <a:noFill/>
          <a:ln/>
        </p:spPr>
        <p:txBody>
          <a:bodyPr wrap="square" lIns="0" tIns="0" rIns="0" bIns="0" rtlCol="0" anchor="ctr"/>
          <a:lstStyle/>
          <a:p>
            <a:pPr indent="0" marL="0">
              <a:buNone/>
            </a:pPr>
            <a:r>
              <a:rPr lang="en-US" sz="1200" b="1" spc="180" kern="0" dirty="0">
                <a:solidFill>
                  <a:srgbClr val="5C6675"/>
                </a:solidFill>
                <a:latin typeface="Calibri" pitchFamily="34" charset="0"/>
                <a:ea typeface="Calibri" pitchFamily="34" charset="-122"/>
                <a:cs typeface="Calibri" pitchFamily="34" charset="-120"/>
              </a:rPr>
              <a:t>How fast each signal moves</a:t>
            </a:r>
            <a:endParaRPr lang="en-US" sz="1200" dirty="0"/>
          </a:p>
        </p:txBody>
      </p:sp>
      <p:sp>
        <p:nvSpPr>
          <p:cNvPr id="6" name="Text 4"/>
          <p:cNvSpPr/>
          <p:nvPr/>
        </p:nvSpPr>
        <p:spPr>
          <a:xfrm>
            <a:off x="859536" y="2304288"/>
            <a:ext cx="1828800" cy="310896"/>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Billing data</a:t>
            </a:r>
            <a:endParaRPr lang="en-US" sz="1250" dirty="0"/>
          </a:p>
        </p:txBody>
      </p:sp>
      <p:sp>
        <p:nvSpPr>
          <p:cNvPr id="7" name="Shape 5"/>
          <p:cNvSpPr/>
          <p:nvPr/>
        </p:nvSpPr>
        <p:spPr>
          <a:xfrm>
            <a:off x="2761488" y="2395728"/>
            <a:ext cx="2651760" cy="146304"/>
          </a:xfrm>
          <a:prstGeom prst="roundRect">
            <a:avLst>
              <a:gd name="adj" fmla="val 50000"/>
            </a:avLst>
          </a:prstGeom>
          <a:solidFill>
            <a:srgbClr val="C3CBD5"/>
          </a:solidFill>
          <a:ln/>
        </p:spPr>
      </p:sp>
      <p:sp>
        <p:nvSpPr>
          <p:cNvPr id="8" name="Text 6"/>
          <p:cNvSpPr/>
          <p:nvPr/>
        </p:nvSpPr>
        <p:spPr>
          <a:xfrm>
            <a:off x="859536" y="2578608"/>
            <a:ext cx="4389120" cy="274320"/>
          </a:xfrm>
          <a:prstGeom prst="rect">
            <a:avLst/>
          </a:prstGeom>
          <a:noFill/>
          <a:ln/>
        </p:spPr>
        <p:txBody>
          <a:bodyPr wrap="square" lIns="0" tIns="0" rIns="0" bIns="0" rtlCol="0" anchor="ctr"/>
          <a:lstStyle/>
          <a:p>
            <a:pPr indent="0" marL="0">
              <a:buNone/>
            </a:pPr>
            <a:r>
              <a:rPr lang="en-US" sz="1150" b="1" dirty="0">
                <a:solidFill>
                  <a:srgbClr val="5C6675"/>
                </a:solidFill>
                <a:latin typeface="Calibri" pitchFamily="34" charset="0"/>
                <a:ea typeface="Calibri" pitchFamily="34" charset="-122"/>
                <a:cs typeface="Calibri" pitchFamily="34" charset="-120"/>
              </a:rPr>
              <a:t>24–48h behind</a:t>
            </a:r>
            <a:endParaRPr lang="en-US" sz="1150" dirty="0"/>
          </a:p>
        </p:txBody>
      </p:sp>
      <p:sp>
        <p:nvSpPr>
          <p:cNvPr id="9" name="Text 7"/>
          <p:cNvSpPr/>
          <p:nvPr/>
        </p:nvSpPr>
        <p:spPr>
          <a:xfrm>
            <a:off x="859536" y="2907792"/>
            <a:ext cx="1828800" cy="310896"/>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Utilization metrics</a:t>
            </a:r>
            <a:endParaRPr lang="en-US" sz="1250" dirty="0"/>
          </a:p>
        </p:txBody>
      </p:sp>
      <p:sp>
        <p:nvSpPr>
          <p:cNvPr id="10" name="Shape 8"/>
          <p:cNvSpPr/>
          <p:nvPr/>
        </p:nvSpPr>
        <p:spPr>
          <a:xfrm>
            <a:off x="2761488" y="2999232"/>
            <a:ext cx="749808" cy="146304"/>
          </a:xfrm>
          <a:prstGeom prst="roundRect">
            <a:avLst>
              <a:gd name="adj" fmla="val 50000"/>
            </a:avLst>
          </a:prstGeom>
          <a:solidFill>
            <a:srgbClr val="E39B2C"/>
          </a:solidFill>
          <a:ln/>
        </p:spPr>
      </p:sp>
      <p:sp>
        <p:nvSpPr>
          <p:cNvPr id="11" name="Text 9"/>
          <p:cNvSpPr/>
          <p:nvPr/>
        </p:nvSpPr>
        <p:spPr>
          <a:xfrm>
            <a:off x="859536" y="3182112"/>
            <a:ext cx="4389120" cy="274320"/>
          </a:xfrm>
          <a:prstGeom prst="rect">
            <a:avLst/>
          </a:prstGeom>
          <a:noFill/>
          <a:ln/>
        </p:spPr>
        <p:txBody>
          <a:bodyPr wrap="square" lIns="0" tIns="0" rIns="0" bIns="0" rtlCol="0" anchor="ctr"/>
          <a:lstStyle/>
          <a:p>
            <a:pPr indent="0" marL="0">
              <a:buNone/>
            </a:pPr>
            <a:r>
              <a:rPr lang="en-US" sz="1150" b="1" dirty="0">
                <a:solidFill>
                  <a:srgbClr val="5C6675"/>
                </a:solidFill>
                <a:latin typeface="Calibri" pitchFamily="34" charset="0"/>
                <a:ea typeface="Calibri" pitchFamily="34" charset="-122"/>
                <a:cs typeface="Calibri" pitchFamily="34" charset="-120"/>
              </a:rPr>
              <a:t>~5 minutes</a:t>
            </a:r>
            <a:endParaRPr lang="en-US" sz="1150" dirty="0"/>
          </a:p>
        </p:txBody>
      </p:sp>
      <p:sp>
        <p:nvSpPr>
          <p:cNvPr id="12" name="Text 10"/>
          <p:cNvSpPr/>
          <p:nvPr/>
        </p:nvSpPr>
        <p:spPr>
          <a:xfrm>
            <a:off x="859536" y="3511296"/>
            <a:ext cx="1828800" cy="310896"/>
          </a:xfrm>
          <a:prstGeom prst="rect">
            <a:avLst/>
          </a:prstGeom>
          <a:noFill/>
          <a:ln/>
        </p:spPr>
        <p:txBody>
          <a:bodyPr wrap="square" lIns="0" tIns="0" rIns="0" bIns="0" rtlCol="0" anchor="ctr"/>
          <a:lstStyle/>
          <a:p>
            <a:pPr indent="0" marL="0">
              <a:buNone/>
            </a:pPr>
            <a:r>
              <a:rPr lang="en-US" sz="1250" dirty="0">
                <a:solidFill>
                  <a:srgbClr val="1B2430"/>
                </a:solidFill>
                <a:latin typeface="Calibri" pitchFamily="34" charset="0"/>
                <a:ea typeface="Calibri" pitchFamily="34" charset="-122"/>
                <a:cs typeface="Calibri" pitchFamily="34" charset="-120"/>
              </a:rPr>
              <a:t>Application telemetry</a:t>
            </a:r>
            <a:endParaRPr lang="en-US" sz="1250" dirty="0"/>
          </a:p>
        </p:txBody>
      </p:sp>
      <p:sp>
        <p:nvSpPr>
          <p:cNvPr id="13" name="Shape 11"/>
          <p:cNvSpPr/>
          <p:nvPr/>
        </p:nvSpPr>
        <p:spPr>
          <a:xfrm>
            <a:off x="2761488" y="3602736"/>
            <a:ext cx="274320" cy="146304"/>
          </a:xfrm>
          <a:prstGeom prst="roundRect">
            <a:avLst>
              <a:gd name="adj" fmla="val 50000"/>
            </a:avLst>
          </a:prstGeom>
          <a:solidFill>
            <a:srgbClr val="2E8B7A"/>
          </a:solidFill>
          <a:ln/>
        </p:spPr>
      </p:sp>
      <p:sp>
        <p:nvSpPr>
          <p:cNvPr id="14" name="Text 12"/>
          <p:cNvSpPr/>
          <p:nvPr/>
        </p:nvSpPr>
        <p:spPr>
          <a:xfrm>
            <a:off x="859536" y="3785616"/>
            <a:ext cx="4389120" cy="274320"/>
          </a:xfrm>
          <a:prstGeom prst="rect">
            <a:avLst/>
          </a:prstGeom>
          <a:noFill/>
          <a:ln/>
        </p:spPr>
        <p:txBody>
          <a:bodyPr wrap="square" lIns="0" tIns="0" rIns="0" bIns="0" rtlCol="0" anchor="ctr"/>
          <a:lstStyle/>
          <a:p>
            <a:pPr indent="0" marL="0">
              <a:buNone/>
            </a:pPr>
            <a:r>
              <a:rPr lang="en-US" sz="1150" b="1" dirty="0">
                <a:solidFill>
                  <a:srgbClr val="5C6675"/>
                </a:solidFill>
                <a:latin typeface="Calibri" pitchFamily="34" charset="0"/>
                <a:ea typeface="Calibri" pitchFamily="34" charset="-122"/>
                <a:cs typeface="Calibri" pitchFamily="34" charset="-120"/>
              </a:rPr>
              <a:t>seconds</a:t>
            </a:r>
            <a:endParaRPr lang="en-US" sz="1150" dirty="0"/>
          </a:p>
        </p:txBody>
      </p:sp>
      <p:sp>
        <p:nvSpPr>
          <p:cNvPr id="15" name="Shape 13"/>
          <p:cNvSpPr/>
          <p:nvPr/>
        </p:nvSpPr>
        <p:spPr>
          <a:xfrm>
            <a:off x="5971032" y="1737360"/>
            <a:ext cx="5669280" cy="2395728"/>
          </a:xfrm>
          <a:prstGeom prst="roundRect">
            <a:avLst>
              <a:gd name="adj" fmla="val 3435"/>
            </a:avLst>
          </a:prstGeom>
          <a:solidFill>
            <a:srgbClr val="1F2936"/>
          </a:solidFill>
          <a:ln/>
          <a:effectLst>
            <a:outerShdw sx="100000" sy="100000" kx="0" ky="0" algn="bl" rotWithShape="0" blurRad="127000" dist="25400" dir="5400000">
              <a:srgbClr val="8C99A8">
                <a:alpha val="16000"/>
              </a:srgbClr>
            </a:outerShdw>
          </a:effectLst>
        </p:spPr>
      </p:sp>
      <p:sp>
        <p:nvSpPr>
          <p:cNvPr id="16" name="Text 14"/>
          <p:cNvSpPr/>
          <p:nvPr/>
        </p:nvSpPr>
        <p:spPr>
          <a:xfrm>
            <a:off x="6263640" y="1847088"/>
            <a:ext cx="5084064" cy="2176272"/>
          </a:xfrm>
          <a:prstGeom prst="rect">
            <a:avLst/>
          </a:prstGeom>
          <a:noFill/>
          <a:ln/>
        </p:spPr>
        <p:txBody>
          <a:bodyPr wrap="square" lIns="0" tIns="0" rIns="0" bIns="0" rtlCol="0" anchor="ctr"/>
          <a:lstStyle/>
          <a:p>
            <a:pPr indent="0" marL="0">
              <a:lnSpc>
                <a:spcPts val="2000"/>
              </a:lnSpc>
              <a:buNone/>
            </a:pPr>
            <a:r>
              <a:rPr lang="en-US" sz="1500" i="1" dirty="0">
                <a:solidFill>
                  <a:srgbClr val="FFFFFF"/>
                </a:solidFill>
                <a:latin typeface="Cambria" pitchFamily="34" charset="0"/>
                <a:ea typeface="Cambria" pitchFamily="34" charset="-122"/>
                <a:cs typeface="Cambria" pitchFamily="34" charset="-120"/>
              </a:rPr>
              <a:t>“A cost alert cannot save you from a runaway job. By the time actual cost moves, you have already spent the money.”</a:t>
            </a:r>
            <a:endParaRPr lang="en-US" sz="1500" dirty="0"/>
          </a:p>
        </p:txBody>
      </p:sp>
      <p:sp>
        <p:nvSpPr>
          <p:cNvPr id="17" name="Shape 15"/>
          <p:cNvSpPr/>
          <p:nvPr/>
        </p:nvSpPr>
        <p:spPr>
          <a:xfrm>
            <a:off x="548640" y="4617720"/>
            <a:ext cx="457200" cy="457200"/>
          </a:xfrm>
          <a:prstGeom prst="ellipse">
            <a:avLst/>
          </a:prstGeom>
          <a:solidFill>
            <a:srgbClr val="FBEFD8"/>
          </a:solidFill>
          <a:ln/>
        </p:spPr>
      </p:sp>
      <p:pic>
        <p:nvPicPr>
          <p:cNvPr id="18" name="Image 0" descr="preencoded.png">    </p:cNvPr>
          <p:cNvPicPr>
            <a:picLocks noChangeAspect="1"/>
          </p:cNvPicPr>
          <p:nvPr/>
        </p:nvPicPr>
        <p:blipFill>
          <a:blip r:embed="rId1"/>
          <a:stretch>
            <a:fillRect/>
          </a:stretch>
        </p:blipFill>
        <p:spPr>
          <a:xfrm>
            <a:off x="662940" y="4732020"/>
            <a:ext cx="228600" cy="228600"/>
          </a:xfrm>
          <a:prstGeom prst="rect">
            <a:avLst/>
          </a:prstGeom>
        </p:spPr>
      </p:pic>
      <p:sp>
        <p:nvSpPr>
          <p:cNvPr id="19" name="Text 16"/>
          <p:cNvSpPr/>
          <p:nvPr/>
        </p:nvSpPr>
        <p:spPr>
          <a:xfrm>
            <a:off x="1261872" y="4389120"/>
            <a:ext cx="4681728" cy="914400"/>
          </a:xfrm>
          <a:prstGeom prst="rect">
            <a:avLst/>
          </a:prstGeom>
          <a:noFill/>
          <a:ln/>
        </p:spPr>
        <p:txBody>
          <a:bodyPr wrap="square" lIns="0" tIns="0" rIns="0" bIns="0" rtlCol="0" anchor="ctr"/>
          <a:lstStyle/>
          <a:p>
            <a:pPr indent="0" marL="0">
              <a:lnSpc>
                <a:spcPts val="1600"/>
              </a:lnSpc>
              <a:buNone/>
            </a:pPr>
            <a:r>
              <a:rPr lang="en-US" sz="1400" b="1" dirty="0">
                <a:solidFill>
                  <a:srgbClr val="1B2430"/>
                </a:solidFill>
                <a:latin typeface="Calibri" pitchFamily="34" charset="0"/>
                <a:ea typeface="Calibri" pitchFamily="34" charset="-122"/>
                <a:cs typeface="Calibri" pitchFamily="34" charset="-120"/>
              </a:rPr>
              <a:t>Per-deployment quotas</a:t>
            </a:r>
            <a:endParaRPr lang="en-US" sz="1400" dirty="0"/>
          </a:p>
          <a:p>
            <a:pPr indent="0" marL="0">
              <a:lnSpc>
                <a:spcPts val="1600"/>
              </a:lnSpc>
              <a:buNone/>
            </a:pPr>
            <a:r>
              <a:rPr lang="en-US" sz="1200" dirty="0">
                <a:solidFill>
                  <a:srgbClr val="5C6675"/>
                </a:solidFill>
                <a:latin typeface="Calibri" pitchFamily="34" charset="0"/>
                <a:ea typeface="Calibri" pitchFamily="34" charset="-122"/>
                <a:cs typeface="Calibri" pitchFamily="34" charset="-120"/>
              </a:rPr>
              <a:t>Cap tokens or requests per minute on each deployment.</a:t>
            </a:r>
            <a:endParaRPr lang="en-US" sz="1400" dirty="0"/>
          </a:p>
        </p:txBody>
      </p:sp>
      <p:sp>
        <p:nvSpPr>
          <p:cNvPr id="20" name="Shape 17"/>
          <p:cNvSpPr/>
          <p:nvPr/>
        </p:nvSpPr>
        <p:spPr>
          <a:xfrm>
            <a:off x="6245352" y="4617720"/>
            <a:ext cx="457200" cy="457200"/>
          </a:xfrm>
          <a:prstGeom prst="ellipse">
            <a:avLst/>
          </a:prstGeom>
          <a:solidFill>
            <a:srgbClr val="FBEFD8"/>
          </a:solidFill>
          <a:ln/>
        </p:spPr>
      </p:sp>
      <p:pic>
        <p:nvPicPr>
          <p:cNvPr id="21" name="Image 1" descr="preencoded.png">    </p:cNvPr>
          <p:cNvPicPr>
            <a:picLocks noChangeAspect="1"/>
          </p:cNvPicPr>
          <p:nvPr/>
        </p:nvPicPr>
        <p:blipFill>
          <a:blip r:embed="rId2"/>
          <a:stretch>
            <a:fillRect/>
          </a:stretch>
        </p:blipFill>
        <p:spPr>
          <a:xfrm>
            <a:off x="6359652" y="4732020"/>
            <a:ext cx="228600" cy="228600"/>
          </a:xfrm>
          <a:prstGeom prst="rect">
            <a:avLst/>
          </a:prstGeom>
        </p:spPr>
      </p:pic>
      <p:sp>
        <p:nvSpPr>
          <p:cNvPr id="22" name="Text 18"/>
          <p:cNvSpPr/>
          <p:nvPr/>
        </p:nvSpPr>
        <p:spPr>
          <a:xfrm>
            <a:off x="6958584" y="4389120"/>
            <a:ext cx="4681728" cy="914400"/>
          </a:xfrm>
          <a:prstGeom prst="rect">
            <a:avLst/>
          </a:prstGeom>
          <a:noFill/>
          <a:ln/>
        </p:spPr>
        <p:txBody>
          <a:bodyPr wrap="square" lIns="0" tIns="0" rIns="0" bIns="0" rtlCol="0" anchor="ctr"/>
          <a:lstStyle/>
          <a:p>
            <a:pPr indent="0" marL="0">
              <a:lnSpc>
                <a:spcPts val="1600"/>
              </a:lnSpc>
              <a:buNone/>
            </a:pPr>
            <a:r>
              <a:rPr lang="en-US" sz="1400" b="1" dirty="0">
                <a:solidFill>
                  <a:srgbClr val="1B2430"/>
                </a:solidFill>
                <a:latin typeface="Calibri" pitchFamily="34" charset="0"/>
                <a:ea typeface="Calibri" pitchFamily="34" charset="-122"/>
                <a:cs typeface="Calibri" pitchFamily="34" charset="-120"/>
              </a:rPr>
              <a:t>Gateway throttling</a:t>
            </a:r>
            <a:endParaRPr lang="en-US" sz="1400" dirty="0"/>
          </a:p>
          <a:p>
            <a:pPr indent="0" marL="0">
              <a:lnSpc>
                <a:spcPts val="1600"/>
              </a:lnSpc>
              <a:buNone/>
            </a:pPr>
            <a:r>
              <a:rPr lang="en-US" sz="1200" dirty="0">
                <a:solidFill>
                  <a:srgbClr val="5C6675"/>
                </a:solidFill>
                <a:latin typeface="Calibri" pitchFamily="34" charset="0"/>
                <a:ea typeface="Calibri" pitchFamily="34" charset="-122"/>
                <a:cs typeface="Calibri" pitchFamily="34" charset="-120"/>
              </a:rPr>
              <a:t>Rate-limit per consumer key, so one client cannot drain the shared pool.</a:t>
            </a:r>
            <a:endParaRPr lang="en-US" sz="1400" dirty="0"/>
          </a:p>
        </p:txBody>
      </p:sp>
      <p:sp>
        <p:nvSpPr>
          <p:cNvPr id="23" name="Shape 19"/>
          <p:cNvSpPr/>
          <p:nvPr/>
        </p:nvSpPr>
        <p:spPr>
          <a:xfrm>
            <a:off x="548640" y="5715000"/>
            <a:ext cx="457200" cy="457200"/>
          </a:xfrm>
          <a:prstGeom prst="ellipse">
            <a:avLst/>
          </a:prstGeom>
          <a:solidFill>
            <a:srgbClr val="FBEFD8"/>
          </a:solidFill>
          <a:ln/>
        </p:spPr>
      </p:sp>
      <p:pic>
        <p:nvPicPr>
          <p:cNvPr id="24" name="Image 2" descr="preencoded.png">    </p:cNvPr>
          <p:cNvPicPr>
            <a:picLocks noChangeAspect="1"/>
          </p:cNvPicPr>
          <p:nvPr/>
        </p:nvPicPr>
        <p:blipFill>
          <a:blip r:embed="rId3"/>
          <a:stretch>
            <a:fillRect/>
          </a:stretch>
        </p:blipFill>
        <p:spPr>
          <a:xfrm>
            <a:off x="662940" y="5829300"/>
            <a:ext cx="228600" cy="228600"/>
          </a:xfrm>
          <a:prstGeom prst="rect">
            <a:avLst/>
          </a:prstGeom>
        </p:spPr>
      </p:pic>
      <p:sp>
        <p:nvSpPr>
          <p:cNvPr id="25" name="Text 20"/>
          <p:cNvSpPr/>
          <p:nvPr/>
        </p:nvSpPr>
        <p:spPr>
          <a:xfrm>
            <a:off x="1261872" y="5486400"/>
            <a:ext cx="4681728" cy="914400"/>
          </a:xfrm>
          <a:prstGeom prst="rect">
            <a:avLst/>
          </a:prstGeom>
          <a:noFill/>
          <a:ln/>
        </p:spPr>
        <p:txBody>
          <a:bodyPr wrap="square" lIns="0" tIns="0" rIns="0" bIns="0" rtlCol="0" anchor="ctr"/>
          <a:lstStyle/>
          <a:p>
            <a:pPr indent="0" marL="0">
              <a:lnSpc>
                <a:spcPts val="1600"/>
              </a:lnSpc>
              <a:buNone/>
            </a:pPr>
            <a:r>
              <a:rPr lang="en-US" sz="1400" b="1" dirty="0">
                <a:solidFill>
                  <a:srgbClr val="1B2430"/>
                </a:solidFill>
                <a:latin typeface="Calibri" pitchFamily="34" charset="0"/>
                <a:ea typeface="Calibri" pitchFamily="34" charset="-122"/>
                <a:cs typeface="Calibri" pitchFamily="34" charset="-120"/>
              </a:rPr>
              <a:t>Autoscale ceilings</a:t>
            </a:r>
            <a:endParaRPr lang="en-US" sz="1400" dirty="0"/>
          </a:p>
          <a:p>
            <a:pPr indent="0" marL="0">
              <a:lnSpc>
                <a:spcPts val="1600"/>
              </a:lnSpc>
              <a:buNone/>
            </a:pPr>
            <a:r>
              <a:rPr lang="en-US" sz="1200" dirty="0">
                <a:solidFill>
                  <a:srgbClr val="5C6675"/>
                </a:solidFill>
                <a:latin typeface="Calibri" pitchFamily="34" charset="0"/>
                <a:ea typeface="Calibri" pitchFamily="34" charset="-122"/>
                <a:cs typeface="Calibri" pitchFamily="34" charset="-120"/>
              </a:rPr>
              <a:t>A maximum instance count on every scale set. Scaling is not a budget.</a:t>
            </a:r>
            <a:endParaRPr lang="en-US" sz="1400" dirty="0"/>
          </a:p>
        </p:txBody>
      </p:sp>
      <p:sp>
        <p:nvSpPr>
          <p:cNvPr id="26" name="Shape 21"/>
          <p:cNvSpPr/>
          <p:nvPr/>
        </p:nvSpPr>
        <p:spPr>
          <a:xfrm>
            <a:off x="6245352" y="5715000"/>
            <a:ext cx="457200" cy="457200"/>
          </a:xfrm>
          <a:prstGeom prst="ellipse">
            <a:avLst/>
          </a:prstGeom>
          <a:solidFill>
            <a:srgbClr val="FBEFD8"/>
          </a:solidFill>
          <a:ln/>
        </p:spPr>
      </p:sp>
      <p:pic>
        <p:nvPicPr>
          <p:cNvPr id="27" name="Image 3" descr="preencoded.png">    </p:cNvPr>
          <p:cNvPicPr>
            <a:picLocks noChangeAspect="1"/>
          </p:cNvPicPr>
          <p:nvPr/>
        </p:nvPicPr>
        <p:blipFill>
          <a:blip r:embed="rId4"/>
          <a:stretch>
            <a:fillRect/>
          </a:stretch>
        </p:blipFill>
        <p:spPr>
          <a:xfrm>
            <a:off x="6359652" y="5829300"/>
            <a:ext cx="228600" cy="228600"/>
          </a:xfrm>
          <a:prstGeom prst="rect">
            <a:avLst/>
          </a:prstGeom>
        </p:spPr>
      </p:pic>
      <p:sp>
        <p:nvSpPr>
          <p:cNvPr id="28" name="Text 22"/>
          <p:cNvSpPr/>
          <p:nvPr/>
        </p:nvSpPr>
        <p:spPr>
          <a:xfrm>
            <a:off x="6958584" y="5486400"/>
            <a:ext cx="4681728" cy="914400"/>
          </a:xfrm>
          <a:prstGeom prst="rect">
            <a:avLst/>
          </a:prstGeom>
          <a:noFill/>
          <a:ln/>
        </p:spPr>
        <p:txBody>
          <a:bodyPr wrap="square" lIns="0" tIns="0" rIns="0" bIns="0" rtlCol="0" anchor="ctr"/>
          <a:lstStyle/>
          <a:p>
            <a:pPr indent="0" marL="0">
              <a:lnSpc>
                <a:spcPts val="1600"/>
              </a:lnSpc>
              <a:buNone/>
            </a:pPr>
            <a:r>
              <a:rPr lang="en-US" sz="1400" b="1" dirty="0">
                <a:solidFill>
                  <a:srgbClr val="1B2430"/>
                </a:solidFill>
                <a:latin typeface="Calibri" pitchFamily="34" charset="0"/>
                <a:ea typeface="Calibri" pitchFamily="34" charset="-122"/>
                <a:cs typeface="Calibri" pitchFamily="34" charset="-120"/>
              </a:rPr>
              <a:t>Non-prod shutdown</a:t>
            </a:r>
            <a:endParaRPr lang="en-US" sz="1400" dirty="0"/>
          </a:p>
          <a:p>
            <a:pPr indent="0" marL="0">
              <a:lnSpc>
                <a:spcPts val="1600"/>
              </a:lnSpc>
              <a:buNone/>
            </a:pPr>
            <a:r>
              <a:rPr lang="en-US" sz="1200" dirty="0">
                <a:solidFill>
                  <a:srgbClr val="5C6675"/>
                </a:solidFill>
                <a:latin typeface="Calibri" pitchFamily="34" charset="0"/>
                <a:ea typeface="Calibri" pitchFamily="34" charset="-122"/>
                <a:cs typeface="Calibri" pitchFamily="34" charset="-120"/>
              </a:rPr>
              <a:t>Scheduled stop outside working hours — the cheapest saving available.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1A22"/>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GOVERNANCE 4 — AUTOMATED ALERTS</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Three tiers, three destinations</a:t>
            </a:r>
            <a:endParaRPr lang="en-US" sz="3100" dirty="0"/>
          </a:p>
        </p:txBody>
      </p:sp>
      <p:sp>
        <p:nvSpPr>
          <p:cNvPr id="4" name="Text 2"/>
          <p:cNvSpPr/>
          <p:nvPr/>
        </p:nvSpPr>
        <p:spPr>
          <a:xfrm>
            <a:off x="548640" y="1536192"/>
            <a:ext cx="10607040" cy="365760"/>
          </a:xfrm>
          <a:prstGeom prst="rect">
            <a:avLst/>
          </a:prstGeom>
          <a:noFill/>
          <a:ln/>
        </p:spPr>
        <p:txBody>
          <a:bodyPr wrap="square" lIns="0" tIns="0" rIns="0" bIns="0" rtlCol="0" anchor="ctr"/>
          <a:lstStyle/>
          <a:p>
            <a:pPr indent="0" marL="0">
              <a:buNone/>
            </a:pPr>
            <a:r>
              <a:rPr lang="en-US" sz="1500" dirty="0">
                <a:solidFill>
                  <a:srgbClr val="9EABBA"/>
                </a:solidFill>
                <a:latin typeface="Calibri" pitchFamily="34" charset="0"/>
                <a:ea typeface="Calibri" pitchFamily="34" charset="-122"/>
                <a:cs typeface="Calibri" pitchFamily="34" charset="-120"/>
              </a:rPr>
              <a:t>Sort alerts by what they can actually prevent — then route them accordingly.</a:t>
            </a:r>
            <a:endParaRPr lang="en-US" sz="1500" dirty="0"/>
          </a:p>
        </p:txBody>
      </p:sp>
      <p:sp>
        <p:nvSpPr>
          <p:cNvPr id="5" name="Text 3"/>
          <p:cNvSpPr/>
          <p:nvPr/>
        </p:nvSpPr>
        <p:spPr>
          <a:xfrm>
            <a:off x="859536" y="2103120"/>
            <a:ext cx="2194560" cy="274320"/>
          </a:xfrm>
          <a:prstGeom prst="rect">
            <a:avLst/>
          </a:prstGeom>
          <a:noFill/>
          <a:ln/>
        </p:spPr>
        <p:txBody>
          <a:bodyPr wrap="square" lIns="0" tIns="0" rIns="0" bIns="0" rtlCol="0" anchor="ctr"/>
          <a:lstStyle/>
          <a:p>
            <a:pPr indent="0" marL="0">
              <a:buNone/>
            </a:pPr>
            <a:r>
              <a:rPr lang="en-US" sz="1100" b="1" spc="160" kern="0" dirty="0">
                <a:solidFill>
                  <a:srgbClr val="E39B2C"/>
                </a:solidFill>
                <a:latin typeface="Calibri" pitchFamily="34" charset="0"/>
                <a:ea typeface="Calibri" pitchFamily="34" charset="-122"/>
                <a:cs typeface="Calibri" pitchFamily="34" charset="-120"/>
              </a:rPr>
              <a:t>Tier</a:t>
            </a:r>
            <a:endParaRPr lang="en-US" sz="1100" dirty="0"/>
          </a:p>
        </p:txBody>
      </p:sp>
      <p:sp>
        <p:nvSpPr>
          <p:cNvPr id="6" name="Text 4"/>
          <p:cNvSpPr/>
          <p:nvPr/>
        </p:nvSpPr>
        <p:spPr>
          <a:xfrm>
            <a:off x="3200400" y="2103120"/>
            <a:ext cx="2926080" cy="274320"/>
          </a:xfrm>
          <a:prstGeom prst="rect">
            <a:avLst/>
          </a:prstGeom>
          <a:noFill/>
          <a:ln/>
        </p:spPr>
        <p:txBody>
          <a:bodyPr wrap="square" lIns="0" tIns="0" rIns="0" bIns="0" rtlCol="0" anchor="ctr"/>
          <a:lstStyle/>
          <a:p>
            <a:pPr indent="0" marL="0">
              <a:buNone/>
            </a:pPr>
            <a:r>
              <a:rPr lang="en-US" sz="1100" b="1" spc="160" kern="0" dirty="0">
                <a:solidFill>
                  <a:srgbClr val="E39B2C"/>
                </a:solidFill>
                <a:latin typeface="Calibri" pitchFamily="34" charset="0"/>
                <a:ea typeface="Calibri" pitchFamily="34" charset="-122"/>
                <a:cs typeface="Calibri" pitchFamily="34" charset="-120"/>
              </a:rPr>
              <a:t>Built on</a:t>
            </a:r>
            <a:endParaRPr lang="en-US" sz="1100" dirty="0"/>
          </a:p>
        </p:txBody>
      </p:sp>
      <p:sp>
        <p:nvSpPr>
          <p:cNvPr id="7" name="Text 5"/>
          <p:cNvSpPr/>
          <p:nvPr/>
        </p:nvSpPr>
        <p:spPr>
          <a:xfrm>
            <a:off x="6309360" y="2103120"/>
            <a:ext cx="1737360" cy="274320"/>
          </a:xfrm>
          <a:prstGeom prst="rect">
            <a:avLst/>
          </a:prstGeom>
          <a:noFill/>
          <a:ln/>
        </p:spPr>
        <p:txBody>
          <a:bodyPr wrap="square" lIns="0" tIns="0" rIns="0" bIns="0" rtlCol="0" anchor="ctr"/>
          <a:lstStyle/>
          <a:p>
            <a:pPr indent="0" marL="0">
              <a:buNone/>
            </a:pPr>
            <a:r>
              <a:rPr lang="en-US" sz="1100" b="1" spc="160" kern="0" dirty="0">
                <a:solidFill>
                  <a:srgbClr val="E39B2C"/>
                </a:solidFill>
                <a:latin typeface="Calibri" pitchFamily="34" charset="0"/>
                <a:ea typeface="Calibri" pitchFamily="34" charset="-122"/>
                <a:cs typeface="Calibri" pitchFamily="34" charset="-120"/>
              </a:rPr>
              <a:t>Latency</a:t>
            </a:r>
            <a:endParaRPr lang="en-US" sz="1100" dirty="0"/>
          </a:p>
        </p:txBody>
      </p:sp>
      <p:sp>
        <p:nvSpPr>
          <p:cNvPr id="8" name="Text 6"/>
          <p:cNvSpPr/>
          <p:nvPr/>
        </p:nvSpPr>
        <p:spPr>
          <a:xfrm>
            <a:off x="8229600" y="2103120"/>
            <a:ext cx="3017520" cy="274320"/>
          </a:xfrm>
          <a:prstGeom prst="rect">
            <a:avLst/>
          </a:prstGeom>
          <a:noFill/>
          <a:ln/>
        </p:spPr>
        <p:txBody>
          <a:bodyPr wrap="square" lIns="0" tIns="0" rIns="0" bIns="0" rtlCol="0" anchor="ctr"/>
          <a:lstStyle/>
          <a:p>
            <a:pPr indent="0" marL="0">
              <a:buNone/>
            </a:pPr>
            <a:r>
              <a:rPr lang="en-US" sz="1100" b="1" spc="160" kern="0" dirty="0">
                <a:solidFill>
                  <a:srgbClr val="E39B2C"/>
                </a:solidFill>
                <a:latin typeface="Calibri" pitchFamily="34" charset="0"/>
                <a:ea typeface="Calibri" pitchFamily="34" charset="-122"/>
                <a:cs typeface="Calibri" pitchFamily="34" charset="-120"/>
              </a:rPr>
              <a:t>Routes to</a:t>
            </a:r>
            <a:endParaRPr lang="en-US" sz="1100" dirty="0"/>
          </a:p>
        </p:txBody>
      </p:sp>
      <p:sp>
        <p:nvSpPr>
          <p:cNvPr id="9" name="Shape 7"/>
          <p:cNvSpPr/>
          <p:nvPr/>
        </p:nvSpPr>
        <p:spPr>
          <a:xfrm>
            <a:off x="548640" y="2487168"/>
            <a:ext cx="11091672" cy="841248"/>
          </a:xfrm>
          <a:prstGeom prst="roundRect">
            <a:avLst>
              <a:gd name="adj" fmla="val 9783"/>
            </a:avLst>
          </a:prstGeom>
          <a:solidFill>
            <a:srgbClr val="1F2936"/>
          </a:solidFill>
          <a:ln/>
        </p:spPr>
      </p:sp>
      <p:sp>
        <p:nvSpPr>
          <p:cNvPr id="10" name="Text 8"/>
          <p:cNvSpPr/>
          <p:nvPr/>
        </p:nvSpPr>
        <p:spPr>
          <a:xfrm>
            <a:off x="859536" y="2487168"/>
            <a:ext cx="2194560" cy="841248"/>
          </a:xfrm>
          <a:prstGeom prst="rect">
            <a:avLst/>
          </a:prstGeom>
          <a:noFill/>
          <a:ln/>
        </p:spPr>
        <p:txBody>
          <a:bodyPr wrap="square" lIns="0" tIns="0" rIns="0" bIns="0" rtlCol="0" anchor="ctr"/>
          <a:lstStyle/>
          <a:p>
            <a:pPr indent="0" marL="0">
              <a:buNone/>
            </a:pPr>
            <a:r>
              <a:rPr lang="en-US" sz="1800" b="1" dirty="0">
                <a:solidFill>
                  <a:srgbClr val="E39B2C"/>
                </a:solidFill>
                <a:latin typeface="Cambria" pitchFamily="34" charset="0"/>
                <a:ea typeface="Cambria" pitchFamily="34" charset="-122"/>
                <a:cs typeface="Cambria" pitchFamily="34" charset="-120"/>
              </a:rPr>
              <a:t>Protective</a:t>
            </a:r>
            <a:endParaRPr lang="en-US" sz="1800" dirty="0"/>
          </a:p>
        </p:txBody>
      </p:sp>
      <p:sp>
        <p:nvSpPr>
          <p:cNvPr id="11" name="Text 9"/>
          <p:cNvSpPr/>
          <p:nvPr/>
        </p:nvSpPr>
        <p:spPr>
          <a:xfrm>
            <a:off x="3200400" y="2487168"/>
            <a:ext cx="2926080" cy="8412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Tokens, utilization, error rates</a:t>
            </a:r>
            <a:endParaRPr lang="en-US" sz="1300" dirty="0"/>
          </a:p>
        </p:txBody>
      </p:sp>
      <p:sp>
        <p:nvSpPr>
          <p:cNvPr id="12" name="Text 10"/>
          <p:cNvSpPr/>
          <p:nvPr/>
        </p:nvSpPr>
        <p:spPr>
          <a:xfrm>
            <a:off x="6309360" y="2487168"/>
            <a:ext cx="1737360" cy="841248"/>
          </a:xfrm>
          <a:prstGeom prst="rect">
            <a:avLst/>
          </a:prstGeom>
          <a:noFill/>
          <a:ln/>
        </p:spPr>
        <p:txBody>
          <a:bodyPr wrap="square" lIns="0" tIns="0" rIns="0" bIns="0" rtlCol="0" anchor="ctr"/>
          <a:lstStyle/>
          <a:p>
            <a:pPr indent="0" marL="0">
              <a:buNone/>
            </a:pPr>
            <a:r>
              <a:rPr lang="en-US" sz="1300" b="1" dirty="0">
                <a:solidFill>
                  <a:srgbClr val="9EABBA"/>
                </a:solidFill>
                <a:latin typeface="Calibri" pitchFamily="34" charset="0"/>
                <a:ea typeface="Calibri" pitchFamily="34" charset="-122"/>
                <a:cs typeface="Calibri" pitchFamily="34" charset="-120"/>
              </a:rPr>
              <a:t>minutes</a:t>
            </a:r>
            <a:endParaRPr lang="en-US" sz="1300" dirty="0"/>
          </a:p>
        </p:txBody>
      </p:sp>
      <p:sp>
        <p:nvSpPr>
          <p:cNvPr id="13" name="Text 11"/>
          <p:cNvSpPr/>
          <p:nvPr/>
        </p:nvSpPr>
        <p:spPr>
          <a:xfrm>
            <a:off x="8229600" y="2487168"/>
            <a:ext cx="3017520" cy="841248"/>
          </a:xfrm>
          <a:prstGeom prst="rect">
            <a:avLst/>
          </a:prstGeom>
          <a:noFill/>
          <a:ln/>
        </p:spPr>
        <p:txBody>
          <a:bodyPr wrap="square" lIns="0" tIns="0" rIns="0" bIns="0" rtlCol="0" anchor="ctr"/>
          <a:lstStyle/>
          <a:p>
            <a:pPr indent="0" marL="0">
              <a:buNone/>
            </a:pPr>
            <a:r>
              <a:rPr lang="en-US" sz="1300" dirty="0">
                <a:solidFill>
                  <a:srgbClr val="9EABBA"/>
                </a:solidFill>
                <a:latin typeface="Calibri" pitchFamily="34" charset="0"/>
                <a:ea typeface="Calibri" pitchFamily="34" charset="-122"/>
                <a:cs typeface="Calibri" pitchFamily="34" charset="-120"/>
              </a:rPr>
              <a:t>On-call — page it</a:t>
            </a:r>
            <a:endParaRPr lang="en-US" sz="1300" dirty="0"/>
          </a:p>
        </p:txBody>
      </p:sp>
      <p:sp>
        <p:nvSpPr>
          <p:cNvPr id="14" name="Shape 12"/>
          <p:cNvSpPr/>
          <p:nvPr/>
        </p:nvSpPr>
        <p:spPr>
          <a:xfrm>
            <a:off x="548640" y="3419856"/>
            <a:ext cx="11091672" cy="841248"/>
          </a:xfrm>
          <a:prstGeom prst="roundRect">
            <a:avLst>
              <a:gd name="adj" fmla="val 9783"/>
            </a:avLst>
          </a:prstGeom>
          <a:solidFill>
            <a:srgbClr val="1F2936"/>
          </a:solidFill>
          <a:ln/>
        </p:spPr>
      </p:sp>
      <p:sp>
        <p:nvSpPr>
          <p:cNvPr id="15" name="Text 13"/>
          <p:cNvSpPr/>
          <p:nvPr/>
        </p:nvSpPr>
        <p:spPr>
          <a:xfrm>
            <a:off x="859536" y="3419856"/>
            <a:ext cx="2194560" cy="841248"/>
          </a:xfrm>
          <a:prstGeom prst="rect">
            <a:avLst/>
          </a:prstGeom>
          <a:noFill/>
          <a:ln/>
        </p:spPr>
        <p:txBody>
          <a:bodyPr wrap="square" lIns="0" tIns="0" rIns="0" bIns="0" rtlCol="0" anchor="ctr"/>
          <a:lstStyle/>
          <a:p>
            <a:pPr indent="0" marL="0">
              <a:buNone/>
            </a:pPr>
            <a:r>
              <a:rPr lang="en-US" sz="1800" b="1" dirty="0">
                <a:solidFill>
                  <a:srgbClr val="2E8B7A"/>
                </a:solidFill>
                <a:latin typeface="Cambria" pitchFamily="34" charset="0"/>
                <a:ea typeface="Cambria" pitchFamily="34" charset="-122"/>
                <a:cs typeface="Cambria" pitchFamily="34" charset="-120"/>
              </a:rPr>
              <a:t>Budget</a:t>
            </a:r>
            <a:endParaRPr lang="en-US" sz="1800" dirty="0"/>
          </a:p>
        </p:txBody>
      </p:sp>
      <p:sp>
        <p:nvSpPr>
          <p:cNvPr id="16" name="Text 14"/>
          <p:cNvSpPr/>
          <p:nvPr/>
        </p:nvSpPr>
        <p:spPr>
          <a:xfrm>
            <a:off x="3200400" y="3419856"/>
            <a:ext cx="2926080" cy="8412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Billing data</a:t>
            </a:r>
            <a:endParaRPr lang="en-US" sz="1300" dirty="0"/>
          </a:p>
        </p:txBody>
      </p:sp>
      <p:sp>
        <p:nvSpPr>
          <p:cNvPr id="17" name="Text 15"/>
          <p:cNvSpPr/>
          <p:nvPr/>
        </p:nvSpPr>
        <p:spPr>
          <a:xfrm>
            <a:off x="6309360" y="3419856"/>
            <a:ext cx="1737360" cy="841248"/>
          </a:xfrm>
          <a:prstGeom prst="rect">
            <a:avLst/>
          </a:prstGeom>
          <a:noFill/>
          <a:ln/>
        </p:spPr>
        <p:txBody>
          <a:bodyPr wrap="square" lIns="0" tIns="0" rIns="0" bIns="0" rtlCol="0" anchor="ctr"/>
          <a:lstStyle/>
          <a:p>
            <a:pPr indent="0" marL="0">
              <a:buNone/>
            </a:pPr>
            <a:r>
              <a:rPr lang="en-US" sz="1300" b="1" dirty="0">
                <a:solidFill>
                  <a:srgbClr val="9EABBA"/>
                </a:solidFill>
                <a:latin typeface="Calibri" pitchFamily="34" charset="0"/>
                <a:ea typeface="Calibri" pitchFamily="34" charset="-122"/>
                <a:cs typeface="Calibri" pitchFamily="34" charset="-120"/>
              </a:rPr>
              <a:t>24–48 hours</a:t>
            </a:r>
            <a:endParaRPr lang="en-US" sz="1300" dirty="0"/>
          </a:p>
        </p:txBody>
      </p:sp>
      <p:sp>
        <p:nvSpPr>
          <p:cNvPr id="18" name="Text 16"/>
          <p:cNvSpPr/>
          <p:nvPr/>
        </p:nvSpPr>
        <p:spPr>
          <a:xfrm>
            <a:off x="8229600" y="3419856"/>
            <a:ext cx="3017520" cy="841248"/>
          </a:xfrm>
          <a:prstGeom prst="rect">
            <a:avLst/>
          </a:prstGeom>
          <a:noFill/>
          <a:ln/>
        </p:spPr>
        <p:txBody>
          <a:bodyPr wrap="square" lIns="0" tIns="0" rIns="0" bIns="0" rtlCol="0" anchor="ctr"/>
          <a:lstStyle/>
          <a:p>
            <a:pPr indent="0" marL="0">
              <a:buNone/>
            </a:pPr>
            <a:r>
              <a:rPr lang="en-US" sz="1300" dirty="0">
                <a:solidFill>
                  <a:srgbClr val="9EABBA"/>
                </a:solidFill>
                <a:latin typeface="Calibri" pitchFamily="34" charset="0"/>
                <a:ea typeface="Calibri" pitchFamily="34" charset="-122"/>
                <a:cs typeface="Calibri" pitchFamily="34" charset="-120"/>
              </a:rPr>
              <a:t>Team channel, weekly digest</a:t>
            </a:r>
            <a:endParaRPr lang="en-US" sz="1300" dirty="0"/>
          </a:p>
        </p:txBody>
      </p:sp>
      <p:sp>
        <p:nvSpPr>
          <p:cNvPr id="19" name="Shape 17"/>
          <p:cNvSpPr/>
          <p:nvPr/>
        </p:nvSpPr>
        <p:spPr>
          <a:xfrm>
            <a:off x="548640" y="4352544"/>
            <a:ext cx="11091672" cy="841248"/>
          </a:xfrm>
          <a:prstGeom prst="roundRect">
            <a:avLst>
              <a:gd name="adj" fmla="val 9783"/>
            </a:avLst>
          </a:prstGeom>
          <a:solidFill>
            <a:srgbClr val="1F2936"/>
          </a:solidFill>
          <a:ln/>
        </p:spPr>
      </p:sp>
      <p:sp>
        <p:nvSpPr>
          <p:cNvPr id="20" name="Text 18"/>
          <p:cNvSpPr/>
          <p:nvPr/>
        </p:nvSpPr>
        <p:spPr>
          <a:xfrm>
            <a:off x="859536" y="4352544"/>
            <a:ext cx="2194560" cy="841248"/>
          </a:xfrm>
          <a:prstGeom prst="rect">
            <a:avLst/>
          </a:prstGeom>
          <a:noFill/>
          <a:ln/>
        </p:spPr>
        <p:txBody>
          <a:bodyPr wrap="square" lIns="0" tIns="0" rIns="0" bIns="0" rtlCol="0" anchor="ctr"/>
          <a:lstStyle/>
          <a:p>
            <a:pPr indent="0" marL="0">
              <a:buNone/>
            </a:pPr>
            <a:r>
              <a:rPr lang="en-US" sz="1800" b="1" dirty="0">
                <a:solidFill>
                  <a:srgbClr val="8C9AAC"/>
                </a:solidFill>
                <a:latin typeface="Cambria" pitchFamily="34" charset="0"/>
                <a:ea typeface="Cambria" pitchFamily="34" charset="-122"/>
                <a:cs typeface="Cambria" pitchFamily="34" charset="-120"/>
              </a:rPr>
              <a:t>Advisory</a:t>
            </a:r>
            <a:endParaRPr lang="en-US" sz="1800" dirty="0"/>
          </a:p>
        </p:txBody>
      </p:sp>
      <p:sp>
        <p:nvSpPr>
          <p:cNvPr id="21" name="Text 19"/>
          <p:cNvSpPr/>
          <p:nvPr/>
        </p:nvSpPr>
        <p:spPr>
          <a:xfrm>
            <a:off x="3200400" y="4352544"/>
            <a:ext cx="2926080" cy="84124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Billing plus forecast</a:t>
            </a:r>
            <a:endParaRPr lang="en-US" sz="1300" dirty="0"/>
          </a:p>
        </p:txBody>
      </p:sp>
      <p:sp>
        <p:nvSpPr>
          <p:cNvPr id="22" name="Text 20"/>
          <p:cNvSpPr/>
          <p:nvPr/>
        </p:nvSpPr>
        <p:spPr>
          <a:xfrm>
            <a:off x="6309360" y="4352544"/>
            <a:ext cx="1737360" cy="841248"/>
          </a:xfrm>
          <a:prstGeom prst="rect">
            <a:avLst/>
          </a:prstGeom>
          <a:noFill/>
          <a:ln/>
        </p:spPr>
        <p:txBody>
          <a:bodyPr wrap="square" lIns="0" tIns="0" rIns="0" bIns="0" rtlCol="0" anchor="ctr"/>
          <a:lstStyle/>
          <a:p>
            <a:pPr indent="0" marL="0">
              <a:buNone/>
            </a:pPr>
            <a:r>
              <a:rPr lang="en-US" sz="1300" b="1" dirty="0">
                <a:solidFill>
                  <a:srgbClr val="9EABBA"/>
                </a:solidFill>
                <a:latin typeface="Calibri" pitchFamily="34" charset="0"/>
                <a:ea typeface="Calibri" pitchFamily="34" charset="-122"/>
                <a:cs typeface="Calibri" pitchFamily="34" charset="-120"/>
              </a:rPr>
              <a:t>daily</a:t>
            </a:r>
            <a:endParaRPr lang="en-US" sz="1300" dirty="0"/>
          </a:p>
        </p:txBody>
      </p:sp>
      <p:sp>
        <p:nvSpPr>
          <p:cNvPr id="23" name="Text 21"/>
          <p:cNvSpPr/>
          <p:nvPr/>
        </p:nvSpPr>
        <p:spPr>
          <a:xfrm>
            <a:off x="8229600" y="4352544"/>
            <a:ext cx="3017520" cy="841248"/>
          </a:xfrm>
          <a:prstGeom prst="rect">
            <a:avLst/>
          </a:prstGeom>
          <a:noFill/>
          <a:ln/>
        </p:spPr>
        <p:txBody>
          <a:bodyPr wrap="square" lIns="0" tIns="0" rIns="0" bIns="0" rtlCol="0" anchor="ctr"/>
          <a:lstStyle/>
          <a:p>
            <a:pPr indent="0" marL="0">
              <a:buNone/>
            </a:pPr>
            <a:r>
              <a:rPr lang="en-US" sz="1300" dirty="0">
                <a:solidFill>
                  <a:srgbClr val="9EABBA"/>
                </a:solidFill>
                <a:latin typeface="Calibri" pitchFamily="34" charset="0"/>
                <a:ea typeface="Calibri" pitchFamily="34" charset="-122"/>
                <a:cs typeface="Calibri" pitchFamily="34" charset="-120"/>
              </a:rPr>
              <a:t>A ticket. Never a page.</a:t>
            </a:r>
            <a:endParaRPr lang="en-US" sz="1300" dirty="0"/>
          </a:p>
        </p:txBody>
      </p:sp>
      <p:sp>
        <p:nvSpPr>
          <p:cNvPr id="24" name="Shape 22"/>
          <p:cNvSpPr/>
          <p:nvPr/>
        </p:nvSpPr>
        <p:spPr>
          <a:xfrm>
            <a:off x="548640" y="5394960"/>
            <a:ext cx="3511296" cy="1051560"/>
          </a:xfrm>
          <a:prstGeom prst="roundRect">
            <a:avLst>
              <a:gd name="adj" fmla="val 7826"/>
            </a:avLst>
          </a:prstGeom>
          <a:solidFill>
            <a:srgbClr val="1A222C"/>
          </a:solidFill>
          <a:ln/>
        </p:spPr>
      </p:sp>
      <p:sp>
        <p:nvSpPr>
          <p:cNvPr id="25" name="Shape 23"/>
          <p:cNvSpPr/>
          <p:nvPr/>
        </p:nvSpPr>
        <p:spPr>
          <a:xfrm>
            <a:off x="804672" y="5614416"/>
            <a:ext cx="420624" cy="420624"/>
          </a:xfrm>
          <a:prstGeom prst="ellipse">
            <a:avLst/>
          </a:prstGeom>
          <a:solidFill>
            <a:srgbClr val="2E3A48"/>
          </a:solidFill>
          <a:ln/>
        </p:spPr>
      </p:sp>
      <p:pic>
        <p:nvPicPr>
          <p:cNvPr id="26" name="Image 0" descr="preencoded.png">    </p:cNvPr>
          <p:cNvPicPr>
            <a:picLocks noChangeAspect="1"/>
          </p:cNvPicPr>
          <p:nvPr/>
        </p:nvPicPr>
        <p:blipFill>
          <a:blip r:embed="rId1"/>
          <a:stretch>
            <a:fillRect/>
          </a:stretch>
        </p:blipFill>
        <p:spPr>
          <a:xfrm>
            <a:off x="909828" y="5719572"/>
            <a:ext cx="210312" cy="210312"/>
          </a:xfrm>
          <a:prstGeom prst="rect">
            <a:avLst/>
          </a:prstGeom>
        </p:spPr>
      </p:pic>
      <p:sp>
        <p:nvSpPr>
          <p:cNvPr id="27" name="Text 24"/>
          <p:cNvSpPr/>
          <p:nvPr/>
        </p:nvSpPr>
        <p:spPr>
          <a:xfrm>
            <a:off x="1335024" y="5468112"/>
            <a:ext cx="2560320" cy="914400"/>
          </a:xfrm>
          <a:prstGeom prst="rect">
            <a:avLst/>
          </a:prstGeom>
          <a:noFill/>
          <a:ln/>
        </p:spPr>
        <p:txBody>
          <a:bodyPr wrap="square" lIns="0" tIns="0" rIns="0" bIns="0" rtlCol="0" anchor="ctr"/>
          <a:lstStyle/>
          <a:p>
            <a:pPr indent="0" marL="0">
              <a:lnSpc>
                <a:spcPts val="1400"/>
              </a:lnSpc>
              <a:buNone/>
            </a:pPr>
            <a:r>
              <a:rPr lang="en-US" sz="1250" b="1" dirty="0">
                <a:solidFill>
                  <a:srgbClr val="FFFFFF"/>
                </a:solidFill>
                <a:latin typeface="Calibri" pitchFamily="34" charset="0"/>
                <a:ea typeface="Calibri" pitchFamily="34" charset="-122"/>
                <a:cs typeface="Calibri" pitchFamily="34" charset="-120"/>
              </a:rPr>
              <a:t>Never page on a budget threshold</a:t>
            </a:r>
            <a:endParaRPr lang="en-US" sz="1250" dirty="0"/>
          </a:p>
          <a:p>
            <a:pPr indent="0" marL="0">
              <a:lnSpc>
                <a:spcPts val="1400"/>
              </a:lnSpc>
              <a:buNone/>
            </a:pPr>
            <a:r>
              <a:rPr lang="en-US" sz="1100" dirty="0">
                <a:solidFill>
                  <a:srgbClr val="9EABBA"/>
                </a:solidFill>
                <a:latin typeface="Calibri" pitchFamily="34" charset="0"/>
                <a:ea typeface="Calibri" pitchFamily="34" charset="-122"/>
                <a:cs typeface="Calibri" pitchFamily="34" charset="-120"/>
              </a:rPr>
              <a:t>You are waking someone about a fact they cannot change.</a:t>
            </a:r>
            <a:endParaRPr lang="en-US" sz="1250" dirty="0"/>
          </a:p>
        </p:txBody>
      </p:sp>
      <p:sp>
        <p:nvSpPr>
          <p:cNvPr id="28" name="Shape 25"/>
          <p:cNvSpPr/>
          <p:nvPr/>
        </p:nvSpPr>
        <p:spPr>
          <a:xfrm>
            <a:off x="4334256" y="5394960"/>
            <a:ext cx="3511296" cy="1051560"/>
          </a:xfrm>
          <a:prstGeom prst="roundRect">
            <a:avLst>
              <a:gd name="adj" fmla="val 7826"/>
            </a:avLst>
          </a:prstGeom>
          <a:solidFill>
            <a:srgbClr val="1A222C"/>
          </a:solidFill>
          <a:ln/>
        </p:spPr>
      </p:sp>
      <p:sp>
        <p:nvSpPr>
          <p:cNvPr id="29" name="Shape 26"/>
          <p:cNvSpPr/>
          <p:nvPr/>
        </p:nvSpPr>
        <p:spPr>
          <a:xfrm>
            <a:off x="4590288" y="5614416"/>
            <a:ext cx="420624" cy="420624"/>
          </a:xfrm>
          <a:prstGeom prst="ellipse">
            <a:avLst/>
          </a:prstGeom>
          <a:solidFill>
            <a:srgbClr val="2E3A48"/>
          </a:solidFill>
          <a:ln/>
        </p:spPr>
      </p:sp>
      <p:pic>
        <p:nvPicPr>
          <p:cNvPr id="30" name="Image 1" descr="preencoded.png">    </p:cNvPr>
          <p:cNvPicPr>
            <a:picLocks noChangeAspect="1"/>
          </p:cNvPicPr>
          <p:nvPr/>
        </p:nvPicPr>
        <p:blipFill>
          <a:blip r:embed="rId2"/>
          <a:stretch>
            <a:fillRect/>
          </a:stretch>
        </p:blipFill>
        <p:spPr>
          <a:xfrm>
            <a:off x="4695444" y="5719572"/>
            <a:ext cx="210312" cy="210312"/>
          </a:xfrm>
          <a:prstGeom prst="rect">
            <a:avLst/>
          </a:prstGeom>
        </p:spPr>
      </p:pic>
      <p:sp>
        <p:nvSpPr>
          <p:cNvPr id="31" name="Text 27"/>
          <p:cNvSpPr/>
          <p:nvPr/>
        </p:nvSpPr>
        <p:spPr>
          <a:xfrm>
            <a:off x="5120640" y="5468112"/>
            <a:ext cx="2560320" cy="914400"/>
          </a:xfrm>
          <a:prstGeom prst="rect">
            <a:avLst/>
          </a:prstGeom>
          <a:noFill/>
          <a:ln/>
        </p:spPr>
        <p:txBody>
          <a:bodyPr wrap="square" lIns="0" tIns="0" rIns="0" bIns="0" rtlCol="0" anchor="ctr"/>
          <a:lstStyle/>
          <a:p>
            <a:pPr indent="0" marL="0">
              <a:lnSpc>
                <a:spcPts val="1400"/>
              </a:lnSpc>
              <a:buNone/>
            </a:pPr>
            <a:r>
              <a:rPr lang="en-US" sz="1250" b="1" dirty="0">
                <a:solidFill>
                  <a:srgbClr val="FFFFFF"/>
                </a:solidFill>
                <a:latin typeface="Calibri" pitchFamily="34" charset="0"/>
                <a:ea typeface="Calibri" pitchFamily="34" charset="-122"/>
                <a:cs typeface="Calibri" pitchFamily="34" charset="-120"/>
              </a:rPr>
              <a:t>A muted alert is worse than none</a:t>
            </a:r>
            <a:endParaRPr lang="en-US" sz="1250" dirty="0"/>
          </a:p>
          <a:p>
            <a:pPr indent="0" marL="0">
              <a:lnSpc>
                <a:spcPts val="1400"/>
              </a:lnSpc>
              <a:buNone/>
            </a:pPr>
            <a:r>
              <a:rPr lang="en-US" sz="1100" dirty="0">
                <a:solidFill>
                  <a:srgbClr val="9EABBA"/>
                </a:solidFill>
                <a:latin typeface="Calibri" pitchFamily="34" charset="0"/>
                <a:ea typeface="Calibri" pitchFamily="34" charset="-122"/>
                <a:cs typeface="Calibri" pitchFamily="34" charset="-120"/>
              </a:rPr>
              <a:t>It leaves the false confidence that something is watching.</a:t>
            </a:r>
            <a:endParaRPr lang="en-US" sz="1250" dirty="0"/>
          </a:p>
        </p:txBody>
      </p:sp>
      <p:sp>
        <p:nvSpPr>
          <p:cNvPr id="32" name="Shape 28"/>
          <p:cNvSpPr/>
          <p:nvPr/>
        </p:nvSpPr>
        <p:spPr>
          <a:xfrm>
            <a:off x="8119872" y="5394960"/>
            <a:ext cx="3511296" cy="1051560"/>
          </a:xfrm>
          <a:prstGeom prst="roundRect">
            <a:avLst>
              <a:gd name="adj" fmla="val 7826"/>
            </a:avLst>
          </a:prstGeom>
          <a:solidFill>
            <a:srgbClr val="1A222C"/>
          </a:solidFill>
          <a:ln/>
        </p:spPr>
      </p:sp>
      <p:sp>
        <p:nvSpPr>
          <p:cNvPr id="33" name="Shape 29"/>
          <p:cNvSpPr/>
          <p:nvPr/>
        </p:nvSpPr>
        <p:spPr>
          <a:xfrm>
            <a:off x="8375904" y="5614416"/>
            <a:ext cx="420624" cy="420624"/>
          </a:xfrm>
          <a:prstGeom prst="ellipse">
            <a:avLst/>
          </a:prstGeom>
          <a:solidFill>
            <a:srgbClr val="2E3A48"/>
          </a:solidFill>
          <a:ln/>
        </p:spPr>
      </p:sp>
      <p:pic>
        <p:nvPicPr>
          <p:cNvPr id="34" name="Image 2" descr="preencoded.png">    </p:cNvPr>
          <p:cNvPicPr>
            <a:picLocks noChangeAspect="1"/>
          </p:cNvPicPr>
          <p:nvPr/>
        </p:nvPicPr>
        <p:blipFill>
          <a:blip r:embed="rId3"/>
          <a:stretch>
            <a:fillRect/>
          </a:stretch>
        </p:blipFill>
        <p:spPr>
          <a:xfrm>
            <a:off x="8481060" y="5719572"/>
            <a:ext cx="210312" cy="210312"/>
          </a:xfrm>
          <a:prstGeom prst="rect">
            <a:avLst/>
          </a:prstGeom>
        </p:spPr>
      </p:pic>
      <p:sp>
        <p:nvSpPr>
          <p:cNvPr id="35" name="Text 30"/>
          <p:cNvSpPr/>
          <p:nvPr/>
        </p:nvSpPr>
        <p:spPr>
          <a:xfrm>
            <a:off x="8906256" y="5468112"/>
            <a:ext cx="2560320" cy="914400"/>
          </a:xfrm>
          <a:prstGeom prst="rect">
            <a:avLst/>
          </a:prstGeom>
          <a:noFill/>
          <a:ln/>
        </p:spPr>
        <p:txBody>
          <a:bodyPr wrap="square" lIns="0" tIns="0" rIns="0" bIns="0" rtlCol="0" anchor="ctr"/>
          <a:lstStyle/>
          <a:p>
            <a:pPr indent="0" marL="0">
              <a:lnSpc>
                <a:spcPts val="1400"/>
              </a:lnSpc>
              <a:buNone/>
            </a:pPr>
            <a:r>
              <a:rPr lang="en-US" sz="1250" b="1" dirty="0">
                <a:solidFill>
                  <a:srgbClr val="FFFFFF"/>
                </a:solidFill>
                <a:latin typeface="Calibri" pitchFamily="34" charset="0"/>
                <a:ea typeface="Calibri" pitchFamily="34" charset="-122"/>
                <a:cs typeface="Calibri" pitchFamily="34" charset="-120"/>
              </a:rPr>
              <a:t>Alert on silence too</a:t>
            </a:r>
            <a:endParaRPr lang="en-US" sz="1250" dirty="0"/>
          </a:p>
          <a:p>
            <a:pPr indent="0" marL="0">
              <a:lnSpc>
                <a:spcPts val="1400"/>
              </a:lnSpc>
              <a:buNone/>
            </a:pPr>
            <a:r>
              <a:rPr lang="en-US" sz="1100" dirty="0">
                <a:solidFill>
                  <a:srgbClr val="9EABBA"/>
                </a:solidFill>
                <a:latin typeface="Calibri" pitchFamily="34" charset="0"/>
                <a:ea typeface="Calibri" pitchFamily="34" charset="-122"/>
                <a:cs typeface="Calibri" pitchFamily="34" charset="-120"/>
              </a:rPr>
              <a:t>A stopped data feed reads exactly like a healthy month.</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GOVERNANCE 5 — SHARED RESPONSIBILITY</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Who decides, who builds, who pays</a:t>
            </a:r>
            <a:endParaRPr lang="en-US" sz="3100" dirty="0"/>
          </a:p>
        </p:txBody>
      </p:sp>
      <p:sp>
        <p:nvSpPr>
          <p:cNvPr id="4" name="Text 2"/>
          <p:cNvSpPr/>
          <p:nvPr/>
        </p:nvSpPr>
        <p:spPr>
          <a:xfrm>
            <a:off x="548640" y="1536192"/>
            <a:ext cx="10607040" cy="365760"/>
          </a:xfrm>
          <a:prstGeom prst="rect">
            <a:avLst/>
          </a:prstGeom>
          <a:noFill/>
          <a:ln/>
        </p:spPr>
        <p:txBody>
          <a:bodyPr wrap="square" lIns="0" tIns="0" rIns="0" bIns="0" rtlCol="0" anchor="ctr"/>
          <a:lstStyle/>
          <a:p>
            <a:pPr indent="0" marL="0">
              <a:buNone/>
            </a:pPr>
            <a:r>
              <a:rPr lang="en-US" sz="1500" dirty="0">
                <a:solidFill>
                  <a:srgbClr val="5C6675"/>
                </a:solidFill>
                <a:latin typeface="Calibri" pitchFamily="34" charset="0"/>
                <a:ea typeface="Calibri" pitchFamily="34" charset="-122"/>
                <a:cs typeface="Calibri" pitchFamily="34" charset="-120"/>
              </a:rPr>
              <a:t>FinOps fails when it is one team's job. These are the four parties and what each one owns.</a:t>
            </a:r>
            <a:endParaRPr lang="en-US" sz="1500" dirty="0"/>
          </a:p>
        </p:txBody>
      </p:sp>
      <p:sp>
        <p:nvSpPr>
          <p:cNvPr id="5" name="Text 3"/>
          <p:cNvSpPr/>
          <p:nvPr/>
        </p:nvSpPr>
        <p:spPr>
          <a:xfrm>
            <a:off x="4343400" y="2121408"/>
            <a:ext cx="1783080" cy="329184"/>
          </a:xfrm>
          <a:prstGeom prst="rect">
            <a:avLst/>
          </a:prstGeom>
          <a:noFill/>
          <a:ln/>
        </p:spPr>
        <p:txBody>
          <a:bodyPr wrap="square" lIns="0" tIns="0" rIns="0" bIns="0" rtlCol="0" anchor="ctr"/>
          <a:lstStyle/>
          <a:p>
            <a:pPr algn="ctr" indent="0" marL="0">
              <a:buNone/>
            </a:pPr>
            <a:r>
              <a:rPr lang="en-US" sz="1200" b="1" spc="80" kern="0" dirty="0">
                <a:solidFill>
                  <a:srgbClr val="5C6675"/>
                </a:solidFill>
                <a:latin typeface="Calibri" pitchFamily="34" charset="0"/>
                <a:ea typeface="Calibri" pitchFamily="34" charset="-122"/>
                <a:cs typeface="Calibri" pitchFamily="34" charset="-120"/>
              </a:rPr>
              <a:t>Finance</a:t>
            </a:r>
            <a:endParaRPr lang="en-US" sz="1200" dirty="0"/>
          </a:p>
        </p:txBody>
      </p:sp>
      <p:sp>
        <p:nvSpPr>
          <p:cNvPr id="6" name="Text 4"/>
          <p:cNvSpPr/>
          <p:nvPr/>
        </p:nvSpPr>
        <p:spPr>
          <a:xfrm>
            <a:off x="6245352" y="2121408"/>
            <a:ext cx="1783080" cy="329184"/>
          </a:xfrm>
          <a:prstGeom prst="rect">
            <a:avLst/>
          </a:prstGeom>
          <a:noFill/>
          <a:ln/>
        </p:spPr>
        <p:txBody>
          <a:bodyPr wrap="square" lIns="0" tIns="0" rIns="0" bIns="0" rtlCol="0" anchor="ctr"/>
          <a:lstStyle/>
          <a:p>
            <a:pPr algn="ctr" indent="0" marL="0">
              <a:buNone/>
            </a:pPr>
            <a:r>
              <a:rPr lang="en-US" sz="1200" b="1" spc="80" kern="0" dirty="0">
                <a:solidFill>
                  <a:srgbClr val="5C6675"/>
                </a:solidFill>
                <a:latin typeface="Calibri" pitchFamily="34" charset="0"/>
                <a:ea typeface="Calibri" pitchFamily="34" charset="-122"/>
                <a:cs typeface="Calibri" pitchFamily="34" charset="-120"/>
              </a:rPr>
              <a:t>FinOps / Platform</a:t>
            </a:r>
            <a:endParaRPr lang="en-US" sz="1200" dirty="0"/>
          </a:p>
        </p:txBody>
      </p:sp>
      <p:sp>
        <p:nvSpPr>
          <p:cNvPr id="7" name="Text 5"/>
          <p:cNvSpPr/>
          <p:nvPr/>
        </p:nvSpPr>
        <p:spPr>
          <a:xfrm>
            <a:off x="8147304" y="2121408"/>
            <a:ext cx="1783080" cy="329184"/>
          </a:xfrm>
          <a:prstGeom prst="rect">
            <a:avLst/>
          </a:prstGeom>
          <a:noFill/>
          <a:ln/>
        </p:spPr>
        <p:txBody>
          <a:bodyPr wrap="square" lIns="0" tIns="0" rIns="0" bIns="0" rtlCol="0" anchor="ctr"/>
          <a:lstStyle/>
          <a:p>
            <a:pPr algn="ctr" indent="0" marL="0">
              <a:buNone/>
            </a:pPr>
            <a:r>
              <a:rPr lang="en-US" sz="1200" b="1" spc="80" kern="0" dirty="0">
                <a:solidFill>
                  <a:srgbClr val="5C6675"/>
                </a:solidFill>
                <a:latin typeface="Calibri" pitchFamily="34" charset="0"/>
                <a:ea typeface="Calibri" pitchFamily="34" charset="-122"/>
                <a:cs typeface="Calibri" pitchFamily="34" charset="-120"/>
              </a:rPr>
              <a:t>Engineering</a:t>
            </a:r>
            <a:endParaRPr lang="en-US" sz="1200" dirty="0"/>
          </a:p>
        </p:txBody>
      </p:sp>
      <p:sp>
        <p:nvSpPr>
          <p:cNvPr id="8" name="Text 6"/>
          <p:cNvSpPr/>
          <p:nvPr/>
        </p:nvSpPr>
        <p:spPr>
          <a:xfrm>
            <a:off x="10049256" y="2121408"/>
            <a:ext cx="1783080" cy="329184"/>
          </a:xfrm>
          <a:prstGeom prst="rect">
            <a:avLst/>
          </a:prstGeom>
          <a:noFill/>
          <a:ln/>
        </p:spPr>
        <p:txBody>
          <a:bodyPr wrap="square" lIns="0" tIns="0" rIns="0" bIns="0" rtlCol="0" anchor="ctr"/>
          <a:lstStyle/>
          <a:p>
            <a:pPr algn="ctr" indent="0" marL="0">
              <a:buNone/>
            </a:pPr>
            <a:r>
              <a:rPr lang="en-US" sz="1200" b="1" spc="80" kern="0" dirty="0">
                <a:solidFill>
                  <a:srgbClr val="5C6675"/>
                </a:solidFill>
                <a:latin typeface="Calibri" pitchFamily="34" charset="0"/>
                <a:ea typeface="Calibri" pitchFamily="34" charset="-122"/>
                <a:cs typeface="Calibri" pitchFamily="34" charset="-120"/>
              </a:rPr>
              <a:t>Leadership</a:t>
            </a:r>
            <a:endParaRPr lang="en-US" sz="1200" dirty="0"/>
          </a:p>
        </p:txBody>
      </p:sp>
      <p:sp>
        <p:nvSpPr>
          <p:cNvPr id="9" name="Shape 7"/>
          <p:cNvSpPr/>
          <p:nvPr/>
        </p:nvSpPr>
        <p:spPr>
          <a:xfrm>
            <a:off x="548640" y="2542032"/>
            <a:ext cx="11091672" cy="658368"/>
          </a:xfrm>
          <a:prstGeom prst="roundRect">
            <a:avLst>
              <a:gd name="adj" fmla="val 12500"/>
            </a:avLst>
          </a:prstGeom>
          <a:solidFill>
            <a:srgbClr val="F1F3F6"/>
          </a:solidFill>
          <a:ln/>
        </p:spPr>
      </p:sp>
      <p:sp>
        <p:nvSpPr>
          <p:cNvPr id="10" name="Text 8"/>
          <p:cNvSpPr/>
          <p:nvPr/>
        </p:nvSpPr>
        <p:spPr>
          <a:xfrm>
            <a:off x="859536" y="2542032"/>
            <a:ext cx="347472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Budgets &amp; allocation policy</a:t>
            </a:r>
            <a:endParaRPr lang="en-US" sz="1400" dirty="0"/>
          </a:p>
        </p:txBody>
      </p:sp>
      <p:sp>
        <p:nvSpPr>
          <p:cNvPr id="11" name="Shape 9"/>
          <p:cNvSpPr/>
          <p:nvPr/>
        </p:nvSpPr>
        <p:spPr>
          <a:xfrm>
            <a:off x="5079492" y="2715768"/>
            <a:ext cx="310896" cy="310896"/>
          </a:xfrm>
          <a:prstGeom prst="ellipse">
            <a:avLst/>
          </a:prstGeom>
          <a:solidFill>
            <a:srgbClr val="E39B2C"/>
          </a:solidFill>
          <a:ln/>
        </p:spPr>
      </p:sp>
      <p:sp>
        <p:nvSpPr>
          <p:cNvPr id="12" name="Shape 10"/>
          <p:cNvSpPr/>
          <p:nvPr/>
        </p:nvSpPr>
        <p:spPr>
          <a:xfrm>
            <a:off x="10840212" y="2770632"/>
            <a:ext cx="201168" cy="201168"/>
          </a:xfrm>
          <a:prstGeom prst="ellipse">
            <a:avLst/>
          </a:prstGeom>
          <a:solidFill>
            <a:srgbClr val="C3CBD5"/>
          </a:solidFill>
          <a:ln/>
        </p:spPr>
      </p:sp>
      <p:sp>
        <p:nvSpPr>
          <p:cNvPr id="13" name="Shape 11"/>
          <p:cNvSpPr/>
          <p:nvPr/>
        </p:nvSpPr>
        <p:spPr>
          <a:xfrm>
            <a:off x="548640" y="3273552"/>
            <a:ext cx="11091672" cy="658368"/>
          </a:xfrm>
          <a:prstGeom prst="roundRect">
            <a:avLst>
              <a:gd name="adj" fmla="val 12500"/>
            </a:avLst>
          </a:prstGeom>
          <a:solidFill>
            <a:srgbClr val="F1F3F6"/>
          </a:solidFill>
          <a:ln/>
        </p:spPr>
      </p:sp>
      <p:sp>
        <p:nvSpPr>
          <p:cNvPr id="14" name="Text 12"/>
          <p:cNvSpPr/>
          <p:nvPr/>
        </p:nvSpPr>
        <p:spPr>
          <a:xfrm>
            <a:off x="859536" y="3273552"/>
            <a:ext cx="347472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Tagging &amp; ownership standard</a:t>
            </a:r>
            <a:endParaRPr lang="en-US" sz="1400" dirty="0"/>
          </a:p>
        </p:txBody>
      </p:sp>
      <p:sp>
        <p:nvSpPr>
          <p:cNvPr id="15" name="Shape 13"/>
          <p:cNvSpPr/>
          <p:nvPr/>
        </p:nvSpPr>
        <p:spPr>
          <a:xfrm>
            <a:off x="5134356" y="3502152"/>
            <a:ext cx="201168" cy="201168"/>
          </a:xfrm>
          <a:prstGeom prst="ellipse">
            <a:avLst/>
          </a:prstGeom>
          <a:solidFill>
            <a:srgbClr val="C3CBD5"/>
          </a:solidFill>
          <a:ln/>
        </p:spPr>
      </p:sp>
      <p:sp>
        <p:nvSpPr>
          <p:cNvPr id="16" name="Shape 14"/>
          <p:cNvSpPr/>
          <p:nvPr/>
        </p:nvSpPr>
        <p:spPr>
          <a:xfrm>
            <a:off x="6981444" y="3447288"/>
            <a:ext cx="310896" cy="310896"/>
          </a:xfrm>
          <a:prstGeom prst="ellipse">
            <a:avLst/>
          </a:prstGeom>
          <a:solidFill>
            <a:srgbClr val="E39B2C"/>
          </a:solidFill>
          <a:ln/>
        </p:spPr>
      </p:sp>
      <p:sp>
        <p:nvSpPr>
          <p:cNvPr id="17" name="Shape 15"/>
          <p:cNvSpPr/>
          <p:nvPr/>
        </p:nvSpPr>
        <p:spPr>
          <a:xfrm>
            <a:off x="548640" y="4005072"/>
            <a:ext cx="11091672" cy="658368"/>
          </a:xfrm>
          <a:prstGeom prst="roundRect">
            <a:avLst>
              <a:gd name="adj" fmla="val 12500"/>
            </a:avLst>
          </a:prstGeom>
          <a:solidFill>
            <a:srgbClr val="F1F3F6"/>
          </a:solidFill>
          <a:ln/>
        </p:spPr>
      </p:sp>
      <p:sp>
        <p:nvSpPr>
          <p:cNvPr id="18" name="Text 16"/>
          <p:cNvSpPr/>
          <p:nvPr/>
        </p:nvSpPr>
        <p:spPr>
          <a:xfrm>
            <a:off x="859536" y="4005072"/>
            <a:ext cx="347472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Guardrails, quotas &amp; alerts</a:t>
            </a:r>
            <a:endParaRPr lang="en-US" sz="1400" dirty="0"/>
          </a:p>
        </p:txBody>
      </p:sp>
      <p:sp>
        <p:nvSpPr>
          <p:cNvPr id="19" name="Shape 17"/>
          <p:cNvSpPr/>
          <p:nvPr/>
        </p:nvSpPr>
        <p:spPr>
          <a:xfrm>
            <a:off x="6981444" y="4178808"/>
            <a:ext cx="310896" cy="310896"/>
          </a:xfrm>
          <a:prstGeom prst="ellipse">
            <a:avLst/>
          </a:prstGeom>
          <a:solidFill>
            <a:srgbClr val="E39B2C"/>
          </a:solidFill>
          <a:ln/>
        </p:spPr>
      </p:sp>
      <p:sp>
        <p:nvSpPr>
          <p:cNvPr id="20" name="Shape 18"/>
          <p:cNvSpPr/>
          <p:nvPr/>
        </p:nvSpPr>
        <p:spPr>
          <a:xfrm>
            <a:off x="8938260" y="4233672"/>
            <a:ext cx="201168" cy="201168"/>
          </a:xfrm>
          <a:prstGeom prst="ellipse">
            <a:avLst/>
          </a:prstGeom>
          <a:solidFill>
            <a:srgbClr val="C3CBD5"/>
          </a:solidFill>
          <a:ln/>
        </p:spPr>
      </p:sp>
      <p:sp>
        <p:nvSpPr>
          <p:cNvPr id="21" name="Shape 19"/>
          <p:cNvSpPr/>
          <p:nvPr/>
        </p:nvSpPr>
        <p:spPr>
          <a:xfrm>
            <a:off x="548640" y="4736592"/>
            <a:ext cx="11091672" cy="658368"/>
          </a:xfrm>
          <a:prstGeom prst="roundRect">
            <a:avLst>
              <a:gd name="adj" fmla="val 12500"/>
            </a:avLst>
          </a:prstGeom>
          <a:solidFill>
            <a:srgbClr val="F1F3F6"/>
          </a:solidFill>
          <a:ln/>
        </p:spPr>
      </p:sp>
      <p:sp>
        <p:nvSpPr>
          <p:cNvPr id="22" name="Text 20"/>
          <p:cNvSpPr/>
          <p:nvPr/>
        </p:nvSpPr>
        <p:spPr>
          <a:xfrm>
            <a:off x="859536" y="4736592"/>
            <a:ext cx="347472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Responding to an alert</a:t>
            </a:r>
            <a:endParaRPr lang="en-US" sz="1400" dirty="0"/>
          </a:p>
        </p:txBody>
      </p:sp>
      <p:sp>
        <p:nvSpPr>
          <p:cNvPr id="23" name="Shape 21"/>
          <p:cNvSpPr/>
          <p:nvPr/>
        </p:nvSpPr>
        <p:spPr>
          <a:xfrm>
            <a:off x="7036308" y="4965192"/>
            <a:ext cx="201168" cy="201168"/>
          </a:xfrm>
          <a:prstGeom prst="ellipse">
            <a:avLst/>
          </a:prstGeom>
          <a:solidFill>
            <a:srgbClr val="C3CBD5"/>
          </a:solidFill>
          <a:ln/>
        </p:spPr>
      </p:sp>
      <p:sp>
        <p:nvSpPr>
          <p:cNvPr id="24" name="Shape 22"/>
          <p:cNvSpPr/>
          <p:nvPr/>
        </p:nvSpPr>
        <p:spPr>
          <a:xfrm>
            <a:off x="8883396" y="4910328"/>
            <a:ext cx="310896" cy="310896"/>
          </a:xfrm>
          <a:prstGeom prst="ellipse">
            <a:avLst/>
          </a:prstGeom>
          <a:solidFill>
            <a:srgbClr val="E39B2C"/>
          </a:solidFill>
          <a:ln/>
        </p:spPr>
      </p:sp>
      <p:sp>
        <p:nvSpPr>
          <p:cNvPr id="25" name="Shape 23"/>
          <p:cNvSpPr/>
          <p:nvPr/>
        </p:nvSpPr>
        <p:spPr>
          <a:xfrm>
            <a:off x="548640" y="5468112"/>
            <a:ext cx="11091672" cy="658368"/>
          </a:xfrm>
          <a:prstGeom prst="roundRect">
            <a:avLst>
              <a:gd name="adj" fmla="val 12500"/>
            </a:avLst>
          </a:prstGeom>
          <a:solidFill>
            <a:srgbClr val="F1F3F6"/>
          </a:solidFill>
          <a:ln/>
        </p:spPr>
      </p:sp>
      <p:sp>
        <p:nvSpPr>
          <p:cNvPr id="26" name="Text 24"/>
          <p:cNvSpPr/>
          <p:nvPr/>
        </p:nvSpPr>
        <p:spPr>
          <a:xfrm>
            <a:off x="859536" y="5468112"/>
            <a:ext cx="3474720" cy="658368"/>
          </a:xfrm>
          <a:prstGeom prst="rect">
            <a:avLst/>
          </a:prstGeom>
          <a:noFill/>
          <a:ln/>
        </p:spPr>
        <p:txBody>
          <a:bodyPr wrap="square" lIns="0" tIns="0" rIns="0" bIns="0" rtlCol="0" anchor="ctr"/>
          <a:lstStyle/>
          <a:p>
            <a:pPr indent="0" marL="0">
              <a:buNone/>
            </a:pPr>
            <a:r>
              <a:rPr lang="en-US" sz="1400" b="1" dirty="0">
                <a:solidFill>
                  <a:srgbClr val="1B2430"/>
                </a:solidFill>
                <a:latin typeface="Calibri" pitchFamily="34" charset="0"/>
                <a:ea typeface="Calibri" pitchFamily="34" charset="-122"/>
                <a:cs typeface="Calibri" pitchFamily="34" charset="-120"/>
              </a:rPr>
              <a:t>Commitment &amp; tooling spend</a:t>
            </a:r>
            <a:endParaRPr lang="en-US" sz="1400" dirty="0"/>
          </a:p>
        </p:txBody>
      </p:sp>
      <p:sp>
        <p:nvSpPr>
          <p:cNvPr id="27" name="Shape 25"/>
          <p:cNvSpPr/>
          <p:nvPr/>
        </p:nvSpPr>
        <p:spPr>
          <a:xfrm>
            <a:off x="5134356" y="5696712"/>
            <a:ext cx="201168" cy="201168"/>
          </a:xfrm>
          <a:prstGeom prst="ellipse">
            <a:avLst/>
          </a:prstGeom>
          <a:solidFill>
            <a:srgbClr val="C3CBD5"/>
          </a:solidFill>
          <a:ln/>
        </p:spPr>
      </p:sp>
      <p:sp>
        <p:nvSpPr>
          <p:cNvPr id="28" name="Shape 26"/>
          <p:cNvSpPr/>
          <p:nvPr/>
        </p:nvSpPr>
        <p:spPr>
          <a:xfrm>
            <a:off x="7036308" y="5696712"/>
            <a:ext cx="201168" cy="201168"/>
          </a:xfrm>
          <a:prstGeom prst="ellipse">
            <a:avLst/>
          </a:prstGeom>
          <a:solidFill>
            <a:srgbClr val="C3CBD5"/>
          </a:solidFill>
          <a:ln/>
        </p:spPr>
      </p:sp>
      <p:sp>
        <p:nvSpPr>
          <p:cNvPr id="29" name="Shape 27"/>
          <p:cNvSpPr/>
          <p:nvPr/>
        </p:nvSpPr>
        <p:spPr>
          <a:xfrm>
            <a:off x="10785348" y="5641848"/>
            <a:ext cx="310896" cy="310896"/>
          </a:xfrm>
          <a:prstGeom prst="ellipse">
            <a:avLst/>
          </a:prstGeom>
          <a:solidFill>
            <a:srgbClr val="E39B2C"/>
          </a:solidFill>
          <a:ln/>
        </p:spPr>
      </p:sp>
      <p:sp>
        <p:nvSpPr>
          <p:cNvPr id="30" name="Shape 28"/>
          <p:cNvSpPr/>
          <p:nvPr/>
        </p:nvSpPr>
        <p:spPr>
          <a:xfrm>
            <a:off x="548640" y="6272784"/>
            <a:ext cx="182880" cy="182880"/>
          </a:xfrm>
          <a:prstGeom prst="ellipse">
            <a:avLst/>
          </a:prstGeom>
          <a:solidFill>
            <a:srgbClr val="E39B2C"/>
          </a:solidFill>
          <a:ln/>
        </p:spPr>
      </p:sp>
      <p:sp>
        <p:nvSpPr>
          <p:cNvPr id="31" name="Text 29"/>
          <p:cNvSpPr/>
          <p:nvPr/>
        </p:nvSpPr>
        <p:spPr>
          <a:xfrm>
            <a:off x="822960" y="6199632"/>
            <a:ext cx="3840480" cy="329184"/>
          </a:xfrm>
          <a:prstGeom prst="rect">
            <a:avLst/>
          </a:prstGeom>
          <a:noFill/>
          <a:ln/>
        </p:spPr>
        <p:txBody>
          <a:bodyPr wrap="square" lIns="0" tIns="0" rIns="0" bIns="0" rtlCol="0" anchor="ctr"/>
          <a:lstStyle/>
          <a:p>
            <a:pPr indent="0" marL="0">
              <a:buNone/>
            </a:pPr>
            <a:r>
              <a:rPr lang="en-US" sz="1200" dirty="0">
                <a:solidFill>
                  <a:srgbClr val="5C6675"/>
                </a:solidFill>
                <a:latin typeface="Calibri" pitchFamily="34" charset="0"/>
                <a:ea typeface="Calibri" pitchFamily="34" charset="-122"/>
                <a:cs typeface="Calibri" pitchFamily="34" charset="-120"/>
              </a:rPr>
              <a:t>Accountable — the decision stops here</a:t>
            </a:r>
            <a:endParaRPr lang="en-US" sz="1200" dirty="0"/>
          </a:p>
        </p:txBody>
      </p:sp>
      <p:sp>
        <p:nvSpPr>
          <p:cNvPr id="32" name="Shape 30"/>
          <p:cNvSpPr/>
          <p:nvPr/>
        </p:nvSpPr>
        <p:spPr>
          <a:xfrm>
            <a:off x="4754880" y="6309360"/>
            <a:ext cx="128016" cy="128016"/>
          </a:xfrm>
          <a:prstGeom prst="ellipse">
            <a:avLst/>
          </a:prstGeom>
          <a:solidFill>
            <a:srgbClr val="C3CBD5"/>
          </a:solidFill>
          <a:ln/>
        </p:spPr>
      </p:sp>
      <p:sp>
        <p:nvSpPr>
          <p:cNvPr id="33" name="Text 31"/>
          <p:cNvSpPr/>
          <p:nvPr/>
        </p:nvSpPr>
        <p:spPr>
          <a:xfrm>
            <a:off x="4992624" y="6199632"/>
            <a:ext cx="4572000" cy="329184"/>
          </a:xfrm>
          <a:prstGeom prst="rect">
            <a:avLst/>
          </a:prstGeom>
          <a:noFill/>
          <a:ln/>
        </p:spPr>
        <p:txBody>
          <a:bodyPr wrap="square" lIns="0" tIns="0" rIns="0" bIns="0" rtlCol="0" anchor="ctr"/>
          <a:lstStyle/>
          <a:p>
            <a:pPr indent="0" marL="0">
              <a:buNone/>
            </a:pPr>
            <a:r>
              <a:rPr lang="en-US" sz="1200" dirty="0">
                <a:solidFill>
                  <a:srgbClr val="5C6675"/>
                </a:solidFill>
                <a:latin typeface="Calibri" pitchFamily="34" charset="0"/>
                <a:ea typeface="Calibri" pitchFamily="34" charset="-122"/>
                <a:cs typeface="Calibri" pitchFamily="34" charset="-120"/>
              </a:rPr>
              <a:t>Contributes — does the work, does not decide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GOVERNANCE — PUTTING IT TOGETHER</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Nobody should learn it from the invoice</a:t>
            </a:r>
            <a:endParaRPr lang="en-US" sz="3100" dirty="0"/>
          </a:p>
        </p:txBody>
      </p:sp>
      <p:sp>
        <p:nvSpPr>
          <p:cNvPr id="4" name="Text 2"/>
          <p:cNvSpPr/>
          <p:nvPr/>
        </p:nvSpPr>
        <p:spPr>
          <a:xfrm>
            <a:off x="548640" y="1536192"/>
            <a:ext cx="10607040" cy="365760"/>
          </a:xfrm>
          <a:prstGeom prst="rect">
            <a:avLst/>
          </a:prstGeom>
          <a:noFill/>
          <a:ln/>
        </p:spPr>
        <p:txBody>
          <a:bodyPr wrap="square" lIns="0" tIns="0" rIns="0" bIns="0" rtlCol="0" anchor="ctr"/>
          <a:lstStyle/>
          <a:p>
            <a:pPr indent="0" marL="0">
              <a:buNone/>
            </a:pPr>
            <a:r>
              <a:rPr lang="en-US" sz="1500" dirty="0">
                <a:solidFill>
                  <a:srgbClr val="5C6675"/>
                </a:solidFill>
                <a:latin typeface="Calibri" pitchFamily="34" charset="0"/>
                <a:ea typeface="Calibri" pitchFamily="34" charset="-122"/>
                <a:cs typeface="Calibri" pitchFamily="34" charset="-120"/>
              </a:rPr>
              <a:t>The same overrun, found at four different moments. Only the first three leave you anything to do about it.</a:t>
            </a:r>
            <a:endParaRPr lang="en-US" sz="1500" dirty="0"/>
          </a:p>
        </p:txBody>
      </p:sp>
      <p:sp>
        <p:nvSpPr>
          <p:cNvPr id="5" name="Shape 3"/>
          <p:cNvSpPr/>
          <p:nvPr/>
        </p:nvSpPr>
        <p:spPr>
          <a:xfrm>
            <a:off x="1737360" y="3127248"/>
            <a:ext cx="8714232" cy="45720"/>
          </a:xfrm>
          <a:prstGeom prst="roundRect">
            <a:avLst>
              <a:gd name="adj" fmla="val 40000"/>
            </a:avLst>
          </a:prstGeom>
          <a:solidFill>
            <a:srgbClr val="DFE4EA"/>
          </a:solidFill>
          <a:ln/>
        </p:spPr>
      </p:sp>
      <p:sp>
        <p:nvSpPr>
          <p:cNvPr id="6" name="Text 4"/>
          <p:cNvSpPr/>
          <p:nvPr/>
        </p:nvSpPr>
        <p:spPr>
          <a:xfrm>
            <a:off x="548640" y="2212848"/>
            <a:ext cx="2377440" cy="310896"/>
          </a:xfrm>
          <a:prstGeom prst="rect">
            <a:avLst/>
          </a:prstGeom>
          <a:noFill/>
          <a:ln/>
        </p:spPr>
        <p:txBody>
          <a:bodyPr wrap="square" lIns="0" tIns="0" rIns="0" bIns="0" rtlCol="0" anchor="ctr"/>
          <a:lstStyle/>
          <a:p>
            <a:pPr algn="ctr" indent="0" marL="0">
              <a:buNone/>
            </a:pPr>
            <a:r>
              <a:rPr lang="en-US" sz="1400" b="1" dirty="0">
                <a:solidFill>
                  <a:srgbClr val="1B2430"/>
                </a:solidFill>
                <a:latin typeface="Calibri" pitchFamily="34" charset="0"/>
                <a:ea typeface="Calibri" pitchFamily="34" charset="-122"/>
                <a:cs typeface="Calibri" pitchFamily="34" charset="-120"/>
              </a:rPr>
              <a:t>Usage burn alert</a:t>
            </a:r>
            <a:endParaRPr lang="en-US" sz="1400" dirty="0"/>
          </a:p>
        </p:txBody>
      </p:sp>
      <p:sp>
        <p:nvSpPr>
          <p:cNvPr id="7" name="Text 5"/>
          <p:cNvSpPr/>
          <p:nvPr/>
        </p:nvSpPr>
        <p:spPr>
          <a:xfrm>
            <a:off x="548640" y="2542032"/>
            <a:ext cx="2377440" cy="292608"/>
          </a:xfrm>
          <a:prstGeom prst="rect">
            <a:avLst/>
          </a:prstGeom>
          <a:noFill/>
          <a:ln/>
        </p:spPr>
        <p:txBody>
          <a:bodyPr wrap="square" lIns="0" tIns="0" rIns="0" bIns="0" rtlCol="0" anchor="ctr"/>
          <a:lstStyle/>
          <a:p>
            <a:pPr algn="ctr" indent="0" marL="0">
              <a:buNone/>
            </a:pPr>
            <a:r>
              <a:rPr lang="en-US" sz="1250" b="1" spc="60" kern="0" dirty="0">
                <a:solidFill>
                  <a:srgbClr val="B87B18"/>
                </a:solidFill>
                <a:latin typeface="Calibri" pitchFamily="34" charset="0"/>
                <a:ea typeface="Calibri" pitchFamily="34" charset="-122"/>
                <a:cs typeface="Calibri" pitchFamily="34" charset="-120"/>
              </a:rPr>
              <a:t>~10 minutes</a:t>
            </a:r>
            <a:endParaRPr lang="en-US" sz="1250" dirty="0"/>
          </a:p>
        </p:txBody>
      </p:sp>
      <p:sp>
        <p:nvSpPr>
          <p:cNvPr id="8" name="Shape 6"/>
          <p:cNvSpPr/>
          <p:nvPr/>
        </p:nvSpPr>
        <p:spPr>
          <a:xfrm>
            <a:off x="1618488" y="3031236"/>
            <a:ext cx="237744" cy="237744"/>
          </a:xfrm>
          <a:prstGeom prst="ellipse">
            <a:avLst/>
          </a:prstGeom>
          <a:solidFill>
            <a:srgbClr val="E39B2C"/>
          </a:solidFill>
          <a:ln w="25400">
            <a:solidFill>
              <a:srgbClr val="FFFFFF"/>
            </a:solidFill>
            <a:prstDash val="solid"/>
          </a:ln>
        </p:spPr>
      </p:sp>
      <p:sp>
        <p:nvSpPr>
          <p:cNvPr id="9" name="Text 7"/>
          <p:cNvSpPr/>
          <p:nvPr/>
        </p:nvSpPr>
        <p:spPr>
          <a:xfrm>
            <a:off x="548640" y="3401568"/>
            <a:ext cx="2377440" cy="566928"/>
          </a:xfrm>
          <a:prstGeom prst="rect">
            <a:avLst/>
          </a:prstGeom>
          <a:noFill/>
          <a:ln/>
        </p:spPr>
        <p:txBody>
          <a:bodyPr wrap="square" lIns="0" tIns="0" rIns="0" bIns="0" rtlCol="0" anchor="t"/>
          <a:lstStyle/>
          <a:p>
            <a:pPr algn="ctr" indent="0" marL="0">
              <a:lnSpc>
                <a:spcPts val="1600"/>
              </a:lnSpc>
              <a:buNone/>
            </a:pPr>
            <a:r>
              <a:rPr lang="en-US" sz="1200" dirty="0">
                <a:solidFill>
                  <a:srgbClr val="5C6675"/>
                </a:solidFill>
                <a:latin typeface="Calibri" pitchFamily="34" charset="0"/>
                <a:ea typeface="Calibri" pitchFamily="34" charset="-122"/>
                <a:cs typeface="Calibri" pitchFamily="34" charset="-120"/>
              </a:rPr>
              <a:t>Throttle it, or confirm it was intended.</a:t>
            </a:r>
            <a:endParaRPr lang="en-US" sz="1200" dirty="0"/>
          </a:p>
        </p:txBody>
      </p:sp>
      <p:sp>
        <p:nvSpPr>
          <p:cNvPr id="10" name="Text 8"/>
          <p:cNvSpPr/>
          <p:nvPr/>
        </p:nvSpPr>
        <p:spPr>
          <a:xfrm>
            <a:off x="3566160" y="2212848"/>
            <a:ext cx="2377440" cy="310896"/>
          </a:xfrm>
          <a:prstGeom prst="rect">
            <a:avLst/>
          </a:prstGeom>
          <a:noFill/>
          <a:ln/>
        </p:spPr>
        <p:txBody>
          <a:bodyPr wrap="square" lIns="0" tIns="0" rIns="0" bIns="0" rtlCol="0" anchor="ctr"/>
          <a:lstStyle/>
          <a:p>
            <a:pPr algn="ctr" indent="0" marL="0">
              <a:buNone/>
            </a:pPr>
            <a:r>
              <a:rPr lang="en-US" sz="1400" b="1" dirty="0">
                <a:solidFill>
                  <a:srgbClr val="1B2430"/>
                </a:solidFill>
                <a:latin typeface="Calibri" pitchFamily="34" charset="0"/>
                <a:ea typeface="Calibri" pitchFamily="34" charset="-122"/>
                <a:cs typeface="Calibri" pitchFamily="34" charset="-120"/>
              </a:rPr>
              <a:t>Daily spend threshold</a:t>
            </a:r>
            <a:endParaRPr lang="en-US" sz="1400" dirty="0"/>
          </a:p>
        </p:txBody>
      </p:sp>
      <p:sp>
        <p:nvSpPr>
          <p:cNvPr id="11" name="Text 9"/>
          <p:cNvSpPr/>
          <p:nvPr/>
        </p:nvSpPr>
        <p:spPr>
          <a:xfrm>
            <a:off x="3566160" y="2542032"/>
            <a:ext cx="2377440" cy="292608"/>
          </a:xfrm>
          <a:prstGeom prst="rect">
            <a:avLst/>
          </a:prstGeom>
          <a:noFill/>
          <a:ln/>
        </p:spPr>
        <p:txBody>
          <a:bodyPr wrap="square" lIns="0" tIns="0" rIns="0" bIns="0" rtlCol="0" anchor="ctr"/>
          <a:lstStyle/>
          <a:p>
            <a:pPr algn="ctr" indent="0" marL="0">
              <a:buNone/>
            </a:pPr>
            <a:r>
              <a:rPr lang="en-US" sz="1250" b="1" spc="60" kern="0" dirty="0">
                <a:solidFill>
                  <a:srgbClr val="1F6B5C"/>
                </a:solidFill>
                <a:latin typeface="Calibri" pitchFamily="34" charset="0"/>
                <a:ea typeface="Calibri" pitchFamily="34" charset="-122"/>
                <a:cs typeface="Calibri" pitchFamily="34" charset="-120"/>
              </a:rPr>
              <a:t>next morning</a:t>
            </a:r>
            <a:endParaRPr lang="en-US" sz="1250" dirty="0"/>
          </a:p>
        </p:txBody>
      </p:sp>
      <p:sp>
        <p:nvSpPr>
          <p:cNvPr id="12" name="Shape 10"/>
          <p:cNvSpPr/>
          <p:nvPr/>
        </p:nvSpPr>
        <p:spPr>
          <a:xfrm>
            <a:off x="4636008" y="3031236"/>
            <a:ext cx="237744" cy="237744"/>
          </a:xfrm>
          <a:prstGeom prst="ellipse">
            <a:avLst/>
          </a:prstGeom>
          <a:solidFill>
            <a:srgbClr val="2E8B7A"/>
          </a:solidFill>
          <a:ln w="25400">
            <a:solidFill>
              <a:srgbClr val="FFFFFF"/>
            </a:solidFill>
            <a:prstDash val="solid"/>
          </a:ln>
        </p:spPr>
      </p:sp>
      <p:sp>
        <p:nvSpPr>
          <p:cNvPr id="13" name="Text 11"/>
          <p:cNvSpPr/>
          <p:nvPr/>
        </p:nvSpPr>
        <p:spPr>
          <a:xfrm>
            <a:off x="3566160" y="3401568"/>
            <a:ext cx="2377440" cy="566928"/>
          </a:xfrm>
          <a:prstGeom prst="rect">
            <a:avLst/>
          </a:prstGeom>
          <a:noFill/>
          <a:ln/>
        </p:spPr>
        <p:txBody>
          <a:bodyPr wrap="square" lIns="0" tIns="0" rIns="0" bIns="0" rtlCol="0" anchor="t"/>
          <a:lstStyle/>
          <a:p>
            <a:pPr algn="ctr" indent="0" marL="0">
              <a:lnSpc>
                <a:spcPts val="1600"/>
              </a:lnSpc>
              <a:buNone/>
            </a:pPr>
            <a:r>
              <a:rPr lang="en-US" sz="1200" dirty="0">
                <a:solidFill>
                  <a:srgbClr val="5C6675"/>
                </a:solidFill>
                <a:latin typeface="Calibri" pitchFamily="34" charset="0"/>
                <a:ea typeface="Calibri" pitchFamily="34" charset="-122"/>
                <a:cs typeface="Calibri" pitchFamily="34" charset="-120"/>
              </a:rPr>
              <a:t>One team, one number, one owner to ask.</a:t>
            </a:r>
            <a:endParaRPr lang="en-US" sz="1200" dirty="0"/>
          </a:p>
        </p:txBody>
      </p:sp>
      <p:sp>
        <p:nvSpPr>
          <p:cNvPr id="14" name="Text 12"/>
          <p:cNvSpPr/>
          <p:nvPr/>
        </p:nvSpPr>
        <p:spPr>
          <a:xfrm>
            <a:off x="6583680" y="2212848"/>
            <a:ext cx="2377440" cy="310896"/>
          </a:xfrm>
          <a:prstGeom prst="rect">
            <a:avLst/>
          </a:prstGeom>
          <a:noFill/>
          <a:ln/>
        </p:spPr>
        <p:txBody>
          <a:bodyPr wrap="square" lIns="0" tIns="0" rIns="0" bIns="0" rtlCol="0" anchor="ctr"/>
          <a:lstStyle/>
          <a:p>
            <a:pPr algn="ctr" indent="0" marL="0">
              <a:buNone/>
            </a:pPr>
            <a:r>
              <a:rPr lang="en-US" sz="1400" b="1" dirty="0">
                <a:solidFill>
                  <a:srgbClr val="1B2430"/>
                </a:solidFill>
                <a:latin typeface="Calibri" pitchFamily="34" charset="0"/>
                <a:ea typeface="Calibri" pitchFamily="34" charset="-122"/>
                <a:cs typeface="Calibri" pitchFamily="34" charset="-120"/>
              </a:rPr>
              <a:t>Forecast overrun</a:t>
            </a:r>
            <a:endParaRPr lang="en-US" sz="1400" dirty="0"/>
          </a:p>
        </p:txBody>
      </p:sp>
      <p:sp>
        <p:nvSpPr>
          <p:cNvPr id="15" name="Text 13"/>
          <p:cNvSpPr/>
          <p:nvPr/>
        </p:nvSpPr>
        <p:spPr>
          <a:xfrm>
            <a:off x="6583680" y="2542032"/>
            <a:ext cx="2377440" cy="292608"/>
          </a:xfrm>
          <a:prstGeom prst="rect">
            <a:avLst/>
          </a:prstGeom>
          <a:noFill/>
          <a:ln/>
        </p:spPr>
        <p:txBody>
          <a:bodyPr wrap="square" lIns="0" tIns="0" rIns="0" bIns="0" rtlCol="0" anchor="ctr"/>
          <a:lstStyle/>
          <a:p>
            <a:pPr algn="ctr" indent="0" marL="0">
              <a:buNone/>
            </a:pPr>
            <a:r>
              <a:rPr lang="en-US" sz="1250" b="1" spc="60" kern="0" dirty="0">
                <a:solidFill>
                  <a:srgbClr val="1F6B5C"/>
                </a:solidFill>
                <a:latin typeface="Calibri" pitchFamily="34" charset="0"/>
                <a:ea typeface="Calibri" pitchFamily="34" charset="-122"/>
                <a:cs typeface="Calibri" pitchFamily="34" charset="-120"/>
              </a:rPr>
              <a:t>~2 weeks out</a:t>
            </a:r>
            <a:endParaRPr lang="en-US" sz="1250" dirty="0"/>
          </a:p>
        </p:txBody>
      </p:sp>
      <p:sp>
        <p:nvSpPr>
          <p:cNvPr id="16" name="Shape 14"/>
          <p:cNvSpPr/>
          <p:nvPr/>
        </p:nvSpPr>
        <p:spPr>
          <a:xfrm>
            <a:off x="7653528" y="3031236"/>
            <a:ext cx="237744" cy="237744"/>
          </a:xfrm>
          <a:prstGeom prst="ellipse">
            <a:avLst/>
          </a:prstGeom>
          <a:solidFill>
            <a:srgbClr val="2E8B7A"/>
          </a:solidFill>
          <a:ln w="25400">
            <a:solidFill>
              <a:srgbClr val="FFFFFF"/>
            </a:solidFill>
            <a:prstDash val="solid"/>
          </a:ln>
        </p:spPr>
      </p:sp>
      <p:sp>
        <p:nvSpPr>
          <p:cNvPr id="17" name="Text 15"/>
          <p:cNvSpPr/>
          <p:nvPr/>
        </p:nvSpPr>
        <p:spPr>
          <a:xfrm>
            <a:off x="6583680" y="3401568"/>
            <a:ext cx="2377440" cy="566928"/>
          </a:xfrm>
          <a:prstGeom prst="rect">
            <a:avLst/>
          </a:prstGeom>
          <a:noFill/>
          <a:ln/>
        </p:spPr>
        <p:txBody>
          <a:bodyPr wrap="square" lIns="0" tIns="0" rIns="0" bIns="0" rtlCol="0" anchor="t"/>
          <a:lstStyle/>
          <a:p>
            <a:pPr algn="ctr" indent="0" marL="0">
              <a:lnSpc>
                <a:spcPts val="1600"/>
              </a:lnSpc>
              <a:buNone/>
            </a:pPr>
            <a:r>
              <a:rPr lang="en-US" sz="1200" dirty="0">
                <a:solidFill>
                  <a:srgbClr val="5C6675"/>
                </a:solidFill>
                <a:latin typeface="Calibri" pitchFamily="34" charset="0"/>
                <a:ea typeface="Calibri" pitchFamily="34" charset="-122"/>
                <a:cs typeface="Calibri" pitchFamily="34" charset="-120"/>
              </a:rPr>
              <a:t>Still time to change the month's outcome.</a:t>
            </a:r>
            <a:endParaRPr lang="en-US" sz="1200" dirty="0"/>
          </a:p>
        </p:txBody>
      </p:sp>
      <p:sp>
        <p:nvSpPr>
          <p:cNvPr id="18" name="Text 16"/>
          <p:cNvSpPr/>
          <p:nvPr/>
        </p:nvSpPr>
        <p:spPr>
          <a:xfrm>
            <a:off x="9262872" y="2212848"/>
            <a:ext cx="2377440" cy="310896"/>
          </a:xfrm>
          <a:prstGeom prst="rect">
            <a:avLst/>
          </a:prstGeom>
          <a:noFill/>
          <a:ln/>
        </p:spPr>
        <p:txBody>
          <a:bodyPr wrap="square" lIns="0" tIns="0" rIns="0" bIns="0" rtlCol="0" anchor="ctr"/>
          <a:lstStyle/>
          <a:p>
            <a:pPr algn="ctr" indent="0" marL="0">
              <a:buNone/>
            </a:pPr>
            <a:r>
              <a:rPr lang="en-US" sz="1400" b="1" dirty="0">
                <a:solidFill>
                  <a:srgbClr val="5C6675"/>
                </a:solidFill>
                <a:latin typeface="Calibri" pitchFamily="34" charset="0"/>
                <a:ea typeface="Calibri" pitchFamily="34" charset="-122"/>
                <a:cs typeface="Calibri" pitchFamily="34" charset="-120"/>
              </a:rPr>
              <a:t>The invoice</a:t>
            </a:r>
            <a:endParaRPr lang="en-US" sz="1400" dirty="0"/>
          </a:p>
        </p:txBody>
      </p:sp>
      <p:sp>
        <p:nvSpPr>
          <p:cNvPr id="19" name="Text 17"/>
          <p:cNvSpPr/>
          <p:nvPr/>
        </p:nvSpPr>
        <p:spPr>
          <a:xfrm>
            <a:off x="9262872" y="2542032"/>
            <a:ext cx="2377440" cy="292608"/>
          </a:xfrm>
          <a:prstGeom prst="rect">
            <a:avLst/>
          </a:prstGeom>
          <a:noFill/>
          <a:ln/>
        </p:spPr>
        <p:txBody>
          <a:bodyPr wrap="square" lIns="0" tIns="0" rIns="0" bIns="0" rtlCol="0" anchor="ctr"/>
          <a:lstStyle/>
          <a:p>
            <a:pPr algn="ctr" indent="0" marL="0">
              <a:buNone/>
            </a:pPr>
            <a:r>
              <a:rPr lang="en-US" sz="1250" b="1" spc="60" kern="0" dirty="0">
                <a:solidFill>
                  <a:srgbClr val="5C6675"/>
                </a:solidFill>
                <a:latin typeface="Calibri" pitchFamily="34" charset="0"/>
                <a:ea typeface="Calibri" pitchFamily="34" charset="-122"/>
                <a:cs typeface="Calibri" pitchFamily="34" charset="-120"/>
              </a:rPr>
              <a:t>30–45 days later</a:t>
            </a:r>
            <a:endParaRPr lang="en-US" sz="1250" dirty="0"/>
          </a:p>
        </p:txBody>
      </p:sp>
      <p:sp>
        <p:nvSpPr>
          <p:cNvPr id="20" name="Shape 18"/>
          <p:cNvSpPr/>
          <p:nvPr/>
        </p:nvSpPr>
        <p:spPr>
          <a:xfrm>
            <a:off x="10332720" y="3031236"/>
            <a:ext cx="237744" cy="237744"/>
          </a:xfrm>
          <a:prstGeom prst="ellipse">
            <a:avLst/>
          </a:prstGeom>
          <a:solidFill>
            <a:srgbClr val="AEB8C4"/>
          </a:solidFill>
          <a:ln w="25400">
            <a:solidFill>
              <a:srgbClr val="FFFFFF"/>
            </a:solidFill>
            <a:prstDash val="solid"/>
          </a:ln>
        </p:spPr>
      </p:sp>
      <p:sp>
        <p:nvSpPr>
          <p:cNvPr id="21" name="Text 19"/>
          <p:cNvSpPr/>
          <p:nvPr/>
        </p:nvSpPr>
        <p:spPr>
          <a:xfrm>
            <a:off x="9262872" y="3401568"/>
            <a:ext cx="2377440" cy="566928"/>
          </a:xfrm>
          <a:prstGeom prst="rect">
            <a:avLst/>
          </a:prstGeom>
          <a:noFill/>
          <a:ln/>
        </p:spPr>
        <p:txBody>
          <a:bodyPr wrap="square" lIns="0" tIns="0" rIns="0" bIns="0" rtlCol="0" anchor="t"/>
          <a:lstStyle/>
          <a:p>
            <a:pPr algn="ctr" indent="0" marL="0">
              <a:lnSpc>
                <a:spcPts val="1600"/>
              </a:lnSpc>
              <a:buNone/>
            </a:pPr>
            <a:r>
              <a:rPr lang="en-US" sz="1200" dirty="0">
                <a:solidFill>
                  <a:srgbClr val="5C6675"/>
                </a:solidFill>
                <a:latin typeface="Calibri" pitchFamily="34" charset="0"/>
                <a:ea typeface="Calibri" pitchFamily="34" charset="-122"/>
                <a:cs typeface="Calibri" pitchFamily="34" charset="-120"/>
              </a:rPr>
              <a:t>Nothing left to decide. Only to explain.</a:t>
            </a:r>
            <a:endParaRPr lang="en-US" sz="1200" dirty="0"/>
          </a:p>
        </p:txBody>
      </p:sp>
      <p:sp>
        <p:nvSpPr>
          <p:cNvPr id="22" name="Shape 20"/>
          <p:cNvSpPr/>
          <p:nvPr/>
        </p:nvSpPr>
        <p:spPr>
          <a:xfrm>
            <a:off x="548640" y="4297680"/>
            <a:ext cx="6675120" cy="2011680"/>
          </a:xfrm>
          <a:prstGeom prst="roundRect">
            <a:avLst>
              <a:gd name="adj" fmla="val 4091"/>
            </a:avLst>
          </a:prstGeom>
          <a:solidFill>
            <a:srgbClr val="F1F3F6"/>
          </a:solidFill>
          <a:ln/>
        </p:spPr>
      </p:sp>
      <p:sp>
        <p:nvSpPr>
          <p:cNvPr id="23" name="Text 21"/>
          <p:cNvSpPr/>
          <p:nvPr/>
        </p:nvSpPr>
        <p:spPr>
          <a:xfrm>
            <a:off x="877824" y="4443984"/>
            <a:ext cx="3657600" cy="292608"/>
          </a:xfrm>
          <a:prstGeom prst="rect">
            <a:avLst/>
          </a:prstGeom>
          <a:noFill/>
          <a:ln/>
        </p:spPr>
        <p:txBody>
          <a:bodyPr wrap="square" lIns="0" tIns="0" rIns="0" bIns="0" rtlCol="0" anchor="ctr"/>
          <a:lstStyle/>
          <a:p>
            <a:pPr indent="0" marL="0">
              <a:buNone/>
            </a:pPr>
            <a:r>
              <a:rPr lang="en-US" sz="1200" b="1" spc="180" kern="0" dirty="0">
                <a:solidFill>
                  <a:srgbClr val="5C6675"/>
                </a:solidFill>
                <a:latin typeface="Calibri" pitchFamily="34" charset="0"/>
                <a:ea typeface="Calibri" pitchFamily="34" charset="-122"/>
                <a:cs typeface="Calibri" pitchFamily="34" charset="-120"/>
              </a:rPr>
              <a:t>What has to be true</a:t>
            </a:r>
            <a:endParaRPr lang="en-US" sz="1200" dirty="0"/>
          </a:p>
        </p:txBody>
      </p:sp>
      <p:sp>
        <p:nvSpPr>
          <p:cNvPr id="24" name="Shape 22"/>
          <p:cNvSpPr/>
          <p:nvPr/>
        </p:nvSpPr>
        <p:spPr>
          <a:xfrm>
            <a:off x="877824" y="4809744"/>
            <a:ext cx="274320" cy="274320"/>
          </a:xfrm>
          <a:prstGeom prst="ellipse">
            <a:avLst/>
          </a:prstGeom>
          <a:solidFill>
            <a:srgbClr val="FFFFFF"/>
          </a:solidFill>
          <a:ln/>
        </p:spPr>
      </p:sp>
      <p:pic>
        <p:nvPicPr>
          <p:cNvPr id="25" name="Image 0" descr="preencoded.png">    </p:cNvPr>
          <p:cNvPicPr>
            <a:picLocks noChangeAspect="1"/>
          </p:cNvPicPr>
          <p:nvPr/>
        </p:nvPicPr>
        <p:blipFill>
          <a:blip r:embed="rId1"/>
          <a:stretch>
            <a:fillRect/>
          </a:stretch>
        </p:blipFill>
        <p:spPr>
          <a:xfrm>
            <a:off x="946404" y="4878324"/>
            <a:ext cx="137160" cy="137160"/>
          </a:xfrm>
          <a:prstGeom prst="rect">
            <a:avLst/>
          </a:prstGeom>
        </p:spPr>
      </p:pic>
      <p:sp>
        <p:nvSpPr>
          <p:cNvPr id="26" name="Text 23"/>
          <p:cNvSpPr/>
          <p:nvPr/>
        </p:nvSpPr>
        <p:spPr>
          <a:xfrm>
            <a:off x="1298448" y="4754880"/>
            <a:ext cx="5669280" cy="384048"/>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Protective alerts run on usage data, not on billing data</a:t>
            </a:r>
            <a:endParaRPr lang="en-US" sz="1300" dirty="0"/>
          </a:p>
        </p:txBody>
      </p:sp>
      <p:sp>
        <p:nvSpPr>
          <p:cNvPr id="27" name="Shape 24"/>
          <p:cNvSpPr/>
          <p:nvPr/>
        </p:nvSpPr>
        <p:spPr>
          <a:xfrm>
            <a:off x="877824" y="5193792"/>
            <a:ext cx="274320" cy="274320"/>
          </a:xfrm>
          <a:prstGeom prst="ellipse">
            <a:avLst/>
          </a:prstGeom>
          <a:solidFill>
            <a:srgbClr val="FFFFFF"/>
          </a:solidFill>
          <a:ln/>
        </p:spPr>
      </p:sp>
      <p:pic>
        <p:nvPicPr>
          <p:cNvPr id="28" name="Image 1" descr="preencoded.png">    </p:cNvPr>
          <p:cNvPicPr>
            <a:picLocks noChangeAspect="1"/>
          </p:cNvPicPr>
          <p:nvPr/>
        </p:nvPicPr>
        <p:blipFill>
          <a:blip r:embed="rId2"/>
          <a:stretch>
            <a:fillRect/>
          </a:stretch>
        </p:blipFill>
        <p:spPr>
          <a:xfrm>
            <a:off x="946404" y="5262372"/>
            <a:ext cx="137160" cy="137160"/>
          </a:xfrm>
          <a:prstGeom prst="rect">
            <a:avLst/>
          </a:prstGeom>
        </p:spPr>
      </p:pic>
      <p:sp>
        <p:nvSpPr>
          <p:cNvPr id="29" name="Text 25"/>
          <p:cNvSpPr/>
          <p:nvPr/>
        </p:nvSpPr>
        <p:spPr>
          <a:xfrm>
            <a:off x="1298448" y="5138928"/>
            <a:ext cx="5669280" cy="384048"/>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Every alert has a named owner to route to</a:t>
            </a:r>
            <a:endParaRPr lang="en-US" sz="1300" dirty="0"/>
          </a:p>
        </p:txBody>
      </p:sp>
      <p:sp>
        <p:nvSpPr>
          <p:cNvPr id="30" name="Shape 26"/>
          <p:cNvSpPr/>
          <p:nvPr/>
        </p:nvSpPr>
        <p:spPr>
          <a:xfrm>
            <a:off x="877824" y="5577840"/>
            <a:ext cx="274320" cy="274320"/>
          </a:xfrm>
          <a:prstGeom prst="ellipse">
            <a:avLst/>
          </a:prstGeom>
          <a:solidFill>
            <a:srgbClr val="FFFFFF"/>
          </a:solidFill>
          <a:ln/>
        </p:spPr>
      </p:sp>
      <p:pic>
        <p:nvPicPr>
          <p:cNvPr id="31" name="Image 2" descr="preencoded.png">    </p:cNvPr>
          <p:cNvPicPr>
            <a:picLocks noChangeAspect="1"/>
          </p:cNvPicPr>
          <p:nvPr/>
        </p:nvPicPr>
        <p:blipFill>
          <a:blip r:embed="rId3"/>
          <a:stretch>
            <a:fillRect/>
          </a:stretch>
        </p:blipFill>
        <p:spPr>
          <a:xfrm>
            <a:off x="946404" y="5646420"/>
            <a:ext cx="137160" cy="137160"/>
          </a:xfrm>
          <a:prstGeom prst="rect">
            <a:avLst/>
          </a:prstGeom>
        </p:spPr>
      </p:pic>
      <p:sp>
        <p:nvSpPr>
          <p:cNvPr id="32" name="Text 27"/>
          <p:cNvSpPr/>
          <p:nvPr/>
        </p:nvSpPr>
        <p:spPr>
          <a:xfrm>
            <a:off x="1298448" y="5522976"/>
            <a:ext cx="5669280" cy="384048"/>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Budgets are phased, so drift shows up in week one</a:t>
            </a:r>
            <a:endParaRPr lang="en-US" sz="1300" dirty="0"/>
          </a:p>
        </p:txBody>
      </p:sp>
      <p:sp>
        <p:nvSpPr>
          <p:cNvPr id="33" name="Shape 28"/>
          <p:cNvSpPr/>
          <p:nvPr/>
        </p:nvSpPr>
        <p:spPr>
          <a:xfrm>
            <a:off x="877824" y="5961888"/>
            <a:ext cx="274320" cy="274320"/>
          </a:xfrm>
          <a:prstGeom prst="ellipse">
            <a:avLst/>
          </a:prstGeom>
          <a:solidFill>
            <a:srgbClr val="FFFFFF"/>
          </a:solidFill>
          <a:ln/>
        </p:spPr>
      </p:sp>
      <p:pic>
        <p:nvPicPr>
          <p:cNvPr id="34" name="Image 3" descr="preencoded.png">    </p:cNvPr>
          <p:cNvPicPr>
            <a:picLocks noChangeAspect="1"/>
          </p:cNvPicPr>
          <p:nvPr/>
        </p:nvPicPr>
        <p:blipFill>
          <a:blip r:embed="rId4"/>
          <a:stretch>
            <a:fillRect/>
          </a:stretch>
        </p:blipFill>
        <p:spPr>
          <a:xfrm>
            <a:off x="946404" y="6030468"/>
            <a:ext cx="137160" cy="137160"/>
          </a:xfrm>
          <a:prstGeom prst="rect">
            <a:avLst/>
          </a:prstGeom>
        </p:spPr>
      </p:pic>
      <p:sp>
        <p:nvSpPr>
          <p:cNvPr id="35" name="Text 29"/>
          <p:cNvSpPr/>
          <p:nvPr/>
        </p:nvSpPr>
        <p:spPr>
          <a:xfrm>
            <a:off x="1298448" y="5907024"/>
            <a:ext cx="5669280" cy="384048"/>
          </a:xfrm>
          <a:prstGeom prst="rect">
            <a:avLst/>
          </a:prstGeom>
          <a:noFill/>
          <a:ln/>
        </p:spPr>
        <p:txBody>
          <a:bodyPr wrap="square" lIns="0" tIns="0" rIns="0" bIns="0" rtlCol="0" anchor="ctr"/>
          <a:lstStyle/>
          <a:p>
            <a:pPr indent="0" marL="0">
              <a:buNone/>
            </a:pPr>
            <a:r>
              <a:rPr lang="en-US" sz="1300" dirty="0">
                <a:solidFill>
                  <a:srgbClr val="1B2430"/>
                </a:solidFill>
                <a:latin typeface="Calibri" pitchFamily="34" charset="0"/>
                <a:ea typeface="Calibri" pitchFamily="34" charset="-122"/>
                <a:cs typeface="Calibri" pitchFamily="34" charset="-120"/>
              </a:rPr>
              <a:t>Quotas cap the worst case while someone investigates</a:t>
            </a:r>
            <a:endParaRPr lang="en-US" sz="1300" dirty="0"/>
          </a:p>
        </p:txBody>
      </p:sp>
      <p:sp>
        <p:nvSpPr>
          <p:cNvPr id="36" name="Shape 30"/>
          <p:cNvSpPr/>
          <p:nvPr/>
        </p:nvSpPr>
        <p:spPr>
          <a:xfrm>
            <a:off x="7525512" y="4297680"/>
            <a:ext cx="4114800" cy="2011680"/>
          </a:xfrm>
          <a:prstGeom prst="roundRect">
            <a:avLst>
              <a:gd name="adj" fmla="val 4091"/>
            </a:avLst>
          </a:prstGeom>
          <a:solidFill>
            <a:srgbClr val="1F2936"/>
          </a:solidFill>
          <a:ln/>
          <a:effectLst>
            <a:outerShdw sx="100000" sy="100000" kx="0" ky="0" algn="bl" rotWithShape="0" blurRad="127000" dist="25400" dir="5400000">
              <a:srgbClr val="8C99A8">
                <a:alpha val="16000"/>
              </a:srgbClr>
            </a:outerShdw>
          </a:effectLst>
        </p:spPr>
      </p:sp>
      <p:sp>
        <p:nvSpPr>
          <p:cNvPr id="37" name="Text 31"/>
          <p:cNvSpPr/>
          <p:nvPr/>
        </p:nvSpPr>
        <p:spPr>
          <a:xfrm>
            <a:off x="7818120" y="4462272"/>
            <a:ext cx="3200400" cy="292608"/>
          </a:xfrm>
          <a:prstGeom prst="rect">
            <a:avLst/>
          </a:prstGeom>
          <a:noFill/>
          <a:ln/>
        </p:spPr>
        <p:txBody>
          <a:bodyPr wrap="square" lIns="0" tIns="0" rIns="0" bIns="0" rtlCol="0" anchor="ctr"/>
          <a:lstStyle/>
          <a:p>
            <a:pPr indent="0" marL="0">
              <a:buNone/>
            </a:pPr>
            <a:r>
              <a:rPr lang="en-US" sz="1200" b="1" spc="180" kern="0" dirty="0">
                <a:solidFill>
                  <a:srgbClr val="E39B2C"/>
                </a:solidFill>
                <a:latin typeface="Calibri" pitchFamily="34" charset="0"/>
                <a:ea typeface="Calibri" pitchFamily="34" charset="-122"/>
                <a:cs typeface="Calibri" pitchFamily="34" charset="-120"/>
              </a:rPr>
              <a:t>The point</a:t>
            </a:r>
            <a:endParaRPr lang="en-US" sz="1200" dirty="0"/>
          </a:p>
        </p:txBody>
      </p:sp>
      <p:sp>
        <p:nvSpPr>
          <p:cNvPr id="38" name="Text 32"/>
          <p:cNvSpPr/>
          <p:nvPr/>
        </p:nvSpPr>
        <p:spPr>
          <a:xfrm>
            <a:off x="7818120" y="4828032"/>
            <a:ext cx="3529584" cy="1280160"/>
          </a:xfrm>
          <a:prstGeom prst="rect">
            <a:avLst/>
          </a:prstGeom>
          <a:noFill/>
          <a:ln/>
        </p:spPr>
        <p:txBody>
          <a:bodyPr wrap="square" lIns="0" tIns="0" rIns="0" bIns="0" rtlCol="0" anchor="t"/>
          <a:lstStyle/>
          <a:p>
            <a:pPr indent="0" marL="0">
              <a:lnSpc>
                <a:spcPts val="2200"/>
              </a:lnSpc>
              <a:buNone/>
            </a:pPr>
            <a:r>
              <a:rPr lang="en-US" sz="1550" i="1" dirty="0">
                <a:solidFill>
                  <a:srgbClr val="FFFFFF"/>
                </a:solidFill>
                <a:latin typeface="Cambria" pitchFamily="34" charset="0"/>
                <a:ea typeface="Cambria" pitchFamily="34" charset="-122"/>
                <a:cs typeface="Cambria" pitchFamily="34" charset="-120"/>
              </a:rPr>
              <a:t>The goal is not a smaller invoice. It is an invoice with nothing in it you have not already seen, explained and decided about.</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THE PATH FORWARD</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1B2430"/>
                </a:solidFill>
                <a:latin typeface="Cambria" pitchFamily="34" charset="0"/>
                <a:ea typeface="Cambria" pitchFamily="34" charset="-122"/>
                <a:cs typeface="Cambria" pitchFamily="34" charset="-120"/>
              </a:rPr>
              <a:t>Where to start</a:t>
            </a:r>
            <a:endParaRPr lang="en-US" sz="3100" dirty="0"/>
          </a:p>
        </p:txBody>
      </p:sp>
      <p:sp>
        <p:nvSpPr>
          <p:cNvPr id="4" name="Shape 2"/>
          <p:cNvSpPr/>
          <p:nvPr/>
        </p:nvSpPr>
        <p:spPr>
          <a:xfrm>
            <a:off x="548640" y="1783080"/>
            <a:ext cx="2587752" cy="2423160"/>
          </a:xfrm>
          <a:prstGeom prst="roundRect">
            <a:avLst>
              <a:gd name="adj" fmla="val 3396"/>
            </a:avLst>
          </a:prstGeom>
          <a:solidFill>
            <a:srgbClr val="1F2936"/>
          </a:solidFill>
          <a:ln/>
        </p:spPr>
      </p:sp>
      <p:sp>
        <p:nvSpPr>
          <p:cNvPr id="5" name="Text 3"/>
          <p:cNvSpPr/>
          <p:nvPr/>
        </p:nvSpPr>
        <p:spPr>
          <a:xfrm>
            <a:off x="804672" y="1965960"/>
            <a:ext cx="1097280" cy="502920"/>
          </a:xfrm>
          <a:prstGeom prst="rect">
            <a:avLst/>
          </a:prstGeom>
          <a:noFill/>
          <a:ln/>
        </p:spPr>
        <p:txBody>
          <a:bodyPr wrap="square" lIns="0" tIns="0" rIns="0" bIns="0" rtlCol="0" anchor="ctr"/>
          <a:lstStyle/>
          <a:p>
            <a:pPr indent="0" marL="0">
              <a:buNone/>
            </a:pPr>
            <a:r>
              <a:rPr lang="en-US" sz="2800" b="1" dirty="0">
                <a:solidFill>
                  <a:srgbClr val="E39B2C"/>
                </a:solidFill>
                <a:latin typeface="Cambria" pitchFamily="34" charset="0"/>
                <a:ea typeface="Cambria" pitchFamily="34" charset="-122"/>
                <a:cs typeface="Cambria" pitchFamily="34" charset="-120"/>
              </a:rPr>
              <a:t>01</a:t>
            </a:r>
            <a:endParaRPr lang="en-US" sz="2800" dirty="0"/>
          </a:p>
        </p:txBody>
      </p:sp>
      <p:sp>
        <p:nvSpPr>
          <p:cNvPr id="6" name="Text 4"/>
          <p:cNvSpPr/>
          <p:nvPr/>
        </p:nvSpPr>
        <p:spPr>
          <a:xfrm>
            <a:off x="786384" y="2523744"/>
            <a:ext cx="2139696" cy="786384"/>
          </a:xfrm>
          <a:prstGeom prst="rect">
            <a:avLst/>
          </a:prstGeom>
          <a:noFill/>
          <a:ln/>
        </p:spPr>
        <p:txBody>
          <a:bodyPr wrap="square" lIns="0" tIns="0" rIns="0" bIns="0" rtlCol="0" anchor="t"/>
          <a:lstStyle/>
          <a:p>
            <a:pPr indent="0" marL="0">
              <a:lnSpc>
                <a:spcPts val="2000"/>
              </a:lnSpc>
              <a:buNone/>
            </a:pPr>
            <a:r>
              <a:rPr lang="en-US" sz="1500" b="1" dirty="0">
                <a:solidFill>
                  <a:srgbClr val="FFFFFF"/>
                </a:solidFill>
                <a:latin typeface="Cambria" pitchFamily="34" charset="0"/>
                <a:ea typeface="Cambria" pitchFamily="34" charset="-122"/>
                <a:cs typeface="Cambria" pitchFamily="34" charset="-120"/>
              </a:rPr>
              <a:t>Set the tagging standard</a:t>
            </a:r>
            <a:endParaRPr lang="en-US" sz="1500" dirty="0"/>
          </a:p>
        </p:txBody>
      </p:sp>
      <p:sp>
        <p:nvSpPr>
          <p:cNvPr id="7" name="Text 5"/>
          <p:cNvSpPr/>
          <p:nvPr/>
        </p:nvSpPr>
        <p:spPr>
          <a:xfrm>
            <a:off x="786384" y="3346704"/>
            <a:ext cx="2139696" cy="749808"/>
          </a:xfrm>
          <a:prstGeom prst="rect">
            <a:avLst/>
          </a:prstGeom>
          <a:noFill/>
          <a:ln/>
        </p:spPr>
        <p:txBody>
          <a:bodyPr wrap="square" lIns="0" tIns="0" rIns="0" bIns="0" rtlCol="0" anchor="t"/>
          <a:lstStyle/>
          <a:p>
            <a:pPr indent="0" marL="0">
              <a:lnSpc>
                <a:spcPts val="1500"/>
              </a:lnSpc>
              <a:buNone/>
            </a:pPr>
            <a:r>
              <a:rPr lang="en-US" sz="1200" dirty="0">
                <a:solidFill>
                  <a:srgbClr val="9EABBA"/>
                </a:solidFill>
                <a:latin typeface="Calibri" pitchFamily="34" charset="0"/>
                <a:ea typeface="Calibri" pitchFamily="34" charset="-122"/>
                <a:cs typeface="Calibri" pitchFamily="34" charset="-120"/>
              </a:rPr>
              <a:t>Agree a consistent taxonomy before investing in dashboards.</a:t>
            </a:r>
            <a:endParaRPr lang="en-US" sz="1200" dirty="0"/>
          </a:p>
        </p:txBody>
      </p:sp>
      <p:sp>
        <p:nvSpPr>
          <p:cNvPr id="8" name="Shape 6"/>
          <p:cNvSpPr/>
          <p:nvPr/>
        </p:nvSpPr>
        <p:spPr>
          <a:xfrm>
            <a:off x="3383280" y="1783080"/>
            <a:ext cx="2587752" cy="2423160"/>
          </a:xfrm>
          <a:prstGeom prst="roundRect">
            <a:avLst>
              <a:gd name="adj" fmla="val 3396"/>
            </a:avLst>
          </a:prstGeom>
          <a:solidFill>
            <a:srgbClr val="F1F3F6"/>
          </a:solidFill>
          <a:ln/>
        </p:spPr>
      </p:sp>
      <p:sp>
        <p:nvSpPr>
          <p:cNvPr id="9" name="Text 7"/>
          <p:cNvSpPr/>
          <p:nvPr/>
        </p:nvSpPr>
        <p:spPr>
          <a:xfrm>
            <a:off x="3639312" y="1965960"/>
            <a:ext cx="1097280" cy="502920"/>
          </a:xfrm>
          <a:prstGeom prst="rect">
            <a:avLst/>
          </a:prstGeom>
          <a:noFill/>
          <a:ln/>
        </p:spPr>
        <p:txBody>
          <a:bodyPr wrap="square" lIns="0" tIns="0" rIns="0" bIns="0" rtlCol="0" anchor="ctr"/>
          <a:lstStyle/>
          <a:p>
            <a:pPr indent="0" marL="0">
              <a:buNone/>
            </a:pPr>
            <a:r>
              <a:rPr lang="en-US" sz="2800" b="1" dirty="0">
                <a:solidFill>
                  <a:srgbClr val="B9C2CD"/>
                </a:solidFill>
                <a:latin typeface="Cambria" pitchFamily="34" charset="0"/>
                <a:ea typeface="Cambria" pitchFamily="34" charset="-122"/>
                <a:cs typeface="Cambria" pitchFamily="34" charset="-120"/>
              </a:rPr>
              <a:t>02</a:t>
            </a:r>
            <a:endParaRPr lang="en-US" sz="2800" dirty="0"/>
          </a:p>
        </p:txBody>
      </p:sp>
      <p:sp>
        <p:nvSpPr>
          <p:cNvPr id="10" name="Text 8"/>
          <p:cNvSpPr/>
          <p:nvPr/>
        </p:nvSpPr>
        <p:spPr>
          <a:xfrm>
            <a:off x="3621024" y="2523744"/>
            <a:ext cx="2139696" cy="786384"/>
          </a:xfrm>
          <a:prstGeom prst="rect">
            <a:avLst/>
          </a:prstGeom>
          <a:noFill/>
          <a:ln/>
        </p:spPr>
        <p:txBody>
          <a:bodyPr wrap="square" lIns="0" tIns="0" rIns="0" bIns="0" rtlCol="0" anchor="t"/>
          <a:lstStyle/>
          <a:p>
            <a:pPr indent="0" marL="0">
              <a:lnSpc>
                <a:spcPts val="2000"/>
              </a:lnSpc>
              <a:buNone/>
            </a:pPr>
            <a:r>
              <a:rPr lang="en-US" sz="1500" b="1" dirty="0">
                <a:solidFill>
                  <a:srgbClr val="1B2430"/>
                </a:solidFill>
                <a:latin typeface="Cambria" pitchFamily="34" charset="0"/>
                <a:ea typeface="Cambria" pitchFamily="34" charset="-122"/>
                <a:cs typeface="Cambria" pitchFamily="34" charset="-120"/>
              </a:rPr>
              <a:t>Start with the biggest spend</a:t>
            </a:r>
            <a:endParaRPr lang="en-US" sz="1500" dirty="0"/>
          </a:p>
        </p:txBody>
      </p:sp>
      <p:sp>
        <p:nvSpPr>
          <p:cNvPr id="11" name="Text 9"/>
          <p:cNvSpPr/>
          <p:nvPr/>
        </p:nvSpPr>
        <p:spPr>
          <a:xfrm>
            <a:off x="3621024" y="3346704"/>
            <a:ext cx="2139696" cy="749808"/>
          </a:xfrm>
          <a:prstGeom prst="rect">
            <a:avLst/>
          </a:prstGeom>
          <a:noFill/>
          <a:ln/>
        </p:spPr>
        <p:txBody>
          <a:bodyPr wrap="square" lIns="0" tIns="0" rIns="0" bIns="0" rtlCol="0" anchor="t"/>
          <a:lstStyle/>
          <a:p>
            <a:pPr indent="0" marL="0">
              <a:lnSpc>
                <a:spcPts val="1500"/>
              </a:lnSpc>
              <a:buNone/>
            </a:pPr>
            <a:r>
              <a:rPr lang="en-US" sz="1200" dirty="0">
                <a:solidFill>
                  <a:srgbClr val="5C6675"/>
                </a:solidFill>
                <a:latin typeface="Calibri" pitchFamily="34" charset="0"/>
                <a:ea typeface="Calibri" pitchFamily="34" charset="-122"/>
                <a:cs typeface="Calibri" pitchFamily="34" charset="-120"/>
              </a:rPr>
              <a:t>Attack the largest categories first. Don't chase perfect granularity everywhere.</a:t>
            </a:r>
            <a:endParaRPr lang="en-US" sz="1200" dirty="0"/>
          </a:p>
        </p:txBody>
      </p:sp>
      <p:sp>
        <p:nvSpPr>
          <p:cNvPr id="12" name="Shape 10"/>
          <p:cNvSpPr/>
          <p:nvPr/>
        </p:nvSpPr>
        <p:spPr>
          <a:xfrm>
            <a:off x="6217920" y="1783080"/>
            <a:ext cx="2587752" cy="2423160"/>
          </a:xfrm>
          <a:prstGeom prst="roundRect">
            <a:avLst>
              <a:gd name="adj" fmla="val 3396"/>
            </a:avLst>
          </a:prstGeom>
          <a:solidFill>
            <a:srgbClr val="F1F3F6"/>
          </a:solidFill>
          <a:ln/>
        </p:spPr>
      </p:sp>
      <p:sp>
        <p:nvSpPr>
          <p:cNvPr id="13" name="Text 11"/>
          <p:cNvSpPr/>
          <p:nvPr/>
        </p:nvSpPr>
        <p:spPr>
          <a:xfrm>
            <a:off x="6473952" y="1965960"/>
            <a:ext cx="1097280" cy="502920"/>
          </a:xfrm>
          <a:prstGeom prst="rect">
            <a:avLst/>
          </a:prstGeom>
          <a:noFill/>
          <a:ln/>
        </p:spPr>
        <p:txBody>
          <a:bodyPr wrap="square" lIns="0" tIns="0" rIns="0" bIns="0" rtlCol="0" anchor="ctr"/>
          <a:lstStyle/>
          <a:p>
            <a:pPr indent="0" marL="0">
              <a:buNone/>
            </a:pPr>
            <a:r>
              <a:rPr lang="en-US" sz="2800" b="1" dirty="0">
                <a:solidFill>
                  <a:srgbClr val="B9C2CD"/>
                </a:solidFill>
                <a:latin typeface="Cambria" pitchFamily="34" charset="0"/>
                <a:ea typeface="Cambria" pitchFamily="34" charset="-122"/>
                <a:cs typeface="Cambria" pitchFamily="34" charset="-120"/>
              </a:rPr>
              <a:t>03</a:t>
            </a:r>
            <a:endParaRPr lang="en-US" sz="2800" dirty="0"/>
          </a:p>
        </p:txBody>
      </p:sp>
      <p:sp>
        <p:nvSpPr>
          <p:cNvPr id="14" name="Text 12"/>
          <p:cNvSpPr/>
          <p:nvPr/>
        </p:nvSpPr>
        <p:spPr>
          <a:xfrm>
            <a:off x="6455664" y="2523744"/>
            <a:ext cx="2139696" cy="786384"/>
          </a:xfrm>
          <a:prstGeom prst="rect">
            <a:avLst/>
          </a:prstGeom>
          <a:noFill/>
          <a:ln/>
        </p:spPr>
        <p:txBody>
          <a:bodyPr wrap="square" lIns="0" tIns="0" rIns="0" bIns="0" rtlCol="0" anchor="t"/>
          <a:lstStyle/>
          <a:p>
            <a:pPr indent="0" marL="0">
              <a:lnSpc>
                <a:spcPts val="2000"/>
              </a:lnSpc>
              <a:buNone/>
            </a:pPr>
            <a:r>
              <a:rPr lang="en-US" sz="1500" b="1" dirty="0">
                <a:solidFill>
                  <a:srgbClr val="1B2430"/>
                </a:solidFill>
                <a:latin typeface="Cambria" pitchFamily="34" charset="0"/>
                <a:ea typeface="Cambria" pitchFamily="34" charset="-122"/>
                <a:cs typeface="Cambria" pitchFamily="34" charset="-120"/>
              </a:rPr>
              <a:t>Get finance and engineering talking</a:t>
            </a:r>
            <a:endParaRPr lang="en-US" sz="1500" dirty="0"/>
          </a:p>
        </p:txBody>
      </p:sp>
      <p:sp>
        <p:nvSpPr>
          <p:cNvPr id="15" name="Text 13"/>
          <p:cNvSpPr/>
          <p:nvPr/>
        </p:nvSpPr>
        <p:spPr>
          <a:xfrm>
            <a:off x="6455664" y="3346704"/>
            <a:ext cx="2139696" cy="749808"/>
          </a:xfrm>
          <a:prstGeom prst="rect">
            <a:avLst/>
          </a:prstGeom>
          <a:noFill/>
          <a:ln/>
        </p:spPr>
        <p:txBody>
          <a:bodyPr wrap="square" lIns="0" tIns="0" rIns="0" bIns="0" rtlCol="0" anchor="t"/>
          <a:lstStyle/>
          <a:p>
            <a:pPr indent="0" marL="0">
              <a:lnSpc>
                <a:spcPts val="1500"/>
              </a:lnSpc>
              <a:buNone/>
            </a:pPr>
            <a:r>
              <a:rPr lang="en-US" sz="1200" dirty="0">
                <a:solidFill>
                  <a:srgbClr val="5C6675"/>
                </a:solidFill>
                <a:latin typeface="Calibri" pitchFamily="34" charset="0"/>
                <a:ea typeface="Calibri" pitchFamily="34" charset="-122"/>
                <a:cs typeface="Calibri" pitchFamily="34" charset="-120"/>
              </a:rPr>
              <a:t>Bring both into the conversation early, not as an afterthought.</a:t>
            </a:r>
            <a:endParaRPr lang="en-US" sz="1200" dirty="0"/>
          </a:p>
        </p:txBody>
      </p:sp>
      <p:sp>
        <p:nvSpPr>
          <p:cNvPr id="16" name="Shape 14"/>
          <p:cNvSpPr/>
          <p:nvPr/>
        </p:nvSpPr>
        <p:spPr>
          <a:xfrm>
            <a:off x="9052560" y="1783080"/>
            <a:ext cx="2587752" cy="2423160"/>
          </a:xfrm>
          <a:prstGeom prst="roundRect">
            <a:avLst>
              <a:gd name="adj" fmla="val 3396"/>
            </a:avLst>
          </a:prstGeom>
          <a:solidFill>
            <a:srgbClr val="F1F3F6"/>
          </a:solidFill>
          <a:ln/>
        </p:spPr>
      </p:sp>
      <p:sp>
        <p:nvSpPr>
          <p:cNvPr id="17" name="Text 15"/>
          <p:cNvSpPr/>
          <p:nvPr/>
        </p:nvSpPr>
        <p:spPr>
          <a:xfrm>
            <a:off x="9308592" y="1965960"/>
            <a:ext cx="1097280" cy="502920"/>
          </a:xfrm>
          <a:prstGeom prst="rect">
            <a:avLst/>
          </a:prstGeom>
          <a:noFill/>
          <a:ln/>
        </p:spPr>
        <p:txBody>
          <a:bodyPr wrap="square" lIns="0" tIns="0" rIns="0" bIns="0" rtlCol="0" anchor="ctr"/>
          <a:lstStyle/>
          <a:p>
            <a:pPr indent="0" marL="0">
              <a:buNone/>
            </a:pPr>
            <a:r>
              <a:rPr lang="en-US" sz="2800" b="1" dirty="0">
                <a:solidFill>
                  <a:srgbClr val="B9C2CD"/>
                </a:solidFill>
                <a:latin typeface="Cambria" pitchFamily="34" charset="0"/>
                <a:ea typeface="Cambria" pitchFamily="34" charset="-122"/>
                <a:cs typeface="Cambria" pitchFamily="34" charset="-120"/>
              </a:rPr>
              <a:t>04</a:t>
            </a:r>
            <a:endParaRPr lang="en-US" sz="2800" dirty="0"/>
          </a:p>
        </p:txBody>
      </p:sp>
      <p:sp>
        <p:nvSpPr>
          <p:cNvPr id="18" name="Text 16"/>
          <p:cNvSpPr/>
          <p:nvPr/>
        </p:nvSpPr>
        <p:spPr>
          <a:xfrm>
            <a:off x="9290304" y="2523744"/>
            <a:ext cx="2139696" cy="786384"/>
          </a:xfrm>
          <a:prstGeom prst="rect">
            <a:avLst/>
          </a:prstGeom>
          <a:noFill/>
          <a:ln/>
        </p:spPr>
        <p:txBody>
          <a:bodyPr wrap="square" lIns="0" tIns="0" rIns="0" bIns="0" rtlCol="0" anchor="t"/>
          <a:lstStyle/>
          <a:p>
            <a:pPr indent="0" marL="0">
              <a:lnSpc>
                <a:spcPts val="2000"/>
              </a:lnSpc>
              <a:buNone/>
            </a:pPr>
            <a:r>
              <a:rPr lang="en-US" sz="1500" b="1" dirty="0">
                <a:solidFill>
                  <a:srgbClr val="1B2430"/>
                </a:solidFill>
                <a:latin typeface="Cambria" pitchFamily="34" charset="0"/>
                <a:ea typeface="Cambria" pitchFamily="34" charset="-122"/>
                <a:cs typeface="Cambria" pitchFamily="34" charset="-120"/>
              </a:rPr>
              <a:t>Set guardrails early</a:t>
            </a:r>
            <a:endParaRPr lang="en-US" sz="1500" dirty="0"/>
          </a:p>
        </p:txBody>
      </p:sp>
      <p:sp>
        <p:nvSpPr>
          <p:cNvPr id="19" name="Text 17"/>
          <p:cNvSpPr/>
          <p:nvPr/>
        </p:nvSpPr>
        <p:spPr>
          <a:xfrm>
            <a:off x="9290304" y="3346704"/>
            <a:ext cx="2139696" cy="749808"/>
          </a:xfrm>
          <a:prstGeom prst="rect">
            <a:avLst/>
          </a:prstGeom>
          <a:noFill/>
          <a:ln/>
        </p:spPr>
        <p:txBody>
          <a:bodyPr wrap="square" lIns="0" tIns="0" rIns="0" bIns="0" rtlCol="0" anchor="t"/>
          <a:lstStyle/>
          <a:p>
            <a:pPr indent="0" marL="0">
              <a:lnSpc>
                <a:spcPts val="1500"/>
              </a:lnSpc>
              <a:buNone/>
            </a:pPr>
            <a:r>
              <a:rPr lang="en-US" sz="1200" dirty="0">
                <a:solidFill>
                  <a:srgbClr val="5C6675"/>
                </a:solidFill>
                <a:latin typeface="Calibri" pitchFamily="34" charset="0"/>
                <a:ea typeface="Calibri" pitchFamily="34" charset="-122"/>
                <a:cs typeface="Calibri" pitchFamily="34" charset="-120"/>
              </a:rPr>
              <a:t>Owners, budget thresholds and quotas cost little to add — and stop the expensive surprises.</a:t>
            </a:r>
            <a:endParaRPr lang="en-US" sz="1200" dirty="0"/>
          </a:p>
        </p:txBody>
      </p:sp>
      <p:sp>
        <p:nvSpPr>
          <p:cNvPr id="20" name="Shape 18"/>
          <p:cNvSpPr/>
          <p:nvPr/>
        </p:nvSpPr>
        <p:spPr>
          <a:xfrm>
            <a:off x="548640" y="4434840"/>
            <a:ext cx="11091672" cy="1874520"/>
          </a:xfrm>
          <a:prstGeom prst="roundRect">
            <a:avLst>
              <a:gd name="adj" fmla="val 4390"/>
            </a:avLst>
          </a:prstGeom>
          <a:solidFill>
            <a:srgbClr val="F1F3F6"/>
          </a:solidFill>
          <a:ln/>
        </p:spPr>
      </p:sp>
      <p:sp>
        <p:nvSpPr>
          <p:cNvPr id="21" name="Text 19"/>
          <p:cNvSpPr/>
          <p:nvPr/>
        </p:nvSpPr>
        <p:spPr>
          <a:xfrm>
            <a:off x="877824" y="4572000"/>
            <a:ext cx="6035040" cy="292608"/>
          </a:xfrm>
          <a:prstGeom prst="rect">
            <a:avLst/>
          </a:prstGeom>
          <a:noFill/>
          <a:ln/>
        </p:spPr>
        <p:txBody>
          <a:bodyPr wrap="square" lIns="0" tIns="0" rIns="0" bIns="0" rtlCol="0" anchor="ctr"/>
          <a:lstStyle/>
          <a:p>
            <a:pPr indent="0" marL="0">
              <a:buNone/>
            </a:pPr>
            <a:r>
              <a:rPr lang="en-US" sz="1200" b="1" spc="180" kern="0" dirty="0">
                <a:solidFill>
                  <a:srgbClr val="5C6675"/>
                </a:solidFill>
                <a:latin typeface="Calibri" pitchFamily="34" charset="0"/>
                <a:ea typeface="Calibri" pitchFamily="34" charset="-122"/>
                <a:cs typeface="Calibri" pitchFamily="34" charset="-120"/>
              </a:rPr>
              <a:t>Tooling — match the footprint, not the ambition</a:t>
            </a:r>
            <a:endParaRPr lang="en-US" sz="1200" dirty="0"/>
          </a:p>
        </p:txBody>
      </p:sp>
      <p:sp>
        <p:nvSpPr>
          <p:cNvPr id="22" name="Text 20"/>
          <p:cNvSpPr/>
          <p:nvPr/>
        </p:nvSpPr>
        <p:spPr>
          <a:xfrm>
            <a:off x="877824" y="4937760"/>
            <a:ext cx="1737360" cy="384048"/>
          </a:xfrm>
          <a:prstGeom prst="rect">
            <a:avLst/>
          </a:prstGeom>
          <a:noFill/>
          <a:ln/>
        </p:spPr>
        <p:txBody>
          <a:bodyPr wrap="square" lIns="0" tIns="0" rIns="0" bIns="0" rtlCol="0" anchor="ctr"/>
          <a:lstStyle/>
          <a:p>
            <a:pPr indent="0" marL="0">
              <a:buNone/>
            </a:pPr>
            <a:r>
              <a:rPr lang="en-US" sz="1350" b="1" dirty="0">
                <a:solidFill>
                  <a:srgbClr val="2E8B7A"/>
                </a:solidFill>
                <a:latin typeface="Calibri" pitchFamily="34" charset="0"/>
                <a:ea typeface="Calibri" pitchFamily="34" charset="-122"/>
                <a:cs typeface="Calibri" pitchFamily="34" charset="-120"/>
              </a:rPr>
              <a:t>Native</a:t>
            </a:r>
            <a:endParaRPr lang="en-US" sz="1350" dirty="0"/>
          </a:p>
        </p:txBody>
      </p:sp>
      <p:sp>
        <p:nvSpPr>
          <p:cNvPr id="23" name="Text 21"/>
          <p:cNvSpPr/>
          <p:nvPr/>
        </p:nvSpPr>
        <p:spPr>
          <a:xfrm>
            <a:off x="2651760" y="4937760"/>
            <a:ext cx="8595360" cy="384048"/>
          </a:xfrm>
          <a:prstGeom prst="rect">
            <a:avLst/>
          </a:prstGeom>
          <a:noFill/>
          <a:ln/>
        </p:spPr>
        <p:txBody>
          <a:bodyPr wrap="square" lIns="0" tIns="0" rIns="0" bIns="0" rtlCol="0" anchor="ctr"/>
          <a:lstStyle/>
          <a:p>
            <a:pPr indent="0" marL="0">
              <a:buNone/>
            </a:pPr>
            <a:r>
              <a:rPr lang="en-US" sz="1350" dirty="0">
                <a:solidFill>
                  <a:srgbClr val="5C6675"/>
                </a:solidFill>
                <a:latin typeface="Calibri" pitchFamily="34" charset="0"/>
                <a:ea typeface="Calibri" pitchFamily="34" charset="-122"/>
                <a:cs typeface="Calibri" pitchFamily="34" charset="-120"/>
              </a:rPr>
              <a:t>AWS Cost Explorer  ·  Azure Cost Management  ·  GCP Billing</a:t>
            </a:r>
            <a:endParaRPr lang="en-US" sz="1350" dirty="0"/>
          </a:p>
        </p:txBody>
      </p:sp>
      <p:sp>
        <p:nvSpPr>
          <p:cNvPr id="24" name="Text 22"/>
          <p:cNvSpPr/>
          <p:nvPr/>
        </p:nvSpPr>
        <p:spPr>
          <a:xfrm>
            <a:off x="877824" y="5349240"/>
            <a:ext cx="1737360" cy="384048"/>
          </a:xfrm>
          <a:prstGeom prst="rect">
            <a:avLst/>
          </a:prstGeom>
          <a:noFill/>
          <a:ln/>
        </p:spPr>
        <p:txBody>
          <a:bodyPr wrap="square" lIns="0" tIns="0" rIns="0" bIns="0" rtlCol="0" anchor="ctr"/>
          <a:lstStyle/>
          <a:p>
            <a:pPr indent="0" marL="0">
              <a:buNone/>
            </a:pPr>
            <a:r>
              <a:rPr lang="en-US" sz="1350" b="1" dirty="0">
                <a:solidFill>
                  <a:srgbClr val="B87B18"/>
                </a:solidFill>
                <a:latin typeface="Calibri" pitchFamily="34" charset="0"/>
                <a:ea typeface="Calibri" pitchFamily="34" charset="-122"/>
                <a:cs typeface="Calibri" pitchFamily="34" charset="-120"/>
              </a:rPr>
              <a:t>Third-party</a:t>
            </a:r>
            <a:endParaRPr lang="en-US" sz="1350" dirty="0"/>
          </a:p>
        </p:txBody>
      </p:sp>
      <p:sp>
        <p:nvSpPr>
          <p:cNvPr id="25" name="Text 23"/>
          <p:cNvSpPr/>
          <p:nvPr/>
        </p:nvSpPr>
        <p:spPr>
          <a:xfrm>
            <a:off x="2651760" y="5349240"/>
            <a:ext cx="8595360" cy="384048"/>
          </a:xfrm>
          <a:prstGeom prst="rect">
            <a:avLst/>
          </a:prstGeom>
          <a:noFill/>
          <a:ln/>
        </p:spPr>
        <p:txBody>
          <a:bodyPr wrap="square" lIns="0" tIns="0" rIns="0" bIns="0" rtlCol="0" anchor="ctr"/>
          <a:lstStyle/>
          <a:p>
            <a:pPr indent="0" marL="0">
              <a:buNone/>
            </a:pPr>
            <a:r>
              <a:rPr lang="en-US" sz="1350" dirty="0">
                <a:solidFill>
                  <a:srgbClr val="5C6675"/>
                </a:solidFill>
                <a:latin typeface="Calibri" pitchFamily="34" charset="0"/>
                <a:ea typeface="Calibri" pitchFamily="34" charset="-122"/>
                <a:cs typeface="Calibri" pitchFamily="34" charset="-120"/>
              </a:rPr>
              <a:t>CloudHealth  ·  Apptio  ·  Vantage  ·  nOps  ·  Finout  ·  CoreStack</a:t>
            </a:r>
            <a:endParaRPr lang="en-US" sz="1350" dirty="0"/>
          </a:p>
        </p:txBody>
      </p:sp>
      <p:sp>
        <p:nvSpPr>
          <p:cNvPr id="26" name="Text 24"/>
          <p:cNvSpPr/>
          <p:nvPr/>
        </p:nvSpPr>
        <p:spPr>
          <a:xfrm>
            <a:off x="877824" y="5760720"/>
            <a:ext cx="1737360" cy="384048"/>
          </a:xfrm>
          <a:prstGeom prst="rect">
            <a:avLst/>
          </a:prstGeom>
          <a:noFill/>
          <a:ln/>
        </p:spPr>
        <p:txBody>
          <a:bodyPr wrap="square" lIns="0" tIns="0" rIns="0" bIns="0" rtlCol="0" anchor="ctr"/>
          <a:lstStyle/>
          <a:p>
            <a:pPr indent="0" marL="0">
              <a:buNone/>
            </a:pPr>
            <a:r>
              <a:rPr lang="en-US" sz="1350" b="1" dirty="0">
                <a:solidFill>
                  <a:srgbClr val="1B2430"/>
                </a:solidFill>
                <a:latin typeface="Calibri" pitchFamily="34" charset="0"/>
                <a:ea typeface="Calibri" pitchFamily="34" charset="-122"/>
                <a:cs typeface="Calibri" pitchFamily="34" charset="-120"/>
              </a:rPr>
              <a:t>Standard</a:t>
            </a:r>
            <a:endParaRPr lang="en-US" sz="1350" dirty="0"/>
          </a:p>
        </p:txBody>
      </p:sp>
      <p:sp>
        <p:nvSpPr>
          <p:cNvPr id="27" name="Text 25"/>
          <p:cNvSpPr/>
          <p:nvPr/>
        </p:nvSpPr>
        <p:spPr>
          <a:xfrm>
            <a:off x="2651760" y="5760720"/>
            <a:ext cx="8595360" cy="384048"/>
          </a:xfrm>
          <a:prstGeom prst="rect">
            <a:avLst/>
          </a:prstGeom>
          <a:noFill/>
          <a:ln/>
        </p:spPr>
        <p:txBody>
          <a:bodyPr wrap="square" lIns="0" tIns="0" rIns="0" bIns="0" rtlCol="0" anchor="ctr"/>
          <a:lstStyle/>
          <a:p>
            <a:pPr indent="0" marL="0">
              <a:buNone/>
            </a:pPr>
            <a:r>
              <a:rPr lang="en-US" sz="1350" dirty="0">
                <a:solidFill>
                  <a:srgbClr val="5C6675"/>
                </a:solidFill>
                <a:latin typeface="Calibri" pitchFamily="34" charset="0"/>
                <a:ea typeface="Calibri" pitchFamily="34" charset="-122"/>
                <a:cs typeface="Calibri" pitchFamily="34" charset="-120"/>
              </a:rPr>
              <a:t>FOCUS-compliant platforms for multi-cloud reporting</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A22"/>
        </a:solidFill>
      </p:bgPr>
    </p:bg>
    <p:spTree>
      <p:nvGrpSpPr>
        <p:cNvPr id="1" name=""/>
        <p:cNvGrpSpPr/>
        <p:nvPr/>
      </p:nvGrpSpPr>
      <p:grpSpPr>
        <a:xfrm>
          <a:off x="0" y="0"/>
          <a:ext cx="0" cy="0"/>
          <a:chOff x="0" y="0"/>
          <a:chExt cx="0" cy="0"/>
        </a:xfrm>
      </p:grpSpPr>
      <p:sp>
        <p:nvSpPr>
          <p:cNvPr id="2" name="Text 0"/>
          <p:cNvSpPr/>
          <p:nvPr/>
        </p:nvSpPr>
        <p:spPr>
          <a:xfrm>
            <a:off x="548640" y="475488"/>
            <a:ext cx="7315200" cy="256032"/>
          </a:xfrm>
          <a:prstGeom prst="rect">
            <a:avLst/>
          </a:prstGeom>
          <a:noFill/>
          <a:ln/>
        </p:spPr>
        <p:txBody>
          <a:bodyPr wrap="square" lIns="0" tIns="0" rIns="0" bIns="0" rtlCol="0" anchor="ctr"/>
          <a:lstStyle/>
          <a:p>
            <a:pPr indent="0" marL="0">
              <a:buNone/>
            </a:pPr>
            <a:r>
              <a:rPr lang="en-US" sz="1100" b="1" spc="220" kern="0" dirty="0">
                <a:solidFill>
                  <a:srgbClr val="E39B2C"/>
                </a:solidFill>
                <a:latin typeface="Calibri" pitchFamily="34" charset="0"/>
                <a:ea typeface="Calibri" pitchFamily="34" charset="-122"/>
                <a:cs typeface="Calibri" pitchFamily="34" charset="-120"/>
              </a:rPr>
              <a:t>KEY TAKEAWAYS</a:t>
            </a:r>
            <a:endParaRPr lang="en-US" sz="1100" dirty="0"/>
          </a:p>
        </p:txBody>
      </p:sp>
      <p:sp>
        <p:nvSpPr>
          <p:cNvPr id="3" name="Text 1"/>
          <p:cNvSpPr/>
          <p:nvPr/>
        </p:nvSpPr>
        <p:spPr>
          <a:xfrm>
            <a:off x="548640" y="768096"/>
            <a:ext cx="11091672" cy="804672"/>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Visibility is the foundation, not the goal</a:t>
            </a:r>
            <a:endParaRPr lang="en-US" sz="3100" dirty="0"/>
          </a:p>
        </p:txBody>
      </p:sp>
      <p:sp>
        <p:nvSpPr>
          <p:cNvPr id="4" name="Shape 2"/>
          <p:cNvSpPr/>
          <p:nvPr/>
        </p:nvSpPr>
        <p:spPr>
          <a:xfrm>
            <a:off x="548640" y="1965960"/>
            <a:ext cx="2587752" cy="2286000"/>
          </a:xfrm>
          <a:prstGeom prst="roundRect">
            <a:avLst>
              <a:gd name="adj" fmla="val 3600"/>
            </a:avLst>
          </a:prstGeom>
          <a:solidFill>
            <a:srgbClr val="1F2936"/>
          </a:solidFill>
          <a:ln/>
        </p:spPr>
      </p:sp>
      <p:sp>
        <p:nvSpPr>
          <p:cNvPr id="5" name="Text 3"/>
          <p:cNvSpPr/>
          <p:nvPr/>
        </p:nvSpPr>
        <p:spPr>
          <a:xfrm>
            <a:off x="786384" y="2194560"/>
            <a:ext cx="2121408" cy="384048"/>
          </a:xfrm>
          <a:prstGeom prst="rect">
            <a:avLst/>
          </a:prstGeom>
          <a:noFill/>
          <a:ln/>
        </p:spPr>
        <p:txBody>
          <a:bodyPr wrap="square" lIns="0" tIns="0" rIns="0" bIns="0" rtlCol="0" anchor="ctr"/>
          <a:lstStyle/>
          <a:p>
            <a:pPr indent="0" marL="0">
              <a:buNone/>
            </a:pPr>
            <a:r>
              <a:rPr lang="en-US" sz="1800" b="1" dirty="0">
                <a:solidFill>
                  <a:srgbClr val="E39B2C"/>
                </a:solidFill>
                <a:latin typeface="Cambria" pitchFamily="34" charset="0"/>
                <a:ea typeface="Cambria" pitchFamily="34" charset="-122"/>
                <a:cs typeface="Cambria" pitchFamily="34" charset="-120"/>
              </a:rPr>
              <a:t>Visibility</a:t>
            </a:r>
            <a:endParaRPr lang="en-US" sz="1800" dirty="0"/>
          </a:p>
        </p:txBody>
      </p:sp>
      <p:sp>
        <p:nvSpPr>
          <p:cNvPr id="6" name="Text 4"/>
          <p:cNvSpPr/>
          <p:nvPr/>
        </p:nvSpPr>
        <p:spPr>
          <a:xfrm>
            <a:off x="786384" y="2615184"/>
            <a:ext cx="2121408"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enables accountability</a:t>
            </a:r>
            <a:endParaRPr lang="en-US" sz="1300" dirty="0"/>
          </a:p>
        </p:txBody>
      </p:sp>
      <p:sp>
        <p:nvSpPr>
          <p:cNvPr id="7" name="Text 5"/>
          <p:cNvSpPr/>
          <p:nvPr/>
        </p:nvSpPr>
        <p:spPr>
          <a:xfrm>
            <a:off x="786384" y="3154680"/>
            <a:ext cx="2121408" cy="1005840"/>
          </a:xfrm>
          <a:prstGeom prst="rect">
            <a:avLst/>
          </a:prstGeom>
          <a:noFill/>
          <a:ln/>
        </p:spPr>
        <p:txBody>
          <a:bodyPr wrap="square" lIns="0" tIns="0" rIns="0" bIns="0" rtlCol="0" anchor="t"/>
          <a:lstStyle/>
          <a:p>
            <a:pPr indent="0" marL="0">
              <a:lnSpc>
                <a:spcPts val="1600"/>
              </a:lnSpc>
              <a:buNone/>
            </a:pPr>
            <a:r>
              <a:rPr lang="en-US" sz="1250" dirty="0">
                <a:solidFill>
                  <a:srgbClr val="9EABBA"/>
                </a:solidFill>
                <a:latin typeface="Calibri" pitchFamily="34" charset="0"/>
                <a:ea typeface="Calibri" pitchFamily="34" charset="-122"/>
                <a:cs typeface="Calibri" pitchFamily="34" charset="-120"/>
              </a:rPr>
              <a:t>Teams can only own what they can see.</a:t>
            </a:r>
            <a:endParaRPr lang="en-US" sz="1250" dirty="0"/>
          </a:p>
        </p:txBody>
      </p:sp>
      <p:sp>
        <p:nvSpPr>
          <p:cNvPr id="8" name="Shape 6"/>
          <p:cNvSpPr/>
          <p:nvPr/>
        </p:nvSpPr>
        <p:spPr>
          <a:xfrm>
            <a:off x="3182112" y="2999232"/>
            <a:ext cx="192024" cy="182880"/>
          </a:xfrm>
          <a:prstGeom prst="rightArrow">
            <a:avLst/>
          </a:prstGeom>
          <a:solidFill>
            <a:srgbClr val="3D4B5B"/>
          </a:solidFill>
          <a:ln/>
        </p:spPr>
      </p:sp>
      <p:sp>
        <p:nvSpPr>
          <p:cNvPr id="9" name="Shape 7"/>
          <p:cNvSpPr/>
          <p:nvPr/>
        </p:nvSpPr>
        <p:spPr>
          <a:xfrm>
            <a:off x="3383280" y="1965960"/>
            <a:ext cx="2587752" cy="2286000"/>
          </a:xfrm>
          <a:prstGeom prst="roundRect">
            <a:avLst>
              <a:gd name="adj" fmla="val 3600"/>
            </a:avLst>
          </a:prstGeom>
          <a:solidFill>
            <a:srgbClr val="1F2936"/>
          </a:solidFill>
          <a:ln/>
        </p:spPr>
      </p:sp>
      <p:sp>
        <p:nvSpPr>
          <p:cNvPr id="10" name="Text 8"/>
          <p:cNvSpPr/>
          <p:nvPr/>
        </p:nvSpPr>
        <p:spPr>
          <a:xfrm>
            <a:off x="3621024" y="2194560"/>
            <a:ext cx="2121408" cy="384048"/>
          </a:xfrm>
          <a:prstGeom prst="rect">
            <a:avLst/>
          </a:prstGeom>
          <a:noFill/>
          <a:ln/>
        </p:spPr>
        <p:txBody>
          <a:bodyPr wrap="square" lIns="0" tIns="0" rIns="0" bIns="0" rtlCol="0" anchor="ctr"/>
          <a:lstStyle/>
          <a:p>
            <a:pPr indent="0" marL="0">
              <a:buNone/>
            </a:pPr>
            <a:r>
              <a:rPr lang="en-US" sz="1800" b="1" dirty="0">
                <a:solidFill>
                  <a:srgbClr val="E39B2C"/>
                </a:solidFill>
                <a:latin typeface="Cambria" pitchFamily="34" charset="0"/>
                <a:ea typeface="Cambria" pitchFamily="34" charset="-122"/>
                <a:cs typeface="Cambria" pitchFamily="34" charset="-120"/>
              </a:rPr>
              <a:t>Accountability</a:t>
            </a:r>
            <a:endParaRPr lang="en-US" sz="1800" dirty="0"/>
          </a:p>
        </p:txBody>
      </p:sp>
      <p:sp>
        <p:nvSpPr>
          <p:cNvPr id="11" name="Text 9"/>
          <p:cNvSpPr/>
          <p:nvPr/>
        </p:nvSpPr>
        <p:spPr>
          <a:xfrm>
            <a:off x="3621024" y="2615184"/>
            <a:ext cx="2121408"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drives behaviour</a:t>
            </a:r>
            <a:endParaRPr lang="en-US" sz="1300" dirty="0"/>
          </a:p>
        </p:txBody>
      </p:sp>
      <p:sp>
        <p:nvSpPr>
          <p:cNvPr id="12" name="Text 10"/>
          <p:cNvSpPr/>
          <p:nvPr/>
        </p:nvSpPr>
        <p:spPr>
          <a:xfrm>
            <a:off x="3621024" y="3154680"/>
            <a:ext cx="2121408" cy="1005840"/>
          </a:xfrm>
          <a:prstGeom prst="rect">
            <a:avLst/>
          </a:prstGeom>
          <a:noFill/>
          <a:ln/>
        </p:spPr>
        <p:txBody>
          <a:bodyPr wrap="square" lIns="0" tIns="0" rIns="0" bIns="0" rtlCol="0" anchor="t"/>
          <a:lstStyle/>
          <a:p>
            <a:pPr indent="0" marL="0">
              <a:lnSpc>
                <a:spcPts val="1600"/>
              </a:lnSpc>
              <a:buNone/>
            </a:pPr>
            <a:r>
              <a:rPr lang="en-US" sz="1250" dirty="0">
                <a:solidFill>
                  <a:srgbClr val="9EABBA"/>
                </a:solidFill>
                <a:latin typeface="Calibri" pitchFamily="34" charset="0"/>
                <a:ea typeface="Calibri" pitchFamily="34" charset="-122"/>
                <a:cs typeface="Calibri" pitchFamily="34" charset="-120"/>
              </a:rPr>
              <a:t>Engineers make cost-conscious calls when they see the impact.</a:t>
            </a:r>
            <a:endParaRPr lang="en-US" sz="1250" dirty="0"/>
          </a:p>
        </p:txBody>
      </p:sp>
      <p:sp>
        <p:nvSpPr>
          <p:cNvPr id="13" name="Shape 11"/>
          <p:cNvSpPr/>
          <p:nvPr/>
        </p:nvSpPr>
        <p:spPr>
          <a:xfrm>
            <a:off x="6016752" y="2999232"/>
            <a:ext cx="192024" cy="182880"/>
          </a:xfrm>
          <a:prstGeom prst="rightArrow">
            <a:avLst/>
          </a:prstGeom>
          <a:solidFill>
            <a:srgbClr val="3D4B5B"/>
          </a:solidFill>
          <a:ln/>
        </p:spPr>
      </p:sp>
      <p:sp>
        <p:nvSpPr>
          <p:cNvPr id="14" name="Shape 12"/>
          <p:cNvSpPr/>
          <p:nvPr/>
        </p:nvSpPr>
        <p:spPr>
          <a:xfrm>
            <a:off x="6217920" y="1965960"/>
            <a:ext cx="2587752" cy="2286000"/>
          </a:xfrm>
          <a:prstGeom prst="roundRect">
            <a:avLst>
              <a:gd name="adj" fmla="val 3600"/>
            </a:avLst>
          </a:prstGeom>
          <a:solidFill>
            <a:srgbClr val="1F2936"/>
          </a:solidFill>
          <a:ln/>
        </p:spPr>
      </p:sp>
      <p:sp>
        <p:nvSpPr>
          <p:cNvPr id="15" name="Text 13"/>
          <p:cNvSpPr/>
          <p:nvPr/>
        </p:nvSpPr>
        <p:spPr>
          <a:xfrm>
            <a:off x="6455664" y="2194560"/>
            <a:ext cx="2121408" cy="384048"/>
          </a:xfrm>
          <a:prstGeom prst="rect">
            <a:avLst/>
          </a:prstGeom>
          <a:noFill/>
          <a:ln/>
        </p:spPr>
        <p:txBody>
          <a:bodyPr wrap="square" lIns="0" tIns="0" rIns="0" bIns="0" rtlCol="0" anchor="ctr"/>
          <a:lstStyle/>
          <a:p>
            <a:pPr indent="0" marL="0">
              <a:buNone/>
            </a:pPr>
            <a:r>
              <a:rPr lang="en-US" sz="1800" b="1" dirty="0">
                <a:solidFill>
                  <a:srgbClr val="E39B2C"/>
                </a:solidFill>
                <a:latin typeface="Cambria" pitchFamily="34" charset="0"/>
                <a:ea typeface="Cambria" pitchFamily="34" charset="-122"/>
                <a:cs typeface="Cambria" pitchFamily="34" charset="-120"/>
              </a:rPr>
              <a:t>Behaviour</a:t>
            </a:r>
            <a:endParaRPr lang="en-US" sz="1800" dirty="0"/>
          </a:p>
        </p:txBody>
      </p:sp>
      <p:sp>
        <p:nvSpPr>
          <p:cNvPr id="16" name="Text 14"/>
          <p:cNvSpPr/>
          <p:nvPr/>
        </p:nvSpPr>
        <p:spPr>
          <a:xfrm>
            <a:off x="6455664" y="2615184"/>
            <a:ext cx="2121408"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creates culture</a:t>
            </a:r>
            <a:endParaRPr lang="en-US" sz="1300" dirty="0"/>
          </a:p>
        </p:txBody>
      </p:sp>
      <p:sp>
        <p:nvSpPr>
          <p:cNvPr id="17" name="Text 15"/>
          <p:cNvSpPr/>
          <p:nvPr/>
        </p:nvSpPr>
        <p:spPr>
          <a:xfrm>
            <a:off x="6455664" y="3154680"/>
            <a:ext cx="2121408" cy="1005840"/>
          </a:xfrm>
          <a:prstGeom prst="rect">
            <a:avLst/>
          </a:prstGeom>
          <a:noFill/>
          <a:ln/>
        </p:spPr>
        <p:txBody>
          <a:bodyPr wrap="square" lIns="0" tIns="0" rIns="0" bIns="0" rtlCol="0" anchor="t"/>
          <a:lstStyle/>
          <a:p>
            <a:pPr indent="0" marL="0">
              <a:lnSpc>
                <a:spcPts val="1600"/>
              </a:lnSpc>
              <a:buNone/>
            </a:pPr>
            <a:r>
              <a:rPr lang="en-US" sz="1250" dirty="0">
                <a:solidFill>
                  <a:srgbClr val="9EABBA"/>
                </a:solidFill>
                <a:latin typeface="Calibri" pitchFamily="34" charset="0"/>
                <a:ea typeface="Calibri" pitchFamily="34" charset="-122"/>
                <a:cs typeface="Calibri" pitchFamily="34" charset="-120"/>
              </a:rPr>
              <a:t>Cost awareness becomes part of how we build, not a separate exercise.</a:t>
            </a:r>
            <a:endParaRPr lang="en-US" sz="1250" dirty="0"/>
          </a:p>
        </p:txBody>
      </p:sp>
      <p:sp>
        <p:nvSpPr>
          <p:cNvPr id="18" name="Shape 16"/>
          <p:cNvSpPr/>
          <p:nvPr/>
        </p:nvSpPr>
        <p:spPr>
          <a:xfrm>
            <a:off x="8851392" y="2999232"/>
            <a:ext cx="192024" cy="182880"/>
          </a:xfrm>
          <a:prstGeom prst="rightArrow">
            <a:avLst/>
          </a:prstGeom>
          <a:solidFill>
            <a:srgbClr val="3D4B5B"/>
          </a:solidFill>
          <a:ln/>
        </p:spPr>
      </p:sp>
      <p:sp>
        <p:nvSpPr>
          <p:cNvPr id="19" name="Shape 17"/>
          <p:cNvSpPr/>
          <p:nvPr/>
        </p:nvSpPr>
        <p:spPr>
          <a:xfrm>
            <a:off x="9052560" y="1965960"/>
            <a:ext cx="2587752" cy="2286000"/>
          </a:xfrm>
          <a:prstGeom prst="roundRect">
            <a:avLst>
              <a:gd name="adj" fmla="val 3600"/>
            </a:avLst>
          </a:prstGeom>
          <a:solidFill>
            <a:srgbClr val="1F2936"/>
          </a:solidFill>
          <a:ln/>
        </p:spPr>
      </p:sp>
      <p:sp>
        <p:nvSpPr>
          <p:cNvPr id="20" name="Text 18"/>
          <p:cNvSpPr/>
          <p:nvPr/>
        </p:nvSpPr>
        <p:spPr>
          <a:xfrm>
            <a:off x="9290304" y="2194560"/>
            <a:ext cx="2121408" cy="384048"/>
          </a:xfrm>
          <a:prstGeom prst="rect">
            <a:avLst/>
          </a:prstGeom>
          <a:noFill/>
          <a:ln/>
        </p:spPr>
        <p:txBody>
          <a:bodyPr wrap="square" lIns="0" tIns="0" rIns="0" bIns="0" rtlCol="0" anchor="ctr"/>
          <a:lstStyle/>
          <a:p>
            <a:pPr indent="0" marL="0">
              <a:buNone/>
            </a:pPr>
            <a:r>
              <a:rPr lang="en-US" sz="1800" b="1" dirty="0">
                <a:solidFill>
                  <a:srgbClr val="E39B2C"/>
                </a:solidFill>
                <a:latin typeface="Cambria" pitchFamily="34" charset="0"/>
                <a:ea typeface="Cambria" pitchFamily="34" charset="-122"/>
                <a:cs typeface="Cambria" pitchFamily="34" charset="-120"/>
              </a:rPr>
              <a:t>Culture</a:t>
            </a:r>
            <a:endParaRPr lang="en-US" sz="1800" dirty="0"/>
          </a:p>
        </p:txBody>
      </p:sp>
      <p:sp>
        <p:nvSpPr>
          <p:cNvPr id="21" name="Text 19"/>
          <p:cNvSpPr/>
          <p:nvPr/>
        </p:nvSpPr>
        <p:spPr>
          <a:xfrm>
            <a:off x="9290304" y="2615184"/>
            <a:ext cx="2121408"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sustains savings</a:t>
            </a:r>
            <a:endParaRPr lang="en-US" sz="1300" dirty="0"/>
          </a:p>
        </p:txBody>
      </p:sp>
      <p:sp>
        <p:nvSpPr>
          <p:cNvPr id="22" name="Text 20"/>
          <p:cNvSpPr/>
          <p:nvPr/>
        </p:nvSpPr>
        <p:spPr>
          <a:xfrm>
            <a:off x="9290304" y="3154680"/>
            <a:ext cx="2121408" cy="1005840"/>
          </a:xfrm>
          <a:prstGeom prst="rect">
            <a:avLst/>
          </a:prstGeom>
          <a:noFill/>
          <a:ln/>
        </p:spPr>
        <p:txBody>
          <a:bodyPr wrap="square" lIns="0" tIns="0" rIns="0" bIns="0" rtlCol="0" anchor="t"/>
          <a:lstStyle/>
          <a:p>
            <a:pPr indent="0" marL="0">
              <a:lnSpc>
                <a:spcPts val="1600"/>
              </a:lnSpc>
              <a:buNone/>
            </a:pPr>
            <a:r>
              <a:rPr lang="en-US" sz="1250" dirty="0">
                <a:solidFill>
                  <a:srgbClr val="9EABBA"/>
                </a:solidFill>
                <a:latin typeface="Calibri" pitchFamily="34" charset="0"/>
                <a:ea typeface="Calibri" pitchFamily="34" charset="-122"/>
                <a:cs typeface="Calibri" pitchFamily="34" charset="-120"/>
              </a:rPr>
              <a:t>Optimization becomes continuous rather than a one-time project.</a:t>
            </a:r>
            <a:endParaRPr lang="en-US" sz="1250" dirty="0"/>
          </a:p>
        </p:txBody>
      </p:sp>
      <p:sp>
        <p:nvSpPr>
          <p:cNvPr id="23" name="Shape 21"/>
          <p:cNvSpPr/>
          <p:nvPr/>
        </p:nvSpPr>
        <p:spPr>
          <a:xfrm>
            <a:off x="548640" y="4526280"/>
            <a:ext cx="11091672" cy="1188720"/>
          </a:xfrm>
          <a:prstGeom prst="roundRect">
            <a:avLst>
              <a:gd name="adj" fmla="val 6923"/>
            </a:avLst>
          </a:prstGeom>
          <a:solidFill>
            <a:srgbClr val="1F2936"/>
          </a:solidFill>
          <a:ln/>
        </p:spPr>
      </p:sp>
      <p:sp>
        <p:nvSpPr>
          <p:cNvPr id="24" name="Text 22"/>
          <p:cNvSpPr/>
          <p:nvPr/>
        </p:nvSpPr>
        <p:spPr>
          <a:xfrm>
            <a:off x="841248" y="4636008"/>
            <a:ext cx="10506456" cy="969264"/>
          </a:xfrm>
          <a:prstGeom prst="rect">
            <a:avLst/>
          </a:prstGeom>
          <a:noFill/>
          <a:ln/>
        </p:spPr>
        <p:txBody>
          <a:bodyPr wrap="square" lIns="0" tIns="0" rIns="0" bIns="0" rtlCol="0" anchor="ctr"/>
          <a:lstStyle/>
          <a:p>
            <a:pPr indent="0" marL="0">
              <a:lnSpc>
                <a:spcPts val="2000"/>
              </a:lnSpc>
              <a:buNone/>
            </a:pPr>
            <a:r>
              <a:rPr lang="en-US" sz="1600" i="1" dirty="0">
                <a:solidFill>
                  <a:srgbClr val="FFFFFF"/>
                </a:solidFill>
                <a:latin typeface="Cambria" pitchFamily="34" charset="0"/>
                <a:ea typeface="Cambria" pitchFamily="34" charset="-122"/>
                <a:cs typeface="Cambria" pitchFamily="34" charset="-120"/>
              </a:rPr>
              <a:t>“Organizations that invest in visibility first achieve more durable and targeted cost improvements than those that jump straight to cuts.”</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1A22"/>
        </a:solidFill>
      </p:bgPr>
    </p:bg>
    <p:spTree>
      <p:nvGrpSpPr>
        <p:cNvPr id="1" name=""/>
        <p:cNvGrpSpPr/>
        <p:nvPr/>
      </p:nvGrpSpPr>
      <p:grpSpPr>
        <a:xfrm>
          <a:off x="0" y="0"/>
          <a:ext cx="0" cy="0"/>
          <a:chOff x="0" y="0"/>
          <a:chExt cx="0" cy="0"/>
        </a:xfrm>
      </p:grpSpPr>
      <p:sp>
        <p:nvSpPr>
          <p:cNvPr id="2" name="Text 0"/>
          <p:cNvSpPr/>
          <p:nvPr/>
        </p:nvSpPr>
        <p:spPr>
          <a:xfrm>
            <a:off x="548640" y="1691640"/>
            <a:ext cx="73152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Questions &amp; discussion</a:t>
            </a:r>
            <a:endParaRPr lang="en-US" sz="4000" dirty="0"/>
          </a:p>
        </p:txBody>
      </p:sp>
      <p:sp>
        <p:nvSpPr>
          <p:cNvPr id="3" name="Text 1"/>
          <p:cNvSpPr/>
          <p:nvPr/>
        </p:nvSpPr>
        <p:spPr>
          <a:xfrm>
            <a:off x="548640" y="2606040"/>
            <a:ext cx="6949440" cy="411480"/>
          </a:xfrm>
          <a:prstGeom prst="rect">
            <a:avLst/>
          </a:prstGeom>
          <a:noFill/>
          <a:ln/>
        </p:spPr>
        <p:txBody>
          <a:bodyPr wrap="square" lIns="0" tIns="0" rIns="0" bIns="0" rtlCol="0" anchor="ctr"/>
          <a:lstStyle/>
          <a:p>
            <a:pPr indent="0" marL="0">
              <a:buNone/>
            </a:pPr>
            <a:r>
              <a:rPr lang="en-US" sz="1600" dirty="0">
                <a:solidFill>
                  <a:srgbClr val="9EABBA"/>
                </a:solidFill>
                <a:latin typeface="Calibri" pitchFamily="34" charset="0"/>
                <a:ea typeface="Calibri" pitchFamily="34" charset="-122"/>
                <a:cs typeface="Calibri" pitchFamily="34" charset="-120"/>
              </a:rPr>
              <a:t>FinOps: Visibility &amp; Governance — seeing cloud spend, and controlling it</a:t>
            </a:r>
            <a:endParaRPr lang="en-US" sz="1600" dirty="0"/>
          </a:p>
        </p:txBody>
      </p:sp>
      <p:sp>
        <p:nvSpPr>
          <p:cNvPr id="4" name="Text 2"/>
          <p:cNvSpPr/>
          <p:nvPr/>
        </p:nvSpPr>
        <p:spPr>
          <a:xfrm>
            <a:off x="548640" y="3611880"/>
            <a:ext cx="3657600" cy="274320"/>
          </a:xfrm>
          <a:prstGeom prst="rect">
            <a:avLst/>
          </a:prstGeom>
          <a:noFill/>
          <a:ln/>
        </p:spPr>
        <p:txBody>
          <a:bodyPr wrap="square" lIns="0" tIns="0" rIns="0" bIns="0" rtlCol="0" anchor="ctr"/>
          <a:lstStyle/>
          <a:p>
            <a:pPr indent="0" marL="0">
              <a:buNone/>
            </a:pPr>
            <a:r>
              <a:rPr lang="en-US" sz="1150" b="1" spc="180" kern="0" dirty="0">
                <a:solidFill>
                  <a:srgbClr val="E39B2C"/>
                </a:solidFill>
                <a:latin typeface="Calibri" pitchFamily="34" charset="0"/>
                <a:ea typeface="Calibri" pitchFamily="34" charset="-122"/>
                <a:cs typeface="Calibri" pitchFamily="34" charset="-120"/>
              </a:rPr>
              <a:t>Key contacts</a:t>
            </a:r>
            <a:endParaRPr lang="en-US" sz="1150" dirty="0"/>
          </a:p>
        </p:txBody>
      </p:sp>
      <p:sp>
        <p:nvSpPr>
          <p:cNvPr id="5" name="Text 3"/>
          <p:cNvSpPr/>
          <p:nvPr/>
        </p:nvSpPr>
        <p:spPr>
          <a:xfrm>
            <a:off x="548640" y="3950208"/>
            <a:ext cx="5029200" cy="822960"/>
          </a:xfrm>
          <a:prstGeom prst="rect">
            <a:avLst/>
          </a:prstGeom>
          <a:noFill/>
          <a:ln/>
        </p:spPr>
        <p:txBody>
          <a:bodyPr wrap="square" lIns="0" tIns="0" rIns="0" bIns="0" rtlCol="0" anchor="t"/>
          <a:lstStyle/>
          <a:p>
            <a:pPr indent="0" marL="0">
              <a:lnSpc>
                <a:spcPts val="2400"/>
              </a:lnSpc>
              <a:buNone/>
            </a:pPr>
            <a:r>
              <a:rPr lang="en-US" sz="1450" dirty="0">
                <a:solidFill>
                  <a:srgbClr val="9EABBA"/>
                </a:solidFill>
                <a:latin typeface="Calibri" pitchFamily="34" charset="0"/>
                <a:ea typeface="Calibri" pitchFamily="34" charset="-122"/>
                <a:cs typeface="Calibri" pitchFamily="34" charset="-120"/>
              </a:rPr>
              <a:t>____________________   ·   Title</a:t>
            </a:r>
            <a:endParaRPr lang="en-US" sz="1450" dirty="0"/>
          </a:p>
          <a:p>
            <a:pPr indent="0" marL="0">
              <a:lnSpc>
                <a:spcPts val="2400"/>
              </a:lnSpc>
              <a:buNone/>
            </a:pPr>
            <a:r>
              <a:rPr lang="en-US" sz="1450" dirty="0">
                <a:solidFill>
                  <a:srgbClr val="9EABBA"/>
                </a:solidFill>
                <a:latin typeface="Calibri" pitchFamily="34" charset="0"/>
                <a:ea typeface="Calibri" pitchFamily="34" charset="-122"/>
                <a:cs typeface="Calibri" pitchFamily="34" charset="-120"/>
              </a:rPr>
              <a:t>____________________   ·   Title</a:t>
            </a:r>
            <a:endParaRPr lang="en-US" sz="1450" dirty="0"/>
          </a:p>
        </p:txBody>
      </p:sp>
      <p:sp>
        <p:nvSpPr>
          <p:cNvPr id="6" name="Text 4"/>
          <p:cNvSpPr/>
          <p:nvPr/>
        </p:nvSpPr>
        <p:spPr>
          <a:xfrm>
            <a:off x="548640" y="4937760"/>
            <a:ext cx="3657600" cy="274320"/>
          </a:xfrm>
          <a:prstGeom prst="rect">
            <a:avLst/>
          </a:prstGeom>
          <a:noFill/>
          <a:ln/>
        </p:spPr>
        <p:txBody>
          <a:bodyPr wrap="square" lIns="0" tIns="0" rIns="0" bIns="0" rtlCol="0" anchor="ctr"/>
          <a:lstStyle/>
          <a:p>
            <a:pPr indent="0" marL="0">
              <a:buNone/>
            </a:pPr>
            <a:r>
              <a:rPr lang="en-US" sz="1150" b="1" spc="180" kern="0" dirty="0">
                <a:solidFill>
                  <a:srgbClr val="E39B2C"/>
                </a:solidFill>
                <a:latin typeface="Calibri" pitchFamily="34" charset="0"/>
                <a:ea typeface="Calibri" pitchFamily="34" charset="-122"/>
                <a:cs typeface="Calibri" pitchFamily="34" charset="-120"/>
              </a:rPr>
              <a:t>Resources</a:t>
            </a:r>
            <a:endParaRPr lang="en-US" sz="1150" dirty="0"/>
          </a:p>
        </p:txBody>
      </p:sp>
      <p:sp>
        <p:nvSpPr>
          <p:cNvPr id="7" name="Text 5"/>
          <p:cNvSpPr/>
          <p:nvPr/>
        </p:nvSpPr>
        <p:spPr>
          <a:xfrm>
            <a:off x="548640" y="5276088"/>
            <a:ext cx="5486400" cy="822960"/>
          </a:xfrm>
          <a:prstGeom prst="rect">
            <a:avLst/>
          </a:prstGeom>
          <a:noFill/>
          <a:ln/>
        </p:spPr>
        <p:txBody>
          <a:bodyPr wrap="square" lIns="0" tIns="0" rIns="0" bIns="0" rtlCol="0" anchor="t"/>
          <a:lstStyle/>
          <a:p>
            <a:pPr indent="0" marL="0">
              <a:lnSpc>
                <a:spcPts val="2400"/>
              </a:lnSpc>
              <a:buNone/>
            </a:pPr>
            <a:r>
              <a:rPr lang="en-US" sz="1450" dirty="0">
                <a:solidFill>
                  <a:srgbClr val="FFFFFF"/>
                </a:solidFill>
                <a:latin typeface="Calibri" pitchFamily="34" charset="0"/>
                <a:ea typeface="Calibri" pitchFamily="34" charset="-122"/>
                <a:cs typeface="Calibri" pitchFamily="34" charset="-120"/>
              </a:rPr>
              <a:t>FinOps Foundation   ·   finops.org</a:t>
            </a:r>
            <a:endParaRPr lang="en-US" sz="1450" dirty="0"/>
          </a:p>
          <a:p>
            <a:pPr indent="0" marL="0">
              <a:lnSpc>
                <a:spcPts val="2400"/>
              </a:lnSpc>
              <a:buNone/>
            </a:pPr>
            <a:r>
              <a:rPr lang="en-US" sz="1450" dirty="0">
                <a:solidFill>
                  <a:srgbClr val="FFFFFF"/>
                </a:solidFill>
                <a:latin typeface="Calibri" pitchFamily="34" charset="0"/>
                <a:ea typeface="Calibri" pitchFamily="34" charset="-122"/>
                <a:cs typeface="Calibri" pitchFamily="34" charset="-120"/>
              </a:rPr>
              <a:t>FOCUS standard   ·   focus.finops.org</a:t>
            </a:r>
            <a:endParaRPr lang="en-US" sz="1450" dirty="0"/>
          </a:p>
        </p:txBody>
      </p:sp>
      <p:sp>
        <p:nvSpPr>
          <p:cNvPr id="8" name="Shape 6"/>
          <p:cNvSpPr/>
          <p:nvPr/>
        </p:nvSpPr>
        <p:spPr>
          <a:xfrm>
            <a:off x="8001000" y="1920240"/>
            <a:ext cx="274320" cy="274320"/>
          </a:xfrm>
          <a:prstGeom prst="ellipse">
            <a:avLst/>
          </a:prstGeom>
          <a:solidFill>
            <a:srgbClr val="27313E"/>
          </a:solidFill>
          <a:ln/>
        </p:spPr>
      </p:sp>
      <p:sp>
        <p:nvSpPr>
          <p:cNvPr id="9" name="Shape 7"/>
          <p:cNvSpPr/>
          <p:nvPr/>
        </p:nvSpPr>
        <p:spPr>
          <a:xfrm>
            <a:off x="8513064" y="1920240"/>
            <a:ext cx="274320" cy="274320"/>
          </a:xfrm>
          <a:prstGeom prst="ellipse">
            <a:avLst/>
          </a:prstGeom>
          <a:solidFill>
            <a:srgbClr val="27313E"/>
          </a:solidFill>
          <a:ln/>
        </p:spPr>
      </p:sp>
      <p:sp>
        <p:nvSpPr>
          <p:cNvPr id="10" name="Shape 8"/>
          <p:cNvSpPr/>
          <p:nvPr/>
        </p:nvSpPr>
        <p:spPr>
          <a:xfrm>
            <a:off x="9025128" y="1920240"/>
            <a:ext cx="274320" cy="274320"/>
          </a:xfrm>
          <a:prstGeom prst="ellipse">
            <a:avLst/>
          </a:prstGeom>
          <a:solidFill>
            <a:srgbClr val="27313E"/>
          </a:solidFill>
          <a:ln/>
        </p:spPr>
      </p:sp>
      <p:sp>
        <p:nvSpPr>
          <p:cNvPr id="11" name="Shape 9"/>
          <p:cNvSpPr/>
          <p:nvPr/>
        </p:nvSpPr>
        <p:spPr>
          <a:xfrm>
            <a:off x="9537192" y="1920240"/>
            <a:ext cx="274320" cy="274320"/>
          </a:xfrm>
          <a:prstGeom prst="ellipse">
            <a:avLst/>
          </a:prstGeom>
          <a:solidFill>
            <a:srgbClr val="27313E"/>
          </a:solidFill>
          <a:ln/>
        </p:spPr>
      </p:sp>
      <p:sp>
        <p:nvSpPr>
          <p:cNvPr id="12" name="Shape 10"/>
          <p:cNvSpPr/>
          <p:nvPr/>
        </p:nvSpPr>
        <p:spPr>
          <a:xfrm>
            <a:off x="10049256" y="1920240"/>
            <a:ext cx="274320" cy="274320"/>
          </a:xfrm>
          <a:prstGeom prst="ellipse">
            <a:avLst/>
          </a:prstGeom>
          <a:solidFill>
            <a:srgbClr val="27313E"/>
          </a:solidFill>
          <a:ln/>
        </p:spPr>
      </p:sp>
      <p:sp>
        <p:nvSpPr>
          <p:cNvPr id="13" name="Shape 11"/>
          <p:cNvSpPr/>
          <p:nvPr/>
        </p:nvSpPr>
        <p:spPr>
          <a:xfrm>
            <a:off x="10561320" y="1920240"/>
            <a:ext cx="274320" cy="274320"/>
          </a:xfrm>
          <a:prstGeom prst="ellipse">
            <a:avLst/>
          </a:prstGeom>
          <a:solidFill>
            <a:srgbClr val="E39B2C"/>
          </a:solidFill>
          <a:ln/>
        </p:spPr>
      </p:sp>
      <p:sp>
        <p:nvSpPr>
          <p:cNvPr id="14" name="Shape 12"/>
          <p:cNvSpPr/>
          <p:nvPr/>
        </p:nvSpPr>
        <p:spPr>
          <a:xfrm>
            <a:off x="11073384" y="1920240"/>
            <a:ext cx="274320" cy="274320"/>
          </a:xfrm>
          <a:prstGeom prst="ellipse">
            <a:avLst/>
          </a:prstGeom>
          <a:solidFill>
            <a:srgbClr val="E39B2C"/>
          </a:solidFill>
          <a:ln/>
        </p:spPr>
      </p:sp>
      <p:sp>
        <p:nvSpPr>
          <p:cNvPr id="15" name="Shape 13"/>
          <p:cNvSpPr/>
          <p:nvPr/>
        </p:nvSpPr>
        <p:spPr>
          <a:xfrm>
            <a:off x="8001000" y="2432304"/>
            <a:ext cx="274320" cy="274320"/>
          </a:xfrm>
          <a:prstGeom prst="ellipse">
            <a:avLst/>
          </a:prstGeom>
          <a:solidFill>
            <a:srgbClr val="27313E"/>
          </a:solidFill>
          <a:ln/>
        </p:spPr>
      </p:sp>
      <p:sp>
        <p:nvSpPr>
          <p:cNvPr id="16" name="Shape 14"/>
          <p:cNvSpPr/>
          <p:nvPr/>
        </p:nvSpPr>
        <p:spPr>
          <a:xfrm>
            <a:off x="8513064" y="2432304"/>
            <a:ext cx="274320" cy="274320"/>
          </a:xfrm>
          <a:prstGeom prst="ellipse">
            <a:avLst/>
          </a:prstGeom>
          <a:solidFill>
            <a:srgbClr val="27313E"/>
          </a:solidFill>
          <a:ln/>
        </p:spPr>
      </p:sp>
      <p:sp>
        <p:nvSpPr>
          <p:cNvPr id="17" name="Shape 15"/>
          <p:cNvSpPr/>
          <p:nvPr/>
        </p:nvSpPr>
        <p:spPr>
          <a:xfrm>
            <a:off x="9025128" y="2432304"/>
            <a:ext cx="274320" cy="274320"/>
          </a:xfrm>
          <a:prstGeom prst="ellipse">
            <a:avLst/>
          </a:prstGeom>
          <a:solidFill>
            <a:srgbClr val="27313E"/>
          </a:solidFill>
          <a:ln/>
        </p:spPr>
      </p:sp>
      <p:sp>
        <p:nvSpPr>
          <p:cNvPr id="18" name="Shape 16"/>
          <p:cNvSpPr/>
          <p:nvPr/>
        </p:nvSpPr>
        <p:spPr>
          <a:xfrm>
            <a:off x="9537192" y="2432304"/>
            <a:ext cx="274320" cy="274320"/>
          </a:xfrm>
          <a:prstGeom prst="ellipse">
            <a:avLst/>
          </a:prstGeom>
          <a:solidFill>
            <a:srgbClr val="27313E"/>
          </a:solidFill>
          <a:ln/>
        </p:spPr>
      </p:sp>
      <p:sp>
        <p:nvSpPr>
          <p:cNvPr id="19" name="Shape 17"/>
          <p:cNvSpPr/>
          <p:nvPr/>
        </p:nvSpPr>
        <p:spPr>
          <a:xfrm>
            <a:off x="10049256" y="2432304"/>
            <a:ext cx="274320" cy="274320"/>
          </a:xfrm>
          <a:prstGeom prst="ellipse">
            <a:avLst/>
          </a:prstGeom>
          <a:solidFill>
            <a:srgbClr val="E39B2C"/>
          </a:solidFill>
          <a:ln/>
        </p:spPr>
      </p:sp>
      <p:sp>
        <p:nvSpPr>
          <p:cNvPr id="20" name="Shape 18"/>
          <p:cNvSpPr/>
          <p:nvPr/>
        </p:nvSpPr>
        <p:spPr>
          <a:xfrm>
            <a:off x="10561320" y="2432304"/>
            <a:ext cx="274320" cy="274320"/>
          </a:xfrm>
          <a:prstGeom prst="ellipse">
            <a:avLst/>
          </a:prstGeom>
          <a:solidFill>
            <a:srgbClr val="E39B2C"/>
          </a:solidFill>
          <a:ln/>
        </p:spPr>
      </p:sp>
      <p:sp>
        <p:nvSpPr>
          <p:cNvPr id="21" name="Shape 19"/>
          <p:cNvSpPr/>
          <p:nvPr/>
        </p:nvSpPr>
        <p:spPr>
          <a:xfrm>
            <a:off x="11073384" y="2432304"/>
            <a:ext cx="274320" cy="274320"/>
          </a:xfrm>
          <a:prstGeom prst="ellipse">
            <a:avLst/>
          </a:prstGeom>
          <a:solidFill>
            <a:srgbClr val="E39B2C"/>
          </a:solidFill>
          <a:ln/>
        </p:spPr>
      </p:sp>
      <p:sp>
        <p:nvSpPr>
          <p:cNvPr id="22" name="Shape 20"/>
          <p:cNvSpPr/>
          <p:nvPr/>
        </p:nvSpPr>
        <p:spPr>
          <a:xfrm>
            <a:off x="8001000" y="2944368"/>
            <a:ext cx="274320" cy="274320"/>
          </a:xfrm>
          <a:prstGeom prst="ellipse">
            <a:avLst/>
          </a:prstGeom>
          <a:solidFill>
            <a:srgbClr val="27313E"/>
          </a:solidFill>
          <a:ln/>
        </p:spPr>
      </p:sp>
      <p:sp>
        <p:nvSpPr>
          <p:cNvPr id="23" name="Shape 21"/>
          <p:cNvSpPr/>
          <p:nvPr/>
        </p:nvSpPr>
        <p:spPr>
          <a:xfrm>
            <a:off x="8513064" y="2944368"/>
            <a:ext cx="274320" cy="274320"/>
          </a:xfrm>
          <a:prstGeom prst="ellipse">
            <a:avLst/>
          </a:prstGeom>
          <a:solidFill>
            <a:srgbClr val="27313E"/>
          </a:solidFill>
          <a:ln/>
        </p:spPr>
      </p:sp>
      <p:sp>
        <p:nvSpPr>
          <p:cNvPr id="24" name="Shape 22"/>
          <p:cNvSpPr/>
          <p:nvPr/>
        </p:nvSpPr>
        <p:spPr>
          <a:xfrm>
            <a:off x="9025128" y="2944368"/>
            <a:ext cx="274320" cy="274320"/>
          </a:xfrm>
          <a:prstGeom prst="ellipse">
            <a:avLst/>
          </a:prstGeom>
          <a:solidFill>
            <a:srgbClr val="27313E"/>
          </a:solidFill>
          <a:ln/>
        </p:spPr>
      </p:sp>
      <p:sp>
        <p:nvSpPr>
          <p:cNvPr id="25" name="Shape 23"/>
          <p:cNvSpPr/>
          <p:nvPr/>
        </p:nvSpPr>
        <p:spPr>
          <a:xfrm>
            <a:off x="9537192" y="2944368"/>
            <a:ext cx="274320" cy="274320"/>
          </a:xfrm>
          <a:prstGeom prst="ellipse">
            <a:avLst/>
          </a:prstGeom>
          <a:solidFill>
            <a:srgbClr val="E39B2C"/>
          </a:solidFill>
          <a:ln/>
        </p:spPr>
      </p:sp>
      <p:sp>
        <p:nvSpPr>
          <p:cNvPr id="26" name="Shape 24"/>
          <p:cNvSpPr/>
          <p:nvPr/>
        </p:nvSpPr>
        <p:spPr>
          <a:xfrm>
            <a:off x="10049256" y="2944368"/>
            <a:ext cx="274320" cy="274320"/>
          </a:xfrm>
          <a:prstGeom prst="ellipse">
            <a:avLst/>
          </a:prstGeom>
          <a:solidFill>
            <a:srgbClr val="E39B2C"/>
          </a:solidFill>
          <a:ln/>
        </p:spPr>
      </p:sp>
      <p:sp>
        <p:nvSpPr>
          <p:cNvPr id="27" name="Shape 25"/>
          <p:cNvSpPr/>
          <p:nvPr/>
        </p:nvSpPr>
        <p:spPr>
          <a:xfrm>
            <a:off x="10561320" y="2944368"/>
            <a:ext cx="274320" cy="274320"/>
          </a:xfrm>
          <a:prstGeom prst="ellipse">
            <a:avLst/>
          </a:prstGeom>
          <a:solidFill>
            <a:srgbClr val="E39B2C"/>
          </a:solidFill>
          <a:ln/>
        </p:spPr>
      </p:sp>
      <p:sp>
        <p:nvSpPr>
          <p:cNvPr id="28" name="Shape 26"/>
          <p:cNvSpPr/>
          <p:nvPr/>
        </p:nvSpPr>
        <p:spPr>
          <a:xfrm>
            <a:off x="11073384" y="2944368"/>
            <a:ext cx="274320" cy="274320"/>
          </a:xfrm>
          <a:prstGeom prst="ellipse">
            <a:avLst/>
          </a:prstGeom>
          <a:solidFill>
            <a:srgbClr val="E39B2C"/>
          </a:solidFill>
          <a:ln/>
        </p:spPr>
      </p:sp>
      <p:sp>
        <p:nvSpPr>
          <p:cNvPr id="29" name="Shape 27"/>
          <p:cNvSpPr/>
          <p:nvPr/>
        </p:nvSpPr>
        <p:spPr>
          <a:xfrm>
            <a:off x="8001000" y="3456432"/>
            <a:ext cx="274320" cy="274320"/>
          </a:xfrm>
          <a:prstGeom prst="ellipse">
            <a:avLst/>
          </a:prstGeom>
          <a:solidFill>
            <a:srgbClr val="27313E"/>
          </a:solidFill>
          <a:ln/>
        </p:spPr>
      </p:sp>
      <p:sp>
        <p:nvSpPr>
          <p:cNvPr id="30" name="Shape 28"/>
          <p:cNvSpPr/>
          <p:nvPr/>
        </p:nvSpPr>
        <p:spPr>
          <a:xfrm>
            <a:off x="8513064" y="3456432"/>
            <a:ext cx="274320" cy="274320"/>
          </a:xfrm>
          <a:prstGeom prst="ellipse">
            <a:avLst/>
          </a:prstGeom>
          <a:solidFill>
            <a:srgbClr val="27313E"/>
          </a:solidFill>
          <a:ln/>
        </p:spPr>
      </p:sp>
      <p:sp>
        <p:nvSpPr>
          <p:cNvPr id="31" name="Shape 29"/>
          <p:cNvSpPr/>
          <p:nvPr/>
        </p:nvSpPr>
        <p:spPr>
          <a:xfrm>
            <a:off x="9025128" y="3456432"/>
            <a:ext cx="274320" cy="274320"/>
          </a:xfrm>
          <a:prstGeom prst="ellipse">
            <a:avLst/>
          </a:prstGeom>
          <a:solidFill>
            <a:srgbClr val="E39B2C"/>
          </a:solidFill>
          <a:ln/>
        </p:spPr>
      </p:sp>
      <p:sp>
        <p:nvSpPr>
          <p:cNvPr id="32" name="Shape 30"/>
          <p:cNvSpPr/>
          <p:nvPr/>
        </p:nvSpPr>
        <p:spPr>
          <a:xfrm>
            <a:off x="9537192" y="3456432"/>
            <a:ext cx="274320" cy="274320"/>
          </a:xfrm>
          <a:prstGeom prst="ellipse">
            <a:avLst/>
          </a:prstGeom>
          <a:solidFill>
            <a:srgbClr val="E39B2C"/>
          </a:solidFill>
          <a:ln/>
        </p:spPr>
      </p:sp>
      <p:sp>
        <p:nvSpPr>
          <p:cNvPr id="33" name="Shape 31"/>
          <p:cNvSpPr/>
          <p:nvPr/>
        </p:nvSpPr>
        <p:spPr>
          <a:xfrm>
            <a:off x="10049256" y="3456432"/>
            <a:ext cx="274320" cy="274320"/>
          </a:xfrm>
          <a:prstGeom prst="ellipse">
            <a:avLst/>
          </a:prstGeom>
          <a:solidFill>
            <a:srgbClr val="E39B2C"/>
          </a:solidFill>
          <a:ln/>
        </p:spPr>
      </p:sp>
      <p:sp>
        <p:nvSpPr>
          <p:cNvPr id="34" name="Shape 32"/>
          <p:cNvSpPr/>
          <p:nvPr/>
        </p:nvSpPr>
        <p:spPr>
          <a:xfrm>
            <a:off x="10561320" y="3456432"/>
            <a:ext cx="274320" cy="274320"/>
          </a:xfrm>
          <a:prstGeom prst="ellipse">
            <a:avLst/>
          </a:prstGeom>
          <a:solidFill>
            <a:srgbClr val="E39B2C"/>
          </a:solidFill>
          <a:ln/>
        </p:spPr>
      </p:sp>
      <p:sp>
        <p:nvSpPr>
          <p:cNvPr id="35" name="Shape 33"/>
          <p:cNvSpPr/>
          <p:nvPr/>
        </p:nvSpPr>
        <p:spPr>
          <a:xfrm>
            <a:off x="11073384" y="3456432"/>
            <a:ext cx="274320" cy="274320"/>
          </a:xfrm>
          <a:prstGeom prst="ellipse">
            <a:avLst/>
          </a:prstGeom>
          <a:solidFill>
            <a:srgbClr val="E39B2C"/>
          </a:solidFill>
          <a:ln/>
        </p:spPr>
      </p:sp>
      <p:sp>
        <p:nvSpPr>
          <p:cNvPr id="36" name="Shape 34"/>
          <p:cNvSpPr/>
          <p:nvPr/>
        </p:nvSpPr>
        <p:spPr>
          <a:xfrm>
            <a:off x="8001000" y="3968496"/>
            <a:ext cx="274320" cy="274320"/>
          </a:xfrm>
          <a:prstGeom prst="ellipse">
            <a:avLst/>
          </a:prstGeom>
          <a:solidFill>
            <a:srgbClr val="27313E"/>
          </a:solidFill>
          <a:ln/>
        </p:spPr>
      </p:sp>
      <p:sp>
        <p:nvSpPr>
          <p:cNvPr id="37" name="Shape 35"/>
          <p:cNvSpPr/>
          <p:nvPr/>
        </p:nvSpPr>
        <p:spPr>
          <a:xfrm>
            <a:off x="8513064" y="3968496"/>
            <a:ext cx="274320" cy="274320"/>
          </a:xfrm>
          <a:prstGeom prst="ellipse">
            <a:avLst/>
          </a:prstGeom>
          <a:solidFill>
            <a:srgbClr val="E39B2C"/>
          </a:solidFill>
          <a:ln/>
        </p:spPr>
      </p:sp>
      <p:sp>
        <p:nvSpPr>
          <p:cNvPr id="38" name="Shape 36"/>
          <p:cNvSpPr/>
          <p:nvPr/>
        </p:nvSpPr>
        <p:spPr>
          <a:xfrm>
            <a:off x="9025128" y="3968496"/>
            <a:ext cx="274320" cy="274320"/>
          </a:xfrm>
          <a:prstGeom prst="ellipse">
            <a:avLst/>
          </a:prstGeom>
          <a:solidFill>
            <a:srgbClr val="E39B2C"/>
          </a:solidFill>
          <a:ln/>
        </p:spPr>
      </p:sp>
      <p:sp>
        <p:nvSpPr>
          <p:cNvPr id="39" name="Shape 37"/>
          <p:cNvSpPr/>
          <p:nvPr/>
        </p:nvSpPr>
        <p:spPr>
          <a:xfrm>
            <a:off x="9537192" y="3968496"/>
            <a:ext cx="274320" cy="274320"/>
          </a:xfrm>
          <a:prstGeom prst="ellipse">
            <a:avLst/>
          </a:prstGeom>
          <a:solidFill>
            <a:srgbClr val="E39B2C"/>
          </a:solidFill>
          <a:ln/>
        </p:spPr>
      </p:sp>
      <p:sp>
        <p:nvSpPr>
          <p:cNvPr id="40" name="Shape 38"/>
          <p:cNvSpPr/>
          <p:nvPr/>
        </p:nvSpPr>
        <p:spPr>
          <a:xfrm>
            <a:off x="10049256" y="3968496"/>
            <a:ext cx="274320" cy="274320"/>
          </a:xfrm>
          <a:prstGeom prst="ellipse">
            <a:avLst/>
          </a:prstGeom>
          <a:solidFill>
            <a:srgbClr val="E39B2C"/>
          </a:solidFill>
          <a:ln/>
        </p:spPr>
      </p:sp>
      <p:sp>
        <p:nvSpPr>
          <p:cNvPr id="41" name="Shape 39"/>
          <p:cNvSpPr/>
          <p:nvPr/>
        </p:nvSpPr>
        <p:spPr>
          <a:xfrm>
            <a:off x="10561320" y="3968496"/>
            <a:ext cx="274320" cy="274320"/>
          </a:xfrm>
          <a:prstGeom prst="ellipse">
            <a:avLst/>
          </a:prstGeom>
          <a:solidFill>
            <a:srgbClr val="E39B2C"/>
          </a:solidFill>
          <a:ln/>
        </p:spPr>
      </p:sp>
      <p:sp>
        <p:nvSpPr>
          <p:cNvPr id="42" name="Shape 40"/>
          <p:cNvSpPr/>
          <p:nvPr/>
        </p:nvSpPr>
        <p:spPr>
          <a:xfrm>
            <a:off x="11073384" y="3968496"/>
            <a:ext cx="274320" cy="274320"/>
          </a:xfrm>
          <a:prstGeom prst="ellipse">
            <a:avLst/>
          </a:prstGeom>
          <a:solidFill>
            <a:srgbClr val="E39B2C"/>
          </a:solidFill>
          <a:ln/>
        </p:spPr>
      </p:sp>
      <p:sp>
        <p:nvSpPr>
          <p:cNvPr id="43" name="Shape 41"/>
          <p:cNvSpPr/>
          <p:nvPr/>
        </p:nvSpPr>
        <p:spPr>
          <a:xfrm>
            <a:off x="8001000" y="4480560"/>
            <a:ext cx="274320" cy="274320"/>
          </a:xfrm>
          <a:prstGeom prst="ellipse">
            <a:avLst/>
          </a:prstGeom>
          <a:solidFill>
            <a:srgbClr val="E39B2C"/>
          </a:solidFill>
          <a:ln/>
        </p:spPr>
      </p:sp>
      <p:sp>
        <p:nvSpPr>
          <p:cNvPr id="44" name="Shape 42"/>
          <p:cNvSpPr/>
          <p:nvPr/>
        </p:nvSpPr>
        <p:spPr>
          <a:xfrm>
            <a:off x="8513064" y="4480560"/>
            <a:ext cx="274320" cy="274320"/>
          </a:xfrm>
          <a:prstGeom prst="ellipse">
            <a:avLst/>
          </a:prstGeom>
          <a:solidFill>
            <a:srgbClr val="E39B2C"/>
          </a:solidFill>
          <a:ln/>
        </p:spPr>
      </p:sp>
      <p:sp>
        <p:nvSpPr>
          <p:cNvPr id="45" name="Shape 43"/>
          <p:cNvSpPr/>
          <p:nvPr/>
        </p:nvSpPr>
        <p:spPr>
          <a:xfrm>
            <a:off x="9025128" y="4480560"/>
            <a:ext cx="274320" cy="274320"/>
          </a:xfrm>
          <a:prstGeom prst="ellipse">
            <a:avLst/>
          </a:prstGeom>
          <a:solidFill>
            <a:srgbClr val="E39B2C"/>
          </a:solidFill>
          <a:ln/>
        </p:spPr>
      </p:sp>
      <p:sp>
        <p:nvSpPr>
          <p:cNvPr id="46" name="Shape 44"/>
          <p:cNvSpPr/>
          <p:nvPr/>
        </p:nvSpPr>
        <p:spPr>
          <a:xfrm>
            <a:off x="9537192" y="4480560"/>
            <a:ext cx="274320" cy="274320"/>
          </a:xfrm>
          <a:prstGeom prst="ellipse">
            <a:avLst/>
          </a:prstGeom>
          <a:solidFill>
            <a:srgbClr val="E39B2C"/>
          </a:solidFill>
          <a:ln/>
        </p:spPr>
      </p:sp>
      <p:sp>
        <p:nvSpPr>
          <p:cNvPr id="47" name="Shape 45"/>
          <p:cNvSpPr/>
          <p:nvPr/>
        </p:nvSpPr>
        <p:spPr>
          <a:xfrm>
            <a:off x="10049256" y="4480560"/>
            <a:ext cx="274320" cy="274320"/>
          </a:xfrm>
          <a:prstGeom prst="ellipse">
            <a:avLst/>
          </a:prstGeom>
          <a:solidFill>
            <a:srgbClr val="E39B2C"/>
          </a:solidFill>
          <a:ln/>
        </p:spPr>
      </p:sp>
      <p:sp>
        <p:nvSpPr>
          <p:cNvPr id="48" name="Shape 46"/>
          <p:cNvSpPr/>
          <p:nvPr/>
        </p:nvSpPr>
        <p:spPr>
          <a:xfrm>
            <a:off x="10561320" y="4480560"/>
            <a:ext cx="274320" cy="274320"/>
          </a:xfrm>
          <a:prstGeom prst="ellipse">
            <a:avLst/>
          </a:prstGeom>
          <a:solidFill>
            <a:srgbClr val="E39B2C"/>
          </a:solidFill>
          <a:ln/>
        </p:spPr>
      </p:sp>
      <p:sp>
        <p:nvSpPr>
          <p:cNvPr id="49" name="Shape 47"/>
          <p:cNvSpPr/>
          <p:nvPr/>
        </p:nvSpPr>
        <p:spPr>
          <a:xfrm>
            <a:off x="11073384" y="4480560"/>
            <a:ext cx="274320" cy="274320"/>
          </a:xfrm>
          <a:prstGeom prst="ellipse">
            <a:avLst/>
          </a:prstGeom>
          <a:solidFill>
            <a:srgbClr val="E39B2C"/>
          </a:solidFill>
          <a:ln/>
        </p:spPr>
      </p:sp>
      <p:sp>
        <p:nvSpPr>
          <p:cNvPr id="50" name="Shape 48"/>
          <p:cNvSpPr/>
          <p:nvPr/>
        </p:nvSpPr>
        <p:spPr>
          <a:xfrm>
            <a:off x="8001000" y="4992624"/>
            <a:ext cx="274320" cy="274320"/>
          </a:xfrm>
          <a:prstGeom prst="ellipse">
            <a:avLst/>
          </a:prstGeom>
          <a:solidFill>
            <a:srgbClr val="E39B2C"/>
          </a:solidFill>
          <a:ln/>
        </p:spPr>
      </p:sp>
      <p:sp>
        <p:nvSpPr>
          <p:cNvPr id="51" name="Shape 49"/>
          <p:cNvSpPr/>
          <p:nvPr/>
        </p:nvSpPr>
        <p:spPr>
          <a:xfrm>
            <a:off x="8513064" y="4992624"/>
            <a:ext cx="274320" cy="274320"/>
          </a:xfrm>
          <a:prstGeom prst="ellipse">
            <a:avLst/>
          </a:prstGeom>
          <a:solidFill>
            <a:srgbClr val="E39B2C"/>
          </a:solidFill>
          <a:ln/>
        </p:spPr>
      </p:sp>
      <p:sp>
        <p:nvSpPr>
          <p:cNvPr id="52" name="Shape 50"/>
          <p:cNvSpPr/>
          <p:nvPr/>
        </p:nvSpPr>
        <p:spPr>
          <a:xfrm>
            <a:off x="9025128" y="4992624"/>
            <a:ext cx="274320" cy="274320"/>
          </a:xfrm>
          <a:prstGeom prst="ellipse">
            <a:avLst/>
          </a:prstGeom>
          <a:solidFill>
            <a:srgbClr val="E39B2C"/>
          </a:solidFill>
          <a:ln/>
        </p:spPr>
      </p:sp>
      <p:sp>
        <p:nvSpPr>
          <p:cNvPr id="53" name="Shape 51"/>
          <p:cNvSpPr/>
          <p:nvPr/>
        </p:nvSpPr>
        <p:spPr>
          <a:xfrm>
            <a:off x="9537192" y="4992624"/>
            <a:ext cx="274320" cy="274320"/>
          </a:xfrm>
          <a:prstGeom prst="ellipse">
            <a:avLst/>
          </a:prstGeom>
          <a:solidFill>
            <a:srgbClr val="E39B2C"/>
          </a:solidFill>
          <a:ln/>
        </p:spPr>
      </p:sp>
      <p:sp>
        <p:nvSpPr>
          <p:cNvPr id="54" name="Shape 52"/>
          <p:cNvSpPr/>
          <p:nvPr/>
        </p:nvSpPr>
        <p:spPr>
          <a:xfrm>
            <a:off x="10049256" y="4992624"/>
            <a:ext cx="274320" cy="274320"/>
          </a:xfrm>
          <a:prstGeom prst="ellipse">
            <a:avLst/>
          </a:prstGeom>
          <a:solidFill>
            <a:srgbClr val="E39B2C"/>
          </a:solidFill>
          <a:ln/>
        </p:spPr>
      </p:sp>
      <p:sp>
        <p:nvSpPr>
          <p:cNvPr id="55" name="Shape 53"/>
          <p:cNvSpPr/>
          <p:nvPr/>
        </p:nvSpPr>
        <p:spPr>
          <a:xfrm>
            <a:off x="10561320" y="4992624"/>
            <a:ext cx="274320" cy="274320"/>
          </a:xfrm>
          <a:prstGeom prst="ellipse">
            <a:avLst/>
          </a:prstGeom>
          <a:solidFill>
            <a:srgbClr val="E39B2C"/>
          </a:solidFill>
          <a:ln/>
        </p:spPr>
      </p:sp>
      <p:sp>
        <p:nvSpPr>
          <p:cNvPr id="56" name="Shape 54"/>
          <p:cNvSpPr/>
          <p:nvPr/>
        </p:nvSpPr>
        <p:spPr>
          <a:xfrm>
            <a:off x="11073384" y="4992624"/>
            <a:ext cx="274320" cy="274320"/>
          </a:xfrm>
          <a:prstGeom prst="ellipse">
            <a:avLst/>
          </a:prstGeom>
          <a:solidFill>
            <a:srgbClr val="E39B2C"/>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FinOps: Gaining Visibility</dc:title>
  <dc:subject>Cloud financial management — CFO briefing</dc:subject>
  <dc:creator>FinOps</dc:creator>
  <cp:lastModifiedBy>FinOps</cp:lastModifiedBy>
  <cp:revision>1</cp:revision>
  <dcterms:created xsi:type="dcterms:W3CDTF">2026-08-04T16:08:05Z</dcterms:created>
  <dcterms:modified xsi:type="dcterms:W3CDTF">2026-08-04T16:08:05Z</dcterms:modified>
</cp:coreProperties>
</file>