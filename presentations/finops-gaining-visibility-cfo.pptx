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what you want from this meeting, because a CFO will be listening for the ask. Two decisions: sponsorship of a mandatory cost-allocation standard, and a date for moving from showback to chargeback. Everything else on these slides is supporting argument. Frame the subject as controllability, not technology — cloud is one of the few large opex lines where the spending decisions are made daily, by people who never see the invoice, with no purchase order in between. This briefing is about restoring the coding and ownership discipline that every other cost line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symptom is variance you cannot explain, and an accrual you are guessing at. Cloud arrives as one large invoice after the fact, without a requisition trail, and the detail behind it is a usage file rather than a coded ledger. Put the test to the room: for last quarter's largest unfavourable variance on this line, how long did it take to name the owner and the cause? If the answer is weeks, or never, that is the gap this programme closes. Note the second-order cost too — unexplained variance drives conservative padding into next year's budget, so poor visibility quietly inflates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finance audience the useful analogy is standard costing and variance analysis, not DevOps culture. Inform is the ledger detail and the cost-centre coding. Optimize is acting on the variance once it can be attributed. Operate is making that a monthly discipline rather than an annual exercise. The reason it is a cycle rather than a project is that the estate changes continuously — an allocation model that was accurate in January describes a different business by June. Budget for it as an ongoing process cost, small, not a one-time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criteria, and each maps to something finance already owns. Which teams drive spend is cost-centre ownership. Whether spend grows faster than the business is the efficiency question behind gross margin. Paid-for-but-unused is working capital sitting idle. Accurate allocation is what makes a budget owner genuinely accountable rather than nominally so. The bottom line is the argument against the alternative: without allocation the only available lever is an across-the-board reduction, which is applied by negotiating strength rather than by waste, and which tends to reverse within two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as four finance capabilities. Allocation is a chart-of-accounts problem — cost cannot be coded to an owner that was never recorded. Granular reporting is what turns a variance into an explanation short enough to put in a board pack. Unit economics is the one to dwell on: cost per customer, per transaction, per active user is what separates 'spend is up twenty percent' from 'spend per customer is down eight' — the same invoice, opposite stories, and only the second one belongs in a margin discussion. Daily data matters for the close: a monthly-only feed means the accrual is an estimate and the first reliable number arrives after the period is shut.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has a direct finance consequence worth naming. Inconsistent tagging is a suspense account — spend that lands nowhere and gets allocated by argument. Shared resources are an internal transfer-pricing question. Commitments break unit cost reporting, because the rate on the resource is not the rate the business paid. Multi-cloud means no consolidated view without a normalization step. SaaS and marketplace spend is the one to flag to procurement rather than engineering — it is maverick spend, often on corporate cards, frequently auto-renewing, and it will not appear anywhere in the cloud reporting we are discussing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needs a CFO decision, and the parallel is exact: we already refuse to process an invoice without a cost centre, and this is the same control applied at the point of resource creation. Enforcement is cheap at creation and expensive in arrears — retagging a live estate is a manual project, while a policy that blocks untagged resources costs nothing after it is configured. The showback runway is the part to sell as risk management: four to six weeks of reporting with no charge to any P&amp;L is a controlled parallel run that surfaces the allocation disputes before they touch anyone's budget. Ask for finance to own the taxonomy — it is a coding standard, and engineering should not be defining it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 platforms are an internal transfer-pricing decision, so treat the choice of basis the way you would any other allocation method. Two practical points. First, pick a basis you can defend to a budget owner who is motivated to dispute it — measured consumption beats headcount or an equal split, because it survives the conversation. Second, freeze it for the fiscal year and document it; a method that changes mid-year makes every period-over-period comparison unusable and invites the argument you were trying to end. Note the technical caveat, because it constrains what we can promise: a shared platform carries a single set of tags, so splitting it needs usage instrumentation, not tagging. Confirm that exists before committing to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has the most direct cash and balance-sheet consequence, so take it slowly. A commitment is a multi-year purchase obligation bought at a discount against a usage forecast — under-committing means paying on-demand rates for workloads that never turn off, and over-committing means prepaying for a peak that does not return. Both are visible only if coverage and utilization are reported separately: coverage says how much of steady-state spend sits under a commitment, utilization says whether what we bought is being used. Unused commitment is the worst line on this slide, because it is already spent, cannot be released, and is invisible on any report priced at list. Also make the reporting point: showing only discounted rates hides whether the commitment is earning its keep, and showing only list price makes the savings claim unverifiable. Both belong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this one to our actual footprint before presenting it, because a CFO will hear a platform purchase coming. If we are effectively single-cloud, say so plainly and recommend against buying anything — the native tooling is adequate and a third-party platform is a licence cost with no incremental answer. The durable point is FOCUS: it is a common chart of accounts across vendors, and asking for FOCUS-compliant exports in the next contract renewal costs nothing today while keeping consolidated reporting cheap if the footprint changes later. That is the recommendation here — a procurement clause, not a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Chargeback is an accounting change, so treat it like one. Moving cloud cost into business unit P&amp;L changes reported margins by unit, changes what budget owners are measured against, and will be contested in the first month it happens. That contest is survivable if the allocation is trusted and fatal to the programme if it is not — the failure mode is a quarter spent arguing about the numbers rather than about the spend, after which nobody believes the report. Hence the sequencing: showback until allocation coverage is high and stable, then chargeback at a fiscal-year or half-year boundary so budgets are set with the new basis rather than restated mid-period. That date is the second decision to take away from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these six as the KPI set finance should own and see monthly, not as an engineering maturity model. Four are directly reportable: percentage of spend allocated, forecast accuracy against actuals, unit cost trend, and commitment coverage against utilization. The other two are controls rather than metrics — cost review inside the design process, and policy that blocks expensive configurations before they are deployed, which is the closest thing here to a spending approval gate. Score each as in place, partial or absent for our estate, and the gaps become the work plan. Worth noting that most of this list is about seeing spend earlier rather than cutting it, which is the argument of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the shift explicitly: part one asked for visibility, part two asks for controls, and controls are where the money is actually protected. The framing that lands with a finance audience is that we are adding the approval and limit structure that every other spend category already has — cloud is the one line where large amounts are committed daily with no requisition, no ceiling and no named approver. Nothing in this section is exotic; it is delegation of authority, budget thresholds and exception handling, applied to a cost line that has been running without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delegated budget authority, expressed in engineering terms. The four duties map to what any budget holder already does — sign off the number, explain the variance, review monthly, retire what is not needed — and the request is simply that cloud spend gets the same named accountability. The point to press: a distribution list cannot hold budget authority, so a group address in the owner field is an unowned budget with better paperwork. The bottom line is the finance consequence — unowned spend is not unbudgeted, it lands in central overhead, which is exactly where cost is hardest to challenge and easiest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 that matters to this audience is the third one, because it is the only place a financial control actually binds — the first two are notifications. Ask directly whether we are willing to have a limit that stops something, and where; without one, the budget is a forecast with a stern tone. Proportional burn is worth understanding as a variance tool: it compares consumption against elapsed period rather than against the total, which is the same logic as phasing a budget rather than dividing it by twelve. It also gives earlier warning — a flat threshold cannot fire before the money is largely spent. Finally, budgets should live in one place finance maintains, not embedded in engineering tooling where changing a number requires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latency chart explains something that surprises most finance teams: the cost data behind every budget report is a day or two stale, so no threshold built on it can prevent an overrun — it can only report one. That is the argument for technical limits, which act in seconds on live usage. Frame the four controls as pre-approved spending limits rather than engineering settings: a quota is a ceiling on what can be consumed without someone authorizing more, which is precisely how spend authority works elsewhere. They are also cheap to reverse, so the asymmetry favours setting them: a limit set too low costs a short delay, while no limit costs whatever the incident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escalation policy behind the budget controls, and note who is on the receiving end of each tier — that is the operational commitment being requested. The finance-relevant caution is the middle one: alerts that fire without a possible response get muted, and muted alerting produces false assurance in exactly the reports leadership relies on. The third caution deserves a controller's attention — if the data feed stops, every threshold silently passes and the dashboards look calm, so we monitor for the absence of data as well as for bad numbers. That is a controls question, not a technical one, and it is the sort of gap an auditor will eventually ask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governance structure, because this is the slide that answers 'who is accountable' before the question is asked in a less comfortable setting. Finance owns budget and allocation policy; the platform function owns the standard and the instrumentation; engineering owns building and responding; leadership arbitrates the commitments and the trade-offs. Note that authority and execution are deliberately separated on the guardrails and alert rows — the people who build the limits are not the people who decide where they sit. Ask for two names today, the taxonomy owner and the budget-policy owner, and the rest of the grid can be filled in by the next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parallel is a capital request reviewed before commitment rather than after. These architectural decisions commit recurring spend without ever passing through a requisition, and this slide asks for a review point at the moment the commitment is made. The band is the argument: by the time a design is signed off, most of that workload's lifetime cost is fixed. Everything we do later is trimming a base rate we already accepted. Note the resourcing implication, since it is the obvious question — this needs someone's time in design reviews, not a new team. It is the cheapest control on offer here, and the Framework treats it as a defined capability rather than an optional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two or three of these aloud, because they demonstrate that cost questions at design are engineering questions, not finance interference — which is the objection this slide exists to disarm. The finance-relevant output is at the bottom: a cost estimate attached to the design and a cost target recorded alongside the other non-functional requirements. That gives us a budget baseline that exists before spend starts, which is what makes later variance meaningful — without it, the first actual is the plan. The AI question deserves attention given how quickly that line grows: token volume, cache behaviour and model tier change the unit cost by an order of magnitude, and provisioned capacity is a commitment decision in everything but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bring to the conversation about why the number moved, because it reframes the problem from cost to timing. The overrun is the same in all four columns; what changes is how much notice we get, and notice is what converts a write-off into a decision. The third point is the one with direct budget consequence — a forecast warning two weeks before month end can still change the month's outcome, while the invoice can only be explained after close. Be careful with the closing line and repeat it verbatim: this programme does not commit to reducing spend by a percentage, it commits to no unexplained variance. That is the promise we can actually keep, and it is worth more at the audit committee than a savings figure nobody can attribute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risk slide for the fastest-growing line in the technology budget. The pattern is familiar — spend scaled before ownership and controls did — and the consequence is the same: variance nobody can explain quickly. The finance-relevant figure is the diagnosis time. Four in five organizations need a day or more to trace an AI cost spike to its source, which in practice means the exposure continues while the investigation runs. Framing that as a measurable target — hours rather than days — gives us something to report and improve, unlike a general commitment to better governance. Handle the source honestly and do it unprompted: this is vendor research from a company that sells AI cost management, and the 26% waste number is a self-reported estimate rather than a measurement. Cite the ownership and diagnosis findings, which independent coverage repeats, and treat the waste figure as directional only. Over-claiming it invites the audit question we cannot answer. If asked what would change: per-consumer attribution on AI traffic, so a spike resolves to a team and an application rather than to a shared resource.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governance-of-the-programme slide, and the one that answers 'how will we know this is working before the savings arrive'. The distinction to hold on to is identified versus realized savings. Identified is an estimate produced by a tool; realized is a change visible on an invoice. Treat the first as a pipeline and only the second as a result, and never let the two be reported as one number — that conflation is how cost programmes end up claiming savings the P&amp;L cannot find. Adoption is the leading indicator worth putting in the monthly pack: the share of findings with a named owner and a date. It moves months before the savings do, and it is the earliest reliable signal that the practice is real rather than decorative. The closing line is the framing to keep with a board: we are buying better decisions, and a lower bill is what a better decision looks like a quarter later. It also sets the right expectation on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procurement slide. Treat the six capabilities as the requirement list rather than as an endorsement — they describe what this category of platform does, and the same list should go to any competing vendor so the comparison is like for like. Two commercial points. First, the pricing model in this market is usually a percentage of cloud spend under management or a tiered subscription, which means the cost grows with the estate — worth confirming before it becomes a line that scales with the problem it manages. Second, insist on FOCUS export in the contract: it is the standard that makes the data portable and keeps a future migration cheap. Be explicit about the published outcomes. Roughly 30% cost reduction and 50% engineer time saved are vendor marketing figures, not audited results and not a commitment to us. If we want a business case, it should be built on our own measured allocation gap and the cost of the analyst time this would replace — a proof of value on our data, with success criteria agreed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and the honest cost answer is effort rather than licence spend if we stay on native tooling — name the roles and the share of their time instead of quoting a budget number you would have to defend. Step one is the only item that cannot run in parallel: every downstream report degrades if the taxonomy is still moving. Split the ownership explicitly — finance owns the taxonomy, the allocation policy and the KPI definitions; engineering owns enforcement, instrumentation and remediation. Steps two and four are both arguments for restraint: attack the largest cost categories rather than pursuing complete granularity, and buy tooling that matches the estate we have rather than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why this sequencing produces a better financial outcome than cutting first. A cut delivers a one-time step down and reverses as soon as attention moves elsewhere; allocation plus ownership changes the rate at which cost is added, which compounds across every subsequent period. That is also the honest framing for the board: the near-term deliverable is explainable variance and a forecast we can stand behind, with targeted savings following the first full period of clean data. Ask for the first two links today — the allocation standard and published ownership — because the rest follow from them and cannot be bought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five questions and have the answers ready. What does it cost: effort, principally, plus any tooling only if we are genuinely multi-cloud. When do savings appear: allocation coverage improves within weeks, targeted savings follow the first full period of clean data, and be careful not to promise a percentage before we can see where the waste is. Who owns it: name the taxonomy owner and the monthly review before leaving the room, or none of this happens. Does it affect the close: better, not worse — daily data improves the accrual, though chargeback adds a journal step worth scoping with the controller. And will chargeback start an internal war: only if we launch it on allocation nobody trusts, which is exactly what the showback runway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234440"/>
            <a:ext cx="54864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548640" y="1600200"/>
            <a:ext cx="603504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Governance</a:t>
            </a:r>
            <a:endParaRPr lang="en-US" sz="4200" dirty="0"/>
          </a:p>
        </p:txBody>
      </p:sp>
      <p:sp>
        <p:nvSpPr>
          <p:cNvPr id="4" name="Text 2"/>
          <p:cNvSpPr/>
          <p:nvPr/>
        </p:nvSpPr>
        <p:spPr>
          <a:xfrm>
            <a:off x="548640" y="2651760"/>
            <a:ext cx="5760720" cy="100584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Visibility tells you what happened. Governance decides what is allowed to happen — who owns the spend, what it may reach, and what stops it automatically.</a:t>
            </a:r>
            <a:endParaRPr lang="en-US" sz="1550" dirty="0"/>
          </a:p>
        </p:txBody>
      </p:sp>
      <p:sp>
        <p:nvSpPr>
          <p:cNvPr id="5" name="Text 3"/>
          <p:cNvSpPr/>
          <p:nvPr/>
        </p:nvSpPr>
        <p:spPr>
          <a:xfrm>
            <a:off x="548640" y="3886200"/>
            <a:ext cx="5760720" cy="731520"/>
          </a:xfrm>
          <a:prstGeom prst="rect">
            <a:avLst/>
          </a:prstGeom>
          <a:noFill/>
          <a:ln/>
        </p:spPr>
        <p:txBody>
          <a:bodyPr wrap="square" lIns="0" tIns="0" rIns="0" bIns="0" rtlCol="0" anchor="t"/>
          <a:lstStyle/>
          <a:p>
            <a:pPr indent="0" marL="0">
              <a:lnSpc>
                <a:spcPts val="2100"/>
              </a:lnSpc>
              <a:buNone/>
            </a:pPr>
            <a:r>
              <a:rPr lang="en-US" sz="1450" i="1" dirty="0">
                <a:solidFill>
                  <a:srgbClr val="E39B2C"/>
                </a:solidFill>
                <a:latin typeface="Cambria" pitchFamily="34" charset="0"/>
                <a:ea typeface="Cambria" pitchFamily="34" charset="-122"/>
                <a:cs typeface="Cambria" pitchFamily="34" charset="-120"/>
              </a:rPr>
              <a:t>Reporting is not a control. Every item on the right exists because someone found that out the expensive way.</a:t>
            </a:r>
            <a:endParaRPr lang="en-US" sz="1450" dirty="0"/>
          </a:p>
        </p:txBody>
      </p:sp>
      <p:sp>
        <p:nvSpPr>
          <p:cNvPr id="6" name="Shape 4"/>
          <p:cNvSpPr/>
          <p:nvPr/>
        </p:nvSpPr>
        <p:spPr>
          <a:xfrm>
            <a:off x="6675120" y="1371600"/>
            <a:ext cx="4965192" cy="786384"/>
          </a:xfrm>
          <a:prstGeom prst="roundRect">
            <a:avLst>
              <a:gd name="adj" fmla="val 10465"/>
            </a:avLst>
          </a:prstGeom>
          <a:solidFill>
            <a:srgbClr val="1F2936"/>
          </a:solidFill>
          <a:ln/>
        </p:spPr>
      </p:sp>
      <p:sp>
        <p:nvSpPr>
          <p:cNvPr id="7" name="Text 5"/>
          <p:cNvSpPr/>
          <p:nvPr/>
        </p:nvSpPr>
        <p:spPr>
          <a:xfrm>
            <a:off x="6912864" y="1371600"/>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7534656" y="1371600"/>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Application ownership</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A named owner for every workload</a:t>
            </a:r>
            <a:endParaRPr lang="en-US" sz="1450" dirty="0"/>
          </a:p>
        </p:txBody>
      </p:sp>
      <p:sp>
        <p:nvSpPr>
          <p:cNvPr id="9" name="Shape 7"/>
          <p:cNvSpPr/>
          <p:nvPr/>
        </p:nvSpPr>
        <p:spPr>
          <a:xfrm>
            <a:off x="6675120" y="2249424"/>
            <a:ext cx="4965192" cy="786384"/>
          </a:xfrm>
          <a:prstGeom prst="roundRect">
            <a:avLst>
              <a:gd name="adj" fmla="val 10465"/>
            </a:avLst>
          </a:prstGeom>
          <a:solidFill>
            <a:srgbClr val="1F2936"/>
          </a:solidFill>
          <a:ln/>
        </p:spPr>
      </p:sp>
      <p:sp>
        <p:nvSpPr>
          <p:cNvPr id="10" name="Text 8"/>
          <p:cNvSpPr/>
          <p:nvPr/>
        </p:nvSpPr>
        <p:spPr>
          <a:xfrm>
            <a:off x="6912864" y="2249424"/>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7534656" y="2249424"/>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Budget controls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Thresholds that trigger before month-end</a:t>
            </a:r>
            <a:endParaRPr lang="en-US" sz="1450" dirty="0"/>
          </a:p>
        </p:txBody>
      </p:sp>
      <p:sp>
        <p:nvSpPr>
          <p:cNvPr id="12" name="Shape 10"/>
          <p:cNvSpPr/>
          <p:nvPr/>
        </p:nvSpPr>
        <p:spPr>
          <a:xfrm>
            <a:off x="6675120" y="3127248"/>
            <a:ext cx="4965192" cy="786384"/>
          </a:xfrm>
          <a:prstGeom prst="roundRect">
            <a:avLst>
              <a:gd name="adj" fmla="val 10465"/>
            </a:avLst>
          </a:prstGeom>
          <a:solidFill>
            <a:srgbClr val="1F2936"/>
          </a:solidFill>
          <a:ln/>
        </p:spPr>
      </p:sp>
      <p:sp>
        <p:nvSpPr>
          <p:cNvPr id="13" name="Text 11"/>
          <p:cNvSpPr/>
          <p:nvPr/>
        </p:nvSpPr>
        <p:spPr>
          <a:xfrm>
            <a:off x="6912864" y="3127248"/>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7534656" y="3127248"/>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Rate limits &amp; quotas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The only control fast enough to stop spend</a:t>
            </a:r>
            <a:endParaRPr lang="en-US" sz="1450" dirty="0"/>
          </a:p>
        </p:txBody>
      </p:sp>
      <p:sp>
        <p:nvSpPr>
          <p:cNvPr id="15" name="Shape 13"/>
          <p:cNvSpPr/>
          <p:nvPr/>
        </p:nvSpPr>
        <p:spPr>
          <a:xfrm>
            <a:off x="6675120" y="4005072"/>
            <a:ext cx="4965192" cy="786384"/>
          </a:xfrm>
          <a:prstGeom prst="roundRect">
            <a:avLst>
              <a:gd name="adj" fmla="val 10465"/>
            </a:avLst>
          </a:prstGeom>
          <a:solidFill>
            <a:srgbClr val="1F2936"/>
          </a:solidFill>
          <a:ln/>
        </p:spPr>
      </p:sp>
      <p:sp>
        <p:nvSpPr>
          <p:cNvPr id="16" name="Text 14"/>
          <p:cNvSpPr/>
          <p:nvPr/>
        </p:nvSpPr>
        <p:spPr>
          <a:xfrm>
            <a:off x="6912864" y="4005072"/>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7534656" y="4005072"/>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Automated alerts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Routed to the person who can act</a:t>
            </a:r>
            <a:endParaRPr lang="en-US" sz="1450" dirty="0"/>
          </a:p>
        </p:txBody>
      </p:sp>
      <p:sp>
        <p:nvSpPr>
          <p:cNvPr id="18" name="Shape 16"/>
          <p:cNvSpPr/>
          <p:nvPr/>
        </p:nvSpPr>
        <p:spPr>
          <a:xfrm>
            <a:off x="6675120" y="4882896"/>
            <a:ext cx="4965192" cy="786384"/>
          </a:xfrm>
          <a:prstGeom prst="roundRect">
            <a:avLst>
              <a:gd name="adj" fmla="val 10465"/>
            </a:avLst>
          </a:prstGeom>
          <a:solidFill>
            <a:srgbClr val="1F2936"/>
          </a:solidFill>
          <a:ln/>
        </p:spPr>
      </p:sp>
      <p:sp>
        <p:nvSpPr>
          <p:cNvPr id="19" name="Text 17"/>
          <p:cNvSpPr/>
          <p:nvPr/>
        </p:nvSpPr>
        <p:spPr>
          <a:xfrm>
            <a:off x="6912864" y="4882896"/>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7534656" y="4882896"/>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Shared responsibility</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Who decides, who builds, who pays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1 — APPLICATION 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Shape 2"/>
          <p:cNvSpPr/>
          <p:nvPr/>
        </p:nvSpPr>
        <p:spPr>
          <a:xfrm>
            <a:off x="548640" y="1783080"/>
            <a:ext cx="3749040" cy="3017520"/>
          </a:xfrm>
          <a:prstGeom prst="roundRect">
            <a:avLst>
              <a:gd name="adj" fmla="val 2727"/>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Owner of record</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450" i="1" dirty="0">
                <a:solidFill>
                  <a:srgbClr val="FFFFFF"/>
                </a:solidFill>
                <a:latin typeface="Cambria" pitchFamily="34" charset="0"/>
                <a:ea typeface="Cambria" pitchFamily="34" charset="-122"/>
                <a:cs typeface="Cambria" pitchFamily="34" charset="-120"/>
              </a:rPr>
              <a:t>A named person, not a distribution list and not “the platform team”. A group address means nobody answers the alert at 2am on a Sunday.</a:t>
            </a:r>
            <a:endParaRPr lang="en-US" sz="145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Owns the budget</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Signs off the application's budget and explains the variance when it moves.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Answers the alerts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Named as the routing target for anomalies and threshold breaches on their workload.</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Reviews monthly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Attends the monthly review with their own numbers, not a summary of everyone's.</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Decommissions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Retires what is no longer used. Nothing else in the estate does this by itself.</a:t>
            </a:r>
            <a:endParaRPr lang="en-US" sz="1450" dirty="0"/>
          </a:p>
        </p:txBody>
      </p:sp>
      <p:sp>
        <p:nvSpPr>
          <p:cNvPr id="21" name="Shape 14"/>
          <p:cNvSpPr/>
          <p:nvPr/>
        </p:nvSpPr>
        <p:spPr>
          <a:xfrm>
            <a:off x="548640" y="5047488"/>
            <a:ext cx="11091672" cy="1207008"/>
          </a:xfrm>
          <a:prstGeom prst="roundRect">
            <a:avLst>
              <a:gd name="adj" fmla="val 6818"/>
            </a:avLst>
          </a:prstGeom>
          <a:solidFill>
            <a:srgbClr val="FBEFD8"/>
          </a:solidFill>
          <a:ln/>
        </p:spPr>
      </p:sp>
      <p:sp>
        <p:nvSpPr>
          <p:cNvPr id="22" name="Text 15"/>
          <p:cNvSpPr/>
          <p:nvPr/>
        </p:nvSpPr>
        <p:spPr>
          <a:xfrm>
            <a:off x="877824" y="5193792"/>
            <a:ext cx="45720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Unowned is not unowned</a:t>
            </a:r>
            <a:endParaRPr lang="en-US" sz="1200" dirty="0"/>
          </a:p>
        </p:txBody>
      </p:sp>
      <p:sp>
        <p:nvSpPr>
          <p:cNvPr id="23" name="Text 16"/>
          <p:cNvSpPr/>
          <p:nvPr/>
        </p:nvSpPr>
        <p:spPr>
          <a:xfrm>
            <a:off x="877824" y="5486400"/>
            <a:ext cx="10424160" cy="658368"/>
          </a:xfrm>
          <a:prstGeom prst="rect">
            <a:avLst/>
          </a:prstGeom>
          <a:noFill/>
          <a:ln/>
        </p:spPr>
        <p:txBody>
          <a:bodyPr wrap="square" lIns="0" tIns="0" rIns="0" bIns="0" rtlCol="0" anchor="t"/>
          <a:lstStyle/>
          <a:p>
            <a:pPr indent="0" marL="0">
              <a:lnSpc>
                <a:spcPts val="1900"/>
              </a:lnSpc>
              <a:buNone/>
            </a:pPr>
            <a:r>
              <a:rPr lang="en-US" sz="1400" dirty="0">
                <a:solidFill>
                  <a:srgbClr val="6B4A0E"/>
                </a:solidFill>
                <a:latin typeface="Calibri" pitchFamily="34" charset="0"/>
                <a:ea typeface="Calibri" pitchFamily="34" charset="-122"/>
                <a:cs typeface="Calibri" pitchFamily="34" charset="-120"/>
              </a:rPr>
              <a:t>Every resource without an owner already has one — the central budget. Make ownership a deployment requirement rather than a reporting field, and give orphaned resources a standing rule: no owner, no renewal.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2 — BUDGET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Thresholds that fire before month-end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budget nobody is warned about is a number in a spreadsheet, not a control.</a:t>
            </a:r>
            <a:endParaRPr lang="en-US" sz="1500" dirty="0"/>
          </a:p>
        </p:txBody>
      </p:sp>
      <p:sp>
        <p:nvSpPr>
          <p:cNvPr id="5" name="Shape 3"/>
          <p:cNvSpPr/>
          <p:nvPr/>
        </p:nvSpPr>
        <p:spPr>
          <a:xfrm>
            <a:off x="548640" y="2103120"/>
            <a:ext cx="3511296" cy="2148840"/>
          </a:xfrm>
          <a:prstGeom prst="roundRect">
            <a:avLst>
              <a:gd name="adj" fmla="val 3830"/>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499616"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Notify</a:t>
            </a:r>
            <a:endParaRPr lang="en-US" sz="2000" dirty="0"/>
          </a:p>
        </p:txBody>
      </p:sp>
      <p:sp>
        <p:nvSpPr>
          <p:cNvPr id="9" name="Text 6"/>
          <p:cNvSpPr/>
          <p:nvPr/>
        </p:nvSpPr>
        <p:spPr>
          <a:xfrm>
            <a:off x="841248" y="3035808"/>
            <a:ext cx="2926080" cy="310896"/>
          </a:xfrm>
          <a:prstGeom prst="rect">
            <a:avLst/>
          </a:prstGeom>
          <a:noFill/>
          <a:ln/>
        </p:spPr>
        <p:txBody>
          <a:bodyPr wrap="square" lIns="0" tIns="0" rIns="0" bIns="0" rtlCol="0" anchor="ctr"/>
          <a:lstStyle/>
          <a:p>
            <a:pPr indent="0" marL="0">
              <a:buNone/>
            </a:pPr>
            <a:r>
              <a:rPr lang="en-US" sz="1250" b="1" dirty="0">
                <a:solidFill>
                  <a:srgbClr val="1F6B5C"/>
                </a:solidFill>
                <a:latin typeface="Calibri" pitchFamily="34" charset="0"/>
                <a:ea typeface="Calibri" pitchFamily="34" charset="-122"/>
                <a:cs typeface="Calibri" pitchFamily="34" charset="-120"/>
              </a:rPr>
              <a:t>Burn ahead of plan</a:t>
            </a:r>
            <a:endParaRPr lang="en-US" sz="1250" dirty="0"/>
          </a:p>
        </p:txBody>
      </p:sp>
      <p:sp>
        <p:nvSpPr>
          <p:cNvPr id="10" name="Text 7"/>
          <p:cNvSpPr/>
          <p:nvPr/>
        </p:nvSpPr>
        <p:spPr>
          <a:xfrm>
            <a:off x="841248"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Proportional to the month elapsed. Goes to the team channel.</a:t>
            </a:r>
            <a:endParaRPr lang="en-US" sz="1250" dirty="0"/>
          </a:p>
        </p:txBody>
      </p:sp>
      <p:sp>
        <p:nvSpPr>
          <p:cNvPr id="11" name="Shape 8"/>
          <p:cNvSpPr/>
          <p:nvPr/>
        </p:nvSpPr>
        <p:spPr>
          <a:xfrm>
            <a:off x="4114800" y="3090672"/>
            <a:ext cx="201168" cy="182880"/>
          </a:xfrm>
          <a:prstGeom prst="rightArrow">
            <a:avLst/>
          </a:prstGeom>
          <a:solidFill>
            <a:srgbClr val="C3CBD5"/>
          </a:solidFill>
          <a:ln/>
        </p:spPr>
      </p:sp>
      <p:sp>
        <p:nvSpPr>
          <p:cNvPr id="12" name="Shape 9"/>
          <p:cNvSpPr/>
          <p:nvPr/>
        </p:nvSpPr>
        <p:spPr>
          <a:xfrm>
            <a:off x="4334256" y="2103120"/>
            <a:ext cx="3511296" cy="2148840"/>
          </a:xfrm>
          <a:prstGeom prst="roundRect">
            <a:avLst>
              <a:gd name="adj" fmla="val 3830"/>
            </a:avLst>
          </a:prstGeom>
          <a:solidFill>
            <a:srgbClr val="FBEFD8"/>
          </a:solidFill>
          <a:ln/>
        </p:spPr>
      </p:sp>
      <p:sp>
        <p:nvSpPr>
          <p:cNvPr id="13" name="Shape 10"/>
          <p:cNvSpPr/>
          <p:nvPr/>
        </p:nvSpPr>
        <p:spPr>
          <a:xfrm>
            <a:off x="4626864" y="2359152"/>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64024" y="2496312"/>
            <a:ext cx="274320" cy="274320"/>
          </a:xfrm>
          <a:prstGeom prst="rect">
            <a:avLst/>
          </a:prstGeom>
        </p:spPr>
      </p:pic>
      <p:sp>
        <p:nvSpPr>
          <p:cNvPr id="15" name="Text 11"/>
          <p:cNvSpPr/>
          <p:nvPr/>
        </p:nvSpPr>
        <p:spPr>
          <a:xfrm>
            <a:off x="5285232"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Review</a:t>
            </a:r>
            <a:endParaRPr lang="en-US" sz="2000" dirty="0"/>
          </a:p>
        </p:txBody>
      </p:sp>
      <p:sp>
        <p:nvSpPr>
          <p:cNvPr id="16" name="Text 12"/>
          <p:cNvSpPr/>
          <p:nvPr/>
        </p:nvSpPr>
        <p:spPr>
          <a:xfrm>
            <a:off x="4626864" y="3035808"/>
            <a:ext cx="2926080" cy="310896"/>
          </a:xfrm>
          <a:prstGeom prst="rect">
            <a:avLst/>
          </a:prstGeom>
          <a:noFill/>
          <a:ln/>
        </p:spPr>
        <p:txBody>
          <a:bodyPr wrap="square" lIns="0" tIns="0" rIns="0" bIns="0" rtlCol="0" anchor="ctr"/>
          <a:lstStyle/>
          <a:p>
            <a:pPr indent="0" marL="0">
              <a:buNone/>
            </a:pPr>
            <a:r>
              <a:rPr lang="en-US" sz="1250" b="1" dirty="0">
                <a:solidFill>
                  <a:srgbClr val="B87B18"/>
                </a:solidFill>
                <a:latin typeface="Calibri" pitchFamily="34" charset="0"/>
                <a:ea typeface="Calibri" pitchFamily="34" charset="-122"/>
                <a:cs typeface="Calibri" pitchFamily="34" charset="-120"/>
              </a:rPr>
              <a:t>Forecast exceeds budget</a:t>
            </a:r>
            <a:endParaRPr lang="en-US" sz="1250" dirty="0"/>
          </a:p>
        </p:txBody>
      </p:sp>
      <p:sp>
        <p:nvSpPr>
          <p:cNvPr id="17" name="Text 13"/>
          <p:cNvSpPr/>
          <p:nvPr/>
        </p:nvSpPr>
        <p:spPr>
          <a:xfrm>
            <a:off x="4626864"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Projected month-end overrun. Owner and finance review within days.</a:t>
            </a:r>
            <a:endParaRPr lang="en-US" sz="1250" dirty="0"/>
          </a:p>
        </p:txBody>
      </p:sp>
      <p:sp>
        <p:nvSpPr>
          <p:cNvPr id="18" name="Shape 14"/>
          <p:cNvSpPr/>
          <p:nvPr/>
        </p:nvSpPr>
        <p:spPr>
          <a:xfrm>
            <a:off x="7900416" y="3090672"/>
            <a:ext cx="201168" cy="182880"/>
          </a:xfrm>
          <a:prstGeom prst="rightArrow">
            <a:avLst/>
          </a:prstGeom>
          <a:solidFill>
            <a:srgbClr val="C3CBD5"/>
          </a:solidFill>
          <a:ln/>
        </p:spPr>
      </p:sp>
      <p:sp>
        <p:nvSpPr>
          <p:cNvPr id="19" name="Shape 15"/>
          <p:cNvSpPr/>
          <p:nvPr/>
        </p:nvSpPr>
        <p:spPr>
          <a:xfrm>
            <a:off x="8119872" y="2103120"/>
            <a:ext cx="3511296" cy="2148840"/>
          </a:xfrm>
          <a:prstGeom prst="roundRect">
            <a:avLst>
              <a:gd name="adj" fmla="val 3830"/>
            </a:avLst>
          </a:prstGeom>
          <a:solidFill>
            <a:srgbClr val="F6E0DC"/>
          </a:solidFill>
          <a:ln/>
        </p:spPr>
      </p:sp>
      <p:sp>
        <p:nvSpPr>
          <p:cNvPr id="20" name="Shape 16"/>
          <p:cNvSpPr/>
          <p:nvPr/>
        </p:nvSpPr>
        <p:spPr>
          <a:xfrm>
            <a:off x="8412480" y="2359152"/>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549640" y="2496312"/>
            <a:ext cx="274320" cy="274320"/>
          </a:xfrm>
          <a:prstGeom prst="rect">
            <a:avLst/>
          </a:prstGeom>
        </p:spPr>
      </p:pic>
      <p:sp>
        <p:nvSpPr>
          <p:cNvPr id="22" name="Text 17"/>
          <p:cNvSpPr/>
          <p:nvPr/>
        </p:nvSpPr>
        <p:spPr>
          <a:xfrm>
            <a:off x="9070848"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Gate</a:t>
            </a:r>
            <a:endParaRPr lang="en-US" sz="2000" dirty="0"/>
          </a:p>
        </p:txBody>
      </p:sp>
      <p:sp>
        <p:nvSpPr>
          <p:cNvPr id="23" name="Text 18"/>
          <p:cNvSpPr/>
          <p:nvPr/>
        </p:nvSpPr>
        <p:spPr>
          <a:xfrm>
            <a:off x="8412480" y="3035808"/>
            <a:ext cx="2926080" cy="310896"/>
          </a:xfrm>
          <a:prstGeom prst="rect">
            <a:avLst/>
          </a:prstGeom>
          <a:noFill/>
          <a:ln/>
        </p:spPr>
        <p:txBody>
          <a:bodyPr wrap="square" lIns="0" tIns="0" rIns="0" bIns="0" rtlCol="0" anchor="ctr"/>
          <a:lstStyle/>
          <a:p>
            <a:pPr indent="0" marL="0">
              <a:buNone/>
            </a:pPr>
            <a:r>
              <a:rPr lang="en-US" sz="1250" b="1" dirty="0">
                <a:solidFill>
                  <a:srgbClr val="A6432F"/>
                </a:solidFill>
                <a:latin typeface="Calibri" pitchFamily="34" charset="0"/>
                <a:ea typeface="Calibri" pitchFamily="34" charset="-122"/>
                <a:cs typeface="Calibri" pitchFamily="34" charset="-120"/>
              </a:rPr>
              <a:t>Hard ceiling reached</a:t>
            </a:r>
            <a:endParaRPr lang="en-US" sz="1250" dirty="0"/>
          </a:p>
        </p:txBody>
      </p:sp>
      <p:sp>
        <p:nvSpPr>
          <p:cNvPr id="24" name="Text 19"/>
          <p:cNvSpPr/>
          <p:nvPr/>
        </p:nvSpPr>
        <p:spPr>
          <a:xfrm>
            <a:off x="8412480"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New spend needs explicit approval, or the quota is capped.</a:t>
            </a:r>
            <a:endParaRPr lang="en-US" sz="1250" dirty="0"/>
          </a:p>
        </p:txBody>
      </p:sp>
      <p:sp>
        <p:nvSpPr>
          <p:cNvPr id="25" name="Shape 20"/>
          <p:cNvSpPr/>
          <p:nvPr/>
        </p:nvSpPr>
        <p:spPr>
          <a:xfrm>
            <a:off x="548640" y="4526280"/>
            <a:ext cx="11091672" cy="1783080"/>
          </a:xfrm>
          <a:prstGeom prst="roundRect">
            <a:avLst>
              <a:gd name="adj" fmla="val 4615"/>
            </a:avLst>
          </a:prstGeom>
          <a:solidFill>
            <a:srgbClr val="1F2936"/>
          </a:solidFill>
          <a:ln/>
          <a:effectLst>
            <a:outerShdw sx="100000" sy="100000" kx="0" ky="0" algn="bl" rotWithShape="0" blurRad="127000" dist="25400" dir="5400000">
              <a:srgbClr val="8C99A8">
                <a:alpha val="16000"/>
              </a:srgbClr>
            </a:outerShdw>
          </a:effectLst>
        </p:spPr>
      </p:sp>
      <p:sp>
        <p:nvSpPr>
          <p:cNvPr id="26" name="Text 21"/>
          <p:cNvSpPr/>
          <p:nvPr/>
        </p:nvSpPr>
        <p:spPr>
          <a:xfrm>
            <a:off x="877824" y="4681728"/>
            <a:ext cx="548640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Make it proportional, not flat</a:t>
            </a:r>
            <a:endParaRPr lang="en-US" sz="1200" dirty="0"/>
          </a:p>
        </p:txBody>
      </p:sp>
      <p:sp>
        <p:nvSpPr>
          <p:cNvPr id="27" name="Text 22"/>
          <p:cNvSpPr/>
          <p:nvPr/>
        </p:nvSpPr>
        <p:spPr>
          <a:xfrm>
            <a:off x="877824" y="5029200"/>
            <a:ext cx="10424160" cy="1097280"/>
          </a:xfrm>
          <a:prstGeom prst="rect">
            <a:avLst/>
          </a:prstGeom>
          <a:noFill/>
          <a:ln/>
        </p:spPr>
        <p:txBody>
          <a:bodyPr wrap="square" lIns="0" tIns="0" rIns="0" bIns="0" rtlCol="0" anchor="t"/>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Day 10 of a 30-day month should be near a third of budget. At 60%, that is the alert. </a:t>
            </a:r>
            <a:pPr indent="0" marL="0">
              <a:lnSpc>
                <a:spcPts val="2100"/>
              </a:lnSpc>
              <a:buNone/>
            </a:pPr>
            <a:r>
              <a:rPr lang="en-US" sz="1400" dirty="0">
                <a:solidFill>
                  <a:srgbClr val="9EABBA"/>
                </a:solidFill>
                <a:latin typeface="Calibri" pitchFamily="34" charset="0"/>
                <a:ea typeface="Calibri" pitchFamily="34" charset="-122"/>
                <a:cs typeface="Calibri" pitchFamily="34" charset="-120"/>
              </a:rPr>
              <a:t>A flat “80% of budget” threshold fires on day 24 of a healthy month and day 8 of a catastrophic one — with equal urgency, and therefore equal indifference.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3 — RATE LIMITS &amp; QUOTAS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only control fast enough to stop spend</a:t>
            </a:r>
            <a:endParaRPr lang="en-US" sz="3100" dirty="0"/>
          </a:p>
        </p:txBody>
      </p:sp>
      <p:sp>
        <p:nvSpPr>
          <p:cNvPr id="4" name="Shape 2"/>
          <p:cNvSpPr/>
          <p:nvPr/>
        </p:nvSpPr>
        <p:spPr>
          <a:xfrm>
            <a:off x="548640" y="1737360"/>
            <a:ext cx="5074920" cy="2395728"/>
          </a:xfrm>
          <a:prstGeom prst="roundRect">
            <a:avLst>
              <a:gd name="adj" fmla="val 3435"/>
            </a:avLst>
          </a:prstGeom>
          <a:solidFill>
            <a:srgbClr val="F1F3F6"/>
          </a:solidFill>
          <a:ln/>
        </p:spPr>
      </p:sp>
      <p:sp>
        <p:nvSpPr>
          <p:cNvPr id="5" name="Text 3"/>
          <p:cNvSpPr/>
          <p:nvPr/>
        </p:nvSpPr>
        <p:spPr>
          <a:xfrm>
            <a:off x="859536" y="1883664"/>
            <a:ext cx="4389120" cy="310896"/>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How fast each signal moves</a:t>
            </a:r>
            <a:endParaRPr lang="en-US" sz="1200" dirty="0"/>
          </a:p>
        </p:txBody>
      </p:sp>
      <p:sp>
        <p:nvSpPr>
          <p:cNvPr id="6" name="Text 4"/>
          <p:cNvSpPr/>
          <p:nvPr/>
        </p:nvSpPr>
        <p:spPr>
          <a:xfrm>
            <a:off x="859536" y="2304288"/>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Billing data</a:t>
            </a:r>
            <a:endParaRPr lang="en-US" sz="1250" dirty="0"/>
          </a:p>
        </p:txBody>
      </p:sp>
      <p:sp>
        <p:nvSpPr>
          <p:cNvPr id="7" name="Shape 5"/>
          <p:cNvSpPr/>
          <p:nvPr/>
        </p:nvSpPr>
        <p:spPr>
          <a:xfrm>
            <a:off x="2761488" y="2395728"/>
            <a:ext cx="2651760" cy="146304"/>
          </a:xfrm>
          <a:prstGeom prst="roundRect">
            <a:avLst>
              <a:gd name="adj" fmla="val 50000"/>
            </a:avLst>
          </a:prstGeom>
          <a:solidFill>
            <a:srgbClr val="C3CBD5"/>
          </a:solidFill>
          <a:ln/>
        </p:spPr>
      </p:sp>
      <p:sp>
        <p:nvSpPr>
          <p:cNvPr id="8" name="Text 6"/>
          <p:cNvSpPr/>
          <p:nvPr/>
        </p:nvSpPr>
        <p:spPr>
          <a:xfrm>
            <a:off x="859536" y="2578608"/>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24–48h behind</a:t>
            </a:r>
            <a:endParaRPr lang="en-US" sz="1150" dirty="0"/>
          </a:p>
        </p:txBody>
      </p:sp>
      <p:sp>
        <p:nvSpPr>
          <p:cNvPr id="9" name="Text 7"/>
          <p:cNvSpPr/>
          <p:nvPr/>
        </p:nvSpPr>
        <p:spPr>
          <a:xfrm>
            <a:off x="859536" y="2907792"/>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Utilization metrics</a:t>
            </a:r>
            <a:endParaRPr lang="en-US" sz="1250" dirty="0"/>
          </a:p>
        </p:txBody>
      </p:sp>
      <p:sp>
        <p:nvSpPr>
          <p:cNvPr id="10" name="Shape 8"/>
          <p:cNvSpPr/>
          <p:nvPr/>
        </p:nvSpPr>
        <p:spPr>
          <a:xfrm>
            <a:off x="2761488" y="2999232"/>
            <a:ext cx="749808" cy="146304"/>
          </a:xfrm>
          <a:prstGeom prst="roundRect">
            <a:avLst>
              <a:gd name="adj" fmla="val 50000"/>
            </a:avLst>
          </a:prstGeom>
          <a:solidFill>
            <a:srgbClr val="E39B2C"/>
          </a:solidFill>
          <a:ln/>
        </p:spPr>
      </p:sp>
      <p:sp>
        <p:nvSpPr>
          <p:cNvPr id="11" name="Text 9"/>
          <p:cNvSpPr/>
          <p:nvPr/>
        </p:nvSpPr>
        <p:spPr>
          <a:xfrm>
            <a:off x="859536" y="3182112"/>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~5 minutes</a:t>
            </a:r>
            <a:endParaRPr lang="en-US" sz="1150" dirty="0"/>
          </a:p>
        </p:txBody>
      </p:sp>
      <p:sp>
        <p:nvSpPr>
          <p:cNvPr id="12" name="Text 10"/>
          <p:cNvSpPr/>
          <p:nvPr/>
        </p:nvSpPr>
        <p:spPr>
          <a:xfrm>
            <a:off x="859536" y="3511296"/>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Application telemetry</a:t>
            </a:r>
            <a:endParaRPr lang="en-US" sz="1250" dirty="0"/>
          </a:p>
        </p:txBody>
      </p:sp>
      <p:sp>
        <p:nvSpPr>
          <p:cNvPr id="13" name="Shape 11"/>
          <p:cNvSpPr/>
          <p:nvPr/>
        </p:nvSpPr>
        <p:spPr>
          <a:xfrm>
            <a:off x="2761488" y="3602736"/>
            <a:ext cx="274320" cy="146304"/>
          </a:xfrm>
          <a:prstGeom prst="roundRect">
            <a:avLst>
              <a:gd name="adj" fmla="val 50000"/>
            </a:avLst>
          </a:prstGeom>
          <a:solidFill>
            <a:srgbClr val="2E8B7A"/>
          </a:solidFill>
          <a:ln/>
        </p:spPr>
      </p:sp>
      <p:sp>
        <p:nvSpPr>
          <p:cNvPr id="14" name="Text 12"/>
          <p:cNvSpPr/>
          <p:nvPr/>
        </p:nvSpPr>
        <p:spPr>
          <a:xfrm>
            <a:off x="859536" y="3785616"/>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seconds</a:t>
            </a:r>
            <a:endParaRPr lang="en-US" sz="1150" dirty="0"/>
          </a:p>
        </p:txBody>
      </p:sp>
      <p:sp>
        <p:nvSpPr>
          <p:cNvPr id="15" name="Shape 13"/>
          <p:cNvSpPr/>
          <p:nvPr/>
        </p:nvSpPr>
        <p:spPr>
          <a:xfrm>
            <a:off x="5971032" y="1737360"/>
            <a:ext cx="5669280" cy="2395728"/>
          </a:xfrm>
          <a:prstGeom prst="roundRect">
            <a:avLst>
              <a:gd name="adj" fmla="val 3435"/>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263640" y="1847088"/>
            <a:ext cx="5084064" cy="2176272"/>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cost alert cannot save you from a runaway job. By the time actual cost moves, you have already spent the money.”</a:t>
            </a:r>
            <a:endParaRPr lang="en-US" sz="1500" dirty="0"/>
          </a:p>
        </p:txBody>
      </p:sp>
      <p:sp>
        <p:nvSpPr>
          <p:cNvPr id="17" name="Shape 15"/>
          <p:cNvSpPr/>
          <p:nvPr/>
        </p:nvSpPr>
        <p:spPr>
          <a:xfrm>
            <a:off x="548640" y="4617720"/>
            <a:ext cx="457200" cy="457200"/>
          </a:xfrm>
          <a:prstGeom prst="ellipse">
            <a:avLst/>
          </a:prstGeom>
          <a:solidFill>
            <a:srgbClr val="FBEFD8"/>
          </a:solidFill>
          <a:ln/>
        </p:spPr>
      </p:sp>
      <p:pic>
        <p:nvPicPr>
          <p:cNvPr id="18" name="Image 0" descr="preencoded.png">    </p:cNvPr>
          <p:cNvPicPr>
            <a:picLocks noChangeAspect="1"/>
          </p:cNvPicPr>
          <p:nvPr/>
        </p:nvPicPr>
        <p:blipFill>
          <a:blip r:embed="rId1"/>
          <a:stretch>
            <a:fillRect/>
          </a:stretch>
        </p:blipFill>
        <p:spPr>
          <a:xfrm>
            <a:off x="662940" y="4732020"/>
            <a:ext cx="228600" cy="228600"/>
          </a:xfrm>
          <a:prstGeom prst="rect">
            <a:avLst/>
          </a:prstGeom>
        </p:spPr>
      </p:pic>
      <p:sp>
        <p:nvSpPr>
          <p:cNvPr id="19" name="Text 16"/>
          <p:cNvSpPr/>
          <p:nvPr/>
        </p:nvSpPr>
        <p:spPr>
          <a:xfrm>
            <a:off x="1261872"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Per-deployment quotas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Cap tokens or requests per minute on each deployment.</a:t>
            </a:r>
            <a:endParaRPr lang="en-US" sz="1400" dirty="0"/>
          </a:p>
        </p:txBody>
      </p:sp>
      <p:sp>
        <p:nvSpPr>
          <p:cNvPr id="20" name="Shape 17"/>
          <p:cNvSpPr/>
          <p:nvPr/>
        </p:nvSpPr>
        <p:spPr>
          <a:xfrm>
            <a:off x="6245352" y="4617720"/>
            <a:ext cx="457200" cy="457200"/>
          </a:xfrm>
          <a:prstGeom prst="ellipse">
            <a:avLst/>
          </a:prstGeom>
          <a:solidFill>
            <a:srgbClr val="FBEFD8"/>
          </a:solidFill>
          <a:ln/>
        </p:spPr>
      </p:sp>
      <p:pic>
        <p:nvPicPr>
          <p:cNvPr id="21" name="Image 1" descr="preencoded.png">    </p:cNvPr>
          <p:cNvPicPr>
            <a:picLocks noChangeAspect="1"/>
          </p:cNvPicPr>
          <p:nvPr/>
        </p:nvPicPr>
        <p:blipFill>
          <a:blip r:embed="rId2"/>
          <a:stretch>
            <a:fillRect/>
          </a:stretch>
        </p:blipFill>
        <p:spPr>
          <a:xfrm>
            <a:off x="6359652" y="4732020"/>
            <a:ext cx="228600" cy="228600"/>
          </a:xfrm>
          <a:prstGeom prst="rect">
            <a:avLst/>
          </a:prstGeom>
        </p:spPr>
      </p:pic>
      <p:sp>
        <p:nvSpPr>
          <p:cNvPr id="22" name="Text 18"/>
          <p:cNvSpPr/>
          <p:nvPr/>
        </p:nvSpPr>
        <p:spPr>
          <a:xfrm>
            <a:off x="6958584"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Gateway throttling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Rate-limit per consumer key, so one client cannot drain the shared pool.</a:t>
            </a:r>
            <a:endParaRPr lang="en-US" sz="1400" dirty="0"/>
          </a:p>
        </p:txBody>
      </p:sp>
      <p:sp>
        <p:nvSpPr>
          <p:cNvPr id="23" name="Shape 19"/>
          <p:cNvSpPr/>
          <p:nvPr/>
        </p:nvSpPr>
        <p:spPr>
          <a:xfrm>
            <a:off x="548640" y="5715000"/>
            <a:ext cx="457200" cy="457200"/>
          </a:xfrm>
          <a:prstGeom prst="ellipse">
            <a:avLst/>
          </a:prstGeom>
          <a:solidFill>
            <a:srgbClr val="FBEFD8"/>
          </a:solidFill>
          <a:ln/>
        </p:spPr>
      </p:sp>
      <p:pic>
        <p:nvPicPr>
          <p:cNvPr id="24" name="Image 2" descr="preencoded.png">    </p:cNvPr>
          <p:cNvPicPr>
            <a:picLocks noChangeAspect="1"/>
          </p:cNvPicPr>
          <p:nvPr/>
        </p:nvPicPr>
        <p:blipFill>
          <a:blip r:embed="rId3"/>
          <a:stretch>
            <a:fillRect/>
          </a:stretch>
        </p:blipFill>
        <p:spPr>
          <a:xfrm>
            <a:off x="662940" y="5829300"/>
            <a:ext cx="228600" cy="228600"/>
          </a:xfrm>
          <a:prstGeom prst="rect">
            <a:avLst/>
          </a:prstGeom>
        </p:spPr>
      </p:pic>
      <p:sp>
        <p:nvSpPr>
          <p:cNvPr id="25" name="Text 20"/>
          <p:cNvSpPr/>
          <p:nvPr/>
        </p:nvSpPr>
        <p:spPr>
          <a:xfrm>
            <a:off x="1261872"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Autoscale ceilings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 maximum instance count on every scale set. Scaling is not a budget.</a:t>
            </a:r>
            <a:endParaRPr lang="en-US" sz="1400" dirty="0"/>
          </a:p>
        </p:txBody>
      </p:sp>
      <p:sp>
        <p:nvSpPr>
          <p:cNvPr id="26" name="Shape 21"/>
          <p:cNvSpPr/>
          <p:nvPr/>
        </p:nvSpPr>
        <p:spPr>
          <a:xfrm>
            <a:off x="6245352" y="5715000"/>
            <a:ext cx="457200" cy="457200"/>
          </a:xfrm>
          <a:prstGeom prst="ellipse">
            <a:avLst/>
          </a:prstGeom>
          <a:solidFill>
            <a:srgbClr val="FBEFD8"/>
          </a:solidFill>
          <a:ln/>
        </p:spPr>
      </p:sp>
      <p:pic>
        <p:nvPicPr>
          <p:cNvPr id="27" name="Image 3" descr="preencoded.png">    </p:cNvPr>
          <p:cNvPicPr>
            <a:picLocks noChangeAspect="1"/>
          </p:cNvPicPr>
          <p:nvPr/>
        </p:nvPicPr>
        <p:blipFill>
          <a:blip r:embed="rId4"/>
          <a:stretch>
            <a:fillRect/>
          </a:stretch>
        </p:blipFill>
        <p:spPr>
          <a:xfrm>
            <a:off x="6359652" y="5829300"/>
            <a:ext cx="228600" cy="228600"/>
          </a:xfrm>
          <a:prstGeom prst="rect">
            <a:avLst/>
          </a:prstGeom>
        </p:spPr>
      </p:pic>
      <p:sp>
        <p:nvSpPr>
          <p:cNvPr id="28" name="Text 22"/>
          <p:cNvSpPr/>
          <p:nvPr/>
        </p:nvSpPr>
        <p:spPr>
          <a:xfrm>
            <a:off x="6958584"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Non-prod shutdown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Scheduled stop outside working hours — the cheapest saving available.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4 — AUTOMATED ALERTS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Three tiers, three destinations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Sort alerts by what they can actually prevent — then route them accordingly.</a:t>
            </a:r>
            <a:endParaRPr lang="en-US" sz="1500" dirty="0"/>
          </a:p>
        </p:txBody>
      </p:sp>
      <p:sp>
        <p:nvSpPr>
          <p:cNvPr id="5" name="Text 3"/>
          <p:cNvSpPr/>
          <p:nvPr/>
        </p:nvSpPr>
        <p:spPr>
          <a:xfrm>
            <a:off x="859536" y="2103120"/>
            <a:ext cx="21945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Tier</a:t>
            </a:r>
            <a:endParaRPr lang="en-US" sz="1100" dirty="0"/>
          </a:p>
        </p:txBody>
      </p:sp>
      <p:sp>
        <p:nvSpPr>
          <p:cNvPr id="6" name="Text 4"/>
          <p:cNvSpPr/>
          <p:nvPr/>
        </p:nvSpPr>
        <p:spPr>
          <a:xfrm>
            <a:off x="3200400" y="2103120"/>
            <a:ext cx="292608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Built on</a:t>
            </a:r>
            <a:endParaRPr lang="en-US" sz="1100" dirty="0"/>
          </a:p>
        </p:txBody>
      </p:sp>
      <p:sp>
        <p:nvSpPr>
          <p:cNvPr id="7" name="Text 5"/>
          <p:cNvSpPr/>
          <p:nvPr/>
        </p:nvSpPr>
        <p:spPr>
          <a:xfrm>
            <a:off x="6309360" y="2103120"/>
            <a:ext cx="17373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Latency</a:t>
            </a:r>
            <a:endParaRPr lang="en-US" sz="1100" dirty="0"/>
          </a:p>
        </p:txBody>
      </p:sp>
      <p:sp>
        <p:nvSpPr>
          <p:cNvPr id="8" name="Text 6"/>
          <p:cNvSpPr/>
          <p:nvPr/>
        </p:nvSpPr>
        <p:spPr>
          <a:xfrm>
            <a:off x="8229600" y="2103120"/>
            <a:ext cx="301752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Routes to</a:t>
            </a:r>
            <a:endParaRPr lang="en-US" sz="1100" dirty="0"/>
          </a:p>
        </p:txBody>
      </p:sp>
      <p:sp>
        <p:nvSpPr>
          <p:cNvPr id="9" name="Shape 7"/>
          <p:cNvSpPr/>
          <p:nvPr/>
        </p:nvSpPr>
        <p:spPr>
          <a:xfrm>
            <a:off x="548640" y="2487168"/>
            <a:ext cx="11091672" cy="841248"/>
          </a:xfrm>
          <a:prstGeom prst="roundRect">
            <a:avLst>
              <a:gd name="adj" fmla="val 9783"/>
            </a:avLst>
          </a:prstGeom>
          <a:solidFill>
            <a:srgbClr val="1F2936"/>
          </a:solidFill>
          <a:ln/>
        </p:spPr>
      </p:sp>
      <p:sp>
        <p:nvSpPr>
          <p:cNvPr id="10" name="Text 8"/>
          <p:cNvSpPr/>
          <p:nvPr/>
        </p:nvSpPr>
        <p:spPr>
          <a:xfrm>
            <a:off x="859536" y="2487168"/>
            <a:ext cx="2194560" cy="8412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Protective</a:t>
            </a:r>
            <a:endParaRPr lang="en-US" sz="1800" dirty="0"/>
          </a:p>
        </p:txBody>
      </p:sp>
      <p:sp>
        <p:nvSpPr>
          <p:cNvPr id="11" name="Text 9"/>
          <p:cNvSpPr/>
          <p:nvPr/>
        </p:nvSpPr>
        <p:spPr>
          <a:xfrm>
            <a:off x="3200400" y="2487168"/>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Tokens, utilization, error rates</a:t>
            </a:r>
            <a:endParaRPr lang="en-US" sz="1300" dirty="0"/>
          </a:p>
        </p:txBody>
      </p:sp>
      <p:sp>
        <p:nvSpPr>
          <p:cNvPr id="12" name="Text 10"/>
          <p:cNvSpPr/>
          <p:nvPr/>
        </p:nvSpPr>
        <p:spPr>
          <a:xfrm>
            <a:off x="6309360" y="2487168"/>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minutes</a:t>
            </a:r>
            <a:endParaRPr lang="en-US" sz="1300" dirty="0"/>
          </a:p>
        </p:txBody>
      </p:sp>
      <p:sp>
        <p:nvSpPr>
          <p:cNvPr id="13" name="Text 11"/>
          <p:cNvSpPr/>
          <p:nvPr/>
        </p:nvSpPr>
        <p:spPr>
          <a:xfrm>
            <a:off x="8229600" y="2487168"/>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On-call — page it</a:t>
            </a:r>
            <a:endParaRPr lang="en-US" sz="1300" dirty="0"/>
          </a:p>
        </p:txBody>
      </p:sp>
      <p:sp>
        <p:nvSpPr>
          <p:cNvPr id="14" name="Shape 12"/>
          <p:cNvSpPr/>
          <p:nvPr/>
        </p:nvSpPr>
        <p:spPr>
          <a:xfrm>
            <a:off x="548640" y="3419856"/>
            <a:ext cx="11091672" cy="841248"/>
          </a:xfrm>
          <a:prstGeom prst="roundRect">
            <a:avLst>
              <a:gd name="adj" fmla="val 9783"/>
            </a:avLst>
          </a:prstGeom>
          <a:solidFill>
            <a:srgbClr val="1F2936"/>
          </a:solidFill>
          <a:ln/>
        </p:spPr>
      </p:sp>
      <p:sp>
        <p:nvSpPr>
          <p:cNvPr id="15" name="Text 13"/>
          <p:cNvSpPr/>
          <p:nvPr/>
        </p:nvSpPr>
        <p:spPr>
          <a:xfrm>
            <a:off x="859536" y="3419856"/>
            <a:ext cx="2194560" cy="841248"/>
          </a:xfrm>
          <a:prstGeom prst="rect">
            <a:avLst/>
          </a:prstGeom>
          <a:noFill/>
          <a:ln/>
        </p:spPr>
        <p:txBody>
          <a:bodyPr wrap="square" lIns="0" tIns="0" rIns="0" bIns="0" rtlCol="0" anchor="ctr"/>
          <a:lstStyle/>
          <a:p>
            <a:pPr indent="0" marL="0">
              <a:buNone/>
            </a:pPr>
            <a:r>
              <a:rPr lang="en-US" sz="1800" b="1" dirty="0">
                <a:solidFill>
                  <a:srgbClr val="2E8B7A"/>
                </a:solidFill>
                <a:latin typeface="Cambria" pitchFamily="34" charset="0"/>
                <a:ea typeface="Cambria" pitchFamily="34" charset="-122"/>
                <a:cs typeface="Cambria" pitchFamily="34" charset="-120"/>
              </a:rPr>
              <a:t>Budget</a:t>
            </a:r>
            <a:endParaRPr lang="en-US" sz="1800" dirty="0"/>
          </a:p>
        </p:txBody>
      </p:sp>
      <p:sp>
        <p:nvSpPr>
          <p:cNvPr id="16" name="Text 14"/>
          <p:cNvSpPr/>
          <p:nvPr/>
        </p:nvSpPr>
        <p:spPr>
          <a:xfrm>
            <a:off x="3200400" y="3419856"/>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data</a:t>
            </a:r>
            <a:endParaRPr lang="en-US" sz="1300" dirty="0"/>
          </a:p>
        </p:txBody>
      </p:sp>
      <p:sp>
        <p:nvSpPr>
          <p:cNvPr id="17" name="Text 15"/>
          <p:cNvSpPr/>
          <p:nvPr/>
        </p:nvSpPr>
        <p:spPr>
          <a:xfrm>
            <a:off x="6309360" y="3419856"/>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24–48 hours</a:t>
            </a:r>
            <a:endParaRPr lang="en-US" sz="1300" dirty="0"/>
          </a:p>
        </p:txBody>
      </p:sp>
      <p:sp>
        <p:nvSpPr>
          <p:cNvPr id="18" name="Text 16"/>
          <p:cNvSpPr/>
          <p:nvPr/>
        </p:nvSpPr>
        <p:spPr>
          <a:xfrm>
            <a:off x="8229600" y="3419856"/>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Team channel, weekly digest</a:t>
            </a:r>
            <a:endParaRPr lang="en-US" sz="1300" dirty="0"/>
          </a:p>
        </p:txBody>
      </p:sp>
      <p:sp>
        <p:nvSpPr>
          <p:cNvPr id="19" name="Shape 17"/>
          <p:cNvSpPr/>
          <p:nvPr/>
        </p:nvSpPr>
        <p:spPr>
          <a:xfrm>
            <a:off x="548640" y="4352544"/>
            <a:ext cx="11091672" cy="841248"/>
          </a:xfrm>
          <a:prstGeom prst="roundRect">
            <a:avLst>
              <a:gd name="adj" fmla="val 9783"/>
            </a:avLst>
          </a:prstGeom>
          <a:solidFill>
            <a:srgbClr val="1F2936"/>
          </a:solidFill>
          <a:ln/>
        </p:spPr>
      </p:sp>
      <p:sp>
        <p:nvSpPr>
          <p:cNvPr id="20" name="Text 18"/>
          <p:cNvSpPr/>
          <p:nvPr/>
        </p:nvSpPr>
        <p:spPr>
          <a:xfrm>
            <a:off x="859536" y="4352544"/>
            <a:ext cx="2194560" cy="841248"/>
          </a:xfrm>
          <a:prstGeom prst="rect">
            <a:avLst/>
          </a:prstGeom>
          <a:noFill/>
          <a:ln/>
        </p:spPr>
        <p:txBody>
          <a:bodyPr wrap="square" lIns="0" tIns="0" rIns="0" bIns="0" rtlCol="0" anchor="ctr"/>
          <a:lstStyle/>
          <a:p>
            <a:pPr indent="0" marL="0">
              <a:buNone/>
            </a:pPr>
            <a:r>
              <a:rPr lang="en-US" sz="1800" b="1" dirty="0">
                <a:solidFill>
                  <a:srgbClr val="8C9AAC"/>
                </a:solidFill>
                <a:latin typeface="Cambria" pitchFamily="34" charset="0"/>
                <a:ea typeface="Cambria" pitchFamily="34" charset="-122"/>
                <a:cs typeface="Cambria" pitchFamily="34" charset="-120"/>
              </a:rPr>
              <a:t>Advisory</a:t>
            </a:r>
            <a:endParaRPr lang="en-US" sz="1800" dirty="0"/>
          </a:p>
        </p:txBody>
      </p:sp>
      <p:sp>
        <p:nvSpPr>
          <p:cNvPr id="21" name="Text 19"/>
          <p:cNvSpPr/>
          <p:nvPr/>
        </p:nvSpPr>
        <p:spPr>
          <a:xfrm>
            <a:off x="3200400" y="4352544"/>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plus forecast</a:t>
            </a:r>
            <a:endParaRPr lang="en-US" sz="1300" dirty="0"/>
          </a:p>
        </p:txBody>
      </p:sp>
      <p:sp>
        <p:nvSpPr>
          <p:cNvPr id="22" name="Text 20"/>
          <p:cNvSpPr/>
          <p:nvPr/>
        </p:nvSpPr>
        <p:spPr>
          <a:xfrm>
            <a:off x="6309360" y="4352544"/>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daily</a:t>
            </a:r>
            <a:endParaRPr lang="en-US" sz="1300" dirty="0"/>
          </a:p>
        </p:txBody>
      </p:sp>
      <p:sp>
        <p:nvSpPr>
          <p:cNvPr id="23" name="Text 21"/>
          <p:cNvSpPr/>
          <p:nvPr/>
        </p:nvSpPr>
        <p:spPr>
          <a:xfrm>
            <a:off x="8229600" y="4352544"/>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ticket. Never a page.</a:t>
            </a:r>
            <a:endParaRPr lang="en-US" sz="1300" dirty="0"/>
          </a:p>
        </p:txBody>
      </p:sp>
      <p:sp>
        <p:nvSpPr>
          <p:cNvPr id="24" name="Shape 22"/>
          <p:cNvSpPr/>
          <p:nvPr/>
        </p:nvSpPr>
        <p:spPr>
          <a:xfrm>
            <a:off x="548640" y="5394960"/>
            <a:ext cx="3511296" cy="1051560"/>
          </a:xfrm>
          <a:prstGeom prst="roundRect">
            <a:avLst>
              <a:gd name="adj" fmla="val 7826"/>
            </a:avLst>
          </a:prstGeom>
          <a:solidFill>
            <a:srgbClr val="1A222C"/>
          </a:solidFill>
          <a:ln/>
        </p:spPr>
      </p:sp>
      <p:sp>
        <p:nvSpPr>
          <p:cNvPr id="25" name="Shape 23"/>
          <p:cNvSpPr/>
          <p:nvPr/>
        </p:nvSpPr>
        <p:spPr>
          <a:xfrm>
            <a:off x="804672" y="5614416"/>
            <a:ext cx="420624" cy="420624"/>
          </a:xfrm>
          <a:prstGeom prst="ellipse">
            <a:avLst/>
          </a:prstGeom>
          <a:solidFill>
            <a:srgbClr val="2E3A48"/>
          </a:solidFill>
          <a:ln/>
        </p:spPr>
      </p:sp>
      <p:pic>
        <p:nvPicPr>
          <p:cNvPr id="26" name="Image 0" descr="preencoded.png">    </p:cNvPr>
          <p:cNvPicPr>
            <a:picLocks noChangeAspect="1"/>
          </p:cNvPicPr>
          <p:nvPr/>
        </p:nvPicPr>
        <p:blipFill>
          <a:blip r:embed="rId1"/>
          <a:stretch>
            <a:fillRect/>
          </a:stretch>
        </p:blipFill>
        <p:spPr>
          <a:xfrm>
            <a:off x="909828" y="5719572"/>
            <a:ext cx="210312" cy="210312"/>
          </a:xfrm>
          <a:prstGeom prst="rect">
            <a:avLst/>
          </a:prstGeom>
        </p:spPr>
      </p:pic>
      <p:sp>
        <p:nvSpPr>
          <p:cNvPr id="27" name="Text 24"/>
          <p:cNvSpPr/>
          <p:nvPr/>
        </p:nvSpPr>
        <p:spPr>
          <a:xfrm>
            <a:off x="1335024"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Never page on a budget threshold</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You are waking someone about a fact they cannot change.</a:t>
            </a:r>
            <a:endParaRPr lang="en-US" sz="1250" dirty="0"/>
          </a:p>
        </p:txBody>
      </p:sp>
      <p:sp>
        <p:nvSpPr>
          <p:cNvPr id="28" name="Shape 25"/>
          <p:cNvSpPr/>
          <p:nvPr/>
        </p:nvSpPr>
        <p:spPr>
          <a:xfrm>
            <a:off x="4334256" y="5394960"/>
            <a:ext cx="3511296" cy="1051560"/>
          </a:xfrm>
          <a:prstGeom prst="roundRect">
            <a:avLst>
              <a:gd name="adj" fmla="val 7826"/>
            </a:avLst>
          </a:prstGeom>
          <a:solidFill>
            <a:srgbClr val="1A222C"/>
          </a:solidFill>
          <a:ln/>
        </p:spPr>
      </p:sp>
      <p:sp>
        <p:nvSpPr>
          <p:cNvPr id="29" name="Shape 26"/>
          <p:cNvSpPr/>
          <p:nvPr/>
        </p:nvSpPr>
        <p:spPr>
          <a:xfrm>
            <a:off x="4590288" y="5614416"/>
            <a:ext cx="420624" cy="420624"/>
          </a:xfrm>
          <a:prstGeom prst="ellipse">
            <a:avLst/>
          </a:prstGeom>
          <a:solidFill>
            <a:srgbClr val="2E3A48"/>
          </a:solidFill>
          <a:ln/>
        </p:spPr>
      </p:sp>
      <p:pic>
        <p:nvPicPr>
          <p:cNvPr id="30" name="Image 1" descr="preencoded.png">    </p:cNvPr>
          <p:cNvPicPr>
            <a:picLocks noChangeAspect="1"/>
          </p:cNvPicPr>
          <p:nvPr/>
        </p:nvPicPr>
        <p:blipFill>
          <a:blip r:embed="rId2"/>
          <a:stretch>
            <a:fillRect/>
          </a:stretch>
        </p:blipFill>
        <p:spPr>
          <a:xfrm>
            <a:off x="4695444" y="5719572"/>
            <a:ext cx="210312" cy="210312"/>
          </a:xfrm>
          <a:prstGeom prst="rect">
            <a:avLst/>
          </a:prstGeom>
        </p:spPr>
      </p:pic>
      <p:sp>
        <p:nvSpPr>
          <p:cNvPr id="31" name="Text 27"/>
          <p:cNvSpPr/>
          <p:nvPr/>
        </p:nvSpPr>
        <p:spPr>
          <a:xfrm>
            <a:off x="5120640"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 muted alert is worse than none</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It leaves the false confidence that something is watching.</a:t>
            </a:r>
            <a:endParaRPr lang="en-US" sz="1250" dirty="0"/>
          </a:p>
        </p:txBody>
      </p:sp>
      <p:sp>
        <p:nvSpPr>
          <p:cNvPr id="32" name="Shape 28"/>
          <p:cNvSpPr/>
          <p:nvPr/>
        </p:nvSpPr>
        <p:spPr>
          <a:xfrm>
            <a:off x="8119872" y="5394960"/>
            <a:ext cx="3511296" cy="1051560"/>
          </a:xfrm>
          <a:prstGeom prst="roundRect">
            <a:avLst>
              <a:gd name="adj" fmla="val 7826"/>
            </a:avLst>
          </a:prstGeom>
          <a:solidFill>
            <a:srgbClr val="1A222C"/>
          </a:solidFill>
          <a:ln/>
        </p:spPr>
      </p:sp>
      <p:sp>
        <p:nvSpPr>
          <p:cNvPr id="33" name="Shape 29"/>
          <p:cNvSpPr/>
          <p:nvPr/>
        </p:nvSpPr>
        <p:spPr>
          <a:xfrm>
            <a:off x="8375904" y="5614416"/>
            <a:ext cx="420624" cy="420624"/>
          </a:xfrm>
          <a:prstGeom prst="ellipse">
            <a:avLst/>
          </a:prstGeom>
          <a:solidFill>
            <a:srgbClr val="2E3A48"/>
          </a:solidFill>
          <a:ln/>
        </p:spPr>
      </p:sp>
      <p:pic>
        <p:nvPicPr>
          <p:cNvPr id="34" name="Image 2" descr="preencoded.png">    </p:cNvPr>
          <p:cNvPicPr>
            <a:picLocks noChangeAspect="1"/>
          </p:cNvPicPr>
          <p:nvPr/>
        </p:nvPicPr>
        <p:blipFill>
          <a:blip r:embed="rId3"/>
          <a:stretch>
            <a:fillRect/>
          </a:stretch>
        </p:blipFill>
        <p:spPr>
          <a:xfrm>
            <a:off x="8481060" y="5719572"/>
            <a:ext cx="210312" cy="210312"/>
          </a:xfrm>
          <a:prstGeom prst="rect">
            <a:avLst/>
          </a:prstGeom>
        </p:spPr>
      </p:pic>
      <p:sp>
        <p:nvSpPr>
          <p:cNvPr id="35" name="Text 30"/>
          <p:cNvSpPr/>
          <p:nvPr/>
        </p:nvSpPr>
        <p:spPr>
          <a:xfrm>
            <a:off x="8906256"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Alert on silence too</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A stopped data feed reads exactly like a healthy month.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5 — SHARED RESPONSIBILITY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Who decides, who builds, who pays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fails when it is one team's job. These are the four parties and what each one owns.</a:t>
            </a:r>
            <a:endParaRPr lang="en-US" sz="1500" dirty="0"/>
          </a:p>
        </p:txBody>
      </p:sp>
      <p:sp>
        <p:nvSpPr>
          <p:cNvPr id="5" name="Text 3"/>
          <p:cNvSpPr/>
          <p:nvPr/>
        </p:nvSpPr>
        <p:spPr>
          <a:xfrm>
            <a:off x="4343400"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Finance</a:t>
            </a:r>
            <a:endParaRPr lang="en-US" sz="1200" dirty="0"/>
          </a:p>
        </p:txBody>
      </p:sp>
      <p:sp>
        <p:nvSpPr>
          <p:cNvPr id="6" name="Text 4"/>
          <p:cNvSpPr/>
          <p:nvPr/>
        </p:nvSpPr>
        <p:spPr>
          <a:xfrm>
            <a:off x="6245352"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FinOps / Platform</a:t>
            </a:r>
            <a:endParaRPr lang="en-US" sz="1200" dirty="0"/>
          </a:p>
        </p:txBody>
      </p:sp>
      <p:sp>
        <p:nvSpPr>
          <p:cNvPr id="7" name="Text 5"/>
          <p:cNvSpPr/>
          <p:nvPr/>
        </p:nvSpPr>
        <p:spPr>
          <a:xfrm>
            <a:off x="8147304"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Engineering</a:t>
            </a:r>
            <a:endParaRPr lang="en-US" sz="1200" dirty="0"/>
          </a:p>
        </p:txBody>
      </p:sp>
      <p:sp>
        <p:nvSpPr>
          <p:cNvPr id="8" name="Text 6"/>
          <p:cNvSpPr/>
          <p:nvPr/>
        </p:nvSpPr>
        <p:spPr>
          <a:xfrm>
            <a:off x="10049256"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Leadership</a:t>
            </a:r>
            <a:endParaRPr lang="en-US" sz="1200" dirty="0"/>
          </a:p>
        </p:txBody>
      </p:sp>
      <p:sp>
        <p:nvSpPr>
          <p:cNvPr id="9" name="Shape 7"/>
          <p:cNvSpPr/>
          <p:nvPr/>
        </p:nvSpPr>
        <p:spPr>
          <a:xfrm>
            <a:off x="548640" y="2542032"/>
            <a:ext cx="11091672" cy="658368"/>
          </a:xfrm>
          <a:prstGeom prst="roundRect">
            <a:avLst>
              <a:gd name="adj" fmla="val 12500"/>
            </a:avLst>
          </a:prstGeom>
          <a:solidFill>
            <a:srgbClr val="F1F3F6"/>
          </a:solidFill>
          <a:ln/>
        </p:spPr>
      </p:sp>
      <p:sp>
        <p:nvSpPr>
          <p:cNvPr id="10" name="Text 8"/>
          <p:cNvSpPr/>
          <p:nvPr/>
        </p:nvSpPr>
        <p:spPr>
          <a:xfrm>
            <a:off x="859536" y="254203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Budgets &amp; allocation policy</a:t>
            </a:r>
            <a:endParaRPr lang="en-US" sz="1400" dirty="0"/>
          </a:p>
        </p:txBody>
      </p:sp>
      <p:sp>
        <p:nvSpPr>
          <p:cNvPr id="11" name="Shape 9"/>
          <p:cNvSpPr/>
          <p:nvPr/>
        </p:nvSpPr>
        <p:spPr>
          <a:xfrm>
            <a:off x="5079492" y="2715768"/>
            <a:ext cx="310896" cy="310896"/>
          </a:xfrm>
          <a:prstGeom prst="ellipse">
            <a:avLst/>
          </a:prstGeom>
          <a:solidFill>
            <a:srgbClr val="E39B2C"/>
          </a:solidFill>
          <a:ln/>
        </p:spPr>
      </p:sp>
      <p:sp>
        <p:nvSpPr>
          <p:cNvPr id="12" name="Shape 10"/>
          <p:cNvSpPr/>
          <p:nvPr/>
        </p:nvSpPr>
        <p:spPr>
          <a:xfrm>
            <a:off x="10840212" y="2770632"/>
            <a:ext cx="201168" cy="201168"/>
          </a:xfrm>
          <a:prstGeom prst="ellipse">
            <a:avLst/>
          </a:prstGeom>
          <a:solidFill>
            <a:srgbClr val="C3CBD5"/>
          </a:solidFill>
          <a:ln/>
        </p:spPr>
      </p:sp>
      <p:sp>
        <p:nvSpPr>
          <p:cNvPr id="13" name="Shape 11"/>
          <p:cNvSpPr/>
          <p:nvPr/>
        </p:nvSpPr>
        <p:spPr>
          <a:xfrm>
            <a:off x="548640" y="3273552"/>
            <a:ext cx="11091672" cy="658368"/>
          </a:xfrm>
          <a:prstGeom prst="roundRect">
            <a:avLst>
              <a:gd name="adj" fmla="val 12500"/>
            </a:avLst>
          </a:prstGeom>
          <a:solidFill>
            <a:srgbClr val="F1F3F6"/>
          </a:solidFill>
          <a:ln/>
        </p:spPr>
      </p:sp>
      <p:sp>
        <p:nvSpPr>
          <p:cNvPr id="14" name="Text 12"/>
          <p:cNvSpPr/>
          <p:nvPr/>
        </p:nvSpPr>
        <p:spPr>
          <a:xfrm>
            <a:off x="859536" y="327355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Tagging &amp; ownership standard</a:t>
            </a:r>
            <a:endParaRPr lang="en-US" sz="1400" dirty="0"/>
          </a:p>
        </p:txBody>
      </p:sp>
      <p:sp>
        <p:nvSpPr>
          <p:cNvPr id="15" name="Shape 13"/>
          <p:cNvSpPr/>
          <p:nvPr/>
        </p:nvSpPr>
        <p:spPr>
          <a:xfrm>
            <a:off x="5134356" y="3502152"/>
            <a:ext cx="201168" cy="201168"/>
          </a:xfrm>
          <a:prstGeom prst="ellipse">
            <a:avLst/>
          </a:prstGeom>
          <a:solidFill>
            <a:srgbClr val="C3CBD5"/>
          </a:solidFill>
          <a:ln/>
        </p:spPr>
      </p:sp>
      <p:sp>
        <p:nvSpPr>
          <p:cNvPr id="16" name="Shape 14"/>
          <p:cNvSpPr/>
          <p:nvPr/>
        </p:nvSpPr>
        <p:spPr>
          <a:xfrm>
            <a:off x="6981444" y="3447288"/>
            <a:ext cx="310896" cy="310896"/>
          </a:xfrm>
          <a:prstGeom prst="ellipse">
            <a:avLst/>
          </a:prstGeom>
          <a:solidFill>
            <a:srgbClr val="E39B2C"/>
          </a:solidFill>
          <a:ln/>
        </p:spPr>
      </p:sp>
      <p:sp>
        <p:nvSpPr>
          <p:cNvPr id="17" name="Shape 15"/>
          <p:cNvSpPr/>
          <p:nvPr/>
        </p:nvSpPr>
        <p:spPr>
          <a:xfrm>
            <a:off x="548640" y="4005072"/>
            <a:ext cx="11091672" cy="658368"/>
          </a:xfrm>
          <a:prstGeom prst="roundRect">
            <a:avLst>
              <a:gd name="adj" fmla="val 12500"/>
            </a:avLst>
          </a:prstGeom>
          <a:solidFill>
            <a:srgbClr val="F1F3F6"/>
          </a:solidFill>
          <a:ln/>
        </p:spPr>
      </p:sp>
      <p:sp>
        <p:nvSpPr>
          <p:cNvPr id="18" name="Text 16"/>
          <p:cNvSpPr/>
          <p:nvPr/>
        </p:nvSpPr>
        <p:spPr>
          <a:xfrm>
            <a:off x="859536" y="400507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Guardrails, quotas &amp; alerts</a:t>
            </a:r>
            <a:endParaRPr lang="en-US" sz="1400" dirty="0"/>
          </a:p>
        </p:txBody>
      </p:sp>
      <p:sp>
        <p:nvSpPr>
          <p:cNvPr id="19" name="Shape 17"/>
          <p:cNvSpPr/>
          <p:nvPr/>
        </p:nvSpPr>
        <p:spPr>
          <a:xfrm>
            <a:off x="6981444" y="4178808"/>
            <a:ext cx="310896" cy="310896"/>
          </a:xfrm>
          <a:prstGeom prst="ellipse">
            <a:avLst/>
          </a:prstGeom>
          <a:solidFill>
            <a:srgbClr val="E39B2C"/>
          </a:solidFill>
          <a:ln/>
        </p:spPr>
      </p:sp>
      <p:sp>
        <p:nvSpPr>
          <p:cNvPr id="20" name="Shape 18"/>
          <p:cNvSpPr/>
          <p:nvPr/>
        </p:nvSpPr>
        <p:spPr>
          <a:xfrm>
            <a:off x="8938260" y="4233672"/>
            <a:ext cx="201168" cy="201168"/>
          </a:xfrm>
          <a:prstGeom prst="ellipse">
            <a:avLst/>
          </a:prstGeom>
          <a:solidFill>
            <a:srgbClr val="C3CBD5"/>
          </a:solidFill>
          <a:ln/>
        </p:spPr>
      </p:sp>
      <p:sp>
        <p:nvSpPr>
          <p:cNvPr id="21" name="Shape 19"/>
          <p:cNvSpPr/>
          <p:nvPr/>
        </p:nvSpPr>
        <p:spPr>
          <a:xfrm>
            <a:off x="548640" y="4736592"/>
            <a:ext cx="11091672" cy="658368"/>
          </a:xfrm>
          <a:prstGeom prst="roundRect">
            <a:avLst>
              <a:gd name="adj" fmla="val 12500"/>
            </a:avLst>
          </a:prstGeom>
          <a:solidFill>
            <a:srgbClr val="F1F3F6"/>
          </a:solidFill>
          <a:ln/>
        </p:spPr>
      </p:sp>
      <p:sp>
        <p:nvSpPr>
          <p:cNvPr id="22" name="Text 20"/>
          <p:cNvSpPr/>
          <p:nvPr/>
        </p:nvSpPr>
        <p:spPr>
          <a:xfrm>
            <a:off x="859536" y="473659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Responding to an alert</a:t>
            </a:r>
            <a:endParaRPr lang="en-US" sz="1400" dirty="0"/>
          </a:p>
        </p:txBody>
      </p:sp>
      <p:sp>
        <p:nvSpPr>
          <p:cNvPr id="23" name="Shape 21"/>
          <p:cNvSpPr/>
          <p:nvPr/>
        </p:nvSpPr>
        <p:spPr>
          <a:xfrm>
            <a:off x="7036308" y="4965192"/>
            <a:ext cx="201168" cy="201168"/>
          </a:xfrm>
          <a:prstGeom prst="ellipse">
            <a:avLst/>
          </a:prstGeom>
          <a:solidFill>
            <a:srgbClr val="C3CBD5"/>
          </a:solidFill>
          <a:ln/>
        </p:spPr>
      </p:sp>
      <p:sp>
        <p:nvSpPr>
          <p:cNvPr id="24" name="Shape 22"/>
          <p:cNvSpPr/>
          <p:nvPr/>
        </p:nvSpPr>
        <p:spPr>
          <a:xfrm>
            <a:off x="8883396" y="4910328"/>
            <a:ext cx="310896" cy="310896"/>
          </a:xfrm>
          <a:prstGeom prst="ellipse">
            <a:avLst/>
          </a:prstGeom>
          <a:solidFill>
            <a:srgbClr val="E39B2C"/>
          </a:solidFill>
          <a:ln/>
        </p:spPr>
      </p:sp>
      <p:sp>
        <p:nvSpPr>
          <p:cNvPr id="25" name="Shape 23"/>
          <p:cNvSpPr/>
          <p:nvPr/>
        </p:nvSpPr>
        <p:spPr>
          <a:xfrm>
            <a:off x="548640" y="5468112"/>
            <a:ext cx="11091672" cy="658368"/>
          </a:xfrm>
          <a:prstGeom prst="roundRect">
            <a:avLst>
              <a:gd name="adj" fmla="val 12500"/>
            </a:avLst>
          </a:prstGeom>
          <a:solidFill>
            <a:srgbClr val="F1F3F6"/>
          </a:solidFill>
          <a:ln/>
        </p:spPr>
      </p:sp>
      <p:sp>
        <p:nvSpPr>
          <p:cNvPr id="26" name="Text 24"/>
          <p:cNvSpPr/>
          <p:nvPr/>
        </p:nvSpPr>
        <p:spPr>
          <a:xfrm>
            <a:off x="859536" y="546811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Commitment &amp; tooling spend</a:t>
            </a:r>
            <a:endParaRPr lang="en-US" sz="1400" dirty="0"/>
          </a:p>
        </p:txBody>
      </p:sp>
      <p:sp>
        <p:nvSpPr>
          <p:cNvPr id="27" name="Shape 25"/>
          <p:cNvSpPr/>
          <p:nvPr/>
        </p:nvSpPr>
        <p:spPr>
          <a:xfrm>
            <a:off x="5134356" y="5696712"/>
            <a:ext cx="201168" cy="201168"/>
          </a:xfrm>
          <a:prstGeom prst="ellipse">
            <a:avLst/>
          </a:prstGeom>
          <a:solidFill>
            <a:srgbClr val="C3CBD5"/>
          </a:solidFill>
          <a:ln/>
        </p:spPr>
      </p:sp>
      <p:sp>
        <p:nvSpPr>
          <p:cNvPr id="28" name="Shape 26"/>
          <p:cNvSpPr/>
          <p:nvPr/>
        </p:nvSpPr>
        <p:spPr>
          <a:xfrm>
            <a:off x="7036308" y="5696712"/>
            <a:ext cx="201168" cy="201168"/>
          </a:xfrm>
          <a:prstGeom prst="ellipse">
            <a:avLst/>
          </a:prstGeom>
          <a:solidFill>
            <a:srgbClr val="C3CBD5"/>
          </a:solidFill>
          <a:ln/>
        </p:spPr>
      </p:sp>
      <p:sp>
        <p:nvSpPr>
          <p:cNvPr id="29" name="Shape 27"/>
          <p:cNvSpPr/>
          <p:nvPr/>
        </p:nvSpPr>
        <p:spPr>
          <a:xfrm>
            <a:off x="10785348" y="5641848"/>
            <a:ext cx="310896" cy="310896"/>
          </a:xfrm>
          <a:prstGeom prst="ellipse">
            <a:avLst/>
          </a:prstGeom>
          <a:solidFill>
            <a:srgbClr val="E39B2C"/>
          </a:solidFill>
          <a:ln/>
        </p:spPr>
      </p:sp>
      <p:sp>
        <p:nvSpPr>
          <p:cNvPr id="30" name="Shape 28"/>
          <p:cNvSpPr/>
          <p:nvPr/>
        </p:nvSpPr>
        <p:spPr>
          <a:xfrm>
            <a:off x="548640" y="6272784"/>
            <a:ext cx="182880" cy="182880"/>
          </a:xfrm>
          <a:prstGeom prst="ellipse">
            <a:avLst/>
          </a:prstGeom>
          <a:solidFill>
            <a:srgbClr val="E39B2C"/>
          </a:solidFill>
          <a:ln/>
        </p:spPr>
      </p:sp>
      <p:sp>
        <p:nvSpPr>
          <p:cNvPr id="31" name="Text 29"/>
          <p:cNvSpPr/>
          <p:nvPr/>
        </p:nvSpPr>
        <p:spPr>
          <a:xfrm>
            <a:off x="822960" y="6199632"/>
            <a:ext cx="384048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Accountable — the decision stops here</a:t>
            </a:r>
            <a:endParaRPr lang="en-US" sz="1200" dirty="0"/>
          </a:p>
        </p:txBody>
      </p:sp>
      <p:sp>
        <p:nvSpPr>
          <p:cNvPr id="32" name="Shape 30"/>
          <p:cNvSpPr/>
          <p:nvPr/>
        </p:nvSpPr>
        <p:spPr>
          <a:xfrm>
            <a:off x="4754880" y="6309360"/>
            <a:ext cx="128016" cy="128016"/>
          </a:xfrm>
          <a:prstGeom prst="ellipse">
            <a:avLst/>
          </a:prstGeom>
          <a:solidFill>
            <a:srgbClr val="C3CBD5"/>
          </a:solidFill>
          <a:ln/>
        </p:spPr>
      </p:sp>
      <p:sp>
        <p:nvSpPr>
          <p:cNvPr id="33" name="Text 31"/>
          <p:cNvSpPr/>
          <p:nvPr/>
        </p:nvSpPr>
        <p:spPr>
          <a:xfrm>
            <a:off x="4992624" y="6199632"/>
            <a:ext cx="457200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Contributes — does the work, does not decide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Shift left is a seat at the design table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Not a tool. A change in when FinOps shows up — and the earlier it is, the less of the bill is already decided.</a:t>
            </a:r>
            <a:endParaRPr lang="en-US" sz="1500" dirty="0"/>
          </a:p>
        </p:txBody>
      </p:sp>
      <p:sp>
        <p:nvSpPr>
          <p:cNvPr id="5" name="Shape 3"/>
          <p:cNvSpPr/>
          <p:nvPr/>
        </p:nvSpPr>
        <p:spPr>
          <a:xfrm>
            <a:off x="548640" y="2651760"/>
            <a:ext cx="1773936" cy="566928"/>
          </a:xfrm>
          <a:prstGeom prst="roundRect">
            <a:avLst>
              <a:gd name="adj" fmla="val 12903"/>
            </a:avLst>
          </a:prstGeom>
          <a:solidFill>
            <a:srgbClr val="FBEFD8"/>
          </a:solidFill>
          <a:ln/>
        </p:spPr>
      </p:sp>
      <p:sp>
        <p:nvSpPr>
          <p:cNvPr id="6" name="Text 4"/>
          <p:cNvSpPr/>
          <p:nvPr/>
        </p:nvSpPr>
        <p:spPr>
          <a:xfrm>
            <a:off x="54864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Requirements</a:t>
            </a:r>
            <a:endParaRPr lang="en-US" sz="1300" dirty="0"/>
          </a:p>
        </p:txBody>
      </p:sp>
      <p:sp>
        <p:nvSpPr>
          <p:cNvPr id="7" name="Shape 5"/>
          <p:cNvSpPr/>
          <p:nvPr/>
        </p:nvSpPr>
        <p:spPr>
          <a:xfrm>
            <a:off x="2423160" y="2651760"/>
            <a:ext cx="1773936" cy="566928"/>
          </a:xfrm>
          <a:prstGeom prst="roundRect">
            <a:avLst>
              <a:gd name="adj" fmla="val 12903"/>
            </a:avLst>
          </a:prstGeom>
          <a:solidFill>
            <a:srgbClr val="FBEFD8"/>
          </a:solidFill>
          <a:ln/>
        </p:spPr>
      </p:sp>
      <p:sp>
        <p:nvSpPr>
          <p:cNvPr id="8" name="Text 6"/>
          <p:cNvSpPr/>
          <p:nvPr/>
        </p:nvSpPr>
        <p:spPr>
          <a:xfrm>
            <a:off x="242316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Design</a:t>
            </a:r>
            <a:endParaRPr lang="en-US" sz="1300" dirty="0"/>
          </a:p>
        </p:txBody>
      </p:sp>
      <p:sp>
        <p:nvSpPr>
          <p:cNvPr id="9" name="Shape 7"/>
          <p:cNvSpPr/>
          <p:nvPr/>
        </p:nvSpPr>
        <p:spPr>
          <a:xfrm>
            <a:off x="4297680" y="2651760"/>
            <a:ext cx="1773936" cy="566928"/>
          </a:xfrm>
          <a:prstGeom prst="roundRect">
            <a:avLst>
              <a:gd name="adj" fmla="val 12903"/>
            </a:avLst>
          </a:prstGeom>
          <a:solidFill>
            <a:srgbClr val="F1F3F6"/>
          </a:solidFill>
          <a:ln/>
        </p:spPr>
      </p:sp>
      <p:sp>
        <p:nvSpPr>
          <p:cNvPr id="10" name="Text 8"/>
          <p:cNvSpPr/>
          <p:nvPr/>
        </p:nvSpPr>
        <p:spPr>
          <a:xfrm>
            <a:off x="429768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Build</a:t>
            </a:r>
            <a:endParaRPr lang="en-US" sz="1300" dirty="0"/>
          </a:p>
        </p:txBody>
      </p:sp>
      <p:sp>
        <p:nvSpPr>
          <p:cNvPr id="11" name="Shape 9"/>
          <p:cNvSpPr/>
          <p:nvPr/>
        </p:nvSpPr>
        <p:spPr>
          <a:xfrm>
            <a:off x="6172200" y="2651760"/>
            <a:ext cx="1773936" cy="566928"/>
          </a:xfrm>
          <a:prstGeom prst="roundRect">
            <a:avLst>
              <a:gd name="adj" fmla="val 12903"/>
            </a:avLst>
          </a:prstGeom>
          <a:solidFill>
            <a:srgbClr val="F1F3F6"/>
          </a:solidFill>
          <a:ln/>
        </p:spPr>
      </p:sp>
      <p:sp>
        <p:nvSpPr>
          <p:cNvPr id="12" name="Text 10"/>
          <p:cNvSpPr/>
          <p:nvPr/>
        </p:nvSpPr>
        <p:spPr>
          <a:xfrm>
            <a:off x="617220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Deploy</a:t>
            </a:r>
            <a:endParaRPr lang="en-US" sz="1300" dirty="0"/>
          </a:p>
        </p:txBody>
      </p:sp>
      <p:sp>
        <p:nvSpPr>
          <p:cNvPr id="13" name="Shape 11"/>
          <p:cNvSpPr/>
          <p:nvPr/>
        </p:nvSpPr>
        <p:spPr>
          <a:xfrm>
            <a:off x="8046720" y="2651760"/>
            <a:ext cx="1773936" cy="566928"/>
          </a:xfrm>
          <a:prstGeom prst="roundRect">
            <a:avLst>
              <a:gd name="adj" fmla="val 12903"/>
            </a:avLst>
          </a:prstGeom>
          <a:solidFill>
            <a:srgbClr val="F1F3F6"/>
          </a:solidFill>
          <a:ln/>
        </p:spPr>
      </p:sp>
      <p:sp>
        <p:nvSpPr>
          <p:cNvPr id="14" name="Text 12"/>
          <p:cNvSpPr/>
          <p:nvPr/>
        </p:nvSpPr>
        <p:spPr>
          <a:xfrm>
            <a:off x="804672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Run</a:t>
            </a:r>
            <a:endParaRPr lang="en-US" sz="1300" dirty="0"/>
          </a:p>
        </p:txBody>
      </p:sp>
      <p:sp>
        <p:nvSpPr>
          <p:cNvPr id="15" name="Shape 13"/>
          <p:cNvSpPr/>
          <p:nvPr/>
        </p:nvSpPr>
        <p:spPr>
          <a:xfrm>
            <a:off x="9921240" y="2651760"/>
            <a:ext cx="1773936" cy="566928"/>
          </a:xfrm>
          <a:prstGeom prst="roundRect">
            <a:avLst>
              <a:gd name="adj" fmla="val 12903"/>
            </a:avLst>
          </a:prstGeom>
          <a:solidFill>
            <a:srgbClr val="F1F3F6"/>
          </a:solidFill>
          <a:ln/>
        </p:spPr>
      </p:sp>
      <p:sp>
        <p:nvSpPr>
          <p:cNvPr id="16" name="Text 14"/>
          <p:cNvSpPr/>
          <p:nvPr/>
        </p:nvSpPr>
        <p:spPr>
          <a:xfrm>
            <a:off x="992124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Invoice</a:t>
            </a:r>
            <a:endParaRPr lang="en-US" sz="1300" dirty="0"/>
          </a:p>
        </p:txBody>
      </p:sp>
      <p:sp>
        <p:nvSpPr>
          <p:cNvPr id="17" name="Text 15"/>
          <p:cNvSpPr/>
          <p:nvPr/>
        </p:nvSpPr>
        <p:spPr>
          <a:xfrm>
            <a:off x="548640" y="2267712"/>
            <a:ext cx="3749040" cy="310896"/>
          </a:xfrm>
          <a:prstGeom prst="rect">
            <a:avLst/>
          </a:prstGeom>
          <a:noFill/>
          <a:ln/>
        </p:spPr>
        <p:txBody>
          <a:bodyPr wrap="square" lIns="0" tIns="0" rIns="0" bIns="0" rtlCol="0" anchor="ctr"/>
          <a:lstStyle/>
          <a:p>
            <a:pPr indent="0" marL="0">
              <a:buNone/>
            </a:pPr>
            <a:r>
              <a:rPr lang="en-US" sz="1200" b="1" spc="140" kern="0" dirty="0">
                <a:solidFill>
                  <a:srgbClr val="B87B18"/>
                </a:solidFill>
                <a:latin typeface="Calibri" pitchFamily="34" charset="0"/>
                <a:ea typeface="Calibri" pitchFamily="34" charset="-122"/>
                <a:cs typeface="Calibri" pitchFamily="34" charset="-120"/>
              </a:rPr>
              <a:t>Where FinOps belongs</a:t>
            </a:r>
            <a:endParaRPr lang="en-US" sz="1200" dirty="0"/>
          </a:p>
        </p:txBody>
      </p:sp>
      <p:sp>
        <p:nvSpPr>
          <p:cNvPr id="18" name="Text 16"/>
          <p:cNvSpPr/>
          <p:nvPr/>
        </p:nvSpPr>
        <p:spPr>
          <a:xfrm>
            <a:off x="8046720" y="3310128"/>
            <a:ext cx="3593592" cy="310896"/>
          </a:xfrm>
          <a:prstGeom prst="rect">
            <a:avLst/>
          </a:prstGeom>
          <a:noFill/>
          <a:ln/>
        </p:spPr>
        <p:txBody>
          <a:bodyPr wrap="square" lIns="0" tIns="0" rIns="0" bIns="0" rtlCol="0" anchor="ctr"/>
          <a:lstStyle/>
          <a:p>
            <a:pPr algn="r" indent="0" marL="0">
              <a:buNone/>
            </a:pPr>
            <a:r>
              <a:rPr lang="en-US" sz="1200" b="1" spc="140" kern="0" dirty="0">
                <a:solidFill>
                  <a:srgbClr val="5C6675"/>
                </a:solidFill>
                <a:latin typeface="Calibri" pitchFamily="34" charset="0"/>
                <a:ea typeface="Calibri" pitchFamily="34" charset="-122"/>
                <a:cs typeface="Calibri" pitchFamily="34" charset="-120"/>
              </a:rPr>
              <a:t>Where FinOps usually arrives</a:t>
            </a:r>
            <a:endParaRPr lang="en-US" sz="1200" dirty="0"/>
          </a:p>
        </p:txBody>
      </p:sp>
      <p:sp>
        <p:nvSpPr>
          <p:cNvPr id="19" name="Text 17"/>
          <p:cNvSpPr/>
          <p:nvPr/>
        </p:nvSpPr>
        <p:spPr>
          <a:xfrm>
            <a:off x="548640" y="3310128"/>
            <a:ext cx="54864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Most of the lifetime cost is committed here.</a:t>
            </a:r>
            <a:endParaRPr lang="en-US" sz="1250" dirty="0"/>
          </a:p>
        </p:txBody>
      </p:sp>
      <p:sp>
        <p:nvSpPr>
          <p:cNvPr id="20" name="Shape 18"/>
          <p:cNvSpPr/>
          <p:nvPr/>
        </p:nvSpPr>
        <p:spPr>
          <a:xfrm>
            <a:off x="548640" y="3913632"/>
            <a:ext cx="5394960" cy="2121408"/>
          </a:xfrm>
          <a:prstGeom prst="roundRect">
            <a:avLst>
              <a:gd name="adj" fmla="val 3879"/>
            </a:avLst>
          </a:prstGeom>
          <a:solidFill>
            <a:srgbClr val="1F2936"/>
          </a:solidFill>
          <a:ln/>
        </p:spPr>
      </p:sp>
      <p:sp>
        <p:nvSpPr>
          <p:cNvPr id="21" name="Text 19"/>
          <p:cNvSpPr/>
          <p:nvPr/>
        </p:nvSpPr>
        <p:spPr>
          <a:xfrm>
            <a:off x="859536" y="4078224"/>
            <a:ext cx="4754880" cy="274320"/>
          </a:xfrm>
          <a:prstGeom prst="rect">
            <a:avLst/>
          </a:prstGeom>
          <a:noFill/>
          <a:ln/>
        </p:spPr>
        <p:txBody>
          <a:bodyPr wrap="square" lIns="0" tIns="0" rIns="0" bIns="0" rtlCol="0" anchor="ctr"/>
          <a:lstStyle/>
          <a:p>
            <a:pPr indent="0" marL="0">
              <a:buNone/>
            </a:pPr>
            <a:r>
              <a:rPr lang="en-US" sz="1100" b="1" spc="140" kern="0" dirty="0">
                <a:solidFill>
                  <a:srgbClr val="E39B2C"/>
                </a:solidFill>
                <a:latin typeface="Calibri" pitchFamily="34" charset="0"/>
                <a:ea typeface="Calibri" pitchFamily="34" charset="-122"/>
                <a:cs typeface="Calibri" pitchFamily="34" charset="-120"/>
              </a:rPr>
              <a:t>WHAT FINOPS BRINGS TO THE ROOM</a:t>
            </a:r>
            <a:endParaRPr lang="en-US" sz="1100" dirty="0"/>
          </a:p>
        </p:txBody>
      </p:sp>
      <p:sp>
        <p:nvSpPr>
          <p:cNvPr id="22" name="Shape 20"/>
          <p:cNvSpPr/>
          <p:nvPr/>
        </p:nvSpPr>
        <p:spPr>
          <a:xfrm>
            <a:off x="877824" y="4590288"/>
            <a:ext cx="100584" cy="100584"/>
          </a:xfrm>
          <a:prstGeom prst="ellipse">
            <a:avLst/>
          </a:prstGeom>
          <a:solidFill>
            <a:srgbClr val="E39B2C"/>
          </a:solidFill>
          <a:ln/>
        </p:spPr>
      </p:sp>
      <p:sp>
        <p:nvSpPr>
          <p:cNvPr id="23" name="Text 21"/>
          <p:cNvSpPr/>
          <p:nvPr/>
        </p:nvSpPr>
        <p:spPr>
          <a:xfrm>
            <a:off x="1115568"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Two or three options, priced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choice gets made with the number visible.</a:t>
            </a:r>
            <a:endParaRPr lang="en-US" sz="1250" dirty="0"/>
          </a:p>
        </p:txBody>
      </p:sp>
      <p:sp>
        <p:nvSpPr>
          <p:cNvPr id="24" name="Shape 22"/>
          <p:cNvSpPr/>
          <p:nvPr/>
        </p:nvSpPr>
        <p:spPr>
          <a:xfrm>
            <a:off x="877824" y="5120640"/>
            <a:ext cx="100584" cy="100584"/>
          </a:xfrm>
          <a:prstGeom prst="ellipse">
            <a:avLst/>
          </a:prstGeom>
          <a:solidFill>
            <a:srgbClr val="E39B2C"/>
          </a:solidFill>
          <a:ln/>
        </p:spPr>
      </p:sp>
      <p:sp>
        <p:nvSpPr>
          <p:cNvPr id="25" name="Text 23"/>
          <p:cNvSpPr/>
          <p:nvPr/>
        </p:nvSpPr>
        <p:spPr>
          <a:xfrm>
            <a:off x="1115568"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 cost target for the workload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Recorded beside latency and availability.</a:t>
            </a:r>
            <a:endParaRPr lang="en-US" sz="1250" dirty="0"/>
          </a:p>
        </p:txBody>
      </p:sp>
      <p:sp>
        <p:nvSpPr>
          <p:cNvPr id="26" name="Shape 24"/>
          <p:cNvSpPr/>
          <p:nvPr/>
        </p:nvSpPr>
        <p:spPr>
          <a:xfrm>
            <a:off x="877824" y="5650992"/>
            <a:ext cx="100584" cy="100584"/>
          </a:xfrm>
          <a:prstGeom prst="ellipse">
            <a:avLst/>
          </a:prstGeom>
          <a:solidFill>
            <a:srgbClr val="E39B2C"/>
          </a:solidFill>
          <a:ln/>
        </p:spPr>
      </p:sp>
      <p:sp>
        <p:nvSpPr>
          <p:cNvPr id="27" name="Text 25"/>
          <p:cNvSpPr/>
          <p:nvPr/>
        </p:nvSpPr>
        <p:spPr>
          <a:xfrm>
            <a:off x="1115568"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The allocation plan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Which tags, which cost centre, which unit.</a:t>
            </a:r>
            <a:endParaRPr lang="en-US" sz="1250" dirty="0"/>
          </a:p>
        </p:txBody>
      </p:sp>
      <p:sp>
        <p:nvSpPr>
          <p:cNvPr id="28" name="Shape 26"/>
          <p:cNvSpPr/>
          <p:nvPr/>
        </p:nvSpPr>
        <p:spPr>
          <a:xfrm>
            <a:off x="6245352" y="3913632"/>
            <a:ext cx="5394960" cy="2121408"/>
          </a:xfrm>
          <a:prstGeom prst="roundRect">
            <a:avLst>
              <a:gd name="adj" fmla="val 3879"/>
            </a:avLst>
          </a:prstGeom>
          <a:solidFill>
            <a:srgbClr val="F1F3F6"/>
          </a:solidFill>
          <a:ln/>
        </p:spPr>
      </p:sp>
      <p:sp>
        <p:nvSpPr>
          <p:cNvPr id="29" name="Text 27"/>
          <p:cNvSpPr/>
          <p:nvPr/>
        </p:nvSpPr>
        <p:spPr>
          <a:xfrm>
            <a:off x="6556248" y="4078224"/>
            <a:ext cx="4754880" cy="274320"/>
          </a:xfrm>
          <a:prstGeom prst="rect">
            <a:avLst/>
          </a:prstGeom>
          <a:noFill/>
          <a:ln/>
        </p:spPr>
        <p:txBody>
          <a:bodyPr wrap="square" lIns="0" tIns="0" rIns="0" bIns="0" rtlCol="0" anchor="ctr"/>
          <a:lstStyle/>
          <a:p>
            <a:pPr indent="0" marL="0">
              <a:buNone/>
            </a:pPr>
            <a:r>
              <a:rPr lang="en-US" sz="1100" b="1" spc="140" kern="0" dirty="0">
                <a:solidFill>
                  <a:srgbClr val="1F6B5C"/>
                </a:solidFill>
                <a:latin typeface="Calibri" pitchFamily="34" charset="0"/>
                <a:ea typeface="Calibri" pitchFamily="34" charset="-122"/>
                <a:cs typeface="Calibri" pitchFamily="34" charset="-120"/>
              </a:rPr>
              <a:t>WHAT FINOPS NEEDS TO LEARN FROM THE TEAM</a:t>
            </a:r>
            <a:endParaRPr lang="en-US" sz="1100" dirty="0"/>
          </a:p>
        </p:txBody>
      </p:sp>
      <p:sp>
        <p:nvSpPr>
          <p:cNvPr id="30" name="Shape 28"/>
          <p:cNvSpPr/>
          <p:nvPr/>
        </p:nvSpPr>
        <p:spPr>
          <a:xfrm>
            <a:off x="6574536" y="4590288"/>
            <a:ext cx="100584" cy="100584"/>
          </a:xfrm>
          <a:prstGeom prst="ellipse">
            <a:avLst/>
          </a:prstGeom>
          <a:solidFill>
            <a:srgbClr val="1F6B5C"/>
          </a:solidFill>
          <a:ln/>
        </p:spPr>
      </p:sp>
      <p:sp>
        <p:nvSpPr>
          <p:cNvPr id="31" name="Text 29"/>
          <p:cNvSpPr/>
          <p:nvPr/>
        </p:nvSpPr>
        <p:spPr>
          <a:xfrm>
            <a:off x="6812280"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the project actually needs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Scale, growth, retention, and the real SLO.</a:t>
            </a:r>
            <a:endParaRPr lang="en-US" sz="1250" dirty="0"/>
          </a:p>
        </p:txBody>
      </p:sp>
      <p:sp>
        <p:nvSpPr>
          <p:cNvPr id="32" name="Shape 30"/>
          <p:cNvSpPr/>
          <p:nvPr/>
        </p:nvSpPr>
        <p:spPr>
          <a:xfrm>
            <a:off x="6574536" y="5120640"/>
            <a:ext cx="100584" cy="100584"/>
          </a:xfrm>
          <a:prstGeom prst="ellipse">
            <a:avLst/>
          </a:prstGeom>
          <a:solidFill>
            <a:srgbClr val="1F6B5C"/>
          </a:solidFill>
          <a:ln/>
        </p:spPr>
      </p:sp>
      <p:sp>
        <p:nvSpPr>
          <p:cNvPr id="33" name="Text 31"/>
          <p:cNvSpPr/>
          <p:nvPr/>
        </p:nvSpPr>
        <p:spPr>
          <a:xfrm>
            <a:off x="6812280"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is temporary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An end date set now costs nothing to honour later.</a:t>
            </a:r>
            <a:endParaRPr lang="en-US" sz="1250" dirty="0"/>
          </a:p>
        </p:txBody>
      </p:sp>
      <p:sp>
        <p:nvSpPr>
          <p:cNvPr id="34" name="Shape 32"/>
          <p:cNvSpPr/>
          <p:nvPr/>
        </p:nvSpPr>
        <p:spPr>
          <a:xfrm>
            <a:off x="6574536" y="5650992"/>
            <a:ext cx="100584" cy="100584"/>
          </a:xfrm>
          <a:prstGeom prst="ellipse">
            <a:avLst/>
          </a:prstGeom>
          <a:solidFill>
            <a:srgbClr val="1F6B5C"/>
          </a:solidFill>
          <a:ln/>
        </p:spPr>
      </p:sp>
      <p:sp>
        <p:nvSpPr>
          <p:cNvPr id="35" name="Text 33"/>
          <p:cNvSpPr/>
          <p:nvPr/>
        </p:nvSpPr>
        <p:spPr>
          <a:xfrm>
            <a:off x="6812280"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Where the business value sits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Per customer, per order, per model call.</a:t>
            </a:r>
            <a:endParaRPr lang="en-US" sz="1250" dirty="0"/>
          </a:p>
        </p:txBody>
      </p:sp>
      <p:sp>
        <p:nvSpPr>
          <p:cNvPr id="36" name="Text 34"/>
          <p:cNvSpPr/>
          <p:nvPr/>
        </p:nvSpPr>
        <p:spPr>
          <a:xfrm>
            <a:off x="548640" y="6144768"/>
            <a:ext cx="11091672" cy="457200"/>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The FinOps Framework names this: Architecting &amp; Workload Placement, and Onboarding Workloads — cost, usage and impact decision support during design and intake.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 IN PRACTICE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Six questions, asked before the build starts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None of them is a finance question. All of them decide the bill.</a:t>
            </a:r>
            <a:endParaRPr lang="en-US" sz="1500" dirty="0"/>
          </a:p>
        </p:txBody>
      </p:sp>
      <p:sp>
        <p:nvSpPr>
          <p:cNvPr id="5" name="Shape 3"/>
          <p:cNvSpPr/>
          <p:nvPr/>
        </p:nvSpPr>
        <p:spPr>
          <a:xfrm>
            <a:off x="548640" y="2121408"/>
            <a:ext cx="3511296" cy="1874520"/>
          </a:xfrm>
          <a:prstGeom prst="roundRect">
            <a:avLst>
              <a:gd name="adj" fmla="val 4390"/>
            </a:avLst>
          </a:prstGeom>
          <a:solidFill>
            <a:srgbClr val="1F2936"/>
          </a:solidFill>
          <a:ln/>
        </p:spPr>
      </p:sp>
      <p:sp>
        <p:nvSpPr>
          <p:cNvPr id="6" name="Shape 4"/>
          <p:cNvSpPr/>
          <p:nvPr/>
        </p:nvSpPr>
        <p:spPr>
          <a:xfrm>
            <a:off x="841248" y="2377440"/>
            <a:ext cx="457200" cy="457200"/>
          </a:xfrm>
          <a:prstGeom prst="ellipse">
            <a:avLst/>
          </a:prstGeom>
          <a:solidFill>
            <a:srgbClr val="2E3A48"/>
          </a:solidFill>
          <a:ln/>
        </p:spPr>
      </p:sp>
      <p:pic>
        <p:nvPicPr>
          <p:cNvPr id="7" name="Image 0" descr="preencoded.png">    </p:cNvPr>
          <p:cNvPicPr>
            <a:picLocks noChangeAspect="1"/>
          </p:cNvPicPr>
          <p:nvPr/>
        </p:nvPicPr>
        <p:blipFill>
          <a:blip r:embed="rId1"/>
          <a:stretch>
            <a:fillRect/>
          </a:stretch>
        </p:blipFill>
        <p:spPr>
          <a:xfrm>
            <a:off x="955548" y="2491740"/>
            <a:ext cx="228600" cy="228600"/>
          </a:xfrm>
          <a:prstGeom prst="rect">
            <a:avLst/>
          </a:prstGeom>
        </p:spPr>
      </p:pic>
      <p:sp>
        <p:nvSpPr>
          <p:cNvPr id="8" name="Text 5"/>
          <p:cNvSpPr/>
          <p:nvPr/>
        </p:nvSpPr>
        <p:spPr>
          <a:xfrm>
            <a:off x="1426464"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Shape of the load</a:t>
            </a:r>
            <a:endParaRPr lang="en-US" sz="1500" dirty="0"/>
          </a:p>
        </p:txBody>
      </p:sp>
      <p:sp>
        <p:nvSpPr>
          <p:cNvPr id="9" name="Text 6"/>
          <p:cNvSpPr/>
          <p:nvPr/>
        </p:nvSpPr>
        <p:spPr>
          <a:xfrm>
            <a:off x="841248"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Peak versus average, and how spiky? Sizing for a peak that lasts an hour a week is the most common overspend.</a:t>
            </a:r>
            <a:endParaRPr lang="en-US" sz="1200" dirty="0"/>
          </a:p>
        </p:txBody>
      </p:sp>
      <p:sp>
        <p:nvSpPr>
          <p:cNvPr id="10" name="Shape 7"/>
          <p:cNvSpPr/>
          <p:nvPr/>
        </p:nvSpPr>
        <p:spPr>
          <a:xfrm>
            <a:off x="4334256" y="2121408"/>
            <a:ext cx="3511296" cy="1874520"/>
          </a:xfrm>
          <a:prstGeom prst="roundRect">
            <a:avLst>
              <a:gd name="adj" fmla="val 4390"/>
            </a:avLst>
          </a:prstGeom>
          <a:solidFill>
            <a:srgbClr val="1F2936"/>
          </a:solidFill>
          <a:ln/>
        </p:spPr>
      </p:sp>
      <p:sp>
        <p:nvSpPr>
          <p:cNvPr id="11" name="Shape 8"/>
          <p:cNvSpPr/>
          <p:nvPr/>
        </p:nvSpPr>
        <p:spPr>
          <a:xfrm>
            <a:off x="4626864" y="2377440"/>
            <a:ext cx="457200" cy="457200"/>
          </a:xfrm>
          <a:prstGeom prst="ellipse">
            <a:avLst/>
          </a:prstGeom>
          <a:solidFill>
            <a:srgbClr val="2E3A48"/>
          </a:solidFill>
          <a:ln/>
        </p:spPr>
      </p:sp>
      <p:pic>
        <p:nvPicPr>
          <p:cNvPr id="12" name="Image 1" descr="preencoded.png">    </p:cNvPr>
          <p:cNvPicPr>
            <a:picLocks noChangeAspect="1"/>
          </p:cNvPicPr>
          <p:nvPr/>
        </p:nvPicPr>
        <p:blipFill>
          <a:blip r:embed="rId2"/>
          <a:stretch>
            <a:fillRect/>
          </a:stretch>
        </p:blipFill>
        <p:spPr>
          <a:xfrm>
            <a:off x="4741164" y="2491740"/>
            <a:ext cx="228600" cy="228600"/>
          </a:xfrm>
          <a:prstGeom prst="rect">
            <a:avLst/>
          </a:prstGeom>
        </p:spPr>
      </p:pic>
      <p:sp>
        <p:nvSpPr>
          <p:cNvPr id="13" name="Text 9"/>
          <p:cNvSpPr/>
          <p:nvPr/>
        </p:nvSpPr>
        <p:spPr>
          <a:xfrm>
            <a:off x="5212080"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Data volume and retention</a:t>
            </a:r>
            <a:endParaRPr lang="en-US" sz="1500" dirty="0"/>
          </a:p>
        </p:txBody>
      </p:sp>
      <p:sp>
        <p:nvSpPr>
          <p:cNvPr id="14" name="Text 10"/>
          <p:cNvSpPr/>
          <p:nvPr/>
        </p:nvSpPr>
        <p:spPr>
          <a:xfrm>
            <a:off x="4626864"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How much is stored, for how long, and how much leaves the region? Egress and retention rarely appear in the estimate.</a:t>
            </a:r>
            <a:endParaRPr lang="en-US" sz="1200" dirty="0"/>
          </a:p>
        </p:txBody>
      </p:sp>
      <p:sp>
        <p:nvSpPr>
          <p:cNvPr id="15" name="Shape 11"/>
          <p:cNvSpPr/>
          <p:nvPr/>
        </p:nvSpPr>
        <p:spPr>
          <a:xfrm>
            <a:off x="8119872" y="2121408"/>
            <a:ext cx="3511296" cy="1874520"/>
          </a:xfrm>
          <a:prstGeom prst="roundRect">
            <a:avLst>
              <a:gd name="adj" fmla="val 4390"/>
            </a:avLst>
          </a:prstGeom>
          <a:solidFill>
            <a:srgbClr val="1F2936"/>
          </a:solidFill>
          <a:ln/>
        </p:spPr>
      </p:sp>
      <p:sp>
        <p:nvSpPr>
          <p:cNvPr id="16" name="Shape 12"/>
          <p:cNvSpPr/>
          <p:nvPr/>
        </p:nvSpPr>
        <p:spPr>
          <a:xfrm>
            <a:off x="8412480" y="2377440"/>
            <a:ext cx="457200" cy="457200"/>
          </a:xfrm>
          <a:prstGeom prst="ellipse">
            <a:avLst/>
          </a:prstGeom>
          <a:solidFill>
            <a:srgbClr val="2E3A48"/>
          </a:solidFill>
          <a:ln/>
        </p:spPr>
      </p:sp>
      <p:pic>
        <p:nvPicPr>
          <p:cNvPr id="17" name="Image 2" descr="preencoded.png">    </p:cNvPr>
          <p:cNvPicPr>
            <a:picLocks noChangeAspect="1"/>
          </p:cNvPicPr>
          <p:nvPr/>
        </p:nvPicPr>
        <p:blipFill>
          <a:blip r:embed="rId3"/>
          <a:stretch>
            <a:fillRect/>
          </a:stretch>
        </p:blipFill>
        <p:spPr>
          <a:xfrm>
            <a:off x="8526780" y="2491740"/>
            <a:ext cx="228600" cy="228600"/>
          </a:xfrm>
          <a:prstGeom prst="rect">
            <a:avLst/>
          </a:prstGeom>
        </p:spPr>
      </p:pic>
      <p:sp>
        <p:nvSpPr>
          <p:cNvPr id="18" name="Text 13"/>
          <p:cNvSpPr/>
          <p:nvPr/>
        </p:nvSpPr>
        <p:spPr>
          <a:xfrm>
            <a:off x="8997696"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the SLO actually requires</a:t>
            </a:r>
            <a:endParaRPr lang="en-US" sz="1500" dirty="0"/>
          </a:p>
        </p:txBody>
      </p:sp>
      <p:sp>
        <p:nvSpPr>
          <p:cNvPr id="19" name="Text 14"/>
          <p:cNvSpPr/>
          <p:nvPr/>
        </p:nvSpPr>
        <p:spPr>
          <a:xfrm>
            <a:off x="8412480"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Multi-region and multi-AZ are priced choices. Ask which one the business will genuinely pay for.</a:t>
            </a:r>
            <a:endParaRPr lang="en-US" sz="1200" dirty="0"/>
          </a:p>
        </p:txBody>
      </p:sp>
      <p:sp>
        <p:nvSpPr>
          <p:cNvPr id="20" name="Shape 15"/>
          <p:cNvSpPr/>
          <p:nvPr/>
        </p:nvSpPr>
        <p:spPr>
          <a:xfrm>
            <a:off x="548640" y="4133088"/>
            <a:ext cx="3511296" cy="1874520"/>
          </a:xfrm>
          <a:prstGeom prst="roundRect">
            <a:avLst>
              <a:gd name="adj" fmla="val 4390"/>
            </a:avLst>
          </a:prstGeom>
          <a:solidFill>
            <a:srgbClr val="1F2936"/>
          </a:solidFill>
          <a:ln/>
        </p:spPr>
      </p:sp>
      <p:sp>
        <p:nvSpPr>
          <p:cNvPr id="21" name="Shape 16"/>
          <p:cNvSpPr/>
          <p:nvPr/>
        </p:nvSpPr>
        <p:spPr>
          <a:xfrm>
            <a:off x="841248" y="4389120"/>
            <a:ext cx="457200" cy="457200"/>
          </a:xfrm>
          <a:prstGeom prst="ellipse">
            <a:avLst/>
          </a:prstGeom>
          <a:solidFill>
            <a:srgbClr val="2E3A48"/>
          </a:solidFill>
          <a:ln/>
        </p:spPr>
      </p:sp>
      <p:pic>
        <p:nvPicPr>
          <p:cNvPr id="22" name="Image 3" descr="preencoded.png">    </p:cNvPr>
          <p:cNvPicPr>
            <a:picLocks noChangeAspect="1"/>
          </p:cNvPicPr>
          <p:nvPr/>
        </p:nvPicPr>
        <p:blipFill>
          <a:blip r:embed="rId4"/>
          <a:stretch>
            <a:fillRect/>
          </a:stretch>
        </p:blipFill>
        <p:spPr>
          <a:xfrm>
            <a:off x="955548" y="4503420"/>
            <a:ext cx="228600" cy="228600"/>
          </a:xfrm>
          <a:prstGeom prst="rect">
            <a:avLst/>
          </a:prstGeom>
        </p:spPr>
      </p:pic>
      <p:sp>
        <p:nvSpPr>
          <p:cNvPr id="23" name="Text 17"/>
          <p:cNvSpPr/>
          <p:nvPr/>
        </p:nvSpPr>
        <p:spPr>
          <a:xfrm>
            <a:off x="1426464"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is temporary</a:t>
            </a:r>
            <a:endParaRPr lang="en-US" sz="1500" dirty="0"/>
          </a:p>
        </p:txBody>
      </p:sp>
      <p:sp>
        <p:nvSpPr>
          <p:cNvPr id="24" name="Text 18"/>
          <p:cNvSpPr/>
          <p:nvPr/>
        </p:nvSpPr>
        <p:spPr>
          <a:xfrm>
            <a:off x="841248"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Non-production with no end date becomes permanent. An expiry set on day one is free; removing it later is a project.</a:t>
            </a:r>
            <a:endParaRPr lang="en-US" sz="1200" dirty="0"/>
          </a:p>
        </p:txBody>
      </p:sp>
      <p:sp>
        <p:nvSpPr>
          <p:cNvPr id="25" name="Shape 19"/>
          <p:cNvSpPr/>
          <p:nvPr/>
        </p:nvSpPr>
        <p:spPr>
          <a:xfrm>
            <a:off x="4334256" y="4133088"/>
            <a:ext cx="3511296" cy="1874520"/>
          </a:xfrm>
          <a:prstGeom prst="roundRect">
            <a:avLst>
              <a:gd name="adj" fmla="val 4390"/>
            </a:avLst>
          </a:prstGeom>
          <a:solidFill>
            <a:srgbClr val="1F2936"/>
          </a:solidFill>
          <a:ln/>
        </p:spPr>
      </p:sp>
      <p:sp>
        <p:nvSpPr>
          <p:cNvPr id="26" name="Shape 20"/>
          <p:cNvSpPr/>
          <p:nvPr/>
        </p:nvSpPr>
        <p:spPr>
          <a:xfrm>
            <a:off x="4626864" y="4389120"/>
            <a:ext cx="457200" cy="457200"/>
          </a:xfrm>
          <a:prstGeom prst="ellipse">
            <a:avLst/>
          </a:prstGeom>
          <a:solidFill>
            <a:srgbClr val="2E3A48"/>
          </a:solidFill>
          <a:ln/>
        </p:spPr>
      </p:sp>
      <p:pic>
        <p:nvPicPr>
          <p:cNvPr id="27" name="Image 4" descr="preencoded.png">    </p:cNvPr>
          <p:cNvPicPr>
            <a:picLocks noChangeAspect="1"/>
          </p:cNvPicPr>
          <p:nvPr/>
        </p:nvPicPr>
        <p:blipFill>
          <a:blip r:embed="rId5"/>
          <a:stretch>
            <a:fillRect/>
          </a:stretch>
        </p:blipFill>
        <p:spPr>
          <a:xfrm>
            <a:off x="4741164" y="4503420"/>
            <a:ext cx="228600" cy="228600"/>
          </a:xfrm>
          <a:prstGeom prst="rect">
            <a:avLst/>
          </a:prstGeom>
        </p:spPr>
      </p:pic>
      <p:sp>
        <p:nvSpPr>
          <p:cNvPr id="28" name="Text 21"/>
          <p:cNvSpPr/>
          <p:nvPr/>
        </p:nvSpPr>
        <p:spPr>
          <a:xfrm>
            <a:off x="5212080"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For AI workloads</a:t>
            </a:r>
            <a:endParaRPr lang="en-US" sz="1500" dirty="0"/>
          </a:p>
        </p:txBody>
      </p:sp>
      <p:sp>
        <p:nvSpPr>
          <p:cNvPr id="29" name="Text 22"/>
          <p:cNvSpPr/>
          <p:nvPr/>
        </p:nvSpPr>
        <p:spPr>
          <a:xfrm>
            <a:off x="4626864"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Tokens per request, cache hit rate, model tier, and whether provisioned throughput is justified by the traffic.</a:t>
            </a:r>
            <a:endParaRPr lang="en-US" sz="1200" dirty="0"/>
          </a:p>
        </p:txBody>
      </p:sp>
      <p:sp>
        <p:nvSpPr>
          <p:cNvPr id="30" name="Shape 23"/>
          <p:cNvSpPr/>
          <p:nvPr/>
        </p:nvSpPr>
        <p:spPr>
          <a:xfrm>
            <a:off x="8119872" y="4133088"/>
            <a:ext cx="3511296" cy="1874520"/>
          </a:xfrm>
          <a:prstGeom prst="roundRect">
            <a:avLst>
              <a:gd name="adj" fmla="val 4390"/>
            </a:avLst>
          </a:prstGeom>
          <a:solidFill>
            <a:srgbClr val="1F2936"/>
          </a:solidFill>
          <a:ln/>
        </p:spPr>
      </p:sp>
      <p:sp>
        <p:nvSpPr>
          <p:cNvPr id="31" name="Shape 24"/>
          <p:cNvSpPr/>
          <p:nvPr/>
        </p:nvSpPr>
        <p:spPr>
          <a:xfrm>
            <a:off x="8412480" y="4389120"/>
            <a:ext cx="457200" cy="457200"/>
          </a:xfrm>
          <a:prstGeom prst="ellipse">
            <a:avLst/>
          </a:prstGeom>
          <a:solidFill>
            <a:srgbClr val="2E3A48"/>
          </a:solidFill>
          <a:ln/>
        </p:spPr>
      </p:sp>
      <p:pic>
        <p:nvPicPr>
          <p:cNvPr id="32" name="Image 5" descr="preencoded.png">    </p:cNvPr>
          <p:cNvPicPr>
            <a:picLocks noChangeAspect="1"/>
          </p:cNvPicPr>
          <p:nvPr/>
        </p:nvPicPr>
        <p:blipFill>
          <a:blip r:embed="rId6"/>
          <a:stretch>
            <a:fillRect/>
          </a:stretch>
        </p:blipFill>
        <p:spPr>
          <a:xfrm>
            <a:off x="8526780" y="4503420"/>
            <a:ext cx="228600" cy="228600"/>
          </a:xfrm>
          <a:prstGeom prst="rect">
            <a:avLst/>
          </a:prstGeom>
        </p:spPr>
      </p:pic>
      <p:sp>
        <p:nvSpPr>
          <p:cNvPr id="33" name="Text 25"/>
          <p:cNvSpPr/>
          <p:nvPr/>
        </p:nvSpPr>
        <p:spPr>
          <a:xfrm>
            <a:off x="8997696"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Owner and unit</a:t>
            </a:r>
            <a:endParaRPr lang="en-US" sz="1500" dirty="0"/>
          </a:p>
        </p:txBody>
      </p:sp>
      <p:sp>
        <p:nvSpPr>
          <p:cNvPr id="34" name="Text 26"/>
          <p:cNvSpPr/>
          <p:nvPr/>
        </p:nvSpPr>
        <p:spPr>
          <a:xfrm>
            <a:off x="8412480"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Which cost centre carries it, and what unit we will divide the cost by once it is live.</a:t>
            </a:r>
            <a:endParaRPr lang="en-US" sz="1200" dirty="0"/>
          </a:p>
        </p:txBody>
      </p:sp>
      <p:sp>
        <p:nvSpPr>
          <p:cNvPr id="35" name="Text 27"/>
          <p:cNvSpPr/>
          <p:nvPr/>
        </p:nvSpPr>
        <p:spPr>
          <a:xfrm>
            <a:off x="548640" y="6163056"/>
            <a:ext cx="11091672" cy="548640"/>
          </a:xfrm>
          <a:prstGeom prst="rect">
            <a:avLst/>
          </a:prstGeom>
          <a:noFill/>
          <a:ln/>
        </p:spPr>
        <p:txBody>
          <a:bodyPr wrap="square" lIns="0" tIns="0" rIns="0" bIns="0" rtlCol="0" anchor="t"/>
          <a:lstStyle/>
          <a:p>
            <a:pPr indent="0" marL="0">
              <a:lnSpc>
                <a:spcPts val="1800"/>
              </a:lnSpc>
              <a:buNone/>
            </a:pPr>
            <a:r>
              <a:rPr lang="en-US" sz="1250" b="1" dirty="0">
                <a:solidFill>
                  <a:srgbClr val="E39B2C"/>
                </a:solidFill>
                <a:latin typeface="Calibri" pitchFamily="34" charset="0"/>
                <a:ea typeface="Calibri" pitchFamily="34" charset="-122"/>
                <a:cs typeface="Calibri" pitchFamily="34" charset="-120"/>
              </a:rPr>
              <a:t>The output is a number attached to the design: </a:t>
            </a:r>
            <a:pPr indent="0" marL="0">
              <a:lnSpc>
                <a:spcPts val="1800"/>
              </a:lnSpc>
              <a:buNone/>
            </a:pPr>
            <a:r>
              <a:rPr lang="en-US" sz="1250" dirty="0">
                <a:solidFill>
                  <a:srgbClr val="9EABBA"/>
                </a:solidFill>
                <a:latin typeface="Calibri" pitchFamily="34" charset="0"/>
                <a:ea typeface="Calibri" pitchFamily="34" charset="-122"/>
                <a:cs typeface="Calibri" pitchFamily="34" charset="-120"/>
              </a:rPr>
              <a:t>an estimate, and a cost target recorded beside the latency and availability targets. A cost diff on the pull request and policy as code keep it honest afterwards.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PUTTING IT TOGETHER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Nobody should learn it from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overrun, found at four different moments. Only the first three leave you anything to do about it.</a:t>
            </a:r>
            <a:endParaRPr lang="en-US" sz="1500" dirty="0"/>
          </a:p>
        </p:txBody>
      </p:sp>
      <p:sp>
        <p:nvSpPr>
          <p:cNvPr id="5" name="Shape 3"/>
          <p:cNvSpPr/>
          <p:nvPr/>
        </p:nvSpPr>
        <p:spPr>
          <a:xfrm>
            <a:off x="1737360" y="3127248"/>
            <a:ext cx="8714232" cy="45720"/>
          </a:xfrm>
          <a:prstGeom prst="roundRect">
            <a:avLst>
              <a:gd name="adj" fmla="val 40000"/>
            </a:avLst>
          </a:prstGeom>
          <a:solidFill>
            <a:srgbClr val="DFE4EA"/>
          </a:solidFill>
          <a:ln/>
        </p:spPr>
      </p:sp>
      <p:sp>
        <p:nvSpPr>
          <p:cNvPr id="6" name="Text 4"/>
          <p:cNvSpPr/>
          <p:nvPr/>
        </p:nvSpPr>
        <p:spPr>
          <a:xfrm>
            <a:off x="54864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Usage burn alert</a:t>
            </a:r>
            <a:endParaRPr lang="en-US" sz="1400" dirty="0"/>
          </a:p>
        </p:txBody>
      </p:sp>
      <p:sp>
        <p:nvSpPr>
          <p:cNvPr id="7" name="Text 5"/>
          <p:cNvSpPr/>
          <p:nvPr/>
        </p:nvSpPr>
        <p:spPr>
          <a:xfrm>
            <a:off x="54864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B87B18"/>
                </a:solidFill>
                <a:latin typeface="Calibri" pitchFamily="34" charset="0"/>
                <a:ea typeface="Calibri" pitchFamily="34" charset="-122"/>
                <a:cs typeface="Calibri" pitchFamily="34" charset="-120"/>
              </a:rPr>
              <a:t>~10 minutes</a:t>
            </a:r>
            <a:endParaRPr lang="en-US" sz="1250" dirty="0"/>
          </a:p>
        </p:txBody>
      </p:sp>
      <p:sp>
        <p:nvSpPr>
          <p:cNvPr id="8" name="Shape 6"/>
          <p:cNvSpPr/>
          <p:nvPr/>
        </p:nvSpPr>
        <p:spPr>
          <a:xfrm>
            <a:off x="1618488" y="3031236"/>
            <a:ext cx="237744" cy="237744"/>
          </a:xfrm>
          <a:prstGeom prst="ellipse">
            <a:avLst/>
          </a:prstGeom>
          <a:solidFill>
            <a:srgbClr val="E39B2C"/>
          </a:solidFill>
          <a:ln w="25400">
            <a:solidFill>
              <a:srgbClr val="FFFFFF"/>
            </a:solidFill>
            <a:prstDash val="solid"/>
          </a:ln>
        </p:spPr>
      </p:sp>
      <p:sp>
        <p:nvSpPr>
          <p:cNvPr id="9" name="Text 7"/>
          <p:cNvSpPr/>
          <p:nvPr/>
        </p:nvSpPr>
        <p:spPr>
          <a:xfrm>
            <a:off x="54864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Throttle it, or confirm it was intended.</a:t>
            </a:r>
            <a:endParaRPr lang="en-US" sz="1200" dirty="0"/>
          </a:p>
        </p:txBody>
      </p:sp>
      <p:sp>
        <p:nvSpPr>
          <p:cNvPr id="10" name="Text 8"/>
          <p:cNvSpPr/>
          <p:nvPr/>
        </p:nvSpPr>
        <p:spPr>
          <a:xfrm>
            <a:off x="356616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Daily spend threshold</a:t>
            </a:r>
            <a:endParaRPr lang="en-US" sz="1400" dirty="0"/>
          </a:p>
        </p:txBody>
      </p:sp>
      <p:sp>
        <p:nvSpPr>
          <p:cNvPr id="11" name="Text 9"/>
          <p:cNvSpPr/>
          <p:nvPr/>
        </p:nvSpPr>
        <p:spPr>
          <a:xfrm>
            <a:off x="356616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next morning</a:t>
            </a:r>
            <a:endParaRPr lang="en-US" sz="1250" dirty="0"/>
          </a:p>
        </p:txBody>
      </p:sp>
      <p:sp>
        <p:nvSpPr>
          <p:cNvPr id="12" name="Shape 10"/>
          <p:cNvSpPr/>
          <p:nvPr/>
        </p:nvSpPr>
        <p:spPr>
          <a:xfrm>
            <a:off x="4636008" y="3031236"/>
            <a:ext cx="237744" cy="237744"/>
          </a:xfrm>
          <a:prstGeom prst="ellipse">
            <a:avLst/>
          </a:prstGeom>
          <a:solidFill>
            <a:srgbClr val="2E8B7A"/>
          </a:solidFill>
          <a:ln w="25400">
            <a:solidFill>
              <a:srgbClr val="FFFFFF"/>
            </a:solidFill>
            <a:prstDash val="solid"/>
          </a:ln>
        </p:spPr>
      </p:sp>
      <p:sp>
        <p:nvSpPr>
          <p:cNvPr id="13" name="Text 11"/>
          <p:cNvSpPr/>
          <p:nvPr/>
        </p:nvSpPr>
        <p:spPr>
          <a:xfrm>
            <a:off x="356616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One team, one number, one owner to ask.</a:t>
            </a:r>
            <a:endParaRPr lang="en-US" sz="1200" dirty="0"/>
          </a:p>
        </p:txBody>
      </p:sp>
      <p:sp>
        <p:nvSpPr>
          <p:cNvPr id="14" name="Text 12"/>
          <p:cNvSpPr/>
          <p:nvPr/>
        </p:nvSpPr>
        <p:spPr>
          <a:xfrm>
            <a:off x="658368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Forecast overrun</a:t>
            </a:r>
            <a:endParaRPr lang="en-US" sz="1400" dirty="0"/>
          </a:p>
        </p:txBody>
      </p:sp>
      <p:sp>
        <p:nvSpPr>
          <p:cNvPr id="15" name="Text 13"/>
          <p:cNvSpPr/>
          <p:nvPr/>
        </p:nvSpPr>
        <p:spPr>
          <a:xfrm>
            <a:off x="658368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~2 weeks out</a:t>
            </a:r>
            <a:endParaRPr lang="en-US" sz="1250" dirty="0"/>
          </a:p>
        </p:txBody>
      </p:sp>
      <p:sp>
        <p:nvSpPr>
          <p:cNvPr id="16" name="Shape 14"/>
          <p:cNvSpPr/>
          <p:nvPr/>
        </p:nvSpPr>
        <p:spPr>
          <a:xfrm>
            <a:off x="7653528" y="3031236"/>
            <a:ext cx="237744" cy="237744"/>
          </a:xfrm>
          <a:prstGeom prst="ellipse">
            <a:avLst/>
          </a:prstGeom>
          <a:solidFill>
            <a:srgbClr val="2E8B7A"/>
          </a:solidFill>
          <a:ln w="25400">
            <a:solidFill>
              <a:srgbClr val="FFFFFF"/>
            </a:solidFill>
            <a:prstDash val="solid"/>
          </a:ln>
        </p:spPr>
      </p:sp>
      <p:sp>
        <p:nvSpPr>
          <p:cNvPr id="17" name="Text 15"/>
          <p:cNvSpPr/>
          <p:nvPr/>
        </p:nvSpPr>
        <p:spPr>
          <a:xfrm>
            <a:off x="658368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Still time to change the month's outcome.</a:t>
            </a:r>
            <a:endParaRPr lang="en-US" sz="1200" dirty="0"/>
          </a:p>
        </p:txBody>
      </p:sp>
      <p:sp>
        <p:nvSpPr>
          <p:cNvPr id="18" name="Text 16"/>
          <p:cNvSpPr/>
          <p:nvPr/>
        </p:nvSpPr>
        <p:spPr>
          <a:xfrm>
            <a:off x="9262872" y="2212848"/>
            <a:ext cx="2377440" cy="310896"/>
          </a:xfrm>
          <a:prstGeom prst="rect">
            <a:avLst/>
          </a:prstGeom>
          <a:noFill/>
          <a:ln/>
        </p:spPr>
        <p:txBody>
          <a:bodyPr wrap="square" lIns="0" tIns="0" rIns="0" bIns="0" rtlCol="0" anchor="ctr"/>
          <a:lstStyle/>
          <a:p>
            <a:pPr algn="ctr" indent="0" marL="0">
              <a:buNone/>
            </a:pPr>
            <a:r>
              <a:rPr lang="en-US" sz="1400" b="1" dirty="0">
                <a:solidFill>
                  <a:srgbClr val="5C6675"/>
                </a:solidFill>
                <a:latin typeface="Calibri" pitchFamily="34" charset="0"/>
                <a:ea typeface="Calibri" pitchFamily="34" charset="-122"/>
                <a:cs typeface="Calibri" pitchFamily="34" charset="-120"/>
              </a:rPr>
              <a:t>The invoice</a:t>
            </a:r>
            <a:endParaRPr lang="en-US" sz="1400" dirty="0"/>
          </a:p>
        </p:txBody>
      </p:sp>
      <p:sp>
        <p:nvSpPr>
          <p:cNvPr id="19" name="Text 17"/>
          <p:cNvSpPr/>
          <p:nvPr/>
        </p:nvSpPr>
        <p:spPr>
          <a:xfrm>
            <a:off x="9262872"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5C6675"/>
                </a:solidFill>
                <a:latin typeface="Calibri" pitchFamily="34" charset="0"/>
                <a:ea typeface="Calibri" pitchFamily="34" charset="-122"/>
                <a:cs typeface="Calibri" pitchFamily="34" charset="-120"/>
              </a:rPr>
              <a:t>30–45 days later</a:t>
            </a:r>
            <a:endParaRPr lang="en-US" sz="1250" dirty="0"/>
          </a:p>
        </p:txBody>
      </p:sp>
      <p:sp>
        <p:nvSpPr>
          <p:cNvPr id="20" name="Shape 18"/>
          <p:cNvSpPr/>
          <p:nvPr/>
        </p:nvSpPr>
        <p:spPr>
          <a:xfrm>
            <a:off x="10332720" y="3031236"/>
            <a:ext cx="237744" cy="237744"/>
          </a:xfrm>
          <a:prstGeom prst="ellipse">
            <a:avLst/>
          </a:prstGeom>
          <a:solidFill>
            <a:srgbClr val="AEB8C4"/>
          </a:solidFill>
          <a:ln w="25400">
            <a:solidFill>
              <a:srgbClr val="FFFFFF"/>
            </a:solidFill>
            <a:prstDash val="solid"/>
          </a:ln>
        </p:spPr>
      </p:sp>
      <p:sp>
        <p:nvSpPr>
          <p:cNvPr id="21" name="Text 19"/>
          <p:cNvSpPr/>
          <p:nvPr/>
        </p:nvSpPr>
        <p:spPr>
          <a:xfrm>
            <a:off x="9262872"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Nothing left to decide. Only to explain.</a:t>
            </a:r>
            <a:endParaRPr lang="en-US" sz="1200" dirty="0"/>
          </a:p>
        </p:txBody>
      </p:sp>
      <p:sp>
        <p:nvSpPr>
          <p:cNvPr id="22" name="Shape 20"/>
          <p:cNvSpPr/>
          <p:nvPr/>
        </p:nvSpPr>
        <p:spPr>
          <a:xfrm>
            <a:off x="548640" y="4297680"/>
            <a:ext cx="6675120" cy="2011680"/>
          </a:xfrm>
          <a:prstGeom prst="roundRect">
            <a:avLst>
              <a:gd name="adj" fmla="val 4091"/>
            </a:avLst>
          </a:prstGeom>
          <a:solidFill>
            <a:srgbClr val="F1F3F6"/>
          </a:solidFill>
          <a:ln/>
        </p:spPr>
      </p:sp>
      <p:sp>
        <p:nvSpPr>
          <p:cNvPr id="23" name="Text 21"/>
          <p:cNvSpPr/>
          <p:nvPr/>
        </p:nvSpPr>
        <p:spPr>
          <a:xfrm>
            <a:off x="877824" y="4443984"/>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has to be true</a:t>
            </a:r>
            <a:endParaRPr lang="en-US" sz="1200" dirty="0"/>
          </a:p>
        </p:txBody>
      </p:sp>
      <p:sp>
        <p:nvSpPr>
          <p:cNvPr id="24" name="Shape 22"/>
          <p:cNvSpPr/>
          <p:nvPr/>
        </p:nvSpPr>
        <p:spPr>
          <a:xfrm>
            <a:off x="877824" y="4809744"/>
            <a:ext cx="274320" cy="274320"/>
          </a:xfrm>
          <a:prstGeom prst="ellipse">
            <a:avLst/>
          </a:prstGeom>
          <a:solidFill>
            <a:srgbClr val="FFFFFF"/>
          </a:solidFill>
          <a:ln/>
        </p:spPr>
      </p:sp>
      <p:pic>
        <p:nvPicPr>
          <p:cNvPr id="25" name="Image 0" descr="preencoded.png">    </p:cNvPr>
          <p:cNvPicPr>
            <a:picLocks noChangeAspect="1"/>
          </p:cNvPicPr>
          <p:nvPr/>
        </p:nvPicPr>
        <p:blipFill>
          <a:blip r:embed="rId1"/>
          <a:stretch>
            <a:fillRect/>
          </a:stretch>
        </p:blipFill>
        <p:spPr>
          <a:xfrm>
            <a:off x="946404" y="4878324"/>
            <a:ext cx="137160" cy="137160"/>
          </a:xfrm>
          <a:prstGeom prst="rect">
            <a:avLst/>
          </a:prstGeom>
        </p:spPr>
      </p:pic>
      <p:sp>
        <p:nvSpPr>
          <p:cNvPr id="26" name="Text 23"/>
          <p:cNvSpPr/>
          <p:nvPr/>
        </p:nvSpPr>
        <p:spPr>
          <a:xfrm>
            <a:off x="1298448" y="4754880"/>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Protective alerts run on usage data, not on billing data</a:t>
            </a:r>
            <a:endParaRPr lang="en-US" sz="1300" dirty="0"/>
          </a:p>
        </p:txBody>
      </p:sp>
      <p:sp>
        <p:nvSpPr>
          <p:cNvPr id="27" name="Shape 24"/>
          <p:cNvSpPr/>
          <p:nvPr/>
        </p:nvSpPr>
        <p:spPr>
          <a:xfrm>
            <a:off x="877824" y="5193792"/>
            <a:ext cx="274320" cy="274320"/>
          </a:xfrm>
          <a:prstGeom prst="ellipse">
            <a:avLst/>
          </a:prstGeom>
          <a:solidFill>
            <a:srgbClr val="FFFFFF"/>
          </a:solidFill>
          <a:ln/>
        </p:spPr>
      </p:sp>
      <p:pic>
        <p:nvPicPr>
          <p:cNvPr id="28" name="Image 1" descr="preencoded.png">    </p:cNvPr>
          <p:cNvPicPr>
            <a:picLocks noChangeAspect="1"/>
          </p:cNvPicPr>
          <p:nvPr/>
        </p:nvPicPr>
        <p:blipFill>
          <a:blip r:embed="rId2"/>
          <a:stretch>
            <a:fillRect/>
          </a:stretch>
        </p:blipFill>
        <p:spPr>
          <a:xfrm>
            <a:off x="946404" y="5262372"/>
            <a:ext cx="137160" cy="137160"/>
          </a:xfrm>
          <a:prstGeom prst="rect">
            <a:avLst/>
          </a:prstGeom>
        </p:spPr>
      </p:pic>
      <p:sp>
        <p:nvSpPr>
          <p:cNvPr id="29" name="Text 25"/>
          <p:cNvSpPr/>
          <p:nvPr/>
        </p:nvSpPr>
        <p:spPr>
          <a:xfrm>
            <a:off x="1298448" y="5138928"/>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Every alert has a named owner to route to</a:t>
            </a:r>
            <a:endParaRPr lang="en-US" sz="1300" dirty="0"/>
          </a:p>
        </p:txBody>
      </p:sp>
      <p:sp>
        <p:nvSpPr>
          <p:cNvPr id="30" name="Shape 26"/>
          <p:cNvSpPr/>
          <p:nvPr/>
        </p:nvSpPr>
        <p:spPr>
          <a:xfrm>
            <a:off x="877824" y="5577840"/>
            <a:ext cx="274320" cy="274320"/>
          </a:xfrm>
          <a:prstGeom prst="ellipse">
            <a:avLst/>
          </a:prstGeom>
          <a:solidFill>
            <a:srgbClr val="FFFFFF"/>
          </a:solidFill>
          <a:ln/>
        </p:spPr>
      </p:sp>
      <p:pic>
        <p:nvPicPr>
          <p:cNvPr id="31" name="Image 2" descr="preencoded.png">    </p:cNvPr>
          <p:cNvPicPr>
            <a:picLocks noChangeAspect="1"/>
          </p:cNvPicPr>
          <p:nvPr/>
        </p:nvPicPr>
        <p:blipFill>
          <a:blip r:embed="rId3"/>
          <a:stretch>
            <a:fillRect/>
          </a:stretch>
        </p:blipFill>
        <p:spPr>
          <a:xfrm>
            <a:off x="946404" y="5646420"/>
            <a:ext cx="137160" cy="137160"/>
          </a:xfrm>
          <a:prstGeom prst="rect">
            <a:avLst/>
          </a:prstGeom>
        </p:spPr>
      </p:pic>
      <p:sp>
        <p:nvSpPr>
          <p:cNvPr id="32" name="Text 27"/>
          <p:cNvSpPr/>
          <p:nvPr/>
        </p:nvSpPr>
        <p:spPr>
          <a:xfrm>
            <a:off x="1298448" y="5522976"/>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Budgets are phased, so drift shows up in week one</a:t>
            </a:r>
            <a:endParaRPr lang="en-US" sz="1300" dirty="0"/>
          </a:p>
        </p:txBody>
      </p:sp>
      <p:sp>
        <p:nvSpPr>
          <p:cNvPr id="33" name="Shape 28"/>
          <p:cNvSpPr/>
          <p:nvPr/>
        </p:nvSpPr>
        <p:spPr>
          <a:xfrm>
            <a:off x="877824" y="5961888"/>
            <a:ext cx="274320" cy="274320"/>
          </a:xfrm>
          <a:prstGeom prst="ellipse">
            <a:avLst/>
          </a:prstGeom>
          <a:solidFill>
            <a:srgbClr val="FFFFFF"/>
          </a:solidFill>
          <a:ln/>
        </p:spPr>
      </p:sp>
      <p:pic>
        <p:nvPicPr>
          <p:cNvPr id="34" name="Image 3" descr="preencoded.png">    </p:cNvPr>
          <p:cNvPicPr>
            <a:picLocks noChangeAspect="1"/>
          </p:cNvPicPr>
          <p:nvPr/>
        </p:nvPicPr>
        <p:blipFill>
          <a:blip r:embed="rId4"/>
          <a:stretch>
            <a:fillRect/>
          </a:stretch>
        </p:blipFill>
        <p:spPr>
          <a:xfrm>
            <a:off x="946404" y="6030468"/>
            <a:ext cx="137160" cy="137160"/>
          </a:xfrm>
          <a:prstGeom prst="rect">
            <a:avLst/>
          </a:prstGeom>
        </p:spPr>
      </p:pic>
      <p:sp>
        <p:nvSpPr>
          <p:cNvPr id="35" name="Text 29"/>
          <p:cNvSpPr/>
          <p:nvPr/>
        </p:nvSpPr>
        <p:spPr>
          <a:xfrm>
            <a:off x="1298448" y="5907024"/>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Quotas cap the worst case while someone investigates</a:t>
            </a:r>
            <a:endParaRPr lang="en-US" sz="1300" dirty="0"/>
          </a:p>
        </p:txBody>
      </p:sp>
      <p:sp>
        <p:nvSpPr>
          <p:cNvPr id="36" name="Shape 30"/>
          <p:cNvSpPr/>
          <p:nvPr/>
        </p:nvSpPr>
        <p:spPr>
          <a:xfrm>
            <a:off x="7525512" y="4297680"/>
            <a:ext cx="4114800" cy="2011680"/>
          </a:xfrm>
          <a:prstGeom prst="roundRect">
            <a:avLst>
              <a:gd name="adj" fmla="val 4091"/>
            </a:avLst>
          </a:prstGeom>
          <a:solidFill>
            <a:srgbClr val="1F2936"/>
          </a:solidFill>
          <a:ln/>
          <a:effectLst>
            <a:outerShdw sx="100000" sy="100000" kx="0" ky="0" algn="bl" rotWithShape="0" blurRad="127000" dist="25400" dir="5400000">
              <a:srgbClr val="8C99A8">
                <a:alpha val="16000"/>
              </a:srgbClr>
            </a:outerShdw>
          </a:effectLst>
        </p:spPr>
      </p:sp>
      <p:sp>
        <p:nvSpPr>
          <p:cNvPr id="37" name="Text 31"/>
          <p:cNvSpPr/>
          <p:nvPr/>
        </p:nvSpPr>
        <p:spPr>
          <a:xfrm>
            <a:off x="7818120" y="4462272"/>
            <a:ext cx="32004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point</a:t>
            </a:r>
            <a:endParaRPr lang="en-US" sz="1200" dirty="0"/>
          </a:p>
        </p:txBody>
      </p:sp>
      <p:sp>
        <p:nvSpPr>
          <p:cNvPr id="38" name="Text 32"/>
          <p:cNvSpPr/>
          <p:nvPr/>
        </p:nvSpPr>
        <p:spPr>
          <a:xfrm>
            <a:off x="7818120" y="4828032"/>
            <a:ext cx="3529584" cy="1280160"/>
          </a:xfrm>
          <a:prstGeom prst="rect">
            <a:avLst/>
          </a:prstGeom>
          <a:noFill/>
          <a:ln/>
        </p:spPr>
        <p:txBody>
          <a:bodyPr wrap="square" lIns="0" tIns="0" rIns="0" bIns="0" rtlCol="0" anchor="t"/>
          <a:lstStyle/>
          <a:p>
            <a:pPr indent="0" marL="0">
              <a:lnSpc>
                <a:spcPts val="2200"/>
              </a:lnSpc>
              <a:buNone/>
            </a:pPr>
            <a:r>
              <a:rPr lang="en-US" sz="1550" i="1" dirty="0">
                <a:solidFill>
                  <a:srgbClr val="FFFFFF"/>
                </a:solidFill>
                <a:latin typeface="Cambria" pitchFamily="34" charset="0"/>
                <a:ea typeface="Cambria" pitchFamily="34" charset="-122"/>
                <a:cs typeface="Cambria" pitchFamily="34" charset="-120"/>
              </a:rPr>
              <a:t>The goal is not a smaller invoice. It is an invoice with nothing in it you have not already seen, explained and decided about.</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THE AI LINE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AI is repeating the cloud journey, at speed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three failures — no owner, no attribution, no ceiling — arriving on a much shorter clock.</a:t>
            </a:r>
            <a:endParaRPr lang="en-US" sz="1500" dirty="0"/>
          </a:p>
        </p:txBody>
      </p:sp>
      <p:sp>
        <p:nvSpPr>
          <p:cNvPr id="5" name="Shape 3"/>
          <p:cNvSpPr/>
          <p:nvPr/>
        </p:nvSpPr>
        <p:spPr>
          <a:xfrm>
            <a:off x="548640" y="2121408"/>
            <a:ext cx="2587752" cy="2194560"/>
          </a:xfrm>
          <a:prstGeom prst="roundRect">
            <a:avLst>
              <a:gd name="adj" fmla="val 3750"/>
            </a:avLst>
          </a:prstGeom>
          <a:solidFill>
            <a:srgbClr val="F1F3F6"/>
          </a:solidFill>
          <a:ln/>
        </p:spPr>
      </p:sp>
      <p:sp>
        <p:nvSpPr>
          <p:cNvPr id="6" name="Text 4"/>
          <p:cNvSpPr/>
          <p:nvPr/>
        </p:nvSpPr>
        <p:spPr>
          <a:xfrm>
            <a:off x="804672" y="2286000"/>
            <a:ext cx="2103120" cy="640080"/>
          </a:xfrm>
          <a:prstGeom prst="rect">
            <a:avLst/>
          </a:prstGeom>
          <a:noFill/>
          <a:ln/>
        </p:spPr>
        <p:txBody>
          <a:bodyPr wrap="square" lIns="0" tIns="0" rIns="0" bIns="0" rtlCol="0" anchor="ctr"/>
          <a:lstStyle/>
          <a:p>
            <a:pPr indent="0" marL="0">
              <a:buNone/>
            </a:pPr>
            <a:r>
              <a:rPr lang="en-US" sz="3200" b="1" dirty="0">
                <a:solidFill>
                  <a:srgbClr val="A6432F"/>
                </a:solidFill>
                <a:latin typeface="Cambria" pitchFamily="34" charset="0"/>
                <a:ea typeface="Cambria" pitchFamily="34" charset="-122"/>
                <a:cs typeface="Cambria" pitchFamily="34" charset="-120"/>
              </a:rPr>
              <a:t>72%</a:t>
            </a:r>
            <a:endParaRPr lang="en-US" sz="3200" dirty="0"/>
          </a:p>
        </p:txBody>
      </p:sp>
      <p:sp>
        <p:nvSpPr>
          <p:cNvPr id="7" name="Text 5"/>
          <p:cNvSpPr/>
          <p:nvPr/>
        </p:nvSpPr>
        <p:spPr>
          <a:xfrm>
            <a:off x="80467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hit an unexpected AI bill in the past year</a:t>
            </a:r>
            <a:endParaRPr lang="en-US" sz="1300" dirty="0"/>
          </a:p>
        </p:txBody>
      </p:sp>
      <p:sp>
        <p:nvSpPr>
          <p:cNvPr id="8" name="Text 6"/>
          <p:cNvSpPr/>
          <p:nvPr/>
        </p:nvSpPr>
        <p:spPr>
          <a:xfrm>
            <a:off x="80467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One in three, more than once.</a:t>
            </a:r>
            <a:endParaRPr lang="en-US" sz="1100" dirty="0"/>
          </a:p>
        </p:txBody>
      </p:sp>
      <p:sp>
        <p:nvSpPr>
          <p:cNvPr id="9" name="Shape 7"/>
          <p:cNvSpPr/>
          <p:nvPr/>
        </p:nvSpPr>
        <p:spPr>
          <a:xfrm>
            <a:off x="3383280" y="2121408"/>
            <a:ext cx="2587752" cy="2194560"/>
          </a:xfrm>
          <a:prstGeom prst="roundRect">
            <a:avLst>
              <a:gd name="adj" fmla="val 3750"/>
            </a:avLst>
          </a:prstGeom>
          <a:solidFill>
            <a:srgbClr val="F1F3F6"/>
          </a:solidFill>
          <a:ln/>
        </p:spPr>
      </p:sp>
      <p:sp>
        <p:nvSpPr>
          <p:cNvPr id="10" name="Text 8"/>
          <p:cNvSpPr/>
          <p:nvPr/>
        </p:nvSpPr>
        <p:spPr>
          <a:xfrm>
            <a:off x="3639312" y="2286000"/>
            <a:ext cx="2103120" cy="640080"/>
          </a:xfrm>
          <a:prstGeom prst="rect">
            <a:avLst/>
          </a:prstGeom>
          <a:noFill/>
          <a:ln/>
        </p:spPr>
        <p:txBody>
          <a:bodyPr wrap="square" lIns="0" tIns="0" rIns="0" bIns="0" rtlCol="0" anchor="ctr"/>
          <a:lstStyle/>
          <a:p>
            <a:pPr indent="0" marL="0">
              <a:buNone/>
            </a:pPr>
            <a:r>
              <a:rPr lang="en-US" sz="3200" b="1" dirty="0">
                <a:solidFill>
                  <a:srgbClr val="E39B2C"/>
                </a:solidFill>
                <a:latin typeface="Cambria" pitchFamily="34" charset="0"/>
                <a:ea typeface="Cambria" pitchFamily="34" charset="-122"/>
                <a:cs typeface="Cambria" pitchFamily="34" charset="-120"/>
              </a:rPr>
              <a:t>52%</a:t>
            </a:r>
            <a:endParaRPr lang="en-US" sz="3200" dirty="0"/>
          </a:p>
        </p:txBody>
      </p:sp>
      <p:sp>
        <p:nvSpPr>
          <p:cNvPr id="11" name="Text 9"/>
          <p:cNvSpPr/>
          <p:nvPr/>
        </p:nvSpPr>
        <p:spPr>
          <a:xfrm>
            <a:off x="363931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have no clear owner for AI cost</a:t>
            </a:r>
            <a:endParaRPr lang="en-US" sz="1300" dirty="0"/>
          </a:p>
        </p:txBody>
      </p:sp>
      <p:sp>
        <p:nvSpPr>
          <p:cNvPr id="12" name="Text 10"/>
          <p:cNvSpPr/>
          <p:nvPr/>
        </p:nvSpPr>
        <p:spPr>
          <a:xfrm>
            <a:off x="363931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Split across engineering, FinOps, finance and IT.</a:t>
            </a:r>
            <a:endParaRPr lang="en-US" sz="1100" dirty="0"/>
          </a:p>
        </p:txBody>
      </p:sp>
      <p:sp>
        <p:nvSpPr>
          <p:cNvPr id="13" name="Shape 11"/>
          <p:cNvSpPr/>
          <p:nvPr/>
        </p:nvSpPr>
        <p:spPr>
          <a:xfrm>
            <a:off x="6217920" y="2121408"/>
            <a:ext cx="2587752" cy="2194560"/>
          </a:xfrm>
          <a:prstGeom prst="roundRect">
            <a:avLst>
              <a:gd name="adj" fmla="val 3750"/>
            </a:avLst>
          </a:prstGeom>
          <a:solidFill>
            <a:srgbClr val="F1F3F6"/>
          </a:solidFill>
          <a:ln/>
        </p:spPr>
      </p:sp>
      <p:sp>
        <p:nvSpPr>
          <p:cNvPr id="14" name="Text 12"/>
          <p:cNvSpPr/>
          <p:nvPr/>
        </p:nvSpPr>
        <p:spPr>
          <a:xfrm>
            <a:off x="6473952" y="2286000"/>
            <a:ext cx="2103120" cy="640080"/>
          </a:xfrm>
          <a:prstGeom prst="rect">
            <a:avLst/>
          </a:prstGeom>
          <a:noFill/>
          <a:ln/>
        </p:spPr>
        <p:txBody>
          <a:bodyPr wrap="square" lIns="0" tIns="0" rIns="0" bIns="0" rtlCol="0" anchor="ctr"/>
          <a:lstStyle/>
          <a:p>
            <a:pPr indent="0" marL="0">
              <a:buNone/>
            </a:pPr>
            <a:r>
              <a:rPr lang="en-US" sz="3200" b="1" dirty="0">
                <a:solidFill>
                  <a:srgbClr val="E39B2C"/>
                </a:solidFill>
                <a:latin typeface="Cambria" pitchFamily="34" charset="0"/>
                <a:ea typeface="Cambria" pitchFamily="34" charset="-122"/>
                <a:cs typeface="Cambria" pitchFamily="34" charset="-120"/>
              </a:rPr>
              <a:t>4 in 5</a:t>
            </a:r>
            <a:endParaRPr lang="en-US" sz="3200" dirty="0"/>
          </a:p>
        </p:txBody>
      </p:sp>
      <p:sp>
        <p:nvSpPr>
          <p:cNvPr id="15" name="Text 13"/>
          <p:cNvSpPr/>
          <p:nvPr/>
        </p:nvSpPr>
        <p:spPr>
          <a:xfrm>
            <a:off x="647395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need a day or more to trace a spike to its source</a:t>
            </a:r>
            <a:endParaRPr lang="en-US" sz="1300" dirty="0"/>
          </a:p>
        </p:txBody>
      </p:sp>
      <p:sp>
        <p:nvSpPr>
          <p:cNvPr id="16" name="Text 14"/>
          <p:cNvSpPr/>
          <p:nvPr/>
        </p:nvSpPr>
        <p:spPr>
          <a:xfrm>
            <a:off x="647395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Only about one in five manage it within hours.</a:t>
            </a:r>
            <a:endParaRPr lang="en-US" sz="1100" dirty="0"/>
          </a:p>
        </p:txBody>
      </p:sp>
      <p:sp>
        <p:nvSpPr>
          <p:cNvPr id="17" name="Shape 15"/>
          <p:cNvSpPr/>
          <p:nvPr/>
        </p:nvSpPr>
        <p:spPr>
          <a:xfrm>
            <a:off x="9052560" y="2121408"/>
            <a:ext cx="2587752" cy="2194560"/>
          </a:xfrm>
          <a:prstGeom prst="roundRect">
            <a:avLst>
              <a:gd name="adj" fmla="val 3750"/>
            </a:avLst>
          </a:prstGeom>
          <a:solidFill>
            <a:srgbClr val="F1F3F6"/>
          </a:solidFill>
          <a:ln/>
        </p:spPr>
      </p:sp>
      <p:sp>
        <p:nvSpPr>
          <p:cNvPr id="18" name="Text 16"/>
          <p:cNvSpPr/>
          <p:nvPr/>
        </p:nvSpPr>
        <p:spPr>
          <a:xfrm>
            <a:off x="9308592" y="2286000"/>
            <a:ext cx="2103120" cy="640080"/>
          </a:xfrm>
          <a:prstGeom prst="rect">
            <a:avLst/>
          </a:prstGeom>
          <a:noFill/>
          <a:ln/>
        </p:spPr>
        <p:txBody>
          <a:bodyPr wrap="square" lIns="0" tIns="0" rIns="0" bIns="0" rtlCol="0" anchor="ctr"/>
          <a:lstStyle/>
          <a:p>
            <a:pPr indent="0" marL="0">
              <a:buNone/>
            </a:pPr>
            <a:r>
              <a:rPr lang="en-US" sz="3200" b="1" dirty="0">
                <a:solidFill>
                  <a:srgbClr val="5C6675"/>
                </a:solidFill>
                <a:latin typeface="Cambria" pitchFamily="34" charset="0"/>
                <a:ea typeface="Cambria" pitchFamily="34" charset="-122"/>
                <a:cs typeface="Cambria" pitchFamily="34" charset="-120"/>
              </a:rPr>
              <a:t>26%</a:t>
            </a:r>
            <a:endParaRPr lang="en-US" sz="3200" dirty="0"/>
          </a:p>
        </p:txBody>
      </p:sp>
      <p:sp>
        <p:nvSpPr>
          <p:cNvPr id="19" name="Text 17"/>
          <p:cNvSpPr/>
          <p:nvPr/>
        </p:nvSpPr>
        <p:spPr>
          <a:xfrm>
            <a:off x="930859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of AI spend estimated wasted</a:t>
            </a:r>
            <a:endParaRPr lang="en-US" sz="1300" dirty="0"/>
          </a:p>
        </p:txBody>
      </p:sp>
      <p:sp>
        <p:nvSpPr>
          <p:cNvPr id="20" name="Text 18"/>
          <p:cNvSpPr/>
          <p:nvPr/>
        </p:nvSpPr>
        <p:spPr>
          <a:xfrm>
            <a:off x="930859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Respondents' own estimate, not a measurement.</a:t>
            </a:r>
            <a:endParaRPr lang="en-US" sz="1100" dirty="0"/>
          </a:p>
        </p:txBody>
      </p:sp>
      <p:sp>
        <p:nvSpPr>
          <p:cNvPr id="21" name="Shape 19"/>
          <p:cNvSpPr/>
          <p:nvPr/>
        </p:nvSpPr>
        <p:spPr>
          <a:xfrm>
            <a:off x="548640" y="4572000"/>
            <a:ext cx="6675120" cy="1481328"/>
          </a:xfrm>
          <a:prstGeom prst="roundRect">
            <a:avLst>
              <a:gd name="adj" fmla="val 5556"/>
            </a:avLst>
          </a:prstGeom>
          <a:solidFill>
            <a:srgbClr val="1F2936"/>
          </a:solidFill>
          <a:ln/>
          <a:effectLst>
            <a:outerShdw sx="100000" sy="100000" kx="0" ky="0" algn="bl" rotWithShape="0" blurRad="127000" dist="25400" dir="5400000">
              <a:srgbClr val="8C99A8">
                <a:alpha val="16000"/>
              </a:srgbClr>
            </a:outerShdw>
          </a:effectLst>
        </p:spPr>
      </p:sp>
      <p:sp>
        <p:nvSpPr>
          <p:cNvPr id="22" name="Text 20"/>
          <p:cNvSpPr/>
          <p:nvPr/>
        </p:nvSpPr>
        <p:spPr>
          <a:xfrm>
            <a:off x="859536" y="4736592"/>
            <a:ext cx="45720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number to manage</a:t>
            </a:r>
            <a:endParaRPr lang="en-US" sz="1200" dirty="0"/>
          </a:p>
        </p:txBody>
      </p:sp>
      <p:sp>
        <p:nvSpPr>
          <p:cNvPr id="23" name="Text 21"/>
          <p:cNvSpPr/>
          <p:nvPr/>
        </p:nvSpPr>
        <p:spPr>
          <a:xfrm>
            <a:off x="859536" y="5065776"/>
            <a:ext cx="6053328" cy="877824"/>
          </a:xfrm>
          <a:prstGeom prst="rect">
            <a:avLst/>
          </a:prstGeom>
          <a:noFill/>
          <a:ln/>
        </p:spPr>
        <p:txBody>
          <a:bodyPr wrap="square" lIns="0" tIns="0" rIns="0" bIns="0" rtlCol="0" anchor="t"/>
          <a:lstStyle/>
          <a:p>
            <a:pPr indent="0" marL="0">
              <a:lnSpc>
                <a:spcPts val="1900"/>
              </a:lnSpc>
              <a:buNone/>
            </a:pPr>
            <a:r>
              <a:rPr lang="en-US" sz="1350" b="1" dirty="0">
                <a:solidFill>
                  <a:srgbClr val="FFFFFF"/>
                </a:solidFill>
                <a:latin typeface="Calibri" pitchFamily="34" charset="0"/>
                <a:ea typeface="Calibri" pitchFamily="34" charset="-122"/>
                <a:cs typeface="Calibri" pitchFamily="34" charset="-120"/>
              </a:rPr>
              <a:t>Time to attribute a spike. </a:t>
            </a:r>
            <a:pPr indent="0" marL="0">
              <a:lnSpc>
                <a:spcPts val="1900"/>
              </a:lnSpc>
              <a:buNone/>
            </a:pPr>
            <a:r>
              <a:rPr lang="en-US" sz="1350" dirty="0">
                <a:solidFill>
                  <a:srgbClr val="9EABBA"/>
                </a:solidFill>
                <a:latin typeface="Calibri" pitchFamily="34" charset="0"/>
                <a:ea typeface="Calibri" pitchFamily="34" charset="-122"/>
                <a:cs typeface="Calibri" pitchFamily="34" charset="-120"/>
              </a:rPr>
              <a:t>It turns an argument about governance into a number we can move — days today, hours as the target — and it is the one metric a runaway AI workload is measured against.</a:t>
            </a:r>
            <a:endParaRPr lang="en-US" sz="1350" dirty="0"/>
          </a:p>
        </p:txBody>
      </p:sp>
      <p:sp>
        <p:nvSpPr>
          <p:cNvPr id="24" name="Shape 22"/>
          <p:cNvSpPr/>
          <p:nvPr/>
        </p:nvSpPr>
        <p:spPr>
          <a:xfrm>
            <a:off x="7525512" y="4572000"/>
            <a:ext cx="4114800" cy="1481328"/>
          </a:xfrm>
          <a:prstGeom prst="roundRect">
            <a:avLst>
              <a:gd name="adj" fmla="val 5556"/>
            </a:avLst>
          </a:prstGeom>
          <a:solidFill>
            <a:srgbClr val="FBEFD8"/>
          </a:solidFill>
          <a:ln/>
        </p:spPr>
      </p:sp>
      <p:sp>
        <p:nvSpPr>
          <p:cNvPr id="25" name="Text 23"/>
          <p:cNvSpPr/>
          <p:nvPr/>
        </p:nvSpPr>
        <p:spPr>
          <a:xfrm>
            <a:off x="7836408" y="4736592"/>
            <a:ext cx="36576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Why a rollup will not do it</a:t>
            </a:r>
            <a:endParaRPr lang="en-US" sz="1200" dirty="0"/>
          </a:p>
        </p:txBody>
      </p:sp>
      <p:sp>
        <p:nvSpPr>
          <p:cNvPr id="26" name="Text 24"/>
          <p:cNvSpPr/>
          <p:nvPr/>
        </p:nvSpPr>
        <p:spPr>
          <a:xfrm>
            <a:off x="7836408" y="5065776"/>
            <a:ext cx="3529584" cy="877824"/>
          </a:xfrm>
          <a:prstGeom prst="rect">
            <a:avLst/>
          </a:prstGeom>
          <a:noFill/>
          <a:ln/>
        </p:spPr>
        <p:txBody>
          <a:bodyPr wrap="square" lIns="0" tIns="0" rIns="0" bIns="0" rtlCol="0" anchor="t"/>
          <a:lstStyle/>
          <a:p>
            <a:pPr indent="0" marL="0">
              <a:lnSpc>
                <a:spcPts val="1700"/>
              </a:lnSpc>
              <a:buNone/>
            </a:pPr>
            <a:r>
              <a:rPr lang="en-US" sz="1250" dirty="0">
                <a:solidFill>
                  <a:srgbClr val="6B4A0E"/>
                </a:solidFill>
                <a:latin typeface="Calibri" pitchFamily="34" charset="0"/>
                <a:ea typeface="Calibri" pitchFamily="34" charset="-122"/>
                <a:cs typeface="Calibri" pitchFamily="34" charset="-120"/>
              </a:rPr>
              <a:t>AI waste hides in prompt design, model choice and retry logic. A monthly bill by resource cannot name the caller — that needs per-consumer token attribution.</a:t>
            </a:r>
            <a:endParaRPr lang="en-US" sz="1250" dirty="0"/>
          </a:p>
        </p:txBody>
      </p:sp>
      <p:sp>
        <p:nvSpPr>
          <p:cNvPr id="27" name="Text 25"/>
          <p:cNvSpPr/>
          <p:nvPr/>
        </p:nvSpPr>
        <p:spPr>
          <a:xfrm>
            <a:off x="548640" y="6199632"/>
            <a:ext cx="11091672" cy="457200"/>
          </a:xfrm>
          <a:prstGeom prst="rect">
            <a:avLst/>
          </a:prstGeom>
          <a:noFill/>
          <a:ln/>
        </p:spPr>
        <p:txBody>
          <a:bodyPr wrap="square" lIns="0" tIns="0" rIns="0" bIns="0" rtlCol="0" anchor="ctr"/>
          <a:lstStyle/>
          <a:p>
            <a:pPr indent="0" marL="0">
              <a:buNone/>
            </a:pPr>
            <a:r>
              <a:rPr lang="en-US" sz="1050" dirty="0">
                <a:solidFill>
                  <a:srgbClr val="5C6675"/>
                </a:solidFill>
                <a:latin typeface="Calibri" pitchFamily="34" charset="0"/>
                <a:ea typeface="Calibri" pitchFamily="34" charset="-122"/>
                <a:cs typeface="Calibri" pitchFamily="34" charset="-120"/>
              </a:rPr>
              <a:t>Harness / Sapio Research, 2026 State of AI in FinOps — 700 engineering leaders and practitioners, May–June 2026. Vendor-sponsored research; the waste and maturity figures are self-reported estimates.</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OPERATE — RUNNING THE PRACTICE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Ship the insight, don't just publish it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report tells someone a number. Only a change in what they do next reaches the bill.</a:t>
            </a:r>
            <a:endParaRPr lang="en-US" sz="1500" dirty="0"/>
          </a:p>
        </p:txBody>
      </p:sp>
      <p:sp>
        <p:nvSpPr>
          <p:cNvPr id="5" name="Shape 3"/>
          <p:cNvSpPr/>
          <p:nvPr/>
        </p:nvSpPr>
        <p:spPr>
          <a:xfrm>
            <a:off x="548640" y="2286000"/>
            <a:ext cx="1700784" cy="960120"/>
          </a:xfrm>
          <a:prstGeom prst="roundRect">
            <a:avLst>
              <a:gd name="adj" fmla="val 8571"/>
            </a:avLst>
          </a:prstGeom>
          <a:solidFill>
            <a:srgbClr val="F1F3F6"/>
          </a:solidFill>
          <a:ln/>
        </p:spPr>
      </p:sp>
      <p:sp>
        <p:nvSpPr>
          <p:cNvPr id="6" name="Text 4"/>
          <p:cNvSpPr/>
          <p:nvPr/>
        </p:nvSpPr>
        <p:spPr>
          <a:xfrm>
            <a:off x="54864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Finding</a:t>
            </a:r>
            <a:endParaRPr lang="en-US" sz="1350" dirty="0"/>
          </a:p>
        </p:txBody>
      </p:sp>
      <p:sp>
        <p:nvSpPr>
          <p:cNvPr id="7" name="Text 5"/>
          <p:cNvSpPr/>
          <p:nvPr/>
        </p:nvSpPr>
        <p:spPr>
          <a:xfrm>
            <a:off x="64008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the dashboard flags it</a:t>
            </a:r>
            <a:endParaRPr lang="en-US" sz="1100" dirty="0"/>
          </a:p>
        </p:txBody>
      </p:sp>
      <p:sp>
        <p:nvSpPr>
          <p:cNvPr id="8" name="Shape 6"/>
          <p:cNvSpPr/>
          <p:nvPr/>
        </p:nvSpPr>
        <p:spPr>
          <a:xfrm>
            <a:off x="2267712" y="2688336"/>
            <a:ext cx="137160" cy="146304"/>
          </a:xfrm>
          <a:prstGeom prst="rightArrow">
            <a:avLst/>
          </a:prstGeom>
          <a:solidFill>
            <a:srgbClr val="C3CBD5"/>
          </a:solidFill>
          <a:ln/>
        </p:spPr>
      </p:sp>
      <p:sp>
        <p:nvSpPr>
          <p:cNvPr id="9" name="Shape 7"/>
          <p:cNvSpPr/>
          <p:nvPr/>
        </p:nvSpPr>
        <p:spPr>
          <a:xfrm>
            <a:off x="2423160" y="2286000"/>
            <a:ext cx="1700784" cy="960120"/>
          </a:xfrm>
          <a:prstGeom prst="roundRect">
            <a:avLst>
              <a:gd name="adj" fmla="val 8571"/>
            </a:avLst>
          </a:prstGeom>
          <a:solidFill>
            <a:srgbClr val="F1F3F6"/>
          </a:solidFill>
          <a:ln/>
        </p:spPr>
      </p:sp>
      <p:sp>
        <p:nvSpPr>
          <p:cNvPr id="10" name="Text 8"/>
          <p:cNvSpPr/>
          <p:nvPr/>
        </p:nvSpPr>
        <p:spPr>
          <a:xfrm>
            <a:off x="242316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Named owner</a:t>
            </a:r>
            <a:endParaRPr lang="en-US" sz="1350" dirty="0"/>
          </a:p>
        </p:txBody>
      </p:sp>
      <p:sp>
        <p:nvSpPr>
          <p:cNvPr id="11" name="Text 9"/>
          <p:cNvSpPr/>
          <p:nvPr/>
        </p:nvSpPr>
        <p:spPr>
          <a:xfrm>
            <a:off x="251460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one person, not a team</a:t>
            </a:r>
            <a:endParaRPr lang="en-US" sz="1100" dirty="0"/>
          </a:p>
        </p:txBody>
      </p:sp>
      <p:sp>
        <p:nvSpPr>
          <p:cNvPr id="12" name="Shape 10"/>
          <p:cNvSpPr/>
          <p:nvPr/>
        </p:nvSpPr>
        <p:spPr>
          <a:xfrm>
            <a:off x="4142232" y="2688336"/>
            <a:ext cx="137160" cy="146304"/>
          </a:xfrm>
          <a:prstGeom prst="rightArrow">
            <a:avLst/>
          </a:prstGeom>
          <a:solidFill>
            <a:srgbClr val="C3CBD5"/>
          </a:solidFill>
          <a:ln/>
        </p:spPr>
      </p:sp>
      <p:sp>
        <p:nvSpPr>
          <p:cNvPr id="13" name="Shape 11"/>
          <p:cNvSpPr/>
          <p:nvPr/>
        </p:nvSpPr>
        <p:spPr>
          <a:xfrm>
            <a:off x="4297680" y="2286000"/>
            <a:ext cx="1700784" cy="960120"/>
          </a:xfrm>
          <a:prstGeom prst="roundRect">
            <a:avLst>
              <a:gd name="adj" fmla="val 8571"/>
            </a:avLst>
          </a:prstGeom>
          <a:solidFill>
            <a:srgbClr val="F1F3F6"/>
          </a:solidFill>
          <a:ln/>
        </p:spPr>
      </p:sp>
      <p:sp>
        <p:nvSpPr>
          <p:cNvPr id="14" name="Text 12"/>
          <p:cNvSpPr/>
          <p:nvPr/>
        </p:nvSpPr>
        <p:spPr>
          <a:xfrm>
            <a:off x="429768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Sized</a:t>
            </a:r>
            <a:endParaRPr lang="en-US" sz="1350" dirty="0"/>
          </a:p>
        </p:txBody>
      </p:sp>
      <p:sp>
        <p:nvSpPr>
          <p:cNvPr id="15" name="Text 13"/>
          <p:cNvSpPr/>
          <p:nvPr/>
        </p:nvSpPr>
        <p:spPr>
          <a:xfrm>
            <a:off x="438912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what it is worth</a:t>
            </a:r>
            <a:endParaRPr lang="en-US" sz="1100" dirty="0"/>
          </a:p>
        </p:txBody>
      </p:sp>
      <p:sp>
        <p:nvSpPr>
          <p:cNvPr id="16" name="Shape 14"/>
          <p:cNvSpPr/>
          <p:nvPr/>
        </p:nvSpPr>
        <p:spPr>
          <a:xfrm>
            <a:off x="6016752" y="2688336"/>
            <a:ext cx="137160" cy="146304"/>
          </a:xfrm>
          <a:prstGeom prst="rightArrow">
            <a:avLst/>
          </a:prstGeom>
          <a:solidFill>
            <a:srgbClr val="C3CBD5"/>
          </a:solidFill>
          <a:ln/>
        </p:spPr>
      </p:sp>
      <p:sp>
        <p:nvSpPr>
          <p:cNvPr id="17" name="Shape 15"/>
          <p:cNvSpPr/>
          <p:nvPr/>
        </p:nvSpPr>
        <p:spPr>
          <a:xfrm>
            <a:off x="6172200" y="2286000"/>
            <a:ext cx="1700784" cy="960120"/>
          </a:xfrm>
          <a:prstGeom prst="roundRect">
            <a:avLst>
              <a:gd name="adj" fmla="val 8571"/>
            </a:avLst>
          </a:prstGeom>
          <a:solidFill>
            <a:srgbClr val="F1F3F6"/>
          </a:solidFill>
          <a:ln/>
        </p:spPr>
      </p:sp>
      <p:sp>
        <p:nvSpPr>
          <p:cNvPr id="18" name="Text 16"/>
          <p:cNvSpPr/>
          <p:nvPr/>
        </p:nvSpPr>
        <p:spPr>
          <a:xfrm>
            <a:off x="617220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Target date</a:t>
            </a:r>
            <a:endParaRPr lang="en-US" sz="1350" dirty="0"/>
          </a:p>
        </p:txBody>
      </p:sp>
      <p:sp>
        <p:nvSpPr>
          <p:cNvPr id="19" name="Text 17"/>
          <p:cNvSpPr/>
          <p:nvPr/>
        </p:nvSpPr>
        <p:spPr>
          <a:xfrm>
            <a:off x="626364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when, not someday</a:t>
            </a:r>
            <a:endParaRPr lang="en-US" sz="1100" dirty="0"/>
          </a:p>
        </p:txBody>
      </p:sp>
      <p:sp>
        <p:nvSpPr>
          <p:cNvPr id="20" name="Shape 18"/>
          <p:cNvSpPr/>
          <p:nvPr/>
        </p:nvSpPr>
        <p:spPr>
          <a:xfrm>
            <a:off x="7891272" y="2688336"/>
            <a:ext cx="137160" cy="146304"/>
          </a:xfrm>
          <a:prstGeom prst="rightArrow">
            <a:avLst/>
          </a:prstGeom>
          <a:solidFill>
            <a:srgbClr val="C3CBD5"/>
          </a:solidFill>
          <a:ln/>
        </p:spPr>
      </p:sp>
      <p:sp>
        <p:nvSpPr>
          <p:cNvPr id="21" name="Shape 19"/>
          <p:cNvSpPr/>
          <p:nvPr/>
        </p:nvSpPr>
        <p:spPr>
          <a:xfrm>
            <a:off x="8046720" y="2286000"/>
            <a:ext cx="1700784" cy="960120"/>
          </a:xfrm>
          <a:prstGeom prst="roundRect">
            <a:avLst>
              <a:gd name="adj" fmla="val 8571"/>
            </a:avLst>
          </a:prstGeom>
          <a:solidFill>
            <a:srgbClr val="F1F3F6"/>
          </a:solidFill>
          <a:ln/>
        </p:spPr>
      </p:sp>
      <p:sp>
        <p:nvSpPr>
          <p:cNvPr id="22" name="Text 20"/>
          <p:cNvSpPr/>
          <p:nvPr/>
        </p:nvSpPr>
        <p:spPr>
          <a:xfrm>
            <a:off x="804672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Reviewed</a:t>
            </a:r>
            <a:endParaRPr lang="en-US" sz="1350" dirty="0"/>
          </a:p>
        </p:txBody>
      </p:sp>
      <p:sp>
        <p:nvSpPr>
          <p:cNvPr id="23" name="Text 21"/>
          <p:cNvSpPr/>
          <p:nvPr/>
        </p:nvSpPr>
        <p:spPr>
          <a:xfrm>
            <a:off x="813816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did it happen</a:t>
            </a:r>
            <a:endParaRPr lang="en-US" sz="1100" dirty="0"/>
          </a:p>
        </p:txBody>
      </p:sp>
      <p:sp>
        <p:nvSpPr>
          <p:cNvPr id="24" name="Shape 22"/>
          <p:cNvSpPr/>
          <p:nvPr/>
        </p:nvSpPr>
        <p:spPr>
          <a:xfrm>
            <a:off x="9765792" y="2688336"/>
            <a:ext cx="137160" cy="146304"/>
          </a:xfrm>
          <a:prstGeom prst="rightArrow">
            <a:avLst/>
          </a:prstGeom>
          <a:solidFill>
            <a:srgbClr val="C3CBD5"/>
          </a:solidFill>
          <a:ln/>
        </p:spPr>
      </p:sp>
      <p:sp>
        <p:nvSpPr>
          <p:cNvPr id="25" name="Shape 23"/>
          <p:cNvSpPr/>
          <p:nvPr/>
        </p:nvSpPr>
        <p:spPr>
          <a:xfrm>
            <a:off x="9921240" y="2286000"/>
            <a:ext cx="1700784" cy="960120"/>
          </a:xfrm>
          <a:prstGeom prst="roundRect">
            <a:avLst>
              <a:gd name="adj" fmla="val 8571"/>
            </a:avLst>
          </a:prstGeom>
          <a:solidFill>
            <a:srgbClr val="1F2936"/>
          </a:solidFill>
          <a:ln/>
        </p:spPr>
      </p:sp>
      <p:sp>
        <p:nvSpPr>
          <p:cNvPr id="26" name="Text 24"/>
          <p:cNvSpPr/>
          <p:nvPr/>
        </p:nvSpPr>
        <p:spPr>
          <a:xfrm>
            <a:off x="9921240" y="2395728"/>
            <a:ext cx="1700784" cy="329184"/>
          </a:xfrm>
          <a:prstGeom prst="rect">
            <a:avLst/>
          </a:prstGeom>
          <a:noFill/>
          <a:ln/>
        </p:spPr>
        <p:txBody>
          <a:bodyPr wrap="square" lIns="0" tIns="0" rIns="0" bIns="0" rtlCol="0" anchor="ctr"/>
          <a:lstStyle/>
          <a:p>
            <a:pPr algn="ctr" indent="0" marL="0">
              <a:buNone/>
            </a:pPr>
            <a:r>
              <a:rPr lang="en-US" sz="1350" b="1" dirty="0">
                <a:solidFill>
                  <a:srgbClr val="E39B2C"/>
                </a:solidFill>
                <a:latin typeface="Calibri" pitchFamily="34" charset="0"/>
                <a:ea typeface="Calibri" pitchFamily="34" charset="-122"/>
                <a:cs typeface="Calibri" pitchFamily="34" charset="-120"/>
              </a:rPr>
              <a:t>Realized</a:t>
            </a:r>
            <a:endParaRPr lang="en-US" sz="1350" dirty="0"/>
          </a:p>
        </p:txBody>
      </p:sp>
      <p:sp>
        <p:nvSpPr>
          <p:cNvPr id="27" name="Text 25"/>
          <p:cNvSpPr/>
          <p:nvPr/>
        </p:nvSpPr>
        <p:spPr>
          <a:xfrm>
            <a:off x="1001268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9EABBA"/>
                </a:solidFill>
                <a:latin typeface="Calibri" pitchFamily="34" charset="0"/>
                <a:ea typeface="Calibri" pitchFamily="34" charset="-122"/>
                <a:cs typeface="Calibri" pitchFamily="34" charset="-120"/>
              </a:rPr>
              <a:t>measured on the bill</a:t>
            </a:r>
            <a:endParaRPr lang="en-US" sz="1100" dirty="0"/>
          </a:p>
        </p:txBody>
      </p:sp>
      <p:sp>
        <p:nvSpPr>
          <p:cNvPr id="28" name="Text 26"/>
          <p:cNvSpPr/>
          <p:nvPr/>
        </p:nvSpPr>
        <p:spPr>
          <a:xfrm>
            <a:off x="548640" y="3364992"/>
            <a:ext cx="11091672"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recommendation without an owner and a date is an opinion.</a:t>
            </a:r>
            <a:endParaRPr lang="en-US" sz="1250" dirty="0"/>
          </a:p>
        </p:txBody>
      </p:sp>
      <p:sp>
        <p:nvSpPr>
          <p:cNvPr id="29" name="Shape 27"/>
          <p:cNvSpPr/>
          <p:nvPr/>
        </p:nvSpPr>
        <p:spPr>
          <a:xfrm>
            <a:off x="548640" y="3913632"/>
            <a:ext cx="5394960" cy="2240280"/>
          </a:xfrm>
          <a:prstGeom prst="roundRect">
            <a:avLst>
              <a:gd name="adj" fmla="val 3673"/>
            </a:avLst>
          </a:prstGeom>
          <a:solidFill>
            <a:srgbClr val="F1F3F6"/>
          </a:solidFill>
          <a:ln/>
        </p:spPr>
      </p:sp>
      <p:sp>
        <p:nvSpPr>
          <p:cNvPr id="30" name="Text 28"/>
          <p:cNvSpPr/>
          <p:nvPr/>
        </p:nvSpPr>
        <p:spPr>
          <a:xfrm>
            <a:off x="859536" y="4078224"/>
            <a:ext cx="45720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The difference that matters</a:t>
            </a:r>
            <a:endParaRPr lang="en-US" sz="1200" dirty="0"/>
          </a:p>
        </p:txBody>
      </p:sp>
      <p:sp>
        <p:nvSpPr>
          <p:cNvPr id="31" name="Text 29"/>
          <p:cNvSpPr/>
          <p:nvPr/>
        </p:nvSpPr>
        <p:spPr>
          <a:xfrm>
            <a:off x="859536" y="4425696"/>
            <a:ext cx="4773168" cy="530352"/>
          </a:xfrm>
          <a:prstGeom prst="rect">
            <a:avLst/>
          </a:prstGeom>
          <a:noFill/>
          <a:ln/>
        </p:spPr>
        <p:txBody>
          <a:bodyPr wrap="square" lIns="0" tIns="0" rIns="0" bIns="0" rtlCol="0" anchor="t"/>
          <a:lstStyle/>
          <a:p>
            <a:pPr indent="0" marL="0">
              <a:lnSpc>
                <a:spcPts val="1900"/>
              </a:lnSpc>
              <a:buNone/>
            </a:pPr>
            <a:r>
              <a:rPr lang="en-US" sz="1400" b="1" dirty="0">
                <a:solidFill>
                  <a:srgbClr val="5C6675"/>
                </a:solidFill>
                <a:latin typeface="Calibri" pitchFamily="34" charset="0"/>
                <a:ea typeface="Calibri" pitchFamily="34" charset="-122"/>
                <a:cs typeface="Calibri" pitchFamily="34" charset="-120"/>
              </a:rPr>
              <a:t>A report  </a:t>
            </a:r>
            <a:pPr indent="0" marL="0">
              <a:lnSpc>
                <a:spcPts val="1900"/>
              </a:lnSpc>
              <a:buNone/>
            </a:pPr>
            <a:r>
              <a:rPr lang="en-US" sz="1400" dirty="0">
                <a:solidFill>
                  <a:srgbClr val="5C6675"/>
                </a:solidFill>
                <a:latin typeface="Calibri" pitchFamily="34" charset="0"/>
                <a:ea typeface="Calibri" pitchFamily="34" charset="-122"/>
                <a:cs typeface="Calibri" pitchFamily="34" charset="-120"/>
              </a:rPr>
              <a:t>is finished when the number is right.</a:t>
            </a:r>
            <a:endParaRPr lang="en-US" sz="1400" dirty="0"/>
          </a:p>
        </p:txBody>
      </p:sp>
      <p:sp>
        <p:nvSpPr>
          <p:cNvPr id="32" name="Text 30"/>
          <p:cNvSpPr/>
          <p:nvPr/>
        </p:nvSpPr>
        <p:spPr>
          <a:xfrm>
            <a:off x="859536" y="4974336"/>
            <a:ext cx="4773168" cy="530352"/>
          </a:xfrm>
          <a:prstGeom prst="rect">
            <a:avLst/>
          </a:prstGeom>
          <a:noFill/>
          <a:ln/>
        </p:spPr>
        <p:txBody>
          <a:bodyPr wrap="square" lIns="0" tIns="0" rIns="0" bIns="0" rtlCol="0" anchor="t"/>
          <a:lstStyle/>
          <a:p>
            <a:pPr indent="0" marL="0">
              <a:lnSpc>
                <a:spcPts val="1900"/>
              </a:lnSpc>
              <a:buNone/>
            </a:pPr>
            <a:r>
              <a:rPr lang="en-US" sz="1400" b="1" dirty="0">
                <a:solidFill>
                  <a:srgbClr val="1B2430"/>
                </a:solidFill>
                <a:latin typeface="Calibri" pitchFamily="34" charset="0"/>
                <a:ea typeface="Calibri" pitchFamily="34" charset="-122"/>
                <a:cs typeface="Calibri" pitchFamily="34" charset="-120"/>
              </a:rPr>
              <a:t>A product  </a:t>
            </a:r>
            <a:pPr indent="0" marL="0">
              <a:lnSpc>
                <a:spcPts val="1900"/>
              </a:lnSpc>
              <a:buNone/>
            </a:pPr>
            <a:r>
              <a:rPr lang="en-US" sz="1400" dirty="0">
                <a:solidFill>
                  <a:srgbClr val="5C6675"/>
                </a:solidFill>
                <a:latin typeface="Calibri" pitchFamily="34" charset="0"/>
                <a:ea typeface="Calibri" pitchFamily="34" charset="-122"/>
                <a:cs typeface="Calibri" pitchFamily="34" charset="-120"/>
              </a:rPr>
              <a:t>is finished when someone behaves differently.</a:t>
            </a:r>
            <a:endParaRPr lang="en-US" sz="1400" dirty="0"/>
          </a:p>
        </p:txBody>
      </p:sp>
      <p:sp>
        <p:nvSpPr>
          <p:cNvPr id="33" name="Text 31"/>
          <p:cNvSpPr/>
          <p:nvPr/>
        </p:nvSpPr>
        <p:spPr>
          <a:xfrm>
            <a:off x="859536" y="5522976"/>
            <a:ext cx="4773168" cy="457200"/>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Build for the engineer who wants the three things worth fixing this sprint — the finance report improves as a by-product.</a:t>
            </a:r>
            <a:endParaRPr lang="en-US" sz="1250" dirty="0"/>
          </a:p>
        </p:txBody>
      </p:sp>
      <p:sp>
        <p:nvSpPr>
          <p:cNvPr id="34" name="Shape 32"/>
          <p:cNvSpPr/>
          <p:nvPr/>
        </p:nvSpPr>
        <p:spPr>
          <a:xfrm>
            <a:off x="6245352" y="3913632"/>
            <a:ext cx="5394960" cy="2240280"/>
          </a:xfrm>
          <a:prstGeom prst="roundRect">
            <a:avLst>
              <a:gd name="adj" fmla="val 3673"/>
            </a:avLst>
          </a:prstGeom>
          <a:solidFill>
            <a:srgbClr val="1F2936"/>
          </a:solidFill>
          <a:ln/>
          <a:effectLst>
            <a:outerShdw sx="100000" sy="100000" kx="0" ky="0" algn="bl" rotWithShape="0" blurRad="127000" dist="25400" dir="5400000">
              <a:srgbClr val="8C99A8">
                <a:alpha val="16000"/>
              </a:srgbClr>
            </a:outerShdw>
          </a:effectLst>
        </p:spPr>
      </p:sp>
      <p:sp>
        <p:nvSpPr>
          <p:cNvPr id="35" name="Text 33"/>
          <p:cNvSpPr/>
          <p:nvPr/>
        </p:nvSpPr>
        <p:spPr>
          <a:xfrm>
            <a:off x="6556248" y="4078224"/>
            <a:ext cx="45720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Measure adoption, not accuracy</a:t>
            </a:r>
            <a:endParaRPr lang="en-US" sz="1200" dirty="0"/>
          </a:p>
        </p:txBody>
      </p:sp>
      <p:sp>
        <p:nvSpPr>
          <p:cNvPr id="36" name="Shape 34"/>
          <p:cNvSpPr/>
          <p:nvPr/>
        </p:nvSpPr>
        <p:spPr>
          <a:xfrm>
            <a:off x="6574536" y="4590288"/>
            <a:ext cx="100584" cy="100584"/>
          </a:xfrm>
          <a:prstGeom prst="ellipse">
            <a:avLst/>
          </a:prstGeom>
          <a:solidFill>
            <a:srgbClr val="E39B2C"/>
          </a:solidFill>
          <a:ln/>
        </p:spPr>
      </p:sp>
      <p:sp>
        <p:nvSpPr>
          <p:cNvPr id="37" name="Text 35"/>
          <p:cNvSpPr/>
          <p:nvPr/>
        </p:nvSpPr>
        <p:spPr>
          <a:xfrm>
            <a:off x="6812280" y="4443984"/>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Findings with an owner and a date</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share that became work.</a:t>
            </a:r>
            <a:endParaRPr lang="en-US" sz="1250" dirty="0"/>
          </a:p>
        </p:txBody>
      </p:sp>
      <p:sp>
        <p:nvSpPr>
          <p:cNvPr id="38" name="Shape 36"/>
          <p:cNvSpPr/>
          <p:nvPr/>
        </p:nvSpPr>
        <p:spPr>
          <a:xfrm>
            <a:off x="6574536" y="5102352"/>
            <a:ext cx="100584" cy="100584"/>
          </a:xfrm>
          <a:prstGeom prst="ellipse">
            <a:avLst/>
          </a:prstGeom>
          <a:solidFill>
            <a:srgbClr val="E39B2C"/>
          </a:solidFill>
          <a:ln/>
        </p:spPr>
      </p:sp>
      <p:sp>
        <p:nvSpPr>
          <p:cNvPr id="39" name="Text 37"/>
          <p:cNvSpPr/>
          <p:nvPr/>
        </p:nvSpPr>
        <p:spPr>
          <a:xfrm>
            <a:off x="6812280" y="4956048"/>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Realized against identified saving</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Only the first reaches an invoice.</a:t>
            </a:r>
            <a:endParaRPr lang="en-US" sz="1250" dirty="0"/>
          </a:p>
        </p:txBody>
      </p:sp>
      <p:sp>
        <p:nvSpPr>
          <p:cNvPr id="40" name="Shape 38"/>
          <p:cNvSpPr/>
          <p:nvPr/>
        </p:nvSpPr>
        <p:spPr>
          <a:xfrm>
            <a:off x="6574536" y="5614416"/>
            <a:ext cx="100584" cy="100584"/>
          </a:xfrm>
          <a:prstGeom prst="ellipse">
            <a:avLst/>
          </a:prstGeom>
          <a:solidFill>
            <a:srgbClr val="E39B2C"/>
          </a:solidFill>
          <a:ln/>
        </p:spPr>
      </p:sp>
      <p:sp>
        <p:nvSpPr>
          <p:cNvPr id="41" name="Text 39"/>
          <p:cNvSpPr/>
          <p:nvPr/>
        </p:nvSpPr>
        <p:spPr>
          <a:xfrm>
            <a:off x="6812280" y="5468112"/>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Time from finding to owner</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Days, not weeks — and trending down.</a:t>
            </a:r>
            <a:endParaRPr lang="en-US" sz="1250" dirty="0"/>
          </a:p>
        </p:txBody>
      </p:sp>
      <p:sp>
        <p:nvSpPr>
          <p:cNvPr id="42" name="Text 40"/>
          <p:cNvSpPr/>
          <p:nvPr/>
        </p:nvSpPr>
        <p:spPr>
          <a:xfrm>
            <a:off x="548640" y="6272784"/>
            <a:ext cx="11091672" cy="402336"/>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The goal is a better decision, not a lower bill — the lower bill is what a better decision looks like a quarter later.</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TOOLING — A WORKED EXAMPLE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a FinOps platform adds: Finout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capabilities a dedicated platform brings over native billing consoles, and what to test before buying one.</a:t>
            </a:r>
            <a:endParaRPr lang="en-US" sz="1500" dirty="0"/>
          </a:p>
        </p:txBody>
      </p:sp>
      <p:sp>
        <p:nvSpPr>
          <p:cNvPr id="5" name="Shape 3"/>
          <p:cNvSpPr/>
          <p:nvPr/>
        </p:nvSpPr>
        <p:spPr>
          <a:xfrm>
            <a:off x="548640" y="2121408"/>
            <a:ext cx="3511296" cy="1719072"/>
          </a:xfrm>
          <a:prstGeom prst="roundRect">
            <a:avLst>
              <a:gd name="adj" fmla="val 4787"/>
            </a:avLst>
          </a:prstGeom>
          <a:solidFill>
            <a:srgbClr val="F1F3F6"/>
          </a:solidFill>
          <a:ln/>
        </p:spPr>
      </p:sp>
      <p:sp>
        <p:nvSpPr>
          <p:cNvPr id="6" name="Shape 4"/>
          <p:cNvSpPr/>
          <p:nvPr/>
        </p:nvSpPr>
        <p:spPr>
          <a:xfrm>
            <a:off x="841248" y="2359152"/>
            <a:ext cx="457200" cy="45720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55548" y="2473452"/>
            <a:ext cx="228600" cy="228600"/>
          </a:xfrm>
          <a:prstGeom prst="rect">
            <a:avLst/>
          </a:prstGeom>
        </p:spPr>
      </p:pic>
      <p:sp>
        <p:nvSpPr>
          <p:cNvPr id="8" name="Text 5"/>
          <p:cNvSpPr/>
          <p:nvPr/>
        </p:nvSpPr>
        <p:spPr>
          <a:xfrm>
            <a:off x="1426464" y="2340864"/>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One normalized bill</a:t>
            </a:r>
            <a:endParaRPr lang="en-US" sz="1500" dirty="0"/>
          </a:p>
        </p:txBody>
      </p:sp>
      <p:sp>
        <p:nvSpPr>
          <p:cNvPr id="9" name="Text 6"/>
          <p:cNvSpPr/>
          <p:nvPr/>
        </p:nvSpPr>
        <p:spPr>
          <a:xfrm>
            <a:off x="841248" y="2907792"/>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Cloud, SaaS and AI in one view — AWS, Azure, GCP, OCI, Kubernetes, Snowflake, Databricks, OpenAI, Anthropic. FOCUS supported.</a:t>
            </a:r>
            <a:endParaRPr lang="en-US" sz="1150" dirty="0"/>
          </a:p>
        </p:txBody>
      </p:sp>
      <p:sp>
        <p:nvSpPr>
          <p:cNvPr id="10" name="Shape 7"/>
          <p:cNvSpPr/>
          <p:nvPr/>
        </p:nvSpPr>
        <p:spPr>
          <a:xfrm>
            <a:off x="4334256" y="2121408"/>
            <a:ext cx="3511296" cy="1719072"/>
          </a:xfrm>
          <a:prstGeom prst="roundRect">
            <a:avLst>
              <a:gd name="adj" fmla="val 4787"/>
            </a:avLst>
          </a:prstGeom>
          <a:solidFill>
            <a:srgbClr val="F1F3F6"/>
          </a:solidFill>
          <a:ln/>
        </p:spPr>
      </p:sp>
      <p:sp>
        <p:nvSpPr>
          <p:cNvPr id="11" name="Shape 8"/>
          <p:cNvSpPr/>
          <p:nvPr/>
        </p:nvSpPr>
        <p:spPr>
          <a:xfrm>
            <a:off x="4626864" y="2359152"/>
            <a:ext cx="457200" cy="45720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41164" y="2473452"/>
            <a:ext cx="228600" cy="228600"/>
          </a:xfrm>
          <a:prstGeom prst="rect">
            <a:avLst/>
          </a:prstGeom>
        </p:spPr>
      </p:pic>
      <p:sp>
        <p:nvSpPr>
          <p:cNvPr id="13" name="Text 9"/>
          <p:cNvSpPr/>
          <p:nvPr/>
        </p:nvSpPr>
        <p:spPr>
          <a:xfrm>
            <a:off x="5212080" y="2340864"/>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Virtual tags</a:t>
            </a:r>
            <a:endParaRPr lang="en-US" sz="1500" dirty="0"/>
          </a:p>
        </p:txBody>
      </p:sp>
      <p:sp>
        <p:nvSpPr>
          <p:cNvPr id="14" name="Text 10"/>
          <p:cNvSpPr/>
          <p:nvPr/>
        </p:nvSpPr>
        <p:spPr>
          <a:xfrm>
            <a:off x="4626864" y="2907792"/>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Allocates untagged and shared cost by rule, without touching infrastructure tags — showback without a retagging project.</a:t>
            </a:r>
            <a:endParaRPr lang="en-US" sz="1150" dirty="0"/>
          </a:p>
        </p:txBody>
      </p:sp>
      <p:sp>
        <p:nvSpPr>
          <p:cNvPr id="15" name="Shape 11"/>
          <p:cNvSpPr/>
          <p:nvPr/>
        </p:nvSpPr>
        <p:spPr>
          <a:xfrm>
            <a:off x="8119872" y="2121408"/>
            <a:ext cx="3511296" cy="1719072"/>
          </a:xfrm>
          <a:prstGeom prst="roundRect">
            <a:avLst>
              <a:gd name="adj" fmla="val 4787"/>
            </a:avLst>
          </a:prstGeom>
          <a:solidFill>
            <a:srgbClr val="F1F3F6"/>
          </a:solidFill>
          <a:ln/>
        </p:spPr>
      </p:sp>
      <p:sp>
        <p:nvSpPr>
          <p:cNvPr id="16" name="Shape 12"/>
          <p:cNvSpPr/>
          <p:nvPr/>
        </p:nvSpPr>
        <p:spPr>
          <a:xfrm>
            <a:off x="8412480" y="2359152"/>
            <a:ext cx="457200" cy="45720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26780" y="2473452"/>
            <a:ext cx="228600" cy="228600"/>
          </a:xfrm>
          <a:prstGeom prst="rect">
            <a:avLst/>
          </a:prstGeom>
        </p:spPr>
      </p:pic>
      <p:sp>
        <p:nvSpPr>
          <p:cNvPr id="18" name="Text 13"/>
          <p:cNvSpPr/>
          <p:nvPr/>
        </p:nvSpPr>
        <p:spPr>
          <a:xfrm>
            <a:off x="8997696" y="2340864"/>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Kubernetes to pod level</a:t>
            </a:r>
            <a:endParaRPr lang="en-US" sz="1500" dirty="0"/>
          </a:p>
        </p:txBody>
      </p:sp>
      <p:sp>
        <p:nvSpPr>
          <p:cNvPr id="19" name="Text 14"/>
          <p:cNvSpPr/>
          <p:nvPr/>
        </p:nvSpPr>
        <p:spPr>
          <a:xfrm>
            <a:off x="8412480" y="2907792"/>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Cluster, namespace and pod allocation without an agent, which is the shared-cost problem most tools leave unsolved.</a:t>
            </a:r>
            <a:endParaRPr lang="en-US" sz="1150" dirty="0"/>
          </a:p>
        </p:txBody>
      </p:sp>
      <p:sp>
        <p:nvSpPr>
          <p:cNvPr id="20" name="Shape 15"/>
          <p:cNvSpPr/>
          <p:nvPr/>
        </p:nvSpPr>
        <p:spPr>
          <a:xfrm>
            <a:off x="548640" y="3986784"/>
            <a:ext cx="3511296" cy="1719072"/>
          </a:xfrm>
          <a:prstGeom prst="roundRect">
            <a:avLst>
              <a:gd name="adj" fmla="val 4787"/>
            </a:avLst>
          </a:prstGeom>
          <a:solidFill>
            <a:srgbClr val="F1F3F6"/>
          </a:solidFill>
          <a:ln/>
        </p:spPr>
      </p:sp>
      <p:sp>
        <p:nvSpPr>
          <p:cNvPr id="21" name="Shape 16"/>
          <p:cNvSpPr/>
          <p:nvPr/>
        </p:nvSpPr>
        <p:spPr>
          <a:xfrm>
            <a:off x="841248" y="4224528"/>
            <a:ext cx="457200" cy="45720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55548" y="4338828"/>
            <a:ext cx="228600" cy="228600"/>
          </a:xfrm>
          <a:prstGeom prst="rect">
            <a:avLst/>
          </a:prstGeom>
        </p:spPr>
      </p:pic>
      <p:sp>
        <p:nvSpPr>
          <p:cNvPr id="23" name="Text 17"/>
          <p:cNvSpPr/>
          <p:nvPr/>
        </p:nvSpPr>
        <p:spPr>
          <a:xfrm>
            <a:off x="1426464" y="4206240"/>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Dashboards and unit economics</a:t>
            </a:r>
            <a:endParaRPr lang="en-US" sz="1500" dirty="0"/>
          </a:p>
        </p:txBody>
      </p:sp>
      <p:sp>
        <p:nvSpPr>
          <p:cNvPr id="24" name="Text 18"/>
          <p:cNvSpPr/>
          <p:nvPr/>
        </p:nvSpPr>
        <p:spPr>
          <a:xfrm>
            <a:off x="841248" y="4773168"/>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Widgets for cost, usage, waste, budget and unit cost; business metrics from Datadog, Salesforce or Looker to divide by.</a:t>
            </a:r>
            <a:endParaRPr lang="en-US" sz="1150" dirty="0"/>
          </a:p>
        </p:txBody>
      </p:sp>
      <p:sp>
        <p:nvSpPr>
          <p:cNvPr id="25" name="Shape 19"/>
          <p:cNvSpPr/>
          <p:nvPr/>
        </p:nvSpPr>
        <p:spPr>
          <a:xfrm>
            <a:off x="4334256" y="3986784"/>
            <a:ext cx="3511296" cy="1719072"/>
          </a:xfrm>
          <a:prstGeom prst="roundRect">
            <a:avLst>
              <a:gd name="adj" fmla="val 4787"/>
            </a:avLst>
          </a:prstGeom>
          <a:solidFill>
            <a:srgbClr val="F1F3F6"/>
          </a:solidFill>
          <a:ln/>
        </p:spPr>
      </p:sp>
      <p:sp>
        <p:nvSpPr>
          <p:cNvPr id="26" name="Shape 20"/>
          <p:cNvSpPr/>
          <p:nvPr/>
        </p:nvSpPr>
        <p:spPr>
          <a:xfrm>
            <a:off x="4626864" y="4224528"/>
            <a:ext cx="457200" cy="45720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41164" y="4338828"/>
            <a:ext cx="228600" cy="228600"/>
          </a:xfrm>
          <a:prstGeom prst="rect">
            <a:avLst/>
          </a:prstGeom>
        </p:spPr>
      </p:pic>
      <p:sp>
        <p:nvSpPr>
          <p:cNvPr id="28" name="Text 21"/>
          <p:cNvSpPr/>
          <p:nvPr/>
        </p:nvSpPr>
        <p:spPr>
          <a:xfrm>
            <a:off x="5212080" y="4206240"/>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Budgets, forecast, anomalies</a:t>
            </a:r>
            <a:endParaRPr lang="en-US" sz="1500" dirty="0"/>
          </a:p>
        </p:txBody>
      </p:sp>
      <p:sp>
        <p:nvSpPr>
          <p:cNvPr id="29" name="Text 22"/>
          <p:cNvSpPr/>
          <p:nvPr/>
        </p:nvSpPr>
        <p:spPr>
          <a:xfrm>
            <a:off x="4626864" y="4773168"/>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Budget structures, forecasting on any unit cost, and anomaly alerts on unexpected movement.</a:t>
            </a:r>
            <a:endParaRPr lang="en-US" sz="1150" dirty="0"/>
          </a:p>
        </p:txBody>
      </p:sp>
      <p:sp>
        <p:nvSpPr>
          <p:cNvPr id="30" name="Shape 23"/>
          <p:cNvSpPr/>
          <p:nvPr/>
        </p:nvSpPr>
        <p:spPr>
          <a:xfrm>
            <a:off x="8119872" y="3986784"/>
            <a:ext cx="3511296" cy="1719072"/>
          </a:xfrm>
          <a:prstGeom prst="roundRect">
            <a:avLst>
              <a:gd name="adj" fmla="val 4787"/>
            </a:avLst>
          </a:prstGeom>
          <a:solidFill>
            <a:srgbClr val="F1F3F6"/>
          </a:solidFill>
          <a:ln/>
        </p:spPr>
      </p:sp>
      <p:sp>
        <p:nvSpPr>
          <p:cNvPr id="31" name="Shape 24"/>
          <p:cNvSpPr/>
          <p:nvPr/>
        </p:nvSpPr>
        <p:spPr>
          <a:xfrm>
            <a:off x="8412480" y="4224528"/>
            <a:ext cx="457200" cy="45720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26780" y="4338828"/>
            <a:ext cx="228600" cy="228600"/>
          </a:xfrm>
          <a:prstGeom prst="rect">
            <a:avLst/>
          </a:prstGeom>
        </p:spPr>
      </p:pic>
      <p:sp>
        <p:nvSpPr>
          <p:cNvPr id="33" name="Text 25"/>
          <p:cNvSpPr/>
          <p:nvPr/>
        </p:nvSpPr>
        <p:spPr>
          <a:xfrm>
            <a:off x="8997696" y="4206240"/>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Waste detection with an owner</a:t>
            </a:r>
            <a:endParaRPr lang="en-US" sz="1500" dirty="0"/>
          </a:p>
        </p:txBody>
      </p:sp>
      <p:sp>
        <p:nvSpPr>
          <p:cNvPr id="34" name="Text 26"/>
          <p:cNvSpPr/>
          <p:nvPr/>
        </p:nvSpPr>
        <p:spPr>
          <a:xfrm>
            <a:off x="8412480" y="4773168"/>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CostGuard consolidates recommendations across providers, assigns an owner and tracks the saving — into Jira, Slack or ServiceNow.</a:t>
            </a:r>
            <a:endParaRPr lang="en-US" sz="1150" dirty="0"/>
          </a:p>
        </p:txBody>
      </p:sp>
      <p:sp>
        <p:nvSpPr>
          <p:cNvPr id="35" name="Shape 27"/>
          <p:cNvSpPr/>
          <p:nvPr/>
        </p:nvSpPr>
        <p:spPr>
          <a:xfrm>
            <a:off x="548640" y="5852160"/>
            <a:ext cx="11091672" cy="786384"/>
          </a:xfrm>
          <a:prstGeom prst="roundRect">
            <a:avLst>
              <a:gd name="adj" fmla="val 10465"/>
            </a:avLst>
          </a:prstGeom>
          <a:solidFill>
            <a:srgbClr val="1F2936"/>
          </a:solidFill>
          <a:ln/>
          <a:effectLst>
            <a:outerShdw sx="100000" sy="100000" kx="0" ky="0" algn="bl" rotWithShape="0" blurRad="127000" dist="25400" dir="5400000">
              <a:srgbClr val="8C99A8">
                <a:alpha val="16000"/>
              </a:srgbClr>
            </a:outerShdw>
          </a:effectLst>
        </p:spPr>
      </p:sp>
      <p:sp>
        <p:nvSpPr>
          <p:cNvPr id="36" name="Text 28"/>
          <p:cNvSpPr/>
          <p:nvPr/>
        </p:nvSpPr>
        <p:spPr>
          <a:xfrm>
            <a:off x="877824" y="5852160"/>
            <a:ext cx="10424160" cy="786384"/>
          </a:xfrm>
          <a:prstGeom prst="rect">
            <a:avLst/>
          </a:prstGeom>
          <a:noFill/>
          <a:ln/>
        </p:spPr>
        <p:txBody>
          <a:bodyPr wrap="square" lIns="0" tIns="0" rIns="0" bIns="0" rtlCol="0" anchor="ctr"/>
          <a:lstStyle/>
          <a:p>
            <a:pPr indent="0" marL="0">
              <a:lnSpc>
                <a:spcPts val="1600"/>
              </a:lnSpc>
              <a:buNone/>
            </a:pPr>
            <a:r>
              <a:rPr lang="en-US" sz="1200" b="1" dirty="0">
                <a:solidFill>
                  <a:srgbClr val="E39B2C"/>
                </a:solidFill>
                <a:latin typeface="Calibri" pitchFamily="34" charset="0"/>
                <a:ea typeface="Calibri" pitchFamily="34" charset="-122"/>
                <a:cs typeface="Calibri" pitchFamily="34" charset="-120"/>
              </a:rPr>
              <a:t>Before buying, prove three things on our own data:  </a:t>
            </a:r>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that it allocates the spend we cannot allocate today, that it attributes Azure OpenAI cost per calling application rather than per resource, and that it exports FOCUS so we are not locked in. Vendor-published outcomes — around 30% cost reduction and 50% engineer time saved — are marketing claims, not a forecast for us.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Set guardrails early</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Owners, budget thresholds and quotas cost little to add — and stop the expensive surprises.</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603504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 match the footprint, not the ambition</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CFO briefing</dc:subject>
  <dc:creator>FinOps</dc:creator>
  <cp:lastModifiedBy>FinOps</cp:lastModifiedBy>
  <cp:revision>1</cp:revision>
  <dcterms:created xsi:type="dcterms:W3CDTF">2026-08-04T18:53:16Z</dcterms:created>
  <dcterms:modified xsi:type="dcterms:W3CDTF">2026-08-04T18:53:16Z</dcterms:modified>
</cp:coreProperties>
</file>