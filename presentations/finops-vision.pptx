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sentence on the slide and stop — let it land before explaining it. Every project has a name, an owner, a number and a limit is the whole vision; everything after this slide is how we get there. Say plainly that this is not a cost-cutting pitch. Cloud and AI are the one large spending line where commitments are made daily, by engineers, with no approval step in between — everywhere else in the budget that would be called a control gap, and closing it is the ask. The four words at the bottom are the structure for the rest of the deck: named and owned are slide 2, measured is slide 2, limited is slide 3. Naming them here means nothing later needs re-introducing.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of visibility in one slide, deliberately: trace it, and price it whole. The left side is the allocation chain — tag, allocate, showback, divide by a unit — and the single number to commit to is under 5% unallocated, reported weekly. That is the target that makes everything else on this slide possible. The right side is the point most cost conversations miss, and it is worth slowing down for: an AI feature gets quoted at its token cost, but it runs on compute, databases, cache, storage, gateway and log ingestion that bill every month regardless of how heavily the model is called. A project priced at its model line alone will be wrong by the size of everything under it, and the surprise arrives at the first full month, not the pilot. The instruction is the bottom bar: one ApplicationID across every resource a project touches. That is a tagging decision, not an engineering project, and it is the single most impactful thing this room can approve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is not a control — this slide is the controls, and the two columns are the only two moments a cost can be changed. Shift left is a change in when the conversation happens, not a tool purchase: FinOps in the design and intake conversation, understanding what a project needs before the architecture is set. Most of a workload's lifetime cost is settled at that point — rightsizing afterwards trims the margin, the design set the base. The runtime column is ordered by speed on purpose. Quotas act in seconds and are the only thing here that can stop money being spent while it is happening; alerts and budget thresholds act on a slower clock and only ever notify. Say the quote at the bottom plainly — billing data arrives a day or two late, so anything built on it can only report, never prevent. If asked what this costs: someone's time in design reviews, and reversible technical settings. No new tooling is implied by either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731520"/>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THE VISION</a:t>
            </a:r>
            <a:endParaRPr lang="en-US" sz="1150" dirty="0"/>
          </a:p>
        </p:txBody>
      </p:sp>
      <p:sp>
        <p:nvSpPr>
          <p:cNvPr id="3" name="Text 1"/>
          <p:cNvSpPr/>
          <p:nvPr/>
        </p:nvSpPr>
        <p:spPr>
          <a:xfrm>
            <a:off x="548640" y="1188720"/>
            <a:ext cx="10515600" cy="1645920"/>
          </a:xfrm>
          <a:prstGeom prst="rect">
            <a:avLst/>
          </a:prstGeom>
          <a:noFill/>
          <a:ln/>
        </p:spPr>
        <p:txBody>
          <a:bodyPr wrap="square" lIns="0" tIns="0" rIns="0" bIns="0" rtlCol="0" anchor="t"/>
          <a:lstStyle/>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Every project has a name,</a:t>
            </a:r>
            <a:endParaRPr lang="en-US" sz="3600" dirty="0"/>
          </a:p>
          <a:p>
            <a:pPr indent="0" marL="0">
              <a:lnSpc>
                <a:spcPts val="4600"/>
              </a:lnSpc>
              <a:buNone/>
            </a:pPr>
            <a:r>
              <a:rPr lang="en-US" sz="3600" b="1" dirty="0">
                <a:solidFill>
                  <a:srgbClr val="FFFFFF"/>
                </a:solidFill>
                <a:latin typeface="Cambria" pitchFamily="34" charset="0"/>
                <a:ea typeface="Cambria" pitchFamily="34" charset="-122"/>
                <a:cs typeface="Cambria" pitchFamily="34" charset="-120"/>
              </a:rPr>
              <a:t>an owner, a number and a limit.</a:t>
            </a:r>
            <a:endParaRPr lang="en-US" sz="3600" dirty="0"/>
          </a:p>
        </p:txBody>
      </p:sp>
      <p:sp>
        <p:nvSpPr>
          <p:cNvPr id="4" name="Text 2"/>
          <p:cNvSpPr/>
          <p:nvPr/>
        </p:nvSpPr>
        <p:spPr>
          <a:xfrm>
            <a:off x="548640" y="2962656"/>
            <a:ext cx="10241280" cy="73152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Not a cost-cutting programme. The spending control that every other budget line already has, applied to the one where the decisions are made daily by people who never see the invoice.</a:t>
            </a:r>
            <a:endParaRPr lang="en-US" sz="1550" dirty="0"/>
          </a:p>
        </p:txBody>
      </p:sp>
      <p:sp>
        <p:nvSpPr>
          <p:cNvPr id="5" name="Shape 3"/>
          <p:cNvSpPr/>
          <p:nvPr/>
        </p:nvSpPr>
        <p:spPr>
          <a:xfrm>
            <a:off x="548640" y="4023360"/>
            <a:ext cx="2587752" cy="1828800"/>
          </a:xfrm>
          <a:prstGeom prst="roundRect">
            <a:avLst>
              <a:gd name="adj" fmla="val 4500"/>
            </a:avLst>
          </a:prstGeom>
          <a:solidFill>
            <a:srgbClr val="1F2936"/>
          </a:solidFill>
          <a:ln/>
        </p:spPr>
      </p:sp>
      <p:sp>
        <p:nvSpPr>
          <p:cNvPr id="6" name="Shape 4"/>
          <p:cNvSpPr/>
          <p:nvPr/>
        </p:nvSpPr>
        <p:spPr>
          <a:xfrm>
            <a:off x="804672" y="4261104"/>
            <a:ext cx="475488" cy="475488"/>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23544" y="4379976"/>
            <a:ext cx="237744" cy="237744"/>
          </a:xfrm>
          <a:prstGeom prst="rect">
            <a:avLst/>
          </a:prstGeom>
        </p:spPr>
      </p:pic>
      <p:sp>
        <p:nvSpPr>
          <p:cNvPr id="8" name="Text 5"/>
          <p:cNvSpPr/>
          <p:nvPr/>
        </p:nvSpPr>
        <p:spPr>
          <a:xfrm>
            <a:off x="80467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Named</a:t>
            </a:r>
            <a:endParaRPr lang="en-US" sz="1800" dirty="0"/>
          </a:p>
        </p:txBody>
      </p:sp>
      <p:sp>
        <p:nvSpPr>
          <p:cNvPr id="9" name="Text 6"/>
          <p:cNvSpPr/>
          <p:nvPr/>
        </p:nvSpPr>
        <p:spPr>
          <a:xfrm>
            <a:off x="80467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One identifier per project, across every resource it touches.</a:t>
            </a:r>
            <a:endParaRPr lang="en-US" sz="1200" dirty="0"/>
          </a:p>
        </p:txBody>
      </p:sp>
      <p:sp>
        <p:nvSpPr>
          <p:cNvPr id="10" name="Shape 7"/>
          <p:cNvSpPr/>
          <p:nvPr/>
        </p:nvSpPr>
        <p:spPr>
          <a:xfrm>
            <a:off x="3383280" y="4023360"/>
            <a:ext cx="2587752" cy="1828800"/>
          </a:xfrm>
          <a:prstGeom prst="roundRect">
            <a:avLst>
              <a:gd name="adj" fmla="val 4500"/>
            </a:avLst>
          </a:prstGeom>
          <a:solidFill>
            <a:srgbClr val="1F2936"/>
          </a:solidFill>
          <a:ln/>
        </p:spPr>
      </p:sp>
      <p:sp>
        <p:nvSpPr>
          <p:cNvPr id="11" name="Shape 8"/>
          <p:cNvSpPr/>
          <p:nvPr/>
        </p:nvSpPr>
        <p:spPr>
          <a:xfrm>
            <a:off x="3639312" y="4261104"/>
            <a:ext cx="475488" cy="475488"/>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3758184" y="4379976"/>
            <a:ext cx="237744" cy="237744"/>
          </a:xfrm>
          <a:prstGeom prst="rect">
            <a:avLst/>
          </a:prstGeom>
        </p:spPr>
      </p:pic>
      <p:sp>
        <p:nvSpPr>
          <p:cNvPr id="13" name="Text 9"/>
          <p:cNvSpPr/>
          <p:nvPr/>
        </p:nvSpPr>
        <p:spPr>
          <a:xfrm>
            <a:off x="363931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Owned</a:t>
            </a:r>
            <a:endParaRPr lang="en-US" sz="1800" dirty="0"/>
          </a:p>
        </p:txBody>
      </p:sp>
      <p:sp>
        <p:nvSpPr>
          <p:cNvPr id="14" name="Text 10"/>
          <p:cNvSpPr/>
          <p:nvPr/>
        </p:nvSpPr>
        <p:spPr>
          <a:xfrm>
            <a:off x="363931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named person who signs off the budget and answers the alert.</a:t>
            </a:r>
            <a:endParaRPr lang="en-US" sz="1200" dirty="0"/>
          </a:p>
        </p:txBody>
      </p:sp>
      <p:sp>
        <p:nvSpPr>
          <p:cNvPr id="15" name="Shape 11"/>
          <p:cNvSpPr/>
          <p:nvPr/>
        </p:nvSpPr>
        <p:spPr>
          <a:xfrm>
            <a:off x="6217920" y="4023360"/>
            <a:ext cx="2587752" cy="1828800"/>
          </a:xfrm>
          <a:prstGeom prst="roundRect">
            <a:avLst>
              <a:gd name="adj" fmla="val 4500"/>
            </a:avLst>
          </a:prstGeom>
          <a:solidFill>
            <a:srgbClr val="1F2936"/>
          </a:solidFill>
          <a:ln/>
        </p:spPr>
      </p:sp>
      <p:sp>
        <p:nvSpPr>
          <p:cNvPr id="16" name="Shape 12"/>
          <p:cNvSpPr/>
          <p:nvPr/>
        </p:nvSpPr>
        <p:spPr>
          <a:xfrm>
            <a:off x="6473952" y="4261104"/>
            <a:ext cx="475488" cy="475488"/>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6592824" y="4379976"/>
            <a:ext cx="237744" cy="237744"/>
          </a:xfrm>
          <a:prstGeom prst="rect">
            <a:avLst/>
          </a:prstGeom>
        </p:spPr>
      </p:pic>
      <p:sp>
        <p:nvSpPr>
          <p:cNvPr id="18" name="Text 13"/>
          <p:cNvSpPr/>
          <p:nvPr/>
        </p:nvSpPr>
        <p:spPr>
          <a:xfrm>
            <a:off x="647395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Measured</a:t>
            </a:r>
            <a:endParaRPr lang="en-US" sz="1800" dirty="0"/>
          </a:p>
        </p:txBody>
      </p:sp>
      <p:sp>
        <p:nvSpPr>
          <p:cNvPr id="19" name="Text 14"/>
          <p:cNvSpPr/>
          <p:nvPr/>
        </p:nvSpPr>
        <p:spPr>
          <a:xfrm>
            <a:off x="647395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cost per customer or per transaction, refreshed daily.</a:t>
            </a:r>
            <a:endParaRPr lang="en-US" sz="1200" dirty="0"/>
          </a:p>
        </p:txBody>
      </p:sp>
      <p:sp>
        <p:nvSpPr>
          <p:cNvPr id="20" name="Shape 15"/>
          <p:cNvSpPr/>
          <p:nvPr/>
        </p:nvSpPr>
        <p:spPr>
          <a:xfrm>
            <a:off x="9052560" y="4023360"/>
            <a:ext cx="2587752" cy="1828800"/>
          </a:xfrm>
          <a:prstGeom prst="roundRect">
            <a:avLst>
              <a:gd name="adj" fmla="val 4500"/>
            </a:avLst>
          </a:prstGeom>
          <a:solidFill>
            <a:srgbClr val="1F2936"/>
          </a:solidFill>
          <a:ln/>
        </p:spPr>
      </p:sp>
      <p:sp>
        <p:nvSpPr>
          <p:cNvPr id="21" name="Shape 16"/>
          <p:cNvSpPr/>
          <p:nvPr/>
        </p:nvSpPr>
        <p:spPr>
          <a:xfrm>
            <a:off x="9308592" y="4261104"/>
            <a:ext cx="475488" cy="475488"/>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427464" y="4379976"/>
            <a:ext cx="237744" cy="237744"/>
          </a:xfrm>
          <a:prstGeom prst="rect">
            <a:avLst/>
          </a:prstGeom>
        </p:spPr>
      </p:pic>
      <p:sp>
        <p:nvSpPr>
          <p:cNvPr id="23" name="Text 17"/>
          <p:cNvSpPr/>
          <p:nvPr/>
        </p:nvSpPr>
        <p:spPr>
          <a:xfrm>
            <a:off x="9308592" y="4846320"/>
            <a:ext cx="210312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Limited</a:t>
            </a:r>
            <a:endParaRPr lang="en-US" sz="1800" dirty="0"/>
          </a:p>
        </p:txBody>
      </p:sp>
      <p:sp>
        <p:nvSpPr>
          <p:cNvPr id="24" name="Text 18"/>
          <p:cNvSpPr/>
          <p:nvPr/>
        </p:nvSpPr>
        <p:spPr>
          <a:xfrm>
            <a:off x="9308592" y="5212080"/>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 ceiling that binds before the invoice does.</a:t>
            </a:r>
            <a:endParaRPr lang="en-US" sz="1200" dirty="0"/>
          </a:p>
        </p:txBody>
      </p:sp>
      <p:sp>
        <p:nvSpPr>
          <p:cNvPr id="25" name="Text 19"/>
          <p:cNvSpPr/>
          <p:nvPr/>
        </p:nvSpPr>
        <p:spPr>
          <a:xfrm>
            <a:off x="548640" y="6144768"/>
            <a:ext cx="7315200" cy="310896"/>
          </a:xfrm>
          <a:prstGeom prst="rect">
            <a:avLst/>
          </a:prstGeom>
          <a:noFill/>
          <a:ln/>
        </p:spPr>
        <p:txBody>
          <a:bodyPr wrap="square" lIns="0" tIns="0" rIns="0" bIns="0" rtlCol="0" anchor="ctr"/>
          <a:lstStyle/>
          <a:p>
            <a:pPr indent="0" marL="0">
              <a:buNone/>
            </a:pPr>
            <a:r>
              <a:rPr lang="en-US" sz="1150" dirty="0">
                <a:solidFill>
                  <a:srgbClr val="5C6675"/>
                </a:solidFill>
                <a:latin typeface="Calibri" pitchFamily="34" charset="0"/>
                <a:ea typeface="Calibri" pitchFamily="34" charset="-122"/>
                <a:cs typeface="Calibri" pitchFamily="34" charset="-120"/>
              </a:rPr>
              <a:t>Presented to Executive Leadership  ·  Date ____________</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number per project, with an owner on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Two things have to be true: the cost can be traced to someone, and the project is priced whole.</a:t>
            </a:r>
            <a:endParaRPr lang="en-US" sz="1500" dirty="0"/>
          </a:p>
        </p:txBody>
      </p:sp>
      <p:sp>
        <p:nvSpPr>
          <p:cNvPr id="5" name="Shape 3"/>
          <p:cNvSpPr/>
          <p:nvPr/>
        </p:nvSpPr>
        <p:spPr>
          <a:xfrm>
            <a:off x="548640" y="2121408"/>
            <a:ext cx="5394960" cy="3200400"/>
          </a:xfrm>
          <a:prstGeom prst="roundRect">
            <a:avLst>
              <a:gd name="adj" fmla="val 2571"/>
            </a:avLst>
          </a:prstGeom>
          <a:solidFill>
            <a:srgbClr val="F1F3F6"/>
          </a:solidFill>
          <a:ln/>
        </p:spPr>
      </p:sp>
      <p:sp>
        <p:nvSpPr>
          <p:cNvPr id="6" name="Text 4"/>
          <p:cNvSpPr/>
          <p:nvPr/>
        </p:nvSpPr>
        <p:spPr>
          <a:xfrm>
            <a:off x="859536" y="2286000"/>
            <a:ext cx="4572000" cy="292608"/>
          </a:xfrm>
          <a:prstGeom prst="rect">
            <a:avLst/>
          </a:prstGeom>
          <a:noFill/>
          <a:ln/>
        </p:spPr>
        <p:txBody>
          <a:bodyPr wrap="square" lIns="0" tIns="0" rIns="0" bIns="0" rtlCol="0" anchor="ctr"/>
          <a:lstStyle/>
          <a:p>
            <a:pPr indent="0" marL="0">
              <a:buNone/>
            </a:pPr>
            <a:r>
              <a:rPr lang="en-US" sz="1150" b="1" spc="160" kern="0" dirty="0">
                <a:solidFill>
                  <a:srgbClr val="5C6675"/>
                </a:solidFill>
                <a:latin typeface="Calibri" pitchFamily="34" charset="0"/>
                <a:ea typeface="Calibri" pitchFamily="34" charset="-122"/>
                <a:cs typeface="Calibri" pitchFamily="34" charset="-120"/>
              </a:rPr>
              <a:t>Trace it to an owner</a:t>
            </a:r>
            <a:endParaRPr lang="en-US" sz="1150" dirty="0"/>
          </a:p>
        </p:txBody>
      </p:sp>
      <p:sp>
        <p:nvSpPr>
          <p:cNvPr id="7" name="Text 5"/>
          <p:cNvSpPr/>
          <p:nvPr/>
        </p:nvSpPr>
        <p:spPr>
          <a:xfrm>
            <a:off x="859536" y="268833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25296" y="268833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Tag at creation</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Five tags, enforced by policy. Untagged means undeployed.</a:t>
            </a:r>
            <a:endParaRPr lang="en-US" sz="1250" dirty="0"/>
          </a:p>
        </p:txBody>
      </p:sp>
      <p:sp>
        <p:nvSpPr>
          <p:cNvPr id="9" name="Text 7"/>
          <p:cNvSpPr/>
          <p:nvPr/>
        </p:nvSpPr>
        <p:spPr>
          <a:xfrm>
            <a:off x="859536" y="332841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2</a:t>
            </a:r>
            <a:endParaRPr lang="en-US" sz="1500" dirty="0"/>
          </a:p>
        </p:txBody>
      </p:sp>
      <p:sp>
        <p:nvSpPr>
          <p:cNvPr id="10" name="Text 8"/>
          <p:cNvSpPr/>
          <p:nvPr/>
        </p:nvSpPr>
        <p:spPr>
          <a:xfrm>
            <a:off x="1225296" y="332841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Allocate the spend</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Target under 5% unallocated, reported weekly.</a:t>
            </a:r>
            <a:endParaRPr lang="en-US" sz="1250" dirty="0"/>
          </a:p>
        </p:txBody>
      </p:sp>
      <p:sp>
        <p:nvSpPr>
          <p:cNvPr id="11" name="Text 9"/>
          <p:cNvSpPr/>
          <p:nvPr/>
        </p:nvSpPr>
        <p:spPr>
          <a:xfrm>
            <a:off x="859536" y="396849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225296" y="396849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Show teams their own numbers</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Four to six weeks before anything is charged.</a:t>
            </a:r>
            <a:endParaRPr lang="en-US" sz="1250" dirty="0"/>
          </a:p>
        </p:txBody>
      </p:sp>
      <p:sp>
        <p:nvSpPr>
          <p:cNvPr id="13" name="Text 11"/>
          <p:cNvSpPr/>
          <p:nvPr/>
        </p:nvSpPr>
        <p:spPr>
          <a:xfrm>
            <a:off x="859536" y="4608576"/>
            <a:ext cx="310896" cy="566928"/>
          </a:xfrm>
          <a:prstGeom prst="rect">
            <a:avLst/>
          </a:prstGeom>
          <a:noFill/>
          <a:ln/>
        </p:spPr>
        <p:txBody>
          <a:bodyPr wrap="square" lIns="0" tIns="0" rIns="0" bIns="0" rtlCol="0" anchor="t"/>
          <a:lstStyle/>
          <a:p>
            <a:pPr indent="0" marL="0">
              <a:buNone/>
            </a:pPr>
            <a:r>
              <a:rPr lang="en-US" sz="1500" b="1" dirty="0">
                <a:solidFill>
                  <a:srgbClr val="E39B2C"/>
                </a:solidFill>
                <a:latin typeface="Cambria" pitchFamily="34" charset="0"/>
                <a:ea typeface="Cambria" pitchFamily="34" charset="-122"/>
                <a:cs typeface="Cambria" pitchFamily="34" charset="-120"/>
              </a:rPr>
              <a:t>4</a:t>
            </a:r>
            <a:endParaRPr lang="en-US" sz="1500" dirty="0"/>
          </a:p>
        </p:txBody>
      </p:sp>
      <p:sp>
        <p:nvSpPr>
          <p:cNvPr id="14" name="Text 12"/>
          <p:cNvSpPr/>
          <p:nvPr/>
        </p:nvSpPr>
        <p:spPr>
          <a:xfrm>
            <a:off x="1225296" y="4608576"/>
            <a:ext cx="4407408" cy="621792"/>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Divide by the unit</a:t>
            </a:r>
            <a:endParaRPr lang="en-US" sz="12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order, per conversation.</a:t>
            </a:r>
            <a:endParaRPr lang="en-US" sz="1250" dirty="0"/>
          </a:p>
        </p:txBody>
      </p:sp>
      <p:sp>
        <p:nvSpPr>
          <p:cNvPr id="15" name="Shape 13"/>
          <p:cNvSpPr/>
          <p:nvPr/>
        </p:nvSpPr>
        <p:spPr>
          <a:xfrm>
            <a:off x="6245352" y="2121408"/>
            <a:ext cx="5394960" cy="3200400"/>
          </a:xfrm>
          <a:prstGeom prst="roundRect">
            <a:avLst>
              <a:gd name="adj" fmla="val 2571"/>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556248" y="2286000"/>
            <a:ext cx="457200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Price the project whole</a:t>
            </a:r>
            <a:endParaRPr lang="en-US" sz="1150" dirty="0"/>
          </a:p>
        </p:txBody>
      </p:sp>
      <p:sp>
        <p:nvSpPr>
          <p:cNvPr id="17" name="Text 15"/>
          <p:cNvSpPr/>
          <p:nvPr/>
        </p:nvSpPr>
        <p:spPr>
          <a:xfrm>
            <a:off x="6556248" y="2615184"/>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An AI feature is quoted at its token cost. It runs on a stack that bills every month regardless.</a:t>
            </a:r>
            <a:endParaRPr lang="en-US" sz="1250" dirty="0"/>
          </a:p>
        </p:txBody>
      </p:sp>
      <p:sp>
        <p:nvSpPr>
          <p:cNvPr id="18" name="Shape 16"/>
          <p:cNvSpPr/>
          <p:nvPr/>
        </p:nvSpPr>
        <p:spPr>
          <a:xfrm>
            <a:off x="6556248" y="3291840"/>
            <a:ext cx="82296" cy="274320"/>
          </a:xfrm>
          <a:prstGeom prst="roundRect">
            <a:avLst>
              <a:gd name="adj" fmla="val 44444"/>
            </a:avLst>
          </a:prstGeom>
          <a:solidFill>
            <a:srgbClr val="E39B2C"/>
          </a:solidFill>
          <a:ln/>
        </p:spPr>
      </p:sp>
      <p:sp>
        <p:nvSpPr>
          <p:cNvPr id="19" name="Text 17"/>
          <p:cNvSpPr/>
          <p:nvPr/>
        </p:nvSpPr>
        <p:spPr>
          <a:xfrm>
            <a:off x="6766560" y="3200400"/>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E39B2C"/>
                </a:solidFill>
                <a:latin typeface="Calibri" pitchFamily="34" charset="0"/>
                <a:ea typeface="Calibri" pitchFamily="34" charset="-122"/>
                <a:cs typeface="Calibri" pitchFamily="34" charset="-120"/>
              </a:rPr>
              <a:t>Model / tokens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line everyone quotes</a:t>
            </a:r>
            <a:endParaRPr lang="en-US" sz="1250" dirty="0"/>
          </a:p>
        </p:txBody>
      </p:sp>
      <p:sp>
        <p:nvSpPr>
          <p:cNvPr id="20" name="Shape 18"/>
          <p:cNvSpPr/>
          <p:nvPr/>
        </p:nvSpPr>
        <p:spPr>
          <a:xfrm>
            <a:off x="6556248" y="3858768"/>
            <a:ext cx="82296" cy="274320"/>
          </a:xfrm>
          <a:prstGeom prst="roundRect">
            <a:avLst>
              <a:gd name="adj" fmla="val 44444"/>
            </a:avLst>
          </a:prstGeom>
          <a:solidFill>
            <a:srgbClr val="8C9AAC"/>
          </a:solidFill>
          <a:ln/>
        </p:spPr>
      </p:sp>
      <p:sp>
        <p:nvSpPr>
          <p:cNvPr id="21" name="Text 19"/>
          <p:cNvSpPr/>
          <p:nvPr/>
        </p:nvSpPr>
        <p:spPr>
          <a:xfrm>
            <a:off x="6766560" y="3767328"/>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Compute, databases, cache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app services, SQL, Redis, queues</a:t>
            </a:r>
            <a:endParaRPr lang="en-US" sz="1250" dirty="0"/>
          </a:p>
        </p:txBody>
      </p:sp>
      <p:sp>
        <p:nvSpPr>
          <p:cNvPr id="22" name="Shape 20"/>
          <p:cNvSpPr/>
          <p:nvPr/>
        </p:nvSpPr>
        <p:spPr>
          <a:xfrm>
            <a:off x="6556248" y="4425696"/>
            <a:ext cx="82296" cy="274320"/>
          </a:xfrm>
          <a:prstGeom prst="roundRect">
            <a:avLst>
              <a:gd name="adj" fmla="val 44444"/>
            </a:avLst>
          </a:prstGeom>
          <a:solidFill>
            <a:srgbClr val="8C9AAC"/>
          </a:solidFill>
          <a:ln/>
        </p:spPr>
      </p:sp>
      <p:sp>
        <p:nvSpPr>
          <p:cNvPr id="23" name="Text 21"/>
          <p:cNvSpPr/>
          <p:nvPr/>
        </p:nvSpPr>
        <p:spPr>
          <a:xfrm>
            <a:off x="6766560" y="4334256"/>
            <a:ext cx="4572000"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Storage, network, observability</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backups, egress, log ingestion</a:t>
            </a:r>
            <a:endParaRPr lang="en-US" sz="1250" dirty="0"/>
          </a:p>
        </p:txBody>
      </p:sp>
      <p:sp>
        <p:nvSpPr>
          <p:cNvPr id="24" name="Text 22"/>
          <p:cNvSpPr/>
          <p:nvPr/>
        </p:nvSpPr>
        <p:spPr>
          <a:xfrm>
            <a:off x="6556248" y="4901184"/>
            <a:ext cx="4572000" cy="274320"/>
          </a:xfrm>
          <a:prstGeom prst="rect">
            <a:avLst/>
          </a:prstGeom>
          <a:noFill/>
          <a:ln/>
        </p:spPr>
        <p:txBody>
          <a:bodyPr wrap="square" lIns="0" tIns="0" rIns="0" bIns="0" rtlCol="0" anchor="t"/>
          <a:lstStyle/>
          <a:p>
            <a:pPr indent="0" marL="0">
              <a:buNone/>
            </a:pPr>
            <a:r>
              <a:rPr lang="en-US" sz="1150" i="1" dirty="0">
                <a:solidFill>
                  <a:srgbClr val="9EABBA"/>
                </a:solidFill>
                <a:latin typeface="Calibri" pitchFamily="34" charset="0"/>
                <a:ea typeface="Calibri" pitchFamily="34" charset="-122"/>
                <a:cs typeface="Calibri" pitchFamily="34" charset="-120"/>
              </a:rPr>
              <a:t>Every layer bills whether or not the model is called.</a:t>
            </a:r>
            <a:endParaRPr lang="en-US" sz="1150" dirty="0"/>
          </a:p>
        </p:txBody>
      </p:sp>
      <p:sp>
        <p:nvSpPr>
          <p:cNvPr id="25" name="Shape 23"/>
          <p:cNvSpPr/>
          <p:nvPr/>
        </p:nvSpPr>
        <p:spPr>
          <a:xfrm>
            <a:off x="548640" y="5504688"/>
            <a:ext cx="11091672" cy="914400"/>
          </a:xfrm>
          <a:prstGeom prst="roundRect">
            <a:avLst>
              <a:gd name="adj" fmla="val 9000"/>
            </a:avLst>
          </a:prstGeom>
          <a:solidFill>
            <a:srgbClr val="DDEDE9"/>
          </a:solidFill>
          <a:ln/>
        </p:spPr>
      </p:sp>
      <p:sp>
        <p:nvSpPr>
          <p:cNvPr id="26" name="Text 24"/>
          <p:cNvSpPr/>
          <p:nvPr/>
        </p:nvSpPr>
        <p:spPr>
          <a:xfrm>
            <a:off x="877824" y="5504688"/>
            <a:ext cx="10424160" cy="914400"/>
          </a:xfrm>
          <a:prstGeom prst="rect">
            <a:avLst/>
          </a:prstGeom>
          <a:noFill/>
          <a:ln/>
        </p:spPr>
        <p:txBody>
          <a:bodyPr wrap="square" lIns="0" tIns="0" rIns="0" bIns="0" rtlCol="0" anchor="ctr"/>
          <a:lstStyle/>
          <a:p>
            <a:pPr indent="0" marL="0">
              <a:lnSpc>
                <a:spcPts val="1900"/>
              </a:lnSpc>
              <a:buNone/>
            </a:pPr>
            <a:r>
              <a:rPr lang="en-US" sz="1350" b="1" dirty="0">
                <a:solidFill>
                  <a:srgbClr val="1B2430"/>
                </a:solidFill>
                <a:latin typeface="Calibri" pitchFamily="34" charset="0"/>
                <a:ea typeface="Calibri" pitchFamily="34" charset="-122"/>
                <a:cs typeface="Calibri" pitchFamily="34" charset="-120"/>
              </a:rPr>
              <a:t>One ApplicationID across every resource a project touches. </a:t>
            </a:r>
            <a:pPr indent="0" marL="0">
              <a:lnSpc>
                <a:spcPts val="1900"/>
              </a:lnSpc>
              <a:buNone/>
            </a:pPr>
            <a:r>
              <a:rPr lang="en-US" sz="1350" dirty="0">
                <a:solidFill>
                  <a:srgbClr val="1B2430"/>
                </a:solidFill>
                <a:latin typeface="Calibri" pitchFamily="34" charset="0"/>
                <a:ea typeface="Calibri" pitchFamily="34" charset="-122"/>
                <a:cs typeface="Calibri" pitchFamily="34" charset="-120"/>
              </a:rPr>
              <a:t>The review then sees a single number with a single owner — and the model's share becomes a ratio anyone can argue with, rather than the headline.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STEP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Two moments, and only one of them is cheap</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At design, changing a cost is a conversation. After deployment, it is a migration.</a:t>
            </a:r>
            <a:endParaRPr lang="en-US" sz="1500" dirty="0"/>
          </a:p>
        </p:txBody>
      </p:sp>
      <p:sp>
        <p:nvSpPr>
          <p:cNvPr id="5" name="Shape 3"/>
          <p:cNvSpPr/>
          <p:nvPr/>
        </p:nvSpPr>
        <p:spPr>
          <a:xfrm>
            <a:off x="548640" y="2121408"/>
            <a:ext cx="5394960" cy="3566160"/>
          </a:xfrm>
          <a:prstGeom prst="roundRect">
            <a:avLst>
              <a:gd name="adj" fmla="val 2308"/>
            </a:avLst>
          </a:prstGeom>
          <a:solidFill>
            <a:srgbClr val="1F2936"/>
          </a:solidFill>
          <a:ln/>
        </p:spPr>
      </p:sp>
      <p:sp>
        <p:nvSpPr>
          <p:cNvPr id="6" name="Text 4"/>
          <p:cNvSpPr/>
          <p:nvPr/>
        </p:nvSpPr>
        <p:spPr>
          <a:xfrm>
            <a:off x="859536" y="2286000"/>
            <a:ext cx="47548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AT DESIGN — SHIFT LEFT</a:t>
            </a:r>
            <a:endParaRPr lang="en-US" sz="1150" dirty="0"/>
          </a:p>
        </p:txBody>
      </p:sp>
      <p:sp>
        <p:nvSpPr>
          <p:cNvPr id="7" name="Text 5"/>
          <p:cNvSpPr/>
          <p:nvPr/>
        </p:nvSpPr>
        <p:spPr>
          <a:xfrm>
            <a:off x="859536"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FinOps sits in the design and intake conversation, understanding what the project needs before the architecture is set.</a:t>
            </a:r>
            <a:endParaRPr lang="en-US" sz="1250" dirty="0"/>
          </a:p>
        </p:txBody>
      </p:sp>
      <p:sp>
        <p:nvSpPr>
          <p:cNvPr id="8" name="Shape 6"/>
          <p:cNvSpPr/>
          <p:nvPr/>
        </p:nvSpPr>
        <p:spPr>
          <a:xfrm>
            <a:off x="877824" y="3529584"/>
            <a:ext cx="100584" cy="100584"/>
          </a:xfrm>
          <a:prstGeom prst="ellipse">
            <a:avLst/>
          </a:prstGeom>
          <a:solidFill>
            <a:srgbClr val="E39B2C"/>
          </a:solidFill>
          <a:ln/>
        </p:spPr>
      </p:sp>
      <p:sp>
        <p:nvSpPr>
          <p:cNvPr id="9" name="Text 7"/>
          <p:cNvSpPr/>
          <p:nvPr/>
        </p:nvSpPr>
        <p:spPr>
          <a:xfrm>
            <a:off x="1115568"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Priced options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Two or three costed before one is chosen.</a:t>
            </a:r>
            <a:endParaRPr lang="en-US" sz="1250" dirty="0"/>
          </a:p>
        </p:txBody>
      </p:sp>
      <p:sp>
        <p:nvSpPr>
          <p:cNvPr id="10" name="Shape 8"/>
          <p:cNvSpPr/>
          <p:nvPr/>
        </p:nvSpPr>
        <p:spPr>
          <a:xfrm>
            <a:off x="877824" y="4242816"/>
            <a:ext cx="100584" cy="100584"/>
          </a:xfrm>
          <a:prstGeom prst="ellipse">
            <a:avLst/>
          </a:prstGeom>
          <a:solidFill>
            <a:srgbClr val="E39B2C"/>
          </a:solidFill>
          <a:ln/>
        </p:spPr>
      </p:sp>
      <p:sp>
        <p:nvSpPr>
          <p:cNvPr id="11" name="Text 9"/>
          <p:cNvSpPr/>
          <p:nvPr/>
        </p:nvSpPr>
        <p:spPr>
          <a:xfrm>
            <a:off x="1115568"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the latency and availability targets.</a:t>
            </a:r>
            <a:endParaRPr lang="en-US" sz="1250" dirty="0"/>
          </a:p>
        </p:txBody>
      </p:sp>
      <p:sp>
        <p:nvSpPr>
          <p:cNvPr id="12" name="Shape 10"/>
          <p:cNvSpPr/>
          <p:nvPr/>
        </p:nvSpPr>
        <p:spPr>
          <a:xfrm>
            <a:off x="877824" y="4956048"/>
            <a:ext cx="100584" cy="100584"/>
          </a:xfrm>
          <a:prstGeom prst="ellipse">
            <a:avLst/>
          </a:prstGeom>
          <a:solidFill>
            <a:srgbClr val="E39B2C"/>
          </a:solidFill>
          <a:ln/>
        </p:spPr>
      </p:sp>
      <p:sp>
        <p:nvSpPr>
          <p:cNvPr id="13" name="Text 11"/>
          <p:cNvSpPr/>
          <p:nvPr/>
        </p:nvSpPr>
        <p:spPr>
          <a:xfrm>
            <a:off x="1115568"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Enforced in the pipeline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Tagging and budget rules as policy, not paperwork.</a:t>
            </a:r>
            <a:endParaRPr lang="en-US" sz="1250" dirty="0"/>
          </a:p>
        </p:txBody>
      </p:sp>
      <p:sp>
        <p:nvSpPr>
          <p:cNvPr id="14" name="Shape 12"/>
          <p:cNvSpPr/>
          <p:nvPr/>
        </p:nvSpPr>
        <p:spPr>
          <a:xfrm>
            <a:off x="6245352" y="2121408"/>
            <a:ext cx="5394960" cy="3566160"/>
          </a:xfrm>
          <a:prstGeom prst="roundRect">
            <a:avLst>
              <a:gd name="adj" fmla="val 2308"/>
            </a:avLst>
          </a:prstGeom>
          <a:solidFill>
            <a:srgbClr val="1F2936"/>
          </a:solidFill>
          <a:ln/>
        </p:spPr>
      </p:sp>
      <p:sp>
        <p:nvSpPr>
          <p:cNvPr id="15" name="Text 13"/>
          <p:cNvSpPr/>
          <p:nvPr/>
        </p:nvSpPr>
        <p:spPr>
          <a:xfrm>
            <a:off x="6556248" y="2286000"/>
            <a:ext cx="4754880" cy="292608"/>
          </a:xfrm>
          <a:prstGeom prst="rect">
            <a:avLst/>
          </a:prstGeom>
          <a:noFill/>
          <a:ln/>
        </p:spPr>
        <p:txBody>
          <a:bodyPr wrap="square" lIns="0" tIns="0" rIns="0" bIns="0" rtlCol="0" anchor="ctr"/>
          <a:lstStyle/>
          <a:p>
            <a:pPr indent="0" marL="0">
              <a:buNone/>
            </a:pPr>
            <a:r>
              <a:rPr lang="en-US" sz="1150" b="1" spc="160" kern="0" dirty="0">
                <a:solidFill>
                  <a:srgbClr val="2E8B7A"/>
                </a:solidFill>
                <a:latin typeface="Calibri" pitchFamily="34" charset="0"/>
                <a:ea typeface="Calibri" pitchFamily="34" charset="-122"/>
                <a:cs typeface="Calibri" pitchFamily="34" charset="-120"/>
              </a:rPr>
              <a:t>AT RUNTIME — GUARDRAILS</a:t>
            </a:r>
            <a:endParaRPr lang="en-US" sz="1150" dirty="0"/>
          </a:p>
        </p:txBody>
      </p:sp>
      <p:sp>
        <p:nvSpPr>
          <p:cNvPr id="16" name="Text 14"/>
          <p:cNvSpPr/>
          <p:nvPr/>
        </p:nvSpPr>
        <p:spPr>
          <a:xfrm>
            <a:off x="6556248" y="2633472"/>
            <a:ext cx="4773168" cy="64008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Controls that act on spend already running, ordered by how fast each one takes effect.</a:t>
            </a:r>
            <a:endParaRPr lang="en-US" sz="1250" dirty="0"/>
          </a:p>
        </p:txBody>
      </p:sp>
      <p:sp>
        <p:nvSpPr>
          <p:cNvPr id="17" name="Shape 15"/>
          <p:cNvSpPr/>
          <p:nvPr/>
        </p:nvSpPr>
        <p:spPr>
          <a:xfrm>
            <a:off x="6574536" y="3529584"/>
            <a:ext cx="100584" cy="100584"/>
          </a:xfrm>
          <a:prstGeom prst="ellipse">
            <a:avLst/>
          </a:prstGeom>
          <a:solidFill>
            <a:srgbClr val="2E8B7A"/>
          </a:solidFill>
          <a:ln/>
        </p:spPr>
      </p:sp>
      <p:sp>
        <p:nvSpPr>
          <p:cNvPr id="18" name="Text 16"/>
          <p:cNvSpPr/>
          <p:nvPr/>
        </p:nvSpPr>
        <p:spPr>
          <a:xfrm>
            <a:off x="6812280" y="3401568"/>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Quotas and rate limits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Seconds. The only control that stops spend in progress.</a:t>
            </a:r>
            <a:endParaRPr lang="en-US" sz="1250" dirty="0"/>
          </a:p>
        </p:txBody>
      </p:sp>
      <p:sp>
        <p:nvSpPr>
          <p:cNvPr id="19" name="Shape 17"/>
          <p:cNvSpPr/>
          <p:nvPr/>
        </p:nvSpPr>
        <p:spPr>
          <a:xfrm>
            <a:off x="6574536" y="4242816"/>
            <a:ext cx="100584" cy="100584"/>
          </a:xfrm>
          <a:prstGeom prst="ellipse">
            <a:avLst/>
          </a:prstGeom>
          <a:solidFill>
            <a:srgbClr val="2E8B7A"/>
          </a:solidFill>
          <a:ln/>
        </p:spPr>
      </p:sp>
      <p:sp>
        <p:nvSpPr>
          <p:cNvPr id="20" name="Text 18"/>
          <p:cNvSpPr/>
          <p:nvPr/>
        </p:nvSpPr>
        <p:spPr>
          <a:xfrm>
            <a:off x="6812280" y="4114800"/>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Alerts routed to owners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Minutes on usage data. Never a page on a budget number.</a:t>
            </a:r>
            <a:endParaRPr lang="en-US" sz="1250" dirty="0"/>
          </a:p>
        </p:txBody>
      </p:sp>
      <p:sp>
        <p:nvSpPr>
          <p:cNvPr id="21" name="Shape 19"/>
          <p:cNvSpPr/>
          <p:nvPr/>
        </p:nvSpPr>
        <p:spPr>
          <a:xfrm>
            <a:off x="6574536" y="4956048"/>
            <a:ext cx="100584" cy="100584"/>
          </a:xfrm>
          <a:prstGeom prst="ellipse">
            <a:avLst/>
          </a:prstGeom>
          <a:solidFill>
            <a:srgbClr val="2E8B7A"/>
          </a:solidFill>
          <a:ln/>
        </p:spPr>
      </p:sp>
      <p:sp>
        <p:nvSpPr>
          <p:cNvPr id="22" name="Text 20"/>
          <p:cNvSpPr/>
          <p:nvPr/>
        </p:nvSpPr>
        <p:spPr>
          <a:xfrm>
            <a:off x="6812280" y="4828032"/>
            <a:ext cx="4517136" cy="67665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Budget thresholds</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Notify, review, gate — against the elapsed month.</a:t>
            </a:r>
            <a:endParaRPr lang="en-US" sz="1250" dirty="0"/>
          </a:p>
        </p:txBody>
      </p:sp>
      <p:sp>
        <p:nvSpPr>
          <p:cNvPr id="23" name="Text 21"/>
          <p:cNvSpPr/>
          <p:nvPr/>
        </p:nvSpPr>
        <p:spPr>
          <a:xfrm>
            <a:off x="548640" y="5870448"/>
            <a:ext cx="11091672" cy="566928"/>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the vision</dc:title>
  <dc:subject>Cloud and AI cost: name it, own it, measure it, limit it</dc:subject>
  <dc:creator>FinOps</dc:creator>
  <cp:lastModifiedBy>FinOps</cp:lastModifiedBy>
  <cp:revision>1</cp:revision>
  <dcterms:created xsi:type="dcterms:W3CDTF">2026-08-06T15:24:36Z</dcterms:created>
  <dcterms:modified xsi:type="dcterms:W3CDTF">2026-08-06T15:24:36Z</dcterms:modified>
</cp:coreProperties>
</file>