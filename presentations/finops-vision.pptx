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sentence on the slide and stop — let it land before explaining it. Every project has a name, an owner, a number and a limit is the whole vision; everything after this slide is how we get there. Say plainly that this is not a cost-cutting pitch. Cloud and AI are the one large spending line where commitments are made daily, by engineers, with no approval step in between — everywhere else in the budget that would be called a control gap, and closing it is the ask. The four words at the bottom are the structure for the rest of the deck: named and owned are slide 3, measured is slides 3 and 5, limited is slide 4. Naming them here means nothing later needs re-introducing.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'why is this on the agenda now', with external evidence rather than our own complaint. The 78% figure matters most: FinOps has moved from a finance reporting function to a technology capability, and it now sits in the CTO/CIO organization in most practices — up eighteen points in three years. That is the industry telling us where accountability belongs. The middle card is the scope point. Practices are no longer managing cloud alone — AI spend is now near-universal, SaaS is close behind, data centre is climbing. Build allocation and ownership for all of it, or rebuild the same work twice. The third card pre-empts the obvious pushback, 'haven't we already done the cost work?'. Optimization dropped below governance in the 2026 priorities because mature practices hit diminishing returns on hunting waste after the fact — the returns now come from ownership and governance, which is exactly what slides 3 and 4 propose. Attribute the numbers to the State of FinOps 2026 out loud. This is external evidence, not our opinion, and it is the strongest slide in the deck for that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of visibility in one slide, deliberately: trace it, and price it whole. The left side is the allocation chain — tag, allocate, showback, divide by a unit — and the single number to commit to is under 5% unallocated, reported weekly. That is the target that makes everything else on this slide possible. The right side is the point most cost conversations miss, and it is worth slowing down for: an AI feature gets quoted at its token cost, but it runs on compute, databases, cache, storage, gateway and log ingestion that bill every month regardless of how heavily the model is called. A project priced at its model line alone will be wrong by the size of everything under it, and the surprise arrives at the first full month, not the pilot. The instruction is the bottom bar: one ApplicationID across every resource a project touches. That is a tagging decision, not an engineering project, and it is the single most impactful thing this room can approve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Visibility is not a control — this slide is the controls, and the two columns are the only two moments a cost can be changed. Shift left is a change in when the conversation happens, not a tool purchase: FinOps in the design and intake conversation, understanding what a project needs before the architecture is set. Most of a workload's lifetime cost is settled at that point — rightsizing afterwards trims the margin, the design set the base. The runtime column is ordered by speed on purpose. Quotas act in seconds and are the only thing here that can stop money being spent while it is happening; alerts and budget thresholds act on a slower clock and only ever notify. Say the quote at the bottom plainly — billing data arrives a day or two late, so anything built on it can only report, never prevent. If asked what this costs: someone's time in design reviews, and reversible technical settings. No new tooling is implied by either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plane on specifics. Ninety days, three phases, each one word — name it, see it, hold it — mapping directly back to the vision statement on slide 1. Nothing in the plan requires a purchase or new headcount, and the closing line says so explicitly because that is the first thing being calculated while this slide is on screen. The KPI panel is what makes this reportable next quarter, and none of the three is a savings number — allocation coverage says whether the data can be trusted, time-to-attribute says whether we can act, cost per unit says whether growth is healthy. Do not leave the room without the two decisions on the right. The second is the one people avoid — a limit that never blocks anything is treated as advisory, because it is. Ask directly whether we are willing to have a hard ceiling somewhere, and where. If asked about tooling: it is deliberately absent from this plan. A platform is worth evaluating once allocation cannot be fixed at source — that conversation comes after these ninety days, not instead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22"/>
        </a:solidFill>
      </p:bgPr>
    </p:bg>
    <p:spTree>
      <p:nvGrpSpPr>
        <p:cNvPr id="1" name=""/>
        <p:cNvGrpSpPr/>
        <p:nvPr/>
      </p:nvGrpSpPr>
      <p:grpSpPr>
        <a:xfrm>
          <a:off x="0" y="0"/>
          <a:ext cx="0" cy="0"/>
          <a:chOff x="0" y="0"/>
          <a:chExt cx="0" cy="0"/>
        </a:xfrm>
      </p:grpSpPr>
      <p:sp>
        <p:nvSpPr>
          <p:cNvPr id="2" name="Text 0"/>
          <p:cNvSpPr/>
          <p:nvPr/>
        </p:nvSpPr>
        <p:spPr>
          <a:xfrm>
            <a:off x="548640" y="731520"/>
            <a:ext cx="6400800" cy="274320"/>
          </a:xfrm>
          <a:prstGeom prst="rect">
            <a:avLst/>
          </a:prstGeom>
          <a:noFill/>
          <a:ln/>
        </p:spPr>
        <p:txBody>
          <a:bodyPr wrap="square" lIns="0" tIns="0" rIns="0" bIns="0" rtlCol="0" anchor="ctr"/>
          <a:lstStyle/>
          <a:p>
            <a:pPr indent="0" marL="0">
              <a:buNone/>
            </a:pPr>
            <a:r>
              <a:rPr lang="en-US" sz="1150" b="1" spc="240" kern="0" dirty="0">
                <a:solidFill>
                  <a:srgbClr val="E39B2C"/>
                </a:solidFill>
                <a:latin typeface="Calibri" pitchFamily="34" charset="0"/>
                <a:ea typeface="Calibri" pitchFamily="34" charset="-122"/>
                <a:cs typeface="Calibri" pitchFamily="34" charset="-120"/>
              </a:rPr>
              <a:t>FINOPS — THE VISION</a:t>
            </a:r>
            <a:endParaRPr lang="en-US" sz="1150" dirty="0"/>
          </a:p>
        </p:txBody>
      </p:sp>
      <p:sp>
        <p:nvSpPr>
          <p:cNvPr id="3" name="Text 1"/>
          <p:cNvSpPr/>
          <p:nvPr/>
        </p:nvSpPr>
        <p:spPr>
          <a:xfrm>
            <a:off x="548640" y="1188720"/>
            <a:ext cx="10515600" cy="1645920"/>
          </a:xfrm>
          <a:prstGeom prst="rect">
            <a:avLst/>
          </a:prstGeom>
          <a:noFill/>
          <a:ln/>
        </p:spPr>
        <p:txBody>
          <a:bodyPr wrap="square" lIns="0" tIns="0" rIns="0" bIns="0" rtlCol="0" anchor="t"/>
          <a:lstStyle/>
          <a:p>
            <a:pPr indent="0" marL="0">
              <a:lnSpc>
                <a:spcPts val="4600"/>
              </a:lnSpc>
              <a:buNone/>
            </a:pPr>
            <a:r>
              <a:rPr lang="en-US" sz="3600" b="1" dirty="0">
                <a:solidFill>
                  <a:srgbClr val="FFFFFF"/>
                </a:solidFill>
                <a:latin typeface="Cambria" pitchFamily="34" charset="0"/>
                <a:ea typeface="Cambria" pitchFamily="34" charset="-122"/>
                <a:cs typeface="Cambria" pitchFamily="34" charset="-120"/>
              </a:rPr>
              <a:t>Every project has a name,</a:t>
            </a:r>
            <a:endParaRPr lang="en-US" sz="3600" dirty="0"/>
          </a:p>
          <a:p>
            <a:pPr indent="0" marL="0">
              <a:lnSpc>
                <a:spcPts val="4600"/>
              </a:lnSpc>
              <a:buNone/>
            </a:pPr>
            <a:r>
              <a:rPr lang="en-US" sz="3600" b="1" dirty="0">
                <a:solidFill>
                  <a:srgbClr val="FFFFFF"/>
                </a:solidFill>
                <a:latin typeface="Cambria" pitchFamily="34" charset="0"/>
                <a:ea typeface="Cambria" pitchFamily="34" charset="-122"/>
                <a:cs typeface="Cambria" pitchFamily="34" charset="-120"/>
              </a:rPr>
              <a:t>an owner, a number and a limit.</a:t>
            </a:r>
            <a:endParaRPr lang="en-US" sz="3600" dirty="0"/>
          </a:p>
        </p:txBody>
      </p:sp>
      <p:sp>
        <p:nvSpPr>
          <p:cNvPr id="4" name="Text 2"/>
          <p:cNvSpPr/>
          <p:nvPr/>
        </p:nvSpPr>
        <p:spPr>
          <a:xfrm>
            <a:off x="548640" y="2962656"/>
            <a:ext cx="10241280" cy="731520"/>
          </a:xfrm>
          <a:prstGeom prst="rect">
            <a:avLst/>
          </a:prstGeom>
          <a:noFill/>
          <a:ln/>
        </p:spPr>
        <p:txBody>
          <a:bodyPr wrap="square" lIns="0" tIns="0" rIns="0" bIns="0" rtlCol="0" anchor="t"/>
          <a:lstStyle/>
          <a:p>
            <a:pPr indent="0" marL="0">
              <a:lnSpc>
                <a:spcPts val="2200"/>
              </a:lnSpc>
              <a:buNone/>
            </a:pPr>
            <a:r>
              <a:rPr lang="en-US" sz="1550" dirty="0">
                <a:solidFill>
                  <a:srgbClr val="9EABBA"/>
                </a:solidFill>
                <a:latin typeface="Calibri" pitchFamily="34" charset="0"/>
                <a:ea typeface="Calibri" pitchFamily="34" charset="-122"/>
                <a:cs typeface="Calibri" pitchFamily="34" charset="-120"/>
              </a:rPr>
              <a:t>Not a cost-cutting programme. The spending control that every other budget line already has, applied to the one where the decisions are made daily by people who never see the invoice.</a:t>
            </a:r>
            <a:endParaRPr lang="en-US" sz="1550" dirty="0"/>
          </a:p>
        </p:txBody>
      </p:sp>
      <p:sp>
        <p:nvSpPr>
          <p:cNvPr id="5" name="Shape 3"/>
          <p:cNvSpPr/>
          <p:nvPr/>
        </p:nvSpPr>
        <p:spPr>
          <a:xfrm>
            <a:off x="548640" y="4023360"/>
            <a:ext cx="2587752" cy="1828800"/>
          </a:xfrm>
          <a:prstGeom prst="roundRect">
            <a:avLst>
              <a:gd name="adj" fmla="val 4500"/>
            </a:avLst>
          </a:prstGeom>
          <a:solidFill>
            <a:srgbClr val="1F2936"/>
          </a:solidFill>
          <a:ln/>
        </p:spPr>
      </p:sp>
      <p:sp>
        <p:nvSpPr>
          <p:cNvPr id="6" name="Shape 4"/>
          <p:cNvSpPr/>
          <p:nvPr/>
        </p:nvSpPr>
        <p:spPr>
          <a:xfrm>
            <a:off x="804672" y="4261104"/>
            <a:ext cx="475488" cy="475488"/>
          </a:xfrm>
          <a:prstGeom prst="ellipse">
            <a:avLst/>
          </a:prstGeom>
          <a:solidFill>
            <a:srgbClr val="2E3A48"/>
          </a:solidFill>
          <a:ln/>
        </p:spPr>
      </p:sp>
      <p:pic>
        <p:nvPicPr>
          <p:cNvPr id="7" name="Image 0" descr="preencoded.png">    </p:cNvPr>
          <p:cNvPicPr>
            <a:picLocks noChangeAspect="1"/>
          </p:cNvPicPr>
          <p:nvPr/>
        </p:nvPicPr>
        <p:blipFill>
          <a:blip r:embed="rId1"/>
          <a:stretch>
            <a:fillRect/>
          </a:stretch>
        </p:blipFill>
        <p:spPr>
          <a:xfrm>
            <a:off x="923544" y="4379976"/>
            <a:ext cx="237744" cy="237744"/>
          </a:xfrm>
          <a:prstGeom prst="rect">
            <a:avLst/>
          </a:prstGeom>
        </p:spPr>
      </p:pic>
      <p:sp>
        <p:nvSpPr>
          <p:cNvPr id="8" name="Text 5"/>
          <p:cNvSpPr/>
          <p:nvPr/>
        </p:nvSpPr>
        <p:spPr>
          <a:xfrm>
            <a:off x="804672" y="4846320"/>
            <a:ext cx="2103120" cy="329184"/>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Named</a:t>
            </a:r>
            <a:endParaRPr lang="en-US" sz="1800" dirty="0"/>
          </a:p>
        </p:txBody>
      </p:sp>
      <p:sp>
        <p:nvSpPr>
          <p:cNvPr id="9" name="Text 6"/>
          <p:cNvSpPr/>
          <p:nvPr/>
        </p:nvSpPr>
        <p:spPr>
          <a:xfrm>
            <a:off x="804672" y="5212080"/>
            <a:ext cx="2103120" cy="566928"/>
          </a:xfrm>
          <a:prstGeom prst="rect">
            <a:avLst/>
          </a:prstGeom>
          <a:noFill/>
          <a:ln/>
        </p:spPr>
        <p:txBody>
          <a:bodyPr wrap="square" lIns="0" tIns="0" rIns="0" bIns="0" rtlCol="0" anchor="t"/>
          <a:lstStyle/>
          <a:p>
            <a:pPr indent="0" marL="0">
              <a:lnSpc>
                <a:spcPts val="1500"/>
              </a:lnSpc>
              <a:buNone/>
            </a:pPr>
            <a:r>
              <a:rPr lang="en-US" sz="1200" dirty="0">
                <a:solidFill>
                  <a:srgbClr val="9EABBA"/>
                </a:solidFill>
                <a:latin typeface="Calibri" pitchFamily="34" charset="0"/>
                <a:ea typeface="Calibri" pitchFamily="34" charset="-122"/>
                <a:cs typeface="Calibri" pitchFamily="34" charset="-120"/>
              </a:rPr>
              <a:t>One identifier per project, across every resource it touches.</a:t>
            </a:r>
            <a:endParaRPr lang="en-US" sz="1200" dirty="0"/>
          </a:p>
        </p:txBody>
      </p:sp>
      <p:sp>
        <p:nvSpPr>
          <p:cNvPr id="10" name="Shape 7"/>
          <p:cNvSpPr/>
          <p:nvPr/>
        </p:nvSpPr>
        <p:spPr>
          <a:xfrm>
            <a:off x="3383280" y="4023360"/>
            <a:ext cx="2587752" cy="1828800"/>
          </a:xfrm>
          <a:prstGeom prst="roundRect">
            <a:avLst>
              <a:gd name="adj" fmla="val 4500"/>
            </a:avLst>
          </a:prstGeom>
          <a:solidFill>
            <a:srgbClr val="1F2936"/>
          </a:solidFill>
          <a:ln/>
        </p:spPr>
      </p:sp>
      <p:sp>
        <p:nvSpPr>
          <p:cNvPr id="11" name="Shape 8"/>
          <p:cNvSpPr/>
          <p:nvPr/>
        </p:nvSpPr>
        <p:spPr>
          <a:xfrm>
            <a:off x="3639312" y="4261104"/>
            <a:ext cx="475488" cy="475488"/>
          </a:xfrm>
          <a:prstGeom prst="ellipse">
            <a:avLst/>
          </a:prstGeom>
          <a:solidFill>
            <a:srgbClr val="2E3A48"/>
          </a:solidFill>
          <a:ln/>
        </p:spPr>
      </p:sp>
      <p:pic>
        <p:nvPicPr>
          <p:cNvPr id="12" name="Image 1" descr="preencoded.png">    </p:cNvPr>
          <p:cNvPicPr>
            <a:picLocks noChangeAspect="1"/>
          </p:cNvPicPr>
          <p:nvPr/>
        </p:nvPicPr>
        <p:blipFill>
          <a:blip r:embed="rId2"/>
          <a:stretch>
            <a:fillRect/>
          </a:stretch>
        </p:blipFill>
        <p:spPr>
          <a:xfrm>
            <a:off x="3758184" y="4379976"/>
            <a:ext cx="237744" cy="237744"/>
          </a:xfrm>
          <a:prstGeom prst="rect">
            <a:avLst/>
          </a:prstGeom>
        </p:spPr>
      </p:pic>
      <p:sp>
        <p:nvSpPr>
          <p:cNvPr id="13" name="Text 9"/>
          <p:cNvSpPr/>
          <p:nvPr/>
        </p:nvSpPr>
        <p:spPr>
          <a:xfrm>
            <a:off x="3639312" y="4846320"/>
            <a:ext cx="2103120" cy="329184"/>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Owned</a:t>
            </a:r>
            <a:endParaRPr lang="en-US" sz="1800" dirty="0"/>
          </a:p>
        </p:txBody>
      </p:sp>
      <p:sp>
        <p:nvSpPr>
          <p:cNvPr id="14" name="Text 10"/>
          <p:cNvSpPr/>
          <p:nvPr/>
        </p:nvSpPr>
        <p:spPr>
          <a:xfrm>
            <a:off x="3639312" y="5212080"/>
            <a:ext cx="2103120" cy="566928"/>
          </a:xfrm>
          <a:prstGeom prst="rect">
            <a:avLst/>
          </a:prstGeom>
          <a:noFill/>
          <a:ln/>
        </p:spPr>
        <p:txBody>
          <a:bodyPr wrap="square" lIns="0" tIns="0" rIns="0" bIns="0" rtlCol="0" anchor="t"/>
          <a:lstStyle/>
          <a:p>
            <a:pPr indent="0" marL="0">
              <a:lnSpc>
                <a:spcPts val="1500"/>
              </a:lnSpc>
              <a:buNone/>
            </a:pPr>
            <a:r>
              <a:rPr lang="en-US" sz="1200" dirty="0">
                <a:solidFill>
                  <a:srgbClr val="9EABBA"/>
                </a:solidFill>
                <a:latin typeface="Calibri" pitchFamily="34" charset="0"/>
                <a:ea typeface="Calibri" pitchFamily="34" charset="-122"/>
                <a:cs typeface="Calibri" pitchFamily="34" charset="-120"/>
              </a:rPr>
              <a:t>A named person who signs off the budget and answers the alert.</a:t>
            </a:r>
            <a:endParaRPr lang="en-US" sz="1200" dirty="0"/>
          </a:p>
        </p:txBody>
      </p:sp>
      <p:sp>
        <p:nvSpPr>
          <p:cNvPr id="15" name="Shape 11"/>
          <p:cNvSpPr/>
          <p:nvPr/>
        </p:nvSpPr>
        <p:spPr>
          <a:xfrm>
            <a:off x="6217920" y="4023360"/>
            <a:ext cx="2587752" cy="1828800"/>
          </a:xfrm>
          <a:prstGeom prst="roundRect">
            <a:avLst>
              <a:gd name="adj" fmla="val 4500"/>
            </a:avLst>
          </a:prstGeom>
          <a:solidFill>
            <a:srgbClr val="1F2936"/>
          </a:solidFill>
          <a:ln/>
        </p:spPr>
      </p:sp>
      <p:sp>
        <p:nvSpPr>
          <p:cNvPr id="16" name="Shape 12"/>
          <p:cNvSpPr/>
          <p:nvPr/>
        </p:nvSpPr>
        <p:spPr>
          <a:xfrm>
            <a:off x="6473952" y="4261104"/>
            <a:ext cx="475488" cy="475488"/>
          </a:xfrm>
          <a:prstGeom prst="ellipse">
            <a:avLst/>
          </a:prstGeom>
          <a:solidFill>
            <a:srgbClr val="2E3A48"/>
          </a:solidFill>
          <a:ln/>
        </p:spPr>
      </p:sp>
      <p:pic>
        <p:nvPicPr>
          <p:cNvPr id="17" name="Image 2" descr="preencoded.png">    </p:cNvPr>
          <p:cNvPicPr>
            <a:picLocks noChangeAspect="1"/>
          </p:cNvPicPr>
          <p:nvPr/>
        </p:nvPicPr>
        <p:blipFill>
          <a:blip r:embed="rId3"/>
          <a:stretch>
            <a:fillRect/>
          </a:stretch>
        </p:blipFill>
        <p:spPr>
          <a:xfrm>
            <a:off x="6592824" y="4379976"/>
            <a:ext cx="237744" cy="237744"/>
          </a:xfrm>
          <a:prstGeom prst="rect">
            <a:avLst/>
          </a:prstGeom>
        </p:spPr>
      </p:pic>
      <p:sp>
        <p:nvSpPr>
          <p:cNvPr id="18" name="Text 13"/>
          <p:cNvSpPr/>
          <p:nvPr/>
        </p:nvSpPr>
        <p:spPr>
          <a:xfrm>
            <a:off x="6473952" y="4846320"/>
            <a:ext cx="2103120" cy="329184"/>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Measured</a:t>
            </a:r>
            <a:endParaRPr lang="en-US" sz="1800" dirty="0"/>
          </a:p>
        </p:txBody>
      </p:sp>
      <p:sp>
        <p:nvSpPr>
          <p:cNvPr id="19" name="Text 14"/>
          <p:cNvSpPr/>
          <p:nvPr/>
        </p:nvSpPr>
        <p:spPr>
          <a:xfrm>
            <a:off x="6473952" y="5212080"/>
            <a:ext cx="2103120" cy="566928"/>
          </a:xfrm>
          <a:prstGeom prst="rect">
            <a:avLst/>
          </a:prstGeom>
          <a:noFill/>
          <a:ln/>
        </p:spPr>
        <p:txBody>
          <a:bodyPr wrap="square" lIns="0" tIns="0" rIns="0" bIns="0" rtlCol="0" anchor="t"/>
          <a:lstStyle/>
          <a:p>
            <a:pPr indent="0" marL="0">
              <a:lnSpc>
                <a:spcPts val="1500"/>
              </a:lnSpc>
              <a:buNone/>
            </a:pPr>
            <a:r>
              <a:rPr lang="en-US" sz="1200" dirty="0">
                <a:solidFill>
                  <a:srgbClr val="9EABBA"/>
                </a:solidFill>
                <a:latin typeface="Calibri" pitchFamily="34" charset="0"/>
                <a:ea typeface="Calibri" pitchFamily="34" charset="-122"/>
                <a:cs typeface="Calibri" pitchFamily="34" charset="-120"/>
              </a:rPr>
              <a:t>A cost per customer or per transaction, refreshed daily.</a:t>
            </a:r>
            <a:endParaRPr lang="en-US" sz="1200" dirty="0"/>
          </a:p>
        </p:txBody>
      </p:sp>
      <p:sp>
        <p:nvSpPr>
          <p:cNvPr id="20" name="Shape 15"/>
          <p:cNvSpPr/>
          <p:nvPr/>
        </p:nvSpPr>
        <p:spPr>
          <a:xfrm>
            <a:off x="9052560" y="4023360"/>
            <a:ext cx="2587752" cy="1828800"/>
          </a:xfrm>
          <a:prstGeom prst="roundRect">
            <a:avLst>
              <a:gd name="adj" fmla="val 4500"/>
            </a:avLst>
          </a:prstGeom>
          <a:solidFill>
            <a:srgbClr val="1F2936"/>
          </a:solidFill>
          <a:ln/>
        </p:spPr>
      </p:sp>
      <p:sp>
        <p:nvSpPr>
          <p:cNvPr id="21" name="Shape 16"/>
          <p:cNvSpPr/>
          <p:nvPr/>
        </p:nvSpPr>
        <p:spPr>
          <a:xfrm>
            <a:off x="9308592" y="4261104"/>
            <a:ext cx="475488" cy="475488"/>
          </a:xfrm>
          <a:prstGeom prst="ellipse">
            <a:avLst/>
          </a:prstGeom>
          <a:solidFill>
            <a:srgbClr val="2E3A48"/>
          </a:solidFill>
          <a:ln/>
        </p:spPr>
      </p:sp>
      <p:pic>
        <p:nvPicPr>
          <p:cNvPr id="22" name="Image 3" descr="preencoded.png">    </p:cNvPr>
          <p:cNvPicPr>
            <a:picLocks noChangeAspect="1"/>
          </p:cNvPicPr>
          <p:nvPr/>
        </p:nvPicPr>
        <p:blipFill>
          <a:blip r:embed="rId4"/>
          <a:stretch>
            <a:fillRect/>
          </a:stretch>
        </p:blipFill>
        <p:spPr>
          <a:xfrm>
            <a:off x="9427464" y="4379976"/>
            <a:ext cx="237744" cy="237744"/>
          </a:xfrm>
          <a:prstGeom prst="rect">
            <a:avLst/>
          </a:prstGeom>
        </p:spPr>
      </p:pic>
      <p:sp>
        <p:nvSpPr>
          <p:cNvPr id="23" name="Text 17"/>
          <p:cNvSpPr/>
          <p:nvPr/>
        </p:nvSpPr>
        <p:spPr>
          <a:xfrm>
            <a:off x="9308592" y="4846320"/>
            <a:ext cx="2103120" cy="329184"/>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Limited</a:t>
            </a:r>
            <a:endParaRPr lang="en-US" sz="1800" dirty="0"/>
          </a:p>
        </p:txBody>
      </p:sp>
      <p:sp>
        <p:nvSpPr>
          <p:cNvPr id="24" name="Text 18"/>
          <p:cNvSpPr/>
          <p:nvPr/>
        </p:nvSpPr>
        <p:spPr>
          <a:xfrm>
            <a:off x="9308592" y="5212080"/>
            <a:ext cx="2103120" cy="566928"/>
          </a:xfrm>
          <a:prstGeom prst="rect">
            <a:avLst/>
          </a:prstGeom>
          <a:noFill/>
          <a:ln/>
        </p:spPr>
        <p:txBody>
          <a:bodyPr wrap="square" lIns="0" tIns="0" rIns="0" bIns="0" rtlCol="0" anchor="t"/>
          <a:lstStyle/>
          <a:p>
            <a:pPr indent="0" marL="0">
              <a:lnSpc>
                <a:spcPts val="1500"/>
              </a:lnSpc>
              <a:buNone/>
            </a:pPr>
            <a:r>
              <a:rPr lang="en-US" sz="1200" dirty="0">
                <a:solidFill>
                  <a:srgbClr val="9EABBA"/>
                </a:solidFill>
                <a:latin typeface="Calibri" pitchFamily="34" charset="0"/>
                <a:ea typeface="Calibri" pitchFamily="34" charset="-122"/>
                <a:cs typeface="Calibri" pitchFamily="34" charset="-120"/>
              </a:rPr>
              <a:t>A ceiling that binds before the invoice does.</a:t>
            </a:r>
            <a:endParaRPr lang="en-US" sz="1200" dirty="0"/>
          </a:p>
        </p:txBody>
      </p:sp>
      <p:sp>
        <p:nvSpPr>
          <p:cNvPr id="25" name="Text 19"/>
          <p:cNvSpPr/>
          <p:nvPr/>
        </p:nvSpPr>
        <p:spPr>
          <a:xfrm>
            <a:off x="548640" y="6144768"/>
            <a:ext cx="7315200" cy="310896"/>
          </a:xfrm>
          <a:prstGeom prst="rect">
            <a:avLst/>
          </a:prstGeom>
          <a:noFill/>
          <a:ln/>
        </p:spPr>
        <p:txBody>
          <a:bodyPr wrap="square" lIns="0" tIns="0" rIns="0" bIns="0" rtlCol="0" anchor="ctr"/>
          <a:lstStyle/>
          <a:p>
            <a:pPr indent="0" marL="0">
              <a:buNone/>
            </a:pPr>
            <a:r>
              <a:rPr lang="en-US" sz="1150" dirty="0">
                <a:solidFill>
                  <a:srgbClr val="5C6675"/>
                </a:solidFill>
                <a:latin typeface="Calibri" pitchFamily="34" charset="0"/>
                <a:ea typeface="Calibri" pitchFamily="34" charset="-122"/>
                <a:cs typeface="Calibri" pitchFamily="34" charset="-120"/>
              </a:rPr>
              <a:t>Presented to Executive Leadership  ·  Date ____________</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
            <a:ext cx="7315200" cy="256032"/>
          </a:xfrm>
          <a:prstGeom prst="rect">
            <a:avLst/>
          </a:prstGeom>
          <a:noFill/>
          <a:ln/>
        </p:spPr>
        <p:txBody>
          <a:bodyPr wrap="square" lIns="0" tIns="0" rIns="0" bIns="0" rtlCol="0" anchor="ctr"/>
          <a:lstStyle/>
          <a:p>
            <a:pPr indent="0" marL="0">
              <a:buNone/>
            </a:pPr>
            <a:r>
              <a:rPr lang="en-US" sz="1100" b="1" spc="220" kern="0" dirty="0">
                <a:solidFill>
                  <a:srgbClr val="E39B2C"/>
                </a:solidFill>
                <a:latin typeface="Calibri" pitchFamily="34" charset="0"/>
                <a:ea typeface="Calibri" pitchFamily="34" charset="-122"/>
                <a:cs typeface="Calibri" pitchFamily="34" charset="-120"/>
              </a:rPr>
              <a:t>WHY NOW</a:t>
            </a:r>
            <a:endParaRPr lang="en-US" sz="1100" dirty="0"/>
          </a:p>
        </p:txBody>
      </p:sp>
      <p:sp>
        <p:nvSpPr>
          <p:cNvPr id="3" name="Text 1"/>
          <p:cNvSpPr/>
          <p:nvPr/>
        </p:nvSpPr>
        <p:spPr>
          <a:xfrm>
            <a:off x="548640" y="768096"/>
            <a:ext cx="11091672" cy="804672"/>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This is where the industry is already going</a:t>
            </a:r>
            <a:endParaRPr lang="en-US" sz="3100" dirty="0"/>
          </a:p>
        </p:txBody>
      </p:sp>
      <p:sp>
        <p:nvSpPr>
          <p:cNvPr id="4" name="Text 2"/>
          <p:cNvSpPr/>
          <p:nvPr/>
        </p:nvSpPr>
        <p:spPr>
          <a:xfrm>
            <a:off x="548640" y="1536192"/>
            <a:ext cx="10607040" cy="365760"/>
          </a:xfrm>
          <a:prstGeom prst="rect">
            <a:avLst/>
          </a:prstGeom>
          <a:noFill/>
          <a:ln/>
        </p:spPr>
        <p:txBody>
          <a:bodyPr wrap="square" lIns="0" tIns="0" rIns="0" bIns="0" rtlCol="0" anchor="ctr"/>
          <a:lstStyle/>
          <a:p>
            <a:pPr indent="0" marL="0">
              <a:buNone/>
            </a:pPr>
            <a:r>
              <a:rPr lang="en-US" sz="1500" dirty="0">
                <a:solidFill>
                  <a:srgbClr val="5C6675"/>
                </a:solidFill>
                <a:latin typeface="Calibri" pitchFamily="34" charset="0"/>
                <a:ea typeface="Calibri" pitchFamily="34" charset="-122"/>
                <a:cs typeface="Calibri" pitchFamily="34" charset="-120"/>
              </a:rPr>
              <a:t>FinOps Foundation, State of FinOps 2026 (n ≈ 1,500 practitioners worldwide).</a:t>
            </a:r>
            <a:endParaRPr lang="en-US" sz="1500" dirty="0"/>
          </a:p>
        </p:txBody>
      </p:sp>
      <p:sp>
        <p:nvSpPr>
          <p:cNvPr id="5" name="Shape 3"/>
          <p:cNvSpPr/>
          <p:nvPr/>
        </p:nvSpPr>
        <p:spPr>
          <a:xfrm>
            <a:off x="548640" y="2121408"/>
            <a:ext cx="3511296" cy="2743200"/>
          </a:xfrm>
          <a:prstGeom prst="roundRect">
            <a:avLst>
              <a:gd name="adj" fmla="val 3000"/>
            </a:avLst>
          </a:prstGeom>
          <a:solidFill>
            <a:srgbClr val="1F2936"/>
          </a:solidFill>
          <a:ln/>
        </p:spPr>
      </p:sp>
      <p:sp>
        <p:nvSpPr>
          <p:cNvPr id="6" name="Text 4"/>
          <p:cNvSpPr/>
          <p:nvPr/>
        </p:nvSpPr>
        <p:spPr>
          <a:xfrm>
            <a:off x="859536" y="2377440"/>
            <a:ext cx="2926080" cy="914400"/>
          </a:xfrm>
          <a:prstGeom prst="rect">
            <a:avLst/>
          </a:prstGeom>
          <a:noFill/>
          <a:ln/>
        </p:spPr>
        <p:txBody>
          <a:bodyPr wrap="square" lIns="0" tIns="0" rIns="0" bIns="0" rtlCol="0" anchor="ctr"/>
          <a:lstStyle/>
          <a:p>
            <a:pPr indent="0" marL="0">
              <a:buNone/>
            </a:pPr>
            <a:r>
              <a:rPr lang="en-US" sz="4600" b="1" dirty="0">
                <a:solidFill>
                  <a:srgbClr val="E39B2C"/>
                </a:solidFill>
                <a:latin typeface="Cambria" pitchFamily="34" charset="0"/>
                <a:ea typeface="Cambria" pitchFamily="34" charset="-122"/>
                <a:cs typeface="Cambria" pitchFamily="34" charset="-120"/>
              </a:rPr>
              <a:t>78%</a:t>
            </a:r>
            <a:endParaRPr lang="en-US" sz="4600" dirty="0"/>
          </a:p>
        </p:txBody>
      </p:sp>
      <p:sp>
        <p:nvSpPr>
          <p:cNvPr id="7" name="Text 5"/>
          <p:cNvSpPr/>
          <p:nvPr/>
        </p:nvSpPr>
        <p:spPr>
          <a:xfrm>
            <a:off x="859536" y="3364992"/>
            <a:ext cx="2926080" cy="914400"/>
          </a:xfrm>
          <a:prstGeom prst="rect">
            <a:avLst/>
          </a:prstGeom>
          <a:noFill/>
          <a:ln/>
        </p:spPr>
        <p:txBody>
          <a:bodyPr wrap="square" lIns="0" tIns="0" rIns="0" bIns="0" rtlCol="0" anchor="t"/>
          <a:lstStyle/>
          <a:p>
            <a:pPr indent="0" marL="0">
              <a:lnSpc>
                <a:spcPts val="1900"/>
              </a:lnSpc>
              <a:buNone/>
            </a:pPr>
            <a:r>
              <a:rPr lang="en-US" sz="1400" dirty="0">
                <a:solidFill>
                  <a:srgbClr val="FFFFFF"/>
                </a:solidFill>
                <a:latin typeface="Calibri" pitchFamily="34" charset="0"/>
                <a:ea typeface="Calibri" pitchFamily="34" charset="-122"/>
                <a:cs typeface="Calibri" pitchFamily="34" charset="-120"/>
              </a:rPr>
              <a:t>of FinOps practices now report into the CTO/CIO organization</a:t>
            </a:r>
            <a:endParaRPr lang="en-US" sz="1400" dirty="0"/>
          </a:p>
        </p:txBody>
      </p:sp>
      <p:sp>
        <p:nvSpPr>
          <p:cNvPr id="8" name="Text 6"/>
          <p:cNvSpPr/>
          <p:nvPr/>
        </p:nvSpPr>
        <p:spPr>
          <a:xfrm>
            <a:off x="859536" y="4297680"/>
            <a:ext cx="2926080" cy="457200"/>
          </a:xfrm>
          <a:prstGeom prst="rect">
            <a:avLst/>
          </a:prstGeom>
          <a:noFill/>
          <a:ln/>
        </p:spPr>
        <p:txBody>
          <a:bodyPr wrap="square" lIns="0" tIns="0" rIns="0" bIns="0" rtlCol="0" anchor="t"/>
          <a:lstStyle/>
          <a:p>
            <a:pPr indent="0" marL="0">
              <a:lnSpc>
                <a:spcPts val="1500"/>
              </a:lnSpc>
              <a:buNone/>
            </a:pPr>
            <a:r>
              <a:rPr lang="en-US" sz="1150" dirty="0">
                <a:solidFill>
                  <a:srgbClr val="9EABBA"/>
                </a:solidFill>
                <a:latin typeface="Calibri" pitchFamily="34" charset="0"/>
                <a:ea typeface="Calibri" pitchFamily="34" charset="-122"/>
                <a:cs typeface="Calibri" pitchFamily="34" charset="-120"/>
              </a:rPr>
              <a:t>up 18 points since 2023</a:t>
            </a:r>
            <a:endParaRPr lang="en-US" sz="1150" dirty="0"/>
          </a:p>
        </p:txBody>
      </p:sp>
      <p:sp>
        <p:nvSpPr>
          <p:cNvPr id="9" name="Shape 7"/>
          <p:cNvSpPr/>
          <p:nvPr/>
        </p:nvSpPr>
        <p:spPr>
          <a:xfrm>
            <a:off x="4334256" y="2121408"/>
            <a:ext cx="3511296" cy="2743200"/>
          </a:xfrm>
          <a:prstGeom prst="roundRect">
            <a:avLst>
              <a:gd name="adj" fmla="val 3000"/>
            </a:avLst>
          </a:prstGeom>
          <a:solidFill>
            <a:srgbClr val="DDEDE9"/>
          </a:solidFill>
          <a:ln/>
        </p:spPr>
      </p:sp>
      <p:sp>
        <p:nvSpPr>
          <p:cNvPr id="10" name="Text 8"/>
          <p:cNvSpPr/>
          <p:nvPr/>
        </p:nvSpPr>
        <p:spPr>
          <a:xfrm>
            <a:off x="4645152" y="2377440"/>
            <a:ext cx="2926080" cy="914400"/>
          </a:xfrm>
          <a:prstGeom prst="rect">
            <a:avLst/>
          </a:prstGeom>
          <a:noFill/>
          <a:ln/>
        </p:spPr>
        <p:txBody>
          <a:bodyPr wrap="square" lIns="0" tIns="0" rIns="0" bIns="0" rtlCol="0" anchor="ctr"/>
          <a:lstStyle/>
          <a:p>
            <a:pPr indent="0" marL="0">
              <a:buNone/>
            </a:pPr>
            <a:r>
              <a:rPr lang="en-US" sz="4600" b="1" dirty="0">
                <a:solidFill>
                  <a:srgbClr val="1F6B5C"/>
                </a:solidFill>
                <a:latin typeface="Cambria" pitchFamily="34" charset="0"/>
                <a:ea typeface="Cambria" pitchFamily="34" charset="-122"/>
                <a:cs typeface="Cambria" pitchFamily="34" charset="-120"/>
              </a:rPr>
              <a:t>98%</a:t>
            </a:r>
            <a:endParaRPr lang="en-US" sz="4600" dirty="0"/>
          </a:p>
        </p:txBody>
      </p:sp>
      <p:sp>
        <p:nvSpPr>
          <p:cNvPr id="11" name="Text 9"/>
          <p:cNvSpPr/>
          <p:nvPr/>
        </p:nvSpPr>
        <p:spPr>
          <a:xfrm>
            <a:off x="4645152" y="3364992"/>
            <a:ext cx="2926080" cy="914400"/>
          </a:xfrm>
          <a:prstGeom prst="rect">
            <a:avLst/>
          </a:prstGeom>
          <a:noFill/>
          <a:ln/>
        </p:spPr>
        <p:txBody>
          <a:bodyPr wrap="square" lIns="0" tIns="0" rIns="0" bIns="0" rtlCol="0" anchor="t"/>
          <a:lstStyle/>
          <a:p>
            <a:pPr indent="0" marL="0">
              <a:lnSpc>
                <a:spcPts val="1900"/>
              </a:lnSpc>
              <a:buNone/>
            </a:pPr>
            <a:r>
              <a:rPr lang="en-US" sz="1400" dirty="0">
                <a:solidFill>
                  <a:srgbClr val="1B2430"/>
                </a:solidFill>
                <a:latin typeface="Calibri" pitchFamily="34" charset="0"/>
                <a:ea typeface="Calibri" pitchFamily="34" charset="-122"/>
                <a:cs typeface="Calibri" pitchFamily="34" charset="-120"/>
              </a:rPr>
              <a:t>of practices now manage AI spend as a core operating cost</a:t>
            </a:r>
            <a:endParaRPr lang="en-US" sz="1400" dirty="0"/>
          </a:p>
        </p:txBody>
      </p:sp>
      <p:sp>
        <p:nvSpPr>
          <p:cNvPr id="12" name="Text 10"/>
          <p:cNvSpPr/>
          <p:nvPr/>
        </p:nvSpPr>
        <p:spPr>
          <a:xfrm>
            <a:off x="4645152" y="4297680"/>
            <a:ext cx="2926080" cy="457200"/>
          </a:xfrm>
          <a:prstGeom prst="rect">
            <a:avLst/>
          </a:prstGeom>
          <a:noFill/>
          <a:ln/>
        </p:spPr>
        <p:txBody>
          <a:bodyPr wrap="square" lIns="0" tIns="0" rIns="0" bIns="0" rtlCol="0" anchor="t"/>
          <a:lstStyle/>
          <a:p>
            <a:pPr indent="0" marL="0">
              <a:lnSpc>
                <a:spcPts val="1500"/>
              </a:lnSpc>
              <a:buNone/>
            </a:pPr>
            <a:r>
              <a:rPr lang="en-US" sz="1150" dirty="0">
                <a:solidFill>
                  <a:srgbClr val="5C6675"/>
                </a:solidFill>
                <a:latin typeface="Calibri" pitchFamily="34" charset="0"/>
                <a:ea typeface="Calibri" pitchFamily="34" charset="-122"/>
                <a:cs typeface="Calibri" pitchFamily="34" charset="-120"/>
              </a:rPr>
              <a:t>SaaS 90% · licensing 64% · data centre 48%</a:t>
            </a:r>
            <a:endParaRPr lang="en-US" sz="1150" dirty="0"/>
          </a:p>
        </p:txBody>
      </p:sp>
      <p:sp>
        <p:nvSpPr>
          <p:cNvPr id="13" name="Shape 11"/>
          <p:cNvSpPr/>
          <p:nvPr/>
        </p:nvSpPr>
        <p:spPr>
          <a:xfrm>
            <a:off x="8119872" y="2121408"/>
            <a:ext cx="3511296" cy="2743200"/>
          </a:xfrm>
          <a:prstGeom prst="roundRect">
            <a:avLst>
              <a:gd name="adj" fmla="val 3000"/>
            </a:avLst>
          </a:prstGeom>
          <a:solidFill>
            <a:srgbClr val="FBEFD8"/>
          </a:solidFill>
          <a:ln/>
        </p:spPr>
      </p:sp>
      <p:sp>
        <p:nvSpPr>
          <p:cNvPr id="14" name="Text 12"/>
          <p:cNvSpPr/>
          <p:nvPr/>
        </p:nvSpPr>
        <p:spPr>
          <a:xfrm>
            <a:off x="8430768" y="2377440"/>
            <a:ext cx="2926080" cy="914400"/>
          </a:xfrm>
          <a:prstGeom prst="rect">
            <a:avLst/>
          </a:prstGeom>
          <a:noFill/>
          <a:ln/>
        </p:spPr>
        <p:txBody>
          <a:bodyPr wrap="square" lIns="0" tIns="0" rIns="0" bIns="0" rtlCol="0" anchor="ctr"/>
          <a:lstStyle/>
          <a:p>
            <a:pPr indent="0" marL="0">
              <a:buNone/>
            </a:pPr>
            <a:r>
              <a:rPr lang="en-US" sz="4600" b="1" dirty="0">
                <a:solidFill>
                  <a:srgbClr val="B87B18"/>
                </a:solidFill>
                <a:latin typeface="Cambria" pitchFamily="34" charset="0"/>
                <a:ea typeface="Cambria" pitchFamily="34" charset="-122"/>
                <a:cs typeface="Cambria" pitchFamily="34" charset="-120"/>
              </a:rPr>
              <a:t>#3</a:t>
            </a:r>
            <a:endParaRPr lang="en-US" sz="4600" dirty="0"/>
          </a:p>
        </p:txBody>
      </p:sp>
      <p:sp>
        <p:nvSpPr>
          <p:cNvPr id="15" name="Text 13"/>
          <p:cNvSpPr/>
          <p:nvPr/>
        </p:nvSpPr>
        <p:spPr>
          <a:xfrm>
            <a:off x="8430768" y="3364992"/>
            <a:ext cx="2926080" cy="914400"/>
          </a:xfrm>
          <a:prstGeom prst="rect">
            <a:avLst/>
          </a:prstGeom>
          <a:noFill/>
          <a:ln/>
        </p:spPr>
        <p:txBody>
          <a:bodyPr wrap="square" lIns="0" tIns="0" rIns="0" bIns="0" rtlCol="0" anchor="t"/>
          <a:lstStyle/>
          <a:p>
            <a:pPr indent="0" marL="0">
              <a:lnSpc>
                <a:spcPts val="1900"/>
              </a:lnSpc>
              <a:buNone/>
            </a:pPr>
            <a:r>
              <a:rPr lang="en-US" sz="1400" dirty="0">
                <a:solidFill>
                  <a:srgbClr val="1B2430"/>
                </a:solidFill>
                <a:latin typeface="Calibri" pitchFamily="34" charset="0"/>
                <a:ea typeface="Calibri" pitchFamily="34" charset="-122"/>
                <a:cs typeface="Calibri" pitchFamily="34" charset="-120"/>
              </a:rPr>
              <a:t>governance ranks above optimization in 2026 priorities</a:t>
            </a:r>
            <a:endParaRPr lang="en-US" sz="1400" dirty="0"/>
          </a:p>
        </p:txBody>
      </p:sp>
      <p:sp>
        <p:nvSpPr>
          <p:cNvPr id="16" name="Text 14"/>
          <p:cNvSpPr/>
          <p:nvPr/>
        </p:nvSpPr>
        <p:spPr>
          <a:xfrm>
            <a:off x="8430768" y="4297680"/>
            <a:ext cx="2926080" cy="457200"/>
          </a:xfrm>
          <a:prstGeom prst="rect">
            <a:avLst/>
          </a:prstGeom>
          <a:noFill/>
          <a:ln/>
        </p:spPr>
        <p:txBody>
          <a:bodyPr wrap="square" lIns="0" tIns="0" rIns="0" bIns="0" rtlCol="0" anchor="t"/>
          <a:lstStyle/>
          <a:p>
            <a:pPr indent="0" marL="0">
              <a:lnSpc>
                <a:spcPts val="1500"/>
              </a:lnSpc>
              <a:buNone/>
            </a:pPr>
            <a:r>
              <a:rPr lang="en-US" sz="1150" dirty="0">
                <a:solidFill>
                  <a:srgbClr val="5C6675"/>
                </a:solidFill>
                <a:latin typeface="Calibri" pitchFamily="34" charset="0"/>
                <a:ea typeface="Calibri" pitchFamily="34" charset="-122"/>
                <a:cs typeface="Calibri" pitchFamily="34" charset="-120"/>
              </a:rPr>
              <a:t>behind only AI cost management and AI-driven efficiency</a:t>
            </a:r>
            <a:endParaRPr lang="en-US" sz="1150" dirty="0"/>
          </a:p>
        </p:txBody>
      </p:sp>
      <p:sp>
        <p:nvSpPr>
          <p:cNvPr id="17" name="Shape 15"/>
          <p:cNvSpPr/>
          <p:nvPr/>
        </p:nvSpPr>
        <p:spPr>
          <a:xfrm>
            <a:off x="548640" y="5084064"/>
            <a:ext cx="11091672" cy="1536192"/>
          </a:xfrm>
          <a:prstGeom prst="roundRect">
            <a:avLst>
              <a:gd name="adj" fmla="val 5357"/>
            </a:avLst>
          </a:prstGeom>
          <a:solidFill>
            <a:srgbClr val="1F2936"/>
          </a:solidFill>
          <a:ln/>
          <a:effectLst>
            <a:outerShdw sx="100000" sy="100000" kx="0" ky="0" algn="bl" rotWithShape="0" blurRad="127000" dist="25400" dir="5400000">
              <a:srgbClr val="8C99A8">
                <a:alpha val="16000"/>
              </a:srgbClr>
            </a:outerShdw>
          </a:effectLst>
        </p:spPr>
      </p:sp>
      <p:sp>
        <p:nvSpPr>
          <p:cNvPr id="18" name="Text 16"/>
          <p:cNvSpPr/>
          <p:nvPr/>
        </p:nvSpPr>
        <p:spPr>
          <a:xfrm>
            <a:off x="877824" y="5248656"/>
            <a:ext cx="7315200" cy="292608"/>
          </a:xfrm>
          <a:prstGeom prst="rect">
            <a:avLst/>
          </a:prstGeom>
          <a:noFill/>
          <a:ln/>
        </p:spPr>
        <p:txBody>
          <a:bodyPr wrap="square" lIns="0" tIns="0" rIns="0" bIns="0" rtlCol="0" anchor="ctr"/>
          <a:lstStyle/>
          <a:p>
            <a:pPr indent="0" marL="0">
              <a:buNone/>
            </a:pPr>
            <a:r>
              <a:rPr lang="en-US" sz="1150" b="1" spc="160" kern="0" dirty="0">
                <a:solidFill>
                  <a:srgbClr val="E39B2C"/>
                </a:solidFill>
                <a:latin typeface="Calibri" pitchFamily="34" charset="0"/>
                <a:ea typeface="Calibri" pitchFamily="34" charset="-122"/>
                <a:cs typeface="Calibri" pitchFamily="34" charset="-120"/>
              </a:rPr>
              <a:t>What it means for this organization</a:t>
            </a:r>
            <a:endParaRPr lang="en-US" sz="1150" dirty="0"/>
          </a:p>
        </p:txBody>
      </p:sp>
      <p:sp>
        <p:nvSpPr>
          <p:cNvPr id="19" name="Text 17"/>
          <p:cNvSpPr/>
          <p:nvPr/>
        </p:nvSpPr>
        <p:spPr>
          <a:xfrm>
            <a:off x="877824" y="5577840"/>
            <a:ext cx="10424160" cy="960120"/>
          </a:xfrm>
          <a:prstGeom prst="rect">
            <a:avLst/>
          </a:prstGeom>
          <a:noFill/>
          <a:ln/>
        </p:spPr>
        <p:txBody>
          <a:bodyPr wrap="square" lIns="0" tIns="0" rIns="0" bIns="0" rtlCol="0" anchor="t"/>
          <a:lstStyle/>
          <a:p>
            <a:pPr indent="0" marL="0">
              <a:lnSpc>
                <a:spcPts val="2000"/>
              </a:lnSpc>
              <a:buNone/>
            </a:pPr>
            <a:r>
              <a:rPr lang="en-US" sz="1350" b="1" dirty="0">
                <a:solidFill>
                  <a:srgbClr val="FFFFFF"/>
                </a:solidFill>
                <a:latin typeface="Calibri" pitchFamily="34" charset="0"/>
                <a:ea typeface="Calibri" pitchFamily="34" charset="-122"/>
                <a:cs typeface="Calibri" pitchFamily="34" charset="-120"/>
              </a:rPr>
              <a:t>Cost control has stopped being a finance report and become a technology capability — </a:t>
            </a:r>
            <a:pPr indent="0" marL="0">
              <a:lnSpc>
                <a:spcPts val="2000"/>
              </a:lnSpc>
              <a:buNone/>
            </a:pPr>
            <a:r>
              <a:rPr lang="en-US" sz="1350" dirty="0">
                <a:solidFill>
                  <a:srgbClr val="9EABBA"/>
                </a:solidFill>
                <a:latin typeface="Calibri" pitchFamily="34" charset="0"/>
                <a:ea typeface="Calibri" pitchFamily="34" charset="-122"/>
                <a:cs typeface="Calibri" pitchFamily="34" charset="-120"/>
              </a:rPr>
              <a:t>which puts it on this desk. The industry's own conclusion is that attacking waste after the fact has hit diminishing returns; the returns now come from ownership, governance and scope.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
            <a:ext cx="7315200" cy="256032"/>
          </a:xfrm>
          <a:prstGeom prst="rect">
            <a:avLst/>
          </a:prstGeom>
          <a:noFill/>
          <a:ln/>
        </p:spPr>
        <p:txBody>
          <a:bodyPr wrap="square" lIns="0" tIns="0" rIns="0" bIns="0" rtlCol="0" anchor="ctr"/>
          <a:lstStyle/>
          <a:p>
            <a:pPr indent="0" marL="0">
              <a:buNone/>
            </a:pPr>
            <a:r>
              <a:rPr lang="en-US" sz="1100" b="1" spc="220" kern="0" dirty="0">
                <a:solidFill>
                  <a:srgbClr val="E39B2C"/>
                </a:solidFill>
                <a:latin typeface="Calibri" pitchFamily="34" charset="0"/>
                <a:ea typeface="Calibri" pitchFamily="34" charset="-122"/>
                <a:cs typeface="Calibri" pitchFamily="34" charset="-120"/>
              </a:rPr>
              <a:t>STEP ONE — SEE IT</a:t>
            </a:r>
            <a:endParaRPr lang="en-US" sz="1100" dirty="0"/>
          </a:p>
        </p:txBody>
      </p:sp>
      <p:sp>
        <p:nvSpPr>
          <p:cNvPr id="3" name="Text 1"/>
          <p:cNvSpPr/>
          <p:nvPr/>
        </p:nvSpPr>
        <p:spPr>
          <a:xfrm>
            <a:off x="548640" y="768096"/>
            <a:ext cx="11091672" cy="804672"/>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One number per project, with an owner on it</a:t>
            </a:r>
            <a:endParaRPr lang="en-US" sz="3100" dirty="0"/>
          </a:p>
        </p:txBody>
      </p:sp>
      <p:sp>
        <p:nvSpPr>
          <p:cNvPr id="4" name="Text 2"/>
          <p:cNvSpPr/>
          <p:nvPr/>
        </p:nvSpPr>
        <p:spPr>
          <a:xfrm>
            <a:off x="548640" y="1536192"/>
            <a:ext cx="10607040" cy="365760"/>
          </a:xfrm>
          <a:prstGeom prst="rect">
            <a:avLst/>
          </a:prstGeom>
          <a:noFill/>
          <a:ln/>
        </p:spPr>
        <p:txBody>
          <a:bodyPr wrap="square" lIns="0" tIns="0" rIns="0" bIns="0" rtlCol="0" anchor="ctr"/>
          <a:lstStyle/>
          <a:p>
            <a:pPr indent="0" marL="0">
              <a:buNone/>
            </a:pPr>
            <a:r>
              <a:rPr lang="en-US" sz="1500" dirty="0">
                <a:solidFill>
                  <a:srgbClr val="5C6675"/>
                </a:solidFill>
                <a:latin typeface="Calibri" pitchFamily="34" charset="0"/>
                <a:ea typeface="Calibri" pitchFamily="34" charset="-122"/>
                <a:cs typeface="Calibri" pitchFamily="34" charset="-120"/>
              </a:rPr>
              <a:t>Two things have to be true: the cost can be traced to someone, and the project is priced whole.</a:t>
            </a:r>
            <a:endParaRPr lang="en-US" sz="1500" dirty="0"/>
          </a:p>
        </p:txBody>
      </p:sp>
      <p:sp>
        <p:nvSpPr>
          <p:cNvPr id="5" name="Shape 3"/>
          <p:cNvSpPr/>
          <p:nvPr/>
        </p:nvSpPr>
        <p:spPr>
          <a:xfrm>
            <a:off x="548640" y="2121408"/>
            <a:ext cx="5394960" cy="3200400"/>
          </a:xfrm>
          <a:prstGeom prst="roundRect">
            <a:avLst>
              <a:gd name="adj" fmla="val 2571"/>
            </a:avLst>
          </a:prstGeom>
          <a:solidFill>
            <a:srgbClr val="F1F3F6"/>
          </a:solidFill>
          <a:ln/>
        </p:spPr>
      </p:sp>
      <p:sp>
        <p:nvSpPr>
          <p:cNvPr id="6" name="Text 4"/>
          <p:cNvSpPr/>
          <p:nvPr/>
        </p:nvSpPr>
        <p:spPr>
          <a:xfrm>
            <a:off x="859536" y="2286000"/>
            <a:ext cx="4572000" cy="292608"/>
          </a:xfrm>
          <a:prstGeom prst="rect">
            <a:avLst/>
          </a:prstGeom>
          <a:noFill/>
          <a:ln/>
        </p:spPr>
        <p:txBody>
          <a:bodyPr wrap="square" lIns="0" tIns="0" rIns="0" bIns="0" rtlCol="0" anchor="ctr"/>
          <a:lstStyle/>
          <a:p>
            <a:pPr indent="0" marL="0">
              <a:buNone/>
            </a:pPr>
            <a:r>
              <a:rPr lang="en-US" sz="1150" b="1" spc="160" kern="0" dirty="0">
                <a:solidFill>
                  <a:srgbClr val="5C6675"/>
                </a:solidFill>
                <a:latin typeface="Calibri" pitchFamily="34" charset="0"/>
                <a:ea typeface="Calibri" pitchFamily="34" charset="-122"/>
                <a:cs typeface="Calibri" pitchFamily="34" charset="-120"/>
              </a:rPr>
              <a:t>Trace it to an owner</a:t>
            </a:r>
            <a:endParaRPr lang="en-US" sz="1150" dirty="0"/>
          </a:p>
        </p:txBody>
      </p:sp>
      <p:sp>
        <p:nvSpPr>
          <p:cNvPr id="7" name="Text 5"/>
          <p:cNvSpPr/>
          <p:nvPr/>
        </p:nvSpPr>
        <p:spPr>
          <a:xfrm>
            <a:off x="859536" y="2688336"/>
            <a:ext cx="310896" cy="566928"/>
          </a:xfrm>
          <a:prstGeom prst="rect">
            <a:avLst/>
          </a:prstGeom>
          <a:noFill/>
          <a:ln/>
        </p:spPr>
        <p:txBody>
          <a:bodyPr wrap="square" lIns="0" tIns="0" rIns="0" bIns="0" rtlCol="0" anchor="t"/>
          <a:lstStyle/>
          <a:p>
            <a:pPr indent="0" marL="0">
              <a:buNone/>
            </a:pPr>
            <a:r>
              <a:rPr lang="en-US" sz="1500" b="1" dirty="0">
                <a:solidFill>
                  <a:srgbClr val="E39B2C"/>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1225296" y="2688336"/>
            <a:ext cx="4407408" cy="621792"/>
          </a:xfrm>
          <a:prstGeom prst="rect">
            <a:avLst/>
          </a:prstGeom>
          <a:noFill/>
          <a:ln/>
        </p:spPr>
        <p:txBody>
          <a:bodyPr wrap="square" lIns="0" tIns="0" rIns="0" bIns="0" rtlCol="0" anchor="t"/>
          <a:lstStyle/>
          <a:p>
            <a:pPr indent="0" marL="0">
              <a:lnSpc>
                <a:spcPts val="1600"/>
              </a:lnSpc>
              <a:buNone/>
            </a:pPr>
            <a:r>
              <a:rPr lang="en-US" sz="1250" b="1" dirty="0">
                <a:solidFill>
                  <a:srgbClr val="1B2430"/>
                </a:solidFill>
                <a:latin typeface="Calibri" pitchFamily="34" charset="0"/>
                <a:ea typeface="Calibri" pitchFamily="34" charset="-122"/>
                <a:cs typeface="Calibri" pitchFamily="34" charset="-120"/>
              </a:rPr>
              <a:t>Tag at creation</a:t>
            </a:r>
            <a:endParaRPr lang="en-US" sz="1250" dirty="0"/>
          </a:p>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Five tags, enforced by policy. Untagged means undeployed.</a:t>
            </a:r>
            <a:endParaRPr lang="en-US" sz="1250" dirty="0"/>
          </a:p>
        </p:txBody>
      </p:sp>
      <p:sp>
        <p:nvSpPr>
          <p:cNvPr id="9" name="Text 7"/>
          <p:cNvSpPr/>
          <p:nvPr/>
        </p:nvSpPr>
        <p:spPr>
          <a:xfrm>
            <a:off x="859536" y="3328416"/>
            <a:ext cx="310896" cy="566928"/>
          </a:xfrm>
          <a:prstGeom prst="rect">
            <a:avLst/>
          </a:prstGeom>
          <a:noFill/>
          <a:ln/>
        </p:spPr>
        <p:txBody>
          <a:bodyPr wrap="square" lIns="0" tIns="0" rIns="0" bIns="0" rtlCol="0" anchor="t"/>
          <a:lstStyle/>
          <a:p>
            <a:pPr indent="0" marL="0">
              <a:buNone/>
            </a:pPr>
            <a:r>
              <a:rPr lang="en-US" sz="1500" b="1" dirty="0">
                <a:solidFill>
                  <a:srgbClr val="E39B2C"/>
                </a:solidFill>
                <a:latin typeface="Cambria" pitchFamily="34" charset="0"/>
                <a:ea typeface="Cambria" pitchFamily="34" charset="-122"/>
                <a:cs typeface="Cambria" pitchFamily="34" charset="-120"/>
              </a:rPr>
              <a:t>2</a:t>
            </a:r>
            <a:endParaRPr lang="en-US" sz="1500" dirty="0"/>
          </a:p>
        </p:txBody>
      </p:sp>
      <p:sp>
        <p:nvSpPr>
          <p:cNvPr id="10" name="Text 8"/>
          <p:cNvSpPr/>
          <p:nvPr/>
        </p:nvSpPr>
        <p:spPr>
          <a:xfrm>
            <a:off x="1225296" y="3328416"/>
            <a:ext cx="4407408" cy="621792"/>
          </a:xfrm>
          <a:prstGeom prst="rect">
            <a:avLst/>
          </a:prstGeom>
          <a:noFill/>
          <a:ln/>
        </p:spPr>
        <p:txBody>
          <a:bodyPr wrap="square" lIns="0" tIns="0" rIns="0" bIns="0" rtlCol="0" anchor="t"/>
          <a:lstStyle/>
          <a:p>
            <a:pPr indent="0" marL="0">
              <a:lnSpc>
                <a:spcPts val="1600"/>
              </a:lnSpc>
              <a:buNone/>
            </a:pPr>
            <a:r>
              <a:rPr lang="en-US" sz="1250" b="1" dirty="0">
                <a:solidFill>
                  <a:srgbClr val="1B2430"/>
                </a:solidFill>
                <a:latin typeface="Calibri" pitchFamily="34" charset="0"/>
                <a:ea typeface="Calibri" pitchFamily="34" charset="-122"/>
                <a:cs typeface="Calibri" pitchFamily="34" charset="-120"/>
              </a:rPr>
              <a:t>Allocate the spend</a:t>
            </a:r>
            <a:endParaRPr lang="en-US" sz="1250" dirty="0"/>
          </a:p>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Target under 5% unallocated, reported weekly.</a:t>
            </a:r>
            <a:endParaRPr lang="en-US" sz="1250" dirty="0"/>
          </a:p>
        </p:txBody>
      </p:sp>
      <p:sp>
        <p:nvSpPr>
          <p:cNvPr id="11" name="Text 9"/>
          <p:cNvSpPr/>
          <p:nvPr/>
        </p:nvSpPr>
        <p:spPr>
          <a:xfrm>
            <a:off x="859536" y="3968496"/>
            <a:ext cx="310896" cy="566928"/>
          </a:xfrm>
          <a:prstGeom prst="rect">
            <a:avLst/>
          </a:prstGeom>
          <a:noFill/>
          <a:ln/>
        </p:spPr>
        <p:txBody>
          <a:bodyPr wrap="square" lIns="0" tIns="0" rIns="0" bIns="0" rtlCol="0" anchor="t"/>
          <a:lstStyle/>
          <a:p>
            <a:pPr indent="0" marL="0">
              <a:buNone/>
            </a:pPr>
            <a:r>
              <a:rPr lang="en-US" sz="1500" b="1" dirty="0">
                <a:solidFill>
                  <a:srgbClr val="E39B2C"/>
                </a:solidFill>
                <a:latin typeface="Cambria" pitchFamily="34" charset="0"/>
                <a:ea typeface="Cambria" pitchFamily="34" charset="-122"/>
                <a:cs typeface="Cambria" pitchFamily="34" charset="-120"/>
              </a:rPr>
              <a:t>3</a:t>
            </a:r>
            <a:endParaRPr lang="en-US" sz="1500" dirty="0"/>
          </a:p>
        </p:txBody>
      </p:sp>
      <p:sp>
        <p:nvSpPr>
          <p:cNvPr id="12" name="Text 10"/>
          <p:cNvSpPr/>
          <p:nvPr/>
        </p:nvSpPr>
        <p:spPr>
          <a:xfrm>
            <a:off x="1225296" y="3968496"/>
            <a:ext cx="4407408" cy="621792"/>
          </a:xfrm>
          <a:prstGeom prst="rect">
            <a:avLst/>
          </a:prstGeom>
          <a:noFill/>
          <a:ln/>
        </p:spPr>
        <p:txBody>
          <a:bodyPr wrap="square" lIns="0" tIns="0" rIns="0" bIns="0" rtlCol="0" anchor="t"/>
          <a:lstStyle/>
          <a:p>
            <a:pPr indent="0" marL="0">
              <a:lnSpc>
                <a:spcPts val="1600"/>
              </a:lnSpc>
              <a:buNone/>
            </a:pPr>
            <a:r>
              <a:rPr lang="en-US" sz="1250" b="1" dirty="0">
                <a:solidFill>
                  <a:srgbClr val="1B2430"/>
                </a:solidFill>
                <a:latin typeface="Calibri" pitchFamily="34" charset="0"/>
                <a:ea typeface="Calibri" pitchFamily="34" charset="-122"/>
                <a:cs typeface="Calibri" pitchFamily="34" charset="-120"/>
              </a:rPr>
              <a:t>Show teams their own numbers</a:t>
            </a:r>
            <a:endParaRPr lang="en-US" sz="1250" dirty="0"/>
          </a:p>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Four to six weeks before anything is charged.</a:t>
            </a:r>
            <a:endParaRPr lang="en-US" sz="1250" dirty="0"/>
          </a:p>
        </p:txBody>
      </p:sp>
      <p:sp>
        <p:nvSpPr>
          <p:cNvPr id="13" name="Text 11"/>
          <p:cNvSpPr/>
          <p:nvPr/>
        </p:nvSpPr>
        <p:spPr>
          <a:xfrm>
            <a:off x="859536" y="4608576"/>
            <a:ext cx="310896" cy="566928"/>
          </a:xfrm>
          <a:prstGeom prst="rect">
            <a:avLst/>
          </a:prstGeom>
          <a:noFill/>
          <a:ln/>
        </p:spPr>
        <p:txBody>
          <a:bodyPr wrap="square" lIns="0" tIns="0" rIns="0" bIns="0" rtlCol="0" anchor="t"/>
          <a:lstStyle/>
          <a:p>
            <a:pPr indent="0" marL="0">
              <a:buNone/>
            </a:pPr>
            <a:r>
              <a:rPr lang="en-US" sz="1500" b="1" dirty="0">
                <a:solidFill>
                  <a:srgbClr val="E39B2C"/>
                </a:solidFill>
                <a:latin typeface="Cambria" pitchFamily="34" charset="0"/>
                <a:ea typeface="Cambria" pitchFamily="34" charset="-122"/>
                <a:cs typeface="Cambria" pitchFamily="34" charset="-120"/>
              </a:rPr>
              <a:t>4</a:t>
            </a:r>
            <a:endParaRPr lang="en-US" sz="1500" dirty="0"/>
          </a:p>
        </p:txBody>
      </p:sp>
      <p:sp>
        <p:nvSpPr>
          <p:cNvPr id="14" name="Text 12"/>
          <p:cNvSpPr/>
          <p:nvPr/>
        </p:nvSpPr>
        <p:spPr>
          <a:xfrm>
            <a:off x="1225296" y="4608576"/>
            <a:ext cx="4407408" cy="621792"/>
          </a:xfrm>
          <a:prstGeom prst="rect">
            <a:avLst/>
          </a:prstGeom>
          <a:noFill/>
          <a:ln/>
        </p:spPr>
        <p:txBody>
          <a:bodyPr wrap="square" lIns="0" tIns="0" rIns="0" bIns="0" rtlCol="0" anchor="t"/>
          <a:lstStyle/>
          <a:p>
            <a:pPr indent="0" marL="0">
              <a:lnSpc>
                <a:spcPts val="1600"/>
              </a:lnSpc>
              <a:buNone/>
            </a:pPr>
            <a:r>
              <a:rPr lang="en-US" sz="1250" b="1" dirty="0">
                <a:solidFill>
                  <a:srgbClr val="1B2430"/>
                </a:solidFill>
                <a:latin typeface="Calibri" pitchFamily="34" charset="0"/>
                <a:ea typeface="Calibri" pitchFamily="34" charset="-122"/>
                <a:cs typeface="Calibri" pitchFamily="34" charset="-120"/>
              </a:rPr>
              <a:t>Divide by the unit</a:t>
            </a:r>
            <a:endParaRPr lang="en-US" sz="1250" dirty="0"/>
          </a:p>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Cost per customer, per order, per conversation.</a:t>
            </a:r>
            <a:endParaRPr lang="en-US" sz="1250" dirty="0"/>
          </a:p>
        </p:txBody>
      </p:sp>
      <p:sp>
        <p:nvSpPr>
          <p:cNvPr id="15" name="Shape 13"/>
          <p:cNvSpPr/>
          <p:nvPr/>
        </p:nvSpPr>
        <p:spPr>
          <a:xfrm>
            <a:off x="6245352" y="2121408"/>
            <a:ext cx="5394960" cy="3200400"/>
          </a:xfrm>
          <a:prstGeom prst="roundRect">
            <a:avLst>
              <a:gd name="adj" fmla="val 2571"/>
            </a:avLst>
          </a:prstGeom>
          <a:solidFill>
            <a:srgbClr val="1F2936"/>
          </a:solidFill>
          <a:ln/>
          <a:effectLst>
            <a:outerShdw sx="100000" sy="100000" kx="0" ky="0" algn="bl" rotWithShape="0" blurRad="127000" dist="25400" dir="5400000">
              <a:srgbClr val="8C99A8">
                <a:alpha val="16000"/>
              </a:srgbClr>
            </a:outerShdw>
          </a:effectLst>
        </p:spPr>
      </p:sp>
      <p:sp>
        <p:nvSpPr>
          <p:cNvPr id="16" name="Text 14"/>
          <p:cNvSpPr/>
          <p:nvPr/>
        </p:nvSpPr>
        <p:spPr>
          <a:xfrm>
            <a:off x="6556248" y="2286000"/>
            <a:ext cx="4572000" cy="292608"/>
          </a:xfrm>
          <a:prstGeom prst="rect">
            <a:avLst/>
          </a:prstGeom>
          <a:noFill/>
          <a:ln/>
        </p:spPr>
        <p:txBody>
          <a:bodyPr wrap="square" lIns="0" tIns="0" rIns="0" bIns="0" rtlCol="0" anchor="ctr"/>
          <a:lstStyle/>
          <a:p>
            <a:pPr indent="0" marL="0">
              <a:buNone/>
            </a:pPr>
            <a:r>
              <a:rPr lang="en-US" sz="1150" b="1" spc="160" kern="0" dirty="0">
                <a:solidFill>
                  <a:srgbClr val="E39B2C"/>
                </a:solidFill>
                <a:latin typeface="Calibri" pitchFamily="34" charset="0"/>
                <a:ea typeface="Calibri" pitchFamily="34" charset="-122"/>
                <a:cs typeface="Calibri" pitchFamily="34" charset="-120"/>
              </a:rPr>
              <a:t>Price the project whole</a:t>
            </a:r>
            <a:endParaRPr lang="en-US" sz="1150" dirty="0"/>
          </a:p>
        </p:txBody>
      </p:sp>
      <p:sp>
        <p:nvSpPr>
          <p:cNvPr id="17" name="Text 15"/>
          <p:cNvSpPr/>
          <p:nvPr/>
        </p:nvSpPr>
        <p:spPr>
          <a:xfrm>
            <a:off x="6556248" y="2615184"/>
            <a:ext cx="4773168" cy="457200"/>
          </a:xfrm>
          <a:prstGeom prst="rect">
            <a:avLst/>
          </a:prstGeom>
          <a:noFill/>
          <a:ln/>
        </p:spPr>
        <p:txBody>
          <a:bodyPr wrap="square" lIns="0" tIns="0" rIns="0" bIns="0" rtlCol="0" anchor="t"/>
          <a:lstStyle/>
          <a:p>
            <a:pPr indent="0" marL="0">
              <a:lnSpc>
                <a:spcPts val="1700"/>
              </a:lnSpc>
              <a:buNone/>
            </a:pPr>
            <a:r>
              <a:rPr lang="en-US" sz="1250" dirty="0">
                <a:solidFill>
                  <a:srgbClr val="9EABBA"/>
                </a:solidFill>
                <a:latin typeface="Calibri" pitchFamily="34" charset="0"/>
                <a:ea typeface="Calibri" pitchFamily="34" charset="-122"/>
                <a:cs typeface="Calibri" pitchFamily="34" charset="-120"/>
              </a:rPr>
              <a:t>An AI feature is quoted at its token cost. It runs on a stack that bills every month regardless.</a:t>
            </a:r>
            <a:endParaRPr lang="en-US" sz="1250" dirty="0"/>
          </a:p>
        </p:txBody>
      </p:sp>
      <p:sp>
        <p:nvSpPr>
          <p:cNvPr id="18" name="Shape 16"/>
          <p:cNvSpPr/>
          <p:nvPr/>
        </p:nvSpPr>
        <p:spPr>
          <a:xfrm>
            <a:off x="6556248" y="3291840"/>
            <a:ext cx="82296" cy="274320"/>
          </a:xfrm>
          <a:prstGeom prst="roundRect">
            <a:avLst>
              <a:gd name="adj" fmla="val 44444"/>
            </a:avLst>
          </a:prstGeom>
          <a:solidFill>
            <a:srgbClr val="E39B2C"/>
          </a:solidFill>
          <a:ln/>
        </p:spPr>
      </p:sp>
      <p:sp>
        <p:nvSpPr>
          <p:cNvPr id="19" name="Text 17"/>
          <p:cNvSpPr/>
          <p:nvPr/>
        </p:nvSpPr>
        <p:spPr>
          <a:xfrm>
            <a:off x="6766560" y="3200400"/>
            <a:ext cx="4572000" cy="512064"/>
          </a:xfrm>
          <a:prstGeom prst="rect">
            <a:avLst/>
          </a:prstGeom>
          <a:noFill/>
          <a:ln/>
        </p:spPr>
        <p:txBody>
          <a:bodyPr wrap="square" lIns="0" tIns="0" rIns="0" bIns="0" rtlCol="0" anchor="t"/>
          <a:lstStyle/>
          <a:p>
            <a:pPr indent="0" marL="0">
              <a:lnSpc>
                <a:spcPts val="1600"/>
              </a:lnSpc>
              <a:buNone/>
            </a:pPr>
            <a:r>
              <a:rPr lang="en-US" sz="1250" b="1" dirty="0">
                <a:solidFill>
                  <a:srgbClr val="E39B2C"/>
                </a:solidFill>
                <a:latin typeface="Calibri" pitchFamily="34" charset="0"/>
                <a:ea typeface="Calibri" pitchFamily="34" charset="-122"/>
                <a:cs typeface="Calibri" pitchFamily="34" charset="-120"/>
              </a:rPr>
              <a:t>Model / tokens</a:t>
            </a:r>
            <a:endParaRPr lang="en-US" sz="1250" dirty="0"/>
          </a:p>
          <a:p>
            <a:pPr indent="0" marL="0">
              <a:lnSpc>
                <a:spcPts val="1600"/>
              </a:lnSpc>
              <a:buNone/>
            </a:pPr>
            <a:r>
              <a:rPr lang="en-US" sz="1250" dirty="0">
                <a:solidFill>
                  <a:srgbClr val="9EABBA"/>
                </a:solidFill>
                <a:latin typeface="Calibri" pitchFamily="34" charset="0"/>
                <a:ea typeface="Calibri" pitchFamily="34" charset="-122"/>
                <a:cs typeface="Calibri" pitchFamily="34" charset="-120"/>
              </a:rPr>
              <a:t>the line everyone quotes</a:t>
            </a:r>
            <a:endParaRPr lang="en-US" sz="1250" dirty="0"/>
          </a:p>
        </p:txBody>
      </p:sp>
      <p:sp>
        <p:nvSpPr>
          <p:cNvPr id="20" name="Shape 18"/>
          <p:cNvSpPr/>
          <p:nvPr/>
        </p:nvSpPr>
        <p:spPr>
          <a:xfrm>
            <a:off x="6556248" y="3858768"/>
            <a:ext cx="82296" cy="274320"/>
          </a:xfrm>
          <a:prstGeom prst="roundRect">
            <a:avLst>
              <a:gd name="adj" fmla="val 44444"/>
            </a:avLst>
          </a:prstGeom>
          <a:solidFill>
            <a:srgbClr val="8C9AAC"/>
          </a:solidFill>
          <a:ln/>
        </p:spPr>
      </p:sp>
      <p:sp>
        <p:nvSpPr>
          <p:cNvPr id="21" name="Text 19"/>
          <p:cNvSpPr/>
          <p:nvPr/>
        </p:nvSpPr>
        <p:spPr>
          <a:xfrm>
            <a:off x="6766560" y="3767328"/>
            <a:ext cx="4572000" cy="512064"/>
          </a:xfrm>
          <a:prstGeom prst="rect">
            <a:avLst/>
          </a:prstGeom>
          <a:noFill/>
          <a:ln/>
        </p:spPr>
        <p:txBody>
          <a:bodyPr wrap="square" lIns="0" tIns="0" rIns="0" bIns="0" rtlCol="0" anchor="t"/>
          <a:lstStyle/>
          <a:p>
            <a:pPr indent="0" marL="0">
              <a:lnSpc>
                <a:spcPts val="1600"/>
              </a:lnSpc>
              <a:buNone/>
            </a:pPr>
            <a:r>
              <a:rPr lang="en-US" sz="1250" b="1" dirty="0">
                <a:solidFill>
                  <a:srgbClr val="FFFFFF"/>
                </a:solidFill>
                <a:latin typeface="Calibri" pitchFamily="34" charset="0"/>
                <a:ea typeface="Calibri" pitchFamily="34" charset="-122"/>
                <a:cs typeface="Calibri" pitchFamily="34" charset="-120"/>
              </a:rPr>
              <a:t>Compute, databases, cache</a:t>
            </a:r>
            <a:endParaRPr lang="en-US" sz="1250" dirty="0"/>
          </a:p>
          <a:p>
            <a:pPr indent="0" marL="0">
              <a:lnSpc>
                <a:spcPts val="1600"/>
              </a:lnSpc>
              <a:buNone/>
            </a:pPr>
            <a:r>
              <a:rPr lang="en-US" sz="1250" dirty="0">
                <a:solidFill>
                  <a:srgbClr val="9EABBA"/>
                </a:solidFill>
                <a:latin typeface="Calibri" pitchFamily="34" charset="0"/>
                <a:ea typeface="Calibri" pitchFamily="34" charset="-122"/>
                <a:cs typeface="Calibri" pitchFamily="34" charset="-120"/>
              </a:rPr>
              <a:t>app services, SQL, Redis, queues</a:t>
            </a:r>
            <a:endParaRPr lang="en-US" sz="1250" dirty="0"/>
          </a:p>
        </p:txBody>
      </p:sp>
      <p:sp>
        <p:nvSpPr>
          <p:cNvPr id="22" name="Shape 20"/>
          <p:cNvSpPr/>
          <p:nvPr/>
        </p:nvSpPr>
        <p:spPr>
          <a:xfrm>
            <a:off x="6556248" y="4425696"/>
            <a:ext cx="82296" cy="274320"/>
          </a:xfrm>
          <a:prstGeom prst="roundRect">
            <a:avLst>
              <a:gd name="adj" fmla="val 44444"/>
            </a:avLst>
          </a:prstGeom>
          <a:solidFill>
            <a:srgbClr val="8C9AAC"/>
          </a:solidFill>
          <a:ln/>
        </p:spPr>
      </p:sp>
      <p:sp>
        <p:nvSpPr>
          <p:cNvPr id="23" name="Text 21"/>
          <p:cNvSpPr/>
          <p:nvPr/>
        </p:nvSpPr>
        <p:spPr>
          <a:xfrm>
            <a:off x="6766560" y="4334256"/>
            <a:ext cx="4572000" cy="512064"/>
          </a:xfrm>
          <a:prstGeom prst="rect">
            <a:avLst/>
          </a:prstGeom>
          <a:noFill/>
          <a:ln/>
        </p:spPr>
        <p:txBody>
          <a:bodyPr wrap="square" lIns="0" tIns="0" rIns="0" bIns="0" rtlCol="0" anchor="t"/>
          <a:lstStyle/>
          <a:p>
            <a:pPr indent="0" marL="0">
              <a:lnSpc>
                <a:spcPts val="1600"/>
              </a:lnSpc>
              <a:buNone/>
            </a:pPr>
            <a:r>
              <a:rPr lang="en-US" sz="1250" b="1" dirty="0">
                <a:solidFill>
                  <a:srgbClr val="FFFFFF"/>
                </a:solidFill>
                <a:latin typeface="Calibri" pitchFamily="34" charset="0"/>
                <a:ea typeface="Calibri" pitchFamily="34" charset="-122"/>
                <a:cs typeface="Calibri" pitchFamily="34" charset="-120"/>
              </a:rPr>
              <a:t>Storage, network, observability</a:t>
            </a:r>
            <a:endParaRPr lang="en-US" sz="1250" dirty="0"/>
          </a:p>
          <a:p>
            <a:pPr indent="0" marL="0">
              <a:lnSpc>
                <a:spcPts val="1600"/>
              </a:lnSpc>
              <a:buNone/>
            </a:pPr>
            <a:r>
              <a:rPr lang="en-US" sz="1250" dirty="0">
                <a:solidFill>
                  <a:srgbClr val="9EABBA"/>
                </a:solidFill>
                <a:latin typeface="Calibri" pitchFamily="34" charset="0"/>
                <a:ea typeface="Calibri" pitchFamily="34" charset="-122"/>
                <a:cs typeface="Calibri" pitchFamily="34" charset="-120"/>
              </a:rPr>
              <a:t>backups, egress, log ingestion</a:t>
            </a:r>
            <a:endParaRPr lang="en-US" sz="1250" dirty="0"/>
          </a:p>
        </p:txBody>
      </p:sp>
      <p:sp>
        <p:nvSpPr>
          <p:cNvPr id="24" name="Text 22"/>
          <p:cNvSpPr/>
          <p:nvPr/>
        </p:nvSpPr>
        <p:spPr>
          <a:xfrm>
            <a:off x="6556248" y="4901184"/>
            <a:ext cx="4572000" cy="274320"/>
          </a:xfrm>
          <a:prstGeom prst="rect">
            <a:avLst/>
          </a:prstGeom>
          <a:noFill/>
          <a:ln/>
        </p:spPr>
        <p:txBody>
          <a:bodyPr wrap="square" lIns="0" tIns="0" rIns="0" bIns="0" rtlCol="0" anchor="t"/>
          <a:lstStyle/>
          <a:p>
            <a:pPr indent="0" marL="0">
              <a:buNone/>
            </a:pPr>
            <a:r>
              <a:rPr lang="en-US" sz="1150" i="1" dirty="0">
                <a:solidFill>
                  <a:srgbClr val="9EABBA"/>
                </a:solidFill>
                <a:latin typeface="Calibri" pitchFamily="34" charset="0"/>
                <a:ea typeface="Calibri" pitchFamily="34" charset="-122"/>
                <a:cs typeface="Calibri" pitchFamily="34" charset="-120"/>
              </a:rPr>
              <a:t>Every layer bills whether or not the model is called.</a:t>
            </a:r>
            <a:endParaRPr lang="en-US" sz="1150" dirty="0"/>
          </a:p>
        </p:txBody>
      </p:sp>
      <p:sp>
        <p:nvSpPr>
          <p:cNvPr id="25" name="Shape 23"/>
          <p:cNvSpPr/>
          <p:nvPr/>
        </p:nvSpPr>
        <p:spPr>
          <a:xfrm>
            <a:off x="548640" y="5504688"/>
            <a:ext cx="11091672" cy="914400"/>
          </a:xfrm>
          <a:prstGeom prst="roundRect">
            <a:avLst>
              <a:gd name="adj" fmla="val 9000"/>
            </a:avLst>
          </a:prstGeom>
          <a:solidFill>
            <a:srgbClr val="DDEDE9"/>
          </a:solidFill>
          <a:ln/>
        </p:spPr>
      </p:sp>
      <p:sp>
        <p:nvSpPr>
          <p:cNvPr id="26" name="Text 24"/>
          <p:cNvSpPr/>
          <p:nvPr/>
        </p:nvSpPr>
        <p:spPr>
          <a:xfrm>
            <a:off x="877824" y="5504688"/>
            <a:ext cx="10424160" cy="914400"/>
          </a:xfrm>
          <a:prstGeom prst="rect">
            <a:avLst/>
          </a:prstGeom>
          <a:noFill/>
          <a:ln/>
        </p:spPr>
        <p:txBody>
          <a:bodyPr wrap="square" lIns="0" tIns="0" rIns="0" bIns="0" rtlCol="0" anchor="ctr"/>
          <a:lstStyle/>
          <a:p>
            <a:pPr indent="0" marL="0">
              <a:lnSpc>
                <a:spcPts val="1900"/>
              </a:lnSpc>
              <a:buNone/>
            </a:pPr>
            <a:r>
              <a:rPr lang="en-US" sz="1350" b="1" dirty="0">
                <a:solidFill>
                  <a:srgbClr val="1B2430"/>
                </a:solidFill>
                <a:latin typeface="Calibri" pitchFamily="34" charset="0"/>
                <a:ea typeface="Calibri" pitchFamily="34" charset="-122"/>
                <a:cs typeface="Calibri" pitchFamily="34" charset="-120"/>
              </a:rPr>
              <a:t>One ApplicationID across every resource a project touches. </a:t>
            </a:r>
            <a:pPr indent="0" marL="0">
              <a:lnSpc>
                <a:spcPts val="1900"/>
              </a:lnSpc>
              <a:buNone/>
            </a:pPr>
            <a:r>
              <a:rPr lang="en-US" sz="1350" dirty="0">
                <a:solidFill>
                  <a:srgbClr val="1B2430"/>
                </a:solidFill>
                <a:latin typeface="Calibri" pitchFamily="34" charset="0"/>
                <a:ea typeface="Calibri" pitchFamily="34" charset="-122"/>
                <a:cs typeface="Calibri" pitchFamily="34" charset="-120"/>
              </a:rPr>
              <a:t>The review then sees a single number with a single owner — and the model's share becomes a ratio anyone can argue with, rather than the headline.</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A22"/>
        </a:solidFill>
      </p:bgPr>
    </p:bg>
    <p:spTree>
      <p:nvGrpSpPr>
        <p:cNvPr id="1" name=""/>
        <p:cNvGrpSpPr/>
        <p:nvPr/>
      </p:nvGrpSpPr>
      <p:grpSpPr>
        <a:xfrm>
          <a:off x="0" y="0"/>
          <a:ext cx="0" cy="0"/>
          <a:chOff x="0" y="0"/>
          <a:chExt cx="0" cy="0"/>
        </a:xfrm>
      </p:grpSpPr>
      <p:sp>
        <p:nvSpPr>
          <p:cNvPr id="2" name="Text 0"/>
          <p:cNvSpPr/>
          <p:nvPr/>
        </p:nvSpPr>
        <p:spPr>
          <a:xfrm>
            <a:off x="548640" y="475488"/>
            <a:ext cx="7315200" cy="256032"/>
          </a:xfrm>
          <a:prstGeom prst="rect">
            <a:avLst/>
          </a:prstGeom>
          <a:noFill/>
          <a:ln/>
        </p:spPr>
        <p:txBody>
          <a:bodyPr wrap="square" lIns="0" tIns="0" rIns="0" bIns="0" rtlCol="0" anchor="ctr"/>
          <a:lstStyle/>
          <a:p>
            <a:pPr indent="0" marL="0">
              <a:buNone/>
            </a:pPr>
            <a:r>
              <a:rPr lang="en-US" sz="1100" b="1" spc="220" kern="0" dirty="0">
                <a:solidFill>
                  <a:srgbClr val="E39B2C"/>
                </a:solidFill>
                <a:latin typeface="Calibri" pitchFamily="34" charset="0"/>
                <a:ea typeface="Calibri" pitchFamily="34" charset="-122"/>
                <a:cs typeface="Calibri" pitchFamily="34" charset="-120"/>
              </a:rPr>
              <a:t>STEP TWO — CONTROL IT</a:t>
            </a:r>
            <a:endParaRPr lang="en-US" sz="1100" dirty="0"/>
          </a:p>
        </p:txBody>
      </p:sp>
      <p:sp>
        <p:nvSpPr>
          <p:cNvPr id="3" name="Text 1"/>
          <p:cNvSpPr/>
          <p:nvPr/>
        </p:nvSpPr>
        <p:spPr>
          <a:xfrm>
            <a:off x="548640" y="768096"/>
            <a:ext cx="11091672" cy="804672"/>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Two moments, and only one of them is cheap</a:t>
            </a:r>
            <a:endParaRPr lang="en-US" sz="3100" dirty="0"/>
          </a:p>
        </p:txBody>
      </p:sp>
      <p:sp>
        <p:nvSpPr>
          <p:cNvPr id="4" name="Text 2"/>
          <p:cNvSpPr/>
          <p:nvPr/>
        </p:nvSpPr>
        <p:spPr>
          <a:xfrm>
            <a:off x="548640" y="1536192"/>
            <a:ext cx="10607040" cy="365760"/>
          </a:xfrm>
          <a:prstGeom prst="rect">
            <a:avLst/>
          </a:prstGeom>
          <a:noFill/>
          <a:ln/>
        </p:spPr>
        <p:txBody>
          <a:bodyPr wrap="square" lIns="0" tIns="0" rIns="0" bIns="0" rtlCol="0" anchor="ctr"/>
          <a:lstStyle/>
          <a:p>
            <a:pPr indent="0" marL="0">
              <a:buNone/>
            </a:pPr>
            <a:r>
              <a:rPr lang="en-US" sz="1500" dirty="0">
                <a:solidFill>
                  <a:srgbClr val="9EABBA"/>
                </a:solidFill>
                <a:latin typeface="Calibri" pitchFamily="34" charset="0"/>
                <a:ea typeface="Calibri" pitchFamily="34" charset="-122"/>
                <a:cs typeface="Calibri" pitchFamily="34" charset="-120"/>
              </a:rPr>
              <a:t>At design, changing a cost is a conversation. After deployment, it is a migration.</a:t>
            </a:r>
            <a:endParaRPr lang="en-US" sz="1500" dirty="0"/>
          </a:p>
        </p:txBody>
      </p:sp>
      <p:sp>
        <p:nvSpPr>
          <p:cNvPr id="5" name="Shape 3"/>
          <p:cNvSpPr/>
          <p:nvPr/>
        </p:nvSpPr>
        <p:spPr>
          <a:xfrm>
            <a:off x="548640" y="2121408"/>
            <a:ext cx="5394960" cy="3566160"/>
          </a:xfrm>
          <a:prstGeom prst="roundRect">
            <a:avLst>
              <a:gd name="adj" fmla="val 2308"/>
            </a:avLst>
          </a:prstGeom>
          <a:solidFill>
            <a:srgbClr val="1F2936"/>
          </a:solidFill>
          <a:ln/>
        </p:spPr>
      </p:sp>
      <p:sp>
        <p:nvSpPr>
          <p:cNvPr id="6" name="Text 4"/>
          <p:cNvSpPr/>
          <p:nvPr/>
        </p:nvSpPr>
        <p:spPr>
          <a:xfrm>
            <a:off x="859536" y="2286000"/>
            <a:ext cx="4754880" cy="292608"/>
          </a:xfrm>
          <a:prstGeom prst="rect">
            <a:avLst/>
          </a:prstGeom>
          <a:noFill/>
          <a:ln/>
        </p:spPr>
        <p:txBody>
          <a:bodyPr wrap="square" lIns="0" tIns="0" rIns="0" bIns="0" rtlCol="0" anchor="ctr"/>
          <a:lstStyle/>
          <a:p>
            <a:pPr indent="0" marL="0">
              <a:buNone/>
            </a:pPr>
            <a:r>
              <a:rPr lang="en-US" sz="1150" b="1" spc="160" kern="0" dirty="0">
                <a:solidFill>
                  <a:srgbClr val="E39B2C"/>
                </a:solidFill>
                <a:latin typeface="Calibri" pitchFamily="34" charset="0"/>
                <a:ea typeface="Calibri" pitchFamily="34" charset="-122"/>
                <a:cs typeface="Calibri" pitchFamily="34" charset="-120"/>
              </a:rPr>
              <a:t>AT DESIGN — SHIFT LEFT</a:t>
            </a:r>
            <a:endParaRPr lang="en-US" sz="1150" dirty="0"/>
          </a:p>
        </p:txBody>
      </p:sp>
      <p:sp>
        <p:nvSpPr>
          <p:cNvPr id="7" name="Text 5"/>
          <p:cNvSpPr/>
          <p:nvPr/>
        </p:nvSpPr>
        <p:spPr>
          <a:xfrm>
            <a:off x="859536" y="2633472"/>
            <a:ext cx="4773168" cy="640080"/>
          </a:xfrm>
          <a:prstGeom prst="rect">
            <a:avLst/>
          </a:prstGeom>
          <a:noFill/>
          <a:ln/>
        </p:spPr>
        <p:txBody>
          <a:bodyPr wrap="square" lIns="0" tIns="0" rIns="0" bIns="0" rtlCol="0" anchor="t"/>
          <a:lstStyle/>
          <a:p>
            <a:pPr indent="0" marL="0">
              <a:lnSpc>
                <a:spcPts val="1700"/>
              </a:lnSpc>
              <a:buNone/>
            </a:pPr>
            <a:r>
              <a:rPr lang="en-US" sz="1250" dirty="0">
                <a:solidFill>
                  <a:srgbClr val="9EABBA"/>
                </a:solidFill>
                <a:latin typeface="Calibri" pitchFamily="34" charset="0"/>
                <a:ea typeface="Calibri" pitchFamily="34" charset="-122"/>
                <a:cs typeface="Calibri" pitchFamily="34" charset="-120"/>
              </a:rPr>
              <a:t>FinOps sits in the design and intake conversation, understanding what the project needs before the architecture is set.</a:t>
            </a:r>
            <a:endParaRPr lang="en-US" sz="1250" dirty="0"/>
          </a:p>
        </p:txBody>
      </p:sp>
      <p:sp>
        <p:nvSpPr>
          <p:cNvPr id="8" name="Shape 6"/>
          <p:cNvSpPr/>
          <p:nvPr/>
        </p:nvSpPr>
        <p:spPr>
          <a:xfrm>
            <a:off x="877824" y="3529584"/>
            <a:ext cx="100584" cy="100584"/>
          </a:xfrm>
          <a:prstGeom prst="ellipse">
            <a:avLst/>
          </a:prstGeom>
          <a:solidFill>
            <a:srgbClr val="E39B2C"/>
          </a:solidFill>
          <a:ln/>
        </p:spPr>
      </p:sp>
      <p:sp>
        <p:nvSpPr>
          <p:cNvPr id="9" name="Text 7"/>
          <p:cNvSpPr/>
          <p:nvPr/>
        </p:nvSpPr>
        <p:spPr>
          <a:xfrm>
            <a:off x="1115568" y="3401568"/>
            <a:ext cx="4517136" cy="676656"/>
          </a:xfrm>
          <a:prstGeom prst="rect">
            <a:avLst/>
          </a:prstGeom>
          <a:noFill/>
          <a:ln/>
        </p:spPr>
        <p:txBody>
          <a:bodyPr wrap="square" lIns="0" tIns="0" rIns="0" bIns="0" rtlCol="0" anchor="t"/>
          <a:lstStyle/>
          <a:p>
            <a:pPr indent="0" marL="0">
              <a:lnSpc>
                <a:spcPts val="1600"/>
              </a:lnSpc>
              <a:buNone/>
            </a:pPr>
            <a:r>
              <a:rPr lang="en-US" sz="1250" b="1" dirty="0">
                <a:solidFill>
                  <a:srgbClr val="FFFFFF"/>
                </a:solidFill>
                <a:latin typeface="Calibri" pitchFamily="34" charset="0"/>
                <a:ea typeface="Calibri" pitchFamily="34" charset="-122"/>
                <a:cs typeface="Calibri" pitchFamily="34" charset="-120"/>
              </a:rPr>
              <a:t>Priced options</a:t>
            </a:r>
            <a:endParaRPr lang="en-US" sz="1250" dirty="0"/>
          </a:p>
          <a:p>
            <a:pPr indent="0" marL="0">
              <a:lnSpc>
                <a:spcPts val="1600"/>
              </a:lnSpc>
              <a:buNone/>
            </a:pPr>
            <a:r>
              <a:rPr lang="en-US" sz="1250" dirty="0">
                <a:solidFill>
                  <a:srgbClr val="9EABBA"/>
                </a:solidFill>
                <a:latin typeface="Calibri" pitchFamily="34" charset="0"/>
                <a:ea typeface="Calibri" pitchFamily="34" charset="-122"/>
                <a:cs typeface="Calibri" pitchFamily="34" charset="-120"/>
              </a:rPr>
              <a:t>Two or three costed before one is chosen.</a:t>
            </a:r>
            <a:endParaRPr lang="en-US" sz="1250" dirty="0"/>
          </a:p>
        </p:txBody>
      </p:sp>
      <p:sp>
        <p:nvSpPr>
          <p:cNvPr id="10" name="Shape 8"/>
          <p:cNvSpPr/>
          <p:nvPr/>
        </p:nvSpPr>
        <p:spPr>
          <a:xfrm>
            <a:off x="877824" y="4242816"/>
            <a:ext cx="100584" cy="100584"/>
          </a:xfrm>
          <a:prstGeom prst="ellipse">
            <a:avLst/>
          </a:prstGeom>
          <a:solidFill>
            <a:srgbClr val="E39B2C"/>
          </a:solidFill>
          <a:ln/>
        </p:spPr>
      </p:sp>
      <p:sp>
        <p:nvSpPr>
          <p:cNvPr id="11" name="Text 9"/>
          <p:cNvSpPr/>
          <p:nvPr/>
        </p:nvSpPr>
        <p:spPr>
          <a:xfrm>
            <a:off x="1115568" y="4114800"/>
            <a:ext cx="4517136" cy="676656"/>
          </a:xfrm>
          <a:prstGeom prst="rect">
            <a:avLst/>
          </a:prstGeom>
          <a:noFill/>
          <a:ln/>
        </p:spPr>
        <p:txBody>
          <a:bodyPr wrap="square" lIns="0" tIns="0" rIns="0" bIns="0" rtlCol="0" anchor="t"/>
          <a:lstStyle/>
          <a:p>
            <a:pPr indent="0" marL="0">
              <a:lnSpc>
                <a:spcPts val="1600"/>
              </a:lnSpc>
              <a:buNone/>
            </a:pPr>
            <a:r>
              <a:rPr lang="en-US" sz="1250" b="1" dirty="0">
                <a:solidFill>
                  <a:srgbClr val="FFFFFF"/>
                </a:solidFill>
                <a:latin typeface="Calibri" pitchFamily="34" charset="0"/>
                <a:ea typeface="Calibri" pitchFamily="34" charset="-122"/>
                <a:cs typeface="Calibri" pitchFamily="34" charset="-120"/>
              </a:rPr>
              <a:t>A cost target</a:t>
            </a:r>
            <a:endParaRPr lang="en-US" sz="1250" dirty="0"/>
          </a:p>
          <a:p>
            <a:pPr indent="0" marL="0">
              <a:lnSpc>
                <a:spcPts val="1600"/>
              </a:lnSpc>
              <a:buNone/>
            </a:pPr>
            <a:r>
              <a:rPr lang="en-US" sz="1250" dirty="0">
                <a:solidFill>
                  <a:srgbClr val="9EABBA"/>
                </a:solidFill>
                <a:latin typeface="Calibri" pitchFamily="34" charset="0"/>
                <a:ea typeface="Calibri" pitchFamily="34" charset="-122"/>
                <a:cs typeface="Calibri" pitchFamily="34" charset="-120"/>
              </a:rPr>
              <a:t>Recorded beside the latency and availability targets.</a:t>
            </a:r>
            <a:endParaRPr lang="en-US" sz="1250" dirty="0"/>
          </a:p>
        </p:txBody>
      </p:sp>
      <p:sp>
        <p:nvSpPr>
          <p:cNvPr id="12" name="Shape 10"/>
          <p:cNvSpPr/>
          <p:nvPr/>
        </p:nvSpPr>
        <p:spPr>
          <a:xfrm>
            <a:off x="877824" y="4956048"/>
            <a:ext cx="100584" cy="100584"/>
          </a:xfrm>
          <a:prstGeom prst="ellipse">
            <a:avLst/>
          </a:prstGeom>
          <a:solidFill>
            <a:srgbClr val="E39B2C"/>
          </a:solidFill>
          <a:ln/>
        </p:spPr>
      </p:sp>
      <p:sp>
        <p:nvSpPr>
          <p:cNvPr id="13" name="Text 11"/>
          <p:cNvSpPr/>
          <p:nvPr/>
        </p:nvSpPr>
        <p:spPr>
          <a:xfrm>
            <a:off x="1115568" y="4828032"/>
            <a:ext cx="4517136" cy="676656"/>
          </a:xfrm>
          <a:prstGeom prst="rect">
            <a:avLst/>
          </a:prstGeom>
          <a:noFill/>
          <a:ln/>
        </p:spPr>
        <p:txBody>
          <a:bodyPr wrap="square" lIns="0" tIns="0" rIns="0" bIns="0" rtlCol="0" anchor="t"/>
          <a:lstStyle/>
          <a:p>
            <a:pPr indent="0" marL="0">
              <a:lnSpc>
                <a:spcPts val="1600"/>
              </a:lnSpc>
              <a:buNone/>
            </a:pPr>
            <a:r>
              <a:rPr lang="en-US" sz="1250" b="1" dirty="0">
                <a:solidFill>
                  <a:srgbClr val="FFFFFF"/>
                </a:solidFill>
                <a:latin typeface="Calibri" pitchFamily="34" charset="0"/>
                <a:ea typeface="Calibri" pitchFamily="34" charset="-122"/>
                <a:cs typeface="Calibri" pitchFamily="34" charset="-120"/>
              </a:rPr>
              <a:t>Enforced in the pipeline</a:t>
            </a:r>
            <a:endParaRPr lang="en-US" sz="1250" dirty="0"/>
          </a:p>
          <a:p>
            <a:pPr indent="0" marL="0">
              <a:lnSpc>
                <a:spcPts val="1600"/>
              </a:lnSpc>
              <a:buNone/>
            </a:pPr>
            <a:r>
              <a:rPr lang="en-US" sz="1250" dirty="0">
                <a:solidFill>
                  <a:srgbClr val="9EABBA"/>
                </a:solidFill>
                <a:latin typeface="Calibri" pitchFamily="34" charset="0"/>
                <a:ea typeface="Calibri" pitchFamily="34" charset="-122"/>
                <a:cs typeface="Calibri" pitchFamily="34" charset="-120"/>
              </a:rPr>
              <a:t>Tagging and budget rules as policy, not paperwork.</a:t>
            </a:r>
            <a:endParaRPr lang="en-US" sz="1250" dirty="0"/>
          </a:p>
        </p:txBody>
      </p:sp>
      <p:sp>
        <p:nvSpPr>
          <p:cNvPr id="14" name="Shape 12"/>
          <p:cNvSpPr/>
          <p:nvPr/>
        </p:nvSpPr>
        <p:spPr>
          <a:xfrm>
            <a:off x="6245352" y="2121408"/>
            <a:ext cx="5394960" cy="3566160"/>
          </a:xfrm>
          <a:prstGeom prst="roundRect">
            <a:avLst>
              <a:gd name="adj" fmla="val 2308"/>
            </a:avLst>
          </a:prstGeom>
          <a:solidFill>
            <a:srgbClr val="1F2936"/>
          </a:solidFill>
          <a:ln/>
        </p:spPr>
      </p:sp>
      <p:sp>
        <p:nvSpPr>
          <p:cNvPr id="15" name="Text 13"/>
          <p:cNvSpPr/>
          <p:nvPr/>
        </p:nvSpPr>
        <p:spPr>
          <a:xfrm>
            <a:off x="6556248" y="2286000"/>
            <a:ext cx="4754880" cy="292608"/>
          </a:xfrm>
          <a:prstGeom prst="rect">
            <a:avLst/>
          </a:prstGeom>
          <a:noFill/>
          <a:ln/>
        </p:spPr>
        <p:txBody>
          <a:bodyPr wrap="square" lIns="0" tIns="0" rIns="0" bIns="0" rtlCol="0" anchor="ctr"/>
          <a:lstStyle/>
          <a:p>
            <a:pPr indent="0" marL="0">
              <a:buNone/>
            </a:pPr>
            <a:r>
              <a:rPr lang="en-US" sz="1150" b="1" spc="160" kern="0" dirty="0">
                <a:solidFill>
                  <a:srgbClr val="2E8B7A"/>
                </a:solidFill>
                <a:latin typeface="Calibri" pitchFamily="34" charset="0"/>
                <a:ea typeface="Calibri" pitchFamily="34" charset="-122"/>
                <a:cs typeface="Calibri" pitchFamily="34" charset="-120"/>
              </a:rPr>
              <a:t>AT RUNTIME — GUARDRAILS</a:t>
            </a:r>
            <a:endParaRPr lang="en-US" sz="1150" dirty="0"/>
          </a:p>
        </p:txBody>
      </p:sp>
      <p:sp>
        <p:nvSpPr>
          <p:cNvPr id="16" name="Text 14"/>
          <p:cNvSpPr/>
          <p:nvPr/>
        </p:nvSpPr>
        <p:spPr>
          <a:xfrm>
            <a:off x="6556248" y="2633472"/>
            <a:ext cx="4773168" cy="640080"/>
          </a:xfrm>
          <a:prstGeom prst="rect">
            <a:avLst/>
          </a:prstGeom>
          <a:noFill/>
          <a:ln/>
        </p:spPr>
        <p:txBody>
          <a:bodyPr wrap="square" lIns="0" tIns="0" rIns="0" bIns="0" rtlCol="0" anchor="t"/>
          <a:lstStyle/>
          <a:p>
            <a:pPr indent="0" marL="0">
              <a:lnSpc>
                <a:spcPts val="1700"/>
              </a:lnSpc>
              <a:buNone/>
            </a:pPr>
            <a:r>
              <a:rPr lang="en-US" sz="1250" dirty="0">
                <a:solidFill>
                  <a:srgbClr val="9EABBA"/>
                </a:solidFill>
                <a:latin typeface="Calibri" pitchFamily="34" charset="0"/>
                <a:ea typeface="Calibri" pitchFamily="34" charset="-122"/>
                <a:cs typeface="Calibri" pitchFamily="34" charset="-120"/>
              </a:rPr>
              <a:t>Controls that act on spend already running, ordered by how fast each one takes effect.</a:t>
            </a:r>
            <a:endParaRPr lang="en-US" sz="1250" dirty="0"/>
          </a:p>
        </p:txBody>
      </p:sp>
      <p:sp>
        <p:nvSpPr>
          <p:cNvPr id="17" name="Shape 15"/>
          <p:cNvSpPr/>
          <p:nvPr/>
        </p:nvSpPr>
        <p:spPr>
          <a:xfrm>
            <a:off x="6574536" y="3529584"/>
            <a:ext cx="100584" cy="100584"/>
          </a:xfrm>
          <a:prstGeom prst="ellipse">
            <a:avLst/>
          </a:prstGeom>
          <a:solidFill>
            <a:srgbClr val="2E8B7A"/>
          </a:solidFill>
          <a:ln/>
        </p:spPr>
      </p:sp>
      <p:sp>
        <p:nvSpPr>
          <p:cNvPr id="18" name="Text 16"/>
          <p:cNvSpPr/>
          <p:nvPr/>
        </p:nvSpPr>
        <p:spPr>
          <a:xfrm>
            <a:off x="6812280" y="3401568"/>
            <a:ext cx="4517136" cy="676656"/>
          </a:xfrm>
          <a:prstGeom prst="rect">
            <a:avLst/>
          </a:prstGeom>
          <a:noFill/>
          <a:ln/>
        </p:spPr>
        <p:txBody>
          <a:bodyPr wrap="square" lIns="0" tIns="0" rIns="0" bIns="0" rtlCol="0" anchor="t"/>
          <a:lstStyle/>
          <a:p>
            <a:pPr indent="0" marL="0">
              <a:lnSpc>
                <a:spcPts val="1600"/>
              </a:lnSpc>
              <a:buNone/>
            </a:pPr>
            <a:r>
              <a:rPr lang="en-US" sz="1250" b="1" dirty="0">
                <a:solidFill>
                  <a:srgbClr val="FFFFFF"/>
                </a:solidFill>
                <a:latin typeface="Calibri" pitchFamily="34" charset="0"/>
                <a:ea typeface="Calibri" pitchFamily="34" charset="-122"/>
                <a:cs typeface="Calibri" pitchFamily="34" charset="-120"/>
              </a:rPr>
              <a:t>Quotas and rate limits</a:t>
            </a:r>
            <a:endParaRPr lang="en-US" sz="1250" dirty="0"/>
          </a:p>
          <a:p>
            <a:pPr indent="0" marL="0">
              <a:lnSpc>
                <a:spcPts val="1600"/>
              </a:lnSpc>
              <a:buNone/>
            </a:pPr>
            <a:r>
              <a:rPr lang="en-US" sz="1250" dirty="0">
                <a:solidFill>
                  <a:srgbClr val="9EABBA"/>
                </a:solidFill>
                <a:latin typeface="Calibri" pitchFamily="34" charset="0"/>
                <a:ea typeface="Calibri" pitchFamily="34" charset="-122"/>
                <a:cs typeface="Calibri" pitchFamily="34" charset="-120"/>
              </a:rPr>
              <a:t>Seconds. The only control that stops spend in progress.</a:t>
            </a:r>
            <a:endParaRPr lang="en-US" sz="1250" dirty="0"/>
          </a:p>
        </p:txBody>
      </p:sp>
      <p:sp>
        <p:nvSpPr>
          <p:cNvPr id="19" name="Shape 17"/>
          <p:cNvSpPr/>
          <p:nvPr/>
        </p:nvSpPr>
        <p:spPr>
          <a:xfrm>
            <a:off x="6574536" y="4242816"/>
            <a:ext cx="100584" cy="100584"/>
          </a:xfrm>
          <a:prstGeom prst="ellipse">
            <a:avLst/>
          </a:prstGeom>
          <a:solidFill>
            <a:srgbClr val="2E8B7A"/>
          </a:solidFill>
          <a:ln/>
        </p:spPr>
      </p:sp>
      <p:sp>
        <p:nvSpPr>
          <p:cNvPr id="20" name="Text 18"/>
          <p:cNvSpPr/>
          <p:nvPr/>
        </p:nvSpPr>
        <p:spPr>
          <a:xfrm>
            <a:off x="6812280" y="4114800"/>
            <a:ext cx="4517136" cy="676656"/>
          </a:xfrm>
          <a:prstGeom prst="rect">
            <a:avLst/>
          </a:prstGeom>
          <a:noFill/>
          <a:ln/>
        </p:spPr>
        <p:txBody>
          <a:bodyPr wrap="square" lIns="0" tIns="0" rIns="0" bIns="0" rtlCol="0" anchor="t"/>
          <a:lstStyle/>
          <a:p>
            <a:pPr indent="0" marL="0">
              <a:lnSpc>
                <a:spcPts val="1600"/>
              </a:lnSpc>
              <a:buNone/>
            </a:pPr>
            <a:r>
              <a:rPr lang="en-US" sz="1250" b="1" dirty="0">
                <a:solidFill>
                  <a:srgbClr val="FFFFFF"/>
                </a:solidFill>
                <a:latin typeface="Calibri" pitchFamily="34" charset="0"/>
                <a:ea typeface="Calibri" pitchFamily="34" charset="-122"/>
                <a:cs typeface="Calibri" pitchFamily="34" charset="-120"/>
              </a:rPr>
              <a:t>Alerts routed to owners</a:t>
            </a:r>
            <a:endParaRPr lang="en-US" sz="1250" dirty="0"/>
          </a:p>
          <a:p>
            <a:pPr indent="0" marL="0">
              <a:lnSpc>
                <a:spcPts val="1600"/>
              </a:lnSpc>
              <a:buNone/>
            </a:pPr>
            <a:r>
              <a:rPr lang="en-US" sz="1250" dirty="0">
                <a:solidFill>
                  <a:srgbClr val="9EABBA"/>
                </a:solidFill>
                <a:latin typeface="Calibri" pitchFamily="34" charset="0"/>
                <a:ea typeface="Calibri" pitchFamily="34" charset="-122"/>
                <a:cs typeface="Calibri" pitchFamily="34" charset="-120"/>
              </a:rPr>
              <a:t>Minutes on usage data. Never a page on a budget number.</a:t>
            </a:r>
            <a:endParaRPr lang="en-US" sz="1250" dirty="0"/>
          </a:p>
        </p:txBody>
      </p:sp>
      <p:sp>
        <p:nvSpPr>
          <p:cNvPr id="21" name="Shape 19"/>
          <p:cNvSpPr/>
          <p:nvPr/>
        </p:nvSpPr>
        <p:spPr>
          <a:xfrm>
            <a:off x="6574536" y="4956048"/>
            <a:ext cx="100584" cy="100584"/>
          </a:xfrm>
          <a:prstGeom prst="ellipse">
            <a:avLst/>
          </a:prstGeom>
          <a:solidFill>
            <a:srgbClr val="2E8B7A"/>
          </a:solidFill>
          <a:ln/>
        </p:spPr>
      </p:sp>
      <p:sp>
        <p:nvSpPr>
          <p:cNvPr id="22" name="Text 20"/>
          <p:cNvSpPr/>
          <p:nvPr/>
        </p:nvSpPr>
        <p:spPr>
          <a:xfrm>
            <a:off x="6812280" y="4828032"/>
            <a:ext cx="4517136" cy="676656"/>
          </a:xfrm>
          <a:prstGeom prst="rect">
            <a:avLst/>
          </a:prstGeom>
          <a:noFill/>
          <a:ln/>
        </p:spPr>
        <p:txBody>
          <a:bodyPr wrap="square" lIns="0" tIns="0" rIns="0" bIns="0" rtlCol="0" anchor="t"/>
          <a:lstStyle/>
          <a:p>
            <a:pPr indent="0" marL="0">
              <a:lnSpc>
                <a:spcPts val="1600"/>
              </a:lnSpc>
              <a:buNone/>
            </a:pPr>
            <a:r>
              <a:rPr lang="en-US" sz="1250" b="1" dirty="0">
                <a:solidFill>
                  <a:srgbClr val="FFFFFF"/>
                </a:solidFill>
                <a:latin typeface="Calibri" pitchFamily="34" charset="0"/>
                <a:ea typeface="Calibri" pitchFamily="34" charset="-122"/>
                <a:cs typeface="Calibri" pitchFamily="34" charset="-120"/>
              </a:rPr>
              <a:t>Budget thresholds</a:t>
            </a:r>
            <a:endParaRPr lang="en-US" sz="1250" dirty="0"/>
          </a:p>
          <a:p>
            <a:pPr indent="0" marL="0">
              <a:lnSpc>
                <a:spcPts val="1600"/>
              </a:lnSpc>
              <a:buNone/>
            </a:pPr>
            <a:r>
              <a:rPr lang="en-US" sz="1250" dirty="0">
                <a:solidFill>
                  <a:srgbClr val="9EABBA"/>
                </a:solidFill>
                <a:latin typeface="Calibri" pitchFamily="34" charset="0"/>
                <a:ea typeface="Calibri" pitchFamily="34" charset="-122"/>
                <a:cs typeface="Calibri" pitchFamily="34" charset="-120"/>
              </a:rPr>
              <a:t>Notify, review, gate — against the elapsed month.</a:t>
            </a:r>
            <a:endParaRPr lang="en-US" sz="1250" dirty="0"/>
          </a:p>
        </p:txBody>
      </p:sp>
      <p:sp>
        <p:nvSpPr>
          <p:cNvPr id="23" name="Text 21"/>
          <p:cNvSpPr/>
          <p:nvPr/>
        </p:nvSpPr>
        <p:spPr>
          <a:xfrm>
            <a:off x="548640" y="5870448"/>
            <a:ext cx="11091672" cy="566928"/>
          </a:xfrm>
          <a:prstGeom prst="rect">
            <a:avLst/>
          </a:prstGeom>
          <a:noFill/>
          <a:ln/>
        </p:spPr>
        <p:txBody>
          <a:bodyPr wrap="square" lIns="0" tIns="0" rIns="0" bIns="0" rtlCol="0" anchor="ctr"/>
          <a:lstStyle/>
          <a:p>
            <a:pPr indent="0" marL="0">
              <a:buNone/>
            </a:pPr>
            <a:r>
              <a:rPr lang="en-US" sz="1450" i="1" dirty="0">
                <a:solidFill>
                  <a:srgbClr val="E39B2C"/>
                </a:solidFill>
                <a:latin typeface="Cambria" pitchFamily="34" charset="0"/>
                <a:ea typeface="Cambria" pitchFamily="34" charset="-122"/>
                <a:cs typeface="Cambria" pitchFamily="34" charset="-120"/>
              </a:rPr>
              <a:t>“A cost alert cannot save you from a runaway job — by the time the billing data moves, the money is spent.”</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
            <a:ext cx="7315200" cy="256032"/>
          </a:xfrm>
          <a:prstGeom prst="rect">
            <a:avLst/>
          </a:prstGeom>
          <a:noFill/>
          <a:ln/>
        </p:spPr>
        <p:txBody>
          <a:bodyPr wrap="square" lIns="0" tIns="0" rIns="0" bIns="0" rtlCol="0" anchor="ctr"/>
          <a:lstStyle/>
          <a:p>
            <a:pPr indent="0" marL="0">
              <a:buNone/>
            </a:pPr>
            <a:r>
              <a:rPr lang="en-US" sz="1100" b="1" spc="220" kern="0" dirty="0">
                <a:solidFill>
                  <a:srgbClr val="E39B2C"/>
                </a:solidFill>
                <a:latin typeface="Calibri" pitchFamily="34" charset="0"/>
                <a:ea typeface="Calibri" pitchFamily="34" charset="-122"/>
                <a:cs typeface="Calibri" pitchFamily="34" charset="-120"/>
              </a:rPr>
              <a:t>WHAT WE ARE ASKING FOR</a:t>
            </a:r>
            <a:endParaRPr lang="en-US" sz="1100" dirty="0"/>
          </a:p>
        </p:txBody>
      </p:sp>
      <p:sp>
        <p:nvSpPr>
          <p:cNvPr id="3" name="Text 1"/>
          <p:cNvSpPr/>
          <p:nvPr/>
        </p:nvSpPr>
        <p:spPr>
          <a:xfrm>
            <a:off x="548640" y="768096"/>
            <a:ext cx="11091672" cy="804672"/>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Ninety days, and two decisions today</a:t>
            </a:r>
            <a:endParaRPr lang="en-US" sz="3100" dirty="0"/>
          </a:p>
        </p:txBody>
      </p:sp>
      <p:sp>
        <p:nvSpPr>
          <p:cNvPr id="4" name="Shape 2"/>
          <p:cNvSpPr/>
          <p:nvPr/>
        </p:nvSpPr>
        <p:spPr>
          <a:xfrm>
            <a:off x="548640" y="1965960"/>
            <a:ext cx="3511296" cy="2148840"/>
          </a:xfrm>
          <a:prstGeom prst="roundRect">
            <a:avLst>
              <a:gd name="adj" fmla="val 3830"/>
            </a:avLst>
          </a:prstGeom>
          <a:solidFill>
            <a:srgbClr val="1F2936"/>
          </a:solidFill>
          <a:ln/>
        </p:spPr>
      </p:sp>
      <p:sp>
        <p:nvSpPr>
          <p:cNvPr id="5" name="Text 3"/>
          <p:cNvSpPr/>
          <p:nvPr/>
        </p:nvSpPr>
        <p:spPr>
          <a:xfrm>
            <a:off x="859536" y="2139696"/>
            <a:ext cx="2926080" cy="292608"/>
          </a:xfrm>
          <a:prstGeom prst="rect">
            <a:avLst/>
          </a:prstGeom>
          <a:noFill/>
          <a:ln/>
        </p:spPr>
        <p:txBody>
          <a:bodyPr wrap="square" lIns="0" tIns="0" rIns="0" bIns="0" rtlCol="0" anchor="ctr"/>
          <a:lstStyle/>
          <a:p>
            <a:pPr indent="0" marL="0">
              <a:buNone/>
            </a:pPr>
            <a:r>
              <a:rPr lang="en-US" sz="1150" b="1" spc="160" kern="0" dirty="0">
                <a:solidFill>
                  <a:srgbClr val="E39B2C"/>
                </a:solidFill>
                <a:latin typeface="Calibri" pitchFamily="34" charset="0"/>
                <a:ea typeface="Calibri" pitchFamily="34" charset="-122"/>
                <a:cs typeface="Calibri" pitchFamily="34" charset="-120"/>
              </a:rPr>
              <a:t>Weeks 1–4</a:t>
            </a:r>
            <a:endParaRPr lang="en-US" sz="1150" dirty="0"/>
          </a:p>
        </p:txBody>
      </p:sp>
      <p:sp>
        <p:nvSpPr>
          <p:cNvPr id="6" name="Text 4"/>
          <p:cNvSpPr/>
          <p:nvPr/>
        </p:nvSpPr>
        <p:spPr>
          <a:xfrm>
            <a:off x="859536" y="2468880"/>
            <a:ext cx="2926080" cy="402336"/>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Name it</a:t>
            </a:r>
            <a:endParaRPr lang="en-US" sz="2000" dirty="0"/>
          </a:p>
        </p:txBody>
      </p:sp>
      <p:sp>
        <p:nvSpPr>
          <p:cNvPr id="7" name="Text 5"/>
          <p:cNvSpPr/>
          <p:nvPr/>
        </p:nvSpPr>
        <p:spPr>
          <a:xfrm>
            <a:off x="859536" y="2962656"/>
            <a:ext cx="2926080" cy="914400"/>
          </a:xfrm>
          <a:prstGeom prst="rect">
            <a:avLst/>
          </a:prstGeom>
          <a:noFill/>
          <a:ln/>
        </p:spPr>
        <p:txBody>
          <a:bodyPr wrap="square" lIns="0" tIns="0" rIns="0" bIns="0" rtlCol="0" anchor="t"/>
          <a:lstStyle/>
          <a:p>
            <a:pPr indent="0" marL="0">
              <a:lnSpc>
                <a:spcPts val="1700"/>
              </a:lnSpc>
              <a:buNone/>
            </a:pPr>
            <a:r>
              <a:rPr lang="en-US" sz="1250" dirty="0">
                <a:solidFill>
                  <a:srgbClr val="9EABBA"/>
                </a:solidFill>
                <a:latin typeface="Calibri" pitchFamily="34" charset="0"/>
                <a:ea typeface="Calibri" pitchFamily="34" charset="-122"/>
                <a:cs typeface="Calibri" pitchFamily="34" charset="-120"/>
              </a:rPr>
              <a:t>Tag taxonomy published and enforced. An owner recorded for every application above a spend floor.</a:t>
            </a:r>
            <a:endParaRPr lang="en-US" sz="1250" dirty="0"/>
          </a:p>
        </p:txBody>
      </p:sp>
      <p:sp>
        <p:nvSpPr>
          <p:cNvPr id="8" name="Shape 6"/>
          <p:cNvSpPr/>
          <p:nvPr/>
        </p:nvSpPr>
        <p:spPr>
          <a:xfrm>
            <a:off x="4334256" y="1965960"/>
            <a:ext cx="3511296" cy="2148840"/>
          </a:xfrm>
          <a:prstGeom prst="roundRect">
            <a:avLst>
              <a:gd name="adj" fmla="val 3830"/>
            </a:avLst>
          </a:prstGeom>
          <a:solidFill>
            <a:srgbClr val="F1F3F6"/>
          </a:solidFill>
          <a:ln/>
        </p:spPr>
      </p:sp>
      <p:sp>
        <p:nvSpPr>
          <p:cNvPr id="9" name="Text 7"/>
          <p:cNvSpPr/>
          <p:nvPr/>
        </p:nvSpPr>
        <p:spPr>
          <a:xfrm>
            <a:off x="4645152" y="2139696"/>
            <a:ext cx="2926080" cy="292608"/>
          </a:xfrm>
          <a:prstGeom prst="rect">
            <a:avLst/>
          </a:prstGeom>
          <a:noFill/>
          <a:ln/>
        </p:spPr>
        <p:txBody>
          <a:bodyPr wrap="square" lIns="0" tIns="0" rIns="0" bIns="0" rtlCol="0" anchor="ctr"/>
          <a:lstStyle/>
          <a:p>
            <a:pPr indent="0" marL="0">
              <a:buNone/>
            </a:pPr>
            <a:r>
              <a:rPr lang="en-US" sz="1150" b="1" spc="160" kern="0" dirty="0">
                <a:solidFill>
                  <a:srgbClr val="B87B18"/>
                </a:solidFill>
                <a:latin typeface="Calibri" pitchFamily="34" charset="0"/>
                <a:ea typeface="Calibri" pitchFamily="34" charset="-122"/>
                <a:cs typeface="Calibri" pitchFamily="34" charset="-120"/>
              </a:rPr>
              <a:t>Weeks 5–8</a:t>
            </a:r>
            <a:endParaRPr lang="en-US" sz="1150" dirty="0"/>
          </a:p>
        </p:txBody>
      </p:sp>
      <p:sp>
        <p:nvSpPr>
          <p:cNvPr id="10" name="Text 8"/>
          <p:cNvSpPr/>
          <p:nvPr/>
        </p:nvSpPr>
        <p:spPr>
          <a:xfrm>
            <a:off x="4645152" y="2468880"/>
            <a:ext cx="2926080" cy="402336"/>
          </a:xfrm>
          <a:prstGeom prst="rect">
            <a:avLst/>
          </a:prstGeom>
          <a:noFill/>
          <a:ln/>
        </p:spPr>
        <p:txBody>
          <a:bodyPr wrap="square" lIns="0" tIns="0" rIns="0" bIns="0" rtlCol="0" anchor="ctr"/>
          <a:lstStyle/>
          <a:p>
            <a:pPr indent="0" marL="0">
              <a:buNone/>
            </a:pPr>
            <a:r>
              <a:rPr lang="en-US" sz="2000" b="1" dirty="0">
                <a:solidFill>
                  <a:srgbClr val="1B2430"/>
                </a:solidFill>
                <a:latin typeface="Cambria" pitchFamily="34" charset="0"/>
                <a:ea typeface="Cambria" pitchFamily="34" charset="-122"/>
                <a:cs typeface="Cambria" pitchFamily="34" charset="-120"/>
              </a:rPr>
              <a:t>See it</a:t>
            </a:r>
            <a:endParaRPr lang="en-US" sz="2000" dirty="0"/>
          </a:p>
        </p:txBody>
      </p:sp>
      <p:sp>
        <p:nvSpPr>
          <p:cNvPr id="11" name="Text 9"/>
          <p:cNvSpPr/>
          <p:nvPr/>
        </p:nvSpPr>
        <p:spPr>
          <a:xfrm>
            <a:off x="4645152" y="2962656"/>
            <a:ext cx="2926080" cy="914400"/>
          </a:xfrm>
          <a:prstGeom prst="rect">
            <a:avLst/>
          </a:prstGeom>
          <a:noFill/>
          <a:ln/>
        </p:spPr>
        <p:txBody>
          <a:bodyPr wrap="square" lIns="0" tIns="0" rIns="0" bIns="0" rtlCol="0" anchor="t"/>
          <a:lstStyle/>
          <a:p>
            <a:pPr indent="0" marL="0">
              <a:lnSpc>
                <a:spcPts val="1700"/>
              </a:lnSpc>
              <a:buNone/>
            </a:pPr>
            <a:r>
              <a:rPr lang="en-US" sz="1250" dirty="0">
                <a:solidFill>
                  <a:srgbClr val="5C6675"/>
                </a:solidFill>
                <a:latin typeface="Calibri" pitchFamily="34" charset="0"/>
                <a:ea typeface="Calibri" pitchFamily="34" charset="-122"/>
                <a:cs typeface="Calibri" pitchFamily="34" charset="-120"/>
              </a:rPr>
              <a:t>One number per project, showback to every team, and cost in the design review.</a:t>
            </a:r>
            <a:endParaRPr lang="en-US" sz="1250" dirty="0"/>
          </a:p>
        </p:txBody>
      </p:sp>
      <p:sp>
        <p:nvSpPr>
          <p:cNvPr id="12" name="Shape 10"/>
          <p:cNvSpPr/>
          <p:nvPr/>
        </p:nvSpPr>
        <p:spPr>
          <a:xfrm>
            <a:off x="8119872" y="1965960"/>
            <a:ext cx="3511296" cy="2148840"/>
          </a:xfrm>
          <a:prstGeom prst="roundRect">
            <a:avLst>
              <a:gd name="adj" fmla="val 3830"/>
            </a:avLst>
          </a:prstGeom>
          <a:solidFill>
            <a:srgbClr val="F1F3F6"/>
          </a:solidFill>
          <a:ln/>
        </p:spPr>
      </p:sp>
      <p:sp>
        <p:nvSpPr>
          <p:cNvPr id="13" name="Text 11"/>
          <p:cNvSpPr/>
          <p:nvPr/>
        </p:nvSpPr>
        <p:spPr>
          <a:xfrm>
            <a:off x="8430768" y="2139696"/>
            <a:ext cx="2926080" cy="292608"/>
          </a:xfrm>
          <a:prstGeom prst="rect">
            <a:avLst/>
          </a:prstGeom>
          <a:noFill/>
          <a:ln/>
        </p:spPr>
        <p:txBody>
          <a:bodyPr wrap="square" lIns="0" tIns="0" rIns="0" bIns="0" rtlCol="0" anchor="ctr"/>
          <a:lstStyle/>
          <a:p>
            <a:pPr indent="0" marL="0">
              <a:buNone/>
            </a:pPr>
            <a:r>
              <a:rPr lang="en-US" sz="1150" b="1" spc="160" kern="0" dirty="0">
                <a:solidFill>
                  <a:srgbClr val="B87B18"/>
                </a:solidFill>
                <a:latin typeface="Calibri" pitchFamily="34" charset="0"/>
                <a:ea typeface="Calibri" pitchFamily="34" charset="-122"/>
                <a:cs typeface="Calibri" pitchFamily="34" charset="-120"/>
              </a:rPr>
              <a:t>Weeks 9–12</a:t>
            </a:r>
            <a:endParaRPr lang="en-US" sz="1150" dirty="0"/>
          </a:p>
        </p:txBody>
      </p:sp>
      <p:sp>
        <p:nvSpPr>
          <p:cNvPr id="14" name="Text 12"/>
          <p:cNvSpPr/>
          <p:nvPr/>
        </p:nvSpPr>
        <p:spPr>
          <a:xfrm>
            <a:off x="8430768" y="2468880"/>
            <a:ext cx="2926080" cy="402336"/>
          </a:xfrm>
          <a:prstGeom prst="rect">
            <a:avLst/>
          </a:prstGeom>
          <a:noFill/>
          <a:ln/>
        </p:spPr>
        <p:txBody>
          <a:bodyPr wrap="square" lIns="0" tIns="0" rIns="0" bIns="0" rtlCol="0" anchor="ctr"/>
          <a:lstStyle/>
          <a:p>
            <a:pPr indent="0" marL="0">
              <a:buNone/>
            </a:pPr>
            <a:r>
              <a:rPr lang="en-US" sz="2000" b="1" dirty="0">
                <a:solidFill>
                  <a:srgbClr val="1B2430"/>
                </a:solidFill>
                <a:latin typeface="Cambria" pitchFamily="34" charset="0"/>
                <a:ea typeface="Cambria" pitchFamily="34" charset="-122"/>
                <a:cs typeface="Cambria" pitchFamily="34" charset="-120"/>
              </a:rPr>
              <a:t>Hold it</a:t>
            </a:r>
            <a:endParaRPr lang="en-US" sz="2000" dirty="0"/>
          </a:p>
        </p:txBody>
      </p:sp>
      <p:sp>
        <p:nvSpPr>
          <p:cNvPr id="15" name="Text 13"/>
          <p:cNvSpPr/>
          <p:nvPr/>
        </p:nvSpPr>
        <p:spPr>
          <a:xfrm>
            <a:off x="8430768" y="2962656"/>
            <a:ext cx="2926080" cy="914400"/>
          </a:xfrm>
          <a:prstGeom prst="rect">
            <a:avLst/>
          </a:prstGeom>
          <a:noFill/>
          <a:ln/>
        </p:spPr>
        <p:txBody>
          <a:bodyPr wrap="square" lIns="0" tIns="0" rIns="0" bIns="0" rtlCol="0" anchor="t"/>
          <a:lstStyle/>
          <a:p>
            <a:pPr indent="0" marL="0">
              <a:lnSpc>
                <a:spcPts val="1700"/>
              </a:lnSpc>
              <a:buNone/>
            </a:pPr>
            <a:r>
              <a:rPr lang="en-US" sz="1250" dirty="0">
                <a:solidFill>
                  <a:srgbClr val="5C6675"/>
                </a:solidFill>
                <a:latin typeface="Calibri" pitchFamily="34" charset="0"/>
                <a:ea typeface="Calibri" pitchFamily="34" charset="-122"/>
                <a:cs typeface="Calibri" pitchFamily="34" charset="-120"/>
              </a:rPr>
              <a:t>Quotas on the largest workloads, alerts routed to owners, monthly review with finance.</a:t>
            </a:r>
            <a:endParaRPr lang="en-US" sz="1250" dirty="0"/>
          </a:p>
        </p:txBody>
      </p:sp>
      <p:sp>
        <p:nvSpPr>
          <p:cNvPr id="16" name="Shape 14"/>
          <p:cNvSpPr/>
          <p:nvPr/>
        </p:nvSpPr>
        <p:spPr>
          <a:xfrm>
            <a:off x="548640" y="4352544"/>
            <a:ext cx="5394960" cy="1463040"/>
          </a:xfrm>
          <a:prstGeom prst="roundRect">
            <a:avLst>
              <a:gd name="adj" fmla="val 5625"/>
            </a:avLst>
          </a:prstGeom>
          <a:solidFill>
            <a:srgbClr val="F1F3F6"/>
          </a:solidFill>
          <a:ln/>
        </p:spPr>
      </p:sp>
      <p:sp>
        <p:nvSpPr>
          <p:cNvPr id="17" name="Text 15"/>
          <p:cNvSpPr/>
          <p:nvPr/>
        </p:nvSpPr>
        <p:spPr>
          <a:xfrm>
            <a:off x="859536" y="4517136"/>
            <a:ext cx="4572000" cy="274320"/>
          </a:xfrm>
          <a:prstGeom prst="rect">
            <a:avLst/>
          </a:prstGeom>
          <a:noFill/>
          <a:ln/>
        </p:spPr>
        <p:txBody>
          <a:bodyPr wrap="square" lIns="0" tIns="0" rIns="0" bIns="0" rtlCol="0" anchor="ctr"/>
          <a:lstStyle/>
          <a:p>
            <a:pPr indent="0" marL="0">
              <a:buNone/>
            </a:pPr>
            <a:r>
              <a:rPr lang="en-US" sz="1150" b="1" spc="140" kern="0" dirty="0">
                <a:solidFill>
                  <a:srgbClr val="5C6675"/>
                </a:solidFill>
                <a:latin typeface="Calibri" pitchFamily="34" charset="0"/>
                <a:ea typeface="Calibri" pitchFamily="34" charset="-122"/>
                <a:cs typeface="Calibri" pitchFamily="34" charset="-120"/>
              </a:rPr>
              <a:t>How we will know it is working</a:t>
            </a:r>
            <a:endParaRPr lang="en-US" sz="1150" dirty="0"/>
          </a:p>
        </p:txBody>
      </p:sp>
      <p:sp>
        <p:nvSpPr>
          <p:cNvPr id="18" name="Text 16"/>
          <p:cNvSpPr/>
          <p:nvPr/>
        </p:nvSpPr>
        <p:spPr>
          <a:xfrm>
            <a:off x="859536" y="4846320"/>
            <a:ext cx="2743200" cy="274320"/>
          </a:xfrm>
          <a:prstGeom prst="rect">
            <a:avLst/>
          </a:prstGeom>
          <a:noFill/>
          <a:ln/>
        </p:spPr>
        <p:txBody>
          <a:bodyPr wrap="square" lIns="0" tIns="0" rIns="0" bIns="0" rtlCol="0" anchor="ctr"/>
          <a:lstStyle/>
          <a:p>
            <a:pPr indent="0" marL="0">
              <a:buNone/>
            </a:pPr>
            <a:r>
              <a:rPr lang="en-US" sz="1250" b="1" dirty="0">
                <a:solidFill>
                  <a:srgbClr val="1B2430"/>
                </a:solidFill>
                <a:latin typeface="Calibri" pitchFamily="34" charset="0"/>
                <a:ea typeface="Calibri" pitchFamily="34" charset="-122"/>
                <a:cs typeface="Calibri" pitchFamily="34" charset="-120"/>
              </a:rPr>
              <a:t>Allocation coverage</a:t>
            </a:r>
            <a:endParaRPr lang="en-US" sz="1250" dirty="0"/>
          </a:p>
        </p:txBody>
      </p:sp>
      <p:sp>
        <p:nvSpPr>
          <p:cNvPr id="19" name="Text 17"/>
          <p:cNvSpPr/>
          <p:nvPr/>
        </p:nvSpPr>
        <p:spPr>
          <a:xfrm>
            <a:off x="3657600" y="4846320"/>
            <a:ext cx="1975104" cy="274320"/>
          </a:xfrm>
          <a:prstGeom prst="rect">
            <a:avLst/>
          </a:prstGeom>
          <a:noFill/>
          <a:ln/>
        </p:spPr>
        <p:txBody>
          <a:bodyPr wrap="square" lIns="0" tIns="0" rIns="0" bIns="0" rtlCol="0" anchor="ctr"/>
          <a:lstStyle/>
          <a:p>
            <a:pPr algn="r" indent="0" marL="0">
              <a:buNone/>
            </a:pPr>
            <a:r>
              <a:rPr lang="en-US" sz="1250" dirty="0">
                <a:solidFill>
                  <a:srgbClr val="5C6675"/>
                </a:solidFill>
                <a:latin typeface="Calibri" pitchFamily="34" charset="0"/>
                <a:ea typeface="Calibri" pitchFamily="34" charset="-122"/>
                <a:cs typeface="Calibri" pitchFamily="34" charset="-120"/>
              </a:rPr>
              <a:t>under 5%</a:t>
            </a:r>
            <a:endParaRPr lang="en-US" sz="1250" dirty="0"/>
          </a:p>
        </p:txBody>
      </p:sp>
      <p:sp>
        <p:nvSpPr>
          <p:cNvPr id="20" name="Text 18"/>
          <p:cNvSpPr/>
          <p:nvPr/>
        </p:nvSpPr>
        <p:spPr>
          <a:xfrm>
            <a:off x="859536" y="5148072"/>
            <a:ext cx="2743200" cy="274320"/>
          </a:xfrm>
          <a:prstGeom prst="rect">
            <a:avLst/>
          </a:prstGeom>
          <a:noFill/>
          <a:ln/>
        </p:spPr>
        <p:txBody>
          <a:bodyPr wrap="square" lIns="0" tIns="0" rIns="0" bIns="0" rtlCol="0" anchor="ctr"/>
          <a:lstStyle/>
          <a:p>
            <a:pPr indent="0" marL="0">
              <a:buNone/>
            </a:pPr>
            <a:r>
              <a:rPr lang="en-US" sz="1250" b="1" dirty="0">
                <a:solidFill>
                  <a:srgbClr val="1B2430"/>
                </a:solidFill>
                <a:latin typeface="Calibri" pitchFamily="34" charset="0"/>
                <a:ea typeface="Calibri" pitchFamily="34" charset="-122"/>
                <a:cs typeface="Calibri" pitchFamily="34" charset="-120"/>
              </a:rPr>
              <a:t>Time to attribute a spike</a:t>
            </a:r>
            <a:endParaRPr lang="en-US" sz="1250" dirty="0"/>
          </a:p>
        </p:txBody>
      </p:sp>
      <p:sp>
        <p:nvSpPr>
          <p:cNvPr id="21" name="Text 19"/>
          <p:cNvSpPr/>
          <p:nvPr/>
        </p:nvSpPr>
        <p:spPr>
          <a:xfrm>
            <a:off x="3657600" y="5148072"/>
            <a:ext cx="1975104" cy="274320"/>
          </a:xfrm>
          <a:prstGeom prst="rect">
            <a:avLst/>
          </a:prstGeom>
          <a:noFill/>
          <a:ln/>
        </p:spPr>
        <p:txBody>
          <a:bodyPr wrap="square" lIns="0" tIns="0" rIns="0" bIns="0" rtlCol="0" anchor="ctr"/>
          <a:lstStyle/>
          <a:p>
            <a:pPr algn="r" indent="0" marL="0">
              <a:buNone/>
            </a:pPr>
            <a:r>
              <a:rPr lang="en-US" sz="1250" dirty="0">
                <a:solidFill>
                  <a:srgbClr val="5C6675"/>
                </a:solidFill>
                <a:latin typeface="Calibri" pitchFamily="34" charset="0"/>
                <a:ea typeface="Calibri" pitchFamily="34" charset="-122"/>
                <a:cs typeface="Calibri" pitchFamily="34" charset="-120"/>
              </a:rPr>
              <a:t>hours, not days</a:t>
            </a:r>
            <a:endParaRPr lang="en-US" sz="1250" dirty="0"/>
          </a:p>
        </p:txBody>
      </p:sp>
      <p:sp>
        <p:nvSpPr>
          <p:cNvPr id="22" name="Text 20"/>
          <p:cNvSpPr/>
          <p:nvPr/>
        </p:nvSpPr>
        <p:spPr>
          <a:xfrm>
            <a:off x="859536" y="5449824"/>
            <a:ext cx="2743200" cy="274320"/>
          </a:xfrm>
          <a:prstGeom prst="rect">
            <a:avLst/>
          </a:prstGeom>
          <a:noFill/>
          <a:ln/>
        </p:spPr>
        <p:txBody>
          <a:bodyPr wrap="square" lIns="0" tIns="0" rIns="0" bIns="0" rtlCol="0" anchor="ctr"/>
          <a:lstStyle/>
          <a:p>
            <a:pPr indent="0" marL="0">
              <a:buNone/>
            </a:pPr>
            <a:r>
              <a:rPr lang="en-US" sz="1250" b="1" dirty="0">
                <a:solidFill>
                  <a:srgbClr val="1B2430"/>
                </a:solidFill>
                <a:latin typeface="Calibri" pitchFamily="34" charset="0"/>
                <a:ea typeface="Calibri" pitchFamily="34" charset="-122"/>
                <a:cs typeface="Calibri" pitchFamily="34" charset="-120"/>
              </a:rPr>
              <a:t>Cost per unit</a:t>
            </a:r>
            <a:endParaRPr lang="en-US" sz="1250" dirty="0"/>
          </a:p>
        </p:txBody>
      </p:sp>
      <p:sp>
        <p:nvSpPr>
          <p:cNvPr id="23" name="Text 21"/>
          <p:cNvSpPr/>
          <p:nvPr/>
        </p:nvSpPr>
        <p:spPr>
          <a:xfrm>
            <a:off x="3657600" y="5449824"/>
            <a:ext cx="1975104" cy="274320"/>
          </a:xfrm>
          <a:prstGeom prst="rect">
            <a:avLst/>
          </a:prstGeom>
          <a:noFill/>
          <a:ln/>
        </p:spPr>
        <p:txBody>
          <a:bodyPr wrap="square" lIns="0" tIns="0" rIns="0" bIns="0" rtlCol="0" anchor="ctr"/>
          <a:lstStyle/>
          <a:p>
            <a:pPr algn="r" indent="0" marL="0">
              <a:buNone/>
            </a:pPr>
            <a:r>
              <a:rPr lang="en-US" sz="1250" dirty="0">
                <a:solidFill>
                  <a:srgbClr val="5C6675"/>
                </a:solidFill>
                <a:latin typeface="Calibri" pitchFamily="34" charset="0"/>
                <a:ea typeface="Calibri" pitchFamily="34" charset="-122"/>
                <a:cs typeface="Calibri" pitchFamily="34" charset="-120"/>
              </a:rPr>
              <a:t>trending, per project</a:t>
            </a:r>
            <a:endParaRPr lang="en-US" sz="1250" dirty="0"/>
          </a:p>
        </p:txBody>
      </p:sp>
      <p:sp>
        <p:nvSpPr>
          <p:cNvPr id="24" name="Shape 22"/>
          <p:cNvSpPr/>
          <p:nvPr/>
        </p:nvSpPr>
        <p:spPr>
          <a:xfrm>
            <a:off x="6245352" y="4352544"/>
            <a:ext cx="5394960" cy="1536192"/>
          </a:xfrm>
          <a:prstGeom prst="roundRect">
            <a:avLst>
              <a:gd name="adj" fmla="val 5357"/>
            </a:avLst>
          </a:prstGeom>
          <a:solidFill>
            <a:srgbClr val="1F2936"/>
          </a:solidFill>
          <a:ln/>
          <a:effectLst>
            <a:outerShdw sx="100000" sy="100000" kx="0" ky="0" algn="bl" rotWithShape="0" blurRad="127000" dist="25400" dir="5400000">
              <a:srgbClr val="8C99A8">
                <a:alpha val="16000"/>
              </a:srgbClr>
            </a:outerShdw>
          </a:effectLst>
        </p:spPr>
      </p:sp>
      <p:sp>
        <p:nvSpPr>
          <p:cNvPr id="25" name="Text 23"/>
          <p:cNvSpPr/>
          <p:nvPr/>
        </p:nvSpPr>
        <p:spPr>
          <a:xfrm>
            <a:off x="6556248" y="4517136"/>
            <a:ext cx="4572000" cy="274320"/>
          </a:xfrm>
          <a:prstGeom prst="rect">
            <a:avLst/>
          </a:prstGeom>
          <a:noFill/>
          <a:ln/>
        </p:spPr>
        <p:txBody>
          <a:bodyPr wrap="square" lIns="0" tIns="0" rIns="0" bIns="0" rtlCol="0" anchor="ctr"/>
          <a:lstStyle/>
          <a:p>
            <a:pPr indent="0" marL="0">
              <a:buNone/>
            </a:pPr>
            <a:r>
              <a:rPr lang="en-US" sz="1150" b="1" spc="140" kern="0" dirty="0">
                <a:solidFill>
                  <a:srgbClr val="E39B2C"/>
                </a:solidFill>
                <a:latin typeface="Calibri" pitchFamily="34" charset="0"/>
                <a:ea typeface="Calibri" pitchFamily="34" charset="-122"/>
                <a:cs typeface="Calibri" pitchFamily="34" charset="-120"/>
              </a:rPr>
              <a:t>Decisions needed today</a:t>
            </a:r>
            <a:endParaRPr lang="en-US" sz="1150" dirty="0"/>
          </a:p>
        </p:txBody>
      </p:sp>
      <p:sp>
        <p:nvSpPr>
          <p:cNvPr id="26" name="Text 24"/>
          <p:cNvSpPr/>
          <p:nvPr/>
        </p:nvSpPr>
        <p:spPr>
          <a:xfrm>
            <a:off x="6556248" y="4828032"/>
            <a:ext cx="4846320" cy="960120"/>
          </a:xfrm>
          <a:prstGeom prst="rect">
            <a:avLst/>
          </a:prstGeom>
          <a:noFill/>
          <a:ln/>
        </p:spPr>
        <p:txBody>
          <a:bodyPr wrap="square" lIns="0" tIns="0" rIns="0" bIns="0" rtlCol="0" anchor="t"/>
          <a:lstStyle/>
          <a:p>
            <a:pPr indent="0" marL="0">
              <a:lnSpc>
                <a:spcPts val="2200"/>
              </a:lnSpc>
              <a:buNone/>
            </a:pPr>
            <a:r>
              <a:rPr lang="en-US" sz="1350" b="1" dirty="0">
                <a:solidFill>
                  <a:srgbClr val="FFFFFF"/>
                </a:solidFill>
                <a:latin typeface="Calibri" pitchFamily="34" charset="0"/>
                <a:ea typeface="Calibri" pitchFamily="34" charset="-122"/>
                <a:cs typeface="Calibri" pitchFamily="34" charset="-120"/>
              </a:rPr>
              <a:t>1.  Who owns the tagging standard, and by when?</a:t>
            </a:r>
            <a:endParaRPr lang="en-US" sz="1350" dirty="0"/>
          </a:p>
          <a:p>
            <a:pPr indent="0" marL="0">
              <a:lnSpc>
                <a:spcPts val="2200"/>
              </a:lnSpc>
              <a:buNone/>
            </a:pPr>
            <a:r>
              <a:rPr lang="en-US" sz="1350" b="1" dirty="0">
                <a:solidFill>
                  <a:srgbClr val="FFFFFF"/>
                </a:solidFill>
                <a:latin typeface="Calibri" pitchFamily="34" charset="0"/>
                <a:ea typeface="Calibri" pitchFamily="34" charset="-122"/>
                <a:cs typeface="Calibri" pitchFamily="34" charset="-120"/>
              </a:rPr>
              <a:t>2.  Are we willing to have a limit that blocks?</a:t>
            </a:r>
            <a:endParaRPr lang="en-US" sz="1350" dirty="0"/>
          </a:p>
        </p:txBody>
      </p:sp>
      <p:sp>
        <p:nvSpPr>
          <p:cNvPr id="27" name="Text 25"/>
          <p:cNvSpPr/>
          <p:nvPr/>
        </p:nvSpPr>
        <p:spPr>
          <a:xfrm>
            <a:off x="548640" y="5998464"/>
            <a:ext cx="11091672" cy="457200"/>
          </a:xfrm>
          <a:prstGeom prst="rect">
            <a:avLst/>
          </a:prstGeom>
          <a:noFill/>
          <a:ln/>
        </p:spPr>
        <p:txBody>
          <a:bodyPr wrap="square" lIns="0" tIns="0" rIns="0" bIns="0" rtlCol="0" anchor="ctr"/>
          <a:lstStyle/>
          <a:p>
            <a:pPr indent="0" marL="0">
              <a:buNone/>
            </a:pPr>
            <a:r>
              <a:rPr lang="en-US" sz="1250" dirty="0">
                <a:solidFill>
                  <a:srgbClr val="5C6675"/>
                </a:solidFill>
                <a:latin typeface="Calibri" pitchFamily="34" charset="0"/>
                <a:ea typeface="Calibri" pitchFamily="34" charset="-122"/>
                <a:cs typeface="Calibri" pitchFamily="34" charset="-120"/>
              </a:rPr>
              <a:t>No new headcount and no platform purchase in this plan. A tooling decision comes later, and only if allocation cannot be fixed at source.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FinOps — the vision in five slides</dc:title>
  <dc:subject>Cloud and AI cost: name it, own it, measure it, limit it</dc:subject>
  <dc:creator>FinOps</dc:creator>
  <cp:lastModifiedBy>FinOps</cp:lastModifiedBy>
  <cp:revision>1</cp:revision>
  <dcterms:created xsi:type="dcterms:W3CDTF">2026-08-06T15:07:39Z</dcterms:created>
  <dcterms:modified xsi:type="dcterms:W3CDTF">2026-08-06T15:07:39Z</dcterms:modified>
</cp:coreProperties>
</file>