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7.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8.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9.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10.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11.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2.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13.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14.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15.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charts/chart16.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fc251aa-fcb5-ee52-3b16-88efbe637c1c}">
          <p14:sldIdLst>
            <p14:sldId id="256"/>
            <p14:sldId id="257"/>
            <p14:sldId id="258"/>
          </p14:sldIdLst>
        </p14:section>
        <p14:section name="01 Where the money goes" id="{f762056e-28fc-4722-1a3f-4c550645d3ed}">
          <p14:sldIdLst>
            <p14:sldId id="259"/>
            <p14:sldId id="260"/>
            <p14:sldId id="261"/>
          </p14:sldIdLst>
        </p14:section>
        <p14:section name="02 AI and the AI Factory" id="{71f777e4-ecfd-5f74-4ac9-46fe1f2f579d}">
          <p14:sldIdLst>
            <p14:sldId id="262"/>
            <p14:sldId id="263"/>
            <p14:sldId id="264"/>
            <p14:sldId id="265"/>
          </p14:sldIdLst>
        </p14:section>
        <p14:section name="03 AWS" id="{3005db4d-5393-9cc0-6d4d-1f95c65f84ad}">
          <p14:sldIdLst>
            <p14:sldId id="266"/>
            <p14:sldId id="267"/>
            <p14:sldId id="268"/>
          </p14:sldIdLst>
        </p14:section>
        <p14:section name="04 Azure" id="{88919e19-460f-bcd2-3ae3-eb2cef94a2df}">
          <p14:sldIdLst>
            <p14:sldId id="269"/>
            <p14:sldId id="270"/>
            <p14:sldId id="271"/>
            <p14:sldId id="272"/>
          </p14:sldIdLst>
        </p14:section>
        <p14:section name="05 Savings and optimisation" id="{0843a41f-1240-e2aa-0101-fc3aa0526e03}">
          <p14:sldIdLst>
            <p14:sldId id="273"/>
            <p14:sldId id="274"/>
            <p14:sldId id="275"/>
            <p14:sldId id="276"/>
            <p14:sldId id="277"/>
          </p14:sldIdLst>
        </p14:section>
        <p14:section name="06 Risks and next steps" id="{c6f409b0-a9de-5904-e130-9591ea3de0d9}">
          <p14:sldIdLst>
            <p14:sldId id="278"/>
            <p14:sldId id="279"/>
            <p14:sldId id="280"/>
            <p14:sldId id="281"/>
            <p14:sldId id="282"/>
          </p14:sldIdLst>
        </p14:section>
        <p14:section name="Appendix" id="{357bf0a7-ba20-9930-f7c7-1bc6e966a0ab}">
          <p14:sldIdLst>
            <p14:sldId id="283"/>
            <p14:sldId id="284"/>
            <p14:sldId id="285"/>
            <p14:sldId id="286"/>
            <p14:sldId id="287"/>
            <p14:sldId id="288"/>
            <p14:sldId id="289"/>
            <p14:sldId id="290"/>
            <p14:sldId id="291"/>
            <p14:sldId id="292"/>
            <p14:sldId id="293"/>
            <p14:sldId id="294"/>
            <p14:sldId id="295"/>
            <p14:sldId id="29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Azure</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157</c:v>
                </c:pt>
                <c:pt idx="1">
                  <c:v>135.7</c:v>
                </c:pt>
                <c:pt idx="2">
                  <c:v>165.2</c:v>
                </c:pt>
                <c:pt idx="3">
                  <c:v>152.6</c:v>
                </c:pt>
                <c:pt idx="4">
                  <c:v>152.3</c:v>
                </c:pt>
                <c:pt idx="5">
                  <c:v>167.4</c:v>
                </c:pt>
                <c:pt idx="6">
                  <c:v>186.9</c:v>
                </c:pt>
                <c:pt idx="7">
                  <c:v>191.4</c:v>
                </c:pt>
                <c:pt idx="8">
                  <c:v>197.6</c:v>
                </c:pt>
              </c:numCache>
            </c:numRef>
          </c:val>
        </c:ser>
        <c:ser>
          <c:idx val="1"/>
          <c:order val="1"/>
          <c:tx>
            <c:strRef>
              <c:f>Sheet1!$C$1</c:f>
              <c:strCache>
                <c:ptCount val="1"/>
                <c:pt idx="0">
                  <c:v>AWS</c:v>
                </c:pt>
              </c:strCache>
            </c:strRef>
          </c:tx>
          <c:spPr>
            <a:solidFill>
              <a:srgbClr val="F2A9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77.1</c:v>
                </c:pt>
                <c:pt idx="1">
                  <c:v>82.6</c:v>
                </c:pt>
                <c:pt idx="2">
                  <c:v>95.9</c:v>
                </c:pt>
                <c:pt idx="3">
                  <c:v>81.9</c:v>
                </c:pt>
                <c:pt idx="4">
                  <c:v>83.1</c:v>
                </c:pt>
                <c:pt idx="5">
                  <c:v>86.6</c:v>
                </c:pt>
                <c:pt idx="6">
                  <c:v>76.8</c:v>
                </c:pt>
                <c:pt idx="7">
                  <c:v>106.5</c:v>
                </c:pt>
                <c:pt idx="8">
                  <c:v>101</c:v>
                </c:pt>
              </c:numCache>
            </c:numRef>
          </c:val>
        </c:ser>
        <c:ser>
          <c:idx val="2"/>
          <c:order val="2"/>
          <c:tx>
            <c:strRef>
              <c:f>Sheet1!$D$1</c:f>
              <c:strCache>
                <c:ptCount val="1"/>
                <c:pt idx="0">
                  <c:v>GCP</c:v>
                </c:pt>
              </c:strCache>
            </c:strRef>
          </c:tx>
          <c:spPr>
            <a:solidFill>
              <a:srgbClr val="00A87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0</c:v>
                </c:pt>
                <c:pt idx="1">
                  <c:v>0</c:v>
                </c:pt>
                <c:pt idx="2">
                  <c:v>0.4</c:v>
                </c:pt>
                <c:pt idx="3">
                  <c:v>0.4</c:v>
                </c:pt>
                <c:pt idx="4">
                  <c:v>1.4</c:v>
                </c:pt>
                <c:pt idx="5">
                  <c:v>2.2</c:v>
                </c:pt>
                <c:pt idx="6">
                  <c:v>3.7</c:v>
                </c:pt>
                <c:pt idx="7">
                  <c:v>2.8</c:v>
                </c:pt>
                <c:pt idx="8">
                  <c:v>2.5</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2"/>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max val="320"/>
        </c:scaling>
        <c:delete val="0"/>
        <c:axPos val="l"/>
        <c:majorGridlines>
          <c:spPr>
            <a:ln w="12700" cap="flat">
              <a:solidFill>
                <a:srgbClr val="E4EAF1"/>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majorUnit val="80"/>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AI services</c:v>
                </c:pt>
              </c:strCache>
            </c:strRef>
          </c:tx>
          <c:spPr>
            <a:solidFill>
              <a:srgbClr val="7C5CFF"/>
            </a:solidFill>
            <a:ln w="45720" cap="flat">
              <a:solidFill>
                <a:srgbClr val="7C5CFF"/>
              </a:solidFill>
              <a:prstDash val="solid"/>
              <a:round/>
            </a:ln>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7C5CFF"/>
              </a:solidFill>
              <a:ln w="9525" cap="flat">
                <a:solidFill>
                  <a:srgbClr val="7C5CFF"/>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9.2</c:v>
                </c:pt>
                <c:pt idx="1">
                  <c:v>11.2</c:v>
                </c:pt>
                <c:pt idx="2">
                  <c:v>14.4</c:v>
                </c:pt>
                <c:pt idx="3">
                  <c:v>17.7</c:v>
                </c:pt>
                <c:pt idx="4">
                  <c:v>27.6</c:v>
                </c:pt>
                <c:pt idx="5">
                  <c:v>52.4</c:v>
                </c:pt>
                <c:pt idx="6">
                  <c:v>78.5</c:v>
                </c:pt>
                <c:pt idx="7">
                  <c:v>99.7</c:v>
                </c:pt>
                <c:pt idx="8">
                  <c:v>101.7</c:v>
                </c:pt>
              </c:numCache>
            </c:numRef>
          </c:val>
          <c:smooth val="0"/>
        </c:ser>
        <c:ser>
          <c:idx val="1"/>
          <c:order val="1"/>
          <c:tx>
            <c:strRef>
              <c:f>Sheet1!$C$1</c:f>
              <c:strCache>
                <c:ptCount val="1"/>
                <c:pt idx="0">
                  <c:v>Everything else</c:v>
                </c:pt>
              </c:strCache>
            </c:strRef>
          </c:tx>
          <c:spPr>
            <a:solidFill>
              <a:srgbClr val="27496B"/>
            </a:solidFill>
            <a:ln w="45720" cap="flat">
              <a:solidFill>
                <a:srgbClr val="27496B"/>
              </a:solidFill>
              <a:prstDash val="solid"/>
              <a:round/>
            </a:ln>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27496B"/>
              </a:solidFill>
              <a:ln w="9525" cap="flat">
                <a:solidFill>
                  <a:srgbClr val="27496B"/>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224.9</c:v>
                </c:pt>
                <c:pt idx="1">
                  <c:v>207.1</c:v>
                </c:pt>
                <c:pt idx="2">
                  <c:v>247</c:v>
                </c:pt>
                <c:pt idx="3">
                  <c:v>217.2</c:v>
                </c:pt>
                <c:pt idx="4">
                  <c:v>209.1</c:v>
                </c:pt>
                <c:pt idx="5">
                  <c:v>203.8</c:v>
                </c:pt>
                <c:pt idx="6">
                  <c:v>189</c:v>
                </c:pt>
                <c:pt idx="7">
                  <c:v>201.1</c:v>
                </c:pt>
                <c:pt idx="8">
                  <c:v>199.4</c:v>
                </c:pt>
              </c:numCache>
            </c:numRef>
          </c:val>
          <c:smooth val="0"/>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max val="260"/>
          <c:min val="0"/>
        </c:scaling>
        <c:delete val="0"/>
        <c:axPos val="l"/>
        <c:majorGridlines>
          <c:spPr>
            <a:ln w="12700" cap="flat">
              <a:solidFill>
                <a:srgbClr val="E4EAF1"/>
              </a:solidFill>
              <a:prstDash val="solid"/>
              <a:round/>
            </a:ln>
          </c:spPr>
        </c:majorGridlines>
        <c:title>
          <c:tx>
            <c:rich>
              <a:bodyPr/>
              <a:lstStyle/>
              <a:p>
                <a:pPr>
                  <a:defRPr sz="1100" b="0" i="0" u="none" strike="noStrike">
                    <a:solidFill>
                      <a:srgbClr val="5B6B7E"/>
                    </a:solidFill>
                    <a:latin typeface="+mn-lt"/>
                  </a:defRPr>
                </a:pPr>
                <a:r>
                  <a:rPr sz="1100" b="0" i="0" u="none" strike="noStrike">
                    <a:solidFill>
                      <a:srgbClr val="5B6B7E"/>
                    </a:solidFill>
                    <a:latin typeface="+mn-lt"/>
                  </a:rPr>
                  <a:t>$K per month</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majorUnit val="65"/>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Amazon Bedrock (Claude)</c:v>
                </c:pt>
              </c:strCache>
            </c:strRef>
          </c:tx>
          <c:spPr>
            <a:solidFill>
              <a:srgbClr val="7C5CF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0</c:v>
                </c:pt>
                <c:pt idx="1">
                  <c:v>0</c:v>
                </c:pt>
                <c:pt idx="2">
                  <c:v>0.8</c:v>
                </c:pt>
                <c:pt idx="3">
                  <c:v>1.6</c:v>
                </c:pt>
                <c:pt idx="4">
                  <c:v>3.8</c:v>
                </c:pt>
                <c:pt idx="5">
                  <c:v>10.5</c:v>
                </c:pt>
                <c:pt idx="6">
                  <c:v>25.3</c:v>
                </c:pt>
                <c:pt idx="7">
                  <c:v>44.7</c:v>
                </c:pt>
                <c:pt idx="8">
                  <c:v>41.1</c:v>
                </c:pt>
              </c:numCache>
            </c:numRef>
          </c:val>
        </c:ser>
        <c:ser>
          <c:idx val="1"/>
          <c:order val="1"/>
          <c:tx>
            <c:strRef>
              <c:f>Sheet1!$C$1</c:f>
              <c:strCache>
                <c:ptCount val="1"/>
                <c:pt idx="0">
                  <c:v>Azure AI Foundry</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5.8</c:v>
                </c:pt>
                <c:pt idx="1">
                  <c:v>6.9</c:v>
                </c:pt>
                <c:pt idx="2">
                  <c:v>7.8</c:v>
                </c:pt>
                <c:pt idx="3">
                  <c:v>10.5</c:v>
                </c:pt>
                <c:pt idx="4">
                  <c:v>14.9</c:v>
                </c:pt>
                <c:pt idx="5">
                  <c:v>21.6</c:v>
                </c:pt>
                <c:pt idx="6">
                  <c:v>19.6</c:v>
                </c:pt>
                <c:pt idx="7">
                  <c:v>16.4</c:v>
                </c:pt>
                <c:pt idx="8">
                  <c:v>16.3</c:v>
                </c:pt>
              </c:numCache>
            </c:numRef>
          </c:val>
        </c:ser>
        <c:ser>
          <c:idx val="2"/>
          <c:order val="2"/>
          <c:tx>
            <c:strRef>
              <c:f>Sheet1!$D$1</c:f>
              <c:strCache>
                <c:ptCount val="1"/>
                <c:pt idx="0">
                  <c:v>GitHub + Copilot</c:v>
                </c:pt>
              </c:strCache>
            </c:strRef>
          </c:tx>
          <c:spPr>
            <a:solidFill>
              <a:srgbClr val="27496B"/>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2.8</c:v>
                </c:pt>
                <c:pt idx="1">
                  <c:v>3.6</c:v>
                </c:pt>
                <c:pt idx="2">
                  <c:v>4.3</c:v>
                </c:pt>
                <c:pt idx="3">
                  <c:v>4.1</c:v>
                </c:pt>
                <c:pt idx="4">
                  <c:v>6.5</c:v>
                </c:pt>
                <c:pt idx="5">
                  <c:v>16.7</c:v>
                </c:pt>
                <c:pt idx="6">
                  <c:v>19.3</c:v>
                </c:pt>
                <c:pt idx="7">
                  <c:v>24</c:v>
                </c:pt>
                <c:pt idx="8">
                  <c:v>28.4</c:v>
                </c:pt>
              </c:numCache>
            </c:numRef>
          </c:val>
        </c:ser>
        <c:ser>
          <c:idx val="3"/>
          <c:order val="3"/>
          <c:tx>
            <c:strRef>
              <c:f>Sheet1!$E$1</c:f>
              <c:strCache>
                <c:ptCount val="1"/>
                <c:pt idx="0">
                  <c:v>Copilot Studio</c:v>
                </c:pt>
              </c:strCache>
            </c:strRef>
          </c:tx>
          <c:spPr>
            <a:solidFill>
              <a:srgbClr val="00A87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Sheet1!$E$2:$E$10</c:f>
              <c:numCache>
                <c:formatCode>General</c:formatCode>
                <c:ptCount val="9"/>
                <c:pt idx="0">
                  <c:v>0.1</c:v>
                </c:pt>
                <c:pt idx="1">
                  <c:v>0.1</c:v>
                </c:pt>
                <c:pt idx="2">
                  <c:v>0.1</c:v>
                </c:pt>
                <c:pt idx="3">
                  <c:v>0.1</c:v>
                </c:pt>
                <c:pt idx="4">
                  <c:v>0.1</c:v>
                </c:pt>
                <c:pt idx="5">
                  <c:v>0</c:v>
                </c:pt>
                <c:pt idx="6">
                  <c:v>8.9</c:v>
                </c:pt>
                <c:pt idx="7">
                  <c:v>9.9</c:v>
                </c:pt>
                <c:pt idx="8">
                  <c:v>11.5</c:v>
                </c:pt>
              </c:numCache>
            </c:numRef>
          </c:val>
        </c:ser>
        <c:ser>
          <c:idx val="4"/>
          <c:order val="4"/>
          <c:tx>
            <c:strRef>
              <c:f>Sheet1!$F$1</c:f>
              <c:strCache>
                <c:ptCount val="1"/>
                <c:pt idx="0">
                  <c:v>Cognitive Search</c:v>
                </c:pt>
              </c:strCache>
            </c:strRef>
          </c:tx>
          <c:spPr>
            <a:solidFill>
              <a:srgbClr val="F2A9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Sheet1!$F$2:$F$10</c:f>
              <c:numCache>
                <c:formatCode>General</c:formatCode>
                <c:ptCount val="9"/>
                <c:pt idx="0">
                  <c:v>0.6</c:v>
                </c:pt>
                <c:pt idx="1">
                  <c:v>0.6</c:v>
                </c:pt>
                <c:pt idx="2">
                  <c:v>0.9</c:v>
                </c:pt>
                <c:pt idx="3">
                  <c:v>1.2</c:v>
                </c:pt>
                <c:pt idx="4">
                  <c:v>1.9</c:v>
                </c:pt>
                <c:pt idx="5">
                  <c:v>2.7</c:v>
                </c:pt>
                <c:pt idx="6">
                  <c:v>3</c:v>
                </c:pt>
                <c:pt idx="7">
                  <c:v>3.1</c:v>
                </c:pt>
                <c:pt idx="8">
                  <c:v>3.2</c:v>
                </c:pt>
              </c:numCache>
            </c:numRef>
          </c:val>
        </c:ser>
        <c:ser>
          <c:idx val="5"/>
          <c:order val="5"/>
          <c:tx>
            <c:strRef>
              <c:f>Sheet1!$G$1</c:f>
              <c:strCache>
                <c:ptCount val="1"/>
                <c:pt idx="0">
                  <c:v>GCP Vertex + Gemini</c:v>
                </c:pt>
              </c:strCache>
            </c:strRef>
          </c:tx>
          <c:spPr>
            <a:solidFill>
              <a:srgbClr val="C3CDD9"/>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Sheet1!$G$2:$G$10</c:f>
              <c:numCache>
                <c:formatCode>General</c:formatCode>
                <c:ptCount val="9"/>
                <c:pt idx="0">
                  <c:v>0</c:v>
                </c:pt>
                <c:pt idx="1">
                  <c:v>0</c:v>
                </c:pt>
                <c:pt idx="2">
                  <c:v>0.4</c:v>
                </c:pt>
                <c:pt idx="3">
                  <c:v>0.1</c:v>
                </c:pt>
                <c:pt idx="4">
                  <c:v>0.5</c:v>
                </c:pt>
                <c:pt idx="5">
                  <c:v>1</c:v>
                </c:pt>
                <c:pt idx="6">
                  <c:v>2.4</c:v>
                </c:pt>
                <c:pt idx="7">
                  <c:v>1.5</c:v>
                </c:pt>
                <c:pt idx="8">
                  <c:v>1.2</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F1"/>
              </a:solidFill>
              <a:prstDash val="solid"/>
              <a:round/>
            </a:ln>
          </c:spPr>
        </c:majorGridlines>
        <c:title>
          <c:tx>
            <c:rich>
              <a:bodyPr/>
              <a:lstStyle/>
              <a:p>
                <a:pPr>
                  <a:defRPr sz="1100" b="0" i="0" u="none" strike="noStrike">
                    <a:solidFill>
                      <a:srgbClr val="5B6B7E"/>
                    </a:solidFill>
                    <a:latin typeface="+mn-lt"/>
                  </a:defRPr>
                </a:pPr>
                <a:r>
                  <a:rPr sz="1100" b="0" i="0" u="none" strike="noStrike">
                    <a:solidFill>
                      <a:srgbClr val="5B6B7E"/>
                    </a:solidFill>
                    <a:latin typeface="+mn-lt"/>
                  </a:rPr>
                  <a:t>$K per month</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GitHub</c:v>
                </c:pt>
              </c:strCache>
            </c:strRef>
          </c:tx>
          <c:spPr>
            <a:solidFill>
              <a:srgbClr val="7C5CFF"/>
            </a:solidFill>
            <a:effectLst/>
          </c:spPr>
          <c:invertIfNegative val="0"/>
          <c:dLbls>
            <c:numFmt formatCode="$#,##0.0&quot;K&quot;" sourceLinked="0"/>
            <c:txPr>
              <a:bodyPr/>
              <a:lstStyle/>
              <a:p>
                <a:pPr>
                  <a:defRPr b="0" i="0" strike="noStrike" sz="1150" u="none">
                    <a:solidFill>
                      <a:srgbClr val="0B1B2E"/>
                    </a:solidFill>
                    <a:latin typeface="+mn-lt"/>
                  </a:defRPr>
                </a:pPr>
              </a:p>
            </c:txPr>
            <c:showLegendKey val="0"/>
            <c:showVal val="1"/>
            <c:showCatName val="0"/>
            <c:showSerName val="0"/>
            <c:showPercent val="0"/>
            <c:showBubbleSize val="0"/>
            <c:showLeaderLines val="0"/>
          </c:dLbls>
          <c:cat>
            <c:multiLvlStrRef>
              <c:f>Sheet1!$A$2:$A$6</c:f>
              <c:multiLvlStrCache>
                <c:ptCount val="5"/>
                <c:lvl>
                  <c:pt idx="0">
                    <c:v>May</c:v>
                  </c:pt>
                  <c:pt idx="1">
                    <c:v>Jun</c:v>
                  </c:pt>
                  <c:pt idx="2">
                    <c:v>Jul</c:v>
                  </c:pt>
                  <c:pt idx="3">
                    <c:v>Aug</c:v>
                  </c:pt>
                  <c:pt idx="4">
                    <c:v>Sep</c:v>
                  </c:pt>
                </c:lvl>
              </c:multiLvlStrCache>
            </c:multiLvlStrRef>
          </c:cat>
          <c:val>
            <c:numRef>
              <c:f>Sheet1!$B$2:$B$6</c:f>
              <c:numCache>
                <c:formatCode>General</c:formatCode>
                <c:ptCount val="5"/>
                <c:pt idx="0">
                  <c:v>6.5</c:v>
                </c:pt>
                <c:pt idx="1">
                  <c:v>16.7</c:v>
                </c:pt>
                <c:pt idx="2">
                  <c:v>19.3</c:v>
                </c:pt>
                <c:pt idx="3">
                  <c:v>24</c:v>
                </c:pt>
                <c:pt idx="4">
                  <c:v>28.4</c:v>
                </c:pt>
              </c:numCache>
            </c:numRef>
          </c:val>
        </c:ser>
        <c:dLbls>
          <c:numFmt formatCode="$#,##0.0&quot;K&quot;" sourceLinked="0"/>
          <c:txPr>
            <a:bodyPr/>
            <a:lstStyle/>
            <a:p>
              <a:pPr>
                <a:defRPr b="0" i="0" strike="noStrike" sz="1150" u="none">
                  <a:solidFill>
                    <a:srgbClr val="0B1B2E"/>
                  </a:solidFill>
                  <a:latin typeface="+mn-lt"/>
                </a:defRPr>
              </a:pPr>
            </a:p>
          </c:txPr>
          <c:showLegendKey val="0"/>
          <c:showVal val="1"/>
          <c:showCatName val="0"/>
          <c:showSerName val="0"/>
          <c:showPercent val="0"/>
          <c:showBubbleSize val="0"/>
          <c:showLeaderLines val="0"/>
        </c:dLbls>
        <c:gapWidth val="58"/>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max val="34"/>
        </c:scaling>
        <c:delete val="1"/>
        <c:axPos val="l"/>
        <c:majorGridlines>
          <c:spPr>
            <a:ln w="12700" cap="flat">
              <a:solidFill>
                <a:srgbClr val="E4EAF1"/>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AWS consumption</c:v>
                </c:pt>
              </c:strCache>
            </c:strRef>
          </c:tx>
          <c:spPr>
            <a:solidFill>
              <a:srgbClr val="F2A9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77.1</c:v>
                </c:pt>
                <c:pt idx="1">
                  <c:v>82.6</c:v>
                </c:pt>
                <c:pt idx="2">
                  <c:v>95.9</c:v>
                </c:pt>
                <c:pt idx="3">
                  <c:v>81.9</c:v>
                </c:pt>
                <c:pt idx="4">
                  <c:v>83.1</c:v>
                </c:pt>
                <c:pt idx="5">
                  <c:v>86.6</c:v>
                </c:pt>
                <c:pt idx="6">
                  <c:v>76.8</c:v>
                </c:pt>
                <c:pt idx="7">
                  <c:v>106.5</c:v>
                </c:pt>
                <c:pt idx="8">
                  <c:v>101</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8"/>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max val="125"/>
        </c:scaling>
        <c:delete val="1"/>
        <c:axPos val="l"/>
        <c:majorGridlines>
          <c:spPr>
            <a:ln w="12700" cap="flat">
              <a:solidFill>
                <a:srgbClr val="E4EAF1"/>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AWS Marketplace</c:v>
                </c:pt>
              </c:strCache>
            </c:strRef>
          </c:tx>
          <c:spPr>
            <a:solidFill>
              <a:srgbClr val="F2A9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583.6</c:v>
                </c:pt>
                <c:pt idx="1">
                  <c:v>19.4</c:v>
                </c:pt>
                <c:pt idx="2">
                  <c:v>6.3</c:v>
                </c:pt>
                <c:pt idx="3">
                  <c:v>376.5</c:v>
                </c:pt>
                <c:pt idx="4">
                  <c:v>25.3</c:v>
                </c:pt>
                <c:pt idx="5">
                  <c:v>350.5</c:v>
                </c:pt>
                <c:pt idx="6">
                  <c:v>182.1</c:v>
                </c:pt>
                <c:pt idx="7">
                  <c:v>59.5</c:v>
                </c:pt>
                <c:pt idx="8">
                  <c:v>213.6</c:v>
                </c:pt>
              </c:numCache>
            </c:numRef>
          </c:val>
        </c:ser>
        <c:ser>
          <c:idx val="1"/>
          <c:order val="1"/>
          <c:tx>
            <c:strRef>
              <c:f>Sheet1!$C$1</c:f>
              <c:strCache>
                <c:ptCount val="1"/>
                <c:pt idx="0">
                  <c:v>Azure Marketplace</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2.1</c:v>
                </c:pt>
                <c:pt idx="1">
                  <c:v>2</c:v>
                </c:pt>
                <c:pt idx="2">
                  <c:v>3.8</c:v>
                </c:pt>
                <c:pt idx="3">
                  <c:v>506.1</c:v>
                </c:pt>
                <c:pt idx="4">
                  <c:v>5.7</c:v>
                </c:pt>
                <c:pt idx="5">
                  <c:v>4.3</c:v>
                </c:pt>
                <c:pt idx="6">
                  <c:v>4.9</c:v>
                </c:pt>
                <c:pt idx="7">
                  <c:v>4.9</c:v>
                </c:pt>
                <c:pt idx="8">
                  <c:v>7.7</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2"/>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F1"/>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Azure consumption</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157</c:v>
                </c:pt>
                <c:pt idx="1">
                  <c:v>135.7</c:v>
                </c:pt>
                <c:pt idx="2">
                  <c:v>165.2</c:v>
                </c:pt>
                <c:pt idx="3">
                  <c:v>152.6</c:v>
                </c:pt>
                <c:pt idx="4">
                  <c:v>152.3</c:v>
                </c:pt>
                <c:pt idx="5">
                  <c:v>167.4</c:v>
                </c:pt>
                <c:pt idx="6">
                  <c:v>186.9</c:v>
                </c:pt>
                <c:pt idx="7">
                  <c:v>191.4</c:v>
                </c:pt>
                <c:pt idx="8">
                  <c:v>197.6</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8"/>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max val="235"/>
        </c:scaling>
        <c:delete val="1"/>
        <c:axPos val="l"/>
        <c:majorGridlines>
          <c:spPr>
            <a:ln w="12700" cap="flat">
              <a:solidFill>
                <a:srgbClr val="E4EAF1"/>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aws-prod-Digital</c:v>
                </c:pt>
              </c:strCache>
            </c:strRef>
          </c:tx>
          <c:spPr>
            <a:solidFill>
              <a:srgbClr val="F2A9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22.3</c:v>
                </c:pt>
                <c:pt idx="1">
                  <c:v>21.1</c:v>
                </c:pt>
                <c:pt idx="2">
                  <c:v>21.6</c:v>
                </c:pt>
                <c:pt idx="3">
                  <c:v>21.1</c:v>
                </c:pt>
                <c:pt idx="4">
                  <c:v>21.5</c:v>
                </c:pt>
                <c:pt idx="5">
                  <c:v>21.5</c:v>
                </c:pt>
                <c:pt idx="6">
                  <c:v>22.3</c:v>
                </c:pt>
                <c:pt idx="7">
                  <c:v>25.3</c:v>
                </c:pt>
                <c:pt idx="8">
                  <c:v>21.2</c:v>
                </c:pt>
              </c:numCache>
            </c:numRef>
          </c:val>
        </c:ser>
        <c:ser>
          <c:idx val="1"/>
          <c:order val="1"/>
          <c:tx>
            <c:strRef>
              <c:f>Sheet1!$C$1</c:f>
              <c:strCache>
                <c:ptCount val="1"/>
                <c:pt idx="0">
                  <c:v>aws-devTest-digital</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9.8</c:v>
                </c:pt>
                <c:pt idx="1">
                  <c:v>9.3</c:v>
                </c:pt>
                <c:pt idx="2">
                  <c:v>13</c:v>
                </c:pt>
                <c:pt idx="3">
                  <c:v>12.9</c:v>
                </c:pt>
                <c:pt idx="4">
                  <c:v>14.5</c:v>
                </c:pt>
                <c:pt idx="5">
                  <c:v>13.2</c:v>
                </c:pt>
                <c:pt idx="6">
                  <c:v>13.7</c:v>
                </c:pt>
                <c:pt idx="7">
                  <c:v>13.6</c:v>
                </c:pt>
                <c:pt idx="8">
                  <c:v>14</c:v>
                </c:pt>
              </c:numCache>
            </c:numRef>
          </c:val>
        </c:ser>
        <c:ser>
          <c:idx val="2"/>
          <c:order val="2"/>
          <c:tx>
            <c:strRef>
              <c:f>Sheet1!$D$1</c:f>
              <c:strCache>
                <c:ptCount val="1"/>
                <c:pt idx="0">
                  <c:v>aws-preProd-digital</c:v>
                </c:pt>
              </c:strCache>
            </c:strRef>
          </c:tx>
          <c:spPr>
            <a:solidFill>
              <a:srgbClr val="00A87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10.8</c:v>
                </c:pt>
                <c:pt idx="1">
                  <c:v>9.2</c:v>
                </c:pt>
                <c:pt idx="2">
                  <c:v>10.8</c:v>
                </c:pt>
                <c:pt idx="3">
                  <c:v>10.6</c:v>
                </c:pt>
                <c:pt idx="4">
                  <c:v>11.4</c:v>
                </c:pt>
                <c:pt idx="5">
                  <c:v>10.2</c:v>
                </c:pt>
                <c:pt idx="6">
                  <c:v>10.8</c:v>
                </c:pt>
                <c:pt idx="7">
                  <c:v>10.9</c:v>
                </c:pt>
                <c:pt idx="8">
                  <c:v>10</c:v>
                </c:pt>
              </c:numCache>
            </c:numRef>
          </c:val>
        </c:ser>
        <c:ser>
          <c:idx val="3"/>
          <c:order val="3"/>
          <c:tx>
            <c:strRef>
              <c:f>Sheet1!$E$1</c:f>
              <c:strCache>
                <c:ptCount val="1"/>
                <c:pt idx="0">
                  <c:v>aws-foundation-security</c:v>
                </c:pt>
              </c:strCache>
            </c:strRef>
          </c:tx>
          <c:spPr>
            <a:solidFill>
              <a:srgbClr val="7C5CF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Sheet1!$E$2:$E$10</c:f>
              <c:numCache>
                <c:formatCode>General</c:formatCode>
                <c:ptCount val="9"/>
                <c:pt idx="0">
                  <c:v>8.2</c:v>
                </c:pt>
                <c:pt idx="1">
                  <c:v>7.4</c:v>
                </c:pt>
                <c:pt idx="2">
                  <c:v>8</c:v>
                </c:pt>
                <c:pt idx="3">
                  <c:v>7.8</c:v>
                </c:pt>
                <c:pt idx="4">
                  <c:v>8.6</c:v>
                </c:pt>
                <c:pt idx="5">
                  <c:v>8.6</c:v>
                </c:pt>
                <c:pt idx="6">
                  <c:v>8.8</c:v>
                </c:pt>
                <c:pt idx="7">
                  <c:v>8.9</c:v>
                </c:pt>
                <c:pt idx="8">
                  <c:v>8</c:v>
                </c:pt>
              </c:numCache>
            </c:numRef>
          </c:val>
        </c:ser>
        <c:ser>
          <c:idx val="4"/>
          <c:order val="4"/>
          <c:tx>
            <c:strRef>
              <c:f>Sheet1!$F$1</c:f>
              <c:strCache>
                <c:ptCount val="1"/>
                <c:pt idx="0">
                  <c:v>customers3-prod</c:v>
                </c:pt>
              </c:strCache>
            </c:strRef>
          </c:tx>
          <c:spPr>
            <a:solidFill>
              <a:srgbClr val="27496B"/>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Sheet1!$F$2:$F$10</c:f>
              <c:numCache>
                <c:formatCode>General</c:formatCode>
                <c:ptCount val="9"/>
                <c:pt idx="0">
                  <c:v>0.9</c:v>
                </c:pt>
                <c:pt idx="1">
                  <c:v>13.5</c:v>
                </c:pt>
                <c:pt idx="2">
                  <c:v>11.1</c:v>
                </c:pt>
                <c:pt idx="3">
                  <c:v>2.4</c:v>
                </c:pt>
                <c:pt idx="4">
                  <c:v>4.2</c:v>
                </c:pt>
                <c:pt idx="5">
                  <c:v>6.5</c:v>
                </c:pt>
                <c:pt idx="6">
                  <c:v>9.1</c:v>
                </c:pt>
                <c:pt idx="7">
                  <c:v>13.1</c:v>
                </c:pt>
                <c:pt idx="8">
                  <c:v>13.2</c:v>
                </c:pt>
              </c:numCache>
            </c:numRef>
          </c:val>
        </c:ser>
        <c:ser>
          <c:idx val="5"/>
          <c:order val="5"/>
          <c:tx>
            <c:strRef>
              <c:f>Sheet1!$G$1</c:f>
              <c:strCache>
                <c:ptCount val="1"/>
                <c:pt idx="0">
                  <c:v>cloudops-network</c:v>
                </c:pt>
              </c:strCache>
            </c:strRef>
          </c:tx>
          <c:spPr>
            <a:solidFill>
              <a:srgbClr val="9FB3C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Sheet1!$G$2:$G$10</c:f>
              <c:numCache>
                <c:formatCode>General</c:formatCode>
                <c:ptCount val="9"/>
                <c:pt idx="0">
                  <c:v>6.2</c:v>
                </c:pt>
                <c:pt idx="1">
                  <c:v>5.8</c:v>
                </c:pt>
                <c:pt idx="2">
                  <c:v>7</c:v>
                </c:pt>
                <c:pt idx="3">
                  <c:v>6.9</c:v>
                </c:pt>
                <c:pt idx="4">
                  <c:v>7.2</c:v>
                </c:pt>
                <c:pt idx="5">
                  <c:v>7.1</c:v>
                </c:pt>
                <c:pt idx="6">
                  <c:v>7.4</c:v>
                </c:pt>
                <c:pt idx="7">
                  <c:v>7.4</c:v>
                </c:pt>
                <c:pt idx="8">
                  <c:v>7.4</c:v>
                </c:pt>
              </c:numCache>
            </c:numRef>
          </c:val>
        </c:ser>
        <c:ser>
          <c:idx val="6"/>
          <c:order val="6"/>
          <c:tx>
            <c:strRef>
              <c:f>Sheet1!$H$1</c:f>
              <c:strCache>
                <c:ptCount val="1"/>
                <c:pt idx="0">
                  <c:v>All other accounts</c:v>
                </c:pt>
              </c:strCache>
            </c:strRef>
          </c:tx>
          <c:spPr>
            <a:solidFill>
              <a:srgbClr val="C3CDD9"/>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Sheet1!$H$2:$H$10</c:f>
              <c:numCache>
                <c:formatCode>General</c:formatCode>
                <c:ptCount val="9"/>
                <c:pt idx="0">
                  <c:v>18.9</c:v>
                </c:pt>
                <c:pt idx="1">
                  <c:v>16.3</c:v>
                </c:pt>
                <c:pt idx="2">
                  <c:v>24.3</c:v>
                </c:pt>
                <c:pt idx="3">
                  <c:v>20.2</c:v>
                </c:pt>
                <c:pt idx="4">
                  <c:v>15.6</c:v>
                </c:pt>
                <c:pt idx="5">
                  <c:v>19.5</c:v>
                </c:pt>
                <c:pt idx="6">
                  <c:v>4.9</c:v>
                </c:pt>
                <c:pt idx="7">
                  <c:v>27.2</c:v>
                </c:pt>
                <c:pt idx="8">
                  <c:v>27.2</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F1"/>
              </a:solidFill>
              <a:prstDash val="solid"/>
              <a:round/>
            </a:ln>
          </c:spPr>
        </c:majorGridlines>
        <c:title>
          <c:tx>
            <c:rich>
              <a:bodyPr/>
              <a:lstStyle/>
              <a:p>
                <a:pPr>
                  <a:defRPr sz="1100" b="0" i="0" u="none" strike="noStrike">
                    <a:solidFill>
                      <a:srgbClr val="5B6B7E"/>
                    </a:solidFill>
                    <a:latin typeface="+mn-lt"/>
                  </a:defRPr>
                </a:pPr>
                <a:r>
                  <a:rPr sz="1100" b="0" i="0" u="none" strike="noStrike">
                    <a:solidFill>
                      <a:srgbClr val="5B6B7E"/>
                    </a:solidFill>
                    <a:latin typeface="+mn-lt"/>
                  </a:rPr>
                  <a:t>$K per month</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EC2 · Compute</c:v>
                </c:pt>
              </c:strCache>
            </c:strRef>
          </c:tx>
          <c:spPr>
            <a:solidFill>
              <a:srgbClr val="F2A9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31.2</c:v>
                </c:pt>
                <c:pt idx="1">
                  <c:v>28.2</c:v>
                </c:pt>
                <c:pt idx="2">
                  <c:v>33</c:v>
                </c:pt>
                <c:pt idx="3">
                  <c:v>32</c:v>
                </c:pt>
                <c:pt idx="4">
                  <c:v>35.1</c:v>
                </c:pt>
                <c:pt idx="5">
                  <c:v>33.4</c:v>
                </c:pt>
                <c:pt idx="6">
                  <c:v>35.4</c:v>
                </c:pt>
                <c:pt idx="7">
                  <c:v>36.3</c:v>
                </c:pt>
                <c:pt idx="8">
                  <c:v>35.8</c:v>
                </c:pt>
              </c:numCache>
            </c:numRef>
          </c:val>
        </c:ser>
        <c:ser>
          <c:idx val="1"/>
          <c:order val="1"/>
          <c:tx>
            <c:strRef>
              <c:f>Sheet1!$C$1</c:f>
              <c:strCache>
                <c:ptCount val="1"/>
                <c:pt idx="0">
                  <c:v>Business Support</c:v>
                </c:pt>
              </c:strCache>
            </c:strRef>
          </c:tx>
          <c:spPr>
            <a:solidFill>
              <a:srgbClr val="27496B"/>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3.9</c:v>
                </c:pt>
                <c:pt idx="1">
                  <c:v>4.3</c:v>
                </c:pt>
                <c:pt idx="2">
                  <c:v>4.6</c:v>
                </c:pt>
                <c:pt idx="3">
                  <c:v>4.1</c:v>
                </c:pt>
                <c:pt idx="4">
                  <c:v>4.5</c:v>
                </c:pt>
                <c:pt idx="5">
                  <c:v>4.8</c:v>
                </c:pt>
                <c:pt idx="6">
                  <c:v>5.9</c:v>
                </c:pt>
                <c:pt idx="7">
                  <c:v>7.2</c:v>
                </c:pt>
                <c:pt idx="8">
                  <c:v>6.8</c:v>
                </c:pt>
              </c:numCache>
            </c:numRef>
          </c:val>
        </c:ser>
        <c:ser>
          <c:idx val="2"/>
          <c:order val="2"/>
          <c:tx>
            <c:strRef>
              <c:f>Sheet1!$D$1</c:f>
              <c:strCache>
                <c:ptCount val="1"/>
                <c:pt idx="0">
                  <c:v>S3 · Glacier Deep Archive</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0</c:v>
                </c:pt>
                <c:pt idx="1">
                  <c:v>0</c:v>
                </c:pt>
                <c:pt idx="2">
                  <c:v>0.9</c:v>
                </c:pt>
                <c:pt idx="3">
                  <c:v>1.6</c:v>
                </c:pt>
                <c:pt idx="4">
                  <c:v>3.1</c:v>
                </c:pt>
                <c:pt idx="5">
                  <c:v>5.3</c:v>
                </c:pt>
                <c:pt idx="6">
                  <c:v>7.4</c:v>
                </c:pt>
                <c:pt idx="7">
                  <c:v>10.6</c:v>
                </c:pt>
                <c:pt idx="8">
                  <c:v>12</c:v>
                </c:pt>
              </c:numCache>
            </c:numRef>
          </c:val>
        </c:ser>
        <c:ser>
          <c:idx val="3"/>
          <c:order val="3"/>
          <c:tx>
            <c:strRef>
              <c:f>Sheet1!$E$1</c:f>
              <c:strCache>
                <c:ptCount val="1"/>
                <c:pt idx="0">
                  <c:v>Virtual Private Cloud · Transit Gateway</c:v>
                </c:pt>
              </c:strCache>
            </c:strRef>
          </c:tx>
          <c:spPr>
            <a:solidFill>
              <a:srgbClr val="00A87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Sheet1!$E$2:$E$10</c:f>
              <c:numCache>
                <c:formatCode>General</c:formatCode>
                <c:ptCount val="9"/>
                <c:pt idx="0">
                  <c:v>3.9</c:v>
                </c:pt>
                <c:pt idx="1">
                  <c:v>3.6</c:v>
                </c:pt>
                <c:pt idx="2">
                  <c:v>4</c:v>
                </c:pt>
                <c:pt idx="3">
                  <c:v>3.9</c:v>
                </c:pt>
                <c:pt idx="4">
                  <c:v>4.4</c:v>
                </c:pt>
                <c:pt idx="5">
                  <c:v>4.6</c:v>
                </c:pt>
                <c:pt idx="6">
                  <c:v>4.7</c:v>
                </c:pt>
                <c:pt idx="7">
                  <c:v>4.5</c:v>
                </c:pt>
                <c:pt idx="8">
                  <c:v>4</c:v>
                </c:pt>
              </c:numCache>
            </c:numRef>
          </c:val>
        </c:ser>
        <c:ser>
          <c:idx val="4"/>
          <c:order val="4"/>
          <c:tx>
            <c:strRef>
              <c:f>Sheet1!$F$1</c:f>
              <c:strCache>
                <c:ptCount val="1"/>
                <c:pt idx="0">
                  <c:v>RDS · Compute</c:v>
                </c:pt>
              </c:strCache>
            </c:strRef>
          </c:tx>
          <c:spPr>
            <a:solidFill>
              <a:srgbClr val="7C5CF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Sheet1!$F$2:$F$10</c:f>
              <c:numCache>
                <c:formatCode>General</c:formatCode>
                <c:ptCount val="9"/>
                <c:pt idx="0">
                  <c:v>4.9</c:v>
                </c:pt>
                <c:pt idx="1">
                  <c:v>3.3</c:v>
                </c:pt>
                <c:pt idx="2">
                  <c:v>3.5</c:v>
                </c:pt>
                <c:pt idx="3">
                  <c:v>3.4</c:v>
                </c:pt>
                <c:pt idx="4">
                  <c:v>3.5</c:v>
                </c:pt>
                <c:pt idx="5">
                  <c:v>4</c:v>
                </c:pt>
                <c:pt idx="6">
                  <c:v>4.4</c:v>
                </c:pt>
                <c:pt idx="7">
                  <c:v>4.4</c:v>
                </c:pt>
                <c:pt idx="8">
                  <c:v>4.2</c:v>
                </c:pt>
              </c:numCache>
            </c:numRef>
          </c:val>
        </c:ser>
        <c:ser>
          <c:idx val="5"/>
          <c:order val="5"/>
          <c:tx>
            <c:strRef>
              <c:f>Sheet1!$G$1</c:f>
              <c:strCache>
                <c:ptCount val="1"/>
                <c:pt idx="0">
                  <c:v>All other services</c:v>
                </c:pt>
              </c:strCache>
            </c:strRef>
          </c:tx>
          <c:spPr>
            <a:solidFill>
              <a:srgbClr val="C3CDD9"/>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Sheet1!$G$2:$G$10</c:f>
              <c:numCache>
                <c:formatCode>General</c:formatCode>
                <c:ptCount val="9"/>
                <c:pt idx="0">
                  <c:v>33</c:v>
                </c:pt>
                <c:pt idx="1">
                  <c:v>43</c:v>
                </c:pt>
                <c:pt idx="2">
                  <c:v>49.6</c:v>
                </c:pt>
                <c:pt idx="3">
                  <c:v>36.6</c:v>
                </c:pt>
                <c:pt idx="4">
                  <c:v>32.3</c:v>
                </c:pt>
                <c:pt idx="5">
                  <c:v>34.3</c:v>
                </c:pt>
                <c:pt idx="6">
                  <c:v>19.1</c:v>
                </c:pt>
                <c:pt idx="7">
                  <c:v>43.6</c:v>
                </c:pt>
                <c:pt idx="8">
                  <c:v>38.3</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F1"/>
              </a:solidFill>
              <a:prstDash val="solid"/>
              <a:round/>
            </a:ln>
          </c:spPr>
        </c:majorGridlines>
        <c:title>
          <c:tx>
            <c:rich>
              <a:bodyPr/>
              <a:lstStyle/>
              <a:p>
                <a:pPr>
                  <a:defRPr sz="1100" b="0" i="0" u="none" strike="noStrike">
                    <a:solidFill>
                      <a:srgbClr val="5B6B7E"/>
                    </a:solidFill>
                    <a:latin typeface="+mn-lt"/>
                  </a:defRPr>
                </a:pPr>
                <a:r>
                  <a:rPr sz="1100" b="0" i="0" u="none" strike="noStrike">
                    <a:solidFill>
                      <a:srgbClr val="5B6B7E"/>
                    </a:solidFill>
                    <a:latin typeface="+mn-lt"/>
                  </a:rPr>
                  <a:t>$K per month</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S3 · Glacier Deep Archive</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0</c:v>
                </c:pt>
                <c:pt idx="1">
                  <c:v>0</c:v>
                </c:pt>
                <c:pt idx="2">
                  <c:v>0.9</c:v>
                </c:pt>
                <c:pt idx="3">
                  <c:v>1.6</c:v>
                </c:pt>
                <c:pt idx="4">
                  <c:v>3.1</c:v>
                </c:pt>
                <c:pt idx="5">
                  <c:v>5.3</c:v>
                </c:pt>
                <c:pt idx="6">
                  <c:v>7.4</c:v>
                </c:pt>
                <c:pt idx="7">
                  <c:v>10.6</c:v>
                </c:pt>
                <c:pt idx="8">
                  <c:v>12</c:v>
                </c:pt>
              </c:numCache>
            </c:numRef>
          </c:val>
        </c:ser>
        <c:ser>
          <c:idx val="1"/>
          <c:order val="1"/>
          <c:tx>
            <c:strRef>
              <c:f>Sheet1!$C$1</c:f>
              <c:strCache>
                <c:ptCount val="1"/>
                <c:pt idx="0">
                  <c:v>Other services</c:v>
                </c:pt>
              </c:strCache>
            </c:strRef>
          </c:tx>
          <c:spPr>
            <a:solidFill>
              <a:srgbClr val="9FB3C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2.8</c:v>
                </c:pt>
                <c:pt idx="1">
                  <c:v>14.7</c:v>
                </c:pt>
                <c:pt idx="2">
                  <c:v>12.6</c:v>
                </c:pt>
                <c:pt idx="3">
                  <c:v>1.9</c:v>
                </c:pt>
                <c:pt idx="4">
                  <c:v>1.9</c:v>
                </c:pt>
                <c:pt idx="5">
                  <c:v>2.4</c:v>
                </c:pt>
                <c:pt idx="6">
                  <c:v>-13</c:v>
                </c:pt>
                <c:pt idx="7">
                  <c:v>3.6</c:v>
                </c:pt>
                <c:pt idx="8">
                  <c:v>4.4</c:v>
                </c:pt>
              </c:numCache>
            </c:numRef>
          </c:val>
        </c:ser>
        <c:ser>
          <c:idx val="2"/>
          <c:order val="2"/>
          <c:tx>
            <c:strRef>
              <c:f>Sheet1!$D$1</c:f>
              <c:strCache>
                <c:ptCount val="1"/>
                <c:pt idx="0">
                  <c:v>Direct Connect · Port Hours</c:v>
                </c:pt>
              </c:strCache>
            </c:strRef>
          </c:tx>
          <c:spPr>
            <a:solidFill>
              <a:srgbClr val="27496B"/>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3.3</c:v>
                </c:pt>
                <c:pt idx="1">
                  <c:v>3</c:v>
                </c:pt>
                <c:pt idx="2">
                  <c:v>3.3</c:v>
                </c:pt>
                <c:pt idx="3">
                  <c:v>3.2</c:v>
                </c:pt>
                <c:pt idx="4">
                  <c:v>3.3</c:v>
                </c:pt>
                <c:pt idx="5">
                  <c:v>3.2</c:v>
                </c:pt>
                <c:pt idx="6">
                  <c:v>3.3</c:v>
                </c:pt>
                <c:pt idx="7">
                  <c:v>3.3</c:v>
                </c:pt>
                <c:pt idx="8">
                  <c:v>3.2</c:v>
                </c:pt>
              </c:numCache>
            </c:numRef>
          </c:val>
        </c:ser>
        <c:ser>
          <c:idx val="3"/>
          <c:order val="3"/>
          <c:tx>
            <c:strRef>
              <c:f>Sheet1!$E$1</c:f>
              <c:strCache>
                <c:ptCount val="1"/>
                <c:pt idx="0">
                  <c:v>Business Support</c:v>
                </c:pt>
              </c:strCache>
            </c:strRef>
          </c:tx>
          <c:spPr>
            <a:solidFill>
              <a:srgbClr val="00A87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Sheet1!$E$2:$E$10</c:f>
              <c:numCache>
                <c:formatCode>General</c:formatCode>
                <c:ptCount val="9"/>
                <c:pt idx="0">
                  <c:v>0.6</c:v>
                </c:pt>
                <c:pt idx="1">
                  <c:v>1.3</c:v>
                </c:pt>
                <c:pt idx="2">
                  <c:v>1.3</c:v>
                </c:pt>
                <c:pt idx="3">
                  <c:v>0.8</c:v>
                </c:pt>
                <c:pt idx="4">
                  <c:v>1</c:v>
                </c:pt>
                <c:pt idx="5">
                  <c:v>1.5</c:v>
                </c:pt>
                <c:pt idx="6">
                  <c:v>2.5</c:v>
                </c:pt>
                <c:pt idx="7">
                  <c:v>3.7</c:v>
                </c:pt>
                <c:pt idx="8">
                  <c:v>3.5</c:v>
                </c:pt>
              </c:numCache>
            </c:numRef>
          </c:val>
        </c:ser>
        <c:ser>
          <c:idx val="4"/>
          <c:order val="4"/>
          <c:tx>
            <c:strRef>
              <c:f>Sheet1!$F$1</c:f>
              <c:strCache>
                <c:ptCount val="1"/>
                <c:pt idx="0">
                  <c:v>EC2 · Compute</c:v>
                </c:pt>
              </c:strCache>
            </c:strRef>
          </c:tx>
          <c:spPr>
            <a:solidFill>
              <a:srgbClr val="F2A9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Sheet1!$F$2:$F$10</c:f>
              <c:numCache>
                <c:formatCode>General</c:formatCode>
                <c:ptCount val="9"/>
                <c:pt idx="0">
                  <c:v>1</c:v>
                </c:pt>
                <c:pt idx="1">
                  <c:v>1.1</c:v>
                </c:pt>
                <c:pt idx="2">
                  <c:v>1.1</c:v>
                </c:pt>
                <c:pt idx="3">
                  <c:v>1</c:v>
                </c:pt>
                <c:pt idx="4">
                  <c:v>1.1</c:v>
                </c:pt>
                <c:pt idx="5">
                  <c:v>1.4</c:v>
                </c:pt>
                <c:pt idx="6">
                  <c:v>1.5</c:v>
                </c:pt>
                <c:pt idx="7">
                  <c:v>1.8</c:v>
                </c:pt>
                <c:pt idx="8">
                  <c:v>2</c:v>
                </c:pt>
              </c:numCache>
            </c:numRef>
          </c:val>
        </c:ser>
        <c:ser>
          <c:idx val="5"/>
          <c:order val="5"/>
          <c:tx>
            <c:strRef>
              <c:f>Sheet1!$G$1</c:f>
              <c:strCache>
                <c:ptCount val="1"/>
                <c:pt idx="0">
                  <c:v>All other services</c:v>
                </c:pt>
              </c:strCache>
            </c:strRef>
          </c:tx>
          <c:spPr>
            <a:solidFill>
              <a:srgbClr val="C3CDD9"/>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Sheet1!$G$2:$G$10</c:f>
              <c:numCache>
                <c:formatCode>General</c:formatCode>
                <c:ptCount val="9"/>
                <c:pt idx="0">
                  <c:v>1.8</c:v>
                </c:pt>
                <c:pt idx="1">
                  <c:v>2.6</c:v>
                </c:pt>
                <c:pt idx="2">
                  <c:v>7.4</c:v>
                </c:pt>
                <c:pt idx="3">
                  <c:v>2.7</c:v>
                </c:pt>
                <c:pt idx="4">
                  <c:v>3</c:v>
                </c:pt>
                <c:pt idx="5">
                  <c:v>3.7</c:v>
                </c:pt>
                <c:pt idx="6">
                  <c:v>4.6</c:v>
                </c:pt>
                <c:pt idx="7">
                  <c:v>6</c:v>
                </c:pt>
                <c:pt idx="8">
                  <c:v>4.7</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F1"/>
              </a:solidFill>
              <a:prstDash val="solid"/>
              <a:round/>
            </a:ln>
          </c:spPr>
        </c:majorGridlines>
        <c:title>
          <c:tx>
            <c:rich>
              <a:bodyPr/>
              <a:lstStyle/>
              <a:p>
                <a:pPr>
                  <a:defRPr sz="1100" b="0" i="0" u="none" strike="noStrike">
                    <a:solidFill>
                      <a:srgbClr val="5B6B7E"/>
                    </a:solidFill>
                    <a:latin typeface="+mn-lt"/>
                  </a:defRPr>
                </a:pPr>
                <a:r>
                  <a:rPr sz="1100" b="0" i="0" u="none" strike="noStrike">
                    <a:solidFill>
                      <a:srgbClr val="5B6B7E"/>
                    </a:solidFill>
                    <a:latin typeface="+mn-lt"/>
                  </a:rPr>
                  <a:t>$K per month</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DataCloud</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47.5</c:v>
                </c:pt>
                <c:pt idx="1">
                  <c:v>49.2</c:v>
                </c:pt>
                <c:pt idx="2">
                  <c:v>54.5</c:v>
                </c:pt>
                <c:pt idx="3">
                  <c:v>50.2</c:v>
                </c:pt>
                <c:pt idx="4">
                  <c:v>43.9</c:v>
                </c:pt>
                <c:pt idx="5">
                  <c:v>44.4</c:v>
                </c:pt>
                <c:pt idx="6">
                  <c:v>49.1</c:v>
                </c:pt>
                <c:pt idx="7">
                  <c:v>50.9</c:v>
                </c:pt>
                <c:pt idx="8">
                  <c:v>47.4</c:v>
                </c:pt>
              </c:numCache>
            </c:numRef>
          </c:val>
        </c:ser>
        <c:ser>
          <c:idx val="1"/>
          <c:order val="1"/>
          <c:tx>
            <c:strRef>
              <c:f>Sheet1!$C$1</c:f>
              <c:strCache>
                <c:ptCount val="1"/>
                <c:pt idx="0">
                  <c:v>SAP</c:v>
                </c:pt>
              </c:strCache>
            </c:strRef>
          </c:tx>
          <c:spPr>
            <a:solidFill>
              <a:srgbClr val="27496B"/>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42.3</c:v>
                </c:pt>
                <c:pt idx="1">
                  <c:v>39.1</c:v>
                </c:pt>
                <c:pt idx="2">
                  <c:v>41.5</c:v>
                </c:pt>
                <c:pt idx="3">
                  <c:v>40.8</c:v>
                </c:pt>
                <c:pt idx="4">
                  <c:v>46.6</c:v>
                </c:pt>
                <c:pt idx="5">
                  <c:v>42.7</c:v>
                </c:pt>
                <c:pt idx="6">
                  <c:v>40.9</c:v>
                </c:pt>
                <c:pt idx="7">
                  <c:v>41.3</c:v>
                </c:pt>
                <c:pt idx="8">
                  <c:v>41.3</c:v>
                </c:pt>
              </c:numCache>
            </c:numRef>
          </c:val>
        </c:ser>
        <c:ser>
          <c:idx val="2"/>
          <c:order val="2"/>
          <c:tx>
            <c:strRef>
              <c:f>Sheet1!$D$1</c:f>
              <c:strCache>
                <c:ptCount val="1"/>
                <c:pt idx="0">
                  <c:v>CloudIT</c:v>
                </c:pt>
              </c:strCache>
            </c:strRef>
          </c:tx>
          <c:spPr>
            <a:solidFill>
              <a:srgbClr val="00A87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30.9</c:v>
                </c:pt>
                <c:pt idx="1">
                  <c:v>24.7</c:v>
                </c:pt>
                <c:pt idx="2">
                  <c:v>40.7</c:v>
                </c:pt>
                <c:pt idx="3">
                  <c:v>29.2</c:v>
                </c:pt>
                <c:pt idx="4">
                  <c:v>28.6</c:v>
                </c:pt>
                <c:pt idx="5">
                  <c:v>28.6</c:v>
                </c:pt>
                <c:pt idx="6">
                  <c:v>33.4</c:v>
                </c:pt>
                <c:pt idx="7">
                  <c:v>32.1</c:v>
                </c:pt>
                <c:pt idx="8">
                  <c:v>31.9</c:v>
                </c:pt>
              </c:numCache>
            </c:numRef>
          </c:val>
        </c:ser>
        <c:ser>
          <c:idx val="3"/>
          <c:order val="3"/>
          <c:tx>
            <c:strRef>
              <c:f>Sheet1!$E$1</c:f>
              <c:strCache>
                <c:ptCount val="1"/>
                <c:pt idx="0">
                  <c:v>AI Factory</c:v>
                </c:pt>
              </c:strCache>
            </c:strRef>
          </c:tx>
          <c:spPr>
            <a:solidFill>
              <a:srgbClr val="7C5CF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Sheet1!$E$2:$E$10</c:f>
              <c:numCache>
                <c:formatCode>General</c:formatCode>
                <c:ptCount val="9"/>
                <c:pt idx="0">
                  <c:v>0.9</c:v>
                </c:pt>
                <c:pt idx="1">
                  <c:v>3.5</c:v>
                </c:pt>
                <c:pt idx="2">
                  <c:v>12.6</c:v>
                </c:pt>
                <c:pt idx="3">
                  <c:v>11.7</c:v>
                </c:pt>
                <c:pt idx="4">
                  <c:v>13.7</c:v>
                </c:pt>
                <c:pt idx="5">
                  <c:v>26.5</c:v>
                </c:pt>
                <c:pt idx="6">
                  <c:v>24.5</c:v>
                </c:pt>
                <c:pt idx="7">
                  <c:v>23.1</c:v>
                </c:pt>
                <c:pt idx="8">
                  <c:v>27.4</c:v>
                </c:pt>
              </c:numCache>
            </c:numRef>
          </c:val>
        </c:ser>
        <c:ser>
          <c:idx val="4"/>
          <c:order val="4"/>
          <c:tx>
            <c:strRef>
              <c:f>Sheet1!$F$1</c:f>
              <c:strCache>
                <c:ptCount val="1"/>
                <c:pt idx="0">
                  <c:v>Other</c:v>
                </c:pt>
              </c:strCache>
            </c:strRef>
          </c:tx>
          <c:spPr>
            <a:solidFill>
              <a:srgbClr val="9FB3C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Sheet1!$F$2:$F$10</c:f>
              <c:numCache>
                <c:formatCode>General</c:formatCode>
                <c:ptCount val="9"/>
                <c:pt idx="0">
                  <c:v>4.4</c:v>
                </c:pt>
                <c:pt idx="1">
                  <c:v>5.2</c:v>
                </c:pt>
                <c:pt idx="2">
                  <c:v>5.6</c:v>
                </c:pt>
                <c:pt idx="3">
                  <c:v>5.8</c:v>
                </c:pt>
                <c:pt idx="4">
                  <c:v>8.7</c:v>
                </c:pt>
                <c:pt idx="5">
                  <c:v>18.1</c:v>
                </c:pt>
                <c:pt idx="6">
                  <c:v>22.4</c:v>
                </c:pt>
                <c:pt idx="7">
                  <c:v>25.2</c:v>
                </c:pt>
                <c:pt idx="8">
                  <c:v>29.2</c:v>
                </c:pt>
              </c:numCache>
            </c:numRef>
          </c:val>
        </c:ser>
        <c:ser>
          <c:idx val="5"/>
          <c:order val="5"/>
          <c:tx>
            <c:strRef>
              <c:f>Sheet1!$G$1</c:f>
              <c:strCache>
                <c:ptCount val="1"/>
                <c:pt idx="0">
                  <c:v>All other centres</c:v>
                </c:pt>
              </c:strCache>
            </c:strRef>
          </c:tx>
          <c:spPr>
            <a:solidFill>
              <a:srgbClr val="C3CDD9"/>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Sheet1!$G$2:$G$10</c:f>
              <c:numCache>
                <c:formatCode>General</c:formatCode>
                <c:ptCount val="9"/>
                <c:pt idx="0">
                  <c:v>31.1</c:v>
                </c:pt>
                <c:pt idx="1">
                  <c:v>14</c:v>
                </c:pt>
                <c:pt idx="2">
                  <c:v>10.1</c:v>
                </c:pt>
                <c:pt idx="3">
                  <c:v>14.9</c:v>
                </c:pt>
                <c:pt idx="4">
                  <c:v>10.8</c:v>
                </c:pt>
                <c:pt idx="5">
                  <c:v>7.2</c:v>
                </c:pt>
                <c:pt idx="6">
                  <c:v>16.5</c:v>
                </c:pt>
                <c:pt idx="7">
                  <c:v>18.8</c:v>
                </c:pt>
                <c:pt idx="8">
                  <c:v>20.4</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F1"/>
              </a:solidFill>
              <a:prstDash val="solid"/>
              <a:round/>
            </a:ln>
          </c:spPr>
        </c:majorGridlines>
        <c:title>
          <c:tx>
            <c:rich>
              <a:bodyPr/>
              <a:lstStyle/>
              <a:p>
                <a:pPr>
                  <a:defRPr sz="1100" b="0" i="0" u="none" strike="noStrike">
                    <a:solidFill>
                      <a:srgbClr val="5B6B7E"/>
                    </a:solidFill>
                    <a:latin typeface="+mn-lt"/>
                  </a:defRPr>
                </a:pPr>
                <a:r>
                  <a:rPr sz="1100" b="0" i="0" u="none" strike="noStrike">
                    <a:solidFill>
                      <a:srgbClr val="5B6B7E"/>
                    </a:solidFill>
                    <a:latin typeface="+mn-lt"/>
                  </a:rPr>
                  <a:t>$K per month</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Virtual Machines</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58.5</c:v>
                </c:pt>
                <c:pt idx="1">
                  <c:v>48.3</c:v>
                </c:pt>
                <c:pt idx="2">
                  <c:v>52.6</c:v>
                </c:pt>
                <c:pt idx="3">
                  <c:v>51.5</c:v>
                </c:pt>
                <c:pt idx="4">
                  <c:v>57.5</c:v>
                </c:pt>
                <c:pt idx="5">
                  <c:v>52.2</c:v>
                </c:pt>
                <c:pt idx="6">
                  <c:v>53.3</c:v>
                </c:pt>
                <c:pt idx="7">
                  <c:v>54.8</c:v>
                </c:pt>
                <c:pt idx="8">
                  <c:v>55.6</c:v>
                </c:pt>
              </c:numCache>
            </c:numRef>
          </c:val>
        </c:ser>
        <c:ser>
          <c:idx val="1"/>
          <c:order val="1"/>
          <c:tx>
            <c:strRef>
              <c:f>Sheet1!$C$1</c:f>
              <c:strCache>
                <c:ptCount val="1"/>
                <c:pt idx="0">
                  <c:v>Storage</c:v>
                </c:pt>
              </c:strCache>
            </c:strRef>
          </c:tx>
          <c:spPr>
            <a:solidFill>
              <a:srgbClr val="27496B"/>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24.1</c:v>
                </c:pt>
                <c:pt idx="1">
                  <c:v>23</c:v>
                </c:pt>
                <c:pt idx="2">
                  <c:v>22.5</c:v>
                </c:pt>
                <c:pt idx="3">
                  <c:v>22.7</c:v>
                </c:pt>
                <c:pt idx="4">
                  <c:v>24.6</c:v>
                </c:pt>
                <c:pt idx="5">
                  <c:v>25</c:v>
                </c:pt>
                <c:pt idx="6">
                  <c:v>26.4</c:v>
                </c:pt>
                <c:pt idx="7">
                  <c:v>28.1</c:v>
                </c:pt>
                <c:pt idx="8">
                  <c:v>28</c:v>
                </c:pt>
              </c:numCache>
            </c:numRef>
          </c:val>
        </c:ser>
        <c:ser>
          <c:idx val="2"/>
          <c:order val="2"/>
          <c:tx>
            <c:strRef>
              <c:f>Sheet1!$D$1</c:f>
              <c:strCache>
                <c:ptCount val="1"/>
                <c:pt idx="0">
                  <c:v>Virtual Network</c:v>
                </c:pt>
              </c:strCache>
            </c:strRef>
          </c:tx>
          <c:spPr>
            <a:solidFill>
              <a:srgbClr val="00A87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12.7</c:v>
                </c:pt>
                <c:pt idx="1">
                  <c:v>12.1</c:v>
                </c:pt>
                <c:pt idx="2">
                  <c:v>14.1</c:v>
                </c:pt>
                <c:pt idx="3">
                  <c:v>15.3</c:v>
                </c:pt>
                <c:pt idx="4">
                  <c:v>18.3</c:v>
                </c:pt>
                <c:pt idx="5">
                  <c:v>18.6</c:v>
                </c:pt>
                <c:pt idx="6">
                  <c:v>22</c:v>
                </c:pt>
                <c:pt idx="7">
                  <c:v>20.9</c:v>
                </c:pt>
                <c:pt idx="8">
                  <c:v>21.6</c:v>
                </c:pt>
              </c:numCache>
            </c:numRef>
          </c:val>
        </c:ser>
        <c:ser>
          <c:idx val="3"/>
          <c:order val="3"/>
          <c:tx>
            <c:strRef>
              <c:f>Sheet1!$E$1</c:f>
              <c:strCache>
                <c:ptCount val="1"/>
                <c:pt idx="0">
                  <c:v>Other services</c:v>
                </c:pt>
              </c:strCache>
            </c:strRef>
          </c:tx>
          <c:spPr>
            <a:solidFill>
              <a:srgbClr val="9FB3C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Sheet1!$E$2:$E$10</c:f>
              <c:numCache>
                <c:formatCode>General</c:formatCode>
                <c:ptCount val="9"/>
                <c:pt idx="0">
                  <c:v>12.3</c:v>
                </c:pt>
                <c:pt idx="1">
                  <c:v>12.8</c:v>
                </c:pt>
                <c:pt idx="2">
                  <c:v>19.1</c:v>
                </c:pt>
                <c:pt idx="3">
                  <c:v>11.3</c:v>
                </c:pt>
                <c:pt idx="4">
                  <c:v>12.6</c:v>
                </c:pt>
                <c:pt idx="5">
                  <c:v>14.3</c:v>
                </c:pt>
                <c:pt idx="6">
                  <c:v>14.8</c:v>
                </c:pt>
                <c:pt idx="7">
                  <c:v>14.3</c:v>
                </c:pt>
                <c:pt idx="8">
                  <c:v>13.9</c:v>
                </c:pt>
              </c:numCache>
            </c:numRef>
          </c:val>
        </c:ser>
        <c:ser>
          <c:idx val="4"/>
          <c:order val="4"/>
          <c:tx>
            <c:strRef>
              <c:f>Sheet1!$F$1</c:f>
              <c:strCache>
                <c:ptCount val="1"/>
                <c:pt idx="0">
                  <c:v>GitHub</c:v>
                </c:pt>
              </c:strCache>
            </c:strRef>
          </c:tx>
          <c:spPr>
            <a:solidFill>
              <a:srgbClr val="7C5CF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Sheet1!$F$2:$F$10</c:f>
              <c:numCache>
                <c:formatCode>General</c:formatCode>
                <c:ptCount val="9"/>
                <c:pt idx="0">
                  <c:v>2.8</c:v>
                </c:pt>
                <c:pt idx="1">
                  <c:v>3.6</c:v>
                </c:pt>
                <c:pt idx="2">
                  <c:v>4.3</c:v>
                </c:pt>
                <c:pt idx="3">
                  <c:v>4.1</c:v>
                </c:pt>
                <c:pt idx="4">
                  <c:v>6.5</c:v>
                </c:pt>
                <c:pt idx="5">
                  <c:v>16.7</c:v>
                </c:pt>
                <c:pt idx="6">
                  <c:v>19.3</c:v>
                </c:pt>
                <c:pt idx="7">
                  <c:v>24</c:v>
                </c:pt>
                <c:pt idx="8">
                  <c:v>28.4</c:v>
                </c:pt>
              </c:numCache>
            </c:numRef>
          </c:val>
        </c:ser>
        <c:ser>
          <c:idx val="5"/>
          <c:order val="5"/>
          <c:tx>
            <c:strRef>
              <c:f>Sheet1!$G$1</c:f>
              <c:strCache>
                <c:ptCount val="1"/>
                <c:pt idx="0">
                  <c:v>All other services</c:v>
                </c:pt>
              </c:strCache>
            </c:strRef>
          </c:tx>
          <c:spPr>
            <a:solidFill>
              <a:srgbClr val="C3CDD9"/>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Sheet1!$G$2:$G$10</c:f>
              <c:numCache>
                <c:formatCode>General</c:formatCode>
                <c:ptCount val="9"/>
                <c:pt idx="0">
                  <c:v>46.5</c:v>
                </c:pt>
                <c:pt idx="1">
                  <c:v>37.9</c:v>
                </c:pt>
                <c:pt idx="2">
                  <c:v>52.6</c:v>
                </c:pt>
                <c:pt idx="3">
                  <c:v>45.3</c:v>
                </c:pt>
                <c:pt idx="4">
                  <c:v>32.7</c:v>
                </c:pt>
                <c:pt idx="5">
                  <c:v>40.7</c:v>
                </c:pt>
                <c:pt idx="6">
                  <c:v>51.2</c:v>
                </c:pt>
                <c:pt idx="7">
                  <c:v>49.1</c:v>
                </c:pt>
                <c:pt idx="8">
                  <c:v>50.2</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F1"/>
              </a:solidFill>
              <a:prstDash val="solid"/>
              <a:round/>
            </a:ln>
          </c:spPr>
        </c:majorGridlines>
        <c:title>
          <c:tx>
            <c:rich>
              <a:bodyPr/>
              <a:lstStyle/>
              <a:p>
                <a:pPr>
                  <a:defRPr sz="1100" b="0" i="0" u="none" strike="noStrike">
                    <a:solidFill>
                      <a:srgbClr val="5B6B7E"/>
                    </a:solidFill>
                    <a:latin typeface="+mn-lt"/>
                  </a:defRPr>
                </a:pPr>
                <a:r>
                  <a:rPr sz="1100" b="0" i="0" u="none" strike="noStrike">
                    <a:solidFill>
                      <a:srgbClr val="5B6B7E"/>
                    </a:solidFill>
                    <a:latin typeface="+mn-lt"/>
                  </a:rPr>
                  <a:t>$K per month</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AI Factory core</c:v>
                </c:pt>
              </c:strCache>
            </c:strRef>
          </c:tx>
          <c:spPr>
            <a:solidFill>
              <a:srgbClr val="7C5CF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0.9</c:v>
                </c:pt>
                <c:pt idx="1">
                  <c:v>3.5</c:v>
                </c:pt>
                <c:pt idx="2">
                  <c:v>12.6</c:v>
                </c:pt>
                <c:pt idx="3">
                  <c:v>11.7</c:v>
                </c:pt>
                <c:pt idx="4">
                  <c:v>13.7</c:v>
                </c:pt>
                <c:pt idx="5">
                  <c:v>26.3</c:v>
                </c:pt>
                <c:pt idx="6">
                  <c:v>23.4</c:v>
                </c:pt>
                <c:pt idx="7">
                  <c:v>21.5</c:v>
                </c:pt>
                <c:pt idx="8">
                  <c:v>25.5</c:v>
                </c:pt>
              </c:numCache>
            </c:numRef>
          </c:val>
        </c:ser>
        <c:ser>
          <c:idx val="1"/>
          <c:order val="1"/>
          <c:tx>
            <c:strRef>
              <c:f>Sheet1!$C$1</c:f>
              <c:strCache>
                <c:ptCount val="1"/>
                <c:pt idx="0">
                  <c:v>Solugen</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0.9</c:v>
                </c:pt>
                <c:pt idx="1">
                  <c:v>0.9</c:v>
                </c:pt>
                <c:pt idx="2">
                  <c:v>1</c:v>
                </c:pt>
                <c:pt idx="3">
                  <c:v>2</c:v>
                </c:pt>
                <c:pt idx="4">
                  <c:v>10.7</c:v>
                </c:pt>
                <c:pt idx="5">
                  <c:v>7.2</c:v>
                </c:pt>
                <c:pt idx="6">
                  <c:v>8.9</c:v>
                </c:pt>
                <c:pt idx="7">
                  <c:v>7.6</c:v>
                </c:pt>
                <c:pt idx="8">
                  <c:v>8</c:v>
                </c:pt>
              </c:numCache>
            </c:numRef>
          </c:val>
        </c:ser>
        <c:ser>
          <c:idx val="2"/>
          <c:order val="2"/>
          <c:tx>
            <c:strRef>
              <c:f>Sheet1!$D$1</c:f>
              <c:strCache>
                <c:ptCount val="1"/>
                <c:pt idx="0">
                  <c:v>Document Intelligence (OCR)</c:v>
                </c:pt>
              </c:strCache>
            </c:strRef>
          </c:tx>
          <c:spPr>
            <a:solidFill>
              <a:srgbClr val="00A87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4.2</c:v>
                </c:pt>
                <c:pt idx="1">
                  <c:v>4.3</c:v>
                </c:pt>
                <c:pt idx="2">
                  <c:v>3.6</c:v>
                </c:pt>
                <c:pt idx="3">
                  <c:v>2.2</c:v>
                </c:pt>
                <c:pt idx="4">
                  <c:v>3.4</c:v>
                </c:pt>
                <c:pt idx="5">
                  <c:v>6.1</c:v>
                </c:pt>
                <c:pt idx="6">
                  <c:v>7.3</c:v>
                </c:pt>
                <c:pt idx="7">
                  <c:v>6.3</c:v>
                </c:pt>
                <c:pt idx="8">
                  <c:v>5.8</c:v>
                </c:pt>
              </c:numCache>
            </c:numRef>
          </c:val>
        </c:ser>
        <c:ser>
          <c:idx val="3"/>
          <c:order val="3"/>
          <c:tx>
            <c:strRef>
              <c:f>Sheet1!$E$1</c:f>
              <c:strCache>
                <c:ptCount val="1"/>
                <c:pt idx="0">
                  <c:v>INSAIT</c:v>
                </c:pt>
              </c:strCache>
            </c:strRef>
          </c:tx>
          <c:spPr>
            <a:solidFill>
              <a:srgbClr val="F2A9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Sheet1!$E$2:$E$10</c:f>
              <c:numCache>
                <c:formatCode>General</c:formatCode>
                <c:ptCount val="9"/>
                <c:pt idx="0">
                  <c:v>1.1</c:v>
                </c:pt>
                <c:pt idx="1">
                  <c:v>1.9</c:v>
                </c:pt>
                <c:pt idx="2">
                  <c:v>1.4</c:v>
                </c:pt>
                <c:pt idx="3">
                  <c:v>1.4</c:v>
                </c:pt>
                <c:pt idx="4">
                  <c:v>1.5</c:v>
                </c:pt>
                <c:pt idx="5">
                  <c:v>1.6</c:v>
                </c:pt>
                <c:pt idx="6">
                  <c:v>2</c:v>
                </c:pt>
                <c:pt idx="7">
                  <c:v>2.8</c:v>
                </c:pt>
                <c:pt idx="8">
                  <c:v>2.6</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F1"/>
              </a:solidFill>
              <a:prstDash val="solid"/>
              <a:round/>
            </a:ln>
          </c:spPr>
        </c:majorGridlines>
        <c:title>
          <c:tx>
            <c:rich>
              <a:bodyPr/>
              <a:lstStyle/>
              <a:p>
                <a:pPr>
                  <a:defRPr sz="1100" b="0" i="0" u="none" strike="noStrike">
                    <a:solidFill>
                      <a:srgbClr val="5B6B7E"/>
                    </a:solidFill>
                    <a:latin typeface="+mn-lt"/>
                  </a:defRPr>
                </a:pPr>
                <a:r>
                  <a:rPr sz="1100" b="0" i="0" u="none" strike="noStrike">
                    <a:solidFill>
                      <a:srgbClr val="5B6B7E"/>
                    </a:solidFill>
                    <a:latin typeface="+mn-lt"/>
                  </a:rPr>
                  <a:t>$K per month</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Claude Opus 5</c:v>
                </c:pt>
              </c:strCache>
            </c:strRef>
          </c:tx>
          <c:spPr>
            <a:solidFill>
              <a:srgbClr val="7C5CF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0</c:v>
                </c:pt>
                <c:pt idx="1">
                  <c:v>0</c:v>
                </c:pt>
                <c:pt idx="2">
                  <c:v>0</c:v>
                </c:pt>
                <c:pt idx="3">
                  <c:v>0</c:v>
                </c:pt>
                <c:pt idx="4">
                  <c:v>0</c:v>
                </c:pt>
                <c:pt idx="5">
                  <c:v>0</c:v>
                </c:pt>
                <c:pt idx="6">
                  <c:v>0.69</c:v>
                </c:pt>
                <c:pt idx="7">
                  <c:v>9.02</c:v>
                </c:pt>
                <c:pt idx="8">
                  <c:v>14.24</c:v>
                </c:pt>
              </c:numCache>
            </c:numRef>
          </c:val>
        </c:ser>
        <c:ser>
          <c:idx val="1"/>
          <c:order val="1"/>
          <c:tx>
            <c:strRef>
              <c:f>Sheet1!$C$1</c:f>
              <c:strCache>
                <c:ptCount val="1"/>
                <c:pt idx="0">
                  <c:v>Claude Sonnet 4.6</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0</c:v>
                </c:pt>
                <c:pt idx="1">
                  <c:v>0</c:v>
                </c:pt>
                <c:pt idx="2">
                  <c:v>0</c:v>
                </c:pt>
                <c:pt idx="3">
                  <c:v>0</c:v>
                </c:pt>
                <c:pt idx="4">
                  <c:v>0.01</c:v>
                </c:pt>
                <c:pt idx="5">
                  <c:v>0.54</c:v>
                </c:pt>
                <c:pt idx="6">
                  <c:v>0.69</c:v>
                </c:pt>
                <c:pt idx="7">
                  <c:v>9.47</c:v>
                </c:pt>
                <c:pt idx="8">
                  <c:v>12.39</c:v>
                </c:pt>
              </c:numCache>
            </c:numRef>
          </c:val>
        </c:ser>
        <c:ser>
          <c:idx val="2"/>
          <c:order val="2"/>
          <c:tx>
            <c:strRef>
              <c:f>Sheet1!$D$1</c:f>
              <c:strCache>
                <c:ptCount val="1"/>
                <c:pt idx="0">
                  <c:v>Claude Opus 4.8</c:v>
                </c:pt>
              </c:strCache>
            </c:strRef>
          </c:tx>
          <c:spPr>
            <a:solidFill>
              <a:srgbClr val="27496B"/>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0</c:v>
                </c:pt>
                <c:pt idx="1">
                  <c:v>0</c:v>
                </c:pt>
                <c:pt idx="2">
                  <c:v>0</c:v>
                </c:pt>
                <c:pt idx="3">
                  <c:v>0</c:v>
                </c:pt>
                <c:pt idx="4">
                  <c:v>0.08</c:v>
                </c:pt>
                <c:pt idx="5">
                  <c:v>2.02</c:v>
                </c:pt>
                <c:pt idx="6">
                  <c:v>11.36</c:v>
                </c:pt>
                <c:pt idx="7">
                  <c:v>15.63</c:v>
                </c:pt>
                <c:pt idx="8">
                  <c:v>7.04</c:v>
                </c:pt>
              </c:numCache>
            </c:numRef>
          </c:val>
        </c:ser>
        <c:ser>
          <c:idx val="3"/>
          <c:order val="3"/>
          <c:tx>
            <c:strRef>
              <c:f>Sheet1!$E$1</c:f>
              <c:strCache>
                <c:ptCount val="1"/>
                <c:pt idx="0">
                  <c:v>Claude Opus 4.6</c:v>
                </c:pt>
              </c:strCache>
            </c:strRef>
          </c:tx>
          <c:spPr>
            <a:solidFill>
              <a:srgbClr val="8FA7B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Sheet1!$E$2:$E$10</c:f>
              <c:numCache>
                <c:formatCode>General</c:formatCode>
                <c:ptCount val="9"/>
                <c:pt idx="0">
                  <c:v>0</c:v>
                </c:pt>
                <c:pt idx="1">
                  <c:v>0</c:v>
                </c:pt>
                <c:pt idx="2">
                  <c:v>0</c:v>
                </c:pt>
                <c:pt idx="3">
                  <c:v>0</c:v>
                </c:pt>
                <c:pt idx="4">
                  <c:v>2.87</c:v>
                </c:pt>
                <c:pt idx="5">
                  <c:v>4.81</c:v>
                </c:pt>
                <c:pt idx="6">
                  <c:v>9.87</c:v>
                </c:pt>
                <c:pt idx="7">
                  <c:v>8.73</c:v>
                </c:pt>
                <c:pt idx="8">
                  <c:v>5.07</c:v>
                </c:pt>
              </c:numCache>
            </c:numRef>
          </c:val>
        </c:ser>
        <c:ser>
          <c:idx val="4"/>
          <c:order val="4"/>
          <c:tx>
            <c:strRef>
              <c:f>Sheet1!$F$1</c:f>
              <c:strCache>
                <c:ptCount val="1"/>
                <c:pt idx="0">
                  <c:v>Claude Opus 4.7</c:v>
                </c:pt>
              </c:strCache>
            </c:strRef>
          </c:tx>
          <c:spPr>
            <a:solidFill>
              <a:srgbClr val="F2A9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Sheet1!$F$2:$F$10</c:f>
              <c:numCache>
                <c:formatCode>General</c:formatCode>
                <c:ptCount val="9"/>
                <c:pt idx="0">
                  <c:v>0</c:v>
                </c:pt>
                <c:pt idx="1">
                  <c:v>0</c:v>
                </c:pt>
                <c:pt idx="2">
                  <c:v>0</c:v>
                </c:pt>
                <c:pt idx="3">
                  <c:v>0</c:v>
                </c:pt>
                <c:pt idx="4">
                  <c:v>0.79</c:v>
                </c:pt>
                <c:pt idx="5">
                  <c:v>2.92</c:v>
                </c:pt>
                <c:pt idx="6">
                  <c:v>2.44</c:v>
                </c:pt>
                <c:pt idx="7">
                  <c:v>0.81</c:v>
                </c:pt>
                <c:pt idx="8">
                  <c:v>0.38</c:v>
                </c:pt>
              </c:numCache>
            </c:numRef>
          </c:val>
        </c:ser>
        <c:ser>
          <c:idx val="5"/>
          <c:order val="5"/>
          <c:tx>
            <c:strRef>
              <c:f>Sheet1!$G$1</c:f>
              <c:strCache>
                <c:ptCount val="1"/>
                <c:pt idx="0">
                  <c:v>Other models</c:v>
                </c:pt>
              </c:strCache>
            </c:strRef>
          </c:tx>
          <c:spPr>
            <a:solidFill>
              <a:srgbClr val="C3CDD9"/>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Sheet1!$G$2:$G$10</c:f>
              <c:numCache>
                <c:formatCode>General</c:formatCode>
                <c:ptCount val="9"/>
                <c:pt idx="0">
                  <c:v>0</c:v>
                </c:pt>
                <c:pt idx="1">
                  <c:v>0</c:v>
                </c:pt>
                <c:pt idx="2">
                  <c:v>0.84</c:v>
                </c:pt>
                <c:pt idx="3">
                  <c:v>1.61</c:v>
                </c:pt>
                <c:pt idx="4">
                  <c:v>0.07</c:v>
                </c:pt>
                <c:pt idx="5">
                  <c:v>0.22</c:v>
                </c:pt>
                <c:pt idx="6">
                  <c:v>0.24</c:v>
                </c:pt>
                <c:pt idx="7">
                  <c:v>1.09</c:v>
                </c:pt>
                <c:pt idx="8">
                  <c:v>1.98</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F1"/>
              </a:solidFill>
              <a:prstDash val="solid"/>
              <a:round/>
            </a:ln>
          </c:spPr>
        </c:majorGridlines>
        <c:title>
          <c:tx>
            <c:rich>
              <a:bodyPr/>
              <a:lstStyle/>
              <a:p>
                <a:pPr>
                  <a:defRPr sz="1100" b="0" i="0" u="none" strike="noStrike">
                    <a:solidFill>
                      <a:srgbClr val="5B6B7E"/>
                    </a:solidFill>
                    <a:latin typeface="+mn-lt"/>
                  </a:defRPr>
                </a:pPr>
                <a:r>
                  <a:rPr sz="1100" b="0" i="0" u="none" strike="noStrike">
                    <a:solidFill>
                      <a:srgbClr val="5B6B7E"/>
                    </a:solidFill>
                    <a:latin typeface="+mn-lt"/>
                  </a:rPr>
                  <a:t>$K per month</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S0 Custom Pages</c:v>
                </c:pt>
              </c:strCache>
            </c:strRef>
          </c:tx>
          <c:spPr>
            <a:solidFill>
              <a:srgbClr val="7C5CF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3.3</c:v>
                </c:pt>
                <c:pt idx="1">
                  <c:v>3.7</c:v>
                </c:pt>
                <c:pt idx="2">
                  <c:v>2.8</c:v>
                </c:pt>
                <c:pt idx="3">
                  <c:v>1.5</c:v>
                </c:pt>
                <c:pt idx="4">
                  <c:v>2.2</c:v>
                </c:pt>
                <c:pt idx="5">
                  <c:v>2.8</c:v>
                </c:pt>
                <c:pt idx="6">
                  <c:v>2.4</c:v>
                </c:pt>
                <c:pt idx="7">
                  <c:v>1.8</c:v>
                </c:pt>
                <c:pt idx="8">
                  <c:v>1.4</c:v>
                </c:pt>
              </c:numCache>
            </c:numRef>
          </c:val>
        </c:ser>
        <c:ser>
          <c:idx val="1"/>
          <c:order val="1"/>
          <c:tx>
            <c:strRef>
              <c:f>Sheet1!$C$1</c:f>
              <c:strCache>
                <c:ptCount val="1"/>
                <c:pt idx="0">
                  <c:v>5.4 opt</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0</c:v>
                </c:pt>
                <c:pt idx="1">
                  <c:v>0</c:v>
                </c:pt>
                <c:pt idx="2">
                  <c:v>0</c:v>
                </c:pt>
                <c:pt idx="3">
                  <c:v>0</c:v>
                </c:pt>
                <c:pt idx="4">
                  <c:v>0.9</c:v>
                </c:pt>
                <c:pt idx="5">
                  <c:v>6.3</c:v>
                </c:pt>
                <c:pt idx="6">
                  <c:v>3.9</c:v>
                </c:pt>
                <c:pt idx="7">
                  <c:v>3.6</c:v>
                </c:pt>
                <c:pt idx="8">
                  <c:v>4.3</c:v>
                </c:pt>
              </c:numCache>
            </c:numRef>
          </c:val>
        </c:ser>
        <c:ser>
          <c:idx val="2"/>
          <c:order val="2"/>
          <c:tx>
            <c:strRef>
              <c:f>Sheet1!$D$1</c:f>
              <c:strCache>
                <c:ptCount val="1"/>
                <c:pt idx="0">
                  <c:v>5.4 inp</c:v>
                </c:pt>
              </c:strCache>
            </c:strRef>
          </c:tx>
          <c:spPr>
            <a:solidFill>
              <a:srgbClr val="00A87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0</c:v>
                </c:pt>
                <c:pt idx="1">
                  <c:v>0</c:v>
                </c:pt>
                <c:pt idx="2">
                  <c:v>0</c:v>
                </c:pt>
                <c:pt idx="3">
                  <c:v>0</c:v>
                </c:pt>
                <c:pt idx="4">
                  <c:v>1.1</c:v>
                </c:pt>
                <c:pt idx="5">
                  <c:v>4.9</c:v>
                </c:pt>
                <c:pt idx="6">
                  <c:v>4.9</c:v>
                </c:pt>
                <c:pt idx="7">
                  <c:v>3.6</c:v>
                </c:pt>
                <c:pt idx="8">
                  <c:v>3.6</c:v>
                </c:pt>
              </c:numCache>
            </c:numRef>
          </c:val>
        </c:ser>
        <c:ser>
          <c:idx val="3"/>
          <c:order val="3"/>
          <c:tx>
            <c:strRef>
              <c:f>Sheet1!$E$1</c:f>
              <c:strCache>
                <c:ptCount val="1"/>
                <c:pt idx="0">
                  <c:v>S0 Pre-built Pages</c:v>
                </c:pt>
              </c:strCache>
            </c:strRef>
          </c:tx>
          <c:spPr>
            <a:solidFill>
              <a:srgbClr val="F2A9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Sheet1!$E$2:$E$10</c:f>
              <c:numCache>
                <c:formatCode>General</c:formatCode>
                <c:ptCount val="9"/>
                <c:pt idx="0">
                  <c:v>0.8</c:v>
                </c:pt>
                <c:pt idx="1">
                  <c:v>0.4</c:v>
                </c:pt>
                <c:pt idx="2">
                  <c:v>0.5</c:v>
                </c:pt>
                <c:pt idx="3">
                  <c:v>0.3</c:v>
                </c:pt>
                <c:pt idx="4">
                  <c:v>0.6</c:v>
                </c:pt>
                <c:pt idx="5">
                  <c:v>2</c:v>
                </c:pt>
                <c:pt idx="6">
                  <c:v>3.4</c:v>
                </c:pt>
                <c:pt idx="7">
                  <c:v>3.3</c:v>
                </c:pt>
                <c:pt idx="8">
                  <c:v>3.2</c:v>
                </c:pt>
              </c:numCache>
            </c:numRef>
          </c:val>
        </c:ser>
        <c:ser>
          <c:idx val="4"/>
          <c:order val="4"/>
          <c:tx>
            <c:strRef>
              <c:f>Sheet1!$F$1</c:f>
              <c:strCache>
                <c:ptCount val="1"/>
                <c:pt idx="0">
                  <c:v>gpt 4o 0513</c:v>
                </c:pt>
              </c:strCache>
            </c:strRef>
          </c:tx>
          <c:spPr>
            <a:solidFill>
              <a:srgbClr val="27496B"/>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Sheet1!$F$2:$F$10</c:f>
              <c:numCache>
                <c:formatCode>General</c:formatCode>
                <c:ptCount val="9"/>
                <c:pt idx="0">
                  <c:v>1.1</c:v>
                </c:pt>
                <c:pt idx="1">
                  <c:v>1.3</c:v>
                </c:pt>
                <c:pt idx="2">
                  <c:v>1.1</c:v>
                </c:pt>
                <c:pt idx="3">
                  <c:v>3.2</c:v>
                </c:pt>
                <c:pt idx="4">
                  <c:v>0.9</c:v>
                </c:pt>
                <c:pt idx="5">
                  <c:v>0.3</c:v>
                </c:pt>
                <c:pt idx="6">
                  <c:v>0.2</c:v>
                </c:pt>
                <c:pt idx="7">
                  <c:v>0.2</c:v>
                </c:pt>
                <c:pt idx="8">
                  <c:v>0.2</c:v>
                </c:pt>
              </c:numCache>
            </c:numRef>
          </c:val>
        </c:ser>
        <c:ser>
          <c:idx val="5"/>
          <c:order val="5"/>
          <c:tx>
            <c:strRef>
              <c:f>Sheet1!$G$1</c:f>
              <c:strCache>
                <c:ptCount val="1"/>
                <c:pt idx="0">
                  <c:v>All other SKUs</c:v>
                </c:pt>
              </c:strCache>
            </c:strRef>
          </c:tx>
          <c:spPr>
            <a:solidFill>
              <a:srgbClr val="C3CDD9"/>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Sheet1!$G$2:$G$10</c:f>
              <c:numCache>
                <c:formatCode>General</c:formatCode>
                <c:ptCount val="9"/>
                <c:pt idx="0">
                  <c:v>0.5</c:v>
                </c:pt>
                <c:pt idx="1">
                  <c:v>1.4</c:v>
                </c:pt>
                <c:pt idx="2">
                  <c:v>3.4</c:v>
                </c:pt>
                <c:pt idx="3">
                  <c:v>5.5</c:v>
                </c:pt>
                <c:pt idx="4">
                  <c:v>9.1</c:v>
                </c:pt>
                <c:pt idx="5">
                  <c:v>5.4</c:v>
                </c:pt>
                <c:pt idx="6">
                  <c:v>4.8</c:v>
                </c:pt>
                <c:pt idx="7">
                  <c:v>3.9</c:v>
                </c:pt>
                <c:pt idx="8">
                  <c:v>3.6</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F1"/>
              </a:solidFill>
              <a:prstDash val="solid"/>
              <a:round/>
            </a:ln>
          </c:spPr>
        </c:majorGridlines>
        <c:title>
          <c:tx>
            <c:rich>
              <a:bodyPr/>
              <a:lstStyle/>
              <a:p>
                <a:pPr>
                  <a:defRPr sz="1100" b="0" i="0" u="none" strike="noStrike">
                    <a:solidFill>
                      <a:srgbClr val="5B6B7E"/>
                    </a:solidFill>
                    <a:latin typeface="+mn-lt"/>
                  </a:defRPr>
                </a:pPr>
                <a:r>
                  <a:rPr sz="1100" b="0" i="0" u="none" strike="noStrike">
                    <a:solidFill>
                      <a:srgbClr val="5B6B7E"/>
                    </a:solidFill>
                    <a:latin typeface="+mn-lt"/>
                  </a:rPr>
                  <a:t>$K per month</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Vertex AI</c:v>
                </c:pt>
              </c:strCache>
            </c:strRef>
          </c:tx>
          <c:spPr>
            <a:solidFill>
              <a:srgbClr val="00A87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0</c:v>
                </c:pt>
                <c:pt idx="1">
                  <c:v>0</c:v>
                </c:pt>
                <c:pt idx="2">
                  <c:v>0</c:v>
                </c:pt>
                <c:pt idx="3">
                  <c:v>0</c:v>
                </c:pt>
                <c:pt idx="4">
                  <c:v>379</c:v>
                </c:pt>
                <c:pt idx="5">
                  <c:v>958</c:v>
                </c:pt>
                <c:pt idx="6">
                  <c:v>2359</c:v>
                </c:pt>
                <c:pt idx="7">
                  <c:v>1522</c:v>
                </c:pt>
                <c:pt idx="8">
                  <c:v>1236</c:v>
                </c:pt>
              </c:numCache>
            </c:numRef>
          </c:val>
        </c:ser>
        <c:ser>
          <c:idx val="1"/>
          <c:order val="1"/>
          <c:tx>
            <c:strRef>
              <c:f>Sheet1!$C$1</c:f>
              <c:strCache>
                <c:ptCount val="1"/>
                <c:pt idx="0">
                  <c:v>Compute Engine</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0</c:v>
                </c:pt>
                <c:pt idx="1">
                  <c:v>0</c:v>
                </c:pt>
                <c:pt idx="2">
                  <c:v>0</c:v>
                </c:pt>
                <c:pt idx="3">
                  <c:v>222</c:v>
                </c:pt>
                <c:pt idx="4">
                  <c:v>714</c:v>
                </c:pt>
                <c:pt idx="5">
                  <c:v>977</c:v>
                </c:pt>
                <c:pt idx="6">
                  <c:v>1012</c:v>
                </c:pt>
                <c:pt idx="7">
                  <c:v>1031</c:v>
                </c:pt>
                <c:pt idx="8">
                  <c:v>999</c:v>
                </c:pt>
              </c:numCache>
            </c:numRef>
          </c:val>
        </c:ser>
        <c:ser>
          <c:idx val="2"/>
          <c:order val="2"/>
          <c:tx>
            <c:strRef>
              <c:f>Sheet1!$D$1</c:f>
              <c:strCache>
                <c:ptCount val="1"/>
                <c:pt idx="0">
                  <c:v>Networking</c:v>
                </c:pt>
              </c:strCache>
            </c:strRef>
          </c:tx>
          <c:spPr>
            <a:solidFill>
              <a:srgbClr val="27496B"/>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0</c:v>
                </c:pt>
                <c:pt idx="1">
                  <c:v>0</c:v>
                </c:pt>
                <c:pt idx="2">
                  <c:v>0</c:v>
                </c:pt>
                <c:pt idx="3">
                  <c:v>74</c:v>
                </c:pt>
                <c:pt idx="4">
                  <c:v>311</c:v>
                </c:pt>
                <c:pt idx="5">
                  <c:v>304</c:v>
                </c:pt>
                <c:pt idx="6">
                  <c:v>310</c:v>
                </c:pt>
                <c:pt idx="7">
                  <c:v>314</c:v>
                </c:pt>
                <c:pt idx="8">
                  <c:v>304</c:v>
                </c:pt>
              </c:numCache>
            </c:numRef>
          </c:val>
        </c:ser>
        <c:ser>
          <c:idx val="3"/>
          <c:order val="3"/>
          <c:tx>
            <c:strRef>
              <c:f>Sheet1!$E$1</c:f>
              <c:strCache>
                <c:ptCount val="1"/>
                <c:pt idx="0">
                  <c:v>Gemini API</c:v>
                </c:pt>
              </c:strCache>
            </c:strRef>
          </c:tx>
          <c:spPr>
            <a:solidFill>
              <a:srgbClr val="7C5CF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Sheet1!$E$2:$E$10</c:f>
              <c:numCache>
                <c:formatCode>General</c:formatCode>
                <c:ptCount val="9"/>
                <c:pt idx="0">
                  <c:v>0</c:v>
                </c:pt>
                <c:pt idx="1">
                  <c:v>0</c:v>
                </c:pt>
                <c:pt idx="2">
                  <c:v>396</c:v>
                </c:pt>
                <c:pt idx="3">
                  <c:v>135</c:v>
                </c:pt>
                <c:pt idx="4">
                  <c:v>92</c:v>
                </c:pt>
                <c:pt idx="5">
                  <c:v>0</c:v>
                </c:pt>
                <c:pt idx="6">
                  <c:v>0</c:v>
                </c:pt>
                <c:pt idx="7">
                  <c:v>0</c:v>
                </c:pt>
                <c:pt idx="8">
                  <c:v>0</c:v>
                </c:pt>
              </c:numCache>
            </c:numRef>
          </c:val>
        </c:ser>
        <c:ser>
          <c:idx val="4"/>
          <c:order val="4"/>
          <c:tx>
            <c:strRef>
              <c:f>Sheet1!$F$1</c:f>
              <c:strCache>
                <c:ptCount val="1"/>
                <c:pt idx="0">
                  <c:v>Support</c:v>
                </c:pt>
              </c:strCache>
            </c:strRef>
          </c:tx>
          <c:spPr>
            <a:solidFill>
              <a:srgbClr val="C3CDD9"/>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Sheet1!$F$2:$F$10</c:f>
              <c:numCache>
                <c:formatCode>General</c:formatCode>
                <c:ptCount val="9"/>
                <c:pt idx="0">
                  <c:v>0</c:v>
                </c:pt>
                <c:pt idx="1">
                  <c:v>0</c:v>
                </c:pt>
                <c:pt idx="2">
                  <c:v>0</c:v>
                </c:pt>
                <c:pt idx="3">
                  <c:v>0</c:v>
                </c:pt>
                <c:pt idx="4">
                  <c:v>26</c:v>
                </c:pt>
                <c:pt idx="5">
                  <c:v>98</c:v>
                </c:pt>
                <c:pt idx="6">
                  <c:v>142</c:v>
                </c:pt>
                <c:pt idx="7">
                  <c:v>117</c:v>
                </c:pt>
                <c:pt idx="8">
                  <c:v>108</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4"/>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F1"/>
              </a:solidFill>
              <a:prstDash val="solid"/>
              <a:round/>
            </a:ln>
          </c:spPr>
        </c:majorGridlines>
        <c:title>
          <c:tx>
            <c:rich>
              <a:bodyPr/>
              <a:lstStyle/>
              <a:p>
                <a:pPr>
                  <a:defRPr sz="1100" b="0" i="0" u="none" strike="noStrike">
                    <a:solidFill>
                      <a:srgbClr val="5B6B7E"/>
                    </a:solidFill>
                    <a:latin typeface="+mn-lt"/>
                  </a:defRPr>
                </a:pPr>
                <a:r>
                  <a:rPr sz="1100" b="0" i="0" u="none" strike="noStrike">
                    <a:solidFill>
                      <a:srgbClr val="5B6B7E"/>
                    </a:solidFill>
                    <a:latin typeface="+mn-lt"/>
                  </a:rPr>
                  <a:t>$ per month</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months of FY2026. Headline number is 4.67 million, of which 2.31 is metered usage and 2.36 is contracts we committed to up front. Two messages today: the savings programme is working on the existing estate, and AI has become the fastest growing line in the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is real but it is concentrated. Everything we were asked to bring down is coming down. The new question is how we govern AI spend, and that is the back half of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thirds of the AWS figure is Marketplace contracts rather than metered usage. That is why AWS looks bigger than Azure here when Azure is the larger running estate.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Purple is AI, grey is everything else. Without AI the bill would be falling. The likely question is whether we can slow it down, and the answer is the governance slide in section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platforms on one trend. Bedrock started in March and reached $41K by September. GitHub has more than quadrupled since May. Per-platform detail is in the appendix if anyone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 conversations. Licences are a seat count. AI credit is governance: one model and one cost centre dominate it. The hard stop on the budget is already working, which is the pattern we want to copy onto Foundry and Bedrock.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Tagging is already running. The other three need a decision, and they are what item 2 of the ask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Metered AWS spend is flat at about $88K a month. The swings are credits and archive storage, not growth. Account and service breakdowns are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Lumpy by design, so month on month means little here. The planning point is that two thirds of the AWS bill is contracts we signed rather than usage we can tune, which makes it a procurement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is where the growth is, and it sits in three places, two of which are AI. Cost centre and service detail is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February is a hard date. Reservations lock the rate at purchase, which is why the reservation ask is time-bound rather than just a savings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Burn is running about twice as fast as the term. That may mean the commitment was sized conservatively, and the platform team should say which. Either way it needs a call before the FY2027 budget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$578K returned, which is a quarter of what we actually metered this year. Worth saying out loud that avoidance is not a reduction on any invoice, so finance will not see it as a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North Europe exit, the reservations and the savings plan carry most of this. The right-hand column is alerting doing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one optimisation number is worth remembering it is this. Nearly half of Azure VM spend still pays list price where AWS is almost fully covered. This is what item 1 of the ask buys.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half of this is purchasing rather than engineering, so it can move quickly once approved. Buying the reservations before February also hedges the Azure price 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these need a decision today. The pricing one is a number to carry into 2027 planning, though buying reservations early is what blunts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Tagging is the one already running, and the others depend on it for chargeback. Item 5 is the Databricks decision in another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is money, one is policy, one is a choice between two workable options. If we only get one today, make it the reservations, because February is a hard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591056" y="6437376"/>
            <a:ext cx="6766560" cy="274320"/>
          </a:xfrm>
          <a:prstGeom prst="rect">
            <a:avLst/>
          </a:prstGeom>
          <a:noFill/>
          <a:ln/>
        </p:spPr>
        <p:txBody>
          <a:bodyPr wrap="square" lIns="0" tIns="0" rIns="0" bIns="0" rtlCol="0" anchor="ctr"/>
          <a:lstStyle/>
          <a:p>
            <a:pPr algn="l" indent="0" marL="0">
              <a:buNone/>
            </a:pPr>
            <a:r>
              <a:rPr lang="en-US" sz="900" dirty="0">
                <a:solidFill>
                  <a:srgbClr val="93A3B5"/>
                </a:solidFill>
              </a:rPr>
              <a:t>Cloud FinOps  ·  FY2026 year to date, January to September 2026</a:t>
            </a:r>
            <a:endParaRPr lang="en-US" sz="900" dirty="0"/>
          </a:p>
        </p:txBody>
      </p:sp>
      <p:pic>
        <p:nvPicPr>
          <p:cNvPr id="3" name="Image 0" descr="Harel Insurance and Finance logo">    </p:cNvPr>
          <p:cNvPicPr>
            <a:picLocks noChangeAspect="1"/>
          </p:cNvPicPr>
          <p:nvPr/>
        </p:nvPicPr>
        <p:blipFill>
          <a:blip r:embed="rId1"/>
          <a:stretch>
            <a:fillRect/>
          </a:stretch>
        </p:blipFill>
        <p:spPr>
          <a:xfrm>
            <a:off x="566928" y="6400800"/>
            <a:ext cx="859536" cy="371246"/>
          </a:xfrm>
          <a:prstGeom prst="rect">
            <a:avLst/>
          </a:prstGeom>
        </p:spPr>
      </p:pic>
      <p:sp>
        <p:nvSpPr>
          <p:cNvPr id="4" name="Text 1"/>
          <p:cNvSpPr txBox="1"/>
          <p:nvPr/>
        </p:nvSpPr>
        <p:spPr>
          <a:xfrm>
            <a:off x="10607040" y="6437376"/>
            <a:ext cx="1014984" cy="274320"/>
          </a:xfrm>
          <a:prstGeom prst="rect">
            <a:avLst/>
          </a:prstGeom>
          <a:noFill/>
          <a:ln/>
        </p:spPr>
        <p:txBody>
          <a:bodyPr wrap="square" lIns="0" tIns="0" rIns="0" bIns="0" rtlCol="0" anchor="ctr"/>
          <a:lstStyle/>
          <a:p>
            <a:pPr algn="r" indent="0" marL="0">
              <a:buNone/>
            </a:pP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B1B2E"/>
        </a:solidFill>
      </p:bgPr>
    </p:bg>
    <p:spTree>
      <p:nvGrpSpPr>
        <p:cNvPr id="1" name=""/>
        <p:cNvGrpSpPr/>
        <p:nvPr/>
      </p:nvGrpSpPr>
      <p:grpSpPr>
        <a:xfrm>
          <a:off x="0" y="0"/>
          <a:ext cx="0" cy="0"/>
          <a:chOff x="0" y="0"/>
          <a:chExt cx="0" cy="0"/>
        </a:xfrm>
      </p:grpSpPr>
      <p:sp>
        <p:nvSpPr>
          <p:cNvPr id="2" name="Text 0"/>
          <p:cNvSpPr txBox="1"/>
          <p:nvPr/>
        </p:nvSpPr>
        <p:spPr>
          <a:xfrm>
            <a:off x="1591056" y="6437376"/>
            <a:ext cx="6766560" cy="274320"/>
          </a:xfrm>
          <a:prstGeom prst="rect">
            <a:avLst/>
          </a:prstGeom>
          <a:noFill/>
          <a:ln/>
        </p:spPr>
        <p:txBody>
          <a:bodyPr wrap="square" lIns="0" tIns="0" rIns="0" bIns="0" rtlCol="0" anchor="ctr"/>
          <a:lstStyle/>
          <a:p>
            <a:pPr algn="l" indent="0" marL="0">
              <a:buNone/>
            </a:pPr>
            <a:r>
              <a:rPr lang="en-US" sz="900" dirty="0">
                <a:solidFill>
                  <a:srgbClr val="6E8299"/>
                </a:solidFill>
              </a:rPr>
              <a:t>Cloud FinOps  ·  FY2026 year to date, January to September 2026</a:t>
            </a:r>
            <a:endParaRPr lang="en-US" sz="900" dirty="0"/>
          </a:p>
        </p:txBody>
      </p:sp>
      <p:pic>
        <p:nvPicPr>
          <p:cNvPr id="3" name="Image 0" descr="Harel Insurance and Finance logo">    </p:cNvPr>
          <p:cNvPicPr>
            <a:picLocks noChangeAspect="1"/>
          </p:cNvPicPr>
          <p:nvPr/>
        </p:nvPicPr>
        <p:blipFill>
          <a:blip r:embed="rId1"/>
          <a:stretch>
            <a:fillRect/>
          </a:stretch>
        </p:blipFill>
        <p:spPr>
          <a:xfrm>
            <a:off x="566928" y="6400800"/>
            <a:ext cx="859536" cy="371246"/>
          </a:xfrm>
          <a:prstGeom prst="rect">
            <a:avLst/>
          </a:prstGeom>
        </p:spPr>
      </p:pic>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p:bg>
      <p:bgPr>
        <a:solidFill>
          <a:srgbClr val="0B1B2E"/>
        </a:solidFill>
      </p:bgPr>
    </p:bg>
    <p:spTree>
      <p:nvGrpSpPr>
        <p:cNvPr id="1" name=""/>
        <p:cNvGrpSpPr/>
        <p:nvPr/>
      </p:nvGrpSpPr>
      <p:grpSpPr>
        <a:xfrm>
          <a:off x="0" y="0"/>
          <a:ext cx="0" cy="0"/>
          <a:chOff x="0" y="0"/>
          <a:chExt cx="0" cy="0"/>
        </a:xfrm>
      </p:grpSpPr>
      <p:pic>
        <p:nvPicPr>
          <p:cNvPr id="2" name="Image 0" descr="Harel Insurance and Finance logo">    </p:cNvPr>
          <p:cNvPicPr>
            <a:picLocks noChangeAspect="1"/>
          </p:cNvPicPr>
          <p:nvPr/>
        </p:nvPicPr>
        <p:blipFill>
          <a:blip r:embed="rId1"/>
          <a:stretch>
            <a:fillRect/>
          </a:stretch>
        </p:blipFill>
        <p:spPr>
          <a:xfrm>
            <a:off x="566928" y="6400800"/>
            <a:ext cx="859536" cy="371246"/>
          </a:xfrm>
          <a:prstGeom prst="rect">
            <a:avLst/>
          </a:prstGeom>
        </p:spPr>
      </p:pic>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solidFill>
          <a:srgbClr val="0B1B2E"/>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5.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image" Target="../media/image-39-1.png"/><Relationship Id="rId3" Type="http://schemas.openxmlformats.org/officeDocument/2006/relationships/slideLayout" Target="../slideLayouts/slideLayout2.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66928" y="1325880"/>
            <a:ext cx="8595360" cy="329184"/>
          </a:xfrm>
          <a:prstGeom prst="rect">
            <a:avLst/>
          </a:prstGeom>
          <a:noFill/>
          <a:ln/>
        </p:spPr>
        <p:txBody>
          <a:bodyPr wrap="square" lIns="0" tIns="0" rIns="0" bIns="0" rtlCol="0" anchor="ctr"/>
          <a:lstStyle/>
          <a:p>
            <a:pPr algn="l" indent="0" marL="0">
              <a:buNone/>
            </a:pPr>
            <a:r>
              <a:rPr lang="en-US" sz="1200" b="1" spc="180" kern="0" dirty="0">
                <a:solidFill>
                  <a:srgbClr val="7FA8C9"/>
                </a:solidFill>
                <a:latin typeface="Arial" pitchFamily="34" charset="0"/>
                <a:ea typeface="Arial" pitchFamily="34" charset="-122"/>
                <a:cs typeface="Arial" pitchFamily="34" charset="-120"/>
              </a:rPr>
              <a:t>HAREL INSURANCE &amp; FINANCE   ·   CLOUD INFRASTRUCTURE, DEVOPS &amp; DATABASES</a:t>
            </a:r>
            <a:endParaRPr lang="en-US" sz="1200" dirty="0"/>
          </a:p>
        </p:txBody>
      </p:sp>
      <p:sp>
        <p:nvSpPr>
          <p:cNvPr id="3" name="title"/>
          <p:cNvSpPr txBox="1"/>
          <p:nvPr/>
        </p:nvSpPr>
        <p:spPr>
          <a:xfrm>
            <a:off x="566928" y="1755648"/>
            <a:ext cx="8778240" cy="1005840"/>
          </a:xfrm>
          <a:prstGeom prst="rect">
            <a:avLst/>
          </a:prstGeom>
          <a:noFill/>
          <a:ln/>
        </p:spPr>
        <p:txBody>
          <a:bodyPr wrap="square" lIns="0" tIns="0" rIns="0" bIns="0" rtlCol="0" anchor="ctr"/>
          <a:lstStyle/>
          <a:p>
            <a:pPr algn="l" indent="0" marL="0">
              <a:buNone/>
            </a:pPr>
            <a:r>
              <a:rPr lang="en-US" sz="5400" b="1" dirty="0">
                <a:solidFill>
                  <a:srgbClr val="FFFFFF"/>
                </a:solidFill>
                <a:latin typeface="Cambria" pitchFamily="34" charset="0"/>
                <a:ea typeface="Cambria" pitchFamily="34" charset="-122"/>
                <a:cs typeface="Cambria" pitchFamily="34" charset="-120"/>
              </a:rPr>
              <a:t>Cloud Cost Summary</a:t>
            </a:r>
            <a:endParaRPr lang="en-US" sz="5400" dirty="0"/>
          </a:p>
        </p:txBody>
      </p:sp>
      <p:sp>
        <p:nvSpPr>
          <p:cNvPr id="4" name="Text 2"/>
          <p:cNvSpPr txBox="1"/>
          <p:nvPr/>
        </p:nvSpPr>
        <p:spPr>
          <a:xfrm>
            <a:off x="566928" y="2761488"/>
            <a:ext cx="8778240" cy="475488"/>
          </a:xfrm>
          <a:prstGeom prst="rect">
            <a:avLst/>
          </a:prstGeom>
          <a:noFill/>
          <a:ln/>
        </p:spPr>
        <p:txBody>
          <a:bodyPr wrap="square" lIns="0" tIns="0" rIns="0" bIns="0" rtlCol="0" anchor="ctr"/>
          <a:lstStyle/>
          <a:p>
            <a:pPr algn="l" indent="0" marL="0">
              <a:buNone/>
            </a:pPr>
            <a:r>
              <a:rPr lang="en-US" sz="2300" i="1" dirty="0">
                <a:solidFill>
                  <a:srgbClr val="9EC6E6"/>
                </a:solidFill>
                <a:latin typeface="Cambria" pitchFamily="34" charset="0"/>
                <a:ea typeface="Cambria" pitchFamily="34" charset="-122"/>
                <a:cs typeface="Cambria" pitchFamily="34" charset="-120"/>
              </a:rPr>
              <a:t>FY2026  ·  January to September</a:t>
            </a:r>
            <a:endParaRPr lang="en-US" sz="2300" dirty="0"/>
          </a:p>
        </p:txBody>
      </p:sp>
      <p:sp>
        <p:nvSpPr>
          <p:cNvPr id="5" name="dept-he"/>
          <p:cNvSpPr txBox="1"/>
          <p:nvPr/>
        </p:nvSpPr>
        <p:spPr>
          <a:xfrm>
            <a:off x="566928" y="3346704"/>
            <a:ext cx="8778240" cy="365760"/>
          </a:xfrm>
          <a:prstGeom prst="rect">
            <a:avLst/>
          </a:prstGeom>
          <a:noFill/>
          <a:ln/>
        </p:spPr>
        <p:txBody>
          <a:bodyPr wrap="square" lIns="0" tIns="0" rIns="0" bIns="0" rtlCol="0" anchor="ctr"/>
          <a:lstStyle/>
          <a:p>
            <a:pPr rtl="1" algn="l" indent="0" marL="0">
              <a:buNone/>
            </a:pPr>
            <a:r>
              <a:rPr lang="en-US" sz="1400" dirty="0">
                <a:solidFill>
                  <a:srgbClr val="A9BCCF"/>
                </a:solidFill>
                <a:latin typeface="Arial" pitchFamily="34" charset="0"/>
                <a:ea typeface="Arial" pitchFamily="34" charset="-122"/>
                <a:cs typeface="Arial" pitchFamily="34" charset="-120"/>
              </a:rPr>
              <a:t>מחלקת תשתיות ענן, DevOps ובסיסי נתונים  ·  אגף טכנולוגיות והגנת הסייבר</a:t>
            </a:r>
            <a:endParaRPr lang="en-US" sz="1400" dirty="0"/>
          </a:p>
        </p:txBody>
      </p:sp>
      <p:sp>
        <p:nvSpPr>
          <p:cNvPr id="6" name="fig-dot-0"/>
          <p:cNvSpPr/>
          <p:nvPr/>
        </p:nvSpPr>
        <p:spPr>
          <a:xfrm>
            <a:off x="566928" y="4133088"/>
            <a:ext cx="91440" cy="91440"/>
          </a:xfrm>
          <a:prstGeom prst="ellipse">
            <a:avLst/>
          </a:prstGeom>
          <a:solidFill>
            <a:srgbClr val="0F7DC2"/>
          </a:solidFill>
          <a:ln/>
        </p:spPr>
      </p:sp>
      <p:sp>
        <p:nvSpPr>
          <p:cNvPr id="7" name="Text 5"/>
          <p:cNvSpPr txBox="1"/>
          <p:nvPr/>
        </p:nvSpPr>
        <p:spPr>
          <a:xfrm>
            <a:off x="566928" y="4279392"/>
            <a:ext cx="2743200" cy="5486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$4.67M</a:t>
            </a:r>
            <a:endParaRPr lang="en-US" sz="3000" dirty="0"/>
          </a:p>
        </p:txBody>
      </p:sp>
      <p:sp>
        <p:nvSpPr>
          <p:cNvPr id="8" name="Text 6"/>
          <p:cNvSpPr txBox="1"/>
          <p:nvPr/>
        </p:nvSpPr>
        <p:spPr>
          <a:xfrm>
            <a:off x="566928" y="4828032"/>
            <a:ext cx="2697480" cy="384048"/>
          </a:xfrm>
          <a:prstGeom prst="rect">
            <a:avLst/>
          </a:prstGeom>
          <a:noFill/>
          <a:ln/>
        </p:spPr>
        <p:txBody>
          <a:bodyPr wrap="square" lIns="0" tIns="0" rIns="0" bIns="0" rtlCol="0" anchor="t"/>
          <a:lstStyle/>
          <a:p>
            <a:pPr algn="l" indent="0" marL="0">
              <a:buNone/>
            </a:pPr>
            <a:r>
              <a:rPr lang="en-US" sz="1150" dirty="0">
                <a:solidFill>
                  <a:srgbClr val="8FA7BF"/>
                </a:solidFill>
                <a:latin typeface="Arial" pitchFamily="34" charset="0"/>
                <a:ea typeface="Arial" pitchFamily="34" charset="-122"/>
                <a:cs typeface="Arial" pitchFamily="34" charset="-120"/>
              </a:rPr>
              <a:t>Total cloud, YTD</a:t>
            </a:r>
            <a:endParaRPr lang="en-US" sz="1150" dirty="0"/>
          </a:p>
        </p:txBody>
      </p:sp>
      <p:sp>
        <p:nvSpPr>
          <p:cNvPr id="9" name="fig-dot-1"/>
          <p:cNvSpPr/>
          <p:nvPr/>
        </p:nvSpPr>
        <p:spPr>
          <a:xfrm>
            <a:off x="3447288" y="4133088"/>
            <a:ext cx="91440" cy="91440"/>
          </a:xfrm>
          <a:prstGeom prst="ellipse">
            <a:avLst/>
          </a:prstGeom>
          <a:solidFill>
            <a:srgbClr val="00A878"/>
          </a:solidFill>
          <a:ln/>
        </p:spPr>
      </p:sp>
      <p:sp>
        <p:nvSpPr>
          <p:cNvPr id="10" name="Text 8"/>
          <p:cNvSpPr txBox="1"/>
          <p:nvPr/>
        </p:nvSpPr>
        <p:spPr>
          <a:xfrm>
            <a:off x="3447288" y="4279392"/>
            <a:ext cx="2743200" cy="5486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$578K</a:t>
            </a:r>
            <a:endParaRPr lang="en-US" sz="3000" dirty="0"/>
          </a:p>
        </p:txBody>
      </p:sp>
      <p:sp>
        <p:nvSpPr>
          <p:cNvPr id="11" name="Text 9"/>
          <p:cNvSpPr txBox="1"/>
          <p:nvPr/>
        </p:nvSpPr>
        <p:spPr>
          <a:xfrm>
            <a:off x="3447288" y="4828032"/>
            <a:ext cx="2697480" cy="384048"/>
          </a:xfrm>
          <a:prstGeom prst="rect">
            <a:avLst/>
          </a:prstGeom>
          <a:noFill/>
          <a:ln/>
        </p:spPr>
        <p:txBody>
          <a:bodyPr wrap="square" lIns="0" tIns="0" rIns="0" bIns="0" rtlCol="0" anchor="t"/>
          <a:lstStyle/>
          <a:p>
            <a:pPr algn="l" indent="0" marL="0">
              <a:buNone/>
            </a:pPr>
            <a:r>
              <a:rPr lang="en-US" sz="1150" dirty="0">
                <a:solidFill>
                  <a:srgbClr val="8FA7BF"/>
                </a:solidFill>
                <a:latin typeface="Arial" pitchFamily="34" charset="0"/>
                <a:ea typeface="Arial" pitchFamily="34" charset="-122"/>
                <a:cs typeface="Arial" pitchFamily="34" charset="-120"/>
              </a:rPr>
              <a:t>Savings delivered</a:t>
            </a:r>
            <a:endParaRPr lang="en-US" sz="1150" dirty="0"/>
          </a:p>
        </p:txBody>
      </p:sp>
      <p:sp>
        <p:nvSpPr>
          <p:cNvPr id="12" name="fig-dot-2"/>
          <p:cNvSpPr/>
          <p:nvPr/>
        </p:nvSpPr>
        <p:spPr>
          <a:xfrm>
            <a:off x="6327648" y="4133088"/>
            <a:ext cx="91440" cy="91440"/>
          </a:xfrm>
          <a:prstGeom prst="ellipse">
            <a:avLst/>
          </a:prstGeom>
          <a:solidFill>
            <a:srgbClr val="7C5CFF"/>
          </a:solidFill>
          <a:ln/>
        </p:spPr>
      </p:sp>
      <p:sp>
        <p:nvSpPr>
          <p:cNvPr id="13" name="Text 11"/>
          <p:cNvSpPr txBox="1"/>
          <p:nvPr/>
        </p:nvSpPr>
        <p:spPr>
          <a:xfrm>
            <a:off x="6327648" y="4279392"/>
            <a:ext cx="2743200" cy="5486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34%</a:t>
            </a:r>
            <a:endParaRPr lang="en-US" sz="3000" dirty="0"/>
          </a:p>
        </p:txBody>
      </p:sp>
      <p:sp>
        <p:nvSpPr>
          <p:cNvPr id="14" name="Text 12"/>
          <p:cNvSpPr txBox="1"/>
          <p:nvPr/>
        </p:nvSpPr>
        <p:spPr>
          <a:xfrm>
            <a:off x="6327648" y="4828032"/>
            <a:ext cx="2697480" cy="384048"/>
          </a:xfrm>
          <a:prstGeom prst="rect">
            <a:avLst/>
          </a:prstGeom>
          <a:noFill/>
          <a:ln/>
        </p:spPr>
        <p:txBody>
          <a:bodyPr wrap="square" lIns="0" tIns="0" rIns="0" bIns="0" rtlCol="0" anchor="t"/>
          <a:lstStyle/>
          <a:p>
            <a:pPr algn="l" indent="0" marL="0">
              <a:buNone/>
            </a:pPr>
            <a:r>
              <a:rPr lang="en-US" sz="1150" dirty="0">
                <a:solidFill>
                  <a:srgbClr val="8FA7BF"/>
                </a:solidFill>
                <a:latin typeface="Arial" pitchFamily="34" charset="0"/>
                <a:ea typeface="Arial" pitchFamily="34" charset="-122"/>
                <a:cs typeface="Arial" pitchFamily="34" charset="-120"/>
              </a:rPr>
              <a:t>Of September spend is AI</a:t>
            </a:r>
            <a:endParaRPr lang="en-US" sz="1150" dirty="0"/>
          </a:p>
        </p:txBody>
      </p:sp>
      <p:sp>
        <p:nvSpPr>
          <p:cNvPr id="15" name="motif-0"/>
          <p:cNvSpPr/>
          <p:nvPr/>
        </p:nvSpPr>
        <p:spPr>
          <a:xfrm>
            <a:off x="9464040" y="2560992"/>
            <a:ext cx="143256" cy="2559648"/>
          </a:xfrm>
          <a:prstGeom prst="rect">
            <a:avLst/>
          </a:prstGeom>
          <a:solidFill>
            <a:srgbClr val="21466B"/>
          </a:solidFill>
          <a:ln/>
        </p:spPr>
      </p:sp>
      <p:sp>
        <p:nvSpPr>
          <p:cNvPr id="16" name="motif-1"/>
          <p:cNvSpPr/>
          <p:nvPr/>
        </p:nvSpPr>
        <p:spPr>
          <a:xfrm>
            <a:off x="9702800" y="2733644"/>
            <a:ext cx="143256" cy="2386996"/>
          </a:xfrm>
          <a:prstGeom prst="rect">
            <a:avLst/>
          </a:prstGeom>
          <a:solidFill>
            <a:srgbClr val="21466B"/>
          </a:solidFill>
          <a:ln/>
        </p:spPr>
      </p:sp>
      <p:sp>
        <p:nvSpPr>
          <p:cNvPr id="17" name="motif-2"/>
          <p:cNvSpPr/>
          <p:nvPr/>
        </p:nvSpPr>
        <p:spPr>
          <a:xfrm>
            <a:off x="9941560" y="2262075"/>
            <a:ext cx="143256" cy="2858565"/>
          </a:xfrm>
          <a:prstGeom prst="rect">
            <a:avLst/>
          </a:prstGeom>
          <a:solidFill>
            <a:srgbClr val="21466B"/>
          </a:solidFill>
          <a:ln/>
        </p:spPr>
      </p:sp>
      <p:sp>
        <p:nvSpPr>
          <p:cNvPr id="18" name="motif-3"/>
          <p:cNvSpPr/>
          <p:nvPr/>
        </p:nvSpPr>
        <p:spPr>
          <a:xfrm>
            <a:off x="10180320" y="2551900"/>
            <a:ext cx="143256" cy="2568740"/>
          </a:xfrm>
          <a:prstGeom prst="rect">
            <a:avLst/>
          </a:prstGeom>
          <a:solidFill>
            <a:srgbClr val="21466B"/>
          </a:solidFill>
          <a:ln/>
        </p:spPr>
      </p:sp>
      <p:sp>
        <p:nvSpPr>
          <p:cNvPr id="19" name="motif-4"/>
          <p:cNvSpPr/>
          <p:nvPr/>
        </p:nvSpPr>
        <p:spPr>
          <a:xfrm>
            <a:off x="10419080" y="2531912"/>
            <a:ext cx="143256" cy="2588728"/>
          </a:xfrm>
          <a:prstGeom prst="rect">
            <a:avLst/>
          </a:prstGeom>
          <a:solidFill>
            <a:srgbClr val="21466B"/>
          </a:solidFill>
          <a:ln/>
        </p:spPr>
      </p:sp>
      <p:sp>
        <p:nvSpPr>
          <p:cNvPr id="20" name="motif-5"/>
          <p:cNvSpPr/>
          <p:nvPr/>
        </p:nvSpPr>
        <p:spPr>
          <a:xfrm>
            <a:off x="10657840" y="2319457"/>
            <a:ext cx="143256" cy="2801183"/>
          </a:xfrm>
          <a:prstGeom prst="rect">
            <a:avLst/>
          </a:prstGeom>
          <a:solidFill>
            <a:srgbClr val="21466B"/>
          </a:solidFill>
          <a:ln/>
        </p:spPr>
      </p:sp>
      <p:sp>
        <p:nvSpPr>
          <p:cNvPr id="21" name="motif-6"/>
          <p:cNvSpPr/>
          <p:nvPr/>
        </p:nvSpPr>
        <p:spPr>
          <a:xfrm>
            <a:off x="10896600" y="2196491"/>
            <a:ext cx="143256" cy="2924149"/>
          </a:xfrm>
          <a:prstGeom prst="rect">
            <a:avLst/>
          </a:prstGeom>
          <a:solidFill>
            <a:srgbClr val="21466B"/>
          </a:solidFill>
          <a:ln/>
        </p:spPr>
      </p:sp>
      <p:sp>
        <p:nvSpPr>
          <p:cNvPr id="22" name="motif-7"/>
          <p:cNvSpPr/>
          <p:nvPr/>
        </p:nvSpPr>
        <p:spPr>
          <a:xfrm>
            <a:off x="11135360" y="1832150"/>
            <a:ext cx="143256" cy="3288490"/>
          </a:xfrm>
          <a:prstGeom prst="rect">
            <a:avLst/>
          </a:prstGeom>
          <a:solidFill>
            <a:srgbClr val="21466B"/>
          </a:solidFill>
          <a:ln/>
        </p:spPr>
      </p:sp>
      <p:sp>
        <p:nvSpPr>
          <p:cNvPr id="23" name="motif-8"/>
          <p:cNvSpPr/>
          <p:nvPr/>
        </p:nvSpPr>
        <p:spPr>
          <a:xfrm>
            <a:off x="11374120" y="1828800"/>
            <a:ext cx="143256" cy="3291840"/>
          </a:xfrm>
          <a:prstGeom prst="rect">
            <a:avLst/>
          </a:prstGeom>
          <a:solidFill>
            <a:srgbClr val="F2A900"/>
          </a:solidFill>
          <a:ln/>
        </p:spPr>
      </p:sp>
      <p:sp>
        <p:nvSpPr>
          <p:cNvPr id="24" name="Text 22"/>
          <p:cNvSpPr txBox="1"/>
          <p:nvPr/>
        </p:nvSpPr>
        <p:spPr>
          <a:xfrm>
            <a:off x="9464040" y="5248656"/>
            <a:ext cx="2514600" cy="237744"/>
          </a:xfrm>
          <a:prstGeom prst="rect">
            <a:avLst/>
          </a:prstGeom>
          <a:noFill/>
          <a:ln/>
        </p:spPr>
        <p:txBody>
          <a:bodyPr wrap="square" lIns="0" tIns="0" rIns="0" bIns="0" rtlCol="0" anchor="ctr"/>
          <a:lstStyle/>
          <a:p>
            <a:pPr algn="l" indent="0" marL="0">
              <a:buNone/>
            </a:pPr>
            <a:r>
              <a:rPr lang="en-US" sz="850" b="1" spc="110" kern="0" dirty="0">
                <a:solidFill>
                  <a:srgbClr val="6E8299"/>
                </a:solidFill>
                <a:latin typeface="Arial" pitchFamily="34" charset="0"/>
                <a:ea typeface="Arial" pitchFamily="34" charset="-122"/>
                <a:cs typeface="Arial" pitchFamily="34" charset="-120"/>
              </a:rPr>
              <a:t>MONTHLY CLOUD CONSUMPTION</a:t>
            </a:r>
            <a:endParaRPr lang="en-US" sz="850" dirty="0"/>
          </a:p>
        </p:txBody>
      </p:sp>
      <p:sp>
        <p:nvSpPr>
          <p:cNvPr id="25" name="Text 23"/>
          <p:cNvSpPr txBox="1"/>
          <p:nvPr/>
        </p:nvSpPr>
        <p:spPr>
          <a:xfrm>
            <a:off x="9464040" y="5468112"/>
            <a:ext cx="2514600" cy="237744"/>
          </a:xfrm>
          <a:prstGeom prst="rect">
            <a:avLst/>
          </a:prstGeom>
          <a:noFill/>
          <a:ln/>
        </p:spPr>
        <p:txBody>
          <a:bodyPr wrap="square" lIns="0" tIns="0" rIns="0" bIns="0" rtlCol="0" anchor="ctr"/>
          <a:lstStyle/>
          <a:p>
            <a:pPr algn="l" indent="0" marL="0">
              <a:buNone/>
            </a:pPr>
            <a:r>
              <a:rPr lang="en-US" sz="900" dirty="0">
                <a:solidFill>
                  <a:srgbClr val="55687E"/>
                </a:solidFill>
                <a:latin typeface="Arial" pitchFamily="34" charset="0"/>
                <a:ea typeface="Arial" pitchFamily="34" charset="-122"/>
                <a:cs typeface="Arial" pitchFamily="34" charset="-120"/>
              </a:rPr>
              <a:t>Jan to Sep 2026</a:t>
            </a:r>
            <a:endParaRPr lang="en-US" sz="900" dirty="0"/>
          </a:p>
        </p:txBody>
      </p:sp>
      <p:pic>
        <p:nvPicPr>
          <p:cNvPr id="26" name="Image 0" descr="Harel Insurance and Finance logo">    </p:cNvPr>
          <p:cNvPicPr>
            <a:picLocks noChangeAspect="1"/>
          </p:cNvPicPr>
          <p:nvPr/>
        </p:nvPicPr>
        <p:blipFill>
          <a:blip r:embed="rId1"/>
          <a:stretch>
            <a:fillRect/>
          </a:stretch>
        </p:blipFill>
        <p:spPr>
          <a:xfrm>
            <a:off x="9464040" y="5870448"/>
            <a:ext cx="1143000" cy="493776"/>
          </a:xfrm>
          <a:prstGeom prst="rect">
            <a:avLst/>
          </a:prstGeom>
        </p:spPr>
      </p:pic>
      <p:sp>
        <p:nvSpPr>
          <p:cNvPr id="27" name="Text 24"/>
          <p:cNvSpPr txBox="1"/>
          <p:nvPr/>
        </p:nvSpPr>
        <p:spPr>
          <a:xfrm>
            <a:off x="5486400" y="5943600"/>
            <a:ext cx="3657600" cy="329184"/>
          </a:xfrm>
          <a:prstGeom prst="rect">
            <a:avLst/>
          </a:prstGeom>
          <a:noFill/>
          <a:ln/>
        </p:spPr>
        <p:txBody>
          <a:bodyPr wrap="square" lIns="0" tIns="0" rIns="0" bIns="0" rtlCol="0" anchor="ctr"/>
          <a:lstStyle/>
          <a:p>
            <a:pPr algn="r" indent="0" marL="0">
              <a:buNone/>
            </a:pPr>
            <a:r>
              <a:rPr lang="en-US" sz="1100" dirty="0">
                <a:solidFill>
                  <a:srgbClr val="6E8299"/>
                </a:solidFill>
                <a:latin typeface="Arial" pitchFamily="34" charset="0"/>
                <a:ea typeface="Arial" pitchFamily="34" charset="-122"/>
                <a:cs typeface="Arial" pitchFamily="34" charset="-120"/>
              </a:rPr>
              <a:t>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7C5CFF"/>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8FA7BF"/>
                </a:solidFill>
                <a:latin typeface="Arial" pitchFamily="34" charset="0"/>
                <a:ea typeface="Arial" pitchFamily="34" charset="-122"/>
                <a:cs typeface="Arial" pitchFamily="34" charset="-120"/>
              </a:rPr>
              <a:t>THE BOTTOM LINE</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FFFFFF"/>
                </a:solidFill>
                <a:latin typeface="Cambria" pitchFamily="34" charset="0"/>
                <a:ea typeface="Cambria" pitchFamily="34" charset="-122"/>
                <a:cs typeface="Cambria" pitchFamily="34" charset="-120"/>
              </a:rPr>
              <a:t>Cloud spend is up 22% and all of the increase is AI</a:t>
            </a:r>
            <a:endParaRPr lang="en-US" sz="2800" dirty="0"/>
          </a:p>
        </p:txBody>
      </p:sp>
      <p:sp>
        <p:nvSpPr>
          <p:cNvPr id="5" name="stat-card-Total cloud YT"/>
          <p:cNvSpPr/>
          <p:nvPr/>
        </p:nvSpPr>
        <p:spPr>
          <a:xfrm>
            <a:off x="566928" y="1572768"/>
            <a:ext cx="2593010" cy="2029968"/>
          </a:xfrm>
          <a:prstGeom prst="roundRect">
            <a:avLst>
              <a:gd name="adj" fmla="val 2703"/>
            </a:avLst>
          </a:prstGeom>
          <a:solidFill>
            <a:srgbClr val="13324F"/>
          </a:solidFill>
          <a:ln/>
        </p:spPr>
      </p:sp>
      <p:sp>
        <p:nvSpPr>
          <p:cNvPr id="6" name="stat-dot"/>
          <p:cNvSpPr/>
          <p:nvPr/>
        </p:nvSpPr>
        <p:spPr>
          <a:xfrm>
            <a:off x="804672" y="1847088"/>
            <a:ext cx="91440" cy="91440"/>
          </a:xfrm>
          <a:prstGeom prst="ellipse">
            <a:avLst/>
          </a:prstGeom>
          <a:solidFill>
            <a:srgbClr val="0F7DC2"/>
          </a:solidFill>
          <a:ln/>
        </p:spPr>
      </p:sp>
      <p:sp>
        <p:nvSpPr>
          <p:cNvPr id="7" name="Text 5"/>
          <p:cNvSpPr txBox="1"/>
          <p:nvPr/>
        </p:nvSpPr>
        <p:spPr>
          <a:xfrm>
            <a:off x="987552" y="1746504"/>
            <a:ext cx="1952930" cy="292608"/>
          </a:xfrm>
          <a:prstGeom prst="rect">
            <a:avLst/>
          </a:prstGeom>
          <a:noFill/>
          <a:ln/>
        </p:spPr>
        <p:txBody>
          <a:bodyPr wrap="square" lIns="0" tIns="0" rIns="0" bIns="0" rtlCol="0" anchor="ctr"/>
          <a:lstStyle/>
          <a:p>
            <a:pPr algn="l" indent="0" marL="0">
              <a:buNone/>
            </a:pPr>
            <a:r>
              <a:rPr lang="en-US" sz="1000" b="1" spc="110" kern="0" dirty="0">
                <a:solidFill>
                  <a:srgbClr val="9FB3C8"/>
                </a:solidFill>
                <a:latin typeface="Arial" pitchFamily="34" charset="0"/>
                <a:ea typeface="Arial" pitchFamily="34" charset="-122"/>
                <a:cs typeface="Arial" pitchFamily="34" charset="-120"/>
              </a:rPr>
              <a:t>TOTAL CLOUD YTD</a:t>
            </a:r>
            <a:endParaRPr lang="en-US" sz="1000" dirty="0"/>
          </a:p>
        </p:txBody>
      </p:sp>
      <p:sp>
        <p:nvSpPr>
          <p:cNvPr id="8" name="Text 6"/>
          <p:cNvSpPr txBox="1"/>
          <p:nvPr/>
        </p:nvSpPr>
        <p:spPr>
          <a:xfrm>
            <a:off x="804672" y="2029968"/>
            <a:ext cx="2135810" cy="676656"/>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$4.67M</a:t>
            </a:r>
            <a:endParaRPr lang="en-US" sz="3600" dirty="0"/>
          </a:p>
        </p:txBody>
      </p:sp>
      <p:sp>
        <p:nvSpPr>
          <p:cNvPr id="9" name="Text 7"/>
          <p:cNvSpPr txBox="1"/>
          <p:nvPr/>
        </p:nvSpPr>
        <p:spPr>
          <a:xfrm>
            <a:off x="804672" y="2688336"/>
            <a:ext cx="2135810" cy="713232"/>
          </a:xfrm>
          <a:prstGeom prst="rect">
            <a:avLst/>
          </a:prstGeom>
          <a:noFill/>
          <a:ln/>
        </p:spPr>
        <p:txBody>
          <a:bodyPr wrap="square" lIns="0" tIns="0" rIns="0" bIns="0" rtlCol="0" anchor="t"/>
          <a:lstStyle/>
          <a:p>
            <a:pPr algn="l" indent="0" marL="0">
              <a:buNone/>
            </a:pPr>
            <a:r>
              <a:rPr lang="en-US" sz="1150" dirty="0">
                <a:solidFill>
                  <a:srgbClr val="A9BCCF"/>
                </a:solidFill>
                <a:latin typeface="Arial" pitchFamily="34" charset="0"/>
                <a:ea typeface="Arial" pitchFamily="34" charset="-122"/>
                <a:cs typeface="Arial" pitchFamily="34" charset="-120"/>
              </a:rPr>
              <a:t>Consumption $2.31M</a:t>
            </a:r>
            <a:endParaRPr lang="en-US" sz="1150" dirty="0"/>
          </a:p>
          <a:p>
            <a:pPr algn="l" indent="0" marL="0">
              <a:buNone/>
            </a:pPr>
            <a:r>
              <a:rPr lang="en-US" sz="1150" dirty="0">
                <a:solidFill>
                  <a:srgbClr val="A9BCCF"/>
                </a:solidFill>
                <a:latin typeface="Arial" pitchFamily="34" charset="0"/>
                <a:ea typeface="Arial" pitchFamily="34" charset="-122"/>
                <a:cs typeface="Arial" pitchFamily="34" charset="-120"/>
              </a:rPr>
              <a:t>Committed $2.36M</a:t>
            </a:r>
            <a:endParaRPr lang="en-US" sz="1150" dirty="0"/>
          </a:p>
        </p:txBody>
      </p:sp>
      <p:sp>
        <p:nvSpPr>
          <p:cNvPr id="10" name="stat-card-Consumption ru"/>
          <p:cNvSpPr/>
          <p:nvPr/>
        </p:nvSpPr>
        <p:spPr>
          <a:xfrm>
            <a:off x="3388538" y="1572768"/>
            <a:ext cx="2593010" cy="2029968"/>
          </a:xfrm>
          <a:prstGeom prst="roundRect">
            <a:avLst>
              <a:gd name="adj" fmla="val 2703"/>
            </a:avLst>
          </a:prstGeom>
          <a:solidFill>
            <a:srgbClr val="13324F"/>
          </a:solidFill>
          <a:ln/>
        </p:spPr>
      </p:sp>
      <p:sp>
        <p:nvSpPr>
          <p:cNvPr id="11" name="stat-dot"/>
          <p:cNvSpPr/>
          <p:nvPr/>
        </p:nvSpPr>
        <p:spPr>
          <a:xfrm>
            <a:off x="3626282" y="1847088"/>
            <a:ext cx="91440" cy="91440"/>
          </a:xfrm>
          <a:prstGeom prst="ellipse">
            <a:avLst/>
          </a:prstGeom>
          <a:solidFill>
            <a:srgbClr val="F2A900"/>
          </a:solidFill>
          <a:ln/>
        </p:spPr>
      </p:sp>
      <p:sp>
        <p:nvSpPr>
          <p:cNvPr id="12" name="Text 10"/>
          <p:cNvSpPr txBox="1"/>
          <p:nvPr/>
        </p:nvSpPr>
        <p:spPr>
          <a:xfrm>
            <a:off x="3809162" y="1746504"/>
            <a:ext cx="1952930" cy="292608"/>
          </a:xfrm>
          <a:prstGeom prst="rect">
            <a:avLst/>
          </a:prstGeom>
          <a:noFill/>
          <a:ln/>
        </p:spPr>
        <p:txBody>
          <a:bodyPr wrap="square" lIns="0" tIns="0" rIns="0" bIns="0" rtlCol="0" anchor="ctr"/>
          <a:lstStyle/>
          <a:p>
            <a:pPr algn="l" indent="0" marL="0">
              <a:buNone/>
            </a:pPr>
            <a:r>
              <a:rPr lang="en-US" sz="1000" b="1" spc="110" kern="0" dirty="0">
                <a:solidFill>
                  <a:srgbClr val="9FB3C8"/>
                </a:solidFill>
                <a:latin typeface="Arial" pitchFamily="34" charset="0"/>
                <a:ea typeface="Arial" pitchFamily="34" charset="-122"/>
                <a:cs typeface="Arial" pitchFamily="34" charset="-120"/>
              </a:rPr>
              <a:t>CONSUMPTION RUN-RATE</a:t>
            </a:r>
            <a:endParaRPr lang="en-US" sz="1000" dirty="0"/>
          </a:p>
        </p:txBody>
      </p:sp>
      <p:sp>
        <p:nvSpPr>
          <p:cNvPr id="13" name="Text 11"/>
          <p:cNvSpPr txBox="1"/>
          <p:nvPr/>
        </p:nvSpPr>
        <p:spPr>
          <a:xfrm>
            <a:off x="3626282" y="2029968"/>
            <a:ext cx="2135810" cy="676656"/>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+22%</a:t>
            </a:r>
            <a:endParaRPr lang="en-US" sz="3600" dirty="0"/>
          </a:p>
        </p:txBody>
      </p:sp>
      <p:sp>
        <p:nvSpPr>
          <p:cNvPr id="14" name="Text 12"/>
          <p:cNvSpPr txBox="1"/>
          <p:nvPr/>
        </p:nvSpPr>
        <p:spPr>
          <a:xfrm>
            <a:off x="3626282" y="2688336"/>
            <a:ext cx="2135810" cy="713232"/>
          </a:xfrm>
          <a:prstGeom prst="rect">
            <a:avLst/>
          </a:prstGeom>
          <a:noFill/>
          <a:ln/>
        </p:spPr>
        <p:txBody>
          <a:bodyPr wrap="square" lIns="0" tIns="0" rIns="0" bIns="0" rtlCol="0" anchor="t"/>
          <a:lstStyle/>
          <a:p>
            <a:pPr algn="l" indent="0" marL="0">
              <a:buNone/>
            </a:pPr>
            <a:r>
              <a:rPr lang="en-US" sz="1150" dirty="0">
                <a:solidFill>
                  <a:srgbClr val="A9BCCF"/>
                </a:solidFill>
                <a:latin typeface="Arial" pitchFamily="34" charset="0"/>
                <a:ea typeface="Arial" pitchFamily="34" charset="-122"/>
                <a:cs typeface="Arial" pitchFamily="34" charset="-120"/>
              </a:rPr>
              <a:t>Q1 avg $238K/mo,</a:t>
            </a:r>
            <a:endParaRPr lang="en-US" sz="1150" dirty="0"/>
          </a:p>
          <a:p>
            <a:pPr algn="l" indent="0" marL="0">
              <a:buNone/>
            </a:pPr>
            <a:r>
              <a:rPr lang="en-US" sz="1150" dirty="0">
                <a:solidFill>
                  <a:srgbClr val="A9BCCF"/>
                </a:solidFill>
                <a:latin typeface="Arial" pitchFamily="34" charset="0"/>
                <a:ea typeface="Arial" pitchFamily="34" charset="-122"/>
                <a:cs typeface="Arial" pitchFamily="34" charset="-120"/>
              </a:rPr>
              <a:t>Q3 avg $290K/mo</a:t>
            </a:r>
            <a:endParaRPr lang="en-US" sz="1150" dirty="0"/>
          </a:p>
        </p:txBody>
      </p:sp>
      <p:sp>
        <p:nvSpPr>
          <p:cNvPr id="15" name="stat-card-Everything exc"/>
          <p:cNvSpPr/>
          <p:nvPr/>
        </p:nvSpPr>
        <p:spPr>
          <a:xfrm>
            <a:off x="6210148" y="1572768"/>
            <a:ext cx="2593010" cy="2029968"/>
          </a:xfrm>
          <a:prstGeom prst="roundRect">
            <a:avLst>
              <a:gd name="adj" fmla="val 2703"/>
            </a:avLst>
          </a:prstGeom>
          <a:solidFill>
            <a:srgbClr val="13324F"/>
          </a:solidFill>
          <a:ln/>
        </p:spPr>
      </p:sp>
      <p:sp>
        <p:nvSpPr>
          <p:cNvPr id="16" name="stat-dot"/>
          <p:cNvSpPr/>
          <p:nvPr/>
        </p:nvSpPr>
        <p:spPr>
          <a:xfrm>
            <a:off x="6447892" y="1847088"/>
            <a:ext cx="91440" cy="91440"/>
          </a:xfrm>
          <a:prstGeom prst="ellipse">
            <a:avLst/>
          </a:prstGeom>
          <a:solidFill>
            <a:srgbClr val="00A878"/>
          </a:solidFill>
          <a:ln/>
        </p:spPr>
      </p:sp>
      <p:sp>
        <p:nvSpPr>
          <p:cNvPr id="17" name="Text 15"/>
          <p:cNvSpPr txBox="1"/>
          <p:nvPr/>
        </p:nvSpPr>
        <p:spPr>
          <a:xfrm>
            <a:off x="6630772" y="1746504"/>
            <a:ext cx="1952930" cy="292608"/>
          </a:xfrm>
          <a:prstGeom prst="rect">
            <a:avLst/>
          </a:prstGeom>
          <a:noFill/>
          <a:ln/>
        </p:spPr>
        <p:txBody>
          <a:bodyPr wrap="square" lIns="0" tIns="0" rIns="0" bIns="0" rtlCol="0" anchor="ctr"/>
          <a:lstStyle/>
          <a:p>
            <a:pPr algn="l" indent="0" marL="0">
              <a:buNone/>
            </a:pPr>
            <a:r>
              <a:rPr lang="en-US" sz="1000" b="1" spc="110" kern="0" dirty="0">
                <a:solidFill>
                  <a:srgbClr val="9FB3C8"/>
                </a:solidFill>
                <a:latin typeface="Arial" pitchFamily="34" charset="0"/>
                <a:ea typeface="Arial" pitchFamily="34" charset="-122"/>
                <a:cs typeface="Arial" pitchFamily="34" charset="-120"/>
              </a:rPr>
              <a:t>EVERYTHING EXCEPT AI</a:t>
            </a:r>
            <a:endParaRPr lang="en-US" sz="1000" dirty="0"/>
          </a:p>
        </p:txBody>
      </p:sp>
      <p:sp>
        <p:nvSpPr>
          <p:cNvPr id="18" name="Text 16"/>
          <p:cNvSpPr txBox="1"/>
          <p:nvPr/>
        </p:nvSpPr>
        <p:spPr>
          <a:xfrm>
            <a:off x="6447892" y="2029968"/>
            <a:ext cx="2135810" cy="676656"/>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–13%</a:t>
            </a:r>
            <a:endParaRPr lang="en-US" sz="3600" dirty="0"/>
          </a:p>
        </p:txBody>
      </p:sp>
      <p:sp>
        <p:nvSpPr>
          <p:cNvPr id="19" name="Text 17"/>
          <p:cNvSpPr txBox="1"/>
          <p:nvPr/>
        </p:nvSpPr>
        <p:spPr>
          <a:xfrm>
            <a:off x="6447892" y="2688336"/>
            <a:ext cx="2135810" cy="713232"/>
          </a:xfrm>
          <a:prstGeom prst="rect">
            <a:avLst/>
          </a:prstGeom>
          <a:noFill/>
          <a:ln/>
        </p:spPr>
        <p:txBody>
          <a:bodyPr wrap="square" lIns="0" tIns="0" rIns="0" bIns="0" rtlCol="0" anchor="t"/>
          <a:lstStyle/>
          <a:p>
            <a:pPr algn="l" indent="0" marL="0">
              <a:buNone/>
            </a:pPr>
            <a:r>
              <a:rPr lang="en-US" sz="1150" dirty="0">
                <a:solidFill>
                  <a:srgbClr val="A9BCCF"/>
                </a:solidFill>
                <a:latin typeface="Arial" pitchFamily="34" charset="0"/>
                <a:ea typeface="Arial" pitchFamily="34" charset="-122"/>
                <a:cs typeface="Arial" pitchFamily="34" charset="-120"/>
              </a:rPr>
              <a:t>Non-AI spend fell</a:t>
            </a:r>
            <a:endParaRPr lang="en-US" sz="1150" dirty="0"/>
          </a:p>
          <a:p>
            <a:pPr algn="l" indent="0" marL="0">
              <a:buNone/>
            </a:pPr>
            <a:r>
              <a:rPr lang="en-US" sz="1150" dirty="0">
                <a:solidFill>
                  <a:srgbClr val="A9BCCF"/>
                </a:solidFill>
                <a:latin typeface="Arial" pitchFamily="34" charset="0"/>
                <a:ea typeface="Arial" pitchFamily="34" charset="-122"/>
                <a:cs typeface="Arial" pitchFamily="34" charset="-120"/>
              </a:rPr>
              <a:t>from Q1 to Q3</a:t>
            </a:r>
            <a:endParaRPr lang="en-US" sz="1150" dirty="0"/>
          </a:p>
        </p:txBody>
      </p:sp>
      <p:sp>
        <p:nvSpPr>
          <p:cNvPr id="20" name="stat-card-Savings delive"/>
          <p:cNvSpPr/>
          <p:nvPr/>
        </p:nvSpPr>
        <p:spPr>
          <a:xfrm>
            <a:off x="9031757" y="1572768"/>
            <a:ext cx="2593010" cy="2029968"/>
          </a:xfrm>
          <a:prstGeom prst="roundRect">
            <a:avLst>
              <a:gd name="adj" fmla="val 2703"/>
            </a:avLst>
          </a:prstGeom>
          <a:solidFill>
            <a:srgbClr val="13324F"/>
          </a:solidFill>
          <a:ln/>
        </p:spPr>
      </p:sp>
      <p:sp>
        <p:nvSpPr>
          <p:cNvPr id="21" name="stat-dot"/>
          <p:cNvSpPr/>
          <p:nvPr/>
        </p:nvSpPr>
        <p:spPr>
          <a:xfrm>
            <a:off x="9269501" y="1847088"/>
            <a:ext cx="91440" cy="91440"/>
          </a:xfrm>
          <a:prstGeom prst="ellipse">
            <a:avLst/>
          </a:prstGeom>
          <a:solidFill>
            <a:srgbClr val="00A878"/>
          </a:solidFill>
          <a:ln/>
        </p:spPr>
      </p:sp>
      <p:sp>
        <p:nvSpPr>
          <p:cNvPr id="22" name="Text 20"/>
          <p:cNvSpPr txBox="1"/>
          <p:nvPr/>
        </p:nvSpPr>
        <p:spPr>
          <a:xfrm>
            <a:off x="9452381" y="1746504"/>
            <a:ext cx="1952930" cy="292608"/>
          </a:xfrm>
          <a:prstGeom prst="rect">
            <a:avLst/>
          </a:prstGeom>
          <a:noFill/>
          <a:ln/>
        </p:spPr>
        <p:txBody>
          <a:bodyPr wrap="square" lIns="0" tIns="0" rIns="0" bIns="0" rtlCol="0" anchor="ctr"/>
          <a:lstStyle/>
          <a:p>
            <a:pPr algn="l" indent="0" marL="0">
              <a:buNone/>
            </a:pPr>
            <a:r>
              <a:rPr lang="en-US" sz="1000" b="1" spc="110" kern="0" dirty="0">
                <a:solidFill>
                  <a:srgbClr val="9FB3C8"/>
                </a:solidFill>
                <a:latin typeface="Arial" pitchFamily="34" charset="0"/>
                <a:ea typeface="Arial" pitchFamily="34" charset="-122"/>
                <a:cs typeface="Arial" pitchFamily="34" charset="-120"/>
              </a:rPr>
              <a:t>SAVINGS DELIVERED</a:t>
            </a:r>
            <a:endParaRPr lang="en-US" sz="1000" dirty="0"/>
          </a:p>
        </p:txBody>
      </p:sp>
      <p:sp>
        <p:nvSpPr>
          <p:cNvPr id="23" name="Text 21"/>
          <p:cNvSpPr txBox="1"/>
          <p:nvPr/>
        </p:nvSpPr>
        <p:spPr>
          <a:xfrm>
            <a:off x="9269501" y="2029968"/>
            <a:ext cx="2135810" cy="676656"/>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$578K</a:t>
            </a:r>
            <a:endParaRPr lang="en-US" sz="3600" dirty="0"/>
          </a:p>
        </p:txBody>
      </p:sp>
      <p:sp>
        <p:nvSpPr>
          <p:cNvPr id="24" name="Text 22"/>
          <p:cNvSpPr txBox="1"/>
          <p:nvPr/>
        </p:nvSpPr>
        <p:spPr>
          <a:xfrm>
            <a:off x="9269501" y="2688336"/>
            <a:ext cx="2135810" cy="713232"/>
          </a:xfrm>
          <a:prstGeom prst="rect">
            <a:avLst/>
          </a:prstGeom>
          <a:noFill/>
          <a:ln/>
        </p:spPr>
        <p:txBody>
          <a:bodyPr wrap="square" lIns="0" tIns="0" rIns="0" bIns="0" rtlCol="0" anchor="t"/>
          <a:lstStyle/>
          <a:p>
            <a:pPr algn="l" indent="0" marL="0">
              <a:buNone/>
            </a:pPr>
            <a:r>
              <a:rPr lang="en-US" sz="1150" dirty="0">
                <a:solidFill>
                  <a:srgbClr val="A9BCCF"/>
                </a:solidFill>
                <a:latin typeface="Arial" pitchFamily="34" charset="0"/>
                <a:ea typeface="Arial" pitchFamily="34" charset="-122"/>
                <a:cs typeface="Arial" pitchFamily="34" charset="-120"/>
              </a:rPr>
              <a:t>Realised $268K,</a:t>
            </a:r>
            <a:endParaRPr lang="en-US" sz="1150" dirty="0"/>
          </a:p>
          <a:p>
            <a:pPr algn="l" indent="0" marL="0">
              <a:buNone/>
            </a:pPr>
            <a:r>
              <a:rPr lang="en-US" sz="1150" dirty="0">
                <a:solidFill>
                  <a:srgbClr val="A9BCCF"/>
                </a:solidFill>
                <a:latin typeface="Arial" pitchFamily="34" charset="0"/>
                <a:ea typeface="Arial" pitchFamily="34" charset="-122"/>
                <a:cs typeface="Arial" pitchFamily="34" charset="-120"/>
              </a:rPr>
              <a:t>avoided $310K</a:t>
            </a:r>
            <a:endParaRPr lang="en-US" sz="1150" dirty="0"/>
          </a:p>
        </p:txBody>
      </p:sp>
      <p:sp>
        <p:nvSpPr>
          <p:cNvPr id="25" name="Text 23"/>
          <p:cNvSpPr txBox="1"/>
          <p:nvPr/>
        </p:nvSpPr>
        <p:spPr>
          <a:xfrm>
            <a:off x="566928" y="3822192"/>
            <a:ext cx="11057839" cy="274320"/>
          </a:xfrm>
          <a:prstGeom prst="rect">
            <a:avLst/>
          </a:prstGeom>
          <a:noFill/>
          <a:ln/>
        </p:spPr>
        <p:txBody>
          <a:bodyPr wrap="square" lIns="0" tIns="0" rIns="0" bIns="0" rtlCol="0" anchor="ctr"/>
          <a:lstStyle/>
          <a:p>
            <a:pPr algn="l" indent="0" marL="0">
              <a:buNone/>
            </a:pPr>
            <a:r>
              <a:rPr lang="en-US" sz="1050" b="1" spc="160" kern="0" dirty="0">
                <a:solidFill>
                  <a:srgbClr val="8FA7BF"/>
                </a:solidFill>
                <a:latin typeface="Arial" pitchFamily="34" charset="0"/>
                <a:ea typeface="Arial" pitchFamily="34" charset="-122"/>
                <a:cs typeface="Arial" pitchFamily="34" charset="-120"/>
              </a:rPr>
              <a:t>THREE THINGS TO TAKE AWAY</a:t>
            </a:r>
            <a:endParaRPr lang="en-US" sz="1050" dirty="0"/>
          </a:p>
        </p:txBody>
      </p:sp>
      <p:sp>
        <p:nvSpPr>
          <p:cNvPr id="26" name="takeaway-1"/>
          <p:cNvSpPr/>
          <p:nvPr/>
        </p:nvSpPr>
        <p:spPr>
          <a:xfrm>
            <a:off x="566928" y="4169664"/>
            <a:ext cx="3503066" cy="1773936"/>
          </a:xfrm>
          <a:prstGeom prst="roundRect">
            <a:avLst>
              <a:gd name="adj" fmla="val 3093"/>
            </a:avLst>
          </a:prstGeom>
          <a:solidFill>
            <a:srgbClr val="112C45"/>
          </a:solidFill>
          <a:ln/>
        </p:spPr>
      </p:sp>
      <p:sp>
        <p:nvSpPr>
          <p:cNvPr id="27" name="num-badge"/>
          <p:cNvSpPr/>
          <p:nvPr/>
        </p:nvSpPr>
        <p:spPr>
          <a:xfrm>
            <a:off x="822960" y="4407408"/>
            <a:ext cx="274320" cy="274320"/>
          </a:xfrm>
          <a:prstGeom prst="ellipse">
            <a:avLst/>
          </a:prstGeom>
          <a:solidFill>
            <a:srgbClr val="7C5CFF"/>
          </a:solidFill>
          <a:ln/>
        </p:spPr>
      </p:sp>
      <p:sp>
        <p:nvSpPr>
          <p:cNvPr id="28" name="Text 26"/>
          <p:cNvSpPr txBox="1"/>
          <p:nvPr/>
        </p:nvSpPr>
        <p:spPr>
          <a:xfrm>
            <a:off x="822960" y="44074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9" name="Text 27"/>
          <p:cNvSpPr txBox="1"/>
          <p:nvPr/>
        </p:nvSpPr>
        <p:spPr>
          <a:xfrm>
            <a:off x="1243584" y="4370832"/>
            <a:ext cx="2570378" cy="493776"/>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AI went from $9K to $102K a month</a:t>
            </a:r>
            <a:endParaRPr lang="en-US" sz="1400" dirty="0"/>
          </a:p>
        </p:txBody>
      </p:sp>
      <p:sp>
        <p:nvSpPr>
          <p:cNvPr id="30" name="Text 28"/>
          <p:cNvSpPr txBox="1"/>
          <p:nvPr/>
        </p:nvSpPr>
        <p:spPr>
          <a:xfrm>
            <a:off x="1243584" y="4882896"/>
            <a:ext cx="2570378" cy="1005840"/>
          </a:xfrm>
          <a:prstGeom prst="rect">
            <a:avLst/>
          </a:prstGeom>
          <a:noFill/>
          <a:ln/>
        </p:spPr>
        <p:txBody>
          <a:bodyPr wrap="square" lIns="0" tIns="0" rIns="0" bIns="0" rtlCol="0" anchor="t"/>
          <a:lstStyle/>
          <a:p>
            <a:pPr algn="l" indent="0" marL="0">
              <a:buNone/>
            </a:pPr>
            <a:r>
              <a:rPr lang="en-US" sz="1200" dirty="0">
                <a:solidFill>
                  <a:srgbClr val="A9BCCF"/>
                </a:solidFill>
                <a:latin typeface="Arial" pitchFamily="34" charset="0"/>
                <a:ea typeface="Arial" pitchFamily="34" charset="-122"/>
                <a:cs typeface="Arial" pitchFamily="34" charset="-120"/>
              </a:rPr>
              <a:t>An eleven-fold rise in nine months. At the September rate that is $1.22M a year, and it is already a third of what we consume.</a:t>
            </a:r>
            <a:endParaRPr lang="en-US" sz="1200" dirty="0"/>
          </a:p>
        </p:txBody>
      </p:sp>
      <p:sp>
        <p:nvSpPr>
          <p:cNvPr id="31" name="takeaway-2"/>
          <p:cNvSpPr/>
          <p:nvPr/>
        </p:nvSpPr>
        <p:spPr>
          <a:xfrm>
            <a:off x="4344314" y="4169664"/>
            <a:ext cx="3503066" cy="1773936"/>
          </a:xfrm>
          <a:prstGeom prst="roundRect">
            <a:avLst>
              <a:gd name="adj" fmla="val 3093"/>
            </a:avLst>
          </a:prstGeom>
          <a:solidFill>
            <a:srgbClr val="112C45"/>
          </a:solidFill>
          <a:ln/>
        </p:spPr>
      </p:sp>
      <p:sp>
        <p:nvSpPr>
          <p:cNvPr id="32" name="num-badge"/>
          <p:cNvSpPr/>
          <p:nvPr/>
        </p:nvSpPr>
        <p:spPr>
          <a:xfrm>
            <a:off x="4600346" y="4407408"/>
            <a:ext cx="274320" cy="274320"/>
          </a:xfrm>
          <a:prstGeom prst="ellipse">
            <a:avLst/>
          </a:prstGeom>
          <a:solidFill>
            <a:srgbClr val="00A878"/>
          </a:solidFill>
          <a:ln/>
        </p:spPr>
      </p:sp>
      <p:sp>
        <p:nvSpPr>
          <p:cNvPr id="33" name="Text 31"/>
          <p:cNvSpPr txBox="1"/>
          <p:nvPr/>
        </p:nvSpPr>
        <p:spPr>
          <a:xfrm>
            <a:off x="4600346" y="44074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4" name="Text 32"/>
          <p:cNvSpPr txBox="1"/>
          <p:nvPr/>
        </p:nvSpPr>
        <p:spPr>
          <a:xfrm>
            <a:off x="5020970" y="4370832"/>
            <a:ext cx="2570378" cy="493776"/>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The existing estate is shrinking</a:t>
            </a:r>
            <a:endParaRPr lang="en-US" sz="1400" dirty="0"/>
          </a:p>
        </p:txBody>
      </p:sp>
      <p:sp>
        <p:nvSpPr>
          <p:cNvPr id="35" name="Text 33"/>
          <p:cNvSpPr txBox="1"/>
          <p:nvPr/>
        </p:nvSpPr>
        <p:spPr>
          <a:xfrm>
            <a:off x="5020970" y="4882896"/>
            <a:ext cx="2570378" cy="1005840"/>
          </a:xfrm>
          <a:prstGeom prst="rect">
            <a:avLst/>
          </a:prstGeom>
          <a:noFill/>
          <a:ln/>
        </p:spPr>
        <p:txBody>
          <a:bodyPr wrap="square" lIns="0" tIns="0" rIns="0" bIns="0" rtlCol="0" anchor="t"/>
          <a:lstStyle/>
          <a:p>
            <a:pPr algn="l" indent="0" marL="0">
              <a:buNone/>
            </a:pPr>
            <a:r>
              <a:rPr lang="en-US" sz="1200" dirty="0">
                <a:solidFill>
                  <a:srgbClr val="A9BCCF"/>
                </a:solidFill>
                <a:latin typeface="Arial" pitchFamily="34" charset="0"/>
                <a:ea typeface="Arial" pitchFamily="34" charset="-122"/>
                <a:cs typeface="Arial" pitchFamily="34" charset="-120"/>
              </a:rPr>
              <a:t>Take AI out and spend is down 13% from Q1 to Q3. Rightsizing, the reserved-instance purchases and the North Europe exit are all landing.</a:t>
            </a:r>
            <a:endParaRPr lang="en-US" sz="1200" dirty="0"/>
          </a:p>
        </p:txBody>
      </p:sp>
      <p:sp>
        <p:nvSpPr>
          <p:cNvPr id="36" name="takeaway-3"/>
          <p:cNvSpPr/>
          <p:nvPr/>
        </p:nvSpPr>
        <p:spPr>
          <a:xfrm>
            <a:off x="8121701" y="4169664"/>
            <a:ext cx="3503066" cy="1773936"/>
          </a:xfrm>
          <a:prstGeom prst="roundRect">
            <a:avLst>
              <a:gd name="adj" fmla="val 3093"/>
            </a:avLst>
          </a:prstGeom>
          <a:solidFill>
            <a:srgbClr val="112C45"/>
          </a:solidFill>
          <a:ln/>
        </p:spPr>
      </p:sp>
      <p:sp>
        <p:nvSpPr>
          <p:cNvPr id="37" name="num-badge"/>
          <p:cNvSpPr/>
          <p:nvPr/>
        </p:nvSpPr>
        <p:spPr>
          <a:xfrm>
            <a:off x="8377733" y="4407408"/>
            <a:ext cx="274320" cy="274320"/>
          </a:xfrm>
          <a:prstGeom prst="ellipse">
            <a:avLst/>
          </a:prstGeom>
          <a:solidFill>
            <a:srgbClr val="F2A900"/>
          </a:solidFill>
          <a:ln/>
        </p:spPr>
      </p:sp>
      <p:sp>
        <p:nvSpPr>
          <p:cNvPr id="38" name="Text 36"/>
          <p:cNvSpPr txBox="1"/>
          <p:nvPr/>
        </p:nvSpPr>
        <p:spPr>
          <a:xfrm>
            <a:off x="8377733" y="44074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39" name="Text 37"/>
          <p:cNvSpPr txBox="1"/>
          <p:nvPr/>
        </p:nvSpPr>
        <p:spPr>
          <a:xfrm>
            <a:off x="8798357" y="4370832"/>
            <a:ext cx="2570378" cy="493776"/>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Two decisions are due before Q1</a:t>
            </a:r>
            <a:endParaRPr lang="en-US" sz="1400" dirty="0"/>
          </a:p>
        </p:txBody>
      </p:sp>
      <p:sp>
        <p:nvSpPr>
          <p:cNvPr id="40" name="Text 38"/>
          <p:cNvSpPr txBox="1"/>
          <p:nvPr/>
        </p:nvSpPr>
        <p:spPr>
          <a:xfrm>
            <a:off x="8798357" y="4882896"/>
            <a:ext cx="2570378" cy="1005840"/>
          </a:xfrm>
          <a:prstGeom prst="rect">
            <a:avLst/>
          </a:prstGeom>
          <a:noFill/>
          <a:ln/>
        </p:spPr>
        <p:txBody>
          <a:bodyPr wrap="square" lIns="0" tIns="0" rIns="0" bIns="0" rtlCol="0" anchor="t"/>
          <a:lstStyle/>
          <a:p>
            <a:pPr algn="l" indent="0" marL="0">
              <a:buNone/>
            </a:pPr>
            <a:r>
              <a:rPr lang="en-US" sz="1200" dirty="0">
                <a:solidFill>
                  <a:srgbClr val="A9BCCF"/>
                </a:solidFill>
                <a:latin typeface="Arial" pitchFamily="34" charset="0"/>
                <a:ea typeface="Arial" pitchFamily="34" charset="-122"/>
                <a:cs typeface="Arial" pitchFamily="34" charset="-120"/>
              </a:rPr>
              <a:t>The Databricks commitment is 29% used after five months, and Azure raises prices in February. Both affect the 2027 budget.</a:t>
            </a:r>
            <a:endParaRPr lang="en-US" sz="12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0A878"/>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AGENDA</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What we will cover</a:t>
            </a:r>
            <a:endParaRPr lang="en-US" sz="2800" dirty="0"/>
          </a:p>
        </p:txBody>
      </p:sp>
      <p:sp>
        <p:nvSpPr>
          <p:cNvPr id="5" name="agenda-01"/>
          <p:cNvSpPr/>
          <p:nvPr/>
        </p:nvSpPr>
        <p:spPr>
          <a:xfrm>
            <a:off x="566928" y="1572768"/>
            <a:ext cx="5336896" cy="1389888"/>
          </a:xfrm>
          <a:prstGeom prst="roundRect">
            <a:avLst>
              <a:gd name="adj" fmla="val 3947"/>
            </a:avLst>
          </a:prstGeom>
          <a:solidFill>
            <a:srgbClr val="EEF2F7"/>
          </a:solidFill>
          <a:ln/>
        </p:spPr>
      </p:sp>
      <p:sp>
        <p:nvSpPr>
          <p:cNvPr id="6" name="Text 4"/>
          <p:cNvSpPr txBox="1"/>
          <p:nvPr/>
        </p:nvSpPr>
        <p:spPr>
          <a:xfrm>
            <a:off x="841248" y="1810512"/>
            <a:ext cx="914400" cy="548640"/>
          </a:xfrm>
          <a:prstGeom prst="rect">
            <a:avLst/>
          </a:prstGeom>
          <a:noFill/>
          <a:ln/>
        </p:spPr>
        <p:txBody>
          <a:bodyPr wrap="square" lIns="0" tIns="0" rIns="0" bIns="0" rtlCol="0" anchor="ctr"/>
          <a:lstStyle/>
          <a:p>
            <a:pPr algn="l" indent="0" marL="0">
              <a:buNone/>
            </a:pPr>
            <a:r>
              <a:rPr lang="en-US" sz="3000" b="1" dirty="0">
                <a:solidFill>
                  <a:srgbClr val="0F7DC2"/>
                </a:solidFill>
                <a:latin typeface="Cambria" pitchFamily="34" charset="0"/>
                <a:ea typeface="Cambria" pitchFamily="34" charset="-122"/>
                <a:cs typeface="Cambria" pitchFamily="34" charset="-120"/>
              </a:rPr>
              <a:t>01</a:t>
            </a:r>
            <a:endParaRPr lang="en-US" sz="3000" dirty="0"/>
          </a:p>
        </p:txBody>
      </p:sp>
      <p:sp>
        <p:nvSpPr>
          <p:cNvPr id="7" name="Text 5"/>
          <p:cNvSpPr txBox="1"/>
          <p:nvPr/>
        </p:nvSpPr>
        <p:spPr>
          <a:xfrm>
            <a:off x="1719072" y="1828800"/>
            <a:ext cx="3910432" cy="384048"/>
          </a:xfrm>
          <a:prstGeom prst="rect">
            <a:avLst/>
          </a:prstGeom>
          <a:noFill/>
          <a:ln/>
        </p:spPr>
        <p:txBody>
          <a:bodyPr wrap="square" lIns="0" tIns="0" rIns="0" bIns="0" rtlCol="0" anchor="ctr"/>
          <a:lstStyle/>
          <a:p>
            <a:pPr algn="l" indent="0" marL="0">
              <a:buNone/>
            </a:pPr>
            <a:r>
              <a:rPr lang="en-US" sz="1700" b="1" dirty="0">
                <a:solidFill>
                  <a:srgbClr val="0B1B2E"/>
                </a:solidFill>
                <a:latin typeface="Arial" pitchFamily="34" charset="0"/>
                <a:ea typeface="Arial" pitchFamily="34" charset="-122"/>
                <a:cs typeface="Arial" pitchFamily="34" charset="-120"/>
              </a:rPr>
              <a:t>Where the money goes</a:t>
            </a:r>
            <a:endParaRPr lang="en-US" sz="1700" dirty="0"/>
          </a:p>
        </p:txBody>
      </p:sp>
      <p:sp>
        <p:nvSpPr>
          <p:cNvPr id="8" name="Text 6"/>
          <p:cNvSpPr txBox="1"/>
          <p:nvPr/>
        </p:nvSpPr>
        <p:spPr>
          <a:xfrm>
            <a:off x="1719072" y="2231136"/>
            <a:ext cx="3910432" cy="566928"/>
          </a:xfrm>
          <a:prstGeom prst="rect">
            <a:avLst/>
          </a:prstGeom>
          <a:noFill/>
          <a:ln/>
        </p:spPr>
        <p:txBody>
          <a:bodyPr wrap="square" lIns="0" tIns="0" rIns="0" bIns="0" rtlCol="0" anchor="t"/>
          <a:lstStyle/>
          <a:p>
            <a:pPr algn="l" indent="0" marL="0">
              <a:buNone/>
            </a:pPr>
            <a:r>
              <a:rPr lang="en-US" sz="1200" dirty="0">
                <a:solidFill>
                  <a:srgbClr val="5B6B7E"/>
                </a:solidFill>
                <a:latin typeface="Arial" pitchFamily="34" charset="0"/>
                <a:ea typeface="Arial" pitchFamily="34" charset="-122"/>
                <a:cs typeface="Arial" pitchFamily="34" charset="-120"/>
              </a:rPr>
              <a:t>Total spend, run-rate, and the split between usage and commitments</a:t>
            </a:r>
            <a:endParaRPr lang="en-US" sz="1200" dirty="0"/>
          </a:p>
        </p:txBody>
      </p:sp>
      <p:sp>
        <p:nvSpPr>
          <p:cNvPr id="9" name="agenda-02"/>
          <p:cNvSpPr/>
          <p:nvPr/>
        </p:nvSpPr>
        <p:spPr>
          <a:xfrm>
            <a:off x="6287872" y="1572768"/>
            <a:ext cx="5336896" cy="1389888"/>
          </a:xfrm>
          <a:prstGeom prst="roundRect">
            <a:avLst>
              <a:gd name="adj" fmla="val 3947"/>
            </a:avLst>
          </a:prstGeom>
          <a:solidFill>
            <a:srgbClr val="EEF2F7"/>
          </a:solidFill>
          <a:ln/>
        </p:spPr>
      </p:sp>
      <p:sp>
        <p:nvSpPr>
          <p:cNvPr id="10" name="Text 8"/>
          <p:cNvSpPr txBox="1"/>
          <p:nvPr/>
        </p:nvSpPr>
        <p:spPr>
          <a:xfrm>
            <a:off x="6562192" y="1810512"/>
            <a:ext cx="914400" cy="548640"/>
          </a:xfrm>
          <a:prstGeom prst="rect">
            <a:avLst/>
          </a:prstGeom>
          <a:noFill/>
          <a:ln/>
        </p:spPr>
        <p:txBody>
          <a:bodyPr wrap="square" lIns="0" tIns="0" rIns="0" bIns="0" rtlCol="0" anchor="ctr"/>
          <a:lstStyle/>
          <a:p>
            <a:pPr algn="l" indent="0" marL="0">
              <a:buNone/>
            </a:pPr>
            <a:r>
              <a:rPr lang="en-US" sz="3000" b="1" dirty="0">
                <a:solidFill>
                  <a:srgbClr val="7C5CFF"/>
                </a:solidFill>
                <a:latin typeface="Cambria" pitchFamily="34" charset="0"/>
                <a:ea typeface="Cambria" pitchFamily="34" charset="-122"/>
                <a:cs typeface="Cambria" pitchFamily="34" charset="-120"/>
              </a:rPr>
              <a:t>02</a:t>
            </a:r>
            <a:endParaRPr lang="en-US" sz="3000" dirty="0"/>
          </a:p>
        </p:txBody>
      </p:sp>
      <p:sp>
        <p:nvSpPr>
          <p:cNvPr id="11" name="Text 9"/>
          <p:cNvSpPr txBox="1"/>
          <p:nvPr/>
        </p:nvSpPr>
        <p:spPr>
          <a:xfrm>
            <a:off x="7440016" y="1828800"/>
            <a:ext cx="3910432" cy="384048"/>
          </a:xfrm>
          <a:prstGeom prst="rect">
            <a:avLst/>
          </a:prstGeom>
          <a:noFill/>
          <a:ln/>
        </p:spPr>
        <p:txBody>
          <a:bodyPr wrap="square" lIns="0" tIns="0" rIns="0" bIns="0" rtlCol="0" anchor="ctr"/>
          <a:lstStyle/>
          <a:p>
            <a:pPr algn="l" indent="0" marL="0">
              <a:buNone/>
            </a:pPr>
            <a:r>
              <a:rPr lang="en-US" sz="1700" b="1" dirty="0">
                <a:solidFill>
                  <a:srgbClr val="0B1B2E"/>
                </a:solidFill>
                <a:latin typeface="Arial" pitchFamily="34" charset="0"/>
                <a:ea typeface="Arial" pitchFamily="34" charset="-122"/>
                <a:cs typeface="Arial" pitchFamily="34" charset="-120"/>
              </a:rPr>
              <a:t>AI and the AI Factory</a:t>
            </a:r>
            <a:endParaRPr lang="en-US" sz="1700" dirty="0"/>
          </a:p>
        </p:txBody>
      </p:sp>
      <p:sp>
        <p:nvSpPr>
          <p:cNvPr id="12" name="Text 10"/>
          <p:cNvSpPr txBox="1"/>
          <p:nvPr/>
        </p:nvSpPr>
        <p:spPr>
          <a:xfrm>
            <a:off x="7440016" y="2231136"/>
            <a:ext cx="3910432" cy="566928"/>
          </a:xfrm>
          <a:prstGeom prst="rect">
            <a:avLst/>
          </a:prstGeom>
          <a:noFill/>
          <a:ln/>
        </p:spPr>
        <p:txBody>
          <a:bodyPr wrap="square" lIns="0" tIns="0" rIns="0" bIns="0" rtlCol="0" anchor="t"/>
          <a:lstStyle/>
          <a:p>
            <a:pPr algn="l" indent="0" marL="0">
              <a:buNone/>
            </a:pPr>
            <a:r>
              <a:rPr lang="en-US" sz="1200" dirty="0">
                <a:solidFill>
                  <a:srgbClr val="5B6B7E"/>
                </a:solidFill>
                <a:latin typeface="Arial" pitchFamily="34" charset="0"/>
                <a:ea typeface="Arial" pitchFamily="34" charset="-122"/>
                <a:cs typeface="Arial" pitchFamily="34" charset="-120"/>
              </a:rPr>
              <a:t>The fastest growing line: Bedrock, Foundry, Copilot and the governance gap</a:t>
            </a:r>
            <a:endParaRPr lang="en-US" sz="1200" dirty="0"/>
          </a:p>
        </p:txBody>
      </p:sp>
      <p:sp>
        <p:nvSpPr>
          <p:cNvPr id="13" name="agenda-03"/>
          <p:cNvSpPr/>
          <p:nvPr/>
        </p:nvSpPr>
        <p:spPr>
          <a:xfrm>
            <a:off x="566928" y="3154680"/>
            <a:ext cx="5336896" cy="1389888"/>
          </a:xfrm>
          <a:prstGeom prst="roundRect">
            <a:avLst>
              <a:gd name="adj" fmla="val 3947"/>
            </a:avLst>
          </a:prstGeom>
          <a:solidFill>
            <a:srgbClr val="EEF2F7"/>
          </a:solidFill>
          <a:ln/>
        </p:spPr>
      </p:sp>
      <p:sp>
        <p:nvSpPr>
          <p:cNvPr id="14" name="Text 12"/>
          <p:cNvSpPr txBox="1"/>
          <p:nvPr/>
        </p:nvSpPr>
        <p:spPr>
          <a:xfrm>
            <a:off x="841248" y="3392424"/>
            <a:ext cx="914400" cy="548640"/>
          </a:xfrm>
          <a:prstGeom prst="rect">
            <a:avLst/>
          </a:prstGeom>
          <a:noFill/>
          <a:ln/>
        </p:spPr>
        <p:txBody>
          <a:bodyPr wrap="square" lIns="0" tIns="0" rIns="0" bIns="0" rtlCol="0" anchor="ctr"/>
          <a:lstStyle/>
          <a:p>
            <a:pPr algn="l" indent="0" marL="0">
              <a:buNone/>
            </a:pPr>
            <a:r>
              <a:rPr lang="en-US" sz="3000" b="1" dirty="0">
                <a:solidFill>
                  <a:srgbClr val="F2A900"/>
                </a:solidFill>
                <a:latin typeface="Cambria" pitchFamily="34" charset="0"/>
                <a:ea typeface="Cambria" pitchFamily="34" charset="-122"/>
                <a:cs typeface="Cambria" pitchFamily="34" charset="-120"/>
              </a:rPr>
              <a:t>03</a:t>
            </a:r>
            <a:endParaRPr lang="en-US" sz="3000" dirty="0"/>
          </a:p>
        </p:txBody>
      </p:sp>
      <p:sp>
        <p:nvSpPr>
          <p:cNvPr id="15" name="Text 13"/>
          <p:cNvSpPr txBox="1"/>
          <p:nvPr/>
        </p:nvSpPr>
        <p:spPr>
          <a:xfrm>
            <a:off x="1719072" y="3410712"/>
            <a:ext cx="3910432" cy="384048"/>
          </a:xfrm>
          <a:prstGeom prst="rect">
            <a:avLst/>
          </a:prstGeom>
          <a:noFill/>
          <a:ln/>
        </p:spPr>
        <p:txBody>
          <a:bodyPr wrap="square" lIns="0" tIns="0" rIns="0" bIns="0" rtlCol="0" anchor="ctr"/>
          <a:lstStyle/>
          <a:p>
            <a:pPr algn="l" indent="0" marL="0">
              <a:buNone/>
            </a:pPr>
            <a:r>
              <a:rPr lang="en-US" sz="1700" b="1" dirty="0">
                <a:solidFill>
                  <a:srgbClr val="0B1B2E"/>
                </a:solidFill>
                <a:latin typeface="Arial" pitchFamily="34" charset="0"/>
                <a:ea typeface="Arial" pitchFamily="34" charset="-122"/>
                <a:cs typeface="Arial" pitchFamily="34" charset="-120"/>
              </a:rPr>
              <a:t>Amazon Web Services</a:t>
            </a:r>
            <a:endParaRPr lang="en-US" sz="1700" dirty="0"/>
          </a:p>
        </p:txBody>
      </p:sp>
      <p:sp>
        <p:nvSpPr>
          <p:cNvPr id="16" name="Text 14"/>
          <p:cNvSpPr txBox="1"/>
          <p:nvPr/>
        </p:nvSpPr>
        <p:spPr>
          <a:xfrm>
            <a:off x="1719072" y="3813048"/>
            <a:ext cx="3910432" cy="566928"/>
          </a:xfrm>
          <a:prstGeom prst="rect">
            <a:avLst/>
          </a:prstGeom>
          <a:noFill/>
          <a:ln/>
        </p:spPr>
        <p:txBody>
          <a:bodyPr wrap="square" lIns="0" tIns="0" rIns="0" bIns="0" rtlCol="0" anchor="t"/>
          <a:lstStyle/>
          <a:p>
            <a:pPr algn="l" indent="0" marL="0">
              <a:buNone/>
            </a:pPr>
            <a:r>
              <a:rPr lang="en-US" sz="1200" dirty="0">
                <a:solidFill>
                  <a:srgbClr val="5B6B7E"/>
                </a:solidFill>
                <a:latin typeface="Arial" pitchFamily="34" charset="0"/>
                <a:ea typeface="Arial" pitchFamily="34" charset="-122"/>
                <a:cs typeface="Arial" pitchFamily="34" charset="-120"/>
              </a:rPr>
              <a:t>$2.61M year to date, and why most of it is contracts</a:t>
            </a:r>
            <a:endParaRPr lang="en-US" sz="1200" dirty="0"/>
          </a:p>
        </p:txBody>
      </p:sp>
      <p:sp>
        <p:nvSpPr>
          <p:cNvPr id="17" name="agenda-04"/>
          <p:cNvSpPr/>
          <p:nvPr/>
        </p:nvSpPr>
        <p:spPr>
          <a:xfrm>
            <a:off x="6287872" y="3154680"/>
            <a:ext cx="5336896" cy="1389888"/>
          </a:xfrm>
          <a:prstGeom prst="roundRect">
            <a:avLst>
              <a:gd name="adj" fmla="val 3947"/>
            </a:avLst>
          </a:prstGeom>
          <a:solidFill>
            <a:srgbClr val="EEF2F7"/>
          </a:solidFill>
          <a:ln/>
        </p:spPr>
      </p:sp>
      <p:sp>
        <p:nvSpPr>
          <p:cNvPr id="18" name="Text 16"/>
          <p:cNvSpPr txBox="1"/>
          <p:nvPr/>
        </p:nvSpPr>
        <p:spPr>
          <a:xfrm>
            <a:off x="6562192" y="3392424"/>
            <a:ext cx="914400" cy="548640"/>
          </a:xfrm>
          <a:prstGeom prst="rect">
            <a:avLst/>
          </a:prstGeom>
          <a:noFill/>
          <a:ln/>
        </p:spPr>
        <p:txBody>
          <a:bodyPr wrap="square" lIns="0" tIns="0" rIns="0" bIns="0" rtlCol="0" anchor="ctr"/>
          <a:lstStyle/>
          <a:p>
            <a:pPr algn="l" indent="0" marL="0">
              <a:buNone/>
            </a:pPr>
            <a:r>
              <a:rPr lang="en-US" sz="3000" b="1" dirty="0">
                <a:solidFill>
                  <a:srgbClr val="0F7DC2"/>
                </a:solidFill>
                <a:latin typeface="Cambria" pitchFamily="34" charset="0"/>
                <a:ea typeface="Cambria" pitchFamily="34" charset="-122"/>
                <a:cs typeface="Cambria" pitchFamily="34" charset="-120"/>
              </a:rPr>
              <a:t>04</a:t>
            </a:r>
            <a:endParaRPr lang="en-US" sz="3000" dirty="0"/>
          </a:p>
        </p:txBody>
      </p:sp>
      <p:sp>
        <p:nvSpPr>
          <p:cNvPr id="19" name="Text 17"/>
          <p:cNvSpPr txBox="1"/>
          <p:nvPr/>
        </p:nvSpPr>
        <p:spPr>
          <a:xfrm>
            <a:off x="7440016" y="3410712"/>
            <a:ext cx="3910432" cy="384048"/>
          </a:xfrm>
          <a:prstGeom prst="rect">
            <a:avLst/>
          </a:prstGeom>
          <a:noFill/>
          <a:ln/>
        </p:spPr>
        <p:txBody>
          <a:bodyPr wrap="square" lIns="0" tIns="0" rIns="0" bIns="0" rtlCol="0" anchor="ctr"/>
          <a:lstStyle/>
          <a:p>
            <a:pPr algn="l" indent="0" marL="0">
              <a:buNone/>
            </a:pPr>
            <a:r>
              <a:rPr lang="en-US" sz="1700" b="1" dirty="0">
                <a:solidFill>
                  <a:srgbClr val="0B1B2E"/>
                </a:solidFill>
                <a:latin typeface="Arial" pitchFamily="34" charset="0"/>
                <a:ea typeface="Arial" pitchFamily="34" charset="-122"/>
                <a:cs typeface="Arial" pitchFamily="34" charset="-120"/>
              </a:rPr>
              <a:t>Microsoft Azure</a:t>
            </a:r>
            <a:endParaRPr lang="en-US" sz="1700" dirty="0"/>
          </a:p>
        </p:txBody>
      </p:sp>
      <p:sp>
        <p:nvSpPr>
          <p:cNvPr id="20" name="Text 18"/>
          <p:cNvSpPr txBox="1"/>
          <p:nvPr/>
        </p:nvSpPr>
        <p:spPr>
          <a:xfrm>
            <a:off x="7440016" y="3813048"/>
            <a:ext cx="3910432" cy="566928"/>
          </a:xfrm>
          <a:prstGeom prst="rect">
            <a:avLst/>
          </a:prstGeom>
          <a:noFill/>
          <a:ln/>
        </p:spPr>
        <p:txBody>
          <a:bodyPr wrap="square" lIns="0" tIns="0" rIns="0" bIns="0" rtlCol="0" anchor="t"/>
          <a:lstStyle/>
          <a:p>
            <a:pPr algn="l" indent="0" marL="0">
              <a:buNone/>
            </a:pPr>
            <a:r>
              <a:rPr lang="en-US" sz="1200" dirty="0">
                <a:solidFill>
                  <a:srgbClr val="5B6B7E"/>
                </a:solidFill>
                <a:latin typeface="Arial" pitchFamily="34" charset="0"/>
                <a:ea typeface="Arial" pitchFamily="34" charset="-122"/>
                <a:cs typeface="Arial" pitchFamily="34" charset="-120"/>
              </a:rPr>
              <a:t>$2.05M, the February 2027 price rise and the Databricks commitment</a:t>
            </a:r>
            <a:endParaRPr lang="en-US" sz="1200" dirty="0"/>
          </a:p>
        </p:txBody>
      </p:sp>
      <p:sp>
        <p:nvSpPr>
          <p:cNvPr id="21" name="agenda-05"/>
          <p:cNvSpPr/>
          <p:nvPr/>
        </p:nvSpPr>
        <p:spPr>
          <a:xfrm>
            <a:off x="566928" y="4736592"/>
            <a:ext cx="5336896" cy="1389888"/>
          </a:xfrm>
          <a:prstGeom prst="roundRect">
            <a:avLst>
              <a:gd name="adj" fmla="val 3947"/>
            </a:avLst>
          </a:prstGeom>
          <a:solidFill>
            <a:srgbClr val="EEF2F7"/>
          </a:solidFill>
          <a:ln/>
        </p:spPr>
      </p:sp>
      <p:sp>
        <p:nvSpPr>
          <p:cNvPr id="22" name="Text 20"/>
          <p:cNvSpPr txBox="1"/>
          <p:nvPr/>
        </p:nvSpPr>
        <p:spPr>
          <a:xfrm>
            <a:off x="841248" y="4974336"/>
            <a:ext cx="914400" cy="548640"/>
          </a:xfrm>
          <a:prstGeom prst="rect">
            <a:avLst/>
          </a:prstGeom>
          <a:noFill/>
          <a:ln/>
        </p:spPr>
        <p:txBody>
          <a:bodyPr wrap="square" lIns="0" tIns="0" rIns="0" bIns="0" rtlCol="0" anchor="ctr"/>
          <a:lstStyle/>
          <a:p>
            <a:pPr algn="l" indent="0" marL="0">
              <a:buNone/>
            </a:pPr>
            <a:r>
              <a:rPr lang="en-US" sz="3000" b="1" dirty="0">
                <a:solidFill>
                  <a:srgbClr val="00A878"/>
                </a:solidFill>
                <a:latin typeface="Cambria" pitchFamily="34" charset="0"/>
                <a:ea typeface="Cambria" pitchFamily="34" charset="-122"/>
                <a:cs typeface="Cambria" pitchFamily="34" charset="-120"/>
              </a:rPr>
              <a:t>05</a:t>
            </a:r>
            <a:endParaRPr lang="en-US" sz="3000" dirty="0"/>
          </a:p>
        </p:txBody>
      </p:sp>
      <p:sp>
        <p:nvSpPr>
          <p:cNvPr id="23" name="Text 21"/>
          <p:cNvSpPr txBox="1"/>
          <p:nvPr/>
        </p:nvSpPr>
        <p:spPr>
          <a:xfrm>
            <a:off x="1719072" y="4992624"/>
            <a:ext cx="3910432" cy="384048"/>
          </a:xfrm>
          <a:prstGeom prst="rect">
            <a:avLst/>
          </a:prstGeom>
          <a:noFill/>
          <a:ln/>
        </p:spPr>
        <p:txBody>
          <a:bodyPr wrap="square" lIns="0" tIns="0" rIns="0" bIns="0" rtlCol="0" anchor="ctr"/>
          <a:lstStyle/>
          <a:p>
            <a:pPr algn="l" indent="0" marL="0">
              <a:buNone/>
            </a:pPr>
            <a:r>
              <a:rPr lang="en-US" sz="1700" b="1" dirty="0">
                <a:solidFill>
                  <a:srgbClr val="0B1B2E"/>
                </a:solidFill>
                <a:latin typeface="Arial" pitchFamily="34" charset="0"/>
                <a:ea typeface="Arial" pitchFamily="34" charset="-122"/>
                <a:cs typeface="Arial" pitchFamily="34" charset="-120"/>
              </a:rPr>
              <a:t>Savings and optimisation</a:t>
            </a:r>
            <a:endParaRPr lang="en-US" sz="1700" dirty="0"/>
          </a:p>
        </p:txBody>
      </p:sp>
      <p:sp>
        <p:nvSpPr>
          <p:cNvPr id="24" name="Text 22"/>
          <p:cNvSpPr txBox="1"/>
          <p:nvPr/>
        </p:nvSpPr>
        <p:spPr>
          <a:xfrm>
            <a:off x="1719072" y="5394960"/>
            <a:ext cx="3910432" cy="566928"/>
          </a:xfrm>
          <a:prstGeom prst="rect">
            <a:avLst/>
          </a:prstGeom>
          <a:noFill/>
          <a:ln/>
        </p:spPr>
        <p:txBody>
          <a:bodyPr wrap="square" lIns="0" tIns="0" rIns="0" bIns="0" rtlCol="0" anchor="t"/>
          <a:lstStyle/>
          <a:p>
            <a:pPr algn="l" indent="0" marL="0">
              <a:buNone/>
            </a:pPr>
            <a:r>
              <a:rPr lang="en-US" sz="1200" dirty="0">
                <a:solidFill>
                  <a:srgbClr val="5B6B7E"/>
                </a:solidFill>
                <a:latin typeface="Arial" pitchFamily="34" charset="0"/>
                <a:ea typeface="Arial" pitchFamily="34" charset="-122"/>
                <a:cs typeface="Arial" pitchFamily="34" charset="-120"/>
              </a:rPr>
              <a:t>$578K delivered, compute coverage, and a $190K pipeline</a:t>
            </a:r>
            <a:endParaRPr lang="en-US" sz="1200" dirty="0"/>
          </a:p>
        </p:txBody>
      </p:sp>
      <p:sp>
        <p:nvSpPr>
          <p:cNvPr id="25" name="agenda-06"/>
          <p:cNvSpPr/>
          <p:nvPr/>
        </p:nvSpPr>
        <p:spPr>
          <a:xfrm>
            <a:off x="6287872" y="4736592"/>
            <a:ext cx="5336896" cy="1389888"/>
          </a:xfrm>
          <a:prstGeom prst="roundRect">
            <a:avLst>
              <a:gd name="adj" fmla="val 3947"/>
            </a:avLst>
          </a:prstGeom>
          <a:solidFill>
            <a:srgbClr val="EEF2F7"/>
          </a:solidFill>
          <a:ln/>
        </p:spPr>
      </p:sp>
      <p:sp>
        <p:nvSpPr>
          <p:cNvPr id="26" name="Text 24"/>
          <p:cNvSpPr txBox="1"/>
          <p:nvPr/>
        </p:nvSpPr>
        <p:spPr>
          <a:xfrm>
            <a:off x="6562192" y="4974336"/>
            <a:ext cx="914400" cy="548640"/>
          </a:xfrm>
          <a:prstGeom prst="rect">
            <a:avLst/>
          </a:prstGeom>
          <a:noFill/>
          <a:ln/>
        </p:spPr>
        <p:txBody>
          <a:bodyPr wrap="square" lIns="0" tIns="0" rIns="0" bIns="0" rtlCol="0" anchor="ctr"/>
          <a:lstStyle/>
          <a:p>
            <a:pPr algn="l" indent="0" marL="0">
              <a:buNone/>
            </a:pPr>
            <a:r>
              <a:rPr lang="en-US" sz="3000" b="1" dirty="0">
                <a:solidFill>
                  <a:srgbClr val="D7263D"/>
                </a:solidFill>
                <a:latin typeface="Cambria" pitchFamily="34" charset="0"/>
                <a:ea typeface="Cambria" pitchFamily="34" charset="-122"/>
                <a:cs typeface="Cambria" pitchFamily="34" charset="-120"/>
              </a:rPr>
              <a:t>06</a:t>
            </a:r>
            <a:endParaRPr lang="en-US" sz="3000" dirty="0"/>
          </a:p>
        </p:txBody>
      </p:sp>
      <p:sp>
        <p:nvSpPr>
          <p:cNvPr id="27" name="Text 25"/>
          <p:cNvSpPr txBox="1"/>
          <p:nvPr/>
        </p:nvSpPr>
        <p:spPr>
          <a:xfrm>
            <a:off x="7440016" y="4992624"/>
            <a:ext cx="3910432" cy="384048"/>
          </a:xfrm>
          <a:prstGeom prst="rect">
            <a:avLst/>
          </a:prstGeom>
          <a:noFill/>
          <a:ln/>
        </p:spPr>
        <p:txBody>
          <a:bodyPr wrap="square" lIns="0" tIns="0" rIns="0" bIns="0" rtlCol="0" anchor="ctr"/>
          <a:lstStyle/>
          <a:p>
            <a:pPr algn="l" indent="0" marL="0">
              <a:buNone/>
            </a:pPr>
            <a:r>
              <a:rPr lang="en-US" sz="1700" b="1" dirty="0">
                <a:solidFill>
                  <a:srgbClr val="0B1B2E"/>
                </a:solidFill>
                <a:latin typeface="Arial" pitchFamily="34" charset="0"/>
                <a:ea typeface="Arial" pitchFamily="34" charset="-122"/>
                <a:cs typeface="Arial" pitchFamily="34" charset="-120"/>
              </a:rPr>
              <a:t>Risks and next steps</a:t>
            </a:r>
            <a:endParaRPr lang="en-US" sz="1700" dirty="0"/>
          </a:p>
        </p:txBody>
      </p:sp>
      <p:sp>
        <p:nvSpPr>
          <p:cNvPr id="28" name="Text 26"/>
          <p:cNvSpPr txBox="1"/>
          <p:nvPr/>
        </p:nvSpPr>
        <p:spPr>
          <a:xfrm>
            <a:off x="7440016" y="5394960"/>
            <a:ext cx="3910432" cy="566928"/>
          </a:xfrm>
          <a:prstGeom prst="rect">
            <a:avLst/>
          </a:prstGeom>
          <a:noFill/>
          <a:ln/>
        </p:spPr>
        <p:txBody>
          <a:bodyPr wrap="square" lIns="0" tIns="0" rIns="0" bIns="0" rtlCol="0" anchor="t"/>
          <a:lstStyle/>
          <a:p>
            <a:pPr algn="l" indent="0" marL="0">
              <a:buNone/>
            </a:pPr>
            <a:r>
              <a:rPr lang="en-US" sz="1200" dirty="0">
                <a:solidFill>
                  <a:srgbClr val="5B6B7E"/>
                </a:solidFill>
                <a:latin typeface="Arial" pitchFamily="34" charset="0"/>
                <a:ea typeface="Arial" pitchFamily="34" charset="-122"/>
                <a:cs typeface="Arial" pitchFamily="34" charset="-120"/>
              </a:rPr>
              <a:t>What moves the FY2027 budget, the workplan, and the decisions we need</a:t>
            </a:r>
            <a:endParaRPr lang="en-US" sz="1200" dirty="0"/>
          </a:p>
        </p:txBody>
      </p:sp>
      <p:sp>
        <p:nvSpPr>
          <p:cNvPr id="29"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About thirty minutes on sections 01 to 06. Account, service and cost-centre detail is in the appendix, held for questions.</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div-num"/>
          <p:cNvSpPr txBox="1"/>
          <p:nvPr/>
        </p:nvSpPr>
        <p:spPr>
          <a:xfrm>
            <a:off x="566928" y="1828800"/>
            <a:ext cx="2011680" cy="1371600"/>
          </a:xfrm>
          <a:prstGeom prst="rect">
            <a:avLst/>
          </a:prstGeom>
          <a:noFill/>
          <a:ln/>
        </p:spPr>
        <p:txBody>
          <a:bodyPr wrap="square" lIns="0" tIns="0" rIns="0" bIns="0" rtlCol="0" anchor="ctr"/>
          <a:lstStyle/>
          <a:p>
            <a:pPr algn="l" indent="0" marL="0">
              <a:buNone/>
            </a:pPr>
            <a:r>
              <a:rPr lang="en-US" sz="9600" b="1" dirty="0">
                <a:solidFill>
                  <a:srgbClr val="0F7DC2"/>
                </a:solidFill>
                <a:latin typeface="Cambria" pitchFamily="34" charset="0"/>
                <a:ea typeface="Cambria" pitchFamily="34" charset="-122"/>
                <a:cs typeface="Cambria" pitchFamily="34" charset="-120"/>
              </a:rPr>
              <a:t>01</a:t>
            </a:r>
            <a:endParaRPr lang="en-US" sz="9600" dirty="0"/>
          </a:p>
        </p:txBody>
      </p:sp>
      <p:sp>
        <p:nvSpPr>
          <p:cNvPr id="3" name="div-title"/>
          <p:cNvSpPr txBox="1"/>
          <p:nvPr/>
        </p:nvSpPr>
        <p:spPr>
          <a:xfrm>
            <a:off x="566928" y="3200400"/>
            <a:ext cx="8961120" cy="877824"/>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Where the money goes</a:t>
            </a:r>
            <a:endParaRPr lang="en-US" sz="4000" dirty="0"/>
          </a:p>
        </p:txBody>
      </p:sp>
      <p:sp>
        <p:nvSpPr>
          <p:cNvPr id="4" name="div-body"/>
          <p:cNvSpPr txBox="1"/>
          <p:nvPr/>
        </p:nvSpPr>
        <p:spPr>
          <a:xfrm>
            <a:off x="566928" y="4169664"/>
            <a:ext cx="7498080" cy="868680"/>
          </a:xfrm>
          <a:prstGeom prst="rect">
            <a:avLst/>
          </a:prstGeom>
          <a:noFill/>
          <a:ln/>
        </p:spPr>
        <p:txBody>
          <a:bodyPr wrap="square" lIns="0" tIns="0" rIns="0" bIns="0" rtlCol="0" anchor="t"/>
          <a:lstStyle/>
          <a:p>
            <a:pPr algn="l" indent="0" marL="0">
              <a:buNone/>
            </a:pPr>
            <a:r>
              <a:rPr lang="en-US" sz="1500" dirty="0">
                <a:solidFill>
                  <a:srgbClr val="9FB3C8"/>
                </a:solidFill>
                <a:latin typeface="Arial" pitchFamily="34" charset="0"/>
                <a:ea typeface="Arial" pitchFamily="34" charset="-122"/>
                <a:cs typeface="Arial" pitchFamily="34" charset="-120"/>
              </a:rPr>
              <a:t>Total spend, the monthly run-rate, and the split between what we consume and what we commit to in advance.</a:t>
            </a:r>
            <a:endParaRPr lang="en-US" sz="15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0A878"/>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TOTAL CLOUD SPEND</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Harel spent $4.67M on cloud in the first nine months of FY2026</a:t>
            </a:r>
            <a:endParaRPr lang="en-US" sz="2800" dirty="0"/>
          </a:p>
        </p:txBody>
      </p:sp>
      <p:sp>
        <p:nvSpPr>
          <p:cNvPr id="5" name="stat-card-Amazon Web Ser"/>
          <p:cNvSpPr/>
          <p:nvPr/>
        </p:nvSpPr>
        <p:spPr>
          <a:xfrm>
            <a:off x="566928" y="1572768"/>
            <a:ext cx="3533546" cy="1481328"/>
          </a:xfrm>
          <a:prstGeom prst="roundRect">
            <a:avLst>
              <a:gd name="adj" fmla="val 3704"/>
            </a:avLst>
          </a:prstGeom>
          <a:solidFill>
            <a:srgbClr val="EEF2F7"/>
          </a:solidFill>
          <a:ln/>
        </p:spPr>
      </p:sp>
      <p:sp>
        <p:nvSpPr>
          <p:cNvPr id="6" name="stat-dot"/>
          <p:cNvSpPr/>
          <p:nvPr/>
        </p:nvSpPr>
        <p:spPr>
          <a:xfrm>
            <a:off x="804672" y="1847088"/>
            <a:ext cx="91440" cy="91440"/>
          </a:xfrm>
          <a:prstGeom prst="ellipse">
            <a:avLst/>
          </a:prstGeom>
          <a:solidFill>
            <a:srgbClr val="F2A900"/>
          </a:solidFill>
          <a:ln/>
        </p:spPr>
      </p:sp>
      <p:sp>
        <p:nvSpPr>
          <p:cNvPr id="7" name="Text 5"/>
          <p:cNvSpPr txBox="1"/>
          <p:nvPr/>
        </p:nvSpPr>
        <p:spPr>
          <a:xfrm>
            <a:off x="987552" y="1746504"/>
            <a:ext cx="2893466"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AMAZON WEB SERVICES</a:t>
            </a:r>
            <a:endParaRPr lang="en-US" sz="1000" dirty="0"/>
          </a:p>
        </p:txBody>
      </p:sp>
      <p:sp>
        <p:nvSpPr>
          <p:cNvPr id="8" name="Text 6"/>
          <p:cNvSpPr txBox="1"/>
          <p:nvPr/>
        </p:nvSpPr>
        <p:spPr>
          <a:xfrm>
            <a:off x="804672" y="2029968"/>
            <a:ext cx="3076346" cy="603504"/>
          </a:xfrm>
          <a:prstGeom prst="rect">
            <a:avLst/>
          </a:prstGeom>
          <a:noFill/>
          <a:ln/>
        </p:spPr>
        <p:txBody>
          <a:bodyPr wrap="square" lIns="0" tIns="0" rIns="0" bIns="0" rtlCol="0" anchor="ctr"/>
          <a:lstStyle/>
          <a:p>
            <a:pPr algn="l" indent="0" marL="0">
              <a:buNone/>
            </a:pPr>
            <a:r>
              <a:rPr lang="en-US" sz="3400" b="1" dirty="0">
                <a:solidFill>
                  <a:srgbClr val="0B1B2E"/>
                </a:solidFill>
                <a:latin typeface="Arial" pitchFamily="34" charset="0"/>
                <a:ea typeface="Arial" pitchFamily="34" charset="-122"/>
                <a:cs typeface="Arial" pitchFamily="34" charset="-120"/>
              </a:rPr>
              <a:t>$2.61M</a:t>
            </a:r>
            <a:endParaRPr lang="en-US" sz="3400" dirty="0"/>
          </a:p>
        </p:txBody>
      </p:sp>
      <p:sp>
        <p:nvSpPr>
          <p:cNvPr id="9" name="Text 7"/>
          <p:cNvSpPr txBox="1"/>
          <p:nvPr/>
        </p:nvSpPr>
        <p:spPr>
          <a:xfrm>
            <a:off x="804672" y="2615184"/>
            <a:ext cx="3076346" cy="36576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Consumption $792K  ·  Marketplace $1.82M</a:t>
            </a:r>
            <a:endParaRPr lang="en-US" sz="1100" dirty="0"/>
          </a:p>
        </p:txBody>
      </p:sp>
      <p:sp>
        <p:nvSpPr>
          <p:cNvPr id="10" name="stat-card-Microsoft Azur"/>
          <p:cNvSpPr/>
          <p:nvPr/>
        </p:nvSpPr>
        <p:spPr>
          <a:xfrm>
            <a:off x="4329074" y="1572768"/>
            <a:ext cx="3533546" cy="1481328"/>
          </a:xfrm>
          <a:prstGeom prst="roundRect">
            <a:avLst>
              <a:gd name="adj" fmla="val 3704"/>
            </a:avLst>
          </a:prstGeom>
          <a:solidFill>
            <a:srgbClr val="EEF2F7"/>
          </a:solidFill>
          <a:ln/>
        </p:spPr>
      </p:sp>
      <p:sp>
        <p:nvSpPr>
          <p:cNvPr id="11" name="stat-dot"/>
          <p:cNvSpPr/>
          <p:nvPr/>
        </p:nvSpPr>
        <p:spPr>
          <a:xfrm>
            <a:off x="4566818" y="1847088"/>
            <a:ext cx="91440" cy="91440"/>
          </a:xfrm>
          <a:prstGeom prst="ellipse">
            <a:avLst/>
          </a:prstGeom>
          <a:solidFill>
            <a:srgbClr val="0F7DC2"/>
          </a:solidFill>
          <a:ln/>
        </p:spPr>
      </p:sp>
      <p:sp>
        <p:nvSpPr>
          <p:cNvPr id="12" name="Text 10"/>
          <p:cNvSpPr txBox="1"/>
          <p:nvPr/>
        </p:nvSpPr>
        <p:spPr>
          <a:xfrm>
            <a:off x="4749698" y="1746504"/>
            <a:ext cx="2893466"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MICROSOFT AZURE</a:t>
            </a:r>
            <a:endParaRPr lang="en-US" sz="1000" dirty="0"/>
          </a:p>
        </p:txBody>
      </p:sp>
      <p:sp>
        <p:nvSpPr>
          <p:cNvPr id="13" name="Text 11"/>
          <p:cNvSpPr txBox="1"/>
          <p:nvPr/>
        </p:nvSpPr>
        <p:spPr>
          <a:xfrm>
            <a:off x="4566818" y="2029968"/>
            <a:ext cx="3076346" cy="603504"/>
          </a:xfrm>
          <a:prstGeom prst="rect">
            <a:avLst/>
          </a:prstGeom>
          <a:noFill/>
          <a:ln/>
        </p:spPr>
        <p:txBody>
          <a:bodyPr wrap="square" lIns="0" tIns="0" rIns="0" bIns="0" rtlCol="0" anchor="ctr"/>
          <a:lstStyle/>
          <a:p>
            <a:pPr algn="l" indent="0" marL="0">
              <a:buNone/>
            </a:pPr>
            <a:r>
              <a:rPr lang="en-US" sz="3400" b="1" dirty="0">
                <a:solidFill>
                  <a:srgbClr val="0B1B2E"/>
                </a:solidFill>
                <a:latin typeface="Arial" pitchFamily="34" charset="0"/>
                <a:ea typeface="Arial" pitchFamily="34" charset="-122"/>
                <a:cs typeface="Arial" pitchFamily="34" charset="-120"/>
              </a:rPr>
              <a:t>$2.05M</a:t>
            </a:r>
            <a:endParaRPr lang="en-US" sz="3400" dirty="0"/>
          </a:p>
        </p:txBody>
      </p:sp>
      <p:sp>
        <p:nvSpPr>
          <p:cNvPr id="14" name="Text 12"/>
          <p:cNvSpPr txBox="1"/>
          <p:nvPr/>
        </p:nvSpPr>
        <p:spPr>
          <a:xfrm>
            <a:off x="4566818" y="2615184"/>
            <a:ext cx="3076346" cy="36576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Consumption $1.51M  ·  Marketplace $542K</a:t>
            </a:r>
            <a:endParaRPr lang="en-US" sz="1100" dirty="0"/>
          </a:p>
        </p:txBody>
      </p:sp>
      <p:sp>
        <p:nvSpPr>
          <p:cNvPr id="15" name="stat-card-Google Cloud"/>
          <p:cNvSpPr/>
          <p:nvPr/>
        </p:nvSpPr>
        <p:spPr>
          <a:xfrm>
            <a:off x="8091221" y="1572768"/>
            <a:ext cx="3533546" cy="1481328"/>
          </a:xfrm>
          <a:prstGeom prst="roundRect">
            <a:avLst>
              <a:gd name="adj" fmla="val 3704"/>
            </a:avLst>
          </a:prstGeom>
          <a:solidFill>
            <a:srgbClr val="EEF2F7"/>
          </a:solidFill>
          <a:ln/>
        </p:spPr>
      </p:sp>
      <p:sp>
        <p:nvSpPr>
          <p:cNvPr id="16" name="stat-dot"/>
          <p:cNvSpPr/>
          <p:nvPr/>
        </p:nvSpPr>
        <p:spPr>
          <a:xfrm>
            <a:off x="8328965" y="1847088"/>
            <a:ext cx="91440" cy="91440"/>
          </a:xfrm>
          <a:prstGeom prst="ellipse">
            <a:avLst/>
          </a:prstGeom>
          <a:solidFill>
            <a:srgbClr val="00A878"/>
          </a:solidFill>
          <a:ln/>
        </p:spPr>
      </p:sp>
      <p:sp>
        <p:nvSpPr>
          <p:cNvPr id="17" name="Text 15"/>
          <p:cNvSpPr txBox="1"/>
          <p:nvPr/>
        </p:nvSpPr>
        <p:spPr>
          <a:xfrm>
            <a:off x="8511845" y="1746504"/>
            <a:ext cx="2893466"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GOOGLE CLOUD</a:t>
            </a:r>
            <a:endParaRPr lang="en-US" sz="1000" dirty="0"/>
          </a:p>
        </p:txBody>
      </p:sp>
      <p:sp>
        <p:nvSpPr>
          <p:cNvPr id="18" name="Text 16"/>
          <p:cNvSpPr txBox="1"/>
          <p:nvPr/>
        </p:nvSpPr>
        <p:spPr>
          <a:xfrm>
            <a:off x="8328965" y="2029968"/>
            <a:ext cx="3076346" cy="603504"/>
          </a:xfrm>
          <a:prstGeom prst="rect">
            <a:avLst/>
          </a:prstGeom>
          <a:noFill/>
          <a:ln/>
        </p:spPr>
        <p:txBody>
          <a:bodyPr wrap="square" lIns="0" tIns="0" rIns="0" bIns="0" rtlCol="0" anchor="ctr"/>
          <a:lstStyle/>
          <a:p>
            <a:pPr algn="l" indent="0" marL="0">
              <a:buNone/>
            </a:pPr>
            <a:r>
              <a:rPr lang="en-US" sz="3400" b="1" dirty="0">
                <a:solidFill>
                  <a:srgbClr val="0B1B2E"/>
                </a:solidFill>
                <a:latin typeface="Arial" pitchFamily="34" charset="0"/>
                <a:ea typeface="Arial" pitchFamily="34" charset="-122"/>
                <a:cs typeface="Arial" pitchFamily="34" charset="-120"/>
              </a:rPr>
              <a:t>$14K</a:t>
            </a:r>
            <a:endParaRPr lang="en-US" sz="3400" dirty="0"/>
          </a:p>
        </p:txBody>
      </p:sp>
      <p:sp>
        <p:nvSpPr>
          <p:cNvPr id="19" name="Text 17"/>
          <p:cNvSpPr txBox="1"/>
          <p:nvPr/>
        </p:nvSpPr>
        <p:spPr>
          <a:xfrm>
            <a:off x="8328965" y="2615184"/>
            <a:ext cx="3076346" cy="36576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Started March 2026  ·  Vertex AI pilot</a:t>
            </a:r>
            <a:endParaRPr lang="en-US" sz="1100" dirty="0"/>
          </a:p>
        </p:txBody>
      </p:sp>
      <p:sp>
        <p:nvSpPr>
          <p:cNvPr id="20" name="strip"/>
          <p:cNvSpPr/>
          <p:nvPr/>
        </p:nvSpPr>
        <p:spPr>
          <a:xfrm>
            <a:off x="566928" y="3236976"/>
            <a:ext cx="6675120" cy="566928"/>
          </a:xfrm>
          <a:prstGeom prst="roundRect">
            <a:avLst>
              <a:gd name="adj" fmla="val 9677"/>
            </a:avLst>
          </a:prstGeom>
          <a:solidFill>
            <a:srgbClr val="EEF2F7"/>
          </a:solidFill>
          <a:ln/>
        </p:spPr>
      </p:sp>
      <p:sp>
        <p:nvSpPr>
          <p:cNvPr id="21" name="Text 19"/>
          <p:cNvSpPr txBox="1"/>
          <p:nvPr/>
        </p:nvSpPr>
        <p:spPr>
          <a:xfrm>
            <a:off x="566928" y="3282696"/>
            <a:ext cx="74168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Jan</a:t>
            </a:r>
            <a:endParaRPr lang="en-US" sz="950" dirty="0"/>
          </a:p>
        </p:txBody>
      </p:sp>
      <p:sp>
        <p:nvSpPr>
          <p:cNvPr id="22" name="Text 20"/>
          <p:cNvSpPr txBox="1"/>
          <p:nvPr/>
        </p:nvSpPr>
        <p:spPr>
          <a:xfrm>
            <a:off x="566928" y="3493008"/>
            <a:ext cx="741680" cy="256032"/>
          </a:xfrm>
          <a:prstGeom prst="rect">
            <a:avLst/>
          </a:prstGeom>
          <a:noFill/>
          <a:ln/>
        </p:spPr>
        <p:txBody>
          <a:bodyPr wrap="square" lIns="0" tIns="0" rIns="0" bIns="0" rtlCol="0" anchor="ctr"/>
          <a:lstStyle/>
          <a:p>
            <a:pPr algn="ctr" indent="0" marL="0">
              <a:buNone/>
            </a:pPr>
            <a:r>
              <a:rPr lang="en-US" sz="1000" b="1" dirty="0">
                <a:solidFill>
                  <a:srgbClr val="41546B"/>
                </a:solidFill>
                <a:latin typeface="Arial" pitchFamily="34" charset="0"/>
                <a:ea typeface="Arial" pitchFamily="34" charset="-122"/>
                <a:cs typeface="Arial" pitchFamily="34" charset="-120"/>
              </a:rPr>
              <a:t>$234K</a:t>
            </a:r>
            <a:endParaRPr lang="en-US" sz="1000" dirty="0"/>
          </a:p>
        </p:txBody>
      </p:sp>
      <p:sp>
        <p:nvSpPr>
          <p:cNvPr id="23" name="Text 21"/>
          <p:cNvSpPr txBox="1"/>
          <p:nvPr/>
        </p:nvSpPr>
        <p:spPr>
          <a:xfrm>
            <a:off x="1308608" y="3282696"/>
            <a:ext cx="74168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Feb</a:t>
            </a:r>
            <a:endParaRPr lang="en-US" sz="950" dirty="0"/>
          </a:p>
        </p:txBody>
      </p:sp>
      <p:sp>
        <p:nvSpPr>
          <p:cNvPr id="24" name="Text 22"/>
          <p:cNvSpPr txBox="1"/>
          <p:nvPr/>
        </p:nvSpPr>
        <p:spPr>
          <a:xfrm>
            <a:off x="1308608" y="3493008"/>
            <a:ext cx="741680" cy="256032"/>
          </a:xfrm>
          <a:prstGeom prst="rect">
            <a:avLst/>
          </a:prstGeom>
          <a:noFill/>
          <a:ln/>
        </p:spPr>
        <p:txBody>
          <a:bodyPr wrap="square" lIns="0" tIns="0" rIns="0" bIns="0" rtlCol="0" anchor="ctr"/>
          <a:lstStyle/>
          <a:p>
            <a:pPr algn="ctr" indent="0" marL="0">
              <a:buNone/>
            </a:pPr>
            <a:r>
              <a:rPr lang="en-US" sz="1000" b="1" dirty="0">
                <a:solidFill>
                  <a:srgbClr val="41546B"/>
                </a:solidFill>
                <a:latin typeface="Arial" pitchFamily="34" charset="0"/>
                <a:ea typeface="Arial" pitchFamily="34" charset="-122"/>
                <a:cs typeface="Arial" pitchFamily="34" charset="-120"/>
              </a:rPr>
              <a:t>$218K</a:t>
            </a:r>
            <a:endParaRPr lang="en-US" sz="1000" dirty="0"/>
          </a:p>
        </p:txBody>
      </p:sp>
      <p:sp>
        <p:nvSpPr>
          <p:cNvPr id="25" name="Text 23"/>
          <p:cNvSpPr txBox="1"/>
          <p:nvPr/>
        </p:nvSpPr>
        <p:spPr>
          <a:xfrm>
            <a:off x="2050288" y="3282696"/>
            <a:ext cx="74168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Mar</a:t>
            </a:r>
            <a:endParaRPr lang="en-US" sz="950" dirty="0"/>
          </a:p>
        </p:txBody>
      </p:sp>
      <p:sp>
        <p:nvSpPr>
          <p:cNvPr id="26" name="Text 24"/>
          <p:cNvSpPr txBox="1"/>
          <p:nvPr/>
        </p:nvSpPr>
        <p:spPr>
          <a:xfrm>
            <a:off x="2050288" y="3493008"/>
            <a:ext cx="741680" cy="256032"/>
          </a:xfrm>
          <a:prstGeom prst="rect">
            <a:avLst/>
          </a:prstGeom>
          <a:noFill/>
          <a:ln/>
        </p:spPr>
        <p:txBody>
          <a:bodyPr wrap="square" lIns="0" tIns="0" rIns="0" bIns="0" rtlCol="0" anchor="ctr"/>
          <a:lstStyle/>
          <a:p>
            <a:pPr algn="ctr" indent="0" marL="0">
              <a:buNone/>
            </a:pPr>
            <a:r>
              <a:rPr lang="en-US" sz="1000" b="1" dirty="0">
                <a:solidFill>
                  <a:srgbClr val="41546B"/>
                </a:solidFill>
                <a:latin typeface="Arial" pitchFamily="34" charset="0"/>
                <a:ea typeface="Arial" pitchFamily="34" charset="-122"/>
                <a:cs typeface="Arial" pitchFamily="34" charset="-120"/>
              </a:rPr>
              <a:t>$261K</a:t>
            </a:r>
            <a:endParaRPr lang="en-US" sz="1000" dirty="0"/>
          </a:p>
        </p:txBody>
      </p:sp>
      <p:sp>
        <p:nvSpPr>
          <p:cNvPr id="27" name="Text 25"/>
          <p:cNvSpPr txBox="1"/>
          <p:nvPr/>
        </p:nvSpPr>
        <p:spPr>
          <a:xfrm>
            <a:off x="2791968" y="3282696"/>
            <a:ext cx="74168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Apr</a:t>
            </a:r>
            <a:endParaRPr lang="en-US" sz="950" dirty="0"/>
          </a:p>
        </p:txBody>
      </p:sp>
      <p:sp>
        <p:nvSpPr>
          <p:cNvPr id="28" name="Text 26"/>
          <p:cNvSpPr txBox="1"/>
          <p:nvPr/>
        </p:nvSpPr>
        <p:spPr>
          <a:xfrm>
            <a:off x="2791968" y="3493008"/>
            <a:ext cx="741680" cy="256032"/>
          </a:xfrm>
          <a:prstGeom prst="rect">
            <a:avLst/>
          </a:prstGeom>
          <a:noFill/>
          <a:ln/>
        </p:spPr>
        <p:txBody>
          <a:bodyPr wrap="square" lIns="0" tIns="0" rIns="0" bIns="0" rtlCol="0" anchor="ctr"/>
          <a:lstStyle/>
          <a:p>
            <a:pPr algn="ctr" indent="0" marL="0">
              <a:buNone/>
            </a:pPr>
            <a:r>
              <a:rPr lang="en-US" sz="1000" b="1" dirty="0">
                <a:solidFill>
                  <a:srgbClr val="41546B"/>
                </a:solidFill>
                <a:latin typeface="Arial" pitchFamily="34" charset="0"/>
                <a:ea typeface="Arial" pitchFamily="34" charset="-122"/>
                <a:cs typeface="Arial" pitchFamily="34" charset="-120"/>
              </a:rPr>
              <a:t>$235K</a:t>
            </a:r>
            <a:endParaRPr lang="en-US" sz="1000" dirty="0"/>
          </a:p>
        </p:txBody>
      </p:sp>
      <p:sp>
        <p:nvSpPr>
          <p:cNvPr id="29" name="Text 27"/>
          <p:cNvSpPr txBox="1"/>
          <p:nvPr/>
        </p:nvSpPr>
        <p:spPr>
          <a:xfrm>
            <a:off x="3533648" y="3282696"/>
            <a:ext cx="74168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May</a:t>
            </a:r>
            <a:endParaRPr lang="en-US" sz="950" dirty="0"/>
          </a:p>
        </p:txBody>
      </p:sp>
      <p:sp>
        <p:nvSpPr>
          <p:cNvPr id="30" name="Text 28"/>
          <p:cNvSpPr txBox="1"/>
          <p:nvPr/>
        </p:nvSpPr>
        <p:spPr>
          <a:xfrm>
            <a:off x="3533648" y="3493008"/>
            <a:ext cx="741680" cy="256032"/>
          </a:xfrm>
          <a:prstGeom prst="rect">
            <a:avLst/>
          </a:prstGeom>
          <a:noFill/>
          <a:ln/>
        </p:spPr>
        <p:txBody>
          <a:bodyPr wrap="square" lIns="0" tIns="0" rIns="0" bIns="0" rtlCol="0" anchor="ctr"/>
          <a:lstStyle/>
          <a:p>
            <a:pPr algn="ctr" indent="0" marL="0">
              <a:buNone/>
            </a:pPr>
            <a:r>
              <a:rPr lang="en-US" sz="1000" b="1" dirty="0">
                <a:solidFill>
                  <a:srgbClr val="41546B"/>
                </a:solidFill>
                <a:latin typeface="Arial" pitchFamily="34" charset="0"/>
                <a:ea typeface="Arial" pitchFamily="34" charset="-122"/>
                <a:cs typeface="Arial" pitchFamily="34" charset="-120"/>
              </a:rPr>
              <a:t>$237K</a:t>
            </a:r>
            <a:endParaRPr lang="en-US" sz="1000" dirty="0"/>
          </a:p>
        </p:txBody>
      </p:sp>
      <p:sp>
        <p:nvSpPr>
          <p:cNvPr id="31" name="Text 29"/>
          <p:cNvSpPr txBox="1"/>
          <p:nvPr/>
        </p:nvSpPr>
        <p:spPr>
          <a:xfrm>
            <a:off x="4275328" y="3282696"/>
            <a:ext cx="74168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Jun</a:t>
            </a:r>
            <a:endParaRPr lang="en-US" sz="950" dirty="0"/>
          </a:p>
        </p:txBody>
      </p:sp>
      <p:sp>
        <p:nvSpPr>
          <p:cNvPr id="32" name="Text 30"/>
          <p:cNvSpPr txBox="1"/>
          <p:nvPr/>
        </p:nvSpPr>
        <p:spPr>
          <a:xfrm>
            <a:off x="4275328" y="3493008"/>
            <a:ext cx="741680" cy="256032"/>
          </a:xfrm>
          <a:prstGeom prst="rect">
            <a:avLst/>
          </a:prstGeom>
          <a:noFill/>
          <a:ln/>
        </p:spPr>
        <p:txBody>
          <a:bodyPr wrap="square" lIns="0" tIns="0" rIns="0" bIns="0" rtlCol="0" anchor="ctr"/>
          <a:lstStyle/>
          <a:p>
            <a:pPr algn="ctr" indent="0" marL="0">
              <a:buNone/>
            </a:pPr>
            <a:r>
              <a:rPr lang="en-US" sz="1000" b="1" dirty="0">
                <a:solidFill>
                  <a:srgbClr val="41546B"/>
                </a:solidFill>
                <a:latin typeface="Arial" pitchFamily="34" charset="0"/>
                <a:ea typeface="Arial" pitchFamily="34" charset="-122"/>
                <a:cs typeface="Arial" pitchFamily="34" charset="-120"/>
              </a:rPr>
              <a:t>$256K</a:t>
            </a:r>
            <a:endParaRPr lang="en-US" sz="1000" dirty="0"/>
          </a:p>
        </p:txBody>
      </p:sp>
      <p:sp>
        <p:nvSpPr>
          <p:cNvPr id="33" name="Text 31"/>
          <p:cNvSpPr txBox="1"/>
          <p:nvPr/>
        </p:nvSpPr>
        <p:spPr>
          <a:xfrm>
            <a:off x="5017008" y="3282696"/>
            <a:ext cx="74168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Jul</a:t>
            </a:r>
            <a:endParaRPr lang="en-US" sz="950" dirty="0"/>
          </a:p>
        </p:txBody>
      </p:sp>
      <p:sp>
        <p:nvSpPr>
          <p:cNvPr id="34" name="Text 32"/>
          <p:cNvSpPr txBox="1"/>
          <p:nvPr/>
        </p:nvSpPr>
        <p:spPr>
          <a:xfrm>
            <a:off x="5017008" y="3493008"/>
            <a:ext cx="741680" cy="256032"/>
          </a:xfrm>
          <a:prstGeom prst="rect">
            <a:avLst/>
          </a:prstGeom>
          <a:noFill/>
          <a:ln/>
        </p:spPr>
        <p:txBody>
          <a:bodyPr wrap="square" lIns="0" tIns="0" rIns="0" bIns="0" rtlCol="0" anchor="ctr"/>
          <a:lstStyle/>
          <a:p>
            <a:pPr algn="ctr" indent="0" marL="0">
              <a:buNone/>
            </a:pPr>
            <a:r>
              <a:rPr lang="en-US" sz="1000" b="1" dirty="0">
                <a:solidFill>
                  <a:srgbClr val="41546B"/>
                </a:solidFill>
                <a:latin typeface="Arial" pitchFamily="34" charset="0"/>
                <a:ea typeface="Arial" pitchFamily="34" charset="-122"/>
                <a:cs typeface="Arial" pitchFamily="34" charset="-120"/>
              </a:rPr>
              <a:t>$267K</a:t>
            </a:r>
            <a:endParaRPr lang="en-US" sz="1000" dirty="0"/>
          </a:p>
        </p:txBody>
      </p:sp>
      <p:sp>
        <p:nvSpPr>
          <p:cNvPr id="35" name="Text 33"/>
          <p:cNvSpPr txBox="1"/>
          <p:nvPr/>
        </p:nvSpPr>
        <p:spPr>
          <a:xfrm>
            <a:off x="5758688" y="3282696"/>
            <a:ext cx="74168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Aug</a:t>
            </a:r>
            <a:endParaRPr lang="en-US" sz="950" dirty="0"/>
          </a:p>
        </p:txBody>
      </p:sp>
      <p:sp>
        <p:nvSpPr>
          <p:cNvPr id="36" name="Text 34"/>
          <p:cNvSpPr txBox="1"/>
          <p:nvPr/>
        </p:nvSpPr>
        <p:spPr>
          <a:xfrm>
            <a:off x="5758688" y="3493008"/>
            <a:ext cx="741680" cy="256032"/>
          </a:xfrm>
          <a:prstGeom prst="rect">
            <a:avLst/>
          </a:prstGeom>
          <a:noFill/>
          <a:ln/>
        </p:spPr>
        <p:txBody>
          <a:bodyPr wrap="square" lIns="0" tIns="0" rIns="0" bIns="0" rtlCol="0" anchor="ctr"/>
          <a:lstStyle/>
          <a:p>
            <a:pPr algn="ctr" indent="0" marL="0">
              <a:buNone/>
            </a:pPr>
            <a:r>
              <a:rPr lang="en-US" sz="1000" b="1" dirty="0">
                <a:solidFill>
                  <a:srgbClr val="41546B"/>
                </a:solidFill>
                <a:latin typeface="Arial" pitchFamily="34" charset="0"/>
                <a:ea typeface="Arial" pitchFamily="34" charset="-122"/>
                <a:cs typeface="Arial" pitchFamily="34" charset="-120"/>
              </a:rPr>
              <a:t>$301K</a:t>
            </a:r>
            <a:endParaRPr lang="en-US" sz="1000" dirty="0"/>
          </a:p>
        </p:txBody>
      </p:sp>
      <p:sp>
        <p:nvSpPr>
          <p:cNvPr id="37" name="Text 35"/>
          <p:cNvSpPr txBox="1"/>
          <p:nvPr/>
        </p:nvSpPr>
        <p:spPr>
          <a:xfrm>
            <a:off x="6500368" y="3282696"/>
            <a:ext cx="74168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Sep</a:t>
            </a:r>
            <a:endParaRPr lang="en-US" sz="950" dirty="0"/>
          </a:p>
        </p:txBody>
      </p:sp>
      <p:sp>
        <p:nvSpPr>
          <p:cNvPr id="38" name="Text 36"/>
          <p:cNvSpPr txBox="1"/>
          <p:nvPr/>
        </p:nvSpPr>
        <p:spPr>
          <a:xfrm>
            <a:off x="6500368" y="3493008"/>
            <a:ext cx="741680" cy="256032"/>
          </a:xfrm>
          <a:prstGeom prst="rect">
            <a:avLst/>
          </a:prstGeom>
          <a:noFill/>
          <a:ln/>
        </p:spPr>
        <p:txBody>
          <a:bodyPr wrap="square" lIns="0" tIns="0" rIns="0" bIns="0" rtlCol="0" anchor="ctr"/>
          <a:lstStyle/>
          <a:p>
            <a:pPr algn="ctr" indent="0" marL="0">
              <a:buNone/>
            </a:pPr>
            <a:r>
              <a:rPr lang="en-US" sz="1000" b="1" dirty="0">
                <a:solidFill>
                  <a:srgbClr val="0B1B2E"/>
                </a:solidFill>
                <a:latin typeface="Arial" pitchFamily="34" charset="0"/>
                <a:ea typeface="Arial" pitchFamily="34" charset="-122"/>
                <a:cs typeface="Arial" pitchFamily="34" charset="-120"/>
              </a:rPr>
              <a:t>$301K</a:t>
            </a:r>
            <a:endParaRPr lang="en-US" sz="1000" dirty="0"/>
          </a:p>
        </p:txBody>
      </p:sp>
      <p:graphicFrame>
        <p:nvGraphicFramePr>
          <p:cNvPr id="39" name="Chart 0" descr=""/>
          <p:cNvGraphicFramePr/>
          <p:nvPr/>
        </p:nvGraphicFramePr>
        <p:xfrm>
          <a:off x="457200" y="3968496"/>
          <a:ext cx="6858000" cy="1975104"/>
        </p:xfrm>
        <a:graphic xmlns:a="http://schemas.openxmlformats.org/drawingml/2006/main">
          <a:graphicData uri="http://schemas.openxmlformats.org/drawingml/2006/chart">
            <c:chart xmlns:c="http://schemas.openxmlformats.org/drawingml/2006/chart" r:id="rId1"/>
          </a:graphicData>
        </a:graphic>
      </p:graphicFrame>
      <p:sp>
        <p:nvSpPr>
          <p:cNvPr id="40" name="panel"/>
          <p:cNvSpPr/>
          <p:nvPr/>
        </p:nvSpPr>
        <p:spPr>
          <a:xfrm>
            <a:off x="7699248" y="3310128"/>
            <a:ext cx="3922776" cy="2596896"/>
          </a:xfrm>
          <a:prstGeom prst="roundRect">
            <a:avLst>
              <a:gd name="adj" fmla="val 2113"/>
            </a:avLst>
          </a:prstGeom>
          <a:solidFill>
            <a:srgbClr val="EEF2F7"/>
          </a:solidFill>
          <a:ln/>
        </p:spPr>
      </p:sp>
      <p:sp>
        <p:nvSpPr>
          <p:cNvPr id="41" name="Text 38"/>
          <p:cNvSpPr txBox="1"/>
          <p:nvPr/>
        </p:nvSpPr>
        <p:spPr>
          <a:xfrm>
            <a:off x="7991856" y="3493008"/>
            <a:ext cx="3291840" cy="310896"/>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Two different kinds of spend</a:t>
            </a:r>
            <a:endParaRPr lang="en-US" sz="1300" dirty="0"/>
          </a:p>
        </p:txBody>
      </p:sp>
      <p:sp>
        <p:nvSpPr>
          <p:cNvPr id="42" name="read-dot-0"/>
          <p:cNvSpPr/>
          <p:nvPr/>
        </p:nvSpPr>
        <p:spPr>
          <a:xfrm>
            <a:off x="7991856" y="3931920"/>
            <a:ext cx="91440" cy="91440"/>
          </a:xfrm>
          <a:prstGeom prst="ellipse">
            <a:avLst/>
          </a:prstGeom>
          <a:solidFill>
            <a:srgbClr val="0F7DC2"/>
          </a:solidFill>
          <a:ln/>
        </p:spPr>
      </p:sp>
      <p:sp>
        <p:nvSpPr>
          <p:cNvPr id="43" name="Text 40"/>
          <p:cNvSpPr txBox="1"/>
          <p:nvPr/>
        </p:nvSpPr>
        <p:spPr>
          <a:xfrm>
            <a:off x="8174736" y="3840480"/>
            <a:ext cx="2926080" cy="256032"/>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Consumption  $2.31M</a:t>
            </a:r>
            <a:endParaRPr lang="en-US" sz="1200" dirty="0"/>
          </a:p>
        </p:txBody>
      </p:sp>
      <p:sp>
        <p:nvSpPr>
          <p:cNvPr id="44" name="Text 41"/>
          <p:cNvSpPr txBox="1"/>
          <p:nvPr/>
        </p:nvSpPr>
        <p:spPr>
          <a:xfrm>
            <a:off x="8174736" y="4096512"/>
            <a:ext cx="3017520" cy="530352"/>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Metered usage. This is the part we can tune month to month.</a:t>
            </a:r>
            <a:endParaRPr lang="en-US" sz="1100" dirty="0"/>
          </a:p>
        </p:txBody>
      </p:sp>
      <p:sp>
        <p:nvSpPr>
          <p:cNvPr id="45" name="read-dot-1"/>
          <p:cNvSpPr/>
          <p:nvPr/>
        </p:nvSpPr>
        <p:spPr>
          <a:xfrm>
            <a:off x="7991856" y="4645152"/>
            <a:ext cx="91440" cy="91440"/>
          </a:xfrm>
          <a:prstGeom prst="ellipse">
            <a:avLst/>
          </a:prstGeom>
          <a:solidFill>
            <a:srgbClr val="7C5CFF"/>
          </a:solidFill>
          <a:ln/>
        </p:spPr>
      </p:sp>
      <p:sp>
        <p:nvSpPr>
          <p:cNvPr id="46" name="Text 43"/>
          <p:cNvSpPr txBox="1"/>
          <p:nvPr/>
        </p:nvSpPr>
        <p:spPr>
          <a:xfrm>
            <a:off x="8174736" y="4553712"/>
            <a:ext cx="2926080" cy="256032"/>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Committed  $2.36M</a:t>
            </a:r>
            <a:endParaRPr lang="en-US" sz="1200" dirty="0"/>
          </a:p>
        </p:txBody>
      </p:sp>
      <p:sp>
        <p:nvSpPr>
          <p:cNvPr id="47" name="Text 44"/>
          <p:cNvSpPr txBox="1"/>
          <p:nvPr/>
        </p:nvSpPr>
        <p:spPr>
          <a:xfrm>
            <a:off x="8174736" y="4809744"/>
            <a:ext cx="3017520" cy="530352"/>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Marketplace and prepaid contracts, billed a few times a year.</a:t>
            </a:r>
            <a:endParaRPr lang="en-US" sz="1100" dirty="0"/>
          </a:p>
        </p:txBody>
      </p:sp>
      <p:sp>
        <p:nvSpPr>
          <p:cNvPr id="48" name="read-dot-2"/>
          <p:cNvSpPr/>
          <p:nvPr/>
        </p:nvSpPr>
        <p:spPr>
          <a:xfrm>
            <a:off x="7991856" y="5358384"/>
            <a:ext cx="91440" cy="91440"/>
          </a:xfrm>
          <a:prstGeom prst="ellipse">
            <a:avLst/>
          </a:prstGeom>
          <a:solidFill>
            <a:srgbClr val="F2A900"/>
          </a:solidFill>
          <a:ln/>
        </p:spPr>
      </p:sp>
      <p:sp>
        <p:nvSpPr>
          <p:cNvPr id="49" name="Text 46"/>
          <p:cNvSpPr txBox="1"/>
          <p:nvPr/>
        </p:nvSpPr>
        <p:spPr>
          <a:xfrm>
            <a:off x="8174736" y="5266944"/>
            <a:ext cx="2926080" cy="256032"/>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September was the peak</a:t>
            </a:r>
            <a:endParaRPr lang="en-US" sz="1200" dirty="0"/>
          </a:p>
        </p:txBody>
      </p:sp>
      <p:sp>
        <p:nvSpPr>
          <p:cNvPr id="50" name="Text 47"/>
          <p:cNvSpPr txBox="1"/>
          <p:nvPr/>
        </p:nvSpPr>
        <p:spPr>
          <a:xfrm>
            <a:off x="8174736" y="5522976"/>
            <a:ext cx="3017520" cy="530352"/>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At $301K it was the highest consumption month of the year.</a:t>
            </a:r>
            <a:endParaRPr lang="en-US" sz="1100" dirty="0"/>
          </a:p>
        </p:txBody>
      </p:sp>
      <p:sp>
        <p:nvSpPr>
          <p:cNvPr id="51"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Consumption excludes Marketplace charges. AWS is billed across two payer accounts.</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7C5CFF"/>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RUN-RATE</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AI is growing while the rest of the estate shrinks</a:t>
            </a:r>
            <a:endParaRPr lang="en-US" sz="2800" dirty="0"/>
          </a:p>
        </p:txBody>
      </p:sp>
      <p:graphicFrame>
        <p:nvGraphicFramePr>
          <p:cNvPr id="5" name="Chart 0" descr=""/>
          <p:cNvGraphicFramePr/>
          <p:nvPr/>
        </p:nvGraphicFramePr>
        <p:xfrm>
          <a:off x="457200" y="1517904"/>
          <a:ext cx="7406640" cy="4206240"/>
        </p:xfrm>
        <a:graphic xmlns:a="http://schemas.openxmlformats.org/drawingml/2006/main">
          <a:graphicData uri="http://schemas.openxmlformats.org/drawingml/2006/chart">
            <c:chart xmlns:c="http://schemas.openxmlformats.org/drawingml/2006/chart" r:id="rId1"/>
          </a:graphicData>
        </a:graphic>
      </p:graphicFrame>
      <p:sp>
        <p:nvSpPr>
          <p:cNvPr id="6" name="stat-card-AI services"/>
          <p:cNvSpPr/>
          <p:nvPr/>
        </p:nvSpPr>
        <p:spPr>
          <a:xfrm>
            <a:off x="8138160" y="1517904"/>
            <a:ext cx="3486607" cy="1316736"/>
          </a:xfrm>
          <a:prstGeom prst="roundRect">
            <a:avLst>
              <a:gd name="adj" fmla="val 4167"/>
            </a:avLst>
          </a:prstGeom>
          <a:solidFill>
            <a:srgbClr val="EEF2F7"/>
          </a:solidFill>
          <a:ln/>
        </p:spPr>
      </p:sp>
      <p:sp>
        <p:nvSpPr>
          <p:cNvPr id="7" name="stat-dot"/>
          <p:cNvSpPr/>
          <p:nvPr/>
        </p:nvSpPr>
        <p:spPr>
          <a:xfrm>
            <a:off x="8375904" y="1792224"/>
            <a:ext cx="91440" cy="91440"/>
          </a:xfrm>
          <a:prstGeom prst="ellipse">
            <a:avLst/>
          </a:prstGeom>
          <a:solidFill>
            <a:srgbClr val="7C5CFF"/>
          </a:solidFill>
          <a:ln/>
        </p:spPr>
      </p:sp>
      <p:sp>
        <p:nvSpPr>
          <p:cNvPr id="8" name="Text 5"/>
          <p:cNvSpPr txBox="1"/>
          <p:nvPr/>
        </p:nvSpPr>
        <p:spPr>
          <a:xfrm>
            <a:off x="8558784" y="1691640"/>
            <a:ext cx="2846527"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AI SERVICES</a:t>
            </a:r>
            <a:endParaRPr lang="en-US" sz="1000" dirty="0"/>
          </a:p>
        </p:txBody>
      </p:sp>
      <p:sp>
        <p:nvSpPr>
          <p:cNvPr id="9" name="Text 6"/>
          <p:cNvSpPr txBox="1"/>
          <p:nvPr/>
        </p:nvSpPr>
        <p:spPr>
          <a:xfrm>
            <a:off x="8375904" y="1975104"/>
            <a:ext cx="3029407" cy="548640"/>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+703%</a:t>
            </a:r>
            <a:endParaRPr lang="en-US" sz="2800" dirty="0"/>
          </a:p>
        </p:txBody>
      </p:sp>
      <p:sp>
        <p:nvSpPr>
          <p:cNvPr id="10" name="Text 7"/>
          <p:cNvSpPr txBox="1"/>
          <p:nvPr/>
        </p:nvSpPr>
        <p:spPr>
          <a:xfrm>
            <a:off x="8375904" y="2505456"/>
            <a:ext cx="3029407" cy="384048"/>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Q1 avg $12K/mo to Q3 avg $93K/mo</a:t>
            </a:r>
            <a:endParaRPr lang="en-US" sz="1050" dirty="0"/>
          </a:p>
        </p:txBody>
      </p:sp>
      <p:sp>
        <p:nvSpPr>
          <p:cNvPr id="11" name="stat-card-Everything els"/>
          <p:cNvSpPr/>
          <p:nvPr/>
        </p:nvSpPr>
        <p:spPr>
          <a:xfrm>
            <a:off x="8138160" y="2980944"/>
            <a:ext cx="3486607" cy="1316736"/>
          </a:xfrm>
          <a:prstGeom prst="roundRect">
            <a:avLst>
              <a:gd name="adj" fmla="val 4167"/>
            </a:avLst>
          </a:prstGeom>
          <a:solidFill>
            <a:srgbClr val="EEF2F7"/>
          </a:solidFill>
          <a:ln/>
        </p:spPr>
      </p:sp>
      <p:sp>
        <p:nvSpPr>
          <p:cNvPr id="12" name="stat-dot"/>
          <p:cNvSpPr/>
          <p:nvPr/>
        </p:nvSpPr>
        <p:spPr>
          <a:xfrm>
            <a:off x="8375904" y="3255264"/>
            <a:ext cx="91440" cy="91440"/>
          </a:xfrm>
          <a:prstGeom prst="ellipse">
            <a:avLst/>
          </a:prstGeom>
          <a:solidFill>
            <a:srgbClr val="00A878"/>
          </a:solidFill>
          <a:ln/>
        </p:spPr>
      </p:sp>
      <p:sp>
        <p:nvSpPr>
          <p:cNvPr id="13" name="Text 10"/>
          <p:cNvSpPr txBox="1"/>
          <p:nvPr/>
        </p:nvSpPr>
        <p:spPr>
          <a:xfrm>
            <a:off x="8558784" y="3154680"/>
            <a:ext cx="2846527"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EVERYTHING ELSE</a:t>
            </a:r>
            <a:endParaRPr lang="en-US" sz="1000" dirty="0"/>
          </a:p>
        </p:txBody>
      </p:sp>
      <p:sp>
        <p:nvSpPr>
          <p:cNvPr id="14" name="Text 11"/>
          <p:cNvSpPr txBox="1"/>
          <p:nvPr/>
        </p:nvSpPr>
        <p:spPr>
          <a:xfrm>
            <a:off x="8375904" y="3438144"/>
            <a:ext cx="3029407" cy="548640"/>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–13%</a:t>
            </a:r>
            <a:endParaRPr lang="en-US" sz="2800" dirty="0"/>
          </a:p>
        </p:txBody>
      </p:sp>
      <p:sp>
        <p:nvSpPr>
          <p:cNvPr id="15" name="Text 12"/>
          <p:cNvSpPr txBox="1"/>
          <p:nvPr/>
        </p:nvSpPr>
        <p:spPr>
          <a:xfrm>
            <a:off x="8375904" y="3968496"/>
            <a:ext cx="3029407" cy="384048"/>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Q1 avg $226K/mo to Q3 avg $196K/mo</a:t>
            </a:r>
            <a:endParaRPr lang="en-US" sz="1050" dirty="0"/>
          </a:p>
        </p:txBody>
      </p:sp>
      <p:sp>
        <p:nvSpPr>
          <p:cNvPr id="16" name="stat-card-AI annualised"/>
          <p:cNvSpPr/>
          <p:nvPr/>
        </p:nvSpPr>
        <p:spPr>
          <a:xfrm>
            <a:off x="8138160" y="4443984"/>
            <a:ext cx="3486607" cy="1316736"/>
          </a:xfrm>
          <a:prstGeom prst="roundRect">
            <a:avLst>
              <a:gd name="adj" fmla="val 4167"/>
            </a:avLst>
          </a:prstGeom>
          <a:solidFill>
            <a:srgbClr val="EEF2F7"/>
          </a:solidFill>
          <a:ln/>
        </p:spPr>
      </p:sp>
      <p:sp>
        <p:nvSpPr>
          <p:cNvPr id="17" name="stat-dot"/>
          <p:cNvSpPr/>
          <p:nvPr/>
        </p:nvSpPr>
        <p:spPr>
          <a:xfrm>
            <a:off x="8375904" y="4718304"/>
            <a:ext cx="91440" cy="91440"/>
          </a:xfrm>
          <a:prstGeom prst="ellipse">
            <a:avLst/>
          </a:prstGeom>
          <a:solidFill>
            <a:srgbClr val="F2A900"/>
          </a:solidFill>
          <a:ln/>
        </p:spPr>
      </p:sp>
      <p:sp>
        <p:nvSpPr>
          <p:cNvPr id="18" name="Text 15"/>
          <p:cNvSpPr txBox="1"/>
          <p:nvPr/>
        </p:nvSpPr>
        <p:spPr>
          <a:xfrm>
            <a:off x="8558784" y="4617720"/>
            <a:ext cx="2846527"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AI ANNUALISED</a:t>
            </a:r>
            <a:endParaRPr lang="en-US" sz="1000" dirty="0"/>
          </a:p>
        </p:txBody>
      </p:sp>
      <p:sp>
        <p:nvSpPr>
          <p:cNvPr id="19" name="Text 16"/>
          <p:cNvSpPr txBox="1"/>
          <p:nvPr/>
        </p:nvSpPr>
        <p:spPr>
          <a:xfrm>
            <a:off x="8375904" y="4901184"/>
            <a:ext cx="3029407" cy="548640"/>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$1.22M</a:t>
            </a:r>
            <a:endParaRPr lang="en-US" sz="2800" dirty="0"/>
          </a:p>
        </p:txBody>
      </p:sp>
      <p:sp>
        <p:nvSpPr>
          <p:cNvPr id="20" name="Text 17"/>
          <p:cNvSpPr txBox="1"/>
          <p:nvPr/>
        </p:nvSpPr>
        <p:spPr>
          <a:xfrm>
            <a:off x="8375904" y="5431536"/>
            <a:ext cx="3029407" cy="384048"/>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September run-rate times twelve</a:t>
            </a:r>
            <a:endParaRPr lang="en-US" sz="1050" dirty="0"/>
          </a:p>
        </p:txBody>
      </p:sp>
      <p:sp>
        <p:nvSpPr>
          <p:cNvPr id="21"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AI services covers Amazon Bedrock, Azure AI Foundry, Copilot Studio, Azure Cognitive Search, GitHub Copilot and GCP Vertex and Gemini.</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div-num"/>
          <p:cNvSpPr txBox="1"/>
          <p:nvPr/>
        </p:nvSpPr>
        <p:spPr>
          <a:xfrm>
            <a:off x="566928" y="1828800"/>
            <a:ext cx="2011680" cy="1371600"/>
          </a:xfrm>
          <a:prstGeom prst="rect">
            <a:avLst/>
          </a:prstGeom>
          <a:noFill/>
          <a:ln/>
        </p:spPr>
        <p:txBody>
          <a:bodyPr wrap="square" lIns="0" tIns="0" rIns="0" bIns="0" rtlCol="0" anchor="ctr"/>
          <a:lstStyle/>
          <a:p>
            <a:pPr algn="l" indent="0" marL="0">
              <a:buNone/>
            </a:pPr>
            <a:r>
              <a:rPr lang="en-US" sz="9600" b="1" dirty="0">
                <a:solidFill>
                  <a:srgbClr val="7C5CFF"/>
                </a:solidFill>
                <a:latin typeface="Cambria" pitchFamily="34" charset="0"/>
                <a:ea typeface="Cambria" pitchFamily="34" charset="-122"/>
                <a:cs typeface="Cambria" pitchFamily="34" charset="-120"/>
              </a:rPr>
              <a:t>02</a:t>
            </a:r>
            <a:endParaRPr lang="en-US" sz="9600" dirty="0"/>
          </a:p>
        </p:txBody>
      </p:sp>
      <p:sp>
        <p:nvSpPr>
          <p:cNvPr id="3" name="div-title"/>
          <p:cNvSpPr txBox="1"/>
          <p:nvPr/>
        </p:nvSpPr>
        <p:spPr>
          <a:xfrm>
            <a:off x="566928" y="3200400"/>
            <a:ext cx="8961120" cy="877824"/>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AI and the AI Factory</a:t>
            </a:r>
            <a:endParaRPr lang="en-US" sz="4000" dirty="0"/>
          </a:p>
        </p:txBody>
      </p:sp>
      <p:sp>
        <p:nvSpPr>
          <p:cNvPr id="4" name="div-body"/>
          <p:cNvSpPr txBox="1"/>
          <p:nvPr/>
        </p:nvSpPr>
        <p:spPr>
          <a:xfrm>
            <a:off x="566928" y="4169664"/>
            <a:ext cx="7498080" cy="868680"/>
          </a:xfrm>
          <a:prstGeom prst="rect">
            <a:avLst/>
          </a:prstGeom>
          <a:noFill/>
          <a:ln/>
        </p:spPr>
        <p:txBody>
          <a:bodyPr wrap="square" lIns="0" tIns="0" rIns="0" bIns="0" rtlCol="0" anchor="t"/>
          <a:lstStyle/>
          <a:p>
            <a:pPr algn="l" indent="0" marL="0">
              <a:buNone/>
            </a:pPr>
            <a:r>
              <a:rPr lang="en-US" sz="1500" dirty="0">
                <a:solidFill>
                  <a:srgbClr val="9FB3C8"/>
                </a:solidFill>
                <a:latin typeface="Arial" pitchFamily="34" charset="0"/>
                <a:ea typeface="Arial" pitchFamily="34" charset="-122"/>
                <a:cs typeface="Arial" pitchFamily="34" charset="-120"/>
              </a:rPr>
              <a:t>Amazon Bedrock, Azure AI Foundry, Copilot and the AI Factory programme. $412K year to date, and the line that is growing fastest.</a:t>
            </a:r>
            <a:endParaRPr lang="en-US" sz="15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7C5CFF"/>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AI SPEND</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AI grew eleven-fold in nine months to a third of the cloud bill</a:t>
            </a:r>
            <a:endParaRPr lang="en-US" sz="2800" dirty="0"/>
          </a:p>
        </p:txBody>
      </p:sp>
      <p:graphicFrame>
        <p:nvGraphicFramePr>
          <p:cNvPr id="5" name="Chart 0" descr=""/>
          <p:cNvGraphicFramePr/>
          <p:nvPr/>
        </p:nvGraphicFramePr>
        <p:xfrm>
          <a:off x="457200" y="1517904"/>
          <a:ext cx="7406640" cy="4242816"/>
        </p:xfrm>
        <a:graphic xmlns:a="http://schemas.openxmlformats.org/drawingml/2006/main">
          <a:graphicData uri="http://schemas.openxmlformats.org/drawingml/2006/chart">
            <c:chart xmlns:c="http://schemas.openxmlformats.org/drawingml/2006/chart" r:id="rId1"/>
          </a:graphicData>
        </a:graphic>
      </p:graphicFrame>
      <p:sp>
        <p:nvSpPr>
          <p:cNvPr id="6" name="stat-card-AI spend, YTD"/>
          <p:cNvSpPr/>
          <p:nvPr/>
        </p:nvSpPr>
        <p:spPr>
          <a:xfrm>
            <a:off x="8138160" y="1517904"/>
            <a:ext cx="3486607" cy="1316736"/>
          </a:xfrm>
          <a:prstGeom prst="roundRect">
            <a:avLst>
              <a:gd name="adj" fmla="val 4167"/>
            </a:avLst>
          </a:prstGeom>
          <a:solidFill>
            <a:srgbClr val="EEF2F7"/>
          </a:solidFill>
          <a:ln/>
        </p:spPr>
      </p:sp>
      <p:sp>
        <p:nvSpPr>
          <p:cNvPr id="7" name="stat-dot"/>
          <p:cNvSpPr/>
          <p:nvPr/>
        </p:nvSpPr>
        <p:spPr>
          <a:xfrm>
            <a:off x="8375904" y="1792224"/>
            <a:ext cx="91440" cy="91440"/>
          </a:xfrm>
          <a:prstGeom prst="ellipse">
            <a:avLst/>
          </a:prstGeom>
          <a:solidFill>
            <a:srgbClr val="7C5CFF"/>
          </a:solidFill>
          <a:ln/>
        </p:spPr>
      </p:sp>
      <p:sp>
        <p:nvSpPr>
          <p:cNvPr id="8" name="Text 5"/>
          <p:cNvSpPr txBox="1"/>
          <p:nvPr/>
        </p:nvSpPr>
        <p:spPr>
          <a:xfrm>
            <a:off x="8558784" y="1691640"/>
            <a:ext cx="2846527"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AI SPEND, YTD</a:t>
            </a:r>
            <a:endParaRPr lang="en-US" sz="1000" dirty="0"/>
          </a:p>
        </p:txBody>
      </p:sp>
      <p:sp>
        <p:nvSpPr>
          <p:cNvPr id="9" name="Text 6"/>
          <p:cNvSpPr txBox="1"/>
          <p:nvPr/>
        </p:nvSpPr>
        <p:spPr>
          <a:xfrm>
            <a:off x="8375904" y="1975104"/>
            <a:ext cx="3029407" cy="548640"/>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$412K</a:t>
            </a:r>
            <a:endParaRPr lang="en-US" sz="2800" dirty="0"/>
          </a:p>
        </p:txBody>
      </p:sp>
      <p:sp>
        <p:nvSpPr>
          <p:cNvPr id="10" name="Text 7"/>
          <p:cNvSpPr txBox="1"/>
          <p:nvPr/>
        </p:nvSpPr>
        <p:spPr>
          <a:xfrm>
            <a:off x="8375904" y="2505456"/>
            <a:ext cx="3029407" cy="36576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18% of all consumption</a:t>
            </a:r>
            <a:endParaRPr lang="en-US" sz="1100" dirty="0"/>
          </a:p>
        </p:txBody>
      </p:sp>
      <p:sp>
        <p:nvSpPr>
          <p:cNvPr id="11" name="stat-card-September alon"/>
          <p:cNvSpPr/>
          <p:nvPr/>
        </p:nvSpPr>
        <p:spPr>
          <a:xfrm>
            <a:off x="8138160" y="2980944"/>
            <a:ext cx="3486607" cy="1316736"/>
          </a:xfrm>
          <a:prstGeom prst="roundRect">
            <a:avLst>
              <a:gd name="adj" fmla="val 4167"/>
            </a:avLst>
          </a:prstGeom>
          <a:solidFill>
            <a:srgbClr val="EEF2F7"/>
          </a:solidFill>
          <a:ln/>
        </p:spPr>
      </p:sp>
      <p:sp>
        <p:nvSpPr>
          <p:cNvPr id="12" name="stat-dot"/>
          <p:cNvSpPr/>
          <p:nvPr/>
        </p:nvSpPr>
        <p:spPr>
          <a:xfrm>
            <a:off x="8375904" y="3255264"/>
            <a:ext cx="91440" cy="91440"/>
          </a:xfrm>
          <a:prstGeom prst="ellipse">
            <a:avLst/>
          </a:prstGeom>
          <a:solidFill>
            <a:srgbClr val="F2A900"/>
          </a:solidFill>
          <a:ln/>
        </p:spPr>
      </p:sp>
      <p:sp>
        <p:nvSpPr>
          <p:cNvPr id="13" name="Text 10"/>
          <p:cNvSpPr txBox="1"/>
          <p:nvPr/>
        </p:nvSpPr>
        <p:spPr>
          <a:xfrm>
            <a:off x="8558784" y="3154680"/>
            <a:ext cx="2846527"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SEPTEMBER ALONE</a:t>
            </a:r>
            <a:endParaRPr lang="en-US" sz="1000" dirty="0"/>
          </a:p>
        </p:txBody>
      </p:sp>
      <p:sp>
        <p:nvSpPr>
          <p:cNvPr id="14" name="Text 11"/>
          <p:cNvSpPr txBox="1"/>
          <p:nvPr/>
        </p:nvSpPr>
        <p:spPr>
          <a:xfrm>
            <a:off x="8375904" y="3438144"/>
            <a:ext cx="3029407" cy="548640"/>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$102K</a:t>
            </a:r>
            <a:endParaRPr lang="en-US" sz="2800" dirty="0"/>
          </a:p>
        </p:txBody>
      </p:sp>
      <p:sp>
        <p:nvSpPr>
          <p:cNvPr id="15" name="Text 12"/>
          <p:cNvSpPr txBox="1"/>
          <p:nvPr/>
        </p:nvSpPr>
        <p:spPr>
          <a:xfrm>
            <a:off x="8375904" y="3968496"/>
            <a:ext cx="3029407" cy="36576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against $9K in January</a:t>
            </a:r>
            <a:endParaRPr lang="en-US" sz="1100" dirty="0"/>
          </a:p>
        </p:txBody>
      </p:sp>
      <p:sp>
        <p:nvSpPr>
          <p:cNvPr id="16" name="stat-card-Of September s"/>
          <p:cNvSpPr/>
          <p:nvPr/>
        </p:nvSpPr>
        <p:spPr>
          <a:xfrm>
            <a:off x="8138160" y="4443984"/>
            <a:ext cx="3486607" cy="1316736"/>
          </a:xfrm>
          <a:prstGeom prst="roundRect">
            <a:avLst>
              <a:gd name="adj" fmla="val 4167"/>
            </a:avLst>
          </a:prstGeom>
          <a:solidFill>
            <a:srgbClr val="EEF2F7"/>
          </a:solidFill>
          <a:ln/>
        </p:spPr>
      </p:sp>
      <p:sp>
        <p:nvSpPr>
          <p:cNvPr id="17" name="stat-dot"/>
          <p:cNvSpPr/>
          <p:nvPr/>
        </p:nvSpPr>
        <p:spPr>
          <a:xfrm>
            <a:off x="8375904" y="4718304"/>
            <a:ext cx="91440" cy="91440"/>
          </a:xfrm>
          <a:prstGeom prst="ellipse">
            <a:avLst/>
          </a:prstGeom>
          <a:solidFill>
            <a:srgbClr val="0F7DC2"/>
          </a:solidFill>
          <a:ln/>
        </p:spPr>
      </p:sp>
      <p:sp>
        <p:nvSpPr>
          <p:cNvPr id="18" name="Text 15"/>
          <p:cNvSpPr txBox="1"/>
          <p:nvPr/>
        </p:nvSpPr>
        <p:spPr>
          <a:xfrm>
            <a:off x="8558784" y="4617720"/>
            <a:ext cx="2846527"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OF SEPTEMBER SPEND</a:t>
            </a:r>
            <a:endParaRPr lang="en-US" sz="1000" dirty="0"/>
          </a:p>
        </p:txBody>
      </p:sp>
      <p:sp>
        <p:nvSpPr>
          <p:cNvPr id="19" name="Text 16"/>
          <p:cNvSpPr txBox="1"/>
          <p:nvPr/>
        </p:nvSpPr>
        <p:spPr>
          <a:xfrm>
            <a:off x="8375904" y="4901184"/>
            <a:ext cx="3029407" cy="548640"/>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34%</a:t>
            </a:r>
            <a:endParaRPr lang="en-US" sz="2800" dirty="0"/>
          </a:p>
        </p:txBody>
      </p:sp>
      <p:sp>
        <p:nvSpPr>
          <p:cNvPr id="20" name="Text 17"/>
          <p:cNvSpPr txBox="1"/>
          <p:nvPr/>
        </p:nvSpPr>
        <p:spPr>
          <a:xfrm>
            <a:off x="8375904" y="5431536"/>
            <a:ext cx="3029407" cy="36576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was AI services</a:t>
            </a:r>
            <a:endParaRPr lang="en-US" sz="1100" dirty="0"/>
          </a:p>
        </p:txBody>
      </p:sp>
      <p:sp>
        <p:nvSpPr>
          <p:cNvPr id="21"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Bedrock is billed through AWS Marketplace. Foundry, Copilot Studio, Cognitive Search and GitHub are billed through Azure.</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7C5CFF"/>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GITHUB AND COPILOT</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GitHub reached $28K a month, with AI credit growing fastest</a:t>
            </a:r>
            <a:endParaRPr lang="en-US" sz="2800" dirty="0"/>
          </a:p>
        </p:txBody>
      </p:sp>
      <p:sp>
        <p:nvSpPr>
          <p:cNvPr id="5" name="Text 3"/>
          <p:cNvSpPr txBox="1"/>
          <p:nvPr/>
        </p:nvSpPr>
        <p:spPr>
          <a:xfrm>
            <a:off x="566928" y="1554480"/>
            <a:ext cx="5486400" cy="274320"/>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GitHub billed through Azure  ($K per month)</a:t>
            </a:r>
            <a:endParaRPr lang="en-US" sz="1300" dirty="0"/>
          </a:p>
        </p:txBody>
      </p:sp>
      <p:graphicFrame>
        <p:nvGraphicFramePr>
          <p:cNvPr id="6" name="Chart 0" descr=""/>
          <p:cNvGraphicFramePr/>
          <p:nvPr/>
        </p:nvGraphicFramePr>
        <p:xfrm>
          <a:off x="457200" y="1865376"/>
          <a:ext cx="5577840" cy="2286000"/>
        </p:xfrm>
        <a:graphic xmlns:a="http://schemas.openxmlformats.org/drawingml/2006/main">
          <a:graphicData uri="http://schemas.openxmlformats.org/drawingml/2006/chart">
            <c:chart xmlns:c="http://schemas.openxmlformats.org/drawingml/2006/chart" r:id="rId1"/>
          </a:graphicData>
        </a:graphic>
      </p:graphicFrame>
      <p:sp>
        <p:nvSpPr>
          <p:cNvPr id="7" name="panel"/>
          <p:cNvSpPr/>
          <p:nvPr/>
        </p:nvSpPr>
        <p:spPr>
          <a:xfrm>
            <a:off x="566928" y="4297680"/>
            <a:ext cx="5577840" cy="1463040"/>
          </a:xfrm>
          <a:prstGeom prst="roundRect">
            <a:avLst>
              <a:gd name="adj" fmla="val 3750"/>
            </a:avLst>
          </a:prstGeom>
          <a:solidFill>
            <a:srgbClr val="EEF2F7"/>
          </a:solidFill>
          <a:ln/>
        </p:spPr>
      </p:sp>
      <p:sp>
        <p:nvSpPr>
          <p:cNvPr id="8" name="Text 5"/>
          <p:cNvSpPr txBox="1"/>
          <p:nvPr/>
        </p:nvSpPr>
        <p:spPr>
          <a:xfrm>
            <a:off x="822960" y="4443984"/>
            <a:ext cx="5029200" cy="274320"/>
          </a:xfrm>
          <a:prstGeom prst="rect">
            <a:avLst/>
          </a:prstGeom>
          <a:noFill/>
          <a:ln/>
        </p:spPr>
        <p:txBody>
          <a:bodyPr wrap="square" lIns="0" tIns="0" rIns="0" bIns="0" rtlCol="0" anchor="ctr"/>
          <a:lstStyle/>
          <a:p>
            <a:pPr algn="l" indent="0" marL="0">
              <a:buNone/>
            </a:pPr>
            <a:r>
              <a:rPr lang="en-US" sz="1150" b="1" dirty="0">
                <a:solidFill>
                  <a:srgbClr val="0B1B2E"/>
                </a:solidFill>
                <a:latin typeface="Arial" pitchFamily="34" charset="0"/>
                <a:ea typeface="Arial" pitchFamily="34" charset="-122"/>
                <a:cs typeface="Arial" pitchFamily="34" charset="-120"/>
              </a:rPr>
              <a:t>AI credit budget, enterprise harel-ins</a:t>
            </a:r>
            <a:endParaRPr lang="en-US" sz="1150" dirty="0"/>
          </a:p>
        </p:txBody>
      </p:sp>
      <p:sp>
        <p:nvSpPr>
          <p:cNvPr id="9" name="gauge-bg"/>
          <p:cNvSpPr/>
          <p:nvPr/>
        </p:nvSpPr>
        <p:spPr>
          <a:xfrm>
            <a:off x="822960" y="4828032"/>
            <a:ext cx="5029200" cy="237744"/>
          </a:xfrm>
          <a:prstGeom prst="roundRect">
            <a:avLst>
              <a:gd name="adj" fmla="val 50000"/>
            </a:avLst>
          </a:prstGeom>
          <a:solidFill>
            <a:srgbClr val="DCE4ED"/>
          </a:solidFill>
          <a:ln/>
        </p:spPr>
      </p:sp>
      <p:sp>
        <p:nvSpPr>
          <p:cNvPr id="10" name="gauge-fill"/>
          <p:cNvSpPr/>
          <p:nvPr/>
        </p:nvSpPr>
        <p:spPr>
          <a:xfrm>
            <a:off x="822960" y="4828032"/>
            <a:ext cx="3721608" cy="237744"/>
          </a:xfrm>
          <a:prstGeom prst="roundRect">
            <a:avLst>
              <a:gd name="adj" fmla="val 50000"/>
            </a:avLst>
          </a:prstGeom>
          <a:solidFill>
            <a:srgbClr val="F2A900"/>
          </a:solidFill>
          <a:ln/>
        </p:spPr>
      </p:sp>
      <p:sp>
        <p:nvSpPr>
          <p:cNvPr id="11" name="Text 8"/>
          <p:cNvSpPr txBox="1"/>
          <p:nvPr/>
        </p:nvSpPr>
        <p:spPr>
          <a:xfrm>
            <a:off x="822960" y="5157216"/>
            <a:ext cx="3291840" cy="274320"/>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$2,960 spent of $4,000  ·  74%</a:t>
            </a:r>
            <a:endParaRPr lang="en-US" sz="1100" dirty="0"/>
          </a:p>
        </p:txBody>
      </p:sp>
      <p:sp>
        <p:nvSpPr>
          <p:cNvPr id="12" name="chip"/>
          <p:cNvSpPr/>
          <p:nvPr/>
        </p:nvSpPr>
        <p:spPr>
          <a:xfrm>
            <a:off x="4407408" y="5157216"/>
            <a:ext cx="1444752" cy="274320"/>
          </a:xfrm>
          <a:prstGeom prst="roundRect">
            <a:avLst>
              <a:gd name="adj" fmla="val 40000"/>
            </a:avLst>
          </a:prstGeom>
          <a:solidFill>
            <a:srgbClr val="E3F5EE"/>
          </a:solidFill>
          <a:ln/>
        </p:spPr>
      </p:sp>
      <p:sp>
        <p:nvSpPr>
          <p:cNvPr id="13" name="Text 10"/>
          <p:cNvSpPr txBox="1"/>
          <p:nvPr/>
        </p:nvSpPr>
        <p:spPr>
          <a:xfrm>
            <a:off x="4407408" y="5157216"/>
            <a:ext cx="1444752" cy="274320"/>
          </a:xfrm>
          <a:prstGeom prst="rect">
            <a:avLst/>
          </a:prstGeom>
          <a:noFill/>
          <a:ln/>
        </p:spPr>
        <p:txBody>
          <a:bodyPr wrap="square" lIns="0" tIns="0" rIns="0" bIns="0" rtlCol="0" anchor="ctr"/>
          <a:lstStyle/>
          <a:p>
            <a:pPr algn="ctr" indent="0" marL="0">
              <a:buNone/>
            </a:pPr>
            <a:r>
              <a:rPr lang="en-US" sz="950" b="1" dirty="0">
                <a:solidFill>
                  <a:srgbClr val="046A4E"/>
                </a:solidFill>
                <a:latin typeface="Arial" pitchFamily="34" charset="0"/>
                <a:ea typeface="Arial" pitchFamily="34" charset="-122"/>
                <a:cs typeface="Arial" pitchFamily="34" charset="-120"/>
              </a:rPr>
              <a:t>Hard stop enabled</a:t>
            </a:r>
            <a:endParaRPr lang="en-US" sz="950" dirty="0"/>
          </a:p>
        </p:txBody>
      </p:sp>
      <p:sp>
        <p:nvSpPr>
          <p:cNvPr id="14" name="Text 11"/>
          <p:cNvSpPr txBox="1"/>
          <p:nvPr/>
        </p:nvSpPr>
        <p:spPr>
          <a:xfrm>
            <a:off x="6492240" y="1554480"/>
            <a:ext cx="5120640" cy="274320"/>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Anatomy of the GitHub bill  ·  June 2026 invoice</a:t>
            </a:r>
            <a:endParaRPr lang="en-US" sz="1300" dirty="0"/>
          </a:p>
        </p:txBody>
      </p:sp>
      <p:sp>
        <p:nvSpPr>
          <p:cNvPr id="15" name="gh-0"/>
          <p:cNvSpPr/>
          <p:nvPr/>
        </p:nvSpPr>
        <p:spPr>
          <a:xfrm>
            <a:off x="6492240" y="1956816"/>
            <a:ext cx="5138928" cy="731520"/>
          </a:xfrm>
          <a:prstGeom prst="roundRect">
            <a:avLst>
              <a:gd name="adj" fmla="val 7500"/>
            </a:avLst>
          </a:prstGeom>
          <a:solidFill>
            <a:srgbClr val="EEF2F7"/>
          </a:solidFill>
          <a:ln/>
        </p:spPr>
      </p:sp>
      <p:sp>
        <p:nvSpPr>
          <p:cNvPr id="16" name="gh-dot-0"/>
          <p:cNvSpPr/>
          <p:nvPr/>
        </p:nvSpPr>
        <p:spPr>
          <a:xfrm>
            <a:off x="6729984" y="2267712"/>
            <a:ext cx="109728" cy="109728"/>
          </a:xfrm>
          <a:prstGeom prst="ellipse">
            <a:avLst/>
          </a:prstGeom>
          <a:solidFill>
            <a:srgbClr val="0F7DC2"/>
          </a:solidFill>
          <a:ln/>
        </p:spPr>
      </p:sp>
      <p:sp>
        <p:nvSpPr>
          <p:cNvPr id="17" name="Text 14"/>
          <p:cNvSpPr txBox="1"/>
          <p:nvPr/>
        </p:nvSpPr>
        <p:spPr>
          <a:xfrm>
            <a:off x="6931152" y="2048256"/>
            <a:ext cx="2926080" cy="292608"/>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GitHub Enterprise</a:t>
            </a:r>
            <a:endParaRPr lang="en-US" sz="1250" dirty="0"/>
          </a:p>
        </p:txBody>
      </p:sp>
      <p:sp>
        <p:nvSpPr>
          <p:cNvPr id="18" name="Text 15"/>
          <p:cNvSpPr txBox="1"/>
          <p:nvPr/>
        </p:nvSpPr>
        <p:spPr>
          <a:xfrm>
            <a:off x="6931152" y="2340864"/>
            <a:ext cx="3291840" cy="274320"/>
          </a:xfrm>
          <a:prstGeom prst="rect">
            <a:avLst/>
          </a:prstGeom>
          <a:noFill/>
          <a:ln/>
        </p:spPr>
        <p:txBody>
          <a:bodyPr wrap="square" lIns="0" tIns="0" rIns="0" bIns="0" rtlCol="0" anchor="ctr"/>
          <a:lstStyle/>
          <a:p>
            <a:pPr algn="l" indent="0" marL="0">
              <a:buNone/>
            </a:pPr>
            <a:r>
              <a:rPr lang="en-US" sz="1050" dirty="0">
                <a:solidFill>
                  <a:srgbClr val="5B6B7E"/>
                </a:solidFill>
                <a:latin typeface="Arial" pitchFamily="34" charset="0"/>
                <a:ea typeface="Arial" pitchFamily="34" charset="-122"/>
                <a:cs typeface="Arial" pitchFamily="34" charset="-120"/>
              </a:rPr>
              <a:t>about 170 licences</a:t>
            </a:r>
            <a:endParaRPr lang="en-US" sz="1050" dirty="0"/>
          </a:p>
        </p:txBody>
      </p:sp>
      <p:sp>
        <p:nvSpPr>
          <p:cNvPr id="19" name="Text 16"/>
          <p:cNvSpPr txBox="1"/>
          <p:nvPr/>
        </p:nvSpPr>
        <p:spPr>
          <a:xfrm>
            <a:off x="10058400" y="2121408"/>
            <a:ext cx="1335024" cy="402336"/>
          </a:xfrm>
          <a:prstGeom prst="rect">
            <a:avLst/>
          </a:prstGeom>
          <a:noFill/>
          <a:ln/>
        </p:spPr>
        <p:txBody>
          <a:bodyPr wrap="square" lIns="0" tIns="0" rIns="0" bIns="0" rtlCol="0" anchor="ctr"/>
          <a:lstStyle/>
          <a:p>
            <a:pPr algn="r" indent="0" marL="0">
              <a:buNone/>
            </a:pPr>
            <a:r>
              <a:rPr lang="en-US" sz="1800" b="1" dirty="0">
                <a:solidFill>
                  <a:srgbClr val="0B1B2E"/>
                </a:solidFill>
                <a:latin typeface="Arial" pitchFamily="34" charset="0"/>
                <a:ea typeface="Arial" pitchFamily="34" charset="-122"/>
                <a:cs typeface="Arial" pitchFamily="34" charset="-120"/>
              </a:rPr>
              <a:t>$3,574</a:t>
            </a:r>
            <a:endParaRPr lang="en-US" sz="1800" dirty="0"/>
          </a:p>
        </p:txBody>
      </p:sp>
      <p:sp>
        <p:nvSpPr>
          <p:cNvPr id="20" name="gh-1"/>
          <p:cNvSpPr/>
          <p:nvPr/>
        </p:nvSpPr>
        <p:spPr>
          <a:xfrm>
            <a:off x="6492240" y="2798064"/>
            <a:ext cx="5138928" cy="731520"/>
          </a:xfrm>
          <a:prstGeom prst="roundRect">
            <a:avLst>
              <a:gd name="adj" fmla="val 7500"/>
            </a:avLst>
          </a:prstGeom>
          <a:solidFill>
            <a:srgbClr val="EEF2F7"/>
          </a:solidFill>
          <a:ln/>
        </p:spPr>
      </p:sp>
      <p:sp>
        <p:nvSpPr>
          <p:cNvPr id="21" name="gh-dot-1"/>
          <p:cNvSpPr/>
          <p:nvPr/>
        </p:nvSpPr>
        <p:spPr>
          <a:xfrm>
            <a:off x="6729984" y="3108960"/>
            <a:ext cx="109728" cy="109728"/>
          </a:xfrm>
          <a:prstGeom prst="ellipse">
            <a:avLst/>
          </a:prstGeom>
          <a:solidFill>
            <a:srgbClr val="27496B"/>
          </a:solidFill>
          <a:ln/>
        </p:spPr>
      </p:sp>
      <p:sp>
        <p:nvSpPr>
          <p:cNvPr id="22" name="Text 19"/>
          <p:cNvSpPr txBox="1"/>
          <p:nvPr/>
        </p:nvSpPr>
        <p:spPr>
          <a:xfrm>
            <a:off x="6931152" y="2889504"/>
            <a:ext cx="2926080" cy="292608"/>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Copilot Business</a:t>
            </a:r>
            <a:endParaRPr lang="en-US" sz="1250" dirty="0"/>
          </a:p>
        </p:txBody>
      </p:sp>
      <p:sp>
        <p:nvSpPr>
          <p:cNvPr id="23" name="Text 20"/>
          <p:cNvSpPr txBox="1"/>
          <p:nvPr/>
        </p:nvSpPr>
        <p:spPr>
          <a:xfrm>
            <a:off x="6931152" y="3182112"/>
            <a:ext cx="3291840" cy="274320"/>
          </a:xfrm>
          <a:prstGeom prst="rect">
            <a:avLst/>
          </a:prstGeom>
          <a:noFill/>
          <a:ln/>
        </p:spPr>
        <p:txBody>
          <a:bodyPr wrap="square" lIns="0" tIns="0" rIns="0" bIns="0" rtlCol="0" anchor="ctr"/>
          <a:lstStyle/>
          <a:p>
            <a:pPr algn="l" indent="0" marL="0">
              <a:buNone/>
            </a:pPr>
            <a:r>
              <a:rPr lang="en-US" sz="1050" dirty="0">
                <a:solidFill>
                  <a:srgbClr val="5B6B7E"/>
                </a:solidFill>
                <a:latin typeface="Arial" pitchFamily="34" charset="0"/>
                <a:ea typeface="Arial" pitchFamily="34" charset="-122"/>
                <a:cs typeface="Arial" pitchFamily="34" charset="-120"/>
              </a:rPr>
              <a:t>about 160 licences</a:t>
            </a:r>
            <a:endParaRPr lang="en-US" sz="1050" dirty="0"/>
          </a:p>
        </p:txBody>
      </p:sp>
      <p:sp>
        <p:nvSpPr>
          <p:cNvPr id="24" name="Text 21"/>
          <p:cNvSpPr txBox="1"/>
          <p:nvPr/>
        </p:nvSpPr>
        <p:spPr>
          <a:xfrm>
            <a:off x="10058400" y="2962656"/>
            <a:ext cx="1335024" cy="402336"/>
          </a:xfrm>
          <a:prstGeom prst="rect">
            <a:avLst/>
          </a:prstGeom>
          <a:noFill/>
          <a:ln/>
        </p:spPr>
        <p:txBody>
          <a:bodyPr wrap="square" lIns="0" tIns="0" rIns="0" bIns="0" rtlCol="0" anchor="ctr"/>
          <a:lstStyle/>
          <a:p>
            <a:pPr algn="r" indent="0" marL="0">
              <a:buNone/>
            </a:pPr>
            <a:r>
              <a:rPr lang="en-US" sz="1800" b="1" dirty="0">
                <a:solidFill>
                  <a:srgbClr val="0B1B2E"/>
                </a:solidFill>
                <a:latin typeface="Arial" pitchFamily="34" charset="0"/>
                <a:ea typeface="Arial" pitchFamily="34" charset="-122"/>
                <a:cs typeface="Arial" pitchFamily="34" charset="-120"/>
              </a:rPr>
              <a:t>$3,044</a:t>
            </a:r>
            <a:endParaRPr lang="en-US" sz="1800" dirty="0"/>
          </a:p>
        </p:txBody>
      </p:sp>
      <p:sp>
        <p:nvSpPr>
          <p:cNvPr id="25" name="gh-2"/>
          <p:cNvSpPr/>
          <p:nvPr/>
        </p:nvSpPr>
        <p:spPr>
          <a:xfrm>
            <a:off x="6492240" y="3639312"/>
            <a:ext cx="5138928" cy="731520"/>
          </a:xfrm>
          <a:prstGeom prst="roundRect">
            <a:avLst>
              <a:gd name="adj" fmla="val 7500"/>
            </a:avLst>
          </a:prstGeom>
          <a:solidFill>
            <a:srgbClr val="EEF2F7"/>
          </a:solidFill>
          <a:ln/>
        </p:spPr>
      </p:sp>
      <p:sp>
        <p:nvSpPr>
          <p:cNvPr id="26" name="gh-dot-2"/>
          <p:cNvSpPr/>
          <p:nvPr/>
        </p:nvSpPr>
        <p:spPr>
          <a:xfrm>
            <a:off x="6729984" y="3950208"/>
            <a:ext cx="109728" cy="109728"/>
          </a:xfrm>
          <a:prstGeom prst="ellipse">
            <a:avLst/>
          </a:prstGeom>
          <a:solidFill>
            <a:srgbClr val="7C5CFF"/>
          </a:solidFill>
          <a:ln/>
        </p:spPr>
      </p:sp>
      <p:sp>
        <p:nvSpPr>
          <p:cNvPr id="27" name="Text 24"/>
          <p:cNvSpPr txBox="1"/>
          <p:nvPr/>
        </p:nvSpPr>
        <p:spPr>
          <a:xfrm>
            <a:off x="6931152" y="3730752"/>
            <a:ext cx="2926080" cy="292608"/>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AI credit (GAC)</a:t>
            </a:r>
            <a:endParaRPr lang="en-US" sz="1250" dirty="0"/>
          </a:p>
        </p:txBody>
      </p:sp>
      <p:sp>
        <p:nvSpPr>
          <p:cNvPr id="28" name="Text 25"/>
          <p:cNvSpPr txBox="1"/>
          <p:nvPr/>
        </p:nvSpPr>
        <p:spPr>
          <a:xfrm>
            <a:off x="6931152" y="4023360"/>
            <a:ext cx="3291840" cy="274320"/>
          </a:xfrm>
          <a:prstGeom prst="rect">
            <a:avLst/>
          </a:prstGeom>
          <a:noFill/>
          <a:ln/>
        </p:spPr>
        <p:txBody>
          <a:bodyPr wrap="square" lIns="0" tIns="0" rIns="0" bIns="0" rtlCol="0" anchor="ctr"/>
          <a:lstStyle/>
          <a:p>
            <a:pPr algn="l" indent="0" marL="0">
              <a:buNone/>
            </a:pPr>
            <a:r>
              <a:rPr lang="en-US" sz="1050" dirty="0">
                <a:solidFill>
                  <a:srgbClr val="5B6B7E"/>
                </a:solidFill>
                <a:latin typeface="Arial" pitchFamily="34" charset="0"/>
                <a:ea typeface="Arial" pitchFamily="34" charset="-122"/>
                <a:cs typeface="Arial" pitchFamily="34" charset="-120"/>
              </a:rPr>
              <a:t>214,924 credits, 217 active users</a:t>
            </a:r>
            <a:endParaRPr lang="en-US" sz="1050" dirty="0"/>
          </a:p>
        </p:txBody>
      </p:sp>
      <p:sp>
        <p:nvSpPr>
          <p:cNvPr id="29" name="Text 26"/>
          <p:cNvSpPr txBox="1"/>
          <p:nvPr/>
        </p:nvSpPr>
        <p:spPr>
          <a:xfrm>
            <a:off x="10058400" y="3803904"/>
            <a:ext cx="1335024" cy="402336"/>
          </a:xfrm>
          <a:prstGeom prst="rect">
            <a:avLst/>
          </a:prstGeom>
          <a:noFill/>
          <a:ln/>
        </p:spPr>
        <p:txBody>
          <a:bodyPr wrap="square" lIns="0" tIns="0" rIns="0" bIns="0" rtlCol="0" anchor="ctr"/>
          <a:lstStyle/>
          <a:p>
            <a:pPr algn="r" indent="0" marL="0">
              <a:buNone/>
            </a:pPr>
            <a:r>
              <a:rPr lang="en-US" sz="1800" b="1" dirty="0">
                <a:solidFill>
                  <a:srgbClr val="0B1B2E"/>
                </a:solidFill>
                <a:latin typeface="Arial" pitchFamily="34" charset="0"/>
                <a:ea typeface="Arial" pitchFamily="34" charset="-122"/>
                <a:cs typeface="Arial" pitchFamily="34" charset="-120"/>
              </a:rPr>
              <a:t>$2,149</a:t>
            </a:r>
            <a:endParaRPr lang="en-US" sz="1800" dirty="0"/>
          </a:p>
        </p:txBody>
      </p:sp>
      <p:sp>
        <p:nvSpPr>
          <p:cNvPr id="30" name="panel"/>
          <p:cNvSpPr/>
          <p:nvPr/>
        </p:nvSpPr>
        <p:spPr>
          <a:xfrm>
            <a:off x="6492240" y="4517136"/>
            <a:ext cx="5138928" cy="1243584"/>
          </a:xfrm>
          <a:prstGeom prst="roundRect">
            <a:avLst>
              <a:gd name="adj" fmla="val 4412"/>
            </a:avLst>
          </a:prstGeom>
          <a:solidFill>
            <a:srgbClr val="F3F0FF"/>
          </a:solidFill>
          <a:ln/>
        </p:spPr>
      </p:sp>
      <p:sp>
        <p:nvSpPr>
          <p:cNvPr id="31" name="Text 28"/>
          <p:cNvSpPr txBox="1"/>
          <p:nvPr/>
        </p:nvSpPr>
        <p:spPr>
          <a:xfrm>
            <a:off x="6729984" y="4645152"/>
            <a:ext cx="4663440" cy="274320"/>
          </a:xfrm>
          <a:prstGeom prst="rect">
            <a:avLst/>
          </a:prstGeom>
          <a:noFill/>
          <a:ln/>
        </p:spPr>
        <p:txBody>
          <a:bodyPr wrap="square" lIns="0" tIns="0" rIns="0" bIns="0" rtlCol="0" anchor="ctr"/>
          <a:lstStyle/>
          <a:p>
            <a:pPr algn="l" indent="0" marL="0">
              <a:buNone/>
            </a:pPr>
            <a:r>
              <a:rPr lang="en-US" sz="1150" b="1" dirty="0">
                <a:solidFill>
                  <a:srgbClr val="4A33B5"/>
                </a:solidFill>
                <a:latin typeface="Arial" pitchFamily="34" charset="0"/>
                <a:ea typeface="Arial" pitchFamily="34" charset="-122"/>
                <a:cs typeface="Arial" pitchFamily="34" charset="-120"/>
              </a:rPr>
              <a:t>Where the AI credit goes</a:t>
            </a:r>
            <a:endParaRPr lang="en-US" sz="1150" dirty="0"/>
          </a:p>
        </p:txBody>
      </p:sp>
      <p:sp>
        <p:nvSpPr>
          <p:cNvPr id="32" name="Text 29"/>
          <p:cNvSpPr txBox="1"/>
          <p:nvPr/>
        </p:nvSpPr>
        <p:spPr>
          <a:xfrm>
            <a:off x="6729984" y="4937760"/>
            <a:ext cx="4663440" cy="749808"/>
          </a:xfrm>
          <a:prstGeom prst="rect">
            <a:avLst/>
          </a:prstGeom>
          <a:noFill/>
          <a:ln/>
        </p:spPr>
        <p:txBody>
          <a:bodyPr wrap="square" lIns="0" tIns="0" rIns="0" bIns="0" rtlCol="0" anchor="t"/>
          <a:lstStyle/>
          <a:p>
            <a:pPr algn="l" indent="0" marL="0">
              <a:buNone/>
            </a:pPr>
            <a:r>
              <a:rPr lang="en-US" sz="1100" dirty="0">
                <a:solidFill>
                  <a:srgbClr val="3B3270"/>
                </a:solidFill>
                <a:latin typeface="Arial" pitchFamily="34" charset="0"/>
                <a:ea typeface="Arial" pitchFamily="34" charset="-122"/>
                <a:cs typeface="Arial" pitchFamily="34" charset="-120"/>
              </a:rPr>
              <a:t>Claude Opus 4.6 accounts for 75% of all AI-credit consumption, and one cost centre (HR) for 73% of it. Model routing and a per-user quota of about 1,900 credits are the two levers.</a:t>
            </a:r>
            <a:endParaRPr lang="en-US" sz="1100" dirty="0"/>
          </a:p>
        </p:txBody>
      </p:sp>
      <p:sp>
        <p:nvSpPr>
          <p:cNvPr id="33"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Licensing is 75% of the GitHub bill and AI credit 25%, but the credit line is the one compounding.</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7C5CFF"/>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GOVERNANCE</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Four controls to put AI spend under budget discipline</a:t>
            </a:r>
            <a:endParaRPr lang="en-US" sz="2800" dirty="0"/>
          </a:p>
        </p:txBody>
      </p:sp>
      <p:sp>
        <p:nvSpPr>
          <p:cNvPr id="5" name="ctrl-1"/>
          <p:cNvSpPr/>
          <p:nvPr/>
        </p:nvSpPr>
        <p:spPr>
          <a:xfrm>
            <a:off x="566928" y="1572768"/>
            <a:ext cx="5391760" cy="2103120"/>
          </a:xfrm>
          <a:prstGeom prst="roundRect">
            <a:avLst>
              <a:gd name="adj" fmla="val 2609"/>
            </a:avLst>
          </a:prstGeom>
          <a:solidFill>
            <a:srgbClr val="EEF2F7"/>
          </a:solidFill>
          <a:ln/>
        </p:spPr>
      </p:sp>
      <p:sp>
        <p:nvSpPr>
          <p:cNvPr id="6" name="ctrl-badge-1"/>
          <p:cNvSpPr/>
          <p:nvPr/>
        </p:nvSpPr>
        <p:spPr>
          <a:xfrm>
            <a:off x="841248" y="1847088"/>
            <a:ext cx="347472" cy="347472"/>
          </a:xfrm>
          <a:prstGeom prst="ellipse">
            <a:avLst/>
          </a:prstGeom>
          <a:solidFill>
            <a:srgbClr val="F2A900"/>
          </a:solidFill>
          <a:ln/>
        </p:spPr>
      </p:sp>
      <p:sp>
        <p:nvSpPr>
          <p:cNvPr id="7" name="Text 5"/>
          <p:cNvSpPr txBox="1"/>
          <p:nvPr/>
        </p:nvSpPr>
        <p:spPr>
          <a:xfrm>
            <a:off x="841248" y="184708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316736" y="1828800"/>
            <a:ext cx="4385920" cy="384048"/>
          </a:xfrm>
          <a:prstGeom prst="rect">
            <a:avLst/>
          </a:prstGeom>
          <a:noFill/>
          <a:ln/>
        </p:spPr>
        <p:txBody>
          <a:bodyPr wrap="square" lIns="0" tIns="0" rIns="0" bIns="0" rtlCol="0" anchor="ctr"/>
          <a:lstStyle/>
          <a:p>
            <a:pPr algn="l" indent="0" marL="0">
              <a:buNone/>
            </a:pPr>
            <a:r>
              <a:rPr lang="en-US" sz="1600" b="1" dirty="0">
                <a:solidFill>
                  <a:srgbClr val="0B1B2E"/>
                </a:solidFill>
                <a:latin typeface="Arial" pitchFamily="34" charset="0"/>
                <a:ea typeface="Arial" pitchFamily="34" charset="-122"/>
                <a:cs typeface="Arial" pitchFamily="34" charset="-120"/>
              </a:rPr>
              <a:t>Tag every AI service</a:t>
            </a:r>
            <a:endParaRPr lang="en-US" sz="1600" dirty="0"/>
          </a:p>
        </p:txBody>
      </p:sp>
      <p:sp>
        <p:nvSpPr>
          <p:cNvPr id="9" name="Text 7"/>
          <p:cNvSpPr txBox="1"/>
          <p:nvPr/>
        </p:nvSpPr>
        <p:spPr>
          <a:xfrm>
            <a:off x="1316736" y="2267712"/>
            <a:ext cx="4367632" cy="969264"/>
          </a:xfrm>
          <a:prstGeom prst="rect">
            <a:avLst/>
          </a:prstGeom>
          <a:noFill/>
          <a:ln/>
        </p:spPr>
        <p:txBody>
          <a:bodyPr wrap="square" lIns="0" tIns="0" rIns="0" bIns="0" rtlCol="0" anchor="t"/>
          <a:lstStyle/>
          <a:p>
            <a:pPr algn="l" indent="0" marL="0">
              <a:buNone/>
            </a:pPr>
            <a:r>
              <a:rPr lang="en-US" sz="1200" dirty="0">
                <a:solidFill>
                  <a:srgbClr val="5B6B7E"/>
                </a:solidFill>
                <a:latin typeface="Arial" pitchFamily="34" charset="0"/>
                <a:ea typeface="Arial" pitchFamily="34" charset="-122"/>
                <a:cs typeface="Arial" pitchFamily="34" charset="-120"/>
              </a:rPr>
              <a:t>Finish tagging resources by Service, Application, Cost Centre and Environment, including AI Gateway and AWS Bedrock, so AI can be charged back like any other service.</a:t>
            </a:r>
            <a:endParaRPr lang="en-US" sz="1200" dirty="0"/>
          </a:p>
        </p:txBody>
      </p:sp>
      <p:sp>
        <p:nvSpPr>
          <p:cNvPr id="10" name="chip"/>
          <p:cNvSpPr/>
          <p:nvPr/>
        </p:nvSpPr>
        <p:spPr>
          <a:xfrm>
            <a:off x="1316736" y="3255264"/>
            <a:ext cx="1097280" cy="274320"/>
          </a:xfrm>
          <a:prstGeom prst="roundRect">
            <a:avLst>
              <a:gd name="adj" fmla="val 40000"/>
            </a:avLst>
          </a:prstGeom>
          <a:solidFill>
            <a:srgbClr val="F2A900"/>
          </a:solidFill>
          <a:ln/>
        </p:spPr>
      </p:sp>
      <p:sp>
        <p:nvSpPr>
          <p:cNvPr id="11" name="Text 9"/>
          <p:cNvSpPr txBox="1"/>
          <p:nvPr/>
        </p:nvSpPr>
        <p:spPr>
          <a:xfrm>
            <a:off x="1316736" y="3255264"/>
            <a:ext cx="10972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In progress</a:t>
            </a:r>
            <a:endParaRPr lang="en-US" sz="950" dirty="0"/>
          </a:p>
        </p:txBody>
      </p:sp>
      <p:sp>
        <p:nvSpPr>
          <p:cNvPr id="12" name="Text 10"/>
          <p:cNvSpPr txBox="1"/>
          <p:nvPr/>
        </p:nvSpPr>
        <p:spPr>
          <a:xfrm>
            <a:off x="2523744" y="3255264"/>
            <a:ext cx="3160624" cy="274320"/>
          </a:xfrm>
          <a:prstGeom prst="rect">
            <a:avLst/>
          </a:prstGeom>
          <a:noFill/>
          <a:ln/>
        </p:spPr>
        <p:txBody>
          <a:bodyPr wrap="square" lIns="0" tIns="0" rIns="0" bIns="0" rtlCol="0" anchor="ctr"/>
          <a:lstStyle/>
          <a:p>
            <a:pPr algn="l" indent="0" marL="0">
              <a:buNone/>
            </a:pPr>
            <a:r>
              <a:rPr lang="en-US" sz="1050" dirty="0">
                <a:solidFill>
                  <a:srgbClr val="5B6B7E"/>
                </a:solidFill>
                <a:latin typeface="Arial" pitchFamily="34" charset="0"/>
                <a:ea typeface="Arial" pitchFamily="34" charset="-122"/>
                <a:cs typeface="Arial" pitchFamily="34" charset="-120"/>
              </a:rPr>
              <a:t>Owner: Ariel Oral</a:t>
            </a:r>
            <a:endParaRPr lang="en-US" sz="1050" dirty="0"/>
          </a:p>
        </p:txBody>
      </p:sp>
      <p:sp>
        <p:nvSpPr>
          <p:cNvPr id="13" name="ctrl-2"/>
          <p:cNvSpPr/>
          <p:nvPr/>
        </p:nvSpPr>
        <p:spPr>
          <a:xfrm>
            <a:off x="6233008" y="1572768"/>
            <a:ext cx="5391760" cy="2103120"/>
          </a:xfrm>
          <a:prstGeom prst="roundRect">
            <a:avLst>
              <a:gd name="adj" fmla="val 2609"/>
            </a:avLst>
          </a:prstGeom>
          <a:solidFill>
            <a:srgbClr val="EEF2F7"/>
          </a:solidFill>
          <a:ln/>
        </p:spPr>
      </p:sp>
      <p:sp>
        <p:nvSpPr>
          <p:cNvPr id="14" name="ctrl-badge-2"/>
          <p:cNvSpPr/>
          <p:nvPr/>
        </p:nvSpPr>
        <p:spPr>
          <a:xfrm>
            <a:off x="6507328" y="1847088"/>
            <a:ext cx="347472" cy="347472"/>
          </a:xfrm>
          <a:prstGeom prst="ellipse">
            <a:avLst/>
          </a:prstGeom>
          <a:solidFill>
            <a:srgbClr val="0F7DC2"/>
          </a:solidFill>
          <a:ln/>
        </p:spPr>
      </p:sp>
      <p:sp>
        <p:nvSpPr>
          <p:cNvPr id="15" name="Text 13"/>
          <p:cNvSpPr txBox="1"/>
          <p:nvPr/>
        </p:nvSpPr>
        <p:spPr>
          <a:xfrm>
            <a:off x="6507328" y="184708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4"/>
          <p:cNvSpPr txBox="1"/>
          <p:nvPr/>
        </p:nvSpPr>
        <p:spPr>
          <a:xfrm>
            <a:off x="6982816" y="1828800"/>
            <a:ext cx="4385920" cy="384048"/>
          </a:xfrm>
          <a:prstGeom prst="rect">
            <a:avLst/>
          </a:prstGeom>
          <a:noFill/>
          <a:ln/>
        </p:spPr>
        <p:txBody>
          <a:bodyPr wrap="square" lIns="0" tIns="0" rIns="0" bIns="0" rtlCol="0" anchor="ctr"/>
          <a:lstStyle/>
          <a:p>
            <a:pPr algn="l" indent="0" marL="0">
              <a:buNone/>
            </a:pPr>
            <a:r>
              <a:rPr lang="en-US" sz="1600" b="1" dirty="0">
                <a:solidFill>
                  <a:srgbClr val="0B1B2E"/>
                </a:solidFill>
                <a:latin typeface="Arial" pitchFamily="34" charset="0"/>
                <a:ea typeface="Arial" pitchFamily="34" charset="-122"/>
                <a:cs typeface="Arial" pitchFamily="34" charset="-120"/>
              </a:rPr>
              <a:t>Budgets with a hard stop</a:t>
            </a:r>
            <a:endParaRPr lang="en-US" sz="1600" dirty="0"/>
          </a:p>
        </p:txBody>
      </p:sp>
      <p:sp>
        <p:nvSpPr>
          <p:cNvPr id="17" name="Text 15"/>
          <p:cNvSpPr txBox="1"/>
          <p:nvPr/>
        </p:nvSpPr>
        <p:spPr>
          <a:xfrm>
            <a:off x="6982816" y="2267712"/>
            <a:ext cx="4367632" cy="969264"/>
          </a:xfrm>
          <a:prstGeom prst="rect">
            <a:avLst/>
          </a:prstGeom>
          <a:noFill/>
          <a:ln/>
        </p:spPr>
        <p:txBody>
          <a:bodyPr wrap="square" lIns="0" tIns="0" rIns="0" bIns="0" rtlCol="0" anchor="t"/>
          <a:lstStyle/>
          <a:p>
            <a:pPr algn="l" indent="0" marL="0">
              <a:buNone/>
            </a:pPr>
            <a:r>
              <a:rPr lang="en-US" sz="1200" dirty="0">
                <a:solidFill>
                  <a:srgbClr val="5B6B7E"/>
                </a:solidFill>
                <a:latin typeface="Arial" pitchFamily="34" charset="0"/>
                <a:ea typeface="Arial" pitchFamily="34" charset="-122"/>
                <a:cs typeface="Arial" pitchFamily="34" charset="-120"/>
              </a:rPr>
              <a:t>The GitHub AI-credit budget already stops usage at its ceiling. Apply the same pattern to Azure AI Foundry and Amazon Bedrock before the FY2027 ramp.</a:t>
            </a:r>
            <a:endParaRPr lang="en-US" sz="1200" dirty="0"/>
          </a:p>
        </p:txBody>
      </p:sp>
      <p:sp>
        <p:nvSpPr>
          <p:cNvPr id="18" name="chip"/>
          <p:cNvSpPr/>
          <p:nvPr/>
        </p:nvSpPr>
        <p:spPr>
          <a:xfrm>
            <a:off x="6982816" y="3255264"/>
            <a:ext cx="1097280" cy="274320"/>
          </a:xfrm>
          <a:prstGeom prst="roundRect">
            <a:avLst>
              <a:gd name="adj" fmla="val 40000"/>
            </a:avLst>
          </a:prstGeom>
          <a:solidFill>
            <a:srgbClr val="0F7DC2"/>
          </a:solidFill>
          <a:ln/>
        </p:spPr>
      </p:sp>
      <p:sp>
        <p:nvSpPr>
          <p:cNvPr id="19" name="Text 17"/>
          <p:cNvSpPr txBox="1"/>
          <p:nvPr/>
        </p:nvSpPr>
        <p:spPr>
          <a:xfrm>
            <a:off x="6982816" y="3255264"/>
            <a:ext cx="10972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Planned</a:t>
            </a:r>
            <a:endParaRPr lang="en-US" sz="950" dirty="0"/>
          </a:p>
        </p:txBody>
      </p:sp>
      <p:sp>
        <p:nvSpPr>
          <p:cNvPr id="20" name="Text 18"/>
          <p:cNvSpPr txBox="1"/>
          <p:nvPr/>
        </p:nvSpPr>
        <p:spPr>
          <a:xfrm>
            <a:off x="8189824" y="3255264"/>
            <a:ext cx="3160624" cy="274320"/>
          </a:xfrm>
          <a:prstGeom prst="rect">
            <a:avLst/>
          </a:prstGeom>
          <a:noFill/>
          <a:ln/>
        </p:spPr>
        <p:txBody>
          <a:bodyPr wrap="square" lIns="0" tIns="0" rIns="0" bIns="0" rtlCol="0" anchor="ctr"/>
          <a:lstStyle/>
          <a:p>
            <a:pPr algn="l" indent="0" marL="0">
              <a:buNone/>
            </a:pPr>
            <a:r>
              <a:rPr lang="en-US" sz="1050" dirty="0">
                <a:solidFill>
                  <a:srgbClr val="5B6B7E"/>
                </a:solidFill>
                <a:latin typeface="Arial" pitchFamily="34" charset="0"/>
                <a:ea typeface="Arial" pitchFamily="34" charset="-122"/>
                <a:cs typeface="Arial" pitchFamily="34" charset="-120"/>
              </a:rPr>
              <a:t>Owner: Cloud Infrastructure</a:t>
            </a:r>
            <a:endParaRPr lang="en-US" sz="1050" dirty="0"/>
          </a:p>
        </p:txBody>
      </p:sp>
      <p:sp>
        <p:nvSpPr>
          <p:cNvPr id="21" name="ctrl-3"/>
          <p:cNvSpPr/>
          <p:nvPr/>
        </p:nvSpPr>
        <p:spPr>
          <a:xfrm>
            <a:off x="566928" y="3877056"/>
            <a:ext cx="5391760" cy="2103120"/>
          </a:xfrm>
          <a:prstGeom prst="roundRect">
            <a:avLst>
              <a:gd name="adj" fmla="val 2609"/>
            </a:avLst>
          </a:prstGeom>
          <a:solidFill>
            <a:srgbClr val="EEF2F7"/>
          </a:solidFill>
          <a:ln/>
        </p:spPr>
      </p:sp>
      <p:sp>
        <p:nvSpPr>
          <p:cNvPr id="22" name="ctrl-badge-3"/>
          <p:cNvSpPr/>
          <p:nvPr/>
        </p:nvSpPr>
        <p:spPr>
          <a:xfrm>
            <a:off x="841248" y="4151376"/>
            <a:ext cx="347472" cy="347472"/>
          </a:xfrm>
          <a:prstGeom prst="ellipse">
            <a:avLst/>
          </a:prstGeom>
          <a:solidFill>
            <a:srgbClr val="7C5CFF"/>
          </a:solidFill>
          <a:ln/>
        </p:spPr>
      </p:sp>
      <p:sp>
        <p:nvSpPr>
          <p:cNvPr id="23" name="Text 21"/>
          <p:cNvSpPr txBox="1"/>
          <p:nvPr/>
        </p:nvSpPr>
        <p:spPr>
          <a:xfrm>
            <a:off x="841248" y="415137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4" name="Text 22"/>
          <p:cNvSpPr txBox="1"/>
          <p:nvPr/>
        </p:nvSpPr>
        <p:spPr>
          <a:xfrm>
            <a:off x="1316736" y="4133088"/>
            <a:ext cx="4385920" cy="384048"/>
          </a:xfrm>
          <a:prstGeom prst="rect">
            <a:avLst/>
          </a:prstGeom>
          <a:noFill/>
          <a:ln/>
        </p:spPr>
        <p:txBody>
          <a:bodyPr wrap="square" lIns="0" tIns="0" rIns="0" bIns="0" rtlCol="0" anchor="ctr"/>
          <a:lstStyle/>
          <a:p>
            <a:pPr algn="l" indent="0" marL="0">
              <a:buNone/>
            </a:pPr>
            <a:r>
              <a:rPr lang="en-US" sz="1600" b="1" dirty="0">
                <a:solidFill>
                  <a:srgbClr val="0B1B2E"/>
                </a:solidFill>
                <a:latin typeface="Arial" pitchFamily="34" charset="0"/>
                <a:ea typeface="Arial" pitchFamily="34" charset="-122"/>
                <a:cs typeface="Arial" pitchFamily="34" charset="-120"/>
              </a:rPr>
              <a:t>Model routing policy</a:t>
            </a:r>
            <a:endParaRPr lang="en-US" sz="1600" dirty="0"/>
          </a:p>
        </p:txBody>
      </p:sp>
      <p:sp>
        <p:nvSpPr>
          <p:cNvPr id="25" name="Text 23"/>
          <p:cNvSpPr txBox="1"/>
          <p:nvPr/>
        </p:nvSpPr>
        <p:spPr>
          <a:xfrm>
            <a:off x="1316736" y="4572000"/>
            <a:ext cx="4367632" cy="969264"/>
          </a:xfrm>
          <a:prstGeom prst="rect">
            <a:avLst/>
          </a:prstGeom>
          <a:noFill/>
          <a:ln/>
        </p:spPr>
        <p:txBody>
          <a:bodyPr wrap="square" lIns="0" tIns="0" rIns="0" bIns="0" rtlCol="0" anchor="t"/>
          <a:lstStyle/>
          <a:p>
            <a:pPr algn="l" indent="0" marL="0">
              <a:buNone/>
            </a:pPr>
            <a:r>
              <a:rPr lang="en-US" sz="1200" dirty="0">
                <a:solidFill>
                  <a:srgbClr val="5B6B7E"/>
                </a:solidFill>
                <a:latin typeface="Arial" pitchFamily="34" charset="0"/>
                <a:ea typeface="Arial" pitchFamily="34" charset="-122"/>
                <a:cs typeface="Arial" pitchFamily="34" charset="-120"/>
              </a:rPr>
              <a:t>Opus-class models carry about two thirds of both Bedrock and GitHub AI spend. Define which workloads justify a frontier model and route the rest to Sonnet or Haiku tiers.</a:t>
            </a:r>
            <a:endParaRPr lang="en-US" sz="1200" dirty="0"/>
          </a:p>
        </p:txBody>
      </p:sp>
      <p:sp>
        <p:nvSpPr>
          <p:cNvPr id="26" name="chip"/>
          <p:cNvSpPr/>
          <p:nvPr/>
        </p:nvSpPr>
        <p:spPr>
          <a:xfrm>
            <a:off x="1316736" y="5559552"/>
            <a:ext cx="1097280" cy="274320"/>
          </a:xfrm>
          <a:prstGeom prst="roundRect">
            <a:avLst>
              <a:gd name="adj" fmla="val 40000"/>
            </a:avLst>
          </a:prstGeom>
          <a:solidFill>
            <a:srgbClr val="7C5CFF"/>
          </a:solidFill>
          <a:ln/>
        </p:spPr>
      </p:sp>
      <p:sp>
        <p:nvSpPr>
          <p:cNvPr id="27" name="Text 25"/>
          <p:cNvSpPr txBox="1"/>
          <p:nvPr/>
        </p:nvSpPr>
        <p:spPr>
          <a:xfrm>
            <a:off x="1316736" y="5559552"/>
            <a:ext cx="10972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Proposed</a:t>
            </a:r>
            <a:endParaRPr lang="en-US" sz="950" dirty="0"/>
          </a:p>
        </p:txBody>
      </p:sp>
      <p:sp>
        <p:nvSpPr>
          <p:cNvPr id="28" name="Text 26"/>
          <p:cNvSpPr txBox="1"/>
          <p:nvPr/>
        </p:nvSpPr>
        <p:spPr>
          <a:xfrm>
            <a:off x="2523744" y="5559552"/>
            <a:ext cx="3160624" cy="274320"/>
          </a:xfrm>
          <a:prstGeom prst="rect">
            <a:avLst/>
          </a:prstGeom>
          <a:noFill/>
          <a:ln/>
        </p:spPr>
        <p:txBody>
          <a:bodyPr wrap="square" lIns="0" tIns="0" rIns="0" bIns="0" rtlCol="0" anchor="ctr"/>
          <a:lstStyle/>
          <a:p>
            <a:pPr algn="l" indent="0" marL="0">
              <a:buNone/>
            </a:pPr>
            <a:r>
              <a:rPr lang="en-US" sz="1050" dirty="0">
                <a:solidFill>
                  <a:srgbClr val="5B6B7E"/>
                </a:solidFill>
                <a:latin typeface="Arial" pitchFamily="34" charset="0"/>
                <a:ea typeface="Arial" pitchFamily="34" charset="-122"/>
                <a:cs typeface="Arial" pitchFamily="34" charset="-120"/>
              </a:rPr>
              <a:t>Owner: AI Factory and FinOps</a:t>
            </a:r>
            <a:endParaRPr lang="en-US" sz="1050" dirty="0"/>
          </a:p>
        </p:txBody>
      </p:sp>
      <p:sp>
        <p:nvSpPr>
          <p:cNvPr id="29" name="ctrl-4"/>
          <p:cNvSpPr/>
          <p:nvPr/>
        </p:nvSpPr>
        <p:spPr>
          <a:xfrm>
            <a:off x="6233008" y="3877056"/>
            <a:ext cx="5391760" cy="2103120"/>
          </a:xfrm>
          <a:prstGeom prst="roundRect">
            <a:avLst>
              <a:gd name="adj" fmla="val 2609"/>
            </a:avLst>
          </a:prstGeom>
          <a:solidFill>
            <a:srgbClr val="EEF2F7"/>
          </a:solidFill>
          <a:ln/>
        </p:spPr>
      </p:sp>
      <p:sp>
        <p:nvSpPr>
          <p:cNvPr id="30" name="ctrl-badge-4"/>
          <p:cNvSpPr/>
          <p:nvPr/>
        </p:nvSpPr>
        <p:spPr>
          <a:xfrm>
            <a:off x="6507328" y="4151376"/>
            <a:ext cx="347472" cy="347472"/>
          </a:xfrm>
          <a:prstGeom prst="ellipse">
            <a:avLst/>
          </a:prstGeom>
          <a:solidFill>
            <a:srgbClr val="7C5CFF"/>
          </a:solidFill>
          <a:ln/>
        </p:spPr>
      </p:sp>
      <p:sp>
        <p:nvSpPr>
          <p:cNvPr id="31" name="Text 29"/>
          <p:cNvSpPr txBox="1"/>
          <p:nvPr/>
        </p:nvSpPr>
        <p:spPr>
          <a:xfrm>
            <a:off x="6507328" y="415137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32" name="Text 30"/>
          <p:cNvSpPr txBox="1"/>
          <p:nvPr/>
        </p:nvSpPr>
        <p:spPr>
          <a:xfrm>
            <a:off x="6982816" y="4133088"/>
            <a:ext cx="4385920" cy="384048"/>
          </a:xfrm>
          <a:prstGeom prst="rect">
            <a:avLst/>
          </a:prstGeom>
          <a:noFill/>
          <a:ln/>
        </p:spPr>
        <p:txBody>
          <a:bodyPr wrap="square" lIns="0" tIns="0" rIns="0" bIns="0" rtlCol="0" anchor="ctr"/>
          <a:lstStyle/>
          <a:p>
            <a:pPr algn="l" indent="0" marL="0">
              <a:buNone/>
            </a:pPr>
            <a:r>
              <a:rPr lang="en-US" sz="1600" b="1" dirty="0">
                <a:solidFill>
                  <a:srgbClr val="0B1B2E"/>
                </a:solidFill>
                <a:latin typeface="Arial" pitchFamily="34" charset="0"/>
                <a:ea typeface="Arial" pitchFamily="34" charset="-122"/>
                <a:cs typeface="Arial" pitchFamily="34" charset="-120"/>
              </a:rPr>
              <a:t>Quotas per user and per project</a:t>
            </a:r>
            <a:endParaRPr lang="en-US" sz="1600" dirty="0"/>
          </a:p>
        </p:txBody>
      </p:sp>
      <p:sp>
        <p:nvSpPr>
          <p:cNvPr id="33" name="Text 31"/>
          <p:cNvSpPr txBox="1"/>
          <p:nvPr/>
        </p:nvSpPr>
        <p:spPr>
          <a:xfrm>
            <a:off x="6982816" y="4572000"/>
            <a:ext cx="4367632" cy="969264"/>
          </a:xfrm>
          <a:prstGeom prst="rect">
            <a:avLst/>
          </a:prstGeom>
          <a:noFill/>
          <a:ln/>
        </p:spPr>
        <p:txBody>
          <a:bodyPr wrap="square" lIns="0" tIns="0" rIns="0" bIns="0" rtlCol="0" anchor="t"/>
          <a:lstStyle/>
          <a:p>
            <a:pPr algn="l" indent="0" marL="0">
              <a:buNone/>
            </a:pPr>
            <a:r>
              <a:rPr lang="en-US" sz="1200" dirty="0">
                <a:solidFill>
                  <a:srgbClr val="5B6B7E"/>
                </a:solidFill>
                <a:latin typeface="Arial" pitchFamily="34" charset="0"/>
                <a:ea typeface="Arial" pitchFamily="34" charset="-122"/>
                <a:cs typeface="Arial" pitchFamily="34" charset="-120"/>
              </a:rPr>
              <a:t>Publish a monthly credit allowance per developer, around 1,900, and a project-level ceiling, with consumption visible to the owning cost centre.</a:t>
            </a:r>
            <a:endParaRPr lang="en-US" sz="1200" dirty="0"/>
          </a:p>
        </p:txBody>
      </p:sp>
      <p:sp>
        <p:nvSpPr>
          <p:cNvPr id="34" name="chip"/>
          <p:cNvSpPr/>
          <p:nvPr/>
        </p:nvSpPr>
        <p:spPr>
          <a:xfrm>
            <a:off x="6982816" y="5559552"/>
            <a:ext cx="1097280" cy="274320"/>
          </a:xfrm>
          <a:prstGeom prst="roundRect">
            <a:avLst>
              <a:gd name="adj" fmla="val 40000"/>
            </a:avLst>
          </a:prstGeom>
          <a:solidFill>
            <a:srgbClr val="7C5CFF"/>
          </a:solidFill>
          <a:ln/>
        </p:spPr>
      </p:sp>
      <p:sp>
        <p:nvSpPr>
          <p:cNvPr id="35" name="Text 33"/>
          <p:cNvSpPr txBox="1"/>
          <p:nvPr/>
        </p:nvSpPr>
        <p:spPr>
          <a:xfrm>
            <a:off x="6982816" y="5559552"/>
            <a:ext cx="10972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Proposed</a:t>
            </a:r>
            <a:endParaRPr lang="en-US" sz="950" dirty="0"/>
          </a:p>
        </p:txBody>
      </p:sp>
      <p:sp>
        <p:nvSpPr>
          <p:cNvPr id="36" name="Text 34"/>
          <p:cNvSpPr txBox="1"/>
          <p:nvPr/>
        </p:nvSpPr>
        <p:spPr>
          <a:xfrm>
            <a:off x="8189824" y="5559552"/>
            <a:ext cx="3160624" cy="274320"/>
          </a:xfrm>
          <a:prstGeom prst="rect">
            <a:avLst/>
          </a:prstGeom>
          <a:noFill/>
          <a:ln/>
        </p:spPr>
        <p:txBody>
          <a:bodyPr wrap="square" lIns="0" tIns="0" rIns="0" bIns="0" rtlCol="0" anchor="ctr"/>
          <a:lstStyle/>
          <a:p>
            <a:pPr algn="l" indent="0" marL="0">
              <a:buNone/>
            </a:pPr>
            <a:r>
              <a:rPr lang="en-US" sz="1050" dirty="0">
                <a:solidFill>
                  <a:srgbClr val="5B6B7E"/>
                </a:solidFill>
                <a:latin typeface="Arial" pitchFamily="34" charset="0"/>
                <a:ea typeface="Arial" pitchFamily="34" charset="-122"/>
                <a:cs typeface="Arial" pitchFamily="34" charset="-120"/>
              </a:rPr>
              <a:t>Owner: AI Factory and FinOps</a:t>
            </a:r>
            <a:endParaRPr lang="en-US" sz="105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div-num"/>
          <p:cNvSpPr txBox="1"/>
          <p:nvPr/>
        </p:nvSpPr>
        <p:spPr>
          <a:xfrm>
            <a:off x="566928" y="1828800"/>
            <a:ext cx="2011680" cy="1371600"/>
          </a:xfrm>
          <a:prstGeom prst="rect">
            <a:avLst/>
          </a:prstGeom>
          <a:noFill/>
          <a:ln/>
        </p:spPr>
        <p:txBody>
          <a:bodyPr wrap="square" lIns="0" tIns="0" rIns="0" bIns="0" rtlCol="0" anchor="ctr"/>
          <a:lstStyle/>
          <a:p>
            <a:pPr algn="l" indent="0" marL="0">
              <a:buNone/>
            </a:pPr>
            <a:r>
              <a:rPr lang="en-US" sz="9600" b="1" dirty="0">
                <a:solidFill>
                  <a:srgbClr val="F2A900"/>
                </a:solidFill>
                <a:latin typeface="Cambria" pitchFamily="34" charset="0"/>
                <a:ea typeface="Cambria" pitchFamily="34" charset="-122"/>
                <a:cs typeface="Cambria" pitchFamily="34" charset="-120"/>
              </a:rPr>
              <a:t>03</a:t>
            </a:r>
            <a:endParaRPr lang="en-US" sz="9600" dirty="0"/>
          </a:p>
        </p:txBody>
      </p:sp>
      <p:sp>
        <p:nvSpPr>
          <p:cNvPr id="3" name="div-title"/>
          <p:cNvSpPr txBox="1"/>
          <p:nvPr/>
        </p:nvSpPr>
        <p:spPr>
          <a:xfrm>
            <a:off x="566928" y="3200400"/>
            <a:ext cx="8961120" cy="877824"/>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Amazon Web Services</a:t>
            </a:r>
            <a:endParaRPr lang="en-US" sz="4000" dirty="0"/>
          </a:p>
        </p:txBody>
      </p:sp>
      <p:sp>
        <p:nvSpPr>
          <p:cNvPr id="4" name="div-body"/>
          <p:cNvSpPr txBox="1"/>
          <p:nvPr/>
        </p:nvSpPr>
        <p:spPr>
          <a:xfrm>
            <a:off x="566928" y="4169664"/>
            <a:ext cx="7498080" cy="868680"/>
          </a:xfrm>
          <a:prstGeom prst="rect">
            <a:avLst/>
          </a:prstGeom>
          <a:noFill/>
          <a:ln/>
        </p:spPr>
        <p:txBody>
          <a:bodyPr wrap="square" lIns="0" tIns="0" rIns="0" bIns="0" rtlCol="0" anchor="t"/>
          <a:lstStyle/>
          <a:p>
            <a:pPr algn="l" indent="0" marL="0">
              <a:buNone/>
            </a:pPr>
            <a:r>
              <a:rPr lang="en-US" sz="1500" dirty="0">
                <a:solidFill>
                  <a:srgbClr val="9FB3C8"/>
                </a:solidFill>
                <a:latin typeface="Arial" pitchFamily="34" charset="0"/>
                <a:ea typeface="Arial" pitchFamily="34" charset="-122"/>
                <a:cs typeface="Arial" pitchFamily="34" charset="-120"/>
              </a:rPr>
              <a:t>$2.61M year to date. $792K of metered consumption across two payer accounts, and $1.82M of Marketplace contracts.</a:t>
            </a:r>
            <a:endParaRPr lang="en-US" sz="15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F2A900"/>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AWS OVERVIEW</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AWS consumption is flat; Marketplace contracts move the total</a:t>
            </a:r>
            <a:endParaRPr lang="en-US" sz="2800" dirty="0"/>
          </a:p>
        </p:txBody>
      </p:sp>
      <p:sp>
        <p:nvSpPr>
          <p:cNvPr id="5" name="stat-card-Consumption YT"/>
          <p:cNvSpPr/>
          <p:nvPr/>
        </p:nvSpPr>
        <p:spPr>
          <a:xfrm>
            <a:off x="566928" y="1572768"/>
            <a:ext cx="3533546" cy="1627632"/>
          </a:xfrm>
          <a:prstGeom prst="roundRect">
            <a:avLst>
              <a:gd name="adj" fmla="val 3371"/>
            </a:avLst>
          </a:prstGeom>
          <a:solidFill>
            <a:srgbClr val="EEF2F7"/>
          </a:solidFill>
          <a:ln/>
        </p:spPr>
      </p:sp>
      <p:sp>
        <p:nvSpPr>
          <p:cNvPr id="6" name="stat-dot"/>
          <p:cNvSpPr/>
          <p:nvPr/>
        </p:nvSpPr>
        <p:spPr>
          <a:xfrm>
            <a:off x="804672" y="1847088"/>
            <a:ext cx="91440" cy="91440"/>
          </a:xfrm>
          <a:prstGeom prst="ellipse">
            <a:avLst/>
          </a:prstGeom>
          <a:solidFill>
            <a:srgbClr val="F2A900"/>
          </a:solidFill>
          <a:ln/>
        </p:spPr>
      </p:sp>
      <p:sp>
        <p:nvSpPr>
          <p:cNvPr id="7" name="Text 5"/>
          <p:cNvSpPr txBox="1"/>
          <p:nvPr/>
        </p:nvSpPr>
        <p:spPr>
          <a:xfrm>
            <a:off x="987552" y="1746504"/>
            <a:ext cx="2893466"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CONSUMPTION YTD</a:t>
            </a:r>
            <a:endParaRPr lang="en-US" sz="1000" dirty="0"/>
          </a:p>
        </p:txBody>
      </p:sp>
      <p:sp>
        <p:nvSpPr>
          <p:cNvPr id="8" name="Text 6"/>
          <p:cNvSpPr txBox="1"/>
          <p:nvPr/>
        </p:nvSpPr>
        <p:spPr>
          <a:xfrm>
            <a:off x="804672" y="2029968"/>
            <a:ext cx="3076346" cy="566928"/>
          </a:xfrm>
          <a:prstGeom prst="rect">
            <a:avLst/>
          </a:prstGeom>
          <a:noFill/>
          <a:ln/>
        </p:spPr>
        <p:txBody>
          <a:bodyPr wrap="square" lIns="0" tIns="0" rIns="0" bIns="0" rtlCol="0" anchor="ctr"/>
          <a:lstStyle/>
          <a:p>
            <a:pPr algn="l" indent="0" marL="0">
              <a:buNone/>
            </a:pPr>
            <a:r>
              <a:rPr lang="en-US" sz="3200" b="1" dirty="0">
                <a:solidFill>
                  <a:srgbClr val="0B1B2E"/>
                </a:solidFill>
                <a:latin typeface="Arial" pitchFamily="34" charset="0"/>
                <a:ea typeface="Arial" pitchFamily="34" charset="-122"/>
                <a:cs typeface="Arial" pitchFamily="34" charset="-120"/>
              </a:rPr>
              <a:t>$792K</a:t>
            </a:r>
            <a:endParaRPr lang="en-US" sz="3200" dirty="0"/>
          </a:p>
        </p:txBody>
      </p:sp>
      <p:sp>
        <p:nvSpPr>
          <p:cNvPr id="9" name="Text 7"/>
          <p:cNvSpPr txBox="1"/>
          <p:nvPr/>
        </p:nvSpPr>
        <p:spPr>
          <a:xfrm>
            <a:off x="804672" y="2578608"/>
            <a:ext cx="3076346" cy="36576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$88K average per month</a:t>
            </a:r>
            <a:endParaRPr lang="en-US" sz="1100" dirty="0"/>
          </a:p>
        </p:txBody>
      </p:sp>
      <p:sp>
        <p:nvSpPr>
          <p:cNvPr id="10" name="metric-September 2026"/>
          <p:cNvSpPr/>
          <p:nvPr/>
        </p:nvSpPr>
        <p:spPr>
          <a:xfrm>
            <a:off x="4329074" y="1572768"/>
            <a:ext cx="3533546" cy="1627632"/>
          </a:xfrm>
          <a:prstGeom prst="roundRect">
            <a:avLst>
              <a:gd name="adj" fmla="val 3371"/>
            </a:avLst>
          </a:prstGeom>
          <a:solidFill>
            <a:srgbClr val="EEF2F7"/>
          </a:solidFill>
          <a:ln/>
        </p:spPr>
      </p:sp>
      <p:sp>
        <p:nvSpPr>
          <p:cNvPr id="11" name="metric-dot"/>
          <p:cNvSpPr/>
          <p:nvPr/>
        </p:nvSpPr>
        <p:spPr>
          <a:xfrm>
            <a:off x="4585106" y="1810512"/>
            <a:ext cx="91440" cy="91440"/>
          </a:xfrm>
          <a:prstGeom prst="ellipse">
            <a:avLst/>
          </a:prstGeom>
          <a:solidFill>
            <a:srgbClr val="F2A900"/>
          </a:solidFill>
          <a:ln/>
        </p:spPr>
      </p:sp>
      <p:sp>
        <p:nvSpPr>
          <p:cNvPr id="12" name="Text 10"/>
          <p:cNvSpPr txBox="1"/>
          <p:nvPr/>
        </p:nvSpPr>
        <p:spPr>
          <a:xfrm>
            <a:off x="4767986" y="1719072"/>
            <a:ext cx="2838602" cy="256032"/>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SEPTEMBER 2026</a:t>
            </a:r>
            <a:endParaRPr lang="en-US" sz="1000" dirty="0"/>
          </a:p>
        </p:txBody>
      </p:sp>
      <p:sp>
        <p:nvSpPr>
          <p:cNvPr id="13" name="Text 11"/>
          <p:cNvSpPr txBox="1"/>
          <p:nvPr/>
        </p:nvSpPr>
        <p:spPr>
          <a:xfrm>
            <a:off x="4585106" y="1975104"/>
            <a:ext cx="3021482" cy="566928"/>
          </a:xfrm>
          <a:prstGeom prst="rect">
            <a:avLst/>
          </a:prstGeom>
          <a:noFill/>
          <a:ln/>
        </p:spPr>
        <p:txBody>
          <a:bodyPr wrap="square" lIns="0" tIns="0" rIns="0" bIns="0" rtlCol="0" anchor="ctr"/>
          <a:lstStyle/>
          <a:p>
            <a:pPr algn="l" indent="0" marL="0">
              <a:buNone/>
            </a:pPr>
            <a:r>
              <a:rPr lang="en-US" sz="3000" b="1" dirty="0">
                <a:solidFill>
                  <a:srgbClr val="0B1B2E"/>
                </a:solidFill>
                <a:latin typeface="Arial" pitchFamily="34" charset="0"/>
                <a:ea typeface="Arial" pitchFamily="34" charset="-122"/>
                <a:cs typeface="Arial" pitchFamily="34" charset="-120"/>
              </a:rPr>
              <a:t>$101,028</a:t>
            </a:r>
            <a:endParaRPr lang="en-US" sz="3000" dirty="0"/>
          </a:p>
        </p:txBody>
      </p:sp>
      <p:sp>
        <p:nvSpPr>
          <p:cNvPr id="14" name="Text 12"/>
          <p:cNvSpPr txBox="1"/>
          <p:nvPr/>
        </p:nvSpPr>
        <p:spPr>
          <a:xfrm>
            <a:off x="4585106" y="2542032"/>
            <a:ext cx="3021482" cy="274320"/>
          </a:xfrm>
          <a:prstGeom prst="rect">
            <a:avLst/>
          </a:prstGeom>
          <a:noFill/>
          <a:ln/>
        </p:spPr>
        <p:txBody>
          <a:bodyPr wrap="square" lIns="0" tIns="0" rIns="0" bIns="0" rtlCol="0" anchor="ctr"/>
          <a:lstStyle/>
          <a:p>
            <a:pPr algn="l" indent="0" marL="0">
              <a:buNone/>
            </a:pPr>
            <a:r>
              <a:rPr lang="en-US" sz="1100" b="1" dirty="0">
                <a:solidFill>
                  <a:srgbClr val="00A878"/>
                </a:solidFill>
                <a:latin typeface="Arial" pitchFamily="34" charset="0"/>
                <a:ea typeface="Arial" pitchFamily="34" charset="-122"/>
                <a:cs typeface="Arial" pitchFamily="34" charset="-120"/>
              </a:rPr>
              <a:t>–5.2% vs August   (–$5,505)</a:t>
            </a:r>
            <a:endParaRPr lang="en-US" sz="1100" dirty="0"/>
          </a:p>
        </p:txBody>
      </p:sp>
      <p:sp>
        <p:nvSpPr>
          <p:cNvPr id="15" name="Text 13"/>
          <p:cNvSpPr txBox="1"/>
          <p:nvPr/>
        </p:nvSpPr>
        <p:spPr>
          <a:xfrm>
            <a:off x="4585106" y="2779776"/>
            <a:ext cx="3021482" cy="274320"/>
          </a:xfrm>
          <a:prstGeom prst="rect">
            <a:avLst/>
          </a:prstGeom>
          <a:noFill/>
          <a:ln/>
        </p:spPr>
        <p:txBody>
          <a:bodyPr wrap="square" lIns="0" tIns="0" rIns="0" bIns="0" rtlCol="0" anchor="ctr"/>
          <a:lstStyle/>
          <a:p>
            <a:pPr algn="l" indent="0" marL="0">
              <a:buNone/>
            </a:pPr>
            <a:r>
              <a:rPr lang="en-US" sz="1050" dirty="0">
                <a:solidFill>
                  <a:srgbClr val="5B6B7E"/>
                </a:solidFill>
                <a:latin typeface="Arial" pitchFamily="34" charset="0"/>
                <a:ea typeface="Arial" pitchFamily="34" charset="-122"/>
                <a:cs typeface="Arial" pitchFamily="34" charset="-120"/>
              </a:rPr>
              <a:t>As reported in September: $791K</a:t>
            </a:r>
            <a:endParaRPr lang="en-US" sz="1050" dirty="0"/>
          </a:p>
        </p:txBody>
      </p:sp>
      <p:sp>
        <p:nvSpPr>
          <p:cNvPr id="16" name="stat-card-Marketplace YT"/>
          <p:cNvSpPr/>
          <p:nvPr/>
        </p:nvSpPr>
        <p:spPr>
          <a:xfrm>
            <a:off x="8091221" y="1572768"/>
            <a:ext cx="3533546" cy="1627632"/>
          </a:xfrm>
          <a:prstGeom prst="roundRect">
            <a:avLst>
              <a:gd name="adj" fmla="val 3371"/>
            </a:avLst>
          </a:prstGeom>
          <a:solidFill>
            <a:srgbClr val="EEF2F7"/>
          </a:solidFill>
          <a:ln/>
        </p:spPr>
      </p:sp>
      <p:sp>
        <p:nvSpPr>
          <p:cNvPr id="17" name="stat-dot"/>
          <p:cNvSpPr/>
          <p:nvPr/>
        </p:nvSpPr>
        <p:spPr>
          <a:xfrm>
            <a:off x="8328965" y="1847088"/>
            <a:ext cx="91440" cy="91440"/>
          </a:xfrm>
          <a:prstGeom prst="ellipse">
            <a:avLst/>
          </a:prstGeom>
          <a:solidFill>
            <a:srgbClr val="27496B"/>
          </a:solidFill>
          <a:ln/>
        </p:spPr>
      </p:sp>
      <p:sp>
        <p:nvSpPr>
          <p:cNvPr id="18" name="Text 16"/>
          <p:cNvSpPr txBox="1"/>
          <p:nvPr/>
        </p:nvSpPr>
        <p:spPr>
          <a:xfrm>
            <a:off x="8511845" y="1746504"/>
            <a:ext cx="2893466"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MARKETPLACE YTD</a:t>
            </a:r>
            <a:endParaRPr lang="en-US" sz="1000" dirty="0"/>
          </a:p>
        </p:txBody>
      </p:sp>
      <p:sp>
        <p:nvSpPr>
          <p:cNvPr id="19" name="Text 17"/>
          <p:cNvSpPr txBox="1"/>
          <p:nvPr/>
        </p:nvSpPr>
        <p:spPr>
          <a:xfrm>
            <a:off x="8328965" y="2029968"/>
            <a:ext cx="3076346" cy="566928"/>
          </a:xfrm>
          <a:prstGeom prst="rect">
            <a:avLst/>
          </a:prstGeom>
          <a:noFill/>
          <a:ln/>
        </p:spPr>
        <p:txBody>
          <a:bodyPr wrap="square" lIns="0" tIns="0" rIns="0" bIns="0" rtlCol="0" anchor="ctr"/>
          <a:lstStyle/>
          <a:p>
            <a:pPr algn="l" indent="0" marL="0">
              <a:buNone/>
            </a:pPr>
            <a:r>
              <a:rPr lang="en-US" sz="3200" b="1" dirty="0">
                <a:solidFill>
                  <a:srgbClr val="0B1B2E"/>
                </a:solidFill>
                <a:latin typeface="Arial" pitchFamily="34" charset="0"/>
                <a:ea typeface="Arial" pitchFamily="34" charset="-122"/>
                <a:cs typeface="Arial" pitchFamily="34" charset="-120"/>
              </a:rPr>
              <a:t>$1.82M</a:t>
            </a:r>
            <a:endParaRPr lang="en-US" sz="3200" dirty="0"/>
          </a:p>
        </p:txBody>
      </p:sp>
      <p:sp>
        <p:nvSpPr>
          <p:cNvPr id="20" name="Text 18"/>
          <p:cNvSpPr txBox="1"/>
          <p:nvPr/>
        </p:nvSpPr>
        <p:spPr>
          <a:xfrm>
            <a:off x="8328965" y="2578608"/>
            <a:ext cx="3076346" cy="36576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70% of the AWS total</a:t>
            </a:r>
            <a:endParaRPr lang="en-US" sz="1100" dirty="0"/>
          </a:p>
        </p:txBody>
      </p:sp>
      <p:sp>
        <p:nvSpPr>
          <p:cNvPr id="21" name="strip"/>
          <p:cNvSpPr/>
          <p:nvPr/>
        </p:nvSpPr>
        <p:spPr>
          <a:xfrm>
            <a:off x="566928" y="3401568"/>
            <a:ext cx="7223760" cy="566928"/>
          </a:xfrm>
          <a:prstGeom prst="roundRect">
            <a:avLst>
              <a:gd name="adj" fmla="val 9677"/>
            </a:avLst>
          </a:prstGeom>
          <a:solidFill>
            <a:srgbClr val="EEF2F7"/>
          </a:solidFill>
          <a:ln/>
        </p:spPr>
      </p:sp>
      <p:sp>
        <p:nvSpPr>
          <p:cNvPr id="22" name="Text 20"/>
          <p:cNvSpPr txBox="1"/>
          <p:nvPr/>
        </p:nvSpPr>
        <p:spPr>
          <a:xfrm>
            <a:off x="566928" y="3447288"/>
            <a:ext cx="80264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Jan</a:t>
            </a:r>
            <a:endParaRPr lang="en-US" sz="950" dirty="0"/>
          </a:p>
        </p:txBody>
      </p:sp>
      <p:sp>
        <p:nvSpPr>
          <p:cNvPr id="23" name="Text 21"/>
          <p:cNvSpPr txBox="1"/>
          <p:nvPr/>
        </p:nvSpPr>
        <p:spPr>
          <a:xfrm>
            <a:off x="566928" y="3657600"/>
            <a:ext cx="802640"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$77K</a:t>
            </a:r>
            <a:endParaRPr lang="en-US" sz="1100" dirty="0"/>
          </a:p>
        </p:txBody>
      </p:sp>
      <p:sp>
        <p:nvSpPr>
          <p:cNvPr id="24" name="Text 22"/>
          <p:cNvSpPr txBox="1"/>
          <p:nvPr/>
        </p:nvSpPr>
        <p:spPr>
          <a:xfrm>
            <a:off x="1369568" y="3447288"/>
            <a:ext cx="80264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Feb</a:t>
            </a:r>
            <a:endParaRPr lang="en-US" sz="950" dirty="0"/>
          </a:p>
        </p:txBody>
      </p:sp>
      <p:sp>
        <p:nvSpPr>
          <p:cNvPr id="25" name="Text 23"/>
          <p:cNvSpPr txBox="1"/>
          <p:nvPr/>
        </p:nvSpPr>
        <p:spPr>
          <a:xfrm>
            <a:off x="1369568" y="3657600"/>
            <a:ext cx="802640"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$83K</a:t>
            </a:r>
            <a:endParaRPr lang="en-US" sz="1100" dirty="0"/>
          </a:p>
        </p:txBody>
      </p:sp>
      <p:sp>
        <p:nvSpPr>
          <p:cNvPr id="26" name="Text 24"/>
          <p:cNvSpPr txBox="1"/>
          <p:nvPr/>
        </p:nvSpPr>
        <p:spPr>
          <a:xfrm>
            <a:off x="2172208" y="3447288"/>
            <a:ext cx="80264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Mar</a:t>
            </a:r>
            <a:endParaRPr lang="en-US" sz="950" dirty="0"/>
          </a:p>
        </p:txBody>
      </p:sp>
      <p:sp>
        <p:nvSpPr>
          <p:cNvPr id="27" name="Text 25"/>
          <p:cNvSpPr txBox="1"/>
          <p:nvPr/>
        </p:nvSpPr>
        <p:spPr>
          <a:xfrm>
            <a:off x="2172208" y="3657600"/>
            <a:ext cx="802640"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$96K</a:t>
            </a:r>
            <a:endParaRPr lang="en-US" sz="1100" dirty="0"/>
          </a:p>
        </p:txBody>
      </p:sp>
      <p:sp>
        <p:nvSpPr>
          <p:cNvPr id="28" name="Text 26"/>
          <p:cNvSpPr txBox="1"/>
          <p:nvPr/>
        </p:nvSpPr>
        <p:spPr>
          <a:xfrm>
            <a:off x="2974848" y="3447288"/>
            <a:ext cx="80264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Apr</a:t>
            </a:r>
            <a:endParaRPr lang="en-US" sz="950" dirty="0"/>
          </a:p>
        </p:txBody>
      </p:sp>
      <p:sp>
        <p:nvSpPr>
          <p:cNvPr id="29" name="Text 27"/>
          <p:cNvSpPr txBox="1"/>
          <p:nvPr/>
        </p:nvSpPr>
        <p:spPr>
          <a:xfrm>
            <a:off x="2974848" y="3657600"/>
            <a:ext cx="802640"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$82K</a:t>
            </a:r>
            <a:endParaRPr lang="en-US" sz="1100" dirty="0"/>
          </a:p>
        </p:txBody>
      </p:sp>
      <p:sp>
        <p:nvSpPr>
          <p:cNvPr id="30" name="Text 28"/>
          <p:cNvSpPr txBox="1"/>
          <p:nvPr/>
        </p:nvSpPr>
        <p:spPr>
          <a:xfrm>
            <a:off x="3777488" y="3447288"/>
            <a:ext cx="80264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May</a:t>
            </a:r>
            <a:endParaRPr lang="en-US" sz="950" dirty="0"/>
          </a:p>
        </p:txBody>
      </p:sp>
      <p:sp>
        <p:nvSpPr>
          <p:cNvPr id="31" name="Text 29"/>
          <p:cNvSpPr txBox="1"/>
          <p:nvPr/>
        </p:nvSpPr>
        <p:spPr>
          <a:xfrm>
            <a:off x="3777488" y="3657600"/>
            <a:ext cx="802640"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$83K</a:t>
            </a:r>
            <a:endParaRPr lang="en-US" sz="1100" dirty="0"/>
          </a:p>
        </p:txBody>
      </p:sp>
      <p:sp>
        <p:nvSpPr>
          <p:cNvPr id="32" name="Text 30"/>
          <p:cNvSpPr txBox="1"/>
          <p:nvPr/>
        </p:nvSpPr>
        <p:spPr>
          <a:xfrm>
            <a:off x="4580128" y="3447288"/>
            <a:ext cx="80264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Jun</a:t>
            </a:r>
            <a:endParaRPr lang="en-US" sz="950" dirty="0"/>
          </a:p>
        </p:txBody>
      </p:sp>
      <p:sp>
        <p:nvSpPr>
          <p:cNvPr id="33" name="Text 31"/>
          <p:cNvSpPr txBox="1"/>
          <p:nvPr/>
        </p:nvSpPr>
        <p:spPr>
          <a:xfrm>
            <a:off x="4580128" y="3657600"/>
            <a:ext cx="802640"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$87K</a:t>
            </a:r>
            <a:endParaRPr lang="en-US" sz="1100" dirty="0"/>
          </a:p>
        </p:txBody>
      </p:sp>
      <p:sp>
        <p:nvSpPr>
          <p:cNvPr id="34" name="Text 32"/>
          <p:cNvSpPr txBox="1"/>
          <p:nvPr/>
        </p:nvSpPr>
        <p:spPr>
          <a:xfrm>
            <a:off x="5382768" y="3447288"/>
            <a:ext cx="80264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Jul</a:t>
            </a:r>
            <a:endParaRPr lang="en-US" sz="950" dirty="0"/>
          </a:p>
        </p:txBody>
      </p:sp>
      <p:sp>
        <p:nvSpPr>
          <p:cNvPr id="35" name="Text 33"/>
          <p:cNvSpPr txBox="1"/>
          <p:nvPr/>
        </p:nvSpPr>
        <p:spPr>
          <a:xfrm>
            <a:off x="5382768" y="3657600"/>
            <a:ext cx="802640"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$77K</a:t>
            </a:r>
            <a:endParaRPr lang="en-US" sz="1100" dirty="0"/>
          </a:p>
        </p:txBody>
      </p:sp>
      <p:sp>
        <p:nvSpPr>
          <p:cNvPr id="36" name="Text 34"/>
          <p:cNvSpPr txBox="1"/>
          <p:nvPr/>
        </p:nvSpPr>
        <p:spPr>
          <a:xfrm>
            <a:off x="6185408" y="3447288"/>
            <a:ext cx="80264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Aug</a:t>
            </a:r>
            <a:endParaRPr lang="en-US" sz="950" dirty="0"/>
          </a:p>
        </p:txBody>
      </p:sp>
      <p:sp>
        <p:nvSpPr>
          <p:cNvPr id="37" name="Text 35"/>
          <p:cNvSpPr txBox="1"/>
          <p:nvPr/>
        </p:nvSpPr>
        <p:spPr>
          <a:xfrm>
            <a:off x="6185408" y="3657600"/>
            <a:ext cx="802640"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$107K</a:t>
            </a:r>
            <a:endParaRPr lang="en-US" sz="1100" dirty="0"/>
          </a:p>
        </p:txBody>
      </p:sp>
      <p:sp>
        <p:nvSpPr>
          <p:cNvPr id="38" name="Text 36"/>
          <p:cNvSpPr txBox="1"/>
          <p:nvPr/>
        </p:nvSpPr>
        <p:spPr>
          <a:xfrm>
            <a:off x="6988048" y="3447288"/>
            <a:ext cx="80264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Sep</a:t>
            </a:r>
            <a:endParaRPr lang="en-US" sz="950" dirty="0"/>
          </a:p>
        </p:txBody>
      </p:sp>
      <p:sp>
        <p:nvSpPr>
          <p:cNvPr id="39" name="Text 37"/>
          <p:cNvSpPr txBox="1"/>
          <p:nvPr/>
        </p:nvSpPr>
        <p:spPr>
          <a:xfrm>
            <a:off x="6988048" y="3657600"/>
            <a:ext cx="802640" cy="256032"/>
          </a:xfrm>
          <a:prstGeom prst="rect">
            <a:avLst/>
          </a:prstGeom>
          <a:noFill/>
          <a:ln/>
        </p:spPr>
        <p:txBody>
          <a:bodyPr wrap="square" lIns="0" tIns="0" rIns="0" bIns="0" rtlCol="0" anchor="ctr"/>
          <a:lstStyle/>
          <a:p>
            <a:pPr algn="ctr" indent="0" marL="0">
              <a:buNone/>
            </a:pPr>
            <a:r>
              <a:rPr lang="en-US" sz="1100" b="1" dirty="0">
                <a:solidFill>
                  <a:srgbClr val="0B1B2E"/>
                </a:solidFill>
                <a:latin typeface="Arial" pitchFamily="34" charset="0"/>
                <a:ea typeface="Arial" pitchFamily="34" charset="-122"/>
                <a:cs typeface="Arial" pitchFamily="34" charset="-120"/>
              </a:rPr>
              <a:t>$101K</a:t>
            </a:r>
            <a:endParaRPr lang="en-US" sz="1100" dirty="0"/>
          </a:p>
        </p:txBody>
      </p:sp>
      <p:graphicFrame>
        <p:nvGraphicFramePr>
          <p:cNvPr id="40" name="Chart 0" descr=""/>
          <p:cNvGraphicFramePr/>
          <p:nvPr/>
        </p:nvGraphicFramePr>
        <p:xfrm>
          <a:off x="457200" y="4059936"/>
          <a:ext cx="7406640" cy="1828800"/>
        </p:xfrm>
        <a:graphic xmlns:a="http://schemas.openxmlformats.org/drawingml/2006/main">
          <a:graphicData uri="http://schemas.openxmlformats.org/drawingml/2006/chart">
            <c:chart xmlns:c="http://schemas.openxmlformats.org/drawingml/2006/chart" r:id="rId1"/>
          </a:graphicData>
        </a:graphic>
      </p:graphicFrame>
      <p:sp>
        <p:nvSpPr>
          <p:cNvPr id="41" name="panel"/>
          <p:cNvSpPr/>
          <p:nvPr/>
        </p:nvSpPr>
        <p:spPr>
          <a:xfrm>
            <a:off x="7973568" y="3401568"/>
            <a:ext cx="3651199" cy="2487168"/>
          </a:xfrm>
          <a:prstGeom prst="roundRect">
            <a:avLst>
              <a:gd name="adj" fmla="val 2206"/>
            </a:avLst>
          </a:prstGeom>
          <a:solidFill>
            <a:srgbClr val="EEF2F7"/>
          </a:solidFill>
          <a:ln/>
        </p:spPr>
      </p:sp>
      <p:sp>
        <p:nvSpPr>
          <p:cNvPr id="42" name="Text 39"/>
          <p:cNvSpPr txBox="1"/>
          <p:nvPr/>
        </p:nvSpPr>
        <p:spPr>
          <a:xfrm>
            <a:off x="8229600" y="3566160"/>
            <a:ext cx="3200400" cy="292608"/>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What moved</a:t>
            </a:r>
            <a:endParaRPr lang="en-US" sz="1300" dirty="0"/>
          </a:p>
        </p:txBody>
      </p:sp>
      <p:sp>
        <p:nvSpPr>
          <p:cNvPr id="43" name="mv-dot-0"/>
          <p:cNvSpPr/>
          <p:nvPr/>
        </p:nvSpPr>
        <p:spPr>
          <a:xfrm>
            <a:off x="8229600" y="4023360"/>
            <a:ext cx="91440" cy="91440"/>
          </a:xfrm>
          <a:prstGeom prst="ellipse">
            <a:avLst/>
          </a:prstGeom>
          <a:solidFill>
            <a:srgbClr val="00A878"/>
          </a:solidFill>
          <a:ln/>
        </p:spPr>
      </p:sp>
      <p:sp>
        <p:nvSpPr>
          <p:cNvPr id="44" name="Text 41"/>
          <p:cNvSpPr txBox="1"/>
          <p:nvPr/>
        </p:nvSpPr>
        <p:spPr>
          <a:xfrm>
            <a:off x="8412480" y="3931920"/>
            <a:ext cx="3017520" cy="256032"/>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July fell to $77K</a:t>
            </a:r>
            <a:endParaRPr lang="en-US" sz="1200" dirty="0"/>
          </a:p>
        </p:txBody>
      </p:sp>
      <p:sp>
        <p:nvSpPr>
          <p:cNvPr id="45" name="Text 42"/>
          <p:cNvSpPr txBox="1"/>
          <p:nvPr/>
        </p:nvSpPr>
        <p:spPr>
          <a:xfrm>
            <a:off x="8412480" y="4187952"/>
            <a:ext cx="3017520" cy="274320"/>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A MAP credit of $15.3K on ai-factory-dev</a:t>
            </a:r>
            <a:endParaRPr lang="en-US" sz="1050" dirty="0"/>
          </a:p>
        </p:txBody>
      </p:sp>
      <p:sp>
        <p:nvSpPr>
          <p:cNvPr id="46" name="mv-dot-1"/>
          <p:cNvSpPr/>
          <p:nvPr/>
        </p:nvSpPr>
        <p:spPr>
          <a:xfrm>
            <a:off x="8229600" y="4645152"/>
            <a:ext cx="91440" cy="91440"/>
          </a:xfrm>
          <a:prstGeom prst="ellipse">
            <a:avLst/>
          </a:prstGeom>
          <a:solidFill>
            <a:srgbClr val="F2A900"/>
          </a:solidFill>
          <a:ln/>
        </p:spPr>
      </p:sp>
      <p:sp>
        <p:nvSpPr>
          <p:cNvPr id="47" name="Text 44"/>
          <p:cNvSpPr txBox="1"/>
          <p:nvPr/>
        </p:nvSpPr>
        <p:spPr>
          <a:xfrm>
            <a:off x="8412480" y="4553712"/>
            <a:ext cx="3017520" cy="256032"/>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August peaked at $107K</a:t>
            </a:r>
            <a:endParaRPr lang="en-US" sz="1200" dirty="0"/>
          </a:p>
        </p:txBody>
      </p:sp>
      <p:sp>
        <p:nvSpPr>
          <p:cNvPr id="48" name="Text 45"/>
          <p:cNvSpPr txBox="1"/>
          <p:nvPr/>
        </p:nvSpPr>
        <p:spPr>
          <a:xfrm>
            <a:off x="8412480" y="4809744"/>
            <a:ext cx="3017520" cy="274320"/>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Glacier archive and customers3-prod</a:t>
            </a:r>
            <a:endParaRPr lang="en-US" sz="1050" dirty="0"/>
          </a:p>
        </p:txBody>
      </p:sp>
      <p:sp>
        <p:nvSpPr>
          <p:cNvPr id="49" name="mv-dot-2"/>
          <p:cNvSpPr/>
          <p:nvPr/>
        </p:nvSpPr>
        <p:spPr>
          <a:xfrm>
            <a:off x="8229600" y="5266944"/>
            <a:ext cx="91440" cy="91440"/>
          </a:xfrm>
          <a:prstGeom prst="ellipse">
            <a:avLst/>
          </a:prstGeom>
          <a:solidFill>
            <a:srgbClr val="0F7DC2"/>
          </a:solidFill>
          <a:ln/>
        </p:spPr>
      </p:sp>
      <p:sp>
        <p:nvSpPr>
          <p:cNvPr id="50" name="Text 47"/>
          <p:cNvSpPr txBox="1"/>
          <p:nvPr/>
        </p:nvSpPr>
        <p:spPr>
          <a:xfrm>
            <a:off x="8412480" y="5175504"/>
            <a:ext cx="3017520" cy="256032"/>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September $101K</a:t>
            </a:r>
            <a:endParaRPr lang="en-US" sz="1200" dirty="0"/>
          </a:p>
        </p:txBody>
      </p:sp>
      <p:sp>
        <p:nvSpPr>
          <p:cNvPr id="51" name="Text 48"/>
          <p:cNvSpPr txBox="1"/>
          <p:nvPr/>
        </p:nvSpPr>
        <p:spPr>
          <a:xfrm>
            <a:off x="8412480" y="5431536"/>
            <a:ext cx="3017520" cy="274320"/>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Steady, archive growth continues</a:t>
            </a:r>
            <a:endParaRPr lang="en-US" sz="1050" dirty="0"/>
          </a:p>
        </p:txBody>
      </p:sp>
      <p:sp>
        <p:nvSpPr>
          <p:cNvPr id="52"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Consumption excludes Marketplace. Charges span two payer accounts; the Harel IL payer is $166K of the total.</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F2A900"/>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AWS MARKETPLACE</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Two thirds of the AWS bill is contracts, not metered usage</a:t>
            </a:r>
            <a:endParaRPr lang="en-US" sz="2800" dirty="0"/>
          </a:p>
        </p:txBody>
      </p:sp>
      <p:sp>
        <p:nvSpPr>
          <p:cNvPr id="5" name="Text 3"/>
          <p:cNvSpPr txBox="1"/>
          <p:nvPr/>
        </p:nvSpPr>
        <p:spPr>
          <a:xfrm>
            <a:off x="566928" y="1554480"/>
            <a:ext cx="6766560" cy="274320"/>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Marketplace and prepaid contracts by month  ($K)</a:t>
            </a:r>
            <a:endParaRPr lang="en-US" sz="1300" dirty="0"/>
          </a:p>
        </p:txBody>
      </p:sp>
      <p:graphicFrame>
        <p:nvGraphicFramePr>
          <p:cNvPr id="6" name="Chart 0" descr=""/>
          <p:cNvGraphicFramePr/>
          <p:nvPr/>
        </p:nvGraphicFramePr>
        <p:xfrm>
          <a:off x="457200" y="1883664"/>
          <a:ext cx="6858000" cy="38404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699248" y="1554480"/>
            <a:ext cx="3657600" cy="274320"/>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Largest contracts, year to date</a:t>
            </a:r>
            <a:endParaRPr lang="en-US" sz="1300" dirty="0"/>
          </a:p>
        </p:txBody>
      </p:sp>
      <p:sp>
        <p:nvSpPr>
          <p:cNvPr id="8" name="Text 5"/>
          <p:cNvSpPr txBox="1"/>
          <p:nvPr/>
        </p:nvSpPr>
        <p:spPr>
          <a:xfrm>
            <a:off x="7699248" y="1975104"/>
            <a:ext cx="2395728" cy="274320"/>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Databricks P3 pre-purchase</a:t>
            </a:r>
            <a:endParaRPr lang="en-US" sz="1100" dirty="0"/>
          </a:p>
        </p:txBody>
      </p:sp>
      <p:sp>
        <p:nvSpPr>
          <p:cNvPr id="9" name="ct-bar-0"/>
          <p:cNvSpPr/>
          <p:nvPr/>
        </p:nvSpPr>
        <p:spPr>
          <a:xfrm>
            <a:off x="10149840" y="2043684"/>
            <a:ext cx="1152144" cy="137160"/>
          </a:xfrm>
          <a:prstGeom prst="rect">
            <a:avLst/>
          </a:prstGeom>
          <a:solidFill>
            <a:srgbClr val="D7263D"/>
          </a:solidFill>
          <a:ln/>
        </p:spPr>
      </p:sp>
      <p:sp>
        <p:nvSpPr>
          <p:cNvPr id="10" name="Text 7"/>
          <p:cNvSpPr txBox="1"/>
          <p:nvPr/>
        </p:nvSpPr>
        <p:spPr>
          <a:xfrm>
            <a:off x="11356848" y="1975104"/>
            <a:ext cx="658368"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$504K</a:t>
            </a:r>
            <a:endParaRPr lang="en-US" sz="1050" dirty="0"/>
          </a:p>
        </p:txBody>
      </p:sp>
      <p:sp>
        <p:nvSpPr>
          <p:cNvPr id="11" name="Text 8"/>
          <p:cNvSpPr txBox="1"/>
          <p:nvPr/>
        </p:nvSpPr>
        <p:spPr>
          <a:xfrm>
            <a:off x="7699248" y="2450592"/>
            <a:ext cx="2395728" cy="274320"/>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Splunk</a:t>
            </a:r>
            <a:endParaRPr lang="en-US" sz="1100" dirty="0"/>
          </a:p>
        </p:txBody>
      </p:sp>
      <p:sp>
        <p:nvSpPr>
          <p:cNvPr id="12" name="ct-bar-1"/>
          <p:cNvSpPr/>
          <p:nvPr/>
        </p:nvSpPr>
        <p:spPr>
          <a:xfrm>
            <a:off x="10149840" y="2519172"/>
            <a:ext cx="834390" cy="137160"/>
          </a:xfrm>
          <a:prstGeom prst="rect">
            <a:avLst/>
          </a:prstGeom>
          <a:solidFill>
            <a:srgbClr val="27496B"/>
          </a:solidFill>
          <a:ln/>
        </p:spPr>
      </p:sp>
      <p:sp>
        <p:nvSpPr>
          <p:cNvPr id="13" name="Text 10"/>
          <p:cNvSpPr txBox="1"/>
          <p:nvPr/>
        </p:nvSpPr>
        <p:spPr>
          <a:xfrm>
            <a:off x="11356848" y="2450592"/>
            <a:ext cx="658368"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$365K</a:t>
            </a:r>
            <a:endParaRPr lang="en-US" sz="1050" dirty="0"/>
          </a:p>
        </p:txBody>
      </p:sp>
      <p:sp>
        <p:nvSpPr>
          <p:cNvPr id="14" name="Text 11"/>
          <p:cNvSpPr txBox="1"/>
          <p:nvPr/>
        </p:nvSpPr>
        <p:spPr>
          <a:xfrm>
            <a:off x="7699248" y="2926080"/>
            <a:ext cx="2395728" cy="274320"/>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TrendAI security</a:t>
            </a:r>
            <a:endParaRPr lang="en-US" sz="1100" dirty="0"/>
          </a:p>
        </p:txBody>
      </p:sp>
      <p:sp>
        <p:nvSpPr>
          <p:cNvPr id="15" name="ct-bar-2"/>
          <p:cNvSpPr/>
          <p:nvPr/>
        </p:nvSpPr>
        <p:spPr>
          <a:xfrm>
            <a:off x="10149840" y="2994660"/>
            <a:ext cx="587502" cy="137160"/>
          </a:xfrm>
          <a:prstGeom prst="rect">
            <a:avLst/>
          </a:prstGeom>
          <a:solidFill>
            <a:srgbClr val="27496B"/>
          </a:solidFill>
          <a:ln/>
        </p:spPr>
      </p:sp>
      <p:sp>
        <p:nvSpPr>
          <p:cNvPr id="16" name="Text 13"/>
          <p:cNvSpPr txBox="1"/>
          <p:nvPr/>
        </p:nvSpPr>
        <p:spPr>
          <a:xfrm>
            <a:off x="11356848" y="2926080"/>
            <a:ext cx="658368"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$257K</a:t>
            </a:r>
            <a:endParaRPr lang="en-US" sz="1050" dirty="0"/>
          </a:p>
        </p:txBody>
      </p:sp>
      <p:sp>
        <p:nvSpPr>
          <p:cNvPr id="17" name="Text 14"/>
          <p:cNvSpPr txBox="1"/>
          <p:nvPr/>
        </p:nvSpPr>
        <p:spPr>
          <a:xfrm>
            <a:off x="7699248" y="3401568"/>
            <a:ext cx="2395728" cy="274320"/>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MongoDB Atlas</a:t>
            </a:r>
            <a:endParaRPr lang="en-US" sz="1100" dirty="0"/>
          </a:p>
        </p:txBody>
      </p:sp>
      <p:sp>
        <p:nvSpPr>
          <p:cNvPr id="18" name="ct-bar-3"/>
          <p:cNvSpPr/>
          <p:nvPr/>
        </p:nvSpPr>
        <p:spPr>
          <a:xfrm>
            <a:off x="10149840" y="3470148"/>
            <a:ext cx="438912" cy="137160"/>
          </a:xfrm>
          <a:prstGeom prst="rect">
            <a:avLst/>
          </a:prstGeom>
          <a:solidFill>
            <a:srgbClr val="27496B"/>
          </a:solidFill>
          <a:ln/>
        </p:spPr>
      </p:sp>
      <p:sp>
        <p:nvSpPr>
          <p:cNvPr id="19" name="Text 16"/>
          <p:cNvSpPr txBox="1"/>
          <p:nvPr/>
        </p:nvSpPr>
        <p:spPr>
          <a:xfrm>
            <a:off x="11356848" y="3401568"/>
            <a:ext cx="658368"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$192K</a:t>
            </a:r>
            <a:endParaRPr lang="en-US" sz="1050" dirty="0"/>
          </a:p>
        </p:txBody>
      </p:sp>
      <p:sp>
        <p:nvSpPr>
          <p:cNvPr id="20" name="Text 17"/>
          <p:cNvSpPr txBox="1"/>
          <p:nvPr/>
        </p:nvSpPr>
        <p:spPr>
          <a:xfrm>
            <a:off x="7699248" y="3877056"/>
            <a:ext cx="2395728" cy="274320"/>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CrowdStrike Falcon</a:t>
            </a:r>
            <a:endParaRPr lang="en-US" sz="1100" dirty="0"/>
          </a:p>
        </p:txBody>
      </p:sp>
      <p:sp>
        <p:nvSpPr>
          <p:cNvPr id="21" name="ct-bar-4"/>
          <p:cNvSpPr/>
          <p:nvPr/>
        </p:nvSpPr>
        <p:spPr>
          <a:xfrm>
            <a:off x="10149840" y="3945636"/>
            <a:ext cx="390906" cy="137160"/>
          </a:xfrm>
          <a:prstGeom prst="rect">
            <a:avLst/>
          </a:prstGeom>
          <a:solidFill>
            <a:srgbClr val="27496B"/>
          </a:solidFill>
          <a:ln/>
        </p:spPr>
      </p:sp>
      <p:sp>
        <p:nvSpPr>
          <p:cNvPr id="22" name="Text 19"/>
          <p:cNvSpPr txBox="1"/>
          <p:nvPr/>
        </p:nvSpPr>
        <p:spPr>
          <a:xfrm>
            <a:off x="11356848" y="3877056"/>
            <a:ext cx="658368"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$171K</a:t>
            </a:r>
            <a:endParaRPr lang="en-US" sz="1050" dirty="0"/>
          </a:p>
        </p:txBody>
      </p:sp>
      <p:sp>
        <p:nvSpPr>
          <p:cNvPr id="23" name="Text 20"/>
          <p:cNvSpPr txBox="1"/>
          <p:nvPr/>
        </p:nvSpPr>
        <p:spPr>
          <a:xfrm>
            <a:off x="7699248" y="4352544"/>
            <a:ext cx="2395728" cy="274320"/>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F5 Distributed Cloud</a:t>
            </a:r>
            <a:endParaRPr lang="en-US" sz="1100" dirty="0"/>
          </a:p>
        </p:txBody>
      </p:sp>
      <p:sp>
        <p:nvSpPr>
          <p:cNvPr id="24" name="ct-bar-5"/>
          <p:cNvSpPr/>
          <p:nvPr/>
        </p:nvSpPr>
        <p:spPr>
          <a:xfrm>
            <a:off x="10149840" y="4421124"/>
            <a:ext cx="379476" cy="137160"/>
          </a:xfrm>
          <a:prstGeom prst="rect">
            <a:avLst/>
          </a:prstGeom>
          <a:solidFill>
            <a:srgbClr val="27496B"/>
          </a:solidFill>
          <a:ln/>
        </p:spPr>
      </p:sp>
      <p:sp>
        <p:nvSpPr>
          <p:cNvPr id="25" name="Text 22"/>
          <p:cNvSpPr txBox="1"/>
          <p:nvPr/>
        </p:nvSpPr>
        <p:spPr>
          <a:xfrm>
            <a:off x="11356848" y="4352544"/>
            <a:ext cx="658368"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$166K</a:t>
            </a:r>
            <a:endParaRPr lang="en-US" sz="1050" dirty="0"/>
          </a:p>
        </p:txBody>
      </p:sp>
      <p:sp>
        <p:nvSpPr>
          <p:cNvPr id="26" name="Text 23"/>
          <p:cNvSpPr txBox="1"/>
          <p:nvPr/>
        </p:nvSpPr>
        <p:spPr>
          <a:xfrm>
            <a:off x="7699248" y="4828032"/>
            <a:ext cx="2395728" cy="274320"/>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JFrog, new in September</a:t>
            </a:r>
            <a:endParaRPr lang="en-US" sz="1100" dirty="0"/>
          </a:p>
        </p:txBody>
      </p:sp>
      <p:sp>
        <p:nvSpPr>
          <p:cNvPr id="27" name="ct-bar-6"/>
          <p:cNvSpPr/>
          <p:nvPr/>
        </p:nvSpPr>
        <p:spPr>
          <a:xfrm>
            <a:off x="10149840" y="4896612"/>
            <a:ext cx="361188" cy="137160"/>
          </a:xfrm>
          <a:prstGeom prst="rect">
            <a:avLst/>
          </a:prstGeom>
          <a:solidFill>
            <a:srgbClr val="F2A900"/>
          </a:solidFill>
          <a:ln/>
        </p:spPr>
      </p:sp>
      <p:sp>
        <p:nvSpPr>
          <p:cNvPr id="28" name="Text 25"/>
          <p:cNvSpPr txBox="1"/>
          <p:nvPr/>
        </p:nvSpPr>
        <p:spPr>
          <a:xfrm>
            <a:off x="11356848" y="4828032"/>
            <a:ext cx="658368"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$158K</a:t>
            </a:r>
            <a:endParaRPr lang="en-US" sz="1050" dirty="0"/>
          </a:p>
        </p:txBody>
      </p:sp>
      <p:sp>
        <p:nvSpPr>
          <p:cNvPr id="29" name="Text 26"/>
          <p:cNvSpPr txBox="1"/>
          <p:nvPr/>
        </p:nvSpPr>
        <p:spPr>
          <a:xfrm>
            <a:off x="7699248" y="5303520"/>
            <a:ext cx="2395728" cy="274320"/>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Amazon Bedrock</a:t>
            </a:r>
            <a:endParaRPr lang="en-US" sz="1100" dirty="0"/>
          </a:p>
        </p:txBody>
      </p:sp>
      <p:sp>
        <p:nvSpPr>
          <p:cNvPr id="30" name="ct-bar-7"/>
          <p:cNvSpPr/>
          <p:nvPr/>
        </p:nvSpPr>
        <p:spPr>
          <a:xfrm>
            <a:off x="10149840" y="5372100"/>
            <a:ext cx="292608" cy="137160"/>
          </a:xfrm>
          <a:prstGeom prst="rect">
            <a:avLst/>
          </a:prstGeom>
          <a:solidFill>
            <a:srgbClr val="7C5CFF"/>
          </a:solidFill>
          <a:ln/>
        </p:spPr>
      </p:sp>
      <p:sp>
        <p:nvSpPr>
          <p:cNvPr id="31" name="Text 28"/>
          <p:cNvSpPr txBox="1"/>
          <p:nvPr/>
        </p:nvSpPr>
        <p:spPr>
          <a:xfrm>
            <a:off x="11356848" y="5303520"/>
            <a:ext cx="658368"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$128K</a:t>
            </a:r>
            <a:endParaRPr lang="en-US" sz="1050" dirty="0"/>
          </a:p>
        </p:txBody>
      </p:sp>
      <p:sp>
        <p:nvSpPr>
          <p:cNvPr id="32" name="chip"/>
          <p:cNvSpPr/>
          <p:nvPr/>
        </p:nvSpPr>
        <p:spPr>
          <a:xfrm>
            <a:off x="7699248" y="5614416"/>
            <a:ext cx="3931920" cy="329184"/>
          </a:xfrm>
          <a:prstGeom prst="roundRect">
            <a:avLst>
              <a:gd name="adj" fmla="val 33333"/>
            </a:avLst>
          </a:prstGeom>
          <a:solidFill>
            <a:srgbClr val="FFF4DE"/>
          </a:solidFill>
          <a:ln/>
        </p:spPr>
      </p:sp>
      <p:sp>
        <p:nvSpPr>
          <p:cNvPr id="33" name="Text 30"/>
          <p:cNvSpPr txBox="1"/>
          <p:nvPr/>
        </p:nvSpPr>
        <p:spPr>
          <a:xfrm>
            <a:off x="7699248" y="5614416"/>
            <a:ext cx="3931920" cy="329184"/>
          </a:xfrm>
          <a:prstGeom prst="rect">
            <a:avLst/>
          </a:prstGeom>
          <a:noFill/>
          <a:ln/>
        </p:spPr>
        <p:txBody>
          <a:bodyPr wrap="square" lIns="0" tIns="0" rIns="0" bIns="0" rtlCol="0" anchor="ctr"/>
          <a:lstStyle/>
          <a:p>
            <a:pPr algn="ctr" indent="0" marL="0">
              <a:buNone/>
            </a:pPr>
            <a:r>
              <a:rPr lang="en-US" sz="1050" b="1" dirty="0">
                <a:solidFill>
                  <a:srgbClr val="8A5A00"/>
                </a:solidFill>
                <a:latin typeface="Arial" pitchFamily="34" charset="0"/>
                <a:ea typeface="Arial" pitchFamily="34" charset="-122"/>
                <a:cs typeface="Arial" pitchFamily="34" charset="-120"/>
              </a:rPr>
              <a:t>72% of Marketplace is security tooling</a:t>
            </a:r>
            <a:endParaRPr lang="en-US" sz="1050" dirty="0"/>
          </a:p>
        </p:txBody>
      </p:sp>
      <p:sp>
        <p:nvSpPr>
          <p:cNvPr id="34"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January and April carry the annual renewals. September is the new JFrog supply-chain contract. Vendor detail is in the appendix.</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div-num"/>
          <p:cNvSpPr txBox="1"/>
          <p:nvPr/>
        </p:nvSpPr>
        <p:spPr>
          <a:xfrm>
            <a:off x="566928" y="1828800"/>
            <a:ext cx="2011680" cy="1371600"/>
          </a:xfrm>
          <a:prstGeom prst="rect">
            <a:avLst/>
          </a:prstGeom>
          <a:noFill/>
          <a:ln/>
        </p:spPr>
        <p:txBody>
          <a:bodyPr wrap="square" lIns="0" tIns="0" rIns="0" bIns="0" rtlCol="0" anchor="ctr"/>
          <a:lstStyle/>
          <a:p>
            <a:pPr algn="l" indent="0" marL="0">
              <a:buNone/>
            </a:pPr>
            <a:r>
              <a:rPr lang="en-US" sz="9600" b="1" dirty="0">
                <a:solidFill>
                  <a:srgbClr val="0F7DC2"/>
                </a:solidFill>
                <a:latin typeface="Cambria" pitchFamily="34" charset="0"/>
                <a:ea typeface="Cambria" pitchFamily="34" charset="-122"/>
                <a:cs typeface="Cambria" pitchFamily="34" charset="-120"/>
              </a:rPr>
              <a:t>04</a:t>
            </a:r>
            <a:endParaRPr lang="en-US" sz="9600" dirty="0"/>
          </a:p>
        </p:txBody>
      </p:sp>
      <p:sp>
        <p:nvSpPr>
          <p:cNvPr id="3" name="div-title"/>
          <p:cNvSpPr txBox="1"/>
          <p:nvPr/>
        </p:nvSpPr>
        <p:spPr>
          <a:xfrm>
            <a:off x="566928" y="3200400"/>
            <a:ext cx="8961120" cy="877824"/>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Microsoft Azure</a:t>
            </a:r>
            <a:endParaRPr lang="en-US" sz="4000" dirty="0"/>
          </a:p>
        </p:txBody>
      </p:sp>
      <p:sp>
        <p:nvSpPr>
          <p:cNvPr id="4" name="div-body"/>
          <p:cNvSpPr txBox="1"/>
          <p:nvPr/>
        </p:nvSpPr>
        <p:spPr>
          <a:xfrm>
            <a:off x="566928" y="4169664"/>
            <a:ext cx="7498080" cy="868680"/>
          </a:xfrm>
          <a:prstGeom prst="rect">
            <a:avLst/>
          </a:prstGeom>
          <a:noFill/>
          <a:ln/>
        </p:spPr>
        <p:txBody>
          <a:bodyPr wrap="square" lIns="0" tIns="0" rIns="0" bIns="0" rtlCol="0" anchor="t"/>
          <a:lstStyle/>
          <a:p>
            <a:pPr algn="l" indent="0" marL="0">
              <a:buNone/>
            </a:pPr>
            <a:r>
              <a:rPr lang="en-US" sz="1500" dirty="0">
                <a:solidFill>
                  <a:srgbClr val="9FB3C8"/>
                </a:solidFill>
                <a:latin typeface="Arial" pitchFamily="34" charset="0"/>
                <a:ea typeface="Arial" pitchFamily="34" charset="-122"/>
                <a:cs typeface="Arial" pitchFamily="34" charset="-120"/>
              </a:rPr>
              <a:t>$2.05M year to date. The largest metered estate, growing every month since February, and the home of the Databricks commitment.</a:t>
            </a:r>
            <a:endParaRPr lang="en-US" sz="15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F7DC2"/>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AZURE OVERVIEW</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Azure has grown every month since February, up 26% on January</a:t>
            </a:r>
            <a:endParaRPr lang="en-US" sz="2800" dirty="0"/>
          </a:p>
        </p:txBody>
      </p:sp>
      <p:sp>
        <p:nvSpPr>
          <p:cNvPr id="5" name="stat-card-Consumption YT"/>
          <p:cNvSpPr/>
          <p:nvPr/>
        </p:nvSpPr>
        <p:spPr>
          <a:xfrm>
            <a:off x="566928" y="1572768"/>
            <a:ext cx="3533546" cy="1627632"/>
          </a:xfrm>
          <a:prstGeom prst="roundRect">
            <a:avLst>
              <a:gd name="adj" fmla="val 3371"/>
            </a:avLst>
          </a:prstGeom>
          <a:solidFill>
            <a:srgbClr val="EEF2F7"/>
          </a:solidFill>
          <a:ln/>
        </p:spPr>
      </p:sp>
      <p:sp>
        <p:nvSpPr>
          <p:cNvPr id="6" name="stat-dot"/>
          <p:cNvSpPr/>
          <p:nvPr/>
        </p:nvSpPr>
        <p:spPr>
          <a:xfrm>
            <a:off x="804672" y="1847088"/>
            <a:ext cx="91440" cy="91440"/>
          </a:xfrm>
          <a:prstGeom prst="ellipse">
            <a:avLst/>
          </a:prstGeom>
          <a:solidFill>
            <a:srgbClr val="0F7DC2"/>
          </a:solidFill>
          <a:ln/>
        </p:spPr>
      </p:sp>
      <p:sp>
        <p:nvSpPr>
          <p:cNvPr id="7" name="Text 5"/>
          <p:cNvSpPr txBox="1"/>
          <p:nvPr/>
        </p:nvSpPr>
        <p:spPr>
          <a:xfrm>
            <a:off x="987552" y="1746504"/>
            <a:ext cx="2893466"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CONSUMPTION YTD</a:t>
            </a:r>
            <a:endParaRPr lang="en-US" sz="1000" dirty="0"/>
          </a:p>
        </p:txBody>
      </p:sp>
      <p:sp>
        <p:nvSpPr>
          <p:cNvPr id="8" name="Text 6"/>
          <p:cNvSpPr txBox="1"/>
          <p:nvPr/>
        </p:nvSpPr>
        <p:spPr>
          <a:xfrm>
            <a:off x="804672" y="2029968"/>
            <a:ext cx="3076346" cy="566928"/>
          </a:xfrm>
          <a:prstGeom prst="rect">
            <a:avLst/>
          </a:prstGeom>
          <a:noFill/>
          <a:ln/>
        </p:spPr>
        <p:txBody>
          <a:bodyPr wrap="square" lIns="0" tIns="0" rIns="0" bIns="0" rtlCol="0" anchor="ctr"/>
          <a:lstStyle/>
          <a:p>
            <a:pPr algn="l" indent="0" marL="0">
              <a:buNone/>
            </a:pPr>
            <a:r>
              <a:rPr lang="en-US" sz="3200" b="1" dirty="0">
                <a:solidFill>
                  <a:srgbClr val="0B1B2E"/>
                </a:solidFill>
                <a:latin typeface="Arial" pitchFamily="34" charset="0"/>
                <a:ea typeface="Arial" pitchFamily="34" charset="-122"/>
                <a:cs typeface="Arial" pitchFamily="34" charset="-120"/>
              </a:rPr>
              <a:t>$1.51M</a:t>
            </a:r>
            <a:endParaRPr lang="en-US" sz="3200" dirty="0"/>
          </a:p>
        </p:txBody>
      </p:sp>
      <p:sp>
        <p:nvSpPr>
          <p:cNvPr id="9" name="Text 7"/>
          <p:cNvSpPr txBox="1"/>
          <p:nvPr/>
        </p:nvSpPr>
        <p:spPr>
          <a:xfrm>
            <a:off x="804672" y="2578608"/>
            <a:ext cx="3076346" cy="36576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$167K average per month</a:t>
            </a:r>
            <a:endParaRPr lang="en-US" sz="1100" dirty="0"/>
          </a:p>
        </p:txBody>
      </p:sp>
      <p:sp>
        <p:nvSpPr>
          <p:cNvPr id="10" name="metric-September 2026"/>
          <p:cNvSpPr/>
          <p:nvPr/>
        </p:nvSpPr>
        <p:spPr>
          <a:xfrm>
            <a:off x="4329074" y="1572768"/>
            <a:ext cx="3533546" cy="1627632"/>
          </a:xfrm>
          <a:prstGeom prst="roundRect">
            <a:avLst>
              <a:gd name="adj" fmla="val 3371"/>
            </a:avLst>
          </a:prstGeom>
          <a:solidFill>
            <a:srgbClr val="EEF2F7"/>
          </a:solidFill>
          <a:ln/>
        </p:spPr>
      </p:sp>
      <p:sp>
        <p:nvSpPr>
          <p:cNvPr id="11" name="metric-dot"/>
          <p:cNvSpPr/>
          <p:nvPr/>
        </p:nvSpPr>
        <p:spPr>
          <a:xfrm>
            <a:off x="4585106" y="1810512"/>
            <a:ext cx="91440" cy="91440"/>
          </a:xfrm>
          <a:prstGeom prst="ellipse">
            <a:avLst/>
          </a:prstGeom>
          <a:solidFill>
            <a:srgbClr val="F2A900"/>
          </a:solidFill>
          <a:ln/>
        </p:spPr>
      </p:sp>
      <p:sp>
        <p:nvSpPr>
          <p:cNvPr id="12" name="Text 10"/>
          <p:cNvSpPr txBox="1"/>
          <p:nvPr/>
        </p:nvSpPr>
        <p:spPr>
          <a:xfrm>
            <a:off x="4767986" y="1719072"/>
            <a:ext cx="2838602" cy="256032"/>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SEPTEMBER 2026</a:t>
            </a:r>
            <a:endParaRPr lang="en-US" sz="1000" dirty="0"/>
          </a:p>
        </p:txBody>
      </p:sp>
      <p:sp>
        <p:nvSpPr>
          <p:cNvPr id="13" name="Text 11"/>
          <p:cNvSpPr txBox="1"/>
          <p:nvPr/>
        </p:nvSpPr>
        <p:spPr>
          <a:xfrm>
            <a:off x="4585106" y="1975104"/>
            <a:ext cx="3021482" cy="566928"/>
          </a:xfrm>
          <a:prstGeom prst="rect">
            <a:avLst/>
          </a:prstGeom>
          <a:noFill/>
          <a:ln/>
        </p:spPr>
        <p:txBody>
          <a:bodyPr wrap="square" lIns="0" tIns="0" rIns="0" bIns="0" rtlCol="0" anchor="ctr"/>
          <a:lstStyle/>
          <a:p>
            <a:pPr algn="l" indent="0" marL="0">
              <a:buNone/>
            </a:pPr>
            <a:r>
              <a:rPr lang="en-US" sz="3000" b="1" dirty="0">
                <a:solidFill>
                  <a:srgbClr val="0B1B2E"/>
                </a:solidFill>
                <a:latin typeface="Arial" pitchFamily="34" charset="0"/>
                <a:ea typeface="Arial" pitchFamily="34" charset="-122"/>
                <a:cs typeface="Arial" pitchFamily="34" charset="-120"/>
              </a:rPr>
              <a:t>$197,573</a:t>
            </a:r>
            <a:endParaRPr lang="en-US" sz="3000" dirty="0"/>
          </a:p>
        </p:txBody>
      </p:sp>
      <p:sp>
        <p:nvSpPr>
          <p:cNvPr id="14" name="Text 12"/>
          <p:cNvSpPr txBox="1"/>
          <p:nvPr/>
        </p:nvSpPr>
        <p:spPr>
          <a:xfrm>
            <a:off x="4585106" y="2542032"/>
            <a:ext cx="3021482" cy="274320"/>
          </a:xfrm>
          <a:prstGeom prst="rect">
            <a:avLst/>
          </a:prstGeom>
          <a:noFill/>
          <a:ln/>
        </p:spPr>
        <p:txBody>
          <a:bodyPr wrap="square" lIns="0" tIns="0" rIns="0" bIns="0" rtlCol="0" anchor="ctr"/>
          <a:lstStyle/>
          <a:p>
            <a:pPr algn="l" indent="0" marL="0">
              <a:buNone/>
            </a:pPr>
            <a:r>
              <a:rPr lang="en-US" sz="1100" b="1" dirty="0">
                <a:solidFill>
                  <a:srgbClr val="F2A900"/>
                </a:solidFill>
                <a:latin typeface="Arial" pitchFamily="34" charset="0"/>
                <a:ea typeface="Arial" pitchFamily="34" charset="-122"/>
                <a:cs typeface="Arial" pitchFamily="34" charset="-120"/>
              </a:rPr>
              <a:t>+3.2% vs August   (+$6,163)</a:t>
            </a:r>
            <a:endParaRPr lang="en-US" sz="1100" dirty="0"/>
          </a:p>
        </p:txBody>
      </p:sp>
      <p:sp>
        <p:nvSpPr>
          <p:cNvPr id="15" name="Text 13"/>
          <p:cNvSpPr txBox="1"/>
          <p:nvPr/>
        </p:nvSpPr>
        <p:spPr>
          <a:xfrm>
            <a:off x="4585106" y="2779776"/>
            <a:ext cx="3021482" cy="274320"/>
          </a:xfrm>
          <a:prstGeom prst="rect">
            <a:avLst/>
          </a:prstGeom>
          <a:noFill/>
          <a:ln/>
        </p:spPr>
        <p:txBody>
          <a:bodyPr wrap="square" lIns="0" tIns="0" rIns="0" bIns="0" rtlCol="0" anchor="ctr"/>
          <a:lstStyle/>
          <a:p>
            <a:pPr algn="l" indent="0" marL="0">
              <a:buNone/>
            </a:pPr>
            <a:r>
              <a:rPr lang="en-US" sz="1050" dirty="0">
                <a:solidFill>
                  <a:srgbClr val="5B6B7E"/>
                </a:solidFill>
                <a:latin typeface="Arial" pitchFamily="34" charset="0"/>
                <a:ea typeface="Arial" pitchFamily="34" charset="-122"/>
                <a:cs typeface="Arial" pitchFamily="34" charset="-120"/>
              </a:rPr>
              <a:t>As reported in September: $1.50M</a:t>
            </a:r>
            <a:endParaRPr lang="en-US" sz="1050" dirty="0"/>
          </a:p>
        </p:txBody>
      </p:sp>
      <p:sp>
        <p:nvSpPr>
          <p:cNvPr id="16" name="stat-card-Marketplace YT"/>
          <p:cNvSpPr/>
          <p:nvPr/>
        </p:nvSpPr>
        <p:spPr>
          <a:xfrm>
            <a:off x="8091221" y="1572768"/>
            <a:ext cx="3533546" cy="1627632"/>
          </a:xfrm>
          <a:prstGeom prst="roundRect">
            <a:avLst>
              <a:gd name="adj" fmla="val 3371"/>
            </a:avLst>
          </a:prstGeom>
          <a:solidFill>
            <a:srgbClr val="EEF2F7"/>
          </a:solidFill>
          <a:ln/>
        </p:spPr>
      </p:sp>
      <p:sp>
        <p:nvSpPr>
          <p:cNvPr id="17" name="stat-dot"/>
          <p:cNvSpPr/>
          <p:nvPr/>
        </p:nvSpPr>
        <p:spPr>
          <a:xfrm>
            <a:off x="8328965" y="1847088"/>
            <a:ext cx="91440" cy="91440"/>
          </a:xfrm>
          <a:prstGeom prst="ellipse">
            <a:avLst/>
          </a:prstGeom>
          <a:solidFill>
            <a:srgbClr val="7C5CFF"/>
          </a:solidFill>
          <a:ln/>
        </p:spPr>
      </p:sp>
      <p:sp>
        <p:nvSpPr>
          <p:cNvPr id="18" name="Text 16"/>
          <p:cNvSpPr txBox="1"/>
          <p:nvPr/>
        </p:nvSpPr>
        <p:spPr>
          <a:xfrm>
            <a:off x="8511845" y="1746504"/>
            <a:ext cx="2893466"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MARKETPLACE YTD</a:t>
            </a:r>
            <a:endParaRPr lang="en-US" sz="1000" dirty="0"/>
          </a:p>
        </p:txBody>
      </p:sp>
      <p:sp>
        <p:nvSpPr>
          <p:cNvPr id="19" name="Text 17"/>
          <p:cNvSpPr txBox="1"/>
          <p:nvPr/>
        </p:nvSpPr>
        <p:spPr>
          <a:xfrm>
            <a:off x="8328965" y="2029968"/>
            <a:ext cx="3076346" cy="566928"/>
          </a:xfrm>
          <a:prstGeom prst="rect">
            <a:avLst/>
          </a:prstGeom>
          <a:noFill/>
          <a:ln/>
        </p:spPr>
        <p:txBody>
          <a:bodyPr wrap="square" lIns="0" tIns="0" rIns="0" bIns="0" rtlCol="0" anchor="ctr"/>
          <a:lstStyle/>
          <a:p>
            <a:pPr algn="l" indent="0" marL="0">
              <a:buNone/>
            </a:pPr>
            <a:r>
              <a:rPr lang="en-US" sz="3200" b="1" dirty="0">
                <a:solidFill>
                  <a:srgbClr val="0B1B2E"/>
                </a:solidFill>
                <a:latin typeface="Arial" pitchFamily="34" charset="0"/>
                <a:ea typeface="Arial" pitchFamily="34" charset="-122"/>
                <a:cs typeface="Arial" pitchFamily="34" charset="-120"/>
              </a:rPr>
              <a:t>$542K</a:t>
            </a:r>
            <a:endParaRPr lang="en-US" sz="3200" dirty="0"/>
          </a:p>
        </p:txBody>
      </p:sp>
      <p:sp>
        <p:nvSpPr>
          <p:cNvPr id="20" name="Text 18"/>
          <p:cNvSpPr txBox="1"/>
          <p:nvPr/>
        </p:nvSpPr>
        <p:spPr>
          <a:xfrm>
            <a:off x="8328965" y="2578608"/>
            <a:ext cx="3076346" cy="36576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93% of it is Databricks</a:t>
            </a:r>
            <a:endParaRPr lang="en-US" sz="1100" dirty="0"/>
          </a:p>
        </p:txBody>
      </p:sp>
      <p:sp>
        <p:nvSpPr>
          <p:cNvPr id="21" name="strip"/>
          <p:cNvSpPr/>
          <p:nvPr/>
        </p:nvSpPr>
        <p:spPr>
          <a:xfrm>
            <a:off x="566928" y="3401568"/>
            <a:ext cx="7223760" cy="566928"/>
          </a:xfrm>
          <a:prstGeom prst="roundRect">
            <a:avLst>
              <a:gd name="adj" fmla="val 9677"/>
            </a:avLst>
          </a:prstGeom>
          <a:solidFill>
            <a:srgbClr val="EEF2F7"/>
          </a:solidFill>
          <a:ln/>
        </p:spPr>
      </p:sp>
      <p:sp>
        <p:nvSpPr>
          <p:cNvPr id="22" name="Text 20"/>
          <p:cNvSpPr txBox="1"/>
          <p:nvPr/>
        </p:nvSpPr>
        <p:spPr>
          <a:xfrm>
            <a:off x="566928" y="3447288"/>
            <a:ext cx="80264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Jan</a:t>
            </a:r>
            <a:endParaRPr lang="en-US" sz="950" dirty="0"/>
          </a:p>
        </p:txBody>
      </p:sp>
      <p:sp>
        <p:nvSpPr>
          <p:cNvPr id="23" name="Text 21"/>
          <p:cNvSpPr txBox="1"/>
          <p:nvPr/>
        </p:nvSpPr>
        <p:spPr>
          <a:xfrm>
            <a:off x="566928" y="3657600"/>
            <a:ext cx="802640"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$157K</a:t>
            </a:r>
            <a:endParaRPr lang="en-US" sz="1100" dirty="0"/>
          </a:p>
        </p:txBody>
      </p:sp>
      <p:sp>
        <p:nvSpPr>
          <p:cNvPr id="24" name="Text 22"/>
          <p:cNvSpPr txBox="1"/>
          <p:nvPr/>
        </p:nvSpPr>
        <p:spPr>
          <a:xfrm>
            <a:off x="1369568" y="3447288"/>
            <a:ext cx="80264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Feb</a:t>
            </a:r>
            <a:endParaRPr lang="en-US" sz="950" dirty="0"/>
          </a:p>
        </p:txBody>
      </p:sp>
      <p:sp>
        <p:nvSpPr>
          <p:cNvPr id="25" name="Text 23"/>
          <p:cNvSpPr txBox="1"/>
          <p:nvPr/>
        </p:nvSpPr>
        <p:spPr>
          <a:xfrm>
            <a:off x="1369568" y="3657600"/>
            <a:ext cx="802640"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$136K</a:t>
            </a:r>
            <a:endParaRPr lang="en-US" sz="1100" dirty="0"/>
          </a:p>
        </p:txBody>
      </p:sp>
      <p:sp>
        <p:nvSpPr>
          <p:cNvPr id="26" name="Text 24"/>
          <p:cNvSpPr txBox="1"/>
          <p:nvPr/>
        </p:nvSpPr>
        <p:spPr>
          <a:xfrm>
            <a:off x="2172208" y="3447288"/>
            <a:ext cx="80264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Mar</a:t>
            </a:r>
            <a:endParaRPr lang="en-US" sz="950" dirty="0"/>
          </a:p>
        </p:txBody>
      </p:sp>
      <p:sp>
        <p:nvSpPr>
          <p:cNvPr id="27" name="Text 25"/>
          <p:cNvSpPr txBox="1"/>
          <p:nvPr/>
        </p:nvSpPr>
        <p:spPr>
          <a:xfrm>
            <a:off x="2172208" y="3657600"/>
            <a:ext cx="802640"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$165K</a:t>
            </a:r>
            <a:endParaRPr lang="en-US" sz="1100" dirty="0"/>
          </a:p>
        </p:txBody>
      </p:sp>
      <p:sp>
        <p:nvSpPr>
          <p:cNvPr id="28" name="Text 26"/>
          <p:cNvSpPr txBox="1"/>
          <p:nvPr/>
        </p:nvSpPr>
        <p:spPr>
          <a:xfrm>
            <a:off x="2974848" y="3447288"/>
            <a:ext cx="80264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Apr</a:t>
            </a:r>
            <a:endParaRPr lang="en-US" sz="950" dirty="0"/>
          </a:p>
        </p:txBody>
      </p:sp>
      <p:sp>
        <p:nvSpPr>
          <p:cNvPr id="29" name="Text 27"/>
          <p:cNvSpPr txBox="1"/>
          <p:nvPr/>
        </p:nvSpPr>
        <p:spPr>
          <a:xfrm>
            <a:off x="2974848" y="3657600"/>
            <a:ext cx="802640"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$153K</a:t>
            </a:r>
            <a:endParaRPr lang="en-US" sz="1100" dirty="0"/>
          </a:p>
        </p:txBody>
      </p:sp>
      <p:sp>
        <p:nvSpPr>
          <p:cNvPr id="30" name="Text 28"/>
          <p:cNvSpPr txBox="1"/>
          <p:nvPr/>
        </p:nvSpPr>
        <p:spPr>
          <a:xfrm>
            <a:off x="3777488" y="3447288"/>
            <a:ext cx="80264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May</a:t>
            </a:r>
            <a:endParaRPr lang="en-US" sz="950" dirty="0"/>
          </a:p>
        </p:txBody>
      </p:sp>
      <p:sp>
        <p:nvSpPr>
          <p:cNvPr id="31" name="Text 29"/>
          <p:cNvSpPr txBox="1"/>
          <p:nvPr/>
        </p:nvSpPr>
        <p:spPr>
          <a:xfrm>
            <a:off x="3777488" y="3657600"/>
            <a:ext cx="802640"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$152K</a:t>
            </a:r>
            <a:endParaRPr lang="en-US" sz="1100" dirty="0"/>
          </a:p>
        </p:txBody>
      </p:sp>
      <p:sp>
        <p:nvSpPr>
          <p:cNvPr id="32" name="Text 30"/>
          <p:cNvSpPr txBox="1"/>
          <p:nvPr/>
        </p:nvSpPr>
        <p:spPr>
          <a:xfrm>
            <a:off x="4580128" y="3447288"/>
            <a:ext cx="80264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Jun</a:t>
            </a:r>
            <a:endParaRPr lang="en-US" sz="950" dirty="0"/>
          </a:p>
        </p:txBody>
      </p:sp>
      <p:sp>
        <p:nvSpPr>
          <p:cNvPr id="33" name="Text 31"/>
          <p:cNvSpPr txBox="1"/>
          <p:nvPr/>
        </p:nvSpPr>
        <p:spPr>
          <a:xfrm>
            <a:off x="4580128" y="3657600"/>
            <a:ext cx="802640"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$167K</a:t>
            </a:r>
            <a:endParaRPr lang="en-US" sz="1100" dirty="0"/>
          </a:p>
        </p:txBody>
      </p:sp>
      <p:sp>
        <p:nvSpPr>
          <p:cNvPr id="34" name="Text 32"/>
          <p:cNvSpPr txBox="1"/>
          <p:nvPr/>
        </p:nvSpPr>
        <p:spPr>
          <a:xfrm>
            <a:off x="5382768" y="3447288"/>
            <a:ext cx="80264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Jul</a:t>
            </a:r>
            <a:endParaRPr lang="en-US" sz="950" dirty="0"/>
          </a:p>
        </p:txBody>
      </p:sp>
      <p:sp>
        <p:nvSpPr>
          <p:cNvPr id="35" name="Text 33"/>
          <p:cNvSpPr txBox="1"/>
          <p:nvPr/>
        </p:nvSpPr>
        <p:spPr>
          <a:xfrm>
            <a:off x="5382768" y="3657600"/>
            <a:ext cx="802640"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$187K</a:t>
            </a:r>
            <a:endParaRPr lang="en-US" sz="1100" dirty="0"/>
          </a:p>
        </p:txBody>
      </p:sp>
      <p:sp>
        <p:nvSpPr>
          <p:cNvPr id="36" name="Text 34"/>
          <p:cNvSpPr txBox="1"/>
          <p:nvPr/>
        </p:nvSpPr>
        <p:spPr>
          <a:xfrm>
            <a:off x="6185408" y="3447288"/>
            <a:ext cx="80264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Aug</a:t>
            </a:r>
            <a:endParaRPr lang="en-US" sz="950" dirty="0"/>
          </a:p>
        </p:txBody>
      </p:sp>
      <p:sp>
        <p:nvSpPr>
          <p:cNvPr id="37" name="Text 35"/>
          <p:cNvSpPr txBox="1"/>
          <p:nvPr/>
        </p:nvSpPr>
        <p:spPr>
          <a:xfrm>
            <a:off x="6185408" y="3657600"/>
            <a:ext cx="802640"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$191K</a:t>
            </a:r>
            <a:endParaRPr lang="en-US" sz="1100" dirty="0"/>
          </a:p>
        </p:txBody>
      </p:sp>
      <p:sp>
        <p:nvSpPr>
          <p:cNvPr id="38" name="Text 36"/>
          <p:cNvSpPr txBox="1"/>
          <p:nvPr/>
        </p:nvSpPr>
        <p:spPr>
          <a:xfrm>
            <a:off x="6988048" y="3447288"/>
            <a:ext cx="802640"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Sep</a:t>
            </a:r>
            <a:endParaRPr lang="en-US" sz="950" dirty="0"/>
          </a:p>
        </p:txBody>
      </p:sp>
      <p:sp>
        <p:nvSpPr>
          <p:cNvPr id="39" name="Text 37"/>
          <p:cNvSpPr txBox="1"/>
          <p:nvPr/>
        </p:nvSpPr>
        <p:spPr>
          <a:xfrm>
            <a:off x="6988048" y="3657600"/>
            <a:ext cx="802640" cy="256032"/>
          </a:xfrm>
          <a:prstGeom prst="rect">
            <a:avLst/>
          </a:prstGeom>
          <a:noFill/>
          <a:ln/>
        </p:spPr>
        <p:txBody>
          <a:bodyPr wrap="square" lIns="0" tIns="0" rIns="0" bIns="0" rtlCol="0" anchor="ctr"/>
          <a:lstStyle/>
          <a:p>
            <a:pPr algn="ctr" indent="0" marL="0">
              <a:buNone/>
            </a:pPr>
            <a:r>
              <a:rPr lang="en-US" sz="1100" b="1" dirty="0">
                <a:solidFill>
                  <a:srgbClr val="0B1B2E"/>
                </a:solidFill>
                <a:latin typeface="Arial" pitchFamily="34" charset="0"/>
                <a:ea typeface="Arial" pitchFamily="34" charset="-122"/>
                <a:cs typeface="Arial" pitchFamily="34" charset="-120"/>
              </a:rPr>
              <a:t>$198K</a:t>
            </a:r>
            <a:endParaRPr lang="en-US" sz="1100" dirty="0"/>
          </a:p>
        </p:txBody>
      </p:sp>
      <p:graphicFrame>
        <p:nvGraphicFramePr>
          <p:cNvPr id="40" name="Chart 0" descr=""/>
          <p:cNvGraphicFramePr/>
          <p:nvPr/>
        </p:nvGraphicFramePr>
        <p:xfrm>
          <a:off x="457200" y="4059936"/>
          <a:ext cx="7406640" cy="1828800"/>
        </p:xfrm>
        <a:graphic xmlns:a="http://schemas.openxmlformats.org/drawingml/2006/main">
          <a:graphicData uri="http://schemas.openxmlformats.org/drawingml/2006/chart">
            <c:chart xmlns:c="http://schemas.openxmlformats.org/drawingml/2006/chart" r:id="rId1"/>
          </a:graphicData>
        </a:graphic>
      </p:graphicFrame>
      <p:sp>
        <p:nvSpPr>
          <p:cNvPr id="41" name="panel"/>
          <p:cNvSpPr/>
          <p:nvPr/>
        </p:nvSpPr>
        <p:spPr>
          <a:xfrm>
            <a:off x="7973568" y="3401568"/>
            <a:ext cx="3651199" cy="2487168"/>
          </a:xfrm>
          <a:prstGeom prst="roundRect">
            <a:avLst>
              <a:gd name="adj" fmla="val 2206"/>
            </a:avLst>
          </a:prstGeom>
          <a:solidFill>
            <a:srgbClr val="EEF2F7"/>
          </a:solidFill>
          <a:ln/>
        </p:spPr>
      </p:sp>
      <p:sp>
        <p:nvSpPr>
          <p:cNvPr id="42" name="Text 39"/>
          <p:cNvSpPr txBox="1"/>
          <p:nvPr/>
        </p:nvSpPr>
        <p:spPr>
          <a:xfrm>
            <a:off x="8229600" y="3566160"/>
            <a:ext cx="3200400" cy="292608"/>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What is driving it</a:t>
            </a:r>
            <a:endParaRPr lang="en-US" sz="1300" dirty="0"/>
          </a:p>
        </p:txBody>
      </p:sp>
      <p:sp>
        <p:nvSpPr>
          <p:cNvPr id="43" name="drv-dot-0"/>
          <p:cNvSpPr/>
          <p:nvPr/>
        </p:nvSpPr>
        <p:spPr>
          <a:xfrm>
            <a:off x="8229600" y="4023360"/>
            <a:ext cx="91440" cy="91440"/>
          </a:xfrm>
          <a:prstGeom prst="ellipse">
            <a:avLst/>
          </a:prstGeom>
          <a:solidFill>
            <a:srgbClr val="7C5CFF"/>
          </a:solidFill>
          <a:ln/>
        </p:spPr>
      </p:sp>
      <p:sp>
        <p:nvSpPr>
          <p:cNvPr id="44" name="Text 41"/>
          <p:cNvSpPr txBox="1"/>
          <p:nvPr/>
        </p:nvSpPr>
        <p:spPr>
          <a:xfrm>
            <a:off x="8412480" y="3931920"/>
            <a:ext cx="3017520" cy="256032"/>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AI Factory</a:t>
            </a:r>
            <a:endParaRPr lang="en-US" sz="1200" dirty="0"/>
          </a:p>
        </p:txBody>
      </p:sp>
      <p:sp>
        <p:nvSpPr>
          <p:cNvPr id="45" name="Text 42"/>
          <p:cNvSpPr txBox="1"/>
          <p:nvPr/>
        </p:nvSpPr>
        <p:spPr>
          <a:xfrm>
            <a:off x="8412480" y="4187952"/>
            <a:ext cx="3017520" cy="274320"/>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$0.9K to $27.4K a month</a:t>
            </a:r>
            <a:endParaRPr lang="en-US" sz="1050" dirty="0"/>
          </a:p>
        </p:txBody>
      </p:sp>
      <p:sp>
        <p:nvSpPr>
          <p:cNvPr id="46" name="drv-dot-1"/>
          <p:cNvSpPr/>
          <p:nvPr/>
        </p:nvSpPr>
        <p:spPr>
          <a:xfrm>
            <a:off x="8229600" y="4645152"/>
            <a:ext cx="91440" cy="91440"/>
          </a:xfrm>
          <a:prstGeom prst="ellipse">
            <a:avLst/>
          </a:prstGeom>
          <a:solidFill>
            <a:srgbClr val="7C5CFF"/>
          </a:solidFill>
          <a:ln/>
        </p:spPr>
      </p:sp>
      <p:sp>
        <p:nvSpPr>
          <p:cNvPr id="47" name="Text 44"/>
          <p:cNvSpPr txBox="1"/>
          <p:nvPr/>
        </p:nvSpPr>
        <p:spPr>
          <a:xfrm>
            <a:off x="8412480" y="4553712"/>
            <a:ext cx="3017520" cy="256032"/>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GitHub</a:t>
            </a:r>
            <a:endParaRPr lang="en-US" sz="1200" dirty="0"/>
          </a:p>
        </p:txBody>
      </p:sp>
      <p:sp>
        <p:nvSpPr>
          <p:cNvPr id="48" name="Text 45"/>
          <p:cNvSpPr txBox="1"/>
          <p:nvPr/>
        </p:nvSpPr>
        <p:spPr>
          <a:xfrm>
            <a:off x="8412480" y="4809744"/>
            <a:ext cx="3017520" cy="274320"/>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$6.5K to $28.4K since May</a:t>
            </a:r>
            <a:endParaRPr lang="en-US" sz="1050" dirty="0"/>
          </a:p>
        </p:txBody>
      </p:sp>
      <p:sp>
        <p:nvSpPr>
          <p:cNvPr id="49" name="drv-dot-2"/>
          <p:cNvSpPr/>
          <p:nvPr/>
        </p:nvSpPr>
        <p:spPr>
          <a:xfrm>
            <a:off x="8229600" y="5266944"/>
            <a:ext cx="91440" cy="91440"/>
          </a:xfrm>
          <a:prstGeom prst="ellipse">
            <a:avLst/>
          </a:prstGeom>
          <a:solidFill>
            <a:srgbClr val="F2A900"/>
          </a:solidFill>
          <a:ln/>
        </p:spPr>
      </p:sp>
      <p:sp>
        <p:nvSpPr>
          <p:cNvPr id="50" name="Text 47"/>
          <p:cNvSpPr txBox="1"/>
          <p:nvPr/>
        </p:nvSpPr>
        <p:spPr>
          <a:xfrm>
            <a:off x="8412480" y="5175504"/>
            <a:ext cx="3017520" cy="256032"/>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CloudOps</a:t>
            </a:r>
            <a:endParaRPr lang="en-US" sz="1200" dirty="0"/>
          </a:p>
        </p:txBody>
      </p:sp>
      <p:sp>
        <p:nvSpPr>
          <p:cNvPr id="51" name="Text 48"/>
          <p:cNvSpPr txBox="1"/>
          <p:nvPr/>
        </p:nvSpPr>
        <p:spPr>
          <a:xfrm>
            <a:off x="8412480" y="5431536"/>
            <a:ext cx="3017520" cy="274320"/>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$0.3K to $11.3K from July</a:t>
            </a:r>
            <a:endParaRPr lang="en-US" sz="1050" dirty="0"/>
          </a:p>
        </p:txBody>
      </p:sp>
      <p:sp>
        <p:nvSpPr>
          <p:cNvPr id="52"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Consumption excludes Marketplace. DataCloud, SAP and CloudIT, which are 73% of Azure, were flat to down.</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D7263D"/>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AZURE PRICING</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Microsoft raises Azure prices on 1 February 2027</a:t>
            </a:r>
            <a:endParaRPr lang="en-US" sz="2800" dirty="0"/>
          </a:p>
        </p:txBody>
      </p:sp>
      <p:sp>
        <p:nvSpPr>
          <p:cNvPr id="5" name="stat-card-Effective date"/>
          <p:cNvSpPr/>
          <p:nvPr/>
        </p:nvSpPr>
        <p:spPr>
          <a:xfrm>
            <a:off x="566928" y="1572768"/>
            <a:ext cx="3533546" cy="1572768"/>
          </a:xfrm>
          <a:prstGeom prst="roundRect">
            <a:avLst>
              <a:gd name="adj" fmla="val 3488"/>
            </a:avLst>
          </a:prstGeom>
          <a:solidFill>
            <a:srgbClr val="EEF2F7"/>
          </a:solidFill>
          <a:ln/>
        </p:spPr>
      </p:sp>
      <p:sp>
        <p:nvSpPr>
          <p:cNvPr id="6" name="stat-dot"/>
          <p:cNvSpPr/>
          <p:nvPr/>
        </p:nvSpPr>
        <p:spPr>
          <a:xfrm>
            <a:off x="804672" y="1847088"/>
            <a:ext cx="91440" cy="91440"/>
          </a:xfrm>
          <a:prstGeom prst="ellipse">
            <a:avLst/>
          </a:prstGeom>
          <a:solidFill>
            <a:srgbClr val="D7263D"/>
          </a:solidFill>
          <a:ln/>
        </p:spPr>
      </p:sp>
      <p:sp>
        <p:nvSpPr>
          <p:cNvPr id="7" name="Text 5"/>
          <p:cNvSpPr txBox="1"/>
          <p:nvPr/>
        </p:nvSpPr>
        <p:spPr>
          <a:xfrm>
            <a:off x="987552" y="1746504"/>
            <a:ext cx="2893466"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EFFECTIVE DATE</a:t>
            </a:r>
            <a:endParaRPr lang="en-US" sz="1000" dirty="0"/>
          </a:p>
        </p:txBody>
      </p:sp>
      <p:sp>
        <p:nvSpPr>
          <p:cNvPr id="8" name="Text 6"/>
          <p:cNvSpPr txBox="1"/>
          <p:nvPr/>
        </p:nvSpPr>
        <p:spPr>
          <a:xfrm>
            <a:off x="804672" y="2029968"/>
            <a:ext cx="3076346" cy="603504"/>
          </a:xfrm>
          <a:prstGeom prst="rect">
            <a:avLst/>
          </a:prstGeom>
          <a:noFill/>
          <a:ln/>
        </p:spPr>
        <p:txBody>
          <a:bodyPr wrap="square" lIns="0" tIns="0" rIns="0" bIns="0" rtlCol="0" anchor="ctr"/>
          <a:lstStyle/>
          <a:p>
            <a:pPr algn="l" indent="0" marL="0">
              <a:buNone/>
            </a:pPr>
            <a:r>
              <a:rPr lang="en-US" sz="3200" b="1" dirty="0">
                <a:solidFill>
                  <a:srgbClr val="0B1B2E"/>
                </a:solidFill>
                <a:latin typeface="Arial" pitchFamily="34" charset="0"/>
                <a:ea typeface="Arial" pitchFamily="34" charset="-122"/>
                <a:cs typeface="Arial" pitchFamily="34" charset="-120"/>
              </a:rPr>
              <a:t>1 Feb 2027</a:t>
            </a:r>
            <a:endParaRPr lang="en-US" sz="3200" dirty="0"/>
          </a:p>
        </p:txBody>
      </p:sp>
      <p:sp>
        <p:nvSpPr>
          <p:cNvPr id="9" name="Text 7"/>
          <p:cNvSpPr txBox="1"/>
          <p:nvPr/>
        </p:nvSpPr>
        <p:spPr>
          <a:xfrm>
            <a:off x="804672" y="2615184"/>
            <a:ext cx="3076346" cy="36576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Expected pricing change</a:t>
            </a:r>
            <a:endParaRPr lang="en-US" sz="1100" dirty="0"/>
          </a:p>
        </p:txBody>
      </p:sp>
      <p:sp>
        <p:nvSpPr>
          <p:cNvPr id="10" name="stat-card-Monthly impact"/>
          <p:cNvSpPr/>
          <p:nvPr/>
        </p:nvSpPr>
        <p:spPr>
          <a:xfrm>
            <a:off x="4329074" y="1572768"/>
            <a:ext cx="3533546" cy="1572768"/>
          </a:xfrm>
          <a:prstGeom prst="roundRect">
            <a:avLst>
              <a:gd name="adj" fmla="val 3488"/>
            </a:avLst>
          </a:prstGeom>
          <a:solidFill>
            <a:srgbClr val="EEF2F7"/>
          </a:solidFill>
          <a:ln/>
        </p:spPr>
      </p:sp>
      <p:sp>
        <p:nvSpPr>
          <p:cNvPr id="11" name="stat-dot"/>
          <p:cNvSpPr/>
          <p:nvPr/>
        </p:nvSpPr>
        <p:spPr>
          <a:xfrm>
            <a:off x="4566818" y="1847088"/>
            <a:ext cx="91440" cy="91440"/>
          </a:xfrm>
          <a:prstGeom prst="ellipse">
            <a:avLst/>
          </a:prstGeom>
          <a:solidFill>
            <a:srgbClr val="F2A900"/>
          </a:solidFill>
          <a:ln/>
        </p:spPr>
      </p:sp>
      <p:sp>
        <p:nvSpPr>
          <p:cNvPr id="12" name="Text 10"/>
          <p:cNvSpPr txBox="1"/>
          <p:nvPr/>
        </p:nvSpPr>
        <p:spPr>
          <a:xfrm>
            <a:off x="4749698" y="1746504"/>
            <a:ext cx="2893466"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MONTHLY IMPACT</a:t>
            </a:r>
            <a:endParaRPr lang="en-US" sz="1000" dirty="0"/>
          </a:p>
        </p:txBody>
      </p:sp>
      <p:sp>
        <p:nvSpPr>
          <p:cNvPr id="13" name="Text 11"/>
          <p:cNvSpPr txBox="1"/>
          <p:nvPr/>
        </p:nvSpPr>
        <p:spPr>
          <a:xfrm>
            <a:off x="4566818" y="2029968"/>
            <a:ext cx="3076346" cy="603504"/>
          </a:xfrm>
          <a:prstGeom prst="rect">
            <a:avLst/>
          </a:prstGeom>
          <a:noFill/>
          <a:ln/>
        </p:spPr>
        <p:txBody>
          <a:bodyPr wrap="square" lIns="0" tIns="0" rIns="0" bIns="0" rtlCol="0" anchor="ctr"/>
          <a:lstStyle/>
          <a:p>
            <a:pPr algn="l" indent="0" marL="0">
              <a:buNone/>
            </a:pPr>
            <a:r>
              <a:rPr lang="en-US" sz="3200" b="1" dirty="0">
                <a:solidFill>
                  <a:srgbClr val="0B1B2E"/>
                </a:solidFill>
                <a:latin typeface="Arial" pitchFamily="34" charset="0"/>
                <a:ea typeface="Arial" pitchFamily="34" charset="-122"/>
                <a:cs typeface="Arial" pitchFamily="34" charset="-120"/>
              </a:rPr>
              <a:t>+$4,700</a:t>
            </a:r>
            <a:endParaRPr lang="en-US" sz="3200" dirty="0"/>
          </a:p>
        </p:txBody>
      </p:sp>
      <p:sp>
        <p:nvSpPr>
          <p:cNvPr id="14" name="Text 12"/>
          <p:cNvSpPr txBox="1"/>
          <p:nvPr/>
        </p:nvSpPr>
        <p:spPr>
          <a:xfrm>
            <a:off x="4566818" y="2615184"/>
            <a:ext cx="3076346" cy="36576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Estimated on September usage</a:t>
            </a:r>
            <a:endParaRPr lang="en-US" sz="1100" dirty="0"/>
          </a:p>
        </p:txBody>
      </p:sp>
      <p:sp>
        <p:nvSpPr>
          <p:cNvPr id="15" name="stat-card-Annual impact"/>
          <p:cNvSpPr/>
          <p:nvPr/>
        </p:nvSpPr>
        <p:spPr>
          <a:xfrm>
            <a:off x="8091221" y="1572768"/>
            <a:ext cx="3533546" cy="1572768"/>
          </a:xfrm>
          <a:prstGeom prst="roundRect">
            <a:avLst>
              <a:gd name="adj" fmla="val 3488"/>
            </a:avLst>
          </a:prstGeom>
          <a:solidFill>
            <a:srgbClr val="EEF2F7"/>
          </a:solidFill>
          <a:ln/>
        </p:spPr>
      </p:sp>
      <p:sp>
        <p:nvSpPr>
          <p:cNvPr id="16" name="stat-dot"/>
          <p:cNvSpPr/>
          <p:nvPr/>
        </p:nvSpPr>
        <p:spPr>
          <a:xfrm>
            <a:off x="8328965" y="1847088"/>
            <a:ext cx="91440" cy="91440"/>
          </a:xfrm>
          <a:prstGeom prst="ellipse">
            <a:avLst/>
          </a:prstGeom>
          <a:solidFill>
            <a:srgbClr val="F2A900"/>
          </a:solidFill>
          <a:ln/>
        </p:spPr>
      </p:sp>
      <p:sp>
        <p:nvSpPr>
          <p:cNvPr id="17" name="Text 15"/>
          <p:cNvSpPr txBox="1"/>
          <p:nvPr/>
        </p:nvSpPr>
        <p:spPr>
          <a:xfrm>
            <a:off x="8511845" y="1746504"/>
            <a:ext cx="2893466"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ANNUAL IMPACT</a:t>
            </a:r>
            <a:endParaRPr lang="en-US" sz="1000" dirty="0"/>
          </a:p>
        </p:txBody>
      </p:sp>
      <p:sp>
        <p:nvSpPr>
          <p:cNvPr id="18" name="Text 16"/>
          <p:cNvSpPr txBox="1"/>
          <p:nvPr/>
        </p:nvSpPr>
        <p:spPr>
          <a:xfrm>
            <a:off x="8328965" y="2029968"/>
            <a:ext cx="3076346" cy="603504"/>
          </a:xfrm>
          <a:prstGeom prst="rect">
            <a:avLst/>
          </a:prstGeom>
          <a:noFill/>
          <a:ln/>
        </p:spPr>
        <p:txBody>
          <a:bodyPr wrap="square" lIns="0" tIns="0" rIns="0" bIns="0" rtlCol="0" anchor="ctr"/>
          <a:lstStyle/>
          <a:p>
            <a:pPr algn="l" indent="0" marL="0">
              <a:buNone/>
            </a:pPr>
            <a:r>
              <a:rPr lang="en-US" sz="3200" b="1" dirty="0">
                <a:solidFill>
                  <a:srgbClr val="0B1B2E"/>
                </a:solidFill>
                <a:latin typeface="Arial" pitchFamily="34" charset="0"/>
                <a:ea typeface="Arial" pitchFamily="34" charset="-122"/>
                <a:cs typeface="Arial" pitchFamily="34" charset="-120"/>
              </a:rPr>
              <a:t>+$56,400</a:t>
            </a:r>
            <a:endParaRPr lang="en-US" sz="3200" dirty="0"/>
          </a:p>
        </p:txBody>
      </p:sp>
      <p:sp>
        <p:nvSpPr>
          <p:cNvPr id="19" name="Text 17"/>
          <p:cNvSpPr txBox="1"/>
          <p:nvPr/>
        </p:nvSpPr>
        <p:spPr>
          <a:xfrm>
            <a:off x="8328965" y="2615184"/>
            <a:ext cx="3076346" cy="36576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Carry into 2027 budget planning</a:t>
            </a:r>
            <a:endParaRPr lang="en-US" sz="1100" dirty="0"/>
          </a:p>
        </p:txBody>
      </p:sp>
      <p:sp>
        <p:nvSpPr>
          <p:cNvPr id="20" name="pc-0"/>
          <p:cNvSpPr/>
          <p:nvPr/>
        </p:nvSpPr>
        <p:spPr>
          <a:xfrm>
            <a:off x="566928" y="3401568"/>
            <a:ext cx="11057839" cy="1170432"/>
          </a:xfrm>
          <a:prstGeom prst="roundRect">
            <a:avLst>
              <a:gd name="adj" fmla="val 4688"/>
            </a:avLst>
          </a:prstGeom>
          <a:solidFill>
            <a:srgbClr val="EEF2F7"/>
          </a:solidFill>
          <a:ln/>
        </p:spPr>
      </p:sp>
      <p:sp>
        <p:nvSpPr>
          <p:cNvPr id="21" name="pc-dot-0"/>
          <p:cNvSpPr/>
          <p:nvPr/>
        </p:nvSpPr>
        <p:spPr>
          <a:xfrm>
            <a:off x="859536" y="3712464"/>
            <a:ext cx="128016" cy="128016"/>
          </a:xfrm>
          <a:prstGeom prst="ellipse">
            <a:avLst/>
          </a:prstGeom>
          <a:solidFill>
            <a:srgbClr val="D7263D"/>
          </a:solidFill>
          <a:ln/>
        </p:spPr>
      </p:sp>
      <p:sp>
        <p:nvSpPr>
          <p:cNvPr id="22" name="Text 20"/>
          <p:cNvSpPr txBox="1"/>
          <p:nvPr/>
        </p:nvSpPr>
        <p:spPr>
          <a:xfrm>
            <a:off x="1097280" y="3584448"/>
            <a:ext cx="4572000" cy="365760"/>
          </a:xfrm>
          <a:prstGeom prst="rect">
            <a:avLst/>
          </a:prstGeom>
          <a:noFill/>
          <a:ln/>
        </p:spPr>
        <p:txBody>
          <a:bodyPr wrap="square" lIns="0" tIns="0" rIns="0" bIns="0" rtlCol="0" anchor="ctr"/>
          <a:lstStyle/>
          <a:p>
            <a:pPr algn="l" indent="0" marL="0">
              <a:buNone/>
            </a:pPr>
            <a:r>
              <a:rPr lang="en-US" sz="1500" b="1" dirty="0">
                <a:solidFill>
                  <a:srgbClr val="0B1B2E"/>
                </a:solidFill>
                <a:latin typeface="Arial" pitchFamily="34" charset="0"/>
                <a:ea typeface="Arial" pitchFamily="34" charset="-122"/>
                <a:cs typeface="Arial" pitchFamily="34" charset="-120"/>
              </a:rPr>
              <a:t>On-demand virtual machines</a:t>
            </a:r>
            <a:endParaRPr lang="en-US" sz="1500" dirty="0"/>
          </a:p>
        </p:txBody>
      </p:sp>
      <p:sp>
        <p:nvSpPr>
          <p:cNvPr id="23" name="Text 21"/>
          <p:cNvSpPr txBox="1"/>
          <p:nvPr/>
        </p:nvSpPr>
        <p:spPr>
          <a:xfrm>
            <a:off x="1097280" y="3968496"/>
            <a:ext cx="9960559" cy="512064"/>
          </a:xfrm>
          <a:prstGeom prst="rect">
            <a:avLst/>
          </a:prstGeom>
          <a:noFill/>
          <a:ln/>
        </p:spPr>
        <p:txBody>
          <a:bodyPr wrap="square" lIns="0" tIns="0" rIns="0" bIns="0" rtlCol="0" anchor="t"/>
          <a:lstStyle/>
          <a:p>
            <a:pPr algn="l" indent="0" marL="0">
              <a:buNone/>
            </a:pPr>
            <a:r>
              <a:rPr lang="en-US" sz="1200" dirty="0">
                <a:solidFill>
                  <a:srgbClr val="5B6B7E"/>
                </a:solidFill>
                <a:latin typeface="Arial" pitchFamily="34" charset="0"/>
                <a:ea typeface="Arial" pitchFamily="34" charset="-122"/>
                <a:cs typeface="Arial" pitchFamily="34" charset="-120"/>
              </a:rPr>
              <a:t>Approximately 25% increase for the v1 and v2 series. Reserved instances are priced at purchase, so buying the identified RI pipeline before February holds today’s rate.</a:t>
            </a:r>
            <a:endParaRPr lang="en-US" sz="1200" dirty="0"/>
          </a:p>
        </p:txBody>
      </p:sp>
      <p:sp>
        <p:nvSpPr>
          <p:cNvPr id="24" name="pc-1"/>
          <p:cNvSpPr/>
          <p:nvPr/>
        </p:nvSpPr>
        <p:spPr>
          <a:xfrm>
            <a:off x="566928" y="4700016"/>
            <a:ext cx="11057839" cy="1170432"/>
          </a:xfrm>
          <a:prstGeom prst="roundRect">
            <a:avLst>
              <a:gd name="adj" fmla="val 4688"/>
            </a:avLst>
          </a:prstGeom>
          <a:solidFill>
            <a:srgbClr val="EEF2F7"/>
          </a:solidFill>
          <a:ln/>
        </p:spPr>
      </p:sp>
      <p:sp>
        <p:nvSpPr>
          <p:cNvPr id="25" name="pc-dot-1"/>
          <p:cNvSpPr/>
          <p:nvPr/>
        </p:nvSpPr>
        <p:spPr>
          <a:xfrm>
            <a:off x="859536" y="5010912"/>
            <a:ext cx="128016" cy="128016"/>
          </a:xfrm>
          <a:prstGeom prst="ellipse">
            <a:avLst/>
          </a:prstGeom>
          <a:solidFill>
            <a:srgbClr val="F2A900"/>
          </a:solidFill>
          <a:ln/>
        </p:spPr>
      </p:sp>
      <p:sp>
        <p:nvSpPr>
          <p:cNvPr id="26" name="Text 24"/>
          <p:cNvSpPr txBox="1"/>
          <p:nvPr/>
        </p:nvSpPr>
        <p:spPr>
          <a:xfrm>
            <a:off x="1097280" y="4882896"/>
            <a:ext cx="4572000" cy="365760"/>
          </a:xfrm>
          <a:prstGeom prst="rect">
            <a:avLst/>
          </a:prstGeom>
          <a:noFill/>
          <a:ln/>
        </p:spPr>
        <p:txBody>
          <a:bodyPr wrap="square" lIns="0" tIns="0" rIns="0" bIns="0" rtlCol="0" anchor="ctr"/>
          <a:lstStyle/>
          <a:p>
            <a:pPr algn="l" indent="0" marL="0">
              <a:buNone/>
            </a:pPr>
            <a:r>
              <a:rPr lang="en-US" sz="1500" b="1" dirty="0">
                <a:solidFill>
                  <a:srgbClr val="0B1B2E"/>
                </a:solidFill>
                <a:latin typeface="Arial" pitchFamily="34" charset="0"/>
                <a:ea typeface="Arial" pitchFamily="34" charset="-122"/>
                <a:cs typeface="Arial" pitchFamily="34" charset="-120"/>
              </a:rPr>
              <a:t>Regional compute and storage</a:t>
            </a:r>
            <a:endParaRPr lang="en-US" sz="1500" dirty="0"/>
          </a:p>
        </p:txBody>
      </p:sp>
      <p:sp>
        <p:nvSpPr>
          <p:cNvPr id="27" name="Text 25"/>
          <p:cNvSpPr txBox="1"/>
          <p:nvPr/>
        </p:nvSpPr>
        <p:spPr>
          <a:xfrm>
            <a:off x="1097280" y="5266944"/>
            <a:ext cx="9960559" cy="512064"/>
          </a:xfrm>
          <a:prstGeom prst="rect">
            <a:avLst/>
          </a:prstGeom>
          <a:noFill/>
          <a:ln/>
        </p:spPr>
        <p:txBody>
          <a:bodyPr wrap="square" lIns="0" tIns="0" rIns="0" bIns="0" rtlCol="0" anchor="t"/>
          <a:lstStyle/>
          <a:p>
            <a:pPr algn="l" indent="0" marL="0">
              <a:buNone/>
            </a:pPr>
            <a:r>
              <a:rPr lang="en-US" sz="1200" dirty="0">
                <a:solidFill>
                  <a:srgbClr val="5B6B7E"/>
                </a:solidFill>
                <a:latin typeface="Arial" pitchFamily="34" charset="0"/>
                <a:ea typeface="Arial" pitchFamily="34" charset="-122"/>
                <a:cs typeface="Arial" pitchFamily="34" charset="-120"/>
              </a:rPr>
              <a:t>West Europe, North Europe, France, Norway and Singapore, with some exceptions. Our regional exposure needs confirming against the resource inventory before the 2027 estimate is final.</a:t>
            </a:r>
            <a:endParaRPr lang="en-US" sz="1200" dirty="0"/>
          </a:p>
        </p:txBody>
      </p:sp>
      <p:sp>
        <p:nvSpPr>
          <p:cNvPr id="28"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Impact estimated on September consumption, as reported in the September source.</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D7263D"/>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DATABRICKS COMMITMENT</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The $504K commitment is 29% used after five of thirty-six months</a:t>
            </a:r>
            <a:endParaRPr lang="en-US" sz="2800" dirty="0"/>
          </a:p>
        </p:txBody>
      </p:sp>
      <p:sp>
        <p:nvSpPr>
          <p:cNvPr id="5" name="panel"/>
          <p:cNvSpPr/>
          <p:nvPr/>
        </p:nvSpPr>
        <p:spPr>
          <a:xfrm>
            <a:off x="566928" y="1517904"/>
            <a:ext cx="6858000" cy="2286000"/>
          </a:xfrm>
          <a:prstGeom prst="roundRect">
            <a:avLst>
              <a:gd name="adj" fmla="val 2400"/>
            </a:avLst>
          </a:prstGeom>
          <a:solidFill>
            <a:srgbClr val="EEF2F7"/>
          </a:solidFill>
          <a:ln/>
        </p:spPr>
      </p:sp>
      <p:sp>
        <p:nvSpPr>
          <p:cNvPr id="6" name="Text 4"/>
          <p:cNvSpPr txBox="1"/>
          <p:nvPr/>
        </p:nvSpPr>
        <p:spPr>
          <a:xfrm>
            <a:off x="877824" y="1700784"/>
            <a:ext cx="2743200" cy="274320"/>
          </a:xfrm>
          <a:prstGeom prst="rect">
            <a:avLst/>
          </a:prstGeom>
          <a:noFill/>
          <a:ln/>
        </p:spPr>
        <p:txBody>
          <a:bodyPr wrap="square" lIns="0" tIns="0" rIns="0" bIns="0" rtlCol="0" anchor="ctr"/>
          <a:lstStyle/>
          <a:p>
            <a:pPr algn="l" indent="0" marL="0">
              <a:buNone/>
            </a:pPr>
            <a:r>
              <a:rPr lang="en-US" sz="1100" b="1" spc="120" kern="0" dirty="0">
                <a:solidFill>
                  <a:srgbClr val="5B6B7E"/>
                </a:solidFill>
                <a:latin typeface="Arial" pitchFamily="34" charset="0"/>
                <a:ea typeface="Arial" pitchFamily="34" charset="-122"/>
                <a:cs typeface="Arial" pitchFamily="34" charset="-120"/>
              </a:rPr>
              <a:t>Contract</a:t>
            </a:r>
            <a:endParaRPr lang="en-US" sz="1100" dirty="0"/>
          </a:p>
        </p:txBody>
      </p:sp>
      <p:sp>
        <p:nvSpPr>
          <p:cNvPr id="7" name="Text 5"/>
          <p:cNvSpPr txBox="1"/>
          <p:nvPr/>
        </p:nvSpPr>
        <p:spPr>
          <a:xfrm>
            <a:off x="877824" y="2048256"/>
            <a:ext cx="1554480" cy="347472"/>
          </a:xfrm>
          <a:prstGeom prst="rect">
            <a:avLst/>
          </a:prstGeom>
          <a:noFill/>
          <a:ln/>
        </p:spPr>
        <p:txBody>
          <a:bodyPr wrap="square" lIns="0" tIns="0" rIns="0" bIns="0" rtlCol="0" anchor="ctr"/>
          <a:lstStyle/>
          <a:p>
            <a:pPr algn="l" indent="0" marL="0">
              <a:buNone/>
            </a:pPr>
            <a:r>
              <a:rPr lang="en-US" sz="1200" dirty="0">
                <a:solidFill>
                  <a:srgbClr val="5B6B7E"/>
                </a:solidFill>
                <a:latin typeface="Arial" pitchFamily="34" charset="0"/>
                <a:ea typeface="Arial" pitchFamily="34" charset="-122"/>
                <a:cs typeface="Arial" pitchFamily="34" charset="-120"/>
              </a:rPr>
              <a:t>Purchased</a:t>
            </a:r>
            <a:endParaRPr lang="en-US" sz="1200" dirty="0"/>
          </a:p>
        </p:txBody>
      </p:sp>
      <p:sp>
        <p:nvSpPr>
          <p:cNvPr id="8" name="Text 6"/>
          <p:cNvSpPr txBox="1"/>
          <p:nvPr/>
        </p:nvSpPr>
        <p:spPr>
          <a:xfrm>
            <a:off x="2395728" y="2048256"/>
            <a:ext cx="4663440" cy="347472"/>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28 April 2026</a:t>
            </a:r>
            <a:endParaRPr lang="en-US" sz="1250" dirty="0"/>
          </a:p>
        </p:txBody>
      </p:sp>
      <p:sp>
        <p:nvSpPr>
          <p:cNvPr id="9" name="Text 7"/>
          <p:cNvSpPr txBox="1"/>
          <p:nvPr/>
        </p:nvSpPr>
        <p:spPr>
          <a:xfrm>
            <a:off x="877824" y="2450592"/>
            <a:ext cx="1554480" cy="347472"/>
          </a:xfrm>
          <a:prstGeom prst="rect">
            <a:avLst/>
          </a:prstGeom>
          <a:noFill/>
          <a:ln/>
        </p:spPr>
        <p:txBody>
          <a:bodyPr wrap="square" lIns="0" tIns="0" rIns="0" bIns="0" rtlCol="0" anchor="ctr"/>
          <a:lstStyle/>
          <a:p>
            <a:pPr algn="l" indent="0" marL="0">
              <a:buNone/>
            </a:pPr>
            <a:r>
              <a:rPr lang="en-US" sz="1200" dirty="0">
                <a:solidFill>
                  <a:srgbClr val="5B6B7E"/>
                </a:solidFill>
                <a:latin typeface="Arial" pitchFamily="34" charset="0"/>
                <a:ea typeface="Arial" pitchFamily="34" charset="-122"/>
                <a:cs typeface="Arial" pitchFamily="34" charset="-120"/>
              </a:rPr>
              <a:t>Term</a:t>
            </a:r>
            <a:endParaRPr lang="en-US" sz="1200" dirty="0"/>
          </a:p>
        </p:txBody>
      </p:sp>
      <p:sp>
        <p:nvSpPr>
          <p:cNvPr id="10" name="Text 8"/>
          <p:cNvSpPr txBox="1"/>
          <p:nvPr/>
        </p:nvSpPr>
        <p:spPr>
          <a:xfrm>
            <a:off x="2395728" y="2450592"/>
            <a:ext cx="4663440" cy="347472"/>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3 years (P3Y)</a:t>
            </a:r>
            <a:endParaRPr lang="en-US" sz="1250" dirty="0"/>
          </a:p>
        </p:txBody>
      </p:sp>
      <p:sp>
        <p:nvSpPr>
          <p:cNvPr id="11" name="Text 9"/>
          <p:cNvSpPr txBox="1"/>
          <p:nvPr/>
        </p:nvSpPr>
        <p:spPr>
          <a:xfrm>
            <a:off x="877824" y="2852928"/>
            <a:ext cx="1554480" cy="347472"/>
          </a:xfrm>
          <a:prstGeom prst="rect">
            <a:avLst/>
          </a:prstGeom>
          <a:noFill/>
          <a:ln/>
        </p:spPr>
        <p:txBody>
          <a:bodyPr wrap="square" lIns="0" tIns="0" rIns="0" bIns="0" rtlCol="0" anchor="ctr"/>
          <a:lstStyle/>
          <a:p>
            <a:pPr algn="l" indent="0" marL="0">
              <a:buNone/>
            </a:pPr>
            <a:r>
              <a:rPr lang="en-US" sz="1200" dirty="0">
                <a:solidFill>
                  <a:srgbClr val="5B6B7E"/>
                </a:solidFill>
                <a:latin typeface="Arial" pitchFamily="34" charset="0"/>
                <a:ea typeface="Arial" pitchFamily="34" charset="-122"/>
                <a:cs typeface="Arial" pitchFamily="34" charset="-120"/>
              </a:rPr>
              <a:t>Product</a:t>
            </a:r>
            <a:endParaRPr lang="en-US" sz="1200" dirty="0"/>
          </a:p>
        </p:txBody>
      </p:sp>
      <p:sp>
        <p:nvSpPr>
          <p:cNvPr id="12" name="Text 10"/>
          <p:cNvSpPr txBox="1"/>
          <p:nvPr/>
        </p:nvSpPr>
        <p:spPr>
          <a:xfrm>
            <a:off x="2395728" y="2852928"/>
            <a:ext cx="4663440" cy="347472"/>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600,000 Databricks DBU hours</a:t>
            </a:r>
            <a:endParaRPr lang="en-US" sz="1250" dirty="0"/>
          </a:p>
        </p:txBody>
      </p:sp>
      <p:sp>
        <p:nvSpPr>
          <p:cNvPr id="13" name="Text 11"/>
          <p:cNvSpPr txBox="1"/>
          <p:nvPr/>
        </p:nvSpPr>
        <p:spPr>
          <a:xfrm>
            <a:off x="877824" y="3255264"/>
            <a:ext cx="1554480" cy="347472"/>
          </a:xfrm>
          <a:prstGeom prst="rect">
            <a:avLst/>
          </a:prstGeom>
          <a:noFill/>
          <a:ln/>
        </p:spPr>
        <p:txBody>
          <a:bodyPr wrap="square" lIns="0" tIns="0" rIns="0" bIns="0" rtlCol="0" anchor="ctr"/>
          <a:lstStyle/>
          <a:p>
            <a:pPr algn="l" indent="0" marL="0">
              <a:buNone/>
            </a:pPr>
            <a:r>
              <a:rPr lang="en-US" sz="1200" dirty="0">
                <a:solidFill>
                  <a:srgbClr val="5B6B7E"/>
                </a:solidFill>
                <a:latin typeface="Arial" pitchFamily="34" charset="0"/>
                <a:ea typeface="Arial" pitchFamily="34" charset="-122"/>
                <a:cs typeface="Arial" pitchFamily="34" charset="-120"/>
              </a:rPr>
              <a:t>Prepaid</a:t>
            </a:r>
            <a:endParaRPr lang="en-US" sz="1200" dirty="0"/>
          </a:p>
        </p:txBody>
      </p:sp>
      <p:sp>
        <p:nvSpPr>
          <p:cNvPr id="14" name="Text 12"/>
          <p:cNvSpPr txBox="1"/>
          <p:nvPr/>
        </p:nvSpPr>
        <p:spPr>
          <a:xfrm>
            <a:off x="2395728" y="3255264"/>
            <a:ext cx="4663440" cy="347472"/>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$504,000 via Azure Marketplace</a:t>
            </a:r>
            <a:endParaRPr lang="en-US" sz="1250" dirty="0"/>
          </a:p>
        </p:txBody>
      </p:sp>
      <p:sp>
        <p:nvSpPr>
          <p:cNvPr id="15" name="panel"/>
          <p:cNvSpPr/>
          <p:nvPr/>
        </p:nvSpPr>
        <p:spPr>
          <a:xfrm>
            <a:off x="566928" y="3968496"/>
            <a:ext cx="6858000" cy="1664208"/>
          </a:xfrm>
          <a:prstGeom prst="roundRect">
            <a:avLst>
              <a:gd name="adj" fmla="val 3297"/>
            </a:avLst>
          </a:prstGeom>
          <a:solidFill>
            <a:srgbClr val="EEF2F7"/>
          </a:solidFill>
          <a:ln/>
        </p:spPr>
      </p:sp>
      <p:sp>
        <p:nvSpPr>
          <p:cNvPr id="16" name="Text 14"/>
          <p:cNvSpPr txBox="1"/>
          <p:nvPr/>
        </p:nvSpPr>
        <p:spPr>
          <a:xfrm>
            <a:off x="877824" y="4114800"/>
            <a:ext cx="457200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Cumulative utilisation at September 2026</a:t>
            </a:r>
            <a:endParaRPr lang="en-US" sz="1200" dirty="0"/>
          </a:p>
        </p:txBody>
      </p:sp>
      <p:sp>
        <p:nvSpPr>
          <p:cNvPr id="17" name="db-gauge-bg"/>
          <p:cNvSpPr/>
          <p:nvPr/>
        </p:nvSpPr>
        <p:spPr>
          <a:xfrm>
            <a:off x="877824" y="4498848"/>
            <a:ext cx="6236208" cy="310896"/>
          </a:xfrm>
          <a:prstGeom prst="roundRect">
            <a:avLst>
              <a:gd name="adj" fmla="val 50000"/>
            </a:avLst>
          </a:prstGeom>
          <a:solidFill>
            <a:srgbClr val="DCE4ED"/>
          </a:solidFill>
          <a:ln/>
        </p:spPr>
      </p:sp>
      <p:sp>
        <p:nvSpPr>
          <p:cNvPr id="18" name="db-gauge-fill"/>
          <p:cNvSpPr/>
          <p:nvPr/>
        </p:nvSpPr>
        <p:spPr>
          <a:xfrm>
            <a:off x="877824" y="4498848"/>
            <a:ext cx="1808500" cy="310896"/>
          </a:xfrm>
          <a:prstGeom prst="roundRect">
            <a:avLst>
              <a:gd name="adj" fmla="val 50000"/>
            </a:avLst>
          </a:prstGeom>
          <a:solidFill>
            <a:srgbClr val="D7263D"/>
          </a:solidFill>
          <a:ln/>
        </p:spPr>
      </p:sp>
      <p:sp>
        <p:nvSpPr>
          <p:cNvPr id="19" name="Text 17"/>
          <p:cNvSpPr txBox="1"/>
          <p:nvPr/>
        </p:nvSpPr>
        <p:spPr>
          <a:xfrm>
            <a:off x="877824" y="4901184"/>
            <a:ext cx="3657600" cy="292608"/>
          </a:xfrm>
          <a:prstGeom prst="rect">
            <a:avLst/>
          </a:prstGeom>
          <a:noFill/>
          <a:ln/>
        </p:spPr>
        <p:txBody>
          <a:bodyPr wrap="square" lIns="0" tIns="0" rIns="0" bIns="0" rtlCol="0" anchor="ctr"/>
          <a:lstStyle/>
          <a:p>
            <a:pPr algn="l" indent="0" marL="0">
              <a:buNone/>
            </a:pPr>
            <a:r>
              <a:rPr lang="en-US" sz="1150" dirty="0">
                <a:solidFill>
                  <a:srgbClr val="5B6B7E"/>
                </a:solidFill>
                <a:latin typeface="Arial" pitchFamily="34" charset="0"/>
                <a:ea typeface="Arial" pitchFamily="34" charset="-122"/>
                <a:cs typeface="Arial" pitchFamily="34" charset="-120"/>
              </a:rPr>
              <a:t>29% of DBU hours consumed</a:t>
            </a:r>
            <a:endParaRPr lang="en-US" sz="1150" dirty="0"/>
          </a:p>
        </p:txBody>
      </p:sp>
      <p:sp>
        <p:nvSpPr>
          <p:cNvPr id="20" name="Text 18"/>
          <p:cNvSpPr txBox="1"/>
          <p:nvPr/>
        </p:nvSpPr>
        <p:spPr>
          <a:xfrm>
            <a:off x="4590288" y="4901184"/>
            <a:ext cx="2523744" cy="292608"/>
          </a:xfrm>
          <a:prstGeom prst="rect">
            <a:avLst/>
          </a:prstGeom>
          <a:noFill/>
          <a:ln/>
        </p:spPr>
        <p:txBody>
          <a:bodyPr wrap="square" lIns="0" tIns="0" rIns="0" bIns="0" rtlCol="0" anchor="ctr"/>
          <a:lstStyle/>
          <a:p>
            <a:pPr algn="r" indent="0" marL="0">
              <a:buNone/>
            </a:pPr>
            <a:r>
              <a:rPr lang="en-US" sz="1150" dirty="0">
                <a:solidFill>
                  <a:srgbClr val="5B6B7E"/>
                </a:solidFill>
                <a:latin typeface="Arial" pitchFamily="34" charset="0"/>
                <a:ea typeface="Arial" pitchFamily="34" charset="-122"/>
                <a:cs typeface="Arial" pitchFamily="34" charset="-120"/>
              </a:rPr>
              <a:t>14% of the term elapsed</a:t>
            </a:r>
            <a:endParaRPr lang="en-US" sz="1150" dirty="0"/>
          </a:p>
        </p:txBody>
      </p:sp>
      <p:sp>
        <p:nvSpPr>
          <p:cNvPr id="21" name="stat-card-Databricks lin"/>
          <p:cNvSpPr/>
          <p:nvPr/>
        </p:nvSpPr>
        <p:spPr>
          <a:xfrm>
            <a:off x="7699248" y="1517904"/>
            <a:ext cx="3925519" cy="1298448"/>
          </a:xfrm>
          <a:prstGeom prst="roundRect">
            <a:avLst>
              <a:gd name="adj" fmla="val 4225"/>
            </a:avLst>
          </a:prstGeom>
          <a:solidFill>
            <a:srgbClr val="EEF2F7"/>
          </a:solidFill>
          <a:ln/>
        </p:spPr>
      </p:sp>
      <p:sp>
        <p:nvSpPr>
          <p:cNvPr id="22" name="stat-dot"/>
          <p:cNvSpPr/>
          <p:nvPr/>
        </p:nvSpPr>
        <p:spPr>
          <a:xfrm>
            <a:off x="7936992" y="1792224"/>
            <a:ext cx="91440" cy="91440"/>
          </a:xfrm>
          <a:prstGeom prst="ellipse">
            <a:avLst/>
          </a:prstGeom>
          <a:solidFill>
            <a:srgbClr val="00A878"/>
          </a:solidFill>
          <a:ln/>
        </p:spPr>
      </p:sp>
      <p:sp>
        <p:nvSpPr>
          <p:cNvPr id="23" name="Text 21"/>
          <p:cNvSpPr txBox="1"/>
          <p:nvPr/>
        </p:nvSpPr>
        <p:spPr>
          <a:xfrm>
            <a:off x="8119872" y="1691640"/>
            <a:ext cx="3285439"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DATABRICKS LINE COST</a:t>
            </a:r>
            <a:endParaRPr lang="en-US" sz="1000" dirty="0"/>
          </a:p>
        </p:txBody>
      </p:sp>
      <p:sp>
        <p:nvSpPr>
          <p:cNvPr id="24" name="Text 22"/>
          <p:cNvSpPr txBox="1"/>
          <p:nvPr/>
        </p:nvSpPr>
        <p:spPr>
          <a:xfrm>
            <a:off x="7936992" y="1975104"/>
            <a:ext cx="3468319" cy="530352"/>
          </a:xfrm>
          <a:prstGeom prst="rect">
            <a:avLst/>
          </a:prstGeom>
          <a:noFill/>
          <a:ln/>
        </p:spPr>
        <p:txBody>
          <a:bodyPr wrap="square" lIns="0" tIns="0" rIns="0" bIns="0" rtlCol="0" anchor="ctr"/>
          <a:lstStyle/>
          <a:p>
            <a:pPr algn="l" indent="0" marL="0">
              <a:buNone/>
            </a:pPr>
            <a:r>
              <a:rPr lang="en-US" sz="2600" b="1" dirty="0">
                <a:solidFill>
                  <a:srgbClr val="0B1B2E"/>
                </a:solidFill>
                <a:latin typeface="Arial" pitchFamily="34" charset="0"/>
                <a:ea typeface="Arial" pitchFamily="34" charset="-122"/>
                <a:cs typeface="Arial" pitchFamily="34" charset="-120"/>
              </a:rPr>
              <a:t>$0</a:t>
            </a:r>
            <a:endParaRPr lang="en-US" sz="2600" dirty="0"/>
          </a:p>
        </p:txBody>
      </p:sp>
      <p:sp>
        <p:nvSpPr>
          <p:cNvPr id="25" name="Text 23"/>
          <p:cNvSpPr txBox="1"/>
          <p:nvPr/>
        </p:nvSpPr>
        <p:spPr>
          <a:xfrm>
            <a:off x="7936992" y="2487168"/>
            <a:ext cx="3468319" cy="420624"/>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All usage draws down the prepaid commitment</a:t>
            </a:r>
            <a:endParaRPr lang="en-US" sz="1050" dirty="0"/>
          </a:p>
        </p:txBody>
      </p:sp>
      <p:sp>
        <p:nvSpPr>
          <p:cNvPr id="26" name="stat-card-Projected exha"/>
          <p:cNvSpPr/>
          <p:nvPr/>
        </p:nvSpPr>
        <p:spPr>
          <a:xfrm>
            <a:off x="7699248" y="2953512"/>
            <a:ext cx="3925519" cy="1298448"/>
          </a:xfrm>
          <a:prstGeom prst="roundRect">
            <a:avLst>
              <a:gd name="adj" fmla="val 4225"/>
            </a:avLst>
          </a:prstGeom>
          <a:solidFill>
            <a:srgbClr val="EEF2F7"/>
          </a:solidFill>
          <a:ln/>
        </p:spPr>
      </p:sp>
      <p:sp>
        <p:nvSpPr>
          <p:cNvPr id="27" name="stat-dot"/>
          <p:cNvSpPr/>
          <p:nvPr/>
        </p:nvSpPr>
        <p:spPr>
          <a:xfrm>
            <a:off x="7936992" y="3227832"/>
            <a:ext cx="91440" cy="91440"/>
          </a:xfrm>
          <a:prstGeom prst="ellipse">
            <a:avLst/>
          </a:prstGeom>
          <a:solidFill>
            <a:srgbClr val="D7263D"/>
          </a:solidFill>
          <a:ln/>
        </p:spPr>
      </p:sp>
      <p:sp>
        <p:nvSpPr>
          <p:cNvPr id="28" name="Text 26"/>
          <p:cNvSpPr txBox="1"/>
          <p:nvPr/>
        </p:nvSpPr>
        <p:spPr>
          <a:xfrm>
            <a:off x="8119872" y="3127248"/>
            <a:ext cx="3285439"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PROJECTED EXHAUSTION</a:t>
            </a:r>
            <a:endParaRPr lang="en-US" sz="1000" dirty="0"/>
          </a:p>
        </p:txBody>
      </p:sp>
      <p:sp>
        <p:nvSpPr>
          <p:cNvPr id="29" name="Text 27"/>
          <p:cNvSpPr txBox="1"/>
          <p:nvPr/>
        </p:nvSpPr>
        <p:spPr>
          <a:xfrm>
            <a:off x="7936992" y="3410712"/>
            <a:ext cx="3468319" cy="530352"/>
          </a:xfrm>
          <a:prstGeom prst="rect">
            <a:avLst/>
          </a:prstGeom>
          <a:noFill/>
          <a:ln/>
        </p:spPr>
        <p:txBody>
          <a:bodyPr wrap="square" lIns="0" tIns="0" rIns="0" bIns="0" rtlCol="0" anchor="ctr"/>
          <a:lstStyle/>
          <a:p>
            <a:pPr algn="l" indent="0" marL="0">
              <a:buNone/>
            </a:pPr>
            <a:r>
              <a:rPr lang="en-US" sz="2600" b="1" dirty="0">
                <a:solidFill>
                  <a:srgbClr val="0B1B2E"/>
                </a:solidFill>
                <a:latin typeface="Arial" pitchFamily="34" charset="0"/>
                <a:ea typeface="Arial" pitchFamily="34" charset="-122"/>
                <a:cs typeface="Arial" pitchFamily="34" charset="-120"/>
              </a:rPr>
              <a:t>Sep 2027</a:t>
            </a:r>
            <a:endParaRPr lang="en-US" sz="2600" dirty="0"/>
          </a:p>
        </p:txBody>
      </p:sp>
      <p:sp>
        <p:nvSpPr>
          <p:cNvPr id="30" name="Text 28"/>
          <p:cNvSpPr txBox="1"/>
          <p:nvPr/>
        </p:nvSpPr>
        <p:spPr>
          <a:xfrm>
            <a:off x="7936992" y="3922776"/>
            <a:ext cx="3468319" cy="420624"/>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At the current rate, two years early</a:t>
            </a:r>
            <a:endParaRPr lang="en-US" sz="1050" dirty="0"/>
          </a:p>
        </p:txBody>
      </p:sp>
      <p:sp>
        <p:nvSpPr>
          <p:cNvPr id="31" name="stat-card-Supporting inf"/>
          <p:cNvSpPr/>
          <p:nvPr/>
        </p:nvSpPr>
        <p:spPr>
          <a:xfrm>
            <a:off x="7699248" y="4389120"/>
            <a:ext cx="3925519" cy="1298448"/>
          </a:xfrm>
          <a:prstGeom prst="roundRect">
            <a:avLst>
              <a:gd name="adj" fmla="val 4225"/>
            </a:avLst>
          </a:prstGeom>
          <a:solidFill>
            <a:srgbClr val="EEF2F7"/>
          </a:solidFill>
          <a:ln/>
        </p:spPr>
      </p:sp>
      <p:sp>
        <p:nvSpPr>
          <p:cNvPr id="32" name="stat-dot"/>
          <p:cNvSpPr/>
          <p:nvPr/>
        </p:nvSpPr>
        <p:spPr>
          <a:xfrm>
            <a:off x="7936992" y="4663440"/>
            <a:ext cx="91440" cy="91440"/>
          </a:xfrm>
          <a:prstGeom prst="ellipse">
            <a:avLst/>
          </a:prstGeom>
          <a:solidFill>
            <a:srgbClr val="0F7DC2"/>
          </a:solidFill>
          <a:ln/>
        </p:spPr>
      </p:sp>
      <p:sp>
        <p:nvSpPr>
          <p:cNvPr id="33" name="Text 31"/>
          <p:cNvSpPr txBox="1"/>
          <p:nvPr/>
        </p:nvSpPr>
        <p:spPr>
          <a:xfrm>
            <a:off x="8119872" y="4562856"/>
            <a:ext cx="3285439"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SUPPORTING INFRA / MONTH</a:t>
            </a:r>
            <a:endParaRPr lang="en-US" sz="1000" dirty="0"/>
          </a:p>
        </p:txBody>
      </p:sp>
      <p:sp>
        <p:nvSpPr>
          <p:cNvPr id="34" name="Text 32"/>
          <p:cNvSpPr txBox="1"/>
          <p:nvPr/>
        </p:nvSpPr>
        <p:spPr>
          <a:xfrm>
            <a:off x="7936992" y="4846320"/>
            <a:ext cx="3468319" cy="530352"/>
          </a:xfrm>
          <a:prstGeom prst="rect">
            <a:avLst/>
          </a:prstGeom>
          <a:noFill/>
          <a:ln/>
        </p:spPr>
        <p:txBody>
          <a:bodyPr wrap="square" lIns="0" tIns="0" rIns="0" bIns="0" rtlCol="0" anchor="ctr"/>
          <a:lstStyle/>
          <a:p>
            <a:pPr algn="l" indent="0" marL="0">
              <a:buNone/>
            </a:pPr>
            <a:r>
              <a:rPr lang="en-US" sz="2600" b="1" dirty="0">
                <a:solidFill>
                  <a:srgbClr val="0B1B2E"/>
                </a:solidFill>
                <a:latin typeface="Arial" pitchFamily="34" charset="0"/>
                <a:ea typeface="Arial" pitchFamily="34" charset="-122"/>
                <a:cs typeface="Arial" pitchFamily="34" charset="-120"/>
              </a:rPr>
              <a:t>$21.5K</a:t>
            </a:r>
            <a:endParaRPr lang="en-US" sz="2600" dirty="0"/>
          </a:p>
        </p:txBody>
      </p:sp>
      <p:sp>
        <p:nvSpPr>
          <p:cNvPr id="35" name="Text 33"/>
          <p:cNvSpPr txBox="1"/>
          <p:nvPr/>
        </p:nvSpPr>
        <p:spPr>
          <a:xfrm>
            <a:off x="7936992" y="5358384"/>
            <a:ext cx="3468319" cy="420624"/>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VMs, network and storage, outside the commitment</a:t>
            </a:r>
            <a:endParaRPr lang="en-US" sz="1050" dirty="0"/>
          </a:p>
        </p:txBody>
      </p:sp>
      <p:sp>
        <p:nvSpPr>
          <p:cNvPr id="36"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Decision needed: top up the commitment in FY2027, or rebalance the Classic and Serverless mix to extend it.</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div-num"/>
          <p:cNvSpPr txBox="1"/>
          <p:nvPr/>
        </p:nvSpPr>
        <p:spPr>
          <a:xfrm>
            <a:off x="566928" y="1828800"/>
            <a:ext cx="2011680" cy="1371600"/>
          </a:xfrm>
          <a:prstGeom prst="rect">
            <a:avLst/>
          </a:prstGeom>
          <a:noFill/>
          <a:ln/>
        </p:spPr>
        <p:txBody>
          <a:bodyPr wrap="square" lIns="0" tIns="0" rIns="0" bIns="0" rtlCol="0" anchor="ctr"/>
          <a:lstStyle/>
          <a:p>
            <a:pPr algn="l" indent="0" marL="0">
              <a:buNone/>
            </a:pPr>
            <a:r>
              <a:rPr lang="en-US" sz="9600" b="1" dirty="0">
                <a:solidFill>
                  <a:srgbClr val="00A878"/>
                </a:solidFill>
                <a:latin typeface="Cambria" pitchFamily="34" charset="0"/>
                <a:ea typeface="Cambria" pitchFamily="34" charset="-122"/>
                <a:cs typeface="Cambria" pitchFamily="34" charset="-120"/>
              </a:rPr>
              <a:t>05</a:t>
            </a:r>
            <a:endParaRPr lang="en-US" sz="9600" dirty="0"/>
          </a:p>
        </p:txBody>
      </p:sp>
      <p:sp>
        <p:nvSpPr>
          <p:cNvPr id="3" name="div-title"/>
          <p:cNvSpPr txBox="1"/>
          <p:nvPr/>
        </p:nvSpPr>
        <p:spPr>
          <a:xfrm>
            <a:off x="566928" y="3200400"/>
            <a:ext cx="8961120" cy="877824"/>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Savings and optimisation</a:t>
            </a:r>
            <a:endParaRPr lang="en-US" sz="4000" dirty="0"/>
          </a:p>
        </p:txBody>
      </p:sp>
      <p:sp>
        <p:nvSpPr>
          <p:cNvPr id="4" name="div-body"/>
          <p:cNvSpPr txBox="1"/>
          <p:nvPr/>
        </p:nvSpPr>
        <p:spPr>
          <a:xfrm>
            <a:off x="566928" y="4169664"/>
            <a:ext cx="7498080" cy="868680"/>
          </a:xfrm>
          <a:prstGeom prst="rect">
            <a:avLst/>
          </a:prstGeom>
          <a:noFill/>
          <a:ln/>
        </p:spPr>
        <p:txBody>
          <a:bodyPr wrap="square" lIns="0" tIns="0" rIns="0" bIns="0" rtlCol="0" anchor="t"/>
          <a:lstStyle/>
          <a:p>
            <a:pPr algn="l" indent="0" marL="0">
              <a:buNone/>
            </a:pPr>
            <a:r>
              <a:rPr lang="en-US" sz="1500" dirty="0">
                <a:solidFill>
                  <a:srgbClr val="9FB3C8"/>
                </a:solidFill>
                <a:latin typeface="Arial" pitchFamily="34" charset="0"/>
                <a:ea typeface="Arial" pitchFamily="34" charset="-122"/>
                <a:cs typeface="Arial" pitchFamily="34" charset="-120"/>
              </a:rPr>
              <a:t>$578K realised and avoided so far this year, the compute coverage gap, and a further $190K identified and waiting on approval.</a:t>
            </a:r>
            <a:endParaRPr lang="en-US" sz="15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0A878"/>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8FA7BF"/>
                </a:solidFill>
                <a:latin typeface="Arial" pitchFamily="34" charset="0"/>
                <a:ea typeface="Arial" pitchFamily="34" charset="-122"/>
                <a:cs typeface="Arial" pitchFamily="34" charset="-120"/>
              </a:rPr>
              <a:t>SCORECARD</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FFFFFF"/>
                </a:solidFill>
                <a:latin typeface="Cambria" pitchFamily="34" charset="0"/>
                <a:ea typeface="Cambria" pitchFamily="34" charset="-122"/>
                <a:cs typeface="Cambria" pitchFamily="34" charset="-120"/>
              </a:rPr>
              <a:t>The FinOps programme has returned $578K against FY2026</a:t>
            </a:r>
            <a:endParaRPr lang="en-US" sz="2800" dirty="0"/>
          </a:p>
        </p:txBody>
      </p:sp>
      <p:sp>
        <p:nvSpPr>
          <p:cNvPr id="5" name="stat-card-Realised savin"/>
          <p:cNvSpPr/>
          <p:nvPr/>
        </p:nvSpPr>
        <p:spPr>
          <a:xfrm>
            <a:off x="566928" y="1572768"/>
            <a:ext cx="2593010" cy="1920240"/>
          </a:xfrm>
          <a:prstGeom prst="roundRect">
            <a:avLst>
              <a:gd name="adj" fmla="val 2857"/>
            </a:avLst>
          </a:prstGeom>
          <a:solidFill>
            <a:srgbClr val="13324F"/>
          </a:solidFill>
          <a:ln/>
        </p:spPr>
      </p:sp>
      <p:sp>
        <p:nvSpPr>
          <p:cNvPr id="6" name="stat-dot"/>
          <p:cNvSpPr/>
          <p:nvPr/>
        </p:nvSpPr>
        <p:spPr>
          <a:xfrm>
            <a:off x="804672" y="1847088"/>
            <a:ext cx="91440" cy="91440"/>
          </a:xfrm>
          <a:prstGeom prst="ellipse">
            <a:avLst/>
          </a:prstGeom>
          <a:solidFill>
            <a:srgbClr val="00A878"/>
          </a:solidFill>
          <a:ln/>
        </p:spPr>
      </p:sp>
      <p:sp>
        <p:nvSpPr>
          <p:cNvPr id="7" name="Text 5"/>
          <p:cNvSpPr txBox="1"/>
          <p:nvPr/>
        </p:nvSpPr>
        <p:spPr>
          <a:xfrm>
            <a:off x="987552" y="1746504"/>
            <a:ext cx="1952930" cy="292608"/>
          </a:xfrm>
          <a:prstGeom prst="rect">
            <a:avLst/>
          </a:prstGeom>
          <a:noFill/>
          <a:ln/>
        </p:spPr>
        <p:txBody>
          <a:bodyPr wrap="square" lIns="0" tIns="0" rIns="0" bIns="0" rtlCol="0" anchor="ctr"/>
          <a:lstStyle/>
          <a:p>
            <a:pPr algn="l" indent="0" marL="0">
              <a:buNone/>
            </a:pPr>
            <a:r>
              <a:rPr lang="en-US" sz="1000" b="1" spc="110" kern="0" dirty="0">
                <a:solidFill>
                  <a:srgbClr val="9FB3C8"/>
                </a:solidFill>
                <a:latin typeface="Arial" pitchFamily="34" charset="0"/>
                <a:ea typeface="Arial" pitchFamily="34" charset="-122"/>
                <a:cs typeface="Arial" pitchFamily="34" charset="-120"/>
              </a:rPr>
              <a:t>REALISED SAVINGS</a:t>
            </a:r>
            <a:endParaRPr lang="en-US" sz="1000" dirty="0"/>
          </a:p>
        </p:txBody>
      </p:sp>
      <p:sp>
        <p:nvSpPr>
          <p:cNvPr id="8" name="Text 6"/>
          <p:cNvSpPr txBox="1"/>
          <p:nvPr/>
        </p:nvSpPr>
        <p:spPr>
          <a:xfrm>
            <a:off x="804672" y="2029968"/>
            <a:ext cx="2135810" cy="676656"/>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$268K</a:t>
            </a:r>
            <a:endParaRPr lang="en-US" sz="3600" dirty="0"/>
          </a:p>
        </p:txBody>
      </p:sp>
      <p:sp>
        <p:nvSpPr>
          <p:cNvPr id="9" name="Text 7"/>
          <p:cNvSpPr txBox="1"/>
          <p:nvPr/>
        </p:nvSpPr>
        <p:spPr>
          <a:xfrm>
            <a:off x="804672" y="2688336"/>
            <a:ext cx="2135810" cy="640080"/>
          </a:xfrm>
          <a:prstGeom prst="rect">
            <a:avLst/>
          </a:prstGeom>
          <a:noFill/>
          <a:ln/>
        </p:spPr>
        <p:txBody>
          <a:bodyPr wrap="square" lIns="0" tIns="0" rIns="0" bIns="0" rtlCol="0" anchor="t"/>
          <a:lstStyle/>
          <a:p>
            <a:pPr algn="l" indent="0" marL="0">
              <a:buNone/>
            </a:pPr>
            <a:r>
              <a:rPr lang="en-US" sz="1150" dirty="0">
                <a:solidFill>
                  <a:srgbClr val="A9BCCF"/>
                </a:solidFill>
                <a:latin typeface="Arial" pitchFamily="34" charset="0"/>
                <a:ea typeface="Arial" pitchFamily="34" charset="-122"/>
                <a:cs typeface="Arial" pitchFamily="34" charset="-120"/>
              </a:rPr>
              <a:t>Cost removed from the</a:t>
            </a:r>
            <a:endParaRPr lang="en-US" sz="1150" dirty="0"/>
          </a:p>
          <a:p>
            <a:pPr algn="l" indent="0" marL="0">
              <a:buNone/>
            </a:pPr>
            <a:r>
              <a:rPr lang="en-US" sz="1150" dirty="0">
                <a:solidFill>
                  <a:srgbClr val="A9BCCF"/>
                </a:solidFill>
                <a:latin typeface="Arial" pitchFamily="34" charset="0"/>
                <a:ea typeface="Arial" pitchFamily="34" charset="-122"/>
                <a:cs typeface="Arial" pitchFamily="34" charset="-120"/>
              </a:rPr>
              <a:t>running bill</a:t>
            </a:r>
            <a:endParaRPr lang="en-US" sz="1150" dirty="0"/>
          </a:p>
        </p:txBody>
      </p:sp>
      <p:sp>
        <p:nvSpPr>
          <p:cNvPr id="10" name="stat-card-Cost avoided"/>
          <p:cNvSpPr/>
          <p:nvPr/>
        </p:nvSpPr>
        <p:spPr>
          <a:xfrm>
            <a:off x="3388538" y="1572768"/>
            <a:ext cx="2593010" cy="1920240"/>
          </a:xfrm>
          <a:prstGeom prst="roundRect">
            <a:avLst>
              <a:gd name="adj" fmla="val 2857"/>
            </a:avLst>
          </a:prstGeom>
          <a:solidFill>
            <a:srgbClr val="13324F"/>
          </a:solidFill>
          <a:ln/>
        </p:spPr>
      </p:sp>
      <p:sp>
        <p:nvSpPr>
          <p:cNvPr id="11" name="stat-dot"/>
          <p:cNvSpPr/>
          <p:nvPr/>
        </p:nvSpPr>
        <p:spPr>
          <a:xfrm>
            <a:off x="3626282" y="1847088"/>
            <a:ext cx="91440" cy="91440"/>
          </a:xfrm>
          <a:prstGeom prst="ellipse">
            <a:avLst/>
          </a:prstGeom>
          <a:solidFill>
            <a:srgbClr val="0F7DC2"/>
          </a:solidFill>
          <a:ln/>
        </p:spPr>
      </p:sp>
      <p:sp>
        <p:nvSpPr>
          <p:cNvPr id="12" name="Text 10"/>
          <p:cNvSpPr txBox="1"/>
          <p:nvPr/>
        </p:nvSpPr>
        <p:spPr>
          <a:xfrm>
            <a:off x="3809162" y="1746504"/>
            <a:ext cx="1952930" cy="292608"/>
          </a:xfrm>
          <a:prstGeom prst="rect">
            <a:avLst/>
          </a:prstGeom>
          <a:noFill/>
          <a:ln/>
        </p:spPr>
        <p:txBody>
          <a:bodyPr wrap="square" lIns="0" tIns="0" rIns="0" bIns="0" rtlCol="0" anchor="ctr"/>
          <a:lstStyle/>
          <a:p>
            <a:pPr algn="l" indent="0" marL="0">
              <a:buNone/>
            </a:pPr>
            <a:r>
              <a:rPr lang="en-US" sz="1000" b="1" spc="110" kern="0" dirty="0">
                <a:solidFill>
                  <a:srgbClr val="9FB3C8"/>
                </a:solidFill>
                <a:latin typeface="Arial" pitchFamily="34" charset="0"/>
                <a:ea typeface="Arial" pitchFamily="34" charset="-122"/>
                <a:cs typeface="Arial" pitchFamily="34" charset="-120"/>
              </a:rPr>
              <a:t>COST AVOIDED</a:t>
            </a:r>
            <a:endParaRPr lang="en-US" sz="1000" dirty="0"/>
          </a:p>
        </p:txBody>
      </p:sp>
      <p:sp>
        <p:nvSpPr>
          <p:cNvPr id="13" name="Text 11"/>
          <p:cNvSpPr txBox="1"/>
          <p:nvPr/>
        </p:nvSpPr>
        <p:spPr>
          <a:xfrm>
            <a:off x="3626282" y="2029968"/>
            <a:ext cx="2135810" cy="676656"/>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$310K</a:t>
            </a:r>
            <a:endParaRPr lang="en-US" sz="3600" dirty="0"/>
          </a:p>
        </p:txBody>
      </p:sp>
      <p:sp>
        <p:nvSpPr>
          <p:cNvPr id="14" name="Text 12"/>
          <p:cNvSpPr txBox="1"/>
          <p:nvPr/>
        </p:nvSpPr>
        <p:spPr>
          <a:xfrm>
            <a:off x="3626282" y="2688336"/>
            <a:ext cx="2135810" cy="640080"/>
          </a:xfrm>
          <a:prstGeom prst="rect">
            <a:avLst/>
          </a:prstGeom>
          <a:noFill/>
          <a:ln/>
        </p:spPr>
        <p:txBody>
          <a:bodyPr wrap="square" lIns="0" tIns="0" rIns="0" bIns="0" rtlCol="0" anchor="t"/>
          <a:lstStyle/>
          <a:p>
            <a:pPr algn="l" indent="0" marL="0">
              <a:buNone/>
            </a:pPr>
            <a:r>
              <a:rPr lang="en-US" sz="1150" dirty="0">
                <a:solidFill>
                  <a:srgbClr val="A9BCCF"/>
                </a:solidFill>
                <a:latin typeface="Arial" pitchFamily="34" charset="0"/>
                <a:ea typeface="Arial" pitchFamily="34" charset="-122"/>
                <a:cs typeface="Arial" pitchFamily="34" charset="-120"/>
              </a:rPr>
              <a:t>Increases caught before</a:t>
            </a:r>
            <a:endParaRPr lang="en-US" sz="1150" dirty="0"/>
          </a:p>
          <a:p>
            <a:pPr algn="l" indent="0" marL="0">
              <a:buNone/>
            </a:pPr>
            <a:r>
              <a:rPr lang="en-US" sz="1150" dirty="0">
                <a:solidFill>
                  <a:srgbClr val="A9BCCF"/>
                </a:solidFill>
                <a:latin typeface="Arial" pitchFamily="34" charset="0"/>
                <a:ea typeface="Arial" pitchFamily="34" charset="-122"/>
                <a:cs typeface="Arial" pitchFamily="34" charset="-120"/>
              </a:rPr>
              <a:t>they landed</a:t>
            </a:r>
            <a:endParaRPr lang="en-US" sz="1150" dirty="0"/>
          </a:p>
        </p:txBody>
      </p:sp>
      <p:sp>
        <p:nvSpPr>
          <p:cNvPr id="15" name="stat-card-Total returned"/>
          <p:cNvSpPr/>
          <p:nvPr/>
        </p:nvSpPr>
        <p:spPr>
          <a:xfrm>
            <a:off x="6210148" y="1572768"/>
            <a:ext cx="2593010" cy="1920240"/>
          </a:xfrm>
          <a:prstGeom prst="roundRect">
            <a:avLst>
              <a:gd name="adj" fmla="val 2857"/>
            </a:avLst>
          </a:prstGeom>
          <a:solidFill>
            <a:srgbClr val="13324F"/>
          </a:solidFill>
          <a:ln/>
        </p:spPr>
      </p:sp>
      <p:sp>
        <p:nvSpPr>
          <p:cNvPr id="16" name="stat-dot"/>
          <p:cNvSpPr/>
          <p:nvPr/>
        </p:nvSpPr>
        <p:spPr>
          <a:xfrm>
            <a:off x="6447892" y="1847088"/>
            <a:ext cx="91440" cy="91440"/>
          </a:xfrm>
          <a:prstGeom prst="ellipse">
            <a:avLst/>
          </a:prstGeom>
          <a:solidFill>
            <a:srgbClr val="F2A900"/>
          </a:solidFill>
          <a:ln/>
        </p:spPr>
      </p:sp>
      <p:sp>
        <p:nvSpPr>
          <p:cNvPr id="17" name="Text 15"/>
          <p:cNvSpPr txBox="1"/>
          <p:nvPr/>
        </p:nvSpPr>
        <p:spPr>
          <a:xfrm>
            <a:off x="6630772" y="1746504"/>
            <a:ext cx="1952930" cy="292608"/>
          </a:xfrm>
          <a:prstGeom prst="rect">
            <a:avLst/>
          </a:prstGeom>
          <a:noFill/>
          <a:ln/>
        </p:spPr>
        <p:txBody>
          <a:bodyPr wrap="square" lIns="0" tIns="0" rIns="0" bIns="0" rtlCol="0" anchor="ctr"/>
          <a:lstStyle/>
          <a:p>
            <a:pPr algn="l" indent="0" marL="0">
              <a:buNone/>
            </a:pPr>
            <a:r>
              <a:rPr lang="en-US" sz="1000" b="1" spc="110" kern="0" dirty="0">
                <a:solidFill>
                  <a:srgbClr val="9FB3C8"/>
                </a:solidFill>
                <a:latin typeface="Arial" pitchFamily="34" charset="0"/>
                <a:ea typeface="Arial" pitchFamily="34" charset="-122"/>
                <a:cs typeface="Arial" pitchFamily="34" charset="-120"/>
              </a:rPr>
              <a:t>TOTAL RETURNED</a:t>
            </a:r>
            <a:endParaRPr lang="en-US" sz="1000" dirty="0"/>
          </a:p>
        </p:txBody>
      </p:sp>
      <p:sp>
        <p:nvSpPr>
          <p:cNvPr id="18" name="Text 16"/>
          <p:cNvSpPr txBox="1"/>
          <p:nvPr/>
        </p:nvSpPr>
        <p:spPr>
          <a:xfrm>
            <a:off x="6447892" y="2029968"/>
            <a:ext cx="2135810" cy="676656"/>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$578K</a:t>
            </a:r>
            <a:endParaRPr lang="en-US" sz="3600" dirty="0"/>
          </a:p>
        </p:txBody>
      </p:sp>
      <p:sp>
        <p:nvSpPr>
          <p:cNvPr id="19" name="Text 17"/>
          <p:cNvSpPr txBox="1"/>
          <p:nvPr/>
        </p:nvSpPr>
        <p:spPr>
          <a:xfrm>
            <a:off x="6447892" y="2688336"/>
            <a:ext cx="2135810" cy="640080"/>
          </a:xfrm>
          <a:prstGeom prst="rect">
            <a:avLst/>
          </a:prstGeom>
          <a:noFill/>
          <a:ln/>
        </p:spPr>
        <p:txBody>
          <a:bodyPr wrap="square" lIns="0" tIns="0" rIns="0" bIns="0" rtlCol="0" anchor="t"/>
          <a:lstStyle/>
          <a:p>
            <a:pPr algn="l" indent="0" marL="0">
              <a:buNone/>
            </a:pPr>
            <a:r>
              <a:rPr lang="en-US" sz="1150" dirty="0">
                <a:solidFill>
                  <a:srgbClr val="A9BCCF"/>
                </a:solidFill>
                <a:latin typeface="Arial" pitchFamily="34" charset="0"/>
                <a:ea typeface="Arial" pitchFamily="34" charset="-122"/>
                <a:cs typeface="Arial" pitchFamily="34" charset="-120"/>
              </a:rPr>
              <a:t>25% of YTD metered</a:t>
            </a:r>
            <a:endParaRPr lang="en-US" sz="1150" dirty="0"/>
          </a:p>
          <a:p>
            <a:pPr algn="l" indent="0" marL="0">
              <a:buNone/>
            </a:pPr>
            <a:r>
              <a:rPr lang="en-US" sz="1150" dirty="0">
                <a:solidFill>
                  <a:srgbClr val="A9BCCF"/>
                </a:solidFill>
                <a:latin typeface="Arial" pitchFamily="34" charset="0"/>
                <a:ea typeface="Arial" pitchFamily="34" charset="-122"/>
                <a:cs typeface="Arial" pitchFamily="34" charset="-120"/>
              </a:rPr>
              <a:t>consumption</a:t>
            </a:r>
            <a:endParaRPr lang="en-US" sz="1150" dirty="0"/>
          </a:p>
        </p:txBody>
      </p:sp>
      <p:sp>
        <p:nvSpPr>
          <p:cNvPr id="20" name="stat-card-Identified pip"/>
          <p:cNvSpPr/>
          <p:nvPr/>
        </p:nvSpPr>
        <p:spPr>
          <a:xfrm>
            <a:off x="9031757" y="1572768"/>
            <a:ext cx="2593010" cy="1920240"/>
          </a:xfrm>
          <a:prstGeom prst="roundRect">
            <a:avLst>
              <a:gd name="adj" fmla="val 2857"/>
            </a:avLst>
          </a:prstGeom>
          <a:solidFill>
            <a:srgbClr val="13324F"/>
          </a:solidFill>
          <a:ln/>
        </p:spPr>
      </p:sp>
      <p:sp>
        <p:nvSpPr>
          <p:cNvPr id="21" name="stat-dot"/>
          <p:cNvSpPr/>
          <p:nvPr/>
        </p:nvSpPr>
        <p:spPr>
          <a:xfrm>
            <a:off x="9269501" y="1847088"/>
            <a:ext cx="91440" cy="91440"/>
          </a:xfrm>
          <a:prstGeom prst="ellipse">
            <a:avLst/>
          </a:prstGeom>
          <a:solidFill>
            <a:srgbClr val="7C5CFF"/>
          </a:solidFill>
          <a:ln/>
        </p:spPr>
      </p:sp>
      <p:sp>
        <p:nvSpPr>
          <p:cNvPr id="22" name="Text 20"/>
          <p:cNvSpPr txBox="1"/>
          <p:nvPr/>
        </p:nvSpPr>
        <p:spPr>
          <a:xfrm>
            <a:off x="9452381" y="1746504"/>
            <a:ext cx="1952930" cy="292608"/>
          </a:xfrm>
          <a:prstGeom prst="rect">
            <a:avLst/>
          </a:prstGeom>
          <a:noFill/>
          <a:ln/>
        </p:spPr>
        <p:txBody>
          <a:bodyPr wrap="square" lIns="0" tIns="0" rIns="0" bIns="0" rtlCol="0" anchor="ctr"/>
          <a:lstStyle/>
          <a:p>
            <a:pPr algn="l" indent="0" marL="0">
              <a:buNone/>
            </a:pPr>
            <a:r>
              <a:rPr lang="en-US" sz="1000" b="1" spc="110" kern="0" dirty="0">
                <a:solidFill>
                  <a:srgbClr val="9FB3C8"/>
                </a:solidFill>
                <a:latin typeface="Arial" pitchFamily="34" charset="0"/>
                <a:ea typeface="Arial" pitchFamily="34" charset="-122"/>
                <a:cs typeface="Arial" pitchFamily="34" charset="-120"/>
              </a:rPr>
              <a:t>IDENTIFIED PIPELINE</a:t>
            </a:r>
            <a:endParaRPr lang="en-US" sz="1000" dirty="0"/>
          </a:p>
        </p:txBody>
      </p:sp>
      <p:sp>
        <p:nvSpPr>
          <p:cNvPr id="23" name="Text 21"/>
          <p:cNvSpPr txBox="1"/>
          <p:nvPr/>
        </p:nvSpPr>
        <p:spPr>
          <a:xfrm>
            <a:off x="9269501" y="2029968"/>
            <a:ext cx="2135810" cy="676656"/>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$190K</a:t>
            </a:r>
            <a:endParaRPr lang="en-US" sz="3600" dirty="0"/>
          </a:p>
        </p:txBody>
      </p:sp>
      <p:sp>
        <p:nvSpPr>
          <p:cNvPr id="24" name="Text 22"/>
          <p:cNvSpPr txBox="1"/>
          <p:nvPr/>
        </p:nvSpPr>
        <p:spPr>
          <a:xfrm>
            <a:off x="9269501" y="2688336"/>
            <a:ext cx="2135810" cy="640080"/>
          </a:xfrm>
          <a:prstGeom prst="rect">
            <a:avLst/>
          </a:prstGeom>
          <a:noFill/>
          <a:ln/>
        </p:spPr>
        <p:txBody>
          <a:bodyPr wrap="square" lIns="0" tIns="0" rIns="0" bIns="0" rtlCol="0" anchor="t"/>
          <a:lstStyle/>
          <a:p>
            <a:pPr algn="l" indent="0" marL="0">
              <a:buNone/>
            </a:pPr>
            <a:r>
              <a:rPr lang="en-US" sz="1150" dirty="0">
                <a:solidFill>
                  <a:srgbClr val="A9BCCF"/>
                </a:solidFill>
                <a:latin typeface="Arial" pitchFamily="34" charset="0"/>
                <a:ea typeface="Arial" pitchFamily="34" charset="-122"/>
                <a:cs typeface="Arial" pitchFamily="34" charset="-120"/>
              </a:rPr>
              <a:t>Approved actions not</a:t>
            </a:r>
            <a:endParaRPr lang="en-US" sz="1150" dirty="0"/>
          </a:p>
          <a:p>
            <a:pPr algn="l" indent="0" marL="0">
              <a:buNone/>
            </a:pPr>
            <a:r>
              <a:rPr lang="en-US" sz="1150" dirty="0">
                <a:solidFill>
                  <a:srgbClr val="A9BCCF"/>
                </a:solidFill>
                <a:latin typeface="Arial" pitchFamily="34" charset="0"/>
                <a:ea typeface="Arial" pitchFamily="34" charset="-122"/>
                <a:cs typeface="Arial" pitchFamily="34" charset="-120"/>
              </a:rPr>
              <a:t>yet implemented</a:t>
            </a:r>
            <a:endParaRPr lang="en-US" sz="1150" dirty="0"/>
          </a:p>
        </p:txBody>
      </p:sp>
      <p:sp>
        <p:nvSpPr>
          <p:cNvPr id="25" name="Text 23"/>
          <p:cNvSpPr txBox="1"/>
          <p:nvPr/>
        </p:nvSpPr>
        <p:spPr>
          <a:xfrm>
            <a:off x="566928" y="3822192"/>
            <a:ext cx="11057839" cy="274320"/>
          </a:xfrm>
          <a:prstGeom prst="rect">
            <a:avLst/>
          </a:prstGeom>
          <a:noFill/>
          <a:ln/>
        </p:spPr>
        <p:txBody>
          <a:bodyPr wrap="square" lIns="0" tIns="0" rIns="0" bIns="0" rtlCol="0" anchor="ctr"/>
          <a:lstStyle/>
          <a:p>
            <a:pPr algn="l" indent="0" marL="0">
              <a:buNone/>
            </a:pPr>
            <a:r>
              <a:rPr lang="en-US" sz="1050" b="1" spc="160" kern="0" dirty="0">
                <a:solidFill>
                  <a:srgbClr val="8FA7BF"/>
                </a:solidFill>
                <a:latin typeface="Arial" pitchFamily="34" charset="0"/>
                <a:ea typeface="Arial" pitchFamily="34" charset="-122"/>
                <a:cs typeface="Arial" pitchFamily="34" charset="-120"/>
              </a:rPr>
              <a:t>WHERE IT CAME FROM</a:t>
            </a:r>
            <a:endParaRPr lang="en-US" sz="1050" dirty="0"/>
          </a:p>
        </p:txBody>
      </p:sp>
      <p:sp>
        <p:nvSpPr>
          <p:cNvPr id="26" name="src-1"/>
          <p:cNvSpPr/>
          <p:nvPr/>
        </p:nvSpPr>
        <p:spPr>
          <a:xfrm>
            <a:off x="566928" y="4133088"/>
            <a:ext cx="3503066" cy="1572768"/>
          </a:xfrm>
          <a:prstGeom prst="roundRect">
            <a:avLst>
              <a:gd name="adj" fmla="val 3488"/>
            </a:avLst>
          </a:prstGeom>
          <a:solidFill>
            <a:srgbClr val="112C45"/>
          </a:solidFill>
          <a:ln/>
        </p:spPr>
      </p:sp>
      <p:sp>
        <p:nvSpPr>
          <p:cNvPr id="27" name="num-badge"/>
          <p:cNvSpPr/>
          <p:nvPr/>
        </p:nvSpPr>
        <p:spPr>
          <a:xfrm>
            <a:off x="822960" y="4407408"/>
            <a:ext cx="274320" cy="274320"/>
          </a:xfrm>
          <a:prstGeom prst="ellipse">
            <a:avLst/>
          </a:prstGeom>
          <a:solidFill>
            <a:srgbClr val="00A878"/>
          </a:solidFill>
          <a:ln/>
        </p:spPr>
      </p:sp>
      <p:sp>
        <p:nvSpPr>
          <p:cNvPr id="28" name="Text 26"/>
          <p:cNvSpPr txBox="1"/>
          <p:nvPr/>
        </p:nvSpPr>
        <p:spPr>
          <a:xfrm>
            <a:off x="822960" y="44074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9" name="Text 27"/>
          <p:cNvSpPr txBox="1"/>
          <p:nvPr/>
        </p:nvSpPr>
        <p:spPr>
          <a:xfrm>
            <a:off x="1243584" y="4370832"/>
            <a:ext cx="2570378" cy="292608"/>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Decommissioning</a:t>
            </a:r>
            <a:endParaRPr lang="en-US" sz="1400" dirty="0"/>
          </a:p>
        </p:txBody>
      </p:sp>
      <p:sp>
        <p:nvSpPr>
          <p:cNvPr id="30" name="Text 28"/>
          <p:cNvSpPr txBox="1"/>
          <p:nvPr/>
        </p:nvSpPr>
        <p:spPr>
          <a:xfrm>
            <a:off x="1243584" y="4681728"/>
            <a:ext cx="2570378" cy="1005840"/>
          </a:xfrm>
          <a:prstGeom prst="rect">
            <a:avLst/>
          </a:prstGeom>
          <a:noFill/>
          <a:ln/>
        </p:spPr>
        <p:txBody>
          <a:bodyPr wrap="square" lIns="0" tIns="0" rIns="0" bIns="0" rtlCol="0" anchor="t"/>
          <a:lstStyle/>
          <a:p>
            <a:pPr algn="l" indent="0" marL="0">
              <a:buNone/>
            </a:pPr>
            <a:r>
              <a:rPr lang="en-US" sz="1200" dirty="0">
                <a:solidFill>
                  <a:srgbClr val="A9BCCF"/>
                </a:solidFill>
                <a:latin typeface="Arial" pitchFamily="34" charset="0"/>
                <a:ea typeface="Arial" pitchFamily="34" charset="-122"/>
                <a:cs typeface="Arial" pitchFamily="34" charset="-120"/>
              </a:rPr>
              <a:t>Closing North Europe removed $70K a year of duplicated VMs, storage and gateways.</a:t>
            </a:r>
            <a:endParaRPr lang="en-US" sz="1200" dirty="0"/>
          </a:p>
        </p:txBody>
      </p:sp>
      <p:sp>
        <p:nvSpPr>
          <p:cNvPr id="31" name="src-2"/>
          <p:cNvSpPr/>
          <p:nvPr/>
        </p:nvSpPr>
        <p:spPr>
          <a:xfrm>
            <a:off x="4344314" y="4133088"/>
            <a:ext cx="3503066" cy="1572768"/>
          </a:xfrm>
          <a:prstGeom prst="roundRect">
            <a:avLst>
              <a:gd name="adj" fmla="val 3488"/>
            </a:avLst>
          </a:prstGeom>
          <a:solidFill>
            <a:srgbClr val="112C45"/>
          </a:solidFill>
          <a:ln/>
        </p:spPr>
      </p:sp>
      <p:sp>
        <p:nvSpPr>
          <p:cNvPr id="32" name="num-badge"/>
          <p:cNvSpPr/>
          <p:nvPr/>
        </p:nvSpPr>
        <p:spPr>
          <a:xfrm>
            <a:off x="4600346" y="4407408"/>
            <a:ext cx="274320" cy="274320"/>
          </a:xfrm>
          <a:prstGeom prst="ellipse">
            <a:avLst/>
          </a:prstGeom>
          <a:solidFill>
            <a:srgbClr val="0F7DC2"/>
          </a:solidFill>
          <a:ln/>
        </p:spPr>
      </p:sp>
      <p:sp>
        <p:nvSpPr>
          <p:cNvPr id="33" name="Text 31"/>
          <p:cNvSpPr txBox="1"/>
          <p:nvPr/>
        </p:nvSpPr>
        <p:spPr>
          <a:xfrm>
            <a:off x="4600346" y="44074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4" name="Text 32"/>
          <p:cNvSpPr txBox="1"/>
          <p:nvPr/>
        </p:nvSpPr>
        <p:spPr>
          <a:xfrm>
            <a:off x="5020970" y="4370832"/>
            <a:ext cx="2570378" cy="292608"/>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Commitments</a:t>
            </a:r>
            <a:endParaRPr lang="en-US" sz="1400" dirty="0"/>
          </a:p>
        </p:txBody>
      </p:sp>
      <p:sp>
        <p:nvSpPr>
          <p:cNvPr id="35" name="Text 33"/>
          <p:cNvSpPr txBox="1"/>
          <p:nvPr/>
        </p:nvSpPr>
        <p:spPr>
          <a:xfrm>
            <a:off x="5020970" y="4681728"/>
            <a:ext cx="2570378" cy="1005840"/>
          </a:xfrm>
          <a:prstGeom prst="rect">
            <a:avLst/>
          </a:prstGeom>
          <a:noFill/>
          <a:ln/>
        </p:spPr>
        <p:txBody>
          <a:bodyPr wrap="square" lIns="0" tIns="0" rIns="0" bIns="0" rtlCol="0" anchor="t"/>
          <a:lstStyle/>
          <a:p>
            <a:pPr algn="l" indent="0" marL="0">
              <a:buNone/>
            </a:pPr>
            <a:r>
              <a:rPr lang="en-US" sz="1200" dirty="0">
                <a:solidFill>
                  <a:srgbClr val="A9BCCF"/>
                </a:solidFill>
                <a:latin typeface="Arial" pitchFamily="34" charset="0"/>
                <a:ea typeface="Arial" pitchFamily="34" charset="-122"/>
                <a:cs typeface="Arial" pitchFamily="34" charset="-120"/>
              </a:rPr>
              <a:t>VM reservations and a compute savings plan returned $132K a year between them.</a:t>
            </a:r>
            <a:endParaRPr lang="en-US" sz="1200" dirty="0"/>
          </a:p>
        </p:txBody>
      </p:sp>
      <p:sp>
        <p:nvSpPr>
          <p:cNvPr id="36" name="src-3"/>
          <p:cNvSpPr/>
          <p:nvPr/>
        </p:nvSpPr>
        <p:spPr>
          <a:xfrm>
            <a:off x="8121701" y="4133088"/>
            <a:ext cx="3503066" cy="1572768"/>
          </a:xfrm>
          <a:prstGeom prst="roundRect">
            <a:avLst>
              <a:gd name="adj" fmla="val 3488"/>
            </a:avLst>
          </a:prstGeom>
          <a:solidFill>
            <a:srgbClr val="112C45"/>
          </a:solidFill>
          <a:ln/>
        </p:spPr>
      </p:sp>
      <p:sp>
        <p:nvSpPr>
          <p:cNvPr id="37" name="num-badge"/>
          <p:cNvSpPr/>
          <p:nvPr/>
        </p:nvSpPr>
        <p:spPr>
          <a:xfrm>
            <a:off x="8377733" y="4407408"/>
            <a:ext cx="274320" cy="274320"/>
          </a:xfrm>
          <a:prstGeom prst="ellipse">
            <a:avLst/>
          </a:prstGeom>
          <a:solidFill>
            <a:srgbClr val="F2A900"/>
          </a:solidFill>
          <a:ln/>
        </p:spPr>
      </p:sp>
      <p:sp>
        <p:nvSpPr>
          <p:cNvPr id="38" name="Text 36"/>
          <p:cNvSpPr txBox="1"/>
          <p:nvPr/>
        </p:nvSpPr>
        <p:spPr>
          <a:xfrm>
            <a:off x="8377733" y="44074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39" name="Text 37"/>
          <p:cNvSpPr txBox="1"/>
          <p:nvPr/>
        </p:nvSpPr>
        <p:spPr>
          <a:xfrm>
            <a:off x="8798357" y="4370832"/>
            <a:ext cx="2570378" cy="292608"/>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Alerting</a:t>
            </a:r>
            <a:endParaRPr lang="en-US" sz="1400" dirty="0"/>
          </a:p>
        </p:txBody>
      </p:sp>
      <p:sp>
        <p:nvSpPr>
          <p:cNvPr id="40" name="Text 38"/>
          <p:cNvSpPr txBox="1"/>
          <p:nvPr/>
        </p:nvSpPr>
        <p:spPr>
          <a:xfrm>
            <a:off x="8798357" y="4681728"/>
            <a:ext cx="2570378" cy="1005840"/>
          </a:xfrm>
          <a:prstGeom prst="rect">
            <a:avLst/>
          </a:prstGeom>
          <a:noFill/>
          <a:ln/>
        </p:spPr>
        <p:txBody>
          <a:bodyPr wrap="square" lIns="0" tIns="0" rIns="0" bIns="0" rtlCol="0" anchor="t"/>
          <a:lstStyle/>
          <a:p>
            <a:pPr algn="l" indent="0" marL="0">
              <a:buNone/>
            </a:pPr>
            <a:r>
              <a:rPr lang="en-US" sz="1200" dirty="0">
                <a:solidFill>
                  <a:srgbClr val="A9BCCF"/>
                </a:solidFill>
                <a:latin typeface="Arial" pitchFamily="34" charset="0"/>
                <a:ea typeface="Arial" pitchFamily="34" charset="-122"/>
                <a:cs typeface="Arial" pitchFamily="34" charset="-120"/>
              </a:rPr>
              <a:t>Two spend alerts caught $291K of increases before they became permanent.</a:t>
            </a:r>
            <a:endParaRPr lang="en-US" sz="12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0A878"/>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WHAT WE IMPLEMENTED</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Five actions produced 94% of the $268K realised</a:t>
            </a:r>
            <a:endParaRPr lang="en-US" sz="2800" dirty="0"/>
          </a:p>
        </p:txBody>
      </p:sp>
      <p:sp>
        <p:nvSpPr>
          <p:cNvPr id="5" name="Text 3"/>
          <p:cNvSpPr txBox="1"/>
          <p:nvPr/>
        </p:nvSpPr>
        <p:spPr>
          <a:xfrm>
            <a:off x="566928" y="1554480"/>
            <a:ext cx="5120640" cy="274320"/>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Realised savings  ·  annualised</a:t>
            </a:r>
            <a:endParaRPr lang="en-US" sz="1300" dirty="0"/>
          </a:p>
        </p:txBody>
      </p:sp>
      <p:sp>
        <p:nvSpPr>
          <p:cNvPr id="6" name="Text 4"/>
          <p:cNvSpPr txBox="1"/>
          <p:nvPr/>
        </p:nvSpPr>
        <p:spPr>
          <a:xfrm>
            <a:off x="566928" y="1938528"/>
            <a:ext cx="3200400" cy="35661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Decommission North Europe</a:t>
            </a:r>
            <a:endParaRPr lang="en-US" sz="1100" dirty="0"/>
          </a:p>
        </p:txBody>
      </p:sp>
      <p:sp>
        <p:nvSpPr>
          <p:cNvPr id="7" name="rank-bar-0"/>
          <p:cNvSpPr/>
          <p:nvPr/>
        </p:nvSpPr>
        <p:spPr>
          <a:xfrm>
            <a:off x="3858768" y="2048256"/>
            <a:ext cx="1234440" cy="137160"/>
          </a:xfrm>
          <a:prstGeom prst="rect">
            <a:avLst/>
          </a:prstGeom>
          <a:solidFill>
            <a:srgbClr val="00A878"/>
          </a:solidFill>
          <a:ln/>
        </p:spPr>
      </p:sp>
      <p:sp>
        <p:nvSpPr>
          <p:cNvPr id="8" name="Text 6"/>
          <p:cNvSpPr txBox="1"/>
          <p:nvPr/>
        </p:nvSpPr>
        <p:spPr>
          <a:xfrm>
            <a:off x="5184648" y="1938528"/>
            <a:ext cx="777240" cy="35661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$70K</a:t>
            </a:r>
            <a:endParaRPr lang="en-US" sz="1150" dirty="0"/>
          </a:p>
        </p:txBody>
      </p:sp>
      <p:sp>
        <p:nvSpPr>
          <p:cNvPr id="9" name="Text 7"/>
          <p:cNvSpPr txBox="1"/>
          <p:nvPr/>
        </p:nvSpPr>
        <p:spPr>
          <a:xfrm>
            <a:off x="566928" y="2368296"/>
            <a:ext cx="3200400" cy="35661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VM reserved instances (Azure)</a:t>
            </a:r>
            <a:endParaRPr lang="en-US" sz="1100" dirty="0"/>
          </a:p>
        </p:txBody>
      </p:sp>
      <p:sp>
        <p:nvSpPr>
          <p:cNvPr id="10" name="rank-bar-1"/>
          <p:cNvSpPr/>
          <p:nvPr/>
        </p:nvSpPr>
        <p:spPr>
          <a:xfrm>
            <a:off x="3858768" y="2478024"/>
            <a:ext cx="1170153" cy="137160"/>
          </a:xfrm>
          <a:prstGeom prst="rect">
            <a:avLst/>
          </a:prstGeom>
          <a:solidFill>
            <a:srgbClr val="00A878"/>
          </a:solidFill>
          <a:ln/>
        </p:spPr>
      </p:sp>
      <p:sp>
        <p:nvSpPr>
          <p:cNvPr id="11" name="Text 9"/>
          <p:cNvSpPr txBox="1"/>
          <p:nvPr/>
        </p:nvSpPr>
        <p:spPr>
          <a:xfrm>
            <a:off x="5184648" y="2368296"/>
            <a:ext cx="777240" cy="35661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$67K</a:t>
            </a:r>
            <a:endParaRPr lang="en-US" sz="1150" dirty="0"/>
          </a:p>
        </p:txBody>
      </p:sp>
      <p:sp>
        <p:nvSpPr>
          <p:cNvPr id="12" name="Text 10"/>
          <p:cNvSpPr txBox="1"/>
          <p:nvPr/>
        </p:nvSpPr>
        <p:spPr>
          <a:xfrm>
            <a:off x="566928" y="2798064"/>
            <a:ext cx="3200400" cy="35661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Compute savings plan (Azure)</a:t>
            </a:r>
            <a:endParaRPr lang="en-US" sz="1100" dirty="0"/>
          </a:p>
        </p:txBody>
      </p:sp>
      <p:sp>
        <p:nvSpPr>
          <p:cNvPr id="13" name="rank-bar-2"/>
          <p:cNvSpPr/>
          <p:nvPr/>
        </p:nvSpPr>
        <p:spPr>
          <a:xfrm>
            <a:off x="3858768" y="2907792"/>
            <a:ext cx="1144781" cy="137160"/>
          </a:xfrm>
          <a:prstGeom prst="rect">
            <a:avLst/>
          </a:prstGeom>
          <a:solidFill>
            <a:srgbClr val="00A878"/>
          </a:solidFill>
          <a:ln/>
        </p:spPr>
      </p:sp>
      <p:sp>
        <p:nvSpPr>
          <p:cNvPr id="14" name="Text 12"/>
          <p:cNvSpPr txBox="1"/>
          <p:nvPr/>
        </p:nvSpPr>
        <p:spPr>
          <a:xfrm>
            <a:off x="5184648" y="2798064"/>
            <a:ext cx="777240" cy="35661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$65K</a:t>
            </a:r>
            <a:endParaRPr lang="en-US" sz="1150" dirty="0"/>
          </a:p>
        </p:txBody>
      </p:sp>
      <p:sp>
        <p:nvSpPr>
          <p:cNvPr id="15" name="Text 13"/>
          <p:cNvSpPr txBox="1"/>
          <p:nvPr/>
        </p:nvSpPr>
        <p:spPr>
          <a:xfrm>
            <a:off x="566928" y="3227832"/>
            <a:ext cx="3200400" cy="35661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Removed unnecessary VMs</a:t>
            </a:r>
            <a:endParaRPr lang="en-US" sz="1100" dirty="0"/>
          </a:p>
        </p:txBody>
      </p:sp>
      <p:sp>
        <p:nvSpPr>
          <p:cNvPr id="16" name="rank-bar-3"/>
          <p:cNvSpPr/>
          <p:nvPr/>
        </p:nvSpPr>
        <p:spPr>
          <a:xfrm>
            <a:off x="3858768" y="3337560"/>
            <a:ext cx="492448" cy="137160"/>
          </a:xfrm>
          <a:prstGeom prst="rect">
            <a:avLst/>
          </a:prstGeom>
          <a:solidFill>
            <a:srgbClr val="00A878"/>
          </a:solidFill>
          <a:ln/>
        </p:spPr>
      </p:sp>
      <p:sp>
        <p:nvSpPr>
          <p:cNvPr id="17" name="Text 15"/>
          <p:cNvSpPr txBox="1"/>
          <p:nvPr/>
        </p:nvSpPr>
        <p:spPr>
          <a:xfrm>
            <a:off x="5184648" y="3227832"/>
            <a:ext cx="777240" cy="35661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$28K</a:t>
            </a:r>
            <a:endParaRPr lang="en-US" sz="1150" dirty="0"/>
          </a:p>
        </p:txBody>
      </p:sp>
      <p:sp>
        <p:nvSpPr>
          <p:cNvPr id="18" name="Text 16"/>
          <p:cNvSpPr txBox="1"/>
          <p:nvPr/>
        </p:nvSpPr>
        <p:spPr>
          <a:xfrm>
            <a:off x="566928" y="3657600"/>
            <a:ext cx="3200400" cy="35661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Idle unattached disks</a:t>
            </a:r>
            <a:endParaRPr lang="en-US" sz="1100" dirty="0"/>
          </a:p>
        </p:txBody>
      </p:sp>
      <p:sp>
        <p:nvSpPr>
          <p:cNvPr id="19" name="rank-bar-4"/>
          <p:cNvSpPr/>
          <p:nvPr/>
        </p:nvSpPr>
        <p:spPr>
          <a:xfrm>
            <a:off x="3858768" y="3767328"/>
            <a:ext cx="360527" cy="137160"/>
          </a:xfrm>
          <a:prstGeom prst="rect">
            <a:avLst/>
          </a:prstGeom>
          <a:solidFill>
            <a:srgbClr val="00A878"/>
          </a:solidFill>
          <a:ln/>
        </p:spPr>
      </p:sp>
      <p:sp>
        <p:nvSpPr>
          <p:cNvPr id="20" name="Text 18"/>
          <p:cNvSpPr txBox="1"/>
          <p:nvPr/>
        </p:nvSpPr>
        <p:spPr>
          <a:xfrm>
            <a:off x="5184648" y="3657600"/>
            <a:ext cx="777240" cy="35661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$21K</a:t>
            </a:r>
            <a:endParaRPr lang="en-US" sz="1150" dirty="0"/>
          </a:p>
        </p:txBody>
      </p:sp>
      <p:sp>
        <p:nvSpPr>
          <p:cNvPr id="21" name="Text 19"/>
          <p:cNvSpPr txBox="1"/>
          <p:nvPr/>
        </p:nvSpPr>
        <p:spPr>
          <a:xfrm>
            <a:off x="566928" y="4087368"/>
            <a:ext cx="3200400" cy="35661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RDS reserved instances (AWS)</a:t>
            </a:r>
            <a:endParaRPr lang="en-US" sz="1100" dirty="0"/>
          </a:p>
        </p:txBody>
      </p:sp>
      <p:sp>
        <p:nvSpPr>
          <p:cNvPr id="22" name="rank-bar-5"/>
          <p:cNvSpPr/>
          <p:nvPr/>
        </p:nvSpPr>
        <p:spPr>
          <a:xfrm>
            <a:off x="3858768" y="4197096"/>
            <a:ext cx="139193" cy="137160"/>
          </a:xfrm>
          <a:prstGeom prst="rect">
            <a:avLst/>
          </a:prstGeom>
          <a:solidFill>
            <a:srgbClr val="F2A900"/>
          </a:solidFill>
          <a:ln/>
        </p:spPr>
      </p:sp>
      <p:sp>
        <p:nvSpPr>
          <p:cNvPr id="23" name="Text 21"/>
          <p:cNvSpPr txBox="1"/>
          <p:nvPr/>
        </p:nvSpPr>
        <p:spPr>
          <a:xfrm>
            <a:off x="5184648" y="4087368"/>
            <a:ext cx="777240" cy="35661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$8K</a:t>
            </a:r>
            <a:endParaRPr lang="en-US" sz="1150" dirty="0"/>
          </a:p>
        </p:txBody>
      </p:sp>
      <p:sp>
        <p:nvSpPr>
          <p:cNvPr id="24" name="Text 22"/>
          <p:cNvSpPr txBox="1"/>
          <p:nvPr/>
        </p:nvSpPr>
        <p:spPr>
          <a:xfrm>
            <a:off x="566928" y="4517136"/>
            <a:ext cx="3200400" cy="35661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Unused SQL on expiring RI</a:t>
            </a:r>
            <a:endParaRPr lang="en-US" sz="1100" dirty="0"/>
          </a:p>
        </p:txBody>
      </p:sp>
      <p:sp>
        <p:nvSpPr>
          <p:cNvPr id="25" name="rank-bar-6"/>
          <p:cNvSpPr/>
          <p:nvPr/>
        </p:nvSpPr>
        <p:spPr>
          <a:xfrm>
            <a:off x="3858768" y="4626864"/>
            <a:ext cx="79952" cy="137160"/>
          </a:xfrm>
          <a:prstGeom prst="rect">
            <a:avLst/>
          </a:prstGeom>
          <a:solidFill>
            <a:srgbClr val="0F7DC2"/>
          </a:solidFill>
          <a:ln/>
        </p:spPr>
      </p:sp>
      <p:sp>
        <p:nvSpPr>
          <p:cNvPr id="26" name="Text 24"/>
          <p:cNvSpPr txBox="1"/>
          <p:nvPr/>
        </p:nvSpPr>
        <p:spPr>
          <a:xfrm>
            <a:off x="5184648" y="4517136"/>
            <a:ext cx="777240" cy="35661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$5K</a:t>
            </a:r>
            <a:endParaRPr lang="en-US" sz="1150" dirty="0"/>
          </a:p>
        </p:txBody>
      </p:sp>
      <p:sp>
        <p:nvSpPr>
          <p:cNvPr id="27" name="Text 25"/>
          <p:cNvSpPr txBox="1"/>
          <p:nvPr/>
        </p:nvSpPr>
        <p:spPr>
          <a:xfrm>
            <a:off x="566928" y="4946904"/>
            <a:ext cx="3200400" cy="35661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SageMaker account clean-up (AWS)</a:t>
            </a:r>
            <a:endParaRPr lang="en-US" sz="1100" dirty="0"/>
          </a:p>
        </p:txBody>
      </p:sp>
      <p:sp>
        <p:nvSpPr>
          <p:cNvPr id="28" name="rank-bar-7"/>
          <p:cNvSpPr/>
          <p:nvPr/>
        </p:nvSpPr>
        <p:spPr>
          <a:xfrm>
            <a:off x="3858768" y="5056632"/>
            <a:ext cx="49008" cy="137160"/>
          </a:xfrm>
          <a:prstGeom prst="rect">
            <a:avLst/>
          </a:prstGeom>
          <a:solidFill>
            <a:srgbClr val="F2A900"/>
          </a:solidFill>
          <a:ln/>
        </p:spPr>
      </p:sp>
      <p:sp>
        <p:nvSpPr>
          <p:cNvPr id="29" name="Text 27"/>
          <p:cNvSpPr txBox="1"/>
          <p:nvPr/>
        </p:nvSpPr>
        <p:spPr>
          <a:xfrm>
            <a:off x="5184648" y="4946904"/>
            <a:ext cx="777240" cy="35661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$3K</a:t>
            </a:r>
            <a:endParaRPr lang="en-US" sz="1150" dirty="0"/>
          </a:p>
        </p:txBody>
      </p:sp>
      <p:sp>
        <p:nvSpPr>
          <p:cNvPr id="30" name="Text 28"/>
          <p:cNvSpPr txBox="1"/>
          <p:nvPr/>
        </p:nvSpPr>
        <p:spPr>
          <a:xfrm>
            <a:off x="566928" y="5376672"/>
            <a:ext cx="3200400" cy="35661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App Service RI and RI refund</a:t>
            </a:r>
            <a:endParaRPr lang="en-US" sz="1100" dirty="0"/>
          </a:p>
        </p:txBody>
      </p:sp>
      <p:sp>
        <p:nvSpPr>
          <p:cNvPr id="31" name="rank-bar-8"/>
          <p:cNvSpPr/>
          <p:nvPr/>
        </p:nvSpPr>
        <p:spPr>
          <a:xfrm>
            <a:off x="3858768" y="5486400"/>
            <a:ext cx="27432" cy="137160"/>
          </a:xfrm>
          <a:prstGeom prst="rect">
            <a:avLst/>
          </a:prstGeom>
          <a:solidFill>
            <a:srgbClr val="0F7DC2"/>
          </a:solidFill>
          <a:ln/>
        </p:spPr>
      </p:sp>
      <p:sp>
        <p:nvSpPr>
          <p:cNvPr id="32" name="Text 30"/>
          <p:cNvSpPr txBox="1"/>
          <p:nvPr/>
        </p:nvSpPr>
        <p:spPr>
          <a:xfrm>
            <a:off x="5184648" y="5376672"/>
            <a:ext cx="777240" cy="35661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$1K</a:t>
            </a:r>
            <a:endParaRPr lang="en-US" sz="1150" dirty="0"/>
          </a:p>
        </p:txBody>
      </p:sp>
      <p:sp>
        <p:nvSpPr>
          <p:cNvPr id="33" name="Text 31"/>
          <p:cNvSpPr txBox="1"/>
          <p:nvPr/>
        </p:nvSpPr>
        <p:spPr>
          <a:xfrm>
            <a:off x="6400800" y="1554480"/>
            <a:ext cx="5120640" cy="274320"/>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Cost avoided  ·  annualised</a:t>
            </a:r>
            <a:endParaRPr lang="en-US" sz="1300" dirty="0"/>
          </a:p>
        </p:txBody>
      </p:sp>
      <p:sp>
        <p:nvSpPr>
          <p:cNvPr id="34" name="Text 32"/>
          <p:cNvSpPr txBox="1"/>
          <p:nvPr/>
        </p:nvSpPr>
        <p:spPr>
          <a:xfrm>
            <a:off x="6400800" y="1938528"/>
            <a:ext cx="3108960" cy="35661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Alert on CloudWatch increase</a:t>
            </a:r>
            <a:endParaRPr lang="en-US" sz="1100" dirty="0"/>
          </a:p>
        </p:txBody>
      </p:sp>
      <p:sp>
        <p:nvSpPr>
          <p:cNvPr id="35" name="rank-bar-0"/>
          <p:cNvSpPr/>
          <p:nvPr/>
        </p:nvSpPr>
        <p:spPr>
          <a:xfrm>
            <a:off x="9601200" y="2048256"/>
            <a:ext cx="1152144" cy="137160"/>
          </a:xfrm>
          <a:prstGeom prst="rect">
            <a:avLst/>
          </a:prstGeom>
          <a:solidFill>
            <a:srgbClr val="0F7DC2"/>
          </a:solidFill>
          <a:ln/>
        </p:spPr>
      </p:sp>
      <p:sp>
        <p:nvSpPr>
          <p:cNvPr id="36" name="Text 34"/>
          <p:cNvSpPr txBox="1"/>
          <p:nvPr/>
        </p:nvSpPr>
        <p:spPr>
          <a:xfrm>
            <a:off x="10844784" y="1938528"/>
            <a:ext cx="777240" cy="35661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$219K</a:t>
            </a:r>
            <a:endParaRPr lang="en-US" sz="1150" dirty="0"/>
          </a:p>
        </p:txBody>
      </p:sp>
      <p:sp>
        <p:nvSpPr>
          <p:cNvPr id="37" name="Text 35"/>
          <p:cNvSpPr txBox="1"/>
          <p:nvPr/>
        </p:nvSpPr>
        <p:spPr>
          <a:xfrm>
            <a:off x="6400800" y="2368296"/>
            <a:ext cx="3108960" cy="35661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Alert on ongoing E1 increase</a:t>
            </a:r>
            <a:endParaRPr lang="en-US" sz="1100" dirty="0"/>
          </a:p>
        </p:txBody>
      </p:sp>
      <p:sp>
        <p:nvSpPr>
          <p:cNvPr id="38" name="rank-bar-1"/>
          <p:cNvSpPr/>
          <p:nvPr/>
        </p:nvSpPr>
        <p:spPr>
          <a:xfrm>
            <a:off x="9601200" y="2478024"/>
            <a:ext cx="378287" cy="137160"/>
          </a:xfrm>
          <a:prstGeom prst="rect">
            <a:avLst/>
          </a:prstGeom>
          <a:solidFill>
            <a:srgbClr val="0F7DC2"/>
          </a:solidFill>
          <a:ln/>
        </p:spPr>
      </p:sp>
      <p:sp>
        <p:nvSpPr>
          <p:cNvPr id="39" name="Text 37"/>
          <p:cNvSpPr txBox="1"/>
          <p:nvPr/>
        </p:nvSpPr>
        <p:spPr>
          <a:xfrm>
            <a:off x="10844784" y="2368296"/>
            <a:ext cx="777240" cy="35661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$72K</a:t>
            </a:r>
            <a:endParaRPr lang="en-US" sz="1150" dirty="0"/>
          </a:p>
        </p:txBody>
      </p:sp>
      <p:sp>
        <p:nvSpPr>
          <p:cNvPr id="40" name="Text 38"/>
          <p:cNvSpPr txBox="1"/>
          <p:nvPr/>
        </p:nvSpPr>
        <p:spPr>
          <a:xfrm>
            <a:off x="6400800" y="2798064"/>
            <a:ext cx="3108960" cy="35661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RI renewal, blob storage</a:t>
            </a:r>
            <a:endParaRPr lang="en-US" sz="1100" dirty="0"/>
          </a:p>
        </p:txBody>
      </p:sp>
      <p:sp>
        <p:nvSpPr>
          <p:cNvPr id="41" name="rank-bar-2"/>
          <p:cNvSpPr/>
          <p:nvPr/>
        </p:nvSpPr>
        <p:spPr>
          <a:xfrm>
            <a:off x="9601200" y="2907792"/>
            <a:ext cx="49621" cy="137160"/>
          </a:xfrm>
          <a:prstGeom prst="rect">
            <a:avLst/>
          </a:prstGeom>
          <a:solidFill>
            <a:srgbClr val="0F7DC2"/>
          </a:solidFill>
          <a:ln/>
        </p:spPr>
      </p:sp>
      <p:sp>
        <p:nvSpPr>
          <p:cNvPr id="42" name="Text 40"/>
          <p:cNvSpPr txBox="1"/>
          <p:nvPr/>
        </p:nvSpPr>
        <p:spPr>
          <a:xfrm>
            <a:off x="10844784" y="2798064"/>
            <a:ext cx="777240" cy="35661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$9K</a:t>
            </a:r>
            <a:endParaRPr lang="en-US" sz="1150" dirty="0"/>
          </a:p>
        </p:txBody>
      </p:sp>
      <p:sp>
        <p:nvSpPr>
          <p:cNvPr id="43" name="Text 41"/>
          <p:cNvSpPr txBox="1"/>
          <p:nvPr/>
        </p:nvSpPr>
        <p:spPr>
          <a:xfrm>
            <a:off x="6400800" y="3227832"/>
            <a:ext cx="3108960" cy="35661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EKS extended support, pre-prod</a:t>
            </a:r>
            <a:endParaRPr lang="en-US" sz="1100" dirty="0"/>
          </a:p>
        </p:txBody>
      </p:sp>
      <p:sp>
        <p:nvSpPr>
          <p:cNvPr id="44" name="rank-bar-3"/>
          <p:cNvSpPr/>
          <p:nvPr/>
        </p:nvSpPr>
        <p:spPr>
          <a:xfrm>
            <a:off x="9601200" y="3337560"/>
            <a:ext cx="46086" cy="137160"/>
          </a:xfrm>
          <a:prstGeom prst="rect">
            <a:avLst/>
          </a:prstGeom>
          <a:solidFill>
            <a:srgbClr val="F2A900"/>
          </a:solidFill>
          <a:ln/>
        </p:spPr>
      </p:sp>
      <p:sp>
        <p:nvSpPr>
          <p:cNvPr id="45" name="Text 43"/>
          <p:cNvSpPr txBox="1"/>
          <p:nvPr/>
        </p:nvSpPr>
        <p:spPr>
          <a:xfrm>
            <a:off x="10844784" y="3227832"/>
            <a:ext cx="777240" cy="35661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$9K</a:t>
            </a:r>
            <a:endParaRPr lang="en-US" sz="1150" dirty="0"/>
          </a:p>
        </p:txBody>
      </p:sp>
      <p:sp>
        <p:nvSpPr>
          <p:cNvPr id="46" name="Text 44"/>
          <p:cNvSpPr txBox="1"/>
          <p:nvPr/>
        </p:nvSpPr>
        <p:spPr>
          <a:xfrm>
            <a:off x="6400800" y="3657600"/>
            <a:ext cx="3108960" cy="35661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RI renewal, Redis Cache</a:t>
            </a:r>
            <a:endParaRPr lang="en-US" sz="1100" dirty="0"/>
          </a:p>
        </p:txBody>
      </p:sp>
      <p:sp>
        <p:nvSpPr>
          <p:cNvPr id="47" name="rank-bar-4"/>
          <p:cNvSpPr/>
          <p:nvPr/>
        </p:nvSpPr>
        <p:spPr>
          <a:xfrm>
            <a:off x="9601200" y="3767328"/>
            <a:ext cx="27432" cy="137160"/>
          </a:xfrm>
          <a:prstGeom prst="rect">
            <a:avLst/>
          </a:prstGeom>
          <a:solidFill>
            <a:srgbClr val="0F7DC2"/>
          </a:solidFill>
          <a:ln/>
        </p:spPr>
      </p:sp>
      <p:sp>
        <p:nvSpPr>
          <p:cNvPr id="48" name="Text 46"/>
          <p:cNvSpPr txBox="1"/>
          <p:nvPr/>
        </p:nvSpPr>
        <p:spPr>
          <a:xfrm>
            <a:off x="10844784" y="3657600"/>
            <a:ext cx="777240" cy="35661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$1K</a:t>
            </a:r>
            <a:endParaRPr lang="en-US" sz="1150" dirty="0"/>
          </a:p>
        </p:txBody>
      </p:sp>
      <p:sp>
        <p:nvSpPr>
          <p:cNvPr id="49" name="panel"/>
          <p:cNvSpPr/>
          <p:nvPr/>
        </p:nvSpPr>
        <p:spPr>
          <a:xfrm>
            <a:off x="6400800" y="4407408"/>
            <a:ext cx="5221224" cy="1225296"/>
          </a:xfrm>
          <a:prstGeom prst="roundRect">
            <a:avLst>
              <a:gd name="adj" fmla="val 4478"/>
            </a:avLst>
          </a:prstGeom>
          <a:solidFill>
            <a:srgbClr val="E6F1FA"/>
          </a:solidFill>
          <a:ln/>
        </p:spPr>
      </p:sp>
      <p:sp>
        <p:nvSpPr>
          <p:cNvPr id="50" name="Text 48"/>
          <p:cNvSpPr txBox="1"/>
          <p:nvPr/>
        </p:nvSpPr>
        <p:spPr>
          <a:xfrm>
            <a:off x="6656832" y="4553712"/>
            <a:ext cx="4663440" cy="274320"/>
          </a:xfrm>
          <a:prstGeom prst="rect">
            <a:avLst/>
          </a:prstGeom>
          <a:noFill/>
          <a:ln/>
        </p:spPr>
        <p:txBody>
          <a:bodyPr wrap="square" lIns="0" tIns="0" rIns="0" bIns="0" rtlCol="0" anchor="ctr"/>
          <a:lstStyle/>
          <a:p>
            <a:pPr algn="l" indent="0" marL="0">
              <a:buNone/>
            </a:pPr>
            <a:r>
              <a:rPr lang="en-US" sz="1200" b="1" dirty="0">
                <a:solidFill>
                  <a:srgbClr val="0A4E7A"/>
                </a:solidFill>
                <a:latin typeface="Arial" pitchFamily="34" charset="0"/>
                <a:ea typeface="Arial" pitchFamily="34" charset="-122"/>
                <a:cs typeface="Arial" pitchFamily="34" charset="-120"/>
              </a:rPr>
              <a:t>Why avoidance counts</a:t>
            </a:r>
            <a:endParaRPr lang="en-US" sz="1200" dirty="0"/>
          </a:p>
        </p:txBody>
      </p:sp>
      <p:sp>
        <p:nvSpPr>
          <p:cNvPr id="51" name="Text 49"/>
          <p:cNvSpPr txBox="1"/>
          <p:nvPr/>
        </p:nvSpPr>
        <p:spPr>
          <a:xfrm>
            <a:off x="6656832" y="4846320"/>
            <a:ext cx="4709160" cy="694944"/>
          </a:xfrm>
          <a:prstGeom prst="rect">
            <a:avLst/>
          </a:prstGeom>
          <a:noFill/>
          <a:ln/>
        </p:spPr>
        <p:txBody>
          <a:bodyPr wrap="square" lIns="0" tIns="0" rIns="0" bIns="0" rtlCol="0" anchor="t"/>
          <a:lstStyle/>
          <a:p>
            <a:pPr algn="l" indent="0" marL="0">
              <a:buNone/>
            </a:pPr>
            <a:r>
              <a:rPr lang="en-US" sz="1100" dirty="0">
                <a:solidFill>
                  <a:srgbClr val="134B70"/>
                </a:solidFill>
                <a:latin typeface="Arial" pitchFamily="34" charset="0"/>
                <a:ea typeface="Arial" pitchFamily="34" charset="-122"/>
                <a:cs typeface="Arial" pitchFamily="34" charset="-120"/>
              </a:rPr>
              <a:t>These are increases our monitoring caught and stopped before they reached an invoice. They never show as a reduction, but the budget would have carried them.</a:t>
            </a:r>
            <a:endParaRPr lang="en-US" sz="1100" dirty="0"/>
          </a:p>
        </p:txBody>
      </p:sp>
      <p:sp>
        <p:nvSpPr>
          <p:cNvPr id="52"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All figures annualised. Realised $267,707 and avoided $309,973.</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0A878"/>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COMPUTE COVERAGE</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AWS compute is 93% covered; Azure is only 54%</a:t>
            </a:r>
            <a:endParaRPr lang="en-US" sz="2800" dirty="0"/>
          </a:p>
        </p:txBody>
      </p:sp>
      <p:sp>
        <p:nvSpPr>
          <p:cNvPr id="5" name="cov-0"/>
          <p:cNvSpPr/>
          <p:nvPr/>
        </p:nvSpPr>
        <p:spPr>
          <a:xfrm>
            <a:off x="566928" y="1517904"/>
            <a:ext cx="5385816" cy="4114800"/>
          </a:xfrm>
          <a:prstGeom prst="roundRect">
            <a:avLst>
              <a:gd name="adj" fmla="val 1333"/>
            </a:avLst>
          </a:prstGeom>
          <a:solidFill>
            <a:srgbClr val="EEF2F7"/>
          </a:solidFill>
          <a:ln/>
        </p:spPr>
      </p:sp>
      <p:sp>
        <p:nvSpPr>
          <p:cNvPr id="6" name="Text 4"/>
          <p:cNvSpPr txBox="1"/>
          <p:nvPr/>
        </p:nvSpPr>
        <p:spPr>
          <a:xfrm>
            <a:off x="859536" y="1700784"/>
            <a:ext cx="3931920" cy="310896"/>
          </a:xfrm>
          <a:prstGeom prst="rect">
            <a:avLst/>
          </a:prstGeom>
          <a:noFill/>
          <a:ln/>
        </p:spPr>
        <p:txBody>
          <a:bodyPr wrap="square" lIns="0" tIns="0" rIns="0" bIns="0" rtlCol="0" anchor="ctr"/>
          <a:lstStyle/>
          <a:p>
            <a:pPr algn="l" indent="0" marL="0">
              <a:buNone/>
            </a:pPr>
            <a:r>
              <a:rPr lang="en-US" sz="1350" b="1" dirty="0">
                <a:solidFill>
                  <a:srgbClr val="0B1B2E"/>
                </a:solidFill>
                <a:latin typeface="Arial" pitchFamily="34" charset="0"/>
                <a:ea typeface="Arial" pitchFamily="34" charset="-122"/>
                <a:cs typeface="Arial" pitchFamily="34" charset="-120"/>
              </a:rPr>
              <a:t>AWS, EC2 compute, September</a:t>
            </a:r>
            <a:endParaRPr lang="en-US" sz="1350" dirty="0"/>
          </a:p>
        </p:txBody>
      </p:sp>
      <p:pic>
        <p:nvPicPr>
          <p:cNvPr id="7" name="Image 0" descr="Amazon Web Services logo">    </p:cNvPr>
          <p:cNvPicPr>
            <a:picLocks noChangeAspect="1"/>
          </p:cNvPicPr>
          <p:nvPr/>
        </p:nvPicPr>
        <p:blipFill>
          <a:blip r:embed="rId1"/>
          <a:stretch>
            <a:fillRect/>
          </a:stretch>
        </p:blipFill>
        <p:spPr>
          <a:xfrm>
            <a:off x="4745736" y="1664208"/>
            <a:ext cx="914400" cy="557784"/>
          </a:xfrm>
          <a:prstGeom prst="rect">
            <a:avLst/>
          </a:prstGeom>
        </p:spPr>
      </p:pic>
      <p:sp>
        <p:nvSpPr>
          <p:cNvPr id="8" name="Text 5"/>
          <p:cNvSpPr txBox="1"/>
          <p:nvPr/>
        </p:nvSpPr>
        <p:spPr>
          <a:xfrm>
            <a:off x="859536" y="1993392"/>
            <a:ext cx="3931920" cy="256032"/>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Total $35,748</a:t>
            </a:r>
            <a:endParaRPr lang="en-US" sz="1100" dirty="0"/>
          </a:p>
        </p:txBody>
      </p:sp>
      <p:sp>
        <p:nvSpPr>
          <p:cNvPr id="9" name="cov-seg-0-0"/>
          <p:cNvSpPr/>
          <p:nvPr/>
        </p:nvSpPr>
        <p:spPr>
          <a:xfrm>
            <a:off x="859536" y="2340864"/>
            <a:ext cx="2352294" cy="402336"/>
          </a:xfrm>
          <a:prstGeom prst="rect">
            <a:avLst/>
          </a:prstGeom>
          <a:solidFill>
            <a:srgbClr val="00A878"/>
          </a:solidFill>
          <a:ln/>
        </p:spPr>
      </p:sp>
      <p:sp>
        <p:nvSpPr>
          <p:cNvPr id="10" name="Text 7"/>
          <p:cNvSpPr txBox="1"/>
          <p:nvPr/>
        </p:nvSpPr>
        <p:spPr>
          <a:xfrm>
            <a:off x="859536" y="2340864"/>
            <a:ext cx="2352294"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49%</a:t>
            </a:r>
            <a:endParaRPr lang="en-US" sz="1200" dirty="0"/>
          </a:p>
        </p:txBody>
      </p:sp>
      <p:sp>
        <p:nvSpPr>
          <p:cNvPr id="11" name="cov-seg-0-1"/>
          <p:cNvSpPr/>
          <p:nvPr/>
        </p:nvSpPr>
        <p:spPr>
          <a:xfrm>
            <a:off x="3211830" y="2340864"/>
            <a:ext cx="2112264" cy="402336"/>
          </a:xfrm>
          <a:prstGeom prst="rect">
            <a:avLst/>
          </a:prstGeom>
          <a:solidFill>
            <a:srgbClr val="0F7DC2"/>
          </a:solidFill>
          <a:ln/>
        </p:spPr>
      </p:sp>
      <p:sp>
        <p:nvSpPr>
          <p:cNvPr id="12" name="Text 9"/>
          <p:cNvSpPr txBox="1"/>
          <p:nvPr/>
        </p:nvSpPr>
        <p:spPr>
          <a:xfrm>
            <a:off x="3211830" y="2340864"/>
            <a:ext cx="2112264"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44%</a:t>
            </a:r>
            <a:endParaRPr lang="en-US" sz="1200" dirty="0"/>
          </a:p>
        </p:txBody>
      </p:sp>
      <p:sp>
        <p:nvSpPr>
          <p:cNvPr id="13" name="cov-seg-0-2"/>
          <p:cNvSpPr/>
          <p:nvPr/>
        </p:nvSpPr>
        <p:spPr>
          <a:xfrm>
            <a:off x="5324094" y="2340864"/>
            <a:ext cx="336042" cy="402336"/>
          </a:xfrm>
          <a:prstGeom prst="rect">
            <a:avLst/>
          </a:prstGeom>
          <a:solidFill>
            <a:srgbClr val="D7263D"/>
          </a:solidFill>
          <a:ln/>
        </p:spPr>
      </p:sp>
      <p:sp>
        <p:nvSpPr>
          <p:cNvPr id="14" name="cov-dot-0-0"/>
          <p:cNvSpPr/>
          <p:nvPr/>
        </p:nvSpPr>
        <p:spPr>
          <a:xfrm>
            <a:off x="859536" y="3108960"/>
            <a:ext cx="128016" cy="128016"/>
          </a:xfrm>
          <a:prstGeom prst="ellipse">
            <a:avLst/>
          </a:prstGeom>
          <a:solidFill>
            <a:srgbClr val="00A878"/>
          </a:solidFill>
          <a:ln/>
        </p:spPr>
      </p:sp>
      <p:sp>
        <p:nvSpPr>
          <p:cNvPr id="15" name="Text 12"/>
          <p:cNvSpPr txBox="1"/>
          <p:nvPr/>
        </p:nvSpPr>
        <p:spPr>
          <a:xfrm>
            <a:off x="1078992" y="2999232"/>
            <a:ext cx="2651760" cy="347472"/>
          </a:xfrm>
          <a:prstGeom prst="rect">
            <a:avLst/>
          </a:prstGeom>
          <a:noFill/>
          <a:ln/>
        </p:spPr>
        <p:txBody>
          <a:bodyPr wrap="square" lIns="0" tIns="0" rIns="0" bIns="0" rtlCol="0" anchor="ctr"/>
          <a:lstStyle/>
          <a:p>
            <a:pPr algn="l" indent="0" marL="0">
              <a:buNone/>
            </a:pPr>
            <a:r>
              <a:rPr lang="en-US" sz="1200" dirty="0">
                <a:solidFill>
                  <a:srgbClr val="0B1B2E"/>
                </a:solidFill>
                <a:latin typeface="Arial" pitchFamily="34" charset="0"/>
                <a:ea typeface="Arial" pitchFamily="34" charset="-122"/>
                <a:cs typeface="Arial" pitchFamily="34" charset="-120"/>
              </a:rPr>
              <a:t>Spot</a:t>
            </a:r>
            <a:endParaRPr lang="en-US" sz="1200" dirty="0"/>
          </a:p>
        </p:txBody>
      </p:sp>
      <p:sp>
        <p:nvSpPr>
          <p:cNvPr id="16" name="Text 13"/>
          <p:cNvSpPr txBox="1"/>
          <p:nvPr/>
        </p:nvSpPr>
        <p:spPr>
          <a:xfrm>
            <a:off x="3767328" y="2999232"/>
            <a:ext cx="1188720" cy="347472"/>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$17,416</a:t>
            </a:r>
            <a:endParaRPr lang="en-US" sz="1200" dirty="0"/>
          </a:p>
        </p:txBody>
      </p:sp>
      <p:sp>
        <p:nvSpPr>
          <p:cNvPr id="17" name="Text 14"/>
          <p:cNvSpPr txBox="1"/>
          <p:nvPr/>
        </p:nvSpPr>
        <p:spPr>
          <a:xfrm>
            <a:off x="5047488" y="2999232"/>
            <a:ext cx="612648" cy="347472"/>
          </a:xfrm>
          <a:prstGeom prst="rect">
            <a:avLst/>
          </a:prstGeom>
          <a:noFill/>
          <a:ln/>
        </p:spPr>
        <p:txBody>
          <a:bodyPr wrap="square" lIns="0" tIns="0" rIns="0" bIns="0" rtlCol="0" anchor="ctr"/>
          <a:lstStyle/>
          <a:p>
            <a:pPr algn="r" indent="0" marL="0">
              <a:buNone/>
            </a:pPr>
            <a:r>
              <a:rPr lang="en-US" sz="1200" dirty="0">
                <a:solidFill>
                  <a:srgbClr val="5B6B7E"/>
                </a:solidFill>
                <a:latin typeface="Arial" pitchFamily="34" charset="0"/>
                <a:ea typeface="Arial" pitchFamily="34" charset="-122"/>
                <a:cs typeface="Arial" pitchFamily="34" charset="-120"/>
              </a:rPr>
              <a:t>49%</a:t>
            </a:r>
            <a:endParaRPr lang="en-US" sz="1200" dirty="0"/>
          </a:p>
        </p:txBody>
      </p:sp>
      <p:sp>
        <p:nvSpPr>
          <p:cNvPr id="18" name="cov-dot-0-1"/>
          <p:cNvSpPr/>
          <p:nvPr/>
        </p:nvSpPr>
        <p:spPr>
          <a:xfrm>
            <a:off x="859536" y="3584448"/>
            <a:ext cx="128016" cy="128016"/>
          </a:xfrm>
          <a:prstGeom prst="ellipse">
            <a:avLst/>
          </a:prstGeom>
          <a:solidFill>
            <a:srgbClr val="0F7DC2"/>
          </a:solidFill>
          <a:ln/>
        </p:spPr>
      </p:sp>
      <p:sp>
        <p:nvSpPr>
          <p:cNvPr id="19" name="Text 16"/>
          <p:cNvSpPr txBox="1"/>
          <p:nvPr/>
        </p:nvSpPr>
        <p:spPr>
          <a:xfrm>
            <a:off x="1078992" y="3474720"/>
            <a:ext cx="2651760" cy="347472"/>
          </a:xfrm>
          <a:prstGeom prst="rect">
            <a:avLst/>
          </a:prstGeom>
          <a:noFill/>
          <a:ln/>
        </p:spPr>
        <p:txBody>
          <a:bodyPr wrap="square" lIns="0" tIns="0" rIns="0" bIns="0" rtlCol="0" anchor="ctr"/>
          <a:lstStyle/>
          <a:p>
            <a:pPr algn="l" indent="0" marL="0">
              <a:buNone/>
            </a:pPr>
            <a:r>
              <a:rPr lang="en-US" sz="1200" dirty="0">
                <a:solidFill>
                  <a:srgbClr val="0B1B2E"/>
                </a:solidFill>
                <a:latin typeface="Arial" pitchFamily="34" charset="0"/>
                <a:ea typeface="Arial" pitchFamily="34" charset="-122"/>
                <a:cs typeface="Arial" pitchFamily="34" charset="-120"/>
              </a:rPr>
              <a:t>Compute Savings Plan</a:t>
            </a:r>
            <a:endParaRPr lang="en-US" sz="1200" dirty="0"/>
          </a:p>
        </p:txBody>
      </p:sp>
      <p:sp>
        <p:nvSpPr>
          <p:cNvPr id="20" name="Text 17"/>
          <p:cNvSpPr txBox="1"/>
          <p:nvPr/>
        </p:nvSpPr>
        <p:spPr>
          <a:xfrm>
            <a:off x="3767328" y="3474720"/>
            <a:ext cx="1188720" cy="347472"/>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$15,837</a:t>
            </a:r>
            <a:endParaRPr lang="en-US" sz="1200" dirty="0"/>
          </a:p>
        </p:txBody>
      </p:sp>
      <p:sp>
        <p:nvSpPr>
          <p:cNvPr id="21" name="Text 18"/>
          <p:cNvSpPr txBox="1"/>
          <p:nvPr/>
        </p:nvSpPr>
        <p:spPr>
          <a:xfrm>
            <a:off x="5047488" y="3474720"/>
            <a:ext cx="612648" cy="347472"/>
          </a:xfrm>
          <a:prstGeom prst="rect">
            <a:avLst/>
          </a:prstGeom>
          <a:noFill/>
          <a:ln/>
        </p:spPr>
        <p:txBody>
          <a:bodyPr wrap="square" lIns="0" tIns="0" rIns="0" bIns="0" rtlCol="0" anchor="ctr"/>
          <a:lstStyle/>
          <a:p>
            <a:pPr algn="r" indent="0" marL="0">
              <a:buNone/>
            </a:pPr>
            <a:r>
              <a:rPr lang="en-US" sz="1200" dirty="0">
                <a:solidFill>
                  <a:srgbClr val="5B6B7E"/>
                </a:solidFill>
                <a:latin typeface="Arial" pitchFamily="34" charset="0"/>
                <a:ea typeface="Arial" pitchFamily="34" charset="-122"/>
                <a:cs typeface="Arial" pitchFamily="34" charset="-120"/>
              </a:rPr>
              <a:t>44%</a:t>
            </a:r>
            <a:endParaRPr lang="en-US" sz="1200" dirty="0"/>
          </a:p>
        </p:txBody>
      </p:sp>
      <p:sp>
        <p:nvSpPr>
          <p:cNvPr id="22" name="cov-dot-0-2"/>
          <p:cNvSpPr/>
          <p:nvPr/>
        </p:nvSpPr>
        <p:spPr>
          <a:xfrm>
            <a:off x="859536" y="4059936"/>
            <a:ext cx="128016" cy="128016"/>
          </a:xfrm>
          <a:prstGeom prst="ellipse">
            <a:avLst/>
          </a:prstGeom>
          <a:solidFill>
            <a:srgbClr val="D7263D"/>
          </a:solidFill>
          <a:ln/>
        </p:spPr>
      </p:sp>
      <p:sp>
        <p:nvSpPr>
          <p:cNvPr id="23" name="Text 20"/>
          <p:cNvSpPr txBox="1"/>
          <p:nvPr/>
        </p:nvSpPr>
        <p:spPr>
          <a:xfrm>
            <a:off x="1078992" y="3950208"/>
            <a:ext cx="2651760" cy="347472"/>
          </a:xfrm>
          <a:prstGeom prst="rect">
            <a:avLst/>
          </a:prstGeom>
          <a:noFill/>
          <a:ln/>
        </p:spPr>
        <p:txBody>
          <a:bodyPr wrap="square" lIns="0" tIns="0" rIns="0" bIns="0" rtlCol="0" anchor="ctr"/>
          <a:lstStyle/>
          <a:p>
            <a:pPr algn="l" indent="0" marL="0">
              <a:buNone/>
            </a:pPr>
            <a:r>
              <a:rPr lang="en-US" sz="1200" dirty="0">
                <a:solidFill>
                  <a:srgbClr val="0B1B2E"/>
                </a:solidFill>
                <a:latin typeface="Arial" pitchFamily="34" charset="0"/>
                <a:ea typeface="Arial" pitchFamily="34" charset="-122"/>
                <a:cs typeface="Arial" pitchFamily="34" charset="-120"/>
              </a:rPr>
              <a:t>On-demand</a:t>
            </a:r>
            <a:endParaRPr lang="en-US" sz="1200" dirty="0"/>
          </a:p>
        </p:txBody>
      </p:sp>
      <p:sp>
        <p:nvSpPr>
          <p:cNvPr id="24" name="Text 21"/>
          <p:cNvSpPr txBox="1"/>
          <p:nvPr/>
        </p:nvSpPr>
        <p:spPr>
          <a:xfrm>
            <a:off x="3767328" y="3950208"/>
            <a:ext cx="1188720" cy="347472"/>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$2,495</a:t>
            </a:r>
            <a:endParaRPr lang="en-US" sz="1200" dirty="0"/>
          </a:p>
        </p:txBody>
      </p:sp>
      <p:sp>
        <p:nvSpPr>
          <p:cNvPr id="25" name="Text 22"/>
          <p:cNvSpPr txBox="1"/>
          <p:nvPr/>
        </p:nvSpPr>
        <p:spPr>
          <a:xfrm>
            <a:off x="5047488" y="3950208"/>
            <a:ext cx="612648" cy="347472"/>
          </a:xfrm>
          <a:prstGeom prst="rect">
            <a:avLst/>
          </a:prstGeom>
          <a:noFill/>
          <a:ln/>
        </p:spPr>
        <p:txBody>
          <a:bodyPr wrap="square" lIns="0" tIns="0" rIns="0" bIns="0" rtlCol="0" anchor="ctr"/>
          <a:lstStyle/>
          <a:p>
            <a:pPr algn="r" indent="0" marL="0">
              <a:buNone/>
            </a:pPr>
            <a:r>
              <a:rPr lang="en-US" sz="1200" dirty="0">
                <a:solidFill>
                  <a:srgbClr val="5B6B7E"/>
                </a:solidFill>
                <a:latin typeface="Arial" pitchFamily="34" charset="0"/>
                <a:ea typeface="Arial" pitchFamily="34" charset="-122"/>
                <a:cs typeface="Arial" pitchFamily="34" charset="-120"/>
              </a:rPr>
              <a:t>7%</a:t>
            </a:r>
            <a:endParaRPr lang="en-US" sz="1200" dirty="0"/>
          </a:p>
        </p:txBody>
      </p:sp>
      <p:sp>
        <p:nvSpPr>
          <p:cNvPr id="26" name="Text 23"/>
          <p:cNvSpPr txBox="1"/>
          <p:nvPr/>
        </p:nvSpPr>
        <p:spPr>
          <a:xfrm>
            <a:off x="859536" y="4882896"/>
            <a:ext cx="1371600" cy="603504"/>
          </a:xfrm>
          <a:prstGeom prst="rect">
            <a:avLst/>
          </a:prstGeom>
          <a:noFill/>
          <a:ln/>
        </p:spPr>
        <p:txBody>
          <a:bodyPr wrap="square" lIns="0" tIns="0" rIns="0" bIns="0" rtlCol="0" anchor="ctr"/>
          <a:lstStyle/>
          <a:p>
            <a:pPr algn="l" indent="0" marL="0">
              <a:buNone/>
            </a:pPr>
            <a:r>
              <a:rPr lang="en-US" sz="3400" b="1" dirty="0">
                <a:solidFill>
                  <a:srgbClr val="00A878"/>
                </a:solidFill>
                <a:latin typeface="Arial" pitchFamily="34" charset="0"/>
                <a:ea typeface="Arial" pitchFamily="34" charset="-122"/>
                <a:cs typeface="Arial" pitchFamily="34" charset="-120"/>
              </a:rPr>
              <a:t>93%</a:t>
            </a:r>
            <a:endParaRPr lang="en-US" sz="3400" dirty="0"/>
          </a:p>
        </p:txBody>
      </p:sp>
      <p:sp>
        <p:nvSpPr>
          <p:cNvPr id="27" name="Text 24"/>
          <p:cNvSpPr txBox="1"/>
          <p:nvPr/>
        </p:nvSpPr>
        <p:spPr>
          <a:xfrm>
            <a:off x="2304288" y="4882896"/>
            <a:ext cx="3291840" cy="603504"/>
          </a:xfrm>
          <a:prstGeom prst="rect">
            <a:avLst/>
          </a:prstGeom>
          <a:noFill/>
          <a:ln/>
        </p:spPr>
        <p:txBody>
          <a:bodyPr wrap="square" lIns="0" tIns="0" rIns="0" bIns="0" rtlCol="0" anchor="ctr"/>
          <a:lstStyle/>
          <a:p>
            <a:pPr algn="l" indent="0" marL="0">
              <a:buNone/>
            </a:pPr>
            <a:r>
              <a:rPr lang="en-US" sz="1150" dirty="0">
                <a:solidFill>
                  <a:srgbClr val="5B6B7E"/>
                </a:solidFill>
                <a:latin typeface="Arial" pitchFamily="34" charset="0"/>
                <a:ea typeface="Arial" pitchFamily="34" charset="-122"/>
                <a:cs typeface="Arial" pitchFamily="34" charset="-120"/>
              </a:rPr>
              <a:t>of compute is on a discounted</a:t>
            </a:r>
            <a:endParaRPr lang="en-US" sz="1150" dirty="0"/>
          </a:p>
          <a:p>
            <a:pPr algn="l" indent="0" marL="0">
              <a:buNone/>
            </a:pPr>
            <a:r>
              <a:rPr lang="en-US" sz="1150" dirty="0">
                <a:solidFill>
                  <a:srgbClr val="5B6B7E"/>
                </a:solidFill>
                <a:latin typeface="Arial" pitchFamily="34" charset="0"/>
                <a:ea typeface="Arial" pitchFamily="34" charset="-122"/>
                <a:cs typeface="Arial" pitchFamily="34" charset="-120"/>
              </a:rPr>
              <a:t>purchase option</a:t>
            </a:r>
            <a:endParaRPr lang="en-US" sz="1150" dirty="0"/>
          </a:p>
        </p:txBody>
      </p:sp>
      <p:sp>
        <p:nvSpPr>
          <p:cNvPr id="28" name="cov-1"/>
          <p:cNvSpPr/>
          <p:nvPr/>
        </p:nvSpPr>
        <p:spPr>
          <a:xfrm>
            <a:off x="6236208" y="1517904"/>
            <a:ext cx="5385816" cy="4114800"/>
          </a:xfrm>
          <a:prstGeom prst="roundRect">
            <a:avLst>
              <a:gd name="adj" fmla="val 1333"/>
            </a:avLst>
          </a:prstGeom>
          <a:solidFill>
            <a:srgbClr val="EEF2F7"/>
          </a:solidFill>
          <a:ln/>
        </p:spPr>
      </p:sp>
      <p:sp>
        <p:nvSpPr>
          <p:cNvPr id="29" name="Text 26"/>
          <p:cNvSpPr txBox="1"/>
          <p:nvPr/>
        </p:nvSpPr>
        <p:spPr>
          <a:xfrm>
            <a:off x="6528816" y="1700784"/>
            <a:ext cx="3931920" cy="310896"/>
          </a:xfrm>
          <a:prstGeom prst="rect">
            <a:avLst/>
          </a:prstGeom>
          <a:noFill/>
          <a:ln/>
        </p:spPr>
        <p:txBody>
          <a:bodyPr wrap="square" lIns="0" tIns="0" rIns="0" bIns="0" rtlCol="0" anchor="ctr"/>
          <a:lstStyle/>
          <a:p>
            <a:pPr algn="l" indent="0" marL="0">
              <a:buNone/>
            </a:pPr>
            <a:r>
              <a:rPr lang="en-US" sz="1350" b="1" dirty="0">
                <a:solidFill>
                  <a:srgbClr val="0B1B2E"/>
                </a:solidFill>
                <a:latin typeface="Arial" pitchFamily="34" charset="0"/>
                <a:ea typeface="Arial" pitchFamily="34" charset="-122"/>
                <a:cs typeface="Arial" pitchFamily="34" charset="-120"/>
              </a:rPr>
              <a:t>Azure, virtual machines, September</a:t>
            </a:r>
            <a:endParaRPr lang="en-US" sz="1350" dirty="0"/>
          </a:p>
        </p:txBody>
      </p:sp>
      <p:pic>
        <p:nvPicPr>
          <p:cNvPr id="30" name="Image 1" descr="Microsoft Azure logo">    </p:cNvPr>
          <p:cNvPicPr>
            <a:picLocks noChangeAspect="1"/>
          </p:cNvPicPr>
          <p:nvPr/>
        </p:nvPicPr>
        <p:blipFill>
          <a:blip r:embed="rId2"/>
          <a:stretch>
            <a:fillRect/>
          </a:stretch>
        </p:blipFill>
        <p:spPr>
          <a:xfrm>
            <a:off x="10524744" y="1664208"/>
            <a:ext cx="804672" cy="448056"/>
          </a:xfrm>
          <a:prstGeom prst="rect">
            <a:avLst/>
          </a:prstGeom>
        </p:spPr>
      </p:pic>
      <p:sp>
        <p:nvSpPr>
          <p:cNvPr id="31" name="Text 27"/>
          <p:cNvSpPr txBox="1"/>
          <p:nvPr/>
        </p:nvSpPr>
        <p:spPr>
          <a:xfrm>
            <a:off x="6528816" y="1993392"/>
            <a:ext cx="3931920" cy="256032"/>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Total $55,576</a:t>
            </a:r>
            <a:endParaRPr lang="en-US" sz="1100" dirty="0"/>
          </a:p>
        </p:txBody>
      </p:sp>
      <p:sp>
        <p:nvSpPr>
          <p:cNvPr id="32" name="cov-seg-1-0"/>
          <p:cNvSpPr/>
          <p:nvPr/>
        </p:nvSpPr>
        <p:spPr>
          <a:xfrm>
            <a:off x="6528816" y="2340864"/>
            <a:ext cx="2208276" cy="402336"/>
          </a:xfrm>
          <a:prstGeom prst="rect">
            <a:avLst/>
          </a:prstGeom>
          <a:solidFill>
            <a:srgbClr val="D7263D"/>
          </a:solidFill>
          <a:ln/>
        </p:spPr>
      </p:sp>
      <p:sp>
        <p:nvSpPr>
          <p:cNvPr id="33" name="Text 29"/>
          <p:cNvSpPr txBox="1"/>
          <p:nvPr/>
        </p:nvSpPr>
        <p:spPr>
          <a:xfrm>
            <a:off x="6528816" y="2340864"/>
            <a:ext cx="220827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46%</a:t>
            </a:r>
            <a:endParaRPr lang="en-US" sz="1200" dirty="0"/>
          </a:p>
        </p:txBody>
      </p:sp>
      <p:sp>
        <p:nvSpPr>
          <p:cNvPr id="34" name="cov-seg-1-1"/>
          <p:cNvSpPr/>
          <p:nvPr/>
        </p:nvSpPr>
        <p:spPr>
          <a:xfrm>
            <a:off x="8737092" y="2340864"/>
            <a:ext cx="1776222" cy="402336"/>
          </a:xfrm>
          <a:prstGeom prst="rect">
            <a:avLst/>
          </a:prstGeom>
          <a:solidFill>
            <a:srgbClr val="0F7DC2"/>
          </a:solidFill>
          <a:ln/>
        </p:spPr>
      </p:sp>
      <p:sp>
        <p:nvSpPr>
          <p:cNvPr id="35" name="Text 31"/>
          <p:cNvSpPr txBox="1"/>
          <p:nvPr/>
        </p:nvSpPr>
        <p:spPr>
          <a:xfrm>
            <a:off x="8737092" y="2340864"/>
            <a:ext cx="177622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37%</a:t>
            </a:r>
            <a:endParaRPr lang="en-US" sz="1200" dirty="0"/>
          </a:p>
        </p:txBody>
      </p:sp>
      <p:sp>
        <p:nvSpPr>
          <p:cNvPr id="36" name="cov-seg-1-2"/>
          <p:cNvSpPr/>
          <p:nvPr/>
        </p:nvSpPr>
        <p:spPr>
          <a:xfrm>
            <a:off x="10513314" y="2340864"/>
            <a:ext cx="768096" cy="402336"/>
          </a:xfrm>
          <a:prstGeom prst="rect">
            <a:avLst/>
          </a:prstGeom>
          <a:solidFill>
            <a:srgbClr val="00A878"/>
          </a:solidFill>
          <a:ln/>
        </p:spPr>
      </p:sp>
      <p:sp>
        <p:nvSpPr>
          <p:cNvPr id="37" name="Text 33"/>
          <p:cNvSpPr txBox="1"/>
          <p:nvPr/>
        </p:nvSpPr>
        <p:spPr>
          <a:xfrm>
            <a:off x="10513314" y="2340864"/>
            <a:ext cx="76809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16%</a:t>
            </a:r>
            <a:endParaRPr lang="en-US" sz="1200" dirty="0"/>
          </a:p>
        </p:txBody>
      </p:sp>
      <p:sp>
        <p:nvSpPr>
          <p:cNvPr id="38" name="cov-seg-1-3"/>
          <p:cNvSpPr/>
          <p:nvPr/>
        </p:nvSpPr>
        <p:spPr>
          <a:xfrm>
            <a:off x="11281410" y="2340864"/>
            <a:ext cx="48006" cy="402336"/>
          </a:xfrm>
          <a:prstGeom prst="rect">
            <a:avLst/>
          </a:prstGeom>
          <a:solidFill>
            <a:srgbClr val="F2A900"/>
          </a:solidFill>
          <a:ln/>
        </p:spPr>
      </p:sp>
      <p:sp>
        <p:nvSpPr>
          <p:cNvPr id="39" name="cov-dot-1-0"/>
          <p:cNvSpPr/>
          <p:nvPr/>
        </p:nvSpPr>
        <p:spPr>
          <a:xfrm>
            <a:off x="6528816" y="3108960"/>
            <a:ext cx="128016" cy="128016"/>
          </a:xfrm>
          <a:prstGeom prst="ellipse">
            <a:avLst/>
          </a:prstGeom>
          <a:solidFill>
            <a:srgbClr val="D7263D"/>
          </a:solidFill>
          <a:ln/>
        </p:spPr>
      </p:sp>
      <p:sp>
        <p:nvSpPr>
          <p:cNvPr id="40" name="Text 36"/>
          <p:cNvSpPr txBox="1"/>
          <p:nvPr/>
        </p:nvSpPr>
        <p:spPr>
          <a:xfrm>
            <a:off x="6748272" y="2999232"/>
            <a:ext cx="2651760" cy="347472"/>
          </a:xfrm>
          <a:prstGeom prst="rect">
            <a:avLst/>
          </a:prstGeom>
          <a:noFill/>
          <a:ln/>
        </p:spPr>
        <p:txBody>
          <a:bodyPr wrap="square" lIns="0" tIns="0" rIns="0" bIns="0" rtlCol="0" anchor="ctr"/>
          <a:lstStyle/>
          <a:p>
            <a:pPr algn="l" indent="0" marL="0">
              <a:buNone/>
            </a:pPr>
            <a:r>
              <a:rPr lang="en-US" sz="1200" dirty="0">
                <a:solidFill>
                  <a:srgbClr val="0B1B2E"/>
                </a:solidFill>
                <a:latin typeface="Arial" pitchFamily="34" charset="0"/>
                <a:ea typeface="Arial" pitchFamily="34" charset="-122"/>
                <a:cs typeface="Arial" pitchFamily="34" charset="-120"/>
              </a:rPr>
              <a:t>On-demand</a:t>
            </a:r>
            <a:endParaRPr lang="en-US" sz="1200" dirty="0"/>
          </a:p>
        </p:txBody>
      </p:sp>
      <p:sp>
        <p:nvSpPr>
          <p:cNvPr id="41" name="Text 37"/>
          <p:cNvSpPr txBox="1"/>
          <p:nvPr/>
        </p:nvSpPr>
        <p:spPr>
          <a:xfrm>
            <a:off x="9436608" y="2999232"/>
            <a:ext cx="1188720" cy="347472"/>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$25,606</a:t>
            </a:r>
            <a:endParaRPr lang="en-US" sz="1200" dirty="0"/>
          </a:p>
        </p:txBody>
      </p:sp>
      <p:sp>
        <p:nvSpPr>
          <p:cNvPr id="42" name="Text 38"/>
          <p:cNvSpPr txBox="1"/>
          <p:nvPr/>
        </p:nvSpPr>
        <p:spPr>
          <a:xfrm>
            <a:off x="10716768" y="2999232"/>
            <a:ext cx="612648" cy="347472"/>
          </a:xfrm>
          <a:prstGeom prst="rect">
            <a:avLst/>
          </a:prstGeom>
          <a:noFill/>
          <a:ln/>
        </p:spPr>
        <p:txBody>
          <a:bodyPr wrap="square" lIns="0" tIns="0" rIns="0" bIns="0" rtlCol="0" anchor="ctr"/>
          <a:lstStyle/>
          <a:p>
            <a:pPr algn="r" indent="0" marL="0">
              <a:buNone/>
            </a:pPr>
            <a:r>
              <a:rPr lang="en-US" sz="1200" dirty="0">
                <a:solidFill>
                  <a:srgbClr val="5B6B7E"/>
                </a:solidFill>
                <a:latin typeface="Arial" pitchFamily="34" charset="0"/>
                <a:ea typeface="Arial" pitchFamily="34" charset="-122"/>
                <a:cs typeface="Arial" pitchFamily="34" charset="-120"/>
              </a:rPr>
              <a:t>46%</a:t>
            </a:r>
            <a:endParaRPr lang="en-US" sz="1200" dirty="0"/>
          </a:p>
        </p:txBody>
      </p:sp>
      <p:sp>
        <p:nvSpPr>
          <p:cNvPr id="43" name="cov-dot-1-1"/>
          <p:cNvSpPr/>
          <p:nvPr/>
        </p:nvSpPr>
        <p:spPr>
          <a:xfrm>
            <a:off x="6528816" y="3584448"/>
            <a:ext cx="128016" cy="128016"/>
          </a:xfrm>
          <a:prstGeom prst="ellipse">
            <a:avLst/>
          </a:prstGeom>
          <a:solidFill>
            <a:srgbClr val="0F7DC2"/>
          </a:solidFill>
          <a:ln/>
        </p:spPr>
      </p:sp>
      <p:sp>
        <p:nvSpPr>
          <p:cNvPr id="44" name="Text 40"/>
          <p:cNvSpPr txBox="1"/>
          <p:nvPr/>
        </p:nvSpPr>
        <p:spPr>
          <a:xfrm>
            <a:off x="6748272" y="3474720"/>
            <a:ext cx="2651760" cy="347472"/>
          </a:xfrm>
          <a:prstGeom prst="rect">
            <a:avLst/>
          </a:prstGeom>
          <a:noFill/>
          <a:ln/>
        </p:spPr>
        <p:txBody>
          <a:bodyPr wrap="square" lIns="0" tIns="0" rIns="0" bIns="0" rtlCol="0" anchor="ctr"/>
          <a:lstStyle/>
          <a:p>
            <a:pPr algn="l" indent="0" marL="0">
              <a:buNone/>
            </a:pPr>
            <a:r>
              <a:rPr lang="en-US" sz="1200" dirty="0">
                <a:solidFill>
                  <a:srgbClr val="0B1B2E"/>
                </a:solidFill>
                <a:latin typeface="Arial" pitchFamily="34" charset="0"/>
                <a:ea typeface="Arial" pitchFamily="34" charset="-122"/>
                <a:cs typeface="Arial" pitchFamily="34" charset="-120"/>
              </a:rPr>
              <a:t>Reservation</a:t>
            </a:r>
            <a:endParaRPr lang="en-US" sz="1200" dirty="0"/>
          </a:p>
        </p:txBody>
      </p:sp>
      <p:sp>
        <p:nvSpPr>
          <p:cNvPr id="45" name="Text 41"/>
          <p:cNvSpPr txBox="1"/>
          <p:nvPr/>
        </p:nvSpPr>
        <p:spPr>
          <a:xfrm>
            <a:off x="9436608" y="3474720"/>
            <a:ext cx="1188720" cy="347472"/>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$20,346</a:t>
            </a:r>
            <a:endParaRPr lang="en-US" sz="1200" dirty="0"/>
          </a:p>
        </p:txBody>
      </p:sp>
      <p:sp>
        <p:nvSpPr>
          <p:cNvPr id="46" name="Text 42"/>
          <p:cNvSpPr txBox="1"/>
          <p:nvPr/>
        </p:nvSpPr>
        <p:spPr>
          <a:xfrm>
            <a:off x="10716768" y="3474720"/>
            <a:ext cx="612648" cy="347472"/>
          </a:xfrm>
          <a:prstGeom prst="rect">
            <a:avLst/>
          </a:prstGeom>
          <a:noFill/>
          <a:ln/>
        </p:spPr>
        <p:txBody>
          <a:bodyPr wrap="square" lIns="0" tIns="0" rIns="0" bIns="0" rtlCol="0" anchor="ctr"/>
          <a:lstStyle/>
          <a:p>
            <a:pPr algn="r" indent="0" marL="0">
              <a:buNone/>
            </a:pPr>
            <a:r>
              <a:rPr lang="en-US" sz="1200" dirty="0">
                <a:solidFill>
                  <a:srgbClr val="5B6B7E"/>
                </a:solidFill>
                <a:latin typeface="Arial" pitchFamily="34" charset="0"/>
                <a:ea typeface="Arial" pitchFamily="34" charset="-122"/>
                <a:cs typeface="Arial" pitchFamily="34" charset="-120"/>
              </a:rPr>
              <a:t>37%</a:t>
            </a:r>
            <a:endParaRPr lang="en-US" sz="1200" dirty="0"/>
          </a:p>
        </p:txBody>
      </p:sp>
      <p:sp>
        <p:nvSpPr>
          <p:cNvPr id="47" name="cov-dot-1-2"/>
          <p:cNvSpPr/>
          <p:nvPr/>
        </p:nvSpPr>
        <p:spPr>
          <a:xfrm>
            <a:off x="6528816" y="4059936"/>
            <a:ext cx="128016" cy="128016"/>
          </a:xfrm>
          <a:prstGeom prst="ellipse">
            <a:avLst/>
          </a:prstGeom>
          <a:solidFill>
            <a:srgbClr val="00A878"/>
          </a:solidFill>
          <a:ln/>
        </p:spPr>
      </p:sp>
      <p:sp>
        <p:nvSpPr>
          <p:cNvPr id="48" name="Text 44"/>
          <p:cNvSpPr txBox="1"/>
          <p:nvPr/>
        </p:nvSpPr>
        <p:spPr>
          <a:xfrm>
            <a:off x="6748272" y="3950208"/>
            <a:ext cx="2651760" cy="347472"/>
          </a:xfrm>
          <a:prstGeom prst="rect">
            <a:avLst/>
          </a:prstGeom>
          <a:noFill/>
          <a:ln/>
        </p:spPr>
        <p:txBody>
          <a:bodyPr wrap="square" lIns="0" tIns="0" rIns="0" bIns="0" rtlCol="0" anchor="ctr"/>
          <a:lstStyle/>
          <a:p>
            <a:pPr algn="l" indent="0" marL="0">
              <a:buNone/>
            </a:pPr>
            <a:r>
              <a:rPr lang="en-US" sz="1200" dirty="0">
                <a:solidFill>
                  <a:srgbClr val="0B1B2E"/>
                </a:solidFill>
                <a:latin typeface="Arial" pitchFamily="34" charset="0"/>
                <a:ea typeface="Arial" pitchFamily="34" charset="-122"/>
                <a:cs typeface="Arial" pitchFamily="34" charset="-120"/>
              </a:rPr>
              <a:t>Compute Savings Plan</a:t>
            </a:r>
            <a:endParaRPr lang="en-US" sz="1200" dirty="0"/>
          </a:p>
        </p:txBody>
      </p:sp>
      <p:sp>
        <p:nvSpPr>
          <p:cNvPr id="49" name="Text 45"/>
          <p:cNvSpPr txBox="1"/>
          <p:nvPr/>
        </p:nvSpPr>
        <p:spPr>
          <a:xfrm>
            <a:off x="9436608" y="3950208"/>
            <a:ext cx="1188720" cy="347472"/>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$9,120</a:t>
            </a:r>
            <a:endParaRPr lang="en-US" sz="1200" dirty="0"/>
          </a:p>
        </p:txBody>
      </p:sp>
      <p:sp>
        <p:nvSpPr>
          <p:cNvPr id="50" name="Text 46"/>
          <p:cNvSpPr txBox="1"/>
          <p:nvPr/>
        </p:nvSpPr>
        <p:spPr>
          <a:xfrm>
            <a:off x="10716768" y="3950208"/>
            <a:ext cx="612648" cy="347472"/>
          </a:xfrm>
          <a:prstGeom prst="rect">
            <a:avLst/>
          </a:prstGeom>
          <a:noFill/>
          <a:ln/>
        </p:spPr>
        <p:txBody>
          <a:bodyPr wrap="square" lIns="0" tIns="0" rIns="0" bIns="0" rtlCol="0" anchor="ctr"/>
          <a:lstStyle/>
          <a:p>
            <a:pPr algn="r" indent="0" marL="0">
              <a:buNone/>
            </a:pPr>
            <a:r>
              <a:rPr lang="en-US" sz="1200" dirty="0">
                <a:solidFill>
                  <a:srgbClr val="5B6B7E"/>
                </a:solidFill>
                <a:latin typeface="Arial" pitchFamily="34" charset="0"/>
                <a:ea typeface="Arial" pitchFamily="34" charset="-122"/>
                <a:cs typeface="Arial" pitchFamily="34" charset="-120"/>
              </a:rPr>
              <a:t>16%</a:t>
            </a:r>
            <a:endParaRPr lang="en-US" sz="1200" dirty="0"/>
          </a:p>
        </p:txBody>
      </p:sp>
      <p:sp>
        <p:nvSpPr>
          <p:cNvPr id="51" name="cov-dot-1-3"/>
          <p:cNvSpPr/>
          <p:nvPr/>
        </p:nvSpPr>
        <p:spPr>
          <a:xfrm>
            <a:off x="6528816" y="4535424"/>
            <a:ext cx="128016" cy="128016"/>
          </a:xfrm>
          <a:prstGeom prst="ellipse">
            <a:avLst/>
          </a:prstGeom>
          <a:solidFill>
            <a:srgbClr val="F2A900"/>
          </a:solidFill>
          <a:ln/>
        </p:spPr>
      </p:sp>
      <p:sp>
        <p:nvSpPr>
          <p:cNvPr id="52" name="Text 48"/>
          <p:cNvSpPr txBox="1"/>
          <p:nvPr/>
        </p:nvSpPr>
        <p:spPr>
          <a:xfrm>
            <a:off x="6748272" y="4425696"/>
            <a:ext cx="2651760" cy="347472"/>
          </a:xfrm>
          <a:prstGeom prst="rect">
            <a:avLst/>
          </a:prstGeom>
          <a:noFill/>
          <a:ln/>
        </p:spPr>
        <p:txBody>
          <a:bodyPr wrap="square" lIns="0" tIns="0" rIns="0" bIns="0" rtlCol="0" anchor="ctr"/>
          <a:lstStyle/>
          <a:p>
            <a:pPr algn="l" indent="0" marL="0">
              <a:buNone/>
            </a:pPr>
            <a:r>
              <a:rPr lang="en-US" sz="1200" dirty="0">
                <a:solidFill>
                  <a:srgbClr val="0B1B2E"/>
                </a:solidFill>
                <a:latin typeface="Arial" pitchFamily="34" charset="0"/>
                <a:ea typeface="Arial" pitchFamily="34" charset="-122"/>
                <a:cs typeface="Arial" pitchFamily="34" charset="-120"/>
              </a:rPr>
              <a:t>Spot</a:t>
            </a:r>
            <a:endParaRPr lang="en-US" sz="1200" dirty="0"/>
          </a:p>
        </p:txBody>
      </p:sp>
      <p:sp>
        <p:nvSpPr>
          <p:cNvPr id="53" name="Text 49"/>
          <p:cNvSpPr txBox="1"/>
          <p:nvPr/>
        </p:nvSpPr>
        <p:spPr>
          <a:xfrm>
            <a:off x="9436608" y="4425696"/>
            <a:ext cx="1188720" cy="347472"/>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$504</a:t>
            </a:r>
            <a:endParaRPr lang="en-US" sz="1200" dirty="0"/>
          </a:p>
        </p:txBody>
      </p:sp>
      <p:sp>
        <p:nvSpPr>
          <p:cNvPr id="54" name="Text 50"/>
          <p:cNvSpPr txBox="1"/>
          <p:nvPr/>
        </p:nvSpPr>
        <p:spPr>
          <a:xfrm>
            <a:off x="10716768" y="4425696"/>
            <a:ext cx="612648" cy="347472"/>
          </a:xfrm>
          <a:prstGeom prst="rect">
            <a:avLst/>
          </a:prstGeom>
          <a:noFill/>
          <a:ln/>
        </p:spPr>
        <p:txBody>
          <a:bodyPr wrap="square" lIns="0" tIns="0" rIns="0" bIns="0" rtlCol="0" anchor="ctr"/>
          <a:lstStyle/>
          <a:p>
            <a:pPr algn="r" indent="0" marL="0">
              <a:buNone/>
            </a:pPr>
            <a:r>
              <a:rPr lang="en-US" sz="1200" dirty="0">
                <a:solidFill>
                  <a:srgbClr val="5B6B7E"/>
                </a:solidFill>
                <a:latin typeface="Arial" pitchFamily="34" charset="0"/>
                <a:ea typeface="Arial" pitchFamily="34" charset="-122"/>
                <a:cs typeface="Arial" pitchFamily="34" charset="-120"/>
              </a:rPr>
              <a:t>1%</a:t>
            </a:r>
            <a:endParaRPr lang="en-US" sz="1200" dirty="0"/>
          </a:p>
        </p:txBody>
      </p:sp>
      <p:sp>
        <p:nvSpPr>
          <p:cNvPr id="55" name="Text 51"/>
          <p:cNvSpPr txBox="1"/>
          <p:nvPr/>
        </p:nvSpPr>
        <p:spPr>
          <a:xfrm>
            <a:off x="6528816" y="4882896"/>
            <a:ext cx="1371600" cy="603504"/>
          </a:xfrm>
          <a:prstGeom prst="rect">
            <a:avLst/>
          </a:prstGeom>
          <a:noFill/>
          <a:ln/>
        </p:spPr>
        <p:txBody>
          <a:bodyPr wrap="square" lIns="0" tIns="0" rIns="0" bIns="0" rtlCol="0" anchor="ctr"/>
          <a:lstStyle/>
          <a:p>
            <a:pPr algn="l" indent="0" marL="0">
              <a:buNone/>
            </a:pPr>
            <a:r>
              <a:rPr lang="en-US" sz="3400" b="1" dirty="0">
                <a:solidFill>
                  <a:srgbClr val="D7263D"/>
                </a:solidFill>
                <a:latin typeface="Arial" pitchFamily="34" charset="0"/>
                <a:ea typeface="Arial" pitchFamily="34" charset="-122"/>
                <a:cs typeface="Arial" pitchFamily="34" charset="-120"/>
              </a:rPr>
              <a:t>54%</a:t>
            </a:r>
            <a:endParaRPr lang="en-US" sz="3400" dirty="0"/>
          </a:p>
        </p:txBody>
      </p:sp>
      <p:sp>
        <p:nvSpPr>
          <p:cNvPr id="56" name="Text 52"/>
          <p:cNvSpPr txBox="1"/>
          <p:nvPr/>
        </p:nvSpPr>
        <p:spPr>
          <a:xfrm>
            <a:off x="7973568" y="4882896"/>
            <a:ext cx="3291840" cy="603504"/>
          </a:xfrm>
          <a:prstGeom prst="rect">
            <a:avLst/>
          </a:prstGeom>
          <a:noFill/>
          <a:ln/>
        </p:spPr>
        <p:txBody>
          <a:bodyPr wrap="square" lIns="0" tIns="0" rIns="0" bIns="0" rtlCol="0" anchor="ctr"/>
          <a:lstStyle/>
          <a:p>
            <a:pPr algn="l" indent="0" marL="0">
              <a:buNone/>
            </a:pPr>
            <a:r>
              <a:rPr lang="en-US" sz="1150" dirty="0">
                <a:solidFill>
                  <a:srgbClr val="5B6B7E"/>
                </a:solidFill>
                <a:latin typeface="Arial" pitchFamily="34" charset="0"/>
                <a:ea typeface="Arial" pitchFamily="34" charset="-122"/>
                <a:cs typeface="Arial" pitchFamily="34" charset="-120"/>
              </a:rPr>
              <a:t>of compute is on a discounted</a:t>
            </a:r>
            <a:endParaRPr lang="en-US" sz="1150" dirty="0"/>
          </a:p>
          <a:p>
            <a:pPr algn="l" indent="0" marL="0">
              <a:buNone/>
            </a:pPr>
            <a:r>
              <a:rPr lang="en-US" sz="1150" dirty="0">
                <a:solidFill>
                  <a:srgbClr val="5B6B7E"/>
                </a:solidFill>
                <a:latin typeface="Arial" pitchFamily="34" charset="0"/>
                <a:ea typeface="Arial" pitchFamily="34" charset="-122"/>
                <a:cs typeface="Arial" pitchFamily="34" charset="-120"/>
              </a:rPr>
              <a:t>purchase option</a:t>
            </a:r>
            <a:endParaRPr lang="en-US" sz="1150" dirty="0"/>
          </a:p>
        </p:txBody>
      </p:sp>
      <p:sp>
        <p:nvSpPr>
          <p:cNvPr id="57"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Closing the Azure gap is worth $47K a year in identified VM reservation purchases, and reservations hold their rate through the February price rise.</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7C5CFF"/>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SAVINGS PIPELINE</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$190K is identified and ready, 41% of it reservations</a:t>
            </a:r>
            <a:endParaRPr lang="en-US" sz="2800" dirty="0"/>
          </a:p>
        </p:txBody>
      </p:sp>
      <p:sp>
        <p:nvSpPr>
          <p:cNvPr id="5" name="Text 3"/>
          <p:cNvSpPr txBox="1"/>
          <p:nvPr/>
        </p:nvSpPr>
        <p:spPr>
          <a:xfrm>
            <a:off x="566928" y="1554480"/>
            <a:ext cx="5120640" cy="274320"/>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By business unit</a:t>
            </a:r>
            <a:endParaRPr lang="en-US" sz="1300" dirty="0"/>
          </a:p>
        </p:txBody>
      </p:sp>
      <p:sp>
        <p:nvSpPr>
          <p:cNvPr id="6" name="Text 4"/>
          <p:cNvSpPr txBox="1"/>
          <p:nvPr/>
        </p:nvSpPr>
        <p:spPr>
          <a:xfrm>
            <a:off x="566928" y="1938528"/>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SAP</a:t>
            </a:r>
            <a:endParaRPr lang="en-US" sz="1150" dirty="0"/>
          </a:p>
        </p:txBody>
      </p:sp>
      <p:sp>
        <p:nvSpPr>
          <p:cNvPr id="7" name="rank-bar-0"/>
          <p:cNvSpPr/>
          <p:nvPr/>
        </p:nvSpPr>
        <p:spPr>
          <a:xfrm>
            <a:off x="3675888" y="2048256"/>
            <a:ext cx="1417320" cy="137160"/>
          </a:xfrm>
          <a:prstGeom prst="rect">
            <a:avLst/>
          </a:prstGeom>
          <a:solidFill>
            <a:srgbClr val="7C5CFF"/>
          </a:solidFill>
          <a:ln/>
        </p:spPr>
      </p:sp>
      <p:sp>
        <p:nvSpPr>
          <p:cNvPr id="8" name="Text 6"/>
          <p:cNvSpPr txBox="1"/>
          <p:nvPr/>
        </p:nvSpPr>
        <p:spPr>
          <a:xfrm>
            <a:off x="5184648" y="1938528"/>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$80K</a:t>
            </a:r>
            <a:endParaRPr lang="en-US" sz="1200" dirty="0"/>
          </a:p>
        </p:txBody>
      </p:sp>
      <p:sp>
        <p:nvSpPr>
          <p:cNvPr id="9" name="Text 7"/>
          <p:cNvSpPr txBox="1"/>
          <p:nvPr/>
        </p:nvSpPr>
        <p:spPr>
          <a:xfrm>
            <a:off x="566928" y="2368296"/>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CloudIT</a:t>
            </a:r>
            <a:endParaRPr lang="en-US" sz="1150" dirty="0"/>
          </a:p>
        </p:txBody>
      </p:sp>
      <p:sp>
        <p:nvSpPr>
          <p:cNvPr id="10" name="rank-bar-1"/>
          <p:cNvSpPr/>
          <p:nvPr/>
        </p:nvSpPr>
        <p:spPr>
          <a:xfrm>
            <a:off x="3675888" y="2478024"/>
            <a:ext cx="625638" cy="137160"/>
          </a:xfrm>
          <a:prstGeom prst="rect">
            <a:avLst/>
          </a:prstGeom>
          <a:solidFill>
            <a:srgbClr val="7C5CFF"/>
          </a:solidFill>
          <a:ln/>
        </p:spPr>
      </p:sp>
      <p:sp>
        <p:nvSpPr>
          <p:cNvPr id="11" name="Text 9"/>
          <p:cNvSpPr txBox="1"/>
          <p:nvPr/>
        </p:nvSpPr>
        <p:spPr>
          <a:xfrm>
            <a:off x="5184648" y="2368296"/>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$35K</a:t>
            </a:r>
            <a:endParaRPr lang="en-US" sz="1200" dirty="0"/>
          </a:p>
        </p:txBody>
      </p:sp>
      <p:sp>
        <p:nvSpPr>
          <p:cNvPr id="12" name="Text 10"/>
          <p:cNvSpPr txBox="1"/>
          <p:nvPr/>
        </p:nvSpPr>
        <p:spPr>
          <a:xfrm>
            <a:off x="566928" y="2798064"/>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AI Factory</a:t>
            </a:r>
            <a:endParaRPr lang="en-US" sz="1150" dirty="0"/>
          </a:p>
        </p:txBody>
      </p:sp>
      <p:sp>
        <p:nvSpPr>
          <p:cNvPr id="13" name="rank-bar-2"/>
          <p:cNvSpPr/>
          <p:nvPr/>
        </p:nvSpPr>
        <p:spPr>
          <a:xfrm>
            <a:off x="3675888" y="2907792"/>
            <a:ext cx="601753" cy="137160"/>
          </a:xfrm>
          <a:prstGeom prst="rect">
            <a:avLst/>
          </a:prstGeom>
          <a:solidFill>
            <a:srgbClr val="7C5CFF"/>
          </a:solidFill>
          <a:ln/>
        </p:spPr>
      </p:sp>
      <p:sp>
        <p:nvSpPr>
          <p:cNvPr id="14" name="Text 12"/>
          <p:cNvSpPr txBox="1"/>
          <p:nvPr/>
        </p:nvSpPr>
        <p:spPr>
          <a:xfrm>
            <a:off x="5184648" y="2798064"/>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$34K</a:t>
            </a:r>
            <a:endParaRPr lang="en-US" sz="1200" dirty="0"/>
          </a:p>
        </p:txBody>
      </p:sp>
      <p:sp>
        <p:nvSpPr>
          <p:cNvPr id="15" name="Text 13"/>
          <p:cNvSpPr txBox="1"/>
          <p:nvPr/>
        </p:nvSpPr>
        <p:spPr>
          <a:xfrm>
            <a:off x="566928" y="3227832"/>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Data Cloud</a:t>
            </a:r>
            <a:endParaRPr lang="en-US" sz="1150" dirty="0"/>
          </a:p>
        </p:txBody>
      </p:sp>
      <p:sp>
        <p:nvSpPr>
          <p:cNvPr id="16" name="rank-bar-3"/>
          <p:cNvSpPr/>
          <p:nvPr/>
        </p:nvSpPr>
        <p:spPr>
          <a:xfrm>
            <a:off x="3675888" y="3337560"/>
            <a:ext cx="316301" cy="137160"/>
          </a:xfrm>
          <a:prstGeom prst="rect">
            <a:avLst/>
          </a:prstGeom>
          <a:solidFill>
            <a:srgbClr val="0F7DC2"/>
          </a:solidFill>
          <a:ln/>
        </p:spPr>
      </p:sp>
      <p:sp>
        <p:nvSpPr>
          <p:cNvPr id="17" name="Text 15"/>
          <p:cNvSpPr txBox="1"/>
          <p:nvPr/>
        </p:nvSpPr>
        <p:spPr>
          <a:xfrm>
            <a:off x="5184648" y="3227832"/>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$18K</a:t>
            </a:r>
            <a:endParaRPr lang="en-US" sz="1200" dirty="0"/>
          </a:p>
        </p:txBody>
      </p:sp>
      <p:sp>
        <p:nvSpPr>
          <p:cNvPr id="18" name="Text 16"/>
          <p:cNvSpPr txBox="1"/>
          <p:nvPr/>
        </p:nvSpPr>
        <p:spPr>
          <a:xfrm>
            <a:off x="566928" y="3657600"/>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Actuary</a:t>
            </a:r>
            <a:endParaRPr lang="en-US" sz="1150" dirty="0"/>
          </a:p>
        </p:txBody>
      </p:sp>
      <p:sp>
        <p:nvSpPr>
          <p:cNvPr id="19" name="rank-bar-4"/>
          <p:cNvSpPr/>
          <p:nvPr/>
        </p:nvSpPr>
        <p:spPr>
          <a:xfrm>
            <a:off x="3675888" y="3767328"/>
            <a:ext cx="141787" cy="137160"/>
          </a:xfrm>
          <a:prstGeom prst="rect">
            <a:avLst/>
          </a:prstGeom>
          <a:solidFill>
            <a:srgbClr val="0F7DC2"/>
          </a:solidFill>
          <a:ln/>
        </p:spPr>
      </p:sp>
      <p:sp>
        <p:nvSpPr>
          <p:cNvPr id="20" name="Text 18"/>
          <p:cNvSpPr txBox="1"/>
          <p:nvPr/>
        </p:nvSpPr>
        <p:spPr>
          <a:xfrm>
            <a:off x="5184648" y="3657600"/>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$8K</a:t>
            </a:r>
            <a:endParaRPr lang="en-US" sz="1200" dirty="0"/>
          </a:p>
        </p:txBody>
      </p:sp>
      <p:sp>
        <p:nvSpPr>
          <p:cNvPr id="21" name="Text 19"/>
          <p:cNvSpPr txBox="1"/>
          <p:nvPr/>
        </p:nvSpPr>
        <p:spPr>
          <a:xfrm>
            <a:off x="566928" y="4087368"/>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AWS (all accounts)</a:t>
            </a:r>
            <a:endParaRPr lang="en-US" sz="1150" dirty="0"/>
          </a:p>
        </p:txBody>
      </p:sp>
      <p:sp>
        <p:nvSpPr>
          <p:cNvPr id="22" name="rank-bar-5"/>
          <p:cNvSpPr/>
          <p:nvPr/>
        </p:nvSpPr>
        <p:spPr>
          <a:xfrm>
            <a:off x="3675888" y="4197096"/>
            <a:ext cx="127505" cy="137160"/>
          </a:xfrm>
          <a:prstGeom prst="rect">
            <a:avLst/>
          </a:prstGeom>
          <a:solidFill>
            <a:srgbClr val="F2A900"/>
          </a:solidFill>
          <a:ln/>
        </p:spPr>
      </p:sp>
      <p:sp>
        <p:nvSpPr>
          <p:cNvPr id="23" name="Text 21"/>
          <p:cNvSpPr txBox="1"/>
          <p:nvPr/>
        </p:nvSpPr>
        <p:spPr>
          <a:xfrm>
            <a:off x="5184648" y="4087368"/>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$7K</a:t>
            </a:r>
            <a:endParaRPr lang="en-US" sz="1200" dirty="0"/>
          </a:p>
        </p:txBody>
      </p:sp>
      <p:sp>
        <p:nvSpPr>
          <p:cNvPr id="24" name="Text 22"/>
          <p:cNvSpPr txBox="1"/>
          <p:nvPr/>
        </p:nvSpPr>
        <p:spPr>
          <a:xfrm>
            <a:off x="566928" y="4517136"/>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Azure Sandbox</a:t>
            </a:r>
            <a:endParaRPr lang="en-US" sz="1150" dirty="0"/>
          </a:p>
        </p:txBody>
      </p:sp>
      <p:sp>
        <p:nvSpPr>
          <p:cNvPr id="25" name="rank-bar-6"/>
          <p:cNvSpPr/>
          <p:nvPr/>
        </p:nvSpPr>
        <p:spPr>
          <a:xfrm>
            <a:off x="3675888" y="4626864"/>
            <a:ext cx="78495" cy="137160"/>
          </a:xfrm>
          <a:prstGeom prst="rect">
            <a:avLst/>
          </a:prstGeom>
          <a:solidFill>
            <a:srgbClr val="0F7DC2"/>
          </a:solidFill>
          <a:ln/>
        </p:spPr>
      </p:sp>
      <p:sp>
        <p:nvSpPr>
          <p:cNvPr id="26" name="Text 24"/>
          <p:cNvSpPr txBox="1"/>
          <p:nvPr/>
        </p:nvSpPr>
        <p:spPr>
          <a:xfrm>
            <a:off x="5184648" y="4517136"/>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$4K</a:t>
            </a:r>
            <a:endParaRPr lang="en-US" sz="1200" dirty="0"/>
          </a:p>
        </p:txBody>
      </p:sp>
      <p:sp>
        <p:nvSpPr>
          <p:cNvPr id="27" name="Text 25"/>
          <p:cNvSpPr txBox="1"/>
          <p:nvPr/>
        </p:nvSpPr>
        <p:spPr>
          <a:xfrm>
            <a:off x="566928" y="4946904"/>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CloudOps</a:t>
            </a:r>
            <a:endParaRPr lang="en-US" sz="1150" dirty="0"/>
          </a:p>
        </p:txBody>
      </p:sp>
      <p:sp>
        <p:nvSpPr>
          <p:cNvPr id="28" name="rank-bar-7"/>
          <p:cNvSpPr/>
          <p:nvPr/>
        </p:nvSpPr>
        <p:spPr>
          <a:xfrm>
            <a:off x="3675888" y="5056632"/>
            <a:ext cx="37741" cy="137160"/>
          </a:xfrm>
          <a:prstGeom prst="rect">
            <a:avLst/>
          </a:prstGeom>
          <a:solidFill>
            <a:srgbClr val="0F7DC2"/>
          </a:solidFill>
          <a:ln/>
        </p:spPr>
      </p:sp>
      <p:sp>
        <p:nvSpPr>
          <p:cNvPr id="29" name="Text 27"/>
          <p:cNvSpPr txBox="1"/>
          <p:nvPr/>
        </p:nvSpPr>
        <p:spPr>
          <a:xfrm>
            <a:off x="5184648" y="4946904"/>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$2K</a:t>
            </a:r>
            <a:endParaRPr lang="en-US" sz="1200" dirty="0"/>
          </a:p>
        </p:txBody>
      </p:sp>
      <p:sp>
        <p:nvSpPr>
          <p:cNvPr id="30" name="Text 28"/>
          <p:cNvSpPr txBox="1"/>
          <p:nvPr/>
        </p:nvSpPr>
        <p:spPr>
          <a:xfrm>
            <a:off x="566928" y="5376672"/>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ITSec</a:t>
            </a:r>
            <a:endParaRPr lang="en-US" sz="1150" dirty="0"/>
          </a:p>
        </p:txBody>
      </p:sp>
      <p:sp>
        <p:nvSpPr>
          <p:cNvPr id="31" name="rank-bar-8"/>
          <p:cNvSpPr/>
          <p:nvPr/>
        </p:nvSpPr>
        <p:spPr>
          <a:xfrm>
            <a:off x="3675888" y="5486400"/>
            <a:ext cx="27432" cy="137160"/>
          </a:xfrm>
          <a:prstGeom prst="rect">
            <a:avLst/>
          </a:prstGeom>
          <a:solidFill>
            <a:srgbClr val="0F7DC2"/>
          </a:solidFill>
          <a:ln/>
        </p:spPr>
      </p:sp>
      <p:sp>
        <p:nvSpPr>
          <p:cNvPr id="32" name="Text 30"/>
          <p:cNvSpPr txBox="1"/>
          <p:nvPr/>
        </p:nvSpPr>
        <p:spPr>
          <a:xfrm>
            <a:off x="5184648" y="5376672"/>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$1K</a:t>
            </a:r>
            <a:endParaRPr lang="en-US" sz="1200" dirty="0"/>
          </a:p>
        </p:txBody>
      </p:sp>
      <p:sp>
        <p:nvSpPr>
          <p:cNvPr id="33" name="Text 31"/>
          <p:cNvSpPr txBox="1"/>
          <p:nvPr/>
        </p:nvSpPr>
        <p:spPr>
          <a:xfrm>
            <a:off x="6400800" y="1554480"/>
            <a:ext cx="5120640" cy="274320"/>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By type of action</a:t>
            </a:r>
            <a:endParaRPr lang="en-US" sz="1300" dirty="0"/>
          </a:p>
        </p:txBody>
      </p:sp>
      <p:sp>
        <p:nvSpPr>
          <p:cNvPr id="34" name="Text 32"/>
          <p:cNvSpPr txBox="1"/>
          <p:nvPr/>
        </p:nvSpPr>
        <p:spPr>
          <a:xfrm>
            <a:off x="6400800" y="1938528"/>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VM reserved instances</a:t>
            </a:r>
            <a:endParaRPr lang="en-US" sz="1150" dirty="0"/>
          </a:p>
        </p:txBody>
      </p:sp>
      <p:sp>
        <p:nvSpPr>
          <p:cNvPr id="35" name="rank-bar-0"/>
          <p:cNvSpPr/>
          <p:nvPr/>
        </p:nvSpPr>
        <p:spPr>
          <a:xfrm>
            <a:off x="9509760" y="2048256"/>
            <a:ext cx="1243584" cy="137160"/>
          </a:xfrm>
          <a:prstGeom prst="rect">
            <a:avLst/>
          </a:prstGeom>
          <a:solidFill>
            <a:srgbClr val="00A878"/>
          </a:solidFill>
          <a:ln/>
        </p:spPr>
      </p:sp>
      <p:sp>
        <p:nvSpPr>
          <p:cNvPr id="36" name="Text 34"/>
          <p:cNvSpPr txBox="1"/>
          <p:nvPr/>
        </p:nvSpPr>
        <p:spPr>
          <a:xfrm>
            <a:off x="10844784" y="1938528"/>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$47K</a:t>
            </a:r>
            <a:endParaRPr lang="en-US" sz="1200" dirty="0"/>
          </a:p>
        </p:txBody>
      </p:sp>
      <p:sp>
        <p:nvSpPr>
          <p:cNvPr id="37" name="Text 35"/>
          <p:cNvSpPr txBox="1"/>
          <p:nvPr/>
        </p:nvSpPr>
        <p:spPr>
          <a:xfrm>
            <a:off x="6400800" y="2368296"/>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VM rightsizing</a:t>
            </a:r>
            <a:endParaRPr lang="en-US" sz="1150" dirty="0"/>
          </a:p>
        </p:txBody>
      </p:sp>
      <p:sp>
        <p:nvSpPr>
          <p:cNvPr id="38" name="rank-bar-1"/>
          <p:cNvSpPr/>
          <p:nvPr/>
        </p:nvSpPr>
        <p:spPr>
          <a:xfrm>
            <a:off x="9509760" y="2478024"/>
            <a:ext cx="808093" cy="137160"/>
          </a:xfrm>
          <a:prstGeom prst="rect">
            <a:avLst/>
          </a:prstGeom>
          <a:solidFill>
            <a:srgbClr val="00A878"/>
          </a:solidFill>
          <a:ln/>
        </p:spPr>
      </p:sp>
      <p:sp>
        <p:nvSpPr>
          <p:cNvPr id="39" name="Text 37"/>
          <p:cNvSpPr txBox="1"/>
          <p:nvPr/>
        </p:nvSpPr>
        <p:spPr>
          <a:xfrm>
            <a:off x="10844784" y="2368296"/>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$31K</a:t>
            </a:r>
            <a:endParaRPr lang="en-US" sz="1200" dirty="0"/>
          </a:p>
        </p:txBody>
      </p:sp>
      <p:sp>
        <p:nvSpPr>
          <p:cNvPr id="40" name="Text 38"/>
          <p:cNvSpPr txBox="1"/>
          <p:nvPr/>
        </p:nvSpPr>
        <p:spPr>
          <a:xfrm>
            <a:off x="6400800" y="2798064"/>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PostgreSQL reservations</a:t>
            </a:r>
            <a:endParaRPr lang="en-US" sz="1150" dirty="0"/>
          </a:p>
        </p:txBody>
      </p:sp>
      <p:sp>
        <p:nvSpPr>
          <p:cNvPr id="41" name="rank-bar-2"/>
          <p:cNvSpPr/>
          <p:nvPr/>
        </p:nvSpPr>
        <p:spPr>
          <a:xfrm>
            <a:off x="9509760" y="2907792"/>
            <a:ext cx="562722" cy="137160"/>
          </a:xfrm>
          <a:prstGeom prst="rect">
            <a:avLst/>
          </a:prstGeom>
          <a:solidFill>
            <a:srgbClr val="00A878"/>
          </a:solidFill>
          <a:ln/>
        </p:spPr>
      </p:sp>
      <p:sp>
        <p:nvSpPr>
          <p:cNvPr id="42" name="Text 40"/>
          <p:cNvSpPr txBox="1"/>
          <p:nvPr/>
        </p:nvSpPr>
        <p:spPr>
          <a:xfrm>
            <a:off x="10844784" y="2798064"/>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$21K</a:t>
            </a:r>
            <a:endParaRPr lang="en-US" sz="1200" dirty="0"/>
          </a:p>
        </p:txBody>
      </p:sp>
      <p:sp>
        <p:nvSpPr>
          <p:cNvPr id="43" name="Text 41"/>
          <p:cNvSpPr txBox="1"/>
          <p:nvPr/>
        </p:nvSpPr>
        <p:spPr>
          <a:xfrm>
            <a:off x="6400800" y="3227832"/>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Scheduled shutdown of 24/7 VMs</a:t>
            </a:r>
            <a:endParaRPr lang="en-US" sz="1150" dirty="0"/>
          </a:p>
        </p:txBody>
      </p:sp>
      <p:sp>
        <p:nvSpPr>
          <p:cNvPr id="44" name="rank-bar-3"/>
          <p:cNvSpPr/>
          <p:nvPr/>
        </p:nvSpPr>
        <p:spPr>
          <a:xfrm>
            <a:off x="9509760" y="3337560"/>
            <a:ext cx="654756" cy="137160"/>
          </a:xfrm>
          <a:prstGeom prst="rect">
            <a:avLst/>
          </a:prstGeom>
          <a:solidFill>
            <a:srgbClr val="0F7DC2"/>
          </a:solidFill>
          <a:ln/>
        </p:spPr>
      </p:sp>
      <p:sp>
        <p:nvSpPr>
          <p:cNvPr id="45" name="Text 43"/>
          <p:cNvSpPr txBox="1"/>
          <p:nvPr/>
        </p:nvSpPr>
        <p:spPr>
          <a:xfrm>
            <a:off x="10844784" y="3227832"/>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$25K</a:t>
            </a:r>
            <a:endParaRPr lang="en-US" sz="1200" dirty="0"/>
          </a:p>
        </p:txBody>
      </p:sp>
      <p:sp>
        <p:nvSpPr>
          <p:cNvPr id="46" name="Text 44"/>
          <p:cNvSpPr txBox="1"/>
          <p:nvPr/>
        </p:nvSpPr>
        <p:spPr>
          <a:xfrm>
            <a:off x="6400800" y="3657600"/>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Premium to standard disks</a:t>
            </a:r>
            <a:endParaRPr lang="en-US" sz="1150" dirty="0"/>
          </a:p>
        </p:txBody>
      </p:sp>
      <p:sp>
        <p:nvSpPr>
          <p:cNvPr id="47" name="rank-bar-4"/>
          <p:cNvSpPr/>
          <p:nvPr/>
        </p:nvSpPr>
        <p:spPr>
          <a:xfrm>
            <a:off x="9509760" y="3767328"/>
            <a:ext cx="555270" cy="137160"/>
          </a:xfrm>
          <a:prstGeom prst="rect">
            <a:avLst/>
          </a:prstGeom>
          <a:solidFill>
            <a:srgbClr val="0F7DC2"/>
          </a:solidFill>
          <a:ln/>
        </p:spPr>
      </p:sp>
      <p:sp>
        <p:nvSpPr>
          <p:cNvPr id="48" name="Text 46"/>
          <p:cNvSpPr txBox="1"/>
          <p:nvPr/>
        </p:nvSpPr>
        <p:spPr>
          <a:xfrm>
            <a:off x="10844784" y="3657600"/>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$21K</a:t>
            </a:r>
            <a:endParaRPr lang="en-US" sz="1200" dirty="0"/>
          </a:p>
        </p:txBody>
      </p:sp>
      <p:sp>
        <p:nvSpPr>
          <p:cNvPr id="49" name="Text 47"/>
          <p:cNvSpPr txBox="1"/>
          <p:nvPr/>
        </p:nvSpPr>
        <p:spPr>
          <a:xfrm>
            <a:off x="6400800" y="4087368"/>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Idle reserved disks</a:t>
            </a:r>
            <a:endParaRPr lang="en-US" sz="1150" dirty="0"/>
          </a:p>
        </p:txBody>
      </p:sp>
      <p:sp>
        <p:nvSpPr>
          <p:cNvPr id="50" name="rank-bar-5"/>
          <p:cNvSpPr/>
          <p:nvPr/>
        </p:nvSpPr>
        <p:spPr>
          <a:xfrm>
            <a:off x="9509760" y="4197096"/>
            <a:ext cx="349006" cy="137160"/>
          </a:xfrm>
          <a:prstGeom prst="rect">
            <a:avLst/>
          </a:prstGeom>
          <a:solidFill>
            <a:srgbClr val="0F7DC2"/>
          </a:solidFill>
          <a:ln/>
        </p:spPr>
      </p:sp>
      <p:sp>
        <p:nvSpPr>
          <p:cNvPr id="51" name="Text 49"/>
          <p:cNvSpPr txBox="1"/>
          <p:nvPr/>
        </p:nvSpPr>
        <p:spPr>
          <a:xfrm>
            <a:off x="10844784" y="4087368"/>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$13K</a:t>
            </a:r>
            <a:endParaRPr lang="en-US" sz="1200" dirty="0"/>
          </a:p>
        </p:txBody>
      </p:sp>
      <p:sp>
        <p:nvSpPr>
          <p:cNvPr id="52" name="Text 50"/>
          <p:cNvSpPr txBox="1"/>
          <p:nvPr/>
        </p:nvSpPr>
        <p:spPr>
          <a:xfrm>
            <a:off x="6400800" y="4517136"/>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AKS reservations</a:t>
            </a:r>
            <a:endParaRPr lang="en-US" sz="1150" dirty="0"/>
          </a:p>
        </p:txBody>
      </p:sp>
      <p:sp>
        <p:nvSpPr>
          <p:cNvPr id="53" name="rank-bar-6"/>
          <p:cNvSpPr/>
          <p:nvPr/>
        </p:nvSpPr>
        <p:spPr>
          <a:xfrm>
            <a:off x="9509760" y="4626864"/>
            <a:ext cx="262309" cy="137160"/>
          </a:xfrm>
          <a:prstGeom prst="rect">
            <a:avLst/>
          </a:prstGeom>
          <a:solidFill>
            <a:srgbClr val="00A878"/>
          </a:solidFill>
          <a:ln/>
        </p:spPr>
      </p:sp>
      <p:sp>
        <p:nvSpPr>
          <p:cNvPr id="54" name="Text 52"/>
          <p:cNvSpPr txBox="1"/>
          <p:nvPr/>
        </p:nvSpPr>
        <p:spPr>
          <a:xfrm>
            <a:off x="10844784" y="4517136"/>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$10K</a:t>
            </a:r>
            <a:endParaRPr lang="en-US" sz="1200" dirty="0"/>
          </a:p>
        </p:txBody>
      </p:sp>
      <p:sp>
        <p:nvSpPr>
          <p:cNvPr id="55" name="Text 53"/>
          <p:cNvSpPr txBox="1"/>
          <p:nvPr/>
        </p:nvSpPr>
        <p:spPr>
          <a:xfrm>
            <a:off x="6400800" y="4946904"/>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Idle unattached disks</a:t>
            </a:r>
            <a:endParaRPr lang="en-US" sz="1150" dirty="0"/>
          </a:p>
        </p:txBody>
      </p:sp>
      <p:sp>
        <p:nvSpPr>
          <p:cNvPr id="56" name="rank-bar-7"/>
          <p:cNvSpPr/>
          <p:nvPr/>
        </p:nvSpPr>
        <p:spPr>
          <a:xfrm>
            <a:off x="9509760" y="5056632"/>
            <a:ext cx="191969" cy="137160"/>
          </a:xfrm>
          <a:prstGeom prst="rect">
            <a:avLst/>
          </a:prstGeom>
          <a:solidFill>
            <a:srgbClr val="0F7DC2"/>
          </a:solidFill>
          <a:ln/>
        </p:spPr>
      </p:sp>
      <p:sp>
        <p:nvSpPr>
          <p:cNvPr id="57" name="Text 55"/>
          <p:cNvSpPr txBox="1"/>
          <p:nvPr/>
        </p:nvSpPr>
        <p:spPr>
          <a:xfrm>
            <a:off x="10844784" y="4946904"/>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$7K</a:t>
            </a:r>
            <a:endParaRPr lang="en-US" sz="1200" dirty="0"/>
          </a:p>
        </p:txBody>
      </p:sp>
      <p:sp>
        <p:nvSpPr>
          <p:cNvPr id="58" name="Text 56"/>
          <p:cNvSpPr txBox="1"/>
          <p:nvPr/>
        </p:nvSpPr>
        <p:spPr>
          <a:xfrm>
            <a:off x="6400800" y="5376672"/>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Other (AWS EC2, SQL, Redis)</a:t>
            </a:r>
            <a:endParaRPr lang="en-US" sz="1150" dirty="0"/>
          </a:p>
        </p:txBody>
      </p:sp>
      <p:sp>
        <p:nvSpPr>
          <p:cNvPr id="59" name="rank-bar-8"/>
          <p:cNvSpPr/>
          <p:nvPr/>
        </p:nvSpPr>
        <p:spPr>
          <a:xfrm>
            <a:off x="9509760" y="5486400"/>
            <a:ext cx="393900" cy="137160"/>
          </a:xfrm>
          <a:prstGeom prst="rect">
            <a:avLst/>
          </a:prstGeom>
          <a:solidFill>
            <a:srgbClr val="F2A900"/>
          </a:solidFill>
          <a:ln/>
        </p:spPr>
      </p:sp>
      <p:sp>
        <p:nvSpPr>
          <p:cNvPr id="60" name="Text 58"/>
          <p:cNvSpPr txBox="1"/>
          <p:nvPr/>
        </p:nvSpPr>
        <p:spPr>
          <a:xfrm>
            <a:off x="10844784" y="5376672"/>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$15K</a:t>
            </a:r>
            <a:endParaRPr lang="en-US" sz="1200" dirty="0"/>
          </a:p>
        </p:txBody>
      </p:sp>
      <p:sp>
        <p:nvSpPr>
          <p:cNvPr id="61"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Reservations and savings plans are $78K of the $190K, which needs a purchase decision rather than engineering time.</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div-num"/>
          <p:cNvSpPr txBox="1"/>
          <p:nvPr/>
        </p:nvSpPr>
        <p:spPr>
          <a:xfrm>
            <a:off x="566928" y="1828800"/>
            <a:ext cx="2011680" cy="1371600"/>
          </a:xfrm>
          <a:prstGeom prst="rect">
            <a:avLst/>
          </a:prstGeom>
          <a:noFill/>
          <a:ln/>
        </p:spPr>
        <p:txBody>
          <a:bodyPr wrap="square" lIns="0" tIns="0" rIns="0" bIns="0" rtlCol="0" anchor="ctr"/>
          <a:lstStyle/>
          <a:p>
            <a:pPr algn="l" indent="0" marL="0">
              <a:buNone/>
            </a:pPr>
            <a:r>
              <a:rPr lang="en-US" sz="9600" b="1" dirty="0">
                <a:solidFill>
                  <a:srgbClr val="D7263D"/>
                </a:solidFill>
                <a:latin typeface="Cambria" pitchFamily="34" charset="0"/>
                <a:ea typeface="Cambria" pitchFamily="34" charset="-122"/>
                <a:cs typeface="Cambria" pitchFamily="34" charset="-120"/>
              </a:rPr>
              <a:t>06</a:t>
            </a:r>
            <a:endParaRPr lang="en-US" sz="9600" dirty="0"/>
          </a:p>
        </p:txBody>
      </p:sp>
      <p:sp>
        <p:nvSpPr>
          <p:cNvPr id="3" name="div-title"/>
          <p:cNvSpPr txBox="1"/>
          <p:nvPr/>
        </p:nvSpPr>
        <p:spPr>
          <a:xfrm>
            <a:off x="566928" y="3200400"/>
            <a:ext cx="8961120" cy="877824"/>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Risks and next steps</a:t>
            </a:r>
            <a:endParaRPr lang="en-US" sz="4000" dirty="0"/>
          </a:p>
        </p:txBody>
      </p:sp>
      <p:sp>
        <p:nvSpPr>
          <p:cNvPr id="4" name="div-body"/>
          <p:cNvSpPr txBox="1"/>
          <p:nvPr/>
        </p:nvSpPr>
        <p:spPr>
          <a:xfrm>
            <a:off x="566928" y="4169664"/>
            <a:ext cx="7498080" cy="868680"/>
          </a:xfrm>
          <a:prstGeom prst="rect">
            <a:avLst/>
          </a:prstGeom>
          <a:noFill/>
          <a:ln/>
        </p:spPr>
        <p:txBody>
          <a:bodyPr wrap="square" lIns="0" tIns="0" rIns="0" bIns="0" rtlCol="0" anchor="t"/>
          <a:lstStyle/>
          <a:p>
            <a:pPr algn="l" indent="0" marL="0">
              <a:buNone/>
            </a:pPr>
            <a:r>
              <a:rPr lang="en-US" sz="1500" dirty="0">
                <a:solidFill>
                  <a:srgbClr val="9FB3C8"/>
                </a:solidFill>
                <a:latin typeface="Arial" pitchFamily="34" charset="0"/>
                <a:ea typeface="Arial" pitchFamily="34" charset="-122"/>
                <a:cs typeface="Arial" pitchFamily="34" charset="-120"/>
              </a:rPr>
              <a:t>Three items that affect the FY2027 budget, the FinOps workplan for the next two quarters, and the decisions we are asking for today.</a:t>
            </a:r>
            <a:endParaRPr lang="en-US" sz="15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D7263D"/>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RISKS</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Three things that will move the FY2027 budget</a:t>
            </a:r>
            <a:endParaRPr lang="en-US" sz="2800" dirty="0"/>
          </a:p>
        </p:txBody>
      </p:sp>
      <p:sp>
        <p:nvSpPr>
          <p:cNvPr id="5" name="risk-0"/>
          <p:cNvSpPr/>
          <p:nvPr/>
        </p:nvSpPr>
        <p:spPr>
          <a:xfrm>
            <a:off x="566928" y="1517904"/>
            <a:ext cx="11057839" cy="1371600"/>
          </a:xfrm>
          <a:prstGeom prst="roundRect">
            <a:avLst>
              <a:gd name="adj" fmla="val 4000"/>
            </a:avLst>
          </a:prstGeom>
          <a:solidFill>
            <a:srgbClr val="EEF2F7"/>
          </a:solidFill>
          <a:ln/>
        </p:spPr>
      </p:sp>
      <p:sp>
        <p:nvSpPr>
          <p:cNvPr id="6" name="chip"/>
          <p:cNvSpPr/>
          <p:nvPr/>
        </p:nvSpPr>
        <p:spPr>
          <a:xfrm>
            <a:off x="841248" y="1737360"/>
            <a:ext cx="1133856" cy="256032"/>
          </a:xfrm>
          <a:prstGeom prst="roundRect">
            <a:avLst>
              <a:gd name="adj" fmla="val 42857"/>
            </a:avLst>
          </a:prstGeom>
          <a:solidFill>
            <a:srgbClr val="D7263D"/>
          </a:solidFill>
          <a:ln/>
        </p:spPr>
      </p:sp>
      <p:sp>
        <p:nvSpPr>
          <p:cNvPr id="7" name="Text 5"/>
          <p:cNvSpPr txBox="1"/>
          <p:nvPr/>
        </p:nvSpPr>
        <p:spPr>
          <a:xfrm>
            <a:off x="841248" y="1737360"/>
            <a:ext cx="1133856"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PRICING</a:t>
            </a:r>
            <a:endParaRPr lang="en-US" sz="900" dirty="0"/>
          </a:p>
        </p:txBody>
      </p:sp>
      <p:sp>
        <p:nvSpPr>
          <p:cNvPr id="8" name="Text 6"/>
          <p:cNvSpPr txBox="1"/>
          <p:nvPr/>
        </p:nvSpPr>
        <p:spPr>
          <a:xfrm>
            <a:off x="2157984" y="1682496"/>
            <a:ext cx="5943600" cy="347472"/>
          </a:xfrm>
          <a:prstGeom prst="rect">
            <a:avLst/>
          </a:prstGeom>
          <a:noFill/>
          <a:ln/>
        </p:spPr>
        <p:txBody>
          <a:bodyPr wrap="square" lIns="0" tIns="0" rIns="0" bIns="0" rtlCol="0" anchor="ctr"/>
          <a:lstStyle/>
          <a:p>
            <a:pPr algn="l" indent="0" marL="0">
              <a:buNone/>
            </a:pPr>
            <a:r>
              <a:rPr lang="en-US" sz="1600" b="1" dirty="0">
                <a:solidFill>
                  <a:srgbClr val="0B1B2E"/>
                </a:solidFill>
                <a:latin typeface="Arial" pitchFamily="34" charset="0"/>
                <a:ea typeface="Arial" pitchFamily="34" charset="-122"/>
                <a:cs typeface="Arial" pitchFamily="34" charset="-120"/>
              </a:rPr>
              <a:t>Azure raises prices on 1 February 2027</a:t>
            </a:r>
            <a:endParaRPr lang="en-US" sz="1600" dirty="0"/>
          </a:p>
        </p:txBody>
      </p:sp>
      <p:sp>
        <p:nvSpPr>
          <p:cNvPr id="9" name="Text 7"/>
          <p:cNvSpPr txBox="1"/>
          <p:nvPr/>
        </p:nvSpPr>
        <p:spPr>
          <a:xfrm>
            <a:off x="2157984" y="2048256"/>
            <a:ext cx="6035040" cy="457200"/>
          </a:xfrm>
          <a:prstGeom prst="rect">
            <a:avLst/>
          </a:prstGeom>
          <a:noFill/>
          <a:ln/>
        </p:spPr>
        <p:txBody>
          <a:bodyPr wrap="square" lIns="0" tIns="0" rIns="0" bIns="0" rtlCol="0" anchor="t"/>
          <a:lstStyle/>
          <a:p>
            <a:pPr algn="l" indent="0" marL="0">
              <a:buNone/>
            </a:pPr>
            <a:r>
              <a:rPr lang="en-US" sz="1150" dirty="0">
                <a:solidFill>
                  <a:srgbClr val="5B6B7E"/>
                </a:solidFill>
                <a:latin typeface="Arial" pitchFamily="34" charset="0"/>
                <a:ea typeface="Arial" pitchFamily="34" charset="-122"/>
                <a:cs typeface="Arial" pitchFamily="34" charset="-120"/>
              </a:rPr>
              <a:t>Microsoft is expected to lift on-demand VM pricing for v1 and v2 series by about 25%, with further regional increases in West EU, North EU, France, Norway and Singapore.</a:t>
            </a:r>
            <a:endParaRPr lang="en-US" sz="1150" dirty="0"/>
          </a:p>
        </p:txBody>
      </p:sp>
      <p:sp>
        <p:nvSpPr>
          <p:cNvPr id="10" name="Text 8"/>
          <p:cNvSpPr txBox="1"/>
          <p:nvPr/>
        </p:nvSpPr>
        <p:spPr>
          <a:xfrm>
            <a:off x="2157984" y="2523744"/>
            <a:ext cx="6035040" cy="274320"/>
          </a:xfrm>
          <a:prstGeom prst="rect">
            <a:avLst/>
          </a:prstGeom>
          <a:noFill/>
          <a:ln/>
        </p:spPr>
        <p:txBody>
          <a:bodyPr wrap="square" lIns="0" tIns="0" rIns="0" bIns="0" rtlCol="0" anchor="ctr"/>
          <a:lstStyle/>
          <a:p>
            <a:pPr algn="l" indent="0" marL="0">
              <a:buNone/>
            </a:pPr>
            <a:r>
              <a:rPr lang="en-US" sz="1100" b="1" dirty="0">
                <a:solidFill>
                  <a:srgbClr val="D7263D"/>
                </a:solidFill>
                <a:latin typeface="Arial" pitchFamily="34" charset="0"/>
                <a:ea typeface="Arial" pitchFamily="34" charset="-122"/>
                <a:cs typeface="Arial" pitchFamily="34" charset="-120"/>
              </a:rPr>
              <a:t>Mitigation: reservations lock today’s rate, so buy the RI pipeline before February.</a:t>
            </a:r>
            <a:endParaRPr lang="en-US" sz="1100" dirty="0"/>
          </a:p>
        </p:txBody>
      </p:sp>
      <p:sp>
        <p:nvSpPr>
          <p:cNvPr id="11" name="Text 9"/>
          <p:cNvSpPr txBox="1"/>
          <p:nvPr/>
        </p:nvSpPr>
        <p:spPr>
          <a:xfrm>
            <a:off x="8430768" y="1700784"/>
            <a:ext cx="2834640" cy="530352"/>
          </a:xfrm>
          <a:prstGeom prst="rect">
            <a:avLst/>
          </a:prstGeom>
          <a:noFill/>
          <a:ln/>
        </p:spPr>
        <p:txBody>
          <a:bodyPr wrap="square" lIns="0" tIns="0" rIns="0" bIns="0" rtlCol="0" anchor="ctr"/>
          <a:lstStyle/>
          <a:p>
            <a:pPr algn="r" indent="0" marL="0">
              <a:buNone/>
            </a:pPr>
            <a:r>
              <a:rPr lang="en-US" sz="2600" b="1" dirty="0">
                <a:solidFill>
                  <a:srgbClr val="0B1B2E"/>
                </a:solidFill>
                <a:latin typeface="Arial" pitchFamily="34" charset="0"/>
                <a:ea typeface="Arial" pitchFamily="34" charset="-122"/>
                <a:cs typeface="Arial" pitchFamily="34" charset="-120"/>
              </a:rPr>
              <a:t>+$4,700</a:t>
            </a:r>
            <a:endParaRPr lang="en-US" sz="2600" dirty="0"/>
          </a:p>
        </p:txBody>
      </p:sp>
      <p:sp>
        <p:nvSpPr>
          <p:cNvPr id="12" name="Text 10"/>
          <p:cNvSpPr txBox="1"/>
          <p:nvPr/>
        </p:nvSpPr>
        <p:spPr>
          <a:xfrm>
            <a:off x="8430768" y="2212848"/>
            <a:ext cx="2834640" cy="256032"/>
          </a:xfrm>
          <a:prstGeom prst="rect">
            <a:avLst/>
          </a:prstGeom>
          <a:noFill/>
          <a:ln/>
        </p:spPr>
        <p:txBody>
          <a:bodyPr wrap="square" lIns="0" tIns="0" rIns="0" bIns="0" rtlCol="0" anchor="ctr"/>
          <a:lstStyle/>
          <a:p>
            <a:pPr algn="r" indent="0" marL="0">
              <a:buNone/>
            </a:pPr>
            <a:r>
              <a:rPr lang="en-US" sz="1050" dirty="0">
                <a:solidFill>
                  <a:srgbClr val="5B6B7E"/>
                </a:solidFill>
                <a:latin typeface="Arial" pitchFamily="34" charset="0"/>
                <a:ea typeface="Arial" pitchFamily="34" charset="-122"/>
                <a:cs typeface="Arial" pitchFamily="34" charset="-120"/>
              </a:rPr>
              <a:t>per month</a:t>
            </a:r>
            <a:endParaRPr lang="en-US" sz="1050" dirty="0"/>
          </a:p>
        </p:txBody>
      </p:sp>
      <p:sp>
        <p:nvSpPr>
          <p:cNvPr id="13" name="Text 11"/>
          <p:cNvSpPr txBox="1"/>
          <p:nvPr/>
        </p:nvSpPr>
        <p:spPr>
          <a:xfrm>
            <a:off x="8430768" y="2468880"/>
            <a:ext cx="2834640" cy="237744"/>
          </a:xfrm>
          <a:prstGeom prst="rect">
            <a:avLst/>
          </a:prstGeom>
          <a:noFill/>
          <a:ln/>
        </p:spPr>
        <p:txBody>
          <a:bodyPr wrap="square" lIns="0" tIns="0" rIns="0" bIns="0" rtlCol="0" anchor="ctr"/>
          <a:lstStyle/>
          <a:p>
            <a:pPr algn="r" indent="0" marL="0">
              <a:buNone/>
            </a:pPr>
            <a:r>
              <a:rPr lang="en-US" sz="1100" b="1" dirty="0">
                <a:solidFill>
                  <a:srgbClr val="D7263D"/>
                </a:solidFill>
                <a:latin typeface="Arial" pitchFamily="34" charset="0"/>
                <a:ea typeface="Arial" pitchFamily="34" charset="-122"/>
                <a:cs typeface="Arial" pitchFamily="34" charset="-120"/>
              </a:rPr>
              <a:t>+$56,400 a year</a:t>
            </a:r>
            <a:endParaRPr lang="en-US" sz="1100" dirty="0"/>
          </a:p>
        </p:txBody>
      </p:sp>
      <p:sp>
        <p:nvSpPr>
          <p:cNvPr id="14" name="Text 12"/>
          <p:cNvSpPr txBox="1"/>
          <p:nvPr/>
        </p:nvSpPr>
        <p:spPr>
          <a:xfrm>
            <a:off x="8430768" y="2670048"/>
            <a:ext cx="2834640" cy="219456"/>
          </a:xfrm>
          <a:prstGeom prst="rect">
            <a:avLst/>
          </a:prstGeom>
          <a:noFill/>
          <a:ln/>
        </p:spPr>
        <p:txBody>
          <a:bodyPr wrap="square" lIns="0" tIns="0" rIns="0" bIns="0" rtlCol="0" anchor="ctr"/>
          <a:lstStyle/>
          <a:p>
            <a:pPr algn="r" indent="0" marL="0">
              <a:buNone/>
            </a:pPr>
            <a:r>
              <a:rPr lang="en-US" sz="950" dirty="0">
                <a:solidFill>
                  <a:srgbClr val="5B6B7E"/>
                </a:solidFill>
                <a:latin typeface="Arial" pitchFamily="34" charset="0"/>
                <a:ea typeface="Arial" pitchFamily="34" charset="-122"/>
                <a:cs typeface="Arial" pitchFamily="34" charset="-120"/>
              </a:rPr>
              <a:t>Estimated on September usage</a:t>
            </a:r>
            <a:endParaRPr lang="en-US" sz="950" dirty="0"/>
          </a:p>
        </p:txBody>
      </p:sp>
      <p:sp>
        <p:nvSpPr>
          <p:cNvPr id="15" name="risk-1"/>
          <p:cNvSpPr/>
          <p:nvPr/>
        </p:nvSpPr>
        <p:spPr>
          <a:xfrm>
            <a:off x="566928" y="3035808"/>
            <a:ext cx="11057839" cy="1371600"/>
          </a:xfrm>
          <a:prstGeom prst="roundRect">
            <a:avLst>
              <a:gd name="adj" fmla="val 4000"/>
            </a:avLst>
          </a:prstGeom>
          <a:solidFill>
            <a:srgbClr val="EEF2F7"/>
          </a:solidFill>
          <a:ln/>
        </p:spPr>
      </p:sp>
      <p:sp>
        <p:nvSpPr>
          <p:cNvPr id="16" name="chip"/>
          <p:cNvSpPr/>
          <p:nvPr/>
        </p:nvSpPr>
        <p:spPr>
          <a:xfrm>
            <a:off x="841248" y="3255264"/>
            <a:ext cx="1133856" cy="256032"/>
          </a:xfrm>
          <a:prstGeom prst="roundRect">
            <a:avLst>
              <a:gd name="adj" fmla="val 42857"/>
            </a:avLst>
          </a:prstGeom>
          <a:solidFill>
            <a:srgbClr val="F2A900"/>
          </a:solidFill>
          <a:ln/>
        </p:spPr>
      </p:sp>
      <p:sp>
        <p:nvSpPr>
          <p:cNvPr id="17" name="Text 15"/>
          <p:cNvSpPr txBox="1"/>
          <p:nvPr/>
        </p:nvSpPr>
        <p:spPr>
          <a:xfrm>
            <a:off x="841248" y="3255264"/>
            <a:ext cx="1133856"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COMMITMENT</a:t>
            </a:r>
            <a:endParaRPr lang="en-US" sz="900" dirty="0"/>
          </a:p>
        </p:txBody>
      </p:sp>
      <p:sp>
        <p:nvSpPr>
          <p:cNvPr id="18" name="Text 16"/>
          <p:cNvSpPr txBox="1"/>
          <p:nvPr/>
        </p:nvSpPr>
        <p:spPr>
          <a:xfrm>
            <a:off x="2157984" y="3200400"/>
            <a:ext cx="5943600" cy="347472"/>
          </a:xfrm>
          <a:prstGeom prst="rect">
            <a:avLst/>
          </a:prstGeom>
          <a:noFill/>
          <a:ln/>
        </p:spPr>
        <p:txBody>
          <a:bodyPr wrap="square" lIns="0" tIns="0" rIns="0" bIns="0" rtlCol="0" anchor="ctr"/>
          <a:lstStyle/>
          <a:p>
            <a:pPr algn="l" indent="0" marL="0">
              <a:buNone/>
            </a:pPr>
            <a:r>
              <a:rPr lang="en-US" sz="1600" b="1" dirty="0">
                <a:solidFill>
                  <a:srgbClr val="0B1B2E"/>
                </a:solidFill>
                <a:latin typeface="Arial" pitchFamily="34" charset="0"/>
                <a:ea typeface="Arial" pitchFamily="34" charset="-122"/>
                <a:cs typeface="Arial" pitchFamily="34" charset="-120"/>
              </a:rPr>
              <a:t>The Databricks commitment runs out two years early</a:t>
            </a:r>
            <a:endParaRPr lang="en-US" sz="1600" dirty="0"/>
          </a:p>
        </p:txBody>
      </p:sp>
      <p:sp>
        <p:nvSpPr>
          <p:cNvPr id="19" name="Text 17"/>
          <p:cNvSpPr txBox="1"/>
          <p:nvPr/>
        </p:nvSpPr>
        <p:spPr>
          <a:xfrm>
            <a:off x="2157984" y="3566160"/>
            <a:ext cx="6035040" cy="457200"/>
          </a:xfrm>
          <a:prstGeom prst="rect">
            <a:avLst/>
          </a:prstGeom>
          <a:noFill/>
          <a:ln/>
        </p:spPr>
        <p:txBody>
          <a:bodyPr wrap="square" lIns="0" tIns="0" rIns="0" bIns="0" rtlCol="0" anchor="t"/>
          <a:lstStyle/>
          <a:p>
            <a:pPr algn="l" indent="0" marL="0">
              <a:buNone/>
            </a:pPr>
            <a:r>
              <a:rPr lang="en-US" sz="1150" dirty="0">
                <a:solidFill>
                  <a:srgbClr val="5B6B7E"/>
                </a:solidFill>
                <a:latin typeface="Arial" pitchFamily="34" charset="0"/>
                <a:ea typeface="Arial" pitchFamily="34" charset="-122"/>
                <a:cs typeface="Arial" pitchFamily="34" charset="-120"/>
              </a:rPr>
              <a:t>29% of the 600,000 prepaid DBU hours were consumed in the first five months of a thirty-six month term. At that rate the $504K commitment is exhausted around September 2027.</a:t>
            </a:r>
            <a:endParaRPr lang="en-US" sz="1150" dirty="0"/>
          </a:p>
        </p:txBody>
      </p:sp>
      <p:sp>
        <p:nvSpPr>
          <p:cNvPr id="20" name="Text 18"/>
          <p:cNvSpPr txBox="1"/>
          <p:nvPr/>
        </p:nvSpPr>
        <p:spPr>
          <a:xfrm>
            <a:off x="2157984" y="4041648"/>
            <a:ext cx="6035040" cy="274320"/>
          </a:xfrm>
          <a:prstGeom prst="rect">
            <a:avLst/>
          </a:prstGeom>
          <a:noFill/>
          <a:ln/>
        </p:spPr>
        <p:txBody>
          <a:bodyPr wrap="square" lIns="0" tIns="0" rIns="0" bIns="0" rtlCol="0" anchor="ctr"/>
          <a:lstStyle/>
          <a:p>
            <a:pPr algn="l" indent="0" marL="0">
              <a:buNone/>
            </a:pPr>
            <a:r>
              <a:rPr lang="en-US" sz="1100" b="1" dirty="0">
                <a:solidFill>
                  <a:srgbClr val="F2A900"/>
                </a:solidFill>
                <a:latin typeface="Arial" pitchFamily="34" charset="0"/>
                <a:ea typeface="Arial" pitchFamily="34" charset="-122"/>
                <a:cs typeface="Arial" pitchFamily="34" charset="-120"/>
              </a:rPr>
              <a:t>Decision: top up in FY2027, or rebalance Classic and Serverless to extend the term.</a:t>
            </a:r>
            <a:endParaRPr lang="en-US" sz="1100" dirty="0"/>
          </a:p>
        </p:txBody>
      </p:sp>
      <p:sp>
        <p:nvSpPr>
          <p:cNvPr id="21" name="Text 19"/>
          <p:cNvSpPr txBox="1"/>
          <p:nvPr/>
        </p:nvSpPr>
        <p:spPr>
          <a:xfrm>
            <a:off x="8430768" y="3218688"/>
            <a:ext cx="2834640" cy="530352"/>
          </a:xfrm>
          <a:prstGeom prst="rect">
            <a:avLst/>
          </a:prstGeom>
          <a:noFill/>
          <a:ln/>
        </p:spPr>
        <p:txBody>
          <a:bodyPr wrap="square" lIns="0" tIns="0" rIns="0" bIns="0" rtlCol="0" anchor="ctr"/>
          <a:lstStyle/>
          <a:p>
            <a:pPr algn="r" indent="0" marL="0">
              <a:buNone/>
            </a:pPr>
            <a:r>
              <a:rPr lang="en-US" sz="2600" b="1" dirty="0">
                <a:solidFill>
                  <a:srgbClr val="0B1B2E"/>
                </a:solidFill>
                <a:latin typeface="Arial" pitchFamily="34" charset="0"/>
                <a:ea typeface="Arial" pitchFamily="34" charset="-122"/>
                <a:cs typeface="Arial" pitchFamily="34" charset="-120"/>
              </a:rPr>
              <a:t>Sep 2027</a:t>
            </a:r>
            <a:endParaRPr lang="en-US" sz="2600" dirty="0"/>
          </a:p>
        </p:txBody>
      </p:sp>
      <p:sp>
        <p:nvSpPr>
          <p:cNvPr id="22" name="Text 20"/>
          <p:cNvSpPr txBox="1"/>
          <p:nvPr/>
        </p:nvSpPr>
        <p:spPr>
          <a:xfrm>
            <a:off x="8430768" y="3730752"/>
            <a:ext cx="2834640" cy="256032"/>
          </a:xfrm>
          <a:prstGeom prst="rect">
            <a:avLst/>
          </a:prstGeom>
          <a:noFill/>
          <a:ln/>
        </p:spPr>
        <p:txBody>
          <a:bodyPr wrap="square" lIns="0" tIns="0" rIns="0" bIns="0" rtlCol="0" anchor="ctr"/>
          <a:lstStyle/>
          <a:p>
            <a:pPr algn="r" indent="0" marL="0">
              <a:buNone/>
            </a:pPr>
            <a:r>
              <a:rPr lang="en-US" sz="1050" dirty="0">
                <a:solidFill>
                  <a:srgbClr val="5B6B7E"/>
                </a:solidFill>
                <a:latin typeface="Arial" pitchFamily="34" charset="0"/>
                <a:ea typeface="Arial" pitchFamily="34" charset="-122"/>
                <a:cs typeface="Arial" pitchFamily="34" charset="-120"/>
              </a:rPr>
              <a:t>projected exhaustion</a:t>
            </a:r>
            <a:endParaRPr lang="en-US" sz="1050" dirty="0"/>
          </a:p>
        </p:txBody>
      </p:sp>
      <p:sp>
        <p:nvSpPr>
          <p:cNvPr id="23" name="Text 21"/>
          <p:cNvSpPr txBox="1"/>
          <p:nvPr/>
        </p:nvSpPr>
        <p:spPr>
          <a:xfrm>
            <a:off x="8430768" y="3986784"/>
            <a:ext cx="2834640" cy="237744"/>
          </a:xfrm>
          <a:prstGeom prst="rect">
            <a:avLst/>
          </a:prstGeom>
          <a:noFill/>
          <a:ln/>
        </p:spPr>
        <p:txBody>
          <a:bodyPr wrap="square" lIns="0" tIns="0" rIns="0" bIns="0" rtlCol="0" anchor="ctr"/>
          <a:lstStyle/>
          <a:p>
            <a:pPr algn="r" indent="0" marL="0">
              <a:buNone/>
            </a:pPr>
            <a:r>
              <a:rPr lang="en-US" sz="1100" b="1" dirty="0">
                <a:solidFill>
                  <a:srgbClr val="F2A900"/>
                </a:solidFill>
                <a:latin typeface="Arial" pitchFamily="34" charset="0"/>
                <a:ea typeface="Arial" pitchFamily="34" charset="-122"/>
                <a:cs typeface="Arial" pitchFamily="34" charset="-120"/>
              </a:rPr>
              <a:t>$504K prepaid</a:t>
            </a:r>
            <a:endParaRPr lang="en-US" sz="1100" dirty="0"/>
          </a:p>
        </p:txBody>
      </p:sp>
      <p:sp>
        <p:nvSpPr>
          <p:cNvPr id="24" name="Text 22"/>
          <p:cNvSpPr txBox="1"/>
          <p:nvPr/>
        </p:nvSpPr>
        <p:spPr>
          <a:xfrm>
            <a:off x="8430768" y="4187952"/>
            <a:ext cx="2834640" cy="219456"/>
          </a:xfrm>
          <a:prstGeom prst="rect">
            <a:avLst/>
          </a:prstGeom>
          <a:noFill/>
          <a:ln/>
        </p:spPr>
        <p:txBody>
          <a:bodyPr wrap="square" lIns="0" tIns="0" rIns="0" bIns="0" rtlCol="0" anchor="ctr"/>
          <a:lstStyle/>
          <a:p>
            <a:pPr algn="r" indent="0" marL="0">
              <a:buNone/>
            </a:pPr>
            <a:r>
              <a:rPr lang="en-US" sz="950" dirty="0">
                <a:solidFill>
                  <a:srgbClr val="5B6B7E"/>
                </a:solidFill>
                <a:latin typeface="Arial" pitchFamily="34" charset="0"/>
                <a:ea typeface="Arial" pitchFamily="34" charset="-122"/>
                <a:cs typeface="Arial" pitchFamily="34" charset="-120"/>
              </a:rPr>
              <a:t>29% consumed to date</a:t>
            </a:r>
            <a:endParaRPr lang="en-US" sz="950" dirty="0"/>
          </a:p>
        </p:txBody>
      </p:sp>
      <p:sp>
        <p:nvSpPr>
          <p:cNvPr id="25" name="risk-2"/>
          <p:cNvSpPr/>
          <p:nvPr/>
        </p:nvSpPr>
        <p:spPr>
          <a:xfrm>
            <a:off x="566928" y="4553712"/>
            <a:ext cx="11057839" cy="1371600"/>
          </a:xfrm>
          <a:prstGeom prst="roundRect">
            <a:avLst>
              <a:gd name="adj" fmla="val 4000"/>
            </a:avLst>
          </a:prstGeom>
          <a:solidFill>
            <a:srgbClr val="EEF2F7"/>
          </a:solidFill>
          <a:ln/>
        </p:spPr>
      </p:sp>
      <p:sp>
        <p:nvSpPr>
          <p:cNvPr id="26" name="chip"/>
          <p:cNvSpPr/>
          <p:nvPr/>
        </p:nvSpPr>
        <p:spPr>
          <a:xfrm>
            <a:off x="841248" y="4773168"/>
            <a:ext cx="1133856" cy="256032"/>
          </a:xfrm>
          <a:prstGeom prst="roundRect">
            <a:avLst>
              <a:gd name="adj" fmla="val 42857"/>
            </a:avLst>
          </a:prstGeom>
          <a:solidFill>
            <a:srgbClr val="7C5CFF"/>
          </a:solidFill>
          <a:ln/>
        </p:spPr>
      </p:sp>
      <p:sp>
        <p:nvSpPr>
          <p:cNvPr id="27" name="Text 25"/>
          <p:cNvSpPr txBox="1"/>
          <p:nvPr/>
        </p:nvSpPr>
        <p:spPr>
          <a:xfrm>
            <a:off x="841248" y="4773168"/>
            <a:ext cx="1133856"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AI RUN-RATE</a:t>
            </a:r>
            <a:endParaRPr lang="en-US" sz="900" dirty="0"/>
          </a:p>
        </p:txBody>
      </p:sp>
      <p:sp>
        <p:nvSpPr>
          <p:cNvPr id="28" name="Text 26"/>
          <p:cNvSpPr txBox="1"/>
          <p:nvPr/>
        </p:nvSpPr>
        <p:spPr>
          <a:xfrm>
            <a:off x="2157984" y="4718304"/>
            <a:ext cx="5943600" cy="347472"/>
          </a:xfrm>
          <a:prstGeom prst="rect">
            <a:avLst/>
          </a:prstGeom>
          <a:noFill/>
          <a:ln/>
        </p:spPr>
        <p:txBody>
          <a:bodyPr wrap="square" lIns="0" tIns="0" rIns="0" bIns="0" rtlCol="0" anchor="ctr"/>
          <a:lstStyle/>
          <a:p>
            <a:pPr algn="l" indent="0" marL="0">
              <a:buNone/>
            </a:pPr>
            <a:r>
              <a:rPr lang="en-US" sz="1600" b="1" dirty="0">
                <a:solidFill>
                  <a:srgbClr val="0B1B2E"/>
                </a:solidFill>
                <a:latin typeface="Arial" pitchFamily="34" charset="0"/>
                <a:ea typeface="Arial" pitchFamily="34" charset="-122"/>
                <a:cs typeface="Arial" pitchFamily="34" charset="-120"/>
              </a:rPr>
              <a:t>AI spend has no ceiling yet</a:t>
            </a:r>
            <a:endParaRPr lang="en-US" sz="1600" dirty="0"/>
          </a:p>
        </p:txBody>
      </p:sp>
      <p:sp>
        <p:nvSpPr>
          <p:cNvPr id="29" name="Text 27"/>
          <p:cNvSpPr txBox="1"/>
          <p:nvPr/>
        </p:nvSpPr>
        <p:spPr>
          <a:xfrm>
            <a:off x="2157984" y="5084064"/>
            <a:ext cx="6035040" cy="457200"/>
          </a:xfrm>
          <a:prstGeom prst="rect">
            <a:avLst/>
          </a:prstGeom>
          <a:noFill/>
          <a:ln/>
        </p:spPr>
        <p:txBody>
          <a:bodyPr wrap="square" lIns="0" tIns="0" rIns="0" bIns="0" rtlCol="0" anchor="t"/>
          <a:lstStyle/>
          <a:p>
            <a:pPr algn="l" indent="0" marL="0">
              <a:buNone/>
            </a:pPr>
            <a:r>
              <a:rPr lang="en-US" sz="1150" dirty="0">
                <a:solidFill>
                  <a:srgbClr val="5B6B7E"/>
                </a:solidFill>
                <a:latin typeface="Arial" pitchFamily="34" charset="0"/>
                <a:ea typeface="Arial" pitchFamily="34" charset="-122"/>
                <a:cs typeface="Arial" pitchFamily="34" charset="-120"/>
              </a:rPr>
              <a:t>AI reached $102K in September and is still climbing. Only GitHub AI credit has a budget with a hard stop; Foundry and Bedrock have neither a cap nor a quota.</a:t>
            </a:r>
            <a:endParaRPr lang="en-US" sz="1150" dirty="0"/>
          </a:p>
        </p:txBody>
      </p:sp>
      <p:sp>
        <p:nvSpPr>
          <p:cNvPr id="30" name="Text 28"/>
          <p:cNvSpPr txBox="1"/>
          <p:nvPr/>
        </p:nvSpPr>
        <p:spPr>
          <a:xfrm>
            <a:off x="2157984" y="5559552"/>
            <a:ext cx="6035040" cy="274320"/>
          </a:xfrm>
          <a:prstGeom prst="rect">
            <a:avLst/>
          </a:prstGeom>
          <a:noFill/>
          <a:ln/>
        </p:spPr>
        <p:txBody>
          <a:bodyPr wrap="square" lIns="0" tIns="0" rIns="0" bIns="0" rtlCol="0" anchor="ctr"/>
          <a:lstStyle/>
          <a:p>
            <a:pPr algn="l" indent="0" marL="0">
              <a:buNone/>
            </a:pPr>
            <a:r>
              <a:rPr lang="en-US" sz="1100" b="1" dirty="0">
                <a:solidFill>
                  <a:srgbClr val="7C5CFF"/>
                </a:solidFill>
                <a:latin typeface="Arial" pitchFamily="34" charset="0"/>
                <a:ea typeface="Arial" pitchFamily="34" charset="-122"/>
                <a:cs typeface="Arial" pitchFamily="34" charset="-120"/>
              </a:rPr>
              <a:t>Mitigation: extend the GitHub budget pattern to Foundry and Bedrock.</a:t>
            </a:r>
            <a:endParaRPr lang="en-US" sz="1100" dirty="0"/>
          </a:p>
        </p:txBody>
      </p:sp>
      <p:sp>
        <p:nvSpPr>
          <p:cNvPr id="31" name="Text 29"/>
          <p:cNvSpPr txBox="1"/>
          <p:nvPr/>
        </p:nvSpPr>
        <p:spPr>
          <a:xfrm>
            <a:off x="8430768" y="4736592"/>
            <a:ext cx="2834640" cy="530352"/>
          </a:xfrm>
          <a:prstGeom prst="rect">
            <a:avLst/>
          </a:prstGeom>
          <a:noFill/>
          <a:ln/>
        </p:spPr>
        <p:txBody>
          <a:bodyPr wrap="square" lIns="0" tIns="0" rIns="0" bIns="0" rtlCol="0" anchor="ctr"/>
          <a:lstStyle/>
          <a:p>
            <a:pPr algn="r" indent="0" marL="0">
              <a:buNone/>
            </a:pPr>
            <a:r>
              <a:rPr lang="en-US" sz="2600" b="1" dirty="0">
                <a:solidFill>
                  <a:srgbClr val="0B1B2E"/>
                </a:solidFill>
                <a:latin typeface="Arial" pitchFamily="34" charset="0"/>
                <a:ea typeface="Arial" pitchFamily="34" charset="-122"/>
                <a:cs typeface="Arial" pitchFamily="34" charset="-120"/>
              </a:rPr>
              <a:t>$1.22M</a:t>
            </a:r>
            <a:endParaRPr lang="en-US" sz="2600" dirty="0"/>
          </a:p>
        </p:txBody>
      </p:sp>
      <p:sp>
        <p:nvSpPr>
          <p:cNvPr id="32" name="Text 30"/>
          <p:cNvSpPr txBox="1"/>
          <p:nvPr/>
        </p:nvSpPr>
        <p:spPr>
          <a:xfrm>
            <a:off x="8430768" y="5248656"/>
            <a:ext cx="2834640" cy="256032"/>
          </a:xfrm>
          <a:prstGeom prst="rect">
            <a:avLst/>
          </a:prstGeom>
          <a:noFill/>
          <a:ln/>
        </p:spPr>
        <p:txBody>
          <a:bodyPr wrap="square" lIns="0" tIns="0" rIns="0" bIns="0" rtlCol="0" anchor="ctr"/>
          <a:lstStyle/>
          <a:p>
            <a:pPr algn="r" indent="0" marL="0">
              <a:buNone/>
            </a:pPr>
            <a:r>
              <a:rPr lang="en-US" sz="1050" dirty="0">
                <a:solidFill>
                  <a:srgbClr val="5B6B7E"/>
                </a:solidFill>
                <a:latin typeface="Arial" pitchFamily="34" charset="0"/>
                <a:ea typeface="Arial" pitchFamily="34" charset="-122"/>
                <a:cs typeface="Arial" pitchFamily="34" charset="-120"/>
              </a:rPr>
              <a:t>annualised at Sep run-rate</a:t>
            </a:r>
            <a:endParaRPr lang="en-US" sz="1050" dirty="0"/>
          </a:p>
        </p:txBody>
      </p:sp>
      <p:sp>
        <p:nvSpPr>
          <p:cNvPr id="33" name="Text 31"/>
          <p:cNvSpPr txBox="1"/>
          <p:nvPr/>
        </p:nvSpPr>
        <p:spPr>
          <a:xfrm>
            <a:off x="8430768" y="5504688"/>
            <a:ext cx="2834640" cy="237744"/>
          </a:xfrm>
          <a:prstGeom prst="rect">
            <a:avLst/>
          </a:prstGeom>
          <a:noFill/>
          <a:ln/>
        </p:spPr>
        <p:txBody>
          <a:bodyPr wrap="square" lIns="0" tIns="0" rIns="0" bIns="0" rtlCol="0" anchor="ctr"/>
          <a:lstStyle/>
          <a:p>
            <a:pPr algn="r" indent="0" marL="0">
              <a:buNone/>
            </a:pPr>
            <a:r>
              <a:rPr lang="en-US" sz="1100" b="1" dirty="0">
                <a:solidFill>
                  <a:srgbClr val="7C5CFF"/>
                </a:solidFill>
                <a:latin typeface="Arial" pitchFamily="34" charset="0"/>
                <a:ea typeface="Arial" pitchFamily="34" charset="-122"/>
                <a:cs typeface="Arial" pitchFamily="34" charset="-120"/>
              </a:rPr>
              <a:t>eleven-fold since January</a:t>
            </a:r>
            <a:endParaRPr lang="en-US" sz="1100" dirty="0"/>
          </a:p>
        </p:txBody>
      </p:sp>
      <p:sp>
        <p:nvSpPr>
          <p:cNvPr id="34" name="Text 32"/>
          <p:cNvSpPr txBox="1"/>
          <p:nvPr/>
        </p:nvSpPr>
        <p:spPr>
          <a:xfrm>
            <a:off x="8430768" y="5705856"/>
            <a:ext cx="2834640" cy="219456"/>
          </a:xfrm>
          <a:prstGeom prst="rect">
            <a:avLst/>
          </a:prstGeom>
          <a:noFill/>
          <a:ln/>
        </p:spPr>
        <p:txBody>
          <a:bodyPr wrap="square" lIns="0" tIns="0" rIns="0" bIns="0" rtlCol="0" anchor="ctr"/>
          <a:lstStyle/>
          <a:p>
            <a:pPr algn="r" indent="0" marL="0">
              <a:buNone/>
            </a:pPr>
            <a:r>
              <a:rPr lang="en-US" sz="950" dirty="0">
                <a:solidFill>
                  <a:srgbClr val="5B6B7E"/>
                </a:solidFill>
                <a:latin typeface="Arial" pitchFamily="34" charset="0"/>
                <a:ea typeface="Arial" pitchFamily="34" charset="-122"/>
                <a:cs typeface="Arial" pitchFamily="34" charset="-120"/>
              </a:rPr>
              <a:t>34% of all consumption</a:t>
            </a:r>
            <a:endParaRPr lang="en-US" sz="95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F7DC2"/>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ROADMAP</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The FinOps workplan for the next two quarters</a:t>
            </a:r>
            <a:endParaRPr lang="en-US" sz="2800" dirty="0"/>
          </a:p>
        </p:txBody>
      </p:sp>
      <p:sp>
        <p:nvSpPr>
          <p:cNvPr id="5" name="Text 3"/>
          <p:cNvSpPr txBox="1"/>
          <p:nvPr/>
        </p:nvSpPr>
        <p:spPr>
          <a:xfrm>
            <a:off x="4443984" y="1481328"/>
            <a:ext cx="6656832" cy="274320"/>
          </a:xfrm>
          <a:prstGeom prst="rect">
            <a:avLst/>
          </a:prstGeom>
          <a:noFill/>
          <a:ln/>
        </p:spPr>
        <p:txBody>
          <a:bodyPr wrap="square" lIns="0" tIns="0" rIns="0" bIns="0" rtlCol="0" anchor="ctr"/>
          <a:lstStyle/>
          <a:p>
            <a:pPr rtl="1" algn="r" indent="0" marL="0">
              <a:buNone/>
            </a:pPr>
            <a:r>
              <a:rPr lang="en-US" sz="1050" b="1" spc="80" kern="0" dirty="0">
                <a:solidFill>
                  <a:srgbClr val="5B6B7E"/>
                </a:solidFill>
                <a:latin typeface="Arial" pitchFamily="34" charset="0"/>
                <a:ea typeface="Arial" pitchFamily="34" charset="-122"/>
                <a:cs typeface="Arial" pitchFamily="34" charset="-120"/>
              </a:rPr>
              <a:t>משימה</a:t>
            </a:r>
            <a:endParaRPr lang="en-US" sz="1050" dirty="0"/>
          </a:p>
        </p:txBody>
      </p:sp>
      <p:sp>
        <p:nvSpPr>
          <p:cNvPr id="6" name="Text 4"/>
          <p:cNvSpPr txBox="1"/>
          <p:nvPr/>
        </p:nvSpPr>
        <p:spPr>
          <a:xfrm>
            <a:off x="2962656" y="1481328"/>
            <a:ext cx="1325880" cy="274320"/>
          </a:xfrm>
          <a:prstGeom prst="rect">
            <a:avLst/>
          </a:prstGeom>
          <a:noFill/>
          <a:ln/>
        </p:spPr>
        <p:txBody>
          <a:bodyPr wrap="square" lIns="0" tIns="0" rIns="0" bIns="0" rtlCol="0" anchor="ctr"/>
          <a:lstStyle/>
          <a:p>
            <a:pPr rtl="1" algn="ctr" indent="0" marL="0">
              <a:buNone/>
            </a:pPr>
            <a:r>
              <a:rPr lang="en-US" sz="1050" b="1" spc="80" kern="0" dirty="0">
                <a:solidFill>
                  <a:srgbClr val="5B6B7E"/>
                </a:solidFill>
                <a:latin typeface="Arial" pitchFamily="34" charset="0"/>
                <a:ea typeface="Arial" pitchFamily="34" charset="-122"/>
                <a:cs typeface="Arial" pitchFamily="34" charset="-120"/>
              </a:rPr>
              <a:t>סטטוס</a:t>
            </a:r>
            <a:endParaRPr lang="en-US" sz="1050" dirty="0"/>
          </a:p>
        </p:txBody>
      </p:sp>
      <p:sp>
        <p:nvSpPr>
          <p:cNvPr id="7" name="Text 5"/>
          <p:cNvSpPr txBox="1"/>
          <p:nvPr/>
        </p:nvSpPr>
        <p:spPr>
          <a:xfrm>
            <a:off x="566928" y="1481328"/>
            <a:ext cx="2194560" cy="274320"/>
          </a:xfrm>
          <a:prstGeom prst="rect">
            <a:avLst/>
          </a:prstGeom>
          <a:noFill/>
          <a:ln/>
        </p:spPr>
        <p:txBody>
          <a:bodyPr wrap="square" lIns="0" tIns="0" rIns="0" bIns="0" rtlCol="0" anchor="ctr"/>
          <a:lstStyle/>
          <a:p>
            <a:pPr rtl="1" algn="r" indent="0" marL="0">
              <a:buNone/>
            </a:pPr>
            <a:r>
              <a:rPr lang="en-US" sz="1050" b="1" spc="80" kern="0" dirty="0">
                <a:solidFill>
                  <a:srgbClr val="5B6B7E"/>
                </a:solidFill>
                <a:latin typeface="Arial" pitchFamily="34" charset="0"/>
                <a:ea typeface="Arial" pitchFamily="34" charset="-122"/>
                <a:cs typeface="Arial" pitchFamily="34" charset="-120"/>
              </a:rPr>
              <a:t>אחראי</a:t>
            </a:r>
            <a:endParaRPr lang="en-US" sz="1050" dirty="0"/>
          </a:p>
        </p:txBody>
      </p:sp>
      <p:sp>
        <p:nvSpPr>
          <p:cNvPr id="8" name="road-0"/>
          <p:cNvSpPr/>
          <p:nvPr/>
        </p:nvSpPr>
        <p:spPr>
          <a:xfrm>
            <a:off x="566928" y="1792224"/>
            <a:ext cx="11057839" cy="786384"/>
          </a:xfrm>
          <a:prstGeom prst="roundRect">
            <a:avLst>
              <a:gd name="adj" fmla="val 6977"/>
            </a:avLst>
          </a:prstGeom>
          <a:solidFill>
            <a:srgbClr val="F6F8FB"/>
          </a:solidFill>
          <a:ln/>
        </p:spPr>
      </p:sp>
      <p:sp>
        <p:nvSpPr>
          <p:cNvPr id="9" name="road-badge-0"/>
          <p:cNvSpPr/>
          <p:nvPr/>
        </p:nvSpPr>
        <p:spPr>
          <a:xfrm>
            <a:off x="11274552" y="2011680"/>
            <a:ext cx="329184" cy="329184"/>
          </a:xfrm>
          <a:prstGeom prst="ellipse">
            <a:avLst/>
          </a:prstGeom>
          <a:solidFill>
            <a:srgbClr val="0B1B2E"/>
          </a:solidFill>
          <a:ln/>
        </p:spPr>
      </p:sp>
      <p:sp>
        <p:nvSpPr>
          <p:cNvPr id="10" name="Text 8"/>
          <p:cNvSpPr txBox="1"/>
          <p:nvPr/>
        </p:nvSpPr>
        <p:spPr>
          <a:xfrm>
            <a:off x="11274552" y="20116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1" name="Text 9"/>
          <p:cNvSpPr txBox="1"/>
          <p:nvPr/>
        </p:nvSpPr>
        <p:spPr>
          <a:xfrm>
            <a:off x="4443984" y="1883664"/>
            <a:ext cx="6656832" cy="310896"/>
          </a:xfrm>
          <a:prstGeom prst="rect">
            <a:avLst/>
          </a:prstGeom>
          <a:noFill/>
          <a:ln/>
        </p:spPr>
        <p:txBody>
          <a:bodyPr wrap="square" lIns="0" tIns="0" rIns="0" bIns="0" rtlCol="0" anchor="ctr"/>
          <a:lstStyle/>
          <a:p>
            <a:pPr rtl="1" algn="r" indent="0" marL="0">
              <a:buNone/>
            </a:pPr>
            <a:r>
              <a:rPr lang="en-US" sz="1450" b="1" dirty="0">
                <a:solidFill>
                  <a:srgbClr val="0B1B2E"/>
                </a:solidFill>
                <a:latin typeface="Arial" pitchFamily="34" charset="0"/>
                <a:ea typeface="Arial" pitchFamily="34" charset="-122"/>
                <a:cs typeface="Arial" pitchFamily="34" charset="-120"/>
              </a:rPr>
              <a:t>פרויקט חיסכון והתייעלות</a:t>
            </a:r>
            <a:endParaRPr lang="en-US" sz="1450" dirty="0"/>
          </a:p>
        </p:txBody>
      </p:sp>
      <p:sp>
        <p:nvSpPr>
          <p:cNvPr id="12" name="Text 10"/>
          <p:cNvSpPr txBox="1"/>
          <p:nvPr/>
        </p:nvSpPr>
        <p:spPr>
          <a:xfrm>
            <a:off x="4443984" y="2194560"/>
            <a:ext cx="6656832" cy="402336"/>
          </a:xfrm>
          <a:prstGeom prst="rect">
            <a:avLst/>
          </a:prstGeom>
          <a:noFill/>
          <a:ln/>
        </p:spPr>
        <p:txBody>
          <a:bodyPr wrap="square" lIns="0" tIns="0" rIns="0" bIns="0" rtlCol="0" anchor="t"/>
          <a:lstStyle/>
          <a:p>
            <a:pPr rtl="1" algn="r" indent="0" marL="0">
              <a:buNone/>
            </a:pPr>
            <a:r>
              <a:rPr lang="en-US" sz="1150" dirty="0">
                <a:solidFill>
                  <a:srgbClr val="5B6B7E"/>
                </a:solidFill>
                <a:latin typeface="Arial" pitchFamily="34" charset="0"/>
                <a:ea typeface="Arial" pitchFamily="34" charset="-122"/>
                <a:cs typeface="Arial" pitchFamily="34" charset="-120"/>
              </a:rPr>
              <a:t>מימוש תכנית החיסכון: ⁦Rightsizing, Auto Shutdown, Reserved Instances⁩</a:t>
            </a:r>
            <a:endParaRPr lang="en-US" sz="1150" dirty="0"/>
          </a:p>
        </p:txBody>
      </p:sp>
      <p:sp>
        <p:nvSpPr>
          <p:cNvPr id="13" name="road-chip-0"/>
          <p:cNvSpPr/>
          <p:nvPr/>
        </p:nvSpPr>
        <p:spPr>
          <a:xfrm>
            <a:off x="2962656" y="2066544"/>
            <a:ext cx="1325880" cy="292608"/>
          </a:xfrm>
          <a:prstGeom prst="roundRect">
            <a:avLst>
              <a:gd name="adj" fmla="val 40625"/>
            </a:avLst>
          </a:prstGeom>
          <a:solidFill>
            <a:srgbClr val="0F7DC2"/>
          </a:solidFill>
          <a:ln/>
        </p:spPr>
      </p:sp>
      <p:sp>
        <p:nvSpPr>
          <p:cNvPr id="14" name="Text 12"/>
          <p:cNvSpPr txBox="1"/>
          <p:nvPr/>
        </p:nvSpPr>
        <p:spPr>
          <a:xfrm>
            <a:off x="2962656" y="2066544"/>
            <a:ext cx="1325880" cy="292608"/>
          </a:xfrm>
          <a:prstGeom prst="rect">
            <a:avLst/>
          </a:prstGeom>
          <a:noFill/>
          <a:ln/>
        </p:spPr>
        <p:txBody>
          <a:bodyPr wrap="square" lIns="0" tIns="0" rIns="0" bIns="0" rtlCol="0" anchor="ctr"/>
          <a:lstStyle/>
          <a:p>
            <a:pPr rtl="1" algn="ctr" indent="0" marL="0">
              <a:buNone/>
            </a:pPr>
            <a:r>
              <a:rPr lang="en-US" sz="1050" b="1" dirty="0">
                <a:solidFill>
                  <a:srgbClr val="FFFFFF"/>
                </a:solidFill>
                <a:latin typeface="Arial" pitchFamily="34" charset="0"/>
                <a:ea typeface="Arial" pitchFamily="34" charset="-122"/>
                <a:cs typeface="Arial" pitchFamily="34" charset="-120"/>
              </a:rPr>
              <a:t>מתוכנן</a:t>
            </a:r>
            <a:endParaRPr lang="en-US" sz="1050" dirty="0"/>
          </a:p>
        </p:txBody>
      </p:sp>
      <p:sp>
        <p:nvSpPr>
          <p:cNvPr id="15" name="Text 13"/>
          <p:cNvSpPr txBox="1"/>
          <p:nvPr/>
        </p:nvSpPr>
        <p:spPr>
          <a:xfrm>
            <a:off x="566928" y="2066544"/>
            <a:ext cx="2194560" cy="292608"/>
          </a:xfrm>
          <a:prstGeom prst="rect">
            <a:avLst/>
          </a:prstGeom>
          <a:noFill/>
          <a:ln/>
        </p:spPr>
        <p:txBody>
          <a:bodyPr wrap="square" lIns="0" tIns="0" rIns="0" bIns="0" rtlCol="0" anchor="ctr"/>
          <a:lstStyle/>
          <a:p>
            <a:pPr rtl="1" algn="r" indent="0" marL="0">
              <a:buNone/>
            </a:pPr>
            <a:r>
              <a:rPr lang="en-US" sz="1150" dirty="0">
                <a:solidFill>
                  <a:srgbClr val="0B1B2E"/>
                </a:solidFill>
                <a:latin typeface="Arial" pitchFamily="34" charset="0"/>
                <a:ea typeface="Arial" pitchFamily="34" charset="-122"/>
                <a:cs typeface="Arial" pitchFamily="34" charset="-120"/>
              </a:rPr>
              <a:t>אגף תשתיות</a:t>
            </a:r>
            <a:endParaRPr lang="en-US" sz="1150" dirty="0"/>
          </a:p>
        </p:txBody>
      </p:sp>
      <p:sp>
        <p:nvSpPr>
          <p:cNvPr id="16" name="road-badge-1"/>
          <p:cNvSpPr/>
          <p:nvPr/>
        </p:nvSpPr>
        <p:spPr>
          <a:xfrm>
            <a:off x="11274552" y="2871216"/>
            <a:ext cx="329184" cy="329184"/>
          </a:xfrm>
          <a:prstGeom prst="ellipse">
            <a:avLst/>
          </a:prstGeom>
          <a:solidFill>
            <a:srgbClr val="0B1B2E"/>
          </a:solidFill>
          <a:ln/>
        </p:spPr>
      </p:sp>
      <p:sp>
        <p:nvSpPr>
          <p:cNvPr id="17" name="Text 15"/>
          <p:cNvSpPr txBox="1"/>
          <p:nvPr/>
        </p:nvSpPr>
        <p:spPr>
          <a:xfrm>
            <a:off x="11274552" y="28712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8" name="Text 16"/>
          <p:cNvSpPr txBox="1"/>
          <p:nvPr/>
        </p:nvSpPr>
        <p:spPr>
          <a:xfrm>
            <a:off x="4443984" y="2743200"/>
            <a:ext cx="6656832" cy="310896"/>
          </a:xfrm>
          <a:prstGeom prst="rect">
            <a:avLst/>
          </a:prstGeom>
          <a:noFill/>
          <a:ln/>
        </p:spPr>
        <p:txBody>
          <a:bodyPr wrap="square" lIns="0" tIns="0" rIns="0" bIns="0" rtlCol="0" anchor="ctr"/>
          <a:lstStyle/>
          <a:p>
            <a:pPr rtl="1" algn="r" indent="0" marL="0">
              <a:buNone/>
            </a:pPr>
            <a:r>
              <a:rPr lang="en-US" sz="1450" b="1" dirty="0">
                <a:solidFill>
                  <a:srgbClr val="0B1B2E"/>
                </a:solidFill>
                <a:latin typeface="Arial" pitchFamily="34" charset="0"/>
                <a:ea typeface="Arial" pitchFamily="34" charset="-122"/>
                <a:cs typeface="Arial" pitchFamily="34" charset="-120"/>
              </a:rPr>
              <a:t>הטמעת ⁦WIV.AI⁩</a:t>
            </a:r>
            <a:endParaRPr lang="en-US" sz="1450" dirty="0"/>
          </a:p>
        </p:txBody>
      </p:sp>
      <p:sp>
        <p:nvSpPr>
          <p:cNvPr id="19" name="Text 17"/>
          <p:cNvSpPr txBox="1"/>
          <p:nvPr/>
        </p:nvSpPr>
        <p:spPr>
          <a:xfrm>
            <a:off x="4443984" y="3054096"/>
            <a:ext cx="6656832" cy="402336"/>
          </a:xfrm>
          <a:prstGeom prst="rect">
            <a:avLst/>
          </a:prstGeom>
          <a:noFill/>
          <a:ln/>
        </p:spPr>
        <p:txBody>
          <a:bodyPr wrap="square" lIns="0" tIns="0" rIns="0" bIns="0" rtlCol="0" anchor="t"/>
          <a:lstStyle/>
          <a:p>
            <a:pPr rtl="1" algn="r" indent="0" marL="0">
              <a:buNone/>
            </a:pPr>
            <a:r>
              <a:rPr lang="en-US" sz="1150" dirty="0">
                <a:solidFill>
                  <a:srgbClr val="5B6B7E"/>
                </a:solidFill>
                <a:latin typeface="Arial" pitchFamily="34" charset="0"/>
                <a:ea typeface="Arial" pitchFamily="34" charset="-122"/>
                <a:cs typeface="Arial" pitchFamily="34" charset="-120"/>
              </a:rPr>
              <a:t>פלטפורמת ממשל וניטור עלויות ושימושים, ללא עלות רישוי</a:t>
            </a:r>
            <a:endParaRPr lang="en-US" sz="1150" dirty="0"/>
          </a:p>
        </p:txBody>
      </p:sp>
      <p:sp>
        <p:nvSpPr>
          <p:cNvPr id="20" name="road-chip-1"/>
          <p:cNvSpPr/>
          <p:nvPr/>
        </p:nvSpPr>
        <p:spPr>
          <a:xfrm>
            <a:off x="2962656" y="2926080"/>
            <a:ext cx="1325880" cy="292608"/>
          </a:xfrm>
          <a:prstGeom prst="roundRect">
            <a:avLst>
              <a:gd name="adj" fmla="val 40625"/>
            </a:avLst>
          </a:prstGeom>
          <a:solidFill>
            <a:srgbClr val="0F7DC2"/>
          </a:solidFill>
          <a:ln/>
        </p:spPr>
      </p:sp>
      <p:sp>
        <p:nvSpPr>
          <p:cNvPr id="21" name="Text 19"/>
          <p:cNvSpPr txBox="1"/>
          <p:nvPr/>
        </p:nvSpPr>
        <p:spPr>
          <a:xfrm>
            <a:off x="2962656" y="2926080"/>
            <a:ext cx="1325880" cy="292608"/>
          </a:xfrm>
          <a:prstGeom prst="rect">
            <a:avLst/>
          </a:prstGeom>
          <a:noFill/>
          <a:ln/>
        </p:spPr>
        <p:txBody>
          <a:bodyPr wrap="square" lIns="0" tIns="0" rIns="0" bIns="0" rtlCol="0" anchor="ctr"/>
          <a:lstStyle/>
          <a:p>
            <a:pPr rtl="1" algn="ctr" indent="0" marL="0">
              <a:buNone/>
            </a:pPr>
            <a:r>
              <a:rPr lang="en-US" sz="1050" b="1" dirty="0">
                <a:solidFill>
                  <a:srgbClr val="FFFFFF"/>
                </a:solidFill>
                <a:latin typeface="Arial" pitchFamily="34" charset="0"/>
                <a:ea typeface="Arial" pitchFamily="34" charset="-122"/>
                <a:cs typeface="Arial" pitchFamily="34" charset="-120"/>
              </a:rPr>
              <a:t>מתוכנן</a:t>
            </a:r>
            <a:endParaRPr lang="en-US" sz="1050" dirty="0"/>
          </a:p>
        </p:txBody>
      </p:sp>
      <p:sp>
        <p:nvSpPr>
          <p:cNvPr id="22" name="Text 20"/>
          <p:cNvSpPr txBox="1"/>
          <p:nvPr/>
        </p:nvSpPr>
        <p:spPr>
          <a:xfrm>
            <a:off x="566928" y="2926080"/>
            <a:ext cx="2194560" cy="292608"/>
          </a:xfrm>
          <a:prstGeom prst="rect">
            <a:avLst/>
          </a:prstGeom>
          <a:noFill/>
          <a:ln/>
        </p:spPr>
        <p:txBody>
          <a:bodyPr wrap="square" lIns="0" tIns="0" rIns="0" bIns="0" rtlCol="0" anchor="ctr"/>
          <a:lstStyle/>
          <a:p>
            <a:pPr rtl="1" algn="r" indent="0" marL="0">
              <a:buNone/>
            </a:pPr>
            <a:r>
              <a:rPr lang="en-US" sz="1150" dirty="0">
                <a:solidFill>
                  <a:srgbClr val="0B1B2E"/>
                </a:solidFill>
                <a:latin typeface="Arial" pitchFamily="34" charset="0"/>
                <a:ea typeface="Arial" pitchFamily="34" charset="-122"/>
                <a:cs typeface="Arial" pitchFamily="34" charset="-120"/>
              </a:rPr>
              <a:t>אריאל אוראל</a:t>
            </a:r>
            <a:endParaRPr lang="en-US" sz="1150" dirty="0"/>
          </a:p>
        </p:txBody>
      </p:sp>
      <p:sp>
        <p:nvSpPr>
          <p:cNvPr id="23" name="road-2"/>
          <p:cNvSpPr/>
          <p:nvPr/>
        </p:nvSpPr>
        <p:spPr>
          <a:xfrm>
            <a:off x="566928" y="3511296"/>
            <a:ext cx="11057839" cy="786384"/>
          </a:xfrm>
          <a:prstGeom prst="roundRect">
            <a:avLst>
              <a:gd name="adj" fmla="val 6977"/>
            </a:avLst>
          </a:prstGeom>
          <a:solidFill>
            <a:srgbClr val="F6F8FB"/>
          </a:solidFill>
          <a:ln/>
        </p:spPr>
      </p:sp>
      <p:sp>
        <p:nvSpPr>
          <p:cNvPr id="24" name="road-badge-2"/>
          <p:cNvSpPr/>
          <p:nvPr/>
        </p:nvSpPr>
        <p:spPr>
          <a:xfrm>
            <a:off x="11274552" y="3730752"/>
            <a:ext cx="329184" cy="329184"/>
          </a:xfrm>
          <a:prstGeom prst="ellipse">
            <a:avLst/>
          </a:prstGeom>
          <a:solidFill>
            <a:srgbClr val="0B1B2E"/>
          </a:solidFill>
          <a:ln/>
        </p:spPr>
      </p:sp>
      <p:sp>
        <p:nvSpPr>
          <p:cNvPr id="25" name="Text 23"/>
          <p:cNvSpPr txBox="1"/>
          <p:nvPr/>
        </p:nvSpPr>
        <p:spPr>
          <a:xfrm>
            <a:off x="11274552" y="373075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6" name="Text 24"/>
          <p:cNvSpPr txBox="1"/>
          <p:nvPr/>
        </p:nvSpPr>
        <p:spPr>
          <a:xfrm>
            <a:off x="4443984" y="3602736"/>
            <a:ext cx="6656832" cy="310896"/>
          </a:xfrm>
          <a:prstGeom prst="rect">
            <a:avLst/>
          </a:prstGeom>
          <a:noFill/>
          <a:ln/>
        </p:spPr>
        <p:txBody>
          <a:bodyPr wrap="square" lIns="0" tIns="0" rIns="0" bIns="0" rtlCol="0" anchor="ctr"/>
          <a:lstStyle/>
          <a:p>
            <a:pPr rtl="1" algn="r" indent="0" marL="0">
              <a:buNone/>
            </a:pPr>
            <a:r>
              <a:rPr lang="en-US" sz="1450" b="1" dirty="0">
                <a:solidFill>
                  <a:srgbClr val="0B1B2E"/>
                </a:solidFill>
                <a:latin typeface="Arial" pitchFamily="34" charset="0"/>
                <a:ea typeface="Arial" pitchFamily="34" charset="-122"/>
                <a:cs typeface="Arial" pitchFamily="34" charset="-120"/>
              </a:rPr>
              <a:t>תיוג משאבים לפי שירות</a:t>
            </a:r>
            <a:endParaRPr lang="en-US" sz="1450" dirty="0"/>
          </a:p>
        </p:txBody>
      </p:sp>
      <p:sp>
        <p:nvSpPr>
          <p:cNvPr id="27" name="Text 25"/>
          <p:cNvSpPr txBox="1"/>
          <p:nvPr/>
        </p:nvSpPr>
        <p:spPr>
          <a:xfrm>
            <a:off x="4443984" y="3913632"/>
            <a:ext cx="6656832" cy="402336"/>
          </a:xfrm>
          <a:prstGeom prst="rect">
            <a:avLst/>
          </a:prstGeom>
          <a:noFill/>
          <a:ln/>
        </p:spPr>
        <p:txBody>
          <a:bodyPr wrap="square" lIns="0" tIns="0" rIns="0" bIns="0" rtlCol="0" anchor="t"/>
          <a:lstStyle/>
          <a:p>
            <a:pPr rtl="1" algn="r" indent="0" marL="0">
              <a:buNone/>
            </a:pPr>
            <a:r>
              <a:rPr lang="en-US" sz="1150" dirty="0">
                <a:solidFill>
                  <a:srgbClr val="5B6B7E"/>
                </a:solidFill>
                <a:latin typeface="Arial" pitchFamily="34" charset="0"/>
                <a:ea typeface="Arial" pitchFamily="34" charset="-122"/>
                <a:cs typeface="Arial" pitchFamily="34" charset="-120"/>
              </a:rPr>
              <a:t>השלמת תיוג לפי ⁦Service, Application, Cost Center, Environment⁩ לצורך ⁦Chargeback/Showback⁩, כולל ⁦AI Gateway⁩ ו-⁦AWS Bedrock⁩</a:t>
            </a:r>
            <a:endParaRPr lang="en-US" sz="1150" dirty="0"/>
          </a:p>
        </p:txBody>
      </p:sp>
      <p:sp>
        <p:nvSpPr>
          <p:cNvPr id="28" name="road-chip-2"/>
          <p:cNvSpPr/>
          <p:nvPr/>
        </p:nvSpPr>
        <p:spPr>
          <a:xfrm>
            <a:off x="2962656" y="3785616"/>
            <a:ext cx="1325880" cy="292608"/>
          </a:xfrm>
          <a:prstGeom prst="roundRect">
            <a:avLst>
              <a:gd name="adj" fmla="val 40625"/>
            </a:avLst>
          </a:prstGeom>
          <a:solidFill>
            <a:srgbClr val="F2A900"/>
          </a:solidFill>
          <a:ln/>
        </p:spPr>
      </p:sp>
      <p:sp>
        <p:nvSpPr>
          <p:cNvPr id="29" name="Text 27"/>
          <p:cNvSpPr txBox="1"/>
          <p:nvPr/>
        </p:nvSpPr>
        <p:spPr>
          <a:xfrm>
            <a:off x="2962656" y="3785616"/>
            <a:ext cx="1325880" cy="292608"/>
          </a:xfrm>
          <a:prstGeom prst="rect">
            <a:avLst/>
          </a:prstGeom>
          <a:noFill/>
          <a:ln/>
        </p:spPr>
        <p:txBody>
          <a:bodyPr wrap="square" lIns="0" tIns="0" rIns="0" bIns="0" rtlCol="0" anchor="ctr"/>
          <a:lstStyle/>
          <a:p>
            <a:pPr rtl="1" algn="ctr" indent="0" marL="0">
              <a:buNone/>
            </a:pPr>
            <a:r>
              <a:rPr lang="en-US" sz="1050" b="1" dirty="0">
                <a:solidFill>
                  <a:srgbClr val="FFFFFF"/>
                </a:solidFill>
                <a:latin typeface="Arial" pitchFamily="34" charset="0"/>
                <a:ea typeface="Arial" pitchFamily="34" charset="-122"/>
                <a:cs typeface="Arial" pitchFamily="34" charset="-120"/>
              </a:rPr>
              <a:t>בתהליך</a:t>
            </a:r>
            <a:endParaRPr lang="en-US" sz="1050" dirty="0"/>
          </a:p>
        </p:txBody>
      </p:sp>
      <p:sp>
        <p:nvSpPr>
          <p:cNvPr id="30" name="Text 28"/>
          <p:cNvSpPr txBox="1"/>
          <p:nvPr/>
        </p:nvSpPr>
        <p:spPr>
          <a:xfrm>
            <a:off x="566928" y="3785616"/>
            <a:ext cx="2194560" cy="292608"/>
          </a:xfrm>
          <a:prstGeom prst="rect">
            <a:avLst/>
          </a:prstGeom>
          <a:noFill/>
          <a:ln/>
        </p:spPr>
        <p:txBody>
          <a:bodyPr wrap="square" lIns="0" tIns="0" rIns="0" bIns="0" rtlCol="0" anchor="ctr"/>
          <a:lstStyle/>
          <a:p>
            <a:pPr rtl="1" algn="r" indent="0" marL="0">
              <a:buNone/>
            </a:pPr>
            <a:r>
              <a:rPr lang="en-US" sz="1150" dirty="0">
                <a:solidFill>
                  <a:srgbClr val="0B1B2E"/>
                </a:solidFill>
                <a:latin typeface="Arial" pitchFamily="34" charset="0"/>
                <a:ea typeface="Arial" pitchFamily="34" charset="-122"/>
                <a:cs typeface="Arial" pitchFamily="34" charset="-120"/>
              </a:rPr>
              <a:t>אריאל אוראל</a:t>
            </a:r>
            <a:endParaRPr lang="en-US" sz="1150" dirty="0"/>
          </a:p>
        </p:txBody>
      </p:sp>
      <p:sp>
        <p:nvSpPr>
          <p:cNvPr id="31" name="road-badge-3"/>
          <p:cNvSpPr/>
          <p:nvPr/>
        </p:nvSpPr>
        <p:spPr>
          <a:xfrm>
            <a:off x="11274552" y="4590288"/>
            <a:ext cx="329184" cy="329184"/>
          </a:xfrm>
          <a:prstGeom prst="ellipse">
            <a:avLst/>
          </a:prstGeom>
          <a:solidFill>
            <a:srgbClr val="0B1B2E"/>
          </a:solidFill>
          <a:ln/>
        </p:spPr>
      </p:sp>
      <p:sp>
        <p:nvSpPr>
          <p:cNvPr id="32" name="Text 30"/>
          <p:cNvSpPr txBox="1"/>
          <p:nvPr/>
        </p:nvSpPr>
        <p:spPr>
          <a:xfrm>
            <a:off x="11274552" y="45902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3" name="Text 31"/>
          <p:cNvSpPr txBox="1"/>
          <p:nvPr/>
        </p:nvSpPr>
        <p:spPr>
          <a:xfrm>
            <a:off x="4443984" y="4462272"/>
            <a:ext cx="6656832" cy="310896"/>
          </a:xfrm>
          <a:prstGeom prst="rect">
            <a:avLst/>
          </a:prstGeom>
          <a:noFill/>
          <a:ln/>
        </p:spPr>
        <p:txBody>
          <a:bodyPr wrap="square" lIns="0" tIns="0" rIns="0" bIns="0" rtlCol="0" anchor="ctr"/>
          <a:lstStyle/>
          <a:p>
            <a:pPr rtl="1" algn="r" indent="0" marL="0">
              <a:buNone/>
            </a:pPr>
            <a:r>
              <a:rPr lang="en-US" sz="1450" b="1" dirty="0">
                <a:solidFill>
                  <a:srgbClr val="0B1B2E"/>
                </a:solidFill>
                <a:latin typeface="Arial" pitchFamily="34" charset="0"/>
                <a:ea typeface="Arial" pitchFamily="34" charset="-122"/>
                <a:cs typeface="Arial" pitchFamily="34" charset="-120"/>
              </a:rPr>
              <a:t>הטמעת ⁦AWS FinOps Agent⁩</a:t>
            </a:r>
            <a:endParaRPr lang="en-US" sz="1450" dirty="0"/>
          </a:p>
        </p:txBody>
      </p:sp>
      <p:sp>
        <p:nvSpPr>
          <p:cNvPr id="34" name="Text 32"/>
          <p:cNvSpPr txBox="1"/>
          <p:nvPr/>
        </p:nvSpPr>
        <p:spPr>
          <a:xfrm>
            <a:off x="4443984" y="4773168"/>
            <a:ext cx="6656832" cy="402336"/>
          </a:xfrm>
          <a:prstGeom prst="rect">
            <a:avLst/>
          </a:prstGeom>
          <a:noFill/>
          <a:ln/>
        </p:spPr>
        <p:txBody>
          <a:bodyPr wrap="square" lIns="0" tIns="0" rIns="0" bIns="0" rtlCol="0" anchor="t"/>
          <a:lstStyle/>
          <a:p>
            <a:pPr rtl="1" algn="r" indent="0" marL="0">
              <a:buNone/>
            </a:pPr>
            <a:r>
              <a:rPr lang="en-US" sz="1150" dirty="0">
                <a:solidFill>
                  <a:srgbClr val="5B6B7E"/>
                </a:solidFill>
                <a:latin typeface="Arial" pitchFamily="34" charset="0"/>
                <a:ea typeface="Arial" pitchFamily="34" charset="-122"/>
                <a:cs typeface="Arial" pitchFamily="34" charset="-120"/>
              </a:rPr>
              <a:t>ניתוח עלויות אוטומטי, זיהוי המלצות חיסכון ואופטימיזציה של שירותי ⁦AWS⁩</a:t>
            </a:r>
            <a:endParaRPr lang="en-US" sz="1150" dirty="0"/>
          </a:p>
        </p:txBody>
      </p:sp>
      <p:sp>
        <p:nvSpPr>
          <p:cNvPr id="35" name="road-chip-3"/>
          <p:cNvSpPr/>
          <p:nvPr/>
        </p:nvSpPr>
        <p:spPr>
          <a:xfrm>
            <a:off x="2962656" y="4645152"/>
            <a:ext cx="1325880" cy="292608"/>
          </a:xfrm>
          <a:prstGeom prst="roundRect">
            <a:avLst>
              <a:gd name="adj" fmla="val 40625"/>
            </a:avLst>
          </a:prstGeom>
          <a:solidFill>
            <a:srgbClr val="0F7DC2"/>
          </a:solidFill>
          <a:ln/>
        </p:spPr>
      </p:sp>
      <p:sp>
        <p:nvSpPr>
          <p:cNvPr id="36" name="Text 34"/>
          <p:cNvSpPr txBox="1"/>
          <p:nvPr/>
        </p:nvSpPr>
        <p:spPr>
          <a:xfrm>
            <a:off x="2962656" y="4645152"/>
            <a:ext cx="1325880" cy="292608"/>
          </a:xfrm>
          <a:prstGeom prst="rect">
            <a:avLst/>
          </a:prstGeom>
          <a:noFill/>
          <a:ln/>
        </p:spPr>
        <p:txBody>
          <a:bodyPr wrap="square" lIns="0" tIns="0" rIns="0" bIns="0" rtlCol="0" anchor="ctr"/>
          <a:lstStyle/>
          <a:p>
            <a:pPr rtl="1" algn="ctr" indent="0" marL="0">
              <a:buNone/>
            </a:pPr>
            <a:r>
              <a:rPr lang="en-US" sz="1050" b="1" dirty="0">
                <a:solidFill>
                  <a:srgbClr val="FFFFFF"/>
                </a:solidFill>
                <a:latin typeface="Arial" pitchFamily="34" charset="0"/>
                <a:ea typeface="Arial" pitchFamily="34" charset="-122"/>
                <a:cs typeface="Arial" pitchFamily="34" charset="-120"/>
              </a:rPr>
              <a:t>מתוכנן</a:t>
            </a:r>
            <a:endParaRPr lang="en-US" sz="1050" dirty="0"/>
          </a:p>
        </p:txBody>
      </p:sp>
      <p:sp>
        <p:nvSpPr>
          <p:cNvPr id="37" name="Text 35"/>
          <p:cNvSpPr txBox="1"/>
          <p:nvPr/>
        </p:nvSpPr>
        <p:spPr>
          <a:xfrm>
            <a:off x="566928" y="4645152"/>
            <a:ext cx="2194560" cy="292608"/>
          </a:xfrm>
          <a:prstGeom prst="rect">
            <a:avLst/>
          </a:prstGeom>
          <a:noFill/>
          <a:ln/>
        </p:spPr>
        <p:txBody>
          <a:bodyPr wrap="square" lIns="0" tIns="0" rIns="0" bIns="0" rtlCol="0" anchor="ctr"/>
          <a:lstStyle/>
          <a:p>
            <a:pPr rtl="1" algn="r" indent="0" marL="0">
              <a:buNone/>
            </a:pPr>
            <a:r>
              <a:rPr lang="en-US" sz="1150" dirty="0">
                <a:solidFill>
                  <a:srgbClr val="0B1B2E"/>
                </a:solidFill>
                <a:latin typeface="Arial" pitchFamily="34" charset="0"/>
                <a:ea typeface="Arial" pitchFamily="34" charset="-122"/>
                <a:cs typeface="Arial" pitchFamily="34" charset="-120"/>
              </a:rPr>
              <a:t>אריאל</a:t>
            </a:r>
            <a:endParaRPr lang="en-US" sz="1150" dirty="0"/>
          </a:p>
        </p:txBody>
      </p:sp>
      <p:sp>
        <p:nvSpPr>
          <p:cNvPr id="38" name="road-4"/>
          <p:cNvSpPr/>
          <p:nvPr/>
        </p:nvSpPr>
        <p:spPr>
          <a:xfrm>
            <a:off x="566928" y="5230368"/>
            <a:ext cx="11057839" cy="786384"/>
          </a:xfrm>
          <a:prstGeom prst="roundRect">
            <a:avLst>
              <a:gd name="adj" fmla="val 6977"/>
            </a:avLst>
          </a:prstGeom>
          <a:solidFill>
            <a:srgbClr val="F6F8FB"/>
          </a:solidFill>
          <a:ln/>
        </p:spPr>
      </p:sp>
      <p:sp>
        <p:nvSpPr>
          <p:cNvPr id="39" name="road-badge-4"/>
          <p:cNvSpPr/>
          <p:nvPr/>
        </p:nvSpPr>
        <p:spPr>
          <a:xfrm>
            <a:off x="11274552" y="5449824"/>
            <a:ext cx="329184" cy="329184"/>
          </a:xfrm>
          <a:prstGeom prst="ellipse">
            <a:avLst/>
          </a:prstGeom>
          <a:solidFill>
            <a:srgbClr val="0B1B2E"/>
          </a:solidFill>
          <a:ln/>
        </p:spPr>
      </p:sp>
      <p:sp>
        <p:nvSpPr>
          <p:cNvPr id="40" name="Text 38"/>
          <p:cNvSpPr txBox="1"/>
          <p:nvPr/>
        </p:nvSpPr>
        <p:spPr>
          <a:xfrm>
            <a:off x="11274552" y="544982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41" name="Text 39"/>
          <p:cNvSpPr txBox="1"/>
          <p:nvPr/>
        </p:nvSpPr>
        <p:spPr>
          <a:xfrm>
            <a:off x="4443984" y="5321808"/>
            <a:ext cx="6656832" cy="310896"/>
          </a:xfrm>
          <a:prstGeom prst="rect">
            <a:avLst/>
          </a:prstGeom>
          <a:noFill/>
          <a:ln/>
        </p:spPr>
        <p:txBody>
          <a:bodyPr wrap="square" lIns="0" tIns="0" rIns="0" bIns="0" rtlCol="0" anchor="ctr"/>
          <a:lstStyle/>
          <a:p>
            <a:pPr rtl="1" algn="r" indent="0" marL="0">
              <a:buNone/>
            </a:pPr>
            <a:r>
              <a:rPr lang="en-US" sz="1450" b="1" dirty="0">
                <a:solidFill>
                  <a:srgbClr val="0B1B2E"/>
                </a:solidFill>
                <a:latin typeface="Arial" pitchFamily="34" charset="0"/>
                <a:ea typeface="Arial" pitchFamily="34" charset="-122"/>
                <a:cs typeface="Arial" pitchFamily="34" charset="-120"/>
              </a:rPr>
              <a:t>אופטימיזציית ⁦Databricks Commitment⁩</a:t>
            </a:r>
            <a:endParaRPr lang="en-US" sz="1450" dirty="0"/>
          </a:p>
        </p:txBody>
      </p:sp>
      <p:sp>
        <p:nvSpPr>
          <p:cNvPr id="42" name="Text 40"/>
          <p:cNvSpPr txBox="1"/>
          <p:nvPr/>
        </p:nvSpPr>
        <p:spPr>
          <a:xfrm>
            <a:off x="4443984" y="5632704"/>
            <a:ext cx="6656832" cy="402336"/>
          </a:xfrm>
          <a:prstGeom prst="rect">
            <a:avLst/>
          </a:prstGeom>
          <a:noFill/>
          <a:ln/>
        </p:spPr>
        <p:txBody>
          <a:bodyPr wrap="square" lIns="0" tIns="0" rIns="0" bIns="0" rtlCol="0" anchor="t"/>
          <a:lstStyle/>
          <a:p>
            <a:pPr rtl="1" algn="r" indent="0" marL="0">
              <a:buNone/>
            </a:pPr>
            <a:r>
              <a:rPr lang="en-US" sz="1150" dirty="0">
                <a:solidFill>
                  <a:srgbClr val="5B6B7E"/>
                </a:solidFill>
                <a:latin typeface="Arial" pitchFamily="34" charset="0"/>
                <a:ea typeface="Arial" pitchFamily="34" charset="-122"/>
                <a:cs typeface="Arial" pitchFamily="34" charset="-120"/>
              </a:rPr>
              <a:t>הגדלת ניצול חוזה ה-⁦DBU⁩, מעקב ⁦Utilization⁩ ואיזון ⁦Classic/Serverless⁩</a:t>
            </a:r>
            <a:endParaRPr lang="en-US" sz="1150" dirty="0"/>
          </a:p>
        </p:txBody>
      </p:sp>
      <p:sp>
        <p:nvSpPr>
          <p:cNvPr id="43" name="road-chip-4"/>
          <p:cNvSpPr/>
          <p:nvPr/>
        </p:nvSpPr>
        <p:spPr>
          <a:xfrm>
            <a:off x="2962656" y="5504688"/>
            <a:ext cx="1325880" cy="292608"/>
          </a:xfrm>
          <a:prstGeom prst="roundRect">
            <a:avLst>
              <a:gd name="adj" fmla="val 40625"/>
            </a:avLst>
          </a:prstGeom>
          <a:solidFill>
            <a:srgbClr val="5B6B7E"/>
          </a:solidFill>
          <a:ln/>
        </p:spPr>
      </p:sp>
      <p:sp>
        <p:nvSpPr>
          <p:cNvPr id="44" name="Text 42"/>
          <p:cNvSpPr txBox="1"/>
          <p:nvPr/>
        </p:nvSpPr>
        <p:spPr>
          <a:xfrm>
            <a:off x="2962656" y="5504688"/>
            <a:ext cx="1325880" cy="292608"/>
          </a:xfrm>
          <a:prstGeom prst="rect">
            <a:avLst/>
          </a:prstGeom>
          <a:noFill/>
          <a:ln/>
        </p:spPr>
        <p:txBody>
          <a:bodyPr wrap="square" lIns="0" tIns="0" rIns="0" bIns="0" rtlCol="0" anchor="ctr"/>
          <a:lstStyle/>
          <a:p>
            <a:pPr rtl="1" algn="ctr" indent="0" marL="0">
              <a:buNone/>
            </a:pPr>
            <a:r>
              <a:rPr lang="en-US" sz="1050" b="1" dirty="0">
                <a:solidFill>
                  <a:srgbClr val="FFFFFF"/>
                </a:solidFill>
                <a:latin typeface="Arial" pitchFamily="34" charset="0"/>
                <a:ea typeface="Arial" pitchFamily="34" charset="-122"/>
                <a:cs typeface="Arial" pitchFamily="34" charset="-120"/>
              </a:rPr>
              <a:t>לקביעה</a:t>
            </a:r>
            <a:endParaRPr lang="en-US" sz="1050" dirty="0"/>
          </a:p>
        </p:txBody>
      </p:sp>
      <p:sp>
        <p:nvSpPr>
          <p:cNvPr id="45" name="Text 43"/>
          <p:cNvSpPr txBox="1"/>
          <p:nvPr/>
        </p:nvSpPr>
        <p:spPr>
          <a:xfrm>
            <a:off x="566928" y="5504688"/>
            <a:ext cx="2194560" cy="292608"/>
          </a:xfrm>
          <a:prstGeom prst="rect">
            <a:avLst/>
          </a:prstGeom>
          <a:noFill/>
          <a:ln/>
        </p:spPr>
        <p:txBody>
          <a:bodyPr wrap="square" lIns="0" tIns="0" rIns="0" bIns="0" rtlCol="0" anchor="ctr"/>
          <a:lstStyle/>
          <a:p>
            <a:pPr rtl="1" algn="r" indent="0" marL="0">
              <a:buNone/>
            </a:pPr>
            <a:r>
              <a:rPr lang="en-US" sz="1150" dirty="0">
                <a:solidFill>
                  <a:srgbClr val="0B1B2E"/>
                </a:solidFill>
                <a:latin typeface="Arial" pitchFamily="34" charset="0"/>
                <a:ea typeface="Arial" pitchFamily="34" charset="-122"/>
                <a:cs typeface="Arial" pitchFamily="34" charset="-120"/>
              </a:rPr>
              <a:t>—</a:t>
            </a:r>
            <a:endParaRPr lang="en-US" sz="1150" dirty="0"/>
          </a:p>
        </p:txBody>
      </p:sp>
      <p:sp>
        <p:nvSpPr>
          <p:cNvPr id="46"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Owners and status as at the September 2026 FinOps review.</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F2A900"/>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8FA7BF"/>
                </a:solidFill>
                <a:latin typeface="Arial" pitchFamily="34" charset="0"/>
                <a:ea typeface="Arial" pitchFamily="34" charset="-122"/>
                <a:cs typeface="Arial" pitchFamily="34" charset="-120"/>
              </a:rPr>
              <a:t>THE ASK</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FFFFFF"/>
                </a:solidFill>
                <a:latin typeface="Cambria" pitchFamily="34" charset="0"/>
                <a:ea typeface="Cambria" pitchFamily="34" charset="-122"/>
                <a:cs typeface="Cambria" pitchFamily="34" charset="-120"/>
              </a:rPr>
              <a:t>Three decisions we would like to close today</a:t>
            </a:r>
            <a:endParaRPr lang="en-US" sz="2800" dirty="0"/>
          </a:p>
        </p:txBody>
      </p:sp>
      <p:sp>
        <p:nvSpPr>
          <p:cNvPr id="5" name="ask-1"/>
          <p:cNvSpPr/>
          <p:nvPr/>
        </p:nvSpPr>
        <p:spPr>
          <a:xfrm>
            <a:off x="566928" y="1572768"/>
            <a:ext cx="3503066" cy="3931920"/>
          </a:xfrm>
          <a:prstGeom prst="roundRect">
            <a:avLst>
              <a:gd name="adj" fmla="val 1566"/>
            </a:avLst>
          </a:prstGeom>
          <a:solidFill>
            <a:srgbClr val="112C45"/>
          </a:solidFill>
          <a:ln/>
        </p:spPr>
      </p:sp>
      <p:sp>
        <p:nvSpPr>
          <p:cNvPr id="6" name="ask-badge-1"/>
          <p:cNvSpPr/>
          <p:nvPr/>
        </p:nvSpPr>
        <p:spPr>
          <a:xfrm>
            <a:off x="877824" y="1883664"/>
            <a:ext cx="420624" cy="420624"/>
          </a:xfrm>
          <a:prstGeom prst="ellipse">
            <a:avLst/>
          </a:prstGeom>
          <a:solidFill>
            <a:srgbClr val="00A878"/>
          </a:solidFill>
          <a:ln/>
        </p:spPr>
      </p:sp>
      <p:sp>
        <p:nvSpPr>
          <p:cNvPr id="7" name="Text 5"/>
          <p:cNvSpPr txBox="1"/>
          <p:nvPr/>
        </p:nvSpPr>
        <p:spPr>
          <a:xfrm>
            <a:off x="877824" y="1883664"/>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8" name="Text 6"/>
          <p:cNvSpPr txBox="1"/>
          <p:nvPr/>
        </p:nvSpPr>
        <p:spPr>
          <a:xfrm>
            <a:off x="877824" y="2487168"/>
            <a:ext cx="2881274" cy="859536"/>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Approve the reservation purchase programme</a:t>
            </a:r>
            <a:endParaRPr lang="en-US" sz="1700" dirty="0"/>
          </a:p>
        </p:txBody>
      </p:sp>
      <p:sp>
        <p:nvSpPr>
          <p:cNvPr id="9" name="Text 7"/>
          <p:cNvSpPr txBox="1"/>
          <p:nvPr/>
        </p:nvSpPr>
        <p:spPr>
          <a:xfrm>
            <a:off x="877824" y="3401568"/>
            <a:ext cx="2881274" cy="1371600"/>
          </a:xfrm>
          <a:prstGeom prst="rect">
            <a:avLst/>
          </a:prstGeom>
          <a:noFill/>
          <a:ln/>
        </p:spPr>
        <p:txBody>
          <a:bodyPr wrap="square" lIns="0" tIns="0" rIns="0" bIns="0" rtlCol="0" anchor="t"/>
          <a:lstStyle/>
          <a:p>
            <a:pPr algn="l" indent="0" marL="0">
              <a:buNone/>
            </a:pPr>
            <a:r>
              <a:rPr lang="en-US" sz="1200" dirty="0">
                <a:solidFill>
                  <a:srgbClr val="A9BCCF"/>
                </a:solidFill>
                <a:latin typeface="Arial" pitchFamily="34" charset="0"/>
                <a:ea typeface="Arial" pitchFamily="34" charset="-122"/>
                <a:cs typeface="Arial" pitchFamily="34" charset="-120"/>
              </a:rPr>
              <a:t>$78K a year of identified reserved-instance and savings-plan purchases across SAP, CloudIT, AI Factory and Data Cloud. Buying before February 2027 also locks pricing ahead of the Azure increase.</a:t>
            </a:r>
            <a:endParaRPr lang="en-US" sz="1200" dirty="0"/>
          </a:p>
        </p:txBody>
      </p:sp>
      <p:sp>
        <p:nvSpPr>
          <p:cNvPr id="10" name="Text 8"/>
          <p:cNvSpPr txBox="1"/>
          <p:nvPr/>
        </p:nvSpPr>
        <p:spPr>
          <a:xfrm>
            <a:off x="877824" y="4828032"/>
            <a:ext cx="2881274" cy="512064"/>
          </a:xfrm>
          <a:prstGeom prst="rect">
            <a:avLst/>
          </a:prstGeom>
          <a:noFill/>
          <a:ln/>
        </p:spPr>
        <p:txBody>
          <a:bodyPr wrap="square" lIns="0" tIns="0" rIns="0" bIns="0" rtlCol="0" anchor="t"/>
          <a:lstStyle/>
          <a:p>
            <a:pPr algn="l" indent="0" marL="0">
              <a:buNone/>
            </a:pPr>
            <a:r>
              <a:rPr lang="en-US" sz="1050" b="1" dirty="0">
                <a:solidFill>
                  <a:srgbClr val="00A878"/>
                </a:solidFill>
                <a:latin typeface="Arial" pitchFamily="34" charset="0"/>
                <a:ea typeface="Arial" pitchFamily="34" charset="-122"/>
                <a:cs typeface="Arial" pitchFamily="34" charset="-120"/>
              </a:rPr>
              <a:t>Needs: capital approval  ·  Owner: Cloud Infrastructure</a:t>
            </a:r>
            <a:endParaRPr lang="en-US" sz="1050" dirty="0"/>
          </a:p>
        </p:txBody>
      </p:sp>
      <p:sp>
        <p:nvSpPr>
          <p:cNvPr id="11" name="ask-2"/>
          <p:cNvSpPr/>
          <p:nvPr/>
        </p:nvSpPr>
        <p:spPr>
          <a:xfrm>
            <a:off x="4344314" y="1572768"/>
            <a:ext cx="3503066" cy="3931920"/>
          </a:xfrm>
          <a:prstGeom prst="roundRect">
            <a:avLst>
              <a:gd name="adj" fmla="val 1566"/>
            </a:avLst>
          </a:prstGeom>
          <a:solidFill>
            <a:srgbClr val="112C45"/>
          </a:solidFill>
          <a:ln/>
        </p:spPr>
      </p:sp>
      <p:sp>
        <p:nvSpPr>
          <p:cNvPr id="12" name="ask-badge-2"/>
          <p:cNvSpPr/>
          <p:nvPr/>
        </p:nvSpPr>
        <p:spPr>
          <a:xfrm>
            <a:off x="4655210" y="1883664"/>
            <a:ext cx="420624" cy="420624"/>
          </a:xfrm>
          <a:prstGeom prst="ellipse">
            <a:avLst/>
          </a:prstGeom>
          <a:solidFill>
            <a:srgbClr val="7C5CFF"/>
          </a:solidFill>
          <a:ln/>
        </p:spPr>
      </p:sp>
      <p:sp>
        <p:nvSpPr>
          <p:cNvPr id="13" name="Text 11"/>
          <p:cNvSpPr txBox="1"/>
          <p:nvPr/>
        </p:nvSpPr>
        <p:spPr>
          <a:xfrm>
            <a:off x="4655210" y="1883664"/>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4" name="Text 12"/>
          <p:cNvSpPr txBox="1"/>
          <p:nvPr/>
        </p:nvSpPr>
        <p:spPr>
          <a:xfrm>
            <a:off x="4655210" y="2487168"/>
            <a:ext cx="2881274" cy="859536"/>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Set an FY2027 envelope and controls for AI</a:t>
            </a:r>
            <a:endParaRPr lang="en-US" sz="1700" dirty="0"/>
          </a:p>
        </p:txBody>
      </p:sp>
      <p:sp>
        <p:nvSpPr>
          <p:cNvPr id="15" name="Text 13"/>
          <p:cNvSpPr txBox="1"/>
          <p:nvPr/>
        </p:nvSpPr>
        <p:spPr>
          <a:xfrm>
            <a:off x="4655210" y="3401568"/>
            <a:ext cx="2881274" cy="1371600"/>
          </a:xfrm>
          <a:prstGeom prst="rect">
            <a:avLst/>
          </a:prstGeom>
          <a:noFill/>
          <a:ln/>
        </p:spPr>
        <p:txBody>
          <a:bodyPr wrap="square" lIns="0" tIns="0" rIns="0" bIns="0" rtlCol="0" anchor="t"/>
          <a:lstStyle/>
          <a:p>
            <a:pPr algn="l" indent="0" marL="0">
              <a:buNone/>
            </a:pPr>
            <a:r>
              <a:rPr lang="en-US" sz="1200" dirty="0">
                <a:solidFill>
                  <a:srgbClr val="A9BCCF"/>
                </a:solidFill>
                <a:latin typeface="Arial" pitchFamily="34" charset="0"/>
                <a:ea typeface="Arial" pitchFamily="34" charset="-122"/>
                <a:cs typeface="Arial" pitchFamily="34" charset="-120"/>
              </a:rPr>
              <a:t>Budget for roughly $1.3M of AI consumption and attach the controls: hard-stop budgets on Foundry and Bedrock, a model-routing policy, and quotas per project.</a:t>
            </a:r>
            <a:endParaRPr lang="en-US" sz="1200" dirty="0"/>
          </a:p>
        </p:txBody>
      </p:sp>
      <p:sp>
        <p:nvSpPr>
          <p:cNvPr id="16" name="Text 14"/>
          <p:cNvSpPr txBox="1"/>
          <p:nvPr/>
        </p:nvSpPr>
        <p:spPr>
          <a:xfrm>
            <a:off x="4655210" y="4828032"/>
            <a:ext cx="2881274" cy="512064"/>
          </a:xfrm>
          <a:prstGeom prst="rect">
            <a:avLst/>
          </a:prstGeom>
          <a:noFill/>
          <a:ln/>
        </p:spPr>
        <p:txBody>
          <a:bodyPr wrap="square" lIns="0" tIns="0" rIns="0" bIns="0" rtlCol="0" anchor="t"/>
          <a:lstStyle/>
          <a:p>
            <a:pPr algn="l" indent="0" marL="0">
              <a:buNone/>
            </a:pPr>
            <a:r>
              <a:rPr lang="en-US" sz="1050" b="1" dirty="0">
                <a:solidFill>
                  <a:srgbClr val="7C5CFF"/>
                </a:solidFill>
                <a:latin typeface="Arial" pitchFamily="34" charset="0"/>
                <a:ea typeface="Arial" pitchFamily="34" charset="-122"/>
                <a:cs typeface="Arial" pitchFamily="34" charset="-120"/>
              </a:rPr>
              <a:t>Needs: budget line and policy sign-off  ·  Owner: AI Factory and FinOps</a:t>
            </a:r>
            <a:endParaRPr lang="en-US" sz="1050" dirty="0"/>
          </a:p>
        </p:txBody>
      </p:sp>
      <p:sp>
        <p:nvSpPr>
          <p:cNvPr id="17" name="ask-3"/>
          <p:cNvSpPr/>
          <p:nvPr/>
        </p:nvSpPr>
        <p:spPr>
          <a:xfrm>
            <a:off x="8121701" y="1572768"/>
            <a:ext cx="3503066" cy="3931920"/>
          </a:xfrm>
          <a:prstGeom prst="roundRect">
            <a:avLst>
              <a:gd name="adj" fmla="val 1566"/>
            </a:avLst>
          </a:prstGeom>
          <a:solidFill>
            <a:srgbClr val="112C45"/>
          </a:solidFill>
          <a:ln/>
        </p:spPr>
      </p:sp>
      <p:sp>
        <p:nvSpPr>
          <p:cNvPr id="18" name="ask-badge-3"/>
          <p:cNvSpPr/>
          <p:nvPr/>
        </p:nvSpPr>
        <p:spPr>
          <a:xfrm>
            <a:off x="8432597" y="1883664"/>
            <a:ext cx="420624" cy="420624"/>
          </a:xfrm>
          <a:prstGeom prst="ellipse">
            <a:avLst/>
          </a:prstGeom>
          <a:solidFill>
            <a:srgbClr val="F2A900"/>
          </a:solidFill>
          <a:ln/>
        </p:spPr>
      </p:sp>
      <p:sp>
        <p:nvSpPr>
          <p:cNvPr id="19" name="Text 17"/>
          <p:cNvSpPr txBox="1"/>
          <p:nvPr/>
        </p:nvSpPr>
        <p:spPr>
          <a:xfrm>
            <a:off x="8432597" y="1883664"/>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20" name="Text 18"/>
          <p:cNvSpPr txBox="1"/>
          <p:nvPr/>
        </p:nvSpPr>
        <p:spPr>
          <a:xfrm>
            <a:off x="8432597" y="2487168"/>
            <a:ext cx="2881274" cy="859536"/>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Choose the Databricks path before Q1</a:t>
            </a:r>
            <a:endParaRPr lang="en-US" sz="1700" dirty="0"/>
          </a:p>
        </p:txBody>
      </p:sp>
      <p:sp>
        <p:nvSpPr>
          <p:cNvPr id="21" name="Text 19"/>
          <p:cNvSpPr txBox="1"/>
          <p:nvPr/>
        </p:nvSpPr>
        <p:spPr>
          <a:xfrm>
            <a:off x="8432597" y="3401568"/>
            <a:ext cx="2881274" cy="1371600"/>
          </a:xfrm>
          <a:prstGeom prst="rect">
            <a:avLst/>
          </a:prstGeom>
          <a:noFill/>
          <a:ln/>
        </p:spPr>
        <p:txBody>
          <a:bodyPr wrap="square" lIns="0" tIns="0" rIns="0" bIns="0" rtlCol="0" anchor="t"/>
          <a:lstStyle/>
          <a:p>
            <a:pPr algn="l" indent="0" marL="0">
              <a:buNone/>
            </a:pPr>
            <a:r>
              <a:rPr lang="en-US" sz="1200" dirty="0">
                <a:solidFill>
                  <a:srgbClr val="A9BCCF"/>
                </a:solidFill>
                <a:latin typeface="Arial" pitchFamily="34" charset="0"/>
                <a:ea typeface="Arial" pitchFamily="34" charset="-122"/>
                <a:cs typeface="Arial" pitchFamily="34" charset="-120"/>
              </a:rPr>
              <a:t>Either top up the DBU commitment in the FY2027 plan, or fund an optimisation sprint on the Classic and Serverless mix to stretch the existing contract.</a:t>
            </a:r>
            <a:endParaRPr lang="en-US" sz="1200" dirty="0"/>
          </a:p>
        </p:txBody>
      </p:sp>
      <p:sp>
        <p:nvSpPr>
          <p:cNvPr id="22" name="Text 20"/>
          <p:cNvSpPr txBox="1"/>
          <p:nvPr/>
        </p:nvSpPr>
        <p:spPr>
          <a:xfrm>
            <a:off x="8432597" y="4828032"/>
            <a:ext cx="2881274" cy="512064"/>
          </a:xfrm>
          <a:prstGeom prst="rect">
            <a:avLst/>
          </a:prstGeom>
          <a:noFill/>
          <a:ln/>
        </p:spPr>
        <p:txBody>
          <a:bodyPr wrap="square" lIns="0" tIns="0" rIns="0" bIns="0" rtlCol="0" anchor="t"/>
          <a:lstStyle/>
          <a:p>
            <a:pPr algn="l" indent="0" marL="0">
              <a:buNone/>
            </a:pPr>
            <a:r>
              <a:rPr lang="en-US" sz="1050" b="1" dirty="0">
                <a:solidFill>
                  <a:srgbClr val="F2A900"/>
                </a:solidFill>
                <a:latin typeface="Arial" pitchFamily="34" charset="0"/>
                <a:ea typeface="Arial" pitchFamily="34" charset="-122"/>
                <a:cs typeface="Arial" pitchFamily="34" charset="-120"/>
              </a:rPr>
              <a:t>Needs: a decision by December 2026  ·  Owner: Data Cloud and FinOps</a:t>
            </a:r>
            <a:endParaRPr lang="en-US" sz="105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66928" y="2286000"/>
            <a:ext cx="8229600" cy="1097280"/>
          </a:xfrm>
          <a:prstGeom prst="rect">
            <a:avLst/>
          </a:prstGeom>
          <a:noFill/>
          <a:ln/>
        </p:spPr>
        <p:txBody>
          <a:bodyPr wrap="square" lIns="0" tIns="0" rIns="0" bIns="0" rtlCol="0" anchor="ctr"/>
          <a:lstStyle/>
          <a:p>
            <a:pPr algn="l" indent="0" marL="0">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3" name="Text 1"/>
          <p:cNvSpPr txBox="1"/>
          <p:nvPr/>
        </p:nvSpPr>
        <p:spPr>
          <a:xfrm>
            <a:off x="566928" y="3419856"/>
            <a:ext cx="8229600" cy="420624"/>
          </a:xfrm>
          <a:prstGeom prst="rect">
            <a:avLst/>
          </a:prstGeom>
          <a:noFill/>
          <a:ln/>
        </p:spPr>
        <p:txBody>
          <a:bodyPr wrap="square" lIns="0" tIns="0" rIns="0" bIns="0" rtlCol="0" anchor="ctr"/>
          <a:lstStyle/>
          <a:p>
            <a:pPr algn="l" indent="0" marL="0">
              <a:buNone/>
            </a:pPr>
            <a:r>
              <a:rPr lang="en-US" sz="1700" i="1" dirty="0">
                <a:solidFill>
                  <a:srgbClr val="9EC6E6"/>
                </a:solidFill>
                <a:latin typeface="Cambria" pitchFamily="34" charset="0"/>
                <a:ea typeface="Cambria" pitchFamily="34" charset="-122"/>
                <a:cs typeface="Cambria" pitchFamily="34" charset="-120"/>
              </a:rPr>
              <a:t>Account, service and cost-centre detail follows in the appendix.</a:t>
            </a:r>
            <a:endParaRPr lang="en-US" sz="1700" dirty="0"/>
          </a:p>
        </p:txBody>
      </p:sp>
      <p:sp>
        <p:nvSpPr>
          <p:cNvPr id="4" name="Text 2"/>
          <p:cNvSpPr txBox="1"/>
          <p:nvPr/>
        </p:nvSpPr>
        <p:spPr>
          <a:xfrm>
            <a:off x="566928" y="4041648"/>
            <a:ext cx="8229600" cy="365760"/>
          </a:xfrm>
          <a:prstGeom prst="rect">
            <a:avLst/>
          </a:prstGeom>
          <a:noFill/>
          <a:ln/>
        </p:spPr>
        <p:txBody>
          <a:bodyPr wrap="square" lIns="0" tIns="0" rIns="0" bIns="0" rtlCol="0" anchor="ctr"/>
          <a:lstStyle/>
          <a:p>
            <a:pPr rtl="1" algn="l" indent="0" marL="0">
              <a:buNone/>
            </a:pPr>
            <a:r>
              <a:rPr lang="en-US" sz="1300" dirty="0">
                <a:solidFill>
                  <a:srgbClr val="A9BCCF"/>
                </a:solidFill>
                <a:latin typeface="Arial" pitchFamily="34" charset="0"/>
                <a:ea typeface="Arial" pitchFamily="34" charset="-122"/>
                <a:cs typeface="Arial" pitchFamily="34" charset="-120"/>
              </a:rPr>
              <a:t>מחלקת תשתיות ענן, DevOps ובסיסי נתונים  ·  אגף טכנולוגיות והגנת הסייבר</a:t>
            </a:r>
            <a:endParaRPr lang="en-US" sz="1300" dirty="0"/>
          </a:p>
        </p:txBody>
      </p:sp>
      <p:sp>
        <p:nvSpPr>
          <p:cNvPr id="5" name="Text 3"/>
          <p:cNvSpPr txBox="1"/>
          <p:nvPr/>
        </p:nvSpPr>
        <p:spPr>
          <a:xfrm>
            <a:off x="566928" y="4462272"/>
            <a:ext cx="8229600" cy="365760"/>
          </a:xfrm>
          <a:prstGeom prst="rect">
            <a:avLst/>
          </a:prstGeom>
          <a:noFill/>
          <a:ln/>
        </p:spPr>
        <p:txBody>
          <a:bodyPr wrap="square" lIns="0" tIns="0" rIns="0" bIns="0" rtlCol="0" anchor="ctr"/>
          <a:lstStyle/>
          <a:p>
            <a:pPr rtl="1" algn="l" indent="0" marL="0">
              <a:buNone/>
            </a:pPr>
            <a:r>
              <a:rPr lang="en-US" sz="1300" dirty="0">
                <a:solidFill>
                  <a:srgbClr val="7FA8C9"/>
                </a:solidFill>
                <a:latin typeface="Arial" pitchFamily="34" charset="0"/>
                <a:ea typeface="Arial" pitchFamily="34" charset="-122"/>
                <a:cs typeface="Arial" pitchFamily="34" charset="-120"/>
              </a:rPr>
              <a:t>בשביל השקט הנפשי שלך</a:t>
            </a:r>
            <a:endParaRPr lang="en-US" sz="1300" dirty="0"/>
          </a:p>
        </p:txBody>
      </p:sp>
      <p:pic>
        <p:nvPicPr>
          <p:cNvPr id="6" name="Image 0" descr="Harel Insurance and Finance logo">    </p:cNvPr>
          <p:cNvPicPr>
            <a:picLocks noChangeAspect="1"/>
          </p:cNvPicPr>
          <p:nvPr/>
        </p:nvPicPr>
        <p:blipFill>
          <a:blip r:embed="rId1"/>
          <a:stretch>
            <a:fillRect/>
          </a:stretch>
        </p:blipFill>
        <p:spPr>
          <a:xfrm>
            <a:off x="9692640" y="3017520"/>
            <a:ext cx="1463040" cy="63093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div-num"/>
          <p:cNvSpPr txBox="1"/>
          <p:nvPr/>
        </p:nvSpPr>
        <p:spPr>
          <a:xfrm>
            <a:off x="566928" y="1828800"/>
            <a:ext cx="2011680" cy="1371600"/>
          </a:xfrm>
          <a:prstGeom prst="rect">
            <a:avLst/>
          </a:prstGeom>
          <a:noFill/>
          <a:ln/>
        </p:spPr>
        <p:txBody>
          <a:bodyPr wrap="square" lIns="0" tIns="0" rIns="0" bIns="0" rtlCol="0" anchor="ctr"/>
          <a:lstStyle/>
          <a:p>
            <a:pPr algn="l" indent="0" marL="0">
              <a:buNone/>
            </a:pPr>
            <a:r>
              <a:rPr lang="en-US" sz="9600" b="1" dirty="0">
                <a:solidFill>
                  <a:srgbClr val="27496B"/>
                </a:solidFill>
                <a:latin typeface="Cambria" pitchFamily="34" charset="0"/>
                <a:ea typeface="Cambria" pitchFamily="34" charset="-122"/>
                <a:cs typeface="Cambria" pitchFamily="34" charset="-120"/>
              </a:rPr>
              <a:t>A</a:t>
            </a:r>
            <a:endParaRPr lang="en-US" sz="9600" dirty="0"/>
          </a:p>
        </p:txBody>
      </p:sp>
      <p:sp>
        <p:nvSpPr>
          <p:cNvPr id="3" name="div-title"/>
          <p:cNvSpPr txBox="1"/>
          <p:nvPr/>
        </p:nvSpPr>
        <p:spPr>
          <a:xfrm>
            <a:off x="566928" y="3200400"/>
            <a:ext cx="8961120" cy="877824"/>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Appendix</a:t>
            </a:r>
            <a:endParaRPr lang="en-US" sz="4000" dirty="0"/>
          </a:p>
        </p:txBody>
      </p:sp>
      <p:sp>
        <p:nvSpPr>
          <p:cNvPr id="4" name="div-body"/>
          <p:cNvSpPr txBox="1"/>
          <p:nvPr/>
        </p:nvSpPr>
        <p:spPr>
          <a:xfrm>
            <a:off x="566928" y="4169664"/>
            <a:ext cx="7498080" cy="868680"/>
          </a:xfrm>
          <a:prstGeom prst="rect">
            <a:avLst/>
          </a:prstGeom>
          <a:noFill/>
          <a:ln/>
        </p:spPr>
        <p:txBody>
          <a:bodyPr wrap="square" lIns="0" tIns="0" rIns="0" bIns="0" rtlCol="0" anchor="t"/>
          <a:lstStyle/>
          <a:p>
            <a:pPr algn="l" indent="0" marL="0">
              <a:buNone/>
            </a:pPr>
            <a:r>
              <a:rPr lang="en-US" sz="1500" dirty="0">
                <a:solidFill>
                  <a:srgbClr val="9FB3C8"/>
                </a:solidFill>
                <a:latin typeface="Arial" pitchFamily="34" charset="0"/>
                <a:ea typeface="Arial" pitchFamily="34" charset="-122"/>
                <a:cs typeface="Arial" pitchFamily="34" charset="-120"/>
              </a:rPr>
              <a:t>Account, service, cost-centre and project detail, the North Europe decommission, and notes on how these figures were produced.</a:t>
            </a:r>
            <a:endParaRPr lang="en-US" sz="15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F2A900"/>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APPENDIX · AWS BY ACCOUNT</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The Digital platform is half of all AWS consumption</a:t>
            </a:r>
            <a:endParaRPr lang="en-US" sz="2800" dirty="0"/>
          </a:p>
        </p:txBody>
      </p:sp>
      <p:sp>
        <p:nvSpPr>
          <p:cNvPr id="5" name="strip"/>
          <p:cNvSpPr/>
          <p:nvPr/>
        </p:nvSpPr>
        <p:spPr>
          <a:xfrm>
            <a:off x="566928" y="1517904"/>
            <a:ext cx="7114032" cy="566928"/>
          </a:xfrm>
          <a:prstGeom prst="roundRect">
            <a:avLst>
              <a:gd name="adj" fmla="val 9677"/>
            </a:avLst>
          </a:prstGeom>
          <a:solidFill>
            <a:srgbClr val="EEF2F7"/>
          </a:solidFill>
          <a:ln/>
        </p:spPr>
      </p:sp>
      <p:sp>
        <p:nvSpPr>
          <p:cNvPr id="6" name="Text 4"/>
          <p:cNvSpPr txBox="1"/>
          <p:nvPr/>
        </p:nvSpPr>
        <p:spPr>
          <a:xfrm>
            <a:off x="566928"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Jan</a:t>
            </a:r>
            <a:endParaRPr lang="en-US" sz="950" dirty="0"/>
          </a:p>
        </p:txBody>
      </p:sp>
      <p:sp>
        <p:nvSpPr>
          <p:cNvPr id="7" name="Text 5"/>
          <p:cNvSpPr txBox="1"/>
          <p:nvPr/>
        </p:nvSpPr>
        <p:spPr>
          <a:xfrm>
            <a:off x="566928"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$77K</a:t>
            </a:r>
            <a:endParaRPr lang="en-US" sz="1100" dirty="0"/>
          </a:p>
        </p:txBody>
      </p:sp>
      <p:sp>
        <p:nvSpPr>
          <p:cNvPr id="8" name="Text 6"/>
          <p:cNvSpPr txBox="1"/>
          <p:nvPr/>
        </p:nvSpPr>
        <p:spPr>
          <a:xfrm>
            <a:off x="1357376"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Feb</a:t>
            </a:r>
            <a:endParaRPr lang="en-US" sz="950" dirty="0"/>
          </a:p>
        </p:txBody>
      </p:sp>
      <p:sp>
        <p:nvSpPr>
          <p:cNvPr id="9" name="Text 7"/>
          <p:cNvSpPr txBox="1"/>
          <p:nvPr/>
        </p:nvSpPr>
        <p:spPr>
          <a:xfrm>
            <a:off x="1357376"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$83K</a:t>
            </a:r>
            <a:endParaRPr lang="en-US" sz="1100" dirty="0"/>
          </a:p>
        </p:txBody>
      </p:sp>
      <p:sp>
        <p:nvSpPr>
          <p:cNvPr id="10" name="Text 8"/>
          <p:cNvSpPr txBox="1"/>
          <p:nvPr/>
        </p:nvSpPr>
        <p:spPr>
          <a:xfrm>
            <a:off x="2147824"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Mar</a:t>
            </a:r>
            <a:endParaRPr lang="en-US" sz="950" dirty="0"/>
          </a:p>
        </p:txBody>
      </p:sp>
      <p:sp>
        <p:nvSpPr>
          <p:cNvPr id="11" name="Text 9"/>
          <p:cNvSpPr txBox="1"/>
          <p:nvPr/>
        </p:nvSpPr>
        <p:spPr>
          <a:xfrm>
            <a:off x="2147824"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$96K</a:t>
            </a:r>
            <a:endParaRPr lang="en-US" sz="1100" dirty="0"/>
          </a:p>
        </p:txBody>
      </p:sp>
      <p:sp>
        <p:nvSpPr>
          <p:cNvPr id="12" name="Text 10"/>
          <p:cNvSpPr txBox="1"/>
          <p:nvPr/>
        </p:nvSpPr>
        <p:spPr>
          <a:xfrm>
            <a:off x="2938272"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Apr</a:t>
            </a:r>
            <a:endParaRPr lang="en-US" sz="950" dirty="0"/>
          </a:p>
        </p:txBody>
      </p:sp>
      <p:sp>
        <p:nvSpPr>
          <p:cNvPr id="13" name="Text 11"/>
          <p:cNvSpPr txBox="1"/>
          <p:nvPr/>
        </p:nvSpPr>
        <p:spPr>
          <a:xfrm>
            <a:off x="2938272"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$82K</a:t>
            </a:r>
            <a:endParaRPr lang="en-US" sz="1100" dirty="0"/>
          </a:p>
        </p:txBody>
      </p:sp>
      <p:sp>
        <p:nvSpPr>
          <p:cNvPr id="14" name="Text 12"/>
          <p:cNvSpPr txBox="1"/>
          <p:nvPr/>
        </p:nvSpPr>
        <p:spPr>
          <a:xfrm>
            <a:off x="3728720"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May</a:t>
            </a:r>
            <a:endParaRPr lang="en-US" sz="950" dirty="0"/>
          </a:p>
        </p:txBody>
      </p:sp>
      <p:sp>
        <p:nvSpPr>
          <p:cNvPr id="15" name="Text 13"/>
          <p:cNvSpPr txBox="1"/>
          <p:nvPr/>
        </p:nvSpPr>
        <p:spPr>
          <a:xfrm>
            <a:off x="3728720"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$83K</a:t>
            </a:r>
            <a:endParaRPr lang="en-US" sz="1100" dirty="0"/>
          </a:p>
        </p:txBody>
      </p:sp>
      <p:sp>
        <p:nvSpPr>
          <p:cNvPr id="16" name="Text 14"/>
          <p:cNvSpPr txBox="1"/>
          <p:nvPr/>
        </p:nvSpPr>
        <p:spPr>
          <a:xfrm>
            <a:off x="4519168"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Jun</a:t>
            </a:r>
            <a:endParaRPr lang="en-US" sz="950" dirty="0"/>
          </a:p>
        </p:txBody>
      </p:sp>
      <p:sp>
        <p:nvSpPr>
          <p:cNvPr id="17" name="Text 15"/>
          <p:cNvSpPr txBox="1"/>
          <p:nvPr/>
        </p:nvSpPr>
        <p:spPr>
          <a:xfrm>
            <a:off x="4519168"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$87K</a:t>
            </a:r>
            <a:endParaRPr lang="en-US" sz="1100" dirty="0"/>
          </a:p>
        </p:txBody>
      </p:sp>
      <p:sp>
        <p:nvSpPr>
          <p:cNvPr id="18" name="Text 16"/>
          <p:cNvSpPr txBox="1"/>
          <p:nvPr/>
        </p:nvSpPr>
        <p:spPr>
          <a:xfrm>
            <a:off x="5309616"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Jul</a:t>
            </a:r>
            <a:endParaRPr lang="en-US" sz="950" dirty="0"/>
          </a:p>
        </p:txBody>
      </p:sp>
      <p:sp>
        <p:nvSpPr>
          <p:cNvPr id="19" name="Text 17"/>
          <p:cNvSpPr txBox="1"/>
          <p:nvPr/>
        </p:nvSpPr>
        <p:spPr>
          <a:xfrm>
            <a:off x="5309616"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$77K</a:t>
            </a:r>
            <a:endParaRPr lang="en-US" sz="1100" dirty="0"/>
          </a:p>
        </p:txBody>
      </p:sp>
      <p:sp>
        <p:nvSpPr>
          <p:cNvPr id="20" name="Text 18"/>
          <p:cNvSpPr txBox="1"/>
          <p:nvPr/>
        </p:nvSpPr>
        <p:spPr>
          <a:xfrm>
            <a:off x="6100064"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Aug</a:t>
            </a:r>
            <a:endParaRPr lang="en-US" sz="950" dirty="0"/>
          </a:p>
        </p:txBody>
      </p:sp>
      <p:sp>
        <p:nvSpPr>
          <p:cNvPr id="21" name="Text 19"/>
          <p:cNvSpPr txBox="1"/>
          <p:nvPr/>
        </p:nvSpPr>
        <p:spPr>
          <a:xfrm>
            <a:off x="6100064"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$107K</a:t>
            </a:r>
            <a:endParaRPr lang="en-US" sz="1100" dirty="0"/>
          </a:p>
        </p:txBody>
      </p:sp>
      <p:sp>
        <p:nvSpPr>
          <p:cNvPr id="22" name="Text 20"/>
          <p:cNvSpPr txBox="1"/>
          <p:nvPr/>
        </p:nvSpPr>
        <p:spPr>
          <a:xfrm>
            <a:off x="6890512"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Sep</a:t>
            </a:r>
            <a:endParaRPr lang="en-US" sz="950" dirty="0"/>
          </a:p>
        </p:txBody>
      </p:sp>
      <p:sp>
        <p:nvSpPr>
          <p:cNvPr id="23" name="Text 21"/>
          <p:cNvSpPr txBox="1"/>
          <p:nvPr/>
        </p:nvSpPr>
        <p:spPr>
          <a:xfrm>
            <a:off x="6890512" y="1773936"/>
            <a:ext cx="790448" cy="256032"/>
          </a:xfrm>
          <a:prstGeom prst="rect">
            <a:avLst/>
          </a:prstGeom>
          <a:noFill/>
          <a:ln/>
        </p:spPr>
        <p:txBody>
          <a:bodyPr wrap="square" lIns="0" tIns="0" rIns="0" bIns="0" rtlCol="0" anchor="ctr"/>
          <a:lstStyle/>
          <a:p>
            <a:pPr algn="ctr" indent="0" marL="0">
              <a:buNone/>
            </a:pPr>
            <a:r>
              <a:rPr lang="en-US" sz="1100" b="1" dirty="0">
                <a:solidFill>
                  <a:srgbClr val="0B1B2E"/>
                </a:solidFill>
                <a:latin typeface="Arial" pitchFamily="34" charset="0"/>
                <a:ea typeface="Arial" pitchFamily="34" charset="-122"/>
                <a:cs typeface="Arial" pitchFamily="34" charset="-120"/>
              </a:rPr>
              <a:t>$101K</a:t>
            </a:r>
            <a:endParaRPr lang="en-US" sz="1100" dirty="0"/>
          </a:p>
        </p:txBody>
      </p:sp>
      <p:graphicFrame>
        <p:nvGraphicFramePr>
          <p:cNvPr id="24" name="Chart 0" descr=""/>
          <p:cNvGraphicFramePr/>
          <p:nvPr/>
        </p:nvGraphicFramePr>
        <p:xfrm>
          <a:off x="457200" y="2176272"/>
          <a:ext cx="7223760" cy="3456432"/>
        </p:xfrm>
        <a:graphic xmlns:a="http://schemas.openxmlformats.org/drawingml/2006/main">
          <a:graphicData uri="http://schemas.openxmlformats.org/drawingml/2006/chart">
            <c:chart xmlns:c="http://schemas.openxmlformats.org/drawingml/2006/chart" r:id="rId1"/>
          </a:graphicData>
        </a:graphic>
      </p:graphicFrame>
      <p:sp>
        <p:nvSpPr>
          <p:cNvPr id="25" name="metric-September 2026"/>
          <p:cNvSpPr/>
          <p:nvPr/>
        </p:nvSpPr>
        <p:spPr>
          <a:xfrm>
            <a:off x="7973568" y="1517904"/>
            <a:ext cx="3648456" cy="1627632"/>
          </a:xfrm>
          <a:prstGeom prst="roundRect">
            <a:avLst>
              <a:gd name="adj" fmla="val 3371"/>
            </a:avLst>
          </a:prstGeom>
          <a:solidFill>
            <a:srgbClr val="EEF2F7"/>
          </a:solidFill>
          <a:ln/>
        </p:spPr>
      </p:sp>
      <p:sp>
        <p:nvSpPr>
          <p:cNvPr id="26" name="metric-dot"/>
          <p:cNvSpPr/>
          <p:nvPr/>
        </p:nvSpPr>
        <p:spPr>
          <a:xfrm>
            <a:off x="8229600" y="1755648"/>
            <a:ext cx="91440" cy="91440"/>
          </a:xfrm>
          <a:prstGeom prst="ellipse">
            <a:avLst/>
          </a:prstGeom>
          <a:solidFill>
            <a:srgbClr val="F2A900"/>
          </a:solidFill>
          <a:ln/>
        </p:spPr>
      </p:sp>
      <p:sp>
        <p:nvSpPr>
          <p:cNvPr id="27" name="Text 24"/>
          <p:cNvSpPr txBox="1"/>
          <p:nvPr/>
        </p:nvSpPr>
        <p:spPr>
          <a:xfrm>
            <a:off x="8412480" y="1664208"/>
            <a:ext cx="2953512" cy="256032"/>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SEPTEMBER 2026</a:t>
            </a:r>
            <a:endParaRPr lang="en-US" sz="1000" dirty="0"/>
          </a:p>
        </p:txBody>
      </p:sp>
      <p:sp>
        <p:nvSpPr>
          <p:cNvPr id="28" name="Text 25"/>
          <p:cNvSpPr txBox="1"/>
          <p:nvPr/>
        </p:nvSpPr>
        <p:spPr>
          <a:xfrm>
            <a:off x="8229600" y="1920240"/>
            <a:ext cx="3136392" cy="566928"/>
          </a:xfrm>
          <a:prstGeom prst="rect">
            <a:avLst/>
          </a:prstGeom>
          <a:noFill/>
          <a:ln/>
        </p:spPr>
        <p:txBody>
          <a:bodyPr wrap="square" lIns="0" tIns="0" rIns="0" bIns="0" rtlCol="0" anchor="ctr"/>
          <a:lstStyle/>
          <a:p>
            <a:pPr algn="l" indent="0" marL="0">
              <a:buNone/>
            </a:pPr>
            <a:r>
              <a:rPr lang="en-US" sz="3000" b="1" dirty="0">
                <a:solidFill>
                  <a:srgbClr val="0B1B2E"/>
                </a:solidFill>
                <a:latin typeface="Arial" pitchFamily="34" charset="0"/>
                <a:ea typeface="Arial" pitchFamily="34" charset="-122"/>
                <a:cs typeface="Arial" pitchFamily="34" charset="-120"/>
              </a:rPr>
              <a:t>$101,028</a:t>
            </a:r>
            <a:endParaRPr lang="en-US" sz="3000" dirty="0"/>
          </a:p>
        </p:txBody>
      </p:sp>
      <p:sp>
        <p:nvSpPr>
          <p:cNvPr id="29" name="Text 26"/>
          <p:cNvSpPr txBox="1"/>
          <p:nvPr/>
        </p:nvSpPr>
        <p:spPr>
          <a:xfrm>
            <a:off x="8229600" y="2487168"/>
            <a:ext cx="3136392" cy="274320"/>
          </a:xfrm>
          <a:prstGeom prst="rect">
            <a:avLst/>
          </a:prstGeom>
          <a:noFill/>
          <a:ln/>
        </p:spPr>
        <p:txBody>
          <a:bodyPr wrap="square" lIns="0" tIns="0" rIns="0" bIns="0" rtlCol="0" anchor="ctr"/>
          <a:lstStyle/>
          <a:p>
            <a:pPr algn="l" indent="0" marL="0">
              <a:buNone/>
            </a:pPr>
            <a:r>
              <a:rPr lang="en-US" sz="1100" b="1" dirty="0">
                <a:solidFill>
                  <a:srgbClr val="00A878"/>
                </a:solidFill>
                <a:latin typeface="Arial" pitchFamily="34" charset="0"/>
                <a:ea typeface="Arial" pitchFamily="34" charset="-122"/>
                <a:cs typeface="Arial" pitchFamily="34" charset="-120"/>
              </a:rPr>
              <a:t>–5.2% vs August   (–$5,505)</a:t>
            </a:r>
            <a:endParaRPr lang="en-US" sz="1100" dirty="0"/>
          </a:p>
        </p:txBody>
      </p:sp>
      <p:sp>
        <p:nvSpPr>
          <p:cNvPr id="30" name="Text 27"/>
          <p:cNvSpPr txBox="1"/>
          <p:nvPr/>
        </p:nvSpPr>
        <p:spPr>
          <a:xfrm>
            <a:off x="8229600" y="2724912"/>
            <a:ext cx="3136392" cy="274320"/>
          </a:xfrm>
          <a:prstGeom prst="rect">
            <a:avLst/>
          </a:prstGeom>
          <a:noFill/>
          <a:ln/>
        </p:spPr>
        <p:txBody>
          <a:bodyPr wrap="square" lIns="0" tIns="0" rIns="0" bIns="0" rtlCol="0" anchor="ctr"/>
          <a:lstStyle/>
          <a:p>
            <a:pPr algn="l" indent="0" marL="0">
              <a:buNone/>
            </a:pPr>
            <a:r>
              <a:rPr lang="en-US" sz="1050" dirty="0">
                <a:solidFill>
                  <a:srgbClr val="5B6B7E"/>
                </a:solidFill>
                <a:latin typeface="Arial" pitchFamily="34" charset="0"/>
                <a:ea typeface="Arial" pitchFamily="34" charset="-122"/>
                <a:cs typeface="Arial" pitchFamily="34" charset="-120"/>
              </a:rPr>
              <a:t>As reported in September: $791K</a:t>
            </a:r>
            <a:endParaRPr lang="en-US" sz="1050" dirty="0"/>
          </a:p>
        </p:txBody>
      </p:sp>
      <p:sp>
        <p:nvSpPr>
          <p:cNvPr id="31" name="panel"/>
          <p:cNvSpPr/>
          <p:nvPr/>
        </p:nvSpPr>
        <p:spPr>
          <a:xfrm>
            <a:off x="7973568" y="3255264"/>
            <a:ext cx="3648456" cy="2377440"/>
          </a:xfrm>
          <a:prstGeom prst="roundRect">
            <a:avLst>
              <a:gd name="adj" fmla="val 2308"/>
            </a:avLst>
          </a:prstGeom>
          <a:solidFill>
            <a:srgbClr val="EEF2F7"/>
          </a:solidFill>
          <a:ln/>
        </p:spPr>
      </p:sp>
      <p:sp>
        <p:nvSpPr>
          <p:cNvPr id="32" name="Text 29"/>
          <p:cNvSpPr txBox="1"/>
          <p:nvPr/>
        </p:nvSpPr>
        <p:spPr>
          <a:xfrm>
            <a:off x="8229600" y="3419856"/>
            <a:ext cx="3108960" cy="274320"/>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Year to date by account</a:t>
            </a:r>
            <a:endParaRPr lang="en-US" sz="1250" dirty="0"/>
          </a:p>
        </p:txBody>
      </p:sp>
      <p:sp>
        <p:nvSpPr>
          <p:cNvPr id="33" name="Text 30"/>
          <p:cNvSpPr txBox="1"/>
          <p:nvPr/>
        </p:nvSpPr>
        <p:spPr>
          <a:xfrm>
            <a:off x="8229600" y="3767328"/>
            <a:ext cx="1682496" cy="274320"/>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aws-prod-Digital</a:t>
            </a:r>
            <a:endParaRPr lang="en-US" sz="1000" dirty="0"/>
          </a:p>
        </p:txBody>
      </p:sp>
      <p:sp>
        <p:nvSpPr>
          <p:cNvPr id="34" name="rank-bar-0"/>
          <p:cNvSpPr/>
          <p:nvPr/>
        </p:nvSpPr>
        <p:spPr>
          <a:xfrm>
            <a:off x="10003536" y="3835908"/>
            <a:ext cx="548640" cy="137160"/>
          </a:xfrm>
          <a:prstGeom prst="rect">
            <a:avLst/>
          </a:prstGeom>
          <a:solidFill>
            <a:srgbClr val="F2A900"/>
          </a:solidFill>
          <a:ln/>
        </p:spPr>
      </p:sp>
      <p:sp>
        <p:nvSpPr>
          <p:cNvPr id="35" name="Text 32"/>
          <p:cNvSpPr txBox="1"/>
          <p:nvPr/>
        </p:nvSpPr>
        <p:spPr>
          <a:xfrm>
            <a:off x="10643616" y="3767328"/>
            <a:ext cx="731520"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$198K</a:t>
            </a:r>
            <a:endParaRPr lang="en-US" sz="1050" dirty="0"/>
          </a:p>
        </p:txBody>
      </p:sp>
      <p:sp>
        <p:nvSpPr>
          <p:cNvPr id="36" name="Text 33"/>
          <p:cNvSpPr txBox="1"/>
          <p:nvPr/>
        </p:nvSpPr>
        <p:spPr>
          <a:xfrm>
            <a:off x="8229600" y="4114800"/>
            <a:ext cx="1682496" cy="274320"/>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aws-devTest-digital</a:t>
            </a:r>
            <a:endParaRPr lang="en-US" sz="1000" dirty="0"/>
          </a:p>
        </p:txBody>
      </p:sp>
      <p:sp>
        <p:nvSpPr>
          <p:cNvPr id="37" name="rank-bar-1"/>
          <p:cNvSpPr/>
          <p:nvPr/>
        </p:nvSpPr>
        <p:spPr>
          <a:xfrm>
            <a:off x="10003536" y="4183380"/>
            <a:ext cx="315671" cy="137160"/>
          </a:xfrm>
          <a:prstGeom prst="rect">
            <a:avLst/>
          </a:prstGeom>
          <a:solidFill>
            <a:srgbClr val="F2A900"/>
          </a:solidFill>
          <a:ln/>
        </p:spPr>
      </p:sp>
      <p:sp>
        <p:nvSpPr>
          <p:cNvPr id="38" name="Text 35"/>
          <p:cNvSpPr txBox="1"/>
          <p:nvPr/>
        </p:nvSpPr>
        <p:spPr>
          <a:xfrm>
            <a:off x="10643616" y="4114800"/>
            <a:ext cx="731520"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$114K</a:t>
            </a:r>
            <a:endParaRPr lang="en-US" sz="1050" dirty="0"/>
          </a:p>
        </p:txBody>
      </p:sp>
      <p:sp>
        <p:nvSpPr>
          <p:cNvPr id="39" name="Text 36"/>
          <p:cNvSpPr txBox="1"/>
          <p:nvPr/>
        </p:nvSpPr>
        <p:spPr>
          <a:xfrm>
            <a:off x="8229600" y="4462272"/>
            <a:ext cx="1682496" cy="274320"/>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aws-preProd-digital</a:t>
            </a:r>
            <a:endParaRPr lang="en-US" sz="1000" dirty="0"/>
          </a:p>
        </p:txBody>
      </p:sp>
      <p:sp>
        <p:nvSpPr>
          <p:cNvPr id="40" name="rank-bar-2"/>
          <p:cNvSpPr/>
          <p:nvPr/>
        </p:nvSpPr>
        <p:spPr>
          <a:xfrm>
            <a:off x="10003536" y="4530852"/>
            <a:ext cx="262236" cy="137160"/>
          </a:xfrm>
          <a:prstGeom prst="rect">
            <a:avLst/>
          </a:prstGeom>
          <a:solidFill>
            <a:srgbClr val="F2A900"/>
          </a:solidFill>
          <a:ln/>
        </p:spPr>
      </p:sp>
      <p:sp>
        <p:nvSpPr>
          <p:cNvPr id="41" name="Text 38"/>
          <p:cNvSpPr txBox="1"/>
          <p:nvPr/>
        </p:nvSpPr>
        <p:spPr>
          <a:xfrm>
            <a:off x="10643616" y="4462272"/>
            <a:ext cx="731520"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$95K</a:t>
            </a:r>
            <a:endParaRPr lang="en-US" sz="1050" dirty="0"/>
          </a:p>
        </p:txBody>
      </p:sp>
      <p:sp>
        <p:nvSpPr>
          <p:cNvPr id="42" name="Text 39"/>
          <p:cNvSpPr txBox="1"/>
          <p:nvPr/>
        </p:nvSpPr>
        <p:spPr>
          <a:xfrm>
            <a:off x="8229600" y="4809744"/>
            <a:ext cx="1682496" cy="274320"/>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foundation-security</a:t>
            </a:r>
            <a:endParaRPr lang="en-US" sz="1000" dirty="0"/>
          </a:p>
        </p:txBody>
      </p:sp>
      <p:sp>
        <p:nvSpPr>
          <p:cNvPr id="43" name="rank-bar-3"/>
          <p:cNvSpPr/>
          <p:nvPr/>
        </p:nvSpPr>
        <p:spPr>
          <a:xfrm>
            <a:off x="10003536" y="4878324"/>
            <a:ext cx="206070" cy="137160"/>
          </a:xfrm>
          <a:prstGeom prst="rect">
            <a:avLst/>
          </a:prstGeom>
          <a:solidFill>
            <a:srgbClr val="0F7DC2"/>
          </a:solidFill>
          <a:ln/>
        </p:spPr>
      </p:sp>
      <p:sp>
        <p:nvSpPr>
          <p:cNvPr id="44" name="Text 41"/>
          <p:cNvSpPr txBox="1"/>
          <p:nvPr/>
        </p:nvSpPr>
        <p:spPr>
          <a:xfrm>
            <a:off x="10643616" y="4809744"/>
            <a:ext cx="731520"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$74K</a:t>
            </a:r>
            <a:endParaRPr lang="en-US" sz="1050" dirty="0"/>
          </a:p>
        </p:txBody>
      </p:sp>
      <p:sp>
        <p:nvSpPr>
          <p:cNvPr id="45" name="Text 42"/>
          <p:cNvSpPr txBox="1"/>
          <p:nvPr/>
        </p:nvSpPr>
        <p:spPr>
          <a:xfrm>
            <a:off x="8229600" y="5157216"/>
            <a:ext cx="1682496" cy="274320"/>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customers3-prod</a:t>
            </a:r>
            <a:endParaRPr lang="en-US" sz="1000" dirty="0"/>
          </a:p>
        </p:txBody>
      </p:sp>
      <p:sp>
        <p:nvSpPr>
          <p:cNvPr id="46" name="rank-bar-4"/>
          <p:cNvSpPr/>
          <p:nvPr/>
        </p:nvSpPr>
        <p:spPr>
          <a:xfrm>
            <a:off x="10003536" y="5225796"/>
            <a:ext cx="204752" cy="137160"/>
          </a:xfrm>
          <a:prstGeom prst="rect">
            <a:avLst/>
          </a:prstGeom>
          <a:solidFill>
            <a:srgbClr val="00A878"/>
          </a:solidFill>
          <a:ln/>
        </p:spPr>
      </p:sp>
      <p:sp>
        <p:nvSpPr>
          <p:cNvPr id="47" name="Text 44"/>
          <p:cNvSpPr txBox="1"/>
          <p:nvPr/>
        </p:nvSpPr>
        <p:spPr>
          <a:xfrm>
            <a:off x="10643616" y="5157216"/>
            <a:ext cx="731520"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$74K</a:t>
            </a:r>
            <a:endParaRPr lang="en-US" sz="1050" dirty="0"/>
          </a:p>
        </p:txBody>
      </p:sp>
      <p:sp>
        <p:nvSpPr>
          <p:cNvPr id="48"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The top three Digital accounts are $407K of the $792K. customers3-prod is the most volatile, swinging between $0.9K and $13.5K a month.</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F2A900"/>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APPENDIX · AWS BY SERVICE</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EC2 compute is 38% of the AWS bill and 93% covered</a:t>
            </a:r>
            <a:endParaRPr lang="en-US" sz="2800" dirty="0"/>
          </a:p>
        </p:txBody>
      </p:sp>
      <p:sp>
        <p:nvSpPr>
          <p:cNvPr id="5" name="strip"/>
          <p:cNvSpPr/>
          <p:nvPr/>
        </p:nvSpPr>
        <p:spPr>
          <a:xfrm>
            <a:off x="566928" y="1517904"/>
            <a:ext cx="7114032" cy="566928"/>
          </a:xfrm>
          <a:prstGeom prst="roundRect">
            <a:avLst>
              <a:gd name="adj" fmla="val 9677"/>
            </a:avLst>
          </a:prstGeom>
          <a:solidFill>
            <a:srgbClr val="EEF2F7"/>
          </a:solidFill>
          <a:ln/>
        </p:spPr>
      </p:sp>
      <p:sp>
        <p:nvSpPr>
          <p:cNvPr id="6" name="Text 4"/>
          <p:cNvSpPr txBox="1"/>
          <p:nvPr/>
        </p:nvSpPr>
        <p:spPr>
          <a:xfrm>
            <a:off x="566928"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Jan</a:t>
            </a:r>
            <a:endParaRPr lang="en-US" sz="950" dirty="0"/>
          </a:p>
        </p:txBody>
      </p:sp>
      <p:sp>
        <p:nvSpPr>
          <p:cNvPr id="7" name="Text 5"/>
          <p:cNvSpPr txBox="1"/>
          <p:nvPr/>
        </p:nvSpPr>
        <p:spPr>
          <a:xfrm>
            <a:off x="566928"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$77K</a:t>
            </a:r>
            <a:endParaRPr lang="en-US" sz="1100" dirty="0"/>
          </a:p>
        </p:txBody>
      </p:sp>
      <p:sp>
        <p:nvSpPr>
          <p:cNvPr id="8" name="Text 6"/>
          <p:cNvSpPr txBox="1"/>
          <p:nvPr/>
        </p:nvSpPr>
        <p:spPr>
          <a:xfrm>
            <a:off x="1357376"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Feb</a:t>
            </a:r>
            <a:endParaRPr lang="en-US" sz="950" dirty="0"/>
          </a:p>
        </p:txBody>
      </p:sp>
      <p:sp>
        <p:nvSpPr>
          <p:cNvPr id="9" name="Text 7"/>
          <p:cNvSpPr txBox="1"/>
          <p:nvPr/>
        </p:nvSpPr>
        <p:spPr>
          <a:xfrm>
            <a:off x="1357376"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$83K</a:t>
            </a:r>
            <a:endParaRPr lang="en-US" sz="1100" dirty="0"/>
          </a:p>
        </p:txBody>
      </p:sp>
      <p:sp>
        <p:nvSpPr>
          <p:cNvPr id="10" name="Text 8"/>
          <p:cNvSpPr txBox="1"/>
          <p:nvPr/>
        </p:nvSpPr>
        <p:spPr>
          <a:xfrm>
            <a:off x="2147824"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Mar</a:t>
            </a:r>
            <a:endParaRPr lang="en-US" sz="950" dirty="0"/>
          </a:p>
        </p:txBody>
      </p:sp>
      <p:sp>
        <p:nvSpPr>
          <p:cNvPr id="11" name="Text 9"/>
          <p:cNvSpPr txBox="1"/>
          <p:nvPr/>
        </p:nvSpPr>
        <p:spPr>
          <a:xfrm>
            <a:off x="2147824"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$96K</a:t>
            </a:r>
            <a:endParaRPr lang="en-US" sz="1100" dirty="0"/>
          </a:p>
        </p:txBody>
      </p:sp>
      <p:sp>
        <p:nvSpPr>
          <p:cNvPr id="12" name="Text 10"/>
          <p:cNvSpPr txBox="1"/>
          <p:nvPr/>
        </p:nvSpPr>
        <p:spPr>
          <a:xfrm>
            <a:off x="2938272"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Apr</a:t>
            </a:r>
            <a:endParaRPr lang="en-US" sz="950" dirty="0"/>
          </a:p>
        </p:txBody>
      </p:sp>
      <p:sp>
        <p:nvSpPr>
          <p:cNvPr id="13" name="Text 11"/>
          <p:cNvSpPr txBox="1"/>
          <p:nvPr/>
        </p:nvSpPr>
        <p:spPr>
          <a:xfrm>
            <a:off x="2938272"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$82K</a:t>
            </a:r>
            <a:endParaRPr lang="en-US" sz="1100" dirty="0"/>
          </a:p>
        </p:txBody>
      </p:sp>
      <p:sp>
        <p:nvSpPr>
          <p:cNvPr id="14" name="Text 12"/>
          <p:cNvSpPr txBox="1"/>
          <p:nvPr/>
        </p:nvSpPr>
        <p:spPr>
          <a:xfrm>
            <a:off x="3728720"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May</a:t>
            </a:r>
            <a:endParaRPr lang="en-US" sz="950" dirty="0"/>
          </a:p>
        </p:txBody>
      </p:sp>
      <p:sp>
        <p:nvSpPr>
          <p:cNvPr id="15" name="Text 13"/>
          <p:cNvSpPr txBox="1"/>
          <p:nvPr/>
        </p:nvSpPr>
        <p:spPr>
          <a:xfrm>
            <a:off x="3728720"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$83K</a:t>
            </a:r>
            <a:endParaRPr lang="en-US" sz="1100" dirty="0"/>
          </a:p>
        </p:txBody>
      </p:sp>
      <p:sp>
        <p:nvSpPr>
          <p:cNvPr id="16" name="Text 14"/>
          <p:cNvSpPr txBox="1"/>
          <p:nvPr/>
        </p:nvSpPr>
        <p:spPr>
          <a:xfrm>
            <a:off x="4519168"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Jun</a:t>
            </a:r>
            <a:endParaRPr lang="en-US" sz="950" dirty="0"/>
          </a:p>
        </p:txBody>
      </p:sp>
      <p:sp>
        <p:nvSpPr>
          <p:cNvPr id="17" name="Text 15"/>
          <p:cNvSpPr txBox="1"/>
          <p:nvPr/>
        </p:nvSpPr>
        <p:spPr>
          <a:xfrm>
            <a:off x="4519168"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$87K</a:t>
            </a:r>
            <a:endParaRPr lang="en-US" sz="1100" dirty="0"/>
          </a:p>
        </p:txBody>
      </p:sp>
      <p:sp>
        <p:nvSpPr>
          <p:cNvPr id="18" name="Text 16"/>
          <p:cNvSpPr txBox="1"/>
          <p:nvPr/>
        </p:nvSpPr>
        <p:spPr>
          <a:xfrm>
            <a:off x="5309616"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Jul</a:t>
            </a:r>
            <a:endParaRPr lang="en-US" sz="950" dirty="0"/>
          </a:p>
        </p:txBody>
      </p:sp>
      <p:sp>
        <p:nvSpPr>
          <p:cNvPr id="19" name="Text 17"/>
          <p:cNvSpPr txBox="1"/>
          <p:nvPr/>
        </p:nvSpPr>
        <p:spPr>
          <a:xfrm>
            <a:off x="5309616"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$77K</a:t>
            </a:r>
            <a:endParaRPr lang="en-US" sz="1100" dirty="0"/>
          </a:p>
        </p:txBody>
      </p:sp>
      <p:sp>
        <p:nvSpPr>
          <p:cNvPr id="20" name="Text 18"/>
          <p:cNvSpPr txBox="1"/>
          <p:nvPr/>
        </p:nvSpPr>
        <p:spPr>
          <a:xfrm>
            <a:off x="6100064"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Aug</a:t>
            </a:r>
            <a:endParaRPr lang="en-US" sz="950" dirty="0"/>
          </a:p>
        </p:txBody>
      </p:sp>
      <p:sp>
        <p:nvSpPr>
          <p:cNvPr id="21" name="Text 19"/>
          <p:cNvSpPr txBox="1"/>
          <p:nvPr/>
        </p:nvSpPr>
        <p:spPr>
          <a:xfrm>
            <a:off x="6100064"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$107K</a:t>
            </a:r>
            <a:endParaRPr lang="en-US" sz="1100" dirty="0"/>
          </a:p>
        </p:txBody>
      </p:sp>
      <p:sp>
        <p:nvSpPr>
          <p:cNvPr id="22" name="Text 20"/>
          <p:cNvSpPr txBox="1"/>
          <p:nvPr/>
        </p:nvSpPr>
        <p:spPr>
          <a:xfrm>
            <a:off x="6890512"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Sep</a:t>
            </a:r>
            <a:endParaRPr lang="en-US" sz="950" dirty="0"/>
          </a:p>
        </p:txBody>
      </p:sp>
      <p:sp>
        <p:nvSpPr>
          <p:cNvPr id="23" name="Text 21"/>
          <p:cNvSpPr txBox="1"/>
          <p:nvPr/>
        </p:nvSpPr>
        <p:spPr>
          <a:xfrm>
            <a:off x="6890512" y="1773936"/>
            <a:ext cx="790448" cy="256032"/>
          </a:xfrm>
          <a:prstGeom prst="rect">
            <a:avLst/>
          </a:prstGeom>
          <a:noFill/>
          <a:ln/>
        </p:spPr>
        <p:txBody>
          <a:bodyPr wrap="square" lIns="0" tIns="0" rIns="0" bIns="0" rtlCol="0" anchor="ctr"/>
          <a:lstStyle/>
          <a:p>
            <a:pPr algn="ctr" indent="0" marL="0">
              <a:buNone/>
            </a:pPr>
            <a:r>
              <a:rPr lang="en-US" sz="1100" b="1" dirty="0">
                <a:solidFill>
                  <a:srgbClr val="0B1B2E"/>
                </a:solidFill>
                <a:latin typeface="Arial" pitchFamily="34" charset="0"/>
                <a:ea typeface="Arial" pitchFamily="34" charset="-122"/>
                <a:cs typeface="Arial" pitchFamily="34" charset="-120"/>
              </a:rPr>
              <a:t>$101K</a:t>
            </a:r>
            <a:endParaRPr lang="en-US" sz="1100" dirty="0"/>
          </a:p>
        </p:txBody>
      </p:sp>
      <p:graphicFrame>
        <p:nvGraphicFramePr>
          <p:cNvPr id="24" name="Chart 0" descr=""/>
          <p:cNvGraphicFramePr/>
          <p:nvPr/>
        </p:nvGraphicFramePr>
        <p:xfrm>
          <a:off x="457200" y="2176272"/>
          <a:ext cx="7223760" cy="3456432"/>
        </p:xfrm>
        <a:graphic xmlns:a="http://schemas.openxmlformats.org/drawingml/2006/main">
          <a:graphicData uri="http://schemas.openxmlformats.org/drawingml/2006/chart">
            <c:chart xmlns:c="http://schemas.openxmlformats.org/drawingml/2006/chart" r:id="rId1"/>
          </a:graphicData>
        </a:graphic>
      </p:graphicFrame>
      <p:sp>
        <p:nvSpPr>
          <p:cNvPr id="25" name="metric-September 2026"/>
          <p:cNvSpPr/>
          <p:nvPr/>
        </p:nvSpPr>
        <p:spPr>
          <a:xfrm>
            <a:off x="7973568" y="1517904"/>
            <a:ext cx="3648456" cy="1627632"/>
          </a:xfrm>
          <a:prstGeom prst="roundRect">
            <a:avLst>
              <a:gd name="adj" fmla="val 3371"/>
            </a:avLst>
          </a:prstGeom>
          <a:solidFill>
            <a:srgbClr val="EEF2F7"/>
          </a:solidFill>
          <a:ln/>
        </p:spPr>
      </p:sp>
      <p:sp>
        <p:nvSpPr>
          <p:cNvPr id="26" name="metric-dot"/>
          <p:cNvSpPr/>
          <p:nvPr/>
        </p:nvSpPr>
        <p:spPr>
          <a:xfrm>
            <a:off x="8229600" y="1755648"/>
            <a:ext cx="91440" cy="91440"/>
          </a:xfrm>
          <a:prstGeom prst="ellipse">
            <a:avLst/>
          </a:prstGeom>
          <a:solidFill>
            <a:srgbClr val="F2A900"/>
          </a:solidFill>
          <a:ln/>
        </p:spPr>
      </p:sp>
      <p:sp>
        <p:nvSpPr>
          <p:cNvPr id="27" name="Text 24"/>
          <p:cNvSpPr txBox="1"/>
          <p:nvPr/>
        </p:nvSpPr>
        <p:spPr>
          <a:xfrm>
            <a:off x="8412480" y="1664208"/>
            <a:ext cx="2953512" cy="256032"/>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SEPTEMBER 2026</a:t>
            </a:r>
            <a:endParaRPr lang="en-US" sz="1000" dirty="0"/>
          </a:p>
        </p:txBody>
      </p:sp>
      <p:sp>
        <p:nvSpPr>
          <p:cNvPr id="28" name="Text 25"/>
          <p:cNvSpPr txBox="1"/>
          <p:nvPr/>
        </p:nvSpPr>
        <p:spPr>
          <a:xfrm>
            <a:off x="8229600" y="1920240"/>
            <a:ext cx="3136392" cy="566928"/>
          </a:xfrm>
          <a:prstGeom prst="rect">
            <a:avLst/>
          </a:prstGeom>
          <a:noFill/>
          <a:ln/>
        </p:spPr>
        <p:txBody>
          <a:bodyPr wrap="square" lIns="0" tIns="0" rIns="0" bIns="0" rtlCol="0" anchor="ctr"/>
          <a:lstStyle/>
          <a:p>
            <a:pPr algn="l" indent="0" marL="0">
              <a:buNone/>
            </a:pPr>
            <a:r>
              <a:rPr lang="en-US" sz="3000" b="1" dirty="0">
                <a:solidFill>
                  <a:srgbClr val="0B1B2E"/>
                </a:solidFill>
                <a:latin typeface="Arial" pitchFamily="34" charset="0"/>
                <a:ea typeface="Arial" pitchFamily="34" charset="-122"/>
                <a:cs typeface="Arial" pitchFamily="34" charset="-120"/>
              </a:rPr>
              <a:t>$101,028</a:t>
            </a:r>
            <a:endParaRPr lang="en-US" sz="3000" dirty="0"/>
          </a:p>
        </p:txBody>
      </p:sp>
      <p:sp>
        <p:nvSpPr>
          <p:cNvPr id="29" name="Text 26"/>
          <p:cNvSpPr txBox="1"/>
          <p:nvPr/>
        </p:nvSpPr>
        <p:spPr>
          <a:xfrm>
            <a:off x="8229600" y="2487168"/>
            <a:ext cx="3136392" cy="274320"/>
          </a:xfrm>
          <a:prstGeom prst="rect">
            <a:avLst/>
          </a:prstGeom>
          <a:noFill/>
          <a:ln/>
        </p:spPr>
        <p:txBody>
          <a:bodyPr wrap="square" lIns="0" tIns="0" rIns="0" bIns="0" rtlCol="0" anchor="ctr"/>
          <a:lstStyle/>
          <a:p>
            <a:pPr algn="l" indent="0" marL="0">
              <a:buNone/>
            </a:pPr>
            <a:r>
              <a:rPr lang="en-US" sz="1100" b="1" dirty="0">
                <a:solidFill>
                  <a:srgbClr val="00A878"/>
                </a:solidFill>
                <a:latin typeface="Arial" pitchFamily="34" charset="0"/>
                <a:ea typeface="Arial" pitchFamily="34" charset="-122"/>
                <a:cs typeface="Arial" pitchFamily="34" charset="-120"/>
              </a:rPr>
              <a:t>–5.2% vs August   (–$5,505)</a:t>
            </a:r>
            <a:endParaRPr lang="en-US" sz="1100" dirty="0"/>
          </a:p>
        </p:txBody>
      </p:sp>
      <p:sp>
        <p:nvSpPr>
          <p:cNvPr id="30" name="Text 27"/>
          <p:cNvSpPr txBox="1"/>
          <p:nvPr/>
        </p:nvSpPr>
        <p:spPr>
          <a:xfrm>
            <a:off x="8229600" y="2724912"/>
            <a:ext cx="3136392" cy="274320"/>
          </a:xfrm>
          <a:prstGeom prst="rect">
            <a:avLst/>
          </a:prstGeom>
          <a:noFill/>
          <a:ln/>
        </p:spPr>
        <p:txBody>
          <a:bodyPr wrap="square" lIns="0" tIns="0" rIns="0" bIns="0" rtlCol="0" anchor="ctr"/>
          <a:lstStyle/>
          <a:p>
            <a:pPr algn="l" indent="0" marL="0">
              <a:buNone/>
            </a:pPr>
            <a:r>
              <a:rPr lang="en-US" sz="1050" dirty="0">
                <a:solidFill>
                  <a:srgbClr val="5B6B7E"/>
                </a:solidFill>
                <a:latin typeface="Arial" pitchFamily="34" charset="0"/>
                <a:ea typeface="Arial" pitchFamily="34" charset="-122"/>
                <a:cs typeface="Arial" pitchFamily="34" charset="-120"/>
              </a:rPr>
              <a:t>As reported in September: $791K</a:t>
            </a:r>
            <a:endParaRPr lang="en-US" sz="1050" dirty="0"/>
          </a:p>
        </p:txBody>
      </p:sp>
      <p:sp>
        <p:nvSpPr>
          <p:cNvPr id="31" name="panel"/>
          <p:cNvSpPr/>
          <p:nvPr/>
        </p:nvSpPr>
        <p:spPr>
          <a:xfrm>
            <a:off x="7973568" y="3255264"/>
            <a:ext cx="3648456" cy="2377440"/>
          </a:xfrm>
          <a:prstGeom prst="roundRect">
            <a:avLst>
              <a:gd name="adj" fmla="val 2308"/>
            </a:avLst>
          </a:prstGeom>
          <a:solidFill>
            <a:srgbClr val="EEF2F7"/>
          </a:solidFill>
          <a:ln/>
        </p:spPr>
      </p:sp>
      <p:sp>
        <p:nvSpPr>
          <p:cNvPr id="32" name="Text 29"/>
          <p:cNvSpPr txBox="1"/>
          <p:nvPr/>
        </p:nvSpPr>
        <p:spPr>
          <a:xfrm>
            <a:off x="8229600" y="3419856"/>
            <a:ext cx="3108960" cy="274320"/>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Year to date by service</a:t>
            </a:r>
            <a:endParaRPr lang="en-US" sz="1250" dirty="0"/>
          </a:p>
        </p:txBody>
      </p:sp>
      <p:sp>
        <p:nvSpPr>
          <p:cNvPr id="33" name="Text 30"/>
          <p:cNvSpPr txBox="1"/>
          <p:nvPr/>
        </p:nvSpPr>
        <p:spPr>
          <a:xfrm>
            <a:off x="8229600" y="3767328"/>
            <a:ext cx="1682496" cy="274320"/>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EC2 · Compute</a:t>
            </a:r>
            <a:endParaRPr lang="en-US" sz="1000" dirty="0"/>
          </a:p>
        </p:txBody>
      </p:sp>
      <p:sp>
        <p:nvSpPr>
          <p:cNvPr id="34" name="rank-bar-0"/>
          <p:cNvSpPr/>
          <p:nvPr/>
        </p:nvSpPr>
        <p:spPr>
          <a:xfrm>
            <a:off x="10003536" y="3835908"/>
            <a:ext cx="548640" cy="137160"/>
          </a:xfrm>
          <a:prstGeom prst="rect">
            <a:avLst/>
          </a:prstGeom>
          <a:solidFill>
            <a:srgbClr val="F2A900"/>
          </a:solidFill>
          <a:ln/>
        </p:spPr>
      </p:sp>
      <p:sp>
        <p:nvSpPr>
          <p:cNvPr id="35" name="Text 32"/>
          <p:cNvSpPr txBox="1"/>
          <p:nvPr/>
        </p:nvSpPr>
        <p:spPr>
          <a:xfrm>
            <a:off x="10643616" y="3767328"/>
            <a:ext cx="731520"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$300K</a:t>
            </a:r>
            <a:endParaRPr lang="en-US" sz="1050" dirty="0"/>
          </a:p>
        </p:txBody>
      </p:sp>
      <p:sp>
        <p:nvSpPr>
          <p:cNvPr id="36" name="Text 33"/>
          <p:cNvSpPr txBox="1"/>
          <p:nvPr/>
        </p:nvSpPr>
        <p:spPr>
          <a:xfrm>
            <a:off x="8229600" y="4114800"/>
            <a:ext cx="1682496" cy="274320"/>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Business Support</a:t>
            </a:r>
            <a:endParaRPr lang="en-US" sz="1000" dirty="0"/>
          </a:p>
        </p:txBody>
      </p:sp>
      <p:sp>
        <p:nvSpPr>
          <p:cNvPr id="37" name="rank-bar-1"/>
          <p:cNvSpPr/>
          <p:nvPr/>
        </p:nvSpPr>
        <p:spPr>
          <a:xfrm>
            <a:off x="10003536" y="4183380"/>
            <a:ext cx="84158" cy="137160"/>
          </a:xfrm>
          <a:prstGeom prst="rect">
            <a:avLst/>
          </a:prstGeom>
          <a:solidFill>
            <a:srgbClr val="27496B"/>
          </a:solidFill>
          <a:ln/>
        </p:spPr>
      </p:sp>
      <p:sp>
        <p:nvSpPr>
          <p:cNvPr id="38" name="Text 35"/>
          <p:cNvSpPr txBox="1"/>
          <p:nvPr/>
        </p:nvSpPr>
        <p:spPr>
          <a:xfrm>
            <a:off x="10643616" y="4114800"/>
            <a:ext cx="731520"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$46K</a:t>
            </a:r>
            <a:endParaRPr lang="en-US" sz="1050" dirty="0"/>
          </a:p>
        </p:txBody>
      </p:sp>
      <p:sp>
        <p:nvSpPr>
          <p:cNvPr id="39" name="Text 36"/>
          <p:cNvSpPr txBox="1"/>
          <p:nvPr/>
        </p:nvSpPr>
        <p:spPr>
          <a:xfrm>
            <a:off x="8229600" y="4462272"/>
            <a:ext cx="1682496" cy="274320"/>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S3 · Glacier Archive</a:t>
            </a:r>
            <a:endParaRPr lang="en-US" sz="1000" dirty="0"/>
          </a:p>
        </p:txBody>
      </p:sp>
      <p:sp>
        <p:nvSpPr>
          <p:cNvPr id="40" name="rank-bar-2"/>
          <p:cNvSpPr/>
          <p:nvPr/>
        </p:nvSpPr>
        <p:spPr>
          <a:xfrm>
            <a:off x="10003536" y="4530852"/>
            <a:ext cx="74795" cy="137160"/>
          </a:xfrm>
          <a:prstGeom prst="rect">
            <a:avLst/>
          </a:prstGeom>
          <a:solidFill>
            <a:srgbClr val="0F7DC2"/>
          </a:solidFill>
          <a:ln/>
        </p:spPr>
      </p:sp>
      <p:sp>
        <p:nvSpPr>
          <p:cNvPr id="41" name="Text 38"/>
          <p:cNvSpPr txBox="1"/>
          <p:nvPr/>
        </p:nvSpPr>
        <p:spPr>
          <a:xfrm>
            <a:off x="10643616" y="4462272"/>
            <a:ext cx="731520"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$41K</a:t>
            </a:r>
            <a:endParaRPr lang="en-US" sz="1050" dirty="0"/>
          </a:p>
        </p:txBody>
      </p:sp>
      <p:sp>
        <p:nvSpPr>
          <p:cNvPr id="42" name="Text 39"/>
          <p:cNvSpPr txBox="1"/>
          <p:nvPr/>
        </p:nvSpPr>
        <p:spPr>
          <a:xfrm>
            <a:off x="8229600" y="4809744"/>
            <a:ext cx="1682496" cy="274320"/>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VPC · Transit Gateway</a:t>
            </a:r>
            <a:endParaRPr lang="en-US" sz="1000" dirty="0"/>
          </a:p>
        </p:txBody>
      </p:sp>
      <p:sp>
        <p:nvSpPr>
          <p:cNvPr id="43" name="rank-bar-3"/>
          <p:cNvSpPr/>
          <p:nvPr/>
        </p:nvSpPr>
        <p:spPr>
          <a:xfrm>
            <a:off x="10003536" y="4878324"/>
            <a:ext cx="68598" cy="137160"/>
          </a:xfrm>
          <a:prstGeom prst="rect">
            <a:avLst/>
          </a:prstGeom>
          <a:solidFill>
            <a:srgbClr val="0F7DC2"/>
          </a:solidFill>
          <a:ln/>
        </p:spPr>
      </p:sp>
      <p:sp>
        <p:nvSpPr>
          <p:cNvPr id="44" name="Text 41"/>
          <p:cNvSpPr txBox="1"/>
          <p:nvPr/>
        </p:nvSpPr>
        <p:spPr>
          <a:xfrm>
            <a:off x="10643616" y="4809744"/>
            <a:ext cx="731520"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$38K</a:t>
            </a:r>
            <a:endParaRPr lang="en-US" sz="1050" dirty="0"/>
          </a:p>
        </p:txBody>
      </p:sp>
      <p:sp>
        <p:nvSpPr>
          <p:cNvPr id="45" name="Text 42"/>
          <p:cNvSpPr txBox="1"/>
          <p:nvPr/>
        </p:nvSpPr>
        <p:spPr>
          <a:xfrm>
            <a:off x="8229600" y="5157216"/>
            <a:ext cx="1682496" cy="274320"/>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RDS · Compute</a:t>
            </a:r>
            <a:endParaRPr lang="en-US" sz="1000" dirty="0"/>
          </a:p>
        </p:txBody>
      </p:sp>
      <p:sp>
        <p:nvSpPr>
          <p:cNvPr id="46" name="rank-bar-4"/>
          <p:cNvSpPr/>
          <p:nvPr/>
        </p:nvSpPr>
        <p:spPr>
          <a:xfrm>
            <a:off x="10003536" y="5225796"/>
            <a:ext cx="65009" cy="137160"/>
          </a:xfrm>
          <a:prstGeom prst="rect">
            <a:avLst/>
          </a:prstGeom>
          <a:solidFill>
            <a:srgbClr val="00A878"/>
          </a:solidFill>
          <a:ln/>
        </p:spPr>
      </p:sp>
      <p:sp>
        <p:nvSpPr>
          <p:cNvPr id="47" name="Text 44"/>
          <p:cNvSpPr txBox="1"/>
          <p:nvPr/>
        </p:nvSpPr>
        <p:spPr>
          <a:xfrm>
            <a:off x="10643616" y="5157216"/>
            <a:ext cx="731520"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$36K</a:t>
            </a:r>
            <a:endParaRPr lang="en-US" sz="1050" dirty="0"/>
          </a:p>
        </p:txBody>
      </p:sp>
      <p:sp>
        <p:nvSpPr>
          <p:cNvPr id="48"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Glacier Deep Archive went from $0 to $12K a month since February and is now the third largest AWS service line, which makes a retention review worthwhile.</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F2A900"/>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APPENDIX · AWS MARKETPLACE</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Nine vendors carry 91% of the $1.82M Marketplace spend</a:t>
            </a:r>
            <a:endParaRPr lang="en-US" sz="2800" dirty="0"/>
          </a:p>
        </p:txBody>
      </p:sp>
      <p:sp>
        <p:nvSpPr>
          <p:cNvPr id="5" name="Text 3"/>
          <p:cNvSpPr txBox="1"/>
          <p:nvPr/>
        </p:nvSpPr>
        <p:spPr>
          <a:xfrm>
            <a:off x="566928" y="1627632"/>
            <a:ext cx="3017520" cy="40233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Splunk (private offer)</a:t>
            </a:r>
            <a:endParaRPr lang="en-US" sz="1150" dirty="0"/>
          </a:p>
        </p:txBody>
      </p:sp>
      <p:sp>
        <p:nvSpPr>
          <p:cNvPr id="6" name="rank-bar-0"/>
          <p:cNvSpPr/>
          <p:nvPr/>
        </p:nvSpPr>
        <p:spPr>
          <a:xfrm>
            <a:off x="3675888" y="1760220"/>
            <a:ext cx="1783080" cy="137160"/>
          </a:xfrm>
          <a:prstGeom prst="rect">
            <a:avLst/>
          </a:prstGeom>
          <a:solidFill>
            <a:srgbClr val="27496B"/>
          </a:solidFill>
          <a:ln/>
        </p:spPr>
      </p:sp>
      <p:sp>
        <p:nvSpPr>
          <p:cNvPr id="7" name="Text 5"/>
          <p:cNvSpPr txBox="1"/>
          <p:nvPr/>
        </p:nvSpPr>
        <p:spPr>
          <a:xfrm>
            <a:off x="5550408" y="1627632"/>
            <a:ext cx="868680" cy="40233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$365K</a:t>
            </a:r>
            <a:endParaRPr lang="en-US" sz="1200" dirty="0"/>
          </a:p>
        </p:txBody>
      </p:sp>
      <p:sp>
        <p:nvSpPr>
          <p:cNvPr id="8" name="Text 6"/>
          <p:cNvSpPr txBox="1"/>
          <p:nvPr/>
        </p:nvSpPr>
        <p:spPr>
          <a:xfrm>
            <a:off x="566928" y="2103120"/>
            <a:ext cx="3017520" cy="40233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TrendAI Enterprise Security</a:t>
            </a:r>
            <a:endParaRPr lang="en-US" sz="1150" dirty="0"/>
          </a:p>
        </p:txBody>
      </p:sp>
      <p:sp>
        <p:nvSpPr>
          <p:cNvPr id="9" name="rank-bar-1"/>
          <p:cNvSpPr/>
          <p:nvPr/>
        </p:nvSpPr>
        <p:spPr>
          <a:xfrm>
            <a:off x="3675888" y="2235708"/>
            <a:ext cx="1257000" cy="137160"/>
          </a:xfrm>
          <a:prstGeom prst="rect">
            <a:avLst/>
          </a:prstGeom>
          <a:solidFill>
            <a:srgbClr val="27496B"/>
          </a:solidFill>
          <a:ln/>
        </p:spPr>
      </p:sp>
      <p:sp>
        <p:nvSpPr>
          <p:cNvPr id="10" name="Text 8"/>
          <p:cNvSpPr txBox="1"/>
          <p:nvPr/>
        </p:nvSpPr>
        <p:spPr>
          <a:xfrm>
            <a:off x="5550408" y="2103120"/>
            <a:ext cx="868680" cy="40233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$257K</a:t>
            </a:r>
            <a:endParaRPr lang="en-US" sz="1200" dirty="0"/>
          </a:p>
        </p:txBody>
      </p:sp>
      <p:sp>
        <p:nvSpPr>
          <p:cNvPr id="11" name="Text 9"/>
          <p:cNvSpPr txBox="1"/>
          <p:nvPr/>
        </p:nvSpPr>
        <p:spPr>
          <a:xfrm>
            <a:off x="566928" y="2578608"/>
            <a:ext cx="3017520" cy="40233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MongoDB Atlas</a:t>
            </a:r>
            <a:endParaRPr lang="en-US" sz="1150" dirty="0"/>
          </a:p>
        </p:txBody>
      </p:sp>
      <p:sp>
        <p:nvSpPr>
          <p:cNvPr id="12" name="rank-bar-2"/>
          <p:cNvSpPr/>
          <p:nvPr/>
        </p:nvSpPr>
        <p:spPr>
          <a:xfrm>
            <a:off x="3675888" y="2711196"/>
            <a:ext cx="936984" cy="137160"/>
          </a:xfrm>
          <a:prstGeom prst="rect">
            <a:avLst/>
          </a:prstGeom>
          <a:solidFill>
            <a:srgbClr val="0F7DC2"/>
          </a:solidFill>
          <a:ln/>
        </p:spPr>
      </p:sp>
      <p:sp>
        <p:nvSpPr>
          <p:cNvPr id="13" name="Text 11"/>
          <p:cNvSpPr txBox="1"/>
          <p:nvPr/>
        </p:nvSpPr>
        <p:spPr>
          <a:xfrm>
            <a:off x="5550408" y="2578608"/>
            <a:ext cx="868680" cy="40233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$192K</a:t>
            </a:r>
            <a:endParaRPr lang="en-US" sz="1200" dirty="0"/>
          </a:p>
        </p:txBody>
      </p:sp>
      <p:sp>
        <p:nvSpPr>
          <p:cNvPr id="14" name="Text 12"/>
          <p:cNvSpPr txBox="1"/>
          <p:nvPr/>
        </p:nvSpPr>
        <p:spPr>
          <a:xfrm>
            <a:off x="566928" y="3054096"/>
            <a:ext cx="3017520" cy="40233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CrowdStrike Falcon</a:t>
            </a:r>
            <a:endParaRPr lang="en-US" sz="1150" dirty="0"/>
          </a:p>
        </p:txBody>
      </p:sp>
      <p:sp>
        <p:nvSpPr>
          <p:cNvPr id="15" name="rank-bar-3"/>
          <p:cNvSpPr/>
          <p:nvPr/>
        </p:nvSpPr>
        <p:spPr>
          <a:xfrm>
            <a:off x="3675888" y="3186684"/>
            <a:ext cx="836800" cy="137160"/>
          </a:xfrm>
          <a:prstGeom prst="rect">
            <a:avLst/>
          </a:prstGeom>
          <a:solidFill>
            <a:srgbClr val="27496B"/>
          </a:solidFill>
          <a:ln/>
        </p:spPr>
      </p:sp>
      <p:sp>
        <p:nvSpPr>
          <p:cNvPr id="16" name="Text 14"/>
          <p:cNvSpPr txBox="1"/>
          <p:nvPr/>
        </p:nvSpPr>
        <p:spPr>
          <a:xfrm>
            <a:off x="5550408" y="3054096"/>
            <a:ext cx="868680" cy="40233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$171K</a:t>
            </a:r>
            <a:endParaRPr lang="en-US" sz="1200" dirty="0"/>
          </a:p>
        </p:txBody>
      </p:sp>
      <p:sp>
        <p:nvSpPr>
          <p:cNvPr id="17" name="Text 15"/>
          <p:cNvSpPr txBox="1"/>
          <p:nvPr/>
        </p:nvSpPr>
        <p:spPr>
          <a:xfrm>
            <a:off x="566928" y="3529584"/>
            <a:ext cx="3017520" cy="40233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F5 Distributed Cloud</a:t>
            </a:r>
            <a:endParaRPr lang="en-US" sz="1150" dirty="0"/>
          </a:p>
        </p:txBody>
      </p:sp>
      <p:sp>
        <p:nvSpPr>
          <p:cNvPr id="18" name="rank-bar-4"/>
          <p:cNvSpPr/>
          <p:nvPr/>
        </p:nvSpPr>
        <p:spPr>
          <a:xfrm>
            <a:off x="3675888" y="3662172"/>
            <a:ext cx="812326" cy="137160"/>
          </a:xfrm>
          <a:prstGeom prst="rect">
            <a:avLst/>
          </a:prstGeom>
          <a:solidFill>
            <a:srgbClr val="27496B"/>
          </a:solidFill>
          <a:ln/>
        </p:spPr>
      </p:sp>
      <p:sp>
        <p:nvSpPr>
          <p:cNvPr id="19" name="Text 17"/>
          <p:cNvSpPr txBox="1"/>
          <p:nvPr/>
        </p:nvSpPr>
        <p:spPr>
          <a:xfrm>
            <a:off x="5550408" y="3529584"/>
            <a:ext cx="868680" cy="40233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$166K</a:t>
            </a:r>
            <a:endParaRPr lang="en-US" sz="1200" dirty="0"/>
          </a:p>
        </p:txBody>
      </p:sp>
      <p:sp>
        <p:nvSpPr>
          <p:cNvPr id="20" name="Text 18"/>
          <p:cNvSpPr txBox="1"/>
          <p:nvPr/>
        </p:nvSpPr>
        <p:spPr>
          <a:xfrm>
            <a:off x="566928" y="4005072"/>
            <a:ext cx="3017520" cy="40233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JFrog Supply Chain</a:t>
            </a:r>
            <a:endParaRPr lang="en-US" sz="1150" dirty="0"/>
          </a:p>
        </p:txBody>
      </p:sp>
      <p:sp>
        <p:nvSpPr>
          <p:cNvPr id="21" name="rank-bar-5"/>
          <p:cNvSpPr/>
          <p:nvPr/>
        </p:nvSpPr>
        <p:spPr>
          <a:xfrm>
            <a:off x="3675888" y="4137660"/>
            <a:ext cx="773081" cy="137160"/>
          </a:xfrm>
          <a:prstGeom prst="rect">
            <a:avLst/>
          </a:prstGeom>
          <a:solidFill>
            <a:srgbClr val="F2A900"/>
          </a:solidFill>
          <a:ln/>
        </p:spPr>
      </p:sp>
      <p:sp>
        <p:nvSpPr>
          <p:cNvPr id="22" name="Text 20"/>
          <p:cNvSpPr txBox="1"/>
          <p:nvPr/>
        </p:nvSpPr>
        <p:spPr>
          <a:xfrm>
            <a:off x="5550408" y="4005072"/>
            <a:ext cx="868680" cy="40233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$158K</a:t>
            </a:r>
            <a:endParaRPr lang="en-US" sz="1200" dirty="0"/>
          </a:p>
        </p:txBody>
      </p:sp>
      <p:sp>
        <p:nvSpPr>
          <p:cNvPr id="23" name="Text 21"/>
          <p:cNvSpPr txBox="1"/>
          <p:nvPr/>
        </p:nvSpPr>
        <p:spPr>
          <a:xfrm>
            <a:off x="566928" y="4480560"/>
            <a:ext cx="3017520" cy="40233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Cortex (private offer)</a:t>
            </a:r>
            <a:endParaRPr lang="en-US" sz="1150" dirty="0"/>
          </a:p>
        </p:txBody>
      </p:sp>
      <p:sp>
        <p:nvSpPr>
          <p:cNvPr id="24" name="rank-bar-6"/>
          <p:cNvSpPr/>
          <p:nvPr/>
        </p:nvSpPr>
        <p:spPr>
          <a:xfrm>
            <a:off x="3675888" y="4613148"/>
            <a:ext cx="698347" cy="137160"/>
          </a:xfrm>
          <a:prstGeom prst="rect">
            <a:avLst/>
          </a:prstGeom>
          <a:solidFill>
            <a:srgbClr val="27496B"/>
          </a:solidFill>
          <a:ln/>
        </p:spPr>
      </p:sp>
      <p:sp>
        <p:nvSpPr>
          <p:cNvPr id="25" name="Text 23"/>
          <p:cNvSpPr txBox="1"/>
          <p:nvPr/>
        </p:nvSpPr>
        <p:spPr>
          <a:xfrm>
            <a:off x="5550408" y="4480560"/>
            <a:ext cx="868680" cy="40233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$143K</a:t>
            </a:r>
            <a:endParaRPr lang="en-US" sz="1200" dirty="0"/>
          </a:p>
        </p:txBody>
      </p:sp>
      <p:sp>
        <p:nvSpPr>
          <p:cNvPr id="26" name="Text 24"/>
          <p:cNvSpPr txBox="1"/>
          <p:nvPr/>
        </p:nvSpPr>
        <p:spPr>
          <a:xfrm>
            <a:off x="566928" y="4956048"/>
            <a:ext cx="3017520" cy="40233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Amazon Bedrock</a:t>
            </a:r>
            <a:endParaRPr lang="en-US" sz="1150" dirty="0"/>
          </a:p>
        </p:txBody>
      </p:sp>
      <p:sp>
        <p:nvSpPr>
          <p:cNvPr id="27" name="rank-bar-7"/>
          <p:cNvSpPr/>
          <p:nvPr/>
        </p:nvSpPr>
        <p:spPr>
          <a:xfrm>
            <a:off x="3675888" y="5088636"/>
            <a:ext cx="624800" cy="137160"/>
          </a:xfrm>
          <a:prstGeom prst="rect">
            <a:avLst/>
          </a:prstGeom>
          <a:solidFill>
            <a:srgbClr val="7C5CFF"/>
          </a:solidFill>
          <a:ln/>
        </p:spPr>
      </p:sp>
      <p:sp>
        <p:nvSpPr>
          <p:cNvPr id="28" name="Text 26"/>
          <p:cNvSpPr txBox="1"/>
          <p:nvPr/>
        </p:nvSpPr>
        <p:spPr>
          <a:xfrm>
            <a:off x="5550408" y="4956048"/>
            <a:ext cx="868680" cy="40233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$128K</a:t>
            </a:r>
            <a:endParaRPr lang="en-US" sz="1200" dirty="0"/>
          </a:p>
        </p:txBody>
      </p:sp>
      <p:sp>
        <p:nvSpPr>
          <p:cNvPr id="29" name="Text 27"/>
          <p:cNvSpPr txBox="1"/>
          <p:nvPr/>
        </p:nvSpPr>
        <p:spPr>
          <a:xfrm>
            <a:off x="566928" y="5431536"/>
            <a:ext cx="3017520" cy="40233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Trellix (private offer)</a:t>
            </a:r>
            <a:endParaRPr lang="en-US" sz="1150" dirty="0"/>
          </a:p>
        </p:txBody>
      </p:sp>
      <p:sp>
        <p:nvSpPr>
          <p:cNvPr id="30" name="rank-bar-8"/>
          <p:cNvSpPr/>
          <p:nvPr/>
        </p:nvSpPr>
        <p:spPr>
          <a:xfrm>
            <a:off x="3675888" y="5564124"/>
            <a:ext cx="345265" cy="137160"/>
          </a:xfrm>
          <a:prstGeom prst="rect">
            <a:avLst/>
          </a:prstGeom>
          <a:solidFill>
            <a:srgbClr val="27496B"/>
          </a:solidFill>
          <a:ln/>
        </p:spPr>
      </p:sp>
      <p:sp>
        <p:nvSpPr>
          <p:cNvPr id="31" name="Text 29"/>
          <p:cNvSpPr txBox="1"/>
          <p:nvPr/>
        </p:nvSpPr>
        <p:spPr>
          <a:xfrm>
            <a:off x="5550408" y="5431536"/>
            <a:ext cx="868680" cy="40233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$71K</a:t>
            </a:r>
            <a:endParaRPr lang="en-US" sz="1200" dirty="0"/>
          </a:p>
        </p:txBody>
      </p:sp>
      <p:sp>
        <p:nvSpPr>
          <p:cNvPr id="32" name="stat-card-Marketplace YT"/>
          <p:cNvSpPr/>
          <p:nvPr/>
        </p:nvSpPr>
        <p:spPr>
          <a:xfrm>
            <a:off x="6766560" y="1572768"/>
            <a:ext cx="4858207" cy="1316736"/>
          </a:xfrm>
          <a:prstGeom prst="roundRect">
            <a:avLst>
              <a:gd name="adj" fmla="val 4167"/>
            </a:avLst>
          </a:prstGeom>
          <a:solidFill>
            <a:srgbClr val="EEF2F7"/>
          </a:solidFill>
          <a:ln/>
        </p:spPr>
      </p:sp>
      <p:sp>
        <p:nvSpPr>
          <p:cNvPr id="33" name="stat-dot"/>
          <p:cNvSpPr/>
          <p:nvPr/>
        </p:nvSpPr>
        <p:spPr>
          <a:xfrm>
            <a:off x="7004304" y="1847088"/>
            <a:ext cx="91440" cy="91440"/>
          </a:xfrm>
          <a:prstGeom prst="ellipse">
            <a:avLst/>
          </a:prstGeom>
          <a:solidFill>
            <a:srgbClr val="F2A900"/>
          </a:solidFill>
          <a:ln/>
        </p:spPr>
      </p:sp>
      <p:sp>
        <p:nvSpPr>
          <p:cNvPr id="34" name="Text 32"/>
          <p:cNvSpPr txBox="1"/>
          <p:nvPr/>
        </p:nvSpPr>
        <p:spPr>
          <a:xfrm>
            <a:off x="7187184" y="1746504"/>
            <a:ext cx="4218127"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MARKETPLACE YTD</a:t>
            </a:r>
            <a:endParaRPr lang="en-US" sz="1000" dirty="0"/>
          </a:p>
        </p:txBody>
      </p:sp>
      <p:sp>
        <p:nvSpPr>
          <p:cNvPr id="35" name="Text 33"/>
          <p:cNvSpPr txBox="1"/>
          <p:nvPr/>
        </p:nvSpPr>
        <p:spPr>
          <a:xfrm>
            <a:off x="7004304" y="2029968"/>
            <a:ext cx="4401007" cy="548640"/>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$1.82M</a:t>
            </a:r>
            <a:endParaRPr lang="en-US" sz="2800" dirty="0"/>
          </a:p>
        </p:txBody>
      </p:sp>
      <p:sp>
        <p:nvSpPr>
          <p:cNvPr id="36" name="Text 34"/>
          <p:cNvSpPr txBox="1"/>
          <p:nvPr/>
        </p:nvSpPr>
        <p:spPr>
          <a:xfrm>
            <a:off x="7004304" y="2560320"/>
            <a:ext cx="4401007" cy="420624"/>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70% of total AWS spend</a:t>
            </a:r>
            <a:endParaRPr lang="en-US" sz="1050" dirty="0"/>
          </a:p>
        </p:txBody>
      </p:sp>
      <p:sp>
        <p:nvSpPr>
          <p:cNvPr id="37" name="stat-card-New in Septemb"/>
          <p:cNvSpPr/>
          <p:nvPr/>
        </p:nvSpPr>
        <p:spPr>
          <a:xfrm>
            <a:off x="6766560" y="3035808"/>
            <a:ext cx="4858207" cy="1316736"/>
          </a:xfrm>
          <a:prstGeom prst="roundRect">
            <a:avLst>
              <a:gd name="adj" fmla="val 4167"/>
            </a:avLst>
          </a:prstGeom>
          <a:solidFill>
            <a:srgbClr val="EEF2F7"/>
          </a:solidFill>
          <a:ln/>
        </p:spPr>
      </p:sp>
      <p:sp>
        <p:nvSpPr>
          <p:cNvPr id="38" name="stat-dot"/>
          <p:cNvSpPr/>
          <p:nvPr/>
        </p:nvSpPr>
        <p:spPr>
          <a:xfrm>
            <a:off x="7004304" y="3310128"/>
            <a:ext cx="91440" cy="91440"/>
          </a:xfrm>
          <a:prstGeom prst="ellipse">
            <a:avLst/>
          </a:prstGeom>
          <a:solidFill>
            <a:srgbClr val="7C5CFF"/>
          </a:solidFill>
          <a:ln/>
        </p:spPr>
      </p:sp>
      <p:sp>
        <p:nvSpPr>
          <p:cNvPr id="39" name="Text 37"/>
          <p:cNvSpPr txBox="1"/>
          <p:nvPr/>
        </p:nvSpPr>
        <p:spPr>
          <a:xfrm>
            <a:off x="7187184" y="3209544"/>
            <a:ext cx="4218127"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NEW IN SEPTEMBER</a:t>
            </a:r>
            <a:endParaRPr lang="en-US" sz="1000" dirty="0"/>
          </a:p>
        </p:txBody>
      </p:sp>
      <p:sp>
        <p:nvSpPr>
          <p:cNvPr id="40" name="Text 38"/>
          <p:cNvSpPr txBox="1"/>
          <p:nvPr/>
        </p:nvSpPr>
        <p:spPr>
          <a:xfrm>
            <a:off x="7004304" y="3493008"/>
            <a:ext cx="4401007" cy="548640"/>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$158K</a:t>
            </a:r>
            <a:endParaRPr lang="en-US" sz="2800" dirty="0"/>
          </a:p>
        </p:txBody>
      </p:sp>
      <p:sp>
        <p:nvSpPr>
          <p:cNvPr id="41" name="Text 39"/>
          <p:cNvSpPr txBox="1"/>
          <p:nvPr/>
        </p:nvSpPr>
        <p:spPr>
          <a:xfrm>
            <a:off x="7004304" y="4023360"/>
            <a:ext cx="4401007" cy="420624"/>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JFrog Software Supply Chain</a:t>
            </a:r>
            <a:endParaRPr lang="en-US" sz="1050" dirty="0"/>
          </a:p>
        </p:txBody>
      </p:sp>
      <p:sp>
        <p:nvSpPr>
          <p:cNvPr id="42" name="stat-card-Is security to"/>
          <p:cNvSpPr/>
          <p:nvPr/>
        </p:nvSpPr>
        <p:spPr>
          <a:xfrm>
            <a:off x="6766560" y="4498848"/>
            <a:ext cx="4858207" cy="1316736"/>
          </a:xfrm>
          <a:prstGeom prst="roundRect">
            <a:avLst>
              <a:gd name="adj" fmla="val 4167"/>
            </a:avLst>
          </a:prstGeom>
          <a:solidFill>
            <a:srgbClr val="EEF2F7"/>
          </a:solidFill>
          <a:ln/>
        </p:spPr>
      </p:sp>
      <p:sp>
        <p:nvSpPr>
          <p:cNvPr id="43" name="stat-dot"/>
          <p:cNvSpPr/>
          <p:nvPr/>
        </p:nvSpPr>
        <p:spPr>
          <a:xfrm>
            <a:off x="7004304" y="4773168"/>
            <a:ext cx="91440" cy="91440"/>
          </a:xfrm>
          <a:prstGeom prst="ellipse">
            <a:avLst/>
          </a:prstGeom>
          <a:solidFill>
            <a:srgbClr val="27496B"/>
          </a:solidFill>
          <a:ln/>
        </p:spPr>
      </p:sp>
      <p:sp>
        <p:nvSpPr>
          <p:cNvPr id="44" name="Text 42"/>
          <p:cNvSpPr txBox="1"/>
          <p:nvPr/>
        </p:nvSpPr>
        <p:spPr>
          <a:xfrm>
            <a:off x="7187184" y="4672584"/>
            <a:ext cx="4218127"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IS SECURITY TOOLING</a:t>
            </a:r>
            <a:endParaRPr lang="en-US" sz="1000" dirty="0"/>
          </a:p>
        </p:txBody>
      </p:sp>
      <p:sp>
        <p:nvSpPr>
          <p:cNvPr id="45" name="Text 43"/>
          <p:cNvSpPr txBox="1"/>
          <p:nvPr/>
        </p:nvSpPr>
        <p:spPr>
          <a:xfrm>
            <a:off x="7004304" y="4956048"/>
            <a:ext cx="4401007" cy="548640"/>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72%</a:t>
            </a:r>
            <a:endParaRPr lang="en-US" sz="2800" dirty="0"/>
          </a:p>
        </p:txBody>
      </p:sp>
      <p:sp>
        <p:nvSpPr>
          <p:cNvPr id="46" name="Text 44"/>
          <p:cNvSpPr txBox="1"/>
          <p:nvPr/>
        </p:nvSpPr>
        <p:spPr>
          <a:xfrm>
            <a:off x="7004304" y="5486400"/>
            <a:ext cx="4401007" cy="420624"/>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Splunk, TrendAI, CrowdStrike, F5,</a:t>
            </a:r>
            <a:endParaRPr lang="en-US" sz="1050" dirty="0"/>
          </a:p>
          <a:p>
            <a:pPr algn="l" indent="0" marL="0">
              <a:buNone/>
            </a:pPr>
            <a:r>
              <a:rPr lang="en-US" sz="1050" dirty="0">
                <a:solidFill>
                  <a:srgbClr val="5B6B7E"/>
                </a:solidFill>
                <a:latin typeface="Arial" pitchFamily="34" charset="0"/>
                <a:ea typeface="Arial" pitchFamily="34" charset="-122"/>
                <a:cs typeface="Arial" pitchFamily="34" charset="-120"/>
              </a:rPr>
              <a:t>Trellix, Cortex, Fortinet</a:t>
            </a:r>
            <a:endParaRPr lang="en-US" sz="1050" dirty="0"/>
          </a:p>
        </p:txBody>
      </p:sp>
      <p:sp>
        <p:nvSpPr>
          <p:cNvPr id="47"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Marketplace charges are billed as contracts, mostly annual, so a month-on-month comparison is not meaningful.</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F2A900"/>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APPENDIX · AWS HAREL IL PAYER</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The second AWS payer account is $166K year to date</a:t>
            </a:r>
            <a:endParaRPr lang="en-US" sz="2800" dirty="0"/>
          </a:p>
        </p:txBody>
      </p:sp>
      <p:graphicFrame>
        <p:nvGraphicFramePr>
          <p:cNvPr id="5" name="Chart 0" descr=""/>
          <p:cNvGraphicFramePr/>
          <p:nvPr/>
        </p:nvGraphicFramePr>
        <p:xfrm>
          <a:off x="457200" y="1517904"/>
          <a:ext cx="7223760" cy="4114800"/>
        </p:xfrm>
        <a:graphic xmlns:a="http://schemas.openxmlformats.org/drawingml/2006/main">
          <a:graphicData uri="http://schemas.openxmlformats.org/drawingml/2006/chart">
            <c:chart xmlns:c="http://schemas.openxmlformats.org/drawingml/2006/chart" r:id="rId1"/>
          </a:graphicData>
        </a:graphic>
      </p:graphicFrame>
      <p:sp>
        <p:nvSpPr>
          <p:cNvPr id="6" name="panel"/>
          <p:cNvSpPr/>
          <p:nvPr/>
        </p:nvSpPr>
        <p:spPr>
          <a:xfrm>
            <a:off x="7973568" y="1517904"/>
            <a:ext cx="3648456" cy="4114800"/>
          </a:xfrm>
          <a:prstGeom prst="roundRect">
            <a:avLst>
              <a:gd name="adj" fmla="val 1504"/>
            </a:avLst>
          </a:prstGeom>
          <a:solidFill>
            <a:srgbClr val="EEF2F7"/>
          </a:solidFill>
          <a:ln/>
        </p:spPr>
      </p:sp>
      <p:sp>
        <p:nvSpPr>
          <p:cNvPr id="7" name="Text 4"/>
          <p:cNvSpPr txBox="1"/>
          <p:nvPr/>
        </p:nvSpPr>
        <p:spPr>
          <a:xfrm>
            <a:off x="8229600" y="1719072"/>
            <a:ext cx="3108960" cy="292608"/>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Year to date by service</a:t>
            </a:r>
            <a:endParaRPr lang="en-US" sz="1300" dirty="0"/>
          </a:p>
        </p:txBody>
      </p:sp>
      <p:sp>
        <p:nvSpPr>
          <p:cNvPr id="8" name="Text 5"/>
          <p:cNvSpPr txBox="1"/>
          <p:nvPr/>
        </p:nvSpPr>
        <p:spPr>
          <a:xfrm>
            <a:off x="8229600" y="2103120"/>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S3 · Glacier Archive</a:t>
            </a:r>
            <a:endParaRPr lang="en-US" sz="1000" dirty="0"/>
          </a:p>
        </p:txBody>
      </p:sp>
      <p:sp>
        <p:nvSpPr>
          <p:cNvPr id="9" name="rank-bar-0"/>
          <p:cNvSpPr/>
          <p:nvPr/>
        </p:nvSpPr>
        <p:spPr>
          <a:xfrm>
            <a:off x="10003536" y="2189988"/>
            <a:ext cx="548640" cy="137160"/>
          </a:xfrm>
          <a:prstGeom prst="rect">
            <a:avLst/>
          </a:prstGeom>
          <a:solidFill>
            <a:srgbClr val="0F7DC2"/>
          </a:solidFill>
          <a:ln/>
        </p:spPr>
      </p:sp>
      <p:sp>
        <p:nvSpPr>
          <p:cNvPr id="10" name="Text 7"/>
          <p:cNvSpPr txBox="1"/>
          <p:nvPr/>
        </p:nvSpPr>
        <p:spPr>
          <a:xfrm>
            <a:off x="10643616" y="2103120"/>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$41K</a:t>
            </a:r>
            <a:endParaRPr lang="en-US" sz="1050" dirty="0"/>
          </a:p>
        </p:txBody>
      </p:sp>
      <p:sp>
        <p:nvSpPr>
          <p:cNvPr id="11" name="Text 8"/>
          <p:cNvSpPr txBox="1"/>
          <p:nvPr/>
        </p:nvSpPr>
        <p:spPr>
          <a:xfrm>
            <a:off x="8229600" y="2487168"/>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Other services</a:t>
            </a:r>
            <a:endParaRPr lang="en-US" sz="1000" dirty="0"/>
          </a:p>
        </p:txBody>
      </p:sp>
      <p:sp>
        <p:nvSpPr>
          <p:cNvPr id="12" name="rank-bar-1"/>
          <p:cNvSpPr/>
          <p:nvPr/>
        </p:nvSpPr>
        <p:spPr>
          <a:xfrm>
            <a:off x="10003536" y="2574036"/>
            <a:ext cx="419835" cy="137160"/>
          </a:xfrm>
          <a:prstGeom prst="rect">
            <a:avLst/>
          </a:prstGeom>
          <a:solidFill>
            <a:srgbClr val="9FB3C8"/>
          </a:solidFill>
          <a:ln/>
        </p:spPr>
      </p:sp>
      <p:sp>
        <p:nvSpPr>
          <p:cNvPr id="13" name="Text 10"/>
          <p:cNvSpPr txBox="1"/>
          <p:nvPr/>
        </p:nvSpPr>
        <p:spPr>
          <a:xfrm>
            <a:off x="10643616" y="2487168"/>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$31K</a:t>
            </a:r>
            <a:endParaRPr lang="en-US" sz="1050" dirty="0"/>
          </a:p>
        </p:txBody>
      </p:sp>
      <p:sp>
        <p:nvSpPr>
          <p:cNvPr id="14" name="Text 11"/>
          <p:cNvSpPr txBox="1"/>
          <p:nvPr/>
        </p:nvSpPr>
        <p:spPr>
          <a:xfrm>
            <a:off x="8229600" y="2871216"/>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Direct Connect</a:t>
            </a:r>
            <a:endParaRPr lang="en-US" sz="1000" dirty="0"/>
          </a:p>
        </p:txBody>
      </p:sp>
      <p:sp>
        <p:nvSpPr>
          <p:cNvPr id="15" name="rank-bar-2"/>
          <p:cNvSpPr/>
          <p:nvPr/>
        </p:nvSpPr>
        <p:spPr>
          <a:xfrm>
            <a:off x="10003536" y="2958084"/>
            <a:ext cx="394934" cy="137160"/>
          </a:xfrm>
          <a:prstGeom prst="rect">
            <a:avLst/>
          </a:prstGeom>
          <a:solidFill>
            <a:srgbClr val="27496B"/>
          </a:solidFill>
          <a:ln/>
        </p:spPr>
      </p:sp>
      <p:sp>
        <p:nvSpPr>
          <p:cNvPr id="16" name="Text 13"/>
          <p:cNvSpPr txBox="1"/>
          <p:nvPr/>
        </p:nvSpPr>
        <p:spPr>
          <a:xfrm>
            <a:off x="10643616" y="2871216"/>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$29K</a:t>
            </a:r>
            <a:endParaRPr lang="en-US" sz="1050" dirty="0"/>
          </a:p>
        </p:txBody>
      </p:sp>
      <p:sp>
        <p:nvSpPr>
          <p:cNvPr id="17" name="Text 14"/>
          <p:cNvSpPr txBox="1"/>
          <p:nvPr/>
        </p:nvSpPr>
        <p:spPr>
          <a:xfrm>
            <a:off x="8229600" y="3255264"/>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Business Support</a:t>
            </a:r>
            <a:endParaRPr lang="en-US" sz="1000" dirty="0"/>
          </a:p>
        </p:txBody>
      </p:sp>
      <p:sp>
        <p:nvSpPr>
          <p:cNvPr id="18" name="rank-bar-3"/>
          <p:cNvSpPr/>
          <p:nvPr/>
        </p:nvSpPr>
        <p:spPr>
          <a:xfrm>
            <a:off x="10003536" y="3342132"/>
            <a:ext cx="216113" cy="137160"/>
          </a:xfrm>
          <a:prstGeom prst="rect">
            <a:avLst/>
          </a:prstGeom>
          <a:solidFill>
            <a:srgbClr val="27496B"/>
          </a:solidFill>
          <a:ln/>
        </p:spPr>
      </p:sp>
      <p:sp>
        <p:nvSpPr>
          <p:cNvPr id="19" name="Text 16"/>
          <p:cNvSpPr txBox="1"/>
          <p:nvPr/>
        </p:nvSpPr>
        <p:spPr>
          <a:xfrm>
            <a:off x="10643616" y="3255264"/>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$16K</a:t>
            </a:r>
            <a:endParaRPr lang="en-US" sz="1050" dirty="0"/>
          </a:p>
        </p:txBody>
      </p:sp>
      <p:sp>
        <p:nvSpPr>
          <p:cNvPr id="20" name="Text 17"/>
          <p:cNvSpPr txBox="1"/>
          <p:nvPr/>
        </p:nvSpPr>
        <p:spPr>
          <a:xfrm>
            <a:off x="8229600" y="3639312"/>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EC2 · Compute</a:t>
            </a:r>
            <a:endParaRPr lang="en-US" sz="1000" dirty="0"/>
          </a:p>
        </p:txBody>
      </p:sp>
      <p:sp>
        <p:nvSpPr>
          <p:cNvPr id="21" name="rank-bar-4"/>
          <p:cNvSpPr/>
          <p:nvPr/>
        </p:nvSpPr>
        <p:spPr>
          <a:xfrm>
            <a:off x="10003536" y="3726180"/>
            <a:ext cx="160497" cy="137160"/>
          </a:xfrm>
          <a:prstGeom prst="rect">
            <a:avLst/>
          </a:prstGeom>
          <a:solidFill>
            <a:srgbClr val="F2A900"/>
          </a:solidFill>
          <a:ln/>
        </p:spPr>
      </p:sp>
      <p:sp>
        <p:nvSpPr>
          <p:cNvPr id="22" name="Text 19"/>
          <p:cNvSpPr txBox="1"/>
          <p:nvPr/>
        </p:nvSpPr>
        <p:spPr>
          <a:xfrm>
            <a:off x="10643616" y="3639312"/>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$12K</a:t>
            </a:r>
            <a:endParaRPr lang="en-US" sz="1050" dirty="0"/>
          </a:p>
        </p:txBody>
      </p:sp>
      <p:sp>
        <p:nvSpPr>
          <p:cNvPr id="23" name="Text 20"/>
          <p:cNvSpPr txBox="1"/>
          <p:nvPr/>
        </p:nvSpPr>
        <p:spPr>
          <a:xfrm>
            <a:off x="8229600" y="4023360"/>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S3 · API</a:t>
            </a:r>
            <a:endParaRPr lang="en-US" sz="1000" dirty="0"/>
          </a:p>
        </p:txBody>
      </p:sp>
      <p:sp>
        <p:nvSpPr>
          <p:cNvPr id="24" name="rank-bar-5"/>
          <p:cNvSpPr/>
          <p:nvPr/>
        </p:nvSpPr>
        <p:spPr>
          <a:xfrm>
            <a:off x="10003536" y="4110228"/>
            <a:ext cx="153733" cy="137160"/>
          </a:xfrm>
          <a:prstGeom prst="rect">
            <a:avLst/>
          </a:prstGeom>
          <a:solidFill>
            <a:srgbClr val="0F7DC2"/>
          </a:solidFill>
          <a:ln/>
        </p:spPr>
      </p:sp>
      <p:sp>
        <p:nvSpPr>
          <p:cNvPr id="25" name="Text 22"/>
          <p:cNvSpPr txBox="1"/>
          <p:nvPr/>
        </p:nvSpPr>
        <p:spPr>
          <a:xfrm>
            <a:off x="10643616" y="4023360"/>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$11K</a:t>
            </a:r>
            <a:endParaRPr lang="en-US" sz="1050" dirty="0"/>
          </a:p>
        </p:txBody>
      </p:sp>
      <p:sp>
        <p:nvSpPr>
          <p:cNvPr id="26" name="Text 23"/>
          <p:cNvSpPr txBox="1"/>
          <p:nvPr/>
        </p:nvSpPr>
        <p:spPr>
          <a:xfrm>
            <a:off x="8229600" y="4407408"/>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VPC Endpoints</a:t>
            </a:r>
            <a:endParaRPr lang="en-US" sz="1000" dirty="0"/>
          </a:p>
        </p:txBody>
      </p:sp>
      <p:sp>
        <p:nvSpPr>
          <p:cNvPr id="27" name="rank-bar-6"/>
          <p:cNvSpPr/>
          <p:nvPr/>
        </p:nvSpPr>
        <p:spPr>
          <a:xfrm>
            <a:off x="10003536" y="4494276"/>
            <a:ext cx="106060" cy="137160"/>
          </a:xfrm>
          <a:prstGeom prst="rect">
            <a:avLst/>
          </a:prstGeom>
          <a:solidFill>
            <a:srgbClr val="00A878"/>
          </a:solidFill>
          <a:ln/>
        </p:spPr>
      </p:sp>
      <p:sp>
        <p:nvSpPr>
          <p:cNvPr id="28" name="Text 25"/>
          <p:cNvSpPr txBox="1"/>
          <p:nvPr/>
        </p:nvSpPr>
        <p:spPr>
          <a:xfrm>
            <a:off x="10643616" y="4407408"/>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$8K</a:t>
            </a:r>
            <a:endParaRPr lang="en-US" sz="1050" dirty="0"/>
          </a:p>
        </p:txBody>
      </p:sp>
      <p:sp>
        <p:nvSpPr>
          <p:cNvPr id="29" name="Text 26"/>
          <p:cNvSpPr txBox="1"/>
          <p:nvPr/>
        </p:nvSpPr>
        <p:spPr>
          <a:xfrm>
            <a:off x="8229600" y="4791456"/>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Transit Gateway</a:t>
            </a:r>
            <a:endParaRPr lang="en-US" sz="1000" dirty="0"/>
          </a:p>
        </p:txBody>
      </p:sp>
      <p:sp>
        <p:nvSpPr>
          <p:cNvPr id="30" name="rank-bar-7"/>
          <p:cNvSpPr/>
          <p:nvPr/>
        </p:nvSpPr>
        <p:spPr>
          <a:xfrm>
            <a:off x="10003536" y="4878324"/>
            <a:ext cx="61241" cy="137160"/>
          </a:xfrm>
          <a:prstGeom prst="rect">
            <a:avLst/>
          </a:prstGeom>
          <a:solidFill>
            <a:srgbClr val="00A878"/>
          </a:solidFill>
          <a:ln/>
        </p:spPr>
      </p:sp>
      <p:sp>
        <p:nvSpPr>
          <p:cNvPr id="31" name="Text 28"/>
          <p:cNvSpPr txBox="1"/>
          <p:nvPr/>
        </p:nvSpPr>
        <p:spPr>
          <a:xfrm>
            <a:off x="10643616" y="4791456"/>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$5K</a:t>
            </a:r>
            <a:endParaRPr lang="en-US" sz="1050" dirty="0"/>
          </a:p>
        </p:txBody>
      </p:sp>
      <p:sp>
        <p:nvSpPr>
          <p:cNvPr id="32" name="chip"/>
          <p:cNvSpPr/>
          <p:nvPr/>
        </p:nvSpPr>
        <p:spPr>
          <a:xfrm>
            <a:off x="8229600" y="5285232"/>
            <a:ext cx="3145536" cy="310896"/>
          </a:xfrm>
          <a:prstGeom prst="roundRect">
            <a:avLst>
              <a:gd name="adj" fmla="val 35294"/>
            </a:avLst>
          </a:prstGeom>
          <a:solidFill>
            <a:srgbClr val="E6F1FA"/>
          </a:solidFill>
          <a:ln/>
        </p:spPr>
      </p:sp>
      <p:sp>
        <p:nvSpPr>
          <p:cNvPr id="33" name="Text 30"/>
          <p:cNvSpPr txBox="1"/>
          <p:nvPr/>
        </p:nvSpPr>
        <p:spPr>
          <a:xfrm>
            <a:off x="8229600" y="5285232"/>
            <a:ext cx="3145536" cy="310896"/>
          </a:xfrm>
          <a:prstGeom prst="rect">
            <a:avLst/>
          </a:prstGeom>
          <a:noFill/>
          <a:ln/>
        </p:spPr>
        <p:txBody>
          <a:bodyPr wrap="square" lIns="0" tIns="0" rIns="0" bIns="0" rtlCol="0" anchor="ctr"/>
          <a:lstStyle/>
          <a:p>
            <a:pPr algn="ctr" indent="0" marL="0">
              <a:buNone/>
            </a:pPr>
            <a:r>
              <a:rPr lang="en-US" sz="1050" b="1" dirty="0">
                <a:solidFill>
                  <a:srgbClr val="0A4E7A"/>
                </a:solidFill>
                <a:latin typeface="Arial" pitchFamily="34" charset="0"/>
                <a:ea typeface="Arial" pitchFamily="34" charset="-122"/>
                <a:cs typeface="Arial" pitchFamily="34" charset="-120"/>
              </a:rPr>
              <a:t>Glacier Deep Archive is 25% of it</a:t>
            </a:r>
            <a:endParaRPr lang="en-US" sz="1050" dirty="0"/>
          </a:p>
        </p:txBody>
      </p:sp>
      <p:sp>
        <p:nvSpPr>
          <p:cNvPr id="34"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Included within the $792K AWS consumption total. The negative July bar is a MAP contract credit of $13.0K against other services.</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F7DC2"/>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APPENDIX · AZURE BY COST CENTRE</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Three cost centres hold 73% of Azure spend</a:t>
            </a:r>
            <a:endParaRPr lang="en-US" sz="2800" dirty="0"/>
          </a:p>
        </p:txBody>
      </p:sp>
      <p:sp>
        <p:nvSpPr>
          <p:cNvPr id="5" name="strip"/>
          <p:cNvSpPr/>
          <p:nvPr/>
        </p:nvSpPr>
        <p:spPr>
          <a:xfrm>
            <a:off x="566928" y="1517904"/>
            <a:ext cx="7114032" cy="566928"/>
          </a:xfrm>
          <a:prstGeom prst="roundRect">
            <a:avLst>
              <a:gd name="adj" fmla="val 9677"/>
            </a:avLst>
          </a:prstGeom>
          <a:solidFill>
            <a:srgbClr val="EEF2F7"/>
          </a:solidFill>
          <a:ln/>
        </p:spPr>
      </p:sp>
      <p:sp>
        <p:nvSpPr>
          <p:cNvPr id="6" name="Text 4"/>
          <p:cNvSpPr txBox="1"/>
          <p:nvPr/>
        </p:nvSpPr>
        <p:spPr>
          <a:xfrm>
            <a:off x="566928"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Jan</a:t>
            </a:r>
            <a:endParaRPr lang="en-US" sz="950" dirty="0"/>
          </a:p>
        </p:txBody>
      </p:sp>
      <p:sp>
        <p:nvSpPr>
          <p:cNvPr id="7" name="Text 5"/>
          <p:cNvSpPr txBox="1"/>
          <p:nvPr/>
        </p:nvSpPr>
        <p:spPr>
          <a:xfrm>
            <a:off x="566928"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$157K</a:t>
            </a:r>
            <a:endParaRPr lang="en-US" sz="1100" dirty="0"/>
          </a:p>
        </p:txBody>
      </p:sp>
      <p:sp>
        <p:nvSpPr>
          <p:cNvPr id="8" name="Text 6"/>
          <p:cNvSpPr txBox="1"/>
          <p:nvPr/>
        </p:nvSpPr>
        <p:spPr>
          <a:xfrm>
            <a:off x="1357376"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Feb</a:t>
            </a:r>
            <a:endParaRPr lang="en-US" sz="950" dirty="0"/>
          </a:p>
        </p:txBody>
      </p:sp>
      <p:sp>
        <p:nvSpPr>
          <p:cNvPr id="9" name="Text 7"/>
          <p:cNvSpPr txBox="1"/>
          <p:nvPr/>
        </p:nvSpPr>
        <p:spPr>
          <a:xfrm>
            <a:off x="1357376"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$136K</a:t>
            </a:r>
            <a:endParaRPr lang="en-US" sz="1100" dirty="0"/>
          </a:p>
        </p:txBody>
      </p:sp>
      <p:sp>
        <p:nvSpPr>
          <p:cNvPr id="10" name="Text 8"/>
          <p:cNvSpPr txBox="1"/>
          <p:nvPr/>
        </p:nvSpPr>
        <p:spPr>
          <a:xfrm>
            <a:off x="2147824"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Mar</a:t>
            </a:r>
            <a:endParaRPr lang="en-US" sz="950" dirty="0"/>
          </a:p>
        </p:txBody>
      </p:sp>
      <p:sp>
        <p:nvSpPr>
          <p:cNvPr id="11" name="Text 9"/>
          <p:cNvSpPr txBox="1"/>
          <p:nvPr/>
        </p:nvSpPr>
        <p:spPr>
          <a:xfrm>
            <a:off x="2147824"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$165K</a:t>
            </a:r>
            <a:endParaRPr lang="en-US" sz="1100" dirty="0"/>
          </a:p>
        </p:txBody>
      </p:sp>
      <p:sp>
        <p:nvSpPr>
          <p:cNvPr id="12" name="Text 10"/>
          <p:cNvSpPr txBox="1"/>
          <p:nvPr/>
        </p:nvSpPr>
        <p:spPr>
          <a:xfrm>
            <a:off x="2938272"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Apr</a:t>
            </a:r>
            <a:endParaRPr lang="en-US" sz="950" dirty="0"/>
          </a:p>
        </p:txBody>
      </p:sp>
      <p:sp>
        <p:nvSpPr>
          <p:cNvPr id="13" name="Text 11"/>
          <p:cNvSpPr txBox="1"/>
          <p:nvPr/>
        </p:nvSpPr>
        <p:spPr>
          <a:xfrm>
            <a:off x="2938272"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$153K</a:t>
            </a:r>
            <a:endParaRPr lang="en-US" sz="1100" dirty="0"/>
          </a:p>
        </p:txBody>
      </p:sp>
      <p:sp>
        <p:nvSpPr>
          <p:cNvPr id="14" name="Text 12"/>
          <p:cNvSpPr txBox="1"/>
          <p:nvPr/>
        </p:nvSpPr>
        <p:spPr>
          <a:xfrm>
            <a:off x="3728720"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May</a:t>
            </a:r>
            <a:endParaRPr lang="en-US" sz="950" dirty="0"/>
          </a:p>
        </p:txBody>
      </p:sp>
      <p:sp>
        <p:nvSpPr>
          <p:cNvPr id="15" name="Text 13"/>
          <p:cNvSpPr txBox="1"/>
          <p:nvPr/>
        </p:nvSpPr>
        <p:spPr>
          <a:xfrm>
            <a:off x="3728720"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$152K</a:t>
            </a:r>
            <a:endParaRPr lang="en-US" sz="1100" dirty="0"/>
          </a:p>
        </p:txBody>
      </p:sp>
      <p:sp>
        <p:nvSpPr>
          <p:cNvPr id="16" name="Text 14"/>
          <p:cNvSpPr txBox="1"/>
          <p:nvPr/>
        </p:nvSpPr>
        <p:spPr>
          <a:xfrm>
            <a:off x="4519168"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Jun</a:t>
            </a:r>
            <a:endParaRPr lang="en-US" sz="950" dirty="0"/>
          </a:p>
        </p:txBody>
      </p:sp>
      <p:sp>
        <p:nvSpPr>
          <p:cNvPr id="17" name="Text 15"/>
          <p:cNvSpPr txBox="1"/>
          <p:nvPr/>
        </p:nvSpPr>
        <p:spPr>
          <a:xfrm>
            <a:off x="4519168"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$167K</a:t>
            </a:r>
            <a:endParaRPr lang="en-US" sz="1100" dirty="0"/>
          </a:p>
        </p:txBody>
      </p:sp>
      <p:sp>
        <p:nvSpPr>
          <p:cNvPr id="18" name="Text 16"/>
          <p:cNvSpPr txBox="1"/>
          <p:nvPr/>
        </p:nvSpPr>
        <p:spPr>
          <a:xfrm>
            <a:off x="5309616"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Jul</a:t>
            </a:r>
            <a:endParaRPr lang="en-US" sz="950" dirty="0"/>
          </a:p>
        </p:txBody>
      </p:sp>
      <p:sp>
        <p:nvSpPr>
          <p:cNvPr id="19" name="Text 17"/>
          <p:cNvSpPr txBox="1"/>
          <p:nvPr/>
        </p:nvSpPr>
        <p:spPr>
          <a:xfrm>
            <a:off x="5309616"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$187K</a:t>
            </a:r>
            <a:endParaRPr lang="en-US" sz="1100" dirty="0"/>
          </a:p>
        </p:txBody>
      </p:sp>
      <p:sp>
        <p:nvSpPr>
          <p:cNvPr id="20" name="Text 18"/>
          <p:cNvSpPr txBox="1"/>
          <p:nvPr/>
        </p:nvSpPr>
        <p:spPr>
          <a:xfrm>
            <a:off x="6100064"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Aug</a:t>
            </a:r>
            <a:endParaRPr lang="en-US" sz="950" dirty="0"/>
          </a:p>
        </p:txBody>
      </p:sp>
      <p:sp>
        <p:nvSpPr>
          <p:cNvPr id="21" name="Text 19"/>
          <p:cNvSpPr txBox="1"/>
          <p:nvPr/>
        </p:nvSpPr>
        <p:spPr>
          <a:xfrm>
            <a:off x="6100064"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$191K</a:t>
            </a:r>
            <a:endParaRPr lang="en-US" sz="1100" dirty="0"/>
          </a:p>
        </p:txBody>
      </p:sp>
      <p:sp>
        <p:nvSpPr>
          <p:cNvPr id="22" name="Text 20"/>
          <p:cNvSpPr txBox="1"/>
          <p:nvPr/>
        </p:nvSpPr>
        <p:spPr>
          <a:xfrm>
            <a:off x="6890512"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Sep</a:t>
            </a:r>
            <a:endParaRPr lang="en-US" sz="950" dirty="0"/>
          </a:p>
        </p:txBody>
      </p:sp>
      <p:sp>
        <p:nvSpPr>
          <p:cNvPr id="23" name="Text 21"/>
          <p:cNvSpPr txBox="1"/>
          <p:nvPr/>
        </p:nvSpPr>
        <p:spPr>
          <a:xfrm>
            <a:off x="6890512" y="1773936"/>
            <a:ext cx="790448" cy="256032"/>
          </a:xfrm>
          <a:prstGeom prst="rect">
            <a:avLst/>
          </a:prstGeom>
          <a:noFill/>
          <a:ln/>
        </p:spPr>
        <p:txBody>
          <a:bodyPr wrap="square" lIns="0" tIns="0" rIns="0" bIns="0" rtlCol="0" anchor="ctr"/>
          <a:lstStyle/>
          <a:p>
            <a:pPr algn="ctr" indent="0" marL="0">
              <a:buNone/>
            </a:pPr>
            <a:r>
              <a:rPr lang="en-US" sz="1100" b="1" dirty="0">
                <a:solidFill>
                  <a:srgbClr val="0B1B2E"/>
                </a:solidFill>
                <a:latin typeface="Arial" pitchFamily="34" charset="0"/>
                <a:ea typeface="Arial" pitchFamily="34" charset="-122"/>
                <a:cs typeface="Arial" pitchFamily="34" charset="-120"/>
              </a:rPr>
              <a:t>$198K</a:t>
            </a:r>
            <a:endParaRPr lang="en-US" sz="1100" dirty="0"/>
          </a:p>
        </p:txBody>
      </p:sp>
      <p:graphicFrame>
        <p:nvGraphicFramePr>
          <p:cNvPr id="24" name="Chart 0" descr=""/>
          <p:cNvGraphicFramePr/>
          <p:nvPr/>
        </p:nvGraphicFramePr>
        <p:xfrm>
          <a:off x="457200" y="2176272"/>
          <a:ext cx="7223760" cy="3456432"/>
        </p:xfrm>
        <a:graphic xmlns:a="http://schemas.openxmlformats.org/drawingml/2006/main">
          <a:graphicData uri="http://schemas.openxmlformats.org/drawingml/2006/chart">
            <c:chart xmlns:c="http://schemas.openxmlformats.org/drawingml/2006/chart" r:id="rId1"/>
          </a:graphicData>
        </a:graphic>
      </p:graphicFrame>
      <p:sp>
        <p:nvSpPr>
          <p:cNvPr id="25" name="metric-September 2026"/>
          <p:cNvSpPr/>
          <p:nvPr/>
        </p:nvSpPr>
        <p:spPr>
          <a:xfrm>
            <a:off x="7973568" y="1517904"/>
            <a:ext cx="3648456" cy="1627632"/>
          </a:xfrm>
          <a:prstGeom prst="roundRect">
            <a:avLst>
              <a:gd name="adj" fmla="val 3371"/>
            </a:avLst>
          </a:prstGeom>
          <a:solidFill>
            <a:srgbClr val="EEF2F7"/>
          </a:solidFill>
          <a:ln/>
        </p:spPr>
      </p:sp>
      <p:sp>
        <p:nvSpPr>
          <p:cNvPr id="26" name="metric-dot"/>
          <p:cNvSpPr/>
          <p:nvPr/>
        </p:nvSpPr>
        <p:spPr>
          <a:xfrm>
            <a:off x="8229600" y="1755648"/>
            <a:ext cx="91440" cy="91440"/>
          </a:xfrm>
          <a:prstGeom prst="ellipse">
            <a:avLst/>
          </a:prstGeom>
          <a:solidFill>
            <a:srgbClr val="0F7DC2"/>
          </a:solidFill>
          <a:ln/>
        </p:spPr>
      </p:sp>
      <p:sp>
        <p:nvSpPr>
          <p:cNvPr id="27" name="Text 24"/>
          <p:cNvSpPr txBox="1"/>
          <p:nvPr/>
        </p:nvSpPr>
        <p:spPr>
          <a:xfrm>
            <a:off x="8412480" y="1664208"/>
            <a:ext cx="2953512" cy="256032"/>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SEPTEMBER 2026</a:t>
            </a:r>
            <a:endParaRPr lang="en-US" sz="1000" dirty="0"/>
          </a:p>
        </p:txBody>
      </p:sp>
      <p:sp>
        <p:nvSpPr>
          <p:cNvPr id="28" name="Text 25"/>
          <p:cNvSpPr txBox="1"/>
          <p:nvPr/>
        </p:nvSpPr>
        <p:spPr>
          <a:xfrm>
            <a:off x="8229600" y="1920240"/>
            <a:ext cx="3136392" cy="566928"/>
          </a:xfrm>
          <a:prstGeom prst="rect">
            <a:avLst/>
          </a:prstGeom>
          <a:noFill/>
          <a:ln/>
        </p:spPr>
        <p:txBody>
          <a:bodyPr wrap="square" lIns="0" tIns="0" rIns="0" bIns="0" rtlCol="0" anchor="ctr"/>
          <a:lstStyle/>
          <a:p>
            <a:pPr algn="l" indent="0" marL="0">
              <a:buNone/>
            </a:pPr>
            <a:r>
              <a:rPr lang="en-US" sz="3000" b="1" dirty="0">
                <a:solidFill>
                  <a:srgbClr val="0B1B2E"/>
                </a:solidFill>
                <a:latin typeface="Arial" pitchFamily="34" charset="0"/>
                <a:ea typeface="Arial" pitchFamily="34" charset="-122"/>
                <a:cs typeface="Arial" pitchFamily="34" charset="-120"/>
              </a:rPr>
              <a:t>$197,573</a:t>
            </a:r>
            <a:endParaRPr lang="en-US" sz="3000" dirty="0"/>
          </a:p>
        </p:txBody>
      </p:sp>
      <p:sp>
        <p:nvSpPr>
          <p:cNvPr id="29" name="Text 26"/>
          <p:cNvSpPr txBox="1"/>
          <p:nvPr/>
        </p:nvSpPr>
        <p:spPr>
          <a:xfrm>
            <a:off x="8229600" y="2487168"/>
            <a:ext cx="3136392" cy="274320"/>
          </a:xfrm>
          <a:prstGeom prst="rect">
            <a:avLst/>
          </a:prstGeom>
          <a:noFill/>
          <a:ln/>
        </p:spPr>
        <p:txBody>
          <a:bodyPr wrap="square" lIns="0" tIns="0" rIns="0" bIns="0" rtlCol="0" anchor="ctr"/>
          <a:lstStyle/>
          <a:p>
            <a:pPr algn="l" indent="0" marL="0">
              <a:buNone/>
            </a:pPr>
            <a:r>
              <a:rPr lang="en-US" sz="1100" b="1" dirty="0">
                <a:solidFill>
                  <a:srgbClr val="F2A900"/>
                </a:solidFill>
                <a:latin typeface="Arial" pitchFamily="34" charset="0"/>
                <a:ea typeface="Arial" pitchFamily="34" charset="-122"/>
                <a:cs typeface="Arial" pitchFamily="34" charset="-120"/>
              </a:rPr>
              <a:t>+3.2% vs August   (+$6,163)</a:t>
            </a:r>
            <a:endParaRPr lang="en-US" sz="1100" dirty="0"/>
          </a:p>
        </p:txBody>
      </p:sp>
      <p:sp>
        <p:nvSpPr>
          <p:cNvPr id="30" name="Text 27"/>
          <p:cNvSpPr txBox="1"/>
          <p:nvPr/>
        </p:nvSpPr>
        <p:spPr>
          <a:xfrm>
            <a:off x="8229600" y="2724912"/>
            <a:ext cx="3136392" cy="274320"/>
          </a:xfrm>
          <a:prstGeom prst="rect">
            <a:avLst/>
          </a:prstGeom>
          <a:noFill/>
          <a:ln/>
        </p:spPr>
        <p:txBody>
          <a:bodyPr wrap="square" lIns="0" tIns="0" rIns="0" bIns="0" rtlCol="0" anchor="ctr"/>
          <a:lstStyle/>
          <a:p>
            <a:pPr algn="l" indent="0" marL="0">
              <a:buNone/>
            </a:pPr>
            <a:r>
              <a:rPr lang="en-US" sz="1050" dirty="0">
                <a:solidFill>
                  <a:srgbClr val="5B6B7E"/>
                </a:solidFill>
                <a:latin typeface="Arial" pitchFamily="34" charset="0"/>
                <a:ea typeface="Arial" pitchFamily="34" charset="-122"/>
                <a:cs typeface="Arial" pitchFamily="34" charset="-120"/>
              </a:rPr>
              <a:t>As reported in September: $1.50M</a:t>
            </a:r>
            <a:endParaRPr lang="en-US" sz="1050" dirty="0"/>
          </a:p>
        </p:txBody>
      </p:sp>
      <p:sp>
        <p:nvSpPr>
          <p:cNvPr id="31" name="panel"/>
          <p:cNvSpPr/>
          <p:nvPr/>
        </p:nvSpPr>
        <p:spPr>
          <a:xfrm>
            <a:off x="7973568" y="3255264"/>
            <a:ext cx="3648456" cy="2377440"/>
          </a:xfrm>
          <a:prstGeom prst="roundRect">
            <a:avLst>
              <a:gd name="adj" fmla="val 2308"/>
            </a:avLst>
          </a:prstGeom>
          <a:solidFill>
            <a:srgbClr val="EEF2F7"/>
          </a:solidFill>
          <a:ln/>
        </p:spPr>
      </p:sp>
      <p:sp>
        <p:nvSpPr>
          <p:cNvPr id="32" name="Text 29"/>
          <p:cNvSpPr txBox="1"/>
          <p:nvPr/>
        </p:nvSpPr>
        <p:spPr>
          <a:xfrm>
            <a:off x="8229600" y="3419856"/>
            <a:ext cx="3108960" cy="274320"/>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Year to date by cost centre</a:t>
            </a:r>
            <a:endParaRPr lang="en-US" sz="1250" dirty="0"/>
          </a:p>
        </p:txBody>
      </p:sp>
      <p:sp>
        <p:nvSpPr>
          <p:cNvPr id="33" name="Text 30"/>
          <p:cNvSpPr txBox="1"/>
          <p:nvPr/>
        </p:nvSpPr>
        <p:spPr>
          <a:xfrm>
            <a:off x="8229600" y="3767328"/>
            <a:ext cx="1682496" cy="274320"/>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DataCloud</a:t>
            </a:r>
            <a:endParaRPr lang="en-US" sz="1000" dirty="0"/>
          </a:p>
        </p:txBody>
      </p:sp>
      <p:sp>
        <p:nvSpPr>
          <p:cNvPr id="34" name="rank-bar-0"/>
          <p:cNvSpPr/>
          <p:nvPr/>
        </p:nvSpPr>
        <p:spPr>
          <a:xfrm>
            <a:off x="10003536" y="3835908"/>
            <a:ext cx="548640" cy="137160"/>
          </a:xfrm>
          <a:prstGeom prst="rect">
            <a:avLst/>
          </a:prstGeom>
          <a:solidFill>
            <a:srgbClr val="0F7DC2"/>
          </a:solidFill>
          <a:ln/>
        </p:spPr>
      </p:sp>
      <p:sp>
        <p:nvSpPr>
          <p:cNvPr id="35" name="Text 32"/>
          <p:cNvSpPr txBox="1"/>
          <p:nvPr/>
        </p:nvSpPr>
        <p:spPr>
          <a:xfrm>
            <a:off x="10643616" y="3767328"/>
            <a:ext cx="731520"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$437K</a:t>
            </a:r>
            <a:endParaRPr lang="en-US" sz="1050" dirty="0"/>
          </a:p>
        </p:txBody>
      </p:sp>
      <p:sp>
        <p:nvSpPr>
          <p:cNvPr id="36" name="Text 33"/>
          <p:cNvSpPr txBox="1"/>
          <p:nvPr/>
        </p:nvSpPr>
        <p:spPr>
          <a:xfrm>
            <a:off x="8229600" y="4114800"/>
            <a:ext cx="1682496" cy="274320"/>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SAP</a:t>
            </a:r>
            <a:endParaRPr lang="en-US" sz="1000" dirty="0"/>
          </a:p>
        </p:txBody>
      </p:sp>
      <p:sp>
        <p:nvSpPr>
          <p:cNvPr id="37" name="rank-bar-1"/>
          <p:cNvSpPr/>
          <p:nvPr/>
        </p:nvSpPr>
        <p:spPr>
          <a:xfrm>
            <a:off x="10003536" y="4183380"/>
            <a:ext cx="472548" cy="137160"/>
          </a:xfrm>
          <a:prstGeom prst="rect">
            <a:avLst/>
          </a:prstGeom>
          <a:solidFill>
            <a:srgbClr val="27496B"/>
          </a:solidFill>
          <a:ln/>
        </p:spPr>
      </p:sp>
      <p:sp>
        <p:nvSpPr>
          <p:cNvPr id="38" name="Text 35"/>
          <p:cNvSpPr txBox="1"/>
          <p:nvPr/>
        </p:nvSpPr>
        <p:spPr>
          <a:xfrm>
            <a:off x="10643616" y="4114800"/>
            <a:ext cx="731520"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$377K</a:t>
            </a:r>
            <a:endParaRPr lang="en-US" sz="1050" dirty="0"/>
          </a:p>
        </p:txBody>
      </p:sp>
      <p:sp>
        <p:nvSpPr>
          <p:cNvPr id="39" name="Text 36"/>
          <p:cNvSpPr txBox="1"/>
          <p:nvPr/>
        </p:nvSpPr>
        <p:spPr>
          <a:xfrm>
            <a:off x="8229600" y="4462272"/>
            <a:ext cx="1682496" cy="274320"/>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CloudIT</a:t>
            </a:r>
            <a:endParaRPr lang="en-US" sz="1000" dirty="0"/>
          </a:p>
        </p:txBody>
      </p:sp>
      <p:sp>
        <p:nvSpPr>
          <p:cNvPr id="40" name="rank-bar-2"/>
          <p:cNvSpPr/>
          <p:nvPr/>
        </p:nvSpPr>
        <p:spPr>
          <a:xfrm>
            <a:off x="10003536" y="4530852"/>
            <a:ext cx="351533" cy="137160"/>
          </a:xfrm>
          <a:prstGeom prst="rect">
            <a:avLst/>
          </a:prstGeom>
          <a:solidFill>
            <a:srgbClr val="00A878"/>
          </a:solidFill>
          <a:ln/>
        </p:spPr>
      </p:sp>
      <p:sp>
        <p:nvSpPr>
          <p:cNvPr id="41" name="Text 38"/>
          <p:cNvSpPr txBox="1"/>
          <p:nvPr/>
        </p:nvSpPr>
        <p:spPr>
          <a:xfrm>
            <a:off x="10643616" y="4462272"/>
            <a:ext cx="731520"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$280K</a:t>
            </a:r>
            <a:endParaRPr lang="en-US" sz="1050" dirty="0"/>
          </a:p>
        </p:txBody>
      </p:sp>
      <p:sp>
        <p:nvSpPr>
          <p:cNvPr id="42" name="Text 39"/>
          <p:cNvSpPr txBox="1"/>
          <p:nvPr/>
        </p:nvSpPr>
        <p:spPr>
          <a:xfrm>
            <a:off x="8229600" y="4809744"/>
            <a:ext cx="1682496" cy="274320"/>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AI Factory</a:t>
            </a:r>
            <a:endParaRPr lang="en-US" sz="1000" dirty="0"/>
          </a:p>
        </p:txBody>
      </p:sp>
      <p:sp>
        <p:nvSpPr>
          <p:cNvPr id="43" name="rank-bar-3"/>
          <p:cNvSpPr/>
          <p:nvPr/>
        </p:nvSpPr>
        <p:spPr>
          <a:xfrm>
            <a:off x="10003536" y="4878324"/>
            <a:ext cx="180481" cy="137160"/>
          </a:xfrm>
          <a:prstGeom prst="rect">
            <a:avLst/>
          </a:prstGeom>
          <a:solidFill>
            <a:srgbClr val="7C5CFF"/>
          </a:solidFill>
          <a:ln/>
        </p:spPr>
      </p:sp>
      <p:sp>
        <p:nvSpPr>
          <p:cNvPr id="44" name="Text 41"/>
          <p:cNvSpPr txBox="1"/>
          <p:nvPr/>
        </p:nvSpPr>
        <p:spPr>
          <a:xfrm>
            <a:off x="10643616" y="4809744"/>
            <a:ext cx="731520"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$144K</a:t>
            </a:r>
            <a:endParaRPr lang="en-US" sz="1050" dirty="0"/>
          </a:p>
        </p:txBody>
      </p:sp>
      <p:sp>
        <p:nvSpPr>
          <p:cNvPr id="45" name="Text 42"/>
          <p:cNvSpPr txBox="1"/>
          <p:nvPr/>
        </p:nvSpPr>
        <p:spPr>
          <a:xfrm>
            <a:off x="8229600" y="5157216"/>
            <a:ext cx="1682496" cy="274320"/>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Other</a:t>
            </a:r>
            <a:endParaRPr lang="en-US" sz="1000" dirty="0"/>
          </a:p>
        </p:txBody>
      </p:sp>
      <p:sp>
        <p:nvSpPr>
          <p:cNvPr id="46" name="rank-bar-4"/>
          <p:cNvSpPr/>
          <p:nvPr/>
        </p:nvSpPr>
        <p:spPr>
          <a:xfrm>
            <a:off x="10003536" y="5225796"/>
            <a:ext cx="156353" cy="137160"/>
          </a:xfrm>
          <a:prstGeom prst="rect">
            <a:avLst/>
          </a:prstGeom>
          <a:solidFill>
            <a:srgbClr val="9FB3C8"/>
          </a:solidFill>
          <a:ln/>
        </p:spPr>
      </p:sp>
      <p:sp>
        <p:nvSpPr>
          <p:cNvPr id="47" name="Text 44"/>
          <p:cNvSpPr txBox="1"/>
          <p:nvPr/>
        </p:nvSpPr>
        <p:spPr>
          <a:xfrm>
            <a:off x="10643616" y="5157216"/>
            <a:ext cx="731520"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$125K</a:t>
            </a:r>
            <a:endParaRPr lang="en-US" sz="1050" dirty="0"/>
          </a:p>
        </p:txBody>
      </p:sp>
      <p:sp>
        <p:nvSpPr>
          <p:cNvPr id="48"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DataCloud, SAP and CloudIT are stable. Growth sits in AI Factory, which went from $0.9K to $27.4K a month, in CloudOps, and in the unallocated "other" bucket of $125K.</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F7DC2"/>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APPENDIX · AZURE BY SERVICE</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Core infrastructure is 57% of Azure spend</a:t>
            </a:r>
            <a:endParaRPr lang="en-US" sz="2800" dirty="0"/>
          </a:p>
        </p:txBody>
      </p:sp>
      <p:sp>
        <p:nvSpPr>
          <p:cNvPr id="5" name="strip"/>
          <p:cNvSpPr/>
          <p:nvPr/>
        </p:nvSpPr>
        <p:spPr>
          <a:xfrm>
            <a:off x="566928" y="1517904"/>
            <a:ext cx="7114032" cy="566928"/>
          </a:xfrm>
          <a:prstGeom prst="roundRect">
            <a:avLst>
              <a:gd name="adj" fmla="val 9677"/>
            </a:avLst>
          </a:prstGeom>
          <a:solidFill>
            <a:srgbClr val="EEF2F7"/>
          </a:solidFill>
          <a:ln/>
        </p:spPr>
      </p:sp>
      <p:sp>
        <p:nvSpPr>
          <p:cNvPr id="6" name="Text 4"/>
          <p:cNvSpPr txBox="1"/>
          <p:nvPr/>
        </p:nvSpPr>
        <p:spPr>
          <a:xfrm>
            <a:off x="566928"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Jan</a:t>
            </a:r>
            <a:endParaRPr lang="en-US" sz="950" dirty="0"/>
          </a:p>
        </p:txBody>
      </p:sp>
      <p:sp>
        <p:nvSpPr>
          <p:cNvPr id="7" name="Text 5"/>
          <p:cNvSpPr txBox="1"/>
          <p:nvPr/>
        </p:nvSpPr>
        <p:spPr>
          <a:xfrm>
            <a:off x="566928"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$157K</a:t>
            </a:r>
            <a:endParaRPr lang="en-US" sz="1100" dirty="0"/>
          </a:p>
        </p:txBody>
      </p:sp>
      <p:sp>
        <p:nvSpPr>
          <p:cNvPr id="8" name="Text 6"/>
          <p:cNvSpPr txBox="1"/>
          <p:nvPr/>
        </p:nvSpPr>
        <p:spPr>
          <a:xfrm>
            <a:off x="1357376"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Feb</a:t>
            </a:r>
            <a:endParaRPr lang="en-US" sz="950" dirty="0"/>
          </a:p>
        </p:txBody>
      </p:sp>
      <p:sp>
        <p:nvSpPr>
          <p:cNvPr id="9" name="Text 7"/>
          <p:cNvSpPr txBox="1"/>
          <p:nvPr/>
        </p:nvSpPr>
        <p:spPr>
          <a:xfrm>
            <a:off x="1357376"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$136K</a:t>
            </a:r>
            <a:endParaRPr lang="en-US" sz="1100" dirty="0"/>
          </a:p>
        </p:txBody>
      </p:sp>
      <p:sp>
        <p:nvSpPr>
          <p:cNvPr id="10" name="Text 8"/>
          <p:cNvSpPr txBox="1"/>
          <p:nvPr/>
        </p:nvSpPr>
        <p:spPr>
          <a:xfrm>
            <a:off x="2147824"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Mar</a:t>
            </a:r>
            <a:endParaRPr lang="en-US" sz="950" dirty="0"/>
          </a:p>
        </p:txBody>
      </p:sp>
      <p:sp>
        <p:nvSpPr>
          <p:cNvPr id="11" name="Text 9"/>
          <p:cNvSpPr txBox="1"/>
          <p:nvPr/>
        </p:nvSpPr>
        <p:spPr>
          <a:xfrm>
            <a:off x="2147824"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$165K</a:t>
            </a:r>
            <a:endParaRPr lang="en-US" sz="1100" dirty="0"/>
          </a:p>
        </p:txBody>
      </p:sp>
      <p:sp>
        <p:nvSpPr>
          <p:cNvPr id="12" name="Text 10"/>
          <p:cNvSpPr txBox="1"/>
          <p:nvPr/>
        </p:nvSpPr>
        <p:spPr>
          <a:xfrm>
            <a:off x="2938272"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Apr</a:t>
            </a:r>
            <a:endParaRPr lang="en-US" sz="950" dirty="0"/>
          </a:p>
        </p:txBody>
      </p:sp>
      <p:sp>
        <p:nvSpPr>
          <p:cNvPr id="13" name="Text 11"/>
          <p:cNvSpPr txBox="1"/>
          <p:nvPr/>
        </p:nvSpPr>
        <p:spPr>
          <a:xfrm>
            <a:off x="2938272"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$153K</a:t>
            </a:r>
            <a:endParaRPr lang="en-US" sz="1100" dirty="0"/>
          </a:p>
        </p:txBody>
      </p:sp>
      <p:sp>
        <p:nvSpPr>
          <p:cNvPr id="14" name="Text 12"/>
          <p:cNvSpPr txBox="1"/>
          <p:nvPr/>
        </p:nvSpPr>
        <p:spPr>
          <a:xfrm>
            <a:off x="3728720"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May</a:t>
            </a:r>
            <a:endParaRPr lang="en-US" sz="950" dirty="0"/>
          </a:p>
        </p:txBody>
      </p:sp>
      <p:sp>
        <p:nvSpPr>
          <p:cNvPr id="15" name="Text 13"/>
          <p:cNvSpPr txBox="1"/>
          <p:nvPr/>
        </p:nvSpPr>
        <p:spPr>
          <a:xfrm>
            <a:off x="3728720"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$152K</a:t>
            </a:r>
            <a:endParaRPr lang="en-US" sz="1100" dirty="0"/>
          </a:p>
        </p:txBody>
      </p:sp>
      <p:sp>
        <p:nvSpPr>
          <p:cNvPr id="16" name="Text 14"/>
          <p:cNvSpPr txBox="1"/>
          <p:nvPr/>
        </p:nvSpPr>
        <p:spPr>
          <a:xfrm>
            <a:off x="4519168"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Jun</a:t>
            </a:r>
            <a:endParaRPr lang="en-US" sz="950" dirty="0"/>
          </a:p>
        </p:txBody>
      </p:sp>
      <p:sp>
        <p:nvSpPr>
          <p:cNvPr id="17" name="Text 15"/>
          <p:cNvSpPr txBox="1"/>
          <p:nvPr/>
        </p:nvSpPr>
        <p:spPr>
          <a:xfrm>
            <a:off x="4519168"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$167K</a:t>
            </a:r>
            <a:endParaRPr lang="en-US" sz="1100" dirty="0"/>
          </a:p>
        </p:txBody>
      </p:sp>
      <p:sp>
        <p:nvSpPr>
          <p:cNvPr id="18" name="Text 16"/>
          <p:cNvSpPr txBox="1"/>
          <p:nvPr/>
        </p:nvSpPr>
        <p:spPr>
          <a:xfrm>
            <a:off x="5309616"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Jul</a:t>
            </a:r>
            <a:endParaRPr lang="en-US" sz="950" dirty="0"/>
          </a:p>
        </p:txBody>
      </p:sp>
      <p:sp>
        <p:nvSpPr>
          <p:cNvPr id="19" name="Text 17"/>
          <p:cNvSpPr txBox="1"/>
          <p:nvPr/>
        </p:nvSpPr>
        <p:spPr>
          <a:xfrm>
            <a:off x="5309616"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$187K</a:t>
            </a:r>
            <a:endParaRPr lang="en-US" sz="1100" dirty="0"/>
          </a:p>
        </p:txBody>
      </p:sp>
      <p:sp>
        <p:nvSpPr>
          <p:cNvPr id="20" name="Text 18"/>
          <p:cNvSpPr txBox="1"/>
          <p:nvPr/>
        </p:nvSpPr>
        <p:spPr>
          <a:xfrm>
            <a:off x="6100064"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Aug</a:t>
            </a:r>
            <a:endParaRPr lang="en-US" sz="950" dirty="0"/>
          </a:p>
        </p:txBody>
      </p:sp>
      <p:sp>
        <p:nvSpPr>
          <p:cNvPr id="21" name="Text 19"/>
          <p:cNvSpPr txBox="1"/>
          <p:nvPr/>
        </p:nvSpPr>
        <p:spPr>
          <a:xfrm>
            <a:off x="6100064" y="1773936"/>
            <a:ext cx="790448" cy="256032"/>
          </a:xfrm>
          <a:prstGeom prst="rect">
            <a:avLst/>
          </a:prstGeom>
          <a:noFill/>
          <a:ln/>
        </p:spPr>
        <p:txBody>
          <a:bodyPr wrap="square" lIns="0" tIns="0" rIns="0" bIns="0" rtlCol="0" anchor="ctr"/>
          <a:lstStyle/>
          <a:p>
            <a:pPr algn="ctr" indent="0" marL="0">
              <a:buNone/>
            </a:pPr>
            <a:r>
              <a:rPr lang="en-US" sz="1100" b="1" dirty="0">
                <a:solidFill>
                  <a:srgbClr val="41546B"/>
                </a:solidFill>
                <a:latin typeface="Arial" pitchFamily="34" charset="0"/>
                <a:ea typeface="Arial" pitchFamily="34" charset="-122"/>
                <a:cs typeface="Arial" pitchFamily="34" charset="-120"/>
              </a:rPr>
              <a:t>$191K</a:t>
            </a:r>
            <a:endParaRPr lang="en-US" sz="1100" dirty="0"/>
          </a:p>
        </p:txBody>
      </p:sp>
      <p:sp>
        <p:nvSpPr>
          <p:cNvPr id="22" name="Text 20"/>
          <p:cNvSpPr txBox="1"/>
          <p:nvPr/>
        </p:nvSpPr>
        <p:spPr>
          <a:xfrm>
            <a:off x="6890512" y="1563624"/>
            <a:ext cx="790448" cy="219456"/>
          </a:xfrm>
          <a:prstGeom prst="rect">
            <a:avLst/>
          </a:prstGeom>
          <a:noFill/>
          <a:ln/>
        </p:spPr>
        <p:txBody>
          <a:bodyPr wrap="square" lIns="0" tIns="0" rIns="0" bIns="0" rtlCol="0" anchor="ctr"/>
          <a:lstStyle/>
          <a:p>
            <a:pPr algn="ctr" indent="0" marL="0">
              <a:buNone/>
            </a:pPr>
            <a:r>
              <a:rPr lang="en-US" sz="950" b="1" dirty="0">
                <a:solidFill>
                  <a:srgbClr val="5B6B7E"/>
                </a:solidFill>
                <a:latin typeface="Arial" pitchFamily="34" charset="0"/>
                <a:ea typeface="Arial" pitchFamily="34" charset="-122"/>
                <a:cs typeface="Arial" pitchFamily="34" charset="-120"/>
              </a:rPr>
              <a:t>Sep</a:t>
            </a:r>
            <a:endParaRPr lang="en-US" sz="950" dirty="0"/>
          </a:p>
        </p:txBody>
      </p:sp>
      <p:sp>
        <p:nvSpPr>
          <p:cNvPr id="23" name="Text 21"/>
          <p:cNvSpPr txBox="1"/>
          <p:nvPr/>
        </p:nvSpPr>
        <p:spPr>
          <a:xfrm>
            <a:off x="6890512" y="1773936"/>
            <a:ext cx="790448" cy="256032"/>
          </a:xfrm>
          <a:prstGeom prst="rect">
            <a:avLst/>
          </a:prstGeom>
          <a:noFill/>
          <a:ln/>
        </p:spPr>
        <p:txBody>
          <a:bodyPr wrap="square" lIns="0" tIns="0" rIns="0" bIns="0" rtlCol="0" anchor="ctr"/>
          <a:lstStyle/>
          <a:p>
            <a:pPr algn="ctr" indent="0" marL="0">
              <a:buNone/>
            </a:pPr>
            <a:r>
              <a:rPr lang="en-US" sz="1100" b="1" dirty="0">
                <a:solidFill>
                  <a:srgbClr val="0B1B2E"/>
                </a:solidFill>
                <a:latin typeface="Arial" pitchFamily="34" charset="0"/>
                <a:ea typeface="Arial" pitchFamily="34" charset="-122"/>
                <a:cs typeface="Arial" pitchFamily="34" charset="-120"/>
              </a:rPr>
              <a:t>$198K</a:t>
            </a:r>
            <a:endParaRPr lang="en-US" sz="1100" dirty="0"/>
          </a:p>
        </p:txBody>
      </p:sp>
      <p:graphicFrame>
        <p:nvGraphicFramePr>
          <p:cNvPr id="24" name="Chart 0" descr=""/>
          <p:cNvGraphicFramePr/>
          <p:nvPr/>
        </p:nvGraphicFramePr>
        <p:xfrm>
          <a:off x="457200" y="2176272"/>
          <a:ext cx="7223760" cy="3456432"/>
        </p:xfrm>
        <a:graphic xmlns:a="http://schemas.openxmlformats.org/drawingml/2006/main">
          <a:graphicData uri="http://schemas.openxmlformats.org/drawingml/2006/chart">
            <c:chart xmlns:c="http://schemas.openxmlformats.org/drawingml/2006/chart" r:id="rId1"/>
          </a:graphicData>
        </a:graphic>
      </p:graphicFrame>
      <p:sp>
        <p:nvSpPr>
          <p:cNvPr id="25" name="metric-September 2026"/>
          <p:cNvSpPr/>
          <p:nvPr/>
        </p:nvSpPr>
        <p:spPr>
          <a:xfrm>
            <a:off x="7973568" y="1517904"/>
            <a:ext cx="3648456" cy="1627632"/>
          </a:xfrm>
          <a:prstGeom prst="roundRect">
            <a:avLst>
              <a:gd name="adj" fmla="val 3371"/>
            </a:avLst>
          </a:prstGeom>
          <a:solidFill>
            <a:srgbClr val="EEF2F7"/>
          </a:solidFill>
          <a:ln/>
        </p:spPr>
      </p:sp>
      <p:sp>
        <p:nvSpPr>
          <p:cNvPr id="26" name="metric-dot"/>
          <p:cNvSpPr/>
          <p:nvPr/>
        </p:nvSpPr>
        <p:spPr>
          <a:xfrm>
            <a:off x="8229600" y="1755648"/>
            <a:ext cx="91440" cy="91440"/>
          </a:xfrm>
          <a:prstGeom prst="ellipse">
            <a:avLst/>
          </a:prstGeom>
          <a:solidFill>
            <a:srgbClr val="0F7DC2"/>
          </a:solidFill>
          <a:ln/>
        </p:spPr>
      </p:sp>
      <p:sp>
        <p:nvSpPr>
          <p:cNvPr id="27" name="Text 24"/>
          <p:cNvSpPr txBox="1"/>
          <p:nvPr/>
        </p:nvSpPr>
        <p:spPr>
          <a:xfrm>
            <a:off x="8412480" y="1664208"/>
            <a:ext cx="2953512" cy="256032"/>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SEPTEMBER 2026</a:t>
            </a:r>
            <a:endParaRPr lang="en-US" sz="1000" dirty="0"/>
          </a:p>
        </p:txBody>
      </p:sp>
      <p:sp>
        <p:nvSpPr>
          <p:cNvPr id="28" name="Text 25"/>
          <p:cNvSpPr txBox="1"/>
          <p:nvPr/>
        </p:nvSpPr>
        <p:spPr>
          <a:xfrm>
            <a:off x="8229600" y="1920240"/>
            <a:ext cx="3136392" cy="566928"/>
          </a:xfrm>
          <a:prstGeom prst="rect">
            <a:avLst/>
          </a:prstGeom>
          <a:noFill/>
          <a:ln/>
        </p:spPr>
        <p:txBody>
          <a:bodyPr wrap="square" lIns="0" tIns="0" rIns="0" bIns="0" rtlCol="0" anchor="ctr"/>
          <a:lstStyle/>
          <a:p>
            <a:pPr algn="l" indent="0" marL="0">
              <a:buNone/>
            </a:pPr>
            <a:r>
              <a:rPr lang="en-US" sz="3000" b="1" dirty="0">
                <a:solidFill>
                  <a:srgbClr val="0B1B2E"/>
                </a:solidFill>
                <a:latin typeface="Arial" pitchFamily="34" charset="0"/>
                <a:ea typeface="Arial" pitchFamily="34" charset="-122"/>
                <a:cs typeface="Arial" pitchFamily="34" charset="-120"/>
              </a:rPr>
              <a:t>$197,573</a:t>
            </a:r>
            <a:endParaRPr lang="en-US" sz="3000" dirty="0"/>
          </a:p>
        </p:txBody>
      </p:sp>
      <p:sp>
        <p:nvSpPr>
          <p:cNvPr id="29" name="Text 26"/>
          <p:cNvSpPr txBox="1"/>
          <p:nvPr/>
        </p:nvSpPr>
        <p:spPr>
          <a:xfrm>
            <a:off x="8229600" y="2487168"/>
            <a:ext cx="3136392" cy="274320"/>
          </a:xfrm>
          <a:prstGeom prst="rect">
            <a:avLst/>
          </a:prstGeom>
          <a:noFill/>
          <a:ln/>
        </p:spPr>
        <p:txBody>
          <a:bodyPr wrap="square" lIns="0" tIns="0" rIns="0" bIns="0" rtlCol="0" anchor="ctr"/>
          <a:lstStyle/>
          <a:p>
            <a:pPr algn="l" indent="0" marL="0">
              <a:buNone/>
            </a:pPr>
            <a:r>
              <a:rPr lang="en-US" sz="1100" b="1" dirty="0">
                <a:solidFill>
                  <a:srgbClr val="F2A900"/>
                </a:solidFill>
                <a:latin typeface="Arial" pitchFamily="34" charset="0"/>
                <a:ea typeface="Arial" pitchFamily="34" charset="-122"/>
                <a:cs typeface="Arial" pitchFamily="34" charset="-120"/>
              </a:rPr>
              <a:t>+3.2% vs August   (+$6,163)</a:t>
            </a:r>
            <a:endParaRPr lang="en-US" sz="1100" dirty="0"/>
          </a:p>
        </p:txBody>
      </p:sp>
      <p:sp>
        <p:nvSpPr>
          <p:cNvPr id="30" name="Text 27"/>
          <p:cNvSpPr txBox="1"/>
          <p:nvPr/>
        </p:nvSpPr>
        <p:spPr>
          <a:xfrm>
            <a:off x="8229600" y="2724912"/>
            <a:ext cx="3136392" cy="274320"/>
          </a:xfrm>
          <a:prstGeom prst="rect">
            <a:avLst/>
          </a:prstGeom>
          <a:noFill/>
          <a:ln/>
        </p:spPr>
        <p:txBody>
          <a:bodyPr wrap="square" lIns="0" tIns="0" rIns="0" bIns="0" rtlCol="0" anchor="ctr"/>
          <a:lstStyle/>
          <a:p>
            <a:pPr algn="l" indent="0" marL="0">
              <a:buNone/>
            </a:pPr>
            <a:r>
              <a:rPr lang="en-US" sz="1050" dirty="0">
                <a:solidFill>
                  <a:srgbClr val="5B6B7E"/>
                </a:solidFill>
                <a:latin typeface="Arial" pitchFamily="34" charset="0"/>
                <a:ea typeface="Arial" pitchFamily="34" charset="-122"/>
                <a:cs typeface="Arial" pitchFamily="34" charset="-120"/>
              </a:rPr>
              <a:t>As reported in September: $1.50M</a:t>
            </a:r>
            <a:endParaRPr lang="en-US" sz="1050" dirty="0"/>
          </a:p>
        </p:txBody>
      </p:sp>
      <p:sp>
        <p:nvSpPr>
          <p:cNvPr id="31" name="panel"/>
          <p:cNvSpPr/>
          <p:nvPr/>
        </p:nvSpPr>
        <p:spPr>
          <a:xfrm>
            <a:off x="7973568" y="3255264"/>
            <a:ext cx="3648456" cy="2377440"/>
          </a:xfrm>
          <a:prstGeom prst="roundRect">
            <a:avLst>
              <a:gd name="adj" fmla="val 2308"/>
            </a:avLst>
          </a:prstGeom>
          <a:solidFill>
            <a:srgbClr val="EEF2F7"/>
          </a:solidFill>
          <a:ln/>
        </p:spPr>
      </p:sp>
      <p:sp>
        <p:nvSpPr>
          <p:cNvPr id="32" name="Text 29"/>
          <p:cNvSpPr txBox="1"/>
          <p:nvPr/>
        </p:nvSpPr>
        <p:spPr>
          <a:xfrm>
            <a:off x="8229600" y="3419856"/>
            <a:ext cx="3108960" cy="274320"/>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Year to date by service</a:t>
            </a:r>
            <a:endParaRPr lang="en-US" sz="1250" dirty="0"/>
          </a:p>
        </p:txBody>
      </p:sp>
      <p:sp>
        <p:nvSpPr>
          <p:cNvPr id="33" name="Text 30"/>
          <p:cNvSpPr txBox="1"/>
          <p:nvPr/>
        </p:nvSpPr>
        <p:spPr>
          <a:xfrm>
            <a:off x="8229600" y="3767328"/>
            <a:ext cx="1682496" cy="274320"/>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Virtual Machines</a:t>
            </a:r>
            <a:endParaRPr lang="en-US" sz="1000" dirty="0"/>
          </a:p>
        </p:txBody>
      </p:sp>
      <p:sp>
        <p:nvSpPr>
          <p:cNvPr id="34" name="rank-bar-0"/>
          <p:cNvSpPr/>
          <p:nvPr/>
        </p:nvSpPr>
        <p:spPr>
          <a:xfrm>
            <a:off x="10003536" y="3835908"/>
            <a:ext cx="548640" cy="137160"/>
          </a:xfrm>
          <a:prstGeom prst="rect">
            <a:avLst/>
          </a:prstGeom>
          <a:solidFill>
            <a:srgbClr val="0F7DC2"/>
          </a:solidFill>
          <a:ln/>
        </p:spPr>
      </p:sp>
      <p:sp>
        <p:nvSpPr>
          <p:cNvPr id="35" name="Text 32"/>
          <p:cNvSpPr txBox="1"/>
          <p:nvPr/>
        </p:nvSpPr>
        <p:spPr>
          <a:xfrm>
            <a:off x="10643616" y="3767328"/>
            <a:ext cx="731520"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$484K</a:t>
            </a:r>
            <a:endParaRPr lang="en-US" sz="1050" dirty="0"/>
          </a:p>
        </p:txBody>
      </p:sp>
      <p:sp>
        <p:nvSpPr>
          <p:cNvPr id="36" name="Text 33"/>
          <p:cNvSpPr txBox="1"/>
          <p:nvPr/>
        </p:nvSpPr>
        <p:spPr>
          <a:xfrm>
            <a:off x="8229600" y="4114800"/>
            <a:ext cx="1682496" cy="274320"/>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Storage</a:t>
            </a:r>
            <a:endParaRPr lang="en-US" sz="1000" dirty="0"/>
          </a:p>
        </p:txBody>
      </p:sp>
      <p:sp>
        <p:nvSpPr>
          <p:cNvPr id="37" name="rank-bar-1"/>
          <p:cNvSpPr/>
          <p:nvPr/>
        </p:nvSpPr>
        <p:spPr>
          <a:xfrm>
            <a:off x="10003536" y="4183380"/>
            <a:ext cx="254079" cy="137160"/>
          </a:xfrm>
          <a:prstGeom prst="rect">
            <a:avLst/>
          </a:prstGeom>
          <a:solidFill>
            <a:srgbClr val="27496B"/>
          </a:solidFill>
          <a:ln/>
        </p:spPr>
      </p:sp>
      <p:sp>
        <p:nvSpPr>
          <p:cNvPr id="38" name="Text 35"/>
          <p:cNvSpPr txBox="1"/>
          <p:nvPr/>
        </p:nvSpPr>
        <p:spPr>
          <a:xfrm>
            <a:off x="10643616" y="4114800"/>
            <a:ext cx="731520"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$224K</a:t>
            </a:r>
            <a:endParaRPr lang="en-US" sz="1050" dirty="0"/>
          </a:p>
        </p:txBody>
      </p:sp>
      <p:sp>
        <p:nvSpPr>
          <p:cNvPr id="39" name="Text 36"/>
          <p:cNvSpPr txBox="1"/>
          <p:nvPr/>
        </p:nvSpPr>
        <p:spPr>
          <a:xfrm>
            <a:off x="8229600" y="4462272"/>
            <a:ext cx="1682496" cy="274320"/>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Virtual Network</a:t>
            </a:r>
            <a:endParaRPr lang="en-US" sz="1000" dirty="0"/>
          </a:p>
        </p:txBody>
      </p:sp>
      <p:sp>
        <p:nvSpPr>
          <p:cNvPr id="40" name="rank-bar-2"/>
          <p:cNvSpPr/>
          <p:nvPr/>
        </p:nvSpPr>
        <p:spPr>
          <a:xfrm>
            <a:off x="10003536" y="4530852"/>
            <a:ext cx="176316" cy="137160"/>
          </a:xfrm>
          <a:prstGeom prst="rect">
            <a:avLst/>
          </a:prstGeom>
          <a:solidFill>
            <a:srgbClr val="00A878"/>
          </a:solidFill>
          <a:ln/>
        </p:spPr>
      </p:sp>
      <p:sp>
        <p:nvSpPr>
          <p:cNvPr id="41" name="Text 38"/>
          <p:cNvSpPr txBox="1"/>
          <p:nvPr/>
        </p:nvSpPr>
        <p:spPr>
          <a:xfrm>
            <a:off x="10643616" y="4462272"/>
            <a:ext cx="731520"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$156K</a:t>
            </a:r>
            <a:endParaRPr lang="en-US" sz="1050" dirty="0"/>
          </a:p>
        </p:txBody>
      </p:sp>
      <p:sp>
        <p:nvSpPr>
          <p:cNvPr id="42" name="Text 39"/>
          <p:cNvSpPr txBox="1"/>
          <p:nvPr/>
        </p:nvSpPr>
        <p:spPr>
          <a:xfrm>
            <a:off x="8229600" y="4809744"/>
            <a:ext cx="1682496" cy="274320"/>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Other services</a:t>
            </a:r>
            <a:endParaRPr lang="en-US" sz="1000" dirty="0"/>
          </a:p>
        </p:txBody>
      </p:sp>
      <p:sp>
        <p:nvSpPr>
          <p:cNvPr id="43" name="rank-bar-3"/>
          <p:cNvSpPr/>
          <p:nvPr/>
        </p:nvSpPr>
        <p:spPr>
          <a:xfrm>
            <a:off x="10003536" y="4878324"/>
            <a:ext cx="142138" cy="137160"/>
          </a:xfrm>
          <a:prstGeom prst="rect">
            <a:avLst/>
          </a:prstGeom>
          <a:solidFill>
            <a:srgbClr val="9FB3C8"/>
          </a:solidFill>
          <a:ln/>
        </p:spPr>
      </p:sp>
      <p:sp>
        <p:nvSpPr>
          <p:cNvPr id="44" name="Text 41"/>
          <p:cNvSpPr txBox="1"/>
          <p:nvPr/>
        </p:nvSpPr>
        <p:spPr>
          <a:xfrm>
            <a:off x="10643616" y="4809744"/>
            <a:ext cx="731520"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$125K</a:t>
            </a:r>
            <a:endParaRPr lang="en-US" sz="1050" dirty="0"/>
          </a:p>
        </p:txBody>
      </p:sp>
      <p:sp>
        <p:nvSpPr>
          <p:cNvPr id="45" name="Text 42"/>
          <p:cNvSpPr txBox="1"/>
          <p:nvPr/>
        </p:nvSpPr>
        <p:spPr>
          <a:xfrm>
            <a:off x="8229600" y="5157216"/>
            <a:ext cx="1682496" cy="274320"/>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GitHub</a:t>
            </a:r>
            <a:endParaRPr lang="en-US" sz="1000" dirty="0"/>
          </a:p>
        </p:txBody>
      </p:sp>
      <p:sp>
        <p:nvSpPr>
          <p:cNvPr id="46" name="rank-bar-4"/>
          <p:cNvSpPr/>
          <p:nvPr/>
        </p:nvSpPr>
        <p:spPr>
          <a:xfrm>
            <a:off x="10003536" y="5225796"/>
            <a:ext cx="124129" cy="137160"/>
          </a:xfrm>
          <a:prstGeom prst="rect">
            <a:avLst/>
          </a:prstGeom>
          <a:solidFill>
            <a:srgbClr val="7C5CFF"/>
          </a:solidFill>
          <a:ln/>
        </p:spPr>
      </p:sp>
      <p:sp>
        <p:nvSpPr>
          <p:cNvPr id="47" name="Text 44"/>
          <p:cNvSpPr txBox="1"/>
          <p:nvPr/>
        </p:nvSpPr>
        <p:spPr>
          <a:xfrm>
            <a:off x="10643616" y="5157216"/>
            <a:ext cx="731520"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$110K</a:t>
            </a:r>
            <a:endParaRPr lang="en-US" sz="1050" dirty="0"/>
          </a:p>
        </p:txBody>
      </p:sp>
      <p:sp>
        <p:nvSpPr>
          <p:cNvPr id="48"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Virtual Machines alone are 32% of Azure spend. With Storage and Virtual Network they total $864K, which is where rightsizing, reservations and disk tiering apply.</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F7DC2"/>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APPENDIX · AZURE COST CENTRES</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Every Azure cost centre, January to September</a:t>
            </a:r>
            <a:endParaRPr lang="en-US" sz="2800" dirty="0"/>
          </a:p>
        </p:txBody>
      </p:sp>
      <p:sp>
        <p:nvSpPr>
          <p:cNvPr id="5" name="cc-datacloud"/>
          <p:cNvSpPr/>
          <p:nvPr/>
        </p:nvSpPr>
        <p:spPr>
          <a:xfrm>
            <a:off x="566928" y="1517904"/>
            <a:ext cx="2613584" cy="1280160"/>
          </a:xfrm>
          <a:prstGeom prst="roundRect">
            <a:avLst>
              <a:gd name="adj" fmla="val 4286"/>
            </a:avLst>
          </a:prstGeom>
          <a:solidFill>
            <a:srgbClr val="EEF2F7"/>
          </a:solidFill>
          <a:ln/>
        </p:spPr>
      </p:sp>
      <p:sp>
        <p:nvSpPr>
          <p:cNvPr id="6" name="Text 4"/>
          <p:cNvSpPr txBox="1"/>
          <p:nvPr/>
        </p:nvSpPr>
        <p:spPr>
          <a:xfrm>
            <a:off x="786384" y="164592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DataCloud</a:t>
            </a:r>
            <a:endParaRPr lang="en-US" sz="1200" dirty="0"/>
          </a:p>
        </p:txBody>
      </p:sp>
      <p:sp>
        <p:nvSpPr>
          <p:cNvPr id="7" name="Text 5"/>
          <p:cNvSpPr txBox="1"/>
          <p:nvPr/>
        </p:nvSpPr>
        <p:spPr>
          <a:xfrm>
            <a:off x="2083232" y="164592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$437K</a:t>
            </a:r>
            <a:endParaRPr lang="en-US" sz="1300" dirty="0"/>
          </a:p>
        </p:txBody>
      </p:sp>
      <p:sp>
        <p:nvSpPr>
          <p:cNvPr id="8" name="spark-0-0"/>
          <p:cNvSpPr/>
          <p:nvPr/>
        </p:nvSpPr>
        <p:spPr>
          <a:xfrm>
            <a:off x="786384" y="2103506"/>
            <a:ext cx="154643" cy="493390"/>
          </a:xfrm>
          <a:prstGeom prst="rect">
            <a:avLst/>
          </a:prstGeom>
          <a:solidFill>
            <a:srgbClr val="A8C0D6"/>
          </a:solidFill>
          <a:ln/>
        </p:spPr>
      </p:sp>
      <p:sp>
        <p:nvSpPr>
          <p:cNvPr id="9" name="spark-0-1"/>
          <p:cNvSpPr/>
          <p:nvPr/>
        </p:nvSpPr>
        <p:spPr>
          <a:xfrm>
            <a:off x="1028014" y="2085457"/>
            <a:ext cx="154643" cy="511439"/>
          </a:xfrm>
          <a:prstGeom prst="rect">
            <a:avLst/>
          </a:prstGeom>
          <a:solidFill>
            <a:srgbClr val="A8C0D6"/>
          </a:solidFill>
          <a:ln/>
        </p:spPr>
      </p:sp>
      <p:sp>
        <p:nvSpPr>
          <p:cNvPr id="10" name="spark-0-2"/>
          <p:cNvSpPr/>
          <p:nvPr/>
        </p:nvSpPr>
        <p:spPr>
          <a:xfrm>
            <a:off x="1269644" y="2029968"/>
            <a:ext cx="154643" cy="566928"/>
          </a:xfrm>
          <a:prstGeom prst="rect">
            <a:avLst/>
          </a:prstGeom>
          <a:solidFill>
            <a:srgbClr val="A8C0D6"/>
          </a:solidFill>
          <a:ln/>
        </p:spPr>
      </p:sp>
      <p:sp>
        <p:nvSpPr>
          <p:cNvPr id="11" name="spark-0-3"/>
          <p:cNvSpPr/>
          <p:nvPr/>
        </p:nvSpPr>
        <p:spPr>
          <a:xfrm>
            <a:off x="1511275" y="2074679"/>
            <a:ext cx="154643" cy="522217"/>
          </a:xfrm>
          <a:prstGeom prst="rect">
            <a:avLst/>
          </a:prstGeom>
          <a:solidFill>
            <a:srgbClr val="A8C0D6"/>
          </a:solidFill>
          <a:ln/>
        </p:spPr>
      </p:sp>
      <p:sp>
        <p:nvSpPr>
          <p:cNvPr id="12" name="spark-0-4"/>
          <p:cNvSpPr/>
          <p:nvPr/>
        </p:nvSpPr>
        <p:spPr>
          <a:xfrm>
            <a:off x="1752905" y="2140280"/>
            <a:ext cx="154643" cy="456616"/>
          </a:xfrm>
          <a:prstGeom prst="rect">
            <a:avLst/>
          </a:prstGeom>
          <a:solidFill>
            <a:srgbClr val="A8C0D6"/>
          </a:solidFill>
          <a:ln/>
        </p:spPr>
      </p:sp>
      <p:sp>
        <p:nvSpPr>
          <p:cNvPr id="13" name="spark-0-5"/>
          <p:cNvSpPr/>
          <p:nvPr/>
        </p:nvSpPr>
        <p:spPr>
          <a:xfrm>
            <a:off x="1994535" y="2135441"/>
            <a:ext cx="154643" cy="461455"/>
          </a:xfrm>
          <a:prstGeom prst="rect">
            <a:avLst/>
          </a:prstGeom>
          <a:solidFill>
            <a:srgbClr val="A8C0D6"/>
          </a:solidFill>
          <a:ln/>
        </p:spPr>
      </p:sp>
      <p:sp>
        <p:nvSpPr>
          <p:cNvPr id="14" name="spark-0-6"/>
          <p:cNvSpPr/>
          <p:nvPr/>
        </p:nvSpPr>
        <p:spPr>
          <a:xfrm>
            <a:off x="2236165" y="2086291"/>
            <a:ext cx="154643" cy="510605"/>
          </a:xfrm>
          <a:prstGeom prst="rect">
            <a:avLst/>
          </a:prstGeom>
          <a:solidFill>
            <a:srgbClr val="A8C0D6"/>
          </a:solidFill>
          <a:ln/>
        </p:spPr>
      </p:sp>
      <p:sp>
        <p:nvSpPr>
          <p:cNvPr id="15" name="spark-0-7"/>
          <p:cNvSpPr/>
          <p:nvPr/>
        </p:nvSpPr>
        <p:spPr>
          <a:xfrm>
            <a:off x="2477795" y="2067891"/>
            <a:ext cx="154643" cy="529005"/>
          </a:xfrm>
          <a:prstGeom prst="rect">
            <a:avLst/>
          </a:prstGeom>
          <a:solidFill>
            <a:srgbClr val="A8C0D6"/>
          </a:solidFill>
          <a:ln/>
        </p:spPr>
      </p:sp>
      <p:sp>
        <p:nvSpPr>
          <p:cNvPr id="16" name="spark-0-8"/>
          <p:cNvSpPr/>
          <p:nvPr/>
        </p:nvSpPr>
        <p:spPr>
          <a:xfrm>
            <a:off x="2719426" y="2104337"/>
            <a:ext cx="154643" cy="492559"/>
          </a:xfrm>
          <a:prstGeom prst="rect">
            <a:avLst/>
          </a:prstGeom>
          <a:solidFill>
            <a:srgbClr val="F2A900"/>
          </a:solidFill>
          <a:ln/>
        </p:spPr>
      </p:sp>
      <p:sp>
        <p:nvSpPr>
          <p:cNvPr id="17" name="Text 15"/>
          <p:cNvSpPr txBox="1"/>
          <p:nvPr/>
        </p:nvSpPr>
        <p:spPr>
          <a:xfrm>
            <a:off x="786384" y="256032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18" name="Text 16"/>
          <p:cNvSpPr txBox="1"/>
          <p:nvPr/>
        </p:nvSpPr>
        <p:spPr>
          <a:xfrm>
            <a:off x="2412416" y="256032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19" name="cc-sap"/>
          <p:cNvSpPr/>
          <p:nvPr/>
        </p:nvSpPr>
        <p:spPr>
          <a:xfrm>
            <a:off x="3381680" y="1517904"/>
            <a:ext cx="2613584" cy="1280160"/>
          </a:xfrm>
          <a:prstGeom prst="roundRect">
            <a:avLst>
              <a:gd name="adj" fmla="val 4286"/>
            </a:avLst>
          </a:prstGeom>
          <a:solidFill>
            <a:srgbClr val="EEF2F7"/>
          </a:solidFill>
          <a:ln/>
        </p:spPr>
      </p:sp>
      <p:sp>
        <p:nvSpPr>
          <p:cNvPr id="20" name="Text 18"/>
          <p:cNvSpPr txBox="1"/>
          <p:nvPr/>
        </p:nvSpPr>
        <p:spPr>
          <a:xfrm>
            <a:off x="3601136" y="164592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SAP</a:t>
            </a:r>
            <a:endParaRPr lang="en-US" sz="1200" dirty="0"/>
          </a:p>
        </p:txBody>
      </p:sp>
      <p:sp>
        <p:nvSpPr>
          <p:cNvPr id="21" name="Text 19"/>
          <p:cNvSpPr txBox="1"/>
          <p:nvPr/>
        </p:nvSpPr>
        <p:spPr>
          <a:xfrm>
            <a:off x="4897984" y="164592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$377K</a:t>
            </a:r>
            <a:endParaRPr lang="en-US" sz="1300" dirty="0"/>
          </a:p>
        </p:txBody>
      </p:sp>
      <p:sp>
        <p:nvSpPr>
          <p:cNvPr id="22" name="spark-1-0"/>
          <p:cNvSpPr/>
          <p:nvPr/>
        </p:nvSpPr>
        <p:spPr>
          <a:xfrm>
            <a:off x="3601136" y="2082706"/>
            <a:ext cx="154643" cy="514190"/>
          </a:xfrm>
          <a:prstGeom prst="rect">
            <a:avLst/>
          </a:prstGeom>
          <a:solidFill>
            <a:srgbClr val="A8C0D6"/>
          </a:solidFill>
          <a:ln/>
        </p:spPr>
      </p:sp>
      <p:sp>
        <p:nvSpPr>
          <p:cNvPr id="23" name="spark-1-1"/>
          <p:cNvSpPr/>
          <p:nvPr/>
        </p:nvSpPr>
        <p:spPr>
          <a:xfrm>
            <a:off x="3842766" y="2121246"/>
            <a:ext cx="154643" cy="475650"/>
          </a:xfrm>
          <a:prstGeom prst="rect">
            <a:avLst/>
          </a:prstGeom>
          <a:solidFill>
            <a:srgbClr val="A8C0D6"/>
          </a:solidFill>
          <a:ln/>
        </p:spPr>
      </p:sp>
      <p:sp>
        <p:nvSpPr>
          <p:cNvPr id="24" name="spark-1-2"/>
          <p:cNvSpPr/>
          <p:nvPr/>
        </p:nvSpPr>
        <p:spPr>
          <a:xfrm>
            <a:off x="4084396" y="2091465"/>
            <a:ext cx="154643" cy="505431"/>
          </a:xfrm>
          <a:prstGeom prst="rect">
            <a:avLst/>
          </a:prstGeom>
          <a:solidFill>
            <a:srgbClr val="A8C0D6"/>
          </a:solidFill>
          <a:ln/>
        </p:spPr>
      </p:sp>
      <p:sp>
        <p:nvSpPr>
          <p:cNvPr id="25" name="spark-1-3"/>
          <p:cNvSpPr/>
          <p:nvPr/>
        </p:nvSpPr>
        <p:spPr>
          <a:xfrm>
            <a:off x="4326026" y="2100232"/>
            <a:ext cx="154643" cy="496664"/>
          </a:xfrm>
          <a:prstGeom prst="rect">
            <a:avLst/>
          </a:prstGeom>
          <a:solidFill>
            <a:srgbClr val="A8C0D6"/>
          </a:solidFill>
          <a:ln/>
        </p:spPr>
      </p:sp>
      <p:sp>
        <p:nvSpPr>
          <p:cNvPr id="26" name="spark-1-4"/>
          <p:cNvSpPr/>
          <p:nvPr/>
        </p:nvSpPr>
        <p:spPr>
          <a:xfrm>
            <a:off x="4567657" y="2029968"/>
            <a:ext cx="154643" cy="566928"/>
          </a:xfrm>
          <a:prstGeom prst="rect">
            <a:avLst/>
          </a:prstGeom>
          <a:solidFill>
            <a:srgbClr val="A8C0D6"/>
          </a:solidFill>
          <a:ln/>
        </p:spPr>
      </p:sp>
      <p:sp>
        <p:nvSpPr>
          <p:cNvPr id="27" name="spark-1-5"/>
          <p:cNvSpPr/>
          <p:nvPr/>
        </p:nvSpPr>
        <p:spPr>
          <a:xfrm>
            <a:off x="4809287" y="2077852"/>
            <a:ext cx="154643" cy="519044"/>
          </a:xfrm>
          <a:prstGeom prst="rect">
            <a:avLst/>
          </a:prstGeom>
          <a:solidFill>
            <a:srgbClr val="A8C0D6"/>
          </a:solidFill>
          <a:ln/>
        </p:spPr>
      </p:sp>
      <p:sp>
        <p:nvSpPr>
          <p:cNvPr id="28" name="spark-1-6"/>
          <p:cNvSpPr/>
          <p:nvPr/>
        </p:nvSpPr>
        <p:spPr>
          <a:xfrm>
            <a:off x="5050917" y="2099020"/>
            <a:ext cx="154643" cy="497876"/>
          </a:xfrm>
          <a:prstGeom prst="rect">
            <a:avLst/>
          </a:prstGeom>
          <a:solidFill>
            <a:srgbClr val="A8C0D6"/>
          </a:solidFill>
          <a:ln/>
        </p:spPr>
      </p:sp>
      <p:sp>
        <p:nvSpPr>
          <p:cNvPr id="29" name="spark-1-7"/>
          <p:cNvSpPr/>
          <p:nvPr/>
        </p:nvSpPr>
        <p:spPr>
          <a:xfrm>
            <a:off x="5292547" y="2094166"/>
            <a:ext cx="154643" cy="502730"/>
          </a:xfrm>
          <a:prstGeom prst="rect">
            <a:avLst/>
          </a:prstGeom>
          <a:solidFill>
            <a:srgbClr val="A8C0D6"/>
          </a:solidFill>
          <a:ln/>
        </p:spPr>
      </p:sp>
      <p:sp>
        <p:nvSpPr>
          <p:cNvPr id="30" name="spark-1-8"/>
          <p:cNvSpPr/>
          <p:nvPr/>
        </p:nvSpPr>
        <p:spPr>
          <a:xfrm>
            <a:off x="5534177" y="2094981"/>
            <a:ext cx="154643" cy="501915"/>
          </a:xfrm>
          <a:prstGeom prst="rect">
            <a:avLst/>
          </a:prstGeom>
          <a:solidFill>
            <a:srgbClr val="F2A900"/>
          </a:solidFill>
          <a:ln/>
        </p:spPr>
      </p:sp>
      <p:sp>
        <p:nvSpPr>
          <p:cNvPr id="31" name="Text 29"/>
          <p:cNvSpPr txBox="1"/>
          <p:nvPr/>
        </p:nvSpPr>
        <p:spPr>
          <a:xfrm>
            <a:off x="3601136" y="256032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32" name="Text 30"/>
          <p:cNvSpPr txBox="1"/>
          <p:nvPr/>
        </p:nvSpPr>
        <p:spPr>
          <a:xfrm>
            <a:off x="5227168" y="256032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33" name="cc-cloudit"/>
          <p:cNvSpPr/>
          <p:nvPr/>
        </p:nvSpPr>
        <p:spPr>
          <a:xfrm>
            <a:off x="6196432" y="1517904"/>
            <a:ext cx="2613584" cy="1280160"/>
          </a:xfrm>
          <a:prstGeom prst="roundRect">
            <a:avLst>
              <a:gd name="adj" fmla="val 4286"/>
            </a:avLst>
          </a:prstGeom>
          <a:solidFill>
            <a:srgbClr val="EEF2F7"/>
          </a:solidFill>
          <a:ln/>
        </p:spPr>
      </p:sp>
      <p:sp>
        <p:nvSpPr>
          <p:cNvPr id="34" name="Text 32"/>
          <p:cNvSpPr txBox="1"/>
          <p:nvPr/>
        </p:nvSpPr>
        <p:spPr>
          <a:xfrm>
            <a:off x="6415888" y="164592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CloudIT</a:t>
            </a:r>
            <a:endParaRPr lang="en-US" sz="1200" dirty="0"/>
          </a:p>
        </p:txBody>
      </p:sp>
      <p:sp>
        <p:nvSpPr>
          <p:cNvPr id="35" name="Text 33"/>
          <p:cNvSpPr txBox="1"/>
          <p:nvPr/>
        </p:nvSpPr>
        <p:spPr>
          <a:xfrm>
            <a:off x="7712735" y="164592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$280K</a:t>
            </a:r>
            <a:endParaRPr lang="en-US" sz="1300" dirty="0"/>
          </a:p>
        </p:txBody>
      </p:sp>
      <p:sp>
        <p:nvSpPr>
          <p:cNvPr id="36" name="spark-2-0"/>
          <p:cNvSpPr/>
          <p:nvPr/>
        </p:nvSpPr>
        <p:spPr>
          <a:xfrm>
            <a:off x="6415888" y="2166585"/>
            <a:ext cx="154643" cy="430311"/>
          </a:xfrm>
          <a:prstGeom prst="rect">
            <a:avLst/>
          </a:prstGeom>
          <a:solidFill>
            <a:srgbClr val="A8C0D6"/>
          </a:solidFill>
          <a:ln/>
        </p:spPr>
      </p:sp>
      <p:sp>
        <p:nvSpPr>
          <p:cNvPr id="37" name="spark-2-1"/>
          <p:cNvSpPr/>
          <p:nvPr/>
        </p:nvSpPr>
        <p:spPr>
          <a:xfrm>
            <a:off x="6657518" y="2253357"/>
            <a:ext cx="154643" cy="343539"/>
          </a:xfrm>
          <a:prstGeom prst="rect">
            <a:avLst/>
          </a:prstGeom>
          <a:solidFill>
            <a:srgbClr val="A8C0D6"/>
          </a:solidFill>
          <a:ln/>
        </p:spPr>
      </p:sp>
      <p:sp>
        <p:nvSpPr>
          <p:cNvPr id="38" name="spark-2-2"/>
          <p:cNvSpPr/>
          <p:nvPr/>
        </p:nvSpPr>
        <p:spPr>
          <a:xfrm>
            <a:off x="6899148" y="2029968"/>
            <a:ext cx="154643" cy="566928"/>
          </a:xfrm>
          <a:prstGeom prst="rect">
            <a:avLst/>
          </a:prstGeom>
          <a:solidFill>
            <a:srgbClr val="A8C0D6"/>
          </a:solidFill>
          <a:ln/>
        </p:spPr>
      </p:sp>
      <p:sp>
        <p:nvSpPr>
          <p:cNvPr id="39" name="spark-2-3"/>
          <p:cNvSpPr/>
          <p:nvPr/>
        </p:nvSpPr>
        <p:spPr>
          <a:xfrm>
            <a:off x="7140778" y="2190519"/>
            <a:ext cx="154643" cy="406377"/>
          </a:xfrm>
          <a:prstGeom prst="rect">
            <a:avLst/>
          </a:prstGeom>
          <a:solidFill>
            <a:srgbClr val="A8C0D6"/>
          </a:solidFill>
          <a:ln/>
        </p:spPr>
      </p:sp>
      <p:sp>
        <p:nvSpPr>
          <p:cNvPr id="40" name="spark-2-4"/>
          <p:cNvSpPr/>
          <p:nvPr/>
        </p:nvSpPr>
        <p:spPr>
          <a:xfrm>
            <a:off x="7382408" y="2198599"/>
            <a:ext cx="154643" cy="398297"/>
          </a:xfrm>
          <a:prstGeom prst="rect">
            <a:avLst/>
          </a:prstGeom>
          <a:solidFill>
            <a:srgbClr val="A8C0D6"/>
          </a:solidFill>
          <a:ln/>
        </p:spPr>
      </p:sp>
      <p:sp>
        <p:nvSpPr>
          <p:cNvPr id="41" name="spark-2-5"/>
          <p:cNvSpPr/>
          <p:nvPr/>
        </p:nvSpPr>
        <p:spPr>
          <a:xfrm>
            <a:off x="7624039" y="2199016"/>
            <a:ext cx="154643" cy="397880"/>
          </a:xfrm>
          <a:prstGeom prst="rect">
            <a:avLst/>
          </a:prstGeom>
          <a:solidFill>
            <a:srgbClr val="A8C0D6"/>
          </a:solidFill>
          <a:ln/>
        </p:spPr>
      </p:sp>
      <p:sp>
        <p:nvSpPr>
          <p:cNvPr id="42" name="spark-2-6"/>
          <p:cNvSpPr/>
          <p:nvPr/>
        </p:nvSpPr>
        <p:spPr>
          <a:xfrm>
            <a:off x="7865669" y="2131703"/>
            <a:ext cx="154643" cy="465193"/>
          </a:xfrm>
          <a:prstGeom prst="rect">
            <a:avLst/>
          </a:prstGeom>
          <a:solidFill>
            <a:srgbClr val="A8C0D6"/>
          </a:solidFill>
          <a:ln/>
        </p:spPr>
      </p:sp>
      <p:sp>
        <p:nvSpPr>
          <p:cNvPr id="43" name="spark-2-7"/>
          <p:cNvSpPr/>
          <p:nvPr/>
        </p:nvSpPr>
        <p:spPr>
          <a:xfrm>
            <a:off x="8107299" y="2150271"/>
            <a:ext cx="154643" cy="446625"/>
          </a:xfrm>
          <a:prstGeom prst="rect">
            <a:avLst/>
          </a:prstGeom>
          <a:solidFill>
            <a:srgbClr val="A8C0D6"/>
          </a:solidFill>
          <a:ln/>
        </p:spPr>
      </p:sp>
      <p:sp>
        <p:nvSpPr>
          <p:cNvPr id="44" name="spark-2-8"/>
          <p:cNvSpPr/>
          <p:nvPr/>
        </p:nvSpPr>
        <p:spPr>
          <a:xfrm>
            <a:off x="8348929" y="2153459"/>
            <a:ext cx="154643" cy="443437"/>
          </a:xfrm>
          <a:prstGeom prst="rect">
            <a:avLst/>
          </a:prstGeom>
          <a:solidFill>
            <a:srgbClr val="F2A900"/>
          </a:solidFill>
          <a:ln/>
        </p:spPr>
      </p:sp>
      <p:sp>
        <p:nvSpPr>
          <p:cNvPr id="45" name="Text 43"/>
          <p:cNvSpPr txBox="1"/>
          <p:nvPr/>
        </p:nvSpPr>
        <p:spPr>
          <a:xfrm>
            <a:off x="6415888" y="256032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46" name="Text 44"/>
          <p:cNvSpPr txBox="1"/>
          <p:nvPr/>
        </p:nvSpPr>
        <p:spPr>
          <a:xfrm>
            <a:off x="8041919" y="256032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47" name="cc-aifactory"/>
          <p:cNvSpPr/>
          <p:nvPr/>
        </p:nvSpPr>
        <p:spPr>
          <a:xfrm>
            <a:off x="9011183" y="1517904"/>
            <a:ext cx="2613584" cy="1280160"/>
          </a:xfrm>
          <a:prstGeom prst="roundRect">
            <a:avLst>
              <a:gd name="adj" fmla="val 4286"/>
            </a:avLst>
          </a:prstGeom>
          <a:solidFill>
            <a:srgbClr val="EEF2F7"/>
          </a:solidFill>
          <a:ln/>
        </p:spPr>
      </p:sp>
      <p:sp>
        <p:nvSpPr>
          <p:cNvPr id="48" name="Text 46"/>
          <p:cNvSpPr txBox="1"/>
          <p:nvPr/>
        </p:nvSpPr>
        <p:spPr>
          <a:xfrm>
            <a:off x="9230639" y="164592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AI Factory</a:t>
            </a:r>
            <a:endParaRPr lang="en-US" sz="1200" dirty="0"/>
          </a:p>
        </p:txBody>
      </p:sp>
      <p:sp>
        <p:nvSpPr>
          <p:cNvPr id="49" name="Text 47"/>
          <p:cNvSpPr txBox="1"/>
          <p:nvPr/>
        </p:nvSpPr>
        <p:spPr>
          <a:xfrm>
            <a:off x="10527487" y="164592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$144K</a:t>
            </a:r>
            <a:endParaRPr lang="en-US" sz="1300" dirty="0"/>
          </a:p>
        </p:txBody>
      </p:sp>
      <p:sp>
        <p:nvSpPr>
          <p:cNvPr id="50" name="spark-3-0"/>
          <p:cNvSpPr/>
          <p:nvPr/>
        </p:nvSpPr>
        <p:spPr>
          <a:xfrm>
            <a:off x="9230639" y="2578608"/>
            <a:ext cx="154643" cy="18288"/>
          </a:xfrm>
          <a:prstGeom prst="rect">
            <a:avLst/>
          </a:prstGeom>
          <a:solidFill>
            <a:srgbClr val="A8C0D6"/>
          </a:solidFill>
          <a:ln/>
        </p:spPr>
      </p:sp>
      <p:sp>
        <p:nvSpPr>
          <p:cNvPr id="51" name="spark-3-1"/>
          <p:cNvSpPr/>
          <p:nvPr/>
        </p:nvSpPr>
        <p:spPr>
          <a:xfrm>
            <a:off x="9472270" y="2524897"/>
            <a:ext cx="154643" cy="71999"/>
          </a:xfrm>
          <a:prstGeom prst="rect">
            <a:avLst/>
          </a:prstGeom>
          <a:solidFill>
            <a:srgbClr val="A8C0D6"/>
          </a:solidFill>
          <a:ln/>
        </p:spPr>
      </p:sp>
      <p:sp>
        <p:nvSpPr>
          <p:cNvPr id="52" name="spark-3-2"/>
          <p:cNvSpPr/>
          <p:nvPr/>
        </p:nvSpPr>
        <p:spPr>
          <a:xfrm>
            <a:off x="9713900" y="2335368"/>
            <a:ext cx="154643" cy="261528"/>
          </a:xfrm>
          <a:prstGeom prst="rect">
            <a:avLst/>
          </a:prstGeom>
          <a:solidFill>
            <a:srgbClr val="A8C0D6"/>
          </a:solidFill>
          <a:ln/>
        </p:spPr>
      </p:sp>
      <p:sp>
        <p:nvSpPr>
          <p:cNvPr id="53" name="spark-3-3"/>
          <p:cNvSpPr/>
          <p:nvPr/>
        </p:nvSpPr>
        <p:spPr>
          <a:xfrm>
            <a:off x="9955530" y="2355168"/>
            <a:ext cx="154643" cy="241728"/>
          </a:xfrm>
          <a:prstGeom prst="rect">
            <a:avLst/>
          </a:prstGeom>
          <a:solidFill>
            <a:srgbClr val="A8C0D6"/>
          </a:solidFill>
          <a:ln/>
        </p:spPr>
      </p:sp>
      <p:sp>
        <p:nvSpPr>
          <p:cNvPr id="54" name="spark-3-4"/>
          <p:cNvSpPr/>
          <p:nvPr/>
        </p:nvSpPr>
        <p:spPr>
          <a:xfrm>
            <a:off x="10197160" y="2314167"/>
            <a:ext cx="154643" cy="282729"/>
          </a:xfrm>
          <a:prstGeom prst="rect">
            <a:avLst/>
          </a:prstGeom>
          <a:solidFill>
            <a:srgbClr val="A8C0D6"/>
          </a:solidFill>
          <a:ln/>
        </p:spPr>
      </p:sp>
      <p:sp>
        <p:nvSpPr>
          <p:cNvPr id="55" name="spark-3-5"/>
          <p:cNvSpPr/>
          <p:nvPr/>
        </p:nvSpPr>
        <p:spPr>
          <a:xfrm>
            <a:off x="10438790" y="2048746"/>
            <a:ext cx="154643" cy="548150"/>
          </a:xfrm>
          <a:prstGeom prst="rect">
            <a:avLst/>
          </a:prstGeom>
          <a:solidFill>
            <a:srgbClr val="A8C0D6"/>
          </a:solidFill>
          <a:ln/>
        </p:spPr>
      </p:sp>
      <p:sp>
        <p:nvSpPr>
          <p:cNvPr id="56" name="spark-3-6"/>
          <p:cNvSpPr/>
          <p:nvPr/>
        </p:nvSpPr>
        <p:spPr>
          <a:xfrm>
            <a:off x="10680421" y="2089015"/>
            <a:ext cx="154643" cy="507881"/>
          </a:xfrm>
          <a:prstGeom prst="rect">
            <a:avLst/>
          </a:prstGeom>
          <a:solidFill>
            <a:srgbClr val="A8C0D6"/>
          </a:solidFill>
          <a:ln/>
        </p:spPr>
      </p:sp>
      <p:sp>
        <p:nvSpPr>
          <p:cNvPr id="57" name="spark-3-7"/>
          <p:cNvSpPr/>
          <p:nvPr/>
        </p:nvSpPr>
        <p:spPr>
          <a:xfrm>
            <a:off x="10922051" y="2118331"/>
            <a:ext cx="154643" cy="478565"/>
          </a:xfrm>
          <a:prstGeom prst="rect">
            <a:avLst/>
          </a:prstGeom>
          <a:solidFill>
            <a:srgbClr val="A8C0D6"/>
          </a:solidFill>
          <a:ln/>
        </p:spPr>
      </p:sp>
      <p:sp>
        <p:nvSpPr>
          <p:cNvPr id="58" name="spark-3-8"/>
          <p:cNvSpPr/>
          <p:nvPr/>
        </p:nvSpPr>
        <p:spPr>
          <a:xfrm>
            <a:off x="11163681" y="2029968"/>
            <a:ext cx="154643" cy="566928"/>
          </a:xfrm>
          <a:prstGeom prst="rect">
            <a:avLst/>
          </a:prstGeom>
          <a:solidFill>
            <a:srgbClr val="F2A900"/>
          </a:solidFill>
          <a:ln/>
        </p:spPr>
      </p:sp>
      <p:sp>
        <p:nvSpPr>
          <p:cNvPr id="59" name="Text 57"/>
          <p:cNvSpPr txBox="1"/>
          <p:nvPr/>
        </p:nvSpPr>
        <p:spPr>
          <a:xfrm>
            <a:off x="9230639" y="256032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60" name="Text 58"/>
          <p:cNvSpPr txBox="1"/>
          <p:nvPr/>
        </p:nvSpPr>
        <p:spPr>
          <a:xfrm>
            <a:off x="10856671" y="256032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61" name="cc-other"/>
          <p:cNvSpPr/>
          <p:nvPr/>
        </p:nvSpPr>
        <p:spPr>
          <a:xfrm>
            <a:off x="566928" y="2980944"/>
            <a:ext cx="2613584" cy="1280160"/>
          </a:xfrm>
          <a:prstGeom prst="roundRect">
            <a:avLst>
              <a:gd name="adj" fmla="val 4286"/>
            </a:avLst>
          </a:prstGeom>
          <a:solidFill>
            <a:srgbClr val="EEF2F7"/>
          </a:solidFill>
          <a:ln/>
        </p:spPr>
      </p:sp>
      <p:sp>
        <p:nvSpPr>
          <p:cNvPr id="62" name="Text 60"/>
          <p:cNvSpPr txBox="1"/>
          <p:nvPr/>
        </p:nvSpPr>
        <p:spPr>
          <a:xfrm>
            <a:off x="786384" y="310896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Other</a:t>
            </a:r>
            <a:endParaRPr lang="en-US" sz="1200" dirty="0"/>
          </a:p>
        </p:txBody>
      </p:sp>
      <p:sp>
        <p:nvSpPr>
          <p:cNvPr id="63" name="Text 61"/>
          <p:cNvSpPr txBox="1"/>
          <p:nvPr/>
        </p:nvSpPr>
        <p:spPr>
          <a:xfrm>
            <a:off x="2083232" y="310896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$125K</a:t>
            </a:r>
            <a:endParaRPr lang="en-US" sz="1300" dirty="0"/>
          </a:p>
        </p:txBody>
      </p:sp>
      <p:sp>
        <p:nvSpPr>
          <p:cNvPr id="64" name="spark-4-0"/>
          <p:cNvSpPr/>
          <p:nvPr/>
        </p:nvSpPr>
        <p:spPr>
          <a:xfrm>
            <a:off x="786384" y="3975196"/>
            <a:ext cx="154643" cy="84740"/>
          </a:xfrm>
          <a:prstGeom prst="rect">
            <a:avLst/>
          </a:prstGeom>
          <a:solidFill>
            <a:srgbClr val="A8C0D6"/>
          </a:solidFill>
          <a:ln/>
        </p:spPr>
      </p:sp>
      <p:sp>
        <p:nvSpPr>
          <p:cNvPr id="65" name="spark-4-1"/>
          <p:cNvSpPr/>
          <p:nvPr/>
        </p:nvSpPr>
        <p:spPr>
          <a:xfrm>
            <a:off x="1028014" y="3958349"/>
            <a:ext cx="154643" cy="101587"/>
          </a:xfrm>
          <a:prstGeom prst="rect">
            <a:avLst/>
          </a:prstGeom>
          <a:solidFill>
            <a:srgbClr val="A8C0D6"/>
          </a:solidFill>
          <a:ln/>
        </p:spPr>
      </p:sp>
      <p:sp>
        <p:nvSpPr>
          <p:cNvPr id="66" name="spark-4-2"/>
          <p:cNvSpPr/>
          <p:nvPr/>
        </p:nvSpPr>
        <p:spPr>
          <a:xfrm>
            <a:off x="1269644" y="3951099"/>
            <a:ext cx="154643" cy="108837"/>
          </a:xfrm>
          <a:prstGeom prst="rect">
            <a:avLst/>
          </a:prstGeom>
          <a:solidFill>
            <a:srgbClr val="A8C0D6"/>
          </a:solidFill>
          <a:ln/>
        </p:spPr>
      </p:sp>
      <p:sp>
        <p:nvSpPr>
          <p:cNvPr id="67" name="spark-4-3"/>
          <p:cNvSpPr/>
          <p:nvPr/>
        </p:nvSpPr>
        <p:spPr>
          <a:xfrm>
            <a:off x="1511275" y="3948268"/>
            <a:ext cx="154643" cy="111668"/>
          </a:xfrm>
          <a:prstGeom prst="rect">
            <a:avLst/>
          </a:prstGeom>
          <a:solidFill>
            <a:srgbClr val="A8C0D6"/>
          </a:solidFill>
          <a:ln/>
        </p:spPr>
      </p:sp>
      <p:sp>
        <p:nvSpPr>
          <p:cNvPr id="68" name="spark-4-4"/>
          <p:cNvSpPr/>
          <p:nvPr/>
        </p:nvSpPr>
        <p:spPr>
          <a:xfrm>
            <a:off x="1752905" y="3891633"/>
            <a:ext cx="154643" cy="168303"/>
          </a:xfrm>
          <a:prstGeom prst="rect">
            <a:avLst/>
          </a:prstGeom>
          <a:solidFill>
            <a:srgbClr val="A8C0D6"/>
          </a:solidFill>
          <a:ln/>
        </p:spPr>
      </p:sp>
      <p:sp>
        <p:nvSpPr>
          <p:cNvPr id="69" name="spark-4-5"/>
          <p:cNvSpPr/>
          <p:nvPr/>
        </p:nvSpPr>
        <p:spPr>
          <a:xfrm>
            <a:off x="1994535" y="3709151"/>
            <a:ext cx="154643" cy="350785"/>
          </a:xfrm>
          <a:prstGeom prst="rect">
            <a:avLst/>
          </a:prstGeom>
          <a:solidFill>
            <a:srgbClr val="A8C0D6"/>
          </a:solidFill>
          <a:ln/>
        </p:spPr>
      </p:sp>
      <p:sp>
        <p:nvSpPr>
          <p:cNvPr id="70" name="spark-4-6"/>
          <p:cNvSpPr/>
          <p:nvPr/>
        </p:nvSpPr>
        <p:spPr>
          <a:xfrm>
            <a:off x="2236165" y="3625478"/>
            <a:ext cx="154643" cy="434458"/>
          </a:xfrm>
          <a:prstGeom prst="rect">
            <a:avLst/>
          </a:prstGeom>
          <a:solidFill>
            <a:srgbClr val="A8C0D6"/>
          </a:solidFill>
          <a:ln/>
        </p:spPr>
      </p:sp>
      <p:sp>
        <p:nvSpPr>
          <p:cNvPr id="71" name="spark-4-7"/>
          <p:cNvSpPr/>
          <p:nvPr/>
        </p:nvSpPr>
        <p:spPr>
          <a:xfrm>
            <a:off x="2477795" y="3572106"/>
            <a:ext cx="154643" cy="487830"/>
          </a:xfrm>
          <a:prstGeom prst="rect">
            <a:avLst/>
          </a:prstGeom>
          <a:solidFill>
            <a:srgbClr val="A8C0D6"/>
          </a:solidFill>
          <a:ln/>
        </p:spPr>
      </p:sp>
      <p:sp>
        <p:nvSpPr>
          <p:cNvPr id="72" name="spark-4-8"/>
          <p:cNvSpPr/>
          <p:nvPr/>
        </p:nvSpPr>
        <p:spPr>
          <a:xfrm>
            <a:off x="2719426" y="3493008"/>
            <a:ext cx="154643" cy="566928"/>
          </a:xfrm>
          <a:prstGeom prst="rect">
            <a:avLst/>
          </a:prstGeom>
          <a:solidFill>
            <a:srgbClr val="F2A900"/>
          </a:solidFill>
          <a:ln/>
        </p:spPr>
      </p:sp>
      <p:sp>
        <p:nvSpPr>
          <p:cNvPr id="73" name="Text 71"/>
          <p:cNvSpPr txBox="1"/>
          <p:nvPr/>
        </p:nvSpPr>
        <p:spPr>
          <a:xfrm>
            <a:off x="786384" y="402336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74" name="Text 72"/>
          <p:cNvSpPr txBox="1"/>
          <p:nvPr/>
        </p:nvSpPr>
        <p:spPr>
          <a:xfrm>
            <a:off x="2412416" y="402336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75" name="cc-actuary"/>
          <p:cNvSpPr/>
          <p:nvPr/>
        </p:nvSpPr>
        <p:spPr>
          <a:xfrm>
            <a:off x="3381680" y="2980944"/>
            <a:ext cx="2613584" cy="1280160"/>
          </a:xfrm>
          <a:prstGeom prst="roundRect">
            <a:avLst>
              <a:gd name="adj" fmla="val 4286"/>
            </a:avLst>
          </a:prstGeom>
          <a:solidFill>
            <a:srgbClr val="EEF2F7"/>
          </a:solidFill>
          <a:ln/>
        </p:spPr>
      </p:sp>
      <p:sp>
        <p:nvSpPr>
          <p:cNvPr id="76" name="Text 74"/>
          <p:cNvSpPr txBox="1"/>
          <p:nvPr/>
        </p:nvSpPr>
        <p:spPr>
          <a:xfrm>
            <a:off x="3601136" y="310896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Actuary</a:t>
            </a:r>
            <a:endParaRPr lang="en-US" sz="1200" dirty="0"/>
          </a:p>
        </p:txBody>
      </p:sp>
      <p:sp>
        <p:nvSpPr>
          <p:cNvPr id="77" name="Text 75"/>
          <p:cNvSpPr txBox="1"/>
          <p:nvPr/>
        </p:nvSpPr>
        <p:spPr>
          <a:xfrm>
            <a:off x="4897984" y="310896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$49K</a:t>
            </a:r>
            <a:endParaRPr lang="en-US" sz="1300" dirty="0"/>
          </a:p>
        </p:txBody>
      </p:sp>
      <p:sp>
        <p:nvSpPr>
          <p:cNvPr id="78" name="spark-5-0"/>
          <p:cNvSpPr/>
          <p:nvPr/>
        </p:nvSpPr>
        <p:spPr>
          <a:xfrm>
            <a:off x="3601136" y="3493008"/>
            <a:ext cx="154643" cy="566928"/>
          </a:xfrm>
          <a:prstGeom prst="rect">
            <a:avLst/>
          </a:prstGeom>
          <a:solidFill>
            <a:srgbClr val="A8C0D6"/>
          </a:solidFill>
          <a:ln/>
        </p:spPr>
      </p:sp>
      <p:sp>
        <p:nvSpPr>
          <p:cNvPr id="79" name="spark-5-1"/>
          <p:cNvSpPr/>
          <p:nvPr/>
        </p:nvSpPr>
        <p:spPr>
          <a:xfrm>
            <a:off x="3842766" y="3873767"/>
            <a:ext cx="154643" cy="186169"/>
          </a:xfrm>
          <a:prstGeom prst="rect">
            <a:avLst/>
          </a:prstGeom>
          <a:solidFill>
            <a:srgbClr val="A8C0D6"/>
          </a:solidFill>
          <a:ln/>
        </p:spPr>
      </p:sp>
      <p:sp>
        <p:nvSpPr>
          <p:cNvPr id="80" name="spark-5-2"/>
          <p:cNvSpPr/>
          <p:nvPr/>
        </p:nvSpPr>
        <p:spPr>
          <a:xfrm>
            <a:off x="4084396" y="3926707"/>
            <a:ext cx="154643" cy="133229"/>
          </a:xfrm>
          <a:prstGeom prst="rect">
            <a:avLst/>
          </a:prstGeom>
          <a:solidFill>
            <a:srgbClr val="A8C0D6"/>
          </a:solidFill>
          <a:ln/>
        </p:spPr>
      </p:sp>
      <p:sp>
        <p:nvSpPr>
          <p:cNvPr id="81" name="spark-5-3"/>
          <p:cNvSpPr/>
          <p:nvPr/>
        </p:nvSpPr>
        <p:spPr>
          <a:xfrm>
            <a:off x="4326026" y="3859435"/>
            <a:ext cx="154643" cy="200501"/>
          </a:xfrm>
          <a:prstGeom prst="rect">
            <a:avLst/>
          </a:prstGeom>
          <a:solidFill>
            <a:srgbClr val="A8C0D6"/>
          </a:solidFill>
          <a:ln/>
        </p:spPr>
      </p:sp>
      <p:sp>
        <p:nvSpPr>
          <p:cNvPr id="82" name="spark-5-4"/>
          <p:cNvSpPr/>
          <p:nvPr/>
        </p:nvSpPr>
        <p:spPr>
          <a:xfrm>
            <a:off x="4567657" y="3884549"/>
            <a:ext cx="154643" cy="175387"/>
          </a:xfrm>
          <a:prstGeom prst="rect">
            <a:avLst/>
          </a:prstGeom>
          <a:solidFill>
            <a:srgbClr val="A8C0D6"/>
          </a:solidFill>
          <a:ln/>
        </p:spPr>
      </p:sp>
      <p:sp>
        <p:nvSpPr>
          <p:cNvPr id="83" name="spark-5-5"/>
          <p:cNvSpPr/>
          <p:nvPr/>
        </p:nvSpPr>
        <p:spPr>
          <a:xfrm>
            <a:off x="4809287" y="3957339"/>
            <a:ext cx="154643" cy="102597"/>
          </a:xfrm>
          <a:prstGeom prst="rect">
            <a:avLst/>
          </a:prstGeom>
          <a:solidFill>
            <a:srgbClr val="A8C0D6"/>
          </a:solidFill>
          <a:ln/>
        </p:spPr>
      </p:sp>
      <p:sp>
        <p:nvSpPr>
          <p:cNvPr id="84" name="spark-5-6"/>
          <p:cNvSpPr/>
          <p:nvPr/>
        </p:nvSpPr>
        <p:spPr>
          <a:xfrm>
            <a:off x="5050917" y="3907599"/>
            <a:ext cx="154643" cy="152337"/>
          </a:xfrm>
          <a:prstGeom prst="rect">
            <a:avLst/>
          </a:prstGeom>
          <a:solidFill>
            <a:srgbClr val="A8C0D6"/>
          </a:solidFill>
          <a:ln/>
        </p:spPr>
      </p:sp>
      <p:sp>
        <p:nvSpPr>
          <p:cNvPr id="85" name="spark-5-7"/>
          <p:cNvSpPr/>
          <p:nvPr/>
        </p:nvSpPr>
        <p:spPr>
          <a:xfrm>
            <a:off x="5292547" y="3892057"/>
            <a:ext cx="154643" cy="167879"/>
          </a:xfrm>
          <a:prstGeom prst="rect">
            <a:avLst/>
          </a:prstGeom>
          <a:solidFill>
            <a:srgbClr val="A8C0D6"/>
          </a:solidFill>
          <a:ln/>
        </p:spPr>
      </p:sp>
      <p:sp>
        <p:nvSpPr>
          <p:cNvPr id="86" name="spark-5-8"/>
          <p:cNvSpPr/>
          <p:nvPr/>
        </p:nvSpPr>
        <p:spPr>
          <a:xfrm>
            <a:off x="5534177" y="3894085"/>
            <a:ext cx="154643" cy="165851"/>
          </a:xfrm>
          <a:prstGeom prst="rect">
            <a:avLst/>
          </a:prstGeom>
          <a:solidFill>
            <a:srgbClr val="F2A900"/>
          </a:solidFill>
          <a:ln/>
        </p:spPr>
      </p:sp>
      <p:sp>
        <p:nvSpPr>
          <p:cNvPr id="87" name="Text 85"/>
          <p:cNvSpPr txBox="1"/>
          <p:nvPr/>
        </p:nvSpPr>
        <p:spPr>
          <a:xfrm>
            <a:off x="3601136" y="402336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88" name="Text 86"/>
          <p:cNvSpPr txBox="1"/>
          <p:nvPr/>
        </p:nvSpPr>
        <p:spPr>
          <a:xfrm>
            <a:off x="5227168" y="402336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89" name="cc-Risk Agility"/>
          <p:cNvSpPr/>
          <p:nvPr/>
        </p:nvSpPr>
        <p:spPr>
          <a:xfrm>
            <a:off x="6196432" y="2980944"/>
            <a:ext cx="2613584" cy="1280160"/>
          </a:xfrm>
          <a:prstGeom prst="roundRect">
            <a:avLst>
              <a:gd name="adj" fmla="val 4286"/>
            </a:avLst>
          </a:prstGeom>
          <a:solidFill>
            <a:srgbClr val="EEF2F7"/>
          </a:solidFill>
          <a:ln/>
        </p:spPr>
      </p:sp>
      <p:sp>
        <p:nvSpPr>
          <p:cNvPr id="90" name="Text 88"/>
          <p:cNvSpPr txBox="1"/>
          <p:nvPr/>
        </p:nvSpPr>
        <p:spPr>
          <a:xfrm>
            <a:off x="6415888" y="310896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Risk Agility</a:t>
            </a:r>
            <a:endParaRPr lang="en-US" sz="1200" dirty="0"/>
          </a:p>
        </p:txBody>
      </p:sp>
      <p:sp>
        <p:nvSpPr>
          <p:cNvPr id="91" name="Text 89"/>
          <p:cNvSpPr txBox="1"/>
          <p:nvPr/>
        </p:nvSpPr>
        <p:spPr>
          <a:xfrm>
            <a:off x="7712735" y="310896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$34K</a:t>
            </a:r>
            <a:endParaRPr lang="en-US" sz="1300" dirty="0"/>
          </a:p>
        </p:txBody>
      </p:sp>
      <p:sp>
        <p:nvSpPr>
          <p:cNvPr id="92" name="spark-6-0"/>
          <p:cNvSpPr/>
          <p:nvPr/>
        </p:nvSpPr>
        <p:spPr>
          <a:xfrm>
            <a:off x="6415888" y="3493008"/>
            <a:ext cx="154643" cy="566928"/>
          </a:xfrm>
          <a:prstGeom prst="rect">
            <a:avLst/>
          </a:prstGeom>
          <a:solidFill>
            <a:srgbClr val="A8C0D6"/>
          </a:solidFill>
          <a:ln/>
        </p:spPr>
      </p:sp>
      <p:sp>
        <p:nvSpPr>
          <p:cNvPr id="93" name="spark-6-1"/>
          <p:cNvSpPr/>
          <p:nvPr/>
        </p:nvSpPr>
        <p:spPr>
          <a:xfrm>
            <a:off x="6657518" y="3831047"/>
            <a:ext cx="154643" cy="228889"/>
          </a:xfrm>
          <a:prstGeom prst="rect">
            <a:avLst/>
          </a:prstGeom>
          <a:solidFill>
            <a:srgbClr val="A8C0D6"/>
          </a:solidFill>
          <a:ln/>
        </p:spPr>
      </p:sp>
      <p:sp>
        <p:nvSpPr>
          <p:cNvPr id="94" name="spark-6-2"/>
          <p:cNvSpPr/>
          <p:nvPr/>
        </p:nvSpPr>
        <p:spPr>
          <a:xfrm>
            <a:off x="6899148" y="3946359"/>
            <a:ext cx="154643" cy="113577"/>
          </a:xfrm>
          <a:prstGeom prst="rect">
            <a:avLst/>
          </a:prstGeom>
          <a:solidFill>
            <a:srgbClr val="A8C0D6"/>
          </a:solidFill>
          <a:ln/>
        </p:spPr>
      </p:sp>
      <p:sp>
        <p:nvSpPr>
          <p:cNvPr id="95" name="spark-6-3"/>
          <p:cNvSpPr/>
          <p:nvPr/>
        </p:nvSpPr>
        <p:spPr>
          <a:xfrm>
            <a:off x="7140778" y="3809608"/>
            <a:ext cx="154643" cy="250328"/>
          </a:xfrm>
          <a:prstGeom prst="rect">
            <a:avLst/>
          </a:prstGeom>
          <a:solidFill>
            <a:srgbClr val="A8C0D6"/>
          </a:solidFill>
          <a:ln/>
        </p:spPr>
      </p:sp>
      <p:sp>
        <p:nvSpPr>
          <p:cNvPr id="96" name="spark-6-4"/>
          <p:cNvSpPr/>
          <p:nvPr/>
        </p:nvSpPr>
        <p:spPr>
          <a:xfrm>
            <a:off x="7382408" y="3936595"/>
            <a:ext cx="154643" cy="123341"/>
          </a:xfrm>
          <a:prstGeom prst="rect">
            <a:avLst/>
          </a:prstGeom>
          <a:solidFill>
            <a:srgbClr val="A8C0D6"/>
          </a:solidFill>
          <a:ln/>
        </p:spPr>
      </p:sp>
      <p:sp>
        <p:nvSpPr>
          <p:cNvPr id="97" name="spark-6-5"/>
          <p:cNvSpPr/>
          <p:nvPr/>
        </p:nvSpPr>
        <p:spPr>
          <a:xfrm>
            <a:off x="7624039" y="4015191"/>
            <a:ext cx="154643" cy="44745"/>
          </a:xfrm>
          <a:prstGeom prst="rect">
            <a:avLst/>
          </a:prstGeom>
          <a:solidFill>
            <a:srgbClr val="A8C0D6"/>
          </a:solidFill>
          <a:ln/>
        </p:spPr>
      </p:sp>
      <p:sp>
        <p:nvSpPr>
          <p:cNvPr id="98" name="spark-6-6"/>
          <p:cNvSpPr/>
          <p:nvPr/>
        </p:nvSpPr>
        <p:spPr>
          <a:xfrm>
            <a:off x="7865669" y="4015148"/>
            <a:ext cx="154643" cy="44788"/>
          </a:xfrm>
          <a:prstGeom prst="rect">
            <a:avLst/>
          </a:prstGeom>
          <a:solidFill>
            <a:srgbClr val="A8C0D6"/>
          </a:solidFill>
          <a:ln/>
        </p:spPr>
      </p:sp>
      <p:sp>
        <p:nvSpPr>
          <p:cNvPr id="99" name="spark-6-7"/>
          <p:cNvSpPr/>
          <p:nvPr/>
        </p:nvSpPr>
        <p:spPr>
          <a:xfrm>
            <a:off x="8107299" y="4015148"/>
            <a:ext cx="154643" cy="44788"/>
          </a:xfrm>
          <a:prstGeom prst="rect">
            <a:avLst/>
          </a:prstGeom>
          <a:solidFill>
            <a:srgbClr val="A8C0D6"/>
          </a:solidFill>
          <a:ln/>
        </p:spPr>
      </p:sp>
      <p:sp>
        <p:nvSpPr>
          <p:cNvPr id="100" name="spark-6-8"/>
          <p:cNvSpPr/>
          <p:nvPr/>
        </p:nvSpPr>
        <p:spPr>
          <a:xfrm>
            <a:off x="8348929" y="4015234"/>
            <a:ext cx="154643" cy="44702"/>
          </a:xfrm>
          <a:prstGeom prst="rect">
            <a:avLst/>
          </a:prstGeom>
          <a:solidFill>
            <a:srgbClr val="F2A900"/>
          </a:solidFill>
          <a:ln/>
        </p:spPr>
      </p:sp>
      <p:sp>
        <p:nvSpPr>
          <p:cNvPr id="101" name="Text 99"/>
          <p:cNvSpPr txBox="1"/>
          <p:nvPr/>
        </p:nvSpPr>
        <p:spPr>
          <a:xfrm>
            <a:off x="6415888" y="402336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102" name="Text 100"/>
          <p:cNvSpPr txBox="1"/>
          <p:nvPr/>
        </p:nvSpPr>
        <p:spPr>
          <a:xfrm>
            <a:off x="8041919" y="402336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103" name="cc-cloudops"/>
          <p:cNvSpPr/>
          <p:nvPr/>
        </p:nvSpPr>
        <p:spPr>
          <a:xfrm>
            <a:off x="9011183" y="2980944"/>
            <a:ext cx="2613584" cy="1280160"/>
          </a:xfrm>
          <a:prstGeom prst="roundRect">
            <a:avLst>
              <a:gd name="adj" fmla="val 4286"/>
            </a:avLst>
          </a:prstGeom>
          <a:solidFill>
            <a:srgbClr val="EEF2F7"/>
          </a:solidFill>
          <a:ln/>
        </p:spPr>
      </p:sp>
      <p:sp>
        <p:nvSpPr>
          <p:cNvPr id="104" name="Text 102"/>
          <p:cNvSpPr txBox="1"/>
          <p:nvPr/>
        </p:nvSpPr>
        <p:spPr>
          <a:xfrm>
            <a:off x="9230639" y="310896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CloudOps</a:t>
            </a:r>
            <a:endParaRPr lang="en-US" sz="1200" dirty="0"/>
          </a:p>
        </p:txBody>
      </p:sp>
      <p:sp>
        <p:nvSpPr>
          <p:cNvPr id="105" name="Text 103"/>
          <p:cNvSpPr txBox="1"/>
          <p:nvPr/>
        </p:nvSpPr>
        <p:spPr>
          <a:xfrm>
            <a:off x="10527487" y="310896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$29K</a:t>
            </a:r>
            <a:endParaRPr lang="en-US" sz="1300" dirty="0"/>
          </a:p>
        </p:txBody>
      </p:sp>
      <p:sp>
        <p:nvSpPr>
          <p:cNvPr id="106" name="spark-7-0"/>
          <p:cNvSpPr/>
          <p:nvPr/>
        </p:nvSpPr>
        <p:spPr>
          <a:xfrm>
            <a:off x="9230639" y="4041648"/>
            <a:ext cx="154643" cy="18288"/>
          </a:xfrm>
          <a:prstGeom prst="rect">
            <a:avLst/>
          </a:prstGeom>
          <a:solidFill>
            <a:srgbClr val="A8C0D6"/>
          </a:solidFill>
          <a:ln/>
        </p:spPr>
      </p:sp>
      <p:sp>
        <p:nvSpPr>
          <p:cNvPr id="107" name="spark-7-1"/>
          <p:cNvSpPr/>
          <p:nvPr/>
        </p:nvSpPr>
        <p:spPr>
          <a:xfrm>
            <a:off x="9472270" y="4041648"/>
            <a:ext cx="154643" cy="18288"/>
          </a:xfrm>
          <a:prstGeom prst="rect">
            <a:avLst/>
          </a:prstGeom>
          <a:solidFill>
            <a:srgbClr val="A8C0D6"/>
          </a:solidFill>
          <a:ln/>
        </p:spPr>
      </p:sp>
      <p:sp>
        <p:nvSpPr>
          <p:cNvPr id="108" name="spark-7-2"/>
          <p:cNvSpPr/>
          <p:nvPr/>
        </p:nvSpPr>
        <p:spPr>
          <a:xfrm>
            <a:off x="9713900" y="4041648"/>
            <a:ext cx="154643" cy="18288"/>
          </a:xfrm>
          <a:prstGeom prst="rect">
            <a:avLst/>
          </a:prstGeom>
          <a:solidFill>
            <a:srgbClr val="A8C0D6"/>
          </a:solidFill>
          <a:ln/>
        </p:spPr>
      </p:sp>
      <p:sp>
        <p:nvSpPr>
          <p:cNvPr id="109" name="spark-7-3"/>
          <p:cNvSpPr/>
          <p:nvPr/>
        </p:nvSpPr>
        <p:spPr>
          <a:xfrm>
            <a:off x="9955530" y="4041648"/>
            <a:ext cx="154643" cy="18288"/>
          </a:xfrm>
          <a:prstGeom prst="rect">
            <a:avLst/>
          </a:prstGeom>
          <a:solidFill>
            <a:srgbClr val="A8C0D6"/>
          </a:solidFill>
          <a:ln/>
        </p:spPr>
      </p:sp>
      <p:sp>
        <p:nvSpPr>
          <p:cNvPr id="110" name="spark-7-4"/>
          <p:cNvSpPr/>
          <p:nvPr/>
        </p:nvSpPr>
        <p:spPr>
          <a:xfrm>
            <a:off x="10197160" y="4041648"/>
            <a:ext cx="154643" cy="18288"/>
          </a:xfrm>
          <a:prstGeom prst="rect">
            <a:avLst/>
          </a:prstGeom>
          <a:solidFill>
            <a:srgbClr val="A8C0D6"/>
          </a:solidFill>
          <a:ln/>
        </p:spPr>
      </p:sp>
      <p:sp>
        <p:nvSpPr>
          <p:cNvPr id="111" name="spark-7-5"/>
          <p:cNvSpPr/>
          <p:nvPr/>
        </p:nvSpPr>
        <p:spPr>
          <a:xfrm>
            <a:off x="10438790" y="4041648"/>
            <a:ext cx="154643" cy="18288"/>
          </a:xfrm>
          <a:prstGeom prst="rect">
            <a:avLst/>
          </a:prstGeom>
          <a:solidFill>
            <a:srgbClr val="A8C0D6"/>
          </a:solidFill>
          <a:ln/>
        </p:spPr>
      </p:sp>
      <p:sp>
        <p:nvSpPr>
          <p:cNvPr id="112" name="spark-7-6"/>
          <p:cNvSpPr/>
          <p:nvPr/>
        </p:nvSpPr>
        <p:spPr>
          <a:xfrm>
            <a:off x="10680421" y="3666256"/>
            <a:ext cx="154643" cy="393680"/>
          </a:xfrm>
          <a:prstGeom prst="rect">
            <a:avLst/>
          </a:prstGeom>
          <a:solidFill>
            <a:srgbClr val="A8C0D6"/>
          </a:solidFill>
          <a:ln/>
        </p:spPr>
      </p:sp>
      <p:sp>
        <p:nvSpPr>
          <p:cNvPr id="113" name="spark-7-7"/>
          <p:cNvSpPr/>
          <p:nvPr/>
        </p:nvSpPr>
        <p:spPr>
          <a:xfrm>
            <a:off x="10922051" y="3580085"/>
            <a:ext cx="154643" cy="479851"/>
          </a:xfrm>
          <a:prstGeom prst="rect">
            <a:avLst/>
          </a:prstGeom>
          <a:solidFill>
            <a:srgbClr val="A8C0D6"/>
          </a:solidFill>
          <a:ln/>
        </p:spPr>
      </p:sp>
      <p:sp>
        <p:nvSpPr>
          <p:cNvPr id="114" name="spark-7-8"/>
          <p:cNvSpPr/>
          <p:nvPr/>
        </p:nvSpPr>
        <p:spPr>
          <a:xfrm>
            <a:off x="11163681" y="3493008"/>
            <a:ext cx="154643" cy="566928"/>
          </a:xfrm>
          <a:prstGeom prst="rect">
            <a:avLst/>
          </a:prstGeom>
          <a:solidFill>
            <a:srgbClr val="F2A900"/>
          </a:solidFill>
          <a:ln/>
        </p:spPr>
      </p:sp>
      <p:sp>
        <p:nvSpPr>
          <p:cNvPr id="115" name="Text 113"/>
          <p:cNvSpPr txBox="1"/>
          <p:nvPr/>
        </p:nvSpPr>
        <p:spPr>
          <a:xfrm>
            <a:off x="9230639" y="402336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116" name="Text 114"/>
          <p:cNvSpPr txBox="1"/>
          <p:nvPr/>
        </p:nvSpPr>
        <p:spPr>
          <a:xfrm>
            <a:off x="10856671" y="402336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117" name="cc-itsec"/>
          <p:cNvSpPr/>
          <p:nvPr/>
        </p:nvSpPr>
        <p:spPr>
          <a:xfrm>
            <a:off x="566928" y="4443984"/>
            <a:ext cx="2613584" cy="1280160"/>
          </a:xfrm>
          <a:prstGeom prst="roundRect">
            <a:avLst>
              <a:gd name="adj" fmla="val 4286"/>
            </a:avLst>
          </a:prstGeom>
          <a:solidFill>
            <a:srgbClr val="EEF2F7"/>
          </a:solidFill>
          <a:ln/>
        </p:spPr>
      </p:sp>
      <p:sp>
        <p:nvSpPr>
          <p:cNvPr id="118" name="Text 116"/>
          <p:cNvSpPr txBox="1"/>
          <p:nvPr/>
        </p:nvSpPr>
        <p:spPr>
          <a:xfrm>
            <a:off x="786384" y="457200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ITSec</a:t>
            </a:r>
            <a:endParaRPr lang="en-US" sz="1200" dirty="0"/>
          </a:p>
        </p:txBody>
      </p:sp>
      <p:sp>
        <p:nvSpPr>
          <p:cNvPr id="119" name="Text 117"/>
          <p:cNvSpPr txBox="1"/>
          <p:nvPr/>
        </p:nvSpPr>
        <p:spPr>
          <a:xfrm>
            <a:off x="2083232" y="457200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$19K</a:t>
            </a:r>
            <a:endParaRPr lang="en-US" sz="1300" dirty="0"/>
          </a:p>
        </p:txBody>
      </p:sp>
      <p:sp>
        <p:nvSpPr>
          <p:cNvPr id="120" name="spark-8-0"/>
          <p:cNvSpPr/>
          <p:nvPr/>
        </p:nvSpPr>
        <p:spPr>
          <a:xfrm>
            <a:off x="786384" y="5015955"/>
            <a:ext cx="154643" cy="507021"/>
          </a:xfrm>
          <a:prstGeom prst="rect">
            <a:avLst/>
          </a:prstGeom>
          <a:solidFill>
            <a:srgbClr val="A8C0D6"/>
          </a:solidFill>
          <a:ln/>
        </p:spPr>
      </p:sp>
      <p:sp>
        <p:nvSpPr>
          <p:cNvPr id="121" name="spark-8-1"/>
          <p:cNvSpPr/>
          <p:nvPr/>
        </p:nvSpPr>
        <p:spPr>
          <a:xfrm>
            <a:off x="1028014" y="5100784"/>
            <a:ext cx="154643" cy="422192"/>
          </a:xfrm>
          <a:prstGeom prst="rect">
            <a:avLst/>
          </a:prstGeom>
          <a:solidFill>
            <a:srgbClr val="A8C0D6"/>
          </a:solidFill>
          <a:ln/>
        </p:spPr>
      </p:sp>
      <p:sp>
        <p:nvSpPr>
          <p:cNvPr id="122" name="spark-8-2"/>
          <p:cNvSpPr/>
          <p:nvPr/>
        </p:nvSpPr>
        <p:spPr>
          <a:xfrm>
            <a:off x="1269644" y="5058329"/>
            <a:ext cx="154643" cy="464647"/>
          </a:xfrm>
          <a:prstGeom prst="rect">
            <a:avLst/>
          </a:prstGeom>
          <a:solidFill>
            <a:srgbClr val="A8C0D6"/>
          </a:solidFill>
          <a:ln/>
        </p:spPr>
      </p:sp>
      <p:sp>
        <p:nvSpPr>
          <p:cNvPr id="123" name="spark-8-3"/>
          <p:cNvSpPr/>
          <p:nvPr/>
        </p:nvSpPr>
        <p:spPr>
          <a:xfrm>
            <a:off x="1511275" y="5060815"/>
            <a:ext cx="154643" cy="462161"/>
          </a:xfrm>
          <a:prstGeom prst="rect">
            <a:avLst/>
          </a:prstGeom>
          <a:solidFill>
            <a:srgbClr val="A8C0D6"/>
          </a:solidFill>
          <a:ln/>
        </p:spPr>
      </p:sp>
      <p:sp>
        <p:nvSpPr>
          <p:cNvPr id="124" name="spark-8-4"/>
          <p:cNvSpPr/>
          <p:nvPr/>
        </p:nvSpPr>
        <p:spPr>
          <a:xfrm>
            <a:off x="1752905" y="5024479"/>
            <a:ext cx="154643" cy="498497"/>
          </a:xfrm>
          <a:prstGeom prst="rect">
            <a:avLst/>
          </a:prstGeom>
          <a:solidFill>
            <a:srgbClr val="A8C0D6"/>
          </a:solidFill>
          <a:ln/>
        </p:spPr>
      </p:sp>
      <p:sp>
        <p:nvSpPr>
          <p:cNvPr id="125" name="spark-8-5"/>
          <p:cNvSpPr/>
          <p:nvPr/>
        </p:nvSpPr>
        <p:spPr>
          <a:xfrm>
            <a:off x="1994535" y="5021556"/>
            <a:ext cx="154643" cy="501420"/>
          </a:xfrm>
          <a:prstGeom prst="rect">
            <a:avLst/>
          </a:prstGeom>
          <a:solidFill>
            <a:srgbClr val="A8C0D6"/>
          </a:solidFill>
          <a:ln/>
        </p:spPr>
      </p:sp>
      <p:sp>
        <p:nvSpPr>
          <p:cNvPr id="126" name="spark-8-6"/>
          <p:cNvSpPr/>
          <p:nvPr/>
        </p:nvSpPr>
        <p:spPr>
          <a:xfrm>
            <a:off x="2236165" y="4982105"/>
            <a:ext cx="154643" cy="540871"/>
          </a:xfrm>
          <a:prstGeom prst="rect">
            <a:avLst/>
          </a:prstGeom>
          <a:solidFill>
            <a:srgbClr val="A8C0D6"/>
          </a:solidFill>
          <a:ln/>
        </p:spPr>
      </p:sp>
      <p:sp>
        <p:nvSpPr>
          <p:cNvPr id="127" name="spark-8-7"/>
          <p:cNvSpPr/>
          <p:nvPr/>
        </p:nvSpPr>
        <p:spPr>
          <a:xfrm>
            <a:off x="2477795" y="4961893"/>
            <a:ext cx="154643" cy="561083"/>
          </a:xfrm>
          <a:prstGeom prst="rect">
            <a:avLst/>
          </a:prstGeom>
          <a:solidFill>
            <a:srgbClr val="A8C0D6"/>
          </a:solidFill>
          <a:ln/>
        </p:spPr>
      </p:sp>
      <p:sp>
        <p:nvSpPr>
          <p:cNvPr id="128" name="spark-8-8"/>
          <p:cNvSpPr/>
          <p:nvPr/>
        </p:nvSpPr>
        <p:spPr>
          <a:xfrm>
            <a:off x="2719426" y="4956048"/>
            <a:ext cx="154643" cy="566928"/>
          </a:xfrm>
          <a:prstGeom prst="rect">
            <a:avLst/>
          </a:prstGeom>
          <a:solidFill>
            <a:srgbClr val="F2A900"/>
          </a:solidFill>
          <a:ln/>
        </p:spPr>
      </p:sp>
      <p:sp>
        <p:nvSpPr>
          <p:cNvPr id="129" name="Text 127"/>
          <p:cNvSpPr txBox="1"/>
          <p:nvPr/>
        </p:nvSpPr>
        <p:spPr>
          <a:xfrm>
            <a:off x="786384" y="548640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130" name="Text 128"/>
          <p:cNvSpPr txBox="1"/>
          <p:nvPr/>
        </p:nvSpPr>
        <p:spPr>
          <a:xfrm>
            <a:off x="2412416" y="548640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131" name="cc-basasach"/>
          <p:cNvSpPr/>
          <p:nvPr/>
        </p:nvSpPr>
        <p:spPr>
          <a:xfrm>
            <a:off x="3381680" y="4443984"/>
            <a:ext cx="2613584" cy="1280160"/>
          </a:xfrm>
          <a:prstGeom prst="roundRect">
            <a:avLst>
              <a:gd name="adj" fmla="val 4286"/>
            </a:avLst>
          </a:prstGeom>
          <a:solidFill>
            <a:srgbClr val="EEF2F7"/>
          </a:solidFill>
          <a:ln/>
        </p:spPr>
      </p:sp>
      <p:sp>
        <p:nvSpPr>
          <p:cNvPr id="132" name="Text 130"/>
          <p:cNvSpPr txBox="1"/>
          <p:nvPr/>
        </p:nvSpPr>
        <p:spPr>
          <a:xfrm>
            <a:off x="3601136" y="457200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Basasach</a:t>
            </a:r>
            <a:endParaRPr lang="en-US" sz="1200" dirty="0"/>
          </a:p>
        </p:txBody>
      </p:sp>
      <p:sp>
        <p:nvSpPr>
          <p:cNvPr id="133" name="Text 131"/>
          <p:cNvSpPr txBox="1"/>
          <p:nvPr/>
        </p:nvSpPr>
        <p:spPr>
          <a:xfrm>
            <a:off x="4897984" y="457200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$7K</a:t>
            </a:r>
            <a:endParaRPr lang="en-US" sz="1300" dirty="0"/>
          </a:p>
        </p:txBody>
      </p:sp>
      <p:sp>
        <p:nvSpPr>
          <p:cNvPr id="134" name="spark-9-0"/>
          <p:cNvSpPr/>
          <p:nvPr/>
        </p:nvSpPr>
        <p:spPr>
          <a:xfrm>
            <a:off x="3601136" y="4957480"/>
            <a:ext cx="154643" cy="565496"/>
          </a:xfrm>
          <a:prstGeom prst="rect">
            <a:avLst/>
          </a:prstGeom>
          <a:solidFill>
            <a:srgbClr val="A8C0D6"/>
          </a:solidFill>
          <a:ln/>
        </p:spPr>
      </p:sp>
      <p:sp>
        <p:nvSpPr>
          <p:cNvPr id="135" name="spark-9-1"/>
          <p:cNvSpPr/>
          <p:nvPr/>
        </p:nvSpPr>
        <p:spPr>
          <a:xfrm>
            <a:off x="3842766" y="5010210"/>
            <a:ext cx="154643" cy="512766"/>
          </a:xfrm>
          <a:prstGeom prst="rect">
            <a:avLst/>
          </a:prstGeom>
          <a:solidFill>
            <a:srgbClr val="A8C0D6"/>
          </a:solidFill>
          <a:ln/>
        </p:spPr>
      </p:sp>
      <p:sp>
        <p:nvSpPr>
          <p:cNvPr id="136" name="spark-9-2"/>
          <p:cNvSpPr/>
          <p:nvPr/>
        </p:nvSpPr>
        <p:spPr>
          <a:xfrm>
            <a:off x="4084396" y="4957480"/>
            <a:ext cx="154643" cy="565496"/>
          </a:xfrm>
          <a:prstGeom prst="rect">
            <a:avLst/>
          </a:prstGeom>
          <a:solidFill>
            <a:srgbClr val="A8C0D6"/>
          </a:solidFill>
          <a:ln/>
        </p:spPr>
      </p:sp>
      <p:sp>
        <p:nvSpPr>
          <p:cNvPr id="137" name="spark-9-3"/>
          <p:cNvSpPr/>
          <p:nvPr/>
        </p:nvSpPr>
        <p:spPr>
          <a:xfrm>
            <a:off x="4326026" y="4975045"/>
            <a:ext cx="154643" cy="547931"/>
          </a:xfrm>
          <a:prstGeom prst="rect">
            <a:avLst/>
          </a:prstGeom>
          <a:solidFill>
            <a:srgbClr val="A8C0D6"/>
          </a:solidFill>
          <a:ln/>
        </p:spPr>
      </p:sp>
      <p:sp>
        <p:nvSpPr>
          <p:cNvPr id="138" name="spark-9-4"/>
          <p:cNvSpPr/>
          <p:nvPr/>
        </p:nvSpPr>
        <p:spPr>
          <a:xfrm>
            <a:off x="4567657" y="4957480"/>
            <a:ext cx="154643" cy="565496"/>
          </a:xfrm>
          <a:prstGeom prst="rect">
            <a:avLst/>
          </a:prstGeom>
          <a:solidFill>
            <a:srgbClr val="A8C0D6"/>
          </a:solidFill>
          <a:ln/>
        </p:spPr>
      </p:sp>
      <p:sp>
        <p:nvSpPr>
          <p:cNvPr id="139" name="spark-9-5"/>
          <p:cNvSpPr/>
          <p:nvPr/>
        </p:nvSpPr>
        <p:spPr>
          <a:xfrm>
            <a:off x="4809287" y="4974659"/>
            <a:ext cx="154643" cy="548317"/>
          </a:xfrm>
          <a:prstGeom prst="rect">
            <a:avLst/>
          </a:prstGeom>
          <a:solidFill>
            <a:srgbClr val="A8C0D6"/>
          </a:solidFill>
          <a:ln/>
        </p:spPr>
      </p:sp>
      <p:sp>
        <p:nvSpPr>
          <p:cNvPr id="140" name="spark-9-6"/>
          <p:cNvSpPr/>
          <p:nvPr/>
        </p:nvSpPr>
        <p:spPr>
          <a:xfrm>
            <a:off x="5050917" y="4956048"/>
            <a:ext cx="154643" cy="566928"/>
          </a:xfrm>
          <a:prstGeom prst="rect">
            <a:avLst/>
          </a:prstGeom>
          <a:solidFill>
            <a:srgbClr val="A8C0D6"/>
          </a:solidFill>
          <a:ln/>
        </p:spPr>
      </p:sp>
      <p:sp>
        <p:nvSpPr>
          <p:cNvPr id="141" name="spark-9-7"/>
          <p:cNvSpPr/>
          <p:nvPr/>
        </p:nvSpPr>
        <p:spPr>
          <a:xfrm>
            <a:off x="5292547" y="5001145"/>
            <a:ext cx="154643" cy="521831"/>
          </a:xfrm>
          <a:prstGeom prst="rect">
            <a:avLst/>
          </a:prstGeom>
          <a:solidFill>
            <a:srgbClr val="A8C0D6"/>
          </a:solidFill>
          <a:ln/>
        </p:spPr>
      </p:sp>
      <p:sp>
        <p:nvSpPr>
          <p:cNvPr id="142" name="spark-9-8"/>
          <p:cNvSpPr/>
          <p:nvPr/>
        </p:nvSpPr>
        <p:spPr>
          <a:xfrm>
            <a:off x="5534177" y="5019756"/>
            <a:ext cx="154643" cy="503220"/>
          </a:xfrm>
          <a:prstGeom prst="rect">
            <a:avLst/>
          </a:prstGeom>
          <a:solidFill>
            <a:srgbClr val="F2A900"/>
          </a:solidFill>
          <a:ln/>
        </p:spPr>
      </p:sp>
      <p:sp>
        <p:nvSpPr>
          <p:cNvPr id="143" name="Text 141"/>
          <p:cNvSpPr txBox="1"/>
          <p:nvPr/>
        </p:nvSpPr>
        <p:spPr>
          <a:xfrm>
            <a:off x="3601136" y="548640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144" name="Text 142"/>
          <p:cNvSpPr txBox="1"/>
          <p:nvPr/>
        </p:nvSpPr>
        <p:spPr>
          <a:xfrm>
            <a:off x="5227168" y="548640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145" name="cc-investments"/>
          <p:cNvSpPr/>
          <p:nvPr/>
        </p:nvSpPr>
        <p:spPr>
          <a:xfrm>
            <a:off x="6196432" y="4443984"/>
            <a:ext cx="2613584" cy="1280160"/>
          </a:xfrm>
          <a:prstGeom prst="roundRect">
            <a:avLst>
              <a:gd name="adj" fmla="val 4286"/>
            </a:avLst>
          </a:prstGeom>
          <a:solidFill>
            <a:srgbClr val="EEF2F7"/>
          </a:solidFill>
          <a:ln/>
        </p:spPr>
      </p:sp>
      <p:sp>
        <p:nvSpPr>
          <p:cNvPr id="146" name="Text 144"/>
          <p:cNvSpPr txBox="1"/>
          <p:nvPr/>
        </p:nvSpPr>
        <p:spPr>
          <a:xfrm>
            <a:off x="6415888" y="457200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Investments</a:t>
            </a:r>
            <a:endParaRPr lang="en-US" sz="1200" dirty="0"/>
          </a:p>
        </p:txBody>
      </p:sp>
      <p:sp>
        <p:nvSpPr>
          <p:cNvPr id="147" name="Text 145"/>
          <p:cNvSpPr txBox="1"/>
          <p:nvPr/>
        </p:nvSpPr>
        <p:spPr>
          <a:xfrm>
            <a:off x="7712735" y="457200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$6K</a:t>
            </a:r>
            <a:endParaRPr lang="en-US" sz="1300" dirty="0"/>
          </a:p>
        </p:txBody>
      </p:sp>
      <p:sp>
        <p:nvSpPr>
          <p:cNvPr id="148" name="spark-10-0"/>
          <p:cNvSpPr/>
          <p:nvPr/>
        </p:nvSpPr>
        <p:spPr>
          <a:xfrm>
            <a:off x="6415888" y="5504521"/>
            <a:ext cx="154643" cy="18455"/>
          </a:xfrm>
          <a:prstGeom prst="rect">
            <a:avLst/>
          </a:prstGeom>
          <a:solidFill>
            <a:srgbClr val="A8C0D6"/>
          </a:solidFill>
          <a:ln/>
        </p:spPr>
      </p:sp>
      <p:sp>
        <p:nvSpPr>
          <p:cNvPr id="149" name="spark-10-1"/>
          <p:cNvSpPr/>
          <p:nvPr/>
        </p:nvSpPr>
        <p:spPr>
          <a:xfrm>
            <a:off x="6657518" y="4956048"/>
            <a:ext cx="154643" cy="566928"/>
          </a:xfrm>
          <a:prstGeom prst="rect">
            <a:avLst/>
          </a:prstGeom>
          <a:solidFill>
            <a:srgbClr val="A8C0D6"/>
          </a:solidFill>
          <a:ln/>
        </p:spPr>
      </p:sp>
      <p:sp>
        <p:nvSpPr>
          <p:cNvPr id="150" name="spark-10-2"/>
          <p:cNvSpPr/>
          <p:nvPr/>
        </p:nvSpPr>
        <p:spPr>
          <a:xfrm>
            <a:off x="6899148" y="5008805"/>
            <a:ext cx="154643" cy="514171"/>
          </a:xfrm>
          <a:prstGeom prst="rect">
            <a:avLst/>
          </a:prstGeom>
          <a:solidFill>
            <a:srgbClr val="A8C0D6"/>
          </a:solidFill>
          <a:ln/>
        </p:spPr>
      </p:sp>
      <p:sp>
        <p:nvSpPr>
          <p:cNvPr id="151" name="spark-10-3"/>
          <p:cNvSpPr/>
          <p:nvPr/>
        </p:nvSpPr>
        <p:spPr>
          <a:xfrm>
            <a:off x="7140778" y="5142039"/>
            <a:ext cx="154643" cy="380937"/>
          </a:xfrm>
          <a:prstGeom prst="rect">
            <a:avLst/>
          </a:prstGeom>
          <a:solidFill>
            <a:srgbClr val="A8C0D6"/>
          </a:solidFill>
          <a:ln/>
        </p:spPr>
      </p:sp>
      <p:sp>
        <p:nvSpPr>
          <p:cNvPr id="152" name="spark-10-4"/>
          <p:cNvSpPr/>
          <p:nvPr/>
        </p:nvSpPr>
        <p:spPr>
          <a:xfrm>
            <a:off x="7382408" y="5437567"/>
            <a:ext cx="154643" cy="85409"/>
          </a:xfrm>
          <a:prstGeom prst="rect">
            <a:avLst/>
          </a:prstGeom>
          <a:solidFill>
            <a:srgbClr val="A8C0D6"/>
          </a:solidFill>
          <a:ln/>
        </p:spPr>
      </p:sp>
      <p:sp>
        <p:nvSpPr>
          <p:cNvPr id="153" name="spark-10-5"/>
          <p:cNvSpPr/>
          <p:nvPr/>
        </p:nvSpPr>
        <p:spPr>
          <a:xfrm>
            <a:off x="7624039" y="5392931"/>
            <a:ext cx="154643" cy="130045"/>
          </a:xfrm>
          <a:prstGeom prst="rect">
            <a:avLst/>
          </a:prstGeom>
          <a:solidFill>
            <a:srgbClr val="A8C0D6"/>
          </a:solidFill>
          <a:ln/>
        </p:spPr>
      </p:sp>
      <p:sp>
        <p:nvSpPr>
          <p:cNvPr id="154" name="spark-10-6"/>
          <p:cNvSpPr/>
          <p:nvPr/>
        </p:nvSpPr>
        <p:spPr>
          <a:xfrm>
            <a:off x="7865669" y="5295075"/>
            <a:ext cx="154643" cy="227901"/>
          </a:xfrm>
          <a:prstGeom prst="rect">
            <a:avLst/>
          </a:prstGeom>
          <a:solidFill>
            <a:srgbClr val="A8C0D6"/>
          </a:solidFill>
          <a:ln/>
        </p:spPr>
      </p:sp>
      <p:sp>
        <p:nvSpPr>
          <p:cNvPr id="155" name="spark-10-7"/>
          <p:cNvSpPr/>
          <p:nvPr/>
        </p:nvSpPr>
        <p:spPr>
          <a:xfrm>
            <a:off x="8107299" y="5220396"/>
            <a:ext cx="154643" cy="302580"/>
          </a:xfrm>
          <a:prstGeom prst="rect">
            <a:avLst/>
          </a:prstGeom>
          <a:solidFill>
            <a:srgbClr val="A8C0D6"/>
          </a:solidFill>
          <a:ln/>
        </p:spPr>
      </p:sp>
      <p:sp>
        <p:nvSpPr>
          <p:cNvPr id="156" name="spark-10-8"/>
          <p:cNvSpPr/>
          <p:nvPr/>
        </p:nvSpPr>
        <p:spPr>
          <a:xfrm>
            <a:off x="8348929" y="5243572"/>
            <a:ext cx="154643" cy="279404"/>
          </a:xfrm>
          <a:prstGeom prst="rect">
            <a:avLst/>
          </a:prstGeom>
          <a:solidFill>
            <a:srgbClr val="F2A900"/>
          </a:solidFill>
          <a:ln/>
        </p:spPr>
      </p:sp>
      <p:sp>
        <p:nvSpPr>
          <p:cNvPr id="157" name="Text 155"/>
          <p:cNvSpPr txBox="1"/>
          <p:nvPr/>
        </p:nvSpPr>
        <p:spPr>
          <a:xfrm>
            <a:off x="6415888" y="548640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158" name="Text 156"/>
          <p:cNvSpPr txBox="1"/>
          <p:nvPr/>
        </p:nvSpPr>
        <p:spPr>
          <a:xfrm>
            <a:off x="8041919" y="548640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159" name="cc-integration"/>
          <p:cNvSpPr/>
          <p:nvPr/>
        </p:nvSpPr>
        <p:spPr>
          <a:xfrm>
            <a:off x="9011183" y="4443984"/>
            <a:ext cx="2613584" cy="1280160"/>
          </a:xfrm>
          <a:prstGeom prst="roundRect">
            <a:avLst>
              <a:gd name="adj" fmla="val 4286"/>
            </a:avLst>
          </a:prstGeom>
          <a:solidFill>
            <a:srgbClr val="EEF2F7"/>
          </a:solidFill>
          <a:ln/>
        </p:spPr>
      </p:sp>
      <p:sp>
        <p:nvSpPr>
          <p:cNvPr id="160" name="Text 158"/>
          <p:cNvSpPr txBox="1"/>
          <p:nvPr/>
        </p:nvSpPr>
        <p:spPr>
          <a:xfrm>
            <a:off x="9230639" y="457200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Integration</a:t>
            </a:r>
            <a:endParaRPr lang="en-US" sz="1200" dirty="0"/>
          </a:p>
        </p:txBody>
      </p:sp>
      <p:sp>
        <p:nvSpPr>
          <p:cNvPr id="161" name="Text 159"/>
          <p:cNvSpPr txBox="1"/>
          <p:nvPr/>
        </p:nvSpPr>
        <p:spPr>
          <a:xfrm>
            <a:off x="10527487" y="457200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$0.4K</a:t>
            </a:r>
            <a:endParaRPr lang="en-US" sz="1300" dirty="0"/>
          </a:p>
        </p:txBody>
      </p:sp>
      <p:sp>
        <p:nvSpPr>
          <p:cNvPr id="162" name="spark-11-0"/>
          <p:cNvSpPr/>
          <p:nvPr/>
        </p:nvSpPr>
        <p:spPr>
          <a:xfrm>
            <a:off x="9230639" y="5496553"/>
            <a:ext cx="154643" cy="26423"/>
          </a:xfrm>
          <a:prstGeom prst="rect">
            <a:avLst/>
          </a:prstGeom>
          <a:solidFill>
            <a:srgbClr val="A8C0D6"/>
          </a:solidFill>
          <a:ln/>
        </p:spPr>
      </p:sp>
      <p:sp>
        <p:nvSpPr>
          <p:cNvPr id="163" name="spark-11-1"/>
          <p:cNvSpPr/>
          <p:nvPr/>
        </p:nvSpPr>
        <p:spPr>
          <a:xfrm>
            <a:off x="9472270" y="5130748"/>
            <a:ext cx="154643" cy="392228"/>
          </a:xfrm>
          <a:prstGeom prst="rect">
            <a:avLst/>
          </a:prstGeom>
          <a:solidFill>
            <a:srgbClr val="A8C0D6"/>
          </a:solidFill>
          <a:ln/>
        </p:spPr>
      </p:sp>
      <p:sp>
        <p:nvSpPr>
          <p:cNvPr id="164" name="spark-11-2"/>
          <p:cNvSpPr/>
          <p:nvPr/>
        </p:nvSpPr>
        <p:spPr>
          <a:xfrm>
            <a:off x="9713900" y="4956048"/>
            <a:ext cx="154643" cy="566928"/>
          </a:xfrm>
          <a:prstGeom prst="rect">
            <a:avLst/>
          </a:prstGeom>
          <a:solidFill>
            <a:srgbClr val="A8C0D6"/>
          </a:solidFill>
          <a:ln/>
        </p:spPr>
      </p:sp>
      <p:sp>
        <p:nvSpPr>
          <p:cNvPr id="165" name="spark-11-3"/>
          <p:cNvSpPr/>
          <p:nvPr/>
        </p:nvSpPr>
        <p:spPr>
          <a:xfrm>
            <a:off x="9955530" y="5012325"/>
            <a:ext cx="154643" cy="510651"/>
          </a:xfrm>
          <a:prstGeom prst="rect">
            <a:avLst/>
          </a:prstGeom>
          <a:solidFill>
            <a:srgbClr val="A8C0D6"/>
          </a:solidFill>
          <a:ln/>
        </p:spPr>
      </p:sp>
      <p:sp>
        <p:nvSpPr>
          <p:cNvPr id="166" name="spark-11-4"/>
          <p:cNvSpPr/>
          <p:nvPr/>
        </p:nvSpPr>
        <p:spPr>
          <a:xfrm>
            <a:off x="10197160" y="4994518"/>
            <a:ext cx="154643" cy="528458"/>
          </a:xfrm>
          <a:prstGeom prst="rect">
            <a:avLst/>
          </a:prstGeom>
          <a:solidFill>
            <a:srgbClr val="A8C0D6"/>
          </a:solidFill>
          <a:ln/>
        </p:spPr>
      </p:sp>
      <p:sp>
        <p:nvSpPr>
          <p:cNvPr id="167" name="spark-11-5"/>
          <p:cNvSpPr/>
          <p:nvPr/>
        </p:nvSpPr>
        <p:spPr>
          <a:xfrm>
            <a:off x="10438790" y="5016790"/>
            <a:ext cx="154643" cy="506186"/>
          </a:xfrm>
          <a:prstGeom prst="rect">
            <a:avLst/>
          </a:prstGeom>
          <a:solidFill>
            <a:srgbClr val="A8C0D6"/>
          </a:solidFill>
          <a:ln/>
        </p:spPr>
      </p:sp>
      <p:sp>
        <p:nvSpPr>
          <p:cNvPr id="168" name="spark-11-6"/>
          <p:cNvSpPr/>
          <p:nvPr/>
        </p:nvSpPr>
        <p:spPr>
          <a:xfrm>
            <a:off x="10680421" y="4996543"/>
            <a:ext cx="154643" cy="526433"/>
          </a:xfrm>
          <a:prstGeom prst="rect">
            <a:avLst/>
          </a:prstGeom>
          <a:solidFill>
            <a:srgbClr val="A8C0D6"/>
          </a:solidFill>
          <a:ln/>
        </p:spPr>
      </p:sp>
      <p:sp>
        <p:nvSpPr>
          <p:cNvPr id="169" name="spark-11-7"/>
          <p:cNvSpPr/>
          <p:nvPr/>
        </p:nvSpPr>
        <p:spPr>
          <a:xfrm>
            <a:off x="10922051" y="4996543"/>
            <a:ext cx="154643" cy="526433"/>
          </a:xfrm>
          <a:prstGeom prst="rect">
            <a:avLst/>
          </a:prstGeom>
          <a:solidFill>
            <a:srgbClr val="A8C0D6"/>
          </a:solidFill>
          <a:ln/>
        </p:spPr>
      </p:sp>
      <p:sp>
        <p:nvSpPr>
          <p:cNvPr id="170" name="spark-11-8"/>
          <p:cNvSpPr/>
          <p:nvPr/>
        </p:nvSpPr>
        <p:spPr>
          <a:xfrm>
            <a:off x="11163681" y="5016790"/>
            <a:ext cx="154643" cy="506186"/>
          </a:xfrm>
          <a:prstGeom prst="rect">
            <a:avLst/>
          </a:prstGeom>
          <a:solidFill>
            <a:srgbClr val="F2A900"/>
          </a:solidFill>
          <a:ln/>
        </p:spPr>
      </p:sp>
      <p:sp>
        <p:nvSpPr>
          <p:cNvPr id="171" name="Text 169"/>
          <p:cNvSpPr txBox="1"/>
          <p:nvPr/>
        </p:nvSpPr>
        <p:spPr>
          <a:xfrm>
            <a:off x="9230639" y="548640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172" name="Text 170"/>
          <p:cNvSpPr txBox="1"/>
          <p:nvPr/>
        </p:nvSpPr>
        <p:spPr>
          <a:xfrm>
            <a:off x="10856671" y="548640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173"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Each sparkline is scaled to its own maximum and September is highlighted. Totals are year to date.</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7C5CFF"/>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APPENDIX · AI FACTORY</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The AI Factory programme has consumed $246K across four projects</a:t>
            </a:r>
            <a:endParaRPr lang="en-US" sz="2800" dirty="0"/>
          </a:p>
        </p:txBody>
      </p:sp>
      <p:graphicFrame>
        <p:nvGraphicFramePr>
          <p:cNvPr id="5" name="Chart 0" descr=""/>
          <p:cNvGraphicFramePr/>
          <p:nvPr/>
        </p:nvGraphicFramePr>
        <p:xfrm>
          <a:off x="457200" y="1517904"/>
          <a:ext cx="7223760" cy="4114800"/>
        </p:xfrm>
        <a:graphic xmlns:a="http://schemas.openxmlformats.org/drawingml/2006/main">
          <a:graphicData uri="http://schemas.openxmlformats.org/drawingml/2006/chart">
            <c:chart xmlns:c="http://schemas.openxmlformats.org/drawingml/2006/chart" r:id="rId1"/>
          </a:graphicData>
        </a:graphic>
      </p:graphicFrame>
      <p:sp>
        <p:nvSpPr>
          <p:cNvPr id="6" name="panel"/>
          <p:cNvSpPr/>
          <p:nvPr/>
        </p:nvSpPr>
        <p:spPr>
          <a:xfrm>
            <a:off x="7973568" y="1517904"/>
            <a:ext cx="3648456" cy="4114800"/>
          </a:xfrm>
          <a:prstGeom prst="roundRect">
            <a:avLst>
              <a:gd name="adj" fmla="val 1504"/>
            </a:avLst>
          </a:prstGeom>
          <a:solidFill>
            <a:srgbClr val="EEF2F7"/>
          </a:solidFill>
          <a:ln/>
        </p:spPr>
      </p:sp>
      <p:sp>
        <p:nvSpPr>
          <p:cNvPr id="7" name="Text 4"/>
          <p:cNvSpPr txBox="1"/>
          <p:nvPr/>
        </p:nvSpPr>
        <p:spPr>
          <a:xfrm>
            <a:off x="8229600" y="1719072"/>
            <a:ext cx="3108960" cy="292608"/>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Year to date by project</a:t>
            </a:r>
            <a:endParaRPr lang="en-US" sz="1300" dirty="0"/>
          </a:p>
        </p:txBody>
      </p:sp>
      <p:sp>
        <p:nvSpPr>
          <p:cNvPr id="8" name="Text 5"/>
          <p:cNvSpPr txBox="1"/>
          <p:nvPr/>
        </p:nvSpPr>
        <p:spPr>
          <a:xfrm>
            <a:off x="8229600" y="2103120"/>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AI Factory core</a:t>
            </a:r>
            <a:endParaRPr lang="en-US" sz="1000" dirty="0"/>
          </a:p>
        </p:txBody>
      </p:sp>
      <p:sp>
        <p:nvSpPr>
          <p:cNvPr id="9" name="rank-bar-0"/>
          <p:cNvSpPr/>
          <p:nvPr/>
        </p:nvSpPr>
        <p:spPr>
          <a:xfrm>
            <a:off x="10003536" y="2189988"/>
            <a:ext cx="548640" cy="137160"/>
          </a:xfrm>
          <a:prstGeom prst="rect">
            <a:avLst/>
          </a:prstGeom>
          <a:solidFill>
            <a:srgbClr val="7C5CFF"/>
          </a:solidFill>
          <a:ln/>
        </p:spPr>
      </p:sp>
      <p:sp>
        <p:nvSpPr>
          <p:cNvPr id="10" name="Text 7"/>
          <p:cNvSpPr txBox="1"/>
          <p:nvPr/>
        </p:nvSpPr>
        <p:spPr>
          <a:xfrm>
            <a:off x="10643616" y="2103120"/>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$139K</a:t>
            </a:r>
            <a:endParaRPr lang="en-US" sz="1050" dirty="0"/>
          </a:p>
        </p:txBody>
      </p:sp>
      <p:sp>
        <p:nvSpPr>
          <p:cNvPr id="11" name="Text 8"/>
          <p:cNvSpPr txBox="1"/>
          <p:nvPr/>
        </p:nvSpPr>
        <p:spPr>
          <a:xfrm>
            <a:off x="8229600" y="2487168"/>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Solugen</a:t>
            </a:r>
            <a:endParaRPr lang="en-US" sz="1000" dirty="0"/>
          </a:p>
        </p:txBody>
      </p:sp>
      <p:sp>
        <p:nvSpPr>
          <p:cNvPr id="12" name="rank-bar-1"/>
          <p:cNvSpPr/>
          <p:nvPr/>
        </p:nvSpPr>
        <p:spPr>
          <a:xfrm>
            <a:off x="10003536" y="2574036"/>
            <a:ext cx="186509" cy="137160"/>
          </a:xfrm>
          <a:prstGeom prst="rect">
            <a:avLst/>
          </a:prstGeom>
          <a:solidFill>
            <a:srgbClr val="0F7DC2"/>
          </a:solidFill>
          <a:ln/>
        </p:spPr>
      </p:sp>
      <p:sp>
        <p:nvSpPr>
          <p:cNvPr id="13" name="Text 10"/>
          <p:cNvSpPr txBox="1"/>
          <p:nvPr/>
        </p:nvSpPr>
        <p:spPr>
          <a:xfrm>
            <a:off x="10643616" y="2487168"/>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$47K</a:t>
            </a:r>
            <a:endParaRPr lang="en-US" sz="1050" dirty="0"/>
          </a:p>
        </p:txBody>
      </p:sp>
      <p:sp>
        <p:nvSpPr>
          <p:cNvPr id="14" name="Text 11"/>
          <p:cNvSpPr txBox="1"/>
          <p:nvPr/>
        </p:nvSpPr>
        <p:spPr>
          <a:xfrm>
            <a:off x="8229600" y="2871216"/>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Document Intelligence (OCR)</a:t>
            </a:r>
            <a:endParaRPr lang="en-US" sz="1000" dirty="0"/>
          </a:p>
        </p:txBody>
      </p:sp>
      <p:sp>
        <p:nvSpPr>
          <p:cNvPr id="15" name="rank-bar-2"/>
          <p:cNvSpPr/>
          <p:nvPr/>
        </p:nvSpPr>
        <p:spPr>
          <a:xfrm>
            <a:off x="10003536" y="2958084"/>
            <a:ext cx="170095" cy="137160"/>
          </a:xfrm>
          <a:prstGeom prst="rect">
            <a:avLst/>
          </a:prstGeom>
          <a:solidFill>
            <a:srgbClr val="00A878"/>
          </a:solidFill>
          <a:ln/>
        </p:spPr>
      </p:sp>
      <p:sp>
        <p:nvSpPr>
          <p:cNvPr id="16" name="Text 13"/>
          <p:cNvSpPr txBox="1"/>
          <p:nvPr/>
        </p:nvSpPr>
        <p:spPr>
          <a:xfrm>
            <a:off x="10643616" y="2871216"/>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$43K</a:t>
            </a:r>
            <a:endParaRPr lang="en-US" sz="1050" dirty="0"/>
          </a:p>
        </p:txBody>
      </p:sp>
      <p:sp>
        <p:nvSpPr>
          <p:cNvPr id="17" name="Text 14"/>
          <p:cNvSpPr txBox="1"/>
          <p:nvPr/>
        </p:nvSpPr>
        <p:spPr>
          <a:xfrm>
            <a:off x="8229600" y="3255264"/>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INSAIT</a:t>
            </a:r>
            <a:endParaRPr lang="en-US" sz="1000" dirty="0"/>
          </a:p>
        </p:txBody>
      </p:sp>
      <p:sp>
        <p:nvSpPr>
          <p:cNvPr id="18" name="rank-bar-3"/>
          <p:cNvSpPr/>
          <p:nvPr/>
        </p:nvSpPr>
        <p:spPr>
          <a:xfrm>
            <a:off x="10003536" y="3342132"/>
            <a:ext cx="63883" cy="137160"/>
          </a:xfrm>
          <a:prstGeom prst="rect">
            <a:avLst/>
          </a:prstGeom>
          <a:solidFill>
            <a:srgbClr val="F2A900"/>
          </a:solidFill>
          <a:ln/>
        </p:spPr>
      </p:sp>
      <p:sp>
        <p:nvSpPr>
          <p:cNvPr id="19" name="Text 16"/>
          <p:cNvSpPr txBox="1"/>
          <p:nvPr/>
        </p:nvSpPr>
        <p:spPr>
          <a:xfrm>
            <a:off x="10643616" y="3255264"/>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$16K</a:t>
            </a:r>
            <a:endParaRPr lang="en-US" sz="1050" dirty="0"/>
          </a:p>
        </p:txBody>
      </p:sp>
      <p:sp>
        <p:nvSpPr>
          <p:cNvPr id="20" name="chip"/>
          <p:cNvSpPr/>
          <p:nvPr/>
        </p:nvSpPr>
        <p:spPr>
          <a:xfrm>
            <a:off x="8229600" y="5285232"/>
            <a:ext cx="3145536" cy="310896"/>
          </a:xfrm>
          <a:prstGeom prst="roundRect">
            <a:avLst>
              <a:gd name="adj" fmla="val 35294"/>
            </a:avLst>
          </a:prstGeom>
          <a:solidFill>
            <a:srgbClr val="F3F0FF"/>
          </a:solidFill>
          <a:ln/>
        </p:spPr>
      </p:sp>
      <p:sp>
        <p:nvSpPr>
          <p:cNvPr id="21" name="Text 18"/>
          <p:cNvSpPr txBox="1"/>
          <p:nvPr/>
        </p:nvSpPr>
        <p:spPr>
          <a:xfrm>
            <a:off x="8229600" y="5285232"/>
            <a:ext cx="3145536" cy="310896"/>
          </a:xfrm>
          <a:prstGeom prst="rect">
            <a:avLst/>
          </a:prstGeom>
          <a:noFill/>
          <a:ln/>
        </p:spPr>
        <p:txBody>
          <a:bodyPr wrap="square" lIns="0" tIns="0" rIns="0" bIns="0" rtlCol="0" anchor="ctr"/>
          <a:lstStyle/>
          <a:p>
            <a:pPr algn="ctr" indent="0" marL="0">
              <a:buNone/>
            </a:pPr>
            <a:r>
              <a:rPr lang="en-US" sz="1050" b="1" dirty="0">
                <a:solidFill>
                  <a:srgbClr val="4A33B5"/>
                </a:solidFill>
                <a:latin typeface="Arial" pitchFamily="34" charset="0"/>
                <a:ea typeface="Arial" pitchFamily="34" charset="-122"/>
                <a:cs typeface="Arial" pitchFamily="34" charset="-120"/>
              </a:rPr>
              <a:t>Programme total $246K year to date</a:t>
            </a:r>
            <a:endParaRPr lang="en-US" sz="1050" dirty="0"/>
          </a:p>
        </p:txBody>
      </p:sp>
      <p:sp>
        <p:nvSpPr>
          <p:cNvPr id="22"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AI Factory spend spans several Azure cost centres. The project view is the planning unit; the cost centre is the billing unit.</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7C5CFF"/>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APPENDIX · AMAZON BEDROCK</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Bedrock reached $41K in September as newer models took over</a:t>
            </a:r>
            <a:endParaRPr lang="en-US" sz="2800" dirty="0"/>
          </a:p>
        </p:txBody>
      </p:sp>
      <p:graphicFrame>
        <p:nvGraphicFramePr>
          <p:cNvPr id="5" name="Chart 0" descr=""/>
          <p:cNvGraphicFramePr/>
          <p:nvPr/>
        </p:nvGraphicFramePr>
        <p:xfrm>
          <a:off x="457200" y="1517904"/>
          <a:ext cx="7223760" cy="4114800"/>
        </p:xfrm>
        <a:graphic xmlns:a="http://schemas.openxmlformats.org/drawingml/2006/main">
          <a:graphicData uri="http://schemas.openxmlformats.org/drawingml/2006/chart">
            <c:chart xmlns:c="http://schemas.openxmlformats.org/drawingml/2006/chart" r:id="rId1"/>
          </a:graphicData>
        </a:graphic>
      </p:graphicFrame>
      <p:sp>
        <p:nvSpPr>
          <p:cNvPr id="6" name="panel"/>
          <p:cNvSpPr/>
          <p:nvPr/>
        </p:nvSpPr>
        <p:spPr>
          <a:xfrm>
            <a:off x="7973568" y="1517904"/>
            <a:ext cx="3648456" cy="4114800"/>
          </a:xfrm>
          <a:prstGeom prst="roundRect">
            <a:avLst>
              <a:gd name="adj" fmla="val 1504"/>
            </a:avLst>
          </a:prstGeom>
          <a:solidFill>
            <a:srgbClr val="EEF2F7"/>
          </a:solidFill>
          <a:ln/>
        </p:spPr>
      </p:sp>
      <p:sp>
        <p:nvSpPr>
          <p:cNvPr id="7" name="Text 4"/>
          <p:cNvSpPr txBox="1"/>
          <p:nvPr/>
        </p:nvSpPr>
        <p:spPr>
          <a:xfrm>
            <a:off x="8229600" y="1719072"/>
            <a:ext cx="3108960" cy="292608"/>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Year to date by model</a:t>
            </a:r>
            <a:endParaRPr lang="en-US" sz="1300" dirty="0"/>
          </a:p>
        </p:txBody>
      </p:sp>
      <p:sp>
        <p:nvSpPr>
          <p:cNvPr id="8" name="Text 5"/>
          <p:cNvSpPr txBox="1"/>
          <p:nvPr/>
        </p:nvSpPr>
        <p:spPr>
          <a:xfrm>
            <a:off x="8229600" y="2103120"/>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Opus 4.8</a:t>
            </a:r>
            <a:endParaRPr lang="en-US" sz="1000" dirty="0"/>
          </a:p>
        </p:txBody>
      </p:sp>
      <p:sp>
        <p:nvSpPr>
          <p:cNvPr id="9" name="rank-bar-0"/>
          <p:cNvSpPr/>
          <p:nvPr/>
        </p:nvSpPr>
        <p:spPr>
          <a:xfrm>
            <a:off x="10003536" y="2189988"/>
            <a:ext cx="548640" cy="137160"/>
          </a:xfrm>
          <a:prstGeom prst="rect">
            <a:avLst/>
          </a:prstGeom>
          <a:solidFill>
            <a:srgbClr val="7C5CFF"/>
          </a:solidFill>
          <a:ln/>
        </p:spPr>
      </p:sp>
      <p:sp>
        <p:nvSpPr>
          <p:cNvPr id="10" name="Text 7"/>
          <p:cNvSpPr txBox="1"/>
          <p:nvPr/>
        </p:nvSpPr>
        <p:spPr>
          <a:xfrm>
            <a:off x="10643616" y="2103120"/>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$36K</a:t>
            </a:r>
            <a:endParaRPr lang="en-US" sz="1050" dirty="0"/>
          </a:p>
        </p:txBody>
      </p:sp>
      <p:sp>
        <p:nvSpPr>
          <p:cNvPr id="11" name="Text 8"/>
          <p:cNvSpPr txBox="1"/>
          <p:nvPr/>
        </p:nvSpPr>
        <p:spPr>
          <a:xfrm>
            <a:off x="8229600" y="2487168"/>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Opus 4.6</a:t>
            </a:r>
            <a:endParaRPr lang="en-US" sz="1000" dirty="0"/>
          </a:p>
        </p:txBody>
      </p:sp>
      <p:sp>
        <p:nvSpPr>
          <p:cNvPr id="12" name="rank-bar-1"/>
          <p:cNvSpPr/>
          <p:nvPr/>
        </p:nvSpPr>
        <p:spPr>
          <a:xfrm>
            <a:off x="10003536" y="2574036"/>
            <a:ext cx="475933" cy="137160"/>
          </a:xfrm>
          <a:prstGeom prst="rect">
            <a:avLst/>
          </a:prstGeom>
          <a:solidFill>
            <a:srgbClr val="7C5CFF"/>
          </a:solidFill>
          <a:ln/>
        </p:spPr>
      </p:sp>
      <p:sp>
        <p:nvSpPr>
          <p:cNvPr id="13" name="Text 10"/>
          <p:cNvSpPr txBox="1"/>
          <p:nvPr/>
        </p:nvSpPr>
        <p:spPr>
          <a:xfrm>
            <a:off x="10643616" y="2487168"/>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$31K</a:t>
            </a:r>
            <a:endParaRPr lang="en-US" sz="1050" dirty="0"/>
          </a:p>
        </p:txBody>
      </p:sp>
      <p:sp>
        <p:nvSpPr>
          <p:cNvPr id="14" name="Text 11"/>
          <p:cNvSpPr txBox="1"/>
          <p:nvPr/>
        </p:nvSpPr>
        <p:spPr>
          <a:xfrm>
            <a:off x="8229600" y="2871216"/>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Opus 5</a:t>
            </a:r>
            <a:endParaRPr lang="en-US" sz="1000" dirty="0"/>
          </a:p>
        </p:txBody>
      </p:sp>
      <p:sp>
        <p:nvSpPr>
          <p:cNvPr id="15" name="rank-bar-2"/>
          <p:cNvSpPr/>
          <p:nvPr/>
        </p:nvSpPr>
        <p:spPr>
          <a:xfrm>
            <a:off x="10003536" y="2958084"/>
            <a:ext cx="363601" cy="137160"/>
          </a:xfrm>
          <a:prstGeom prst="rect">
            <a:avLst/>
          </a:prstGeom>
          <a:solidFill>
            <a:srgbClr val="7C5CFF"/>
          </a:solidFill>
          <a:ln/>
        </p:spPr>
      </p:sp>
      <p:sp>
        <p:nvSpPr>
          <p:cNvPr id="16" name="Text 13"/>
          <p:cNvSpPr txBox="1"/>
          <p:nvPr/>
        </p:nvSpPr>
        <p:spPr>
          <a:xfrm>
            <a:off x="10643616" y="2871216"/>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$24K</a:t>
            </a:r>
            <a:endParaRPr lang="en-US" sz="1050" dirty="0"/>
          </a:p>
        </p:txBody>
      </p:sp>
      <p:sp>
        <p:nvSpPr>
          <p:cNvPr id="17" name="Text 14"/>
          <p:cNvSpPr txBox="1"/>
          <p:nvPr/>
        </p:nvSpPr>
        <p:spPr>
          <a:xfrm>
            <a:off x="8229600" y="3255264"/>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Sonnet 4.6</a:t>
            </a:r>
            <a:endParaRPr lang="en-US" sz="1000" dirty="0"/>
          </a:p>
        </p:txBody>
      </p:sp>
      <p:sp>
        <p:nvSpPr>
          <p:cNvPr id="18" name="rank-bar-3"/>
          <p:cNvSpPr/>
          <p:nvPr/>
        </p:nvSpPr>
        <p:spPr>
          <a:xfrm>
            <a:off x="10003536" y="3342132"/>
            <a:ext cx="350810" cy="137160"/>
          </a:xfrm>
          <a:prstGeom prst="rect">
            <a:avLst/>
          </a:prstGeom>
          <a:solidFill>
            <a:srgbClr val="7C5CFF"/>
          </a:solidFill>
          <a:ln/>
        </p:spPr>
      </p:sp>
      <p:sp>
        <p:nvSpPr>
          <p:cNvPr id="19" name="Text 16"/>
          <p:cNvSpPr txBox="1"/>
          <p:nvPr/>
        </p:nvSpPr>
        <p:spPr>
          <a:xfrm>
            <a:off x="10643616" y="3255264"/>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$23K</a:t>
            </a:r>
            <a:endParaRPr lang="en-US" sz="1050" dirty="0"/>
          </a:p>
        </p:txBody>
      </p:sp>
      <p:sp>
        <p:nvSpPr>
          <p:cNvPr id="20" name="Text 17"/>
          <p:cNvSpPr txBox="1"/>
          <p:nvPr/>
        </p:nvSpPr>
        <p:spPr>
          <a:xfrm>
            <a:off x="8229600" y="3639312"/>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Opus 4.7</a:t>
            </a:r>
            <a:endParaRPr lang="en-US" sz="1000" dirty="0"/>
          </a:p>
        </p:txBody>
      </p:sp>
      <p:sp>
        <p:nvSpPr>
          <p:cNvPr id="21" name="rank-bar-4"/>
          <p:cNvSpPr/>
          <p:nvPr/>
        </p:nvSpPr>
        <p:spPr>
          <a:xfrm>
            <a:off x="10003536" y="3726180"/>
            <a:ext cx="111239" cy="137160"/>
          </a:xfrm>
          <a:prstGeom prst="rect">
            <a:avLst/>
          </a:prstGeom>
          <a:solidFill>
            <a:srgbClr val="7C5CFF"/>
          </a:solidFill>
          <a:ln/>
        </p:spPr>
      </p:sp>
      <p:sp>
        <p:nvSpPr>
          <p:cNvPr id="22" name="Text 19"/>
          <p:cNvSpPr txBox="1"/>
          <p:nvPr/>
        </p:nvSpPr>
        <p:spPr>
          <a:xfrm>
            <a:off x="10643616" y="3639312"/>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$7K</a:t>
            </a:r>
            <a:endParaRPr lang="en-US" sz="1050" dirty="0"/>
          </a:p>
        </p:txBody>
      </p:sp>
      <p:sp>
        <p:nvSpPr>
          <p:cNvPr id="23" name="Text 20"/>
          <p:cNvSpPr txBox="1"/>
          <p:nvPr/>
        </p:nvSpPr>
        <p:spPr>
          <a:xfrm>
            <a:off x="8229600" y="4023360"/>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Sonnet 5</a:t>
            </a:r>
            <a:endParaRPr lang="en-US" sz="1000" dirty="0"/>
          </a:p>
        </p:txBody>
      </p:sp>
      <p:sp>
        <p:nvSpPr>
          <p:cNvPr id="24" name="rank-bar-5"/>
          <p:cNvSpPr/>
          <p:nvPr/>
        </p:nvSpPr>
        <p:spPr>
          <a:xfrm>
            <a:off x="10003536" y="4110228"/>
            <a:ext cx="41060" cy="137160"/>
          </a:xfrm>
          <a:prstGeom prst="rect">
            <a:avLst/>
          </a:prstGeom>
          <a:solidFill>
            <a:srgbClr val="7C5CFF"/>
          </a:solidFill>
          <a:ln/>
        </p:spPr>
      </p:sp>
      <p:sp>
        <p:nvSpPr>
          <p:cNvPr id="25" name="Text 22"/>
          <p:cNvSpPr txBox="1"/>
          <p:nvPr/>
        </p:nvSpPr>
        <p:spPr>
          <a:xfrm>
            <a:off x="10643616" y="4023360"/>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$3K</a:t>
            </a:r>
            <a:endParaRPr lang="en-US" sz="1050" dirty="0"/>
          </a:p>
        </p:txBody>
      </p:sp>
      <p:sp>
        <p:nvSpPr>
          <p:cNvPr id="26" name="Text 23"/>
          <p:cNvSpPr txBox="1"/>
          <p:nvPr/>
        </p:nvSpPr>
        <p:spPr>
          <a:xfrm>
            <a:off x="8229600" y="4407408"/>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Amazon Bedrock Edition</a:t>
            </a:r>
            <a:endParaRPr lang="en-US" sz="1000" dirty="0"/>
          </a:p>
        </p:txBody>
      </p:sp>
      <p:sp>
        <p:nvSpPr>
          <p:cNvPr id="27" name="rank-bar-6"/>
          <p:cNvSpPr/>
          <p:nvPr/>
        </p:nvSpPr>
        <p:spPr>
          <a:xfrm>
            <a:off x="10003536" y="4494276"/>
            <a:ext cx="37197" cy="137160"/>
          </a:xfrm>
          <a:prstGeom prst="rect">
            <a:avLst/>
          </a:prstGeom>
          <a:solidFill>
            <a:srgbClr val="7C5CFF"/>
          </a:solidFill>
          <a:ln/>
        </p:spPr>
      </p:sp>
      <p:sp>
        <p:nvSpPr>
          <p:cNvPr id="28" name="Text 25"/>
          <p:cNvSpPr txBox="1"/>
          <p:nvPr/>
        </p:nvSpPr>
        <p:spPr>
          <a:xfrm>
            <a:off x="10643616" y="4407408"/>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$2K</a:t>
            </a:r>
            <a:endParaRPr lang="en-US" sz="1050" dirty="0"/>
          </a:p>
        </p:txBody>
      </p:sp>
      <p:sp>
        <p:nvSpPr>
          <p:cNvPr id="29" name="Text 26"/>
          <p:cNvSpPr txBox="1"/>
          <p:nvPr/>
        </p:nvSpPr>
        <p:spPr>
          <a:xfrm>
            <a:off x="8229600" y="4791456"/>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Haiku 4.5</a:t>
            </a:r>
            <a:endParaRPr lang="en-US" sz="1000" dirty="0"/>
          </a:p>
        </p:txBody>
      </p:sp>
      <p:sp>
        <p:nvSpPr>
          <p:cNvPr id="30" name="rank-bar-7"/>
          <p:cNvSpPr/>
          <p:nvPr/>
        </p:nvSpPr>
        <p:spPr>
          <a:xfrm>
            <a:off x="10003536" y="4878324"/>
            <a:ext cx="27432" cy="137160"/>
          </a:xfrm>
          <a:prstGeom prst="rect">
            <a:avLst/>
          </a:prstGeom>
          <a:solidFill>
            <a:srgbClr val="7C5CFF"/>
          </a:solidFill>
          <a:ln/>
        </p:spPr>
      </p:sp>
      <p:sp>
        <p:nvSpPr>
          <p:cNvPr id="31" name="Text 28"/>
          <p:cNvSpPr txBox="1"/>
          <p:nvPr/>
        </p:nvSpPr>
        <p:spPr>
          <a:xfrm>
            <a:off x="10643616" y="4791456"/>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$1K</a:t>
            </a:r>
            <a:endParaRPr lang="en-US" sz="1050" dirty="0"/>
          </a:p>
        </p:txBody>
      </p:sp>
      <p:sp>
        <p:nvSpPr>
          <p:cNvPr id="32" name="chip"/>
          <p:cNvSpPr/>
          <p:nvPr/>
        </p:nvSpPr>
        <p:spPr>
          <a:xfrm>
            <a:off x="8229600" y="5285232"/>
            <a:ext cx="3145536" cy="310896"/>
          </a:xfrm>
          <a:prstGeom prst="roundRect">
            <a:avLst>
              <a:gd name="adj" fmla="val 35294"/>
            </a:avLst>
          </a:prstGeom>
          <a:solidFill>
            <a:srgbClr val="F3F0FF"/>
          </a:solidFill>
          <a:ln/>
        </p:spPr>
      </p:sp>
      <p:sp>
        <p:nvSpPr>
          <p:cNvPr id="33" name="Text 30"/>
          <p:cNvSpPr txBox="1"/>
          <p:nvPr/>
        </p:nvSpPr>
        <p:spPr>
          <a:xfrm>
            <a:off x="8229600" y="5285232"/>
            <a:ext cx="3145536" cy="310896"/>
          </a:xfrm>
          <a:prstGeom prst="rect">
            <a:avLst/>
          </a:prstGeom>
          <a:noFill/>
          <a:ln/>
        </p:spPr>
        <p:txBody>
          <a:bodyPr wrap="square" lIns="0" tIns="0" rIns="0" bIns="0" rtlCol="0" anchor="ctr"/>
          <a:lstStyle/>
          <a:p>
            <a:pPr algn="ctr" indent="0" marL="0">
              <a:buNone/>
            </a:pPr>
            <a:r>
              <a:rPr lang="en-US" sz="1050" b="1" dirty="0">
                <a:solidFill>
                  <a:srgbClr val="4A33B5"/>
                </a:solidFill>
                <a:latin typeface="Arial" pitchFamily="34" charset="0"/>
                <a:ea typeface="Arial" pitchFamily="34" charset="-122"/>
                <a:cs typeface="Arial" pitchFamily="34" charset="-120"/>
              </a:rPr>
              <a:t>Opus 5 and Sonnet 4.6 are 65% of September</a:t>
            </a:r>
            <a:endParaRPr lang="en-US" sz="1050" dirty="0"/>
          </a:p>
        </p:txBody>
      </p:sp>
      <p:sp>
        <p:nvSpPr>
          <p:cNvPr id="34"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Billed through AWS Marketplace. The shift to Opus 5 and Sonnet 4.6 is a routing decision as much as a cost one.</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7C5CFF"/>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APPENDIX · AI FOUNDRY</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Foundry models and tools: $120K across 37 SKUs</a:t>
            </a:r>
            <a:endParaRPr lang="en-US" sz="2800" dirty="0"/>
          </a:p>
        </p:txBody>
      </p:sp>
      <p:graphicFrame>
        <p:nvGraphicFramePr>
          <p:cNvPr id="5" name="Chart 0" descr=""/>
          <p:cNvGraphicFramePr/>
          <p:nvPr/>
        </p:nvGraphicFramePr>
        <p:xfrm>
          <a:off x="457200" y="1517904"/>
          <a:ext cx="7223760" cy="4114800"/>
        </p:xfrm>
        <a:graphic xmlns:a="http://schemas.openxmlformats.org/drawingml/2006/main">
          <a:graphicData uri="http://schemas.openxmlformats.org/drawingml/2006/chart">
            <c:chart xmlns:c="http://schemas.openxmlformats.org/drawingml/2006/chart" r:id="rId1"/>
          </a:graphicData>
        </a:graphic>
      </p:graphicFrame>
      <p:sp>
        <p:nvSpPr>
          <p:cNvPr id="6" name="panel"/>
          <p:cNvSpPr/>
          <p:nvPr/>
        </p:nvSpPr>
        <p:spPr>
          <a:xfrm>
            <a:off x="7973568" y="1517904"/>
            <a:ext cx="3648456" cy="4114800"/>
          </a:xfrm>
          <a:prstGeom prst="roundRect">
            <a:avLst>
              <a:gd name="adj" fmla="val 1504"/>
            </a:avLst>
          </a:prstGeom>
          <a:solidFill>
            <a:srgbClr val="EEF2F7"/>
          </a:solidFill>
          <a:ln/>
        </p:spPr>
      </p:sp>
      <p:sp>
        <p:nvSpPr>
          <p:cNvPr id="7" name="Text 4"/>
          <p:cNvSpPr txBox="1"/>
          <p:nvPr/>
        </p:nvSpPr>
        <p:spPr>
          <a:xfrm>
            <a:off x="8229600" y="1719072"/>
            <a:ext cx="3108960" cy="292608"/>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Largest SKUs, year to date</a:t>
            </a:r>
            <a:endParaRPr lang="en-US" sz="1300" dirty="0"/>
          </a:p>
        </p:txBody>
      </p:sp>
      <p:sp>
        <p:nvSpPr>
          <p:cNvPr id="8" name="Text 5"/>
          <p:cNvSpPr txBox="1"/>
          <p:nvPr/>
        </p:nvSpPr>
        <p:spPr>
          <a:xfrm>
            <a:off x="8229600" y="2103120"/>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S0 Custom Pages</a:t>
            </a:r>
            <a:endParaRPr lang="en-US" sz="1000" dirty="0"/>
          </a:p>
        </p:txBody>
      </p:sp>
      <p:sp>
        <p:nvSpPr>
          <p:cNvPr id="9" name="rank-bar-0"/>
          <p:cNvSpPr/>
          <p:nvPr/>
        </p:nvSpPr>
        <p:spPr>
          <a:xfrm>
            <a:off x="10003536" y="2189988"/>
            <a:ext cx="548640" cy="137160"/>
          </a:xfrm>
          <a:prstGeom prst="rect">
            <a:avLst/>
          </a:prstGeom>
          <a:solidFill>
            <a:srgbClr val="7C5CFF"/>
          </a:solidFill>
          <a:ln/>
        </p:spPr>
      </p:sp>
      <p:sp>
        <p:nvSpPr>
          <p:cNvPr id="10" name="Text 7"/>
          <p:cNvSpPr txBox="1"/>
          <p:nvPr/>
        </p:nvSpPr>
        <p:spPr>
          <a:xfrm>
            <a:off x="10643616" y="2103120"/>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$22K</a:t>
            </a:r>
            <a:endParaRPr lang="en-US" sz="1050" dirty="0"/>
          </a:p>
        </p:txBody>
      </p:sp>
      <p:sp>
        <p:nvSpPr>
          <p:cNvPr id="11" name="Text 8"/>
          <p:cNvSpPr txBox="1"/>
          <p:nvPr/>
        </p:nvSpPr>
        <p:spPr>
          <a:xfrm>
            <a:off x="8229600" y="2487168"/>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5.4 opt</a:t>
            </a:r>
            <a:endParaRPr lang="en-US" sz="1000" dirty="0"/>
          </a:p>
        </p:txBody>
      </p:sp>
      <p:sp>
        <p:nvSpPr>
          <p:cNvPr id="12" name="rank-bar-1"/>
          <p:cNvSpPr/>
          <p:nvPr/>
        </p:nvSpPr>
        <p:spPr>
          <a:xfrm>
            <a:off x="10003536" y="2574036"/>
            <a:ext cx="475028" cy="137160"/>
          </a:xfrm>
          <a:prstGeom prst="rect">
            <a:avLst/>
          </a:prstGeom>
          <a:solidFill>
            <a:srgbClr val="7C5CFF"/>
          </a:solidFill>
          <a:ln/>
        </p:spPr>
      </p:sp>
      <p:sp>
        <p:nvSpPr>
          <p:cNvPr id="13" name="Text 10"/>
          <p:cNvSpPr txBox="1"/>
          <p:nvPr/>
        </p:nvSpPr>
        <p:spPr>
          <a:xfrm>
            <a:off x="10643616" y="2487168"/>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$19K</a:t>
            </a:r>
            <a:endParaRPr lang="en-US" sz="1050" dirty="0"/>
          </a:p>
        </p:txBody>
      </p:sp>
      <p:sp>
        <p:nvSpPr>
          <p:cNvPr id="14" name="Text 11"/>
          <p:cNvSpPr txBox="1"/>
          <p:nvPr/>
        </p:nvSpPr>
        <p:spPr>
          <a:xfrm>
            <a:off x="8229600" y="2871216"/>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5.4 inp</a:t>
            </a:r>
            <a:endParaRPr lang="en-US" sz="1000" dirty="0"/>
          </a:p>
        </p:txBody>
      </p:sp>
      <p:sp>
        <p:nvSpPr>
          <p:cNvPr id="15" name="rank-bar-2"/>
          <p:cNvSpPr/>
          <p:nvPr/>
        </p:nvSpPr>
        <p:spPr>
          <a:xfrm>
            <a:off x="10003536" y="2958084"/>
            <a:ext cx="449274" cy="137160"/>
          </a:xfrm>
          <a:prstGeom prst="rect">
            <a:avLst/>
          </a:prstGeom>
          <a:solidFill>
            <a:srgbClr val="7C5CFF"/>
          </a:solidFill>
          <a:ln/>
        </p:spPr>
      </p:sp>
      <p:sp>
        <p:nvSpPr>
          <p:cNvPr id="16" name="Text 13"/>
          <p:cNvSpPr txBox="1"/>
          <p:nvPr/>
        </p:nvSpPr>
        <p:spPr>
          <a:xfrm>
            <a:off x="10643616" y="2871216"/>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$18K</a:t>
            </a:r>
            <a:endParaRPr lang="en-US" sz="1050" dirty="0"/>
          </a:p>
        </p:txBody>
      </p:sp>
      <p:sp>
        <p:nvSpPr>
          <p:cNvPr id="17" name="Text 14"/>
          <p:cNvSpPr txBox="1"/>
          <p:nvPr/>
        </p:nvSpPr>
        <p:spPr>
          <a:xfrm>
            <a:off x="8229600" y="3255264"/>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S0 Pre-built Pages</a:t>
            </a:r>
            <a:endParaRPr lang="en-US" sz="1000" dirty="0"/>
          </a:p>
        </p:txBody>
      </p:sp>
      <p:sp>
        <p:nvSpPr>
          <p:cNvPr id="18" name="rank-bar-3"/>
          <p:cNvSpPr/>
          <p:nvPr/>
        </p:nvSpPr>
        <p:spPr>
          <a:xfrm>
            <a:off x="10003536" y="3342132"/>
            <a:ext cx="363287" cy="137160"/>
          </a:xfrm>
          <a:prstGeom prst="rect">
            <a:avLst/>
          </a:prstGeom>
          <a:solidFill>
            <a:srgbClr val="7C5CFF"/>
          </a:solidFill>
          <a:ln/>
        </p:spPr>
      </p:sp>
      <p:sp>
        <p:nvSpPr>
          <p:cNvPr id="19" name="Text 16"/>
          <p:cNvSpPr txBox="1"/>
          <p:nvPr/>
        </p:nvSpPr>
        <p:spPr>
          <a:xfrm>
            <a:off x="10643616" y="3255264"/>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$15K</a:t>
            </a:r>
            <a:endParaRPr lang="en-US" sz="1050" dirty="0"/>
          </a:p>
        </p:txBody>
      </p:sp>
      <p:sp>
        <p:nvSpPr>
          <p:cNvPr id="20" name="Text 17"/>
          <p:cNvSpPr txBox="1"/>
          <p:nvPr/>
        </p:nvSpPr>
        <p:spPr>
          <a:xfrm>
            <a:off x="8229600" y="3639312"/>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gpt 4o 0513</a:t>
            </a:r>
            <a:endParaRPr lang="en-US" sz="1000" dirty="0"/>
          </a:p>
        </p:txBody>
      </p:sp>
      <p:sp>
        <p:nvSpPr>
          <p:cNvPr id="21" name="rank-bar-4"/>
          <p:cNvSpPr/>
          <p:nvPr/>
        </p:nvSpPr>
        <p:spPr>
          <a:xfrm>
            <a:off x="10003536" y="3726180"/>
            <a:ext cx="211480" cy="137160"/>
          </a:xfrm>
          <a:prstGeom prst="rect">
            <a:avLst/>
          </a:prstGeom>
          <a:solidFill>
            <a:srgbClr val="7C5CFF"/>
          </a:solidFill>
          <a:ln/>
        </p:spPr>
      </p:sp>
      <p:sp>
        <p:nvSpPr>
          <p:cNvPr id="22" name="Text 19"/>
          <p:cNvSpPr txBox="1"/>
          <p:nvPr/>
        </p:nvSpPr>
        <p:spPr>
          <a:xfrm>
            <a:off x="10643616" y="3639312"/>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$8K</a:t>
            </a:r>
            <a:endParaRPr lang="en-US" sz="1050" dirty="0"/>
          </a:p>
        </p:txBody>
      </p:sp>
      <p:sp>
        <p:nvSpPr>
          <p:cNvPr id="23" name="Text 20"/>
          <p:cNvSpPr txBox="1"/>
          <p:nvPr/>
        </p:nvSpPr>
        <p:spPr>
          <a:xfrm>
            <a:off x="8229600" y="4023360"/>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gpt 4o 1120</a:t>
            </a:r>
            <a:endParaRPr lang="en-US" sz="1000" dirty="0"/>
          </a:p>
        </p:txBody>
      </p:sp>
      <p:sp>
        <p:nvSpPr>
          <p:cNvPr id="24" name="rank-bar-5"/>
          <p:cNvSpPr/>
          <p:nvPr/>
        </p:nvSpPr>
        <p:spPr>
          <a:xfrm>
            <a:off x="10003536" y="4110228"/>
            <a:ext cx="179514" cy="137160"/>
          </a:xfrm>
          <a:prstGeom prst="rect">
            <a:avLst/>
          </a:prstGeom>
          <a:solidFill>
            <a:srgbClr val="7C5CFF"/>
          </a:solidFill>
          <a:ln/>
        </p:spPr>
      </p:sp>
      <p:sp>
        <p:nvSpPr>
          <p:cNvPr id="25" name="Text 22"/>
          <p:cNvSpPr txBox="1"/>
          <p:nvPr/>
        </p:nvSpPr>
        <p:spPr>
          <a:xfrm>
            <a:off x="10643616" y="4023360"/>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$7K</a:t>
            </a:r>
            <a:endParaRPr lang="en-US" sz="1050" dirty="0"/>
          </a:p>
        </p:txBody>
      </p:sp>
      <p:sp>
        <p:nvSpPr>
          <p:cNvPr id="26" name="Text 23"/>
          <p:cNvSpPr txBox="1"/>
          <p:nvPr/>
        </p:nvSpPr>
        <p:spPr>
          <a:xfrm>
            <a:off x="8229600" y="4407408"/>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GPT 5</a:t>
            </a:r>
            <a:endParaRPr lang="en-US" sz="1000" dirty="0"/>
          </a:p>
        </p:txBody>
      </p:sp>
      <p:sp>
        <p:nvSpPr>
          <p:cNvPr id="27" name="rank-bar-6"/>
          <p:cNvSpPr/>
          <p:nvPr/>
        </p:nvSpPr>
        <p:spPr>
          <a:xfrm>
            <a:off x="10003536" y="4494276"/>
            <a:ext cx="169986" cy="137160"/>
          </a:xfrm>
          <a:prstGeom prst="rect">
            <a:avLst/>
          </a:prstGeom>
          <a:solidFill>
            <a:srgbClr val="7C5CFF"/>
          </a:solidFill>
          <a:ln/>
        </p:spPr>
      </p:sp>
      <p:sp>
        <p:nvSpPr>
          <p:cNvPr id="28" name="Text 25"/>
          <p:cNvSpPr txBox="1"/>
          <p:nvPr/>
        </p:nvSpPr>
        <p:spPr>
          <a:xfrm>
            <a:off x="10643616" y="4407408"/>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$7K</a:t>
            </a:r>
            <a:endParaRPr lang="en-US" sz="1050" dirty="0"/>
          </a:p>
        </p:txBody>
      </p:sp>
      <p:sp>
        <p:nvSpPr>
          <p:cNvPr id="29" name="Text 26"/>
          <p:cNvSpPr txBox="1"/>
          <p:nvPr/>
        </p:nvSpPr>
        <p:spPr>
          <a:xfrm>
            <a:off x="8229600" y="4791456"/>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GPT 5.1</a:t>
            </a:r>
            <a:endParaRPr lang="en-US" sz="1000" dirty="0"/>
          </a:p>
        </p:txBody>
      </p:sp>
      <p:sp>
        <p:nvSpPr>
          <p:cNvPr id="30" name="rank-bar-7"/>
          <p:cNvSpPr/>
          <p:nvPr/>
        </p:nvSpPr>
        <p:spPr>
          <a:xfrm>
            <a:off x="10003536" y="4878324"/>
            <a:ext cx="119260" cy="137160"/>
          </a:xfrm>
          <a:prstGeom prst="rect">
            <a:avLst/>
          </a:prstGeom>
          <a:solidFill>
            <a:srgbClr val="7C5CFF"/>
          </a:solidFill>
          <a:ln/>
        </p:spPr>
      </p:sp>
      <p:sp>
        <p:nvSpPr>
          <p:cNvPr id="31" name="Text 28"/>
          <p:cNvSpPr txBox="1"/>
          <p:nvPr/>
        </p:nvSpPr>
        <p:spPr>
          <a:xfrm>
            <a:off x="10643616" y="4791456"/>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$5K</a:t>
            </a:r>
            <a:endParaRPr lang="en-US" sz="1050" dirty="0"/>
          </a:p>
        </p:txBody>
      </p:sp>
      <p:sp>
        <p:nvSpPr>
          <p:cNvPr id="32"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Document-intelligence page SKUs (S0 Custom, Pre-built and Add-on) and the 5.4 model family account for most of the spend.</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0A878"/>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APPENDIX · GOOGLE CLOUD</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GCP is a $14K pilot and almost entirely AI</a:t>
            </a:r>
            <a:endParaRPr lang="en-US" sz="2800" dirty="0"/>
          </a:p>
        </p:txBody>
      </p:sp>
      <p:graphicFrame>
        <p:nvGraphicFramePr>
          <p:cNvPr id="5" name="Chart 0" descr=""/>
          <p:cNvGraphicFramePr/>
          <p:nvPr/>
        </p:nvGraphicFramePr>
        <p:xfrm>
          <a:off x="457200" y="1517904"/>
          <a:ext cx="7223760" cy="4114800"/>
        </p:xfrm>
        <a:graphic xmlns:a="http://schemas.openxmlformats.org/drawingml/2006/main">
          <a:graphicData uri="http://schemas.openxmlformats.org/drawingml/2006/chart">
            <c:chart xmlns:c="http://schemas.openxmlformats.org/drawingml/2006/chart" r:id="rId1"/>
          </a:graphicData>
        </a:graphic>
      </p:graphicFrame>
      <p:pic>
        <p:nvPicPr>
          <p:cNvPr id="6" name="Image 0" descr="Google Cloud logo">    </p:cNvPr>
          <p:cNvPicPr>
            <a:picLocks noChangeAspect="1"/>
          </p:cNvPicPr>
          <p:nvPr/>
        </p:nvPicPr>
        <p:blipFill>
          <a:blip r:embed="rId2"/>
          <a:stretch>
            <a:fillRect/>
          </a:stretch>
        </p:blipFill>
        <p:spPr>
          <a:xfrm>
            <a:off x="10424160" y="1627632"/>
            <a:ext cx="896112" cy="841248"/>
          </a:xfrm>
          <a:prstGeom prst="rect">
            <a:avLst/>
          </a:prstGeom>
        </p:spPr>
      </p:pic>
      <p:sp>
        <p:nvSpPr>
          <p:cNvPr id="7" name="stat-card-GCP YTD"/>
          <p:cNvSpPr/>
          <p:nvPr/>
        </p:nvSpPr>
        <p:spPr>
          <a:xfrm>
            <a:off x="7973568" y="2615184"/>
            <a:ext cx="3648456" cy="1417320"/>
          </a:xfrm>
          <a:prstGeom prst="roundRect">
            <a:avLst>
              <a:gd name="adj" fmla="val 3871"/>
            </a:avLst>
          </a:prstGeom>
          <a:solidFill>
            <a:srgbClr val="EEF2F7"/>
          </a:solidFill>
          <a:ln/>
        </p:spPr>
      </p:sp>
      <p:sp>
        <p:nvSpPr>
          <p:cNvPr id="8" name="stat-dot"/>
          <p:cNvSpPr/>
          <p:nvPr/>
        </p:nvSpPr>
        <p:spPr>
          <a:xfrm>
            <a:off x="8211312" y="2889504"/>
            <a:ext cx="91440" cy="91440"/>
          </a:xfrm>
          <a:prstGeom prst="ellipse">
            <a:avLst/>
          </a:prstGeom>
          <a:solidFill>
            <a:srgbClr val="00A878"/>
          </a:solidFill>
          <a:ln/>
        </p:spPr>
      </p:sp>
      <p:sp>
        <p:nvSpPr>
          <p:cNvPr id="9" name="Text 5"/>
          <p:cNvSpPr txBox="1"/>
          <p:nvPr/>
        </p:nvSpPr>
        <p:spPr>
          <a:xfrm>
            <a:off x="8394192" y="2788920"/>
            <a:ext cx="3008376"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GCP YTD</a:t>
            </a:r>
            <a:endParaRPr lang="en-US" sz="1000" dirty="0"/>
          </a:p>
        </p:txBody>
      </p:sp>
      <p:sp>
        <p:nvSpPr>
          <p:cNvPr id="10" name="Text 6"/>
          <p:cNvSpPr txBox="1"/>
          <p:nvPr/>
        </p:nvSpPr>
        <p:spPr>
          <a:xfrm>
            <a:off x="8211312" y="3072384"/>
            <a:ext cx="3191256" cy="566928"/>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$13.5K</a:t>
            </a:r>
            <a:endParaRPr lang="en-US" sz="2800" dirty="0"/>
          </a:p>
        </p:txBody>
      </p:sp>
      <p:sp>
        <p:nvSpPr>
          <p:cNvPr id="11" name="Text 7"/>
          <p:cNvSpPr txBox="1"/>
          <p:nvPr/>
        </p:nvSpPr>
        <p:spPr>
          <a:xfrm>
            <a:off x="8211312" y="3621024"/>
            <a:ext cx="3191256" cy="420624"/>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Started March 2026</a:t>
            </a:r>
            <a:endParaRPr lang="en-US" sz="1050" dirty="0"/>
          </a:p>
        </p:txBody>
      </p:sp>
      <p:sp>
        <p:nvSpPr>
          <p:cNvPr id="12" name="stat-card-Is Vertex AI a"/>
          <p:cNvSpPr/>
          <p:nvPr/>
        </p:nvSpPr>
        <p:spPr>
          <a:xfrm>
            <a:off x="7973568" y="4160520"/>
            <a:ext cx="3648456" cy="1417320"/>
          </a:xfrm>
          <a:prstGeom prst="roundRect">
            <a:avLst>
              <a:gd name="adj" fmla="val 3871"/>
            </a:avLst>
          </a:prstGeom>
          <a:solidFill>
            <a:srgbClr val="EEF2F7"/>
          </a:solidFill>
          <a:ln/>
        </p:spPr>
      </p:sp>
      <p:sp>
        <p:nvSpPr>
          <p:cNvPr id="13" name="stat-dot"/>
          <p:cNvSpPr/>
          <p:nvPr/>
        </p:nvSpPr>
        <p:spPr>
          <a:xfrm>
            <a:off x="8211312" y="4434840"/>
            <a:ext cx="91440" cy="91440"/>
          </a:xfrm>
          <a:prstGeom prst="ellipse">
            <a:avLst/>
          </a:prstGeom>
          <a:solidFill>
            <a:srgbClr val="7C5CFF"/>
          </a:solidFill>
          <a:ln/>
        </p:spPr>
      </p:sp>
      <p:sp>
        <p:nvSpPr>
          <p:cNvPr id="14" name="Text 10"/>
          <p:cNvSpPr txBox="1"/>
          <p:nvPr/>
        </p:nvSpPr>
        <p:spPr>
          <a:xfrm>
            <a:off x="8394192" y="4334256"/>
            <a:ext cx="3008376"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IS VERTEX AI AND GEMINI</a:t>
            </a:r>
            <a:endParaRPr lang="en-US" sz="1000" dirty="0"/>
          </a:p>
        </p:txBody>
      </p:sp>
      <p:sp>
        <p:nvSpPr>
          <p:cNvPr id="15" name="Text 11"/>
          <p:cNvSpPr txBox="1"/>
          <p:nvPr/>
        </p:nvSpPr>
        <p:spPr>
          <a:xfrm>
            <a:off x="8211312" y="4617720"/>
            <a:ext cx="3191256" cy="566928"/>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52%</a:t>
            </a:r>
            <a:endParaRPr lang="en-US" sz="2800" dirty="0"/>
          </a:p>
        </p:txBody>
      </p:sp>
      <p:sp>
        <p:nvSpPr>
          <p:cNvPr id="16" name="Text 12"/>
          <p:cNvSpPr txBox="1"/>
          <p:nvPr/>
        </p:nvSpPr>
        <p:spPr>
          <a:xfrm>
            <a:off x="8211312" y="5166360"/>
            <a:ext cx="3191256" cy="420624"/>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Vertex $6.5K, Gemini $0.6K</a:t>
            </a:r>
            <a:endParaRPr lang="en-US" sz="1050" dirty="0"/>
          </a:p>
        </p:txBody>
      </p:sp>
      <p:sp>
        <p:nvSpPr>
          <p:cNvPr id="17"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No commitment and no contract. GCP stays a pilot until a workload justifies a third platform. A negative "other services" line reflects credits applied during the pilot.</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0A878"/>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APPENDIX · NORTH EUROPE EXIT</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Decommissioning North Europe removed $5,871 a month</a:t>
            </a:r>
            <a:endParaRPr lang="en-US" sz="2800" dirty="0"/>
          </a:p>
        </p:txBody>
      </p:sp>
      <p:sp>
        <p:nvSpPr>
          <p:cNvPr id="5" name="Text 3"/>
          <p:cNvSpPr txBox="1"/>
          <p:nvPr/>
        </p:nvSpPr>
        <p:spPr>
          <a:xfrm>
            <a:off x="566928" y="1517904"/>
            <a:ext cx="2615184" cy="310896"/>
          </a:xfrm>
          <a:prstGeom prst="rect">
            <a:avLst/>
          </a:prstGeom>
          <a:noFill/>
          <a:ln/>
        </p:spPr>
        <p:txBody>
          <a:bodyPr wrap="square" lIns="0" tIns="0" rIns="0" bIns="0" rtlCol="0" anchor="ctr"/>
          <a:lstStyle/>
          <a:p>
            <a:pPr algn="l" indent="0" marL="0">
              <a:buNone/>
            </a:pPr>
            <a:r>
              <a:rPr lang="en-US" sz="1050" b="1" spc="80" kern="0" dirty="0">
                <a:solidFill>
                  <a:srgbClr val="5B6B7E"/>
                </a:solidFill>
                <a:latin typeface="Arial" pitchFamily="34" charset="0"/>
                <a:ea typeface="Arial" pitchFamily="34" charset="-122"/>
                <a:cs typeface="Arial" pitchFamily="34" charset="-120"/>
              </a:rPr>
              <a:t>Service</a:t>
            </a:r>
            <a:endParaRPr lang="en-US" sz="1050" dirty="0"/>
          </a:p>
        </p:txBody>
      </p:sp>
      <p:sp>
        <p:nvSpPr>
          <p:cNvPr id="6" name="Text 4"/>
          <p:cNvSpPr txBox="1"/>
          <p:nvPr/>
        </p:nvSpPr>
        <p:spPr>
          <a:xfrm>
            <a:off x="3310128" y="1517904"/>
            <a:ext cx="1335024" cy="310896"/>
          </a:xfrm>
          <a:prstGeom prst="rect">
            <a:avLst/>
          </a:prstGeom>
          <a:noFill/>
          <a:ln/>
        </p:spPr>
        <p:txBody>
          <a:bodyPr wrap="square" lIns="0" tIns="0" rIns="0" bIns="0" rtlCol="0" anchor="ctr"/>
          <a:lstStyle/>
          <a:p>
            <a:pPr algn="r" indent="0" marL="0">
              <a:buNone/>
            </a:pPr>
            <a:r>
              <a:rPr lang="en-US" sz="1050" b="1" spc="80" kern="0" dirty="0">
                <a:solidFill>
                  <a:srgbClr val="5B6B7E"/>
                </a:solidFill>
                <a:latin typeface="Arial" pitchFamily="34" charset="0"/>
                <a:ea typeface="Arial" pitchFamily="34" charset="-122"/>
                <a:cs typeface="Arial" pitchFamily="34" charset="-120"/>
              </a:rPr>
              <a:t>Prod</a:t>
            </a:r>
            <a:endParaRPr lang="en-US" sz="1050" dirty="0"/>
          </a:p>
        </p:txBody>
      </p:sp>
      <p:sp>
        <p:nvSpPr>
          <p:cNvPr id="7" name="Text 5"/>
          <p:cNvSpPr txBox="1"/>
          <p:nvPr/>
        </p:nvSpPr>
        <p:spPr>
          <a:xfrm>
            <a:off x="4773168" y="1517904"/>
            <a:ext cx="1609344" cy="310896"/>
          </a:xfrm>
          <a:prstGeom prst="rect">
            <a:avLst/>
          </a:prstGeom>
          <a:noFill/>
          <a:ln/>
        </p:spPr>
        <p:txBody>
          <a:bodyPr wrap="square" lIns="0" tIns="0" rIns="0" bIns="0" rtlCol="0" anchor="ctr"/>
          <a:lstStyle/>
          <a:p>
            <a:pPr algn="r" indent="0" marL="0">
              <a:buNone/>
            </a:pPr>
            <a:r>
              <a:rPr lang="en-US" sz="1050" b="1" spc="80" kern="0" dirty="0">
                <a:solidFill>
                  <a:srgbClr val="5B6B7E"/>
                </a:solidFill>
                <a:latin typeface="Arial" pitchFamily="34" charset="0"/>
                <a:ea typeface="Arial" pitchFamily="34" charset="-122"/>
                <a:cs typeface="Arial" pitchFamily="34" charset="-120"/>
              </a:rPr>
              <a:t>SAP Production</a:t>
            </a:r>
            <a:endParaRPr lang="en-US" sz="1050" dirty="0"/>
          </a:p>
        </p:txBody>
      </p:sp>
      <p:sp>
        <p:nvSpPr>
          <p:cNvPr id="8" name="Text 6"/>
          <p:cNvSpPr txBox="1"/>
          <p:nvPr/>
        </p:nvSpPr>
        <p:spPr>
          <a:xfrm>
            <a:off x="6510528" y="1517904"/>
            <a:ext cx="1746504" cy="310896"/>
          </a:xfrm>
          <a:prstGeom prst="rect">
            <a:avLst/>
          </a:prstGeom>
          <a:noFill/>
          <a:ln/>
        </p:spPr>
        <p:txBody>
          <a:bodyPr wrap="square" lIns="0" tIns="0" rIns="0" bIns="0" rtlCol="0" anchor="ctr"/>
          <a:lstStyle/>
          <a:p>
            <a:pPr algn="r" indent="0" marL="0">
              <a:buNone/>
            </a:pPr>
            <a:r>
              <a:rPr lang="en-US" sz="1050" b="1" spc="80" kern="0" dirty="0">
                <a:solidFill>
                  <a:srgbClr val="5B6B7E"/>
                </a:solidFill>
                <a:latin typeface="Arial" pitchFamily="34" charset="0"/>
                <a:ea typeface="Arial" pitchFamily="34" charset="-122"/>
                <a:cs typeface="Arial" pitchFamily="34" charset="-120"/>
              </a:rPr>
              <a:t>Shared Resources</a:t>
            </a:r>
            <a:endParaRPr lang="en-US" sz="1050" dirty="0"/>
          </a:p>
        </p:txBody>
      </p:sp>
      <p:sp>
        <p:nvSpPr>
          <p:cNvPr id="9" name="Text 7"/>
          <p:cNvSpPr txBox="1"/>
          <p:nvPr/>
        </p:nvSpPr>
        <p:spPr>
          <a:xfrm>
            <a:off x="8385048" y="1517904"/>
            <a:ext cx="969264" cy="310896"/>
          </a:xfrm>
          <a:prstGeom prst="rect">
            <a:avLst/>
          </a:prstGeom>
          <a:noFill/>
          <a:ln/>
        </p:spPr>
        <p:txBody>
          <a:bodyPr wrap="square" lIns="0" tIns="0" rIns="0" bIns="0" rtlCol="0" anchor="ctr"/>
          <a:lstStyle/>
          <a:p>
            <a:pPr algn="r" indent="0" marL="0">
              <a:buNone/>
            </a:pPr>
            <a:r>
              <a:rPr lang="en-US" sz="1050" b="1" spc="80" kern="0" dirty="0">
                <a:solidFill>
                  <a:srgbClr val="5B6B7E"/>
                </a:solidFill>
                <a:latin typeface="Arial" pitchFamily="34" charset="0"/>
                <a:ea typeface="Arial" pitchFamily="34" charset="-122"/>
                <a:cs typeface="Arial" pitchFamily="34" charset="-120"/>
              </a:rPr>
              <a:t>Total</a:t>
            </a:r>
            <a:endParaRPr lang="en-US" sz="1050" dirty="0"/>
          </a:p>
        </p:txBody>
      </p:sp>
      <p:sp>
        <p:nvSpPr>
          <p:cNvPr id="10" name="ne-0"/>
          <p:cNvSpPr/>
          <p:nvPr/>
        </p:nvSpPr>
        <p:spPr>
          <a:xfrm>
            <a:off x="475488" y="1883664"/>
            <a:ext cx="9015984" cy="315468"/>
          </a:xfrm>
          <a:prstGeom prst="roundRect">
            <a:avLst>
              <a:gd name="adj" fmla="val 17391"/>
            </a:avLst>
          </a:prstGeom>
          <a:solidFill>
            <a:srgbClr val="F6F8FB"/>
          </a:solidFill>
          <a:ln/>
        </p:spPr>
      </p:sp>
      <p:sp>
        <p:nvSpPr>
          <p:cNvPr id="11" name="Text 9"/>
          <p:cNvSpPr txBox="1"/>
          <p:nvPr/>
        </p:nvSpPr>
        <p:spPr>
          <a:xfrm>
            <a:off x="566928" y="1883664"/>
            <a:ext cx="2615184" cy="315468"/>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Virtual Machines</a:t>
            </a:r>
            <a:endParaRPr lang="en-US" sz="1100" dirty="0"/>
          </a:p>
        </p:txBody>
      </p:sp>
      <p:sp>
        <p:nvSpPr>
          <p:cNvPr id="12" name="Text 10"/>
          <p:cNvSpPr txBox="1"/>
          <p:nvPr/>
        </p:nvSpPr>
        <p:spPr>
          <a:xfrm>
            <a:off x="3310128" y="1883664"/>
            <a:ext cx="133502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$154</a:t>
            </a:r>
            <a:endParaRPr lang="en-US" sz="1100" dirty="0"/>
          </a:p>
        </p:txBody>
      </p:sp>
      <p:sp>
        <p:nvSpPr>
          <p:cNvPr id="13" name="Text 11"/>
          <p:cNvSpPr txBox="1"/>
          <p:nvPr/>
        </p:nvSpPr>
        <p:spPr>
          <a:xfrm>
            <a:off x="4773168" y="1883664"/>
            <a:ext cx="160934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$1,661</a:t>
            </a:r>
            <a:endParaRPr lang="en-US" sz="1100" dirty="0"/>
          </a:p>
        </p:txBody>
      </p:sp>
      <p:sp>
        <p:nvSpPr>
          <p:cNvPr id="14" name="Text 12"/>
          <p:cNvSpPr txBox="1"/>
          <p:nvPr/>
        </p:nvSpPr>
        <p:spPr>
          <a:xfrm>
            <a:off x="6510528" y="1883664"/>
            <a:ext cx="174650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$550</a:t>
            </a:r>
            <a:endParaRPr lang="en-US" sz="1100" dirty="0"/>
          </a:p>
        </p:txBody>
      </p:sp>
      <p:sp>
        <p:nvSpPr>
          <p:cNvPr id="15" name="Text 13"/>
          <p:cNvSpPr txBox="1"/>
          <p:nvPr/>
        </p:nvSpPr>
        <p:spPr>
          <a:xfrm>
            <a:off x="8385048" y="1883664"/>
            <a:ext cx="969264" cy="315468"/>
          </a:xfrm>
          <a:prstGeom prst="rect">
            <a:avLst/>
          </a:prstGeom>
          <a:noFill/>
          <a:ln/>
        </p:spPr>
        <p:txBody>
          <a:bodyPr wrap="square" lIns="0" tIns="0" rIns="0" bIns="0" rtlCol="0" anchor="ctr"/>
          <a:lstStyle/>
          <a:p>
            <a:pPr algn="r" indent="0" marL="0">
              <a:buNone/>
            </a:pPr>
            <a:r>
              <a:rPr lang="en-US" sz="1100" b="1" dirty="0">
                <a:solidFill>
                  <a:srgbClr val="0B1B2E"/>
                </a:solidFill>
                <a:latin typeface="Arial" pitchFamily="34" charset="0"/>
                <a:ea typeface="Arial" pitchFamily="34" charset="-122"/>
                <a:cs typeface="Arial" pitchFamily="34" charset="-120"/>
              </a:rPr>
              <a:t>$2,365</a:t>
            </a:r>
            <a:endParaRPr lang="en-US" sz="1100" dirty="0"/>
          </a:p>
        </p:txBody>
      </p:sp>
      <p:sp>
        <p:nvSpPr>
          <p:cNvPr id="16" name="Text 14"/>
          <p:cNvSpPr txBox="1"/>
          <p:nvPr/>
        </p:nvSpPr>
        <p:spPr>
          <a:xfrm>
            <a:off x="566928" y="2208276"/>
            <a:ext cx="2615184" cy="315468"/>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Storage</a:t>
            </a:r>
            <a:endParaRPr lang="en-US" sz="1100" dirty="0"/>
          </a:p>
        </p:txBody>
      </p:sp>
      <p:sp>
        <p:nvSpPr>
          <p:cNvPr id="17" name="Text 15"/>
          <p:cNvSpPr txBox="1"/>
          <p:nvPr/>
        </p:nvSpPr>
        <p:spPr>
          <a:xfrm>
            <a:off x="3310128" y="2208276"/>
            <a:ext cx="133502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$7</a:t>
            </a:r>
            <a:endParaRPr lang="en-US" sz="1100" dirty="0"/>
          </a:p>
        </p:txBody>
      </p:sp>
      <p:sp>
        <p:nvSpPr>
          <p:cNvPr id="18" name="Text 16"/>
          <p:cNvSpPr txBox="1"/>
          <p:nvPr/>
        </p:nvSpPr>
        <p:spPr>
          <a:xfrm>
            <a:off x="4773168" y="2208276"/>
            <a:ext cx="160934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$1,868</a:t>
            </a:r>
            <a:endParaRPr lang="en-US" sz="1100" dirty="0"/>
          </a:p>
        </p:txBody>
      </p:sp>
      <p:sp>
        <p:nvSpPr>
          <p:cNvPr id="19" name="Text 17"/>
          <p:cNvSpPr txBox="1"/>
          <p:nvPr/>
        </p:nvSpPr>
        <p:spPr>
          <a:xfrm>
            <a:off x="6510528" y="2208276"/>
            <a:ext cx="174650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$109</a:t>
            </a:r>
            <a:endParaRPr lang="en-US" sz="1100" dirty="0"/>
          </a:p>
        </p:txBody>
      </p:sp>
      <p:sp>
        <p:nvSpPr>
          <p:cNvPr id="20" name="Text 18"/>
          <p:cNvSpPr txBox="1"/>
          <p:nvPr/>
        </p:nvSpPr>
        <p:spPr>
          <a:xfrm>
            <a:off x="8385048" y="2208276"/>
            <a:ext cx="969264" cy="315468"/>
          </a:xfrm>
          <a:prstGeom prst="rect">
            <a:avLst/>
          </a:prstGeom>
          <a:noFill/>
          <a:ln/>
        </p:spPr>
        <p:txBody>
          <a:bodyPr wrap="square" lIns="0" tIns="0" rIns="0" bIns="0" rtlCol="0" anchor="ctr"/>
          <a:lstStyle/>
          <a:p>
            <a:pPr algn="r" indent="0" marL="0">
              <a:buNone/>
            </a:pPr>
            <a:r>
              <a:rPr lang="en-US" sz="1100" b="1" dirty="0">
                <a:solidFill>
                  <a:srgbClr val="0B1B2E"/>
                </a:solidFill>
                <a:latin typeface="Arial" pitchFamily="34" charset="0"/>
                <a:ea typeface="Arial" pitchFamily="34" charset="-122"/>
                <a:cs typeface="Arial" pitchFamily="34" charset="-120"/>
              </a:rPr>
              <a:t>$1,984</a:t>
            </a:r>
            <a:endParaRPr lang="en-US" sz="1100" dirty="0"/>
          </a:p>
        </p:txBody>
      </p:sp>
      <p:sp>
        <p:nvSpPr>
          <p:cNvPr id="21" name="ne-2"/>
          <p:cNvSpPr/>
          <p:nvPr/>
        </p:nvSpPr>
        <p:spPr>
          <a:xfrm>
            <a:off x="475488" y="2532888"/>
            <a:ext cx="9015984" cy="315468"/>
          </a:xfrm>
          <a:prstGeom prst="roundRect">
            <a:avLst>
              <a:gd name="adj" fmla="val 17391"/>
            </a:avLst>
          </a:prstGeom>
          <a:solidFill>
            <a:srgbClr val="F6F8FB"/>
          </a:solidFill>
          <a:ln/>
        </p:spPr>
      </p:sp>
      <p:sp>
        <p:nvSpPr>
          <p:cNvPr id="22" name="Text 20"/>
          <p:cNvSpPr txBox="1"/>
          <p:nvPr/>
        </p:nvSpPr>
        <p:spPr>
          <a:xfrm>
            <a:off x="566928" y="2532888"/>
            <a:ext cx="2615184" cy="315468"/>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VPN Gateway</a:t>
            </a:r>
            <a:endParaRPr lang="en-US" sz="1100" dirty="0"/>
          </a:p>
        </p:txBody>
      </p:sp>
      <p:sp>
        <p:nvSpPr>
          <p:cNvPr id="23" name="Text 21"/>
          <p:cNvSpPr txBox="1"/>
          <p:nvPr/>
        </p:nvSpPr>
        <p:spPr>
          <a:xfrm>
            <a:off x="3310128" y="2532888"/>
            <a:ext cx="133502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$930</a:t>
            </a:r>
            <a:endParaRPr lang="en-US" sz="1100" dirty="0"/>
          </a:p>
        </p:txBody>
      </p:sp>
      <p:sp>
        <p:nvSpPr>
          <p:cNvPr id="24" name="Text 22"/>
          <p:cNvSpPr txBox="1"/>
          <p:nvPr/>
        </p:nvSpPr>
        <p:spPr>
          <a:xfrm>
            <a:off x="4773168" y="2532888"/>
            <a:ext cx="160934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25" name="Text 23"/>
          <p:cNvSpPr txBox="1"/>
          <p:nvPr/>
        </p:nvSpPr>
        <p:spPr>
          <a:xfrm>
            <a:off x="6510528" y="2532888"/>
            <a:ext cx="174650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26" name="Text 24"/>
          <p:cNvSpPr txBox="1"/>
          <p:nvPr/>
        </p:nvSpPr>
        <p:spPr>
          <a:xfrm>
            <a:off x="8385048" y="2532888"/>
            <a:ext cx="969264" cy="315468"/>
          </a:xfrm>
          <a:prstGeom prst="rect">
            <a:avLst/>
          </a:prstGeom>
          <a:noFill/>
          <a:ln/>
        </p:spPr>
        <p:txBody>
          <a:bodyPr wrap="square" lIns="0" tIns="0" rIns="0" bIns="0" rtlCol="0" anchor="ctr"/>
          <a:lstStyle/>
          <a:p>
            <a:pPr algn="r" indent="0" marL="0">
              <a:buNone/>
            </a:pPr>
            <a:r>
              <a:rPr lang="en-US" sz="1100" b="1" dirty="0">
                <a:solidFill>
                  <a:srgbClr val="0B1B2E"/>
                </a:solidFill>
                <a:latin typeface="Arial" pitchFamily="34" charset="0"/>
                <a:ea typeface="Arial" pitchFamily="34" charset="-122"/>
                <a:cs typeface="Arial" pitchFamily="34" charset="-120"/>
              </a:rPr>
              <a:t>$930</a:t>
            </a:r>
            <a:endParaRPr lang="en-US" sz="1100" dirty="0"/>
          </a:p>
        </p:txBody>
      </p:sp>
      <p:sp>
        <p:nvSpPr>
          <p:cNvPr id="27" name="Text 25"/>
          <p:cNvSpPr txBox="1"/>
          <p:nvPr/>
        </p:nvSpPr>
        <p:spPr>
          <a:xfrm>
            <a:off x="566928" y="2857500"/>
            <a:ext cx="2615184" cy="315468"/>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Azure Site Recovery</a:t>
            </a:r>
            <a:endParaRPr lang="en-US" sz="1100" dirty="0"/>
          </a:p>
        </p:txBody>
      </p:sp>
      <p:sp>
        <p:nvSpPr>
          <p:cNvPr id="28" name="Text 26"/>
          <p:cNvSpPr txBox="1"/>
          <p:nvPr/>
        </p:nvSpPr>
        <p:spPr>
          <a:xfrm>
            <a:off x="3310128" y="2857500"/>
            <a:ext cx="133502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29" name="Text 27"/>
          <p:cNvSpPr txBox="1"/>
          <p:nvPr/>
        </p:nvSpPr>
        <p:spPr>
          <a:xfrm>
            <a:off x="4773168" y="2857500"/>
            <a:ext cx="160934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30" name="Text 28"/>
          <p:cNvSpPr txBox="1"/>
          <p:nvPr/>
        </p:nvSpPr>
        <p:spPr>
          <a:xfrm>
            <a:off x="6510528" y="2857500"/>
            <a:ext cx="174650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$200</a:t>
            </a:r>
            <a:endParaRPr lang="en-US" sz="1100" dirty="0"/>
          </a:p>
        </p:txBody>
      </p:sp>
      <p:sp>
        <p:nvSpPr>
          <p:cNvPr id="31" name="Text 29"/>
          <p:cNvSpPr txBox="1"/>
          <p:nvPr/>
        </p:nvSpPr>
        <p:spPr>
          <a:xfrm>
            <a:off x="8385048" y="2857500"/>
            <a:ext cx="969264" cy="315468"/>
          </a:xfrm>
          <a:prstGeom prst="rect">
            <a:avLst/>
          </a:prstGeom>
          <a:noFill/>
          <a:ln/>
        </p:spPr>
        <p:txBody>
          <a:bodyPr wrap="square" lIns="0" tIns="0" rIns="0" bIns="0" rtlCol="0" anchor="ctr"/>
          <a:lstStyle/>
          <a:p>
            <a:pPr algn="r" indent="0" marL="0">
              <a:buNone/>
            </a:pPr>
            <a:r>
              <a:rPr lang="en-US" sz="1100" b="1" dirty="0">
                <a:solidFill>
                  <a:srgbClr val="0B1B2E"/>
                </a:solidFill>
                <a:latin typeface="Arial" pitchFamily="34" charset="0"/>
                <a:ea typeface="Arial" pitchFamily="34" charset="-122"/>
                <a:cs typeface="Arial" pitchFamily="34" charset="-120"/>
              </a:rPr>
              <a:t>$200</a:t>
            </a:r>
            <a:endParaRPr lang="en-US" sz="1100" dirty="0"/>
          </a:p>
        </p:txBody>
      </p:sp>
      <p:sp>
        <p:nvSpPr>
          <p:cNvPr id="32" name="ne-4"/>
          <p:cNvSpPr/>
          <p:nvPr/>
        </p:nvSpPr>
        <p:spPr>
          <a:xfrm>
            <a:off x="475488" y="3182112"/>
            <a:ext cx="9015984" cy="315468"/>
          </a:xfrm>
          <a:prstGeom prst="roundRect">
            <a:avLst>
              <a:gd name="adj" fmla="val 17391"/>
            </a:avLst>
          </a:prstGeom>
          <a:solidFill>
            <a:srgbClr val="F6F8FB"/>
          </a:solidFill>
          <a:ln/>
        </p:spPr>
      </p:sp>
      <p:sp>
        <p:nvSpPr>
          <p:cNvPr id="33" name="Text 31"/>
          <p:cNvSpPr txBox="1"/>
          <p:nvPr/>
        </p:nvSpPr>
        <p:spPr>
          <a:xfrm>
            <a:off x="566928" y="3182112"/>
            <a:ext cx="2615184" cy="315468"/>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Azure DNS</a:t>
            </a:r>
            <a:endParaRPr lang="en-US" sz="1100" dirty="0"/>
          </a:p>
        </p:txBody>
      </p:sp>
      <p:sp>
        <p:nvSpPr>
          <p:cNvPr id="34" name="Text 32"/>
          <p:cNvSpPr txBox="1"/>
          <p:nvPr/>
        </p:nvSpPr>
        <p:spPr>
          <a:xfrm>
            <a:off x="3310128" y="3182112"/>
            <a:ext cx="133502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$180</a:t>
            </a:r>
            <a:endParaRPr lang="en-US" sz="1100" dirty="0"/>
          </a:p>
        </p:txBody>
      </p:sp>
      <p:sp>
        <p:nvSpPr>
          <p:cNvPr id="35" name="Text 33"/>
          <p:cNvSpPr txBox="1"/>
          <p:nvPr/>
        </p:nvSpPr>
        <p:spPr>
          <a:xfrm>
            <a:off x="4773168" y="3182112"/>
            <a:ext cx="160934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36" name="Text 34"/>
          <p:cNvSpPr txBox="1"/>
          <p:nvPr/>
        </p:nvSpPr>
        <p:spPr>
          <a:xfrm>
            <a:off x="6510528" y="3182112"/>
            <a:ext cx="174650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37" name="Text 35"/>
          <p:cNvSpPr txBox="1"/>
          <p:nvPr/>
        </p:nvSpPr>
        <p:spPr>
          <a:xfrm>
            <a:off x="8385048" y="3182112"/>
            <a:ext cx="969264" cy="315468"/>
          </a:xfrm>
          <a:prstGeom prst="rect">
            <a:avLst/>
          </a:prstGeom>
          <a:noFill/>
          <a:ln/>
        </p:spPr>
        <p:txBody>
          <a:bodyPr wrap="square" lIns="0" tIns="0" rIns="0" bIns="0" rtlCol="0" anchor="ctr"/>
          <a:lstStyle/>
          <a:p>
            <a:pPr algn="r" indent="0" marL="0">
              <a:buNone/>
            </a:pPr>
            <a:r>
              <a:rPr lang="en-US" sz="1100" b="1" dirty="0">
                <a:solidFill>
                  <a:srgbClr val="0B1B2E"/>
                </a:solidFill>
                <a:latin typeface="Arial" pitchFamily="34" charset="0"/>
                <a:ea typeface="Arial" pitchFamily="34" charset="-122"/>
                <a:cs typeface="Arial" pitchFamily="34" charset="-120"/>
              </a:rPr>
              <a:t>$180</a:t>
            </a:r>
            <a:endParaRPr lang="en-US" sz="1100" dirty="0"/>
          </a:p>
        </p:txBody>
      </p:sp>
      <p:sp>
        <p:nvSpPr>
          <p:cNvPr id="38" name="Text 36"/>
          <p:cNvSpPr txBox="1"/>
          <p:nvPr/>
        </p:nvSpPr>
        <p:spPr>
          <a:xfrm>
            <a:off x="566928" y="3506724"/>
            <a:ext cx="2615184" cy="315468"/>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Virtual Network</a:t>
            </a:r>
            <a:endParaRPr lang="en-US" sz="1100" dirty="0"/>
          </a:p>
        </p:txBody>
      </p:sp>
      <p:sp>
        <p:nvSpPr>
          <p:cNvPr id="39" name="Text 37"/>
          <p:cNvSpPr txBox="1"/>
          <p:nvPr/>
        </p:nvSpPr>
        <p:spPr>
          <a:xfrm>
            <a:off x="3310128" y="3506724"/>
            <a:ext cx="133502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$18</a:t>
            </a:r>
            <a:endParaRPr lang="en-US" sz="1100" dirty="0"/>
          </a:p>
        </p:txBody>
      </p:sp>
      <p:sp>
        <p:nvSpPr>
          <p:cNvPr id="40" name="Text 38"/>
          <p:cNvSpPr txBox="1"/>
          <p:nvPr/>
        </p:nvSpPr>
        <p:spPr>
          <a:xfrm>
            <a:off x="4773168" y="3506724"/>
            <a:ext cx="160934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$70</a:t>
            </a:r>
            <a:endParaRPr lang="en-US" sz="1100" dirty="0"/>
          </a:p>
        </p:txBody>
      </p:sp>
      <p:sp>
        <p:nvSpPr>
          <p:cNvPr id="41" name="Text 39"/>
          <p:cNvSpPr txBox="1"/>
          <p:nvPr/>
        </p:nvSpPr>
        <p:spPr>
          <a:xfrm>
            <a:off x="6510528" y="3506724"/>
            <a:ext cx="174650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$3</a:t>
            </a:r>
            <a:endParaRPr lang="en-US" sz="1100" dirty="0"/>
          </a:p>
        </p:txBody>
      </p:sp>
      <p:sp>
        <p:nvSpPr>
          <p:cNvPr id="42" name="Text 40"/>
          <p:cNvSpPr txBox="1"/>
          <p:nvPr/>
        </p:nvSpPr>
        <p:spPr>
          <a:xfrm>
            <a:off x="8385048" y="3506724"/>
            <a:ext cx="969264" cy="315468"/>
          </a:xfrm>
          <a:prstGeom prst="rect">
            <a:avLst/>
          </a:prstGeom>
          <a:noFill/>
          <a:ln/>
        </p:spPr>
        <p:txBody>
          <a:bodyPr wrap="square" lIns="0" tIns="0" rIns="0" bIns="0" rtlCol="0" anchor="ctr"/>
          <a:lstStyle/>
          <a:p>
            <a:pPr algn="r" indent="0" marL="0">
              <a:buNone/>
            </a:pPr>
            <a:r>
              <a:rPr lang="en-US" sz="1100" b="1" dirty="0">
                <a:solidFill>
                  <a:srgbClr val="0B1B2E"/>
                </a:solidFill>
                <a:latin typeface="Arial" pitchFamily="34" charset="0"/>
                <a:ea typeface="Arial" pitchFamily="34" charset="-122"/>
                <a:cs typeface="Arial" pitchFamily="34" charset="-120"/>
              </a:rPr>
              <a:t>$91</a:t>
            </a:r>
            <a:endParaRPr lang="en-US" sz="1100" dirty="0"/>
          </a:p>
        </p:txBody>
      </p:sp>
      <p:sp>
        <p:nvSpPr>
          <p:cNvPr id="43" name="ne-6"/>
          <p:cNvSpPr/>
          <p:nvPr/>
        </p:nvSpPr>
        <p:spPr>
          <a:xfrm>
            <a:off x="475488" y="3831336"/>
            <a:ext cx="9015984" cy="315468"/>
          </a:xfrm>
          <a:prstGeom prst="roundRect">
            <a:avLst>
              <a:gd name="adj" fmla="val 17391"/>
            </a:avLst>
          </a:prstGeom>
          <a:solidFill>
            <a:srgbClr val="F6F8FB"/>
          </a:solidFill>
          <a:ln/>
        </p:spPr>
      </p:sp>
      <p:sp>
        <p:nvSpPr>
          <p:cNvPr id="44" name="Text 42"/>
          <p:cNvSpPr txBox="1"/>
          <p:nvPr/>
        </p:nvSpPr>
        <p:spPr>
          <a:xfrm>
            <a:off x="566928" y="3831336"/>
            <a:ext cx="2615184" cy="315468"/>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Bandwidth</a:t>
            </a:r>
            <a:endParaRPr lang="en-US" sz="1100" dirty="0"/>
          </a:p>
        </p:txBody>
      </p:sp>
      <p:sp>
        <p:nvSpPr>
          <p:cNvPr id="45" name="Text 43"/>
          <p:cNvSpPr txBox="1"/>
          <p:nvPr/>
        </p:nvSpPr>
        <p:spPr>
          <a:xfrm>
            <a:off x="3310128" y="3831336"/>
            <a:ext cx="133502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$25</a:t>
            </a:r>
            <a:endParaRPr lang="en-US" sz="1100" dirty="0"/>
          </a:p>
        </p:txBody>
      </p:sp>
      <p:sp>
        <p:nvSpPr>
          <p:cNvPr id="46" name="Text 44"/>
          <p:cNvSpPr txBox="1"/>
          <p:nvPr/>
        </p:nvSpPr>
        <p:spPr>
          <a:xfrm>
            <a:off x="4773168" y="3831336"/>
            <a:ext cx="160934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$3</a:t>
            </a:r>
            <a:endParaRPr lang="en-US" sz="1100" dirty="0"/>
          </a:p>
        </p:txBody>
      </p:sp>
      <p:sp>
        <p:nvSpPr>
          <p:cNvPr id="47" name="Text 45"/>
          <p:cNvSpPr txBox="1"/>
          <p:nvPr/>
        </p:nvSpPr>
        <p:spPr>
          <a:xfrm>
            <a:off x="6510528" y="3831336"/>
            <a:ext cx="174650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$9</a:t>
            </a:r>
            <a:endParaRPr lang="en-US" sz="1100" dirty="0"/>
          </a:p>
        </p:txBody>
      </p:sp>
      <p:sp>
        <p:nvSpPr>
          <p:cNvPr id="48" name="Text 46"/>
          <p:cNvSpPr txBox="1"/>
          <p:nvPr/>
        </p:nvSpPr>
        <p:spPr>
          <a:xfrm>
            <a:off x="8385048" y="3831336"/>
            <a:ext cx="969264" cy="315468"/>
          </a:xfrm>
          <a:prstGeom prst="rect">
            <a:avLst/>
          </a:prstGeom>
          <a:noFill/>
          <a:ln/>
        </p:spPr>
        <p:txBody>
          <a:bodyPr wrap="square" lIns="0" tIns="0" rIns="0" bIns="0" rtlCol="0" anchor="ctr"/>
          <a:lstStyle/>
          <a:p>
            <a:pPr algn="r" indent="0" marL="0">
              <a:buNone/>
            </a:pPr>
            <a:r>
              <a:rPr lang="en-US" sz="1100" b="1" dirty="0">
                <a:solidFill>
                  <a:srgbClr val="0B1B2E"/>
                </a:solidFill>
                <a:latin typeface="Arial" pitchFamily="34" charset="0"/>
                <a:ea typeface="Arial" pitchFamily="34" charset="-122"/>
                <a:cs typeface="Arial" pitchFamily="34" charset="-120"/>
              </a:rPr>
              <a:t>$37</a:t>
            </a:r>
            <a:endParaRPr lang="en-US" sz="1100" dirty="0"/>
          </a:p>
        </p:txBody>
      </p:sp>
      <p:sp>
        <p:nvSpPr>
          <p:cNvPr id="49" name="Text 47"/>
          <p:cNvSpPr txBox="1"/>
          <p:nvPr/>
        </p:nvSpPr>
        <p:spPr>
          <a:xfrm>
            <a:off x="566928" y="4155948"/>
            <a:ext cx="2615184" cy="315468"/>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NAT Gateway</a:t>
            </a:r>
            <a:endParaRPr lang="en-US" sz="1100" dirty="0"/>
          </a:p>
        </p:txBody>
      </p:sp>
      <p:sp>
        <p:nvSpPr>
          <p:cNvPr id="50" name="Text 48"/>
          <p:cNvSpPr txBox="1"/>
          <p:nvPr/>
        </p:nvSpPr>
        <p:spPr>
          <a:xfrm>
            <a:off x="3310128" y="4155948"/>
            <a:ext cx="133502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$35</a:t>
            </a:r>
            <a:endParaRPr lang="en-US" sz="1100" dirty="0"/>
          </a:p>
        </p:txBody>
      </p:sp>
      <p:sp>
        <p:nvSpPr>
          <p:cNvPr id="51" name="Text 49"/>
          <p:cNvSpPr txBox="1"/>
          <p:nvPr/>
        </p:nvSpPr>
        <p:spPr>
          <a:xfrm>
            <a:off x="4773168" y="4155948"/>
            <a:ext cx="160934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52" name="Text 50"/>
          <p:cNvSpPr txBox="1"/>
          <p:nvPr/>
        </p:nvSpPr>
        <p:spPr>
          <a:xfrm>
            <a:off x="6510528" y="4155948"/>
            <a:ext cx="174650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53" name="Text 51"/>
          <p:cNvSpPr txBox="1"/>
          <p:nvPr/>
        </p:nvSpPr>
        <p:spPr>
          <a:xfrm>
            <a:off x="8385048" y="4155948"/>
            <a:ext cx="969264" cy="315468"/>
          </a:xfrm>
          <a:prstGeom prst="rect">
            <a:avLst/>
          </a:prstGeom>
          <a:noFill/>
          <a:ln/>
        </p:spPr>
        <p:txBody>
          <a:bodyPr wrap="square" lIns="0" tIns="0" rIns="0" bIns="0" rtlCol="0" anchor="ctr"/>
          <a:lstStyle/>
          <a:p>
            <a:pPr algn="r" indent="0" marL="0">
              <a:buNone/>
            </a:pPr>
            <a:r>
              <a:rPr lang="en-US" sz="1100" b="1" dirty="0">
                <a:solidFill>
                  <a:srgbClr val="0B1B2E"/>
                </a:solidFill>
                <a:latin typeface="Arial" pitchFamily="34" charset="0"/>
                <a:ea typeface="Arial" pitchFamily="34" charset="-122"/>
                <a:cs typeface="Arial" pitchFamily="34" charset="-120"/>
              </a:rPr>
              <a:t>$35</a:t>
            </a:r>
            <a:endParaRPr lang="en-US" sz="1100" dirty="0"/>
          </a:p>
        </p:txBody>
      </p:sp>
      <p:sp>
        <p:nvSpPr>
          <p:cNvPr id="54" name="ne-8"/>
          <p:cNvSpPr/>
          <p:nvPr/>
        </p:nvSpPr>
        <p:spPr>
          <a:xfrm>
            <a:off x="475488" y="4480560"/>
            <a:ext cx="9015984" cy="315468"/>
          </a:xfrm>
          <a:prstGeom prst="roundRect">
            <a:avLst>
              <a:gd name="adj" fmla="val 17391"/>
            </a:avLst>
          </a:prstGeom>
          <a:solidFill>
            <a:srgbClr val="F6F8FB"/>
          </a:solidFill>
          <a:ln/>
        </p:spPr>
      </p:sp>
      <p:sp>
        <p:nvSpPr>
          <p:cNvPr id="55" name="Text 53"/>
          <p:cNvSpPr txBox="1"/>
          <p:nvPr/>
        </p:nvSpPr>
        <p:spPr>
          <a:xfrm>
            <a:off x="566928" y="4480560"/>
            <a:ext cx="2615184" cy="315468"/>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Microsoft Defender for Cloud</a:t>
            </a:r>
            <a:endParaRPr lang="en-US" sz="1100" dirty="0"/>
          </a:p>
        </p:txBody>
      </p:sp>
      <p:sp>
        <p:nvSpPr>
          <p:cNvPr id="56" name="Text 54"/>
          <p:cNvSpPr txBox="1"/>
          <p:nvPr/>
        </p:nvSpPr>
        <p:spPr>
          <a:xfrm>
            <a:off x="3310128" y="4480560"/>
            <a:ext cx="133502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$30</a:t>
            </a:r>
            <a:endParaRPr lang="en-US" sz="1100" dirty="0"/>
          </a:p>
        </p:txBody>
      </p:sp>
      <p:sp>
        <p:nvSpPr>
          <p:cNvPr id="57" name="Text 55"/>
          <p:cNvSpPr txBox="1"/>
          <p:nvPr/>
        </p:nvSpPr>
        <p:spPr>
          <a:xfrm>
            <a:off x="4773168" y="4480560"/>
            <a:ext cx="160934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58" name="Text 56"/>
          <p:cNvSpPr txBox="1"/>
          <p:nvPr/>
        </p:nvSpPr>
        <p:spPr>
          <a:xfrm>
            <a:off x="6510528" y="4480560"/>
            <a:ext cx="174650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59" name="Text 57"/>
          <p:cNvSpPr txBox="1"/>
          <p:nvPr/>
        </p:nvSpPr>
        <p:spPr>
          <a:xfrm>
            <a:off x="8385048" y="4480560"/>
            <a:ext cx="969264" cy="315468"/>
          </a:xfrm>
          <a:prstGeom prst="rect">
            <a:avLst/>
          </a:prstGeom>
          <a:noFill/>
          <a:ln/>
        </p:spPr>
        <p:txBody>
          <a:bodyPr wrap="square" lIns="0" tIns="0" rIns="0" bIns="0" rtlCol="0" anchor="ctr"/>
          <a:lstStyle/>
          <a:p>
            <a:pPr algn="r" indent="0" marL="0">
              <a:buNone/>
            </a:pPr>
            <a:r>
              <a:rPr lang="en-US" sz="1100" b="1" dirty="0">
                <a:solidFill>
                  <a:srgbClr val="0B1B2E"/>
                </a:solidFill>
                <a:latin typeface="Arial" pitchFamily="34" charset="0"/>
                <a:ea typeface="Arial" pitchFamily="34" charset="-122"/>
                <a:cs typeface="Arial" pitchFamily="34" charset="-120"/>
              </a:rPr>
              <a:t>$30</a:t>
            </a:r>
            <a:endParaRPr lang="en-US" sz="1100" dirty="0"/>
          </a:p>
        </p:txBody>
      </p:sp>
      <p:sp>
        <p:nvSpPr>
          <p:cNvPr id="60" name="Text 58"/>
          <p:cNvSpPr txBox="1"/>
          <p:nvPr/>
        </p:nvSpPr>
        <p:spPr>
          <a:xfrm>
            <a:off x="566928" y="4805172"/>
            <a:ext cx="2615184" cy="315468"/>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Load Balancer</a:t>
            </a:r>
            <a:endParaRPr lang="en-US" sz="1100" dirty="0"/>
          </a:p>
        </p:txBody>
      </p:sp>
      <p:sp>
        <p:nvSpPr>
          <p:cNvPr id="61" name="Text 59"/>
          <p:cNvSpPr txBox="1"/>
          <p:nvPr/>
        </p:nvSpPr>
        <p:spPr>
          <a:xfrm>
            <a:off x="3310128" y="4805172"/>
            <a:ext cx="133502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$19</a:t>
            </a:r>
            <a:endParaRPr lang="en-US" sz="1100" dirty="0"/>
          </a:p>
        </p:txBody>
      </p:sp>
      <p:sp>
        <p:nvSpPr>
          <p:cNvPr id="62" name="Text 60"/>
          <p:cNvSpPr txBox="1"/>
          <p:nvPr/>
        </p:nvSpPr>
        <p:spPr>
          <a:xfrm>
            <a:off x="4773168" y="4805172"/>
            <a:ext cx="160934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63" name="Text 61"/>
          <p:cNvSpPr txBox="1"/>
          <p:nvPr/>
        </p:nvSpPr>
        <p:spPr>
          <a:xfrm>
            <a:off x="6510528" y="4805172"/>
            <a:ext cx="174650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64" name="Text 62"/>
          <p:cNvSpPr txBox="1"/>
          <p:nvPr/>
        </p:nvSpPr>
        <p:spPr>
          <a:xfrm>
            <a:off x="8385048" y="4805172"/>
            <a:ext cx="969264" cy="315468"/>
          </a:xfrm>
          <a:prstGeom prst="rect">
            <a:avLst/>
          </a:prstGeom>
          <a:noFill/>
          <a:ln/>
        </p:spPr>
        <p:txBody>
          <a:bodyPr wrap="square" lIns="0" tIns="0" rIns="0" bIns="0" rtlCol="0" anchor="ctr"/>
          <a:lstStyle/>
          <a:p>
            <a:pPr algn="r" indent="0" marL="0">
              <a:buNone/>
            </a:pPr>
            <a:r>
              <a:rPr lang="en-US" sz="1100" b="1" dirty="0">
                <a:solidFill>
                  <a:srgbClr val="0B1B2E"/>
                </a:solidFill>
                <a:latin typeface="Arial" pitchFamily="34" charset="0"/>
                <a:ea typeface="Arial" pitchFamily="34" charset="-122"/>
                <a:cs typeface="Arial" pitchFamily="34" charset="-120"/>
              </a:rPr>
              <a:t>$19</a:t>
            </a:r>
            <a:endParaRPr lang="en-US" sz="1100" dirty="0"/>
          </a:p>
        </p:txBody>
      </p:sp>
      <p:sp>
        <p:nvSpPr>
          <p:cNvPr id="65" name="ne-10"/>
          <p:cNvSpPr/>
          <p:nvPr/>
        </p:nvSpPr>
        <p:spPr>
          <a:xfrm>
            <a:off x="475488" y="5129784"/>
            <a:ext cx="9015984" cy="315468"/>
          </a:xfrm>
          <a:prstGeom prst="roundRect">
            <a:avLst>
              <a:gd name="adj" fmla="val 17391"/>
            </a:avLst>
          </a:prstGeom>
          <a:solidFill>
            <a:srgbClr val="F6F8FB"/>
          </a:solidFill>
          <a:ln/>
        </p:spPr>
      </p:sp>
      <p:sp>
        <p:nvSpPr>
          <p:cNvPr id="66" name="Text 64"/>
          <p:cNvSpPr txBox="1"/>
          <p:nvPr/>
        </p:nvSpPr>
        <p:spPr>
          <a:xfrm>
            <a:off x="566928" y="5129784"/>
            <a:ext cx="2615184" cy="315468"/>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Automation</a:t>
            </a:r>
            <a:endParaRPr lang="en-US" sz="1100" dirty="0"/>
          </a:p>
        </p:txBody>
      </p:sp>
      <p:sp>
        <p:nvSpPr>
          <p:cNvPr id="67" name="Text 65"/>
          <p:cNvSpPr txBox="1"/>
          <p:nvPr/>
        </p:nvSpPr>
        <p:spPr>
          <a:xfrm>
            <a:off x="3310128" y="5129784"/>
            <a:ext cx="133502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68" name="Text 66"/>
          <p:cNvSpPr txBox="1"/>
          <p:nvPr/>
        </p:nvSpPr>
        <p:spPr>
          <a:xfrm>
            <a:off x="4773168" y="5129784"/>
            <a:ext cx="160934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69" name="Text 67"/>
          <p:cNvSpPr txBox="1"/>
          <p:nvPr/>
        </p:nvSpPr>
        <p:spPr>
          <a:xfrm>
            <a:off x="6510528" y="5129784"/>
            <a:ext cx="174650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70" name="Text 68"/>
          <p:cNvSpPr txBox="1"/>
          <p:nvPr/>
        </p:nvSpPr>
        <p:spPr>
          <a:xfrm>
            <a:off x="8385048" y="5129784"/>
            <a:ext cx="969264" cy="315468"/>
          </a:xfrm>
          <a:prstGeom prst="rect">
            <a:avLst/>
          </a:prstGeom>
          <a:noFill/>
          <a:ln/>
        </p:spPr>
        <p:txBody>
          <a:bodyPr wrap="square" lIns="0" tIns="0" rIns="0" bIns="0" rtlCol="0" anchor="ctr"/>
          <a:lstStyle/>
          <a:p>
            <a:pPr algn="r" indent="0" marL="0">
              <a:buNone/>
            </a:pPr>
            <a:r>
              <a:rPr lang="en-US" sz="1100" b="1" dirty="0">
                <a:solidFill>
                  <a:srgbClr val="0B1B2E"/>
                </a:solidFill>
                <a:latin typeface="Arial" pitchFamily="34" charset="0"/>
                <a:ea typeface="Arial" pitchFamily="34" charset="-122"/>
                <a:cs typeface="Arial" pitchFamily="34" charset="-120"/>
              </a:rPr>
              <a:t>—</a:t>
            </a:r>
            <a:endParaRPr lang="en-US" sz="1100" dirty="0"/>
          </a:p>
        </p:txBody>
      </p:sp>
      <p:sp>
        <p:nvSpPr>
          <p:cNvPr id="71" name="panel"/>
          <p:cNvSpPr/>
          <p:nvPr/>
        </p:nvSpPr>
        <p:spPr>
          <a:xfrm>
            <a:off x="475488" y="5509260"/>
            <a:ext cx="9015984" cy="384048"/>
          </a:xfrm>
          <a:prstGeom prst="roundRect">
            <a:avLst>
              <a:gd name="adj" fmla="val 14286"/>
            </a:avLst>
          </a:prstGeom>
          <a:solidFill>
            <a:srgbClr val="E3F5EE"/>
          </a:solidFill>
          <a:ln/>
        </p:spPr>
      </p:sp>
      <p:sp>
        <p:nvSpPr>
          <p:cNvPr id="72" name="Text 70"/>
          <p:cNvSpPr txBox="1"/>
          <p:nvPr/>
        </p:nvSpPr>
        <p:spPr>
          <a:xfrm>
            <a:off x="566928" y="5509260"/>
            <a:ext cx="2615184" cy="384048"/>
          </a:xfrm>
          <a:prstGeom prst="rect">
            <a:avLst/>
          </a:prstGeom>
          <a:noFill/>
          <a:ln/>
        </p:spPr>
        <p:txBody>
          <a:bodyPr wrap="square" lIns="0" tIns="0" rIns="0" bIns="0" rtlCol="0" anchor="ctr"/>
          <a:lstStyle/>
          <a:p>
            <a:pPr algn="l" indent="0" marL="0">
              <a:buNone/>
            </a:pPr>
            <a:r>
              <a:rPr lang="en-US" sz="1150" b="1" dirty="0">
                <a:solidFill>
                  <a:srgbClr val="046A4E"/>
                </a:solidFill>
                <a:latin typeface="Arial" pitchFamily="34" charset="0"/>
                <a:ea typeface="Arial" pitchFamily="34" charset="-122"/>
                <a:cs typeface="Arial" pitchFamily="34" charset="-120"/>
              </a:rPr>
              <a:t>Monthly total</a:t>
            </a:r>
            <a:endParaRPr lang="en-US" sz="1150" dirty="0"/>
          </a:p>
        </p:txBody>
      </p:sp>
      <p:sp>
        <p:nvSpPr>
          <p:cNvPr id="73" name="Text 71"/>
          <p:cNvSpPr txBox="1"/>
          <p:nvPr/>
        </p:nvSpPr>
        <p:spPr>
          <a:xfrm>
            <a:off x="3310128" y="5509260"/>
            <a:ext cx="1335024" cy="384048"/>
          </a:xfrm>
          <a:prstGeom prst="rect">
            <a:avLst/>
          </a:prstGeom>
          <a:noFill/>
          <a:ln/>
        </p:spPr>
        <p:txBody>
          <a:bodyPr wrap="square" lIns="0" tIns="0" rIns="0" bIns="0" rtlCol="0" anchor="ctr"/>
          <a:lstStyle/>
          <a:p>
            <a:pPr algn="r" indent="0" marL="0">
              <a:buNone/>
            </a:pPr>
            <a:r>
              <a:rPr lang="en-US" sz="1150" b="1" dirty="0">
                <a:solidFill>
                  <a:srgbClr val="046A4E"/>
                </a:solidFill>
                <a:latin typeface="Arial" pitchFamily="34" charset="0"/>
                <a:ea typeface="Arial" pitchFamily="34" charset="-122"/>
                <a:cs typeface="Arial" pitchFamily="34" charset="-120"/>
              </a:rPr>
              <a:t>$1,397</a:t>
            </a:r>
            <a:endParaRPr lang="en-US" sz="1150" dirty="0"/>
          </a:p>
        </p:txBody>
      </p:sp>
      <p:sp>
        <p:nvSpPr>
          <p:cNvPr id="74" name="Text 72"/>
          <p:cNvSpPr txBox="1"/>
          <p:nvPr/>
        </p:nvSpPr>
        <p:spPr>
          <a:xfrm>
            <a:off x="4773168" y="5509260"/>
            <a:ext cx="1609344" cy="384048"/>
          </a:xfrm>
          <a:prstGeom prst="rect">
            <a:avLst/>
          </a:prstGeom>
          <a:noFill/>
          <a:ln/>
        </p:spPr>
        <p:txBody>
          <a:bodyPr wrap="square" lIns="0" tIns="0" rIns="0" bIns="0" rtlCol="0" anchor="ctr"/>
          <a:lstStyle/>
          <a:p>
            <a:pPr algn="r" indent="0" marL="0">
              <a:buNone/>
            </a:pPr>
            <a:r>
              <a:rPr lang="en-US" sz="1150" b="1" dirty="0">
                <a:solidFill>
                  <a:srgbClr val="046A4E"/>
                </a:solidFill>
                <a:latin typeface="Arial" pitchFamily="34" charset="0"/>
                <a:ea typeface="Arial" pitchFamily="34" charset="-122"/>
                <a:cs typeface="Arial" pitchFamily="34" charset="-120"/>
              </a:rPr>
              <a:t>$3,601</a:t>
            </a:r>
            <a:endParaRPr lang="en-US" sz="1150" dirty="0"/>
          </a:p>
        </p:txBody>
      </p:sp>
      <p:sp>
        <p:nvSpPr>
          <p:cNvPr id="75" name="Text 73"/>
          <p:cNvSpPr txBox="1"/>
          <p:nvPr/>
        </p:nvSpPr>
        <p:spPr>
          <a:xfrm>
            <a:off x="6510528" y="5509260"/>
            <a:ext cx="1746504" cy="384048"/>
          </a:xfrm>
          <a:prstGeom prst="rect">
            <a:avLst/>
          </a:prstGeom>
          <a:noFill/>
          <a:ln/>
        </p:spPr>
        <p:txBody>
          <a:bodyPr wrap="square" lIns="0" tIns="0" rIns="0" bIns="0" rtlCol="0" anchor="ctr"/>
          <a:lstStyle/>
          <a:p>
            <a:pPr algn="r" indent="0" marL="0">
              <a:buNone/>
            </a:pPr>
            <a:r>
              <a:rPr lang="en-US" sz="1150" b="1" dirty="0">
                <a:solidFill>
                  <a:srgbClr val="046A4E"/>
                </a:solidFill>
                <a:latin typeface="Arial" pitchFamily="34" charset="0"/>
                <a:ea typeface="Arial" pitchFamily="34" charset="-122"/>
                <a:cs typeface="Arial" pitchFamily="34" charset="-120"/>
              </a:rPr>
              <a:t>$872</a:t>
            </a:r>
            <a:endParaRPr lang="en-US" sz="1150" dirty="0"/>
          </a:p>
        </p:txBody>
      </p:sp>
      <p:sp>
        <p:nvSpPr>
          <p:cNvPr id="76" name="Text 74"/>
          <p:cNvSpPr txBox="1"/>
          <p:nvPr/>
        </p:nvSpPr>
        <p:spPr>
          <a:xfrm>
            <a:off x="8385048" y="5509260"/>
            <a:ext cx="969264" cy="384048"/>
          </a:xfrm>
          <a:prstGeom prst="rect">
            <a:avLst/>
          </a:prstGeom>
          <a:noFill/>
          <a:ln/>
        </p:spPr>
        <p:txBody>
          <a:bodyPr wrap="square" lIns="0" tIns="0" rIns="0" bIns="0" rtlCol="0" anchor="ctr"/>
          <a:lstStyle/>
          <a:p>
            <a:pPr algn="r" indent="0" marL="0">
              <a:buNone/>
            </a:pPr>
            <a:r>
              <a:rPr lang="en-US" sz="1150" b="1" dirty="0">
                <a:solidFill>
                  <a:srgbClr val="046A4E"/>
                </a:solidFill>
                <a:latin typeface="Arial" pitchFamily="34" charset="0"/>
                <a:ea typeface="Arial" pitchFamily="34" charset="-122"/>
                <a:cs typeface="Arial" pitchFamily="34" charset="-120"/>
              </a:rPr>
              <a:t>$5,871</a:t>
            </a:r>
            <a:endParaRPr lang="en-US" sz="1150" dirty="0"/>
          </a:p>
        </p:txBody>
      </p:sp>
      <p:sp>
        <p:nvSpPr>
          <p:cNvPr id="77" name="stat-card-Annualised"/>
          <p:cNvSpPr/>
          <p:nvPr/>
        </p:nvSpPr>
        <p:spPr>
          <a:xfrm>
            <a:off x="9601200" y="1883664"/>
            <a:ext cx="2020824" cy="1371600"/>
          </a:xfrm>
          <a:prstGeom prst="roundRect">
            <a:avLst>
              <a:gd name="adj" fmla="val 4000"/>
            </a:avLst>
          </a:prstGeom>
          <a:solidFill>
            <a:srgbClr val="EEF2F7"/>
          </a:solidFill>
          <a:ln/>
        </p:spPr>
      </p:sp>
      <p:sp>
        <p:nvSpPr>
          <p:cNvPr id="78" name="stat-dot"/>
          <p:cNvSpPr/>
          <p:nvPr/>
        </p:nvSpPr>
        <p:spPr>
          <a:xfrm>
            <a:off x="9838944" y="2157984"/>
            <a:ext cx="91440" cy="91440"/>
          </a:xfrm>
          <a:prstGeom prst="ellipse">
            <a:avLst/>
          </a:prstGeom>
          <a:solidFill>
            <a:srgbClr val="00A878"/>
          </a:solidFill>
          <a:ln/>
        </p:spPr>
      </p:sp>
      <p:sp>
        <p:nvSpPr>
          <p:cNvPr id="79" name="Text 77"/>
          <p:cNvSpPr txBox="1"/>
          <p:nvPr/>
        </p:nvSpPr>
        <p:spPr>
          <a:xfrm>
            <a:off x="10021824" y="2057400"/>
            <a:ext cx="1380744"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ANNUALISED</a:t>
            </a:r>
            <a:endParaRPr lang="en-US" sz="1000" dirty="0"/>
          </a:p>
        </p:txBody>
      </p:sp>
      <p:sp>
        <p:nvSpPr>
          <p:cNvPr id="80" name="Text 78"/>
          <p:cNvSpPr txBox="1"/>
          <p:nvPr/>
        </p:nvSpPr>
        <p:spPr>
          <a:xfrm>
            <a:off x="9838944" y="2340864"/>
            <a:ext cx="1563624" cy="566928"/>
          </a:xfrm>
          <a:prstGeom prst="rect">
            <a:avLst/>
          </a:prstGeom>
          <a:noFill/>
          <a:ln/>
        </p:spPr>
        <p:txBody>
          <a:bodyPr wrap="square" lIns="0" tIns="0" rIns="0" bIns="0" rtlCol="0" anchor="ctr"/>
          <a:lstStyle/>
          <a:p>
            <a:pPr algn="l" indent="0" marL="0">
              <a:buNone/>
            </a:pPr>
            <a:r>
              <a:rPr lang="en-US" sz="3000" b="1" dirty="0">
                <a:solidFill>
                  <a:srgbClr val="0B1B2E"/>
                </a:solidFill>
                <a:latin typeface="Arial" pitchFamily="34" charset="0"/>
                <a:ea typeface="Arial" pitchFamily="34" charset="-122"/>
                <a:cs typeface="Arial" pitchFamily="34" charset="-120"/>
              </a:rPr>
              <a:t>$70K</a:t>
            </a:r>
            <a:endParaRPr lang="en-US" sz="3000" dirty="0"/>
          </a:p>
        </p:txBody>
      </p:sp>
      <p:sp>
        <p:nvSpPr>
          <p:cNvPr id="81" name="Text 79"/>
          <p:cNvSpPr txBox="1"/>
          <p:nvPr/>
        </p:nvSpPr>
        <p:spPr>
          <a:xfrm>
            <a:off x="9838944" y="2889504"/>
            <a:ext cx="1563624" cy="310896"/>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$5,871 times twelve</a:t>
            </a:r>
            <a:endParaRPr lang="en-US" sz="1050" dirty="0"/>
          </a:p>
        </p:txBody>
      </p:sp>
      <p:sp>
        <p:nvSpPr>
          <p:cNvPr id="82"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The largest single realised saving of FY2026. Figures are the final month of North Europe consumption.</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27496B"/>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APPENDIX · NOTES</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How these figures were produced</a:t>
            </a:r>
            <a:endParaRPr lang="en-US" sz="2800" dirty="0"/>
          </a:p>
        </p:txBody>
      </p:sp>
      <p:sp>
        <p:nvSpPr>
          <p:cNvPr id="5" name="note-dot-0"/>
          <p:cNvSpPr/>
          <p:nvPr/>
        </p:nvSpPr>
        <p:spPr>
          <a:xfrm>
            <a:off x="566928" y="1609344"/>
            <a:ext cx="91440" cy="91440"/>
          </a:xfrm>
          <a:prstGeom prst="ellipse">
            <a:avLst/>
          </a:prstGeom>
          <a:solidFill>
            <a:srgbClr val="27496B"/>
          </a:solidFill>
          <a:ln/>
        </p:spPr>
      </p:sp>
      <p:sp>
        <p:nvSpPr>
          <p:cNvPr id="6" name="Text 4"/>
          <p:cNvSpPr txBox="1"/>
          <p:nvPr/>
        </p:nvSpPr>
        <p:spPr>
          <a:xfrm>
            <a:off x="768096" y="1517904"/>
            <a:ext cx="5181448" cy="274320"/>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Period and currency</a:t>
            </a:r>
            <a:endParaRPr lang="en-US" sz="1250" dirty="0"/>
          </a:p>
        </p:txBody>
      </p:sp>
      <p:sp>
        <p:nvSpPr>
          <p:cNvPr id="7" name="Text 5"/>
          <p:cNvSpPr txBox="1"/>
          <p:nvPr/>
        </p:nvSpPr>
        <p:spPr>
          <a:xfrm>
            <a:off x="768096" y="1792224"/>
            <a:ext cx="5108296" cy="73152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All figures cover 1 January to 30 September 2026, nine months, stated in US dollars.</a:t>
            </a:r>
            <a:endParaRPr lang="en-US" sz="1100" dirty="0"/>
          </a:p>
        </p:txBody>
      </p:sp>
      <p:sp>
        <p:nvSpPr>
          <p:cNvPr id="8" name="note-dot-1"/>
          <p:cNvSpPr/>
          <p:nvPr/>
        </p:nvSpPr>
        <p:spPr>
          <a:xfrm>
            <a:off x="6242152" y="1609344"/>
            <a:ext cx="91440" cy="91440"/>
          </a:xfrm>
          <a:prstGeom prst="ellipse">
            <a:avLst/>
          </a:prstGeom>
          <a:solidFill>
            <a:srgbClr val="27496B"/>
          </a:solidFill>
          <a:ln/>
        </p:spPr>
      </p:sp>
      <p:sp>
        <p:nvSpPr>
          <p:cNvPr id="9" name="Text 7"/>
          <p:cNvSpPr txBox="1"/>
          <p:nvPr/>
        </p:nvSpPr>
        <p:spPr>
          <a:xfrm>
            <a:off x="6443320" y="1517904"/>
            <a:ext cx="5181448" cy="274320"/>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Consumption and committed</a:t>
            </a:r>
            <a:endParaRPr lang="en-US" sz="1250" dirty="0"/>
          </a:p>
        </p:txBody>
      </p:sp>
      <p:sp>
        <p:nvSpPr>
          <p:cNvPr id="10" name="Text 8"/>
          <p:cNvSpPr txBox="1"/>
          <p:nvPr/>
        </p:nvSpPr>
        <p:spPr>
          <a:xfrm>
            <a:off x="6443320" y="1792224"/>
            <a:ext cx="5108296" cy="73152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"Consumption" is metered usage. Marketplace and prepaid contracts are reported separately and excluded from consumption totals unless stated.</a:t>
            </a:r>
            <a:endParaRPr lang="en-US" sz="1100" dirty="0"/>
          </a:p>
        </p:txBody>
      </p:sp>
      <p:sp>
        <p:nvSpPr>
          <p:cNvPr id="11" name="note-dot-2"/>
          <p:cNvSpPr/>
          <p:nvPr/>
        </p:nvSpPr>
        <p:spPr>
          <a:xfrm>
            <a:off x="566928" y="2688336"/>
            <a:ext cx="91440" cy="91440"/>
          </a:xfrm>
          <a:prstGeom prst="ellipse">
            <a:avLst/>
          </a:prstGeom>
          <a:solidFill>
            <a:srgbClr val="27496B"/>
          </a:solidFill>
          <a:ln/>
        </p:spPr>
      </p:sp>
      <p:sp>
        <p:nvSpPr>
          <p:cNvPr id="12" name="Text 10"/>
          <p:cNvSpPr txBox="1"/>
          <p:nvPr/>
        </p:nvSpPr>
        <p:spPr>
          <a:xfrm>
            <a:off x="768096" y="2596896"/>
            <a:ext cx="5181448" cy="274320"/>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AWS payers</a:t>
            </a:r>
            <a:endParaRPr lang="en-US" sz="1250" dirty="0"/>
          </a:p>
        </p:txBody>
      </p:sp>
      <p:sp>
        <p:nvSpPr>
          <p:cNvPr id="13" name="Text 11"/>
          <p:cNvSpPr txBox="1"/>
          <p:nvPr/>
        </p:nvSpPr>
        <p:spPr>
          <a:xfrm>
            <a:off x="768096" y="2871216"/>
            <a:ext cx="5108296" cy="73152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AWS is billed across two payer accounts. The Harel IL payer is $166K of the $792K consumption total.</a:t>
            </a:r>
            <a:endParaRPr lang="en-US" sz="1100" dirty="0"/>
          </a:p>
        </p:txBody>
      </p:sp>
      <p:sp>
        <p:nvSpPr>
          <p:cNvPr id="14" name="note-dot-3"/>
          <p:cNvSpPr/>
          <p:nvPr/>
        </p:nvSpPr>
        <p:spPr>
          <a:xfrm>
            <a:off x="6242152" y="2688336"/>
            <a:ext cx="91440" cy="91440"/>
          </a:xfrm>
          <a:prstGeom prst="ellipse">
            <a:avLst/>
          </a:prstGeom>
          <a:solidFill>
            <a:srgbClr val="27496B"/>
          </a:solidFill>
          <a:ln/>
        </p:spPr>
      </p:sp>
      <p:sp>
        <p:nvSpPr>
          <p:cNvPr id="15" name="Text 13"/>
          <p:cNvSpPr txBox="1"/>
          <p:nvPr/>
        </p:nvSpPr>
        <p:spPr>
          <a:xfrm>
            <a:off x="6443320" y="2596896"/>
            <a:ext cx="5181448" cy="274320"/>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Azure Marketplace</a:t>
            </a:r>
            <a:endParaRPr lang="en-US" sz="1250" dirty="0"/>
          </a:p>
        </p:txBody>
      </p:sp>
      <p:sp>
        <p:nvSpPr>
          <p:cNvPr id="16" name="Text 14"/>
          <p:cNvSpPr txBox="1"/>
          <p:nvPr/>
        </p:nvSpPr>
        <p:spPr>
          <a:xfrm>
            <a:off x="6443320" y="2871216"/>
            <a:ext cx="5108296" cy="73152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Marketplace charges sit under the Shared Resources subscription.</a:t>
            </a:r>
            <a:endParaRPr lang="en-US" sz="1100" dirty="0"/>
          </a:p>
        </p:txBody>
      </p:sp>
      <p:sp>
        <p:nvSpPr>
          <p:cNvPr id="17" name="note-dot-4"/>
          <p:cNvSpPr/>
          <p:nvPr/>
        </p:nvSpPr>
        <p:spPr>
          <a:xfrm>
            <a:off x="566928" y="3767328"/>
            <a:ext cx="91440" cy="91440"/>
          </a:xfrm>
          <a:prstGeom prst="ellipse">
            <a:avLst/>
          </a:prstGeom>
          <a:solidFill>
            <a:srgbClr val="27496B"/>
          </a:solidFill>
          <a:ln/>
        </p:spPr>
      </p:sp>
      <p:sp>
        <p:nvSpPr>
          <p:cNvPr id="18" name="Text 16"/>
          <p:cNvSpPr txBox="1"/>
          <p:nvPr/>
        </p:nvSpPr>
        <p:spPr>
          <a:xfrm>
            <a:off x="768096" y="3675888"/>
            <a:ext cx="5181448" cy="274320"/>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Savings basis</a:t>
            </a:r>
            <a:endParaRPr lang="en-US" sz="1250" dirty="0"/>
          </a:p>
        </p:txBody>
      </p:sp>
      <p:sp>
        <p:nvSpPr>
          <p:cNvPr id="19" name="Text 17"/>
          <p:cNvSpPr txBox="1"/>
          <p:nvPr/>
        </p:nvSpPr>
        <p:spPr>
          <a:xfrm>
            <a:off x="768096" y="3950208"/>
            <a:ext cx="5108296" cy="73152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Realised savings and cost avoidance are annualised run-rate impacts at the point of implementation, not year-to-date cash.</a:t>
            </a:r>
            <a:endParaRPr lang="en-US" sz="1100" dirty="0"/>
          </a:p>
        </p:txBody>
      </p:sp>
      <p:sp>
        <p:nvSpPr>
          <p:cNvPr id="20" name="note-dot-5"/>
          <p:cNvSpPr/>
          <p:nvPr/>
        </p:nvSpPr>
        <p:spPr>
          <a:xfrm>
            <a:off x="6242152" y="3767328"/>
            <a:ext cx="91440" cy="91440"/>
          </a:xfrm>
          <a:prstGeom prst="ellipse">
            <a:avLst/>
          </a:prstGeom>
          <a:solidFill>
            <a:srgbClr val="27496B"/>
          </a:solidFill>
          <a:ln/>
        </p:spPr>
      </p:sp>
      <p:sp>
        <p:nvSpPr>
          <p:cNvPr id="21" name="Text 19"/>
          <p:cNvSpPr txBox="1"/>
          <p:nvPr/>
        </p:nvSpPr>
        <p:spPr>
          <a:xfrm>
            <a:off x="6443320" y="3675888"/>
            <a:ext cx="5181448" cy="274320"/>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AI definition</a:t>
            </a:r>
            <a:endParaRPr lang="en-US" sz="1250" dirty="0"/>
          </a:p>
        </p:txBody>
      </p:sp>
      <p:sp>
        <p:nvSpPr>
          <p:cNvPr id="22" name="Text 20"/>
          <p:cNvSpPr txBox="1"/>
          <p:nvPr/>
        </p:nvSpPr>
        <p:spPr>
          <a:xfrm>
            <a:off x="6443320" y="3950208"/>
            <a:ext cx="5108296" cy="73152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AI services covers Amazon Bedrock, Azure AI Foundry models and tools, Microsoft Copilot Studio, Azure Cognitive Search, GitHub and Copilot, and GCP Vertex AI and Gemini.</a:t>
            </a:r>
            <a:endParaRPr lang="en-US" sz="1100" dirty="0"/>
          </a:p>
        </p:txBody>
      </p:sp>
      <p:sp>
        <p:nvSpPr>
          <p:cNvPr id="23" name="note-dot-6"/>
          <p:cNvSpPr/>
          <p:nvPr/>
        </p:nvSpPr>
        <p:spPr>
          <a:xfrm>
            <a:off x="566928" y="4846320"/>
            <a:ext cx="91440" cy="91440"/>
          </a:xfrm>
          <a:prstGeom prst="ellipse">
            <a:avLst/>
          </a:prstGeom>
          <a:solidFill>
            <a:srgbClr val="27496B"/>
          </a:solidFill>
          <a:ln/>
        </p:spPr>
      </p:sp>
      <p:sp>
        <p:nvSpPr>
          <p:cNvPr id="24" name="Text 22"/>
          <p:cNvSpPr txBox="1"/>
          <p:nvPr/>
        </p:nvSpPr>
        <p:spPr>
          <a:xfrm>
            <a:off x="768096" y="4754880"/>
            <a:ext cx="5181448" cy="274320"/>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Sources</a:t>
            </a:r>
            <a:endParaRPr lang="en-US" sz="1250" dirty="0"/>
          </a:p>
        </p:txBody>
      </p:sp>
      <p:sp>
        <p:nvSpPr>
          <p:cNvPr id="25" name="Text 23"/>
          <p:cNvSpPr txBox="1"/>
          <p:nvPr/>
        </p:nvSpPr>
        <p:spPr>
          <a:xfrm>
            <a:off x="768096" y="5029200"/>
            <a:ext cx="5108296" cy="73152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AWS Cost Explorer, Azure Cost Management, Google Cloud Billing and the GitHub billing portal, extracted for the September 2026 review.</a:t>
            </a:r>
            <a:endParaRPr lang="en-US" sz="1100" dirty="0"/>
          </a:p>
        </p:txBody>
      </p:sp>
      <p:sp>
        <p:nvSpPr>
          <p:cNvPr id="26" name="note-dot-7"/>
          <p:cNvSpPr/>
          <p:nvPr/>
        </p:nvSpPr>
        <p:spPr>
          <a:xfrm>
            <a:off x="6242152" y="4846320"/>
            <a:ext cx="91440" cy="91440"/>
          </a:xfrm>
          <a:prstGeom prst="ellipse">
            <a:avLst/>
          </a:prstGeom>
          <a:solidFill>
            <a:srgbClr val="F2A900"/>
          </a:solidFill>
          <a:ln/>
        </p:spPr>
      </p:sp>
      <p:sp>
        <p:nvSpPr>
          <p:cNvPr id="27" name="Text 25"/>
          <p:cNvSpPr txBox="1"/>
          <p:nvPr/>
        </p:nvSpPr>
        <p:spPr>
          <a:xfrm>
            <a:off x="6443320" y="4754880"/>
            <a:ext cx="5181448" cy="274320"/>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Open reconciliation</a:t>
            </a:r>
            <a:endParaRPr lang="en-US" sz="1250" dirty="0"/>
          </a:p>
        </p:txBody>
      </p:sp>
      <p:sp>
        <p:nvSpPr>
          <p:cNvPr id="28" name="Text 26"/>
          <p:cNvSpPr txBox="1"/>
          <p:nvPr/>
        </p:nvSpPr>
        <p:spPr>
          <a:xfrm>
            <a:off x="6443320" y="5029200"/>
            <a:ext cx="5108296" cy="73152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Azure Marketplace sums to $542K here against $563K quoted in earlier reporting. The $21K difference is under review and does not affect the consumption figures.</a:t>
            </a:r>
            <a:endParaRPr lang="en-US" sz="11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41</a:t>
            </a:fld>
            <a:endParaRPr lang="en-US"/>
          </a:p>
        </p:txBody>
      </p:sp>
    </p:spTree>
  </p:cSld>
  <p:clrMapOvr>
    <a:masterClrMapping/>
  </p:clrMapOvr>
</p:sld>
</file>

<file path=ppt/theme/theme1.xml><?xml version="1.0" encoding="utf-8"?>
<a:theme xmlns:a="http://schemas.openxmlformats.org/drawingml/2006/main" name="Harel Cloud FinOps">
  <a:themeElements>
    <a:clrScheme name="Harel Cloud FinOps">
      <a:dk1>
        <a:srgbClr val="0B1B2E"/>
      </a:dk1>
      <a:lt1>
        <a:srgbClr val="FFFFFF"/>
      </a:lt1>
      <a:dk2>
        <a:srgbClr val="5B6B7E"/>
      </a:dk2>
      <a:lt2>
        <a:srgbClr val="EEF2F7"/>
      </a:lt2>
      <a:accent1>
        <a:srgbClr val="00A878"/>
      </a:accent1>
      <a:accent2>
        <a:srgbClr val="0F7DC2"/>
      </a:accent2>
      <a:accent3>
        <a:srgbClr val="F2A900"/>
      </a:accent3>
      <a:accent4>
        <a:srgbClr val="7C5CFF"/>
      </a:accent4>
      <a:accent5>
        <a:srgbClr val="D7263D"/>
      </a:accent5>
      <a:accent6>
        <a:srgbClr val="13324F"/>
      </a:accent6>
      <a:hlink>
        <a:srgbClr val="0F7DC2"/>
      </a:hlink>
      <a:folHlink>
        <a:srgbClr val="7C5CFF"/>
      </a:folHlink>
    </a:clrScheme>
    <a:fontScheme name="Harel Cloud FinOp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Harel Insurance &amp; Finance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FinOps FY2026</dc:title>
  <dc:subject>Cloud FinOps FY2026 cost summary</dc:subject>
  <dc:creator>Cloud Infrastructure, DevOps &amp; Databases</dc:creator>
  <cp:lastModifiedBy>Cloud Infrastructure, DevOps &amp; Databases</cp:lastModifiedBy>
  <cp:revision>1</cp:revision>
  <dcterms:created xsi:type="dcterms:W3CDTF">2026-10-13T15:54:48Z</dcterms:created>
  <dcterms:modified xsi:type="dcterms:W3CDTF">2026-10-13T15:54:48Z</dcterms:modified>
</cp:coreProperties>
</file>