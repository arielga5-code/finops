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defines shift left properly, so do not let it be heard as a tooling pitch. Shift left is a change in when the FinOps conversation happens: today it starts when the invoice arrives, and it belongs at requirements and design, where the decisions that commit the money are actually made. Walk the band left to right and make the point under it — by the time the design is agreed, most of the lifetime cost of that workload is already determined. Rightsizing afterwards trims the margin; the architecture set the base. The two cards are the exchange, and the right one matters more than the left. FinOps arrives with priced options and a cost target, but it leaves with an understanding of what the project actually needs — the real SLO, what is temporary, where the business value sits. That is why a named person has to be in the room rather than a report being circulated. Cite the Framework line at the bottom: this is a defined capability, not an invented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companion to the previous slide, and the one to hand to an architect. None of the six is a finance question — every one is a design question the team can answer in the room, and every one moves the bill by a large factor. Pick two to talk through rather than reading all six. The shape-of-load question is the highest-yield: sizing for a weekly peak is the most common and most expensive habit. The temporary question is the cheapest win, because an expiry date set on day one costs nothing and removing an environment two years later is a project nobody volunteers for. The bottom line is what makes the meeting real: the output is a number attached to the design and a cost target recorded next to the latency and availability targets, so cost becomes a non-functional requirement rather than a preference. Automation enforces it afterwards — the cost diff on the pull request and policy as code — but the number comes from this conversation, not from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the whole deck concrete for anyone running AI workloads, because AI is where these failures are arriving fastest. Same three gaps as cloud a decade ago — no owner, no attribution, no ceiling — compressed into about eighteen months. Lead with the third tile, not the waste figure. Four in five organizations need a day or more to trace an AI spike to its source, and roughly one in five manage it within hours. That converts an abstract governance ask into a measurable operational problem — time to attribute — which is a number an engineering leader can be held to and can move. Be straight about the source when asked, and say it before someone else does: this is vendor-sponsored research from a company selling AI cost tooling, and the waste figure is what respondents estimated rather than anything measured. The ownership, surprise-bill and diagnosis-time findings are the durable ones; the 26% is illustrative. Using it honestly is more persuasive than over-claiming it. The right-hand card is the technical consequence and the reason a generic cost platform is not enough here: AI waste lives in prompt design, model selection and retry behaviour, none of which appears in a resource-level bill. Naming the caller needs per-consumer token attribution — gateway subscription keys or application-level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operating-model slide, and the honest self-check for whoever runs this practice. Everything earlier in the deck produces findings; this is about whether findings become changes. Walk the chain and stop on the second box. A finding with no named owner and no date does not fail loudly — it simply sits in a dashboard being accurate, which is the most common way a cost programme dies. Sizing and dating each item is what turns a report into a queue of work someone can be asked about. The measures on the right are the ones to report upward, and they are deliberately not savings numbers. Adoption — the share of findings that acquired an owner and a date — predicts savings; accuracy does not. Realized against identified is the pair that keeps everyone honest, because identified savings are a forecast and only realized savings appear on an invoice. The build-for-engineers point is worth saying plainly: an engineer wants the three things worth fixing this sprint, not a complete and beautiful cost model. Serve that, and the finance-grade report improves anyway, because the underlying data gets used and therefore gets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answer 'what would we actually buy', with a named example rather than an abstract category. Everything in the six cards is a capability the vendor publishes; the shape is representative of the enterprise platforms in this space rather than unique to one. The two cards that matter most for us are virtual tags and Kubernetes allocation, because they attack the two problems earlier in this deck that tagging discipline alone does not solve — the spend that is already untagged, and shared platforms that carry one set of tags for many consumers. Keep the deck's own advice in view when you present this. Slide 10 says native tooling is sufficient for a single-cloud estate, and that has not changed: a platform earns its licence when there are several billing sources to normalize, or when allocation cannot be fixed at source. Say so, or the deck contradicts itself. The bottom bar is the part to read aloud. Three proofs on our own data before any purchase, and an explicit flag that the published outcome numbers are marketing claims. Quoting a vendor's savings percentage as though it were our forecast is the fastest way to lose the room's trust in everything else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TOOLING — A WORKED EXAMPLE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a FinOps platform adds: Finout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capabilities a dedicated platform brings over native billing consoles, and what to test before buying one.</a:t>
            </a:r>
            <a:endParaRPr lang="en-US" sz="1500" dirty="0"/>
          </a:p>
        </p:txBody>
      </p:sp>
      <p:sp>
        <p:nvSpPr>
          <p:cNvPr id="5" name="Shape 3"/>
          <p:cNvSpPr/>
          <p:nvPr/>
        </p:nvSpPr>
        <p:spPr>
          <a:xfrm>
            <a:off x="548640" y="2121408"/>
            <a:ext cx="3511296" cy="1719072"/>
          </a:xfrm>
          <a:prstGeom prst="roundRect">
            <a:avLst>
              <a:gd name="adj" fmla="val 4787"/>
            </a:avLst>
          </a:prstGeom>
          <a:solidFill>
            <a:srgbClr val="F1F3F6"/>
          </a:solidFill>
          <a:ln/>
        </p:spPr>
      </p:sp>
      <p:sp>
        <p:nvSpPr>
          <p:cNvPr id="6" name="Shape 4"/>
          <p:cNvSpPr/>
          <p:nvPr/>
        </p:nvSpPr>
        <p:spPr>
          <a:xfrm>
            <a:off x="841248" y="2359152"/>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55548" y="2473452"/>
            <a:ext cx="228600" cy="228600"/>
          </a:xfrm>
          <a:prstGeom prst="rect">
            <a:avLst/>
          </a:prstGeom>
        </p:spPr>
      </p:pic>
      <p:sp>
        <p:nvSpPr>
          <p:cNvPr id="8" name="Text 5"/>
          <p:cNvSpPr/>
          <p:nvPr/>
        </p:nvSpPr>
        <p:spPr>
          <a:xfrm>
            <a:off x="1426464"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One normalized bill</a:t>
            </a:r>
            <a:endParaRPr lang="en-US" sz="1500" dirty="0"/>
          </a:p>
        </p:txBody>
      </p:sp>
      <p:sp>
        <p:nvSpPr>
          <p:cNvPr id="9" name="Text 6"/>
          <p:cNvSpPr/>
          <p:nvPr/>
        </p:nvSpPr>
        <p:spPr>
          <a:xfrm>
            <a:off x="841248"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Cloud, SaaS and AI in one view — AWS, Azure, GCP, OCI, Kubernetes, Snowflake, Databricks, OpenAI, Anthropic. FOCUS supported.</a:t>
            </a:r>
            <a:endParaRPr lang="en-US" sz="1150" dirty="0"/>
          </a:p>
        </p:txBody>
      </p:sp>
      <p:sp>
        <p:nvSpPr>
          <p:cNvPr id="10" name="Shape 7"/>
          <p:cNvSpPr/>
          <p:nvPr/>
        </p:nvSpPr>
        <p:spPr>
          <a:xfrm>
            <a:off x="4334256" y="2121408"/>
            <a:ext cx="3511296" cy="1719072"/>
          </a:xfrm>
          <a:prstGeom prst="roundRect">
            <a:avLst>
              <a:gd name="adj" fmla="val 4787"/>
            </a:avLst>
          </a:prstGeom>
          <a:solidFill>
            <a:srgbClr val="F1F3F6"/>
          </a:solidFill>
          <a:ln/>
        </p:spPr>
      </p:sp>
      <p:sp>
        <p:nvSpPr>
          <p:cNvPr id="11" name="Shape 8"/>
          <p:cNvSpPr/>
          <p:nvPr/>
        </p:nvSpPr>
        <p:spPr>
          <a:xfrm>
            <a:off x="4626864" y="2359152"/>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41164" y="2473452"/>
            <a:ext cx="228600" cy="228600"/>
          </a:xfrm>
          <a:prstGeom prst="rect">
            <a:avLst/>
          </a:prstGeom>
        </p:spPr>
      </p:pic>
      <p:sp>
        <p:nvSpPr>
          <p:cNvPr id="13" name="Text 9"/>
          <p:cNvSpPr/>
          <p:nvPr/>
        </p:nvSpPr>
        <p:spPr>
          <a:xfrm>
            <a:off x="5212080"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Virtual tags</a:t>
            </a:r>
            <a:endParaRPr lang="en-US" sz="1500" dirty="0"/>
          </a:p>
        </p:txBody>
      </p:sp>
      <p:sp>
        <p:nvSpPr>
          <p:cNvPr id="14" name="Text 10"/>
          <p:cNvSpPr/>
          <p:nvPr/>
        </p:nvSpPr>
        <p:spPr>
          <a:xfrm>
            <a:off x="4626864"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Allocates untagged and shared cost by rule, without touching infrastructure tags — showback without a retagging project.</a:t>
            </a:r>
            <a:endParaRPr lang="en-US" sz="1150" dirty="0"/>
          </a:p>
        </p:txBody>
      </p:sp>
      <p:sp>
        <p:nvSpPr>
          <p:cNvPr id="15" name="Shape 11"/>
          <p:cNvSpPr/>
          <p:nvPr/>
        </p:nvSpPr>
        <p:spPr>
          <a:xfrm>
            <a:off x="8119872" y="2121408"/>
            <a:ext cx="3511296" cy="1719072"/>
          </a:xfrm>
          <a:prstGeom prst="roundRect">
            <a:avLst>
              <a:gd name="adj" fmla="val 4787"/>
            </a:avLst>
          </a:prstGeom>
          <a:solidFill>
            <a:srgbClr val="F1F3F6"/>
          </a:solidFill>
          <a:ln/>
        </p:spPr>
      </p:sp>
      <p:sp>
        <p:nvSpPr>
          <p:cNvPr id="16" name="Shape 12"/>
          <p:cNvSpPr/>
          <p:nvPr/>
        </p:nvSpPr>
        <p:spPr>
          <a:xfrm>
            <a:off x="8412480" y="2359152"/>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26780" y="2473452"/>
            <a:ext cx="228600" cy="228600"/>
          </a:xfrm>
          <a:prstGeom prst="rect">
            <a:avLst/>
          </a:prstGeom>
        </p:spPr>
      </p:pic>
      <p:sp>
        <p:nvSpPr>
          <p:cNvPr id="18" name="Text 13"/>
          <p:cNvSpPr/>
          <p:nvPr/>
        </p:nvSpPr>
        <p:spPr>
          <a:xfrm>
            <a:off x="8997696"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Kubernetes to pod level</a:t>
            </a:r>
            <a:endParaRPr lang="en-US" sz="1500" dirty="0"/>
          </a:p>
        </p:txBody>
      </p:sp>
      <p:sp>
        <p:nvSpPr>
          <p:cNvPr id="19" name="Text 14"/>
          <p:cNvSpPr/>
          <p:nvPr/>
        </p:nvSpPr>
        <p:spPr>
          <a:xfrm>
            <a:off x="8412480"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Cluster, namespace and pod allocation without an agent, which is the shared-cost problem most tools leave unsolved.</a:t>
            </a:r>
            <a:endParaRPr lang="en-US" sz="1150" dirty="0"/>
          </a:p>
        </p:txBody>
      </p:sp>
      <p:sp>
        <p:nvSpPr>
          <p:cNvPr id="20" name="Shape 15"/>
          <p:cNvSpPr/>
          <p:nvPr/>
        </p:nvSpPr>
        <p:spPr>
          <a:xfrm>
            <a:off x="548640" y="3986784"/>
            <a:ext cx="3511296" cy="1719072"/>
          </a:xfrm>
          <a:prstGeom prst="roundRect">
            <a:avLst>
              <a:gd name="adj" fmla="val 4787"/>
            </a:avLst>
          </a:prstGeom>
          <a:solidFill>
            <a:srgbClr val="F1F3F6"/>
          </a:solidFill>
          <a:ln/>
        </p:spPr>
      </p:sp>
      <p:sp>
        <p:nvSpPr>
          <p:cNvPr id="21" name="Shape 16"/>
          <p:cNvSpPr/>
          <p:nvPr/>
        </p:nvSpPr>
        <p:spPr>
          <a:xfrm>
            <a:off x="841248" y="4224528"/>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55548" y="4338828"/>
            <a:ext cx="228600" cy="228600"/>
          </a:xfrm>
          <a:prstGeom prst="rect">
            <a:avLst/>
          </a:prstGeom>
        </p:spPr>
      </p:pic>
      <p:sp>
        <p:nvSpPr>
          <p:cNvPr id="23" name="Text 17"/>
          <p:cNvSpPr/>
          <p:nvPr/>
        </p:nvSpPr>
        <p:spPr>
          <a:xfrm>
            <a:off x="1426464"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Dashboards and unit economics</a:t>
            </a:r>
            <a:endParaRPr lang="en-US" sz="1500" dirty="0"/>
          </a:p>
        </p:txBody>
      </p:sp>
      <p:sp>
        <p:nvSpPr>
          <p:cNvPr id="24" name="Text 18"/>
          <p:cNvSpPr/>
          <p:nvPr/>
        </p:nvSpPr>
        <p:spPr>
          <a:xfrm>
            <a:off x="841248"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Widgets for cost, usage, waste, budget and unit cost; business metrics from Datadog, Salesforce or Looker to divide by.</a:t>
            </a:r>
            <a:endParaRPr lang="en-US" sz="1150" dirty="0"/>
          </a:p>
        </p:txBody>
      </p:sp>
      <p:sp>
        <p:nvSpPr>
          <p:cNvPr id="25" name="Shape 19"/>
          <p:cNvSpPr/>
          <p:nvPr/>
        </p:nvSpPr>
        <p:spPr>
          <a:xfrm>
            <a:off x="4334256" y="3986784"/>
            <a:ext cx="3511296" cy="1719072"/>
          </a:xfrm>
          <a:prstGeom prst="roundRect">
            <a:avLst>
              <a:gd name="adj" fmla="val 4787"/>
            </a:avLst>
          </a:prstGeom>
          <a:solidFill>
            <a:srgbClr val="F1F3F6"/>
          </a:solidFill>
          <a:ln/>
        </p:spPr>
      </p:sp>
      <p:sp>
        <p:nvSpPr>
          <p:cNvPr id="26" name="Shape 20"/>
          <p:cNvSpPr/>
          <p:nvPr/>
        </p:nvSpPr>
        <p:spPr>
          <a:xfrm>
            <a:off x="4626864" y="4224528"/>
            <a:ext cx="457200" cy="45720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41164" y="4338828"/>
            <a:ext cx="228600" cy="228600"/>
          </a:xfrm>
          <a:prstGeom prst="rect">
            <a:avLst/>
          </a:prstGeom>
        </p:spPr>
      </p:pic>
      <p:sp>
        <p:nvSpPr>
          <p:cNvPr id="28" name="Text 21"/>
          <p:cNvSpPr/>
          <p:nvPr/>
        </p:nvSpPr>
        <p:spPr>
          <a:xfrm>
            <a:off x="5212080"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Budgets, forecast, anomalies</a:t>
            </a:r>
            <a:endParaRPr lang="en-US" sz="1500" dirty="0"/>
          </a:p>
        </p:txBody>
      </p:sp>
      <p:sp>
        <p:nvSpPr>
          <p:cNvPr id="29" name="Text 22"/>
          <p:cNvSpPr/>
          <p:nvPr/>
        </p:nvSpPr>
        <p:spPr>
          <a:xfrm>
            <a:off x="4626864"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Budget structures, forecasting on any unit cost, and anomaly alerts on unexpected movement.</a:t>
            </a:r>
            <a:endParaRPr lang="en-US" sz="1150" dirty="0"/>
          </a:p>
        </p:txBody>
      </p:sp>
      <p:sp>
        <p:nvSpPr>
          <p:cNvPr id="30" name="Shape 23"/>
          <p:cNvSpPr/>
          <p:nvPr/>
        </p:nvSpPr>
        <p:spPr>
          <a:xfrm>
            <a:off x="8119872" y="3986784"/>
            <a:ext cx="3511296" cy="1719072"/>
          </a:xfrm>
          <a:prstGeom prst="roundRect">
            <a:avLst>
              <a:gd name="adj" fmla="val 4787"/>
            </a:avLst>
          </a:prstGeom>
          <a:solidFill>
            <a:srgbClr val="F1F3F6"/>
          </a:solidFill>
          <a:ln/>
        </p:spPr>
      </p:sp>
      <p:sp>
        <p:nvSpPr>
          <p:cNvPr id="31" name="Shape 24"/>
          <p:cNvSpPr/>
          <p:nvPr/>
        </p:nvSpPr>
        <p:spPr>
          <a:xfrm>
            <a:off x="8412480" y="4224528"/>
            <a:ext cx="457200" cy="45720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26780" y="4338828"/>
            <a:ext cx="228600" cy="228600"/>
          </a:xfrm>
          <a:prstGeom prst="rect">
            <a:avLst/>
          </a:prstGeom>
        </p:spPr>
      </p:pic>
      <p:sp>
        <p:nvSpPr>
          <p:cNvPr id="33" name="Text 25"/>
          <p:cNvSpPr/>
          <p:nvPr/>
        </p:nvSpPr>
        <p:spPr>
          <a:xfrm>
            <a:off x="8997696"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Waste detection with an owner</a:t>
            </a:r>
            <a:endParaRPr lang="en-US" sz="1500" dirty="0"/>
          </a:p>
        </p:txBody>
      </p:sp>
      <p:sp>
        <p:nvSpPr>
          <p:cNvPr id="34" name="Text 26"/>
          <p:cNvSpPr/>
          <p:nvPr/>
        </p:nvSpPr>
        <p:spPr>
          <a:xfrm>
            <a:off x="8412480"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CostGuard consolidates recommendations across providers, assigns an owner and tracks the saving — into Jira, Slack or ServiceNow.</a:t>
            </a:r>
            <a:endParaRPr lang="en-US" sz="1150" dirty="0"/>
          </a:p>
        </p:txBody>
      </p:sp>
      <p:sp>
        <p:nvSpPr>
          <p:cNvPr id="35" name="Shape 27"/>
          <p:cNvSpPr/>
          <p:nvPr/>
        </p:nvSpPr>
        <p:spPr>
          <a:xfrm>
            <a:off x="548640" y="5852160"/>
            <a:ext cx="11091672" cy="786384"/>
          </a:xfrm>
          <a:prstGeom prst="roundRect">
            <a:avLst>
              <a:gd name="adj" fmla="val 10465"/>
            </a:avLst>
          </a:prstGeom>
          <a:solidFill>
            <a:srgbClr val="1F2936"/>
          </a:solidFill>
          <a:ln/>
          <a:effectLst>
            <a:outerShdw sx="100000" sy="100000" kx="0" ky="0" algn="bl" rotWithShape="0" blurRad="127000" dist="25400" dir="5400000">
              <a:srgbClr val="8C99A8">
                <a:alpha val="16000"/>
              </a:srgbClr>
            </a:outerShdw>
          </a:effectLst>
        </p:spPr>
      </p:sp>
      <p:sp>
        <p:nvSpPr>
          <p:cNvPr id="36" name="Text 28"/>
          <p:cNvSpPr/>
          <p:nvPr/>
        </p:nvSpPr>
        <p:spPr>
          <a:xfrm>
            <a:off x="877824" y="5852160"/>
            <a:ext cx="10424160" cy="786384"/>
          </a:xfrm>
          <a:prstGeom prst="rect">
            <a:avLst/>
          </a:prstGeom>
          <a:noFill/>
          <a:ln/>
        </p:spPr>
        <p:txBody>
          <a:bodyPr wrap="square" lIns="0" tIns="0" rIns="0" bIns="0" rtlCol="0" anchor="ctr"/>
          <a:lstStyle/>
          <a:p>
            <a:pPr indent="0" marL="0">
              <a:lnSpc>
                <a:spcPts val="1600"/>
              </a:lnSpc>
              <a:buNone/>
            </a:pPr>
            <a:r>
              <a:rPr lang="en-US" sz="1200" b="1" dirty="0">
                <a:solidFill>
                  <a:srgbClr val="E39B2C"/>
                </a:solidFill>
                <a:latin typeface="Calibri" pitchFamily="34" charset="0"/>
                <a:ea typeface="Calibri" pitchFamily="34" charset="-122"/>
                <a:cs typeface="Calibri" pitchFamily="34" charset="-120"/>
              </a:rPr>
              <a:t>Before buying, prove three things on our own data:  </a:t>
            </a:r>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that it allocates the spend we cannot allocate today, that it attributes Azure OpenAI cost per calling application rather than per resource, and that it exports FOCUS so we are not locked in. Vendor-published outcomes — around 30% cost reduction and 50% engineer time saved — are marketing claims, not a forecast for us.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2026-08-04T18:53:16Z</dcterms:created>
  <dcterms:modified xsi:type="dcterms:W3CDTF">2026-08-04T18:53:16Z</dcterms:modified>
</cp:coreProperties>
</file>