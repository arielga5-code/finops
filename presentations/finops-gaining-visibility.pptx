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Framing: this briefing is about the Inform phase of FinOps — visibility. It is deliberately not an optimization pitch. The argument is that visibility is the prerequisite that makes every later saving durable rather than one-off.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lived experience rather than theory: the month-end surprise. If you have one, use a real example of a bill that moved and could not be explained within 24 hours. The point of the quote is that a dashboard is not the same thing as visibility — visibility means an owner and a cause can be named.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the 'Finance + DevOps' compound: this is an operating model that puts two functions in the same conversation, not a tool purchase. Inform is highlighted because it is where this organization is, and because the cycle repeats — each optimization round needs fresh visibility to target the next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 questions are the acceptance test for the visibility programme. Invite the room to answer them for our own estate right now — the gaps in the answers are the business case. The bottom line matters most to a cost-conscious executive: without allocation, the only lever left is an across-the-board cut, which lands hardest on whoever is least able to argue back rather than on actual waste.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capabilities, in dependency order: allocation makes reporting meaningful, reporting makes unit economics computable, and freshness determines whether any of it is actionable. Unit economics is the one that changes the conversation with the board — it separates 'spend is up' from 'spend per customer is down', which are opposite stories told by the same invoice.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honest slide: it says the goal is hard and names why. The next four slides map one-to-one onto the first four blockers. SaaS and marketplace spend has no dedicated solution slide because the fix is procurement discipline rather than tooling — flag it as an action for finance, not engineering.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 slide to take away if only one lands. Two decisions are needed from this room: who owns the tag taxonomy, and whether we are willing to enforce it with policy that blocks untagged resource creation. Enforcement at creation is nearly free; retrofitting a live estate is not. The five minimum tags are a starting point — resist the urge to design thirty.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Worth naming our own shared platforms out loud here. The caveat to flag: a shared platform carries one set of tags, so resource tags alone cannot split it — per-team attribution needs either gateway-level keys or application-level instrumentation. Decide which before promising anyone chargeback on a shared 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failure modes to describe: under-coverage, where we pay on-demand rates for workloads that never turn off; and over-commitment, where we buy for a peak that never returns. The reporting fix is showing both prices — teams that only see the discounted rate cannot tell whether the commitment is earning its keep, and teams that only see list price will not believe the savings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Calibrate to our own footprint: if we are effectively single-cloud, the native tooling is sufficient and a platform purchase is premature. The FOCUS point still matters even then — asking vendors for FOCUS-compliant exports keeps the option open and makes any future migration cheap.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sequencing is the message. Showback is a runway, not a lesser version of chargeback: it is where allocation disputes get found and settled while the stakes are still low. A chargeback launched on 60% tagging coverage produces an argument about the numbers instead of a conversation about the spend, and that argument is expensive to unwind.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as a maturity self-assessment rather than a wish list: mark each of the six as in place, partial, or absent for our estate. Note that four of the six are visibility practices — high performers are not distinguished by how aggressively they cut, but by how early and how precisely they see.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ask. Step 1 is highlighted because it is the only one that cannot be parallelized — everything downstream degrades if the taxonomy is still in flux. Steps 2 and 4 are both arguments against over-engineering: pick the top spend categories and the tooling that matches the estate we actually have, not the one we might have in three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causal chain rather than a summary of slides. Each link is a separate management commitment: allocation data, published ownership, cost surfaced in the engineering workflow, and a review cadence that keeps it alive. Ask for the first two today; the rest follow from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Anticipate three questions. What will this cost — mostly effort, not licences, if we stay on native tooling. How long until we see savings — allocation coverage improves in weeks, targeted savings follow the first full month of clean data. Who owns it — name the tagging owner and the review cadence before leaving the room, or nothing on the previous slides happens.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E39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BRIEFING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78308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FinOps:</a:t>
            </a:r>
            <a:endParaRPr lang="en-US" sz="46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Gaining Visibility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548640" y="36118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9E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 of cloud financial management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51206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b="1" spc="140" kern="0" dirty="0">
                <a:solidFill>
                  <a:srgbClr val="9E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to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Leadership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931920" y="51206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b="1" spc="140" kern="0" dirty="0">
                <a:solidFill>
                  <a:srgbClr val="9E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9E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____________________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001000" y="1572768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8" name="Shape 6"/>
          <p:cNvSpPr/>
          <p:nvPr/>
        </p:nvSpPr>
        <p:spPr>
          <a:xfrm>
            <a:off x="8513064" y="1572768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9" name="Shape 7"/>
          <p:cNvSpPr/>
          <p:nvPr/>
        </p:nvSpPr>
        <p:spPr>
          <a:xfrm>
            <a:off x="9025128" y="1572768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10" name="Shape 8"/>
          <p:cNvSpPr/>
          <p:nvPr/>
        </p:nvSpPr>
        <p:spPr>
          <a:xfrm>
            <a:off x="9537192" y="1572768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49256" y="1572768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61320" y="1572768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73384" y="1572768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14" name="Shape 12"/>
          <p:cNvSpPr/>
          <p:nvPr/>
        </p:nvSpPr>
        <p:spPr>
          <a:xfrm>
            <a:off x="8001000" y="2084832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15" name="Shape 13"/>
          <p:cNvSpPr/>
          <p:nvPr/>
        </p:nvSpPr>
        <p:spPr>
          <a:xfrm>
            <a:off x="8513064" y="2084832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16" name="Shape 14"/>
          <p:cNvSpPr/>
          <p:nvPr/>
        </p:nvSpPr>
        <p:spPr>
          <a:xfrm>
            <a:off x="9025128" y="2084832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17" name="Shape 15"/>
          <p:cNvSpPr/>
          <p:nvPr/>
        </p:nvSpPr>
        <p:spPr>
          <a:xfrm>
            <a:off x="9537192" y="2084832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18" name="Shape 16"/>
          <p:cNvSpPr/>
          <p:nvPr/>
        </p:nvSpPr>
        <p:spPr>
          <a:xfrm>
            <a:off x="10049256" y="2084832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61320" y="2084832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073384" y="2084832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21" name="Shape 19"/>
          <p:cNvSpPr/>
          <p:nvPr/>
        </p:nvSpPr>
        <p:spPr>
          <a:xfrm>
            <a:off x="8001000" y="2596896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22" name="Shape 20"/>
          <p:cNvSpPr/>
          <p:nvPr/>
        </p:nvSpPr>
        <p:spPr>
          <a:xfrm>
            <a:off x="8513064" y="2596896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23" name="Shape 21"/>
          <p:cNvSpPr/>
          <p:nvPr/>
        </p:nvSpPr>
        <p:spPr>
          <a:xfrm>
            <a:off x="9025128" y="2596896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24" name="Shape 22"/>
          <p:cNvSpPr/>
          <p:nvPr/>
        </p:nvSpPr>
        <p:spPr>
          <a:xfrm>
            <a:off x="9537192" y="2596896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25" name="Shape 23"/>
          <p:cNvSpPr/>
          <p:nvPr/>
        </p:nvSpPr>
        <p:spPr>
          <a:xfrm>
            <a:off x="10049256" y="2596896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26" name="Shape 24"/>
          <p:cNvSpPr/>
          <p:nvPr/>
        </p:nvSpPr>
        <p:spPr>
          <a:xfrm>
            <a:off x="10561320" y="2596896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27" name="Shape 25"/>
          <p:cNvSpPr/>
          <p:nvPr/>
        </p:nvSpPr>
        <p:spPr>
          <a:xfrm>
            <a:off x="11073384" y="2596896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28" name="Shape 26"/>
          <p:cNvSpPr/>
          <p:nvPr/>
        </p:nvSpPr>
        <p:spPr>
          <a:xfrm>
            <a:off x="8001000" y="3108960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29" name="Shape 27"/>
          <p:cNvSpPr/>
          <p:nvPr/>
        </p:nvSpPr>
        <p:spPr>
          <a:xfrm>
            <a:off x="8513064" y="3108960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30" name="Shape 28"/>
          <p:cNvSpPr/>
          <p:nvPr/>
        </p:nvSpPr>
        <p:spPr>
          <a:xfrm>
            <a:off x="9025128" y="3108960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31" name="Shape 29"/>
          <p:cNvSpPr/>
          <p:nvPr/>
        </p:nvSpPr>
        <p:spPr>
          <a:xfrm>
            <a:off x="9537192" y="3108960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32" name="Shape 30"/>
          <p:cNvSpPr/>
          <p:nvPr/>
        </p:nvSpPr>
        <p:spPr>
          <a:xfrm>
            <a:off x="10049256" y="3108960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33" name="Shape 31"/>
          <p:cNvSpPr/>
          <p:nvPr/>
        </p:nvSpPr>
        <p:spPr>
          <a:xfrm>
            <a:off x="10561320" y="3108960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34" name="Shape 32"/>
          <p:cNvSpPr/>
          <p:nvPr/>
        </p:nvSpPr>
        <p:spPr>
          <a:xfrm>
            <a:off x="11073384" y="3108960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35" name="Shape 33"/>
          <p:cNvSpPr/>
          <p:nvPr/>
        </p:nvSpPr>
        <p:spPr>
          <a:xfrm>
            <a:off x="8001000" y="3621024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36" name="Shape 34"/>
          <p:cNvSpPr/>
          <p:nvPr/>
        </p:nvSpPr>
        <p:spPr>
          <a:xfrm>
            <a:off x="8513064" y="3621024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37" name="Shape 35"/>
          <p:cNvSpPr/>
          <p:nvPr/>
        </p:nvSpPr>
        <p:spPr>
          <a:xfrm>
            <a:off x="9025128" y="3621024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38" name="Shape 36"/>
          <p:cNvSpPr/>
          <p:nvPr/>
        </p:nvSpPr>
        <p:spPr>
          <a:xfrm>
            <a:off x="9537192" y="3621024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39" name="Shape 37"/>
          <p:cNvSpPr/>
          <p:nvPr/>
        </p:nvSpPr>
        <p:spPr>
          <a:xfrm>
            <a:off x="10049256" y="3621024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40" name="Shape 38"/>
          <p:cNvSpPr/>
          <p:nvPr/>
        </p:nvSpPr>
        <p:spPr>
          <a:xfrm>
            <a:off x="10561320" y="3621024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41" name="Shape 39"/>
          <p:cNvSpPr/>
          <p:nvPr/>
        </p:nvSpPr>
        <p:spPr>
          <a:xfrm>
            <a:off x="11073384" y="3621024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42" name="Shape 40"/>
          <p:cNvSpPr/>
          <p:nvPr/>
        </p:nvSpPr>
        <p:spPr>
          <a:xfrm>
            <a:off x="8001000" y="4133088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43" name="Shape 41"/>
          <p:cNvSpPr/>
          <p:nvPr/>
        </p:nvSpPr>
        <p:spPr>
          <a:xfrm>
            <a:off x="8513064" y="4133088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44" name="Shape 42"/>
          <p:cNvSpPr/>
          <p:nvPr/>
        </p:nvSpPr>
        <p:spPr>
          <a:xfrm>
            <a:off x="9025128" y="4133088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45" name="Shape 43"/>
          <p:cNvSpPr/>
          <p:nvPr/>
        </p:nvSpPr>
        <p:spPr>
          <a:xfrm>
            <a:off x="9537192" y="4133088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46" name="Shape 44"/>
          <p:cNvSpPr/>
          <p:nvPr/>
        </p:nvSpPr>
        <p:spPr>
          <a:xfrm>
            <a:off x="10049256" y="4133088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47" name="Shape 45"/>
          <p:cNvSpPr/>
          <p:nvPr/>
        </p:nvSpPr>
        <p:spPr>
          <a:xfrm>
            <a:off x="10561320" y="4133088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48" name="Shape 46"/>
          <p:cNvSpPr/>
          <p:nvPr/>
        </p:nvSpPr>
        <p:spPr>
          <a:xfrm>
            <a:off x="11073384" y="4133088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49" name="Shape 47"/>
          <p:cNvSpPr/>
          <p:nvPr/>
        </p:nvSpPr>
        <p:spPr>
          <a:xfrm>
            <a:off x="8001000" y="4645152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50" name="Shape 48"/>
          <p:cNvSpPr/>
          <p:nvPr/>
        </p:nvSpPr>
        <p:spPr>
          <a:xfrm>
            <a:off x="8513064" y="4645152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51" name="Shape 49"/>
          <p:cNvSpPr/>
          <p:nvPr/>
        </p:nvSpPr>
        <p:spPr>
          <a:xfrm>
            <a:off x="9025128" y="4645152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52" name="Shape 50"/>
          <p:cNvSpPr/>
          <p:nvPr/>
        </p:nvSpPr>
        <p:spPr>
          <a:xfrm>
            <a:off x="9537192" y="4645152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53" name="Shape 51"/>
          <p:cNvSpPr/>
          <p:nvPr/>
        </p:nvSpPr>
        <p:spPr>
          <a:xfrm>
            <a:off x="10049256" y="4645152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54" name="Shape 52"/>
          <p:cNvSpPr/>
          <p:nvPr/>
        </p:nvSpPr>
        <p:spPr>
          <a:xfrm>
            <a:off x="10561320" y="4645152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55" name="Shape 53"/>
          <p:cNvSpPr/>
          <p:nvPr/>
        </p:nvSpPr>
        <p:spPr>
          <a:xfrm>
            <a:off x="11073384" y="4645152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56" name="Text 54"/>
          <p:cNvSpPr/>
          <p:nvPr/>
        </p:nvSpPr>
        <p:spPr>
          <a:xfrm>
            <a:off x="8001000" y="5257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E39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you can see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39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WE FACE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68096"/>
            <a:ext cx="11091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 spend is dynamic, distributed and opaque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512064" cy="512064"/>
          </a:xfrm>
          <a:prstGeom prst="ellipse">
            <a:avLst/>
          </a:prstGeom>
          <a:solidFill>
            <a:srgbClr val="FBEFD8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2231136"/>
            <a:ext cx="256032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16736" y="1965960"/>
            <a:ext cx="51755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Costs move daily</a:t>
            </a:r>
            <a:endParaRPr lang="en-US" sz="15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is dynamic and distributed across teams, services and regions.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3108960"/>
            <a:ext cx="512064" cy="512064"/>
          </a:xfrm>
          <a:prstGeom prst="ellipse">
            <a:avLst/>
          </a:prstGeom>
          <a:solidFill>
            <a:srgbClr val="FBEFD8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3236976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16736" y="2971800"/>
            <a:ext cx="51755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Budgeting models don't fit</a:t>
            </a:r>
            <a:endParaRPr lang="en-US" sz="15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IT budgeting assumes fixed, predictable costs. Cloud is neither.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48640" y="4114800"/>
            <a:ext cx="512064" cy="512064"/>
          </a:xfrm>
          <a:prstGeom prst="ellipse">
            <a:avLst/>
          </a:prstGeom>
          <a:solidFill>
            <a:srgbClr val="FBEFD8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4242816"/>
            <a:ext cx="256032" cy="25603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316736" y="3977640"/>
            <a:ext cx="51755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spend money</a:t>
            </a:r>
            <a:endParaRPr lang="en-US" sz="15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decisions made daily carry direct, immediate financial consequences.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548640" y="5120640"/>
            <a:ext cx="512064" cy="512064"/>
          </a:xfrm>
          <a:prstGeom prst="ellipse">
            <a:avLst/>
          </a:prstGeom>
          <a:solidFill>
            <a:srgbClr val="FBEFD8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5248656"/>
            <a:ext cx="256032" cy="25603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316736" y="4983480"/>
            <a:ext cx="51755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Bills arrive without context</a:t>
            </a:r>
            <a:endParaRPr lang="en-US" sz="15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invoices show what was spent — rarely who spent it, or why.</a:t>
            </a:r>
            <a:endParaRPr lang="en-US" sz="1500" dirty="0"/>
          </a:p>
        </p:txBody>
      </p:sp>
      <p:sp>
        <p:nvSpPr>
          <p:cNvPr id="16" name="Shape 10"/>
          <p:cNvSpPr/>
          <p:nvPr/>
        </p:nvSpPr>
        <p:spPr>
          <a:xfrm>
            <a:off x="6858000" y="1965960"/>
            <a:ext cx="4782312" cy="2194560"/>
          </a:xfrm>
          <a:prstGeom prst="roundRect">
            <a:avLst>
              <a:gd name="adj" fmla="val 3750"/>
            </a:avLst>
          </a:prstGeom>
          <a:solidFill>
            <a:srgbClr val="F1F3F6"/>
          </a:solidFill>
          <a:ln/>
          <a:effectLst>
            <a:outerShdw sx="100000" sy="100000" kx="0" ky="0" algn="bl" rotWithShape="0" blurRad="127000" dist="25400" dir="5400000">
              <a:srgbClr val="8C99A8">
                <a:alpha val="16000"/>
              </a:srgbClr>
            </a:outerShdw>
          </a:effectLst>
        </p:spPr>
      </p:sp>
      <p:sp>
        <p:nvSpPr>
          <p:cNvPr id="17" name="Text 11"/>
          <p:cNvSpPr/>
          <p:nvPr/>
        </p:nvSpPr>
        <p:spPr>
          <a:xfrm>
            <a:off x="7150608" y="2075688"/>
            <a:ext cx="4197096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i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“When costs rise and no one can explain who owns the change or what caused it, visibility has failed — even if a dashboard is showing numbers.”</a:t>
            </a:r>
            <a:endParaRPr lang="en-US" sz="1450" dirty="0"/>
          </a:p>
        </p:txBody>
      </p:sp>
      <p:sp>
        <p:nvSpPr>
          <p:cNvPr id="18" name="Shape 12"/>
          <p:cNvSpPr/>
          <p:nvPr/>
        </p:nvSpPr>
        <p:spPr>
          <a:xfrm>
            <a:off x="6858000" y="4352544"/>
            <a:ext cx="4782312" cy="1508760"/>
          </a:xfrm>
          <a:prstGeom prst="roundRect">
            <a:avLst>
              <a:gd name="adj" fmla="val 5455"/>
            </a:avLst>
          </a:prstGeom>
          <a:solidFill>
            <a:srgbClr val="1F2936"/>
          </a:solidFill>
          <a:ln/>
          <a:effectLst>
            <a:outerShdw sx="100000" sy="100000" kx="0" ky="0" algn="bl" rotWithShape="0" blurRad="127000" dist="25400" dir="5400000">
              <a:srgbClr val="8C99A8">
                <a:alpha val="16000"/>
              </a:srgbClr>
            </a:outerShdw>
          </a:effectLst>
        </p:spPr>
      </p:sp>
      <p:sp>
        <p:nvSpPr>
          <p:cNvPr id="19" name="Text 13"/>
          <p:cNvSpPr/>
          <p:nvPr/>
        </p:nvSpPr>
        <p:spPr>
          <a:xfrm>
            <a:off x="7150608" y="4489704"/>
            <a:ext cx="41970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b="1" spc="180" kern="0" dirty="0">
                <a:solidFill>
                  <a:srgbClr val="E39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Sticker shock, finger-pointing and reactive cost-cutting instead of strategic optimization.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39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68096"/>
            <a:ext cx="11091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FinOps = Finance + DevOps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operational framework and cultural practice for maximizing the business value of cloud investment. Not a cost-cutting programme — a way to make the financial impact of technical choices visible to everyone.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3511296" cy="2423160"/>
          </a:xfrm>
          <a:prstGeom prst="roundRect">
            <a:avLst>
              <a:gd name="adj" fmla="val 3396"/>
            </a:avLst>
          </a:prstGeom>
          <a:solidFill>
            <a:srgbClr val="1F2936"/>
          </a:solidFill>
          <a:ln/>
          <a:effectLst>
            <a:outerShdw sx="100000" sy="100000" kx="0" ky="0" algn="bl" rotWithShape="0" blurRad="127000" dist="25400" dir="5400000">
              <a:srgbClr val="8C99A8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743200"/>
            <a:ext cx="603504" cy="603504"/>
          </a:xfrm>
          <a:prstGeom prst="ellipse">
            <a:avLst/>
          </a:prstGeom>
          <a:solidFill>
            <a:srgbClr val="E39B2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" y="2894076"/>
            <a:ext cx="301752" cy="30175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926080" y="2743200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3B4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859536" y="349300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859536" y="3913632"/>
            <a:ext cx="2889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E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visibility. Understand who is spending what, where, and why.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334256" y="2468880"/>
            <a:ext cx="3511296" cy="2423160"/>
          </a:xfrm>
          <a:prstGeom prst="roundRect">
            <a:avLst>
              <a:gd name="adj" fmla="val 3396"/>
            </a:avLst>
          </a:prstGeom>
          <a:solidFill>
            <a:srgbClr val="F1F3F6"/>
          </a:solidFill>
          <a:ln/>
          <a:effectLst>
            <a:outerShdw sx="100000" sy="100000" kx="0" ky="0" algn="bl" rotWithShape="0" blurRad="127000" dist="25400" dir="5400000">
              <a:srgbClr val="8C99A8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645152" y="2743200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28" y="2894076"/>
            <a:ext cx="301752" cy="30175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711696" y="2743200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C8D0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4645152" y="349300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Optimize</a:t>
            </a:r>
            <a:endParaRPr lang="en-US" sz="2200" dirty="0"/>
          </a:p>
        </p:txBody>
      </p:sp>
      <p:sp>
        <p:nvSpPr>
          <p:cNvPr id="16" name="Text 12"/>
          <p:cNvSpPr/>
          <p:nvPr/>
        </p:nvSpPr>
        <p:spPr>
          <a:xfrm>
            <a:off x="4645152" y="3913632"/>
            <a:ext cx="2889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on the insight. Rightsize, eliminate waste, manage commitments.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8119872" y="2468880"/>
            <a:ext cx="3511296" cy="2423160"/>
          </a:xfrm>
          <a:prstGeom prst="roundRect">
            <a:avLst>
              <a:gd name="adj" fmla="val 3396"/>
            </a:avLst>
          </a:prstGeom>
          <a:solidFill>
            <a:srgbClr val="F1F3F6"/>
          </a:solidFill>
          <a:ln/>
          <a:effectLst>
            <a:outerShdw sx="100000" sy="100000" kx="0" ky="0" algn="bl" rotWithShape="0" blurRad="127000" dist="25400" dir="5400000">
              <a:srgbClr val="8C99A8">
                <a:alpha val="1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430768" y="2743200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1644" y="2894076"/>
            <a:ext cx="301752" cy="30175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0497312" y="2743200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C8D0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21" name="Text 16"/>
          <p:cNvSpPr/>
          <p:nvPr/>
        </p:nvSpPr>
        <p:spPr>
          <a:xfrm>
            <a:off x="8430768" y="349300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Operate</a:t>
            </a:r>
            <a:endParaRPr lang="en-US" sz="2200" dirty="0"/>
          </a:p>
        </p:txBody>
      </p:sp>
      <p:sp>
        <p:nvSpPr>
          <p:cNvPr id="22" name="Text 17"/>
          <p:cNvSpPr/>
          <p:nvPr/>
        </p:nvSpPr>
        <p:spPr>
          <a:xfrm>
            <a:off x="8430768" y="3913632"/>
            <a:ext cx="2889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cost awareness into daily engineering and business process.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548640" y="507492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continuous cycle, not a sequence of projects.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548640" y="5532120"/>
            <a:ext cx="11091672" cy="749808"/>
          </a:xfrm>
          <a:prstGeom prst="roundRect">
            <a:avLst>
              <a:gd name="adj" fmla="val 10976"/>
            </a:avLst>
          </a:prstGeom>
          <a:solidFill>
            <a:srgbClr val="FBEFD8"/>
          </a:solidFill>
          <a:ln/>
          <a:effectLst>
            <a:outerShdw sx="100000" sy="100000" kx="0" ky="0" algn="bl" rotWithShape="0" blurRad="127000" dist="25400" dir="5400000">
              <a:srgbClr val="8C99A8">
                <a:alpha val="16000"/>
              </a:srgbClr>
            </a:outerShdw>
          </a:effectLst>
        </p:spPr>
      </p:sp>
      <p:sp>
        <p:nvSpPr>
          <p:cNvPr id="25" name="Text 20"/>
          <p:cNvSpPr/>
          <p:nvPr/>
        </p:nvSpPr>
        <p:spPr>
          <a:xfrm>
            <a:off x="841248" y="5641848"/>
            <a:ext cx="105064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i="1" dirty="0">
                <a:solidFill>
                  <a:srgbClr val="6B4A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“Without visibility, nothing else in the practice works.”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39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VISIBILITY FIRST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68096"/>
            <a:ext cx="11091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cannot optimize what you cannot see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53619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questions the organization must be able to answer before any meaningful optimization begins.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84832"/>
            <a:ext cx="11091672" cy="713232"/>
          </a:xfrm>
          <a:prstGeom prst="roundRect">
            <a:avLst>
              <a:gd name="adj" fmla="val 11538"/>
            </a:avLst>
          </a:prstGeom>
          <a:solidFill>
            <a:srgbClr val="F1F3F6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2084832"/>
            <a:ext cx="7315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teams, products or features drive cloud spend?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321040" y="22585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spc="80" kern="0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907792"/>
            <a:ext cx="11091672" cy="713232"/>
          </a:xfrm>
          <a:prstGeom prst="roundRect">
            <a:avLst>
              <a:gd name="adj" fmla="val 11538"/>
            </a:avLst>
          </a:prstGeom>
          <a:solidFill>
            <a:srgbClr val="F1F3F6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2907792"/>
            <a:ext cx="7315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spend growing with the business — or faster than it?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321040" y="30815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spc="80" kern="0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signal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730752"/>
            <a:ext cx="11091672" cy="713232"/>
          </a:xfrm>
          <a:prstGeom prst="roundRect">
            <a:avLst>
              <a:gd name="adj" fmla="val 11538"/>
            </a:avLst>
          </a:prstGeom>
          <a:solidFill>
            <a:srgbClr val="F1F3F6"/>
          </a:solidFill>
          <a:ln/>
        </p:spPr>
      </p:sp>
      <p:sp>
        <p:nvSpPr>
          <p:cNvPr id="12" name="Text 10"/>
          <p:cNvSpPr/>
          <p:nvPr/>
        </p:nvSpPr>
        <p:spPr>
          <a:xfrm>
            <a:off x="859536" y="3730752"/>
            <a:ext cx="7315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resources are paid for but sitting unused?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321040" y="39044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spc="80" kern="0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identification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553712"/>
            <a:ext cx="11091672" cy="713232"/>
          </a:xfrm>
          <a:prstGeom prst="roundRect">
            <a:avLst>
              <a:gd name="adj" fmla="val 11538"/>
            </a:avLst>
          </a:prstGeom>
          <a:solidFill>
            <a:srgbClr val="F1F3F6"/>
          </a:solidFill>
          <a:ln/>
        </p:spPr>
      </p:sp>
      <p:sp>
        <p:nvSpPr>
          <p:cNvPr id="15" name="Text 13"/>
          <p:cNvSpPr/>
          <p:nvPr/>
        </p:nvSpPr>
        <p:spPr>
          <a:xfrm>
            <a:off x="859536" y="4553712"/>
            <a:ext cx="7315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costs allocated accurately enough to drive ownership?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321040" y="47274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spc="80" kern="0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change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5504688"/>
            <a:ext cx="11091672" cy="841248"/>
          </a:xfrm>
          <a:prstGeom prst="roundRect">
            <a:avLst>
              <a:gd name="adj" fmla="val 9783"/>
            </a:avLst>
          </a:prstGeom>
          <a:solidFill>
            <a:srgbClr val="1F2936"/>
          </a:solidFill>
          <a:ln/>
          <a:effectLst>
            <a:outerShdw sx="100000" sy="100000" kx="0" ky="0" algn="bl" rotWithShape="0" blurRad="127000" dist="25400" dir="5400000">
              <a:srgbClr val="8C99A8">
                <a:alpha val="1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59536" y="5504688"/>
            <a:ext cx="10469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9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 of skipping visibility: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 becomes reactive and superficial — blanket cost-cutting instead of targeted action against real waste.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39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VISIBILITY FRAMEWORK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68096"/>
            <a:ext cx="11091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“good visibility” looks like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1481328"/>
          </a:xfrm>
          <a:prstGeom prst="roundRect">
            <a:avLst>
              <a:gd name="adj" fmla="val 5556"/>
            </a:avLst>
          </a:prstGeom>
          <a:solidFill>
            <a:srgbClr val="F1F3F6"/>
          </a:solidFill>
          <a:ln/>
        </p:spPr>
      </p:sp>
      <p:sp>
        <p:nvSpPr>
          <p:cNvPr id="5" name="Shape 3"/>
          <p:cNvSpPr/>
          <p:nvPr/>
        </p:nvSpPr>
        <p:spPr>
          <a:xfrm>
            <a:off x="841248" y="2185416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" y="2345436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00253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allocation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1645920" y="2368296"/>
            <a:ext cx="40416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Breakdown by team, product, environment or business unit. Depends entirely on a consistent tagging strategy.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45352" y="1783080"/>
            <a:ext cx="5394960" cy="1481328"/>
          </a:xfrm>
          <a:prstGeom prst="roundRect">
            <a:avLst>
              <a:gd name="adj" fmla="val 5556"/>
            </a:avLst>
          </a:prstGeom>
          <a:solidFill>
            <a:srgbClr val="F1F3F6"/>
          </a:solidFill>
          <a:ln/>
        </p:spPr>
      </p:sp>
      <p:sp>
        <p:nvSpPr>
          <p:cNvPr id="10" name="Shape 7"/>
          <p:cNvSpPr/>
          <p:nvPr/>
        </p:nvSpPr>
        <p:spPr>
          <a:xfrm>
            <a:off x="6537960" y="2185416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7980" y="2345436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42632" y="200253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Granular reporting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7342632" y="2368296"/>
            <a:ext cx="40416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Breakdown by service, resource type and time period — this is what reveals trends, spikes and anomalies.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3401568"/>
            <a:ext cx="5394960" cy="1481328"/>
          </a:xfrm>
          <a:prstGeom prst="roundRect">
            <a:avLst>
              <a:gd name="adj" fmla="val 5556"/>
            </a:avLst>
          </a:prstGeom>
          <a:solidFill>
            <a:srgbClr val="F1F3F6"/>
          </a:solidFill>
          <a:ln/>
        </p:spPr>
      </p:sp>
      <p:sp>
        <p:nvSpPr>
          <p:cNvPr id="15" name="Shape 11"/>
          <p:cNvSpPr/>
          <p:nvPr/>
        </p:nvSpPr>
        <p:spPr>
          <a:xfrm>
            <a:off x="841248" y="3803904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" y="3963924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45920" y="362102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 economics</a:t>
            </a:r>
            <a:endParaRPr lang="en-US" sz="1900" dirty="0"/>
          </a:p>
        </p:txBody>
      </p:sp>
      <p:sp>
        <p:nvSpPr>
          <p:cNvPr id="18" name="Text 13"/>
          <p:cNvSpPr/>
          <p:nvPr/>
        </p:nvSpPr>
        <p:spPr>
          <a:xfrm>
            <a:off x="1645920" y="3986784"/>
            <a:ext cx="40416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customer, per transaction, per active user. The measure of whether spend growth is healthy.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245352" y="3401568"/>
            <a:ext cx="5394960" cy="1481328"/>
          </a:xfrm>
          <a:prstGeom prst="roundRect">
            <a:avLst>
              <a:gd name="adj" fmla="val 5556"/>
            </a:avLst>
          </a:prstGeom>
          <a:solidFill>
            <a:srgbClr val="F1F3F6"/>
          </a:solidFill>
          <a:ln/>
        </p:spPr>
      </p:sp>
      <p:sp>
        <p:nvSpPr>
          <p:cNvPr id="20" name="Shape 15"/>
          <p:cNvSpPr/>
          <p:nvPr/>
        </p:nvSpPr>
        <p:spPr>
          <a:xfrm>
            <a:off x="6537960" y="3803904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7980" y="3963924"/>
            <a:ext cx="320040" cy="32004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42632" y="362102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Near real-time data</a:t>
            </a:r>
            <a:endParaRPr lang="en-US" sz="1900" dirty="0"/>
          </a:p>
        </p:txBody>
      </p:sp>
      <p:sp>
        <p:nvSpPr>
          <p:cNvPr id="23" name="Text 17"/>
          <p:cNvSpPr/>
          <p:nvPr/>
        </p:nvSpPr>
        <p:spPr>
          <a:xfrm>
            <a:off x="7342632" y="3986784"/>
            <a:ext cx="40416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reporting is too slow. Cost data must arrive with enough immediacy to respond to anomalies.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548640" y="5138928"/>
            <a:ext cx="11091672" cy="1188720"/>
          </a:xfrm>
          <a:prstGeom prst="roundRect">
            <a:avLst>
              <a:gd name="adj" fmla="val 6923"/>
            </a:avLst>
          </a:prstGeom>
          <a:solidFill>
            <a:srgbClr val="1F2936"/>
          </a:solidFill>
          <a:ln/>
          <a:effectLst>
            <a:outerShdw sx="100000" sy="100000" kx="0" ky="0" algn="bl" rotWithShape="0" blurRad="127000" dist="25400" dir="5400000">
              <a:srgbClr val="8C99A8">
                <a:alpha val="16000"/>
              </a:srgbClr>
            </a:outerShdw>
          </a:effectLst>
        </p:spPr>
      </p:sp>
      <p:sp>
        <p:nvSpPr>
          <p:cNvPr id="25" name="Text 19"/>
          <p:cNvSpPr/>
          <p:nvPr/>
        </p:nvSpPr>
        <p:spPr>
          <a:xfrm>
            <a:off x="877824" y="52852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E39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877824" y="559612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E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from  </a:t>
            </a:r>
            <a:pPr indent="0" marL="0">
              <a:buNone/>
            </a:pPr>
            <a:r>
              <a:rPr lang="en-US" sz="1600" i="1" dirty="0">
                <a:solidFill>
                  <a:srgbClr val="9E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“IT is overspending”</a:t>
            </a:r>
            <a:pPr indent="0" marL="0">
              <a:buNone/>
            </a:pPr>
            <a:r>
              <a:rPr lang="en-US" sz="1600" dirty="0">
                <a:solidFill>
                  <a:srgbClr val="9E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to 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“Team X used Y resources, costing $Z, delivering A value.”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39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VISIBILITY BLOCKERS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68096"/>
            <a:ext cx="11091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filters between us and a clear view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719072"/>
            <a:ext cx="11091672" cy="713232"/>
          </a:xfrm>
          <a:prstGeom prst="roundRect">
            <a:avLst>
              <a:gd name="adj" fmla="val 11538"/>
            </a:avLst>
          </a:prstGeom>
          <a:solidFill>
            <a:srgbClr val="1F2936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837944"/>
            <a:ext cx="475488" cy="475488"/>
          </a:xfrm>
          <a:prstGeom prst="ellipse">
            <a:avLst/>
          </a:prstGeom>
          <a:solidFill>
            <a:srgbClr val="2E3A4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956816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81328" y="1719072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tagging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754880" y="1719072"/>
            <a:ext cx="6766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E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significant portion of spend stays unallocated or misallocated.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2523744"/>
            <a:ext cx="11091672" cy="713232"/>
          </a:xfrm>
          <a:prstGeom prst="roundRect">
            <a:avLst>
              <a:gd name="adj" fmla="val 11538"/>
            </a:avLst>
          </a:prstGeom>
          <a:solidFill>
            <a:srgbClr val="1F2936"/>
          </a:solidFill>
          <a:ln/>
        </p:spPr>
      </p:sp>
      <p:sp>
        <p:nvSpPr>
          <p:cNvPr id="10" name="Shape 7"/>
          <p:cNvSpPr/>
          <p:nvPr/>
        </p:nvSpPr>
        <p:spPr>
          <a:xfrm>
            <a:off x="804672" y="2642616"/>
            <a:ext cx="475488" cy="475488"/>
          </a:xfrm>
          <a:prstGeom prst="ellipse">
            <a:avLst/>
          </a:prstGeom>
          <a:solidFill>
            <a:srgbClr val="2E3A48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761488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81328" y="2523744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resources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754880" y="2523744"/>
            <a:ext cx="6766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E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Databases, Kubernetes clusters and networking resist clean attribution to one team.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48640" y="3328416"/>
            <a:ext cx="11091672" cy="713232"/>
          </a:xfrm>
          <a:prstGeom prst="roundRect">
            <a:avLst>
              <a:gd name="adj" fmla="val 11538"/>
            </a:avLst>
          </a:prstGeom>
          <a:solidFill>
            <a:srgbClr val="1F2936"/>
          </a:solidFill>
          <a:ln/>
        </p:spPr>
      </p:sp>
      <p:sp>
        <p:nvSpPr>
          <p:cNvPr id="15" name="Shape 11"/>
          <p:cNvSpPr/>
          <p:nvPr/>
        </p:nvSpPr>
        <p:spPr>
          <a:xfrm>
            <a:off x="804672" y="3447288"/>
            <a:ext cx="475488" cy="475488"/>
          </a:xfrm>
          <a:prstGeom prst="ellipse">
            <a:avLst/>
          </a:prstGeom>
          <a:solidFill>
            <a:srgbClr val="2E3A48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3566160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81328" y="3328416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Commitments &amp; discounts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4754880" y="3328416"/>
            <a:ext cx="6766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E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Reserved Instances and Savings Plans break attribution — list price ≠ price paid.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4133088"/>
            <a:ext cx="11091672" cy="713232"/>
          </a:xfrm>
          <a:prstGeom prst="roundRect">
            <a:avLst>
              <a:gd name="adj" fmla="val 11538"/>
            </a:avLst>
          </a:prstGeom>
          <a:solidFill>
            <a:srgbClr val="1F2936"/>
          </a:solidFill>
          <a:ln/>
        </p:spPr>
      </p:sp>
      <p:sp>
        <p:nvSpPr>
          <p:cNvPr id="20" name="Shape 15"/>
          <p:cNvSpPr/>
          <p:nvPr/>
        </p:nvSpPr>
        <p:spPr>
          <a:xfrm>
            <a:off x="804672" y="4251960"/>
            <a:ext cx="475488" cy="475488"/>
          </a:xfrm>
          <a:prstGeom prst="ellipse">
            <a:avLst/>
          </a:prstGeom>
          <a:solidFill>
            <a:srgbClr val="2E3A48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4370832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81328" y="4133088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Multi-cloud estates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4754880" y="4133088"/>
            <a:ext cx="6766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E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provider bills and reports differently; a unified view has to be constructed.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548640" y="4937760"/>
            <a:ext cx="11091672" cy="713232"/>
          </a:xfrm>
          <a:prstGeom prst="roundRect">
            <a:avLst>
              <a:gd name="adj" fmla="val 11538"/>
            </a:avLst>
          </a:prstGeom>
          <a:solidFill>
            <a:srgbClr val="1F2936"/>
          </a:solidFill>
          <a:ln/>
        </p:spPr>
      </p:sp>
      <p:sp>
        <p:nvSpPr>
          <p:cNvPr id="25" name="Shape 19"/>
          <p:cNvSpPr/>
          <p:nvPr/>
        </p:nvSpPr>
        <p:spPr>
          <a:xfrm>
            <a:off x="804672" y="5056632"/>
            <a:ext cx="475488" cy="475488"/>
          </a:xfrm>
          <a:prstGeom prst="ellipse">
            <a:avLst/>
          </a:prstGeom>
          <a:solidFill>
            <a:srgbClr val="2E3A48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" y="5175504"/>
            <a:ext cx="237744" cy="23774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481328" y="4937760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&amp; marketplace spend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4754880" y="4937760"/>
            <a:ext cx="6766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E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Invisible in cloud billing. Teams forget the subscriptions they signed.</a:t>
            </a:r>
            <a:endParaRPr lang="en-US" sz="1300" dirty="0"/>
          </a:p>
        </p:txBody>
      </p:sp>
      <p:sp>
        <p:nvSpPr>
          <p:cNvPr id="29" name="Text 22"/>
          <p:cNvSpPr/>
          <p:nvPr/>
        </p:nvSpPr>
        <p:spPr>
          <a:xfrm>
            <a:off x="548640" y="58521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E39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“Different clouds report data differently, network traffic adds up fast, and Kubernetes or SaaS often hide who generated the spend.”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39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1 — TAGGING STRATEGY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68096"/>
            <a:ext cx="11091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foundation of all visibility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749040" cy="3035808"/>
          </a:xfrm>
          <a:prstGeom prst="roundRect">
            <a:avLst>
              <a:gd name="adj" fmla="val 2711"/>
            </a:avLst>
          </a:prstGeom>
          <a:solidFill>
            <a:srgbClr val="1F2936"/>
          </a:solidFill>
          <a:ln/>
          <a:effectLst>
            <a:outerShdw sx="100000" sy="100000" kx="0" ky="0" algn="bl" rotWithShape="0" blurRad="127000" dist="25400" dir="5400000">
              <a:srgbClr val="8C99A8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2048256"/>
            <a:ext cx="603504" cy="603504"/>
          </a:xfrm>
          <a:prstGeom prst="ellipse">
            <a:avLst/>
          </a:prstGeom>
          <a:solidFill>
            <a:srgbClr val="E39B2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" y="2199132"/>
            <a:ext cx="301752" cy="30175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59536" y="27889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E39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59536" y="3127248"/>
            <a:ext cx="31272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“Tagging is the single most foundational habit for sustainable FinOps maturity. It is also the most frequently skipped.”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663440" y="1911096"/>
            <a:ext cx="457200" cy="457200"/>
          </a:xfrm>
          <a:prstGeom prst="ellipse">
            <a:avLst/>
          </a:prstGeom>
          <a:solidFill>
            <a:srgbClr val="DDEDE9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7740" y="2025396"/>
            <a:ext cx="228600" cy="2286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376672" y="1783080"/>
            <a:ext cx="6263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 global tag taxonomy</a:t>
            </a:r>
            <a:endParaRPr lang="en-US" sz="14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master list, agreed across the business — aligned to business need, not just cloud ops.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4663440" y="2688336"/>
            <a:ext cx="457200" cy="457200"/>
          </a:xfrm>
          <a:prstGeom prst="ellipse">
            <a:avLst/>
          </a:prstGeom>
          <a:solidFill>
            <a:srgbClr val="DDEDE9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7740" y="2802636"/>
            <a:ext cx="228600" cy="2286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376672" y="2560320"/>
            <a:ext cx="6263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 tags at creation</a:t>
            </a:r>
            <a:endParaRPr lang="en-US" sz="14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Policy, AWS Organizations tag policies, or Terraform. Retrofitting later is painful.</a:t>
            </a:r>
            <a:endParaRPr lang="en-US" sz="1450" dirty="0"/>
          </a:p>
        </p:txBody>
      </p:sp>
      <p:sp>
        <p:nvSpPr>
          <p:cNvPr id="15" name="Shape 10"/>
          <p:cNvSpPr/>
          <p:nvPr/>
        </p:nvSpPr>
        <p:spPr>
          <a:xfrm>
            <a:off x="4663440" y="3465576"/>
            <a:ext cx="457200" cy="457200"/>
          </a:xfrm>
          <a:prstGeom prst="ellipse">
            <a:avLst/>
          </a:prstGeom>
          <a:solidFill>
            <a:srgbClr val="DDEDE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7740" y="3579876"/>
            <a:ext cx="228600" cy="2286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376672" y="3337560"/>
            <a:ext cx="6263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showback</a:t>
            </a:r>
            <a:endParaRPr lang="en-US" sz="14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teams their spend, uncharged, for 4–6 weeks — gaps surface before money is on the line.</a:t>
            </a:r>
            <a:endParaRPr lang="en-US" sz="1450" dirty="0"/>
          </a:p>
        </p:txBody>
      </p:sp>
      <p:sp>
        <p:nvSpPr>
          <p:cNvPr id="18" name="Shape 12"/>
          <p:cNvSpPr/>
          <p:nvPr/>
        </p:nvSpPr>
        <p:spPr>
          <a:xfrm>
            <a:off x="4663440" y="4242816"/>
            <a:ext cx="457200" cy="457200"/>
          </a:xfrm>
          <a:prstGeom prst="ellipse">
            <a:avLst/>
          </a:prstGeom>
          <a:solidFill>
            <a:srgbClr val="DDEDE9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7740" y="4357116"/>
            <a:ext cx="228600" cy="22860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5376672" y="4114800"/>
            <a:ext cx="6263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tag compliance</a:t>
            </a:r>
            <a:endParaRPr lang="en-US" sz="14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that surface missing or incorrect metadata, tracked as a KPI.</a:t>
            </a:r>
            <a:endParaRPr lang="en-US" sz="1450" dirty="0"/>
          </a:p>
        </p:txBody>
      </p:sp>
      <p:sp>
        <p:nvSpPr>
          <p:cNvPr id="21" name="Text 14"/>
          <p:cNvSpPr/>
          <p:nvPr/>
        </p:nvSpPr>
        <p:spPr>
          <a:xfrm>
            <a:off x="548640" y="50474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viable tags</a:t>
            </a:r>
            <a:endParaRPr lang="en-US" sz="1200" dirty="0"/>
          </a:p>
        </p:txBody>
      </p:sp>
      <p:sp>
        <p:nvSpPr>
          <p:cNvPr id="22" name="Shape 15"/>
          <p:cNvSpPr/>
          <p:nvPr/>
        </p:nvSpPr>
        <p:spPr>
          <a:xfrm>
            <a:off x="548640" y="5440680"/>
            <a:ext cx="2103120" cy="566928"/>
          </a:xfrm>
          <a:prstGeom prst="roundRect">
            <a:avLst>
              <a:gd name="adj" fmla="val 48387"/>
            </a:avLst>
          </a:prstGeom>
          <a:solidFill>
            <a:srgbClr val="FBEFD8"/>
          </a:solidFill>
          <a:ln/>
        </p:spPr>
      </p:sp>
      <p:sp>
        <p:nvSpPr>
          <p:cNvPr id="23" name="Text 16"/>
          <p:cNvSpPr/>
          <p:nvPr/>
        </p:nvSpPr>
        <p:spPr>
          <a:xfrm>
            <a:off x="548640" y="544068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4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400" dirty="0"/>
          </a:p>
        </p:txBody>
      </p:sp>
      <p:sp>
        <p:nvSpPr>
          <p:cNvPr id="24" name="Shape 17"/>
          <p:cNvSpPr/>
          <p:nvPr/>
        </p:nvSpPr>
        <p:spPr>
          <a:xfrm>
            <a:off x="2761488" y="5440680"/>
            <a:ext cx="2103120" cy="566928"/>
          </a:xfrm>
          <a:prstGeom prst="roundRect">
            <a:avLst>
              <a:gd name="adj" fmla="val 48387"/>
            </a:avLst>
          </a:prstGeom>
          <a:solidFill>
            <a:srgbClr val="FBEFD8"/>
          </a:solidFill>
          <a:ln/>
        </p:spPr>
      </p:sp>
      <p:sp>
        <p:nvSpPr>
          <p:cNvPr id="25" name="Text 18"/>
          <p:cNvSpPr/>
          <p:nvPr/>
        </p:nvSpPr>
        <p:spPr>
          <a:xfrm>
            <a:off x="2761488" y="544068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4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CostCenter</a:t>
            </a:r>
            <a:endParaRPr lang="en-US" sz="1400" dirty="0"/>
          </a:p>
        </p:txBody>
      </p:sp>
      <p:sp>
        <p:nvSpPr>
          <p:cNvPr id="26" name="Shape 19"/>
          <p:cNvSpPr/>
          <p:nvPr/>
        </p:nvSpPr>
        <p:spPr>
          <a:xfrm>
            <a:off x="4974336" y="5440680"/>
            <a:ext cx="2103120" cy="566928"/>
          </a:xfrm>
          <a:prstGeom prst="roundRect">
            <a:avLst>
              <a:gd name="adj" fmla="val 48387"/>
            </a:avLst>
          </a:prstGeom>
          <a:solidFill>
            <a:srgbClr val="FBEFD8"/>
          </a:solidFill>
          <a:ln/>
        </p:spPr>
      </p:sp>
      <p:sp>
        <p:nvSpPr>
          <p:cNvPr id="27" name="Text 20"/>
          <p:cNvSpPr/>
          <p:nvPr/>
        </p:nvSpPr>
        <p:spPr>
          <a:xfrm>
            <a:off x="4974336" y="544068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4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ApplicationID</a:t>
            </a:r>
            <a:endParaRPr lang="en-US" sz="1400" dirty="0"/>
          </a:p>
        </p:txBody>
      </p:sp>
      <p:sp>
        <p:nvSpPr>
          <p:cNvPr id="28" name="Shape 21"/>
          <p:cNvSpPr/>
          <p:nvPr/>
        </p:nvSpPr>
        <p:spPr>
          <a:xfrm>
            <a:off x="7187184" y="5440680"/>
            <a:ext cx="2103120" cy="566928"/>
          </a:xfrm>
          <a:prstGeom prst="roundRect">
            <a:avLst>
              <a:gd name="adj" fmla="val 48387"/>
            </a:avLst>
          </a:prstGeom>
          <a:solidFill>
            <a:srgbClr val="FBEFD8"/>
          </a:solidFill>
          <a:ln/>
        </p:spPr>
      </p:sp>
      <p:sp>
        <p:nvSpPr>
          <p:cNvPr id="29" name="Text 22"/>
          <p:cNvSpPr/>
          <p:nvPr/>
        </p:nvSpPr>
        <p:spPr>
          <a:xfrm>
            <a:off x="7187184" y="544068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4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9400032" y="5440680"/>
            <a:ext cx="2103120" cy="566928"/>
          </a:xfrm>
          <a:prstGeom prst="roundRect">
            <a:avLst>
              <a:gd name="adj" fmla="val 48387"/>
            </a:avLst>
          </a:prstGeom>
          <a:solidFill>
            <a:srgbClr val="FBEFD8"/>
          </a:solidFill>
          <a:ln/>
        </p:spPr>
      </p:sp>
      <p:sp>
        <p:nvSpPr>
          <p:cNvPr id="31" name="Text 24"/>
          <p:cNvSpPr/>
          <p:nvPr/>
        </p:nvSpPr>
        <p:spPr>
          <a:xfrm>
            <a:off x="9400032" y="544068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4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39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2 — SHARED RESOURCES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68096"/>
            <a:ext cx="11091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Attributing costs that belong to everyone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53619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databases, Kubernetes clusters and networking are the hardest costs to assign to a single owner.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1417320"/>
          </a:xfrm>
          <a:prstGeom prst="roundRect">
            <a:avLst>
              <a:gd name="adj" fmla="val 5806"/>
            </a:avLst>
          </a:prstGeom>
          <a:solidFill>
            <a:srgbClr val="DDEDE9"/>
          </a:solidFill>
          <a:ln/>
        </p:spPr>
      </p:sp>
      <p:sp>
        <p:nvSpPr>
          <p:cNvPr id="6" name="Shape 4"/>
          <p:cNvSpPr/>
          <p:nvPr/>
        </p:nvSpPr>
        <p:spPr>
          <a:xfrm>
            <a:off x="841248" y="235915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249631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17904" y="232257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Attribute-based allocation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59536" y="2761488"/>
            <a:ext cx="4773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consumption at runtime and allocate on actual usage rather than an arbitrary key.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45352" y="2103120"/>
            <a:ext cx="5394960" cy="1417320"/>
          </a:xfrm>
          <a:prstGeom prst="roundRect">
            <a:avLst>
              <a:gd name="adj" fmla="val 5806"/>
            </a:avLst>
          </a:prstGeom>
          <a:solidFill>
            <a:srgbClr val="DDEDE9"/>
          </a:solidFill>
          <a:ln/>
        </p:spPr>
      </p:sp>
      <p:sp>
        <p:nvSpPr>
          <p:cNvPr id="11" name="Shape 8"/>
          <p:cNvSpPr/>
          <p:nvPr/>
        </p:nvSpPr>
        <p:spPr>
          <a:xfrm>
            <a:off x="6537960" y="235915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496312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14616" y="232257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Define a splitting strategy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6556248" y="2761488"/>
            <a:ext cx="4773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consistent method — proportional usage, team count, or a business metric — and publish it.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48640" y="3657600"/>
            <a:ext cx="5394960" cy="1417320"/>
          </a:xfrm>
          <a:prstGeom prst="roundRect">
            <a:avLst>
              <a:gd name="adj" fmla="val 5806"/>
            </a:avLst>
          </a:prstGeom>
          <a:solidFill>
            <a:srgbClr val="DDEDE9"/>
          </a:solidFill>
          <a:ln/>
        </p:spPr>
      </p:sp>
      <p:sp>
        <p:nvSpPr>
          <p:cNvPr id="16" name="Shape 12"/>
          <p:cNvSpPr/>
          <p:nvPr/>
        </p:nvSpPr>
        <p:spPr>
          <a:xfrm>
            <a:off x="841248" y="391363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4050792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17904" y="387705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with showback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859536" y="4315968"/>
            <a:ext cx="4773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each team's share of shared cost without billing it. Builds awareness and surfaces disputes early.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245352" y="3657600"/>
            <a:ext cx="5394960" cy="1417320"/>
          </a:xfrm>
          <a:prstGeom prst="roundRect">
            <a:avLst>
              <a:gd name="adj" fmla="val 5806"/>
            </a:avLst>
          </a:prstGeom>
          <a:solidFill>
            <a:srgbClr val="DDEDE9"/>
          </a:solidFill>
          <a:ln/>
        </p:spPr>
      </p:sp>
      <p:sp>
        <p:nvSpPr>
          <p:cNvPr id="21" name="Shape 16"/>
          <p:cNvSpPr/>
          <p:nvPr/>
        </p:nvSpPr>
        <p:spPr>
          <a:xfrm>
            <a:off x="6537960" y="391363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4050792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214616" y="387705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Progress to chargeback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6556248" y="4315968"/>
            <a:ext cx="4773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 teams on actual consumption once the usage patterns are understood and trusted.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548640" y="5440680"/>
            <a:ext cx="11091672" cy="868680"/>
          </a:xfrm>
          <a:prstGeom prst="roundRect">
            <a:avLst>
              <a:gd name="adj" fmla="val 9474"/>
            </a:avLst>
          </a:prstGeom>
          <a:solidFill>
            <a:srgbClr val="1F2936"/>
          </a:solidFill>
          <a:ln/>
          <a:effectLst>
            <a:outerShdw sx="100000" sy="100000" kx="0" ky="0" algn="bl" rotWithShape="0" blurRad="127000" dist="25400" dir="5400000">
              <a:srgbClr val="8C99A8">
                <a:alpha val="16000"/>
              </a:srgbClr>
            </a:outerShdw>
          </a:effectLst>
        </p:spPr>
      </p:sp>
      <p:sp>
        <p:nvSpPr>
          <p:cNvPr id="26" name="Text 20"/>
          <p:cNvSpPr/>
          <p:nvPr/>
        </p:nvSpPr>
        <p:spPr>
          <a:xfrm>
            <a:off x="841248" y="5550408"/>
            <a:ext cx="1050645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 thoughtful chargeback model often drives more intentional decisions and long-term discipline.”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39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3 — COMMITMENTS &amp; DISCOUNTS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68096"/>
            <a:ext cx="11091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Making the price we actually pay visible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53619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Discounts obscure true attribution: the price shown on a resource is not the price the business paid.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20440" cy="2724912"/>
          </a:xfrm>
          <a:prstGeom prst="roundRect">
            <a:avLst>
              <a:gd name="adj" fmla="val 3020"/>
            </a:avLst>
          </a:prstGeom>
          <a:solidFill>
            <a:srgbClr val="1F2936"/>
          </a:solidFill>
          <a:ln/>
          <a:effectLst>
            <a:outerShdw sx="100000" sy="100000" kx="0" ky="0" algn="bl" rotWithShape="0" blurRad="127000" dist="25400" dir="5400000">
              <a:srgbClr val="8C99A8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04672" y="2615184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39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60–80%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841248" y="37033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9E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commitment coverage on stable, predictable workloads.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62272" y="2103120"/>
            <a:ext cx="7178040" cy="640080"/>
          </a:xfrm>
          <a:prstGeom prst="roundRect">
            <a:avLst>
              <a:gd name="adj" fmla="val 12857"/>
            </a:avLst>
          </a:prstGeom>
          <a:solidFill>
            <a:srgbClr val="F1F3F6"/>
          </a:solidFill>
          <a:ln/>
        </p:spPr>
      </p:sp>
      <p:sp>
        <p:nvSpPr>
          <p:cNvPr id="9" name="Shape 7"/>
          <p:cNvSpPr/>
          <p:nvPr/>
        </p:nvSpPr>
        <p:spPr>
          <a:xfrm>
            <a:off x="4681728" y="220370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1456" y="231343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285232" y="210312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discount from list price 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MSRP and the discounted price side by side, with the attributed saving alongside.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462272" y="2798064"/>
            <a:ext cx="7178040" cy="640080"/>
          </a:xfrm>
          <a:prstGeom prst="roundRect">
            <a:avLst>
              <a:gd name="adj" fmla="val 12857"/>
            </a:avLst>
          </a:prstGeom>
          <a:solidFill>
            <a:srgbClr val="F1F3F6"/>
          </a:solidFill>
          <a:ln/>
        </p:spPr>
      </p:sp>
      <p:sp>
        <p:nvSpPr>
          <p:cNvPr id="13" name="Shape 10"/>
          <p:cNvSpPr/>
          <p:nvPr/>
        </p:nvSpPr>
        <p:spPr>
          <a:xfrm>
            <a:off x="4681728" y="2898648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3008376"/>
            <a:ext cx="219456" cy="21945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285232" y="2798064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 savings to the beneficiary 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team consumes the resources that earned the discount, that team should see the saving.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4462272" y="3493008"/>
            <a:ext cx="7178040" cy="640080"/>
          </a:xfrm>
          <a:prstGeom prst="roundRect">
            <a:avLst>
              <a:gd name="adj" fmla="val 12857"/>
            </a:avLst>
          </a:prstGeom>
          <a:solidFill>
            <a:srgbClr val="F1F3F6"/>
          </a:solidFill>
          <a:ln/>
        </p:spPr>
      </p:sp>
      <p:sp>
        <p:nvSpPr>
          <p:cNvPr id="17" name="Shape 13"/>
          <p:cNvSpPr/>
          <p:nvPr/>
        </p:nvSpPr>
        <p:spPr>
          <a:xfrm>
            <a:off x="4681728" y="3593592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456" y="3703320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285232" y="3493008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commitment coverage 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what share of steady-state spend sits under a commitment, and where the gaps are.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4462272" y="4187952"/>
            <a:ext cx="7178040" cy="640080"/>
          </a:xfrm>
          <a:prstGeom prst="roundRect">
            <a:avLst>
              <a:gd name="adj" fmla="val 12857"/>
            </a:avLst>
          </a:prstGeom>
          <a:solidFill>
            <a:srgbClr val="F1F3F6"/>
          </a:solidFill>
          <a:ln/>
        </p:spPr>
      </p:sp>
      <p:sp>
        <p:nvSpPr>
          <p:cNvPr id="21" name="Shape 16"/>
          <p:cNvSpPr/>
          <p:nvPr/>
        </p:nvSpPr>
        <p:spPr>
          <a:xfrm>
            <a:off x="4681728" y="4288536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1456" y="4398264"/>
            <a:ext cx="219456" cy="21945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285232" y="4187952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utilization 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unused commitment is not a discount — it is prepaid waste.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5138928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FBEFD8"/>
          </a:solidFill>
          <a:ln/>
          <a:effectLst>
            <a:outerShdw sx="100000" sy="100000" kx="0" ky="0" algn="bl" rotWithShape="0" blurRad="127000" dist="25400" dir="5400000">
              <a:srgbClr val="8C99A8">
                <a:alpha val="16000"/>
              </a:srgbClr>
            </a:outerShdw>
          </a:effectLst>
        </p:spPr>
      </p:sp>
      <p:sp>
        <p:nvSpPr>
          <p:cNvPr id="25" name="Text 19"/>
          <p:cNvSpPr/>
          <p:nvPr/>
        </p:nvSpPr>
        <p:spPr>
          <a:xfrm>
            <a:off x="841248" y="5248656"/>
            <a:ext cx="1050645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i="1" dirty="0">
                <a:solidFill>
                  <a:srgbClr val="6B4A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commitment nobody uses is the most expensive form of waste — it is locked in, and it is invisible on a list-price report.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39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4 — MULTI-CLOUD VISIBILITY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68096"/>
            <a:ext cx="11091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view across every provider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53619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Cost Explorer, Azure Cost Management and GCP Billing are capable — but each sees only its own silo.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511296" cy="2468880"/>
          </a:xfrm>
          <a:prstGeom prst="roundRect">
            <a:avLst>
              <a:gd name="adj" fmla="val 3333"/>
            </a:avLst>
          </a:prstGeom>
          <a:solidFill>
            <a:srgbClr val="F1F3F6"/>
          </a:solidFill>
          <a:ln/>
        </p:spPr>
      </p:sp>
      <p:sp>
        <p:nvSpPr>
          <p:cNvPr id="6" name="Shape 4"/>
          <p:cNvSpPr/>
          <p:nvPr/>
        </p:nvSpPr>
        <p:spPr>
          <a:xfrm>
            <a:off x="859536" y="242316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556" y="258318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59536" y="3200400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Centralized platform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59536" y="3621024"/>
            <a:ext cx="2889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Ingest, normalize and enrich cost data from every provider into a single store.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34256" y="2148840"/>
            <a:ext cx="3511296" cy="2468880"/>
          </a:xfrm>
          <a:prstGeom prst="roundRect">
            <a:avLst>
              <a:gd name="adj" fmla="val 3333"/>
            </a:avLst>
          </a:prstGeom>
          <a:solidFill>
            <a:srgbClr val="F1F3F6"/>
          </a:solidFill>
          <a:ln/>
        </p:spPr>
      </p:sp>
      <p:sp>
        <p:nvSpPr>
          <p:cNvPr id="11" name="Shape 8"/>
          <p:cNvSpPr/>
          <p:nvPr/>
        </p:nvSpPr>
        <p:spPr>
          <a:xfrm>
            <a:off x="4645152" y="242316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172" y="258318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45152" y="3200400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Adopt the FOCUS standard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4645152" y="3621024"/>
            <a:ext cx="2889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FinOps Open Cost and Usage Specification normalizes cloud billing into a vendor-agnostic schema.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19872" y="2148840"/>
            <a:ext cx="3511296" cy="2468880"/>
          </a:xfrm>
          <a:prstGeom prst="roundRect">
            <a:avLst>
              <a:gd name="adj" fmla="val 3333"/>
            </a:avLst>
          </a:prstGeom>
          <a:solidFill>
            <a:srgbClr val="F1F3F6"/>
          </a:solidFill>
          <a:ln/>
        </p:spPr>
      </p:sp>
      <p:sp>
        <p:nvSpPr>
          <p:cNvPr id="16" name="Shape 12"/>
          <p:cNvSpPr/>
          <p:nvPr/>
        </p:nvSpPr>
        <p:spPr>
          <a:xfrm>
            <a:off x="8430768" y="242316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0788" y="2583180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430768" y="3200400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Unified dashboard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8430768" y="3621024"/>
            <a:ext cx="2889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place for analysis, reporting and optimization — across all clouds and vendors.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548640" y="4892040"/>
            <a:ext cx="11091672" cy="1234440"/>
          </a:xfrm>
          <a:prstGeom prst="roundRect">
            <a:avLst>
              <a:gd name="adj" fmla="val 6667"/>
            </a:avLst>
          </a:prstGeom>
          <a:solidFill>
            <a:srgbClr val="1F2936"/>
          </a:solidFill>
          <a:ln/>
          <a:effectLst>
            <a:outerShdw sx="100000" sy="100000" kx="0" ky="0" algn="bl" rotWithShape="0" blurRad="127000" dist="25400" dir="5400000">
              <a:srgbClr val="8C99A8">
                <a:alpha val="16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841248" y="5001768"/>
            <a:ext cx="10506456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“FOCUS enables consistent reporting across vendors, so leadership can analyze the whole environment instead of looking at each cloud or vendor in a silo.”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39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ACCOUNTABILITY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68096"/>
            <a:ext cx="11091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Showback, then chargeback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3063240"/>
          </a:xfrm>
          <a:prstGeom prst="roundRect">
            <a:avLst>
              <a:gd name="adj" fmla="val 2687"/>
            </a:avLst>
          </a:prstGeom>
          <a:solidFill>
            <a:srgbClr val="DDEDE9"/>
          </a:solidFill>
          <a:ln/>
        </p:spPr>
      </p:sp>
      <p:sp>
        <p:nvSpPr>
          <p:cNvPr id="5" name="Shape 3"/>
          <p:cNvSpPr/>
          <p:nvPr/>
        </p:nvSpPr>
        <p:spPr>
          <a:xfrm>
            <a:off x="859536" y="2029968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176272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72768" y="2029968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Showback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3977640" y="2029968"/>
            <a:ext cx="16550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spc="140" kern="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visibility layer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59536" y="2743200"/>
            <a:ext cx="4773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see their spend. No money changes hands.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59536" y="33101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32688" y="3611880"/>
            <a:ext cx="4663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FinOps practice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Tagging coverage of 70–85%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awareness and trust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245352" y="1783080"/>
            <a:ext cx="5394960" cy="3063240"/>
          </a:xfrm>
          <a:prstGeom prst="roundRect">
            <a:avLst>
              <a:gd name="adj" fmla="val 2687"/>
            </a:avLst>
          </a:prstGeom>
          <a:solidFill>
            <a:srgbClr val="FBEFD8"/>
          </a:solidFill>
          <a:ln/>
        </p:spPr>
      </p:sp>
      <p:sp>
        <p:nvSpPr>
          <p:cNvPr id="13" name="Shape 10"/>
          <p:cNvSpPr/>
          <p:nvPr/>
        </p:nvSpPr>
        <p:spPr>
          <a:xfrm>
            <a:off x="6556248" y="2029968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2552" y="2176272"/>
            <a:ext cx="292608" cy="29260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269480" y="2029968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Chargeback</a:t>
            </a:r>
            <a:endParaRPr lang="en-US" sz="2100" dirty="0"/>
          </a:p>
        </p:txBody>
      </p:sp>
      <p:sp>
        <p:nvSpPr>
          <p:cNvPr id="16" name="Text 12"/>
          <p:cNvSpPr/>
          <p:nvPr/>
        </p:nvSpPr>
        <p:spPr>
          <a:xfrm>
            <a:off x="9674352" y="2029968"/>
            <a:ext cx="16550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spc="140" kern="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consequence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6556248" y="2743200"/>
            <a:ext cx="4773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Costs are billed back to business units and hit their P&amp;L.</a:t>
            </a:r>
            <a:endParaRPr lang="en-US" sz="1450" dirty="0"/>
          </a:p>
        </p:txBody>
      </p:sp>
      <p:sp>
        <p:nvSpPr>
          <p:cNvPr id="18" name="Text 14"/>
          <p:cNvSpPr/>
          <p:nvPr/>
        </p:nvSpPr>
        <p:spPr>
          <a:xfrm>
            <a:off x="6556248" y="33101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6629400" y="3611880"/>
            <a:ext cx="4663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Mature, trusted allocation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Budget-owner accountability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behaviour change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548640" y="5120640"/>
            <a:ext cx="11091672" cy="731520"/>
          </a:xfrm>
          <a:prstGeom prst="roundRect">
            <a:avLst>
              <a:gd name="adj" fmla="val 11250"/>
            </a:avLst>
          </a:prstGeom>
          <a:solidFill>
            <a:srgbClr val="1F2936"/>
          </a:solidFill>
          <a:ln/>
          <a:effectLst>
            <a:outerShdw sx="100000" sy="100000" kx="0" ky="0" algn="bl" rotWithShape="0" blurRad="127000" dist="25400" dir="5400000">
              <a:srgbClr val="8C99A8">
                <a:alpha val="16000"/>
              </a:srgbClr>
            </a:outerShdw>
          </a:effectLst>
        </p:spPr>
      </p:sp>
      <p:sp>
        <p:nvSpPr>
          <p:cNvPr id="21" name="Text 17"/>
          <p:cNvSpPr/>
          <p:nvPr/>
        </p:nvSpPr>
        <p:spPr>
          <a:xfrm>
            <a:off x="859536" y="512064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39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Recommendation: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showback to build tagging discipline and trust. Move to chargeback once allocation is accurate and finance is ready.</a:t>
            </a:r>
            <a:endParaRPr lang="en-US" sz="1450" dirty="0"/>
          </a:p>
        </p:txBody>
      </p:sp>
      <p:sp>
        <p:nvSpPr>
          <p:cNvPr id="22" name="Text 18"/>
          <p:cNvSpPr/>
          <p:nvPr/>
        </p:nvSpPr>
        <p:spPr>
          <a:xfrm>
            <a:off x="548640" y="594360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6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“Most teams skip this runway and pay for it later with a chargeback rollout that nobody trusts.”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39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2025–2026 BEST PRACTICES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68096"/>
            <a:ext cx="11091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high-performing FinOps teams do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53619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Drawn from the 2025 State of FinOps report — the practices that consistently precede durable savings.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21408"/>
            <a:ext cx="3511296" cy="1783080"/>
          </a:xfrm>
          <a:prstGeom prst="roundRect">
            <a:avLst>
              <a:gd name="adj" fmla="val 4615"/>
            </a:avLst>
          </a:prstGeom>
          <a:solidFill>
            <a:srgbClr val="F1F3F6"/>
          </a:solidFill>
          <a:ln/>
        </p:spPr>
      </p:sp>
      <p:sp>
        <p:nvSpPr>
          <p:cNvPr id="6" name="Shape 4"/>
          <p:cNvSpPr/>
          <p:nvPr/>
        </p:nvSpPr>
        <p:spPr>
          <a:xfrm>
            <a:off x="841248" y="237744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251460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99616" y="2377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 allocation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41248" y="3054096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of spend allocated. No “unallocated” bucket left to argue about.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34256" y="2121408"/>
            <a:ext cx="3511296" cy="1783080"/>
          </a:xfrm>
          <a:prstGeom prst="roundRect">
            <a:avLst>
              <a:gd name="adj" fmla="val 4615"/>
            </a:avLst>
          </a:prstGeom>
          <a:solidFill>
            <a:srgbClr val="F1F3F6"/>
          </a:solidFill>
          <a:ln/>
        </p:spPr>
      </p:sp>
      <p:sp>
        <p:nvSpPr>
          <p:cNvPr id="11" name="Shape 8"/>
          <p:cNvSpPr/>
          <p:nvPr/>
        </p:nvSpPr>
        <p:spPr>
          <a:xfrm>
            <a:off x="4626864" y="237744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4" y="251460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285232" y="2377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Daily visibility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4626864" y="3054096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data refreshed daily, not monthly. Monthly is too slow to catch a regression.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19872" y="2121408"/>
            <a:ext cx="3511296" cy="1783080"/>
          </a:xfrm>
          <a:prstGeom prst="roundRect">
            <a:avLst>
              <a:gd name="adj" fmla="val 4615"/>
            </a:avLst>
          </a:prstGeom>
          <a:solidFill>
            <a:srgbClr val="F1F3F6"/>
          </a:solidFill>
          <a:ln/>
        </p:spPr>
      </p:sp>
      <p:sp>
        <p:nvSpPr>
          <p:cNvPr id="16" name="Shape 12"/>
          <p:cNvSpPr/>
          <p:nvPr/>
        </p:nvSpPr>
        <p:spPr>
          <a:xfrm>
            <a:off x="8412480" y="237744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251460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070848" y="2377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 KPIs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8412480" y="3054096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agreed set of metrics across finance and engineering, reviewed together.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548640" y="4206240"/>
            <a:ext cx="3511296" cy="1783080"/>
          </a:xfrm>
          <a:prstGeom prst="roundRect">
            <a:avLst>
              <a:gd name="adj" fmla="val 4615"/>
            </a:avLst>
          </a:prstGeom>
          <a:solidFill>
            <a:srgbClr val="F1F3F6"/>
          </a:solidFill>
          <a:ln/>
        </p:spPr>
      </p:sp>
      <p:sp>
        <p:nvSpPr>
          <p:cNvPr id="21" name="Shape 16"/>
          <p:cNvSpPr/>
          <p:nvPr/>
        </p:nvSpPr>
        <p:spPr>
          <a:xfrm>
            <a:off x="841248" y="446227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" y="4599432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499616" y="446227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Shift-left cost visibility</a:t>
            </a:r>
            <a:endParaRPr lang="en-US" sz="1700" dirty="0"/>
          </a:p>
        </p:txBody>
      </p:sp>
      <p:sp>
        <p:nvSpPr>
          <p:cNvPr id="24" name="Text 18"/>
          <p:cNvSpPr/>
          <p:nvPr/>
        </p:nvSpPr>
        <p:spPr>
          <a:xfrm>
            <a:off x="841248" y="5138928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checks during design and development — treated like performance and security.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4334256" y="4206240"/>
            <a:ext cx="3511296" cy="1783080"/>
          </a:xfrm>
          <a:prstGeom prst="roundRect">
            <a:avLst>
              <a:gd name="adj" fmla="val 4615"/>
            </a:avLst>
          </a:prstGeom>
          <a:solidFill>
            <a:srgbClr val="F1F3F6"/>
          </a:solidFill>
          <a:ln/>
        </p:spPr>
      </p:sp>
      <p:sp>
        <p:nvSpPr>
          <p:cNvPr id="26" name="Shape 20"/>
          <p:cNvSpPr/>
          <p:nvPr/>
        </p:nvSpPr>
        <p:spPr>
          <a:xfrm>
            <a:off x="4626864" y="446227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4024" y="4599432"/>
            <a:ext cx="274320" cy="27432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285232" y="446227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Anomaly alerts</a:t>
            </a:r>
            <a:endParaRPr lang="en-US" sz="1700" dirty="0"/>
          </a:p>
        </p:txBody>
      </p:sp>
      <p:sp>
        <p:nvSpPr>
          <p:cNvPr id="29" name="Text 22"/>
          <p:cNvSpPr/>
          <p:nvPr/>
        </p:nvSpPr>
        <p:spPr>
          <a:xfrm>
            <a:off x="4626864" y="5138928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alerts routed to the owner of the spend, not to a shared mailbox.</a:t>
            </a:r>
            <a:endParaRPr lang="en-US" sz="1250" dirty="0"/>
          </a:p>
        </p:txBody>
      </p:sp>
      <p:sp>
        <p:nvSpPr>
          <p:cNvPr id="30" name="Shape 23"/>
          <p:cNvSpPr/>
          <p:nvPr/>
        </p:nvSpPr>
        <p:spPr>
          <a:xfrm>
            <a:off x="8119872" y="4206240"/>
            <a:ext cx="3511296" cy="1783080"/>
          </a:xfrm>
          <a:prstGeom prst="roundRect">
            <a:avLst>
              <a:gd name="adj" fmla="val 4615"/>
            </a:avLst>
          </a:prstGeom>
          <a:solidFill>
            <a:srgbClr val="F1F3F6"/>
          </a:solidFill>
          <a:ln/>
        </p:spPr>
      </p:sp>
      <p:sp>
        <p:nvSpPr>
          <p:cNvPr id="31" name="Shape 24"/>
          <p:cNvSpPr/>
          <p:nvPr/>
        </p:nvSpPr>
        <p:spPr>
          <a:xfrm>
            <a:off x="8412480" y="446227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9640" y="4599432"/>
            <a:ext cx="274320" cy="27432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9070848" y="446227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Automated guardrails</a:t>
            </a:r>
            <a:endParaRPr lang="en-US" sz="1700" dirty="0"/>
          </a:p>
        </p:txBody>
      </p:sp>
      <p:sp>
        <p:nvSpPr>
          <p:cNvPr id="34" name="Text 26"/>
          <p:cNvSpPr/>
          <p:nvPr/>
        </p:nvSpPr>
        <p:spPr>
          <a:xfrm>
            <a:off x="8412480" y="5138928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Policy-as-code that prevents costly deployments before they happen.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39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FORWARD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68096"/>
            <a:ext cx="11091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start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587752" cy="2423160"/>
          </a:xfrm>
          <a:prstGeom prst="roundRect">
            <a:avLst>
              <a:gd name="adj" fmla="val 3396"/>
            </a:avLst>
          </a:prstGeom>
          <a:solidFill>
            <a:srgbClr val="1F2936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96596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9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21396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the tagging standard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3346704"/>
            <a:ext cx="21396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E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a consistent taxonomy before investing in dashboards.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83280" y="1783080"/>
            <a:ext cx="2587752" cy="2423160"/>
          </a:xfrm>
          <a:prstGeom prst="roundRect">
            <a:avLst>
              <a:gd name="adj" fmla="val 3396"/>
            </a:avLst>
          </a:prstGeom>
          <a:solidFill>
            <a:srgbClr val="F1F3F6"/>
          </a:solidFill>
          <a:ln/>
        </p:spPr>
      </p:sp>
      <p:sp>
        <p:nvSpPr>
          <p:cNvPr id="9" name="Text 7"/>
          <p:cNvSpPr/>
          <p:nvPr/>
        </p:nvSpPr>
        <p:spPr>
          <a:xfrm>
            <a:off x="3639312" y="196596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9C2C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621024" y="2523744"/>
            <a:ext cx="21396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with the biggest spend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621024" y="3346704"/>
            <a:ext cx="21396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the largest categories first. Don't chase perfect granularity everywhere.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1783080"/>
            <a:ext cx="2587752" cy="2423160"/>
          </a:xfrm>
          <a:prstGeom prst="roundRect">
            <a:avLst>
              <a:gd name="adj" fmla="val 3396"/>
            </a:avLst>
          </a:prstGeom>
          <a:solidFill>
            <a:srgbClr val="F1F3F6"/>
          </a:solidFill>
          <a:ln/>
        </p:spPr>
      </p:sp>
      <p:sp>
        <p:nvSpPr>
          <p:cNvPr id="13" name="Text 11"/>
          <p:cNvSpPr/>
          <p:nvPr/>
        </p:nvSpPr>
        <p:spPr>
          <a:xfrm>
            <a:off x="6473952" y="196596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9C2C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455664" y="2523744"/>
            <a:ext cx="21396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finance and engineering talking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55664" y="3346704"/>
            <a:ext cx="21396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both into the conversation early, not as an afterthought.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52560" y="1783080"/>
            <a:ext cx="2587752" cy="2423160"/>
          </a:xfrm>
          <a:prstGeom prst="roundRect">
            <a:avLst>
              <a:gd name="adj" fmla="val 3396"/>
            </a:avLst>
          </a:prstGeom>
          <a:solidFill>
            <a:srgbClr val="F1F3F6"/>
          </a:solidFill>
          <a:ln/>
        </p:spPr>
      </p:sp>
      <p:sp>
        <p:nvSpPr>
          <p:cNvPr id="17" name="Text 15"/>
          <p:cNvSpPr/>
          <p:nvPr/>
        </p:nvSpPr>
        <p:spPr>
          <a:xfrm>
            <a:off x="9308592" y="196596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9C2C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9290304" y="2523744"/>
            <a:ext cx="21396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Choose tools that fit the footprint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290304" y="3346704"/>
            <a:ext cx="21396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tooling for single-cloud; specialized platforms only for genuine multi-cloud.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434840"/>
            <a:ext cx="11091672" cy="1874520"/>
          </a:xfrm>
          <a:prstGeom prst="roundRect">
            <a:avLst>
              <a:gd name="adj" fmla="val 4390"/>
            </a:avLst>
          </a:prstGeom>
          <a:solidFill>
            <a:srgbClr val="F1F3F6"/>
          </a:solidFill>
          <a:ln/>
        </p:spPr>
      </p:sp>
      <p:sp>
        <p:nvSpPr>
          <p:cNvPr id="21" name="Text 19"/>
          <p:cNvSpPr/>
          <p:nvPr/>
        </p:nvSpPr>
        <p:spPr>
          <a:xfrm>
            <a:off x="877824" y="45720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Tooling options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77824" y="4937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2651760" y="4937760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Cost Explorer  ·  Azure Cost Management  ·  GCP Billing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77824" y="534924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B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2651760" y="5349240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CloudHealth  ·  Apptio  ·  Vantage  ·  nOps  ·  Finout  ·  CoreStack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77824" y="576072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651760" y="5760720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FOCUS-compliant platforms for multi-cloud reporting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39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68096"/>
            <a:ext cx="11091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Visibility is the foundation, not the goal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587752" cy="2286000"/>
          </a:xfrm>
          <a:prstGeom prst="roundRect">
            <a:avLst>
              <a:gd name="adj" fmla="val 3600"/>
            </a:avLst>
          </a:prstGeom>
          <a:solidFill>
            <a:srgbClr val="1F2936"/>
          </a:solidFill>
          <a:ln/>
        </p:spPr>
      </p:sp>
      <p:sp>
        <p:nvSpPr>
          <p:cNvPr id="5" name="Text 3"/>
          <p:cNvSpPr/>
          <p:nvPr/>
        </p:nvSpPr>
        <p:spPr>
          <a:xfrm>
            <a:off x="786384" y="2194560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39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Visibility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86384" y="2615184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enables accountability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86384" y="3154680"/>
            <a:ext cx="212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9E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can only own what they can see.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182112" y="2999232"/>
            <a:ext cx="192024" cy="182880"/>
          </a:xfrm>
          <a:prstGeom prst="rightArrow">
            <a:avLst/>
          </a:prstGeom>
          <a:solidFill>
            <a:srgbClr val="3D4B5B"/>
          </a:solidFill>
          <a:ln/>
        </p:spPr>
      </p:sp>
      <p:sp>
        <p:nvSpPr>
          <p:cNvPr id="9" name="Shape 7"/>
          <p:cNvSpPr/>
          <p:nvPr/>
        </p:nvSpPr>
        <p:spPr>
          <a:xfrm>
            <a:off x="3383280" y="1965960"/>
            <a:ext cx="2587752" cy="2286000"/>
          </a:xfrm>
          <a:prstGeom prst="roundRect">
            <a:avLst>
              <a:gd name="adj" fmla="val 3600"/>
            </a:avLst>
          </a:prstGeom>
          <a:solidFill>
            <a:srgbClr val="1F2936"/>
          </a:solidFill>
          <a:ln/>
        </p:spPr>
      </p:sp>
      <p:sp>
        <p:nvSpPr>
          <p:cNvPr id="10" name="Text 8"/>
          <p:cNvSpPr/>
          <p:nvPr/>
        </p:nvSpPr>
        <p:spPr>
          <a:xfrm>
            <a:off x="3621024" y="2194560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39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Accountability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621024" y="2615184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behaviour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21024" y="3154680"/>
            <a:ext cx="212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9E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make cost-conscious calls when they see the impact.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16752" y="2999232"/>
            <a:ext cx="192024" cy="182880"/>
          </a:xfrm>
          <a:prstGeom prst="rightArrow">
            <a:avLst/>
          </a:prstGeom>
          <a:solidFill>
            <a:srgbClr val="3D4B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217920" y="1965960"/>
            <a:ext cx="2587752" cy="2286000"/>
          </a:xfrm>
          <a:prstGeom prst="roundRect">
            <a:avLst>
              <a:gd name="adj" fmla="val 3600"/>
            </a:avLst>
          </a:prstGeom>
          <a:solidFill>
            <a:srgbClr val="1F2936"/>
          </a:solidFill>
          <a:ln/>
        </p:spPr>
      </p:sp>
      <p:sp>
        <p:nvSpPr>
          <p:cNvPr id="15" name="Text 13"/>
          <p:cNvSpPr/>
          <p:nvPr/>
        </p:nvSpPr>
        <p:spPr>
          <a:xfrm>
            <a:off x="6455664" y="2194560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39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Behaviour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55664" y="2615184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culture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55664" y="3154680"/>
            <a:ext cx="212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9E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awareness becomes part of how we build, not a separate exercise.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851392" y="2999232"/>
            <a:ext cx="192024" cy="182880"/>
          </a:xfrm>
          <a:prstGeom prst="rightArrow">
            <a:avLst/>
          </a:prstGeom>
          <a:solidFill>
            <a:srgbClr val="3D4B5B"/>
          </a:solidFill>
          <a:ln/>
        </p:spPr>
      </p:sp>
      <p:sp>
        <p:nvSpPr>
          <p:cNvPr id="19" name="Shape 17"/>
          <p:cNvSpPr/>
          <p:nvPr/>
        </p:nvSpPr>
        <p:spPr>
          <a:xfrm>
            <a:off x="9052560" y="1965960"/>
            <a:ext cx="2587752" cy="2286000"/>
          </a:xfrm>
          <a:prstGeom prst="roundRect">
            <a:avLst>
              <a:gd name="adj" fmla="val 3600"/>
            </a:avLst>
          </a:prstGeom>
          <a:solidFill>
            <a:srgbClr val="1F2936"/>
          </a:solidFill>
          <a:ln/>
        </p:spPr>
      </p:sp>
      <p:sp>
        <p:nvSpPr>
          <p:cNvPr id="20" name="Text 18"/>
          <p:cNvSpPr/>
          <p:nvPr/>
        </p:nvSpPr>
        <p:spPr>
          <a:xfrm>
            <a:off x="9290304" y="2194560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39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Culture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290304" y="2615184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sustains savings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290304" y="3154680"/>
            <a:ext cx="212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9E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 becomes continuous rather than a one-time project.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4526280"/>
            <a:ext cx="11091672" cy="1188720"/>
          </a:xfrm>
          <a:prstGeom prst="roundRect">
            <a:avLst>
              <a:gd name="adj" fmla="val 6923"/>
            </a:avLst>
          </a:prstGeom>
          <a:solidFill>
            <a:srgbClr val="1F2936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" y="4636008"/>
            <a:ext cx="105064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“Organizations that invest in visibility first achieve more durable and targeted cost improvements than those that jump straight to cuts.”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916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 &amp; discussion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260604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E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FinOps: Gaining Visibility — the foundation of cloud financial management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3611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E39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contacts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48640" y="3950208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9E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____________________   ·   Title</a:t>
            </a:r>
            <a:endParaRPr lang="en-US" sz="14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9E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____________________   ·   Title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548640" y="4937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E39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5276088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Foundation   ·   finops.org</a:t>
            </a:r>
            <a:endParaRPr lang="en-US" sz="14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standard   ·   focus.finops.org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001000" y="1920240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9" name="Shape 7"/>
          <p:cNvSpPr/>
          <p:nvPr/>
        </p:nvSpPr>
        <p:spPr>
          <a:xfrm>
            <a:off x="8513064" y="1920240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10" name="Shape 8"/>
          <p:cNvSpPr/>
          <p:nvPr/>
        </p:nvSpPr>
        <p:spPr>
          <a:xfrm>
            <a:off x="9025128" y="1920240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11" name="Shape 9"/>
          <p:cNvSpPr/>
          <p:nvPr/>
        </p:nvSpPr>
        <p:spPr>
          <a:xfrm>
            <a:off x="9537192" y="1920240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9256" y="1920240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13" name="Shape 11"/>
          <p:cNvSpPr/>
          <p:nvPr/>
        </p:nvSpPr>
        <p:spPr>
          <a:xfrm>
            <a:off x="10561320" y="1920240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14" name="Shape 12"/>
          <p:cNvSpPr/>
          <p:nvPr/>
        </p:nvSpPr>
        <p:spPr>
          <a:xfrm>
            <a:off x="11073384" y="1920240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15" name="Shape 13"/>
          <p:cNvSpPr/>
          <p:nvPr/>
        </p:nvSpPr>
        <p:spPr>
          <a:xfrm>
            <a:off x="8001000" y="2432304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16" name="Shape 14"/>
          <p:cNvSpPr/>
          <p:nvPr/>
        </p:nvSpPr>
        <p:spPr>
          <a:xfrm>
            <a:off x="8513064" y="2432304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17" name="Shape 15"/>
          <p:cNvSpPr/>
          <p:nvPr/>
        </p:nvSpPr>
        <p:spPr>
          <a:xfrm>
            <a:off x="9025128" y="2432304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18" name="Shape 16"/>
          <p:cNvSpPr/>
          <p:nvPr/>
        </p:nvSpPr>
        <p:spPr>
          <a:xfrm>
            <a:off x="9537192" y="2432304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19" name="Shape 17"/>
          <p:cNvSpPr/>
          <p:nvPr/>
        </p:nvSpPr>
        <p:spPr>
          <a:xfrm>
            <a:off x="10049256" y="2432304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20" name="Shape 18"/>
          <p:cNvSpPr/>
          <p:nvPr/>
        </p:nvSpPr>
        <p:spPr>
          <a:xfrm>
            <a:off x="10561320" y="2432304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21" name="Shape 19"/>
          <p:cNvSpPr/>
          <p:nvPr/>
        </p:nvSpPr>
        <p:spPr>
          <a:xfrm>
            <a:off x="11073384" y="2432304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22" name="Shape 20"/>
          <p:cNvSpPr/>
          <p:nvPr/>
        </p:nvSpPr>
        <p:spPr>
          <a:xfrm>
            <a:off x="8001000" y="2944368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23" name="Shape 21"/>
          <p:cNvSpPr/>
          <p:nvPr/>
        </p:nvSpPr>
        <p:spPr>
          <a:xfrm>
            <a:off x="8513064" y="2944368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24" name="Shape 22"/>
          <p:cNvSpPr/>
          <p:nvPr/>
        </p:nvSpPr>
        <p:spPr>
          <a:xfrm>
            <a:off x="9025128" y="2944368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25" name="Shape 23"/>
          <p:cNvSpPr/>
          <p:nvPr/>
        </p:nvSpPr>
        <p:spPr>
          <a:xfrm>
            <a:off x="9537192" y="2944368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26" name="Shape 24"/>
          <p:cNvSpPr/>
          <p:nvPr/>
        </p:nvSpPr>
        <p:spPr>
          <a:xfrm>
            <a:off x="10049256" y="2944368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27" name="Shape 25"/>
          <p:cNvSpPr/>
          <p:nvPr/>
        </p:nvSpPr>
        <p:spPr>
          <a:xfrm>
            <a:off x="10561320" y="2944368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28" name="Shape 26"/>
          <p:cNvSpPr/>
          <p:nvPr/>
        </p:nvSpPr>
        <p:spPr>
          <a:xfrm>
            <a:off x="11073384" y="2944368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29" name="Shape 27"/>
          <p:cNvSpPr/>
          <p:nvPr/>
        </p:nvSpPr>
        <p:spPr>
          <a:xfrm>
            <a:off x="8001000" y="3456432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30" name="Shape 28"/>
          <p:cNvSpPr/>
          <p:nvPr/>
        </p:nvSpPr>
        <p:spPr>
          <a:xfrm>
            <a:off x="8513064" y="3456432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31" name="Shape 29"/>
          <p:cNvSpPr/>
          <p:nvPr/>
        </p:nvSpPr>
        <p:spPr>
          <a:xfrm>
            <a:off x="9025128" y="3456432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32" name="Shape 30"/>
          <p:cNvSpPr/>
          <p:nvPr/>
        </p:nvSpPr>
        <p:spPr>
          <a:xfrm>
            <a:off x="9537192" y="3456432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33" name="Shape 31"/>
          <p:cNvSpPr/>
          <p:nvPr/>
        </p:nvSpPr>
        <p:spPr>
          <a:xfrm>
            <a:off x="10049256" y="3456432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34" name="Shape 32"/>
          <p:cNvSpPr/>
          <p:nvPr/>
        </p:nvSpPr>
        <p:spPr>
          <a:xfrm>
            <a:off x="10561320" y="3456432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35" name="Shape 33"/>
          <p:cNvSpPr/>
          <p:nvPr/>
        </p:nvSpPr>
        <p:spPr>
          <a:xfrm>
            <a:off x="11073384" y="3456432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36" name="Shape 34"/>
          <p:cNvSpPr/>
          <p:nvPr/>
        </p:nvSpPr>
        <p:spPr>
          <a:xfrm>
            <a:off x="8001000" y="3968496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37" name="Shape 35"/>
          <p:cNvSpPr/>
          <p:nvPr/>
        </p:nvSpPr>
        <p:spPr>
          <a:xfrm>
            <a:off x="8513064" y="3968496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38" name="Shape 36"/>
          <p:cNvSpPr/>
          <p:nvPr/>
        </p:nvSpPr>
        <p:spPr>
          <a:xfrm>
            <a:off x="9025128" y="3968496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39" name="Shape 37"/>
          <p:cNvSpPr/>
          <p:nvPr/>
        </p:nvSpPr>
        <p:spPr>
          <a:xfrm>
            <a:off x="9537192" y="3968496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40" name="Shape 38"/>
          <p:cNvSpPr/>
          <p:nvPr/>
        </p:nvSpPr>
        <p:spPr>
          <a:xfrm>
            <a:off x="10049256" y="3968496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41" name="Shape 39"/>
          <p:cNvSpPr/>
          <p:nvPr/>
        </p:nvSpPr>
        <p:spPr>
          <a:xfrm>
            <a:off x="10561320" y="3968496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42" name="Shape 40"/>
          <p:cNvSpPr/>
          <p:nvPr/>
        </p:nvSpPr>
        <p:spPr>
          <a:xfrm>
            <a:off x="11073384" y="3968496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43" name="Shape 41"/>
          <p:cNvSpPr/>
          <p:nvPr/>
        </p:nvSpPr>
        <p:spPr>
          <a:xfrm>
            <a:off x="8001000" y="4480560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44" name="Shape 42"/>
          <p:cNvSpPr/>
          <p:nvPr/>
        </p:nvSpPr>
        <p:spPr>
          <a:xfrm>
            <a:off x="8513064" y="4480560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45" name="Shape 43"/>
          <p:cNvSpPr/>
          <p:nvPr/>
        </p:nvSpPr>
        <p:spPr>
          <a:xfrm>
            <a:off x="9025128" y="4480560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46" name="Shape 44"/>
          <p:cNvSpPr/>
          <p:nvPr/>
        </p:nvSpPr>
        <p:spPr>
          <a:xfrm>
            <a:off x="9537192" y="4480560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47" name="Shape 45"/>
          <p:cNvSpPr/>
          <p:nvPr/>
        </p:nvSpPr>
        <p:spPr>
          <a:xfrm>
            <a:off x="10049256" y="4480560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48" name="Shape 46"/>
          <p:cNvSpPr/>
          <p:nvPr/>
        </p:nvSpPr>
        <p:spPr>
          <a:xfrm>
            <a:off x="10561320" y="4480560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49" name="Shape 47"/>
          <p:cNvSpPr/>
          <p:nvPr/>
        </p:nvSpPr>
        <p:spPr>
          <a:xfrm>
            <a:off x="11073384" y="4480560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50" name="Shape 48"/>
          <p:cNvSpPr/>
          <p:nvPr/>
        </p:nvSpPr>
        <p:spPr>
          <a:xfrm>
            <a:off x="8001000" y="4992624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51" name="Shape 49"/>
          <p:cNvSpPr/>
          <p:nvPr/>
        </p:nvSpPr>
        <p:spPr>
          <a:xfrm>
            <a:off x="8513064" y="4992624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52" name="Shape 50"/>
          <p:cNvSpPr/>
          <p:nvPr/>
        </p:nvSpPr>
        <p:spPr>
          <a:xfrm>
            <a:off x="9025128" y="4992624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53" name="Shape 51"/>
          <p:cNvSpPr/>
          <p:nvPr/>
        </p:nvSpPr>
        <p:spPr>
          <a:xfrm>
            <a:off x="9537192" y="4992624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54" name="Shape 52"/>
          <p:cNvSpPr/>
          <p:nvPr/>
        </p:nvSpPr>
        <p:spPr>
          <a:xfrm>
            <a:off x="10049256" y="4992624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55" name="Shape 53"/>
          <p:cNvSpPr/>
          <p:nvPr/>
        </p:nvSpPr>
        <p:spPr>
          <a:xfrm>
            <a:off x="10561320" y="4992624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56" name="Shape 54"/>
          <p:cNvSpPr/>
          <p:nvPr/>
        </p:nvSpPr>
        <p:spPr>
          <a:xfrm>
            <a:off x="11073384" y="4992624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FinOps: Gaining Visibility</dc:title>
  <dc:subject>Cloud financial management — management briefing</dc:subject>
  <dc:creator>FinOps</dc:creator>
  <cp:lastModifiedBy>FinOps</cp:lastModifiedBy>
  <cp:revision>1</cp:revision>
  <dcterms:created xsi:type="dcterms:W3CDTF">2026-08-04T15:25:13Z</dcterms:created>
  <dcterms:modified xsi:type="dcterms:W3CDTF">2026-08-04T15:25:13Z</dcterms:modified>
</cp:coreProperties>
</file>