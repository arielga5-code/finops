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briefing is about the Inform phase of FinOps — visibility. It is deliberately not an optimization pitch. The argument is that visibility is the prerequisite that makes every later saving durable rather than one-off.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lived experience rather than theory: the month-end surprise. If you have one, use a real example of a bill that moved and could not be explained within 24 hours. The point of the quote is that a dashboard is not the same thing as visibility — visibility means an owner and a cause can be named.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the 'Finance + DevOps' compound: this is an operating model that puts two functions in the same conversation, not a tool purchase. Inform is highlighted because it is where this organization is, and because the cycle repeats — each optimization round needs fresh visibility to target the next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test for the visibility programme. Invite the room to answer them for our own estate right now — the gaps in the answers are the business case. The bottom line matters most to a cost-conscious executive: without allocation, the only lever left is an across-the-board cut, which lands hardest on whoever is least able to argue back rather than on actual waste.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capabilities, in dependency order: allocation makes reporting meaningful, reporting makes unit economics computable, and freshness determines whether any of it is actionable. Unit economics is the one that changes the conversation with the board — it separates 'spend is up' from 'spend per customer is down', which are opposite stories told by the same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slide: it says the goal is hard and names why. The next four slides map one-to-one onto the first four blockers. SaaS and marketplace spend has no dedicated solution slide because the fix is procurement discipline rather than tooling — flag it as an action for finance, not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to take away if only one lands. Two decisions are needed from this room: who owns the tag taxonomy, and whether we are willing to enforce it with policy that blocks untagged resource creation. Enforcement at creation is nearly free; retrofitting a live estate is not. The five minimum tags are a starting point — resist the urge to design thirty.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naming our own shared platforms out loud here. The caveat to flag: a shared platform carries one set of tags, so resource tags alone cannot split it — per-team attribution needs either gateway-level keys or application-level instrumentation. Decide which before promising anyone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failure modes to describe: under-coverage, where we pay on-demand rates for workloads that never turn off; and over-commitment, where we buy for a peak that never returns. The reporting fix is showing both prices — teams that only see the discounted rate cannot tell whether the commitment is earning its keep, and teams that only see list price will not believe the savings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to our own footprint: if we are effectively single-cloud, the native tooling is sufficient and a platform purchase is premature. The FOCUS point still matters even then — asking vendors for FOCUS-compliant exports keeps the option open and makes any future migration cheap.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sequencing is the message. Showback is a runway, not a lesser version of chargeback: it is where allocation disputes get found and settled while the stakes are still low. A chargeback launched on 60% tagging coverage produces an argument about the numbers instead of a conversation about the spend, and that argument is expensive to unwind.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as a maturity self-assessment rather than a wish list: mark each of the six as in place, partial, or absent for our estate. Note that four of the six are visibility practices — high performers are not distinguished by how aggressively they cut, but by how early and how precisely they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deck — say plainly that part one was about seeing and part two is about controlling, and that the second does not follow automatically from the first. The distinction worth landing: a report tells you what already happened, a control decides what is permitted to happen next. Teams routinely build the first and assume they have the second. If time is short, the two pillars that pay for themselves fastest are ownership and rate limits — one gives every alert a destination, the other is the only thing on the list that can stop spend in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is the prerequisite for everything else in this section: an alert with no owner is a notification, a budget with no owner is a forecast. Push hard on the named-person point, because it is where this usually goes soft — a team alias feels safer to assign and answers nothing at 2am. The four duties are deliberately concrete; if a proposed owner cannot do all four, they are a contact, not an owner. The bottom callout is the one to leave hanging: unowned resources are not unbudgeted, they are simply charged to whoever is least able to refuse them, which is usually the central platform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tiers so the response matches the severity — notify, review, gate — and only the last one blocks anything. Make the case for a real gate somewhere in the estate: teams treat a threshold that has never stopped anything as advisory, because it is. The bottom panel is the technical heart of the slide and worth reading aloud. Proportional burn compares spend against how much of the month has elapsed, so it separates a healthy month that is simply late from a runaway that started on day three — a flat percentage cannot tell those apart. Keep the budget figures in one place finance can edit; budgets hard-coded across alert rules go stale within a quarter.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chart is the argument: billing data arrives a day or two late, utilization metrics in minutes, application telemetry in seconds. Anything built on the billing plane is a report on money already gone. State it directly — a cost alert cannot stop a runaway job. The four controls are all reversible in seconds, which is what makes them safe to set conservatively: a quota that turns out to be too tight is a five-minute fix, while the absence of one is a five-figure invoice. Expect pushback that limits will throttle legitimate growth. The answer is that a ceiling is not a target, it is the point at which a human is asked whether this is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tiering rule is the takeaway: sort alerts by what they can actually prevent, then route them by that. Protective alerts run on fast signals and earn a page. Budget alerts run on billing data and belong in a channel. Advisory alerts become tickets. The three cautions at the bottom are hard-won. Paging on a budget threshold wakes someone about a fact they cannot change, and does it repeatedly until they mute the rule — at which point the alerting looks healthy and is not. The silence alert is the one nobody builds until after the incident: an expired credential stops the data feed, every threshold rule goes quiet, and a quiet dashboard is indistinguishable from a good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section on the division of labour, because the most common failure here is not a missing tool but an assumption that FinOps is the platform team's job. Walk one row rather than all five — guardrails is a good choice, since engineering builds them but does not get to decide unilaterally where the ceiling sits. The pattern to point out is that no column owns more than two rows: this is a shared model by construction, and any version where one function owns everything has quietly become that function's problem alone. Bring a filled-in version of this grid with real names to the next meeting; the grid with roles is a discussion, the grid with names is a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defines shift left properly, so do not let it be heard as a tooling pitch. Shift left is a change in when the FinOps conversation happens: today it starts when the invoice arrives, and it belongs at requirements and design, where the decisions that commit the money are actually made. Walk the band left to right and make the point under it — by the time the design is agreed, most of the lifetime cost of that workload is already determined. Rightsizing afterwards trims the margin; the architecture set the base. The two cards are the exchange, and the right one matters more than the left. FinOps arrives with priced options and a cost target, but it leaves with an understanding of what the project actually needs — the real SLO, what is temporary, where the business value sits. That is why a named person has to be in the room rather than a report being circulated. Cite the Framework line at the bottom: this is a defined capability, not an invented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companion to the previous slide, and the one to hand to an architect. None of the six is a finance question — every one is a design question the team can answer in the room, and every one moves the bill by a large factor. Pick two to talk through rather than reading all six. The shape-of-load question is the highest-yield: sizing for a weekly peak is the most common and most expensive habit. The temporary question is the cheapest win, because an expiry date set on day one costs nothing and removing an environment two years later is a project nobody volunteers for. The bottom line is what makes the meeting real: the output is a number attached to the design and a cost target recorded next to the latency and availability targets, so cost becomes a non-functional requirement rather than a preference. Automation enforces it afterwards — the cost diff on the pull request and policy as code — but the number comes from this conversation, not from the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payoff slide for both halves of the deck, and the one to use if someone asks what all this buys. Walk the timeline left to right: the same overrun, found at four different moments, and only the first three leave anyone a decision to make. The fourth point is the status quo — it is not that the invoice is wrong, it is that by the time it arrives the only available action is explaining it. Land the closing line deliberately: we are not promising a smaller bill, and anyone who promises that before seeing the data is guessing. We are promising a bill with nothing surprising in it, which is a different and more defensible commitment.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makes the whole deck concrete for anyone running AI workloads, because AI is where these failures are arriving fastest. Same three gaps as cloud a decade ago — no owner, no attribution, no ceiling — compressed into about eighteen months. Lead with the third tile, not the waste figure. Four in five organizations need a day or more to trace an AI spike to its source, and roughly one in five manage it within hours. That converts an abstract governance ask into a measurable operational problem — time to attribute — which is a number an engineering leader can be held to and can move. Be straight about the source when asked, and say it before someone else does: this is vendor-sponsored research from a company selling AI cost tooling, and the waste figure is what respondents estimated rather than anything measured. The ownership, surprise-bill and diagnosis-time findings are the durable ones; the 26% is illustrative. Using it honestly is more persuasive than over-claiming it. The right-hand card is the technical consequence and the reason a generic cost platform is not enough here: AI waste lives in prompt design, model selection and retry behaviour, none of which appears in a resource-level bill. Naming the caller needs per-consumer token attribution — gateway subscription keys or application-level attributes.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operating-model slide, and the honest self-check for whoever runs this practice. Everything earlier in the deck produces findings; this is about whether findings become changes. Walk the chain and stop on the second box. A finding with no named owner and no date does not fail loudly — it simply sits in a dashboard being accurate, which is the most common way a cost programme dies. Sizing and dating each item is what turns a report into a queue of work someone can be asked about. The measures on the right are the ones to report upward, and they are deliberately not savings numbers. Adoption — the share of findings that acquired an owner and a date — predicts savings; accuracy does not. Realized against identified is the pair that keeps everyone honest, because identified savings are a forecast and only realized savings appear on an invoice. The build-for-engineers point is worth saying plainly: an engineer wants the three things worth fixing this sprint, not a complete and beautiful cost model. Serve that, and the finance-grade report improves anyway, because the underlying data gets used and therefore gets corrected.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Step 1 is highlighted because it is the only one that cannot be parallelized — everything downstream degrades if the taxonomy is still in flux. Steps 2 and 4 are both arguments against over-engineering: pick the top spend categories and the tooling that matches the estate we actually have, not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causal chain rather than a summary of slides. Each link is a separate management commitment: allocation data, published ownership, cost surfaced in the engineering workflow, and a review cadence that keeps it alive. Ask for the first two today; the rest follow from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 three questions. What will this cost — mostly effort, not licences, if we stay on native tooling. How long until we see savings — allocation coverage improves in weeks, targeted savings follow the first full month of clean data. Who owns it — name the tagging owner and the review cadence before leaving the room, or nothing on the previous slides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7315200" cy="1463040"/>
          </a:xfrm>
          <a:prstGeom prst="rect">
            <a:avLst/>
          </a:prstGeom>
          <a:noFill/>
          <a:ln/>
        </p:spPr>
        <p:txBody>
          <a:bodyPr wrap="square" lIns="0" tIns="0" rIns="0" bIns="0" rtlCol="0" anchor="t"/>
          <a:lstStyle/>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FinOps:</a:t>
            </a:r>
            <a:endParaRPr lang="en-US" sz="3800" dirty="0"/>
          </a:p>
          <a:p>
            <a:pPr indent="0" marL="0">
              <a:lnSpc>
                <a:spcPts val="4400"/>
              </a:lnSpc>
              <a:buNone/>
            </a:pPr>
            <a:r>
              <a:rPr lang="en-US" sz="3800" b="1" dirty="0">
                <a:solidFill>
                  <a:srgbClr val="FFFFFF"/>
                </a:solidFill>
                <a:latin typeface="Cambria" pitchFamily="34" charset="0"/>
                <a:ea typeface="Cambria" pitchFamily="34" charset="-122"/>
                <a:cs typeface="Cambria" pitchFamily="34" charset="-120"/>
              </a:rPr>
              <a:t>Visibility &amp; Governance</a:t>
            </a:r>
            <a:endParaRPr lang="en-US" sz="3800" dirty="0"/>
          </a:p>
        </p:txBody>
      </p:sp>
      <p:sp>
        <p:nvSpPr>
          <p:cNvPr id="4" name="Text 2"/>
          <p:cNvSpPr/>
          <p:nvPr/>
        </p:nvSpPr>
        <p:spPr>
          <a:xfrm>
            <a:off x="548640" y="3401568"/>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Seeing cloud spend — and controlling it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234440"/>
            <a:ext cx="54864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PART TWO</a:t>
            </a:r>
            <a:endParaRPr lang="en-US" sz="1200" dirty="0"/>
          </a:p>
        </p:txBody>
      </p:sp>
      <p:sp>
        <p:nvSpPr>
          <p:cNvPr id="3" name="Text 1"/>
          <p:cNvSpPr/>
          <p:nvPr/>
        </p:nvSpPr>
        <p:spPr>
          <a:xfrm>
            <a:off x="548640" y="1600200"/>
            <a:ext cx="6035040" cy="9144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Governance</a:t>
            </a:r>
            <a:endParaRPr lang="en-US" sz="4200" dirty="0"/>
          </a:p>
        </p:txBody>
      </p:sp>
      <p:sp>
        <p:nvSpPr>
          <p:cNvPr id="4" name="Text 2"/>
          <p:cNvSpPr/>
          <p:nvPr/>
        </p:nvSpPr>
        <p:spPr>
          <a:xfrm>
            <a:off x="548640" y="2651760"/>
            <a:ext cx="5760720" cy="1005840"/>
          </a:xfrm>
          <a:prstGeom prst="rect">
            <a:avLst/>
          </a:prstGeom>
          <a:noFill/>
          <a:ln/>
        </p:spPr>
        <p:txBody>
          <a:bodyPr wrap="square" lIns="0" tIns="0" rIns="0" bIns="0" rtlCol="0" anchor="t"/>
          <a:lstStyle/>
          <a:p>
            <a:pPr indent="0" marL="0">
              <a:lnSpc>
                <a:spcPts val="2200"/>
              </a:lnSpc>
              <a:buNone/>
            </a:pPr>
            <a:r>
              <a:rPr lang="en-US" sz="1550" dirty="0">
                <a:solidFill>
                  <a:srgbClr val="9EABBA"/>
                </a:solidFill>
                <a:latin typeface="Calibri" pitchFamily="34" charset="0"/>
                <a:ea typeface="Calibri" pitchFamily="34" charset="-122"/>
                <a:cs typeface="Calibri" pitchFamily="34" charset="-120"/>
              </a:rPr>
              <a:t>Visibility tells you what happened. Governance decides what is allowed to happen — who owns the spend, what it may reach, and what stops it automatically.</a:t>
            </a:r>
            <a:endParaRPr lang="en-US" sz="1550" dirty="0"/>
          </a:p>
        </p:txBody>
      </p:sp>
      <p:sp>
        <p:nvSpPr>
          <p:cNvPr id="5" name="Text 3"/>
          <p:cNvSpPr/>
          <p:nvPr/>
        </p:nvSpPr>
        <p:spPr>
          <a:xfrm>
            <a:off x="548640" y="3886200"/>
            <a:ext cx="5760720" cy="731520"/>
          </a:xfrm>
          <a:prstGeom prst="rect">
            <a:avLst/>
          </a:prstGeom>
          <a:noFill/>
          <a:ln/>
        </p:spPr>
        <p:txBody>
          <a:bodyPr wrap="square" lIns="0" tIns="0" rIns="0" bIns="0" rtlCol="0" anchor="t"/>
          <a:lstStyle/>
          <a:p>
            <a:pPr indent="0" marL="0">
              <a:lnSpc>
                <a:spcPts val="2100"/>
              </a:lnSpc>
              <a:buNone/>
            </a:pPr>
            <a:r>
              <a:rPr lang="en-US" sz="1450" i="1" dirty="0">
                <a:solidFill>
                  <a:srgbClr val="E39B2C"/>
                </a:solidFill>
                <a:latin typeface="Cambria" pitchFamily="34" charset="0"/>
                <a:ea typeface="Cambria" pitchFamily="34" charset="-122"/>
                <a:cs typeface="Cambria" pitchFamily="34" charset="-120"/>
              </a:rPr>
              <a:t>Reporting is not a control. Every item on the right exists because someone found that out the expensive way.</a:t>
            </a:r>
            <a:endParaRPr lang="en-US" sz="1450" dirty="0"/>
          </a:p>
        </p:txBody>
      </p:sp>
      <p:sp>
        <p:nvSpPr>
          <p:cNvPr id="6" name="Shape 4"/>
          <p:cNvSpPr/>
          <p:nvPr/>
        </p:nvSpPr>
        <p:spPr>
          <a:xfrm>
            <a:off x="6675120" y="1371600"/>
            <a:ext cx="4965192" cy="786384"/>
          </a:xfrm>
          <a:prstGeom prst="roundRect">
            <a:avLst>
              <a:gd name="adj" fmla="val 10465"/>
            </a:avLst>
          </a:prstGeom>
          <a:solidFill>
            <a:srgbClr val="1F2936"/>
          </a:solidFill>
          <a:ln/>
        </p:spPr>
      </p:sp>
      <p:sp>
        <p:nvSpPr>
          <p:cNvPr id="7" name="Text 5"/>
          <p:cNvSpPr/>
          <p:nvPr/>
        </p:nvSpPr>
        <p:spPr>
          <a:xfrm>
            <a:off x="6912864" y="1371600"/>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01</a:t>
            </a:r>
            <a:endParaRPr lang="en-US" sz="1900" dirty="0"/>
          </a:p>
        </p:txBody>
      </p:sp>
      <p:sp>
        <p:nvSpPr>
          <p:cNvPr id="8" name="Text 6"/>
          <p:cNvSpPr/>
          <p:nvPr/>
        </p:nvSpPr>
        <p:spPr>
          <a:xfrm>
            <a:off x="7534656" y="1371600"/>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Application ownership</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A named owner for every workload</a:t>
            </a:r>
            <a:endParaRPr lang="en-US" sz="1450" dirty="0"/>
          </a:p>
        </p:txBody>
      </p:sp>
      <p:sp>
        <p:nvSpPr>
          <p:cNvPr id="9" name="Shape 7"/>
          <p:cNvSpPr/>
          <p:nvPr/>
        </p:nvSpPr>
        <p:spPr>
          <a:xfrm>
            <a:off x="6675120" y="2249424"/>
            <a:ext cx="4965192" cy="786384"/>
          </a:xfrm>
          <a:prstGeom prst="roundRect">
            <a:avLst>
              <a:gd name="adj" fmla="val 10465"/>
            </a:avLst>
          </a:prstGeom>
          <a:solidFill>
            <a:srgbClr val="1F2936"/>
          </a:solidFill>
          <a:ln/>
        </p:spPr>
      </p:sp>
      <p:sp>
        <p:nvSpPr>
          <p:cNvPr id="10" name="Text 8"/>
          <p:cNvSpPr/>
          <p:nvPr/>
        </p:nvSpPr>
        <p:spPr>
          <a:xfrm>
            <a:off x="6912864" y="2249424"/>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02</a:t>
            </a:r>
            <a:endParaRPr lang="en-US" sz="1900" dirty="0"/>
          </a:p>
        </p:txBody>
      </p:sp>
      <p:sp>
        <p:nvSpPr>
          <p:cNvPr id="11" name="Text 9"/>
          <p:cNvSpPr/>
          <p:nvPr/>
        </p:nvSpPr>
        <p:spPr>
          <a:xfrm>
            <a:off x="7534656" y="2249424"/>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Budget controls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Thresholds that trigger before month-end</a:t>
            </a:r>
            <a:endParaRPr lang="en-US" sz="1450" dirty="0"/>
          </a:p>
        </p:txBody>
      </p:sp>
      <p:sp>
        <p:nvSpPr>
          <p:cNvPr id="12" name="Shape 10"/>
          <p:cNvSpPr/>
          <p:nvPr/>
        </p:nvSpPr>
        <p:spPr>
          <a:xfrm>
            <a:off x="6675120" y="3127248"/>
            <a:ext cx="4965192" cy="786384"/>
          </a:xfrm>
          <a:prstGeom prst="roundRect">
            <a:avLst>
              <a:gd name="adj" fmla="val 10465"/>
            </a:avLst>
          </a:prstGeom>
          <a:solidFill>
            <a:srgbClr val="1F2936"/>
          </a:solidFill>
          <a:ln/>
        </p:spPr>
      </p:sp>
      <p:sp>
        <p:nvSpPr>
          <p:cNvPr id="13" name="Text 11"/>
          <p:cNvSpPr/>
          <p:nvPr/>
        </p:nvSpPr>
        <p:spPr>
          <a:xfrm>
            <a:off x="6912864" y="3127248"/>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03</a:t>
            </a:r>
            <a:endParaRPr lang="en-US" sz="1900" dirty="0"/>
          </a:p>
        </p:txBody>
      </p:sp>
      <p:sp>
        <p:nvSpPr>
          <p:cNvPr id="14" name="Text 12"/>
          <p:cNvSpPr/>
          <p:nvPr/>
        </p:nvSpPr>
        <p:spPr>
          <a:xfrm>
            <a:off x="7534656" y="3127248"/>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Rate limits &amp; quotas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The only control fast enough to stop spend</a:t>
            </a:r>
            <a:endParaRPr lang="en-US" sz="1450" dirty="0"/>
          </a:p>
        </p:txBody>
      </p:sp>
      <p:sp>
        <p:nvSpPr>
          <p:cNvPr id="15" name="Shape 13"/>
          <p:cNvSpPr/>
          <p:nvPr/>
        </p:nvSpPr>
        <p:spPr>
          <a:xfrm>
            <a:off x="6675120" y="4005072"/>
            <a:ext cx="4965192" cy="786384"/>
          </a:xfrm>
          <a:prstGeom prst="roundRect">
            <a:avLst>
              <a:gd name="adj" fmla="val 10465"/>
            </a:avLst>
          </a:prstGeom>
          <a:solidFill>
            <a:srgbClr val="1F2936"/>
          </a:solidFill>
          <a:ln/>
        </p:spPr>
      </p:sp>
      <p:sp>
        <p:nvSpPr>
          <p:cNvPr id="16" name="Text 14"/>
          <p:cNvSpPr/>
          <p:nvPr/>
        </p:nvSpPr>
        <p:spPr>
          <a:xfrm>
            <a:off x="6912864" y="4005072"/>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04</a:t>
            </a:r>
            <a:endParaRPr lang="en-US" sz="1900" dirty="0"/>
          </a:p>
        </p:txBody>
      </p:sp>
      <p:sp>
        <p:nvSpPr>
          <p:cNvPr id="17" name="Text 15"/>
          <p:cNvSpPr/>
          <p:nvPr/>
        </p:nvSpPr>
        <p:spPr>
          <a:xfrm>
            <a:off x="7534656" y="4005072"/>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Automated alerts</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Routed to the person who can act</a:t>
            </a:r>
            <a:endParaRPr lang="en-US" sz="1450" dirty="0"/>
          </a:p>
        </p:txBody>
      </p:sp>
      <p:sp>
        <p:nvSpPr>
          <p:cNvPr id="18" name="Shape 16"/>
          <p:cNvSpPr/>
          <p:nvPr/>
        </p:nvSpPr>
        <p:spPr>
          <a:xfrm>
            <a:off x="6675120" y="4882896"/>
            <a:ext cx="4965192" cy="786384"/>
          </a:xfrm>
          <a:prstGeom prst="roundRect">
            <a:avLst>
              <a:gd name="adj" fmla="val 10465"/>
            </a:avLst>
          </a:prstGeom>
          <a:solidFill>
            <a:srgbClr val="1F2936"/>
          </a:solidFill>
          <a:ln/>
        </p:spPr>
      </p:sp>
      <p:sp>
        <p:nvSpPr>
          <p:cNvPr id="19" name="Text 17"/>
          <p:cNvSpPr/>
          <p:nvPr/>
        </p:nvSpPr>
        <p:spPr>
          <a:xfrm>
            <a:off x="6912864" y="4882896"/>
            <a:ext cx="548640" cy="786384"/>
          </a:xfrm>
          <a:prstGeom prst="rect">
            <a:avLst/>
          </a:prstGeom>
          <a:noFill/>
          <a:ln/>
        </p:spPr>
        <p:txBody>
          <a:bodyPr wrap="square" lIns="0" tIns="0" rIns="0" bIns="0" rtlCol="0" anchor="ctr"/>
          <a:lstStyle/>
          <a:p>
            <a:pPr indent="0" marL="0">
              <a:buNone/>
            </a:pPr>
            <a:r>
              <a:rPr lang="en-US" sz="1900" b="1" dirty="0">
                <a:solidFill>
                  <a:srgbClr val="E39B2C"/>
                </a:solidFill>
                <a:latin typeface="Cambria" pitchFamily="34" charset="0"/>
                <a:ea typeface="Cambria" pitchFamily="34" charset="-122"/>
                <a:cs typeface="Cambria" pitchFamily="34" charset="-120"/>
              </a:rPr>
              <a:t>05</a:t>
            </a:r>
            <a:endParaRPr lang="en-US" sz="1900" dirty="0"/>
          </a:p>
        </p:txBody>
      </p:sp>
      <p:sp>
        <p:nvSpPr>
          <p:cNvPr id="20" name="Text 18"/>
          <p:cNvSpPr/>
          <p:nvPr/>
        </p:nvSpPr>
        <p:spPr>
          <a:xfrm>
            <a:off x="7534656" y="4882896"/>
            <a:ext cx="3931920" cy="786384"/>
          </a:xfrm>
          <a:prstGeom prst="rect">
            <a:avLst/>
          </a:prstGeom>
          <a:noFill/>
          <a:ln/>
        </p:spPr>
        <p:txBody>
          <a:bodyPr wrap="square" lIns="0" tIns="0" rIns="0" bIns="0" rtlCol="0" anchor="ctr"/>
          <a:lstStyle/>
          <a:p>
            <a:pPr indent="0" marL="0">
              <a:lnSpc>
                <a:spcPts val="1600"/>
              </a:lnSpc>
              <a:buNone/>
            </a:pPr>
            <a:r>
              <a:rPr lang="en-US" sz="1450" b="1" dirty="0">
                <a:solidFill>
                  <a:srgbClr val="FFFFFF"/>
                </a:solidFill>
                <a:latin typeface="Calibri" pitchFamily="34" charset="0"/>
                <a:ea typeface="Calibri" pitchFamily="34" charset="-122"/>
                <a:cs typeface="Calibri" pitchFamily="34" charset="-120"/>
              </a:rPr>
              <a:t>Shared responsibility</a:t>
            </a:r>
            <a:endParaRPr lang="en-US" sz="1450" dirty="0"/>
          </a:p>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Who decides, who builds, who pays</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1 — APPLICATION OWNERSHIP</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Every workload has a named owner</a:t>
            </a:r>
            <a:endParaRPr lang="en-US" sz="3100" dirty="0"/>
          </a:p>
        </p:txBody>
      </p:sp>
      <p:sp>
        <p:nvSpPr>
          <p:cNvPr id="4" name="Shape 2"/>
          <p:cNvSpPr/>
          <p:nvPr/>
        </p:nvSpPr>
        <p:spPr>
          <a:xfrm>
            <a:off x="548640" y="1783080"/>
            <a:ext cx="3749040" cy="3017520"/>
          </a:xfrm>
          <a:prstGeom prst="roundRect">
            <a:avLst>
              <a:gd name="adj" fmla="val 2727"/>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Owner of record</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450" i="1" dirty="0">
                <a:solidFill>
                  <a:srgbClr val="FFFFFF"/>
                </a:solidFill>
                <a:latin typeface="Cambria" pitchFamily="34" charset="0"/>
                <a:ea typeface="Cambria" pitchFamily="34" charset="-122"/>
                <a:cs typeface="Cambria" pitchFamily="34" charset="-120"/>
              </a:rPr>
              <a:t>A named person, not a distribution list and not “the platform team”. A group address means nobody answers the alert at 2am on a Sunday.</a:t>
            </a:r>
            <a:endParaRPr lang="en-US" sz="145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Owns the budget</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Signs off the application's budget and explains the variance when it moves.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Answers the alerts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Named as the routing target for anomalies and threshold breaches on their workload.</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Reviews monthly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Attends the monthly review with their own numbers, not a summary of everyone's.</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Decommissions</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Retires what is no longer used. Nothing else in the estate does this by itself.</a:t>
            </a:r>
            <a:endParaRPr lang="en-US" sz="1450" dirty="0"/>
          </a:p>
        </p:txBody>
      </p:sp>
      <p:sp>
        <p:nvSpPr>
          <p:cNvPr id="21" name="Shape 14"/>
          <p:cNvSpPr/>
          <p:nvPr/>
        </p:nvSpPr>
        <p:spPr>
          <a:xfrm>
            <a:off x="548640" y="5047488"/>
            <a:ext cx="11091672" cy="1207008"/>
          </a:xfrm>
          <a:prstGeom prst="roundRect">
            <a:avLst>
              <a:gd name="adj" fmla="val 6818"/>
            </a:avLst>
          </a:prstGeom>
          <a:solidFill>
            <a:srgbClr val="FBEFD8"/>
          </a:solidFill>
          <a:ln/>
        </p:spPr>
      </p:sp>
      <p:sp>
        <p:nvSpPr>
          <p:cNvPr id="22" name="Text 15"/>
          <p:cNvSpPr/>
          <p:nvPr/>
        </p:nvSpPr>
        <p:spPr>
          <a:xfrm>
            <a:off x="877824" y="5193792"/>
            <a:ext cx="45720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Unowned is not unowned</a:t>
            </a:r>
            <a:endParaRPr lang="en-US" sz="1200" dirty="0"/>
          </a:p>
        </p:txBody>
      </p:sp>
      <p:sp>
        <p:nvSpPr>
          <p:cNvPr id="23" name="Text 16"/>
          <p:cNvSpPr/>
          <p:nvPr/>
        </p:nvSpPr>
        <p:spPr>
          <a:xfrm>
            <a:off x="877824" y="5486400"/>
            <a:ext cx="10424160" cy="658368"/>
          </a:xfrm>
          <a:prstGeom prst="rect">
            <a:avLst/>
          </a:prstGeom>
          <a:noFill/>
          <a:ln/>
        </p:spPr>
        <p:txBody>
          <a:bodyPr wrap="square" lIns="0" tIns="0" rIns="0" bIns="0" rtlCol="0" anchor="t"/>
          <a:lstStyle/>
          <a:p>
            <a:pPr indent="0" marL="0">
              <a:lnSpc>
                <a:spcPts val="1900"/>
              </a:lnSpc>
              <a:buNone/>
            </a:pPr>
            <a:r>
              <a:rPr lang="en-US" sz="1400" dirty="0">
                <a:solidFill>
                  <a:srgbClr val="6B4A0E"/>
                </a:solidFill>
                <a:latin typeface="Calibri" pitchFamily="34" charset="0"/>
                <a:ea typeface="Calibri" pitchFamily="34" charset="-122"/>
                <a:cs typeface="Calibri" pitchFamily="34" charset="-120"/>
              </a:rPr>
              <a:t>Every resource without an owner already has one — the central budget. Make ownership a deployment requirement rather than a reporting field, and give orphaned resources a standing rule: no owner, no renewal.</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2 — BUDGET CONTROLS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Thresholds that fire before month-end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budget nobody is warned about is a number in a spreadsheet, not a control.</a:t>
            </a:r>
            <a:endParaRPr lang="en-US" sz="1500" dirty="0"/>
          </a:p>
        </p:txBody>
      </p:sp>
      <p:sp>
        <p:nvSpPr>
          <p:cNvPr id="5" name="Shape 3"/>
          <p:cNvSpPr/>
          <p:nvPr/>
        </p:nvSpPr>
        <p:spPr>
          <a:xfrm>
            <a:off x="548640" y="2103120"/>
            <a:ext cx="3511296" cy="2148840"/>
          </a:xfrm>
          <a:prstGeom prst="roundRect">
            <a:avLst>
              <a:gd name="adj" fmla="val 3830"/>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499616"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Notify</a:t>
            </a:r>
            <a:endParaRPr lang="en-US" sz="2000" dirty="0"/>
          </a:p>
        </p:txBody>
      </p:sp>
      <p:sp>
        <p:nvSpPr>
          <p:cNvPr id="9" name="Text 6"/>
          <p:cNvSpPr/>
          <p:nvPr/>
        </p:nvSpPr>
        <p:spPr>
          <a:xfrm>
            <a:off x="841248" y="3035808"/>
            <a:ext cx="2926080" cy="310896"/>
          </a:xfrm>
          <a:prstGeom prst="rect">
            <a:avLst/>
          </a:prstGeom>
          <a:noFill/>
          <a:ln/>
        </p:spPr>
        <p:txBody>
          <a:bodyPr wrap="square" lIns="0" tIns="0" rIns="0" bIns="0" rtlCol="0" anchor="ctr"/>
          <a:lstStyle/>
          <a:p>
            <a:pPr indent="0" marL="0">
              <a:buNone/>
            </a:pPr>
            <a:r>
              <a:rPr lang="en-US" sz="1250" b="1" dirty="0">
                <a:solidFill>
                  <a:srgbClr val="1F6B5C"/>
                </a:solidFill>
                <a:latin typeface="Calibri" pitchFamily="34" charset="0"/>
                <a:ea typeface="Calibri" pitchFamily="34" charset="-122"/>
                <a:cs typeface="Calibri" pitchFamily="34" charset="-120"/>
              </a:rPr>
              <a:t>Burn ahead of plan</a:t>
            </a:r>
            <a:endParaRPr lang="en-US" sz="1250" dirty="0"/>
          </a:p>
        </p:txBody>
      </p:sp>
      <p:sp>
        <p:nvSpPr>
          <p:cNvPr id="10" name="Text 7"/>
          <p:cNvSpPr/>
          <p:nvPr/>
        </p:nvSpPr>
        <p:spPr>
          <a:xfrm>
            <a:off x="841248"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Proportional to the month elapsed. Goes to the team channel.</a:t>
            </a:r>
            <a:endParaRPr lang="en-US" sz="1250" dirty="0"/>
          </a:p>
        </p:txBody>
      </p:sp>
      <p:sp>
        <p:nvSpPr>
          <p:cNvPr id="11" name="Shape 8"/>
          <p:cNvSpPr/>
          <p:nvPr/>
        </p:nvSpPr>
        <p:spPr>
          <a:xfrm>
            <a:off x="4114800" y="3090672"/>
            <a:ext cx="201168" cy="182880"/>
          </a:xfrm>
          <a:prstGeom prst="rightArrow">
            <a:avLst/>
          </a:prstGeom>
          <a:solidFill>
            <a:srgbClr val="C3CBD5"/>
          </a:solidFill>
          <a:ln/>
        </p:spPr>
      </p:sp>
      <p:sp>
        <p:nvSpPr>
          <p:cNvPr id="12" name="Shape 9"/>
          <p:cNvSpPr/>
          <p:nvPr/>
        </p:nvSpPr>
        <p:spPr>
          <a:xfrm>
            <a:off x="4334256" y="2103120"/>
            <a:ext cx="3511296" cy="2148840"/>
          </a:xfrm>
          <a:prstGeom prst="roundRect">
            <a:avLst>
              <a:gd name="adj" fmla="val 3830"/>
            </a:avLst>
          </a:prstGeom>
          <a:solidFill>
            <a:srgbClr val="FBEFD8"/>
          </a:solidFill>
          <a:ln/>
        </p:spPr>
      </p:sp>
      <p:sp>
        <p:nvSpPr>
          <p:cNvPr id="13" name="Shape 10"/>
          <p:cNvSpPr/>
          <p:nvPr/>
        </p:nvSpPr>
        <p:spPr>
          <a:xfrm>
            <a:off x="4626864" y="2359152"/>
            <a:ext cx="548640" cy="548640"/>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64024" y="2496312"/>
            <a:ext cx="274320" cy="274320"/>
          </a:xfrm>
          <a:prstGeom prst="rect">
            <a:avLst/>
          </a:prstGeom>
        </p:spPr>
      </p:pic>
      <p:sp>
        <p:nvSpPr>
          <p:cNvPr id="15" name="Text 11"/>
          <p:cNvSpPr/>
          <p:nvPr/>
        </p:nvSpPr>
        <p:spPr>
          <a:xfrm>
            <a:off x="5285232"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Review</a:t>
            </a:r>
            <a:endParaRPr lang="en-US" sz="2000" dirty="0"/>
          </a:p>
        </p:txBody>
      </p:sp>
      <p:sp>
        <p:nvSpPr>
          <p:cNvPr id="16" name="Text 12"/>
          <p:cNvSpPr/>
          <p:nvPr/>
        </p:nvSpPr>
        <p:spPr>
          <a:xfrm>
            <a:off x="4626864" y="3035808"/>
            <a:ext cx="2926080" cy="310896"/>
          </a:xfrm>
          <a:prstGeom prst="rect">
            <a:avLst/>
          </a:prstGeom>
          <a:noFill/>
          <a:ln/>
        </p:spPr>
        <p:txBody>
          <a:bodyPr wrap="square" lIns="0" tIns="0" rIns="0" bIns="0" rtlCol="0" anchor="ctr"/>
          <a:lstStyle/>
          <a:p>
            <a:pPr indent="0" marL="0">
              <a:buNone/>
            </a:pPr>
            <a:r>
              <a:rPr lang="en-US" sz="1250" b="1" dirty="0">
                <a:solidFill>
                  <a:srgbClr val="B87B18"/>
                </a:solidFill>
                <a:latin typeface="Calibri" pitchFamily="34" charset="0"/>
                <a:ea typeface="Calibri" pitchFamily="34" charset="-122"/>
                <a:cs typeface="Calibri" pitchFamily="34" charset="-120"/>
              </a:rPr>
              <a:t>Forecast exceeds budget</a:t>
            </a:r>
            <a:endParaRPr lang="en-US" sz="1250" dirty="0"/>
          </a:p>
        </p:txBody>
      </p:sp>
      <p:sp>
        <p:nvSpPr>
          <p:cNvPr id="17" name="Text 13"/>
          <p:cNvSpPr/>
          <p:nvPr/>
        </p:nvSpPr>
        <p:spPr>
          <a:xfrm>
            <a:off x="4626864"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Projected month-end overrun. Owner and finance review within days.</a:t>
            </a:r>
            <a:endParaRPr lang="en-US" sz="1250" dirty="0"/>
          </a:p>
        </p:txBody>
      </p:sp>
      <p:sp>
        <p:nvSpPr>
          <p:cNvPr id="18" name="Shape 14"/>
          <p:cNvSpPr/>
          <p:nvPr/>
        </p:nvSpPr>
        <p:spPr>
          <a:xfrm>
            <a:off x="7900416" y="3090672"/>
            <a:ext cx="201168" cy="182880"/>
          </a:xfrm>
          <a:prstGeom prst="rightArrow">
            <a:avLst/>
          </a:prstGeom>
          <a:solidFill>
            <a:srgbClr val="C3CBD5"/>
          </a:solidFill>
          <a:ln/>
        </p:spPr>
      </p:sp>
      <p:sp>
        <p:nvSpPr>
          <p:cNvPr id="19" name="Shape 15"/>
          <p:cNvSpPr/>
          <p:nvPr/>
        </p:nvSpPr>
        <p:spPr>
          <a:xfrm>
            <a:off x="8119872" y="2103120"/>
            <a:ext cx="3511296" cy="2148840"/>
          </a:xfrm>
          <a:prstGeom prst="roundRect">
            <a:avLst>
              <a:gd name="adj" fmla="val 3830"/>
            </a:avLst>
          </a:prstGeom>
          <a:solidFill>
            <a:srgbClr val="F6E0DC"/>
          </a:solidFill>
          <a:ln/>
        </p:spPr>
      </p:sp>
      <p:sp>
        <p:nvSpPr>
          <p:cNvPr id="20" name="Shape 16"/>
          <p:cNvSpPr/>
          <p:nvPr/>
        </p:nvSpPr>
        <p:spPr>
          <a:xfrm>
            <a:off x="8412480" y="2359152"/>
            <a:ext cx="548640" cy="548640"/>
          </a:xfrm>
          <a:prstGeom prst="ellipse">
            <a:avLst/>
          </a:prstGeom>
          <a:solidFill>
            <a:srgbClr val="FFFFFF"/>
          </a:solidFill>
          <a:ln/>
        </p:spPr>
      </p:sp>
      <p:pic>
        <p:nvPicPr>
          <p:cNvPr id="21" name="Image 2" descr="preencoded.png">    </p:cNvPr>
          <p:cNvPicPr>
            <a:picLocks noChangeAspect="1"/>
          </p:cNvPicPr>
          <p:nvPr/>
        </p:nvPicPr>
        <p:blipFill>
          <a:blip r:embed="rId3"/>
          <a:stretch>
            <a:fillRect/>
          </a:stretch>
        </p:blipFill>
        <p:spPr>
          <a:xfrm>
            <a:off x="8549640" y="2496312"/>
            <a:ext cx="274320" cy="274320"/>
          </a:xfrm>
          <a:prstGeom prst="rect">
            <a:avLst/>
          </a:prstGeom>
        </p:spPr>
      </p:pic>
      <p:sp>
        <p:nvSpPr>
          <p:cNvPr id="22" name="Text 17"/>
          <p:cNvSpPr/>
          <p:nvPr/>
        </p:nvSpPr>
        <p:spPr>
          <a:xfrm>
            <a:off x="9070848" y="2359152"/>
            <a:ext cx="2286000" cy="548640"/>
          </a:xfrm>
          <a:prstGeom prst="rect">
            <a:avLst/>
          </a:prstGeom>
          <a:noFill/>
          <a:ln/>
        </p:spPr>
        <p:txBody>
          <a:bodyPr wrap="square" lIns="0" tIns="0" rIns="0" bIns="0" rtlCol="0" anchor="ctr"/>
          <a:lstStyle/>
          <a:p>
            <a:pPr indent="0" marL="0">
              <a:buNone/>
            </a:pPr>
            <a:r>
              <a:rPr lang="en-US" sz="2000" b="1" dirty="0">
                <a:solidFill>
                  <a:srgbClr val="1B2430"/>
                </a:solidFill>
                <a:latin typeface="Cambria" pitchFamily="34" charset="0"/>
                <a:ea typeface="Cambria" pitchFamily="34" charset="-122"/>
                <a:cs typeface="Cambria" pitchFamily="34" charset="-120"/>
              </a:rPr>
              <a:t>Gate</a:t>
            </a:r>
            <a:endParaRPr lang="en-US" sz="2000" dirty="0"/>
          </a:p>
        </p:txBody>
      </p:sp>
      <p:sp>
        <p:nvSpPr>
          <p:cNvPr id="23" name="Text 18"/>
          <p:cNvSpPr/>
          <p:nvPr/>
        </p:nvSpPr>
        <p:spPr>
          <a:xfrm>
            <a:off x="8412480" y="3035808"/>
            <a:ext cx="2926080" cy="310896"/>
          </a:xfrm>
          <a:prstGeom prst="rect">
            <a:avLst/>
          </a:prstGeom>
          <a:noFill/>
          <a:ln/>
        </p:spPr>
        <p:txBody>
          <a:bodyPr wrap="square" lIns="0" tIns="0" rIns="0" bIns="0" rtlCol="0" anchor="ctr"/>
          <a:lstStyle/>
          <a:p>
            <a:pPr indent="0" marL="0">
              <a:buNone/>
            </a:pPr>
            <a:r>
              <a:rPr lang="en-US" sz="1250" b="1" dirty="0">
                <a:solidFill>
                  <a:srgbClr val="A6432F"/>
                </a:solidFill>
                <a:latin typeface="Calibri" pitchFamily="34" charset="0"/>
                <a:ea typeface="Calibri" pitchFamily="34" charset="-122"/>
                <a:cs typeface="Calibri" pitchFamily="34" charset="-120"/>
              </a:rPr>
              <a:t>Hard ceiling reached</a:t>
            </a:r>
            <a:endParaRPr lang="en-US" sz="1250" dirty="0"/>
          </a:p>
        </p:txBody>
      </p:sp>
      <p:sp>
        <p:nvSpPr>
          <p:cNvPr id="24" name="Text 19"/>
          <p:cNvSpPr/>
          <p:nvPr/>
        </p:nvSpPr>
        <p:spPr>
          <a:xfrm>
            <a:off x="8412480" y="3383280"/>
            <a:ext cx="2926080" cy="73152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New spend needs explicit approval, or the quota is capped.</a:t>
            </a:r>
            <a:endParaRPr lang="en-US" sz="1250" dirty="0"/>
          </a:p>
        </p:txBody>
      </p:sp>
      <p:sp>
        <p:nvSpPr>
          <p:cNvPr id="25" name="Shape 20"/>
          <p:cNvSpPr/>
          <p:nvPr/>
        </p:nvSpPr>
        <p:spPr>
          <a:xfrm>
            <a:off x="548640" y="4526280"/>
            <a:ext cx="11091672" cy="1783080"/>
          </a:xfrm>
          <a:prstGeom prst="roundRect">
            <a:avLst>
              <a:gd name="adj" fmla="val 4615"/>
            </a:avLst>
          </a:prstGeom>
          <a:solidFill>
            <a:srgbClr val="1F2936"/>
          </a:solidFill>
          <a:ln/>
          <a:effectLst>
            <a:outerShdw sx="100000" sy="100000" kx="0" ky="0" algn="bl" rotWithShape="0" blurRad="127000" dist="25400" dir="5400000">
              <a:srgbClr val="8C99A8">
                <a:alpha val="16000"/>
              </a:srgbClr>
            </a:outerShdw>
          </a:effectLst>
        </p:spPr>
      </p:sp>
      <p:sp>
        <p:nvSpPr>
          <p:cNvPr id="26" name="Text 21"/>
          <p:cNvSpPr/>
          <p:nvPr/>
        </p:nvSpPr>
        <p:spPr>
          <a:xfrm>
            <a:off x="877824" y="4681728"/>
            <a:ext cx="548640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Make it proportional, not flat</a:t>
            </a:r>
            <a:endParaRPr lang="en-US" sz="1200" dirty="0"/>
          </a:p>
        </p:txBody>
      </p:sp>
      <p:sp>
        <p:nvSpPr>
          <p:cNvPr id="27" name="Text 22"/>
          <p:cNvSpPr/>
          <p:nvPr/>
        </p:nvSpPr>
        <p:spPr>
          <a:xfrm>
            <a:off x="877824" y="5029200"/>
            <a:ext cx="10424160" cy="1097280"/>
          </a:xfrm>
          <a:prstGeom prst="rect">
            <a:avLst/>
          </a:prstGeom>
          <a:noFill/>
          <a:ln/>
        </p:spPr>
        <p:txBody>
          <a:bodyPr wrap="square" lIns="0" tIns="0" rIns="0" bIns="0" rtlCol="0" anchor="t"/>
          <a:lstStyle/>
          <a:p>
            <a:pPr indent="0" marL="0">
              <a:lnSpc>
                <a:spcPts val="2100"/>
              </a:lnSpc>
              <a:buNone/>
            </a:pPr>
            <a:r>
              <a:rPr lang="en-US" sz="1400" dirty="0">
                <a:solidFill>
                  <a:srgbClr val="FFFFFF"/>
                </a:solidFill>
                <a:latin typeface="Calibri" pitchFamily="34" charset="0"/>
                <a:ea typeface="Calibri" pitchFamily="34" charset="-122"/>
                <a:cs typeface="Calibri" pitchFamily="34" charset="-120"/>
              </a:rPr>
              <a:t>Day 10 of a 30-day month should be near a third of budget. At 60%, that is the alert. </a:t>
            </a:r>
            <a:pPr indent="0" marL="0">
              <a:lnSpc>
                <a:spcPts val="2100"/>
              </a:lnSpc>
              <a:buNone/>
            </a:pPr>
            <a:r>
              <a:rPr lang="en-US" sz="1400" dirty="0">
                <a:solidFill>
                  <a:srgbClr val="9EABBA"/>
                </a:solidFill>
                <a:latin typeface="Calibri" pitchFamily="34" charset="0"/>
                <a:ea typeface="Calibri" pitchFamily="34" charset="-122"/>
                <a:cs typeface="Calibri" pitchFamily="34" charset="-120"/>
              </a:rPr>
              <a:t>A flat “80% of budget” threshold fires on day 24 of a healthy month and day 8 of a catastrophic one — with equal urgency, and therefore equal indifference.</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3 — RATE LIMITS &amp; QUOTAS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only control fast enough to stop spend</a:t>
            </a:r>
            <a:endParaRPr lang="en-US" sz="3100" dirty="0"/>
          </a:p>
        </p:txBody>
      </p:sp>
      <p:sp>
        <p:nvSpPr>
          <p:cNvPr id="4" name="Shape 2"/>
          <p:cNvSpPr/>
          <p:nvPr/>
        </p:nvSpPr>
        <p:spPr>
          <a:xfrm>
            <a:off x="548640" y="1737360"/>
            <a:ext cx="5074920" cy="2395728"/>
          </a:xfrm>
          <a:prstGeom prst="roundRect">
            <a:avLst>
              <a:gd name="adj" fmla="val 3435"/>
            </a:avLst>
          </a:prstGeom>
          <a:solidFill>
            <a:srgbClr val="F1F3F6"/>
          </a:solidFill>
          <a:ln/>
        </p:spPr>
      </p:sp>
      <p:sp>
        <p:nvSpPr>
          <p:cNvPr id="5" name="Text 3"/>
          <p:cNvSpPr/>
          <p:nvPr/>
        </p:nvSpPr>
        <p:spPr>
          <a:xfrm>
            <a:off x="859536" y="1883664"/>
            <a:ext cx="4389120" cy="310896"/>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How fast each signal moves</a:t>
            </a:r>
            <a:endParaRPr lang="en-US" sz="1200" dirty="0"/>
          </a:p>
        </p:txBody>
      </p:sp>
      <p:sp>
        <p:nvSpPr>
          <p:cNvPr id="6" name="Text 4"/>
          <p:cNvSpPr/>
          <p:nvPr/>
        </p:nvSpPr>
        <p:spPr>
          <a:xfrm>
            <a:off x="859536" y="2304288"/>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Billing data</a:t>
            </a:r>
            <a:endParaRPr lang="en-US" sz="1250" dirty="0"/>
          </a:p>
        </p:txBody>
      </p:sp>
      <p:sp>
        <p:nvSpPr>
          <p:cNvPr id="7" name="Shape 5"/>
          <p:cNvSpPr/>
          <p:nvPr/>
        </p:nvSpPr>
        <p:spPr>
          <a:xfrm>
            <a:off x="2761488" y="2395728"/>
            <a:ext cx="2651760" cy="146304"/>
          </a:xfrm>
          <a:prstGeom prst="roundRect">
            <a:avLst>
              <a:gd name="adj" fmla="val 50000"/>
            </a:avLst>
          </a:prstGeom>
          <a:solidFill>
            <a:srgbClr val="C3CBD5"/>
          </a:solidFill>
          <a:ln/>
        </p:spPr>
      </p:sp>
      <p:sp>
        <p:nvSpPr>
          <p:cNvPr id="8" name="Text 6"/>
          <p:cNvSpPr/>
          <p:nvPr/>
        </p:nvSpPr>
        <p:spPr>
          <a:xfrm>
            <a:off x="859536" y="2578608"/>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24–48h behind</a:t>
            </a:r>
            <a:endParaRPr lang="en-US" sz="1150" dirty="0"/>
          </a:p>
        </p:txBody>
      </p:sp>
      <p:sp>
        <p:nvSpPr>
          <p:cNvPr id="9" name="Text 7"/>
          <p:cNvSpPr/>
          <p:nvPr/>
        </p:nvSpPr>
        <p:spPr>
          <a:xfrm>
            <a:off x="859536" y="2907792"/>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Utilization metrics</a:t>
            </a:r>
            <a:endParaRPr lang="en-US" sz="1250" dirty="0"/>
          </a:p>
        </p:txBody>
      </p:sp>
      <p:sp>
        <p:nvSpPr>
          <p:cNvPr id="10" name="Shape 8"/>
          <p:cNvSpPr/>
          <p:nvPr/>
        </p:nvSpPr>
        <p:spPr>
          <a:xfrm>
            <a:off x="2761488" y="2999232"/>
            <a:ext cx="749808" cy="146304"/>
          </a:xfrm>
          <a:prstGeom prst="roundRect">
            <a:avLst>
              <a:gd name="adj" fmla="val 50000"/>
            </a:avLst>
          </a:prstGeom>
          <a:solidFill>
            <a:srgbClr val="E39B2C"/>
          </a:solidFill>
          <a:ln/>
        </p:spPr>
      </p:sp>
      <p:sp>
        <p:nvSpPr>
          <p:cNvPr id="11" name="Text 9"/>
          <p:cNvSpPr/>
          <p:nvPr/>
        </p:nvSpPr>
        <p:spPr>
          <a:xfrm>
            <a:off x="859536" y="3182112"/>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~5 minutes</a:t>
            </a:r>
            <a:endParaRPr lang="en-US" sz="1150" dirty="0"/>
          </a:p>
        </p:txBody>
      </p:sp>
      <p:sp>
        <p:nvSpPr>
          <p:cNvPr id="12" name="Text 10"/>
          <p:cNvSpPr/>
          <p:nvPr/>
        </p:nvSpPr>
        <p:spPr>
          <a:xfrm>
            <a:off x="859536" y="3511296"/>
            <a:ext cx="18288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Application telemetry</a:t>
            </a:r>
            <a:endParaRPr lang="en-US" sz="1250" dirty="0"/>
          </a:p>
        </p:txBody>
      </p:sp>
      <p:sp>
        <p:nvSpPr>
          <p:cNvPr id="13" name="Shape 11"/>
          <p:cNvSpPr/>
          <p:nvPr/>
        </p:nvSpPr>
        <p:spPr>
          <a:xfrm>
            <a:off x="2761488" y="3602736"/>
            <a:ext cx="274320" cy="146304"/>
          </a:xfrm>
          <a:prstGeom prst="roundRect">
            <a:avLst>
              <a:gd name="adj" fmla="val 50000"/>
            </a:avLst>
          </a:prstGeom>
          <a:solidFill>
            <a:srgbClr val="2E8B7A"/>
          </a:solidFill>
          <a:ln/>
        </p:spPr>
      </p:sp>
      <p:sp>
        <p:nvSpPr>
          <p:cNvPr id="14" name="Text 12"/>
          <p:cNvSpPr/>
          <p:nvPr/>
        </p:nvSpPr>
        <p:spPr>
          <a:xfrm>
            <a:off x="859536" y="3785616"/>
            <a:ext cx="4389120" cy="274320"/>
          </a:xfrm>
          <a:prstGeom prst="rect">
            <a:avLst/>
          </a:prstGeom>
          <a:noFill/>
          <a:ln/>
        </p:spPr>
        <p:txBody>
          <a:bodyPr wrap="square" lIns="0" tIns="0" rIns="0" bIns="0" rtlCol="0" anchor="ctr"/>
          <a:lstStyle/>
          <a:p>
            <a:pPr indent="0" marL="0">
              <a:buNone/>
            </a:pPr>
            <a:r>
              <a:rPr lang="en-US" sz="1150" b="1" dirty="0">
                <a:solidFill>
                  <a:srgbClr val="5C6675"/>
                </a:solidFill>
                <a:latin typeface="Calibri" pitchFamily="34" charset="0"/>
                <a:ea typeface="Calibri" pitchFamily="34" charset="-122"/>
                <a:cs typeface="Calibri" pitchFamily="34" charset="-120"/>
              </a:rPr>
              <a:t>seconds</a:t>
            </a:r>
            <a:endParaRPr lang="en-US" sz="1150" dirty="0"/>
          </a:p>
        </p:txBody>
      </p:sp>
      <p:sp>
        <p:nvSpPr>
          <p:cNvPr id="15" name="Shape 13"/>
          <p:cNvSpPr/>
          <p:nvPr/>
        </p:nvSpPr>
        <p:spPr>
          <a:xfrm>
            <a:off x="5971032" y="1737360"/>
            <a:ext cx="5669280" cy="2395728"/>
          </a:xfrm>
          <a:prstGeom prst="roundRect">
            <a:avLst>
              <a:gd name="adj" fmla="val 3435"/>
            </a:avLst>
          </a:prstGeom>
          <a:solidFill>
            <a:srgbClr val="1F2936"/>
          </a:solidFill>
          <a:ln/>
          <a:effectLst>
            <a:outerShdw sx="100000" sy="100000" kx="0" ky="0" algn="bl" rotWithShape="0" blurRad="127000" dist="25400" dir="5400000">
              <a:srgbClr val="8C99A8">
                <a:alpha val="16000"/>
              </a:srgbClr>
            </a:outerShdw>
          </a:effectLst>
        </p:spPr>
      </p:sp>
      <p:sp>
        <p:nvSpPr>
          <p:cNvPr id="16" name="Text 14"/>
          <p:cNvSpPr/>
          <p:nvPr/>
        </p:nvSpPr>
        <p:spPr>
          <a:xfrm>
            <a:off x="6263640" y="1847088"/>
            <a:ext cx="5084064" cy="2176272"/>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cost alert cannot save you from a runaway job. By the time actual cost moves, you have already spent the money.”</a:t>
            </a:r>
            <a:endParaRPr lang="en-US" sz="1500" dirty="0"/>
          </a:p>
        </p:txBody>
      </p:sp>
      <p:sp>
        <p:nvSpPr>
          <p:cNvPr id="17" name="Shape 15"/>
          <p:cNvSpPr/>
          <p:nvPr/>
        </p:nvSpPr>
        <p:spPr>
          <a:xfrm>
            <a:off x="548640" y="4617720"/>
            <a:ext cx="457200" cy="457200"/>
          </a:xfrm>
          <a:prstGeom prst="ellipse">
            <a:avLst/>
          </a:prstGeom>
          <a:solidFill>
            <a:srgbClr val="FBEFD8"/>
          </a:solidFill>
          <a:ln/>
        </p:spPr>
      </p:sp>
      <p:pic>
        <p:nvPicPr>
          <p:cNvPr id="18" name="Image 0" descr="preencoded.png">    </p:cNvPr>
          <p:cNvPicPr>
            <a:picLocks noChangeAspect="1"/>
          </p:cNvPicPr>
          <p:nvPr/>
        </p:nvPicPr>
        <p:blipFill>
          <a:blip r:embed="rId1"/>
          <a:stretch>
            <a:fillRect/>
          </a:stretch>
        </p:blipFill>
        <p:spPr>
          <a:xfrm>
            <a:off x="662940" y="4732020"/>
            <a:ext cx="228600" cy="228600"/>
          </a:xfrm>
          <a:prstGeom prst="rect">
            <a:avLst/>
          </a:prstGeom>
        </p:spPr>
      </p:pic>
      <p:sp>
        <p:nvSpPr>
          <p:cNvPr id="19" name="Text 16"/>
          <p:cNvSpPr/>
          <p:nvPr/>
        </p:nvSpPr>
        <p:spPr>
          <a:xfrm>
            <a:off x="1261872"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Per-deployment quotas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Cap tokens or requests per minute on each deployment.</a:t>
            </a:r>
            <a:endParaRPr lang="en-US" sz="1400" dirty="0"/>
          </a:p>
        </p:txBody>
      </p:sp>
      <p:sp>
        <p:nvSpPr>
          <p:cNvPr id="20" name="Shape 17"/>
          <p:cNvSpPr/>
          <p:nvPr/>
        </p:nvSpPr>
        <p:spPr>
          <a:xfrm>
            <a:off x="6245352" y="4617720"/>
            <a:ext cx="457200" cy="457200"/>
          </a:xfrm>
          <a:prstGeom prst="ellipse">
            <a:avLst/>
          </a:prstGeom>
          <a:solidFill>
            <a:srgbClr val="FBEFD8"/>
          </a:solidFill>
          <a:ln/>
        </p:spPr>
      </p:sp>
      <p:pic>
        <p:nvPicPr>
          <p:cNvPr id="21" name="Image 1" descr="preencoded.png">    </p:cNvPr>
          <p:cNvPicPr>
            <a:picLocks noChangeAspect="1"/>
          </p:cNvPicPr>
          <p:nvPr/>
        </p:nvPicPr>
        <p:blipFill>
          <a:blip r:embed="rId2"/>
          <a:stretch>
            <a:fillRect/>
          </a:stretch>
        </p:blipFill>
        <p:spPr>
          <a:xfrm>
            <a:off x="6359652" y="4732020"/>
            <a:ext cx="228600" cy="228600"/>
          </a:xfrm>
          <a:prstGeom prst="rect">
            <a:avLst/>
          </a:prstGeom>
        </p:spPr>
      </p:pic>
      <p:sp>
        <p:nvSpPr>
          <p:cNvPr id="22" name="Text 18"/>
          <p:cNvSpPr/>
          <p:nvPr/>
        </p:nvSpPr>
        <p:spPr>
          <a:xfrm>
            <a:off x="6958584" y="438912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Gateway throttling</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Rate-limit per consumer key, so one client cannot drain the shared pool.</a:t>
            </a:r>
            <a:endParaRPr lang="en-US" sz="1400" dirty="0"/>
          </a:p>
        </p:txBody>
      </p:sp>
      <p:sp>
        <p:nvSpPr>
          <p:cNvPr id="23" name="Shape 19"/>
          <p:cNvSpPr/>
          <p:nvPr/>
        </p:nvSpPr>
        <p:spPr>
          <a:xfrm>
            <a:off x="548640" y="5715000"/>
            <a:ext cx="457200" cy="457200"/>
          </a:xfrm>
          <a:prstGeom prst="ellipse">
            <a:avLst/>
          </a:prstGeom>
          <a:solidFill>
            <a:srgbClr val="FBEFD8"/>
          </a:solidFill>
          <a:ln/>
        </p:spPr>
      </p:sp>
      <p:pic>
        <p:nvPicPr>
          <p:cNvPr id="24" name="Image 2" descr="preencoded.png">    </p:cNvPr>
          <p:cNvPicPr>
            <a:picLocks noChangeAspect="1"/>
          </p:cNvPicPr>
          <p:nvPr/>
        </p:nvPicPr>
        <p:blipFill>
          <a:blip r:embed="rId3"/>
          <a:stretch>
            <a:fillRect/>
          </a:stretch>
        </p:blipFill>
        <p:spPr>
          <a:xfrm>
            <a:off x="662940" y="5829300"/>
            <a:ext cx="228600" cy="228600"/>
          </a:xfrm>
          <a:prstGeom prst="rect">
            <a:avLst/>
          </a:prstGeom>
        </p:spPr>
      </p:pic>
      <p:sp>
        <p:nvSpPr>
          <p:cNvPr id="25" name="Text 20"/>
          <p:cNvSpPr/>
          <p:nvPr/>
        </p:nvSpPr>
        <p:spPr>
          <a:xfrm>
            <a:off x="1261872"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Autoscale ceilings</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A maximum instance count on every scale set. Scaling is not a budget.</a:t>
            </a:r>
            <a:endParaRPr lang="en-US" sz="1400" dirty="0"/>
          </a:p>
        </p:txBody>
      </p:sp>
      <p:sp>
        <p:nvSpPr>
          <p:cNvPr id="26" name="Shape 21"/>
          <p:cNvSpPr/>
          <p:nvPr/>
        </p:nvSpPr>
        <p:spPr>
          <a:xfrm>
            <a:off x="6245352" y="5715000"/>
            <a:ext cx="457200" cy="457200"/>
          </a:xfrm>
          <a:prstGeom prst="ellipse">
            <a:avLst/>
          </a:prstGeom>
          <a:solidFill>
            <a:srgbClr val="FBEFD8"/>
          </a:solidFill>
          <a:ln/>
        </p:spPr>
      </p:sp>
      <p:pic>
        <p:nvPicPr>
          <p:cNvPr id="27" name="Image 3" descr="preencoded.png">    </p:cNvPr>
          <p:cNvPicPr>
            <a:picLocks noChangeAspect="1"/>
          </p:cNvPicPr>
          <p:nvPr/>
        </p:nvPicPr>
        <p:blipFill>
          <a:blip r:embed="rId4"/>
          <a:stretch>
            <a:fillRect/>
          </a:stretch>
        </p:blipFill>
        <p:spPr>
          <a:xfrm>
            <a:off x="6359652" y="5829300"/>
            <a:ext cx="228600" cy="228600"/>
          </a:xfrm>
          <a:prstGeom prst="rect">
            <a:avLst/>
          </a:prstGeom>
        </p:spPr>
      </p:pic>
      <p:sp>
        <p:nvSpPr>
          <p:cNvPr id="28" name="Text 22"/>
          <p:cNvSpPr/>
          <p:nvPr/>
        </p:nvSpPr>
        <p:spPr>
          <a:xfrm>
            <a:off x="6958584" y="5486400"/>
            <a:ext cx="4681728" cy="91440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Non-prod shutdown</a:t>
            </a:r>
            <a:endParaRPr lang="en-US" sz="1400" dirty="0"/>
          </a:p>
          <a:p>
            <a:pPr indent="0" marL="0">
              <a:lnSpc>
                <a:spcPts val="1600"/>
              </a:lnSpc>
              <a:buNone/>
            </a:pPr>
            <a:r>
              <a:rPr lang="en-US" sz="1200" dirty="0">
                <a:solidFill>
                  <a:srgbClr val="5C6675"/>
                </a:solidFill>
                <a:latin typeface="Calibri" pitchFamily="34" charset="0"/>
                <a:ea typeface="Calibri" pitchFamily="34" charset="-122"/>
                <a:cs typeface="Calibri" pitchFamily="34" charset="-120"/>
              </a:rPr>
              <a:t>Scheduled stop outside working hours — the cheapest saving available.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4 — AUTOMATED ALERTS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Three tiers, three destinations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Sort alerts by what they can actually prevent — then route them accordingly.</a:t>
            </a:r>
            <a:endParaRPr lang="en-US" sz="1500" dirty="0"/>
          </a:p>
        </p:txBody>
      </p:sp>
      <p:sp>
        <p:nvSpPr>
          <p:cNvPr id="5" name="Text 3"/>
          <p:cNvSpPr/>
          <p:nvPr/>
        </p:nvSpPr>
        <p:spPr>
          <a:xfrm>
            <a:off x="859536" y="2103120"/>
            <a:ext cx="21945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Tier</a:t>
            </a:r>
            <a:endParaRPr lang="en-US" sz="1100" dirty="0"/>
          </a:p>
        </p:txBody>
      </p:sp>
      <p:sp>
        <p:nvSpPr>
          <p:cNvPr id="6" name="Text 4"/>
          <p:cNvSpPr/>
          <p:nvPr/>
        </p:nvSpPr>
        <p:spPr>
          <a:xfrm>
            <a:off x="3200400" y="2103120"/>
            <a:ext cx="292608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Built on</a:t>
            </a:r>
            <a:endParaRPr lang="en-US" sz="1100" dirty="0"/>
          </a:p>
        </p:txBody>
      </p:sp>
      <p:sp>
        <p:nvSpPr>
          <p:cNvPr id="7" name="Text 5"/>
          <p:cNvSpPr/>
          <p:nvPr/>
        </p:nvSpPr>
        <p:spPr>
          <a:xfrm>
            <a:off x="6309360" y="2103120"/>
            <a:ext cx="173736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Latency</a:t>
            </a:r>
            <a:endParaRPr lang="en-US" sz="1100" dirty="0"/>
          </a:p>
        </p:txBody>
      </p:sp>
      <p:sp>
        <p:nvSpPr>
          <p:cNvPr id="8" name="Text 6"/>
          <p:cNvSpPr/>
          <p:nvPr/>
        </p:nvSpPr>
        <p:spPr>
          <a:xfrm>
            <a:off x="8229600" y="2103120"/>
            <a:ext cx="3017520" cy="274320"/>
          </a:xfrm>
          <a:prstGeom prst="rect">
            <a:avLst/>
          </a:prstGeom>
          <a:noFill/>
          <a:ln/>
        </p:spPr>
        <p:txBody>
          <a:bodyPr wrap="square" lIns="0" tIns="0" rIns="0" bIns="0" rtlCol="0" anchor="ctr"/>
          <a:lstStyle/>
          <a:p>
            <a:pPr indent="0" marL="0">
              <a:buNone/>
            </a:pPr>
            <a:r>
              <a:rPr lang="en-US" sz="1100" b="1" spc="160" kern="0" dirty="0">
                <a:solidFill>
                  <a:srgbClr val="E39B2C"/>
                </a:solidFill>
                <a:latin typeface="Calibri" pitchFamily="34" charset="0"/>
                <a:ea typeface="Calibri" pitchFamily="34" charset="-122"/>
                <a:cs typeface="Calibri" pitchFamily="34" charset="-120"/>
              </a:rPr>
              <a:t>Routes to</a:t>
            </a:r>
            <a:endParaRPr lang="en-US" sz="1100" dirty="0"/>
          </a:p>
        </p:txBody>
      </p:sp>
      <p:sp>
        <p:nvSpPr>
          <p:cNvPr id="9" name="Shape 7"/>
          <p:cNvSpPr/>
          <p:nvPr/>
        </p:nvSpPr>
        <p:spPr>
          <a:xfrm>
            <a:off x="548640" y="2487168"/>
            <a:ext cx="11091672" cy="841248"/>
          </a:xfrm>
          <a:prstGeom prst="roundRect">
            <a:avLst>
              <a:gd name="adj" fmla="val 9783"/>
            </a:avLst>
          </a:prstGeom>
          <a:solidFill>
            <a:srgbClr val="1F2936"/>
          </a:solidFill>
          <a:ln/>
        </p:spPr>
      </p:sp>
      <p:sp>
        <p:nvSpPr>
          <p:cNvPr id="10" name="Text 8"/>
          <p:cNvSpPr/>
          <p:nvPr/>
        </p:nvSpPr>
        <p:spPr>
          <a:xfrm>
            <a:off x="859536" y="2487168"/>
            <a:ext cx="2194560" cy="8412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Protective</a:t>
            </a:r>
            <a:endParaRPr lang="en-US" sz="1800" dirty="0"/>
          </a:p>
        </p:txBody>
      </p:sp>
      <p:sp>
        <p:nvSpPr>
          <p:cNvPr id="11" name="Text 9"/>
          <p:cNvSpPr/>
          <p:nvPr/>
        </p:nvSpPr>
        <p:spPr>
          <a:xfrm>
            <a:off x="3200400" y="2487168"/>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Tokens, utilization, error rates</a:t>
            </a:r>
            <a:endParaRPr lang="en-US" sz="1300" dirty="0"/>
          </a:p>
        </p:txBody>
      </p:sp>
      <p:sp>
        <p:nvSpPr>
          <p:cNvPr id="12" name="Text 10"/>
          <p:cNvSpPr/>
          <p:nvPr/>
        </p:nvSpPr>
        <p:spPr>
          <a:xfrm>
            <a:off x="6309360" y="2487168"/>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minutes</a:t>
            </a:r>
            <a:endParaRPr lang="en-US" sz="1300" dirty="0"/>
          </a:p>
        </p:txBody>
      </p:sp>
      <p:sp>
        <p:nvSpPr>
          <p:cNvPr id="13" name="Text 11"/>
          <p:cNvSpPr/>
          <p:nvPr/>
        </p:nvSpPr>
        <p:spPr>
          <a:xfrm>
            <a:off x="8229600" y="2487168"/>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On-call — page it</a:t>
            </a:r>
            <a:endParaRPr lang="en-US" sz="1300" dirty="0"/>
          </a:p>
        </p:txBody>
      </p:sp>
      <p:sp>
        <p:nvSpPr>
          <p:cNvPr id="14" name="Shape 12"/>
          <p:cNvSpPr/>
          <p:nvPr/>
        </p:nvSpPr>
        <p:spPr>
          <a:xfrm>
            <a:off x="548640" y="3419856"/>
            <a:ext cx="11091672" cy="841248"/>
          </a:xfrm>
          <a:prstGeom prst="roundRect">
            <a:avLst>
              <a:gd name="adj" fmla="val 9783"/>
            </a:avLst>
          </a:prstGeom>
          <a:solidFill>
            <a:srgbClr val="1F2936"/>
          </a:solidFill>
          <a:ln/>
        </p:spPr>
      </p:sp>
      <p:sp>
        <p:nvSpPr>
          <p:cNvPr id="15" name="Text 13"/>
          <p:cNvSpPr/>
          <p:nvPr/>
        </p:nvSpPr>
        <p:spPr>
          <a:xfrm>
            <a:off x="859536" y="3419856"/>
            <a:ext cx="2194560" cy="841248"/>
          </a:xfrm>
          <a:prstGeom prst="rect">
            <a:avLst/>
          </a:prstGeom>
          <a:noFill/>
          <a:ln/>
        </p:spPr>
        <p:txBody>
          <a:bodyPr wrap="square" lIns="0" tIns="0" rIns="0" bIns="0" rtlCol="0" anchor="ctr"/>
          <a:lstStyle/>
          <a:p>
            <a:pPr indent="0" marL="0">
              <a:buNone/>
            </a:pPr>
            <a:r>
              <a:rPr lang="en-US" sz="1800" b="1" dirty="0">
                <a:solidFill>
                  <a:srgbClr val="2E8B7A"/>
                </a:solidFill>
                <a:latin typeface="Cambria" pitchFamily="34" charset="0"/>
                <a:ea typeface="Cambria" pitchFamily="34" charset="-122"/>
                <a:cs typeface="Cambria" pitchFamily="34" charset="-120"/>
              </a:rPr>
              <a:t>Budget</a:t>
            </a:r>
            <a:endParaRPr lang="en-US" sz="1800" dirty="0"/>
          </a:p>
        </p:txBody>
      </p:sp>
      <p:sp>
        <p:nvSpPr>
          <p:cNvPr id="16" name="Text 14"/>
          <p:cNvSpPr/>
          <p:nvPr/>
        </p:nvSpPr>
        <p:spPr>
          <a:xfrm>
            <a:off x="3200400" y="3419856"/>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data</a:t>
            </a:r>
            <a:endParaRPr lang="en-US" sz="1300" dirty="0"/>
          </a:p>
        </p:txBody>
      </p:sp>
      <p:sp>
        <p:nvSpPr>
          <p:cNvPr id="17" name="Text 15"/>
          <p:cNvSpPr/>
          <p:nvPr/>
        </p:nvSpPr>
        <p:spPr>
          <a:xfrm>
            <a:off x="6309360" y="3419856"/>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24–48 hours</a:t>
            </a:r>
            <a:endParaRPr lang="en-US" sz="1300" dirty="0"/>
          </a:p>
        </p:txBody>
      </p:sp>
      <p:sp>
        <p:nvSpPr>
          <p:cNvPr id="18" name="Text 16"/>
          <p:cNvSpPr/>
          <p:nvPr/>
        </p:nvSpPr>
        <p:spPr>
          <a:xfrm>
            <a:off x="8229600" y="3419856"/>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Team channel, weekly digest</a:t>
            </a:r>
            <a:endParaRPr lang="en-US" sz="1300" dirty="0"/>
          </a:p>
        </p:txBody>
      </p:sp>
      <p:sp>
        <p:nvSpPr>
          <p:cNvPr id="19" name="Shape 17"/>
          <p:cNvSpPr/>
          <p:nvPr/>
        </p:nvSpPr>
        <p:spPr>
          <a:xfrm>
            <a:off x="548640" y="4352544"/>
            <a:ext cx="11091672" cy="841248"/>
          </a:xfrm>
          <a:prstGeom prst="roundRect">
            <a:avLst>
              <a:gd name="adj" fmla="val 9783"/>
            </a:avLst>
          </a:prstGeom>
          <a:solidFill>
            <a:srgbClr val="1F2936"/>
          </a:solidFill>
          <a:ln/>
        </p:spPr>
      </p:sp>
      <p:sp>
        <p:nvSpPr>
          <p:cNvPr id="20" name="Text 18"/>
          <p:cNvSpPr/>
          <p:nvPr/>
        </p:nvSpPr>
        <p:spPr>
          <a:xfrm>
            <a:off x="859536" y="4352544"/>
            <a:ext cx="2194560" cy="841248"/>
          </a:xfrm>
          <a:prstGeom prst="rect">
            <a:avLst/>
          </a:prstGeom>
          <a:noFill/>
          <a:ln/>
        </p:spPr>
        <p:txBody>
          <a:bodyPr wrap="square" lIns="0" tIns="0" rIns="0" bIns="0" rtlCol="0" anchor="ctr"/>
          <a:lstStyle/>
          <a:p>
            <a:pPr indent="0" marL="0">
              <a:buNone/>
            </a:pPr>
            <a:r>
              <a:rPr lang="en-US" sz="1800" b="1" dirty="0">
                <a:solidFill>
                  <a:srgbClr val="8C9AAC"/>
                </a:solidFill>
                <a:latin typeface="Cambria" pitchFamily="34" charset="0"/>
                <a:ea typeface="Cambria" pitchFamily="34" charset="-122"/>
                <a:cs typeface="Cambria" pitchFamily="34" charset="-120"/>
              </a:rPr>
              <a:t>Advisory</a:t>
            </a:r>
            <a:endParaRPr lang="en-US" sz="1800" dirty="0"/>
          </a:p>
        </p:txBody>
      </p:sp>
      <p:sp>
        <p:nvSpPr>
          <p:cNvPr id="21" name="Text 19"/>
          <p:cNvSpPr/>
          <p:nvPr/>
        </p:nvSpPr>
        <p:spPr>
          <a:xfrm>
            <a:off x="3200400" y="4352544"/>
            <a:ext cx="2926080" cy="841248"/>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Billing plus forecast</a:t>
            </a:r>
            <a:endParaRPr lang="en-US" sz="1300" dirty="0"/>
          </a:p>
        </p:txBody>
      </p:sp>
      <p:sp>
        <p:nvSpPr>
          <p:cNvPr id="22" name="Text 20"/>
          <p:cNvSpPr/>
          <p:nvPr/>
        </p:nvSpPr>
        <p:spPr>
          <a:xfrm>
            <a:off x="6309360" y="4352544"/>
            <a:ext cx="1737360" cy="841248"/>
          </a:xfrm>
          <a:prstGeom prst="rect">
            <a:avLst/>
          </a:prstGeom>
          <a:noFill/>
          <a:ln/>
        </p:spPr>
        <p:txBody>
          <a:bodyPr wrap="square" lIns="0" tIns="0" rIns="0" bIns="0" rtlCol="0" anchor="ctr"/>
          <a:lstStyle/>
          <a:p>
            <a:pPr indent="0" marL="0">
              <a:buNone/>
            </a:pPr>
            <a:r>
              <a:rPr lang="en-US" sz="1300" b="1" dirty="0">
                <a:solidFill>
                  <a:srgbClr val="9EABBA"/>
                </a:solidFill>
                <a:latin typeface="Calibri" pitchFamily="34" charset="0"/>
                <a:ea typeface="Calibri" pitchFamily="34" charset="-122"/>
                <a:cs typeface="Calibri" pitchFamily="34" charset="-120"/>
              </a:rPr>
              <a:t>daily</a:t>
            </a:r>
            <a:endParaRPr lang="en-US" sz="1300" dirty="0"/>
          </a:p>
        </p:txBody>
      </p:sp>
      <p:sp>
        <p:nvSpPr>
          <p:cNvPr id="23" name="Text 21"/>
          <p:cNvSpPr/>
          <p:nvPr/>
        </p:nvSpPr>
        <p:spPr>
          <a:xfrm>
            <a:off x="8229600" y="4352544"/>
            <a:ext cx="3017520" cy="841248"/>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ticket. Never a page.</a:t>
            </a:r>
            <a:endParaRPr lang="en-US" sz="1300" dirty="0"/>
          </a:p>
        </p:txBody>
      </p:sp>
      <p:sp>
        <p:nvSpPr>
          <p:cNvPr id="24" name="Shape 22"/>
          <p:cNvSpPr/>
          <p:nvPr/>
        </p:nvSpPr>
        <p:spPr>
          <a:xfrm>
            <a:off x="548640" y="5394960"/>
            <a:ext cx="3511296" cy="1051560"/>
          </a:xfrm>
          <a:prstGeom prst="roundRect">
            <a:avLst>
              <a:gd name="adj" fmla="val 7826"/>
            </a:avLst>
          </a:prstGeom>
          <a:solidFill>
            <a:srgbClr val="1A222C"/>
          </a:solidFill>
          <a:ln/>
        </p:spPr>
      </p:sp>
      <p:sp>
        <p:nvSpPr>
          <p:cNvPr id="25" name="Shape 23"/>
          <p:cNvSpPr/>
          <p:nvPr/>
        </p:nvSpPr>
        <p:spPr>
          <a:xfrm>
            <a:off x="804672" y="5614416"/>
            <a:ext cx="420624" cy="420624"/>
          </a:xfrm>
          <a:prstGeom prst="ellipse">
            <a:avLst/>
          </a:prstGeom>
          <a:solidFill>
            <a:srgbClr val="2E3A48"/>
          </a:solidFill>
          <a:ln/>
        </p:spPr>
      </p:sp>
      <p:pic>
        <p:nvPicPr>
          <p:cNvPr id="26" name="Image 0" descr="preencoded.png">    </p:cNvPr>
          <p:cNvPicPr>
            <a:picLocks noChangeAspect="1"/>
          </p:cNvPicPr>
          <p:nvPr/>
        </p:nvPicPr>
        <p:blipFill>
          <a:blip r:embed="rId1"/>
          <a:stretch>
            <a:fillRect/>
          </a:stretch>
        </p:blipFill>
        <p:spPr>
          <a:xfrm>
            <a:off x="909828" y="5719572"/>
            <a:ext cx="210312" cy="210312"/>
          </a:xfrm>
          <a:prstGeom prst="rect">
            <a:avLst/>
          </a:prstGeom>
        </p:spPr>
      </p:pic>
      <p:sp>
        <p:nvSpPr>
          <p:cNvPr id="27" name="Text 24"/>
          <p:cNvSpPr/>
          <p:nvPr/>
        </p:nvSpPr>
        <p:spPr>
          <a:xfrm>
            <a:off x="1335024"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Never page on a budget threshold</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You are waking someone about a fact they cannot change.</a:t>
            </a:r>
            <a:endParaRPr lang="en-US" sz="1250" dirty="0"/>
          </a:p>
        </p:txBody>
      </p:sp>
      <p:sp>
        <p:nvSpPr>
          <p:cNvPr id="28" name="Shape 25"/>
          <p:cNvSpPr/>
          <p:nvPr/>
        </p:nvSpPr>
        <p:spPr>
          <a:xfrm>
            <a:off x="4334256" y="5394960"/>
            <a:ext cx="3511296" cy="1051560"/>
          </a:xfrm>
          <a:prstGeom prst="roundRect">
            <a:avLst>
              <a:gd name="adj" fmla="val 7826"/>
            </a:avLst>
          </a:prstGeom>
          <a:solidFill>
            <a:srgbClr val="1A222C"/>
          </a:solidFill>
          <a:ln/>
        </p:spPr>
      </p:sp>
      <p:sp>
        <p:nvSpPr>
          <p:cNvPr id="29" name="Shape 26"/>
          <p:cNvSpPr/>
          <p:nvPr/>
        </p:nvSpPr>
        <p:spPr>
          <a:xfrm>
            <a:off x="4590288" y="5614416"/>
            <a:ext cx="420624" cy="420624"/>
          </a:xfrm>
          <a:prstGeom prst="ellipse">
            <a:avLst/>
          </a:prstGeom>
          <a:solidFill>
            <a:srgbClr val="2E3A48"/>
          </a:solidFill>
          <a:ln/>
        </p:spPr>
      </p:sp>
      <p:pic>
        <p:nvPicPr>
          <p:cNvPr id="30" name="Image 1" descr="preencoded.png">    </p:cNvPr>
          <p:cNvPicPr>
            <a:picLocks noChangeAspect="1"/>
          </p:cNvPicPr>
          <p:nvPr/>
        </p:nvPicPr>
        <p:blipFill>
          <a:blip r:embed="rId2"/>
          <a:stretch>
            <a:fillRect/>
          </a:stretch>
        </p:blipFill>
        <p:spPr>
          <a:xfrm>
            <a:off x="4695444" y="5719572"/>
            <a:ext cx="210312" cy="210312"/>
          </a:xfrm>
          <a:prstGeom prst="rect">
            <a:avLst/>
          </a:prstGeom>
        </p:spPr>
      </p:pic>
      <p:sp>
        <p:nvSpPr>
          <p:cNvPr id="31" name="Text 27"/>
          <p:cNvSpPr/>
          <p:nvPr/>
        </p:nvSpPr>
        <p:spPr>
          <a:xfrm>
            <a:off x="5120640"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 muted alert is worse than none</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It leaves the false confidence that something is watching.</a:t>
            </a:r>
            <a:endParaRPr lang="en-US" sz="1250" dirty="0"/>
          </a:p>
        </p:txBody>
      </p:sp>
      <p:sp>
        <p:nvSpPr>
          <p:cNvPr id="32" name="Shape 28"/>
          <p:cNvSpPr/>
          <p:nvPr/>
        </p:nvSpPr>
        <p:spPr>
          <a:xfrm>
            <a:off x="8119872" y="5394960"/>
            <a:ext cx="3511296" cy="1051560"/>
          </a:xfrm>
          <a:prstGeom prst="roundRect">
            <a:avLst>
              <a:gd name="adj" fmla="val 7826"/>
            </a:avLst>
          </a:prstGeom>
          <a:solidFill>
            <a:srgbClr val="1A222C"/>
          </a:solidFill>
          <a:ln/>
        </p:spPr>
      </p:sp>
      <p:sp>
        <p:nvSpPr>
          <p:cNvPr id="33" name="Shape 29"/>
          <p:cNvSpPr/>
          <p:nvPr/>
        </p:nvSpPr>
        <p:spPr>
          <a:xfrm>
            <a:off x="8375904" y="5614416"/>
            <a:ext cx="420624" cy="420624"/>
          </a:xfrm>
          <a:prstGeom prst="ellipse">
            <a:avLst/>
          </a:prstGeom>
          <a:solidFill>
            <a:srgbClr val="2E3A48"/>
          </a:solidFill>
          <a:ln/>
        </p:spPr>
      </p:sp>
      <p:pic>
        <p:nvPicPr>
          <p:cNvPr id="34" name="Image 2" descr="preencoded.png">    </p:cNvPr>
          <p:cNvPicPr>
            <a:picLocks noChangeAspect="1"/>
          </p:cNvPicPr>
          <p:nvPr/>
        </p:nvPicPr>
        <p:blipFill>
          <a:blip r:embed="rId3"/>
          <a:stretch>
            <a:fillRect/>
          </a:stretch>
        </p:blipFill>
        <p:spPr>
          <a:xfrm>
            <a:off x="8481060" y="5719572"/>
            <a:ext cx="210312" cy="210312"/>
          </a:xfrm>
          <a:prstGeom prst="rect">
            <a:avLst/>
          </a:prstGeom>
        </p:spPr>
      </p:pic>
      <p:sp>
        <p:nvSpPr>
          <p:cNvPr id="35" name="Text 30"/>
          <p:cNvSpPr/>
          <p:nvPr/>
        </p:nvSpPr>
        <p:spPr>
          <a:xfrm>
            <a:off x="8906256" y="5468112"/>
            <a:ext cx="2560320" cy="914400"/>
          </a:xfrm>
          <a:prstGeom prst="rect">
            <a:avLst/>
          </a:prstGeom>
          <a:noFill/>
          <a:ln/>
        </p:spPr>
        <p:txBody>
          <a:bodyPr wrap="square" lIns="0" tIns="0" rIns="0" bIns="0" rtlCol="0" anchor="ctr"/>
          <a:lstStyle/>
          <a:p>
            <a:pPr indent="0" marL="0">
              <a:lnSpc>
                <a:spcPts val="1400"/>
              </a:lnSpc>
              <a:buNone/>
            </a:pPr>
            <a:r>
              <a:rPr lang="en-US" sz="1250" b="1" dirty="0">
                <a:solidFill>
                  <a:srgbClr val="FFFFFF"/>
                </a:solidFill>
                <a:latin typeface="Calibri" pitchFamily="34" charset="0"/>
                <a:ea typeface="Calibri" pitchFamily="34" charset="-122"/>
                <a:cs typeface="Calibri" pitchFamily="34" charset="-120"/>
              </a:rPr>
              <a:t>Alert on silence too</a:t>
            </a:r>
            <a:endParaRPr lang="en-US" sz="1250" dirty="0"/>
          </a:p>
          <a:p>
            <a:pPr indent="0" marL="0">
              <a:lnSpc>
                <a:spcPts val="1400"/>
              </a:lnSpc>
              <a:buNone/>
            </a:pPr>
            <a:r>
              <a:rPr lang="en-US" sz="1100" dirty="0">
                <a:solidFill>
                  <a:srgbClr val="9EABBA"/>
                </a:solidFill>
                <a:latin typeface="Calibri" pitchFamily="34" charset="0"/>
                <a:ea typeface="Calibri" pitchFamily="34" charset="-122"/>
                <a:cs typeface="Calibri" pitchFamily="34" charset="-120"/>
              </a:rPr>
              <a:t>A stopped data feed reads exactly like a healthy month.</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5 — SHARED RESPONSIBILITY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Who decides, who builds, who pays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FinOps fails when it is one team's job. These are the four parties and what each one owns.</a:t>
            </a:r>
            <a:endParaRPr lang="en-US" sz="1500" dirty="0"/>
          </a:p>
        </p:txBody>
      </p:sp>
      <p:sp>
        <p:nvSpPr>
          <p:cNvPr id="5" name="Text 3"/>
          <p:cNvSpPr/>
          <p:nvPr/>
        </p:nvSpPr>
        <p:spPr>
          <a:xfrm>
            <a:off x="4343400"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Finance</a:t>
            </a:r>
            <a:endParaRPr lang="en-US" sz="1200" dirty="0"/>
          </a:p>
        </p:txBody>
      </p:sp>
      <p:sp>
        <p:nvSpPr>
          <p:cNvPr id="6" name="Text 4"/>
          <p:cNvSpPr/>
          <p:nvPr/>
        </p:nvSpPr>
        <p:spPr>
          <a:xfrm>
            <a:off x="6245352"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FinOps / Platform</a:t>
            </a:r>
            <a:endParaRPr lang="en-US" sz="1200" dirty="0"/>
          </a:p>
        </p:txBody>
      </p:sp>
      <p:sp>
        <p:nvSpPr>
          <p:cNvPr id="7" name="Text 5"/>
          <p:cNvSpPr/>
          <p:nvPr/>
        </p:nvSpPr>
        <p:spPr>
          <a:xfrm>
            <a:off x="8147304"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Engineering</a:t>
            </a:r>
            <a:endParaRPr lang="en-US" sz="1200" dirty="0"/>
          </a:p>
        </p:txBody>
      </p:sp>
      <p:sp>
        <p:nvSpPr>
          <p:cNvPr id="8" name="Text 6"/>
          <p:cNvSpPr/>
          <p:nvPr/>
        </p:nvSpPr>
        <p:spPr>
          <a:xfrm>
            <a:off x="10049256" y="2121408"/>
            <a:ext cx="1783080" cy="329184"/>
          </a:xfrm>
          <a:prstGeom prst="rect">
            <a:avLst/>
          </a:prstGeom>
          <a:noFill/>
          <a:ln/>
        </p:spPr>
        <p:txBody>
          <a:bodyPr wrap="square" lIns="0" tIns="0" rIns="0" bIns="0" rtlCol="0" anchor="ctr"/>
          <a:lstStyle/>
          <a:p>
            <a:pPr algn="ctr" indent="0" marL="0">
              <a:buNone/>
            </a:pPr>
            <a:r>
              <a:rPr lang="en-US" sz="1200" b="1" spc="80" kern="0" dirty="0">
                <a:solidFill>
                  <a:srgbClr val="5C6675"/>
                </a:solidFill>
                <a:latin typeface="Calibri" pitchFamily="34" charset="0"/>
                <a:ea typeface="Calibri" pitchFamily="34" charset="-122"/>
                <a:cs typeface="Calibri" pitchFamily="34" charset="-120"/>
              </a:rPr>
              <a:t>Leadership</a:t>
            </a:r>
            <a:endParaRPr lang="en-US" sz="1200" dirty="0"/>
          </a:p>
        </p:txBody>
      </p:sp>
      <p:sp>
        <p:nvSpPr>
          <p:cNvPr id="9" name="Shape 7"/>
          <p:cNvSpPr/>
          <p:nvPr/>
        </p:nvSpPr>
        <p:spPr>
          <a:xfrm>
            <a:off x="548640" y="2542032"/>
            <a:ext cx="11091672" cy="658368"/>
          </a:xfrm>
          <a:prstGeom prst="roundRect">
            <a:avLst>
              <a:gd name="adj" fmla="val 12500"/>
            </a:avLst>
          </a:prstGeom>
          <a:solidFill>
            <a:srgbClr val="F1F3F6"/>
          </a:solidFill>
          <a:ln/>
        </p:spPr>
      </p:sp>
      <p:sp>
        <p:nvSpPr>
          <p:cNvPr id="10" name="Text 8"/>
          <p:cNvSpPr/>
          <p:nvPr/>
        </p:nvSpPr>
        <p:spPr>
          <a:xfrm>
            <a:off x="859536" y="254203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Budgets &amp; allocation policy</a:t>
            </a:r>
            <a:endParaRPr lang="en-US" sz="1400" dirty="0"/>
          </a:p>
        </p:txBody>
      </p:sp>
      <p:sp>
        <p:nvSpPr>
          <p:cNvPr id="11" name="Shape 9"/>
          <p:cNvSpPr/>
          <p:nvPr/>
        </p:nvSpPr>
        <p:spPr>
          <a:xfrm>
            <a:off x="5079492" y="2715768"/>
            <a:ext cx="310896" cy="310896"/>
          </a:xfrm>
          <a:prstGeom prst="ellipse">
            <a:avLst/>
          </a:prstGeom>
          <a:solidFill>
            <a:srgbClr val="E39B2C"/>
          </a:solidFill>
          <a:ln/>
        </p:spPr>
      </p:sp>
      <p:sp>
        <p:nvSpPr>
          <p:cNvPr id="12" name="Shape 10"/>
          <p:cNvSpPr/>
          <p:nvPr/>
        </p:nvSpPr>
        <p:spPr>
          <a:xfrm>
            <a:off x="10840212" y="2770632"/>
            <a:ext cx="201168" cy="201168"/>
          </a:xfrm>
          <a:prstGeom prst="ellipse">
            <a:avLst/>
          </a:prstGeom>
          <a:solidFill>
            <a:srgbClr val="C3CBD5"/>
          </a:solidFill>
          <a:ln/>
        </p:spPr>
      </p:sp>
      <p:sp>
        <p:nvSpPr>
          <p:cNvPr id="13" name="Shape 11"/>
          <p:cNvSpPr/>
          <p:nvPr/>
        </p:nvSpPr>
        <p:spPr>
          <a:xfrm>
            <a:off x="548640" y="3273552"/>
            <a:ext cx="11091672" cy="658368"/>
          </a:xfrm>
          <a:prstGeom prst="roundRect">
            <a:avLst>
              <a:gd name="adj" fmla="val 12500"/>
            </a:avLst>
          </a:prstGeom>
          <a:solidFill>
            <a:srgbClr val="F1F3F6"/>
          </a:solidFill>
          <a:ln/>
        </p:spPr>
      </p:sp>
      <p:sp>
        <p:nvSpPr>
          <p:cNvPr id="14" name="Text 12"/>
          <p:cNvSpPr/>
          <p:nvPr/>
        </p:nvSpPr>
        <p:spPr>
          <a:xfrm>
            <a:off x="859536" y="327355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Tagging &amp; ownership standard</a:t>
            </a:r>
            <a:endParaRPr lang="en-US" sz="1400" dirty="0"/>
          </a:p>
        </p:txBody>
      </p:sp>
      <p:sp>
        <p:nvSpPr>
          <p:cNvPr id="15" name="Shape 13"/>
          <p:cNvSpPr/>
          <p:nvPr/>
        </p:nvSpPr>
        <p:spPr>
          <a:xfrm>
            <a:off x="5134356" y="3502152"/>
            <a:ext cx="201168" cy="201168"/>
          </a:xfrm>
          <a:prstGeom prst="ellipse">
            <a:avLst/>
          </a:prstGeom>
          <a:solidFill>
            <a:srgbClr val="C3CBD5"/>
          </a:solidFill>
          <a:ln/>
        </p:spPr>
      </p:sp>
      <p:sp>
        <p:nvSpPr>
          <p:cNvPr id="16" name="Shape 14"/>
          <p:cNvSpPr/>
          <p:nvPr/>
        </p:nvSpPr>
        <p:spPr>
          <a:xfrm>
            <a:off x="6981444" y="3447288"/>
            <a:ext cx="310896" cy="310896"/>
          </a:xfrm>
          <a:prstGeom prst="ellipse">
            <a:avLst/>
          </a:prstGeom>
          <a:solidFill>
            <a:srgbClr val="E39B2C"/>
          </a:solidFill>
          <a:ln/>
        </p:spPr>
      </p:sp>
      <p:sp>
        <p:nvSpPr>
          <p:cNvPr id="17" name="Shape 15"/>
          <p:cNvSpPr/>
          <p:nvPr/>
        </p:nvSpPr>
        <p:spPr>
          <a:xfrm>
            <a:off x="548640" y="4005072"/>
            <a:ext cx="11091672" cy="658368"/>
          </a:xfrm>
          <a:prstGeom prst="roundRect">
            <a:avLst>
              <a:gd name="adj" fmla="val 12500"/>
            </a:avLst>
          </a:prstGeom>
          <a:solidFill>
            <a:srgbClr val="F1F3F6"/>
          </a:solidFill>
          <a:ln/>
        </p:spPr>
      </p:sp>
      <p:sp>
        <p:nvSpPr>
          <p:cNvPr id="18" name="Text 16"/>
          <p:cNvSpPr/>
          <p:nvPr/>
        </p:nvSpPr>
        <p:spPr>
          <a:xfrm>
            <a:off x="859536" y="400507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Guardrails, quotas &amp; alerts</a:t>
            </a:r>
            <a:endParaRPr lang="en-US" sz="1400" dirty="0"/>
          </a:p>
        </p:txBody>
      </p:sp>
      <p:sp>
        <p:nvSpPr>
          <p:cNvPr id="19" name="Shape 17"/>
          <p:cNvSpPr/>
          <p:nvPr/>
        </p:nvSpPr>
        <p:spPr>
          <a:xfrm>
            <a:off x="6981444" y="4178808"/>
            <a:ext cx="310896" cy="310896"/>
          </a:xfrm>
          <a:prstGeom prst="ellipse">
            <a:avLst/>
          </a:prstGeom>
          <a:solidFill>
            <a:srgbClr val="E39B2C"/>
          </a:solidFill>
          <a:ln/>
        </p:spPr>
      </p:sp>
      <p:sp>
        <p:nvSpPr>
          <p:cNvPr id="20" name="Shape 18"/>
          <p:cNvSpPr/>
          <p:nvPr/>
        </p:nvSpPr>
        <p:spPr>
          <a:xfrm>
            <a:off x="8938260" y="4233672"/>
            <a:ext cx="201168" cy="201168"/>
          </a:xfrm>
          <a:prstGeom prst="ellipse">
            <a:avLst/>
          </a:prstGeom>
          <a:solidFill>
            <a:srgbClr val="C3CBD5"/>
          </a:solidFill>
          <a:ln/>
        </p:spPr>
      </p:sp>
      <p:sp>
        <p:nvSpPr>
          <p:cNvPr id="21" name="Shape 19"/>
          <p:cNvSpPr/>
          <p:nvPr/>
        </p:nvSpPr>
        <p:spPr>
          <a:xfrm>
            <a:off x="548640" y="4736592"/>
            <a:ext cx="11091672" cy="658368"/>
          </a:xfrm>
          <a:prstGeom prst="roundRect">
            <a:avLst>
              <a:gd name="adj" fmla="val 12500"/>
            </a:avLst>
          </a:prstGeom>
          <a:solidFill>
            <a:srgbClr val="F1F3F6"/>
          </a:solidFill>
          <a:ln/>
        </p:spPr>
      </p:sp>
      <p:sp>
        <p:nvSpPr>
          <p:cNvPr id="22" name="Text 20"/>
          <p:cNvSpPr/>
          <p:nvPr/>
        </p:nvSpPr>
        <p:spPr>
          <a:xfrm>
            <a:off x="859536" y="473659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Responding to an alert</a:t>
            </a:r>
            <a:endParaRPr lang="en-US" sz="1400" dirty="0"/>
          </a:p>
        </p:txBody>
      </p:sp>
      <p:sp>
        <p:nvSpPr>
          <p:cNvPr id="23" name="Shape 21"/>
          <p:cNvSpPr/>
          <p:nvPr/>
        </p:nvSpPr>
        <p:spPr>
          <a:xfrm>
            <a:off x="7036308" y="4965192"/>
            <a:ext cx="201168" cy="201168"/>
          </a:xfrm>
          <a:prstGeom prst="ellipse">
            <a:avLst/>
          </a:prstGeom>
          <a:solidFill>
            <a:srgbClr val="C3CBD5"/>
          </a:solidFill>
          <a:ln/>
        </p:spPr>
      </p:sp>
      <p:sp>
        <p:nvSpPr>
          <p:cNvPr id="24" name="Shape 22"/>
          <p:cNvSpPr/>
          <p:nvPr/>
        </p:nvSpPr>
        <p:spPr>
          <a:xfrm>
            <a:off x="8883396" y="4910328"/>
            <a:ext cx="310896" cy="310896"/>
          </a:xfrm>
          <a:prstGeom prst="ellipse">
            <a:avLst/>
          </a:prstGeom>
          <a:solidFill>
            <a:srgbClr val="E39B2C"/>
          </a:solidFill>
          <a:ln/>
        </p:spPr>
      </p:sp>
      <p:sp>
        <p:nvSpPr>
          <p:cNvPr id="25" name="Shape 23"/>
          <p:cNvSpPr/>
          <p:nvPr/>
        </p:nvSpPr>
        <p:spPr>
          <a:xfrm>
            <a:off x="548640" y="5468112"/>
            <a:ext cx="11091672" cy="658368"/>
          </a:xfrm>
          <a:prstGeom prst="roundRect">
            <a:avLst>
              <a:gd name="adj" fmla="val 12500"/>
            </a:avLst>
          </a:prstGeom>
          <a:solidFill>
            <a:srgbClr val="F1F3F6"/>
          </a:solidFill>
          <a:ln/>
        </p:spPr>
      </p:sp>
      <p:sp>
        <p:nvSpPr>
          <p:cNvPr id="26" name="Text 24"/>
          <p:cNvSpPr/>
          <p:nvPr/>
        </p:nvSpPr>
        <p:spPr>
          <a:xfrm>
            <a:off x="859536" y="5468112"/>
            <a:ext cx="3474720" cy="65836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Commitment &amp; tooling spend</a:t>
            </a:r>
            <a:endParaRPr lang="en-US" sz="1400" dirty="0"/>
          </a:p>
        </p:txBody>
      </p:sp>
      <p:sp>
        <p:nvSpPr>
          <p:cNvPr id="27" name="Shape 25"/>
          <p:cNvSpPr/>
          <p:nvPr/>
        </p:nvSpPr>
        <p:spPr>
          <a:xfrm>
            <a:off x="5134356" y="5696712"/>
            <a:ext cx="201168" cy="201168"/>
          </a:xfrm>
          <a:prstGeom prst="ellipse">
            <a:avLst/>
          </a:prstGeom>
          <a:solidFill>
            <a:srgbClr val="C3CBD5"/>
          </a:solidFill>
          <a:ln/>
        </p:spPr>
      </p:sp>
      <p:sp>
        <p:nvSpPr>
          <p:cNvPr id="28" name="Shape 26"/>
          <p:cNvSpPr/>
          <p:nvPr/>
        </p:nvSpPr>
        <p:spPr>
          <a:xfrm>
            <a:off x="7036308" y="5696712"/>
            <a:ext cx="201168" cy="201168"/>
          </a:xfrm>
          <a:prstGeom prst="ellipse">
            <a:avLst/>
          </a:prstGeom>
          <a:solidFill>
            <a:srgbClr val="C3CBD5"/>
          </a:solidFill>
          <a:ln/>
        </p:spPr>
      </p:sp>
      <p:sp>
        <p:nvSpPr>
          <p:cNvPr id="29" name="Shape 27"/>
          <p:cNvSpPr/>
          <p:nvPr/>
        </p:nvSpPr>
        <p:spPr>
          <a:xfrm>
            <a:off x="10785348" y="5641848"/>
            <a:ext cx="310896" cy="310896"/>
          </a:xfrm>
          <a:prstGeom prst="ellipse">
            <a:avLst/>
          </a:prstGeom>
          <a:solidFill>
            <a:srgbClr val="E39B2C"/>
          </a:solidFill>
          <a:ln/>
        </p:spPr>
      </p:sp>
      <p:sp>
        <p:nvSpPr>
          <p:cNvPr id="30" name="Shape 28"/>
          <p:cNvSpPr/>
          <p:nvPr/>
        </p:nvSpPr>
        <p:spPr>
          <a:xfrm>
            <a:off x="548640" y="6272784"/>
            <a:ext cx="182880" cy="182880"/>
          </a:xfrm>
          <a:prstGeom prst="ellipse">
            <a:avLst/>
          </a:prstGeom>
          <a:solidFill>
            <a:srgbClr val="E39B2C"/>
          </a:solidFill>
          <a:ln/>
        </p:spPr>
      </p:sp>
      <p:sp>
        <p:nvSpPr>
          <p:cNvPr id="31" name="Text 29"/>
          <p:cNvSpPr/>
          <p:nvPr/>
        </p:nvSpPr>
        <p:spPr>
          <a:xfrm>
            <a:off x="822960" y="6199632"/>
            <a:ext cx="384048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Accountable — the decision stops here</a:t>
            </a:r>
            <a:endParaRPr lang="en-US" sz="1200" dirty="0"/>
          </a:p>
        </p:txBody>
      </p:sp>
      <p:sp>
        <p:nvSpPr>
          <p:cNvPr id="32" name="Shape 30"/>
          <p:cNvSpPr/>
          <p:nvPr/>
        </p:nvSpPr>
        <p:spPr>
          <a:xfrm>
            <a:off x="4754880" y="6309360"/>
            <a:ext cx="128016" cy="128016"/>
          </a:xfrm>
          <a:prstGeom prst="ellipse">
            <a:avLst/>
          </a:prstGeom>
          <a:solidFill>
            <a:srgbClr val="C3CBD5"/>
          </a:solidFill>
          <a:ln/>
        </p:spPr>
      </p:sp>
      <p:sp>
        <p:nvSpPr>
          <p:cNvPr id="33" name="Text 31"/>
          <p:cNvSpPr/>
          <p:nvPr/>
        </p:nvSpPr>
        <p:spPr>
          <a:xfrm>
            <a:off x="4992624" y="6199632"/>
            <a:ext cx="4572000" cy="329184"/>
          </a:xfrm>
          <a:prstGeom prst="rect">
            <a:avLst/>
          </a:prstGeom>
          <a:noFill/>
          <a:ln/>
        </p:spPr>
        <p:txBody>
          <a:bodyPr wrap="square" lIns="0" tIns="0" rIns="0" bIns="0" rtlCol="0" anchor="ctr"/>
          <a:lstStyle/>
          <a:p>
            <a:pPr indent="0" marL="0">
              <a:buNone/>
            </a:pPr>
            <a:r>
              <a:rPr lang="en-US" sz="1200" dirty="0">
                <a:solidFill>
                  <a:srgbClr val="5C6675"/>
                </a:solidFill>
                <a:latin typeface="Calibri" pitchFamily="34" charset="0"/>
                <a:ea typeface="Calibri" pitchFamily="34" charset="-122"/>
                <a:cs typeface="Calibri" pitchFamily="34" charset="-120"/>
              </a:rPr>
              <a:t>Contributes — does the work, does not decide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Shift left is a seat at the design table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Not a tool. A change in when FinOps shows up — and the earlier it is, the less of the bill is already decided.</a:t>
            </a:r>
            <a:endParaRPr lang="en-US" sz="1500" dirty="0"/>
          </a:p>
        </p:txBody>
      </p:sp>
      <p:sp>
        <p:nvSpPr>
          <p:cNvPr id="5" name="Shape 3"/>
          <p:cNvSpPr/>
          <p:nvPr/>
        </p:nvSpPr>
        <p:spPr>
          <a:xfrm>
            <a:off x="548640" y="2651760"/>
            <a:ext cx="1773936" cy="566928"/>
          </a:xfrm>
          <a:prstGeom prst="roundRect">
            <a:avLst>
              <a:gd name="adj" fmla="val 12903"/>
            </a:avLst>
          </a:prstGeom>
          <a:solidFill>
            <a:srgbClr val="FBEFD8"/>
          </a:solidFill>
          <a:ln/>
        </p:spPr>
      </p:sp>
      <p:sp>
        <p:nvSpPr>
          <p:cNvPr id="6" name="Text 4"/>
          <p:cNvSpPr/>
          <p:nvPr/>
        </p:nvSpPr>
        <p:spPr>
          <a:xfrm>
            <a:off x="54864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Requirements</a:t>
            </a:r>
            <a:endParaRPr lang="en-US" sz="1300" dirty="0"/>
          </a:p>
        </p:txBody>
      </p:sp>
      <p:sp>
        <p:nvSpPr>
          <p:cNvPr id="7" name="Shape 5"/>
          <p:cNvSpPr/>
          <p:nvPr/>
        </p:nvSpPr>
        <p:spPr>
          <a:xfrm>
            <a:off x="2423160" y="2651760"/>
            <a:ext cx="1773936" cy="566928"/>
          </a:xfrm>
          <a:prstGeom prst="roundRect">
            <a:avLst>
              <a:gd name="adj" fmla="val 12903"/>
            </a:avLst>
          </a:prstGeom>
          <a:solidFill>
            <a:srgbClr val="FBEFD8"/>
          </a:solidFill>
          <a:ln/>
        </p:spPr>
      </p:sp>
      <p:sp>
        <p:nvSpPr>
          <p:cNvPr id="8" name="Text 6"/>
          <p:cNvSpPr/>
          <p:nvPr/>
        </p:nvSpPr>
        <p:spPr>
          <a:xfrm>
            <a:off x="2423160" y="2651760"/>
            <a:ext cx="1773936" cy="566928"/>
          </a:xfrm>
          <a:prstGeom prst="rect">
            <a:avLst/>
          </a:prstGeom>
          <a:noFill/>
          <a:ln/>
        </p:spPr>
        <p:txBody>
          <a:bodyPr wrap="square" lIns="0" tIns="0" rIns="0" bIns="0" rtlCol="0" anchor="ctr"/>
          <a:lstStyle/>
          <a:p>
            <a:pPr algn="ctr" indent="0" marL="0">
              <a:buNone/>
            </a:pPr>
            <a:r>
              <a:rPr lang="en-US" sz="1300" b="1" dirty="0">
                <a:solidFill>
                  <a:srgbClr val="6B4A0E"/>
                </a:solidFill>
                <a:latin typeface="Calibri" pitchFamily="34" charset="0"/>
                <a:ea typeface="Calibri" pitchFamily="34" charset="-122"/>
                <a:cs typeface="Calibri" pitchFamily="34" charset="-120"/>
              </a:rPr>
              <a:t>Design</a:t>
            </a:r>
            <a:endParaRPr lang="en-US" sz="1300" dirty="0"/>
          </a:p>
        </p:txBody>
      </p:sp>
      <p:sp>
        <p:nvSpPr>
          <p:cNvPr id="9" name="Shape 7"/>
          <p:cNvSpPr/>
          <p:nvPr/>
        </p:nvSpPr>
        <p:spPr>
          <a:xfrm>
            <a:off x="4297680" y="2651760"/>
            <a:ext cx="1773936" cy="566928"/>
          </a:xfrm>
          <a:prstGeom prst="roundRect">
            <a:avLst>
              <a:gd name="adj" fmla="val 12903"/>
            </a:avLst>
          </a:prstGeom>
          <a:solidFill>
            <a:srgbClr val="F1F3F6"/>
          </a:solidFill>
          <a:ln/>
        </p:spPr>
      </p:sp>
      <p:sp>
        <p:nvSpPr>
          <p:cNvPr id="10" name="Text 8"/>
          <p:cNvSpPr/>
          <p:nvPr/>
        </p:nvSpPr>
        <p:spPr>
          <a:xfrm>
            <a:off x="429768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Build</a:t>
            </a:r>
            <a:endParaRPr lang="en-US" sz="1300" dirty="0"/>
          </a:p>
        </p:txBody>
      </p:sp>
      <p:sp>
        <p:nvSpPr>
          <p:cNvPr id="11" name="Shape 9"/>
          <p:cNvSpPr/>
          <p:nvPr/>
        </p:nvSpPr>
        <p:spPr>
          <a:xfrm>
            <a:off x="6172200" y="2651760"/>
            <a:ext cx="1773936" cy="566928"/>
          </a:xfrm>
          <a:prstGeom prst="roundRect">
            <a:avLst>
              <a:gd name="adj" fmla="val 12903"/>
            </a:avLst>
          </a:prstGeom>
          <a:solidFill>
            <a:srgbClr val="F1F3F6"/>
          </a:solidFill>
          <a:ln/>
        </p:spPr>
      </p:sp>
      <p:sp>
        <p:nvSpPr>
          <p:cNvPr id="12" name="Text 10"/>
          <p:cNvSpPr/>
          <p:nvPr/>
        </p:nvSpPr>
        <p:spPr>
          <a:xfrm>
            <a:off x="617220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Deploy</a:t>
            </a:r>
            <a:endParaRPr lang="en-US" sz="1300" dirty="0"/>
          </a:p>
        </p:txBody>
      </p:sp>
      <p:sp>
        <p:nvSpPr>
          <p:cNvPr id="13" name="Shape 11"/>
          <p:cNvSpPr/>
          <p:nvPr/>
        </p:nvSpPr>
        <p:spPr>
          <a:xfrm>
            <a:off x="8046720" y="2651760"/>
            <a:ext cx="1773936" cy="566928"/>
          </a:xfrm>
          <a:prstGeom prst="roundRect">
            <a:avLst>
              <a:gd name="adj" fmla="val 12903"/>
            </a:avLst>
          </a:prstGeom>
          <a:solidFill>
            <a:srgbClr val="F1F3F6"/>
          </a:solidFill>
          <a:ln/>
        </p:spPr>
      </p:sp>
      <p:sp>
        <p:nvSpPr>
          <p:cNvPr id="14" name="Text 12"/>
          <p:cNvSpPr/>
          <p:nvPr/>
        </p:nvSpPr>
        <p:spPr>
          <a:xfrm>
            <a:off x="804672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Run</a:t>
            </a:r>
            <a:endParaRPr lang="en-US" sz="1300" dirty="0"/>
          </a:p>
        </p:txBody>
      </p:sp>
      <p:sp>
        <p:nvSpPr>
          <p:cNvPr id="15" name="Shape 13"/>
          <p:cNvSpPr/>
          <p:nvPr/>
        </p:nvSpPr>
        <p:spPr>
          <a:xfrm>
            <a:off x="9921240" y="2651760"/>
            <a:ext cx="1773936" cy="566928"/>
          </a:xfrm>
          <a:prstGeom prst="roundRect">
            <a:avLst>
              <a:gd name="adj" fmla="val 12903"/>
            </a:avLst>
          </a:prstGeom>
          <a:solidFill>
            <a:srgbClr val="F1F3F6"/>
          </a:solidFill>
          <a:ln/>
        </p:spPr>
      </p:sp>
      <p:sp>
        <p:nvSpPr>
          <p:cNvPr id="16" name="Text 14"/>
          <p:cNvSpPr/>
          <p:nvPr/>
        </p:nvSpPr>
        <p:spPr>
          <a:xfrm>
            <a:off x="9921240" y="2651760"/>
            <a:ext cx="1773936" cy="566928"/>
          </a:xfrm>
          <a:prstGeom prst="rect">
            <a:avLst/>
          </a:prstGeom>
          <a:noFill/>
          <a:ln/>
        </p:spPr>
        <p:txBody>
          <a:bodyPr wrap="square" lIns="0" tIns="0" rIns="0" bIns="0" rtlCol="0" anchor="ctr"/>
          <a:lstStyle/>
          <a:p>
            <a:pPr algn="ctr" indent="0" marL="0">
              <a:buNone/>
            </a:pPr>
            <a:r>
              <a:rPr lang="en-US" sz="1300" dirty="0">
                <a:solidFill>
                  <a:srgbClr val="5C6675"/>
                </a:solidFill>
                <a:latin typeface="Calibri" pitchFamily="34" charset="0"/>
                <a:ea typeface="Calibri" pitchFamily="34" charset="-122"/>
                <a:cs typeface="Calibri" pitchFamily="34" charset="-120"/>
              </a:rPr>
              <a:t>Invoice</a:t>
            </a:r>
            <a:endParaRPr lang="en-US" sz="1300" dirty="0"/>
          </a:p>
        </p:txBody>
      </p:sp>
      <p:sp>
        <p:nvSpPr>
          <p:cNvPr id="17" name="Text 15"/>
          <p:cNvSpPr/>
          <p:nvPr/>
        </p:nvSpPr>
        <p:spPr>
          <a:xfrm>
            <a:off x="548640" y="2267712"/>
            <a:ext cx="3749040" cy="310896"/>
          </a:xfrm>
          <a:prstGeom prst="rect">
            <a:avLst/>
          </a:prstGeom>
          <a:noFill/>
          <a:ln/>
        </p:spPr>
        <p:txBody>
          <a:bodyPr wrap="square" lIns="0" tIns="0" rIns="0" bIns="0" rtlCol="0" anchor="ctr"/>
          <a:lstStyle/>
          <a:p>
            <a:pPr indent="0" marL="0">
              <a:buNone/>
            </a:pPr>
            <a:r>
              <a:rPr lang="en-US" sz="1200" b="1" spc="140" kern="0" dirty="0">
                <a:solidFill>
                  <a:srgbClr val="B87B18"/>
                </a:solidFill>
                <a:latin typeface="Calibri" pitchFamily="34" charset="0"/>
                <a:ea typeface="Calibri" pitchFamily="34" charset="-122"/>
                <a:cs typeface="Calibri" pitchFamily="34" charset="-120"/>
              </a:rPr>
              <a:t>Where FinOps belongs</a:t>
            </a:r>
            <a:endParaRPr lang="en-US" sz="1200" dirty="0"/>
          </a:p>
        </p:txBody>
      </p:sp>
      <p:sp>
        <p:nvSpPr>
          <p:cNvPr id="18" name="Text 16"/>
          <p:cNvSpPr/>
          <p:nvPr/>
        </p:nvSpPr>
        <p:spPr>
          <a:xfrm>
            <a:off x="8046720" y="3310128"/>
            <a:ext cx="3593592" cy="310896"/>
          </a:xfrm>
          <a:prstGeom prst="rect">
            <a:avLst/>
          </a:prstGeom>
          <a:noFill/>
          <a:ln/>
        </p:spPr>
        <p:txBody>
          <a:bodyPr wrap="square" lIns="0" tIns="0" rIns="0" bIns="0" rtlCol="0" anchor="ctr"/>
          <a:lstStyle/>
          <a:p>
            <a:pPr algn="r" indent="0" marL="0">
              <a:buNone/>
            </a:pPr>
            <a:r>
              <a:rPr lang="en-US" sz="1200" b="1" spc="140" kern="0" dirty="0">
                <a:solidFill>
                  <a:srgbClr val="5C6675"/>
                </a:solidFill>
                <a:latin typeface="Calibri" pitchFamily="34" charset="0"/>
                <a:ea typeface="Calibri" pitchFamily="34" charset="-122"/>
                <a:cs typeface="Calibri" pitchFamily="34" charset="-120"/>
              </a:rPr>
              <a:t>Where FinOps usually arrives</a:t>
            </a:r>
            <a:endParaRPr lang="en-US" sz="1200" dirty="0"/>
          </a:p>
        </p:txBody>
      </p:sp>
      <p:sp>
        <p:nvSpPr>
          <p:cNvPr id="19" name="Text 17"/>
          <p:cNvSpPr/>
          <p:nvPr/>
        </p:nvSpPr>
        <p:spPr>
          <a:xfrm>
            <a:off x="548640" y="3310128"/>
            <a:ext cx="5486400" cy="310896"/>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Most of the lifetime cost is committed here.</a:t>
            </a:r>
            <a:endParaRPr lang="en-US" sz="1250" dirty="0"/>
          </a:p>
        </p:txBody>
      </p:sp>
      <p:sp>
        <p:nvSpPr>
          <p:cNvPr id="20" name="Shape 18"/>
          <p:cNvSpPr/>
          <p:nvPr/>
        </p:nvSpPr>
        <p:spPr>
          <a:xfrm>
            <a:off x="548640" y="3913632"/>
            <a:ext cx="5394960" cy="2121408"/>
          </a:xfrm>
          <a:prstGeom prst="roundRect">
            <a:avLst>
              <a:gd name="adj" fmla="val 3879"/>
            </a:avLst>
          </a:prstGeom>
          <a:solidFill>
            <a:srgbClr val="1F2936"/>
          </a:solidFill>
          <a:ln/>
        </p:spPr>
      </p:sp>
      <p:sp>
        <p:nvSpPr>
          <p:cNvPr id="21" name="Text 19"/>
          <p:cNvSpPr/>
          <p:nvPr/>
        </p:nvSpPr>
        <p:spPr>
          <a:xfrm>
            <a:off x="859536" y="4078224"/>
            <a:ext cx="4754880" cy="274320"/>
          </a:xfrm>
          <a:prstGeom prst="rect">
            <a:avLst/>
          </a:prstGeom>
          <a:noFill/>
          <a:ln/>
        </p:spPr>
        <p:txBody>
          <a:bodyPr wrap="square" lIns="0" tIns="0" rIns="0" bIns="0" rtlCol="0" anchor="ctr"/>
          <a:lstStyle/>
          <a:p>
            <a:pPr indent="0" marL="0">
              <a:buNone/>
            </a:pPr>
            <a:r>
              <a:rPr lang="en-US" sz="1100" b="1" spc="140" kern="0" dirty="0">
                <a:solidFill>
                  <a:srgbClr val="E39B2C"/>
                </a:solidFill>
                <a:latin typeface="Calibri" pitchFamily="34" charset="0"/>
                <a:ea typeface="Calibri" pitchFamily="34" charset="-122"/>
                <a:cs typeface="Calibri" pitchFamily="34" charset="-120"/>
              </a:rPr>
              <a:t>WHAT FINOPS BRINGS TO THE ROOM</a:t>
            </a:r>
            <a:endParaRPr lang="en-US" sz="1100" dirty="0"/>
          </a:p>
        </p:txBody>
      </p:sp>
      <p:sp>
        <p:nvSpPr>
          <p:cNvPr id="22" name="Shape 20"/>
          <p:cNvSpPr/>
          <p:nvPr/>
        </p:nvSpPr>
        <p:spPr>
          <a:xfrm>
            <a:off x="877824" y="4590288"/>
            <a:ext cx="100584" cy="100584"/>
          </a:xfrm>
          <a:prstGeom prst="ellipse">
            <a:avLst/>
          </a:prstGeom>
          <a:solidFill>
            <a:srgbClr val="E39B2C"/>
          </a:solidFill>
          <a:ln/>
        </p:spPr>
      </p:sp>
      <p:sp>
        <p:nvSpPr>
          <p:cNvPr id="23" name="Text 21"/>
          <p:cNvSpPr/>
          <p:nvPr/>
        </p:nvSpPr>
        <p:spPr>
          <a:xfrm>
            <a:off x="1115568"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Two or three options, priced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choice gets made with the number visible.</a:t>
            </a:r>
            <a:endParaRPr lang="en-US" sz="1250" dirty="0"/>
          </a:p>
        </p:txBody>
      </p:sp>
      <p:sp>
        <p:nvSpPr>
          <p:cNvPr id="24" name="Shape 22"/>
          <p:cNvSpPr/>
          <p:nvPr/>
        </p:nvSpPr>
        <p:spPr>
          <a:xfrm>
            <a:off x="877824" y="5120640"/>
            <a:ext cx="100584" cy="100584"/>
          </a:xfrm>
          <a:prstGeom prst="ellipse">
            <a:avLst/>
          </a:prstGeom>
          <a:solidFill>
            <a:srgbClr val="E39B2C"/>
          </a:solidFill>
          <a:ln/>
        </p:spPr>
      </p:sp>
      <p:sp>
        <p:nvSpPr>
          <p:cNvPr id="25" name="Text 23"/>
          <p:cNvSpPr/>
          <p:nvPr/>
        </p:nvSpPr>
        <p:spPr>
          <a:xfrm>
            <a:off x="1115568"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A cost target for the workload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Recorded beside latency and availability.</a:t>
            </a:r>
            <a:endParaRPr lang="en-US" sz="1250" dirty="0"/>
          </a:p>
        </p:txBody>
      </p:sp>
      <p:sp>
        <p:nvSpPr>
          <p:cNvPr id="26" name="Shape 24"/>
          <p:cNvSpPr/>
          <p:nvPr/>
        </p:nvSpPr>
        <p:spPr>
          <a:xfrm>
            <a:off x="877824" y="5650992"/>
            <a:ext cx="100584" cy="100584"/>
          </a:xfrm>
          <a:prstGeom prst="ellipse">
            <a:avLst/>
          </a:prstGeom>
          <a:solidFill>
            <a:srgbClr val="E39B2C"/>
          </a:solidFill>
          <a:ln/>
        </p:spPr>
      </p:sp>
      <p:sp>
        <p:nvSpPr>
          <p:cNvPr id="27" name="Text 25"/>
          <p:cNvSpPr/>
          <p:nvPr/>
        </p:nvSpPr>
        <p:spPr>
          <a:xfrm>
            <a:off x="1115568"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The allocation plan  </a:t>
            </a:r>
            <a:pPr indent="0" marL="0">
              <a:lnSpc>
                <a:spcPts val="1600"/>
              </a:lnSpc>
              <a:buNone/>
            </a:pPr>
            <a:r>
              <a:rPr lang="en-US" sz="1250" dirty="0">
                <a:solidFill>
                  <a:srgbClr val="9EABBA"/>
                </a:solidFill>
                <a:latin typeface="Calibri" pitchFamily="34" charset="0"/>
                <a:ea typeface="Calibri" pitchFamily="34" charset="-122"/>
                <a:cs typeface="Calibri" pitchFamily="34" charset="-120"/>
              </a:rPr>
              <a:t>Which tags, which cost centre, which unit.</a:t>
            </a:r>
            <a:endParaRPr lang="en-US" sz="1250" dirty="0"/>
          </a:p>
        </p:txBody>
      </p:sp>
      <p:sp>
        <p:nvSpPr>
          <p:cNvPr id="28" name="Shape 26"/>
          <p:cNvSpPr/>
          <p:nvPr/>
        </p:nvSpPr>
        <p:spPr>
          <a:xfrm>
            <a:off x="6245352" y="3913632"/>
            <a:ext cx="5394960" cy="2121408"/>
          </a:xfrm>
          <a:prstGeom prst="roundRect">
            <a:avLst>
              <a:gd name="adj" fmla="val 3879"/>
            </a:avLst>
          </a:prstGeom>
          <a:solidFill>
            <a:srgbClr val="F1F3F6"/>
          </a:solidFill>
          <a:ln/>
        </p:spPr>
      </p:sp>
      <p:sp>
        <p:nvSpPr>
          <p:cNvPr id="29" name="Text 27"/>
          <p:cNvSpPr/>
          <p:nvPr/>
        </p:nvSpPr>
        <p:spPr>
          <a:xfrm>
            <a:off x="6556248" y="4078224"/>
            <a:ext cx="4754880" cy="274320"/>
          </a:xfrm>
          <a:prstGeom prst="rect">
            <a:avLst/>
          </a:prstGeom>
          <a:noFill/>
          <a:ln/>
        </p:spPr>
        <p:txBody>
          <a:bodyPr wrap="square" lIns="0" tIns="0" rIns="0" bIns="0" rtlCol="0" anchor="ctr"/>
          <a:lstStyle/>
          <a:p>
            <a:pPr indent="0" marL="0">
              <a:buNone/>
            </a:pPr>
            <a:r>
              <a:rPr lang="en-US" sz="1100" b="1" spc="140" kern="0" dirty="0">
                <a:solidFill>
                  <a:srgbClr val="1F6B5C"/>
                </a:solidFill>
                <a:latin typeface="Calibri" pitchFamily="34" charset="0"/>
                <a:ea typeface="Calibri" pitchFamily="34" charset="-122"/>
                <a:cs typeface="Calibri" pitchFamily="34" charset="-120"/>
              </a:rPr>
              <a:t>WHAT FINOPS NEEDS TO LEARN FROM THE TEAM</a:t>
            </a:r>
            <a:endParaRPr lang="en-US" sz="1100" dirty="0"/>
          </a:p>
        </p:txBody>
      </p:sp>
      <p:sp>
        <p:nvSpPr>
          <p:cNvPr id="30" name="Shape 28"/>
          <p:cNvSpPr/>
          <p:nvPr/>
        </p:nvSpPr>
        <p:spPr>
          <a:xfrm>
            <a:off x="6574536" y="4590288"/>
            <a:ext cx="100584" cy="100584"/>
          </a:xfrm>
          <a:prstGeom prst="ellipse">
            <a:avLst/>
          </a:prstGeom>
          <a:solidFill>
            <a:srgbClr val="1F6B5C"/>
          </a:solidFill>
          <a:ln/>
        </p:spPr>
      </p:sp>
      <p:sp>
        <p:nvSpPr>
          <p:cNvPr id="31" name="Text 29"/>
          <p:cNvSpPr/>
          <p:nvPr/>
        </p:nvSpPr>
        <p:spPr>
          <a:xfrm>
            <a:off x="6812280" y="4443984"/>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the project actually needs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Scale, growth, retention, and the real SLO.</a:t>
            </a:r>
            <a:endParaRPr lang="en-US" sz="1250" dirty="0"/>
          </a:p>
        </p:txBody>
      </p:sp>
      <p:sp>
        <p:nvSpPr>
          <p:cNvPr id="32" name="Shape 30"/>
          <p:cNvSpPr/>
          <p:nvPr/>
        </p:nvSpPr>
        <p:spPr>
          <a:xfrm>
            <a:off x="6574536" y="5120640"/>
            <a:ext cx="100584" cy="100584"/>
          </a:xfrm>
          <a:prstGeom prst="ellipse">
            <a:avLst/>
          </a:prstGeom>
          <a:solidFill>
            <a:srgbClr val="1F6B5C"/>
          </a:solidFill>
          <a:ln/>
        </p:spPr>
      </p:sp>
      <p:sp>
        <p:nvSpPr>
          <p:cNvPr id="33" name="Text 31"/>
          <p:cNvSpPr/>
          <p:nvPr/>
        </p:nvSpPr>
        <p:spPr>
          <a:xfrm>
            <a:off x="6812280" y="4974336"/>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What is temporary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An end date set now costs nothing to honour later.</a:t>
            </a:r>
            <a:endParaRPr lang="en-US" sz="1250" dirty="0"/>
          </a:p>
        </p:txBody>
      </p:sp>
      <p:sp>
        <p:nvSpPr>
          <p:cNvPr id="34" name="Shape 32"/>
          <p:cNvSpPr/>
          <p:nvPr/>
        </p:nvSpPr>
        <p:spPr>
          <a:xfrm>
            <a:off x="6574536" y="5650992"/>
            <a:ext cx="100584" cy="100584"/>
          </a:xfrm>
          <a:prstGeom prst="ellipse">
            <a:avLst/>
          </a:prstGeom>
          <a:solidFill>
            <a:srgbClr val="1F6B5C"/>
          </a:solidFill>
          <a:ln/>
        </p:spPr>
      </p:sp>
      <p:sp>
        <p:nvSpPr>
          <p:cNvPr id="35" name="Text 33"/>
          <p:cNvSpPr/>
          <p:nvPr/>
        </p:nvSpPr>
        <p:spPr>
          <a:xfrm>
            <a:off x="6812280" y="5504688"/>
            <a:ext cx="4517136" cy="512064"/>
          </a:xfrm>
          <a:prstGeom prst="rect">
            <a:avLst/>
          </a:prstGeom>
          <a:noFill/>
          <a:ln/>
        </p:spPr>
        <p:txBody>
          <a:bodyPr wrap="square" lIns="0" tIns="0" rIns="0" bIns="0" rtlCol="0" anchor="t"/>
          <a:lstStyle/>
          <a:p>
            <a:pPr indent="0" marL="0">
              <a:lnSpc>
                <a:spcPts val="1600"/>
              </a:lnSpc>
              <a:buNone/>
            </a:pPr>
            <a:r>
              <a:rPr lang="en-US" sz="1250" b="1" dirty="0">
                <a:solidFill>
                  <a:srgbClr val="1B2430"/>
                </a:solidFill>
                <a:latin typeface="Calibri" pitchFamily="34" charset="0"/>
                <a:ea typeface="Calibri" pitchFamily="34" charset="-122"/>
                <a:cs typeface="Calibri" pitchFamily="34" charset="-120"/>
              </a:rPr>
              <a:t>Where the business value sits  </a:t>
            </a:r>
            <a:pPr indent="0" marL="0">
              <a:lnSpc>
                <a:spcPts val="1600"/>
              </a:lnSpc>
              <a:buNone/>
            </a:pPr>
            <a:r>
              <a:rPr lang="en-US" sz="1250" dirty="0">
                <a:solidFill>
                  <a:srgbClr val="5C6675"/>
                </a:solidFill>
                <a:latin typeface="Calibri" pitchFamily="34" charset="0"/>
                <a:ea typeface="Calibri" pitchFamily="34" charset="-122"/>
                <a:cs typeface="Calibri" pitchFamily="34" charset="-120"/>
              </a:rPr>
              <a:t>Per customer, per order, per model call.</a:t>
            </a:r>
            <a:endParaRPr lang="en-US" sz="1250" dirty="0"/>
          </a:p>
        </p:txBody>
      </p:sp>
      <p:sp>
        <p:nvSpPr>
          <p:cNvPr id="36" name="Text 34"/>
          <p:cNvSpPr/>
          <p:nvPr/>
        </p:nvSpPr>
        <p:spPr>
          <a:xfrm>
            <a:off x="548640" y="6144768"/>
            <a:ext cx="11091672" cy="457200"/>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The FinOps Framework names this: Architecting &amp; Workload Placement, and Onboarding Workloads — cost, usage and impact decision support during design and intake.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SHIFT LEFT IN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Six questions, asked before the build starts</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9EABBA"/>
                </a:solidFill>
                <a:latin typeface="Calibri" pitchFamily="34" charset="0"/>
                <a:ea typeface="Calibri" pitchFamily="34" charset="-122"/>
                <a:cs typeface="Calibri" pitchFamily="34" charset="-120"/>
              </a:rPr>
              <a:t>None of them is a finance question. All of them decide the bill.</a:t>
            </a:r>
            <a:endParaRPr lang="en-US" sz="1500" dirty="0"/>
          </a:p>
        </p:txBody>
      </p:sp>
      <p:sp>
        <p:nvSpPr>
          <p:cNvPr id="5" name="Shape 3"/>
          <p:cNvSpPr/>
          <p:nvPr/>
        </p:nvSpPr>
        <p:spPr>
          <a:xfrm>
            <a:off x="548640" y="2121408"/>
            <a:ext cx="3511296" cy="1874520"/>
          </a:xfrm>
          <a:prstGeom prst="roundRect">
            <a:avLst>
              <a:gd name="adj" fmla="val 4390"/>
            </a:avLst>
          </a:prstGeom>
          <a:solidFill>
            <a:srgbClr val="1F2936"/>
          </a:solidFill>
          <a:ln/>
        </p:spPr>
      </p:sp>
      <p:sp>
        <p:nvSpPr>
          <p:cNvPr id="6" name="Shape 4"/>
          <p:cNvSpPr/>
          <p:nvPr/>
        </p:nvSpPr>
        <p:spPr>
          <a:xfrm>
            <a:off x="841248" y="2377440"/>
            <a:ext cx="457200" cy="457200"/>
          </a:xfrm>
          <a:prstGeom prst="ellipse">
            <a:avLst/>
          </a:prstGeom>
          <a:solidFill>
            <a:srgbClr val="2E3A48"/>
          </a:solidFill>
          <a:ln/>
        </p:spPr>
      </p:sp>
      <p:pic>
        <p:nvPicPr>
          <p:cNvPr id="7" name="Image 0" descr="preencoded.png">    </p:cNvPr>
          <p:cNvPicPr>
            <a:picLocks noChangeAspect="1"/>
          </p:cNvPicPr>
          <p:nvPr/>
        </p:nvPicPr>
        <p:blipFill>
          <a:blip r:embed="rId1"/>
          <a:stretch>
            <a:fillRect/>
          </a:stretch>
        </p:blipFill>
        <p:spPr>
          <a:xfrm>
            <a:off x="955548" y="2491740"/>
            <a:ext cx="228600" cy="228600"/>
          </a:xfrm>
          <a:prstGeom prst="rect">
            <a:avLst/>
          </a:prstGeom>
        </p:spPr>
      </p:pic>
      <p:sp>
        <p:nvSpPr>
          <p:cNvPr id="8" name="Text 5"/>
          <p:cNvSpPr/>
          <p:nvPr/>
        </p:nvSpPr>
        <p:spPr>
          <a:xfrm>
            <a:off x="1426464"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Shape of the load</a:t>
            </a:r>
            <a:endParaRPr lang="en-US" sz="1500" dirty="0"/>
          </a:p>
        </p:txBody>
      </p:sp>
      <p:sp>
        <p:nvSpPr>
          <p:cNvPr id="9" name="Text 6"/>
          <p:cNvSpPr/>
          <p:nvPr/>
        </p:nvSpPr>
        <p:spPr>
          <a:xfrm>
            <a:off x="841248"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Peak versus average, and how spiky? Sizing for a peak that lasts an hour a week is the most common overspend.</a:t>
            </a:r>
            <a:endParaRPr lang="en-US" sz="1200" dirty="0"/>
          </a:p>
        </p:txBody>
      </p:sp>
      <p:sp>
        <p:nvSpPr>
          <p:cNvPr id="10" name="Shape 7"/>
          <p:cNvSpPr/>
          <p:nvPr/>
        </p:nvSpPr>
        <p:spPr>
          <a:xfrm>
            <a:off x="4334256" y="2121408"/>
            <a:ext cx="3511296" cy="1874520"/>
          </a:xfrm>
          <a:prstGeom prst="roundRect">
            <a:avLst>
              <a:gd name="adj" fmla="val 4390"/>
            </a:avLst>
          </a:prstGeom>
          <a:solidFill>
            <a:srgbClr val="1F2936"/>
          </a:solidFill>
          <a:ln/>
        </p:spPr>
      </p:sp>
      <p:sp>
        <p:nvSpPr>
          <p:cNvPr id="11" name="Shape 8"/>
          <p:cNvSpPr/>
          <p:nvPr/>
        </p:nvSpPr>
        <p:spPr>
          <a:xfrm>
            <a:off x="4626864" y="2377440"/>
            <a:ext cx="457200" cy="457200"/>
          </a:xfrm>
          <a:prstGeom prst="ellipse">
            <a:avLst/>
          </a:prstGeom>
          <a:solidFill>
            <a:srgbClr val="2E3A48"/>
          </a:solidFill>
          <a:ln/>
        </p:spPr>
      </p:sp>
      <p:pic>
        <p:nvPicPr>
          <p:cNvPr id="12" name="Image 1" descr="preencoded.png">    </p:cNvPr>
          <p:cNvPicPr>
            <a:picLocks noChangeAspect="1"/>
          </p:cNvPicPr>
          <p:nvPr/>
        </p:nvPicPr>
        <p:blipFill>
          <a:blip r:embed="rId2"/>
          <a:stretch>
            <a:fillRect/>
          </a:stretch>
        </p:blipFill>
        <p:spPr>
          <a:xfrm>
            <a:off x="4741164" y="2491740"/>
            <a:ext cx="228600" cy="228600"/>
          </a:xfrm>
          <a:prstGeom prst="rect">
            <a:avLst/>
          </a:prstGeom>
        </p:spPr>
      </p:pic>
      <p:sp>
        <p:nvSpPr>
          <p:cNvPr id="13" name="Text 9"/>
          <p:cNvSpPr/>
          <p:nvPr/>
        </p:nvSpPr>
        <p:spPr>
          <a:xfrm>
            <a:off x="5212080"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Data volume and retention</a:t>
            </a:r>
            <a:endParaRPr lang="en-US" sz="1500" dirty="0"/>
          </a:p>
        </p:txBody>
      </p:sp>
      <p:sp>
        <p:nvSpPr>
          <p:cNvPr id="14" name="Text 10"/>
          <p:cNvSpPr/>
          <p:nvPr/>
        </p:nvSpPr>
        <p:spPr>
          <a:xfrm>
            <a:off x="4626864"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How much is stored, for how long, and how much leaves the region? Egress and retention rarely appear in the estimate.</a:t>
            </a:r>
            <a:endParaRPr lang="en-US" sz="1200" dirty="0"/>
          </a:p>
        </p:txBody>
      </p:sp>
      <p:sp>
        <p:nvSpPr>
          <p:cNvPr id="15" name="Shape 11"/>
          <p:cNvSpPr/>
          <p:nvPr/>
        </p:nvSpPr>
        <p:spPr>
          <a:xfrm>
            <a:off x="8119872" y="2121408"/>
            <a:ext cx="3511296" cy="1874520"/>
          </a:xfrm>
          <a:prstGeom prst="roundRect">
            <a:avLst>
              <a:gd name="adj" fmla="val 4390"/>
            </a:avLst>
          </a:prstGeom>
          <a:solidFill>
            <a:srgbClr val="1F2936"/>
          </a:solidFill>
          <a:ln/>
        </p:spPr>
      </p:sp>
      <p:sp>
        <p:nvSpPr>
          <p:cNvPr id="16" name="Shape 12"/>
          <p:cNvSpPr/>
          <p:nvPr/>
        </p:nvSpPr>
        <p:spPr>
          <a:xfrm>
            <a:off x="8412480" y="2377440"/>
            <a:ext cx="457200" cy="457200"/>
          </a:xfrm>
          <a:prstGeom prst="ellipse">
            <a:avLst/>
          </a:prstGeom>
          <a:solidFill>
            <a:srgbClr val="2E3A48"/>
          </a:solidFill>
          <a:ln/>
        </p:spPr>
      </p:sp>
      <p:pic>
        <p:nvPicPr>
          <p:cNvPr id="17" name="Image 2" descr="preencoded.png">    </p:cNvPr>
          <p:cNvPicPr>
            <a:picLocks noChangeAspect="1"/>
          </p:cNvPicPr>
          <p:nvPr/>
        </p:nvPicPr>
        <p:blipFill>
          <a:blip r:embed="rId3"/>
          <a:stretch>
            <a:fillRect/>
          </a:stretch>
        </p:blipFill>
        <p:spPr>
          <a:xfrm>
            <a:off x="8526780" y="2491740"/>
            <a:ext cx="228600" cy="228600"/>
          </a:xfrm>
          <a:prstGeom prst="rect">
            <a:avLst/>
          </a:prstGeom>
        </p:spPr>
      </p:pic>
      <p:sp>
        <p:nvSpPr>
          <p:cNvPr id="18" name="Text 13"/>
          <p:cNvSpPr/>
          <p:nvPr/>
        </p:nvSpPr>
        <p:spPr>
          <a:xfrm>
            <a:off x="8997696" y="235915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the SLO actually requires</a:t>
            </a:r>
            <a:endParaRPr lang="en-US" sz="1500" dirty="0"/>
          </a:p>
        </p:txBody>
      </p:sp>
      <p:sp>
        <p:nvSpPr>
          <p:cNvPr id="19" name="Text 14"/>
          <p:cNvSpPr/>
          <p:nvPr/>
        </p:nvSpPr>
        <p:spPr>
          <a:xfrm>
            <a:off x="8412480" y="296265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Multi-region and multi-AZ are priced choices. Ask which one the business will genuinely pay for.</a:t>
            </a:r>
            <a:endParaRPr lang="en-US" sz="1200" dirty="0"/>
          </a:p>
        </p:txBody>
      </p:sp>
      <p:sp>
        <p:nvSpPr>
          <p:cNvPr id="20" name="Shape 15"/>
          <p:cNvSpPr/>
          <p:nvPr/>
        </p:nvSpPr>
        <p:spPr>
          <a:xfrm>
            <a:off x="548640" y="4133088"/>
            <a:ext cx="3511296" cy="1874520"/>
          </a:xfrm>
          <a:prstGeom prst="roundRect">
            <a:avLst>
              <a:gd name="adj" fmla="val 4390"/>
            </a:avLst>
          </a:prstGeom>
          <a:solidFill>
            <a:srgbClr val="1F2936"/>
          </a:solidFill>
          <a:ln/>
        </p:spPr>
      </p:sp>
      <p:sp>
        <p:nvSpPr>
          <p:cNvPr id="21" name="Shape 16"/>
          <p:cNvSpPr/>
          <p:nvPr/>
        </p:nvSpPr>
        <p:spPr>
          <a:xfrm>
            <a:off x="841248" y="4389120"/>
            <a:ext cx="457200" cy="457200"/>
          </a:xfrm>
          <a:prstGeom prst="ellipse">
            <a:avLst/>
          </a:prstGeom>
          <a:solidFill>
            <a:srgbClr val="2E3A48"/>
          </a:solidFill>
          <a:ln/>
        </p:spPr>
      </p:sp>
      <p:pic>
        <p:nvPicPr>
          <p:cNvPr id="22" name="Image 3" descr="preencoded.png">    </p:cNvPr>
          <p:cNvPicPr>
            <a:picLocks noChangeAspect="1"/>
          </p:cNvPicPr>
          <p:nvPr/>
        </p:nvPicPr>
        <p:blipFill>
          <a:blip r:embed="rId4"/>
          <a:stretch>
            <a:fillRect/>
          </a:stretch>
        </p:blipFill>
        <p:spPr>
          <a:xfrm>
            <a:off x="955548" y="4503420"/>
            <a:ext cx="228600" cy="228600"/>
          </a:xfrm>
          <a:prstGeom prst="rect">
            <a:avLst/>
          </a:prstGeom>
        </p:spPr>
      </p:pic>
      <p:sp>
        <p:nvSpPr>
          <p:cNvPr id="23" name="Text 17"/>
          <p:cNvSpPr/>
          <p:nvPr/>
        </p:nvSpPr>
        <p:spPr>
          <a:xfrm>
            <a:off x="1426464"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What is temporary</a:t>
            </a:r>
            <a:endParaRPr lang="en-US" sz="1500" dirty="0"/>
          </a:p>
        </p:txBody>
      </p:sp>
      <p:sp>
        <p:nvSpPr>
          <p:cNvPr id="24" name="Text 18"/>
          <p:cNvSpPr/>
          <p:nvPr/>
        </p:nvSpPr>
        <p:spPr>
          <a:xfrm>
            <a:off x="841248"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Non-production with no end date becomes permanent. An expiry set on day one is free; removing it later is a project.</a:t>
            </a:r>
            <a:endParaRPr lang="en-US" sz="1200" dirty="0"/>
          </a:p>
        </p:txBody>
      </p:sp>
      <p:sp>
        <p:nvSpPr>
          <p:cNvPr id="25" name="Shape 19"/>
          <p:cNvSpPr/>
          <p:nvPr/>
        </p:nvSpPr>
        <p:spPr>
          <a:xfrm>
            <a:off x="4334256" y="4133088"/>
            <a:ext cx="3511296" cy="1874520"/>
          </a:xfrm>
          <a:prstGeom prst="roundRect">
            <a:avLst>
              <a:gd name="adj" fmla="val 4390"/>
            </a:avLst>
          </a:prstGeom>
          <a:solidFill>
            <a:srgbClr val="1F2936"/>
          </a:solidFill>
          <a:ln/>
        </p:spPr>
      </p:sp>
      <p:sp>
        <p:nvSpPr>
          <p:cNvPr id="26" name="Shape 20"/>
          <p:cNvSpPr/>
          <p:nvPr/>
        </p:nvSpPr>
        <p:spPr>
          <a:xfrm>
            <a:off x="4626864" y="4389120"/>
            <a:ext cx="457200" cy="457200"/>
          </a:xfrm>
          <a:prstGeom prst="ellipse">
            <a:avLst/>
          </a:prstGeom>
          <a:solidFill>
            <a:srgbClr val="2E3A48"/>
          </a:solidFill>
          <a:ln/>
        </p:spPr>
      </p:sp>
      <p:pic>
        <p:nvPicPr>
          <p:cNvPr id="27" name="Image 4" descr="preencoded.png">    </p:cNvPr>
          <p:cNvPicPr>
            <a:picLocks noChangeAspect="1"/>
          </p:cNvPicPr>
          <p:nvPr/>
        </p:nvPicPr>
        <p:blipFill>
          <a:blip r:embed="rId5"/>
          <a:stretch>
            <a:fillRect/>
          </a:stretch>
        </p:blipFill>
        <p:spPr>
          <a:xfrm>
            <a:off x="4741164" y="4503420"/>
            <a:ext cx="228600" cy="228600"/>
          </a:xfrm>
          <a:prstGeom prst="rect">
            <a:avLst/>
          </a:prstGeom>
        </p:spPr>
      </p:pic>
      <p:sp>
        <p:nvSpPr>
          <p:cNvPr id="28" name="Text 21"/>
          <p:cNvSpPr/>
          <p:nvPr/>
        </p:nvSpPr>
        <p:spPr>
          <a:xfrm>
            <a:off x="5212080"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For AI workloads</a:t>
            </a:r>
            <a:endParaRPr lang="en-US" sz="1500" dirty="0"/>
          </a:p>
        </p:txBody>
      </p:sp>
      <p:sp>
        <p:nvSpPr>
          <p:cNvPr id="29" name="Text 22"/>
          <p:cNvSpPr/>
          <p:nvPr/>
        </p:nvSpPr>
        <p:spPr>
          <a:xfrm>
            <a:off x="4626864"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Tokens per request, cache hit rate, model tier, and whether provisioned throughput is justified by the traffic.</a:t>
            </a:r>
            <a:endParaRPr lang="en-US" sz="1200" dirty="0"/>
          </a:p>
        </p:txBody>
      </p:sp>
      <p:sp>
        <p:nvSpPr>
          <p:cNvPr id="30" name="Shape 23"/>
          <p:cNvSpPr/>
          <p:nvPr/>
        </p:nvSpPr>
        <p:spPr>
          <a:xfrm>
            <a:off x="8119872" y="4133088"/>
            <a:ext cx="3511296" cy="1874520"/>
          </a:xfrm>
          <a:prstGeom prst="roundRect">
            <a:avLst>
              <a:gd name="adj" fmla="val 4390"/>
            </a:avLst>
          </a:prstGeom>
          <a:solidFill>
            <a:srgbClr val="1F2936"/>
          </a:solidFill>
          <a:ln/>
        </p:spPr>
      </p:sp>
      <p:sp>
        <p:nvSpPr>
          <p:cNvPr id="31" name="Shape 24"/>
          <p:cNvSpPr/>
          <p:nvPr/>
        </p:nvSpPr>
        <p:spPr>
          <a:xfrm>
            <a:off x="8412480" y="4389120"/>
            <a:ext cx="457200" cy="457200"/>
          </a:xfrm>
          <a:prstGeom prst="ellipse">
            <a:avLst/>
          </a:prstGeom>
          <a:solidFill>
            <a:srgbClr val="2E3A48"/>
          </a:solidFill>
          <a:ln/>
        </p:spPr>
      </p:sp>
      <p:pic>
        <p:nvPicPr>
          <p:cNvPr id="32" name="Image 5" descr="preencoded.png">    </p:cNvPr>
          <p:cNvPicPr>
            <a:picLocks noChangeAspect="1"/>
          </p:cNvPicPr>
          <p:nvPr/>
        </p:nvPicPr>
        <p:blipFill>
          <a:blip r:embed="rId6"/>
          <a:stretch>
            <a:fillRect/>
          </a:stretch>
        </p:blipFill>
        <p:spPr>
          <a:xfrm>
            <a:off x="8526780" y="4503420"/>
            <a:ext cx="228600" cy="228600"/>
          </a:xfrm>
          <a:prstGeom prst="rect">
            <a:avLst/>
          </a:prstGeom>
        </p:spPr>
      </p:pic>
      <p:sp>
        <p:nvSpPr>
          <p:cNvPr id="33" name="Text 25"/>
          <p:cNvSpPr/>
          <p:nvPr/>
        </p:nvSpPr>
        <p:spPr>
          <a:xfrm>
            <a:off x="8997696" y="4370832"/>
            <a:ext cx="2468880" cy="493776"/>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Owner and unit</a:t>
            </a:r>
            <a:endParaRPr lang="en-US" sz="1500" dirty="0"/>
          </a:p>
        </p:txBody>
      </p:sp>
      <p:sp>
        <p:nvSpPr>
          <p:cNvPr id="34" name="Text 26"/>
          <p:cNvSpPr/>
          <p:nvPr/>
        </p:nvSpPr>
        <p:spPr>
          <a:xfrm>
            <a:off x="8412480" y="4974336"/>
            <a:ext cx="2926080" cy="960120"/>
          </a:xfrm>
          <a:prstGeom prst="rect">
            <a:avLst/>
          </a:prstGeom>
          <a:noFill/>
          <a:ln/>
        </p:spPr>
        <p:txBody>
          <a:bodyPr wrap="square" lIns="0" tIns="0" rIns="0" bIns="0" rtlCol="0" anchor="t"/>
          <a:lstStyle/>
          <a:p>
            <a:pPr indent="0" marL="0">
              <a:lnSpc>
                <a:spcPts val="1600"/>
              </a:lnSpc>
              <a:buNone/>
            </a:pPr>
            <a:r>
              <a:rPr lang="en-US" sz="1200" dirty="0">
                <a:solidFill>
                  <a:srgbClr val="9EABBA"/>
                </a:solidFill>
                <a:latin typeface="Calibri" pitchFamily="34" charset="0"/>
                <a:ea typeface="Calibri" pitchFamily="34" charset="-122"/>
                <a:cs typeface="Calibri" pitchFamily="34" charset="-120"/>
              </a:rPr>
              <a:t>Which cost centre carries it, and what unit we will divide the cost by once it is live.</a:t>
            </a:r>
            <a:endParaRPr lang="en-US" sz="1200" dirty="0"/>
          </a:p>
        </p:txBody>
      </p:sp>
      <p:sp>
        <p:nvSpPr>
          <p:cNvPr id="35" name="Text 27"/>
          <p:cNvSpPr/>
          <p:nvPr/>
        </p:nvSpPr>
        <p:spPr>
          <a:xfrm>
            <a:off x="548640" y="6163056"/>
            <a:ext cx="11091672" cy="548640"/>
          </a:xfrm>
          <a:prstGeom prst="rect">
            <a:avLst/>
          </a:prstGeom>
          <a:noFill/>
          <a:ln/>
        </p:spPr>
        <p:txBody>
          <a:bodyPr wrap="square" lIns="0" tIns="0" rIns="0" bIns="0" rtlCol="0" anchor="t"/>
          <a:lstStyle/>
          <a:p>
            <a:pPr indent="0" marL="0">
              <a:lnSpc>
                <a:spcPts val="1800"/>
              </a:lnSpc>
              <a:buNone/>
            </a:pPr>
            <a:r>
              <a:rPr lang="en-US" sz="1250" b="1" dirty="0">
                <a:solidFill>
                  <a:srgbClr val="E39B2C"/>
                </a:solidFill>
                <a:latin typeface="Calibri" pitchFamily="34" charset="0"/>
                <a:ea typeface="Calibri" pitchFamily="34" charset="-122"/>
                <a:cs typeface="Calibri" pitchFamily="34" charset="-120"/>
              </a:rPr>
              <a:t>The output is a number attached to the design: </a:t>
            </a:r>
            <a:pPr indent="0" marL="0">
              <a:lnSpc>
                <a:spcPts val="1800"/>
              </a:lnSpc>
              <a:buNone/>
            </a:pPr>
            <a:r>
              <a:rPr lang="en-US" sz="1250" dirty="0">
                <a:solidFill>
                  <a:srgbClr val="9EABBA"/>
                </a:solidFill>
                <a:latin typeface="Calibri" pitchFamily="34" charset="0"/>
                <a:ea typeface="Calibri" pitchFamily="34" charset="-122"/>
                <a:cs typeface="Calibri" pitchFamily="34" charset="-120"/>
              </a:rPr>
              <a:t>an estimate, and a cost target recorded beside the latency and availability targets. A cost diff on the pull request and policy as code keep it honest afterwards.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PUTTING IT TOGETHER</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Nobody should learn it from the invoice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overrun, found at four different moments. Only the first three leave you anything to do about it.</a:t>
            </a:r>
            <a:endParaRPr lang="en-US" sz="1500" dirty="0"/>
          </a:p>
        </p:txBody>
      </p:sp>
      <p:sp>
        <p:nvSpPr>
          <p:cNvPr id="5" name="Shape 3"/>
          <p:cNvSpPr/>
          <p:nvPr/>
        </p:nvSpPr>
        <p:spPr>
          <a:xfrm>
            <a:off x="1737360" y="3127248"/>
            <a:ext cx="8714232" cy="45720"/>
          </a:xfrm>
          <a:prstGeom prst="roundRect">
            <a:avLst>
              <a:gd name="adj" fmla="val 40000"/>
            </a:avLst>
          </a:prstGeom>
          <a:solidFill>
            <a:srgbClr val="DFE4EA"/>
          </a:solidFill>
          <a:ln/>
        </p:spPr>
      </p:sp>
      <p:sp>
        <p:nvSpPr>
          <p:cNvPr id="6" name="Text 4"/>
          <p:cNvSpPr/>
          <p:nvPr/>
        </p:nvSpPr>
        <p:spPr>
          <a:xfrm>
            <a:off x="54864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Usage burn alert</a:t>
            </a:r>
            <a:endParaRPr lang="en-US" sz="1400" dirty="0"/>
          </a:p>
        </p:txBody>
      </p:sp>
      <p:sp>
        <p:nvSpPr>
          <p:cNvPr id="7" name="Text 5"/>
          <p:cNvSpPr/>
          <p:nvPr/>
        </p:nvSpPr>
        <p:spPr>
          <a:xfrm>
            <a:off x="54864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B87B18"/>
                </a:solidFill>
                <a:latin typeface="Calibri" pitchFamily="34" charset="0"/>
                <a:ea typeface="Calibri" pitchFamily="34" charset="-122"/>
                <a:cs typeface="Calibri" pitchFamily="34" charset="-120"/>
              </a:rPr>
              <a:t>~10 minutes</a:t>
            </a:r>
            <a:endParaRPr lang="en-US" sz="1250" dirty="0"/>
          </a:p>
        </p:txBody>
      </p:sp>
      <p:sp>
        <p:nvSpPr>
          <p:cNvPr id="8" name="Shape 6"/>
          <p:cNvSpPr/>
          <p:nvPr/>
        </p:nvSpPr>
        <p:spPr>
          <a:xfrm>
            <a:off x="1618488" y="3031236"/>
            <a:ext cx="237744" cy="237744"/>
          </a:xfrm>
          <a:prstGeom prst="ellipse">
            <a:avLst/>
          </a:prstGeom>
          <a:solidFill>
            <a:srgbClr val="E39B2C"/>
          </a:solidFill>
          <a:ln w="25400">
            <a:solidFill>
              <a:srgbClr val="FFFFFF"/>
            </a:solidFill>
            <a:prstDash val="solid"/>
          </a:ln>
        </p:spPr>
      </p:sp>
      <p:sp>
        <p:nvSpPr>
          <p:cNvPr id="9" name="Text 7"/>
          <p:cNvSpPr/>
          <p:nvPr/>
        </p:nvSpPr>
        <p:spPr>
          <a:xfrm>
            <a:off x="54864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Throttle it, or confirm it was intended.</a:t>
            </a:r>
            <a:endParaRPr lang="en-US" sz="1200" dirty="0"/>
          </a:p>
        </p:txBody>
      </p:sp>
      <p:sp>
        <p:nvSpPr>
          <p:cNvPr id="10" name="Text 8"/>
          <p:cNvSpPr/>
          <p:nvPr/>
        </p:nvSpPr>
        <p:spPr>
          <a:xfrm>
            <a:off x="356616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Daily spend threshold</a:t>
            </a:r>
            <a:endParaRPr lang="en-US" sz="1400" dirty="0"/>
          </a:p>
        </p:txBody>
      </p:sp>
      <p:sp>
        <p:nvSpPr>
          <p:cNvPr id="11" name="Text 9"/>
          <p:cNvSpPr/>
          <p:nvPr/>
        </p:nvSpPr>
        <p:spPr>
          <a:xfrm>
            <a:off x="356616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next morning</a:t>
            </a:r>
            <a:endParaRPr lang="en-US" sz="1250" dirty="0"/>
          </a:p>
        </p:txBody>
      </p:sp>
      <p:sp>
        <p:nvSpPr>
          <p:cNvPr id="12" name="Shape 10"/>
          <p:cNvSpPr/>
          <p:nvPr/>
        </p:nvSpPr>
        <p:spPr>
          <a:xfrm>
            <a:off x="4636008" y="3031236"/>
            <a:ext cx="237744" cy="237744"/>
          </a:xfrm>
          <a:prstGeom prst="ellipse">
            <a:avLst/>
          </a:prstGeom>
          <a:solidFill>
            <a:srgbClr val="2E8B7A"/>
          </a:solidFill>
          <a:ln w="25400">
            <a:solidFill>
              <a:srgbClr val="FFFFFF"/>
            </a:solidFill>
            <a:prstDash val="solid"/>
          </a:ln>
        </p:spPr>
      </p:sp>
      <p:sp>
        <p:nvSpPr>
          <p:cNvPr id="13" name="Text 11"/>
          <p:cNvSpPr/>
          <p:nvPr/>
        </p:nvSpPr>
        <p:spPr>
          <a:xfrm>
            <a:off x="356616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One team, one number, one owner to ask.</a:t>
            </a:r>
            <a:endParaRPr lang="en-US" sz="1200" dirty="0"/>
          </a:p>
        </p:txBody>
      </p:sp>
      <p:sp>
        <p:nvSpPr>
          <p:cNvPr id="14" name="Text 12"/>
          <p:cNvSpPr/>
          <p:nvPr/>
        </p:nvSpPr>
        <p:spPr>
          <a:xfrm>
            <a:off x="6583680" y="2212848"/>
            <a:ext cx="2377440" cy="310896"/>
          </a:xfrm>
          <a:prstGeom prst="rect">
            <a:avLst/>
          </a:prstGeom>
          <a:noFill/>
          <a:ln/>
        </p:spPr>
        <p:txBody>
          <a:bodyPr wrap="square" lIns="0" tIns="0" rIns="0" bIns="0" rtlCol="0" anchor="ctr"/>
          <a:lstStyle/>
          <a:p>
            <a:pPr algn="ctr" indent="0" marL="0">
              <a:buNone/>
            </a:pPr>
            <a:r>
              <a:rPr lang="en-US" sz="1400" b="1" dirty="0">
                <a:solidFill>
                  <a:srgbClr val="1B2430"/>
                </a:solidFill>
                <a:latin typeface="Calibri" pitchFamily="34" charset="0"/>
                <a:ea typeface="Calibri" pitchFamily="34" charset="-122"/>
                <a:cs typeface="Calibri" pitchFamily="34" charset="-120"/>
              </a:rPr>
              <a:t>Forecast overrun</a:t>
            </a:r>
            <a:endParaRPr lang="en-US" sz="1400" dirty="0"/>
          </a:p>
        </p:txBody>
      </p:sp>
      <p:sp>
        <p:nvSpPr>
          <p:cNvPr id="15" name="Text 13"/>
          <p:cNvSpPr/>
          <p:nvPr/>
        </p:nvSpPr>
        <p:spPr>
          <a:xfrm>
            <a:off x="6583680"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1F6B5C"/>
                </a:solidFill>
                <a:latin typeface="Calibri" pitchFamily="34" charset="0"/>
                <a:ea typeface="Calibri" pitchFamily="34" charset="-122"/>
                <a:cs typeface="Calibri" pitchFamily="34" charset="-120"/>
              </a:rPr>
              <a:t>~2 weeks out</a:t>
            </a:r>
            <a:endParaRPr lang="en-US" sz="1250" dirty="0"/>
          </a:p>
        </p:txBody>
      </p:sp>
      <p:sp>
        <p:nvSpPr>
          <p:cNvPr id="16" name="Shape 14"/>
          <p:cNvSpPr/>
          <p:nvPr/>
        </p:nvSpPr>
        <p:spPr>
          <a:xfrm>
            <a:off x="7653528" y="3031236"/>
            <a:ext cx="237744" cy="237744"/>
          </a:xfrm>
          <a:prstGeom prst="ellipse">
            <a:avLst/>
          </a:prstGeom>
          <a:solidFill>
            <a:srgbClr val="2E8B7A"/>
          </a:solidFill>
          <a:ln w="25400">
            <a:solidFill>
              <a:srgbClr val="FFFFFF"/>
            </a:solidFill>
            <a:prstDash val="solid"/>
          </a:ln>
        </p:spPr>
      </p:sp>
      <p:sp>
        <p:nvSpPr>
          <p:cNvPr id="17" name="Text 15"/>
          <p:cNvSpPr/>
          <p:nvPr/>
        </p:nvSpPr>
        <p:spPr>
          <a:xfrm>
            <a:off x="6583680"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Still time to change the month's outcome.</a:t>
            </a:r>
            <a:endParaRPr lang="en-US" sz="1200" dirty="0"/>
          </a:p>
        </p:txBody>
      </p:sp>
      <p:sp>
        <p:nvSpPr>
          <p:cNvPr id="18" name="Text 16"/>
          <p:cNvSpPr/>
          <p:nvPr/>
        </p:nvSpPr>
        <p:spPr>
          <a:xfrm>
            <a:off x="9262872" y="2212848"/>
            <a:ext cx="2377440" cy="310896"/>
          </a:xfrm>
          <a:prstGeom prst="rect">
            <a:avLst/>
          </a:prstGeom>
          <a:noFill/>
          <a:ln/>
        </p:spPr>
        <p:txBody>
          <a:bodyPr wrap="square" lIns="0" tIns="0" rIns="0" bIns="0" rtlCol="0" anchor="ctr"/>
          <a:lstStyle/>
          <a:p>
            <a:pPr algn="ctr" indent="0" marL="0">
              <a:buNone/>
            </a:pPr>
            <a:r>
              <a:rPr lang="en-US" sz="1400" b="1" dirty="0">
                <a:solidFill>
                  <a:srgbClr val="5C6675"/>
                </a:solidFill>
                <a:latin typeface="Calibri" pitchFamily="34" charset="0"/>
                <a:ea typeface="Calibri" pitchFamily="34" charset="-122"/>
                <a:cs typeface="Calibri" pitchFamily="34" charset="-120"/>
              </a:rPr>
              <a:t>The invoice</a:t>
            </a:r>
            <a:endParaRPr lang="en-US" sz="1400" dirty="0"/>
          </a:p>
        </p:txBody>
      </p:sp>
      <p:sp>
        <p:nvSpPr>
          <p:cNvPr id="19" name="Text 17"/>
          <p:cNvSpPr/>
          <p:nvPr/>
        </p:nvSpPr>
        <p:spPr>
          <a:xfrm>
            <a:off x="9262872" y="2542032"/>
            <a:ext cx="2377440" cy="292608"/>
          </a:xfrm>
          <a:prstGeom prst="rect">
            <a:avLst/>
          </a:prstGeom>
          <a:noFill/>
          <a:ln/>
        </p:spPr>
        <p:txBody>
          <a:bodyPr wrap="square" lIns="0" tIns="0" rIns="0" bIns="0" rtlCol="0" anchor="ctr"/>
          <a:lstStyle/>
          <a:p>
            <a:pPr algn="ctr" indent="0" marL="0">
              <a:buNone/>
            </a:pPr>
            <a:r>
              <a:rPr lang="en-US" sz="1250" b="1" spc="60" kern="0" dirty="0">
                <a:solidFill>
                  <a:srgbClr val="5C6675"/>
                </a:solidFill>
                <a:latin typeface="Calibri" pitchFamily="34" charset="0"/>
                <a:ea typeface="Calibri" pitchFamily="34" charset="-122"/>
                <a:cs typeface="Calibri" pitchFamily="34" charset="-120"/>
              </a:rPr>
              <a:t>30–45 days later</a:t>
            </a:r>
            <a:endParaRPr lang="en-US" sz="1250" dirty="0"/>
          </a:p>
        </p:txBody>
      </p:sp>
      <p:sp>
        <p:nvSpPr>
          <p:cNvPr id="20" name="Shape 18"/>
          <p:cNvSpPr/>
          <p:nvPr/>
        </p:nvSpPr>
        <p:spPr>
          <a:xfrm>
            <a:off x="10332720" y="3031236"/>
            <a:ext cx="237744" cy="237744"/>
          </a:xfrm>
          <a:prstGeom prst="ellipse">
            <a:avLst/>
          </a:prstGeom>
          <a:solidFill>
            <a:srgbClr val="AEB8C4"/>
          </a:solidFill>
          <a:ln w="25400">
            <a:solidFill>
              <a:srgbClr val="FFFFFF"/>
            </a:solidFill>
            <a:prstDash val="solid"/>
          </a:ln>
        </p:spPr>
      </p:sp>
      <p:sp>
        <p:nvSpPr>
          <p:cNvPr id="21" name="Text 19"/>
          <p:cNvSpPr/>
          <p:nvPr/>
        </p:nvSpPr>
        <p:spPr>
          <a:xfrm>
            <a:off x="9262872" y="3401568"/>
            <a:ext cx="2377440" cy="566928"/>
          </a:xfrm>
          <a:prstGeom prst="rect">
            <a:avLst/>
          </a:prstGeom>
          <a:noFill/>
          <a:ln/>
        </p:spPr>
        <p:txBody>
          <a:bodyPr wrap="square" lIns="0" tIns="0" rIns="0" bIns="0" rtlCol="0" anchor="t"/>
          <a:lstStyle/>
          <a:p>
            <a:pPr algn="ctr" indent="0" marL="0">
              <a:lnSpc>
                <a:spcPts val="1600"/>
              </a:lnSpc>
              <a:buNone/>
            </a:pPr>
            <a:r>
              <a:rPr lang="en-US" sz="1200" dirty="0">
                <a:solidFill>
                  <a:srgbClr val="5C6675"/>
                </a:solidFill>
                <a:latin typeface="Calibri" pitchFamily="34" charset="0"/>
                <a:ea typeface="Calibri" pitchFamily="34" charset="-122"/>
                <a:cs typeface="Calibri" pitchFamily="34" charset="-120"/>
              </a:rPr>
              <a:t>Nothing left to decide. Only to explain.</a:t>
            </a:r>
            <a:endParaRPr lang="en-US" sz="1200" dirty="0"/>
          </a:p>
        </p:txBody>
      </p:sp>
      <p:sp>
        <p:nvSpPr>
          <p:cNvPr id="22" name="Shape 20"/>
          <p:cNvSpPr/>
          <p:nvPr/>
        </p:nvSpPr>
        <p:spPr>
          <a:xfrm>
            <a:off x="548640" y="4297680"/>
            <a:ext cx="6675120" cy="2011680"/>
          </a:xfrm>
          <a:prstGeom prst="roundRect">
            <a:avLst>
              <a:gd name="adj" fmla="val 4091"/>
            </a:avLst>
          </a:prstGeom>
          <a:solidFill>
            <a:srgbClr val="F1F3F6"/>
          </a:solidFill>
          <a:ln/>
        </p:spPr>
      </p:sp>
      <p:sp>
        <p:nvSpPr>
          <p:cNvPr id="23" name="Text 21"/>
          <p:cNvSpPr/>
          <p:nvPr/>
        </p:nvSpPr>
        <p:spPr>
          <a:xfrm>
            <a:off x="877824" y="4443984"/>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What has to be true</a:t>
            </a:r>
            <a:endParaRPr lang="en-US" sz="1200" dirty="0"/>
          </a:p>
        </p:txBody>
      </p:sp>
      <p:sp>
        <p:nvSpPr>
          <p:cNvPr id="24" name="Shape 22"/>
          <p:cNvSpPr/>
          <p:nvPr/>
        </p:nvSpPr>
        <p:spPr>
          <a:xfrm>
            <a:off x="877824" y="4809744"/>
            <a:ext cx="274320" cy="274320"/>
          </a:xfrm>
          <a:prstGeom prst="ellipse">
            <a:avLst/>
          </a:prstGeom>
          <a:solidFill>
            <a:srgbClr val="FFFFFF"/>
          </a:solidFill>
          <a:ln/>
        </p:spPr>
      </p:sp>
      <p:pic>
        <p:nvPicPr>
          <p:cNvPr id="25" name="Image 0" descr="preencoded.png">    </p:cNvPr>
          <p:cNvPicPr>
            <a:picLocks noChangeAspect="1"/>
          </p:cNvPicPr>
          <p:nvPr/>
        </p:nvPicPr>
        <p:blipFill>
          <a:blip r:embed="rId1"/>
          <a:stretch>
            <a:fillRect/>
          </a:stretch>
        </p:blipFill>
        <p:spPr>
          <a:xfrm>
            <a:off x="946404" y="4878324"/>
            <a:ext cx="137160" cy="137160"/>
          </a:xfrm>
          <a:prstGeom prst="rect">
            <a:avLst/>
          </a:prstGeom>
        </p:spPr>
      </p:pic>
      <p:sp>
        <p:nvSpPr>
          <p:cNvPr id="26" name="Text 23"/>
          <p:cNvSpPr/>
          <p:nvPr/>
        </p:nvSpPr>
        <p:spPr>
          <a:xfrm>
            <a:off x="1298448" y="4754880"/>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Protective alerts run on usage data, not on billing data</a:t>
            </a:r>
            <a:endParaRPr lang="en-US" sz="1300" dirty="0"/>
          </a:p>
        </p:txBody>
      </p:sp>
      <p:sp>
        <p:nvSpPr>
          <p:cNvPr id="27" name="Shape 24"/>
          <p:cNvSpPr/>
          <p:nvPr/>
        </p:nvSpPr>
        <p:spPr>
          <a:xfrm>
            <a:off x="877824" y="5193792"/>
            <a:ext cx="274320" cy="274320"/>
          </a:xfrm>
          <a:prstGeom prst="ellipse">
            <a:avLst/>
          </a:prstGeom>
          <a:solidFill>
            <a:srgbClr val="FFFFFF"/>
          </a:solidFill>
          <a:ln/>
        </p:spPr>
      </p:sp>
      <p:pic>
        <p:nvPicPr>
          <p:cNvPr id="28" name="Image 1" descr="preencoded.png">    </p:cNvPr>
          <p:cNvPicPr>
            <a:picLocks noChangeAspect="1"/>
          </p:cNvPicPr>
          <p:nvPr/>
        </p:nvPicPr>
        <p:blipFill>
          <a:blip r:embed="rId2"/>
          <a:stretch>
            <a:fillRect/>
          </a:stretch>
        </p:blipFill>
        <p:spPr>
          <a:xfrm>
            <a:off x="946404" y="5262372"/>
            <a:ext cx="137160" cy="137160"/>
          </a:xfrm>
          <a:prstGeom prst="rect">
            <a:avLst/>
          </a:prstGeom>
        </p:spPr>
      </p:pic>
      <p:sp>
        <p:nvSpPr>
          <p:cNvPr id="29" name="Text 25"/>
          <p:cNvSpPr/>
          <p:nvPr/>
        </p:nvSpPr>
        <p:spPr>
          <a:xfrm>
            <a:off x="1298448" y="5138928"/>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Every alert has a named owner to route to</a:t>
            </a:r>
            <a:endParaRPr lang="en-US" sz="1300" dirty="0"/>
          </a:p>
        </p:txBody>
      </p:sp>
      <p:sp>
        <p:nvSpPr>
          <p:cNvPr id="30" name="Shape 26"/>
          <p:cNvSpPr/>
          <p:nvPr/>
        </p:nvSpPr>
        <p:spPr>
          <a:xfrm>
            <a:off x="877824" y="5577840"/>
            <a:ext cx="274320" cy="274320"/>
          </a:xfrm>
          <a:prstGeom prst="ellipse">
            <a:avLst/>
          </a:prstGeom>
          <a:solidFill>
            <a:srgbClr val="FFFFFF"/>
          </a:solidFill>
          <a:ln/>
        </p:spPr>
      </p:sp>
      <p:pic>
        <p:nvPicPr>
          <p:cNvPr id="31" name="Image 2" descr="preencoded.png">    </p:cNvPr>
          <p:cNvPicPr>
            <a:picLocks noChangeAspect="1"/>
          </p:cNvPicPr>
          <p:nvPr/>
        </p:nvPicPr>
        <p:blipFill>
          <a:blip r:embed="rId3"/>
          <a:stretch>
            <a:fillRect/>
          </a:stretch>
        </p:blipFill>
        <p:spPr>
          <a:xfrm>
            <a:off x="946404" y="5646420"/>
            <a:ext cx="137160" cy="137160"/>
          </a:xfrm>
          <a:prstGeom prst="rect">
            <a:avLst/>
          </a:prstGeom>
        </p:spPr>
      </p:pic>
      <p:sp>
        <p:nvSpPr>
          <p:cNvPr id="32" name="Text 27"/>
          <p:cNvSpPr/>
          <p:nvPr/>
        </p:nvSpPr>
        <p:spPr>
          <a:xfrm>
            <a:off x="1298448" y="5522976"/>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Budgets are phased, so drift shows up in week one</a:t>
            </a:r>
            <a:endParaRPr lang="en-US" sz="1300" dirty="0"/>
          </a:p>
        </p:txBody>
      </p:sp>
      <p:sp>
        <p:nvSpPr>
          <p:cNvPr id="33" name="Shape 28"/>
          <p:cNvSpPr/>
          <p:nvPr/>
        </p:nvSpPr>
        <p:spPr>
          <a:xfrm>
            <a:off x="877824" y="5961888"/>
            <a:ext cx="274320" cy="274320"/>
          </a:xfrm>
          <a:prstGeom prst="ellipse">
            <a:avLst/>
          </a:prstGeom>
          <a:solidFill>
            <a:srgbClr val="FFFFFF"/>
          </a:solidFill>
          <a:ln/>
        </p:spPr>
      </p:sp>
      <p:pic>
        <p:nvPicPr>
          <p:cNvPr id="34" name="Image 3" descr="preencoded.png">    </p:cNvPr>
          <p:cNvPicPr>
            <a:picLocks noChangeAspect="1"/>
          </p:cNvPicPr>
          <p:nvPr/>
        </p:nvPicPr>
        <p:blipFill>
          <a:blip r:embed="rId4"/>
          <a:stretch>
            <a:fillRect/>
          </a:stretch>
        </p:blipFill>
        <p:spPr>
          <a:xfrm>
            <a:off x="946404" y="6030468"/>
            <a:ext cx="137160" cy="137160"/>
          </a:xfrm>
          <a:prstGeom prst="rect">
            <a:avLst/>
          </a:prstGeom>
        </p:spPr>
      </p:pic>
      <p:sp>
        <p:nvSpPr>
          <p:cNvPr id="35" name="Text 29"/>
          <p:cNvSpPr/>
          <p:nvPr/>
        </p:nvSpPr>
        <p:spPr>
          <a:xfrm>
            <a:off x="1298448" y="5907024"/>
            <a:ext cx="5669280" cy="384048"/>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Quotas cap the worst case while someone investigates</a:t>
            </a:r>
            <a:endParaRPr lang="en-US" sz="1300" dirty="0"/>
          </a:p>
        </p:txBody>
      </p:sp>
      <p:sp>
        <p:nvSpPr>
          <p:cNvPr id="36" name="Shape 30"/>
          <p:cNvSpPr/>
          <p:nvPr/>
        </p:nvSpPr>
        <p:spPr>
          <a:xfrm>
            <a:off x="7525512" y="4297680"/>
            <a:ext cx="4114800" cy="2011680"/>
          </a:xfrm>
          <a:prstGeom prst="roundRect">
            <a:avLst>
              <a:gd name="adj" fmla="val 4091"/>
            </a:avLst>
          </a:prstGeom>
          <a:solidFill>
            <a:srgbClr val="1F2936"/>
          </a:solidFill>
          <a:ln/>
          <a:effectLst>
            <a:outerShdw sx="100000" sy="100000" kx="0" ky="0" algn="bl" rotWithShape="0" blurRad="127000" dist="25400" dir="5400000">
              <a:srgbClr val="8C99A8">
                <a:alpha val="16000"/>
              </a:srgbClr>
            </a:outerShdw>
          </a:effectLst>
        </p:spPr>
      </p:sp>
      <p:sp>
        <p:nvSpPr>
          <p:cNvPr id="37" name="Text 31"/>
          <p:cNvSpPr/>
          <p:nvPr/>
        </p:nvSpPr>
        <p:spPr>
          <a:xfrm>
            <a:off x="7818120" y="4462272"/>
            <a:ext cx="32004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point</a:t>
            </a:r>
            <a:endParaRPr lang="en-US" sz="1200" dirty="0"/>
          </a:p>
        </p:txBody>
      </p:sp>
      <p:sp>
        <p:nvSpPr>
          <p:cNvPr id="38" name="Text 32"/>
          <p:cNvSpPr/>
          <p:nvPr/>
        </p:nvSpPr>
        <p:spPr>
          <a:xfrm>
            <a:off x="7818120" y="4828032"/>
            <a:ext cx="3529584" cy="1280160"/>
          </a:xfrm>
          <a:prstGeom prst="rect">
            <a:avLst/>
          </a:prstGeom>
          <a:noFill/>
          <a:ln/>
        </p:spPr>
        <p:txBody>
          <a:bodyPr wrap="square" lIns="0" tIns="0" rIns="0" bIns="0" rtlCol="0" anchor="t"/>
          <a:lstStyle/>
          <a:p>
            <a:pPr indent="0" marL="0">
              <a:lnSpc>
                <a:spcPts val="2200"/>
              </a:lnSpc>
              <a:buNone/>
            </a:pPr>
            <a:r>
              <a:rPr lang="en-US" sz="1550" i="1" dirty="0">
                <a:solidFill>
                  <a:srgbClr val="FFFFFF"/>
                </a:solidFill>
                <a:latin typeface="Cambria" pitchFamily="34" charset="0"/>
                <a:ea typeface="Cambria" pitchFamily="34" charset="-122"/>
                <a:cs typeface="Cambria" pitchFamily="34" charset="-120"/>
              </a:rPr>
              <a:t>The goal is not a smaller invoice. It is an invoice with nothing in it you have not already seen, explained and decided about.</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GOVERNANCE — THE AI LINE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AI is repeating the cloud journey, at speed</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The same three failures — no owner, no attribution, no ceiling — arriving on a much shorter clock.</a:t>
            </a:r>
            <a:endParaRPr lang="en-US" sz="1500" dirty="0"/>
          </a:p>
        </p:txBody>
      </p:sp>
      <p:sp>
        <p:nvSpPr>
          <p:cNvPr id="5" name="Shape 3"/>
          <p:cNvSpPr/>
          <p:nvPr/>
        </p:nvSpPr>
        <p:spPr>
          <a:xfrm>
            <a:off x="548640" y="2121408"/>
            <a:ext cx="2587752" cy="2194560"/>
          </a:xfrm>
          <a:prstGeom prst="roundRect">
            <a:avLst>
              <a:gd name="adj" fmla="val 3750"/>
            </a:avLst>
          </a:prstGeom>
          <a:solidFill>
            <a:srgbClr val="F1F3F6"/>
          </a:solidFill>
          <a:ln/>
        </p:spPr>
      </p:sp>
      <p:sp>
        <p:nvSpPr>
          <p:cNvPr id="6" name="Text 4"/>
          <p:cNvSpPr/>
          <p:nvPr/>
        </p:nvSpPr>
        <p:spPr>
          <a:xfrm>
            <a:off x="804672" y="2286000"/>
            <a:ext cx="2103120" cy="640080"/>
          </a:xfrm>
          <a:prstGeom prst="rect">
            <a:avLst/>
          </a:prstGeom>
          <a:noFill/>
          <a:ln/>
        </p:spPr>
        <p:txBody>
          <a:bodyPr wrap="square" lIns="0" tIns="0" rIns="0" bIns="0" rtlCol="0" anchor="ctr"/>
          <a:lstStyle/>
          <a:p>
            <a:pPr indent="0" marL="0">
              <a:buNone/>
            </a:pPr>
            <a:r>
              <a:rPr lang="en-US" sz="3200" b="1" dirty="0">
                <a:solidFill>
                  <a:srgbClr val="A6432F"/>
                </a:solidFill>
                <a:latin typeface="Cambria" pitchFamily="34" charset="0"/>
                <a:ea typeface="Cambria" pitchFamily="34" charset="-122"/>
                <a:cs typeface="Cambria" pitchFamily="34" charset="-120"/>
              </a:rPr>
              <a:t>72%</a:t>
            </a:r>
            <a:endParaRPr lang="en-US" sz="3200" dirty="0"/>
          </a:p>
        </p:txBody>
      </p:sp>
      <p:sp>
        <p:nvSpPr>
          <p:cNvPr id="7" name="Text 5"/>
          <p:cNvSpPr/>
          <p:nvPr/>
        </p:nvSpPr>
        <p:spPr>
          <a:xfrm>
            <a:off x="80467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hit an unexpected AI bill in the past year</a:t>
            </a:r>
            <a:endParaRPr lang="en-US" sz="1300" dirty="0"/>
          </a:p>
        </p:txBody>
      </p:sp>
      <p:sp>
        <p:nvSpPr>
          <p:cNvPr id="8" name="Text 6"/>
          <p:cNvSpPr/>
          <p:nvPr/>
        </p:nvSpPr>
        <p:spPr>
          <a:xfrm>
            <a:off x="80467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One in three, more than once.</a:t>
            </a:r>
            <a:endParaRPr lang="en-US" sz="1100" dirty="0"/>
          </a:p>
        </p:txBody>
      </p:sp>
      <p:sp>
        <p:nvSpPr>
          <p:cNvPr id="9" name="Shape 7"/>
          <p:cNvSpPr/>
          <p:nvPr/>
        </p:nvSpPr>
        <p:spPr>
          <a:xfrm>
            <a:off x="3383280" y="2121408"/>
            <a:ext cx="2587752" cy="2194560"/>
          </a:xfrm>
          <a:prstGeom prst="roundRect">
            <a:avLst>
              <a:gd name="adj" fmla="val 3750"/>
            </a:avLst>
          </a:prstGeom>
          <a:solidFill>
            <a:srgbClr val="F1F3F6"/>
          </a:solidFill>
          <a:ln/>
        </p:spPr>
      </p:sp>
      <p:sp>
        <p:nvSpPr>
          <p:cNvPr id="10" name="Text 8"/>
          <p:cNvSpPr/>
          <p:nvPr/>
        </p:nvSpPr>
        <p:spPr>
          <a:xfrm>
            <a:off x="363931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52%</a:t>
            </a:r>
            <a:endParaRPr lang="en-US" sz="3200" dirty="0"/>
          </a:p>
        </p:txBody>
      </p:sp>
      <p:sp>
        <p:nvSpPr>
          <p:cNvPr id="11" name="Text 9"/>
          <p:cNvSpPr/>
          <p:nvPr/>
        </p:nvSpPr>
        <p:spPr>
          <a:xfrm>
            <a:off x="363931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have no clear owner for AI cost</a:t>
            </a:r>
            <a:endParaRPr lang="en-US" sz="1300" dirty="0"/>
          </a:p>
        </p:txBody>
      </p:sp>
      <p:sp>
        <p:nvSpPr>
          <p:cNvPr id="12" name="Text 10"/>
          <p:cNvSpPr/>
          <p:nvPr/>
        </p:nvSpPr>
        <p:spPr>
          <a:xfrm>
            <a:off x="363931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Split across engineering, FinOps, finance and IT.</a:t>
            </a:r>
            <a:endParaRPr lang="en-US" sz="1100" dirty="0"/>
          </a:p>
        </p:txBody>
      </p:sp>
      <p:sp>
        <p:nvSpPr>
          <p:cNvPr id="13" name="Shape 11"/>
          <p:cNvSpPr/>
          <p:nvPr/>
        </p:nvSpPr>
        <p:spPr>
          <a:xfrm>
            <a:off x="6217920" y="2121408"/>
            <a:ext cx="2587752" cy="2194560"/>
          </a:xfrm>
          <a:prstGeom prst="roundRect">
            <a:avLst>
              <a:gd name="adj" fmla="val 3750"/>
            </a:avLst>
          </a:prstGeom>
          <a:solidFill>
            <a:srgbClr val="F1F3F6"/>
          </a:solidFill>
          <a:ln/>
        </p:spPr>
      </p:sp>
      <p:sp>
        <p:nvSpPr>
          <p:cNvPr id="14" name="Text 12"/>
          <p:cNvSpPr/>
          <p:nvPr/>
        </p:nvSpPr>
        <p:spPr>
          <a:xfrm>
            <a:off x="6473952" y="2286000"/>
            <a:ext cx="2103120" cy="640080"/>
          </a:xfrm>
          <a:prstGeom prst="rect">
            <a:avLst/>
          </a:prstGeom>
          <a:noFill/>
          <a:ln/>
        </p:spPr>
        <p:txBody>
          <a:bodyPr wrap="square" lIns="0" tIns="0" rIns="0" bIns="0" rtlCol="0" anchor="ctr"/>
          <a:lstStyle/>
          <a:p>
            <a:pPr indent="0" marL="0">
              <a:buNone/>
            </a:pPr>
            <a:r>
              <a:rPr lang="en-US" sz="3200" b="1" dirty="0">
                <a:solidFill>
                  <a:srgbClr val="E39B2C"/>
                </a:solidFill>
                <a:latin typeface="Cambria" pitchFamily="34" charset="0"/>
                <a:ea typeface="Cambria" pitchFamily="34" charset="-122"/>
                <a:cs typeface="Cambria" pitchFamily="34" charset="-120"/>
              </a:rPr>
              <a:t>4 in 5</a:t>
            </a:r>
            <a:endParaRPr lang="en-US" sz="3200" dirty="0"/>
          </a:p>
        </p:txBody>
      </p:sp>
      <p:sp>
        <p:nvSpPr>
          <p:cNvPr id="15" name="Text 13"/>
          <p:cNvSpPr/>
          <p:nvPr/>
        </p:nvSpPr>
        <p:spPr>
          <a:xfrm>
            <a:off x="647395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need a day or more to trace a spike to its source</a:t>
            </a:r>
            <a:endParaRPr lang="en-US" sz="1300" dirty="0"/>
          </a:p>
        </p:txBody>
      </p:sp>
      <p:sp>
        <p:nvSpPr>
          <p:cNvPr id="16" name="Text 14"/>
          <p:cNvSpPr/>
          <p:nvPr/>
        </p:nvSpPr>
        <p:spPr>
          <a:xfrm>
            <a:off x="647395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Only about one in five manage it within hours.</a:t>
            </a:r>
            <a:endParaRPr lang="en-US" sz="1100" dirty="0"/>
          </a:p>
        </p:txBody>
      </p:sp>
      <p:sp>
        <p:nvSpPr>
          <p:cNvPr id="17" name="Shape 15"/>
          <p:cNvSpPr/>
          <p:nvPr/>
        </p:nvSpPr>
        <p:spPr>
          <a:xfrm>
            <a:off x="9052560" y="2121408"/>
            <a:ext cx="2587752" cy="2194560"/>
          </a:xfrm>
          <a:prstGeom prst="roundRect">
            <a:avLst>
              <a:gd name="adj" fmla="val 3750"/>
            </a:avLst>
          </a:prstGeom>
          <a:solidFill>
            <a:srgbClr val="F1F3F6"/>
          </a:solidFill>
          <a:ln/>
        </p:spPr>
      </p:sp>
      <p:sp>
        <p:nvSpPr>
          <p:cNvPr id="18" name="Text 16"/>
          <p:cNvSpPr/>
          <p:nvPr/>
        </p:nvSpPr>
        <p:spPr>
          <a:xfrm>
            <a:off x="9308592" y="2286000"/>
            <a:ext cx="2103120" cy="640080"/>
          </a:xfrm>
          <a:prstGeom prst="rect">
            <a:avLst/>
          </a:prstGeom>
          <a:noFill/>
          <a:ln/>
        </p:spPr>
        <p:txBody>
          <a:bodyPr wrap="square" lIns="0" tIns="0" rIns="0" bIns="0" rtlCol="0" anchor="ctr"/>
          <a:lstStyle/>
          <a:p>
            <a:pPr indent="0" marL="0">
              <a:buNone/>
            </a:pPr>
            <a:r>
              <a:rPr lang="en-US" sz="3200" b="1" dirty="0">
                <a:solidFill>
                  <a:srgbClr val="5C6675"/>
                </a:solidFill>
                <a:latin typeface="Cambria" pitchFamily="34" charset="0"/>
                <a:ea typeface="Cambria" pitchFamily="34" charset="-122"/>
                <a:cs typeface="Cambria" pitchFamily="34" charset="-120"/>
              </a:rPr>
              <a:t>26%</a:t>
            </a:r>
            <a:endParaRPr lang="en-US" sz="3200" dirty="0"/>
          </a:p>
        </p:txBody>
      </p:sp>
      <p:sp>
        <p:nvSpPr>
          <p:cNvPr id="19" name="Text 17"/>
          <p:cNvSpPr/>
          <p:nvPr/>
        </p:nvSpPr>
        <p:spPr>
          <a:xfrm>
            <a:off x="9308592" y="2962656"/>
            <a:ext cx="2103120" cy="777240"/>
          </a:xfrm>
          <a:prstGeom prst="rect">
            <a:avLst/>
          </a:prstGeom>
          <a:noFill/>
          <a:ln/>
        </p:spPr>
        <p:txBody>
          <a:bodyPr wrap="square" lIns="0" tIns="0" rIns="0" bIns="0" rtlCol="0" anchor="t"/>
          <a:lstStyle/>
          <a:p>
            <a:pPr indent="0" marL="0">
              <a:lnSpc>
                <a:spcPts val="1700"/>
              </a:lnSpc>
              <a:buNone/>
            </a:pPr>
            <a:r>
              <a:rPr lang="en-US" sz="1300" dirty="0">
                <a:solidFill>
                  <a:srgbClr val="1B2430"/>
                </a:solidFill>
                <a:latin typeface="Calibri" pitchFamily="34" charset="0"/>
                <a:ea typeface="Calibri" pitchFamily="34" charset="-122"/>
                <a:cs typeface="Calibri" pitchFamily="34" charset="-120"/>
              </a:rPr>
              <a:t>of AI spend estimated wasted</a:t>
            </a:r>
            <a:endParaRPr lang="en-US" sz="1300" dirty="0"/>
          </a:p>
        </p:txBody>
      </p:sp>
      <p:sp>
        <p:nvSpPr>
          <p:cNvPr id="20" name="Text 18"/>
          <p:cNvSpPr/>
          <p:nvPr/>
        </p:nvSpPr>
        <p:spPr>
          <a:xfrm>
            <a:off x="9308592" y="3712464"/>
            <a:ext cx="2103120" cy="512064"/>
          </a:xfrm>
          <a:prstGeom prst="rect">
            <a:avLst/>
          </a:prstGeom>
          <a:noFill/>
          <a:ln/>
        </p:spPr>
        <p:txBody>
          <a:bodyPr wrap="square" lIns="0" tIns="0" rIns="0" bIns="0" rtlCol="0" anchor="t"/>
          <a:lstStyle/>
          <a:p>
            <a:pPr indent="0" marL="0">
              <a:lnSpc>
                <a:spcPts val="1400"/>
              </a:lnSpc>
              <a:buNone/>
            </a:pPr>
            <a:r>
              <a:rPr lang="en-US" sz="1100" dirty="0">
                <a:solidFill>
                  <a:srgbClr val="5C6675"/>
                </a:solidFill>
                <a:latin typeface="Calibri" pitchFamily="34" charset="0"/>
                <a:ea typeface="Calibri" pitchFamily="34" charset="-122"/>
                <a:cs typeface="Calibri" pitchFamily="34" charset="-120"/>
              </a:rPr>
              <a:t>Respondents' own estimate, not a measurement.</a:t>
            </a:r>
            <a:endParaRPr lang="en-US" sz="1100" dirty="0"/>
          </a:p>
        </p:txBody>
      </p:sp>
      <p:sp>
        <p:nvSpPr>
          <p:cNvPr id="21" name="Shape 19"/>
          <p:cNvSpPr/>
          <p:nvPr/>
        </p:nvSpPr>
        <p:spPr>
          <a:xfrm>
            <a:off x="548640" y="4572000"/>
            <a:ext cx="6675120" cy="1481328"/>
          </a:xfrm>
          <a:prstGeom prst="roundRect">
            <a:avLst>
              <a:gd name="adj" fmla="val 5556"/>
            </a:avLst>
          </a:prstGeom>
          <a:solidFill>
            <a:srgbClr val="1F2936"/>
          </a:solidFill>
          <a:ln/>
          <a:effectLst>
            <a:outerShdw sx="100000" sy="100000" kx="0" ky="0" algn="bl" rotWithShape="0" blurRad="127000" dist="25400" dir="5400000">
              <a:srgbClr val="8C99A8">
                <a:alpha val="16000"/>
              </a:srgbClr>
            </a:outerShdw>
          </a:effectLst>
        </p:spPr>
      </p:sp>
      <p:sp>
        <p:nvSpPr>
          <p:cNvPr id="22" name="Text 20"/>
          <p:cNvSpPr/>
          <p:nvPr/>
        </p:nvSpPr>
        <p:spPr>
          <a:xfrm>
            <a:off x="859536" y="4736592"/>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number to manage</a:t>
            </a:r>
            <a:endParaRPr lang="en-US" sz="1200" dirty="0"/>
          </a:p>
        </p:txBody>
      </p:sp>
      <p:sp>
        <p:nvSpPr>
          <p:cNvPr id="23" name="Text 21"/>
          <p:cNvSpPr/>
          <p:nvPr/>
        </p:nvSpPr>
        <p:spPr>
          <a:xfrm>
            <a:off x="859536" y="5065776"/>
            <a:ext cx="6053328" cy="877824"/>
          </a:xfrm>
          <a:prstGeom prst="rect">
            <a:avLst/>
          </a:prstGeom>
          <a:noFill/>
          <a:ln/>
        </p:spPr>
        <p:txBody>
          <a:bodyPr wrap="square" lIns="0" tIns="0" rIns="0" bIns="0" rtlCol="0" anchor="t"/>
          <a:lstStyle/>
          <a:p>
            <a:pPr indent="0" marL="0">
              <a:lnSpc>
                <a:spcPts val="1900"/>
              </a:lnSpc>
              <a:buNone/>
            </a:pPr>
            <a:r>
              <a:rPr lang="en-US" sz="1350" b="1" dirty="0">
                <a:solidFill>
                  <a:srgbClr val="FFFFFF"/>
                </a:solidFill>
                <a:latin typeface="Calibri" pitchFamily="34" charset="0"/>
                <a:ea typeface="Calibri" pitchFamily="34" charset="-122"/>
                <a:cs typeface="Calibri" pitchFamily="34" charset="-120"/>
              </a:rPr>
              <a:t>Time to attribute a spike. </a:t>
            </a:r>
            <a:pPr indent="0" marL="0">
              <a:lnSpc>
                <a:spcPts val="1900"/>
              </a:lnSpc>
              <a:buNone/>
            </a:pPr>
            <a:r>
              <a:rPr lang="en-US" sz="1350" dirty="0">
                <a:solidFill>
                  <a:srgbClr val="9EABBA"/>
                </a:solidFill>
                <a:latin typeface="Calibri" pitchFamily="34" charset="0"/>
                <a:ea typeface="Calibri" pitchFamily="34" charset="-122"/>
                <a:cs typeface="Calibri" pitchFamily="34" charset="-120"/>
              </a:rPr>
              <a:t>It turns an argument about governance into a number we can move — days today, hours as the target — and it is the one metric a runaway AI workload is measured against.</a:t>
            </a:r>
            <a:endParaRPr lang="en-US" sz="1350" dirty="0"/>
          </a:p>
        </p:txBody>
      </p:sp>
      <p:sp>
        <p:nvSpPr>
          <p:cNvPr id="24" name="Shape 22"/>
          <p:cNvSpPr/>
          <p:nvPr/>
        </p:nvSpPr>
        <p:spPr>
          <a:xfrm>
            <a:off x="7525512" y="4572000"/>
            <a:ext cx="4114800" cy="1481328"/>
          </a:xfrm>
          <a:prstGeom prst="roundRect">
            <a:avLst>
              <a:gd name="adj" fmla="val 5556"/>
            </a:avLst>
          </a:prstGeom>
          <a:solidFill>
            <a:srgbClr val="FBEFD8"/>
          </a:solidFill>
          <a:ln/>
        </p:spPr>
      </p:sp>
      <p:sp>
        <p:nvSpPr>
          <p:cNvPr id="25" name="Text 23"/>
          <p:cNvSpPr/>
          <p:nvPr/>
        </p:nvSpPr>
        <p:spPr>
          <a:xfrm>
            <a:off x="7836408" y="4736592"/>
            <a:ext cx="3657600" cy="292608"/>
          </a:xfrm>
          <a:prstGeom prst="rect">
            <a:avLst/>
          </a:prstGeom>
          <a:noFill/>
          <a:ln/>
        </p:spPr>
        <p:txBody>
          <a:bodyPr wrap="square" lIns="0" tIns="0" rIns="0" bIns="0" rtlCol="0" anchor="ctr"/>
          <a:lstStyle/>
          <a:p>
            <a:pPr indent="0" marL="0">
              <a:buNone/>
            </a:pPr>
            <a:r>
              <a:rPr lang="en-US" sz="1200" b="1" spc="180" kern="0" dirty="0">
                <a:solidFill>
                  <a:srgbClr val="6B4A0E"/>
                </a:solidFill>
                <a:latin typeface="Calibri" pitchFamily="34" charset="0"/>
                <a:ea typeface="Calibri" pitchFamily="34" charset="-122"/>
                <a:cs typeface="Calibri" pitchFamily="34" charset="-120"/>
              </a:rPr>
              <a:t>Why a rollup will not do it</a:t>
            </a:r>
            <a:endParaRPr lang="en-US" sz="1200" dirty="0"/>
          </a:p>
        </p:txBody>
      </p:sp>
      <p:sp>
        <p:nvSpPr>
          <p:cNvPr id="26" name="Text 24"/>
          <p:cNvSpPr/>
          <p:nvPr/>
        </p:nvSpPr>
        <p:spPr>
          <a:xfrm>
            <a:off x="7836408" y="5065776"/>
            <a:ext cx="3529584" cy="877824"/>
          </a:xfrm>
          <a:prstGeom prst="rect">
            <a:avLst/>
          </a:prstGeom>
          <a:noFill/>
          <a:ln/>
        </p:spPr>
        <p:txBody>
          <a:bodyPr wrap="square" lIns="0" tIns="0" rIns="0" bIns="0" rtlCol="0" anchor="t"/>
          <a:lstStyle/>
          <a:p>
            <a:pPr indent="0" marL="0">
              <a:lnSpc>
                <a:spcPts val="1700"/>
              </a:lnSpc>
              <a:buNone/>
            </a:pPr>
            <a:r>
              <a:rPr lang="en-US" sz="1250" dirty="0">
                <a:solidFill>
                  <a:srgbClr val="6B4A0E"/>
                </a:solidFill>
                <a:latin typeface="Calibri" pitchFamily="34" charset="0"/>
                <a:ea typeface="Calibri" pitchFamily="34" charset="-122"/>
                <a:cs typeface="Calibri" pitchFamily="34" charset="-120"/>
              </a:rPr>
              <a:t>AI waste hides in prompt design, model choice and retry logic. A monthly bill by resource cannot name the caller — that needs per-consumer token attribution.</a:t>
            </a:r>
            <a:endParaRPr lang="en-US" sz="1250" dirty="0"/>
          </a:p>
        </p:txBody>
      </p:sp>
      <p:sp>
        <p:nvSpPr>
          <p:cNvPr id="27" name="Text 25"/>
          <p:cNvSpPr/>
          <p:nvPr/>
        </p:nvSpPr>
        <p:spPr>
          <a:xfrm>
            <a:off x="548640" y="6199632"/>
            <a:ext cx="11091672" cy="457200"/>
          </a:xfrm>
          <a:prstGeom prst="rect">
            <a:avLst/>
          </a:prstGeom>
          <a:noFill/>
          <a:ln/>
        </p:spPr>
        <p:txBody>
          <a:bodyPr wrap="square" lIns="0" tIns="0" rIns="0" bIns="0" rtlCol="0" anchor="ctr"/>
          <a:lstStyle/>
          <a:p>
            <a:pPr indent="0" marL="0">
              <a:buNone/>
            </a:pPr>
            <a:r>
              <a:rPr lang="en-US" sz="1050" dirty="0">
                <a:solidFill>
                  <a:srgbClr val="5C6675"/>
                </a:solidFill>
                <a:latin typeface="Calibri" pitchFamily="34" charset="0"/>
                <a:ea typeface="Calibri" pitchFamily="34" charset="-122"/>
                <a:cs typeface="Calibri" pitchFamily="34" charset="-120"/>
              </a:rPr>
              <a:t>Harness / Sapio Research, 2026 State of AI in FinOps — 700 engineering leaders and practitioners, May–June 2026. Vendor-sponsored research; the waste and maturity figures are self-reported estimates.</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OPERATE — RUNNING THE PRACTICE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Ship the insight, don't just publish it</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 report tells someone a number. Only a change in what they do next reaches the bill.</a:t>
            </a:r>
            <a:endParaRPr lang="en-US" sz="1500" dirty="0"/>
          </a:p>
        </p:txBody>
      </p:sp>
      <p:sp>
        <p:nvSpPr>
          <p:cNvPr id="5" name="Shape 3"/>
          <p:cNvSpPr/>
          <p:nvPr/>
        </p:nvSpPr>
        <p:spPr>
          <a:xfrm>
            <a:off x="548640" y="2286000"/>
            <a:ext cx="1700784" cy="960120"/>
          </a:xfrm>
          <a:prstGeom prst="roundRect">
            <a:avLst>
              <a:gd name="adj" fmla="val 8571"/>
            </a:avLst>
          </a:prstGeom>
          <a:solidFill>
            <a:srgbClr val="F1F3F6"/>
          </a:solidFill>
          <a:ln/>
        </p:spPr>
      </p:sp>
      <p:sp>
        <p:nvSpPr>
          <p:cNvPr id="6" name="Text 4"/>
          <p:cNvSpPr/>
          <p:nvPr/>
        </p:nvSpPr>
        <p:spPr>
          <a:xfrm>
            <a:off x="54864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Finding</a:t>
            </a:r>
            <a:endParaRPr lang="en-US" sz="1350" dirty="0"/>
          </a:p>
        </p:txBody>
      </p:sp>
      <p:sp>
        <p:nvSpPr>
          <p:cNvPr id="7" name="Text 5"/>
          <p:cNvSpPr/>
          <p:nvPr/>
        </p:nvSpPr>
        <p:spPr>
          <a:xfrm>
            <a:off x="6400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the dashboard flags it</a:t>
            </a:r>
            <a:endParaRPr lang="en-US" sz="1100" dirty="0"/>
          </a:p>
        </p:txBody>
      </p:sp>
      <p:sp>
        <p:nvSpPr>
          <p:cNvPr id="8" name="Shape 6"/>
          <p:cNvSpPr/>
          <p:nvPr/>
        </p:nvSpPr>
        <p:spPr>
          <a:xfrm>
            <a:off x="2267712" y="2688336"/>
            <a:ext cx="137160" cy="146304"/>
          </a:xfrm>
          <a:prstGeom prst="rightArrow">
            <a:avLst/>
          </a:prstGeom>
          <a:solidFill>
            <a:srgbClr val="C3CBD5"/>
          </a:solidFill>
          <a:ln/>
        </p:spPr>
      </p:sp>
      <p:sp>
        <p:nvSpPr>
          <p:cNvPr id="9" name="Shape 7"/>
          <p:cNvSpPr/>
          <p:nvPr/>
        </p:nvSpPr>
        <p:spPr>
          <a:xfrm>
            <a:off x="2423160" y="2286000"/>
            <a:ext cx="1700784" cy="960120"/>
          </a:xfrm>
          <a:prstGeom prst="roundRect">
            <a:avLst>
              <a:gd name="adj" fmla="val 8571"/>
            </a:avLst>
          </a:prstGeom>
          <a:solidFill>
            <a:srgbClr val="F1F3F6"/>
          </a:solidFill>
          <a:ln/>
        </p:spPr>
      </p:sp>
      <p:sp>
        <p:nvSpPr>
          <p:cNvPr id="10" name="Text 8"/>
          <p:cNvSpPr/>
          <p:nvPr/>
        </p:nvSpPr>
        <p:spPr>
          <a:xfrm>
            <a:off x="242316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Named owner</a:t>
            </a:r>
            <a:endParaRPr lang="en-US" sz="1350" dirty="0"/>
          </a:p>
        </p:txBody>
      </p:sp>
      <p:sp>
        <p:nvSpPr>
          <p:cNvPr id="11" name="Text 9"/>
          <p:cNvSpPr/>
          <p:nvPr/>
        </p:nvSpPr>
        <p:spPr>
          <a:xfrm>
            <a:off x="251460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one person, not a team</a:t>
            </a:r>
            <a:endParaRPr lang="en-US" sz="1100" dirty="0"/>
          </a:p>
        </p:txBody>
      </p:sp>
      <p:sp>
        <p:nvSpPr>
          <p:cNvPr id="12" name="Shape 10"/>
          <p:cNvSpPr/>
          <p:nvPr/>
        </p:nvSpPr>
        <p:spPr>
          <a:xfrm>
            <a:off x="4142232" y="2688336"/>
            <a:ext cx="137160" cy="146304"/>
          </a:xfrm>
          <a:prstGeom prst="rightArrow">
            <a:avLst/>
          </a:prstGeom>
          <a:solidFill>
            <a:srgbClr val="C3CBD5"/>
          </a:solidFill>
          <a:ln/>
        </p:spPr>
      </p:sp>
      <p:sp>
        <p:nvSpPr>
          <p:cNvPr id="13" name="Shape 11"/>
          <p:cNvSpPr/>
          <p:nvPr/>
        </p:nvSpPr>
        <p:spPr>
          <a:xfrm>
            <a:off x="4297680" y="2286000"/>
            <a:ext cx="1700784" cy="960120"/>
          </a:xfrm>
          <a:prstGeom prst="roundRect">
            <a:avLst>
              <a:gd name="adj" fmla="val 8571"/>
            </a:avLst>
          </a:prstGeom>
          <a:solidFill>
            <a:srgbClr val="F1F3F6"/>
          </a:solidFill>
          <a:ln/>
        </p:spPr>
      </p:sp>
      <p:sp>
        <p:nvSpPr>
          <p:cNvPr id="14" name="Text 12"/>
          <p:cNvSpPr/>
          <p:nvPr/>
        </p:nvSpPr>
        <p:spPr>
          <a:xfrm>
            <a:off x="429768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Sized</a:t>
            </a:r>
            <a:endParaRPr lang="en-US" sz="1350" dirty="0"/>
          </a:p>
        </p:txBody>
      </p:sp>
      <p:sp>
        <p:nvSpPr>
          <p:cNvPr id="15" name="Text 13"/>
          <p:cNvSpPr/>
          <p:nvPr/>
        </p:nvSpPr>
        <p:spPr>
          <a:xfrm>
            <a:off x="438912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what it is worth</a:t>
            </a:r>
            <a:endParaRPr lang="en-US" sz="1100" dirty="0"/>
          </a:p>
        </p:txBody>
      </p:sp>
      <p:sp>
        <p:nvSpPr>
          <p:cNvPr id="16" name="Shape 14"/>
          <p:cNvSpPr/>
          <p:nvPr/>
        </p:nvSpPr>
        <p:spPr>
          <a:xfrm>
            <a:off x="6016752" y="2688336"/>
            <a:ext cx="137160" cy="146304"/>
          </a:xfrm>
          <a:prstGeom prst="rightArrow">
            <a:avLst/>
          </a:prstGeom>
          <a:solidFill>
            <a:srgbClr val="C3CBD5"/>
          </a:solidFill>
          <a:ln/>
        </p:spPr>
      </p:sp>
      <p:sp>
        <p:nvSpPr>
          <p:cNvPr id="17" name="Shape 15"/>
          <p:cNvSpPr/>
          <p:nvPr/>
        </p:nvSpPr>
        <p:spPr>
          <a:xfrm>
            <a:off x="6172200" y="2286000"/>
            <a:ext cx="1700784" cy="960120"/>
          </a:xfrm>
          <a:prstGeom prst="roundRect">
            <a:avLst>
              <a:gd name="adj" fmla="val 8571"/>
            </a:avLst>
          </a:prstGeom>
          <a:solidFill>
            <a:srgbClr val="F1F3F6"/>
          </a:solidFill>
          <a:ln/>
        </p:spPr>
      </p:sp>
      <p:sp>
        <p:nvSpPr>
          <p:cNvPr id="18" name="Text 16"/>
          <p:cNvSpPr/>
          <p:nvPr/>
        </p:nvSpPr>
        <p:spPr>
          <a:xfrm>
            <a:off x="617220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Target date</a:t>
            </a:r>
            <a:endParaRPr lang="en-US" sz="1350" dirty="0"/>
          </a:p>
        </p:txBody>
      </p:sp>
      <p:sp>
        <p:nvSpPr>
          <p:cNvPr id="19" name="Text 17"/>
          <p:cNvSpPr/>
          <p:nvPr/>
        </p:nvSpPr>
        <p:spPr>
          <a:xfrm>
            <a:off x="626364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when, not someday</a:t>
            </a:r>
            <a:endParaRPr lang="en-US" sz="1100" dirty="0"/>
          </a:p>
        </p:txBody>
      </p:sp>
      <p:sp>
        <p:nvSpPr>
          <p:cNvPr id="20" name="Shape 18"/>
          <p:cNvSpPr/>
          <p:nvPr/>
        </p:nvSpPr>
        <p:spPr>
          <a:xfrm>
            <a:off x="7891272" y="2688336"/>
            <a:ext cx="137160" cy="146304"/>
          </a:xfrm>
          <a:prstGeom prst="rightArrow">
            <a:avLst/>
          </a:prstGeom>
          <a:solidFill>
            <a:srgbClr val="C3CBD5"/>
          </a:solidFill>
          <a:ln/>
        </p:spPr>
      </p:sp>
      <p:sp>
        <p:nvSpPr>
          <p:cNvPr id="21" name="Shape 19"/>
          <p:cNvSpPr/>
          <p:nvPr/>
        </p:nvSpPr>
        <p:spPr>
          <a:xfrm>
            <a:off x="8046720" y="2286000"/>
            <a:ext cx="1700784" cy="960120"/>
          </a:xfrm>
          <a:prstGeom prst="roundRect">
            <a:avLst>
              <a:gd name="adj" fmla="val 8571"/>
            </a:avLst>
          </a:prstGeom>
          <a:solidFill>
            <a:srgbClr val="F1F3F6"/>
          </a:solidFill>
          <a:ln/>
        </p:spPr>
      </p:sp>
      <p:sp>
        <p:nvSpPr>
          <p:cNvPr id="22" name="Text 20"/>
          <p:cNvSpPr/>
          <p:nvPr/>
        </p:nvSpPr>
        <p:spPr>
          <a:xfrm>
            <a:off x="8046720" y="2395728"/>
            <a:ext cx="1700784" cy="329184"/>
          </a:xfrm>
          <a:prstGeom prst="rect">
            <a:avLst/>
          </a:prstGeom>
          <a:noFill/>
          <a:ln/>
        </p:spPr>
        <p:txBody>
          <a:bodyPr wrap="square" lIns="0" tIns="0" rIns="0" bIns="0" rtlCol="0" anchor="ctr"/>
          <a:lstStyle/>
          <a:p>
            <a:pPr algn="ctr" indent="0" marL="0">
              <a:buNone/>
            </a:pPr>
            <a:r>
              <a:rPr lang="en-US" sz="1350" b="1" dirty="0">
                <a:solidFill>
                  <a:srgbClr val="1B2430"/>
                </a:solidFill>
                <a:latin typeface="Calibri" pitchFamily="34" charset="0"/>
                <a:ea typeface="Calibri" pitchFamily="34" charset="-122"/>
                <a:cs typeface="Calibri" pitchFamily="34" charset="-120"/>
              </a:rPr>
              <a:t>Reviewed</a:t>
            </a:r>
            <a:endParaRPr lang="en-US" sz="1350" dirty="0"/>
          </a:p>
        </p:txBody>
      </p:sp>
      <p:sp>
        <p:nvSpPr>
          <p:cNvPr id="23" name="Text 21"/>
          <p:cNvSpPr/>
          <p:nvPr/>
        </p:nvSpPr>
        <p:spPr>
          <a:xfrm>
            <a:off x="813816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5C6675"/>
                </a:solidFill>
                <a:latin typeface="Calibri" pitchFamily="34" charset="0"/>
                <a:ea typeface="Calibri" pitchFamily="34" charset="-122"/>
                <a:cs typeface="Calibri" pitchFamily="34" charset="-120"/>
              </a:rPr>
              <a:t>did it happen</a:t>
            </a:r>
            <a:endParaRPr lang="en-US" sz="1100" dirty="0"/>
          </a:p>
        </p:txBody>
      </p:sp>
      <p:sp>
        <p:nvSpPr>
          <p:cNvPr id="24" name="Shape 22"/>
          <p:cNvSpPr/>
          <p:nvPr/>
        </p:nvSpPr>
        <p:spPr>
          <a:xfrm>
            <a:off x="9765792" y="2688336"/>
            <a:ext cx="137160" cy="146304"/>
          </a:xfrm>
          <a:prstGeom prst="rightArrow">
            <a:avLst/>
          </a:prstGeom>
          <a:solidFill>
            <a:srgbClr val="C3CBD5"/>
          </a:solidFill>
          <a:ln/>
        </p:spPr>
      </p:sp>
      <p:sp>
        <p:nvSpPr>
          <p:cNvPr id="25" name="Shape 23"/>
          <p:cNvSpPr/>
          <p:nvPr/>
        </p:nvSpPr>
        <p:spPr>
          <a:xfrm>
            <a:off x="9921240" y="2286000"/>
            <a:ext cx="1700784" cy="960120"/>
          </a:xfrm>
          <a:prstGeom prst="roundRect">
            <a:avLst>
              <a:gd name="adj" fmla="val 8571"/>
            </a:avLst>
          </a:prstGeom>
          <a:solidFill>
            <a:srgbClr val="1F2936"/>
          </a:solidFill>
          <a:ln/>
        </p:spPr>
      </p:sp>
      <p:sp>
        <p:nvSpPr>
          <p:cNvPr id="26" name="Text 24"/>
          <p:cNvSpPr/>
          <p:nvPr/>
        </p:nvSpPr>
        <p:spPr>
          <a:xfrm>
            <a:off x="9921240" y="2395728"/>
            <a:ext cx="1700784" cy="329184"/>
          </a:xfrm>
          <a:prstGeom prst="rect">
            <a:avLst/>
          </a:prstGeom>
          <a:noFill/>
          <a:ln/>
        </p:spPr>
        <p:txBody>
          <a:bodyPr wrap="square" lIns="0" tIns="0" rIns="0" bIns="0" rtlCol="0" anchor="ctr"/>
          <a:lstStyle/>
          <a:p>
            <a:pPr algn="ctr" indent="0" marL="0">
              <a:buNone/>
            </a:pPr>
            <a:r>
              <a:rPr lang="en-US" sz="1350" b="1" dirty="0">
                <a:solidFill>
                  <a:srgbClr val="E39B2C"/>
                </a:solidFill>
                <a:latin typeface="Calibri" pitchFamily="34" charset="0"/>
                <a:ea typeface="Calibri" pitchFamily="34" charset="-122"/>
                <a:cs typeface="Calibri" pitchFamily="34" charset="-120"/>
              </a:rPr>
              <a:t>Realized</a:t>
            </a:r>
            <a:endParaRPr lang="en-US" sz="1350" dirty="0"/>
          </a:p>
        </p:txBody>
      </p:sp>
      <p:sp>
        <p:nvSpPr>
          <p:cNvPr id="27" name="Text 25"/>
          <p:cNvSpPr/>
          <p:nvPr/>
        </p:nvSpPr>
        <p:spPr>
          <a:xfrm>
            <a:off x="10012680" y="2724912"/>
            <a:ext cx="1517904" cy="402336"/>
          </a:xfrm>
          <a:prstGeom prst="rect">
            <a:avLst/>
          </a:prstGeom>
          <a:noFill/>
          <a:ln/>
        </p:spPr>
        <p:txBody>
          <a:bodyPr wrap="square" lIns="0" tIns="0" rIns="0" bIns="0" rtlCol="0" anchor="t"/>
          <a:lstStyle/>
          <a:p>
            <a:pPr algn="ctr" indent="0" marL="0">
              <a:lnSpc>
                <a:spcPts val="1400"/>
              </a:lnSpc>
              <a:buNone/>
            </a:pPr>
            <a:r>
              <a:rPr lang="en-US" sz="1100" dirty="0">
                <a:solidFill>
                  <a:srgbClr val="9EABBA"/>
                </a:solidFill>
                <a:latin typeface="Calibri" pitchFamily="34" charset="0"/>
                <a:ea typeface="Calibri" pitchFamily="34" charset="-122"/>
                <a:cs typeface="Calibri" pitchFamily="34" charset="-120"/>
              </a:rPr>
              <a:t>measured on the bill</a:t>
            </a:r>
            <a:endParaRPr lang="en-US" sz="1100" dirty="0"/>
          </a:p>
        </p:txBody>
      </p:sp>
      <p:sp>
        <p:nvSpPr>
          <p:cNvPr id="28" name="Text 26"/>
          <p:cNvSpPr/>
          <p:nvPr/>
        </p:nvSpPr>
        <p:spPr>
          <a:xfrm>
            <a:off x="548640" y="3364992"/>
            <a:ext cx="11091672"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recommendation without an owner and a date is an opinion.</a:t>
            </a:r>
            <a:endParaRPr lang="en-US" sz="1250" dirty="0"/>
          </a:p>
        </p:txBody>
      </p:sp>
      <p:sp>
        <p:nvSpPr>
          <p:cNvPr id="29" name="Shape 27"/>
          <p:cNvSpPr/>
          <p:nvPr/>
        </p:nvSpPr>
        <p:spPr>
          <a:xfrm>
            <a:off x="548640" y="3913632"/>
            <a:ext cx="5394960" cy="2240280"/>
          </a:xfrm>
          <a:prstGeom prst="roundRect">
            <a:avLst>
              <a:gd name="adj" fmla="val 3673"/>
            </a:avLst>
          </a:prstGeom>
          <a:solidFill>
            <a:srgbClr val="F1F3F6"/>
          </a:solidFill>
          <a:ln/>
        </p:spPr>
      </p:sp>
      <p:sp>
        <p:nvSpPr>
          <p:cNvPr id="30" name="Text 28"/>
          <p:cNvSpPr/>
          <p:nvPr/>
        </p:nvSpPr>
        <p:spPr>
          <a:xfrm>
            <a:off x="859536" y="4078224"/>
            <a:ext cx="45720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The difference that matters</a:t>
            </a:r>
            <a:endParaRPr lang="en-US" sz="1200" dirty="0"/>
          </a:p>
        </p:txBody>
      </p:sp>
      <p:sp>
        <p:nvSpPr>
          <p:cNvPr id="31" name="Text 29"/>
          <p:cNvSpPr/>
          <p:nvPr/>
        </p:nvSpPr>
        <p:spPr>
          <a:xfrm>
            <a:off x="859536" y="442569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5C6675"/>
                </a:solidFill>
                <a:latin typeface="Calibri" pitchFamily="34" charset="0"/>
                <a:ea typeface="Calibri" pitchFamily="34" charset="-122"/>
                <a:cs typeface="Calibri" pitchFamily="34" charset="-120"/>
              </a:rPr>
              <a:t>A report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the number is right.</a:t>
            </a:r>
            <a:endParaRPr lang="en-US" sz="1400" dirty="0"/>
          </a:p>
        </p:txBody>
      </p:sp>
      <p:sp>
        <p:nvSpPr>
          <p:cNvPr id="32" name="Text 30"/>
          <p:cNvSpPr/>
          <p:nvPr/>
        </p:nvSpPr>
        <p:spPr>
          <a:xfrm>
            <a:off x="859536" y="4974336"/>
            <a:ext cx="4773168" cy="530352"/>
          </a:xfrm>
          <a:prstGeom prst="rect">
            <a:avLst/>
          </a:prstGeom>
          <a:noFill/>
          <a:ln/>
        </p:spPr>
        <p:txBody>
          <a:bodyPr wrap="square" lIns="0" tIns="0" rIns="0" bIns="0" rtlCol="0" anchor="t"/>
          <a:lstStyle/>
          <a:p>
            <a:pPr indent="0" marL="0">
              <a:lnSpc>
                <a:spcPts val="1900"/>
              </a:lnSpc>
              <a:buNone/>
            </a:pPr>
            <a:r>
              <a:rPr lang="en-US" sz="1400" b="1" dirty="0">
                <a:solidFill>
                  <a:srgbClr val="1B2430"/>
                </a:solidFill>
                <a:latin typeface="Calibri" pitchFamily="34" charset="0"/>
                <a:ea typeface="Calibri" pitchFamily="34" charset="-122"/>
                <a:cs typeface="Calibri" pitchFamily="34" charset="-120"/>
              </a:rPr>
              <a:t>A product  </a:t>
            </a:r>
            <a:pPr indent="0" marL="0">
              <a:lnSpc>
                <a:spcPts val="1900"/>
              </a:lnSpc>
              <a:buNone/>
            </a:pPr>
            <a:r>
              <a:rPr lang="en-US" sz="1400" dirty="0">
                <a:solidFill>
                  <a:srgbClr val="5C6675"/>
                </a:solidFill>
                <a:latin typeface="Calibri" pitchFamily="34" charset="0"/>
                <a:ea typeface="Calibri" pitchFamily="34" charset="-122"/>
                <a:cs typeface="Calibri" pitchFamily="34" charset="-120"/>
              </a:rPr>
              <a:t>is finished when someone behaves differently.</a:t>
            </a:r>
            <a:endParaRPr lang="en-US" sz="1400" dirty="0"/>
          </a:p>
        </p:txBody>
      </p:sp>
      <p:sp>
        <p:nvSpPr>
          <p:cNvPr id="33" name="Text 31"/>
          <p:cNvSpPr/>
          <p:nvPr/>
        </p:nvSpPr>
        <p:spPr>
          <a:xfrm>
            <a:off x="859536" y="5522976"/>
            <a:ext cx="4773168" cy="457200"/>
          </a:xfrm>
          <a:prstGeom prst="rect">
            <a:avLst/>
          </a:prstGeom>
          <a:noFill/>
          <a:ln/>
        </p:spPr>
        <p:txBody>
          <a:bodyPr wrap="square" lIns="0" tIns="0" rIns="0" bIns="0" rtlCol="0" anchor="t"/>
          <a:lstStyle/>
          <a:p>
            <a:pPr indent="0" marL="0">
              <a:lnSpc>
                <a:spcPts val="1600"/>
              </a:lnSpc>
              <a:buNone/>
            </a:pPr>
            <a:r>
              <a:rPr lang="en-US" sz="1250" dirty="0">
                <a:solidFill>
                  <a:srgbClr val="1B2430"/>
                </a:solidFill>
                <a:latin typeface="Calibri" pitchFamily="34" charset="0"/>
                <a:ea typeface="Calibri" pitchFamily="34" charset="-122"/>
                <a:cs typeface="Calibri" pitchFamily="34" charset="-120"/>
              </a:rPr>
              <a:t>Build for the engineer who wants the three things worth fixing this sprint — the finance report improves as a by-product.</a:t>
            </a:r>
            <a:endParaRPr lang="en-US" sz="1250" dirty="0"/>
          </a:p>
        </p:txBody>
      </p:sp>
      <p:sp>
        <p:nvSpPr>
          <p:cNvPr id="34" name="Shape 32"/>
          <p:cNvSpPr/>
          <p:nvPr/>
        </p:nvSpPr>
        <p:spPr>
          <a:xfrm>
            <a:off x="6245352" y="3913632"/>
            <a:ext cx="5394960" cy="2240280"/>
          </a:xfrm>
          <a:prstGeom prst="roundRect">
            <a:avLst>
              <a:gd name="adj" fmla="val 3673"/>
            </a:avLst>
          </a:prstGeom>
          <a:solidFill>
            <a:srgbClr val="1F2936"/>
          </a:solidFill>
          <a:ln/>
          <a:effectLst>
            <a:outerShdw sx="100000" sy="100000" kx="0" ky="0" algn="bl" rotWithShape="0" blurRad="127000" dist="25400" dir="5400000">
              <a:srgbClr val="8C99A8">
                <a:alpha val="16000"/>
              </a:srgbClr>
            </a:outerShdw>
          </a:effectLst>
        </p:spPr>
      </p:sp>
      <p:sp>
        <p:nvSpPr>
          <p:cNvPr id="35" name="Text 33"/>
          <p:cNvSpPr/>
          <p:nvPr/>
        </p:nvSpPr>
        <p:spPr>
          <a:xfrm>
            <a:off x="6556248" y="4078224"/>
            <a:ext cx="4572000" cy="292608"/>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Measure adoption, not accuracy</a:t>
            </a:r>
            <a:endParaRPr lang="en-US" sz="1200" dirty="0"/>
          </a:p>
        </p:txBody>
      </p:sp>
      <p:sp>
        <p:nvSpPr>
          <p:cNvPr id="36" name="Shape 34"/>
          <p:cNvSpPr/>
          <p:nvPr/>
        </p:nvSpPr>
        <p:spPr>
          <a:xfrm>
            <a:off x="6574536" y="4590288"/>
            <a:ext cx="100584" cy="100584"/>
          </a:xfrm>
          <a:prstGeom prst="ellipse">
            <a:avLst/>
          </a:prstGeom>
          <a:solidFill>
            <a:srgbClr val="E39B2C"/>
          </a:solidFill>
          <a:ln/>
        </p:spPr>
      </p:sp>
      <p:sp>
        <p:nvSpPr>
          <p:cNvPr id="37" name="Text 35"/>
          <p:cNvSpPr/>
          <p:nvPr/>
        </p:nvSpPr>
        <p:spPr>
          <a:xfrm>
            <a:off x="6812280" y="4443984"/>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Findings with an owner and a date</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The share that became work.</a:t>
            </a:r>
            <a:endParaRPr lang="en-US" sz="1250" dirty="0"/>
          </a:p>
        </p:txBody>
      </p:sp>
      <p:sp>
        <p:nvSpPr>
          <p:cNvPr id="38" name="Shape 36"/>
          <p:cNvSpPr/>
          <p:nvPr/>
        </p:nvSpPr>
        <p:spPr>
          <a:xfrm>
            <a:off x="6574536" y="5102352"/>
            <a:ext cx="100584" cy="100584"/>
          </a:xfrm>
          <a:prstGeom prst="ellipse">
            <a:avLst/>
          </a:prstGeom>
          <a:solidFill>
            <a:srgbClr val="E39B2C"/>
          </a:solidFill>
          <a:ln/>
        </p:spPr>
      </p:sp>
      <p:sp>
        <p:nvSpPr>
          <p:cNvPr id="39" name="Text 37"/>
          <p:cNvSpPr/>
          <p:nvPr/>
        </p:nvSpPr>
        <p:spPr>
          <a:xfrm>
            <a:off x="6812280" y="4956048"/>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Realized against identified saving</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Only the first reaches an invoice.</a:t>
            </a:r>
            <a:endParaRPr lang="en-US" sz="1250" dirty="0"/>
          </a:p>
        </p:txBody>
      </p:sp>
      <p:sp>
        <p:nvSpPr>
          <p:cNvPr id="40" name="Shape 38"/>
          <p:cNvSpPr/>
          <p:nvPr/>
        </p:nvSpPr>
        <p:spPr>
          <a:xfrm>
            <a:off x="6574536" y="5614416"/>
            <a:ext cx="100584" cy="100584"/>
          </a:xfrm>
          <a:prstGeom prst="ellipse">
            <a:avLst/>
          </a:prstGeom>
          <a:solidFill>
            <a:srgbClr val="E39B2C"/>
          </a:solidFill>
          <a:ln/>
        </p:spPr>
      </p:sp>
      <p:sp>
        <p:nvSpPr>
          <p:cNvPr id="41" name="Text 39"/>
          <p:cNvSpPr/>
          <p:nvPr/>
        </p:nvSpPr>
        <p:spPr>
          <a:xfrm>
            <a:off x="6812280" y="5468112"/>
            <a:ext cx="4553712" cy="457200"/>
          </a:xfrm>
          <a:prstGeom prst="rect">
            <a:avLst/>
          </a:prstGeom>
          <a:noFill/>
          <a:ln/>
        </p:spPr>
        <p:txBody>
          <a:bodyPr wrap="square" lIns="0" tIns="0" rIns="0" bIns="0" rtlCol="0" anchor="t"/>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Time from finding to owner</a:t>
            </a:r>
            <a:endParaRPr lang="en-US" sz="1250" dirty="0"/>
          </a:p>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Days, not weeks — and trending down.</a:t>
            </a:r>
            <a:endParaRPr lang="en-US" sz="1250" dirty="0"/>
          </a:p>
        </p:txBody>
      </p:sp>
      <p:sp>
        <p:nvSpPr>
          <p:cNvPr id="42" name="Text 40"/>
          <p:cNvSpPr/>
          <p:nvPr/>
        </p:nvSpPr>
        <p:spPr>
          <a:xfrm>
            <a:off x="548640" y="6272784"/>
            <a:ext cx="11091672" cy="402336"/>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The goal is a better decision, not a lower bill — the lower bill is what a better decision looks like a quarter later.</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423160"/>
          </a:xfrm>
          <a:prstGeom prst="roundRect">
            <a:avLst>
              <a:gd name="adj" fmla="val 3396"/>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78638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FFFFFF"/>
                </a:solidFill>
                <a:latin typeface="Cambria" pitchFamily="34" charset="0"/>
                <a:ea typeface="Cambria" pitchFamily="34" charset="-122"/>
                <a:cs typeface="Cambria" pitchFamily="34" charset="-120"/>
              </a:rPr>
              <a:t>Set the tagging standard</a:t>
            </a:r>
            <a:endParaRPr lang="en-US" sz="1500" dirty="0"/>
          </a:p>
        </p:txBody>
      </p:sp>
      <p:sp>
        <p:nvSpPr>
          <p:cNvPr id="7" name="Text 5"/>
          <p:cNvSpPr/>
          <p:nvPr/>
        </p:nvSpPr>
        <p:spPr>
          <a:xfrm>
            <a:off x="78638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423160"/>
          </a:xfrm>
          <a:prstGeom prst="roundRect">
            <a:avLst>
              <a:gd name="adj" fmla="val 3396"/>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2102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Start with the biggest spend</a:t>
            </a:r>
            <a:endParaRPr lang="en-US" sz="1500" dirty="0"/>
          </a:p>
        </p:txBody>
      </p:sp>
      <p:sp>
        <p:nvSpPr>
          <p:cNvPr id="11" name="Text 9"/>
          <p:cNvSpPr/>
          <p:nvPr/>
        </p:nvSpPr>
        <p:spPr>
          <a:xfrm>
            <a:off x="362102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423160"/>
          </a:xfrm>
          <a:prstGeom prst="roundRect">
            <a:avLst>
              <a:gd name="adj" fmla="val 3396"/>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5566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Get finance and engineering talking</a:t>
            </a:r>
            <a:endParaRPr lang="en-US" sz="1500" dirty="0"/>
          </a:p>
        </p:txBody>
      </p:sp>
      <p:sp>
        <p:nvSpPr>
          <p:cNvPr id="15" name="Text 13"/>
          <p:cNvSpPr/>
          <p:nvPr/>
        </p:nvSpPr>
        <p:spPr>
          <a:xfrm>
            <a:off x="645566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conversation early, not as an afterthought.</a:t>
            </a:r>
            <a:endParaRPr lang="en-US" sz="1200" dirty="0"/>
          </a:p>
        </p:txBody>
      </p:sp>
      <p:sp>
        <p:nvSpPr>
          <p:cNvPr id="16" name="Shape 14"/>
          <p:cNvSpPr/>
          <p:nvPr/>
        </p:nvSpPr>
        <p:spPr>
          <a:xfrm>
            <a:off x="9052560" y="1783080"/>
            <a:ext cx="2587752" cy="2423160"/>
          </a:xfrm>
          <a:prstGeom prst="roundRect">
            <a:avLst>
              <a:gd name="adj" fmla="val 3396"/>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290304" y="2523744"/>
            <a:ext cx="2139696" cy="786384"/>
          </a:xfrm>
          <a:prstGeom prst="rect">
            <a:avLst/>
          </a:prstGeom>
          <a:noFill/>
          <a:ln/>
        </p:spPr>
        <p:txBody>
          <a:bodyPr wrap="square" lIns="0" tIns="0" rIns="0" bIns="0" rtlCol="0" anchor="t"/>
          <a:lstStyle/>
          <a:p>
            <a:pPr indent="0" marL="0">
              <a:lnSpc>
                <a:spcPts val="2000"/>
              </a:lnSpc>
              <a:buNone/>
            </a:pPr>
            <a:r>
              <a:rPr lang="en-US" sz="1500" b="1" dirty="0">
                <a:solidFill>
                  <a:srgbClr val="1B2430"/>
                </a:solidFill>
                <a:latin typeface="Cambria" pitchFamily="34" charset="0"/>
                <a:ea typeface="Cambria" pitchFamily="34" charset="-122"/>
                <a:cs typeface="Cambria" pitchFamily="34" charset="-120"/>
              </a:rPr>
              <a:t>Set guardrails early</a:t>
            </a:r>
            <a:endParaRPr lang="en-US" sz="1500" dirty="0"/>
          </a:p>
        </p:txBody>
      </p:sp>
      <p:sp>
        <p:nvSpPr>
          <p:cNvPr id="19" name="Text 17"/>
          <p:cNvSpPr/>
          <p:nvPr/>
        </p:nvSpPr>
        <p:spPr>
          <a:xfrm>
            <a:off x="9290304" y="3346704"/>
            <a:ext cx="2139696" cy="749808"/>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Owners, budget thresholds and quotas cost little to add — and stop the expensive surprises.</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603504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 match the footprint, not the ambition</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Visibility &amp; Governance — seeing cloud spend, and controlling it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management briefing</dc:subject>
  <dc:creator>FinOps</dc:creator>
  <cp:lastModifiedBy>FinOps</cp:lastModifiedBy>
  <cp:revision>1</cp:revision>
  <dcterms:created xsi:type="dcterms:W3CDTF">2026-08-04T18:13:03Z</dcterms:created>
  <dcterms:modified xsi:type="dcterms:W3CDTF">2026-08-04T18:13:03Z</dcterms:modified>
</cp:coreProperties>
</file>