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this briefing is about the Inform phase of FinOps — visibility. It is deliberately not an optimization pitch. The argument is that visibility is the prerequisite that makes every later saving durable rather than one-off.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lived experience rather than theory: the month-end surprise. If you have one, use a real example of a bill that moved and could not be explained within 24 hours. The point of the quote is that a dashboard is not the same thing as visibility — visibility means an owner and a cause can be named.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the 'Finance + DevOps' compound: this is an operating model that puts two functions in the same conversation, not a tool purchase. Inform is highlighted because it is where this organization is, and because the cycle repeats — each optimization round needs fresh visibility to target the next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questions are the acceptance test for the visibility programme. Invite the room to answer them for our own estate right now — the gaps in the answers are the business case. The bottom line matters most to a cost-conscious executive: without allocation, the only lever left is an across-the-board cut, which lands hardest on whoever is least able to argue back rather than on actual waste.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capabilities, in dependency order: allocation makes reporting meaningful, reporting makes unit economics computable, and freshness determines whether any of it is actionable. Unit economics is the one that changes the conversation with the board — it separates 'spend is up' from 'spend per customer is down', which are opposite stories told by the same invoice.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honest slide: it says the goal is hard and names why. The next four slides map one-to-one onto the first four blockers. SaaS and marketplace spend has no dedicated solution slide because the fix is procurement discipline rather than tooling — flag it as an action for finance, not engineering.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slide to take away if only one lands. Two decisions are needed from this room: who owns the tag taxonomy, and whether we are willing to enforce it with policy that blocks untagged resource creation. Enforcement at creation is nearly free; retrofitting a live estate is not. The five minimum tags are a starting point — resist the urge to design thirty.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naming our own shared platforms out loud here. The caveat to flag: a shared platform carries one set of tags, so resource tags alone cannot split it — per-team attribution needs either gateway-level keys or application-level instrumentation. Decide which before promising anyone chargeback on a shared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failure modes to describe: under-coverage, where we pay on-demand rates for workloads that never turn off; and over-commitment, where we buy for a peak that never returns. The reporting fix is showing both prices — teams that only see the discounted rate cannot tell whether the commitment is earning its keep, and teams that only see list price will not believe the savings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Calibrate to our own footprint: if we are effectively single-cloud, the native tooling is sufficient and a platform purchase is premature. The FOCUS point still matters even then — asking vendors for FOCUS-compliant exports keeps the option open and makes any future migration cheap.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sequencing is the message. Showback is a runway, not a lesser version of chargeback: it is where allocation disputes get found and settled while the stakes are still low. A chargeback launched on 60% tagging coverage produces an argument about the numbers instead of a conversation about the spend, and that argument is expensive to unwind.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as a maturity self-assessment rather than a wish list: mark each of the six as in place, partial, or absent for our estate. Note that four of the six are visibility practices — high performers are not distinguished by how aggressively they cut, but by how early and how precisely they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hinge of the deck — say plainly that part one was about seeing and part two is about controlling, and that the second does not follow automatically from the first. The distinction worth landing: a report tells you what already happened, a control decides what is permitted to happen next. Teams routinely build the first and assume they have the second. If time is short, the two pillars that pay for themselves fastest are ownership and rate limits — one gives every alert a destination, the other is the only thing on the list that can stop spend in progress.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Ownership is the prerequisite for everything else in this section: an alert with no owner is a notification, a budget with no owner is a forecast. Push hard on the named-person point, because it is where this usually goes soft — a team alias feels safer to assign and answers nothing at 2am. The four duties are deliberately concrete; if a proposed owner cannot do all four, they are a contact, not an owner. The bottom callout is the one to leave hanging: unowned resources are not unbudgeted, they are simply charged to whoever is least able to refuse them, which is usually the central platform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tiers so the response matches the severity — notify, review, gate — and only the last one blocks anything. Make the case for a real gate somewhere in the estate: teams treat a threshold that has never stopped anything as advisory, because it is. The bottom panel is the technical heart of the slide and worth reading aloud. Proportional burn compares spend against how much of the month has elapsed, so it separates a healthy month that is simply late from a runaway that started on day three — a flat percentage cannot tell those apart. Keep the budget figures in one place finance can edit; budgets hard-coded across alert rules go stale within a quarter.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chart is the argument: billing data arrives a day or two late, utilization metrics in minutes, application telemetry in seconds. Anything built on the billing plane is a report on money already gone. State it directly — a cost alert cannot stop a runaway job. The four controls are all reversible in seconds, which is what makes them safe to set conservatively: a quota that turns out to be too tight is a five-minute fix, while the absence of one is a five-figure invoice. Expect pushback that limits will throttle legitimate growth. The answer is that a ceiling is not a target, it is the point at which a human is asked whether this is intended.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tiering rule is the takeaway: sort alerts by what they can actually prevent, then route them by that. Protective alerts run on fast signals and earn a page. Budget alerts run on billing data and belong in a channel. Advisory alerts become tickets. The three cautions at the bottom are hard-won. Paging on a budget threshold wakes someone about a fact they cannot change, and does it repeatedly until they mute the rule — at which point the alerting looks healthy and is not. The silence alert is the one nobody builds until after the incident: an expired credential stops the data feed, every threshold rule goes quiet, and a quiet dashboard is indistinguishable from a good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section on the division of labour, because the most common failure here is not a missing tool but an assumption that FinOps is the platform team's job. Walk one row rather than all five — guardrails is a good choice, since engineering builds them but does not get to decide unilaterally where the ceiling sits. The pattern to point out is that no column owns more than two rows: this is a shared model by construction, and any version where one function owns everything has quietly become that function's problem alone. Bring a filled-in version of this grid with real names to the next meeting; the grid with roles is a discussion, the grid with names is a commitment.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defines shift left properly, so do not let it be heard as a tooling pitch. Shift left is a change in when the FinOps conversation happens: today it starts when the invoice arrives, and it belongs at requirements and design, where the decisions that commit the money are actually made. Walk the band left to right and make the point under it — by the time the design is agreed, most of the lifetime cost of that workload is already determined. Rightsizing afterwards trims the margin; the architecture set the base. The two cards are the exchange, and the right one matters more than the left. FinOps arrives with priced options and a cost target, but it leaves with an understanding of what the project actually needs — the real SLO, what is temporary, where the business value sits. That is why a named person has to be in the room rather than a report being circulated. Cite the Framework line at the bottom: this is a defined capability, not an invented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practical companion to the previous slide, and the one to hand to an architect. None of the six is a finance question — every one is a design question the team can answer in the room, and every one moves the bill by a large factor. Pick two to talk through rather than reading all six. The shape-of-load question is the highest-yield: sizing for a weekly peak is the most common and most expensive habit. The temporary question is the cheapest win, because an expiry date set on day one costs nothing and removing an environment two years later is a project nobody volunteers for. The bottom line is what makes the meeting real: the output is a number attached to the design and a cost target recorded next to the latency and availability targets, so cost becomes a non-functional requirement rather than a preference. Automation enforces it afterwards — the cost diff on the pull request and policy as code — but the number comes from this conversation, not from the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payoff slide for both halves of the deck, and the one to use if someone asks what all this buys. Walk the timeline left to right: the same overrun, found at four different moments, and only the first three leave anyone a decision to make. The fourth point is the status quo — it is not that the invoice is wrong, it is that by the time it arrives the only available action is explaining it. Land the closing line deliberately: we are not promising a smaller bill, and anyone who promises that before seeing the data is guessing. We are promising a bill with nothing surprising in it, which is a different and more defensible commitment.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ask. Step 1 is highlighted because it is the only one that cannot be parallelized — everything downstream degrades if the taxonomy is still in flux. Steps 2 and 4 are both arguments against over-engineering: pick the top spend categories and the tooling that matches the estate we actually have, not the one we might have in three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causal chain rather than a summary of slides. Each link is a separate management commitment: allocation data, published ownership, cost surfaced in the engineering workflow, and a review cadence that keeps it alive. Ask for the first two today; the rest follow from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Anticipate three questions. What will this cost — mostly effort, not licences, if we stay on native tooling. How long until we see savings — allocation coverage improves in weeks, targeted savings follow the first full month of clean data. Who owns it — name the tagging owner and the review cadence before leaving the room, or nothing on the previous slides happens.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1371600"/>
            <a:ext cx="6400800" cy="274320"/>
          </a:xfrm>
          <a:prstGeom prst="rect">
            <a:avLst/>
          </a:prstGeom>
          <a:noFill/>
          <a:ln/>
        </p:spPr>
        <p:txBody>
          <a:bodyPr wrap="square" lIns="0" tIns="0" rIns="0" bIns="0" rtlCol="0" anchor="ctr"/>
          <a:lstStyle/>
          <a:p>
            <a:pPr indent="0" marL="0">
              <a:buNone/>
            </a:pPr>
            <a:r>
              <a:rPr lang="en-US" sz="1200" b="1" spc="260" kern="0" dirty="0">
                <a:solidFill>
                  <a:srgbClr val="E39B2C"/>
                </a:solidFill>
                <a:latin typeface="Calibri" pitchFamily="34" charset="0"/>
                <a:ea typeface="Calibri" pitchFamily="34" charset="-122"/>
                <a:cs typeface="Calibri" pitchFamily="34" charset="-120"/>
              </a:rPr>
              <a:t>MANAGEMENT BRIEFING</a:t>
            </a:r>
            <a:endParaRPr lang="en-US" sz="1200" dirty="0"/>
          </a:p>
        </p:txBody>
      </p:sp>
      <p:sp>
        <p:nvSpPr>
          <p:cNvPr id="3" name="Text 1"/>
          <p:cNvSpPr/>
          <p:nvPr/>
        </p:nvSpPr>
        <p:spPr>
          <a:xfrm>
            <a:off x="548640" y="1783080"/>
            <a:ext cx="7315200" cy="1463040"/>
          </a:xfrm>
          <a:prstGeom prst="rect">
            <a:avLst/>
          </a:prstGeom>
          <a:noFill/>
          <a:ln/>
        </p:spPr>
        <p:txBody>
          <a:bodyPr wrap="square" lIns="0" tIns="0" rIns="0" bIns="0" rtlCol="0" anchor="t"/>
          <a:lstStyle/>
          <a:p>
            <a:pPr indent="0" marL="0">
              <a:lnSpc>
                <a:spcPts val="4400"/>
              </a:lnSpc>
              <a:buNone/>
            </a:pPr>
            <a:r>
              <a:rPr lang="en-US" sz="3800" b="1" dirty="0">
                <a:solidFill>
                  <a:srgbClr val="FFFFFF"/>
                </a:solidFill>
                <a:latin typeface="Cambria" pitchFamily="34" charset="0"/>
                <a:ea typeface="Cambria" pitchFamily="34" charset="-122"/>
                <a:cs typeface="Cambria" pitchFamily="34" charset="-120"/>
              </a:rPr>
              <a:t>FinOps:</a:t>
            </a:r>
            <a:endParaRPr lang="en-US" sz="3800" dirty="0"/>
          </a:p>
          <a:p>
            <a:pPr indent="0" marL="0">
              <a:lnSpc>
                <a:spcPts val="4400"/>
              </a:lnSpc>
              <a:buNone/>
            </a:pPr>
            <a:r>
              <a:rPr lang="en-US" sz="3800" b="1" dirty="0">
                <a:solidFill>
                  <a:srgbClr val="FFFFFF"/>
                </a:solidFill>
                <a:latin typeface="Cambria" pitchFamily="34" charset="0"/>
                <a:ea typeface="Cambria" pitchFamily="34" charset="-122"/>
                <a:cs typeface="Cambria" pitchFamily="34" charset="-120"/>
              </a:rPr>
              <a:t>Visibility &amp; Governance</a:t>
            </a:r>
            <a:endParaRPr lang="en-US" sz="3800" dirty="0"/>
          </a:p>
        </p:txBody>
      </p:sp>
      <p:sp>
        <p:nvSpPr>
          <p:cNvPr id="4" name="Text 2"/>
          <p:cNvSpPr/>
          <p:nvPr/>
        </p:nvSpPr>
        <p:spPr>
          <a:xfrm>
            <a:off x="548640" y="3401568"/>
            <a:ext cx="6766560" cy="365760"/>
          </a:xfrm>
          <a:prstGeom prst="rect">
            <a:avLst/>
          </a:prstGeom>
          <a:noFill/>
          <a:ln/>
        </p:spPr>
        <p:txBody>
          <a:bodyPr wrap="square" lIns="0" tIns="0" rIns="0" bIns="0" rtlCol="0" anchor="ctr"/>
          <a:lstStyle/>
          <a:p>
            <a:pPr indent="0" marL="0">
              <a:buNone/>
            </a:pPr>
            <a:r>
              <a:rPr lang="en-US" sz="1900" dirty="0">
                <a:solidFill>
                  <a:srgbClr val="9EABBA"/>
                </a:solidFill>
                <a:latin typeface="Calibri" pitchFamily="34" charset="0"/>
                <a:ea typeface="Calibri" pitchFamily="34" charset="-122"/>
                <a:cs typeface="Calibri" pitchFamily="34" charset="-120"/>
              </a:rPr>
              <a:t>Seeing cloud spend — and controlling it</a:t>
            </a:r>
            <a:endParaRPr lang="en-US" sz="1900" dirty="0"/>
          </a:p>
        </p:txBody>
      </p:sp>
      <p:sp>
        <p:nvSpPr>
          <p:cNvPr id="5" name="Text 3"/>
          <p:cNvSpPr/>
          <p:nvPr/>
        </p:nvSpPr>
        <p:spPr>
          <a:xfrm>
            <a:off x="548640" y="5120640"/>
            <a:ext cx="3108960" cy="731520"/>
          </a:xfrm>
          <a:prstGeom prst="rect">
            <a:avLst/>
          </a:prstGeom>
          <a:noFill/>
          <a:ln/>
        </p:spPr>
        <p:txBody>
          <a:bodyPr wrap="square" lIns="0" tIns="0" rIns="0" bIns="0" rtlCol="0" anchor="ctr"/>
          <a:lstStyle/>
          <a:p>
            <a:pPr indent="0" marL="0">
              <a:lnSpc>
                <a:spcPts val="2000"/>
              </a:lnSpc>
              <a:buNone/>
            </a:pPr>
            <a:r>
              <a:rPr lang="en-US" sz="1100" b="1" spc="140" kern="0" dirty="0">
                <a:solidFill>
                  <a:srgbClr val="9EABBA"/>
                </a:solidFill>
                <a:latin typeface="Calibri" pitchFamily="34" charset="0"/>
                <a:ea typeface="Calibri" pitchFamily="34" charset="-122"/>
                <a:cs typeface="Calibri" pitchFamily="34" charset="-120"/>
              </a:rPr>
              <a:t>Presented to</a:t>
            </a:r>
            <a:endParaRPr lang="en-US" sz="1100" dirty="0"/>
          </a:p>
          <a:p>
            <a:pPr indent="0" marL="0">
              <a:lnSpc>
                <a:spcPts val="2000"/>
              </a:lnSpc>
              <a:buNone/>
            </a:pPr>
            <a:r>
              <a:rPr lang="en-US" sz="1500" dirty="0">
                <a:solidFill>
                  <a:srgbClr val="FFFFFF"/>
                </a:solidFill>
                <a:latin typeface="Calibri" pitchFamily="34" charset="0"/>
                <a:ea typeface="Calibri" pitchFamily="34" charset="-122"/>
                <a:cs typeface="Calibri" pitchFamily="34" charset="-120"/>
              </a:rPr>
              <a:t>Executive Leadership</a:t>
            </a:r>
            <a:endParaRPr lang="en-US" sz="1100" dirty="0"/>
          </a:p>
        </p:txBody>
      </p:sp>
      <p:sp>
        <p:nvSpPr>
          <p:cNvPr id="6" name="Text 4"/>
          <p:cNvSpPr/>
          <p:nvPr/>
        </p:nvSpPr>
        <p:spPr>
          <a:xfrm>
            <a:off x="3931920" y="5120640"/>
            <a:ext cx="3108960" cy="731520"/>
          </a:xfrm>
          <a:prstGeom prst="rect">
            <a:avLst/>
          </a:prstGeom>
          <a:noFill/>
          <a:ln/>
        </p:spPr>
        <p:txBody>
          <a:bodyPr wrap="square" lIns="0" tIns="0" rIns="0" bIns="0" rtlCol="0" anchor="ctr"/>
          <a:lstStyle/>
          <a:p>
            <a:pPr indent="0" marL="0">
              <a:lnSpc>
                <a:spcPts val="2000"/>
              </a:lnSpc>
              <a:buNone/>
            </a:pPr>
            <a:r>
              <a:rPr lang="en-US" sz="1100" b="1" spc="140" kern="0" dirty="0">
                <a:solidFill>
                  <a:srgbClr val="9EABBA"/>
                </a:solidFill>
                <a:latin typeface="Calibri" pitchFamily="34" charset="0"/>
                <a:ea typeface="Calibri" pitchFamily="34" charset="-122"/>
                <a:cs typeface="Calibri" pitchFamily="34" charset="-120"/>
              </a:rPr>
              <a:t>Date</a:t>
            </a:r>
            <a:endParaRPr lang="en-US" sz="1100" dirty="0"/>
          </a:p>
          <a:p>
            <a:pPr indent="0" marL="0">
              <a:lnSpc>
                <a:spcPts val="2000"/>
              </a:lnSpc>
              <a:buNone/>
            </a:pPr>
            <a:r>
              <a:rPr lang="en-US" sz="1500" dirty="0">
                <a:solidFill>
                  <a:srgbClr val="9EABBA"/>
                </a:solidFill>
                <a:latin typeface="Calibri" pitchFamily="34" charset="0"/>
                <a:ea typeface="Calibri" pitchFamily="34" charset="-122"/>
                <a:cs typeface="Calibri" pitchFamily="34" charset="-120"/>
              </a:rPr>
              <a:t>____________________</a:t>
            </a:r>
            <a:endParaRPr lang="en-US" sz="1100" dirty="0"/>
          </a:p>
        </p:txBody>
      </p:sp>
      <p:sp>
        <p:nvSpPr>
          <p:cNvPr id="7" name="Shape 5"/>
          <p:cNvSpPr/>
          <p:nvPr/>
        </p:nvSpPr>
        <p:spPr>
          <a:xfrm>
            <a:off x="8001000" y="1572768"/>
            <a:ext cx="274320" cy="274320"/>
          </a:xfrm>
          <a:prstGeom prst="ellipse">
            <a:avLst/>
          </a:prstGeom>
          <a:solidFill>
            <a:srgbClr val="27313E"/>
          </a:solidFill>
          <a:ln/>
        </p:spPr>
      </p:sp>
      <p:sp>
        <p:nvSpPr>
          <p:cNvPr id="8" name="Shape 6"/>
          <p:cNvSpPr/>
          <p:nvPr/>
        </p:nvSpPr>
        <p:spPr>
          <a:xfrm>
            <a:off x="8513064" y="1572768"/>
            <a:ext cx="274320" cy="274320"/>
          </a:xfrm>
          <a:prstGeom prst="ellipse">
            <a:avLst/>
          </a:prstGeom>
          <a:solidFill>
            <a:srgbClr val="27313E"/>
          </a:solidFill>
          <a:ln/>
        </p:spPr>
      </p:sp>
      <p:sp>
        <p:nvSpPr>
          <p:cNvPr id="9" name="Shape 7"/>
          <p:cNvSpPr/>
          <p:nvPr/>
        </p:nvSpPr>
        <p:spPr>
          <a:xfrm>
            <a:off x="9025128" y="1572768"/>
            <a:ext cx="274320" cy="274320"/>
          </a:xfrm>
          <a:prstGeom prst="ellipse">
            <a:avLst/>
          </a:prstGeom>
          <a:solidFill>
            <a:srgbClr val="27313E"/>
          </a:solidFill>
          <a:ln/>
        </p:spPr>
      </p:sp>
      <p:sp>
        <p:nvSpPr>
          <p:cNvPr id="10" name="Shape 8"/>
          <p:cNvSpPr/>
          <p:nvPr/>
        </p:nvSpPr>
        <p:spPr>
          <a:xfrm>
            <a:off x="9537192" y="1572768"/>
            <a:ext cx="274320" cy="274320"/>
          </a:xfrm>
          <a:prstGeom prst="ellipse">
            <a:avLst/>
          </a:prstGeom>
          <a:solidFill>
            <a:srgbClr val="27313E"/>
          </a:solidFill>
          <a:ln/>
        </p:spPr>
      </p:sp>
      <p:sp>
        <p:nvSpPr>
          <p:cNvPr id="11" name="Shape 9"/>
          <p:cNvSpPr/>
          <p:nvPr/>
        </p:nvSpPr>
        <p:spPr>
          <a:xfrm>
            <a:off x="10049256" y="1572768"/>
            <a:ext cx="274320" cy="274320"/>
          </a:xfrm>
          <a:prstGeom prst="ellipse">
            <a:avLst/>
          </a:prstGeom>
          <a:solidFill>
            <a:srgbClr val="27313E"/>
          </a:solidFill>
          <a:ln/>
        </p:spPr>
      </p:sp>
      <p:sp>
        <p:nvSpPr>
          <p:cNvPr id="12" name="Shape 10"/>
          <p:cNvSpPr/>
          <p:nvPr/>
        </p:nvSpPr>
        <p:spPr>
          <a:xfrm>
            <a:off x="10561320" y="1572768"/>
            <a:ext cx="274320" cy="274320"/>
          </a:xfrm>
          <a:prstGeom prst="ellipse">
            <a:avLst/>
          </a:prstGeom>
          <a:solidFill>
            <a:srgbClr val="27313E"/>
          </a:solidFill>
          <a:ln/>
        </p:spPr>
      </p:sp>
      <p:sp>
        <p:nvSpPr>
          <p:cNvPr id="13" name="Shape 11"/>
          <p:cNvSpPr/>
          <p:nvPr/>
        </p:nvSpPr>
        <p:spPr>
          <a:xfrm>
            <a:off x="11073384" y="1572768"/>
            <a:ext cx="274320" cy="274320"/>
          </a:xfrm>
          <a:prstGeom prst="ellipse">
            <a:avLst/>
          </a:prstGeom>
          <a:solidFill>
            <a:srgbClr val="27313E"/>
          </a:solidFill>
          <a:ln/>
        </p:spPr>
      </p:sp>
      <p:sp>
        <p:nvSpPr>
          <p:cNvPr id="14" name="Shape 12"/>
          <p:cNvSpPr/>
          <p:nvPr/>
        </p:nvSpPr>
        <p:spPr>
          <a:xfrm>
            <a:off x="8001000" y="2084832"/>
            <a:ext cx="274320" cy="274320"/>
          </a:xfrm>
          <a:prstGeom prst="ellipse">
            <a:avLst/>
          </a:prstGeom>
          <a:solidFill>
            <a:srgbClr val="27313E"/>
          </a:solidFill>
          <a:ln/>
        </p:spPr>
      </p:sp>
      <p:sp>
        <p:nvSpPr>
          <p:cNvPr id="15" name="Shape 13"/>
          <p:cNvSpPr/>
          <p:nvPr/>
        </p:nvSpPr>
        <p:spPr>
          <a:xfrm>
            <a:off x="8513064" y="2084832"/>
            <a:ext cx="274320" cy="274320"/>
          </a:xfrm>
          <a:prstGeom prst="ellipse">
            <a:avLst/>
          </a:prstGeom>
          <a:solidFill>
            <a:srgbClr val="27313E"/>
          </a:solidFill>
          <a:ln/>
        </p:spPr>
      </p:sp>
      <p:sp>
        <p:nvSpPr>
          <p:cNvPr id="16" name="Shape 14"/>
          <p:cNvSpPr/>
          <p:nvPr/>
        </p:nvSpPr>
        <p:spPr>
          <a:xfrm>
            <a:off x="9025128" y="2084832"/>
            <a:ext cx="274320" cy="274320"/>
          </a:xfrm>
          <a:prstGeom prst="ellipse">
            <a:avLst/>
          </a:prstGeom>
          <a:solidFill>
            <a:srgbClr val="27313E"/>
          </a:solidFill>
          <a:ln/>
        </p:spPr>
      </p:sp>
      <p:sp>
        <p:nvSpPr>
          <p:cNvPr id="17" name="Shape 15"/>
          <p:cNvSpPr/>
          <p:nvPr/>
        </p:nvSpPr>
        <p:spPr>
          <a:xfrm>
            <a:off x="9537192" y="2084832"/>
            <a:ext cx="274320" cy="274320"/>
          </a:xfrm>
          <a:prstGeom prst="ellipse">
            <a:avLst/>
          </a:prstGeom>
          <a:solidFill>
            <a:srgbClr val="27313E"/>
          </a:solidFill>
          <a:ln/>
        </p:spPr>
      </p:sp>
      <p:sp>
        <p:nvSpPr>
          <p:cNvPr id="18" name="Shape 16"/>
          <p:cNvSpPr/>
          <p:nvPr/>
        </p:nvSpPr>
        <p:spPr>
          <a:xfrm>
            <a:off x="10049256" y="2084832"/>
            <a:ext cx="274320" cy="274320"/>
          </a:xfrm>
          <a:prstGeom prst="ellipse">
            <a:avLst/>
          </a:prstGeom>
          <a:solidFill>
            <a:srgbClr val="27313E"/>
          </a:solidFill>
          <a:ln/>
        </p:spPr>
      </p:sp>
      <p:sp>
        <p:nvSpPr>
          <p:cNvPr id="19" name="Shape 17"/>
          <p:cNvSpPr/>
          <p:nvPr/>
        </p:nvSpPr>
        <p:spPr>
          <a:xfrm>
            <a:off x="10561320" y="2084832"/>
            <a:ext cx="274320" cy="274320"/>
          </a:xfrm>
          <a:prstGeom prst="ellipse">
            <a:avLst/>
          </a:prstGeom>
          <a:solidFill>
            <a:srgbClr val="27313E"/>
          </a:solidFill>
          <a:ln/>
        </p:spPr>
      </p:sp>
      <p:sp>
        <p:nvSpPr>
          <p:cNvPr id="20" name="Shape 18"/>
          <p:cNvSpPr/>
          <p:nvPr/>
        </p:nvSpPr>
        <p:spPr>
          <a:xfrm>
            <a:off x="11073384" y="2084832"/>
            <a:ext cx="274320" cy="274320"/>
          </a:xfrm>
          <a:prstGeom prst="ellipse">
            <a:avLst/>
          </a:prstGeom>
          <a:solidFill>
            <a:srgbClr val="27313E"/>
          </a:solidFill>
          <a:ln/>
        </p:spPr>
      </p:sp>
      <p:sp>
        <p:nvSpPr>
          <p:cNvPr id="21" name="Shape 19"/>
          <p:cNvSpPr/>
          <p:nvPr/>
        </p:nvSpPr>
        <p:spPr>
          <a:xfrm>
            <a:off x="8001000" y="2596896"/>
            <a:ext cx="274320" cy="274320"/>
          </a:xfrm>
          <a:prstGeom prst="ellipse">
            <a:avLst/>
          </a:prstGeom>
          <a:solidFill>
            <a:srgbClr val="27313E"/>
          </a:solidFill>
          <a:ln/>
        </p:spPr>
      </p:sp>
      <p:sp>
        <p:nvSpPr>
          <p:cNvPr id="22" name="Shape 20"/>
          <p:cNvSpPr/>
          <p:nvPr/>
        </p:nvSpPr>
        <p:spPr>
          <a:xfrm>
            <a:off x="8513064" y="2596896"/>
            <a:ext cx="274320" cy="274320"/>
          </a:xfrm>
          <a:prstGeom prst="ellipse">
            <a:avLst/>
          </a:prstGeom>
          <a:solidFill>
            <a:srgbClr val="27313E"/>
          </a:solidFill>
          <a:ln/>
        </p:spPr>
      </p:sp>
      <p:sp>
        <p:nvSpPr>
          <p:cNvPr id="23" name="Shape 21"/>
          <p:cNvSpPr/>
          <p:nvPr/>
        </p:nvSpPr>
        <p:spPr>
          <a:xfrm>
            <a:off x="9025128" y="2596896"/>
            <a:ext cx="274320" cy="274320"/>
          </a:xfrm>
          <a:prstGeom prst="ellipse">
            <a:avLst/>
          </a:prstGeom>
          <a:solidFill>
            <a:srgbClr val="27313E"/>
          </a:solidFill>
          <a:ln/>
        </p:spPr>
      </p:sp>
      <p:sp>
        <p:nvSpPr>
          <p:cNvPr id="24" name="Shape 22"/>
          <p:cNvSpPr/>
          <p:nvPr/>
        </p:nvSpPr>
        <p:spPr>
          <a:xfrm>
            <a:off x="9537192" y="2596896"/>
            <a:ext cx="274320" cy="274320"/>
          </a:xfrm>
          <a:prstGeom prst="ellipse">
            <a:avLst/>
          </a:prstGeom>
          <a:solidFill>
            <a:srgbClr val="27313E"/>
          </a:solidFill>
          <a:ln/>
        </p:spPr>
      </p:sp>
      <p:sp>
        <p:nvSpPr>
          <p:cNvPr id="25" name="Shape 23"/>
          <p:cNvSpPr/>
          <p:nvPr/>
        </p:nvSpPr>
        <p:spPr>
          <a:xfrm>
            <a:off x="10049256" y="2596896"/>
            <a:ext cx="274320" cy="274320"/>
          </a:xfrm>
          <a:prstGeom prst="ellipse">
            <a:avLst/>
          </a:prstGeom>
          <a:solidFill>
            <a:srgbClr val="27313E"/>
          </a:solidFill>
          <a:ln/>
        </p:spPr>
      </p:sp>
      <p:sp>
        <p:nvSpPr>
          <p:cNvPr id="26" name="Shape 24"/>
          <p:cNvSpPr/>
          <p:nvPr/>
        </p:nvSpPr>
        <p:spPr>
          <a:xfrm>
            <a:off x="10561320" y="2596896"/>
            <a:ext cx="274320" cy="274320"/>
          </a:xfrm>
          <a:prstGeom prst="ellipse">
            <a:avLst/>
          </a:prstGeom>
          <a:solidFill>
            <a:srgbClr val="27313E"/>
          </a:solidFill>
          <a:ln/>
        </p:spPr>
      </p:sp>
      <p:sp>
        <p:nvSpPr>
          <p:cNvPr id="27" name="Shape 25"/>
          <p:cNvSpPr/>
          <p:nvPr/>
        </p:nvSpPr>
        <p:spPr>
          <a:xfrm>
            <a:off x="11073384" y="2596896"/>
            <a:ext cx="274320" cy="274320"/>
          </a:xfrm>
          <a:prstGeom prst="ellipse">
            <a:avLst/>
          </a:prstGeom>
          <a:solidFill>
            <a:srgbClr val="E39B2C"/>
          </a:solidFill>
          <a:ln/>
        </p:spPr>
      </p:sp>
      <p:sp>
        <p:nvSpPr>
          <p:cNvPr id="28" name="Shape 26"/>
          <p:cNvSpPr/>
          <p:nvPr/>
        </p:nvSpPr>
        <p:spPr>
          <a:xfrm>
            <a:off x="8001000" y="3108960"/>
            <a:ext cx="274320" cy="274320"/>
          </a:xfrm>
          <a:prstGeom prst="ellipse">
            <a:avLst/>
          </a:prstGeom>
          <a:solidFill>
            <a:srgbClr val="27313E"/>
          </a:solidFill>
          <a:ln/>
        </p:spPr>
      </p:sp>
      <p:sp>
        <p:nvSpPr>
          <p:cNvPr id="29" name="Shape 27"/>
          <p:cNvSpPr/>
          <p:nvPr/>
        </p:nvSpPr>
        <p:spPr>
          <a:xfrm>
            <a:off x="8513064" y="3108960"/>
            <a:ext cx="274320" cy="274320"/>
          </a:xfrm>
          <a:prstGeom prst="ellipse">
            <a:avLst/>
          </a:prstGeom>
          <a:solidFill>
            <a:srgbClr val="27313E"/>
          </a:solidFill>
          <a:ln/>
        </p:spPr>
      </p:sp>
      <p:sp>
        <p:nvSpPr>
          <p:cNvPr id="30" name="Shape 28"/>
          <p:cNvSpPr/>
          <p:nvPr/>
        </p:nvSpPr>
        <p:spPr>
          <a:xfrm>
            <a:off x="9025128" y="3108960"/>
            <a:ext cx="274320" cy="274320"/>
          </a:xfrm>
          <a:prstGeom prst="ellipse">
            <a:avLst/>
          </a:prstGeom>
          <a:solidFill>
            <a:srgbClr val="27313E"/>
          </a:solidFill>
          <a:ln/>
        </p:spPr>
      </p:sp>
      <p:sp>
        <p:nvSpPr>
          <p:cNvPr id="31" name="Shape 29"/>
          <p:cNvSpPr/>
          <p:nvPr/>
        </p:nvSpPr>
        <p:spPr>
          <a:xfrm>
            <a:off x="9537192" y="3108960"/>
            <a:ext cx="274320" cy="274320"/>
          </a:xfrm>
          <a:prstGeom prst="ellipse">
            <a:avLst/>
          </a:prstGeom>
          <a:solidFill>
            <a:srgbClr val="27313E"/>
          </a:solidFill>
          <a:ln/>
        </p:spPr>
      </p:sp>
      <p:sp>
        <p:nvSpPr>
          <p:cNvPr id="32" name="Shape 30"/>
          <p:cNvSpPr/>
          <p:nvPr/>
        </p:nvSpPr>
        <p:spPr>
          <a:xfrm>
            <a:off x="10049256" y="3108960"/>
            <a:ext cx="274320" cy="274320"/>
          </a:xfrm>
          <a:prstGeom prst="ellipse">
            <a:avLst/>
          </a:prstGeom>
          <a:solidFill>
            <a:srgbClr val="27313E"/>
          </a:solidFill>
          <a:ln/>
        </p:spPr>
      </p:sp>
      <p:sp>
        <p:nvSpPr>
          <p:cNvPr id="33" name="Shape 31"/>
          <p:cNvSpPr/>
          <p:nvPr/>
        </p:nvSpPr>
        <p:spPr>
          <a:xfrm>
            <a:off x="10561320" y="3108960"/>
            <a:ext cx="274320" cy="274320"/>
          </a:xfrm>
          <a:prstGeom prst="ellipse">
            <a:avLst/>
          </a:prstGeom>
          <a:solidFill>
            <a:srgbClr val="E39B2C"/>
          </a:solidFill>
          <a:ln/>
        </p:spPr>
      </p:sp>
      <p:sp>
        <p:nvSpPr>
          <p:cNvPr id="34" name="Shape 32"/>
          <p:cNvSpPr/>
          <p:nvPr/>
        </p:nvSpPr>
        <p:spPr>
          <a:xfrm>
            <a:off x="11073384" y="3108960"/>
            <a:ext cx="274320" cy="274320"/>
          </a:xfrm>
          <a:prstGeom prst="ellipse">
            <a:avLst/>
          </a:prstGeom>
          <a:solidFill>
            <a:srgbClr val="E39B2C"/>
          </a:solidFill>
          <a:ln/>
        </p:spPr>
      </p:sp>
      <p:sp>
        <p:nvSpPr>
          <p:cNvPr id="35" name="Shape 33"/>
          <p:cNvSpPr/>
          <p:nvPr/>
        </p:nvSpPr>
        <p:spPr>
          <a:xfrm>
            <a:off x="8001000" y="3621024"/>
            <a:ext cx="274320" cy="274320"/>
          </a:xfrm>
          <a:prstGeom prst="ellipse">
            <a:avLst/>
          </a:prstGeom>
          <a:solidFill>
            <a:srgbClr val="27313E"/>
          </a:solidFill>
          <a:ln/>
        </p:spPr>
      </p:sp>
      <p:sp>
        <p:nvSpPr>
          <p:cNvPr id="36" name="Shape 34"/>
          <p:cNvSpPr/>
          <p:nvPr/>
        </p:nvSpPr>
        <p:spPr>
          <a:xfrm>
            <a:off x="8513064" y="3621024"/>
            <a:ext cx="274320" cy="274320"/>
          </a:xfrm>
          <a:prstGeom prst="ellipse">
            <a:avLst/>
          </a:prstGeom>
          <a:solidFill>
            <a:srgbClr val="27313E"/>
          </a:solidFill>
          <a:ln/>
        </p:spPr>
      </p:sp>
      <p:sp>
        <p:nvSpPr>
          <p:cNvPr id="37" name="Shape 35"/>
          <p:cNvSpPr/>
          <p:nvPr/>
        </p:nvSpPr>
        <p:spPr>
          <a:xfrm>
            <a:off x="9025128" y="3621024"/>
            <a:ext cx="274320" cy="274320"/>
          </a:xfrm>
          <a:prstGeom prst="ellipse">
            <a:avLst/>
          </a:prstGeom>
          <a:solidFill>
            <a:srgbClr val="27313E"/>
          </a:solidFill>
          <a:ln/>
        </p:spPr>
      </p:sp>
      <p:sp>
        <p:nvSpPr>
          <p:cNvPr id="38" name="Shape 36"/>
          <p:cNvSpPr/>
          <p:nvPr/>
        </p:nvSpPr>
        <p:spPr>
          <a:xfrm>
            <a:off x="9537192" y="3621024"/>
            <a:ext cx="274320" cy="274320"/>
          </a:xfrm>
          <a:prstGeom prst="ellipse">
            <a:avLst/>
          </a:prstGeom>
          <a:solidFill>
            <a:srgbClr val="27313E"/>
          </a:solidFill>
          <a:ln/>
        </p:spPr>
      </p:sp>
      <p:sp>
        <p:nvSpPr>
          <p:cNvPr id="39" name="Shape 37"/>
          <p:cNvSpPr/>
          <p:nvPr/>
        </p:nvSpPr>
        <p:spPr>
          <a:xfrm>
            <a:off x="10049256" y="3621024"/>
            <a:ext cx="274320" cy="274320"/>
          </a:xfrm>
          <a:prstGeom prst="ellipse">
            <a:avLst/>
          </a:prstGeom>
          <a:solidFill>
            <a:srgbClr val="E39B2C"/>
          </a:solidFill>
          <a:ln/>
        </p:spPr>
      </p:sp>
      <p:sp>
        <p:nvSpPr>
          <p:cNvPr id="40" name="Shape 38"/>
          <p:cNvSpPr/>
          <p:nvPr/>
        </p:nvSpPr>
        <p:spPr>
          <a:xfrm>
            <a:off x="10561320" y="3621024"/>
            <a:ext cx="274320" cy="274320"/>
          </a:xfrm>
          <a:prstGeom prst="ellipse">
            <a:avLst/>
          </a:prstGeom>
          <a:solidFill>
            <a:srgbClr val="E39B2C"/>
          </a:solidFill>
          <a:ln/>
        </p:spPr>
      </p:sp>
      <p:sp>
        <p:nvSpPr>
          <p:cNvPr id="41" name="Shape 39"/>
          <p:cNvSpPr/>
          <p:nvPr/>
        </p:nvSpPr>
        <p:spPr>
          <a:xfrm>
            <a:off x="11073384" y="3621024"/>
            <a:ext cx="274320" cy="274320"/>
          </a:xfrm>
          <a:prstGeom prst="ellipse">
            <a:avLst/>
          </a:prstGeom>
          <a:solidFill>
            <a:srgbClr val="E39B2C"/>
          </a:solidFill>
          <a:ln/>
        </p:spPr>
      </p:sp>
      <p:sp>
        <p:nvSpPr>
          <p:cNvPr id="42" name="Shape 40"/>
          <p:cNvSpPr/>
          <p:nvPr/>
        </p:nvSpPr>
        <p:spPr>
          <a:xfrm>
            <a:off x="8001000" y="4133088"/>
            <a:ext cx="274320" cy="274320"/>
          </a:xfrm>
          <a:prstGeom prst="ellipse">
            <a:avLst/>
          </a:prstGeom>
          <a:solidFill>
            <a:srgbClr val="27313E"/>
          </a:solidFill>
          <a:ln/>
        </p:spPr>
      </p:sp>
      <p:sp>
        <p:nvSpPr>
          <p:cNvPr id="43" name="Shape 41"/>
          <p:cNvSpPr/>
          <p:nvPr/>
        </p:nvSpPr>
        <p:spPr>
          <a:xfrm>
            <a:off x="8513064" y="4133088"/>
            <a:ext cx="274320" cy="274320"/>
          </a:xfrm>
          <a:prstGeom prst="ellipse">
            <a:avLst/>
          </a:prstGeom>
          <a:solidFill>
            <a:srgbClr val="27313E"/>
          </a:solidFill>
          <a:ln/>
        </p:spPr>
      </p:sp>
      <p:sp>
        <p:nvSpPr>
          <p:cNvPr id="44" name="Shape 42"/>
          <p:cNvSpPr/>
          <p:nvPr/>
        </p:nvSpPr>
        <p:spPr>
          <a:xfrm>
            <a:off x="9025128" y="4133088"/>
            <a:ext cx="274320" cy="274320"/>
          </a:xfrm>
          <a:prstGeom prst="ellipse">
            <a:avLst/>
          </a:prstGeom>
          <a:solidFill>
            <a:srgbClr val="27313E"/>
          </a:solidFill>
          <a:ln/>
        </p:spPr>
      </p:sp>
      <p:sp>
        <p:nvSpPr>
          <p:cNvPr id="45" name="Shape 43"/>
          <p:cNvSpPr/>
          <p:nvPr/>
        </p:nvSpPr>
        <p:spPr>
          <a:xfrm>
            <a:off x="9537192" y="4133088"/>
            <a:ext cx="274320" cy="274320"/>
          </a:xfrm>
          <a:prstGeom prst="ellipse">
            <a:avLst/>
          </a:prstGeom>
          <a:solidFill>
            <a:srgbClr val="E39B2C"/>
          </a:solidFill>
          <a:ln/>
        </p:spPr>
      </p:sp>
      <p:sp>
        <p:nvSpPr>
          <p:cNvPr id="46" name="Shape 44"/>
          <p:cNvSpPr/>
          <p:nvPr/>
        </p:nvSpPr>
        <p:spPr>
          <a:xfrm>
            <a:off x="10049256" y="4133088"/>
            <a:ext cx="274320" cy="274320"/>
          </a:xfrm>
          <a:prstGeom prst="ellipse">
            <a:avLst/>
          </a:prstGeom>
          <a:solidFill>
            <a:srgbClr val="E39B2C"/>
          </a:solidFill>
          <a:ln/>
        </p:spPr>
      </p:sp>
      <p:sp>
        <p:nvSpPr>
          <p:cNvPr id="47" name="Shape 45"/>
          <p:cNvSpPr/>
          <p:nvPr/>
        </p:nvSpPr>
        <p:spPr>
          <a:xfrm>
            <a:off x="10561320" y="4133088"/>
            <a:ext cx="274320" cy="274320"/>
          </a:xfrm>
          <a:prstGeom prst="ellipse">
            <a:avLst/>
          </a:prstGeom>
          <a:solidFill>
            <a:srgbClr val="E39B2C"/>
          </a:solidFill>
          <a:ln/>
        </p:spPr>
      </p:sp>
      <p:sp>
        <p:nvSpPr>
          <p:cNvPr id="48" name="Shape 46"/>
          <p:cNvSpPr/>
          <p:nvPr/>
        </p:nvSpPr>
        <p:spPr>
          <a:xfrm>
            <a:off x="11073384" y="4133088"/>
            <a:ext cx="274320" cy="274320"/>
          </a:xfrm>
          <a:prstGeom prst="ellipse">
            <a:avLst/>
          </a:prstGeom>
          <a:solidFill>
            <a:srgbClr val="E39B2C"/>
          </a:solidFill>
          <a:ln/>
        </p:spPr>
      </p:sp>
      <p:sp>
        <p:nvSpPr>
          <p:cNvPr id="49" name="Shape 47"/>
          <p:cNvSpPr/>
          <p:nvPr/>
        </p:nvSpPr>
        <p:spPr>
          <a:xfrm>
            <a:off x="8001000" y="4645152"/>
            <a:ext cx="274320" cy="274320"/>
          </a:xfrm>
          <a:prstGeom prst="ellipse">
            <a:avLst/>
          </a:prstGeom>
          <a:solidFill>
            <a:srgbClr val="27313E"/>
          </a:solidFill>
          <a:ln/>
        </p:spPr>
      </p:sp>
      <p:sp>
        <p:nvSpPr>
          <p:cNvPr id="50" name="Shape 48"/>
          <p:cNvSpPr/>
          <p:nvPr/>
        </p:nvSpPr>
        <p:spPr>
          <a:xfrm>
            <a:off x="8513064" y="4645152"/>
            <a:ext cx="274320" cy="274320"/>
          </a:xfrm>
          <a:prstGeom prst="ellipse">
            <a:avLst/>
          </a:prstGeom>
          <a:solidFill>
            <a:srgbClr val="27313E"/>
          </a:solidFill>
          <a:ln/>
        </p:spPr>
      </p:sp>
      <p:sp>
        <p:nvSpPr>
          <p:cNvPr id="51" name="Shape 49"/>
          <p:cNvSpPr/>
          <p:nvPr/>
        </p:nvSpPr>
        <p:spPr>
          <a:xfrm>
            <a:off x="9025128" y="4645152"/>
            <a:ext cx="274320" cy="274320"/>
          </a:xfrm>
          <a:prstGeom prst="ellipse">
            <a:avLst/>
          </a:prstGeom>
          <a:solidFill>
            <a:srgbClr val="E39B2C"/>
          </a:solidFill>
          <a:ln/>
        </p:spPr>
      </p:sp>
      <p:sp>
        <p:nvSpPr>
          <p:cNvPr id="52" name="Shape 50"/>
          <p:cNvSpPr/>
          <p:nvPr/>
        </p:nvSpPr>
        <p:spPr>
          <a:xfrm>
            <a:off x="9537192" y="4645152"/>
            <a:ext cx="274320" cy="274320"/>
          </a:xfrm>
          <a:prstGeom prst="ellipse">
            <a:avLst/>
          </a:prstGeom>
          <a:solidFill>
            <a:srgbClr val="E39B2C"/>
          </a:solidFill>
          <a:ln/>
        </p:spPr>
      </p:sp>
      <p:sp>
        <p:nvSpPr>
          <p:cNvPr id="53" name="Shape 51"/>
          <p:cNvSpPr/>
          <p:nvPr/>
        </p:nvSpPr>
        <p:spPr>
          <a:xfrm>
            <a:off x="10049256" y="4645152"/>
            <a:ext cx="274320" cy="274320"/>
          </a:xfrm>
          <a:prstGeom prst="ellipse">
            <a:avLst/>
          </a:prstGeom>
          <a:solidFill>
            <a:srgbClr val="E39B2C"/>
          </a:solidFill>
          <a:ln/>
        </p:spPr>
      </p:sp>
      <p:sp>
        <p:nvSpPr>
          <p:cNvPr id="54" name="Shape 52"/>
          <p:cNvSpPr/>
          <p:nvPr/>
        </p:nvSpPr>
        <p:spPr>
          <a:xfrm>
            <a:off x="10561320" y="4645152"/>
            <a:ext cx="274320" cy="274320"/>
          </a:xfrm>
          <a:prstGeom prst="ellipse">
            <a:avLst/>
          </a:prstGeom>
          <a:solidFill>
            <a:srgbClr val="E39B2C"/>
          </a:solidFill>
          <a:ln/>
        </p:spPr>
      </p:sp>
      <p:sp>
        <p:nvSpPr>
          <p:cNvPr id="55" name="Shape 53"/>
          <p:cNvSpPr/>
          <p:nvPr/>
        </p:nvSpPr>
        <p:spPr>
          <a:xfrm>
            <a:off x="11073384" y="4645152"/>
            <a:ext cx="274320" cy="274320"/>
          </a:xfrm>
          <a:prstGeom prst="ellipse">
            <a:avLst/>
          </a:prstGeom>
          <a:solidFill>
            <a:srgbClr val="E39B2C"/>
          </a:solidFill>
          <a:ln/>
        </p:spPr>
      </p:sp>
      <p:sp>
        <p:nvSpPr>
          <p:cNvPr id="56" name="Text 54"/>
          <p:cNvSpPr/>
          <p:nvPr/>
        </p:nvSpPr>
        <p:spPr>
          <a:xfrm>
            <a:off x="8001000" y="5257800"/>
            <a:ext cx="3657600" cy="274320"/>
          </a:xfrm>
          <a:prstGeom prst="rect">
            <a:avLst/>
          </a:prstGeom>
          <a:noFill/>
          <a:ln/>
        </p:spPr>
        <p:txBody>
          <a:bodyPr wrap="square" lIns="0" tIns="0" rIns="0" bIns="0" rtlCol="0" anchor="ctr"/>
          <a:lstStyle/>
          <a:p>
            <a:pPr indent="0" marL="0">
              <a:buNone/>
            </a:pPr>
            <a:r>
              <a:rPr lang="en-US" sz="1150" b="1" spc="160" kern="0" dirty="0">
                <a:solidFill>
                  <a:srgbClr val="E39B2C"/>
                </a:solidFill>
                <a:latin typeface="Calibri" pitchFamily="34" charset="0"/>
                <a:ea typeface="Calibri" pitchFamily="34" charset="-122"/>
                <a:cs typeface="Calibri" pitchFamily="34" charset="-120"/>
              </a:rPr>
              <a:t>Spend you can see</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THE PROBLEM WE FACE</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Cloud spend is dynamic, distributed and opaque</a:t>
            </a:r>
            <a:endParaRPr lang="en-US" sz="3100" dirty="0"/>
          </a:p>
        </p:txBody>
      </p:sp>
      <p:sp>
        <p:nvSpPr>
          <p:cNvPr id="4" name="Shape 2"/>
          <p:cNvSpPr/>
          <p:nvPr/>
        </p:nvSpPr>
        <p:spPr>
          <a:xfrm>
            <a:off x="548640" y="2103120"/>
            <a:ext cx="512064" cy="512064"/>
          </a:xfrm>
          <a:prstGeom prst="ellipse">
            <a:avLst/>
          </a:prstGeom>
          <a:solidFill>
            <a:srgbClr val="FBEFD8"/>
          </a:solidFill>
          <a:ln/>
        </p:spPr>
      </p:sp>
      <p:pic>
        <p:nvPicPr>
          <p:cNvPr id="5" name="Image 0" descr="preencoded.png">    </p:cNvPr>
          <p:cNvPicPr>
            <a:picLocks noChangeAspect="1"/>
          </p:cNvPicPr>
          <p:nvPr/>
        </p:nvPicPr>
        <p:blipFill>
          <a:blip r:embed="rId1"/>
          <a:stretch>
            <a:fillRect/>
          </a:stretch>
        </p:blipFill>
        <p:spPr>
          <a:xfrm>
            <a:off x="676656" y="2231136"/>
            <a:ext cx="256032" cy="256032"/>
          </a:xfrm>
          <a:prstGeom prst="rect">
            <a:avLst/>
          </a:prstGeom>
        </p:spPr>
      </p:pic>
      <p:sp>
        <p:nvSpPr>
          <p:cNvPr id="6" name="Text 3"/>
          <p:cNvSpPr/>
          <p:nvPr/>
        </p:nvSpPr>
        <p:spPr>
          <a:xfrm>
            <a:off x="1316736" y="1965960"/>
            <a:ext cx="5175504" cy="786384"/>
          </a:xfrm>
          <a:prstGeom prst="rect">
            <a:avLst/>
          </a:prstGeom>
          <a:noFill/>
          <a:ln/>
        </p:spPr>
        <p:txBody>
          <a:bodyPr wrap="square" lIns="0" tIns="0" rIns="0" bIns="0" rtlCol="0" anchor="ctr"/>
          <a:lstStyle/>
          <a:p>
            <a:pPr indent="0" marL="0">
              <a:lnSpc>
                <a:spcPts val="1600"/>
              </a:lnSpc>
              <a:buNone/>
            </a:pPr>
            <a:r>
              <a:rPr lang="en-US" sz="1500" b="1" dirty="0">
                <a:solidFill>
                  <a:srgbClr val="1B2430"/>
                </a:solidFill>
                <a:latin typeface="Calibri" pitchFamily="34" charset="0"/>
                <a:ea typeface="Calibri" pitchFamily="34" charset="-122"/>
                <a:cs typeface="Calibri" pitchFamily="34" charset="-120"/>
              </a:rPr>
              <a:t>Costs move daily</a:t>
            </a:r>
            <a:endParaRPr lang="en-US" sz="150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Spend is dynamic and distributed across teams, services and regions.</a:t>
            </a:r>
            <a:endParaRPr lang="en-US" sz="1500" dirty="0"/>
          </a:p>
        </p:txBody>
      </p:sp>
      <p:sp>
        <p:nvSpPr>
          <p:cNvPr id="7" name="Shape 4"/>
          <p:cNvSpPr/>
          <p:nvPr/>
        </p:nvSpPr>
        <p:spPr>
          <a:xfrm>
            <a:off x="548640" y="3108960"/>
            <a:ext cx="512064" cy="512064"/>
          </a:xfrm>
          <a:prstGeom prst="ellipse">
            <a:avLst/>
          </a:prstGeom>
          <a:solidFill>
            <a:srgbClr val="FBEFD8"/>
          </a:solidFill>
          <a:ln/>
        </p:spPr>
      </p:sp>
      <p:pic>
        <p:nvPicPr>
          <p:cNvPr id="8" name="Image 1" descr="preencoded.png">    </p:cNvPr>
          <p:cNvPicPr>
            <a:picLocks noChangeAspect="1"/>
          </p:cNvPicPr>
          <p:nvPr/>
        </p:nvPicPr>
        <p:blipFill>
          <a:blip r:embed="rId2"/>
          <a:stretch>
            <a:fillRect/>
          </a:stretch>
        </p:blipFill>
        <p:spPr>
          <a:xfrm>
            <a:off x="676656" y="3236976"/>
            <a:ext cx="256032" cy="256032"/>
          </a:xfrm>
          <a:prstGeom prst="rect">
            <a:avLst/>
          </a:prstGeom>
        </p:spPr>
      </p:pic>
      <p:sp>
        <p:nvSpPr>
          <p:cNvPr id="9" name="Text 5"/>
          <p:cNvSpPr/>
          <p:nvPr/>
        </p:nvSpPr>
        <p:spPr>
          <a:xfrm>
            <a:off x="1316736" y="2971800"/>
            <a:ext cx="5175504" cy="786384"/>
          </a:xfrm>
          <a:prstGeom prst="rect">
            <a:avLst/>
          </a:prstGeom>
          <a:noFill/>
          <a:ln/>
        </p:spPr>
        <p:txBody>
          <a:bodyPr wrap="square" lIns="0" tIns="0" rIns="0" bIns="0" rtlCol="0" anchor="ctr"/>
          <a:lstStyle/>
          <a:p>
            <a:pPr indent="0" marL="0">
              <a:lnSpc>
                <a:spcPts val="1600"/>
              </a:lnSpc>
              <a:buNone/>
            </a:pPr>
            <a:r>
              <a:rPr lang="en-US" sz="1500" b="1" dirty="0">
                <a:solidFill>
                  <a:srgbClr val="1B2430"/>
                </a:solidFill>
                <a:latin typeface="Calibri" pitchFamily="34" charset="0"/>
                <a:ea typeface="Calibri" pitchFamily="34" charset="-122"/>
                <a:cs typeface="Calibri" pitchFamily="34" charset="-120"/>
              </a:rPr>
              <a:t>Budgeting models don't fit</a:t>
            </a:r>
            <a:endParaRPr lang="en-US" sz="150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Traditional IT budgeting assumes fixed, predictable costs. Cloud is neither.</a:t>
            </a:r>
            <a:endParaRPr lang="en-US" sz="1500" dirty="0"/>
          </a:p>
        </p:txBody>
      </p:sp>
      <p:sp>
        <p:nvSpPr>
          <p:cNvPr id="10" name="Shape 6"/>
          <p:cNvSpPr/>
          <p:nvPr/>
        </p:nvSpPr>
        <p:spPr>
          <a:xfrm>
            <a:off x="548640" y="4114800"/>
            <a:ext cx="512064" cy="512064"/>
          </a:xfrm>
          <a:prstGeom prst="ellipse">
            <a:avLst/>
          </a:prstGeom>
          <a:solidFill>
            <a:srgbClr val="FBEFD8"/>
          </a:solidFill>
          <a:ln/>
        </p:spPr>
      </p:sp>
      <p:pic>
        <p:nvPicPr>
          <p:cNvPr id="11" name="Image 2" descr="preencoded.png">    </p:cNvPr>
          <p:cNvPicPr>
            <a:picLocks noChangeAspect="1"/>
          </p:cNvPicPr>
          <p:nvPr/>
        </p:nvPicPr>
        <p:blipFill>
          <a:blip r:embed="rId3"/>
          <a:stretch>
            <a:fillRect/>
          </a:stretch>
        </p:blipFill>
        <p:spPr>
          <a:xfrm>
            <a:off x="676656" y="4242816"/>
            <a:ext cx="256032" cy="256032"/>
          </a:xfrm>
          <a:prstGeom prst="rect">
            <a:avLst/>
          </a:prstGeom>
        </p:spPr>
      </p:pic>
      <p:sp>
        <p:nvSpPr>
          <p:cNvPr id="12" name="Text 7"/>
          <p:cNvSpPr/>
          <p:nvPr/>
        </p:nvSpPr>
        <p:spPr>
          <a:xfrm>
            <a:off x="1316736" y="3977640"/>
            <a:ext cx="5175504" cy="786384"/>
          </a:xfrm>
          <a:prstGeom prst="rect">
            <a:avLst/>
          </a:prstGeom>
          <a:noFill/>
          <a:ln/>
        </p:spPr>
        <p:txBody>
          <a:bodyPr wrap="square" lIns="0" tIns="0" rIns="0" bIns="0" rtlCol="0" anchor="ctr"/>
          <a:lstStyle/>
          <a:p>
            <a:pPr indent="0" marL="0">
              <a:lnSpc>
                <a:spcPts val="1600"/>
              </a:lnSpc>
              <a:buNone/>
            </a:pPr>
            <a:r>
              <a:rPr lang="en-US" sz="1500" b="1" dirty="0">
                <a:solidFill>
                  <a:srgbClr val="1B2430"/>
                </a:solidFill>
                <a:latin typeface="Calibri" pitchFamily="34" charset="0"/>
                <a:ea typeface="Calibri" pitchFamily="34" charset="-122"/>
                <a:cs typeface="Calibri" pitchFamily="34" charset="-120"/>
              </a:rPr>
              <a:t>Engineers spend money</a:t>
            </a:r>
            <a:endParaRPr lang="en-US" sz="150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Technical decisions made daily carry direct, immediate financial consequences.</a:t>
            </a:r>
            <a:endParaRPr lang="en-US" sz="1500" dirty="0"/>
          </a:p>
        </p:txBody>
      </p:sp>
      <p:sp>
        <p:nvSpPr>
          <p:cNvPr id="13" name="Shape 8"/>
          <p:cNvSpPr/>
          <p:nvPr/>
        </p:nvSpPr>
        <p:spPr>
          <a:xfrm>
            <a:off x="548640" y="5120640"/>
            <a:ext cx="512064" cy="512064"/>
          </a:xfrm>
          <a:prstGeom prst="ellipse">
            <a:avLst/>
          </a:prstGeom>
          <a:solidFill>
            <a:srgbClr val="FBEFD8"/>
          </a:solidFill>
          <a:ln/>
        </p:spPr>
      </p:sp>
      <p:pic>
        <p:nvPicPr>
          <p:cNvPr id="14" name="Image 3" descr="preencoded.png">    </p:cNvPr>
          <p:cNvPicPr>
            <a:picLocks noChangeAspect="1"/>
          </p:cNvPicPr>
          <p:nvPr/>
        </p:nvPicPr>
        <p:blipFill>
          <a:blip r:embed="rId4"/>
          <a:stretch>
            <a:fillRect/>
          </a:stretch>
        </p:blipFill>
        <p:spPr>
          <a:xfrm>
            <a:off x="676656" y="5248656"/>
            <a:ext cx="256032" cy="256032"/>
          </a:xfrm>
          <a:prstGeom prst="rect">
            <a:avLst/>
          </a:prstGeom>
        </p:spPr>
      </p:pic>
      <p:sp>
        <p:nvSpPr>
          <p:cNvPr id="15" name="Text 9"/>
          <p:cNvSpPr/>
          <p:nvPr/>
        </p:nvSpPr>
        <p:spPr>
          <a:xfrm>
            <a:off x="1316736" y="4983480"/>
            <a:ext cx="5175504" cy="786384"/>
          </a:xfrm>
          <a:prstGeom prst="rect">
            <a:avLst/>
          </a:prstGeom>
          <a:noFill/>
          <a:ln/>
        </p:spPr>
        <p:txBody>
          <a:bodyPr wrap="square" lIns="0" tIns="0" rIns="0" bIns="0" rtlCol="0" anchor="ctr"/>
          <a:lstStyle/>
          <a:p>
            <a:pPr indent="0" marL="0">
              <a:lnSpc>
                <a:spcPts val="1600"/>
              </a:lnSpc>
              <a:buNone/>
            </a:pPr>
            <a:r>
              <a:rPr lang="en-US" sz="1500" b="1" dirty="0">
                <a:solidFill>
                  <a:srgbClr val="1B2430"/>
                </a:solidFill>
                <a:latin typeface="Calibri" pitchFamily="34" charset="0"/>
                <a:ea typeface="Calibri" pitchFamily="34" charset="-122"/>
                <a:cs typeface="Calibri" pitchFamily="34" charset="-120"/>
              </a:rPr>
              <a:t>Bills arrive without context</a:t>
            </a:r>
            <a:endParaRPr lang="en-US" sz="150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Monthly invoices show what was spent — rarely who spent it, or why.</a:t>
            </a:r>
            <a:endParaRPr lang="en-US" sz="1500" dirty="0"/>
          </a:p>
        </p:txBody>
      </p:sp>
      <p:sp>
        <p:nvSpPr>
          <p:cNvPr id="16" name="Shape 10"/>
          <p:cNvSpPr/>
          <p:nvPr/>
        </p:nvSpPr>
        <p:spPr>
          <a:xfrm>
            <a:off x="6858000" y="1965960"/>
            <a:ext cx="4782312" cy="2194560"/>
          </a:xfrm>
          <a:prstGeom prst="roundRect">
            <a:avLst>
              <a:gd name="adj" fmla="val 3750"/>
            </a:avLst>
          </a:prstGeom>
          <a:solidFill>
            <a:srgbClr val="F1F3F6"/>
          </a:solidFill>
          <a:ln/>
          <a:effectLst>
            <a:outerShdw sx="100000" sy="100000" kx="0" ky="0" algn="bl" rotWithShape="0" blurRad="127000" dist="25400" dir="5400000">
              <a:srgbClr val="8C99A8">
                <a:alpha val="16000"/>
              </a:srgbClr>
            </a:outerShdw>
          </a:effectLst>
        </p:spPr>
      </p:sp>
      <p:sp>
        <p:nvSpPr>
          <p:cNvPr id="17" name="Text 11"/>
          <p:cNvSpPr/>
          <p:nvPr/>
        </p:nvSpPr>
        <p:spPr>
          <a:xfrm>
            <a:off x="7150608" y="2075688"/>
            <a:ext cx="4197096" cy="1975104"/>
          </a:xfrm>
          <a:prstGeom prst="rect">
            <a:avLst/>
          </a:prstGeom>
          <a:noFill/>
          <a:ln/>
        </p:spPr>
        <p:txBody>
          <a:bodyPr wrap="square" lIns="0" tIns="0" rIns="0" bIns="0" rtlCol="0" anchor="ctr"/>
          <a:lstStyle/>
          <a:p>
            <a:pPr indent="0" marL="0">
              <a:lnSpc>
                <a:spcPts val="2000"/>
              </a:lnSpc>
              <a:buNone/>
            </a:pPr>
            <a:r>
              <a:rPr lang="en-US" sz="1450" i="1" dirty="0">
                <a:solidFill>
                  <a:srgbClr val="1B2430"/>
                </a:solidFill>
                <a:latin typeface="Cambria" pitchFamily="34" charset="0"/>
                <a:ea typeface="Cambria" pitchFamily="34" charset="-122"/>
                <a:cs typeface="Cambria" pitchFamily="34" charset="-120"/>
              </a:rPr>
              <a:t>“When costs rise and no one can explain who owns the change or what caused it, visibility has failed — even if a dashboard is showing numbers.”</a:t>
            </a:r>
            <a:endParaRPr lang="en-US" sz="1450" dirty="0"/>
          </a:p>
        </p:txBody>
      </p:sp>
      <p:sp>
        <p:nvSpPr>
          <p:cNvPr id="18" name="Shape 12"/>
          <p:cNvSpPr/>
          <p:nvPr/>
        </p:nvSpPr>
        <p:spPr>
          <a:xfrm>
            <a:off x="6858000" y="4352544"/>
            <a:ext cx="4782312" cy="1508760"/>
          </a:xfrm>
          <a:prstGeom prst="roundRect">
            <a:avLst>
              <a:gd name="adj" fmla="val 5455"/>
            </a:avLst>
          </a:prstGeom>
          <a:solidFill>
            <a:srgbClr val="1F2936"/>
          </a:solidFill>
          <a:ln/>
          <a:effectLst>
            <a:outerShdw sx="100000" sy="100000" kx="0" ky="0" algn="bl" rotWithShape="0" blurRad="127000" dist="25400" dir="5400000">
              <a:srgbClr val="8C99A8">
                <a:alpha val="16000"/>
              </a:srgbClr>
            </a:outerShdw>
          </a:effectLst>
        </p:spPr>
      </p:sp>
      <p:sp>
        <p:nvSpPr>
          <p:cNvPr id="19" name="Text 13"/>
          <p:cNvSpPr/>
          <p:nvPr/>
        </p:nvSpPr>
        <p:spPr>
          <a:xfrm>
            <a:off x="7150608" y="4489704"/>
            <a:ext cx="4197096" cy="1234440"/>
          </a:xfrm>
          <a:prstGeom prst="rect">
            <a:avLst/>
          </a:prstGeom>
          <a:noFill/>
          <a:ln/>
        </p:spPr>
        <p:txBody>
          <a:bodyPr wrap="square" lIns="0" tIns="0" rIns="0" bIns="0" rtlCol="0" anchor="ctr"/>
          <a:lstStyle/>
          <a:p>
            <a:pPr indent="0" marL="0">
              <a:lnSpc>
                <a:spcPts val="2000"/>
              </a:lnSpc>
              <a:buNone/>
            </a:pPr>
            <a:r>
              <a:rPr lang="en-US" sz="1200" b="1" spc="180" kern="0" dirty="0">
                <a:solidFill>
                  <a:srgbClr val="E39B2C"/>
                </a:solidFill>
                <a:latin typeface="Calibri" pitchFamily="34" charset="0"/>
                <a:ea typeface="Calibri" pitchFamily="34" charset="-122"/>
                <a:cs typeface="Calibri" pitchFamily="34" charset="-120"/>
              </a:rPr>
              <a:t>The result</a:t>
            </a:r>
            <a:endParaRPr lang="en-US" sz="1200" dirty="0"/>
          </a:p>
          <a:p>
            <a:pPr indent="0" marL="0">
              <a:lnSpc>
                <a:spcPts val="2000"/>
              </a:lnSpc>
              <a:buNone/>
            </a:pPr>
            <a:r>
              <a:rPr lang="en-US" sz="1450" dirty="0">
                <a:solidFill>
                  <a:srgbClr val="FFFFFF"/>
                </a:solidFill>
                <a:latin typeface="Calibri" pitchFamily="34" charset="0"/>
                <a:ea typeface="Calibri" pitchFamily="34" charset="-122"/>
                <a:cs typeface="Calibri" pitchFamily="34" charset="-120"/>
              </a:rPr>
              <a:t>Sticker shock, finger-pointing and reactive cost-cutting instead of strategic optimization.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DEFINITION</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FinOps = Finance + DevOps</a:t>
            </a:r>
            <a:endParaRPr lang="en-US" sz="3100" dirty="0"/>
          </a:p>
        </p:txBody>
      </p:sp>
      <p:sp>
        <p:nvSpPr>
          <p:cNvPr id="4" name="Text 2"/>
          <p:cNvSpPr/>
          <p:nvPr/>
        </p:nvSpPr>
        <p:spPr>
          <a:xfrm>
            <a:off x="548640" y="1572768"/>
            <a:ext cx="10881360" cy="566928"/>
          </a:xfrm>
          <a:prstGeom prst="rect">
            <a:avLst/>
          </a:prstGeom>
          <a:noFill/>
          <a:ln/>
        </p:spPr>
        <p:txBody>
          <a:bodyPr wrap="square" lIns="0" tIns="0" rIns="0" bIns="0" rtlCol="0" anchor="ctr"/>
          <a:lstStyle/>
          <a:p>
            <a:pPr indent="0" marL="0">
              <a:buNone/>
            </a:pPr>
            <a:r>
              <a:rPr lang="en-US" sz="1450" dirty="0">
                <a:solidFill>
                  <a:srgbClr val="5C6675"/>
                </a:solidFill>
                <a:latin typeface="Calibri" pitchFamily="34" charset="0"/>
                <a:ea typeface="Calibri" pitchFamily="34" charset="-122"/>
                <a:cs typeface="Calibri" pitchFamily="34" charset="-120"/>
              </a:rPr>
              <a:t>An operational framework and cultural practice for maximizing the business value of cloud investment. Not a cost-cutting programme — a way to make the financial impact of technical choices visible to everyone.</a:t>
            </a:r>
            <a:endParaRPr lang="en-US" sz="1450" dirty="0"/>
          </a:p>
        </p:txBody>
      </p:sp>
      <p:sp>
        <p:nvSpPr>
          <p:cNvPr id="5" name="Shape 3"/>
          <p:cNvSpPr/>
          <p:nvPr/>
        </p:nvSpPr>
        <p:spPr>
          <a:xfrm>
            <a:off x="548640" y="2468880"/>
            <a:ext cx="3511296" cy="2423160"/>
          </a:xfrm>
          <a:prstGeom prst="roundRect">
            <a:avLst>
              <a:gd name="adj" fmla="val 3396"/>
            </a:avLst>
          </a:prstGeom>
          <a:solidFill>
            <a:srgbClr val="1F2936"/>
          </a:solidFill>
          <a:ln/>
          <a:effectLst>
            <a:outerShdw sx="100000" sy="100000" kx="0" ky="0" algn="bl" rotWithShape="0" blurRad="127000" dist="25400" dir="5400000">
              <a:srgbClr val="8C99A8">
                <a:alpha val="16000"/>
              </a:srgbClr>
            </a:outerShdw>
          </a:effectLst>
        </p:spPr>
      </p:sp>
      <p:sp>
        <p:nvSpPr>
          <p:cNvPr id="6" name="Shape 4"/>
          <p:cNvSpPr/>
          <p:nvPr/>
        </p:nvSpPr>
        <p:spPr>
          <a:xfrm>
            <a:off x="859536" y="2743200"/>
            <a:ext cx="603504" cy="603504"/>
          </a:xfrm>
          <a:prstGeom prst="ellipse">
            <a:avLst/>
          </a:prstGeom>
          <a:solidFill>
            <a:srgbClr val="E39B2C"/>
          </a:solidFill>
          <a:ln/>
        </p:spPr>
      </p:sp>
      <p:pic>
        <p:nvPicPr>
          <p:cNvPr id="7" name="Image 0" descr="preencoded.png">    </p:cNvPr>
          <p:cNvPicPr>
            <a:picLocks noChangeAspect="1"/>
          </p:cNvPicPr>
          <p:nvPr/>
        </p:nvPicPr>
        <p:blipFill>
          <a:blip r:embed="rId1"/>
          <a:stretch>
            <a:fillRect/>
          </a:stretch>
        </p:blipFill>
        <p:spPr>
          <a:xfrm>
            <a:off x="1010412" y="2894076"/>
            <a:ext cx="301752" cy="301752"/>
          </a:xfrm>
          <a:prstGeom prst="rect">
            <a:avLst/>
          </a:prstGeom>
        </p:spPr>
      </p:pic>
      <p:sp>
        <p:nvSpPr>
          <p:cNvPr id="8" name="Text 5"/>
          <p:cNvSpPr/>
          <p:nvPr/>
        </p:nvSpPr>
        <p:spPr>
          <a:xfrm>
            <a:off x="2926080" y="2743200"/>
            <a:ext cx="822960" cy="603504"/>
          </a:xfrm>
          <a:prstGeom prst="rect">
            <a:avLst/>
          </a:prstGeom>
          <a:noFill/>
          <a:ln/>
        </p:spPr>
        <p:txBody>
          <a:bodyPr wrap="square" lIns="0" tIns="0" rIns="0" bIns="0" rtlCol="0" anchor="ctr"/>
          <a:lstStyle/>
          <a:p>
            <a:pPr algn="r" indent="0" marL="0">
              <a:buNone/>
            </a:pPr>
            <a:r>
              <a:rPr lang="en-US" sz="2600" b="1" dirty="0">
                <a:solidFill>
                  <a:srgbClr val="3B4A5A"/>
                </a:solidFill>
                <a:latin typeface="Cambria" pitchFamily="34" charset="0"/>
                <a:ea typeface="Cambria" pitchFamily="34" charset="-122"/>
                <a:cs typeface="Cambria" pitchFamily="34" charset="-120"/>
              </a:rPr>
              <a:t>01</a:t>
            </a:r>
            <a:endParaRPr lang="en-US" sz="2600" dirty="0"/>
          </a:p>
        </p:txBody>
      </p:sp>
      <p:sp>
        <p:nvSpPr>
          <p:cNvPr id="9" name="Text 6"/>
          <p:cNvSpPr/>
          <p:nvPr/>
        </p:nvSpPr>
        <p:spPr>
          <a:xfrm>
            <a:off x="859536" y="3493008"/>
            <a:ext cx="2889504" cy="384048"/>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Inform</a:t>
            </a:r>
            <a:endParaRPr lang="en-US" sz="2200" dirty="0"/>
          </a:p>
        </p:txBody>
      </p:sp>
      <p:sp>
        <p:nvSpPr>
          <p:cNvPr id="10" name="Text 7"/>
          <p:cNvSpPr/>
          <p:nvPr/>
        </p:nvSpPr>
        <p:spPr>
          <a:xfrm>
            <a:off x="859536" y="3913632"/>
            <a:ext cx="2889504" cy="822960"/>
          </a:xfrm>
          <a:prstGeom prst="rect">
            <a:avLst/>
          </a:prstGeom>
          <a:noFill/>
          <a:ln/>
        </p:spPr>
        <p:txBody>
          <a:bodyPr wrap="square" lIns="0" tIns="0" rIns="0" bIns="0" rtlCol="0" anchor="t"/>
          <a:lstStyle/>
          <a:p>
            <a:pPr indent="0" marL="0">
              <a:lnSpc>
                <a:spcPts val="1700"/>
              </a:lnSpc>
              <a:buNone/>
            </a:pPr>
            <a:r>
              <a:rPr lang="en-US" sz="1300" dirty="0">
                <a:solidFill>
                  <a:srgbClr val="9EABBA"/>
                </a:solidFill>
                <a:latin typeface="Calibri" pitchFamily="34" charset="0"/>
                <a:ea typeface="Calibri" pitchFamily="34" charset="-122"/>
                <a:cs typeface="Calibri" pitchFamily="34" charset="-120"/>
              </a:rPr>
              <a:t>Build visibility. Understand who is spending what, where, and why.</a:t>
            </a:r>
            <a:endParaRPr lang="en-US" sz="1300" dirty="0"/>
          </a:p>
        </p:txBody>
      </p:sp>
      <p:sp>
        <p:nvSpPr>
          <p:cNvPr id="11" name="Shape 8"/>
          <p:cNvSpPr/>
          <p:nvPr/>
        </p:nvSpPr>
        <p:spPr>
          <a:xfrm>
            <a:off x="4334256" y="2468880"/>
            <a:ext cx="3511296" cy="2423160"/>
          </a:xfrm>
          <a:prstGeom prst="roundRect">
            <a:avLst>
              <a:gd name="adj" fmla="val 3396"/>
            </a:avLst>
          </a:prstGeom>
          <a:solidFill>
            <a:srgbClr val="F1F3F6"/>
          </a:solidFill>
          <a:ln/>
          <a:effectLst>
            <a:outerShdw sx="100000" sy="100000" kx="0" ky="0" algn="bl" rotWithShape="0" blurRad="127000" dist="25400" dir="5400000">
              <a:srgbClr val="8C99A8">
                <a:alpha val="16000"/>
              </a:srgbClr>
            </a:outerShdw>
          </a:effectLst>
        </p:spPr>
      </p:sp>
      <p:sp>
        <p:nvSpPr>
          <p:cNvPr id="12" name="Shape 9"/>
          <p:cNvSpPr/>
          <p:nvPr/>
        </p:nvSpPr>
        <p:spPr>
          <a:xfrm>
            <a:off x="4645152" y="2743200"/>
            <a:ext cx="603504" cy="603504"/>
          </a:xfrm>
          <a:prstGeom prst="ellipse">
            <a:avLst/>
          </a:prstGeom>
          <a:solidFill>
            <a:srgbClr val="FFFFFF"/>
          </a:solidFill>
          <a:ln/>
        </p:spPr>
      </p:sp>
      <p:pic>
        <p:nvPicPr>
          <p:cNvPr id="13" name="Image 1" descr="preencoded.png">    </p:cNvPr>
          <p:cNvPicPr>
            <a:picLocks noChangeAspect="1"/>
          </p:cNvPicPr>
          <p:nvPr/>
        </p:nvPicPr>
        <p:blipFill>
          <a:blip r:embed="rId2"/>
          <a:stretch>
            <a:fillRect/>
          </a:stretch>
        </p:blipFill>
        <p:spPr>
          <a:xfrm>
            <a:off x="4796028" y="2894076"/>
            <a:ext cx="301752" cy="301752"/>
          </a:xfrm>
          <a:prstGeom prst="rect">
            <a:avLst/>
          </a:prstGeom>
        </p:spPr>
      </p:pic>
      <p:sp>
        <p:nvSpPr>
          <p:cNvPr id="14" name="Text 10"/>
          <p:cNvSpPr/>
          <p:nvPr/>
        </p:nvSpPr>
        <p:spPr>
          <a:xfrm>
            <a:off x="6711696" y="2743200"/>
            <a:ext cx="822960" cy="603504"/>
          </a:xfrm>
          <a:prstGeom prst="rect">
            <a:avLst/>
          </a:prstGeom>
          <a:noFill/>
          <a:ln/>
        </p:spPr>
        <p:txBody>
          <a:bodyPr wrap="square" lIns="0" tIns="0" rIns="0" bIns="0" rtlCol="0" anchor="ctr"/>
          <a:lstStyle/>
          <a:p>
            <a:pPr algn="r" indent="0" marL="0">
              <a:buNone/>
            </a:pPr>
            <a:r>
              <a:rPr lang="en-US" sz="2600" b="1" dirty="0">
                <a:solidFill>
                  <a:srgbClr val="C8D0DA"/>
                </a:solidFill>
                <a:latin typeface="Cambria" pitchFamily="34" charset="0"/>
                <a:ea typeface="Cambria" pitchFamily="34" charset="-122"/>
                <a:cs typeface="Cambria" pitchFamily="34" charset="-120"/>
              </a:rPr>
              <a:t>02</a:t>
            </a:r>
            <a:endParaRPr lang="en-US" sz="2600" dirty="0"/>
          </a:p>
        </p:txBody>
      </p:sp>
      <p:sp>
        <p:nvSpPr>
          <p:cNvPr id="15" name="Text 11"/>
          <p:cNvSpPr/>
          <p:nvPr/>
        </p:nvSpPr>
        <p:spPr>
          <a:xfrm>
            <a:off x="4645152" y="3493008"/>
            <a:ext cx="2889504" cy="384048"/>
          </a:xfrm>
          <a:prstGeom prst="rect">
            <a:avLst/>
          </a:prstGeom>
          <a:noFill/>
          <a:ln/>
        </p:spPr>
        <p:txBody>
          <a:bodyPr wrap="square" lIns="0" tIns="0" rIns="0" bIns="0" rtlCol="0" anchor="ctr"/>
          <a:lstStyle/>
          <a:p>
            <a:pPr indent="0" marL="0">
              <a:buNone/>
            </a:pPr>
            <a:r>
              <a:rPr lang="en-US" sz="2200" b="1" dirty="0">
                <a:solidFill>
                  <a:srgbClr val="1B2430"/>
                </a:solidFill>
                <a:latin typeface="Cambria" pitchFamily="34" charset="0"/>
                <a:ea typeface="Cambria" pitchFamily="34" charset="-122"/>
                <a:cs typeface="Cambria" pitchFamily="34" charset="-120"/>
              </a:rPr>
              <a:t>Optimize</a:t>
            </a:r>
            <a:endParaRPr lang="en-US" sz="2200" dirty="0"/>
          </a:p>
        </p:txBody>
      </p:sp>
      <p:sp>
        <p:nvSpPr>
          <p:cNvPr id="16" name="Text 12"/>
          <p:cNvSpPr/>
          <p:nvPr/>
        </p:nvSpPr>
        <p:spPr>
          <a:xfrm>
            <a:off x="4645152" y="3913632"/>
            <a:ext cx="2889504" cy="822960"/>
          </a:xfrm>
          <a:prstGeom prst="rect">
            <a:avLst/>
          </a:prstGeom>
          <a:noFill/>
          <a:ln/>
        </p:spPr>
        <p:txBody>
          <a:bodyPr wrap="square" lIns="0" tIns="0" rIns="0" bIns="0" rtlCol="0" anchor="t"/>
          <a:lstStyle/>
          <a:p>
            <a:pPr indent="0" marL="0">
              <a:lnSpc>
                <a:spcPts val="1700"/>
              </a:lnSpc>
              <a:buNone/>
            </a:pPr>
            <a:r>
              <a:rPr lang="en-US" sz="1300" dirty="0">
                <a:solidFill>
                  <a:srgbClr val="5C6675"/>
                </a:solidFill>
                <a:latin typeface="Calibri" pitchFamily="34" charset="0"/>
                <a:ea typeface="Calibri" pitchFamily="34" charset="-122"/>
                <a:cs typeface="Calibri" pitchFamily="34" charset="-120"/>
              </a:rPr>
              <a:t>Act on the insight. Rightsize, eliminate waste, manage commitments.</a:t>
            </a:r>
            <a:endParaRPr lang="en-US" sz="1300" dirty="0"/>
          </a:p>
        </p:txBody>
      </p:sp>
      <p:sp>
        <p:nvSpPr>
          <p:cNvPr id="17" name="Shape 13"/>
          <p:cNvSpPr/>
          <p:nvPr/>
        </p:nvSpPr>
        <p:spPr>
          <a:xfrm>
            <a:off x="8119872" y="2468880"/>
            <a:ext cx="3511296" cy="2423160"/>
          </a:xfrm>
          <a:prstGeom prst="roundRect">
            <a:avLst>
              <a:gd name="adj" fmla="val 3396"/>
            </a:avLst>
          </a:prstGeom>
          <a:solidFill>
            <a:srgbClr val="F1F3F6"/>
          </a:solidFill>
          <a:ln/>
          <a:effectLst>
            <a:outerShdw sx="100000" sy="100000" kx="0" ky="0" algn="bl" rotWithShape="0" blurRad="127000" dist="25400" dir="5400000">
              <a:srgbClr val="8C99A8">
                <a:alpha val="16000"/>
              </a:srgbClr>
            </a:outerShdw>
          </a:effectLst>
        </p:spPr>
      </p:sp>
      <p:sp>
        <p:nvSpPr>
          <p:cNvPr id="18" name="Shape 14"/>
          <p:cNvSpPr/>
          <p:nvPr/>
        </p:nvSpPr>
        <p:spPr>
          <a:xfrm>
            <a:off x="8430768" y="2743200"/>
            <a:ext cx="603504" cy="603504"/>
          </a:xfrm>
          <a:prstGeom prst="ellipse">
            <a:avLst/>
          </a:prstGeom>
          <a:solidFill>
            <a:srgbClr val="FFFFFF"/>
          </a:solidFill>
          <a:ln/>
        </p:spPr>
      </p:sp>
      <p:pic>
        <p:nvPicPr>
          <p:cNvPr id="19" name="Image 2" descr="preencoded.png">    </p:cNvPr>
          <p:cNvPicPr>
            <a:picLocks noChangeAspect="1"/>
          </p:cNvPicPr>
          <p:nvPr/>
        </p:nvPicPr>
        <p:blipFill>
          <a:blip r:embed="rId3"/>
          <a:stretch>
            <a:fillRect/>
          </a:stretch>
        </p:blipFill>
        <p:spPr>
          <a:xfrm>
            <a:off x="8581644" y="2894076"/>
            <a:ext cx="301752" cy="301752"/>
          </a:xfrm>
          <a:prstGeom prst="rect">
            <a:avLst/>
          </a:prstGeom>
        </p:spPr>
      </p:pic>
      <p:sp>
        <p:nvSpPr>
          <p:cNvPr id="20" name="Text 15"/>
          <p:cNvSpPr/>
          <p:nvPr/>
        </p:nvSpPr>
        <p:spPr>
          <a:xfrm>
            <a:off x="10497312" y="2743200"/>
            <a:ext cx="822960" cy="603504"/>
          </a:xfrm>
          <a:prstGeom prst="rect">
            <a:avLst/>
          </a:prstGeom>
          <a:noFill/>
          <a:ln/>
        </p:spPr>
        <p:txBody>
          <a:bodyPr wrap="square" lIns="0" tIns="0" rIns="0" bIns="0" rtlCol="0" anchor="ctr"/>
          <a:lstStyle/>
          <a:p>
            <a:pPr algn="r" indent="0" marL="0">
              <a:buNone/>
            </a:pPr>
            <a:r>
              <a:rPr lang="en-US" sz="2600" b="1" dirty="0">
                <a:solidFill>
                  <a:srgbClr val="C8D0DA"/>
                </a:solidFill>
                <a:latin typeface="Cambria" pitchFamily="34" charset="0"/>
                <a:ea typeface="Cambria" pitchFamily="34" charset="-122"/>
                <a:cs typeface="Cambria" pitchFamily="34" charset="-120"/>
              </a:rPr>
              <a:t>03</a:t>
            </a:r>
            <a:endParaRPr lang="en-US" sz="2600" dirty="0"/>
          </a:p>
        </p:txBody>
      </p:sp>
      <p:sp>
        <p:nvSpPr>
          <p:cNvPr id="21" name="Text 16"/>
          <p:cNvSpPr/>
          <p:nvPr/>
        </p:nvSpPr>
        <p:spPr>
          <a:xfrm>
            <a:off x="8430768" y="3493008"/>
            <a:ext cx="2889504" cy="384048"/>
          </a:xfrm>
          <a:prstGeom prst="rect">
            <a:avLst/>
          </a:prstGeom>
          <a:noFill/>
          <a:ln/>
        </p:spPr>
        <p:txBody>
          <a:bodyPr wrap="square" lIns="0" tIns="0" rIns="0" bIns="0" rtlCol="0" anchor="ctr"/>
          <a:lstStyle/>
          <a:p>
            <a:pPr indent="0" marL="0">
              <a:buNone/>
            </a:pPr>
            <a:r>
              <a:rPr lang="en-US" sz="2200" b="1" dirty="0">
                <a:solidFill>
                  <a:srgbClr val="1B2430"/>
                </a:solidFill>
                <a:latin typeface="Cambria" pitchFamily="34" charset="0"/>
                <a:ea typeface="Cambria" pitchFamily="34" charset="-122"/>
                <a:cs typeface="Cambria" pitchFamily="34" charset="-120"/>
              </a:rPr>
              <a:t>Operate</a:t>
            </a:r>
            <a:endParaRPr lang="en-US" sz="2200" dirty="0"/>
          </a:p>
        </p:txBody>
      </p:sp>
      <p:sp>
        <p:nvSpPr>
          <p:cNvPr id="22" name="Text 17"/>
          <p:cNvSpPr/>
          <p:nvPr/>
        </p:nvSpPr>
        <p:spPr>
          <a:xfrm>
            <a:off x="8430768" y="3913632"/>
            <a:ext cx="2889504" cy="822960"/>
          </a:xfrm>
          <a:prstGeom prst="rect">
            <a:avLst/>
          </a:prstGeom>
          <a:noFill/>
          <a:ln/>
        </p:spPr>
        <p:txBody>
          <a:bodyPr wrap="square" lIns="0" tIns="0" rIns="0" bIns="0" rtlCol="0" anchor="t"/>
          <a:lstStyle/>
          <a:p>
            <a:pPr indent="0" marL="0">
              <a:lnSpc>
                <a:spcPts val="1700"/>
              </a:lnSpc>
              <a:buNone/>
            </a:pPr>
            <a:r>
              <a:rPr lang="en-US" sz="1300" dirty="0">
                <a:solidFill>
                  <a:srgbClr val="5C6675"/>
                </a:solidFill>
                <a:latin typeface="Calibri" pitchFamily="34" charset="0"/>
                <a:ea typeface="Calibri" pitchFamily="34" charset="-122"/>
                <a:cs typeface="Calibri" pitchFamily="34" charset="-120"/>
              </a:rPr>
              <a:t>Embed cost awareness into daily engineering and business process.</a:t>
            </a:r>
            <a:endParaRPr lang="en-US" sz="1300" dirty="0"/>
          </a:p>
        </p:txBody>
      </p:sp>
      <p:sp>
        <p:nvSpPr>
          <p:cNvPr id="23" name="Text 18"/>
          <p:cNvSpPr/>
          <p:nvPr/>
        </p:nvSpPr>
        <p:spPr>
          <a:xfrm>
            <a:off x="548640" y="5074920"/>
            <a:ext cx="5486400" cy="310896"/>
          </a:xfrm>
          <a:prstGeom prst="rect">
            <a:avLst/>
          </a:prstGeom>
          <a:noFill/>
          <a:ln/>
        </p:spPr>
        <p:txBody>
          <a:bodyPr wrap="square" lIns="0" tIns="0" rIns="0" bIns="0" rtlCol="0" anchor="ctr"/>
          <a:lstStyle/>
          <a:p>
            <a:pPr indent="0" marL="0">
              <a:buNone/>
            </a:pPr>
            <a:r>
              <a:rPr lang="en-US" sz="1250" dirty="0">
                <a:solidFill>
                  <a:srgbClr val="5C6675"/>
                </a:solidFill>
                <a:latin typeface="Calibri" pitchFamily="34" charset="0"/>
                <a:ea typeface="Calibri" pitchFamily="34" charset="-122"/>
                <a:cs typeface="Calibri" pitchFamily="34" charset="-120"/>
              </a:rPr>
              <a:t>A continuous cycle, not a sequence of projects.</a:t>
            </a:r>
            <a:endParaRPr lang="en-US" sz="1250" dirty="0"/>
          </a:p>
        </p:txBody>
      </p:sp>
      <p:sp>
        <p:nvSpPr>
          <p:cNvPr id="24" name="Shape 19"/>
          <p:cNvSpPr/>
          <p:nvPr/>
        </p:nvSpPr>
        <p:spPr>
          <a:xfrm>
            <a:off x="548640" y="5532120"/>
            <a:ext cx="11091672" cy="749808"/>
          </a:xfrm>
          <a:prstGeom prst="roundRect">
            <a:avLst>
              <a:gd name="adj" fmla="val 10976"/>
            </a:avLst>
          </a:prstGeom>
          <a:solidFill>
            <a:srgbClr val="FBEFD8"/>
          </a:solidFill>
          <a:ln/>
          <a:effectLst>
            <a:outerShdw sx="100000" sy="100000" kx="0" ky="0" algn="bl" rotWithShape="0" blurRad="127000" dist="25400" dir="5400000">
              <a:srgbClr val="8C99A8">
                <a:alpha val="16000"/>
              </a:srgbClr>
            </a:outerShdw>
          </a:effectLst>
        </p:spPr>
      </p:sp>
      <p:sp>
        <p:nvSpPr>
          <p:cNvPr id="25" name="Text 20"/>
          <p:cNvSpPr/>
          <p:nvPr/>
        </p:nvSpPr>
        <p:spPr>
          <a:xfrm>
            <a:off x="841248" y="5641848"/>
            <a:ext cx="10506456" cy="530352"/>
          </a:xfrm>
          <a:prstGeom prst="rect">
            <a:avLst/>
          </a:prstGeom>
          <a:noFill/>
          <a:ln/>
        </p:spPr>
        <p:txBody>
          <a:bodyPr wrap="square" lIns="0" tIns="0" rIns="0" bIns="0" rtlCol="0" anchor="ctr"/>
          <a:lstStyle/>
          <a:p>
            <a:pPr indent="0" marL="0">
              <a:lnSpc>
                <a:spcPts val="2000"/>
              </a:lnSpc>
              <a:buNone/>
            </a:pPr>
            <a:r>
              <a:rPr lang="en-US" sz="1600" i="1" dirty="0">
                <a:solidFill>
                  <a:srgbClr val="6B4A0E"/>
                </a:solidFill>
                <a:latin typeface="Cambria" pitchFamily="34" charset="0"/>
                <a:ea typeface="Cambria" pitchFamily="34" charset="-122"/>
                <a:cs typeface="Cambria" pitchFamily="34" charset="-120"/>
              </a:rPr>
              <a:t>“Without visibility, nothing else in the practice works.”</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WHY VISIBILITY FIRST</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You cannot optimize what you cannot see</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Four questions the organization must be able to answer before any meaningful optimization begins.</a:t>
            </a:r>
            <a:endParaRPr lang="en-US" sz="1500" dirty="0"/>
          </a:p>
        </p:txBody>
      </p:sp>
      <p:sp>
        <p:nvSpPr>
          <p:cNvPr id="5" name="Shape 3"/>
          <p:cNvSpPr/>
          <p:nvPr/>
        </p:nvSpPr>
        <p:spPr>
          <a:xfrm>
            <a:off x="548640" y="2084832"/>
            <a:ext cx="11091672" cy="713232"/>
          </a:xfrm>
          <a:prstGeom prst="roundRect">
            <a:avLst>
              <a:gd name="adj" fmla="val 11538"/>
            </a:avLst>
          </a:prstGeom>
          <a:solidFill>
            <a:srgbClr val="F1F3F6"/>
          </a:solidFill>
          <a:ln/>
        </p:spPr>
      </p:sp>
      <p:sp>
        <p:nvSpPr>
          <p:cNvPr id="6" name="Text 4"/>
          <p:cNvSpPr/>
          <p:nvPr/>
        </p:nvSpPr>
        <p:spPr>
          <a:xfrm>
            <a:off x="859536" y="2084832"/>
            <a:ext cx="7315200" cy="713232"/>
          </a:xfrm>
          <a:prstGeom prst="rect">
            <a:avLst/>
          </a:prstGeom>
          <a:noFill/>
          <a:ln/>
        </p:spPr>
        <p:txBody>
          <a:bodyPr wrap="square" lIns="0" tIns="0" rIns="0" bIns="0" rtlCol="0" anchor="ctr"/>
          <a:lstStyle/>
          <a:p>
            <a:pPr indent="0" marL="0">
              <a:buNone/>
            </a:pPr>
            <a:r>
              <a:rPr lang="en-US" sz="1500" b="1" dirty="0">
                <a:solidFill>
                  <a:srgbClr val="1B2430"/>
                </a:solidFill>
                <a:latin typeface="Calibri" pitchFamily="34" charset="0"/>
                <a:ea typeface="Calibri" pitchFamily="34" charset="-122"/>
                <a:cs typeface="Calibri" pitchFamily="34" charset="-120"/>
              </a:rPr>
              <a:t>Which teams, products or features drive cloud spend?</a:t>
            </a:r>
            <a:endParaRPr lang="en-US" sz="1500" dirty="0"/>
          </a:p>
        </p:txBody>
      </p:sp>
      <p:sp>
        <p:nvSpPr>
          <p:cNvPr id="7" name="Text 5"/>
          <p:cNvSpPr/>
          <p:nvPr/>
        </p:nvSpPr>
        <p:spPr>
          <a:xfrm>
            <a:off x="8321040" y="2258568"/>
            <a:ext cx="3017520" cy="365760"/>
          </a:xfrm>
          <a:prstGeom prst="rect">
            <a:avLst/>
          </a:prstGeom>
          <a:noFill/>
          <a:ln/>
        </p:spPr>
        <p:txBody>
          <a:bodyPr wrap="square" lIns="0" tIns="0" rIns="0" bIns="0" rtlCol="0" anchor="ctr"/>
          <a:lstStyle/>
          <a:p>
            <a:pPr algn="r" indent="0" marL="0">
              <a:buNone/>
            </a:pPr>
            <a:r>
              <a:rPr lang="en-US" sz="1250" b="1" spc="80" kern="0" dirty="0">
                <a:solidFill>
                  <a:srgbClr val="2E8B7A"/>
                </a:solidFill>
                <a:latin typeface="Calibri" pitchFamily="34" charset="0"/>
                <a:ea typeface="Calibri" pitchFamily="34" charset="-122"/>
                <a:cs typeface="Calibri" pitchFamily="34" charset="-120"/>
              </a:rPr>
              <a:t>Accountability</a:t>
            </a:r>
            <a:endParaRPr lang="en-US" sz="1250" dirty="0"/>
          </a:p>
        </p:txBody>
      </p:sp>
      <p:sp>
        <p:nvSpPr>
          <p:cNvPr id="8" name="Shape 6"/>
          <p:cNvSpPr/>
          <p:nvPr/>
        </p:nvSpPr>
        <p:spPr>
          <a:xfrm>
            <a:off x="548640" y="2907792"/>
            <a:ext cx="11091672" cy="713232"/>
          </a:xfrm>
          <a:prstGeom prst="roundRect">
            <a:avLst>
              <a:gd name="adj" fmla="val 11538"/>
            </a:avLst>
          </a:prstGeom>
          <a:solidFill>
            <a:srgbClr val="F1F3F6"/>
          </a:solidFill>
          <a:ln/>
        </p:spPr>
      </p:sp>
      <p:sp>
        <p:nvSpPr>
          <p:cNvPr id="9" name="Text 7"/>
          <p:cNvSpPr/>
          <p:nvPr/>
        </p:nvSpPr>
        <p:spPr>
          <a:xfrm>
            <a:off x="859536" y="2907792"/>
            <a:ext cx="7315200" cy="713232"/>
          </a:xfrm>
          <a:prstGeom prst="rect">
            <a:avLst/>
          </a:prstGeom>
          <a:noFill/>
          <a:ln/>
        </p:spPr>
        <p:txBody>
          <a:bodyPr wrap="square" lIns="0" tIns="0" rIns="0" bIns="0" rtlCol="0" anchor="ctr"/>
          <a:lstStyle/>
          <a:p>
            <a:pPr indent="0" marL="0">
              <a:buNone/>
            </a:pPr>
            <a:r>
              <a:rPr lang="en-US" sz="1500" b="1" dirty="0">
                <a:solidFill>
                  <a:srgbClr val="1B2430"/>
                </a:solidFill>
                <a:latin typeface="Calibri" pitchFamily="34" charset="0"/>
                <a:ea typeface="Calibri" pitchFamily="34" charset="-122"/>
                <a:cs typeface="Calibri" pitchFamily="34" charset="-120"/>
              </a:rPr>
              <a:t>Is spend growing with the business — or faster than it?</a:t>
            </a:r>
            <a:endParaRPr lang="en-US" sz="1500" dirty="0"/>
          </a:p>
        </p:txBody>
      </p:sp>
      <p:sp>
        <p:nvSpPr>
          <p:cNvPr id="10" name="Text 8"/>
          <p:cNvSpPr/>
          <p:nvPr/>
        </p:nvSpPr>
        <p:spPr>
          <a:xfrm>
            <a:off x="8321040" y="3081528"/>
            <a:ext cx="3017520" cy="365760"/>
          </a:xfrm>
          <a:prstGeom prst="rect">
            <a:avLst/>
          </a:prstGeom>
          <a:noFill/>
          <a:ln/>
        </p:spPr>
        <p:txBody>
          <a:bodyPr wrap="square" lIns="0" tIns="0" rIns="0" bIns="0" rtlCol="0" anchor="ctr"/>
          <a:lstStyle/>
          <a:p>
            <a:pPr algn="r" indent="0" marL="0">
              <a:buNone/>
            </a:pPr>
            <a:r>
              <a:rPr lang="en-US" sz="1250" b="1" spc="80" kern="0" dirty="0">
                <a:solidFill>
                  <a:srgbClr val="2E8B7A"/>
                </a:solidFill>
                <a:latin typeface="Calibri" pitchFamily="34" charset="0"/>
                <a:ea typeface="Calibri" pitchFamily="34" charset="-122"/>
                <a:cs typeface="Calibri" pitchFamily="34" charset="-120"/>
              </a:rPr>
              <a:t>Efficiency signal</a:t>
            </a:r>
            <a:endParaRPr lang="en-US" sz="1250" dirty="0"/>
          </a:p>
        </p:txBody>
      </p:sp>
      <p:sp>
        <p:nvSpPr>
          <p:cNvPr id="11" name="Shape 9"/>
          <p:cNvSpPr/>
          <p:nvPr/>
        </p:nvSpPr>
        <p:spPr>
          <a:xfrm>
            <a:off x="548640" y="3730752"/>
            <a:ext cx="11091672" cy="713232"/>
          </a:xfrm>
          <a:prstGeom prst="roundRect">
            <a:avLst>
              <a:gd name="adj" fmla="val 11538"/>
            </a:avLst>
          </a:prstGeom>
          <a:solidFill>
            <a:srgbClr val="F1F3F6"/>
          </a:solidFill>
          <a:ln/>
        </p:spPr>
      </p:sp>
      <p:sp>
        <p:nvSpPr>
          <p:cNvPr id="12" name="Text 10"/>
          <p:cNvSpPr/>
          <p:nvPr/>
        </p:nvSpPr>
        <p:spPr>
          <a:xfrm>
            <a:off x="859536" y="3730752"/>
            <a:ext cx="7315200" cy="713232"/>
          </a:xfrm>
          <a:prstGeom prst="rect">
            <a:avLst/>
          </a:prstGeom>
          <a:noFill/>
          <a:ln/>
        </p:spPr>
        <p:txBody>
          <a:bodyPr wrap="square" lIns="0" tIns="0" rIns="0" bIns="0" rtlCol="0" anchor="ctr"/>
          <a:lstStyle/>
          <a:p>
            <a:pPr indent="0" marL="0">
              <a:buNone/>
            </a:pPr>
            <a:r>
              <a:rPr lang="en-US" sz="1500" b="1" dirty="0">
                <a:solidFill>
                  <a:srgbClr val="1B2430"/>
                </a:solidFill>
                <a:latin typeface="Calibri" pitchFamily="34" charset="0"/>
                <a:ea typeface="Calibri" pitchFamily="34" charset="-122"/>
                <a:cs typeface="Calibri" pitchFamily="34" charset="-120"/>
              </a:rPr>
              <a:t>Which resources are paid for but sitting unused?</a:t>
            </a:r>
            <a:endParaRPr lang="en-US" sz="1500" dirty="0"/>
          </a:p>
        </p:txBody>
      </p:sp>
      <p:sp>
        <p:nvSpPr>
          <p:cNvPr id="13" name="Text 11"/>
          <p:cNvSpPr/>
          <p:nvPr/>
        </p:nvSpPr>
        <p:spPr>
          <a:xfrm>
            <a:off x="8321040" y="3904488"/>
            <a:ext cx="3017520" cy="365760"/>
          </a:xfrm>
          <a:prstGeom prst="rect">
            <a:avLst/>
          </a:prstGeom>
          <a:noFill/>
          <a:ln/>
        </p:spPr>
        <p:txBody>
          <a:bodyPr wrap="square" lIns="0" tIns="0" rIns="0" bIns="0" rtlCol="0" anchor="ctr"/>
          <a:lstStyle/>
          <a:p>
            <a:pPr algn="r" indent="0" marL="0">
              <a:buNone/>
            </a:pPr>
            <a:r>
              <a:rPr lang="en-US" sz="1250" b="1" spc="80" kern="0" dirty="0">
                <a:solidFill>
                  <a:srgbClr val="2E8B7A"/>
                </a:solidFill>
                <a:latin typeface="Calibri" pitchFamily="34" charset="0"/>
                <a:ea typeface="Calibri" pitchFamily="34" charset="-122"/>
                <a:cs typeface="Calibri" pitchFamily="34" charset="-120"/>
              </a:rPr>
              <a:t>Waste identification</a:t>
            </a:r>
            <a:endParaRPr lang="en-US" sz="1250" dirty="0"/>
          </a:p>
        </p:txBody>
      </p:sp>
      <p:sp>
        <p:nvSpPr>
          <p:cNvPr id="14" name="Shape 12"/>
          <p:cNvSpPr/>
          <p:nvPr/>
        </p:nvSpPr>
        <p:spPr>
          <a:xfrm>
            <a:off x="548640" y="4553712"/>
            <a:ext cx="11091672" cy="713232"/>
          </a:xfrm>
          <a:prstGeom prst="roundRect">
            <a:avLst>
              <a:gd name="adj" fmla="val 11538"/>
            </a:avLst>
          </a:prstGeom>
          <a:solidFill>
            <a:srgbClr val="F1F3F6"/>
          </a:solidFill>
          <a:ln/>
        </p:spPr>
      </p:sp>
      <p:sp>
        <p:nvSpPr>
          <p:cNvPr id="15" name="Text 13"/>
          <p:cNvSpPr/>
          <p:nvPr/>
        </p:nvSpPr>
        <p:spPr>
          <a:xfrm>
            <a:off x="859536" y="4553712"/>
            <a:ext cx="7315200" cy="713232"/>
          </a:xfrm>
          <a:prstGeom prst="rect">
            <a:avLst/>
          </a:prstGeom>
          <a:noFill/>
          <a:ln/>
        </p:spPr>
        <p:txBody>
          <a:bodyPr wrap="square" lIns="0" tIns="0" rIns="0" bIns="0" rtlCol="0" anchor="ctr"/>
          <a:lstStyle/>
          <a:p>
            <a:pPr indent="0" marL="0">
              <a:buNone/>
            </a:pPr>
            <a:r>
              <a:rPr lang="en-US" sz="1500" b="1" dirty="0">
                <a:solidFill>
                  <a:srgbClr val="1B2430"/>
                </a:solidFill>
                <a:latin typeface="Calibri" pitchFamily="34" charset="0"/>
                <a:ea typeface="Calibri" pitchFamily="34" charset="-122"/>
                <a:cs typeface="Calibri" pitchFamily="34" charset="-120"/>
              </a:rPr>
              <a:t>Are costs allocated accurately enough to drive ownership?</a:t>
            </a:r>
            <a:endParaRPr lang="en-US" sz="1500" dirty="0"/>
          </a:p>
        </p:txBody>
      </p:sp>
      <p:sp>
        <p:nvSpPr>
          <p:cNvPr id="16" name="Text 14"/>
          <p:cNvSpPr/>
          <p:nvPr/>
        </p:nvSpPr>
        <p:spPr>
          <a:xfrm>
            <a:off x="8321040" y="4727448"/>
            <a:ext cx="3017520" cy="365760"/>
          </a:xfrm>
          <a:prstGeom prst="rect">
            <a:avLst/>
          </a:prstGeom>
          <a:noFill/>
          <a:ln/>
        </p:spPr>
        <p:txBody>
          <a:bodyPr wrap="square" lIns="0" tIns="0" rIns="0" bIns="0" rtlCol="0" anchor="ctr"/>
          <a:lstStyle/>
          <a:p>
            <a:pPr algn="r" indent="0" marL="0">
              <a:buNone/>
            </a:pPr>
            <a:r>
              <a:rPr lang="en-US" sz="1250" b="1" spc="80" kern="0" dirty="0">
                <a:solidFill>
                  <a:srgbClr val="2E8B7A"/>
                </a:solidFill>
                <a:latin typeface="Calibri" pitchFamily="34" charset="0"/>
                <a:ea typeface="Calibri" pitchFamily="34" charset="-122"/>
                <a:cs typeface="Calibri" pitchFamily="34" charset="-120"/>
              </a:rPr>
              <a:t>Behaviour change</a:t>
            </a:r>
            <a:endParaRPr lang="en-US" sz="1250" dirty="0"/>
          </a:p>
        </p:txBody>
      </p:sp>
      <p:sp>
        <p:nvSpPr>
          <p:cNvPr id="17" name="Shape 15"/>
          <p:cNvSpPr/>
          <p:nvPr/>
        </p:nvSpPr>
        <p:spPr>
          <a:xfrm>
            <a:off x="548640" y="5504688"/>
            <a:ext cx="11091672" cy="841248"/>
          </a:xfrm>
          <a:prstGeom prst="roundRect">
            <a:avLst>
              <a:gd name="adj" fmla="val 9783"/>
            </a:avLst>
          </a:prstGeom>
          <a:solidFill>
            <a:srgbClr val="1F2936"/>
          </a:solidFill>
          <a:ln/>
          <a:effectLst>
            <a:outerShdw sx="100000" sy="100000" kx="0" ky="0" algn="bl" rotWithShape="0" blurRad="127000" dist="25400" dir="5400000">
              <a:srgbClr val="8C99A8">
                <a:alpha val="16000"/>
              </a:srgbClr>
            </a:outerShdw>
          </a:effectLst>
        </p:spPr>
      </p:sp>
      <p:sp>
        <p:nvSpPr>
          <p:cNvPr id="18" name="Text 16"/>
          <p:cNvSpPr/>
          <p:nvPr/>
        </p:nvSpPr>
        <p:spPr>
          <a:xfrm>
            <a:off x="859536" y="5504688"/>
            <a:ext cx="10469880" cy="841248"/>
          </a:xfrm>
          <a:prstGeom prst="rect">
            <a:avLst/>
          </a:prstGeom>
          <a:noFill/>
          <a:ln/>
        </p:spPr>
        <p:txBody>
          <a:bodyPr wrap="square" lIns="0" tIns="0" rIns="0" bIns="0" rtlCol="0" anchor="ctr"/>
          <a:lstStyle/>
          <a:p>
            <a:pPr indent="0" marL="0">
              <a:buNone/>
            </a:pPr>
            <a:r>
              <a:rPr lang="en-US" sz="1400" b="1" dirty="0">
                <a:solidFill>
                  <a:srgbClr val="E39B2C"/>
                </a:solidFill>
                <a:latin typeface="Calibri" pitchFamily="34" charset="0"/>
                <a:ea typeface="Calibri" pitchFamily="34" charset="-122"/>
                <a:cs typeface="Calibri" pitchFamily="34" charset="-120"/>
              </a:rPr>
              <a:t>The risk of skipping visibility:  </a:t>
            </a:r>
            <a:pPr indent="0" marL="0">
              <a:buNone/>
            </a:pPr>
            <a:r>
              <a:rPr lang="en-US" sz="1400" dirty="0">
                <a:solidFill>
                  <a:srgbClr val="FFFFFF"/>
                </a:solidFill>
                <a:latin typeface="Calibri" pitchFamily="34" charset="0"/>
                <a:ea typeface="Calibri" pitchFamily="34" charset="-122"/>
                <a:cs typeface="Calibri" pitchFamily="34" charset="-120"/>
              </a:rPr>
              <a:t>optimization becomes reactive and superficial — blanket cost-cutting instead of targeted action against real waste.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THE VISIBILITY FRAMEWORK</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What “good visibility” looks like</a:t>
            </a:r>
            <a:endParaRPr lang="en-US" sz="3100" dirty="0"/>
          </a:p>
        </p:txBody>
      </p:sp>
      <p:sp>
        <p:nvSpPr>
          <p:cNvPr id="4" name="Shape 2"/>
          <p:cNvSpPr/>
          <p:nvPr/>
        </p:nvSpPr>
        <p:spPr>
          <a:xfrm>
            <a:off x="548640" y="1783080"/>
            <a:ext cx="5394960" cy="1481328"/>
          </a:xfrm>
          <a:prstGeom prst="roundRect">
            <a:avLst>
              <a:gd name="adj" fmla="val 5556"/>
            </a:avLst>
          </a:prstGeom>
          <a:solidFill>
            <a:srgbClr val="F1F3F6"/>
          </a:solidFill>
          <a:ln/>
        </p:spPr>
      </p:sp>
      <p:sp>
        <p:nvSpPr>
          <p:cNvPr id="5" name="Shape 3"/>
          <p:cNvSpPr/>
          <p:nvPr/>
        </p:nvSpPr>
        <p:spPr>
          <a:xfrm>
            <a:off x="841248" y="2185416"/>
            <a:ext cx="640080" cy="640080"/>
          </a:xfrm>
          <a:prstGeom prst="ellipse">
            <a:avLst/>
          </a:prstGeom>
          <a:solidFill>
            <a:srgbClr val="FFFFFF"/>
          </a:solidFill>
          <a:ln/>
        </p:spPr>
      </p:sp>
      <p:pic>
        <p:nvPicPr>
          <p:cNvPr id="6" name="Image 0" descr="preencoded.png">    </p:cNvPr>
          <p:cNvPicPr>
            <a:picLocks noChangeAspect="1"/>
          </p:cNvPicPr>
          <p:nvPr/>
        </p:nvPicPr>
        <p:blipFill>
          <a:blip r:embed="rId1"/>
          <a:stretch>
            <a:fillRect/>
          </a:stretch>
        </p:blipFill>
        <p:spPr>
          <a:xfrm>
            <a:off x="1001268" y="2345436"/>
            <a:ext cx="320040" cy="320040"/>
          </a:xfrm>
          <a:prstGeom prst="rect">
            <a:avLst/>
          </a:prstGeom>
        </p:spPr>
      </p:pic>
      <p:sp>
        <p:nvSpPr>
          <p:cNvPr id="7" name="Text 4"/>
          <p:cNvSpPr/>
          <p:nvPr/>
        </p:nvSpPr>
        <p:spPr>
          <a:xfrm>
            <a:off x="1645920" y="2002536"/>
            <a:ext cx="4023360" cy="347472"/>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Cost allocation</a:t>
            </a:r>
            <a:endParaRPr lang="en-US" sz="1900" dirty="0"/>
          </a:p>
        </p:txBody>
      </p:sp>
      <p:sp>
        <p:nvSpPr>
          <p:cNvPr id="8" name="Text 5"/>
          <p:cNvSpPr/>
          <p:nvPr/>
        </p:nvSpPr>
        <p:spPr>
          <a:xfrm>
            <a:off x="1645920" y="2368296"/>
            <a:ext cx="4041648" cy="749808"/>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Breakdown by team, product, environment or business unit. Depends entirely on a consistent tagging strategy.</a:t>
            </a:r>
            <a:endParaRPr lang="en-US" sz="1250" dirty="0"/>
          </a:p>
        </p:txBody>
      </p:sp>
      <p:sp>
        <p:nvSpPr>
          <p:cNvPr id="9" name="Shape 6"/>
          <p:cNvSpPr/>
          <p:nvPr/>
        </p:nvSpPr>
        <p:spPr>
          <a:xfrm>
            <a:off x="6245352" y="1783080"/>
            <a:ext cx="5394960" cy="1481328"/>
          </a:xfrm>
          <a:prstGeom prst="roundRect">
            <a:avLst>
              <a:gd name="adj" fmla="val 5556"/>
            </a:avLst>
          </a:prstGeom>
          <a:solidFill>
            <a:srgbClr val="F1F3F6"/>
          </a:solidFill>
          <a:ln/>
        </p:spPr>
      </p:sp>
      <p:sp>
        <p:nvSpPr>
          <p:cNvPr id="10" name="Shape 7"/>
          <p:cNvSpPr/>
          <p:nvPr/>
        </p:nvSpPr>
        <p:spPr>
          <a:xfrm>
            <a:off x="6537960" y="2185416"/>
            <a:ext cx="640080" cy="640080"/>
          </a:xfrm>
          <a:prstGeom prst="ellipse">
            <a:avLst/>
          </a:prstGeom>
          <a:solidFill>
            <a:srgbClr val="FFFFFF"/>
          </a:solidFill>
          <a:ln/>
        </p:spPr>
      </p:sp>
      <p:pic>
        <p:nvPicPr>
          <p:cNvPr id="11" name="Image 1" descr="preencoded.png">    </p:cNvPr>
          <p:cNvPicPr>
            <a:picLocks noChangeAspect="1"/>
          </p:cNvPicPr>
          <p:nvPr/>
        </p:nvPicPr>
        <p:blipFill>
          <a:blip r:embed="rId2"/>
          <a:stretch>
            <a:fillRect/>
          </a:stretch>
        </p:blipFill>
        <p:spPr>
          <a:xfrm>
            <a:off x="6697980" y="2345436"/>
            <a:ext cx="320040" cy="320040"/>
          </a:xfrm>
          <a:prstGeom prst="rect">
            <a:avLst/>
          </a:prstGeom>
        </p:spPr>
      </p:pic>
      <p:sp>
        <p:nvSpPr>
          <p:cNvPr id="12" name="Text 8"/>
          <p:cNvSpPr/>
          <p:nvPr/>
        </p:nvSpPr>
        <p:spPr>
          <a:xfrm>
            <a:off x="7342632" y="2002536"/>
            <a:ext cx="4023360" cy="347472"/>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Granular reporting</a:t>
            </a:r>
            <a:endParaRPr lang="en-US" sz="1900" dirty="0"/>
          </a:p>
        </p:txBody>
      </p:sp>
      <p:sp>
        <p:nvSpPr>
          <p:cNvPr id="13" name="Text 9"/>
          <p:cNvSpPr/>
          <p:nvPr/>
        </p:nvSpPr>
        <p:spPr>
          <a:xfrm>
            <a:off x="7342632" y="2368296"/>
            <a:ext cx="4041648" cy="749808"/>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Breakdown by service, resource type and time period — this is what reveals trends, spikes and anomalies.</a:t>
            </a:r>
            <a:endParaRPr lang="en-US" sz="1250" dirty="0"/>
          </a:p>
        </p:txBody>
      </p:sp>
      <p:sp>
        <p:nvSpPr>
          <p:cNvPr id="14" name="Shape 10"/>
          <p:cNvSpPr/>
          <p:nvPr/>
        </p:nvSpPr>
        <p:spPr>
          <a:xfrm>
            <a:off x="548640" y="3401568"/>
            <a:ext cx="5394960" cy="1481328"/>
          </a:xfrm>
          <a:prstGeom prst="roundRect">
            <a:avLst>
              <a:gd name="adj" fmla="val 5556"/>
            </a:avLst>
          </a:prstGeom>
          <a:solidFill>
            <a:srgbClr val="F1F3F6"/>
          </a:solidFill>
          <a:ln/>
        </p:spPr>
      </p:sp>
      <p:sp>
        <p:nvSpPr>
          <p:cNvPr id="15" name="Shape 11"/>
          <p:cNvSpPr/>
          <p:nvPr/>
        </p:nvSpPr>
        <p:spPr>
          <a:xfrm>
            <a:off x="841248" y="3803904"/>
            <a:ext cx="640080" cy="640080"/>
          </a:xfrm>
          <a:prstGeom prst="ellipse">
            <a:avLst/>
          </a:prstGeom>
          <a:solidFill>
            <a:srgbClr val="FFFFFF"/>
          </a:solidFill>
          <a:ln/>
        </p:spPr>
      </p:sp>
      <p:pic>
        <p:nvPicPr>
          <p:cNvPr id="16" name="Image 2" descr="preencoded.png">    </p:cNvPr>
          <p:cNvPicPr>
            <a:picLocks noChangeAspect="1"/>
          </p:cNvPicPr>
          <p:nvPr/>
        </p:nvPicPr>
        <p:blipFill>
          <a:blip r:embed="rId3"/>
          <a:stretch>
            <a:fillRect/>
          </a:stretch>
        </p:blipFill>
        <p:spPr>
          <a:xfrm>
            <a:off x="1001268" y="3963924"/>
            <a:ext cx="320040" cy="320040"/>
          </a:xfrm>
          <a:prstGeom prst="rect">
            <a:avLst/>
          </a:prstGeom>
        </p:spPr>
      </p:pic>
      <p:sp>
        <p:nvSpPr>
          <p:cNvPr id="17" name="Text 12"/>
          <p:cNvSpPr/>
          <p:nvPr/>
        </p:nvSpPr>
        <p:spPr>
          <a:xfrm>
            <a:off x="1645920" y="3621024"/>
            <a:ext cx="4023360" cy="347472"/>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Unit economics</a:t>
            </a:r>
            <a:endParaRPr lang="en-US" sz="1900" dirty="0"/>
          </a:p>
        </p:txBody>
      </p:sp>
      <p:sp>
        <p:nvSpPr>
          <p:cNvPr id="18" name="Text 13"/>
          <p:cNvSpPr/>
          <p:nvPr/>
        </p:nvSpPr>
        <p:spPr>
          <a:xfrm>
            <a:off x="1645920" y="3986784"/>
            <a:ext cx="4041648" cy="749808"/>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Cost per customer, per transaction, per active user. The measure of whether spend growth is healthy.</a:t>
            </a:r>
            <a:endParaRPr lang="en-US" sz="1250" dirty="0"/>
          </a:p>
        </p:txBody>
      </p:sp>
      <p:sp>
        <p:nvSpPr>
          <p:cNvPr id="19" name="Shape 14"/>
          <p:cNvSpPr/>
          <p:nvPr/>
        </p:nvSpPr>
        <p:spPr>
          <a:xfrm>
            <a:off x="6245352" y="3401568"/>
            <a:ext cx="5394960" cy="1481328"/>
          </a:xfrm>
          <a:prstGeom prst="roundRect">
            <a:avLst>
              <a:gd name="adj" fmla="val 5556"/>
            </a:avLst>
          </a:prstGeom>
          <a:solidFill>
            <a:srgbClr val="F1F3F6"/>
          </a:solidFill>
          <a:ln/>
        </p:spPr>
      </p:sp>
      <p:sp>
        <p:nvSpPr>
          <p:cNvPr id="20" name="Shape 15"/>
          <p:cNvSpPr/>
          <p:nvPr/>
        </p:nvSpPr>
        <p:spPr>
          <a:xfrm>
            <a:off x="6537960" y="3803904"/>
            <a:ext cx="640080" cy="640080"/>
          </a:xfrm>
          <a:prstGeom prst="ellipse">
            <a:avLst/>
          </a:prstGeom>
          <a:solidFill>
            <a:srgbClr val="FFFFFF"/>
          </a:solidFill>
          <a:ln/>
        </p:spPr>
      </p:sp>
      <p:pic>
        <p:nvPicPr>
          <p:cNvPr id="21" name="Image 3" descr="preencoded.png">    </p:cNvPr>
          <p:cNvPicPr>
            <a:picLocks noChangeAspect="1"/>
          </p:cNvPicPr>
          <p:nvPr/>
        </p:nvPicPr>
        <p:blipFill>
          <a:blip r:embed="rId4"/>
          <a:stretch>
            <a:fillRect/>
          </a:stretch>
        </p:blipFill>
        <p:spPr>
          <a:xfrm>
            <a:off x="6697980" y="3963924"/>
            <a:ext cx="320040" cy="320040"/>
          </a:xfrm>
          <a:prstGeom prst="rect">
            <a:avLst/>
          </a:prstGeom>
        </p:spPr>
      </p:pic>
      <p:sp>
        <p:nvSpPr>
          <p:cNvPr id="22" name="Text 16"/>
          <p:cNvSpPr/>
          <p:nvPr/>
        </p:nvSpPr>
        <p:spPr>
          <a:xfrm>
            <a:off x="7342632" y="3621024"/>
            <a:ext cx="4023360" cy="347472"/>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Near real-time data</a:t>
            </a:r>
            <a:endParaRPr lang="en-US" sz="1900" dirty="0"/>
          </a:p>
        </p:txBody>
      </p:sp>
      <p:sp>
        <p:nvSpPr>
          <p:cNvPr id="23" name="Text 17"/>
          <p:cNvSpPr/>
          <p:nvPr/>
        </p:nvSpPr>
        <p:spPr>
          <a:xfrm>
            <a:off x="7342632" y="3986784"/>
            <a:ext cx="4041648" cy="749808"/>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Monthly reporting is too slow. Cost data must arrive with enough immediacy to respond to anomalies.</a:t>
            </a:r>
            <a:endParaRPr lang="en-US" sz="1250" dirty="0"/>
          </a:p>
        </p:txBody>
      </p:sp>
      <p:sp>
        <p:nvSpPr>
          <p:cNvPr id="24" name="Shape 18"/>
          <p:cNvSpPr/>
          <p:nvPr/>
        </p:nvSpPr>
        <p:spPr>
          <a:xfrm>
            <a:off x="548640" y="5138928"/>
            <a:ext cx="11091672" cy="1188720"/>
          </a:xfrm>
          <a:prstGeom prst="roundRect">
            <a:avLst>
              <a:gd name="adj" fmla="val 6923"/>
            </a:avLst>
          </a:prstGeom>
          <a:solidFill>
            <a:srgbClr val="1F2936"/>
          </a:solidFill>
          <a:ln/>
          <a:effectLst>
            <a:outerShdw sx="100000" sy="100000" kx="0" ky="0" algn="bl" rotWithShape="0" blurRad="127000" dist="25400" dir="5400000">
              <a:srgbClr val="8C99A8">
                <a:alpha val="16000"/>
              </a:srgbClr>
            </a:outerShdw>
          </a:effectLst>
        </p:spPr>
      </p:sp>
      <p:sp>
        <p:nvSpPr>
          <p:cNvPr id="25" name="Text 19"/>
          <p:cNvSpPr/>
          <p:nvPr/>
        </p:nvSpPr>
        <p:spPr>
          <a:xfrm>
            <a:off x="877824" y="5285232"/>
            <a:ext cx="2743200" cy="274320"/>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The goal</a:t>
            </a:r>
            <a:endParaRPr lang="en-US" sz="1200" dirty="0"/>
          </a:p>
        </p:txBody>
      </p:sp>
      <p:sp>
        <p:nvSpPr>
          <p:cNvPr id="26" name="Text 20"/>
          <p:cNvSpPr/>
          <p:nvPr/>
        </p:nvSpPr>
        <p:spPr>
          <a:xfrm>
            <a:off x="877824" y="5596128"/>
            <a:ext cx="10424160" cy="566928"/>
          </a:xfrm>
          <a:prstGeom prst="rect">
            <a:avLst/>
          </a:prstGeom>
          <a:noFill/>
          <a:ln/>
        </p:spPr>
        <p:txBody>
          <a:bodyPr wrap="square" lIns="0" tIns="0" rIns="0" bIns="0" rtlCol="0" anchor="ctr"/>
          <a:lstStyle/>
          <a:p>
            <a:pPr indent="0" marL="0">
              <a:buNone/>
            </a:pPr>
            <a:r>
              <a:rPr lang="en-US" sz="1600" dirty="0">
                <a:solidFill>
                  <a:srgbClr val="9EABBA"/>
                </a:solidFill>
                <a:latin typeface="Calibri" pitchFamily="34" charset="0"/>
                <a:ea typeface="Calibri" pitchFamily="34" charset="-122"/>
                <a:cs typeface="Calibri" pitchFamily="34" charset="-120"/>
              </a:rPr>
              <a:t>Move from  </a:t>
            </a:r>
            <a:pPr indent="0" marL="0">
              <a:buNone/>
            </a:pPr>
            <a:r>
              <a:rPr lang="en-US" sz="1600" i="1" dirty="0">
                <a:solidFill>
                  <a:srgbClr val="9EABBA"/>
                </a:solidFill>
                <a:latin typeface="Calibri" pitchFamily="34" charset="0"/>
                <a:ea typeface="Calibri" pitchFamily="34" charset="-122"/>
                <a:cs typeface="Calibri" pitchFamily="34" charset="-120"/>
              </a:rPr>
              <a:t>“IT is overspending”</a:t>
            </a:r>
            <a:pPr indent="0" marL="0">
              <a:buNone/>
            </a:pPr>
            <a:r>
              <a:rPr lang="en-US" sz="1600" dirty="0">
                <a:solidFill>
                  <a:srgbClr val="9EABBA"/>
                </a:solidFill>
                <a:latin typeface="Calibri" pitchFamily="34" charset="0"/>
                <a:ea typeface="Calibri" pitchFamily="34" charset="-122"/>
                <a:cs typeface="Calibri" pitchFamily="34" charset="-120"/>
              </a:rPr>
              <a:t>  to  </a:t>
            </a:r>
            <a:pPr indent="0" marL="0">
              <a:buNone/>
            </a:pPr>
            <a:r>
              <a:rPr lang="en-US" sz="1600" b="1" dirty="0">
                <a:solidFill>
                  <a:srgbClr val="FFFFFF"/>
                </a:solidFill>
                <a:latin typeface="Calibri" pitchFamily="34" charset="0"/>
                <a:ea typeface="Calibri" pitchFamily="34" charset="-122"/>
                <a:cs typeface="Calibri" pitchFamily="34" charset="-120"/>
              </a:rPr>
              <a:t>“Team X used Y resources, costing $Z, delivering A value.”</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THE VISIBILITY BLOCKERS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Five filters between us and a clear view</a:t>
            </a:r>
            <a:endParaRPr lang="en-US" sz="3100" dirty="0"/>
          </a:p>
        </p:txBody>
      </p:sp>
      <p:sp>
        <p:nvSpPr>
          <p:cNvPr id="4" name="Shape 2"/>
          <p:cNvSpPr/>
          <p:nvPr/>
        </p:nvSpPr>
        <p:spPr>
          <a:xfrm>
            <a:off x="548640" y="1719072"/>
            <a:ext cx="11091672" cy="713232"/>
          </a:xfrm>
          <a:prstGeom prst="roundRect">
            <a:avLst>
              <a:gd name="adj" fmla="val 11538"/>
            </a:avLst>
          </a:prstGeom>
          <a:solidFill>
            <a:srgbClr val="1F2936"/>
          </a:solidFill>
          <a:ln/>
        </p:spPr>
      </p:sp>
      <p:sp>
        <p:nvSpPr>
          <p:cNvPr id="5" name="Shape 3"/>
          <p:cNvSpPr/>
          <p:nvPr/>
        </p:nvSpPr>
        <p:spPr>
          <a:xfrm>
            <a:off x="804672" y="1837944"/>
            <a:ext cx="475488" cy="475488"/>
          </a:xfrm>
          <a:prstGeom prst="ellipse">
            <a:avLst/>
          </a:prstGeom>
          <a:solidFill>
            <a:srgbClr val="2E3A48"/>
          </a:solidFill>
          <a:ln/>
        </p:spPr>
      </p:sp>
      <p:pic>
        <p:nvPicPr>
          <p:cNvPr id="6" name="Image 0" descr="preencoded.png">    </p:cNvPr>
          <p:cNvPicPr>
            <a:picLocks noChangeAspect="1"/>
          </p:cNvPicPr>
          <p:nvPr/>
        </p:nvPicPr>
        <p:blipFill>
          <a:blip r:embed="rId1"/>
          <a:stretch>
            <a:fillRect/>
          </a:stretch>
        </p:blipFill>
        <p:spPr>
          <a:xfrm>
            <a:off x="923544" y="1956816"/>
            <a:ext cx="237744" cy="237744"/>
          </a:xfrm>
          <a:prstGeom prst="rect">
            <a:avLst/>
          </a:prstGeom>
        </p:spPr>
      </p:pic>
      <p:sp>
        <p:nvSpPr>
          <p:cNvPr id="7" name="Text 4"/>
          <p:cNvSpPr/>
          <p:nvPr/>
        </p:nvSpPr>
        <p:spPr>
          <a:xfrm>
            <a:off x="1481328" y="1719072"/>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Inconsistent tagging</a:t>
            </a:r>
            <a:endParaRPr lang="en-US" sz="1500" dirty="0"/>
          </a:p>
        </p:txBody>
      </p:sp>
      <p:sp>
        <p:nvSpPr>
          <p:cNvPr id="8" name="Text 5"/>
          <p:cNvSpPr/>
          <p:nvPr/>
        </p:nvSpPr>
        <p:spPr>
          <a:xfrm>
            <a:off x="4754880" y="1719072"/>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A significant portion of spend stays unallocated or misallocated.</a:t>
            </a:r>
            <a:endParaRPr lang="en-US" sz="1300" dirty="0"/>
          </a:p>
        </p:txBody>
      </p:sp>
      <p:sp>
        <p:nvSpPr>
          <p:cNvPr id="9" name="Shape 6"/>
          <p:cNvSpPr/>
          <p:nvPr/>
        </p:nvSpPr>
        <p:spPr>
          <a:xfrm>
            <a:off x="548640" y="2523744"/>
            <a:ext cx="11091672" cy="713232"/>
          </a:xfrm>
          <a:prstGeom prst="roundRect">
            <a:avLst>
              <a:gd name="adj" fmla="val 11538"/>
            </a:avLst>
          </a:prstGeom>
          <a:solidFill>
            <a:srgbClr val="1F2936"/>
          </a:solidFill>
          <a:ln/>
        </p:spPr>
      </p:sp>
      <p:sp>
        <p:nvSpPr>
          <p:cNvPr id="10" name="Shape 7"/>
          <p:cNvSpPr/>
          <p:nvPr/>
        </p:nvSpPr>
        <p:spPr>
          <a:xfrm>
            <a:off x="804672" y="2642616"/>
            <a:ext cx="475488" cy="475488"/>
          </a:xfrm>
          <a:prstGeom prst="ellipse">
            <a:avLst/>
          </a:prstGeom>
          <a:solidFill>
            <a:srgbClr val="2E3A48"/>
          </a:solidFill>
          <a:ln/>
        </p:spPr>
      </p:sp>
      <p:pic>
        <p:nvPicPr>
          <p:cNvPr id="11" name="Image 1" descr="preencoded.png">    </p:cNvPr>
          <p:cNvPicPr>
            <a:picLocks noChangeAspect="1"/>
          </p:cNvPicPr>
          <p:nvPr/>
        </p:nvPicPr>
        <p:blipFill>
          <a:blip r:embed="rId2"/>
          <a:stretch>
            <a:fillRect/>
          </a:stretch>
        </p:blipFill>
        <p:spPr>
          <a:xfrm>
            <a:off x="923544" y="2761488"/>
            <a:ext cx="237744" cy="237744"/>
          </a:xfrm>
          <a:prstGeom prst="rect">
            <a:avLst/>
          </a:prstGeom>
        </p:spPr>
      </p:pic>
      <p:sp>
        <p:nvSpPr>
          <p:cNvPr id="12" name="Text 8"/>
          <p:cNvSpPr/>
          <p:nvPr/>
        </p:nvSpPr>
        <p:spPr>
          <a:xfrm>
            <a:off x="1481328" y="2523744"/>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Shared resources</a:t>
            </a:r>
            <a:endParaRPr lang="en-US" sz="1500" dirty="0"/>
          </a:p>
        </p:txBody>
      </p:sp>
      <p:sp>
        <p:nvSpPr>
          <p:cNvPr id="13" name="Text 9"/>
          <p:cNvSpPr/>
          <p:nvPr/>
        </p:nvSpPr>
        <p:spPr>
          <a:xfrm>
            <a:off x="4754880" y="2523744"/>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Databases, Kubernetes clusters and networking resist clean attribution to one team.</a:t>
            </a:r>
            <a:endParaRPr lang="en-US" sz="1300" dirty="0"/>
          </a:p>
        </p:txBody>
      </p:sp>
      <p:sp>
        <p:nvSpPr>
          <p:cNvPr id="14" name="Shape 10"/>
          <p:cNvSpPr/>
          <p:nvPr/>
        </p:nvSpPr>
        <p:spPr>
          <a:xfrm>
            <a:off x="548640" y="3328416"/>
            <a:ext cx="11091672" cy="713232"/>
          </a:xfrm>
          <a:prstGeom prst="roundRect">
            <a:avLst>
              <a:gd name="adj" fmla="val 11538"/>
            </a:avLst>
          </a:prstGeom>
          <a:solidFill>
            <a:srgbClr val="1F2936"/>
          </a:solidFill>
          <a:ln/>
        </p:spPr>
      </p:sp>
      <p:sp>
        <p:nvSpPr>
          <p:cNvPr id="15" name="Shape 11"/>
          <p:cNvSpPr/>
          <p:nvPr/>
        </p:nvSpPr>
        <p:spPr>
          <a:xfrm>
            <a:off x="804672" y="3447288"/>
            <a:ext cx="475488" cy="475488"/>
          </a:xfrm>
          <a:prstGeom prst="ellipse">
            <a:avLst/>
          </a:prstGeom>
          <a:solidFill>
            <a:srgbClr val="2E3A48"/>
          </a:solidFill>
          <a:ln/>
        </p:spPr>
      </p:sp>
      <p:pic>
        <p:nvPicPr>
          <p:cNvPr id="16" name="Image 2" descr="preencoded.png">    </p:cNvPr>
          <p:cNvPicPr>
            <a:picLocks noChangeAspect="1"/>
          </p:cNvPicPr>
          <p:nvPr/>
        </p:nvPicPr>
        <p:blipFill>
          <a:blip r:embed="rId3"/>
          <a:stretch>
            <a:fillRect/>
          </a:stretch>
        </p:blipFill>
        <p:spPr>
          <a:xfrm>
            <a:off x="923544" y="3566160"/>
            <a:ext cx="237744" cy="237744"/>
          </a:xfrm>
          <a:prstGeom prst="rect">
            <a:avLst/>
          </a:prstGeom>
        </p:spPr>
      </p:pic>
      <p:sp>
        <p:nvSpPr>
          <p:cNvPr id="17" name="Text 12"/>
          <p:cNvSpPr/>
          <p:nvPr/>
        </p:nvSpPr>
        <p:spPr>
          <a:xfrm>
            <a:off x="1481328" y="3328416"/>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Commitments &amp; discounts</a:t>
            </a:r>
            <a:endParaRPr lang="en-US" sz="1500" dirty="0"/>
          </a:p>
        </p:txBody>
      </p:sp>
      <p:sp>
        <p:nvSpPr>
          <p:cNvPr id="18" name="Text 13"/>
          <p:cNvSpPr/>
          <p:nvPr/>
        </p:nvSpPr>
        <p:spPr>
          <a:xfrm>
            <a:off x="4754880" y="3328416"/>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Reserved Instances and Savings Plans break attribution — list price ≠ price paid.</a:t>
            </a:r>
            <a:endParaRPr lang="en-US" sz="1300" dirty="0"/>
          </a:p>
        </p:txBody>
      </p:sp>
      <p:sp>
        <p:nvSpPr>
          <p:cNvPr id="19" name="Shape 14"/>
          <p:cNvSpPr/>
          <p:nvPr/>
        </p:nvSpPr>
        <p:spPr>
          <a:xfrm>
            <a:off x="548640" y="4133088"/>
            <a:ext cx="11091672" cy="713232"/>
          </a:xfrm>
          <a:prstGeom prst="roundRect">
            <a:avLst>
              <a:gd name="adj" fmla="val 11538"/>
            </a:avLst>
          </a:prstGeom>
          <a:solidFill>
            <a:srgbClr val="1F2936"/>
          </a:solidFill>
          <a:ln/>
        </p:spPr>
      </p:sp>
      <p:sp>
        <p:nvSpPr>
          <p:cNvPr id="20" name="Shape 15"/>
          <p:cNvSpPr/>
          <p:nvPr/>
        </p:nvSpPr>
        <p:spPr>
          <a:xfrm>
            <a:off x="804672" y="4251960"/>
            <a:ext cx="475488" cy="475488"/>
          </a:xfrm>
          <a:prstGeom prst="ellipse">
            <a:avLst/>
          </a:prstGeom>
          <a:solidFill>
            <a:srgbClr val="2E3A48"/>
          </a:solidFill>
          <a:ln/>
        </p:spPr>
      </p:sp>
      <p:pic>
        <p:nvPicPr>
          <p:cNvPr id="21" name="Image 3" descr="preencoded.png">    </p:cNvPr>
          <p:cNvPicPr>
            <a:picLocks noChangeAspect="1"/>
          </p:cNvPicPr>
          <p:nvPr/>
        </p:nvPicPr>
        <p:blipFill>
          <a:blip r:embed="rId4"/>
          <a:stretch>
            <a:fillRect/>
          </a:stretch>
        </p:blipFill>
        <p:spPr>
          <a:xfrm>
            <a:off x="923544" y="4370832"/>
            <a:ext cx="237744" cy="237744"/>
          </a:xfrm>
          <a:prstGeom prst="rect">
            <a:avLst/>
          </a:prstGeom>
        </p:spPr>
      </p:pic>
      <p:sp>
        <p:nvSpPr>
          <p:cNvPr id="22" name="Text 16"/>
          <p:cNvSpPr/>
          <p:nvPr/>
        </p:nvSpPr>
        <p:spPr>
          <a:xfrm>
            <a:off x="1481328" y="4133088"/>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Multi-cloud estates</a:t>
            </a:r>
            <a:endParaRPr lang="en-US" sz="1500" dirty="0"/>
          </a:p>
        </p:txBody>
      </p:sp>
      <p:sp>
        <p:nvSpPr>
          <p:cNvPr id="23" name="Text 17"/>
          <p:cNvSpPr/>
          <p:nvPr/>
        </p:nvSpPr>
        <p:spPr>
          <a:xfrm>
            <a:off x="4754880" y="4133088"/>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Each provider bills and reports differently; a unified view has to be constructed.</a:t>
            </a:r>
            <a:endParaRPr lang="en-US" sz="1300" dirty="0"/>
          </a:p>
        </p:txBody>
      </p:sp>
      <p:sp>
        <p:nvSpPr>
          <p:cNvPr id="24" name="Shape 18"/>
          <p:cNvSpPr/>
          <p:nvPr/>
        </p:nvSpPr>
        <p:spPr>
          <a:xfrm>
            <a:off x="548640" y="4937760"/>
            <a:ext cx="11091672" cy="713232"/>
          </a:xfrm>
          <a:prstGeom prst="roundRect">
            <a:avLst>
              <a:gd name="adj" fmla="val 11538"/>
            </a:avLst>
          </a:prstGeom>
          <a:solidFill>
            <a:srgbClr val="1F2936"/>
          </a:solidFill>
          <a:ln/>
        </p:spPr>
      </p:sp>
      <p:sp>
        <p:nvSpPr>
          <p:cNvPr id="25" name="Shape 19"/>
          <p:cNvSpPr/>
          <p:nvPr/>
        </p:nvSpPr>
        <p:spPr>
          <a:xfrm>
            <a:off x="804672" y="5056632"/>
            <a:ext cx="475488" cy="475488"/>
          </a:xfrm>
          <a:prstGeom prst="ellipse">
            <a:avLst/>
          </a:prstGeom>
          <a:solidFill>
            <a:srgbClr val="2E3A48"/>
          </a:solidFill>
          <a:ln/>
        </p:spPr>
      </p:sp>
      <p:pic>
        <p:nvPicPr>
          <p:cNvPr id="26" name="Image 4" descr="preencoded.png">    </p:cNvPr>
          <p:cNvPicPr>
            <a:picLocks noChangeAspect="1"/>
          </p:cNvPicPr>
          <p:nvPr/>
        </p:nvPicPr>
        <p:blipFill>
          <a:blip r:embed="rId5"/>
          <a:stretch>
            <a:fillRect/>
          </a:stretch>
        </p:blipFill>
        <p:spPr>
          <a:xfrm>
            <a:off x="923544" y="5175504"/>
            <a:ext cx="237744" cy="237744"/>
          </a:xfrm>
          <a:prstGeom prst="rect">
            <a:avLst/>
          </a:prstGeom>
        </p:spPr>
      </p:pic>
      <p:sp>
        <p:nvSpPr>
          <p:cNvPr id="27" name="Text 20"/>
          <p:cNvSpPr/>
          <p:nvPr/>
        </p:nvSpPr>
        <p:spPr>
          <a:xfrm>
            <a:off x="1481328" y="4937760"/>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SaaS &amp; marketplace spend</a:t>
            </a:r>
            <a:endParaRPr lang="en-US" sz="1500" dirty="0"/>
          </a:p>
        </p:txBody>
      </p:sp>
      <p:sp>
        <p:nvSpPr>
          <p:cNvPr id="28" name="Text 21"/>
          <p:cNvSpPr/>
          <p:nvPr/>
        </p:nvSpPr>
        <p:spPr>
          <a:xfrm>
            <a:off x="4754880" y="4937760"/>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Invisible in cloud billing. Teams forget the subscriptions they signed.</a:t>
            </a:r>
            <a:endParaRPr lang="en-US" sz="1300" dirty="0"/>
          </a:p>
        </p:txBody>
      </p:sp>
      <p:sp>
        <p:nvSpPr>
          <p:cNvPr id="29" name="Text 22"/>
          <p:cNvSpPr/>
          <p:nvPr/>
        </p:nvSpPr>
        <p:spPr>
          <a:xfrm>
            <a:off x="548640" y="5852160"/>
            <a:ext cx="11091672" cy="548640"/>
          </a:xfrm>
          <a:prstGeom prst="rect">
            <a:avLst/>
          </a:prstGeom>
          <a:noFill/>
          <a:ln/>
        </p:spPr>
        <p:txBody>
          <a:bodyPr wrap="square" lIns="0" tIns="0" rIns="0" bIns="0" rtlCol="0" anchor="ctr"/>
          <a:lstStyle/>
          <a:p>
            <a:pPr indent="0" marL="0">
              <a:buNone/>
            </a:pPr>
            <a:r>
              <a:rPr lang="en-US" sz="1450" i="1" dirty="0">
                <a:solidFill>
                  <a:srgbClr val="E39B2C"/>
                </a:solidFill>
                <a:latin typeface="Cambria" pitchFamily="34" charset="0"/>
                <a:ea typeface="Cambria" pitchFamily="34" charset="-122"/>
                <a:cs typeface="Cambria" pitchFamily="34" charset="-120"/>
              </a:rPr>
              <a:t>“Different clouds report data differently, network traffic adds up fast, and Kubernetes or SaaS often hide who generated the spend.”</a:t>
            </a:r>
            <a:endParaRPr lang="en-US" sz="14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SOLUTION 1 — TAGGING STRATEGY</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The foundation of all visibility</a:t>
            </a:r>
            <a:endParaRPr lang="en-US" sz="3100" dirty="0"/>
          </a:p>
        </p:txBody>
      </p:sp>
      <p:sp>
        <p:nvSpPr>
          <p:cNvPr id="4" name="Shape 2"/>
          <p:cNvSpPr/>
          <p:nvPr/>
        </p:nvSpPr>
        <p:spPr>
          <a:xfrm>
            <a:off x="548640" y="1783080"/>
            <a:ext cx="3749040" cy="3035808"/>
          </a:xfrm>
          <a:prstGeom prst="roundRect">
            <a:avLst>
              <a:gd name="adj" fmla="val 2711"/>
            </a:avLst>
          </a:prstGeom>
          <a:solidFill>
            <a:srgbClr val="1F2936"/>
          </a:solidFill>
          <a:ln/>
          <a:effectLst>
            <a:outerShdw sx="100000" sy="100000" kx="0" ky="0" algn="bl" rotWithShape="0" blurRad="127000" dist="25400" dir="5400000">
              <a:srgbClr val="8C99A8">
                <a:alpha val="16000"/>
              </a:srgbClr>
            </a:outerShdw>
          </a:effectLst>
        </p:spPr>
      </p:sp>
      <p:sp>
        <p:nvSpPr>
          <p:cNvPr id="5" name="Shape 3"/>
          <p:cNvSpPr/>
          <p:nvPr/>
        </p:nvSpPr>
        <p:spPr>
          <a:xfrm>
            <a:off x="859536" y="2048256"/>
            <a:ext cx="603504" cy="603504"/>
          </a:xfrm>
          <a:prstGeom prst="ellipse">
            <a:avLst/>
          </a:prstGeom>
          <a:solidFill>
            <a:srgbClr val="E39B2C"/>
          </a:solidFill>
          <a:ln/>
        </p:spPr>
      </p:sp>
      <p:pic>
        <p:nvPicPr>
          <p:cNvPr id="6" name="Image 0" descr="preencoded.png">    </p:cNvPr>
          <p:cNvPicPr>
            <a:picLocks noChangeAspect="1"/>
          </p:cNvPicPr>
          <p:nvPr/>
        </p:nvPicPr>
        <p:blipFill>
          <a:blip r:embed="rId1"/>
          <a:stretch>
            <a:fillRect/>
          </a:stretch>
        </p:blipFill>
        <p:spPr>
          <a:xfrm>
            <a:off x="1010412" y="2199132"/>
            <a:ext cx="301752" cy="301752"/>
          </a:xfrm>
          <a:prstGeom prst="rect">
            <a:avLst/>
          </a:prstGeom>
        </p:spPr>
      </p:pic>
      <p:sp>
        <p:nvSpPr>
          <p:cNvPr id="7" name="Text 4"/>
          <p:cNvSpPr/>
          <p:nvPr/>
        </p:nvSpPr>
        <p:spPr>
          <a:xfrm>
            <a:off x="859536" y="2788920"/>
            <a:ext cx="3108960" cy="310896"/>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The challenge</a:t>
            </a:r>
            <a:endParaRPr lang="en-US" sz="1200" dirty="0"/>
          </a:p>
        </p:txBody>
      </p:sp>
      <p:sp>
        <p:nvSpPr>
          <p:cNvPr id="8" name="Text 5"/>
          <p:cNvSpPr/>
          <p:nvPr/>
        </p:nvSpPr>
        <p:spPr>
          <a:xfrm>
            <a:off x="859536" y="3127248"/>
            <a:ext cx="3127248" cy="1463040"/>
          </a:xfrm>
          <a:prstGeom prst="rect">
            <a:avLst/>
          </a:prstGeom>
          <a:noFill/>
          <a:ln/>
        </p:spPr>
        <p:txBody>
          <a:bodyPr wrap="square" lIns="0" tIns="0" rIns="0" bIns="0" rtlCol="0" anchor="t"/>
          <a:lstStyle/>
          <a:p>
            <a:pPr indent="0" marL="0">
              <a:lnSpc>
                <a:spcPts val="2100"/>
              </a:lnSpc>
              <a:buNone/>
            </a:pPr>
            <a:r>
              <a:rPr lang="en-US" sz="1500" i="1" dirty="0">
                <a:solidFill>
                  <a:srgbClr val="FFFFFF"/>
                </a:solidFill>
                <a:latin typeface="Cambria" pitchFamily="34" charset="0"/>
                <a:ea typeface="Cambria" pitchFamily="34" charset="-122"/>
                <a:cs typeface="Cambria" pitchFamily="34" charset="-120"/>
              </a:rPr>
              <a:t>“Tagging is the single most foundational habit for sustainable FinOps maturity. It is also the most frequently skipped.”</a:t>
            </a:r>
            <a:endParaRPr lang="en-US" sz="1500" dirty="0"/>
          </a:p>
        </p:txBody>
      </p:sp>
      <p:sp>
        <p:nvSpPr>
          <p:cNvPr id="9" name="Shape 6"/>
          <p:cNvSpPr/>
          <p:nvPr/>
        </p:nvSpPr>
        <p:spPr>
          <a:xfrm>
            <a:off x="4663440" y="1911096"/>
            <a:ext cx="457200" cy="457200"/>
          </a:xfrm>
          <a:prstGeom prst="ellipse">
            <a:avLst/>
          </a:prstGeom>
          <a:solidFill>
            <a:srgbClr val="DDEDE9"/>
          </a:solidFill>
          <a:ln/>
        </p:spPr>
      </p:sp>
      <p:pic>
        <p:nvPicPr>
          <p:cNvPr id="10" name="Image 1" descr="preencoded.png">    </p:cNvPr>
          <p:cNvPicPr>
            <a:picLocks noChangeAspect="1"/>
          </p:cNvPicPr>
          <p:nvPr/>
        </p:nvPicPr>
        <p:blipFill>
          <a:blip r:embed="rId2"/>
          <a:stretch>
            <a:fillRect/>
          </a:stretch>
        </p:blipFill>
        <p:spPr>
          <a:xfrm>
            <a:off x="4777740" y="2025396"/>
            <a:ext cx="228600" cy="228600"/>
          </a:xfrm>
          <a:prstGeom prst="rect">
            <a:avLst/>
          </a:prstGeom>
        </p:spPr>
      </p:pic>
      <p:sp>
        <p:nvSpPr>
          <p:cNvPr id="11" name="Text 7"/>
          <p:cNvSpPr/>
          <p:nvPr/>
        </p:nvSpPr>
        <p:spPr>
          <a:xfrm>
            <a:off x="5376672" y="178308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Define a global tag taxonomy</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One master list, agreed across the business — aligned to business need, not just cloud ops.</a:t>
            </a:r>
            <a:endParaRPr lang="en-US" sz="1450" dirty="0"/>
          </a:p>
        </p:txBody>
      </p:sp>
      <p:sp>
        <p:nvSpPr>
          <p:cNvPr id="12" name="Shape 8"/>
          <p:cNvSpPr/>
          <p:nvPr/>
        </p:nvSpPr>
        <p:spPr>
          <a:xfrm>
            <a:off x="4663440" y="2688336"/>
            <a:ext cx="457200" cy="457200"/>
          </a:xfrm>
          <a:prstGeom prst="ellipse">
            <a:avLst/>
          </a:prstGeom>
          <a:solidFill>
            <a:srgbClr val="DDEDE9"/>
          </a:solidFill>
          <a:ln/>
        </p:spPr>
      </p:sp>
      <p:pic>
        <p:nvPicPr>
          <p:cNvPr id="13" name="Image 2" descr="preencoded.png">    </p:cNvPr>
          <p:cNvPicPr>
            <a:picLocks noChangeAspect="1"/>
          </p:cNvPicPr>
          <p:nvPr/>
        </p:nvPicPr>
        <p:blipFill>
          <a:blip r:embed="rId3"/>
          <a:stretch>
            <a:fillRect/>
          </a:stretch>
        </p:blipFill>
        <p:spPr>
          <a:xfrm>
            <a:off x="4777740" y="2802636"/>
            <a:ext cx="228600" cy="228600"/>
          </a:xfrm>
          <a:prstGeom prst="rect">
            <a:avLst/>
          </a:prstGeom>
        </p:spPr>
      </p:pic>
      <p:sp>
        <p:nvSpPr>
          <p:cNvPr id="14" name="Text 9"/>
          <p:cNvSpPr/>
          <p:nvPr/>
        </p:nvSpPr>
        <p:spPr>
          <a:xfrm>
            <a:off x="5376672" y="256032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Enforce tags at creation</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Azure Policy, AWS Organizations tag policies, or Terraform. Retrofitting later is painful.</a:t>
            </a:r>
            <a:endParaRPr lang="en-US" sz="1450" dirty="0"/>
          </a:p>
        </p:txBody>
      </p:sp>
      <p:sp>
        <p:nvSpPr>
          <p:cNvPr id="15" name="Shape 10"/>
          <p:cNvSpPr/>
          <p:nvPr/>
        </p:nvSpPr>
        <p:spPr>
          <a:xfrm>
            <a:off x="4663440" y="3465576"/>
            <a:ext cx="457200" cy="457200"/>
          </a:xfrm>
          <a:prstGeom prst="ellipse">
            <a:avLst/>
          </a:prstGeom>
          <a:solidFill>
            <a:srgbClr val="DDEDE9"/>
          </a:solidFill>
          <a:ln/>
        </p:spPr>
      </p:sp>
      <p:pic>
        <p:nvPicPr>
          <p:cNvPr id="16" name="Image 3" descr="preencoded.png">    </p:cNvPr>
          <p:cNvPicPr>
            <a:picLocks noChangeAspect="1"/>
          </p:cNvPicPr>
          <p:nvPr/>
        </p:nvPicPr>
        <p:blipFill>
          <a:blip r:embed="rId4"/>
          <a:stretch>
            <a:fillRect/>
          </a:stretch>
        </p:blipFill>
        <p:spPr>
          <a:xfrm>
            <a:off x="4777740" y="3579876"/>
            <a:ext cx="228600" cy="228600"/>
          </a:xfrm>
          <a:prstGeom prst="rect">
            <a:avLst/>
          </a:prstGeom>
        </p:spPr>
      </p:pic>
      <p:sp>
        <p:nvSpPr>
          <p:cNvPr id="17" name="Text 11"/>
          <p:cNvSpPr/>
          <p:nvPr/>
        </p:nvSpPr>
        <p:spPr>
          <a:xfrm>
            <a:off x="5376672" y="333756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Start with showback</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Show teams their spend, uncharged, for 4–6 weeks — gaps surface before money is on the line.</a:t>
            </a:r>
            <a:endParaRPr lang="en-US" sz="1450" dirty="0"/>
          </a:p>
        </p:txBody>
      </p:sp>
      <p:sp>
        <p:nvSpPr>
          <p:cNvPr id="18" name="Shape 12"/>
          <p:cNvSpPr/>
          <p:nvPr/>
        </p:nvSpPr>
        <p:spPr>
          <a:xfrm>
            <a:off x="4663440" y="4242816"/>
            <a:ext cx="457200" cy="457200"/>
          </a:xfrm>
          <a:prstGeom prst="ellipse">
            <a:avLst/>
          </a:prstGeom>
          <a:solidFill>
            <a:srgbClr val="DDEDE9"/>
          </a:solidFill>
          <a:ln/>
        </p:spPr>
      </p:sp>
      <p:pic>
        <p:nvPicPr>
          <p:cNvPr id="19" name="Image 4" descr="preencoded.png">    </p:cNvPr>
          <p:cNvPicPr>
            <a:picLocks noChangeAspect="1"/>
          </p:cNvPicPr>
          <p:nvPr/>
        </p:nvPicPr>
        <p:blipFill>
          <a:blip r:embed="rId5"/>
          <a:stretch>
            <a:fillRect/>
          </a:stretch>
        </p:blipFill>
        <p:spPr>
          <a:xfrm>
            <a:off x="4777740" y="4357116"/>
            <a:ext cx="228600" cy="228600"/>
          </a:xfrm>
          <a:prstGeom prst="rect">
            <a:avLst/>
          </a:prstGeom>
        </p:spPr>
      </p:pic>
      <p:sp>
        <p:nvSpPr>
          <p:cNvPr id="20" name="Text 13"/>
          <p:cNvSpPr/>
          <p:nvPr/>
        </p:nvSpPr>
        <p:spPr>
          <a:xfrm>
            <a:off x="5376672" y="411480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Monitor tag compliance</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Dashboards that surface missing or incorrect metadata, tracked as a KPI.</a:t>
            </a:r>
            <a:endParaRPr lang="en-US" sz="1450" dirty="0"/>
          </a:p>
        </p:txBody>
      </p:sp>
      <p:sp>
        <p:nvSpPr>
          <p:cNvPr id="21" name="Text 14"/>
          <p:cNvSpPr/>
          <p:nvPr/>
        </p:nvSpPr>
        <p:spPr>
          <a:xfrm>
            <a:off x="548640" y="5047488"/>
            <a:ext cx="3657600" cy="292608"/>
          </a:xfrm>
          <a:prstGeom prst="rect">
            <a:avLst/>
          </a:prstGeom>
          <a:noFill/>
          <a:ln/>
        </p:spPr>
        <p:txBody>
          <a:bodyPr wrap="square" lIns="0" tIns="0" rIns="0" bIns="0" rtlCol="0" anchor="ctr"/>
          <a:lstStyle/>
          <a:p>
            <a:pPr indent="0" marL="0">
              <a:buNone/>
            </a:pPr>
            <a:r>
              <a:rPr lang="en-US" sz="1200" b="1" spc="180" kern="0" dirty="0">
                <a:solidFill>
                  <a:srgbClr val="5C6675"/>
                </a:solidFill>
                <a:latin typeface="Calibri" pitchFamily="34" charset="0"/>
                <a:ea typeface="Calibri" pitchFamily="34" charset="-122"/>
                <a:cs typeface="Calibri" pitchFamily="34" charset="-120"/>
              </a:rPr>
              <a:t>Minimum viable tags</a:t>
            </a:r>
            <a:endParaRPr lang="en-US" sz="1200" dirty="0"/>
          </a:p>
        </p:txBody>
      </p:sp>
      <p:sp>
        <p:nvSpPr>
          <p:cNvPr id="22" name="Shape 15"/>
          <p:cNvSpPr/>
          <p:nvPr/>
        </p:nvSpPr>
        <p:spPr>
          <a:xfrm>
            <a:off x="548640" y="5440680"/>
            <a:ext cx="2103120" cy="566928"/>
          </a:xfrm>
          <a:prstGeom prst="roundRect">
            <a:avLst>
              <a:gd name="adj" fmla="val 48387"/>
            </a:avLst>
          </a:prstGeom>
          <a:solidFill>
            <a:srgbClr val="FBEFD8"/>
          </a:solidFill>
          <a:ln/>
        </p:spPr>
      </p:sp>
      <p:sp>
        <p:nvSpPr>
          <p:cNvPr id="23" name="Text 16"/>
          <p:cNvSpPr/>
          <p:nvPr/>
        </p:nvSpPr>
        <p:spPr>
          <a:xfrm>
            <a:off x="548640"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Environment</a:t>
            </a:r>
            <a:endParaRPr lang="en-US" sz="1400" dirty="0"/>
          </a:p>
        </p:txBody>
      </p:sp>
      <p:sp>
        <p:nvSpPr>
          <p:cNvPr id="24" name="Shape 17"/>
          <p:cNvSpPr/>
          <p:nvPr/>
        </p:nvSpPr>
        <p:spPr>
          <a:xfrm>
            <a:off x="2761488" y="5440680"/>
            <a:ext cx="2103120" cy="566928"/>
          </a:xfrm>
          <a:prstGeom prst="roundRect">
            <a:avLst>
              <a:gd name="adj" fmla="val 48387"/>
            </a:avLst>
          </a:prstGeom>
          <a:solidFill>
            <a:srgbClr val="FBEFD8"/>
          </a:solidFill>
          <a:ln/>
        </p:spPr>
      </p:sp>
      <p:sp>
        <p:nvSpPr>
          <p:cNvPr id="25" name="Text 18"/>
          <p:cNvSpPr/>
          <p:nvPr/>
        </p:nvSpPr>
        <p:spPr>
          <a:xfrm>
            <a:off x="2761488"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CostCenter</a:t>
            </a:r>
            <a:endParaRPr lang="en-US" sz="1400" dirty="0"/>
          </a:p>
        </p:txBody>
      </p:sp>
      <p:sp>
        <p:nvSpPr>
          <p:cNvPr id="26" name="Shape 19"/>
          <p:cNvSpPr/>
          <p:nvPr/>
        </p:nvSpPr>
        <p:spPr>
          <a:xfrm>
            <a:off x="4974336" y="5440680"/>
            <a:ext cx="2103120" cy="566928"/>
          </a:xfrm>
          <a:prstGeom prst="roundRect">
            <a:avLst>
              <a:gd name="adj" fmla="val 48387"/>
            </a:avLst>
          </a:prstGeom>
          <a:solidFill>
            <a:srgbClr val="FBEFD8"/>
          </a:solidFill>
          <a:ln/>
        </p:spPr>
      </p:sp>
      <p:sp>
        <p:nvSpPr>
          <p:cNvPr id="27" name="Text 20"/>
          <p:cNvSpPr/>
          <p:nvPr/>
        </p:nvSpPr>
        <p:spPr>
          <a:xfrm>
            <a:off x="4974336"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ApplicationID</a:t>
            </a:r>
            <a:endParaRPr lang="en-US" sz="1400" dirty="0"/>
          </a:p>
        </p:txBody>
      </p:sp>
      <p:sp>
        <p:nvSpPr>
          <p:cNvPr id="28" name="Shape 21"/>
          <p:cNvSpPr/>
          <p:nvPr/>
        </p:nvSpPr>
        <p:spPr>
          <a:xfrm>
            <a:off x="7187184" y="5440680"/>
            <a:ext cx="2103120" cy="566928"/>
          </a:xfrm>
          <a:prstGeom prst="roundRect">
            <a:avLst>
              <a:gd name="adj" fmla="val 48387"/>
            </a:avLst>
          </a:prstGeom>
          <a:solidFill>
            <a:srgbClr val="FBEFD8"/>
          </a:solidFill>
          <a:ln/>
        </p:spPr>
      </p:sp>
      <p:sp>
        <p:nvSpPr>
          <p:cNvPr id="29" name="Text 22"/>
          <p:cNvSpPr/>
          <p:nvPr/>
        </p:nvSpPr>
        <p:spPr>
          <a:xfrm>
            <a:off x="7187184"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Owner</a:t>
            </a:r>
            <a:endParaRPr lang="en-US" sz="1400" dirty="0"/>
          </a:p>
        </p:txBody>
      </p:sp>
      <p:sp>
        <p:nvSpPr>
          <p:cNvPr id="30" name="Shape 23"/>
          <p:cNvSpPr/>
          <p:nvPr/>
        </p:nvSpPr>
        <p:spPr>
          <a:xfrm>
            <a:off x="9400032" y="5440680"/>
            <a:ext cx="2103120" cy="566928"/>
          </a:xfrm>
          <a:prstGeom prst="roundRect">
            <a:avLst>
              <a:gd name="adj" fmla="val 48387"/>
            </a:avLst>
          </a:prstGeom>
          <a:solidFill>
            <a:srgbClr val="FBEFD8"/>
          </a:solidFill>
          <a:ln/>
        </p:spPr>
      </p:sp>
      <p:sp>
        <p:nvSpPr>
          <p:cNvPr id="31" name="Text 24"/>
          <p:cNvSpPr/>
          <p:nvPr/>
        </p:nvSpPr>
        <p:spPr>
          <a:xfrm>
            <a:off x="9400032"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Project</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SOLUTION 2 — SHARED RESOURCES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Attributing costs that belong to everyone</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Shared databases, Kubernetes clusters and networking are the hardest costs to assign to a single owner.</a:t>
            </a:r>
            <a:endParaRPr lang="en-US" sz="1500" dirty="0"/>
          </a:p>
        </p:txBody>
      </p:sp>
      <p:sp>
        <p:nvSpPr>
          <p:cNvPr id="5" name="Shape 3"/>
          <p:cNvSpPr/>
          <p:nvPr/>
        </p:nvSpPr>
        <p:spPr>
          <a:xfrm>
            <a:off x="548640" y="2103120"/>
            <a:ext cx="5394960" cy="1417320"/>
          </a:xfrm>
          <a:prstGeom prst="roundRect">
            <a:avLst>
              <a:gd name="adj" fmla="val 5806"/>
            </a:avLst>
          </a:prstGeom>
          <a:solidFill>
            <a:srgbClr val="DDEDE9"/>
          </a:solidFill>
          <a:ln/>
        </p:spPr>
      </p:sp>
      <p:sp>
        <p:nvSpPr>
          <p:cNvPr id="6" name="Shape 4"/>
          <p:cNvSpPr/>
          <p:nvPr/>
        </p:nvSpPr>
        <p:spPr>
          <a:xfrm>
            <a:off x="841248" y="2359152"/>
            <a:ext cx="548640" cy="548640"/>
          </a:xfrm>
          <a:prstGeom prst="ellipse">
            <a:avLst/>
          </a:prstGeom>
          <a:solidFill>
            <a:srgbClr val="FFFFFF"/>
          </a:solidFill>
          <a:ln/>
        </p:spPr>
      </p:sp>
      <p:pic>
        <p:nvPicPr>
          <p:cNvPr id="7" name="Image 0" descr="preencoded.png">    </p:cNvPr>
          <p:cNvPicPr>
            <a:picLocks noChangeAspect="1"/>
          </p:cNvPicPr>
          <p:nvPr/>
        </p:nvPicPr>
        <p:blipFill>
          <a:blip r:embed="rId1"/>
          <a:stretch>
            <a:fillRect/>
          </a:stretch>
        </p:blipFill>
        <p:spPr>
          <a:xfrm>
            <a:off x="978408" y="2496312"/>
            <a:ext cx="274320" cy="274320"/>
          </a:xfrm>
          <a:prstGeom prst="rect">
            <a:avLst/>
          </a:prstGeom>
        </p:spPr>
      </p:pic>
      <p:sp>
        <p:nvSpPr>
          <p:cNvPr id="8" name="Text 5"/>
          <p:cNvSpPr/>
          <p:nvPr/>
        </p:nvSpPr>
        <p:spPr>
          <a:xfrm>
            <a:off x="1517904" y="2322576"/>
            <a:ext cx="4114800" cy="365760"/>
          </a:xfrm>
          <a:prstGeom prst="rect">
            <a:avLst/>
          </a:prstGeom>
          <a:noFill/>
          <a:ln/>
        </p:spPr>
        <p:txBody>
          <a:bodyPr wrap="square" lIns="0" tIns="0" rIns="0" bIns="0" rtlCol="0" anchor="ctr"/>
          <a:lstStyle/>
          <a:p>
            <a:pPr indent="0" marL="0">
              <a:buNone/>
            </a:pPr>
            <a:r>
              <a:rPr lang="en-US" sz="1800" b="1" dirty="0">
                <a:solidFill>
                  <a:srgbClr val="1B2430"/>
                </a:solidFill>
                <a:latin typeface="Cambria" pitchFamily="34" charset="0"/>
                <a:ea typeface="Cambria" pitchFamily="34" charset="-122"/>
                <a:cs typeface="Cambria" pitchFamily="34" charset="-120"/>
              </a:rPr>
              <a:t>Attribute-based allocation</a:t>
            </a:r>
            <a:endParaRPr lang="en-US" sz="1800" dirty="0"/>
          </a:p>
        </p:txBody>
      </p:sp>
      <p:sp>
        <p:nvSpPr>
          <p:cNvPr id="9" name="Text 6"/>
          <p:cNvSpPr/>
          <p:nvPr/>
        </p:nvSpPr>
        <p:spPr>
          <a:xfrm>
            <a:off x="859536" y="2761488"/>
            <a:ext cx="4773168" cy="713232"/>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Identify consumption at runtime and allocate on actual usage rather than an arbitrary key.</a:t>
            </a:r>
            <a:endParaRPr lang="en-US" sz="1250" dirty="0"/>
          </a:p>
        </p:txBody>
      </p:sp>
      <p:sp>
        <p:nvSpPr>
          <p:cNvPr id="10" name="Shape 7"/>
          <p:cNvSpPr/>
          <p:nvPr/>
        </p:nvSpPr>
        <p:spPr>
          <a:xfrm>
            <a:off x="6245352" y="2103120"/>
            <a:ext cx="5394960" cy="1417320"/>
          </a:xfrm>
          <a:prstGeom prst="roundRect">
            <a:avLst>
              <a:gd name="adj" fmla="val 5806"/>
            </a:avLst>
          </a:prstGeom>
          <a:solidFill>
            <a:srgbClr val="DDEDE9"/>
          </a:solidFill>
          <a:ln/>
        </p:spPr>
      </p:sp>
      <p:sp>
        <p:nvSpPr>
          <p:cNvPr id="11" name="Shape 8"/>
          <p:cNvSpPr/>
          <p:nvPr/>
        </p:nvSpPr>
        <p:spPr>
          <a:xfrm>
            <a:off x="6537960" y="2359152"/>
            <a:ext cx="548640" cy="548640"/>
          </a:xfrm>
          <a:prstGeom prst="ellipse">
            <a:avLst/>
          </a:prstGeom>
          <a:solidFill>
            <a:srgbClr val="FFFFFF"/>
          </a:solidFill>
          <a:ln/>
        </p:spPr>
      </p:sp>
      <p:pic>
        <p:nvPicPr>
          <p:cNvPr id="12" name="Image 1" descr="preencoded.png">    </p:cNvPr>
          <p:cNvPicPr>
            <a:picLocks noChangeAspect="1"/>
          </p:cNvPicPr>
          <p:nvPr/>
        </p:nvPicPr>
        <p:blipFill>
          <a:blip r:embed="rId2"/>
          <a:stretch>
            <a:fillRect/>
          </a:stretch>
        </p:blipFill>
        <p:spPr>
          <a:xfrm>
            <a:off x="6675120" y="2496312"/>
            <a:ext cx="274320" cy="274320"/>
          </a:xfrm>
          <a:prstGeom prst="rect">
            <a:avLst/>
          </a:prstGeom>
        </p:spPr>
      </p:pic>
      <p:sp>
        <p:nvSpPr>
          <p:cNvPr id="13" name="Text 9"/>
          <p:cNvSpPr/>
          <p:nvPr/>
        </p:nvSpPr>
        <p:spPr>
          <a:xfrm>
            <a:off x="7214616" y="2322576"/>
            <a:ext cx="4114800" cy="365760"/>
          </a:xfrm>
          <a:prstGeom prst="rect">
            <a:avLst/>
          </a:prstGeom>
          <a:noFill/>
          <a:ln/>
        </p:spPr>
        <p:txBody>
          <a:bodyPr wrap="square" lIns="0" tIns="0" rIns="0" bIns="0" rtlCol="0" anchor="ctr"/>
          <a:lstStyle/>
          <a:p>
            <a:pPr indent="0" marL="0">
              <a:buNone/>
            </a:pPr>
            <a:r>
              <a:rPr lang="en-US" sz="1800" b="1" dirty="0">
                <a:solidFill>
                  <a:srgbClr val="1B2430"/>
                </a:solidFill>
                <a:latin typeface="Cambria" pitchFamily="34" charset="0"/>
                <a:ea typeface="Cambria" pitchFamily="34" charset="-122"/>
                <a:cs typeface="Cambria" pitchFamily="34" charset="-120"/>
              </a:rPr>
              <a:t>Define a splitting strategy</a:t>
            </a:r>
            <a:endParaRPr lang="en-US" sz="1800" dirty="0"/>
          </a:p>
        </p:txBody>
      </p:sp>
      <p:sp>
        <p:nvSpPr>
          <p:cNvPr id="14" name="Text 10"/>
          <p:cNvSpPr/>
          <p:nvPr/>
        </p:nvSpPr>
        <p:spPr>
          <a:xfrm>
            <a:off x="6556248" y="2761488"/>
            <a:ext cx="4773168" cy="713232"/>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Pick one consistent method — proportional usage, team count, or a business metric — and publish it.</a:t>
            </a:r>
            <a:endParaRPr lang="en-US" sz="1250" dirty="0"/>
          </a:p>
        </p:txBody>
      </p:sp>
      <p:sp>
        <p:nvSpPr>
          <p:cNvPr id="15" name="Shape 11"/>
          <p:cNvSpPr/>
          <p:nvPr/>
        </p:nvSpPr>
        <p:spPr>
          <a:xfrm>
            <a:off x="548640" y="3657600"/>
            <a:ext cx="5394960" cy="1417320"/>
          </a:xfrm>
          <a:prstGeom prst="roundRect">
            <a:avLst>
              <a:gd name="adj" fmla="val 5806"/>
            </a:avLst>
          </a:prstGeom>
          <a:solidFill>
            <a:srgbClr val="DDEDE9"/>
          </a:solidFill>
          <a:ln/>
        </p:spPr>
      </p:sp>
      <p:sp>
        <p:nvSpPr>
          <p:cNvPr id="16" name="Shape 12"/>
          <p:cNvSpPr/>
          <p:nvPr/>
        </p:nvSpPr>
        <p:spPr>
          <a:xfrm>
            <a:off x="841248" y="3913632"/>
            <a:ext cx="548640" cy="548640"/>
          </a:xfrm>
          <a:prstGeom prst="ellipse">
            <a:avLst/>
          </a:prstGeom>
          <a:solidFill>
            <a:srgbClr val="FFFFFF"/>
          </a:solidFill>
          <a:ln/>
        </p:spPr>
      </p:sp>
      <p:pic>
        <p:nvPicPr>
          <p:cNvPr id="17" name="Image 2" descr="preencoded.png">    </p:cNvPr>
          <p:cNvPicPr>
            <a:picLocks noChangeAspect="1"/>
          </p:cNvPicPr>
          <p:nvPr/>
        </p:nvPicPr>
        <p:blipFill>
          <a:blip r:embed="rId3"/>
          <a:stretch>
            <a:fillRect/>
          </a:stretch>
        </p:blipFill>
        <p:spPr>
          <a:xfrm>
            <a:off x="978408" y="4050792"/>
            <a:ext cx="274320" cy="274320"/>
          </a:xfrm>
          <a:prstGeom prst="rect">
            <a:avLst/>
          </a:prstGeom>
        </p:spPr>
      </p:pic>
      <p:sp>
        <p:nvSpPr>
          <p:cNvPr id="18" name="Text 13"/>
          <p:cNvSpPr/>
          <p:nvPr/>
        </p:nvSpPr>
        <p:spPr>
          <a:xfrm>
            <a:off x="1517904" y="3877056"/>
            <a:ext cx="4114800" cy="365760"/>
          </a:xfrm>
          <a:prstGeom prst="rect">
            <a:avLst/>
          </a:prstGeom>
          <a:noFill/>
          <a:ln/>
        </p:spPr>
        <p:txBody>
          <a:bodyPr wrap="square" lIns="0" tIns="0" rIns="0" bIns="0" rtlCol="0" anchor="ctr"/>
          <a:lstStyle/>
          <a:p>
            <a:pPr indent="0" marL="0">
              <a:buNone/>
            </a:pPr>
            <a:r>
              <a:rPr lang="en-US" sz="1800" b="1" dirty="0">
                <a:solidFill>
                  <a:srgbClr val="1B2430"/>
                </a:solidFill>
                <a:latin typeface="Cambria" pitchFamily="34" charset="0"/>
                <a:ea typeface="Cambria" pitchFamily="34" charset="-122"/>
                <a:cs typeface="Cambria" pitchFamily="34" charset="-120"/>
              </a:rPr>
              <a:t>Start with showback</a:t>
            </a:r>
            <a:endParaRPr lang="en-US" sz="1800" dirty="0"/>
          </a:p>
        </p:txBody>
      </p:sp>
      <p:sp>
        <p:nvSpPr>
          <p:cNvPr id="19" name="Text 14"/>
          <p:cNvSpPr/>
          <p:nvPr/>
        </p:nvSpPr>
        <p:spPr>
          <a:xfrm>
            <a:off x="859536" y="4315968"/>
            <a:ext cx="4773168" cy="713232"/>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Report each team's share of shared cost without billing it. Builds awareness and surfaces disputes early.</a:t>
            </a:r>
            <a:endParaRPr lang="en-US" sz="1250" dirty="0"/>
          </a:p>
        </p:txBody>
      </p:sp>
      <p:sp>
        <p:nvSpPr>
          <p:cNvPr id="20" name="Shape 15"/>
          <p:cNvSpPr/>
          <p:nvPr/>
        </p:nvSpPr>
        <p:spPr>
          <a:xfrm>
            <a:off x="6245352" y="3657600"/>
            <a:ext cx="5394960" cy="1417320"/>
          </a:xfrm>
          <a:prstGeom prst="roundRect">
            <a:avLst>
              <a:gd name="adj" fmla="val 5806"/>
            </a:avLst>
          </a:prstGeom>
          <a:solidFill>
            <a:srgbClr val="DDEDE9"/>
          </a:solidFill>
          <a:ln/>
        </p:spPr>
      </p:sp>
      <p:sp>
        <p:nvSpPr>
          <p:cNvPr id="21" name="Shape 16"/>
          <p:cNvSpPr/>
          <p:nvPr/>
        </p:nvSpPr>
        <p:spPr>
          <a:xfrm>
            <a:off x="6537960" y="3913632"/>
            <a:ext cx="548640" cy="548640"/>
          </a:xfrm>
          <a:prstGeom prst="ellipse">
            <a:avLst/>
          </a:prstGeom>
          <a:solidFill>
            <a:srgbClr val="FFFFFF"/>
          </a:solidFill>
          <a:ln/>
        </p:spPr>
      </p:sp>
      <p:pic>
        <p:nvPicPr>
          <p:cNvPr id="22" name="Image 3" descr="preencoded.png">    </p:cNvPr>
          <p:cNvPicPr>
            <a:picLocks noChangeAspect="1"/>
          </p:cNvPicPr>
          <p:nvPr/>
        </p:nvPicPr>
        <p:blipFill>
          <a:blip r:embed="rId4"/>
          <a:stretch>
            <a:fillRect/>
          </a:stretch>
        </p:blipFill>
        <p:spPr>
          <a:xfrm>
            <a:off x="6675120" y="4050792"/>
            <a:ext cx="274320" cy="274320"/>
          </a:xfrm>
          <a:prstGeom prst="rect">
            <a:avLst/>
          </a:prstGeom>
        </p:spPr>
      </p:pic>
      <p:sp>
        <p:nvSpPr>
          <p:cNvPr id="23" name="Text 17"/>
          <p:cNvSpPr/>
          <p:nvPr/>
        </p:nvSpPr>
        <p:spPr>
          <a:xfrm>
            <a:off x="7214616" y="3877056"/>
            <a:ext cx="4114800" cy="365760"/>
          </a:xfrm>
          <a:prstGeom prst="rect">
            <a:avLst/>
          </a:prstGeom>
          <a:noFill/>
          <a:ln/>
        </p:spPr>
        <p:txBody>
          <a:bodyPr wrap="square" lIns="0" tIns="0" rIns="0" bIns="0" rtlCol="0" anchor="ctr"/>
          <a:lstStyle/>
          <a:p>
            <a:pPr indent="0" marL="0">
              <a:buNone/>
            </a:pPr>
            <a:r>
              <a:rPr lang="en-US" sz="1800" b="1" dirty="0">
                <a:solidFill>
                  <a:srgbClr val="1B2430"/>
                </a:solidFill>
                <a:latin typeface="Cambria" pitchFamily="34" charset="0"/>
                <a:ea typeface="Cambria" pitchFamily="34" charset="-122"/>
                <a:cs typeface="Cambria" pitchFamily="34" charset="-120"/>
              </a:rPr>
              <a:t>Progress to chargeback</a:t>
            </a:r>
            <a:endParaRPr lang="en-US" sz="1800" dirty="0"/>
          </a:p>
        </p:txBody>
      </p:sp>
      <p:sp>
        <p:nvSpPr>
          <p:cNvPr id="24" name="Text 18"/>
          <p:cNvSpPr/>
          <p:nvPr/>
        </p:nvSpPr>
        <p:spPr>
          <a:xfrm>
            <a:off x="6556248" y="4315968"/>
            <a:ext cx="4773168" cy="713232"/>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Bill teams on actual consumption once the usage patterns are understood and trusted.</a:t>
            </a:r>
            <a:endParaRPr lang="en-US" sz="1250" dirty="0"/>
          </a:p>
        </p:txBody>
      </p:sp>
      <p:sp>
        <p:nvSpPr>
          <p:cNvPr id="25" name="Shape 19"/>
          <p:cNvSpPr/>
          <p:nvPr/>
        </p:nvSpPr>
        <p:spPr>
          <a:xfrm>
            <a:off x="548640" y="5440680"/>
            <a:ext cx="11091672" cy="868680"/>
          </a:xfrm>
          <a:prstGeom prst="roundRect">
            <a:avLst>
              <a:gd name="adj" fmla="val 9474"/>
            </a:avLst>
          </a:prstGeom>
          <a:solidFill>
            <a:srgbClr val="1F2936"/>
          </a:solidFill>
          <a:ln/>
          <a:effectLst>
            <a:outerShdw sx="100000" sy="100000" kx="0" ky="0" algn="bl" rotWithShape="0" blurRad="127000" dist="25400" dir="5400000">
              <a:srgbClr val="8C99A8">
                <a:alpha val="16000"/>
              </a:srgbClr>
            </a:outerShdw>
          </a:effectLst>
        </p:spPr>
      </p:sp>
      <p:sp>
        <p:nvSpPr>
          <p:cNvPr id="26" name="Text 20"/>
          <p:cNvSpPr/>
          <p:nvPr/>
        </p:nvSpPr>
        <p:spPr>
          <a:xfrm>
            <a:off x="841248" y="5550408"/>
            <a:ext cx="10506456" cy="649224"/>
          </a:xfrm>
          <a:prstGeom prst="rect">
            <a:avLst/>
          </a:prstGeom>
          <a:noFill/>
          <a:ln/>
        </p:spPr>
        <p:txBody>
          <a:bodyPr wrap="square" lIns="0" tIns="0" rIns="0" bIns="0" rtlCol="0" anchor="ctr"/>
          <a:lstStyle/>
          <a:p>
            <a:pPr indent="0" marL="0">
              <a:lnSpc>
                <a:spcPts val="2000"/>
              </a:lnSpc>
              <a:buNone/>
            </a:pPr>
            <a:r>
              <a:rPr lang="en-US" sz="1500" i="1" dirty="0">
                <a:solidFill>
                  <a:srgbClr val="FFFFFF"/>
                </a:solidFill>
                <a:latin typeface="Cambria" pitchFamily="34" charset="0"/>
                <a:ea typeface="Cambria" pitchFamily="34" charset="-122"/>
                <a:cs typeface="Cambria" pitchFamily="34" charset="-120"/>
              </a:rPr>
              <a:t>“A thoughtful chargeback model often drives more intentional decisions and long-term discipline.”</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SOLUTION 3 — COMMITMENTS &amp; DISCOUNTS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Making the price we actually pay visible</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Discounts obscure true attribution: the price shown on a resource is not the price the business paid.</a:t>
            </a:r>
            <a:endParaRPr lang="en-US" sz="1500" dirty="0"/>
          </a:p>
        </p:txBody>
      </p:sp>
      <p:sp>
        <p:nvSpPr>
          <p:cNvPr id="5" name="Shape 3"/>
          <p:cNvSpPr/>
          <p:nvPr/>
        </p:nvSpPr>
        <p:spPr>
          <a:xfrm>
            <a:off x="548640" y="2103120"/>
            <a:ext cx="3520440" cy="2724912"/>
          </a:xfrm>
          <a:prstGeom prst="roundRect">
            <a:avLst>
              <a:gd name="adj" fmla="val 3020"/>
            </a:avLst>
          </a:prstGeom>
          <a:solidFill>
            <a:srgbClr val="1F2936"/>
          </a:solidFill>
          <a:ln/>
          <a:effectLst>
            <a:outerShdw sx="100000" sy="100000" kx="0" ky="0" algn="bl" rotWithShape="0" blurRad="127000" dist="25400" dir="5400000">
              <a:srgbClr val="8C99A8">
                <a:alpha val="16000"/>
              </a:srgbClr>
            </a:outerShdw>
          </a:effectLst>
        </p:spPr>
      </p:sp>
      <p:sp>
        <p:nvSpPr>
          <p:cNvPr id="6" name="Text 4"/>
          <p:cNvSpPr/>
          <p:nvPr/>
        </p:nvSpPr>
        <p:spPr>
          <a:xfrm>
            <a:off x="804672" y="2615184"/>
            <a:ext cx="3017520" cy="960120"/>
          </a:xfrm>
          <a:prstGeom prst="rect">
            <a:avLst/>
          </a:prstGeom>
          <a:noFill/>
          <a:ln/>
        </p:spPr>
        <p:txBody>
          <a:bodyPr wrap="square" lIns="0" tIns="0" rIns="0" bIns="0" rtlCol="0" anchor="ctr"/>
          <a:lstStyle/>
          <a:p>
            <a:pPr indent="0" marL="0">
              <a:buNone/>
            </a:pPr>
            <a:r>
              <a:rPr lang="en-US" sz="4600" b="1" dirty="0">
                <a:solidFill>
                  <a:srgbClr val="E39B2C"/>
                </a:solidFill>
                <a:latin typeface="Cambria" pitchFamily="34" charset="0"/>
                <a:ea typeface="Cambria" pitchFamily="34" charset="-122"/>
                <a:cs typeface="Cambria" pitchFamily="34" charset="-120"/>
              </a:rPr>
              <a:t>60–80%</a:t>
            </a:r>
            <a:endParaRPr lang="en-US" sz="4600" dirty="0"/>
          </a:p>
        </p:txBody>
      </p:sp>
      <p:sp>
        <p:nvSpPr>
          <p:cNvPr id="7" name="Text 5"/>
          <p:cNvSpPr/>
          <p:nvPr/>
        </p:nvSpPr>
        <p:spPr>
          <a:xfrm>
            <a:off x="841248" y="3703320"/>
            <a:ext cx="2926080" cy="914400"/>
          </a:xfrm>
          <a:prstGeom prst="rect">
            <a:avLst/>
          </a:prstGeom>
          <a:noFill/>
          <a:ln/>
        </p:spPr>
        <p:txBody>
          <a:bodyPr wrap="square" lIns="0" tIns="0" rIns="0" bIns="0" rtlCol="0" anchor="t"/>
          <a:lstStyle/>
          <a:p>
            <a:pPr indent="0" marL="0">
              <a:lnSpc>
                <a:spcPts val="1900"/>
              </a:lnSpc>
              <a:buNone/>
            </a:pPr>
            <a:r>
              <a:rPr lang="en-US" sz="1400" dirty="0">
                <a:solidFill>
                  <a:srgbClr val="9EABBA"/>
                </a:solidFill>
                <a:latin typeface="Calibri" pitchFamily="34" charset="0"/>
                <a:ea typeface="Calibri" pitchFamily="34" charset="-122"/>
                <a:cs typeface="Calibri" pitchFamily="34" charset="-120"/>
              </a:rPr>
              <a:t>Target commitment coverage on stable, predictable workloads.</a:t>
            </a:r>
            <a:endParaRPr lang="en-US" sz="1400" dirty="0"/>
          </a:p>
        </p:txBody>
      </p:sp>
      <p:sp>
        <p:nvSpPr>
          <p:cNvPr id="8" name="Shape 6"/>
          <p:cNvSpPr/>
          <p:nvPr/>
        </p:nvSpPr>
        <p:spPr>
          <a:xfrm>
            <a:off x="4462272" y="2103120"/>
            <a:ext cx="7178040" cy="640080"/>
          </a:xfrm>
          <a:prstGeom prst="roundRect">
            <a:avLst>
              <a:gd name="adj" fmla="val 12857"/>
            </a:avLst>
          </a:prstGeom>
          <a:solidFill>
            <a:srgbClr val="F1F3F6"/>
          </a:solidFill>
          <a:ln/>
        </p:spPr>
      </p:sp>
      <p:sp>
        <p:nvSpPr>
          <p:cNvPr id="9" name="Shape 7"/>
          <p:cNvSpPr/>
          <p:nvPr/>
        </p:nvSpPr>
        <p:spPr>
          <a:xfrm>
            <a:off x="4681728" y="2203704"/>
            <a:ext cx="438912" cy="438912"/>
          </a:xfrm>
          <a:prstGeom prst="ellipse">
            <a:avLst/>
          </a:prstGeom>
          <a:solidFill>
            <a:srgbClr val="FFFFFF"/>
          </a:solidFill>
          <a:ln/>
        </p:spPr>
      </p:sp>
      <p:pic>
        <p:nvPicPr>
          <p:cNvPr id="10" name="Image 0" descr="preencoded.png">    </p:cNvPr>
          <p:cNvPicPr>
            <a:picLocks noChangeAspect="1"/>
          </p:cNvPicPr>
          <p:nvPr/>
        </p:nvPicPr>
        <p:blipFill>
          <a:blip r:embed="rId1"/>
          <a:stretch>
            <a:fillRect/>
          </a:stretch>
        </p:blipFill>
        <p:spPr>
          <a:xfrm>
            <a:off x="4791456" y="2313432"/>
            <a:ext cx="219456" cy="219456"/>
          </a:xfrm>
          <a:prstGeom prst="rect">
            <a:avLst/>
          </a:prstGeom>
        </p:spPr>
      </p:pic>
      <p:sp>
        <p:nvSpPr>
          <p:cNvPr id="11" name="Text 8"/>
          <p:cNvSpPr/>
          <p:nvPr/>
        </p:nvSpPr>
        <p:spPr>
          <a:xfrm>
            <a:off x="5285232" y="2103120"/>
            <a:ext cx="6217920" cy="64008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Separate discount from list price   </a:t>
            </a:r>
            <a:pPr indent="0" marL="0">
              <a:lnSpc>
                <a:spcPts val="1600"/>
              </a:lnSpc>
              <a:buNone/>
            </a:pPr>
            <a:r>
              <a:rPr lang="en-US" sz="1200" dirty="0">
                <a:solidFill>
                  <a:srgbClr val="5C6675"/>
                </a:solidFill>
                <a:latin typeface="Calibri" pitchFamily="34" charset="0"/>
                <a:ea typeface="Calibri" pitchFamily="34" charset="-122"/>
                <a:cs typeface="Calibri" pitchFamily="34" charset="-120"/>
              </a:rPr>
              <a:t>Show MSRP and the discounted price side by side, with the attributed saving alongside.</a:t>
            </a:r>
            <a:endParaRPr lang="en-US" sz="1400" dirty="0"/>
          </a:p>
        </p:txBody>
      </p:sp>
      <p:sp>
        <p:nvSpPr>
          <p:cNvPr id="12" name="Shape 9"/>
          <p:cNvSpPr/>
          <p:nvPr/>
        </p:nvSpPr>
        <p:spPr>
          <a:xfrm>
            <a:off x="4462272" y="2798064"/>
            <a:ext cx="7178040" cy="640080"/>
          </a:xfrm>
          <a:prstGeom prst="roundRect">
            <a:avLst>
              <a:gd name="adj" fmla="val 12857"/>
            </a:avLst>
          </a:prstGeom>
          <a:solidFill>
            <a:srgbClr val="F1F3F6"/>
          </a:solidFill>
          <a:ln/>
        </p:spPr>
      </p:sp>
      <p:sp>
        <p:nvSpPr>
          <p:cNvPr id="13" name="Shape 10"/>
          <p:cNvSpPr/>
          <p:nvPr/>
        </p:nvSpPr>
        <p:spPr>
          <a:xfrm>
            <a:off x="4681728" y="2898648"/>
            <a:ext cx="438912" cy="438912"/>
          </a:xfrm>
          <a:prstGeom prst="ellipse">
            <a:avLst/>
          </a:prstGeom>
          <a:solidFill>
            <a:srgbClr val="FFFFFF"/>
          </a:solidFill>
          <a:ln/>
        </p:spPr>
      </p:sp>
      <p:pic>
        <p:nvPicPr>
          <p:cNvPr id="14" name="Image 1" descr="preencoded.png">    </p:cNvPr>
          <p:cNvPicPr>
            <a:picLocks noChangeAspect="1"/>
          </p:cNvPicPr>
          <p:nvPr/>
        </p:nvPicPr>
        <p:blipFill>
          <a:blip r:embed="rId2"/>
          <a:stretch>
            <a:fillRect/>
          </a:stretch>
        </p:blipFill>
        <p:spPr>
          <a:xfrm>
            <a:off x="4791456" y="3008376"/>
            <a:ext cx="219456" cy="219456"/>
          </a:xfrm>
          <a:prstGeom prst="rect">
            <a:avLst/>
          </a:prstGeom>
        </p:spPr>
      </p:pic>
      <p:sp>
        <p:nvSpPr>
          <p:cNvPr id="15" name="Text 11"/>
          <p:cNvSpPr/>
          <p:nvPr/>
        </p:nvSpPr>
        <p:spPr>
          <a:xfrm>
            <a:off x="5285232" y="2798064"/>
            <a:ext cx="6217920" cy="64008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Attribute savings to the beneficiary   </a:t>
            </a:r>
            <a:pPr indent="0" marL="0">
              <a:lnSpc>
                <a:spcPts val="1600"/>
              </a:lnSpc>
              <a:buNone/>
            </a:pPr>
            <a:r>
              <a:rPr lang="en-US" sz="1200" dirty="0">
                <a:solidFill>
                  <a:srgbClr val="5C6675"/>
                </a:solidFill>
                <a:latin typeface="Calibri" pitchFamily="34" charset="0"/>
                <a:ea typeface="Calibri" pitchFamily="34" charset="-122"/>
                <a:cs typeface="Calibri" pitchFamily="34" charset="-120"/>
              </a:rPr>
              <a:t>If a team consumes the resources that earned the discount, that team should see the saving.</a:t>
            </a:r>
            <a:endParaRPr lang="en-US" sz="1400" dirty="0"/>
          </a:p>
        </p:txBody>
      </p:sp>
      <p:sp>
        <p:nvSpPr>
          <p:cNvPr id="16" name="Shape 12"/>
          <p:cNvSpPr/>
          <p:nvPr/>
        </p:nvSpPr>
        <p:spPr>
          <a:xfrm>
            <a:off x="4462272" y="3493008"/>
            <a:ext cx="7178040" cy="640080"/>
          </a:xfrm>
          <a:prstGeom prst="roundRect">
            <a:avLst>
              <a:gd name="adj" fmla="val 12857"/>
            </a:avLst>
          </a:prstGeom>
          <a:solidFill>
            <a:srgbClr val="F1F3F6"/>
          </a:solidFill>
          <a:ln/>
        </p:spPr>
      </p:sp>
      <p:sp>
        <p:nvSpPr>
          <p:cNvPr id="17" name="Shape 13"/>
          <p:cNvSpPr/>
          <p:nvPr/>
        </p:nvSpPr>
        <p:spPr>
          <a:xfrm>
            <a:off x="4681728" y="3593592"/>
            <a:ext cx="438912" cy="438912"/>
          </a:xfrm>
          <a:prstGeom prst="ellipse">
            <a:avLst/>
          </a:prstGeom>
          <a:solidFill>
            <a:srgbClr val="FFFFFF"/>
          </a:solidFill>
          <a:ln/>
        </p:spPr>
      </p:sp>
      <p:pic>
        <p:nvPicPr>
          <p:cNvPr id="18" name="Image 2" descr="preencoded.png">    </p:cNvPr>
          <p:cNvPicPr>
            <a:picLocks noChangeAspect="1"/>
          </p:cNvPicPr>
          <p:nvPr/>
        </p:nvPicPr>
        <p:blipFill>
          <a:blip r:embed="rId3"/>
          <a:stretch>
            <a:fillRect/>
          </a:stretch>
        </p:blipFill>
        <p:spPr>
          <a:xfrm>
            <a:off x="4791456" y="3703320"/>
            <a:ext cx="219456" cy="219456"/>
          </a:xfrm>
          <a:prstGeom prst="rect">
            <a:avLst/>
          </a:prstGeom>
        </p:spPr>
      </p:pic>
      <p:sp>
        <p:nvSpPr>
          <p:cNvPr id="19" name="Text 14"/>
          <p:cNvSpPr/>
          <p:nvPr/>
        </p:nvSpPr>
        <p:spPr>
          <a:xfrm>
            <a:off x="5285232" y="3493008"/>
            <a:ext cx="6217920" cy="64008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Track commitment coverage   </a:t>
            </a:r>
            <a:pPr indent="0" marL="0">
              <a:lnSpc>
                <a:spcPts val="1600"/>
              </a:lnSpc>
              <a:buNone/>
            </a:pPr>
            <a:r>
              <a:rPr lang="en-US" sz="1200" dirty="0">
                <a:solidFill>
                  <a:srgbClr val="5C6675"/>
                </a:solidFill>
                <a:latin typeface="Calibri" pitchFamily="34" charset="0"/>
                <a:ea typeface="Calibri" pitchFamily="34" charset="-122"/>
                <a:cs typeface="Calibri" pitchFamily="34" charset="-120"/>
              </a:rPr>
              <a:t>Know what share of steady-state spend sits under a commitment, and where the gaps are.</a:t>
            </a:r>
            <a:endParaRPr lang="en-US" sz="1400" dirty="0"/>
          </a:p>
        </p:txBody>
      </p:sp>
      <p:sp>
        <p:nvSpPr>
          <p:cNvPr id="20" name="Shape 15"/>
          <p:cNvSpPr/>
          <p:nvPr/>
        </p:nvSpPr>
        <p:spPr>
          <a:xfrm>
            <a:off x="4462272" y="4187952"/>
            <a:ext cx="7178040" cy="640080"/>
          </a:xfrm>
          <a:prstGeom prst="roundRect">
            <a:avLst>
              <a:gd name="adj" fmla="val 12857"/>
            </a:avLst>
          </a:prstGeom>
          <a:solidFill>
            <a:srgbClr val="F1F3F6"/>
          </a:solidFill>
          <a:ln/>
        </p:spPr>
      </p:sp>
      <p:sp>
        <p:nvSpPr>
          <p:cNvPr id="21" name="Shape 16"/>
          <p:cNvSpPr/>
          <p:nvPr/>
        </p:nvSpPr>
        <p:spPr>
          <a:xfrm>
            <a:off x="4681728" y="4288536"/>
            <a:ext cx="438912" cy="438912"/>
          </a:xfrm>
          <a:prstGeom prst="ellipse">
            <a:avLst/>
          </a:prstGeom>
          <a:solidFill>
            <a:srgbClr val="FFFFFF"/>
          </a:solidFill>
          <a:ln/>
        </p:spPr>
      </p:sp>
      <p:pic>
        <p:nvPicPr>
          <p:cNvPr id="22" name="Image 3" descr="preencoded.png">    </p:cNvPr>
          <p:cNvPicPr>
            <a:picLocks noChangeAspect="1"/>
          </p:cNvPicPr>
          <p:nvPr/>
        </p:nvPicPr>
        <p:blipFill>
          <a:blip r:embed="rId4"/>
          <a:stretch>
            <a:fillRect/>
          </a:stretch>
        </p:blipFill>
        <p:spPr>
          <a:xfrm>
            <a:off x="4791456" y="4398264"/>
            <a:ext cx="219456" cy="219456"/>
          </a:xfrm>
          <a:prstGeom prst="rect">
            <a:avLst/>
          </a:prstGeom>
        </p:spPr>
      </p:pic>
      <p:sp>
        <p:nvSpPr>
          <p:cNvPr id="23" name="Text 17"/>
          <p:cNvSpPr/>
          <p:nvPr/>
        </p:nvSpPr>
        <p:spPr>
          <a:xfrm>
            <a:off x="5285232" y="4187952"/>
            <a:ext cx="6217920" cy="64008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Monitor utilization   </a:t>
            </a:r>
            <a:pPr indent="0" marL="0">
              <a:lnSpc>
                <a:spcPts val="1600"/>
              </a:lnSpc>
              <a:buNone/>
            </a:pPr>
            <a:r>
              <a:rPr lang="en-US" sz="1200" dirty="0">
                <a:solidFill>
                  <a:srgbClr val="5C6675"/>
                </a:solidFill>
                <a:latin typeface="Calibri" pitchFamily="34" charset="0"/>
                <a:ea typeface="Calibri" pitchFamily="34" charset="-122"/>
                <a:cs typeface="Calibri" pitchFamily="34" charset="-120"/>
              </a:rPr>
              <a:t>An unused commitment is not a discount — it is prepaid waste.</a:t>
            </a:r>
            <a:endParaRPr lang="en-US" sz="1400" dirty="0"/>
          </a:p>
        </p:txBody>
      </p:sp>
      <p:sp>
        <p:nvSpPr>
          <p:cNvPr id="24" name="Shape 18"/>
          <p:cNvSpPr/>
          <p:nvPr/>
        </p:nvSpPr>
        <p:spPr>
          <a:xfrm>
            <a:off x="548640" y="5138928"/>
            <a:ext cx="11091672" cy="777240"/>
          </a:xfrm>
          <a:prstGeom prst="roundRect">
            <a:avLst>
              <a:gd name="adj" fmla="val 10588"/>
            </a:avLst>
          </a:prstGeom>
          <a:solidFill>
            <a:srgbClr val="FBEFD8"/>
          </a:solidFill>
          <a:ln/>
          <a:effectLst>
            <a:outerShdw sx="100000" sy="100000" kx="0" ky="0" algn="bl" rotWithShape="0" blurRad="127000" dist="25400" dir="5400000">
              <a:srgbClr val="8C99A8">
                <a:alpha val="16000"/>
              </a:srgbClr>
            </a:outerShdw>
          </a:effectLst>
        </p:spPr>
      </p:sp>
      <p:sp>
        <p:nvSpPr>
          <p:cNvPr id="25" name="Text 19"/>
          <p:cNvSpPr/>
          <p:nvPr/>
        </p:nvSpPr>
        <p:spPr>
          <a:xfrm>
            <a:off x="841248" y="5248656"/>
            <a:ext cx="10506456" cy="557784"/>
          </a:xfrm>
          <a:prstGeom prst="rect">
            <a:avLst/>
          </a:prstGeom>
          <a:noFill/>
          <a:ln/>
        </p:spPr>
        <p:txBody>
          <a:bodyPr wrap="square" lIns="0" tIns="0" rIns="0" bIns="0" rtlCol="0" anchor="ctr"/>
          <a:lstStyle/>
          <a:p>
            <a:pPr indent="0" marL="0">
              <a:lnSpc>
                <a:spcPts val="2000"/>
              </a:lnSpc>
              <a:buNone/>
            </a:pPr>
            <a:r>
              <a:rPr lang="en-US" sz="1500" i="1" dirty="0">
                <a:solidFill>
                  <a:srgbClr val="6B4A0E"/>
                </a:solidFill>
                <a:latin typeface="Cambria" pitchFamily="34" charset="0"/>
                <a:ea typeface="Cambria" pitchFamily="34" charset="-122"/>
                <a:cs typeface="Cambria" pitchFamily="34" charset="-120"/>
              </a:rPr>
              <a:t>A commitment nobody uses is the most expensive form of waste — it is locked in, and it is invisible on a list-price report.</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SOLUTION 4 — MULTI-CLOUD VISIBILITY</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One view across every provider</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AWS Cost Explorer, Azure Cost Management and GCP Billing are capable — but each sees only its own silo.</a:t>
            </a:r>
            <a:endParaRPr lang="en-US" sz="1500" dirty="0"/>
          </a:p>
        </p:txBody>
      </p:sp>
      <p:sp>
        <p:nvSpPr>
          <p:cNvPr id="5" name="Shape 3"/>
          <p:cNvSpPr/>
          <p:nvPr/>
        </p:nvSpPr>
        <p:spPr>
          <a:xfrm>
            <a:off x="548640" y="2148840"/>
            <a:ext cx="3511296" cy="2468880"/>
          </a:xfrm>
          <a:prstGeom prst="roundRect">
            <a:avLst>
              <a:gd name="adj" fmla="val 3333"/>
            </a:avLst>
          </a:prstGeom>
          <a:solidFill>
            <a:srgbClr val="F1F3F6"/>
          </a:solidFill>
          <a:ln/>
        </p:spPr>
      </p:sp>
      <p:sp>
        <p:nvSpPr>
          <p:cNvPr id="6" name="Shape 4"/>
          <p:cNvSpPr/>
          <p:nvPr/>
        </p:nvSpPr>
        <p:spPr>
          <a:xfrm>
            <a:off x="859536" y="2423160"/>
            <a:ext cx="640080" cy="640080"/>
          </a:xfrm>
          <a:prstGeom prst="ellipse">
            <a:avLst/>
          </a:prstGeom>
          <a:solidFill>
            <a:srgbClr val="FFFFFF"/>
          </a:solidFill>
          <a:ln/>
        </p:spPr>
      </p:sp>
      <p:pic>
        <p:nvPicPr>
          <p:cNvPr id="7" name="Image 0" descr="preencoded.png">    </p:cNvPr>
          <p:cNvPicPr>
            <a:picLocks noChangeAspect="1"/>
          </p:cNvPicPr>
          <p:nvPr/>
        </p:nvPicPr>
        <p:blipFill>
          <a:blip r:embed="rId1"/>
          <a:stretch>
            <a:fillRect/>
          </a:stretch>
        </p:blipFill>
        <p:spPr>
          <a:xfrm>
            <a:off x="1019556" y="2583180"/>
            <a:ext cx="320040" cy="320040"/>
          </a:xfrm>
          <a:prstGeom prst="rect">
            <a:avLst/>
          </a:prstGeom>
        </p:spPr>
      </p:pic>
      <p:sp>
        <p:nvSpPr>
          <p:cNvPr id="8" name="Text 5"/>
          <p:cNvSpPr/>
          <p:nvPr/>
        </p:nvSpPr>
        <p:spPr>
          <a:xfrm>
            <a:off x="859536" y="3200400"/>
            <a:ext cx="2889504" cy="384048"/>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Centralized platform</a:t>
            </a:r>
            <a:endParaRPr lang="en-US" sz="1900" dirty="0"/>
          </a:p>
        </p:txBody>
      </p:sp>
      <p:sp>
        <p:nvSpPr>
          <p:cNvPr id="9" name="Text 6"/>
          <p:cNvSpPr/>
          <p:nvPr/>
        </p:nvSpPr>
        <p:spPr>
          <a:xfrm>
            <a:off x="859536" y="3621024"/>
            <a:ext cx="2889504" cy="86868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Ingest, normalize and enrich cost data from every provider into a single store.</a:t>
            </a:r>
            <a:endParaRPr lang="en-US" sz="1250" dirty="0"/>
          </a:p>
        </p:txBody>
      </p:sp>
      <p:sp>
        <p:nvSpPr>
          <p:cNvPr id="10" name="Shape 7"/>
          <p:cNvSpPr/>
          <p:nvPr/>
        </p:nvSpPr>
        <p:spPr>
          <a:xfrm>
            <a:off x="4334256" y="2148840"/>
            <a:ext cx="3511296" cy="2468880"/>
          </a:xfrm>
          <a:prstGeom prst="roundRect">
            <a:avLst>
              <a:gd name="adj" fmla="val 3333"/>
            </a:avLst>
          </a:prstGeom>
          <a:solidFill>
            <a:srgbClr val="F1F3F6"/>
          </a:solidFill>
          <a:ln/>
        </p:spPr>
      </p:sp>
      <p:sp>
        <p:nvSpPr>
          <p:cNvPr id="11" name="Shape 8"/>
          <p:cNvSpPr/>
          <p:nvPr/>
        </p:nvSpPr>
        <p:spPr>
          <a:xfrm>
            <a:off x="4645152" y="2423160"/>
            <a:ext cx="640080" cy="640080"/>
          </a:xfrm>
          <a:prstGeom prst="ellipse">
            <a:avLst/>
          </a:prstGeom>
          <a:solidFill>
            <a:srgbClr val="FFFFFF"/>
          </a:solidFill>
          <a:ln/>
        </p:spPr>
      </p:sp>
      <p:pic>
        <p:nvPicPr>
          <p:cNvPr id="12" name="Image 1" descr="preencoded.png">    </p:cNvPr>
          <p:cNvPicPr>
            <a:picLocks noChangeAspect="1"/>
          </p:cNvPicPr>
          <p:nvPr/>
        </p:nvPicPr>
        <p:blipFill>
          <a:blip r:embed="rId2"/>
          <a:stretch>
            <a:fillRect/>
          </a:stretch>
        </p:blipFill>
        <p:spPr>
          <a:xfrm>
            <a:off x="4805172" y="2583180"/>
            <a:ext cx="320040" cy="320040"/>
          </a:xfrm>
          <a:prstGeom prst="rect">
            <a:avLst/>
          </a:prstGeom>
        </p:spPr>
      </p:pic>
      <p:sp>
        <p:nvSpPr>
          <p:cNvPr id="13" name="Text 9"/>
          <p:cNvSpPr/>
          <p:nvPr/>
        </p:nvSpPr>
        <p:spPr>
          <a:xfrm>
            <a:off x="4645152" y="3200400"/>
            <a:ext cx="2889504" cy="384048"/>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Adopt the FOCUS standard</a:t>
            </a:r>
            <a:endParaRPr lang="en-US" sz="1900" dirty="0"/>
          </a:p>
        </p:txBody>
      </p:sp>
      <p:sp>
        <p:nvSpPr>
          <p:cNvPr id="14" name="Text 10"/>
          <p:cNvSpPr/>
          <p:nvPr/>
        </p:nvSpPr>
        <p:spPr>
          <a:xfrm>
            <a:off x="4645152" y="3621024"/>
            <a:ext cx="2889504" cy="86868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The FinOps Open Cost and Usage Specification normalizes cloud billing into a vendor-agnostic schema.</a:t>
            </a:r>
            <a:endParaRPr lang="en-US" sz="1250" dirty="0"/>
          </a:p>
        </p:txBody>
      </p:sp>
      <p:sp>
        <p:nvSpPr>
          <p:cNvPr id="15" name="Shape 11"/>
          <p:cNvSpPr/>
          <p:nvPr/>
        </p:nvSpPr>
        <p:spPr>
          <a:xfrm>
            <a:off x="8119872" y="2148840"/>
            <a:ext cx="3511296" cy="2468880"/>
          </a:xfrm>
          <a:prstGeom prst="roundRect">
            <a:avLst>
              <a:gd name="adj" fmla="val 3333"/>
            </a:avLst>
          </a:prstGeom>
          <a:solidFill>
            <a:srgbClr val="F1F3F6"/>
          </a:solidFill>
          <a:ln/>
        </p:spPr>
      </p:sp>
      <p:sp>
        <p:nvSpPr>
          <p:cNvPr id="16" name="Shape 12"/>
          <p:cNvSpPr/>
          <p:nvPr/>
        </p:nvSpPr>
        <p:spPr>
          <a:xfrm>
            <a:off x="8430768" y="2423160"/>
            <a:ext cx="640080" cy="640080"/>
          </a:xfrm>
          <a:prstGeom prst="ellipse">
            <a:avLst/>
          </a:prstGeom>
          <a:solidFill>
            <a:srgbClr val="FFFFFF"/>
          </a:solidFill>
          <a:ln/>
        </p:spPr>
      </p:sp>
      <p:pic>
        <p:nvPicPr>
          <p:cNvPr id="17" name="Image 2" descr="preencoded.png">    </p:cNvPr>
          <p:cNvPicPr>
            <a:picLocks noChangeAspect="1"/>
          </p:cNvPicPr>
          <p:nvPr/>
        </p:nvPicPr>
        <p:blipFill>
          <a:blip r:embed="rId3"/>
          <a:stretch>
            <a:fillRect/>
          </a:stretch>
        </p:blipFill>
        <p:spPr>
          <a:xfrm>
            <a:off x="8590788" y="2583180"/>
            <a:ext cx="320040" cy="320040"/>
          </a:xfrm>
          <a:prstGeom prst="rect">
            <a:avLst/>
          </a:prstGeom>
        </p:spPr>
      </p:pic>
      <p:sp>
        <p:nvSpPr>
          <p:cNvPr id="18" name="Text 13"/>
          <p:cNvSpPr/>
          <p:nvPr/>
        </p:nvSpPr>
        <p:spPr>
          <a:xfrm>
            <a:off x="8430768" y="3200400"/>
            <a:ext cx="2889504" cy="384048"/>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Unified dashboard</a:t>
            </a:r>
            <a:endParaRPr lang="en-US" sz="1900" dirty="0"/>
          </a:p>
        </p:txBody>
      </p:sp>
      <p:sp>
        <p:nvSpPr>
          <p:cNvPr id="19" name="Text 14"/>
          <p:cNvSpPr/>
          <p:nvPr/>
        </p:nvSpPr>
        <p:spPr>
          <a:xfrm>
            <a:off x="8430768" y="3621024"/>
            <a:ext cx="2889504" cy="86868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One place for analysis, reporting and optimization — across all clouds and vendors.</a:t>
            </a:r>
            <a:endParaRPr lang="en-US" sz="1250" dirty="0"/>
          </a:p>
        </p:txBody>
      </p:sp>
      <p:sp>
        <p:nvSpPr>
          <p:cNvPr id="20" name="Shape 15"/>
          <p:cNvSpPr/>
          <p:nvPr/>
        </p:nvSpPr>
        <p:spPr>
          <a:xfrm>
            <a:off x="548640" y="4892040"/>
            <a:ext cx="11091672" cy="1234440"/>
          </a:xfrm>
          <a:prstGeom prst="roundRect">
            <a:avLst>
              <a:gd name="adj" fmla="val 6667"/>
            </a:avLst>
          </a:prstGeom>
          <a:solidFill>
            <a:srgbClr val="1F2936"/>
          </a:solidFill>
          <a:ln/>
          <a:effectLst>
            <a:outerShdw sx="100000" sy="100000" kx="0" ky="0" algn="bl" rotWithShape="0" blurRad="127000" dist="25400" dir="5400000">
              <a:srgbClr val="8C99A8">
                <a:alpha val="16000"/>
              </a:srgbClr>
            </a:outerShdw>
          </a:effectLst>
        </p:spPr>
      </p:sp>
      <p:sp>
        <p:nvSpPr>
          <p:cNvPr id="21" name="Text 16"/>
          <p:cNvSpPr/>
          <p:nvPr/>
        </p:nvSpPr>
        <p:spPr>
          <a:xfrm>
            <a:off x="841248" y="5001768"/>
            <a:ext cx="10506456" cy="1014984"/>
          </a:xfrm>
          <a:prstGeom prst="rect">
            <a:avLst/>
          </a:prstGeom>
          <a:noFill/>
          <a:ln/>
        </p:spPr>
        <p:txBody>
          <a:bodyPr wrap="square" lIns="0" tIns="0" rIns="0" bIns="0" rtlCol="0" anchor="ctr"/>
          <a:lstStyle/>
          <a:p>
            <a:pPr indent="0" marL="0">
              <a:lnSpc>
                <a:spcPts val="2000"/>
              </a:lnSpc>
              <a:buNone/>
            </a:pPr>
            <a:r>
              <a:rPr lang="en-US" sz="1500" i="1" dirty="0">
                <a:solidFill>
                  <a:srgbClr val="FFFFFF"/>
                </a:solidFill>
                <a:latin typeface="Cambria" pitchFamily="34" charset="0"/>
                <a:ea typeface="Cambria" pitchFamily="34" charset="-122"/>
                <a:cs typeface="Cambria" pitchFamily="34" charset="-120"/>
              </a:rPr>
              <a:t>“FOCUS enables consistent reporting across vendors, so leadership can analyze the whole environment instead of looking at each cloud or vendor in a silo.”</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BUILDING ACCOUNTABILITY</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Showback, then chargeback</a:t>
            </a:r>
            <a:endParaRPr lang="en-US" sz="3100" dirty="0"/>
          </a:p>
        </p:txBody>
      </p:sp>
      <p:sp>
        <p:nvSpPr>
          <p:cNvPr id="4" name="Shape 2"/>
          <p:cNvSpPr/>
          <p:nvPr/>
        </p:nvSpPr>
        <p:spPr>
          <a:xfrm>
            <a:off x="548640" y="1783080"/>
            <a:ext cx="5394960" cy="3063240"/>
          </a:xfrm>
          <a:prstGeom prst="roundRect">
            <a:avLst>
              <a:gd name="adj" fmla="val 2687"/>
            </a:avLst>
          </a:prstGeom>
          <a:solidFill>
            <a:srgbClr val="DDEDE9"/>
          </a:solidFill>
          <a:ln/>
        </p:spPr>
      </p:sp>
      <p:sp>
        <p:nvSpPr>
          <p:cNvPr id="5" name="Shape 3"/>
          <p:cNvSpPr/>
          <p:nvPr/>
        </p:nvSpPr>
        <p:spPr>
          <a:xfrm>
            <a:off x="859536" y="2029968"/>
            <a:ext cx="585216" cy="585216"/>
          </a:xfrm>
          <a:prstGeom prst="ellipse">
            <a:avLst/>
          </a:prstGeom>
          <a:solidFill>
            <a:srgbClr val="FFFFFF"/>
          </a:solidFill>
          <a:ln/>
        </p:spPr>
      </p:sp>
      <p:pic>
        <p:nvPicPr>
          <p:cNvPr id="6" name="Image 0" descr="preencoded.png">    </p:cNvPr>
          <p:cNvPicPr>
            <a:picLocks noChangeAspect="1"/>
          </p:cNvPicPr>
          <p:nvPr/>
        </p:nvPicPr>
        <p:blipFill>
          <a:blip r:embed="rId1"/>
          <a:stretch>
            <a:fillRect/>
          </a:stretch>
        </p:blipFill>
        <p:spPr>
          <a:xfrm>
            <a:off x="1005840" y="2176272"/>
            <a:ext cx="292608" cy="292608"/>
          </a:xfrm>
          <a:prstGeom prst="rect">
            <a:avLst/>
          </a:prstGeom>
        </p:spPr>
      </p:pic>
      <p:sp>
        <p:nvSpPr>
          <p:cNvPr id="7" name="Text 4"/>
          <p:cNvSpPr/>
          <p:nvPr/>
        </p:nvSpPr>
        <p:spPr>
          <a:xfrm>
            <a:off x="1572768" y="2029968"/>
            <a:ext cx="2377440" cy="585216"/>
          </a:xfrm>
          <a:prstGeom prst="rect">
            <a:avLst/>
          </a:prstGeom>
          <a:noFill/>
          <a:ln/>
        </p:spPr>
        <p:txBody>
          <a:bodyPr wrap="square" lIns="0" tIns="0" rIns="0" bIns="0" rtlCol="0" anchor="ctr"/>
          <a:lstStyle/>
          <a:p>
            <a:pPr indent="0" marL="0">
              <a:buNone/>
            </a:pPr>
            <a:r>
              <a:rPr lang="en-US" sz="2100" b="1" dirty="0">
                <a:solidFill>
                  <a:srgbClr val="1B2430"/>
                </a:solidFill>
                <a:latin typeface="Cambria" pitchFamily="34" charset="0"/>
                <a:ea typeface="Cambria" pitchFamily="34" charset="-122"/>
                <a:cs typeface="Cambria" pitchFamily="34" charset="-120"/>
              </a:rPr>
              <a:t>Showback</a:t>
            </a:r>
            <a:endParaRPr lang="en-US" sz="2100" dirty="0"/>
          </a:p>
        </p:txBody>
      </p:sp>
      <p:sp>
        <p:nvSpPr>
          <p:cNvPr id="8" name="Text 5"/>
          <p:cNvSpPr/>
          <p:nvPr/>
        </p:nvSpPr>
        <p:spPr>
          <a:xfrm>
            <a:off x="3977640" y="2029968"/>
            <a:ext cx="1655064" cy="585216"/>
          </a:xfrm>
          <a:prstGeom prst="rect">
            <a:avLst/>
          </a:prstGeom>
          <a:noFill/>
          <a:ln/>
        </p:spPr>
        <p:txBody>
          <a:bodyPr wrap="square" lIns="0" tIns="0" rIns="0" bIns="0" rtlCol="0" anchor="ctr"/>
          <a:lstStyle/>
          <a:p>
            <a:pPr algn="r" indent="0" marL="0">
              <a:buNone/>
            </a:pPr>
            <a:r>
              <a:rPr lang="en-US" sz="1150" b="1" spc="140" kern="0" dirty="0">
                <a:solidFill>
                  <a:srgbClr val="5C6675"/>
                </a:solidFill>
                <a:latin typeface="Calibri" pitchFamily="34" charset="0"/>
                <a:ea typeface="Calibri" pitchFamily="34" charset="-122"/>
                <a:cs typeface="Calibri" pitchFamily="34" charset="-120"/>
              </a:rPr>
              <a:t>The visibility layer</a:t>
            </a:r>
            <a:endParaRPr lang="en-US" sz="1150" dirty="0"/>
          </a:p>
        </p:txBody>
      </p:sp>
      <p:sp>
        <p:nvSpPr>
          <p:cNvPr id="9" name="Text 6"/>
          <p:cNvSpPr/>
          <p:nvPr/>
        </p:nvSpPr>
        <p:spPr>
          <a:xfrm>
            <a:off x="859536" y="2743200"/>
            <a:ext cx="4773168" cy="548640"/>
          </a:xfrm>
          <a:prstGeom prst="rect">
            <a:avLst/>
          </a:prstGeom>
          <a:noFill/>
          <a:ln/>
        </p:spPr>
        <p:txBody>
          <a:bodyPr wrap="square" lIns="0" tIns="0" rIns="0" bIns="0" rtlCol="0" anchor="t"/>
          <a:lstStyle/>
          <a:p>
            <a:pPr indent="0" marL="0">
              <a:lnSpc>
                <a:spcPts val="1900"/>
              </a:lnSpc>
              <a:buNone/>
            </a:pPr>
            <a:r>
              <a:rPr lang="en-US" sz="1450" dirty="0">
                <a:solidFill>
                  <a:srgbClr val="1B2430"/>
                </a:solidFill>
                <a:latin typeface="Calibri" pitchFamily="34" charset="0"/>
                <a:ea typeface="Calibri" pitchFamily="34" charset="-122"/>
                <a:cs typeface="Calibri" pitchFamily="34" charset="-120"/>
              </a:rPr>
              <a:t>Teams see their spend. No money changes hands.</a:t>
            </a:r>
            <a:endParaRPr lang="en-US" sz="1450" dirty="0"/>
          </a:p>
        </p:txBody>
      </p:sp>
      <p:sp>
        <p:nvSpPr>
          <p:cNvPr id="10" name="Text 7"/>
          <p:cNvSpPr/>
          <p:nvPr/>
        </p:nvSpPr>
        <p:spPr>
          <a:xfrm>
            <a:off x="859536" y="3310128"/>
            <a:ext cx="2743200" cy="274320"/>
          </a:xfrm>
          <a:prstGeom prst="rect">
            <a:avLst/>
          </a:prstGeom>
          <a:noFill/>
          <a:ln/>
        </p:spPr>
        <p:txBody>
          <a:bodyPr wrap="square" lIns="0" tIns="0" rIns="0" bIns="0" rtlCol="0" anchor="ctr"/>
          <a:lstStyle/>
          <a:p>
            <a:pPr indent="0" marL="0">
              <a:buNone/>
            </a:pPr>
            <a:r>
              <a:rPr lang="en-US" sz="1100" b="1" spc="160" kern="0" dirty="0">
                <a:solidFill>
                  <a:srgbClr val="5C6675"/>
                </a:solidFill>
                <a:latin typeface="Calibri" pitchFamily="34" charset="0"/>
                <a:ea typeface="Calibri" pitchFamily="34" charset="-122"/>
                <a:cs typeface="Calibri" pitchFamily="34" charset="-120"/>
              </a:rPr>
              <a:t>Best for</a:t>
            </a:r>
            <a:endParaRPr lang="en-US" sz="1100" dirty="0"/>
          </a:p>
        </p:txBody>
      </p:sp>
      <p:sp>
        <p:nvSpPr>
          <p:cNvPr id="11" name="Text 8"/>
          <p:cNvSpPr/>
          <p:nvPr/>
        </p:nvSpPr>
        <p:spPr>
          <a:xfrm>
            <a:off x="932688" y="3611880"/>
            <a:ext cx="4663440" cy="1051560"/>
          </a:xfrm>
          <a:prstGeom prst="rect">
            <a:avLst/>
          </a:prstGeom>
          <a:noFill/>
          <a:ln/>
        </p:spPr>
        <p:txBody>
          <a:bodyPr wrap="square" lIns="0" tIns="0" rIns="0" bIns="0" rtlCol="0" anchor="ctr"/>
          <a:lstStyle/>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Early FinOps practice</a:t>
            </a:r>
            <a:endParaRPr lang="en-US" sz="1300" dirty="0"/>
          </a:p>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Tagging coverage of 70–85%</a:t>
            </a:r>
            <a:endParaRPr lang="en-US" sz="1300" dirty="0"/>
          </a:p>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Building awareness and trust</a:t>
            </a:r>
            <a:endParaRPr lang="en-US" sz="1300" dirty="0"/>
          </a:p>
        </p:txBody>
      </p:sp>
      <p:sp>
        <p:nvSpPr>
          <p:cNvPr id="12" name="Shape 9"/>
          <p:cNvSpPr/>
          <p:nvPr/>
        </p:nvSpPr>
        <p:spPr>
          <a:xfrm>
            <a:off x="6245352" y="1783080"/>
            <a:ext cx="5394960" cy="3063240"/>
          </a:xfrm>
          <a:prstGeom prst="roundRect">
            <a:avLst>
              <a:gd name="adj" fmla="val 2687"/>
            </a:avLst>
          </a:prstGeom>
          <a:solidFill>
            <a:srgbClr val="FBEFD8"/>
          </a:solidFill>
          <a:ln/>
        </p:spPr>
      </p:sp>
      <p:sp>
        <p:nvSpPr>
          <p:cNvPr id="13" name="Shape 10"/>
          <p:cNvSpPr/>
          <p:nvPr/>
        </p:nvSpPr>
        <p:spPr>
          <a:xfrm>
            <a:off x="6556248" y="2029968"/>
            <a:ext cx="585216" cy="585216"/>
          </a:xfrm>
          <a:prstGeom prst="ellipse">
            <a:avLst/>
          </a:prstGeom>
          <a:solidFill>
            <a:srgbClr val="FFFFFF"/>
          </a:solidFill>
          <a:ln/>
        </p:spPr>
      </p:sp>
      <p:pic>
        <p:nvPicPr>
          <p:cNvPr id="14" name="Image 1" descr="preencoded.png">    </p:cNvPr>
          <p:cNvPicPr>
            <a:picLocks noChangeAspect="1"/>
          </p:cNvPicPr>
          <p:nvPr/>
        </p:nvPicPr>
        <p:blipFill>
          <a:blip r:embed="rId2"/>
          <a:stretch>
            <a:fillRect/>
          </a:stretch>
        </p:blipFill>
        <p:spPr>
          <a:xfrm>
            <a:off x="6702552" y="2176272"/>
            <a:ext cx="292608" cy="292608"/>
          </a:xfrm>
          <a:prstGeom prst="rect">
            <a:avLst/>
          </a:prstGeom>
        </p:spPr>
      </p:pic>
      <p:sp>
        <p:nvSpPr>
          <p:cNvPr id="15" name="Text 11"/>
          <p:cNvSpPr/>
          <p:nvPr/>
        </p:nvSpPr>
        <p:spPr>
          <a:xfrm>
            <a:off x="7269480" y="2029968"/>
            <a:ext cx="2377440" cy="585216"/>
          </a:xfrm>
          <a:prstGeom prst="rect">
            <a:avLst/>
          </a:prstGeom>
          <a:noFill/>
          <a:ln/>
        </p:spPr>
        <p:txBody>
          <a:bodyPr wrap="square" lIns="0" tIns="0" rIns="0" bIns="0" rtlCol="0" anchor="ctr"/>
          <a:lstStyle/>
          <a:p>
            <a:pPr indent="0" marL="0">
              <a:buNone/>
            </a:pPr>
            <a:r>
              <a:rPr lang="en-US" sz="2100" b="1" dirty="0">
                <a:solidFill>
                  <a:srgbClr val="1B2430"/>
                </a:solidFill>
                <a:latin typeface="Cambria" pitchFamily="34" charset="0"/>
                <a:ea typeface="Cambria" pitchFamily="34" charset="-122"/>
                <a:cs typeface="Cambria" pitchFamily="34" charset="-120"/>
              </a:rPr>
              <a:t>Chargeback</a:t>
            </a:r>
            <a:endParaRPr lang="en-US" sz="2100" dirty="0"/>
          </a:p>
        </p:txBody>
      </p:sp>
      <p:sp>
        <p:nvSpPr>
          <p:cNvPr id="16" name="Text 12"/>
          <p:cNvSpPr/>
          <p:nvPr/>
        </p:nvSpPr>
        <p:spPr>
          <a:xfrm>
            <a:off x="9674352" y="2029968"/>
            <a:ext cx="1655064" cy="585216"/>
          </a:xfrm>
          <a:prstGeom prst="rect">
            <a:avLst/>
          </a:prstGeom>
          <a:noFill/>
          <a:ln/>
        </p:spPr>
        <p:txBody>
          <a:bodyPr wrap="square" lIns="0" tIns="0" rIns="0" bIns="0" rtlCol="0" anchor="ctr"/>
          <a:lstStyle/>
          <a:p>
            <a:pPr algn="r" indent="0" marL="0">
              <a:buNone/>
            </a:pPr>
            <a:r>
              <a:rPr lang="en-US" sz="1150" b="1" spc="140" kern="0" dirty="0">
                <a:solidFill>
                  <a:srgbClr val="5C6675"/>
                </a:solidFill>
                <a:latin typeface="Calibri" pitchFamily="34" charset="0"/>
                <a:ea typeface="Calibri" pitchFamily="34" charset="-122"/>
                <a:cs typeface="Calibri" pitchFamily="34" charset="-120"/>
              </a:rPr>
              <a:t>The real consequence</a:t>
            </a:r>
            <a:endParaRPr lang="en-US" sz="1150" dirty="0"/>
          </a:p>
        </p:txBody>
      </p:sp>
      <p:sp>
        <p:nvSpPr>
          <p:cNvPr id="17" name="Text 13"/>
          <p:cNvSpPr/>
          <p:nvPr/>
        </p:nvSpPr>
        <p:spPr>
          <a:xfrm>
            <a:off x="6556248" y="2743200"/>
            <a:ext cx="4773168" cy="548640"/>
          </a:xfrm>
          <a:prstGeom prst="rect">
            <a:avLst/>
          </a:prstGeom>
          <a:noFill/>
          <a:ln/>
        </p:spPr>
        <p:txBody>
          <a:bodyPr wrap="square" lIns="0" tIns="0" rIns="0" bIns="0" rtlCol="0" anchor="t"/>
          <a:lstStyle/>
          <a:p>
            <a:pPr indent="0" marL="0">
              <a:lnSpc>
                <a:spcPts val="1900"/>
              </a:lnSpc>
              <a:buNone/>
            </a:pPr>
            <a:r>
              <a:rPr lang="en-US" sz="1450" dirty="0">
                <a:solidFill>
                  <a:srgbClr val="1B2430"/>
                </a:solidFill>
                <a:latin typeface="Calibri" pitchFamily="34" charset="0"/>
                <a:ea typeface="Calibri" pitchFamily="34" charset="-122"/>
                <a:cs typeface="Calibri" pitchFamily="34" charset="-120"/>
              </a:rPr>
              <a:t>Costs are billed back to business units and hit their P&amp;L.</a:t>
            </a:r>
            <a:endParaRPr lang="en-US" sz="1450" dirty="0"/>
          </a:p>
        </p:txBody>
      </p:sp>
      <p:sp>
        <p:nvSpPr>
          <p:cNvPr id="18" name="Text 14"/>
          <p:cNvSpPr/>
          <p:nvPr/>
        </p:nvSpPr>
        <p:spPr>
          <a:xfrm>
            <a:off x="6556248" y="3310128"/>
            <a:ext cx="2743200" cy="274320"/>
          </a:xfrm>
          <a:prstGeom prst="rect">
            <a:avLst/>
          </a:prstGeom>
          <a:noFill/>
          <a:ln/>
        </p:spPr>
        <p:txBody>
          <a:bodyPr wrap="square" lIns="0" tIns="0" rIns="0" bIns="0" rtlCol="0" anchor="ctr"/>
          <a:lstStyle/>
          <a:p>
            <a:pPr indent="0" marL="0">
              <a:buNone/>
            </a:pPr>
            <a:r>
              <a:rPr lang="en-US" sz="1100" b="1" spc="160" kern="0" dirty="0">
                <a:solidFill>
                  <a:srgbClr val="5C6675"/>
                </a:solidFill>
                <a:latin typeface="Calibri" pitchFamily="34" charset="0"/>
                <a:ea typeface="Calibri" pitchFamily="34" charset="-122"/>
                <a:cs typeface="Calibri" pitchFamily="34" charset="-120"/>
              </a:rPr>
              <a:t>Best for</a:t>
            </a:r>
            <a:endParaRPr lang="en-US" sz="1100" dirty="0"/>
          </a:p>
        </p:txBody>
      </p:sp>
      <p:sp>
        <p:nvSpPr>
          <p:cNvPr id="19" name="Text 15"/>
          <p:cNvSpPr/>
          <p:nvPr/>
        </p:nvSpPr>
        <p:spPr>
          <a:xfrm>
            <a:off x="6629400" y="3611880"/>
            <a:ext cx="4663440" cy="1051560"/>
          </a:xfrm>
          <a:prstGeom prst="rect">
            <a:avLst/>
          </a:prstGeom>
          <a:noFill/>
          <a:ln/>
        </p:spPr>
        <p:txBody>
          <a:bodyPr wrap="square" lIns="0" tIns="0" rIns="0" bIns="0" rtlCol="0" anchor="ctr"/>
          <a:lstStyle/>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Mature, trusted allocation</a:t>
            </a:r>
            <a:endParaRPr lang="en-US" sz="1300" dirty="0"/>
          </a:p>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Budget-owner accountability</a:t>
            </a:r>
            <a:endParaRPr lang="en-US" sz="1300" dirty="0"/>
          </a:p>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Driving behaviour change</a:t>
            </a:r>
            <a:endParaRPr lang="en-US" sz="1300" dirty="0"/>
          </a:p>
        </p:txBody>
      </p:sp>
      <p:sp>
        <p:nvSpPr>
          <p:cNvPr id="20" name="Shape 16"/>
          <p:cNvSpPr/>
          <p:nvPr/>
        </p:nvSpPr>
        <p:spPr>
          <a:xfrm>
            <a:off x="548640" y="5120640"/>
            <a:ext cx="11091672" cy="731520"/>
          </a:xfrm>
          <a:prstGeom prst="roundRect">
            <a:avLst>
              <a:gd name="adj" fmla="val 11250"/>
            </a:avLst>
          </a:prstGeom>
          <a:solidFill>
            <a:srgbClr val="1F2936"/>
          </a:solidFill>
          <a:ln/>
          <a:effectLst>
            <a:outerShdw sx="100000" sy="100000" kx="0" ky="0" algn="bl" rotWithShape="0" blurRad="127000" dist="25400" dir="5400000">
              <a:srgbClr val="8C99A8">
                <a:alpha val="16000"/>
              </a:srgbClr>
            </a:outerShdw>
          </a:effectLst>
        </p:spPr>
      </p:sp>
      <p:sp>
        <p:nvSpPr>
          <p:cNvPr id="21" name="Text 17"/>
          <p:cNvSpPr/>
          <p:nvPr/>
        </p:nvSpPr>
        <p:spPr>
          <a:xfrm>
            <a:off x="859536" y="5120640"/>
            <a:ext cx="10469880" cy="731520"/>
          </a:xfrm>
          <a:prstGeom prst="rect">
            <a:avLst/>
          </a:prstGeom>
          <a:noFill/>
          <a:ln/>
        </p:spPr>
        <p:txBody>
          <a:bodyPr wrap="square" lIns="0" tIns="0" rIns="0" bIns="0" rtlCol="0" anchor="ctr"/>
          <a:lstStyle/>
          <a:p>
            <a:pPr indent="0" marL="0">
              <a:buNone/>
            </a:pPr>
            <a:r>
              <a:rPr lang="en-US" sz="1450" b="1" dirty="0">
                <a:solidFill>
                  <a:srgbClr val="E39B2C"/>
                </a:solidFill>
                <a:latin typeface="Calibri" pitchFamily="34" charset="0"/>
                <a:ea typeface="Calibri" pitchFamily="34" charset="-122"/>
                <a:cs typeface="Calibri" pitchFamily="34" charset="-120"/>
              </a:rPr>
              <a:t>Recommendation:  </a:t>
            </a:r>
            <a:pPr indent="0" marL="0">
              <a:buNone/>
            </a:pPr>
            <a:r>
              <a:rPr lang="en-US" sz="1450" dirty="0">
                <a:solidFill>
                  <a:srgbClr val="FFFFFF"/>
                </a:solidFill>
                <a:latin typeface="Calibri" pitchFamily="34" charset="0"/>
                <a:ea typeface="Calibri" pitchFamily="34" charset="-122"/>
                <a:cs typeface="Calibri" pitchFamily="34" charset="-120"/>
              </a:rPr>
              <a:t>start with showback to build tagging discipline and trust. Move to chargeback once allocation is accurate and finance is ready.</a:t>
            </a:r>
            <a:endParaRPr lang="en-US" sz="1450" dirty="0"/>
          </a:p>
        </p:txBody>
      </p:sp>
      <p:sp>
        <p:nvSpPr>
          <p:cNvPr id="22" name="Text 18"/>
          <p:cNvSpPr/>
          <p:nvPr/>
        </p:nvSpPr>
        <p:spPr>
          <a:xfrm>
            <a:off x="548640" y="5943600"/>
            <a:ext cx="11091672" cy="384048"/>
          </a:xfrm>
          <a:prstGeom prst="rect">
            <a:avLst/>
          </a:prstGeom>
          <a:noFill/>
          <a:ln/>
        </p:spPr>
        <p:txBody>
          <a:bodyPr wrap="square" lIns="0" tIns="0" rIns="0" bIns="0" rtlCol="0" anchor="ctr"/>
          <a:lstStyle/>
          <a:p>
            <a:pPr indent="0" marL="0">
              <a:buNone/>
            </a:pPr>
            <a:r>
              <a:rPr lang="en-US" sz="1400" i="1" dirty="0">
                <a:solidFill>
                  <a:srgbClr val="5C6675"/>
                </a:solidFill>
                <a:latin typeface="Cambria" pitchFamily="34" charset="0"/>
                <a:ea typeface="Cambria" pitchFamily="34" charset="-122"/>
                <a:cs typeface="Cambria" pitchFamily="34" charset="-120"/>
              </a:rPr>
              <a:t>“Most teams skip this runway and pay for it later with a chargeback rollout that nobody trusts.”</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2025–2026 BEST PRACTICES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What high-performing FinOps teams do</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Drawn from the 2025 State of FinOps report — the practices that consistently precede durable savings.</a:t>
            </a:r>
            <a:endParaRPr lang="en-US" sz="1500" dirty="0"/>
          </a:p>
        </p:txBody>
      </p:sp>
      <p:sp>
        <p:nvSpPr>
          <p:cNvPr id="5" name="Shape 3"/>
          <p:cNvSpPr/>
          <p:nvPr/>
        </p:nvSpPr>
        <p:spPr>
          <a:xfrm>
            <a:off x="548640" y="2121408"/>
            <a:ext cx="3511296" cy="1783080"/>
          </a:xfrm>
          <a:prstGeom prst="roundRect">
            <a:avLst>
              <a:gd name="adj" fmla="val 4615"/>
            </a:avLst>
          </a:prstGeom>
          <a:solidFill>
            <a:srgbClr val="F1F3F6"/>
          </a:solidFill>
          <a:ln/>
        </p:spPr>
      </p:sp>
      <p:sp>
        <p:nvSpPr>
          <p:cNvPr id="6" name="Shape 4"/>
          <p:cNvSpPr/>
          <p:nvPr/>
        </p:nvSpPr>
        <p:spPr>
          <a:xfrm>
            <a:off x="841248" y="2377440"/>
            <a:ext cx="548640" cy="548640"/>
          </a:xfrm>
          <a:prstGeom prst="ellipse">
            <a:avLst/>
          </a:prstGeom>
          <a:solidFill>
            <a:srgbClr val="FFFFFF"/>
          </a:solidFill>
          <a:ln/>
        </p:spPr>
      </p:sp>
      <p:pic>
        <p:nvPicPr>
          <p:cNvPr id="7" name="Image 0" descr="preencoded.png">    </p:cNvPr>
          <p:cNvPicPr>
            <a:picLocks noChangeAspect="1"/>
          </p:cNvPicPr>
          <p:nvPr/>
        </p:nvPicPr>
        <p:blipFill>
          <a:blip r:embed="rId1"/>
          <a:stretch>
            <a:fillRect/>
          </a:stretch>
        </p:blipFill>
        <p:spPr>
          <a:xfrm>
            <a:off x="978408" y="2514600"/>
            <a:ext cx="274320" cy="274320"/>
          </a:xfrm>
          <a:prstGeom prst="rect">
            <a:avLst/>
          </a:prstGeom>
        </p:spPr>
      </p:pic>
      <p:sp>
        <p:nvSpPr>
          <p:cNvPr id="8" name="Text 5"/>
          <p:cNvSpPr/>
          <p:nvPr/>
        </p:nvSpPr>
        <p:spPr>
          <a:xfrm>
            <a:off x="1499616" y="2377440"/>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Clean allocation</a:t>
            </a:r>
            <a:endParaRPr lang="en-US" sz="1700" dirty="0"/>
          </a:p>
        </p:txBody>
      </p:sp>
      <p:sp>
        <p:nvSpPr>
          <p:cNvPr id="9" name="Text 6"/>
          <p:cNvSpPr/>
          <p:nvPr/>
        </p:nvSpPr>
        <p:spPr>
          <a:xfrm>
            <a:off x="841248" y="3054096"/>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100% of spend allocated. No “unallocated” bucket left to argue about.</a:t>
            </a:r>
            <a:endParaRPr lang="en-US" sz="1250" dirty="0"/>
          </a:p>
        </p:txBody>
      </p:sp>
      <p:sp>
        <p:nvSpPr>
          <p:cNvPr id="10" name="Shape 7"/>
          <p:cNvSpPr/>
          <p:nvPr/>
        </p:nvSpPr>
        <p:spPr>
          <a:xfrm>
            <a:off x="4334256" y="2121408"/>
            <a:ext cx="3511296" cy="1783080"/>
          </a:xfrm>
          <a:prstGeom prst="roundRect">
            <a:avLst>
              <a:gd name="adj" fmla="val 4615"/>
            </a:avLst>
          </a:prstGeom>
          <a:solidFill>
            <a:srgbClr val="F1F3F6"/>
          </a:solidFill>
          <a:ln/>
        </p:spPr>
      </p:sp>
      <p:sp>
        <p:nvSpPr>
          <p:cNvPr id="11" name="Shape 8"/>
          <p:cNvSpPr/>
          <p:nvPr/>
        </p:nvSpPr>
        <p:spPr>
          <a:xfrm>
            <a:off x="4626864" y="2377440"/>
            <a:ext cx="548640" cy="548640"/>
          </a:xfrm>
          <a:prstGeom prst="ellipse">
            <a:avLst/>
          </a:prstGeom>
          <a:solidFill>
            <a:srgbClr val="FFFFFF"/>
          </a:solidFill>
          <a:ln/>
        </p:spPr>
      </p:sp>
      <p:pic>
        <p:nvPicPr>
          <p:cNvPr id="12" name="Image 1" descr="preencoded.png">    </p:cNvPr>
          <p:cNvPicPr>
            <a:picLocks noChangeAspect="1"/>
          </p:cNvPicPr>
          <p:nvPr/>
        </p:nvPicPr>
        <p:blipFill>
          <a:blip r:embed="rId2"/>
          <a:stretch>
            <a:fillRect/>
          </a:stretch>
        </p:blipFill>
        <p:spPr>
          <a:xfrm>
            <a:off x="4764024" y="2514600"/>
            <a:ext cx="274320" cy="274320"/>
          </a:xfrm>
          <a:prstGeom prst="rect">
            <a:avLst/>
          </a:prstGeom>
        </p:spPr>
      </p:pic>
      <p:sp>
        <p:nvSpPr>
          <p:cNvPr id="13" name="Text 9"/>
          <p:cNvSpPr/>
          <p:nvPr/>
        </p:nvSpPr>
        <p:spPr>
          <a:xfrm>
            <a:off x="5285232" y="2377440"/>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Daily visibility</a:t>
            </a:r>
            <a:endParaRPr lang="en-US" sz="1700" dirty="0"/>
          </a:p>
        </p:txBody>
      </p:sp>
      <p:sp>
        <p:nvSpPr>
          <p:cNvPr id="14" name="Text 10"/>
          <p:cNvSpPr/>
          <p:nvPr/>
        </p:nvSpPr>
        <p:spPr>
          <a:xfrm>
            <a:off x="4626864" y="3054096"/>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Cost data refreshed daily, not monthly. Monthly is too slow to catch a regression.</a:t>
            </a:r>
            <a:endParaRPr lang="en-US" sz="1250" dirty="0"/>
          </a:p>
        </p:txBody>
      </p:sp>
      <p:sp>
        <p:nvSpPr>
          <p:cNvPr id="15" name="Shape 11"/>
          <p:cNvSpPr/>
          <p:nvPr/>
        </p:nvSpPr>
        <p:spPr>
          <a:xfrm>
            <a:off x="8119872" y="2121408"/>
            <a:ext cx="3511296" cy="1783080"/>
          </a:xfrm>
          <a:prstGeom prst="roundRect">
            <a:avLst>
              <a:gd name="adj" fmla="val 4615"/>
            </a:avLst>
          </a:prstGeom>
          <a:solidFill>
            <a:srgbClr val="F1F3F6"/>
          </a:solidFill>
          <a:ln/>
        </p:spPr>
      </p:sp>
      <p:sp>
        <p:nvSpPr>
          <p:cNvPr id="16" name="Shape 12"/>
          <p:cNvSpPr/>
          <p:nvPr/>
        </p:nvSpPr>
        <p:spPr>
          <a:xfrm>
            <a:off x="8412480" y="2377440"/>
            <a:ext cx="548640" cy="548640"/>
          </a:xfrm>
          <a:prstGeom prst="ellipse">
            <a:avLst/>
          </a:prstGeom>
          <a:solidFill>
            <a:srgbClr val="FFFFFF"/>
          </a:solidFill>
          <a:ln/>
        </p:spPr>
      </p:sp>
      <p:pic>
        <p:nvPicPr>
          <p:cNvPr id="17" name="Image 2" descr="preencoded.png">    </p:cNvPr>
          <p:cNvPicPr>
            <a:picLocks noChangeAspect="1"/>
          </p:cNvPicPr>
          <p:nvPr/>
        </p:nvPicPr>
        <p:blipFill>
          <a:blip r:embed="rId3"/>
          <a:stretch>
            <a:fillRect/>
          </a:stretch>
        </p:blipFill>
        <p:spPr>
          <a:xfrm>
            <a:off x="8549640" y="2514600"/>
            <a:ext cx="274320" cy="274320"/>
          </a:xfrm>
          <a:prstGeom prst="rect">
            <a:avLst/>
          </a:prstGeom>
        </p:spPr>
      </p:pic>
      <p:sp>
        <p:nvSpPr>
          <p:cNvPr id="18" name="Text 13"/>
          <p:cNvSpPr/>
          <p:nvPr/>
        </p:nvSpPr>
        <p:spPr>
          <a:xfrm>
            <a:off x="9070848" y="2377440"/>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Shared KPIs</a:t>
            </a:r>
            <a:endParaRPr lang="en-US" sz="1700" dirty="0"/>
          </a:p>
        </p:txBody>
      </p:sp>
      <p:sp>
        <p:nvSpPr>
          <p:cNvPr id="19" name="Text 14"/>
          <p:cNvSpPr/>
          <p:nvPr/>
        </p:nvSpPr>
        <p:spPr>
          <a:xfrm>
            <a:off x="8412480" y="3054096"/>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One agreed set of metrics across finance and engineering, reviewed together.</a:t>
            </a:r>
            <a:endParaRPr lang="en-US" sz="1250" dirty="0"/>
          </a:p>
        </p:txBody>
      </p:sp>
      <p:sp>
        <p:nvSpPr>
          <p:cNvPr id="20" name="Shape 15"/>
          <p:cNvSpPr/>
          <p:nvPr/>
        </p:nvSpPr>
        <p:spPr>
          <a:xfrm>
            <a:off x="548640" y="4206240"/>
            <a:ext cx="3511296" cy="1783080"/>
          </a:xfrm>
          <a:prstGeom prst="roundRect">
            <a:avLst>
              <a:gd name="adj" fmla="val 4615"/>
            </a:avLst>
          </a:prstGeom>
          <a:solidFill>
            <a:srgbClr val="F1F3F6"/>
          </a:solidFill>
          <a:ln/>
        </p:spPr>
      </p:sp>
      <p:sp>
        <p:nvSpPr>
          <p:cNvPr id="21" name="Shape 16"/>
          <p:cNvSpPr/>
          <p:nvPr/>
        </p:nvSpPr>
        <p:spPr>
          <a:xfrm>
            <a:off x="841248" y="4462272"/>
            <a:ext cx="548640" cy="548640"/>
          </a:xfrm>
          <a:prstGeom prst="ellipse">
            <a:avLst/>
          </a:prstGeom>
          <a:solidFill>
            <a:srgbClr val="FFFFFF"/>
          </a:solidFill>
          <a:ln/>
        </p:spPr>
      </p:sp>
      <p:pic>
        <p:nvPicPr>
          <p:cNvPr id="22" name="Image 3" descr="preencoded.png">    </p:cNvPr>
          <p:cNvPicPr>
            <a:picLocks noChangeAspect="1"/>
          </p:cNvPicPr>
          <p:nvPr/>
        </p:nvPicPr>
        <p:blipFill>
          <a:blip r:embed="rId4"/>
          <a:stretch>
            <a:fillRect/>
          </a:stretch>
        </p:blipFill>
        <p:spPr>
          <a:xfrm>
            <a:off x="978408" y="4599432"/>
            <a:ext cx="274320" cy="274320"/>
          </a:xfrm>
          <a:prstGeom prst="rect">
            <a:avLst/>
          </a:prstGeom>
        </p:spPr>
      </p:pic>
      <p:sp>
        <p:nvSpPr>
          <p:cNvPr id="23" name="Text 17"/>
          <p:cNvSpPr/>
          <p:nvPr/>
        </p:nvSpPr>
        <p:spPr>
          <a:xfrm>
            <a:off x="1499616" y="4462272"/>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Shift-left cost visibility</a:t>
            </a:r>
            <a:endParaRPr lang="en-US" sz="1700" dirty="0"/>
          </a:p>
        </p:txBody>
      </p:sp>
      <p:sp>
        <p:nvSpPr>
          <p:cNvPr id="24" name="Text 18"/>
          <p:cNvSpPr/>
          <p:nvPr/>
        </p:nvSpPr>
        <p:spPr>
          <a:xfrm>
            <a:off x="841248" y="5138928"/>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Cost checks during design and development — treated like performance and security.</a:t>
            </a:r>
            <a:endParaRPr lang="en-US" sz="1250" dirty="0"/>
          </a:p>
        </p:txBody>
      </p:sp>
      <p:sp>
        <p:nvSpPr>
          <p:cNvPr id="25" name="Shape 19"/>
          <p:cNvSpPr/>
          <p:nvPr/>
        </p:nvSpPr>
        <p:spPr>
          <a:xfrm>
            <a:off x="4334256" y="4206240"/>
            <a:ext cx="3511296" cy="1783080"/>
          </a:xfrm>
          <a:prstGeom prst="roundRect">
            <a:avLst>
              <a:gd name="adj" fmla="val 4615"/>
            </a:avLst>
          </a:prstGeom>
          <a:solidFill>
            <a:srgbClr val="F1F3F6"/>
          </a:solidFill>
          <a:ln/>
        </p:spPr>
      </p:sp>
      <p:sp>
        <p:nvSpPr>
          <p:cNvPr id="26" name="Shape 20"/>
          <p:cNvSpPr/>
          <p:nvPr/>
        </p:nvSpPr>
        <p:spPr>
          <a:xfrm>
            <a:off x="4626864" y="4462272"/>
            <a:ext cx="548640" cy="548640"/>
          </a:xfrm>
          <a:prstGeom prst="ellipse">
            <a:avLst/>
          </a:prstGeom>
          <a:solidFill>
            <a:srgbClr val="FFFFFF"/>
          </a:solidFill>
          <a:ln/>
        </p:spPr>
      </p:sp>
      <p:pic>
        <p:nvPicPr>
          <p:cNvPr id="27" name="Image 4" descr="preencoded.png">    </p:cNvPr>
          <p:cNvPicPr>
            <a:picLocks noChangeAspect="1"/>
          </p:cNvPicPr>
          <p:nvPr/>
        </p:nvPicPr>
        <p:blipFill>
          <a:blip r:embed="rId5"/>
          <a:stretch>
            <a:fillRect/>
          </a:stretch>
        </p:blipFill>
        <p:spPr>
          <a:xfrm>
            <a:off x="4764024" y="4599432"/>
            <a:ext cx="274320" cy="274320"/>
          </a:xfrm>
          <a:prstGeom prst="rect">
            <a:avLst/>
          </a:prstGeom>
        </p:spPr>
      </p:pic>
      <p:sp>
        <p:nvSpPr>
          <p:cNvPr id="28" name="Text 21"/>
          <p:cNvSpPr/>
          <p:nvPr/>
        </p:nvSpPr>
        <p:spPr>
          <a:xfrm>
            <a:off x="5285232" y="4462272"/>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Anomaly alerts</a:t>
            </a:r>
            <a:endParaRPr lang="en-US" sz="1700" dirty="0"/>
          </a:p>
        </p:txBody>
      </p:sp>
      <p:sp>
        <p:nvSpPr>
          <p:cNvPr id="29" name="Text 22"/>
          <p:cNvSpPr/>
          <p:nvPr/>
        </p:nvSpPr>
        <p:spPr>
          <a:xfrm>
            <a:off x="4626864" y="5138928"/>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Real-time alerts routed to the owner of the spend, not to a shared mailbox.</a:t>
            </a:r>
            <a:endParaRPr lang="en-US" sz="1250" dirty="0"/>
          </a:p>
        </p:txBody>
      </p:sp>
      <p:sp>
        <p:nvSpPr>
          <p:cNvPr id="30" name="Shape 23"/>
          <p:cNvSpPr/>
          <p:nvPr/>
        </p:nvSpPr>
        <p:spPr>
          <a:xfrm>
            <a:off x="8119872" y="4206240"/>
            <a:ext cx="3511296" cy="1783080"/>
          </a:xfrm>
          <a:prstGeom prst="roundRect">
            <a:avLst>
              <a:gd name="adj" fmla="val 4615"/>
            </a:avLst>
          </a:prstGeom>
          <a:solidFill>
            <a:srgbClr val="F1F3F6"/>
          </a:solidFill>
          <a:ln/>
        </p:spPr>
      </p:sp>
      <p:sp>
        <p:nvSpPr>
          <p:cNvPr id="31" name="Shape 24"/>
          <p:cNvSpPr/>
          <p:nvPr/>
        </p:nvSpPr>
        <p:spPr>
          <a:xfrm>
            <a:off x="8412480" y="4462272"/>
            <a:ext cx="548640" cy="548640"/>
          </a:xfrm>
          <a:prstGeom prst="ellipse">
            <a:avLst/>
          </a:prstGeom>
          <a:solidFill>
            <a:srgbClr val="FFFFFF"/>
          </a:solidFill>
          <a:ln/>
        </p:spPr>
      </p:sp>
      <p:pic>
        <p:nvPicPr>
          <p:cNvPr id="32" name="Image 5" descr="preencoded.png">    </p:cNvPr>
          <p:cNvPicPr>
            <a:picLocks noChangeAspect="1"/>
          </p:cNvPicPr>
          <p:nvPr/>
        </p:nvPicPr>
        <p:blipFill>
          <a:blip r:embed="rId6"/>
          <a:stretch>
            <a:fillRect/>
          </a:stretch>
        </p:blipFill>
        <p:spPr>
          <a:xfrm>
            <a:off x="8549640" y="4599432"/>
            <a:ext cx="274320" cy="274320"/>
          </a:xfrm>
          <a:prstGeom prst="rect">
            <a:avLst/>
          </a:prstGeom>
        </p:spPr>
      </p:pic>
      <p:sp>
        <p:nvSpPr>
          <p:cNvPr id="33" name="Text 25"/>
          <p:cNvSpPr/>
          <p:nvPr/>
        </p:nvSpPr>
        <p:spPr>
          <a:xfrm>
            <a:off x="9070848" y="4462272"/>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Automated guardrails</a:t>
            </a:r>
            <a:endParaRPr lang="en-US" sz="1700" dirty="0"/>
          </a:p>
        </p:txBody>
      </p:sp>
      <p:sp>
        <p:nvSpPr>
          <p:cNvPr id="34" name="Text 26"/>
          <p:cNvSpPr/>
          <p:nvPr/>
        </p:nvSpPr>
        <p:spPr>
          <a:xfrm>
            <a:off x="8412480" y="5138928"/>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Policy-as-code that prevents costly deployments before they happen.</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1234440"/>
            <a:ext cx="5486400" cy="274320"/>
          </a:xfrm>
          <a:prstGeom prst="rect">
            <a:avLst/>
          </a:prstGeom>
          <a:noFill/>
          <a:ln/>
        </p:spPr>
        <p:txBody>
          <a:bodyPr wrap="square" lIns="0" tIns="0" rIns="0" bIns="0" rtlCol="0" anchor="ctr"/>
          <a:lstStyle/>
          <a:p>
            <a:pPr indent="0" marL="0">
              <a:buNone/>
            </a:pPr>
            <a:r>
              <a:rPr lang="en-US" sz="1200" b="1" spc="260" kern="0" dirty="0">
                <a:solidFill>
                  <a:srgbClr val="E39B2C"/>
                </a:solidFill>
                <a:latin typeface="Calibri" pitchFamily="34" charset="0"/>
                <a:ea typeface="Calibri" pitchFamily="34" charset="-122"/>
                <a:cs typeface="Calibri" pitchFamily="34" charset="-120"/>
              </a:rPr>
              <a:t>PART TWO</a:t>
            </a:r>
            <a:endParaRPr lang="en-US" sz="1200" dirty="0"/>
          </a:p>
        </p:txBody>
      </p:sp>
      <p:sp>
        <p:nvSpPr>
          <p:cNvPr id="3" name="Text 1"/>
          <p:cNvSpPr/>
          <p:nvPr/>
        </p:nvSpPr>
        <p:spPr>
          <a:xfrm>
            <a:off x="548640" y="1600200"/>
            <a:ext cx="6035040" cy="91440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Governance</a:t>
            </a:r>
            <a:endParaRPr lang="en-US" sz="4200" dirty="0"/>
          </a:p>
        </p:txBody>
      </p:sp>
      <p:sp>
        <p:nvSpPr>
          <p:cNvPr id="4" name="Text 2"/>
          <p:cNvSpPr/>
          <p:nvPr/>
        </p:nvSpPr>
        <p:spPr>
          <a:xfrm>
            <a:off x="548640" y="2651760"/>
            <a:ext cx="5760720" cy="1005840"/>
          </a:xfrm>
          <a:prstGeom prst="rect">
            <a:avLst/>
          </a:prstGeom>
          <a:noFill/>
          <a:ln/>
        </p:spPr>
        <p:txBody>
          <a:bodyPr wrap="square" lIns="0" tIns="0" rIns="0" bIns="0" rtlCol="0" anchor="t"/>
          <a:lstStyle/>
          <a:p>
            <a:pPr indent="0" marL="0">
              <a:lnSpc>
                <a:spcPts val="2200"/>
              </a:lnSpc>
              <a:buNone/>
            </a:pPr>
            <a:r>
              <a:rPr lang="en-US" sz="1550" dirty="0">
                <a:solidFill>
                  <a:srgbClr val="9EABBA"/>
                </a:solidFill>
                <a:latin typeface="Calibri" pitchFamily="34" charset="0"/>
                <a:ea typeface="Calibri" pitchFamily="34" charset="-122"/>
                <a:cs typeface="Calibri" pitchFamily="34" charset="-120"/>
              </a:rPr>
              <a:t>Visibility tells you what happened. Governance decides what is allowed to happen — who owns the spend, what it may reach, and what stops it automatically.</a:t>
            </a:r>
            <a:endParaRPr lang="en-US" sz="1550" dirty="0"/>
          </a:p>
        </p:txBody>
      </p:sp>
      <p:sp>
        <p:nvSpPr>
          <p:cNvPr id="5" name="Text 3"/>
          <p:cNvSpPr/>
          <p:nvPr/>
        </p:nvSpPr>
        <p:spPr>
          <a:xfrm>
            <a:off x="548640" y="3886200"/>
            <a:ext cx="5760720" cy="731520"/>
          </a:xfrm>
          <a:prstGeom prst="rect">
            <a:avLst/>
          </a:prstGeom>
          <a:noFill/>
          <a:ln/>
        </p:spPr>
        <p:txBody>
          <a:bodyPr wrap="square" lIns="0" tIns="0" rIns="0" bIns="0" rtlCol="0" anchor="t"/>
          <a:lstStyle/>
          <a:p>
            <a:pPr indent="0" marL="0">
              <a:lnSpc>
                <a:spcPts val="2100"/>
              </a:lnSpc>
              <a:buNone/>
            </a:pPr>
            <a:r>
              <a:rPr lang="en-US" sz="1450" i="1" dirty="0">
                <a:solidFill>
                  <a:srgbClr val="E39B2C"/>
                </a:solidFill>
                <a:latin typeface="Cambria" pitchFamily="34" charset="0"/>
                <a:ea typeface="Cambria" pitchFamily="34" charset="-122"/>
                <a:cs typeface="Cambria" pitchFamily="34" charset="-120"/>
              </a:rPr>
              <a:t>Reporting is not a control. Every item on the right exists because someone found that out the expensive way.</a:t>
            </a:r>
            <a:endParaRPr lang="en-US" sz="1450" dirty="0"/>
          </a:p>
        </p:txBody>
      </p:sp>
      <p:sp>
        <p:nvSpPr>
          <p:cNvPr id="6" name="Shape 4"/>
          <p:cNvSpPr/>
          <p:nvPr/>
        </p:nvSpPr>
        <p:spPr>
          <a:xfrm>
            <a:off x="6675120" y="1371600"/>
            <a:ext cx="4965192" cy="786384"/>
          </a:xfrm>
          <a:prstGeom prst="roundRect">
            <a:avLst>
              <a:gd name="adj" fmla="val 10465"/>
            </a:avLst>
          </a:prstGeom>
          <a:solidFill>
            <a:srgbClr val="1F2936"/>
          </a:solidFill>
          <a:ln/>
        </p:spPr>
      </p:sp>
      <p:sp>
        <p:nvSpPr>
          <p:cNvPr id="7" name="Text 5"/>
          <p:cNvSpPr/>
          <p:nvPr/>
        </p:nvSpPr>
        <p:spPr>
          <a:xfrm>
            <a:off x="6912864" y="1371600"/>
            <a:ext cx="548640" cy="786384"/>
          </a:xfrm>
          <a:prstGeom prst="rect">
            <a:avLst/>
          </a:prstGeom>
          <a:noFill/>
          <a:ln/>
        </p:spPr>
        <p:txBody>
          <a:bodyPr wrap="square" lIns="0" tIns="0" rIns="0" bIns="0" rtlCol="0" anchor="ctr"/>
          <a:lstStyle/>
          <a:p>
            <a:pPr indent="0" marL="0">
              <a:buNone/>
            </a:pPr>
            <a:r>
              <a:rPr lang="en-US" sz="1900" b="1" dirty="0">
                <a:solidFill>
                  <a:srgbClr val="E39B2C"/>
                </a:solidFill>
                <a:latin typeface="Cambria" pitchFamily="34" charset="0"/>
                <a:ea typeface="Cambria" pitchFamily="34" charset="-122"/>
                <a:cs typeface="Cambria" pitchFamily="34" charset="-120"/>
              </a:rPr>
              <a:t>01</a:t>
            </a:r>
            <a:endParaRPr lang="en-US" sz="1900" dirty="0"/>
          </a:p>
        </p:txBody>
      </p:sp>
      <p:sp>
        <p:nvSpPr>
          <p:cNvPr id="8" name="Text 6"/>
          <p:cNvSpPr/>
          <p:nvPr/>
        </p:nvSpPr>
        <p:spPr>
          <a:xfrm>
            <a:off x="7534656" y="1371600"/>
            <a:ext cx="3931920" cy="786384"/>
          </a:xfrm>
          <a:prstGeom prst="rect">
            <a:avLst/>
          </a:prstGeom>
          <a:noFill/>
          <a:ln/>
        </p:spPr>
        <p:txBody>
          <a:bodyPr wrap="square" lIns="0" tIns="0" rIns="0" bIns="0" rtlCol="0" anchor="ctr"/>
          <a:lstStyle/>
          <a:p>
            <a:pPr indent="0" marL="0">
              <a:lnSpc>
                <a:spcPts val="1600"/>
              </a:lnSpc>
              <a:buNone/>
            </a:pPr>
            <a:r>
              <a:rPr lang="en-US" sz="1450" b="1" dirty="0">
                <a:solidFill>
                  <a:srgbClr val="FFFFFF"/>
                </a:solidFill>
                <a:latin typeface="Calibri" pitchFamily="34" charset="0"/>
                <a:ea typeface="Calibri" pitchFamily="34" charset="-122"/>
                <a:cs typeface="Calibri" pitchFamily="34" charset="-120"/>
              </a:rPr>
              <a:t>Application ownership</a:t>
            </a:r>
            <a:endParaRPr lang="en-US" sz="14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A named owner for every workload</a:t>
            </a:r>
            <a:endParaRPr lang="en-US" sz="1450" dirty="0"/>
          </a:p>
        </p:txBody>
      </p:sp>
      <p:sp>
        <p:nvSpPr>
          <p:cNvPr id="9" name="Shape 7"/>
          <p:cNvSpPr/>
          <p:nvPr/>
        </p:nvSpPr>
        <p:spPr>
          <a:xfrm>
            <a:off x="6675120" y="2249424"/>
            <a:ext cx="4965192" cy="786384"/>
          </a:xfrm>
          <a:prstGeom prst="roundRect">
            <a:avLst>
              <a:gd name="adj" fmla="val 10465"/>
            </a:avLst>
          </a:prstGeom>
          <a:solidFill>
            <a:srgbClr val="1F2936"/>
          </a:solidFill>
          <a:ln/>
        </p:spPr>
      </p:sp>
      <p:sp>
        <p:nvSpPr>
          <p:cNvPr id="10" name="Text 8"/>
          <p:cNvSpPr/>
          <p:nvPr/>
        </p:nvSpPr>
        <p:spPr>
          <a:xfrm>
            <a:off x="6912864" y="2249424"/>
            <a:ext cx="548640" cy="786384"/>
          </a:xfrm>
          <a:prstGeom prst="rect">
            <a:avLst/>
          </a:prstGeom>
          <a:noFill/>
          <a:ln/>
        </p:spPr>
        <p:txBody>
          <a:bodyPr wrap="square" lIns="0" tIns="0" rIns="0" bIns="0" rtlCol="0" anchor="ctr"/>
          <a:lstStyle/>
          <a:p>
            <a:pPr indent="0" marL="0">
              <a:buNone/>
            </a:pPr>
            <a:r>
              <a:rPr lang="en-US" sz="1900" b="1" dirty="0">
                <a:solidFill>
                  <a:srgbClr val="E39B2C"/>
                </a:solidFill>
                <a:latin typeface="Cambria" pitchFamily="34" charset="0"/>
                <a:ea typeface="Cambria" pitchFamily="34" charset="-122"/>
                <a:cs typeface="Cambria" pitchFamily="34" charset="-120"/>
              </a:rPr>
              <a:t>02</a:t>
            </a:r>
            <a:endParaRPr lang="en-US" sz="1900" dirty="0"/>
          </a:p>
        </p:txBody>
      </p:sp>
      <p:sp>
        <p:nvSpPr>
          <p:cNvPr id="11" name="Text 9"/>
          <p:cNvSpPr/>
          <p:nvPr/>
        </p:nvSpPr>
        <p:spPr>
          <a:xfrm>
            <a:off x="7534656" y="2249424"/>
            <a:ext cx="3931920" cy="786384"/>
          </a:xfrm>
          <a:prstGeom prst="rect">
            <a:avLst/>
          </a:prstGeom>
          <a:noFill/>
          <a:ln/>
        </p:spPr>
        <p:txBody>
          <a:bodyPr wrap="square" lIns="0" tIns="0" rIns="0" bIns="0" rtlCol="0" anchor="ctr"/>
          <a:lstStyle/>
          <a:p>
            <a:pPr indent="0" marL="0">
              <a:lnSpc>
                <a:spcPts val="1600"/>
              </a:lnSpc>
              <a:buNone/>
            </a:pPr>
            <a:r>
              <a:rPr lang="en-US" sz="1450" b="1" dirty="0">
                <a:solidFill>
                  <a:srgbClr val="FFFFFF"/>
                </a:solidFill>
                <a:latin typeface="Calibri" pitchFamily="34" charset="0"/>
                <a:ea typeface="Calibri" pitchFamily="34" charset="-122"/>
                <a:cs typeface="Calibri" pitchFamily="34" charset="-120"/>
              </a:rPr>
              <a:t>Budget controls</a:t>
            </a:r>
            <a:endParaRPr lang="en-US" sz="14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Thresholds that trigger before month-end</a:t>
            </a:r>
            <a:endParaRPr lang="en-US" sz="1450" dirty="0"/>
          </a:p>
        </p:txBody>
      </p:sp>
      <p:sp>
        <p:nvSpPr>
          <p:cNvPr id="12" name="Shape 10"/>
          <p:cNvSpPr/>
          <p:nvPr/>
        </p:nvSpPr>
        <p:spPr>
          <a:xfrm>
            <a:off x="6675120" y="3127248"/>
            <a:ext cx="4965192" cy="786384"/>
          </a:xfrm>
          <a:prstGeom prst="roundRect">
            <a:avLst>
              <a:gd name="adj" fmla="val 10465"/>
            </a:avLst>
          </a:prstGeom>
          <a:solidFill>
            <a:srgbClr val="1F2936"/>
          </a:solidFill>
          <a:ln/>
        </p:spPr>
      </p:sp>
      <p:sp>
        <p:nvSpPr>
          <p:cNvPr id="13" name="Text 11"/>
          <p:cNvSpPr/>
          <p:nvPr/>
        </p:nvSpPr>
        <p:spPr>
          <a:xfrm>
            <a:off x="6912864" y="3127248"/>
            <a:ext cx="548640" cy="786384"/>
          </a:xfrm>
          <a:prstGeom prst="rect">
            <a:avLst/>
          </a:prstGeom>
          <a:noFill/>
          <a:ln/>
        </p:spPr>
        <p:txBody>
          <a:bodyPr wrap="square" lIns="0" tIns="0" rIns="0" bIns="0" rtlCol="0" anchor="ctr"/>
          <a:lstStyle/>
          <a:p>
            <a:pPr indent="0" marL="0">
              <a:buNone/>
            </a:pPr>
            <a:r>
              <a:rPr lang="en-US" sz="1900" b="1" dirty="0">
                <a:solidFill>
                  <a:srgbClr val="E39B2C"/>
                </a:solidFill>
                <a:latin typeface="Cambria" pitchFamily="34" charset="0"/>
                <a:ea typeface="Cambria" pitchFamily="34" charset="-122"/>
                <a:cs typeface="Cambria" pitchFamily="34" charset="-120"/>
              </a:rPr>
              <a:t>03</a:t>
            </a:r>
            <a:endParaRPr lang="en-US" sz="1900" dirty="0"/>
          </a:p>
        </p:txBody>
      </p:sp>
      <p:sp>
        <p:nvSpPr>
          <p:cNvPr id="14" name="Text 12"/>
          <p:cNvSpPr/>
          <p:nvPr/>
        </p:nvSpPr>
        <p:spPr>
          <a:xfrm>
            <a:off x="7534656" y="3127248"/>
            <a:ext cx="3931920" cy="786384"/>
          </a:xfrm>
          <a:prstGeom prst="rect">
            <a:avLst/>
          </a:prstGeom>
          <a:noFill/>
          <a:ln/>
        </p:spPr>
        <p:txBody>
          <a:bodyPr wrap="square" lIns="0" tIns="0" rIns="0" bIns="0" rtlCol="0" anchor="ctr"/>
          <a:lstStyle/>
          <a:p>
            <a:pPr indent="0" marL="0">
              <a:lnSpc>
                <a:spcPts val="1600"/>
              </a:lnSpc>
              <a:buNone/>
            </a:pPr>
            <a:r>
              <a:rPr lang="en-US" sz="1450" b="1" dirty="0">
                <a:solidFill>
                  <a:srgbClr val="FFFFFF"/>
                </a:solidFill>
                <a:latin typeface="Calibri" pitchFamily="34" charset="0"/>
                <a:ea typeface="Calibri" pitchFamily="34" charset="-122"/>
                <a:cs typeface="Calibri" pitchFamily="34" charset="-120"/>
              </a:rPr>
              <a:t>Rate limits &amp; quotas</a:t>
            </a:r>
            <a:endParaRPr lang="en-US" sz="14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The only control fast enough to stop spend</a:t>
            </a:r>
            <a:endParaRPr lang="en-US" sz="1450" dirty="0"/>
          </a:p>
        </p:txBody>
      </p:sp>
      <p:sp>
        <p:nvSpPr>
          <p:cNvPr id="15" name="Shape 13"/>
          <p:cNvSpPr/>
          <p:nvPr/>
        </p:nvSpPr>
        <p:spPr>
          <a:xfrm>
            <a:off x="6675120" y="4005072"/>
            <a:ext cx="4965192" cy="786384"/>
          </a:xfrm>
          <a:prstGeom prst="roundRect">
            <a:avLst>
              <a:gd name="adj" fmla="val 10465"/>
            </a:avLst>
          </a:prstGeom>
          <a:solidFill>
            <a:srgbClr val="1F2936"/>
          </a:solidFill>
          <a:ln/>
        </p:spPr>
      </p:sp>
      <p:sp>
        <p:nvSpPr>
          <p:cNvPr id="16" name="Text 14"/>
          <p:cNvSpPr/>
          <p:nvPr/>
        </p:nvSpPr>
        <p:spPr>
          <a:xfrm>
            <a:off x="6912864" y="4005072"/>
            <a:ext cx="548640" cy="786384"/>
          </a:xfrm>
          <a:prstGeom prst="rect">
            <a:avLst/>
          </a:prstGeom>
          <a:noFill/>
          <a:ln/>
        </p:spPr>
        <p:txBody>
          <a:bodyPr wrap="square" lIns="0" tIns="0" rIns="0" bIns="0" rtlCol="0" anchor="ctr"/>
          <a:lstStyle/>
          <a:p>
            <a:pPr indent="0" marL="0">
              <a:buNone/>
            </a:pPr>
            <a:r>
              <a:rPr lang="en-US" sz="1900" b="1" dirty="0">
                <a:solidFill>
                  <a:srgbClr val="E39B2C"/>
                </a:solidFill>
                <a:latin typeface="Cambria" pitchFamily="34" charset="0"/>
                <a:ea typeface="Cambria" pitchFamily="34" charset="-122"/>
                <a:cs typeface="Cambria" pitchFamily="34" charset="-120"/>
              </a:rPr>
              <a:t>04</a:t>
            </a:r>
            <a:endParaRPr lang="en-US" sz="1900" dirty="0"/>
          </a:p>
        </p:txBody>
      </p:sp>
      <p:sp>
        <p:nvSpPr>
          <p:cNvPr id="17" name="Text 15"/>
          <p:cNvSpPr/>
          <p:nvPr/>
        </p:nvSpPr>
        <p:spPr>
          <a:xfrm>
            <a:off x="7534656" y="4005072"/>
            <a:ext cx="3931920" cy="786384"/>
          </a:xfrm>
          <a:prstGeom prst="rect">
            <a:avLst/>
          </a:prstGeom>
          <a:noFill/>
          <a:ln/>
        </p:spPr>
        <p:txBody>
          <a:bodyPr wrap="square" lIns="0" tIns="0" rIns="0" bIns="0" rtlCol="0" anchor="ctr"/>
          <a:lstStyle/>
          <a:p>
            <a:pPr indent="0" marL="0">
              <a:lnSpc>
                <a:spcPts val="1600"/>
              </a:lnSpc>
              <a:buNone/>
            </a:pPr>
            <a:r>
              <a:rPr lang="en-US" sz="1450" b="1" dirty="0">
                <a:solidFill>
                  <a:srgbClr val="FFFFFF"/>
                </a:solidFill>
                <a:latin typeface="Calibri" pitchFamily="34" charset="0"/>
                <a:ea typeface="Calibri" pitchFamily="34" charset="-122"/>
                <a:cs typeface="Calibri" pitchFamily="34" charset="-120"/>
              </a:rPr>
              <a:t>Automated alerts</a:t>
            </a:r>
            <a:endParaRPr lang="en-US" sz="14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Routed to the person who can act</a:t>
            </a:r>
            <a:endParaRPr lang="en-US" sz="1450" dirty="0"/>
          </a:p>
        </p:txBody>
      </p:sp>
      <p:sp>
        <p:nvSpPr>
          <p:cNvPr id="18" name="Shape 16"/>
          <p:cNvSpPr/>
          <p:nvPr/>
        </p:nvSpPr>
        <p:spPr>
          <a:xfrm>
            <a:off x="6675120" y="4882896"/>
            <a:ext cx="4965192" cy="786384"/>
          </a:xfrm>
          <a:prstGeom prst="roundRect">
            <a:avLst>
              <a:gd name="adj" fmla="val 10465"/>
            </a:avLst>
          </a:prstGeom>
          <a:solidFill>
            <a:srgbClr val="1F2936"/>
          </a:solidFill>
          <a:ln/>
        </p:spPr>
      </p:sp>
      <p:sp>
        <p:nvSpPr>
          <p:cNvPr id="19" name="Text 17"/>
          <p:cNvSpPr/>
          <p:nvPr/>
        </p:nvSpPr>
        <p:spPr>
          <a:xfrm>
            <a:off x="6912864" y="4882896"/>
            <a:ext cx="548640" cy="786384"/>
          </a:xfrm>
          <a:prstGeom prst="rect">
            <a:avLst/>
          </a:prstGeom>
          <a:noFill/>
          <a:ln/>
        </p:spPr>
        <p:txBody>
          <a:bodyPr wrap="square" lIns="0" tIns="0" rIns="0" bIns="0" rtlCol="0" anchor="ctr"/>
          <a:lstStyle/>
          <a:p>
            <a:pPr indent="0" marL="0">
              <a:buNone/>
            </a:pPr>
            <a:r>
              <a:rPr lang="en-US" sz="1900" b="1" dirty="0">
                <a:solidFill>
                  <a:srgbClr val="E39B2C"/>
                </a:solidFill>
                <a:latin typeface="Cambria" pitchFamily="34" charset="0"/>
                <a:ea typeface="Cambria" pitchFamily="34" charset="-122"/>
                <a:cs typeface="Cambria" pitchFamily="34" charset="-120"/>
              </a:rPr>
              <a:t>05</a:t>
            </a:r>
            <a:endParaRPr lang="en-US" sz="1900" dirty="0"/>
          </a:p>
        </p:txBody>
      </p:sp>
      <p:sp>
        <p:nvSpPr>
          <p:cNvPr id="20" name="Text 18"/>
          <p:cNvSpPr/>
          <p:nvPr/>
        </p:nvSpPr>
        <p:spPr>
          <a:xfrm>
            <a:off x="7534656" y="4882896"/>
            <a:ext cx="3931920" cy="786384"/>
          </a:xfrm>
          <a:prstGeom prst="rect">
            <a:avLst/>
          </a:prstGeom>
          <a:noFill/>
          <a:ln/>
        </p:spPr>
        <p:txBody>
          <a:bodyPr wrap="square" lIns="0" tIns="0" rIns="0" bIns="0" rtlCol="0" anchor="ctr"/>
          <a:lstStyle/>
          <a:p>
            <a:pPr indent="0" marL="0">
              <a:lnSpc>
                <a:spcPts val="1600"/>
              </a:lnSpc>
              <a:buNone/>
            </a:pPr>
            <a:r>
              <a:rPr lang="en-US" sz="1450" b="1" dirty="0">
                <a:solidFill>
                  <a:srgbClr val="FFFFFF"/>
                </a:solidFill>
                <a:latin typeface="Calibri" pitchFamily="34" charset="0"/>
                <a:ea typeface="Calibri" pitchFamily="34" charset="-122"/>
                <a:cs typeface="Calibri" pitchFamily="34" charset="-120"/>
              </a:rPr>
              <a:t>Shared responsibility</a:t>
            </a:r>
            <a:endParaRPr lang="en-US" sz="14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Who decides, who builds, who pays</a:t>
            </a:r>
            <a:endParaRPr lang="en-US" sz="14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1 — APPLICATION OWNERSHIP</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Every workload has a named owner</a:t>
            </a:r>
            <a:endParaRPr lang="en-US" sz="3100" dirty="0"/>
          </a:p>
        </p:txBody>
      </p:sp>
      <p:sp>
        <p:nvSpPr>
          <p:cNvPr id="4" name="Shape 2"/>
          <p:cNvSpPr/>
          <p:nvPr/>
        </p:nvSpPr>
        <p:spPr>
          <a:xfrm>
            <a:off x="548640" y="1783080"/>
            <a:ext cx="3749040" cy="3017520"/>
          </a:xfrm>
          <a:prstGeom prst="roundRect">
            <a:avLst>
              <a:gd name="adj" fmla="val 2727"/>
            </a:avLst>
          </a:prstGeom>
          <a:solidFill>
            <a:srgbClr val="1F2936"/>
          </a:solidFill>
          <a:ln/>
          <a:effectLst>
            <a:outerShdw sx="100000" sy="100000" kx="0" ky="0" algn="bl" rotWithShape="0" blurRad="127000" dist="25400" dir="5400000">
              <a:srgbClr val="8C99A8">
                <a:alpha val="16000"/>
              </a:srgbClr>
            </a:outerShdw>
          </a:effectLst>
        </p:spPr>
      </p:sp>
      <p:sp>
        <p:nvSpPr>
          <p:cNvPr id="5" name="Shape 3"/>
          <p:cNvSpPr/>
          <p:nvPr/>
        </p:nvSpPr>
        <p:spPr>
          <a:xfrm>
            <a:off x="859536" y="2048256"/>
            <a:ext cx="603504" cy="603504"/>
          </a:xfrm>
          <a:prstGeom prst="ellipse">
            <a:avLst/>
          </a:prstGeom>
          <a:solidFill>
            <a:srgbClr val="E39B2C"/>
          </a:solidFill>
          <a:ln/>
        </p:spPr>
      </p:sp>
      <p:pic>
        <p:nvPicPr>
          <p:cNvPr id="6" name="Image 0" descr="preencoded.png">    </p:cNvPr>
          <p:cNvPicPr>
            <a:picLocks noChangeAspect="1"/>
          </p:cNvPicPr>
          <p:nvPr/>
        </p:nvPicPr>
        <p:blipFill>
          <a:blip r:embed="rId1"/>
          <a:stretch>
            <a:fillRect/>
          </a:stretch>
        </p:blipFill>
        <p:spPr>
          <a:xfrm>
            <a:off x="1010412" y="2199132"/>
            <a:ext cx="301752" cy="301752"/>
          </a:xfrm>
          <a:prstGeom prst="rect">
            <a:avLst/>
          </a:prstGeom>
        </p:spPr>
      </p:pic>
      <p:sp>
        <p:nvSpPr>
          <p:cNvPr id="7" name="Text 4"/>
          <p:cNvSpPr/>
          <p:nvPr/>
        </p:nvSpPr>
        <p:spPr>
          <a:xfrm>
            <a:off x="859536" y="2788920"/>
            <a:ext cx="3108960" cy="310896"/>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Owner of record</a:t>
            </a:r>
            <a:endParaRPr lang="en-US" sz="1200" dirty="0"/>
          </a:p>
        </p:txBody>
      </p:sp>
      <p:sp>
        <p:nvSpPr>
          <p:cNvPr id="8" name="Text 5"/>
          <p:cNvSpPr/>
          <p:nvPr/>
        </p:nvSpPr>
        <p:spPr>
          <a:xfrm>
            <a:off x="859536" y="3127248"/>
            <a:ext cx="3127248" cy="1463040"/>
          </a:xfrm>
          <a:prstGeom prst="rect">
            <a:avLst/>
          </a:prstGeom>
          <a:noFill/>
          <a:ln/>
        </p:spPr>
        <p:txBody>
          <a:bodyPr wrap="square" lIns="0" tIns="0" rIns="0" bIns="0" rtlCol="0" anchor="t"/>
          <a:lstStyle/>
          <a:p>
            <a:pPr indent="0" marL="0">
              <a:lnSpc>
                <a:spcPts val="2100"/>
              </a:lnSpc>
              <a:buNone/>
            </a:pPr>
            <a:r>
              <a:rPr lang="en-US" sz="1450" i="1" dirty="0">
                <a:solidFill>
                  <a:srgbClr val="FFFFFF"/>
                </a:solidFill>
                <a:latin typeface="Cambria" pitchFamily="34" charset="0"/>
                <a:ea typeface="Cambria" pitchFamily="34" charset="-122"/>
                <a:cs typeface="Cambria" pitchFamily="34" charset="-120"/>
              </a:rPr>
              <a:t>A named person, not a distribution list and not “the platform team”. A group address means nobody answers the alert at 2am on a Sunday.</a:t>
            </a:r>
            <a:endParaRPr lang="en-US" sz="1450" dirty="0"/>
          </a:p>
        </p:txBody>
      </p:sp>
      <p:sp>
        <p:nvSpPr>
          <p:cNvPr id="9" name="Shape 6"/>
          <p:cNvSpPr/>
          <p:nvPr/>
        </p:nvSpPr>
        <p:spPr>
          <a:xfrm>
            <a:off x="4663440" y="1911096"/>
            <a:ext cx="457200" cy="457200"/>
          </a:xfrm>
          <a:prstGeom prst="ellipse">
            <a:avLst/>
          </a:prstGeom>
          <a:solidFill>
            <a:srgbClr val="DDEDE9"/>
          </a:solidFill>
          <a:ln/>
        </p:spPr>
      </p:sp>
      <p:pic>
        <p:nvPicPr>
          <p:cNvPr id="10" name="Image 1" descr="preencoded.png">    </p:cNvPr>
          <p:cNvPicPr>
            <a:picLocks noChangeAspect="1"/>
          </p:cNvPicPr>
          <p:nvPr/>
        </p:nvPicPr>
        <p:blipFill>
          <a:blip r:embed="rId2"/>
          <a:stretch>
            <a:fillRect/>
          </a:stretch>
        </p:blipFill>
        <p:spPr>
          <a:xfrm>
            <a:off x="4777740" y="2025396"/>
            <a:ext cx="228600" cy="228600"/>
          </a:xfrm>
          <a:prstGeom prst="rect">
            <a:avLst/>
          </a:prstGeom>
        </p:spPr>
      </p:pic>
      <p:sp>
        <p:nvSpPr>
          <p:cNvPr id="11" name="Text 7"/>
          <p:cNvSpPr/>
          <p:nvPr/>
        </p:nvSpPr>
        <p:spPr>
          <a:xfrm>
            <a:off x="5376672" y="178308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Owns the budget</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Signs off the application's budget and explains the variance when it moves.</a:t>
            </a:r>
            <a:endParaRPr lang="en-US" sz="1450" dirty="0"/>
          </a:p>
        </p:txBody>
      </p:sp>
      <p:sp>
        <p:nvSpPr>
          <p:cNvPr id="12" name="Shape 8"/>
          <p:cNvSpPr/>
          <p:nvPr/>
        </p:nvSpPr>
        <p:spPr>
          <a:xfrm>
            <a:off x="4663440" y="2688336"/>
            <a:ext cx="457200" cy="457200"/>
          </a:xfrm>
          <a:prstGeom prst="ellipse">
            <a:avLst/>
          </a:prstGeom>
          <a:solidFill>
            <a:srgbClr val="DDEDE9"/>
          </a:solidFill>
          <a:ln/>
        </p:spPr>
      </p:sp>
      <p:pic>
        <p:nvPicPr>
          <p:cNvPr id="13" name="Image 2" descr="preencoded.png">    </p:cNvPr>
          <p:cNvPicPr>
            <a:picLocks noChangeAspect="1"/>
          </p:cNvPicPr>
          <p:nvPr/>
        </p:nvPicPr>
        <p:blipFill>
          <a:blip r:embed="rId3"/>
          <a:stretch>
            <a:fillRect/>
          </a:stretch>
        </p:blipFill>
        <p:spPr>
          <a:xfrm>
            <a:off x="4777740" y="2802636"/>
            <a:ext cx="228600" cy="228600"/>
          </a:xfrm>
          <a:prstGeom prst="rect">
            <a:avLst/>
          </a:prstGeom>
        </p:spPr>
      </p:pic>
      <p:sp>
        <p:nvSpPr>
          <p:cNvPr id="14" name="Text 9"/>
          <p:cNvSpPr/>
          <p:nvPr/>
        </p:nvSpPr>
        <p:spPr>
          <a:xfrm>
            <a:off x="5376672" y="256032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Answers the alerts</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Named as the routing target for anomalies and threshold breaches on their workload.</a:t>
            </a:r>
            <a:endParaRPr lang="en-US" sz="1450" dirty="0"/>
          </a:p>
        </p:txBody>
      </p:sp>
      <p:sp>
        <p:nvSpPr>
          <p:cNvPr id="15" name="Shape 10"/>
          <p:cNvSpPr/>
          <p:nvPr/>
        </p:nvSpPr>
        <p:spPr>
          <a:xfrm>
            <a:off x="4663440" y="3465576"/>
            <a:ext cx="457200" cy="457200"/>
          </a:xfrm>
          <a:prstGeom prst="ellipse">
            <a:avLst/>
          </a:prstGeom>
          <a:solidFill>
            <a:srgbClr val="DDEDE9"/>
          </a:solidFill>
          <a:ln/>
        </p:spPr>
      </p:sp>
      <p:pic>
        <p:nvPicPr>
          <p:cNvPr id="16" name="Image 3" descr="preencoded.png">    </p:cNvPr>
          <p:cNvPicPr>
            <a:picLocks noChangeAspect="1"/>
          </p:cNvPicPr>
          <p:nvPr/>
        </p:nvPicPr>
        <p:blipFill>
          <a:blip r:embed="rId4"/>
          <a:stretch>
            <a:fillRect/>
          </a:stretch>
        </p:blipFill>
        <p:spPr>
          <a:xfrm>
            <a:off x="4777740" y="3579876"/>
            <a:ext cx="228600" cy="228600"/>
          </a:xfrm>
          <a:prstGeom prst="rect">
            <a:avLst/>
          </a:prstGeom>
        </p:spPr>
      </p:pic>
      <p:sp>
        <p:nvSpPr>
          <p:cNvPr id="17" name="Text 11"/>
          <p:cNvSpPr/>
          <p:nvPr/>
        </p:nvSpPr>
        <p:spPr>
          <a:xfrm>
            <a:off x="5376672" y="333756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Reviews monthly</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Attends the monthly review with their own numbers, not a summary of everyone's.</a:t>
            </a:r>
            <a:endParaRPr lang="en-US" sz="1450" dirty="0"/>
          </a:p>
        </p:txBody>
      </p:sp>
      <p:sp>
        <p:nvSpPr>
          <p:cNvPr id="18" name="Shape 12"/>
          <p:cNvSpPr/>
          <p:nvPr/>
        </p:nvSpPr>
        <p:spPr>
          <a:xfrm>
            <a:off x="4663440" y="4242816"/>
            <a:ext cx="457200" cy="457200"/>
          </a:xfrm>
          <a:prstGeom prst="ellipse">
            <a:avLst/>
          </a:prstGeom>
          <a:solidFill>
            <a:srgbClr val="DDEDE9"/>
          </a:solidFill>
          <a:ln/>
        </p:spPr>
      </p:sp>
      <p:pic>
        <p:nvPicPr>
          <p:cNvPr id="19" name="Image 4" descr="preencoded.png">    </p:cNvPr>
          <p:cNvPicPr>
            <a:picLocks noChangeAspect="1"/>
          </p:cNvPicPr>
          <p:nvPr/>
        </p:nvPicPr>
        <p:blipFill>
          <a:blip r:embed="rId5"/>
          <a:stretch>
            <a:fillRect/>
          </a:stretch>
        </p:blipFill>
        <p:spPr>
          <a:xfrm>
            <a:off x="4777740" y="4357116"/>
            <a:ext cx="228600" cy="228600"/>
          </a:xfrm>
          <a:prstGeom prst="rect">
            <a:avLst/>
          </a:prstGeom>
        </p:spPr>
      </p:pic>
      <p:sp>
        <p:nvSpPr>
          <p:cNvPr id="20" name="Text 13"/>
          <p:cNvSpPr/>
          <p:nvPr/>
        </p:nvSpPr>
        <p:spPr>
          <a:xfrm>
            <a:off x="5376672" y="411480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Decommissions</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Retires what is no longer used. Nothing else in the estate does this by itself.</a:t>
            </a:r>
            <a:endParaRPr lang="en-US" sz="1450" dirty="0"/>
          </a:p>
        </p:txBody>
      </p:sp>
      <p:sp>
        <p:nvSpPr>
          <p:cNvPr id="21" name="Shape 14"/>
          <p:cNvSpPr/>
          <p:nvPr/>
        </p:nvSpPr>
        <p:spPr>
          <a:xfrm>
            <a:off x="548640" y="5047488"/>
            <a:ext cx="11091672" cy="1207008"/>
          </a:xfrm>
          <a:prstGeom prst="roundRect">
            <a:avLst>
              <a:gd name="adj" fmla="val 6818"/>
            </a:avLst>
          </a:prstGeom>
          <a:solidFill>
            <a:srgbClr val="FBEFD8"/>
          </a:solidFill>
          <a:ln/>
        </p:spPr>
      </p:sp>
      <p:sp>
        <p:nvSpPr>
          <p:cNvPr id="22" name="Text 15"/>
          <p:cNvSpPr/>
          <p:nvPr/>
        </p:nvSpPr>
        <p:spPr>
          <a:xfrm>
            <a:off x="877824" y="5193792"/>
            <a:ext cx="4572000" cy="292608"/>
          </a:xfrm>
          <a:prstGeom prst="rect">
            <a:avLst/>
          </a:prstGeom>
          <a:noFill/>
          <a:ln/>
        </p:spPr>
        <p:txBody>
          <a:bodyPr wrap="square" lIns="0" tIns="0" rIns="0" bIns="0" rtlCol="0" anchor="ctr"/>
          <a:lstStyle/>
          <a:p>
            <a:pPr indent="0" marL="0">
              <a:buNone/>
            </a:pPr>
            <a:r>
              <a:rPr lang="en-US" sz="1200" b="1" spc="180" kern="0" dirty="0">
                <a:solidFill>
                  <a:srgbClr val="6B4A0E"/>
                </a:solidFill>
                <a:latin typeface="Calibri" pitchFamily="34" charset="0"/>
                <a:ea typeface="Calibri" pitchFamily="34" charset="-122"/>
                <a:cs typeface="Calibri" pitchFamily="34" charset="-120"/>
              </a:rPr>
              <a:t>Unowned is not unowned</a:t>
            </a:r>
            <a:endParaRPr lang="en-US" sz="1200" dirty="0"/>
          </a:p>
        </p:txBody>
      </p:sp>
      <p:sp>
        <p:nvSpPr>
          <p:cNvPr id="23" name="Text 16"/>
          <p:cNvSpPr/>
          <p:nvPr/>
        </p:nvSpPr>
        <p:spPr>
          <a:xfrm>
            <a:off x="877824" y="5486400"/>
            <a:ext cx="10424160" cy="658368"/>
          </a:xfrm>
          <a:prstGeom prst="rect">
            <a:avLst/>
          </a:prstGeom>
          <a:noFill/>
          <a:ln/>
        </p:spPr>
        <p:txBody>
          <a:bodyPr wrap="square" lIns="0" tIns="0" rIns="0" bIns="0" rtlCol="0" anchor="t"/>
          <a:lstStyle/>
          <a:p>
            <a:pPr indent="0" marL="0">
              <a:lnSpc>
                <a:spcPts val="1900"/>
              </a:lnSpc>
              <a:buNone/>
            </a:pPr>
            <a:r>
              <a:rPr lang="en-US" sz="1400" dirty="0">
                <a:solidFill>
                  <a:srgbClr val="6B4A0E"/>
                </a:solidFill>
                <a:latin typeface="Calibri" pitchFamily="34" charset="0"/>
                <a:ea typeface="Calibri" pitchFamily="34" charset="-122"/>
                <a:cs typeface="Calibri" pitchFamily="34" charset="-120"/>
              </a:rPr>
              <a:t>Every resource without an owner already has one — the central budget. Make ownership a deployment requirement rather than a reporting field, and give orphaned resources a standing rule: no owner, no renewal.</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2 — BUDGET CONTROLS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Thresholds that fire before month-end</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A budget nobody is warned about is a number in a spreadsheet, not a control.</a:t>
            </a:r>
            <a:endParaRPr lang="en-US" sz="1500" dirty="0"/>
          </a:p>
        </p:txBody>
      </p:sp>
      <p:sp>
        <p:nvSpPr>
          <p:cNvPr id="5" name="Shape 3"/>
          <p:cNvSpPr/>
          <p:nvPr/>
        </p:nvSpPr>
        <p:spPr>
          <a:xfrm>
            <a:off x="548640" y="2103120"/>
            <a:ext cx="3511296" cy="2148840"/>
          </a:xfrm>
          <a:prstGeom prst="roundRect">
            <a:avLst>
              <a:gd name="adj" fmla="val 3830"/>
            </a:avLst>
          </a:prstGeom>
          <a:solidFill>
            <a:srgbClr val="DDEDE9"/>
          </a:solidFill>
          <a:ln/>
        </p:spPr>
      </p:sp>
      <p:sp>
        <p:nvSpPr>
          <p:cNvPr id="6" name="Shape 4"/>
          <p:cNvSpPr/>
          <p:nvPr/>
        </p:nvSpPr>
        <p:spPr>
          <a:xfrm>
            <a:off x="841248" y="2359152"/>
            <a:ext cx="548640" cy="548640"/>
          </a:xfrm>
          <a:prstGeom prst="ellipse">
            <a:avLst/>
          </a:prstGeom>
          <a:solidFill>
            <a:srgbClr val="FFFFFF"/>
          </a:solidFill>
          <a:ln/>
        </p:spPr>
      </p:sp>
      <p:pic>
        <p:nvPicPr>
          <p:cNvPr id="7" name="Image 0" descr="preencoded.png">    </p:cNvPr>
          <p:cNvPicPr>
            <a:picLocks noChangeAspect="1"/>
          </p:cNvPicPr>
          <p:nvPr/>
        </p:nvPicPr>
        <p:blipFill>
          <a:blip r:embed="rId1"/>
          <a:stretch>
            <a:fillRect/>
          </a:stretch>
        </p:blipFill>
        <p:spPr>
          <a:xfrm>
            <a:off x="978408" y="2496312"/>
            <a:ext cx="274320" cy="274320"/>
          </a:xfrm>
          <a:prstGeom prst="rect">
            <a:avLst/>
          </a:prstGeom>
        </p:spPr>
      </p:pic>
      <p:sp>
        <p:nvSpPr>
          <p:cNvPr id="8" name="Text 5"/>
          <p:cNvSpPr/>
          <p:nvPr/>
        </p:nvSpPr>
        <p:spPr>
          <a:xfrm>
            <a:off x="1499616" y="2359152"/>
            <a:ext cx="2286000" cy="548640"/>
          </a:xfrm>
          <a:prstGeom prst="rect">
            <a:avLst/>
          </a:prstGeom>
          <a:noFill/>
          <a:ln/>
        </p:spPr>
        <p:txBody>
          <a:bodyPr wrap="square" lIns="0" tIns="0" rIns="0" bIns="0" rtlCol="0" anchor="ctr"/>
          <a:lstStyle/>
          <a:p>
            <a:pPr indent="0" marL="0">
              <a:buNone/>
            </a:pPr>
            <a:r>
              <a:rPr lang="en-US" sz="2000" b="1" dirty="0">
                <a:solidFill>
                  <a:srgbClr val="1B2430"/>
                </a:solidFill>
                <a:latin typeface="Cambria" pitchFamily="34" charset="0"/>
                <a:ea typeface="Cambria" pitchFamily="34" charset="-122"/>
                <a:cs typeface="Cambria" pitchFamily="34" charset="-120"/>
              </a:rPr>
              <a:t>Notify</a:t>
            </a:r>
            <a:endParaRPr lang="en-US" sz="2000" dirty="0"/>
          </a:p>
        </p:txBody>
      </p:sp>
      <p:sp>
        <p:nvSpPr>
          <p:cNvPr id="9" name="Text 6"/>
          <p:cNvSpPr/>
          <p:nvPr/>
        </p:nvSpPr>
        <p:spPr>
          <a:xfrm>
            <a:off x="841248" y="3035808"/>
            <a:ext cx="2926080" cy="310896"/>
          </a:xfrm>
          <a:prstGeom prst="rect">
            <a:avLst/>
          </a:prstGeom>
          <a:noFill/>
          <a:ln/>
        </p:spPr>
        <p:txBody>
          <a:bodyPr wrap="square" lIns="0" tIns="0" rIns="0" bIns="0" rtlCol="0" anchor="ctr"/>
          <a:lstStyle/>
          <a:p>
            <a:pPr indent="0" marL="0">
              <a:buNone/>
            </a:pPr>
            <a:r>
              <a:rPr lang="en-US" sz="1250" b="1" dirty="0">
                <a:solidFill>
                  <a:srgbClr val="1F6B5C"/>
                </a:solidFill>
                <a:latin typeface="Calibri" pitchFamily="34" charset="0"/>
                <a:ea typeface="Calibri" pitchFamily="34" charset="-122"/>
                <a:cs typeface="Calibri" pitchFamily="34" charset="-120"/>
              </a:rPr>
              <a:t>Burn ahead of plan</a:t>
            </a:r>
            <a:endParaRPr lang="en-US" sz="1250" dirty="0"/>
          </a:p>
        </p:txBody>
      </p:sp>
      <p:sp>
        <p:nvSpPr>
          <p:cNvPr id="10" name="Text 7"/>
          <p:cNvSpPr/>
          <p:nvPr/>
        </p:nvSpPr>
        <p:spPr>
          <a:xfrm>
            <a:off x="841248" y="3383280"/>
            <a:ext cx="2926080" cy="73152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Proportional to the month elapsed. Goes to the team channel.</a:t>
            </a:r>
            <a:endParaRPr lang="en-US" sz="1250" dirty="0"/>
          </a:p>
        </p:txBody>
      </p:sp>
      <p:sp>
        <p:nvSpPr>
          <p:cNvPr id="11" name="Shape 8"/>
          <p:cNvSpPr/>
          <p:nvPr/>
        </p:nvSpPr>
        <p:spPr>
          <a:xfrm>
            <a:off x="4114800" y="3090672"/>
            <a:ext cx="201168" cy="182880"/>
          </a:xfrm>
          <a:prstGeom prst="rightArrow">
            <a:avLst/>
          </a:prstGeom>
          <a:solidFill>
            <a:srgbClr val="C3CBD5"/>
          </a:solidFill>
          <a:ln/>
        </p:spPr>
      </p:sp>
      <p:sp>
        <p:nvSpPr>
          <p:cNvPr id="12" name="Shape 9"/>
          <p:cNvSpPr/>
          <p:nvPr/>
        </p:nvSpPr>
        <p:spPr>
          <a:xfrm>
            <a:off x="4334256" y="2103120"/>
            <a:ext cx="3511296" cy="2148840"/>
          </a:xfrm>
          <a:prstGeom prst="roundRect">
            <a:avLst>
              <a:gd name="adj" fmla="val 3830"/>
            </a:avLst>
          </a:prstGeom>
          <a:solidFill>
            <a:srgbClr val="FBEFD8"/>
          </a:solidFill>
          <a:ln/>
        </p:spPr>
      </p:sp>
      <p:sp>
        <p:nvSpPr>
          <p:cNvPr id="13" name="Shape 10"/>
          <p:cNvSpPr/>
          <p:nvPr/>
        </p:nvSpPr>
        <p:spPr>
          <a:xfrm>
            <a:off x="4626864" y="2359152"/>
            <a:ext cx="548640" cy="548640"/>
          </a:xfrm>
          <a:prstGeom prst="ellipse">
            <a:avLst/>
          </a:prstGeom>
          <a:solidFill>
            <a:srgbClr val="FFFFFF"/>
          </a:solidFill>
          <a:ln/>
        </p:spPr>
      </p:sp>
      <p:pic>
        <p:nvPicPr>
          <p:cNvPr id="14" name="Image 1" descr="preencoded.png">    </p:cNvPr>
          <p:cNvPicPr>
            <a:picLocks noChangeAspect="1"/>
          </p:cNvPicPr>
          <p:nvPr/>
        </p:nvPicPr>
        <p:blipFill>
          <a:blip r:embed="rId2"/>
          <a:stretch>
            <a:fillRect/>
          </a:stretch>
        </p:blipFill>
        <p:spPr>
          <a:xfrm>
            <a:off x="4764024" y="2496312"/>
            <a:ext cx="274320" cy="274320"/>
          </a:xfrm>
          <a:prstGeom prst="rect">
            <a:avLst/>
          </a:prstGeom>
        </p:spPr>
      </p:pic>
      <p:sp>
        <p:nvSpPr>
          <p:cNvPr id="15" name="Text 11"/>
          <p:cNvSpPr/>
          <p:nvPr/>
        </p:nvSpPr>
        <p:spPr>
          <a:xfrm>
            <a:off x="5285232" y="2359152"/>
            <a:ext cx="2286000" cy="548640"/>
          </a:xfrm>
          <a:prstGeom prst="rect">
            <a:avLst/>
          </a:prstGeom>
          <a:noFill/>
          <a:ln/>
        </p:spPr>
        <p:txBody>
          <a:bodyPr wrap="square" lIns="0" tIns="0" rIns="0" bIns="0" rtlCol="0" anchor="ctr"/>
          <a:lstStyle/>
          <a:p>
            <a:pPr indent="0" marL="0">
              <a:buNone/>
            </a:pPr>
            <a:r>
              <a:rPr lang="en-US" sz="2000" b="1" dirty="0">
                <a:solidFill>
                  <a:srgbClr val="1B2430"/>
                </a:solidFill>
                <a:latin typeface="Cambria" pitchFamily="34" charset="0"/>
                <a:ea typeface="Cambria" pitchFamily="34" charset="-122"/>
                <a:cs typeface="Cambria" pitchFamily="34" charset="-120"/>
              </a:rPr>
              <a:t>Review</a:t>
            </a:r>
            <a:endParaRPr lang="en-US" sz="2000" dirty="0"/>
          </a:p>
        </p:txBody>
      </p:sp>
      <p:sp>
        <p:nvSpPr>
          <p:cNvPr id="16" name="Text 12"/>
          <p:cNvSpPr/>
          <p:nvPr/>
        </p:nvSpPr>
        <p:spPr>
          <a:xfrm>
            <a:off x="4626864" y="3035808"/>
            <a:ext cx="2926080" cy="310896"/>
          </a:xfrm>
          <a:prstGeom prst="rect">
            <a:avLst/>
          </a:prstGeom>
          <a:noFill/>
          <a:ln/>
        </p:spPr>
        <p:txBody>
          <a:bodyPr wrap="square" lIns="0" tIns="0" rIns="0" bIns="0" rtlCol="0" anchor="ctr"/>
          <a:lstStyle/>
          <a:p>
            <a:pPr indent="0" marL="0">
              <a:buNone/>
            </a:pPr>
            <a:r>
              <a:rPr lang="en-US" sz="1250" b="1" dirty="0">
                <a:solidFill>
                  <a:srgbClr val="B87B18"/>
                </a:solidFill>
                <a:latin typeface="Calibri" pitchFamily="34" charset="0"/>
                <a:ea typeface="Calibri" pitchFamily="34" charset="-122"/>
                <a:cs typeface="Calibri" pitchFamily="34" charset="-120"/>
              </a:rPr>
              <a:t>Forecast exceeds budget</a:t>
            </a:r>
            <a:endParaRPr lang="en-US" sz="1250" dirty="0"/>
          </a:p>
        </p:txBody>
      </p:sp>
      <p:sp>
        <p:nvSpPr>
          <p:cNvPr id="17" name="Text 13"/>
          <p:cNvSpPr/>
          <p:nvPr/>
        </p:nvSpPr>
        <p:spPr>
          <a:xfrm>
            <a:off x="4626864" y="3383280"/>
            <a:ext cx="2926080" cy="73152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Projected month-end overrun. Owner and finance review within days.</a:t>
            </a:r>
            <a:endParaRPr lang="en-US" sz="1250" dirty="0"/>
          </a:p>
        </p:txBody>
      </p:sp>
      <p:sp>
        <p:nvSpPr>
          <p:cNvPr id="18" name="Shape 14"/>
          <p:cNvSpPr/>
          <p:nvPr/>
        </p:nvSpPr>
        <p:spPr>
          <a:xfrm>
            <a:off x="7900416" y="3090672"/>
            <a:ext cx="201168" cy="182880"/>
          </a:xfrm>
          <a:prstGeom prst="rightArrow">
            <a:avLst/>
          </a:prstGeom>
          <a:solidFill>
            <a:srgbClr val="C3CBD5"/>
          </a:solidFill>
          <a:ln/>
        </p:spPr>
      </p:sp>
      <p:sp>
        <p:nvSpPr>
          <p:cNvPr id="19" name="Shape 15"/>
          <p:cNvSpPr/>
          <p:nvPr/>
        </p:nvSpPr>
        <p:spPr>
          <a:xfrm>
            <a:off x="8119872" y="2103120"/>
            <a:ext cx="3511296" cy="2148840"/>
          </a:xfrm>
          <a:prstGeom prst="roundRect">
            <a:avLst>
              <a:gd name="adj" fmla="val 3830"/>
            </a:avLst>
          </a:prstGeom>
          <a:solidFill>
            <a:srgbClr val="F6E0DC"/>
          </a:solidFill>
          <a:ln/>
        </p:spPr>
      </p:sp>
      <p:sp>
        <p:nvSpPr>
          <p:cNvPr id="20" name="Shape 16"/>
          <p:cNvSpPr/>
          <p:nvPr/>
        </p:nvSpPr>
        <p:spPr>
          <a:xfrm>
            <a:off x="8412480" y="2359152"/>
            <a:ext cx="548640" cy="548640"/>
          </a:xfrm>
          <a:prstGeom prst="ellipse">
            <a:avLst/>
          </a:prstGeom>
          <a:solidFill>
            <a:srgbClr val="FFFFFF"/>
          </a:solidFill>
          <a:ln/>
        </p:spPr>
      </p:sp>
      <p:pic>
        <p:nvPicPr>
          <p:cNvPr id="21" name="Image 2" descr="preencoded.png">    </p:cNvPr>
          <p:cNvPicPr>
            <a:picLocks noChangeAspect="1"/>
          </p:cNvPicPr>
          <p:nvPr/>
        </p:nvPicPr>
        <p:blipFill>
          <a:blip r:embed="rId3"/>
          <a:stretch>
            <a:fillRect/>
          </a:stretch>
        </p:blipFill>
        <p:spPr>
          <a:xfrm>
            <a:off x="8549640" y="2496312"/>
            <a:ext cx="274320" cy="274320"/>
          </a:xfrm>
          <a:prstGeom prst="rect">
            <a:avLst/>
          </a:prstGeom>
        </p:spPr>
      </p:pic>
      <p:sp>
        <p:nvSpPr>
          <p:cNvPr id="22" name="Text 17"/>
          <p:cNvSpPr/>
          <p:nvPr/>
        </p:nvSpPr>
        <p:spPr>
          <a:xfrm>
            <a:off x="9070848" y="2359152"/>
            <a:ext cx="2286000" cy="548640"/>
          </a:xfrm>
          <a:prstGeom prst="rect">
            <a:avLst/>
          </a:prstGeom>
          <a:noFill/>
          <a:ln/>
        </p:spPr>
        <p:txBody>
          <a:bodyPr wrap="square" lIns="0" tIns="0" rIns="0" bIns="0" rtlCol="0" anchor="ctr"/>
          <a:lstStyle/>
          <a:p>
            <a:pPr indent="0" marL="0">
              <a:buNone/>
            </a:pPr>
            <a:r>
              <a:rPr lang="en-US" sz="2000" b="1" dirty="0">
                <a:solidFill>
                  <a:srgbClr val="1B2430"/>
                </a:solidFill>
                <a:latin typeface="Cambria" pitchFamily="34" charset="0"/>
                <a:ea typeface="Cambria" pitchFamily="34" charset="-122"/>
                <a:cs typeface="Cambria" pitchFamily="34" charset="-120"/>
              </a:rPr>
              <a:t>Gate</a:t>
            </a:r>
            <a:endParaRPr lang="en-US" sz="2000" dirty="0"/>
          </a:p>
        </p:txBody>
      </p:sp>
      <p:sp>
        <p:nvSpPr>
          <p:cNvPr id="23" name="Text 18"/>
          <p:cNvSpPr/>
          <p:nvPr/>
        </p:nvSpPr>
        <p:spPr>
          <a:xfrm>
            <a:off x="8412480" y="3035808"/>
            <a:ext cx="2926080" cy="310896"/>
          </a:xfrm>
          <a:prstGeom prst="rect">
            <a:avLst/>
          </a:prstGeom>
          <a:noFill/>
          <a:ln/>
        </p:spPr>
        <p:txBody>
          <a:bodyPr wrap="square" lIns="0" tIns="0" rIns="0" bIns="0" rtlCol="0" anchor="ctr"/>
          <a:lstStyle/>
          <a:p>
            <a:pPr indent="0" marL="0">
              <a:buNone/>
            </a:pPr>
            <a:r>
              <a:rPr lang="en-US" sz="1250" b="1" dirty="0">
                <a:solidFill>
                  <a:srgbClr val="A6432F"/>
                </a:solidFill>
                <a:latin typeface="Calibri" pitchFamily="34" charset="0"/>
                <a:ea typeface="Calibri" pitchFamily="34" charset="-122"/>
                <a:cs typeface="Calibri" pitchFamily="34" charset="-120"/>
              </a:rPr>
              <a:t>Hard ceiling reached</a:t>
            </a:r>
            <a:endParaRPr lang="en-US" sz="1250" dirty="0"/>
          </a:p>
        </p:txBody>
      </p:sp>
      <p:sp>
        <p:nvSpPr>
          <p:cNvPr id="24" name="Text 19"/>
          <p:cNvSpPr/>
          <p:nvPr/>
        </p:nvSpPr>
        <p:spPr>
          <a:xfrm>
            <a:off x="8412480" y="3383280"/>
            <a:ext cx="2926080" cy="73152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New spend needs explicit approval, or the quota is capped.</a:t>
            </a:r>
            <a:endParaRPr lang="en-US" sz="1250" dirty="0"/>
          </a:p>
        </p:txBody>
      </p:sp>
      <p:sp>
        <p:nvSpPr>
          <p:cNvPr id="25" name="Shape 20"/>
          <p:cNvSpPr/>
          <p:nvPr/>
        </p:nvSpPr>
        <p:spPr>
          <a:xfrm>
            <a:off x="548640" y="4526280"/>
            <a:ext cx="11091672" cy="1783080"/>
          </a:xfrm>
          <a:prstGeom prst="roundRect">
            <a:avLst>
              <a:gd name="adj" fmla="val 4615"/>
            </a:avLst>
          </a:prstGeom>
          <a:solidFill>
            <a:srgbClr val="1F2936"/>
          </a:solidFill>
          <a:ln/>
          <a:effectLst>
            <a:outerShdw sx="100000" sy="100000" kx="0" ky="0" algn="bl" rotWithShape="0" blurRad="127000" dist="25400" dir="5400000">
              <a:srgbClr val="8C99A8">
                <a:alpha val="16000"/>
              </a:srgbClr>
            </a:outerShdw>
          </a:effectLst>
        </p:spPr>
      </p:sp>
      <p:sp>
        <p:nvSpPr>
          <p:cNvPr id="26" name="Text 21"/>
          <p:cNvSpPr/>
          <p:nvPr/>
        </p:nvSpPr>
        <p:spPr>
          <a:xfrm>
            <a:off x="877824" y="4681728"/>
            <a:ext cx="5486400" cy="310896"/>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Make it proportional, not flat</a:t>
            </a:r>
            <a:endParaRPr lang="en-US" sz="1200" dirty="0"/>
          </a:p>
        </p:txBody>
      </p:sp>
      <p:sp>
        <p:nvSpPr>
          <p:cNvPr id="27" name="Text 22"/>
          <p:cNvSpPr/>
          <p:nvPr/>
        </p:nvSpPr>
        <p:spPr>
          <a:xfrm>
            <a:off x="877824" y="5029200"/>
            <a:ext cx="10424160" cy="1097280"/>
          </a:xfrm>
          <a:prstGeom prst="rect">
            <a:avLst/>
          </a:prstGeom>
          <a:noFill/>
          <a:ln/>
        </p:spPr>
        <p:txBody>
          <a:bodyPr wrap="square" lIns="0" tIns="0" rIns="0" bIns="0" rtlCol="0" anchor="t"/>
          <a:lstStyle/>
          <a:p>
            <a:pPr indent="0" marL="0">
              <a:lnSpc>
                <a:spcPts val="2100"/>
              </a:lnSpc>
              <a:buNone/>
            </a:pPr>
            <a:r>
              <a:rPr lang="en-US" sz="1400" dirty="0">
                <a:solidFill>
                  <a:srgbClr val="FFFFFF"/>
                </a:solidFill>
                <a:latin typeface="Calibri" pitchFamily="34" charset="0"/>
                <a:ea typeface="Calibri" pitchFamily="34" charset="-122"/>
                <a:cs typeface="Calibri" pitchFamily="34" charset="-120"/>
              </a:rPr>
              <a:t>Day 10 of a 30-day month should be near a third of budget. At 60%, that is the alert. </a:t>
            </a:r>
            <a:pPr indent="0" marL="0">
              <a:lnSpc>
                <a:spcPts val="2100"/>
              </a:lnSpc>
              <a:buNone/>
            </a:pPr>
            <a:r>
              <a:rPr lang="en-US" sz="1400" dirty="0">
                <a:solidFill>
                  <a:srgbClr val="9EABBA"/>
                </a:solidFill>
                <a:latin typeface="Calibri" pitchFamily="34" charset="0"/>
                <a:ea typeface="Calibri" pitchFamily="34" charset="-122"/>
                <a:cs typeface="Calibri" pitchFamily="34" charset="-120"/>
              </a:rPr>
              <a:t>A flat “80% of budget” threshold fires on day 24 of a healthy month and day 8 of a catastrophic one — with equal urgency, and therefore equal indifference.</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3 — RATE LIMITS &amp; QUOTAS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The only control fast enough to stop spend</a:t>
            </a:r>
            <a:endParaRPr lang="en-US" sz="3100" dirty="0"/>
          </a:p>
        </p:txBody>
      </p:sp>
      <p:sp>
        <p:nvSpPr>
          <p:cNvPr id="4" name="Shape 2"/>
          <p:cNvSpPr/>
          <p:nvPr/>
        </p:nvSpPr>
        <p:spPr>
          <a:xfrm>
            <a:off x="548640" y="1737360"/>
            <a:ext cx="5074920" cy="2395728"/>
          </a:xfrm>
          <a:prstGeom prst="roundRect">
            <a:avLst>
              <a:gd name="adj" fmla="val 3435"/>
            </a:avLst>
          </a:prstGeom>
          <a:solidFill>
            <a:srgbClr val="F1F3F6"/>
          </a:solidFill>
          <a:ln/>
        </p:spPr>
      </p:sp>
      <p:sp>
        <p:nvSpPr>
          <p:cNvPr id="5" name="Text 3"/>
          <p:cNvSpPr/>
          <p:nvPr/>
        </p:nvSpPr>
        <p:spPr>
          <a:xfrm>
            <a:off x="859536" y="1883664"/>
            <a:ext cx="4389120" cy="310896"/>
          </a:xfrm>
          <a:prstGeom prst="rect">
            <a:avLst/>
          </a:prstGeom>
          <a:noFill/>
          <a:ln/>
        </p:spPr>
        <p:txBody>
          <a:bodyPr wrap="square" lIns="0" tIns="0" rIns="0" bIns="0" rtlCol="0" anchor="ctr"/>
          <a:lstStyle/>
          <a:p>
            <a:pPr indent="0" marL="0">
              <a:buNone/>
            </a:pPr>
            <a:r>
              <a:rPr lang="en-US" sz="1200" b="1" spc="180" kern="0" dirty="0">
                <a:solidFill>
                  <a:srgbClr val="5C6675"/>
                </a:solidFill>
                <a:latin typeface="Calibri" pitchFamily="34" charset="0"/>
                <a:ea typeface="Calibri" pitchFamily="34" charset="-122"/>
                <a:cs typeface="Calibri" pitchFamily="34" charset="-120"/>
              </a:rPr>
              <a:t>How fast each signal moves</a:t>
            </a:r>
            <a:endParaRPr lang="en-US" sz="1200" dirty="0"/>
          </a:p>
        </p:txBody>
      </p:sp>
      <p:sp>
        <p:nvSpPr>
          <p:cNvPr id="6" name="Text 4"/>
          <p:cNvSpPr/>
          <p:nvPr/>
        </p:nvSpPr>
        <p:spPr>
          <a:xfrm>
            <a:off x="859536" y="2304288"/>
            <a:ext cx="1828800" cy="310896"/>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Billing data</a:t>
            </a:r>
            <a:endParaRPr lang="en-US" sz="1250" dirty="0"/>
          </a:p>
        </p:txBody>
      </p:sp>
      <p:sp>
        <p:nvSpPr>
          <p:cNvPr id="7" name="Shape 5"/>
          <p:cNvSpPr/>
          <p:nvPr/>
        </p:nvSpPr>
        <p:spPr>
          <a:xfrm>
            <a:off x="2761488" y="2395728"/>
            <a:ext cx="2651760" cy="146304"/>
          </a:xfrm>
          <a:prstGeom prst="roundRect">
            <a:avLst>
              <a:gd name="adj" fmla="val 50000"/>
            </a:avLst>
          </a:prstGeom>
          <a:solidFill>
            <a:srgbClr val="C3CBD5"/>
          </a:solidFill>
          <a:ln/>
        </p:spPr>
      </p:sp>
      <p:sp>
        <p:nvSpPr>
          <p:cNvPr id="8" name="Text 6"/>
          <p:cNvSpPr/>
          <p:nvPr/>
        </p:nvSpPr>
        <p:spPr>
          <a:xfrm>
            <a:off x="859536" y="2578608"/>
            <a:ext cx="4389120" cy="274320"/>
          </a:xfrm>
          <a:prstGeom prst="rect">
            <a:avLst/>
          </a:prstGeom>
          <a:noFill/>
          <a:ln/>
        </p:spPr>
        <p:txBody>
          <a:bodyPr wrap="square" lIns="0" tIns="0" rIns="0" bIns="0" rtlCol="0" anchor="ctr"/>
          <a:lstStyle/>
          <a:p>
            <a:pPr indent="0" marL="0">
              <a:buNone/>
            </a:pPr>
            <a:r>
              <a:rPr lang="en-US" sz="1150" b="1" dirty="0">
                <a:solidFill>
                  <a:srgbClr val="5C6675"/>
                </a:solidFill>
                <a:latin typeface="Calibri" pitchFamily="34" charset="0"/>
                <a:ea typeface="Calibri" pitchFamily="34" charset="-122"/>
                <a:cs typeface="Calibri" pitchFamily="34" charset="-120"/>
              </a:rPr>
              <a:t>24–48h behind</a:t>
            </a:r>
            <a:endParaRPr lang="en-US" sz="1150" dirty="0"/>
          </a:p>
        </p:txBody>
      </p:sp>
      <p:sp>
        <p:nvSpPr>
          <p:cNvPr id="9" name="Text 7"/>
          <p:cNvSpPr/>
          <p:nvPr/>
        </p:nvSpPr>
        <p:spPr>
          <a:xfrm>
            <a:off x="859536" y="2907792"/>
            <a:ext cx="1828800" cy="310896"/>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Utilization metrics</a:t>
            </a:r>
            <a:endParaRPr lang="en-US" sz="1250" dirty="0"/>
          </a:p>
        </p:txBody>
      </p:sp>
      <p:sp>
        <p:nvSpPr>
          <p:cNvPr id="10" name="Shape 8"/>
          <p:cNvSpPr/>
          <p:nvPr/>
        </p:nvSpPr>
        <p:spPr>
          <a:xfrm>
            <a:off x="2761488" y="2999232"/>
            <a:ext cx="749808" cy="146304"/>
          </a:xfrm>
          <a:prstGeom prst="roundRect">
            <a:avLst>
              <a:gd name="adj" fmla="val 50000"/>
            </a:avLst>
          </a:prstGeom>
          <a:solidFill>
            <a:srgbClr val="E39B2C"/>
          </a:solidFill>
          <a:ln/>
        </p:spPr>
      </p:sp>
      <p:sp>
        <p:nvSpPr>
          <p:cNvPr id="11" name="Text 9"/>
          <p:cNvSpPr/>
          <p:nvPr/>
        </p:nvSpPr>
        <p:spPr>
          <a:xfrm>
            <a:off x="859536" y="3182112"/>
            <a:ext cx="4389120" cy="274320"/>
          </a:xfrm>
          <a:prstGeom prst="rect">
            <a:avLst/>
          </a:prstGeom>
          <a:noFill/>
          <a:ln/>
        </p:spPr>
        <p:txBody>
          <a:bodyPr wrap="square" lIns="0" tIns="0" rIns="0" bIns="0" rtlCol="0" anchor="ctr"/>
          <a:lstStyle/>
          <a:p>
            <a:pPr indent="0" marL="0">
              <a:buNone/>
            </a:pPr>
            <a:r>
              <a:rPr lang="en-US" sz="1150" b="1" dirty="0">
                <a:solidFill>
                  <a:srgbClr val="5C6675"/>
                </a:solidFill>
                <a:latin typeface="Calibri" pitchFamily="34" charset="0"/>
                <a:ea typeface="Calibri" pitchFamily="34" charset="-122"/>
                <a:cs typeface="Calibri" pitchFamily="34" charset="-120"/>
              </a:rPr>
              <a:t>~5 minutes</a:t>
            </a:r>
            <a:endParaRPr lang="en-US" sz="1150" dirty="0"/>
          </a:p>
        </p:txBody>
      </p:sp>
      <p:sp>
        <p:nvSpPr>
          <p:cNvPr id="12" name="Text 10"/>
          <p:cNvSpPr/>
          <p:nvPr/>
        </p:nvSpPr>
        <p:spPr>
          <a:xfrm>
            <a:off x="859536" y="3511296"/>
            <a:ext cx="1828800" cy="310896"/>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Application telemetry</a:t>
            </a:r>
            <a:endParaRPr lang="en-US" sz="1250" dirty="0"/>
          </a:p>
        </p:txBody>
      </p:sp>
      <p:sp>
        <p:nvSpPr>
          <p:cNvPr id="13" name="Shape 11"/>
          <p:cNvSpPr/>
          <p:nvPr/>
        </p:nvSpPr>
        <p:spPr>
          <a:xfrm>
            <a:off x="2761488" y="3602736"/>
            <a:ext cx="274320" cy="146304"/>
          </a:xfrm>
          <a:prstGeom prst="roundRect">
            <a:avLst>
              <a:gd name="adj" fmla="val 50000"/>
            </a:avLst>
          </a:prstGeom>
          <a:solidFill>
            <a:srgbClr val="2E8B7A"/>
          </a:solidFill>
          <a:ln/>
        </p:spPr>
      </p:sp>
      <p:sp>
        <p:nvSpPr>
          <p:cNvPr id="14" name="Text 12"/>
          <p:cNvSpPr/>
          <p:nvPr/>
        </p:nvSpPr>
        <p:spPr>
          <a:xfrm>
            <a:off x="859536" y="3785616"/>
            <a:ext cx="4389120" cy="274320"/>
          </a:xfrm>
          <a:prstGeom prst="rect">
            <a:avLst/>
          </a:prstGeom>
          <a:noFill/>
          <a:ln/>
        </p:spPr>
        <p:txBody>
          <a:bodyPr wrap="square" lIns="0" tIns="0" rIns="0" bIns="0" rtlCol="0" anchor="ctr"/>
          <a:lstStyle/>
          <a:p>
            <a:pPr indent="0" marL="0">
              <a:buNone/>
            </a:pPr>
            <a:r>
              <a:rPr lang="en-US" sz="1150" b="1" dirty="0">
                <a:solidFill>
                  <a:srgbClr val="5C6675"/>
                </a:solidFill>
                <a:latin typeface="Calibri" pitchFamily="34" charset="0"/>
                <a:ea typeface="Calibri" pitchFamily="34" charset="-122"/>
                <a:cs typeface="Calibri" pitchFamily="34" charset="-120"/>
              </a:rPr>
              <a:t>seconds</a:t>
            </a:r>
            <a:endParaRPr lang="en-US" sz="1150" dirty="0"/>
          </a:p>
        </p:txBody>
      </p:sp>
      <p:sp>
        <p:nvSpPr>
          <p:cNvPr id="15" name="Shape 13"/>
          <p:cNvSpPr/>
          <p:nvPr/>
        </p:nvSpPr>
        <p:spPr>
          <a:xfrm>
            <a:off x="5971032" y="1737360"/>
            <a:ext cx="5669280" cy="2395728"/>
          </a:xfrm>
          <a:prstGeom prst="roundRect">
            <a:avLst>
              <a:gd name="adj" fmla="val 3435"/>
            </a:avLst>
          </a:prstGeom>
          <a:solidFill>
            <a:srgbClr val="1F2936"/>
          </a:solidFill>
          <a:ln/>
          <a:effectLst>
            <a:outerShdw sx="100000" sy="100000" kx="0" ky="0" algn="bl" rotWithShape="0" blurRad="127000" dist="25400" dir="5400000">
              <a:srgbClr val="8C99A8">
                <a:alpha val="16000"/>
              </a:srgbClr>
            </a:outerShdw>
          </a:effectLst>
        </p:spPr>
      </p:sp>
      <p:sp>
        <p:nvSpPr>
          <p:cNvPr id="16" name="Text 14"/>
          <p:cNvSpPr/>
          <p:nvPr/>
        </p:nvSpPr>
        <p:spPr>
          <a:xfrm>
            <a:off x="6263640" y="1847088"/>
            <a:ext cx="5084064" cy="2176272"/>
          </a:xfrm>
          <a:prstGeom prst="rect">
            <a:avLst/>
          </a:prstGeom>
          <a:noFill/>
          <a:ln/>
        </p:spPr>
        <p:txBody>
          <a:bodyPr wrap="square" lIns="0" tIns="0" rIns="0" bIns="0" rtlCol="0" anchor="ctr"/>
          <a:lstStyle/>
          <a:p>
            <a:pPr indent="0" marL="0">
              <a:lnSpc>
                <a:spcPts val="2000"/>
              </a:lnSpc>
              <a:buNone/>
            </a:pPr>
            <a:r>
              <a:rPr lang="en-US" sz="1500" i="1" dirty="0">
                <a:solidFill>
                  <a:srgbClr val="FFFFFF"/>
                </a:solidFill>
                <a:latin typeface="Cambria" pitchFamily="34" charset="0"/>
                <a:ea typeface="Cambria" pitchFamily="34" charset="-122"/>
                <a:cs typeface="Cambria" pitchFamily="34" charset="-120"/>
              </a:rPr>
              <a:t>“A cost alert cannot save you from a runaway job. By the time actual cost moves, you have already spent the money.”</a:t>
            </a:r>
            <a:endParaRPr lang="en-US" sz="1500" dirty="0"/>
          </a:p>
        </p:txBody>
      </p:sp>
      <p:sp>
        <p:nvSpPr>
          <p:cNvPr id="17" name="Shape 15"/>
          <p:cNvSpPr/>
          <p:nvPr/>
        </p:nvSpPr>
        <p:spPr>
          <a:xfrm>
            <a:off x="548640" y="4617720"/>
            <a:ext cx="457200" cy="457200"/>
          </a:xfrm>
          <a:prstGeom prst="ellipse">
            <a:avLst/>
          </a:prstGeom>
          <a:solidFill>
            <a:srgbClr val="FBEFD8"/>
          </a:solidFill>
          <a:ln/>
        </p:spPr>
      </p:sp>
      <p:pic>
        <p:nvPicPr>
          <p:cNvPr id="18" name="Image 0" descr="preencoded.png">    </p:cNvPr>
          <p:cNvPicPr>
            <a:picLocks noChangeAspect="1"/>
          </p:cNvPicPr>
          <p:nvPr/>
        </p:nvPicPr>
        <p:blipFill>
          <a:blip r:embed="rId1"/>
          <a:stretch>
            <a:fillRect/>
          </a:stretch>
        </p:blipFill>
        <p:spPr>
          <a:xfrm>
            <a:off x="662940" y="4732020"/>
            <a:ext cx="228600" cy="228600"/>
          </a:xfrm>
          <a:prstGeom prst="rect">
            <a:avLst/>
          </a:prstGeom>
        </p:spPr>
      </p:pic>
      <p:sp>
        <p:nvSpPr>
          <p:cNvPr id="19" name="Text 16"/>
          <p:cNvSpPr/>
          <p:nvPr/>
        </p:nvSpPr>
        <p:spPr>
          <a:xfrm>
            <a:off x="1261872" y="4389120"/>
            <a:ext cx="4681728" cy="91440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Per-deployment quotas</a:t>
            </a:r>
            <a:endParaRPr lang="en-US" sz="1400" dirty="0"/>
          </a:p>
          <a:p>
            <a:pPr indent="0" marL="0">
              <a:lnSpc>
                <a:spcPts val="1600"/>
              </a:lnSpc>
              <a:buNone/>
            </a:pPr>
            <a:r>
              <a:rPr lang="en-US" sz="1200" dirty="0">
                <a:solidFill>
                  <a:srgbClr val="5C6675"/>
                </a:solidFill>
                <a:latin typeface="Calibri" pitchFamily="34" charset="0"/>
                <a:ea typeface="Calibri" pitchFamily="34" charset="-122"/>
                <a:cs typeface="Calibri" pitchFamily="34" charset="-120"/>
              </a:rPr>
              <a:t>Cap tokens or requests per minute on each deployment.</a:t>
            </a:r>
            <a:endParaRPr lang="en-US" sz="1400" dirty="0"/>
          </a:p>
        </p:txBody>
      </p:sp>
      <p:sp>
        <p:nvSpPr>
          <p:cNvPr id="20" name="Shape 17"/>
          <p:cNvSpPr/>
          <p:nvPr/>
        </p:nvSpPr>
        <p:spPr>
          <a:xfrm>
            <a:off x="6245352" y="4617720"/>
            <a:ext cx="457200" cy="457200"/>
          </a:xfrm>
          <a:prstGeom prst="ellipse">
            <a:avLst/>
          </a:prstGeom>
          <a:solidFill>
            <a:srgbClr val="FBEFD8"/>
          </a:solidFill>
          <a:ln/>
        </p:spPr>
      </p:sp>
      <p:pic>
        <p:nvPicPr>
          <p:cNvPr id="21" name="Image 1" descr="preencoded.png">    </p:cNvPr>
          <p:cNvPicPr>
            <a:picLocks noChangeAspect="1"/>
          </p:cNvPicPr>
          <p:nvPr/>
        </p:nvPicPr>
        <p:blipFill>
          <a:blip r:embed="rId2"/>
          <a:stretch>
            <a:fillRect/>
          </a:stretch>
        </p:blipFill>
        <p:spPr>
          <a:xfrm>
            <a:off x="6359652" y="4732020"/>
            <a:ext cx="228600" cy="228600"/>
          </a:xfrm>
          <a:prstGeom prst="rect">
            <a:avLst/>
          </a:prstGeom>
        </p:spPr>
      </p:pic>
      <p:sp>
        <p:nvSpPr>
          <p:cNvPr id="22" name="Text 18"/>
          <p:cNvSpPr/>
          <p:nvPr/>
        </p:nvSpPr>
        <p:spPr>
          <a:xfrm>
            <a:off x="6958584" y="4389120"/>
            <a:ext cx="4681728" cy="91440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Gateway throttling</a:t>
            </a:r>
            <a:endParaRPr lang="en-US" sz="1400" dirty="0"/>
          </a:p>
          <a:p>
            <a:pPr indent="0" marL="0">
              <a:lnSpc>
                <a:spcPts val="1600"/>
              </a:lnSpc>
              <a:buNone/>
            </a:pPr>
            <a:r>
              <a:rPr lang="en-US" sz="1200" dirty="0">
                <a:solidFill>
                  <a:srgbClr val="5C6675"/>
                </a:solidFill>
                <a:latin typeface="Calibri" pitchFamily="34" charset="0"/>
                <a:ea typeface="Calibri" pitchFamily="34" charset="-122"/>
                <a:cs typeface="Calibri" pitchFamily="34" charset="-120"/>
              </a:rPr>
              <a:t>Rate-limit per consumer key, so one client cannot drain the shared pool.</a:t>
            </a:r>
            <a:endParaRPr lang="en-US" sz="1400" dirty="0"/>
          </a:p>
        </p:txBody>
      </p:sp>
      <p:sp>
        <p:nvSpPr>
          <p:cNvPr id="23" name="Shape 19"/>
          <p:cNvSpPr/>
          <p:nvPr/>
        </p:nvSpPr>
        <p:spPr>
          <a:xfrm>
            <a:off x="548640" y="5715000"/>
            <a:ext cx="457200" cy="457200"/>
          </a:xfrm>
          <a:prstGeom prst="ellipse">
            <a:avLst/>
          </a:prstGeom>
          <a:solidFill>
            <a:srgbClr val="FBEFD8"/>
          </a:solidFill>
          <a:ln/>
        </p:spPr>
      </p:sp>
      <p:pic>
        <p:nvPicPr>
          <p:cNvPr id="24" name="Image 2" descr="preencoded.png">    </p:cNvPr>
          <p:cNvPicPr>
            <a:picLocks noChangeAspect="1"/>
          </p:cNvPicPr>
          <p:nvPr/>
        </p:nvPicPr>
        <p:blipFill>
          <a:blip r:embed="rId3"/>
          <a:stretch>
            <a:fillRect/>
          </a:stretch>
        </p:blipFill>
        <p:spPr>
          <a:xfrm>
            <a:off x="662940" y="5829300"/>
            <a:ext cx="228600" cy="228600"/>
          </a:xfrm>
          <a:prstGeom prst="rect">
            <a:avLst/>
          </a:prstGeom>
        </p:spPr>
      </p:pic>
      <p:sp>
        <p:nvSpPr>
          <p:cNvPr id="25" name="Text 20"/>
          <p:cNvSpPr/>
          <p:nvPr/>
        </p:nvSpPr>
        <p:spPr>
          <a:xfrm>
            <a:off x="1261872" y="5486400"/>
            <a:ext cx="4681728" cy="91440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Autoscale ceilings</a:t>
            </a:r>
            <a:endParaRPr lang="en-US" sz="1400" dirty="0"/>
          </a:p>
          <a:p>
            <a:pPr indent="0" marL="0">
              <a:lnSpc>
                <a:spcPts val="1600"/>
              </a:lnSpc>
              <a:buNone/>
            </a:pPr>
            <a:r>
              <a:rPr lang="en-US" sz="1200" dirty="0">
                <a:solidFill>
                  <a:srgbClr val="5C6675"/>
                </a:solidFill>
                <a:latin typeface="Calibri" pitchFamily="34" charset="0"/>
                <a:ea typeface="Calibri" pitchFamily="34" charset="-122"/>
                <a:cs typeface="Calibri" pitchFamily="34" charset="-120"/>
              </a:rPr>
              <a:t>A maximum instance count on every scale set. Scaling is not a budget.</a:t>
            </a:r>
            <a:endParaRPr lang="en-US" sz="1400" dirty="0"/>
          </a:p>
        </p:txBody>
      </p:sp>
      <p:sp>
        <p:nvSpPr>
          <p:cNvPr id="26" name="Shape 21"/>
          <p:cNvSpPr/>
          <p:nvPr/>
        </p:nvSpPr>
        <p:spPr>
          <a:xfrm>
            <a:off x="6245352" y="5715000"/>
            <a:ext cx="457200" cy="457200"/>
          </a:xfrm>
          <a:prstGeom prst="ellipse">
            <a:avLst/>
          </a:prstGeom>
          <a:solidFill>
            <a:srgbClr val="FBEFD8"/>
          </a:solidFill>
          <a:ln/>
        </p:spPr>
      </p:sp>
      <p:pic>
        <p:nvPicPr>
          <p:cNvPr id="27" name="Image 3" descr="preencoded.png">    </p:cNvPr>
          <p:cNvPicPr>
            <a:picLocks noChangeAspect="1"/>
          </p:cNvPicPr>
          <p:nvPr/>
        </p:nvPicPr>
        <p:blipFill>
          <a:blip r:embed="rId4"/>
          <a:stretch>
            <a:fillRect/>
          </a:stretch>
        </p:blipFill>
        <p:spPr>
          <a:xfrm>
            <a:off x="6359652" y="5829300"/>
            <a:ext cx="228600" cy="228600"/>
          </a:xfrm>
          <a:prstGeom prst="rect">
            <a:avLst/>
          </a:prstGeom>
        </p:spPr>
      </p:pic>
      <p:sp>
        <p:nvSpPr>
          <p:cNvPr id="28" name="Text 22"/>
          <p:cNvSpPr/>
          <p:nvPr/>
        </p:nvSpPr>
        <p:spPr>
          <a:xfrm>
            <a:off x="6958584" y="5486400"/>
            <a:ext cx="4681728" cy="91440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Non-prod shutdown</a:t>
            </a:r>
            <a:endParaRPr lang="en-US" sz="1400" dirty="0"/>
          </a:p>
          <a:p>
            <a:pPr indent="0" marL="0">
              <a:lnSpc>
                <a:spcPts val="1600"/>
              </a:lnSpc>
              <a:buNone/>
            </a:pPr>
            <a:r>
              <a:rPr lang="en-US" sz="1200" dirty="0">
                <a:solidFill>
                  <a:srgbClr val="5C6675"/>
                </a:solidFill>
                <a:latin typeface="Calibri" pitchFamily="34" charset="0"/>
                <a:ea typeface="Calibri" pitchFamily="34" charset="-122"/>
                <a:cs typeface="Calibri" pitchFamily="34" charset="-120"/>
              </a:rPr>
              <a:t>Scheduled stop outside working hours — the cheapest saving available.</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4 — AUTOMATED ALERTS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Three tiers, three destinations</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9EABBA"/>
                </a:solidFill>
                <a:latin typeface="Calibri" pitchFamily="34" charset="0"/>
                <a:ea typeface="Calibri" pitchFamily="34" charset="-122"/>
                <a:cs typeface="Calibri" pitchFamily="34" charset="-120"/>
              </a:rPr>
              <a:t>Sort alerts by what they can actually prevent — then route them accordingly.</a:t>
            </a:r>
            <a:endParaRPr lang="en-US" sz="1500" dirty="0"/>
          </a:p>
        </p:txBody>
      </p:sp>
      <p:sp>
        <p:nvSpPr>
          <p:cNvPr id="5" name="Text 3"/>
          <p:cNvSpPr/>
          <p:nvPr/>
        </p:nvSpPr>
        <p:spPr>
          <a:xfrm>
            <a:off x="859536" y="2103120"/>
            <a:ext cx="2194560" cy="274320"/>
          </a:xfrm>
          <a:prstGeom prst="rect">
            <a:avLst/>
          </a:prstGeom>
          <a:noFill/>
          <a:ln/>
        </p:spPr>
        <p:txBody>
          <a:bodyPr wrap="square" lIns="0" tIns="0" rIns="0" bIns="0" rtlCol="0" anchor="ctr"/>
          <a:lstStyle/>
          <a:p>
            <a:pPr indent="0" marL="0">
              <a:buNone/>
            </a:pPr>
            <a:r>
              <a:rPr lang="en-US" sz="1100" b="1" spc="160" kern="0" dirty="0">
                <a:solidFill>
                  <a:srgbClr val="E39B2C"/>
                </a:solidFill>
                <a:latin typeface="Calibri" pitchFamily="34" charset="0"/>
                <a:ea typeface="Calibri" pitchFamily="34" charset="-122"/>
                <a:cs typeface="Calibri" pitchFamily="34" charset="-120"/>
              </a:rPr>
              <a:t>Tier</a:t>
            </a:r>
            <a:endParaRPr lang="en-US" sz="1100" dirty="0"/>
          </a:p>
        </p:txBody>
      </p:sp>
      <p:sp>
        <p:nvSpPr>
          <p:cNvPr id="6" name="Text 4"/>
          <p:cNvSpPr/>
          <p:nvPr/>
        </p:nvSpPr>
        <p:spPr>
          <a:xfrm>
            <a:off x="3200400" y="2103120"/>
            <a:ext cx="2926080" cy="274320"/>
          </a:xfrm>
          <a:prstGeom prst="rect">
            <a:avLst/>
          </a:prstGeom>
          <a:noFill/>
          <a:ln/>
        </p:spPr>
        <p:txBody>
          <a:bodyPr wrap="square" lIns="0" tIns="0" rIns="0" bIns="0" rtlCol="0" anchor="ctr"/>
          <a:lstStyle/>
          <a:p>
            <a:pPr indent="0" marL="0">
              <a:buNone/>
            </a:pPr>
            <a:r>
              <a:rPr lang="en-US" sz="1100" b="1" spc="160" kern="0" dirty="0">
                <a:solidFill>
                  <a:srgbClr val="E39B2C"/>
                </a:solidFill>
                <a:latin typeface="Calibri" pitchFamily="34" charset="0"/>
                <a:ea typeface="Calibri" pitchFamily="34" charset="-122"/>
                <a:cs typeface="Calibri" pitchFamily="34" charset="-120"/>
              </a:rPr>
              <a:t>Built on</a:t>
            </a:r>
            <a:endParaRPr lang="en-US" sz="1100" dirty="0"/>
          </a:p>
        </p:txBody>
      </p:sp>
      <p:sp>
        <p:nvSpPr>
          <p:cNvPr id="7" name="Text 5"/>
          <p:cNvSpPr/>
          <p:nvPr/>
        </p:nvSpPr>
        <p:spPr>
          <a:xfrm>
            <a:off x="6309360" y="2103120"/>
            <a:ext cx="1737360" cy="274320"/>
          </a:xfrm>
          <a:prstGeom prst="rect">
            <a:avLst/>
          </a:prstGeom>
          <a:noFill/>
          <a:ln/>
        </p:spPr>
        <p:txBody>
          <a:bodyPr wrap="square" lIns="0" tIns="0" rIns="0" bIns="0" rtlCol="0" anchor="ctr"/>
          <a:lstStyle/>
          <a:p>
            <a:pPr indent="0" marL="0">
              <a:buNone/>
            </a:pPr>
            <a:r>
              <a:rPr lang="en-US" sz="1100" b="1" spc="160" kern="0" dirty="0">
                <a:solidFill>
                  <a:srgbClr val="E39B2C"/>
                </a:solidFill>
                <a:latin typeface="Calibri" pitchFamily="34" charset="0"/>
                <a:ea typeface="Calibri" pitchFamily="34" charset="-122"/>
                <a:cs typeface="Calibri" pitchFamily="34" charset="-120"/>
              </a:rPr>
              <a:t>Latency</a:t>
            </a:r>
            <a:endParaRPr lang="en-US" sz="1100" dirty="0"/>
          </a:p>
        </p:txBody>
      </p:sp>
      <p:sp>
        <p:nvSpPr>
          <p:cNvPr id="8" name="Text 6"/>
          <p:cNvSpPr/>
          <p:nvPr/>
        </p:nvSpPr>
        <p:spPr>
          <a:xfrm>
            <a:off x="8229600" y="2103120"/>
            <a:ext cx="3017520" cy="274320"/>
          </a:xfrm>
          <a:prstGeom prst="rect">
            <a:avLst/>
          </a:prstGeom>
          <a:noFill/>
          <a:ln/>
        </p:spPr>
        <p:txBody>
          <a:bodyPr wrap="square" lIns="0" tIns="0" rIns="0" bIns="0" rtlCol="0" anchor="ctr"/>
          <a:lstStyle/>
          <a:p>
            <a:pPr indent="0" marL="0">
              <a:buNone/>
            </a:pPr>
            <a:r>
              <a:rPr lang="en-US" sz="1100" b="1" spc="160" kern="0" dirty="0">
                <a:solidFill>
                  <a:srgbClr val="E39B2C"/>
                </a:solidFill>
                <a:latin typeface="Calibri" pitchFamily="34" charset="0"/>
                <a:ea typeface="Calibri" pitchFamily="34" charset="-122"/>
                <a:cs typeface="Calibri" pitchFamily="34" charset="-120"/>
              </a:rPr>
              <a:t>Routes to</a:t>
            </a:r>
            <a:endParaRPr lang="en-US" sz="1100" dirty="0"/>
          </a:p>
        </p:txBody>
      </p:sp>
      <p:sp>
        <p:nvSpPr>
          <p:cNvPr id="9" name="Shape 7"/>
          <p:cNvSpPr/>
          <p:nvPr/>
        </p:nvSpPr>
        <p:spPr>
          <a:xfrm>
            <a:off x="548640" y="2487168"/>
            <a:ext cx="11091672" cy="841248"/>
          </a:xfrm>
          <a:prstGeom prst="roundRect">
            <a:avLst>
              <a:gd name="adj" fmla="val 9783"/>
            </a:avLst>
          </a:prstGeom>
          <a:solidFill>
            <a:srgbClr val="1F2936"/>
          </a:solidFill>
          <a:ln/>
        </p:spPr>
      </p:sp>
      <p:sp>
        <p:nvSpPr>
          <p:cNvPr id="10" name="Text 8"/>
          <p:cNvSpPr/>
          <p:nvPr/>
        </p:nvSpPr>
        <p:spPr>
          <a:xfrm>
            <a:off x="859536" y="2487168"/>
            <a:ext cx="2194560" cy="841248"/>
          </a:xfrm>
          <a:prstGeom prst="rect">
            <a:avLst/>
          </a:prstGeom>
          <a:noFill/>
          <a:ln/>
        </p:spPr>
        <p:txBody>
          <a:bodyPr wrap="square" lIns="0" tIns="0" rIns="0" bIns="0" rtlCol="0" anchor="ctr"/>
          <a:lstStyle/>
          <a:p>
            <a:pPr indent="0" marL="0">
              <a:buNone/>
            </a:pPr>
            <a:r>
              <a:rPr lang="en-US" sz="1800" b="1" dirty="0">
                <a:solidFill>
                  <a:srgbClr val="E39B2C"/>
                </a:solidFill>
                <a:latin typeface="Cambria" pitchFamily="34" charset="0"/>
                <a:ea typeface="Cambria" pitchFamily="34" charset="-122"/>
                <a:cs typeface="Cambria" pitchFamily="34" charset="-120"/>
              </a:rPr>
              <a:t>Protective</a:t>
            </a:r>
            <a:endParaRPr lang="en-US" sz="1800" dirty="0"/>
          </a:p>
        </p:txBody>
      </p:sp>
      <p:sp>
        <p:nvSpPr>
          <p:cNvPr id="11" name="Text 9"/>
          <p:cNvSpPr/>
          <p:nvPr/>
        </p:nvSpPr>
        <p:spPr>
          <a:xfrm>
            <a:off x="3200400" y="2487168"/>
            <a:ext cx="2926080" cy="84124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Tokens, utilization, error rates</a:t>
            </a:r>
            <a:endParaRPr lang="en-US" sz="1300" dirty="0"/>
          </a:p>
        </p:txBody>
      </p:sp>
      <p:sp>
        <p:nvSpPr>
          <p:cNvPr id="12" name="Text 10"/>
          <p:cNvSpPr/>
          <p:nvPr/>
        </p:nvSpPr>
        <p:spPr>
          <a:xfrm>
            <a:off x="6309360" y="2487168"/>
            <a:ext cx="1737360" cy="841248"/>
          </a:xfrm>
          <a:prstGeom prst="rect">
            <a:avLst/>
          </a:prstGeom>
          <a:noFill/>
          <a:ln/>
        </p:spPr>
        <p:txBody>
          <a:bodyPr wrap="square" lIns="0" tIns="0" rIns="0" bIns="0" rtlCol="0" anchor="ctr"/>
          <a:lstStyle/>
          <a:p>
            <a:pPr indent="0" marL="0">
              <a:buNone/>
            </a:pPr>
            <a:r>
              <a:rPr lang="en-US" sz="1300" b="1" dirty="0">
                <a:solidFill>
                  <a:srgbClr val="9EABBA"/>
                </a:solidFill>
                <a:latin typeface="Calibri" pitchFamily="34" charset="0"/>
                <a:ea typeface="Calibri" pitchFamily="34" charset="-122"/>
                <a:cs typeface="Calibri" pitchFamily="34" charset="-120"/>
              </a:rPr>
              <a:t>minutes</a:t>
            </a:r>
            <a:endParaRPr lang="en-US" sz="1300" dirty="0"/>
          </a:p>
        </p:txBody>
      </p:sp>
      <p:sp>
        <p:nvSpPr>
          <p:cNvPr id="13" name="Text 11"/>
          <p:cNvSpPr/>
          <p:nvPr/>
        </p:nvSpPr>
        <p:spPr>
          <a:xfrm>
            <a:off x="8229600" y="2487168"/>
            <a:ext cx="3017520" cy="841248"/>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On-call — page it</a:t>
            </a:r>
            <a:endParaRPr lang="en-US" sz="1300" dirty="0"/>
          </a:p>
        </p:txBody>
      </p:sp>
      <p:sp>
        <p:nvSpPr>
          <p:cNvPr id="14" name="Shape 12"/>
          <p:cNvSpPr/>
          <p:nvPr/>
        </p:nvSpPr>
        <p:spPr>
          <a:xfrm>
            <a:off x="548640" y="3419856"/>
            <a:ext cx="11091672" cy="841248"/>
          </a:xfrm>
          <a:prstGeom prst="roundRect">
            <a:avLst>
              <a:gd name="adj" fmla="val 9783"/>
            </a:avLst>
          </a:prstGeom>
          <a:solidFill>
            <a:srgbClr val="1F2936"/>
          </a:solidFill>
          <a:ln/>
        </p:spPr>
      </p:sp>
      <p:sp>
        <p:nvSpPr>
          <p:cNvPr id="15" name="Text 13"/>
          <p:cNvSpPr/>
          <p:nvPr/>
        </p:nvSpPr>
        <p:spPr>
          <a:xfrm>
            <a:off x="859536" y="3419856"/>
            <a:ext cx="2194560" cy="841248"/>
          </a:xfrm>
          <a:prstGeom prst="rect">
            <a:avLst/>
          </a:prstGeom>
          <a:noFill/>
          <a:ln/>
        </p:spPr>
        <p:txBody>
          <a:bodyPr wrap="square" lIns="0" tIns="0" rIns="0" bIns="0" rtlCol="0" anchor="ctr"/>
          <a:lstStyle/>
          <a:p>
            <a:pPr indent="0" marL="0">
              <a:buNone/>
            </a:pPr>
            <a:r>
              <a:rPr lang="en-US" sz="1800" b="1" dirty="0">
                <a:solidFill>
                  <a:srgbClr val="2E8B7A"/>
                </a:solidFill>
                <a:latin typeface="Cambria" pitchFamily="34" charset="0"/>
                <a:ea typeface="Cambria" pitchFamily="34" charset="-122"/>
                <a:cs typeface="Cambria" pitchFamily="34" charset="-120"/>
              </a:rPr>
              <a:t>Budget</a:t>
            </a:r>
            <a:endParaRPr lang="en-US" sz="1800" dirty="0"/>
          </a:p>
        </p:txBody>
      </p:sp>
      <p:sp>
        <p:nvSpPr>
          <p:cNvPr id="16" name="Text 14"/>
          <p:cNvSpPr/>
          <p:nvPr/>
        </p:nvSpPr>
        <p:spPr>
          <a:xfrm>
            <a:off x="3200400" y="3419856"/>
            <a:ext cx="2926080" cy="84124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Billing data</a:t>
            </a:r>
            <a:endParaRPr lang="en-US" sz="1300" dirty="0"/>
          </a:p>
        </p:txBody>
      </p:sp>
      <p:sp>
        <p:nvSpPr>
          <p:cNvPr id="17" name="Text 15"/>
          <p:cNvSpPr/>
          <p:nvPr/>
        </p:nvSpPr>
        <p:spPr>
          <a:xfrm>
            <a:off x="6309360" y="3419856"/>
            <a:ext cx="1737360" cy="841248"/>
          </a:xfrm>
          <a:prstGeom prst="rect">
            <a:avLst/>
          </a:prstGeom>
          <a:noFill/>
          <a:ln/>
        </p:spPr>
        <p:txBody>
          <a:bodyPr wrap="square" lIns="0" tIns="0" rIns="0" bIns="0" rtlCol="0" anchor="ctr"/>
          <a:lstStyle/>
          <a:p>
            <a:pPr indent="0" marL="0">
              <a:buNone/>
            </a:pPr>
            <a:r>
              <a:rPr lang="en-US" sz="1300" b="1" dirty="0">
                <a:solidFill>
                  <a:srgbClr val="9EABBA"/>
                </a:solidFill>
                <a:latin typeface="Calibri" pitchFamily="34" charset="0"/>
                <a:ea typeface="Calibri" pitchFamily="34" charset="-122"/>
                <a:cs typeface="Calibri" pitchFamily="34" charset="-120"/>
              </a:rPr>
              <a:t>24–48 hours</a:t>
            </a:r>
            <a:endParaRPr lang="en-US" sz="1300" dirty="0"/>
          </a:p>
        </p:txBody>
      </p:sp>
      <p:sp>
        <p:nvSpPr>
          <p:cNvPr id="18" name="Text 16"/>
          <p:cNvSpPr/>
          <p:nvPr/>
        </p:nvSpPr>
        <p:spPr>
          <a:xfrm>
            <a:off x="8229600" y="3419856"/>
            <a:ext cx="3017520" cy="841248"/>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Team channel, weekly digest</a:t>
            </a:r>
            <a:endParaRPr lang="en-US" sz="1300" dirty="0"/>
          </a:p>
        </p:txBody>
      </p:sp>
      <p:sp>
        <p:nvSpPr>
          <p:cNvPr id="19" name="Shape 17"/>
          <p:cNvSpPr/>
          <p:nvPr/>
        </p:nvSpPr>
        <p:spPr>
          <a:xfrm>
            <a:off x="548640" y="4352544"/>
            <a:ext cx="11091672" cy="841248"/>
          </a:xfrm>
          <a:prstGeom prst="roundRect">
            <a:avLst>
              <a:gd name="adj" fmla="val 9783"/>
            </a:avLst>
          </a:prstGeom>
          <a:solidFill>
            <a:srgbClr val="1F2936"/>
          </a:solidFill>
          <a:ln/>
        </p:spPr>
      </p:sp>
      <p:sp>
        <p:nvSpPr>
          <p:cNvPr id="20" name="Text 18"/>
          <p:cNvSpPr/>
          <p:nvPr/>
        </p:nvSpPr>
        <p:spPr>
          <a:xfrm>
            <a:off x="859536" y="4352544"/>
            <a:ext cx="2194560" cy="841248"/>
          </a:xfrm>
          <a:prstGeom prst="rect">
            <a:avLst/>
          </a:prstGeom>
          <a:noFill/>
          <a:ln/>
        </p:spPr>
        <p:txBody>
          <a:bodyPr wrap="square" lIns="0" tIns="0" rIns="0" bIns="0" rtlCol="0" anchor="ctr"/>
          <a:lstStyle/>
          <a:p>
            <a:pPr indent="0" marL="0">
              <a:buNone/>
            </a:pPr>
            <a:r>
              <a:rPr lang="en-US" sz="1800" b="1" dirty="0">
                <a:solidFill>
                  <a:srgbClr val="8C9AAC"/>
                </a:solidFill>
                <a:latin typeface="Cambria" pitchFamily="34" charset="0"/>
                <a:ea typeface="Cambria" pitchFamily="34" charset="-122"/>
                <a:cs typeface="Cambria" pitchFamily="34" charset="-120"/>
              </a:rPr>
              <a:t>Advisory</a:t>
            </a:r>
            <a:endParaRPr lang="en-US" sz="1800" dirty="0"/>
          </a:p>
        </p:txBody>
      </p:sp>
      <p:sp>
        <p:nvSpPr>
          <p:cNvPr id="21" name="Text 19"/>
          <p:cNvSpPr/>
          <p:nvPr/>
        </p:nvSpPr>
        <p:spPr>
          <a:xfrm>
            <a:off x="3200400" y="4352544"/>
            <a:ext cx="2926080" cy="84124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Billing plus forecast</a:t>
            </a:r>
            <a:endParaRPr lang="en-US" sz="1300" dirty="0"/>
          </a:p>
        </p:txBody>
      </p:sp>
      <p:sp>
        <p:nvSpPr>
          <p:cNvPr id="22" name="Text 20"/>
          <p:cNvSpPr/>
          <p:nvPr/>
        </p:nvSpPr>
        <p:spPr>
          <a:xfrm>
            <a:off x="6309360" y="4352544"/>
            <a:ext cx="1737360" cy="841248"/>
          </a:xfrm>
          <a:prstGeom prst="rect">
            <a:avLst/>
          </a:prstGeom>
          <a:noFill/>
          <a:ln/>
        </p:spPr>
        <p:txBody>
          <a:bodyPr wrap="square" lIns="0" tIns="0" rIns="0" bIns="0" rtlCol="0" anchor="ctr"/>
          <a:lstStyle/>
          <a:p>
            <a:pPr indent="0" marL="0">
              <a:buNone/>
            </a:pPr>
            <a:r>
              <a:rPr lang="en-US" sz="1300" b="1" dirty="0">
                <a:solidFill>
                  <a:srgbClr val="9EABBA"/>
                </a:solidFill>
                <a:latin typeface="Calibri" pitchFamily="34" charset="0"/>
                <a:ea typeface="Calibri" pitchFamily="34" charset="-122"/>
                <a:cs typeface="Calibri" pitchFamily="34" charset="-120"/>
              </a:rPr>
              <a:t>daily</a:t>
            </a:r>
            <a:endParaRPr lang="en-US" sz="1300" dirty="0"/>
          </a:p>
        </p:txBody>
      </p:sp>
      <p:sp>
        <p:nvSpPr>
          <p:cNvPr id="23" name="Text 21"/>
          <p:cNvSpPr/>
          <p:nvPr/>
        </p:nvSpPr>
        <p:spPr>
          <a:xfrm>
            <a:off x="8229600" y="4352544"/>
            <a:ext cx="3017520" cy="841248"/>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A ticket. Never a page.</a:t>
            </a:r>
            <a:endParaRPr lang="en-US" sz="1300" dirty="0"/>
          </a:p>
        </p:txBody>
      </p:sp>
      <p:sp>
        <p:nvSpPr>
          <p:cNvPr id="24" name="Shape 22"/>
          <p:cNvSpPr/>
          <p:nvPr/>
        </p:nvSpPr>
        <p:spPr>
          <a:xfrm>
            <a:off x="548640" y="5394960"/>
            <a:ext cx="3511296" cy="1051560"/>
          </a:xfrm>
          <a:prstGeom prst="roundRect">
            <a:avLst>
              <a:gd name="adj" fmla="val 7826"/>
            </a:avLst>
          </a:prstGeom>
          <a:solidFill>
            <a:srgbClr val="1A222C"/>
          </a:solidFill>
          <a:ln/>
        </p:spPr>
      </p:sp>
      <p:sp>
        <p:nvSpPr>
          <p:cNvPr id="25" name="Shape 23"/>
          <p:cNvSpPr/>
          <p:nvPr/>
        </p:nvSpPr>
        <p:spPr>
          <a:xfrm>
            <a:off x="804672" y="5614416"/>
            <a:ext cx="420624" cy="420624"/>
          </a:xfrm>
          <a:prstGeom prst="ellipse">
            <a:avLst/>
          </a:prstGeom>
          <a:solidFill>
            <a:srgbClr val="2E3A48"/>
          </a:solidFill>
          <a:ln/>
        </p:spPr>
      </p:sp>
      <p:pic>
        <p:nvPicPr>
          <p:cNvPr id="26" name="Image 0" descr="preencoded.png">    </p:cNvPr>
          <p:cNvPicPr>
            <a:picLocks noChangeAspect="1"/>
          </p:cNvPicPr>
          <p:nvPr/>
        </p:nvPicPr>
        <p:blipFill>
          <a:blip r:embed="rId1"/>
          <a:stretch>
            <a:fillRect/>
          </a:stretch>
        </p:blipFill>
        <p:spPr>
          <a:xfrm>
            <a:off x="909828" y="5719572"/>
            <a:ext cx="210312" cy="210312"/>
          </a:xfrm>
          <a:prstGeom prst="rect">
            <a:avLst/>
          </a:prstGeom>
        </p:spPr>
      </p:pic>
      <p:sp>
        <p:nvSpPr>
          <p:cNvPr id="27" name="Text 24"/>
          <p:cNvSpPr/>
          <p:nvPr/>
        </p:nvSpPr>
        <p:spPr>
          <a:xfrm>
            <a:off x="1335024" y="5468112"/>
            <a:ext cx="2560320" cy="914400"/>
          </a:xfrm>
          <a:prstGeom prst="rect">
            <a:avLst/>
          </a:prstGeom>
          <a:noFill/>
          <a:ln/>
        </p:spPr>
        <p:txBody>
          <a:bodyPr wrap="square" lIns="0" tIns="0" rIns="0" bIns="0" rtlCol="0" anchor="ctr"/>
          <a:lstStyle/>
          <a:p>
            <a:pPr indent="0" marL="0">
              <a:lnSpc>
                <a:spcPts val="1400"/>
              </a:lnSpc>
              <a:buNone/>
            </a:pPr>
            <a:r>
              <a:rPr lang="en-US" sz="1250" b="1" dirty="0">
                <a:solidFill>
                  <a:srgbClr val="FFFFFF"/>
                </a:solidFill>
                <a:latin typeface="Calibri" pitchFamily="34" charset="0"/>
                <a:ea typeface="Calibri" pitchFamily="34" charset="-122"/>
                <a:cs typeface="Calibri" pitchFamily="34" charset="-120"/>
              </a:rPr>
              <a:t>Never page on a budget threshold</a:t>
            </a:r>
            <a:endParaRPr lang="en-US" sz="1250" dirty="0"/>
          </a:p>
          <a:p>
            <a:pPr indent="0" marL="0">
              <a:lnSpc>
                <a:spcPts val="1400"/>
              </a:lnSpc>
              <a:buNone/>
            </a:pPr>
            <a:r>
              <a:rPr lang="en-US" sz="1100" dirty="0">
                <a:solidFill>
                  <a:srgbClr val="9EABBA"/>
                </a:solidFill>
                <a:latin typeface="Calibri" pitchFamily="34" charset="0"/>
                <a:ea typeface="Calibri" pitchFamily="34" charset="-122"/>
                <a:cs typeface="Calibri" pitchFamily="34" charset="-120"/>
              </a:rPr>
              <a:t>You are waking someone about a fact they cannot change.</a:t>
            </a:r>
            <a:endParaRPr lang="en-US" sz="1250" dirty="0"/>
          </a:p>
        </p:txBody>
      </p:sp>
      <p:sp>
        <p:nvSpPr>
          <p:cNvPr id="28" name="Shape 25"/>
          <p:cNvSpPr/>
          <p:nvPr/>
        </p:nvSpPr>
        <p:spPr>
          <a:xfrm>
            <a:off x="4334256" y="5394960"/>
            <a:ext cx="3511296" cy="1051560"/>
          </a:xfrm>
          <a:prstGeom prst="roundRect">
            <a:avLst>
              <a:gd name="adj" fmla="val 7826"/>
            </a:avLst>
          </a:prstGeom>
          <a:solidFill>
            <a:srgbClr val="1A222C"/>
          </a:solidFill>
          <a:ln/>
        </p:spPr>
      </p:sp>
      <p:sp>
        <p:nvSpPr>
          <p:cNvPr id="29" name="Shape 26"/>
          <p:cNvSpPr/>
          <p:nvPr/>
        </p:nvSpPr>
        <p:spPr>
          <a:xfrm>
            <a:off x="4590288" y="5614416"/>
            <a:ext cx="420624" cy="420624"/>
          </a:xfrm>
          <a:prstGeom prst="ellipse">
            <a:avLst/>
          </a:prstGeom>
          <a:solidFill>
            <a:srgbClr val="2E3A48"/>
          </a:solidFill>
          <a:ln/>
        </p:spPr>
      </p:sp>
      <p:pic>
        <p:nvPicPr>
          <p:cNvPr id="30" name="Image 1" descr="preencoded.png">    </p:cNvPr>
          <p:cNvPicPr>
            <a:picLocks noChangeAspect="1"/>
          </p:cNvPicPr>
          <p:nvPr/>
        </p:nvPicPr>
        <p:blipFill>
          <a:blip r:embed="rId2"/>
          <a:stretch>
            <a:fillRect/>
          </a:stretch>
        </p:blipFill>
        <p:spPr>
          <a:xfrm>
            <a:off x="4695444" y="5719572"/>
            <a:ext cx="210312" cy="210312"/>
          </a:xfrm>
          <a:prstGeom prst="rect">
            <a:avLst/>
          </a:prstGeom>
        </p:spPr>
      </p:pic>
      <p:sp>
        <p:nvSpPr>
          <p:cNvPr id="31" name="Text 27"/>
          <p:cNvSpPr/>
          <p:nvPr/>
        </p:nvSpPr>
        <p:spPr>
          <a:xfrm>
            <a:off x="5120640" y="5468112"/>
            <a:ext cx="2560320" cy="914400"/>
          </a:xfrm>
          <a:prstGeom prst="rect">
            <a:avLst/>
          </a:prstGeom>
          <a:noFill/>
          <a:ln/>
        </p:spPr>
        <p:txBody>
          <a:bodyPr wrap="square" lIns="0" tIns="0" rIns="0" bIns="0" rtlCol="0" anchor="ctr"/>
          <a:lstStyle/>
          <a:p>
            <a:pPr indent="0" marL="0">
              <a:lnSpc>
                <a:spcPts val="1400"/>
              </a:lnSpc>
              <a:buNone/>
            </a:pPr>
            <a:r>
              <a:rPr lang="en-US" sz="1250" b="1" dirty="0">
                <a:solidFill>
                  <a:srgbClr val="FFFFFF"/>
                </a:solidFill>
                <a:latin typeface="Calibri" pitchFamily="34" charset="0"/>
                <a:ea typeface="Calibri" pitchFamily="34" charset="-122"/>
                <a:cs typeface="Calibri" pitchFamily="34" charset="-120"/>
              </a:rPr>
              <a:t>A muted alert is worse than none</a:t>
            </a:r>
            <a:endParaRPr lang="en-US" sz="1250" dirty="0"/>
          </a:p>
          <a:p>
            <a:pPr indent="0" marL="0">
              <a:lnSpc>
                <a:spcPts val="1400"/>
              </a:lnSpc>
              <a:buNone/>
            </a:pPr>
            <a:r>
              <a:rPr lang="en-US" sz="1100" dirty="0">
                <a:solidFill>
                  <a:srgbClr val="9EABBA"/>
                </a:solidFill>
                <a:latin typeface="Calibri" pitchFamily="34" charset="0"/>
                <a:ea typeface="Calibri" pitchFamily="34" charset="-122"/>
                <a:cs typeface="Calibri" pitchFamily="34" charset="-120"/>
              </a:rPr>
              <a:t>It leaves the false confidence that something is watching.</a:t>
            </a:r>
            <a:endParaRPr lang="en-US" sz="1250" dirty="0"/>
          </a:p>
        </p:txBody>
      </p:sp>
      <p:sp>
        <p:nvSpPr>
          <p:cNvPr id="32" name="Shape 28"/>
          <p:cNvSpPr/>
          <p:nvPr/>
        </p:nvSpPr>
        <p:spPr>
          <a:xfrm>
            <a:off x="8119872" y="5394960"/>
            <a:ext cx="3511296" cy="1051560"/>
          </a:xfrm>
          <a:prstGeom prst="roundRect">
            <a:avLst>
              <a:gd name="adj" fmla="val 7826"/>
            </a:avLst>
          </a:prstGeom>
          <a:solidFill>
            <a:srgbClr val="1A222C"/>
          </a:solidFill>
          <a:ln/>
        </p:spPr>
      </p:sp>
      <p:sp>
        <p:nvSpPr>
          <p:cNvPr id="33" name="Shape 29"/>
          <p:cNvSpPr/>
          <p:nvPr/>
        </p:nvSpPr>
        <p:spPr>
          <a:xfrm>
            <a:off x="8375904" y="5614416"/>
            <a:ext cx="420624" cy="420624"/>
          </a:xfrm>
          <a:prstGeom prst="ellipse">
            <a:avLst/>
          </a:prstGeom>
          <a:solidFill>
            <a:srgbClr val="2E3A48"/>
          </a:solidFill>
          <a:ln/>
        </p:spPr>
      </p:sp>
      <p:pic>
        <p:nvPicPr>
          <p:cNvPr id="34" name="Image 2" descr="preencoded.png">    </p:cNvPr>
          <p:cNvPicPr>
            <a:picLocks noChangeAspect="1"/>
          </p:cNvPicPr>
          <p:nvPr/>
        </p:nvPicPr>
        <p:blipFill>
          <a:blip r:embed="rId3"/>
          <a:stretch>
            <a:fillRect/>
          </a:stretch>
        </p:blipFill>
        <p:spPr>
          <a:xfrm>
            <a:off x="8481060" y="5719572"/>
            <a:ext cx="210312" cy="210312"/>
          </a:xfrm>
          <a:prstGeom prst="rect">
            <a:avLst/>
          </a:prstGeom>
        </p:spPr>
      </p:pic>
      <p:sp>
        <p:nvSpPr>
          <p:cNvPr id="35" name="Text 30"/>
          <p:cNvSpPr/>
          <p:nvPr/>
        </p:nvSpPr>
        <p:spPr>
          <a:xfrm>
            <a:off x="8906256" y="5468112"/>
            <a:ext cx="2560320" cy="914400"/>
          </a:xfrm>
          <a:prstGeom prst="rect">
            <a:avLst/>
          </a:prstGeom>
          <a:noFill/>
          <a:ln/>
        </p:spPr>
        <p:txBody>
          <a:bodyPr wrap="square" lIns="0" tIns="0" rIns="0" bIns="0" rtlCol="0" anchor="ctr"/>
          <a:lstStyle/>
          <a:p>
            <a:pPr indent="0" marL="0">
              <a:lnSpc>
                <a:spcPts val="1400"/>
              </a:lnSpc>
              <a:buNone/>
            </a:pPr>
            <a:r>
              <a:rPr lang="en-US" sz="1250" b="1" dirty="0">
                <a:solidFill>
                  <a:srgbClr val="FFFFFF"/>
                </a:solidFill>
                <a:latin typeface="Calibri" pitchFamily="34" charset="0"/>
                <a:ea typeface="Calibri" pitchFamily="34" charset="-122"/>
                <a:cs typeface="Calibri" pitchFamily="34" charset="-120"/>
              </a:rPr>
              <a:t>Alert on silence too</a:t>
            </a:r>
            <a:endParaRPr lang="en-US" sz="1250" dirty="0"/>
          </a:p>
          <a:p>
            <a:pPr indent="0" marL="0">
              <a:lnSpc>
                <a:spcPts val="1400"/>
              </a:lnSpc>
              <a:buNone/>
            </a:pPr>
            <a:r>
              <a:rPr lang="en-US" sz="1100" dirty="0">
                <a:solidFill>
                  <a:srgbClr val="9EABBA"/>
                </a:solidFill>
                <a:latin typeface="Calibri" pitchFamily="34" charset="0"/>
                <a:ea typeface="Calibri" pitchFamily="34" charset="-122"/>
                <a:cs typeface="Calibri" pitchFamily="34" charset="-120"/>
              </a:rPr>
              <a:t>A stopped data feed reads exactly like a healthy month.</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5 — SHARED RESPONSIBILITY</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Who decides, who builds, who pays</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FinOps fails when it is one team's job. These are the four parties and what each one owns.</a:t>
            </a:r>
            <a:endParaRPr lang="en-US" sz="1500" dirty="0"/>
          </a:p>
        </p:txBody>
      </p:sp>
      <p:sp>
        <p:nvSpPr>
          <p:cNvPr id="5" name="Text 3"/>
          <p:cNvSpPr/>
          <p:nvPr/>
        </p:nvSpPr>
        <p:spPr>
          <a:xfrm>
            <a:off x="4343400" y="2121408"/>
            <a:ext cx="1783080" cy="329184"/>
          </a:xfrm>
          <a:prstGeom prst="rect">
            <a:avLst/>
          </a:prstGeom>
          <a:noFill/>
          <a:ln/>
        </p:spPr>
        <p:txBody>
          <a:bodyPr wrap="square" lIns="0" tIns="0" rIns="0" bIns="0" rtlCol="0" anchor="ctr"/>
          <a:lstStyle/>
          <a:p>
            <a:pPr algn="ctr" indent="0" marL="0">
              <a:buNone/>
            </a:pPr>
            <a:r>
              <a:rPr lang="en-US" sz="1200" b="1" spc="80" kern="0" dirty="0">
                <a:solidFill>
                  <a:srgbClr val="5C6675"/>
                </a:solidFill>
                <a:latin typeface="Calibri" pitchFamily="34" charset="0"/>
                <a:ea typeface="Calibri" pitchFamily="34" charset="-122"/>
                <a:cs typeface="Calibri" pitchFamily="34" charset="-120"/>
              </a:rPr>
              <a:t>Finance</a:t>
            </a:r>
            <a:endParaRPr lang="en-US" sz="1200" dirty="0"/>
          </a:p>
        </p:txBody>
      </p:sp>
      <p:sp>
        <p:nvSpPr>
          <p:cNvPr id="6" name="Text 4"/>
          <p:cNvSpPr/>
          <p:nvPr/>
        </p:nvSpPr>
        <p:spPr>
          <a:xfrm>
            <a:off x="6245352" y="2121408"/>
            <a:ext cx="1783080" cy="329184"/>
          </a:xfrm>
          <a:prstGeom prst="rect">
            <a:avLst/>
          </a:prstGeom>
          <a:noFill/>
          <a:ln/>
        </p:spPr>
        <p:txBody>
          <a:bodyPr wrap="square" lIns="0" tIns="0" rIns="0" bIns="0" rtlCol="0" anchor="ctr"/>
          <a:lstStyle/>
          <a:p>
            <a:pPr algn="ctr" indent="0" marL="0">
              <a:buNone/>
            </a:pPr>
            <a:r>
              <a:rPr lang="en-US" sz="1200" b="1" spc="80" kern="0" dirty="0">
                <a:solidFill>
                  <a:srgbClr val="5C6675"/>
                </a:solidFill>
                <a:latin typeface="Calibri" pitchFamily="34" charset="0"/>
                <a:ea typeface="Calibri" pitchFamily="34" charset="-122"/>
                <a:cs typeface="Calibri" pitchFamily="34" charset="-120"/>
              </a:rPr>
              <a:t>FinOps / Platform</a:t>
            </a:r>
            <a:endParaRPr lang="en-US" sz="1200" dirty="0"/>
          </a:p>
        </p:txBody>
      </p:sp>
      <p:sp>
        <p:nvSpPr>
          <p:cNvPr id="7" name="Text 5"/>
          <p:cNvSpPr/>
          <p:nvPr/>
        </p:nvSpPr>
        <p:spPr>
          <a:xfrm>
            <a:off x="8147304" y="2121408"/>
            <a:ext cx="1783080" cy="329184"/>
          </a:xfrm>
          <a:prstGeom prst="rect">
            <a:avLst/>
          </a:prstGeom>
          <a:noFill/>
          <a:ln/>
        </p:spPr>
        <p:txBody>
          <a:bodyPr wrap="square" lIns="0" tIns="0" rIns="0" bIns="0" rtlCol="0" anchor="ctr"/>
          <a:lstStyle/>
          <a:p>
            <a:pPr algn="ctr" indent="0" marL="0">
              <a:buNone/>
            </a:pPr>
            <a:r>
              <a:rPr lang="en-US" sz="1200" b="1" spc="80" kern="0" dirty="0">
                <a:solidFill>
                  <a:srgbClr val="5C6675"/>
                </a:solidFill>
                <a:latin typeface="Calibri" pitchFamily="34" charset="0"/>
                <a:ea typeface="Calibri" pitchFamily="34" charset="-122"/>
                <a:cs typeface="Calibri" pitchFamily="34" charset="-120"/>
              </a:rPr>
              <a:t>Engineering</a:t>
            </a:r>
            <a:endParaRPr lang="en-US" sz="1200" dirty="0"/>
          </a:p>
        </p:txBody>
      </p:sp>
      <p:sp>
        <p:nvSpPr>
          <p:cNvPr id="8" name="Text 6"/>
          <p:cNvSpPr/>
          <p:nvPr/>
        </p:nvSpPr>
        <p:spPr>
          <a:xfrm>
            <a:off x="10049256" y="2121408"/>
            <a:ext cx="1783080" cy="329184"/>
          </a:xfrm>
          <a:prstGeom prst="rect">
            <a:avLst/>
          </a:prstGeom>
          <a:noFill/>
          <a:ln/>
        </p:spPr>
        <p:txBody>
          <a:bodyPr wrap="square" lIns="0" tIns="0" rIns="0" bIns="0" rtlCol="0" anchor="ctr"/>
          <a:lstStyle/>
          <a:p>
            <a:pPr algn="ctr" indent="0" marL="0">
              <a:buNone/>
            </a:pPr>
            <a:r>
              <a:rPr lang="en-US" sz="1200" b="1" spc="80" kern="0" dirty="0">
                <a:solidFill>
                  <a:srgbClr val="5C6675"/>
                </a:solidFill>
                <a:latin typeface="Calibri" pitchFamily="34" charset="0"/>
                <a:ea typeface="Calibri" pitchFamily="34" charset="-122"/>
                <a:cs typeface="Calibri" pitchFamily="34" charset="-120"/>
              </a:rPr>
              <a:t>Leadership</a:t>
            </a:r>
            <a:endParaRPr lang="en-US" sz="1200" dirty="0"/>
          </a:p>
        </p:txBody>
      </p:sp>
      <p:sp>
        <p:nvSpPr>
          <p:cNvPr id="9" name="Shape 7"/>
          <p:cNvSpPr/>
          <p:nvPr/>
        </p:nvSpPr>
        <p:spPr>
          <a:xfrm>
            <a:off x="548640" y="2542032"/>
            <a:ext cx="11091672" cy="658368"/>
          </a:xfrm>
          <a:prstGeom prst="roundRect">
            <a:avLst>
              <a:gd name="adj" fmla="val 12500"/>
            </a:avLst>
          </a:prstGeom>
          <a:solidFill>
            <a:srgbClr val="F1F3F6"/>
          </a:solidFill>
          <a:ln/>
        </p:spPr>
      </p:sp>
      <p:sp>
        <p:nvSpPr>
          <p:cNvPr id="10" name="Text 8"/>
          <p:cNvSpPr/>
          <p:nvPr/>
        </p:nvSpPr>
        <p:spPr>
          <a:xfrm>
            <a:off x="859536" y="2542032"/>
            <a:ext cx="347472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Budgets &amp; allocation policy</a:t>
            </a:r>
            <a:endParaRPr lang="en-US" sz="1400" dirty="0"/>
          </a:p>
        </p:txBody>
      </p:sp>
      <p:sp>
        <p:nvSpPr>
          <p:cNvPr id="11" name="Shape 9"/>
          <p:cNvSpPr/>
          <p:nvPr/>
        </p:nvSpPr>
        <p:spPr>
          <a:xfrm>
            <a:off x="5079492" y="2715768"/>
            <a:ext cx="310896" cy="310896"/>
          </a:xfrm>
          <a:prstGeom prst="ellipse">
            <a:avLst/>
          </a:prstGeom>
          <a:solidFill>
            <a:srgbClr val="E39B2C"/>
          </a:solidFill>
          <a:ln/>
        </p:spPr>
      </p:sp>
      <p:sp>
        <p:nvSpPr>
          <p:cNvPr id="12" name="Shape 10"/>
          <p:cNvSpPr/>
          <p:nvPr/>
        </p:nvSpPr>
        <p:spPr>
          <a:xfrm>
            <a:off x="10840212" y="2770632"/>
            <a:ext cx="201168" cy="201168"/>
          </a:xfrm>
          <a:prstGeom prst="ellipse">
            <a:avLst/>
          </a:prstGeom>
          <a:solidFill>
            <a:srgbClr val="C3CBD5"/>
          </a:solidFill>
          <a:ln/>
        </p:spPr>
      </p:sp>
      <p:sp>
        <p:nvSpPr>
          <p:cNvPr id="13" name="Shape 11"/>
          <p:cNvSpPr/>
          <p:nvPr/>
        </p:nvSpPr>
        <p:spPr>
          <a:xfrm>
            <a:off x="548640" y="3273552"/>
            <a:ext cx="11091672" cy="658368"/>
          </a:xfrm>
          <a:prstGeom prst="roundRect">
            <a:avLst>
              <a:gd name="adj" fmla="val 12500"/>
            </a:avLst>
          </a:prstGeom>
          <a:solidFill>
            <a:srgbClr val="F1F3F6"/>
          </a:solidFill>
          <a:ln/>
        </p:spPr>
      </p:sp>
      <p:sp>
        <p:nvSpPr>
          <p:cNvPr id="14" name="Text 12"/>
          <p:cNvSpPr/>
          <p:nvPr/>
        </p:nvSpPr>
        <p:spPr>
          <a:xfrm>
            <a:off x="859536" y="3273552"/>
            <a:ext cx="347472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Tagging &amp; ownership standard</a:t>
            </a:r>
            <a:endParaRPr lang="en-US" sz="1400" dirty="0"/>
          </a:p>
        </p:txBody>
      </p:sp>
      <p:sp>
        <p:nvSpPr>
          <p:cNvPr id="15" name="Shape 13"/>
          <p:cNvSpPr/>
          <p:nvPr/>
        </p:nvSpPr>
        <p:spPr>
          <a:xfrm>
            <a:off x="5134356" y="3502152"/>
            <a:ext cx="201168" cy="201168"/>
          </a:xfrm>
          <a:prstGeom prst="ellipse">
            <a:avLst/>
          </a:prstGeom>
          <a:solidFill>
            <a:srgbClr val="C3CBD5"/>
          </a:solidFill>
          <a:ln/>
        </p:spPr>
      </p:sp>
      <p:sp>
        <p:nvSpPr>
          <p:cNvPr id="16" name="Shape 14"/>
          <p:cNvSpPr/>
          <p:nvPr/>
        </p:nvSpPr>
        <p:spPr>
          <a:xfrm>
            <a:off x="6981444" y="3447288"/>
            <a:ext cx="310896" cy="310896"/>
          </a:xfrm>
          <a:prstGeom prst="ellipse">
            <a:avLst/>
          </a:prstGeom>
          <a:solidFill>
            <a:srgbClr val="E39B2C"/>
          </a:solidFill>
          <a:ln/>
        </p:spPr>
      </p:sp>
      <p:sp>
        <p:nvSpPr>
          <p:cNvPr id="17" name="Shape 15"/>
          <p:cNvSpPr/>
          <p:nvPr/>
        </p:nvSpPr>
        <p:spPr>
          <a:xfrm>
            <a:off x="548640" y="4005072"/>
            <a:ext cx="11091672" cy="658368"/>
          </a:xfrm>
          <a:prstGeom prst="roundRect">
            <a:avLst>
              <a:gd name="adj" fmla="val 12500"/>
            </a:avLst>
          </a:prstGeom>
          <a:solidFill>
            <a:srgbClr val="F1F3F6"/>
          </a:solidFill>
          <a:ln/>
        </p:spPr>
      </p:sp>
      <p:sp>
        <p:nvSpPr>
          <p:cNvPr id="18" name="Text 16"/>
          <p:cNvSpPr/>
          <p:nvPr/>
        </p:nvSpPr>
        <p:spPr>
          <a:xfrm>
            <a:off x="859536" y="4005072"/>
            <a:ext cx="347472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Guardrails, quotas &amp; alerts</a:t>
            </a:r>
            <a:endParaRPr lang="en-US" sz="1400" dirty="0"/>
          </a:p>
        </p:txBody>
      </p:sp>
      <p:sp>
        <p:nvSpPr>
          <p:cNvPr id="19" name="Shape 17"/>
          <p:cNvSpPr/>
          <p:nvPr/>
        </p:nvSpPr>
        <p:spPr>
          <a:xfrm>
            <a:off x="6981444" y="4178808"/>
            <a:ext cx="310896" cy="310896"/>
          </a:xfrm>
          <a:prstGeom prst="ellipse">
            <a:avLst/>
          </a:prstGeom>
          <a:solidFill>
            <a:srgbClr val="E39B2C"/>
          </a:solidFill>
          <a:ln/>
        </p:spPr>
      </p:sp>
      <p:sp>
        <p:nvSpPr>
          <p:cNvPr id="20" name="Shape 18"/>
          <p:cNvSpPr/>
          <p:nvPr/>
        </p:nvSpPr>
        <p:spPr>
          <a:xfrm>
            <a:off x="8938260" y="4233672"/>
            <a:ext cx="201168" cy="201168"/>
          </a:xfrm>
          <a:prstGeom prst="ellipse">
            <a:avLst/>
          </a:prstGeom>
          <a:solidFill>
            <a:srgbClr val="C3CBD5"/>
          </a:solidFill>
          <a:ln/>
        </p:spPr>
      </p:sp>
      <p:sp>
        <p:nvSpPr>
          <p:cNvPr id="21" name="Shape 19"/>
          <p:cNvSpPr/>
          <p:nvPr/>
        </p:nvSpPr>
        <p:spPr>
          <a:xfrm>
            <a:off x="548640" y="4736592"/>
            <a:ext cx="11091672" cy="658368"/>
          </a:xfrm>
          <a:prstGeom prst="roundRect">
            <a:avLst>
              <a:gd name="adj" fmla="val 12500"/>
            </a:avLst>
          </a:prstGeom>
          <a:solidFill>
            <a:srgbClr val="F1F3F6"/>
          </a:solidFill>
          <a:ln/>
        </p:spPr>
      </p:sp>
      <p:sp>
        <p:nvSpPr>
          <p:cNvPr id="22" name="Text 20"/>
          <p:cNvSpPr/>
          <p:nvPr/>
        </p:nvSpPr>
        <p:spPr>
          <a:xfrm>
            <a:off x="859536" y="4736592"/>
            <a:ext cx="347472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Responding to an alert</a:t>
            </a:r>
            <a:endParaRPr lang="en-US" sz="1400" dirty="0"/>
          </a:p>
        </p:txBody>
      </p:sp>
      <p:sp>
        <p:nvSpPr>
          <p:cNvPr id="23" name="Shape 21"/>
          <p:cNvSpPr/>
          <p:nvPr/>
        </p:nvSpPr>
        <p:spPr>
          <a:xfrm>
            <a:off x="7036308" y="4965192"/>
            <a:ext cx="201168" cy="201168"/>
          </a:xfrm>
          <a:prstGeom prst="ellipse">
            <a:avLst/>
          </a:prstGeom>
          <a:solidFill>
            <a:srgbClr val="C3CBD5"/>
          </a:solidFill>
          <a:ln/>
        </p:spPr>
      </p:sp>
      <p:sp>
        <p:nvSpPr>
          <p:cNvPr id="24" name="Shape 22"/>
          <p:cNvSpPr/>
          <p:nvPr/>
        </p:nvSpPr>
        <p:spPr>
          <a:xfrm>
            <a:off x="8883396" y="4910328"/>
            <a:ext cx="310896" cy="310896"/>
          </a:xfrm>
          <a:prstGeom prst="ellipse">
            <a:avLst/>
          </a:prstGeom>
          <a:solidFill>
            <a:srgbClr val="E39B2C"/>
          </a:solidFill>
          <a:ln/>
        </p:spPr>
      </p:sp>
      <p:sp>
        <p:nvSpPr>
          <p:cNvPr id="25" name="Shape 23"/>
          <p:cNvSpPr/>
          <p:nvPr/>
        </p:nvSpPr>
        <p:spPr>
          <a:xfrm>
            <a:off x="548640" y="5468112"/>
            <a:ext cx="11091672" cy="658368"/>
          </a:xfrm>
          <a:prstGeom prst="roundRect">
            <a:avLst>
              <a:gd name="adj" fmla="val 12500"/>
            </a:avLst>
          </a:prstGeom>
          <a:solidFill>
            <a:srgbClr val="F1F3F6"/>
          </a:solidFill>
          <a:ln/>
        </p:spPr>
      </p:sp>
      <p:sp>
        <p:nvSpPr>
          <p:cNvPr id="26" name="Text 24"/>
          <p:cNvSpPr/>
          <p:nvPr/>
        </p:nvSpPr>
        <p:spPr>
          <a:xfrm>
            <a:off x="859536" y="5468112"/>
            <a:ext cx="347472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Commitment &amp; tooling spend</a:t>
            </a:r>
            <a:endParaRPr lang="en-US" sz="1400" dirty="0"/>
          </a:p>
        </p:txBody>
      </p:sp>
      <p:sp>
        <p:nvSpPr>
          <p:cNvPr id="27" name="Shape 25"/>
          <p:cNvSpPr/>
          <p:nvPr/>
        </p:nvSpPr>
        <p:spPr>
          <a:xfrm>
            <a:off x="5134356" y="5696712"/>
            <a:ext cx="201168" cy="201168"/>
          </a:xfrm>
          <a:prstGeom prst="ellipse">
            <a:avLst/>
          </a:prstGeom>
          <a:solidFill>
            <a:srgbClr val="C3CBD5"/>
          </a:solidFill>
          <a:ln/>
        </p:spPr>
      </p:sp>
      <p:sp>
        <p:nvSpPr>
          <p:cNvPr id="28" name="Shape 26"/>
          <p:cNvSpPr/>
          <p:nvPr/>
        </p:nvSpPr>
        <p:spPr>
          <a:xfrm>
            <a:off x="7036308" y="5696712"/>
            <a:ext cx="201168" cy="201168"/>
          </a:xfrm>
          <a:prstGeom prst="ellipse">
            <a:avLst/>
          </a:prstGeom>
          <a:solidFill>
            <a:srgbClr val="C3CBD5"/>
          </a:solidFill>
          <a:ln/>
        </p:spPr>
      </p:sp>
      <p:sp>
        <p:nvSpPr>
          <p:cNvPr id="29" name="Shape 27"/>
          <p:cNvSpPr/>
          <p:nvPr/>
        </p:nvSpPr>
        <p:spPr>
          <a:xfrm>
            <a:off x="10785348" y="5641848"/>
            <a:ext cx="310896" cy="310896"/>
          </a:xfrm>
          <a:prstGeom prst="ellipse">
            <a:avLst/>
          </a:prstGeom>
          <a:solidFill>
            <a:srgbClr val="E39B2C"/>
          </a:solidFill>
          <a:ln/>
        </p:spPr>
      </p:sp>
      <p:sp>
        <p:nvSpPr>
          <p:cNvPr id="30" name="Shape 28"/>
          <p:cNvSpPr/>
          <p:nvPr/>
        </p:nvSpPr>
        <p:spPr>
          <a:xfrm>
            <a:off x="548640" y="6272784"/>
            <a:ext cx="182880" cy="182880"/>
          </a:xfrm>
          <a:prstGeom prst="ellipse">
            <a:avLst/>
          </a:prstGeom>
          <a:solidFill>
            <a:srgbClr val="E39B2C"/>
          </a:solidFill>
          <a:ln/>
        </p:spPr>
      </p:sp>
      <p:sp>
        <p:nvSpPr>
          <p:cNvPr id="31" name="Text 29"/>
          <p:cNvSpPr/>
          <p:nvPr/>
        </p:nvSpPr>
        <p:spPr>
          <a:xfrm>
            <a:off x="822960" y="6199632"/>
            <a:ext cx="3840480" cy="329184"/>
          </a:xfrm>
          <a:prstGeom prst="rect">
            <a:avLst/>
          </a:prstGeom>
          <a:noFill/>
          <a:ln/>
        </p:spPr>
        <p:txBody>
          <a:bodyPr wrap="square" lIns="0" tIns="0" rIns="0" bIns="0" rtlCol="0" anchor="ctr"/>
          <a:lstStyle/>
          <a:p>
            <a:pPr indent="0" marL="0">
              <a:buNone/>
            </a:pPr>
            <a:r>
              <a:rPr lang="en-US" sz="1200" dirty="0">
                <a:solidFill>
                  <a:srgbClr val="5C6675"/>
                </a:solidFill>
                <a:latin typeface="Calibri" pitchFamily="34" charset="0"/>
                <a:ea typeface="Calibri" pitchFamily="34" charset="-122"/>
                <a:cs typeface="Calibri" pitchFamily="34" charset="-120"/>
              </a:rPr>
              <a:t>Accountable — the decision stops here</a:t>
            </a:r>
            <a:endParaRPr lang="en-US" sz="1200" dirty="0"/>
          </a:p>
        </p:txBody>
      </p:sp>
      <p:sp>
        <p:nvSpPr>
          <p:cNvPr id="32" name="Shape 30"/>
          <p:cNvSpPr/>
          <p:nvPr/>
        </p:nvSpPr>
        <p:spPr>
          <a:xfrm>
            <a:off x="4754880" y="6309360"/>
            <a:ext cx="128016" cy="128016"/>
          </a:xfrm>
          <a:prstGeom prst="ellipse">
            <a:avLst/>
          </a:prstGeom>
          <a:solidFill>
            <a:srgbClr val="C3CBD5"/>
          </a:solidFill>
          <a:ln/>
        </p:spPr>
      </p:sp>
      <p:sp>
        <p:nvSpPr>
          <p:cNvPr id="33" name="Text 31"/>
          <p:cNvSpPr/>
          <p:nvPr/>
        </p:nvSpPr>
        <p:spPr>
          <a:xfrm>
            <a:off x="4992624" y="6199632"/>
            <a:ext cx="4572000" cy="329184"/>
          </a:xfrm>
          <a:prstGeom prst="rect">
            <a:avLst/>
          </a:prstGeom>
          <a:noFill/>
          <a:ln/>
        </p:spPr>
        <p:txBody>
          <a:bodyPr wrap="square" lIns="0" tIns="0" rIns="0" bIns="0" rtlCol="0" anchor="ctr"/>
          <a:lstStyle/>
          <a:p>
            <a:pPr indent="0" marL="0">
              <a:buNone/>
            </a:pPr>
            <a:r>
              <a:rPr lang="en-US" sz="1200" dirty="0">
                <a:solidFill>
                  <a:srgbClr val="5C6675"/>
                </a:solidFill>
                <a:latin typeface="Calibri" pitchFamily="34" charset="0"/>
                <a:ea typeface="Calibri" pitchFamily="34" charset="-122"/>
                <a:cs typeface="Calibri" pitchFamily="34" charset="-120"/>
              </a:rPr>
              <a:t>Contributes — does the work, does not decide</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 SHIFT LEFT</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Shift left is a seat at the design table</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Not a tool. A change in when FinOps shows up — and the earlier it is, the less of the bill is already decided.</a:t>
            </a:r>
            <a:endParaRPr lang="en-US" sz="1500" dirty="0"/>
          </a:p>
        </p:txBody>
      </p:sp>
      <p:sp>
        <p:nvSpPr>
          <p:cNvPr id="5" name="Shape 3"/>
          <p:cNvSpPr/>
          <p:nvPr/>
        </p:nvSpPr>
        <p:spPr>
          <a:xfrm>
            <a:off x="548640" y="2651760"/>
            <a:ext cx="1773936" cy="566928"/>
          </a:xfrm>
          <a:prstGeom prst="roundRect">
            <a:avLst>
              <a:gd name="adj" fmla="val 12903"/>
            </a:avLst>
          </a:prstGeom>
          <a:solidFill>
            <a:srgbClr val="FBEFD8"/>
          </a:solidFill>
          <a:ln/>
        </p:spPr>
      </p:sp>
      <p:sp>
        <p:nvSpPr>
          <p:cNvPr id="6" name="Text 4"/>
          <p:cNvSpPr/>
          <p:nvPr/>
        </p:nvSpPr>
        <p:spPr>
          <a:xfrm>
            <a:off x="548640" y="2651760"/>
            <a:ext cx="1773936" cy="566928"/>
          </a:xfrm>
          <a:prstGeom prst="rect">
            <a:avLst/>
          </a:prstGeom>
          <a:noFill/>
          <a:ln/>
        </p:spPr>
        <p:txBody>
          <a:bodyPr wrap="square" lIns="0" tIns="0" rIns="0" bIns="0" rtlCol="0" anchor="ctr"/>
          <a:lstStyle/>
          <a:p>
            <a:pPr algn="ctr" indent="0" marL="0">
              <a:buNone/>
            </a:pPr>
            <a:r>
              <a:rPr lang="en-US" sz="1300" b="1" dirty="0">
                <a:solidFill>
                  <a:srgbClr val="6B4A0E"/>
                </a:solidFill>
                <a:latin typeface="Calibri" pitchFamily="34" charset="0"/>
                <a:ea typeface="Calibri" pitchFamily="34" charset="-122"/>
                <a:cs typeface="Calibri" pitchFamily="34" charset="-120"/>
              </a:rPr>
              <a:t>Requirements</a:t>
            </a:r>
            <a:endParaRPr lang="en-US" sz="1300" dirty="0"/>
          </a:p>
        </p:txBody>
      </p:sp>
      <p:sp>
        <p:nvSpPr>
          <p:cNvPr id="7" name="Shape 5"/>
          <p:cNvSpPr/>
          <p:nvPr/>
        </p:nvSpPr>
        <p:spPr>
          <a:xfrm>
            <a:off x="2423160" y="2651760"/>
            <a:ext cx="1773936" cy="566928"/>
          </a:xfrm>
          <a:prstGeom prst="roundRect">
            <a:avLst>
              <a:gd name="adj" fmla="val 12903"/>
            </a:avLst>
          </a:prstGeom>
          <a:solidFill>
            <a:srgbClr val="FBEFD8"/>
          </a:solidFill>
          <a:ln/>
        </p:spPr>
      </p:sp>
      <p:sp>
        <p:nvSpPr>
          <p:cNvPr id="8" name="Text 6"/>
          <p:cNvSpPr/>
          <p:nvPr/>
        </p:nvSpPr>
        <p:spPr>
          <a:xfrm>
            <a:off x="2423160" y="2651760"/>
            <a:ext cx="1773936" cy="566928"/>
          </a:xfrm>
          <a:prstGeom prst="rect">
            <a:avLst/>
          </a:prstGeom>
          <a:noFill/>
          <a:ln/>
        </p:spPr>
        <p:txBody>
          <a:bodyPr wrap="square" lIns="0" tIns="0" rIns="0" bIns="0" rtlCol="0" anchor="ctr"/>
          <a:lstStyle/>
          <a:p>
            <a:pPr algn="ctr" indent="0" marL="0">
              <a:buNone/>
            </a:pPr>
            <a:r>
              <a:rPr lang="en-US" sz="1300" b="1" dirty="0">
                <a:solidFill>
                  <a:srgbClr val="6B4A0E"/>
                </a:solidFill>
                <a:latin typeface="Calibri" pitchFamily="34" charset="0"/>
                <a:ea typeface="Calibri" pitchFamily="34" charset="-122"/>
                <a:cs typeface="Calibri" pitchFamily="34" charset="-120"/>
              </a:rPr>
              <a:t>Design</a:t>
            </a:r>
            <a:endParaRPr lang="en-US" sz="1300" dirty="0"/>
          </a:p>
        </p:txBody>
      </p:sp>
      <p:sp>
        <p:nvSpPr>
          <p:cNvPr id="9" name="Shape 7"/>
          <p:cNvSpPr/>
          <p:nvPr/>
        </p:nvSpPr>
        <p:spPr>
          <a:xfrm>
            <a:off x="4297680" y="2651760"/>
            <a:ext cx="1773936" cy="566928"/>
          </a:xfrm>
          <a:prstGeom prst="roundRect">
            <a:avLst>
              <a:gd name="adj" fmla="val 12903"/>
            </a:avLst>
          </a:prstGeom>
          <a:solidFill>
            <a:srgbClr val="F1F3F6"/>
          </a:solidFill>
          <a:ln/>
        </p:spPr>
      </p:sp>
      <p:sp>
        <p:nvSpPr>
          <p:cNvPr id="10" name="Text 8"/>
          <p:cNvSpPr/>
          <p:nvPr/>
        </p:nvSpPr>
        <p:spPr>
          <a:xfrm>
            <a:off x="4297680" y="2651760"/>
            <a:ext cx="1773936" cy="566928"/>
          </a:xfrm>
          <a:prstGeom prst="rect">
            <a:avLst/>
          </a:prstGeom>
          <a:noFill/>
          <a:ln/>
        </p:spPr>
        <p:txBody>
          <a:bodyPr wrap="square" lIns="0" tIns="0" rIns="0" bIns="0" rtlCol="0" anchor="ctr"/>
          <a:lstStyle/>
          <a:p>
            <a:pPr algn="ctr" indent="0" marL="0">
              <a:buNone/>
            </a:pPr>
            <a:r>
              <a:rPr lang="en-US" sz="1300" dirty="0">
                <a:solidFill>
                  <a:srgbClr val="5C6675"/>
                </a:solidFill>
                <a:latin typeface="Calibri" pitchFamily="34" charset="0"/>
                <a:ea typeface="Calibri" pitchFamily="34" charset="-122"/>
                <a:cs typeface="Calibri" pitchFamily="34" charset="-120"/>
              </a:rPr>
              <a:t>Build</a:t>
            </a:r>
            <a:endParaRPr lang="en-US" sz="1300" dirty="0"/>
          </a:p>
        </p:txBody>
      </p:sp>
      <p:sp>
        <p:nvSpPr>
          <p:cNvPr id="11" name="Shape 9"/>
          <p:cNvSpPr/>
          <p:nvPr/>
        </p:nvSpPr>
        <p:spPr>
          <a:xfrm>
            <a:off x="6172200" y="2651760"/>
            <a:ext cx="1773936" cy="566928"/>
          </a:xfrm>
          <a:prstGeom prst="roundRect">
            <a:avLst>
              <a:gd name="adj" fmla="val 12903"/>
            </a:avLst>
          </a:prstGeom>
          <a:solidFill>
            <a:srgbClr val="F1F3F6"/>
          </a:solidFill>
          <a:ln/>
        </p:spPr>
      </p:sp>
      <p:sp>
        <p:nvSpPr>
          <p:cNvPr id="12" name="Text 10"/>
          <p:cNvSpPr/>
          <p:nvPr/>
        </p:nvSpPr>
        <p:spPr>
          <a:xfrm>
            <a:off x="6172200" y="2651760"/>
            <a:ext cx="1773936" cy="566928"/>
          </a:xfrm>
          <a:prstGeom prst="rect">
            <a:avLst/>
          </a:prstGeom>
          <a:noFill/>
          <a:ln/>
        </p:spPr>
        <p:txBody>
          <a:bodyPr wrap="square" lIns="0" tIns="0" rIns="0" bIns="0" rtlCol="0" anchor="ctr"/>
          <a:lstStyle/>
          <a:p>
            <a:pPr algn="ctr" indent="0" marL="0">
              <a:buNone/>
            </a:pPr>
            <a:r>
              <a:rPr lang="en-US" sz="1300" dirty="0">
                <a:solidFill>
                  <a:srgbClr val="5C6675"/>
                </a:solidFill>
                <a:latin typeface="Calibri" pitchFamily="34" charset="0"/>
                <a:ea typeface="Calibri" pitchFamily="34" charset="-122"/>
                <a:cs typeface="Calibri" pitchFamily="34" charset="-120"/>
              </a:rPr>
              <a:t>Deploy</a:t>
            </a:r>
            <a:endParaRPr lang="en-US" sz="1300" dirty="0"/>
          </a:p>
        </p:txBody>
      </p:sp>
      <p:sp>
        <p:nvSpPr>
          <p:cNvPr id="13" name="Shape 11"/>
          <p:cNvSpPr/>
          <p:nvPr/>
        </p:nvSpPr>
        <p:spPr>
          <a:xfrm>
            <a:off x="8046720" y="2651760"/>
            <a:ext cx="1773936" cy="566928"/>
          </a:xfrm>
          <a:prstGeom prst="roundRect">
            <a:avLst>
              <a:gd name="adj" fmla="val 12903"/>
            </a:avLst>
          </a:prstGeom>
          <a:solidFill>
            <a:srgbClr val="F1F3F6"/>
          </a:solidFill>
          <a:ln/>
        </p:spPr>
      </p:sp>
      <p:sp>
        <p:nvSpPr>
          <p:cNvPr id="14" name="Text 12"/>
          <p:cNvSpPr/>
          <p:nvPr/>
        </p:nvSpPr>
        <p:spPr>
          <a:xfrm>
            <a:off x="8046720" y="2651760"/>
            <a:ext cx="1773936" cy="566928"/>
          </a:xfrm>
          <a:prstGeom prst="rect">
            <a:avLst/>
          </a:prstGeom>
          <a:noFill/>
          <a:ln/>
        </p:spPr>
        <p:txBody>
          <a:bodyPr wrap="square" lIns="0" tIns="0" rIns="0" bIns="0" rtlCol="0" anchor="ctr"/>
          <a:lstStyle/>
          <a:p>
            <a:pPr algn="ctr" indent="0" marL="0">
              <a:buNone/>
            </a:pPr>
            <a:r>
              <a:rPr lang="en-US" sz="1300" dirty="0">
                <a:solidFill>
                  <a:srgbClr val="5C6675"/>
                </a:solidFill>
                <a:latin typeface="Calibri" pitchFamily="34" charset="0"/>
                <a:ea typeface="Calibri" pitchFamily="34" charset="-122"/>
                <a:cs typeface="Calibri" pitchFamily="34" charset="-120"/>
              </a:rPr>
              <a:t>Run</a:t>
            </a:r>
            <a:endParaRPr lang="en-US" sz="1300" dirty="0"/>
          </a:p>
        </p:txBody>
      </p:sp>
      <p:sp>
        <p:nvSpPr>
          <p:cNvPr id="15" name="Shape 13"/>
          <p:cNvSpPr/>
          <p:nvPr/>
        </p:nvSpPr>
        <p:spPr>
          <a:xfrm>
            <a:off x="9921240" y="2651760"/>
            <a:ext cx="1773936" cy="566928"/>
          </a:xfrm>
          <a:prstGeom prst="roundRect">
            <a:avLst>
              <a:gd name="adj" fmla="val 12903"/>
            </a:avLst>
          </a:prstGeom>
          <a:solidFill>
            <a:srgbClr val="F1F3F6"/>
          </a:solidFill>
          <a:ln/>
        </p:spPr>
      </p:sp>
      <p:sp>
        <p:nvSpPr>
          <p:cNvPr id="16" name="Text 14"/>
          <p:cNvSpPr/>
          <p:nvPr/>
        </p:nvSpPr>
        <p:spPr>
          <a:xfrm>
            <a:off x="9921240" y="2651760"/>
            <a:ext cx="1773936" cy="566928"/>
          </a:xfrm>
          <a:prstGeom prst="rect">
            <a:avLst/>
          </a:prstGeom>
          <a:noFill/>
          <a:ln/>
        </p:spPr>
        <p:txBody>
          <a:bodyPr wrap="square" lIns="0" tIns="0" rIns="0" bIns="0" rtlCol="0" anchor="ctr"/>
          <a:lstStyle/>
          <a:p>
            <a:pPr algn="ctr" indent="0" marL="0">
              <a:buNone/>
            </a:pPr>
            <a:r>
              <a:rPr lang="en-US" sz="1300" dirty="0">
                <a:solidFill>
                  <a:srgbClr val="5C6675"/>
                </a:solidFill>
                <a:latin typeface="Calibri" pitchFamily="34" charset="0"/>
                <a:ea typeface="Calibri" pitchFamily="34" charset="-122"/>
                <a:cs typeface="Calibri" pitchFamily="34" charset="-120"/>
              </a:rPr>
              <a:t>Invoice</a:t>
            </a:r>
            <a:endParaRPr lang="en-US" sz="1300" dirty="0"/>
          </a:p>
        </p:txBody>
      </p:sp>
      <p:sp>
        <p:nvSpPr>
          <p:cNvPr id="17" name="Text 15"/>
          <p:cNvSpPr/>
          <p:nvPr/>
        </p:nvSpPr>
        <p:spPr>
          <a:xfrm>
            <a:off x="548640" y="2267712"/>
            <a:ext cx="3749040" cy="310896"/>
          </a:xfrm>
          <a:prstGeom prst="rect">
            <a:avLst/>
          </a:prstGeom>
          <a:noFill/>
          <a:ln/>
        </p:spPr>
        <p:txBody>
          <a:bodyPr wrap="square" lIns="0" tIns="0" rIns="0" bIns="0" rtlCol="0" anchor="ctr"/>
          <a:lstStyle/>
          <a:p>
            <a:pPr indent="0" marL="0">
              <a:buNone/>
            </a:pPr>
            <a:r>
              <a:rPr lang="en-US" sz="1200" b="1" spc="140" kern="0" dirty="0">
                <a:solidFill>
                  <a:srgbClr val="B87B18"/>
                </a:solidFill>
                <a:latin typeface="Calibri" pitchFamily="34" charset="0"/>
                <a:ea typeface="Calibri" pitchFamily="34" charset="-122"/>
                <a:cs typeface="Calibri" pitchFamily="34" charset="-120"/>
              </a:rPr>
              <a:t>Where FinOps belongs</a:t>
            </a:r>
            <a:endParaRPr lang="en-US" sz="1200" dirty="0"/>
          </a:p>
        </p:txBody>
      </p:sp>
      <p:sp>
        <p:nvSpPr>
          <p:cNvPr id="18" name="Text 16"/>
          <p:cNvSpPr/>
          <p:nvPr/>
        </p:nvSpPr>
        <p:spPr>
          <a:xfrm>
            <a:off x="8046720" y="3310128"/>
            <a:ext cx="3593592" cy="310896"/>
          </a:xfrm>
          <a:prstGeom prst="rect">
            <a:avLst/>
          </a:prstGeom>
          <a:noFill/>
          <a:ln/>
        </p:spPr>
        <p:txBody>
          <a:bodyPr wrap="square" lIns="0" tIns="0" rIns="0" bIns="0" rtlCol="0" anchor="ctr"/>
          <a:lstStyle/>
          <a:p>
            <a:pPr algn="r" indent="0" marL="0">
              <a:buNone/>
            </a:pPr>
            <a:r>
              <a:rPr lang="en-US" sz="1200" b="1" spc="140" kern="0" dirty="0">
                <a:solidFill>
                  <a:srgbClr val="5C6675"/>
                </a:solidFill>
                <a:latin typeface="Calibri" pitchFamily="34" charset="0"/>
                <a:ea typeface="Calibri" pitchFamily="34" charset="-122"/>
                <a:cs typeface="Calibri" pitchFamily="34" charset="-120"/>
              </a:rPr>
              <a:t>Where FinOps usually arrives</a:t>
            </a:r>
            <a:endParaRPr lang="en-US" sz="1200" dirty="0"/>
          </a:p>
        </p:txBody>
      </p:sp>
      <p:sp>
        <p:nvSpPr>
          <p:cNvPr id="19" name="Text 17"/>
          <p:cNvSpPr/>
          <p:nvPr/>
        </p:nvSpPr>
        <p:spPr>
          <a:xfrm>
            <a:off x="548640" y="3310128"/>
            <a:ext cx="5486400" cy="310896"/>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Most of the lifetime cost is committed here.</a:t>
            </a:r>
            <a:endParaRPr lang="en-US" sz="1250" dirty="0"/>
          </a:p>
        </p:txBody>
      </p:sp>
      <p:sp>
        <p:nvSpPr>
          <p:cNvPr id="20" name="Shape 18"/>
          <p:cNvSpPr/>
          <p:nvPr/>
        </p:nvSpPr>
        <p:spPr>
          <a:xfrm>
            <a:off x="548640" y="3913632"/>
            <a:ext cx="5394960" cy="2121408"/>
          </a:xfrm>
          <a:prstGeom prst="roundRect">
            <a:avLst>
              <a:gd name="adj" fmla="val 3879"/>
            </a:avLst>
          </a:prstGeom>
          <a:solidFill>
            <a:srgbClr val="1F2936"/>
          </a:solidFill>
          <a:ln/>
        </p:spPr>
      </p:sp>
      <p:sp>
        <p:nvSpPr>
          <p:cNvPr id="21" name="Text 19"/>
          <p:cNvSpPr/>
          <p:nvPr/>
        </p:nvSpPr>
        <p:spPr>
          <a:xfrm>
            <a:off x="859536" y="4078224"/>
            <a:ext cx="4754880" cy="274320"/>
          </a:xfrm>
          <a:prstGeom prst="rect">
            <a:avLst/>
          </a:prstGeom>
          <a:noFill/>
          <a:ln/>
        </p:spPr>
        <p:txBody>
          <a:bodyPr wrap="square" lIns="0" tIns="0" rIns="0" bIns="0" rtlCol="0" anchor="ctr"/>
          <a:lstStyle/>
          <a:p>
            <a:pPr indent="0" marL="0">
              <a:buNone/>
            </a:pPr>
            <a:r>
              <a:rPr lang="en-US" sz="1100" b="1" spc="140" kern="0" dirty="0">
                <a:solidFill>
                  <a:srgbClr val="E39B2C"/>
                </a:solidFill>
                <a:latin typeface="Calibri" pitchFamily="34" charset="0"/>
                <a:ea typeface="Calibri" pitchFamily="34" charset="-122"/>
                <a:cs typeface="Calibri" pitchFamily="34" charset="-120"/>
              </a:rPr>
              <a:t>WHAT FINOPS BRINGS TO THE ROOM</a:t>
            </a:r>
            <a:endParaRPr lang="en-US" sz="1100" dirty="0"/>
          </a:p>
        </p:txBody>
      </p:sp>
      <p:sp>
        <p:nvSpPr>
          <p:cNvPr id="22" name="Shape 20"/>
          <p:cNvSpPr/>
          <p:nvPr/>
        </p:nvSpPr>
        <p:spPr>
          <a:xfrm>
            <a:off x="877824" y="4590288"/>
            <a:ext cx="100584" cy="100584"/>
          </a:xfrm>
          <a:prstGeom prst="ellipse">
            <a:avLst/>
          </a:prstGeom>
          <a:solidFill>
            <a:srgbClr val="E39B2C"/>
          </a:solidFill>
          <a:ln/>
        </p:spPr>
      </p:sp>
      <p:sp>
        <p:nvSpPr>
          <p:cNvPr id="23" name="Text 21"/>
          <p:cNvSpPr/>
          <p:nvPr/>
        </p:nvSpPr>
        <p:spPr>
          <a:xfrm>
            <a:off x="1115568" y="4443984"/>
            <a:ext cx="4517136" cy="512064"/>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Two or three options, priced  </a:t>
            </a:r>
            <a:pPr indent="0" marL="0">
              <a:lnSpc>
                <a:spcPts val="1600"/>
              </a:lnSpc>
              <a:buNone/>
            </a:pPr>
            <a:r>
              <a:rPr lang="en-US" sz="1250" dirty="0">
                <a:solidFill>
                  <a:srgbClr val="9EABBA"/>
                </a:solidFill>
                <a:latin typeface="Calibri" pitchFamily="34" charset="0"/>
                <a:ea typeface="Calibri" pitchFamily="34" charset="-122"/>
                <a:cs typeface="Calibri" pitchFamily="34" charset="-120"/>
              </a:rPr>
              <a:t>The choice gets made with the number visible.</a:t>
            </a:r>
            <a:endParaRPr lang="en-US" sz="1250" dirty="0"/>
          </a:p>
        </p:txBody>
      </p:sp>
      <p:sp>
        <p:nvSpPr>
          <p:cNvPr id="24" name="Shape 22"/>
          <p:cNvSpPr/>
          <p:nvPr/>
        </p:nvSpPr>
        <p:spPr>
          <a:xfrm>
            <a:off x="877824" y="5120640"/>
            <a:ext cx="100584" cy="100584"/>
          </a:xfrm>
          <a:prstGeom prst="ellipse">
            <a:avLst/>
          </a:prstGeom>
          <a:solidFill>
            <a:srgbClr val="E39B2C"/>
          </a:solidFill>
          <a:ln/>
        </p:spPr>
      </p:sp>
      <p:sp>
        <p:nvSpPr>
          <p:cNvPr id="25" name="Text 23"/>
          <p:cNvSpPr/>
          <p:nvPr/>
        </p:nvSpPr>
        <p:spPr>
          <a:xfrm>
            <a:off x="1115568" y="4974336"/>
            <a:ext cx="4517136" cy="512064"/>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A cost target for the workload  </a:t>
            </a:r>
            <a:pPr indent="0" marL="0">
              <a:lnSpc>
                <a:spcPts val="1600"/>
              </a:lnSpc>
              <a:buNone/>
            </a:pPr>
            <a:r>
              <a:rPr lang="en-US" sz="1250" dirty="0">
                <a:solidFill>
                  <a:srgbClr val="9EABBA"/>
                </a:solidFill>
                <a:latin typeface="Calibri" pitchFamily="34" charset="0"/>
                <a:ea typeface="Calibri" pitchFamily="34" charset="-122"/>
                <a:cs typeface="Calibri" pitchFamily="34" charset="-120"/>
              </a:rPr>
              <a:t>Recorded beside latency and availability.</a:t>
            </a:r>
            <a:endParaRPr lang="en-US" sz="1250" dirty="0"/>
          </a:p>
        </p:txBody>
      </p:sp>
      <p:sp>
        <p:nvSpPr>
          <p:cNvPr id="26" name="Shape 24"/>
          <p:cNvSpPr/>
          <p:nvPr/>
        </p:nvSpPr>
        <p:spPr>
          <a:xfrm>
            <a:off x="877824" y="5650992"/>
            <a:ext cx="100584" cy="100584"/>
          </a:xfrm>
          <a:prstGeom prst="ellipse">
            <a:avLst/>
          </a:prstGeom>
          <a:solidFill>
            <a:srgbClr val="E39B2C"/>
          </a:solidFill>
          <a:ln/>
        </p:spPr>
      </p:sp>
      <p:sp>
        <p:nvSpPr>
          <p:cNvPr id="27" name="Text 25"/>
          <p:cNvSpPr/>
          <p:nvPr/>
        </p:nvSpPr>
        <p:spPr>
          <a:xfrm>
            <a:off x="1115568" y="5504688"/>
            <a:ext cx="4517136" cy="512064"/>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The allocation plan  </a:t>
            </a:r>
            <a:pPr indent="0" marL="0">
              <a:lnSpc>
                <a:spcPts val="1600"/>
              </a:lnSpc>
              <a:buNone/>
            </a:pPr>
            <a:r>
              <a:rPr lang="en-US" sz="1250" dirty="0">
                <a:solidFill>
                  <a:srgbClr val="9EABBA"/>
                </a:solidFill>
                <a:latin typeface="Calibri" pitchFamily="34" charset="0"/>
                <a:ea typeface="Calibri" pitchFamily="34" charset="-122"/>
                <a:cs typeface="Calibri" pitchFamily="34" charset="-120"/>
              </a:rPr>
              <a:t>Which tags, which cost centre, which unit.</a:t>
            </a:r>
            <a:endParaRPr lang="en-US" sz="1250" dirty="0"/>
          </a:p>
        </p:txBody>
      </p:sp>
      <p:sp>
        <p:nvSpPr>
          <p:cNvPr id="28" name="Shape 26"/>
          <p:cNvSpPr/>
          <p:nvPr/>
        </p:nvSpPr>
        <p:spPr>
          <a:xfrm>
            <a:off x="6245352" y="3913632"/>
            <a:ext cx="5394960" cy="2121408"/>
          </a:xfrm>
          <a:prstGeom prst="roundRect">
            <a:avLst>
              <a:gd name="adj" fmla="val 3879"/>
            </a:avLst>
          </a:prstGeom>
          <a:solidFill>
            <a:srgbClr val="F1F3F6"/>
          </a:solidFill>
          <a:ln/>
        </p:spPr>
      </p:sp>
      <p:sp>
        <p:nvSpPr>
          <p:cNvPr id="29" name="Text 27"/>
          <p:cNvSpPr/>
          <p:nvPr/>
        </p:nvSpPr>
        <p:spPr>
          <a:xfrm>
            <a:off x="6556248" y="4078224"/>
            <a:ext cx="4754880" cy="274320"/>
          </a:xfrm>
          <a:prstGeom prst="rect">
            <a:avLst/>
          </a:prstGeom>
          <a:noFill/>
          <a:ln/>
        </p:spPr>
        <p:txBody>
          <a:bodyPr wrap="square" lIns="0" tIns="0" rIns="0" bIns="0" rtlCol="0" anchor="ctr"/>
          <a:lstStyle/>
          <a:p>
            <a:pPr indent="0" marL="0">
              <a:buNone/>
            </a:pPr>
            <a:r>
              <a:rPr lang="en-US" sz="1100" b="1" spc="140" kern="0" dirty="0">
                <a:solidFill>
                  <a:srgbClr val="1F6B5C"/>
                </a:solidFill>
                <a:latin typeface="Calibri" pitchFamily="34" charset="0"/>
                <a:ea typeface="Calibri" pitchFamily="34" charset="-122"/>
                <a:cs typeface="Calibri" pitchFamily="34" charset="-120"/>
              </a:rPr>
              <a:t>WHAT FINOPS NEEDS TO LEARN FROM THE TEAM</a:t>
            </a:r>
            <a:endParaRPr lang="en-US" sz="1100" dirty="0"/>
          </a:p>
        </p:txBody>
      </p:sp>
      <p:sp>
        <p:nvSpPr>
          <p:cNvPr id="30" name="Shape 28"/>
          <p:cNvSpPr/>
          <p:nvPr/>
        </p:nvSpPr>
        <p:spPr>
          <a:xfrm>
            <a:off x="6574536" y="4590288"/>
            <a:ext cx="100584" cy="100584"/>
          </a:xfrm>
          <a:prstGeom prst="ellipse">
            <a:avLst/>
          </a:prstGeom>
          <a:solidFill>
            <a:srgbClr val="1F6B5C"/>
          </a:solidFill>
          <a:ln/>
        </p:spPr>
      </p:sp>
      <p:sp>
        <p:nvSpPr>
          <p:cNvPr id="31" name="Text 29"/>
          <p:cNvSpPr/>
          <p:nvPr/>
        </p:nvSpPr>
        <p:spPr>
          <a:xfrm>
            <a:off x="6812280" y="4443984"/>
            <a:ext cx="4517136" cy="512064"/>
          </a:xfrm>
          <a:prstGeom prst="rect">
            <a:avLst/>
          </a:prstGeom>
          <a:noFill/>
          <a:ln/>
        </p:spPr>
        <p:txBody>
          <a:bodyPr wrap="square" lIns="0" tIns="0" rIns="0" bIns="0" rtlCol="0" anchor="t"/>
          <a:lstStyle/>
          <a:p>
            <a:pPr indent="0" marL="0">
              <a:lnSpc>
                <a:spcPts val="1600"/>
              </a:lnSpc>
              <a:buNone/>
            </a:pPr>
            <a:r>
              <a:rPr lang="en-US" sz="1250" b="1" dirty="0">
                <a:solidFill>
                  <a:srgbClr val="1B2430"/>
                </a:solidFill>
                <a:latin typeface="Calibri" pitchFamily="34" charset="0"/>
                <a:ea typeface="Calibri" pitchFamily="34" charset="-122"/>
                <a:cs typeface="Calibri" pitchFamily="34" charset="-120"/>
              </a:rPr>
              <a:t>What the project actually needs  </a:t>
            </a:r>
            <a:pPr indent="0" marL="0">
              <a:lnSpc>
                <a:spcPts val="1600"/>
              </a:lnSpc>
              <a:buNone/>
            </a:pPr>
            <a:r>
              <a:rPr lang="en-US" sz="1250" dirty="0">
                <a:solidFill>
                  <a:srgbClr val="5C6675"/>
                </a:solidFill>
                <a:latin typeface="Calibri" pitchFamily="34" charset="0"/>
                <a:ea typeface="Calibri" pitchFamily="34" charset="-122"/>
                <a:cs typeface="Calibri" pitchFamily="34" charset="-120"/>
              </a:rPr>
              <a:t>Scale, growth, retention, and the real SLO.</a:t>
            </a:r>
            <a:endParaRPr lang="en-US" sz="1250" dirty="0"/>
          </a:p>
        </p:txBody>
      </p:sp>
      <p:sp>
        <p:nvSpPr>
          <p:cNvPr id="32" name="Shape 30"/>
          <p:cNvSpPr/>
          <p:nvPr/>
        </p:nvSpPr>
        <p:spPr>
          <a:xfrm>
            <a:off x="6574536" y="5120640"/>
            <a:ext cx="100584" cy="100584"/>
          </a:xfrm>
          <a:prstGeom prst="ellipse">
            <a:avLst/>
          </a:prstGeom>
          <a:solidFill>
            <a:srgbClr val="1F6B5C"/>
          </a:solidFill>
          <a:ln/>
        </p:spPr>
      </p:sp>
      <p:sp>
        <p:nvSpPr>
          <p:cNvPr id="33" name="Text 31"/>
          <p:cNvSpPr/>
          <p:nvPr/>
        </p:nvSpPr>
        <p:spPr>
          <a:xfrm>
            <a:off x="6812280" y="4974336"/>
            <a:ext cx="4517136" cy="512064"/>
          </a:xfrm>
          <a:prstGeom prst="rect">
            <a:avLst/>
          </a:prstGeom>
          <a:noFill/>
          <a:ln/>
        </p:spPr>
        <p:txBody>
          <a:bodyPr wrap="square" lIns="0" tIns="0" rIns="0" bIns="0" rtlCol="0" anchor="t"/>
          <a:lstStyle/>
          <a:p>
            <a:pPr indent="0" marL="0">
              <a:lnSpc>
                <a:spcPts val="1600"/>
              </a:lnSpc>
              <a:buNone/>
            </a:pPr>
            <a:r>
              <a:rPr lang="en-US" sz="1250" b="1" dirty="0">
                <a:solidFill>
                  <a:srgbClr val="1B2430"/>
                </a:solidFill>
                <a:latin typeface="Calibri" pitchFamily="34" charset="0"/>
                <a:ea typeface="Calibri" pitchFamily="34" charset="-122"/>
                <a:cs typeface="Calibri" pitchFamily="34" charset="-120"/>
              </a:rPr>
              <a:t>What is temporary  </a:t>
            </a:r>
            <a:pPr indent="0" marL="0">
              <a:lnSpc>
                <a:spcPts val="1600"/>
              </a:lnSpc>
              <a:buNone/>
            </a:pPr>
            <a:r>
              <a:rPr lang="en-US" sz="1250" dirty="0">
                <a:solidFill>
                  <a:srgbClr val="5C6675"/>
                </a:solidFill>
                <a:latin typeface="Calibri" pitchFamily="34" charset="0"/>
                <a:ea typeface="Calibri" pitchFamily="34" charset="-122"/>
                <a:cs typeface="Calibri" pitchFamily="34" charset="-120"/>
              </a:rPr>
              <a:t>An end date set now costs nothing to honour later.</a:t>
            </a:r>
            <a:endParaRPr lang="en-US" sz="1250" dirty="0"/>
          </a:p>
        </p:txBody>
      </p:sp>
      <p:sp>
        <p:nvSpPr>
          <p:cNvPr id="34" name="Shape 32"/>
          <p:cNvSpPr/>
          <p:nvPr/>
        </p:nvSpPr>
        <p:spPr>
          <a:xfrm>
            <a:off x="6574536" y="5650992"/>
            <a:ext cx="100584" cy="100584"/>
          </a:xfrm>
          <a:prstGeom prst="ellipse">
            <a:avLst/>
          </a:prstGeom>
          <a:solidFill>
            <a:srgbClr val="1F6B5C"/>
          </a:solidFill>
          <a:ln/>
        </p:spPr>
      </p:sp>
      <p:sp>
        <p:nvSpPr>
          <p:cNvPr id="35" name="Text 33"/>
          <p:cNvSpPr/>
          <p:nvPr/>
        </p:nvSpPr>
        <p:spPr>
          <a:xfrm>
            <a:off x="6812280" y="5504688"/>
            <a:ext cx="4517136" cy="512064"/>
          </a:xfrm>
          <a:prstGeom prst="rect">
            <a:avLst/>
          </a:prstGeom>
          <a:noFill/>
          <a:ln/>
        </p:spPr>
        <p:txBody>
          <a:bodyPr wrap="square" lIns="0" tIns="0" rIns="0" bIns="0" rtlCol="0" anchor="t"/>
          <a:lstStyle/>
          <a:p>
            <a:pPr indent="0" marL="0">
              <a:lnSpc>
                <a:spcPts val="1600"/>
              </a:lnSpc>
              <a:buNone/>
            </a:pPr>
            <a:r>
              <a:rPr lang="en-US" sz="1250" b="1" dirty="0">
                <a:solidFill>
                  <a:srgbClr val="1B2430"/>
                </a:solidFill>
                <a:latin typeface="Calibri" pitchFamily="34" charset="0"/>
                <a:ea typeface="Calibri" pitchFamily="34" charset="-122"/>
                <a:cs typeface="Calibri" pitchFamily="34" charset="-120"/>
              </a:rPr>
              <a:t>Where the business value sits  </a:t>
            </a:r>
            <a:pPr indent="0" marL="0">
              <a:lnSpc>
                <a:spcPts val="1600"/>
              </a:lnSpc>
              <a:buNone/>
            </a:pPr>
            <a:r>
              <a:rPr lang="en-US" sz="1250" dirty="0">
                <a:solidFill>
                  <a:srgbClr val="5C6675"/>
                </a:solidFill>
                <a:latin typeface="Calibri" pitchFamily="34" charset="0"/>
                <a:ea typeface="Calibri" pitchFamily="34" charset="-122"/>
                <a:cs typeface="Calibri" pitchFamily="34" charset="-120"/>
              </a:rPr>
              <a:t>Per customer, per order, per model call.</a:t>
            </a:r>
            <a:endParaRPr lang="en-US" sz="1250" dirty="0"/>
          </a:p>
        </p:txBody>
      </p:sp>
      <p:sp>
        <p:nvSpPr>
          <p:cNvPr id="36" name="Text 34"/>
          <p:cNvSpPr/>
          <p:nvPr/>
        </p:nvSpPr>
        <p:spPr>
          <a:xfrm>
            <a:off x="548640" y="6144768"/>
            <a:ext cx="11091672" cy="457200"/>
          </a:xfrm>
          <a:prstGeom prst="rect">
            <a:avLst/>
          </a:prstGeom>
          <a:noFill/>
          <a:ln/>
        </p:spPr>
        <p:txBody>
          <a:bodyPr wrap="square" lIns="0" tIns="0" rIns="0" bIns="0" rtlCol="0" anchor="ctr"/>
          <a:lstStyle/>
          <a:p>
            <a:pPr indent="0" marL="0">
              <a:buNone/>
            </a:pPr>
            <a:r>
              <a:rPr lang="en-US" sz="1250" dirty="0">
                <a:solidFill>
                  <a:srgbClr val="5C6675"/>
                </a:solidFill>
                <a:latin typeface="Calibri" pitchFamily="34" charset="0"/>
                <a:ea typeface="Calibri" pitchFamily="34" charset="-122"/>
                <a:cs typeface="Calibri" pitchFamily="34" charset="-120"/>
              </a:rPr>
              <a:t>The FinOps Framework names this: Architecting &amp; Workload Placement, and Onboarding Workloads — cost, usage and impact decision support during design and intake.</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 SHIFT LEFT IN PRACTICE</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Six questions, asked before the build starts</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9EABBA"/>
                </a:solidFill>
                <a:latin typeface="Calibri" pitchFamily="34" charset="0"/>
                <a:ea typeface="Calibri" pitchFamily="34" charset="-122"/>
                <a:cs typeface="Calibri" pitchFamily="34" charset="-120"/>
              </a:rPr>
              <a:t>None of them is a finance question. All of them decide the bill.</a:t>
            </a:r>
            <a:endParaRPr lang="en-US" sz="1500" dirty="0"/>
          </a:p>
        </p:txBody>
      </p:sp>
      <p:sp>
        <p:nvSpPr>
          <p:cNvPr id="5" name="Shape 3"/>
          <p:cNvSpPr/>
          <p:nvPr/>
        </p:nvSpPr>
        <p:spPr>
          <a:xfrm>
            <a:off x="548640" y="2121408"/>
            <a:ext cx="3511296" cy="1874520"/>
          </a:xfrm>
          <a:prstGeom prst="roundRect">
            <a:avLst>
              <a:gd name="adj" fmla="val 4390"/>
            </a:avLst>
          </a:prstGeom>
          <a:solidFill>
            <a:srgbClr val="1F2936"/>
          </a:solidFill>
          <a:ln/>
        </p:spPr>
      </p:sp>
      <p:sp>
        <p:nvSpPr>
          <p:cNvPr id="6" name="Shape 4"/>
          <p:cNvSpPr/>
          <p:nvPr/>
        </p:nvSpPr>
        <p:spPr>
          <a:xfrm>
            <a:off x="841248" y="2377440"/>
            <a:ext cx="457200" cy="457200"/>
          </a:xfrm>
          <a:prstGeom prst="ellipse">
            <a:avLst/>
          </a:prstGeom>
          <a:solidFill>
            <a:srgbClr val="2E3A48"/>
          </a:solidFill>
          <a:ln/>
        </p:spPr>
      </p:sp>
      <p:pic>
        <p:nvPicPr>
          <p:cNvPr id="7" name="Image 0" descr="preencoded.png">    </p:cNvPr>
          <p:cNvPicPr>
            <a:picLocks noChangeAspect="1"/>
          </p:cNvPicPr>
          <p:nvPr/>
        </p:nvPicPr>
        <p:blipFill>
          <a:blip r:embed="rId1"/>
          <a:stretch>
            <a:fillRect/>
          </a:stretch>
        </p:blipFill>
        <p:spPr>
          <a:xfrm>
            <a:off x="955548" y="2491740"/>
            <a:ext cx="228600" cy="228600"/>
          </a:xfrm>
          <a:prstGeom prst="rect">
            <a:avLst/>
          </a:prstGeom>
        </p:spPr>
      </p:pic>
      <p:sp>
        <p:nvSpPr>
          <p:cNvPr id="8" name="Text 5"/>
          <p:cNvSpPr/>
          <p:nvPr/>
        </p:nvSpPr>
        <p:spPr>
          <a:xfrm>
            <a:off x="1426464" y="2359152"/>
            <a:ext cx="2468880" cy="493776"/>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Shape of the load</a:t>
            </a:r>
            <a:endParaRPr lang="en-US" sz="1500" dirty="0"/>
          </a:p>
        </p:txBody>
      </p:sp>
      <p:sp>
        <p:nvSpPr>
          <p:cNvPr id="9" name="Text 6"/>
          <p:cNvSpPr/>
          <p:nvPr/>
        </p:nvSpPr>
        <p:spPr>
          <a:xfrm>
            <a:off x="841248" y="2962656"/>
            <a:ext cx="2926080" cy="960120"/>
          </a:xfrm>
          <a:prstGeom prst="rect">
            <a:avLst/>
          </a:prstGeom>
          <a:noFill/>
          <a:ln/>
        </p:spPr>
        <p:txBody>
          <a:bodyPr wrap="square" lIns="0" tIns="0" rIns="0" bIns="0" rtlCol="0" anchor="t"/>
          <a:lstStyle/>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Peak versus average, and how spiky? Sizing for a peak that lasts an hour a week is the most common overspend.</a:t>
            </a:r>
            <a:endParaRPr lang="en-US" sz="1200" dirty="0"/>
          </a:p>
        </p:txBody>
      </p:sp>
      <p:sp>
        <p:nvSpPr>
          <p:cNvPr id="10" name="Shape 7"/>
          <p:cNvSpPr/>
          <p:nvPr/>
        </p:nvSpPr>
        <p:spPr>
          <a:xfrm>
            <a:off x="4334256" y="2121408"/>
            <a:ext cx="3511296" cy="1874520"/>
          </a:xfrm>
          <a:prstGeom prst="roundRect">
            <a:avLst>
              <a:gd name="adj" fmla="val 4390"/>
            </a:avLst>
          </a:prstGeom>
          <a:solidFill>
            <a:srgbClr val="1F2936"/>
          </a:solidFill>
          <a:ln/>
        </p:spPr>
      </p:sp>
      <p:sp>
        <p:nvSpPr>
          <p:cNvPr id="11" name="Shape 8"/>
          <p:cNvSpPr/>
          <p:nvPr/>
        </p:nvSpPr>
        <p:spPr>
          <a:xfrm>
            <a:off x="4626864" y="2377440"/>
            <a:ext cx="457200" cy="457200"/>
          </a:xfrm>
          <a:prstGeom prst="ellipse">
            <a:avLst/>
          </a:prstGeom>
          <a:solidFill>
            <a:srgbClr val="2E3A48"/>
          </a:solidFill>
          <a:ln/>
        </p:spPr>
      </p:sp>
      <p:pic>
        <p:nvPicPr>
          <p:cNvPr id="12" name="Image 1" descr="preencoded.png">    </p:cNvPr>
          <p:cNvPicPr>
            <a:picLocks noChangeAspect="1"/>
          </p:cNvPicPr>
          <p:nvPr/>
        </p:nvPicPr>
        <p:blipFill>
          <a:blip r:embed="rId2"/>
          <a:stretch>
            <a:fillRect/>
          </a:stretch>
        </p:blipFill>
        <p:spPr>
          <a:xfrm>
            <a:off x="4741164" y="2491740"/>
            <a:ext cx="228600" cy="228600"/>
          </a:xfrm>
          <a:prstGeom prst="rect">
            <a:avLst/>
          </a:prstGeom>
        </p:spPr>
      </p:pic>
      <p:sp>
        <p:nvSpPr>
          <p:cNvPr id="13" name="Text 9"/>
          <p:cNvSpPr/>
          <p:nvPr/>
        </p:nvSpPr>
        <p:spPr>
          <a:xfrm>
            <a:off x="5212080" y="2359152"/>
            <a:ext cx="2468880" cy="493776"/>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Data volume and retention</a:t>
            </a:r>
            <a:endParaRPr lang="en-US" sz="1500" dirty="0"/>
          </a:p>
        </p:txBody>
      </p:sp>
      <p:sp>
        <p:nvSpPr>
          <p:cNvPr id="14" name="Text 10"/>
          <p:cNvSpPr/>
          <p:nvPr/>
        </p:nvSpPr>
        <p:spPr>
          <a:xfrm>
            <a:off x="4626864" y="2962656"/>
            <a:ext cx="2926080" cy="960120"/>
          </a:xfrm>
          <a:prstGeom prst="rect">
            <a:avLst/>
          </a:prstGeom>
          <a:noFill/>
          <a:ln/>
        </p:spPr>
        <p:txBody>
          <a:bodyPr wrap="square" lIns="0" tIns="0" rIns="0" bIns="0" rtlCol="0" anchor="t"/>
          <a:lstStyle/>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How much is stored, for how long, and how much leaves the region? Egress and retention rarely appear in the estimate.</a:t>
            </a:r>
            <a:endParaRPr lang="en-US" sz="1200" dirty="0"/>
          </a:p>
        </p:txBody>
      </p:sp>
      <p:sp>
        <p:nvSpPr>
          <p:cNvPr id="15" name="Shape 11"/>
          <p:cNvSpPr/>
          <p:nvPr/>
        </p:nvSpPr>
        <p:spPr>
          <a:xfrm>
            <a:off x="8119872" y="2121408"/>
            <a:ext cx="3511296" cy="1874520"/>
          </a:xfrm>
          <a:prstGeom prst="roundRect">
            <a:avLst>
              <a:gd name="adj" fmla="val 4390"/>
            </a:avLst>
          </a:prstGeom>
          <a:solidFill>
            <a:srgbClr val="1F2936"/>
          </a:solidFill>
          <a:ln/>
        </p:spPr>
      </p:sp>
      <p:sp>
        <p:nvSpPr>
          <p:cNvPr id="16" name="Shape 12"/>
          <p:cNvSpPr/>
          <p:nvPr/>
        </p:nvSpPr>
        <p:spPr>
          <a:xfrm>
            <a:off x="8412480" y="2377440"/>
            <a:ext cx="457200" cy="457200"/>
          </a:xfrm>
          <a:prstGeom prst="ellipse">
            <a:avLst/>
          </a:prstGeom>
          <a:solidFill>
            <a:srgbClr val="2E3A48"/>
          </a:solidFill>
          <a:ln/>
        </p:spPr>
      </p:sp>
      <p:pic>
        <p:nvPicPr>
          <p:cNvPr id="17" name="Image 2" descr="preencoded.png">    </p:cNvPr>
          <p:cNvPicPr>
            <a:picLocks noChangeAspect="1"/>
          </p:cNvPicPr>
          <p:nvPr/>
        </p:nvPicPr>
        <p:blipFill>
          <a:blip r:embed="rId3"/>
          <a:stretch>
            <a:fillRect/>
          </a:stretch>
        </p:blipFill>
        <p:spPr>
          <a:xfrm>
            <a:off x="8526780" y="2491740"/>
            <a:ext cx="228600" cy="228600"/>
          </a:xfrm>
          <a:prstGeom prst="rect">
            <a:avLst/>
          </a:prstGeom>
        </p:spPr>
      </p:pic>
      <p:sp>
        <p:nvSpPr>
          <p:cNvPr id="18" name="Text 13"/>
          <p:cNvSpPr/>
          <p:nvPr/>
        </p:nvSpPr>
        <p:spPr>
          <a:xfrm>
            <a:off x="8997696" y="2359152"/>
            <a:ext cx="2468880" cy="493776"/>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What the SLO actually requires</a:t>
            </a:r>
            <a:endParaRPr lang="en-US" sz="1500" dirty="0"/>
          </a:p>
        </p:txBody>
      </p:sp>
      <p:sp>
        <p:nvSpPr>
          <p:cNvPr id="19" name="Text 14"/>
          <p:cNvSpPr/>
          <p:nvPr/>
        </p:nvSpPr>
        <p:spPr>
          <a:xfrm>
            <a:off x="8412480" y="2962656"/>
            <a:ext cx="2926080" cy="960120"/>
          </a:xfrm>
          <a:prstGeom prst="rect">
            <a:avLst/>
          </a:prstGeom>
          <a:noFill/>
          <a:ln/>
        </p:spPr>
        <p:txBody>
          <a:bodyPr wrap="square" lIns="0" tIns="0" rIns="0" bIns="0" rtlCol="0" anchor="t"/>
          <a:lstStyle/>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Multi-region and multi-AZ are priced choices. Ask which one the business will genuinely pay for.</a:t>
            </a:r>
            <a:endParaRPr lang="en-US" sz="1200" dirty="0"/>
          </a:p>
        </p:txBody>
      </p:sp>
      <p:sp>
        <p:nvSpPr>
          <p:cNvPr id="20" name="Shape 15"/>
          <p:cNvSpPr/>
          <p:nvPr/>
        </p:nvSpPr>
        <p:spPr>
          <a:xfrm>
            <a:off x="548640" y="4133088"/>
            <a:ext cx="3511296" cy="1874520"/>
          </a:xfrm>
          <a:prstGeom prst="roundRect">
            <a:avLst>
              <a:gd name="adj" fmla="val 4390"/>
            </a:avLst>
          </a:prstGeom>
          <a:solidFill>
            <a:srgbClr val="1F2936"/>
          </a:solidFill>
          <a:ln/>
        </p:spPr>
      </p:sp>
      <p:sp>
        <p:nvSpPr>
          <p:cNvPr id="21" name="Shape 16"/>
          <p:cNvSpPr/>
          <p:nvPr/>
        </p:nvSpPr>
        <p:spPr>
          <a:xfrm>
            <a:off x="841248" y="4389120"/>
            <a:ext cx="457200" cy="457200"/>
          </a:xfrm>
          <a:prstGeom prst="ellipse">
            <a:avLst/>
          </a:prstGeom>
          <a:solidFill>
            <a:srgbClr val="2E3A48"/>
          </a:solidFill>
          <a:ln/>
        </p:spPr>
      </p:sp>
      <p:pic>
        <p:nvPicPr>
          <p:cNvPr id="22" name="Image 3" descr="preencoded.png">    </p:cNvPr>
          <p:cNvPicPr>
            <a:picLocks noChangeAspect="1"/>
          </p:cNvPicPr>
          <p:nvPr/>
        </p:nvPicPr>
        <p:blipFill>
          <a:blip r:embed="rId4"/>
          <a:stretch>
            <a:fillRect/>
          </a:stretch>
        </p:blipFill>
        <p:spPr>
          <a:xfrm>
            <a:off x="955548" y="4503420"/>
            <a:ext cx="228600" cy="228600"/>
          </a:xfrm>
          <a:prstGeom prst="rect">
            <a:avLst/>
          </a:prstGeom>
        </p:spPr>
      </p:pic>
      <p:sp>
        <p:nvSpPr>
          <p:cNvPr id="23" name="Text 17"/>
          <p:cNvSpPr/>
          <p:nvPr/>
        </p:nvSpPr>
        <p:spPr>
          <a:xfrm>
            <a:off x="1426464" y="4370832"/>
            <a:ext cx="2468880" cy="493776"/>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What is temporary</a:t>
            </a:r>
            <a:endParaRPr lang="en-US" sz="1500" dirty="0"/>
          </a:p>
        </p:txBody>
      </p:sp>
      <p:sp>
        <p:nvSpPr>
          <p:cNvPr id="24" name="Text 18"/>
          <p:cNvSpPr/>
          <p:nvPr/>
        </p:nvSpPr>
        <p:spPr>
          <a:xfrm>
            <a:off x="841248" y="4974336"/>
            <a:ext cx="2926080" cy="960120"/>
          </a:xfrm>
          <a:prstGeom prst="rect">
            <a:avLst/>
          </a:prstGeom>
          <a:noFill/>
          <a:ln/>
        </p:spPr>
        <p:txBody>
          <a:bodyPr wrap="square" lIns="0" tIns="0" rIns="0" bIns="0" rtlCol="0" anchor="t"/>
          <a:lstStyle/>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Non-production with no end date becomes permanent. An expiry set on day one is free; removing it later is a project.</a:t>
            </a:r>
            <a:endParaRPr lang="en-US" sz="1200" dirty="0"/>
          </a:p>
        </p:txBody>
      </p:sp>
      <p:sp>
        <p:nvSpPr>
          <p:cNvPr id="25" name="Shape 19"/>
          <p:cNvSpPr/>
          <p:nvPr/>
        </p:nvSpPr>
        <p:spPr>
          <a:xfrm>
            <a:off x="4334256" y="4133088"/>
            <a:ext cx="3511296" cy="1874520"/>
          </a:xfrm>
          <a:prstGeom prst="roundRect">
            <a:avLst>
              <a:gd name="adj" fmla="val 4390"/>
            </a:avLst>
          </a:prstGeom>
          <a:solidFill>
            <a:srgbClr val="1F2936"/>
          </a:solidFill>
          <a:ln/>
        </p:spPr>
      </p:sp>
      <p:sp>
        <p:nvSpPr>
          <p:cNvPr id="26" name="Shape 20"/>
          <p:cNvSpPr/>
          <p:nvPr/>
        </p:nvSpPr>
        <p:spPr>
          <a:xfrm>
            <a:off x="4626864" y="4389120"/>
            <a:ext cx="457200" cy="457200"/>
          </a:xfrm>
          <a:prstGeom prst="ellipse">
            <a:avLst/>
          </a:prstGeom>
          <a:solidFill>
            <a:srgbClr val="2E3A48"/>
          </a:solidFill>
          <a:ln/>
        </p:spPr>
      </p:sp>
      <p:pic>
        <p:nvPicPr>
          <p:cNvPr id="27" name="Image 4" descr="preencoded.png">    </p:cNvPr>
          <p:cNvPicPr>
            <a:picLocks noChangeAspect="1"/>
          </p:cNvPicPr>
          <p:nvPr/>
        </p:nvPicPr>
        <p:blipFill>
          <a:blip r:embed="rId5"/>
          <a:stretch>
            <a:fillRect/>
          </a:stretch>
        </p:blipFill>
        <p:spPr>
          <a:xfrm>
            <a:off x="4741164" y="4503420"/>
            <a:ext cx="228600" cy="228600"/>
          </a:xfrm>
          <a:prstGeom prst="rect">
            <a:avLst/>
          </a:prstGeom>
        </p:spPr>
      </p:pic>
      <p:sp>
        <p:nvSpPr>
          <p:cNvPr id="28" name="Text 21"/>
          <p:cNvSpPr/>
          <p:nvPr/>
        </p:nvSpPr>
        <p:spPr>
          <a:xfrm>
            <a:off x="5212080" y="4370832"/>
            <a:ext cx="2468880" cy="493776"/>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For AI workloads</a:t>
            </a:r>
            <a:endParaRPr lang="en-US" sz="1500" dirty="0"/>
          </a:p>
        </p:txBody>
      </p:sp>
      <p:sp>
        <p:nvSpPr>
          <p:cNvPr id="29" name="Text 22"/>
          <p:cNvSpPr/>
          <p:nvPr/>
        </p:nvSpPr>
        <p:spPr>
          <a:xfrm>
            <a:off x="4626864" y="4974336"/>
            <a:ext cx="2926080" cy="960120"/>
          </a:xfrm>
          <a:prstGeom prst="rect">
            <a:avLst/>
          </a:prstGeom>
          <a:noFill/>
          <a:ln/>
        </p:spPr>
        <p:txBody>
          <a:bodyPr wrap="square" lIns="0" tIns="0" rIns="0" bIns="0" rtlCol="0" anchor="t"/>
          <a:lstStyle/>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Tokens per request, cache hit rate, model tier, and whether provisioned throughput is justified by the traffic.</a:t>
            </a:r>
            <a:endParaRPr lang="en-US" sz="1200" dirty="0"/>
          </a:p>
        </p:txBody>
      </p:sp>
      <p:sp>
        <p:nvSpPr>
          <p:cNvPr id="30" name="Shape 23"/>
          <p:cNvSpPr/>
          <p:nvPr/>
        </p:nvSpPr>
        <p:spPr>
          <a:xfrm>
            <a:off x="8119872" y="4133088"/>
            <a:ext cx="3511296" cy="1874520"/>
          </a:xfrm>
          <a:prstGeom prst="roundRect">
            <a:avLst>
              <a:gd name="adj" fmla="val 4390"/>
            </a:avLst>
          </a:prstGeom>
          <a:solidFill>
            <a:srgbClr val="1F2936"/>
          </a:solidFill>
          <a:ln/>
        </p:spPr>
      </p:sp>
      <p:sp>
        <p:nvSpPr>
          <p:cNvPr id="31" name="Shape 24"/>
          <p:cNvSpPr/>
          <p:nvPr/>
        </p:nvSpPr>
        <p:spPr>
          <a:xfrm>
            <a:off x="8412480" y="4389120"/>
            <a:ext cx="457200" cy="457200"/>
          </a:xfrm>
          <a:prstGeom prst="ellipse">
            <a:avLst/>
          </a:prstGeom>
          <a:solidFill>
            <a:srgbClr val="2E3A48"/>
          </a:solidFill>
          <a:ln/>
        </p:spPr>
      </p:sp>
      <p:pic>
        <p:nvPicPr>
          <p:cNvPr id="32" name="Image 5" descr="preencoded.png">    </p:cNvPr>
          <p:cNvPicPr>
            <a:picLocks noChangeAspect="1"/>
          </p:cNvPicPr>
          <p:nvPr/>
        </p:nvPicPr>
        <p:blipFill>
          <a:blip r:embed="rId6"/>
          <a:stretch>
            <a:fillRect/>
          </a:stretch>
        </p:blipFill>
        <p:spPr>
          <a:xfrm>
            <a:off x="8526780" y="4503420"/>
            <a:ext cx="228600" cy="228600"/>
          </a:xfrm>
          <a:prstGeom prst="rect">
            <a:avLst/>
          </a:prstGeom>
        </p:spPr>
      </p:pic>
      <p:sp>
        <p:nvSpPr>
          <p:cNvPr id="33" name="Text 25"/>
          <p:cNvSpPr/>
          <p:nvPr/>
        </p:nvSpPr>
        <p:spPr>
          <a:xfrm>
            <a:off x="8997696" y="4370832"/>
            <a:ext cx="2468880" cy="493776"/>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Owner and unit</a:t>
            </a:r>
            <a:endParaRPr lang="en-US" sz="1500" dirty="0"/>
          </a:p>
        </p:txBody>
      </p:sp>
      <p:sp>
        <p:nvSpPr>
          <p:cNvPr id="34" name="Text 26"/>
          <p:cNvSpPr/>
          <p:nvPr/>
        </p:nvSpPr>
        <p:spPr>
          <a:xfrm>
            <a:off x="8412480" y="4974336"/>
            <a:ext cx="2926080" cy="960120"/>
          </a:xfrm>
          <a:prstGeom prst="rect">
            <a:avLst/>
          </a:prstGeom>
          <a:noFill/>
          <a:ln/>
        </p:spPr>
        <p:txBody>
          <a:bodyPr wrap="square" lIns="0" tIns="0" rIns="0" bIns="0" rtlCol="0" anchor="t"/>
          <a:lstStyle/>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Which cost centre carries it, and what unit we will divide the cost by once it is live.</a:t>
            </a:r>
            <a:endParaRPr lang="en-US" sz="1200" dirty="0"/>
          </a:p>
        </p:txBody>
      </p:sp>
      <p:sp>
        <p:nvSpPr>
          <p:cNvPr id="35" name="Text 27"/>
          <p:cNvSpPr/>
          <p:nvPr/>
        </p:nvSpPr>
        <p:spPr>
          <a:xfrm>
            <a:off x="548640" y="6163056"/>
            <a:ext cx="11091672" cy="548640"/>
          </a:xfrm>
          <a:prstGeom prst="rect">
            <a:avLst/>
          </a:prstGeom>
          <a:noFill/>
          <a:ln/>
        </p:spPr>
        <p:txBody>
          <a:bodyPr wrap="square" lIns="0" tIns="0" rIns="0" bIns="0" rtlCol="0" anchor="t"/>
          <a:lstStyle/>
          <a:p>
            <a:pPr indent="0" marL="0">
              <a:lnSpc>
                <a:spcPts val="1800"/>
              </a:lnSpc>
              <a:buNone/>
            </a:pPr>
            <a:r>
              <a:rPr lang="en-US" sz="1250" b="1" dirty="0">
                <a:solidFill>
                  <a:srgbClr val="E39B2C"/>
                </a:solidFill>
                <a:latin typeface="Calibri" pitchFamily="34" charset="0"/>
                <a:ea typeface="Calibri" pitchFamily="34" charset="-122"/>
                <a:cs typeface="Calibri" pitchFamily="34" charset="-120"/>
              </a:rPr>
              <a:t>The output is a number attached to the design: </a:t>
            </a:r>
            <a:pPr indent="0" marL="0">
              <a:lnSpc>
                <a:spcPts val="1800"/>
              </a:lnSpc>
              <a:buNone/>
            </a:pPr>
            <a:r>
              <a:rPr lang="en-US" sz="1250" dirty="0">
                <a:solidFill>
                  <a:srgbClr val="9EABBA"/>
                </a:solidFill>
                <a:latin typeface="Calibri" pitchFamily="34" charset="0"/>
                <a:ea typeface="Calibri" pitchFamily="34" charset="-122"/>
                <a:cs typeface="Calibri" pitchFamily="34" charset="-120"/>
              </a:rPr>
              <a:t>an estimate, and a cost target recorded beside the latency and availability targets. A cost diff on the pull request and policy as code keep it honest afterwards.</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 PUTTING IT TOGETHER</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Nobody should learn it from the invoice</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The same overrun, found at four different moments. Only the first three leave you anything to do about it.</a:t>
            </a:r>
            <a:endParaRPr lang="en-US" sz="1500" dirty="0"/>
          </a:p>
        </p:txBody>
      </p:sp>
      <p:sp>
        <p:nvSpPr>
          <p:cNvPr id="5" name="Shape 3"/>
          <p:cNvSpPr/>
          <p:nvPr/>
        </p:nvSpPr>
        <p:spPr>
          <a:xfrm>
            <a:off x="1737360" y="3127248"/>
            <a:ext cx="8714232" cy="45720"/>
          </a:xfrm>
          <a:prstGeom prst="roundRect">
            <a:avLst>
              <a:gd name="adj" fmla="val 40000"/>
            </a:avLst>
          </a:prstGeom>
          <a:solidFill>
            <a:srgbClr val="DFE4EA"/>
          </a:solidFill>
          <a:ln/>
        </p:spPr>
      </p:sp>
      <p:sp>
        <p:nvSpPr>
          <p:cNvPr id="6" name="Text 4"/>
          <p:cNvSpPr/>
          <p:nvPr/>
        </p:nvSpPr>
        <p:spPr>
          <a:xfrm>
            <a:off x="548640" y="2212848"/>
            <a:ext cx="2377440" cy="310896"/>
          </a:xfrm>
          <a:prstGeom prst="rect">
            <a:avLst/>
          </a:prstGeom>
          <a:noFill/>
          <a:ln/>
        </p:spPr>
        <p:txBody>
          <a:bodyPr wrap="square" lIns="0" tIns="0" rIns="0" bIns="0" rtlCol="0" anchor="ctr"/>
          <a:lstStyle/>
          <a:p>
            <a:pPr algn="ctr" indent="0" marL="0">
              <a:buNone/>
            </a:pPr>
            <a:r>
              <a:rPr lang="en-US" sz="1400" b="1" dirty="0">
                <a:solidFill>
                  <a:srgbClr val="1B2430"/>
                </a:solidFill>
                <a:latin typeface="Calibri" pitchFamily="34" charset="0"/>
                <a:ea typeface="Calibri" pitchFamily="34" charset="-122"/>
                <a:cs typeface="Calibri" pitchFamily="34" charset="-120"/>
              </a:rPr>
              <a:t>Usage burn alert</a:t>
            </a:r>
            <a:endParaRPr lang="en-US" sz="1400" dirty="0"/>
          </a:p>
        </p:txBody>
      </p:sp>
      <p:sp>
        <p:nvSpPr>
          <p:cNvPr id="7" name="Text 5"/>
          <p:cNvSpPr/>
          <p:nvPr/>
        </p:nvSpPr>
        <p:spPr>
          <a:xfrm>
            <a:off x="548640" y="2542032"/>
            <a:ext cx="2377440" cy="292608"/>
          </a:xfrm>
          <a:prstGeom prst="rect">
            <a:avLst/>
          </a:prstGeom>
          <a:noFill/>
          <a:ln/>
        </p:spPr>
        <p:txBody>
          <a:bodyPr wrap="square" lIns="0" tIns="0" rIns="0" bIns="0" rtlCol="0" anchor="ctr"/>
          <a:lstStyle/>
          <a:p>
            <a:pPr algn="ctr" indent="0" marL="0">
              <a:buNone/>
            </a:pPr>
            <a:r>
              <a:rPr lang="en-US" sz="1250" b="1" spc="60" kern="0" dirty="0">
                <a:solidFill>
                  <a:srgbClr val="B87B18"/>
                </a:solidFill>
                <a:latin typeface="Calibri" pitchFamily="34" charset="0"/>
                <a:ea typeface="Calibri" pitchFamily="34" charset="-122"/>
                <a:cs typeface="Calibri" pitchFamily="34" charset="-120"/>
              </a:rPr>
              <a:t>~10 minutes</a:t>
            </a:r>
            <a:endParaRPr lang="en-US" sz="1250" dirty="0"/>
          </a:p>
        </p:txBody>
      </p:sp>
      <p:sp>
        <p:nvSpPr>
          <p:cNvPr id="8" name="Shape 6"/>
          <p:cNvSpPr/>
          <p:nvPr/>
        </p:nvSpPr>
        <p:spPr>
          <a:xfrm>
            <a:off x="1618488" y="3031236"/>
            <a:ext cx="237744" cy="237744"/>
          </a:xfrm>
          <a:prstGeom prst="ellipse">
            <a:avLst/>
          </a:prstGeom>
          <a:solidFill>
            <a:srgbClr val="E39B2C"/>
          </a:solidFill>
          <a:ln w="25400">
            <a:solidFill>
              <a:srgbClr val="FFFFFF"/>
            </a:solidFill>
            <a:prstDash val="solid"/>
          </a:ln>
        </p:spPr>
      </p:sp>
      <p:sp>
        <p:nvSpPr>
          <p:cNvPr id="9" name="Text 7"/>
          <p:cNvSpPr/>
          <p:nvPr/>
        </p:nvSpPr>
        <p:spPr>
          <a:xfrm>
            <a:off x="548640" y="3401568"/>
            <a:ext cx="2377440" cy="566928"/>
          </a:xfrm>
          <a:prstGeom prst="rect">
            <a:avLst/>
          </a:prstGeom>
          <a:noFill/>
          <a:ln/>
        </p:spPr>
        <p:txBody>
          <a:bodyPr wrap="square" lIns="0" tIns="0" rIns="0" bIns="0" rtlCol="0" anchor="t"/>
          <a:lstStyle/>
          <a:p>
            <a:pPr algn="ctr" indent="0" marL="0">
              <a:lnSpc>
                <a:spcPts val="1600"/>
              </a:lnSpc>
              <a:buNone/>
            </a:pPr>
            <a:r>
              <a:rPr lang="en-US" sz="1200" dirty="0">
                <a:solidFill>
                  <a:srgbClr val="5C6675"/>
                </a:solidFill>
                <a:latin typeface="Calibri" pitchFamily="34" charset="0"/>
                <a:ea typeface="Calibri" pitchFamily="34" charset="-122"/>
                <a:cs typeface="Calibri" pitchFamily="34" charset="-120"/>
              </a:rPr>
              <a:t>Throttle it, or confirm it was intended.</a:t>
            </a:r>
            <a:endParaRPr lang="en-US" sz="1200" dirty="0"/>
          </a:p>
        </p:txBody>
      </p:sp>
      <p:sp>
        <p:nvSpPr>
          <p:cNvPr id="10" name="Text 8"/>
          <p:cNvSpPr/>
          <p:nvPr/>
        </p:nvSpPr>
        <p:spPr>
          <a:xfrm>
            <a:off x="3566160" y="2212848"/>
            <a:ext cx="2377440" cy="310896"/>
          </a:xfrm>
          <a:prstGeom prst="rect">
            <a:avLst/>
          </a:prstGeom>
          <a:noFill/>
          <a:ln/>
        </p:spPr>
        <p:txBody>
          <a:bodyPr wrap="square" lIns="0" tIns="0" rIns="0" bIns="0" rtlCol="0" anchor="ctr"/>
          <a:lstStyle/>
          <a:p>
            <a:pPr algn="ctr" indent="0" marL="0">
              <a:buNone/>
            </a:pPr>
            <a:r>
              <a:rPr lang="en-US" sz="1400" b="1" dirty="0">
                <a:solidFill>
                  <a:srgbClr val="1B2430"/>
                </a:solidFill>
                <a:latin typeface="Calibri" pitchFamily="34" charset="0"/>
                <a:ea typeface="Calibri" pitchFamily="34" charset="-122"/>
                <a:cs typeface="Calibri" pitchFamily="34" charset="-120"/>
              </a:rPr>
              <a:t>Daily spend threshold</a:t>
            </a:r>
            <a:endParaRPr lang="en-US" sz="1400" dirty="0"/>
          </a:p>
        </p:txBody>
      </p:sp>
      <p:sp>
        <p:nvSpPr>
          <p:cNvPr id="11" name="Text 9"/>
          <p:cNvSpPr/>
          <p:nvPr/>
        </p:nvSpPr>
        <p:spPr>
          <a:xfrm>
            <a:off x="3566160" y="2542032"/>
            <a:ext cx="2377440" cy="292608"/>
          </a:xfrm>
          <a:prstGeom prst="rect">
            <a:avLst/>
          </a:prstGeom>
          <a:noFill/>
          <a:ln/>
        </p:spPr>
        <p:txBody>
          <a:bodyPr wrap="square" lIns="0" tIns="0" rIns="0" bIns="0" rtlCol="0" anchor="ctr"/>
          <a:lstStyle/>
          <a:p>
            <a:pPr algn="ctr" indent="0" marL="0">
              <a:buNone/>
            </a:pPr>
            <a:r>
              <a:rPr lang="en-US" sz="1250" b="1" spc="60" kern="0" dirty="0">
                <a:solidFill>
                  <a:srgbClr val="1F6B5C"/>
                </a:solidFill>
                <a:latin typeface="Calibri" pitchFamily="34" charset="0"/>
                <a:ea typeface="Calibri" pitchFamily="34" charset="-122"/>
                <a:cs typeface="Calibri" pitchFamily="34" charset="-120"/>
              </a:rPr>
              <a:t>next morning</a:t>
            </a:r>
            <a:endParaRPr lang="en-US" sz="1250" dirty="0"/>
          </a:p>
        </p:txBody>
      </p:sp>
      <p:sp>
        <p:nvSpPr>
          <p:cNvPr id="12" name="Shape 10"/>
          <p:cNvSpPr/>
          <p:nvPr/>
        </p:nvSpPr>
        <p:spPr>
          <a:xfrm>
            <a:off x="4636008" y="3031236"/>
            <a:ext cx="237744" cy="237744"/>
          </a:xfrm>
          <a:prstGeom prst="ellipse">
            <a:avLst/>
          </a:prstGeom>
          <a:solidFill>
            <a:srgbClr val="2E8B7A"/>
          </a:solidFill>
          <a:ln w="25400">
            <a:solidFill>
              <a:srgbClr val="FFFFFF"/>
            </a:solidFill>
            <a:prstDash val="solid"/>
          </a:ln>
        </p:spPr>
      </p:sp>
      <p:sp>
        <p:nvSpPr>
          <p:cNvPr id="13" name="Text 11"/>
          <p:cNvSpPr/>
          <p:nvPr/>
        </p:nvSpPr>
        <p:spPr>
          <a:xfrm>
            <a:off x="3566160" y="3401568"/>
            <a:ext cx="2377440" cy="566928"/>
          </a:xfrm>
          <a:prstGeom prst="rect">
            <a:avLst/>
          </a:prstGeom>
          <a:noFill/>
          <a:ln/>
        </p:spPr>
        <p:txBody>
          <a:bodyPr wrap="square" lIns="0" tIns="0" rIns="0" bIns="0" rtlCol="0" anchor="t"/>
          <a:lstStyle/>
          <a:p>
            <a:pPr algn="ctr" indent="0" marL="0">
              <a:lnSpc>
                <a:spcPts val="1600"/>
              </a:lnSpc>
              <a:buNone/>
            </a:pPr>
            <a:r>
              <a:rPr lang="en-US" sz="1200" dirty="0">
                <a:solidFill>
                  <a:srgbClr val="5C6675"/>
                </a:solidFill>
                <a:latin typeface="Calibri" pitchFamily="34" charset="0"/>
                <a:ea typeface="Calibri" pitchFamily="34" charset="-122"/>
                <a:cs typeface="Calibri" pitchFamily="34" charset="-120"/>
              </a:rPr>
              <a:t>One team, one number, one owner to ask.</a:t>
            </a:r>
            <a:endParaRPr lang="en-US" sz="1200" dirty="0"/>
          </a:p>
        </p:txBody>
      </p:sp>
      <p:sp>
        <p:nvSpPr>
          <p:cNvPr id="14" name="Text 12"/>
          <p:cNvSpPr/>
          <p:nvPr/>
        </p:nvSpPr>
        <p:spPr>
          <a:xfrm>
            <a:off x="6583680" y="2212848"/>
            <a:ext cx="2377440" cy="310896"/>
          </a:xfrm>
          <a:prstGeom prst="rect">
            <a:avLst/>
          </a:prstGeom>
          <a:noFill/>
          <a:ln/>
        </p:spPr>
        <p:txBody>
          <a:bodyPr wrap="square" lIns="0" tIns="0" rIns="0" bIns="0" rtlCol="0" anchor="ctr"/>
          <a:lstStyle/>
          <a:p>
            <a:pPr algn="ctr" indent="0" marL="0">
              <a:buNone/>
            </a:pPr>
            <a:r>
              <a:rPr lang="en-US" sz="1400" b="1" dirty="0">
                <a:solidFill>
                  <a:srgbClr val="1B2430"/>
                </a:solidFill>
                <a:latin typeface="Calibri" pitchFamily="34" charset="0"/>
                <a:ea typeface="Calibri" pitchFamily="34" charset="-122"/>
                <a:cs typeface="Calibri" pitchFamily="34" charset="-120"/>
              </a:rPr>
              <a:t>Forecast overrun</a:t>
            </a:r>
            <a:endParaRPr lang="en-US" sz="1400" dirty="0"/>
          </a:p>
        </p:txBody>
      </p:sp>
      <p:sp>
        <p:nvSpPr>
          <p:cNvPr id="15" name="Text 13"/>
          <p:cNvSpPr/>
          <p:nvPr/>
        </p:nvSpPr>
        <p:spPr>
          <a:xfrm>
            <a:off x="6583680" y="2542032"/>
            <a:ext cx="2377440" cy="292608"/>
          </a:xfrm>
          <a:prstGeom prst="rect">
            <a:avLst/>
          </a:prstGeom>
          <a:noFill/>
          <a:ln/>
        </p:spPr>
        <p:txBody>
          <a:bodyPr wrap="square" lIns="0" tIns="0" rIns="0" bIns="0" rtlCol="0" anchor="ctr"/>
          <a:lstStyle/>
          <a:p>
            <a:pPr algn="ctr" indent="0" marL="0">
              <a:buNone/>
            </a:pPr>
            <a:r>
              <a:rPr lang="en-US" sz="1250" b="1" spc="60" kern="0" dirty="0">
                <a:solidFill>
                  <a:srgbClr val="1F6B5C"/>
                </a:solidFill>
                <a:latin typeface="Calibri" pitchFamily="34" charset="0"/>
                <a:ea typeface="Calibri" pitchFamily="34" charset="-122"/>
                <a:cs typeface="Calibri" pitchFamily="34" charset="-120"/>
              </a:rPr>
              <a:t>~2 weeks out</a:t>
            </a:r>
            <a:endParaRPr lang="en-US" sz="1250" dirty="0"/>
          </a:p>
        </p:txBody>
      </p:sp>
      <p:sp>
        <p:nvSpPr>
          <p:cNvPr id="16" name="Shape 14"/>
          <p:cNvSpPr/>
          <p:nvPr/>
        </p:nvSpPr>
        <p:spPr>
          <a:xfrm>
            <a:off x="7653528" y="3031236"/>
            <a:ext cx="237744" cy="237744"/>
          </a:xfrm>
          <a:prstGeom prst="ellipse">
            <a:avLst/>
          </a:prstGeom>
          <a:solidFill>
            <a:srgbClr val="2E8B7A"/>
          </a:solidFill>
          <a:ln w="25400">
            <a:solidFill>
              <a:srgbClr val="FFFFFF"/>
            </a:solidFill>
            <a:prstDash val="solid"/>
          </a:ln>
        </p:spPr>
      </p:sp>
      <p:sp>
        <p:nvSpPr>
          <p:cNvPr id="17" name="Text 15"/>
          <p:cNvSpPr/>
          <p:nvPr/>
        </p:nvSpPr>
        <p:spPr>
          <a:xfrm>
            <a:off x="6583680" y="3401568"/>
            <a:ext cx="2377440" cy="566928"/>
          </a:xfrm>
          <a:prstGeom prst="rect">
            <a:avLst/>
          </a:prstGeom>
          <a:noFill/>
          <a:ln/>
        </p:spPr>
        <p:txBody>
          <a:bodyPr wrap="square" lIns="0" tIns="0" rIns="0" bIns="0" rtlCol="0" anchor="t"/>
          <a:lstStyle/>
          <a:p>
            <a:pPr algn="ctr" indent="0" marL="0">
              <a:lnSpc>
                <a:spcPts val="1600"/>
              </a:lnSpc>
              <a:buNone/>
            </a:pPr>
            <a:r>
              <a:rPr lang="en-US" sz="1200" dirty="0">
                <a:solidFill>
                  <a:srgbClr val="5C6675"/>
                </a:solidFill>
                <a:latin typeface="Calibri" pitchFamily="34" charset="0"/>
                <a:ea typeface="Calibri" pitchFamily="34" charset="-122"/>
                <a:cs typeface="Calibri" pitchFamily="34" charset="-120"/>
              </a:rPr>
              <a:t>Still time to change the month's outcome.</a:t>
            </a:r>
            <a:endParaRPr lang="en-US" sz="1200" dirty="0"/>
          </a:p>
        </p:txBody>
      </p:sp>
      <p:sp>
        <p:nvSpPr>
          <p:cNvPr id="18" name="Text 16"/>
          <p:cNvSpPr/>
          <p:nvPr/>
        </p:nvSpPr>
        <p:spPr>
          <a:xfrm>
            <a:off x="9262872" y="2212848"/>
            <a:ext cx="2377440" cy="310896"/>
          </a:xfrm>
          <a:prstGeom prst="rect">
            <a:avLst/>
          </a:prstGeom>
          <a:noFill/>
          <a:ln/>
        </p:spPr>
        <p:txBody>
          <a:bodyPr wrap="square" lIns="0" tIns="0" rIns="0" bIns="0" rtlCol="0" anchor="ctr"/>
          <a:lstStyle/>
          <a:p>
            <a:pPr algn="ctr" indent="0" marL="0">
              <a:buNone/>
            </a:pPr>
            <a:r>
              <a:rPr lang="en-US" sz="1400" b="1" dirty="0">
                <a:solidFill>
                  <a:srgbClr val="5C6675"/>
                </a:solidFill>
                <a:latin typeface="Calibri" pitchFamily="34" charset="0"/>
                <a:ea typeface="Calibri" pitchFamily="34" charset="-122"/>
                <a:cs typeface="Calibri" pitchFamily="34" charset="-120"/>
              </a:rPr>
              <a:t>The invoice</a:t>
            </a:r>
            <a:endParaRPr lang="en-US" sz="1400" dirty="0"/>
          </a:p>
        </p:txBody>
      </p:sp>
      <p:sp>
        <p:nvSpPr>
          <p:cNvPr id="19" name="Text 17"/>
          <p:cNvSpPr/>
          <p:nvPr/>
        </p:nvSpPr>
        <p:spPr>
          <a:xfrm>
            <a:off x="9262872" y="2542032"/>
            <a:ext cx="2377440" cy="292608"/>
          </a:xfrm>
          <a:prstGeom prst="rect">
            <a:avLst/>
          </a:prstGeom>
          <a:noFill/>
          <a:ln/>
        </p:spPr>
        <p:txBody>
          <a:bodyPr wrap="square" lIns="0" tIns="0" rIns="0" bIns="0" rtlCol="0" anchor="ctr"/>
          <a:lstStyle/>
          <a:p>
            <a:pPr algn="ctr" indent="0" marL="0">
              <a:buNone/>
            </a:pPr>
            <a:r>
              <a:rPr lang="en-US" sz="1250" b="1" spc="60" kern="0" dirty="0">
                <a:solidFill>
                  <a:srgbClr val="5C6675"/>
                </a:solidFill>
                <a:latin typeface="Calibri" pitchFamily="34" charset="0"/>
                <a:ea typeface="Calibri" pitchFamily="34" charset="-122"/>
                <a:cs typeface="Calibri" pitchFamily="34" charset="-120"/>
              </a:rPr>
              <a:t>30–45 days later</a:t>
            </a:r>
            <a:endParaRPr lang="en-US" sz="1250" dirty="0"/>
          </a:p>
        </p:txBody>
      </p:sp>
      <p:sp>
        <p:nvSpPr>
          <p:cNvPr id="20" name="Shape 18"/>
          <p:cNvSpPr/>
          <p:nvPr/>
        </p:nvSpPr>
        <p:spPr>
          <a:xfrm>
            <a:off x="10332720" y="3031236"/>
            <a:ext cx="237744" cy="237744"/>
          </a:xfrm>
          <a:prstGeom prst="ellipse">
            <a:avLst/>
          </a:prstGeom>
          <a:solidFill>
            <a:srgbClr val="AEB8C4"/>
          </a:solidFill>
          <a:ln w="25400">
            <a:solidFill>
              <a:srgbClr val="FFFFFF"/>
            </a:solidFill>
            <a:prstDash val="solid"/>
          </a:ln>
        </p:spPr>
      </p:sp>
      <p:sp>
        <p:nvSpPr>
          <p:cNvPr id="21" name="Text 19"/>
          <p:cNvSpPr/>
          <p:nvPr/>
        </p:nvSpPr>
        <p:spPr>
          <a:xfrm>
            <a:off x="9262872" y="3401568"/>
            <a:ext cx="2377440" cy="566928"/>
          </a:xfrm>
          <a:prstGeom prst="rect">
            <a:avLst/>
          </a:prstGeom>
          <a:noFill/>
          <a:ln/>
        </p:spPr>
        <p:txBody>
          <a:bodyPr wrap="square" lIns="0" tIns="0" rIns="0" bIns="0" rtlCol="0" anchor="t"/>
          <a:lstStyle/>
          <a:p>
            <a:pPr algn="ctr" indent="0" marL="0">
              <a:lnSpc>
                <a:spcPts val="1600"/>
              </a:lnSpc>
              <a:buNone/>
            </a:pPr>
            <a:r>
              <a:rPr lang="en-US" sz="1200" dirty="0">
                <a:solidFill>
                  <a:srgbClr val="5C6675"/>
                </a:solidFill>
                <a:latin typeface="Calibri" pitchFamily="34" charset="0"/>
                <a:ea typeface="Calibri" pitchFamily="34" charset="-122"/>
                <a:cs typeface="Calibri" pitchFamily="34" charset="-120"/>
              </a:rPr>
              <a:t>Nothing left to decide. Only to explain.</a:t>
            </a:r>
            <a:endParaRPr lang="en-US" sz="1200" dirty="0"/>
          </a:p>
        </p:txBody>
      </p:sp>
      <p:sp>
        <p:nvSpPr>
          <p:cNvPr id="22" name="Shape 20"/>
          <p:cNvSpPr/>
          <p:nvPr/>
        </p:nvSpPr>
        <p:spPr>
          <a:xfrm>
            <a:off x="548640" y="4297680"/>
            <a:ext cx="6675120" cy="2011680"/>
          </a:xfrm>
          <a:prstGeom prst="roundRect">
            <a:avLst>
              <a:gd name="adj" fmla="val 4091"/>
            </a:avLst>
          </a:prstGeom>
          <a:solidFill>
            <a:srgbClr val="F1F3F6"/>
          </a:solidFill>
          <a:ln/>
        </p:spPr>
      </p:sp>
      <p:sp>
        <p:nvSpPr>
          <p:cNvPr id="23" name="Text 21"/>
          <p:cNvSpPr/>
          <p:nvPr/>
        </p:nvSpPr>
        <p:spPr>
          <a:xfrm>
            <a:off x="877824" y="4443984"/>
            <a:ext cx="3657600" cy="292608"/>
          </a:xfrm>
          <a:prstGeom prst="rect">
            <a:avLst/>
          </a:prstGeom>
          <a:noFill/>
          <a:ln/>
        </p:spPr>
        <p:txBody>
          <a:bodyPr wrap="square" lIns="0" tIns="0" rIns="0" bIns="0" rtlCol="0" anchor="ctr"/>
          <a:lstStyle/>
          <a:p>
            <a:pPr indent="0" marL="0">
              <a:buNone/>
            </a:pPr>
            <a:r>
              <a:rPr lang="en-US" sz="1200" b="1" spc="180" kern="0" dirty="0">
                <a:solidFill>
                  <a:srgbClr val="5C6675"/>
                </a:solidFill>
                <a:latin typeface="Calibri" pitchFamily="34" charset="0"/>
                <a:ea typeface="Calibri" pitchFamily="34" charset="-122"/>
                <a:cs typeface="Calibri" pitchFamily="34" charset="-120"/>
              </a:rPr>
              <a:t>What has to be true</a:t>
            </a:r>
            <a:endParaRPr lang="en-US" sz="1200" dirty="0"/>
          </a:p>
        </p:txBody>
      </p:sp>
      <p:sp>
        <p:nvSpPr>
          <p:cNvPr id="24" name="Shape 22"/>
          <p:cNvSpPr/>
          <p:nvPr/>
        </p:nvSpPr>
        <p:spPr>
          <a:xfrm>
            <a:off x="877824" y="4809744"/>
            <a:ext cx="274320" cy="274320"/>
          </a:xfrm>
          <a:prstGeom prst="ellipse">
            <a:avLst/>
          </a:prstGeom>
          <a:solidFill>
            <a:srgbClr val="FFFFFF"/>
          </a:solidFill>
          <a:ln/>
        </p:spPr>
      </p:sp>
      <p:pic>
        <p:nvPicPr>
          <p:cNvPr id="25" name="Image 0" descr="preencoded.png">    </p:cNvPr>
          <p:cNvPicPr>
            <a:picLocks noChangeAspect="1"/>
          </p:cNvPicPr>
          <p:nvPr/>
        </p:nvPicPr>
        <p:blipFill>
          <a:blip r:embed="rId1"/>
          <a:stretch>
            <a:fillRect/>
          </a:stretch>
        </p:blipFill>
        <p:spPr>
          <a:xfrm>
            <a:off x="946404" y="4878324"/>
            <a:ext cx="137160" cy="137160"/>
          </a:xfrm>
          <a:prstGeom prst="rect">
            <a:avLst/>
          </a:prstGeom>
        </p:spPr>
      </p:pic>
      <p:sp>
        <p:nvSpPr>
          <p:cNvPr id="26" name="Text 23"/>
          <p:cNvSpPr/>
          <p:nvPr/>
        </p:nvSpPr>
        <p:spPr>
          <a:xfrm>
            <a:off x="1298448" y="4754880"/>
            <a:ext cx="5669280" cy="384048"/>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Protective alerts run on usage data, not on billing data</a:t>
            </a:r>
            <a:endParaRPr lang="en-US" sz="1300" dirty="0"/>
          </a:p>
        </p:txBody>
      </p:sp>
      <p:sp>
        <p:nvSpPr>
          <p:cNvPr id="27" name="Shape 24"/>
          <p:cNvSpPr/>
          <p:nvPr/>
        </p:nvSpPr>
        <p:spPr>
          <a:xfrm>
            <a:off x="877824" y="5193792"/>
            <a:ext cx="274320" cy="274320"/>
          </a:xfrm>
          <a:prstGeom prst="ellipse">
            <a:avLst/>
          </a:prstGeom>
          <a:solidFill>
            <a:srgbClr val="FFFFFF"/>
          </a:solidFill>
          <a:ln/>
        </p:spPr>
      </p:sp>
      <p:pic>
        <p:nvPicPr>
          <p:cNvPr id="28" name="Image 1" descr="preencoded.png">    </p:cNvPr>
          <p:cNvPicPr>
            <a:picLocks noChangeAspect="1"/>
          </p:cNvPicPr>
          <p:nvPr/>
        </p:nvPicPr>
        <p:blipFill>
          <a:blip r:embed="rId2"/>
          <a:stretch>
            <a:fillRect/>
          </a:stretch>
        </p:blipFill>
        <p:spPr>
          <a:xfrm>
            <a:off x="946404" y="5262372"/>
            <a:ext cx="137160" cy="137160"/>
          </a:xfrm>
          <a:prstGeom prst="rect">
            <a:avLst/>
          </a:prstGeom>
        </p:spPr>
      </p:pic>
      <p:sp>
        <p:nvSpPr>
          <p:cNvPr id="29" name="Text 25"/>
          <p:cNvSpPr/>
          <p:nvPr/>
        </p:nvSpPr>
        <p:spPr>
          <a:xfrm>
            <a:off x="1298448" y="5138928"/>
            <a:ext cx="5669280" cy="384048"/>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Every alert has a named owner to route to</a:t>
            </a:r>
            <a:endParaRPr lang="en-US" sz="1300" dirty="0"/>
          </a:p>
        </p:txBody>
      </p:sp>
      <p:sp>
        <p:nvSpPr>
          <p:cNvPr id="30" name="Shape 26"/>
          <p:cNvSpPr/>
          <p:nvPr/>
        </p:nvSpPr>
        <p:spPr>
          <a:xfrm>
            <a:off x="877824" y="5577840"/>
            <a:ext cx="274320" cy="274320"/>
          </a:xfrm>
          <a:prstGeom prst="ellipse">
            <a:avLst/>
          </a:prstGeom>
          <a:solidFill>
            <a:srgbClr val="FFFFFF"/>
          </a:solidFill>
          <a:ln/>
        </p:spPr>
      </p:sp>
      <p:pic>
        <p:nvPicPr>
          <p:cNvPr id="31" name="Image 2" descr="preencoded.png">    </p:cNvPr>
          <p:cNvPicPr>
            <a:picLocks noChangeAspect="1"/>
          </p:cNvPicPr>
          <p:nvPr/>
        </p:nvPicPr>
        <p:blipFill>
          <a:blip r:embed="rId3"/>
          <a:stretch>
            <a:fillRect/>
          </a:stretch>
        </p:blipFill>
        <p:spPr>
          <a:xfrm>
            <a:off x="946404" y="5646420"/>
            <a:ext cx="137160" cy="137160"/>
          </a:xfrm>
          <a:prstGeom prst="rect">
            <a:avLst/>
          </a:prstGeom>
        </p:spPr>
      </p:pic>
      <p:sp>
        <p:nvSpPr>
          <p:cNvPr id="32" name="Text 27"/>
          <p:cNvSpPr/>
          <p:nvPr/>
        </p:nvSpPr>
        <p:spPr>
          <a:xfrm>
            <a:off x="1298448" y="5522976"/>
            <a:ext cx="5669280" cy="384048"/>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Budgets are phased, so drift shows up in week one</a:t>
            </a:r>
            <a:endParaRPr lang="en-US" sz="1300" dirty="0"/>
          </a:p>
        </p:txBody>
      </p:sp>
      <p:sp>
        <p:nvSpPr>
          <p:cNvPr id="33" name="Shape 28"/>
          <p:cNvSpPr/>
          <p:nvPr/>
        </p:nvSpPr>
        <p:spPr>
          <a:xfrm>
            <a:off x="877824" y="5961888"/>
            <a:ext cx="274320" cy="274320"/>
          </a:xfrm>
          <a:prstGeom prst="ellipse">
            <a:avLst/>
          </a:prstGeom>
          <a:solidFill>
            <a:srgbClr val="FFFFFF"/>
          </a:solidFill>
          <a:ln/>
        </p:spPr>
      </p:sp>
      <p:pic>
        <p:nvPicPr>
          <p:cNvPr id="34" name="Image 3" descr="preencoded.png">    </p:cNvPr>
          <p:cNvPicPr>
            <a:picLocks noChangeAspect="1"/>
          </p:cNvPicPr>
          <p:nvPr/>
        </p:nvPicPr>
        <p:blipFill>
          <a:blip r:embed="rId4"/>
          <a:stretch>
            <a:fillRect/>
          </a:stretch>
        </p:blipFill>
        <p:spPr>
          <a:xfrm>
            <a:off x="946404" y="6030468"/>
            <a:ext cx="137160" cy="137160"/>
          </a:xfrm>
          <a:prstGeom prst="rect">
            <a:avLst/>
          </a:prstGeom>
        </p:spPr>
      </p:pic>
      <p:sp>
        <p:nvSpPr>
          <p:cNvPr id="35" name="Text 29"/>
          <p:cNvSpPr/>
          <p:nvPr/>
        </p:nvSpPr>
        <p:spPr>
          <a:xfrm>
            <a:off x="1298448" y="5907024"/>
            <a:ext cx="5669280" cy="384048"/>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Quotas cap the worst case while someone investigates</a:t>
            </a:r>
            <a:endParaRPr lang="en-US" sz="1300" dirty="0"/>
          </a:p>
        </p:txBody>
      </p:sp>
      <p:sp>
        <p:nvSpPr>
          <p:cNvPr id="36" name="Shape 30"/>
          <p:cNvSpPr/>
          <p:nvPr/>
        </p:nvSpPr>
        <p:spPr>
          <a:xfrm>
            <a:off x="7525512" y="4297680"/>
            <a:ext cx="4114800" cy="2011680"/>
          </a:xfrm>
          <a:prstGeom prst="roundRect">
            <a:avLst>
              <a:gd name="adj" fmla="val 4091"/>
            </a:avLst>
          </a:prstGeom>
          <a:solidFill>
            <a:srgbClr val="1F2936"/>
          </a:solidFill>
          <a:ln/>
          <a:effectLst>
            <a:outerShdw sx="100000" sy="100000" kx="0" ky="0" algn="bl" rotWithShape="0" blurRad="127000" dist="25400" dir="5400000">
              <a:srgbClr val="8C99A8">
                <a:alpha val="16000"/>
              </a:srgbClr>
            </a:outerShdw>
          </a:effectLst>
        </p:spPr>
      </p:sp>
      <p:sp>
        <p:nvSpPr>
          <p:cNvPr id="37" name="Text 31"/>
          <p:cNvSpPr/>
          <p:nvPr/>
        </p:nvSpPr>
        <p:spPr>
          <a:xfrm>
            <a:off x="7818120" y="4462272"/>
            <a:ext cx="3200400" cy="292608"/>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The point</a:t>
            </a:r>
            <a:endParaRPr lang="en-US" sz="1200" dirty="0"/>
          </a:p>
        </p:txBody>
      </p:sp>
      <p:sp>
        <p:nvSpPr>
          <p:cNvPr id="38" name="Text 32"/>
          <p:cNvSpPr/>
          <p:nvPr/>
        </p:nvSpPr>
        <p:spPr>
          <a:xfrm>
            <a:off x="7818120" y="4828032"/>
            <a:ext cx="3529584" cy="1280160"/>
          </a:xfrm>
          <a:prstGeom prst="rect">
            <a:avLst/>
          </a:prstGeom>
          <a:noFill/>
          <a:ln/>
        </p:spPr>
        <p:txBody>
          <a:bodyPr wrap="square" lIns="0" tIns="0" rIns="0" bIns="0" rtlCol="0" anchor="t"/>
          <a:lstStyle/>
          <a:p>
            <a:pPr indent="0" marL="0">
              <a:lnSpc>
                <a:spcPts val="2200"/>
              </a:lnSpc>
              <a:buNone/>
            </a:pPr>
            <a:r>
              <a:rPr lang="en-US" sz="1550" i="1" dirty="0">
                <a:solidFill>
                  <a:srgbClr val="FFFFFF"/>
                </a:solidFill>
                <a:latin typeface="Cambria" pitchFamily="34" charset="0"/>
                <a:ea typeface="Cambria" pitchFamily="34" charset="-122"/>
                <a:cs typeface="Cambria" pitchFamily="34" charset="-120"/>
              </a:rPr>
              <a:t>The goal is not a smaller invoice. It is an invoice with nothing in it you have not already seen, explained and decided about.</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THE PATH FORWARD</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Where to start</a:t>
            </a:r>
            <a:endParaRPr lang="en-US" sz="3100" dirty="0"/>
          </a:p>
        </p:txBody>
      </p:sp>
      <p:sp>
        <p:nvSpPr>
          <p:cNvPr id="4" name="Shape 2"/>
          <p:cNvSpPr/>
          <p:nvPr/>
        </p:nvSpPr>
        <p:spPr>
          <a:xfrm>
            <a:off x="548640" y="1783080"/>
            <a:ext cx="2587752" cy="2423160"/>
          </a:xfrm>
          <a:prstGeom prst="roundRect">
            <a:avLst>
              <a:gd name="adj" fmla="val 3396"/>
            </a:avLst>
          </a:prstGeom>
          <a:solidFill>
            <a:srgbClr val="1F2936"/>
          </a:solidFill>
          <a:ln/>
        </p:spPr>
      </p:sp>
      <p:sp>
        <p:nvSpPr>
          <p:cNvPr id="5" name="Text 3"/>
          <p:cNvSpPr/>
          <p:nvPr/>
        </p:nvSpPr>
        <p:spPr>
          <a:xfrm>
            <a:off x="804672" y="1965960"/>
            <a:ext cx="1097280" cy="502920"/>
          </a:xfrm>
          <a:prstGeom prst="rect">
            <a:avLst/>
          </a:prstGeom>
          <a:noFill/>
          <a:ln/>
        </p:spPr>
        <p:txBody>
          <a:bodyPr wrap="square" lIns="0" tIns="0" rIns="0" bIns="0" rtlCol="0" anchor="ctr"/>
          <a:lstStyle/>
          <a:p>
            <a:pPr indent="0" marL="0">
              <a:buNone/>
            </a:pPr>
            <a:r>
              <a:rPr lang="en-US" sz="2800" b="1" dirty="0">
                <a:solidFill>
                  <a:srgbClr val="E39B2C"/>
                </a:solidFill>
                <a:latin typeface="Cambria" pitchFamily="34" charset="0"/>
                <a:ea typeface="Cambria" pitchFamily="34" charset="-122"/>
                <a:cs typeface="Cambria" pitchFamily="34" charset="-120"/>
              </a:rPr>
              <a:t>01</a:t>
            </a:r>
            <a:endParaRPr lang="en-US" sz="2800" dirty="0"/>
          </a:p>
        </p:txBody>
      </p:sp>
      <p:sp>
        <p:nvSpPr>
          <p:cNvPr id="6" name="Text 4"/>
          <p:cNvSpPr/>
          <p:nvPr/>
        </p:nvSpPr>
        <p:spPr>
          <a:xfrm>
            <a:off x="786384" y="2523744"/>
            <a:ext cx="2139696" cy="786384"/>
          </a:xfrm>
          <a:prstGeom prst="rect">
            <a:avLst/>
          </a:prstGeom>
          <a:noFill/>
          <a:ln/>
        </p:spPr>
        <p:txBody>
          <a:bodyPr wrap="square" lIns="0" tIns="0" rIns="0" bIns="0" rtlCol="0" anchor="t"/>
          <a:lstStyle/>
          <a:p>
            <a:pPr indent="0" marL="0">
              <a:lnSpc>
                <a:spcPts val="2000"/>
              </a:lnSpc>
              <a:buNone/>
            </a:pPr>
            <a:r>
              <a:rPr lang="en-US" sz="1500" b="1" dirty="0">
                <a:solidFill>
                  <a:srgbClr val="FFFFFF"/>
                </a:solidFill>
                <a:latin typeface="Cambria" pitchFamily="34" charset="0"/>
                <a:ea typeface="Cambria" pitchFamily="34" charset="-122"/>
                <a:cs typeface="Cambria" pitchFamily="34" charset="-120"/>
              </a:rPr>
              <a:t>Set the tagging standard</a:t>
            </a:r>
            <a:endParaRPr lang="en-US" sz="1500" dirty="0"/>
          </a:p>
        </p:txBody>
      </p:sp>
      <p:sp>
        <p:nvSpPr>
          <p:cNvPr id="7" name="Text 5"/>
          <p:cNvSpPr/>
          <p:nvPr/>
        </p:nvSpPr>
        <p:spPr>
          <a:xfrm>
            <a:off x="786384" y="3346704"/>
            <a:ext cx="2139696" cy="749808"/>
          </a:xfrm>
          <a:prstGeom prst="rect">
            <a:avLst/>
          </a:prstGeom>
          <a:noFill/>
          <a:ln/>
        </p:spPr>
        <p:txBody>
          <a:bodyPr wrap="square" lIns="0" tIns="0" rIns="0" bIns="0" rtlCol="0" anchor="t"/>
          <a:lstStyle/>
          <a:p>
            <a:pPr indent="0" marL="0">
              <a:lnSpc>
                <a:spcPts val="1500"/>
              </a:lnSpc>
              <a:buNone/>
            </a:pPr>
            <a:r>
              <a:rPr lang="en-US" sz="1200" dirty="0">
                <a:solidFill>
                  <a:srgbClr val="9EABBA"/>
                </a:solidFill>
                <a:latin typeface="Calibri" pitchFamily="34" charset="0"/>
                <a:ea typeface="Calibri" pitchFamily="34" charset="-122"/>
                <a:cs typeface="Calibri" pitchFamily="34" charset="-120"/>
              </a:rPr>
              <a:t>Agree a consistent taxonomy before investing in dashboards.</a:t>
            </a:r>
            <a:endParaRPr lang="en-US" sz="1200" dirty="0"/>
          </a:p>
        </p:txBody>
      </p:sp>
      <p:sp>
        <p:nvSpPr>
          <p:cNvPr id="8" name="Shape 6"/>
          <p:cNvSpPr/>
          <p:nvPr/>
        </p:nvSpPr>
        <p:spPr>
          <a:xfrm>
            <a:off x="3383280" y="1783080"/>
            <a:ext cx="2587752" cy="2423160"/>
          </a:xfrm>
          <a:prstGeom prst="roundRect">
            <a:avLst>
              <a:gd name="adj" fmla="val 3396"/>
            </a:avLst>
          </a:prstGeom>
          <a:solidFill>
            <a:srgbClr val="F1F3F6"/>
          </a:solidFill>
          <a:ln/>
        </p:spPr>
      </p:sp>
      <p:sp>
        <p:nvSpPr>
          <p:cNvPr id="9" name="Text 7"/>
          <p:cNvSpPr/>
          <p:nvPr/>
        </p:nvSpPr>
        <p:spPr>
          <a:xfrm>
            <a:off x="3639312" y="1965960"/>
            <a:ext cx="1097280" cy="502920"/>
          </a:xfrm>
          <a:prstGeom prst="rect">
            <a:avLst/>
          </a:prstGeom>
          <a:noFill/>
          <a:ln/>
        </p:spPr>
        <p:txBody>
          <a:bodyPr wrap="square" lIns="0" tIns="0" rIns="0" bIns="0" rtlCol="0" anchor="ctr"/>
          <a:lstStyle/>
          <a:p>
            <a:pPr indent="0" marL="0">
              <a:buNone/>
            </a:pPr>
            <a:r>
              <a:rPr lang="en-US" sz="2800" b="1" dirty="0">
                <a:solidFill>
                  <a:srgbClr val="B9C2CD"/>
                </a:solidFill>
                <a:latin typeface="Cambria" pitchFamily="34" charset="0"/>
                <a:ea typeface="Cambria" pitchFamily="34" charset="-122"/>
                <a:cs typeface="Cambria" pitchFamily="34" charset="-120"/>
              </a:rPr>
              <a:t>02</a:t>
            </a:r>
            <a:endParaRPr lang="en-US" sz="2800" dirty="0"/>
          </a:p>
        </p:txBody>
      </p:sp>
      <p:sp>
        <p:nvSpPr>
          <p:cNvPr id="10" name="Text 8"/>
          <p:cNvSpPr/>
          <p:nvPr/>
        </p:nvSpPr>
        <p:spPr>
          <a:xfrm>
            <a:off x="3621024" y="2523744"/>
            <a:ext cx="2139696" cy="786384"/>
          </a:xfrm>
          <a:prstGeom prst="rect">
            <a:avLst/>
          </a:prstGeom>
          <a:noFill/>
          <a:ln/>
        </p:spPr>
        <p:txBody>
          <a:bodyPr wrap="square" lIns="0" tIns="0" rIns="0" bIns="0" rtlCol="0" anchor="t"/>
          <a:lstStyle/>
          <a:p>
            <a:pPr indent="0" marL="0">
              <a:lnSpc>
                <a:spcPts val="2000"/>
              </a:lnSpc>
              <a:buNone/>
            </a:pPr>
            <a:r>
              <a:rPr lang="en-US" sz="1500" b="1" dirty="0">
                <a:solidFill>
                  <a:srgbClr val="1B2430"/>
                </a:solidFill>
                <a:latin typeface="Cambria" pitchFamily="34" charset="0"/>
                <a:ea typeface="Cambria" pitchFamily="34" charset="-122"/>
                <a:cs typeface="Cambria" pitchFamily="34" charset="-120"/>
              </a:rPr>
              <a:t>Start with the biggest spend</a:t>
            </a:r>
            <a:endParaRPr lang="en-US" sz="1500" dirty="0"/>
          </a:p>
        </p:txBody>
      </p:sp>
      <p:sp>
        <p:nvSpPr>
          <p:cNvPr id="11" name="Text 9"/>
          <p:cNvSpPr/>
          <p:nvPr/>
        </p:nvSpPr>
        <p:spPr>
          <a:xfrm>
            <a:off x="3621024" y="3346704"/>
            <a:ext cx="2139696" cy="749808"/>
          </a:xfrm>
          <a:prstGeom prst="rect">
            <a:avLst/>
          </a:prstGeom>
          <a:noFill/>
          <a:ln/>
        </p:spPr>
        <p:txBody>
          <a:bodyPr wrap="square" lIns="0" tIns="0" rIns="0" bIns="0" rtlCol="0" anchor="t"/>
          <a:lstStyle/>
          <a:p>
            <a:pPr indent="0" marL="0">
              <a:lnSpc>
                <a:spcPts val="1500"/>
              </a:lnSpc>
              <a:buNone/>
            </a:pPr>
            <a:r>
              <a:rPr lang="en-US" sz="1200" dirty="0">
                <a:solidFill>
                  <a:srgbClr val="5C6675"/>
                </a:solidFill>
                <a:latin typeface="Calibri" pitchFamily="34" charset="0"/>
                <a:ea typeface="Calibri" pitchFamily="34" charset="-122"/>
                <a:cs typeface="Calibri" pitchFamily="34" charset="-120"/>
              </a:rPr>
              <a:t>Attack the largest categories first. Don't chase perfect granularity everywhere.</a:t>
            </a:r>
            <a:endParaRPr lang="en-US" sz="1200" dirty="0"/>
          </a:p>
        </p:txBody>
      </p:sp>
      <p:sp>
        <p:nvSpPr>
          <p:cNvPr id="12" name="Shape 10"/>
          <p:cNvSpPr/>
          <p:nvPr/>
        </p:nvSpPr>
        <p:spPr>
          <a:xfrm>
            <a:off x="6217920" y="1783080"/>
            <a:ext cx="2587752" cy="2423160"/>
          </a:xfrm>
          <a:prstGeom prst="roundRect">
            <a:avLst>
              <a:gd name="adj" fmla="val 3396"/>
            </a:avLst>
          </a:prstGeom>
          <a:solidFill>
            <a:srgbClr val="F1F3F6"/>
          </a:solidFill>
          <a:ln/>
        </p:spPr>
      </p:sp>
      <p:sp>
        <p:nvSpPr>
          <p:cNvPr id="13" name="Text 11"/>
          <p:cNvSpPr/>
          <p:nvPr/>
        </p:nvSpPr>
        <p:spPr>
          <a:xfrm>
            <a:off x="6473952" y="1965960"/>
            <a:ext cx="1097280" cy="502920"/>
          </a:xfrm>
          <a:prstGeom prst="rect">
            <a:avLst/>
          </a:prstGeom>
          <a:noFill/>
          <a:ln/>
        </p:spPr>
        <p:txBody>
          <a:bodyPr wrap="square" lIns="0" tIns="0" rIns="0" bIns="0" rtlCol="0" anchor="ctr"/>
          <a:lstStyle/>
          <a:p>
            <a:pPr indent="0" marL="0">
              <a:buNone/>
            </a:pPr>
            <a:r>
              <a:rPr lang="en-US" sz="2800" b="1" dirty="0">
                <a:solidFill>
                  <a:srgbClr val="B9C2CD"/>
                </a:solidFill>
                <a:latin typeface="Cambria" pitchFamily="34" charset="0"/>
                <a:ea typeface="Cambria" pitchFamily="34" charset="-122"/>
                <a:cs typeface="Cambria" pitchFamily="34" charset="-120"/>
              </a:rPr>
              <a:t>03</a:t>
            </a:r>
            <a:endParaRPr lang="en-US" sz="2800" dirty="0"/>
          </a:p>
        </p:txBody>
      </p:sp>
      <p:sp>
        <p:nvSpPr>
          <p:cNvPr id="14" name="Text 12"/>
          <p:cNvSpPr/>
          <p:nvPr/>
        </p:nvSpPr>
        <p:spPr>
          <a:xfrm>
            <a:off x="6455664" y="2523744"/>
            <a:ext cx="2139696" cy="786384"/>
          </a:xfrm>
          <a:prstGeom prst="rect">
            <a:avLst/>
          </a:prstGeom>
          <a:noFill/>
          <a:ln/>
        </p:spPr>
        <p:txBody>
          <a:bodyPr wrap="square" lIns="0" tIns="0" rIns="0" bIns="0" rtlCol="0" anchor="t"/>
          <a:lstStyle/>
          <a:p>
            <a:pPr indent="0" marL="0">
              <a:lnSpc>
                <a:spcPts val="2000"/>
              </a:lnSpc>
              <a:buNone/>
            </a:pPr>
            <a:r>
              <a:rPr lang="en-US" sz="1500" b="1" dirty="0">
                <a:solidFill>
                  <a:srgbClr val="1B2430"/>
                </a:solidFill>
                <a:latin typeface="Cambria" pitchFamily="34" charset="0"/>
                <a:ea typeface="Cambria" pitchFamily="34" charset="-122"/>
                <a:cs typeface="Cambria" pitchFamily="34" charset="-120"/>
              </a:rPr>
              <a:t>Get finance and engineering talking</a:t>
            </a:r>
            <a:endParaRPr lang="en-US" sz="1500" dirty="0"/>
          </a:p>
        </p:txBody>
      </p:sp>
      <p:sp>
        <p:nvSpPr>
          <p:cNvPr id="15" name="Text 13"/>
          <p:cNvSpPr/>
          <p:nvPr/>
        </p:nvSpPr>
        <p:spPr>
          <a:xfrm>
            <a:off x="6455664" y="3346704"/>
            <a:ext cx="2139696" cy="749808"/>
          </a:xfrm>
          <a:prstGeom prst="rect">
            <a:avLst/>
          </a:prstGeom>
          <a:noFill/>
          <a:ln/>
        </p:spPr>
        <p:txBody>
          <a:bodyPr wrap="square" lIns="0" tIns="0" rIns="0" bIns="0" rtlCol="0" anchor="t"/>
          <a:lstStyle/>
          <a:p>
            <a:pPr indent="0" marL="0">
              <a:lnSpc>
                <a:spcPts val="1500"/>
              </a:lnSpc>
              <a:buNone/>
            </a:pPr>
            <a:r>
              <a:rPr lang="en-US" sz="1200" dirty="0">
                <a:solidFill>
                  <a:srgbClr val="5C6675"/>
                </a:solidFill>
                <a:latin typeface="Calibri" pitchFamily="34" charset="0"/>
                <a:ea typeface="Calibri" pitchFamily="34" charset="-122"/>
                <a:cs typeface="Calibri" pitchFamily="34" charset="-120"/>
              </a:rPr>
              <a:t>Bring both into the conversation early, not as an afterthought.</a:t>
            </a:r>
            <a:endParaRPr lang="en-US" sz="1200" dirty="0"/>
          </a:p>
        </p:txBody>
      </p:sp>
      <p:sp>
        <p:nvSpPr>
          <p:cNvPr id="16" name="Shape 14"/>
          <p:cNvSpPr/>
          <p:nvPr/>
        </p:nvSpPr>
        <p:spPr>
          <a:xfrm>
            <a:off x="9052560" y="1783080"/>
            <a:ext cx="2587752" cy="2423160"/>
          </a:xfrm>
          <a:prstGeom prst="roundRect">
            <a:avLst>
              <a:gd name="adj" fmla="val 3396"/>
            </a:avLst>
          </a:prstGeom>
          <a:solidFill>
            <a:srgbClr val="F1F3F6"/>
          </a:solidFill>
          <a:ln/>
        </p:spPr>
      </p:sp>
      <p:sp>
        <p:nvSpPr>
          <p:cNvPr id="17" name="Text 15"/>
          <p:cNvSpPr/>
          <p:nvPr/>
        </p:nvSpPr>
        <p:spPr>
          <a:xfrm>
            <a:off x="9308592" y="1965960"/>
            <a:ext cx="1097280" cy="502920"/>
          </a:xfrm>
          <a:prstGeom prst="rect">
            <a:avLst/>
          </a:prstGeom>
          <a:noFill/>
          <a:ln/>
        </p:spPr>
        <p:txBody>
          <a:bodyPr wrap="square" lIns="0" tIns="0" rIns="0" bIns="0" rtlCol="0" anchor="ctr"/>
          <a:lstStyle/>
          <a:p>
            <a:pPr indent="0" marL="0">
              <a:buNone/>
            </a:pPr>
            <a:r>
              <a:rPr lang="en-US" sz="2800" b="1" dirty="0">
                <a:solidFill>
                  <a:srgbClr val="B9C2CD"/>
                </a:solidFill>
                <a:latin typeface="Cambria" pitchFamily="34" charset="0"/>
                <a:ea typeface="Cambria" pitchFamily="34" charset="-122"/>
                <a:cs typeface="Cambria" pitchFamily="34" charset="-120"/>
              </a:rPr>
              <a:t>04</a:t>
            </a:r>
            <a:endParaRPr lang="en-US" sz="2800" dirty="0"/>
          </a:p>
        </p:txBody>
      </p:sp>
      <p:sp>
        <p:nvSpPr>
          <p:cNvPr id="18" name="Text 16"/>
          <p:cNvSpPr/>
          <p:nvPr/>
        </p:nvSpPr>
        <p:spPr>
          <a:xfrm>
            <a:off x="9290304" y="2523744"/>
            <a:ext cx="2139696" cy="786384"/>
          </a:xfrm>
          <a:prstGeom prst="rect">
            <a:avLst/>
          </a:prstGeom>
          <a:noFill/>
          <a:ln/>
        </p:spPr>
        <p:txBody>
          <a:bodyPr wrap="square" lIns="0" tIns="0" rIns="0" bIns="0" rtlCol="0" anchor="t"/>
          <a:lstStyle/>
          <a:p>
            <a:pPr indent="0" marL="0">
              <a:lnSpc>
                <a:spcPts val="2000"/>
              </a:lnSpc>
              <a:buNone/>
            </a:pPr>
            <a:r>
              <a:rPr lang="en-US" sz="1500" b="1" dirty="0">
                <a:solidFill>
                  <a:srgbClr val="1B2430"/>
                </a:solidFill>
                <a:latin typeface="Cambria" pitchFamily="34" charset="0"/>
                <a:ea typeface="Cambria" pitchFamily="34" charset="-122"/>
                <a:cs typeface="Cambria" pitchFamily="34" charset="-120"/>
              </a:rPr>
              <a:t>Set guardrails early</a:t>
            </a:r>
            <a:endParaRPr lang="en-US" sz="1500" dirty="0"/>
          </a:p>
        </p:txBody>
      </p:sp>
      <p:sp>
        <p:nvSpPr>
          <p:cNvPr id="19" name="Text 17"/>
          <p:cNvSpPr/>
          <p:nvPr/>
        </p:nvSpPr>
        <p:spPr>
          <a:xfrm>
            <a:off x="9290304" y="3346704"/>
            <a:ext cx="2139696" cy="749808"/>
          </a:xfrm>
          <a:prstGeom prst="rect">
            <a:avLst/>
          </a:prstGeom>
          <a:noFill/>
          <a:ln/>
        </p:spPr>
        <p:txBody>
          <a:bodyPr wrap="square" lIns="0" tIns="0" rIns="0" bIns="0" rtlCol="0" anchor="t"/>
          <a:lstStyle/>
          <a:p>
            <a:pPr indent="0" marL="0">
              <a:lnSpc>
                <a:spcPts val="1500"/>
              </a:lnSpc>
              <a:buNone/>
            </a:pPr>
            <a:r>
              <a:rPr lang="en-US" sz="1200" dirty="0">
                <a:solidFill>
                  <a:srgbClr val="5C6675"/>
                </a:solidFill>
                <a:latin typeface="Calibri" pitchFamily="34" charset="0"/>
                <a:ea typeface="Calibri" pitchFamily="34" charset="-122"/>
                <a:cs typeface="Calibri" pitchFamily="34" charset="-120"/>
              </a:rPr>
              <a:t>Owners, budget thresholds and quotas cost little to add — and stop the expensive surprises.</a:t>
            </a:r>
            <a:endParaRPr lang="en-US" sz="1200" dirty="0"/>
          </a:p>
        </p:txBody>
      </p:sp>
      <p:sp>
        <p:nvSpPr>
          <p:cNvPr id="20" name="Shape 18"/>
          <p:cNvSpPr/>
          <p:nvPr/>
        </p:nvSpPr>
        <p:spPr>
          <a:xfrm>
            <a:off x="548640" y="4434840"/>
            <a:ext cx="11091672" cy="1874520"/>
          </a:xfrm>
          <a:prstGeom prst="roundRect">
            <a:avLst>
              <a:gd name="adj" fmla="val 4390"/>
            </a:avLst>
          </a:prstGeom>
          <a:solidFill>
            <a:srgbClr val="F1F3F6"/>
          </a:solidFill>
          <a:ln/>
        </p:spPr>
      </p:sp>
      <p:sp>
        <p:nvSpPr>
          <p:cNvPr id="21" name="Text 19"/>
          <p:cNvSpPr/>
          <p:nvPr/>
        </p:nvSpPr>
        <p:spPr>
          <a:xfrm>
            <a:off x="877824" y="4572000"/>
            <a:ext cx="6035040" cy="292608"/>
          </a:xfrm>
          <a:prstGeom prst="rect">
            <a:avLst/>
          </a:prstGeom>
          <a:noFill/>
          <a:ln/>
        </p:spPr>
        <p:txBody>
          <a:bodyPr wrap="square" lIns="0" tIns="0" rIns="0" bIns="0" rtlCol="0" anchor="ctr"/>
          <a:lstStyle/>
          <a:p>
            <a:pPr indent="0" marL="0">
              <a:buNone/>
            </a:pPr>
            <a:r>
              <a:rPr lang="en-US" sz="1200" b="1" spc="180" kern="0" dirty="0">
                <a:solidFill>
                  <a:srgbClr val="5C6675"/>
                </a:solidFill>
                <a:latin typeface="Calibri" pitchFamily="34" charset="0"/>
                <a:ea typeface="Calibri" pitchFamily="34" charset="-122"/>
                <a:cs typeface="Calibri" pitchFamily="34" charset="-120"/>
              </a:rPr>
              <a:t>Tooling — match the footprint, not the ambition</a:t>
            </a:r>
            <a:endParaRPr lang="en-US" sz="1200" dirty="0"/>
          </a:p>
        </p:txBody>
      </p:sp>
      <p:sp>
        <p:nvSpPr>
          <p:cNvPr id="22" name="Text 20"/>
          <p:cNvSpPr/>
          <p:nvPr/>
        </p:nvSpPr>
        <p:spPr>
          <a:xfrm>
            <a:off x="877824" y="4937760"/>
            <a:ext cx="1737360" cy="384048"/>
          </a:xfrm>
          <a:prstGeom prst="rect">
            <a:avLst/>
          </a:prstGeom>
          <a:noFill/>
          <a:ln/>
        </p:spPr>
        <p:txBody>
          <a:bodyPr wrap="square" lIns="0" tIns="0" rIns="0" bIns="0" rtlCol="0" anchor="ctr"/>
          <a:lstStyle/>
          <a:p>
            <a:pPr indent="0" marL="0">
              <a:buNone/>
            </a:pPr>
            <a:r>
              <a:rPr lang="en-US" sz="1350" b="1" dirty="0">
                <a:solidFill>
                  <a:srgbClr val="2E8B7A"/>
                </a:solidFill>
                <a:latin typeface="Calibri" pitchFamily="34" charset="0"/>
                <a:ea typeface="Calibri" pitchFamily="34" charset="-122"/>
                <a:cs typeface="Calibri" pitchFamily="34" charset="-120"/>
              </a:rPr>
              <a:t>Native</a:t>
            </a:r>
            <a:endParaRPr lang="en-US" sz="1350" dirty="0"/>
          </a:p>
        </p:txBody>
      </p:sp>
      <p:sp>
        <p:nvSpPr>
          <p:cNvPr id="23" name="Text 21"/>
          <p:cNvSpPr/>
          <p:nvPr/>
        </p:nvSpPr>
        <p:spPr>
          <a:xfrm>
            <a:off x="2651760" y="4937760"/>
            <a:ext cx="8595360" cy="384048"/>
          </a:xfrm>
          <a:prstGeom prst="rect">
            <a:avLst/>
          </a:prstGeom>
          <a:noFill/>
          <a:ln/>
        </p:spPr>
        <p:txBody>
          <a:bodyPr wrap="square" lIns="0" tIns="0" rIns="0" bIns="0" rtlCol="0" anchor="ctr"/>
          <a:lstStyle/>
          <a:p>
            <a:pPr indent="0" marL="0">
              <a:buNone/>
            </a:pPr>
            <a:r>
              <a:rPr lang="en-US" sz="1350" dirty="0">
                <a:solidFill>
                  <a:srgbClr val="5C6675"/>
                </a:solidFill>
                <a:latin typeface="Calibri" pitchFamily="34" charset="0"/>
                <a:ea typeface="Calibri" pitchFamily="34" charset="-122"/>
                <a:cs typeface="Calibri" pitchFamily="34" charset="-120"/>
              </a:rPr>
              <a:t>AWS Cost Explorer  ·  Azure Cost Management  ·  GCP Billing</a:t>
            </a:r>
            <a:endParaRPr lang="en-US" sz="1350" dirty="0"/>
          </a:p>
        </p:txBody>
      </p:sp>
      <p:sp>
        <p:nvSpPr>
          <p:cNvPr id="24" name="Text 22"/>
          <p:cNvSpPr/>
          <p:nvPr/>
        </p:nvSpPr>
        <p:spPr>
          <a:xfrm>
            <a:off x="877824" y="5349240"/>
            <a:ext cx="1737360" cy="384048"/>
          </a:xfrm>
          <a:prstGeom prst="rect">
            <a:avLst/>
          </a:prstGeom>
          <a:noFill/>
          <a:ln/>
        </p:spPr>
        <p:txBody>
          <a:bodyPr wrap="square" lIns="0" tIns="0" rIns="0" bIns="0" rtlCol="0" anchor="ctr"/>
          <a:lstStyle/>
          <a:p>
            <a:pPr indent="0" marL="0">
              <a:buNone/>
            </a:pPr>
            <a:r>
              <a:rPr lang="en-US" sz="1350" b="1" dirty="0">
                <a:solidFill>
                  <a:srgbClr val="B87B18"/>
                </a:solidFill>
                <a:latin typeface="Calibri" pitchFamily="34" charset="0"/>
                <a:ea typeface="Calibri" pitchFamily="34" charset="-122"/>
                <a:cs typeface="Calibri" pitchFamily="34" charset="-120"/>
              </a:rPr>
              <a:t>Third-party</a:t>
            </a:r>
            <a:endParaRPr lang="en-US" sz="1350" dirty="0"/>
          </a:p>
        </p:txBody>
      </p:sp>
      <p:sp>
        <p:nvSpPr>
          <p:cNvPr id="25" name="Text 23"/>
          <p:cNvSpPr/>
          <p:nvPr/>
        </p:nvSpPr>
        <p:spPr>
          <a:xfrm>
            <a:off x="2651760" y="5349240"/>
            <a:ext cx="8595360" cy="384048"/>
          </a:xfrm>
          <a:prstGeom prst="rect">
            <a:avLst/>
          </a:prstGeom>
          <a:noFill/>
          <a:ln/>
        </p:spPr>
        <p:txBody>
          <a:bodyPr wrap="square" lIns="0" tIns="0" rIns="0" bIns="0" rtlCol="0" anchor="ctr"/>
          <a:lstStyle/>
          <a:p>
            <a:pPr indent="0" marL="0">
              <a:buNone/>
            </a:pPr>
            <a:r>
              <a:rPr lang="en-US" sz="1350" dirty="0">
                <a:solidFill>
                  <a:srgbClr val="5C6675"/>
                </a:solidFill>
                <a:latin typeface="Calibri" pitchFamily="34" charset="0"/>
                <a:ea typeface="Calibri" pitchFamily="34" charset="-122"/>
                <a:cs typeface="Calibri" pitchFamily="34" charset="-120"/>
              </a:rPr>
              <a:t>CloudHealth  ·  Apptio  ·  Vantage  ·  nOps  ·  Finout  ·  CoreStack</a:t>
            </a:r>
            <a:endParaRPr lang="en-US" sz="1350" dirty="0"/>
          </a:p>
        </p:txBody>
      </p:sp>
      <p:sp>
        <p:nvSpPr>
          <p:cNvPr id="26" name="Text 24"/>
          <p:cNvSpPr/>
          <p:nvPr/>
        </p:nvSpPr>
        <p:spPr>
          <a:xfrm>
            <a:off x="877824" y="5760720"/>
            <a:ext cx="1737360" cy="384048"/>
          </a:xfrm>
          <a:prstGeom prst="rect">
            <a:avLst/>
          </a:prstGeom>
          <a:noFill/>
          <a:ln/>
        </p:spPr>
        <p:txBody>
          <a:bodyPr wrap="square" lIns="0" tIns="0" rIns="0" bIns="0" rtlCol="0" anchor="ctr"/>
          <a:lstStyle/>
          <a:p>
            <a:pPr indent="0" marL="0">
              <a:buNone/>
            </a:pPr>
            <a:r>
              <a:rPr lang="en-US" sz="1350" b="1" dirty="0">
                <a:solidFill>
                  <a:srgbClr val="1B2430"/>
                </a:solidFill>
                <a:latin typeface="Calibri" pitchFamily="34" charset="0"/>
                <a:ea typeface="Calibri" pitchFamily="34" charset="-122"/>
                <a:cs typeface="Calibri" pitchFamily="34" charset="-120"/>
              </a:rPr>
              <a:t>Standard</a:t>
            </a:r>
            <a:endParaRPr lang="en-US" sz="1350" dirty="0"/>
          </a:p>
        </p:txBody>
      </p:sp>
      <p:sp>
        <p:nvSpPr>
          <p:cNvPr id="27" name="Text 25"/>
          <p:cNvSpPr/>
          <p:nvPr/>
        </p:nvSpPr>
        <p:spPr>
          <a:xfrm>
            <a:off x="2651760" y="5760720"/>
            <a:ext cx="8595360" cy="384048"/>
          </a:xfrm>
          <a:prstGeom prst="rect">
            <a:avLst/>
          </a:prstGeom>
          <a:noFill/>
          <a:ln/>
        </p:spPr>
        <p:txBody>
          <a:bodyPr wrap="square" lIns="0" tIns="0" rIns="0" bIns="0" rtlCol="0" anchor="ctr"/>
          <a:lstStyle/>
          <a:p>
            <a:pPr indent="0" marL="0">
              <a:buNone/>
            </a:pPr>
            <a:r>
              <a:rPr lang="en-US" sz="1350" dirty="0">
                <a:solidFill>
                  <a:srgbClr val="5C6675"/>
                </a:solidFill>
                <a:latin typeface="Calibri" pitchFamily="34" charset="0"/>
                <a:ea typeface="Calibri" pitchFamily="34" charset="-122"/>
                <a:cs typeface="Calibri" pitchFamily="34" charset="-120"/>
              </a:rPr>
              <a:t>FOCUS-compliant platforms for multi-cloud reporting</a:t>
            </a:r>
            <a:endParaRPr lang="en-US" sz="13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KEY TAKEAWAYS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Visibility is the foundation, not the goal</a:t>
            </a:r>
            <a:endParaRPr lang="en-US" sz="3100" dirty="0"/>
          </a:p>
        </p:txBody>
      </p:sp>
      <p:sp>
        <p:nvSpPr>
          <p:cNvPr id="4" name="Shape 2"/>
          <p:cNvSpPr/>
          <p:nvPr/>
        </p:nvSpPr>
        <p:spPr>
          <a:xfrm>
            <a:off x="548640" y="1965960"/>
            <a:ext cx="2587752" cy="2286000"/>
          </a:xfrm>
          <a:prstGeom prst="roundRect">
            <a:avLst>
              <a:gd name="adj" fmla="val 3600"/>
            </a:avLst>
          </a:prstGeom>
          <a:solidFill>
            <a:srgbClr val="1F2936"/>
          </a:solidFill>
          <a:ln/>
        </p:spPr>
      </p:sp>
      <p:sp>
        <p:nvSpPr>
          <p:cNvPr id="5" name="Text 3"/>
          <p:cNvSpPr/>
          <p:nvPr/>
        </p:nvSpPr>
        <p:spPr>
          <a:xfrm>
            <a:off x="786384" y="2194560"/>
            <a:ext cx="2121408" cy="384048"/>
          </a:xfrm>
          <a:prstGeom prst="rect">
            <a:avLst/>
          </a:prstGeom>
          <a:noFill/>
          <a:ln/>
        </p:spPr>
        <p:txBody>
          <a:bodyPr wrap="square" lIns="0" tIns="0" rIns="0" bIns="0" rtlCol="0" anchor="ctr"/>
          <a:lstStyle/>
          <a:p>
            <a:pPr indent="0" marL="0">
              <a:buNone/>
            </a:pPr>
            <a:r>
              <a:rPr lang="en-US" sz="1800" b="1" dirty="0">
                <a:solidFill>
                  <a:srgbClr val="E39B2C"/>
                </a:solidFill>
                <a:latin typeface="Cambria" pitchFamily="34" charset="0"/>
                <a:ea typeface="Cambria" pitchFamily="34" charset="-122"/>
                <a:cs typeface="Cambria" pitchFamily="34" charset="-120"/>
              </a:rPr>
              <a:t>Visibility</a:t>
            </a:r>
            <a:endParaRPr lang="en-US" sz="1800" dirty="0"/>
          </a:p>
        </p:txBody>
      </p:sp>
      <p:sp>
        <p:nvSpPr>
          <p:cNvPr id="6" name="Text 4"/>
          <p:cNvSpPr/>
          <p:nvPr/>
        </p:nvSpPr>
        <p:spPr>
          <a:xfrm>
            <a:off x="786384" y="2615184"/>
            <a:ext cx="2121408"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enables accountability</a:t>
            </a:r>
            <a:endParaRPr lang="en-US" sz="1300" dirty="0"/>
          </a:p>
        </p:txBody>
      </p:sp>
      <p:sp>
        <p:nvSpPr>
          <p:cNvPr id="7" name="Text 5"/>
          <p:cNvSpPr/>
          <p:nvPr/>
        </p:nvSpPr>
        <p:spPr>
          <a:xfrm>
            <a:off x="786384" y="3154680"/>
            <a:ext cx="2121408" cy="1005840"/>
          </a:xfrm>
          <a:prstGeom prst="rect">
            <a:avLst/>
          </a:prstGeom>
          <a:noFill/>
          <a:ln/>
        </p:spPr>
        <p:txBody>
          <a:bodyPr wrap="square" lIns="0" tIns="0" rIns="0" bIns="0" rtlCol="0" anchor="t"/>
          <a:lstStyle/>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Teams can only own what they can see.</a:t>
            </a:r>
            <a:endParaRPr lang="en-US" sz="1250" dirty="0"/>
          </a:p>
        </p:txBody>
      </p:sp>
      <p:sp>
        <p:nvSpPr>
          <p:cNvPr id="8" name="Shape 6"/>
          <p:cNvSpPr/>
          <p:nvPr/>
        </p:nvSpPr>
        <p:spPr>
          <a:xfrm>
            <a:off x="3182112" y="2999232"/>
            <a:ext cx="192024" cy="182880"/>
          </a:xfrm>
          <a:prstGeom prst="rightArrow">
            <a:avLst/>
          </a:prstGeom>
          <a:solidFill>
            <a:srgbClr val="3D4B5B"/>
          </a:solidFill>
          <a:ln/>
        </p:spPr>
      </p:sp>
      <p:sp>
        <p:nvSpPr>
          <p:cNvPr id="9" name="Shape 7"/>
          <p:cNvSpPr/>
          <p:nvPr/>
        </p:nvSpPr>
        <p:spPr>
          <a:xfrm>
            <a:off x="3383280" y="1965960"/>
            <a:ext cx="2587752" cy="2286000"/>
          </a:xfrm>
          <a:prstGeom prst="roundRect">
            <a:avLst>
              <a:gd name="adj" fmla="val 3600"/>
            </a:avLst>
          </a:prstGeom>
          <a:solidFill>
            <a:srgbClr val="1F2936"/>
          </a:solidFill>
          <a:ln/>
        </p:spPr>
      </p:sp>
      <p:sp>
        <p:nvSpPr>
          <p:cNvPr id="10" name="Text 8"/>
          <p:cNvSpPr/>
          <p:nvPr/>
        </p:nvSpPr>
        <p:spPr>
          <a:xfrm>
            <a:off x="3621024" y="2194560"/>
            <a:ext cx="2121408" cy="384048"/>
          </a:xfrm>
          <a:prstGeom prst="rect">
            <a:avLst/>
          </a:prstGeom>
          <a:noFill/>
          <a:ln/>
        </p:spPr>
        <p:txBody>
          <a:bodyPr wrap="square" lIns="0" tIns="0" rIns="0" bIns="0" rtlCol="0" anchor="ctr"/>
          <a:lstStyle/>
          <a:p>
            <a:pPr indent="0" marL="0">
              <a:buNone/>
            </a:pPr>
            <a:r>
              <a:rPr lang="en-US" sz="1800" b="1" dirty="0">
                <a:solidFill>
                  <a:srgbClr val="E39B2C"/>
                </a:solidFill>
                <a:latin typeface="Cambria" pitchFamily="34" charset="0"/>
                <a:ea typeface="Cambria" pitchFamily="34" charset="-122"/>
                <a:cs typeface="Cambria" pitchFamily="34" charset="-120"/>
              </a:rPr>
              <a:t>Accountability</a:t>
            </a:r>
            <a:endParaRPr lang="en-US" sz="1800" dirty="0"/>
          </a:p>
        </p:txBody>
      </p:sp>
      <p:sp>
        <p:nvSpPr>
          <p:cNvPr id="11" name="Text 9"/>
          <p:cNvSpPr/>
          <p:nvPr/>
        </p:nvSpPr>
        <p:spPr>
          <a:xfrm>
            <a:off x="3621024" y="2615184"/>
            <a:ext cx="2121408"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drives behaviour</a:t>
            </a:r>
            <a:endParaRPr lang="en-US" sz="1300" dirty="0"/>
          </a:p>
        </p:txBody>
      </p:sp>
      <p:sp>
        <p:nvSpPr>
          <p:cNvPr id="12" name="Text 10"/>
          <p:cNvSpPr/>
          <p:nvPr/>
        </p:nvSpPr>
        <p:spPr>
          <a:xfrm>
            <a:off x="3621024" y="3154680"/>
            <a:ext cx="2121408" cy="1005840"/>
          </a:xfrm>
          <a:prstGeom prst="rect">
            <a:avLst/>
          </a:prstGeom>
          <a:noFill/>
          <a:ln/>
        </p:spPr>
        <p:txBody>
          <a:bodyPr wrap="square" lIns="0" tIns="0" rIns="0" bIns="0" rtlCol="0" anchor="t"/>
          <a:lstStyle/>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Engineers make cost-conscious calls when they see the impact.</a:t>
            </a:r>
            <a:endParaRPr lang="en-US" sz="1250" dirty="0"/>
          </a:p>
        </p:txBody>
      </p:sp>
      <p:sp>
        <p:nvSpPr>
          <p:cNvPr id="13" name="Shape 11"/>
          <p:cNvSpPr/>
          <p:nvPr/>
        </p:nvSpPr>
        <p:spPr>
          <a:xfrm>
            <a:off x="6016752" y="2999232"/>
            <a:ext cx="192024" cy="182880"/>
          </a:xfrm>
          <a:prstGeom prst="rightArrow">
            <a:avLst/>
          </a:prstGeom>
          <a:solidFill>
            <a:srgbClr val="3D4B5B"/>
          </a:solidFill>
          <a:ln/>
        </p:spPr>
      </p:sp>
      <p:sp>
        <p:nvSpPr>
          <p:cNvPr id="14" name="Shape 12"/>
          <p:cNvSpPr/>
          <p:nvPr/>
        </p:nvSpPr>
        <p:spPr>
          <a:xfrm>
            <a:off x="6217920" y="1965960"/>
            <a:ext cx="2587752" cy="2286000"/>
          </a:xfrm>
          <a:prstGeom prst="roundRect">
            <a:avLst>
              <a:gd name="adj" fmla="val 3600"/>
            </a:avLst>
          </a:prstGeom>
          <a:solidFill>
            <a:srgbClr val="1F2936"/>
          </a:solidFill>
          <a:ln/>
        </p:spPr>
      </p:sp>
      <p:sp>
        <p:nvSpPr>
          <p:cNvPr id="15" name="Text 13"/>
          <p:cNvSpPr/>
          <p:nvPr/>
        </p:nvSpPr>
        <p:spPr>
          <a:xfrm>
            <a:off x="6455664" y="2194560"/>
            <a:ext cx="2121408" cy="384048"/>
          </a:xfrm>
          <a:prstGeom prst="rect">
            <a:avLst/>
          </a:prstGeom>
          <a:noFill/>
          <a:ln/>
        </p:spPr>
        <p:txBody>
          <a:bodyPr wrap="square" lIns="0" tIns="0" rIns="0" bIns="0" rtlCol="0" anchor="ctr"/>
          <a:lstStyle/>
          <a:p>
            <a:pPr indent="0" marL="0">
              <a:buNone/>
            </a:pPr>
            <a:r>
              <a:rPr lang="en-US" sz="1800" b="1" dirty="0">
                <a:solidFill>
                  <a:srgbClr val="E39B2C"/>
                </a:solidFill>
                <a:latin typeface="Cambria" pitchFamily="34" charset="0"/>
                <a:ea typeface="Cambria" pitchFamily="34" charset="-122"/>
                <a:cs typeface="Cambria" pitchFamily="34" charset="-120"/>
              </a:rPr>
              <a:t>Behaviour</a:t>
            </a:r>
            <a:endParaRPr lang="en-US" sz="1800" dirty="0"/>
          </a:p>
        </p:txBody>
      </p:sp>
      <p:sp>
        <p:nvSpPr>
          <p:cNvPr id="16" name="Text 14"/>
          <p:cNvSpPr/>
          <p:nvPr/>
        </p:nvSpPr>
        <p:spPr>
          <a:xfrm>
            <a:off x="6455664" y="2615184"/>
            <a:ext cx="2121408"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creates culture</a:t>
            </a:r>
            <a:endParaRPr lang="en-US" sz="1300" dirty="0"/>
          </a:p>
        </p:txBody>
      </p:sp>
      <p:sp>
        <p:nvSpPr>
          <p:cNvPr id="17" name="Text 15"/>
          <p:cNvSpPr/>
          <p:nvPr/>
        </p:nvSpPr>
        <p:spPr>
          <a:xfrm>
            <a:off x="6455664" y="3154680"/>
            <a:ext cx="2121408" cy="1005840"/>
          </a:xfrm>
          <a:prstGeom prst="rect">
            <a:avLst/>
          </a:prstGeom>
          <a:noFill/>
          <a:ln/>
        </p:spPr>
        <p:txBody>
          <a:bodyPr wrap="square" lIns="0" tIns="0" rIns="0" bIns="0" rtlCol="0" anchor="t"/>
          <a:lstStyle/>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Cost awareness becomes part of how we build, not a separate exercise.</a:t>
            </a:r>
            <a:endParaRPr lang="en-US" sz="1250" dirty="0"/>
          </a:p>
        </p:txBody>
      </p:sp>
      <p:sp>
        <p:nvSpPr>
          <p:cNvPr id="18" name="Shape 16"/>
          <p:cNvSpPr/>
          <p:nvPr/>
        </p:nvSpPr>
        <p:spPr>
          <a:xfrm>
            <a:off x="8851392" y="2999232"/>
            <a:ext cx="192024" cy="182880"/>
          </a:xfrm>
          <a:prstGeom prst="rightArrow">
            <a:avLst/>
          </a:prstGeom>
          <a:solidFill>
            <a:srgbClr val="3D4B5B"/>
          </a:solidFill>
          <a:ln/>
        </p:spPr>
      </p:sp>
      <p:sp>
        <p:nvSpPr>
          <p:cNvPr id="19" name="Shape 17"/>
          <p:cNvSpPr/>
          <p:nvPr/>
        </p:nvSpPr>
        <p:spPr>
          <a:xfrm>
            <a:off x="9052560" y="1965960"/>
            <a:ext cx="2587752" cy="2286000"/>
          </a:xfrm>
          <a:prstGeom prst="roundRect">
            <a:avLst>
              <a:gd name="adj" fmla="val 3600"/>
            </a:avLst>
          </a:prstGeom>
          <a:solidFill>
            <a:srgbClr val="1F2936"/>
          </a:solidFill>
          <a:ln/>
        </p:spPr>
      </p:sp>
      <p:sp>
        <p:nvSpPr>
          <p:cNvPr id="20" name="Text 18"/>
          <p:cNvSpPr/>
          <p:nvPr/>
        </p:nvSpPr>
        <p:spPr>
          <a:xfrm>
            <a:off x="9290304" y="2194560"/>
            <a:ext cx="2121408" cy="384048"/>
          </a:xfrm>
          <a:prstGeom prst="rect">
            <a:avLst/>
          </a:prstGeom>
          <a:noFill/>
          <a:ln/>
        </p:spPr>
        <p:txBody>
          <a:bodyPr wrap="square" lIns="0" tIns="0" rIns="0" bIns="0" rtlCol="0" anchor="ctr"/>
          <a:lstStyle/>
          <a:p>
            <a:pPr indent="0" marL="0">
              <a:buNone/>
            </a:pPr>
            <a:r>
              <a:rPr lang="en-US" sz="1800" b="1" dirty="0">
                <a:solidFill>
                  <a:srgbClr val="E39B2C"/>
                </a:solidFill>
                <a:latin typeface="Cambria" pitchFamily="34" charset="0"/>
                <a:ea typeface="Cambria" pitchFamily="34" charset="-122"/>
                <a:cs typeface="Cambria" pitchFamily="34" charset="-120"/>
              </a:rPr>
              <a:t>Culture</a:t>
            </a:r>
            <a:endParaRPr lang="en-US" sz="1800" dirty="0"/>
          </a:p>
        </p:txBody>
      </p:sp>
      <p:sp>
        <p:nvSpPr>
          <p:cNvPr id="21" name="Text 19"/>
          <p:cNvSpPr/>
          <p:nvPr/>
        </p:nvSpPr>
        <p:spPr>
          <a:xfrm>
            <a:off x="9290304" y="2615184"/>
            <a:ext cx="2121408"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sustains savings</a:t>
            </a:r>
            <a:endParaRPr lang="en-US" sz="1300" dirty="0"/>
          </a:p>
        </p:txBody>
      </p:sp>
      <p:sp>
        <p:nvSpPr>
          <p:cNvPr id="22" name="Text 20"/>
          <p:cNvSpPr/>
          <p:nvPr/>
        </p:nvSpPr>
        <p:spPr>
          <a:xfrm>
            <a:off x="9290304" y="3154680"/>
            <a:ext cx="2121408" cy="1005840"/>
          </a:xfrm>
          <a:prstGeom prst="rect">
            <a:avLst/>
          </a:prstGeom>
          <a:noFill/>
          <a:ln/>
        </p:spPr>
        <p:txBody>
          <a:bodyPr wrap="square" lIns="0" tIns="0" rIns="0" bIns="0" rtlCol="0" anchor="t"/>
          <a:lstStyle/>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Optimization becomes continuous rather than a one-time project.</a:t>
            </a:r>
            <a:endParaRPr lang="en-US" sz="1250" dirty="0"/>
          </a:p>
        </p:txBody>
      </p:sp>
      <p:sp>
        <p:nvSpPr>
          <p:cNvPr id="23" name="Shape 21"/>
          <p:cNvSpPr/>
          <p:nvPr/>
        </p:nvSpPr>
        <p:spPr>
          <a:xfrm>
            <a:off x="548640" y="4526280"/>
            <a:ext cx="11091672" cy="1188720"/>
          </a:xfrm>
          <a:prstGeom prst="roundRect">
            <a:avLst>
              <a:gd name="adj" fmla="val 6923"/>
            </a:avLst>
          </a:prstGeom>
          <a:solidFill>
            <a:srgbClr val="1F2936"/>
          </a:solidFill>
          <a:ln/>
        </p:spPr>
      </p:sp>
      <p:sp>
        <p:nvSpPr>
          <p:cNvPr id="24" name="Text 22"/>
          <p:cNvSpPr/>
          <p:nvPr/>
        </p:nvSpPr>
        <p:spPr>
          <a:xfrm>
            <a:off x="841248" y="4636008"/>
            <a:ext cx="10506456" cy="969264"/>
          </a:xfrm>
          <a:prstGeom prst="rect">
            <a:avLst/>
          </a:prstGeom>
          <a:noFill/>
          <a:ln/>
        </p:spPr>
        <p:txBody>
          <a:bodyPr wrap="square" lIns="0" tIns="0" rIns="0" bIns="0" rtlCol="0" anchor="ctr"/>
          <a:lstStyle/>
          <a:p>
            <a:pPr indent="0" marL="0">
              <a:lnSpc>
                <a:spcPts val="2000"/>
              </a:lnSpc>
              <a:buNone/>
            </a:pPr>
            <a:r>
              <a:rPr lang="en-US" sz="1600" i="1" dirty="0">
                <a:solidFill>
                  <a:srgbClr val="FFFFFF"/>
                </a:solidFill>
                <a:latin typeface="Cambria" pitchFamily="34" charset="0"/>
                <a:ea typeface="Cambria" pitchFamily="34" charset="-122"/>
                <a:cs typeface="Cambria" pitchFamily="34" charset="-120"/>
              </a:rPr>
              <a:t>“Organizations that invest in visibility first achieve more durable and targeted cost improvements than those that jump straight to cuts.”</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1691640"/>
            <a:ext cx="73152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Questions &amp; discussion</a:t>
            </a:r>
            <a:endParaRPr lang="en-US" sz="4000" dirty="0"/>
          </a:p>
        </p:txBody>
      </p:sp>
      <p:sp>
        <p:nvSpPr>
          <p:cNvPr id="3" name="Text 1"/>
          <p:cNvSpPr/>
          <p:nvPr/>
        </p:nvSpPr>
        <p:spPr>
          <a:xfrm>
            <a:off x="548640" y="2606040"/>
            <a:ext cx="6949440" cy="411480"/>
          </a:xfrm>
          <a:prstGeom prst="rect">
            <a:avLst/>
          </a:prstGeom>
          <a:noFill/>
          <a:ln/>
        </p:spPr>
        <p:txBody>
          <a:bodyPr wrap="square" lIns="0" tIns="0" rIns="0" bIns="0" rtlCol="0" anchor="ctr"/>
          <a:lstStyle/>
          <a:p>
            <a:pPr indent="0" marL="0">
              <a:buNone/>
            </a:pPr>
            <a:r>
              <a:rPr lang="en-US" sz="1600" dirty="0">
                <a:solidFill>
                  <a:srgbClr val="9EABBA"/>
                </a:solidFill>
                <a:latin typeface="Calibri" pitchFamily="34" charset="0"/>
                <a:ea typeface="Calibri" pitchFamily="34" charset="-122"/>
                <a:cs typeface="Calibri" pitchFamily="34" charset="-120"/>
              </a:rPr>
              <a:t>FinOps: Visibility &amp; Governance — seeing cloud spend, and controlling it</a:t>
            </a:r>
            <a:endParaRPr lang="en-US" sz="1600" dirty="0"/>
          </a:p>
        </p:txBody>
      </p:sp>
      <p:sp>
        <p:nvSpPr>
          <p:cNvPr id="4" name="Text 2"/>
          <p:cNvSpPr/>
          <p:nvPr/>
        </p:nvSpPr>
        <p:spPr>
          <a:xfrm>
            <a:off x="548640" y="3611880"/>
            <a:ext cx="3657600" cy="274320"/>
          </a:xfrm>
          <a:prstGeom prst="rect">
            <a:avLst/>
          </a:prstGeom>
          <a:noFill/>
          <a:ln/>
        </p:spPr>
        <p:txBody>
          <a:bodyPr wrap="square" lIns="0" tIns="0" rIns="0" bIns="0" rtlCol="0" anchor="ctr"/>
          <a:lstStyle/>
          <a:p>
            <a:pPr indent="0" marL="0">
              <a:buNone/>
            </a:pPr>
            <a:r>
              <a:rPr lang="en-US" sz="1150" b="1" spc="180" kern="0" dirty="0">
                <a:solidFill>
                  <a:srgbClr val="E39B2C"/>
                </a:solidFill>
                <a:latin typeface="Calibri" pitchFamily="34" charset="0"/>
                <a:ea typeface="Calibri" pitchFamily="34" charset="-122"/>
                <a:cs typeface="Calibri" pitchFamily="34" charset="-120"/>
              </a:rPr>
              <a:t>Key contacts</a:t>
            </a:r>
            <a:endParaRPr lang="en-US" sz="1150" dirty="0"/>
          </a:p>
        </p:txBody>
      </p:sp>
      <p:sp>
        <p:nvSpPr>
          <p:cNvPr id="5" name="Text 3"/>
          <p:cNvSpPr/>
          <p:nvPr/>
        </p:nvSpPr>
        <p:spPr>
          <a:xfrm>
            <a:off x="548640" y="3950208"/>
            <a:ext cx="5029200" cy="822960"/>
          </a:xfrm>
          <a:prstGeom prst="rect">
            <a:avLst/>
          </a:prstGeom>
          <a:noFill/>
          <a:ln/>
        </p:spPr>
        <p:txBody>
          <a:bodyPr wrap="square" lIns="0" tIns="0" rIns="0" bIns="0" rtlCol="0" anchor="t"/>
          <a:lstStyle/>
          <a:p>
            <a:pPr indent="0" marL="0">
              <a:lnSpc>
                <a:spcPts val="2400"/>
              </a:lnSpc>
              <a:buNone/>
            </a:pPr>
            <a:r>
              <a:rPr lang="en-US" sz="1450" dirty="0">
                <a:solidFill>
                  <a:srgbClr val="9EABBA"/>
                </a:solidFill>
                <a:latin typeface="Calibri" pitchFamily="34" charset="0"/>
                <a:ea typeface="Calibri" pitchFamily="34" charset="-122"/>
                <a:cs typeface="Calibri" pitchFamily="34" charset="-120"/>
              </a:rPr>
              <a:t>____________________   ·   Title</a:t>
            </a:r>
            <a:endParaRPr lang="en-US" sz="1450" dirty="0"/>
          </a:p>
          <a:p>
            <a:pPr indent="0" marL="0">
              <a:lnSpc>
                <a:spcPts val="2400"/>
              </a:lnSpc>
              <a:buNone/>
            </a:pPr>
            <a:r>
              <a:rPr lang="en-US" sz="1450" dirty="0">
                <a:solidFill>
                  <a:srgbClr val="9EABBA"/>
                </a:solidFill>
                <a:latin typeface="Calibri" pitchFamily="34" charset="0"/>
                <a:ea typeface="Calibri" pitchFamily="34" charset="-122"/>
                <a:cs typeface="Calibri" pitchFamily="34" charset="-120"/>
              </a:rPr>
              <a:t>____________________   ·   Title</a:t>
            </a:r>
            <a:endParaRPr lang="en-US" sz="1450" dirty="0"/>
          </a:p>
        </p:txBody>
      </p:sp>
      <p:sp>
        <p:nvSpPr>
          <p:cNvPr id="6" name="Text 4"/>
          <p:cNvSpPr/>
          <p:nvPr/>
        </p:nvSpPr>
        <p:spPr>
          <a:xfrm>
            <a:off x="548640" y="4937760"/>
            <a:ext cx="3657600" cy="274320"/>
          </a:xfrm>
          <a:prstGeom prst="rect">
            <a:avLst/>
          </a:prstGeom>
          <a:noFill/>
          <a:ln/>
        </p:spPr>
        <p:txBody>
          <a:bodyPr wrap="square" lIns="0" tIns="0" rIns="0" bIns="0" rtlCol="0" anchor="ctr"/>
          <a:lstStyle/>
          <a:p>
            <a:pPr indent="0" marL="0">
              <a:buNone/>
            </a:pPr>
            <a:r>
              <a:rPr lang="en-US" sz="1150" b="1" spc="180" kern="0" dirty="0">
                <a:solidFill>
                  <a:srgbClr val="E39B2C"/>
                </a:solidFill>
                <a:latin typeface="Calibri" pitchFamily="34" charset="0"/>
                <a:ea typeface="Calibri" pitchFamily="34" charset="-122"/>
                <a:cs typeface="Calibri" pitchFamily="34" charset="-120"/>
              </a:rPr>
              <a:t>Resources</a:t>
            </a:r>
            <a:endParaRPr lang="en-US" sz="1150" dirty="0"/>
          </a:p>
        </p:txBody>
      </p:sp>
      <p:sp>
        <p:nvSpPr>
          <p:cNvPr id="7" name="Text 5"/>
          <p:cNvSpPr/>
          <p:nvPr/>
        </p:nvSpPr>
        <p:spPr>
          <a:xfrm>
            <a:off x="548640" y="5276088"/>
            <a:ext cx="5486400" cy="822960"/>
          </a:xfrm>
          <a:prstGeom prst="rect">
            <a:avLst/>
          </a:prstGeom>
          <a:noFill/>
          <a:ln/>
        </p:spPr>
        <p:txBody>
          <a:bodyPr wrap="square" lIns="0" tIns="0" rIns="0" bIns="0" rtlCol="0" anchor="t"/>
          <a:lstStyle/>
          <a:p>
            <a:pPr indent="0" marL="0">
              <a:lnSpc>
                <a:spcPts val="2400"/>
              </a:lnSpc>
              <a:buNone/>
            </a:pPr>
            <a:r>
              <a:rPr lang="en-US" sz="1450" dirty="0">
                <a:solidFill>
                  <a:srgbClr val="FFFFFF"/>
                </a:solidFill>
                <a:latin typeface="Calibri" pitchFamily="34" charset="0"/>
                <a:ea typeface="Calibri" pitchFamily="34" charset="-122"/>
                <a:cs typeface="Calibri" pitchFamily="34" charset="-120"/>
              </a:rPr>
              <a:t>FinOps Foundation   ·   finops.org</a:t>
            </a:r>
            <a:endParaRPr lang="en-US" sz="1450" dirty="0"/>
          </a:p>
          <a:p>
            <a:pPr indent="0" marL="0">
              <a:lnSpc>
                <a:spcPts val="2400"/>
              </a:lnSpc>
              <a:buNone/>
            </a:pPr>
            <a:r>
              <a:rPr lang="en-US" sz="1450" dirty="0">
                <a:solidFill>
                  <a:srgbClr val="FFFFFF"/>
                </a:solidFill>
                <a:latin typeface="Calibri" pitchFamily="34" charset="0"/>
                <a:ea typeface="Calibri" pitchFamily="34" charset="-122"/>
                <a:cs typeface="Calibri" pitchFamily="34" charset="-120"/>
              </a:rPr>
              <a:t>FOCUS standard   ·   focus.finops.org</a:t>
            </a:r>
            <a:endParaRPr lang="en-US" sz="1450" dirty="0"/>
          </a:p>
        </p:txBody>
      </p:sp>
      <p:sp>
        <p:nvSpPr>
          <p:cNvPr id="8" name="Shape 6"/>
          <p:cNvSpPr/>
          <p:nvPr/>
        </p:nvSpPr>
        <p:spPr>
          <a:xfrm>
            <a:off x="8001000" y="1920240"/>
            <a:ext cx="274320" cy="274320"/>
          </a:xfrm>
          <a:prstGeom prst="ellipse">
            <a:avLst/>
          </a:prstGeom>
          <a:solidFill>
            <a:srgbClr val="27313E"/>
          </a:solidFill>
          <a:ln/>
        </p:spPr>
      </p:sp>
      <p:sp>
        <p:nvSpPr>
          <p:cNvPr id="9" name="Shape 7"/>
          <p:cNvSpPr/>
          <p:nvPr/>
        </p:nvSpPr>
        <p:spPr>
          <a:xfrm>
            <a:off x="8513064" y="1920240"/>
            <a:ext cx="274320" cy="274320"/>
          </a:xfrm>
          <a:prstGeom prst="ellipse">
            <a:avLst/>
          </a:prstGeom>
          <a:solidFill>
            <a:srgbClr val="27313E"/>
          </a:solidFill>
          <a:ln/>
        </p:spPr>
      </p:sp>
      <p:sp>
        <p:nvSpPr>
          <p:cNvPr id="10" name="Shape 8"/>
          <p:cNvSpPr/>
          <p:nvPr/>
        </p:nvSpPr>
        <p:spPr>
          <a:xfrm>
            <a:off x="9025128" y="1920240"/>
            <a:ext cx="274320" cy="274320"/>
          </a:xfrm>
          <a:prstGeom prst="ellipse">
            <a:avLst/>
          </a:prstGeom>
          <a:solidFill>
            <a:srgbClr val="27313E"/>
          </a:solidFill>
          <a:ln/>
        </p:spPr>
      </p:sp>
      <p:sp>
        <p:nvSpPr>
          <p:cNvPr id="11" name="Shape 9"/>
          <p:cNvSpPr/>
          <p:nvPr/>
        </p:nvSpPr>
        <p:spPr>
          <a:xfrm>
            <a:off x="9537192" y="1920240"/>
            <a:ext cx="274320" cy="274320"/>
          </a:xfrm>
          <a:prstGeom prst="ellipse">
            <a:avLst/>
          </a:prstGeom>
          <a:solidFill>
            <a:srgbClr val="27313E"/>
          </a:solidFill>
          <a:ln/>
        </p:spPr>
      </p:sp>
      <p:sp>
        <p:nvSpPr>
          <p:cNvPr id="12" name="Shape 10"/>
          <p:cNvSpPr/>
          <p:nvPr/>
        </p:nvSpPr>
        <p:spPr>
          <a:xfrm>
            <a:off x="10049256" y="1920240"/>
            <a:ext cx="274320" cy="274320"/>
          </a:xfrm>
          <a:prstGeom prst="ellipse">
            <a:avLst/>
          </a:prstGeom>
          <a:solidFill>
            <a:srgbClr val="27313E"/>
          </a:solidFill>
          <a:ln/>
        </p:spPr>
      </p:sp>
      <p:sp>
        <p:nvSpPr>
          <p:cNvPr id="13" name="Shape 11"/>
          <p:cNvSpPr/>
          <p:nvPr/>
        </p:nvSpPr>
        <p:spPr>
          <a:xfrm>
            <a:off x="10561320" y="1920240"/>
            <a:ext cx="274320" cy="274320"/>
          </a:xfrm>
          <a:prstGeom prst="ellipse">
            <a:avLst/>
          </a:prstGeom>
          <a:solidFill>
            <a:srgbClr val="E39B2C"/>
          </a:solidFill>
          <a:ln/>
        </p:spPr>
      </p:sp>
      <p:sp>
        <p:nvSpPr>
          <p:cNvPr id="14" name="Shape 12"/>
          <p:cNvSpPr/>
          <p:nvPr/>
        </p:nvSpPr>
        <p:spPr>
          <a:xfrm>
            <a:off x="11073384" y="1920240"/>
            <a:ext cx="274320" cy="274320"/>
          </a:xfrm>
          <a:prstGeom prst="ellipse">
            <a:avLst/>
          </a:prstGeom>
          <a:solidFill>
            <a:srgbClr val="E39B2C"/>
          </a:solidFill>
          <a:ln/>
        </p:spPr>
      </p:sp>
      <p:sp>
        <p:nvSpPr>
          <p:cNvPr id="15" name="Shape 13"/>
          <p:cNvSpPr/>
          <p:nvPr/>
        </p:nvSpPr>
        <p:spPr>
          <a:xfrm>
            <a:off x="8001000" y="2432304"/>
            <a:ext cx="274320" cy="274320"/>
          </a:xfrm>
          <a:prstGeom prst="ellipse">
            <a:avLst/>
          </a:prstGeom>
          <a:solidFill>
            <a:srgbClr val="27313E"/>
          </a:solidFill>
          <a:ln/>
        </p:spPr>
      </p:sp>
      <p:sp>
        <p:nvSpPr>
          <p:cNvPr id="16" name="Shape 14"/>
          <p:cNvSpPr/>
          <p:nvPr/>
        </p:nvSpPr>
        <p:spPr>
          <a:xfrm>
            <a:off x="8513064" y="2432304"/>
            <a:ext cx="274320" cy="274320"/>
          </a:xfrm>
          <a:prstGeom prst="ellipse">
            <a:avLst/>
          </a:prstGeom>
          <a:solidFill>
            <a:srgbClr val="27313E"/>
          </a:solidFill>
          <a:ln/>
        </p:spPr>
      </p:sp>
      <p:sp>
        <p:nvSpPr>
          <p:cNvPr id="17" name="Shape 15"/>
          <p:cNvSpPr/>
          <p:nvPr/>
        </p:nvSpPr>
        <p:spPr>
          <a:xfrm>
            <a:off x="9025128" y="2432304"/>
            <a:ext cx="274320" cy="274320"/>
          </a:xfrm>
          <a:prstGeom prst="ellipse">
            <a:avLst/>
          </a:prstGeom>
          <a:solidFill>
            <a:srgbClr val="27313E"/>
          </a:solidFill>
          <a:ln/>
        </p:spPr>
      </p:sp>
      <p:sp>
        <p:nvSpPr>
          <p:cNvPr id="18" name="Shape 16"/>
          <p:cNvSpPr/>
          <p:nvPr/>
        </p:nvSpPr>
        <p:spPr>
          <a:xfrm>
            <a:off x="9537192" y="2432304"/>
            <a:ext cx="274320" cy="274320"/>
          </a:xfrm>
          <a:prstGeom prst="ellipse">
            <a:avLst/>
          </a:prstGeom>
          <a:solidFill>
            <a:srgbClr val="27313E"/>
          </a:solidFill>
          <a:ln/>
        </p:spPr>
      </p:sp>
      <p:sp>
        <p:nvSpPr>
          <p:cNvPr id="19" name="Shape 17"/>
          <p:cNvSpPr/>
          <p:nvPr/>
        </p:nvSpPr>
        <p:spPr>
          <a:xfrm>
            <a:off x="10049256" y="2432304"/>
            <a:ext cx="274320" cy="274320"/>
          </a:xfrm>
          <a:prstGeom prst="ellipse">
            <a:avLst/>
          </a:prstGeom>
          <a:solidFill>
            <a:srgbClr val="E39B2C"/>
          </a:solidFill>
          <a:ln/>
        </p:spPr>
      </p:sp>
      <p:sp>
        <p:nvSpPr>
          <p:cNvPr id="20" name="Shape 18"/>
          <p:cNvSpPr/>
          <p:nvPr/>
        </p:nvSpPr>
        <p:spPr>
          <a:xfrm>
            <a:off x="10561320" y="2432304"/>
            <a:ext cx="274320" cy="274320"/>
          </a:xfrm>
          <a:prstGeom prst="ellipse">
            <a:avLst/>
          </a:prstGeom>
          <a:solidFill>
            <a:srgbClr val="E39B2C"/>
          </a:solidFill>
          <a:ln/>
        </p:spPr>
      </p:sp>
      <p:sp>
        <p:nvSpPr>
          <p:cNvPr id="21" name="Shape 19"/>
          <p:cNvSpPr/>
          <p:nvPr/>
        </p:nvSpPr>
        <p:spPr>
          <a:xfrm>
            <a:off x="11073384" y="2432304"/>
            <a:ext cx="274320" cy="274320"/>
          </a:xfrm>
          <a:prstGeom prst="ellipse">
            <a:avLst/>
          </a:prstGeom>
          <a:solidFill>
            <a:srgbClr val="E39B2C"/>
          </a:solidFill>
          <a:ln/>
        </p:spPr>
      </p:sp>
      <p:sp>
        <p:nvSpPr>
          <p:cNvPr id="22" name="Shape 20"/>
          <p:cNvSpPr/>
          <p:nvPr/>
        </p:nvSpPr>
        <p:spPr>
          <a:xfrm>
            <a:off x="8001000" y="2944368"/>
            <a:ext cx="274320" cy="274320"/>
          </a:xfrm>
          <a:prstGeom prst="ellipse">
            <a:avLst/>
          </a:prstGeom>
          <a:solidFill>
            <a:srgbClr val="27313E"/>
          </a:solidFill>
          <a:ln/>
        </p:spPr>
      </p:sp>
      <p:sp>
        <p:nvSpPr>
          <p:cNvPr id="23" name="Shape 21"/>
          <p:cNvSpPr/>
          <p:nvPr/>
        </p:nvSpPr>
        <p:spPr>
          <a:xfrm>
            <a:off x="8513064" y="2944368"/>
            <a:ext cx="274320" cy="274320"/>
          </a:xfrm>
          <a:prstGeom prst="ellipse">
            <a:avLst/>
          </a:prstGeom>
          <a:solidFill>
            <a:srgbClr val="27313E"/>
          </a:solidFill>
          <a:ln/>
        </p:spPr>
      </p:sp>
      <p:sp>
        <p:nvSpPr>
          <p:cNvPr id="24" name="Shape 22"/>
          <p:cNvSpPr/>
          <p:nvPr/>
        </p:nvSpPr>
        <p:spPr>
          <a:xfrm>
            <a:off x="9025128" y="2944368"/>
            <a:ext cx="274320" cy="274320"/>
          </a:xfrm>
          <a:prstGeom prst="ellipse">
            <a:avLst/>
          </a:prstGeom>
          <a:solidFill>
            <a:srgbClr val="27313E"/>
          </a:solidFill>
          <a:ln/>
        </p:spPr>
      </p:sp>
      <p:sp>
        <p:nvSpPr>
          <p:cNvPr id="25" name="Shape 23"/>
          <p:cNvSpPr/>
          <p:nvPr/>
        </p:nvSpPr>
        <p:spPr>
          <a:xfrm>
            <a:off x="9537192" y="2944368"/>
            <a:ext cx="274320" cy="274320"/>
          </a:xfrm>
          <a:prstGeom prst="ellipse">
            <a:avLst/>
          </a:prstGeom>
          <a:solidFill>
            <a:srgbClr val="E39B2C"/>
          </a:solidFill>
          <a:ln/>
        </p:spPr>
      </p:sp>
      <p:sp>
        <p:nvSpPr>
          <p:cNvPr id="26" name="Shape 24"/>
          <p:cNvSpPr/>
          <p:nvPr/>
        </p:nvSpPr>
        <p:spPr>
          <a:xfrm>
            <a:off x="10049256" y="2944368"/>
            <a:ext cx="274320" cy="274320"/>
          </a:xfrm>
          <a:prstGeom prst="ellipse">
            <a:avLst/>
          </a:prstGeom>
          <a:solidFill>
            <a:srgbClr val="E39B2C"/>
          </a:solidFill>
          <a:ln/>
        </p:spPr>
      </p:sp>
      <p:sp>
        <p:nvSpPr>
          <p:cNvPr id="27" name="Shape 25"/>
          <p:cNvSpPr/>
          <p:nvPr/>
        </p:nvSpPr>
        <p:spPr>
          <a:xfrm>
            <a:off x="10561320" y="2944368"/>
            <a:ext cx="274320" cy="274320"/>
          </a:xfrm>
          <a:prstGeom prst="ellipse">
            <a:avLst/>
          </a:prstGeom>
          <a:solidFill>
            <a:srgbClr val="E39B2C"/>
          </a:solidFill>
          <a:ln/>
        </p:spPr>
      </p:sp>
      <p:sp>
        <p:nvSpPr>
          <p:cNvPr id="28" name="Shape 26"/>
          <p:cNvSpPr/>
          <p:nvPr/>
        </p:nvSpPr>
        <p:spPr>
          <a:xfrm>
            <a:off x="11073384" y="2944368"/>
            <a:ext cx="274320" cy="274320"/>
          </a:xfrm>
          <a:prstGeom prst="ellipse">
            <a:avLst/>
          </a:prstGeom>
          <a:solidFill>
            <a:srgbClr val="E39B2C"/>
          </a:solidFill>
          <a:ln/>
        </p:spPr>
      </p:sp>
      <p:sp>
        <p:nvSpPr>
          <p:cNvPr id="29" name="Shape 27"/>
          <p:cNvSpPr/>
          <p:nvPr/>
        </p:nvSpPr>
        <p:spPr>
          <a:xfrm>
            <a:off x="8001000" y="3456432"/>
            <a:ext cx="274320" cy="274320"/>
          </a:xfrm>
          <a:prstGeom prst="ellipse">
            <a:avLst/>
          </a:prstGeom>
          <a:solidFill>
            <a:srgbClr val="27313E"/>
          </a:solidFill>
          <a:ln/>
        </p:spPr>
      </p:sp>
      <p:sp>
        <p:nvSpPr>
          <p:cNvPr id="30" name="Shape 28"/>
          <p:cNvSpPr/>
          <p:nvPr/>
        </p:nvSpPr>
        <p:spPr>
          <a:xfrm>
            <a:off x="8513064" y="3456432"/>
            <a:ext cx="274320" cy="274320"/>
          </a:xfrm>
          <a:prstGeom prst="ellipse">
            <a:avLst/>
          </a:prstGeom>
          <a:solidFill>
            <a:srgbClr val="27313E"/>
          </a:solidFill>
          <a:ln/>
        </p:spPr>
      </p:sp>
      <p:sp>
        <p:nvSpPr>
          <p:cNvPr id="31" name="Shape 29"/>
          <p:cNvSpPr/>
          <p:nvPr/>
        </p:nvSpPr>
        <p:spPr>
          <a:xfrm>
            <a:off x="9025128" y="3456432"/>
            <a:ext cx="274320" cy="274320"/>
          </a:xfrm>
          <a:prstGeom prst="ellipse">
            <a:avLst/>
          </a:prstGeom>
          <a:solidFill>
            <a:srgbClr val="E39B2C"/>
          </a:solidFill>
          <a:ln/>
        </p:spPr>
      </p:sp>
      <p:sp>
        <p:nvSpPr>
          <p:cNvPr id="32" name="Shape 30"/>
          <p:cNvSpPr/>
          <p:nvPr/>
        </p:nvSpPr>
        <p:spPr>
          <a:xfrm>
            <a:off x="9537192" y="3456432"/>
            <a:ext cx="274320" cy="274320"/>
          </a:xfrm>
          <a:prstGeom prst="ellipse">
            <a:avLst/>
          </a:prstGeom>
          <a:solidFill>
            <a:srgbClr val="E39B2C"/>
          </a:solidFill>
          <a:ln/>
        </p:spPr>
      </p:sp>
      <p:sp>
        <p:nvSpPr>
          <p:cNvPr id="33" name="Shape 31"/>
          <p:cNvSpPr/>
          <p:nvPr/>
        </p:nvSpPr>
        <p:spPr>
          <a:xfrm>
            <a:off x="10049256" y="3456432"/>
            <a:ext cx="274320" cy="274320"/>
          </a:xfrm>
          <a:prstGeom prst="ellipse">
            <a:avLst/>
          </a:prstGeom>
          <a:solidFill>
            <a:srgbClr val="E39B2C"/>
          </a:solidFill>
          <a:ln/>
        </p:spPr>
      </p:sp>
      <p:sp>
        <p:nvSpPr>
          <p:cNvPr id="34" name="Shape 32"/>
          <p:cNvSpPr/>
          <p:nvPr/>
        </p:nvSpPr>
        <p:spPr>
          <a:xfrm>
            <a:off x="10561320" y="3456432"/>
            <a:ext cx="274320" cy="274320"/>
          </a:xfrm>
          <a:prstGeom prst="ellipse">
            <a:avLst/>
          </a:prstGeom>
          <a:solidFill>
            <a:srgbClr val="E39B2C"/>
          </a:solidFill>
          <a:ln/>
        </p:spPr>
      </p:sp>
      <p:sp>
        <p:nvSpPr>
          <p:cNvPr id="35" name="Shape 33"/>
          <p:cNvSpPr/>
          <p:nvPr/>
        </p:nvSpPr>
        <p:spPr>
          <a:xfrm>
            <a:off x="11073384" y="3456432"/>
            <a:ext cx="274320" cy="274320"/>
          </a:xfrm>
          <a:prstGeom prst="ellipse">
            <a:avLst/>
          </a:prstGeom>
          <a:solidFill>
            <a:srgbClr val="E39B2C"/>
          </a:solidFill>
          <a:ln/>
        </p:spPr>
      </p:sp>
      <p:sp>
        <p:nvSpPr>
          <p:cNvPr id="36" name="Shape 34"/>
          <p:cNvSpPr/>
          <p:nvPr/>
        </p:nvSpPr>
        <p:spPr>
          <a:xfrm>
            <a:off x="8001000" y="3968496"/>
            <a:ext cx="274320" cy="274320"/>
          </a:xfrm>
          <a:prstGeom prst="ellipse">
            <a:avLst/>
          </a:prstGeom>
          <a:solidFill>
            <a:srgbClr val="27313E"/>
          </a:solidFill>
          <a:ln/>
        </p:spPr>
      </p:sp>
      <p:sp>
        <p:nvSpPr>
          <p:cNvPr id="37" name="Shape 35"/>
          <p:cNvSpPr/>
          <p:nvPr/>
        </p:nvSpPr>
        <p:spPr>
          <a:xfrm>
            <a:off x="8513064" y="3968496"/>
            <a:ext cx="274320" cy="274320"/>
          </a:xfrm>
          <a:prstGeom prst="ellipse">
            <a:avLst/>
          </a:prstGeom>
          <a:solidFill>
            <a:srgbClr val="E39B2C"/>
          </a:solidFill>
          <a:ln/>
        </p:spPr>
      </p:sp>
      <p:sp>
        <p:nvSpPr>
          <p:cNvPr id="38" name="Shape 36"/>
          <p:cNvSpPr/>
          <p:nvPr/>
        </p:nvSpPr>
        <p:spPr>
          <a:xfrm>
            <a:off x="9025128" y="3968496"/>
            <a:ext cx="274320" cy="274320"/>
          </a:xfrm>
          <a:prstGeom prst="ellipse">
            <a:avLst/>
          </a:prstGeom>
          <a:solidFill>
            <a:srgbClr val="E39B2C"/>
          </a:solidFill>
          <a:ln/>
        </p:spPr>
      </p:sp>
      <p:sp>
        <p:nvSpPr>
          <p:cNvPr id="39" name="Shape 37"/>
          <p:cNvSpPr/>
          <p:nvPr/>
        </p:nvSpPr>
        <p:spPr>
          <a:xfrm>
            <a:off x="9537192" y="3968496"/>
            <a:ext cx="274320" cy="274320"/>
          </a:xfrm>
          <a:prstGeom prst="ellipse">
            <a:avLst/>
          </a:prstGeom>
          <a:solidFill>
            <a:srgbClr val="E39B2C"/>
          </a:solidFill>
          <a:ln/>
        </p:spPr>
      </p:sp>
      <p:sp>
        <p:nvSpPr>
          <p:cNvPr id="40" name="Shape 38"/>
          <p:cNvSpPr/>
          <p:nvPr/>
        </p:nvSpPr>
        <p:spPr>
          <a:xfrm>
            <a:off x="10049256" y="3968496"/>
            <a:ext cx="274320" cy="274320"/>
          </a:xfrm>
          <a:prstGeom prst="ellipse">
            <a:avLst/>
          </a:prstGeom>
          <a:solidFill>
            <a:srgbClr val="E39B2C"/>
          </a:solidFill>
          <a:ln/>
        </p:spPr>
      </p:sp>
      <p:sp>
        <p:nvSpPr>
          <p:cNvPr id="41" name="Shape 39"/>
          <p:cNvSpPr/>
          <p:nvPr/>
        </p:nvSpPr>
        <p:spPr>
          <a:xfrm>
            <a:off x="10561320" y="3968496"/>
            <a:ext cx="274320" cy="274320"/>
          </a:xfrm>
          <a:prstGeom prst="ellipse">
            <a:avLst/>
          </a:prstGeom>
          <a:solidFill>
            <a:srgbClr val="E39B2C"/>
          </a:solidFill>
          <a:ln/>
        </p:spPr>
      </p:sp>
      <p:sp>
        <p:nvSpPr>
          <p:cNvPr id="42" name="Shape 40"/>
          <p:cNvSpPr/>
          <p:nvPr/>
        </p:nvSpPr>
        <p:spPr>
          <a:xfrm>
            <a:off x="11073384" y="3968496"/>
            <a:ext cx="274320" cy="274320"/>
          </a:xfrm>
          <a:prstGeom prst="ellipse">
            <a:avLst/>
          </a:prstGeom>
          <a:solidFill>
            <a:srgbClr val="E39B2C"/>
          </a:solidFill>
          <a:ln/>
        </p:spPr>
      </p:sp>
      <p:sp>
        <p:nvSpPr>
          <p:cNvPr id="43" name="Shape 41"/>
          <p:cNvSpPr/>
          <p:nvPr/>
        </p:nvSpPr>
        <p:spPr>
          <a:xfrm>
            <a:off x="8001000" y="4480560"/>
            <a:ext cx="274320" cy="274320"/>
          </a:xfrm>
          <a:prstGeom prst="ellipse">
            <a:avLst/>
          </a:prstGeom>
          <a:solidFill>
            <a:srgbClr val="E39B2C"/>
          </a:solidFill>
          <a:ln/>
        </p:spPr>
      </p:sp>
      <p:sp>
        <p:nvSpPr>
          <p:cNvPr id="44" name="Shape 42"/>
          <p:cNvSpPr/>
          <p:nvPr/>
        </p:nvSpPr>
        <p:spPr>
          <a:xfrm>
            <a:off x="8513064" y="4480560"/>
            <a:ext cx="274320" cy="274320"/>
          </a:xfrm>
          <a:prstGeom prst="ellipse">
            <a:avLst/>
          </a:prstGeom>
          <a:solidFill>
            <a:srgbClr val="E39B2C"/>
          </a:solidFill>
          <a:ln/>
        </p:spPr>
      </p:sp>
      <p:sp>
        <p:nvSpPr>
          <p:cNvPr id="45" name="Shape 43"/>
          <p:cNvSpPr/>
          <p:nvPr/>
        </p:nvSpPr>
        <p:spPr>
          <a:xfrm>
            <a:off x="9025128" y="4480560"/>
            <a:ext cx="274320" cy="274320"/>
          </a:xfrm>
          <a:prstGeom prst="ellipse">
            <a:avLst/>
          </a:prstGeom>
          <a:solidFill>
            <a:srgbClr val="E39B2C"/>
          </a:solidFill>
          <a:ln/>
        </p:spPr>
      </p:sp>
      <p:sp>
        <p:nvSpPr>
          <p:cNvPr id="46" name="Shape 44"/>
          <p:cNvSpPr/>
          <p:nvPr/>
        </p:nvSpPr>
        <p:spPr>
          <a:xfrm>
            <a:off x="9537192" y="4480560"/>
            <a:ext cx="274320" cy="274320"/>
          </a:xfrm>
          <a:prstGeom prst="ellipse">
            <a:avLst/>
          </a:prstGeom>
          <a:solidFill>
            <a:srgbClr val="E39B2C"/>
          </a:solidFill>
          <a:ln/>
        </p:spPr>
      </p:sp>
      <p:sp>
        <p:nvSpPr>
          <p:cNvPr id="47" name="Shape 45"/>
          <p:cNvSpPr/>
          <p:nvPr/>
        </p:nvSpPr>
        <p:spPr>
          <a:xfrm>
            <a:off x="10049256" y="4480560"/>
            <a:ext cx="274320" cy="274320"/>
          </a:xfrm>
          <a:prstGeom prst="ellipse">
            <a:avLst/>
          </a:prstGeom>
          <a:solidFill>
            <a:srgbClr val="E39B2C"/>
          </a:solidFill>
          <a:ln/>
        </p:spPr>
      </p:sp>
      <p:sp>
        <p:nvSpPr>
          <p:cNvPr id="48" name="Shape 46"/>
          <p:cNvSpPr/>
          <p:nvPr/>
        </p:nvSpPr>
        <p:spPr>
          <a:xfrm>
            <a:off x="10561320" y="4480560"/>
            <a:ext cx="274320" cy="274320"/>
          </a:xfrm>
          <a:prstGeom prst="ellipse">
            <a:avLst/>
          </a:prstGeom>
          <a:solidFill>
            <a:srgbClr val="E39B2C"/>
          </a:solidFill>
          <a:ln/>
        </p:spPr>
      </p:sp>
      <p:sp>
        <p:nvSpPr>
          <p:cNvPr id="49" name="Shape 47"/>
          <p:cNvSpPr/>
          <p:nvPr/>
        </p:nvSpPr>
        <p:spPr>
          <a:xfrm>
            <a:off x="11073384" y="4480560"/>
            <a:ext cx="274320" cy="274320"/>
          </a:xfrm>
          <a:prstGeom prst="ellipse">
            <a:avLst/>
          </a:prstGeom>
          <a:solidFill>
            <a:srgbClr val="E39B2C"/>
          </a:solidFill>
          <a:ln/>
        </p:spPr>
      </p:sp>
      <p:sp>
        <p:nvSpPr>
          <p:cNvPr id="50" name="Shape 48"/>
          <p:cNvSpPr/>
          <p:nvPr/>
        </p:nvSpPr>
        <p:spPr>
          <a:xfrm>
            <a:off x="8001000" y="4992624"/>
            <a:ext cx="274320" cy="274320"/>
          </a:xfrm>
          <a:prstGeom prst="ellipse">
            <a:avLst/>
          </a:prstGeom>
          <a:solidFill>
            <a:srgbClr val="E39B2C"/>
          </a:solidFill>
          <a:ln/>
        </p:spPr>
      </p:sp>
      <p:sp>
        <p:nvSpPr>
          <p:cNvPr id="51" name="Shape 49"/>
          <p:cNvSpPr/>
          <p:nvPr/>
        </p:nvSpPr>
        <p:spPr>
          <a:xfrm>
            <a:off x="8513064" y="4992624"/>
            <a:ext cx="274320" cy="274320"/>
          </a:xfrm>
          <a:prstGeom prst="ellipse">
            <a:avLst/>
          </a:prstGeom>
          <a:solidFill>
            <a:srgbClr val="E39B2C"/>
          </a:solidFill>
          <a:ln/>
        </p:spPr>
      </p:sp>
      <p:sp>
        <p:nvSpPr>
          <p:cNvPr id="52" name="Shape 50"/>
          <p:cNvSpPr/>
          <p:nvPr/>
        </p:nvSpPr>
        <p:spPr>
          <a:xfrm>
            <a:off x="9025128" y="4992624"/>
            <a:ext cx="274320" cy="274320"/>
          </a:xfrm>
          <a:prstGeom prst="ellipse">
            <a:avLst/>
          </a:prstGeom>
          <a:solidFill>
            <a:srgbClr val="E39B2C"/>
          </a:solidFill>
          <a:ln/>
        </p:spPr>
      </p:sp>
      <p:sp>
        <p:nvSpPr>
          <p:cNvPr id="53" name="Shape 51"/>
          <p:cNvSpPr/>
          <p:nvPr/>
        </p:nvSpPr>
        <p:spPr>
          <a:xfrm>
            <a:off x="9537192" y="4992624"/>
            <a:ext cx="274320" cy="274320"/>
          </a:xfrm>
          <a:prstGeom prst="ellipse">
            <a:avLst/>
          </a:prstGeom>
          <a:solidFill>
            <a:srgbClr val="E39B2C"/>
          </a:solidFill>
          <a:ln/>
        </p:spPr>
      </p:sp>
      <p:sp>
        <p:nvSpPr>
          <p:cNvPr id="54" name="Shape 52"/>
          <p:cNvSpPr/>
          <p:nvPr/>
        </p:nvSpPr>
        <p:spPr>
          <a:xfrm>
            <a:off x="10049256" y="4992624"/>
            <a:ext cx="274320" cy="274320"/>
          </a:xfrm>
          <a:prstGeom prst="ellipse">
            <a:avLst/>
          </a:prstGeom>
          <a:solidFill>
            <a:srgbClr val="E39B2C"/>
          </a:solidFill>
          <a:ln/>
        </p:spPr>
      </p:sp>
      <p:sp>
        <p:nvSpPr>
          <p:cNvPr id="55" name="Shape 53"/>
          <p:cNvSpPr/>
          <p:nvPr/>
        </p:nvSpPr>
        <p:spPr>
          <a:xfrm>
            <a:off x="10561320" y="4992624"/>
            <a:ext cx="274320" cy="274320"/>
          </a:xfrm>
          <a:prstGeom prst="ellipse">
            <a:avLst/>
          </a:prstGeom>
          <a:solidFill>
            <a:srgbClr val="E39B2C"/>
          </a:solidFill>
          <a:ln/>
        </p:spPr>
      </p:sp>
      <p:sp>
        <p:nvSpPr>
          <p:cNvPr id="56" name="Shape 54"/>
          <p:cNvSpPr/>
          <p:nvPr/>
        </p:nvSpPr>
        <p:spPr>
          <a:xfrm>
            <a:off x="11073384" y="4992624"/>
            <a:ext cx="274320" cy="274320"/>
          </a:xfrm>
          <a:prstGeom prst="ellipse">
            <a:avLst/>
          </a:prstGeom>
          <a:solidFill>
            <a:srgbClr val="E39B2C"/>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FinOps: Gaining Visibility</dc:title>
  <dc:subject>Cloud financial management — management briefing</dc:subject>
  <dc:creator>FinOps</dc:creator>
  <cp:lastModifiedBy>FinOps</cp:lastModifiedBy>
  <cp:revision>1</cp:revision>
  <dcterms:created xsi:type="dcterms:W3CDTF">2026-08-04T16:41:56Z</dcterms:created>
  <dcterms:modified xsi:type="dcterms:W3CDTF">2026-08-04T16:41:56Z</dcterms:modified>
</cp:coreProperties>
</file>