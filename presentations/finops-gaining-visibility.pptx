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this briefing is about the Inform phase of FinOps — visibility. It is deliberately not an optimization pitch. The argument is that visibility is the prerequisite that makes every later saving durable rather than one-off.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lived experience rather than theory: the month-end surprise. If you have one, use a real example of a bill that moved and could not be explained within 24 hours. The point of the quote is that a dashboard is not the same thing as visibility — visibility means an owner and a cause can be named.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now carries what used to be two — the questions and the capabilities that answer them — because they were making the same argument twice. Read a row across rather than reading the columns: each business question on the left has exactly one capability on the right that produces the answer. Give the allocation KPI a number so it is a commitment rather than an aspiration: under 5% unallocated, reported weekly. The bottom bar is the sentence to leave in the room. Everything in this deck is in service of replacing an argument about whether IT overspends with a statement naming a team, a resource, a cost and a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honest slide: it says the goal is hard and names why. The next four slides map one-to-one onto the first four blockers. SaaS and marketplace spend has no dedicated solution slide because the fix is procurement discipline rather than tooling — flag it as an action for finance, not engineering.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slide to take away if only one lands. Two decisions are needed from this room: who owns the tag taxonomy, and whether we are willing to enforce it with policy that blocks untagged resource creation. Enforcement at creation is nearly free; retrofitting a live estate is not. The five minimum tags are a starting point — resist the urge to design thirty.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Tagging handles most allocation; these two need a decision instead, which is why they share a slide rather than getting one each. On shared platforms, the point that survives challenge is measured consumption as the basis — headcount and equal splits get disputed by whoever loses. Freeze the method for the year and write it down, because a basis that changes mid-year makes every comparison useless. On commitments, coverage and utilization fail in opposite directions: low coverage means paying on-demand for workloads that never turn off, low utilization means prepaying for a peak that did not return. Report them separately or neither is visible. The showback bar at the bottom applies to both. Four to six weeks of reporting with nothing charged surfaces the disputes while the stakes are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to use whenever a project cost is presented, and the one most likely to change how the next business case is written. An AI feature gets quoted at its token cost because that is the number the vendor prices — but the feature runs on databases, cache, storage, gateways and log ingestion that bill every month whether or not the model is called. Walk the stack once, then dwell on the right-hand cards. The forgotten four are where the estimates actually break: non-production copies with no end date, log and trace ingestion that scales with traffic, egress between the components, and retention of documents, embeddings and backups. The instruction is the teal card. One ApplicationID across every resource the project touches, so a review sees one number and one owner — then divide by the unit that matters. Once the model share is a ratio rather than a headline, the conversation stops being about whether AI is expensive and starts being about whether the whole thing earns its keep.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that makes the whole deck concrete for anyone running AI workloads, because AI is where these failures are arriving fastest. Same three gaps as cloud a decade ago — no owner, no attribution, no ceiling — compressed into about eighteen months. Lead with the third tile, not the waste figure. Four in five organizations need a day or more to trace an AI spike to its source, and roughly one in five manage it within hours. That converts an abstract governance ask into a measurable operational problem — time to attribute — which is a number an engineering leader can be held to and can move. Be straight about the source when asked, and say it before someone else does: this is vendor-sponsored research from a company selling AI cost tooling, and the waste figure is what respondents estimated rather than anything measured. The ownership, surprise-bill and diagnosis-time findings are the durable ones; the 26% is illustrative. Using it honestly is more persuasive than over-claiming it. The right-hand card is the technical consequence and the reason a generic cost platform is not enough here: AI waste lives in prompt design, model selection and retry behaviour, none of which appears in a resource-level bill. Naming the caller needs per-consumer token attribution — gateway subscription keys or application-level attributes.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Shift left is a change in when the conversation happens, not a tool. FinOps belongs at requirements and design, where the decisions that commit the money are made; today it usually arrives at the invoice. The left card is the exchange, and the second line matters more than the first. FinOps arrives with priced options and a cost target, but it leaves knowing the real SLO, what is temporary, and which unit carries the value — which is why a person has to be in the room rather than a report being circulated. The six questions are the practical half; pick two rather than reading all six. Load shape is the highest-yield — sizing for a weekly peak is the most common expensive habit. What is temporary is the cheapest win, because an expiry set on day one costs nothing. Close on the condition: this works where FinOps sits with engineers and fails where it polices them. Pre-deployment costing is the most requested capability in the State of FinOps 2026, so this is where the discipline is heading.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on one slide because they answer the same question at different scales — who owns a workload, and who owns the practice. Press the named-person point, because it is where this goes soft. A distribution list feels safer to assign and answers nothing. If a proposed owner cannot do all four duties, they are a contact rather than an owner. The lower-left block is the division of labour, and the pattern to point out is that no function owns more than two rows. Any version where one team owns everything has quietly become that team's problem alone, which is the most common way a practice dies. The amber card is the one to leave hanging: unowned resources are not unbudgeted, they are charged to central overhead, where cost is hardest to challenge and easiest to grow.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replaces three separate slides, because budgets, quotas and alerts are one argument: a report tells you something happened, a control decides what is allowed to happen. The ordering is the message. Quotas act in seconds and are the only thing here that stops money being spent — and they are reversible in minutes, which is exactly why they are safe to set conservatively and loosen later. Alerts act in minutes to days depending on which data plane they run on. Budget thresholds act within the month. Two details worth saying out loud. Proportional burn beats a flat percentage because it separates a healthy month that is simply late from a runaway that started on day three. And alert on silence: an expired credential stops the data feed, every threshold goes quiet, and a quiet dashboard is indistinguishable from a good month. Expect the objection that limits throttle growth. A ceiling is not a target — it is the point at which someone is asked whether this was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payoff slide for both halves of the deck, and the one to use if someone asks what all this buys. Walk the timeline left to right: the same overrun, found at four different moments, and only the first three leave anyone a decision to make. The fourth point is the status quo — it is not that the invoice is wrong, it is that by the time it arrives the only available action is explaining it. Land the closing line deliberately: we are not promising a smaller bill, and anyone who promises that before seeing the data is guessing. We are promising a bill with nothing surprising in it, which is a different and more defensible commitment.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answer 'what would we actually buy', with a named example rather than an abstract category. Everything in the six cards is a capability the vendor publishes; the shape is representative of the enterprise platforms in this space rather than unique to one. The two cards that matter most for us are virtual tags and Kubernetes allocation, because they attack the two problems earlier in this deck that tagging discipline alone does not solve — the spend that is already untagged, and shared platforms that carry one set of tags for many consumers. Keep the deck's own advice in view when you present this. Slide 10 says native tooling is sufficient for a single-cloud estate, and that has not changed: a platform earns its licence when there are several billing sources to normalize, or when allocation cannot be fixed at source. Say so, or the deck contradicts itself. The bottom bar is the part to read aloud. Three proofs on our own data before any purchase, and an explicit flag that the published outcome numbers are marketing claims. Quoting a vendor's savings percentage as though it were our forecast is the fastest way to lose the room's trust in everything else on these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ask, with the takeaways folded in rather than given their own slide. Step one is highlighted because it is the only item that cannot run in parallel — every downstream report degrades while the taxonomy is still moving. Steps two and three are both arguments for restraint: largest categories first, and guardrails switched on before they are needed rather than after an incident. The KPI block is what makes this reportable. Allocation coverage says whether the data is trustworthy, time-to-attribute says whether we can act, and adoption — findings that acquired an owner and a date — predicts savings months before savings appear. Note that none of the three is a savings number, deliberately. Read the dark card as the close. We are not promising a smaller invoice; we are promising an invoice with nothing in it nobody has seen. Then ask for the two decisions and stop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Anticipate three questions. What will this cost — mostly effort, not licences, if we stay on native tooling. How long until we see savings — allocation coverage improves in weeks, targeted savings follow the first full month of clean data. Who owns it — name the tagging owner and the review cadence before leaving the room, or nothing on the previous slides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371600"/>
            <a:ext cx="6400800" cy="274320"/>
          </a:xfrm>
          <a:prstGeom prst="rect">
            <a:avLst/>
          </a:prstGeom>
          <a:noFill/>
          <a:ln/>
        </p:spPr>
        <p:txBody>
          <a:bodyPr wrap="square" lIns="0" tIns="0" rIns="0" bIns="0" rtlCol="0" anchor="ctr"/>
          <a:lstStyle/>
          <a:p>
            <a:pPr indent="0" marL="0">
              <a:buNone/>
            </a:pPr>
            <a:r>
              <a:rPr lang="en-US" sz="1200" b="1" spc="260" kern="0" dirty="0">
                <a:solidFill>
                  <a:srgbClr val="E39B2C"/>
                </a:solidFill>
                <a:latin typeface="Calibri" pitchFamily="34" charset="0"/>
                <a:ea typeface="Calibri" pitchFamily="34" charset="-122"/>
                <a:cs typeface="Calibri" pitchFamily="34" charset="-120"/>
              </a:rPr>
              <a:t>MANAGEMENT BRIEFING</a:t>
            </a:r>
            <a:endParaRPr lang="en-US" sz="1200" dirty="0"/>
          </a:p>
        </p:txBody>
      </p:sp>
      <p:sp>
        <p:nvSpPr>
          <p:cNvPr id="3" name="Text 1"/>
          <p:cNvSpPr/>
          <p:nvPr/>
        </p:nvSpPr>
        <p:spPr>
          <a:xfrm>
            <a:off x="548640" y="1783080"/>
            <a:ext cx="7315200" cy="1463040"/>
          </a:xfrm>
          <a:prstGeom prst="rect">
            <a:avLst/>
          </a:prstGeom>
          <a:noFill/>
          <a:ln/>
        </p:spPr>
        <p:txBody>
          <a:bodyPr wrap="square" lIns="0" tIns="0" rIns="0" bIns="0" rtlCol="0" anchor="t"/>
          <a:lstStyle/>
          <a:p>
            <a:pPr indent="0" marL="0">
              <a:lnSpc>
                <a:spcPts val="4400"/>
              </a:lnSpc>
              <a:buNone/>
            </a:pPr>
            <a:r>
              <a:rPr lang="en-US" sz="3800" b="1" dirty="0">
                <a:solidFill>
                  <a:srgbClr val="FFFFFF"/>
                </a:solidFill>
                <a:latin typeface="Cambria" pitchFamily="34" charset="0"/>
                <a:ea typeface="Cambria" pitchFamily="34" charset="-122"/>
                <a:cs typeface="Cambria" pitchFamily="34" charset="-120"/>
              </a:rPr>
              <a:t>FinOps:</a:t>
            </a:r>
            <a:endParaRPr lang="en-US" sz="3800" dirty="0"/>
          </a:p>
          <a:p>
            <a:pPr indent="0" marL="0">
              <a:lnSpc>
                <a:spcPts val="4400"/>
              </a:lnSpc>
              <a:buNone/>
            </a:pPr>
            <a:r>
              <a:rPr lang="en-US" sz="3800" b="1" dirty="0">
                <a:solidFill>
                  <a:srgbClr val="FFFFFF"/>
                </a:solidFill>
                <a:latin typeface="Cambria" pitchFamily="34" charset="0"/>
                <a:ea typeface="Cambria" pitchFamily="34" charset="-122"/>
                <a:cs typeface="Cambria" pitchFamily="34" charset="-120"/>
              </a:rPr>
              <a:t>Visibility &amp; Governance</a:t>
            </a:r>
            <a:endParaRPr lang="en-US" sz="3800" dirty="0"/>
          </a:p>
        </p:txBody>
      </p:sp>
      <p:sp>
        <p:nvSpPr>
          <p:cNvPr id="4" name="Text 2"/>
          <p:cNvSpPr/>
          <p:nvPr/>
        </p:nvSpPr>
        <p:spPr>
          <a:xfrm>
            <a:off x="548640" y="3401568"/>
            <a:ext cx="6766560" cy="365760"/>
          </a:xfrm>
          <a:prstGeom prst="rect">
            <a:avLst/>
          </a:prstGeom>
          <a:noFill/>
          <a:ln/>
        </p:spPr>
        <p:txBody>
          <a:bodyPr wrap="square" lIns="0" tIns="0" rIns="0" bIns="0" rtlCol="0" anchor="ctr"/>
          <a:lstStyle/>
          <a:p>
            <a:pPr indent="0" marL="0">
              <a:buNone/>
            </a:pPr>
            <a:r>
              <a:rPr lang="en-US" sz="1900" dirty="0">
                <a:solidFill>
                  <a:srgbClr val="9EABBA"/>
                </a:solidFill>
                <a:latin typeface="Calibri" pitchFamily="34" charset="0"/>
                <a:ea typeface="Calibri" pitchFamily="34" charset="-122"/>
                <a:cs typeface="Calibri" pitchFamily="34" charset="-120"/>
              </a:rPr>
              <a:t>Seeing cloud spend — and controlling it</a:t>
            </a:r>
            <a:endParaRPr lang="en-US" sz="1900" dirty="0"/>
          </a:p>
        </p:txBody>
      </p:sp>
      <p:sp>
        <p:nvSpPr>
          <p:cNvPr id="5" name="Text 3"/>
          <p:cNvSpPr/>
          <p:nvPr/>
        </p:nvSpPr>
        <p:spPr>
          <a:xfrm>
            <a:off x="548640" y="5120640"/>
            <a:ext cx="3108960" cy="731520"/>
          </a:xfrm>
          <a:prstGeom prst="rect">
            <a:avLst/>
          </a:prstGeom>
          <a:noFill/>
          <a:ln/>
        </p:spPr>
        <p:txBody>
          <a:bodyPr wrap="square" lIns="0" tIns="0" rIns="0" bIns="0" rtlCol="0" anchor="ctr"/>
          <a:lstStyle/>
          <a:p>
            <a:pPr indent="0" marL="0">
              <a:lnSpc>
                <a:spcPts val="2000"/>
              </a:lnSpc>
              <a:buNone/>
            </a:pPr>
            <a:r>
              <a:rPr lang="en-US" sz="1100" b="1" spc="140" kern="0" dirty="0">
                <a:solidFill>
                  <a:srgbClr val="9EABBA"/>
                </a:solidFill>
                <a:latin typeface="Calibri" pitchFamily="34" charset="0"/>
                <a:ea typeface="Calibri" pitchFamily="34" charset="-122"/>
                <a:cs typeface="Calibri" pitchFamily="34" charset="-120"/>
              </a:rPr>
              <a:t>Presented to</a:t>
            </a:r>
            <a:endParaRPr lang="en-US" sz="1100" dirty="0"/>
          </a:p>
          <a:p>
            <a:pPr indent="0" marL="0">
              <a:lnSpc>
                <a:spcPts val="2000"/>
              </a:lnSpc>
              <a:buNone/>
            </a:pPr>
            <a:r>
              <a:rPr lang="en-US" sz="1500" dirty="0">
                <a:solidFill>
                  <a:srgbClr val="FFFFFF"/>
                </a:solidFill>
                <a:latin typeface="Calibri" pitchFamily="34" charset="0"/>
                <a:ea typeface="Calibri" pitchFamily="34" charset="-122"/>
                <a:cs typeface="Calibri" pitchFamily="34" charset="-120"/>
              </a:rPr>
              <a:t>Executive Leadership</a:t>
            </a:r>
            <a:endParaRPr lang="en-US" sz="1100" dirty="0"/>
          </a:p>
        </p:txBody>
      </p:sp>
      <p:sp>
        <p:nvSpPr>
          <p:cNvPr id="6" name="Text 4"/>
          <p:cNvSpPr/>
          <p:nvPr/>
        </p:nvSpPr>
        <p:spPr>
          <a:xfrm>
            <a:off x="3931920" y="5120640"/>
            <a:ext cx="3108960" cy="731520"/>
          </a:xfrm>
          <a:prstGeom prst="rect">
            <a:avLst/>
          </a:prstGeom>
          <a:noFill/>
          <a:ln/>
        </p:spPr>
        <p:txBody>
          <a:bodyPr wrap="square" lIns="0" tIns="0" rIns="0" bIns="0" rtlCol="0" anchor="ctr"/>
          <a:lstStyle/>
          <a:p>
            <a:pPr indent="0" marL="0">
              <a:lnSpc>
                <a:spcPts val="2000"/>
              </a:lnSpc>
              <a:buNone/>
            </a:pPr>
            <a:r>
              <a:rPr lang="en-US" sz="1100" b="1" spc="140" kern="0" dirty="0">
                <a:solidFill>
                  <a:srgbClr val="9EABBA"/>
                </a:solidFill>
                <a:latin typeface="Calibri" pitchFamily="34" charset="0"/>
                <a:ea typeface="Calibri" pitchFamily="34" charset="-122"/>
                <a:cs typeface="Calibri" pitchFamily="34" charset="-120"/>
              </a:rPr>
              <a:t>Date</a:t>
            </a:r>
            <a:endParaRPr lang="en-US" sz="1100" dirty="0"/>
          </a:p>
          <a:p>
            <a:pPr indent="0" marL="0">
              <a:lnSpc>
                <a:spcPts val="2000"/>
              </a:lnSpc>
              <a:buNone/>
            </a:pPr>
            <a:r>
              <a:rPr lang="en-US" sz="1500" dirty="0">
                <a:solidFill>
                  <a:srgbClr val="9EABBA"/>
                </a:solidFill>
                <a:latin typeface="Calibri" pitchFamily="34" charset="0"/>
                <a:ea typeface="Calibri" pitchFamily="34" charset="-122"/>
                <a:cs typeface="Calibri" pitchFamily="34" charset="-120"/>
              </a:rPr>
              <a:t>____________________</a:t>
            </a:r>
            <a:endParaRPr lang="en-US" sz="1100" dirty="0"/>
          </a:p>
        </p:txBody>
      </p:sp>
      <p:sp>
        <p:nvSpPr>
          <p:cNvPr id="7" name="Shape 5"/>
          <p:cNvSpPr/>
          <p:nvPr/>
        </p:nvSpPr>
        <p:spPr>
          <a:xfrm>
            <a:off x="8001000" y="1572768"/>
            <a:ext cx="274320" cy="274320"/>
          </a:xfrm>
          <a:prstGeom prst="ellipse">
            <a:avLst/>
          </a:prstGeom>
          <a:solidFill>
            <a:srgbClr val="27313E"/>
          </a:solidFill>
          <a:ln/>
        </p:spPr>
      </p:sp>
      <p:sp>
        <p:nvSpPr>
          <p:cNvPr id="8" name="Shape 6"/>
          <p:cNvSpPr/>
          <p:nvPr/>
        </p:nvSpPr>
        <p:spPr>
          <a:xfrm>
            <a:off x="8513064" y="1572768"/>
            <a:ext cx="274320" cy="274320"/>
          </a:xfrm>
          <a:prstGeom prst="ellipse">
            <a:avLst/>
          </a:prstGeom>
          <a:solidFill>
            <a:srgbClr val="27313E"/>
          </a:solidFill>
          <a:ln/>
        </p:spPr>
      </p:sp>
      <p:sp>
        <p:nvSpPr>
          <p:cNvPr id="9" name="Shape 7"/>
          <p:cNvSpPr/>
          <p:nvPr/>
        </p:nvSpPr>
        <p:spPr>
          <a:xfrm>
            <a:off x="9025128" y="1572768"/>
            <a:ext cx="274320" cy="274320"/>
          </a:xfrm>
          <a:prstGeom prst="ellipse">
            <a:avLst/>
          </a:prstGeom>
          <a:solidFill>
            <a:srgbClr val="27313E"/>
          </a:solidFill>
          <a:ln/>
        </p:spPr>
      </p:sp>
      <p:sp>
        <p:nvSpPr>
          <p:cNvPr id="10" name="Shape 8"/>
          <p:cNvSpPr/>
          <p:nvPr/>
        </p:nvSpPr>
        <p:spPr>
          <a:xfrm>
            <a:off x="9537192" y="1572768"/>
            <a:ext cx="274320" cy="274320"/>
          </a:xfrm>
          <a:prstGeom prst="ellipse">
            <a:avLst/>
          </a:prstGeom>
          <a:solidFill>
            <a:srgbClr val="27313E"/>
          </a:solidFill>
          <a:ln/>
        </p:spPr>
      </p:sp>
      <p:sp>
        <p:nvSpPr>
          <p:cNvPr id="11" name="Shape 9"/>
          <p:cNvSpPr/>
          <p:nvPr/>
        </p:nvSpPr>
        <p:spPr>
          <a:xfrm>
            <a:off x="10049256" y="1572768"/>
            <a:ext cx="274320" cy="274320"/>
          </a:xfrm>
          <a:prstGeom prst="ellipse">
            <a:avLst/>
          </a:prstGeom>
          <a:solidFill>
            <a:srgbClr val="27313E"/>
          </a:solidFill>
          <a:ln/>
        </p:spPr>
      </p:sp>
      <p:sp>
        <p:nvSpPr>
          <p:cNvPr id="12" name="Shape 10"/>
          <p:cNvSpPr/>
          <p:nvPr/>
        </p:nvSpPr>
        <p:spPr>
          <a:xfrm>
            <a:off x="10561320" y="1572768"/>
            <a:ext cx="274320" cy="274320"/>
          </a:xfrm>
          <a:prstGeom prst="ellipse">
            <a:avLst/>
          </a:prstGeom>
          <a:solidFill>
            <a:srgbClr val="27313E"/>
          </a:solidFill>
          <a:ln/>
        </p:spPr>
      </p:sp>
      <p:sp>
        <p:nvSpPr>
          <p:cNvPr id="13" name="Shape 11"/>
          <p:cNvSpPr/>
          <p:nvPr/>
        </p:nvSpPr>
        <p:spPr>
          <a:xfrm>
            <a:off x="11073384" y="1572768"/>
            <a:ext cx="274320" cy="274320"/>
          </a:xfrm>
          <a:prstGeom prst="ellipse">
            <a:avLst/>
          </a:prstGeom>
          <a:solidFill>
            <a:srgbClr val="27313E"/>
          </a:solidFill>
          <a:ln/>
        </p:spPr>
      </p:sp>
      <p:sp>
        <p:nvSpPr>
          <p:cNvPr id="14" name="Shape 12"/>
          <p:cNvSpPr/>
          <p:nvPr/>
        </p:nvSpPr>
        <p:spPr>
          <a:xfrm>
            <a:off x="8001000" y="2084832"/>
            <a:ext cx="274320" cy="274320"/>
          </a:xfrm>
          <a:prstGeom prst="ellipse">
            <a:avLst/>
          </a:prstGeom>
          <a:solidFill>
            <a:srgbClr val="27313E"/>
          </a:solidFill>
          <a:ln/>
        </p:spPr>
      </p:sp>
      <p:sp>
        <p:nvSpPr>
          <p:cNvPr id="15" name="Shape 13"/>
          <p:cNvSpPr/>
          <p:nvPr/>
        </p:nvSpPr>
        <p:spPr>
          <a:xfrm>
            <a:off x="8513064" y="2084832"/>
            <a:ext cx="274320" cy="274320"/>
          </a:xfrm>
          <a:prstGeom prst="ellipse">
            <a:avLst/>
          </a:prstGeom>
          <a:solidFill>
            <a:srgbClr val="27313E"/>
          </a:solidFill>
          <a:ln/>
        </p:spPr>
      </p:sp>
      <p:sp>
        <p:nvSpPr>
          <p:cNvPr id="16" name="Shape 14"/>
          <p:cNvSpPr/>
          <p:nvPr/>
        </p:nvSpPr>
        <p:spPr>
          <a:xfrm>
            <a:off x="9025128" y="2084832"/>
            <a:ext cx="274320" cy="274320"/>
          </a:xfrm>
          <a:prstGeom prst="ellipse">
            <a:avLst/>
          </a:prstGeom>
          <a:solidFill>
            <a:srgbClr val="27313E"/>
          </a:solidFill>
          <a:ln/>
        </p:spPr>
      </p:sp>
      <p:sp>
        <p:nvSpPr>
          <p:cNvPr id="17" name="Shape 15"/>
          <p:cNvSpPr/>
          <p:nvPr/>
        </p:nvSpPr>
        <p:spPr>
          <a:xfrm>
            <a:off x="9537192" y="2084832"/>
            <a:ext cx="274320" cy="274320"/>
          </a:xfrm>
          <a:prstGeom prst="ellipse">
            <a:avLst/>
          </a:prstGeom>
          <a:solidFill>
            <a:srgbClr val="27313E"/>
          </a:solidFill>
          <a:ln/>
        </p:spPr>
      </p:sp>
      <p:sp>
        <p:nvSpPr>
          <p:cNvPr id="18" name="Shape 16"/>
          <p:cNvSpPr/>
          <p:nvPr/>
        </p:nvSpPr>
        <p:spPr>
          <a:xfrm>
            <a:off x="10049256" y="2084832"/>
            <a:ext cx="274320" cy="274320"/>
          </a:xfrm>
          <a:prstGeom prst="ellipse">
            <a:avLst/>
          </a:prstGeom>
          <a:solidFill>
            <a:srgbClr val="27313E"/>
          </a:solidFill>
          <a:ln/>
        </p:spPr>
      </p:sp>
      <p:sp>
        <p:nvSpPr>
          <p:cNvPr id="19" name="Shape 17"/>
          <p:cNvSpPr/>
          <p:nvPr/>
        </p:nvSpPr>
        <p:spPr>
          <a:xfrm>
            <a:off x="10561320" y="2084832"/>
            <a:ext cx="274320" cy="274320"/>
          </a:xfrm>
          <a:prstGeom prst="ellipse">
            <a:avLst/>
          </a:prstGeom>
          <a:solidFill>
            <a:srgbClr val="27313E"/>
          </a:solidFill>
          <a:ln/>
        </p:spPr>
      </p:sp>
      <p:sp>
        <p:nvSpPr>
          <p:cNvPr id="20" name="Shape 18"/>
          <p:cNvSpPr/>
          <p:nvPr/>
        </p:nvSpPr>
        <p:spPr>
          <a:xfrm>
            <a:off x="11073384" y="2084832"/>
            <a:ext cx="274320" cy="274320"/>
          </a:xfrm>
          <a:prstGeom prst="ellipse">
            <a:avLst/>
          </a:prstGeom>
          <a:solidFill>
            <a:srgbClr val="27313E"/>
          </a:solidFill>
          <a:ln/>
        </p:spPr>
      </p:sp>
      <p:sp>
        <p:nvSpPr>
          <p:cNvPr id="21" name="Shape 19"/>
          <p:cNvSpPr/>
          <p:nvPr/>
        </p:nvSpPr>
        <p:spPr>
          <a:xfrm>
            <a:off x="8001000" y="2596896"/>
            <a:ext cx="274320" cy="274320"/>
          </a:xfrm>
          <a:prstGeom prst="ellipse">
            <a:avLst/>
          </a:prstGeom>
          <a:solidFill>
            <a:srgbClr val="27313E"/>
          </a:solidFill>
          <a:ln/>
        </p:spPr>
      </p:sp>
      <p:sp>
        <p:nvSpPr>
          <p:cNvPr id="22" name="Shape 20"/>
          <p:cNvSpPr/>
          <p:nvPr/>
        </p:nvSpPr>
        <p:spPr>
          <a:xfrm>
            <a:off x="8513064" y="2596896"/>
            <a:ext cx="274320" cy="274320"/>
          </a:xfrm>
          <a:prstGeom prst="ellipse">
            <a:avLst/>
          </a:prstGeom>
          <a:solidFill>
            <a:srgbClr val="27313E"/>
          </a:solidFill>
          <a:ln/>
        </p:spPr>
      </p:sp>
      <p:sp>
        <p:nvSpPr>
          <p:cNvPr id="23" name="Shape 21"/>
          <p:cNvSpPr/>
          <p:nvPr/>
        </p:nvSpPr>
        <p:spPr>
          <a:xfrm>
            <a:off x="9025128" y="2596896"/>
            <a:ext cx="274320" cy="274320"/>
          </a:xfrm>
          <a:prstGeom prst="ellipse">
            <a:avLst/>
          </a:prstGeom>
          <a:solidFill>
            <a:srgbClr val="27313E"/>
          </a:solidFill>
          <a:ln/>
        </p:spPr>
      </p:sp>
      <p:sp>
        <p:nvSpPr>
          <p:cNvPr id="24" name="Shape 22"/>
          <p:cNvSpPr/>
          <p:nvPr/>
        </p:nvSpPr>
        <p:spPr>
          <a:xfrm>
            <a:off x="9537192" y="2596896"/>
            <a:ext cx="274320" cy="274320"/>
          </a:xfrm>
          <a:prstGeom prst="ellipse">
            <a:avLst/>
          </a:prstGeom>
          <a:solidFill>
            <a:srgbClr val="27313E"/>
          </a:solidFill>
          <a:ln/>
        </p:spPr>
      </p:sp>
      <p:sp>
        <p:nvSpPr>
          <p:cNvPr id="25" name="Shape 23"/>
          <p:cNvSpPr/>
          <p:nvPr/>
        </p:nvSpPr>
        <p:spPr>
          <a:xfrm>
            <a:off x="10049256" y="2596896"/>
            <a:ext cx="274320" cy="274320"/>
          </a:xfrm>
          <a:prstGeom prst="ellipse">
            <a:avLst/>
          </a:prstGeom>
          <a:solidFill>
            <a:srgbClr val="27313E"/>
          </a:solidFill>
          <a:ln/>
        </p:spPr>
      </p:sp>
      <p:sp>
        <p:nvSpPr>
          <p:cNvPr id="26" name="Shape 24"/>
          <p:cNvSpPr/>
          <p:nvPr/>
        </p:nvSpPr>
        <p:spPr>
          <a:xfrm>
            <a:off x="10561320" y="2596896"/>
            <a:ext cx="274320" cy="274320"/>
          </a:xfrm>
          <a:prstGeom prst="ellipse">
            <a:avLst/>
          </a:prstGeom>
          <a:solidFill>
            <a:srgbClr val="27313E"/>
          </a:solidFill>
          <a:ln/>
        </p:spPr>
      </p:sp>
      <p:sp>
        <p:nvSpPr>
          <p:cNvPr id="27" name="Shape 25"/>
          <p:cNvSpPr/>
          <p:nvPr/>
        </p:nvSpPr>
        <p:spPr>
          <a:xfrm>
            <a:off x="11073384" y="2596896"/>
            <a:ext cx="274320" cy="274320"/>
          </a:xfrm>
          <a:prstGeom prst="ellipse">
            <a:avLst/>
          </a:prstGeom>
          <a:solidFill>
            <a:srgbClr val="E39B2C"/>
          </a:solidFill>
          <a:ln/>
        </p:spPr>
      </p:sp>
      <p:sp>
        <p:nvSpPr>
          <p:cNvPr id="28" name="Shape 26"/>
          <p:cNvSpPr/>
          <p:nvPr/>
        </p:nvSpPr>
        <p:spPr>
          <a:xfrm>
            <a:off x="8001000" y="3108960"/>
            <a:ext cx="274320" cy="274320"/>
          </a:xfrm>
          <a:prstGeom prst="ellipse">
            <a:avLst/>
          </a:prstGeom>
          <a:solidFill>
            <a:srgbClr val="27313E"/>
          </a:solidFill>
          <a:ln/>
        </p:spPr>
      </p:sp>
      <p:sp>
        <p:nvSpPr>
          <p:cNvPr id="29" name="Shape 27"/>
          <p:cNvSpPr/>
          <p:nvPr/>
        </p:nvSpPr>
        <p:spPr>
          <a:xfrm>
            <a:off x="8513064" y="3108960"/>
            <a:ext cx="274320" cy="274320"/>
          </a:xfrm>
          <a:prstGeom prst="ellipse">
            <a:avLst/>
          </a:prstGeom>
          <a:solidFill>
            <a:srgbClr val="27313E"/>
          </a:solidFill>
          <a:ln/>
        </p:spPr>
      </p:sp>
      <p:sp>
        <p:nvSpPr>
          <p:cNvPr id="30" name="Shape 28"/>
          <p:cNvSpPr/>
          <p:nvPr/>
        </p:nvSpPr>
        <p:spPr>
          <a:xfrm>
            <a:off x="9025128" y="3108960"/>
            <a:ext cx="274320" cy="274320"/>
          </a:xfrm>
          <a:prstGeom prst="ellipse">
            <a:avLst/>
          </a:prstGeom>
          <a:solidFill>
            <a:srgbClr val="27313E"/>
          </a:solidFill>
          <a:ln/>
        </p:spPr>
      </p:sp>
      <p:sp>
        <p:nvSpPr>
          <p:cNvPr id="31" name="Shape 29"/>
          <p:cNvSpPr/>
          <p:nvPr/>
        </p:nvSpPr>
        <p:spPr>
          <a:xfrm>
            <a:off x="9537192" y="3108960"/>
            <a:ext cx="274320" cy="274320"/>
          </a:xfrm>
          <a:prstGeom prst="ellipse">
            <a:avLst/>
          </a:prstGeom>
          <a:solidFill>
            <a:srgbClr val="27313E"/>
          </a:solidFill>
          <a:ln/>
        </p:spPr>
      </p:sp>
      <p:sp>
        <p:nvSpPr>
          <p:cNvPr id="32" name="Shape 30"/>
          <p:cNvSpPr/>
          <p:nvPr/>
        </p:nvSpPr>
        <p:spPr>
          <a:xfrm>
            <a:off x="10049256" y="3108960"/>
            <a:ext cx="274320" cy="274320"/>
          </a:xfrm>
          <a:prstGeom prst="ellipse">
            <a:avLst/>
          </a:prstGeom>
          <a:solidFill>
            <a:srgbClr val="27313E"/>
          </a:solidFill>
          <a:ln/>
        </p:spPr>
      </p:sp>
      <p:sp>
        <p:nvSpPr>
          <p:cNvPr id="33" name="Shape 31"/>
          <p:cNvSpPr/>
          <p:nvPr/>
        </p:nvSpPr>
        <p:spPr>
          <a:xfrm>
            <a:off x="10561320" y="3108960"/>
            <a:ext cx="274320" cy="274320"/>
          </a:xfrm>
          <a:prstGeom prst="ellipse">
            <a:avLst/>
          </a:prstGeom>
          <a:solidFill>
            <a:srgbClr val="E39B2C"/>
          </a:solidFill>
          <a:ln/>
        </p:spPr>
      </p:sp>
      <p:sp>
        <p:nvSpPr>
          <p:cNvPr id="34" name="Shape 32"/>
          <p:cNvSpPr/>
          <p:nvPr/>
        </p:nvSpPr>
        <p:spPr>
          <a:xfrm>
            <a:off x="11073384" y="3108960"/>
            <a:ext cx="274320" cy="274320"/>
          </a:xfrm>
          <a:prstGeom prst="ellipse">
            <a:avLst/>
          </a:prstGeom>
          <a:solidFill>
            <a:srgbClr val="E39B2C"/>
          </a:solidFill>
          <a:ln/>
        </p:spPr>
      </p:sp>
      <p:sp>
        <p:nvSpPr>
          <p:cNvPr id="35" name="Shape 33"/>
          <p:cNvSpPr/>
          <p:nvPr/>
        </p:nvSpPr>
        <p:spPr>
          <a:xfrm>
            <a:off x="8001000" y="3621024"/>
            <a:ext cx="274320" cy="274320"/>
          </a:xfrm>
          <a:prstGeom prst="ellipse">
            <a:avLst/>
          </a:prstGeom>
          <a:solidFill>
            <a:srgbClr val="27313E"/>
          </a:solidFill>
          <a:ln/>
        </p:spPr>
      </p:sp>
      <p:sp>
        <p:nvSpPr>
          <p:cNvPr id="36" name="Shape 34"/>
          <p:cNvSpPr/>
          <p:nvPr/>
        </p:nvSpPr>
        <p:spPr>
          <a:xfrm>
            <a:off x="8513064" y="3621024"/>
            <a:ext cx="274320" cy="274320"/>
          </a:xfrm>
          <a:prstGeom prst="ellipse">
            <a:avLst/>
          </a:prstGeom>
          <a:solidFill>
            <a:srgbClr val="27313E"/>
          </a:solidFill>
          <a:ln/>
        </p:spPr>
      </p:sp>
      <p:sp>
        <p:nvSpPr>
          <p:cNvPr id="37" name="Shape 35"/>
          <p:cNvSpPr/>
          <p:nvPr/>
        </p:nvSpPr>
        <p:spPr>
          <a:xfrm>
            <a:off x="9025128" y="3621024"/>
            <a:ext cx="274320" cy="274320"/>
          </a:xfrm>
          <a:prstGeom prst="ellipse">
            <a:avLst/>
          </a:prstGeom>
          <a:solidFill>
            <a:srgbClr val="27313E"/>
          </a:solidFill>
          <a:ln/>
        </p:spPr>
      </p:sp>
      <p:sp>
        <p:nvSpPr>
          <p:cNvPr id="38" name="Shape 36"/>
          <p:cNvSpPr/>
          <p:nvPr/>
        </p:nvSpPr>
        <p:spPr>
          <a:xfrm>
            <a:off x="9537192" y="3621024"/>
            <a:ext cx="274320" cy="274320"/>
          </a:xfrm>
          <a:prstGeom prst="ellipse">
            <a:avLst/>
          </a:prstGeom>
          <a:solidFill>
            <a:srgbClr val="27313E"/>
          </a:solidFill>
          <a:ln/>
        </p:spPr>
      </p:sp>
      <p:sp>
        <p:nvSpPr>
          <p:cNvPr id="39" name="Shape 37"/>
          <p:cNvSpPr/>
          <p:nvPr/>
        </p:nvSpPr>
        <p:spPr>
          <a:xfrm>
            <a:off x="10049256" y="3621024"/>
            <a:ext cx="274320" cy="274320"/>
          </a:xfrm>
          <a:prstGeom prst="ellipse">
            <a:avLst/>
          </a:prstGeom>
          <a:solidFill>
            <a:srgbClr val="E39B2C"/>
          </a:solidFill>
          <a:ln/>
        </p:spPr>
      </p:sp>
      <p:sp>
        <p:nvSpPr>
          <p:cNvPr id="40" name="Shape 38"/>
          <p:cNvSpPr/>
          <p:nvPr/>
        </p:nvSpPr>
        <p:spPr>
          <a:xfrm>
            <a:off x="10561320" y="3621024"/>
            <a:ext cx="274320" cy="274320"/>
          </a:xfrm>
          <a:prstGeom prst="ellipse">
            <a:avLst/>
          </a:prstGeom>
          <a:solidFill>
            <a:srgbClr val="E39B2C"/>
          </a:solidFill>
          <a:ln/>
        </p:spPr>
      </p:sp>
      <p:sp>
        <p:nvSpPr>
          <p:cNvPr id="41" name="Shape 39"/>
          <p:cNvSpPr/>
          <p:nvPr/>
        </p:nvSpPr>
        <p:spPr>
          <a:xfrm>
            <a:off x="11073384" y="3621024"/>
            <a:ext cx="274320" cy="274320"/>
          </a:xfrm>
          <a:prstGeom prst="ellipse">
            <a:avLst/>
          </a:prstGeom>
          <a:solidFill>
            <a:srgbClr val="E39B2C"/>
          </a:solidFill>
          <a:ln/>
        </p:spPr>
      </p:sp>
      <p:sp>
        <p:nvSpPr>
          <p:cNvPr id="42" name="Shape 40"/>
          <p:cNvSpPr/>
          <p:nvPr/>
        </p:nvSpPr>
        <p:spPr>
          <a:xfrm>
            <a:off x="8001000" y="4133088"/>
            <a:ext cx="274320" cy="274320"/>
          </a:xfrm>
          <a:prstGeom prst="ellipse">
            <a:avLst/>
          </a:prstGeom>
          <a:solidFill>
            <a:srgbClr val="27313E"/>
          </a:solidFill>
          <a:ln/>
        </p:spPr>
      </p:sp>
      <p:sp>
        <p:nvSpPr>
          <p:cNvPr id="43" name="Shape 41"/>
          <p:cNvSpPr/>
          <p:nvPr/>
        </p:nvSpPr>
        <p:spPr>
          <a:xfrm>
            <a:off x="8513064" y="4133088"/>
            <a:ext cx="274320" cy="274320"/>
          </a:xfrm>
          <a:prstGeom prst="ellipse">
            <a:avLst/>
          </a:prstGeom>
          <a:solidFill>
            <a:srgbClr val="27313E"/>
          </a:solidFill>
          <a:ln/>
        </p:spPr>
      </p:sp>
      <p:sp>
        <p:nvSpPr>
          <p:cNvPr id="44" name="Shape 42"/>
          <p:cNvSpPr/>
          <p:nvPr/>
        </p:nvSpPr>
        <p:spPr>
          <a:xfrm>
            <a:off x="9025128" y="4133088"/>
            <a:ext cx="274320" cy="274320"/>
          </a:xfrm>
          <a:prstGeom prst="ellipse">
            <a:avLst/>
          </a:prstGeom>
          <a:solidFill>
            <a:srgbClr val="27313E"/>
          </a:solidFill>
          <a:ln/>
        </p:spPr>
      </p:sp>
      <p:sp>
        <p:nvSpPr>
          <p:cNvPr id="45" name="Shape 43"/>
          <p:cNvSpPr/>
          <p:nvPr/>
        </p:nvSpPr>
        <p:spPr>
          <a:xfrm>
            <a:off x="9537192" y="4133088"/>
            <a:ext cx="274320" cy="274320"/>
          </a:xfrm>
          <a:prstGeom prst="ellipse">
            <a:avLst/>
          </a:prstGeom>
          <a:solidFill>
            <a:srgbClr val="E39B2C"/>
          </a:solidFill>
          <a:ln/>
        </p:spPr>
      </p:sp>
      <p:sp>
        <p:nvSpPr>
          <p:cNvPr id="46" name="Shape 44"/>
          <p:cNvSpPr/>
          <p:nvPr/>
        </p:nvSpPr>
        <p:spPr>
          <a:xfrm>
            <a:off x="10049256" y="4133088"/>
            <a:ext cx="274320" cy="274320"/>
          </a:xfrm>
          <a:prstGeom prst="ellipse">
            <a:avLst/>
          </a:prstGeom>
          <a:solidFill>
            <a:srgbClr val="E39B2C"/>
          </a:solidFill>
          <a:ln/>
        </p:spPr>
      </p:sp>
      <p:sp>
        <p:nvSpPr>
          <p:cNvPr id="47" name="Shape 45"/>
          <p:cNvSpPr/>
          <p:nvPr/>
        </p:nvSpPr>
        <p:spPr>
          <a:xfrm>
            <a:off x="10561320" y="4133088"/>
            <a:ext cx="274320" cy="274320"/>
          </a:xfrm>
          <a:prstGeom prst="ellipse">
            <a:avLst/>
          </a:prstGeom>
          <a:solidFill>
            <a:srgbClr val="E39B2C"/>
          </a:solidFill>
          <a:ln/>
        </p:spPr>
      </p:sp>
      <p:sp>
        <p:nvSpPr>
          <p:cNvPr id="48" name="Shape 46"/>
          <p:cNvSpPr/>
          <p:nvPr/>
        </p:nvSpPr>
        <p:spPr>
          <a:xfrm>
            <a:off x="11073384" y="4133088"/>
            <a:ext cx="274320" cy="274320"/>
          </a:xfrm>
          <a:prstGeom prst="ellipse">
            <a:avLst/>
          </a:prstGeom>
          <a:solidFill>
            <a:srgbClr val="E39B2C"/>
          </a:solidFill>
          <a:ln/>
        </p:spPr>
      </p:sp>
      <p:sp>
        <p:nvSpPr>
          <p:cNvPr id="49" name="Shape 47"/>
          <p:cNvSpPr/>
          <p:nvPr/>
        </p:nvSpPr>
        <p:spPr>
          <a:xfrm>
            <a:off x="8001000" y="4645152"/>
            <a:ext cx="274320" cy="274320"/>
          </a:xfrm>
          <a:prstGeom prst="ellipse">
            <a:avLst/>
          </a:prstGeom>
          <a:solidFill>
            <a:srgbClr val="27313E"/>
          </a:solidFill>
          <a:ln/>
        </p:spPr>
      </p:sp>
      <p:sp>
        <p:nvSpPr>
          <p:cNvPr id="50" name="Shape 48"/>
          <p:cNvSpPr/>
          <p:nvPr/>
        </p:nvSpPr>
        <p:spPr>
          <a:xfrm>
            <a:off x="8513064" y="4645152"/>
            <a:ext cx="274320" cy="274320"/>
          </a:xfrm>
          <a:prstGeom prst="ellipse">
            <a:avLst/>
          </a:prstGeom>
          <a:solidFill>
            <a:srgbClr val="27313E"/>
          </a:solidFill>
          <a:ln/>
        </p:spPr>
      </p:sp>
      <p:sp>
        <p:nvSpPr>
          <p:cNvPr id="51" name="Shape 49"/>
          <p:cNvSpPr/>
          <p:nvPr/>
        </p:nvSpPr>
        <p:spPr>
          <a:xfrm>
            <a:off x="9025128" y="4645152"/>
            <a:ext cx="274320" cy="274320"/>
          </a:xfrm>
          <a:prstGeom prst="ellipse">
            <a:avLst/>
          </a:prstGeom>
          <a:solidFill>
            <a:srgbClr val="E39B2C"/>
          </a:solidFill>
          <a:ln/>
        </p:spPr>
      </p:sp>
      <p:sp>
        <p:nvSpPr>
          <p:cNvPr id="52" name="Shape 50"/>
          <p:cNvSpPr/>
          <p:nvPr/>
        </p:nvSpPr>
        <p:spPr>
          <a:xfrm>
            <a:off x="9537192" y="4645152"/>
            <a:ext cx="274320" cy="274320"/>
          </a:xfrm>
          <a:prstGeom prst="ellipse">
            <a:avLst/>
          </a:prstGeom>
          <a:solidFill>
            <a:srgbClr val="E39B2C"/>
          </a:solidFill>
          <a:ln/>
        </p:spPr>
      </p:sp>
      <p:sp>
        <p:nvSpPr>
          <p:cNvPr id="53" name="Shape 51"/>
          <p:cNvSpPr/>
          <p:nvPr/>
        </p:nvSpPr>
        <p:spPr>
          <a:xfrm>
            <a:off x="10049256" y="4645152"/>
            <a:ext cx="274320" cy="274320"/>
          </a:xfrm>
          <a:prstGeom prst="ellipse">
            <a:avLst/>
          </a:prstGeom>
          <a:solidFill>
            <a:srgbClr val="E39B2C"/>
          </a:solidFill>
          <a:ln/>
        </p:spPr>
      </p:sp>
      <p:sp>
        <p:nvSpPr>
          <p:cNvPr id="54" name="Shape 52"/>
          <p:cNvSpPr/>
          <p:nvPr/>
        </p:nvSpPr>
        <p:spPr>
          <a:xfrm>
            <a:off x="10561320" y="4645152"/>
            <a:ext cx="274320" cy="274320"/>
          </a:xfrm>
          <a:prstGeom prst="ellipse">
            <a:avLst/>
          </a:prstGeom>
          <a:solidFill>
            <a:srgbClr val="E39B2C"/>
          </a:solidFill>
          <a:ln/>
        </p:spPr>
      </p:sp>
      <p:sp>
        <p:nvSpPr>
          <p:cNvPr id="55" name="Shape 53"/>
          <p:cNvSpPr/>
          <p:nvPr/>
        </p:nvSpPr>
        <p:spPr>
          <a:xfrm>
            <a:off x="11073384" y="4645152"/>
            <a:ext cx="274320" cy="274320"/>
          </a:xfrm>
          <a:prstGeom prst="ellipse">
            <a:avLst/>
          </a:prstGeom>
          <a:solidFill>
            <a:srgbClr val="E39B2C"/>
          </a:solidFill>
          <a:ln/>
        </p:spPr>
      </p:sp>
      <p:sp>
        <p:nvSpPr>
          <p:cNvPr id="56" name="Text 54"/>
          <p:cNvSpPr/>
          <p:nvPr/>
        </p:nvSpPr>
        <p:spPr>
          <a:xfrm>
            <a:off x="8001000" y="5257800"/>
            <a:ext cx="3657600" cy="274320"/>
          </a:xfrm>
          <a:prstGeom prst="rect">
            <a:avLst/>
          </a:prstGeom>
          <a:noFill/>
          <a:ln/>
        </p:spPr>
        <p:txBody>
          <a:bodyPr wrap="square" lIns="0" tIns="0" rIns="0" bIns="0" rtlCol="0" anchor="ctr"/>
          <a:lstStyle/>
          <a:p>
            <a:pPr indent="0" marL="0">
              <a:buNone/>
            </a:pPr>
            <a:r>
              <a:rPr lang="en-US" sz="1150" b="1" spc="160" kern="0" dirty="0">
                <a:solidFill>
                  <a:srgbClr val="E39B2C"/>
                </a:solidFill>
                <a:latin typeface="Calibri" pitchFamily="34" charset="0"/>
                <a:ea typeface="Calibri" pitchFamily="34" charset="-122"/>
                <a:cs typeface="Calibri" pitchFamily="34" charset="-120"/>
              </a:rPr>
              <a:t>Spend you can see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PROBLEM WE FACE</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Cloud spend is dynamic, distributed and opaque</a:t>
            </a:r>
            <a:endParaRPr lang="en-US" sz="3100" dirty="0"/>
          </a:p>
        </p:txBody>
      </p:sp>
      <p:sp>
        <p:nvSpPr>
          <p:cNvPr id="4" name="Shape 2"/>
          <p:cNvSpPr/>
          <p:nvPr/>
        </p:nvSpPr>
        <p:spPr>
          <a:xfrm>
            <a:off x="548640" y="2103120"/>
            <a:ext cx="512064" cy="512064"/>
          </a:xfrm>
          <a:prstGeom prst="ellipse">
            <a:avLst/>
          </a:prstGeom>
          <a:solidFill>
            <a:srgbClr val="FBEFD8"/>
          </a:solidFill>
          <a:ln/>
        </p:spPr>
      </p:sp>
      <p:pic>
        <p:nvPicPr>
          <p:cNvPr id="5" name="Image 0" descr="preencoded.png">    </p:cNvPr>
          <p:cNvPicPr>
            <a:picLocks noChangeAspect="1"/>
          </p:cNvPicPr>
          <p:nvPr/>
        </p:nvPicPr>
        <p:blipFill>
          <a:blip r:embed="rId1"/>
          <a:stretch>
            <a:fillRect/>
          </a:stretch>
        </p:blipFill>
        <p:spPr>
          <a:xfrm>
            <a:off x="676656" y="2231136"/>
            <a:ext cx="256032" cy="256032"/>
          </a:xfrm>
          <a:prstGeom prst="rect">
            <a:avLst/>
          </a:prstGeom>
        </p:spPr>
      </p:pic>
      <p:sp>
        <p:nvSpPr>
          <p:cNvPr id="6" name="Text 3"/>
          <p:cNvSpPr/>
          <p:nvPr/>
        </p:nvSpPr>
        <p:spPr>
          <a:xfrm>
            <a:off x="1316736" y="196596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Costs move daily</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Spend is dynamic and distributed across teams, services and regions.</a:t>
            </a:r>
            <a:endParaRPr lang="en-US" sz="1500" dirty="0"/>
          </a:p>
        </p:txBody>
      </p:sp>
      <p:sp>
        <p:nvSpPr>
          <p:cNvPr id="7" name="Shape 4"/>
          <p:cNvSpPr/>
          <p:nvPr/>
        </p:nvSpPr>
        <p:spPr>
          <a:xfrm>
            <a:off x="548640" y="3108960"/>
            <a:ext cx="512064" cy="512064"/>
          </a:xfrm>
          <a:prstGeom prst="ellipse">
            <a:avLst/>
          </a:prstGeom>
          <a:solidFill>
            <a:srgbClr val="FBEFD8"/>
          </a:solidFill>
          <a:ln/>
        </p:spPr>
      </p:sp>
      <p:pic>
        <p:nvPicPr>
          <p:cNvPr id="8" name="Image 1" descr="preencoded.png">    </p:cNvPr>
          <p:cNvPicPr>
            <a:picLocks noChangeAspect="1"/>
          </p:cNvPicPr>
          <p:nvPr/>
        </p:nvPicPr>
        <p:blipFill>
          <a:blip r:embed="rId2"/>
          <a:stretch>
            <a:fillRect/>
          </a:stretch>
        </p:blipFill>
        <p:spPr>
          <a:xfrm>
            <a:off x="676656" y="3236976"/>
            <a:ext cx="256032" cy="256032"/>
          </a:xfrm>
          <a:prstGeom prst="rect">
            <a:avLst/>
          </a:prstGeom>
        </p:spPr>
      </p:pic>
      <p:sp>
        <p:nvSpPr>
          <p:cNvPr id="9" name="Text 5"/>
          <p:cNvSpPr/>
          <p:nvPr/>
        </p:nvSpPr>
        <p:spPr>
          <a:xfrm>
            <a:off x="1316736" y="297180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Budgeting models don't fit</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Traditional IT budgeting assumes fixed, predictable costs. Cloud is neither.</a:t>
            </a:r>
            <a:endParaRPr lang="en-US" sz="1500" dirty="0"/>
          </a:p>
        </p:txBody>
      </p:sp>
      <p:sp>
        <p:nvSpPr>
          <p:cNvPr id="10" name="Shape 6"/>
          <p:cNvSpPr/>
          <p:nvPr/>
        </p:nvSpPr>
        <p:spPr>
          <a:xfrm>
            <a:off x="548640" y="4114800"/>
            <a:ext cx="512064" cy="512064"/>
          </a:xfrm>
          <a:prstGeom prst="ellipse">
            <a:avLst/>
          </a:prstGeom>
          <a:solidFill>
            <a:srgbClr val="FBEFD8"/>
          </a:solidFill>
          <a:ln/>
        </p:spPr>
      </p:sp>
      <p:pic>
        <p:nvPicPr>
          <p:cNvPr id="11" name="Image 2" descr="preencoded.png">    </p:cNvPr>
          <p:cNvPicPr>
            <a:picLocks noChangeAspect="1"/>
          </p:cNvPicPr>
          <p:nvPr/>
        </p:nvPicPr>
        <p:blipFill>
          <a:blip r:embed="rId3"/>
          <a:stretch>
            <a:fillRect/>
          </a:stretch>
        </p:blipFill>
        <p:spPr>
          <a:xfrm>
            <a:off x="676656" y="4242816"/>
            <a:ext cx="256032" cy="256032"/>
          </a:xfrm>
          <a:prstGeom prst="rect">
            <a:avLst/>
          </a:prstGeom>
        </p:spPr>
      </p:pic>
      <p:sp>
        <p:nvSpPr>
          <p:cNvPr id="12" name="Text 7"/>
          <p:cNvSpPr/>
          <p:nvPr/>
        </p:nvSpPr>
        <p:spPr>
          <a:xfrm>
            <a:off x="1316736" y="397764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Engineers spend money</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Technical decisions made daily carry direct, immediate financial consequences.</a:t>
            </a:r>
            <a:endParaRPr lang="en-US" sz="1500" dirty="0"/>
          </a:p>
        </p:txBody>
      </p:sp>
      <p:sp>
        <p:nvSpPr>
          <p:cNvPr id="13" name="Shape 8"/>
          <p:cNvSpPr/>
          <p:nvPr/>
        </p:nvSpPr>
        <p:spPr>
          <a:xfrm>
            <a:off x="548640" y="5120640"/>
            <a:ext cx="512064" cy="512064"/>
          </a:xfrm>
          <a:prstGeom prst="ellipse">
            <a:avLst/>
          </a:prstGeom>
          <a:solidFill>
            <a:srgbClr val="FBEFD8"/>
          </a:solidFill>
          <a:ln/>
        </p:spPr>
      </p:sp>
      <p:pic>
        <p:nvPicPr>
          <p:cNvPr id="14" name="Image 3" descr="preencoded.png">    </p:cNvPr>
          <p:cNvPicPr>
            <a:picLocks noChangeAspect="1"/>
          </p:cNvPicPr>
          <p:nvPr/>
        </p:nvPicPr>
        <p:blipFill>
          <a:blip r:embed="rId4"/>
          <a:stretch>
            <a:fillRect/>
          </a:stretch>
        </p:blipFill>
        <p:spPr>
          <a:xfrm>
            <a:off x="676656" y="5248656"/>
            <a:ext cx="256032" cy="256032"/>
          </a:xfrm>
          <a:prstGeom prst="rect">
            <a:avLst/>
          </a:prstGeom>
        </p:spPr>
      </p:pic>
      <p:sp>
        <p:nvSpPr>
          <p:cNvPr id="15" name="Text 9"/>
          <p:cNvSpPr/>
          <p:nvPr/>
        </p:nvSpPr>
        <p:spPr>
          <a:xfrm>
            <a:off x="1316736" y="498348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Bills arrive without context</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Monthly invoices show what was spent — rarely who spent it, or why.</a:t>
            </a:r>
            <a:endParaRPr lang="en-US" sz="1500" dirty="0"/>
          </a:p>
        </p:txBody>
      </p:sp>
      <p:sp>
        <p:nvSpPr>
          <p:cNvPr id="16" name="Shape 10"/>
          <p:cNvSpPr/>
          <p:nvPr/>
        </p:nvSpPr>
        <p:spPr>
          <a:xfrm>
            <a:off x="6858000" y="1965960"/>
            <a:ext cx="4782312" cy="2194560"/>
          </a:xfrm>
          <a:prstGeom prst="roundRect">
            <a:avLst>
              <a:gd name="adj" fmla="val 3750"/>
            </a:avLst>
          </a:prstGeom>
          <a:solidFill>
            <a:srgbClr val="F1F3F6"/>
          </a:solidFill>
          <a:ln/>
          <a:effectLst>
            <a:outerShdw sx="100000" sy="100000" kx="0" ky="0" algn="bl" rotWithShape="0" blurRad="127000" dist="25400" dir="5400000">
              <a:srgbClr val="8C99A8">
                <a:alpha val="16000"/>
              </a:srgbClr>
            </a:outerShdw>
          </a:effectLst>
        </p:spPr>
      </p:sp>
      <p:sp>
        <p:nvSpPr>
          <p:cNvPr id="17" name="Text 11"/>
          <p:cNvSpPr/>
          <p:nvPr/>
        </p:nvSpPr>
        <p:spPr>
          <a:xfrm>
            <a:off x="7150608" y="2075688"/>
            <a:ext cx="4197096" cy="1975104"/>
          </a:xfrm>
          <a:prstGeom prst="rect">
            <a:avLst/>
          </a:prstGeom>
          <a:noFill/>
          <a:ln/>
        </p:spPr>
        <p:txBody>
          <a:bodyPr wrap="square" lIns="0" tIns="0" rIns="0" bIns="0" rtlCol="0" anchor="ctr"/>
          <a:lstStyle/>
          <a:p>
            <a:pPr indent="0" marL="0">
              <a:lnSpc>
                <a:spcPts val="2000"/>
              </a:lnSpc>
              <a:buNone/>
            </a:pPr>
            <a:r>
              <a:rPr lang="en-US" sz="1450" i="1" dirty="0">
                <a:solidFill>
                  <a:srgbClr val="1B2430"/>
                </a:solidFill>
                <a:latin typeface="Cambria" pitchFamily="34" charset="0"/>
                <a:ea typeface="Cambria" pitchFamily="34" charset="-122"/>
                <a:cs typeface="Cambria" pitchFamily="34" charset="-120"/>
              </a:rPr>
              <a:t>“When costs rise and no one can explain who owns the change or what caused it, visibility has failed — even if a dashboard is showing numbers.”</a:t>
            </a:r>
            <a:endParaRPr lang="en-US" sz="1450" dirty="0"/>
          </a:p>
        </p:txBody>
      </p:sp>
      <p:sp>
        <p:nvSpPr>
          <p:cNvPr id="18" name="Shape 12"/>
          <p:cNvSpPr/>
          <p:nvPr/>
        </p:nvSpPr>
        <p:spPr>
          <a:xfrm>
            <a:off x="6858000" y="4352544"/>
            <a:ext cx="4782312" cy="1508760"/>
          </a:xfrm>
          <a:prstGeom prst="roundRect">
            <a:avLst>
              <a:gd name="adj" fmla="val 5455"/>
            </a:avLst>
          </a:prstGeom>
          <a:solidFill>
            <a:srgbClr val="1F2936"/>
          </a:solidFill>
          <a:ln/>
          <a:effectLst>
            <a:outerShdw sx="100000" sy="100000" kx="0" ky="0" algn="bl" rotWithShape="0" blurRad="127000" dist="25400" dir="5400000">
              <a:srgbClr val="8C99A8">
                <a:alpha val="16000"/>
              </a:srgbClr>
            </a:outerShdw>
          </a:effectLst>
        </p:spPr>
      </p:sp>
      <p:sp>
        <p:nvSpPr>
          <p:cNvPr id="19" name="Text 13"/>
          <p:cNvSpPr/>
          <p:nvPr/>
        </p:nvSpPr>
        <p:spPr>
          <a:xfrm>
            <a:off x="7150608" y="4489704"/>
            <a:ext cx="4197096" cy="1234440"/>
          </a:xfrm>
          <a:prstGeom prst="rect">
            <a:avLst/>
          </a:prstGeom>
          <a:noFill/>
          <a:ln/>
        </p:spPr>
        <p:txBody>
          <a:bodyPr wrap="square" lIns="0" tIns="0" rIns="0" bIns="0" rtlCol="0" anchor="ctr"/>
          <a:lstStyle/>
          <a:p>
            <a:pPr indent="0" marL="0">
              <a:lnSpc>
                <a:spcPts val="2000"/>
              </a:lnSpc>
              <a:buNone/>
            </a:pPr>
            <a:r>
              <a:rPr lang="en-US" sz="1200" b="1" spc="180" kern="0" dirty="0">
                <a:solidFill>
                  <a:srgbClr val="E39B2C"/>
                </a:solidFill>
                <a:latin typeface="Calibri" pitchFamily="34" charset="0"/>
                <a:ea typeface="Calibri" pitchFamily="34" charset="-122"/>
                <a:cs typeface="Calibri" pitchFamily="34" charset="-120"/>
              </a:rPr>
              <a:t>The result</a:t>
            </a:r>
            <a:endParaRPr lang="en-US" sz="1200" dirty="0"/>
          </a:p>
          <a:p>
            <a:pPr indent="0" marL="0">
              <a:lnSpc>
                <a:spcPts val="2000"/>
              </a:lnSpc>
              <a:buNone/>
            </a:pPr>
            <a:r>
              <a:rPr lang="en-US" sz="1450" dirty="0">
                <a:solidFill>
                  <a:srgbClr val="FFFFFF"/>
                </a:solidFill>
                <a:latin typeface="Calibri" pitchFamily="34" charset="0"/>
                <a:ea typeface="Calibri" pitchFamily="34" charset="-122"/>
                <a:cs typeface="Calibri" pitchFamily="34" charset="-120"/>
              </a:rPr>
              <a:t>Sticker shock, finger-pointing and reactive cost-cutting instead of strategic optimization.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WHY VISIBILITY FIRST</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You cannot optimize what you cannot see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Four questions the business must be able to answer — and the four capabilities that answer them.</a:t>
            </a:r>
            <a:endParaRPr lang="en-US" sz="1500" dirty="0"/>
          </a:p>
        </p:txBody>
      </p:sp>
      <p:sp>
        <p:nvSpPr>
          <p:cNvPr id="5" name="Shape 3"/>
          <p:cNvSpPr/>
          <p:nvPr/>
        </p:nvSpPr>
        <p:spPr>
          <a:xfrm>
            <a:off x="548640" y="2121408"/>
            <a:ext cx="11091672" cy="932688"/>
          </a:xfrm>
          <a:prstGeom prst="roundRect">
            <a:avLst>
              <a:gd name="adj" fmla="val 8824"/>
            </a:avLst>
          </a:prstGeom>
          <a:solidFill>
            <a:srgbClr val="F1F3F6"/>
          </a:solidFill>
          <a:ln/>
        </p:spPr>
      </p:sp>
      <p:sp>
        <p:nvSpPr>
          <p:cNvPr id="6" name="Text 4"/>
          <p:cNvSpPr/>
          <p:nvPr/>
        </p:nvSpPr>
        <p:spPr>
          <a:xfrm>
            <a:off x="859536" y="2121408"/>
            <a:ext cx="4663440" cy="932688"/>
          </a:xfrm>
          <a:prstGeom prst="rect">
            <a:avLst/>
          </a:prstGeom>
          <a:noFill/>
          <a:ln/>
        </p:spPr>
        <p:txBody>
          <a:bodyPr wrap="square" lIns="0" tIns="0" rIns="0" bIns="0" rtlCol="0" anchor="ctr"/>
          <a:lstStyle/>
          <a:p>
            <a:pPr indent="0" marL="0">
              <a:buNone/>
            </a:pPr>
            <a:r>
              <a:rPr lang="en-US" sz="1450" b="1" dirty="0">
                <a:solidFill>
                  <a:srgbClr val="1B2430"/>
                </a:solidFill>
                <a:latin typeface="Calibri" pitchFamily="34" charset="0"/>
                <a:ea typeface="Calibri" pitchFamily="34" charset="-122"/>
                <a:cs typeface="Calibri" pitchFamily="34" charset="-120"/>
              </a:rPr>
              <a:t>Which teams and products drive the spend?</a:t>
            </a:r>
            <a:endParaRPr lang="en-US" sz="1450" dirty="0"/>
          </a:p>
        </p:txBody>
      </p:sp>
      <p:sp>
        <p:nvSpPr>
          <p:cNvPr id="7" name="Shape 5"/>
          <p:cNvSpPr/>
          <p:nvPr/>
        </p:nvSpPr>
        <p:spPr>
          <a:xfrm>
            <a:off x="5486400" y="2359152"/>
            <a:ext cx="457200" cy="457200"/>
          </a:xfrm>
          <a:prstGeom prst="ellipse">
            <a:avLst/>
          </a:prstGeom>
          <a:solidFill>
            <a:srgbClr val="FFFFFF"/>
          </a:solidFill>
          <a:ln/>
        </p:spPr>
      </p:sp>
      <p:pic>
        <p:nvPicPr>
          <p:cNvPr id="8" name="Image 0" descr="preencoded.png">    </p:cNvPr>
          <p:cNvPicPr>
            <a:picLocks noChangeAspect="1"/>
          </p:cNvPicPr>
          <p:nvPr/>
        </p:nvPicPr>
        <p:blipFill>
          <a:blip r:embed="rId1"/>
          <a:stretch>
            <a:fillRect/>
          </a:stretch>
        </p:blipFill>
        <p:spPr>
          <a:xfrm>
            <a:off x="5600700" y="2473452"/>
            <a:ext cx="228600" cy="228600"/>
          </a:xfrm>
          <a:prstGeom prst="rect">
            <a:avLst/>
          </a:prstGeom>
        </p:spPr>
      </p:pic>
      <p:sp>
        <p:nvSpPr>
          <p:cNvPr id="9" name="Text 6"/>
          <p:cNvSpPr/>
          <p:nvPr/>
        </p:nvSpPr>
        <p:spPr>
          <a:xfrm>
            <a:off x="6071616" y="2121408"/>
            <a:ext cx="5257800" cy="932688"/>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Cost allocation</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By team, product and environment — which depends on consistent tagging.</a:t>
            </a:r>
            <a:endParaRPr lang="en-US" sz="1400" dirty="0"/>
          </a:p>
        </p:txBody>
      </p:sp>
      <p:sp>
        <p:nvSpPr>
          <p:cNvPr id="10" name="Shape 7"/>
          <p:cNvSpPr/>
          <p:nvPr/>
        </p:nvSpPr>
        <p:spPr>
          <a:xfrm>
            <a:off x="548640" y="3127248"/>
            <a:ext cx="11091672" cy="932688"/>
          </a:xfrm>
          <a:prstGeom prst="roundRect">
            <a:avLst>
              <a:gd name="adj" fmla="val 8824"/>
            </a:avLst>
          </a:prstGeom>
          <a:solidFill>
            <a:srgbClr val="F1F3F6"/>
          </a:solidFill>
          <a:ln/>
        </p:spPr>
      </p:sp>
      <p:sp>
        <p:nvSpPr>
          <p:cNvPr id="11" name="Text 8"/>
          <p:cNvSpPr/>
          <p:nvPr/>
        </p:nvSpPr>
        <p:spPr>
          <a:xfrm>
            <a:off x="859536" y="3127248"/>
            <a:ext cx="4663440" cy="932688"/>
          </a:xfrm>
          <a:prstGeom prst="rect">
            <a:avLst/>
          </a:prstGeom>
          <a:noFill/>
          <a:ln/>
        </p:spPr>
        <p:txBody>
          <a:bodyPr wrap="square" lIns="0" tIns="0" rIns="0" bIns="0" rtlCol="0" anchor="ctr"/>
          <a:lstStyle/>
          <a:p>
            <a:pPr indent="0" marL="0">
              <a:buNone/>
            </a:pPr>
            <a:r>
              <a:rPr lang="en-US" sz="1450" b="1" dirty="0">
                <a:solidFill>
                  <a:srgbClr val="1B2430"/>
                </a:solidFill>
                <a:latin typeface="Calibri" pitchFamily="34" charset="0"/>
                <a:ea typeface="Calibri" pitchFamily="34" charset="-122"/>
                <a:cs typeface="Calibri" pitchFamily="34" charset="-120"/>
              </a:rPr>
              <a:t>Is spend growing with the business, or faster?</a:t>
            </a:r>
            <a:endParaRPr lang="en-US" sz="1450" dirty="0"/>
          </a:p>
        </p:txBody>
      </p:sp>
      <p:sp>
        <p:nvSpPr>
          <p:cNvPr id="12" name="Shape 9"/>
          <p:cNvSpPr/>
          <p:nvPr/>
        </p:nvSpPr>
        <p:spPr>
          <a:xfrm>
            <a:off x="5486400" y="3364992"/>
            <a:ext cx="457200" cy="457200"/>
          </a:xfrm>
          <a:prstGeom prst="ellipse">
            <a:avLst/>
          </a:prstGeom>
          <a:solidFill>
            <a:srgbClr val="FFFFFF"/>
          </a:solidFill>
          <a:ln/>
        </p:spPr>
      </p:sp>
      <p:pic>
        <p:nvPicPr>
          <p:cNvPr id="13" name="Image 1" descr="preencoded.png">    </p:cNvPr>
          <p:cNvPicPr>
            <a:picLocks noChangeAspect="1"/>
          </p:cNvPicPr>
          <p:nvPr/>
        </p:nvPicPr>
        <p:blipFill>
          <a:blip r:embed="rId2"/>
          <a:stretch>
            <a:fillRect/>
          </a:stretch>
        </p:blipFill>
        <p:spPr>
          <a:xfrm>
            <a:off x="5600700" y="3479292"/>
            <a:ext cx="228600" cy="228600"/>
          </a:xfrm>
          <a:prstGeom prst="rect">
            <a:avLst/>
          </a:prstGeom>
        </p:spPr>
      </p:pic>
      <p:sp>
        <p:nvSpPr>
          <p:cNvPr id="14" name="Text 10"/>
          <p:cNvSpPr/>
          <p:nvPr/>
        </p:nvSpPr>
        <p:spPr>
          <a:xfrm>
            <a:off x="6071616" y="3127248"/>
            <a:ext cx="5257800" cy="932688"/>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Unit economics</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Cost per customer, per transaction, per model call.</a:t>
            </a:r>
            <a:endParaRPr lang="en-US" sz="1400" dirty="0"/>
          </a:p>
        </p:txBody>
      </p:sp>
      <p:sp>
        <p:nvSpPr>
          <p:cNvPr id="15" name="Shape 11"/>
          <p:cNvSpPr/>
          <p:nvPr/>
        </p:nvSpPr>
        <p:spPr>
          <a:xfrm>
            <a:off x="548640" y="4133088"/>
            <a:ext cx="11091672" cy="932688"/>
          </a:xfrm>
          <a:prstGeom prst="roundRect">
            <a:avLst>
              <a:gd name="adj" fmla="val 8824"/>
            </a:avLst>
          </a:prstGeom>
          <a:solidFill>
            <a:srgbClr val="F1F3F6"/>
          </a:solidFill>
          <a:ln/>
        </p:spPr>
      </p:sp>
      <p:sp>
        <p:nvSpPr>
          <p:cNvPr id="16" name="Text 12"/>
          <p:cNvSpPr/>
          <p:nvPr/>
        </p:nvSpPr>
        <p:spPr>
          <a:xfrm>
            <a:off x="859536" y="4133088"/>
            <a:ext cx="4663440" cy="932688"/>
          </a:xfrm>
          <a:prstGeom prst="rect">
            <a:avLst/>
          </a:prstGeom>
          <a:noFill/>
          <a:ln/>
        </p:spPr>
        <p:txBody>
          <a:bodyPr wrap="square" lIns="0" tIns="0" rIns="0" bIns="0" rtlCol="0" anchor="ctr"/>
          <a:lstStyle/>
          <a:p>
            <a:pPr indent="0" marL="0">
              <a:buNone/>
            </a:pPr>
            <a:r>
              <a:rPr lang="en-US" sz="1450" b="1" dirty="0">
                <a:solidFill>
                  <a:srgbClr val="1B2430"/>
                </a:solidFill>
                <a:latin typeface="Calibri" pitchFamily="34" charset="0"/>
                <a:ea typeface="Calibri" pitchFamily="34" charset="-122"/>
                <a:cs typeface="Calibri" pitchFamily="34" charset="-120"/>
              </a:rPr>
              <a:t>What are we paying for and not using?</a:t>
            </a:r>
            <a:endParaRPr lang="en-US" sz="1450" dirty="0"/>
          </a:p>
        </p:txBody>
      </p:sp>
      <p:sp>
        <p:nvSpPr>
          <p:cNvPr id="17" name="Shape 13"/>
          <p:cNvSpPr/>
          <p:nvPr/>
        </p:nvSpPr>
        <p:spPr>
          <a:xfrm>
            <a:off x="5486400" y="4370832"/>
            <a:ext cx="457200" cy="457200"/>
          </a:xfrm>
          <a:prstGeom prst="ellipse">
            <a:avLst/>
          </a:prstGeom>
          <a:solidFill>
            <a:srgbClr val="FFFFFF"/>
          </a:solidFill>
          <a:ln/>
        </p:spPr>
      </p:sp>
      <p:pic>
        <p:nvPicPr>
          <p:cNvPr id="18" name="Image 2" descr="preencoded.png">    </p:cNvPr>
          <p:cNvPicPr>
            <a:picLocks noChangeAspect="1"/>
          </p:cNvPicPr>
          <p:nvPr/>
        </p:nvPicPr>
        <p:blipFill>
          <a:blip r:embed="rId3"/>
          <a:stretch>
            <a:fillRect/>
          </a:stretch>
        </p:blipFill>
        <p:spPr>
          <a:xfrm>
            <a:off x="5600700" y="4485132"/>
            <a:ext cx="228600" cy="228600"/>
          </a:xfrm>
          <a:prstGeom prst="rect">
            <a:avLst/>
          </a:prstGeom>
        </p:spPr>
      </p:pic>
      <p:sp>
        <p:nvSpPr>
          <p:cNvPr id="19" name="Text 14"/>
          <p:cNvSpPr/>
          <p:nvPr/>
        </p:nvSpPr>
        <p:spPr>
          <a:xfrm>
            <a:off x="6071616" y="4133088"/>
            <a:ext cx="5257800" cy="932688"/>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Granular reporting</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By service and resource, over time — where trends and spikes show.</a:t>
            </a:r>
            <a:endParaRPr lang="en-US" sz="1400" dirty="0"/>
          </a:p>
        </p:txBody>
      </p:sp>
      <p:sp>
        <p:nvSpPr>
          <p:cNvPr id="20" name="Shape 15"/>
          <p:cNvSpPr/>
          <p:nvPr/>
        </p:nvSpPr>
        <p:spPr>
          <a:xfrm>
            <a:off x="548640" y="5138928"/>
            <a:ext cx="11091672" cy="932688"/>
          </a:xfrm>
          <a:prstGeom prst="roundRect">
            <a:avLst>
              <a:gd name="adj" fmla="val 8824"/>
            </a:avLst>
          </a:prstGeom>
          <a:solidFill>
            <a:srgbClr val="F1F3F6"/>
          </a:solidFill>
          <a:ln/>
        </p:spPr>
      </p:sp>
      <p:sp>
        <p:nvSpPr>
          <p:cNvPr id="21" name="Text 16"/>
          <p:cNvSpPr/>
          <p:nvPr/>
        </p:nvSpPr>
        <p:spPr>
          <a:xfrm>
            <a:off x="859536" y="5138928"/>
            <a:ext cx="4663440" cy="932688"/>
          </a:xfrm>
          <a:prstGeom prst="rect">
            <a:avLst/>
          </a:prstGeom>
          <a:noFill/>
          <a:ln/>
        </p:spPr>
        <p:txBody>
          <a:bodyPr wrap="square" lIns="0" tIns="0" rIns="0" bIns="0" rtlCol="0" anchor="ctr"/>
          <a:lstStyle/>
          <a:p>
            <a:pPr indent="0" marL="0">
              <a:buNone/>
            </a:pPr>
            <a:r>
              <a:rPr lang="en-US" sz="1450" b="1" dirty="0">
                <a:solidFill>
                  <a:srgbClr val="1B2430"/>
                </a:solidFill>
                <a:latin typeface="Calibri" pitchFamily="34" charset="0"/>
                <a:ea typeface="Calibri" pitchFamily="34" charset="-122"/>
                <a:cs typeface="Calibri" pitchFamily="34" charset="-120"/>
              </a:rPr>
              <a:t>Can we act before the month closes?</a:t>
            </a:r>
            <a:endParaRPr lang="en-US" sz="1450" dirty="0"/>
          </a:p>
        </p:txBody>
      </p:sp>
      <p:sp>
        <p:nvSpPr>
          <p:cNvPr id="22" name="Shape 17"/>
          <p:cNvSpPr/>
          <p:nvPr/>
        </p:nvSpPr>
        <p:spPr>
          <a:xfrm>
            <a:off x="5486400" y="5376672"/>
            <a:ext cx="457200" cy="457200"/>
          </a:xfrm>
          <a:prstGeom prst="ellipse">
            <a:avLst/>
          </a:prstGeom>
          <a:solidFill>
            <a:srgbClr val="FFFFFF"/>
          </a:solidFill>
          <a:ln/>
        </p:spPr>
      </p:sp>
      <p:pic>
        <p:nvPicPr>
          <p:cNvPr id="23" name="Image 3" descr="preencoded.png">    </p:cNvPr>
          <p:cNvPicPr>
            <a:picLocks noChangeAspect="1"/>
          </p:cNvPicPr>
          <p:nvPr/>
        </p:nvPicPr>
        <p:blipFill>
          <a:blip r:embed="rId4"/>
          <a:stretch>
            <a:fillRect/>
          </a:stretch>
        </p:blipFill>
        <p:spPr>
          <a:xfrm>
            <a:off x="5600700" y="5490972"/>
            <a:ext cx="228600" cy="228600"/>
          </a:xfrm>
          <a:prstGeom prst="rect">
            <a:avLst/>
          </a:prstGeom>
        </p:spPr>
      </p:pic>
      <p:sp>
        <p:nvSpPr>
          <p:cNvPr id="24" name="Text 18"/>
          <p:cNvSpPr/>
          <p:nvPr/>
        </p:nvSpPr>
        <p:spPr>
          <a:xfrm>
            <a:off x="6071616" y="5138928"/>
            <a:ext cx="5257800" cy="932688"/>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Fresh data</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Daily, not monthly. Monthly reporting cannot catch a regression.</a:t>
            </a:r>
            <a:endParaRPr lang="en-US" sz="1400" dirty="0"/>
          </a:p>
        </p:txBody>
      </p:sp>
      <p:sp>
        <p:nvSpPr>
          <p:cNvPr id="25" name="Shape 19"/>
          <p:cNvSpPr/>
          <p:nvPr/>
        </p:nvSpPr>
        <p:spPr>
          <a:xfrm>
            <a:off x="548640" y="6144768"/>
            <a:ext cx="11091672" cy="566928"/>
          </a:xfrm>
          <a:prstGeom prst="roundRect">
            <a:avLst>
              <a:gd name="adj" fmla="val 14516"/>
            </a:avLst>
          </a:prstGeom>
          <a:solidFill>
            <a:srgbClr val="1F2936"/>
          </a:solidFill>
          <a:ln/>
        </p:spPr>
      </p:sp>
      <p:sp>
        <p:nvSpPr>
          <p:cNvPr id="26" name="Text 20"/>
          <p:cNvSpPr/>
          <p:nvPr/>
        </p:nvSpPr>
        <p:spPr>
          <a:xfrm>
            <a:off x="859536" y="6144768"/>
            <a:ext cx="10469880" cy="566928"/>
          </a:xfrm>
          <a:prstGeom prst="rect">
            <a:avLst/>
          </a:prstGeom>
          <a:noFill/>
          <a:ln/>
        </p:spPr>
        <p:txBody>
          <a:bodyPr wrap="square" lIns="0" tIns="0" rIns="0" bIns="0" rtlCol="0" anchor="ctr"/>
          <a:lstStyle/>
          <a:p>
            <a:pPr indent="0" marL="0">
              <a:buNone/>
            </a:pPr>
            <a:r>
              <a:rPr lang="en-US" sz="1400" b="1" dirty="0">
                <a:solidFill>
                  <a:srgbClr val="E39B2C"/>
                </a:solidFill>
                <a:latin typeface="Calibri" pitchFamily="34" charset="0"/>
                <a:ea typeface="Calibri" pitchFamily="34" charset="-122"/>
                <a:cs typeface="Calibri" pitchFamily="34" charset="-120"/>
              </a:rPr>
              <a:t>The goal:  </a:t>
            </a:r>
            <a:pPr indent="0" marL="0">
              <a:buNone/>
            </a:pPr>
            <a:r>
              <a:rPr lang="en-US" sz="1400" dirty="0">
                <a:solidFill>
                  <a:srgbClr val="FFFFFF"/>
                </a:solidFill>
                <a:latin typeface="Calibri" pitchFamily="34" charset="0"/>
                <a:ea typeface="Calibri" pitchFamily="34" charset="-122"/>
                <a:cs typeface="Calibri" pitchFamily="34" charset="-120"/>
              </a:rPr>
              <a:t>move from “IT is overspending” to “Team X used Y, at cost Z, delivering A.”</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VISIBILITY BLOCKERS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Five filters between us and a clear view</a:t>
            </a:r>
            <a:endParaRPr lang="en-US" sz="3100" dirty="0"/>
          </a:p>
        </p:txBody>
      </p:sp>
      <p:sp>
        <p:nvSpPr>
          <p:cNvPr id="4" name="Shape 2"/>
          <p:cNvSpPr/>
          <p:nvPr/>
        </p:nvSpPr>
        <p:spPr>
          <a:xfrm>
            <a:off x="548640" y="1719072"/>
            <a:ext cx="11091672" cy="713232"/>
          </a:xfrm>
          <a:prstGeom prst="roundRect">
            <a:avLst>
              <a:gd name="adj" fmla="val 11538"/>
            </a:avLst>
          </a:prstGeom>
          <a:solidFill>
            <a:srgbClr val="1F2936"/>
          </a:solidFill>
          <a:ln/>
        </p:spPr>
      </p:sp>
      <p:sp>
        <p:nvSpPr>
          <p:cNvPr id="5" name="Shape 3"/>
          <p:cNvSpPr/>
          <p:nvPr/>
        </p:nvSpPr>
        <p:spPr>
          <a:xfrm>
            <a:off x="804672" y="1837944"/>
            <a:ext cx="475488" cy="475488"/>
          </a:xfrm>
          <a:prstGeom prst="ellipse">
            <a:avLst/>
          </a:prstGeom>
          <a:solidFill>
            <a:srgbClr val="2E3A48"/>
          </a:solidFill>
          <a:ln/>
        </p:spPr>
      </p:sp>
      <p:pic>
        <p:nvPicPr>
          <p:cNvPr id="6" name="Image 0" descr="preencoded.png">    </p:cNvPr>
          <p:cNvPicPr>
            <a:picLocks noChangeAspect="1"/>
          </p:cNvPicPr>
          <p:nvPr/>
        </p:nvPicPr>
        <p:blipFill>
          <a:blip r:embed="rId1"/>
          <a:stretch>
            <a:fillRect/>
          </a:stretch>
        </p:blipFill>
        <p:spPr>
          <a:xfrm>
            <a:off x="923544" y="1956816"/>
            <a:ext cx="237744" cy="237744"/>
          </a:xfrm>
          <a:prstGeom prst="rect">
            <a:avLst/>
          </a:prstGeom>
        </p:spPr>
      </p:pic>
      <p:sp>
        <p:nvSpPr>
          <p:cNvPr id="7" name="Text 4"/>
          <p:cNvSpPr/>
          <p:nvPr/>
        </p:nvSpPr>
        <p:spPr>
          <a:xfrm>
            <a:off x="1481328" y="1719072"/>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Inconsistent tagging</a:t>
            </a:r>
            <a:endParaRPr lang="en-US" sz="1500" dirty="0"/>
          </a:p>
        </p:txBody>
      </p:sp>
      <p:sp>
        <p:nvSpPr>
          <p:cNvPr id="8" name="Text 5"/>
          <p:cNvSpPr/>
          <p:nvPr/>
        </p:nvSpPr>
        <p:spPr>
          <a:xfrm>
            <a:off x="4754880" y="1719072"/>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A significant portion of spend stays unallocated or misallocated.</a:t>
            </a:r>
            <a:endParaRPr lang="en-US" sz="1300" dirty="0"/>
          </a:p>
        </p:txBody>
      </p:sp>
      <p:sp>
        <p:nvSpPr>
          <p:cNvPr id="9" name="Shape 6"/>
          <p:cNvSpPr/>
          <p:nvPr/>
        </p:nvSpPr>
        <p:spPr>
          <a:xfrm>
            <a:off x="548640" y="2523744"/>
            <a:ext cx="11091672" cy="713232"/>
          </a:xfrm>
          <a:prstGeom prst="roundRect">
            <a:avLst>
              <a:gd name="adj" fmla="val 11538"/>
            </a:avLst>
          </a:prstGeom>
          <a:solidFill>
            <a:srgbClr val="1F2936"/>
          </a:solidFill>
          <a:ln/>
        </p:spPr>
      </p:sp>
      <p:sp>
        <p:nvSpPr>
          <p:cNvPr id="10" name="Shape 7"/>
          <p:cNvSpPr/>
          <p:nvPr/>
        </p:nvSpPr>
        <p:spPr>
          <a:xfrm>
            <a:off x="804672" y="2642616"/>
            <a:ext cx="475488" cy="475488"/>
          </a:xfrm>
          <a:prstGeom prst="ellipse">
            <a:avLst/>
          </a:prstGeom>
          <a:solidFill>
            <a:srgbClr val="2E3A48"/>
          </a:solidFill>
          <a:ln/>
        </p:spPr>
      </p:sp>
      <p:pic>
        <p:nvPicPr>
          <p:cNvPr id="11" name="Image 1" descr="preencoded.png">    </p:cNvPr>
          <p:cNvPicPr>
            <a:picLocks noChangeAspect="1"/>
          </p:cNvPicPr>
          <p:nvPr/>
        </p:nvPicPr>
        <p:blipFill>
          <a:blip r:embed="rId2"/>
          <a:stretch>
            <a:fillRect/>
          </a:stretch>
        </p:blipFill>
        <p:spPr>
          <a:xfrm>
            <a:off x="923544" y="2761488"/>
            <a:ext cx="237744" cy="237744"/>
          </a:xfrm>
          <a:prstGeom prst="rect">
            <a:avLst/>
          </a:prstGeom>
        </p:spPr>
      </p:pic>
      <p:sp>
        <p:nvSpPr>
          <p:cNvPr id="12" name="Text 8"/>
          <p:cNvSpPr/>
          <p:nvPr/>
        </p:nvSpPr>
        <p:spPr>
          <a:xfrm>
            <a:off x="1481328" y="2523744"/>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Shared resources</a:t>
            </a:r>
            <a:endParaRPr lang="en-US" sz="1500" dirty="0"/>
          </a:p>
        </p:txBody>
      </p:sp>
      <p:sp>
        <p:nvSpPr>
          <p:cNvPr id="13" name="Text 9"/>
          <p:cNvSpPr/>
          <p:nvPr/>
        </p:nvSpPr>
        <p:spPr>
          <a:xfrm>
            <a:off x="4754880" y="2523744"/>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Databases, Kubernetes clusters and networking resist clean attribution to one team.</a:t>
            </a:r>
            <a:endParaRPr lang="en-US" sz="1300" dirty="0"/>
          </a:p>
        </p:txBody>
      </p:sp>
      <p:sp>
        <p:nvSpPr>
          <p:cNvPr id="14" name="Shape 10"/>
          <p:cNvSpPr/>
          <p:nvPr/>
        </p:nvSpPr>
        <p:spPr>
          <a:xfrm>
            <a:off x="548640" y="3328416"/>
            <a:ext cx="11091672" cy="713232"/>
          </a:xfrm>
          <a:prstGeom prst="roundRect">
            <a:avLst>
              <a:gd name="adj" fmla="val 11538"/>
            </a:avLst>
          </a:prstGeom>
          <a:solidFill>
            <a:srgbClr val="1F2936"/>
          </a:solidFill>
          <a:ln/>
        </p:spPr>
      </p:sp>
      <p:sp>
        <p:nvSpPr>
          <p:cNvPr id="15" name="Shape 11"/>
          <p:cNvSpPr/>
          <p:nvPr/>
        </p:nvSpPr>
        <p:spPr>
          <a:xfrm>
            <a:off x="804672" y="3447288"/>
            <a:ext cx="475488" cy="475488"/>
          </a:xfrm>
          <a:prstGeom prst="ellipse">
            <a:avLst/>
          </a:prstGeom>
          <a:solidFill>
            <a:srgbClr val="2E3A48"/>
          </a:solidFill>
          <a:ln/>
        </p:spPr>
      </p:sp>
      <p:pic>
        <p:nvPicPr>
          <p:cNvPr id="16" name="Image 2" descr="preencoded.png">    </p:cNvPr>
          <p:cNvPicPr>
            <a:picLocks noChangeAspect="1"/>
          </p:cNvPicPr>
          <p:nvPr/>
        </p:nvPicPr>
        <p:blipFill>
          <a:blip r:embed="rId3"/>
          <a:stretch>
            <a:fillRect/>
          </a:stretch>
        </p:blipFill>
        <p:spPr>
          <a:xfrm>
            <a:off x="923544" y="3566160"/>
            <a:ext cx="237744" cy="237744"/>
          </a:xfrm>
          <a:prstGeom prst="rect">
            <a:avLst/>
          </a:prstGeom>
        </p:spPr>
      </p:pic>
      <p:sp>
        <p:nvSpPr>
          <p:cNvPr id="17" name="Text 12"/>
          <p:cNvSpPr/>
          <p:nvPr/>
        </p:nvSpPr>
        <p:spPr>
          <a:xfrm>
            <a:off x="1481328" y="3328416"/>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Commitments &amp; discounts</a:t>
            </a:r>
            <a:endParaRPr lang="en-US" sz="1500" dirty="0"/>
          </a:p>
        </p:txBody>
      </p:sp>
      <p:sp>
        <p:nvSpPr>
          <p:cNvPr id="18" name="Text 13"/>
          <p:cNvSpPr/>
          <p:nvPr/>
        </p:nvSpPr>
        <p:spPr>
          <a:xfrm>
            <a:off x="4754880" y="3328416"/>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Reserved Instances and Savings Plans break attribution — list price ≠ price paid.</a:t>
            </a:r>
            <a:endParaRPr lang="en-US" sz="1300" dirty="0"/>
          </a:p>
        </p:txBody>
      </p:sp>
      <p:sp>
        <p:nvSpPr>
          <p:cNvPr id="19" name="Shape 14"/>
          <p:cNvSpPr/>
          <p:nvPr/>
        </p:nvSpPr>
        <p:spPr>
          <a:xfrm>
            <a:off x="548640" y="4133088"/>
            <a:ext cx="11091672" cy="713232"/>
          </a:xfrm>
          <a:prstGeom prst="roundRect">
            <a:avLst>
              <a:gd name="adj" fmla="val 11538"/>
            </a:avLst>
          </a:prstGeom>
          <a:solidFill>
            <a:srgbClr val="1F2936"/>
          </a:solidFill>
          <a:ln/>
        </p:spPr>
      </p:sp>
      <p:sp>
        <p:nvSpPr>
          <p:cNvPr id="20" name="Shape 15"/>
          <p:cNvSpPr/>
          <p:nvPr/>
        </p:nvSpPr>
        <p:spPr>
          <a:xfrm>
            <a:off x="804672" y="4251960"/>
            <a:ext cx="475488" cy="475488"/>
          </a:xfrm>
          <a:prstGeom prst="ellipse">
            <a:avLst/>
          </a:prstGeom>
          <a:solidFill>
            <a:srgbClr val="2E3A48"/>
          </a:solidFill>
          <a:ln/>
        </p:spPr>
      </p:sp>
      <p:pic>
        <p:nvPicPr>
          <p:cNvPr id="21" name="Image 3" descr="preencoded.png">    </p:cNvPr>
          <p:cNvPicPr>
            <a:picLocks noChangeAspect="1"/>
          </p:cNvPicPr>
          <p:nvPr/>
        </p:nvPicPr>
        <p:blipFill>
          <a:blip r:embed="rId4"/>
          <a:stretch>
            <a:fillRect/>
          </a:stretch>
        </p:blipFill>
        <p:spPr>
          <a:xfrm>
            <a:off x="923544" y="4370832"/>
            <a:ext cx="237744" cy="237744"/>
          </a:xfrm>
          <a:prstGeom prst="rect">
            <a:avLst/>
          </a:prstGeom>
        </p:spPr>
      </p:pic>
      <p:sp>
        <p:nvSpPr>
          <p:cNvPr id="22" name="Text 16"/>
          <p:cNvSpPr/>
          <p:nvPr/>
        </p:nvSpPr>
        <p:spPr>
          <a:xfrm>
            <a:off x="1481328" y="4133088"/>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Multi-cloud estates</a:t>
            </a:r>
            <a:endParaRPr lang="en-US" sz="1500" dirty="0"/>
          </a:p>
        </p:txBody>
      </p:sp>
      <p:sp>
        <p:nvSpPr>
          <p:cNvPr id="23" name="Text 17"/>
          <p:cNvSpPr/>
          <p:nvPr/>
        </p:nvSpPr>
        <p:spPr>
          <a:xfrm>
            <a:off x="4754880" y="4133088"/>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Each provider bills and reports differently; a unified view has to be constructed.</a:t>
            </a:r>
            <a:endParaRPr lang="en-US" sz="1300" dirty="0"/>
          </a:p>
        </p:txBody>
      </p:sp>
      <p:sp>
        <p:nvSpPr>
          <p:cNvPr id="24" name="Shape 18"/>
          <p:cNvSpPr/>
          <p:nvPr/>
        </p:nvSpPr>
        <p:spPr>
          <a:xfrm>
            <a:off x="548640" y="4937760"/>
            <a:ext cx="11091672" cy="713232"/>
          </a:xfrm>
          <a:prstGeom prst="roundRect">
            <a:avLst>
              <a:gd name="adj" fmla="val 11538"/>
            </a:avLst>
          </a:prstGeom>
          <a:solidFill>
            <a:srgbClr val="1F2936"/>
          </a:solidFill>
          <a:ln/>
        </p:spPr>
      </p:sp>
      <p:sp>
        <p:nvSpPr>
          <p:cNvPr id="25" name="Shape 19"/>
          <p:cNvSpPr/>
          <p:nvPr/>
        </p:nvSpPr>
        <p:spPr>
          <a:xfrm>
            <a:off x="804672" y="5056632"/>
            <a:ext cx="475488" cy="475488"/>
          </a:xfrm>
          <a:prstGeom prst="ellipse">
            <a:avLst/>
          </a:prstGeom>
          <a:solidFill>
            <a:srgbClr val="2E3A48"/>
          </a:solidFill>
          <a:ln/>
        </p:spPr>
      </p:sp>
      <p:pic>
        <p:nvPicPr>
          <p:cNvPr id="26" name="Image 4" descr="preencoded.png">    </p:cNvPr>
          <p:cNvPicPr>
            <a:picLocks noChangeAspect="1"/>
          </p:cNvPicPr>
          <p:nvPr/>
        </p:nvPicPr>
        <p:blipFill>
          <a:blip r:embed="rId5"/>
          <a:stretch>
            <a:fillRect/>
          </a:stretch>
        </p:blipFill>
        <p:spPr>
          <a:xfrm>
            <a:off x="923544" y="5175504"/>
            <a:ext cx="237744" cy="237744"/>
          </a:xfrm>
          <a:prstGeom prst="rect">
            <a:avLst/>
          </a:prstGeom>
        </p:spPr>
      </p:pic>
      <p:sp>
        <p:nvSpPr>
          <p:cNvPr id="27" name="Text 20"/>
          <p:cNvSpPr/>
          <p:nvPr/>
        </p:nvSpPr>
        <p:spPr>
          <a:xfrm>
            <a:off x="1481328" y="4937760"/>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SaaS &amp; marketplace spend</a:t>
            </a:r>
            <a:endParaRPr lang="en-US" sz="1500" dirty="0"/>
          </a:p>
        </p:txBody>
      </p:sp>
      <p:sp>
        <p:nvSpPr>
          <p:cNvPr id="28" name="Text 21"/>
          <p:cNvSpPr/>
          <p:nvPr/>
        </p:nvSpPr>
        <p:spPr>
          <a:xfrm>
            <a:off x="4754880" y="4937760"/>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Invisible in cloud billing. Teams forget the subscriptions they signed.</a:t>
            </a:r>
            <a:endParaRPr lang="en-US" sz="1300" dirty="0"/>
          </a:p>
        </p:txBody>
      </p:sp>
      <p:sp>
        <p:nvSpPr>
          <p:cNvPr id="29" name="Text 22"/>
          <p:cNvSpPr/>
          <p:nvPr/>
        </p:nvSpPr>
        <p:spPr>
          <a:xfrm>
            <a:off x="548640" y="5852160"/>
            <a:ext cx="11091672" cy="548640"/>
          </a:xfrm>
          <a:prstGeom prst="rect">
            <a:avLst/>
          </a:prstGeom>
          <a:noFill/>
          <a:ln/>
        </p:spPr>
        <p:txBody>
          <a:bodyPr wrap="square" lIns="0" tIns="0" rIns="0" bIns="0" rtlCol="0" anchor="ctr"/>
          <a:lstStyle/>
          <a:p>
            <a:pPr indent="0" marL="0">
              <a:buNone/>
            </a:pPr>
            <a:r>
              <a:rPr lang="en-US" sz="1450" i="1" dirty="0">
                <a:solidFill>
                  <a:srgbClr val="E39B2C"/>
                </a:solidFill>
                <a:latin typeface="Cambria" pitchFamily="34" charset="0"/>
                <a:ea typeface="Cambria" pitchFamily="34" charset="-122"/>
                <a:cs typeface="Cambria" pitchFamily="34" charset="-120"/>
              </a:rPr>
              <a:t>“Different clouds report data differently, network traffic adds up fast, and Kubernetes or SaaS often hide who generated the spend.”</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1 — TAGGING STRATEGY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The foundation of all visibility</a:t>
            </a:r>
            <a:endParaRPr lang="en-US" sz="3100" dirty="0"/>
          </a:p>
        </p:txBody>
      </p:sp>
      <p:sp>
        <p:nvSpPr>
          <p:cNvPr id="4" name="Shape 2"/>
          <p:cNvSpPr/>
          <p:nvPr/>
        </p:nvSpPr>
        <p:spPr>
          <a:xfrm>
            <a:off x="548640" y="1783080"/>
            <a:ext cx="3749040" cy="3035808"/>
          </a:xfrm>
          <a:prstGeom prst="roundRect">
            <a:avLst>
              <a:gd name="adj" fmla="val 2711"/>
            </a:avLst>
          </a:prstGeom>
          <a:solidFill>
            <a:srgbClr val="1F2936"/>
          </a:solidFill>
          <a:ln/>
          <a:effectLst>
            <a:outerShdw sx="100000" sy="100000" kx="0" ky="0" algn="bl" rotWithShape="0" blurRad="127000" dist="25400" dir="5400000">
              <a:srgbClr val="8C99A8">
                <a:alpha val="16000"/>
              </a:srgbClr>
            </a:outerShdw>
          </a:effectLst>
        </p:spPr>
      </p:sp>
      <p:sp>
        <p:nvSpPr>
          <p:cNvPr id="5" name="Shape 3"/>
          <p:cNvSpPr/>
          <p:nvPr/>
        </p:nvSpPr>
        <p:spPr>
          <a:xfrm>
            <a:off x="859536" y="2048256"/>
            <a:ext cx="603504" cy="603504"/>
          </a:xfrm>
          <a:prstGeom prst="ellipse">
            <a:avLst/>
          </a:prstGeom>
          <a:solidFill>
            <a:srgbClr val="E39B2C"/>
          </a:solidFill>
          <a:ln/>
        </p:spPr>
      </p:sp>
      <p:pic>
        <p:nvPicPr>
          <p:cNvPr id="6" name="Image 0" descr="preencoded.png">    </p:cNvPr>
          <p:cNvPicPr>
            <a:picLocks noChangeAspect="1"/>
          </p:cNvPicPr>
          <p:nvPr/>
        </p:nvPicPr>
        <p:blipFill>
          <a:blip r:embed="rId1"/>
          <a:stretch>
            <a:fillRect/>
          </a:stretch>
        </p:blipFill>
        <p:spPr>
          <a:xfrm>
            <a:off x="1010412" y="2199132"/>
            <a:ext cx="301752" cy="301752"/>
          </a:xfrm>
          <a:prstGeom prst="rect">
            <a:avLst/>
          </a:prstGeom>
        </p:spPr>
      </p:pic>
      <p:sp>
        <p:nvSpPr>
          <p:cNvPr id="7" name="Text 4"/>
          <p:cNvSpPr/>
          <p:nvPr/>
        </p:nvSpPr>
        <p:spPr>
          <a:xfrm>
            <a:off x="859536" y="2788920"/>
            <a:ext cx="3108960" cy="310896"/>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challenge</a:t>
            </a:r>
            <a:endParaRPr lang="en-US" sz="1200" dirty="0"/>
          </a:p>
        </p:txBody>
      </p:sp>
      <p:sp>
        <p:nvSpPr>
          <p:cNvPr id="8" name="Text 5"/>
          <p:cNvSpPr/>
          <p:nvPr/>
        </p:nvSpPr>
        <p:spPr>
          <a:xfrm>
            <a:off x="859536" y="3127248"/>
            <a:ext cx="3127248" cy="1463040"/>
          </a:xfrm>
          <a:prstGeom prst="rect">
            <a:avLst/>
          </a:prstGeom>
          <a:noFill/>
          <a:ln/>
        </p:spPr>
        <p:txBody>
          <a:bodyPr wrap="square" lIns="0" tIns="0" rIns="0" bIns="0" rtlCol="0" anchor="t"/>
          <a:lstStyle/>
          <a:p>
            <a:pPr indent="0" marL="0">
              <a:lnSpc>
                <a:spcPts val="2100"/>
              </a:lnSpc>
              <a:buNone/>
            </a:pPr>
            <a:r>
              <a:rPr lang="en-US" sz="1500" i="1" dirty="0">
                <a:solidFill>
                  <a:srgbClr val="FFFFFF"/>
                </a:solidFill>
                <a:latin typeface="Cambria" pitchFamily="34" charset="0"/>
                <a:ea typeface="Cambria" pitchFamily="34" charset="-122"/>
                <a:cs typeface="Cambria" pitchFamily="34" charset="-120"/>
              </a:rPr>
              <a:t>“Tagging is the single most foundational habit for sustainable FinOps maturity. It is also the most frequently skipped.”</a:t>
            </a:r>
            <a:endParaRPr lang="en-US" sz="1500" dirty="0"/>
          </a:p>
        </p:txBody>
      </p:sp>
      <p:sp>
        <p:nvSpPr>
          <p:cNvPr id="9" name="Shape 6"/>
          <p:cNvSpPr/>
          <p:nvPr/>
        </p:nvSpPr>
        <p:spPr>
          <a:xfrm>
            <a:off x="4663440" y="1911096"/>
            <a:ext cx="457200" cy="457200"/>
          </a:xfrm>
          <a:prstGeom prst="ellipse">
            <a:avLst/>
          </a:prstGeom>
          <a:solidFill>
            <a:srgbClr val="DDEDE9"/>
          </a:solidFill>
          <a:ln/>
        </p:spPr>
      </p:sp>
      <p:pic>
        <p:nvPicPr>
          <p:cNvPr id="10" name="Image 1" descr="preencoded.png">    </p:cNvPr>
          <p:cNvPicPr>
            <a:picLocks noChangeAspect="1"/>
          </p:cNvPicPr>
          <p:nvPr/>
        </p:nvPicPr>
        <p:blipFill>
          <a:blip r:embed="rId2"/>
          <a:stretch>
            <a:fillRect/>
          </a:stretch>
        </p:blipFill>
        <p:spPr>
          <a:xfrm>
            <a:off x="4777740" y="2025396"/>
            <a:ext cx="228600" cy="228600"/>
          </a:xfrm>
          <a:prstGeom prst="rect">
            <a:avLst/>
          </a:prstGeom>
        </p:spPr>
      </p:pic>
      <p:sp>
        <p:nvSpPr>
          <p:cNvPr id="11" name="Text 7"/>
          <p:cNvSpPr/>
          <p:nvPr/>
        </p:nvSpPr>
        <p:spPr>
          <a:xfrm>
            <a:off x="5376672" y="178308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Define a global tag taxonomy</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master list, agreed across the business — aligned to business need, not just cloud ops.</a:t>
            </a:r>
            <a:endParaRPr lang="en-US" sz="1450" dirty="0"/>
          </a:p>
        </p:txBody>
      </p:sp>
      <p:sp>
        <p:nvSpPr>
          <p:cNvPr id="12" name="Shape 8"/>
          <p:cNvSpPr/>
          <p:nvPr/>
        </p:nvSpPr>
        <p:spPr>
          <a:xfrm>
            <a:off x="4663440" y="2688336"/>
            <a:ext cx="457200" cy="457200"/>
          </a:xfrm>
          <a:prstGeom prst="ellipse">
            <a:avLst/>
          </a:prstGeom>
          <a:solidFill>
            <a:srgbClr val="DDEDE9"/>
          </a:solidFill>
          <a:ln/>
        </p:spPr>
      </p:sp>
      <p:pic>
        <p:nvPicPr>
          <p:cNvPr id="13" name="Image 2" descr="preencoded.png">    </p:cNvPr>
          <p:cNvPicPr>
            <a:picLocks noChangeAspect="1"/>
          </p:cNvPicPr>
          <p:nvPr/>
        </p:nvPicPr>
        <p:blipFill>
          <a:blip r:embed="rId3"/>
          <a:stretch>
            <a:fillRect/>
          </a:stretch>
        </p:blipFill>
        <p:spPr>
          <a:xfrm>
            <a:off x="4777740" y="2802636"/>
            <a:ext cx="228600" cy="228600"/>
          </a:xfrm>
          <a:prstGeom prst="rect">
            <a:avLst/>
          </a:prstGeom>
        </p:spPr>
      </p:pic>
      <p:sp>
        <p:nvSpPr>
          <p:cNvPr id="14" name="Text 9"/>
          <p:cNvSpPr/>
          <p:nvPr/>
        </p:nvSpPr>
        <p:spPr>
          <a:xfrm>
            <a:off x="5376672" y="256032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Enforce tags at creation</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Azure Policy, AWS Organizations tag policies, or Terraform. Retrofitting later is painful.</a:t>
            </a:r>
            <a:endParaRPr lang="en-US" sz="1450" dirty="0"/>
          </a:p>
        </p:txBody>
      </p:sp>
      <p:sp>
        <p:nvSpPr>
          <p:cNvPr id="15" name="Shape 10"/>
          <p:cNvSpPr/>
          <p:nvPr/>
        </p:nvSpPr>
        <p:spPr>
          <a:xfrm>
            <a:off x="4663440" y="3465576"/>
            <a:ext cx="457200" cy="457200"/>
          </a:xfrm>
          <a:prstGeom prst="ellipse">
            <a:avLst/>
          </a:prstGeom>
          <a:solidFill>
            <a:srgbClr val="DDEDE9"/>
          </a:solidFill>
          <a:ln/>
        </p:spPr>
      </p:sp>
      <p:pic>
        <p:nvPicPr>
          <p:cNvPr id="16" name="Image 3" descr="preencoded.png">    </p:cNvPr>
          <p:cNvPicPr>
            <a:picLocks noChangeAspect="1"/>
          </p:cNvPicPr>
          <p:nvPr/>
        </p:nvPicPr>
        <p:blipFill>
          <a:blip r:embed="rId4"/>
          <a:stretch>
            <a:fillRect/>
          </a:stretch>
        </p:blipFill>
        <p:spPr>
          <a:xfrm>
            <a:off x="4777740" y="3579876"/>
            <a:ext cx="228600" cy="228600"/>
          </a:xfrm>
          <a:prstGeom prst="rect">
            <a:avLst/>
          </a:prstGeom>
        </p:spPr>
      </p:pic>
      <p:sp>
        <p:nvSpPr>
          <p:cNvPr id="17" name="Text 11"/>
          <p:cNvSpPr/>
          <p:nvPr/>
        </p:nvSpPr>
        <p:spPr>
          <a:xfrm>
            <a:off x="5376672" y="333756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Start with showback</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Show teams their spend, uncharged, for 4–6 weeks — gaps surface before money is on the line.</a:t>
            </a:r>
            <a:endParaRPr lang="en-US" sz="1450" dirty="0"/>
          </a:p>
        </p:txBody>
      </p:sp>
      <p:sp>
        <p:nvSpPr>
          <p:cNvPr id="18" name="Shape 12"/>
          <p:cNvSpPr/>
          <p:nvPr/>
        </p:nvSpPr>
        <p:spPr>
          <a:xfrm>
            <a:off x="4663440" y="4242816"/>
            <a:ext cx="457200" cy="457200"/>
          </a:xfrm>
          <a:prstGeom prst="ellipse">
            <a:avLst/>
          </a:prstGeom>
          <a:solidFill>
            <a:srgbClr val="DDEDE9"/>
          </a:solidFill>
          <a:ln/>
        </p:spPr>
      </p:sp>
      <p:pic>
        <p:nvPicPr>
          <p:cNvPr id="19" name="Image 4" descr="preencoded.png">    </p:cNvPr>
          <p:cNvPicPr>
            <a:picLocks noChangeAspect="1"/>
          </p:cNvPicPr>
          <p:nvPr/>
        </p:nvPicPr>
        <p:blipFill>
          <a:blip r:embed="rId5"/>
          <a:stretch>
            <a:fillRect/>
          </a:stretch>
        </p:blipFill>
        <p:spPr>
          <a:xfrm>
            <a:off x="4777740" y="4357116"/>
            <a:ext cx="228600" cy="228600"/>
          </a:xfrm>
          <a:prstGeom prst="rect">
            <a:avLst/>
          </a:prstGeom>
        </p:spPr>
      </p:pic>
      <p:sp>
        <p:nvSpPr>
          <p:cNvPr id="20" name="Text 13"/>
          <p:cNvSpPr/>
          <p:nvPr/>
        </p:nvSpPr>
        <p:spPr>
          <a:xfrm>
            <a:off x="5376672" y="411480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Monitor tag compliance</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Dashboards that surface missing or incorrect metadata, tracked as a KPI.</a:t>
            </a:r>
            <a:endParaRPr lang="en-US" sz="1450" dirty="0"/>
          </a:p>
        </p:txBody>
      </p:sp>
      <p:sp>
        <p:nvSpPr>
          <p:cNvPr id="21" name="Text 14"/>
          <p:cNvSpPr/>
          <p:nvPr/>
        </p:nvSpPr>
        <p:spPr>
          <a:xfrm>
            <a:off x="548640" y="5047488"/>
            <a:ext cx="365760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Minimum viable tags</a:t>
            </a:r>
            <a:endParaRPr lang="en-US" sz="1200" dirty="0"/>
          </a:p>
        </p:txBody>
      </p:sp>
      <p:sp>
        <p:nvSpPr>
          <p:cNvPr id="22" name="Shape 15"/>
          <p:cNvSpPr/>
          <p:nvPr/>
        </p:nvSpPr>
        <p:spPr>
          <a:xfrm>
            <a:off x="548640" y="5440680"/>
            <a:ext cx="2103120" cy="566928"/>
          </a:xfrm>
          <a:prstGeom prst="roundRect">
            <a:avLst>
              <a:gd name="adj" fmla="val 48387"/>
            </a:avLst>
          </a:prstGeom>
          <a:solidFill>
            <a:srgbClr val="FBEFD8"/>
          </a:solidFill>
          <a:ln/>
        </p:spPr>
      </p:sp>
      <p:sp>
        <p:nvSpPr>
          <p:cNvPr id="23" name="Text 16"/>
          <p:cNvSpPr/>
          <p:nvPr/>
        </p:nvSpPr>
        <p:spPr>
          <a:xfrm>
            <a:off x="548640"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Environment</a:t>
            </a:r>
            <a:endParaRPr lang="en-US" sz="1400" dirty="0"/>
          </a:p>
        </p:txBody>
      </p:sp>
      <p:sp>
        <p:nvSpPr>
          <p:cNvPr id="24" name="Shape 17"/>
          <p:cNvSpPr/>
          <p:nvPr/>
        </p:nvSpPr>
        <p:spPr>
          <a:xfrm>
            <a:off x="2761488" y="5440680"/>
            <a:ext cx="2103120" cy="566928"/>
          </a:xfrm>
          <a:prstGeom prst="roundRect">
            <a:avLst>
              <a:gd name="adj" fmla="val 48387"/>
            </a:avLst>
          </a:prstGeom>
          <a:solidFill>
            <a:srgbClr val="FBEFD8"/>
          </a:solidFill>
          <a:ln/>
        </p:spPr>
      </p:sp>
      <p:sp>
        <p:nvSpPr>
          <p:cNvPr id="25" name="Text 18"/>
          <p:cNvSpPr/>
          <p:nvPr/>
        </p:nvSpPr>
        <p:spPr>
          <a:xfrm>
            <a:off x="2761488"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CostCenter</a:t>
            </a:r>
            <a:endParaRPr lang="en-US" sz="1400" dirty="0"/>
          </a:p>
        </p:txBody>
      </p:sp>
      <p:sp>
        <p:nvSpPr>
          <p:cNvPr id="26" name="Shape 19"/>
          <p:cNvSpPr/>
          <p:nvPr/>
        </p:nvSpPr>
        <p:spPr>
          <a:xfrm>
            <a:off x="4974336" y="5440680"/>
            <a:ext cx="2103120" cy="566928"/>
          </a:xfrm>
          <a:prstGeom prst="roundRect">
            <a:avLst>
              <a:gd name="adj" fmla="val 48387"/>
            </a:avLst>
          </a:prstGeom>
          <a:solidFill>
            <a:srgbClr val="FBEFD8"/>
          </a:solidFill>
          <a:ln/>
        </p:spPr>
      </p:sp>
      <p:sp>
        <p:nvSpPr>
          <p:cNvPr id="27" name="Text 20"/>
          <p:cNvSpPr/>
          <p:nvPr/>
        </p:nvSpPr>
        <p:spPr>
          <a:xfrm>
            <a:off x="4974336"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ApplicationID</a:t>
            </a:r>
            <a:endParaRPr lang="en-US" sz="1400" dirty="0"/>
          </a:p>
        </p:txBody>
      </p:sp>
      <p:sp>
        <p:nvSpPr>
          <p:cNvPr id="28" name="Shape 21"/>
          <p:cNvSpPr/>
          <p:nvPr/>
        </p:nvSpPr>
        <p:spPr>
          <a:xfrm>
            <a:off x="7187184" y="5440680"/>
            <a:ext cx="2103120" cy="566928"/>
          </a:xfrm>
          <a:prstGeom prst="roundRect">
            <a:avLst>
              <a:gd name="adj" fmla="val 48387"/>
            </a:avLst>
          </a:prstGeom>
          <a:solidFill>
            <a:srgbClr val="FBEFD8"/>
          </a:solidFill>
          <a:ln/>
        </p:spPr>
      </p:sp>
      <p:sp>
        <p:nvSpPr>
          <p:cNvPr id="29" name="Text 22"/>
          <p:cNvSpPr/>
          <p:nvPr/>
        </p:nvSpPr>
        <p:spPr>
          <a:xfrm>
            <a:off x="7187184"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Owner</a:t>
            </a:r>
            <a:endParaRPr lang="en-US" sz="1400" dirty="0"/>
          </a:p>
        </p:txBody>
      </p:sp>
      <p:sp>
        <p:nvSpPr>
          <p:cNvPr id="30" name="Shape 23"/>
          <p:cNvSpPr/>
          <p:nvPr/>
        </p:nvSpPr>
        <p:spPr>
          <a:xfrm>
            <a:off x="9400032" y="5440680"/>
            <a:ext cx="2103120" cy="566928"/>
          </a:xfrm>
          <a:prstGeom prst="roundRect">
            <a:avLst>
              <a:gd name="adj" fmla="val 48387"/>
            </a:avLst>
          </a:prstGeom>
          <a:solidFill>
            <a:srgbClr val="FBEFD8"/>
          </a:solidFill>
          <a:ln/>
        </p:spPr>
      </p:sp>
      <p:sp>
        <p:nvSpPr>
          <p:cNvPr id="31" name="Text 24"/>
          <p:cNvSpPr/>
          <p:nvPr/>
        </p:nvSpPr>
        <p:spPr>
          <a:xfrm>
            <a:off x="9400032"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Project</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HARD CASES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Two costs that resist a simple owner</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Tagging solves most allocation. These two need a decision instead.</a:t>
            </a:r>
            <a:endParaRPr lang="en-US" sz="1500" dirty="0"/>
          </a:p>
        </p:txBody>
      </p:sp>
      <p:sp>
        <p:nvSpPr>
          <p:cNvPr id="5" name="Shape 3"/>
          <p:cNvSpPr/>
          <p:nvPr/>
        </p:nvSpPr>
        <p:spPr>
          <a:xfrm>
            <a:off x="548640" y="2121408"/>
            <a:ext cx="5394960" cy="3246120"/>
          </a:xfrm>
          <a:prstGeom prst="roundRect">
            <a:avLst>
              <a:gd name="adj" fmla="val 2535"/>
            </a:avLst>
          </a:prstGeom>
          <a:solidFill>
            <a:srgbClr val="DDEDE9"/>
          </a:solidFill>
          <a:ln/>
        </p:spPr>
      </p:sp>
      <p:sp>
        <p:nvSpPr>
          <p:cNvPr id="6" name="Shape 4"/>
          <p:cNvSpPr/>
          <p:nvPr/>
        </p:nvSpPr>
        <p:spPr>
          <a:xfrm>
            <a:off x="859536" y="2359152"/>
            <a:ext cx="512064" cy="512064"/>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87552" y="2487168"/>
            <a:ext cx="256032" cy="256032"/>
          </a:xfrm>
          <a:prstGeom prst="rect">
            <a:avLst/>
          </a:prstGeom>
        </p:spPr>
      </p:pic>
      <p:sp>
        <p:nvSpPr>
          <p:cNvPr id="8" name="Text 5"/>
          <p:cNvSpPr/>
          <p:nvPr/>
        </p:nvSpPr>
        <p:spPr>
          <a:xfrm>
            <a:off x="1517904" y="2340864"/>
            <a:ext cx="4114800" cy="548640"/>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Shared platforms</a:t>
            </a:r>
            <a:endParaRPr lang="en-US" sz="1900" dirty="0"/>
          </a:p>
        </p:txBody>
      </p:sp>
      <p:sp>
        <p:nvSpPr>
          <p:cNvPr id="9" name="Text 6"/>
          <p:cNvSpPr/>
          <p:nvPr/>
        </p:nvSpPr>
        <p:spPr>
          <a:xfrm>
            <a:off x="859536" y="2999232"/>
            <a:ext cx="4773168" cy="548640"/>
          </a:xfrm>
          <a:prstGeom prst="rect">
            <a:avLst/>
          </a:prstGeom>
          <a:noFill/>
          <a:ln/>
        </p:spPr>
        <p:txBody>
          <a:bodyPr wrap="square" lIns="0" tIns="0" rIns="0" bIns="0" rtlCol="0" anchor="t"/>
          <a:lstStyle/>
          <a:p>
            <a:pPr indent="0" marL="0">
              <a:lnSpc>
                <a:spcPts val="1700"/>
              </a:lnSpc>
              <a:buNone/>
            </a:pPr>
            <a:r>
              <a:rPr lang="en-US" sz="1300" dirty="0">
                <a:solidFill>
                  <a:srgbClr val="5C6675"/>
                </a:solidFill>
                <a:latin typeface="Calibri" pitchFamily="34" charset="0"/>
                <a:ea typeface="Calibri" pitchFamily="34" charset="-122"/>
                <a:cs typeface="Calibri" pitchFamily="34" charset="-120"/>
              </a:rPr>
              <a:t>Databases, clusters and gateways serve many teams under one set of tags.</a:t>
            </a:r>
            <a:endParaRPr lang="en-US" sz="1300" dirty="0"/>
          </a:p>
        </p:txBody>
      </p:sp>
      <p:sp>
        <p:nvSpPr>
          <p:cNvPr id="10" name="Shape 7"/>
          <p:cNvSpPr/>
          <p:nvPr/>
        </p:nvSpPr>
        <p:spPr>
          <a:xfrm>
            <a:off x="877824" y="3785616"/>
            <a:ext cx="100584" cy="100584"/>
          </a:xfrm>
          <a:prstGeom prst="ellipse">
            <a:avLst/>
          </a:prstGeom>
          <a:solidFill>
            <a:srgbClr val="1F6B5C"/>
          </a:solidFill>
          <a:ln/>
        </p:spPr>
      </p:sp>
      <p:sp>
        <p:nvSpPr>
          <p:cNvPr id="11" name="Text 8"/>
          <p:cNvSpPr/>
          <p:nvPr/>
        </p:nvSpPr>
        <p:spPr>
          <a:xfrm>
            <a:off x="1115568" y="3657600"/>
            <a:ext cx="4517136" cy="512064"/>
          </a:xfrm>
          <a:prstGeom prst="rect">
            <a:avLst/>
          </a:prstGeom>
          <a:noFill/>
          <a:ln/>
        </p:spPr>
        <p:txBody>
          <a:bodyPr wrap="square" lIns="0" tIns="0" rIns="0" bIns="0" rtlCol="0" anchor="t"/>
          <a:lstStyle/>
          <a:p>
            <a:pPr indent="0" marL="0">
              <a:lnSpc>
                <a:spcPts val="1600"/>
              </a:lnSpc>
              <a:buNone/>
            </a:pPr>
            <a:r>
              <a:rPr lang="en-US" sz="1250" dirty="0">
                <a:solidFill>
                  <a:srgbClr val="1B2430"/>
                </a:solidFill>
                <a:latin typeface="Calibri" pitchFamily="34" charset="0"/>
                <a:ea typeface="Calibri" pitchFamily="34" charset="-122"/>
                <a:cs typeface="Calibri" pitchFamily="34" charset="-120"/>
              </a:rPr>
              <a:t>Split on measured consumption, not headcount — it survives the argument</a:t>
            </a:r>
            <a:endParaRPr lang="en-US" sz="1250" dirty="0"/>
          </a:p>
        </p:txBody>
      </p:sp>
      <p:sp>
        <p:nvSpPr>
          <p:cNvPr id="12" name="Shape 9"/>
          <p:cNvSpPr/>
          <p:nvPr/>
        </p:nvSpPr>
        <p:spPr>
          <a:xfrm>
            <a:off x="877824" y="4334256"/>
            <a:ext cx="100584" cy="100584"/>
          </a:xfrm>
          <a:prstGeom prst="ellipse">
            <a:avLst/>
          </a:prstGeom>
          <a:solidFill>
            <a:srgbClr val="1F6B5C"/>
          </a:solidFill>
          <a:ln/>
        </p:spPr>
      </p:sp>
      <p:sp>
        <p:nvSpPr>
          <p:cNvPr id="13" name="Text 10"/>
          <p:cNvSpPr/>
          <p:nvPr/>
        </p:nvSpPr>
        <p:spPr>
          <a:xfrm>
            <a:off x="1115568" y="4206240"/>
            <a:ext cx="4517136" cy="512064"/>
          </a:xfrm>
          <a:prstGeom prst="rect">
            <a:avLst/>
          </a:prstGeom>
          <a:noFill/>
          <a:ln/>
        </p:spPr>
        <p:txBody>
          <a:bodyPr wrap="square" lIns="0" tIns="0" rIns="0" bIns="0" rtlCol="0" anchor="t"/>
          <a:lstStyle/>
          <a:p>
            <a:pPr indent="0" marL="0">
              <a:lnSpc>
                <a:spcPts val="1600"/>
              </a:lnSpc>
              <a:buNone/>
            </a:pPr>
            <a:r>
              <a:rPr lang="en-US" sz="1250" dirty="0">
                <a:solidFill>
                  <a:srgbClr val="1B2430"/>
                </a:solidFill>
                <a:latin typeface="Calibri" pitchFamily="34" charset="0"/>
                <a:ea typeface="Calibri" pitchFamily="34" charset="-122"/>
                <a:cs typeface="Calibri" pitchFamily="34" charset="-120"/>
              </a:rPr>
              <a:t>Freeze the method for the fiscal year and write it down</a:t>
            </a:r>
            <a:endParaRPr lang="en-US" sz="1250" dirty="0"/>
          </a:p>
        </p:txBody>
      </p:sp>
      <p:sp>
        <p:nvSpPr>
          <p:cNvPr id="14" name="Shape 11"/>
          <p:cNvSpPr/>
          <p:nvPr/>
        </p:nvSpPr>
        <p:spPr>
          <a:xfrm>
            <a:off x="877824" y="4882896"/>
            <a:ext cx="100584" cy="100584"/>
          </a:xfrm>
          <a:prstGeom prst="ellipse">
            <a:avLst/>
          </a:prstGeom>
          <a:solidFill>
            <a:srgbClr val="1F6B5C"/>
          </a:solidFill>
          <a:ln/>
        </p:spPr>
      </p:sp>
      <p:sp>
        <p:nvSpPr>
          <p:cNvPr id="15" name="Text 12"/>
          <p:cNvSpPr/>
          <p:nvPr/>
        </p:nvSpPr>
        <p:spPr>
          <a:xfrm>
            <a:off x="1115568" y="4754880"/>
            <a:ext cx="4517136" cy="512064"/>
          </a:xfrm>
          <a:prstGeom prst="rect">
            <a:avLst/>
          </a:prstGeom>
          <a:noFill/>
          <a:ln/>
        </p:spPr>
        <p:txBody>
          <a:bodyPr wrap="square" lIns="0" tIns="0" rIns="0" bIns="0" rtlCol="0" anchor="t"/>
          <a:lstStyle/>
          <a:p>
            <a:pPr indent="0" marL="0">
              <a:lnSpc>
                <a:spcPts val="1600"/>
              </a:lnSpc>
              <a:buNone/>
            </a:pPr>
            <a:r>
              <a:rPr lang="en-US" sz="1250" dirty="0">
                <a:solidFill>
                  <a:srgbClr val="1B2430"/>
                </a:solidFill>
                <a:latin typeface="Calibri" pitchFamily="34" charset="0"/>
                <a:ea typeface="Calibri" pitchFamily="34" charset="-122"/>
                <a:cs typeface="Calibri" pitchFamily="34" charset="-120"/>
              </a:rPr>
              <a:t>Per-team attribution needs usage instrumentation, not tags</a:t>
            </a:r>
            <a:endParaRPr lang="en-US" sz="1250" dirty="0"/>
          </a:p>
        </p:txBody>
      </p:sp>
      <p:sp>
        <p:nvSpPr>
          <p:cNvPr id="16" name="Shape 13"/>
          <p:cNvSpPr/>
          <p:nvPr/>
        </p:nvSpPr>
        <p:spPr>
          <a:xfrm>
            <a:off x="6245352" y="2121408"/>
            <a:ext cx="5394960" cy="3246120"/>
          </a:xfrm>
          <a:prstGeom prst="roundRect">
            <a:avLst>
              <a:gd name="adj" fmla="val 2535"/>
            </a:avLst>
          </a:prstGeom>
          <a:solidFill>
            <a:srgbClr val="FBEFD8"/>
          </a:solidFill>
          <a:ln/>
        </p:spPr>
      </p:sp>
      <p:sp>
        <p:nvSpPr>
          <p:cNvPr id="17" name="Shape 14"/>
          <p:cNvSpPr/>
          <p:nvPr/>
        </p:nvSpPr>
        <p:spPr>
          <a:xfrm>
            <a:off x="6556248" y="2359152"/>
            <a:ext cx="512064" cy="512064"/>
          </a:xfrm>
          <a:prstGeom prst="ellipse">
            <a:avLst/>
          </a:prstGeom>
          <a:solidFill>
            <a:srgbClr val="FFFFFF"/>
          </a:solidFill>
          <a:ln/>
        </p:spPr>
      </p:sp>
      <p:pic>
        <p:nvPicPr>
          <p:cNvPr id="18" name="Image 1" descr="preencoded.png">    </p:cNvPr>
          <p:cNvPicPr>
            <a:picLocks noChangeAspect="1"/>
          </p:cNvPicPr>
          <p:nvPr/>
        </p:nvPicPr>
        <p:blipFill>
          <a:blip r:embed="rId2"/>
          <a:stretch>
            <a:fillRect/>
          </a:stretch>
        </p:blipFill>
        <p:spPr>
          <a:xfrm>
            <a:off x="6684264" y="2487168"/>
            <a:ext cx="256032" cy="256032"/>
          </a:xfrm>
          <a:prstGeom prst="rect">
            <a:avLst/>
          </a:prstGeom>
        </p:spPr>
      </p:pic>
      <p:sp>
        <p:nvSpPr>
          <p:cNvPr id="19" name="Text 15"/>
          <p:cNvSpPr/>
          <p:nvPr/>
        </p:nvSpPr>
        <p:spPr>
          <a:xfrm>
            <a:off x="7214616" y="2340864"/>
            <a:ext cx="4114800" cy="548640"/>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Commitments &amp; discounts</a:t>
            </a:r>
            <a:endParaRPr lang="en-US" sz="1900" dirty="0"/>
          </a:p>
        </p:txBody>
      </p:sp>
      <p:sp>
        <p:nvSpPr>
          <p:cNvPr id="20" name="Text 16"/>
          <p:cNvSpPr/>
          <p:nvPr/>
        </p:nvSpPr>
        <p:spPr>
          <a:xfrm>
            <a:off x="6556248" y="2999232"/>
            <a:ext cx="4773168" cy="548640"/>
          </a:xfrm>
          <a:prstGeom prst="rect">
            <a:avLst/>
          </a:prstGeom>
          <a:noFill/>
          <a:ln/>
        </p:spPr>
        <p:txBody>
          <a:bodyPr wrap="square" lIns="0" tIns="0" rIns="0" bIns="0" rtlCol="0" anchor="t"/>
          <a:lstStyle/>
          <a:p>
            <a:pPr indent="0" marL="0">
              <a:lnSpc>
                <a:spcPts val="1700"/>
              </a:lnSpc>
              <a:buNone/>
            </a:pPr>
            <a:r>
              <a:rPr lang="en-US" sz="1300" dirty="0">
                <a:solidFill>
                  <a:srgbClr val="5C6675"/>
                </a:solidFill>
                <a:latin typeface="Calibri" pitchFamily="34" charset="0"/>
                <a:ea typeface="Calibri" pitchFamily="34" charset="-122"/>
                <a:cs typeface="Calibri" pitchFamily="34" charset="-120"/>
              </a:rPr>
              <a:t>Reserved capacity and savings plans mean the rate shown is not the rate paid.</a:t>
            </a:r>
            <a:endParaRPr lang="en-US" sz="1300" dirty="0"/>
          </a:p>
        </p:txBody>
      </p:sp>
      <p:sp>
        <p:nvSpPr>
          <p:cNvPr id="21" name="Shape 17"/>
          <p:cNvSpPr/>
          <p:nvPr/>
        </p:nvSpPr>
        <p:spPr>
          <a:xfrm>
            <a:off x="6574536" y="3785616"/>
            <a:ext cx="100584" cy="100584"/>
          </a:xfrm>
          <a:prstGeom prst="ellipse">
            <a:avLst/>
          </a:prstGeom>
          <a:solidFill>
            <a:srgbClr val="B87B18"/>
          </a:solidFill>
          <a:ln/>
        </p:spPr>
      </p:sp>
      <p:sp>
        <p:nvSpPr>
          <p:cNvPr id="22" name="Text 18"/>
          <p:cNvSpPr/>
          <p:nvPr/>
        </p:nvSpPr>
        <p:spPr>
          <a:xfrm>
            <a:off x="6812280" y="3657600"/>
            <a:ext cx="4517136" cy="512064"/>
          </a:xfrm>
          <a:prstGeom prst="rect">
            <a:avLst/>
          </a:prstGeom>
          <a:noFill/>
          <a:ln/>
        </p:spPr>
        <p:txBody>
          <a:bodyPr wrap="square" lIns="0" tIns="0" rIns="0" bIns="0" rtlCol="0" anchor="t"/>
          <a:lstStyle/>
          <a:p>
            <a:pPr indent="0" marL="0">
              <a:lnSpc>
                <a:spcPts val="1600"/>
              </a:lnSpc>
              <a:buNone/>
            </a:pPr>
            <a:r>
              <a:rPr lang="en-US" sz="1250" dirty="0">
                <a:solidFill>
                  <a:srgbClr val="1B2430"/>
                </a:solidFill>
                <a:latin typeface="Calibri" pitchFamily="34" charset="0"/>
                <a:ea typeface="Calibri" pitchFamily="34" charset="-122"/>
                <a:cs typeface="Calibri" pitchFamily="34" charset="-120"/>
              </a:rPr>
              <a:t>Report coverage and utilization separately — they fail differently</a:t>
            </a:r>
            <a:endParaRPr lang="en-US" sz="1250" dirty="0"/>
          </a:p>
        </p:txBody>
      </p:sp>
      <p:sp>
        <p:nvSpPr>
          <p:cNvPr id="23" name="Shape 19"/>
          <p:cNvSpPr/>
          <p:nvPr/>
        </p:nvSpPr>
        <p:spPr>
          <a:xfrm>
            <a:off x="6574536" y="4334256"/>
            <a:ext cx="100584" cy="100584"/>
          </a:xfrm>
          <a:prstGeom prst="ellipse">
            <a:avLst/>
          </a:prstGeom>
          <a:solidFill>
            <a:srgbClr val="B87B18"/>
          </a:solidFill>
          <a:ln/>
        </p:spPr>
      </p:sp>
      <p:sp>
        <p:nvSpPr>
          <p:cNvPr id="24" name="Text 20"/>
          <p:cNvSpPr/>
          <p:nvPr/>
        </p:nvSpPr>
        <p:spPr>
          <a:xfrm>
            <a:off x="6812280" y="4206240"/>
            <a:ext cx="4517136" cy="512064"/>
          </a:xfrm>
          <a:prstGeom prst="rect">
            <a:avLst/>
          </a:prstGeom>
          <a:noFill/>
          <a:ln/>
        </p:spPr>
        <p:txBody>
          <a:bodyPr wrap="square" lIns="0" tIns="0" rIns="0" bIns="0" rtlCol="0" anchor="t"/>
          <a:lstStyle/>
          <a:p>
            <a:pPr indent="0" marL="0">
              <a:lnSpc>
                <a:spcPts val="1600"/>
              </a:lnSpc>
              <a:buNone/>
            </a:pPr>
            <a:r>
              <a:rPr lang="en-US" sz="1250" dirty="0">
                <a:solidFill>
                  <a:srgbClr val="1B2430"/>
                </a:solidFill>
                <a:latin typeface="Calibri" pitchFamily="34" charset="0"/>
                <a:ea typeface="Calibri" pitchFamily="34" charset="-122"/>
                <a:cs typeface="Calibri" pitchFamily="34" charset="-120"/>
              </a:rPr>
              <a:t>Show list and discounted price, and attribute the saving to who earned it</a:t>
            </a:r>
            <a:endParaRPr lang="en-US" sz="1250" dirty="0"/>
          </a:p>
        </p:txBody>
      </p:sp>
      <p:sp>
        <p:nvSpPr>
          <p:cNvPr id="25" name="Shape 21"/>
          <p:cNvSpPr/>
          <p:nvPr/>
        </p:nvSpPr>
        <p:spPr>
          <a:xfrm>
            <a:off x="6574536" y="4882896"/>
            <a:ext cx="100584" cy="100584"/>
          </a:xfrm>
          <a:prstGeom prst="ellipse">
            <a:avLst/>
          </a:prstGeom>
          <a:solidFill>
            <a:srgbClr val="B87B18"/>
          </a:solidFill>
          <a:ln/>
        </p:spPr>
      </p:sp>
      <p:sp>
        <p:nvSpPr>
          <p:cNvPr id="26" name="Text 22"/>
          <p:cNvSpPr/>
          <p:nvPr/>
        </p:nvSpPr>
        <p:spPr>
          <a:xfrm>
            <a:off x="6812280" y="4754880"/>
            <a:ext cx="4517136" cy="512064"/>
          </a:xfrm>
          <a:prstGeom prst="rect">
            <a:avLst/>
          </a:prstGeom>
          <a:noFill/>
          <a:ln/>
        </p:spPr>
        <p:txBody>
          <a:bodyPr wrap="square" lIns="0" tIns="0" rIns="0" bIns="0" rtlCol="0" anchor="t"/>
          <a:lstStyle/>
          <a:p>
            <a:pPr indent="0" marL="0">
              <a:lnSpc>
                <a:spcPts val="1600"/>
              </a:lnSpc>
              <a:buNone/>
            </a:pPr>
            <a:r>
              <a:rPr lang="en-US" sz="1250" dirty="0">
                <a:solidFill>
                  <a:srgbClr val="1B2430"/>
                </a:solidFill>
                <a:latin typeface="Calibri" pitchFamily="34" charset="0"/>
                <a:ea typeface="Calibri" pitchFamily="34" charset="-122"/>
                <a:cs typeface="Calibri" pitchFamily="34" charset="-120"/>
              </a:rPr>
              <a:t>An unused commitment is prepaid waste, invisible on a list-price report</a:t>
            </a:r>
            <a:endParaRPr lang="en-US" sz="1250" dirty="0"/>
          </a:p>
        </p:txBody>
      </p:sp>
      <p:sp>
        <p:nvSpPr>
          <p:cNvPr id="27" name="Shape 23"/>
          <p:cNvSpPr/>
          <p:nvPr/>
        </p:nvSpPr>
        <p:spPr>
          <a:xfrm>
            <a:off x="548640" y="5577840"/>
            <a:ext cx="11091672" cy="1005840"/>
          </a:xfrm>
          <a:prstGeom prst="roundRect">
            <a:avLst>
              <a:gd name="adj" fmla="val 8182"/>
            </a:avLst>
          </a:prstGeom>
          <a:solidFill>
            <a:srgbClr val="1F2936"/>
          </a:solidFill>
          <a:ln/>
          <a:effectLst>
            <a:outerShdw sx="100000" sy="100000" kx="0" ky="0" algn="bl" rotWithShape="0" blurRad="127000" dist="25400" dir="5400000">
              <a:srgbClr val="8C99A8">
                <a:alpha val="16000"/>
              </a:srgbClr>
            </a:outerShdw>
          </a:effectLst>
        </p:spPr>
      </p:sp>
      <p:sp>
        <p:nvSpPr>
          <p:cNvPr id="28" name="Text 24"/>
          <p:cNvSpPr/>
          <p:nvPr/>
        </p:nvSpPr>
        <p:spPr>
          <a:xfrm>
            <a:off x="877824" y="5577840"/>
            <a:ext cx="10424160" cy="1005840"/>
          </a:xfrm>
          <a:prstGeom prst="rect">
            <a:avLst/>
          </a:prstGeom>
          <a:noFill/>
          <a:ln/>
        </p:spPr>
        <p:txBody>
          <a:bodyPr wrap="square" lIns="0" tIns="0" rIns="0" bIns="0" rtlCol="0" anchor="ctr"/>
          <a:lstStyle/>
          <a:p>
            <a:pPr indent="0" marL="0">
              <a:lnSpc>
                <a:spcPts val="1900"/>
              </a:lnSpc>
              <a:buNone/>
            </a:pPr>
            <a:r>
              <a:rPr lang="en-US" sz="1350" b="1" dirty="0">
                <a:solidFill>
                  <a:srgbClr val="E39B2C"/>
                </a:solidFill>
                <a:latin typeface="Calibri" pitchFamily="34" charset="0"/>
                <a:ea typeface="Calibri" pitchFamily="34" charset="-122"/>
                <a:cs typeface="Calibri" pitchFamily="34" charset="-120"/>
              </a:rPr>
              <a:t>Start with showback either way. </a:t>
            </a:r>
            <a:pPr indent="0" marL="0">
              <a:lnSpc>
                <a:spcPts val="1900"/>
              </a:lnSpc>
              <a:buNone/>
            </a:pPr>
            <a:r>
              <a:rPr lang="en-US" sz="1350" dirty="0">
                <a:solidFill>
                  <a:srgbClr val="9EABBA"/>
                </a:solidFill>
                <a:latin typeface="Calibri" pitchFamily="34" charset="0"/>
                <a:ea typeface="Calibri" pitchFamily="34" charset="-122"/>
                <a:cs typeface="Calibri" pitchFamily="34" charset="-120"/>
              </a:rPr>
              <a:t>Report each team's share for four to six weeks with nothing charged. It surfaces the allocation disputes while the stakes are low — then chargeback becomes a date rather than an argument.</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WHAT A PROJECT ACTUALLY COSTS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The model is one line on a longer bill</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An AI feature is quoted at its token cost. It runs on a stack that bills every month regardless.</a:t>
            </a:r>
            <a:endParaRPr lang="en-US" sz="1500" dirty="0"/>
          </a:p>
        </p:txBody>
      </p:sp>
      <p:sp>
        <p:nvSpPr>
          <p:cNvPr id="5" name="Shape 3"/>
          <p:cNvSpPr/>
          <p:nvPr/>
        </p:nvSpPr>
        <p:spPr>
          <a:xfrm>
            <a:off x="548640" y="2103120"/>
            <a:ext cx="5029200" cy="3703320"/>
          </a:xfrm>
          <a:prstGeom prst="roundRect">
            <a:avLst>
              <a:gd name="adj" fmla="val 2222"/>
            </a:avLst>
          </a:prstGeom>
          <a:solidFill>
            <a:srgbClr val="F1F3F6"/>
          </a:solidFill>
          <a:ln/>
        </p:spPr>
      </p:sp>
      <p:sp>
        <p:nvSpPr>
          <p:cNvPr id="6" name="Text 4"/>
          <p:cNvSpPr/>
          <p:nvPr/>
        </p:nvSpPr>
        <p:spPr>
          <a:xfrm>
            <a:off x="859536" y="2267712"/>
            <a:ext cx="438912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One project, billed in parts</a:t>
            </a:r>
            <a:endParaRPr lang="en-US" sz="1200" dirty="0"/>
          </a:p>
        </p:txBody>
      </p:sp>
      <p:sp>
        <p:nvSpPr>
          <p:cNvPr id="7" name="Shape 5"/>
          <p:cNvSpPr/>
          <p:nvPr/>
        </p:nvSpPr>
        <p:spPr>
          <a:xfrm>
            <a:off x="859536" y="2724912"/>
            <a:ext cx="91440" cy="292608"/>
          </a:xfrm>
          <a:prstGeom prst="roundRect">
            <a:avLst>
              <a:gd name="adj" fmla="val 50000"/>
            </a:avLst>
          </a:prstGeom>
          <a:solidFill>
            <a:srgbClr val="E39B2C"/>
          </a:solidFill>
          <a:ln/>
        </p:spPr>
      </p:sp>
      <p:sp>
        <p:nvSpPr>
          <p:cNvPr id="8" name="Text 6"/>
          <p:cNvSpPr/>
          <p:nvPr/>
        </p:nvSpPr>
        <p:spPr>
          <a:xfrm>
            <a:off x="1078992" y="2651760"/>
            <a:ext cx="4480560" cy="420624"/>
          </a:xfrm>
          <a:prstGeom prst="rect">
            <a:avLst/>
          </a:prstGeom>
          <a:noFill/>
          <a:ln/>
        </p:spPr>
        <p:txBody>
          <a:bodyPr wrap="square" lIns="0" tIns="0" rIns="0" bIns="0" rtlCol="0" anchor="ctr"/>
          <a:lstStyle/>
          <a:p>
            <a:pPr indent="0" marL="0">
              <a:buNone/>
            </a:pPr>
            <a:r>
              <a:rPr lang="en-US" sz="1250" b="1" dirty="0">
                <a:solidFill>
                  <a:srgbClr val="6B4A0E"/>
                </a:solidFill>
                <a:latin typeface="Calibri" pitchFamily="34" charset="0"/>
                <a:ea typeface="Calibri" pitchFamily="34" charset="-122"/>
                <a:cs typeface="Calibri" pitchFamily="34" charset="-120"/>
              </a:rPr>
              <a:t>Model / token spend   </a:t>
            </a:r>
            <a:pPr indent="0" marL="0">
              <a:buNone/>
            </a:pPr>
            <a:r>
              <a:rPr lang="en-US" sz="1250" dirty="0">
                <a:solidFill>
                  <a:srgbClr val="5C6675"/>
                </a:solidFill>
                <a:latin typeface="Calibri" pitchFamily="34" charset="0"/>
                <a:ea typeface="Calibri" pitchFamily="34" charset="-122"/>
                <a:cs typeface="Calibri" pitchFamily="34" charset="-120"/>
              </a:rPr>
              <a:t>the line everyone quotes</a:t>
            </a:r>
            <a:endParaRPr lang="en-US" sz="1250" dirty="0"/>
          </a:p>
        </p:txBody>
      </p:sp>
      <p:sp>
        <p:nvSpPr>
          <p:cNvPr id="9" name="Shape 7"/>
          <p:cNvSpPr/>
          <p:nvPr/>
        </p:nvSpPr>
        <p:spPr>
          <a:xfrm>
            <a:off x="859536" y="3154680"/>
            <a:ext cx="91440" cy="292608"/>
          </a:xfrm>
          <a:prstGeom prst="roundRect">
            <a:avLst>
              <a:gd name="adj" fmla="val 50000"/>
            </a:avLst>
          </a:prstGeom>
          <a:solidFill>
            <a:srgbClr val="6E7A88"/>
          </a:solidFill>
          <a:ln/>
        </p:spPr>
      </p:sp>
      <p:sp>
        <p:nvSpPr>
          <p:cNvPr id="10" name="Text 8"/>
          <p:cNvSpPr/>
          <p:nvPr/>
        </p:nvSpPr>
        <p:spPr>
          <a:xfrm>
            <a:off x="1078992" y="3081528"/>
            <a:ext cx="4480560" cy="420624"/>
          </a:xfrm>
          <a:prstGeom prst="rect">
            <a:avLst/>
          </a:prstGeom>
          <a:noFill/>
          <a:ln/>
        </p:spPr>
        <p:txBody>
          <a:bodyPr wrap="square" lIns="0" tIns="0" rIns="0" bIns="0" rtlCol="0" anchor="ctr"/>
          <a:lstStyle/>
          <a:p>
            <a:pPr indent="0" marL="0">
              <a:buNone/>
            </a:pPr>
            <a:r>
              <a:rPr lang="en-US" sz="1250" b="1" dirty="0">
                <a:solidFill>
                  <a:srgbClr val="1B2430"/>
                </a:solidFill>
                <a:latin typeface="Calibri" pitchFamily="34" charset="0"/>
                <a:ea typeface="Calibri" pitchFamily="34" charset="-122"/>
                <a:cs typeface="Calibri" pitchFamily="34" charset="-120"/>
              </a:rPr>
              <a:t>Compute   </a:t>
            </a:r>
            <a:pPr indent="0" marL="0">
              <a:buNone/>
            </a:pPr>
            <a:r>
              <a:rPr lang="en-US" sz="1250" dirty="0">
                <a:solidFill>
                  <a:srgbClr val="5C6675"/>
                </a:solidFill>
                <a:latin typeface="Calibri" pitchFamily="34" charset="0"/>
                <a:ea typeface="Calibri" pitchFamily="34" charset="-122"/>
                <a:cs typeface="Calibri" pitchFamily="34" charset="-120"/>
              </a:rPr>
              <a:t>app services, containers, nodes</a:t>
            </a:r>
            <a:endParaRPr lang="en-US" sz="1250" dirty="0"/>
          </a:p>
        </p:txBody>
      </p:sp>
      <p:sp>
        <p:nvSpPr>
          <p:cNvPr id="11" name="Shape 9"/>
          <p:cNvSpPr/>
          <p:nvPr/>
        </p:nvSpPr>
        <p:spPr>
          <a:xfrm>
            <a:off x="859536" y="3584448"/>
            <a:ext cx="91440" cy="292608"/>
          </a:xfrm>
          <a:prstGeom prst="roundRect">
            <a:avLst>
              <a:gd name="adj" fmla="val 50000"/>
            </a:avLst>
          </a:prstGeom>
          <a:solidFill>
            <a:srgbClr val="6E7A88"/>
          </a:solidFill>
          <a:ln/>
        </p:spPr>
      </p:sp>
      <p:sp>
        <p:nvSpPr>
          <p:cNvPr id="12" name="Text 10"/>
          <p:cNvSpPr/>
          <p:nvPr/>
        </p:nvSpPr>
        <p:spPr>
          <a:xfrm>
            <a:off x="1078992" y="3511296"/>
            <a:ext cx="4480560" cy="420624"/>
          </a:xfrm>
          <a:prstGeom prst="rect">
            <a:avLst/>
          </a:prstGeom>
          <a:noFill/>
          <a:ln/>
        </p:spPr>
        <p:txBody>
          <a:bodyPr wrap="square" lIns="0" tIns="0" rIns="0" bIns="0" rtlCol="0" anchor="ctr"/>
          <a:lstStyle/>
          <a:p>
            <a:pPr indent="0" marL="0">
              <a:buNone/>
            </a:pPr>
            <a:r>
              <a:rPr lang="en-US" sz="1250" b="1" dirty="0">
                <a:solidFill>
                  <a:srgbClr val="1B2430"/>
                </a:solidFill>
                <a:latin typeface="Calibri" pitchFamily="34" charset="0"/>
                <a:ea typeface="Calibri" pitchFamily="34" charset="-122"/>
                <a:cs typeface="Calibri" pitchFamily="34" charset="-120"/>
              </a:rPr>
              <a:t>Databases   </a:t>
            </a:r>
            <a:pPr indent="0" marL="0">
              <a:buNone/>
            </a:pPr>
            <a:r>
              <a:rPr lang="en-US" sz="1250" dirty="0">
                <a:solidFill>
                  <a:srgbClr val="5C6675"/>
                </a:solidFill>
                <a:latin typeface="Calibri" pitchFamily="34" charset="0"/>
                <a:ea typeface="Calibri" pitchFamily="34" charset="-122"/>
                <a:cs typeface="Calibri" pitchFamily="34" charset="-120"/>
              </a:rPr>
              <a:t>SQL, Cosmos, managed Postgres</a:t>
            </a:r>
            <a:endParaRPr lang="en-US" sz="1250" dirty="0"/>
          </a:p>
        </p:txBody>
      </p:sp>
      <p:sp>
        <p:nvSpPr>
          <p:cNvPr id="13" name="Shape 11"/>
          <p:cNvSpPr/>
          <p:nvPr/>
        </p:nvSpPr>
        <p:spPr>
          <a:xfrm>
            <a:off x="859536" y="4014216"/>
            <a:ext cx="91440" cy="292608"/>
          </a:xfrm>
          <a:prstGeom prst="roundRect">
            <a:avLst>
              <a:gd name="adj" fmla="val 50000"/>
            </a:avLst>
          </a:prstGeom>
          <a:solidFill>
            <a:srgbClr val="6E7A88"/>
          </a:solidFill>
          <a:ln/>
        </p:spPr>
      </p:sp>
      <p:sp>
        <p:nvSpPr>
          <p:cNvPr id="14" name="Text 12"/>
          <p:cNvSpPr/>
          <p:nvPr/>
        </p:nvSpPr>
        <p:spPr>
          <a:xfrm>
            <a:off x="1078992" y="3941064"/>
            <a:ext cx="4480560" cy="420624"/>
          </a:xfrm>
          <a:prstGeom prst="rect">
            <a:avLst/>
          </a:prstGeom>
          <a:noFill/>
          <a:ln/>
        </p:spPr>
        <p:txBody>
          <a:bodyPr wrap="square" lIns="0" tIns="0" rIns="0" bIns="0" rtlCol="0" anchor="ctr"/>
          <a:lstStyle/>
          <a:p>
            <a:pPr indent="0" marL="0">
              <a:buNone/>
            </a:pPr>
            <a:r>
              <a:rPr lang="en-US" sz="1250" b="1" dirty="0">
                <a:solidFill>
                  <a:srgbClr val="1B2430"/>
                </a:solidFill>
                <a:latin typeface="Calibri" pitchFamily="34" charset="0"/>
                <a:ea typeface="Calibri" pitchFamily="34" charset="-122"/>
                <a:cs typeface="Calibri" pitchFamily="34" charset="-120"/>
              </a:rPr>
              <a:t>Cache &amp; queues   </a:t>
            </a:r>
            <a:pPr indent="0" marL="0">
              <a:buNone/>
            </a:pPr>
            <a:r>
              <a:rPr lang="en-US" sz="1250" dirty="0">
                <a:solidFill>
                  <a:srgbClr val="5C6675"/>
                </a:solidFill>
                <a:latin typeface="Calibri" pitchFamily="34" charset="0"/>
                <a:ea typeface="Calibri" pitchFamily="34" charset="-122"/>
                <a:cs typeface="Calibri" pitchFamily="34" charset="-120"/>
              </a:rPr>
              <a:t>Redis, Service Bus, event hubs</a:t>
            </a:r>
            <a:endParaRPr lang="en-US" sz="1250" dirty="0"/>
          </a:p>
        </p:txBody>
      </p:sp>
      <p:sp>
        <p:nvSpPr>
          <p:cNvPr id="15" name="Shape 13"/>
          <p:cNvSpPr/>
          <p:nvPr/>
        </p:nvSpPr>
        <p:spPr>
          <a:xfrm>
            <a:off x="859536" y="4443984"/>
            <a:ext cx="91440" cy="292608"/>
          </a:xfrm>
          <a:prstGeom prst="roundRect">
            <a:avLst>
              <a:gd name="adj" fmla="val 50000"/>
            </a:avLst>
          </a:prstGeom>
          <a:solidFill>
            <a:srgbClr val="6E7A88"/>
          </a:solidFill>
          <a:ln/>
        </p:spPr>
      </p:sp>
      <p:sp>
        <p:nvSpPr>
          <p:cNvPr id="16" name="Text 14"/>
          <p:cNvSpPr/>
          <p:nvPr/>
        </p:nvSpPr>
        <p:spPr>
          <a:xfrm>
            <a:off x="1078992" y="4370832"/>
            <a:ext cx="4480560" cy="420624"/>
          </a:xfrm>
          <a:prstGeom prst="rect">
            <a:avLst/>
          </a:prstGeom>
          <a:noFill/>
          <a:ln/>
        </p:spPr>
        <p:txBody>
          <a:bodyPr wrap="square" lIns="0" tIns="0" rIns="0" bIns="0" rtlCol="0" anchor="ctr"/>
          <a:lstStyle/>
          <a:p>
            <a:pPr indent="0" marL="0">
              <a:buNone/>
            </a:pPr>
            <a:r>
              <a:rPr lang="en-US" sz="1250" b="1" dirty="0">
                <a:solidFill>
                  <a:srgbClr val="1B2430"/>
                </a:solidFill>
                <a:latin typeface="Calibri" pitchFamily="34" charset="0"/>
                <a:ea typeface="Calibri" pitchFamily="34" charset="-122"/>
                <a:cs typeface="Calibri" pitchFamily="34" charset="-120"/>
              </a:rPr>
              <a:t>Storage &amp; backup   </a:t>
            </a:r>
            <a:pPr indent="0" marL="0">
              <a:buNone/>
            </a:pPr>
            <a:r>
              <a:rPr lang="en-US" sz="1250" dirty="0">
                <a:solidFill>
                  <a:srgbClr val="5C6675"/>
                </a:solidFill>
                <a:latin typeface="Calibri" pitchFamily="34" charset="0"/>
                <a:ea typeface="Calibri" pitchFamily="34" charset="-122"/>
                <a:cs typeface="Calibri" pitchFamily="34" charset="-120"/>
              </a:rPr>
              <a:t>documents, embeddings, retention</a:t>
            </a:r>
            <a:endParaRPr lang="en-US" sz="1250" dirty="0"/>
          </a:p>
        </p:txBody>
      </p:sp>
      <p:sp>
        <p:nvSpPr>
          <p:cNvPr id="17" name="Shape 15"/>
          <p:cNvSpPr/>
          <p:nvPr/>
        </p:nvSpPr>
        <p:spPr>
          <a:xfrm>
            <a:off x="859536" y="4873752"/>
            <a:ext cx="91440" cy="292608"/>
          </a:xfrm>
          <a:prstGeom prst="roundRect">
            <a:avLst>
              <a:gd name="adj" fmla="val 50000"/>
            </a:avLst>
          </a:prstGeom>
          <a:solidFill>
            <a:srgbClr val="6E7A88"/>
          </a:solidFill>
          <a:ln/>
        </p:spPr>
      </p:sp>
      <p:sp>
        <p:nvSpPr>
          <p:cNvPr id="18" name="Text 16"/>
          <p:cNvSpPr/>
          <p:nvPr/>
        </p:nvSpPr>
        <p:spPr>
          <a:xfrm>
            <a:off x="1078992" y="4800600"/>
            <a:ext cx="4480560" cy="420624"/>
          </a:xfrm>
          <a:prstGeom prst="rect">
            <a:avLst/>
          </a:prstGeom>
          <a:noFill/>
          <a:ln/>
        </p:spPr>
        <p:txBody>
          <a:bodyPr wrap="square" lIns="0" tIns="0" rIns="0" bIns="0" rtlCol="0" anchor="ctr"/>
          <a:lstStyle/>
          <a:p>
            <a:pPr indent="0" marL="0">
              <a:buNone/>
            </a:pPr>
            <a:r>
              <a:rPr lang="en-US" sz="1250" b="1" dirty="0">
                <a:solidFill>
                  <a:srgbClr val="1B2430"/>
                </a:solidFill>
                <a:latin typeface="Calibri" pitchFamily="34" charset="0"/>
                <a:ea typeface="Calibri" pitchFamily="34" charset="-122"/>
                <a:cs typeface="Calibri" pitchFamily="34" charset="-120"/>
              </a:rPr>
              <a:t>Network &amp; gateway   </a:t>
            </a:r>
            <a:pPr indent="0" marL="0">
              <a:buNone/>
            </a:pPr>
            <a:r>
              <a:rPr lang="en-US" sz="1250" dirty="0">
                <a:solidFill>
                  <a:srgbClr val="5C6675"/>
                </a:solidFill>
                <a:latin typeface="Calibri" pitchFamily="34" charset="0"/>
                <a:ea typeface="Calibri" pitchFamily="34" charset="-122"/>
                <a:cs typeface="Calibri" pitchFamily="34" charset="-120"/>
              </a:rPr>
              <a:t>egress, private endpoints, APIM</a:t>
            </a:r>
            <a:endParaRPr lang="en-US" sz="1250" dirty="0"/>
          </a:p>
        </p:txBody>
      </p:sp>
      <p:sp>
        <p:nvSpPr>
          <p:cNvPr id="19" name="Shape 17"/>
          <p:cNvSpPr/>
          <p:nvPr/>
        </p:nvSpPr>
        <p:spPr>
          <a:xfrm>
            <a:off x="859536" y="5303520"/>
            <a:ext cx="91440" cy="292608"/>
          </a:xfrm>
          <a:prstGeom prst="roundRect">
            <a:avLst>
              <a:gd name="adj" fmla="val 50000"/>
            </a:avLst>
          </a:prstGeom>
          <a:solidFill>
            <a:srgbClr val="6E7A88"/>
          </a:solidFill>
          <a:ln/>
        </p:spPr>
      </p:sp>
      <p:sp>
        <p:nvSpPr>
          <p:cNvPr id="20" name="Text 18"/>
          <p:cNvSpPr/>
          <p:nvPr/>
        </p:nvSpPr>
        <p:spPr>
          <a:xfrm>
            <a:off x="1078992" y="5230368"/>
            <a:ext cx="4480560" cy="420624"/>
          </a:xfrm>
          <a:prstGeom prst="rect">
            <a:avLst/>
          </a:prstGeom>
          <a:noFill/>
          <a:ln/>
        </p:spPr>
        <p:txBody>
          <a:bodyPr wrap="square" lIns="0" tIns="0" rIns="0" bIns="0" rtlCol="0" anchor="ctr"/>
          <a:lstStyle/>
          <a:p>
            <a:pPr indent="0" marL="0">
              <a:buNone/>
            </a:pPr>
            <a:r>
              <a:rPr lang="en-US" sz="1250" b="1" dirty="0">
                <a:solidFill>
                  <a:srgbClr val="1B2430"/>
                </a:solidFill>
                <a:latin typeface="Calibri" pitchFamily="34" charset="0"/>
                <a:ea typeface="Calibri" pitchFamily="34" charset="-122"/>
                <a:cs typeface="Calibri" pitchFamily="34" charset="-120"/>
              </a:rPr>
              <a:t>Observability   </a:t>
            </a:r>
            <a:pPr indent="0" marL="0">
              <a:buNone/>
            </a:pPr>
            <a:r>
              <a:rPr lang="en-US" sz="1250" dirty="0">
                <a:solidFill>
                  <a:srgbClr val="5C6675"/>
                </a:solidFill>
                <a:latin typeface="Calibri" pitchFamily="34" charset="0"/>
                <a:ea typeface="Calibri" pitchFamily="34" charset="-122"/>
                <a:cs typeface="Calibri" pitchFamily="34" charset="-120"/>
              </a:rPr>
              <a:t>log and metric ingestion, retention</a:t>
            </a:r>
            <a:endParaRPr lang="en-US" sz="1250" dirty="0"/>
          </a:p>
        </p:txBody>
      </p:sp>
      <p:sp>
        <p:nvSpPr>
          <p:cNvPr id="21" name="Shape 19"/>
          <p:cNvSpPr/>
          <p:nvPr/>
        </p:nvSpPr>
        <p:spPr>
          <a:xfrm>
            <a:off x="5943600" y="2103120"/>
            <a:ext cx="5696712" cy="1755648"/>
          </a:xfrm>
          <a:prstGeom prst="roundRect">
            <a:avLst>
              <a:gd name="adj" fmla="val 4688"/>
            </a:avLst>
          </a:prstGeom>
          <a:solidFill>
            <a:srgbClr val="1F2936"/>
          </a:solidFill>
          <a:ln/>
          <a:effectLst>
            <a:outerShdw sx="100000" sy="100000" kx="0" ky="0" algn="bl" rotWithShape="0" blurRad="127000" dist="25400" dir="5400000">
              <a:srgbClr val="8C99A8">
                <a:alpha val="16000"/>
              </a:srgbClr>
            </a:outerShdw>
          </a:effectLst>
        </p:spPr>
      </p:sp>
      <p:sp>
        <p:nvSpPr>
          <p:cNvPr id="22" name="Text 20"/>
          <p:cNvSpPr/>
          <p:nvPr/>
        </p:nvSpPr>
        <p:spPr>
          <a:xfrm>
            <a:off x="6254496" y="2267712"/>
            <a:ext cx="5029200" cy="292608"/>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What gets left out of the estimate</a:t>
            </a:r>
            <a:endParaRPr lang="en-US" sz="1200" dirty="0"/>
          </a:p>
        </p:txBody>
      </p:sp>
      <p:sp>
        <p:nvSpPr>
          <p:cNvPr id="23" name="Shape 21"/>
          <p:cNvSpPr/>
          <p:nvPr/>
        </p:nvSpPr>
        <p:spPr>
          <a:xfrm>
            <a:off x="6272784" y="2724912"/>
            <a:ext cx="91440" cy="91440"/>
          </a:xfrm>
          <a:prstGeom prst="ellipse">
            <a:avLst/>
          </a:prstGeom>
          <a:solidFill>
            <a:srgbClr val="E39B2C"/>
          </a:solidFill>
          <a:ln/>
        </p:spPr>
      </p:sp>
      <p:sp>
        <p:nvSpPr>
          <p:cNvPr id="24" name="Text 22"/>
          <p:cNvSpPr/>
          <p:nvPr/>
        </p:nvSpPr>
        <p:spPr>
          <a:xfrm>
            <a:off x="6492240" y="2615184"/>
            <a:ext cx="4937760" cy="310896"/>
          </a:xfrm>
          <a:prstGeom prst="rect">
            <a:avLst/>
          </a:prstGeom>
          <a:noFill/>
          <a:ln/>
        </p:spPr>
        <p:txBody>
          <a:bodyPr wrap="square" lIns="0" tIns="0" rIns="0" bIns="0" rtlCol="0" anchor="ctr"/>
          <a:lstStyle/>
          <a:p>
            <a:pPr indent="0" marL="0">
              <a:buNone/>
            </a:pPr>
            <a:r>
              <a:rPr lang="en-US" sz="1250" dirty="0">
                <a:solidFill>
                  <a:srgbClr val="9EABBA"/>
                </a:solidFill>
                <a:latin typeface="Calibri" pitchFamily="34" charset="0"/>
                <a:ea typeface="Calibri" pitchFamily="34" charset="-122"/>
                <a:cs typeface="Calibri" pitchFamily="34" charset="-120"/>
              </a:rPr>
              <a:t>Non-production copies that never switch off</a:t>
            </a:r>
            <a:endParaRPr lang="en-US" sz="1250" dirty="0"/>
          </a:p>
        </p:txBody>
      </p:sp>
      <p:sp>
        <p:nvSpPr>
          <p:cNvPr id="25" name="Shape 23"/>
          <p:cNvSpPr/>
          <p:nvPr/>
        </p:nvSpPr>
        <p:spPr>
          <a:xfrm>
            <a:off x="6272784" y="3035808"/>
            <a:ext cx="91440" cy="91440"/>
          </a:xfrm>
          <a:prstGeom prst="ellipse">
            <a:avLst/>
          </a:prstGeom>
          <a:solidFill>
            <a:srgbClr val="E39B2C"/>
          </a:solidFill>
          <a:ln/>
        </p:spPr>
      </p:sp>
      <p:sp>
        <p:nvSpPr>
          <p:cNvPr id="26" name="Text 24"/>
          <p:cNvSpPr/>
          <p:nvPr/>
        </p:nvSpPr>
        <p:spPr>
          <a:xfrm>
            <a:off x="6492240" y="2926080"/>
            <a:ext cx="4937760" cy="310896"/>
          </a:xfrm>
          <a:prstGeom prst="rect">
            <a:avLst/>
          </a:prstGeom>
          <a:noFill/>
          <a:ln/>
        </p:spPr>
        <p:txBody>
          <a:bodyPr wrap="square" lIns="0" tIns="0" rIns="0" bIns="0" rtlCol="0" anchor="ctr"/>
          <a:lstStyle/>
          <a:p>
            <a:pPr indent="0" marL="0">
              <a:buNone/>
            </a:pPr>
            <a:r>
              <a:rPr lang="en-US" sz="1250" dirty="0">
                <a:solidFill>
                  <a:srgbClr val="9EABBA"/>
                </a:solidFill>
                <a:latin typeface="Calibri" pitchFamily="34" charset="0"/>
                <a:ea typeface="Calibri" pitchFamily="34" charset="-122"/>
                <a:cs typeface="Calibri" pitchFamily="34" charset="-120"/>
              </a:rPr>
              <a:t>Log and trace ingestion, which scales with traffic</a:t>
            </a:r>
            <a:endParaRPr lang="en-US" sz="1250" dirty="0"/>
          </a:p>
        </p:txBody>
      </p:sp>
      <p:sp>
        <p:nvSpPr>
          <p:cNvPr id="27" name="Shape 25"/>
          <p:cNvSpPr/>
          <p:nvPr/>
        </p:nvSpPr>
        <p:spPr>
          <a:xfrm>
            <a:off x="6272784" y="3346704"/>
            <a:ext cx="91440" cy="91440"/>
          </a:xfrm>
          <a:prstGeom prst="ellipse">
            <a:avLst/>
          </a:prstGeom>
          <a:solidFill>
            <a:srgbClr val="E39B2C"/>
          </a:solidFill>
          <a:ln/>
        </p:spPr>
      </p:sp>
      <p:sp>
        <p:nvSpPr>
          <p:cNvPr id="28" name="Text 26"/>
          <p:cNvSpPr/>
          <p:nvPr/>
        </p:nvSpPr>
        <p:spPr>
          <a:xfrm>
            <a:off x="6492240" y="3236976"/>
            <a:ext cx="4937760" cy="310896"/>
          </a:xfrm>
          <a:prstGeom prst="rect">
            <a:avLst/>
          </a:prstGeom>
          <a:noFill/>
          <a:ln/>
        </p:spPr>
        <p:txBody>
          <a:bodyPr wrap="square" lIns="0" tIns="0" rIns="0" bIns="0" rtlCol="0" anchor="ctr"/>
          <a:lstStyle/>
          <a:p>
            <a:pPr indent="0" marL="0">
              <a:buNone/>
            </a:pPr>
            <a:r>
              <a:rPr lang="en-US" sz="1250" dirty="0">
                <a:solidFill>
                  <a:srgbClr val="9EABBA"/>
                </a:solidFill>
                <a:latin typeface="Calibri" pitchFamily="34" charset="0"/>
                <a:ea typeface="Calibri" pitchFamily="34" charset="-122"/>
                <a:cs typeface="Calibri" pitchFamily="34" charset="-120"/>
              </a:rPr>
              <a:t>Egress and cross-region calls between the parts</a:t>
            </a:r>
            <a:endParaRPr lang="en-US" sz="1250" dirty="0"/>
          </a:p>
        </p:txBody>
      </p:sp>
      <p:sp>
        <p:nvSpPr>
          <p:cNvPr id="29" name="Shape 27"/>
          <p:cNvSpPr/>
          <p:nvPr/>
        </p:nvSpPr>
        <p:spPr>
          <a:xfrm>
            <a:off x="6272784" y="3657600"/>
            <a:ext cx="91440" cy="91440"/>
          </a:xfrm>
          <a:prstGeom prst="ellipse">
            <a:avLst/>
          </a:prstGeom>
          <a:solidFill>
            <a:srgbClr val="E39B2C"/>
          </a:solidFill>
          <a:ln/>
        </p:spPr>
      </p:sp>
      <p:sp>
        <p:nvSpPr>
          <p:cNvPr id="30" name="Text 28"/>
          <p:cNvSpPr/>
          <p:nvPr/>
        </p:nvSpPr>
        <p:spPr>
          <a:xfrm>
            <a:off x="6492240" y="3547872"/>
            <a:ext cx="4937760" cy="310896"/>
          </a:xfrm>
          <a:prstGeom prst="rect">
            <a:avLst/>
          </a:prstGeom>
          <a:noFill/>
          <a:ln/>
        </p:spPr>
        <p:txBody>
          <a:bodyPr wrap="square" lIns="0" tIns="0" rIns="0" bIns="0" rtlCol="0" anchor="ctr"/>
          <a:lstStyle/>
          <a:p>
            <a:pPr indent="0" marL="0">
              <a:buNone/>
            </a:pPr>
            <a:r>
              <a:rPr lang="en-US" sz="1250" dirty="0">
                <a:solidFill>
                  <a:srgbClr val="9EABBA"/>
                </a:solidFill>
                <a:latin typeface="Calibri" pitchFamily="34" charset="0"/>
                <a:ea typeface="Calibri" pitchFamily="34" charset="-122"/>
                <a:cs typeface="Calibri" pitchFamily="34" charset="-120"/>
              </a:rPr>
              <a:t>Retention — of documents, embeddings and backups</a:t>
            </a:r>
            <a:endParaRPr lang="en-US" sz="1250" dirty="0"/>
          </a:p>
        </p:txBody>
      </p:sp>
      <p:sp>
        <p:nvSpPr>
          <p:cNvPr id="31" name="Shape 29"/>
          <p:cNvSpPr/>
          <p:nvPr/>
        </p:nvSpPr>
        <p:spPr>
          <a:xfrm>
            <a:off x="5943600" y="4041648"/>
            <a:ext cx="5696712" cy="1764792"/>
          </a:xfrm>
          <a:prstGeom prst="roundRect">
            <a:avLst>
              <a:gd name="adj" fmla="val 4663"/>
            </a:avLst>
          </a:prstGeom>
          <a:solidFill>
            <a:srgbClr val="DDEDE9"/>
          </a:solidFill>
          <a:ln/>
        </p:spPr>
      </p:sp>
      <p:sp>
        <p:nvSpPr>
          <p:cNvPr id="32" name="Text 30"/>
          <p:cNvSpPr/>
          <p:nvPr/>
        </p:nvSpPr>
        <p:spPr>
          <a:xfrm>
            <a:off x="6254496" y="4206240"/>
            <a:ext cx="5029200" cy="292608"/>
          </a:xfrm>
          <a:prstGeom prst="rect">
            <a:avLst/>
          </a:prstGeom>
          <a:noFill/>
          <a:ln/>
        </p:spPr>
        <p:txBody>
          <a:bodyPr wrap="square" lIns="0" tIns="0" rIns="0" bIns="0" rtlCol="0" anchor="ctr"/>
          <a:lstStyle/>
          <a:p>
            <a:pPr indent="0" marL="0">
              <a:buNone/>
            </a:pPr>
            <a:r>
              <a:rPr lang="en-US" sz="1200" b="1" spc="180" kern="0" dirty="0">
                <a:solidFill>
                  <a:srgbClr val="1F6B5C"/>
                </a:solidFill>
                <a:latin typeface="Calibri" pitchFamily="34" charset="0"/>
                <a:ea typeface="Calibri" pitchFamily="34" charset="-122"/>
                <a:cs typeface="Calibri" pitchFamily="34" charset="-120"/>
              </a:rPr>
              <a:t>Report the project, not the resource</a:t>
            </a:r>
            <a:endParaRPr lang="en-US" sz="1200" dirty="0"/>
          </a:p>
        </p:txBody>
      </p:sp>
      <p:sp>
        <p:nvSpPr>
          <p:cNvPr id="33" name="Text 31"/>
          <p:cNvSpPr/>
          <p:nvPr/>
        </p:nvSpPr>
        <p:spPr>
          <a:xfrm>
            <a:off x="6254496" y="4535424"/>
            <a:ext cx="5074920" cy="1188720"/>
          </a:xfrm>
          <a:prstGeom prst="rect">
            <a:avLst/>
          </a:prstGeom>
          <a:noFill/>
          <a:ln/>
        </p:spPr>
        <p:txBody>
          <a:bodyPr wrap="square" lIns="0" tIns="0" rIns="0" bIns="0" rtlCol="0" anchor="t"/>
          <a:lstStyle/>
          <a:p>
            <a:pPr indent="0" marL="0">
              <a:lnSpc>
                <a:spcPts val="1800"/>
              </a:lnSpc>
              <a:buNone/>
            </a:pPr>
            <a:r>
              <a:rPr lang="en-US" sz="1300" dirty="0">
                <a:solidFill>
                  <a:srgbClr val="1B2430"/>
                </a:solidFill>
                <a:latin typeface="Calibri" pitchFamily="34" charset="0"/>
                <a:ea typeface="Calibri" pitchFamily="34" charset="-122"/>
                <a:cs typeface="Calibri" pitchFamily="34" charset="-120"/>
              </a:rPr>
              <a:t>One ApplicationID across every resource the project touches, so the review sees a single number and a single owner. Then divide it by the unit that matters — cost per customer, per order, per conversation — and the model share becomes a ratio anyone can argue with.</a:t>
            </a:r>
            <a:endParaRPr lang="en-US" sz="1300" dirty="0"/>
          </a:p>
        </p:txBody>
      </p:sp>
      <p:sp>
        <p:nvSpPr>
          <p:cNvPr id="34" name="Text 32"/>
          <p:cNvSpPr/>
          <p:nvPr/>
        </p:nvSpPr>
        <p:spPr>
          <a:xfrm>
            <a:off x="548640" y="5943600"/>
            <a:ext cx="11091672" cy="457200"/>
          </a:xfrm>
          <a:prstGeom prst="rect">
            <a:avLst/>
          </a:prstGeom>
          <a:noFill/>
          <a:ln/>
        </p:spPr>
        <p:txBody>
          <a:bodyPr wrap="square" lIns="0" tIns="0" rIns="0" bIns="0" rtlCol="0" anchor="ctr"/>
          <a:lstStyle/>
          <a:p>
            <a:pPr indent="0" marL="0">
              <a:buNone/>
            </a:pPr>
            <a:r>
              <a:rPr lang="en-US" sz="1400" i="1" dirty="0">
                <a:solidFill>
                  <a:srgbClr val="5C6675"/>
                </a:solidFill>
                <a:latin typeface="Cambria" pitchFamily="34" charset="0"/>
                <a:ea typeface="Cambria" pitchFamily="34" charset="-122"/>
                <a:cs typeface="Cambria" pitchFamily="34" charset="-120"/>
              </a:rPr>
              <a:t>A project quoted at its model cost alone will be wrong by the size of everything under it — and the surprise arrives at the first full month, not at the pilot.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 THE AI LINE</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AI is repeating the cloud journey, at speed</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The same three failures — no owner, no attribution, no ceiling — arriving on a much shorter clock.</a:t>
            </a:r>
            <a:endParaRPr lang="en-US" sz="1500" dirty="0"/>
          </a:p>
        </p:txBody>
      </p:sp>
      <p:sp>
        <p:nvSpPr>
          <p:cNvPr id="5" name="Shape 3"/>
          <p:cNvSpPr/>
          <p:nvPr/>
        </p:nvSpPr>
        <p:spPr>
          <a:xfrm>
            <a:off x="548640" y="2121408"/>
            <a:ext cx="2587752" cy="2194560"/>
          </a:xfrm>
          <a:prstGeom prst="roundRect">
            <a:avLst>
              <a:gd name="adj" fmla="val 3750"/>
            </a:avLst>
          </a:prstGeom>
          <a:solidFill>
            <a:srgbClr val="F1F3F6"/>
          </a:solidFill>
          <a:ln/>
        </p:spPr>
      </p:sp>
      <p:sp>
        <p:nvSpPr>
          <p:cNvPr id="6" name="Text 4"/>
          <p:cNvSpPr/>
          <p:nvPr/>
        </p:nvSpPr>
        <p:spPr>
          <a:xfrm>
            <a:off x="804672" y="2286000"/>
            <a:ext cx="2103120" cy="640080"/>
          </a:xfrm>
          <a:prstGeom prst="rect">
            <a:avLst/>
          </a:prstGeom>
          <a:noFill/>
          <a:ln/>
        </p:spPr>
        <p:txBody>
          <a:bodyPr wrap="square" lIns="0" tIns="0" rIns="0" bIns="0" rtlCol="0" anchor="ctr"/>
          <a:lstStyle/>
          <a:p>
            <a:pPr indent="0" marL="0">
              <a:buNone/>
            </a:pPr>
            <a:r>
              <a:rPr lang="en-US" sz="3200" b="1" dirty="0">
                <a:solidFill>
                  <a:srgbClr val="A6432F"/>
                </a:solidFill>
                <a:latin typeface="Cambria" pitchFamily="34" charset="0"/>
                <a:ea typeface="Cambria" pitchFamily="34" charset="-122"/>
                <a:cs typeface="Cambria" pitchFamily="34" charset="-120"/>
              </a:rPr>
              <a:t>72%</a:t>
            </a:r>
            <a:endParaRPr lang="en-US" sz="3200" dirty="0"/>
          </a:p>
        </p:txBody>
      </p:sp>
      <p:sp>
        <p:nvSpPr>
          <p:cNvPr id="7" name="Text 5"/>
          <p:cNvSpPr/>
          <p:nvPr/>
        </p:nvSpPr>
        <p:spPr>
          <a:xfrm>
            <a:off x="804672" y="2962656"/>
            <a:ext cx="2103120" cy="777240"/>
          </a:xfrm>
          <a:prstGeom prst="rect">
            <a:avLst/>
          </a:prstGeom>
          <a:noFill/>
          <a:ln/>
        </p:spPr>
        <p:txBody>
          <a:bodyPr wrap="square" lIns="0" tIns="0" rIns="0" bIns="0" rtlCol="0" anchor="t"/>
          <a:lstStyle/>
          <a:p>
            <a:pPr indent="0" marL="0">
              <a:lnSpc>
                <a:spcPts val="1700"/>
              </a:lnSpc>
              <a:buNone/>
            </a:pPr>
            <a:r>
              <a:rPr lang="en-US" sz="1300" dirty="0">
                <a:solidFill>
                  <a:srgbClr val="1B2430"/>
                </a:solidFill>
                <a:latin typeface="Calibri" pitchFamily="34" charset="0"/>
                <a:ea typeface="Calibri" pitchFamily="34" charset="-122"/>
                <a:cs typeface="Calibri" pitchFamily="34" charset="-120"/>
              </a:rPr>
              <a:t>hit an unexpected AI bill in the past year</a:t>
            </a:r>
            <a:endParaRPr lang="en-US" sz="1300" dirty="0"/>
          </a:p>
        </p:txBody>
      </p:sp>
      <p:sp>
        <p:nvSpPr>
          <p:cNvPr id="8" name="Text 6"/>
          <p:cNvSpPr/>
          <p:nvPr/>
        </p:nvSpPr>
        <p:spPr>
          <a:xfrm>
            <a:off x="804672" y="3712464"/>
            <a:ext cx="2103120" cy="512064"/>
          </a:xfrm>
          <a:prstGeom prst="rect">
            <a:avLst/>
          </a:prstGeom>
          <a:noFill/>
          <a:ln/>
        </p:spPr>
        <p:txBody>
          <a:bodyPr wrap="square" lIns="0" tIns="0" rIns="0" bIns="0" rtlCol="0" anchor="t"/>
          <a:lstStyle/>
          <a:p>
            <a:pPr indent="0" marL="0">
              <a:lnSpc>
                <a:spcPts val="1400"/>
              </a:lnSpc>
              <a:buNone/>
            </a:pPr>
            <a:r>
              <a:rPr lang="en-US" sz="1100" dirty="0">
                <a:solidFill>
                  <a:srgbClr val="5C6675"/>
                </a:solidFill>
                <a:latin typeface="Calibri" pitchFamily="34" charset="0"/>
                <a:ea typeface="Calibri" pitchFamily="34" charset="-122"/>
                <a:cs typeface="Calibri" pitchFamily="34" charset="-120"/>
              </a:rPr>
              <a:t>One in three, more than once.</a:t>
            </a:r>
            <a:endParaRPr lang="en-US" sz="1100" dirty="0"/>
          </a:p>
        </p:txBody>
      </p:sp>
      <p:sp>
        <p:nvSpPr>
          <p:cNvPr id="9" name="Shape 7"/>
          <p:cNvSpPr/>
          <p:nvPr/>
        </p:nvSpPr>
        <p:spPr>
          <a:xfrm>
            <a:off x="3383280" y="2121408"/>
            <a:ext cx="2587752" cy="2194560"/>
          </a:xfrm>
          <a:prstGeom prst="roundRect">
            <a:avLst>
              <a:gd name="adj" fmla="val 3750"/>
            </a:avLst>
          </a:prstGeom>
          <a:solidFill>
            <a:srgbClr val="F1F3F6"/>
          </a:solidFill>
          <a:ln/>
        </p:spPr>
      </p:sp>
      <p:sp>
        <p:nvSpPr>
          <p:cNvPr id="10" name="Text 8"/>
          <p:cNvSpPr/>
          <p:nvPr/>
        </p:nvSpPr>
        <p:spPr>
          <a:xfrm>
            <a:off x="3639312" y="2286000"/>
            <a:ext cx="2103120" cy="640080"/>
          </a:xfrm>
          <a:prstGeom prst="rect">
            <a:avLst/>
          </a:prstGeom>
          <a:noFill/>
          <a:ln/>
        </p:spPr>
        <p:txBody>
          <a:bodyPr wrap="square" lIns="0" tIns="0" rIns="0" bIns="0" rtlCol="0" anchor="ctr"/>
          <a:lstStyle/>
          <a:p>
            <a:pPr indent="0" marL="0">
              <a:buNone/>
            </a:pPr>
            <a:r>
              <a:rPr lang="en-US" sz="3200" b="1" dirty="0">
                <a:solidFill>
                  <a:srgbClr val="E39B2C"/>
                </a:solidFill>
                <a:latin typeface="Cambria" pitchFamily="34" charset="0"/>
                <a:ea typeface="Cambria" pitchFamily="34" charset="-122"/>
                <a:cs typeface="Cambria" pitchFamily="34" charset="-120"/>
              </a:rPr>
              <a:t>52%</a:t>
            </a:r>
            <a:endParaRPr lang="en-US" sz="3200" dirty="0"/>
          </a:p>
        </p:txBody>
      </p:sp>
      <p:sp>
        <p:nvSpPr>
          <p:cNvPr id="11" name="Text 9"/>
          <p:cNvSpPr/>
          <p:nvPr/>
        </p:nvSpPr>
        <p:spPr>
          <a:xfrm>
            <a:off x="3639312" y="2962656"/>
            <a:ext cx="2103120" cy="777240"/>
          </a:xfrm>
          <a:prstGeom prst="rect">
            <a:avLst/>
          </a:prstGeom>
          <a:noFill/>
          <a:ln/>
        </p:spPr>
        <p:txBody>
          <a:bodyPr wrap="square" lIns="0" tIns="0" rIns="0" bIns="0" rtlCol="0" anchor="t"/>
          <a:lstStyle/>
          <a:p>
            <a:pPr indent="0" marL="0">
              <a:lnSpc>
                <a:spcPts val="1700"/>
              </a:lnSpc>
              <a:buNone/>
            </a:pPr>
            <a:r>
              <a:rPr lang="en-US" sz="1300" dirty="0">
                <a:solidFill>
                  <a:srgbClr val="1B2430"/>
                </a:solidFill>
                <a:latin typeface="Calibri" pitchFamily="34" charset="0"/>
                <a:ea typeface="Calibri" pitchFamily="34" charset="-122"/>
                <a:cs typeface="Calibri" pitchFamily="34" charset="-120"/>
              </a:rPr>
              <a:t>have no clear owner for AI cost</a:t>
            </a:r>
            <a:endParaRPr lang="en-US" sz="1300" dirty="0"/>
          </a:p>
        </p:txBody>
      </p:sp>
      <p:sp>
        <p:nvSpPr>
          <p:cNvPr id="12" name="Text 10"/>
          <p:cNvSpPr/>
          <p:nvPr/>
        </p:nvSpPr>
        <p:spPr>
          <a:xfrm>
            <a:off x="3639312" y="3712464"/>
            <a:ext cx="2103120" cy="512064"/>
          </a:xfrm>
          <a:prstGeom prst="rect">
            <a:avLst/>
          </a:prstGeom>
          <a:noFill/>
          <a:ln/>
        </p:spPr>
        <p:txBody>
          <a:bodyPr wrap="square" lIns="0" tIns="0" rIns="0" bIns="0" rtlCol="0" anchor="t"/>
          <a:lstStyle/>
          <a:p>
            <a:pPr indent="0" marL="0">
              <a:lnSpc>
                <a:spcPts val="1400"/>
              </a:lnSpc>
              <a:buNone/>
            </a:pPr>
            <a:r>
              <a:rPr lang="en-US" sz="1100" dirty="0">
                <a:solidFill>
                  <a:srgbClr val="5C6675"/>
                </a:solidFill>
                <a:latin typeface="Calibri" pitchFamily="34" charset="0"/>
                <a:ea typeface="Calibri" pitchFamily="34" charset="-122"/>
                <a:cs typeface="Calibri" pitchFamily="34" charset="-120"/>
              </a:rPr>
              <a:t>Split across engineering, FinOps, finance and IT.</a:t>
            </a:r>
            <a:endParaRPr lang="en-US" sz="1100" dirty="0"/>
          </a:p>
        </p:txBody>
      </p:sp>
      <p:sp>
        <p:nvSpPr>
          <p:cNvPr id="13" name="Shape 11"/>
          <p:cNvSpPr/>
          <p:nvPr/>
        </p:nvSpPr>
        <p:spPr>
          <a:xfrm>
            <a:off x="6217920" y="2121408"/>
            <a:ext cx="2587752" cy="2194560"/>
          </a:xfrm>
          <a:prstGeom prst="roundRect">
            <a:avLst>
              <a:gd name="adj" fmla="val 3750"/>
            </a:avLst>
          </a:prstGeom>
          <a:solidFill>
            <a:srgbClr val="F1F3F6"/>
          </a:solidFill>
          <a:ln/>
        </p:spPr>
      </p:sp>
      <p:sp>
        <p:nvSpPr>
          <p:cNvPr id="14" name="Text 12"/>
          <p:cNvSpPr/>
          <p:nvPr/>
        </p:nvSpPr>
        <p:spPr>
          <a:xfrm>
            <a:off x="6473952" y="2286000"/>
            <a:ext cx="2103120" cy="640080"/>
          </a:xfrm>
          <a:prstGeom prst="rect">
            <a:avLst/>
          </a:prstGeom>
          <a:noFill/>
          <a:ln/>
        </p:spPr>
        <p:txBody>
          <a:bodyPr wrap="square" lIns="0" tIns="0" rIns="0" bIns="0" rtlCol="0" anchor="ctr"/>
          <a:lstStyle/>
          <a:p>
            <a:pPr indent="0" marL="0">
              <a:buNone/>
            </a:pPr>
            <a:r>
              <a:rPr lang="en-US" sz="3200" b="1" dirty="0">
                <a:solidFill>
                  <a:srgbClr val="E39B2C"/>
                </a:solidFill>
                <a:latin typeface="Cambria" pitchFamily="34" charset="0"/>
                <a:ea typeface="Cambria" pitchFamily="34" charset="-122"/>
                <a:cs typeface="Cambria" pitchFamily="34" charset="-120"/>
              </a:rPr>
              <a:t>4 in 5</a:t>
            </a:r>
            <a:endParaRPr lang="en-US" sz="3200" dirty="0"/>
          </a:p>
        </p:txBody>
      </p:sp>
      <p:sp>
        <p:nvSpPr>
          <p:cNvPr id="15" name="Text 13"/>
          <p:cNvSpPr/>
          <p:nvPr/>
        </p:nvSpPr>
        <p:spPr>
          <a:xfrm>
            <a:off x="6473952" y="2962656"/>
            <a:ext cx="2103120" cy="777240"/>
          </a:xfrm>
          <a:prstGeom prst="rect">
            <a:avLst/>
          </a:prstGeom>
          <a:noFill/>
          <a:ln/>
        </p:spPr>
        <p:txBody>
          <a:bodyPr wrap="square" lIns="0" tIns="0" rIns="0" bIns="0" rtlCol="0" anchor="t"/>
          <a:lstStyle/>
          <a:p>
            <a:pPr indent="0" marL="0">
              <a:lnSpc>
                <a:spcPts val="1700"/>
              </a:lnSpc>
              <a:buNone/>
            </a:pPr>
            <a:r>
              <a:rPr lang="en-US" sz="1300" dirty="0">
                <a:solidFill>
                  <a:srgbClr val="1B2430"/>
                </a:solidFill>
                <a:latin typeface="Calibri" pitchFamily="34" charset="0"/>
                <a:ea typeface="Calibri" pitchFamily="34" charset="-122"/>
                <a:cs typeface="Calibri" pitchFamily="34" charset="-120"/>
              </a:rPr>
              <a:t>need a day or more to trace a spike to its source</a:t>
            </a:r>
            <a:endParaRPr lang="en-US" sz="1300" dirty="0"/>
          </a:p>
        </p:txBody>
      </p:sp>
      <p:sp>
        <p:nvSpPr>
          <p:cNvPr id="16" name="Text 14"/>
          <p:cNvSpPr/>
          <p:nvPr/>
        </p:nvSpPr>
        <p:spPr>
          <a:xfrm>
            <a:off x="6473952" y="3712464"/>
            <a:ext cx="2103120" cy="512064"/>
          </a:xfrm>
          <a:prstGeom prst="rect">
            <a:avLst/>
          </a:prstGeom>
          <a:noFill/>
          <a:ln/>
        </p:spPr>
        <p:txBody>
          <a:bodyPr wrap="square" lIns="0" tIns="0" rIns="0" bIns="0" rtlCol="0" anchor="t"/>
          <a:lstStyle/>
          <a:p>
            <a:pPr indent="0" marL="0">
              <a:lnSpc>
                <a:spcPts val="1400"/>
              </a:lnSpc>
              <a:buNone/>
            </a:pPr>
            <a:r>
              <a:rPr lang="en-US" sz="1100" dirty="0">
                <a:solidFill>
                  <a:srgbClr val="5C6675"/>
                </a:solidFill>
                <a:latin typeface="Calibri" pitchFamily="34" charset="0"/>
                <a:ea typeface="Calibri" pitchFamily="34" charset="-122"/>
                <a:cs typeface="Calibri" pitchFamily="34" charset="-120"/>
              </a:rPr>
              <a:t>Only about one in five manage it within hours.</a:t>
            </a:r>
            <a:endParaRPr lang="en-US" sz="1100" dirty="0"/>
          </a:p>
        </p:txBody>
      </p:sp>
      <p:sp>
        <p:nvSpPr>
          <p:cNvPr id="17" name="Shape 15"/>
          <p:cNvSpPr/>
          <p:nvPr/>
        </p:nvSpPr>
        <p:spPr>
          <a:xfrm>
            <a:off x="9052560" y="2121408"/>
            <a:ext cx="2587752" cy="2194560"/>
          </a:xfrm>
          <a:prstGeom prst="roundRect">
            <a:avLst>
              <a:gd name="adj" fmla="val 3750"/>
            </a:avLst>
          </a:prstGeom>
          <a:solidFill>
            <a:srgbClr val="F1F3F6"/>
          </a:solidFill>
          <a:ln/>
        </p:spPr>
      </p:sp>
      <p:sp>
        <p:nvSpPr>
          <p:cNvPr id="18" name="Text 16"/>
          <p:cNvSpPr/>
          <p:nvPr/>
        </p:nvSpPr>
        <p:spPr>
          <a:xfrm>
            <a:off x="9308592" y="2286000"/>
            <a:ext cx="2103120" cy="640080"/>
          </a:xfrm>
          <a:prstGeom prst="rect">
            <a:avLst/>
          </a:prstGeom>
          <a:noFill/>
          <a:ln/>
        </p:spPr>
        <p:txBody>
          <a:bodyPr wrap="square" lIns="0" tIns="0" rIns="0" bIns="0" rtlCol="0" anchor="ctr"/>
          <a:lstStyle/>
          <a:p>
            <a:pPr indent="0" marL="0">
              <a:buNone/>
            </a:pPr>
            <a:r>
              <a:rPr lang="en-US" sz="3200" b="1" dirty="0">
                <a:solidFill>
                  <a:srgbClr val="5C6675"/>
                </a:solidFill>
                <a:latin typeface="Cambria" pitchFamily="34" charset="0"/>
                <a:ea typeface="Cambria" pitchFamily="34" charset="-122"/>
                <a:cs typeface="Cambria" pitchFamily="34" charset="-120"/>
              </a:rPr>
              <a:t>26%</a:t>
            </a:r>
            <a:endParaRPr lang="en-US" sz="3200" dirty="0"/>
          </a:p>
        </p:txBody>
      </p:sp>
      <p:sp>
        <p:nvSpPr>
          <p:cNvPr id="19" name="Text 17"/>
          <p:cNvSpPr/>
          <p:nvPr/>
        </p:nvSpPr>
        <p:spPr>
          <a:xfrm>
            <a:off x="9308592" y="2962656"/>
            <a:ext cx="2103120" cy="777240"/>
          </a:xfrm>
          <a:prstGeom prst="rect">
            <a:avLst/>
          </a:prstGeom>
          <a:noFill/>
          <a:ln/>
        </p:spPr>
        <p:txBody>
          <a:bodyPr wrap="square" lIns="0" tIns="0" rIns="0" bIns="0" rtlCol="0" anchor="t"/>
          <a:lstStyle/>
          <a:p>
            <a:pPr indent="0" marL="0">
              <a:lnSpc>
                <a:spcPts val="1700"/>
              </a:lnSpc>
              <a:buNone/>
            </a:pPr>
            <a:r>
              <a:rPr lang="en-US" sz="1300" dirty="0">
                <a:solidFill>
                  <a:srgbClr val="1B2430"/>
                </a:solidFill>
                <a:latin typeface="Calibri" pitchFamily="34" charset="0"/>
                <a:ea typeface="Calibri" pitchFamily="34" charset="-122"/>
                <a:cs typeface="Calibri" pitchFamily="34" charset="-120"/>
              </a:rPr>
              <a:t>of AI spend estimated wasted</a:t>
            </a:r>
            <a:endParaRPr lang="en-US" sz="1300" dirty="0"/>
          </a:p>
        </p:txBody>
      </p:sp>
      <p:sp>
        <p:nvSpPr>
          <p:cNvPr id="20" name="Text 18"/>
          <p:cNvSpPr/>
          <p:nvPr/>
        </p:nvSpPr>
        <p:spPr>
          <a:xfrm>
            <a:off x="9308592" y="3712464"/>
            <a:ext cx="2103120" cy="512064"/>
          </a:xfrm>
          <a:prstGeom prst="rect">
            <a:avLst/>
          </a:prstGeom>
          <a:noFill/>
          <a:ln/>
        </p:spPr>
        <p:txBody>
          <a:bodyPr wrap="square" lIns="0" tIns="0" rIns="0" bIns="0" rtlCol="0" anchor="t"/>
          <a:lstStyle/>
          <a:p>
            <a:pPr indent="0" marL="0">
              <a:lnSpc>
                <a:spcPts val="1400"/>
              </a:lnSpc>
              <a:buNone/>
            </a:pPr>
            <a:r>
              <a:rPr lang="en-US" sz="1100" dirty="0">
                <a:solidFill>
                  <a:srgbClr val="5C6675"/>
                </a:solidFill>
                <a:latin typeface="Calibri" pitchFamily="34" charset="0"/>
                <a:ea typeface="Calibri" pitchFamily="34" charset="-122"/>
                <a:cs typeface="Calibri" pitchFamily="34" charset="-120"/>
              </a:rPr>
              <a:t>Respondents' own estimate, not a measurement.</a:t>
            </a:r>
            <a:endParaRPr lang="en-US" sz="1100" dirty="0"/>
          </a:p>
        </p:txBody>
      </p:sp>
      <p:sp>
        <p:nvSpPr>
          <p:cNvPr id="21" name="Shape 19"/>
          <p:cNvSpPr/>
          <p:nvPr/>
        </p:nvSpPr>
        <p:spPr>
          <a:xfrm>
            <a:off x="548640" y="4572000"/>
            <a:ext cx="6675120" cy="1481328"/>
          </a:xfrm>
          <a:prstGeom prst="roundRect">
            <a:avLst>
              <a:gd name="adj" fmla="val 5556"/>
            </a:avLst>
          </a:prstGeom>
          <a:solidFill>
            <a:srgbClr val="1F2936"/>
          </a:solidFill>
          <a:ln/>
          <a:effectLst>
            <a:outerShdw sx="100000" sy="100000" kx="0" ky="0" algn="bl" rotWithShape="0" blurRad="127000" dist="25400" dir="5400000">
              <a:srgbClr val="8C99A8">
                <a:alpha val="16000"/>
              </a:srgbClr>
            </a:outerShdw>
          </a:effectLst>
        </p:spPr>
      </p:sp>
      <p:sp>
        <p:nvSpPr>
          <p:cNvPr id="22" name="Text 20"/>
          <p:cNvSpPr/>
          <p:nvPr/>
        </p:nvSpPr>
        <p:spPr>
          <a:xfrm>
            <a:off x="859536" y="4736592"/>
            <a:ext cx="4572000" cy="292608"/>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number to manage</a:t>
            </a:r>
            <a:endParaRPr lang="en-US" sz="1200" dirty="0"/>
          </a:p>
        </p:txBody>
      </p:sp>
      <p:sp>
        <p:nvSpPr>
          <p:cNvPr id="23" name="Text 21"/>
          <p:cNvSpPr/>
          <p:nvPr/>
        </p:nvSpPr>
        <p:spPr>
          <a:xfrm>
            <a:off x="859536" y="5065776"/>
            <a:ext cx="6053328" cy="877824"/>
          </a:xfrm>
          <a:prstGeom prst="rect">
            <a:avLst/>
          </a:prstGeom>
          <a:noFill/>
          <a:ln/>
        </p:spPr>
        <p:txBody>
          <a:bodyPr wrap="square" lIns="0" tIns="0" rIns="0" bIns="0" rtlCol="0" anchor="t"/>
          <a:lstStyle/>
          <a:p>
            <a:pPr indent="0" marL="0">
              <a:lnSpc>
                <a:spcPts val="1900"/>
              </a:lnSpc>
              <a:buNone/>
            </a:pPr>
            <a:r>
              <a:rPr lang="en-US" sz="1350" b="1" dirty="0">
                <a:solidFill>
                  <a:srgbClr val="FFFFFF"/>
                </a:solidFill>
                <a:latin typeface="Calibri" pitchFamily="34" charset="0"/>
                <a:ea typeface="Calibri" pitchFamily="34" charset="-122"/>
                <a:cs typeface="Calibri" pitchFamily="34" charset="-120"/>
              </a:rPr>
              <a:t>Time to attribute a spike. </a:t>
            </a:r>
            <a:pPr indent="0" marL="0">
              <a:lnSpc>
                <a:spcPts val="1900"/>
              </a:lnSpc>
              <a:buNone/>
            </a:pPr>
            <a:r>
              <a:rPr lang="en-US" sz="1350" dirty="0">
                <a:solidFill>
                  <a:srgbClr val="9EABBA"/>
                </a:solidFill>
                <a:latin typeface="Calibri" pitchFamily="34" charset="0"/>
                <a:ea typeface="Calibri" pitchFamily="34" charset="-122"/>
                <a:cs typeface="Calibri" pitchFamily="34" charset="-120"/>
              </a:rPr>
              <a:t>It turns an argument about governance into a number we can move — days today, hours as the target — and it is the one metric a runaway AI workload is measured against.</a:t>
            </a:r>
            <a:endParaRPr lang="en-US" sz="1350" dirty="0"/>
          </a:p>
        </p:txBody>
      </p:sp>
      <p:sp>
        <p:nvSpPr>
          <p:cNvPr id="24" name="Shape 22"/>
          <p:cNvSpPr/>
          <p:nvPr/>
        </p:nvSpPr>
        <p:spPr>
          <a:xfrm>
            <a:off x="7525512" y="4572000"/>
            <a:ext cx="4114800" cy="1481328"/>
          </a:xfrm>
          <a:prstGeom prst="roundRect">
            <a:avLst>
              <a:gd name="adj" fmla="val 5556"/>
            </a:avLst>
          </a:prstGeom>
          <a:solidFill>
            <a:srgbClr val="FBEFD8"/>
          </a:solidFill>
          <a:ln/>
        </p:spPr>
      </p:sp>
      <p:sp>
        <p:nvSpPr>
          <p:cNvPr id="25" name="Text 23"/>
          <p:cNvSpPr/>
          <p:nvPr/>
        </p:nvSpPr>
        <p:spPr>
          <a:xfrm>
            <a:off x="7836408" y="4736592"/>
            <a:ext cx="3657600" cy="292608"/>
          </a:xfrm>
          <a:prstGeom prst="rect">
            <a:avLst/>
          </a:prstGeom>
          <a:noFill/>
          <a:ln/>
        </p:spPr>
        <p:txBody>
          <a:bodyPr wrap="square" lIns="0" tIns="0" rIns="0" bIns="0" rtlCol="0" anchor="ctr"/>
          <a:lstStyle/>
          <a:p>
            <a:pPr indent="0" marL="0">
              <a:buNone/>
            </a:pPr>
            <a:r>
              <a:rPr lang="en-US" sz="1200" b="1" spc="180" kern="0" dirty="0">
                <a:solidFill>
                  <a:srgbClr val="6B4A0E"/>
                </a:solidFill>
                <a:latin typeface="Calibri" pitchFamily="34" charset="0"/>
                <a:ea typeface="Calibri" pitchFamily="34" charset="-122"/>
                <a:cs typeface="Calibri" pitchFamily="34" charset="-120"/>
              </a:rPr>
              <a:t>Why a rollup will not do it</a:t>
            </a:r>
            <a:endParaRPr lang="en-US" sz="1200" dirty="0"/>
          </a:p>
        </p:txBody>
      </p:sp>
      <p:sp>
        <p:nvSpPr>
          <p:cNvPr id="26" name="Text 24"/>
          <p:cNvSpPr/>
          <p:nvPr/>
        </p:nvSpPr>
        <p:spPr>
          <a:xfrm>
            <a:off x="7836408" y="5065776"/>
            <a:ext cx="3529584" cy="877824"/>
          </a:xfrm>
          <a:prstGeom prst="rect">
            <a:avLst/>
          </a:prstGeom>
          <a:noFill/>
          <a:ln/>
        </p:spPr>
        <p:txBody>
          <a:bodyPr wrap="square" lIns="0" tIns="0" rIns="0" bIns="0" rtlCol="0" anchor="t"/>
          <a:lstStyle/>
          <a:p>
            <a:pPr indent="0" marL="0">
              <a:lnSpc>
                <a:spcPts val="1700"/>
              </a:lnSpc>
              <a:buNone/>
            </a:pPr>
            <a:r>
              <a:rPr lang="en-US" sz="1250" dirty="0">
                <a:solidFill>
                  <a:srgbClr val="6B4A0E"/>
                </a:solidFill>
                <a:latin typeface="Calibri" pitchFamily="34" charset="0"/>
                <a:ea typeface="Calibri" pitchFamily="34" charset="-122"/>
                <a:cs typeface="Calibri" pitchFamily="34" charset="-120"/>
              </a:rPr>
              <a:t>AI waste hides in prompt design, model choice and retry logic. A monthly bill by resource cannot name the caller — that needs per-consumer token attribution.</a:t>
            </a:r>
            <a:endParaRPr lang="en-US" sz="1250" dirty="0"/>
          </a:p>
        </p:txBody>
      </p:sp>
      <p:sp>
        <p:nvSpPr>
          <p:cNvPr id="27" name="Text 25"/>
          <p:cNvSpPr/>
          <p:nvPr/>
        </p:nvSpPr>
        <p:spPr>
          <a:xfrm>
            <a:off x="548640" y="6199632"/>
            <a:ext cx="11091672" cy="457200"/>
          </a:xfrm>
          <a:prstGeom prst="rect">
            <a:avLst/>
          </a:prstGeom>
          <a:noFill/>
          <a:ln/>
        </p:spPr>
        <p:txBody>
          <a:bodyPr wrap="square" lIns="0" tIns="0" rIns="0" bIns="0" rtlCol="0" anchor="ctr"/>
          <a:lstStyle/>
          <a:p>
            <a:pPr indent="0" marL="0">
              <a:buNone/>
            </a:pPr>
            <a:r>
              <a:rPr lang="en-US" sz="1050" dirty="0">
                <a:solidFill>
                  <a:srgbClr val="5C6675"/>
                </a:solidFill>
                <a:latin typeface="Calibri" pitchFamily="34" charset="0"/>
                <a:ea typeface="Calibri" pitchFamily="34" charset="-122"/>
                <a:cs typeface="Calibri" pitchFamily="34" charset="-120"/>
              </a:rPr>
              <a:t>Harness / Sapio Research, 2026 State of AI in FinOps — 700 engineering leaders and practitioners, May–June 2026. Vendor-sponsored research; the waste and maturity figures are self-reported estimates.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SHIFT LEFT</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A seat at the design table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Most of a workload's lifetime cost is settled once the architecture is agreed. FinOps belongs in that conversation, not in the postmortem.</a:t>
            </a:r>
            <a:endParaRPr lang="en-US" sz="1500" dirty="0"/>
          </a:p>
        </p:txBody>
      </p:sp>
      <p:sp>
        <p:nvSpPr>
          <p:cNvPr id="5" name="Shape 3"/>
          <p:cNvSpPr/>
          <p:nvPr/>
        </p:nvSpPr>
        <p:spPr>
          <a:xfrm>
            <a:off x="548640" y="2487168"/>
            <a:ext cx="1773936" cy="530352"/>
          </a:xfrm>
          <a:prstGeom prst="roundRect">
            <a:avLst>
              <a:gd name="adj" fmla="val 13793"/>
            </a:avLst>
          </a:prstGeom>
          <a:solidFill>
            <a:srgbClr val="FBEFD8"/>
          </a:solidFill>
          <a:ln/>
        </p:spPr>
      </p:sp>
      <p:sp>
        <p:nvSpPr>
          <p:cNvPr id="6" name="Text 4"/>
          <p:cNvSpPr/>
          <p:nvPr/>
        </p:nvSpPr>
        <p:spPr>
          <a:xfrm>
            <a:off x="548640" y="2487168"/>
            <a:ext cx="1773936" cy="530352"/>
          </a:xfrm>
          <a:prstGeom prst="rect">
            <a:avLst/>
          </a:prstGeom>
          <a:noFill/>
          <a:ln/>
        </p:spPr>
        <p:txBody>
          <a:bodyPr wrap="square" lIns="0" tIns="0" rIns="0" bIns="0" rtlCol="0" anchor="ctr"/>
          <a:lstStyle/>
          <a:p>
            <a:pPr algn="ctr" indent="0" marL="0">
              <a:buNone/>
            </a:pPr>
            <a:r>
              <a:rPr lang="en-US" sz="1250" b="1" dirty="0">
                <a:solidFill>
                  <a:srgbClr val="6B4A0E"/>
                </a:solidFill>
                <a:latin typeface="Calibri" pitchFamily="34" charset="0"/>
                <a:ea typeface="Calibri" pitchFamily="34" charset="-122"/>
                <a:cs typeface="Calibri" pitchFamily="34" charset="-120"/>
              </a:rPr>
              <a:t>Requirements</a:t>
            </a:r>
            <a:endParaRPr lang="en-US" sz="1250" dirty="0"/>
          </a:p>
        </p:txBody>
      </p:sp>
      <p:sp>
        <p:nvSpPr>
          <p:cNvPr id="7" name="Shape 5"/>
          <p:cNvSpPr/>
          <p:nvPr/>
        </p:nvSpPr>
        <p:spPr>
          <a:xfrm>
            <a:off x="2423160" y="2487168"/>
            <a:ext cx="1773936" cy="530352"/>
          </a:xfrm>
          <a:prstGeom prst="roundRect">
            <a:avLst>
              <a:gd name="adj" fmla="val 13793"/>
            </a:avLst>
          </a:prstGeom>
          <a:solidFill>
            <a:srgbClr val="FBEFD8"/>
          </a:solidFill>
          <a:ln/>
        </p:spPr>
      </p:sp>
      <p:sp>
        <p:nvSpPr>
          <p:cNvPr id="8" name="Text 6"/>
          <p:cNvSpPr/>
          <p:nvPr/>
        </p:nvSpPr>
        <p:spPr>
          <a:xfrm>
            <a:off x="2423160" y="2487168"/>
            <a:ext cx="1773936" cy="530352"/>
          </a:xfrm>
          <a:prstGeom prst="rect">
            <a:avLst/>
          </a:prstGeom>
          <a:noFill/>
          <a:ln/>
        </p:spPr>
        <p:txBody>
          <a:bodyPr wrap="square" lIns="0" tIns="0" rIns="0" bIns="0" rtlCol="0" anchor="ctr"/>
          <a:lstStyle/>
          <a:p>
            <a:pPr algn="ctr" indent="0" marL="0">
              <a:buNone/>
            </a:pPr>
            <a:r>
              <a:rPr lang="en-US" sz="1250" b="1" dirty="0">
                <a:solidFill>
                  <a:srgbClr val="6B4A0E"/>
                </a:solidFill>
                <a:latin typeface="Calibri" pitchFamily="34" charset="0"/>
                <a:ea typeface="Calibri" pitchFamily="34" charset="-122"/>
                <a:cs typeface="Calibri" pitchFamily="34" charset="-120"/>
              </a:rPr>
              <a:t>Design</a:t>
            </a:r>
            <a:endParaRPr lang="en-US" sz="1250" dirty="0"/>
          </a:p>
        </p:txBody>
      </p:sp>
      <p:sp>
        <p:nvSpPr>
          <p:cNvPr id="9" name="Shape 7"/>
          <p:cNvSpPr/>
          <p:nvPr/>
        </p:nvSpPr>
        <p:spPr>
          <a:xfrm>
            <a:off x="4297680" y="2487168"/>
            <a:ext cx="1773936" cy="530352"/>
          </a:xfrm>
          <a:prstGeom prst="roundRect">
            <a:avLst>
              <a:gd name="adj" fmla="val 13793"/>
            </a:avLst>
          </a:prstGeom>
          <a:solidFill>
            <a:srgbClr val="F1F3F6"/>
          </a:solidFill>
          <a:ln/>
        </p:spPr>
      </p:sp>
      <p:sp>
        <p:nvSpPr>
          <p:cNvPr id="10" name="Text 8"/>
          <p:cNvSpPr/>
          <p:nvPr/>
        </p:nvSpPr>
        <p:spPr>
          <a:xfrm>
            <a:off x="4297680" y="2487168"/>
            <a:ext cx="1773936" cy="530352"/>
          </a:xfrm>
          <a:prstGeom prst="rect">
            <a:avLst/>
          </a:prstGeom>
          <a:noFill/>
          <a:ln/>
        </p:spPr>
        <p:txBody>
          <a:bodyPr wrap="square" lIns="0" tIns="0" rIns="0" bIns="0" rtlCol="0" anchor="ctr"/>
          <a:lstStyle/>
          <a:p>
            <a:pPr algn="ctr" indent="0" marL="0">
              <a:buNone/>
            </a:pPr>
            <a:r>
              <a:rPr lang="en-US" sz="1250" dirty="0">
                <a:solidFill>
                  <a:srgbClr val="5C6675"/>
                </a:solidFill>
                <a:latin typeface="Calibri" pitchFamily="34" charset="0"/>
                <a:ea typeface="Calibri" pitchFamily="34" charset="-122"/>
                <a:cs typeface="Calibri" pitchFamily="34" charset="-120"/>
              </a:rPr>
              <a:t>Build</a:t>
            </a:r>
            <a:endParaRPr lang="en-US" sz="1250" dirty="0"/>
          </a:p>
        </p:txBody>
      </p:sp>
      <p:sp>
        <p:nvSpPr>
          <p:cNvPr id="11" name="Shape 9"/>
          <p:cNvSpPr/>
          <p:nvPr/>
        </p:nvSpPr>
        <p:spPr>
          <a:xfrm>
            <a:off x="6172200" y="2487168"/>
            <a:ext cx="1773936" cy="530352"/>
          </a:xfrm>
          <a:prstGeom prst="roundRect">
            <a:avLst>
              <a:gd name="adj" fmla="val 13793"/>
            </a:avLst>
          </a:prstGeom>
          <a:solidFill>
            <a:srgbClr val="F1F3F6"/>
          </a:solidFill>
          <a:ln/>
        </p:spPr>
      </p:sp>
      <p:sp>
        <p:nvSpPr>
          <p:cNvPr id="12" name="Text 10"/>
          <p:cNvSpPr/>
          <p:nvPr/>
        </p:nvSpPr>
        <p:spPr>
          <a:xfrm>
            <a:off x="6172200" y="2487168"/>
            <a:ext cx="1773936" cy="530352"/>
          </a:xfrm>
          <a:prstGeom prst="rect">
            <a:avLst/>
          </a:prstGeom>
          <a:noFill/>
          <a:ln/>
        </p:spPr>
        <p:txBody>
          <a:bodyPr wrap="square" lIns="0" tIns="0" rIns="0" bIns="0" rtlCol="0" anchor="ctr"/>
          <a:lstStyle/>
          <a:p>
            <a:pPr algn="ctr" indent="0" marL="0">
              <a:buNone/>
            </a:pPr>
            <a:r>
              <a:rPr lang="en-US" sz="1250" dirty="0">
                <a:solidFill>
                  <a:srgbClr val="5C6675"/>
                </a:solidFill>
                <a:latin typeface="Calibri" pitchFamily="34" charset="0"/>
                <a:ea typeface="Calibri" pitchFamily="34" charset="-122"/>
                <a:cs typeface="Calibri" pitchFamily="34" charset="-120"/>
              </a:rPr>
              <a:t>Deploy</a:t>
            </a:r>
            <a:endParaRPr lang="en-US" sz="1250" dirty="0"/>
          </a:p>
        </p:txBody>
      </p:sp>
      <p:sp>
        <p:nvSpPr>
          <p:cNvPr id="13" name="Shape 11"/>
          <p:cNvSpPr/>
          <p:nvPr/>
        </p:nvSpPr>
        <p:spPr>
          <a:xfrm>
            <a:off x="8046720" y="2487168"/>
            <a:ext cx="1773936" cy="530352"/>
          </a:xfrm>
          <a:prstGeom prst="roundRect">
            <a:avLst>
              <a:gd name="adj" fmla="val 13793"/>
            </a:avLst>
          </a:prstGeom>
          <a:solidFill>
            <a:srgbClr val="F1F3F6"/>
          </a:solidFill>
          <a:ln/>
        </p:spPr>
      </p:sp>
      <p:sp>
        <p:nvSpPr>
          <p:cNvPr id="14" name="Text 12"/>
          <p:cNvSpPr/>
          <p:nvPr/>
        </p:nvSpPr>
        <p:spPr>
          <a:xfrm>
            <a:off x="8046720" y="2487168"/>
            <a:ext cx="1773936" cy="530352"/>
          </a:xfrm>
          <a:prstGeom prst="rect">
            <a:avLst/>
          </a:prstGeom>
          <a:noFill/>
          <a:ln/>
        </p:spPr>
        <p:txBody>
          <a:bodyPr wrap="square" lIns="0" tIns="0" rIns="0" bIns="0" rtlCol="0" anchor="ctr"/>
          <a:lstStyle/>
          <a:p>
            <a:pPr algn="ctr" indent="0" marL="0">
              <a:buNone/>
            </a:pPr>
            <a:r>
              <a:rPr lang="en-US" sz="1250" dirty="0">
                <a:solidFill>
                  <a:srgbClr val="5C6675"/>
                </a:solidFill>
                <a:latin typeface="Calibri" pitchFamily="34" charset="0"/>
                <a:ea typeface="Calibri" pitchFamily="34" charset="-122"/>
                <a:cs typeface="Calibri" pitchFamily="34" charset="-120"/>
              </a:rPr>
              <a:t>Run</a:t>
            </a:r>
            <a:endParaRPr lang="en-US" sz="1250" dirty="0"/>
          </a:p>
        </p:txBody>
      </p:sp>
      <p:sp>
        <p:nvSpPr>
          <p:cNvPr id="15" name="Shape 13"/>
          <p:cNvSpPr/>
          <p:nvPr/>
        </p:nvSpPr>
        <p:spPr>
          <a:xfrm>
            <a:off x="9921240" y="2487168"/>
            <a:ext cx="1773936" cy="530352"/>
          </a:xfrm>
          <a:prstGeom prst="roundRect">
            <a:avLst>
              <a:gd name="adj" fmla="val 13793"/>
            </a:avLst>
          </a:prstGeom>
          <a:solidFill>
            <a:srgbClr val="F1F3F6"/>
          </a:solidFill>
          <a:ln/>
        </p:spPr>
      </p:sp>
      <p:sp>
        <p:nvSpPr>
          <p:cNvPr id="16" name="Text 14"/>
          <p:cNvSpPr/>
          <p:nvPr/>
        </p:nvSpPr>
        <p:spPr>
          <a:xfrm>
            <a:off x="9921240" y="2487168"/>
            <a:ext cx="1773936" cy="530352"/>
          </a:xfrm>
          <a:prstGeom prst="rect">
            <a:avLst/>
          </a:prstGeom>
          <a:noFill/>
          <a:ln/>
        </p:spPr>
        <p:txBody>
          <a:bodyPr wrap="square" lIns="0" tIns="0" rIns="0" bIns="0" rtlCol="0" anchor="ctr"/>
          <a:lstStyle/>
          <a:p>
            <a:pPr algn="ctr" indent="0" marL="0">
              <a:buNone/>
            </a:pPr>
            <a:r>
              <a:rPr lang="en-US" sz="1250" dirty="0">
                <a:solidFill>
                  <a:srgbClr val="5C6675"/>
                </a:solidFill>
                <a:latin typeface="Calibri" pitchFamily="34" charset="0"/>
                <a:ea typeface="Calibri" pitchFamily="34" charset="-122"/>
                <a:cs typeface="Calibri" pitchFamily="34" charset="-120"/>
              </a:rPr>
              <a:t>Invoice</a:t>
            </a:r>
            <a:endParaRPr lang="en-US" sz="1250" dirty="0"/>
          </a:p>
        </p:txBody>
      </p:sp>
      <p:sp>
        <p:nvSpPr>
          <p:cNvPr id="17" name="Text 15"/>
          <p:cNvSpPr/>
          <p:nvPr/>
        </p:nvSpPr>
        <p:spPr>
          <a:xfrm>
            <a:off x="548640" y="2139696"/>
            <a:ext cx="3749040" cy="274320"/>
          </a:xfrm>
          <a:prstGeom prst="rect">
            <a:avLst/>
          </a:prstGeom>
          <a:noFill/>
          <a:ln/>
        </p:spPr>
        <p:txBody>
          <a:bodyPr wrap="square" lIns="0" tIns="0" rIns="0" bIns="0" rtlCol="0" anchor="ctr"/>
          <a:lstStyle/>
          <a:p>
            <a:pPr indent="0" marL="0">
              <a:buNone/>
            </a:pPr>
            <a:r>
              <a:rPr lang="en-US" sz="1150" b="1" spc="140" kern="0" dirty="0">
                <a:solidFill>
                  <a:srgbClr val="B87B18"/>
                </a:solidFill>
                <a:latin typeface="Calibri" pitchFamily="34" charset="0"/>
                <a:ea typeface="Calibri" pitchFamily="34" charset="-122"/>
                <a:cs typeface="Calibri" pitchFamily="34" charset="-120"/>
              </a:rPr>
              <a:t>Where FinOps belongs</a:t>
            </a:r>
            <a:endParaRPr lang="en-US" sz="1150" dirty="0"/>
          </a:p>
        </p:txBody>
      </p:sp>
      <p:sp>
        <p:nvSpPr>
          <p:cNvPr id="18" name="Text 16"/>
          <p:cNvSpPr/>
          <p:nvPr/>
        </p:nvSpPr>
        <p:spPr>
          <a:xfrm>
            <a:off x="8046720" y="2139696"/>
            <a:ext cx="3593592" cy="274320"/>
          </a:xfrm>
          <a:prstGeom prst="rect">
            <a:avLst/>
          </a:prstGeom>
          <a:noFill/>
          <a:ln/>
        </p:spPr>
        <p:txBody>
          <a:bodyPr wrap="square" lIns="0" tIns="0" rIns="0" bIns="0" rtlCol="0" anchor="ctr"/>
          <a:lstStyle/>
          <a:p>
            <a:pPr algn="r" indent="0" marL="0">
              <a:buNone/>
            </a:pPr>
            <a:r>
              <a:rPr lang="en-US" sz="1150" b="1" spc="140" kern="0" dirty="0">
                <a:solidFill>
                  <a:srgbClr val="5C6675"/>
                </a:solidFill>
                <a:latin typeface="Calibri" pitchFamily="34" charset="0"/>
                <a:ea typeface="Calibri" pitchFamily="34" charset="-122"/>
                <a:cs typeface="Calibri" pitchFamily="34" charset="-120"/>
              </a:rPr>
              <a:t>Where FinOps usually arrives</a:t>
            </a:r>
            <a:endParaRPr lang="en-US" sz="1150" dirty="0"/>
          </a:p>
        </p:txBody>
      </p:sp>
      <p:sp>
        <p:nvSpPr>
          <p:cNvPr id="19" name="Shape 17"/>
          <p:cNvSpPr/>
          <p:nvPr/>
        </p:nvSpPr>
        <p:spPr>
          <a:xfrm>
            <a:off x="548640" y="3401568"/>
            <a:ext cx="5394960" cy="2286000"/>
          </a:xfrm>
          <a:prstGeom prst="roundRect">
            <a:avLst>
              <a:gd name="adj" fmla="val 3600"/>
            </a:avLst>
          </a:prstGeom>
          <a:solidFill>
            <a:srgbClr val="1F2936"/>
          </a:solidFill>
          <a:ln/>
          <a:effectLst>
            <a:outerShdw sx="100000" sy="100000" kx="0" ky="0" algn="bl" rotWithShape="0" blurRad="127000" dist="25400" dir="5400000">
              <a:srgbClr val="8C99A8">
                <a:alpha val="16000"/>
              </a:srgbClr>
            </a:outerShdw>
          </a:effectLst>
        </p:spPr>
      </p:sp>
      <p:sp>
        <p:nvSpPr>
          <p:cNvPr id="20" name="Text 18"/>
          <p:cNvSpPr/>
          <p:nvPr/>
        </p:nvSpPr>
        <p:spPr>
          <a:xfrm>
            <a:off x="859536" y="3566160"/>
            <a:ext cx="4572000" cy="274320"/>
          </a:xfrm>
          <a:prstGeom prst="rect">
            <a:avLst/>
          </a:prstGeom>
          <a:noFill/>
          <a:ln/>
        </p:spPr>
        <p:txBody>
          <a:bodyPr wrap="square" lIns="0" tIns="0" rIns="0" bIns="0" rtlCol="0" anchor="ctr"/>
          <a:lstStyle/>
          <a:p>
            <a:pPr indent="0" marL="0">
              <a:buNone/>
            </a:pPr>
            <a:r>
              <a:rPr lang="en-US" sz="1150" b="1" spc="140" kern="0" dirty="0">
                <a:solidFill>
                  <a:srgbClr val="E39B2C"/>
                </a:solidFill>
                <a:latin typeface="Calibri" pitchFamily="34" charset="0"/>
                <a:ea typeface="Calibri" pitchFamily="34" charset="-122"/>
                <a:cs typeface="Calibri" pitchFamily="34" charset="-120"/>
              </a:rPr>
              <a:t>The exchange in the room</a:t>
            </a:r>
            <a:endParaRPr lang="en-US" sz="1150" dirty="0"/>
          </a:p>
        </p:txBody>
      </p:sp>
      <p:sp>
        <p:nvSpPr>
          <p:cNvPr id="21" name="Text 19"/>
          <p:cNvSpPr/>
          <p:nvPr/>
        </p:nvSpPr>
        <p:spPr>
          <a:xfrm>
            <a:off x="859536" y="3931920"/>
            <a:ext cx="4773168" cy="822960"/>
          </a:xfrm>
          <a:prstGeom prst="rect">
            <a:avLst/>
          </a:prstGeom>
          <a:noFill/>
          <a:ln/>
        </p:spPr>
        <p:txBody>
          <a:bodyPr wrap="square" lIns="0" tIns="0" rIns="0" bIns="0" rtlCol="0" anchor="t"/>
          <a:lstStyle/>
          <a:p>
            <a:pPr indent="0" marL="0">
              <a:lnSpc>
                <a:spcPts val="1800"/>
              </a:lnSpc>
              <a:buNone/>
            </a:pPr>
            <a:r>
              <a:rPr lang="en-US" sz="1300" b="1" dirty="0">
                <a:solidFill>
                  <a:srgbClr val="FFFFFF"/>
                </a:solidFill>
                <a:latin typeface="Calibri" pitchFamily="34" charset="0"/>
                <a:ea typeface="Calibri" pitchFamily="34" charset="-122"/>
                <a:cs typeface="Calibri" pitchFamily="34" charset="-120"/>
              </a:rPr>
              <a:t>FinOps brings</a:t>
            </a:r>
            <a:endParaRPr lang="en-US" sz="1300" dirty="0"/>
          </a:p>
          <a:p>
            <a:pPr indent="0" marL="0">
              <a:lnSpc>
                <a:spcPts val="1800"/>
              </a:lnSpc>
              <a:buNone/>
            </a:pPr>
            <a:r>
              <a:rPr lang="en-US" sz="1300" dirty="0">
                <a:solidFill>
                  <a:srgbClr val="9EABBA"/>
                </a:solidFill>
                <a:latin typeface="Calibri" pitchFamily="34" charset="0"/>
                <a:ea typeface="Calibri" pitchFamily="34" charset="-122"/>
                <a:cs typeface="Calibri" pitchFamily="34" charset="-120"/>
              </a:rPr>
              <a:t>two or three priced options, a cost target, the allocation plan</a:t>
            </a:r>
            <a:endParaRPr lang="en-US" sz="1300" dirty="0"/>
          </a:p>
        </p:txBody>
      </p:sp>
      <p:sp>
        <p:nvSpPr>
          <p:cNvPr id="22" name="Text 20"/>
          <p:cNvSpPr/>
          <p:nvPr/>
        </p:nvSpPr>
        <p:spPr>
          <a:xfrm>
            <a:off x="859536" y="4791456"/>
            <a:ext cx="4773168" cy="822960"/>
          </a:xfrm>
          <a:prstGeom prst="rect">
            <a:avLst/>
          </a:prstGeom>
          <a:noFill/>
          <a:ln/>
        </p:spPr>
        <p:txBody>
          <a:bodyPr wrap="square" lIns="0" tIns="0" rIns="0" bIns="0" rtlCol="0" anchor="t"/>
          <a:lstStyle/>
          <a:p>
            <a:pPr indent="0" marL="0">
              <a:lnSpc>
                <a:spcPts val="1800"/>
              </a:lnSpc>
              <a:buNone/>
            </a:pPr>
            <a:r>
              <a:rPr lang="en-US" sz="1300" b="1" dirty="0">
                <a:solidFill>
                  <a:srgbClr val="FFFFFF"/>
                </a:solidFill>
                <a:latin typeface="Calibri" pitchFamily="34" charset="0"/>
                <a:ea typeface="Calibri" pitchFamily="34" charset="-122"/>
                <a:cs typeface="Calibri" pitchFamily="34" charset="-120"/>
              </a:rPr>
              <a:t>FinOps leaves with</a:t>
            </a:r>
            <a:endParaRPr lang="en-US" sz="1300" dirty="0"/>
          </a:p>
          <a:p>
            <a:pPr indent="0" marL="0">
              <a:lnSpc>
                <a:spcPts val="1800"/>
              </a:lnSpc>
              <a:buNone/>
            </a:pPr>
            <a:r>
              <a:rPr lang="en-US" sz="1300" dirty="0">
                <a:solidFill>
                  <a:srgbClr val="9EABBA"/>
                </a:solidFill>
                <a:latin typeface="Calibri" pitchFamily="34" charset="0"/>
                <a:ea typeface="Calibri" pitchFamily="34" charset="-122"/>
                <a:cs typeface="Calibri" pitchFamily="34" charset="-120"/>
              </a:rPr>
              <a:t>the real SLO, what is temporary, which unit carries the value</a:t>
            </a:r>
            <a:endParaRPr lang="en-US" sz="1300" dirty="0"/>
          </a:p>
        </p:txBody>
      </p:sp>
      <p:sp>
        <p:nvSpPr>
          <p:cNvPr id="23" name="Shape 21"/>
          <p:cNvSpPr/>
          <p:nvPr/>
        </p:nvSpPr>
        <p:spPr>
          <a:xfrm>
            <a:off x="6245352" y="3401568"/>
            <a:ext cx="5394960" cy="2286000"/>
          </a:xfrm>
          <a:prstGeom prst="roundRect">
            <a:avLst>
              <a:gd name="adj" fmla="val 3600"/>
            </a:avLst>
          </a:prstGeom>
          <a:solidFill>
            <a:srgbClr val="F1F3F6"/>
          </a:solidFill>
          <a:ln/>
        </p:spPr>
      </p:sp>
      <p:sp>
        <p:nvSpPr>
          <p:cNvPr id="24" name="Text 22"/>
          <p:cNvSpPr/>
          <p:nvPr/>
        </p:nvSpPr>
        <p:spPr>
          <a:xfrm>
            <a:off x="6556248" y="3566160"/>
            <a:ext cx="4572000" cy="274320"/>
          </a:xfrm>
          <a:prstGeom prst="rect">
            <a:avLst/>
          </a:prstGeom>
          <a:noFill/>
          <a:ln/>
        </p:spPr>
        <p:txBody>
          <a:bodyPr wrap="square" lIns="0" tIns="0" rIns="0" bIns="0" rtlCol="0" anchor="ctr"/>
          <a:lstStyle/>
          <a:p>
            <a:pPr indent="0" marL="0">
              <a:buNone/>
            </a:pPr>
            <a:r>
              <a:rPr lang="en-US" sz="1150" b="1" spc="140" kern="0" dirty="0">
                <a:solidFill>
                  <a:srgbClr val="5C6675"/>
                </a:solidFill>
                <a:latin typeface="Calibri" pitchFamily="34" charset="0"/>
                <a:ea typeface="Calibri" pitchFamily="34" charset="-122"/>
                <a:cs typeface="Calibri" pitchFamily="34" charset="-120"/>
              </a:rPr>
              <a:t>Six questions before the build starts</a:t>
            </a:r>
            <a:endParaRPr lang="en-US" sz="1150" dirty="0"/>
          </a:p>
        </p:txBody>
      </p:sp>
      <p:sp>
        <p:nvSpPr>
          <p:cNvPr id="25" name="Shape 23"/>
          <p:cNvSpPr/>
          <p:nvPr/>
        </p:nvSpPr>
        <p:spPr>
          <a:xfrm>
            <a:off x="6574536" y="3968496"/>
            <a:ext cx="91440" cy="91440"/>
          </a:xfrm>
          <a:prstGeom prst="ellipse">
            <a:avLst/>
          </a:prstGeom>
          <a:solidFill>
            <a:srgbClr val="B87B18"/>
          </a:solidFill>
          <a:ln/>
        </p:spPr>
      </p:sp>
      <p:sp>
        <p:nvSpPr>
          <p:cNvPr id="26" name="Text 24"/>
          <p:cNvSpPr/>
          <p:nvPr/>
        </p:nvSpPr>
        <p:spPr>
          <a:xfrm>
            <a:off x="6793992" y="3877056"/>
            <a:ext cx="4663440" cy="292608"/>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Peak versus average — how spiky is the load?</a:t>
            </a:r>
            <a:endParaRPr lang="en-US" sz="1250" dirty="0"/>
          </a:p>
        </p:txBody>
      </p:sp>
      <p:sp>
        <p:nvSpPr>
          <p:cNvPr id="27" name="Shape 25"/>
          <p:cNvSpPr/>
          <p:nvPr/>
        </p:nvSpPr>
        <p:spPr>
          <a:xfrm>
            <a:off x="6574536" y="4261104"/>
            <a:ext cx="91440" cy="91440"/>
          </a:xfrm>
          <a:prstGeom prst="ellipse">
            <a:avLst/>
          </a:prstGeom>
          <a:solidFill>
            <a:srgbClr val="B87B18"/>
          </a:solidFill>
          <a:ln/>
        </p:spPr>
      </p:sp>
      <p:sp>
        <p:nvSpPr>
          <p:cNvPr id="28" name="Text 26"/>
          <p:cNvSpPr/>
          <p:nvPr/>
        </p:nvSpPr>
        <p:spPr>
          <a:xfrm>
            <a:off x="6793992" y="4169664"/>
            <a:ext cx="4663440" cy="292608"/>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How much data, kept how long, leaving the region?</a:t>
            </a:r>
            <a:endParaRPr lang="en-US" sz="1250" dirty="0"/>
          </a:p>
        </p:txBody>
      </p:sp>
      <p:sp>
        <p:nvSpPr>
          <p:cNvPr id="29" name="Shape 27"/>
          <p:cNvSpPr/>
          <p:nvPr/>
        </p:nvSpPr>
        <p:spPr>
          <a:xfrm>
            <a:off x="6574536" y="4553712"/>
            <a:ext cx="91440" cy="91440"/>
          </a:xfrm>
          <a:prstGeom prst="ellipse">
            <a:avLst/>
          </a:prstGeom>
          <a:solidFill>
            <a:srgbClr val="B87B18"/>
          </a:solidFill>
          <a:ln/>
        </p:spPr>
      </p:sp>
      <p:sp>
        <p:nvSpPr>
          <p:cNvPr id="30" name="Text 28"/>
          <p:cNvSpPr/>
          <p:nvPr/>
        </p:nvSpPr>
        <p:spPr>
          <a:xfrm>
            <a:off x="6793992" y="4462272"/>
            <a:ext cx="4663440" cy="292608"/>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What does the SLO genuinely require?</a:t>
            </a:r>
            <a:endParaRPr lang="en-US" sz="1250" dirty="0"/>
          </a:p>
        </p:txBody>
      </p:sp>
      <p:sp>
        <p:nvSpPr>
          <p:cNvPr id="31" name="Shape 29"/>
          <p:cNvSpPr/>
          <p:nvPr/>
        </p:nvSpPr>
        <p:spPr>
          <a:xfrm>
            <a:off x="6574536" y="4846320"/>
            <a:ext cx="91440" cy="91440"/>
          </a:xfrm>
          <a:prstGeom prst="ellipse">
            <a:avLst/>
          </a:prstGeom>
          <a:solidFill>
            <a:srgbClr val="B87B18"/>
          </a:solidFill>
          <a:ln/>
        </p:spPr>
      </p:sp>
      <p:sp>
        <p:nvSpPr>
          <p:cNvPr id="32" name="Text 30"/>
          <p:cNvSpPr/>
          <p:nvPr/>
        </p:nvSpPr>
        <p:spPr>
          <a:xfrm>
            <a:off x="6793992" y="4754880"/>
            <a:ext cx="4663440" cy="292608"/>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What is temporary, and when does it switch off?</a:t>
            </a:r>
            <a:endParaRPr lang="en-US" sz="1250" dirty="0"/>
          </a:p>
        </p:txBody>
      </p:sp>
      <p:sp>
        <p:nvSpPr>
          <p:cNvPr id="33" name="Shape 31"/>
          <p:cNvSpPr/>
          <p:nvPr/>
        </p:nvSpPr>
        <p:spPr>
          <a:xfrm>
            <a:off x="6574536" y="5138928"/>
            <a:ext cx="91440" cy="91440"/>
          </a:xfrm>
          <a:prstGeom prst="ellipse">
            <a:avLst/>
          </a:prstGeom>
          <a:solidFill>
            <a:srgbClr val="B87B18"/>
          </a:solidFill>
          <a:ln/>
        </p:spPr>
      </p:sp>
      <p:sp>
        <p:nvSpPr>
          <p:cNvPr id="34" name="Text 32"/>
          <p:cNvSpPr/>
          <p:nvPr/>
        </p:nvSpPr>
        <p:spPr>
          <a:xfrm>
            <a:off x="6793992" y="5047488"/>
            <a:ext cx="4663440" cy="292608"/>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For AI: tokens, cache rate, model tier</a:t>
            </a:r>
            <a:endParaRPr lang="en-US" sz="1250" dirty="0"/>
          </a:p>
        </p:txBody>
      </p:sp>
      <p:sp>
        <p:nvSpPr>
          <p:cNvPr id="35" name="Shape 33"/>
          <p:cNvSpPr/>
          <p:nvPr/>
        </p:nvSpPr>
        <p:spPr>
          <a:xfrm>
            <a:off x="6574536" y="5431536"/>
            <a:ext cx="91440" cy="91440"/>
          </a:xfrm>
          <a:prstGeom prst="ellipse">
            <a:avLst/>
          </a:prstGeom>
          <a:solidFill>
            <a:srgbClr val="B87B18"/>
          </a:solidFill>
          <a:ln/>
        </p:spPr>
      </p:sp>
      <p:sp>
        <p:nvSpPr>
          <p:cNvPr id="36" name="Text 34"/>
          <p:cNvSpPr/>
          <p:nvPr/>
        </p:nvSpPr>
        <p:spPr>
          <a:xfrm>
            <a:off x="6793992" y="5340096"/>
            <a:ext cx="4663440" cy="292608"/>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Which owner, and which unit do we divide by?</a:t>
            </a:r>
            <a:endParaRPr lang="en-US" sz="1250" dirty="0"/>
          </a:p>
        </p:txBody>
      </p:sp>
      <p:sp>
        <p:nvSpPr>
          <p:cNvPr id="37" name="Text 35"/>
          <p:cNvSpPr/>
          <p:nvPr/>
        </p:nvSpPr>
        <p:spPr>
          <a:xfrm>
            <a:off x="548640" y="5888736"/>
            <a:ext cx="11091672" cy="457200"/>
          </a:xfrm>
          <a:prstGeom prst="rect">
            <a:avLst/>
          </a:prstGeom>
          <a:noFill/>
          <a:ln/>
        </p:spPr>
        <p:txBody>
          <a:bodyPr wrap="square" lIns="0" tIns="0" rIns="0" bIns="0" rtlCol="0" anchor="ctr"/>
          <a:lstStyle/>
          <a:p>
            <a:pPr indent="0" marL="0">
              <a:buNone/>
            </a:pPr>
            <a:r>
              <a:rPr lang="en-US" sz="1250" dirty="0">
                <a:solidFill>
                  <a:srgbClr val="5C6675"/>
                </a:solidFill>
                <a:latin typeface="Calibri" pitchFamily="34" charset="0"/>
                <a:ea typeface="Calibri" pitchFamily="34" charset="-122"/>
                <a:cs typeface="Calibri" pitchFamily="34" charset="-120"/>
              </a:rPr>
              <a:t>The output is a cost target recorded beside the latency and availability targets. It works where FinOps sits with engineers rather than auditing them.</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OWNERSHIP</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Every workload has a named owner</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A person, not a distribution list. A group address answers nothing at 2am on a Sunday.</a:t>
            </a:r>
            <a:endParaRPr lang="en-US" sz="1500" dirty="0"/>
          </a:p>
        </p:txBody>
      </p:sp>
      <p:sp>
        <p:nvSpPr>
          <p:cNvPr id="5" name="Shape 3"/>
          <p:cNvSpPr/>
          <p:nvPr/>
        </p:nvSpPr>
        <p:spPr>
          <a:xfrm>
            <a:off x="548640" y="2103120"/>
            <a:ext cx="2587752" cy="1783080"/>
          </a:xfrm>
          <a:prstGeom prst="roundRect">
            <a:avLst>
              <a:gd name="adj" fmla="val 4615"/>
            </a:avLst>
          </a:prstGeom>
          <a:solidFill>
            <a:srgbClr val="F1F3F6"/>
          </a:solidFill>
          <a:ln/>
        </p:spPr>
      </p:sp>
      <p:sp>
        <p:nvSpPr>
          <p:cNvPr id="6" name="Shape 4"/>
          <p:cNvSpPr/>
          <p:nvPr/>
        </p:nvSpPr>
        <p:spPr>
          <a:xfrm>
            <a:off x="804672" y="2322576"/>
            <a:ext cx="457200" cy="45720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18972" y="2436876"/>
            <a:ext cx="228600" cy="228600"/>
          </a:xfrm>
          <a:prstGeom prst="rect">
            <a:avLst/>
          </a:prstGeom>
        </p:spPr>
      </p:pic>
      <p:sp>
        <p:nvSpPr>
          <p:cNvPr id="8" name="Text 5"/>
          <p:cNvSpPr/>
          <p:nvPr/>
        </p:nvSpPr>
        <p:spPr>
          <a:xfrm>
            <a:off x="804672" y="2889504"/>
            <a:ext cx="2103120" cy="329184"/>
          </a:xfrm>
          <a:prstGeom prst="rect">
            <a:avLst/>
          </a:prstGeom>
          <a:noFill/>
          <a:ln/>
        </p:spPr>
        <p:txBody>
          <a:bodyPr wrap="square" lIns="0" tIns="0" rIns="0" bIns="0" rtlCol="0" anchor="ctr"/>
          <a:lstStyle/>
          <a:p>
            <a:pPr indent="0" marL="0">
              <a:buNone/>
            </a:pPr>
            <a:r>
              <a:rPr lang="en-US" sz="1500" b="1" dirty="0">
                <a:solidFill>
                  <a:srgbClr val="1B2430"/>
                </a:solidFill>
                <a:latin typeface="Cambria" pitchFamily="34" charset="0"/>
                <a:ea typeface="Cambria" pitchFamily="34" charset="-122"/>
                <a:cs typeface="Cambria" pitchFamily="34" charset="-120"/>
              </a:rPr>
              <a:t>Owns the budget</a:t>
            </a:r>
            <a:endParaRPr lang="en-US" sz="1500" dirty="0"/>
          </a:p>
        </p:txBody>
      </p:sp>
      <p:sp>
        <p:nvSpPr>
          <p:cNvPr id="9" name="Text 6"/>
          <p:cNvSpPr/>
          <p:nvPr/>
        </p:nvSpPr>
        <p:spPr>
          <a:xfrm>
            <a:off x="804672" y="3236976"/>
            <a:ext cx="2103120" cy="56692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Signs it off and explains the variance.</a:t>
            </a:r>
            <a:endParaRPr lang="en-US" sz="1200" dirty="0"/>
          </a:p>
        </p:txBody>
      </p:sp>
      <p:sp>
        <p:nvSpPr>
          <p:cNvPr id="10" name="Shape 7"/>
          <p:cNvSpPr/>
          <p:nvPr/>
        </p:nvSpPr>
        <p:spPr>
          <a:xfrm>
            <a:off x="3383280" y="2103120"/>
            <a:ext cx="2587752" cy="1783080"/>
          </a:xfrm>
          <a:prstGeom prst="roundRect">
            <a:avLst>
              <a:gd name="adj" fmla="val 4615"/>
            </a:avLst>
          </a:prstGeom>
          <a:solidFill>
            <a:srgbClr val="F1F3F6"/>
          </a:solidFill>
          <a:ln/>
        </p:spPr>
      </p:sp>
      <p:sp>
        <p:nvSpPr>
          <p:cNvPr id="11" name="Shape 8"/>
          <p:cNvSpPr/>
          <p:nvPr/>
        </p:nvSpPr>
        <p:spPr>
          <a:xfrm>
            <a:off x="3639312" y="2322576"/>
            <a:ext cx="457200" cy="45720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3753612" y="2436876"/>
            <a:ext cx="228600" cy="228600"/>
          </a:xfrm>
          <a:prstGeom prst="rect">
            <a:avLst/>
          </a:prstGeom>
        </p:spPr>
      </p:pic>
      <p:sp>
        <p:nvSpPr>
          <p:cNvPr id="13" name="Text 9"/>
          <p:cNvSpPr/>
          <p:nvPr/>
        </p:nvSpPr>
        <p:spPr>
          <a:xfrm>
            <a:off x="3639312" y="2889504"/>
            <a:ext cx="2103120" cy="329184"/>
          </a:xfrm>
          <a:prstGeom prst="rect">
            <a:avLst/>
          </a:prstGeom>
          <a:noFill/>
          <a:ln/>
        </p:spPr>
        <p:txBody>
          <a:bodyPr wrap="square" lIns="0" tIns="0" rIns="0" bIns="0" rtlCol="0" anchor="ctr"/>
          <a:lstStyle/>
          <a:p>
            <a:pPr indent="0" marL="0">
              <a:buNone/>
            </a:pPr>
            <a:r>
              <a:rPr lang="en-US" sz="1500" b="1" dirty="0">
                <a:solidFill>
                  <a:srgbClr val="1B2430"/>
                </a:solidFill>
                <a:latin typeface="Cambria" pitchFamily="34" charset="0"/>
                <a:ea typeface="Cambria" pitchFamily="34" charset="-122"/>
                <a:cs typeface="Cambria" pitchFamily="34" charset="-120"/>
              </a:rPr>
              <a:t>Answers the alerts</a:t>
            </a:r>
            <a:endParaRPr lang="en-US" sz="1500" dirty="0"/>
          </a:p>
        </p:txBody>
      </p:sp>
      <p:sp>
        <p:nvSpPr>
          <p:cNvPr id="14" name="Text 10"/>
          <p:cNvSpPr/>
          <p:nvPr/>
        </p:nvSpPr>
        <p:spPr>
          <a:xfrm>
            <a:off x="3639312" y="3236976"/>
            <a:ext cx="2103120" cy="56692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The routing target for their workload.</a:t>
            </a:r>
            <a:endParaRPr lang="en-US" sz="1200" dirty="0"/>
          </a:p>
        </p:txBody>
      </p:sp>
      <p:sp>
        <p:nvSpPr>
          <p:cNvPr id="15" name="Shape 11"/>
          <p:cNvSpPr/>
          <p:nvPr/>
        </p:nvSpPr>
        <p:spPr>
          <a:xfrm>
            <a:off x="6217920" y="2103120"/>
            <a:ext cx="2587752" cy="1783080"/>
          </a:xfrm>
          <a:prstGeom prst="roundRect">
            <a:avLst>
              <a:gd name="adj" fmla="val 4615"/>
            </a:avLst>
          </a:prstGeom>
          <a:solidFill>
            <a:srgbClr val="F1F3F6"/>
          </a:solidFill>
          <a:ln/>
        </p:spPr>
      </p:sp>
      <p:sp>
        <p:nvSpPr>
          <p:cNvPr id="16" name="Shape 12"/>
          <p:cNvSpPr/>
          <p:nvPr/>
        </p:nvSpPr>
        <p:spPr>
          <a:xfrm>
            <a:off x="6473952" y="2322576"/>
            <a:ext cx="457200" cy="45720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6588252" y="2436876"/>
            <a:ext cx="228600" cy="228600"/>
          </a:xfrm>
          <a:prstGeom prst="rect">
            <a:avLst/>
          </a:prstGeom>
        </p:spPr>
      </p:pic>
      <p:sp>
        <p:nvSpPr>
          <p:cNvPr id="18" name="Text 13"/>
          <p:cNvSpPr/>
          <p:nvPr/>
        </p:nvSpPr>
        <p:spPr>
          <a:xfrm>
            <a:off x="6473952" y="2889504"/>
            <a:ext cx="2103120" cy="329184"/>
          </a:xfrm>
          <a:prstGeom prst="rect">
            <a:avLst/>
          </a:prstGeom>
          <a:noFill/>
          <a:ln/>
        </p:spPr>
        <p:txBody>
          <a:bodyPr wrap="square" lIns="0" tIns="0" rIns="0" bIns="0" rtlCol="0" anchor="ctr"/>
          <a:lstStyle/>
          <a:p>
            <a:pPr indent="0" marL="0">
              <a:buNone/>
            </a:pPr>
            <a:r>
              <a:rPr lang="en-US" sz="1500" b="1" dirty="0">
                <a:solidFill>
                  <a:srgbClr val="1B2430"/>
                </a:solidFill>
                <a:latin typeface="Cambria" pitchFamily="34" charset="0"/>
                <a:ea typeface="Cambria" pitchFamily="34" charset="-122"/>
                <a:cs typeface="Cambria" pitchFamily="34" charset="-120"/>
              </a:rPr>
              <a:t>Reviews monthly</a:t>
            </a:r>
            <a:endParaRPr lang="en-US" sz="1500" dirty="0"/>
          </a:p>
        </p:txBody>
      </p:sp>
      <p:sp>
        <p:nvSpPr>
          <p:cNvPr id="19" name="Text 14"/>
          <p:cNvSpPr/>
          <p:nvPr/>
        </p:nvSpPr>
        <p:spPr>
          <a:xfrm>
            <a:off x="6473952" y="3236976"/>
            <a:ext cx="2103120" cy="56692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With their own numbers, not a summary.</a:t>
            </a:r>
            <a:endParaRPr lang="en-US" sz="1200" dirty="0"/>
          </a:p>
        </p:txBody>
      </p:sp>
      <p:sp>
        <p:nvSpPr>
          <p:cNvPr id="20" name="Shape 15"/>
          <p:cNvSpPr/>
          <p:nvPr/>
        </p:nvSpPr>
        <p:spPr>
          <a:xfrm>
            <a:off x="9052560" y="2103120"/>
            <a:ext cx="2587752" cy="1783080"/>
          </a:xfrm>
          <a:prstGeom prst="roundRect">
            <a:avLst>
              <a:gd name="adj" fmla="val 4615"/>
            </a:avLst>
          </a:prstGeom>
          <a:solidFill>
            <a:srgbClr val="F1F3F6"/>
          </a:solidFill>
          <a:ln/>
        </p:spPr>
      </p:sp>
      <p:sp>
        <p:nvSpPr>
          <p:cNvPr id="21" name="Shape 16"/>
          <p:cNvSpPr/>
          <p:nvPr/>
        </p:nvSpPr>
        <p:spPr>
          <a:xfrm>
            <a:off x="9308592" y="2322576"/>
            <a:ext cx="457200" cy="457200"/>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9422892" y="2436876"/>
            <a:ext cx="228600" cy="228600"/>
          </a:xfrm>
          <a:prstGeom prst="rect">
            <a:avLst/>
          </a:prstGeom>
        </p:spPr>
      </p:pic>
      <p:sp>
        <p:nvSpPr>
          <p:cNvPr id="23" name="Text 17"/>
          <p:cNvSpPr/>
          <p:nvPr/>
        </p:nvSpPr>
        <p:spPr>
          <a:xfrm>
            <a:off x="9308592" y="2889504"/>
            <a:ext cx="2103120" cy="329184"/>
          </a:xfrm>
          <a:prstGeom prst="rect">
            <a:avLst/>
          </a:prstGeom>
          <a:noFill/>
          <a:ln/>
        </p:spPr>
        <p:txBody>
          <a:bodyPr wrap="square" lIns="0" tIns="0" rIns="0" bIns="0" rtlCol="0" anchor="ctr"/>
          <a:lstStyle/>
          <a:p>
            <a:pPr indent="0" marL="0">
              <a:buNone/>
            </a:pPr>
            <a:r>
              <a:rPr lang="en-US" sz="1500" b="1" dirty="0">
                <a:solidFill>
                  <a:srgbClr val="1B2430"/>
                </a:solidFill>
                <a:latin typeface="Cambria" pitchFamily="34" charset="0"/>
                <a:ea typeface="Cambria" pitchFamily="34" charset="-122"/>
                <a:cs typeface="Cambria" pitchFamily="34" charset="-120"/>
              </a:rPr>
              <a:t>Decommissions</a:t>
            </a:r>
            <a:endParaRPr lang="en-US" sz="1500" dirty="0"/>
          </a:p>
        </p:txBody>
      </p:sp>
      <p:sp>
        <p:nvSpPr>
          <p:cNvPr id="24" name="Text 18"/>
          <p:cNvSpPr/>
          <p:nvPr/>
        </p:nvSpPr>
        <p:spPr>
          <a:xfrm>
            <a:off x="9308592" y="3236976"/>
            <a:ext cx="2103120" cy="56692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Nothing else retires unused resources.</a:t>
            </a:r>
            <a:endParaRPr lang="en-US" sz="1200" dirty="0"/>
          </a:p>
        </p:txBody>
      </p:sp>
      <p:sp>
        <p:nvSpPr>
          <p:cNvPr id="25" name="Shape 19"/>
          <p:cNvSpPr/>
          <p:nvPr/>
        </p:nvSpPr>
        <p:spPr>
          <a:xfrm>
            <a:off x="548640" y="4114800"/>
            <a:ext cx="6675120" cy="1783080"/>
          </a:xfrm>
          <a:prstGeom prst="roundRect">
            <a:avLst>
              <a:gd name="adj" fmla="val 4615"/>
            </a:avLst>
          </a:prstGeom>
          <a:solidFill>
            <a:srgbClr val="F1F3F6"/>
          </a:solidFill>
          <a:ln/>
        </p:spPr>
      </p:sp>
      <p:sp>
        <p:nvSpPr>
          <p:cNvPr id="26" name="Text 20"/>
          <p:cNvSpPr/>
          <p:nvPr/>
        </p:nvSpPr>
        <p:spPr>
          <a:xfrm>
            <a:off x="859536" y="4279392"/>
            <a:ext cx="4572000" cy="274320"/>
          </a:xfrm>
          <a:prstGeom prst="rect">
            <a:avLst/>
          </a:prstGeom>
          <a:noFill/>
          <a:ln/>
        </p:spPr>
        <p:txBody>
          <a:bodyPr wrap="square" lIns="0" tIns="0" rIns="0" bIns="0" rtlCol="0" anchor="ctr"/>
          <a:lstStyle/>
          <a:p>
            <a:pPr indent="0" marL="0">
              <a:buNone/>
            </a:pPr>
            <a:r>
              <a:rPr lang="en-US" sz="1150" b="1" spc="140" kern="0" dirty="0">
                <a:solidFill>
                  <a:srgbClr val="5C6675"/>
                </a:solidFill>
                <a:latin typeface="Calibri" pitchFamily="34" charset="0"/>
                <a:ea typeface="Calibri" pitchFamily="34" charset="-122"/>
                <a:cs typeface="Calibri" pitchFamily="34" charset="-120"/>
              </a:rPr>
              <a:t>And who owns the practice</a:t>
            </a:r>
            <a:endParaRPr lang="en-US" sz="1150" dirty="0"/>
          </a:p>
        </p:txBody>
      </p:sp>
      <p:sp>
        <p:nvSpPr>
          <p:cNvPr id="27" name="Text 21"/>
          <p:cNvSpPr/>
          <p:nvPr/>
        </p:nvSpPr>
        <p:spPr>
          <a:xfrm>
            <a:off x="859536" y="4626864"/>
            <a:ext cx="2011680" cy="292608"/>
          </a:xfrm>
          <a:prstGeom prst="rect">
            <a:avLst/>
          </a:prstGeom>
          <a:noFill/>
          <a:ln/>
        </p:spPr>
        <p:txBody>
          <a:bodyPr wrap="square" lIns="0" tIns="0" rIns="0" bIns="0" rtlCol="0" anchor="ctr"/>
          <a:lstStyle/>
          <a:p>
            <a:pPr indent="0" marL="0">
              <a:buNone/>
            </a:pPr>
            <a:r>
              <a:rPr lang="en-US" sz="1250" b="1" dirty="0">
                <a:solidFill>
                  <a:srgbClr val="1B2430"/>
                </a:solidFill>
                <a:latin typeface="Calibri" pitchFamily="34" charset="0"/>
                <a:ea typeface="Calibri" pitchFamily="34" charset="-122"/>
                <a:cs typeface="Calibri" pitchFamily="34" charset="-120"/>
              </a:rPr>
              <a:t>Finance</a:t>
            </a:r>
            <a:endParaRPr lang="en-US" sz="1250" dirty="0"/>
          </a:p>
        </p:txBody>
      </p:sp>
      <p:sp>
        <p:nvSpPr>
          <p:cNvPr id="28" name="Text 22"/>
          <p:cNvSpPr/>
          <p:nvPr/>
        </p:nvSpPr>
        <p:spPr>
          <a:xfrm>
            <a:off x="2926080" y="4626864"/>
            <a:ext cx="3986784" cy="292608"/>
          </a:xfrm>
          <a:prstGeom prst="rect">
            <a:avLst/>
          </a:prstGeom>
          <a:noFill/>
          <a:ln/>
        </p:spPr>
        <p:txBody>
          <a:bodyPr wrap="square" lIns="0" tIns="0" rIns="0" bIns="0" rtlCol="0" anchor="ctr"/>
          <a:lstStyle/>
          <a:p>
            <a:pPr indent="0" marL="0">
              <a:buNone/>
            </a:pPr>
            <a:r>
              <a:rPr lang="en-US" sz="1250" dirty="0">
                <a:solidFill>
                  <a:srgbClr val="5C6675"/>
                </a:solidFill>
                <a:latin typeface="Calibri" pitchFamily="34" charset="0"/>
                <a:ea typeface="Calibri" pitchFamily="34" charset="-122"/>
                <a:cs typeface="Calibri" pitchFamily="34" charset="-120"/>
              </a:rPr>
              <a:t>budgets and allocation policy</a:t>
            </a:r>
            <a:endParaRPr lang="en-US" sz="1250" dirty="0"/>
          </a:p>
        </p:txBody>
      </p:sp>
      <p:sp>
        <p:nvSpPr>
          <p:cNvPr id="29" name="Text 23"/>
          <p:cNvSpPr/>
          <p:nvPr/>
        </p:nvSpPr>
        <p:spPr>
          <a:xfrm>
            <a:off x="859536" y="4937760"/>
            <a:ext cx="2011680" cy="292608"/>
          </a:xfrm>
          <a:prstGeom prst="rect">
            <a:avLst/>
          </a:prstGeom>
          <a:noFill/>
          <a:ln/>
        </p:spPr>
        <p:txBody>
          <a:bodyPr wrap="square" lIns="0" tIns="0" rIns="0" bIns="0" rtlCol="0" anchor="ctr"/>
          <a:lstStyle/>
          <a:p>
            <a:pPr indent="0" marL="0">
              <a:buNone/>
            </a:pPr>
            <a:r>
              <a:rPr lang="en-US" sz="1250" b="1" dirty="0">
                <a:solidFill>
                  <a:srgbClr val="1B2430"/>
                </a:solidFill>
                <a:latin typeface="Calibri" pitchFamily="34" charset="0"/>
                <a:ea typeface="Calibri" pitchFamily="34" charset="-122"/>
                <a:cs typeface="Calibri" pitchFamily="34" charset="-120"/>
              </a:rPr>
              <a:t>Platform / FinOps</a:t>
            </a:r>
            <a:endParaRPr lang="en-US" sz="1250" dirty="0"/>
          </a:p>
        </p:txBody>
      </p:sp>
      <p:sp>
        <p:nvSpPr>
          <p:cNvPr id="30" name="Text 24"/>
          <p:cNvSpPr/>
          <p:nvPr/>
        </p:nvSpPr>
        <p:spPr>
          <a:xfrm>
            <a:off x="2926080" y="4937760"/>
            <a:ext cx="3986784" cy="292608"/>
          </a:xfrm>
          <a:prstGeom prst="rect">
            <a:avLst/>
          </a:prstGeom>
          <a:noFill/>
          <a:ln/>
        </p:spPr>
        <p:txBody>
          <a:bodyPr wrap="square" lIns="0" tIns="0" rIns="0" bIns="0" rtlCol="0" anchor="ctr"/>
          <a:lstStyle/>
          <a:p>
            <a:pPr indent="0" marL="0">
              <a:buNone/>
            </a:pPr>
            <a:r>
              <a:rPr lang="en-US" sz="1250" dirty="0">
                <a:solidFill>
                  <a:srgbClr val="5C6675"/>
                </a:solidFill>
                <a:latin typeface="Calibri" pitchFamily="34" charset="0"/>
                <a:ea typeface="Calibri" pitchFamily="34" charset="-122"/>
                <a:cs typeface="Calibri" pitchFamily="34" charset="-120"/>
              </a:rPr>
              <a:t>the standard, the data, the tooling</a:t>
            </a:r>
            <a:endParaRPr lang="en-US" sz="1250" dirty="0"/>
          </a:p>
        </p:txBody>
      </p:sp>
      <p:sp>
        <p:nvSpPr>
          <p:cNvPr id="31" name="Text 25"/>
          <p:cNvSpPr/>
          <p:nvPr/>
        </p:nvSpPr>
        <p:spPr>
          <a:xfrm>
            <a:off x="859536" y="5248656"/>
            <a:ext cx="2011680" cy="292608"/>
          </a:xfrm>
          <a:prstGeom prst="rect">
            <a:avLst/>
          </a:prstGeom>
          <a:noFill/>
          <a:ln/>
        </p:spPr>
        <p:txBody>
          <a:bodyPr wrap="square" lIns="0" tIns="0" rIns="0" bIns="0" rtlCol="0" anchor="ctr"/>
          <a:lstStyle/>
          <a:p>
            <a:pPr indent="0" marL="0">
              <a:buNone/>
            </a:pPr>
            <a:r>
              <a:rPr lang="en-US" sz="1250" b="1" dirty="0">
                <a:solidFill>
                  <a:srgbClr val="1B2430"/>
                </a:solidFill>
                <a:latin typeface="Calibri" pitchFamily="34" charset="0"/>
                <a:ea typeface="Calibri" pitchFamily="34" charset="-122"/>
                <a:cs typeface="Calibri" pitchFamily="34" charset="-120"/>
              </a:rPr>
              <a:t>Engineering</a:t>
            </a:r>
            <a:endParaRPr lang="en-US" sz="1250" dirty="0"/>
          </a:p>
        </p:txBody>
      </p:sp>
      <p:sp>
        <p:nvSpPr>
          <p:cNvPr id="32" name="Text 26"/>
          <p:cNvSpPr/>
          <p:nvPr/>
        </p:nvSpPr>
        <p:spPr>
          <a:xfrm>
            <a:off x="2926080" y="5248656"/>
            <a:ext cx="3986784" cy="292608"/>
          </a:xfrm>
          <a:prstGeom prst="rect">
            <a:avLst/>
          </a:prstGeom>
          <a:noFill/>
          <a:ln/>
        </p:spPr>
        <p:txBody>
          <a:bodyPr wrap="square" lIns="0" tIns="0" rIns="0" bIns="0" rtlCol="0" anchor="ctr"/>
          <a:lstStyle/>
          <a:p>
            <a:pPr indent="0" marL="0">
              <a:buNone/>
            </a:pPr>
            <a:r>
              <a:rPr lang="en-US" sz="1250" dirty="0">
                <a:solidFill>
                  <a:srgbClr val="5C6675"/>
                </a:solidFill>
                <a:latin typeface="Calibri" pitchFamily="34" charset="0"/>
                <a:ea typeface="Calibri" pitchFamily="34" charset="-122"/>
                <a:cs typeface="Calibri" pitchFamily="34" charset="-120"/>
              </a:rPr>
              <a:t>guardrails, instrumentation, response</a:t>
            </a:r>
            <a:endParaRPr lang="en-US" sz="1250" dirty="0"/>
          </a:p>
        </p:txBody>
      </p:sp>
      <p:sp>
        <p:nvSpPr>
          <p:cNvPr id="33" name="Text 27"/>
          <p:cNvSpPr/>
          <p:nvPr/>
        </p:nvSpPr>
        <p:spPr>
          <a:xfrm>
            <a:off x="859536" y="5559552"/>
            <a:ext cx="2011680" cy="292608"/>
          </a:xfrm>
          <a:prstGeom prst="rect">
            <a:avLst/>
          </a:prstGeom>
          <a:noFill/>
          <a:ln/>
        </p:spPr>
        <p:txBody>
          <a:bodyPr wrap="square" lIns="0" tIns="0" rIns="0" bIns="0" rtlCol="0" anchor="ctr"/>
          <a:lstStyle/>
          <a:p>
            <a:pPr indent="0" marL="0">
              <a:buNone/>
            </a:pPr>
            <a:r>
              <a:rPr lang="en-US" sz="1250" b="1" dirty="0">
                <a:solidFill>
                  <a:srgbClr val="1B2430"/>
                </a:solidFill>
                <a:latin typeface="Calibri" pitchFamily="34" charset="0"/>
                <a:ea typeface="Calibri" pitchFamily="34" charset="-122"/>
                <a:cs typeface="Calibri" pitchFamily="34" charset="-120"/>
              </a:rPr>
              <a:t>Leadership</a:t>
            </a:r>
            <a:endParaRPr lang="en-US" sz="1250" dirty="0"/>
          </a:p>
        </p:txBody>
      </p:sp>
      <p:sp>
        <p:nvSpPr>
          <p:cNvPr id="34" name="Text 28"/>
          <p:cNvSpPr/>
          <p:nvPr/>
        </p:nvSpPr>
        <p:spPr>
          <a:xfrm>
            <a:off x="2926080" y="5559552"/>
            <a:ext cx="3986784" cy="292608"/>
          </a:xfrm>
          <a:prstGeom prst="rect">
            <a:avLst/>
          </a:prstGeom>
          <a:noFill/>
          <a:ln/>
        </p:spPr>
        <p:txBody>
          <a:bodyPr wrap="square" lIns="0" tIns="0" rIns="0" bIns="0" rtlCol="0" anchor="ctr"/>
          <a:lstStyle/>
          <a:p>
            <a:pPr indent="0" marL="0">
              <a:buNone/>
            </a:pPr>
            <a:r>
              <a:rPr lang="en-US" sz="1250" dirty="0">
                <a:solidFill>
                  <a:srgbClr val="5C6675"/>
                </a:solidFill>
                <a:latin typeface="Calibri" pitchFamily="34" charset="0"/>
                <a:ea typeface="Calibri" pitchFamily="34" charset="-122"/>
                <a:cs typeface="Calibri" pitchFamily="34" charset="-120"/>
              </a:rPr>
              <a:t>commitments and the trade-offs</a:t>
            </a:r>
            <a:endParaRPr lang="en-US" sz="1250" dirty="0"/>
          </a:p>
        </p:txBody>
      </p:sp>
      <p:sp>
        <p:nvSpPr>
          <p:cNvPr id="35" name="Shape 29"/>
          <p:cNvSpPr/>
          <p:nvPr/>
        </p:nvSpPr>
        <p:spPr>
          <a:xfrm>
            <a:off x="7525512" y="4114800"/>
            <a:ext cx="4114800" cy="1783080"/>
          </a:xfrm>
          <a:prstGeom prst="roundRect">
            <a:avLst>
              <a:gd name="adj" fmla="val 4615"/>
            </a:avLst>
          </a:prstGeom>
          <a:solidFill>
            <a:srgbClr val="FBEFD8"/>
          </a:solidFill>
          <a:ln/>
        </p:spPr>
      </p:sp>
      <p:sp>
        <p:nvSpPr>
          <p:cNvPr id="36" name="Text 30"/>
          <p:cNvSpPr/>
          <p:nvPr/>
        </p:nvSpPr>
        <p:spPr>
          <a:xfrm>
            <a:off x="7836408" y="4279392"/>
            <a:ext cx="3657600" cy="274320"/>
          </a:xfrm>
          <a:prstGeom prst="rect">
            <a:avLst/>
          </a:prstGeom>
          <a:noFill/>
          <a:ln/>
        </p:spPr>
        <p:txBody>
          <a:bodyPr wrap="square" lIns="0" tIns="0" rIns="0" bIns="0" rtlCol="0" anchor="ctr"/>
          <a:lstStyle/>
          <a:p>
            <a:pPr indent="0" marL="0">
              <a:buNone/>
            </a:pPr>
            <a:r>
              <a:rPr lang="en-US" sz="1150" b="1" spc="140" kern="0" dirty="0">
                <a:solidFill>
                  <a:srgbClr val="6B4A0E"/>
                </a:solidFill>
                <a:latin typeface="Calibri" pitchFamily="34" charset="0"/>
                <a:ea typeface="Calibri" pitchFamily="34" charset="-122"/>
                <a:cs typeface="Calibri" pitchFamily="34" charset="-120"/>
              </a:rPr>
              <a:t>Unowned is not unbudgeted</a:t>
            </a:r>
            <a:endParaRPr lang="en-US" sz="1150" dirty="0"/>
          </a:p>
        </p:txBody>
      </p:sp>
      <p:sp>
        <p:nvSpPr>
          <p:cNvPr id="37" name="Text 31"/>
          <p:cNvSpPr/>
          <p:nvPr/>
        </p:nvSpPr>
        <p:spPr>
          <a:xfrm>
            <a:off x="7836408" y="4608576"/>
            <a:ext cx="3529584" cy="1188720"/>
          </a:xfrm>
          <a:prstGeom prst="rect">
            <a:avLst/>
          </a:prstGeom>
          <a:noFill/>
          <a:ln/>
        </p:spPr>
        <p:txBody>
          <a:bodyPr wrap="square" lIns="0" tIns="0" rIns="0" bIns="0" rtlCol="0" anchor="t"/>
          <a:lstStyle/>
          <a:p>
            <a:pPr indent="0" marL="0">
              <a:lnSpc>
                <a:spcPts val="1700"/>
              </a:lnSpc>
              <a:buNone/>
            </a:pPr>
            <a:r>
              <a:rPr lang="en-US" sz="1250" dirty="0">
                <a:solidFill>
                  <a:srgbClr val="6B4A0E"/>
                </a:solidFill>
                <a:latin typeface="Calibri" pitchFamily="34" charset="0"/>
                <a:ea typeface="Calibri" pitchFamily="34" charset="-122"/>
                <a:cs typeface="Calibri" pitchFamily="34" charset="-120"/>
              </a:rPr>
              <a:t>A resource with no owner is charged to the central budget — the one place cost is hardest to challenge. Make ownership a deployment requirement, and give orphans a standing rule: no owner, no renewal.</a:t>
            </a:r>
            <a:endParaRPr lang="en-US" sz="1250" dirty="0"/>
          </a:p>
        </p:txBody>
      </p:sp>
      <p:sp>
        <p:nvSpPr>
          <p:cNvPr id="38" name="Text 32"/>
          <p:cNvSpPr/>
          <p:nvPr/>
        </p:nvSpPr>
        <p:spPr>
          <a:xfrm>
            <a:off x="548640" y="6053328"/>
            <a:ext cx="11091672" cy="402336"/>
          </a:xfrm>
          <a:prstGeom prst="rect">
            <a:avLst/>
          </a:prstGeom>
          <a:noFill/>
          <a:ln/>
        </p:spPr>
        <p:txBody>
          <a:bodyPr wrap="square" lIns="0" tIns="0" rIns="0" bIns="0" rtlCol="0" anchor="ctr"/>
          <a:lstStyle/>
          <a:p>
            <a:pPr indent="0" marL="0">
              <a:buNone/>
            </a:pPr>
            <a:r>
              <a:rPr lang="en-US" sz="1250" dirty="0">
                <a:solidFill>
                  <a:srgbClr val="5C6675"/>
                </a:solidFill>
                <a:latin typeface="Calibri" pitchFamily="34" charset="0"/>
                <a:ea typeface="Calibri" pitchFamily="34" charset="-122"/>
                <a:cs typeface="Calibri" pitchFamily="34" charset="-120"/>
              </a:rPr>
              <a:t>FinOps fails when it is one team's job — no single function above owns more than one line of it.</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CONTROLS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A report is not a control</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9EABBA"/>
                </a:solidFill>
                <a:latin typeface="Calibri" pitchFamily="34" charset="0"/>
                <a:ea typeface="Calibri" pitchFamily="34" charset="-122"/>
                <a:cs typeface="Calibri" pitchFamily="34" charset="-120"/>
              </a:rPr>
              <a:t>Three mechanisms, ordered by how fast each one acts on spend that is already running.</a:t>
            </a:r>
            <a:endParaRPr lang="en-US" sz="1500" dirty="0"/>
          </a:p>
        </p:txBody>
      </p:sp>
      <p:sp>
        <p:nvSpPr>
          <p:cNvPr id="5" name="Shape 3"/>
          <p:cNvSpPr/>
          <p:nvPr/>
        </p:nvSpPr>
        <p:spPr>
          <a:xfrm>
            <a:off x="548640" y="2212848"/>
            <a:ext cx="11091672" cy="1225296"/>
          </a:xfrm>
          <a:prstGeom prst="roundRect">
            <a:avLst>
              <a:gd name="adj" fmla="val 6716"/>
            </a:avLst>
          </a:prstGeom>
          <a:solidFill>
            <a:srgbClr val="1F2936"/>
          </a:solidFill>
          <a:ln/>
        </p:spPr>
      </p:sp>
      <p:sp>
        <p:nvSpPr>
          <p:cNvPr id="6" name="Shape 4"/>
          <p:cNvSpPr/>
          <p:nvPr/>
        </p:nvSpPr>
        <p:spPr>
          <a:xfrm>
            <a:off x="859536" y="2523744"/>
            <a:ext cx="512064" cy="512064"/>
          </a:xfrm>
          <a:prstGeom prst="ellipse">
            <a:avLst/>
          </a:prstGeom>
          <a:solidFill>
            <a:srgbClr val="2E3A48"/>
          </a:solidFill>
          <a:ln/>
        </p:spPr>
      </p:sp>
      <p:pic>
        <p:nvPicPr>
          <p:cNvPr id="7" name="Image 0" descr="preencoded.png">    </p:cNvPr>
          <p:cNvPicPr>
            <a:picLocks noChangeAspect="1"/>
          </p:cNvPicPr>
          <p:nvPr/>
        </p:nvPicPr>
        <p:blipFill>
          <a:blip r:embed="rId1"/>
          <a:stretch>
            <a:fillRect/>
          </a:stretch>
        </p:blipFill>
        <p:spPr>
          <a:xfrm>
            <a:off x="987552" y="2651760"/>
            <a:ext cx="256032" cy="256032"/>
          </a:xfrm>
          <a:prstGeom prst="rect">
            <a:avLst/>
          </a:prstGeom>
        </p:spPr>
      </p:pic>
      <p:sp>
        <p:nvSpPr>
          <p:cNvPr id="8" name="Text 5"/>
          <p:cNvSpPr/>
          <p:nvPr/>
        </p:nvSpPr>
        <p:spPr>
          <a:xfrm>
            <a:off x="1517904" y="2359152"/>
            <a:ext cx="4023360" cy="45720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Quotas and rate limits</a:t>
            </a:r>
            <a:endParaRPr lang="en-US" sz="1700" dirty="0"/>
          </a:p>
        </p:txBody>
      </p:sp>
      <p:sp>
        <p:nvSpPr>
          <p:cNvPr id="9" name="Text 6"/>
          <p:cNvSpPr/>
          <p:nvPr/>
        </p:nvSpPr>
        <p:spPr>
          <a:xfrm>
            <a:off x="1517904" y="2816352"/>
            <a:ext cx="4023360" cy="365760"/>
          </a:xfrm>
          <a:prstGeom prst="rect">
            <a:avLst/>
          </a:prstGeom>
          <a:noFill/>
          <a:ln/>
        </p:spPr>
        <p:txBody>
          <a:bodyPr wrap="square" lIns="0" tIns="0" rIns="0" bIns="0" rtlCol="0" anchor="ctr"/>
          <a:lstStyle/>
          <a:p>
            <a:pPr indent="0" marL="0">
              <a:buNone/>
            </a:pPr>
            <a:r>
              <a:rPr lang="en-US" sz="1200" b="1" dirty="0">
                <a:solidFill>
                  <a:srgbClr val="E39B2C"/>
                </a:solidFill>
                <a:latin typeface="Calibri" pitchFamily="34" charset="0"/>
                <a:ea typeface="Calibri" pitchFamily="34" charset="-122"/>
                <a:cs typeface="Calibri" pitchFamily="34" charset="-120"/>
              </a:rPr>
              <a:t>seconds</a:t>
            </a:r>
            <a:endParaRPr lang="en-US" sz="1200" dirty="0"/>
          </a:p>
        </p:txBody>
      </p:sp>
      <p:sp>
        <p:nvSpPr>
          <p:cNvPr id="10" name="Text 7"/>
          <p:cNvSpPr/>
          <p:nvPr/>
        </p:nvSpPr>
        <p:spPr>
          <a:xfrm>
            <a:off x="5760720" y="2395728"/>
            <a:ext cx="5852160" cy="914400"/>
          </a:xfrm>
          <a:prstGeom prst="rect">
            <a:avLst/>
          </a:prstGeom>
          <a:noFill/>
          <a:ln/>
        </p:spPr>
        <p:txBody>
          <a:bodyPr wrap="square" lIns="0" tIns="0" rIns="0" bIns="0" rtlCol="0" anchor="ctr"/>
          <a:lstStyle/>
          <a:p>
            <a:pPr indent="0" marL="0">
              <a:lnSpc>
                <a:spcPts val="1700"/>
              </a:lnSpc>
              <a:buNone/>
            </a:pPr>
            <a:r>
              <a:rPr lang="en-US" sz="1250" dirty="0">
                <a:solidFill>
                  <a:srgbClr val="9EABBA"/>
                </a:solidFill>
                <a:latin typeface="Calibri" pitchFamily="34" charset="0"/>
                <a:ea typeface="Calibri" pitchFamily="34" charset="-122"/>
                <a:cs typeface="Calibri" pitchFamily="34" charset="-120"/>
              </a:rPr>
              <a:t>Token and request caps, gateway throttling, autoscale ceilings. The only control that stops spend in progress — and reversible in minutes, which is what makes it safe to set.</a:t>
            </a:r>
            <a:endParaRPr lang="en-US" sz="1250" dirty="0"/>
          </a:p>
        </p:txBody>
      </p:sp>
      <p:sp>
        <p:nvSpPr>
          <p:cNvPr id="11" name="Shape 8"/>
          <p:cNvSpPr/>
          <p:nvPr/>
        </p:nvSpPr>
        <p:spPr>
          <a:xfrm>
            <a:off x="548640" y="3529584"/>
            <a:ext cx="11091672" cy="1225296"/>
          </a:xfrm>
          <a:prstGeom prst="roundRect">
            <a:avLst>
              <a:gd name="adj" fmla="val 6716"/>
            </a:avLst>
          </a:prstGeom>
          <a:solidFill>
            <a:srgbClr val="1F2936"/>
          </a:solidFill>
          <a:ln/>
        </p:spPr>
      </p:sp>
      <p:sp>
        <p:nvSpPr>
          <p:cNvPr id="12" name="Shape 9"/>
          <p:cNvSpPr/>
          <p:nvPr/>
        </p:nvSpPr>
        <p:spPr>
          <a:xfrm>
            <a:off x="859536" y="3840480"/>
            <a:ext cx="512064" cy="512064"/>
          </a:xfrm>
          <a:prstGeom prst="ellipse">
            <a:avLst/>
          </a:prstGeom>
          <a:solidFill>
            <a:srgbClr val="2E3A48"/>
          </a:solidFill>
          <a:ln/>
        </p:spPr>
      </p:sp>
      <p:pic>
        <p:nvPicPr>
          <p:cNvPr id="13" name="Image 1" descr="preencoded.png">    </p:cNvPr>
          <p:cNvPicPr>
            <a:picLocks noChangeAspect="1"/>
          </p:cNvPicPr>
          <p:nvPr/>
        </p:nvPicPr>
        <p:blipFill>
          <a:blip r:embed="rId2"/>
          <a:stretch>
            <a:fillRect/>
          </a:stretch>
        </p:blipFill>
        <p:spPr>
          <a:xfrm>
            <a:off x="987552" y="3968496"/>
            <a:ext cx="256032" cy="256032"/>
          </a:xfrm>
          <a:prstGeom prst="rect">
            <a:avLst/>
          </a:prstGeom>
        </p:spPr>
      </p:pic>
      <p:sp>
        <p:nvSpPr>
          <p:cNvPr id="14" name="Text 10"/>
          <p:cNvSpPr/>
          <p:nvPr/>
        </p:nvSpPr>
        <p:spPr>
          <a:xfrm>
            <a:off x="1517904" y="3675888"/>
            <a:ext cx="4023360" cy="45720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Alerts, tiered by what they prevent</a:t>
            </a:r>
            <a:endParaRPr lang="en-US" sz="1700" dirty="0"/>
          </a:p>
        </p:txBody>
      </p:sp>
      <p:sp>
        <p:nvSpPr>
          <p:cNvPr id="15" name="Text 11"/>
          <p:cNvSpPr/>
          <p:nvPr/>
        </p:nvSpPr>
        <p:spPr>
          <a:xfrm>
            <a:off x="1517904" y="4133088"/>
            <a:ext cx="4023360" cy="365760"/>
          </a:xfrm>
          <a:prstGeom prst="rect">
            <a:avLst/>
          </a:prstGeom>
          <a:noFill/>
          <a:ln/>
        </p:spPr>
        <p:txBody>
          <a:bodyPr wrap="square" lIns="0" tIns="0" rIns="0" bIns="0" rtlCol="0" anchor="ctr"/>
          <a:lstStyle/>
          <a:p>
            <a:pPr indent="0" marL="0">
              <a:buNone/>
            </a:pPr>
            <a:r>
              <a:rPr lang="en-US" sz="1200" b="1" dirty="0">
                <a:solidFill>
                  <a:srgbClr val="E39B2C"/>
                </a:solidFill>
                <a:latin typeface="Calibri" pitchFamily="34" charset="0"/>
                <a:ea typeface="Calibri" pitchFamily="34" charset="-122"/>
                <a:cs typeface="Calibri" pitchFamily="34" charset="-120"/>
              </a:rPr>
              <a:t>minutes to days</a:t>
            </a:r>
            <a:endParaRPr lang="en-US" sz="1200" dirty="0"/>
          </a:p>
        </p:txBody>
      </p:sp>
      <p:sp>
        <p:nvSpPr>
          <p:cNvPr id="16" name="Text 12"/>
          <p:cNvSpPr/>
          <p:nvPr/>
        </p:nvSpPr>
        <p:spPr>
          <a:xfrm>
            <a:off x="5760720" y="3712464"/>
            <a:ext cx="5852160" cy="914400"/>
          </a:xfrm>
          <a:prstGeom prst="rect">
            <a:avLst/>
          </a:prstGeom>
          <a:noFill/>
          <a:ln/>
        </p:spPr>
        <p:txBody>
          <a:bodyPr wrap="square" lIns="0" tIns="0" rIns="0" bIns="0" rtlCol="0" anchor="ctr"/>
          <a:lstStyle/>
          <a:p>
            <a:pPr indent="0" marL="0">
              <a:lnSpc>
                <a:spcPts val="1700"/>
              </a:lnSpc>
              <a:buNone/>
            </a:pPr>
            <a:r>
              <a:rPr lang="en-US" sz="1250" dirty="0">
                <a:solidFill>
                  <a:srgbClr val="9EABBA"/>
                </a:solidFill>
                <a:latin typeface="Calibri" pitchFamily="34" charset="0"/>
                <a:ea typeface="Calibri" pitchFamily="34" charset="-122"/>
                <a:cs typeface="Calibri" pitchFamily="34" charset="-120"/>
              </a:rPr>
              <a:t>Usage-plane alerts page an owner. Billing-plane alerts go to a channel. Advisory alerts become tickets. Never page on a budget number — and alert on silence too, because a stopped feed looks like a good month.</a:t>
            </a:r>
            <a:endParaRPr lang="en-US" sz="1250" dirty="0"/>
          </a:p>
        </p:txBody>
      </p:sp>
      <p:sp>
        <p:nvSpPr>
          <p:cNvPr id="17" name="Shape 13"/>
          <p:cNvSpPr/>
          <p:nvPr/>
        </p:nvSpPr>
        <p:spPr>
          <a:xfrm>
            <a:off x="548640" y="4846320"/>
            <a:ext cx="11091672" cy="1225296"/>
          </a:xfrm>
          <a:prstGeom prst="roundRect">
            <a:avLst>
              <a:gd name="adj" fmla="val 6716"/>
            </a:avLst>
          </a:prstGeom>
          <a:solidFill>
            <a:srgbClr val="1F2936"/>
          </a:solidFill>
          <a:ln/>
        </p:spPr>
      </p:sp>
      <p:sp>
        <p:nvSpPr>
          <p:cNvPr id="18" name="Shape 14"/>
          <p:cNvSpPr/>
          <p:nvPr/>
        </p:nvSpPr>
        <p:spPr>
          <a:xfrm>
            <a:off x="859536" y="5157216"/>
            <a:ext cx="512064" cy="512064"/>
          </a:xfrm>
          <a:prstGeom prst="ellipse">
            <a:avLst/>
          </a:prstGeom>
          <a:solidFill>
            <a:srgbClr val="2E3A48"/>
          </a:solidFill>
          <a:ln/>
        </p:spPr>
      </p:sp>
      <p:pic>
        <p:nvPicPr>
          <p:cNvPr id="19" name="Image 2" descr="preencoded.png">    </p:cNvPr>
          <p:cNvPicPr>
            <a:picLocks noChangeAspect="1"/>
          </p:cNvPicPr>
          <p:nvPr/>
        </p:nvPicPr>
        <p:blipFill>
          <a:blip r:embed="rId3"/>
          <a:stretch>
            <a:fillRect/>
          </a:stretch>
        </p:blipFill>
        <p:spPr>
          <a:xfrm>
            <a:off x="987552" y="5285232"/>
            <a:ext cx="256032" cy="256032"/>
          </a:xfrm>
          <a:prstGeom prst="rect">
            <a:avLst/>
          </a:prstGeom>
        </p:spPr>
      </p:pic>
      <p:sp>
        <p:nvSpPr>
          <p:cNvPr id="20" name="Text 15"/>
          <p:cNvSpPr/>
          <p:nvPr/>
        </p:nvSpPr>
        <p:spPr>
          <a:xfrm>
            <a:off x="1517904" y="4992624"/>
            <a:ext cx="4023360" cy="45720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Budget thresholds</a:t>
            </a:r>
            <a:endParaRPr lang="en-US" sz="1700" dirty="0"/>
          </a:p>
        </p:txBody>
      </p:sp>
      <p:sp>
        <p:nvSpPr>
          <p:cNvPr id="21" name="Text 16"/>
          <p:cNvSpPr/>
          <p:nvPr/>
        </p:nvSpPr>
        <p:spPr>
          <a:xfrm>
            <a:off x="1517904" y="5449824"/>
            <a:ext cx="4023360" cy="365760"/>
          </a:xfrm>
          <a:prstGeom prst="rect">
            <a:avLst/>
          </a:prstGeom>
          <a:noFill/>
          <a:ln/>
        </p:spPr>
        <p:txBody>
          <a:bodyPr wrap="square" lIns="0" tIns="0" rIns="0" bIns="0" rtlCol="0" anchor="ctr"/>
          <a:lstStyle/>
          <a:p>
            <a:pPr indent="0" marL="0">
              <a:buNone/>
            </a:pPr>
            <a:r>
              <a:rPr lang="en-US" sz="1200" b="1" dirty="0">
                <a:solidFill>
                  <a:srgbClr val="2E8B7A"/>
                </a:solidFill>
                <a:latin typeface="Calibri" pitchFamily="34" charset="0"/>
                <a:ea typeface="Calibri" pitchFamily="34" charset="-122"/>
                <a:cs typeface="Calibri" pitchFamily="34" charset="-120"/>
              </a:rPr>
              <a:t>within the month</a:t>
            </a:r>
            <a:endParaRPr lang="en-US" sz="1200" dirty="0"/>
          </a:p>
        </p:txBody>
      </p:sp>
      <p:sp>
        <p:nvSpPr>
          <p:cNvPr id="22" name="Text 17"/>
          <p:cNvSpPr/>
          <p:nvPr/>
        </p:nvSpPr>
        <p:spPr>
          <a:xfrm>
            <a:off x="5760720" y="5029200"/>
            <a:ext cx="5852160" cy="914400"/>
          </a:xfrm>
          <a:prstGeom prst="rect">
            <a:avLst/>
          </a:prstGeom>
          <a:noFill/>
          <a:ln/>
        </p:spPr>
        <p:txBody>
          <a:bodyPr wrap="square" lIns="0" tIns="0" rIns="0" bIns="0" rtlCol="0" anchor="ctr"/>
          <a:lstStyle/>
          <a:p>
            <a:pPr indent="0" marL="0">
              <a:lnSpc>
                <a:spcPts val="1700"/>
              </a:lnSpc>
              <a:buNone/>
            </a:pPr>
            <a:r>
              <a:rPr lang="en-US" sz="1250" dirty="0">
                <a:solidFill>
                  <a:srgbClr val="9EABBA"/>
                </a:solidFill>
                <a:latin typeface="Calibri" pitchFamily="34" charset="0"/>
                <a:ea typeface="Calibri" pitchFamily="34" charset="-122"/>
                <a:cs typeface="Calibri" pitchFamily="34" charset="-120"/>
              </a:rPr>
              <a:t>Notify, review, gate — measured against the elapsed month, so day 10 at 60% of budget is the alert. A flat 80% fires on day 24 of a healthy month and day 8 of a catastrophic one.</a:t>
            </a:r>
            <a:endParaRPr lang="en-US" sz="1250" dirty="0"/>
          </a:p>
        </p:txBody>
      </p:sp>
      <p:sp>
        <p:nvSpPr>
          <p:cNvPr id="23" name="Text 18"/>
          <p:cNvSpPr/>
          <p:nvPr/>
        </p:nvSpPr>
        <p:spPr>
          <a:xfrm>
            <a:off x="548640" y="6199632"/>
            <a:ext cx="11091672" cy="457200"/>
          </a:xfrm>
          <a:prstGeom prst="rect">
            <a:avLst/>
          </a:prstGeom>
          <a:noFill/>
          <a:ln/>
        </p:spPr>
        <p:txBody>
          <a:bodyPr wrap="square" lIns="0" tIns="0" rIns="0" bIns="0" rtlCol="0" anchor="ctr"/>
          <a:lstStyle/>
          <a:p>
            <a:pPr indent="0" marL="0">
              <a:buNone/>
            </a:pPr>
            <a:r>
              <a:rPr lang="en-US" sz="1450" i="1" dirty="0">
                <a:solidFill>
                  <a:srgbClr val="E39B2C"/>
                </a:solidFill>
                <a:latin typeface="Cambria" pitchFamily="34" charset="0"/>
                <a:ea typeface="Cambria" pitchFamily="34" charset="-122"/>
                <a:cs typeface="Cambria" pitchFamily="34" charset="-120"/>
              </a:rPr>
              <a:t>“A cost alert cannot save you from a runaway job — by the time the billing data moves, the money is spent.”</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 PUTTING IT TOGETHER</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Nobody should learn it from the invoice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The same overrun, found at four different moments. Only the first three leave you anything to do about it.</a:t>
            </a:r>
            <a:endParaRPr lang="en-US" sz="1500" dirty="0"/>
          </a:p>
        </p:txBody>
      </p:sp>
      <p:sp>
        <p:nvSpPr>
          <p:cNvPr id="5" name="Shape 3"/>
          <p:cNvSpPr/>
          <p:nvPr/>
        </p:nvSpPr>
        <p:spPr>
          <a:xfrm>
            <a:off x="1737360" y="3127248"/>
            <a:ext cx="8714232" cy="45720"/>
          </a:xfrm>
          <a:prstGeom prst="roundRect">
            <a:avLst>
              <a:gd name="adj" fmla="val 40000"/>
            </a:avLst>
          </a:prstGeom>
          <a:solidFill>
            <a:srgbClr val="DFE4EA"/>
          </a:solidFill>
          <a:ln/>
        </p:spPr>
      </p:sp>
      <p:sp>
        <p:nvSpPr>
          <p:cNvPr id="6" name="Text 4"/>
          <p:cNvSpPr/>
          <p:nvPr/>
        </p:nvSpPr>
        <p:spPr>
          <a:xfrm>
            <a:off x="548640" y="2212848"/>
            <a:ext cx="2377440" cy="310896"/>
          </a:xfrm>
          <a:prstGeom prst="rect">
            <a:avLst/>
          </a:prstGeom>
          <a:noFill/>
          <a:ln/>
        </p:spPr>
        <p:txBody>
          <a:bodyPr wrap="square" lIns="0" tIns="0" rIns="0" bIns="0" rtlCol="0" anchor="ctr"/>
          <a:lstStyle/>
          <a:p>
            <a:pPr algn="ctr" indent="0" marL="0">
              <a:buNone/>
            </a:pPr>
            <a:r>
              <a:rPr lang="en-US" sz="1400" b="1" dirty="0">
                <a:solidFill>
                  <a:srgbClr val="1B2430"/>
                </a:solidFill>
                <a:latin typeface="Calibri" pitchFamily="34" charset="0"/>
                <a:ea typeface="Calibri" pitchFamily="34" charset="-122"/>
                <a:cs typeface="Calibri" pitchFamily="34" charset="-120"/>
              </a:rPr>
              <a:t>Usage burn alert</a:t>
            </a:r>
            <a:endParaRPr lang="en-US" sz="1400" dirty="0"/>
          </a:p>
        </p:txBody>
      </p:sp>
      <p:sp>
        <p:nvSpPr>
          <p:cNvPr id="7" name="Text 5"/>
          <p:cNvSpPr/>
          <p:nvPr/>
        </p:nvSpPr>
        <p:spPr>
          <a:xfrm>
            <a:off x="548640"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B87B18"/>
                </a:solidFill>
                <a:latin typeface="Calibri" pitchFamily="34" charset="0"/>
                <a:ea typeface="Calibri" pitchFamily="34" charset="-122"/>
                <a:cs typeface="Calibri" pitchFamily="34" charset="-120"/>
              </a:rPr>
              <a:t>~10 minutes</a:t>
            </a:r>
            <a:endParaRPr lang="en-US" sz="1250" dirty="0"/>
          </a:p>
        </p:txBody>
      </p:sp>
      <p:sp>
        <p:nvSpPr>
          <p:cNvPr id="8" name="Shape 6"/>
          <p:cNvSpPr/>
          <p:nvPr/>
        </p:nvSpPr>
        <p:spPr>
          <a:xfrm>
            <a:off x="1618488" y="3031236"/>
            <a:ext cx="237744" cy="237744"/>
          </a:xfrm>
          <a:prstGeom prst="ellipse">
            <a:avLst/>
          </a:prstGeom>
          <a:solidFill>
            <a:srgbClr val="E39B2C"/>
          </a:solidFill>
          <a:ln w="25400">
            <a:solidFill>
              <a:srgbClr val="FFFFFF"/>
            </a:solidFill>
            <a:prstDash val="solid"/>
          </a:ln>
        </p:spPr>
      </p:sp>
      <p:sp>
        <p:nvSpPr>
          <p:cNvPr id="9" name="Text 7"/>
          <p:cNvSpPr/>
          <p:nvPr/>
        </p:nvSpPr>
        <p:spPr>
          <a:xfrm>
            <a:off x="548640"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Throttle it, or confirm it was intended.</a:t>
            </a:r>
            <a:endParaRPr lang="en-US" sz="1200" dirty="0"/>
          </a:p>
        </p:txBody>
      </p:sp>
      <p:sp>
        <p:nvSpPr>
          <p:cNvPr id="10" name="Text 8"/>
          <p:cNvSpPr/>
          <p:nvPr/>
        </p:nvSpPr>
        <p:spPr>
          <a:xfrm>
            <a:off x="3566160" y="2212848"/>
            <a:ext cx="2377440" cy="310896"/>
          </a:xfrm>
          <a:prstGeom prst="rect">
            <a:avLst/>
          </a:prstGeom>
          <a:noFill/>
          <a:ln/>
        </p:spPr>
        <p:txBody>
          <a:bodyPr wrap="square" lIns="0" tIns="0" rIns="0" bIns="0" rtlCol="0" anchor="ctr"/>
          <a:lstStyle/>
          <a:p>
            <a:pPr algn="ctr" indent="0" marL="0">
              <a:buNone/>
            </a:pPr>
            <a:r>
              <a:rPr lang="en-US" sz="1400" b="1" dirty="0">
                <a:solidFill>
                  <a:srgbClr val="1B2430"/>
                </a:solidFill>
                <a:latin typeface="Calibri" pitchFamily="34" charset="0"/>
                <a:ea typeface="Calibri" pitchFamily="34" charset="-122"/>
                <a:cs typeface="Calibri" pitchFamily="34" charset="-120"/>
              </a:rPr>
              <a:t>Daily spend threshold</a:t>
            </a:r>
            <a:endParaRPr lang="en-US" sz="1400" dirty="0"/>
          </a:p>
        </p:txBody>
      </p:sp>
      <p:sp>
        <p:nvSpPr>
          <p:cNvPr id="11" name="Text 9"/>
          <p:cNvSpPr/>
          <p:nvPr/>
        </p:nvSpPr>
        <p:spPr>
          <a:xfrm>
            <a:off x="3566160"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1F6B5C"/>
                </a:solidFill>
                <a:latin typeface="Calibri" pitchFamily="34" charset="0"/>
                <a:ea typeface="Calibri" pitchFamily="34" charset="-122"/>
                <a:cs typeface="Calibri" pitchFamily="34" charset="-120"/>
              </a:rPr>
              <a:t>next morning</a:t>
            </a:r>
            <a:endParaRPr lang="en-US" sz="1250" dirty="0"/>
          </a:p>
        </p:txBody>
      </p:sp>
      <p:sp>
        <p:nvSpPr>
          <p:cNvPr id="12" name="Shape 10"/>
          <p:cNvSpPr/>
          <p:nvPr/>
        </p:nvSpPr>
        <p:spPr>
          <a:xfrm>
            <a:off x="4636008" y="3031236"/>
            <a:ext cx="237744" cy="237744"/>
          </a:xfrm>
          <a:prstGeom prst="ellipse">
            <a:avLst/>
          </a:prstGeom>
          <a:solidFill>
            <a:srgbClr val="2E8B7A"/>
          </a:solidFill>
          <a:ln w="25400">
            <a:solidFill>
              <a:srgbClr val="FFFFFF"/>
            </a:solidFill>
            <a:prstDash val="solid"/>
          </a:ln>
        </p:spPr>
      </p:sp>
      <p:sp>
        <p:nvSpPr>
          <p:cNvPr id="13" name="Text 11"/>
          <p:cNvSpPr/>
          <p:nvPr/>
        </p:nvSpPr>
        <p:spPr>
          <a:xfrm>
            <a:off x="3566160"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One team, one number, one owner to ask.</a:t>
            </a:r>
            <a:endParaRPr lang="en-US" sz="1200" dirty="0"/>
          </a:p>
        </p:txBody>
      </p:sp>
      <p:sp>
        <p:nvSpPr>
          <p:cNvPr id="14" name="Text 12"/>
          <p:cNvSpPr/>
          <p:nvPr/>
        </p:nvSpPr>
        <p:spPr>
          <a:xfrm>
            <a:off x="6583680" y="2212848"/>
            <a:ext cx="2377440" cy="310896"/>
          </a:xfrm>
          <a:prstGeom prst="rect">
            <a:avLst/>
          </a:prstGeom>
          <a:noFill/>
          <a:ln/>
        </p:spPr>
        <p:txBody>
          <a:bodyPr wrap="square" lIns="0" tIns="0" rIns="0" bIns="0" rtlCol="0" anchor="ctr"/>
          <a:lstStyle/>
          <a:p>
            <a:pPr algn="ctr" indent="0" marL="0">
              <a:buNone/>
            </a:pPr>
            <a:r>
              <a:rPr lang="en-US" sz="1400" b="1" dirty="0">
                <a:solidFill>
                  <a:srgbClr val="1B2430"/>
                </a:solidFill>
                <a:latin typeface="Calibri" pitchFamily="34" charset="0"/>
                <a:ea typeface="Calibri" pitchFamily="34" charset="-122"/>
                <a:cs typeface="Calibri" pitchFamily="34" charset="-120"/>
              </a:rPr>
              <a:t>Forecast overrun</a:t>
            </a:r>
            <a:endParaRPr lang="en-US" sz="1400" dirty="0"/>
          </a:p>
        </p:txBody>
      </p:sp>
      <p:sp>
        <p:nvSpPr>
          <p:cNvPr id="15" name="Text 13"/>
          <p:cNvSpPr/>
          <p:nvPr/>
        </p:nvSpPr>
        <p:spPr>
          <a:xfrm>
            <a:off x="6583680"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1F6B5C"/>
                </a:solidFill>
                <a:latin typeface="Calibri" pitchFamily="34" charset="0"/>
                <a:ea typeface="Calibri" pitchFamily="34" charset="-122"/>
                <a:cs typeface="Calibri" pitchFamily="34" charset="-120"/>
              </a:rPr>
              <a:t>~2 weeks out</a:t>
            </a:r>
            <a:endParaRPr lang="en-US" sz="1250" dirty="0"/>
          </a:p>
        </p:txBody>
      </p:sp>
      <p:sp>
        <p:nvSpPr>
          <p:cNvPr id="16" name="Shape 14"/>
          <p:cNvSpPr/>
          <p:nvPr/>
        </p:nvSpPr>
        <p:spPr>
          <a:xfrm>
            <a:off x="7653528" y="3031236"/>
            <a:ext cx="237744" cy="237744"/>
          </a:xfrm>
          <a:prstGeom prst="ellipse">
            <a:avLst/>
          </a:prstGeom>
          <a:solidFill>
            <a:srgbClr val="2E8B7A"/>
          </a:solidFill>
          <a:ln w="25400">
            <a:solidFill>
              <a:srgbClr val="FFFFFF"/>
            </a:solidFill>
            <a:prstDash val="solid"/>
          </a:ln>
        </p:spPr>
      </p:sp>
      <p:sp>
        <p:nvSpPr>
          <p:cNvPr id="17" name="Text 15"/>
          <p:cNvSpPr/>
          <p:nvPr/>
        </p:nvSpPr>
        <p:spPr>
          <a:xfrm>
            <a:off x="6583680"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Still time to change the month's outcome.</a:t>
            </a:r>
            <a:endParaRPr lang="en-US" sz="1200" dirty="0"/>
          </a:p>
        </p:txBody>
      </p:sp>
      <p:sp>
        <p:nvSpPr>
          <p:cNvPr id="18" name="Text 16"/>
          <p:cNvSpPr/>
          <p:nvPr/>
        </p:nvSpPr>
        <p:spPr>
          <a:xfrm>
            <a:off x="9262872" y="2212848"/>
            <a:ext cx="2377440" cy="310896"/>
          </a:xfrm>
          <a:prstGeom prst="rect">
            <a:avLst/>
          </a:prstGeom>
          <a:noFill/>
          <a:ln/>
        </p:spPr>
        <p:txBody>
          <a:bodyPr wrap="square" lIns="0" tIns="0" rIns="0" bIns="0" rtlCol="0" anchor="ctr"/>
          <a:lstStyle/>
          <a:p>
            <a:pPr algn="ctr" indent="0" marL="0">
              <a:buNone/>
            </a:pPr>
            <a:r>
              <a:rPr lang="en-US" sz="1400" b="1" dirty="0">
                <a:solidFill>
                  <a:srgbClr val="5C6675"/>
                </a:solidFill>
                <a:latin typeface="Calibri" pitchFamily="34" charset="0"/>
                <a:ea typeface="Calibri" pitchFamily="34" charset="-122"/>
                <a:cs typeface="Calibri" pitchFamily="34" charset="-120"/>
              </a:rPr>
              <a:t>The invoice</a:t>
            </a:r>
            <a:endParaRPr lang="en-US" sz="1400" dirty="0"/>
          </a:p>
        </p:txBody>
      </p:sp>
      <p:sp>
        <p:nvSpPr>
          <p:cNvPr id="19" name="Text 17"/>
          <p:cNvSpPr/>
          <p:nvPr/>
        </p:nvSpPr>
        <p:spPr>
          <a:xfrm>
            <a:off x="9262872"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5C6675"/>
                </a:solidFill>
                <a:latin typeface="Calibri" pitchFamily="34" charset="0"/>
                <a:ea typeface="Calibri" pitchFamily="34" charset="-122"/>
                <a:cs typeface="Calibri" pitchFamily="34" charset="-120"/>
              </a:rPr>
              <a:t>30–45 days later</a:t>
            </a:r>
            <a:endParaRPr lang="en-US" sz="1250" dirty="0"/>
          </a:p>
        </p:txBody>
      </p:sp>
      <p:sp>
        <p:nvSpPr>
          <p:cNvPr id="20" name="Shape 18"/>
          <p:cNvSpPr/>
          <p:nvPr/>
        </p:nvSpPr>
        <p:spPr>
          <a:xfrm>
            <a:off x="10332720" y="3031236"/>
            <a:ext cx="237744" cy="237744"/>
          </a:xfrm>
          <a:prstGeom prst="ellipse">
            <a:avLst/>
          </a:prstGeom>
          <a:solidFill>
            <a:srgbClr val="AEB8C4"/>
          </a:solidFill>
          <a:ln w="25400">
            <a:solidFill>
              <a:srgbClr val="FFFFFF"/>
            </a:solidFill>
            <a:prstDash val="solid"/>
          </a:ln>
        </p:spPr>
      </p:sp>
      <p:sp>
        <p:nvSpPr>
          <p:cNvPr id="21" name="Text 19"/>
          <p:cNvSpPr/>
          <p:nvPr/>
        </p:nvSpPr>
        <p:spPr>
          <a:xfrm>
            <a:off x="9262872"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Nothing left to decide. Only to explain.</a:t>
            </a:r>
            <a:endParaRPr lang="en-US" sz="1200" dirty="0"/>
          </a:p>
        </p:txBody>
      </p:sp>
      <p:sp>
        <p:nvSpPr>
          <p:cNvPr id="22" name="Shape 20"/>
          <p:cNvSpPr/>
          <p:nvPr/>
        </p:nvSpPr>
        <p:spPr>
          <a:xfrm>
            <a:off x="548640" y="4297680"/>
            <a:ext cx="6675120" cy="2011680"/>
          </a:xfrm>
          <a:prstGeom prst="roundRect">
            <a:avLst>
              <a:gd name="adj" fmla="val 4091"/>
            </a:avLst>
          </a:prstGeom>
          <a:solidFill>
            <a:srgbClr val="F1F3F6"/>
          </a:solidFill>
          <a:ln/>
        </p:spPr>
      </p:sp>
      <p:sp>
        <p:nvSpPr>
          <p:cNvPr id="23" name="Text 21"/>
          <p:cNvSpPr/>
          <p:nvPr/>
        </p:nvSpPr>
        <p:spPr>
          <a:xfrm>
            <a:off x="877824" y="4443984"/>
            <a:ext cx="365760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What has to be true</a:t>
            </a:r>
            <a:endParaRPr lang="en-US" sz="1200" dirty="0"/>
          </a:p>
        </p:txBody>
      </p:sp>
      <p:sp>
        <p:nvSpPr>
          <p:cNvPr id="24" name="Shape 22"/>
          <p:cNvSpPr/>
          <p:nvPr/>
        </p:nvSpPr>
        <p:spPr>
          <a:xfrm>
            <a:off x="877824" y="4809744"/>
            <a:ext cx="274320" cy="274320"/>
          </a:xfrm>
          <a:prstGeom prst="ellipse">
            <a:avLst/>
          </a:prstGeom>
          <a:solidFill>
            <a:srgbClr val="FFFFFF"/>
          </a:solidFill>
          <a:ln/>
        </p:spPr>
      </p:sp>
      <p:pic>
        <p:nvPicPr>
          <p:cNvPr id="25" name="Image 0" descr="preencoded.png">    </p:cNvPr>
          <p:cNvPicPr>
            <a:picLocks noChangeAspect="1"/>
          </p:cNvPicPr>
          <p:nvPr/>
        </p:nvPicPr>
        <p:blipFill>
          <a:blip r:embed="rId1"/>
          <a:stretch>
            <a:fillRect/>
          </a:stretch>
        </p:blipFill>
        <p:spPr>
          <a:xfrm>
            <a:off x="946404" y="4878324"/>
            <a:ext cx="137160" cy="137160"/>
          </a:xfrm>
          <a:prstGeom prst="rect">
            <a:avLst/>
          </a:prstGeom>
        </p:spPr>
      </p:pic>
      <p:sp>
        <p:nvSpPr>
          <p:cNvPr id="26" name="Text 23"/>
          <p:cNvSpPr/>
          <p:nvPr/>
        </p:nvSpPr>
        <p:spPr>
          <a:xfrm>
            <a:off x="1298448" y="4754880"/>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Protective alerts run on usage data, not on billing data</a:t>
            </a:r>
            <a:endParaRPr lang="en-US" sz="1300" dirty="0"/>
          </a:p>
        </p:txBody>
      </p:sp>
      <p:sp>
        <p:nvSpPr>
          <p:cNvPr id="27" name="Shape 24"/>
          <p:cNvSpPr/>
          <p:nvPr/>
        </p:nvSpPr>
        <p:spPr>
          <a:xfrm>
            <a:off x="877824" y="5193792"/>
            <a:ext cx="274320" cy="274320"/>
          </a:xfrm>
          <a:prstGeom prst="ellipse">
            <a:avLst/>
          </a:prstGeom>
          <a:solidFill>
            <a:srgbClr val="FFFFFF"/>
          </a:solidFill>
          <a:ln/>
        </p:spPr>
      </p:sp>
      <p:pic>
        <p:nvPicPr>
          <p:cNvPr id="28" name="Image 1" descr="preencoded.png">    </p:cNvPr>
          <p:cNvPicPr>
            <a:picLocks noChangeAspect="1"/>
          </p:cNvPicPr>
          <p:nvPr/>
        </p:nvPicPr>
        <p:blipFill>
          <a:blip r:embed="rId2"/>
          <a:stretch>
            <a:fillRect/>
          </a:stretch>
        </p:blipFill>
        <p:spPr>
          <a:xfrm>
            <a:off x="946404" y="5262372"/>
            <a:ext cx="137160" cy="137160"/>
          </a:xfrm>
          <a:prstGeom prst="rect">
            <a:avLst/>
          </a:prstGeom>
        </p:spPr>
      </p:pic>
      <p:sp>
        <p:nvSpPr>
          <p:cNvPr id="29" name="Text 25"/>
          <p:cNvSpPr/>
          <p:nvPr/>
        </p:nvSpPr>
        <p:spPr>
          <a:xfrm>
            <a:off x="1298448" y="5138928"/>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Every alert has a named owner to route to</a:t>
            </a:r>
            <a:endParaRPr lang="en-US" sz="1300" dirty="0"/>
          </a:p>
        </p:txBody>
      </p:sp>
      <p:sp>
        <p:nvSpPr>
          <p:cNvPr id="30" name="Shape 26"/>
          <p:cNvSpPr/>
          <p:nvPr/>
        </p:nvSpPr>
        <p:spPr>
          <a:xfrm>
            <a:off x="877824" y="5577840"/>
            <a:ext cx="274320" cy="274320"/>
          </a:xfrm>
          <a:prstGeom prst="ellipse">
            <a:avLst/>
          </a:prstGeom>
          <a:solidFill>
            <a:srgbClr val="FFFFFF"/>
          </a:solidFill>
          <a:ln/>
        </p:spPr>
      </p:sp>
      <p:pic>
        <p:nvPicPr>
          <p:cNvPr id="31" name="Image 2" descr="preencoded.png">    </p:cNvPr>
          <p:cNvPicPr>
            <a:picLocks noChangeAspect="1"/>
          </p:cNvPicPr>
          <p:nvPr/>
        </p:nvPicPr>
        <p:blipFill>
          <a:blip r:embed="rId3"/>
          <a:stretch>
            <a:fillRect/>
          </a:stretch>
        </p:blipFill>
        <p:spPr>
          <a:xfrm>
            <a:off x="946404" y="5646420"/>
            <a:ext cx="137160" cy="137160"/>
          </a:xfrm>
          <a:prstGeom prst="rect">
            <a:avLst/>
          </a:prstGeom>
        </p:spPr>
      </p:pic>
      <p:sp>
        <p:nvSpPr>
          <p:cNvPr id="32" name="Text 27"/>
          <p:cNvSpPr/>
          <p:nvPr/>
        </p:nvSpPr>
        <p:spPr>
          <a:xfrm>
            <a:off x="1298448" y="5522976"/>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Budgets are phased, so drift shows up in week one</a:t>
            </a:r>
            <a:endParaRPr lang="en-US" sz="1300" dirty="0"/>
          </a:p>
        </p:txBody>
      </p:sp>
      <p:sp>
        <p:nvSpPr>
          <p:cNvPr id="33" name="Shape 28"/>
          <p:cNvSpPr/>
          <p:nvPr/>
        </p:nvSpPr>
        <p:spPr>
          <a:xfrm>
            <a:off x="877824" y="5961888"/>
            <a:ext cx="274320" cy="274320"/>
          </a:xfrm>
          <a:prstGeom prst="ellipse">
            <a:avLst/>
          </a:prstGeom>
          <a:solidFill>
            <a:srgbClr val="FFFFFF"/>
          </a:solidFill>
          <a:ln/>
        </p:spPr>
      </p:sp>
      <p:pic>
        <p:nvPicPr>
          <p:cNvPr id="34" name="Image 3" descr="preencoded.png">    </p:cNvPr>
          <p:cNvPicPr>
            <a:picLocks noChangeAspect="1"/>
          </p:cNvPicPr>
          <p:nvPr/>
        </p:nvPicPr>
        <p:blipFill>
          <a:blip r:embed="rId4"/>
          <a:stretch>
            <a:fillRect/>
          </a:stretch>
        </p:blipFill>
        <p:spPr>
          <a:xfrm>
            <a:off x="946404" y="6030468"/>
            <a:ext cx="137160" cy="137160"/>
          </a:xfrm>
          <a:prstGeom prst="rect">
            <a:avLst/>
          </a:prstGeom>
        </p:spPr>
      </p:pic>
      <p:sp>
        <p:nvSpPr>
          <p:cNvPr id="35" name="Text 29"/>
          <p:cNvSpPr/>
          <p:nvPr/>
        </p:nvSpPr>
        <p:spPr>
          <a:xfrm>
            <a:off x="1298448" y="5907024"/>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Quotas cap the worst case while someone investigates</a:t>
            </a:r>
            <a:endParaRPr lang="en-US" sz="1300" dirty="0"/>
          </a:p>
        </p:txBody>
      </p:sp>
      <p:sp>
        <p:nvSpPr>
          <p:cNvPr id="36" name="Shape 30"/>
          <p:cNvSpPr/>
          <p:nvPr/>
        </p:nvSpPr>
        <p:spPr>
          <a:xfrm>
            <a:off x="7525512" y="4297680"/>
            <a:ext cx="4114800" cy="2011680"/>
          </a:xfrm>
          <a:prstGeom prst="roundRect">
            <a:avLst>
              <a:gd name="adj" fmla="val 4091"/>
            </a:avLst>
          </a:prstGeom>
          <a:solidFill>
            <a:srgbClr val="1F2936"/>
          </a:solidFill>
          <a:ln/>
          <a:effectLst>
            <a:outerShdw sx="100000" sy="100000" kx="0" ky="0" algn="bl" rotWithShape="0" blurRad="127000" dist="25400" dir="5400000">
              <a:srgbClr val="8C99A8">
                <a:alpha val="16000"/>
              </a:srgbClr>
            </a:outerShdw>
          </a:effectLst>
        </p:spPr>
      </p:sp>
      <p:sp>
        <p:nvSpPr>
          <p:cNvPr id="37" name="Text 31"/>
          <p:cNvSpPr/>
          <p:nvPr/>
        </p:nvSpPr>
        <p:spPr>
          <a:xfrm>
            <a:off x="7818120" y="4462272"/>
            <a:ext cx="3200400" cy="292608"/>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point</a:t>
            </a:r>
            <a:endParaRPr lang="en-US" sz="1200" dirty="0"/>
          </a:p>
        </p:txBody>
      </p:sp>
      <p:sp>
        <p:nvSpPr>
          <p:cNvPr id="38" name="Text 32"/>
          <p:cNvSpPr/>
          <p:nvPr/>
        </p:nvSpPr>
        <p:spPr>
          <a:xfrm>
            <a:off x="7818120" y="4828032"/>
            <a:ext cx="3529584" cy="1280160"/>
          </a:xfrm>
          <a:prstGeom prst="rect">
            <a:avLst/>
          </a:prstGeom>
          <a:noFill/>
          <a:ln/>
        </p:spPr>
        <p:txBody>
          <a:bodyPr wrap="square" lIns="0" tIns="0" rIns="0" bIns="0" rtlCol="0" anchor="t"/>
          <a:lstStyle/>
          <a:p>
            <a:pPr indent="0" marL="0">
              <a:lnSpc>
                <a:spcPts val="2200"/>
              </a:lnSpc>
              <a:buNone/>
            </a:pPr>
            <a:r>
              <a:rPr lang="en-US" sz="1550" i="1" dirty="0">
                <a:solidFill>
                  <a:srgbClr val="FFFFFF"/>
                </a:solidFill>
                <a:latin typeface="Cambria" pitchFamily="34" charset="0"/>
                <a:ea typeface="Cambria" pitchFamily="34" charset="-122"/>
                <a:cs typeface="Cambria" pitchFamily="34" charset="-120"/>
              </a:rPr>
              <a:t>The goal is not a smaller invoice. It is an invoice with nothing in it you have not already seen, explained and decided about.</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TOOLING — A WORKED EXAMPLE</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What a FinOps platform adds: Finout</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The capabilities a dedicated platform brings over native billing consoles, and what to test before buying one.</a:t>
            </a:r>
            <a:endParaRPr lang="en-US" sz="1500" dirty="0"/>
          </a:p>
        </p:txBody>
      </p:sp>
      <p:sp>
        <p:nvSpPr>
          <p:cNvPr id="5" name="Shape 3"/>
          <p:cNvSpPr/>
          <p:nvPr/>
        </p:nvSpPr>
        <p:spPr>
          <a:xfrm>
            <a:off x="548640" y="2121408"/>
            <a:ext cx="3511296" cy="1719072"/>
          </a:xfrm>
          <a:prstGeom prst="roundRect">
            <a:avLst>
              <a:gd name="adj" fmla="val 4787"/>
            </a:avLst>
          </a:prstGeom>
          <a:solidFill>
            <a:srgbClr val="F1F3F6"/>
          </a:solidFill>
          <a:ln/>
        </p:spPr>
      </p:sp>
      <p:sp>
        <p:nvSpPr>
          <p:cNvPr id="6" name="Shape 4"/>
          <p:cNvSpPr/>
          <p:nvPr/>
        </p:nvSpPr>
        <p:spPr>
          <a:xfrm>
            <a:off x="841248" y="2359152"/>
            <a:ext cx="457200" cy="45720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55548" y="2473452"/>
            <a:ext cx="228600" cy="228600"/>
          </a:xfrm>
          <a:prstGeom prst="rect">
            <a:avLst/>
          </a:prstGeom>
        </p:spPr>
      </p:pic>
      <p:sp>
        <p:nvSpPr>
          <p:cNvPr id="8" name="Text 5"/>
          <p:cNvSpPr/>
          <p:nvPr/>
        </p:nvSpPr>
        <p:spPr>
          <a:xfrm>
            <a:off x="1426464" y="2340864"/>
            <a:ext cx="2468880" cy="493776"/>
          </a:xfrm>
          <a:prstGeom prst="rect">
            <a:avLst/>
          </a:prstGeom>
          <a:noFill/>
          <a:ln/>
        </p:spPr>
        <p:txBody>
          <a:bodyPr wrap="square" lIns="0" tIns="0" rIns="0" bIns="0" rtlCol="0" anchor="ctr"/>
          <a:lstStyle/>
          <a:p>
            <a:pPr indent="0" marL="0">
              <a:buNone/>
            </a:pPr>
            <a:r>
              <a:rPr lang="en-US" sz="1500" b="1" dirty="0">
                <a:solidFill>
                  <a:srgbClr val="1B2430"/>
                </a:solidFill>
                <a:latin typeface="Cambria" pitchFamily="34" charset="0"/>
                <a:ea typeface="Cambria" pitchFamily="34" charset="-122"/>
                <a:cs typeface="Cambria" pitchFamily="34" charset="-120"/>
              </a:rPr>
              <a:t>One normalized bill</a:t>
            </a:r>
            <a:endParaRPr lang="en-US" sz="1500" dirty="0"/>
          </a:p>
        </p:txBody>
      </p:sp>
      <p:sp>
        <p:nvSpPr>
          <p:cNvPr id="9" name="Text 6"/>
          <p:cNvSpPr/>
          <p:nvPr/>
        </p:nvSpPr>
        <p:spPr>
          <a:xfrm>
            <a:off x="841248" y="2907792"/>
            <a:ext cx="2926080" cy="859536"/>
          </a:xfrm>
          <a:prstGeom prst="rect">
            <a:avLst/>
          </a:prstGeom>
          <a:noFill/>
          <a:ln/>
        </p:spPr>
        <p:txBody>
          <a:bodyPr wrap="square" lIns="0" tIns="0" rIns="0" bIns="0" rtlCol="0" anchor="t"/>
          <a:lstStyle/>
          <a:p>
            <a:pPr indent="0" marL="0">
              <a:lnSpc>
                <a:spcPts val="1500"/>
              </a:lnSpc>
              <a:buNone/>
            </a:pPr>
            <a:r>
              <a:rPr lang="en-US" sz="1150" dirty="0">
                <a:solidFill>
                  <a:srgbClr val="5C6675"/>
                </a:solidFill>
                <a:latin typeface="Calibri" pitchFamily="34" charset="0"/>
                <a:ea typeface="Calibri" pitchFamily="34" charset="-122"/>
                <a:cs typeface="Calibri" pitchFamily="34" charset="-120"/>
              </a:rPr>
              <a:t>Cloud, SaaS and AI in one view — AWS, Azure, GCP, OCI, Kubernetes, Snowflake, Databricks, OpenAI, Anthropic. FOCUS supported.</a:t>
            </a:r>
            <a:endParaRPr lang="en-US" sz="1150" dirty="0"/>
          </a:p>
        </p:txBody>
      </p:sp>
      <p:sp>
        <p:nvSpPr>
          <p:cNvPr id="10" name="Shape 7"/>
          <p:cNvSpPr/>
          <p:nvPr/>
        </p:nvSpPr>
        <p:spPr>
          <a:xfrm>
            <a:off x="4334256" y="2121408"/>
            <a:ext cx="3511296" cy="1719072"/>
          </a:xfrm>
          <a:prstGeom prst="roundRect">
            <a:avLst>
              <a:gd name="adj" fmla="val 4787"/>
            </a:avLst>
          </a:prstGeom>
          <a:solidFill>
            <a:srgbClr val="F1F3F6"/>
          </a:solidFill>
          <a:ln/>
        </p:spPr>
      </p:sp>
      <p:sp>
        <p:nvSpPr>
          <p:cNvPr id="11" name="Shape 8"/>
          <p:cNvSpPr/>
          <p:nvPr/>
        </p:nvSpPr>
        <p:spPr>
          <a:xfrm>
            <a:off x="4626864" y="2359152"/>
            <a:ext cx="457200" cy="45720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4741164" y="2473452"/>
            <a:ext cx="228600" cy="228600"/>
          </a:xfrm>
          <a:prstGeom prst="rect">
            <a:avLst/>
          </a:prstGeom>
        </p:spPr>
      </p:pic>
      <p:sp>
        <p:nvSpPr>
          <p:cNvPr id="13" name="Text 9"/>
          <p:cNvSpPr/>
          <p:nvPr/>
        </p:nvSpPr>
        <p:spPr>
          <a:xfrm>
            <a:off x="5212080" y="2340864"/>
            <a:ext cx="2468880" cy="493776"/>
          </a:xfrm>
          <a:prstGeom prst="rect">
            <a:avLst/>
          </a:prstGeom>
          <a:noFill/>
          <a:ln/>
        </p:spPr>
        <p:txBody>
          <a:bodyPr wrap="square" lIns="0" tIns="0" rIns="0" bIns="0" rtlCol="0" anchor="ctr"/>
          <a:lstStyle/>
          <a:p>
            <a:pPr indent="0" marL="0">
              <a:buNone/>
            </a:pPr>
            <a:r>
              <a:rPr lang="en-US" sz="1500" b="1" dirty="0">
                <a:solidFill>
                  <a:srgbClr val="1B2430"/>
                </a:solidFill>
                <a:latin typeface="Cambria" pitchFamily="34" charset="0"/>
                <a:ea typeface="Cambria" pitchFamily="34" charset="-122"/>
                <a:cs typeface="Cambria" pitchFamily="34" charset="-120"/>
              </a:rPr>
              <a:t>Virtual tags</a:t>
            </a:r>
            <a:endParaRPr lang="en-US" sz="1500" dirty="0"/>
          </a:p>
        </p:txBody>
      </p:sp>
      <p:sp>
        <p:nvSpPr>
          <p:cNvPr id="14" name="Text 10"/>
          <p:cNvSpPr/>
          <p:nvPr/>
        </p:nvSpPr>
        <p:spPr>
          <a:xfrm>
            <a:off x="4626864" y="2907792"/>
            <a:ext cx="2926080" cy="859536"/>
          </a:xfrm>
          <a:prstGeom prst="rect">
            <a:avLst/>
          </a:prstGeom>
          <a:noFill/>
          <a:ln/>
        </p:spPr>
        <p:txBody>
          <a:bodyPr wrap="square" lIns="0" tIns="0" rIns="0" bIns="0" rtlCol="0" anchor="t"/>
          <a:lstStyle/>
          <a:p>
            <a:pPr indent="0" marL="0">
              <a:lnSpc>
                <a:spcPts val="1500"/>
              </a:lnSpc>
              <a:buNone/>
            </a:pPr>
            <a:r>
              <a:rPr lang="en-US" sz="1150" dirty="0">
                <a:solidFill>
                  <a:srgbClr val="5C6675"/>
                </a:solidFill>
                <a:latin typeface="Calibri" pitchFamily="34" charset="0"/>
                <a:ea typeface="Calibri" pitchFamily="34" charset="-122"/>
                <a:cs typeface="Calibri" pitchFamily="34" charset="-120"/>
              </a:rPr>
              <a:t>Allocates untagged and shared cost by rule, without touching infrastructure tags — showback without a retagging project.</a:t>
            </a:r>
            <a:endParaRPr lang="en-US" sz="1150" dirty="0"/>
          </a:p>
        </p:txBody>
      </p:sp>
      <p:sp>
        <p:nvSpPr>
          <p:cNvPr id="15" name="Shape 11"/>
          <p:cNvSpPr/>
          <p:nvPr/>
        </p:nvSpPr>
        <p:spPr>
          <a:xfrm>
            <a:off x="8119872" y="2121408"/>
            <a:ext cx="3511296" cy="1719072"/>
          </a:xfrm>
          <a:prstGeom prst="roundRect">
            <a:avLst>
              <a:gd name="adj" fmla="val 4787"/>
            </a:avLst>
          </a:prstGeom>
          <a:solidFill>
            <a:srgbClr val="F1F3F6"/>
          </a:solidFill>
          <a:ln/>
        </p:spPr>
      </p:sp>
      <p:sp>
        <p:nvSpPr>
          <p:cNvPr id="16" name="Shape 12"/>
          <p:cNvSpPr/>
          <p:nvPr/>
        </p:nvSpPr>
        <p:spPr>
          <a:xfrm>
            <a:off x="8412480" y="2359152"/>
            <a:ext cx="457200" cy="45720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8526780" y="2473452"/>
            <a:ext cx="228600" cy="228600"/>
          </a:xfrm>
          <a:prstGeom prst="rect">
            <a:avLst/>
          </a:prstGeom>
        </p:spPr>
      </p:pic>
      <p:sp>
        <p:nvSpPr>
          <p:cNvPr id="18" name="Text 13"/>
          <p:cNvSpPr/>
          <p:nvPr/>
        </p:nvSpPr>
        <p:spPr>
          <a:xfrm>
            <a:off x="8997696" y="2340864"/>
            <a:ext cx="2468880" cy="493776"/>
          </a:xfrm>
          <a:prstGeom prst="rect">
            <a:avLst/>
          </a:prstGeom>
          <a:noFill/>
          <a:ln/>
        </p:spPr>
        <p:txBody>
          <a:bodyPr wrap="square" lIns="0" tIns="0" rIns="0" bIns="0" rtlCol="0" anchor="ctr"/>
          <a:lstStyle/>
          <a:p>
            <a:pPr indent="0" marL="0">
              <a:buNone/>
            </a:pPr>
            <a:r>
              <a:rPr lang="en-US" sz="1500" b="1" dirty="0">
                <a:solidFill>
                  <a:srgbClr val="1B2430"/>
                </a:solidFill>
                <a:latin typeface="Cambria" pitchFamily="34" charset="0"/>
                <a:ea typeface="Cambria" pitchFamily="34" charset="-122"/>
                <a:cs typeface="Cambria" pitchFamily="34" charset="-120"/>
              </a:rPr>
              <a:t>Kubernetes to pod level</a:t>
            </a:r>
            <a:endParaRPr lang="en-US" sz="1500" dirty="0"/>
          </a:p>
        </p:txBody>
      </p:sp>
      <p:sp>
        <p:nvSpPr>
          <p:cNvPr id="19" name="Text 14"/>
          <p:cNvSpPr/>
          <p:nvPr/>
        </p:nvSpPr>
        <p:spPr>
          <a:xfrm>
            <a:off x="8412480" y="2907792"/>
            <a:ext cx="2926080" cy="859536"/>
          </a:xfrm>
          <a:prstGeom prst="rect">
            <a:avLst/>
          </a:prstGeom>
          <a:noFill/>
          <a:ln/>
        </p:spPr>
        <p:txBody>
          <a:bodyPr wrap="square" lIns="0" tIns="0" rIns="0" bIns="0" rtlCol="0" anchor="t"/>
          <a:lstStyle/>
          <a:p>
            <a:pPr indent="0" marL="0">
              <a:lnSpc>
                <a:spcPts val="1500"/>
              </a:lnSpc>
              <a:buNone/>
            </a:pPr>
            <a:r>
              <a:rPr lang="en-US" sz="1150" dirty="0">
                <a:solidFill>
                  <a:srgbClr val="5C6675"/>
                </a:solidFill>
                <a:latin typeface="Calibri" pitchFamily="34" charset="0"/>
                <a:ea typeface="Calibri" pitchFamily="34" charset="-122"/>
                <a:cs typeface="Calibri" pitchFamily="34" charset="-120"/>
              </a:rPr>
              <a:t>Cluster, namespace and pod allocation without an agent, which is the shared-cost problem most tools leave unsolved.</a:t>
            </a:r>
            <a:endParaRPr lang="en-US" sz="1150" dirty="0"/>
          </a:p>
        </p:txBody>
      </p:sp>
      <p:sp>
        <p:nvSpPr>
          <p:cNvPr id="20" name="Shape 15"/>
          <p:cNvSpPr/>
          <p:nvPr/>
        </p:nvSpPr>
        <p:spPr>
          <a:xfrm>
            <a:off x="548640" y="3986784"/>
            <a:ext cx="3511296" cy="1719072"/>
          </a:xfrm>
          <a:prstGeom prst="roundRect">
            <a:avLst>
              <a:gd name="adj" fmla="val 4787"/>
            </a:avLst>
          </a:prstGeom>
          <a:solidFill>
            <a:srgbClr val="F1F3F6"/>
          </a:solidFill>
          <a:ln/>
        </p:spPr>
      </p:sp>
      <p:sp>
        <p:nvSpPr>
          <p:cNvPr id="21" name="Shape 16"/>
          <p:cNvSpPr/>
          <p:nvPr/>
        </p:nvSpPr>
        <p:spPr>
          <a:xfrm>
            <a:off x="841248" y="4224528"/>
            <a:ext cx="457200" cy="457200"/>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955548" y="4338828"/>
            <a:ext cx="228600" cy="228600"/>
          </a:xfrm>
          <a:prstGeom prst="rect">
            <a:avLst/>
          </a:prstGeom>
        </p:spPr>
      </p:pic>
      <p:sp>
        <p:nvSpPr>
          <p:cNvPr id="23" name="Text 17"/>
          <p:cNvSpPr/>
          <p:nvPr/>
        </p:nvSpPr>
        <p:spPr>
          <a:xfrm>
            <a:off x="1426464" y="4206240"/>
            <a:ext cx="2468880" cy="493776"/>
          </a:xfrm>
          <a:prstGeom prst="rect">
            <a:avLst/>
          </a:prstGeom>
          <a:noFill/>
          <a:ln/>
        </p:spPr>
        <p:txBody>
          <a:bodyPr wrap="square" lIns="0" tIns="0" rIns="0" bIns="0" rtlCol="0" anchor="ctr"/>
          <a:lstStyle/>
          <a:p>
            <a:pPr indent="0" marL="0">
              <a:buNone/>
            </a:pPr>
            <a:r>
              <a:rPr lang="en-US" sz="1500" b="1" dirty="0">
                <a:solidFill>
                  <a:srgbClr val="1B2430"/>
                </a:solidFill>
                <a:latin typeface="Cambria" pitchFamily="34" charset="0"/>
                <a:ea typeface="Cambria" pitchFamily="34" charset="-122"/>
                <a:cs typeface="Cambria" pitchFamily="34" charset="-120"/>
              </a:rPr>
              <a:t>Dashboards and unit economics</a:t>
            </a:r>
            <a:endParaRPr lang="en-US" sz="1500" dirty="0"/>
          </a:p>
        </p:txBody>
      </p:sp>
      <p:sp>
        <p:nvSpPr>
          <p:cNvPr id="24" name="Text 18"/>
          <p:cNvSpPr/>
          <p:nvPr/>
        </p:nvSpPr>
        <p:spPr>
          <a:xfrm>
            <a:off x="841248" y="4773168"/>
            <a:ext cx="2926080" cy="859536"/>
          </a:xfrm>
          <a:prstGeom prst="rect">
            <a:avLst/>
          </a:prstGeom>
          <a:noFill/>
          <a:ln/>
        </p:spPr>
        <p:txBody>
          <a:bodyPr wrap="square" lIns="0" tIns="0" rIns="0" bIns="0" rtlCol="0" anchor="t"/>
          <a:lstStyle/>
          <a:p>
            <a:pPr indent="0" marL="0">
              <a:lnSpc>
                <a:spcPts val="1500"/>
              </a:lnSpc>
              <a:buNone/>
            </a:pPr>
            <a:r>
              <a:rPr lang="en-US" sz="1150" dirty="0">
                <a:solidFill>
                  <a:srgbClr val="5C6675"/>
                </a:solidFill>
                <a:latin typeface="Calibri" pitchFamily="34" charset="0"/>
                <a:ea typeface="Calibri" pitchFamily="34" charset="-122"/>
                <a:cs typeface="Calibri" pitchFamily="34" charset="-120"/>
              </a:rPr>
              <a:t>Widgets for cost, usage, waste, budget and unit cost; business metrics from Datadog, Salesforce or Looker to divide by.</a:t>
            </a:r>
            <a:endParaRPr lang="en-US" sz="1150" dirty="0"/>
          </a:p>
        </p:txBody>
      </p:sp>
      <p:sp>
        <p:nvSpPr>
          <p:cNvPr id="25" name="Shape 19"/>
          <p:cNvSpPr/>
          <p:nvPr/>
        </p:nvSpPr>
        <p:spPr>
          <a:xfrm>
            <a:off x="4334256" y="3986784"/>
            <a:ext cx="3511296" cy="1719072"/>
          </a:xfrm>
          <a:prstGeom prst="roundRect">
            <a:avLst>
              <a:gd name="adj" fmla="val 4787"/>
            </a:avLst>
          </a:prstGeom>
          <a:solidFill>
            <a:srgbClr val="F1F3F6"/>
          </a:solidFill>
          <a:ln/>
        </p:spPr>
      </p:sp>
      <p:sp>
        <p:nvSpPr>
          <p:cNvPr id="26" name="Shape 20"/>
          <p:cNvSpPr/>
          <p:nvPr/>
        </p:nvSpPr>
        <p:spPr>
          <a:xfrm>
            <a:off x="4626864" y="4224528"/>
            <a:ext cx="457200" cy="457200"/>
          </a:xfrm>
          <a:prstGeom prst="ellipse">
            <a:avLst/>
          </a:prstGeom>
          <a:solidFill>
            <a:srgbClr val="FFFFFF"/>
          </a:solidFill>
          <a:ln/>
        </p:spPr>
      </p:sp>
      <p:pic>
        <p:nvPicPr>
          <p:cNvPr id="27" name="Image 4" descr="preencoded.png">    </p:cNvPr>
          <p:cNvPicPr>
            <a:picLocks noChangeAspect="1"/>
          </p:cNvPicPr>
          <p:nvPr/>
        </p:nvPicPr>
        <p:blipFill>
          <a:blip r:embed="rId5"/>
          <a:stretch>
            <a:fillRect/>
          </a:stretch>
        </p:blipFill>
        <p:spPr>
          <a:xfrm>
            <a:off x="4741164" y="4338828"/>
            <a:ext cx="228600" cy="228600"/>
          </a:xfrm>
          <a:prstGeom prst="rect">
            <a:avLst/>
          </a:prstGeom>
        </p:spPr>
      </p:pic>
      <p:sp>
        <p:nvSpPr>
          <p:cNvPr id="28" name="Text 21"/>
          <p:cNvSpPr/>
          <p:nvPr/>
        </p:nvSpPr>
        <p:spPr>
          <a:xfrm>
            <a:off x="5212080" y="4206240"/>
            <a:ext cx="2468880" cy="493776"/>
          </a:xfrm>
          <a:prstGeom prst="rect">
            <a:avLst/>
          </a:prstGeom>
          <a:noFill/>
          <a:ln/>
        </p:spPr>
        <p:txBody>
          <a:bodyPr wrap="square" lIns="0" tIns="0" rIns="0" bIns="0" rtlCol="0" anchor="ctr"/>
          <a:lstStyle/>
          <a:p>
            <a:pPr indent="0" marL="0">
              <a:buNone/>
            </a:pPr>
            <a:r>
              <a:rPr lang="en-US" sz="1500" b="1" dirty="0">
                <a:solidFill>
                  <a:srgbClr val="1B2430"/>
                </a:solidFill>
                <a:latin typeface="Cambria" pitchFamily="34" charset="0"/>
                <a:ea typeface="Cambria" pitchFamily="34" charset="-122"/>
                <a:cs typeface="Cambria" pitchFamily="34" charset="-120"/>
              </a:rPr>
              <a:t>Budgets, forecast, anomalies</a:t>
            </a:r>
            <a:endParaRPr lang="en-US" sz="1500" dirty="0"/>
          </a:p>
        </p:txBody>
      </p:sp>
      <p:sp>
        <p:nvSpPr>
          <p:cNvPr id="29" name="Text 22"/>
          <p:cNvSpPr/>
          <p:nvPr/>
        </p:nvSpPr>
        <p:spPr>
          <a:xfrm>
            <a:off x="4626864" y="4773168"/>
            <a:ext cx="2926080" cy="859536"/>
          </a:xfrm>
          <a:prstGeom prst="rect">
            <a:avLst/>
          </a:prstGeom>
          <a:noFill/>
          <a:ln/>
        </p:spPr>
        <p:txBody>
          <a:bodyPr wrap="square" lIns="0" tIns="0" rIns="0" bIns="0" rtlCol="0" anchor="t"/>
          <a:lstStyle/>
          <a:p>
            <a:pPr indent="0" marL="0">
              <a:lnSpc>
                <a:spcPts val="1500"/>
              </a:lnSpc>
              <a:buNone/>
            </a:pPr>
            <a:r>
              <a:rPr lang="en-US" sz="1150" dirty="0">
                <a:solidFill>
                  <a:srgbClr val="5C6675"/>
                </a:solidFill>
                <a:latin typeface="Calibri" pitchFamily="34" charset="0"/>
                <a:ea typeface="Calibri" pitchFamily="34" charset="-122"/>
                <a:cs typeface="Calibri" pitchFamily="34" charset="-120"/>
              </a:rPr>
              <a:t>Budget structures, forecasting on any unit cost, and anomaly alerts on unexpected movement.</a:t>
            </a:r>
            <a:endParaRPr lang="en-US" sz="1150" dirty="0"/>
          </a:p>
        </p:txBody>
      </p:sp>
      <p:sp>
        <p:nvSpPr>
          <p:cNvPr id="30" name="Shape 23"/>
          <p:cNvSpPr/>
          <p:nvPr/>
        </p:nvSpPr>
        <p:spPr>
          <a:xfrm>
            <a:off x="8119872" y="3986784"/>
            <a:ext cx="3511296" cy="1719072"/>
          </a:xfrm>
          <a:prstGeom prst="roundRect">
            <a:avLst>
              <a:gd name="adj" fmla="val 4787"/>
            </a:avLst>
          </a:prstGeom>
          <a:solidFill>
            <a:srgbClr val="F1F3F6"/>
          </a:solidFill>
          <a:ln/>
        </p:spPr>
      </p:sp>
      <p:sp>
        <p:nvSpPr>
          <p:cNvPr id="31" name="Shape 24"/>
          <p:cNvSpPr/>
          <p:nvPr/>
        </p:nvSpPr>
        <p:spPr>
          <a:xfrm>
            <a:off x="8412480" y="4224528"/>
            <a:ext cx="457200" cy="457200"/>
          </a:xfrm>
          <a:prstGeom prst="ellipse">
            <a:avLst/>
          </a:prstGeom>
          <a:solidFill>
            <a:srgbClr val="FFFFFF"/>
          </a:solidFill>
          <a:ln/>
        </p:spPr>
      </p:sp>
      <p:pic>
        <p:nvPicPr>
          <p:cNvPr id="32" name="Image 5" descr="preencoded.png">    </p:cNvPr>
          <p:cNvPicPr>
            <a:picLocks noChangeAspect="1"/>
          </p:cNvPicPr>
          <p:nvPr/>
        </p:nvPicPr>
        <p:blipFill>
          <a:blip r:embed="rId6"/>
          <a:stretch>
            <a:fillRect/>
          </a:stretch>
        </p:blipFill>
        <p:spPr>
          <a:xfrm>
            <a:off x="8526780" y="4338828"/>
            <a:ext cx="228600" cy="228600"/>
          </a:xfrm>
          <a:prstGeom prst="rect">
            <a:avLst/>
          </a:prstGeom>
        </p:spPr>
      </p:pic>
      <p:sp>
        <p:nvSpPr>
          <p:cNvPr id="33" name="Text 25"/>
          <p:cNvSpPr/>
          <p:nvPr/>
        </p:nvSpPr>
        <p:spPr>
          <a:xfrm>
            <a:off x="8997696" y="4206240"/>
            <a:ext cx="2468880" cy="493776"/>
          </a:xfrm>
          <a:prstGeom prst="rect">
            <a:avLst/>
          </a:prstGeom>
          <a:noFill/>
          <a:ln/>
        </p:spPr>
        <p:txBody>
          <a:bodyPr wrap="square" lIns="0" tIns="0" rIns="0" bIns="0" rtlCol="0" anchor="ctr"/>
          <a:lstStyle/>
          <a:p>
            <a:pPr indent="0" marL="0">
              <a:buNone/>
            </a:pPr>
            <a:r>
              <a:rPr lang="en-US" sz="1500" b="1" dirty="0">
                <a:solidFill>
                  <a:srgbClr val="1B2430"/>
                </a:solidFill>
                <a:latin typeface="Cambria" pitchFamily="34" charset="0"/>
                <a:ea typeface="Cambria" pitchFamily="34" charset="-122"/>
                <a:cs typeface="Cambria" pitchFamily="34" charset="-120"/>
              </a:rPr>
              <a:t>Waste detection with an owner</a:t>
            </a:r>
            <a:endParaRPr lang="en-US" sz="1500" dirty="0"/>
          </a:p>
        </p:txBody>
      </p:sp>
      <p:sp>
        <p:nvSpPr>
          <p:cNvPr id="34" name="Text 26"/>
          <p:cNvSpPr/>
          <p:nvPr/>
        </p:nvSpPr>
        <p:spPr>
          <a:xfrm>
            <a:off x="8412480" y="4773168"/>
            <a:ext cx="2926080" cy="859536"/>
          </a:xfrm>
          <a:prstGeom prst="rect">
            <a:avLst/>
          </a:prstGeom>
          <a:noFill/>
          <a:ln/>
        </p:spPr>
        <p:txBody>
          <a:bodyPr wrap="square" lIns="0" tIns="0" rIns="0" bIns="0" rtlCol="0" anchor="t"/>
          <a:lstStyle/>
          <a:p>
            <a:pPr indent="0" marL="0">
              <a:lnSpc>
                <a:spcPts val="1500"/>
              </a:lnSpc>
              <a:buNone/>
            </a:pPr>
            <a:r>
              <a:rPr lang="en-US" sz="1150" dirty="0">
                <a:solidFill>
                  <a:srgbClr val="5C6675"/>
                </a:solidFill>
                <a:latin typeface="Calibri" pitchFamily="34" charset="0"/>
                <a:ea typeface="Calibri" pitchFamily="34" charset="-122"/>
                <a:cs typeface="Calibri" pitchFamily="34" charset="-120"/>
              </a:rPr>
              <a:t>CostGuard consolidates recommendations across providers, assigns an owner and tracks the saving — into Jira, Slack or ServiceNow.</a:t>
            </a:r>
            <a:endParaRPr lang="en-US" sz="1150" dirty="0"/>
          </a:p>
        </p:txBody>
      </p:sp>
      <p:sp>
        <p:nvSpPr>
          <p:cNvPr id="35" name="Shape 27"/>
          <p:cNvSpPr/>
          <p:nvPr/>
        </p:nvSpPr>
        <p:spPr>
          <a:xfrm>
            <a:off x="548640" y="5852160"/>
            <a:ext cx="11091672" cy="786384"/>
          </a:xfrm>
          <a:prstGeom prst="roundRect">
            <a:avLst>
              <a:gd name="adj" fmla="val 10465"/>
            </a:avLst>
          </a:prstGeom>
          <a:solidFill>
            <a:srgbClr val="1F2936"/>
          </a:solidFill>
          <a:ln/>
          <a:effectLst>
            <a:outerShdw sx="100000" sy="100000" kx="0" ky="0" algn="bl" rotWithShape="0" blurRad="127000" dist="25400" dir="5400000">
              <a:srgbClr val="8C99A8">
                <a:alpha val="16000"/>
              </a:srgbClr>
            </a:outerShdw>
          </a:effectLst>
        </p:spPr>
      </p:sp>
      <p:sp>
        <p:nvSpPr>
          <p:cNvPr id="36" name="Text 28"/>
          <p:cNvSpPr/>
          <p:nvPr/>
        </p:nvSpPr>
        <p:spPr>
          <a:xfrm>
            <a:off x="877824" y="5852160"/>
            <a:ext cx="10424160" cy="786384"/>
          </a:xfrm>
          <a:prstGeom prst="rect">
            <a:avLst/>
          </a:prstGeom>
          <a:noFill/>
          <a:ln/>
        </p:spPr>
        <p:txBody>
          <a:bodyPr wrap="square" lIns="0" tIns="0" rIns="0" bIns="0" rtlCol="0" anchor="ctr"/>
          <a:lstStyle/>
          <a:p>
            <a:pPr indent="0" marL="0">
              <a:lnSpc>
                <a:spcPts val="1600"/>
              </a:lnSpc>
              <a:buNone/>
            </a:pPr>
            <a:r>
              <a:rPr lang="en-US" sz="1200" b="1" dirty="0">
                <a:solidFill>
                  <a:srgbClr val="E39B2C"/>
                </a:solidFill>
                <a:latin typeface="Calibri" pitchFamily="34" charset="0"/>
                <a:ea typeface="Calibri" pitchFamily="34" charset="-122"/>
                <a:cs typeface="Calibri" pitchFamily="34" charset="-120"/>
              </a:rPr>
              <a:t>Before buying, prove three things on our own data:  </a:t>
            </a:r>
            <a:pPr indent="0" marL="0">
              <a:lnSpc>
                <a:spcPts val="1600"/>
              </a:lnSpc>
              <a:buNone/>
            </a:pPr>
            <a:r>
              <a:rPr lang="en-US" sz="1200" dirty="0">
                <a:solidFill>
                  <a:srgbClr val="9EABBA"/>
                </a:solidFill>
                <a:latin typeface="Calibri" pitchFamily="34" charset="0"/>
                <a:ea typeface="Calibri" pitchFamily="34" charset="-122"/>
                <a:cs typeface="Calibri" pitchFamily="34" charset="-120"/>
              </a:rPr>
              <a:t>that it allocates the spend we cannot allocate today, that it attributes Azure OpenAI cost per calling application rather than per resource, and that it exports FOCUS so we are not locked in. Vendor-published outcomes — around 30% cost reduction and 50% engineer time saved — are marketing claims, not a forecast for us.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PATH FORWARD</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Where to start, and what it buys</a:t>
            </a:r>
            <a:endParaRPr lang="en-US" sz="3100" dirty="0"/>
          </a:p>
        </p:txBody>
      </p:sp>
      <p:sp>
        <p:nvSpPr>
          <p:cNvPr id="4" name="Shape 2"/>
          <p:cNvSpPr/>
          <p:nvPr/>
        </p:nvSpPr>
        <p:spPr>
          <a:xfrm>
            <a:off x="548640" y="1965960"/>
            <a:ext cx="2587752" cy="2194560"/>
          </a:xfrm>
          <a:prstGeom prst="roundRect">
            <a:avLst>
              <a:gd name="adj" fmla="val 3750"/>
            </a:avLst>
          </a:prstGeom>
          <a:solidFill>
            <a:srgbClr val="1F2936"/>
          </a:solidFill>
          <a:ln/>
        </p:spPr>
      </p:sp>
      <p:sp>
        <p:nvSpPr>
          <p:cNvPr id="5" name="Text 3"/>
          <p:cNvSpPr/>
          <p:nvPr/>
        </p:nvSpPr>
        <p:spPr>
          <a:xfrm>
            <a:off x="804672" y="2139696"/>
            <a:ext cx="1097280" cy="457200"/>
          </a:xfrm>
          <a:prstGeom prst="rect">
            <a:avLst/>
          </a:prstGeom>
          <a:noFill/>
          <a:ln/>
        </p:spPr>
        <p:txBody>
          <a:bodyPr wrap="square" lIns="0" tIns="0" rIns="0" bIns="0" rtlCol="0" anchor="ctr"/>
          <a:lstStyle/>
          <a:p>
            <a:pPr indent="0" marL="0">
              <a:buNone/>
            </a:pPr>
            <a:r>
              <a:rPr lang="en-US" sz="2600" b="1" dirty="0">
                <a:solidFill>
                  <a:srgbClr val="E39B2C"/>
                </a:solidFill>
                <a:latin typeface="Cambria" pitchFamily="34" charset="0"/>
                <a:ea typeface="Cambria" pitchFamily="34" charset="-122"/>
                <a:cs typeface="Cambria" pitchFamily="34" charset="-120"/>
              </a:rPr>
              <a:t>01</a:t>
            </a:r>
            <a:endParaRPr lang="en-US" sz="2600" dirty="0"/>
          </a:p>
        </p:txBody>
      </p:sp>
      <p:sp>
        <p:nvSpPr>
          <p:cNvPr id="6" name="Text 4"/>
          <p:cNvSpPr/>
          <p:nvPr/>
        </p:nvSpPr>
        <p:spPr>
          <a:xfrm>
            <a:off x="804672" y="2651760"/>
            <a:ext cx="2103120" cy="548640"/>
          </a:xfrm>
          <a:prstGeom prst="rect">
            <a:avLst/>
          </a:prstGeom>
          <a:noFill/>
          <a:ln/>
        </p:spPr>
        <p:txBody>
          <a:bodyPr wrap="square" lIns="0" tIns="0" rIns="0" bIns="0" rtlCol="0" anchor="t"/>
          <a:lstStyle/>
          <a:p>
            <a:pPr indent="0" marL="0">
              <a:lnSpc>
                <a:spcPts val="2000"/>
              </a:lnSpc>
              <a:buNone/>
            </a:pPr>
            <a:r>
              <a:rPr lang="en-US" sz="1500" b="1" dirty="0">
                <a:solidFill>
                  <a:srgbClr val="FFFFFF"/>
                </a:solidFill>
                <a:latin typeface="Cambria" pitchFamily="34" charset="0"/>
                <a:ea typeface="Cambria" pitchFamily="34" charset="-122"/>
                <a:cs typeface="Cambria" pitchFamily="34" charset="-120"/>
              </a:rPr>
              <a:t>Tagging standard</a:t>
            </a:r>
            <a:endParaRPr lang="en-US" sz="1500" dirty="0"/>
          </a:p>
        </p:txBody>
      </p:sp>
      <p:sp>
        <p:nvSpPr>
          <p:cNvPr id="7" name="Text 5"/>
          <p:cNvSpPr/>
          <p:nvPr/>
        </p:nvSpPr>
        <p:spPr>
          <a:xfrm>
            <a:off x="804672" y="3218688"/>
            <a:ext cx="2103120" cy="786384"/>
          </a:xfrm>
          <a:prstGeom prst="rect">
            <a:avLst/>
          </a:prstGeom>
          <a:noFill/>
          <a:ln/>
        </p:spPr>
        <p:txBody>
          <a:bodyPr wrap="square" lIns="0" tIns="0" rIns="0" bIns="0" rtlCol="0" anchor="t"/>
          <a:lstStyle/>
          <a:p>
            <a:pPr indent="0" marL="0">
              <a:lnSpc>
                <a:spcPts val="1500"/>
              </a:lnSpc>
              <a:buNone/>
            </a:pPr>
            <a:r>
              <a:rPr lang="en-US" sz="1200" dirty="0">
                <a:solidFill>
                  <a:srgbClr val="9EABBA"/>
                </a:solidFill>
                <a:latin typeface="Calibri" pitchFamily="34" charset="0"/>
                <a:ea typeface="Calibri" pitchFamily="34" charset="-122"/>
                <a:cs typeface="Calibri" pitchFamily="34" charset="-120"/>
              </a:rPr>
              <a:t>Agreed and enforced at deployment, with an owner per application.</a:t>
            </a:r>
            <a:endParaRPr lang="en-US" sz="1200" dirty="0"/>
          </a:p>
        </p:txBody>
      </p:sp>
      <p:sp>
        <p:nvSpPr>
          <p:cNvPr id="8" name="Shape 6"/>
          <p:cNvSpPr/>
          <p:nvPr/>
        </p:nvSpPr>
        <p:spPr>
          <a:xfrm>
            <a:off x="3383280" y="1965960"/>
            <a:ext cx="2587752" cy="2194560"/>
          </a:xfrm>
          <a:prstGeom prst="roundRect">
            <a:avLst>
              <a:gd name="adj" fmla="val 3750"/>
            </a:avLst>
          </a:prstGeom>
          <a:solidFill>
            <a:srgbClr val="F1F3F6"/>
          </a:solidFill>
          <a:ln/>
        </p:spPr>
      </p:sp>
      <p:sp>
        <p:nvSpPr>
          <p:cNvPr id="9" name="Text 7"/>
          <p:cNvSpPr/>
          <p:nvPr/>
        </p:nvSpPr>
        <p:spPr>
          <a:xfrm>
            <a:off x="3639312" y="2139696"/>
            <a:ext cx="1097280" cy="457200"/>
          </a:xfrm>
          <a:prstGeom prst="rect">
            <a:avLst/>
          </a:prstGeom>
          <a:noFill/>
          <a:ln/>
        </p:spPr>
        <p:txBody>
          <a:bodyPr wrap="square" lIns="0" tIns="0" rIns="0" bIns="0" rtlCol="0" anchor="ctr"/>
          <a:lstStyle/>
          <a:p>
            <a:pPr indent="0" marL="0">
              <a:buNone/>
            </a:pPr>
            <a:r>
              <a:rPr lang="en-US" sz="2600" b="1" dirty="0">
                <a:solidFill>
                  <a:srgbClr val="B9C2CD"/>
                </a:solidFill>
                <a:latin typeface="Cambria" pitchFamily="34" charset="0"/>
                <a:ea typeface="Cambria" pitchFamily="34" charset="-122"/>
                <a:cs typeface="Cambria" pitchFamily="34" charset="-120"/>
              </a:rPr>
              <a:t>02</a:t>
            </a:r>
            <a:endParaRPr lang="en-US" sz="2600" dirty="0"/>
          </a:p>
        </p:txBody>
      </p:sp>
      <p:sp>
        <p:nvSpPr>
          <p:cNvPr id="10" name="Text 8"/>
          <p:cNvSpPr/>
          <p:nvPr/>
        </p:nvSpPr>
        <p:spPr>
          <a:xfrm>
            <a:off x="3639312" y="2651760"/>
            <a:ext cx="2103120" cy="548640"/>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Biggest spend first</a:t>
            </a:r>
            <a:endParaRPr lang="en-US" sz="1500" dirty="0"/>
          </a:p>
        </p:txBody>
      </p:sp>
      <p:sp>
        <p:nvSpPr>
          <p:cNvPr id="11" name="Text 9"/>
          <p:cNvSpPr/>
          <p:nvPr/>
        </p:nvSpPr>
        <p:spPr>
          <a:xfrm>
            <a:off x="3639312" y="3218688"/>
            <a:ext cx="2103120" cy="786384"/>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Attack the largest categories. Perfect granularity everywhere is a trap.</a:t>
            </a:r>
            <a:endParaRPr lang="en-US" sz="1200" dirty="0"/>
          </a:p>
        </p:txBody>
      </p:sp>
      <p:sp>
        <p:nvSpPr>
          <p:cNvPr id="12" name="Shape 10"/>
          <p:cNvSpPr/>
          <p:nvPr/>
        </p:nvSpPr>
        <p:spPr>
          <a:xfrm>
            <a:off x="6217920" y="1965960"/>
            <a:ext cx="2587752" cy="2194560"/>
          </a:xfrm>
          <a:prstGeom prst="roundRect">
            <a:avLst>
              <a:gd name="adj" fmla="val 3750"/>
            </a:avLst>
          </a:prstGeom>
          <a:solidFill>
            <a:srgbClr val="F1F3F6"/>
          </a:solidFill>
          <a:ln/>
        </p:spPr>
      </p:sp>
      <p:sp>
        <p:nvSpPr>
          <p:cNvPr id="13" name="Text 11"/>
          <p:cNvSpPr/>
          <p:nvPr/>
        </p:nvSpPr>
        <p:spPr>
          <a:xfrm>
            <a:off x="6473952" y="2139696"/>
            <a:ext cx="1097280" cy="457200"/>
          </a:xfrm>
          <a:prstGeom prst="rect">
            <a:avLst/>
          </a:prstGeom>
          <a:noFill/>
          <a:ln/>
        </p:spPr>
        <p:txBody>
          <a:bodyPr wrap="square" lIns="0" tIns="0" rIns="0" bIns="0" rtlCol="0" anchor="ctr"/>
          <a:lstStyle/>
          <a:p>
            <a:pPr indent="0" marL="0">
              <a:buNone/>
            </a:pPr>
            <a:r>
              <a:rPr lang="en-US" sz="2600" b="1" dirty="0">
                <a:solidFill>
                  <a:srgbClr val="B9C2CD"/>
                </a:solidFill>
                <a:latin typeface="Cambria" pitchFamily="34" charset="0"/>
                <a:ea typeface="Cambria" pitchFamily="34" charset="-122"/>
                <a:cs typeface="Cambria" pitchFamily="34" charset="-120"/>
              </a:rPr>
              <a:t>03</a:t>
            </a:r>
            <a:endParaRPr lang="en-US" sz="2600" dirty="0"/>
          </a:p>
        </p:txBody>
      </p:sp>
      <p:sp>
        <p:nvSpPr>
          <p:cNvPr id="14" name="Text 12"/>
          <p:cNvSpPr/>
          <p:nvPr/>
        </p:nvSpPr>
        <p:spPr>
          <a:xfrm>
            <a:off x="6473952" y="2651760"/>
            <a:ext cx="2103120" cy="548640"/>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Guardrails on</a:t>
            </a:r>
            <a:endParaRPr lang="en-US" sz="1500" dirty="0"/>
          </a:p>
        </p:txBody>
      </p:sp>
      <p:sp>
        <p:nvSpPr>
          <p:cNvPr id="15" name="Text 13"/>
          <p:cNvSpPr/>
          <p:nvPr/>
        </p:nvSpPr>
        <p:spPr>
          <a:xfrm>
            <a:off x="6473952" y="3218688"/>
            <a:ext cx="2103120" cy="786384"/>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Quotas and budget thresholds before they are needed, not after.</a:t>
            </a:r>
            <a:endParaRPr lang="en-US" sz="1200" dirty="0"/>
          </a:p>
        </p:txBody>
      </p:sp>
      <p:sp>
        <p:nvSpPr>
          <p:cNvPr id="16" name="Shape 14"/>
          <p:cNvSpPr/>
          <p:nvPr/>
        </p:nvSpPr>
        <p:spPr>
          <a:xfrm>
            <a:off x="9052560" y="1965960"/>
            <a:ext cx="2587752" cy="2194560"/>
          </a:xfrm>
          <a:prstGeom prst="roundRect">
            <a:avLst>
              <a:gd name="adj" fmla="val 3750"/>
            </a:avLst>
          </a:prstGeom>
          <a:solidFill>
            <a:srgbClr val="F1F3F6"/>
          </a:solidFill>
          <a:ln/>
        </p:spPr>
      </p:sp>
      <p:sp>
        <p:nvSpPr>
          <p:cNvPr id="17" name="Text 15"/>
          <p:cNvSpPr/>
          <p:nvPr/>
        </p:nvSpPr>
        <p:spPr>
          <a:xfrm>
            <a:off x="9308592" y="2139696"/>
            <a:ext cx="1097280" cy="457200"/>
          </a:xfrm>
          <a:prstGeom prst="rect">
            <a:avLst/>
          </a:prstGeom>
          <a:noFill/>
          <a:ln/>
        </p:spPr>
        <p:txBody>
          <a:bodyPr wrap="square" lIns="0" tIns="0" rIns="0" bIns="0" rtlCol="0" anchor="ctr"/>
          <a:lstStyle/>
          <a:p>
            <a:pPr indent="0" marL="0">
              <a:buNone/>
            </a:pPr>
            <a:r>
              <a:rPr lang="en-US" sz="2600" b="1" dirty="0">
                <a:solidFill>
                  <a:srgbClr val="B9C2CD"/>
                </a:solidFill>
                <a:latin typeface="Cambria" pitchFamily="34" charset="0"/>
                <a:ea typeface="Cambria" pitchFamily="34" charset="-122"/>
                <a:cs typeface="Cambria" pitchFamily="34" charset="-120"/>
              </a:rPr>
              <a:t>04</a:t>
            </a:r>
            <a:endParaRPr lang="en-US" sz="2600" dirty="0"/>
          </a:p>
        </p:txBody>
      </p:sp>
      <p:sp>
        <p:nvSpPr>
          <p:cNvPr id="18" name="Text 16"/>
          <p:cNvSpPr/>
          <p:nvPr/>
        </p:nvSpPr>
        <p:spPr>
          <a:xfrm>
            <a:off x="9308592" y="2651760"/>
            <a:ext cx="2103120" cy="548640"/>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Finance in the room</a:t>
            </a:r>
            <a:endParaRPr lang="en-US" sz="1500" dirty="0"/>
          </a:p>
        </p:txBody>
      </p:sp>
      <p:sp>
        <p:nvSpPr>
          <p:cNvPr id="19" name="Text 17"/>
          <p:cNvSpPr/>
          <p:nvPr/>
        </p:nvSpPr>
        <p:spPr>
          <a:xfrm>
            <a:off x="9308592" y="3218688"/>
            <a:ext cx="2103120" cy="786384"/>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A monthly review with real numbers, and a date for chargeback.</a:t>
            </a:r>
            <a:endParaRPr lang="en-US" sz="1200" dirty="0"/>
          </a:p>
        </p:txBody>
      </p:sp>
      <p:sp>
        <p:nvSpPr>
          <p:cNvPr id="20" name="Shape 18"/>
          <p:cNvSpPr/>
          <p:nvPr/>
        </p:nvSpPr>
        <p:spPr>
          <a:xfrm>
            <a:off x="548640" y="4370832"/>
            <a:ext cx="5394960" cy="1691640"/>
          </a:xfrm>
          <a:prstGeom prst="roundRect">
            <a:avLst>
              <a:gd name="adj" fmla="val 4865"/>
            </a:avLst>
          </a:prstGeom>
          <a:solidFill>
            <a:srgbClr val="F1F3F6"/>
          </a:solidFill>
          <a:ln/>
        </p:spPr>
      </p:sp>
      <p:sp>
        <p:nvSpPr>
          <p:cNvPr id="21" name="Text 19"/>
          <p:cNvSpPr/>
          <p:nvPr/>
        </p:nvSpPr>
        <p:spPr>
          <a:xfrm>
            <a:off x="859536" y="4535424"/>
            <a:ext cx="4572000" cy="274320"/>
          </a:xfrm>
          <a:prstGeom prst="rect">
            <a:avLst/>
          </a:prstGeom>
          <a:noFill/>
          <a:ln/>
        </p:spPr>
        <p:txBody>
          <a:bodyPr wrap="square" lIns="0" tIns="0" rIns="0" bIns="0" rtlCol="0" anchor="ctr"/>
          <a:lstStyle/>
          <a:p>
            <a:pPr indent="0" marL="0">
              <a:buNone/>
            </a:pPr>
            <a:r>
              <a:rPr lang="en-US" sz="1150" b="1" spc="140" kern="0" dirty="0">
                <a:solidFill>
                  <a:srgbClr val="5C6675"/>
                </a:solidFill>
                <a:latin typeface="Calibri" pitchFamily="34" charset="0"/>
                <a:ea typeface="Calibri" pitchFamily="34" charset="-122"/>
                <a:cs typeface="Calibri" pitchFamily="34" charset="-120"/>
              </a:rPr>
              <a:t>How we will know it is working</a:t>
            </a:r>
            <a:endParaRPr lang="en-US" sz="1150" dirty="0"/>
          </a:p>
        </p:txBody>
      </p:sp>
      <p:sp>
        <p:nvSpPr>
          <p:cNvPr id="22" name="Text 20"/>
          <p:cNvSpPr/>
          <p:nvPr/>
        </p:nvSpPr>
        <p:spPr>
          <a:xfrm>
            <a:off x="859536" y="4882896"/>
            <a:ext cx="2377440" cy="292608"/>
          </a:xfrm>
          <a:prstGeom prst="rect">
            <a:avLst/>
          </a:prstGeom>
          <a:noFill/>
          <a:ln/>
        </p:spPr>
        <p:txBody>
          <a:bodyPr wrap="square" lIns="0" tIns="0" rIns="0" bIns="0" rtlCol="0" anchor="ctr"/>
          <a:lstStyle/>
          <a:p>
            <a:pPr indent="0" marL="0">
              <a:buNone/>
            </a:pPr>
            <a:r>
              <a:rPr lang="en-US" sz="1250" b="1" dirty="0">
                <a:solidFill>
                  <a:srgbClr val="1B2430"/>
                </a:solidFill>
                <a:latin typeface="Calibri" pitchFamily="34" charset="0"/>
                <a:ea typeface="Calibri" pitchFamily="34" charset="-122"/>
                <a:cs typeface="Calibri" pitchFamily="34" charset="-120"/>
              </a:rPr>
              <a:t>Allocation coverage</a:t>
            </a:r>
            <a:endParaRPr lang="en-US" sz="1250" dirty="0"/>
          </a:p>
        </p:txBody>
      </p:sp>
      <p:sp>
        <p:nvSpPr>
          <p:cNvPr id="23" name="Text 21"/>
          <p:cNvSpPr/>
          <p:nvPr/>
        </p:nvSpPr>
        <p:spPr>
          <a:xfrm>
            <a:off x="3291840" y="4882896"/>
            <a:ext cx="2340864" cy="292608"/>
          </a:xfrm>
          <a:prstGeom prst="rect">
            <a:avLst/>
          </a:prstGeom>
          <a:noFill/>
          <a:ln/>
        </p:spPr>
        <p:txBody>
          <a:bodyPr wrap="square" lIns="0" tIns="0" rIns="0" bIns="0" rtlCol="0" anchor="ctr"/>
          <a:lstStyle/>
          <a:p>
            <a:pPr algn="r" indent="0" marL="0">
              <a:buNone/>
            </a:pPr>
            <a:r>
              <a:rPr lang="en-US" sz="1250" dirty="0">
                <a:solidFill>
                  <a:srgbClr val="5C6675"/>
                </a:solidFill>
                <a:latin typeface="Calibri" pitchFamily="34" charset="0"/>
                <a:ea typeface="Calibri" pitchFamily="34" charset="-122"/>
                <a:cs typeface="Calibri" pitchFamily="34" charset="-120"/>
              </a:rPr>
              <a:t>under 5%, reported weekly</a:t>
            </a:r>
            <a:endParaRPr lang="en-US" sz="1250" dirty="0"/>
          </a:p>
        </p:txBody>
      </p:sp>
      <p:sp>
        <p:nvSpPr>
          <p:cNvPr id="24" name="Text 22"/>
          <p:cNvSpPr/>
          <p:nvPr/>
        </p:nvSpPr>
        <p:spPr>
          <a:xfrm>
            <a:off x="859536" y="5212080"/>
            <a:ext cx="2377440" cy="292608"/>
          </a:xfrm>
          <a:prstGeom prst="rect">
            <a:avLst/>
          </a:prstGeom>
          <a:noFill/>
          <a:ln/>
        </p:spPr>
        <p:txBody>
          <a:bodyPr wrap="square" lIns="0" tIns="0" rIns="0" bIns="0" rtlCol="0" anchor="ctr"/>
          <a:lstStyle/>
          <a:p>
            <a:pPr indent="0" marL="0">
              <a:buNone/>
            </a:pPr>
            <a:r>
              <a:rPr lang="en-US" sz="1250" b="1" dirty="0">
                <a:solidFill>
                  <a:srgbClr val="1B2430"/>
                </a:solidFill>
                <a:latin typeface="Calibri" pitchFamily="34" charset="0"/>
                <a:ea typeface="Calibri" pitchFamily="34" charset="-122"/>
                <a:cs typeface="Calibri" pitchFamily="34" charset="-120"/>
              </a:rPr>
              <a:t>Time to attribute a spike</a:t>
            </a:r>
            <a:endParaRPr lang="en-US" sz="1250" dirty="0"/>
          </a:p>
        </p:txBody>
      </p:sp>
      <p:sp>
        <p:nvSpPr>
          <p:cNvPr id="25" name="Text 23"/>
          <p:cNvSpPr/>
          <p:nvPr/>
        </p:nvSpPr>
        <p:spPr>
          <a:xfrm>
            <a:off x="3291840" y="5212080"/>
            <a:ext cx="2340864" cy="292608"/>
          </a:xfrm>
          <a:prstGeom prst="rect">
            <a:avLst/>
          </a:prstGeom>
          <a:noFill/>
          <a:ln/>
        </p:spPr>
        <p:txBody>
          <a:bodyPr wrap="square" lIns="0" tIns="0" rIns="0" bIns="0" rtlCol="0" anchor="ctr"/>
          <a:lstStyle/>
          <a:p>
            <a:pPr algn="r" indent="0" marL="0">
              <a:buNone/>
            </a:pPr>
            <a:r>
              <a:rPr lang="en-US" sz="1250" dirty="0">
                <a:solidFill>
                  <a:srgbClr val="5C6675"/>
                </a:solidFill>
                <a:latin typeface="Calibri" pitchFamily="34" charset="0"/>
                <a:ea typeface="Calibri" pitchFamily="34" charset="-122"/>
                <a:cs typeface="Calibri" pitchFamily="34" charset="-120"/>
              </a:rPr>
              <a:t>hours, not days</a:t>
            </a:r>
            <a:endParaRPr lang="en-US" sz="1250" dirty="0"/>
          </a:p>
        </p:txBody>
      </p:sp>
      <p:sp>
        <p:nvSpPr>
          <p:cNvPr id="26" name="Text 24"/>
          <p:cNvSpPr/>
          <p:nvPr/>
        </p:nvSpPr>
        <p:spPr>
          <a:xfrm>
            <a:off x="859536" y="5541264"/>
            <a:ext cx="2377440" cy="292608"/>
          </a:xfrm>
          <a:prstGeom prst="rect">
            <a:avLst/>
          </a:prstGeom>
          <a:noFill/>
          <a:ln/>
        </p:spPr>
        <p:txBody>
          <a:bodyPr wrap="square" lIns="0" tIns="0" rIns="0" bIns="0" rtlCol="0" anchor="ctr"/>
          <a:lstStyle/>
          <a:p>
            <a:pPr indent="0" marL="0">
              <a:buNone/>
            </a:pPr>
            <a:r>
              <a:rPr lang="en-US" sz="1250" b="1" dirty="0">
                <a:solidFill>
                  <a:srgbClr val="1B2430"/>
                </a:solidFill>
                <a:latin typeface="Calibri" pitchFamily="34" charset="0"/>
                <a:ea typeface="Calibri" pitchFamily="34" charset="-122"/>
                <a:cs typeface="Calibri" pitchFamily="34" charset="-120"/>
              </a:rPr>
              <a:t>Findings owned and dated</a:t>
            </a:r>
            <a:endParaRPr lang="en-US" sz="1250" dirty="0"/>
          </a:p>
        </p:txBody>
      </p:sp>
      <p:sp>
        <p:nvSpPr>
          <p:cNvPr id="27" name="Text 25"/>
          <p:cNvSpPr/>
          <p:nvPr/>
        </p:nvSpPr>
        <p:spPr>
          <a:xfrm>
            <a:off x="3291840" y="5541264"/>
            <a:ext cx="2340864" cy="292608"/>
          </a:xfrm>
          <a:prstGeom prst="rect">
            <a:avLst/>
          </a:prstGeom>
          <a:noFill/>
          <a:ln/>
        </p:spPr>
        <p:txBody>
          <a:bodyPr wrap="square" lIns="0" tIns="0" rIns="0" bIns="0" rtlCol="0" anchor="ctr"/>
          <a:lstStyle/>
          <a:p>
            <a:pPr algn="r" indent="0" marL="0">
              <a:buNone/>
            </a:pPr>
            <a:r>
              <a:rPr lang="en-US" sz="1250" dirty="0">
                <a:solidFill>
                  <a:srgbClr val="5C6675"/>
                </a:solidFill>
                <a:latin typeface="Calibri" pitchFamily="34" charset="0"/>
                <a:ea typeface="Calibri" pitchFamily="34" charset="-122"/>
                <a:cs typeface="Calibri" pitchFamily="34" charset="-120"/>
              </a:rPr>
              <a:t>adoption, not accuracy</a:t>
            </a:r>
            <a:endParaRPr lang="en-US" sz="1250" dirty="0"/>
          </a:p>
        </p:txBody>
      </p:sp>
      <p:sp>
        <p:nvSpPr>
          <p:cNvPr id="28" name="Shape 26"/>
          <p:cNvSpPr/>
          <p:nvPr/>
        </p:nvSpPr>
        <p:spPr>
          <a:xfrm>
            <a:off x="6245352" y="4370832"/>
            <a:ext cx="5394960" cy="1691640"/>
          </a:xfrm>
          <a:prstGeom prst="roundRect">
            <a:avLst>
              <a:gd name="adj" fmla="val 4865"/>
            </a:avLst>
          </a:prstGeom>
          <a:solidFill>
            <a:srgbClr val="1F2936"/>
          </a:solidFill>
          <a:ln/>
          <a:effectLst>
            <a:outerShdw sx="100000" sy="100000" kx="0" ky="0" algn="bl" rotWithShape="0" blurRad="127000" dist="25400" dir="5400000">
              <a:srgbClr val="8C99A8">
                <a:alpha val="16000"/>
              </a:srgbClr>
            </a:outerShdw>
          </a:effectLst>
        </p:spPr>
      </p:sp>
      <p:sp>
        <p:nvSpPr>
          <p:cNvPr id="29" name="Text 27"/>
          <p:cNvSpPr/>
          <p:nvPr/>
        </p:nvSpPr>
        <p:spPr>
          <a:xfrm>
            <a:off x="6556248" y="4535424"/>
            <a:ext cx="4572000" cy="274320"/>
          </a:xfrm>
          <a:prstGeom prst="rect">
            <a:avLst/>
          </a:prstGeom>
          <a:noFill/>
          <a:ln/>
        </p:spPr>
        <p:txBody>
          <a:bodyPr wrap="square" lIns="0" tIns="0" rIns="0" bIns="0" rtlCol="0" anchor="ctr"/>
          <a:lstStyle/>
          <a:p>
            <a:pPr indent="0" marL="0">
              <a:buNone/>
            </a:pPr>
            <a:r>
              <a:rPr lang="en-US" sz="1150" b="1" spc="140" kern="0" dirty="0">
                <a:solidFill>
                  <a:srgbClr val="E39B2C"/>
                </a:solidFill>
                <a:latin typeface="Calibri" pitchFamily="34" charset="0"/>
                <a:ea typeface="Calibri" pitchFamily="34" charset="-122"/>
                <a:cs typeface="Calibri" pitchFamily="34" charset="-120"/>
              </a:rPr>
              <a:t>What it buys</a:t>
            </a:r>
            <a:endParaRPr lang="en-US" sz="1150" dirty="0"/>
          </a:p>
        </p:txBody>
      </p:sp>
      <p:sp>
        <p:nvSpPr>
          <p:cNvPr id="30" name="Text 28"/>
          <p:cNvSpPr/>
          <p:nvPr/>
        </p:nvSpPr>
        <p:spPr>
          <a:xfrm>
            <a:off x="6556248" y="4864608"/>
            <a:ext cx="4773168" cy="1097280"/>
          </a:xfrm>
          <a:prstGeom prst="rect">
            <a:avLst/>
          </a:prstGeom>
          <a:noFill/>
          <a:ln/>
        </p:spPr>
        <p:txBody>
          <a:bodyPr wrap="square" lIns="0" tIns="0" rIns="0" bIns="0" rtlCol="0" anchor="t"/>
          <a:lstStyle/>
          <a:p>
            <a:pPr indent="0" marL="0">
              <a:lnSpc>
                <a:spcPts val="1800"/>
              </a:lnSpc>
              <a:buNone/>
            </a:pPr>
            <a:r>
              <a:rPr lang="en-US" sz="1300" dirty="0">
                <a:solidFill>
                  <a:srgbClr val="FFFFFF"/>
                </a:solidFill>
                <a:latin typeface="Calibri" pitchFamily="34" charset="0"/>
                <a:ea typeface="Calibri" pitchFamily="34" charset="-122"/>
                <a:cs typeface="Calibri" pitchFamily="34" charset="-120"/>
              </a:rPr>
              <a:t>Not a smaller invoice — an invoice with nothing in it we have not already seen, explained and decided about. Visibility makes ownership possible, ownership changes behaviour, and changed behaviour is the only saving that survives the quarter.</a:t>
            </a:r>
            <a:endParaRPr lang="en-US" sz="1300" dirty="0"/>
          </a:p>
        </p:txBody>
      </p:sp>
      <p:sp>
        <p:nvSpPr>
          <p:cNvPr id="31" name="Text 29"/>
          <p:cNvSpPr/>
          <p:nvPr/>
        </p:nvSpPr>
        <p:spPr>
          <a:xfrm>
            <a:off x="548640" y="6199632"/>
            <a:ext cx="11091672" cy="420624"/>
          </a:xfrm>
          <a:prstGeom prst="rect">
            <a:avLst/>
          </a:prstGeom>
          <a:noFill/>
          <a:ln/>
        </p:spPr>
        <p:txBody>
          <a:bodyPr wrap="square" lIns="0" tIns="0" rIns="0" bIns="0" rtlCol="0" anchor="ctr"/>
          <a:lstStyle/>
          <a:p>
            <a:pPr indent="0" marL="0">
              <a:buNone/>
            </a:pPr>
            <a:r>
              <a:rPr lang="en-US" sz="1400" i="1" dirty="0">
                <a:solidFill>
                  <a:srgbClr val="5C6675"/>
                </a:solidFill>
                <a:latin typeface="Cambria" pitchFamily="34" charset="0"/>
                <a:ea typeface="Cambria" pitchFamily="34" charset="-122"/>
                <a:cs typeface="Cambria" pitchFamily="34" charset="-120"/>
              </a:rPr>
              <a:t>Two decisions today: who owns the tagging standard, and whether we are willing to have a limit that actually blocks.</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691640"/>
            <a:ext cx="73152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Questions &amp; discussion</a:t>
            </a:r>
            <a:endParaRPr lang="en-US" sz="4000" dirty="0"/>
          </a:p>
        </p:txBody>
      </p:sp>
      <p:sp>
        <p:nvSpPr>
          <p:cNvPr id="3" name="Text 1"/>
          <p:cNvSpPr/>
          <p:nvPr/>
        </p:nvSpPr>
        <p:spPr>
          <a:xfrm>
            <a:off x="548640" y="2606040"/>
            <a:ext cx="6949440" cy="411480"/>
          </a:xfrm>
          <a:prstGeom prst="rect">
            <a:avLst/>
          </a:prstGeom>
          <a:noFill/>
          <a:ln/>
        </p:spPr>
        <p:txBody>
          <a:bodyPr wrap="square" lIns="0" tIns="0" rIns="0" bIns="0" rtlCol="0" anchor="ctr"/>
          <a:lstStyle/>
          <a:p>
            <a:pPr indent="0" marL="0">
              <a:buNone/>
            </a:pPr>
            <a:r>
              <a:rPr lang="en-US" sz="1600" dirty="0">
                <a:solidFill>
                  <a:srgbClr val="9EABBA"/>
                </a:solidFill>
                <a:latin typeface="Calibri" pitchFamily="34" charset="0"/>
                <a:ea typeface="Calibri" pitchFamily="34" charset="-122"/>
                <a:cs typeface="Calibri" pitchFamily="34" charset="-120"/>
              </a:rPr>
              <a:t>FinOps: Visibility &amp; Governance — seeing cloud spend, and controlling it</a:t>
            </a:r>
            <a:endParaRPr lang="en-US" sz="1600" dirty="0"/>
          </a:p>
        </p:txBody>
      </p:sp>
      <p:sp>
        <p:nvSpPr>
          <p:cNvPr id="4" name="Text 2"/>
          <p:cNvSpPr/>
          <p:nvPr/>
        </p:nvSpPr>
        <p:spPr>
          <a:xfrm>
            <a:off x="548640" y="3611880"/>
            <a:ext cx="3657600" cy="274320"/>
          </a:xfrm>
          <a:prstGeom prst="rect">
            <a:avLst/>
          </a:prstGeom>
          <a:noFill/>
          <a:ln/>
        </p:spPr>
        <p:txBody>
          <a:bodyPr wrap="square" lIns="0" tIns="0" rIns="0" bIns="0" rtlCol="0" anchor="ctr"/>
          <a:lstStyle/>
          <a:p>
            <a:pPr indent="0" marL="0">
              <a:buNone/>
            </a:pPr>
            <a:r>
              <a:rPr lang="en-US" sz="1150" b="1" spc="180" kern="0" dirty="0">
                <a:solidFill>
                  <a:srgbClr val="E39B2C"/>
                </a:solidFill>
                <a:latin typeface="Calibri" pitchFamily="34" charset="0"/>
                <a:ea typeface="Calibri" pitchFamily="34" charset="-122"/>
                <a:cs typeface="Calibri" pitchFamily="34" charset="-120"/>
              </a:rPr>
              <a:t>Key contacts</a:t>
            </a:r>
            <a:endParaRPr lang="en-US" sz="1150" dirty="0"/>
          </a:p>
        </p:txBody>
      </p:sp>
      <p:sp>
        <p:nvSpPr>
          <p:cNvPr id="5" name="Text 3"/>
          <p:cNvSpPr/>
          <p:nvPr/>
        </p:nvSpPr>
        <p:spPr>
          <a:xfrm>
            <a:off x="548640" y="3950208"/>
            <a:ext cx="5029200" cy="822960"/>
          </a:xfrm>
          <a:prstGeom prst="rect">
            <a:avLst/>
          </a:prstGeom>
          <a:noFill/>
          <a:ln/>
        </p:spPr>
        <p:txBody>
          <a:bodyPr wrap="square" lIns="0" tIns="0" rIns="0" bIns="0" rtlCol="0" anchor="t"/>
          <a:lstStyle/>
          <a:p>
            <a:pPr indent="0" marL="0">
              <a:lnSpc>
                <a:spcPts val="2400"/>
              </a:lnSpc>
              <a:buNone/>
            </a:pPr>
            <a:r>
              <a:rPr lang="en-US" sz="1450" dirty="0">
                <a:solidFill>
                  <a:srgbClr val="9EABBA"/>
                </a:solidFill>
                <a:latin typeface="Calibri" pitchFamily="34" charset="0"/>
                <a:ea typeface="Calibri" pitchFamily="34" charset="-122"/>
                <a:cs typeface="Calibri" pitchFamily="34" charset="-120"/>
              </a:rPr>
              <a:t>____________________   ·   Title</a:t>
            </a:r>
            <a:endParaRPr lang="en-US" sz="1450" dirty="0"/>
          </a:p>
          <a:p>
            <a:pPr indent="0" marL="0">
              <a:lnSpc>
                <a:spcPts val="2400"/>
              </a:lnSpc>
              <a:buNone/>
            </a:pPr>
            <a:r>
              <a:rPr lang="en-US" sz="1450" dirty="0">
                <a:solidFill>
                  <a:srgbClr val="9EABBA"/>
                </a:solidFill>
                <a:latin typeface="Calibri" pitchFamily="34" charset="0"/>
                <a:ea typeface="Calibri" pitchFamily="34" charset="-122"/>
                <a:cs typeface="Calibri" pitchFamily="34" charset="-120"/>
              </a:rPr>
              <a:t>____________________   ·   Title</a:t>
            </a:r>
            <a:endParaRPr lang="en-US" sz="1450" dirty="0"/>
          </a:p>
        </p:txBody>
      </p:sp>
      <p:sp>
        <p:nvSpPr>
          <p:cNvPr id="6" name="Text 4"/>
          <p:cNvSpPr/>
          <p:nvPr/>
        </p:nvSpPr>
        <p:spPr>
          <a:xfrm>
            <a:off x="548640" y="4937760"/>
            <a:ext cx="3657600" cy="274320"/>
          </a:xfrm>
          <a:prstGeom prst="rect">
            <a:avLst/>
          </a:prstGeom>
          <a:noFill/>
          <a:ln/>
        </p:spPr>
        <p:txBody>
          <a:bodyPr wrap="square" lIns="0" tIns="0" rIns="0" bIns="0" rtlCol="0" anchor="ctr"/>
          <a:lstStyle/>
          <a:p>
            <a:pPr indent="0" marL="0">
              <a:buNone/>
            </a:pPr>
            <a:r>
              <a:rPr lang="en-US" sz="1150" b="1" spc="180" kern="0" dirty="0">
                <a:solidFill>
                  <a:srgbClr val="E39B2C"/>
                </a:solidFill>
                <a:latin typeface="Calibri" pitchFamily="34" charset="0"/>
                <a:ea typeface="Calibri" pitchFamily="34" charset="-122"/>
                <a:cs typeface="Calibri" pitchFamily="34" charset="-120"/>
              </a:rPr>
              <a:t>Resources</a:t>
            </a:r>
            <a:endParaRPr lang="en-US" sz="1150" dirty="0"/>
          </a:p>
        </p:txBody>
      </p:sp>
      <p:sp>
        <p:nvSpPr>
          <p:cNvPr id="7" name="Text 5"/>
          <p:cNvSpPr/>
          <p:nvPr/>
        </p:nvSpPr>
        <p:spPr>
          <a:xfrm>
            <a:off x="548640" y="5276088"/>
            <a:ext cx="5486400" cy="822960"/>
          </a:xfrm>
          <a:prstGeom prst="rect">
            <a:avLst/>
          </a:prstGeom>
          <a:noFill/>
          <a:ln/>
        </p:spPr>
        <p:txBody>
          <a:bodyPr wrap="square" lIns="0" tIns="0" rIns="0" bIns="0" rtlCol="0" anchor="t"/>
          <a:lstStyle/>
          <a:p>
            <a:pPr indent="0" marL="0">
              <a:lnSpc>
                <a:spcPts val="2400"/>
              </a:lnSpc>
              <a:buNone/>
            </a:pPr>
            <a:r>
              <a:rPr lang="en-US" sz="1450" dirty="0">
                <a:solidFill>
                  <a:srgbClr val="FFFFFF"/>
                </a:solidFill>
                <a:latin typeface="Calibri" pitchFamily="34" charset="0"/>
                <a:ea typeface="Calibri" pitchFamily="34" charset="-122"/>
                <a:cs typeface="Calibri" pitchFamily="34" charset="-120"/>
              </a:rPr>
              <a:t>FinOps Foundation   ·   finops.org</a:t>
            </a:r>
            <a:endParaRPr lang="en-US" sz="1450" dirty="0"/>
          </a:p>
          <a:p>
            <a:pPr indent="0" marL="0">
              <a:lnSpc>
                <a:spcPts val="2400"/>
              </a:lnSpc>
              <a:buNone/>
            </a:pPr>
            <a:r>
              <a:rPr lang="en-US" sz="1450" dirty="0">
                <a:solidFill>
                  <a:srgbClr val="FFFFFF"/>
                </a:solidFill>
                <a:latin typeface="Calibri" pitchFamily="34" charset="0"/>
                <a:ea typeface="Calibri" pitchFamily="34" charset="-122"/>
                <a:cs typeface="Calibri" pitchFamily="34" charset="-120"/>
              </a:rPr>
              <a:t>FOCUS standard   ·   focus.finops.org</a:t>
            </a:r>
            <a:endParaRPr lang="en-US" sz="1450" dirty="0"/>
          </a:p>
        </p:txBody>
      </p:sp>
      <p:sp>
        <p:nvSpPr>
          <p:cNvPr id="8" name="Shape 6"/>
          <p:cNvSpPr/>
          <p:nvPr/>
        </p:nvSpPr>
        <p:spPr>
          <a:xfrm>
            <a:off x="8001000" y="1920240"/>
            <a:ext cx="274320" cy="274320"/>
          </a:xfrm>
          <a:prstGeom prst="ellipse">
            <a:avLst/>
          </a:prstGeom>
          <a:solidFill>
            <a:srgbClr val="27313E"/>
          </a:solidFill>
          <a:ln/>
        </p:spPr>
      </p:sp>
      <p:sp>
        <p:nvSpPr>
          <p:cNvPr id="9" name="Shape 7"/>
          <p:cNvSpPr/>
          <p:nvPr/>
        </p:nvSpPr>
        <p:spPr>
          <a:xfrm>
            <a:off x="8513064" y="1920240"/>
            <a:ext cx="274320" cy="274320"/>
          </a:xfrm>
          <a:prstGeom prst="ellipse">
            <a:avLst/>
          </a:prstGeom>
          <a:solidFill>
            <a:srgbClr val="27313E"/>
          </a:solidFill>
          <a:ln/>
        </p:spPr>
      </p:sp>
      <p:sp>
        <p:nvSpPr>
          <p:cNvPr id="10" name="Shape 8"/>
          <p:cNvSpPr/>
          <p:nvPr/>
        </p:nvSpPr>
        <p:spPr>
          <a:xfrm>
            <a:off x="9025128" y="1920240"/>
            <a:ext cx="274320" cy="274320"/>
          </a:xfrm>
          <a:prstGeom prst="ellipse">
            <a:avLst/>
          </a:prstGeom>
          <a:solidFill>
            <a:srgbClr val="27313E"/>
          </a:solidFill>
          <a:ln/>
        </p:spPr>
      </p:sp>
      <p:sp>
        <p:nvSpPr>
          <p:cNvPr id="11" name="Shape 9"/>
          <p:cNvSpPr/>
          <p:nvPr/>
        </p:nvSpPr>
        <p:spPr>
          <a:xfrm>
            <a:off x="9537192" y="1920240"/>
            <a:ext cx="274320" cy="274320"/>
          </a:xfrm>
          <a:prstGeom prst="ellipse">
            <a:avLst/>
          </a:prstGeom>
          <a:solidFill>
            <a:srgbClr val="27313E"/>
          </a:solidFill>
          <a:ln/>
        </p:spPr>
      </p:sp>
      <p:sp>
        <p:nvSpPr>
          <p:cNvPr id="12" name="Shape 10"/>
          <p:cNvSpPr/>
          <p:nvPr/>
        </p:nvSpPr>
        <p:spPr>
          <a:xfrm>
            <a:off x="10049256" y="1920240"/>
            <a:ext cx="274320" cy="274320"/>
          </a:xfrm>
          <a:prstGeom prst="ellipse">
            <a:avLst/>
          </a:prstGeom>
          <a:solidFill>
            <a:srgbClr val="27313E"/>
          </a:solidFill>
          <a:ln/>
        </p:spPr>
      </p:sp>
      <p:sp>
        <p:nvSpPr>
          <p:cNvPr id="13" name="Shape 11"/>
          <p:cNvSpPr/>
          <p:nvPr/>
        </p:nvSpPr>
        <p:spPr>
          <a:xfrm>
            <a:off x="10561320" y="1920240"/>
            <a:ext cx="274320" cy="274320"/>
          </a:xfrm>
          <a:prstGeom prst="ellipse">
            <a:avLst/>
          </a:prstGeom>
          <a:solidFill>
            <a:srgbClr val="E39B2C"/>
          </a:solidFill>
          <a:ln/>
        </p:spPr>
      </p:sp>
      <p:sp>
        <p:nvSpPr>
          <p:cNvPr id="14" name="Shape 12"/>
          <p:cNvSpPr/>
          <p:nvPr/>
        </p:nvSpPr>
        <p:spPr>
          <a:xfrm>
            <a:off x="11073384" y="1920240"/>
            <a:ext cx="274320" cy="274320"/>
          </a:xfrm>
          <a:prstGeom prst="ellipse">
            <a:avLst/>
          </a:prstGeom>
          <a:solidFill>
            <a:srgbClr val="E39B2C"/>
          </a:solidFill>
          <a:ln/>
        </p:spPr>
      </p:sp>
      <p:sp>
        <p:nvSpPr>
          <p:cNvPr id="15" name="Shape 13"/>
          <p:cNvSpPr/>
          <p:nvPr/>
        </p:nvSpPr>
        <p:spPr>
          <a:xfrm>
            <a:off x="8001000" y="2432304"/>
            <a:ext cx="274320" cy="274320"/>
          </a:xfrm>
          <a:prstGeom prst="ellipse">
            <a:avLst/>
          </a:prstGeom>
          <a:solidFill>
            <a:srgbClr val="27313E"/>
          </a:solidFill>
          <a:ln/>
        </p:spPr>
      </p:sp>
      <p:sp>
        <p:nvSpPr>
          <p:cNvPr id="16" name="Shape 14"/>
          <p:cNvSpPr/>
          <p:nvPr/>
        </p:nvSpPr>
        <p:spPr>
          <a:xfrm>
            <a:off x="8513064" y="2432304"/>
            <a:ext cx="274320" cy="274320"/>
          </a:xfrm>
          <a:prstGeom prst="ellipse">
            <a:avLst/>
          </a:prstGeom>
          <a:solidFill>
            <a:srgbClr val="27313E"/>
          </a:solidFill>
          <a:ln/>
        </p:spPr>
      </p:sp>
      <p:sp>
        <p:nvSpPr>
          <p:cNvPr id="17" name="Shape 15"/>
          <p:cNvSpPr/>
          <p:nvPr/>
        </p:nvSpPr>
        <p:spPr>
          <a:xfrm>
            <a:off x="9025128" y="2432304"/>
            <a:ext cx="274320" cy="274320"/>
          </a:xfrm>
          <a:prstGeom prst="ellipse">
            <a:avLst/>
          </a:prstGeom>
          <a:solidFill>
            <a:srgbClr val="27313E"/>
          </a:solidFill>
          <a:ln/>
        </p:spPr>
      </p:sp>
      <p:sp>
        <p:nvSpPr>
          <p:cNvPr id="18" name="Shape 16"/>
          <p:cNvSpPr/>
          <p:nvPr/>
        </p:nvSpPr>
        <p:spPr>
          <a:xfrm>
            <a:off x="9537192" y="2432304"/>
            <a:ext cx="274320" cy="274320"/>
          </a:xfrm>
          <a:prstGeom prst="ellipse">
            <a:avLst/>
          </a:prstGeom>
          <a:solidFill>
            <a:srgbClr val="27313E"/>
          </a:solidFill>
          <a:ln/>
        </p:spPr>
      </p:sp>
      <p:sp>
        <p:nvSpPr>
          <p:cNvPr id="19" name="Shape 17"/>
          <p:cNvSpPr/>
          <p:nvPr/>
        </p:nvSpPr>
        <p:spPr>
          <a:xfrm>
            <a:off x="10049256" y="2432304"/>
            <a:ext cx="274320" cy="274320"/>
          </a:xfrm>
          <a:prstGeom prst="ellipse">
            <a:avLst/>
          </a:prstGeom>
          <a:solidFill>
            <a:srgbClr val="E39B2C"/>
          </a:solidFill>
          <a:ln/>
        </p:spPr>
      </p:sp>
      <p:sp>
        <p:nvSpPr>
          <p:cNvPr id="20" name="Shape 18"/>
          <p:cNvSpPr/>
          <p:nvPr/>
        </p:nvSpPr>
        <p:spPr>
          <a:xfrm>
            <a:off x="10561320" y="2432304"/>
            <a:ext cx="274320" cy="274320"/>
          </a:xfrm>
          <a:prstGeom prst="ellipse">
            <a:avLst/>
          </a:prstGeom>
          <a:solidFill>
            <a:srgbClr val="E39B2C"/>
          </a:solidFill>
          <a:ln/>
        </p:spPr>
      </p:sp>
      <p:sp>
        <p:nvSpPr>
          <p:cNvPr id="21" name="Shape 19"/>
          <p:cNvSpPr/>
          <p:nvPr/>
        </p:nvSpPr>
        <p:spPr>
          <a:xfrm>
            <a:off x="11073384" y="2432304"/>
            <a:ext cx="274320" cy="274320"/>
          </a:xfrm>
          <a:prstGeom prst="ellipse">
            <a:avLst/>
          </a:prstGeom>
          <a:solidFill>
            <a:srgbClr val="E39B2C"/>
          </a:solidFill>
          <a:ln/>
        </p:spPr>
      </p:sp>
      <p:sp>
        <p:nvSpPr>
          <p:cNvPr id="22" name="Shape 20"/>
          <p:cNvSpPr/>
          <p:nvPr/>
        </p:nvSpPr>
        <p:spPr>
          <a:xfrm>
            <a:off x="8001000" y="2944368"/>
            <a:ext cx="274320" cy="274320"/>
          </a:xfrm>
          <a:prstGeom prst="ellipse">
            <a:avLst/>
          </a:prstGeom>
          <a:solidFill>
            <a:srgbClr val="27313E"/>
          </a:solidFill>
          <a:ln/>
        </p:spPr>
      </p:sp>
      <p:sp>
        <p:nvSpPr>
          <p:cNvPr id="23" name="Shape 21"/>
          <p:cNvSpPr/>
          <p:nvPr/>
        </p:nvSpPr>
        <p:spPr>
          <a:xfrm>
            <a:off x="8513064" y="2944368"/>
            <a:ext cx="274320" cy="274320"/>
          </a:xfrm>
          <a:prstGeom prst="ellipse">
            <a:avLst/>
          </a:prstGeom>
          <a:solidFill>
            <a:srgbClr val="27313E"/>
          </a:solidFill>
          <a:ln/>
        </p:spPr>
      </p:sp>
      <p:sp>
        <p:nvSpPr>
          <p:cNvPr id="24" name="Shape 22"/>
          <p:cNvSpPr/>
          <p:nvPr/>
        </p:nvSpPr>
        <p:spPr>
          <a:xfrm>
            <a:off x="9025128" y="2944368"/>
            <a:ext cx="274320" cy="274320"/>
          </a:xfrm>
          <a:prstGeom prst="ellipse">
            <a:avLst/>
          </a:prstGeom>
          <a:solidFill>
            <a:srgbClr val="27313E"/>
          </a:solidFill>
          <a:ln/>
        </p:spPr>
      </p:sp>
      <p:sp>
        <p:nvSpPr>
          <p:cNvPr id="25" name="Shape 23"/>
          <p:cNvSpPr/>
          <p:nvPr/>
        </p:nvSpPr>
        <p:spPr>
          <a:xfrm>
            <a:off x="9537192" y="2944368"/>
            <a:ext cx="274320" cy="274320"/>
          </a:xfrm>
          <a:prstGeom prst="ellipse">
            <a:avLst/>
          </a:prstGeom>
          <a:solidFill>
            <a:srgbClr val="E39B2C"/>
          </a:solidFill>
          <a:ln/>
        </p:spPr>
      </p:sp>
      <p:sp>
        <p:nvSpPr>
          <p:cNvPr id="26" name="Shape 24"/>
          <p:cNvSpPr/>
          <p:nvPr/>
        </p:nvSpPr>
        <p:spPr>
          <a:xfrm>
            <a:off x="10049256" y="2944368"/>
            <a:ext cx="274320" cy="274320"/>
          </a:xfrm>
          <a:prstGeom prst="ellipse">
            <a:avLst/>
          </a:prstGeom>
          <a:solidFill>
            <a:srgbClr val="E39B2C"/>
          </a:solidFill>
          <a:ln/>
        </p:spPr>
      </p:sp>
      <p:sp>
        <p:nvSpPr>
          <p:cNvPr id="27" name="Shape 25"/>
          <p:cNvSpPr/>
          <p:nvPr/>
        </p:nvSpPr>
        <p:spPr>
          <a:xfrm>
            <a:off x="10561320" y="2944368"/>
            <a:ext cx="274320" cy="274320"/>
          </a:xfrm>
          <a:prstGeom prst="ellipse">
            <a:avLst/>
          </a:prstGeom>
          <a:solidFill>
            <a:srgbClr val="E39B2C"/>
          </a:solidFill>
          <a:ln/>
        </p:spPr>
      </p:sp>
      <p:sp>
        <p:nvSpPr>
          <p:cNvPr id="28" name="Shape 26"/>
          <p:cNvSpPr/>
          <p:nvPr/>
        </p:nvSpPr>
        <p:spPr>
          <a:xfrm>
            <a:off x="11073384" y="2944368"/>
            <a:ext cx="274320" cy="274320"/>
          </a:xfrm>
          <a:prstGeom prst="ellipse">
            <a:avLst/>
          </a:prstGeom>
          <a:solidFill>
            <a:srgbClr val="E39B2C"/>
          </a:solidFill>
          <a:ln/>
        </p:spPr>
      </p:sp>
      <p:sp>
        <p:nvSpPr>
          <p:cNvPr id="29" name="Shape 27"/>
          <p:cNvSpPr/>
          <p:nvPr/>
        </p:nvSpPr>
        <p:spPr>
          <a:xfrm>
            <a:off x="8001000" y="3456432"/>
            <a:ext cx="274320" cy="274320"/>
          </a:xfrm>
          <a:prstGeom prst="ellipse">
            <a:avLst/>
          </a:prstGeom>
          <a:solidFill>
            <a:srgbClr val="27313E"/>
          </a:solidFill>
          <a:ln/>
        </p:spPr>
      </p:sp>
      <p:sp>
        <p:nvSpPr>
          <p:cNvPr id="30" name="Shape 28"/>
          <p:cNvSpPr/>
          <p:nvPr/>
        </p:nvSpPr>
        <p:spPr>
          <a:xfrm>
            <a:off x="8513064" y="3456432"/>
            <a:ext cx="274320" cy="274320"/>
          </a:xfrm>
          <a:prstGeom prst="ellipse">
            <a:avLst/>
          </a:prstGeom>
          <a:solidFill>
            <a:srgbClr val="27313E"/>
          </a:solidFill>
          <a:ln/>
        </p:spPr>
      </p:sp>
      <p:sp>
        <p:nvSpPr>
          <p:cNvPr id="31" name="Shape 29"/>
          <p:cNvSpPr/>
          <p:nvPr/>
        </p:nvSpPr>
        <p:spPr>
          <a:xfrm>
            <a:off x="9025128" y="3456432"/>
            <a:ext cx="274320" cy="274320"/>
          </a:xfrm>
          <a:prstGeom prst="ellipse">
            <a:avLst/>
          </a:prstGeom>
          <a:solidFill>
            <a:srgbClr val="E39B2C"/>
          </a:solidFill>
          <a:ln/>
        </p:spPr>
      </p:sp>
      <p:sp>
        <p:nvSpPr>
          <p:cNvPr id="32" name="Shape 30"/>
          <p:cNvSpPr/>
          <p:nvPr/>
        </p:nvSpPr>
        <p:spPr>
          <a:xfrm>
            <a:off x="9537192" y="3456432"/>
            <a:ext cx="274320" cy="274320"/>
          </a:xfrm>
          <a:prstGeom prst="ellipse">
            <a:avLst/>
          </a:prstGeom>
          <a:solidFill>
            <a:srgbClr val="E39B2C"/>
          </a:solidFill>
          <a:ln/>
        </p:spPr>
      </p:sp>
      <p:sp>
        <p:nvSpPr>
          <p:cNvPr id="33" name="Shape 31"/>
          <p:cNvSpPr/>
          <p:nvPr/>
        </p:nvSpPr>
        <p:spPr>
          <a:xfrm>
            <a:off x="10049256" y="3456432"/>
            <a:ext cx="274320" cy="274320"/>
          </a:xfrm>
          <a:prstGeom prst="ellipse">
            <a:avLst/>
          </a:prstGeom>
          <a:solidFill>
            <a:srgbClr val="E39B2C"/>
          </a:solidFill>
          <a:ln/>
        </p:spPr>
      </p:sp>
      <p:sp>
        <p:nvSpPr>
          <p:cNvPr id="34" name="Shape 32"/>
          <p:cNvSpPr/>
          <p:nvPr/>
        </p:nvSpPr>
        <p:spPr>
          <a:xfrm>
            <a:off x="10561320" y="3456432"/>
            <a:ext cx="274320" cy="274320"/>
          </a:xfrm>
          <a:prstGeom prst="ellipse">
            <a:avLst/>
          </a:prstGeom>
          <a:solidFill>
            <a:srgbClr val="E39B2C"/>
          </a:solidFill>
          <a:ln/>
        </p:spPr>
      </p:sp>
      <p:sp>
        <p:nvSpPr>
          <p:cNvPr id="35" name="Shape 33"/>
          <p:cNvSpPr/>
          <p:nvPr/>
        </p:nvSpPr>
        <p:spPr>
          <a:xfrm>
            <a:off x="11073384" y="3456432"/>
            <a:ext cx="274320" cy="274320"/>
          </a:xfrm>
          <a:prstGeom prst="ellipse">
            <a:avLst/>
          </a:prstGeom>
          <a:solidFill>
            <a:srgbClr val="E39B2C"/>
          </a:solidFill>
          <a:ln/>
        </p:spPr>
      </p:sp>
      <p:sp>
        <p:nvSpPr>
          <p:cNvPr id="36" name="Shape 34"/>
          <p:cNvSpPr/>
          <p:nvPr/>
        </p:nvSpPr>
        <p:spPr>
          <a:xfrm>
            <a:off x="8001000" y="3968496"/>
            <a:ext cx="274320" cy="274320"/>
          </a:xfrm>
          <a:prstGeom prst="ellipse">
            <a:avLst/>
          </a:prstGeom>
          <a:solidFill>
            <a:srgbClr val="27313E"/>
          </a:solidFill>
          <a:ln/>
        </p:spPr>
      </p:sp>
      <p:sp>
        <p:nvSpPr>
          <p:cNvPr id="37" name="Shape 35"/>
          <p:cNvSpPr/>
          <p:nvPr/>
        </p:nvSpPr>
        <p:spPr>
          <a:xfrm>
            <a:off x="8513064" y="3968496"/>
            <a:ext cx="274320" cy="274320"/>
          </a:xfrm>
          <a:prstGeom prst="ellipse">
            <a:avLst/>
          </a:prstGeom>
          <a:solidFill>
            <a:srgbClr val="E39B2C"/>
          </a:solidFill>
          <a:ln/>
        </p:spPr>
      </p:sp>
      <p:sp>
        <p:nvSpPr>
          <p:cNvPr id="38" name="Shape 36"/>
          <p:cNvSpPr/>
          <p:nvPr/>
        </p:nvSpPr>
        <p:spPr>
          <a:xfrm>
            <a:off x="9025128" y="3968496"/>
            <a:ext cx="274320" cy="274320"/>
          </a:xfrm>
          <a:prstGeom prst="ellipse">
            <a:avLst/>
          </a:prstGeom>
          <a:solidFill>
            <a:srgbClr val="E39B2C"/>
          </a:solidFill>
          <a:ln/>
        </p:spPr>
      </p:sp>
      <p:sp>
        <p:nvSpPr>
          <p:cNvPr id="39" name="Shape 37"/>
          <p:cNvSpPr/>
          <p:nvPr/>
        </p:nvSpPr>
        <p:spPr>
          <a:xfrm>
            <a:off x="9537192" y="3968496"/>
            <a:ext cx="274320" cy="274320"/>
          </a:xfrm>
          <a:prstGeom prst="ellipse">
            <a:avLst/>
          </a:prstGeom>
          <a:solidFill>
            <a:srgbClr val="E39B2C"/>
          </a:solidFill>
          <a:ln/>
        </p:spPr>
      </p:sp>
      <p:sp>
        <p:nvSpPr>
          <p:cNvPr id="40" name="Shape 38"/>
          <p:cNvSpPr/>
          <p:nvPr/>
        </p:nvSpPr>
        <p:spPr>
          <a:xfrm>
            <a:off x="10049256" y="3968496"/>
            <a:ext cx="274320" cy="274320"/>
          </a:xfrm>
          <a:prstGeom prst="ellipse">
            <a:avLst/>
          </a:prstGeom>
          <a:solidFill>
            <a:srgbClr val="E39B2C"/>
          </a:solidFill>
          <a:ln/>
        </p:spPr>
      </p:sp>
      <p:sp>
        <p:nvSpPr>
          <p:cNvPr id="41" name="Shape 39"/>
          <p:cNvSpPr/>
          <p:nvPr/>
        </p:nvSpPr>
        <p:spPr>
          <a:xfrm>
            <a:off x="10561320" y="3968496"/>
            <a:ext cx="274320" cy="274320"/>
          </a:xfrm>
          <a:prstGeom prst="ellipse">
            <a:avLst/>
          </a:prstGeom>
          <a:solidFill>
            <a:srgbClr val="E39B2C"/>
          </a:solidFill>
          <a:ln/>
        </p:spPr>
      </p:sp>
      <p:sp>
        <p:nvSpPr>
          <p:cNvPr id="42" name="Shape 40"/>
          <p:cNvSpPr/>
          <p:nvPr/>
        </p:nvSpPr>
        <p:spPr>
          <a:xfrm>
            <a:off x="11073384" y="3968496"/>
            <a:ext cx="274320" cy="274320"/>
          </a:xfrm>
          <a:prstGeom prst="ellipse">
            <a:avLst/>
          </a:prstGeom>
          <a:solidFill>
            <a:srgbClr val="E39B2C"/>
          </a:solidFill>
          <a:ln/>
        </p:spPr>
      </p:sp>
      <p:sp>
        <p:nvSpPr>
          <p:cNvPr id="43" name="Shape 41"/>
          <p:cNvSpPr/>
          <p:nvPr/>
        </p:nvSpPr>
        <p:spPr>
          <a:xfrm>
            <a:off x="8001000" y="4480560"/>
            <a:ext cx="274320" cy="274320"/>
          </a:xfrm>
          <a:prstGeom prst="ellipse">
            <a:avLst/>
          </a:prstGeom>
          <a:solidFill>
            <a:srgbClr val="E39B2C"/>
          </a:solidFill>
          <a:ln/>
        </p:spPr>
      </p:sp>
      <p:sp>
        <p:nvSpPr>
          <p:cNvPr id="44" name="Shape 42"/>
          <p:cNvSpPr/>
          <p:nvPr/>
        </p:nvSpPr>
        <p:spPr>
          <a:xfrm>
            <a:off x="8513064" y="4480560"/>
            <a:ext cx="274320" cy="274320"/>
          </a:xfrm>
          <a:prstGeom prst="ellipse">
            <a:avLst/>
          </a:prstGeom>
          <a:solidFill>
            <a:srgbClr val="E39B2C"/>
          </a:solidFill>
          <a:ln/>
        </p:spPr>
      </p:sp>
      <p:sp>
        <p:nvSpPr>
          <p:cNvPr id="45" name="Shape 43"/>
          <p:cNvSpPr/>
          <p:nvPr/>
        </p:nvSpPr>
        <p:spPr>
          <a:xfrm>
            <a:off x="9025128" y="4480560"/>
            <a:ext cx="274320" cy="274320"/>
          </a:xfrm>
          <a:prstGeom prst="ellipse">
            <a:avLst/>
          </a:prstGeom>
          <a:solidFill>
            <a:srgbClr val="E39B2C"/>
          </a:solidFill>
          <a:ln/>
        </p:spPr>
      </p:sp>
      <p:sp>
        <p:nvSpPr>
          <p:cNvPr id="46" name="Shape 44"/>
          <p:cNvSpPr/>
          <p:nvPr/>
        </p:nvSpPr>
        <p:spPr>
          <a:xfrm>
            <a:off x="9537192" y="4480560"/>
            <a:ext cx="274320" cy="274320"/>
          </a:xfrm>
          <a:prstGeom prst="ellipse">
            <a:avLst/>
          </a:prstGeom>
          <a:solidFill>
            <a:srgbClr val="E39B2C"/>
          </a:solidFill>
          <a:ln/>
        </p:spPr>
      </p:sp>
      <p:sp>
        <p:nvSpPr>
          <p:cNvPr id="47" name="Shape 45"/>
          <p:cNvSpPr/>
          <p:nvPr/>
        </p:nvSpPr>
        <p:spPr>
          <a:xfrm>
            <a:off x="10049256" y="4480560"/>
            <a:ext cx="274320" cy="274320"/>
          </a:xfrm>
          <a:prstGeom prst="ellipse">
            <a:avLst/>
          </a:prstGeom>
          <a:solidFill>
            <a:srgbClr val="E39B2C"/>
          </a:solidFill>
          <a:ln/>
        </p:spPr>
      </p:sp>
      <p:sp>
        <p:nvSpPr>
          <p:cNvPr id="48" name="Shape 46"/>
          <p:cNvSpPr/>
          <p:nvPr/>
        </p:nvSpPr>
        <p:spPr>
          <a:xfrm>
            <a:off x="10561320" y="4480560"/>
            <a:ext cx="274320" cy="274320"/>
          </a:xfrm>
          <a:prstGeom prst="ellipse">
            <a:avLst/>
          </a:prstGeom>
          <a:solidFill>
            <a:srgbClr val="E39B2C"/>
          </a:solidFill>
          <a:ln/>
        </p:spPr>
      </p:sp>
      <p:sp>
        <p:nvSpPr>
          <p:cNvPr id="49" name="Shape 47"/>
          <p:cNvSpPr/>
          <p:nvPr/>
        </p:nvSpPr>
        <p:spPr>
          <a:xfrm>
            <a:off x="11073384" y="4480560"/>
            <a:ext cx="274320" cy="274320"/>
          </a:xfrm>
          <a:prstGeom prst="ellipse">
            <a:avLst/>
          </a:prstGeom>
          <a:solidFill>
            <a:srgbClr val="E39B2C"/>
          </a:solidFill>
          <a:ln/>
        </p:spPr>
      </p:sp>
      <p:sp>
        <p:nvSpPr>
          <p:cNvPr id="50" name="Shape 48"/>
          <p:cNvSpPr/>
          <p:nvPr/>
        </p:nvSpPr>
        <p:spPr>
          <a:xfrm>
            <a:off x="8001000" y="4992624"/>
            <a:ext cx="274320" cy="274320"/>
          </a:xfrm>
          <a:prstGeom prst="ellipse">
            <a:avLst/>
          </a:prstGeom>
          <a:solidFill>
            <a:srgbClr val="E39B2C"/>
          </a:solidFill>
          <a:ln/>
        </p:spPr>
      </p:sp>
      <p:sp>
        <p:nvSpPr>
          <p:cNvPr id="51" name="Shape 49"/>
          <p:cNvSpPr/>
          <p:nvPr/>
        </p:nvSpPr>
        <p:spPr>
          <a:xfrm>
            <a:off x="8513064" y="4992624"/>
            <a:ext cx="274320" cy="274320"/>
          </a:xfrm>
          <a:prstGeom prst="ellipse">
            <a:avLst/>
          </a:prstGeom>
          <a:solidFill>
            <a:srgbClr val="E39B2C"/>
          </a:solidFill>
          <a:ln/>
        </p:spPr>
      </p:sp>
      <p:sp>
        <p:nvSpPr>
          <p:cNvPr id="52" name="Shape 50"/>
          <p:cNvSpPr/>
          <p:nvPr/>
        </p:nvSpPr>
        <p:spPr>
          <a:xfrm>
            <a:off x="9025128" y="4992624"/>
            <a:ext cx="274320" cy="274320"/>
          </a:xfrm>
          <a:prstGeom prst="ellipse">
            <a:avLst/>
          </a:prstGeom>
          <a:solidFill>
            <a:srgbClr val="E39B2C"/>
          </a:solidFill>
          <a:ln/>
        </p:spPr>
      </p:sp>
      <p:sp>
        <p:nvSpPr>
          <p:cNvPr id="53" name="Shape 51"/>
          <p:cNvSpPr/>
          <p:nvPr/>
        </p:nvSpPr>
        <p:spPr>
          <a:xfrm>
            <a:off x="9537192" y="4992624"/>
            <a:ext cx="274320" cy="274320"/>
          </a:xfrm>
          <a:prstGeom prst="ellipse">
            <a:avLst/>
          </a:prstGeom>
          <a:solidFill>
            <a:srgbClr val="E39B2C"/>
          </a:solidFill>
          <a:ln/>
        </p:spPr>
      </p:sp>
      <p:sp>
        <p:nvSpPr>
          <p:cNvPr id="54" name="Shape 52"/>
          <p:cNvSpPr/>
          <p:nvPr/>
        </p:nvSpPr>
        <p:spPr>
          <a:xfrm>
            <a:off x="10049256" y="4992624"/>
            <a:ext cx="274320" cy="274320"/>
          </a:xfrm>
          <a:prstGeom prst="ellipse">
            <a:avLst/>
          </a:prstGeom>
          <a:solidFill>
            <a:srgbClr val="E39B2C"/>
          </a:solidFill>
          <a:ln/>
        </p:spPr>
      </p:sp>
      <p:sp>
        <p:nvSpPr>
          <p:cNvPr id="55" name="Shape 53"/>
          <p:cNvSpPr/>
          <p:nvPr/>
        </p:nvSpPr>
        <p:spPr>
          <a:xfrm>
            <a:off x="10561320" y="4992624"/>
            <a:ext cx="274320" cy="274320"/>
          </a:xfrm>
          <a:prstGeom prst="ellipse">
            <a:avLst/>
          </a:prstGeom>
          <a:solidFill>
            <a:srgbClr val="E39B2C"/>
          </a:solidFill>
          <a:ln/>
        </p:spPr>
      </p:sp>
      <p:sp>
        <p:nvSpPr>
          <p:cNvPr id="56" name="Shape 54"/>
          <p:cNvSpPr/>
          <p:nvPr/>
        </p:nvSpPr>
        <p:spPr>
          <a:xfrm>
            <a:off x="11073384" y="4992624"/>
            <a:ext cx="274320" cy="274320"/>
          </a:xfrm>
          <a:prstGeom prst="ellipse">
            <a:avLst/>
          </a:prstGeom>
          <a:solidFill>
            <a:srgbClr val="E39B2C"/>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FinOps: Gaining Visibility</dc:title>
  <dc:subject>Cloud financial management — management briefing</dc:subject>
  <dc:creator>FinOps</dc:creator>
  <cp:lastModifiedBy>FinOps</cp:lastModifiedBy>
  <cp:revision>1</cp:revision>
  <dcterms:created xsi:type="dcterms:W3CDTF">2026-08-05T08:44:39Z</dcterms:created>
  <dcterms:modified xsi:type="dcterms:W3CDTF">2026-08-05T08:44:39Z</dcterms:modified>
</cp:coreProperties>
</file>