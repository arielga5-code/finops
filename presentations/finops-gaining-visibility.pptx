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briefing is about the Inform phase of FinOps — visibility. It is deliberately not an optimization pitch. The argument is that visibility is the prerequisite that makes every later saving durable rather than one-off.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lived experience rather than theory: the month-end surprise. If you have one, use a real example of a bill that moved and could not be explained within 24 hours. The point of the quote is that a dashboard is not the same thing as visibility — visibility means an owner and a cause can be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'Finance + DevOps' compound: this is an operating model that puts two functions in the same conversation, not a tool purchase. Inform is highlighted because it is where this organization is, and because the cycle repeats — each optimization round needs fresh visibility to target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questions are the acceptance test for the visibility programme. Invite the room to answer them for our own estate right now — the gaps in the answers are the business case. The bottom line matters most to a cost-conscious executive: without allocation, the only lever left is an across-the-board cut, which lands hardest on whoever is least able to argue back rather than on actual waste.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capabilities, in dependency order: allocation makes reporting meaningful, reporting makes unit economics computable, and freshness determines whether any of it is actionable. Unit economics is the one that changes the conversation with the board — it separates 'spend is up' from 'spend per customer is down', which are opposite stories told by the same invoice.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slide: it says the goal is hard and names why. The next four slides map one-to-one onto the first four blockers. SaaS and marketplace spend has no dedicated solution slide because the fix is procurement discipline rather than tooling — flag it as an action for finance, not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slide to take away if only one lands. Two decisions are needed from this room: who owns the tag taxonomy, and whether we are willing to enforce it with policy that blocks untagged resource creation. Enforcement at creation is nearly free; retrofitting a live estate is not. The five minimum tags are a starting point — resist the urge to design thirty.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naming our own shared platforms out loud here. The caveat to flag: a shared platform carries one set of tags, so resource tags alone cannot split it — per-team attribution needs either gateway-level keys or application-level instrumentation. Decide which before promising anyone chargeback on a shared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modes to describe: under-coverage, where we pay on-demand rates for workloads that never turn off; and over-commitment, where we buy for a peak that never returns. The reporting fix is showing both prices — teams that only see the discounted rate cannot tell whether the commitment is earning its keep, and teams that only see list price will not believe the savings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 to our own footprint: if we are effectively single-cloud, the native tooling is sufficient and a platform purchase is premature. The FOCUS point still matters even then — asking vendors for FOCUS-compliant exports keeps the option open and makes any future migration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is the message. Showback is a runway, not a lesser version of chargeback: it is where allocation disputes get found and settled while the stakes are still low. A chargeback launched on 60% tagging coverage produces an argument about the numbers instead of a conversation about the spend, and that argument is expensive to unwind.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maturity self-assessment rather than a wish list: mark each of the six as in place, partial, or absent for our estate. Note that four of the six are visibility practices — high performers are not distinguished by how aggressively they cut, but by how early and how precisely they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ask. Step 1 is highlighted because it is the only one that cannot be parallelized — everything downstream degrades if the taxonomy is still in flux. Steps 2 and 4 are both arguments against over-engineering: pick the top spend categories and the tooling that matches the estate we actually have, not the one we might have in three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causal chain rather than a summary of slides. Each link is a separate management commitment: allocation data, published ownership, cost surfaced in the engineering workflow, and a review cadence that keeps it alive. Ask for the first two today; the rest follow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three questions. What will this cost — mostly effort, not licences, if we stay on native tooling. How long until we see savings — allocation coverage improves in weeks, targeted savings follow the first full month of clean data. Who owns it — name the tagging owner and the review cadence before leaving the room, or nothing on the previous slides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BRIEFING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FinOps: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Gaining Visibility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cloud financial management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b="1" spc="140" kern="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b="1" spc="140" kern="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0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8" name="Shape 6"/>
          <p:cNvSpPr/>
          <p:nvPr/>
        </p:nvSpPr>
        <p:spPr>
          <a:xfrm>
            <a:off x="8513064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9" name="Shape 7"/>
          <p:cNvSpPr/>
          <p:nvPr/>
        </p:nvSpPr>
        <p:spPr>
          <a:xfrm>
            <a:off x="9025128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0" name="Shape 8"/>
          <p:cNvSpPr/>
          <p:nvPr/>
        </p:nvSpPr>
        <p:spPr>
          <a:xfrm>
            <a:off x="9537192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049256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1320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73384" y="15727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513064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5128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9537192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49256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61320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73384" y="20848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0" y="25968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8513064" y="25968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9025128" y="25968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9537192" y="25968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9256" y="25968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61320" y="25968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73384" y="25968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8" name="Shape 26"/>
          <p:cNvSpPr/>
          <p:nvPr/>
        </p:nvSpPr>
        <p:spPr>
          <a:xfrm>
            <a:off x="8001000" y="310896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3064" y="310896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310896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9537192" y="310896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49256" y="310896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61320" y="31089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73384" y="31089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362102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6" name="Shape 34"/>
          <p:cNvSpPr/>
          <p:nvPr/>
        </p:nvSpPr>
        <p:spPr>
          <a:xfrm>
            <a:off x="8513064" y="362102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7" name="Shape 35"/>
          <p:cNvSpPr/>
          <p:nvPr/>
        </p:nvSpPr>
        <p:spPr>
          <a:xfrm>
            <a:off x="9025128" y="362102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8" name="Shape 36"/>
          <p:cNvSpPr/>
          <p:nvPr/>
        </p:nvSpPr>
        <p:spPr>
          <a:xfrm>
            <a:off x="9537192" y="362102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49256" y="36210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61320" y="36210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73384" y="36210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2" name="Shape 40"/>
          <p:cNvSpPr/>
          <p:nvPr/>
        </p:nvSpPr>
        <p:spPr>
          <a:xfrm>
            <a:off x="8001000" y="413308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43" name="Shape 41"/>
          <p:cNvSpPr/>
          <p:nvPr/>
        </p:nvSpPr>
        <p:spPr>
          <a:xfrm>
            <a:off x="8513064" y="413308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44" name="Shape 42"/>
          <p:cNvSpPr/>
          <p:nvPr/>
        </p:nvSpPr>
        <p:spPr>
          <a:xfrm>
            <a:off x="9025128" y="413308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45" name="Shape 43"/>
          <p:cNvSpPr/>
          <p:nvPr/>
        </p:nvSpPr>
        <p:spPr>
          <a:xfrm>
            <a:off x="9537192" y="413308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49256" y="413308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61320" y="413308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73384" y="413308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9" name="Shape 47"/>
          <p:cNvSpPr/>
          <p:nvPr/>
        </p:nvSpPr>
        <p:spPr>
          <a:xfrm>
            <a:off x="8001000" y="464515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50" name="Shape 48"/>
          <p:cNvSpPr/>
          <p:nvPr/>
        </p:nvSpPr>
        <p:spPr>
          <a:xfrm>
            <a:off x="8513064" y="464515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51" name="Shape 49"/>
          <p:cNvSpPr/>
          <p:nvPr/>
        </p:nvSpPr>
        <p:spPr>
          <a:xfrm>
            <a:off x="9025128" y="464515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2" name="Shape 50"/>
          <p:cNvSpPr/>
          <p:nvPr/>
        </p:nvSpPr>
        <p:spPr>
          <a:xfrm>
            <a:off x="9537192" y="464515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49256" y="464515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4" name="Shape 52"/>
          <p:cNvSpPr/>
          <p:nvPr/>
        </p:nvSpPr>
        <p:spPr>
          <a:xfrm>
            <a:off x="10561320" y="464515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73384" y="464515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6" name="Text 54"/>
          <p:cNvSpPr/>
          <p:nvPr/>
        </p:nvSpPr>
        <p:spPr>
          <a:xfrm>
            <a:off x="80010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you can see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spend is dynamic, distributed and opaque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" cy="512064"/>
          </a:xfrm>
          <a:prstGeom prst="ellipse">
            <a:avLst/>
          </a:prstGeom>
          <a:solidFill>
            <a:srgbClr val="FBEF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2311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965960"/>
            <a:ext cx="5175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move daily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dynamic and distributed across teams, services and regions.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512064" cy="512064"/>
          </a:xfrm>
          <a:prstGeom prst="ellipse">
            <a:avLst/>
          </a:prstGeom>
          <a:solidFill>
            <a:srgbClr val="FBEFD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369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6736" y="2971800"/>
            <a:ext cx="5175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models don't fit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IT budgeting assumes fixed, predictable costs. Cloud is neither.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4114800"/>
            <a:ext cx="512064" cy="512064"/>
          </a:xfrm>
          <a:prstGeom prst="ellipse">
            <a:avLst/>
          </a:prstGeom>
          <a:solidFill>
            <a:srgbClr val="FBEFD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2428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16736" y="3977640"/>
            <a:ext cx="5175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money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decisions made daily carry direct, immediate financial consequences.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5120640"/>
            <a:ext cx="512064" cy="512064"/>
          </a:xfrm>
          <a:prstGeom prst="ellipse">
            <a:avLst/>
          </a:prstGeom>
          <a:solidFill>
            <a:srgbClr val="FBEFD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2486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16736" y="4983480"/>
            <a:ext cx="5175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arrive without context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invoices show what was spent — rarely who spent it, or why.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858000" y="1965960"/>
            <a:ext cx="4782312" cy="2194560"/>
          </a:xfrm>
          <a:prstGeom prst="roundRect">
            <a:avLst>
              <a:gd name="adj" fmla="val 3750"/>
            </a:avLst>
          </a:prstGeom>
          <a:solidFill>
            <a:srgbClr val="F1F3F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150608" y="2075688"/>
            <a:ext cx="41970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costs rise and no one can explain who owns the change or what caused it, visibility has failed — even if a dashboard is showing numbers.”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858000" y="4352544"/>
            <a:ext cx="4782312" cy="1508760"/>
          </a:xfrm>
          <a:prstGeom prst="roundRect">
            <a:avLst>
              <a:gd name="adj" fmla="val 5455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150608" y="4489704"/>
            <a:ext cx="4197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spc="18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shock, finger-pointing and reactive cost-cutting instead of strategic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 = Finance + DevOps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 framework and cultural practice for maximizing the business value of cloud investment. Not a cost-cutting programme — a way to make the financial impact of technical choices visible to everyone.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11296" cy="2423160"/>
          </a:xfrm>
          <a:prstGeom prst="roundRect">
            <a:avLst>
              <a:gd name="adj" fmla="val 3396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743200"/>
            <a:ext cx="603504" cy="603504"/>
          </a:xfrm>
          <a:prstGeom prst="ellipse">
            <a:avLst/>
          </a:prstGeom>
          <a:solidFill>
            <a:srgbClr val="E39B2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89407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0" y="27432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B4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59536" y="34930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9536" y="3913632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visibility. Understand who is spending what, where, and why.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4256" y="2468880"/>
            <a:ext cx="3511296" cy="2423160"/>
          </a:xfrm>
          <a:prstGeom prst="roundRect">
            <a:avLst>
              <a:gd name="adj" fmla="val 3396"/>
            </a:avLst>
          </a:prstGeom>
          <a:solidFill>
            <a:srgbClr val="F1F3F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7432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89407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11696" y="27432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8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645152" y="34930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45152" y="3913632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insight. Rightsize, eliminate waste, manage commitments.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19872" y="2468880"/>
            <a:ext cx="3511296" cy="2423160"/>
          </a:xfrm>
          <a:prstGeom prst="roundRect">
            <a:avLst>
              <a:gd name="adj" fmla="val 3396"/>
            </a:avLst>
          </a:prstGeom>
          <a:solidFill>
            <a:srgbClr val="F1F3F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30768" y="27432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644" y="2894076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497312" y="27432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8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430768" y="34930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430768" y="3913632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cost awareness into daily engineering and business process.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48640" y="5074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cycle, not a sequence of projects.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BEFD8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41248" y="5641848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6B4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“Without visibility, nothing else in the practice works.”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VISIBILITY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optimize what you cannot see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the organization must be able to answer before any meaningful optimization begins.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F1F3F6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848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teams, products or features drive cloud spend?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21040" y="2258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80" kern="0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F1F3F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90779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 growing with the business — or faster than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0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80" kern="0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signal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30752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F1F3F6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73075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resources are paid for but sitting unused?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3904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80" kern="0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F1F3F6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455371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costs allocated accurately enough to drive ownership?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4727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80" kern="0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9536" y="5504688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of skipping visibility: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becomes reactive and superficial — blanket cost-cutting instead of targeted action against real waste.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“good visibility” looks like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8541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34543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025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allocation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2368296"/>
            <a:ext cx="4041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by team, product, environment or business unit. Depends entirely on a consistent tagging strategy.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8541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34543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0025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reporting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342632" y="2368296"/>
            <a:ext cx="4041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by service, resource type and time period — this is what reveals trends, spikes and anomalies.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380390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396392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6210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645920" y="3986784"/>
            <a:ext cx="4041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customer, per transaction, per active user. The measure of whether spend growth is healthy.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401568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1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380390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396392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36210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real-time data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342632" y="3986784"/>
            <a:ext cx="4041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reporting is too slow. Cost data must arrive with enough immediacy to respond to anomalies.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77824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77824" y="559612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 </a:t>
            </a:r>
            <a:pPr indent="0" marL="0">
              <a:buNone/>
            </a:pPr>
            <a:r>
              <a:rPr lang="en-US" sz="1600" i="1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overspending”</a:t>
            </a:r>
            <a:pPr indent="0" marL="0">
              <a:buNone/>
            </a:pPr>
            <a:r>
              <a:rPr lang="en-US" sz="16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 X used Y resources, costing $Z, delivering A value.”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BLOCKERS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filters between us and a clear 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93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37944"/>
            <a:ext cx="475488" cy="475488"/>
          </a:xfrm>
          <a:prstGeom prst="ellipse">
            <a:avLst/>
          </a:prstGeom>
          <a:solidFill>
            <a:srgbClr val="2E3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568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190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tagging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1719072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portion of spend stays unallocated or misallocated.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23744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936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642616"/>
            <a:ext cx="475488" cy="475488"/>
          </a:xfrm>
          <a:prstGeom prst="ellipse">
            <a:avLst/>
          </a:prstGeom>
          <a:solidFill>
            <a:srgbClr val="2E3A4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7614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5237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2523744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Kubernetes clusters and networking resist clean attribution to one team.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328416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936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447288"/>
            <a:ext cx="475488" cy="475488"/>
          </a:xfrm>
          <a:prstGeom prst="ellipse">
            <a:avLst/>
          </a:prstGeom>
          <a:solidFill>
            <a:srgbClr val="2E3A4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5661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32841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&amp; discounts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54880" y="3328416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 and Savings Plans break attribution — list price ≠ price paid.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33088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936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251960"/>
            <a:ext cx="475488" cy="475488"/>
          </a:xfrm>
          <a:prstGeom prst="ellipse">
            <a:avLst/>
          </a:prstGeom>
          <a:solidFill>
            <a:srgbClr val="2E3A4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7083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13308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estates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754880" y="4133088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bills and reports differently; a unified view has to be constructed.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936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5056632"/>
            <a:ext cx="475488" cy="475488"/>
          </a:xfrm>
          <a:prstGeom prst="ellipse">
            <a:avLst/>
          </a:prstGeom>
          <a:solidFill>
            <a:srgbClr val="2E3A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17550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49377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&amp; marketplace spend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54880" y="49377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in cloud billing. Teams forget the subscriptions they signed.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“Different clouds report data differently, network traffic adds up fast, and Kubernetes or SaaS often hide who generated the spend.”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— TAGGING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of all visibility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749040" cy="3035808"/>
          </a:xfrm>
          <a:prstGeom prst="roundRect">
            <a:avLst>
              <a:gd name="adj" fmla="val 2711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48256"/>
            <a:ext cx="603504" cy="603504"/>
          </a:xfrm>
          <a:prstGeom prst="ellipse">
            <a:avLst/>
          </a:prstGeom>
          <a:solidFill>
            <a:srgbClr val="E39B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19913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788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" y="312724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“Tagging is the single most foundational habit for sustainable FinOps maturity. It is also the most frequently skipped.”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1911096"/>
            <a:ext cx="457200" cy="457200"/>
          </a:xfrm>
          <a:prstGeom prst="ellipse">
            <a:avLst/>
          </a:prstGeom>
          <a:solidFill>
            <a:srgbClr val="DDED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2539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6672" y="178308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global tag taxonomy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list, agreed across the business — aligned to business need, not just cloud ops.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663440" y="2688336"/>
            <a:ext cx="457200" cy="457200"/>
          </a:xfrm>
          <a:prstGeom prst="ellipse">
            <a:avLst/>
          </a:prstGeom>
          <a:solidFill>
            <a:srgbClr val="DDEDE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80263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76672" y="256032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tags at creation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Policy, AWS Organizations tag policies, or Terraform. Retrofitting later is painful.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663440" y="3465576"/>
            <a:ext cx="457200" cy="457200"/>
          </a:xfrm>
          <a:prstGeom prst="ellipse">
            <a:avLst/>
          </a:prstGeom>
          <a:solidFill>
            <a:srgbClr val="DDEDE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357987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76672" y="333756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showback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teams their spend, uncharged, for 4–6 weeks — gaps surface before money is on the line.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4663440" y="4242816"/>
            <a:ext cx="457200" cy="457200"/>
          </a:xfrm>
          <a:prstGeom prst="ellipse">
            <a:avLst/>
          </a:prstGeom>
          <a:solidFill>
            <a:srgbClr val="DDEDE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357116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76672" y="411480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tag compliance</a:t>
            </a:r>
            <a:endParaRPr lang="en-US" sz="14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that surface missing or incorrect metadata, tracked as a KPI.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548640" y="5047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tags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5440680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BEFD8"/>
          </a:solidFill>
          <a:ln/>
        </p:spPr>
      </p:sp>
      <p:sp>
        <p:nvSpPr>
          <p:cNvPr id="23" name="Text 16"/>
          <p:cNvSpPr/>
          <p:nvPr/>
        </p:nvSpPr>
        <p:spPr>
          <a:xfrm>
            <a:off x="548640" y="5440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2761488" y="5440680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BEFD8"/>
          </a:solidFill>
          <a:ln/>
        </p:spPr>
      </p:sp>
      <p:sp>
        <p:nvSpPr>
          <p:cNvPr id="25" name="Text 18"/>
          <p:cNvSpPr/>
          <p:nvPr/>
        </p:nvSpPr>
        <p:spPr>
          <a:xfrm>
            <a:off x="2761488" y="5440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CostCenter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974336" y="5440680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BEFD8"/>
          </a:solidFill>
          <a:ln/>
        </p:spPr>
      </p:sp>
      <p:sp>
        <p:nvSpPr>
          <p:cNvPr id="27" name="Text 20"/>
          <p:cNvSpPr/>
          <p:nvPr/>
        </p:nvSpPr>
        <p:spPr>
          <a:xfrm>
            <a:off x="4974336" y="5440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ApplicationID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187184" y="5440680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BEFD8"/>
          </a:solidFill>
          <a:ln/>
        </p:spPr>
      </p:sp>
      <p:sp>
        <p:nvSpPr>
          <p:cNvPr id="29" name="Text 22"/>
          <p:cNvSpPr/>
          <p:nvPr/>
        </p:nvSpPr>
        <p:spPr>
          <a:xfrm>
            <a:off x="7187184" y="5440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9400032" y="5440680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BEFD8"/>
          </a:solidFill>
          <a:ln/>
        </p:spPr>
      </p:sp>
      <p:sp>
        <p:nvSpPr>
          <p:cNvPr id="31" name="Text 24"/>
          <p:cNvSpPr/>
          <p:nvPr/>
        </p:nvSpPr>
        <p:spPr>
          <a:xfrm>
            <a:off x="9400032" y="5440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 — SHARED RESOURCES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Attributing costs that belong to everyone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databases, Kubernetes clusters and networking are the hardest costs to assign to a single owner.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DDEDE9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59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963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17904" y="2322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Attribute-based allocation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" y="2761488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consumption at runtime and allocate on actual usage rather than an arbitrary key.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21031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DDEDE9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359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963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14616" y="2322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a splitting strategy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56248" y="2761488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consistent method — proportional usage, team count, or a business metric — and publish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DDEDE9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" y="3913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507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38770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showback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9536" y="4315968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each team's share of shared cost without billing it. Builds awareness and surfaces disputes early.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45352" y="36576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DDEDE9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3913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0507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14616" y="38770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to chargeback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556248" y="4315968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teams on actual consumption once the usage patterns are understood and trusted.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41248" y="5550408"/>
            <a:ext cx="10506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thoughtful chargeback model often drives more intentional decisions and long-term discipline.”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 — COMMITMENTS &amp; DISCOUNTS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Reserved Instances and Savings Plans visible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obscure true attribution: the price shown on a resource is not the price the business paid.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2724912"/>
          </a:xfrm>
          <a:prstGeom prst="roundRect">
            <a:avLst>
              <a:gd name="adj" fmla="val 3020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51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commitment coverage on stable, predictable workloads.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62272" y="2103120"/>
            <a:ext cx="7178040" cy="640080"/>
          </a:xfrm>
          <a:prstGeom prst="roundRect">
            <a:avLst>
              <a:gd name="adj" fmla="val 12857"/>
            </a:avLst>
          </a:prstGeom>
          <a:solidFill>
            <a:srgbClr val="F1F3F6"/>
          </a:solidFill>
          <a:ln/>
        </p:spPr>
      </p:sp>
      <p:sp>
        <p:nvSpPr>
          <p:cNvPr id="9" name="Shape 7"/>
          <p:cNvSpPr/>
          <p:nvPr/>
        </p:nvSpPr>
        <p:spPr>
          <a:xfrm>
            <a:off x="4681728" y="22037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231343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85232" y="2103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discount from list price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MSRP and the discounted price side by side, with the attributed saving alongside.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62272" y="2798064"/>
            <a:ext cx="7178040" cy="640080"/>
          </a:xfrm>
          <a:prstGeom prst="roundRect">
            <a:avLst>
              <a:gd name="adj" fmla="val 12857"/>
            </a:avLst>
          </a:prstGeom>
          <a:solidFill>
            <a:srgbClr val="F1F3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681728" y="289864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00837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2798064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savings to the beneficiary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team consumes the resources that earned the discount, that team should see the saving.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462272" y="3493008"/>
            <a:ext cx="7178040" cy="640080"/>
          </a:xfrm>
          <a:prstGeom prst="roundRect">
            <a:avLst>
              <a:gd name="adj" fmla="val 12857"/>
            </a:avLst>
          </a:prstGeom>
          <a:solidFill>
            <a:srgbClr val="F1F3F6"/>
          </a:solidFill>
          <a:ln/>
        </p:spPr>
      </p:sp>
      <p:sp>
        <p:nvSpPr>
          <p:cNvPr id="17" name="Shape 13"/>
          <p:cNvSpPr/>
          <p:nvPr/>
        </p:nvSpPr>
        <p:spPr>
          <a:xfrm>
            <a:off x="4681728" y="359359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70332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85232" y="349300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commitment coverage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share of steady-state spend sits under a commitment, and where the gaps are.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462272" y="4187952"/>
            <a:ext cx="7178040" cy="640080"/>
          </a:xfrm>
          <a:prstGeom prst="roundRect">
            <a:avLst>
              <a:gd name="adj" fmla="val 12857"/>
            </a:avLst>
          </a:prstGeom>
          <a:solidFill>
            <a:srgbClr val="F1F3F6"/>
          </a:solidFill>
          <a:ln/>
        </p:spPr>
      </p:sp>
      <p:sp>
        <p:nvSpPr>
          <p:cNvPr id="21" name="Shape 16"/>
          <p:cNvSpPr/>
          <p:nvPr/>
        </p:nvSpPr>
        <p:spPr>
          <a:xfrm>
            <a:off x="4681728" y="42885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439826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85232" y="418795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utilization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unused commitment is not a discount — it is prepaid waste.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5138928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EFD8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41248" y="5248656"/>
            <a:ext cx="10506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6B4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commitment nobody uses is the most expensive form of waste — it is locked in, and it is invisible on a list-price report.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4 — MULTI-CLOUD VISIBILITY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view across every provider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Explorer, Azure Cost Management and GCP Billing are capable — but each sees only its own silo.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11296" cy="246888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5831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2004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platform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9536" y="3621024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normalize and enrich cost data from every provider into a single store.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2148840"/>
            <a:ext cx="3511296" cy="246888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4645152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5831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2004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the FOCUS standard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45152" y="3621024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FinOps Open Cost and Usage Specification normalizes cloud billing into a vendor-agnostic schema.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9872" y="2148840"/>
            <a:ext cx="3511296" cy="246888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430768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25831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2004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dashboard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30768" y="3621024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analysis, reporting and optimization — across all clouds and vendors.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41248" y="5001768"/>
            <a:ext cx="105064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“FOCUS enables consistent reporting across vendors, so leadership can analyze the whole environment instead of looking at each cloud or vendor in a silo.”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ACCOUNTABILITY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Showback, then chargeback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DDEDE9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20299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762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2996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Showback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474720" y="2029968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40" kern="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layer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9536" y="2743200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see their spend. No money changes hands.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3611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FinOps practice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coverage of 70–85%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awareness and trust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45352" y="178308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BEFD8"/>
          </a:solidFill>
          <a:ln/>
        </p:spPr>
      </p:sp>
      <p:sp>
        <p:nvSpPr>
          <p:cNvPr id="13" name="Shape 10"/>
          <p:cNvSpPr/>
          <p:nvPr/>
        </p:nvSpPr>
        <p:spPr>
          <a:xfrm>
            <a:off x="6556248" y="20299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7627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202996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Chargeback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171432" y="2029968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40" kern="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consequence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556248" y="2743200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billed back to business units and hit their P&amp;L.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556248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29400" y="3611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trusted allocation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Budget-owner accountability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behaviour change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512064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1F2936"/>
          </a:solidFill>
          <a:ln/>
          <a:effectLst>
            <a:outerShdw sx="100000" sy="100000" kx="0" ky="0" algn="bl" rotWithShape="0" blurRad="127000" dist="25400" dir="5400000">
              <a:srgbClr val="8C99A8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59536" y="512064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showback to build tagging discipline and trust. Move to chargeback once allocation is accurate and finance is ready.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548640" y="59436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“Most teams skip this runway and pay for it later with a chargeback rollout that nobody trusts.”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high-performing FinOps teams 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2025 State of FinOps report — the practices that consistently precede durable savings.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1F3F6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14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allocation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3054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spend allocated. No “unallocated” bucket left to argue about.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2121408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1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4626864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514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visibility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26864" y="3054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data refreshed daily, not monthly. Monthly is too slow to catch a regression.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9872" y="2121408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1F3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514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KPIs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3054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set of metrics across finance and engineering, reviewed together.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1F3F6"/>
          </a:solidFill>
          <a:ln/>
        </p:spPr>
      </p:sp>
      <p:sp>
        <p:nvSpPr>
          <p:cNvPr id="21" name="Shape 16"/>
          <p:cNvSpPr/>
          <p:nvPr/>
        </p:nvSpPr>
        <p:spPr>
          <a:xfrm>
            <a:off x="841248" y="4462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59943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9616" y="4462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Shift-left cost visibility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41248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checks during design and development — treated like performance and security.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334256" y="42062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1F3F6"/>
          </a:solidFill>
          <a:ln/>
        </p:spPr>
      </p:sp>
      <p:sp>
        <p:nvSpPr>
          <p:cNvPr id="26" name="Shape 20"/>
          <p:cNvSpPr/>
          <p:nvPr/>
        </p:nvSpPr>
        <p:spPr>
          <a:xfrm>
            <a:off x="4626864" y="4462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5994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462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alerts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4626864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routed to the owner of the spend, not to a shared mailbox.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119872" y="420624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1F3F6"/>
          </a:solidFill>
          <a:ln/>
        </p:spPr>
      </p:sp>
      <p:sp>
        <p:nvSpPr>
          <p:cNvPr id="31" name="Shape 24"/>
          <p:cNvSpPr/>
          <p:nvPr/>
        </p:nvSpPr>
        <p:spPr>
          <a:xfrm>
            <a:off x="8412480" y="4462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59943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0848" y="4462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guardrails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8412480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that prevents costly deployments before they happen.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1F293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tagging standard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3218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consistent taxonomy before investing in dashboards.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F1F3F6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39312" y="25420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biggest spend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3218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largest categories first. Don't chase perfect granularity everywhere.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F1F3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73952" y="25420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finance and engineering talking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3218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both into the same conversation early, not as an afterthought.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587752" cy="2377440"/>
          </a:xfrm>
          <a:prstGeom prst="roundRect">
            <a:avLst>
              <a:gd name="adj" fmla="val 3462"/>
            </a:avLst>
          </a:prstGeom>
          <a:solidFill>
            <a:srgbClr val="F1F3F6"/>
          </a:solidFill>
          <a:ln/>
        </p:spPr>
      </p:sp>
      <p:sp>
        <p:nvSpPr>
          <p:cNvPr id="17" name="Text 15"/>
          <p:cNvSpPr/>
          <p:nvPr/>
        </p:nvSpPr>
        <p:spPr>
          <a:xfrm>
            <a:off x="9308592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08592" y="25420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tools that fit the footprint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08592" y="3218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tooling for single-cloud; specialized platforms only for genuine multi-cloud.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F1F3F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options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4937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51760" y="4937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Explorer  ·  Azure Cost Management  ·  GCP Billing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824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651760" y="53492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CloudHealth  ·  Apptio  ·  Vantage  ·  nOps  ·  Finout  ·  CoreStack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77824" y="5760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651760" y="5760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FOCUS-compliant platforms for multi-cloud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is not the goal — it is the foundation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F293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04672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accountability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only own what they can see.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82112" y="2944368"/>
            <a:ext cx="192024" cy="182880"/>
          </a:xfrm>
          <a:prstGeom prst="rightArrow">
            <a:avLst/>
          </a:prstGeom>
          <a:solidFill>
            <a:srgbClr val="3D4B5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9659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F2936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39312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behaviour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9312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make cost-conscious calls when they see the impact.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16752" y="2944368"/>
            <a:ext cx="192024" cy="182880"/>
          </a:xfrm>
          <a:prstGeom prst="rightArrow">
            <a:avLst/>
          </a:prstGeom>
          <a:solidFill>
            <a:srgbClr val="3D4B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9659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F29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73952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culture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3952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awareness becomes part of how we build, not a separate exercise.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51392" y="2944368"/>
            <a:ext cx="192024" cy="182880"/>
          </a:xfrm>
          <a:prstGeom prst="rightArrow">
            <a:avLst/>
          </a:prstGeom>
          <a:solidFill>
            <a:srgbClr val="3D4B5B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9659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F2936"/>
          </a:solidFill>
          <a:ln/>
        </p:spPr>
      </p:sp>
      <p:sp>
        <p:nvSpPr>
          <p:cNvPr id="20" name="Text 18"/>
          <p:cNvSpPr/>
          <p:nvPr/>
        </p:nvSpPr>
        <p:spPr>
          <a:xfrm>
            <a:off x="9308592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308592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sustains savings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08592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becomes continuous rather than a one-time project.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F2936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636008"/>
            <a:ext cx="10506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“Organizations that invest in visibility first achieve more durable and targeted cost improvements than those that jump straight to cuts.”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FinOps: Gaining Visibility — the foundation of cloud financial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502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·   Title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E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·   Title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3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527608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Foundation   ·   finops.org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standard   ·   focus.finops.org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01000" y="192024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9" name="Shape 7"/>
          <p:cNvSpPr/>
          <p:nvPr/>
        </p:nvSpPr>
        <p:spPr>
          <a:xfrm>
            <a:off x="8513064" y="192024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0" name="Shape 8"/>
          <p:cNvSpPr/>
          <p:nvPr/>
        </p:nvSpPr>
        <p:spPr>
          <a:xfrm>
            <a:off x="9025128" y="192024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1" name="Shape 9"/>
          <p:cNvSpPr/>
          <p:nvPr/>
        </p:nvSpPr>
        <p:spPr>
          <a:xfrm>
            <a:off x="9537192" y="192024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49256" y="1920240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192024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73384" y="192024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243230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13064" y="243230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9025128" y="243230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37192" y="2432304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49256" y="243230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61320" y="243230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73384" y="243230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0" y="29443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8513064" y="29443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9025128" y="2944368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9537192" y="294436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49256" y="294436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61320" y="294436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73384" y="2944368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0" y="34564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8513064" y="3456432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9025128" y="345643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2" name="Shape 30"/>
          <p:cNvSpPr/>
          <p:nvPr/>
        </p:nvSpPr>
        <p:spPr>
          <a:xfrm>
            <a:off x="9537192" y="345643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49256" y="345643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61320" y="345643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73384" y="3456432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6" name="Shape 34"/>
          <p:cNvSpPr/>
          <p:nvPr/>
        </p:nvSpPr>
        <p:spPr>
          <a:xfrm>
            <a:off x="8001000" y="3968496"/>
            <a:ext cx="274320" cy="274320"/>
          </a:xfrm>
          <a:prstGeom prst="ellipse">
            <a:avLst/>
          </a:prstGeom>
          <a:solidFill>
            <a:srgbClr val="27313E"/>
          </a:solidFill>
          <a:ln/>
        </p:spPr>
      </p:sp>
      <p:sp>
        <p:nvSpPr>
          <p:cNvPr id="37" name="Shape 35"/>
          <p:cNvSpPr/>
          <p:nvPr/>
        </p:nvSpPr>
        <p:spPr>
          <a:xfrm>
            <a:off x="8513064" y="39684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8" name="Shape 36"/>
          <p:cNvSpPr/>
          <p:nvPr/>
        </p:nvSpPr>
        <p:spPr>
          <a:xfrm>
            <a:off x="9025128" y="39684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39" name="Shape 37"/>
          <p:cNvSpPr/>
          <p:nvPr/>
        </p:nvSpPr>
        <p:spPr>
          <a:xfrm>
            <a:off x="9537192" y="39684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49256" y="39684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61320" y="39684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73384" y="3968496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4" name="Shape 42"/>
          <p:cNvSpPr/>
          <p:nvPr/>
        </p:nvSpPr>
        <p:spPr>
          <a:xfrm>
            <a:off x="8513064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5" name="Shape 43"/>
          <p:cNvSpPr/>
          <p:nvPr/>
        </p:nvSpPr>
        <p:spPr>
          <a:xfrm>
            <a:off x="9025128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6" name="Shape 44"/>
          <p:cNvSpPr/>
          <p:nvPr/>
        </p:nvSpPr>
        <p:spPr>
          <a:xfrm>
            <a:off x="9537192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49256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61320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073384" y="4480560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0" name="Shape 48"/>
          <p:cNvSpPr/>
          <p:nvPr/>
        </p:nvSpPr>
        <p:spPr>
          <a:xfrm>
            <a:off x="8001000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1" name="Shape 49"/>
          <p:cNvSpPr/>
          <p:nvPr/>
        </p:nvSpPr>
        <p:spPr>
          <a:xfrm>
            <a:off x="8513064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2" name="Shape 50"/>
          <p:cNvSpPr/>
          <p:nvPr/>
        </p:nvSpPr>
        <p:spPr>
          <a:xfrm>
            <a:off x="9025128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3" name="Shape 51"/>
          <p:cNvSpPr/>
          <p:nvPr/>
        </p:nvSpPr>
        <p:spPr>
          <a:xfrm>
            <a:off x="9537192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49256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561320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73384" y="4992624"/>
            <a:ext cx="274320" cy="274320"/>
          </a:xfrm>
          <a:prstGeom prst="ellipse">
            <a:avLst/>
          </a:prstGeom>
          <a:solidFill>
            <a:srgbClr val="E39B2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FinOps: Gaining Visibility</dc:title>
  <dc:subject>Cloud financial management — management briefing</dc:subject>
  <dc:creator>FinOps</dc:creator>
  <cp:lastModifiedBy>FinOps</cp:lastModifiedBy>
  <cp:revision>1</cp:revision>
  <dcterms:created xsi:type="dcterms:W3CDTF">2026-08-04T15:02:21Z</dcterms:created>
  <dcterms:modified xsi:type="dcterms:W3CDTF">2026-08-04T15:02:21Z</dcterms:modified>
</cp:coreProperties>
</file>