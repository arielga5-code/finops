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answers 'so what do you actually want engineering to do differently', and the chart is the argument: the same decision costs a conversation at design, an edit at pull request, a migration once deployed and a negotiation once it is on a contract. Nothing about the decision changed — only the cost of revisiting it. The three insertion points are deliberately small. None of them asks an engineer to learn cloud pricing; they put the number in front of the person at the moment they are already making the choice. The pull-request cost diff is the one to push for first, because it lands inside a ritual teams already have. Say the last line out loud, because it is the difference between this working and this being resented: the practices that succeed describe FinOps as partnering with engineers rather than policing them. A cost review that only ever says no gets routed around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Catch it at design, not on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Cost is a design constraint, reviewed alongside security and reliability — not a report that arrives afterwards.</a:t>
            </a:r>
            <a:endParaRPr lang="en-US" sz="1500" dirty="0"/>
          </a:p>
        </p:txBody>
      </p:sp>
      <p:sp>
        <p:nvSpPr>
          <p:cNvPr id="5" name="Text 3"/>
          <p:cNvSpPr/>
          <p:nvPr/>
        </p:nvSpPr>
        <p:spPr>
          <a:xfrm>
            <a:off x="548640" y="2194560"/>
            <a:ext cx="4114800" cy="274320"/>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Effort to change the decision</a:t>
            </a:r>
            <a:endParaRPr lang="en-US" sz="1200" dirty="0"/>
          </a:p>
        </p:txBody>
      </p:sp>
      <p:sp>
        <p:nvSpPr>
          <p:cNvPr id="6" name="Shape 4"/>
          <p:cNvSpPr/>
          <p:nvPr/>
        </p:nvSpPr>
        <p:spPr>
          <a:xfrm>
            <a:off x="685800" y="4572000"/>
            <a:ext cx="1188720" cy="457200"/>
          </a:xfrm>
          <a:prstGeom prst="roundRect">
            <a:avLst>
              <a:gd name="adj" fmla="val 12000"/>
            </a:avLst>
          </a:prstGeom>
          <a:solidFill>
            <a:srgbClr val="2E8B7A"/>
          </a:solidFill>
          <a:ln/>
        </p:spPr>
      </p:sp>
      <p:sp>
        <p:nvSpPr>
          <p:cNvPr id="7" name="Text 5"/>
          <p:cNvSpPr/>
          <p:nvPr/>
        </p:nvSpPr>
        <p:spPr>
          <a:xfrm>
            <a:off x="54864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Design</a:t>
            </a:r>
            <a:endParaRPr lang="en-US" sz="1250" dirty="0"/>
          </a:p>
        </p:txBody>
      </p:sp>
      <p:sp>
        <p:nvSpPr>
          <p:cNvPr id="8" name="Text 6"/>
          <p:cNvSpPr/>
          <p:nvPr/>
        </p:nvSpPr>
        <p:spPr>
          <a:xfrm>
            <a:off x="54864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 conversation</a:t>
            </a:r>
            <a:endParaRPr lang="en-US" sz="1150" dirty="0"/>
          </a:p>
        </p:txBody>
      </p:sp>
      <p:sp>
        <p:nvSpPr>
          <p:cNvPr id="9" name="Shape 7"/>
          <p:cNvSpPr/>
          <p:nvPr/>
        </p:nvSpPr>
        <p:spPr>
          <a:xfrm>
            <a:off x="2148840" y="4114800"/>
            <a:ext cx="1188720" cy="914400"/>
          </a:xfrm>
          <a:prstGeom prst="roundRect">
            <a:avLst>
              <a:gd name="adj" fmla="val 6000"/>
            </a:avLst>
          </a:prstGeom>
          <a:solidFill>
            <a:srgbClr val="2E8B7A"/>
          </a:solidFill>
          <a:ln/>
        </p:spPr>
      </p:sp>
      <p:sp>
        <p:nvSpPr>
          <p:cNvPr id="10" name="Text 8"/>
          <p:cNvSpPr/>
          <p:nvPr/>
        </p:nvSpPr>
        <p:spPr>
          <a:xfrm>
            <a:off x="201168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Pull request</a:t>
            </a:r>
            <a:endParaRPr lang="en-US" sz="1250" dirty="0"/>
          </a:p>
        </p:txBody>
      </p:sp>
      <p:sp>
        <p:nvSpPr>
          <p:cNvPr id="11" name="Text 9"/>
          <p:cNvSpPr/>
          <p:nvPr/>
        </p:nvSpPr>
        <p:spPr>
          <a:xfrm>
            <a:off x="201168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an edit</a:t>
            </a:r>
            <a:endParaRPr lang="en-US" sz="1150" dirty="0"/>
          </a:p>
        </p:txBody>
      </p:sp>
      <p:sp>
        <p:nvSpPr>
          <p:cNvPr id="12" name="Shape 10"/>
          <p:cNvSpPr/>
          <p:nvPr/>
        </p:nvSpPr>
        <p:spPr>
          <a:xfrm>
            <a:off x="3611880" y="3337560"/>
            <a:ext cx="1188720" cy="1691640"/>
          </a:xfrm>
          <a:prstGeom prst="roundRect">
            <a:avLst>
              <a:gd name="adj" fmla="val 4615"/>
            </a:avLst>
          </a:prstGeom>
          <a:solidFill>
            <a:srgbClr val="E39B2C"/>
          </a:solidFill>
          <a:ln/>
        </p:spPr>
      </p:sp>
      <p:sp>
        <p:nvSpPr>
          <p:cNvPr id="13" name="Text 11"/>
          <p:cNvSpPr/>
          <p:nvPr/>
        </p:nvSpPr>
        <p:spPr>
          <a:xfrm>
            <a:off x="347472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Deployed</a:t>
            </a:r>
            <a:endParaRPr lang="en-US" sz="1250" dirty="0"/>
          </a:p>
        </p:txBody>
      </p:sp>
      <p:sp>
        <p:nvSpPr>
          <p:cNvPr id="14" name="Text 12"/>
          <p:cNvSpPr/>
          <p:nvPr/>
        </p:nvSpPr>
        <p:spPr>
          <a:xfrm>
            <a:off x="347472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 migration</a:t>
            </a:r>
            <a:endParaRPr lang="en-US" sz="1150" dirty="0"/>
          </a:p>
        </p:txBody>
      </p:sp>
      <p:sp>
        <p:nvSpPr>
          <p:cNvPr id="15" name="Shape 13"/>
          <p:cNvSpPr/>
          <p:nvPr/>
        </p:nvSpPr>
        <p:spPr>
          <a:xfrm>
            <a:off x="5074920" y="2651760"/>
            <a:ext cx="1188720" cy="2377440"/>
          </a:xfrm>
          <a:prstGeom prst="roundRect">
            <a:avLst>
              <a:gd name="adj" fmla="val 4615"/>
            </a:avLst>
          </a:prstGeom>
          <a:solidFill>
            <a:srgbClr val="A6432F"/>
          </a:solidFill>
          <a:ln/>
        </p:spPr>
      </p:sp>
      <p:sp>
        <p:nvSpPr>
          <p:cNvPr id="16" name="Text 14"/>
          <p:cNvSpPr/>
          <p:nvPr/>
        </p:nvSpPr>
        <p:spPr>
          <a:xfrm>
            <a:off x="493776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Invoiced</a:t>
            </a:r>
            <a:endParaRPr lang="en-US" sz="1250" dirty="0"/>
          </a:p>
        </p:txBody>
      </p:sp>
      <p:sp>
        <p:nvSpPr>
          <p:cNvPr id="17" name="Text 15"/>
          <p:cNvSpPr/>
          <p:nvPr/>
        </p:nvSpPr>
        <p:spPr>
          <a:xfrm>
            <a:off x="493776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 negotiation</a:t>
            </a:r>
            <a:endParaRPr lang="en-US" sz="1150" dirty="0"/>
          </a:p>
        </p:txBody>
      </p:sp>
      <p:sp>
        <p:nvSpPr>
          <p:cNvPr id="18" name="Shape 16"/>
          <p:cNvSpPr/>
          <p:nvPr/>
        </p:nvSpPr>
        <p:spPr>
          <a:xfrm>
            <a:off x="548640" y="5029200"/>
            <a:ext cx="5989320" cy="36576"/>
          </a:xfrm>
          <a:prstGeom prst="roundRect">
            <a:avLst>
              <a:gd name="adj" fmla="val 50000"/>
            </a:avLst>
          </a:prstGeom>
          <a:solidFill>
            <a:srgbClr val="DFE4EA"/>
          </a:solidFill>
          <a:ln/>
        </p:spPr>
      </p:sp>
      <p:sp>
        <p:nvSpPr>
          <p:cNvPr id="19" name="Shape 17"/>
          <p:cNvSpPr/>
          <p:nvPr/>
        </p:nvSpPr>
        <p:spPr>
          <a:xfrm>
            <a:off x="6858000" y="2084832"/>
            <a:ext cx="4782312" cy="3602736"/>
          </a:xfrm>
          <a:prstGeom prst="roundRect">
            <a:avLst>
              <a:gd name="adj" fmla="val 2284"/>
            </a:avLst>
          </a:prstGeom>
          <a:solidFill>
            <a:srgbClr val="1F2936"/>
          </a:solidFill>
          <a:ln/>
          <a:effectLst>
            <a:outerShdw sx="100000" sy="100000" kx="0" ky="0" algn="bl" rotWithShape="0" blurRad="127000" dist="25400" dir="5400000">
              <a:srgbClr val="8C99A8">
                <a:alpha val="16000"/>
              </a:srgbClr>
            </a:outerShdw>
          </a:effectLst>
        </p:spPr>
      </p:sp>
      <p:sp>
        <p:nvSpPr>
          <p:cNvPr id="20" name="Text 18"/>
          <p:cNvSpPr/>
          <p:nvPr/>
        </p:nvSpPr>
        <p:spPr>
          <a:xfrm>
            <a:off x="7168896" y="2267712"/>
            <a:ext cx="41148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Where cost enters the workflow</a:t>
            </a:r>
            <a:endParaRPr lang="en-US" sz="1200" dirty="0"/>
          </a:p>
        </p:txBody>
      </p:sp>
      <p:sp>
        <p:nvSpPr>
          <p:cNvPr id="21" name="Shape 19"/>
          <p:cNvSpPr/>
          <p:nvPr/>
        </p:nvSpPr>
        <p:spPr>
          <a:xfrm>
            <a:off x="7168896" y="2743200"/>
            <a:ext cx="420624" cy="420624"/>
          </a:xfrm>
          <a:prstGeom prst="ellipse">
            <a:avLst/>
          </a:prstGeom>
          <a:solidFill>
            <a:srgbClr val="2E3A48"/>
          </a:solidFill>
          <a:ln/>
        </p:spPr>
      </p:sp>
      <p:pic>
        <p:nvPicPr>
          <p:cNvPr id="22" name="Image 0" descr="preencoded.png">    </p:cNvPr>
          <p:cNvPicPr>
            <a:picLocks noChangeAspect="1"/>
          </p:cNvPicPr>
          <p:nvPr/>
        </p:nvPicPr>
        <p:blipFill>
          <a:blip r:embed="rId1"/>
          <a:stretch>
            <a:fillRect/>
          </a:stretch>
        </p:blipFill>
        <p:spPr>
          <a:xfrm>
            <a:off x="7274052" y="2848356"/>
            <a:ext cx="210312" cy="210312"/>
          </a:xfrm>
          <a:prstGeom prst="rect">
            <a:avLst/>
          </a:prstGeom>
        </p:spPr>
      </p:pic>
      <p:sp>
        <p:nvSpPr>
          <p:cNvPr id="23" name="Text 20"/>
          <p:cNvSpPr/>
          <p:nvPr/>
        </p:nvSpPr>
        <p:spPr>
          <a:xfrm>
            <a:off x="7735824" y="2670048"/>
            <a:ext cx="3602736" cy="914400"/>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Architecture review</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Price two or three options before choosing one. Multi-AZ or single, this SKU or that.</a:t>
            </a:r>
            <a:endParaRPr lang="en-US" sz="1350" dirty="0"/>
          </a:p>
        </p:txBody>
      </p:sp>
      <p:sp>
        <p:nvSpPr>
          <p:cNvPr id="24" name="Shape 21"/>
          <p:cNvSpPr/>
          <p:nvPr/>
        </p:nvSpPr>
        <p:spPr>
          <a:xfrm>
            <a:off x="7168896" y="3730752"/>
            <a:ext cx="420624" cy="420624"/>
          </a:xfrm>
          <a:prstGeom prst="ellipse">
            <a:avLst/>
          </a:prstGeom>
          <a:solidFill>
            <a:srgbClr val="2E3A48"/>
          </a:solidFill>
          <a:ln/>
        </p:spPr>
      </p:sp>
      <p:pic>
        <p:nvPicPr>
          <p:cNvPr id="25" name="Image 1" descr="preencoded.png">    </p:cNvPr>
          <p:cNvPicPr>
            <a:picLocks noChangeAspect="1"/>
          </p:cNvPicPr>
          <p:nvPr/>
        </p:nvPicPr>
        <p:blipFill>
          <a:blip r:embed="rId2"/>
          <a:stretch>
            <a:fillRect/>
          </a:stretch>
        </p:blipFill>
        <p:spPr>
          <a:xfrm>
            <a:off x="7274052" y="3835908"/>
            <a:ext cx="210312" cy="210312"/>
          </a:xfrm>
          <a:prstGeom prst="rect">
            <a:avLst/>
          </a:prstGeom>
        </p:spPr>
      </p:pic>
      <p:sp>
        <p:nvSpPr>
          <p:cNvPr id="26" name="Text 22"/>
          <p:cNvSpPr/>
          <p:nvPr/>
        </p:nvSpPr>
        <p:spPr>
          <a:xfrm>
            <a:off x="7735824" y="3657600"/>
            <a:ext cx="3602736" cy="914400"/>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Cost diff on the pull request</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Every infrastructure change shows its monthly delta, so cost is part of code review.</a:t>
            </a:r>
            <a:endParaRPr lang="en-US" sz="1350" dirty="0"/>
          </a:p>
        </p:txBody>
      </p:sp>
      <p:sp>
        <p:nvSpPr>
          <p:cNvPr id="27" name="Shape 23"/>
          <p:cNvSpPr/>
          <p:nvPr/>
        </p:nvSpPr>
        <p:spPr>
          <a:xfrm>
            <a:off x="7168896" y="4718304"/>
            <a:ext cx="420624" cy="420624"/>
          </a:xfrm>
          <a:prstGeom prst="ellipse">
            <a:avLst/>
          </a:prstGeom>
          <a:solidFill>
            <a:srgbClr val="2E3A48"/>
          </a:solidFill>
          <a:ln/>
        </p:spPr>
      </p:sp>
      <p:pic>
        <p:nvPicPr>
          <p:cNvPr id="28" name="Image 2" descr="preencoded.png">    </p:cNvPr>
          <p:cNvPicPr>
            <a:picLocks noChangeAspect="1"/>
          </p:cNvPicPr>
          <p:nvPr/>
        </p:nvPicPr>
        <p:blipFill>
          <a:blip r:embed="rId3"/>
          <a:stretch>
            <a:fillRect/>
          </a:stretch>
        </p:blipFill>
        <p:spPr>
          <a:xfrm>
            <a:off x="7274052" y="4823460"/>
            <a:ext cx="210312" cy="210312"/>
          </a:xfrm>
          <a:prstGeom prst="rect">
            <a:avLst/>
          </a:prstGeom>
        </p:spPr>
      </p:pic>
      <p:sp>
        <p:nvSpPr>
          <p:cNvPr id="29" name="Text 24"/>
          <p:cNvSpPr/>
          <p:nvPr/>
        </p:nvSpPr>
        <p:spPr>
          <a:xfrm>
            <a:off x="7735824" y="4645152"/>
            <a:ext cx="3602736" cy="914400"/>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Policy as code</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Tagging and budget rules enforced in the pipeline — the expensive change never merges.</a:t>
            </a:r>
            <a:endParaRPr lang="en-US" sz="1350" dirty="0"/>
          </a:p>
        </p:txBody>
      </p:sp>
      <p:sp>
        <p:nvSpPr>
          <p:cNvPr id="30" name="Shape 25"/>
          <p:cNvSpPr/>
          <p:nvPr/>
        </p:nvSpPr>
        <p:spPr>
          <a:xfrm>
            <a:off x="548640" y="5742432"/>
            <a:ext cx="11091672" cy="841248"/>
          </a:xfrm>
          <a:prstGeom prst="roundRect">
            <a:avLst>
              <a:gd name="adj" fmla="val 9783"/>
            </a:avLst>
          </a:prstGeom>
          <a:solidFill>
            <a:srgbClr val="FBEFD8"/>
          </a:solidFill>
          <a:ln/>
        </p:spPr>
      </p:sp>
      <p:sp>
        <p:nvSpPr>
          <p:cNvPr id="31" name="Text 26"/>
          <p:cNvSpPr/>
          <p:nvPr/>
        </p:nvSpPr>
        <p:spPr>
          <a:xfrm>
            <a:off x="877824" y="5742432"/>
            <a:ext cx="10424160" cy="841248"/>
          </a:xfrm>
          <a:prstGeom prst="rect">
            <a:avLst/>
          </a:prstGeom>
          <a:noFill/>
          <a:ln/>
        </p:spPr>
        <p:txBody>
          <a:bodyPr wrap="square" lIns="0" tIns="0" rIns="0" bIns="0" rtlCol="0" anchor="ctr"/>
          <a:lstStyle/>
          <a:p>
            <a:pPr indent="0" marL="0">
              <a:lnSpc>
                <a:spcPts val="1800"/>
              </a:lnSpc>
              <a:buNone/>
            </a:pPr>
            <a:r>
              <a:rPr lang="en-US" sz="1300" b="1" dirty="0">
                <a:solidFill>
                  <a:srgbClr val="6B4A0E"/>
                </a:solidFill>
                <a:latin typeface="Calibri" pitchFamily="34" charset="0"/>
                <a:ea typeface="Calibri" pitchFamily="34" charset="-122"/>
                <a:cs typeface="Calibri" pitchFamily="34" charset="-120"/>
              </a:rPr>
              <a:t>Pre-deployment architecture costing is the most requested capability in the State of FinOps 2026 — </a:t>
            </a:r>
            <a:pPr indent="0" marL="0">
              <a:lnSpc>
                <a:spcPts val="1800"/>
              </a:lnSpc>
              <a:buNone/>
            </a:pPr>
            <a:r>
              <a:rPr lang="en-US" sz="1300" dirty="0">
                <a:solidFill>
                  <a:srgbClr val="6B4A0E"/>
                </a:solidFill>
                <a:latin typeface="Calibri" pitchFamily="34" charset="0"/>
                <a:ea typeface="Calibri" pitchFamily="34" charset="-122"/>
                <a:cs typeface="Calibri" pitchFamily="34" charset="-120"/>
              </a:rPr>
              <a:t>and the practices that get it working describe FinOps as partnering with engineers, not policing them. Give teams the cost of a choice at the moment they make it; nobody has to become a pricing expert.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2026-08-04T16:32:25Z</dcterms:created>
  <dcterms:modified xsi:type="dcterms:W3CDTF">2026-08-04T16:32:25Z</dcterms:modified>
</cp:coreProperties>
</file>