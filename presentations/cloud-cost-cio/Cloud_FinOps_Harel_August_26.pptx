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notesSlides/notesSlide3.xml" ContentType="application/vnd.openxmlformats-officedocument.presentationml.notesSlid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9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22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23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24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25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6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7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8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32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33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34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35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36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3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8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9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40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41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42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43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notesSlides/notesSlide4.xml" ContentType="application/vnd.openxmlformats-officedocument.presentationml.notesSlide+xml"/>
  <Override PartName="/ppt/charts/chart4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60" r:id="rId2"/>
  </p:sldMasterIdLst>
  <p:notesMasterIdLst>
    <p:notesMasterId r:id="rId46"/>
  </p:notesMasterIdLst>
  <p:sldIdLst>
    <p:sldId id="384" r:id="rId3"/>
    <p:sldId id="340" r:id="rId4"/>
    <p:sldId id="576" r:id="rId5"/>
    <p:sldId id="538" r:id="rId6"/>
    <p:sldId id="523" r:id="rId7"/>
    <p:sldId id="559" r:id="rId8"/>
    <p:sldId id="524" r:id="rId9"/>
    <p:sldId id="582" r:id="rId10"/>
    <p:sldId id="520" r:id="rId11"/>
    <p:sldId id="339" r:id="rId12"/>
    <p:sldId id="521" r:id="rId13"/>
    <p:sldId id="530" r:id="rId14"/>
    <p:sldId id="549" r:id="rId15"/>
    <p:sldId id="542" r:id="rId16"/>
    <p:sldId id="531" r:id="rId17"/>
    <p:sldId id="529" r:id="rId18"/>
    <p:sldId id="540" r:id="rId19"/>
    <p:sldId id="534" r:id="rId20"/>
    <p:sldId id="564" r:id="rId21"/>
    <p:sldId id="571" r:id="rId22"/>
    <p:sldId id="514" r:id="rId23"/>
    <p:sldId id="552" r:id="rId24"/>
    <p:sldId id="584" r:id="rId25"/>
    <p:sldId id="574" r:id="rId26"/>
    <p:sldId id="581" r:id="rId27"/>
    <p:sldId id="565" r:id="rId28"/>
    <p:sldId id="568" r:id="rId29"/>
    <p:sldId id="566" r:id="rId30"/>
    <p:sldId id="583" r:id="rId31"/>
    <p:sldId id="567" r:id="rId32"/>
    <p:sldId id="572" r:id="rId33"/>
    <p:sldId id="570" r:id="rId34"/>
    <p:sldId id="575" r:id="rId35"/>
    <p:sldId id="569" r:id="rId36"/>
    <p:sldId id="587" r:id="rId37"/>
    <p:sldId id="256" r:id="rId38"/>
    <p:sldId id="577" r:id="rId39"/>
    <p:sldId id="579" r:id="rId40"/>
    <p:sldId id="578" r:id="rId41"/>
    <p:sldId id="550" r:id="rId42"/>
    <p:sldId id="586" r:id="rId43"/>
    <p:sldId id="585" r:id="rId44"/>
    <p:sldId id="484" r:id="rId45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av Geffen" initials="LG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487E"/>
    <a:srgbClr val="008000"/>
    <a:srgbClr val="B8EAB7"/>
    <a:srgbClr val="FF9304"/>
    <a:srgbClr val="4F81BD"/>
    <a:srgbClr val="0A3470"/>
    <a:srgbClr val="000717"/>
    <a:srgbClr val="FFFFFF"/>
    <a:srgbClr val="3A9DB8"/>
    <a:srgbClr val="00BC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146" autoAdjust="0"/>
    <p:restoredTop sz="96247" autoAdjust="0"/>
  </p:normalViewPr>
  <p:slideViewPr>
    <p:cSldViewPr>
      <p:cViewPr varScale="1">
        <p:scale>
          <a:sx n="104" d="100"/>
          <a:sy n="104" d="100"/>
        </p:scale>
        <p:origin x="1584" y="34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&#65279;<?xml version="1.0" encoding="utf-8" standalone="yes"?>
<Relationships xmlns="http://schemas.openxmlformats.org/package/2006/relationships"><Relationship Id="rId13" Type="http://schemas.openxmlformats.org/officeDocument/2006/relationships/slide" Target="slides/slide11.xml" /><Relationship Id="rId18" Type="http://schemas.openxmlformats.org/officeDocument/2006/relationships/slide" Target="slides/slide16.xml" /><Relationship Id="rId26" Type="http://schemas.openxmlformats.org/officeDocument/2006/relationships/slide" Target="slides/slide24.xml" /><Relationship Id="rId39" Type="http://schemas.openxmlformats.org/officeDocument/2006/relationships/slide" Target="slides/slide37.xml" /><Relationship Id="rId21" Type="http://schemas.openxmlformats.org/officeDocument/2006/relationships/slide" Target="slides/slide19.xml" /><Relationship Id="rId34" Type="http://schemas.openxmlformats.org/officeDocument/2006/relationships/slide" Target="slides/slide32.xml" /><Relationship Id="rId42" Type="http://schemas.openxmlformats.org/officeDocument/2006/relationships/slide" Target="slides/slide40.xml" /><Relationship Id="rId47" Type="http://schemas.openxmlformats.org/officeDocument/2006/relationships/commentAuthors" Target="commentAuthors.xml" /><Relationship Id="rId50" Type="http://schemas.openxmlformats.org/officeDocument/2006/relationships/theme" Target="theme/theme1.xml" /><Relationship Id="rId7" Type="http://schemas.openxmlformats.org/officeDocument/2006/relationships/slide" Target="slides/slide5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4.xml" /><Relationship Id="rId29" Type="http://schemas.openxmlformats.org/officeDocument/2006/relationships/slide" Target="slides/slide27.xml" /><Relationship Id="rId11" Type="http://schemas.openxmlformats.org/officeDocument/2006/relationships/slide" Target="slides/slide9.xml" /><Relationship Id="rId24" Type="http://schemas.openxmlformats.org/officeDocument/2006/relationships/slide" Target="slides/slide22.xml" /><Relationship Id="rId32" Type="http://schemas.openxmlformats.org/officeDocument/2006/relationships/slide" Target="slides/slide30.xml" /><Relationship Id="rId37" Type="http://schemas.openxmlformats.org/officeDocument/2006/relationships/slide" Target="slides/slide35.xml" /><Relationship Id="rId40" Type="http://schemas.openxmlformats.org/officeDocument/2006/relationships/slide" Target="slides/slide38.xml" /><Relationship Id="rId45" Type="http://schemas.openxmlformats.org/officeDocument/2006/relationships/slide" Target="slides/slide43.xml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23" Type="http://schemas.openxmlformats.org/officeDocument/2006/relationships/slide" Target="slides/slide21.xml" /><Relationship Id="rId28" Type="http://schemas.openxmlformats.org/officeDocument/2006/relationships/slide" Target="slides/slide26.xml" /><Relationship Id="rId36" Type="http://schemas.openxmlformats.org/officeDocument/2006/relationships/slide" Target="slides/slide34.xml" /><Relationship Id="rId49" Type="http://schemas.openxmlformats.org/officeDocument/2006/relationships/viewProps" Target="viewProps.xml" /><Relationship Id="rId10" Type="http://schemas.openxmlformats.org/officeDocument/2006/relationships/slide" Target="slides/slide8.xml" /><Relationship Id="rId19" Type="http://schemas.openxmlformats.org/officeDocument/2006/relationships/slide" Target="slides/slide17.xml" /><Relationship Id="rId31" Type="http://schemas.openxmlformats.org/officeDocument/2006/relationships/slide" Target="slides/slide29.xml" /><Relationship Id="rId44" Type="http://schemas.openxmlformats.org/officeDocument/2006/relationships/slide" Target="slides/slide42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2" Type="http://schemas.openxmlformats.org/officeDocument/2006/relationships/slide" Target="slides/slide20.xml" /><Relationship Id="rId27" Type="http://schemas.openxmlformats.org/officeDocument/2006/relationships/slide" Target="slides/slide25.xml" /><Relationship Id="rId30" Type="http://schemas.openxmlformats.org/officeDocument/2006/relationships/slide" Target="slides/slide28.xml" /><Relationship Id="rId35" Type="http://schemas.openxmlformats.org/officeDocument/2006/relationships/slide" Target="slides/slide33.xml" /><Relationship Id="rId43" Type="http://schemas.openxmlformats.org/officeDocument/2006/relationships/slide" Target="slides/slide41.xml" /><Relationship Id="rId48" Type="http://schemas.openxmlformats.org/officeDocument/2006/relationships/presProps" Target="presProps.xml" /><Relationship Id="rId8" Type="http://schemas.openxmlformats.org/officeDocument/2006/relationships/slide" Target="slides/slide6.xml" /><Relationship Id="rId51" Type="http://schemas.openxmlformats.org/officeDocument/2006/relationships/tableStyles" Target="tableStyles.xml" /><Relationship Id="rId3" Type="http://schemas.openxmlformats.org/officeDocument/2006/relationships/slide" Target="slides/slide1.xml" /><Relationship Id="rId12" Type="http://schemas.openxmlformats.org/officeDocument/2006/relationships/slide" Target="slides/slide10.xml" /><Relationship Id="rId17" Type="http://schemas.openxmlformats.org/officeDocument/2006/relationships/slide" Target="slides/slide15.xml" /><Relationship Id="rId25" Type="http://schemas.openxmlformats.org/officeDocument/2006/relationships/slide" Target="slides/slide23.xml" /><Relationship Id="rId33" Type="http://schemas.openxmlformats.org/officeDocument/2006/relationships/slide" Target="slides/slide31.xml" /><Relationship Id="rId38" Type="http://schemas.openxmlformats.org/officeDocument/2006/relationships/slide" Target="slides/slide36.xml" /><Relationship Id="rId46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41" Type="http://schemas.openxmlformats.org/officeDocument/2006/relationships/slide" Target="slides/slide3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/Relationships>
</file>

<file path=ppt/charts/_rels/chart1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1.xml" /><Relationship Id="rId1" Type="http://schemas.microsoft.com/office/2011/relationships/chartStyle" Target="style1.xml" /></Relationships>
</file>

<file path=ppt/charts/_rels/chart2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2.xml" /><Relationship Id="rId1" Type="http://schemas.microsoft.com/office/2011/relationships/chartStyle" Target="style2.xml" /></Relationships>
</file>

<file path=ppt/charts/_rels/chart3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3.xml" /><Relationship Id="rId1" Type="http://schemas.microsoft.com/office/2011/relationships/chartStyle" Target="style3.xml" /></Relationships>
</file>

<file path=ppt/charts/_rels/chart4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4.xml" /><Relationship Id="rId1" Type="http://schemas.microsoft.com/office/2011/relationships/chartStyle" Target="style4.xml" /></Relationships>
</file>

<file path=ppt/charts/_rels/chart5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5.xml" /><Relationship Id="rId1" Type="http://schemas.microsoft.com/office/2011/relationships/chartStyle" Target="style5.xml" /></Relationships>
</file>

<file path=ppt/charts/_rels/chart6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6.xml" /><Relationship Id="rId1" Type="http://schemas.microsoft.com/office/2011/relationships/chartStyle" Target="style6.xml" /></Relationships>
</file>

<file path=ppt/charts/_rels/chart7.xml.rels>&#65279;<?xml version="1.0" encoding="utf-8" standalone="yes"?>
<Relationships xmlns="http://schemas.openxmlformats.org/package/2006/relationships"><Relationship Id="rId1" Type="http://schemas.openxmlformats.org/officeDocument/2006/relationships/oleObject" Target="#" TargetMode="External" /></Relationships>
</file>

<file path=ppt/charts/_rels/chart8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7.xml" /><Relationship Id="rId1" Type="http://schemas.microsoft.com/office/2011/relationships/chartStyle" Target="style7.xml" /></Relationships>
</file>

<file path=ppt/charts/_rels/chart9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8.xml" /><Relationship Id="rId1" Type="http://schemas.microsoft.com/office/2011/relationships/chartStyle" Target="style8.xml" /></Relationships>
</file>

<file path=ppt/charts/_rels/chart10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9.xml" /><Relationship Id="rId1" Type="http://schemas.microsoft.com/office/2011/relationships/chartStyle" Target="style9.xml" /></Relationships>
</file>

<file path=ppt/charts/_rels/chart11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10.xml" /><Relationship Id="rId1" Type="http://schemas.microsoft.com/office/2011/relationships/chartStyle" Target="style10.xml" /></Relationships>
</file>

<file path=ppt/charts/_rels/chart12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11.xml" /><Relationship Id="rId1" Type="http://schemas.microsoft.com/office/2011/relationships/chartStyle" Target="style11.xml" /></Relationships>
</file>

<file path=ppt/charts/_rels/chart13.xml.rels>&#65279;<?xml version="1.0" encoding="utf-8" standalone="yes"?>
<Relationships xmlns="http://schemas.openxmlformats.org/package/2006/relationships"><Relationship Id="rId1" Type="http://schemas.openxmlformats.org/officeDocument/2006/relationships/oleObject" Target="#" TargetMode="External" /></Relationships>
</file>

<file path=ppt/charts/_rels/chart14.xml.rels>&#65279;<?xml version="1.0" encoding="utf-8" standalone="yes"?>
<Relationships xmlns="http://schemas.openxmlformats.org/package/2006/relationships"><Relationship Id="rId1" Type="http://schemas.openxmlformats.org/officeDocument/2006/relationships/oleObject" Target="#" TargetMode="External" /></Relationships>
</file>

<file path=ppt/charts/_rels/chart15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12.xml" /><Relationship Id="rId1" Type="http://schemas.microsoft.com/office/2011/relationships/chartStyle" Target="style12.xml" /></Relationships>
</file>

<file path=ppt/charts/_rels/chart16.xml.rels>&#65279;<?xml version="1.0" encoding="utf-8" standalone="yes"?>
<Relationships xmlns="http://schemas.openxmlformats.org/package/2006/relationships"><Relationship Id="rId1" Type="http://schemas.openxmlformats.org/officeDocument/2006/relationships/oleObject" Target="#" TargetMode="External" /></Relationships>
</file>

<file path=ppt/charts/_rels/chart17.xml.rels>&#65279;<?xml version="1.0" encoding="utf-8" standalone="yes"?>
<Relationships xmlns="http://schemas.openxmlformats.org/package/2006/relationships"><Relationship Id="rId1" Type="http://schemas.openxmlformats.org/officeDocument/2006/relationships/oleObject" Target="#" TargetMode="External" /></Relationships>
</file>

<file path=ppt/charts/_rels/chart18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13.xml" /><Relationship Id="rId1" Type="http://schemas.microsoft.com/office/2011/relationships/chartStyle" Target="style13.xml" /></Relationships>
</file>

<file path=ppt/charts/_rels/chart19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14.xml" /><Relationship Id="rId1" Type="http://schemas.microsoft.com/office/2011/relationships/chartStyle" Target="style14.xml" /></Relationships>
</file>

<file path=ppt/charts/_rels/chart20.xml.rels>&#65279;<?xml version="1.0" encoding="utf-8" standalone="yes"?>
<Relationships xmlns="http://schemas.openxmlformats.org/package/2006/relationships"><Relationship Id="rId1" Type="http://schemas.openxmlformats.org/officeDocument/2006/relationships/oleObject" Target="#" TargetMode="External" /></Relationships>
</file>

<file path=ppt/charts/_rels/chart21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15.xml" /><Relationship Id="rId1" Type="http://schemas.microsoft.com/office/2011/relationships/chartStyle" Target="style15.xml" /></Relationships>
</file>

<file path=ppt/charts/_rels/chart22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16.xml" /><Relationship Id="rId1" Type="http://schemas.microsoft.com/office/2011/relationships/chartStyle" Target="style16.xml" /></Relationships>
</file>

<file path=ppt/charts/_rels/chart23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17.xml" /><Relationship Id="rId1" Type="http://schemas.microsoft.com/office/2011/relationships/chartStyle" Target="style17.xml" /></Relationships>
</file>

<file path=ppt/charts/_rels/chart24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18.xml" /><Relationship Id="rId1" Type="http://schemas.microsoft.com/office/2011/relationships/chartStyle" Target="style18.xml" /></Relationships>
</file>

<file path=ppt/charts/_rels/chart25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19.xml" /><Relationship Id="rId1" Type="http://schemas.microsoft.com/office/2011/relationships/chartStyle" Target="style19.xml" /></Relationships>
</file>

<file path=ppt/charts/_rels/chart26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20.xml" /><Relationship Id="rId1" Type="http://schemas.microsoft.com/office/2011/relationships/chartStyle" Target="style20.xml" /></Relationships>
</file>

<file path=ppt/charts/_rels/chart27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21.xml" /><Relationship Id="rId1" Type="http://schemas.microsoft.com/office/2011/relationships/chartStyle" Target="style21.xml" /></Relationships>
</file>

<file path=ppt/charts/_rels/chart28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22.xml" /><Relationship Id="rId1" Type="http://schemas.microsoft.com/office/2011/relationships/chartStyle" Target="style22.xml" /></Relationships>
</file>

<file path=ppt/charts/_rels/chart29.xml.rels>&#65279;<?xml version="1.0" encoding="utf-8" standalone="yes"?>
<Relationships xmlns="http://schemas.openxmlformats.org/package/2006/relationships"><Relationship Id="rId1" Type="http://schemas.openxmlformats.org/officeDocument/2006/relationships/oleObject" Target="#" TargetMode="External" /></Relationships>
</file>

<file path=ppt/charts/_rels/chart30.xml.rels>&#65279;<?xml version="1.0" encoding="utf-8" standalone="yes"?>
<Relationships xmlns="http://schemas.openxmlformats.org/package/2006/relationships"><Relationship Id="rId1" Type="http://schemas.openxmlformats.org/officeDocument/2006/relationships/oleObject" Target="#" TargetMode="External" /></Relationships>
</file>

<file path=ppt/charts/_rels/chart31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23.xml" /><Relationship Id="rId1" Type="http://schemas.microsoft.com/office/2011/relationships/chartStyle" Target="style23.xml" /></Relationships>
</file>

<file path=ppt/charts/_rels/chart32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24.xml" /><Relationship Id="rId1" Type="http://schemas.microsoft.com/office/2011/relationships/chartStyle" Target="style24.xml" /></Relationships>
</file>

<file path=ppt/charts/_rels/chart33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25.xml" /><Relationship Id="rId1" Type="http://schemas.microsoft.com/office/2011/relationships/chartStyle" Target="style25.xml" /></Relationships>
</file>

<file path=ppt/charts/_rels/chart34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26.xml" /><Relationship Id="rId1" Type="http://schemas.microsoft.com/office/2011/relationships/chartStyle" Target="style26.xml" /></Relationships>
</file>

<file path=ppt/charts/_rels/chart35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27.xml" /><Relationship Id="rId1" Type="http://schemas.microsoft.com/office/2011/relationships/chartStyle" Target="style27.xml" /></Relationships>
</file>

<file path=ppt/charts/_rels/chart36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28.xml" /><Relationship Id="rId1" Type="http://schemas.microsoft.com/office/2011/relationships/chartStyle" Target="style28.xml" /></Relationships>
</file>

<file path=ppt/charts/_rels/chart37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29.xml" /><Relationship Id="rId1" Type="http://schemas.microsoft.com/office/2011/relationships/chartStyle" Target="style29.xml" /></Relationships>
</file>

<file path=ppt/charts/_rels/chart38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30.xml" /><Relationship Id="rId1" Type="http://schemas.microsoft.com/office/2011/relationships/chartStyle" Target="style30.xml" /></Relationships>
</file>

<file path=ppt/charts/_rels/chart39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31.xml" /><Relationship Id="rId1" Type="http://schemas.microsoft.com/office/2011/relationships/chartStyle" Target="style31.xml" /></Relationships>
</file>

<file path=ppt/charts/_rels/chart40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32.xml" /><Relationship Id="rId1" Type="http://schemas.microsoft.com/office/2011/relationships/chartStyle" Target="style32.xml" /></Relationships>
</file>

<file path=ppt/charts/_rels/chart41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33.xml" /><Relationship Id="rId1" Type="http://schemas.microsoft.com/office/2011/relationships/chartStyle" Target="style33.xml" /></Relationships>
</file>

<file path=ppt/charts/_rels/chart42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34.xml" /><Relationship Id="rId1" Type="http://schemas.microsoft.com/office/2011/relationships/chartStyle" Target="style34.xml" /></Relationships>
</file>

<file path=ppt/charts/_rels/chart43.xml.rels>&#65279;<?xml version="1.0" encoding="utf-8" standalone="yes"?>
<Relationships xmlns="http://schemas.openxmlformats.org/package/2006/relationships"><Relationship Id="rId3" Type="http://schemas.openxmlformats.org/officeDocument/2006/relationships/oleObject" Target="#" TargetMode="External" /><Relationship Id="rId2" Type="http://schemas.microsoft.com/office/2011/relationships/chartColorStyle" Target="colors35.xml" /><Relationship Id="rId1" Type="http://schemas.microsoft.com/office/2011/relationships/chartStyle" Target="style35.xml" 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774690042739258E-2"/>
          <c:y val="9.2570036540803896E-2"/>
          <c:w val="0.90567508312986689"/>
          <c:h val="0.6887924271341843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'AWS BY ACCOUNT'!$A$2</c:f>
              <c:strCache>
                <c:ptCount val="1"/>
                <c:pt idx="0">
                  <c:v>aws-prod-Digital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ACCOUNT'!$B$2:$I$2</c:f>
              <c:numCache>
                <c:formatCode>_-[$$-409]* #,##0_ ;_-[$$-409]* \-#,##0\ ;_-[$$-409]* "-"??_ ;_-@_ </c:formatCode>
                <c:ptCount val="8"/>
                <c:pt idx="0">
                  <c:v>22332.658537601201</c:v>
                </c:pt>
                <c:pt idx="1">
                  <c:v>21140.4748622439</c:v>
                </c:pt>
                <c:pt idx="2">
                  <c:v>21628.912989508</c:v>
                </c:pt>
                <c:pt idx="3">
                  <c:v>21144.8061310511</c:v>
                </c:pt>
                <c:pt idx="4">
                  <c:v>21545.735859775399</c:v>
                </c:pt>
                <c:pt idx="5">
                  <c:v>21516.363067681901</c:v>
                </c:pt>
                <c:pt idx="6">
                  <c:v>22251.4980068923</c:v>
                </c:pt>
                <c:pt idx="7">
                  <c:v>25323.846318903299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04-4E80-B978-35F6DE47ED25}"/>
            </c:ext>
          </c:extLst>
        </c:ser>
        <c:ser>
          <c:idx val="1"/>
          <c:order val="1"/>
          <c:tx>
            <c:strRef>
              <c:f>'AWS BY ACCOUNT'!$A$3</c:f>
              <c:strCache>
                <c:ptCount val="1"/>
                <c:pt idx="0">
                  <c:v>aws-devTest-digital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ACCOUNT'!$B$3:$I$3</c:f>
              <c:numCache>
                <c:formatCode>_-[$$-409]* #,##0_ ;_-[$$-409]* \-#,##0\ ;_-[$$-409]* "-"??_ ;_-@_ </c:formatCode>
                <c:ptCount val="8"/>
                <c:pt idx="0">
                  <c:v>9774.6946999315896</c:v>
                </c:pt>
                <c:pt idx="1">
                  <c:v>9293.5032619346894</c:v>
                </c:pt>
                <c:pt idx="2">
                  <c:v>13019.5172572908</c:v>
                </c:pt>
                <c:pt idx="3">
                  <c:v>12889.0801229482</c:v>
                </c:pt>
                <c:pt idx="4">
                  <c:v>14478.529705057501</c:v>
                </c:pt>
                <c:pt idx="5">
                  <c:v>13223.9602296011</c:v>
                </c:pt>
                <c:pt idx="6">
                  <c:v>13679.0437667396</c:v>
                </c:pt>
                <c:pt idx="7">
                  <c:v>13603.8685938579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04-4E80-B978-35F6DE47ED25}"/>
            </c:ext>
          </c:extLst>
        </c:ser>
        <c:ser>
          <c:idx val="2"/>
          <c:order val="2"/>
          <c:tx>
            <c:strRef>
              <c:f>'AWS BY ACCOUNT'!$A$4</c:f>
              <c:strCache>
                <c:ptCount val="1"/>
                <c:pt idx="0">
                  <c:v>aws-preProd-digital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ACCOUNT'!$B$4:$I$4</c:f>
              <c:numCache>
                <c:formatCode>_-[$$-409]* #,##0_ ;_-[$$-409]* \-#,##0\ ;_-[$$-409]* "-"??_ ;_-@_ </c:formatCode>
                <c:ptCount val="8"/>
                <c:pt idx="0">
                  <c:v>10763.4745815101</c:v>
                </c:pt>
                <c:pt idx="1">
                  <c:v>9195.0926108915992</c:v>
                </c:pt>
                <c:pt idx="2">
                  <c:v>10753.1086975699</c:v>
                </c:pt>
                <c:pt idx="3">
                  <c:v>10593.4087605901</c:v>
                </c:pt>
                <c:pt idx="4">
                  <c:v>11424.849311051899</c:v>
                </c:pt>
                <c:pt idx="5">
                  <c:v>10158.602073542301</c:v>
                </c:pt>
                <c:pt idx="6">
                  <c:v>10824.223017861799</c:v>
                </c:pt>
                <c:pt idx="7">
                  <c:v>10943.2666838772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04-4E80-B978-35F6DE47ED25}"/>
            </c:ext>
          </c:extLst>
        </c:ser>
        <c:ser>
          <c:idx val="3"/>
          <c:order val="3"/>
          <c:tx>
            <c:strRef>
              <c:f>'AWS BY ACCOUNT'!$A$5</c:f>
              <c:strCache>
                <c:ptCount val="1"/>
                <c:pt idx="0">
                  <c:v>aws-foundation-security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ACCOUNT'!$B$5:$I$5</c:f>
              <c:numCache>
                <c:formatCode>_-[$$-409]* #,##0_ ;_-[$$-409]* \-#,##0\ ;_-[$$-409]* "-"??_ ;_-@_ </c:formatCode>
                <c:ptCount val="8"/>
                <c:pt idx="0">
                  <c:v>8241.0110146297993</c:v>
                </c:pt>
                <c:pt idx="1">
                  <c:v>7426.2163337768898</c:v>
                </c:pt>
                <c:pt idx="2">
                  <c:v>8018.5207157990999</c:v>
                </c:pt>
                <c:pt idx="3">
                  <c:v>7844.9921927719897</c:v>
                </c:pt>
                <c:pt idx="4">
                  <c:v>8595.8028725262993</c:v>
                </c:pt>
                <c:pt idx="5">
                  <c:v>8586.6400320729099</c:v>
                </c:pt>
                <c:pt idx="6">
                  <c:v>8752.3594350641106</c:v>
                </c:pt>
                <c:pt idx="7">
                  <c:v>8937.8506097030895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204-4E80-B978-35F6DE47ED25}"/>
            </c:ext>
          </c:extLst>
        </c:ser>
        <c:ser>
          <c:idx val="4"/>
          <c:order val="4"/>
          <c:tx>
            <c:strRef>
              <c:f>'AWS BY ACCOUNT'!$A$6</c:f>
              <c:strCache>
                <c:ptCount val="1"/>
                <c:pt idx="0">
                  <c:v>cloudops-network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ACCOUNT'!$B$6:$I$6</c:f>
              <c:numCache>
                <c:formatCode>_-[$$-409]* #,##0_ ;_-[$$-409]* \-#,##0\ ;_-[$$-409]* "-"??_ ;_-@_ </c:formatCode>
                <c:ptCount val="8"/>
                <c:pt idx="0">
                  <c:v>6243.5478403336001</c:v>
                </c:pt>
                <c:pt idx="1">
                  <c:v>5752.80605730569</c:v>
                </c:pt>
                <c:pt idx="2">
                  <c:v>7021.8415850509</c:v>
                </c:pt>
                <c:pt idx="3">
                  <c:v>6897.9100098567897</c:v>
                </c:pt>
                <c:pt idx="4">
                  <c:v>7152.2742916938996</c:v>
                </c:pt>
                <c:pt idx="5">
                  <c:v>7100.3708039073999</c:v>
                </c:pt>
                <c:pt idx="6">
                  <c:v>7373.1292328823001</c:v>
                </c:pt>
                <c:pt idx="7">
                  <c:v>7424.0813209955004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204-4E80-B978-35F6DE47ED25}"/>
            </c:ext>
          </c:extLst>
        </c:ser>
        <c:ser>
          <c:idx val="5"/>
          <c:order val="5"/>
          <c:tx>
            <c:strRef>
              <c:f>'AWS BY ACCOUNT'!$A$7</c:f>
              <c:strCache>
                <c:ptCount val="1"/>
                <c:pt idx="0">
                  <c:v>customers3-prod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ACCOUNT'!$B$7:$I$7</c:f>
              <c:numCache>
                <c:formatCode>_-[$$-409]* #,##0_ ;_-[$$-409]* \-#,##0\ ;_-[$$-409]* "-"??_ ;_-@_ </c:formatCode>
                <c:ptCount val="8"/>
                <c:pt idx="0">
                  <c:v>886.844294528099</c:v>
                </c:pt>
                <c:pt idx="1">
                  <c:v>13482.3555716219</c:v>
                </c:pt>
                <c:pt idx="2">
                  <c:v>11082.355342266201</c:v>
                </c:pt>
                <c:pt idx="3">
                  <c:v>2357.5045381972</c:v>
                </c:pt>
                <c:pt idx="4">
                  <c:v>4222.21101219109</c:v>
                </c:pt>
                <c:pt idx="5">
                  <c:v>6507.55674369389</c:v>
                </c:pt>
                <c:pt idx="6">
                  <c:v>9065.7666479619893</c:v>
                </c:pt>
                <c:pt idx="7">
                  <c:v>13088.419226141599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204-4E80-B978-35F6DE47ED25}"/>
            </c:ext>
          </c:extLst>
        </c:ser>
        <c:ser>
          <c:idx val="6"/>
          <c:order val="6"/>
          <c:tx>
            <c:strRef>
              <c:f>'AWS BY ACCOUNT'!$A$8</c:f>
              <c:strCache>
                <c:ptCount val="1"/>
                <c:pt idx="0">
                  <c:v>Harel Insurance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ACCOUNT'!$B$8:$I$8</c:f>
              <c:numCache>
                <c:formatCode>_-[$$-409]* #,##0_ ;_-[$$-409]* \-#,##0\ ;_-[$$-409]* "-"??_ ;_-@_ </c:formatCode>
                <c:ptCount val="8"/>
                <c:pt idx="0">
                  <c:v>6065.7113574933001</c:v>
                </c:pt>
                <c:pt idx="1">
                  <c:v>3782.0442132040798</c:v>
                </c:pt>
                <c:pt idx="2">
                  <c:v>6397.9546116694801</c:v>
                </c:pt>
                <c:pt idx="3">
                  <c:v>8584.5109905730696</c:v>
                </c:pt>
                <c:pt idx="4">
                  <c:v>3830.37045026959</c:v>
                </c:pt>
                <c:pt idx="5">
                  <c:v>6197.5658043022904</c:v>
                </c:pt>
                <c:pt idx="6">
                  <c:v>5139.8627860578899</c:v>
                </c:pt>
                <c:pt idx="7">
                  <c:v>9394.3591850821504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204-4E80-B978-35F6DE47ED25}"/>
            </c:ext>
          </c:extLst>
        </c:ser>
        <c:ser>
          <c:idx val="7"/>
          <c:order val="7"/>
          <c:tx>
            <c:strRef>
              <c:f>'AWS BY ACCOUNT'!$A$9</c:f>
              <c:strCache>
                <c:ptCount val="1"/>
                <c:pt idx="0">
                  <c:v>aws-foundation-sharedservices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ACCOUNT'!$B$9:$I$9</c:f>
              <c:numCache>
                <c:formatCode>_-[$$-409]* #,##0_ ;_-[$$-409]* \-#,##0\ ;_-[$$-409]* "-"??_ ;_-@_ </c:formatCode>
                <c:ptCount val="8"/>
                <c:pt idx="0">
                  <c:v>6557.1766911649001</c:v>
                </c:pt>
                <c:pt idx="1">
                  <c:v>5506.8200236576004</c:v>
                </c:pt>
                <c:pt idx="2">
                  <c:v>5796.9740735755904</c:v>
                </c:pt>
                <c:pt idx="3">
                  <c:v>5754.8159779031903</c:v>
                </c:pt>
                <c:pt idx="4">
                  <c:v>6022.6023581116897</c:v>
                </c:pt>
                <c:pt idx="5">
                  <c:v>6015.60728092728</c:v>
                </c:pt>
                <c:pt idx="6">
                  <c:v>6067.4495307656898</c:v>
                </c:pt>
                <c:pt idx="7">
                  <c:v>6046.2238995361904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204-4E80-B978-35F6DE47ED25}"/>
            </c:ext>
          </c:extLst>
        </c:ser>
        <c:ser>
          <c:idx val="8"/>
          <c:order val="8"/>
          <c:tx>
            <c:strRef>
              <c:f>'AWS BY ACCOUNT'!$A$10</c:f>
              <c:strCache>
                <c:ptCount val="1"/>
                <c:pt idx="0">
                  <c:v>harel-org-02-root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ACCOUNT'!$B$10:$I$10</c:f>
              <c:numCache>
                <c:formatCode>_-[$$-409]* #,##0_ ;_-[$$-409]* \-#,##0\ ;_-[$$-409]* "-"??_ ;_-@_ </c:formatCode>
                <c:ptCount val="8"/>
                <c:pt idx="0">
                  <c:v>735.24511258989901</c:v>
                </c:pt>
                <c:pt idx="1">
                  <c:v>1397.4729170863</c:v>
                </c:pt>
                <c:pt idx="2">
                  <c:v>4084.3537261859901</c:v>
                </c:pt>
                <c:pt idx="3">
                  <c:v>1072.2250350237</c:v>
                </c:pt>
                <c:pt idx="4">
                  <c:v>1196.8719090234999</c:v>
                </c:pt>
                <c:pt idx="5">
                  <c:v>1715.7810840638001</c:v>
                </c:pt>
                <c:pt idx="6">
                  <c:v>2450.5830134381999</c:v>
                </c:pt>
                <c:pt idx="7">
                  <c:v>3809.0475571996899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204-4E80-B978-35F6DE47ED25}"/>
            </c:ext>
          </c:extLst>
        </c:ser>
        <c:ser>
          <c:idx val="9"/>
          <c:order val="9"/>
          <c:tx>
            <c:strRef>
              <c:f>'AWS BY ACCOUNT'!$A$11</c:f>
              <c:strCache>
                <c:ptCount val="1"/>
                <c:pt idx="0">
                  <c:v>horizon-prod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ACCOUNT'!$B$11:$I$11</c:f>
              <c:numCache>
                <c:formatCode>_-[$$-409]* #,##0_ ;_-[$$-409]* \-#,##0\ ;_-[$$-409]* "-"??_ ;_-@_ </c:formatCode>
                <c:ptCount val="8"/>
                <c:pt idx="4">
                  <c:v>6.6352428966999897</c:v>
                </c:pt>
                <c:pt idx="5">
                  <c:v>980.70272756459997</c:v>
                </c:pt>
                <c:pt idx="6">
                  <c:v>2057.3689684758901</c:v>
                </c:pt>
                <c:pt idx="7">
                  <c:v>2385.5333392498001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204-4E80-B978-35F6DE47ED25}"/>
            </c:ext>
          </c:extLst>
        </c:ser>
        <c:ser>
          <c:idx val="10"/>
          <c:order val="10"/>
          <c:tx>
            <c:strRef>
              <c:f>'AWS BY ACCOUNT'!$A$12</c:f>
              <c:strCache>
                <c:ptCount val="1"/>
                <c:pt idx="0">
                  <c:v>aws-foundation-logging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ACCOUNT'!$B$12:$I$12</c:f>
              <c:numCache>
                <c:formatCode>_-[$$-409]* #,##0_ ;_-[$$-409]* \-#,##0\ ;_-[$$-409]* "-"??_ ;_-@_ </c:formatCode>
                <c:ptCount val="8"/>
                <c:pt idx="0">
                  <c:v>914.71179957499896</c:v>
                </c:pt>
                <c:pt idx="1">
                  <c:v>862.9802933533</c:v>
                </c:pt>
                <c:pt idx="2">
                  <c:v>812.06600412900002</c:v>
                </c:pt>
                <c:pt idx="3">
                  <c:v>687.53362734420102</c:v>
                </c:pt>
                <c:pt idx="4">
                  <c:v>710.23076459020001</c:v>
                </c:pt>
                <c:pt idx="5">
                  <c:v>693.04413301370005</c:v>
                </c:pt>
                <c:pt idx="6">
                  <c:v>694.85938646149896</c:v>
                </c:pt>
                <c:pt idx="7">
                  <c:v>646.62093061200005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204-4E80-B978-35F6DE47ED25}"/>
            </c:ext>
          </c:extLst>
        </c:ser>
        <c:ser>
          <c:idx val="11"/>
          <c:order val="11"/>
          <c:tx>
            <c:strRef>
              <c:f>'AWS BY ACCOUNT'!$A$13</c:f>
              <c:strCache>
                <c:ptCount val="1"/>
                <c:pt idx="0">
                  <c:v>aws-sandbox-stageAccount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ACCOUNT'!$B$13:$I$13</c:f>
              <c:numCache>
                <c:formatCode>_-[$$-409]* #,##0_ ;_-[$$-409]* \-#,##0\ ;_-[$$-409]* "-"??_ ;_-@_ </c:formatCode>
                <c:ptCount val="8"/>
                <c:pt idx="0">
                  <c:v>606.93708769570003</c:v>
                </c:pt>
                <c:pt idx="1">
                  <c:v>560.98584724969896</c:v>
                </c:pt>
                <c:pt idx="2">
                  <c:v>605.56897289879998</c:v>
                </c:pt>
                <c:pt idx="3">
                  <c:v>590.85245438459901</c:v>
                </c:pt>
                <c:pt idx="4">
                  <c:v>605.17763937599898</c:v>
                </c:pt>
                <c:pt idx="5">
                  <c:v>589.20584462730005</c:v>
                </c:pt>
                <c:pt idx="6">
                  <c:v>605.03569555989998</c:v>
                </c:pt>
                <c:pt idx="7">
                  <c:v>608.62554202379999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D204-4E80-B978-35F6DE47ED25}"/>
            </c:ext>
          </c:extLst>
        </c:ser>
        <c:ser>
          <c:idx val="12"/>
          <c:order val="12"/>
          <c:tx>
            <c:strRef>
              <c:f>'AWS BY ACCOUNT'!$A$14</c:f>
              <c:strCache>
                <c:ptCount val="1"/>
                <c:pt idx="0">
                  <c:v>aws-DevTest-system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ACCOUNT'!$B$14:$I$14</c:f>
              <c:numCache>
                <c:formatCode>_-[$$-409]* #,##0_ ;_-[$$-409]* \-#,##0\ ;_-[$$-409]* "-"??_ ;_-@_ </c:formatCode>
                <c:ptCount val="8"/>
                <c:pt idx="0">
                  <c:v>453.31085493559999</c:v>
                </c:pt>
                <c:pt idx="1">
                  <c:v>441.15117645809897</c:v>
                </c:pt>
                <c:pt idx="2">
                  <c:v>535.72133880089905</c:v>
                </c:pt>
                <c:pt idx="3">
                  <c:v>523.01033847730002</c:v>
                </c:pt>
                <c:pt idx="4">
                  <c:v>588.21765727169998</c:v>
                </c:pt>
                <c:pt idx="5">
                  <c:v>578.86594255830096</c:v>
                </c:pt>
                <c:pt idx="6">
                  <c:v>570.458821030899</c:v>
                </c:pt>
                <c:pt idx="7">
                  <c:v>565.99632384419999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204-4E80-B978-35F6DE47ED25}"/>
            </c:ext>
          </c:extLst>
        </c:ser>
        <c:ser>
          <c:idx val="13"/>
          <c:order val="13"/>
          <c:tx>
            <c:strRef>
              <c:f>'AWS BY ACCOUNT'!$A$15</c:f>
              <c:strCache>
                <c:ptCount val="1"/>
                <c:pt idx="0">
                  <c:v>ai-factory-dev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ACCOUNT'!$B$15:$I$15</c:f>
              <c:numCache>
                <c:formatCode>_-[$$-409]* #,##0_ ;_-[$$-409]* \-#,##0\ ;_-[$$-409]* "-"??_ ;_-@_ </c:formatCode>
                <c:ptCount val="8"/>
                <c:pt idx="1">
                  <c:v>5.27881630849999</c:v>
                </c:pt>
                <c:pt idx="2">
                  <c:v>52.3963612169999</c:v>
                </c:pt>
                <c:pt idx="3">
                  <c:v>77.361327875699899</c:v>
                </c:pt>
                <c:pt idx="4">
                  <c:v>181.800292855099</c:v>
                </c:pt>
                <c:pt idx="5">
                  <c:v>482.6089095337</c:v>
                </c:pt>
                <c:pt idx="6">
                  <c:v>-15320.382249513401</c:v>
                </c:pt>
                <c:pt idx="7">
                  <c:v>1597.0371181731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D204-4E80-B978-35F6DE47ED25}"/>
            </c:ext>
          </c:extLst>
        </c:ser>
        <c:ser>
          <c:idx val="14"/>
          <c:order val="14"/>
          <c:tx>
            <c:strRef>
              <c:f>'AWS BY ACCOUNT'!$A$16</c:f>
              <c:strCache>
                <c:ptCount val="1"/>
                <c:pt idx="0">
                  <c:v>aws-prod-customers3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ACCOUNT'!$B$16:$I$16</c:f>
              <c:numCache>
                <c:formatCode>_-[$$-409]* #,##0_ ;_-[$$-409]* \-#,##0\ ;_-[$$-409]* "-"??_ ;_-@_ </c:formatCode>
                <c:ptCount val="8"/>
                <c:pt idx="0">
                  <c:v>309.71590298709998</c:v>
                </c:pt>
                <c:pt idx="1">
                  <c:v>299.467836106199</c:v>
                </c:pt>
                <c:pt idx="2">
                  <c:v>499.92795122310002</c:v>
                </c:pt>
                <c:pt idx="3">
                  <c:v>840.24477802990202</c:v>
                </c:pt>
                <c:pt idx="4">
                  <c:v>685.25916946220104</c:v>
                </c:pt>
                <c:pt idx="5">
                  <c:v>448.232660042399</c:v>
                </c:pt>
                <c:pt idx="6">
                  <c:v>752.36018798240002</c:v>
                </c:pt>
                <c:pt idx="7">
                  <c:v>699.72057633700001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204-4E80-B978-35F6DE47ED25}"/>
            </c:ext>
          </c:extLst>
        </c:ser>
        <c:ser>
          <c:idx val="15"/>
          <c:order val="15"/>
          <c:tx>
            <c:strRef>
              <c:f>'AWS BY ACCOUNT'!$A$17</c:f>
              <c:strCache>
                <c:ptCount val="1"/>
                <c:pt idx="0">
                  <c:v>Prod-Account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ACCOUNT'!$B$17:$I$17</c:f>
              <c:numCache>
                <c:formatCode>_-[$$-409]* #,##0_ ;_-[$$-409]* \-#,##0\ ;_-[$$-409]* "-"??_ ;_-@_ </c:formatCode>
                <c:ptCount val="8"/>
                <c:pt idx="1">
                  <c:v>126.058142468299</c:v>
                </c:pt>
                <c:pt idx="2">
                  <c:v>195.93939064059899</c:v>
                </c:pt>
                <c:pt idx="3">
                  <c:v>195.86302581619901</c:v>
                </c:pt>
                <c:pt idx="4">
                  <c:v>199.97354301799899</c:v>
                </c:pt>
                <c:pt idx="5">
                  <c:v>194.67275548499899</c:v>
                </c:pt>
                <c:pt idx="6">
                  <c:v>199.63699502599999</c:v>
                </c:pt>
                <c:pt idx="7">
                  <c:v>187.1307841974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D204-4E80-B978-35F6DE47ED25}"/>
            </c:ext>
          </c:extLst>
        </c:ser>
        <c:ser>
          <c:idx val="16"/>
          <c:order val="16"/>
          <c:tx>
            <c:strRef>
              <c:f>'AWS BY ACCOUNT'!$A$18</c:f>
              <c:strCache>
                <c:ptCount val="1"/>
                <c:pt idx="0">
                  <c:v>aws-foundation-egress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ACCOUNT'!$B$18:$I$18</c:f>
              <c:numCache>
                <c:formatCode>_-[$$-409]* #,##0_ ;_-[$$-409]* \-#,##0\ ;_-[$$-409]* "-"??_ ;_-@_ </c:formatCode>
                <c:ptCount val="8"/>
                <c:pt idx="0">
                  <c:v>181.96514560989999</c:v>
                </c:pt>
                <c:pt idx="1">
                  <c:v>165.9829842366</c:v>
                </c:pt>
                <c:pt idx="2">
                  <c:v>181.2059071404</c:v>
                </c:pt>
                <c:pt idx="3">
                  <c:v>176.17075669069899</c:v>
                </c:pt>
                <c:pt idx="4">
                  <c:v>181.22112169879901</c:v>
                </c:pt>
                <c:pt idx="5">
                  <c:v>176.126395379999</c:v>
                </c:pt>
                <c:pt idx="6">
                  <c:v>181.23413690939901</c:v>
                </c:pt>
                <c:pt idx="7">
                  <c:v>180.30238433839901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D204-4E80-B978-35F6DE47ED25}"/>
            </c:ext>
          </c:extLst>
        </c:ser>
        <c:ser>
          <c:idx val="17"/>
          <c:order val="17"/>
          <c:tx>
            <c:strRef>
              <c:f>'AWS BY ACCOUNT'!$A$19</c:f>
              <c:strCache>
                <c:ptCount val="1"/>
                <c:pt idx="0">
                  <c:v>cloudops-log-archive</c:v>
                </c:pt>
              </c:strCache>
            </c:strRef>
          </c:tx>
          <c:spPr>
            <a:solidFill>
              <a:schemeClr val="accent6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ACCOUNT'!$B$19:$I$19</c:f>
              <c:numCache>
                <c:formatCode>_-[$$-409]* #,##0_ ;_-[$$-409]* \-#,##0\ ;_-[$$-409]* "-"??_ ;_-@_ </c:formatCode>
                <c:ptCount val="8"/>
                <c:pt idx="0">
                  <c:v>160.74005458650001</c:v>
                </c:pt>
                <c:pt idx="1">
                  <c:v>138.255846863599</c:v>
                </c:pt>
                <c:pt idx="2">
                  <c:v>285.25580696240002</c:v>
                </c:pt>
                <c:pt idx="3">
                  <c:v>397.17532229269898</c:v>
                </c:pt>
                <c:pt idx="4">
                  <c:v>149.00601361650001</c:v>
                </c:pt>
                <c:pt idx="5">
                  <c:v>154.5076114988</c:v>
                </c:pt>
                <c:pt idx="6">
                  <c:v>170.10143398330001</c:v>
                </c:pt>
                <c:pt idx="7">
                  <c:v>158.42556231890001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D204-4E80-B978-35F6DE47ED25}"/>
            </c:ext>
          </c:extLst>
        </c:ser>
        <c:ser>
          <c:idx val="18"/>
          <c:order val="18"/>
          <c:tx>
            <c:strRef>
              <c:f>'AWS BY ACCOUNT'!$A$20</c:f>
              <c:strCache>
                <c:ptCount val="1"/>
                <c:pt idx="0">
                  <c:v>aws-prod-stageAccount</c:v>
                </c:pt>
              </c:strCache>
            </c:strRef>
          </c:tx>
          <c:spPr>
            <a:solidFill>
              <a:schemeClr val="accent1">
                <a:lumMod val="8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ACCOUNT'!$B$20:$I$20</c:f>
              <c:numCache>
                <c:formatCode>_-[$$-409]* #,##0_ ;_-[$$-409]* \-#,##0\ ;_-[$$-409]* "-"??_ ;_-@_ </c:formatCode>
                <c:ptCount val="8"/>
                <c:pt idx="0">
                  <c:v>136.7563750324</c:v>
                </c:pt>
                <c:pt idx="1">
                  <c:v>132.56530806250001</c:v>
                </c:pt>
                <c:pt idx="2">
                  <c:v>132.408676459399</c:v>
                </c:pt>
                <c:pt idx="3">
                  <c:v>133.81472132099901</c:v>
                </c:pt>
                <c:pt idx="4">
                  <c:v>130.98996998979899</c:v>
                </c:pt>
                <c:pt idx="5">
                  <c:v>127.02185756039999</c:v>
                </c:pt>
                <c:pt idx="6">
                  <c:v>127.63567749699899</c:v>
                </c:pt>
                <c:pt idx="7">
                  <c:v>102.418310110199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D204-4E80-B978-35F6DE47ED25}"/>
            </c:ext>
          </c:extLst>
        </c:ser>
        <c:ser>
          <c:idx val="19"/>
          <c:order val="19"/>
          <c:tx>
            <c:strRef>
              <c:f>'AWS BY ACCOUNT'!$A$21</c:f>
              <c:strCache>
                <c:ptCount val="1"/>
                <c:pt idx="0">
                  <c:v>aws-foundation-ingress</c:v>
                </c:pt>
              </c:strCache>
            </c:strRef>
          </c:tx>
          <c:spPr>
            <a:solidFill>
              <a:schemeClr val="accent2">
                <a:lumMod val="8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ACCOUNT'!$B$21:$I$21</c:f>
              <c:numCache>
                <c:formatCode>_-[$$-409]* #,##0_ ;_-[$$-409]* \-#,##0\ ;_-[$$-409]* "-"??_ ;_-@_ </c:formatCode>
                <c:ptCount val="8"/>
                <c:pt idx="0">
                  <c:v>160.2470532662</c:v>
                </c:pt>
                <c:pt idx="1">
                  <c:v>118.793594781699</c:v>
                </c:pt>
                <c:pt idx="2">
                  <c:v>123.6173841128</c:v>
                </c:pt>
                <c:pt idx="3">
                  <c:v>121.0744888644</c:v>
                </c:pt>
                <c:pt idx="4">
                  <c:v>123.392089088899</c:v>
                </c:pt>
                <c:pt idx="5">
                  <c:v>121.032987435499</c:v>
                </c:pt>
                <c:pt idx="6">
                  <c:v>123.19179415870001</c:v>
                </c:pt>
                <c:pt idx="7">
                  <c:v>122.39375636729901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D204-4E80-B978-35F6DE47ED25}"/>
            </c:ext>
          </c:extLst>
        </c:ser>
        <c:ser>
          <c:idx val="20"/>
          <c:order val="20"/>
          <c:tx>
            <c:strRef>
              <c:f>'AWS BY ACCOUNT'!$A$22</c:f>
              <c:strCache>
                <c:ptCount val="1"/>
                <c:pt idx="0">
                  <c:v>aws-Prod-SageMaker</c:v>
                </c:pt>
              </c:strCache>
            </c:strRef>
          </c:tx>
          <c:spPr>
            <a:solidFill>
              <a:schemeClr val="accent3">
                <a:lumMod val="8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ACCOUNT'!$B$22:$I$22</c:f>
              <c:numCache>
                <c:formatCode>_-[$$-409]* #,##0_ ;_-[$$-409]* \-#,##0\ ;_-[$$-409]* "-"??_ ;_-@_ </c:formatCode>
                <c:ptCount val="8"/>
                <c:pt idx="0">
                  <c:v>116.728652968399</c:v>
                </c:pt>
                <c:pt idx="1">
                  <c:v>109.4554610161</c:v>
                </c:pt>
                <c:pt idx="2">
                  <c:v>117.874816285699</c:v>
                </c:pt>
                <c:pt idx="3">
                  <c:v>119.440965711299</c:v>
                </c:pt>
                <c:pt idx="4">
                  <c:v>118.083217692999</c:v>
                </c:pt>
                <c:pt idx="5">
                  <c:v>111.60758538469899</c:v>
                </c:pt>
                <c:pt idx="6">
                  <c:v>114.194493491599</c:v>
                </c:pt>
                <c:pt idx="7">
                  <c:v>30.5828115037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D204-4E80-B978-35F6DE47ED25}"/>
            </c:ext>
          </c:extLst>
        </c:ser>
        <c:ser>
          <c:idx val="21"/>
          <c:order val="21"/>
          <c:tx>
            <c:strRef>
              <c:f>'AWS BY ACCOUNT'!$A$23</c:f>
              <c:strCache>
                <c:ptCount val="1"/>
                <c:pt idx="0">
                  <c:v>all other accounts </c:v>
                </c:pt>
              </c:strCache>
            </c:strRef>
          </c:tx>
          <c:spPr>
            <a:solidFill>
              <a:schemeClr val="accent4">
                <a:lumMod val="8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ACCOUNT'!$B$1:$I$1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ACCOUNT'!$B$23:$I$23</c:f>
              <c:numCache>
                <c:formatCode>_-[$$-409]* #,##0_ ;_-[$$-409]* \-#,##0\ ;_-[$$-409]* "-"??_ ;_-@_ </c:formatCode>
                <c:ptCount val="8"/>
                <c:pt idx="0">
                  <c:v>2484.007701611099</c:v>
                </c:pt>
                <c:pt idx="1">
                  <c:v>2644.4437237348966</c:v>
                </c:pt>
                <c:pt idx="2">
                  <c:v>4514.7676218213983</c:v>
                </c:pt>
                <c:pt idx="3">
                  <c:v>927.30180000509938</c:v>
                </c:pt>
                <c:pt idx="4">
                  <c:v>913.24715788909873</c:v>
                </c:pt>
                <c:pt idx="5">
                  <c:v>901.11137837219928</c:v>
                </c:pt>
                <c:pt idx="6">
                  <c:v>950.07546732155606</c:v>
                </c:pt>
                <c:pt idx="7" formatCode="General">
                  <c:v>677.29885052160046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D204-4E80-B978-35F6DE47ED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32204239"/>
        <c:axId val="1532198479"/>
      </c:barChart>
      <c:dateAx>
        <c:axId val="1532204239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2198479"/>
        <c:crosses val="autoZero"/>
        <c:auto val="1"/>
        <c:lblOffset val="100"/>
        <c:baseTimeUnit val="months"/>
      </c:dateAx>
      <c:valAx>
        <c:axId val="1532198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22042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9677251881976297E-2"/>
          <c:y val="1.4192557325683126E-2"/>
          <c:w val="0.89888086474397799"/>
          <c:h val="0.5069163156930964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'AWS BY SERVICE'!$A$2</c:f>
              <c:strCache>
                <c:ptCount val="1"/>
                <c:pt idx="0">
                  <c:v>EC2 - Compute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SERVICE'!$B$2:$I$2</c:f>
              <c:numCache>
                <c:formatCode>_-[$$-409]* #,##0_ ;_-[$$-409]* \-#,##0\ ;_-[$$-409]* "-"??_ ;_-@_ </c:formatCode>
                <c:ptCount val="8"/>
                <c:pt idx="0">
                  <c:v>31180.692545969301</c:v>
                </c:pt>
                <c:pt idx="1">
                  <c:v>28236.722112526299</c:v>
                </c:pt>
                <c:pt idx="2">
                  <c:v>32994.930813810097</c:v>
                </c:pt>
                <c:pt idx="3">
                  <c:v>32045.929590036001</c:v>
                </c:pt>
                <c:pt idx="4">
                  <c:v>35082.642477439898</c:v>
                </c:pt>
                <c:pt idx="5">
                  <c:v>33427.892986543302</c:v>
                </c:pt>
                <c:pt idx="6">
                  <c:v>35426.328036250503</c:v>
                </c:pt>
                <c:pt idx="7">
                  <c:v>36296.5904873447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14-4025-8852-FF3719D86DC3}"/>
            </c:ext>
          </c:extLst>
        </c:ser>
        <c:ser>
          <c:idx val="1"/>
          <c:order val="1"/>
          <c:tx>
            <c:strRef>
              <c:f>'AWS BY SERVICE'!$A$3</c:f>
              <c:strCache>
                <c:ptCount val="1"/>
                <c:pt idx="0">
                  <c:v>S3 - Glacier Deep Archive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SERVICE'!$B$3:$I$3</c:f>
              <c:numCache>
                <c:formatCode>_-[$$-409]* #,##0_ ;_-[$$-409]* \-#,##0\ ;_-[$$-409]* "-"??_ ;_-@_ </c:formatCode>
                <c:ptCount val="8"/>
                <c:pt idx="1">
                  <c:v>10.2462622012</c:v>
                </c:pt>
                <c:pt idx="2">
                  <c:v>942.32533596459996</c:v>
                </c:pt>
                <c:pt idx="3">
                  <c:v>1640.2881022731999</c:v>
                </c:pt>
                <c:pt idx="4">
                  <c:v>3099.6539429253999</c:v>
                </c:pt>
                <c:pt idx="5">
                  <c:v>5289.0602849856996</c:v>
                </c:pt>
                <c:pt idx="6">
                  <c:v>7425.0098003551902</c:v>
                </c:pt>
                <c:pt idx="7">
                  <c:v>10586.0399579149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14-4025-8852-FF3719D86DC3}"/>
            </c:ext>
          </c:extLst>
        </c:ser>
        <c:ser>
          <c:idx val="2"/>
          <c:order val="2"/>
          <c:tx>
            <c:strRef>
              <c:f>'AWS BY SERVICE'!$A$4</c:f>
              <c:strCache>
                <c:ptCount val="1"/>
                <c:pt idx="0">
                  <c:v>Business Support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SERVICE'!$B$4:$I$4</c:f>
              <c:numCache>
                <c:formatCode>_-[$$-409]* #,##0_ ;_-[$$-409]* \-#,##0\ ;_-[$$-409]* "-"??_ ;_-@_ </c:formatCode>
                <c:ptCount val="8"/>
                <c:pt idx="0">
                  <c:v>3876.8847570104999</c:v>
                </c:pt>
                <c:pt idx="1">
                  <c:v>4268.9569900236002</c:v>
                </c:pt>
                <c:pt idx="2">
                  <c:v>4581.1733891856002</c:v>
                </c:pt>
                <c:pt idx="3">
                  <c:v>4108.0377945851997</c:v>
                </c:pt>
                <c:pt idx="4">
                  <c:v>4478.0993096558996</c:v>
                </c:pt>
                <c:pt idx="5">
                  <c:v>4839.1448445639999</c:v>
                </c:pt>
                <c:pt idx="6">
                  <c:v>5893.4865198584903</c:v>
                </c:pt>
                <c:pt idx="7">
                  <c:v>7237.8376385259999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114-4025-8852-FF3719D86DC3}"/>
            </c:ext>
          </c:extLst>
        </c:ser>
        <c:ser>
          <c:idx val="3"/>
          <c:order val="3"/>
          <c:tx>
            <c:strRef>
              <c:f>'AWS BY SERVICE'!$A$5</c:f>
              <c:strCache>
                <c:ptCount val="1"/>
                <c:pt idx="0">
                  <c:v>Virtual Private Cloud - Transit Gateway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SERVICE'!$B$5:$I$5</c:f>
              <c:numCache>
                <c:formatCode>_-[$$-409]* #,##0_ ;_-[$$-409]* \-#,##0\ ;_-[$$-409]* "-"??_ ;_-@_ </c:formatCode>
                <c:ptCount val="8"/>
                <c:pt idx="0">
                  <c:v>3925.7255761172901</c:v>
                </c:pt>
                <c:pt idx="1">
                  <c:v>3570.8803101231902</c:v>
                </c:pt>
                <c:pt idx="2">
                  <c:v>3963.9896499682</c:v>
                </c:pt>
                <c:pt idx="3">
                  <c:v>3878.0382321697002</c:v>
                </c:pt>
                <c:pt idx="4">
                  <c:v>4428.6772683876998</c:v>
                </c:pt>
                <c:pt idx="5">
                  <c:v>4573.5964001822003</c:v>
                </c:pt>
                <c:pt idx="6">
                  <c:v>4657.2731264150998</c:v>
                </c:pt>
                <c:pt idx="7">
                  <c:v>4521.7823860751996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114-4025-8852-FF3719D86DC3}"/>
            </c:ext>
          </c:extLst>
        </c:ser>
        <c:ser>
          <c:idx val="4"/>
          <c:order val="4"/>
          <c:tx>
            <c:strRef>
              <c:f>'AWS BY SERVICE'!$A$6</c:f>
              <c:strCache>
                <c:ptCount val="1"/>
                <c:pt idx="0">
                  <c:v>RDS - Compute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SERVICE'!$B$6:$I$6</c:f>
              <c:numCache>
                <c:formatCode>_-[$$-409]* #,##0_ ;_-[$$-409]* \-#,##0\ ;_-[$$-409]* "-"??_ ;_-@_ </c:formatCode>
                <c:ptCount val="8"/>
                <c:pt idx="0">
                  <c:v>4939.6777595399999</c:v>
                </c:pt>
                <c:pt idx="1">
                  <c:v>3272.1811676069901</c:v>
                </c:pt>
                <c:pt idx="2">
                  <c:v>3522.0347999999999</c:v>
                </c:pt>
                <c:pt idx="3">
                  <c:v>3408.12</c:v>
                </c:pt>
                <c:pt idx="4">
                  <c:v>3521.7239999999902</c:v>
                </c:pt>
                <c:pt idx="5">
                  <c:v>4011.4483652899999</c:v>
                </c:pt>
                <c:pt idx="6">
                  <c:v>4355.0039999999999</c:v>
                </c:pt>
                <c:pt idx="7">
                  <c:v>4355.0039999999899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114-4025-8852-FF3719D86DC3}"/>
            </c:ext>
          </c:extLst>
        </c:ser>
        <c:ser>
          <c:idx val="5"/>
          <c:order val="5"/>
          <c:tx>
            <c:strRef>
              <c:f>'AWS BY SERVICE'!$A$7</c:f>
              <c:strCache>
                <c:ptCount val="1"/>
                <c:pt idx="0">
                  <c:v>Direct Connect - Port Hours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SERVICE'!$B$7:$I$7</c:f>
              <c:numCache>
                <c:formatCode>_-[$$-409]* #,##0_ ;_-[$$-409]* \-#,##0\ ;_-[$$-409]* "-"??_ ;_-@_ </c:formatCode>
                <c:ptCount val="8"/>
                <c:pt idx="0">
                  <c:v>3794.3999999999901</c:v>
                </c:pt>
                <c:pt idx="1">
                  <c:v>3427.2</c:v>
                </c:pt>
                <c:pt idx="2">
                  <c:v>3794.3999999999901</c:v>
                </c:pt>
                <c:pt idx="3">
                  <c:v>3672</c:v>
                </c:pt>
                <c:pt idx="4">
                  <c:v>3794.3999999999901</c:v>
                </c:pt>
                <c:pt idx="5">
                  <c:v>3672</c:v>
                </c:pt>
                <c:pt idx="6">
                  <c:v>3794.3999999999901</c:v>
                </c:pt>
                <c:pt idx="7">
                  <c:v>3794.3999999999901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114-4025-8852-FF3719D86DC3}"/>
            </c:ext>
          </c:extLst>
        </c:ser>
        <c:ser>
          <c:idx val="6"/>
          <c:order val="6"/>
          <c:tx>
            <c:strRef>
              <c:f>'AWS BY SERVICE'!$A$8</c:f>
              <c:strCache>
                <c:ptCount val="1"/>
                <c:pt idx="0">
                  <c:v>CloudWatch Log Groups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SERVICE'!$B$8:$I$8</c:f>
              <c:numCache>
                <c:formatCode>_-[$$-409]* #,##0_ ;_-[$$-409]* \-#,##0\ ;_-[$$-409]* "-"??_ ;_-@_ </c:formatCode>
                <c:ptCount val="8"/>
                <c:pt idx="0">
                  <c:v>2791.6009871904998</c:v>
                </c:pt>
                <c:pt idx="1">
                  <c:v>2486.9112985884899</c:v>
                </c:pt>
                <c:pt idx="2">
                  <c:v>2914.1397674447899</c:v>
                </c:pt>
                <c:pt idx="3">
                  <c:v>2895.8953377119901</c:v>
                </c:pt>
                <c:pt idx="4">
                  <c:v>3040.09546660059</c:v>
                </c:pt>
                <c:pt idx="5">
                  <c:v>3061.8452882554898</c:v>
                </c:pt>
                <c:pt idx="6">
                  <c:v>2991.1054497277901</c:v>
                </c:pt>
                <c:pt idx="7">
                  <c:v>6150.7395005082899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114-4025-8852-FF3719D86DC3}"/>
            </c:ext>
          </c:extLst>
        </c:ser>
        <c:ser>
          <c:idx val="7"/>
          <c:order val="7"/>
          <c:tx>
            <c:strRef>
              <c:f>'AWS BY SERVICE'!$A$9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SERVICE'!$B$9:$I$9</c:f>
              <c:numCache>
                <c:formatCode>_-[$$-409]* #,##0_ ;_-[$$-409]* \-#,##0\ ;_-[$$-409]* "-"??_ ;_-@_ </c:formatCode>
                <c:ptCount val="8"/>
                <c:pt idx="0">
                  <c:v>2638.1736505284898</c:v>
                </c:pt>
                <c:pt idx="1">
                  <c:v>615.52657285268697</c:v>
                </c:pt>
                <c:pt idx="2">
                  <c:v>7914.1178043239997</c:v>
                </c:pt>
                <c:pt idx="3">
                  <c:v>4888.3082425551102</c:v>
                </c:pt>
                <c:pt idx="4">
                  <c:v>130.44508576038501</c:v>
                </c:pt>
                <c:pt idx="5">
                  <c:v>2919.6869205039902</c:v>
                </c:pt>
                <c:pt idx="6">
                  <c:v>-12834.1834649585</c:v>
                </c:pt>
                <c:pt idx="7">
                  <c:v>6947.07380101323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114-4025-8852-FF3719D86DC3}"/>
            </c:ext>
          </c:extLst>
        </c:ser>
        <c:ser>
          <c:idx val="8"/>
          <c:order val="8"/>
          <c:tx>
            <c:strRef>
              <c:f>'AWS BY SERVICE'!$A$10</c:f>
              <c:strCache>
                <c:ptCount val="1"/>
                <c:pt idx="0">
                  <c:v>EBS - Storage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SERVICE'!$B$10:$I$10</c:f>
              <c:numCache>
                <c:formatCode>_-[$$-409]* #,##0_ ;_-[$$-409]* \-#,##0\ ;_-[$$-409]* "-"??_ ;_-@_ </c:formatCode>
                <c:ptCount val="8"/>
                <c:pt idx="0">
                  <c:v>2447.2340247655002</c:v>
                </c:pt>
                <c:pt idx="1">
                  <c:v>2460.2301190695898</c:v>
                </c:pt>
                <c:pt idx="2">
                  <c:v>2729.6929166957998</c:v>
                </c:pt>
                <c:pt idx="3">
                  <c:v>2815.0529668506902</c:v>
                </c:pt>
                <c:pt idx="4">
                  <c:v>2643.7225711013898</c:v>
                </c:pt>
                <c:pt idx="5">
                  <c:v>2595.6807585760898</c:v>
                </c:pt>
                <c:pt idx="6">
                  <c:v>2625.4159939544902</c:v>
                </c:pt>
                <c:pt idx="7">
                  <c:v>2820.8329308277898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114-4025-8852-FF3719D86DC3}"/>
            </c:ext>
          </c:extLst>
        </c:ser>
        <c:ser>
          <c:idx val="9"/>
          <c:order val="9"/>
          <c:tx>
            <c:strRef>
              <c:f>'AWS BY SERVICE'!$A$11</c:f>
              <c:strCache>
                <c:ptCount val="1"/>
                <c:pt idx="0">
                  <c:v>S3 - Storage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SERVICE'!$B$11:$I$11</c:f>
              <c:numCache>
                <c:formatCode>_-[$$-409]* #,##0_ ;_-[$$-409]* \-#,##0\ ;_-[$$-409]* "-"??_ ;_-@_ </c:formatCode>
                <c:ptCount val="8"/>
                <c:pt idx="0">
                  <c:v>1978.492493319</c:v>
                </c:pt>
                <c:pt idx="1">
                  <c:v>13276.307066645801</c:v>
                </c:pt>
                <c:pt idx="2">
                  <c:v>5868.0089106850901</c:v>
                </c:pt>
                <c:pt idx="3">
                  <c:v>2134.4675494789999</c:v>
                </c:pt>
                <c:pt idx="4">
                  <c:v>2249.4613726612001</c:v>
                </c:pt>
                <c:pt idx="5">
                  <c:v>2370.08977849039</c:v>
                </c:pt>
                <c:pt idx="6">
                  <c:v>2324.7113088003998</c:v>
                </c:pt>
                <c:pt idx="7">
                  <c:v>2026.4465995994999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114-4025-8852-FF3719D86DC3}"/>
            </c:ext>
          </c:extLst>
        </c:ser>
        <c:ser>
          <c:idx val="10"/>
          <c:order val="10"/>
          <c:tx>
            <c:strRef>
              <c:f>'AWS BY SERVICE'!$A$12</c:f>
              <c:strCache>
                <c:ptCount val="1"/>
                <c:pt idx="0">
                  <c:v>AWS Config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SERVICE'!$B$12:$I$12</c:f>
              <c:numCache>
                <c:formatCode>_-[$$-409]* #,##0_ ;_-[$$-409]* \-#,##0\ ;_-[$$-409]* "-"??_ ;_-@_ </c:formatCode>
                <c:ptCount val="8"/>
                <c:pt idx="0">
                  <c:v>1716.90299999999</c:v>
                </c:pt>
                <c:pt idx="1">
                  <c:v>1456.3055999999999</c:v>
                </c:pt>
                <c:pt idx="2">
                  <c:v>2372.3654999999899</c:v>
                </c:pt>
                <c:pt idx="3">
                  <c:v>2617.6320000000001</c:v>
                </c:pt>
                <c:pt idx="4">
                  <c:v>2665.7269999999999</c:v>
                </c:pt>
                <c:pt idx="5">
                  <c:v>2155.3705</c:v>
                </c:pt>
                <c:pt idx="6">
                  <c:v>2041.2225000000001</c:v>
                </c:pt>
                <c:pt idx="7">
                  <c:v>1615.7149999999899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114-4025-8852-FF3719D86DC3}"/>
            </c:ext>
          </c:extLst>
        </c:ser>
        <c:ser>
          <c:idx val="11"/>
          <c:order val="11"/>
          <c:tx>
            <c:strRef>
              <c:f>'AWS BY SERVICE'!$A$13</c:f>
              <c:strCache>
                <c:ptCount val="1"/>
                <c:pt idx="0">
                  <c:v>Route 53 - Resolver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SERVICE'!$B$13:$I$13</c:f>
              <c:numCache>
                <c:formatCode>_-[$$-409]* #,##0_ ;_-[$$-409]* \-#,##0\ ;_-[$$-409]* "-"??_ ;_-@_ </c:formatCode>
                <c:ptCount val="8"/>
                <c:pt idx="0">
                  <c:v>1952.8187323625</c:v>
                </c:pt>
                <c:pt idx="1">
                  <c:v>1763.9040911792899</c:v>
                </c:pt>
                <c:pt idx="2">
                  <c:v>2122.8703531270999</c:v>
                </c:pt>
                <c:pt idx="3">
                  <c:v>2069.8931737518901</c:v>
                </c:pt>
                <c:pt idx="4">
                  <c:v>2138.8128312187901</c:v>
                </c:pt>
                <c:pt idx="5">
                  <c:v>2069.9910101375999</c:v>
                </c:pt>
                <c:pt idx="6">
                  <c:v>2138.8496641645002</c:v>
                </c:pt>
                <c:pt idx="7">
                  <c:v>2138.8408276034902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8114-4025-8852-FF3719D86DC3}"/>
            </c:ext>
          </c:extLst>
        </c:ser>
        <c:ser>
          <c:idx val="12"/>
          <c:order val="12"/>
          <c:tx>
            <c:strRef>
              <c:f>'AWS BY SERVICE'!$A$14</c:f>
              <c:strCache>
                <c:ptCount val="1"/>
                <c:pt idx="0">
                  <c:v>EC2 - EBS Snapshot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SERVICE'!$B$14:$I$14</c:f>
              <c:numCache>
                <c:formatCode>_-[$$-409]* #,##0_ ;_-[$$-409]* \-#,##0\ ;_-[$$-409]* "-"??_ ;_-@_ </c:formatCode>
                <c:ptCount val="8"/>
                <c:pt idx="0">
                  <c:v>2061.8988781900898</c:v>
                </c:pt>
                <c:pt idx="1">
                  <c:v>2047.5549410281001</c:v>
                </c:pt>
                <c:pt idx="2">
                  <c:v>2023.7107630778901</c:v>
                </c:pt>
                <c:pt idx="3">
                  <c:v>1926.3789917808799</c:v>
                </c:pt>
                <c:pt idx="4">
                  <c:v>1953.52444672309</c:v>
                </c:pt>
                <c:pt idx="5">
                  <c:v>2009.77951444428</c:v>
                </c:pt>
                <c:pt idx="6">
                  <c:v>2004.01957412038</c:v>
                </c:pt>
                <c:pt idx="7">
                  <c:v>1922.7562428146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114-4025-8852-FF3719D86DC3}"/>
            </c:ext>
          </c:extLst>
        </c:ser>
        <c:ser>
          <c:idx val="13"/>
          <c:order val="13"/>
          <c:tx>
            <c:strRef>
              <c:f>'AWS BY SERVICE'!$A$15</c:f>
              <c:strCache>
                <c:ptCount val="1"/>
                <c:pt idx="0">
                  <c:v>Virtual Private Cloud - VPC Endpoint Usage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SERVICE'!$B$15:$I$15</c:f>
              <c:numCache>
                <c:formatCode>_-[$$-409]* #,##0_ ;_-[$$-409]* \-#,##0\ ;_-[$$-409]* "-"??_ ;_-@_ </c:formatCode>
                <c:ptCount val="8"/>
                <c:pt idx="0">
                  <c:v>1640.9167001891999</c:v>
                </c:pt>
                <c:pt idx="1">
                  <c:v>1493.9034741303999</c:v>
                </c:pt>
                <c:pt idx="2">
                  <c:v>1889.8835859563001</c:v>
                </c:pt>
                <c:pt idx="3">
                  <c:v>1863.4412557702899</c:v>
                </c:pt>
                <c:pt idx="4">
                  <c:v>1934.2696212028</c:v>
                </c:pt>
                <c:pt idx="5">
                  <c:v>1880.3431320774901</c:v>
                </c:pt>
                <c:pt idx="6">
                  <c:v>1982.4614725028</c:v>
                </c:pt>
                <c:pt idx="7">
                  <c:v>2040.5746034178001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114-4025-8852-FF3719D86DC3}"/>
            </c:ext>
          </c:extLst>
        </c:ser>
        <c:ser>
          <c:idx val="14"/>
          <c:order val="14"/>
          <c:tx>
            <c:strRef>
              <c:f>'AWS BY SERVICE'!$A$16</c:f>
              <c:strCache>
                <c:ptCount val="1"/>
                <c:pt idx="0">
                  <c:v>Amazon GuardDuty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SERVICE'!$B$16:$I$16</c:f>
              <c:numCache>
                <c:formatCode>_-[$$-409]* #,##0_ ;_-[$$-409]* \-#,##0\ ;_-[$$-409]* "-"??_ ;_-@_ </c:formatCode>
                <c:ptCount val="8"/>
                <c:pt idx="0">
                  <c:v>1660.86217621229</c:v>
                </c:pt>
                <c:pt idx="1">
                  <c:v>1747.5644906484999</c:v>
                </c:pt>
                <c:pt idx="2">
                  <c:v>1829.5792630906001</c:v>
                </c:pt>
                <c:pt idx="3">
                  <c:v>1729.6213258851001</c:v>
                </c:pt>
                <c:pt idx="4">
                  <c:v>1754.518881084</c:v>
                </c:pt>
                <c:pt idx="5">
                  <c:v>1641.9557394675001</c:v>
                </c:pt>
                <c:pt idx="6">
                  <c:v>1639.96949783589</c:v>
                </c:pt>
                <c:pt idx="7">
                  <c:v>1056.6830961442899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114-4025-8852-FF3719D86DC3}"/>
            </c:ext>
          </c:extLst>
        </c:ser>
        <c:ser>
          <c:idx val="15"/>
          <c:order val="15"/>
          <c:tx>
            <c:strRef>
              <c:f>'AWS BY SERVICE'!$A$17</c:f>
              <c:strCache>
                <c:ptCount val="1"/>
                <c:pt idx="0">
                  <c:v>Amazon Elastic File System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SERVICE'!$B$17:$I$17</c:f>
              <c:numCache>
                <c:formatCode>_-[$$-409]* #,##0_ ;_-[$$-409]* \-#,##0\ ;_-[$$-409]* "-"??_ ;_-@_ </c:formatCode>
                <c:ptCount val="8"/>
                <c:pt idx="0">
                  <c:v>1319.4442016701</c:v>
                </c:pt>
                <c:pt idx="1">
                  <c:v>1318.8253204584901</c:v>
                </c:pt>
                <c:pt idx="2">
                  <c:v>1300.3752467618001</c:v>
                </c:pt>
                <c:pt idx="3">
                  <c:v>1286.1929992124999</c:v>
                </c:pt>
                <c:pt idx="4">
                  <c:v>1311.1067824893</c:v>
                </c:pt>
                <c:pt idx="5">
                  <c:v>1313.4327395157</c:v>
                </c:pt>
                <c:pt idx="6">
                  <c:v>1365.3441972727001</c:v>
                </c:pt>
                <c:pt idx="7">
                  <c:v>1323.2330925954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8114-4025-8852-FF3719D86DC3}"/>
            </c:ext>
          </c:extLst>
        </c:ser>
        <c:ser>
          <c:idx val="16"/>
          <c:order val="16"/>
          <c:tx>
            <c:strRef>
              <c:f>'AWS BY SERVICE'!$A$18</c:f>
              <c:strCache>
                <c:ptCount val="1"/>
                <c:pt idx="0">
                  <c:v>ElastiCache - Compute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SERVICE'!$B$18:$I$18</c:f>
              <c:numCache>
                <c:formatCode>_-[$$-409]* #,##0_ ;_-[$$-409]* \-#,##0\ ;_-[$$-409]* "-"??_ ;_-@_ </c:formatCode>
                <c:ptCount val="8"/>
                <c:pt idx="0">
                  <c:v>1228.34399999999</c:v>
                </c:pt>
                <c:pt idx="1">
                  <c:v>1109.47199999999</c:v>
                </c:pt>
                <c:pt idx="2">
                  <c:v>1332.722</c:v>
                </c:pt>
                <c:pt idx="3">
                  <c:v>1188.71999999999</c:v>
                </c:pt>
                <c:pt idx="4">
                  <c:v>1228.3440000000001</c:v>
                </c:pt>
                <c:pt idx="5">
                  <c:v>1188.71999999999</c:v>
                </c:pt>
                <c:pt idx="6">
                  <c:v>1228.3440000000001</c:v>
                </c:pt>
                <c:pt idx="7">
                  <c:v>1228.3440000000001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114-4025-8852-FF3719D86DC3}"/>
            </c:ext>
          </c:extLst>
        </c:ser>
        <c:ser>
          <c:idx val="17"/>
          <c:order val="17"/>
          <c:tx>
            <c:strRef>
              <c:f>'AWS BY SERVICE'!$A$19</c:f>
              <c:strCache>
                <c:ptCount val="1"/>
                <c:pt idx="0">
                  <c:v>EC2 - Transfer</c:v>
                </c:pt>
              </c:strCache>
            </c:strRef>
          </c:tx>
          <c:spPr>
            <a:solidFill>
              <a:schemeClr val="accent6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SERVICE'!$B$19:$I$19</c:f>
              <c:numCache>
                <c:formatCode>_-[$$-409]* #,##0_ ;_-[$$-409]* \-#,##0\ ;_-[$$-409]* "-"??_ ;_-@_ </c:formatCode>
                <c:ptCount val="8"/>
                <c:pt idx="0">
                  <c:v>1061.9994329707999</c:v>
                </c:pt>
                <c:pt idx="1">
                  <c:v>944.50398347340001</c:v>
                </c:pt>
                <c:pt idx="2">
                  <c:v>988.58255654850097</c:v>
                </c:pt>
                <c:pt idx="3">
                  <c:v>954.978403709899</c:v>
                </c:pt>
                <c:pt idx="4">
                  <c:v>1129.6171006648001</c:v>
                </c:pt>
                <c:pt idx="5">
                  <c:v>1108.1912498491899</c:v>
                </c:pt>
                <c:pt idx="6">
                  <c:v>1047.0631341119999</c:v>
                </c:pt>
                <c:pt idx="7">
                  <c:v>1102.58698409209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8114-4025-8852-FF3719D86DC3}"/>
            </c:ext>
          </c:extLst>
        </c:ser>
        <c:ser>
          <c:idx val="18"/>
          <c:order val="18"/>
          <c:tx>
            <c:strRef>
              <c:f>'AWS BY SERVICE'!$A$20</c:f>
              <c:strCache>
                <c:ptCount val="1"/>
                <c:pt idx="0">
                  <c:v>S3 - API</c:v>
                </c:pt>
              </c:strCache>
            </c:strRef>
          </c:tx>
          <c:spPr>
            <a:solidFill>
              <a:schemeClr val="accent1">
                <a:lumMod val="8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SERVICE'!$B$20:$I$20</c:f>
              <c:numCache>
                <c:formatCode>_-[$$-409]* #,##0_ ;_-[$$-409]* \-#,##0\ ;_-[$$-409]* "-"??_ ;_-@_ </c:formatCode>
                <c:ptCount val="8"/>
                <c:pt idx="0">
                  <c:v>661.62187278040005</c:v>
                </c:pt>
                <c:pt idx="1">
                  <c:v>1464.3099925345</c:v>
                </c:pt>
                <c:pt idx="2">
                  <c:v>5330.8415741993003</c:v>
                </c:pt>
                <c:pt idx="3">
                  <c:v>503.35536512589903</c:v>
                </c:pt>
                <c:pt idx="4">
                  <c:v>880.69442964339601</c:v>
                </c:pt>
                <c:pt idx="5">
                  <c:v>965.03458563710603</c:v>
                </c:pt>
                <c:pt idx="6">
                  <c:v>1498.7361255651001</c:v>
                </c:pt>
                <c:pt idx="7">
                  <c:v>2711.6951580248001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8114-4025-8852-FF3719D86DC3}"/>
            </c:ext>
          </c:extLst>
        </c:ser>
        <c:ser>
          <c:idx val="19"/>
          <c:order val="19"/>
          <c:tx>
            <c:strRef>
              <c:f>'AWS BY SERVICE'!$A$21</c:f>
              <c:strCache>
                <c:ptCount val="1"/>
                <c:pt idx="0">
                  <c:v>AWS Key Management Service</c:v>
                </c:pt>
              </c:strCache>
            </c:strRef>
          </c:tx>
          <c:spPr>
            <a:solidFill>
              <a:schemeClr val="accent2">
                <a:lumMod val="8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SERVICE'!$B$21:$I$21</c:f>
              <c:numCache>
                <c:formatCode>_-[$$-409]* #,##0_ ;_-[$$-409]* \-#,##0\ ;_-[$$-409]* "-"??_ ;_-@_ </c:formatCode>
                <c:ptCount val="8"/>
                <c:pt idx="0">
                  <c:v>831.14673949600001</c:v>
                </c:pt>
                <c:pt idx="1">
                  <c:v>850.189166733599</c:v>
                </c:pt>
                <c:pt idx="2">
                  <c:v>967.010887943998</c:v>
                </c:pt>
                <c:pt idx="3">
                  <c:v>1016.88397155479</c:v>
                </c:pt>
                <c:pt idx="4">
                  <c:v>898.22775712999896</c:v>
                </c:pt>
                <c:pt idx="5">
                  <c:v>930.01071109669897</c:v>
                </c:pt>
                <c:pt idx="6">
                  <c:v>942.30030539999996</c:v>
                </c:pt>
                <c:pt idx="7">
                  <c:v>1017.38574891999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8114-4025-8852-FF3719D86DC3}"/>
            </c:ext>
          </c:extLst>
        </c:ser>
        <c:ser>
          <c:idx val="20"/>
          <c:order val="20"/>
          <c:tx>
            <c:strRef>
              <c:f>'AWS BY SERVICE'!$A$22</c:f>
              <c:strCache>
                <c:ptCount val="1"/>
                <c:pt idx="0">
                  <c:v>EC2 - Application Load Balancer Usage</c:v>
                </c:pt>
              </c:strCache>
            </c:strRef>
          </c:tx>
          <c:spPr>
            <a:solidFill>
              <a:schemeClr val="accent3">
                <a:lumMod val="8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SERVICE'!$B$22:$I$22</c:f>
              <c:numCache>
                <c:formatCode>_-[$$-409]* #,##0_ ;_-[$$-409]* \-#,##0\ ;_-[$$-409]* "-"??_ ;_-@_ </c:formatCode>
                <c:ptCount val="8"/>
                <c:pt idx="0">
                  <c:v>481.2383282147</c:v>
                </c:pt>
                <c:pt idx="1">
                  <c:v>429.3478455055</c:v>
                </c:pt>
                <c:pt idx="2">
                  <c:v>474.97880879709999</c:v>
                </c:pt>
                <c:pt idx="3">
                  <c:v>456.6820963019</c:v>
                </c:pt>
                <c:pt idx="4">
                  <c:v>457.08484866570001</c:v>
                </c:pt>
                <c:pt idx="5">
                  <c:v>452.59464183450001</c:v>
                </c:pt>
                <c:pt idx="6">
                  <c:v>468.60611821790002</c:v>
                </c:pt>
                <c:pt idx="7">
                  <c:v>468.81123266519899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114-4025-8852-FF3719D86DC3}"/>
            </c:ext>
          </c:extLst>
        </c:ser>
        <c:ser>
          <c:idx val="21"/>
          <c:order val="21"/>
          <c:tx>
            <c:strRef>
              <c:f>'AWS BY SERVICE'!$A$23</c:f>
              <c:strCache>
                <c:ptCount val="1"/>
                <c:pt idx="0">
                  <c:v>Virtual Private Cloud - VPN Connection Usage</c:v>
                </c:pt>
              </c:strCache>
            </c:strRef>
          </c:tx>
          <c:spPr>
            <a:solidFill>
              <a:schemeClr val="accent4">
                <a:lumMod val="8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SERVICE'!$B$23:$I$23</c:f>
              <c:numCache>
                <c:formatCode>_-[$$-409]* #,##0_ ;_-[$$-409]* \-#,##0\ ;_-[$$-409]* "-"??_ ;_-@_ </c:formatCode>
                <c:ptCount val="8"/>
                <c:pt idx="0">
                  <c:v>334.8</c:v>
                </c:pt>
                <c:pt idx="1">
                  <c:v>302.39999999999998</c:v>
                </c:pt>
                <c:pt idx="2">
                  <c:v>334.8</c:v>
                </c:pt>
                <c:pt idx="3">
                  <c:v>324</c:v>
                </c:pt>
                <c:pt idx="4">
                  <c:v>334.8</c:v>
                </c:pt>
                <c:pt idx="5">
                  <c:v>324</c:v>
                </c:pt>
                <c:pt idx="6">
                  <c:v>334.8</c:v>
                </c:pt>
                <c:pt idx="7">
                  <c:v>334.8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8114-4025-8852-FF3719D86DC3}"/>
            </c:ext>
          </c:extLst>
        </c:ser>
        <c:ser>
          <c:idx val="22"/>
          <c:order val="22"/>
          <c:tx>
            <c:strRef>
              <c:f>'AWS BY SERVICE'!$A$24</c:f>
              <c:strCache>
                <c:ptCount val="1"/>
                <c:pt idx="0">
                  <c:v>EC2 - Classic Load Balancer Usage</c:v>
                </c:pt>
              </c:strCache>
            </c:strRef>
          </c:tx>
          <c:spPr>
            <a:solidFill>
              <a:schemeClr val="accent5">
                <a:lumMod val="8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SERVICE'!$B$24:$I$24</c:f>
              <c:numCache>
                <c:formatCode>_-[$$-409]* #,##0_ ;_-[$$-409]* \-#,##0\ ;_-[$$-409]* "-"??_ ;_-@_ </c:formatCode>
                <c:ptCount val="8"/>
                <c:pt idx="0">
                  <c:v>334.40204158959898</c:v>
                </c:pt>
                <c:pt idx="1">
                  <c:v>302.4212276399</c:v>
                </c:pt>
                <c:pt idx="2">
                  <c:v>334.87086997319898</c:v>
                </c:pt>
                <c:pt idx="3">
                  <c:v>323.93544533099998</c:v>
                </c:pt>
                <c:pt idx="4">
                  <c:v>334.91976315829999</c:v>
                </c:pt>
                <c:pt idx="5">
                  <c:v>312.35605057049997</c:v>
                </c:pt>
                <c:pt idx="6">
                  <c:v>314.02214218099999</c:v>
                </c:pt>
                <c:pt idx="7">
                  <c:v>313.35555261740001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8114-4025-8852-FF3719D86DC3}"/>
            </c:ext>
          </c:extLst>
        </c:ser>
        <c:ser>
          <c:idx val="23"/>
          <c:order val="23"/>
          <c:tx>
            <c:strRef>
              <c:f>'AWS BY SERVICE'!$A$25</c:f>
              <c:strCache>
                <c:ptCount val="1"/>
                <c:pt idx="0">
                  <c:v>EC2 - CPU Credits</c:v>
                </c:pt>
              </c:strCache>
            </c:strRef>
          </c:tx>
          <c:spPr>
            <a:solidFill>
              <a:schemeClr val="accent6">
                <a:lumMod val="8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SERVICE'!$B$25:$I$25</c:f>
              <c:numCache>
                <c:formatCode>_-[$$-409]* #,##0_ ;_-[$$-409]* \-#,##0\ ;_-[$$-409]* "-"??_ ;_-@_ </c:formatCode>
                <c:ptCount val="8"/>
                <c:pt idx="0">
                  <c:v>69.920517984</c:v>
                </c:pt>
                <c:pt idx="1">
                  <c:v>82.596837215999997</c:v>
                </c:pt>
                <c:pt idx="2">
                  <c:v>212.67596467199999</c:v>
                </c:pt>
                <c:pt idx="3">
                  <c:v>266.47001039999998</c:v>
                </c:pt>
                <c:pt idx="4">
                  <c:v>317.661440352</c:v>
                </c:pt>
                <c:pt idx="5">
                  <c:v>308.44274812799898</c:v>
                </c:pt>
                <c:pt idx="6">
                  <c:v>249.95492028199999</c:v>
                </c:pt>
                <c:pt idx="7">
                  <c:v>161.99716550399901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8114-4025-8852-FF3719D86DC3}"/>
            </c:ext>
          </c:extLst>
        </c:ser>
        <c:ser>
          <c:idx val="24"/>
          <c:order val="24"/>
          <c:tx>
            <c:strRef>
              <c:f>'AWS BY SERVICE'!$A$26</c:f>
              <c:strCache>
                <c:ptCount val="1"/>
                <c:pt idx="0">
                  <c:v>ECR - Storage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SERVICE'!$B$26:$I$26</c:f>
              <c:numCache>
                <c:formatCode>_-[$$-409]* #,##0_ ;_-[$$-409]* \-#,##0\ ;_-[$$-409]* "-"??_ ;_-@_ </c:formatCode>
                <c:ptCount val="8"/>
                <c:pt idx="0">
                  <c:v>268.14544370570002</c:v>
                </c:pt>
                <c:pt idx="1">
                  <c:v>273.83476495519898</c:v>
                </c:pt>
                <c:pt idx="2">
                  <c:v>277.64135702849899</c:v>
                </c:pt>
                <c:pt idx="3">
                  <c:v>281.53631454880002</c:v>
                </c:pt>
                <c:pt idx="4">
                  <c:v>287.12159280970002</c:v>
                </c:pt>
                <c:pt idx="5">
                  <c:v>292.70089998389898</c:v>
                </c:pt>
                <c:pt idx="6">
                  <c:v>297.36057165089898</c:v>
                </c:pt>
                <c:pt idx="7">
                  <c:v>299.03083001070002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8114-4025-8852-FF3719D86DC3}"/>
            </c:ext>
          </c:extLst>
        </c:ser>
        <c:ser>
          <c:idx val="25"/>
          <c:order val="25"/>
          <c:tx>
            <c:strRef>
              <c:f>'AWS BY SERVICE'!$A$27</c:f>
              <c:strCache>
                <c:ptCount val="1"/>
                <c:pt idx="0">
                  <c:v>EC2 - Network Load Balancer Usage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SERVICE'!$B$27:$I$27</c:f>
              <c:numCache>
                <c:formatCode>_-[$$-409]* #,##0_ ;_-[$$-409]* \-#,##0\ ;_-[$$-409]* "-"??_ ;_-@_ </c:formatCode>
                <c:ptCount val="8"/>
                <c:pt idx="0">
                  <c:v>234.64814331010001</c:v>
                </c:pt>
                <c:pt idx="1">
                  <c:v>232.32721110400001</c:v>
                </c:pt>
                <c:pt idx="2">
                  <c:v>219.6015386771</c:v>
                </c:pt>
                <c:pt idx="3">
                  <c:v>205.40973719260001</c:v>
                </c:pt>
                <c:pt idx="4">
                  <c:v>233.02134853039999</c:v>
                </c:pt>
                <c:pt idx="5">
                  <c:v>288.45766551399998</c:v>
                </c:pt>
                <c:pt idx="6">
                  <c:v>298.95439792420001</c:v>
                </c:pt>
                <c:pt idx="7">
                  <c:v>290.62368197609999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8114-4025-8852-FF3719D86DC3}"/>
            </c:ext>
          </c:extLst>
        </c:ser>
        <c:ser>
          <c:idx val="26"/>
          <c:order val="26"/>
          <c:tx>
            <c:strRef>
              <c:f>'AWS BY SERVICE'!$A$28</c:f>
              <c:strCache>
                <c:ptCount val="1"/>
                <c:pt idx="0">
                  <c:v>RDS - Multi-AZ PIOPs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SERVICE'!$B$28:$I$28</c:f>
              <c:numCache>
                <c:formatCode>_-[$$-409]* #,##0_ ;_-[$$-409]* \-#,##0\ ;_-[$$-409]* "-"??_ ;_-@_ </c:formatCode>
                <c:ptCount val="8"/>
                <c:pt idx="0">
                  <c:v>237.99999998640001</c:v>
                </c:pt>
                <c:pt idx="1">
                  <c:v>238.0000000224</c:v>
                </c:pt>
                <c:pt idx="2">
                  <c:v>237.99999998640001</c:v>
                </c:pt>
                <c:pt idx="3">
                  <c:v>238.000000032</c:v>
                </c:pt>
                <c:pt idx="4">
                  <c:v>237.99999998640001</c:v>
                </c:pt>
                <c:pt idx="5">
                  <c:v>238.000000032</c:v>
                </c:pt>
                <c:pt idx="6">
                  <c:v>237.99999998640001</c:v>
                </c:pt>
                <c:pt idx="7">
                  <c:v>237.99999998640001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8114-4025-8852-FF3719D86DC3}"/>
            </c:ext>
          </c:extLst>
        </c:ser>
        <c:ser>
          <c:idx val="27"/>
          <c:order val="27"/>
          <c:tx>
            <c:strRef>
              <c:f>'AWS BY SERVICE'!$A$29</c:f>
              <c:strCache>
                <c:ptCount val="1"/>
                <c:pt idx="0">
                  <c:v>FSx - Throughput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SERVICE'!$B$29:$I$29</c:f>
              <c:numCache>
                <c:formatCode>_-[$$-409]* #,##0_ ;_-[$$-409]* \-#,##0\ ;_-[$$-409]* "-"??_ ;_-@_ </c:formatCode>
                <c:ptCount val="8"/>
                <c:pt idx="0">
                  <c:v>235.84000006559901</c:v>
                </c:pt>
                <c:pt idx="1">
                  <c:v>235.83999989759999</c:v>
                </c:pt>
                <c:pt idx="2">
                  <c:v>235.84000006559901</c:v>
                </c:pt>
                <c:pt idx="3">
                  <c:v>235.83999974400001</c:v>
                </c:pt>
                <c:pt idx="4">
                  <c:v>235.84000006559901</c:v>
                </c:pt>
                <c:pt idx="5">
                  <c:v>235.83999974400001</c:v>
                </c:pt>
                <c:pt idx="6">
                  <c:v>545.646451793099</c:v>
                </c:pt>
                <c:pt idx="7">
                  <c:v>549.44000018159898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8114-4025-8852-FF3719D86DC3}"/>
            </c:ext>
          </c:extLst>
        </c:ser>
        <c:ser>
          <c:idx val="28"/>
          <c:order val="28"/>
          <c:tx>
            <c:strRef>
              <c:f>'AWS BY SERVICE'!$A$30</c:f>
              <c:strCache>
                <c:ptCount val="1"/>
                <c:pt idx="0">
                  <c:v>EKS - Cluster Hours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SERVICE'!$B$30:$I$30</c:f>
              <c:numCache>
                <c:formatCode>_-[$$-409]* #,##0_ ;_-[$$-409]* \-#,##0\ ;_-[$$-409]* "-"??_ ;_-@_ </c:formatCode>
                <c:ptCount val="8"/>
                <c:pt idx="0">
                  <c:v>238.36318688899999</c:v>
                </c:pt>
                <c:pt idx="1">
                  <c:v>268.8</c:v>
                </c:pt>
                <c:pt idx="2">
                  <c:v>451.28988930600002</c:v>
                </c:pt>
                <c:pt idx="3">
                  <c:v>680.73632971999996</c:v>
                </c:pt>
                <c:pt idx="4">
                  <c:v>223.2</c:v>
                </c:pt>
                <c:pt idx="5">
                  <c:v>216</c:v>
                </c:pt>
                <c:pt idx="6">
                  <c:v>259.2</c:v>
                </c:pt>
                <c:pt idx="7">
                  <c:v>239.40790722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8114-4025-8852-FF3719D86DC3}"/>
            </c:ext>
          </c:extLst>
        </c:ser>
        <c:ser>
          <c:idx val="29"/>
          <c:order val="29"/>
          <c:tx>
            <c:strRef>
              <c:f>'AWS BY SERVICE'!$A$31</c:f>
              <c:strCache>
                <c:ptCount val="1"/>
                <c:pt idx="0">
                  <c:v>all other services 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BY SERVICE'!$B$1:$I$1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BY SERVICE'!$B$31:$I$31</c:f>
              <c:numCache>
                <c:formatCode>_-[$$-409]* #,##0_ ;_-[$$-409]* \-#,##0\ ;_-[$$-409]* "-"??_ ;_-@_ </c:formatCode>
                <c:ptCount val="8"/>
                <c:pt idx="0">
                  <c:v>2747.6385416615994</c:v>
                </c:pt>
                <c:pt idx="1">
                  <c:v>4159.8989865381973</c:v>
                </c:pt>
                <c:pt idx="2">
                  <c:v>3465.5294833180769</c:v>
                </c:pt>
                <c:pt idx="3">
                  <c:v>2059.1241300060556</c:v>
                </c:pt>
                <c:pt idx="4">
                  <c:v>1846.0091108903005</c:v>
                </c:pt>
                <c:pt idx="5">
                  <c:v>1704.6250928259974</c:v>
                </c:pt>
                <c:pt idx="6">
                  <c:v>1276.2804026362719</c:v>
                </c:pt>
                <c:pt idx="7">
                  <c:v>2778.5154628046948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8114-4025-8852-FF3719D86D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61859583"/>
        <c:axId val="1661856223"/>
      </c:barChart>
      <c:dateAx>
        <c:axId val="1661859583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661856223"/>
        <c:crosses val="autoZero"/>
        <c:auto val="1"/>
        <c:lblOffset val="100"/>
        <c:baseTimeUnit val="months"/>
      </c:dateAx>
      <c:valAx>
        <c:axId val="1661856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6618595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8.3028083028083025E-2"/>
          <c:y val="0.63702903416142753"/>
          <c:w val="0.85864459250286007"/>
          <c:h val="0.324211275916091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2268692880642535E-2"/>
          <c:y val="4.6948356807511735E-2"/>
          <c:w val="0.89183747126590751"/>
          <c:h val="0.7320718551855799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'Harel IL'!$A$2</c:f>
              <c:strCache>
                <c:ptCount val="1"/>
                <c:pt idx="0">
                  <c:v>customers3-prod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'Harel 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IL'!$B$2:$I$2</c:f>
              <c:numCache>
                <c:formatCode>_-[$$-409]* #,##0_ ;_-[$$-409]* \-#,##0\ ;_-[$$-409]* "-"??_ ;_-@_ </c:formatCode>
                <c:ptCount val="8"/>
                <c:pt idx="0">
                  <c:v>886.844294528099</c:v>
                </c:pt>
                <c:pt idx="1">
                  <c:v>13482.3555716219</c:v>
                </c:pt>
                <c:pt idx="2">
                  <c:v>11082.355342266201</c:v>
                </c:pt>
                <c:pt idx="3">
                  <c:v>2357.5045381972</c:v>
                </c:pt>
                <c:pt idx="4">
                  <c:v>4222.21101219109</c:v>
                </c:pt>
                <c:pt idx="5">
                  <c:v>6507.55674369389</c:v>
                </c:pt>
                <c:pt idx="6">
                  <c:v>9065.7666479619893</c:v>
                </c:pt>
                <c:pt idx="7">
                  <c:v>13088.419226141599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9A-461B-A030-D8208071A114}"/>
            </c:ext>
          </c:extLst>
        </c:ser>
        <c:ser>
          <c:idx val="1"/>
          <c:order val="1"/>
          <c:tx>
            <c:strRef>
              <c:f>'Harel IL'!$A$3</c:f>
              <c:strCache>
                <c:ptCount val="1"/>
                <c:pt idx="0">
                  <c:v>cloudops-network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'Harel 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IL'!$B$3:$I$3</c:f>
              <c:numCache>
                <c:formatCode>_-[$$-409]* #,##0_ ;_-[$$-409]* \-#,##0\ ;_-[$$-409]* "-"??_ ;_-@_ </c:formatCode>
                <c:ptCount val="8"/>
                <c:pt idx="0">
                  <c:v>6243.5478403336001</c:v>
                </c:pt>
                <c:pt idx="1">
                  <c:v>5752.80605730569</c:v>
                </c:pt>
                <c:pt idx="2">
                  <c:v>7021.8415850509</c:v>
                </c:pt>
                <c:pt idx="3">
                  <c:v>6897.9100098567897</c:v>
                </c:pt>
                <c:pt idx="4">
                  <c:v>7152.2742916938996</c:v>
                </c:pt>
                <c:pt idx="5">
                  <c:v>7100.3708039073999</c:v>
                </c:pt>
                <c:pt idx="6">
                  <c:v>7373.1292328823001</c:v>
                </c:pt>
                <c:pt idx="7">
                  <c:v>7424.0813209955004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9A-461B-A030-D8208071A114}"/>
            </c:ext>
          </c:extLst>
        </c:ser>
        <c:ser>
          <c:idx val="2"/>
          <c:order val="2"/>
          <c:tx>
            <c:strRef>
              <c:f>'Harel IL'!$A$4</c:f>
              <c:strCache>
                <c:ptCount val="1"/>
                <c:pt idx="0">
                  <c:v>harel-org-02-root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'Harel 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IL'!$B$4:$I$4</c:f>
              <c:numCache>
                <c:formatCode>_-[$$-409]* #,##0_ ;_-[$$-409]* \-#,##0\ ;_-[$$-409]* "-"??_ ;_-@_ </c:formatCode>
                <c:ptCount val="8"/>
                <c:pt idx="0">
                  <c:v>735.24511258989901</c:v>
                </c:pt>
                <c:pt idx="1">
                  <c:v>1397.4729170863</c:v>
                </c:pt>
                <c:pt idx="2">
                  <c:v>4084.3537261859901</c:v>
                </c:pt>
                <c:pt idx="3">
                  <c:v>1072.2250350237</c:v>
                </c:pt>
                <c:pt idx="4">
                  <c:v>1196.8719090234999</c:v>
                </c:pt>
                <c:pt idx="5">
                  <c:v>1715.7810840638001</c:v>
                </c:pt>
                <c:pt idx="6">
                  <c:v>2450.5830134381999</c:v>
                </c:pt>
                <c:pt idx="7">
                  <c:v>3809.0475571996899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A9A-461B-A030-D8208071A114}"/>
            </c:ext>
          </c:extLst>
        </c:ser>
        <c:ser>
          <c:idx val="3"/>
          <c:order val="3"/>
          <c:tx>
            <c:strRef>
              <c:f>'Harel IL'!$A$5</c:f>
              <c:strCache>
                <c:ptCount val="1"/>
                <c:pt idx="0">
                  <c:v>horizon-prod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'Harel 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IL'!$B$5:$I$5</c:f>
              <c:numCache>
                <c:formatCode>_-[$$-409]* #,##0_ ;_-[$$-409]* \-#,##0\ ;_-[$$-409]* "-"??_ ;_-@_ </c:formatCode>
                <c:ptCount val="8"/>
                <c:pt idx="4">
                  <c:v>6.6352428966999897</c:v>
                </c:pt>
                <c:pt idx="5">
                  <c:v>980.70272756459997</c:v>
                </c:pt>
                <c:pt idx="6">
                  <c:v>2057.3689684758901</c:v>
                </c:pt>
                <c:pt idx="7">
                  <c:v>2385.5333392498001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A9A-461B-A030-D8208071A114}"/>
            </c:ext>
          </c:extLst>
        </c:ser>
        <c:ser>
          <c:idx val="4"/>
          <c:order val="4"/>
          <c:tx>
            <c:strRef>
              <c:f>'Harel IL'!$A$6</c:f>
              <c:strCache>
                <c:ptCount val="1"/>
                <c:pt idx="0">
                  <c:v>ai-factory-dev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'Harel 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IL'!$B$6:$I$6</c:f>
              <c:numCache>
                <c:formatCode>_-[$$-409]* #,##0_ ;_-[$$-409]* \-#,##0\ ;_-[$$-409]* "-"??_ ;_-@_ </c:formatCode>
                <c:ptCount val="8"/>
                <c:pt idx="1">
                  <c:v>5.27881630849999</c:v>
                </c:pt>
                <c:pt idx="2">
                  <c:v>52.3963612169999</c:v>
                </c:pt>
                <c:pt idx="3">
                  <c:v>77.361327875699899</c:v>
                </c:pt>
                <c:pt idx="4">
                  <c:v>181.800292855099</c:v>
                </c:pt>
                <c:pt idx="5">
                  <c:v>482.6089095337</c:v>
                </c:pt>
                <c:pt idx="6">
                  <c:v>-15320.382249513401</c:v>
                </c:pt>
                <c:pt idx="7">
                  <c:v>1597.0371181731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A9A-461B-A030-D8208071A114}"/>
            </c:ext>
          </c:extLst>
        </c:ser>
        <c:ser>
          <c:idx val="5"/>
          <c:order val="5"/>
          <c:tx>
            <c:strRef>
              <c:f>'Harel IL'!$A$7</c:f>
              <c:strCache>
                <c:ptCount val="1"/>
                <c:pt idx="0">
                  <c:v>Prod-Account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'Harel 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IL'!$B$7:$I$7</c:f>
              <c:numCache>
                <c:formatCode>_-[$$-409]* #,##0_ ;_-[$$-409]* \-#,##0\ ;_-[$$-409]* "-"??_ ;_-@_ </c:formatCode>
                <c:ptCount val="8"/>
                <c:pt idx="1">
                  <c:v>126.058142468299</c:v>
                </c:pt>
                <c:pt idx="2">
                  <c:v>195.93939064059899</c:v>
                </c:pt>
                <c:pt idx="3">
                  <c:v>195.86302581619901</c:v>
                </c:pt>
                <c:pt idx="4">
                  <c:v>199.97354301799899</c:v>
                </c:pt>
                <c:pt idx="5">
                  <c:v>194.67275548499899</c:v>
                </c:pt>
                <c:pt idx="6">
                  <c:v>199.63699502599999</c:v>
                </c:pt>
                <c:pt idx="7">
                  <c:v>187.1307841974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A9A-461B-A030-D8208071A114}"/>
            </c:ext>
          </c:extLst>
        </c:ser>
        <c:ser>
          <c:idx val="6"/>
          <c:order val="6"/>
          <c:tx>
            <c:strRef>
              <c:f>'Harel IL'!$A$8</c:f>
              <c:strCache>
                <c:ptCount val="1"/>
                <c:pt idx="0">
                  <c:v>cloudops-log-archive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IL'!$B$8:$I$8</c:f>
              <c:numCache>
                <c:formatCode>_-[$$-409]* #,##0_ ;_-[$$-409]* \-#,##0\ ;_-[$$-409]* "-"??_ ;_-@_ </c:formatCode>
                <c:ptCount val="8"/>
                <c:pt idx="0">
                  <c:v>160.74005458650001</c:v>
                </c:pt>
                <c:pt idx="1">
                  <c:v>138.255846863599</c:v>
                </c:pt>
                <c:pt idx="2">
                  <c:v>285.25580696240002</c:v>
                </c:pt>
                <c:pt idx="3">
                  <c:v>397.17532229269898</c:v>
                </c:pt>
                <c:pt idx="4">
                  <c:v>149.00601361650001</c:v>
                </c:pt>
                <c:pt idx="5">
                  <c:v>154.5076114988</c:v>
                </c:pt>
                <c:pt idx="6">
                  <c:v>170.10143398330001</c:v>
                </c:pt>
                <c:pt idx="7">
                  <c:v>158.42556231890001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A9A-461B-A030-D8208071A114}"/>
            </c:ext>
          </c:extLst>
        </c:ser>
        <c:ser>
          <c:idx val="7"/>
          <c:order val="7"/>
          <c:tx>
            <c:strRef>
              <c:f>'Harel IL'!$A$9</c:f>
              <c:strCache>
                <c:ptCount val="1"/>
                <c:pt idx="0">
                  <c:v>backup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IL'!$B$9:$I$9</c:f>
              <c:numCache>
                <c:formatCode>_-[$$-409]* #,##0_ ;_-[$$-409]* \-#,##0\ ;_-[$$-409]* "-"??_ ;_-@_ </c:formatCode>
                <c:ptCount val="8"/>
                <c:pt idx="0">
                  <c:v>69.435140986399901</c:v>
                </c:pt>
                <c:pt idx="1">
                  <c:v>82.299894938700007</c:v>
                </c:pt>
                <c:pt idx="2">
                  <c:v>88.041859952699994</c:v>
                </c:pt>
                <c:pt idx="3">
                  <c:v>92.002619156700007</c:v>
                </c:pt>
                <c:pt idx="4">
                  <c:v>94.628148590999999</c:v>
                </c:pt>
                <c:pt idx="5">
                  <c:v>97.855190021499993</c:v>
                </c:pt>
                <c:pt idx="6">
                  <c:v>104.753645044799</c:v>
                </c:pt>
                <c:pt idx="7">
                  <c:v>95.790694235099906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A9A-461B-A030-D8208071A114}"/>
            </c:ext>
          </c:extLst>
        </c:ser>
        <c:ser>
          <c:idx val="8"/>
          <c:order val="8"/>
          <c:tx>
            <c:strRef>
              <c:f>'Harel IL'!$A$10</c:f>
              <c:strCache>
                <c:ptCount val="1"/>
                <c:pt idx="0">
                  <c:v>digital-devtest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IL'!$B$10:$I$10</c:f>
              <c:numCache>
                <c:formatCode>_-[$$-409]* #,##0_ ;_-[$$-409]* \-#,##0\ ;_-[$$-409]* "-"??_ ;_-@_ </c:formatCode>
                <c:ptCount val="8"/>
                <c:pt idx="0">
                  <c:v>98.797307068899897</c:v>
                </c:pt>
                <c:pt idx="1">
                  <c:v>92.920110727999898</c:v>
                </c:pt>
                <c:pt idx="2">
                  <c:v>98.915391082899902</c:v>
                </c:pt>
                <c:pt idx="3">
                  <c:v>97.456318948299995</c:v>
                </c:pt>
                <c:pt idx="4">
                  <c:v>97.851747589699997</c:v>
                </c:pt>
                <c:pt idx="5">
                  <c:v>100.0005748499</c:v>
                </c:pt>
                <c:pt idx="6">
                  <c:v>102.3830107409</c:v>
                </c:pt>
                <c:pt idx="7">
                  <c:v>88.192909132899999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A9A-461B-A030-D8208071A114}"/>
            </c:ext>
          </c:extLst>
        </c:ser>
        <c:ser>
          <c:idx val="9"/>
          <c:order val="9"/>
          <c:tx>
            <c:strRef>
              <c:f>'Harel IL'!$A$11</c:f>
              <c:strCache>
                <c:ptCount val="1"/>
                <c:pt idx="0">
                  <c:v>cloudops-audit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IL'!$B$11:$I$11</c:f>
              <c:numCache>
                <c:formatCode>_-[$$-409]* #,##0_ ;_-[$$-409]* \-#,##0\ ;_-[$$-409]* "-"??_ ;_-@_ </c:formatCode>
                <c:ptCount val="8"/>
                <c:pt idx="0">
                  <c:v>57.110349129999904</c:v>
                </c:pt>
                <c:pt idx="1">
                  <c:v>54.8957631861999</c:v>
                </c:pt>
                <c:pt idx="2">
                  <c:v>56.760272021399999</c:v>
                </c:pt>
                <c:pt idx="3">
                  <c:v>55.356576452499901</c:v>
                </c:pt>
                <c:pt idx="4">
                  <c:v>53.2382015341</c:v>
                </c:pt>
                <c:pt idx="5">
                  <c:v>55.346037918699999</c:v>
                </c:pt>
                <c:pt idx="6">
                  <c:v>68.362248184600006</c:v>
                </c:pt>
                <c:pt idx="7">
                  <c:v>62.380231737000003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7A9A-461B-A030-D8208071A114}"/>
            </c:ext>
          </c:extLst>
        </c:ser>
        <c:ser>
          <c:idx val="10"/>
          <c:order val="10"/>
          <c:tx>
            <c:strRef>
              <c:f>'Harel IL'!$A$12</c:f>
              <c:strCache>
                <c:ptCount val="1"/>
                <c:pt idx="0">
                  <c:v>cloudops-delegated-mgmt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IL'!$B$12:$I$12</c:f>
              <c:numCache>
                <c:formatCode>_-[$$-409]* #,##0_ ;_-[$$-409]* \-#,##0\ ;_-[$$-409]* "-"??_ ;_-@_ </c:formatCode>
                <c:ptCount val="8"/>
                <c:pt idx="0">
                  <c:v>48.077126198599998</c:v>
                </c:pt>
                <c:pt idx="1">
                  <c:v>44.234441606700003</c:v>
                </c:pt>
                <c:pt idx="2">
                  <c:v>45.7048185413</c:v>
                </c:pt>
                <c:pt idx="3">
                  <c:v>44.582606232700002</c:v>
                </c:pt>
                <c:pt idx="4">
                  <c:v>43.744018996999998</c:v>
                </c:pt>
                <c:pt idx="5">
                  <c:v>43.165088876999903</c:v>
                </c:pt>
                <c:pt idx="6">
                  <c:v>53.061749026299999</c:v>
                </c:pt>
                <c:pt idx="7">
                  <c:v>47.979733282600002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A9A-461B-A030-D8208071A114}"/>
            </c:ext>
          </c:extLst>
        </c:ser>
        <c:ser>
          <c:idx val="11"/>
          <c:order val="11"/>
          <c:tx>
            <c:strRef>
              <c:f>'Harel IL'!$A$13</c:f>
              <c:strCache>
                <c:ptCount val="1"/>
                <c:pt idx="0">
                  <c:v>cloudops-shared-services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IL'!$B$13:$I$13</c:f>
              <c:numCache>
                <c:formatCode>_-[$$-409]* #,##0_ ;_-[$$-409]* \-#,##0\ ;_-[$$-409]* "-"??_ ;_-@_ </c:formatCode>
                <c:ptCount val="8"/>
                <c:pt idx="0">
                  <c:v>44.0166630615999</c:v>
                </c:pt>
                <c:pt idx="1">
                  <c:v>42.487230447800002</c:v>
                </c:pt>
                <c:pt idx="2">
                  <c:v>43.803726423599898</c:v>
                </c:pt>
                <c:pt idx="3">
                  <c:v>43.476676951099897</c:v>
                </c:pt>
                <c:pt idx="4">
                  <c:v>42.231441805199999</c:v>
                </c:pt>
                <c:pt idx="5">
                  <c:v>41.331175194699902</c:v>
                </c:pt>
                <c:pt idx="6">
                  <c:v>50.706055891499901</c:v>
                </c:pt>
                <c:pt idx="7">
                  <c:v>46.7803788241999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7A9A-461B-A030-D8208071A114}"/>
            </c:ext>
          </c:extLst>
        </c:ser>
        <c:ser>
          <c:idx val="12"/>
          <c:order val="12"/>
          <c:tx>
            <c:strRef>
              <c:f>'Harel IL'!$A$14</c:f>
              <c:strCache>
                <c:ptCount val="1"/>
                <c:pt idx="0">
                  <c:v>test-shared-account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IL'!$B$14:$I$14</c:f>
              <c:numCache>
                <c:formatCode>_-[$$-409]* #,##0_ ;_-[$$-409]* \-#,##0\ ;_-[$$-409]* "-"??_ ;_-@_ </c:formatCode>
                <c:ptCount val="8"/>
                <c:pt idx="0">
                  <c:v>72.927271488299994</c:v>
                </c:pt>
                <c:pt idx="1">
                  <c:v>45.8687460858999</c:v>
                </c:pt>
                <c:pt idx="2">
                  <c:v>46.752474439699903</c:v>
                </c:pt>
                <c:pt idx="3">
                  <c:v>45.292960305799902</c:v>
                </c:pt>
                <c:pt idx="4">
                  <c:v>45.089620875199898</c:v>
                </c:pt>
                <c:pt idx="5">
                  <c:v>44.5724214447999</c:v>
                </c:pt>
                <c:pt idx="6">
                  <c:v>44.667553828899997</c:v>
                </c:pt>
                <c:pt idx="7">
                  <c:v>46.067573959599997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A9A-461B-A030-D8208071A114}"/>
            </c:ext>
          </c:extLst>
        </c:ser>
        <c:ser>
          <c:idx val="13"/>
          <c:order val="13"/>
          <c:tx>
            <c:strRef>
              <c:f>'Harel IL'!$A$15</c:f>
              <c:strCache>
                <c:ptCount val="1"/>
                <c:pt idx="0">
                  <c:v>digital-production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IL'!$B$15:$I$15</c:f>
              <c:numCache>
                <c:formatCode>_-[$$-409]* #,##0_ ;_-[$$-409]* \-#,##0\ ;_-[$$-409]* "-"??_ ;_-@_ </c:formatCode>
                <c:ptCount val="8"/>
                <c:pt idx="0">
                  <c:v>45.066986655900003</c:v>
                </c:pt>
                <c:pt idx="1">
                  <c:v>43.504171952499902</c:v>
                </c:pt>
                <c:pt idx="2">
                  <c:v>44.568460272599999</c:v>
                </c:pt>
                <c:pt idx="3">
                  <c:v>43.522422301699997</c:v>
                </c:pt>
                <c:pt idx="4">
                  <c:v>42.8300137584</c:v>
                </c:pt>
                <c:pt idx="5">
                  <c:v>42.204397561100002</c:v>
                </c:pt>
                <c:pt idx="6">
                  <c:v>42.622192806199998</c:v>
                </c:pt>
                <c:pt idx="7">
                  <c:v>30.032661411900001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7A9A-461B-A030-D8208071A114}"/>
            </c:ext>
          </c:extLst>
        </c:ser>
        <c:ser>
          <c:idx val="14"/>
          <c:order val="14"/>
          <c:tx>
            <c:strRef>
              <c:f>'Harel IL'!$A$16</c:f>
              <c:strCache>
                <c:ptCount val="1"/>
                <c:pt idx="0">
                  <c:v>digital-preprod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IL'!$B$16:$I$16</c:f>
              <c:numCache>
                <c:formatCode>_-[$$-409]* #,##0_ ;_-[$$-409]* \-#,##0\ ;_-[$$-409]* "-"??_ ;_-@_ </c:formatCode>
                <c:ptCount val="8"/>
                <c:pt idx="0">
                  <c:v>43.799261608000002</c:v>
                </c:pt>
                <c:pt idx="1">
                  <c:v>42.2895812537</c:v>
                </c:pt>
                <c:pt idx="2">
                  <c:v>43.7884380214999</c:v>
                </c:pt>
                <c:pt idx="3">
                  <c:v>43.546422216699902</c:v>
                </c:pt>
                <c:pt idx="4">
                  <c:v>41.896505060099997</c:v>
                </c:pt>
                <c:pt idx="5">
                  <c:v>41.300687884600002</c:v>
                </c:pt>
                <c:pt idx="6">
                  <c:v>42.272294376799998</c:v>
                </c:pt>
                <c:pt idx="7">
                  <c:v>28.586644647699998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A9A-461B-A030-D8208071A114}"/>
            </c:ext>
          </c:extLst>
        </c:ser>
        <c:ser>
          <c:idx val="15"/>
          <c:order val="15"/>
          <c:tx>
            <c:strRef>
              <c:f>'Harel IL'!$A$17</c:f>
              <c:strCache>
                <c:ptCount val="1"/>
                <c:pt idx="0">
                  <c:v>ai-factory-prod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IL'!$B$17:$I$17</c:f>
              <c:numCache>
                <c:formatCode>_-[$$-409]* #,##0_ ;_-[$$-409]* \-#,##0\ ;_-[$$-409]* "-"??_ ;_-@_ </c:formatCode>
                <c:ptCount val="8"/>
                <c:pt idx="1">
                  <c:v>5.3095910013999896</c:v>
                </c:pt>
                <c:pt idx="2">
                  <c:v>27.3474762295</c:v>
                </c:pt>
                <c:pt idx="3">
                  <c:v>39.277107515600001</c:v>
                </c:pt>
                <c:pt idx="4">
                  <c:v>38.762542735499999</c:v>
                </c:pt>
                <c:pt idx="5">
                  <c:v>38.146890667100003</c:v>
                </c:pt>
                <c:pt idx="6">
                  <c:v>38.351182129999899</c:v>
                </c:pt>
                <c:pt idx="7">
                  <c:v>25.650395886199899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7A9A-461B-A030-D8208071A114}"/>
            </c:ext>
          </c:extLst>
        </c:ser>
        <c:ser>
          <c:idx val="16"/>
          <c:order val="16"/>
          <c:tx>
            <c:strRef>
              <c:f>'Harel IL'!$A$18</c:f>
              <c:strCache>
                <c:ptCount val="1"/>
                <c:pt idx="0">
                  <c:v>harel-commit-sandbox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IL'!$B$18:$I$18</c:f>
              <c:numCache>
                <c:formatCode>_-[$$-409]* #,##0_ ;_-[$$-409]* \-#,##0\ ;_-[$$-409]* "-"??_ ;_-@_ </c:formatCode>
                <c:ptCount val="8"/>
                <c:pt idx="0">
                  <c:v>824.74531231089998</c:v>
                </c:pt>
                <c:pt idx="1">
                  <c:v>748.7283760752</c:v>
                </c:pt>
                <c:pt idx="2">
                  <c:v>594.45432155959998</c:v>
                </c:pt>
                <c:pt idx="3">
                  <c:v>0.73317754609999897</c:v>
                </c:pt>
                <c:pt idx="4">
                  <c:v>0.69510066299999995</c:v>
                </c:pt>
                <c:pt idx="5">
                  <c:v>0.67617009779999904</c:v>
                </c:pt>
                <c:pt idx="6">
                  <c:v>0.63647803879999998</c:v>
                </c:pt>
                <c:pt idx="7">
                  <c:v>0.68895517269999895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7A9A-461B-A030-D8208071A114}"/>
            </c:ext>
          </c:extLst>
        </c:ser>
        <c:ser>
          <c:idx val="17"/>
          <c:order val="17"/>
          <c:tx>
            <c:strRef>
              <c:f>'Harel IL'!$A$19</c:f>
              <c:strCache>
                <c:ptCount val="1"/>
                <c:pt idx="0">
                  <c:v>harel-digital-lab</c:v>
                </c:pt>
              </c:strCache>
            </c:strRef>
          </c:tx>
          <c:spPr>
            <a:solidFill>
              <a:schemeClr val="accent6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IL'!$B$19:$I$19</c:f>
              <c:numCache>
                <c:formatCode>_-[$$-409]* #,##0_ ;_-[$$-409]* \-#,##0\ ;_-[$$-409]* "-"??_ ;_-@_ </c:formatCode>
                <c:ptCount val="8"/>
                <c:pt idx="0">
                  <c:v>245.0692231173</c:v>
                </c:pt>
                <c:pt idx="1">
                  <c:v>541.29306013399901</c:v>
                </c:pt>
                <c:pt idx="2">
                  <c:v>2834.5055978160999</c:v>
                </c:pt>
                <c:pt idx="3">
                  <c:v>-180.545585506099</c:v>
                </c:pt>
                <c:pt idx="4">
                  <c:v>-174.62051981299999</c:v>
                </c:pt>
                <c:pt idx="5">
                  <c:v>-168.84845114909999</c:v>
                </c:pt>
                <c:pt idx="6">
                  <c:v>-168.48721244710001</c:v>
                </c:pt>
                <c:pt idx="7">
                  <c:v>-162.65849678779901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7A9A-461B-A030-D8208071A1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85558768"/>
        <c:axId val="1785560208"/>
      </c:barChart>
      <c:dateAx>
        <c:axId val="1785558768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785560208"/>
        <c:crosses val="autoZero"/>
        <c:auto val="1"/>
        <c:lblOffset val="100"/>
        <c:baseTimeUnit val="months"/>
      </c:dateAx>
      <c:valAx>
        <c:axId val="1785560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785558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178336300828892"/>
          <c:y val="0.79683857197660846"/>
          <c:w val="0.80636769524626206"/>
          <c:h val="0.166051088274159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112538312945783"/>
          <c:y val="0.14212618977747679"/>
          <c:w val="0.90024139164890082"/>
          <c:h val="0.4960297697254263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'Harel IL'!$A$25</c:f>
              <c:strCache>
                <c:ptCount val="1"/>
                <c:pt idx="0">
                  <c:v>S3 - Glacier Deep Archive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'Harel IL'!$B$24:$I$24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IL'!$B$25:$I$25</c:f>
              <c:numCache>
                <c:formatCode>_-[$$-409]* #,##0_ ;_-[$$-409]* \-#,##0\ ;_-[$$-409]* "-"??_ ;_-@_ </c:formatCode>
                <c:ptCount val="8"/>
                <c:pt idx="1">
                  <c:v>10.2462622012</c:v>
                </c:pt>
                <c:pt idx="2">
                  <c:v>942.32533596459996</c:v>
                </c:pt>
                <c:pt idx="3">
                  <c:v>1640.2881022731999</c:v>
                </c:pt>
                <c:pt idx="4">
                  <c:v>3099.6539429253999</c:v>
                </c:pt>
                <c:pt idx="5">
                  <c:v>5289.0602849856996</c:v>
                </c:pt>
                <c:pt idx="6">
                  <c:v>7425.0098003551902</c:v>
                </c:pt>
                <c:pt idx="7">
                  <c:v>10586.0399579149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5D-42D0-889D-F6561663048A}"/>
            </c:ext>
          </c:extLst>
        </c:ser>
        <c:ser>
          <c:idx val="1"/>
          <c:order val="1"/>
          <c:tx>
            <c:strRef>
              <c:f>'Harel IL'!$A$26</c:f>
              <c:strCache>
                <c:ptCount val="1"/>
                <c:pt idx="0">
                  <c:v>Business Support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'Harel IL'!$B$24:$I$24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IL'!$B$26:$I$26</c:f>
              <c:numCache>
                <c:formatCode>_-[$$-409]* #,##0_ ;_-[$$-409]* \-#,##0\ ;_-[$$-409]* "-"??_ ;_-@_ </c:formatCode>
                <c:ptCount val="8"/>
                <c:pt idx="0">
                  <c:v>626.42947294999999</c:v>
                </c:pt>
                <c:pt idx="1">
                  <c:v>1282.2165099314</c:v>
                </c:pt>
                <c:pt idx="2">
                  <c:v>1254.0061426669999</c:v>
                </c:pt>
                <c:pt idx="3">
                  <c:v>818.19348865569998</c:v>
                </c:pt>
                <c:pt idx="4">
                  <c:v>1014.33631599569</c:v>
                </c:pt>
                <c:pt idx="5">
                  <c:v>1515.3899423509999</c:v>
                </c:pt>
                <c:pt idx="6">
                  <c:v>2450.9804201883999</c:v>
                </c:pt>
                <c:pt idx="7">
                  <c:v>3650.6872827186999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5D-42D0-889D-F6561663048A}"/>
            </c:ext>
          </c:extLst>
        </c:ser>
        <c:ser>
          <c:idx val="2"/>
          <c:order val="2"/>
          <c:tx>
            <c:strRef>
              <c:f>'Harel IL'!$A$27</c:f>
              <c:strCache>
                <c:ptCount val="1"/>
                <c:pt idx="0">
                  <c:v>Direct Connect - Port Hours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'Harel IL'!$B$24:$I$24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IL'!$B$27:$I$27</c:f>
              <c:numCache>
                <c:formatCode>_-[$$-409]* #,##0_ ;_-[$$-409]* \-#,##0\ ;_-[$$-409]* "-"??_ ;_-@_ </c:formatCode>
                <c:ptCount val="8"/>
                <c:pt idx="0">
                  <c:v>3348</c:v>
                </c:pt>
                <c:pt idx="1">
                  <c:v>3024</c:v>
                </c:pt>
                <c:pt idx="2">
                  <c:v>3348</c:v>
                </c:pt>
                <c:pt idx="3">
                  <c:v>3240</c:v>
                </c:pt>
                <c:pt idx="4">
                  <c:v>3348</c:v>
                </c:pt>
                <c:pt idx="5">
                  <c:v>3240</c:v>
                </c:pt>
                <c:pt idx="6">
                  <c:v>3348</c:v>
                </c:pt>
                <c:pt idx="7">
                  <c:v>3348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75D-42D0-889D-F6561663048A}"/>
            </c:ext>
          </c:extLst>
        </c:ser>
        <c:ser>
          <c:idx val="3"/>
          <c:order val="3"/>
          <c:tx>
            <c:strRef>
              <c:f>'Harel IL'!$A$28</c:f>
              <c:strCache>
                <c:ptCount val="1"/>
                <c:pt idx="0">
                  <c:v>S3 - API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'Harel IL'!$B$24:$I$24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IL'!$B$28:$I$28</c:f>
              <c:numCache>
                <c:formatCode>_-[$$-409]* #,##0_ ;_-[$$-409]* \-#,##0\ ;_-[$$-409]* "-"??_ ;_-@_ </c:formatCode>
                <c:ptCount val="8"/>
                <c:pt idx="0">
                  <c:v>74.769949710399999</c:v>
                </c:pt>
                <c:pt idx="1">
                  <c:v>926.06293220449902</c:v>
                </c:pt>
                <c:pt idx="2">
                  <c:v>4825.4419648292996</c:v>
                </c:pt>
                <c:pt idx="3">
                  <c:v>78.782589246099903</c:v>
                </c:pt>
                <c:pt idx="4">
                  <c:v>452.39348968709902</c:v>
                </c:pt>
                <c:pt idx="5">
                  <c:v>580.82907790209902</c:v>
                </c:pt>
                <c:pt idx="6">
                  <c:v>1114.2071188540999</c:v>
                </c:pt>
                <c:pt idx="7">
                  <c:v>2347.7875976472001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75D-42D0-889D-F6561663048A}"/>
            </c:ext>
          </c:extLst>
        </c:ser>
        <c:ser>
          <c:idx val="4"/>
          <c:order val="4"/>
          <c:tx>
            <c:strRef>
              <c:f>'Harel IL'!$A$29</c:f>
              <c:strCache>
                <c:ptCount val="1"/>
                <c:pt idx="0">
                  <c:v>EC2 - Compute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'Harel IL'!$B$24:$I$24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IL'!$B$29:$I$29</c:f>
              <c:numCache>
                <c:formatCode>_-[$$-409]* #,##0_ ;_-[$$-409]* \-#,##0\ ;_-[$$-409]* "-"??_ ;_-@_ </c:formatCode>
                <c:ptCount val="8"/>
                <c:pt idx="0">
                  <c:v>961.14494576480001</c:v>
                </c:pt>
                <c:pt idx="1">
                  <c:v>1066.0304729082</c:v>
                </c:pt>
                <c:pt idx="2">
                  <c:v>1105.8561581119</c:v>
                </c:pt>
                <c:pt idx="3">
                  <c:v>1049.6398749750001</c:v>
                </c:pt>
                <c:pt idx="4">
                  <c:v>1084.6170625499999</c:v>
                </c:pt>
                <c:pt idx="5">
                  <c:v>1351.5827773020001</c:v>
                </c:pt>
                <c:pt idx="6">
                  <c:v>1548.7618299503999</c:v>
                </c:pt>
                <c:pt idx="7">
                  <c:v>1773.9924945866001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75D-42D0-889D-F6561663048A}"/>
            </c:ext>
          </c:extLst>
        </c:ser>
        <c:ser>
          <c:idx val="5"/>
          <c:order val="5"/>
          <c:tx>
            <c:strRef>
              <c:f>'Harel IL'!$A$30</c:f>
              <c:strCache>
                <c:ptCount val="1"/>
                <c:pt idx="0">
                  <c:v>Virtual Private Cloud - VPC Endpoint Usage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'Harel IL'!$B$24:$I$24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IL'!$B$30:$I$30</c:f>
              <c:numCache>
                <c:formatCode>_-[$$-409]* #,##0_ ;_-[$$-409]* \-#,##0\ ;_-[$$-409]* "-"??_ ;_-@_ </c:formatCode>
                <c:ptCount val="8"/>
                <c:pt idx="0">
                  <c:v>647.38519506529997</c:v>
                </c:pt>
                <c:pt idx="1">
                  <c:v>619.09187192779905</c:v>
                </c:pt>
                <c:pt idx="2">
                  <c:v>923.1354106842</c:v>
                </c:pt>
                <c:pt idx="3">
                  <c:v>909.16652324739903</c:v>
                </c:pt>
                <c:pt idx="4">
                  <c:v>939.70670847250005</c:v>
                </c:pt>
                <c:pt idx="5">
                  <c:v>917.31365920169901</c:v>
                </c:pt>
                <c:pt idx="6">
                  <c:v>969.89917412540001</c:v>
                </c:pt>
                <c:pt idx="7">
                  <c:v>993.34551556500003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75D-42D0-889D-F6561663048A}"/>
            </c:ext>
          </c:extLst>
        </c:ser>
        <c:ser>
          <c:idx val="6"/>
          <c:order val="6"/>
          <c:tx>
            <c:strRef>
              <c:f>'Harel IL'!$A$31</c:f>
              <c:strCache>
                <c:ptCount val="1"/>
                <c:pt idx="0">
                  <c:v>RDS - Compute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IL'!$B$24:$I$24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IL'!$B$31:$I$31</c:f>
              <c:numCache>
                <c:formatCode>_-[$$-409]* #,##0_ ;_-[$$-409]* \-#,##0\ ;_-[$$-409]* "-"??_ ;_-@_ </c:formatCode>
                <c:ptCount val="8"/>
                <c:pt idx="0">
                  <c:v>56.805759539999997</c:v>
                </c:pt>
                <c:pt idx="1">
                  <c:v>32.256</c:v>
                </c:pt>
                <c:pt idx="2">
                  <c:v>35.712000000000003</c:v>
                </c:pt>
                <c:pt idx="3">
                  <c:v>34.56</c:v>
                </c:pt>
                <c:pt idx="4">
                  <c:v>35.712000000000003</c:v>
                </c:pt>
                <c:pt idx="5">
                  <c:v>637.88836529000002</c:v>
                </c:pt>
                <c:pt idx="6">
                  <c:v>868.99199999999996</c:v>
                </c:pt>
                <c:pt idx="7">
                  <c:v>868.99199999999996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75D-42D0-889D-F6561663048A}"/>
            </c:ext>
          </c:extLst>
        </c:ser>
        <c:ser>
          <c:idx val="7"/>
          <c:order val="7"/>
          <c:tx>
            <c:strRef>
              <c:f>'Harel IL'!$A$32</c:f>
              <c:strCache>
                <c:ptCount val="1"/>
                <c:pt idx="0">
                  <c:v>Virtual Private Cloud - Transit Gateway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IL'!$B$24:$I$24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IL'!$B$32:$I$32</c:f>
              <c:numCache>
                <c:formatCode>_-[$$-409]* #,##0_ ;_-[$$-409]* \-#,##0\ ;_-[$$-409]* "-"??_ ;_-@_ </c:formatCode>
                <c:ptCount val="8"/>
                <c:pt idx="0">
                  <c:v>291.21647817979999</c:v>
                </c:pt>
                <c:pt idx="1">
                  <c:v>298.29716479870001</c:v>
                </c:pt>
                <c:pt idx="2">
                  <c:v>534.80541831139999</c:v>
                </c:pt>
                <c:pt idx="3">
                  <c:v>532.395729469</c:v>
                </c:pt>
                <c:pt idx="4">
                  <c:v>555.70214755220002</c:v>
                </c:pt>
                <c:pt idx="5">
                  <c:v>573.65796573429998</c:v>
                </c:pt>
                <c:pt idx="6">
                  <c:v>599.4596099291</c:v>
                </c:pt>
                <c:pt idx="7">
                  <c:v>598.25657662460003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75D-42D0-889D-F6561663048A}"/>
            </c:ext>
          </c:extLst>
        </c:ser>
        <c:ser>
          <c:idx val="8"/>
          <c:order val="8"/>
          <c:tx>
            <c:strRef>
              <c:f>'Harel IL'!$A$33</c:f>
              <c:strCache>
                <c:ptCount val="1"/>
                <c:pt idx="0">
                  <c:v>AWS Key Management Service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IL'!$B$24:$I$24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IL'!$B$33:$I$33</c:f>
              <c:numCache>
                <c:formatCode>_-[$$-409]* #,##0_ ;_-[$$-409]* \-#,##0\ ;_-[$$-409]* "-"??_ ;_-@_ </c:formatCode>
                <c:ptCount val="8"/>
                <c:pt idx="0">
                  <c:v>373.66338825000003</c:v>
                </c:pt>
                <c:pt idx="1">
                  <c:v>392.36974419929999</c:v>
                </c:pt>
                <c:pt idx="2">
                  <c:v>509.07182504399998</c:v>
                </c:pt>
                <c:pt idx="3">
                  <c:v>559.55846649979901</c:v>
                </c:pt>
                <c:pt idx="4">
                  <c:v>438.586577575999</c:v>
                </c:pt>
                <c:pt idx="5">
                  <c:v>467.07644310919898</c:v>
                </c:pt>
                <c:pt idx="6">
                  <c:v>479.09564638799901</c:v>
                </c:pt>
                <c:pt idx="7">
                  <c:v>596.53287763200001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75D-42D0-889D-F6561663048A}"/>
            </c:ext>
          </c:extLst>
        </c:ser>
        <c:ser>
          <c:idx val="9"/>
          <c:order val="9"/>
          <c:tx>
            <c:strRef>
              <c:f>'Harel IL'!$A$34</c:f>
              <c:strCache>
                <c:ptCount val="1"/>
                <c:pt idx="0">
                  <c:v>Route 53 - Resolver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IL'!$B$24:$I$24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IL'!$B$34:$I$34</c:f>
              <c:numCache>
                <c:formatCode>_-[$$-409]* #,##0_ ;_-[$$-409]* \-#,##0\ ;_-[$$-409]* "-"??_ ;_-@_ </c:formatCode>
                <c:ptCount val="8"/>
                <c:pt idx="0">
                  <c:v>371.97282080150001</c:v>
                </c:pt>
                <c:pt idx="1">
                  <c:v>335.98655975759999</c:v>
                </c:pt>
                <c:pt idx="2">
                  <c:v>541.95232819529997</c:v>
                </c:pt>
                <c:pt idx="3">
                  <c:v>539.98053607639997</c:v>
                </c:pt>
                <c:pt idx="4">
                  <c:v>557.96727479419997</c:v>
                </c:pt>
                <c:pt idx="5">
                  <c:v>539.99813857629999</c:v>
                </c:pt>
                <c:pt idx="6">
                  <c:v>557.94691836769903</c:v>
                </c:pt>
                <c:pt idx="7">
                  <c:v>557.97851111269995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75D-42D0-889D-F6561663048A}"/>
            </c:ext>
          </c:extLst>
        </c:ser>
        <c:ser>
          <c:idx val="10"/>
          <c:order val="10"/>
          <c:tx>
            <c:strRef>
              <c:f>'Harel IL'!$A$35</c:f>
              <c:strCache>
                <c:ptCount val="1"/>
                <c:pt idx="0">
                  <c:v>Other services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IL'!$B$24:$I$24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IL'!$B$35:$I$35</c:f>
              <c:numCache>
                <c:formatCode>_-[$$-409]* #,##0_ ;_-[$$-409]* \-#,##0\ ;_-[$$-409]* "-"??_ ;_-@_ </c:formatCode>
                <c:ptCount val="8"/>
                <c:pt idx="0">
                  <c:v>2824.0339334021974</c:v>
                </c:pt>
                <c:pt idx="1">
                  <c:v>14659.500801135686</c:v>
                </c:pt>
                <c:pt idx="2">
                  <c:v>12626.478464876294</c:v>
                </c:pt>
                <c:pt idx="3">
                  <c:v>1920.1752507407873</c:v>
                </c:pt>
                <c:pt idx="4">
                  <c:v>1908.4436075379008</c:v>
                </c:pt>
                <c:pt idx="5">
                  <c:v>2359.1541646629903</c:v>
                </c:pt>
                <c:pt idx="6">
                  <c:v>-12986.81927828231</c:v>
                </c:pt>
                <c:pt idx="7">
                  <c:v>3637.553775976392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75D-42D0-889D-F656166304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90204207"/>
        <c:axId val="1790195567"/>
      </c:barChart>
      <c:dateAx>
        <c:axId val="1790204207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790195567"/>
        <c:crosses val="autoZero"/>
        <c:auto val="1"/>
        <c:lblOffset val="100"/>
        <c:baseTimeUnit val="months"/>
      </c:dateAx>
      <c:valAx>
        <c:axId val="17901955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7902042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66386908668612987"/>
          <c:w val="1"/>
          <c:h val="0.2573955073696317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628130403887307"/>
          <c:y val="4.2809885191671532E-2"/>
          <c:w val="0.83257201417897875"/>
          <c:h val="0.4897925264162650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'AWS MP'!$A$2</c:f>
              <c:strCache>
                <c:ptCount val="1"/>
                <c:pt idx="0">
                  <c:v>TrendAI Enterprise Security Solutions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'AWS MP'!$B$1:$I$1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MP'!$B$2:$I$2</c:f>
              <c:numCache>
                <c:formatCode>_-[$$-409]* #,##0_ ;_-[$$-409]* \-#,##0\ ;_-[$$-409]* "-"??_ ;_-@_ </c:formatCode>
                <c:ptCount val="8"/>
                <c:pt idx="5">
                  <c:v>257323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85-430E-8D85-43415D0D37D7}"/>
            </c:ext>
          </c:extLst>
        </c:ser>
        <c:ser>
          <c:idx val="1"/>
          <c:order val="1"/>
          <c:tx>
            <c:strRef>
              <c:f>'AWS MP'!$A$3</c:f>
              <c:strCache>
                <c:ptCount val="1"/>
                <c:pt idx="0">
                  <c:v>Fortinet Cloud Security Platform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'AWS MP'!$B$1:$I$1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MP'!$B$3:$I$3</c:f>
              <c:numCache>
                <c:formatCode>_-[$$-409]* #,##0_ ;_-[$$-409]* \-#,##0\ ;_-[$$-409]* "-"??_ ;_-@_ </c:formatCode>
                <c:ptCount val="8"/>
                <c:pt idx="5">
                  <c:v>61998.34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85-430E-8D85-43415D0D37D7}"/>
            </c:ext>
          </c:extLst>
        </c:ser>
        <c:ser>
          <c:idx val="2"/>
          <c:order val="2"/>
          <c:tx>
            <c:strRef>
              <c:f>'AWS MP'!$A$4</c:f>
              <c:strCache>
                <c:ptCount val="1"/>
                <c:pt idx="0">
                  <c:v>MongoDB Atlas on AWS - Contract with Usage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'AWS MP'!$B$1:$I$1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MP'!$B$4:$I$4</c:f>
              <c:numCache>
                <c:formatCode>_-[$$-409]* #,##0_ ;_-[$$-409]* \-#,##0\ ;_-[$$-409]* "-"??_ ;_-@_ </c:formatCode>
                <c:ptCount val="8"/>
                <c:pt idx="0">
                  <c:v>15754</c:v>
                </c:pt>
                <c:pt idx="1">
                  <c:v>13929</c:v>
                </c:pt>
                <c:pt idx="3">
                  <c:v>89124</c:v>
                </c:pt>
                <c:pt idx="4">
                  <c:v>15852.73</c:v>
                </c:pt>
                <c:pt idx="5">
                  <c:v>14974.14</c:v>
                </c:pt>
                <c:pt idx="6">
                  <c:v>13606.3</c:v>
                </c:pt>
                <c:pt idx="7">
                  <c:v>14512.7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E85-430E-8D85-43415D0D37D7}"/>
            </c:ext>
          </c:extLst>
        </c:ser>
        <c:ser>
          <c:idx val="3"/>
          <c:order val="3"/>
          <c:tx>
            <c:strRef>
              <c:f>'AWS MP'!$A$5</c:f>
              <c:strCache>
                <c:ptCount val="1"/>
                <c:pt idx="0">
                  <c:v>Amazon Bedrock Edition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'AWS MP'!$B$1:$I$1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MP'!$B$5:$I$5</c:f>
              <c:numCache>
                <c:formatCode>_-[$$-409]* #,##0_ ;_-[$$-409]* \-#,##0\ ;_-[$$-409]* "-"??_ ;_-@_ </c:formatCode>
                <c:ptCount val="8"/>
                <c:pt idx="2">
                  <c:v>841</c:v>
                </c:pt>
                <c:pt idx="3">
                  <c:v>1609</c:v>
                </c:pt>
                <c:pt idx="4">
                  <c:v>3811.44</c:v>
                </c:pt>
                <c:pt idx="5">
                  <c:v>10507</c:v>
                </c:pt>
                <c:pt idx="6">
                  <c:v>25288</c:v>
                </c:pt>
                <c:pt idx="7">
                  <c:v>44739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E85-430E-8D85-43415D0D37D7}"/>
            </c:ext>
          </c:extLst>
        </c:ser>
        <c:ser>
          <c:idx val="4"/>
          <c:order val="4"/>
          <c:tx>
            <c:strRef>
              <c:f>'AWS MP'!$A$6</c:f>
              <c:strCache>
                <c:ptCount val="1"/>
                <c:pt idx="0">
                  <c:v>Spot.io Contract 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'AWS MP'!$B$1:$I$1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MP'!$B$6:$I$6</c:f>
              <c:numCache>
                <c:formatCode>_-[$$-409]* #,##0_ ;_-[$$-409]* \-#,##0\ ;_-[$$-409]* "-"??_ ;_-@_ </c:formatCode>
                <c:ptCount val="8"/>
                <c:pt idx="0">
                  <c:v>5500</c:v>
                </c:pt>
                <c:pt idx="1">
                  <c:v>5500</c:v>
                </c:pt>
                <c:pt idx="2">
                  <c:v>5500</c:v>
                </c:pt>
                <c:pt idx="3">
                  <c:v>5500</c:v>
                </c:pt>
                <c:pt idx="4">
                  <c:v>5500</c:v>
                </c:pt>
                <c:pt idx="5">
                  <c:v>5500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E85-430E-8D85-43415D0D37D7}"/>
            </c:ext>
          </c:extLst>
        </c:ser>
        <c:ser>
          <c:idx val="5"/>
          <c:order val="5"/>
          <c:tx>
            <c:strRef>
              <c:f>'AWS MP'!$A$7</c:f>
              <c:strCache>
                <c:ptCount val="1"/>
                <c:pt idx="0">
                  <c:v>F5 Rules for AWS WAF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'AWS MP'!$B$1:$I$1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MP'!$B$7:$I$7</c:f>
              <c:numCache>
                <c:formatCode>_-[$$-409]* #,##0.00_ ;_-[$$-409]* \-#,##0.00\ ;_-[$$-409]* "-"??_ ;_-@_ </c:formatCode>
                <c:ptCount val="8"/>
                <c:pt idx="3" formatCode="_-[$$-409]* #,##0_ ;_-[$$-409]* \-#,##0\ ;_-[$$-409]* &quot;-&quot;??_ ;_-@_ ">
                  <c:v>24</c:v>
                </c:pt>
                <c:pt idx="4" formatCode="_-[$$-409]* #,##0_ ;_-[$$-409]* \-#,##0\ ;_-[$$-409]* &quot;-&quot;??_ ;_-@_ ">
                  <c:v>98.43</c:v>
                </c:pt>
                <c:pt idx="5" formatCode="_-[$$-409]* #,##0_ ;_-[$$-409]* \-#,##0\ ;_-[$$-409]* &quot;-&quot;??_ ;_-@_ ">
                  <c:v>102.63</c:v>
                </c:pt>
                <c:pt idx="6" formatCode="_-[$$-409]* #,##0_ ;_-[$$-409]* \-#,##0\ ;_-[$$-409]* &quot;-&quot;??_ ;_-@_ ">
                  <c:v>97.135000000000005</c:v>
                </c:pt>
                <c:pt idx="7" formatCode="_-[$$-409]* #,##0_ ;_-[$$-409]* \-#,##0\ ;_-[$$-409]* &quot;-&quot;??_ ;_-@_ 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E85-430E-8D85-43415D0D37D7}"/>
            </c:ext>
          </c:extLst>
        </c:ser>
        <c:ser>
          <c:idx val="6"/>
          <c:order val="6"/>
          <c:tx>
            <c:strRef>
              <c:f>'AWS MP'!$A$8</c:f>
              <c:strCache>
                <c:ptCount val="1"/>
                <c:pt idx="0">
                  <c:v>Neo4j Aura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MP'!$B$1:$I$1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MP'!$B$8:$I$8</c:f>
              <c:numCache>
                <c:formatCode>General</c:formatCode>
                <c:ptCount val="8"/>
                <c:pt idx="4" formatCode="_-[$$-409]* #,##0_ ;_-[$$-409]* \-#,##0\ ;_-[$$-409]* &quot;-&quot;??_ ;_-@_ ">
                  <c:v>68.72</c:v>
                </c:pt>
                <c:pt idx="5" formatCode="_-[$$-409]* #,##0_ ;_-[$$-409]* \-#,##0\ ;_-[$$-409]* &quot;-&quot;??_ ;_-@_ ">
                  <c:v>81.31</c:v>
                </c:pt>
                <c:pt idx="6" formatCode="_-[$$-409]* #,##0_ ;_-[$$-409]* \-#,##0\ ;_-[$$-409]* &quot;-&quot;??_ ;_-@_ ">
                  <c:v>133.91999999999999</c:v>
                </c:pt>
                <c:pt idx="7" formatCode="_-[$$-409]* #,##0_ ;_-[$$-409]* \-#,##0\ ;_-[$$-409]* &quot;-&quot;??_ ;_-@_ ">
                  <c:v>133.91999999999999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E85-430E-8D85-43415D0D37D7}"/>
            </c:ext>
          </c:extLst>
        </c:ser>
        <c:ser>
          <c:idx val="7"/>
          <c:order val="7"/>
          <c:tx>
            <c:strRef>
              <c:f>'AWS MP'!$A$9</c:f>
              <c:strCache>
                <c:ptCount val="1"/>
                <c:pt idx="0">
                  <c:v>F5 Distributed Cloud Services 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MP'!$B$1:$I$1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MP'!$B$9:$I$9</c:f>
              <c:numCache>
                <c:formatCode>_-[$$-409]* #,##0_ ;_-[$$-409]* \-#,##0\ ;_-[$$-409]* "-"??_ ;_-@_ </c:formatCode>
                <c:ptCount val="8"/>
                <c:pt idx="3">
                  <c:v>166293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E85-430E-8D85-43415D0D37D7}"/>
            </c:ext>
          </c:extLst>
        </c:ser>
        <c:ser>
          <c:idx val="8"/>
          <c:order val="8"/>
          <c:tx>
            <c:strRef>
              <c:f>'AWS MP'!$A$10</c:f>
              <c:strCache>
                <c:ptCount val="1"/>
                <c:pt idx="0">
                  <c:v>Trellix_Private Offer Only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MP'!$B$1:$I$1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MP'!$B$10:$I$10</c:f>
              <c:numCache>
                <c:formatCode>_-[$$-409]* #,##0_ ;_-[$$-409]* \-#,##0\ ;_-[$$-409]* "-"??_ ;_-@_ </c:formatCode>
                <c:ptCount val="8"/>
                <c:pt idx="3">
                  <c:v>70680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E85-430E-8D85-43415D0D37D7}"/>
            </c:ext>
          </c:extLst>
        </c:ser>
        <c:ser>
          <c:idx val="9"/>
          <c:order val="9"/>
          <c:tx>
            <c:strRef>
              <c:f>'AWS MP'!$A$11</c:f>
              <c:strCache>
                <c:ptCount val="1"/>
                <c:pt idx="0">
                  <c:v>F5 Distributed Cloud Bot Defense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MP'!$B$1:$I$1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MP'!$B$11:$I$11</c:f>
              <c:numCache>
                <c:formatCode>General</c:formatCode>
                <c:ptCount val="8"/>
                <c:pt idx="3" formatCode="_-[$$-409]* #,##0_ ;_-[$$-409]* \-#,##0\ ;_-[$$-409]* &quot;-&quot;??_ ;_-@_ ">
                  <c:v>43307.51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E85-430E-8D85-43415D0D37D7}"/>
            </c:ext>
          </c:extLst>
        </c:ser>
        <c:ser>
          <c:idx val="10"/>
          <c:order val="10"/>
          <c:tx>
            <c:strRef>
              <c:f>'AWS MP'!$A$12</c:f>
              <c:strCache>
                <c:ptCount val="1"/>
                <c:pt idx="0">
                  <c:v>Trellix collaboration security + email security + IVX cloud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MP'!$B$1:$I$1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MP'!$B$12:$I$12</c:f>
              <c:numCache>
                <c:formatCode>General</c:formatCode>
                <c:ptCount val="8"/>
                <c:pt idx="0" formatCode="_-[$$-409]* #,##0_ ;_-[$$-409]* \-#,##0\ ;_-[$$-409]* &quot;-&quot;??_ ;_-@_ ">
                  <c:v>26000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E85-430E-8D85-43415D0D37D7}"/>
            </c:ext>
          </c:extLst>
        </c:ser>
        <c:ser>
          <c:idx val="11"/>
          <c:order val="11"/>
          <c:tx>
            <c:strRef>
              <c:f>'AWS MP'!$A$13</c:f>
              <c:strCache>
                <c:ptCount val="1"/>
                <c:pt idx="0">
                  <c:v>Splunk Private Offer Session 3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MP'!$B$1:$I$1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MP'!$B$13:$I$13</c:f>
              <c:numCache>
                <c:formatCode>_-[$$-409]* #,##0_ ;_-[$$-409]* \-#,##0\ ;_-[$$-409]* "-"??_ ;_-@_ </c:formatCode>
                <c:ptCount val="8"/>
                <c:pt idx="0">
                  <c:v>365018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E85-430E-8D85-43415D0D37D7}"/>
            </c:ext>
          </c:extLst>
        </c:ser>
        <c:ser>
          <c:idx val="12"/>
          <c:order val="12"/>
          <c:tx>
            <c:strRef>
              <c:f>'AWS MP'!$A$14</c:f>
              <c:strCache>
                <c:ptCount val="1"/>
                <c:pt idx="0">
                  <c:v>CrowdStrike Falcon Identity Protection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MP'!$B$1:$I$1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MP'!$B$14:$I$14</c:f>
              <c:numCache>
                <c:formatCode>_-[$$-409]* #,##0_ ;_-[$$-409]* \-#,##0\ ;_-[$$-409]* "-"??_ ;_-@_ </c:formatCode>
                <c:ptCount val="8"/>
                <c:pt idx="0">
                  <c:v>171303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E85-430E-8D85-43415D0D37D7}"/>
            </c:ext>
          </c:extLst>
        </c:ser>
        <c:ser>
          <c:idx val="13"/>
          <c:order val="13"/>
          <c:tx>
            <c:strRef>
              <c:f>'AWS MP'!$A$15</c:f>
              <c:strCache>
                <c:ptCount val="1"/>
                <c:pt idx="0">
                  <c:v>(Private) Cortex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'AWS MP'!$B$1:$I$1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'AWS MP'!$B$15:$I$15</c:f>
              <c:numCache>
                <c:formatCode>General</c:formatCode>
                <c:ptCount val="8"/>
                <c:pt idx="6" formatCode="_-[$$-409]* #,##0_ ;_-[$$-409]* \-#,##0\ ;_-[$$-409]* &quot;-&quot;??_ ;_-@_ ">
                  <c:v>142960.14000000001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E85-430E-8D85-43415D0D3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73958208"/>
        <c:axId val="2068837920"/>
      </c:barChart>
      <c:dateAx>
        <c:axId val="2073958208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2068837920"/>
        <c:crosses val="autoZero"/>
        <c:auto val="1"/>
        <c:lblOffset val="100"/>
        <c:baseTimeUnit val="months"/>
      </c:dateAx>
      <c:valAx>
        <c:axId val="2068837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2073958208"/>
        <c:crossesAt val="45292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7668398155520808E-2"/>
          <c:y val="0.70017464091271153"/>
          <c:w val="0.86967370838988545"/>
          <c:h val="0.2998253590872884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36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0606566499721759E-2"/>
          <c:y val="0.16122214564668044"/>
          <c:w val="0.93878686700055647"/>
          <c:h val="0.52577369937648211"/>
        </c:manualLayout>
      </c:layout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CED6-46F9-AD4B-206359BE3AF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CED6-46F9-AD4B-206359BE3AF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CED6-46F9-AD4B-206359BE3AF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CED6-46F9-AD4B-206359BE3AF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CED6-46F9-AD4B-206359BE3AF8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CED6-46F9-AD4B-206359BE3AF8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CED6-46F9-AD4B-206359BE3AF8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CED6-46F9-AD4B-206359BE3AF8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CED6-46F9-AD4B-206359BE3AF8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3-CED6-46F9-AD4B-206359BE3AF8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5-CED6-46F9-AD4B-206359BE3AF8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7-CED6-46F9-AD4B-206359BE3AF8}"/>
              </c:ext>
            </c:extLst>
          </c:dPt>
          <c:cat>
            <c:strRef>
              <c:f>Costcenter!$A$19:$A$30</c:f>
              <c:strCache>
                <c:ptCount val="12"/>
                <c:pt idx="0">
                  <c:v>datacloud</c:v>
                </c:pt>
                <c:pt idx="1">
                  <c:v>sap</c:v>
                </c:pt>
                <c:pt idx="2">
                  <c:v>cloudit</c:v>
                </c:pt>
                <c:pt idx="3">
                  <c:v>aifactory</c:v>
                </c:pt>
                <c:pt idx="4">
                  <c:v>Risk Agility</c:v>
                </c:pt>
                <c:pt idx="5">
                  <c:v>other</c:v>
                </c:pt>
                <c:pt idx="6">
                  <c:v>actuary</c:v>
                </c:pt>
                <c:pt idx="7">
                  <c:v>itsec</c:v>
                </c:pt>
                <c:pt idx="8">
                  <c:v>investments</c:v>
                </c:pt>
                <c:pt idx="9">
                  <c:v>basasach</c:v>
                </c:pt>
                <c:pt idx="10">
                  <c:v>cloudops</c:v>
                </c:pt>
                <c:pt idx="11">
                  <c:v>integration</c:v>
                </c:pt>
              </c:strCache>
            </c:strRef>
          </c:cat>
          <c:val>
            <c:numRef>
              <c:f>Costcenter!$B$19:$B$30</c:f>
              <c:numCache>
                <c:formatCode>0%</c:formatCode>
                <c:ptCount val="12"/>
                <c:pt idx="0">
                  <c:v>0.28233466489125608</c:v>
                </c:pt>
                <c:pt idx="1">
                  <c:v>0.22927208166888594</c:v>
                </c:pt>
                <c:pt idx="2">
                  <c:v>0.17802374611628941</c:v>
                </c:pt>
                <c:pt idx="3">
                  <c:v>0.128245672436751</c:v>
                </c:pt>
                <c:pt idx="4">
                  <c:v>5.725699067909454E-3</c:v>
                </c:pt>
                <c:pt idx="5">
                  <c:v>7.7635375055481584E-2</c:v>
                </c:pt>
                <c:pt idx="6">
                  <c:v>2.4811362627607636E-2</c:v>
                </c:pt>
                <c:pt idx="7">
                  <c:v>1.2782956058588549E-2</c:v>
                </c:pt>
                <c:pt idx="8">
                  <c:v>3.9114513981358193E-3</c:v>
                </c:pt>
                <c:pt idx="9">
                  <c:v>4.0446071904127832E-3</c:v>
                </c:pt>
                <c:pt idx="10">
                  <c:v>5.292387927208167E-2</c:v>
                </c:pt>
                <c:pt idx="11">
                  <c:v>2.8850421660008875E-4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CED6-46F9-AD4B-206359BE3A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12"/>
          <c:order val="0"/>
          <c:tx>
            <c:strRef>
              <c:f>Costcenter!$A$2</c:f>
              <c:strCache>
                <c:ptCount val="1"/>
                <c:pt idx="0">
                  <c:v>datacloud</c:v>
                </c:pt>
              </c:strCache>
            </c:strRef>
          </c:tx>
          <c:invertIfNegative val="0"/>
          <c:cat>
            <c:numRef>
              <c:f>Costcenter!$B$1:$I$1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Costcenter!$B$2:$I$2</c:f>
              <c:numCache>
                <c:formatCode>_-[$$-409]* #,##0_ ;_-[$$-409]* \-#,##0\ ;_-[$$-409]* "-"??_ ;_-@_ </c:formatCode>
                <c:ptCount val="8"/>
                <c:pt idx="0">
                  <c:v>47462</c:v>
                </c:pt>
                <c:pt idx="1">
                  <c:v>49198.190419999999</c:v>
                </c:pt>
                <c:pt idx="2">
                  <c:v>54536</c:v>
                </c:pt>
                <c:pt idx="3">
                  <c:v>50235.0077111235</c:v>
                </c:pt>
                <c:pt idx="4">
                  <c:v>43924.46</c:v>
                </c:pt>
                <c:pt idx="5">
                  <c:v>44390</c:v>
                </c:pt>
                <c:pt idx="6">
                  <c:v>49118</c:v>
                </c:pt>
                <c:pt idx="7">
                  <c:v>50888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21-4185-A20C-1795B4935126}"/>
            </c:ext>
          </c:extLst>
        </c:ser>
        <c:ser>
          <c:idx val="13"/>
          <c:order val="1"/>
          <c:tx>
            <c:strRef>
              <c:f>Costcenter!$A$3</c:f>
              <c:strCache>
                <c:ptCount val="1"/>
                <c:pt idx="0">
                  <c:v>sap</c:v>
                </c:pt>
              </c:strCache>
            </c:strRef>
          </c:tx>
          <c:invertIfNegative val="0"/>
          <c:cat>
            <c:numRef>
              <c:f>Costcenter!$B$1:$I$1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Costcenter!$B$3:$I$3</c:f>
              <c:numCache>
                <c:formatCode>_-[$$-409]* #,##0_ ;_-[$$-409]* \-#,##0\ ;_-[$$-409]* "-"??_ ;_-@_ </c:formatCode>
                <c:ptCount val="8"/>
                <c:pt idx="0">
                  <c:v>42266</c:v>
                </c:pt>
                <c:pt idx="1">
                  <c:v>39098.062039999997</c:v>
                </c:pt>
                <c:pt idx="2">
                  <c:v>41546</c:v>
                </c:pt>
                <c:pt idx="3">
                  <c:v>40825.398623030203</c:v>
                </c:pt>
                <c:pt idx="4">
                  <c:v>46601</c:v>
                </c:pt>
                <c:pt idx="5">
                  <c:v>42665</c:v>
                </c:pt>
                <c:pt idx="6">
                  <c:v>40925</c:v>
                </c:pt>
                <c:pt idx="7">
                  <c:v>41324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21-4185-A20C-1795B4935126}"/>
            </c:ext>
          </c:extLst>
        </c:ser>
        <c:ser>
          <c:idx val="14"/>
          <c:order val="2"/>
          <c:tx>
            <c:strRef>
              <c:f>Costcenter!$A$4</c:f>
              <c:strCache>
                <c:ptCount val="1"/>
                <c:pt idx="0">
                  <c:v>cloudit</c:v>
                </c:pt>
              </c:strCache>
            </c:strRef>
          </c:tx>
          <c:invertIfNegative val="0"/>
          <c:cat>
            <c:numRef>
              <c:f>Costcenter!$B$1:$I$1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Costcenter!$B$4:$I$4</c:f>
              <c:numCache>
                <c:formatCode>_-[$$-409]* #,##0_ ;_-[$$-409]* \-#,##0\ ;_-[$$-409]* "-"??_ ;_-@_ </c:formatCode>
                <c:ptCount val="8"/>
                <c:pt idx="0">
                  <c:v>30915</c:v>
                </c:pt>
                <c:pt idx="1">
                  <c:v>24680.953229999999</c:v>
                </c:pt>
                <c:pt idx="2">
                  <c:v>40730</c:v>
                </c:pt>
                <c:pt idx="3">
                  <c:v>29195.4753790346</c:v>
                </c:pt>
                <c:pt idx="4">
                  <c:v>28615</c:v>
                </c:pt>
                <c:pt idx="5">
                  <c:v>28585</c:v>
                </c:pt>
                <c:pt idx="6">
                  <c:v>33421</c:v>
                </c:pt>
                <c:pt idx="7">
                  <c:v>32087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21-4185-A20C-1795B4935126}"/>
            </c:ext>
          </c:extLst>
        </c:ser>
        <c:ser>
          <c:idx val="15"/>
          <c:order val="3"/>
          <c:tx>
            <c:strRef>
              <c:f>Costcenter!$A$5</c:f>
              <c:strCache>
                <c:ptCount val="1"/>
                <c:pt idx="0">
                  <c:v>aifactory</c:v>
                </c:pt>
              </c:strCache>
            </c:strRef>
          </c:tx>
          <c:invertIfNegative val="0"/>
          <c:cat>
            <c:numRef>
              <c:f>Costcenter!$B$1:$I$1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Costcenter!$B$5:$I$5</c:f>
              <c:numCache>
                <c:formatCode>_-[$$-409]* #,##0_ ;_-[$$-409]* \-#,##0\ ;_-[$$-409]* "-"??_ ;_-@_ </c:formatCode>
                <c:ptCount val="8"/>
                <c:pt idx="0">
                  <c:v>854</c:v>
                </c:pt>
                <c:pt idx="1">
                  <c:v>3477.5802060000001</c:v>
                </c:pt>
                <c:pt idx="2">
                  <c:v>12632</c:v>
                </c:pt>
                <c:pt idx="3">
                  <c:v>11675.619129905001</c:v>
                </c:pt>
                <c:pt idx="4">
                  <c:v>13656</c:v>
                </c:pt>
                <c:pt idx="5">
                  <c:v>26476</c:v>
                </c:pt>
                <c:pt idx="6">
                  <c:v>24531</c:v>
                </c:pt>
                <c:pt idx="7">
                  <c:v>23115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B21-4185-A20C-1795B4935126}"/>
            </c:ext>
          </c:extLst>
        </c:ser>
        <c:ser>
          <c:idx val="16"/>
          <c:order val="4"/>
          <c:tx>
            <c:strRef>
              <c:f>Costcenter!$A$6</c:f>
              <c:strCache>
                <c:ptCount val="1"/>
                <c:pt idx="0">
                  <c:v>Risk Agility</c:v>
                </c:pt>
              </c:strCache>
            </c:strRef>
          </c:tx>
          <c:invertIfNegative val="0"/>
          <c:cat>
            <c:numRef>
              <c:f>Costcenter!$B$1:$I$1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Costcenter!$B$6:$I$6</c:f>
              <c:numCache>
                <c:formatCode>_-[$$-409]* #,##0_ ;_-[$$-409]* \-#,##0\ ;_-[$$-409]* "-"??_ ;_-@_ </c:formatCode>
                <c:ptCount val="8"/>
                <c:pt idx="0">
                  <c:v>13063</c:v>
                </c:pt>
                <c:pt idx="1">
                  <c:v>5274</c:v>
                </c:pt>
                <c:pt idx="2">
                  <c:v>2617</c:v>
                </c:pt>
                <c:pt idx="3">
                  <c:v>5768</c:v>
                </c:pt>
                <c:pt idx="4">
                  <c:v>2842</c:v>
                </c:pt>
                <c:pt idx="5">
                  <c:v>1031</c:v>
                </c:pt>
                <c:pt idx="6">
                  <c:v>1032</c:v>
                </c:pt>
                <c:pt idx="7">
                  <c:v>1032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B21-4185-A20C-1795B4935126}"/>
            </c:ext>
          </c:extLst>
        </c:ser>
        <c:ser>
          <c:idx val="17"/>
          <c:order val="5"/>
          <c:tx>
            <c:strRef>
              <c:f>Costcenter!$A$7</c:f>
              <c:strCache>
                <c:ptCount val="1"/>
                <c:pt idx="0">
                  <c:v>other</c:v>
                </c:pt>
              </c:strCache>
            </c:strRef>
          </c:tx>
          <c:invertIfNegative val="0"/>
          <c:cat>
            <c:numRef>
              <c:f>Costcenter!$B$1:$I$1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Costcenter!$B$7:$I$7</c:f>
              <c:numCache>
                <c:formatCode>_-[$$-409]* #,##0_ ;_-[$$-409]* \-#,##0\ ;_-[$$-409]* "-"??_ ;_-@_ </c:formatCode>
                <c:ptCount val="8"/>
                <c:pt idx="0">
                  <c:v>4371</c:v>
                </c:pt>
                <c:pt idx="1">
                  <c:v>5240</c:v>
                </c:pt>
                <c:pt idx="2">
                  <c:v>5614</c:v>
                </c:pt>
                <c:pt idx="3">
                  <c:v>5760</c:v>
                </c:pt>
                <c:pt idx="4">
                  <c:v>8681.3399999999965</c:v>
                </c:pt>
                <c:pt idx="5">
                  <c:v>18094</c:v>
                </c:pt>
                <c:pt idx="6">
                  <c:v>22410</c:v>
                </c:pt>
                <c:pt idx="7">
                  <c:v>13993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B21-4185-A20C-1795B4935126}"/>
            </c:ext>
          </c:extLst>
        </c:ser>
        <c:ser>
          <c:idx val="18"/>
          <c:order val="6"/>
          <c:tx>
            <c:strRef>
              <c:f>Costcenter!$A$8</c:f>
              <c:strCache>
                <c:ptCount val="1"/>
                <c:pt idx="0">
                  <c:v>actuary</c:v>
                </c:pt>
              </c:strCache>
            </c:strRef>
          </c:tx>
          <c:invertIfNegative val="0"/>
          <c:cat>
            <c:numRef>
              <c:f>Costcenter!$B$1:$I$1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Costcenter!$B$8:$I$8</c:f>
              <c:numCache>
                <c:formatCode>_-[$$-409]* #,##0_ ;_-[$$-409]* \-#,##0\ ;_-[$$-409]* "-"??_ ;_-@_ </c:formatCode>
                <c:ptCount val="8"/>
                <c:pt idx="0">
                  <c:v>15102</c:v>
                </c:pt>
                <c:pt idx="1">
                  <c:v>4959.2373900000002</c:v>
                </c:pt>
                <c:pt idx="2">
                  <c:v>3549</c:v>
                </c:pt>
                <c:pt idx="3">
                  <c:v>5341</c:v>
                </c:pt>
                <c:pt idx="4">
                  <c:v>4672</c:v>
                </c:pt>
                <c:pt idx="5">
                  <c:v>2733</c:v>
                </c:pt>
                <c:pt idx="6">
                  <c:v>4058</c:v>
                </c:pt>
                <c:pt idx="7">
                  <c:v>4472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B21-4185-A20C-1795B4935126}"/>
            </c:ext>
          </c:extLst>
        </c:ser>
        <c:ser>
          <c:idx val="19"/>
          <c:order val="7"/>
          <c:tx>
            <c:strRef>
              <c:f>Costcenter!$A$9</c:f>
              <c:strCache>
                <c:ptCount val="1"/>
                <c:pt idx="0">
                  <c:v>itsec</c:v>
                </c:pt>
              </c:strCache>
            </c:strRef>
          </c:tx>
          <c:invertIfNegative val="0"/>
          <c:cat>
            <c:numRef>
              <c:f>Costcenter!$B$1:$I$1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Costcenter!$B$9:$I$9</c:f>
              <c:numCache>
                <c:formatCode>_-[$$-409]* #,##0_ ;_-[$$-409]* \-#,##0\ ;_-[$$-409]* "-"??_ ;_-@_ </c:formatCode>
                <c:ptCount val="8"/>
                <c:pt idx="0">
                  <c:v>2082</c:v>
                </c:pt>
                <c:pt idx="1">
                  <c:v>1733.663832</c:v>
                </c:pt>
                <c:pt idx="2">
                  <c:v>1908</c:v>
                </c:pt>
                <c:pt idx="3">
                  <c:v>1897.7913957968401</c:v>
                </c:pt>
                <c:pt idx="4">
                  <c:v>2047</c:v>
                </c:pt>
                <c:pt idx="5">
                  <c:v>2059</c:v>
                </c:pt>
                <c:pt idx="6">
                  <c:v>2221</c:v>
                </c:pt>
                <c:pt idx="7">
                  <c:v>2304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B21-4185-A20C-1795B4935126}"/>
            </c:ext>
          </c:extLst>
        </c:ser>
        <c:ser>
          <c:idx val="20"/>
          <c:order val="8"/>
          <c:tx>
            <c:strRef>
              <c:f>Costcenter!$A$10</c:f>
              <c:strCache>
                <c:ptCount val="1"/>
                <c:pt idx="0">
                  <c:v>investments</c:v>
                </c:pt>
              </c:strCache>
            </c:strRef>
          </c:tx>
          <c:invertIfNegative val="0"/>
          <c:cat>
            <c:numRef>
              <c:f>Costcenter!$B$1:$I$1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Costcenter!$B$10:$I$10</c:f>
              <c:numCache>
                <c:formatCode>_-[$$-409]* #,##0_ ;_-[$$-409]* \-#,##0\ ;_-[$$-409]* "-"??_ ;_-@_ </c:formatCode>
                <c:ptCount val="8"/>
                <c:pt idx="0">
                  <c:v>43</c:v>
                </c:pt>
                <c:pt idx="1">
                  <c:v>1320.9213609999999</c:v>
                </c:pt>
                <c:pt idx="2">
                  <c:v>1198</c:v>
                </c:pt>
                <c:pt idx="3">
                  <c:v>887.56869047512998</c:v>
                </c:pt>
                <c:pt idx="4">
                  <c:v>199</c:v>
                </c:pt>
                <c:pt idx="5">
                  <c:v>303</c:v>
                </c:pt>
                <c:pt idx="6">
                  <c:v>531</c:v>
                </c:pt>
                <c:pt idx="7">
                  <c:v>705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B21-4185-A20C-1795B4935126}"/>
            </c:ext>
          </c:extLst>
        </c:ser>
        <c:ser>
          <c:idx val="21"/>
          <c:order val="9"/>
          <c:tx>
            <c:strRef>
              <c:f>Costcenter!$A$11</c:f>
              <c:strCache>
                <c:ptCount val="1"/>
                <c:pt idx="0">
                  <c:v>basasach</c:v>
                </c:pt>
              </c:strCache>
            </c:strRef>
          </c:tx>
          <c:invertIfNegative val="0"/>
          <c:cat>
            <c:numRef>
              <c:f>Costcenter!$B$1:$I$1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Costcenter!$B$11:$I$11</c:f>
              <c:numCache>
                <c:formatCode>_-[$$-409]* #,##0_ ;_-[$$-409]* \-#,##0\ ;_-[$$-409]* "-"??_ ;_-@_ </c:formatCode>
                <c:ptCount val="8"/>
                <c:pt idx="0">
                  <c:v>790</c:v>
                </c:pt>
                <c:pt idx="1">
                  <c:v>716.33506250000005</c:v>
                </c:pt>
                <c:pt idx="2">
                  <c:v>790</c:v>
                </c:pt>
                <c:pt idx="3">
                  <c:v>765.461370207767</c:v>
                </c:pt>
                <c:pt idx="4">
                  <c:v>790</c:v>
                </c:pt>
                <c:pt idx="5">
                  <c:v>766</c:v>
                </c:pt>
                <c:pt idx="6">
                  <c:v>792</c:v>
                </c:pt>
                <c:pt idx="7">
                  <c:v>729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B21-4185-A20C-1795B4935126}"/>
            </c:ext>
          </c:extLst>
        </c:ser>
        <c:ser>
          <c:idx val="22"/>
          <c:order val="10"/>
          <c:tx>
            <c:strRef>
              <c:f>Costcenter!$A$12</c:f>
              <c:strCache>
                <c:ptCount val="1"/>
                <c:pt idx="0">
                  <c:v>cloudops</c:v>
                </c:pt>
              </c:strCache>
            </c:strRef>
          </c:tx>
          <c:invertIfNegative val="0"/>
          <c:cat>
            <c:numRef>
              <c:f>Costcenter!$B$1:$I$1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Costcenter!$B$12:$I$12</c:f>
              <c:numCache>
                <c:formatCode>_-[$$-409]* #,##0_ ;_-[$$-409]* \-#,##0\ ;_-[$$-409]* "-"??_ ;_-@_ </c:formatCode>
                <c:ptCount val="8"/>
                <c:pt idx="0">
                  <c:v>39</c:v>
                </c:pt>
                <c:pt idx="1">
                  <c:v>3.8014380000000001</c:v>
                </c:pt>
                <c:pt idx="2">
                  <c:v>23</c:v>
                </c:pt>
                <c:pt idx="3">
                  <c:v>175.59035470146799</c:v>
                </c:pt>
                <c:pt idx="4">
                  <c:v>183</c:v>
                </c:pt>
                <c:pt idx="5">
                  <c:v>254</c:v>
                </c:pt>
                <c:pt idx="6">
                  <c:v>7826</c:v>
                </c:pt>
                <c:pt idx="7">
                  <c:v>9539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B21-4185-A20C-1795B4935126}"/>
            </c:ext>
          </c:extLst>
        </c:ser>
        <c:ser>
          <c:idx val="23"/>
          <c:order val="11"/>
          <c:tx>
            <c:strRef>
              <c:f>Costcenter!$A$13</c:f>
              <c:strCache>
                <c:ptCount val="1"/>
                <c:pt idx="0">
                  <c:v>integration</c:v>
                </c:pt>
              </c:strCache>
            </c:strRef>
          </c:tx>
          <c:invertIfNegative val="0"/>
          <c:cat>
            <c:numRef>
              <c:f>Costcenter!$B$1:$I$1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Costcenter!$B$13:$I$13</c:f>
              <c:numCache>
                <c:formatCode>_-[$$-409]* #,##0_ ;_-[$$-409]* \-#,##0\ ;_-[$$-409]* "-"??_ ;_-@_ </c:formatCode>
                <c:ptCount val="8"/>
                <c:pt idx="0">
                  <c:v>2.61</c:v>
                </c:pt>
                <c:pt idx="1">
                  <c:v>38.743463970000001</c:v>
                </c:pt>
                <c:pt idx="2">
                  <c:v>56</c:v>
                </c:pt>
                <c:pt idx="3">
                  <c:v>50.441035108000001</c:v>
                </c:pt>
                <c:pt idx="4">
                  <c:v>52.2</c:v>
                </c:pt>
                <c:pt idx="5">
                  <c:v>50</c:v>
                </c:pt>
                <c:pt idx="6">
                  <c:v>52</c:v>
                </c:pt>
                <c:pt idx="7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FB21-4185-A20C-1795B49351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71990288"/>
        <c:axId val="1271990768"/>
      </c:barChart>
      <c:dateAx>
        <c:axId val="1271990288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271990768"/>
        <c:crosses val="autoZero"/>
        <c:auto val="1"/>
        <c:lblOffset val="100"/>
        <c:baseTimeUnit val="months"/>
      </c:dateAx>
      <c:valAx>
        <c:axId val="1271990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271990288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/>
  </c:chart>
  <c:txPr>
    <a:bodyPr/>
    <a:lstStyle/>
    <a:p>
      <a:pPr>
        <a:defRPr/>
      </a:pPr>
      <a:endParaRPr lang="en-IL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834972574793174E-2"/>
          <c:y val="6.9935388924395783E-2"/>
          <c:w val="0.89626549670125122"/>
          <c:h val="0.5463891737554277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ServiceName!$A$2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ServiceName!$B$1:$I$1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ServiceName!$B$2:$I$2</c:f>
              <c:numCache>
                <c:formatCode>_-[$$-409]* #,##0_ ;_-[$$-409]* \-#,##0\ ;_-[$$-409]* "-"??_ ;_-@_ </c:formatCode>
                <c:ptCount val="8"/>
                <c:pt idx="0">
                  <c:v>58546.144882392902</c:v>
                </c:pt>
                <c:pt idx="1">
                  <c:v>48277</c:v>
                </c:pt>
                <c:pt idx="2">
                  <c:v>52579.265743453499</c:v>
                </c:pt>
                <c:pt idx="3">
                  <c:v>51502.751922957599</c:v>
                </c:pt>
                <c:pt idx="4">
                  <c:v>57465.986683140698</c:v>
                </c:pt>
                <c:pt idx="5" formatCode="[$$-2809]#,##0">
                  <c:v>52188.547851025956</c:v>
                </c:pt>
                <c:pt idx="6" formatCode="[$$-2809]#,##0">
                  <c:v>53314.282846732</c:v>
                </c:pt>
                <c:pt idx="7" formatCode="[$$-2809]#,##0">
                  <c:v>44488.171719449798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AE-4BC1-BCE8-F5544E808E35}"/>
            </c:ext>
          </c:extLst>
        </c:ser>
        <c:ser>
          <c:idx val="1"/>
          <c:order val="1"/>
          <c:tx>
            <c:strRef>
              <c:f>ServiceName!$A$3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ServiceName!$B$1:$I$1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ServiceName!$B$3:$I$3</c:f>
              <c:numCache>
                <c:formatCode>_-[$$-409]* #,##0_ ;_-[$$-409]* \-#,##0\ ;_-[$$-409]* "-"??_ ;_-@_ </c:formatCode>
                <c:ptCount val="8"/>
                <c:pt idx="0">
                  <c:v>24139.407906090699</c:v>
                </c:pt>
                <c:pt idx="1">
                  <c:v>22951</c:v>
                </c:pt>
                <c:pt idx="2">
                  <c:v>22458.084916232401</c:v>
                </c:pt>
                <c:pt idx="3">
                  <c:v>22680.5067717852</c:v>
                </c:pt>
                <c:pt idx="4">
                  <c:v>24615.177619209499</c:v>
                </c:pt>
                <c:pt idx="5" formatCode="[$$-2809]#,##0">
                  <c:v>25022.532183392599</c:v>
                </c:pt>
                <c:pt idx="6" formatCode="[$$-2809]#,##0">
                  <c:v>26364.215954908301</c:v>
                </c:pt>
                <c:pt idx="7" formatCode="[$$-2809]#,##0">
                  <c:v>27443.538887182101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AE-4BC1-BCE8-F5544E808E35}"/>
            </c:ext>
          </c:extLst>
        </c:ser>
        <c:ser>
          <c:idx val="2"/>
          <c:order val="2"/>
          <c:tx>
            <c:strRef>
              <c:f>ServiceName!$A$4</c:f>
              <c:strCache>
                <c:ptCount val="1"/>
                <c:pt idx="0">
                  <c:v>GitHub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ServiceName!$B$1:$I$1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ServiceName!$B$4:$I$4</c:f>
              <c:numCache>
                <c:formatCode>_-[$$-409]* #,##0_ ;_-[$$-409]* \-#,##0\ ;_-[$$-409]* "-"??_ ;_-@_ </c:formatCode>
                <c:ptCount val="8"/>
                <c:pt idx="0">
                  <c:v>2778.5209018915998</c:v>
                </c:pt>
                <c:pt idx="1">
                  <c:v>3618</c:v>
                </c:pt>
                <c:pt idx="2">
                  <c:v>4319.1251130406699</c:v>
                </c:pt>
                <c:pt idx="3">
                  <c:v>4079.5714589424902</c:v>
                </c:pt>
                <c:pt idx="4">
                  <c:v>6467.0388808688003</c:v>
                </c:pt>
                <c:pt idx="5" formatCode="[$$-2809]#,##0">
                  <c:v>16654.202144491999</c:v>
                </c:pt>
                <c:pt idx="6" formatCode="[$$-2809]#,##0">
                  <c:v>19259.777693281001</c:v>
                </c:pt>
                <c:pt idx="7" formatCode="[$$-2809]#,##0">
                  <c:v>24027.921056747098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AE-4BC1-BCE8-F5544E808E35}"/>
            </c:ext>
          </c:extLst>
        </c:ser>
        <c:ser>
          <c:idx val="3"/>
          <c:order val="3"/>
          <c:tx>
            <c:strRef>
              <c:f>ServiceName!$A$5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ServiceName!$B$1:$I$1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ServiceName!$B$5:$I$5</c:f>
              <c:numCache>
                <c:formatCode>_-[$$-409]* #,##0_ ;_-[$$-409]* \-#,##0\ ;_-[$$-409]* "-"??_ ;_-@_ </c:formatCode>
                <c:ptCount val="8"/>
                <c:pt idx="0">
                  <c:v>12726.230964865699</c:v>
                </c:pt>
                <c:pt idx="1">
                  <c:v>12145</c:v>
                </c:pt>
                <c:pt idx="2">
                  <c:v>14087.613429437601</c:v>
                </c:pt>
                <c:pt idx="3">
                  <c:v>15311.834657211801</c:v>
                </c:pt>
                <c:pt idx="4">
                  <c:v>18338.271890300399</c:v>
                </c:pt>
                <c:pt idx="5" formatCode="[$$-2809]#,##0">
                  <c:v>18564.991811643002</c:v>
                </c:pt>
                <c:pt idx="6" formatCode="[$$-2809]#,##0">
                  <c:v>21999.597990455601</c:v>
                </c:pt>
                <c:pt idx="7" formatCode="[$$-2809]#,##0">
                  <c:v>20882.795846826601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AE-4BC1-BCE8-F5544E808E35}"/>
            </c:ext>
          </c:extLst>
        </c:ser>
        <c:ser>
          <c:idx val="4"/>
          <c:order val="4"/>
          <c:tx>
            <c:strRef>
              <c:f>ServiceName!$A$6</c:f>
              <c:strCache>
                <c:ptCount val="1"/>
                <c:pt idx="0">
                  <c:v>Other services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ServiceName!$B$1:$I$1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ServiceName!$B$6:$I$6</c:f>
              <c:numCache>
                <c:formatCode>[$$-2809]#,##0</c:formatCode>
                <c:ptCount val="8"/>
                <c:pt idx="0">
                  <c:v>12983.609169897247</c:v>
                </c:pt>
                <c:pt idx="1">
                  <c:v>13665</c:v>
                </c:pt>
                <c:pt idx="2">
                  <c:v>12860.914744101014</c:v>
                </c:pt>
                <c:pt idx="3">
                  <c:v>10010.050908080415</c:v>
                </c:pt>
                <c:pt idx="4">
                  <c:v>14322.019787096415</c:v>
                </c:pt>
                <c:pt idx="5">
                  <c:v>16092.713054151513</c:v>
                </c:pt>
                <c:pt idx="6">
                  <c:v>17360.834951674224</c:v>
                </c:pt>
                <c:pt idx="7">
                  <c:v>17665.054535651831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AE-4BC1-BCE8-F5544E808E35}"/>
            </c:ext>
          </c:extLst>
        </c:ser>
        <c:ser>
          <c:idx val="5"/>
          <c:order val="5"/>
          <c:tx>
            <c:strRef>
              <c:f>ServiceName!$A$7</c:f>
              <c:strCache>
                <c:ptCount val="1"/>
                <c:pt idx="0">
                  <c:v>Foundry Models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ServiceName!$B$1:$I$1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ServiceName!$B$7:$I$7</c:f>
              <c:numCache>
                <c:formatCode>_-[$$-409]* #,##0_ ;_-[$$-409]* \-#,##0\ ;_-[$$-409]* "-"??_ ;_-@_ </c:formatCode>
                <c:ptCount val="8"/>
                <c:pt idx="0">
                  <c:v>1353.36579891719</c:v>
                </c:pt>
                <c:pt idx="1">
                  <c:v>2260</c:v>
                </c:pt>
                <c:pt idx="2">
                  <c:v>4236.3520331112004</c:v>
                </c:pt>
                <c:pt idx="3">
                  <c:v>8369.3894625970006</c:v>
                </c:pt>
                <c:pt idx="4">
                  <c:v>11512.758426729</c:v>
                </c:pt>
                <c:pt idx="5" formatCode="[$$-2809]#,##0">
                  <c:v>15453.339066320999</c:v>
                </c:pt>
                <c:pt idx="6" formatCode="[$$-2809]#,##0">
                  <c:v>12291.248637123999</c:v>
                </c:pt>
                <c:pt idx="7" formatCode="[$$-2809]#,##0">
                  <c:v>10034.934961106999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3AE-4BC1-BCE8-F5544E808E35}"/>
            </c:ext>
          </c:extLst>
        </c:ser>
        <c:ser>
          <c:idx val="6"/>
          <c:order val="6"/>
          <c:tx>
            <c:strRef>
              <c:f>ServiceName!$A$8</c:f>
              <c:strCache>
                <c:ptCount val="1"/>
                <c:pt idx="0">
                  <c:v>Microsoft Copilot Studio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ServiceName!$B$1:$I$1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ServiceName!$B$8:$I$8</c:f>
              <c:numCache>
                <c:formatCode>_-[$$-409]* #,##0_ ;_-[$$-409]* \-#,##0\ ;_-[$$-409]* "-"??_ ;_-@_ </c:formatCode>
                <c:ptCount val="8"/>
                <c:pt idx="0">
                  <c:v>97.44</c:v>
                </c:pt>
                <c:pt idx="1">
                  <c:v>100</c:v>
                </c:pt>
                <c:pt idx="2">
                  <c:v>116.88</c:v>
                </c:pt>
                <c:pt idx="3">
                  <c:v>130.44</c:v>
                </c:pt>
                <c:pt idx="4">
                  <c:v>80.16</c:v>
                </c:pt>
                <c:pt idx="5">
                  <c:v>0.24</c:v>
                </c:pt>
                <c:pt idx="6" formatCode="[$$-2809]#,##0">
                  <c:v>8919.7109858399999</c:v>
                </c:pt>
                <c:pt idx="7" formatCode="[$$-2809]#,##0">
                  <c:v>9905.9637777200005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3AE-4BC1-BCE8-F5544E808E35}"/>
            </c:ext>
          </c:extLst>
        </c:ser>
        <c:ser>
          <c:idx val="7"/>
          <c:order val="7"/>
          <c:tx>
            <c:strRef>
              <c:f>ServiceName!$A$9</c:f>
              <c:strCache>
                <c:ptCount val="1"/>
                <c:pt idx="0">
                  <c:v>API Management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ServiceName!$B$1:$I$1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ServiceName!$B$9:$I$9</c:f>
              <c:numCache>
                <c:formatCode>_-[$$-409]* #,##0_ ;_-[$$-409]* \-#,##0\ ;_-[$$-409]* "-"??_ ;_-@_ </c:formatCode>
                <c:ptCount val="8"/>
                <c:pt idx="1">
                  <c:v>406</c:v>
                </c:pt>
                <c:pt idx="2">
                  <c:v>2848.7759999999998</c:v>
                </c:pt>
                <c:pt idx="3">
                  <c:v>3097.6610000000001</c:v>
                </c:pt>
                <c:pt idx="4">
                  <c:v>5693.723</c:v>
                </c:pt>
                <c:pt idx="5" formatCode="[$$-2809]#,##0">
                  <c:v>5513.76</c:v>
                </c:pt>
                <c:pt idx="6" formatCode="[$$-2809]#,##0">
                  <c:v>6103.4260000000004</c:v>
                </c:pt>
                <c:pt idx="7" formatCode="[$$-2809]#,##0">
                  <c:v>6758.1850000000004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3AE-4BC1-BCE8-F5544E808E35}"/>
            </c:ext>
          </c:extLst>
        </c:ser>
        <c:ser>
          <c:idx val="8"/>
          <c:order val="8"/>
          <c:tx>
            <c:strRef>
              <c:f>ServiceName!$A$10</c:f>
              <c:strCache>
                <c:ptCount val="1"/>
                <c:pt idx="0">
                  <c:v>Foundry Tools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ServiceName!$B$1:$I$1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ServiceName!$B$10:$I$10</c:f>
              <c:numCache>
                <c:formatCode>_-[$$-409]* #,##0_ ;_-[$$-409]* \-#,##0\ ;_-[$$-409]* "-"??_ ;_-@_ </c:formatCode>
                <c:ptCount val="8"/>
                <c:pt idx="0">
                  <c:v>4410.3743141799996</c:v>
                </c:pt>
                <c:pt idx="1">
                  <c:v>4615</c:v>
                </c:pt>
                <c:pt idx="2">
                  <c:v>3603.9826200000002</c:v>
                </c:pt>
                <c:pt idx="3">
                  <c:v>2174.3320399999998</c:v>
                </c:pt>
                <c:pt idx="4">
                  <c:v>3400.1147500000002</c:v>
                </c:pt>
                <c:pt idx="5" formatCode="[$$-2809]#,##0">
                  <c:v>6155.84195</c:v>
                </c:pt>
                <c:pt idx="6" formatCode="[$$-2809]#,##0">
                  <c:v>7321.6679800000002</c:v>
                </c:pt>
                <c:pt idx="7" formatCode="[$$-2809]#,##0">
                  <c:v>6373.6917000000003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3AE-4BC1-BCE8-F5544E808E35}"/>
            </c:ext>
          </c:extLst>
        </c:ser>
        <c:ser>
          <c:idx val="9"/>
          <c:order val="9"/>
          <c:tx>
            <c:strRef>
              <c:f>ServiceName!$A$11</c:f>
              <c:strCache>
                <c:ptCount val="1"/>
                <c:pt idx="0">
                  <c:v>Azure Data Factory v2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ServiceName!$B$1:$I$1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ServiceName!$B$11:$I$11</c:f>
              <c:numCache>
                <c:formatCode>_-[$$-409]* #,##0_ ;_-[$$-409]* \-#,##0\ ;_-[$$-409]* "-"??_ ;_-@_ </c:formatCode>
                <c:ptCount val="8"/>
                <c:pt idx="0">
                  <c:v>5378.2964974148899</c:v>
                </c:pt>
                <c:pt idx="1">
                  <c:v>4721</c:v>
                </c:pt>
                <c:pt idx="2">
                  <c:v>4467.3230131294004</c:v>
                </c:pt>
                <c:pt idx="3">
                  <c:v>3732.6784815416399</c:v>
                </c:pt>
                <c:pt idx="4">
                  <c:v>3844.8355539361701</c:v>
                </c:pt>
                <c:pt idx="5" formatCode="[$$-2809]#,##0">
                  <c:v>3730.02894484439</c:v>
                </c:pt>
                <c:pt idx="6" formatCode="[$$-2809]#,##0">
                  <c:v>4340.3412338481803</c:v>
                </c:pt>
                <c:pt idx="7" formatCode="[$$-2809]#,##0">
                  <c:v>3944.4055656118599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3AE-4BC1-BCE8-F5544E808E35}"/>
            </c:ext>
          </c:extLst>
        </c:ser>
        <c:ser>
          <c:idx val="10"/>
          <c:order val="10"/>
          <c:tx>
            <c:strRef>
              <c:f>ServiceName!$A$12</c:f>
              <c:strCache>
                <c:ptCount val="1"/>
                <c:pt idx="0">
                  <c:v>Azure Cognitive Search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ServiceName!$B$1:$I$1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ServiceName!$B$12:$I$12</c:f>
              <c:numCache>
                <c:formatCode>_-[$$-409]* #,##0_ ;_-[$$-409]* \-#,##0\ ;_-[$$-409]* "-"??_ ;_-@_ </c:formatCode>
                <c:ptCount val="8"/>
                <c:pt idx="0">
                  <c:v>573.99199999999996</c:v>
                </c:pt>
                <c:pt idx="1">
                  <c:v>590</c:v>
                </c:pt>
                <c:pt idx="2">
                  <c:v>931.21199999999999</c:v>
                </c:pt>
                <c:pt idx="3">
                  <c:v>1234.8</c:v>
                </c:pt>
                <c:pt idx="4">
                  <c:v>1882.914</c:v>
                </c:pt>
                <c:pt idx="5">
                  <c:v>2692.4</c:v>
                </c:pt>
                <c:pt idx="6" formatCode="[$$-2809]#,##0">
                  <c:v>3025.848</c:v>
                </c:pt>
                <c:pt idx="7" formatCode="[$$-2809]#,##0">
                  <c:v>3106.7869999999998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3AE-4BC1-BCE8-F5544E808E35}"/>
            </c:ext>
          </c:extLst>
        </c:ser>
        <c:ser>
          <c:idx val="11"/>
          <c:order val="11"/>
          <c:tx>
            <c:strRef>
              <c:f>ServiceName!$A$13</c:f>
              <c:strCache>
                <c:ptCount val="1"/>
                <c:pt idx="0">
                  <c:v>Azure Database for PostgreSQL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ServiceName!$B$1:$I$1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ServiceName!$B$13:$I$13</c:f>
              <c:numCache>
                <c:formatCode>_-[$$-409]* #,##0_ ;_-[$$-409]* \-#,##0\ ;_-[$$-409]* "-"??_ ;_-@_ </c:formatCode>
                <c:ptCount val="8"/>
                <c:pt idx="0">
                  <c:v>202.20375053763399</c:v>
                </c:pt>
                <c:pt idx="1">
                  <c:v>282</c:v>
                </c:pt>
                <c:pt idx="2">
                  <c:v>527.86041075268804</c:v>
                </c:pt>
                <c:pt idx="3">
                  <c:v>790.757368888889</c:v>
                </c:pt>
                <c:pt idx="4">
                  <c:v>1100.8987582453401</c:v>
                </c:pt>
                <c:pt idx="5">
                  <c:v>1649.3749437256299</c:v>
                </c:pt>
                <c:pt idx="6" formatCode="[$$-2809]#,##0">
                  <c:v>2438.6012083027499</c:v>
                </c:pt>
                <c:pt idx="7" formatCode="[$$-2809]#,##0">
                  <c:v>2730.2117326538701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3AE-4BC1-BCE8-F5544E808E35}"/>
            </c:ext>
          </c:extLst>
        </c:ser>
        <c:ser>
          <c:idx val="12"/>
          <c:order val="12"/>
          <c:tx>
            <c:strRef>
              <c:f>ServiceName!$A$14</c:f>
              <c:strCache>
                <c:ptCount val="1"/>
                <c:pt idx="0">
                  <c:v>Log Analytics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ServiceName!$B$1:$I$1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ServiceName!$B$14:$I$14</c:f>
              <c:numCache>
                <c:formatCode>_-[$$-409]* #,##0_ ;_-[$$-409]* \-#,##0\ ;_-[$$-409]* "-"??_ ;_-@_ </c:formatCode>
                <c:ptCount val="8"/>
                <c:pt idx="0">
                  <c:v>7521.9156027769004</c:v>
                </c:pt>
                <c:pt idx="1">
                  <c:v>3955</c:v>
                </c:pt>
                <c:pt idx="2">
                  <c:v>10858.9800369642</c:v>
                </c:pt>
                <c:pt idx="3">
                  <c:v>3911.9680609840543</c:v>
                </c:pt>
                <c:pt idx="4">
                  <c:v>2204.5171839060999</c:v>
                </c:pt>
                <c:pt idx="5" formatCode="[$$-2809]#,##0">
                  <c:v>2318.7254982309</c:v>
                </c:pt>
                <c:pt idx="6" formatCode="[$$-2809]#,##0">
                  <c:v>2680.5012508106502</c:v>
                </c:pt>
                <c:pt idx="7" formatCode="[$$-2809]#,##0">
                  <c:v>1912.20320327843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3AE-4BC1-BCE8-F5544E808E35}"/>
            </c:ext>
          </c:extLst>
        </c:ser>
        <c:ser>
          <c:idx val="13"/>
          <c:order val="13"/>
          <c:tx>
            <c:strRef>
              <c:f>ServiceName!$A$15</c:f>
              <c:strCache>
                <c:ptCount val="1"/>
                <c:pt idx="0">
                  <c:v>Sentinel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ServiceName!$B$1:$I$1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ServiceName!$B$15:$I$15</c:f>
              <c:numCache>
                <c:formatCode>_-[$$-409]* #,##0_ ;_-[$$-409]* \-#,##0\ ;_-[$$-409]* "-"??_ ;_-@_ </c:formatCode>
                <c:ptCount val="8"/>
                <c:pt idx="0">
                  <c:v>1732.047636111</c:v>
                </c:pt>
                <c:pt idx="1">
                  <c:v>1468</c:v>
                </c:pt>
                <c:pt idx="2">
                  <c:v>8874.9009923028007</c:v>
                </c:pt>
                <c:pt idx="3">
                  <c:v>3278.0319390159457</c:v>
                </c:pt>
                <c:pt idx="4">
                  <c:v>1333.2047905930001</c:v>
                </c:pt>
                <c:pt idx="5" formatCode="[$$-2809]#,##0">
                  <c:v>1369.6714531499999</c:v>
                </c:pt>
                <c:pt idx="6" formatCode="[$$-2809]#,##0">
                  <c:v>1467.7336316395999</c:v>
                </c:pt>
                <c:pt idx="7" formatCode="[$$-2809]#,##0">
                  <c:v>967.20765804519999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3AE-4BC1-BCE8-F5544E808E35}"/>
            </c:ext>
          </c:extLst>
        </c:ser>
        <c:ser>
          <c:idx val="14"/>
          <c:order val="14"/>
          <c:tx>
            <c:strRef>
              <c:f>ServiceName!$A$16</c:f>
              <c:strCache>
                <c:ptCount val="1"/>
                <c:pt idx="0">
                  <c:v>Azure Databricks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ServiceName!$B$1:$I$1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ServiceName!$B$16:$I$16</c:f>
              <c:numCache>
                <c:formatCode>_-[$$-409]* #,##0_ ;_-[$$-409]* \-#,##0\ ;_-[$$-409]* "-"??_ ;_-@_ </c:formatCode>
                <c:ptCount val="8"/>
                <c:pt idx="0">
                  <c:v>24556.128328681301</c:v>
                </c:pt>
                <c:pt idx="1">
                  <c:v>18645</c:v>
                </c:pt>
                <c:pt idx="2">
                  <c:v>22427.8948659081</c:v>
                </c:pt>
                <c:pt idx="3">
                  <c:v>19936.3261300677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3AE-4BC1-BCE8-F5544E808E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92644688"/>
        <c:axId val="592645168"/>
      </c:barChart>
      <c:dateAx>
        <c:axId val="592644688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592645168"/>
        <c:crosses val="autoZero"/>
        <c:auto val="1"/>
        <c:lblOffset val="100"/>
        <c:baseTimeUnit val="months"/>
      </c:dateAx>
      <c:valAx>
        <c:axId val="5926451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592644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3346094303941608"/>
          <c:y val="0.72950175075523482"/>
          <c:w val="0.72429572627349226"/>
          <c:h val="0.1733294209387141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6541837815217246E-2"/>
          <c:y val="0.1942593635350095"/>
          <c:w val="0.90219131262438346"/>
          <c:h val="0.4722224786380014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'Market place'!$A$2</c:f>
              <c:strCache>
                <c:ptCount val="1"/>
                <c:pt idx="0">
                  <c:v>Elastic Search (Elasticsearch) – An Azure Native ISV Service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'Market place'!$B$1:$I$1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'Market place'!$B$2:$I$2</c:f>
              <c:numCache>
                <c:formatCode>_-[$$-409]* #,##0_ ;_-[$$-409]* \-#,##0\ ;_-[$$-409]* "-"??_ ;_-@_ 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00-613C-4084-853C-167F9DE167E8}"/>
            </c:ext>
          </c:extLst>
        </c:ser>
        <c:ser>
          <c:idx val="1"/>
          <c:order val="1"/>
          <c:tx>
            <c:strRef>
              <c:f>'Market place'!$A$3</c:f>
              <c:strCache>
                <c:ptCount val="1"/>
                <c:pt idx="0">
                  <c:v>Elasticsearch – An Azure Native ISV Service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'Market place'!$B$1:$I$1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'Market place'!$B$3:$I$3</c:f>
              <c:numCache>
                <c:formatCode>_-[$$-409]* #,##0_ ;_-[$$-409]* \-#,##0\ ;_-[$$-409]* "-"??_ ;_-@_ 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01-613C-4084-853C-167F9DE167E8}"/>
            </c:ext>
          </c:extLst>
        </c:ser>
        <c:ser>
          <c:idx val="2"/>
          <c:order val="2"/>
          <c:tx>
            <c:strRef>
              <c:f>'Market place'!$A$4</c:f>
              <c:strCache>
                <c:ptCount val="1"/>
                <c:pt idx="0">
                  <c:v>Gem Security-Gem Security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'Market place'!$B$1:$I$1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'Market place'!$B$4:$I$4</c:f>
              <c:numCache>
                <c:formatCode>_-[$$-409]* #,##0_ ;_-[$$-409]* \-#,##0\ ;_-[$$-409]* "-"??_ ;_-@_ 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02-613C-4084-853C-167F9DE167E8}"/>
            </c:ext>
          </c:extLst>
        </c:ser>
        <c:ser>
          <c:idx val="3"/>
          <c:order val="3"/>
          <c:tx>
            <c:strRef>
              <c:f>'Market place'!$A$5</c:f>
              <c:strCache>
                <c:ptCount val="1"/>
                <c:pt idx="0">
                  <c:v>Elasticsearch –Search &amp; Vector Database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'Market place'!$B$1:$I$1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'Market place'!$B$5:$I$5</c:f>
              <c:numCache>
                <c:formatCode>_-[$$-409]* #,##0_ ;_-[$$-409]* \-#,##0\ ;_-[$$-409]* "-"??_ ;_-@_ </c:formatCode>
                <c:ptCount val="8"/>
                <c:pt idx="0">
                  <c:v>2141</c:v>
                </c:pt>
                <c:pt idx="1">
                  <c:v>1958</c:v>
                </c:pt>
                <c:pt idx="2">
                  <c:v>2173</c:v>
                </c:pt>
                <c:pt idx="3">
                  <c:v>2125</c:v>
                </c:pt>
                <c:pt idx="4">
                  <c:v>3285</c:v>
                </c:pt>
                <c:pt idx="5">
                  <c:v>4303.4556000000011</c:v>
                </c:pt>
                <c:pt idx="6">
                  <c:v>4867</c:v>
                </c:pt>
                <c:pt idx="7">
                  <c:v>4888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3C-4084-853C-167F9DE167E8}"/>
            </c:ext>
          </c:extLst>
        </c:ser>
        <c:ser>
          <c:idx val="4"/>
          <c:order val="4"/>
          <c:tx>
            <c:strRef>
              <c:f>'Market place'!$A$6</c:f>
              <c:strCache>
                <c:ptCount val="1"/>
                <c:pt idx="0">
                  <c:v>commvault cloud: backup &amp;recovery  - Co Term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'Market place'!$B$1:$I$1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'Market place'!$B$6:$I$6</c:f>
              <c:numCache>
                <c:formatCode>_-[$$-409]* #,##0_ ;_-[$$-409]* \-#,##0\ ;_-[$$-409]* "-"??_ ;_-@_ </c:formatCode>
                <c:ptCount val="8"/>
                <c:pt idx="2">
                  <c:v>1647</c:v>
                </c:pt>
                <c:pt idx="4">
                  <c:v>2445.3000000000002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3C-4084-853C-167F9DE167E8}"/>
            </c:ext>
          </c:extLst>
        </c:ser>
        <c:ser>
          <c:idx val="5"/>
          <c:order val="5"/>
          <c:tx>
            <c:strRef>
              <c:f>'Market place'!$A$7</c:f>
              <c:strCache>
                <c:ptCount val="1"/>
                <c:pt idx="0">
                  <c:v>commvault cloud: backup &amp;recovery  - Add-on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'Market place'!$B$1:$I$1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'Market place'!$B$7:$I$7</c:f>
              <c:numCache>
                <c:formatCode>_-[$$-409]* #,##0_ ;_-[$$-409]* \-#,##0\ ;_-[$$-409]* "-"??_ ;_-@_ 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05-613C-4084-853C-167F9DE167E8}"/>
            </c:ext>
          </c:extLst>
        </c:ser>
        <c:ser>
          <c:idx val="6"/>
          <c:order val="6"/>
          <c:tx>
            <c:strRef>
              <c:f>'Market place'!$A$8</c:f>
              <c:strCache>
                <c:ptCount val="1"/>
                <c:pt idx="0">
                  <c:v>Varonis -- Find, Monitor &amp; Protect Sensitive Data-Varonis Data Security Plan - 2 year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'Market place'!$B$1:$I$1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'Market place'!$B$8:$I$8</c:f>
              <c:numCache>
                <c:formatCode>_-[$$-409]* #,##0_ ;_-[$$-409]* \-#,##0\ ;_-[$$-409]* "-"??_ ;_-@_ 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06-613C-4084-853C-167F9DE167E8}"/>
            </c:ext>
          </c:extLst>
        </c:ser>
        <c:ser>
          <c:idx val="7"/>
          <c:order val="7"/>
          <c:tx>
            <c:strRef>
              <c:f>'Market place'!$A$9</c:f>
              <c:strCache>
                <c:ptCount val="1"/>
                <c:pt idx="0">
                  <c:v>Databricks commit contract - Azure P3 pre purchase plan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'Market place'!$B$1:$I$1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'Market place'!$B$9:$I$9</c:f>
              <c:numCache>
                <c:formatCode>_-[$$-409]* #,##0_ ;_-[$$-409]* \-#,##0\ ;_-[$$-409]* "-"??_ ;_-@_ </c:formatCode>
                <c:ptCount val="8"/>
                <c:pt idx="3">
                  <c:v>504000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13C-4084-853C-167F9DE167E8}"/>
            </c:ext>
          </c:extLst>
        </c:ser>
        <c:ser>
          <c:idx val="8"/>
          <c:order val="8"/>
          <c:tx>
            <c:strRef>
              <c:f>'Market place'!$A$10</c:f>
              <c:strCache>
                <c:ptCount val="1"/>
                <c:pt idx="0">
                  <c:v>commvault cloud: backup &amp;recovery  - Commvault renewal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'Market place'!$B$1:$I$1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'Market place'!$B$10:$I$10</c:f>
              <c:numCache>
                <c:formatCode>_-[$$-409]* #,##0_ ;_-[$$-409]* \-#,##0\ ;_-[$$-409]* "-"??_ ;_-@_ 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08-613C-4084-853C-167F9DE167E8}"/>
            </c:ext>
          </c:extLst>
        </c:ser>
        <c:ser>
          <c:idx val="9"/>
          <c:order val="9"/>
          <c:tx>
            <c:strRef>
              <c:f>'Market place'!$A$11</c:f>
              <c:strCache>
                <c:ptCount val="1"/>
                <c:pt idx="0">
                  <c:v>Commvault Cloud: Backup &amp; Recovery-Commvault Add-on July 2026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'Market place'!$B$1:$I$1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'Market place'!$B$11:$I$11</c:f>
              <c:numCache>
                <c:formatCode>_-[$$-409]* #,##0_ ;_-[$$-409]* \-#,##0\ ;_-[$$-409]* "-"??_ ;_-@_ </c:formatCode>
                <c:ptCount val="8"/>
                <c:pt idx="6">
                  <c:v>22030.5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13C-4084-853C-167F9DE167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35784703"/>
        <c:axId val="1935793823"/>
      </c:barChart>
      <c:dateAx>
        <c:axId val="1935784703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935793823"/>
        <c:crosses val="autoZero"/>
        <c:auto val="1"/>
        <c:lblOffset val="100"/>
        <c:baseTimeUnit val="months"/>
      </c:dateAx>
      <c:valAx>
        <c:axId val="1935793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93578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6.3639883568468059E-2"/>
          <c:y val="0.75929737973843547"/>
          <c:w val="0.86190683033047266"/>
          <c:h val="0.2042300398264988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484577454079183"/>
          <c:y val="0.10530579181855002"/>
          <c:w val="0.83458593311517593"/>
          <c:h val="0.3729378147294163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'Costcenter - Data Cloud'!$A$19</c:f>
              <c:strCache>
                <c:ptCount val="1"/>
                <c:pt idx="0">
                  <c:v>Azure Databricks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'Costcenter - Data Cloud'!$B$18:$I$18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Cloud'!$B$19:$I$19</c:f>
              <c:numCache>
                <c:formatCode>_-[$$-409]* #,##0_ ;_-[$$-409]* \-#,##0\ ;_-[$$-409]* "-"??_ ;_-@_ </c:formatCode>
                <c:ptCount val="8"/>
                <c:pt idx="0">
                  <c:v>13661.8140420827</c:v>
                </c:pt>
                <c:pt idx="1">
                  <c:v>14023</c:v>
                </c:pt>
                <c:pt idx="2">
                  <c:v>19412</c:v>
                </c:pt>
                <c:pt idx="3">
                  <c:v>16633.5287841912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AF-43A3-A916-BC0230EE5643}"/>
            </c:ext>
          </c:extLst>
        </c:ser>
        <c:ser>
          <c:idx val="1"/>
          <c:order val="1"/>
          <c:tx>
            <c:strRef>
              <c:f>'Costcenter - Data Cloud'!$A$20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'Costcenter - Data Cloud'!$B$18:$I$18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Cloud'!$B$20:$I$20</c:f>
              <c:numCache>
                <c:formatCode>_-[$$-409]* #,##0_ ;_-[$$-409]* \-#,##0\ ;_-[$$-409]* "-"??_ ;_-@_ </c:formatCode>
                <c:ptCount val="8"/>
                <c:pt idx="0">
                  <c:v>8001.6925873322198</c:v>
                </c:pt>
                <c:pt idx="1">
                  <c:v>8851</c:v>
                </c:pt>
                <c:pt idx="2">
                  <c:v>9977</c:v>
                </c:pt>
                <c:pt idx="3">
                  <c:v>8938.3433143066995</c:v>
                </c:pt>
                <c:pt idx="4">
                  <c:v>10192.343315365601</c:v>
                </c:pt>
                <c:pt idx="5">
                  <c:v>10365.582747348401</c:v>
                </c:pt>
                <c:pt idx="6">
                  <c:v>11078.3250279284</c:v>
                </c:pt>
                <c:pt idx="7">
                  <c:v>11266.727111509001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AF-43A3-A916-BC0230EE5643}"/>
            </c:ext>
          </c:extLst>
        </c:ser>
        <c:ser>
          <c:idx val="2"/>
          <c:order val="2"/>
          <c:tx>
            <c:strRef>
              <c:f>'Costcenter - Data Cloud'!$A$21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'Costcenter - Data Cloud'!$B$18:$I$18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Cloud'!$B$21:$I$21</c:f>
              <c:numCache>
                <c:formatCode>_-[$$-409]* #,##0_ ;_-[$$-409]* \-#,##0\ ;_-[$$-409]* "-"??_ ;_-@_ </c:formatCode>
                <c:ptCount val="8"/>
                <c:pt idx="0">
                  <c:v>5134.3088317676002</c:v>
                </c:pt>
                <c:pt idx="1">
                  <c:v>5630</c:v>
                </c:pt>
                <c:pt idx="2">
                  <c:v>5747</c:v>
                </c:pt>
                <c:pt idx="3">
                  <c:v>5515.4152377904002</c:v>
                </c:pt>
                <c:pt idx="4">
                  <c:v>6124.5939864205802</c:v>
                </c:pt>
                <c:pt idx="5">
                  <c:v>6488.3133572342103</c:v>
                </c:pt>
                <c:pt idx="6">
                  <c:v>6847.0753362125397</c:v>
                </c:pt>
                <c:pt idx="7">
                  <c:v>6917.5992457147204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BAF-43A3-A916-BC0230EE5643}"/>
            </c:ext>
          </c:extLst>
        </c:ser>
        <c:ser>
          <c:idx val="3"/>
          <c:order val="3"/>
          <c:tx>
            <c:strRef>
              <c:f>'Costcenter - Data Cloud'!$A$22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'Costcenter - Data Cloud'!$B$18:$I$18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Cloud'!$B$22:$I$22</c:f>
              <c:numCache>
                <c:formatCode>_-[$$-409]* #,##0_ ;_-[$$-409]* \-#,##0\ ;_-[$$-409]* "-"??_ ;_-@_ </c:formatCode>
                <c:ptCount val="8"/>
                <c:pt idx="0">
                  <c:v>4756.1798061008603</c:v>
                </c:pt>
                <c:pt idx="1">
                  <c:v>4988</c:v>
                </c:pt>
                <c:pt idx="2">
                  <c:v>5905.2960274289799</c:v>
                </c:pt>
                <c:pt idx="3">
                  <c:v>5036.8276696554904</c:v>
                </c:pt>
                <c:pt idx="4">
                  <c:v>5067.4891993948204</c:v>
                </c:pt>
                <c:pt idx="5">
                  <c:v>6698.62609599392</c:v>
                </c:pt>
                <c:pt idx="6">
                  <c:v>7400.6239360584304</c:v>
                </c:pt>
                <c:pt idx="7">
                  <c:v>7093.8956250071196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BAF-43A3-A916-BC0230EE5643}"/>
            </c:ext>
          </c:extLst>
        </c:ser>
        <c:ser>
          <c:idx val="4"/>
          <c:order val="4"/>
          <c:tx>
            <c:strRef>
              <c:f>'Costcenter - Data Cloud'!$A$23</c:f>
              <c:strCache>
                <c:ptCount val="1"/>
                <c:pt idx="0">
                  <c:v>Foundry Models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'Costcenter - Data Cloud'!$B$18:$I$18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Cloud'!$B$23:$I$23</c:f>
              <c:numCache>
                <c:formatCode>_-[$$-409]* #,##0_ ;_-[$$-409]* \-#,##0\ ;_-[$$-409]* "-"??_ ;_-@_ </c:formatCode>
                <c:ptCount val="8"/>
                <c:pt idx="0">
                  <c:v>1347.06270023719</c:v>
                </c:pt>
                <c:pt idx="1">
                  <c:v>2243</c:v>
                </c:pt>
                <c:pt idx="2">
                  <c:v>1274.4727410562</c:v>
                </c:pt>
                <c:pt idx="3">
                  <c:v>4218.0774225790001</c:v>
                </c:pt>
                <c:pt idx="4">
                  <c:v>10329.633683742</c:v>
                </c:pt>
                <c:pt idx="5">
                  <c:v>5769.9639472440003</c:v>
                </c:pt>
                <c:pt idx="6">
                  <c:v>6649.770193503</c:v>
                </c:pt>
                <c:pt idx="7">
                  <c:v>8990.8281181900002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BAF-43A3-A916-BC0230EE5643}"/>
            </c:ext>
          </c:extLst>
        </c:ser>
        <c:ser>
          <c:idx val="5"/>
          <c:order val="5"/>
          <c:tx>
            <c:strRef>
              <c:f>'Costcenter - Data Cloud'!$A$24</c:f>
              <c:strCache>
                <c:ptCount val="1"/>
                <c:pt idx="0">
                  <c:v>Azure Data Factory v2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'Costcenter - Data Cloud'!$B$18:$I$18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Cloud'!$B$24:$I$24</c:f>
              <c:numCache>
                <c:formatCode>_-[$$-409]* #,##0_ ;_-[$$-409]* \-#,##0\ ;_-[$$-409]* "-"??_ ;_-@_ </c:formatCode>
                <c:ptCount val="8"/>
                <c:pt idx="0">
                  <c:v>5176.5043424148898</c:v>
                </c:pt>
                <c:pt idx="1">
                  <c:v>4633</c:v>
                </c:pt>
                <c:pt idx="2">
                  <c:v>4369.8252497960702</c:v>
                </c:pt>
                <c:pt idx="3">
                  <c:v>3542.9305448749701</c:v>
                </c:pt>
                <c:pt idx="4">
                  <c:v>3762.0353606028398</c:v>
                </c:pt>
                <c:pt idx="5">
                  <c:v>3591.5673448443899</c:v>
                </c:pt>
                <c:pt idx="6">
                  <c:v>3936.1293271815098</c:v>
                </c:pt>
                <c:pt idx="7">
                  <c:v>3820.5572689451901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BAF-43A3-A916-BC0230EE5643}"/>
            </c:ext>
          </c:extLst>
        </c:ser>
        <c:ser>
          <c:idx val="6"/>
          <c:order val="6"/>
          <c:tx>
            <c:strRef>
              <c:f>'Costcenter - Data Cloud'!$A$25</c:f>
              <c:strCache>
                <c:ptCount val="1"/>
                <c:pt idx="0">
                  <c:v>Foundry Tools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Data Cloud'!$B$18:$I$18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Cloud'!$B$25:$I$25</c:f>
              <c:numCache>
                <c:formatCode>_-[$$-409]* #,##0_ ;_-[$$-409]* \-#,##0\ ;_-[$$-409]* "-"??_ ;_-@_ </c:formatCode>
                <c:ptCount val="8"/>
                <c:pt idx="0">
                  <c:v>4271.4940141799998</c:v>
                </c:pt>
                <c:pt idx="1">
                  <c:v>4337</c:v>
                </c:pt>
                <c:pt idx="2">
                  <c:v>3298.7460000000001</c:v>
                </c:pt>
                <c:pt idx="3">
                  <c:v>1922.73064</c:v>
                </c:pt>
                <c:pt idx="4">
                  <c:v>3305.1741999999999</c:v>
                </c:pt>
                <c:pt idx="5">
                  <c:v>5675.4956000000002</c:v>
                </c:pt>
                <c:pt idx="6">
                  <c:v>6603.5818799999997</c:v>
                </c:pt>
                <c:pt idx="7">
                  <c:v>5935.9351999999999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BAF-43A3-A916-BC0230EE5643}"/>
            </c:ext>
          </c:extLst>
        </c:ser>
        <c:ser>
          <c:idx val="7"/>
          <c:order val="7"/>
          <c:tx>
            <c:strRef>
              <c:f>'Costcenter - Data Cloud'!$A$26</c:f>
              <c:strCache>
                <c:ptCount val="1"/>
                <c:pt idx="0">
                  <c:v>SQL Database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Data Cloud'!$B$18:$I$18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Cloud'!$B$26:$I$26</c:f>
              <c:numCache>
                <c:formatCode>_-[$$-409]* #,##0_ ;_-[$$-409]* \-#,##0\ ;_-[$$-409]* "-"??_ ;_-@_ </c:formatCode>
                <c:ptCount val="8"/>
                <c:pt idx="0">
                  <c:v>967.77049702597901</c:v>
                </c:pt>
                <c:pt idx="1">
                  <c:v>874</c:v>
                </c:pt>
                <c:pt idx="2">
                  <c:v>966</c:v>
                </c:pt>
                <c:pt idx="3">
                  <c:v>973.661124922765</c:v>
                </c:pt>
                <c:pt idx="4">
                  <c:v>1029.0058583331599</c:v>
                </c:pt>
                <c:pt idx="5">
                  <c:v>1043.5762008454001</c:v>
                </c:pt>
                <c:pt idx="6">
                  <c:v>908.96541680993903</c:v>
                </c:pt>
                <c:pt idx="7">
                  <c:v>1072.3798926089401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BAF-43A3-A916-BC0230EE5643}"/>
            </c:ext>
          </c:extLst>
        </c:ser>
        <c:ser>
          <c:idx val="8"/>
          <c:order val="8"/>
          <c:tx>
            <c:strRef>
              <c:f>'Costcenter - Data Cloud'!$A$27</c:f>
              <c:strCache>
                <c:ptCount val="1"/>
                <c:pt idx="0">
                  <c:v>Azure Cognitive Search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Data Cloud'!$B$18:$I$18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Cloud'!$B$27:$I$27</c:f>
              <c:numCache>
                <c:formatCode>_-[$$-409]* #,##0_ ;_-[$$-409]* \-#,##0\ ;_-[$$-409]* "-"??_ ;_-@_ </c:formatCode>
                <c:ptCount val="8"/>
                <c:pt idx="0">
                  <c:v>550.55999999999995</c:v>
                </c:pt>
                <c:pt idx="1">
                  <c:v>522</c:v>
                </c:pt>
                <c:pt idx="2">
                  <c:v>625.70399999999995</c:v>
                </c:pt>
                <c:pt idx="3">
                  <c:v>605.52</c:v>
                </c:pt>
                <c:pt idx="4">
                  <c:v>716.42399999999998</c:v>
                </c:pt>
                <c:pt idx="5">
                  <c:v>1089.3599999999999</c:v>
                </c:pt>
                <c:pt idx="6">
                  <c:v>1125.672</c:v>
                </c:pt>
                <c:pt idx="7">
                  <c:v>1125.672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BAF-43A3-A916-BC0230EE5643}"/>
            </c:ext>
          </c:extLst>
        </c:ser>
        <c:ser>
          <c:idx val="9"/>
          <c:order val="9"/>
          <c:tx>
            <c:strRef>
              <c:f>'Costcenter - Data Cloud'!$A$28</c:f>
              <c:strCache>
                <c:ptCount val="1"/>
                <c:pt idx="0">
                  <c:v>Event Hubs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Data Cloud'!$B$18:$I$18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Cloud'!$B$28:$I$28</c:f>
              <c:numCache>
                <c:formatCode>_-[$$-409]* #,##0_ ;_-[$$-409]* \-#,##0\ ;_-[$$-409]* "-"??_ ;_-@_ </c:formatCode>
                <c:ptCount val="8"/>
                <c:pt idx="0">
                  <c:v>993.12383986400005</c:v>
                </c:pt>
                <c:pt idx="1">
                  <c:v>703</c:v>
                </c:pt>
                <c:pt idx="2">
                  <c:v>351.45078661999997</c:v>
                </c:pt>
                <c:pt idx="3">
                  <c:v>358.81360890399998</c:v>
                </c:pt>
                <c:pt idx="4">
                  <c:v>649.40740819999996</c:v>
                </c:pt>
                <c:pt idx="5">
                  <c:v>663.92274734800003</c:v>
                </c:pt>
                <c:pt idx="6">
                  <c:v>791.5222986</c:v>
                </c:pt>
                <c:pt idx="7">
                  <c:v>897.92959172799999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7BAF-43A3-A916-BC0230EE5643}"/>
            </c:ext>
          </c:extLst>
        </c:ser>
        <c:ser>
          <c:idx val="10"/>
          <c:order val="10"/>
          <c:tx>
            <c:strRef>
              <c:f>'Costcenter - Data Cloud'!$A$29</c:f>
              <c:strCache>
                <c:ptCount val="1"/>
                <c:pt idx="0">
                  <c:v>Redis Cache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Data Cloud'!$B$18:$I$18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Cloud'!$B$29:$I$29</c:f>
              <c:numCache>
                <c:formatCode>General</c:formatCode>
                <c:ptCount val="8"/>
                <c:pt idx="3" formatCode="_-[$$-409]* #,##0_ ;_-[$$-409]* \-#,##0\ ;_-[$$-409]* &quot;-&quot;??_ ;_-@_ ">
                  <c:v>403.80977704222198</c:v>
                </c:pt>
                <c:pt idx="4" formatCode="_-[$$-409]* #,##0_ ;_-[$$-409]* \-#,##0\ ;_-[$$-409]* &quot;-&quot;??_ ;_-@_ ">
                  <c:v>528.79546996555598</c:v>
                </c:pt>
                <c:pt idx="5" formatCode="_-[$$-409]* #,##0_ ;_-[$$-409]* \-#,##0\ ;_-[$$-409]* &quot;-&quot;??_ ;_-@_ ">
                  <c:v>690.44495333333305</c:v>
                </c:pt>
                <c:pt idx="6" formatCode="_-[$$-409]* #,##0_ ;_-[$$-409]* \-#,##0\ ;_-[$$-409]* &quot;-&quot;??_ ;_-@_ ">
                  <c:v>1257.5638532299999</c:v>
                </c:pt>
                <c:pt idx="7" formatCode="_-[$$-409]* #,##0_ ;_-[$$-409]* \-#,##0\ ;_-[$$-409]* &quot;-&quot;??_ ;_-@_ ">
                  <c:v>1257.5638337697701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BAF-43A3-A916-BC0230EE5643}"/>
            </c:ext>
          </c:extLst>
        </c:ser>
        <c:ser>
          <c:idx val="11"/>
          <c:order val="11"/>
          <c:tx>
            <c:strRef>
              <c:f>'Costcenter - Data Cloud'!$A$30</c:f>
              <c:strCache>
                <c:ptCount val="1"/>
                <c:pt idx="0">
                  <c:v>Functions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Data Cloud'!$B$18:$I$18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Cloud'!$B$30:$I$30</c:f>
              <c:numCache>
                <c:formatCode>General</c:formatCode>
                <c:ptCount val="8"/>
                <c:pt idx="3" formatCode="_-[$$-409]* #,##0_ ;_-[$$-409]* \-#,##0\ ;_-[$$-409]* &quot;-&quot;??_ ;_-@_ ">
                  <c:v>304.36935119999998</c:v>
                </c:pt>
                <c:pt idx="4" formatCode="_-[$$-409]* #,##0_ ;_-[$$-409]* \-#,##0\ ;_-[$$-409]* &quot;-&quot;??_ ;_-@_ ">
                  <c:v>313.821356980357</c:v>
                </c:pt>
                <c:pt idx="5" formatCode="_-[$$-409]* #,##0_ ;_-[$$-409]* \-#,##0\ ;_-[$$-409]* &quot;-&quot;??_ ;_-@_ ">
                  <c:v>304.36935119999998</c:v>
                </c:pt>
                <c:pt idx="6" formatCode="_-[$$-409]* #,##0_ ;_-[$$-409]* \-#,##0\ ;_-[$$-409]* &quot;-&quot;??_ ;_-@_ ">
                  <c:v>314.51499624000002</c:v>
                </c:pt>
                <c:pt idx="7" formatCode="_-[$$-409]* #,##0_ ;_-[$$-409]* \-#,##0\ ;_-[$$-409]* &quot;-&quot;??_ ;_-@_ ">
                  <c:v>314.51499624000002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7BAF-43A3-A916-BC0230EE5643}"/>
            </c:ext>
          </c:extLst>
        </c:ser>
        <c:ser>
          <c:idx val="12"/>
          <c:order val="12"/>
          <c:tx>
            <c:strRef>
              <c:f>'Costcenter - Data Cloud'!$A$31</c:f>
              <c:strCache>
                <c:ptCount val="1"/>
                <c:pt idx="0">
                  <c:v>Application Gateway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Data Cloud'!$B$18:$I$18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Cloud'!$B$31:$I$31</c:f>
              <c:numCache>
                <c:formatCode>General</c:formatCode>
                <c:ptCount val="8"/>
                <c:pt idx="3" formatCode="_-[$$-409]* #,##0_ ;_-[$$-409]* \-#,##0\ ;_-[$$-409]* &quot;-&quot;??_ ;_-@_ ">
                  <c:v>302.39999999999998</c:v>
                </c:pt>
                <c:pt idx="4" formatCode="_-[$$-409]* #,##0_ ;_-[$$-409]* \-#,##0\ ;_-[$$-409]* &quot;-&quot;??_ ;_-@_ ">
                  <c:v>312.48</c:v>
                </c:pt>
                <c:pt idx="5" formatCode="_-[$$-409]* #,##0_ ;_-[$$-409]* \-#,##0\ ;_-[$$-409]* &quot;-&quot;??_ ;_-@_ ">
                  <c:v>302.39999999999998</c:v>
                </c:pt>
                <c:pt idx="6" formatCode="_-[$$-409]* #,##0_ ;_-[$$-409]* \-#,##0\ ;_-[$$-409]* &quot;-&quot;??_ ;_-@_ ">
                  <c:v>312.48</c:v>
                </c:pt>
                <c:pt idx="7" formatCode="_-[$$-409]* #,##0_ ;_-[$$-409]* \-#,##0\ ;_-[$$-409]* &quot;-&quot;??_ ;_-@_ ">
                  <c:v>312.48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BAF-43A3-A916-BC0230EE5643}"/>
            </c:ext>
          </c:extLst>
        </c:ser>
        <c:ser>
          <c:idx val="13"/>
          <c:order val="13"/>
          <c:tx>
            <c:strRef>
              <c:f>'Costcenter - Data Cloud'!$A$32</c:f>
              <c:strCache>
                <c:ptCount val="1"/>
                <c:pt idx="0">
                  <c:v>Other services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Data Cloud'!$B$18:$I$18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Cloud'!$B$32:$I$32</c:f>
              <c:numCache>
                <c:formatCode>_-[$$-409]* #,##0_ ;_-[$$-409]* \-#,##0\ ;_-[$$-409]* "-"??_ ;_-@_ </c:formatCode>
                <c:ptCount val="8"/>
                <c:pt idx="0">
                  <c:v>2601.4028297437253</c:v>
                </c:pt>
                <c:pt idx="1">
                  <c:v>2394</c:v>
                </c:pt>
                <c:pt idx="2">
                  <c:v>2609</c:v>
                </c:pt>
                <c:pt idx="3">
                  <c:v>1478.5802356567938</c:v>
                </c:pt>
                <c:pt idx="4">
                  <c:v>1593.2609308518674</c:v>
                </c:pt>
                <c:pt idx="5">
                  <c:v>1706.9880037052687</c:v>
                </c:pt>
                <c:pt idx="6">
                  <c:v>1891.5994780172921</c:v>
                </c:pt>
                <c:pt idx="7">
                  <c:v>1881.9100536218339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7BAF-43A3-A916-BC0230EE56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95475440"/>
        <c:axId val="495467760"/>
      </c:barChart>
      <c:dateAx>
        <c:axId val="49547544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495467760"/>
        <c:crosses val="autoZero"/>
        <c:auto val="1"/>
        <c:lblOffset val="100"/>
        <c:baseTimeUnit val="months"/>
      </c:dateAx>
      <c:valAx>
        <c:axId val="495467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495475440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9.0740316704019247E-2"/>
          <c:y val="0.59993416909954778"/>
          <c:w val="0.84865429859207064"/>
          <c:h val="0.235354413532543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'Costcenter - Data Cloud'!$A$2</c:f>
              <c:strCache>
                <c:ptCount val="1"/>
                <c:pt idx="0">
                  <c:v>DataCloud prod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'Costcenter - Data Cloud'!$B$1:$I$1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Cloud'!$B$2:$I$2</c:f>
              <c:numCache>
                <c:formatCode>_-[$$-409]* #,##0_ ;_-[$$-409]* \-#,##0\ ;_-[$$-409]* "-"??_ ;_-@_ </c:formatCode>
                <c:ptCount val="8"/>
                <c:pt idx="0">
                  <c:v>40269.803915317898</c:v>
                </c:pt>
                <c:pt idx="1">
                  <c:v>41870.087339999998</c:v>
                </c:pt>
                <c:pt idx="2">
                  <c:v>48649</c:v>
                </c:pt>
                <c:pt idx="3">
                  <c:v>42196.407309765404</c:v>
                </c:pt>
                <c:pt idx="4">
                  <c:v>29317.958560400599</c:v>
                </c:pt>
                <c:pt idx="5">
                  <c:v>33038.948358092101</c:v>
                </c:pt>
                <c:pt idx="6">
                  <c:v>36010.248054628799</c:v>
                </c:pt>
                <c:pt idx="7">
                  <c:v>38518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9E-4E0A-91AA-8C06C94C958B}"/>
            </c:ext>
          </c:extLst>
        </c:ser>
        <c:ser>
          <c:idx val="1"/>
          <c:order val="1"/>
          <c:tx>
            <c:strRef>
              <c:f>'Costcenter - Data Cloud'!$A$3</c:f>
              <c:strCache>
                <c:ptCount val="1"/>
                <c:pt idx="0">
                  <c:v>Solugen Production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'Costcenter - Data Cloud'!$B$1:$I$1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Cloud'!$B$3:$I$3</c:f>
              <c:numCache>
                <c:formatCode>_-[$$-409]* #,##0_ ;_-[$$-409]* \-#,##0\ ;_-[$$-409]* "-"??_ ;_-@_ </c:formatCode>
                <c:ptCount val="8"/>
                <c:pt idx="0">
                  <c:v>854.15560898649096</c:v>
                </c:pt>
                <c:pt idx="1">
                  <c:v>702.77880000000005</c:v>
                </c:pt>
                <c:pt idx="2">
                  <c:v>620.89161065237602</c:v>
                </c:pt>
                <c:pt idx="3">
                  <c:v>1545.48017249705</c:v>
                </c:pt>
                <c:pt idx="4">
                  <c:v>10021.984252832301</c:v>
                </c:pt>
                <c:pt idx="5">
                  <c:v>6749.22868463534</c:v>
                </c:pt>
                <c:pt idx="6">
                  <c:v>8415.8681488252605</c:v>
                </c:pt>
                <c:pt idx="7">
                  <c:v>7128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9E-4E0A-91AA-8C06C94C958B}"/>
            </c:ext>
          </c:extLst>
        </c:ser>
        <c:ser>
          <c:idx val="2"/>
          <c:order val="2"/>
          <c:tx>
            <c:strRef>
              <c:f>'Costcenter - Data Cloud'!$A$4</c:f>
              <c:strCache>
                <c:ptCount val="1"/>
                <c:pt idx="0">
                  <c:v>DataCloud dev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'Costcenter - Data Cloud'!$B$1:$I$1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Cloud'!$B$4:$I$4</c:f>
              <c:numCache>
                <c:formatCode>_-[$$-409]* #,##0_ ;_-[$$-409]* \-#,##0\ ;_-[$$-409]* "-"??_ ;_-@_ </c:formatCode>
                <c:ptCount val="8"/>
                <c:pt idx="0">
                  <c:v>3242.7291184053402</c:v>
                </c:pt>
                <c:pt idx="1">
                  <c:v>2995.174</c:v>
                </c:pt>
                <c:pt idx="2">
                  <c:v>2380</c:v>
                </c:pt>
                <c:pt idx="3">
                  <c:v>3985.63251084688</c:v>
                </c:pt>
                <c:pt idx="4">
                  <c:v>1715.0230351155301</c:v>
                </c:pt>
                <c:pt idx="5">
                  <c:v>1838.6476088813599</c:v>
                </c:pt>
                <c:pt idx="6">
                  <c:v>1579.0451947061299</c:v>
                </c:pt>
                <c:pt idx="7">
                  <c:v>1324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9E-4E0A-91AA-8C06C94C958B}"/>
            </c:ext>
          </c:extLst>
        </c:ser>
        <c:ser>
          <c:idx val="3"/>
          <c:order val="3"/>
          <c:tx>
            <c:strRef>
              <c:f>'Costcenter - Data Cloud'!$A$5</c:f>
              <c:strCache>
                <c:ptCount val="1"/>
                <c:pt idx="0">
                  <c:v>INSAIT Production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'Costcenter - Data Cloud'!$B$1:$I$1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Cloud'!$B$5:$I$5</c:f>
              <c:numCache>
                <c:formatCode>_-[$$-409]* #,##0_ ;_-[$$-409]* \-#,##0\ ;_-[$$-409]* "-"??_ ;_-@_ </c:formatCode>
                <c:ptCount val="8"/>
                <c:pt idx="0">
                  <c:v>1063.62889552467</c:v>
                </c:pt>
                <c:pt idx="1">
                  <c:v>1914.413</c:v>
                </c:pt>
                <c:pt idx="2">
                  <c:v>1364.4821021360001</c:v>
                </c:pt>
                <c:pt idx="3">
                  <c:v>1354.40264916868</c:v>
                </c:pt>
                <c:pt idx="4">
                  <c:v>1456.6044522663501</c:v>
                </c:pt>
                <c:pt idx="5">
                  <c:v>1604.47974500596</c:v>
                </c:pt>
                <c:pt idx="6">
                  <c:v>1983.37923967184</c:v>
                </c:pt>
                <c:pt idx="7">
                  <c:v>2721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D9E-4E0A-91AA-8C06C94C958B}"/>
            </c:ext>
          </c:extLst>
        </c:ser>
        <c:ser>
          <c:idx val="4"/>
          <c:order val="4"/>
          <c:tx>
            <c:strRef>
              <c:f>'Costcenter - Data Cloud'!$A$6</c:f>
              <c:strCache>
                <c:ptCount val="1"/>
                <c:pt idx="0">
                  <c:v>Solugen Dev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'Costcenter - Data Cloud'!$B$1:$I$1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Cloud'!$B$6:$I$6</c:f>
              <c:numCache>
                <c:formatCode>_-[$$-409]* #,##0_ ;_-[$$-409]* \-#,##0\ ;_-[$$-409]* "-"??_ ;_-@_ </c:formatCode>
                <c:ptCount val="8"/>
                <c:pt idx="1">
                  <c:v>124.4684</c:v>
                </c:pt>
                <c:pt idx="2">
                  <c:v>286.386163703926</c:v>
                </c:pt>
                <c:pt idx="3">
                  <c:v>342.85631008122999</c:v>
                </c:pt>
                <c:pt idx="4">
                  <c:v>505.386087048837</c:v>
                </c:pt>
                <c:pt idx="5">
                  <c:v>342.440734894515</c:v>
                </c:pt>
                <c:pt idx="6">
                  <c:v>298.95233377139999</c:v>
                </c:pt>
                <c:pt idx="7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D9E-4E0A-91AA-8C06C94C958B}"/>
            </c:ext>
          </c:extLst>
        </c:ser>
        <c:ser>
          <c:idx val="5"/>
          <c:order val="5"/>
          <c:tx>
            <c:strRef>
              <c:f>'Costcenter - Data Cloud'!$A$7</c:f>
              <c:strCache>
                <c:ptCount val="1"/>
                <c:pt idx="0">
                  <c:v>Sandbox System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'Costcenter - Data Cloud'!$B$1:$I$1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Cloud'!$B$7:$I$7</c:f>
              <c:numCache>
                <c:formatCode>_-[$$-409]* #,##0_ ;_-[$$-409]* \-#,##0\ ;_-[$$-409]* "-"??_ ;_-@_ </c:formatCode>
                <c:ptCount val="8"/>
                <c:pt idx="0">
                  <c:v>263.88930867195501</c:v>
                </c:pt>
                <c:pt idx="1">
                  <c:v>308.02960000000002</c:v>
                </c:pt>
                <c:pt idx="2">
                  <c:v>265</c:v>
                </c:pt>
                <c:pt idx="3">
                  <c:v>260.07049893124002</c:v>
                </c:pt>
                <c:pt idx="4">
                  <c:v>335.75172123051999</c:v>
                </c:pt>
                <c:pt idx="5">
                  <c:v>256.14479620280002</c:v>
                </c:pt>
                <c:pt idx="6">
                  <c:v>267.42935904820001</c:v>
                </c:pt>
                <c:pt idx="7">
                  <c:v>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D9E-4E0A-91AA-8C06C94C958B}"/>
            </c:ext>
          </c:extLst>
        </c:ser>
        <c:ser>
          <c:idx val="6"/>
          <c:order val="6"/>
          <c:tx>
            <c:strRef>
              <c:f>'Costcenter - Data Cloud'!$A$8</c:f>
              <c:strCache>
                <c:ptCount val="1"/>
                <c:pt idx="0">
                  <c:v>DataCloud dev 1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Data Cloud'!$B$1:$I$1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Cloud'!$B$8:$I$8</c:f>
              <c:numCache>
                <c:formatCode>_-[$$-409]* #,##0_ ;_-[$$-409]* \-#,##0\ ;_-[$$-409]* "-"??_ ;_-@_ </c:formatCode>
                <c:ptCount val="8"/>
                <c:pt idx="0">
                  <c:v>324.17348935309502</c:v>
                </c:pt>
                <c:pt idx="1">
                  <c:v>274.99770000000001</c:v>
                </c:pt>
                <c:pt idx="2">
                  <c:v>285.85826173195898</c:v>
                </c:pt>
                <c:pt idx="3">
                  <c:v>269.835617807647</c:v>
                </c:pt>
                <c:pt idx="4">
                  <c:v>281.574357715095</c:v>
                </c:pt>
                <c:pt idx="5">
                  <c:v>269.20809907309501</c:v>
                </c:pt>
                <c:pt idx="6">
                  <c:v>278.231997389095</c:v>
                </c:pt>
                <c:pt idx="7">
                  <c:v>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D9E-4E0A-91AA-8C06C94C958B}"/>
            </c:ext>
          </c:extLst>
        </c:ser>
        <c:ser>
          <c:idx val="7"/>
          <c:order val="7"/>
          <c:tx>
            <c:strRef>
              <c:f>'Costcenter - Data Cloud'!$A$9</c:f>
              <c:strCache>
                <c:ptCount val="1"/>
                <c:pt idx="0">
                  <c:v>DataCloud prod 4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Data Cloud'!$B$1:$I$1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Cloud'!$B$9:$I$9</c:f>
              <c:numCache>
                <c:formatCode>_-[$$-409]* #,##0_ ;_-[$$-409]* \-#,##0\ ;_-[$$-409]* "-"??_ ;_-@_ </c:formatCode>
                <c:ptCount val="8"/>
                <c:pt idx="0">
                  <c:v>622.42032676771998</c:v>
                </c:pt>
                <c:pt idx="1">
                  <c:v>144.8338</c:v>
                </c:pt>
                <c:pt idx="2">
                  <c:v>157.05079736248001</c:v>
                </c:pt>
                <c:pt idx="3">
                  <c:v>155.02660702540001</c:v>
                </c:pt>
                <c:pt idx="4">
                  <c:v>163.289895198983</c:v>
                </c:pt>
                <c:pt idx="5">
                  <c:v>169.10562275539999</c:v>
                </c:pt>
                <c:pt idx="6">
                  <c:v>158.18941574048</c:v>
                </c:pt>
                <c:pt idx="7">
                  <c:v>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D9E-4E0A-91AA-8C06C94C958B}"/>
            </c:ext>
          </c:extLst>
        </c:ser>
        <c:ser>
          <c:idx val="8"/>
          <c:order val="8"/>
          <c:tx>
            <c:strRef>
              <c:f>'Costcenter - Data Cloud'!$A$10</c:f>
              <c:strCache>
                <c:ptCount val="1"/>
                <c:pt idx="0">
                  <c:v>DataCloud prod 5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Data Cloud'!$B$1:$I$1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Cloud'!$B$10:$I$10</c:f>
              <c:numCache>
                <c:formatCode>_-[$$-409]* #,##0_ ;_-[$$-409]* \-#,##0\ ;_-[$$-409]* "-"??_ ;_-@_ </c:formatCode>
                <c:ptCount val="8"/>
                <c:pt idx="0">
                  <c:v>53.246918491999999</c:v>
                </c:pt>
                <c:pt idx="1">
                  <c:v>33.632159999999999</c:v>
                </c:pt>
                <c:pt idx="2">
                  <c:v>37.226182545999997</c:v>
                </c:pt>
                <c:pt idx="3">
                  <c:v>38.896034999999998</c:v>
                </c:pt>
                <c:pt idx="4">
                  <c:v>38.107533329445999</c:v>
                </c:pt>
                <c:pt idx="5">
                  <c:v>36</c:v>
                </c:pt>
                <c:pt idx="6">
                  <c:v>37.200000000000003</c:v>
                </c:pt>
                <c:pt idx="7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D9E-4E0A-91AA-8C06C94C958B}"/>
            </c:ext>
          </c:extLst>
        </c:ser>
        <c:ser>
          <c:idx val="9"/>
          <c:order val="9"/>
          <c:tx>
            <c:strRef>
              <c:f>'Costcenter - Data Cloud'!$A$11</c:f>
              <c:strCache>
                <c:ptCount val="1"/>
                <c:pt idx="0">
                  <c:v>DataCloud prod 1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Data Cloud'!$B$1:$I$1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Cloud'!$B$11:$I$11</c:f>
              <c:numCache>
                <c:formatCode>_-[$$-409]* #,##0_ ;_-[$$-409]* \-#,##0\ ;_-[$$-409]* "-"??_ ;_-@_ </c:formatCode>
                <c:ptCount val="8"/>
                <c:pt idx="0">
                  <c:v>359.18674105000002</c:v>
                </c:pt>
                <c:pt idx="1">
                  <c:v>383.22500000000002</c:v>
                </c:pt>
                <c:pt idx="2">
                  <c:v>219.24182452319999</c:v>
                </c:pt>
                <c:pt idx="3">
                  <c:v>28.8</c:v>
                </c:pt>
                <c:pt idx="4">
                  <c:v>29.76</c:v>
                </c:pt>
                <c:pt idx="5">
                  <c:v>28.8</c:v>
                </c:pt>
                <c:pt idx="6">
                  <c:v>29.76</c:v>
                </c:pt>
                <c:pt idx="7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D9E-4E0A-91AA-8C06C94C958B}"/>
            </c:ext>
          </c:extLst>
        </c:ser>
        <c:ser>
          <c:idx val="10"/>
          <c:order val="10"/>
          <c:tx>
            <c:strRef>
              <c:f>'Costcenter - Data Cloud'!$A$12</c:f>
              <c:strCache>
                <c:ptCount val="1"/>
                <c:pt idx="0">
                  <c:v>DataCloud prod 2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Data Cloud'!$B$1:$I$1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Cloud'!$B$12:$I$12</c:f>
              <c:numCache>
                <c:formatCode>_-[$$-409]* #,##0_ ;_-[$$-409]* \-#,##0\ ;_-[$$-409]* "-"??_ ;_-@_ </c:formatCode>
                <c:ptCount val="8"/>
                <c:pt idx="0">
                  <c:v>290.92793669999998</c:v>
                </c:pt>
                <c:pt idx="1">
                  <c:v>318.8236</c:v>
                </c:pt>
                <c:pt idx="2">
                  <c:v>182</c:v>
                </c:pt>
                <c:pt idx="3">
                  <c:v>28.8</c:v>
                </c:pt>
                <c:pt idx="4">
                  <c:v>29.76</c:v>
                </c:pt>
                <c:pt idx="5">
                  <c:v>28.8</c:v>
                </c:pt>
                <c:pt idx="6">
                  <c:v>29.76</c:v>
                </c:pt>
                <c:pt idx="7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D9E-4E0A-91AA-8C06C94C958B}"/>
            </c:ext>
          </c:extLst>
        </c:ser>
        <c:ser>
          <c:idx val="11"/>
          <c:order val="11"/>
          <c:tx>
            <c:strRef>
              <c:f>'Costcenter - Data Cloud'!$A$13</c:f>
              <c:strCache>
                <c:ptCount val="1"/>
                <c:pt idx="0">
                  <c:v>DataCloud prod 3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Data Cloud'!$B$1:$I$1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Data Cloud'!$B$13:$I$13</c:f>
              <c:numCache>
                <c:formatCode>_-[$$-409]* #,##0_ ;_-[$$-409]* \-#,##0\ ;_-[$$-409]* "-"??_ ;_-@_ </c:formatCode>
                <c:ptCount val="8"/>
                <c:pt idx="0">
                  <c:v>117.75123148</c:v>
                </c:pt>
                <c:pt idx="1">
                  <c:v>127.53660000000001</c:v>
                </c:pt>
                <c:pt idx="2">
                  <c:v>89.209866804000001</c:v>
                </c:pt>
                <c:pt idx="3">
                  <c:v>28.8</c:v>
                </c:pt>
                <c:pt idx="4">
                  <c:v>29.76</c:v>
                </c:pt>
                <c:pt idx="5">
                  <c:v>28.8</c:v>
                </c:pt>
                <c:pt idx="6">
                  <c:v>29.76</c:v>
                </c:pt>
                <c:pt idx="7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6D9E-4E0A-91AA-8C06C94C95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92701648"/>
        <c:axId val="492707888"/>
      </c:barChart>
      <c:dateAx>
        <c:axId val="492701648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492707888"/>
        <c:crosses val="autoZero"/>
        <c:auto val="1"/>
        <c:lblOffset val="100"/>
        <c:baseTimeUnit val="months"/>
      </c:dateAx>
      <c:valAx>
        <c:axId val="492707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492701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5055146569580491"/>
          <c:y val="0.75994693782750389"/>
          <c:w val="0.6821363299129255"/>
          <c:h val="0.2400530621724961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'Costcenter VIEW Opswat mail'!$A$2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'Costcenter VIEW Opswat mail'!$B$1:$I$1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VIEW Opswat mail'!$B$2:$I$2</c:f>
              <c:numCache>
                <c:formatCode>_-[$$-409]* #,##0_ ;_-[$$-409]* \-#,##0\ ;_-[$$-409]* "-"??_ ;_-@_ </c:formatCode>
                <c:ptCount val="8"/>
                <c:pt idx="0">
                  <c:v>1518</c:v>
                </c:pt>
                <c:pt idx="1">
                  <c:v>1372</c:v>
                </c:pt>
                <c:pt idx="2">
                  <c:v>1518</c:v>
                </c:pt>
                <c:pt idx="3">
                  <c:v>1469</c:v>
                </c:pt>
                <c:pt idx="4">
                  <c:v>1518.553568997</c:v>
                </c:pt>
                <c:pt idx="5">
                  <c:v>1469</c:v>
                </c:pt>
                <c:pt idx="6">
                  <c:v>1519</c:v>
                </c:pt>
                <c:pt idx="7">
                  <c:v>1518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6C-4D78-855D-D4E418EE19F2}"/>
            </c:ext>
          </c:extLst>
        </c:ser>
        <c:ser>
          <c:idx val="1"/>
          <c:order val="1"/>
          <c:tx>
            <c:strRef>
              <c:f>'Costcenter VIEW Opswat mail'!$A$3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'Costcenter VIEW Opswat mail'!$B$1:$I$1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VIEW Opswat mail'!$B$3:$I$3</c:f>
              <c:numCache>
                <c:formatCode>_-[$$-409]* #,##0_ ;_-[$$-409]* \-#,##0\ ;_-[$$-409]* "-"??_ ;_-@_ </c:formatCode>
                <c:ptCount val="8"/>
                <c:pt idx="0">
                  <c:v>1267</c:v>
                </c:pt>
                <c:pt idx="1">
                  <c:v>1269</c:v>
                </c:pt>
                <c:pt idx="2">
                  <c:v>1261</c:v>
                </c:pt>
                <c:pt idx="3">
                  <c:v>1249</c:v>
                </c:pt>
                <c:pt idx="4">
                  <c:v>1264.5215135599999</c:v>
                </c:pt>
                <c:pt idx="5">
                  <c:v>1267</c:v>
                </c:pt>
                <c:pt idx="6">
                  <c:v>1267</c:v>
                </c:pt>
                <c:pt idx="7">
                  <c:v>1266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6C-4D78-855D-D4E418EE19F2}"/>
            </c:ext>
          </c:extLst>
        </c:ser>
        <c:ser>
          <c:idx val="2"/>
          <c:order val="2"/>
          <c:tx>
            <c:strRef>
              <c:f>'Costcenter VIEW Opswat mail'!$A$4</c:f>
              <c:strCache>
                <c:ptCount val="1"/>
                <c:pt idx="0">
                  <c:v>Load Balancer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'Costcenter VIEW Opswat mail'!$B$1:$I$1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VIEW Opswat mail'!$B$4:$I$4</c:f>
              <c:numCache>
                <c:formatCode>_-[$$-409]* #,##0_ ;_-[$$-409]* \-#,##0\ ;_-[$$-409]* "-"??_ ;_-@_ </c:formatCode>
                <c:ptCount val="8"/>
                <c:pt idx="0">
                  <c:v>26</c:v>
                </c:pt>
                <c:pt idx="1">
                  <c:v>25</c:v>
                </c:pt>
                <c:pt idx="2">
                  <c:v>26</c:v>
                </c:pt>
                <c:pt idx="3">
                  <c:v>24</c:v>
                </c:pt>
                <c:pt idx="4">
                  <c:v>26.4740186636988</c:v>
                </c:pt>
                <c:pt idx="5">
                  <c:v>26</c:v>
                </c:pt>
                <c:pt idx="6">
                  <c:v>27</c:v>
                </c:pt>
                <c:pt idx="7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76C-4D78-855D-D4E418EE19F2}"/>
            </c:ext>
          </c:extLst>
        </c:ser>
        <c:ser>
          <c:idx val="3"/>
          <c:order val="3"/>
          <c:tx>
            <c:strRef>
              <c:f>'Costcenter VIEW Opswat mail'!$A$5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'Costcenter VIEW Opswat mail'!$B$1:$I$1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VIEW Opswat mail'!$B$5:$I$5</c:f>
              <c:numCache>
                <c:formatCode>_-[$$-409]* #,##0_ ;_-[$$-409]* \-#,##0\ ;_-[$$-409]* "-"??_ ;_-@_ </c:formatCode>
                <c:ptCount val="8"/>
                <c:pt idx="0">
                  <c:v>20</c:v>
                </c:pt>
                <c:pt idx="1">
                  <c:v>19</c:v>
                </c:pt>
                <c:pt idx="2">
                  <c:v>18</c:v>
                </c:pt>
                <c:pt idx="3">
                  <c:v>15</c:v>
                </c:pt>
                <c:pt idx="4">
                  <c:v>18.720811717519499</c:v>
                </c:pt>
                <c:pt idx="5">
                  <c:v>20</c:v>
                </c:pt>
                <c:pt idx="6">
                  <c:v>20</c:v>
                </c:pt>
                <c:pt idx="7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76C-4D78-855D-D4E418EE19F2}"/>
            </c:ext>
          </c:extLst>
        </c:ser>
        <c:ser>
          <c:idx val="4"/>
          <c:order val="4"/>
          <c:tx>
            <c:strRef>
              <c:f>'Costcenter VIEW Opswat mail'!$A$6</c:f>
              <c:strCache>
                <c:ptCount val="1"/>
                <c:pt idx="0">
                  <c:v>Bandwidth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'Costcenter VIEW Opswat mail'!$B$1:$I$1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VIEW Opswat mail'!$B$6:$I$6</c:f>
              <c:numCache>
                <c:formatCode>_-[$$-409]* #,##0_ ;_-[$$-409]* \-#,##0\ ;_-[$$-409]* "-"??_ ;_-@_ 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1.14858502998669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76C-4D78-855D-D4E418EE19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95475440"/>
        <c:axId val="495467760"/>
      </c:barChart>
      <c:dateAx>
        <c:axId val="49547544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495467760"/>
        <c:crosses val="autoZero"/>
        <c:auto val="1"/>
        <c:lblOffset val="100"/>
        <c:baseTimeUnit val="months"/>
      </c:dateAx>
      <c:valAx>
        <c:axId val="495467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495475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Cost By Subscription Name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stacked"/>
        <c:varyColors val="0"/>
        <c:ser>
          <c:idx val="2"/>
          <c:order val="0"/>
          <c:tx>
            <c:strRef>
              <c:f>'Costcenter - VIEW Actuary'!$A$2</c:f>
              <c:strCache>
                <c:ptCount val="1"/>
                <c:pt idx="0">
                  <c:v>Actuary prod </c:v>
                </c:pt>
              </c:strCache>
            </c:strRef>
          </c:tx>
          <c:invertIfNegative val="0"/>
          <c:cat>
            <c:numRef>
              <c:f>'Costcenter - VIEW Actuary'!$B$1:$I$1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VIEW Actuary'!$B$2:$I$2</c:f>
              <c:numCache>
                <c:formatCode>_-[$$-409]* #,##0_ ;_-[$$-409]* \-#,##0\ ;_-[$$-409]* "-"??_ ;_-@_ </c:formatCode>
                <c:ptCount val="8"/>
                <c:pt idx="0">
                  <c:v>13750</c:v>
                </c:pt>
                <c:pt idx="1">
                  <c:v>3936</c:v>
                </c:pt>
                <c:pt idx="2">
                  <c:v>2301</c:v>
                </c:pt>
                <c:pt idx="3">
                  <c:v>4702</c:v>
                </c:pt>
                <c:pt idx="4">
                  <c:v>4302</c:v>
                </c:pt>
                <c:pt idx="5">
                  <c:v>2409</c:v>
                </c:pt>
                <c:pt idx="6">
                  <c:v>3634</c:v>
                </c:pt>
                <c:pt idx="7">
                  <c:v>4042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FC-4AF9-A27F-B5A6BF0EDDCE}"/>
            </c:ext>
          </c:extLst>
        </c:ser>
        <c:ser>
          <c:idx val="3"/>
          <c:order val="1"/>
          <c:tx>
            <c:strRef>
              <c:f>'Costcenter - VIEW Actuary'!$A$3</c:f>
              <c:strCache>
                <c:ptCount val="1"/>
                <c:pt idx="0">
                  <c:v>Actuary dev </c:v>
                </c:pt>
              </c:strCache>
            </c:strRef>
          </c:tx>
          <c:invertIfNegative val="0"/>
          <c:cat>
            <c:numRef>
              <c:f>'Costcenter - VIEW Actuary'!$B$1:$I$1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VIEW Actuary'!$B$3:$I$3</c:f>
              <c:numCache>
                <c:formatCode>_-[$$-409]* #,##0_ ;_-[$$-409]* \-#,##0\ ;_-[$$-409]* "-"??_ ;_-@_ </c:formatCode>
                <c:ptCount val="8"/>
                <c:pt idx="0">
                  <c:v>1352</c:v>
                </c:pt>
                <c:pt idx="1">
                  <c:v>1186</c:v>
                </c:pt>
                <c:pt idx="2">
                  <c:v>1248</c:v>
                </c:pt>
                <c:pt idx="3">
                  <c:v>638</c:v>
                </c:pt>
                <c:pt idx="4">
                  <c:v>370</c:v>
                </c:pt>
                <c:pt idx="5">
                  <c:v>324</c:v>
                </c:pt>
                <c:pt idx="6">
                  <c:v>426</c:v>
                </c:pt>
                <c:pt idx="7">
                  <c:v>430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FC-4AF9-A27F-B5A6BF0EDD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8665840"/>
        <c:axId val="368674000"/>
      </c:barChart>
      <c:dateAx>
        <c:axId val="36866584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368674000"/>
        <c:crosses val="autoZero"/>
        <c:auto val="1"/>
        <c:lblOffset val="100"/>
        <c:baseTimeUnit val="months"/>
      </c:dateAx>
      <c:valAx>
        <c:axId val="368674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368665840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/>
  </c:chart>
  <c:txPr>
    <a:bodyPr/>
    <a:lstStyle/>
    <a:p>
      <a:pPr>
        <a:defRPr/>
      </a:pPr>
      <a:endParaRPr lang="en-IL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Cost By Service Name</a:t>
            </a:r>
          </a:p>
        </c:rich>
      </c:tx>
      <c:layout>
        <c:manualLayout>
          <c:xMode val="edge"/>
          <c:yMode val="edge"/>
          <c:x val="0.37890505890505888"/>
          <c:y val="2.0279607656886377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3450936096605387"/>
          <c:y val="0.14031635548877566"/>
          <c:w val="0.83499860854191565"/>
          <c:h val="0.64206969508345846"/>
        </c:manualLayout>
      </c:layout>
      <c:barChart>
        <c:barDir val="col"/>
        <c:grouping val="stacked"/>
        <c:varyColors val="0"/>
        <c:ser>
          <c:idx val="5"/>
          <c:order val="0"/>
          <c:tx>
            <c:strRef>
              <c:f>'Costcenter - VIEW Actuary'!$A$16</c:f>
              <c:strCache>
                <c:ptCount val="1"/>
                <c:pt idx="0">
                  <c:v>Virtual Machines</c:v>
                </c:pt>
              </c:strCache>
            </c:strRef>
          </c:tx>
          <c:invertIfNegative val="0"/>
          <c:cat>
            <c:numRef>
              <c:f>'Costcenter - VIEW Actuary'!$B$15:$I$15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VIEW Actuary'!$B$16:$I$16</c:f>
              <c:numCache>
                <c:formatCode>_-[$$-409]* #,##0_ ;_-[$$-409]* \-#,##0\ ;_-[$$-409]* "-"??_ ;_-@_ </c:formatCode>
                <c:ptCount val="8"/>
                <c:pt idx="0">
                  <c:v>2732</c:v>
                </c:pt>
                <c:pt idx="1">
                  <c:v>757</c:v>
                </c:pt>
                <c:pt idx="2">
                  <c:v>636</c:v>
                </c:pt>
                <c:pt idx="3">
                  <c:v>1075</c:v>
                </c:pt>
                <c:pt idx="4">
                  <c:v>2017</c:v>
                </c:pt>
                <c:pt idx="5">
                  <c:v>968</c:v>
                </c:pt>
                <c:pt idx="6">
                  <c:v>1430</c:v>
                </c:pt>
                <c:pt idx="7">
                  <c:v>2158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7C-441E-BD3D-43EC0B90DCE2}"/>
            </c:ext>
          </c:extLst>
        </c:ser>
        <c:ser>
          <c:idx val="6"/>
          <c:order val="1"/>
          <c:tx>
            <c:strRef>
              <c:f>'Costcenter - VIEW Actuary'!$A$17</c:f>
              <c:strCache>
                <c:ptCount val="1"/>
                <c:pt idx="0">
                  <c:v>Storage</c:v>
                </c:pt>
              </c:strCache>
            </c:strRef>
          </c:tx>
          <c:invertIfNegative val="0"/>
          <c:cat>
            <c:numRef>
              <c:f>'Costcenter - VIEW Actuary'!$B$15:$I$15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VIEW Actuary'!$B$17:$I$17</c:f>
              <c:numCache>
                <c:formatCode>_-[$$-409]* #,##0_ ;_-[$$-409]* \-#,##0\ ;_-[$$-409]* "-"??_ ;_-@_ </c:formatCode>
                <c:ptCount val="8"/>
                <c:pt idx="0">
                  <c:v>549</c:v>
                </c:pt>
                <c:pt idx="1">
                  <c:v>456</c:v>
                </c:pt>
                <c:pt idx="2">
                  <c:v>451</c:v>
                </c:pt>
                <c:pt idx="3">
                  <c:v>850</c:v>
                </c:pt>
                <c:pt idx="4">
                  <c:v>1300</c:v>
                </c:pt>
                <c:pt idx="5">
                  <c:v>865</c:v>
                </c:pt>
                <c:pt idx="6">
                  <c:v>1098</c:v>
                </c:pt>
                <c:pt idx="7">
                  <c:v>1177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7C-441E-BD3D-43EC0B90DCE2}"/>
            </c:ext>
          </c:extLst>
        </c:ser>
        <c:ser>
          <c:idx val="7"/>
          <c:order val="2"/>
          <c:tx>
            <c:strRef>
              <c:f>'Costcenter - VIEW Actuary'!$A$18</c:f>
              <c:strCache>
                <c:ptCount val="1"/>
                <c:pt idx="0">
                  <c:v>Virtual Network</c:v>
                </c:pt>
              </c:strCache>
            </c:strRef>
          </c:tx>
          <c:invertIfNegative val="0"/>
          <c:cat>
            <c:numRef>
              <c:f>'Costcenter - VIEW Actuary'!$B$15:$I$15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VIEW Actuary'!$B$18:$I$18</c:f>
              <c:numCache>
                <c:formatCode>_-[$$-409]* #,##0_ ;_-[$$-409]* \-#,##0\ ;_-[$$-409]* "-"??_ ;_-@_ </c:formatCode>
                <c:ptCount val="8"/>
                <c:pt idx="0">
                  <c:v>762</c:v>
                </c:pt>
                <c:pt idx="1">
                  <c:v>341</c:v>
                </c:pt>
                <c:pt idx="2">
                  <c:v>394</c:v>
                </c:pt>
                <c:pt idx="3">
                  <c:v>643</c:v>
                </c:pt>
                <c:pt idx="4">
                  <c:v>1231</c:v>
                </c:pt>
                <c:pt idx="5">
                  <c:v>737</c:v>
                </c:pt>
                <c:pt idx="6">
                  <c:v>1100</c:v>
                </c:pt>
                <c:pt idx="7">
                  <c:v>988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17C-441E-BD3D-43EC0B90DCE2}"/>
            </c:ext>
          </c:extLst>
        </c:ser>
        <c:ser>
          <c:idx val="8"/>
          <c:order val="3"/>
          <c:tx>
            <c:strRef>
              <c:f>'Costcenter - VIEW Actuary'!$A$19</c:f>
              <c:strCache>
                <c:ptCount val="1"/>
                <c:pt idx="0">
                  <c:v>Azure Data Factory v2</c:v>
                </c:pt>
              </c:strCache>
            </c:strRef>
          </c:tx>
          <c:invertIfNegative val="0"/>
          <c:cat>
            <c:numRef>
              <c:f>'Costcenter - VIEW Actuary'!$B$15:$I$15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VIEW Actuary'!$B$19:$I$19</c:f>
              <c:numCache>
                <c:formatCode>_-[$$-409]* #,##0_ ;_-[$$-409]* \-#,##0\ ;_-[$$-409]* "-"??_ ;_-@_ </c:formatCode>
                <c:ptCount val="8"/>
                <c:pt idx="0">
                  <c:v>202</c:v>
                </c:pt>
                <c:pt idx="1">
                  <c:v>88</c:v>
                </c:pt>
                <c:pt idx="2">
                  <c:v>98</c:v>
                </c:pt>
                <c:pt idx="3">
                  <c:v>190</c:v>
                </c:pt>
                <c:pt idx="4">
                  <c:v>83</c:v>
                </c:pt>
                <c:pt idx="5">
                  <c:v>138</c:v>
                </c:pt>
                <c:pt idx="6">
                  <c:v>405</c:v>
                </c:pt>
                <c:pt idx="7">
                  <c:v>123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17C-441E-BD3D-43EC0B90DCE2}"/>
            </c:ext>
          </c:extLst>
        </c:ser>
        <c:ser>
          <c:idx val="9"/>
          <c:order val="4"/>
          <c:tx>
            <c:strRef>
              <c:f>'Costcenter - VIEW Actuary'!$A$20</c:f>
              <c:strCache>
                <c:ptCount val="1"/>
                <c:pt idx="0">
                  <c:v>Event Hubs</c:v>
                </c:pt>
              </c:strCache>
            </c:strRef>
          </c:tx>
          <c:invertIfNegative val="0"/>
          <c:cat>
            <c:numRef>
              <c:f>'Costcenter - VIEW Actuary'!$B$15:$I$15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VIEW Actuary'!$B$20:$I$20</c:f>
              <c:numCache>
                <c:formatCode>General</c:formatCode>
                <c:ptCount val="8"/>
                <c:pt idx="3" formatCode="_-[$$-409]* #,##0_ ;_-[$$-409]* \-#,##0\ ;_-[$$-409]* &quot;-&quot;??_ ;_-@_ ">
                  <c:v>3.75</c:v>
                </c:pt>
                <c:pt idx="4" formatCode="_-[$$-409]* #,##0_ ;_-[$$-409]* \-#,##0\ ;_-[$$-409]* &quot;-&quot;??_ ;_-@_ ">
                  <c:v>25</c:v>
                </c:pt>
                <c:pt idx="5">
                  <c:v>22</c:v>
                </c:pt>
                <c:pt idx="6">
                  <c:v>22</c:v>
                </c:pt>
                <c:pt idx="7" formatCode="_-[$$-409]* #,##0_ ;_-[$$-409]* \-#,##0\ ;_-[$$-409]* &quot;-&quot;??_ ;_-@_ 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17C-441E-BD3D-43EC0B90DCE2}"/>
            </c:ext>
          </c:extLst>
        </c:ser>
        <c:ser>
          <c:idx val="0"/>
          <c:order val="5"/>
          <c:tx>
            <c:strRef>
              <c:f>'Costcenter - VIEW Actuary'!$A$21</c:f>
              <c:strCache>
                <c:ptCount val="1"/>
                <c:pt idx="0">
                  <c:v>Event Grid</c:v>
                </c:pt>
              </c:strCache>
            </c:strRef>
          </c:tx>
          <c:invertIfNegative val="0"/>
          <c:cat>
            <c:numRef>
              <c:f>'Costcenter - VIEW Actuary'!$B$15:$I$15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VIEW Actuary'!$B$21:$I$21</c:f>
              <c:numCache>
                <c:formatCode>General</c:formatCode>
                <c:ptCount val="8"/>
                <c:pt idx="3" formatCode="_-[$$-409]* #,##0_ ;_-[$$-409]* \-#,##0\ ;_-[$$-409]* &quot;-&quot;??_ ;_-@_ ">
                  <c:v>22</c:v>
                </c:pt>
                <c:pt idx="4" formatCode="_-[$$-409]* #,##0_ ;_-[$$-409]* \-#,##0\ ;_-[$$-409]* &quot;-&quot;??_ ;_-@_ ">
                  <c:v>17</c:v>
                </c:pt>
                <c:pt idx="5">
                  <c:v>2.68</c:v>
                </c:pt>
                <c:pt idx="6">
                  <c:v>4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17C-441E-BD3D-43EC0B90DCE2}"/>
            </c:ext>
          </c:extLst>
        </c:ser>
        <c:ser>
          <c:idx val="1"/>
          <c:order val="6"/>
          <c:tx>
            <c:strRef>
              <c:f>'Costcenter - VIEW Actuary'!$A$22</c:f>
              <c:strCache>
                <c:ptCount val="1"/>
                <c:pt idx="0">
                  <c:v>Bandwidth</c:v>
                </c:pt>
              </c:strCache>
            </c:strRef>
          </c:tx>
          <c:invertIfNegative val="0"/>
          <c:cat>
            <c:numRef>
              <c:f>'Costcenter - VIEW Actuary'!$B$15:$I$15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VIEW Actuary'!$B$22:$I$22</c:f>
              <c:numCache>
                <c:formatCode>_-[$$-409]* #,##0_ ;_-[$$-409]* \-#,##0\ ;_-[$$-409]* "-"??_ ;_-@_ </c:formatCode>
                <c:ptCount val="8"/>
                <c:pt idx="0">
                  <c:v>5</c:v>
                </c:pt>
                <c:pt idx="1">
                  <c:v>2</c:v>
                </c:pt>
                <c:pt idx="2">
                  <c:v>2</c:v>
                </c:pt>
                <c:pt idx="3">
                  <c:v>0.55000000000000004</c:v>
                </c:pt>
                <c:pt idx="5" formatCode="General">
                  <c:v>0.8</c:v>
                </c:pt>
                <c:pt idx="6" formatCode="General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17C-441E-BD3D-43EC0B90DCE2}"/>
            </c:ext>
          </c:extLst>
        </c:ser>
        <c:ser>
          <c:idx val="2"/>
          <c:order val="7"/>
          <c:tx>
            <c:strRef>
              <c:f>'Costcenter - VIEW Actuary'!$A$23</c:f>
              <c:strCache>
                <c:ptCount val="1"/>
                <c:pt idx="0">
                  <c:v>Azure Databricks</c:v>
                </c:pt>
              </c:strCache>
            </c:strRef>
          </c:tx>
          <c:invertIfNegative val="0"/>
          <c:cat>
            <c:numRef>
              <c:f>'Costcenter - VIEW Actuary'!$B$15:$I$15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VIEW Actuary'!$B$23:$I$23</c:f>
              <c:numCache>
                <c:formatCode>_-[$$-409]* #,##0_ ;_-[$$-409]* \-#,##0\ ;_-[$$-409]* "-"??_ ;_-@_ </c:formatCode>
                <c:ptCount val="8"/>
                <c:pt idx="0">
                  <c:v>10852</c:v>
                </c:pt>
                <c:pt idx="1">
                  <c:v>3478</c:v>
                </c:pt>
                <c:pt idx="2">
                  <c:v>1967</c:v>
                </c:pt>
                <c:pt idx="3">
                  <c:v>2557</c:v>
                </c:pt>
                <c:pt idx="4">
                  <c:v>0</c:v>
                </c:pt>
                <c:pt idx="5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17C-441E-BD3D-43EC0B90DC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70238720"/>
        <c:axId val="370235840"/>
      </c:barChart>
      <c:dateAx>
        <c:axId val="37023872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370235840"/>
        <c:crosses val="autoZero"/>
        <c:auto val="1"/>
        <c:lblOffset val="100"/>
        <c:baseTimeUnit val="months"/>
      </c:dateAx>
      <c:valAx>
        <c:axId val="370235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370238720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/>
  </c:chart>
  <c:txPr>
    <a:bodyPr/>
    <a:lstStyle/>
    <a:p>
      <a:pPr>
        <a:defRPr/>
      </a:pPr>
      <a:endParaRPr lang="en-IL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Cost By Service Name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'Costcenter - Sap'!$A$2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'Costcenter - Sap'!$B$1:$I$1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Sap'!$B$2:$I$2</c:f>
              <c:numCache>
                <c:formatCode>_-[$$-409]* #,##0_ ;_-[$$-409]* \-#,##0\ ;_-[$$-409]* "-"??_ ;_-@_ </c:formatCode>
                <c:ptCount val="8"/>
                <c:pt idx="0">
                  <c:v>30152.874993609999</c:v>
                </c:pt>
                <c:pt idx="1">
                  <c:v>28348</c:v>
                </c:pt>
                <c:pt idx="2">
                  <c:v>31348</c:v>
                </c:pt>
                <c:pt idx="3">
                  <c:v>30597</c:v>
                </c:pt>
                <c:pt idx="4">
                  <c:v>35586.317347540498</c:v>
                </c:pt>
                <c:pt idx="5">
                  <c:v>31413</c:v>
                </c:pt>
                <c:pt idx="6">
                  <c:v>30117</c:v>
                </c:pt>
                <c:pt idx="7">
                  <c:v>30608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27-49D5-A7DB-391BC2825A6C}"/>
            </c:ext>
          </c:extLst>
        </c:ser>
        <c:ser>
          <c:idx val="1"/>
          <c:order val="1"/>
          <c:tx>
            <c:strRef>
              <c:f>'Costcenter - Sap'!$A$3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'Costcenter - Sap'!$B$1:$I$1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Sap'!$B$3:$I$3</c:f>
              <c:numCache>
                <c:formatCode>_-[$$-409]* #,##0_ ;_-[$$-409]* \-#,##0\ ;_-[$$-409]* "-"??_ ;_-@_ </c:formatCode>
                <c:ptCount val="8"/>
                <c:pt idx="0">
                  <c:v>11916.958426841</c:v>
                </c:pt>
                <c:pt idx="1">
                  <c:v>10639</c:v>
                </c:pt>
                <c:pt idx="2">
                  <c:v>10074</c:v>
                </c:pt>
                <c:pt idx="3">
                  <c:v>10076</c:v>
                </c:pt>
                <c:pt idx="4">
                  <c:v>10811.808070687999</c:v>
                </c:pt>
                <c:pt idx="5">
                  <c:v>11077</c:v>
                </c:pt>
                <c:pt idx="6">
                  <c:v>10526</c:v>
                </c:pt>
                <c:pt idx="7">
                  <c:v>10478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27-49D5-A7DB-391BC2825A6C}"/>
            </c:ext>
          </c:extLst>
        </c:ser>
        <c:ser>
          <c:idx val="2"/>
          <c:order val="2"/>
          <c:tx>
            <c:strRef>
              <c:f>'Costcenter - Sap'!$A$4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'Costcenter - Sap'!$B$1:$I$1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Sap'!$B$4:$I$4</c:f>
              <c:numCache>
                <c:formatCode>_-[$$-409]* #,##0_ ;_-[$$-409]* \-#,##0\ ;_-[$$-409]* "-"??_ ;_-@_ </c:formatCode>
                <c:ptCount val="8"/>
                <c:pt idx="0">
                  <c:v>195.784040036872</c:v>
                </c:pt>
                <c:pt idx="1">
                  <c:v>112</c:v>
                </c:pt>
                <c:pt idx="2">
                  <c:v>124</c:v>
                </c:pt>
                <c:pt idx="3">
                  <c:v>153</c:v>
                </c:pt>
                <c:pt idx="4">
                  <c:v>166.67006029466199</c:v>
                </c:pt>
                <c:pt idx="5">
                  <c:v>134</c:v>
                </c:pt>
                <c:pt idx="6">
                  <c:v>238</c:v>
                </c:pt>
                <c:pt idx="7">
                  <c:v>194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A27-49D5-A7DB-391BC2825A6C}"/>
            </c:ext>
          </c:extLst>
        </c:ser>
        <c:ser>
          <c:idx val="3"/>
          <c:order val="3"/>
          <c:tx>
            <c:strRef>
              <c:f>'Costcenter - Sap'!$A$5</c:f>
              <c:strCache>
                <c:ptCount val="1"/>
                <c:pt idx="0">
                  <c:v>Bandwidth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'Costcenter - Sap'!$B$1:$I$1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Sap'!$B$5:$I$5</c:f>
              <c:numCache>
                <c:formatCode>_-[$$-409]* #,##0_ ;_-[$$-409]* \-#,##0\ ;_-[$$-409]* "-"??_ ;_-@_ </c:formatCode>
                <c:ptCount val="8"/>
                <c:pt idx="0">
                  <c:v>4.912629E-3</c:v>
                </c:pt>
                <c:pt idx="1">
                  <c:v>0</c:v>
                </c:pt>
                <c:pt idx="4">
                  <c:v>7.6833476760921502E-3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A27-49D5-A7DB-391BC2825A6C}"/>
            </c:ext>
          </c:extLst>
        </c:ser>
        <c:ser>
          <c:idx val="4"/>
          <c:order val="4"/>
          <c:tx>
            <c:strRef>
              <c:f>'Costcenter - Sap'!$A$6</c:f>
              <c:strCache>
                <c:ptCount val="1"/>
                <c:pt idx="0">
                  <c:v>Virtual Machines Licenses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'Costcenter - Sap'!$B$1:$I$1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Sap'!$B$6:$I$6</c:f>
              <c:numCache>
                <c:formatCode>General</c:formatCode>
                <c:ptCount val="8"/>
                <c:pt idx="4" formatCode="_-[$$-409]* #,##0_ ;_-[$$-409]* \-#,##0\ ;_-[$$-409]* &quot;-&quot;??_ ;_-@_ ">
                  <c:v>36.528979795200001</c:v>
                </c:pt>
                <c:pt idx="5" formatCode="_-[$$-409]* #,##0_ ;_-[$$-409]* \-#,##0\ ;_-[$$-409]* &quot;-&quot;??_ ;_-@_ ">
                  <c:v>41</c:v>
                </c:pt>
                <c:pt idx="6" formatCode="_-[$$-409]* #,##0_ ;_-[$$-409]* \-#,##0\ ;_-[$$-409]* &quot;-&quot;??_ ;_-@_ ">
                  <c:v>43</c:v>
                </c:pt>
                <c:pt idx="7" formatCode="_-[$$-409]* #,##0_ ;_-[$$-409]* \-#,##0\ ;_-[$$-409]* &quot;-&quot;??_ ;_-@_ 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27-49D5-A7DB-391BC2825A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79429264"/>
        <c:axId val="479429744"/>
      </c:barChart>
      <c:dateAx>
        <c:axId val="47942926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479429744"/>
        <c:crosses val="autoZero"/>
        <c:auto val="1"/>
        <c:lblOffset val="100"/>
        <c:baseTimeUnit val="months"/>
      </c:dateAx>
      <c:valAx>
        <c:axId val="479429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479429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Cost By Subscription Name</a:t>
            </a:r>
          </a:p>
        </c:rich>
      </c:tx>
      <c:layout>
        <c:manualLayout>
          <c:xMode val="edge"/>
          <c:yMode val="edge"/>
          <c:x val="0.29212085068642324"/>
          <c:y val="4.4062568847763828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stacked"/>
        <c:varyColors val="0"/>
        <c:ser>
          <c:idx val="2"/>
          <c:order val="0"/>
          <c:tx>
            <c:strRef>
              <c:f>'Costcenter - Sap'!$A$15</c:f>
              <c:strCache>
                <c:ptCount val="1"/>
                <c:pt idx="0">
                  <c:v>SAP Dev/Test </c:v>
                </c:pt>
              </c:strCache>
            </c:strRef>
          </c:tx>
          <c:invertIfNegative val="0"/>
          <c:cat>
            <c:numRef>
              <c:f>'Costcenter - Sap'!$B$14:$I$14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Sap'!$B$15:$I$15</c:f>
              <c:numCache>
                <c:formatCode>_-[$$-409]* #,##0_ ;_-[$$-409]* \-#,##0\ ;_-[$$-409]* "-"??_ ;_-@_ </c:formatCode>
                <c:ptCount val="8"/>
                <c:pt idx="0">
                  <c:v>23275.7385824101</c:v>
                </c:pt>
                <c:pt idx="1">
                  <c:v>22687</c:v>
                </c:pt>
                <c:pt idx="2">
                  <c:v>24090</c:v>
                </c:pt>
                <c:pt idx="3">
                  <c:v>23647</c:v>
                </c:pt>
                <c:pt idx="4">
                  <c:v>26321.738576133401</c:v>
                </c:pt>
                <c:pt idx="5">
                  <c:v>24985</c:v>
                </c:pt>
                <c:pt idx="6">
                  <c:v>23467</c:v>
                </c:pt>
                <c:pt idx="7">
                  <c:v>23001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40-48EB-8FEC-D34D32377625}"/>
            </c:ext>
          </c:extLst>
        </c:ser>
        <c:ser>
          <c:idx val="3"/>
          <c:order val="1"/>
          <c:tx>
            <c:strRef>
              <c:f>'Costcenter - Sap'!$A$16</c:f>
              <c:strCache>
                <c:ptCount val="1"/>
                <c:pt idx="0">
                  <c:v>SAP Production </c:v>
                </c:pt>
              </c:strCache>
            </c:strRef>
          </c:tx>
          <c:invertIfNegative val="0"/>
          <c:cat>
            <c:numRef>
              <c:f>'Costcenter - Sap'!$B$14:$I$14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Sap'!$B$16:$I$16</c:f>
              <c:numCache>
                <c:formatCode>_-[$$-409]* #,##0_ ;_-[$$-409]* \-#,##0\ ;_-[$$-409]* "-"??_ ;_-@_ </c:formatCode>
                <c:ptCount val="8"/>
                <c:pt idx="0">
                  <c:v>18989.883790706801</c:v>
                </c:pt>
                <c:pt idx="1">
                  <c:v>16411</c:v>
                </c:pt>
                <c:pt idx="2">
                  <c:v>17456</c:v>
                </c:pt>
                <c:pt idx="3">
                  <c:v>17178</c:v>
                </c:pt>
                <c:pt idx="4">
                  <c:v>20279.593453953101</c:v>
                </c:pt>
                <c:pt idx="5">
                  <c:v>17680</c:v>
                </c:pt>
                <c:pt idx="6">
                  <c:v>17457</c:v>
                </c:pt>
                <c:pt idx="7">
                  <c:v>18322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40-48EB-8FEC-D34D323776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16804272"/>
        <c:axId val="416803312"/>
      </c:barChart>
      <c:dateAx>
        <c:axId val="416804272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416803312"/>
        <c:crosses val="autoZero"/>
        <c:auto val="1"/>
        <c:lblOffset val="100"/>
        <c:baseTimeUnit val="months"/>
      </c:dateAx>
      <c:valAx>
        <c:axId val="416803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416804272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/>
  </c:chart>
  <c:txPr>
    <a:bodyPr/>
    <a:lstStyle/>
    <a:p>
      <a:pPr>
        <a:defRPr/>
      </a:pPr>
      <a:endParaRPr lang="en-IL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Cost By Service Name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3478958880139985"/>
          <c:y val="0.13873740276845245"/>
          <c:w val="0.83465485564304465"/>
          <c:h val="0.63867058249566477"/>
        </c:manualLayout>
      </c:layout>
      <c:barChart>
        <c:barDir val="col"/>
        <c:grouping val="stacked"/>
        <c:varyColors val="0"/>
        <c:ser>
          <c:idx val="10"/>
          <c:order val="0"/>
          <c:tx>
            <c:strRef>
              <c:f>'Costcenter - Cloudit'!$A$2</c:f>
              <c:strCache>
                <c:ptCount val="1"/>
                <c:pt idx="0">
                  <c:v>Virtual Network</c:v>
                </c:pt>
              </c:strCache>
            </c:strRef>
          </c:tx>
          <c:invertIfNegative val="0"/>
          <c:cat>
            <c:numRef>
              <c:f>'Costcenter - Cloudit'!$B$1:$I$1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Cloudit'!$B$2:$I$2</c:f>
              <c:numCache>
                <c:formatCode>_-[$$-409]* #,##0_ ;_-[$$-409]* \-#,##0\ ;_-[$$-409]* "-"??_ ;_-@_ </c:formatCode>
                <c:ptCount val="8"/>
                <c:pt idx="0">
                  <c:v>5740.9137498483396</c:v>
                </c:pt>
                <c:pt idx="1">
                  <c:v>5286</c:v>
                </c:pt>
                <c:pt idx="2">
                  <c:v>5960.0372715101803</c:v>
                </c:pt>
                <c:pt idx="3">
                  <c:v>7306.9011846325902</c:v>
                </c:pt>
                <c:pt idx="4">
                  <c:v>8900.5014917188291</c:v>
                </c:pt>
                <c:pt idx="5">
                  <c:v>8855.6530931890993</c:v>
                </c:pt>
                <c:pt idx="6">
                  <c:v>10913.215276343901</c:v>
                </c:pt>
                <c:pt idx="7">
                  <c:v>10043.119210574299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7A-4DFC-8AC7-2BA8EACF5282}"/>
            </c:ext>
          </c:extLst>
        </c:ser>
        <c:ser>
          <c:idx val="11"/>
          <c:order val="1"/>
          <c:tx>
            <c:strRef>
              <c:f>'Costcenter - Cloudit'!$A$3</c:f>
              <c:strCache>
                <c:ptCount val="1"/>
                <c:pt idx="0">
                  <c:v>Storage</c:v>
                </c:pt>
              </c:strCache>
            </c:strRef>
          </c:tx>
          <c:invertIfNegative val="0"/>
          <c:cat>
            <c:numRef>
              <c:f>'Costcenter - Cloudit'!$B$1:$I$1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Cloudit'!$B$3:$I$3</c:f>
              <c:numCache>
                <c:formatCode>_-[$$-409]* #,##0_ ;_-[$$-409]* \-#,##0\ ;_-[$$-409]* "-"??_ ;_-@_ </c:formatCode>
                <c:ptCount val="8"/>
                <c:pt idx="0">
                  <c:v>5000.4073575696102</c:v>
                </c:pt>
                <c:pt idx="1">
                  <c:v>4756</c:v>
                </c:pt>
                <c:pt idx="2">
                  <c:v>4679.6563111468904</c:v>
                </c:pt>
                <c:pt idx="3">
                  <c:v>4663.36877214588</c:v>
                </c:pt>
                <c:pt idx="4">
                  <c:v>4758.8362723575601</c:v>
                </c:pt>
                <c:pt idx="5">
                  <c:v>4887.14500314836</c:v>
                </c:pt>
                <c:pt idx="6">
                  <c:v>6077.6169926901803</c:v>
                </c:pt>
                <c:pt idx="7">
                  <c:v>6053.8334469191796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7A-4DFC-8AC7-2BA8EACF5282}"/>
            </c:ext>
          </c:extLst>
        </c:ser>
        <c:ser>
          <c:idx val="12"/>
          <c:order val="2"/>
          <c:tx>
            <c:strRef>
              <c:f>'Costcenter - Cloudit'!$A$4</c:f>
              <c:strCache>
                <c:ptCount val="1"/>
                <c:pt idx="0">
                  <c:v>Virtual Machines</c:v>
                </c:pt>
              </c:strCache>
            </c:strRef>
          </c:tx>
          <c:invertIfNegative val="0"/>
          <c:cat>
            <c:numRef>
              <c:f>'Costcenter - Cloudit'!$B$1:$I$1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Cloudit'!$B$4:$I$4</c:f>
              <c:numCache>
                <c:formatCode>_-[$$-409]* #,##0_ ;_-[$$-409]* \-#,##0\ ;_-[$$-409]* "-"??_ ;_-@_ </c:formatCode>
                <c:ptCount val="8"/>
                <c:pt idx="0">
                  <c:v>4242.8836877931299</c:v>
                </c:pt>
                <c:pt idx="1">
                  <c:v>3549</c:v>
                </c:pt>
                <c:pt idx="2">
                  <c:v>4067.0656554899601</c:v>
                </c:pt>
                <c:pt idx="3">
                  <c:v>3938.5974767533298</c:v>
                </c:pt>
                <c:pt idx="4">
                  <c:v>4539.7019113946199</c:v>
                </c:pt>
                <c:pt idx="5">
                  <c:v>4344.1269117101701</c:v>
                </c:pt>
                <c:pt idx="6">
                  <c:v>4847.4305000242703</c:v>
                </c:pt>
                <c:pt idx="7">
                  <c:v>5593.3255949192298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97A-4DFC-8AC7-2BA8EACF5282}"/>
            </c:ext>
          </c:extLst>
        </c:ser>
        <c:ser>
          <c:idx val="13"/>
          <c:order val="3"/>
          <c:tx>
            <c:strRef>
              <c:f>'Costcenter - Cloudit'!$A$5</c:f>
              <c:strCache>
                <c:ptCount val="1"/>
                <c:pt idx="0">
                  <c:v>VPN Gateway</c:v>
                </c:pt>
              </c:strCache>
            </c:strRef>
          </c:tx>
          <c:invertIfNegative val="0"/>
          <c:cat>
            <c:numRef>
              <c:f>'Costcenter - Cloudit'!$B$1:$I$1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Cloudit'!$B$5:$I$5</c:f>
              <c:numCache>
                <c:formatCode>_-[$$-409]* #,##0_ ;_-[$$-409]* \-#,##0\ ;_-[$$-409]* "-"??_ ;_-@_ </c:formatCode>
                <c:ptCount val="8"/>
                <c:pt idx="0">
                  <c:v>2001.36</c:v>
                </c:pt>
                <c:pt idx="1">
                  <c:v>1808</c:v>
                </c:pt>
                <c:pt idx="2">
                  <c:v>2001.36</c:v>
                </c:pt>
                <c:pt idx="3">
                  <c:v>1959.27</c:v>
                </c:pt>
                <c:pt idx="4">
                  <c:v>2157.6</c:v>
                </c:pt>
                <c:pt idx="5">
                  <c:v>2095.54</c:v>
                </c:pt>
                <c:pt idx="6">
                  <c:v>2254.3200000000002</c:v>
                </c:pt>
                <c:pt idx="7">
                  <c:v>2254.3200000000002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97A-4DFC-8AC7-2BA8EACF5282}"/>
            </c:ext>
          </c:extLst>
        </c:ser>
        <c:ser>
          <c:idx val="14"/>
          <c:order val="4"/>
          <c:tx>
            <c:strRef>
              <c:f>'Costcenter - Cloudit'!$A$6</c:f>
              <c:strCache>
                <c:ptCount val="1"/>
                <c:pt idx="0">
                  <c:v>Other services</c:v>
                </c:pt>
              </c:strCache>
            </c:strRef>
          </c:tx>
          <c:invertIfNegative val="0"/>
          <c:cat>
            <c:numRef>
              <c:f>'Costcenter - Cloudit'!$B$1:$I$1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Cloudit'!$B$6:$I$6</c:f>
              <c:numCache>
                <c:formatCode>_-[$$-409]* #,##0_ ;_-[$$-409]* \-#,##0\ ;_-[$$-409]* "-"??_ ;_-@_ </c:formatCode>
                <c:ptCount val="8"/>
                <c:pt idx="0">
                  <c:v>2265</c:v>
                </c:pt>
                <c:pt idx="1">
                  <c:v>1965</c:v>
                </c:pt>
                <c:pt idx="2">
                  <c:v>2206</c:v>
                </c:pt>
                <c:pt idx="3">
                  <c:v>2059</c:v>
                </c:pt>
                <c:pt idx="4">
                  <c:v>2253.4601351213955</c:v>
                </c:pt>
                <c:pt idx="5">
                  <c:v>2467.0936460910457</c:v>
                </c:pt>
                <c:pt idx="6">
                  <c:v>2528.4668072138875</c:v>
                </c:pt>
                <c:pt idx="7">
                  <c:v>2202.2015922445744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97A-4DFC-8AC7-2BA8EACF5282}"/>
            </c:ext>
          </c:extLst>
        </c:ser>
        <c:ser>
          <c:idx val="15"/>
          <c:order val="5"/>
          <c:tx>
            <c:strRef>
              <c:f>'Costcenter - Cloudit'!$A$7</c:f>
              <c:strCache>
                <c:ptCount val="1"/>
                <c:pt idx="0">
                  <c:v>Log Analytics</c:v>
                </c:pt>
              </c:strCache>
            </c:strRef>
          </c:tx>
          <c:invertIfNegative val="0"/>
          <c:cat>
            <c:numRef>
              <c:f>'Costcenter - Cloudit'!$B$1:$I$1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Cloudit'!$B$7:$I$7</c:f>
              <c:numCache>
                <c:formatCode>_-[$$-409]* #,##0_ ;_-[$$-409]* \-#,##0\ ;_-[$$-409]* "-"??_ ;_-@_ </c:formatCode>
                <c:ptCount val="8"/>
                <c:pt idx="0">
                  <c:v>7300.4589424513497</c:v>
                </c:pt>
                <c:pt idx="1">
                  <c:v>3692</c:v>
                </c:pt>
                <c:pt idx="2">
                  <c:v>10596.0861276942</c:v>
                </c:pt>
                <c:pt idx="3">
                  <c:v>3911.9680609840543</c:v>
                </c:pt>
                <c:pt idx="4">
                  <c:v>1966.8852463696801</c:v>
                </c:pt>
                <c:pt idx="5">
                  <c:v>2066.7023296706798</c:v>
                </c:pt>
                <c:pt idx="6">
                  <c:v>2306.0512683669499</c:v>
                </c:pt>
                <c:pt idx="7">
                  <c:v>1565.5631039837101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97A-4DFC-8AC7-2BA8EACF5282}"/>
            </c:ext>
          </c:extLst>
        </c:ser>
        <c:ser>
          <c:idx val="16"/>
          <c:order val="6"/>
          <c:tx>
            <c:strRef>
              <c:f>'Costcenter - Cloudit'!$A$8</c:f>
              <c:strCache>
                <c:ptCount val="1"/>
                <c:pt idx="0">
                  <c:v>Functions</c:v>
                </c:pt>
              </c:strCache>
            </c:strRef>
          </c:tx>
          <c:invertIfNegative val="0"/>
          <c:cat>
            <c:numRef>
              <c:f>'Costcenter - Cloudit'!$B$1:$I$1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Cloudit'!$B$8:$I$8</c:f>
              <c:numCache>
                <c:formatCode>_-[$$-409]* #,##0_ ;_-[$$-409]* \-#,##0\ ;_-[$$-409]* "-"??_ ;_-@_ </c:formatCode>
                <c:ptCount val="8"/>
                <c:pt idx="0">
                  <c:v>909.30343671000003</c:v>
                </c:pt>
                <c:pt idx="1">
                  <c:v>848</c:v>
                </c:pt>
                <c:pt idx="2">
                  <c:v>933.61071128499998</c:v>
                </c:pt>
                <c:pt idx="3">
                  <c:v>854.34785940999996</c:v>
                </c:pt>
                <c:pt idx="4">
                  <c:v>900.37666511182294</c:v>
                </c:pt>
                <c:pt idx="5">
                  <c:v>1041.7836841739199</c:v>
                </c:pt>
                <c:pt idx="6">
                  <c:v>1301.7871942726199</c:v>
                </c:pt>
                <c:pt idx="7">
                  <c:v>1298.42051415077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97A-4DFC-8AC7-2BA8EACF5282}"/>
            </c:ext>
          </c:extLst>
        </c:ser>
        <c:ser>
          <c:idx val="17"/>
          <c:order val="7"/>
          <c:tx>
            <c:strRef>
              <c:f>'Costcenter - Cloudit'!$A$9</c:f>
              <c:strCache>
                <c:ptCount val="1"/>
                <c:pt idx="0">
                  <c:v>ExpressRoute</c:v>
                </c:pt>
              </c:strCache>
            </c:strRef>
          </c:tx>
          <c:invertIfNegative val="0"/>
          <c:cat>
            <c:numRef>
              <c:f>'Costcenter - Cloudit'!$B$1:$I$1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Cloudit'!$B$9:$I$9</c:f>
              <c:numCache>
                <c:formatCode>_-[$$-409]* #,##0_ ;_-[$$-409]* \-#,##0\ ;_-[$$-409]* "-"??_ ;_-@_ </c:formatCode>
                <c:ptCount val="8"/>
                <c:pt idx="0">
                  <c:v>1022.81123835483</c:v>
                </c:pt>
                <c:pt idx="1">
                  <c:v>859</c:v>
                </c:pt>
                <c:pt idx="2">
                  <c:v>921.586299591802</c:v>
                </c:pt>
                <c:pt idx="3">
                  <c:v>914.65157325772805</c:v>
                </c:pt>
                <c:pt idx="4">
                  <c:v>1030.53669452952</c:v>
                </c:pt>
                <c:pt idx="5">
                  <c:v>912.28811038632205</c:v>
                </c:pt>
                <c:pt idx="6">
                  <c:v>990.78783397217001</c:v>
                </c:pt>
                <c:pt idx="7">
                  <c:v>1082.45666610891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97A-4DFC-8AC7-2BA8EACF5282}"/>
            </c:ext>
          </c:extLst>
        </c:ser>
        <c:ser>
          <c:idx val="18"/>
          <c:order val="8"/>
          <c:tx>
            <c:strRef>
              <c:f>'Costcenter - Cloudit'!$A$10</c:f>
              <c:strCache>
                <c:ptCount val="1"/>
                <c:pt idx="0">
                  <c:v>Bandwidth</c:v>
                </c:pt>
              </c:strCache>
            </c:strRef>
          </c:tx>
          <c:invertIfNegative val="0"/>
          <c:cat>
            <c:numRef>
              <c:f>'Costcenter - Cloudit'!$B$1:$I$1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Cloudit'!$B$10:$I$10</c:f>
              <c:numCache>
                <c:formatCode>_-[$$-409]* #,##0_ ;_-[$$-409]* \-#,##0\ ;_-[$$-409]* "-"??_ ;_-@_ </c:formatCode>
                <c:ptCount val="8"/>
                <c:pt idx="0">
                  <c:v>700.664856092165</c:v>
                </c:pt>
                <c:pt idx="1">
                  <c:v>447</c:v>
                </c:pt>
                <c:pt idx="2">
                  <c:v>489.20149536236801</c:v>
                </c:pt>
                <c:pt idx="3">
                  <c:v>513.372328606118</c:v>
                </c:pt>
                <c:pt idx="4">
                  <c:v>774.13705760766095</c:v>
                </c:pt>
                <c:pt idx="5">
                  <c:v>545.73098977698498</c:v>
                </c:pt>
                <c:pt idx="6">
                  <c:v>733.68705052688904</c:v>
                </c:pt>
                <c:pt idx="7">
                  <c:v>1026.43336742515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97A-4DFC-8AC7-2BA8EACF5282}"/>
            </c:ext>
          </c:extLst>
        </c:ser>
        <c:ser>
          <c:idx val="19"/>
          <c:order val="9"/>
          <c:tx>
            <c:strRef>
              <c:f>'Costcenter - Cloudit'!$A$11</c:f>
              <c:strCache>
                <c:ptCount val="1"/>
                <c:pt idx="0">
                  <c:v>Sentinel</c:v>
                </c:pt>
              </c:strCache>
            </c:strRef>
          </c:tx>
          <c:invertIfNegative val="0"/>
          <c:cat>
            <c:numRef>
              <c:f>'Costcenter - Cloudit'!$B$1:$I$1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Cloudit'!$B$11:$I$11</c:f>
              <c:numCache>
                <c:formatCode>_-[$$-409]* #,##0_ ;_-[$$-409]* \-#,##0\ ;_-[$$-409]* "-"??_ ;_-@_ </c:formatCode>
                <c:ptCount val="8"/>
                <c:pt idx="0">
                  <c:v>1732.047636111</c:v>
                </c:pt>
                <c:pt idx="1">
                  <c:v>1468</c:v>
                </c:pt>
                <c:pt idx="2">
                  <c:v>8874.9009923028007</c:v>
                </c:pt>
                <c:pt idx="3">
                  <c:v>3278.0319390159457</c:v>
                </c:pt>
                <c:pt idx="4">
                  <c:v>1333.2047905930001</c:v>
                </c:pt>
                <c:pt idx="5">
                  <c:v>1369.6714531499999</c:v>
                </c:pt>
                <c:pt idx="6">
                  <c:v>1467.7336316395999</c:v>
                </c:pt>
                <c:pt idx="7">
                  <c:v>967.20765804519999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97A-4DFC-8AC7-2BA8EACF52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00949920"/>
        <c:axId val="500952800"/>
      </c:barChart>
      <c:dateAx>
        <c:axId val="50094992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500952800"/>
        <c:crosses val="autoZero"/>
        <c:auto val="1"/>
        <c:lblOffset val="100"/>
        <c:baseTimeUnit val="months"/>
      </c:dateAx>
      <c:valAx>
        <c:axId val="500952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500949920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/>
  </c:chart>
  <c:txPr>
    <a:bodyPr/>
    <a:lstStyle/>
    <a:p>
      <a:pPr>
        <a:defRPr/>
      </a:pPr>
      <a:endParaRPr lang="en-IL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Cost By Subscription Name</a:t>
            </a:r>
          </a:p>
        </c:rich>
      </c:tx>
      <c:layout>
        <c:manualLayout>
          <c:xMode val="edge"/>
          <c:yMode val="edge"/>
          <c:x val="0.2787102722434251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title>
    <c:autoTitleDeleted val="0"/>
    <c:plotArea>
      <c:layout>
        <c:manualLayout>
          <c:layoutTarget val="inner"/>
          <c:xMode val="edge"/>
          <c:yMode val="edge"/>
          <c:x val="0.1514534798704042"/>
          <c:y val="0.11824492853715246"/>
          <c:w val="0.81421341429097716"/>
          <c:h val="0.6443141822616493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'Costcenter - Cloudit'!$A$45</c:f>
              <c:strCache>
                <c:ptCount val="1"/>
                <c:pt idx="0">
                  <c:v>Prod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'Costcenter - Cloudit'!$B$44:$I$44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Cloudit'!$B$45:$I$45</c:f>
              <c:numCache>
                <c:formatCode>_-[$$-409]* #,##0_ ;_-[$$-409]* \-#,##0\ ;_-[$$-409]* "-"??_ ;_-@_ </c:formatCode>
                <c:ptCount val="8"/>
                <c:pt idx="0">
                  <c:v>12493.4856108326</c:v>
                </c:pt>
                <c:pt idx="1">
                  <c:v>11171</c:v>
                </c:pt>
                <c:pt idx="2">
                  <c:v>12360.066533250199</c:v>
                </c:pt>
                <c:pt idx="3">
                  <c:v>13593</c:v>
                </c:pt>
                <c:pt idx="4">
                  <c:v>15743.1111257747</c:v>
                </c:pt>
                <c:pt idx="5">
                  <c:v>15398</c:v>
                </c:pt>
                <c:pt idx="6">
                  <c:v>19303.2884303063</c:v>
                </c:pt>
                <c:pt idx="7">
                  <c:v>18544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12-4961-8F65-E19E08C202C4}"/>
            </c:ext>
          </c:extLst>
        </c:ser>
        <c:ser>
          <c:idx val="1"/>
          <c:order val="1"/>
          <c:tx>
            <c:strRef>
              <c:f>'Costcenter - Cloudit'!$A$46</c:f>
              <c:strCache>
                <c:ptCount val="1"/>
                <c:pt idx="0">
                  <c:v>Shared Resources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'Costcenter - Cloudit'!$B$44:$I$44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Cloudit'!$B$46:$I$46</c:f>
              <c:numCache>
                <c:formatCode>_-[$$-409]* #,##0_ ;_-[$$-409]* \-#,##0\ ;_-[$$-409]* "-"??_ ;_-@_ </c:formatCode>
                <c:ptCount val="8"/>
                <c:pt idx="0">
                  <c:v>16903.7368536094</c:v>
                </c:pt>
                <c:pt idx="1">
                  <c:v>12321</c:v>
                </c:pt>
                <c:pt idx="2">
                  <c:v>26897.083921236299</c:v>
                </c:pt>
                <c:pt idx="3">
                  <c:v>14231</c:v>
                </c:pt>
                <c:pt idx="4">
                  <c:v>10755.3895433097</c:v>
                </c:pt>
                <c:pt idx="5" formatCode="General">
                  <c:v>10557</c:v>
                </c:pt>
                <c:pt idx="6">
                  <c:v>11092.994220869199</c:v>
                </c:pt>
                <c:pt idx="7" formatCode="General">
                  <c:v>9897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12-4961-8F65-E19E08C202C4}"/>
            </c:ext>
          </c:extLst>
        </c:ser>
        <c:ser>
          <c:idx val="2"/>
          <c:order val="2"/>
          <c:tx>
            <c:strRef>
              <c:f>'Costcenter - Cloudit'!$A$47</c:f>
              <c:strCache>
                <c:ptCount val="1"/>
                <c:pt idx="0">
                  <c:v>Actuary prod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'Costcenter - Cloudit'!$B$44:$I$44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Cloudit'!$B$47:$I$47</c:f>
              <c:numCache>
                <c:formatCode>_-[$$-409]* #,##0_ ;_-[$$-409]* \-#,##0\ ;_-[$$-409]* "-"??_ ;_-@_ </c:formatCode>
                <c:ptCount val="8"/>
                <c:pt idx="0">
                  <c:v>7.6160957639999998</c:v>
                </c:pt>
                <c:pt idx="1">
                  <c:v>7</c:v>
                </c:pt>
                <c:pt idx="2">
                  <c:v>7.5789124289999998</c:v>
                </c:pt>
                <c:pt idx="3">
                  <c:v>7</c:v>
                </c:pt>
                <c:pt idx="4">
                  <c:v>8.1001138640000008</c:v>
                </c:pt>
                <c:pt idx="5">
                  <c:v>8</c:v>
                </c:pt>
                <c:pt idx="6">
                  <c:v>9.5534251900000005</c:v>
                </c:pt>
                <c:pt idx="7">
                  <c:v>1190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C12-4961-8F65-E19E08C202C4}"/>
            </c:ext>
          </c:extLst>
        </c:ser>
        <c:ser>
          <c:idx val="3"/>
          <c:order val="3"/>
          <c:tx>
            <c:strRef>
              <c:f>'Costcenter - Cloudit'!$A$48</c:f>
              <c:strCache>
                <c:ptCount val="1"/>
                <c:pt idx="0">
                  <c:v>DataCloud prod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'Costcenter - Cloudit'!$B$44:$I$44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Cloudit'!$B$48:$I$48</c:f>
              <c:numCache>
                <c:formatCode>_-[$$-409]* #,##0_ ;_-[$$-409]* \-#,##0\ ;_-[$$-409]* "-"??_ ;_-@_ </c:formatCode>
                <c:ptCount val="8"/>
                <c:pt idx="0">
                  <c:v>363.16028462644101</c:v>
                </c:pt>
                <c:pt idx="1">
                  <c:v>357</c:v>
                </c:pt>
                <c:pt idx="2">
                  <c:v>397.30084820844098</c:v>
                </c:pt>
                <c:pt idx="3">
                  <c:v>336</c:v>
                </c:pt>
                <c:pt idx="4">
                  <c:v>370.21535049542803</c:v>
                </c:pt>
                <c:pt idx="5">
                  <c:v>550</c:v>
                </c:pt>
                <c:pt idx="6">
                  <c:v>818.11377122741703</c:v>
                </c:pt>
                <c:pt idx="7">
                  <c:v>812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C12-4961-8F65-E19E08C202C4}"/>
            </c:ext>
          </c:extLst>
        </c:ser>
        <c:ser>
          <c:idx val="4"/>
          <c:order val="4"/>
          <c:tx>
            <c:strRef>
              <c:f>'Costcenter - Cloudit'!$A$49</c:f>
              <c:strCache>
                <c:ptCount val="1"/>
                <c:pt idx="0">
                  <c:v>CloudOps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'Costcenter - Cloudit'!$B$44:$I$44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Cloudit'!$B$49:$I$49</c:f>
              <c:numCache>
                <c:formatCode>_-[$$-409]* #,##0_ ;_-[$$-409]* \-#,##0\ ;_-[$$-409]* "-"??_ ;_-@_ </c:formatCode>
                <c:ptCount val="8"/>
                <c:pt idx="0">
                  <c:v>872.65638455212104</c:v>
                </c:pt>
                <c:pt idx="1">
                  <c:v>555</c:v>
                </c:pt>
                <c:pt idx="2">
                  <c:v>768.66706009574602</c:v>
                </c:pt>
                <c:pt idx="3">
                  <c:v>737</c:v>
                </c:pt>
                <c:pt idx="4">
                  <c:v>971.96087554124904</c:v>
                </c:pt>
                <c:pt idx="5">
                  <c:v>1089</c:v>
                </c:pt>
                <c:pt idx="6">
                  <c:v>1225.7372110712399</c:v>
                </c:pt>
                <c:pt idx="7">
                  <c:v>726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C12-4961-8F65-E19E08C202C4}"/>
            </c:ext>
          </c:extLst>
        </c:ser>
        <c:ser>
          <c:idx val="5"/>
          <c:order val="5"/>
          <c:tx>
            <c:strRef>
              <c:f>'Costcenter - Cloudit'!$A$50</c:f>
              <c:strCache>
                <c:ptCount val="1"/>
                <c:pt idx="0">
                  <c:v>DataCloud dev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'Costcenter - Cloudit'!$B$44:$I$44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Cloudit'!$B$50:$I$50</c:f>
              <c:numCache>
                <c:formatCode>_-[$$-409]* #,##0_ ;_-[$$-409]* \-#,##0\ ;_-[$$-409]* "-"??_ ;_-@_ </c:formatCode>
                <c:ptCount val="8"/>
                <c:pt idx="0">
                  <c:v>188.96526213800001</c:v>
                </c:pt>
                <c:pt idx="1">
                  <c:v>169</c:v>
                </c:pt>
                <c:pt idx="2">
                  <c:v>189.53269576400001</c:v>
                </c:pt>
                <c:pt idx="3">
                  <c:v>184</c:v>
                </c:pt>
                <c:pt idx="4">
                  <c:v>506.65127439396298</c:v>
                </c:pt>
                <c:pt idx="5">
                  <c:v>582</c:v>
                </c:pt>
                <c:pt idx="6">
                  <c:v>573.90244081008302</c:v>
                </c:pt>
                <c:pt idx="7">
                  <c:v>590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C12-4961-8F65-E19E08C202C4}"/>
            </c:ext>
          </c:extLst>
        </c:ser>
        <c:ser>
          <c:idx val="6"/>
          <c:order val="6"/>
          <c:tx>
            <c:strRef>
              <c:f>'Costcenter - Cloudit'!$A$51</c:f>
              <c:strCache>
                <c:ptCount val="1"/>
                <c:pt idx="0">
                  <c:v>Dev/Test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Cloudit'!$B$44:$I$44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Cloudit'!$B$51:$I$51</c:f>
              <c:numCache>
                <c:formatCode>General</c:formatCode>
                <c:ptCount val="8"/>
                <c:pt idx="4" formatCode="_-[$$-409]* #,##0_ ;_-[$$-409]* \-#,##0\ ;_-[$$-409]* &quot;-&quot;??_ ;_-@_ ">
                  <c:v>120.79779155736399</c:v>
                </c:pt>
                <c:pt idx="5">
                  <c:v>264</c:v>
                </c:pt>
                <c:pt idx="6" formatCode="_-[$$-409]* #,##0_ ;_-[$$-409]* \-#,##0\ ;_-[$$-409]* &quot;-&quot;??_ ;_-@_ ">
                  <c:v>257.75258576496401</c:v>
                </c:pt>
                <c:pt idx="7" formatCode="_-[$$-409]* #,##0_ ;_-[$$-409]* \-#,##0\ ;_-[$$-409]* &quot;-&quot;??_ ;_-@_ ">
                  <c:v>176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C12-4961-8F65-E19E08C202C4}"/>
            </c:ext>
          </c:extLst>
        </c:ser>
        <c:ser>
          <c:idx val="7"/>
          <c:order val="7"/>
          <c:tx>
            <c:strRef>
              <c:f>'Costcenter - Cloudit'!$A$52</c:f>
              <c:strCache>
                <c:ptCount val="1"/>
                <c:pt idx="0">
                  <c:v>Investments dev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Cloudit'!$B$44:$I$44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Cloudit'!$B$52:$I$52</c:f>
              <c:numCache>
                <c:formatCode>_-[$$-409]* #,##0_ ;_-[$$-409]* \-#,##0\ ;_-[$$-409]* "-"??_ ;_-@_ </c:formatCode>
                <c:ptCount val="8"/>
                <c:pt idx="0">
                  <c:v>27.563617303000001</c:v>
                </c:pt>
                <c:pt idx="1">
                  <c:v>47</c:v>
                </c:pt>
                <c:pt idx="2">
                  <c:v>52.167681741000003</c:v>
                </c:pt>
                <c:pt idx="3">
                  <c:v>51</c:v>
                </c:pt>
                <c:pt idx="4">
                  <c:v>78.850140666580401</c:v>
                </c:pt>
                <c:pt idx="5">
                  <c:v>79</c:v>
                </c:pt>
                <c:pt idx="6">
                  <c:v>81.985977805870505</c:v>
                </c:pt>
                <c:pt idx="7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C12-4961-8F65-E19E08C202C4}"/>
            </c:ext>
          </c:extLst>
        </c:ser>
        <c:ser>
          <c:idx val="8"/>
          <c:order val="8"/>
          <c:tx>
            <c:strRef>
              <c:f>'Costcenter - Cloudit'!$A$53</c:f>
              <c:strCache>
                <c:ptCount val="1"/>
                <c:pt idx="0">
                  <c:v>SAP Dev/Test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Cloudit'!$B$44:$I$44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Cloudit'!$B$53:$I$53</c:f>
              <c:numCache>
                <c:formatCode>_-[$$-409]* #,##0_ ;_-[$$-409]* \-#,##0\ ;_-[$$-409]* "-"??_ ;_-@_ </c:formatCode>
                <c:ptCount val="8"/>
                <c:pt idx="0">
                  <c:v>39.965820340999997</c:v>
                </c:pt>
                <c:pt idx="1">
                  <c:v>38</c:v>
                </c:pt>
                <c:pt idx="2">
                  <c:v>40.001562210000003</c:v>
                </c:pt>
                <c:pt idx="3">
                  <c:v>40</c:v>
                </c:pt>
                <c:pt idx="4">
                  <c:v>41.8800817667546</c:v>
                </c:pt>
                <c:pt idx="5">
                  <c:v>39</c:v>
                </c:pt>
                <c:pt idx="6">
                  <c:v>39.564979323999999</c:v>
                </c:pt>
                <c:pt idx="7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C12-4961-8F65-E19E08C202C4}"/>
            </c:ext>
          </c:extLst>
        </c:ser>
        <c:ser>
          <c:idx val="9"/>
          <c:order val="9"/>
          <c:tx>
            <c:strRef>
              <c:f>'Costcenter - Cloudit'!$A$54</c:f>
              <c:strCache>
                <c:ptCount val="1"/>
                <c:pt idx="0">
                  <c:v>SAP Production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Cloudit'!$B$44:$I$44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Cloudit'!$B$54:$I$54</c:f>
              <c:numCache>
                <c:formatCode>_-[$$-409]* #,##0_ ;_-[$$-409]* \-#,##0\ ;_-[$$-409]* "-"??_ ;_-@_ </c:formatCode>
                <c:ptCount val="8"/>
                <c:pt idx="0">
                  <c:v>9.0164348160000003</c:v>
                </c:pt>
                <c:pt idx="1">
                  <c:v>8</c:v>
                </c:pt>
                <c:pt idx="2">
                  <c:v>9.0133275682365603</c:v>
                </c:pt>
                <c:pt idx="3">
                  <c:v>9</c:v>
                </c:pt>
                <c:pt idx="4">
                  <c:v>9.0374050639999997</c:v>
                </c:pt>
                <c:pt idx="5" formatCode="General">
                  <c:v>9</c:v>
                </c:pt>
                <c:pt idx="6">
                  <c:v>9.0430403580000007</c:v>
                </c:pt>
                <c:pt idx="7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0C12-4961-8F65-E19E08C202C4}"/>
            </c:ext>
          </c:extLst>
        </c:ser>
        <c:ser>
          <c:idx val="10"/>
          <c:order val="10"/>
          <c:tx>
            <c:strRef>
              <c:f>'Costcenter - Cloudit'!$A$55</c:f>
              <c:strCache>
                <c:ptCount val="1"/>
                <c:pt idx="0">
                  <c:v>Solugen Production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Cloudit'!$B$44:$I$44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Cloudit'!$B$55:$I$55</c:f>
              <c:numCache>
                <c:formatCode>_-[$$-409]* #,##0_ ;_-[$$-409]* \-#,##0\ ;_-[$$-409]* "-"??_ ;_-@_ </c:formatCode>
                <c:ptCount val="8"/>
                <c:pt idx="0">
                  <c:v>8.0782566968299996</c:v>
                </c:pt>
                <c:pt idx="1">
                  <c:v>7</c:v>
                </c:pt>
                <c:pt idx="2">
                  <c:v>8.0792342506600008</c:v>
                </c:pt>
                <c:pt idx="3">
                  <c:v>7</c:v>
                </c:pt>
                <c:pt idx="4">
                  <c:v>9.1441161995000009</c:v>
                </c:pt>
                <c:pt idx="5" formatCode="General">
                  <c:v>8</c:v>
                </c:pt>
                <c:pt idx="6">
                  <c:v>8.6893207728600004</c:v>
                </c:pt>
                <c:pt idx="7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C12-4961-8F65-E19E08C202C4}"/>
            </c:ext>
          </c:extLst>
        </c:ser>
        <c:ser>
          <c:idx val="11"/>
          <c:order val="11"/>
          <c:tx>
            <c:strRef>
              <c:f>'Costcenter - Cloudit'!$A$56</c:f>
              <c:strCache>
                <c:ptCount val="1"/>
                <c:pt idx="0">
                  <c:v>Sandbox System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Cloudit'!$B$44:$I$44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Cloudit'!$B$56:$I$56</c:f>
              <c:numCache>
                <c:formatCode>General</c:formatCode>
                <c:ptCount val="8"/>
                <c:pt idx="0" formatCode="_-[$$-409]* #,##0_ ;_-[$$-409]* \-#,##0\ ;_-[$$-409]* &quot;-&quot;??_ ;_-@_ ">
                  <c:v>0.97036569399999995</c:v>
                </c:pt>
                <c:pt idx="2" formatCode="_-[$$-409]* #,##0_ ;_-[$$-409]* \-#,##0\ ;_-[$$-409]* &quot;-&quot;??_ ;_-@_ ">
                  <c:v>0.30015040599999998</c:v>
                </c:pt>
                <c:pt idx="3" formatCode="_-[$$-409]* #,##0_ ;_-[$$-409]* \-#,##0\ ;_-[$$-409]* &quot;-&quot;??_ ;_-@_ ">
                  <c:v>0</c:v>
                </c:pt>
                <c:pt idx="4" formatCode="_-[$$-409]* #,##0_ ;_-[$$-409]* \-#,##0\ ;_-[$$-409]* &quot;-&quot;??_ ;_-@_ ">
                  <c:v>0.30044972199999997</c:v>
                </c:pt>
                <c:pt idx="5" formatCode="_-[$$-409]* #,##0_ ;_-[$$-409]* \-#,##0\ ;_-[$$-409]* &quot;-&quot;??_ ;_-@_ ">
                  <c:v>0</c:v>
                </c:pt>
                <c:pt idx="6" formatCode="_-[$$-409]* #,##0_ ;_-[$$-409]* \-#,##0\ ;_-[$$-409]* &quot;-&quot;??_ ;_-@_ ">
                  <c:v>0.30051693600000001</c:v>
                </c:pt>
                <c:pt idx="7" formatCode="_-[$$-409]* #,##0_ ;_-[$$-409]* \-#,##0\ ;_-[$$-409]* &quot;-&quot;??_ ;_-@_ 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0C12-4961-8F65-E19E08C202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34821728"/>
        <c:axId val="234822208"/>
      </c:barChart>
      <c:dateAx>
        <c:axId val="234821728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234822208"/>
        <c:crosses val="autoZero"/>
        <c:auto val="1"/>
        <c:lblOffset val="100"/>
        <c:baseTimeUnit val="months"/>
      </c:dateAx>
      <c:valAx>
        <c:axId val="234822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234821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Cost By Subscription Name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'Costcenter - VIEW Risk Agility'!$A$2</c:f>
              <c:strCache>
                <c:ptCount val="1"/>
                <c:pt idx="0">
                  <c:v>Prod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'Costcenter - VIEW Risk Agility'!$B$1:$I$1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VIEW Risk Agility'!$B$2:$I$2</c:f>
              <c:numCache>
                <c:formatCode>_-[$$-409]* #,##0_ ;_-[$$-409]* \-#,##0\ ;_-[$$-409]* "-"??_ ;_-@_ </c:formatCode>
                <c:ptCount val="8"/>
                <c:pt idx="0">
                  <c:v>12801</c:v>
                </c:pt>
                <c:pt idx="1">
                  <c:v>5014</c:v>
                </c:pt>
                <c:pt idx="2">
                  <c:v>2356</c:v>
                </c:pt>
                <c:pt idx="3">
                  <c:v>5507</c:v>
                </c:pt>
                <c:pt idx="4">
                  <c:v>2580</c:v>
                </c:pt>
                <c:pt idx="5">
                  <c:v>769</c:v>
                </c:pt>
                <c:pt idx="6">
                  <c:v>769</c:v>
                </c:pt>
                <c:pt idx="7">
                  <c:v>769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4B-4014-8969-068DA93567FF}"/>
            </c:ext>
          </c:extLst>
        </c:ser>
        <c:ser>
          <c:idx val="1"/>
          <c:order val="1"/>
          <c:tx>
            <c:strRef>
              <c:f>'Costcenter - VIEW Risk Agility'!$A$3</c:f>
              <c:strCache>
                <c:ptCount val="1"/>
                <c:pt idx="0">
                  <c:v>Dev/Test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'Costcenter - VIEW Risk Agility'!$B$1:$I$1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VIEW Risk Agility'!$B$3:$I$3</c:f>
              <c:numCache>
                <c:formatCode>_-[$$-409]* #,##0_ ;_-[$$-409]* \-#,##0\ ;_-[$$-409]* "-"??_ ;_-@_ </c:formatCode>
                <c:ptCount val="8"/>
                <c:pt idx="0">
                  <c:v>262</c:v>
                </c:pt>
                <c:pt idx="1">
                  <c:v>260</c:v>
                </c:pt>
                <c:pt idx="2">
                  <c:v>262</c:v>
                </c:pt>
                <c:pt idx="3">
                  <c:v>261</c:v>
                </c:pt>
                <c:pt idx="4">
                  <c:v>262</c:v>
                </c:pt>
                <c:pt idx="5">
                  <c:v>262</c:v>
                </c:pt>
                <c:pt idx="6">
                  <c:v>263</c:v>
                </c:pt>
                <c:pt idx="7">
                  <c:v>262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D4B-4014-8969-068DA93567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8665840"/>
        <c:axId val="368674000"/>
      </c:barChart>
      <c:dateAx>
        <c:axId val="36866584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368674000"/>
        <c:crosses val="autoZero"/>
        <c:auto val="1"/>
        <c:lblOffset val="100"/>
        <c:baseTimeUnit val="months"/>
      </c:dateAx>
      <c:valAx>
        <c:axId val="368674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368665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Cost By Service Name</a:t>
            </a:r>
          </a:p>
        </c:rich>
      </c:tx>
      <c:layout>
        <c:manualLayout>
          <c:xMode val="edge"/>
          <c:yMode val="edge"/>
          <c:x val="0.32175936232336805"/>
          <c:y val="3.1263364416920347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4993488105482716"/>
          <c:y val="0.13383562094479814"/>
          <c:w val="0.81607626544005107"/>
          <c:h val="0.69333906830698255"/>
        </c:manualLayout>
      </c:layout>
      <c:barChart>
        <c:barDir val="col"/>
        <c:grouping val="stacked"/>
        <c:varyColors val="0"/>
        <c:ser>
          <c:idx val="4"/>
          <c:order val="0"/>
          <c:tx>
            <c:strRef>
              <c:f>'Costcenter - VIEW Risk Agility'!$A$11</c:f>
              <c:strCache>
                <c:ptCount val="1"/>
                <c:pt idx="0">
                  <c:v>Storage</c:v>
                </c:pt>
              </c:strCache>
            </c:strRef>
          </c:tx>
          <c:invertIfNegative val="0"/>
          <c:cat>
            <c:numRef>
              <c:f>'Costcenter - VIEW Risk Agility'!$B$10:$I$10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VIEW Risk Agility'!$B$11:$I$11</c:f>
              <c:numCache>
                <c:formatCode>_-[$$-409]* #,##0_ ;_-[$$-409]* \-#,##0\ ;_-[$$-409]* "-"??_ ;_-@_ </c:formatCode>
                <c:ptCount val="8"/>
                <c:pt idx="0">
                  <c:v>738</c:v>
                </c:pt>
                <c:pt idx="1">
                  <c:v>761</c:v>
                </c:pt>
                <c:pt idx="2">
                  <c:v>763</c:v>
                </c:pt>
                <c:pt idx="3">
                  <c:v>770</c:v>
                </c:pt>
                <c:pt idx="4">
                  <c:v>994.24515553519996</c:v>
                </c:pt>
                <c:pt idx="5">
                  <c:v>994</c:v>
                </c:pt>
                <c:pt idx="6">
                  <c:v>994</c:v>
                </c:pt>
                <c:pt idx="7">
                  <c:v>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A6-4130-8B6A-B4FF565A618E}"/>
            </c:ext>
          </c:extLst>
        </c:ser>
        <c:ser>
          <c:idx val="5"/>
          <c:order val="1"/>
          <c:tx>
            <c:strRef>
              <c:f>'Costcenter - VIEW Risk Agility'!$A$12</c:f>
              <c:strCache>
                <c:ptCount val="1"/>
                <c:pt idx="0">
                  <c:v>Virtual Network</c:v>
                </c:pt>
              </c:strCache>
            </c:strRef>
          </c:tx>
          <c:invertIfNegative val="0"/>
          <c:cat>
            <c:numRef>
              <c:f>'Costcenter - VIEW Risk Agility'!$B$10:$I$10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VIEW Risk Agility'!$B$12:$I$12</c:f>
              <c:numCache>
                <c:formatCode>General</c:formatCode>
                <c:ptCount val="8"/>
                <c:pt idx="0">
                  <c:v>76</c:v>
                </c:pt>
                <c:pt idx="1">
                  <c:v>46</c:v>
                </c:pt>
                <c:pt idx="2">
                  <c:v>23</c:v>
                </c:pt>
                <c:pt idx="3" formatCode="_-[$$-409]* #,##0_ ;_-[$$-409]* \-#,##0\ ;_-[$$-409]* &quot;-&quot;??_ ;_-@_ ">
                  <c:v>46</c:v>
                </c:pt>
                <c:pt idx="4" formatCode="_-[$$-409]* #,##0_ ;_-[$$-409]* \-#,##0\ ;_-[$$-409]* &quot;-&quot;??_ ;_-@_ ">
                  <c:v>38.5</c:v>
                </c:pt>
                <c:pt idx="5" formatCode="_-[$$-409]* #,##0_ ;_-[$$-409]* \-#,##0\ ;_-[$$-409]* &quot;-&quot;??_ ;_-@_ ">
                  <c:v>36</c:v>
                </c:pt>
                <c:pt idx="6" formatCode="_-[$$-409]* #,##0_ ;_-[$$-409]* \-#,##0\ ;_-[$$-409]* &quot;-&quot;??_ ;_-@_ ">
                  <c:v>37</c:v>
                </c:pt>
                <c:pt idx="7" formatCode="_-[$$-409]* #,##0_ ;_-[$$-409]* \-#,##0\ ;_-[$$-409]* &quot;-&quot;??_ ;_-@_ 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A6-4130-8B6A-B4FF565A618E}"/>
            </c:ext>
          </c:extLst>
        </c:ser>
        <c:ser>
          <c:idx val="6"/>
          <c:order val="2"/>
          <c:tx>
            <c:strRef>
              <c:f>'Costcenter - VIEW Risk Agility'!$A$13</c:f>
              <c:strCache>
                <c:ptCount val="1"/>
                <c:pt idx="0">
                  <c:v>Microsoft Defender for Cloud</c:v>
                </c:pt>
              </c:strCache>
            </c:strRef>
          </c:tx>
          <c:invertIfNegative val="0"/>
          <c:cat>
            <c:numRef>
              <c:f>'Costcenter - VIEW Risk Agility'!$B$10:$I$10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VIEW Risk Agility'!$B$13:$I$13</c:f>
              <c:numCache>
                <c:formatCode>General</c:formatCode>
                <c:ptCount val="8"/>
                <c:pt idx="0">
                  <c:v>169</c:v>
                </c:pt>
                <c:pt idx="1">
                  <c:v>55</c:v>
                </c:pt>
                <c:pt idx="2">
                  <c:v>39</c:v>
                </c:pt>
                <c:pt idx="3" formatCode="_-[$$-409]* #,##0_ ;_-[$$-409]* \-#,##0\ ;_-[$$-409]* &quot;-&quot;??_ ;_-@_ ">
                  <c:v>61</c:v>
                </c:pt>
                <c:pt idx="4" formatCode="_-[$$-409]* #,##0_ ;_-[$$-409]* \-#,##0\ ;_-[$$-409]* &quot;-&quot;??_ ;_-@_ ">
                  <c:v>22.65296</c:v>
                </c:pt>
                <c:pt idx="5" formatCode="_-[$$-409]* #,##0_ ;_-[$$-409]* \-#,##0\ ;_-[$$-409]* &quot;-&quot;??_ ;_-@_ ">
                  <c:v>1</c:v>
                </c:pt>
                <c:pt idx="6" formatCode="_-[$$-409]* #,##0_ ;_-[$$-409]* \-#,##0\ ;_-[$$-409]* &quot;-&quot;??_ ;_-@_ 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BA6-4130-8B6A-B4FF565A618E}"/>
            </c:ext>
          </c:extLst>
        </c:ser>
        <c:ser>
          <c:idx val="7"/>
          <c:order val="3"/>
          <c:tx>
            <c:strRef>
              <c:f>'Costcenter - VIEW Risk Agility'!$A$14</c:f>
              <c:strCache>
                <c:ptCount val="1"/>
                <c:pt idx="0">
                  <c:v>Virtual Machines</c:v>
                </c:pt>
              </c:strCache>
            </c:strRef>
          </c:tx>
          <c:invertIfNegative val="0"/>
          <c:cat>
            <c:numRef>
              <c:f>'Costcenter - VIEW Risk Agility'!$B$10:$I$10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VIEW Risk Agility'!$B$14:$I$14</c:f>
              <c:numCache>
                <c:formatCode>_-[$$-409]* #,##0_ ;_-[$$-409]* \-#,##0\ ;_-[$$-409]* "-"??_ ;_-@_ </c:formatCode>
                <c:ptCount val="8"/>
                <c:pt idx="0">
                  <c:v>12080</c:v>
                </c:pt>
                <c:pt idx="1">
                  <c:v>4412</c:v>
                </c:pt>
                <c:pt idx="2">
                  <c:v>1792</c:v>
                </c:pt>
                <c:pt idx="3">
                  <c:v>4890</c:v>
                </c:pt>
                <c:pt idx="4">
                  <c:v>1786.8913345599999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BA6-4130-8B6A-B4FF565A61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70238720"/>
        <c:axId val="370235840"/>
      </c:barChart>
      <c:dateAx>
        <c:axId val="37023872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370235840"/>
        <c:crosses val="autoZero"/>
        <c:auto val="1"/>
        <c:lblOffset val="100"/>
        <c:baseTimeUnit val="months"/>
      </c:dateAx>
      <c:valAx>
        <c:axId val="370235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370238720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/>
  </c:chart>
  <c:txPr>
    <a:bodyPr/>
    <a:lstStyle/>
    <a:p>
      <a:pPr>
        <a:defRPr/>
      </a:pPr>
      <a:endParaRPr lang="en-IL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Cost By Subscription Name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'Costcenter - Basasach'!$A$2</c:f>
              <c:strCache>
                <c:ptCount val="1"/>
                <c:pt idx="0">
                  <c:v>Prod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'Costcenter - Basasach'!$B$1:$I$1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Basasach'!$B$2:$I$2</c:f>
              <c:numCache>
                <c:formatCode>_-[$$-409]* #,##0_ ;_-[$$-409]* \-#,##0\ ;_-[$$-409]* "-"??_ ;_-@_ </c:formatCode>
                <c:ptCount val="8"/>
                <c:pt idx="0">
                  <c:v>398.84866532058902</c:v>
                </c:pt>
                <c:pt idx="1">
                  <c:v>361</c:v>
                </c:pt>
                <c:pt idx="2">
                  <c:v>399</c:v>
                </c:pt>
                <c:pt idx="3">
                  <c:v>386</c:v>
                </c:pt>
                <c:pt idx="4">
                  <c:v>398.213838555179</c:v>
                </c:pt>
                <c:pt idx="5">
                  <c:v>386</c:v>
                </c:pt>
                <c:pt idx="6">
                  <c:v>399</c:v>
                </c:pt>
                <c:pt idx="7">
                  <c:v>338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AF-4AF0-B002-8223191DFA72}"/>
            </c:ext>
          </c:extLst>
        </c:ser>
        <c:ser>
          <c:idx val="1"/>
          <c:order val="1"/>
          <c:tx>
            <c:strRef>
              <c:f>'Costcenter - Basasach'!$A$3</c:f>
              <c:strCache>
                <c:ptCount val="1"/>
                <c:pt idx="0">
                  <c:v>Dev/Test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'Costcenter - Basasach'!$B$1:$I$1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Basasach'!$B$3:$I$3</c:f>
              <c:numCache>
                <c:formatCode>_-[$$-409]* #,##0_ ;_-[$$-409]* \-#,##0\ ;_-[$$-409]* "-"??_ ;_-@_ </c:formatCode>
                <c:ptCount val="8"/>
                <c:pt idx="0">
                  <c:v>390.78255247694602</c:v>
                </c:pt>
                <c:pt idx="1">
                  <c:v>355</c:v>
                </c:pt>
                <c:pt idx="2">
                  <c:v>391</c:v>
                </c:pt>
                <c:pt idx="3">
                  <c:v>379</c:v>
                </c:pt>
                <c:pt idx="4">
                  <c:v>391.82433458610598</c:v>
                </c:pt>
                <c:pt idx="5">
                  <c:v>380</c:v>
                </c:pt>
                <c:pt idx="6">
                  <c:v>393</c:v>
                </c:pt>
                <c:pt idx="7">
                  <c:v>392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AF-4AF0-B002-8223191DFA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89343488"/>
        <c:axId val="489343968"/>
      </c:barChart>
      <c:dateAx>
        <c:axId val="489343488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489343968"/>
        <c:crosses val="autoZero"/>
        <c:auto val="1"/>
        <c:lblOffset val="100"/>
        <c:baseTimeUnit val="months"/>
      </c:dateAx>
      <c:valAx>
        <c:axId val="489343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4893434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Cost By Service Name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'Costcenter - Basasach'!$A$20</c:f>
              <c:strCache>
                <c:ptCount val="1"/>
                <c:pt idx="0">
                  <c:v> SQL Database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'Costcenter - Basasach'!$B$19:$I$19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Basasach'!$B$20:$I$20</c:f>
              <c:numCache>
                <c:formatCode>_-[$$-409]* #,##0_ ;_-[$$-409]* \-#,##0\ ;_-[$$-409]* "-"??_ ;_-@_ </c:formatCode>
                <c:ptCount val="8"/>
                <c:pt idx="0">
                  <c:v>419.109015307535</c:v>
                </c:pt>
                <c:pt idx="1">
                  <c:v>382</c:v>
                </c:pt>
                <c:pt idx="2">
                  <c:v>420</c:v>
                </c:pt>
                <c:pt idx="3">
                  <c:v>407</c:v>
                </c:pt>
                <c:pt idx="4">
                  <c:v>420.31356383861203</c:v>
                </c:pt>
                <c:pt idx="5">
                  <c:v>407</c:v>
                </c:pt>
                <c:pt idx="6">
                  <c:v>421</c:v>
                </c:pt>
                <c:pt idx="7">
                  <c:v>420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8B-468E-B32A-27BD0E758B3D}"/>
            </c:ext>
          </c:extLst>
        </c:ser>
        <c:ser>
          <c:idx val="1"/>
          <c:order val="1"/>
          <c:tx>
            <c:strRef>
              <c:f>'Costcenter - Basasach'!$A$21</c:f>
              <c:strCache>
                <c:ptCount val="1"/>
                <c:pt idx="0">
                  <c:v> Azure App Service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'Costcenter - Basasach'!$B$19:$I$19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Basasach'!$B$21:$I$21</c:f>
              <c:numCache>
                <c:formatCode>_-[$$-409]* #,##0_ ;_-[$$-409]* \-#,##0\ ;_-[$$-409]* "-"??_ ;_-@_ </c:formatCode>
                <c:ptCount val="8"/>
                <c:pt idx="0">
                  <c:v>296.11200000000002</c:v>
                </c:pt>
                <c:pt idx="1">
                  <c:v>268</c:v>
                </c:pt>
                <c:pt idx="2">
                  <c:v>296</c:v>
                </c:pt>
                <c:pt idx="3">
                  <c:v>287</c:v>
                </c:pt>
                <c:pt idx="4">
                  <c:v>295.31099999999998</c:v>
                </c:pt>
                <c:pt idx="5">
                  <c:v>287</c:v>
                </c:pt>
                <c:pt idx="6">
                  <c:v>296</c:v>
                </c:pt>
                <c:pt idx="7">
                  <c:v>235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8B-468E-B32A-27BD0E758B3D}"/>
            </c:ext>
          </c:extLst>
        </c:ser>
        <c:ser>
          <c:idx val="2"/>
          <c:order val="2"/>
          <c:tx>
            <c:strRef>
              <c:f>'Costcenter - Basasach'!$A$22</c:f>
              <c:strCache>
                <c:ptCount val="1"/>
                <c:pt idx="0">
                  <c:v> Virtual Network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'Costcenter - Basasach'!$B$19:$I$19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Basasach'!$B$22:$I$22</c:f>
              <c:numCache>
                <c:formatCode>_-[$$-409]* #,##0_ ;_-[$$-409]* \-#,##0\ ;_-[$$-409]* "-"??_ ;_-@_ </c:formatCode>
                <c:ptCount val="8"/>
                <c:pt idx="0">
                  <c:v>44.64</c:v>
                </c:pt>
                <c:pt idx="1">
                  <c:v>40</c:v>
                </c:pt>
                <c:pt idx="2">
                  <c:v>45</c:v>
                </c:pt>
                <c:pt idx="3">
                  <c:v>43</c:v>
                </c:pt>
                <c:pt idx="4">
                  <c:v>44.664582617674</c:v>
                </c:pt>
                <c:pt idx="5">
                  <c:v>43</c:v>
                </c:pt>
                <c:pt idx="6">
                  <c:v>44</c:v>
                </c:pt>
                <c:pt idx="7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38B-468E-B32A-27BD0E758B3D}"/>
            </c:ext>
          </c:extLst>
        </c:ser>
        <c:ser>
          <c:idx val="3"/>
          <c:order val="3"/>
          <c:tx>
            <c:strRef>
              <c:f>'Costcenter - Basasach'!$A$23</c:f>
              <c:strCache>
                <c:ptCount val="1"/>
                <c:pt idx="0">
                  <c:v> Microsoft Defender for Cloud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'Costcenter - Basasach'!$B$19:$I$19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Basasach'!$B$23:$I$23</c:f>
              <c:numCache>
                <c:formatCode>_-[$$-409]* #,##0_ ;_-[$$-409]* \-#,##0\ ;_-[$$-409]* "-"??_ ;_-@_ </c:formatCode>
                <c:ptCount val="8"/>
                <c:pt idx="0">
                  <c:v>29.76</c:v>
                </c:pt>
                <c:pt idx="1">
                  <c:v>27</c:v>
                </c:pt>
                <c:pt idx="2">
                  <c:v>30</c:v>
                </c:pt>
                <c:pt idx="3">
                  <c:v>29</c:v>
                </c:pt>
                <c:pt idx="4">
                  <c:v>29.74</c:v>
                </c:pt>
                <c:pt idx="5">
                  <c:v>29</c:v>
                </c:pt>
                <c:pt idx="6">
                  <c:v>30</c:v>
                </c:pt>
                <c:pt idx="7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38B-468E-B32A-27BD0E758B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03948384"/>
        <c:axId val="503956064"/>
      </c:barChart>
      <c:dateAx>
        <c:axId val="50394838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503956064"/>
        <c:crosses val="autoZero"/>
        <c:auto val="1"/>
        <c:lblOffset val="100"/>
        <c:baseTimeUnit val="months"/>
      </c:dateAx>
      <c:valAx>
        <c:axId val="503956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503948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Cost By Service Name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'Costcenter - Itsec'!$A$2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'Costcenter - Itsec'!$B$1:$I$1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Itsec'!$B$2:$I$2</c:f>
              <c:numCache>
                <c:formatCode>_-[$$-409]* #,##0_ ;_-[$$-409]* \-#,##0\ ;_-[$$-409]* "-"??_ ;_-@_ </c:formatCode>
                <c:ptCount val="8"/>
                <c:pt idx="0">
                  <c:v>837.90912909845804</c:v>
                </c:pt>
                <c:pt idx="1">
                  <c:v>776</c:v>
                </c:pt>
                <c:pt idx="2">
                  <c:v>912.47931544998005</c:v>
                </c:pt>
                <c:pt idx="3">
                  <c:v>908.58435020813602</c:v>
                </c:pt>
                <c:pt idx="4">
                  <c:v>954.67668942515502</c:v>
                </c:pt>
                <c:pt idx="5">
                  <c:v>958</c:v>
                </c:pt>
                <c:pt idx="6">
                  <c:v>1046</c:v>
                </c:pt>
                <c:pt idx="7">
                  <c:v>1121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1F-4118-A8B1-A8982117B699}"/>
            </c:ext>
          </c:extLst>
        </c:ser>
        <c:ser>
          <c:idx val="1"/>
          <c:order val="1"/>
          <c:tx>
            <c:strRef>
              <c:f>'Costcenter - Itsec'!$A$3</c:f>
              <c:strCache>
                <c:ptCount val="1"/>
                <c:pt idx="0">
                  <c:v>Azure DNS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'Costcenter - Itsec'!$B$1:$I$1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Itsec'!$B$3:$I$3</c:f>
              <c:numCache>
                <c:formatCode>_-[$$-409]* #,##0_ ;_-[$$-409]* \-#,##0\ ;_-[$$-409]* "-"??_ ;_-@_ </c:formatCode>
                <c:ptCount val="8"/>
                <c:pt idx="0">
                  <c:v>387.81997984910402</c:v>
                </c:pt>
                <c:pt idx="1">
                  <c:v>388</c:v>
                </c:pt>
                <c:pt idx="2">
                  <c:v>397.60175986391903</c:v>
                </c:pt>
                <c:pt idx="3">
                  <c:v>404.52905282634401</c:v>
                </c:pt>
                <c:pt idx="4">
                  <c:v>411.0575336</c:v>
                </c:pt>
                <c:pt idx="5">
                  <c:v>414</c:v>
                </c:pt>
                <c:pt idx="6">
                  <c:v>420</c:v>
                </c:pt>
                <c:pt idx="7">
                  <c:v>424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1F-4118-A8B1-A8982117B699}"/>
            </c:ext>
          </c:extLst>
        </c:ser>
        <c:ser>
          <c:idx val="2"/>
          <c:order val="2"/>
          <c:tx>
            <c:strRef>
              <c:f>'Costcenter - Itsec'!$A$4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'Costcenter - Itsec'!$B$1:$I$1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Itsec'!$B$4:$I$4</c:f>
              <c:numCache>
                <c:formatCode>_-[$$-409]* #,##0_ ;_-[$$-409]* \-#,##0\ ;_-[$$-409]* "-"??_ ;_-@_ </c:formatCode>
                <c:ptCount val="8"/>
                <c:pt idx="0">
                  <c:v>267.42339724800001</c:v>
                </c:pt>
                <c:pt idx="1">
                  <c:v>270</c:v>
                </c:pt>
                <c:pt idx="2">
                  <c:v>271.43729380000002</c:v>
                </c:pt>
                <c:pt idx="3">
                  <c:v>270.66526172800002</c:v>
                </c:pt>
                <c:pt idx="4">
                  <c:v>272.31485399399998</c:v>
                </c:pt>
                <c:pt idx="5">
                  <c:v>273</c:v>
                </c:pt>
                <c:pt idx="6">
                  <c:v>275</c:v>
                </c:pt>
                <c:pt idx="7">
                  <c:v>277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71F-4118-A8B1-A8982117B699}"/>
            </c:ext>
          </c:extLst>
        </c:ser>
        <c:ser>
          <c:idx val="3"/>
          <c:order val="3"/>
          <c:tx>
            <c:strRef>
              <c:f>'Costcenter - Itsec'!$A$5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'Costcenter - Itsec'!$B$1:$I$1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Itsec'!$B$5:$I$5</c:f>
              <c:numCache>
                <c:formatCode>_-[$$-409]* #,##0_ ;_-[$$-409]* \-#,##0\ ;_-[$$-409]* "-"??_ ;_-@_ </c:formatCode>
                <c:ptCount val="8"/>
                <c:pt idx="0">
                  <c:v>535.62403535999999</c:v>
                </c:pt>
                <c:pt idx="1">
                  <c:v>252</c:v>
                </c:pt>
                <c:pt idx="2">
                  <c:v>273.470237212656</c:v>
                </c:pt>
                <c:pt idx="3">
                  <c:v>262.178541556536</c:v>
                </c:pt>
                <c:pt idx="4">
                  <c:v>355.09887265309499</c:v>
                </c:pt>
                <c:pt idx="5">
                  <c:v>362</c:v>
                </c:pt>
                <c:pt idx="6">
                  <c:v>426</c:v>
                </c:pt>
                <c:pt idx="7">
                  <c:v>428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71F-4118-A8B1-A8982117B699}"/>
            </c:ext>
          </c:extLst>
        </c:ser>
        <c:ser>
          <c:idx val="4"/>
          <c:order val="4"/>
          <c:tx>
            <c:strRef>
              <c:f>'Costcenter - Itsec'!$A$6</c:f>
              <c:strCache>
                <c:ptCount val="1"/>
                <c:pt idx="0">
                  <c:v>Azure Monitor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'Costcenter - Itsec'!$B$1:$I$1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Itsec'!$B$6:$I$6</c:f>
              <c:numCache>
                <c:formatCode>_-[$$-409]* #,##0_ ;_-[$$-409]* \-#,##0\ ;_-[$$-409]* "-"??_ ;_-@_ </c:formatCode>
                <c:ptCount val="8"/>
                <c:pt idx="0">
                  <c:v>28.165994623655902</c:v>
                </c:pt>
                <c:pt idx="1">
                  <c:v>25</c:v>
                </c:pt>
                <c:pt idx="2">
                  <c:v>28.253797043010799</c:v>
                </c:pt>
                <c:pt idx="3">
                  <c:v>27.514247311828001</c:v>
                </c:pt>
                <c:pt idx="4">
                  <c:v>28.448319892473101</c:v>
                </c:pt>
                <c:pt idx="5">
                  <c:v>27</c:v>
                </c:pt>
                <c:pt idx="6">
                  <c:v>28</c:v>
                </c:pt>
                <c:pt idx="7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71F-4118-A8B1-A8982117B699}"/>
            </c:ext>
          </c:extLst>
        </c:ser>
        <c:ser>
          <c:idx val="5"/>
          <c:order val="5"/>
          <c:tx>
            <c:strRef>
              <c:f>'Costcenter - Itsec'!$A$7</c:f>
              <c:strCache>
                <c:ptCount val="1"/>
                <c:pt idx="0">
                  <c:v>Microsoft Defender for Cloud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'Costcenter - Itsec'!$B$1:$I$1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Itsec'!$B$7:$I$7</c:f>
              <c:numCache>
                <c:formatCode>_-[$$-409]* #,##0_ ;_-[$$-409]* \-#,##0\ ;_-[$$-409]* "-"??_ ;_-@_ </c:formatCode>
                <c:ptCount val="8"/>
                <c:pt idx="0">
                  <c:v>25.10256</c:v>
                </c:pt>
                <c:pt idx="1">
                  <c:v>23</c:v>
                </c:pt>
                <c:pt idx="2">
                  <c:v>25.075759999999999</c:v>
                </c:pt>
                <c:pt idx="3">
                  <c:v>24.292459999999998</c:v>
                </c:pt>
                <c:pt idx="4">
                  <c:v>25.034880000000001</c:v>
                </c:pt>
                <c:pt idx="5">
                  <c:v>25</c:v>
                </c:pt>
                <c:pt idx="6">
                  <c:v>25</c:v>
                </c:pt>
                <c:pt idx="7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71F-4118-A8B1-A8982117B699}"/>
            </c:ext>
          </c:extLst>
        </c:ser>
        <c:ser>
          <c:idx val="6"/>
          <c:order val="6"/>
          <c:tx>
            <c:strRef>
              <c:f>'Costcenter - Itsec'!$A$8</c:f>
              <c:strCache>
                <c:ptCount val="1"/>
                <c:pt idx="0">
                  <c:v>Bandwidth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Itsec'!$B$1:$I$1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Itsec'!$B$8:$I$8</c:f>
              <c:numCache>
                <c:formatCode>General</c:formatCode>
                <c:ptCount val="8"/>
                <c:pt idx="3" formatCode="_-[$$-409]* #,##0_ ;_-[$$-409]* \-#,##0\ ;_-[$$-409]* &quot;-&quot;??_ ;_-@_ ">
                  <c:v>1.550166E-3</c:v>
                </c:pt>
                <c:pt idx="4" formatCode="_-[$$-409]* #,##0_ ;_-[$$-409]* \-#,##0\ ;_-[$$-409]* &quot;-&quot;??_ ;_-@_ ">
                  <c:v>0.04</c:v>
                </c:pt>
                <c:pt idx="5" formatCode="_-[$$-409]* #,##0_ ;_-[$$-409]* \-#,##0\ ;_-[$$-409]* &quot;-&quot;??_ ;_-@_ 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71F-4118-A8B1-A8982117B6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45109264"/>
        <c:axId val="545117424"/>
      </c:barChart>
      <c:dateAx>
        <c:axId val="54510926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545117424"/>
        <c:crosses val="autoZero"/>
        <c:auto val="1"/>
        <c:lblOffset val="100"/>
        <c:baseTimeUnit val="months"/>
      </c:dateAx>
      <c:valAx>
        <c:axId val="545117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545109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Cost By Subscription Name</a:t>
            </a:r>
          </a:p>
        </c:rich>
      </c:tx>
      <c:layout>
        <c:manualLayout>
          <c:xMode val="edge"/>
          <c:yMode val="edge"/>
          <c:x val="0.26940199313132129"/>
          <c:y val="4.126547455295735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'Costcenter - Itsec'!$A$16</c:f>
              <c:strCache>
                <c:ptCount val="1"/>
                <c:pt idx="0">
                  <c:v> Prod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'Costcenter - Itsec'!$B$15:$I$15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Itsec'!$B$16:$I$16</c:f>
              <c:numCache>
                <c:formatCode>_-[$$-409]* #,##0_ ;_-[$$-409]* \-#,##0\ ;_-[$$-409]* "-"??_ ;_-@_ </c:formatCode>
                <c:ptCount val="8"/>
                <c:pt idx="0">
                  <c:v>611.90192057057004</c:v>
                </c:pt>
                <c:pt idx="1">
                  <c:v>61</c:v>
                </c:pt>
                <c:pt idx="2">
                  <c:v>527.31343834993402</c:v>
                </c:pt>
                <c:pt idx="3">
                  <c:v>529.11571826856596</c:v>
                </c:pt>
                <c:pt idx="4">
                  <c:v>541.03964282879303</c:v>
                </c:pt>
                <c:pt idx="5">
                  <c:v>544.11320852223105</c:v>
                </c:pt>
                <c:pt idx="6">
                  <c:v>602.02186762888005</c:v>
                </c:pt>
                <c:pt idx="7">
                  <c:v>617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4C-44F2-A85F-4FE2995D25DD}"/>
            </c:ext>
          </c:extLst>
        </c:ser>
        <c:ser>
          <c:idx val="1"/>
          <c:order val="1"/>
          <c:tx>
            <c:strRef>
              <c:f>'Costcenter - Itsec'!$A$17</c:f>
              <c:strCache>
                <c:ptCount val="1"/>
                <c:pt idx="0">
                  <c:v> DataCloud prod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'Costcenter - Itsec'!$B$15:$I$15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Itsec'!$B$17:$I$17</c:f>
              <c:numCache>
                <c:formatCode>_-[$$-409]* #,##0_ ;_-[$$-409]* \-#,##0\ ;_-[$$-409]* "-"??_ ;_-@_ </c:formatCode>
                <c:ptCount val="8"/>
                <c:pt idx="0">
                  <c:v>379.17075359699999</c:v>
                </c:pt>
                <c:pt idx="1">
                  <c:v>124</c:v>
                </c:pt>
                <c:pt idx="2">
                  <c:v>390.86165111577799</c:v>
                </c:pt>
                <c:pt idx="3">
                  <c:v>397.09318744900003</c:v>
                </c:pt>
                <c:pt idx="4">
                  <c:v>408.919874725</c:v>
                </c:pt>
                <c:pt idx="5">
                  <c:v>404.979620897556</c:v>
                </c:pt>
                <c:pt idx="6">
                  <c:v>449.929133026778</c:v>
                </c:pt>
                <c:pt idx="7">
                  <c:v>475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4C-44F2-A85F-4FE2995D25DD}"/>
            </c:ext>
          </c:extLst>
        </c:ser>
        <c:ser>
          <c:idx val="2"/>
          <c:order val="2"/>
          <c:tx>
            <c:strRef>
              <c:f>'Costcenter - Itsec'!$A$18</c:f>
              <c:strCache>
                <c:ptCount val="1"/>
                <c:pt idx="0">
                  <c:v> DataCloud dev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'Costcenter - Itsec'!$B$15:$I$15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Itsec'!$B$18:$I$18</c:f>
              <c:numCache>
                <c:formatCode>_-[$$-409]* #,##0_ ;_-[$$-409]* \-#,##0\ ;_-[$$-409]* "-"??_ ;_-@_ </c:formatCode>
                <c:ptCount val="8"/>
                <c:pt idx="0">
                  <c:v>290.16000000000003</c:v>
                </c:pt>
                <c:pt idx="1">
                  <c:v>170</c:v>
                </c:pt>
                <c:pt idx="2">
                  <c:v>305.13395555555599</c:v>
                </c:pt>
                <c:pt idx="3">
                  <c:v>303.21723888888903</c:v>
                </c:pt>
                <c:pt idx="4">
                  <c:v>319.92</c:v>
                </c:pt>
                <c:pt idx="5">
                  <c:v>316.006836111111</c:v>
                </c:pt>
                <c:pt idx="6">
                  <c:v>341.98620833333302</c:v>
                </c:pt>
                <c:pt idx="7">
                  <c:v>388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C4C-44F2-A85F-4FE2995D25DD}"/>
            </c:ext>
          </c:extLst>
        </c:ser>
        <c:ser>
          <c:idx val="3"/>
          <c:order val="3"/>
          <c:tx>
            <c:strRef>
              <c:f>'Costcenter - Itsec'!$A$19</c:f>
              <c:strCache>
                <c:ptCount val="1"/>
                <c:pt idx="0">
                  <c:v> CloudOpS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'Costcenter - Itsec'!$B$15:$I$15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Itsec'!$B$19:$I$19</c:f>
              <c:numCache>
                <c:formatCode>_-[$$-409]* #,##0_ ;_-[$$-409]* \-#,##0\ ;_-[$$-409]* "-"??_ ;_-@_ </c:formatCode>
                <c:ptCount val="8"/>
                <c:pt idx="0">
                  <c:v>277.656180255783</c:v>
                </c:pt>
                <c:pt idx="1">
                  <c:v>262</c:v>
                </c:pt>
                <c:pt idx="2">
                  <c:v>181.97528802807801</c:v>
                </c:pt>
                <c:pt idx="3">
                  <c:v>175.79354443375499</c:v>
                </c:pt>
                <c:pt idx="4">
                  <c:v>264.67169971286802</c:v>
                </c:pt>
                <c:pt idx="5">
                  <c:v>278.81826897726597</c:v>
                </c:pt>
                <c:pt idx="6">
                  <c:v>294.171876289632</c:v>
                </c:pt>
                <c:pt idx="7">
                  <c:v>296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C4C-44F2-A85F-4FE2995D25DD}"/>
            </c:ext>
          </c:extLst>
        </c:ser>
        <c:ser>
          <c:idx val="4"/>
          <c:order val="4"/>
          <c:tx>
            <c:strRef>
              <c:f>'Costcenter - Itsec'!$A$20</c:f>
              <c:strCache>
                <c:ptCount val="1"/>
                <c:pt idx="0">
                  <c:v> Shared Resources 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'Costcenter - Itsec'!$B$15:$I$15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Itsec'!$B$20:$I$20</c:f>
              <c:numCache>
                <c:formatCode>_-[$$-409]* #,##0_ ;_-[$$-409]* \-#,##0\ ;_-[$$-409]* "-"??_ ;_-@_ </c:formatCode>
                <c:ptCount val="8"/>
                <c:pt idx="0">
                  <c:v>151.75028735999999</c:v>
                </c:pt>
                <c:pt idx="1">
                  <c:v>47</c:v>
                </c:pt>
                <c:pt idx="2">
                  <c:v>151.75028735999999</c:v>
                </c:pt>
                <c:pt idx="3">
                  <c:v>151.77214079999999</c:v>
                </c:pt>
                <c:pt idx="4">
                  <c:v>151.75028735999999</c:v>
                </c:pt>
                <c:pt idx="5">
                  <c:v>151.77214079999999</c:v>
                </c:pt>
                <c:pt idx="6">
                  <c:v>151.75028735999999</c:v>
                </c:pt>
                <c:pt idx="7">
                  <c:v>151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C4C-44F2-A85F-4FE2995D25DD}"/>
            </c:ext>
          </c:extLst>
        </c:ser>
        <c:ser>
          <c:idx val="5"/>
          <c:order val="5"/>
          <c:tx>
            <c:strRef>
              <c:f>'Costcenter - Itsec'!$A$21</c:f>
              <c:strCache>
                <c:ptCount val="1"/>
                <c:pt idx="0">
                  <c:v> Dev/Test 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'Costcenter - Itsec'!$B$15:$I$15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Itsec'!$B$21:$I$21</c:f>
              <c:numCache>
                <c:formatCode>_-[$$-409]* #,##0_ ;_-[$$-409]* \-#,##0\ ;_-[$$-409]* "-"??_ ;_-@_ </c:formatCode>
                <c:ptCount val="8"/>
                <c:pt idx="0">
                  <c:v>200.311890013865</c:v>
                </c:pt>
                <c:pt idx="1">
                  <c:v>152</c:v>
                </c:pt>
                <c:pt idx="2">
                  <c:v>135.54768444322099</c:v>
                </c:pt>
                <c:pt idx="3">
                  <c:v>131.871703336818</c:v>
                </c:pt>
                <c:pt idx="4">
                  <c:v>135.31156582713501</c:v>
                </c:pt>
                <c:pt idx="5">
                  <c:v>132.37814192291</c:v>
                </c:pt>
                <c:pt idx="6">
                  <c:v>142.61053769887701</c:v>
                </c:pt>
                <c:pt idx="7">
                  <c:v>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C4C-44F2-A85F-4FE2995D25DD}"/>
            </c:ext>
          </c:extLst>
        </c:ser>
        <c:ser>
          <c:idx val="6"/>
          <c:order val="6"/>
          <c:tx>
            <c:strRef>
              <c:f>'Costcenter - Itsec'!$A$22</c:f>
              <c:strCache>
                <c:ptCount val="1"/>
                <c:pt idx="0">
                  <c:v> Solugen Production 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Itsec'!$B$15:$I$15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Itsec'!$B$22:$I$22</c:f>
              <c:numCache>
                <c:formatCode>_-[$$-409]* #,##0_ ;_-[$$-409]* \-#,##0\ ;_-[$$-409]* "-"??_ ;_-@_ </c:formatCode>
                <c:ptCount val="8"/>
                <c:pt idx="0">
                  <c:v>74.400000000000006</c:v>
                </c:pt>
                <c:pt idx="1">
                  <c:v>21</c:v>
                </c:pt>
                <c:pt idx="2">
                  <c:v>59.52</c:v>
                </c:pt>
                <c:pt idx="3">
                  <c:v>57.7262993988302</c:v>
                </c:pt>
                <c:pt idx="4">
                  <c:v>68.797721198364698</c:v>
                </c:pt>
                <c:pt idx="5">
                  <c:v>79.739091074215196</c:v>
                </c:pt>
                <c:pt idx="6">
                  <c:v>82.408993071476004</c:v>
                </c:pt>
                <c:pt idx="7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C4C-44F2-A85F-4FE2995D25DD}"/>
            </c:ext>
          </c:extLst>
        </c:ser>
        <c:ser>
          <c:idx val="7"/>
          <c:order val="7"/>
          <c:tx>
            <c:strRef>
              <c:f>'Costcenter - Itsec'!$A$23</c:f>
              <c:strCache>
                <c:ptCount val="1"/>
                <c:pt idx="0">
                  <c:v> Solugen Dev 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Itsec'!$B$15:$I$15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Itsec'!$B$23:$I$23</c:f>
              <c:numCache>
                <c:formatCode>_-[$$-409]* #,##0_ ;_-[$$-409]* \-#,##0\ ;_-[$$-409]* "-"??_ ;_-@_ </c:formatCode>
                <c:ptCount val="8"/>
                <c:pt idx="1">
                  <c:v>42</c:v>
                </c:pt>
                <c:pt idx="2">
                  <c:v>52.08</c:v>
                </c:pt>
                <c:pt idx="3">
                  <c:v>50.401224522041197</c:v>
                </c:pt>
                <c:pt idx="4">
                  <c:v>52.096209973562502</c:v>
                </c:pt>
                <c:pt idx="5">
                  <c:v>50.411769308829697</c:v>
                </c:pt>
                <c:pt idx="6">
                  <c:v>52.092394640203601</c:v>
                </c:pt>
                <c:pt idx="7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C4C-44F2-A85F-4FE2995D25DD}"/>
            </c:ext>
          </c:extLst>
        </c:ser>
        <c:ser>
          <c:idx val="8"/>
          <c:order val="8"/>
          <c:tx>
            <c:strRef>
              <c:f>'Costcenter - Itsec'!$A$24</c:f>
              <c:strCache>
                <c:ptCount val="1"/>
                <c:pt idx="0">
                  <c:v> Actuary dev 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Itsec'!$B$15:$I$15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Itsec'!$B$24:$I$24</c:f>
              <c:numCache>
                <c:formatCode>_-[$$-409]* #,##0_ ;_-[$$-409]* \-#,##0\ ;_-[$$-409]* "-"??_ ;_-@_ </c:formatCode>
                <c:ptCount val="8"/>
                <c:pt idx="0">
                  <c:v>52.08</c:v>
                </c:pt>
                <c:pt idx="1">
                  <c:v>509</c:v>
                </c:pt>
                <c:pt idx="2">
                  <c:v>52.08</c:v>
                </c:pt>
                <c:pt idx="3">
                  <c:v>50.4</c:v>
                </c:pt>
                <c:pt idx="4">
                  <c:v>52.08</c:v>
                </c:pt>
                <c:pt idx="5">
                  <c:v>50.4</c:v>
                </c:pt>
                <c:pt idx="6">
                  <c:v>52.08</c:v>
                </c:pt>
                <c:pt idx="7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C4C-44F2-A85F-4FE2995D25DD}"/>
            </c:ext>
          </c:extLst>
        </c:ser>
        <c:ser>
          <c:idx val="9"/>
          <c:order val="9"/>
          <c:tx>
            <c:strRef>
              <c:f>'Costcenter - Itsec'!$A$25</c:f>
              <c:strCache>
                <c:ptCount val="1"/>
                <c:pt idx="0">
                  <c:v> Actuary prod 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'Costcenter - Itsec'!$B$15:$I$15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'Costcenter - Itsec'!$B$25:$I$25</c:f>
              <c:numCache>
                <c:formatCode>_-[$$-409]* #,##0_ ;_-[$$-409]* \-#,##0\ ;_-[$$-409]* "-"??_ ;_-@_ </c:formatCode>
                <c:ptCount val="8"/>
                <c:pt idx="0">
                  <c:v>44.64</c:v>
                </c:pt>
                <c:pt idx="1">
                  <c:v>346</c:v>
                </c:pt>
                <c:pt idx="2">
                  <c:v>52.08</c:v>
                </c:pt>
                <c:pt idx="3">
                  <c:v>50.4</c:v>
                </c:pt>
                <c:pt idx="4">
                  <c:v>52.08</c:v>
                </c:pt>
                <c:pt idx="5">
                  <c:v>50.4</c:v>
                </c:pt>
                <c:pt idx="6">
                  <c:v>52.08</c:v>
                </c:pt>
                <c:pt idx="7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C4C-44F2-A85F-4FE2995D2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48919328"/>
        <c:axId val="1448917408"/>
      </c:barChart>
      <c:dateAx>
        <c:axId val="1448919328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448917408"/>
        <c:crosses val="autoZero"/>
        <c:auto val="1"/>
        <c:lblOffset val="100"/>
        <c:baseTimeUnit val="months"/>
      </c:dateAx>
      <c:valAx>
        <c:axId val="1448917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448919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Cost By Service Name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title>
    <c:autoTitleDeleted val="0"/>
    <c:plotArea>
      <c:layout>
        <c:manualLayout>
          <c:layoutTarget val="inner"/>
          <c:xMode val="edge"/>
          <c:yMode val="edge"/>
          <c:x val="0.12212292213473316"/>
          <c:y val="0.14066666666666666"/>
          <c:w val="0.84732152230971125"/>
          <c:h val="0.6564964774140074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'Costcenter - Investments'!$A$2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'Costcenter - Investments'!$B$1:$H$1</c:f>
              <c:numCache>
                <c:formatCode>mmm\-yy</c:formatCode>
                <c:ptCount val="7"/>
                <c:pt idx="0">
                  <c:v>46054</c:v>
                </c:pt>
                <c:pt idx="1">
                  <c:v>46082</c:v>
                </c:pt>
                <c:pt idx="2">
                  <c:v>46113</c:v>
                </c:pt>
                <c:pt idx="3">
                  <c:v>46143</c:v>
                </c:pt>
                <c:pt idx="4">
                  <c:v>46174</c:v>
                </c:pt>
                <c:pt idx="5">
                  <c:v>46204</c:v>
                </c:pt>
                <c:pt idx="6">
                  <c:v>46235</c:v>
                </c:pt>
              </c:numCache>
            </c:numRef>
          </c:cat>
          <c:val>
            <c:numRef>
              <c:f>'Costcenter - Investments'!$B$2:$H$2</c:f>
              <c:numCache>
                <c:formatCode>_-[$$-409]* #,##0_ ;_-[$$-409]* \-#,##0\ ;_-[$$-409]* "-"??_ ;_-@_ </c:formatCode>
                <c:ptCount val="7"/>
                <c:pt idx="0">
                  <c:v>157</c:v>
                </c:pt>
                <c:pt idx="1">
                  <c:v>123</c:v>
                </c:pt>
                <c:pt idx="2">
                  <c:v>78</c:v>
                </c:pt>
                <c:pt idx="3">
                  <c:v>97.494649899999999</c:v>
                </c:pt>
                <c:pt idx="4" formatCode="General">
                  <c:v>176</c:v>
                </c:pt>
                <c:pt idx="5" formatCode="General">
                  <c:v>367</c:v>
                </c:pt>
                <c:pt idx="6" formatCode="General">
                  <c:v>556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A7-4FE3-B8F0-697A5D215014}"/>
            </c:ext>
          </c:extLst>
        </c:ser>
        <c:ser>
          <c:idx val="1"/>
          <c:order val="1"/>
          <c:tx>
            <c:strRef>
              <c:f>'Costcenter - Investments'!$A$3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'Costcenter - Investments'!$B$1:$H$1</c:f>
              <c:numCache>
                <c:formatCode>mmm\-yy</c:formatCode>
                <c:ptCount val="7"/>
                <c:pt idx="0">
                  <c:v>46054</c:v>
                </c:pt>
                <c:pt idx="1">
                  <c:v>46082</c:v>
                </c:pt>
                <c:pt idx="2">
                  <c:v>46113</c:v>
                </c:pt>
                <c:pt idx="3">
                  <c:v>46143</c:v>
                </c:pt>
                <c:pt idx="4">
                  <c:v>46174</c:v>
                </c:pt>
                <c:pt idx="5">
                  <c:v>46204</c:v>
                </c:pt>
                <c:pt idx="6">
                  <c:v>46235</c:v>
                </c:pt>
              </c:numCache>
            </c:numRef>
          </c:cat>
          <c:val>
            <c:numRef>
              <c:f>'Costcenter - Investments'!$B$3:$H$3</c:f>
              <c:numCache>
                <c:formatCode>_-[$$-409]* #,##0_ ;_-[$$-409]* \-#,##0\ ;_-[$$-409]* "-"??_ ;_-@_ </c:formatCode>
                <c:ptCount val="7"/>
                <c:pt idx="0">
                  <c:v>22</c:v>
                </c:pt>
                <c:pt idx="1">
                  <c:v>19</c:v>
                </c:pt>
                <c:pt idx="2">
                  <c:v>12</c:v>
                </c:pt>
                <c:pt idx="3">
                  <c:v>22.854124170641999</c:v>
                </c:pt>
                <c:pt idx="4" formatCode="General">
                  <c:v>47</c:v>
                </c:pt>
                <c:pt idx="5" formatCode="General">
                  <c:v>77</c:v>
                </c:pt>
                <c:pt idx="6" formatCode="General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A7-4FE3-B8F0-697A5D215014}"/>
            </c:ext>
          </c:extLst>
        </c:ser>
        <c:ser>
          <c:idx val="2"/>
          <c:order val="2"/>
          <c:tx>
            <c:strRef>
              <c:f>'Costcenter - Investments'!$A$4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'Costcenter - Investments'!$B$1:$H$1</c:f>
              <c:numCache>
                <c:formatCode>mmm\-yy</c:formatCode>
                <c:ptCount val="7"/>
                <c:pt idx="0">
                  <c:v>46054</c:v>
                </c:pt>
                <c:pt idx="1">
                  <c:v>46082</c:v>
                </c:pt>
                <c:pt idx="2">
                  <c:v>46113</c:v>
                </c:pt>
                <c:pt idx="3">
                  <c:v>46143</c:v>
                </c:pt>
                <c:pt idx="4">
                  <c:v>46174</c:v>
                </c:pt>
                <c:pt idx="5">
                  <c:v>46204</c:v>
                </c:pt>
                <c:pt idx="6">
                  <c:v>46235</c:v>
                </c:pt>
              </c:numCache>
            </c:numRef>
          </c:cat>
          <c:val>
            <c:numRef>
              <c:f>'Costcenter - Investments'!$B$4:$H$4</c:f>
              <c:numCache>
                <c:formatCode>_-[$$-409]* #,##0_ ;_-[$$-409]* \-#,##0\ ;_-[$$-409]* "-"??_ ;_-@_ </c:formatCode>
                <c:ptCount val="7"/>
                <c:pt idx="1">
                  <c:v>10</c:v>
                </c:pt>
                <c:pt idx="2">
                  <c:v>51</c:v>
                </c:pt>
                <c:pt idx="3">
                  <c:v>59.247258340007498</c:v>
                </c:pt>
                <c:pt idx="4" formatCode="General">
                  <c:v>59</c:v>
                </c:pt>
                <c:pt idx="5" formatCode="General">
                  <c:v>64</c:v>
                </c:pt>
                <c:pt idx="6" formatCode="General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3A7-4FE3-B8F0-697A5D215014}"/>
            </c:ext>
          </c:extLst>
        </c:ser>
        <c:ser>
          <c:idx val="3"/>
          <c:order val="3"/>
          <c:tx>
            <c:strRef>
              <c:f>'Costcenter - Investments'!$A$5</c:f>
              <c:strCache>
                <c:ptCount val="1"/>
                <c:pt idx="0">
                  <c:v>Event hubs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'Costcenter - Investments'!$B$1:$H$1</c:f>
              <c:numCache>
                <c:formatCode>mmm\-yy</c:formatCode>
                <c:ptCount val="7"/>
                <c:pt idx="0">
                  <c:v>46054</c:v>
                </c:pt>
                <c:pt idx="1">
                  <c:v>46082</c:v>
                </c:pt>
                <c:pt idx="2">
                  <c:v>46113</c:v>
                </c:pt>
                <c:pt idx="3">
                  <c:v>46143</c:v>
                </c:pt>
                <c:pt idx="4">
                  <c:v>46174</c:v>
                </c:pt>
                <c:pt idx="5">
                  <c:v>46204</c:v>
                </c:pt>
                <c:pt idx="6">
                  <c:v>46235</c:v>
                </c:pt>
              </c:numCache>
            </c:numRef>
          </c:cat>
          <c:val>
            <c:numRef>
              <c:f>'Costcenter - Investments'!$B$5:$H$5</c:f>
              <c:numCache>
                <c:formatCode>General</c:formatCode>
                <c:ptCount val="7"/>
                <c:pt idx="3" formatCode="_-[$$-409]* #,##0_ ;_-[$$-409]* \-#,##0\ ;_-[$$-409]* &quot;-&quot;??_ ;_-@_ ">
                  <c:v>19.860000056000001</c:v>
                </c:pt>
                <c:pt idx="4">
                  <c:v>21</c:v>
                </c:pt>
                <c:pt idx="5">
                  <c:v>22</c:v>
                </c:pt>
                <c:pt idx="6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3A7-4FE3-B8F0-697A5D215014}"/>
            </c:ext>
          </c:extLst>
        </c:ser>
        <c:ser>
          <c:idx val="4"/>
          <c:order val="4"/>
          <c:tx>
            <c:strRef>
              <c:f>'Costcenter - Investments'!$A$6</c:f>
              <c:strCache>
                <c:ptCount val="1"/>
                <c:pt idx="0">
                  <c:v>Event grids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'Costcenter - Investments'!$B$1:$H$1</c:f>
              <c:numCache>
                <c:formatCode>mmm\-yy</c:formatCode>
                <c:ptCount val="7"/>
                <c:pt idx="0">
                  <c:v>46054</c:v>
                </c:pt>
                <c:pt idx="1">
                  <c:v>46082</c:v>
                </c:pt>
                <c:pt idx="2">
                  <c:v>46113</c:v>
                </c:pt>
                <c:pt idx="3">
                  <c:v>46143</c:v>
                </c:pt>
                <c:pt idx="4">
                  <c:v>46174</c:v>
                </c:pt>
                <c:pt idx="5">
                  <c:v>46204</c:v>
                </c:pt>
                <c:pt idx="6">
                  <c:v>46235</c:v>
                </c:pt>
              </c:numCache>
            </c:numRef>
          </c:cat>
          <c:val>
            <c:numRef>
              <c:f>'Costcenter - Investments'!$B$6:$H$6</c:f>
              <c:numCache>
                <c:formatCode>General</c:formatCode>
                <c:ptCount val="7"/>
                <c:pt idx="4">
                  <c:v>0.5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A7-4FE3-B8F0-697A5D215014}"/>
            </c:ext>
          </c:extLst>
        </c:ser>
        <c:ser>
          <c:idx val="5"/>
          <c:order val="5"/>
          <c:tx>
            <c:strRef>
              <c:f>'Costcenter - Investments'!$A$7</c:f>
              <c:strCache>
                <c:ptCount val="1"/>
                <c:pt idx="0">
                  <c:v>Azure Databricks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'Costcenter - Investments'!$B$1:$H$1</c:f>
              <c:numCache>
                <c:formatCode>mmm\-yy</c:formatCode>
                <c:ptCount val="7"/>
                <c:pt idx="0">
                  <c:v>46054</c:v>
                </c:pt>
                <c:pt idx="1">
                  <c:v>46082</c:v>
                </c:pt>
                <c:pt idx="2">
                  <c:v>46113</c:v>
                </c:pt>
                <c:pt idx="3">
                  <c:v>46143</c:v>
                </c:pt>
                <c:pt idx="4">
                  <c:v>46174</c:v>
                </c:pt>
                <c:pt idx="5">
                  <c:v>46204</c:v>
                </c:pt>
                <c:pt idx="6">
                  <c:v>46235</c:v>
                </c:pt>
              </c:numCache>
            </c:numRef>
          </c:cat>
          <c:val>
            <c:numRef>
              <c:f>'Costcenter - Investments'!$B$7:$H$7</c:f>
              <c:numCache>
                <c:formatCode>_-[$$-409]* #,##0_ ;_-[$$-409]* \-#,##0\ ;_-[$$-409]* "-"??_ ;_-@_ </c:formatCode>
                <c:ptCount val="7"/>
                <c:pt idx="0">
                  <c:v>1142</c:v>
                </c:pt>
                <c:pt idx="1">
                  <c:v>1046</c:v>
                </c:pt>
                <c:pt idx="2">
                  <c:v>746</c:v>
                </c:pt>
                <c:pt idx="3">
                  <c:v>0</c:v>
                </c:pt>
                <c:pt idx="4" formatCode="General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3A7-4FE3-B8F0-697A5D2150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10602623"/>
        <c:axId val="1410596863"/>
      </c:barChart>
      <c:dateAx>
        <c:axId val="1410602623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410596863"/>
        <c:crosses val="autoZero"/>
        <c:auto val="1"/>
        <c:lblOffset val="100"/>
        <c:baseTimeUnit val="months"/>
      </c:dateAx>
      <c:valAx>
        <c:axId val="14105968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410602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34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3934183245062001"/>
          <c:y val="0.21547245612377006"/>
          <c:w val="0.80055400185875192"/>
          <c:h val="0.74038463391554554"/>
        </c:manualLayout>
      </c:layout>
      <c:pie3DChart>
        <c:varyColors val="1"/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36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'AWS+AZURE  COVERAGE VM'!$F$8</c:f>
              <c:strCache>
                <c:ptCount val="1"/>
                <c:pt idx="0">
                  <c:v>Ratio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44DC-4DF2-925F-3C3176ED41E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44DC-4DF2-925F-3C3176ED41E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44DC-4DF2-925F-3C3176ED41E6}"/>
              </c:ext>
            </c:extLst>
          </c:dPt>
          <c:cat>
            <c:strRef>
              <c:f>'AWS+AZURE  COVERAGE VM'!$E$9:$E$11</c:f>
              <c:strCache>
                <c:ptCount val="3"/>
                <c:pt idx="0">
                  <c:v>Spot</c:v>
                </c:pt>
                <c:pt idx="1">
                  <c:v>Compute Savings Plan</c:v>
                </c:pt>
                <c:pt idx="2">
                  <c:v>On Demand</c:v>
                </c:pt>
              </c:strCache>
            </c:strRef>
          </c:cat>
          <c:val>
            <c:numRef>
              <c:f>'AWS+AZURE  COVERAGE VM'!$F$9:$F$11</c:f>
              <c:numCache>
                <c:formatCode>0%</c:formatCode>
                <c:ptCount val="3"/>
                <c:pt idx="0">
                  <c:v>0.4890189351898564</c:v>
                </c:pt>
                <c:pt idx="1">
                  <c:v>0.55049944506104331</c:v>
                </c:pt>
                <c:pt idx="2">
                  <c:v>5.6132916288299195E-2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4DC-4DF2-925F-3C3176ED41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36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'AWS+AZURE  COVERAGE VM'!$F$28</c:f>
              <c:strCache>
                <c:ptCount val="1"/>
                <c:pt idx="0">
                  <c:v>Ratio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65E-4E99-BE86-DF7BF519CD0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65E-4E99-BE86-DF7BF519CD0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965E-4E99-BE86-DF7BF519CD0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965E-4E99-BE86-DF7BF519CD00}"/>
              </c:ext>
            </c:extLst>
          </c:dPt>
          <c:cat>
            <c:strRef>
              <c:f>'AWS+AZURE  COVERAGE VM'!$E$29:$E$32</c:f>
              <c:strCache>
                <c:ptCount val="4"/>
                <c:pt idx="0">
                  <c:v>On Demand</c:v>
                </c:pt>
                <c:pt idx="1">
                  <c:v>Reservation</c:v>
                </c:pt>
                <c:pt idx="2">
                  <c:v>Compute Savings Plan</c:v>
                </c:pt>
                <c:pt idx="3">
                  <c:v>Spot</c:v>
                </c:pt>
              </c:strCache>
            </c:strRef>
          </c:cat>
          <c:val>
            <c:numRef>
              <c:f>'AWS+AZURE  COVERAGE VM'!$F$29:$F$32</c:f>
              <c:numCache>
                <c:formatCode>0%</c:formatCode>
                <c:ptCount val="4"/>
                <c:pt idx="0">
                  <c:v>0.48800139215174454</c:v>
                </c:pt>
                <c:pt idx="1">
                  <c:v>0.36601409553641345</c:v>
                </c:pt>
                <c:pt idx="2">
                  <c:v>0.12988775776559644</c:v>
                </c:pt>
                <c:pt idx="3" formatCode="0.0%">
                  <c:v>1.609675454624554E-2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65E-4E99-BE86-DF7BF519CD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72021441600321612"/>
          <c:w val="0.9895364738073249"/>
          <c:h val="0.235897920289174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Infrastucture Cosy By Subscription</a:t>
            </a:r>
          </a:p>
        </c:rich>
      </c:tx>
      <c:layout>
        <c:manualLayout>
          <c:xMode val="edge"/>
          <c:yMode val="edge"/>
          <c:x val="0.1910335283259125"/>
          <c:y val="2.5948216401881271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0140752405949261E-2"/>
          <c:y val="0.10192828106613742"/>
          <c:w val="0.90141480314960631"/>
          <c:h val="0.67033263665148313"/>
        </c:manualLayout>
      </c:layout>
      <c:barChart>
        <c:barDir val="col"/>
        <c:grouping val="stacked"/>
        <c:varyColors val="0"/>
        <c:ser>
          <c:idx val="2"/>
          <c:order val="0"/>
          <c:tx>
            <c:strRef>
              <c:f>DataBricks!$A$2</c:f>
              <c:strCache>
                <c:ptCount val="1"/>
                <c:pt idx="0">
                  <c:v>DataCloud prod</c:v>
                </c:pt>
              </c:strCache>
            </c:strRef>
          </c:tx>
          <c:spPr>
            <a:solidFill>
              <a:srgbClr val="7030A0"/>
            </a:solidFill>
          </c:spPr>
          <c:invertIfNegative val="0"/>
          <c:cat>
            <c:numRef>
              <c:f>DataBricks!$B$1:$E$1</c:f>
              <c:numCache>
                <c:formatCode>mmm\-yy</c:formatCode>
                <c:ptCount val="4"/>
                <c:pt idx="0">
                  <c:v>46143</c:v>
                </c:pt>
                <c:pt idx="1">
                  <c:v>46174</c:v>
                </c:pt>
                <c:pt idx="2">
                  <c:v>46204</c:v>
                </c:pt>
                <c:pt idx="3">
                  <c:v>46235</c:v>
                </c:pt>
              </c:numCache>
            </c:numRef>
          </c:cat>
          <c:val>
            <c:numRef>
              <c:f>DataBricks!$B$2:$E$2</c:f>
              <c:numCache>
                <c:formatCode>General</c:formatCode>
                <c:ptCount val="4"/>
                <c:pt idx="0" formatCode="[$$-1009]#,##0">
                  <c:v>16941.371673756301</c:v>
                </c:pt>
                <c:pt idx="1">
                  <c:v>17844</c:v>
                </c:pt>
                <c:pt idx="2">
                  <c:v>19752</c:v>
                </c:pt>
                <c:pt idx="3">
                  <c:v>19209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26-4877-B5B2-7E943E13B643}"/>
            </c:ext>
          </c:extLst>
        </c:ser>
        <c:ser>
          <c:idx val="3"/>
          <c:order val="1"/>
          <c:tx>
            <c:strRef>
              <c:f>DataBricks!$A$3</c:f>
              <c:strCache>
                <c:ptCount val="1"/>
                <c:pt idx="0">
                  <c:v>Actuary prod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</c:spPr>
          <c:invertIfNegative val="0"/>
          <c:cat>
            <c:numRef>
              <c:f>DataBricks!$B$1:$E$1</c:f>
              <c:numCache>
                <c:formatCode>mmm\-yy</c:formatCode>
                <c:ptCount val="4"/>
                <c:pt idx="0">
                  <c:v>46143</c:v>
                </c:pt>
                <c:pt idx="1">
                  <c:v>46174</c:v>
                </c:pt>
                <c:pt idx="2">
                  <c:v>46204</c:v>
                </c:pt>
                <c:pt idx="3">
                  <c:v>46235</c:v>
                </c:pt>
              </c:numCache>
            </c:numRef>
          </c:cat>
          <c:val>
            <c:numRef>
              <c:f>DataBricks!$B$3:$E$3</c:f>
              <c:numCache>
                <c:formatCode>General</c:formatCode>
                <c:ptCount val="4"/>
                <c:pt idx="0" formatCode="[$$-1009]#,##0">
                  <c:v>3484.78619398315</c:v>
                </c:pt>
                <c:pt idx="1">
                  <c:v>1646</c:v>
                </c:pt>
                <c:pt idx="2">
                  <c:v>2526</c:v>
                </c:pt>
                <c:pt idx="3">
                  <c:v>1812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26-4877-B5B2-7E943E13B643}"/>
            </c:ext>
          </c:extLst>
        </c:ser>
        <c:ser>
          <c:idx val="4"/>
          <c:order val="2"/>
          <c:tx>
            <c:strRef>
              <c:f>DataBricks!$A$5</c:f>
              <c:strCache>
                <c:ptCount val="1"/>
                <c:pt idx="0">
                  <c:v>Actuary dev</c:v>
                </c:pt>
              </c:strCache>
            </c:strRef>
          </c:tx>
          <c:invertIfNegative val="0"/>
          <c:cat>
            <c:numRef>
              <c:f>DataBricks!$B$1:$E$1</c:f>
              <c:numCache>
                <c:formatCode>mmm\-yy</c:formatCode>
                <c:ptCount val="4"/>
                <c:pt idx="0">
                  <c:v>46143</c:v>
                </c:pt>
                <c:pt idx="1">
                  <c:v>46174</c:v>
                </c:pt>
                <c:pt idx="2">
                  <c:v>46204</c:v>
                </c:pt>
                <c:pt idx="3">
                  <c:v>46235</c:v>
                </c:pt>
              </c:numCache>
            </c:numRef>
          </c:cat>
          <c:val>
            <c:numRef>
              <c:f>DataBricks!$B$5:$E$5</c:f>
              <c:numCache>
                <c:formatCode>General</c:formatCode>
                <c:ptCount val="4"/>
                <c:pt idx="0" formatCode="[$$-1009]#,##0">
                  <c:v>135.439263957393</c:v>
                </c:pt>
                <c:pt idx="1">
                  <c:v>100</c:v>
                </c:pt>
                <c:pt idx="2">
                  <c:v>168</c:v>
                </c:pt>
                <c:pt idx="3">
                  <c:v>171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326-4877-B5B2-7E943E13B643}"/>
            </c:ext>
          </c:extLst>
        </c:ser>
        <c:ser>
          <c:idx val="10"/>
          <c:order val="3"/>
          <c:tx>
            <c:strRef>
              <c:f>DataBricks!$A$7</c:f>
              <c:strCache>
                <c:ptCount val="1"/>
                <c:pt idx="0">
                  <c:v>Investments dev</c:v>
                </c:pt>
              </c:strCache>
            </c:strRef>
          </c:tx>
          <c:invertIfNegative val="0"/>
          <c:cat>
            <c:numRef>
              <c:f>DataBricks!$B$1:$E$1</c:f>
              <c:numCache>
                <c:formatCode>mmm\-yy</c:formatCode>
                <c:ptCount val="4"/>
                <c:pt idx="0">
                  <c:v>46143</c:v>
                </c:pt>
                <c:pt idx="1">
                  <c:v>46174</c:v>
                </c:pt>
                <c:pt idx="2">
                  <c:v>46204</c:v>
                </c:pt>
                <c:pt idx="3">
                  <c:v>46235</c:v>
                </c:pt>
              </c:numCache>
            </c:numRef>
          </c:cat>
          <c:val>
            <c:numRef>
              <c:f>DataBricks!$B$7:$E$7</c:f>
              <c:numCache>
                <c:formatCode>General</c:formatCode>
                <c:ptCount val="4"/>
                <c:pt idx="0" formatCode="[$$-1009]#,##0">
                  <c:v>79.990936711170605</c:v>
                </c:pt>
                <c:pt idx="1">
                  <c:v>55</c:v>
                </c:pt>
                <c:pt idx="2">
                  <c:v>30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326-4877-B5B2-7E943E13B643}"/>
            </c:ext>
          </c:extLst>
        </c:ser>
        <c:ser>
          <c:idx val="11"/>
          <c:order val="4"/>
          <c:tx>
            <c:strRef>
              <c:f>DataBricks!$A$6</c:f>
              <c:strCache>
                <c:ptCount val="1"/>
                <c:pt idx="0">
                  <c:v>DataCloud dev</c:v>
                </c:pt>
              </c:strCache>
            </c:strRef>
          </c:tx>
          <c:invertIfNegative val="0"/>
          <c:cat>
            <c:numRef>
              <c:f>DataBricks!$B$1:$E$1</c:f>
              <c:numCache>
                <c:formatCode>mmm\-yy</c:formatCode>
                <c:ptCount val="4"/>
                <c:pt idx="0">
                  <c:v>46143</c:v>
                </c:pt>
                <c:pt idx="1">
                  <c:v>46174</c:v>
                </c:pt>
                <c:pt idx="2">
                  <c:v>46204</c:v>
                </c:pt>
                <c:pt idx="3">
                  <c:v>46235</c:v>
                </c:pt>
              </c:numCache>
            </c:numRef>
          </c:cat>
          <c:val>
            <c:numRef>
              <c:f>DataBricks!$B$6:$E$6</c:f>
              <c:numCache>
                <c:formatCode>General</c:formatCode>
                <c:ptCount val="4"/>
                <c:pt idx="0" formatCode="[$$-1009]#,##0">
                  <c:v>42.899683107776603</c:v>
                </c:pt>
                <c:pt idx="1">
                  <c:v>28</c:v>
                </c:pt>
                <c:pt idx="2">
                  <c:v>59</c:v>
                </c:pt>
                <c:pt idx="3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326-4877-B5B2-7E943E13B643}"/>
            </c:ext>
          </c:extLst>
        </c:ser>
        <c:ser>
          <c:idx val="12"/>
          <c:order val="5"/>
          <c:tx>
            <c:strRef>
              <c:f>DataBricks!$A$4</c:f>
              <c:strCache>
                <c:ptCount val="1"/>
                <c:pt idx="0">
                  <c:v>Investments prod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solidFill>
                  <a:schemeClr val="accent4"/>
                </a:solidFill>
              </a:ln>
            </c:spPr>
            <c:extLst>
              <c:ext xmlns:c16="http://schemas.microsoft.com/office/drawing/2014/chart" uri="{C3380CC4-5D6E-409C-BE32-E72D297353CC}">
                <c16:uniqueId val="{00000006-2326-4877-B5B2-7E943E13B643}"/>
              </c:ext>
            </c:extLst>
          </c:dPt>
          <c:cat>
            <c:numRef>
              <c:f>DataBricks!$B$1:$E$1</c:f>
              <c:numCache>
                <c:formatCode>mmm\-yy</c:formatCode>
                <c:ptCount val="4"/>
                <c:pt idx="0">
                  <c:v>46143</c:v>
                </c:pt>
                <c:pt idx="1">
                  <c:v>46174</c:v>
                </c:pt>
                <c:pt idx="2">
                  <c:v>46204</c:v>
                </c:pt>
                <c:pt idx="3">
                  <c:v>46235</c:v>
                </c:pt>
              </c:numCache>
            </c:numRef>
          </c:cat>
          <c:val>
            <c:numRef>
              <c:f>DataBricks!$B$4:$E$4</c:f>
              <c:numCache>
                <c:formatCode>General</c:formatCode>
                <c:ptCount val="4"/>
                <c:pt idx="0" formatCode="[$$-1009]#,##0">
                  <c:v>38.279757465579799</c:v>
                </c:pt>
                <c:pt idx="1">
                  <c:v>162</c:v>
                </c:pt>
                <c:pt idx="2">
                  <c:v>408</c:v>
                </c:pt>
                <c:pt idx="3">
                  <c:v>589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326-4877-B5B2-7E943E13B6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70238720"/>
        <c:axId val="370235840"/>
      </c:barChart>
      <c:dateAx>
        <c:axId val="37023872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370235840"/>
        <c:crosses val="autoZero"/>
        <c:auto val="1"/>
        <c:lblOffset val="100"/>
        <c:baseTimeUnit val="months"/>
      </c:dateAx>
      <c:valAx>
        <c:axId val="370235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$$-1009]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370238720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/>
  </c:chart>
  <c:txPr>
    <a:bodyPr/>
    <a:lstStyle/>
    <a:p>
      <a:pPr>
        <a:defRPr/>
      </a:pPr>
      <a:endParaRPr lang="en-IL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Infrastucture Cosy By Service Name</a:t>
            </a:r>
          </a:p>
        </c:rich>
      </c:tx>
      <c:layout>
        <c:manualLayout>
          <c:xMode val="edge"/>
          <c:yMode val="edge"/>
          <c:x val="0.20616713665891143"/>
          <c:y val="4.3904662654303234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3653992193130535"/>
          <c:y val="0.13213673079809191"/>
          <c:w val="0.8296738431177173"/>
          <c:h val="0.62673378562421878"/>
        </c:manualLayout>
      </c:layout>
      <c:barChart>
        <c:barDir val="col"/>
        <c:grouping val="stacked"/>
        <c:varyColors val="0"/>
        <c:ser>
          <c:idx val="2"/>
          <c:order val="0"/>
          <c:tx>
            <c:strRef>
              <c:f>DataBricks!$A$12</c:f>
              <c:strCache>
                <c:ptCount val="1"/>
                <c:pt idx="0">
                  <c:v>Virtual Machines</c:v>
                </c:pt>
              </c:strCache>
            </c:strRef>
          </c:tx>
          <c:invertIfNegative val="0"/>
          <c:cat>
            <c:numRef>
              <c:f>DataBricks!$B$11:$E$11</c:f>
              <c:numCache>
                <c:formatCode>mmm\-yy</c:formatCode>
                <c:ptCount val="4"/>
                <c:pt idx="0">
                  <c:v>46143</c:v>
                </c:pt>
                <c:pt idx="1">
                  <c:v>46174</c:v>
                </c:pt>
                <c:pt idx="2">
                  <c:v>46204</c:v>
                </c:pt>
                <c:pt idx="3">
                  <c:v>46235</c:v>
                </c:pt>
              </c:numCache>
            </c:numRef>
          </c:cat>
          <c:val>
            <c:numRef>
              <c:f>DataBricks!$B$12:$E$12</c:f>
              <c:numCache>
                <c:formatCode>General</c:formatCode>
                <c:ptCount val="4"/>
                <c:pt idx="0" formatCode="[$$-1009]#,##0">
                  <c:v>10916.7553963964</c:v>
                </c:pt>
                <c:pt idx="1">
                  <c:v>10157</c:v>
                </c:pt>
                <c:pt idx="2">
                  <c:v>11866</c:v>
                </c:pt>
                <c:pt idx="3">
                  <c:v>11423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9D-4004-A21B-2434154DA27E}"/>
            </c:ext>
          </c:extLst>
        </c:ser>
        <c:ser>
          <c:idx val="3"/>
          <c:order val="1"/>
          <c:tx>
            <c:strRef>
              <c:f>DataBricks!$A$13</c:f>
              <c:strCache>
                <c:ptCount val="1"/>
                <c:pt idx="0">
                  <c:v>Virtual Network</c:v>
                </c:pt>
              </c:strCache>
            </c:strRef>
          </c:tx>
          <c:invertIfNegative val="0"/>
          <c:cat>
            <c:numRef>
              <c:f>DataBricks!$B$11:$E$11</c:f>
              <c:numCache>
                <c:formatCode>mmm\-yy</c:formatCode>
                <c:ptCount val="4"/>
                <c:pt idx="0">
                  <c:v>46143</c:v>
                </c:pt>
                <c:pt idx="1">
                  <c:v>46174</c:v>
                </c:pt>
                <c:pt idx="2">
                  <c:v>46204</c:v>
                </c:pt>
                <c:pt idx="3">
                  <c:v>46235</c:v>
                </c:pt>
              </c:numCache>
            </c:numRef>
          </c:cat>
          <c:val>
            <c:numRef>
              <c:f>DataBricks!$B$13:$E$13</c:f>
              <c:numCache>
                <c:formatCode>General</c:formatCode>
                <c:ptCount val="4"/>
                <c:pt idx="0" formatCode="[$$-1009]#,##0">
                  <c:v>6469.2918119115402</c:v>
                </c:pt>
                <c:pt idx="1">
                  <c:v>6555</c:v>
                </c:pt>
                <c:pt idx="2">
                  <c:v>7576</c:v>
                </c:pt>
                <c:pt idx="3">
                  <c:v>7124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9D-4004-A21B-2434154DA27E}"/>
            </c:ext>
          </c:extLst>
        </c:ser>
        <c:ser>
          <c:idx val="4"/>
          <c:order val="2"/>
          <c:tx>
            <c:strRef>
              <c:f>DataBricks!$A$14</c:f>
              <c:strCache>
                <c:ptCount val="1"/>
                <c:pt idx="0">
                  <c:v>Storage</c:v>
                </c:pt>
              </c:strCache>
            </c:strRef>
          </c:tx>
          <c:invertIfNegative val="0"/>
          <c:cat>
            <c:numRef>
              <c:f>DataBricks!$B$11:$E$11</c:f>
              <c:numCache>
                <c:formatCode>mmm\-yy</c:formatCode>
                <c:ptCount val="4"/>
                <c:pt idx="0">
                  <c:v>46143</c:v>
                </c:pt>
                <c:pt idx="1">
                  <c:v>46174</c:v>
                </c:pt>
                <c:pt idx="2">
                  <c:v>46204</c:v>
                </c:pt>
                <c:pt idx="3">
                  <c:v>46235</c:v>
                </c:pt>
              </c:numCache>
            </c:numRef>
          </c:cat>
          <c:val>
            <c:numRef>
              <c:f>DataBricks!$B$14:$E$14</c:f>
              <c:numCache>
                <c:formatCode>General</c:formatCode>
                <c:ptCount val="4"/>
                <c:pt idx="0" formatCode="[$$-1009]#,##0">
                  <c:v>3243.6064539174399</c:v>
                </c:pt>
                <c:pt idx="1">
                  <c:v>3033</c:v>
                </c:pt>
                <c:pt idx="2">
                  <c:v>3406</c:v>
                </c:pt>
                <c:pt idx="3">
                  <c:v>3234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9D-4004-A21B-2434154DA27E}"/>
            </c:ext>
          </c:extLst>
        </c:ser>
        <c:ser>
          <c:idx val="10"/>
          <c:order val="3"/>
          <c:tx>
            <c:strRef>
              <c:f>DataBricks!$A$15</c:f>
              <c:strCache>
                <c:ptCount val="1"/>
                <c:pt idx="0">
                  <c:v>Microsoft Defender for Cloud</c:v>
                </c:pt>
              </c:strCache>
            </c:strRef>
          </c:tx>
          <c:invertIfNegative val="0"/>
          <c:cat>
            <c:numRef>
              <c:f>DataBricks!$B$11:$E$11</c:f>
              <c:numCache>
                <c:formatCode>mmm\-yy</c:formatCode>
                <c:ptCount val="4"/>
                <c:pt idx="0">
                  <c:v>46143</c:v>
                </c:pt>
                <c:pt idx="1">
                  <c:v>46174</c:v>
                </c:pt>
                <c:pt idx="2">
                  <c:v>46204</c:v>
                </c:pt>
                <c:pt idx="3">
                  <c:v>46235</c:v>
                </c:pt>
              </c:numCache>
            </c:numRef>
          </c:cat>
          <c:val>
            <c:numRef>
              <c:f>DataBricks!$B$15:$E$15</c:f>
              <c:numCache>
                <c:formatCode>General</c:formatCode>
                <c:ptCount val="4"/>
                <c:pt idx="0" formatCode="[$$-1009]#,##0">
                  <c:v>59.415599999999998</c:v>
                </c:pt>
                <c:pt idx="1">
                  <c:v>58</c:v>
                </c:pt>
                <c:pt idx="2">
                  <c:v>60</c:v>
                </c:pt>
                <c:pt idx="3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59D-4004-A21B-2434154DA27E}"/>
            </c:ext>
          </c:extLst>
        </c:ser>
        <c:ser>
          <c:idx val="11"/>
          <c:order val="4"/>
          <c:tx>
            <c:strRef>
              <c:f>DataBricks!$A$16</c:f>
              <c:strCache>
                <c:ptCount val="1"/>
                <c:pt idx="0">
                  <c:v>NAT Gateway</c:v>
                </c:pt>
              </c:strCache>
            </c:strRef>
          </c:tx>
          <c:invertIfNegative val="0"/>
          <c:cat>
            <c:numRef>
              <c:f>DataBricks!$B$11:$E$11</c:f>
              <c:numCache>
                <c:formatCode>mmm\-yy</c:formatCode>
                <c:ptCount val="4"/>
                <c:pt idx="0">
                  <c:v>46143</c:v>
                </c:pt>
                <c:pt idx="1">
                  <c:v>46174</c:v>
                </c:pt>
                <c:pt idx="2">
                  <c:v>46204</c:v>
                </c:pt>
                <c:pt idx="3">
                  <c:v>46235</c:v>
                </c:pt>
              </c:numCache>
            </c:numRef>
          </c:cat>
          <c:val>
            <c:numRef>
              <c:f>DataBricks!$B$16:$E$16</c:f>
              <c:numCache>
                <c:formatCode>General</c:formatCode>
                <c:ptCount val="4"/>
                <c:pt idx="0" formatCode="[$$-1009]#,##0">
                  <c:v>33.479999999999997</c:v>
                </c:pt>
                <c:pt idx="1">
                  <c:v>32</c:v>
                </c:pt>
                <c:pt idx="2">
                  <c:v>34</c:v>
                </c:pt>
                <c:pt idx="3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59D-4004-A21B-2434154DA2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70238720"/>
        <c:axId val="370235840"/>
      </c:barChart>
      <c:dateAx>
        <c:axId val="37023872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370235840"/>
        <c:crosses val="autoZero"/>
        <c:auto val="1"/>
        <c:lblOffset val="100"/>
        <c:baseTimeUnit val="months"/>
      </c:dateAx>
      <c:valAx>
        <c:axId val="370235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$$-1009]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370238720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13914100251038738"/>
          <c:y val="0.82142355213384133"/>
          <c:w val="0.79850489259508284"/>
          <c:h val="0.157200864560994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/>
  </c:chart>
  <c:txPr>
    <a:bodyPr/>
    <a:lstStyle/>
    <a:p>
      <a:pPr>
        <a:defRPr/>
      </a:pPr>
      <a:endParaRPr lang="en-IL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212292213473316"/>
          <c:y val="0.1051945406824147"/>
          <c:w val="0.84732152230971125"/>
          <c:h val="0.521233231262758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'Google Cloud '!$A$2</c:f>
              <c:strCache>
                <c:ptCount val="1"/>
                <c:pt idx="0">
                  <c:v>Vertex AI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'Google Cloud '!$B$1:$G$1</c:f>
              <c:numCache>
                <c:formatCode>mmm\-yy</c:formatCode>
                <c:ptCount val="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</c:numCache>
            </c:numRef>
          </c:cat>
          <c:val>
            <c:numRef>
              <c:f>'Google Cloud '!$B$2:$G$2</c:f>
              <c:numCache>
                <c:formatCode>[$$-1004]#,##0</c:formatCode>
                <c:ptCount val="6"/>
                <c:pt idx="0">
                  <c:v>0</c:v>
                </c:pt>
                <c:pt idx="1">
                  <c:v>8.5959999999999995E-3</c:v>
                </c:pt>
                <c:pt idx="2">
                  <c:v>378.84488699999901</c:v>
                </c:pt>
                <c:pt idx="3">
                  <c:v>957.520714</c:v>
                </c:pt>
                <c:pt idx="4">
                  <c:v>2359</c:v>
                </c:pt>
                <c:pt idx="5">
                  <c:v>1522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F1-4EBF-AA8F-4A7F97E32E59}"/>
            </c:ext>
          </c:extLst>
        </c:ser>
        <c:ser>
          <c:idx val="1"/>
          <c:order val="1"/>
          <c:tx>
            <c:strRef>
              <c:f>'Google Cloud '!$A$3</c:f>
              <c:strCache>
                <c:ptCount val="1"/>
                <c:pt idx="0">
                  <c:v>Compute Engine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'Google Cloud '!$B$1:$G$1</c:f>
              <c:numCache>
                <c:formatCode>mmm\-yy</c:formatCode>
                <c:ptCount val="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</c:numCache>
            </c:numRef>
          </c:cat>
          <c:val>
            <c:numRef>
              <c:f>'Google Cloud '!$B$3:$G$3</c:f>
              <c:numCache>
                <c:formatCode>[$$-1004]#,##0</c:formatCode>
                <c:ptCount val="6"/>
                <c:pt idx="0">
                  <c:v>0</c:v>
                </c:pt>
                <c:pt idx="1">
                  <c:v>221.73230899999999</c:v>
                </c:pt>
                <c:pt idx="2">
                  <c:v>714.236715</c:v>
                </c:pt>
                <c:pt idx="3">
                  <c:v>977.32620899999995</c:v>
                </c:pt>
                <c:pt idx="4">
                  <c:v>1011.507034</c:v>
                </c:pt>
                <c:pt idx="5">
                  <c:v>1031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F1-4EBF-AA8F-4A7F97E32E59}"/>
            </c:ext>
          </c:extLst>
        </c:ser>
        <c:ser>
          <c:idx val="2"/>
          <c:order val="2"/>
          <c:tx>
            <c:strRef>
              <c:f>'Google Cloud '!$A$4</c:f>
              <c:strCache>
                <c:ptCount val="1"/>
                <c:pt idx="0">
                  <c:v>Networking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'Google Cloud '!$B$1:$G$1</c:f>
              <c:numCache>
                <c:formatCode>mmm\-yy</c:formatCode>
                <c:ptCount val="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</c:numCache>
            </c:numRef>
          </c:cat>
          <c:val>
            <c:numRef>
              <c:f>'Google Cloud '!$B$4:$G$4</c:f>
              <c:numCache>
                <c:formatCode>[$$-1004]#,##0</c:formatCode>
                <c:ptCount val="6"/>
                <c:pt idx="0">
                  <c:v>0</c:v>
                </c:pt>
                <c:pt idx="1">
                  <c:v>74.480369999999994</c:v>
                </c:pt>
                <c:pt idx="2">
                  <c:v>311.41767199999902</c:v>
                </c:pt>
                <c:pt idx="3">
                  <c:v>303.72863699999999</c:v>
                </c:pt>
                <c:pt idx="4">
                  <c:v>310</c:v>
                </c:pt>
                <c:pt idx="5">
                  <c:v>314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9F1-4EBF-AA8F-4A7F97E32E59}"/>
            </c:ext>
          </c:extLst>
        </c:ser>
        <c:ser>
          <c:idx val="3"/>
          <c:order val="3"/>
          <c:tx>
            <c:strRef>
              <c:f>'Google Cloud '!$A$5</c:f>
              <c:strCache>
                <c:ptCount val="1"/>
                <c:pt idx="0">
                  <c:v>Support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'Google Cloud '!$B$1:$G$1</c:f>
              <c:numCache>
                <c:formatCode>mmm\-yy</c:formatCode>
                <c:ptCount val="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</c:numCache>
            </c:numRef>
          </c:cat>
          <c:val>
            <c:numRef>
              <c:f>'Google Cloud '!$B$5:$G$5</c:f>
              <c:numCache>
                <c:formatCode>[$$-1004]#,##0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26.4328369999999</c:v>
                </c:pt>
                <c:pt idx="3">
                  <c:v>98.239223999999993</c:v>
                </c:pt>
                <c:pt idx="4">
                  <c:v>141.64997099999999</c:v>
                </c:pt>
                <c:pt idx="5">
                  <c:v>117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9F1-4EBF-AA8F-4A7F97E32E59}"/>
            </c:ext>
          </c:extLst>
        </c:ser>
        <c:ser>
          <c:idx val="4"/>
          <c:order val="4"/>
          <c:tx>
            <c:strRef>
              <c:f>'Google Cloud '!$A$6</c:f>
              <c:strCache>
                <c:ptCount val="1"/>
                <c:pt idx="0">
                  <c:v>Gemini API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'Google Cloud '!$B$1:$G$1</c:f>
              <c:numCache>
                <c:formatCode>mmm\-yy</c:formatCode>
                <c:ptCount val="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</c:numCache>
            </c:numRef>
          </c:cat>
          <c:val>
            <c:numRef>
              <c:f>'Google Cloud '!$B$6:$G$6</c:f>
              <c:numCache>
                <c:formatCode>[$$-1004]#,##0</c:formatCode>
                <c:ptCount val="6"/>
                <c:pt idx="0">
                  <c:v>395.81087500000001</c:v>
                </c:pt>
                <c:pt idx="1">
                  <c:v>134.70551</c:v>
                </c:pt>
                <c:pt idx="2">
                  <c:v>92.383087999999901</c:v>
                </c:pt>
                <c:pt idx="3">
                  <c:v>0</c:v>
                </c:pt>
                <c:pt idx="4" formatCode="General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9F1-4EBF-AA8F-4A7F97E32E59}"/>
            </c:ext>
          </c:extLst>
        </c:ser>
        <c:ser>
          <c:idx val="5"/>
          <c:order val="5"/>
          <c:tx>
            <c:strRef>
              <c:f>'Google Cloud '!$A$7</c:f>
              <c:strCache>
                <c:ptCount val="1"/>
                <c:pt idx="0">
                  <c:v>other services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'Google Cloud '!$B$1:$G$1</c:f>
              <c:numCache>
                <c:formatCode>mmm\-yy</c:formatCode>
                <c:ptCount val="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</c:numCache>
            </c:numRef>
          </c:cat>
          <c:val>
            <c:numRef>
              <c:f>'Google Cloud '!$B$7:$G$7</c:f>
              <c:numCache>
                <c:formatCode>[$$-1004]#,##0</c:formatCode>
                <c:ptCount val="6"/>
                <c:pt idx="0">
                  <c:v>6.0399999999999898E-2</c:v>
                </c:pt>
                <c:pt idx="1">
                  <c:v>9.230819000000011</c:v>
                </c:pt>
                <c:pt idx="2">
                  <c:v>-73.959078999999988</c:v>
                </c:pt>
                <c:pt idx="3">
                  <c:v>-117.27262899999999</c:v>
                </c:pt>
                <c:pt idx="4">
                  <c:v>-115.1123369999998</c:v>
                </c:pt>
                <c:pt idx="5">
                  <c:v>-149.38725999999997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9F1-4EBF-AA8F-4A7F97E32E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93754320"/>
        <c:axId val="1393755280"/>
      </c:barChart>
      <c:dateAx>
        <c:axId val="139375432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393755280"/>
        <c:crosses val="autoZero"/>
        <c:auto val="1"/>
        <c:lblOffset val="100"/>
        <c:baseTimeUnit val="months"/>
      </c:dateAx>
      <c:valAx>
        <c:axId val="1393755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$$-1004]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393754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67023454068241473"/>
          <c:w val="1"/>
          <c:h val="0.185765459317585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78791491757535"/>
          <c:y val="1.6327220201764442E-2"/>
          <c:w val="0.83465485564304465"/>
          <c:h val="0.8540252517295081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'AI- Projects'!$A$2</c:f>
              <c:strCache>
                <c:ptCount val="1"/>
                <c:pt idx="0">
                  <c:v>Aifactory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'AI- Projects'!$B$1:$I$1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'AI- Projects'!$B$2:$I$2</c:f>
              <c:numCache>
                <c:formatCode>_-[$$-409]* #,##0_ ;_-[$$-409]* \-#,##0\ ;_-[$$-409]* "-"??_ ;_-@_ </c:formatCode>
                <c:ptCount val="8"/>
                <c:pt idx="0">
                  <c:v>854.31450841521973</c:v>
                </c:pt>
                <c:pt idx="1">
                  <c:v>3477</c:v>
                </c:pt>
                <c:pt idx="2">
                  <c:v>12632</c:v>
                </c:pt>
                <c:pt idx="3">
                  <c:v>11676</c:v>
                </c:pt>
                <c:pt idx="4">
                  <c:v>13656</c:v>
                </c:pt>
                <c:pt idx="5">
                  <c:v>26278</c:v>
                </c:pt>
                <c:pt idx="6">
                  <c:v>23436</c:v>
                </c:pt>
                <c:pt idx="7">
                  <c:v>21507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F0-46AE-951F-F9FAE96AD30A}"/>
            </c:ext>
          </c:extLst>
        </c:ser>
        <c:ser>
          <c:idx val="1"/>
          <c:order val="1"/>
          <c:tx>
            <c:strRef>
              <c:f>'AI- Projects'!$A$3</c:f>
              <c:strCache>
                <c:ptCount val="1"/>
                <c:pt idx="0">
                  <c:v>Solugen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'AI- Projects'!$B$1:$I$1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'AI- Projects'!$B$3:$I$3</c:f>
              <c:numCache>
                <c:formatCode>_-[$$-409]* #,##0_ ;_-[$$-409]* \-#,##0\ ;_-[$$-409]* "-"??_ ;_-@_ </c:formatCode>
                <c:ptCount val="8"/>
                <c:pt idx="0">
                  <c:v>936.63031248332095</c:v>
                </c:pt>
                <c:pt idx="1">
                  <c:v>917</c:v>
                </c:pt>
                <c:pt idx="2">
                  <c:v>1027</c:v>
                </c:pt>
                <c:pt idx="3">
                  <c:v>2005</c:v>
                </c:pt>
                <c:pt idx="4">
                  <c:v>10657</c:v>
                </c:pt>
                <c:pt idx="5">
                  <c:v>7230.2073180029629</c:v>
                </c:pt>
                <c:pt idx="6">
                  <c:v>8858</c:v>
                </c:pt>
                <c:pt idx="7">
                  <c:v>7571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F0-46AE-951F-F9FAE96AD30A}"/>
            </c:ext>
          </c:extLst>
        </c:ser>
        <c:ser>
          <c:idx val="2"/>
          <c:order val="2"/>
          <c:tx>
            <c:strRef>
              <c:f>'AI- Projects'!$A$4</c:f>
              <c:strCache>
                <c:ptCount val="1"/>
                <c:pt idx="0">
                  <c:v>Document Intelligence (OCR Services)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'AI- Projects'!$B$1:$I$1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'AI- Projects'!$B$4:$I$4</c:f>
              <c:numCache>
                <c:formatCode>_-[$$-409]* #,##0_ ;_-[$$-409]* \-#,##0\ ;_-[$$-409]* "-"??_ ;_-@_ </c:formatCode>
                <c:ptCount val="8"/>
                <c:pt idx="0">
                  <c:v>4231</c:v>
                </c:pt>
                <c:pt idx="1">
                  <c:v>4282</c:v>
                </c:pt>
                <c:pt idx="2">
                  <c:v>3552</c:v>
                </c:pt>
                <c:pt idx="3">
                  <c:v>2152</c:v>
                </c:pt>
                <c:pt idx="4">
                  <c:v>3362</c:v>
                </c:pt>
                <c:pt idx="5">
                  <c:v>6114</c:v>
                </c:pt>
                <c:pt idx="6">
                  <c:v>7277</c:v>
                </c:pt>
                <c:pt idx="7">
                  <c:v>6334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1F0-46AE-951F-F9FAE96AD30A}"/>
            </c:ext>
          </c:extLst>
        </c:ser>
        <c:ser>
          <c:idx val="3"/>
          <c:order val="3"/>
          <c:tx>
            <c:strRef>
              <c:f>'AI- Projects'!$A$5</c:f>
              <c:strCache>
                <c:ptCount val="1"/>
                <c:pt idx="0">
                  <c:v>INSAIT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sz="8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11F0-46AE-951F-F9FAE96AD30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'AI- Projects'!$B$1:$I$1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'AI- Projects'!$B$5:$I$5</c:f>
              <c:numCache>
                <c:formatCode>_-[$$-409]* #,##0_ ;_-[$$-409]* \-#,##0\ ;_-[$$-409]* "-"??_ ;_-@_ </c:formatCode>
                <c:ptCount val="8"/>
                <c:pt idx="0">
                  <c:v>1063.62889552467</c:v>
                </c:pt>
                <c:pt idx="1">
                  <c:v>1914</c:v>
                </c:pt>
                <c:pt idx="2">
                  <c:v>1365</c:v>
                </c:pt>
                <c:pt idx="3">
                  <c:v>1354</c:v>
                </c:pt>
                <c:pt idx="4">
                  <c:v>1456</c:v>
                </c:pt>
                <c:pt idx="5">
                  <c:v>1604.2752942391387</c:v>
                </c:pt>
                <c:pt idx="6">
                  <c:v>1983</c:v>
                </c:pt>
                <c:pt idx="7">
                  <c:v>2813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1F0-46AE-951F-F9FAE96AD3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81981087"/>
        <c:axId val="681979647"/>
      </c:barChart>
      <c:barChart>
        <c:barDir val="col"/>
        <c:grouping val="stacked"/>
        <c:varyColors val="0"/>
        <c:ser>
          <c:idx val="4"/>
          <c:order val="4"/>
          <c:tx>
            <c:strRef>
              <c:f>'AI- Projects'!$A$6</c:f>
              <c:strCache>
                <c:ptCount val="1"/>
                <c:pt idx="0">
                  <c:v>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numRef>
              <c:f>'AI- Projects'!$B$1:$I$1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'AI- Projects'!$B$6:$I$6</c:f>
              <c:numCache>
                <c:formatCode>_-[$$-409]* #,##0_ ;_-[$$-409]* \-#,##0\ ;_-[$$-409]* "-"??_ ;_-@_ </c:formatCode>
                <c:ptCount val="8"/>
                <c:pt idx="0">
                  <c:v>7085.5737164232105</c:v>
                </c:pt>
                <c:pt idx="1">
                  <c:v>10590</c:v>
                </c:pt>
                <c:pt idx="2">
                  <c:v>18576</c:v>
                </c:pt>
                <c:pt idx="3">
                  <c:v>17187</c:v>
                </c:pt>
                <c:pt idx="4">
                  <c:v>29131</c:v>
                </c:pt>
                <c:pt idx="5">
                  <c:v>41226.4826122421</c:v>
                </c:pt>
                <c:pt idx="6">
                  <c:v>41554</c:v>
                </c:pt>
                <c:pt idx="7">
                  <c:v>38225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1F0-46AE-951F-F9FAE96AD3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06584431"/>
        <c:axId val="326244303"/>
      </c:barChart>
      <c:dateAx>
        <c:axId val="681981087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681979647"/>
        <c:crosses val="autoZero"/>
        <c:auto val="1"/>
        <c:lblOffset val="100"/>
        <c:baseTimeUnit val="months"/>
      </c:dateAx>
      <c:valAx>
        <c:axId val="681979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681981087"/>
        <c:crosses val="autoZero"/>
        <c:crossBetween val="between"/>
      </c:valAx>
      <c:valAx>
        <c:axId val="326244303"/>
        <c:scaling>
          <c:orientation val="minMax"/>
        </c:scaling>
        <c:delete val="1"/>
        <c:axPos val="r"/>
        <c:numFmt formatCode="_-[$$-409]* #,##0_ ;_-[$$-409]* \-#,##0\ ;_-[$$-409]* &quot;-&quot;??_ ;_-@_ " sourceLinked="1"/>
        <c:majorTickMark val="out"/>
        <c:minorTickMark val="none"/>
        <c:tickLblPos val="nextTo"/>
        <c:crossAx val="1206584431"/>
        <c:crosses val="max"/>
        <c:crossBetween val="between"/>
      </c:valAx>
      <c:dateAx>
        <c:axId val="1206584431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crossAx val="326244303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Cost By Subscription Name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title>
    <c:autoTitleDeleted val="0"/>
    <c:plotArea>
      <c:layout>
        <c:manualLayout>
          <c:layoutTarget val="inner"/>
          <c:xMode val="edge"/>
          <c:yMode val="edge"/>
          <c:x val="0.13081681600144809"/>
          <c:y val="0.10684802084483183"/>
          <c:w val="0.82895329894108061"/>
          <c:h val="0.6671200311262227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'Project - Aifactory'!$A$30</c:f>
              <c:strCache>
                <c:ptCount val="1"/>
                <c:pt idx="0">
                  <c:v>Prod Subscription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'Project - Aifactory'!$B$29:$I$29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 Aifactory'!$B$30:$I$30</c:f>
              <c:numCache>
                <c:formatCode>_-[$$-409]* #,##0_ ;_-[$$-409]* \-#,##0\ ;_-[$$-409]* "-"??_ ;_-@_ </c:formatCode>
                <c:ptCount val="8"/>
                <c:pt idx="0">
                  <c:v>798.75431485744195</c:v>
                </c:pt>
                <c:pt idx="1">
                  <c:v>2844</c:v>
                </c:pt>
                <c:pt idx="2">
                  <c:v>10910</c:v>
                </c:pt>
                <c:pt idx="3">
                  <c:v>9522</c:v>
                </c:pt>
                <c:pt idx="4">
                  <c:v>7610.5632868973098</c:v>
                </c:pt>
                <c:pt idx="5">
                  <c:v>17286</c:v>
                </c:pt>
                <c:pt idx="6">
                  <c:v>13714</c:v>
                </c:pt>
                <c:pt idx="7">
                  <c:v>11482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3D-48F1-B648-BF9BCB32B238}"/>
            </c:ext>
          </c:extLst>
        </c:ser>
        <c:ser>
          <c:idx val="1"/>
          <c:order val="1"/>
          <c:tx>
            <c:strRef>
              <c:f>'Project - Aifactory'!$A$31</c:f>
              <c:strCache>
                <c:ptCount val="1"/>
                <c:pt idx="0">
                  <c:v>Dev/Test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'Project - Aifactory'!$B$29:$I$29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 Aifactory'!$B$31:$I$31</c:f>
              <c:numCache>
                <c:formatCode>_-[$$-409]* #,##0_ ;_-[$$-409]* \-#,##0\ ;_-[$$-409]* "-"??_ ;_-@_ </c:formatCode>
                <c:ptCount val="8"/>
                <c:pt idx="1">
                  <c:v>464</c:v>
                </c:pt>
                <c:pt idx="2">
                  <c:v>1031</c:v>
                </c:pt>
                <c:pt idx="3">
                  <c:v>1368</c:v>
                </c:pt>
                <c:pt idx="4">
                  <c:v>4874.3915899528702</c:v>
                </c:pt>
                <c:pt idx="5">
                  <c:v>7063</c:v>
                </c:pt>
                <c:pt idx="6">
                  <c:v>6454</c:v>
                </c:pt>
                <c:pt idx="7">
                  <c:v>7422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3D-48F1-B648-BF9BCB32B238}"/>
            </c:ext>
          </c:extLst>
        </c:ser>
        <c:ser>
          <c:idx val="2"/>
          <c:order val="2"/>
          <c:tx>
            <c:strRef>
              <c:f>'Project - Aifactory'!$A$32</c:f>
              <c:strCache>
                <c:ptCount val="1"/>
                <c:pt idx="0">
                  <c:v>AI Factory prod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'Project - Aifactory'!$B$29:$I$29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 Aifactory'!$B$32:$I$32</c:f>
              <c:numCache>
                <c:formatCode>_-[$$-409]* #,##0_ ;_-[$$-409]* \-#,##0\ ;_-[$$-409]* "-"??_ ;_-@_ </c:formatCode>
                <c:ptCount val="8"/>
                <c:pt idx="0">
                  <c:v>55.560193557777801</c:v>
                </c:pt>
                <c:pt idx="1">
                  <c:v>169</c:v>
                </c:pt>
                <c:pt idx="2">
                  <c:v>460</c:v>
                </c:pt>
                <c:pt idx="3">
                  <c:v>454</c:v>
                </c:pt>
                <c:pt idx="4">
                  <c:v>575.06554027518996</c:v>
                </c:pt>
                <c:pt idx="5">
                  <c:v>814</c:v>
                </c:pt>
                <c:pt idx="6">
                  <c:v>1160</c:v>
                </c:pt>
                <c:pt idx="7">
                  <c:v>1015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93D-48F1-B648-BF9BCB32B238}"/>
            </c:ext>
          </c:extLst>
        </c:ser>
        <c:ser>
          <c:idx val="3"/>
          <c:order val="3"/>
          <c:tx>
            <c:strRef>
              <c:f>'Project - Aifactory'!$A$33</c:f>
              <c:strCache>
                <c:ptCount val="1"/>
                <c:pt idx="0">
                  <c:v>AI Factory dev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'Project - Aifactory'!$B$29:$I$29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 Aifactory'!$B$33:$I$33</c:f>
              <c:numCache>
                <c:formatCode>_-[$$-409]* #,##0_ ;_-[$$-409]* \-#,##0\ ;_-[$$-409]* "-"??_ ;_-@_ </c:formatCode>
                <c:ptCount val="8"/>
                <c:pt idx="2">
                  <c:v>231</c:v>
                </c:pt>
                <c:pt idx="3">
                  <c:v>332</c:v>
                </c:pt>
                <c:pt idx="4">
                  <c:v>347.57347664582198</c:v>
                </c:pt>
                <c:pt idx="5">
                  <c:v>497</c:v>
                </c:pt>
                <c:pt idx="6">
                  <c:v>458</c:v>
                </c:pt>
                <c:pt idx="7">
                  <c:v>518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93D-48F1-B648-BF9BCB32B238}"/>
            </c:ext>
          </c:extLst>
        </c:ser>
        <c:ser>
          <c:idx val="4"/>
          <c:order val="4"/>
          <c:tx>
            <c:strRef>
              <c:f>'Project - Aifactory'!$A$34</c:f>
              <c:strCache>
                <c:ptCount val="1"/>
                <c:pt idx="0">
                  <c:v>INSAIT Dev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'Project - Aifactory'!$B$29:$I$29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 Aifactory'!$B$34:$I$34</c:f>
              <c:numCache>
                <c:formatCode>_-[$$-409]* #,##0_ ;_-[$$-409]* \-#,##0\ ;_-[$$-409]* "-"??_ ;_-@_ </c:formatCode>
                <c:ptCount val="8"/>
                <c:pt idx="4">
                  <c:v>193.18432955584601</c:v>
                </c:pt>
                <c:pt idx="5">
                  <c:v>239</c:v>
                </c:pt>
                <c:pt idx="6">
                  <c:v>1339</c:v>
                </c:pt>
                <c:pt idx="7">
                  <c:v>355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93D-48F1-B648-BF9BCB32B238}"/>
            </c:ext>
          </c:extLst>
        </c:ser>
        <c:ser>
          <c:idx val="5"/>
          <c:order val="5"/>
          <c:tx>
            <c:strRef>
              <c:f>'Project - Aifactory'!$A$35</c:f>
              <c:strCache>
                <c:ptCount val="1"/>
                <c:pt idx="0">
                  <c:v>OneDoc Dev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'Project - Aifactory'!$B$29:$I$29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 Aifactory'!$B$35:$I$35</c:f>
              <c:numCache>
                <c:formatCode>General</c:formatCode>
                <c:ptCount val="8"/>
                <c:pt idx="4" formatCode="_-[$$-409]* #,##0_ ;_-[$$-409]* \-#,##0\ ;_-[$$-409]* &quot;-&quot;??_ ;_-@_ ">
                  <c:v>55.570362687830801</c:v>
                </c:pt>
                <c:pt idx="5" formatCode="_-[$$-409]* #,##0_ ;_-[$$-409]* \-#,##0\ ;_-[$$-409]* &quot;-&quot;??_ ;_-@_ ">
                  <c:v>426</c:v>
                </c:pt>
                <c:pt idx="6" formatCode="_-[$$-409]* #,##0_ ;_-[$$-409]* \-#,##0\ ;_-[$$-409]* &quot;-&quot;??_ ;_-@_ ">
                  <c:v>463</c:v>
                </c:pt>
                <c:pt idx="7" formatCode="_-[$$-409]* #,##0_ ;_-[$$-409]* \-#,##0\ ;_-[$$-409]* &quot;-&quot;??_ ;_-@_ 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93D-48F1-B648-BF9BCB32B238}"/>
            </c:ext>
          </c:extLst>
        </c:ser>
        <c:ser>
          <c:idx val="6"/>
          <c:order val="6"/>
          <c:tx>
            <c:strRef>
              <c:f>'Project - Aifactory'!$A$36</c:f>
              <c:strCache>
                <c:ptCount val="1"/>
                <c:pt idx="0">
                  <c:v>INSAIT production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 Aifactory'!$B$29:$I$29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 Aifactory'!$B$36:$I$36</c:f>
              <c:numCache>
                <c:formatCode>General</c:formatCode>
                <c:ptCount val="8"/>
                <c:pt idx="5" formatCode="_-[$$-409]* #,##0_ ;_-[$$-409]* \-#,##0\ ;_-[$$-409]* &quot;-&quot;??_ ;_-@_ ">
                  <c:v>17</c:v>
                </c:pt>
                <c:pt idx="6" formatCode="_-[$$-409]* #,##0_ ;_-[$$-409]* \-#,##0\ ;_-[$$-409]* &quot;-&quot;??_ ;_-@_ ">
                  <c:v>22</c:v>
                </c:pt>
                <c:pt idx="7" formatCode="_-[$$-409]* #,##0_ ;_-[$$-409]* \-#,##0\ ;_-[$$-409]* &quot;-&quot;??_ ;_-@_ 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93D-48F1-B648-BF9BCB32B238}"/>
            </c:ext>
          </c:extLst>
        </c:ser>
        <c:ser>
          <c:idx val="9"/>
          <c:order val="9"/>
          <c:tx>
            <c:strRef>
              <c:f>'Project - Aifactory'!$A$37</c:f>
              <c:strCache>
                <c:ptCount val="1"/>
                <c:pt idx="0">
                  <c:v>oneDoc prod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 Aifactory'!$B$29:$I$29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 Aifactory'!$B$37:$I$37</c:f>
              <c:numCache>
                <c:formatCode>General</c:formatCode>
                <c:ptCount val="8"/>
                <c:pt idx="7" formatCode="_-[$$-409]* #,##0_ ;_-[$$-409]* \-#,##0\ ;_-[$$-409]* &quot;-&quot;??_ ;_-@_ ">
                  <c:v>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93D-48F1-B648-BF9BCB32B2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10565183"/>
        <c:axId val="1410576223"/>
        <c:extLst>
          <c:ext xmlns:c15="http://schemas.microsoft.com/office/drawing/2012/chart" uri="{02D57815-91ED-43cb-92C2-25804820EDAC}">
            <c15:filteredBarSeries>
              <c15:ser>
                <c:idx val="7"/>
                <c:order val="7"/>
                <c:tx>
                  <c:strRef>
                    <c:extLst>
                      <c:ext uri="{02D57815-91ED-43cb-92C2-25804820EDAC}">
                        <c15:formulaRef>
                          <c15:sqref>'Project - Aifactory'!#REF!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'Project - Aifactory'!$B$29:$I$29</c15:sqref>
                        </c15:formulaRef>
                      </c:ext>
                    </c:extLst>
                    <c:numCache>
                      <c:formatCode>mmm\-yy</c:formatCode>
                      <c:ptCount val="8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  <c:pt idx="7">
                        <c:v>46235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'Project - Aifactory'!#REF!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8-693D-48F1-B648-BF9BCB32B238}"/>
                  </c:ext>
                </c:extLst>
              </c15:ser>
            </c15:filteredBarSeries>
            <c15:filteredB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'Project - Aifactory'!#REF!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'Project - Aifactory'!$B$29:$I$29</c15:sqref>
                        </c15:formulaRef>
                      </c:ext>
                    </c:extLst>
                    <c:numCache>
                      <c:formatCode>mmm\-yy</c:formatCode>
                      <c:ptCount val="8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  <c:pt idx="7">
                        <c:v>46235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'Project - Aifactory'!#REF!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693D-48F1-B648-BF9BCB32B238}"/>
                  </c:ext>
                </c:extLst>
              </c15:ser>
            </c15:filteredBarSeries>
          </c:ext>
        </c:extLst>
      </c:barChart>
      <c:dateAx>
        <c:axId val="1410565183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410576223"/>
        <c:crosses val="autoZero"/>
        <c:auto val="1"/>
        <c:lblOffset val="100"/>
        <c:baseTimeUnit val="months"/>
      </c:dateAx>
      <c:valAx>
        <c:axId val="1410576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4105651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8.3487675810301129E-2"/>
          <c:y val="0.87973173359546075"/>
          <c:w val="0.86149731674513952"/>
          <c:h val="0.104277043529283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Cost By Service Name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title>
    <c:autoTitleDeleted val="0"/>
    <c:plotArea>
      <c:layout>
        <c:manualLayout>
          <c:layoutTarget val="inner"/>
          <c:xMode val="edge"/>
          <c:yMode val="edge"/>
          <c:x val="0.11302665372846078"/>
          <c:y val="0.1180383256848435"/>
          <c:w val="0.85395019105916392"/>
          <c:h val="0.6073537289835905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'Project - Aifactory'!$A$2</c:f>
              <c:strCache>
                <c:ptCount val="1"/>
                <c:pt idx="0">
                  <c:v>API Management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'Project - Aifactory'!$B$1:$I$1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 Aifactory'!$B$2:$I$2</c:f>
              <c:numCache>
                <c:formatCode>_-[$$-409]* #,##0_ ;_-[$$-409]* \-#,##0\ ;_-[$$-409]* "-"??_ ;_-@_ </c:formatCode>
                <c:ptCount val="8"/>
                <c:pt idx="1">
                  <c:v>406</c:v>
                </c:pt>
                <c:pt idx="2">
                  <c:v>2848.7759999999998</c:v>
                </c:pt>
                <c:pt idx="3">
                  <c:v>3097.6610000000001</c:v>
                </c:pt>
                <c:pt idx="4">
                  <c:v>5693.723</c:v>
                </c:pt>
                <c:pt idx="5">
                  <c:v>5513.76</c:v>
                </c:pt>
                <c:pt idx="6">
                  <c:v>6103.4260000000004</c:v>
                </c:pt>
                <c:pt idx="7">
                  <c:v>6758.1850000000004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B9-432F-B6D0-52876CC4A243}"/>
            </c:ext>
          </c:extLst>
        </c:ser>
        <c:ser>
          <c:idx val="1"/>
          <c:order val="1"/>
          <c:tx>
            <c:strRef>
              <c:f>'Project - Aifactory'!$A$3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'Project - Aifactory'!$B$1:$I$1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 Aifactory'!$B$3:$I$3</c:f>
              <c:numCache>
                <c:formatCode>_-[$$-409]* #,##0_ ;_-[$$-409]* \-#,##0\ ;_-[$$-409]* "-"??_ ;_-@_ </c:formatCode>
                <c:ptCount val="8"/>
                <c:pt idx="0">
                  <c:v>487.68508890050401</c:v>
                </c:pt>
                <c:pt idx="1">
                  <c:v>1951</c:v>
                </c:pt>
                <c:pt idx="2">
                  <c:v>4361.9045224913398</c:v>
                </c:pt>
                <c:pt idx="3">
                  <c:v>1724.33488323247</c:v>
                </c:pt>
                <c:pt idx="4">
                  <c:v>2887.4410273970002</c:v>
                </c:pt>
                <c:pt idx="5">
                  <c:v>4556.62789711811</c:v>
                </c:pt>
                <c:pt idx="6">
                  <c:v>4865.4725448073996</c:v>
                </c:pt>
                <c:pt idx="7">
                  <c:v>4974.9334353899303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B9-432F-B6D0-52876CC4A243}"/>
            </c:ext>
          </c:extLst>
        </c:ser>
        <c:ser>
          <c:idx val="2"/>
          <c:order val="2"/>
          <c:tx>
            <c:strRef>
              <c:f>'Project - Aifactory'!$A$4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'Project - Aifactory'!$B$1:$I$1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 Aifactory'!$B$4:$I$4</c:f>
              <c:numCache>
                <c:formatCode>_-[$$-409]* #,##0_ ;_-[$$-409]* \-#,##0\ ;_-[$$-409]* "-"??_ ;_-@_ </c:formatCode>
                <c:ptCount val="8"/>
                <c:pt idx="0">
                  <c:v>77.296900702000002</c:v>
                </c:pt>
                <c:pt idx="1">
                  <c:v>175</c:v>
                </c:pt>
                <c:pt idx="2">
                  <c:v>208.75053961399999</c:v>
                </c:pt>
                <c:pt idx="3">
                  <c:v>277.87767922</c:v>
                </c:pt>
                <c:pt idx="4">
                  <c:v>307.02317032600001</c:v>
                </c:pt>
                <c:pt idx="5">
                  <c:v>367.794110762</c:v>
                </c:pt>
                <c:pt idx="6">
                  <c:v>444.93970730199999</c:v>
                </c:pt>
                <c:pt idx="7">
                  <c:v>2104.8797344159998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AB9-432F-B6D0-52876CC4A243}"/>
            </c:ext>
          </c:extLst>
        </c:ser>
        <c:ser>
          <c:idx val="3"/>
          <c:order val="3"/>
          <c:tx>
            <c:strRef>
              <c:f>'Project - Aifactory'!$A$5</c:f>
              <c:strCache>
                <c:ptCount val="1"/>
                <c:pt idx="0">
                  <c:v>Azure Cognitive Search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'Project - Aifactory'!$B$1:$I$1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 Aifactory'!$B$5:$I$5</c:f>
              <c:numCache>
                <c:formatCode>_-[$$-409]* #,##0_ ;_-[$$-409]* \-#,##0\ ;_-[$$-409]* "-"??_ ;_-@_ </c:formatCode>
                <c:ptCount val="8"/>
                <c:pt idx="0">
                  <c:v>23.431999999999999</c:v>
                </c:pt>
                <c:pt idx="1">
                  <c:v>68</c:v>
                </c:pt>
                <c:pt idx="2">
                  <c:v>305.50799999999998</c:v>
                </c:pt>
                <c:pt idx="3">
                  <c:v>629.28</c:v>
                </c:pt>
                <c:pt idx="4">
                  <c:v>1166.49</c:v>
                </c:pt>
                <c:pt idx="5">
                  <c:v>1582.0319999999999</c:v>
                </c:pt>
                <c:pt idx="6">
                  <c:v>1825.0319999999999</c:v>
                </c:pt>
                <c:pt idx="7">
                  <c:v>1846.163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AB9-432F-B6D0-52876CC4A243}"/>
            </c:ext>
          </c:extLst>
        </c:ser>
        <c:ser>
          <c:idx val="4"/>
          <c:order val="4"/>
          <c:tx>
            <c:strRef>
              <c:f>'Project - Aifactory'!$A$6</c:f>
              <c:strCache>
                <c:ptCount val="1"/>
                <c:pt idx="0">
                  <c:v>Azure Database for PostgreSQL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'Project - Aifactory'!$B$1:$I$1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 Aifactory'!$B$6:$I$6</c:f>
              <c:numCache>
                <c:formatCode>_-[$$-409]* #,##0_ ;_-[$$-409]* \-#,##0\ ;_-[$$-409]* "-"??_ ;_-@_ </c:formatCode>
                <c:ptCount val="8"/>
                <c:pt idx="0">
                  <c:v>46.790950537634401</c:v>
                </c:pt>
                <c:pt idx="1">
                  <c:v>141</c:v>
                </c:pt>
                <c:pt idx="2">
                  <c:v>356.154333333333</c:v>
                </c:pt>
                <c:pt idx="3">
                  <c:v>489.67576888888902</c:v>
                </c:pt>
                <c:pt idx="4">
                  <c:v>790.07315824533703</c:v>
                </c:pt>
                <c:pt idx="5">
                  <c:v>1068.76183261452</c:v>
                </c:pt>
                <c:pt idx="6">
                  <c:v>1101.71091631074</c:v>
                </c:pt>
                <c:pt idx="7">
                  <c:v>1236.25080320906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AB9-432F-B6D0-52876CC4A243}"/>
            </c:ext>
          </c:extLst>
        </c:ser>
        <c:ser>
          <c:idx val="5"/>
          <c:order val="5"/>
          <c:tx>
            <c:strRef>
              <c:f>'Project - Aifactory'!$A$7</c:f>
              <c:strCache>
                <c:ptCount val="1"/>
                <c:pt idx="0">
                  <c:v>Foundry Models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'Project - Aifactory'!$B$1:$I$1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 Aifactory'!$B$7:$I$7</c:f>
              <c:numCache>
                <c:formatCode>_-[$$-409]* #,##0_ ;_-[$$-409]* \-#,##0\ ;_-[$$-409]* "-"??_ ;_-@_ </c:formatCode>
                <c:ptCount val="8"/>
                <c:pt idx="1">
                  <c:v>6</c:v>
                </c:pt>
                <c:pt idx="2">
                  <c:v>2961.3381230949999</c:v>
                </c:pt>
                <c:pt idx="3">
                  <c:v>4151.2519096180004</c:v>
                </c:pt>
                <c:pt idx="4">
                  <c:v>1183.103653787</c:v>
                </c:pt>
                <c:pt idx="5">
                  <c:v>9682.8027538770002</c:v>
                </c:pt>
                <c:pt idx="6">
                  <c:v>5641.1961132209999</c:v>
                </c:pt>
                <c:pt idx="7">
                  <c:v>1043.091705717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AB9-432F-B6D0-52876CC4A243}"/>
            </c:ext>
          </c:extLst>
        </c:ser>
        <c:ser>
          <c:idx val="6"/>
          <c:order val="6"/>
          <c:tx>
            <c:strRef>
              <c:f>'Project - Aifactory'!$A$8</c:f>
              <c:strCache>
                <c:ptCount val="1"/>
                <c:pt idx="0">
                  <c:v>Microsoft Defender for Cloud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 Aifactory'!$B$1:$I$1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 Aifactory'!$B$8:$I$8</c:f>
              <c:numCache>
                <c:formatCode>_-[$$-409]* #,##0_ ;_-[$$-409]* \-#,##0\ ;_-[$$-409]* "-"??_ ;_-@_ </c:formatCode>
                <c:ptCount val="8"/>
                <c:pt idx="0">
                  <c:v>83.576239999999999</c:v>
                </c:pt>
                <c:pt idx="1">
                  <c:v>237</c:v>
                </c:pt>
                <c:pt idx="2">
                  <c:v>535.49887999999999</c:v>
                </c:pt>
                <c:pt idx="3">
                  <c:v>143.21440000000001</c:v>
                </c:pt>
                <c:pt idx="4">
                  <c:v>401.1621336</c:v>
                </c:pt>
                <c:pt idx="5">
                  <c:v>1574.443912</c:v>
                </c:pt>
                <c:pt idx="6">
                  <c:v>1166.1745016</c:v>
                </c:pt>
                <c:pt idx="7">
                  <c:v>888.54253519999997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AB9-432F-B6D0-52876CC4A243}"/>
            </c:ext>
          </c:extLst>
        </c:ser>
        <c:ser>
          <c:idx val="7"/>
          <c:order val="7"/>
          <c:tx>
            <c:strRef>
              <c:f>'Project - Aifactory'!$A$9</c:f>
              <c:strCache>
                <c:ptCount val="1"/>
                <c:pt idx="0">
                  <c:v>Redis Cache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 Aifactory'!$B$1:$I$1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 Aifactory'!$B$9:$I$9</c:f>
              <c:numCache>
                <c:formatCode>_-[$$-409]* #,##0_ ;_-[$$-409]* \-#,##0\ ;_-[$$-409]* "-"??_ ;_-@_ </c:formatCode>
                <c:ptCount val="8"/>
                <c:pt idx="0">
                  <c:v>41.205274000000003</c:v>
                </c:pt>
                <c:pt idx="1">
                  <c:v>109</c:v>
                </c:pt>
                <c:pt idx="2">
                  <c:v>217.78220111111099</c:v>
                </c:pt>
                <c:pt idx="3">
                  <c:v>273.60000000000002</c:v>
                </c:pt>
                <c:pt idx="4">
                  <c:v>326.97555999999997</c:v>
                </c:pt>
                <c:pt idx="5">
                  <c:v>378.53167999999999</c:v>
                </c:pt>
                <c:pt idx="6">
                  <c:v>500.45353555555602</c:v>
                </c:pt>
                <c:pt idx="7">
                  <c:v>719.38125444444404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AB9-432F-B6D0-52876CC4A243}"/>
            </c:ext>
          </c:extLst>
        </c:ser>
        <c:ser>
          <c:idx val="8"/>
          <c:order val="8"/>
          <c:tx>
            <c:strRef>
              <c:f>'Project - Aifactory'!$A$10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 Aifactory'!$B$1:$I$1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 Aifactory'!$B$10:$I$10</c:f>
              <c:numCache>
                <c:formatCode>_-[$$-409]* #,##0_ ;_-[$$-409]* \-#,##0\ ;_-[$$-409]* "-"??_ ;_-@_ </c:formatCode>
                <c:ptCount val="8"/>
                <c:pt idx="0">
                  <c:v>18.5163505719343</c:v>
                </c:pt>
                <c:pt idx="1">
                  <c:v>75</c:v>
                </c:pt>
                <c:pt idx="2">
                  <c:v>173.64553212979499</c:v>
                </c:pt>
                <c:pt idx="3">
                  <c:v>238.12485822855999</c:v>
                </c:pt>
                <c:pt idx="4">
                  <c:v>329.73213040073603</c:v>
                </c:pt>
                <c:pt idx="5">
                  <c:v>517.82689790396898</c:v>
                </c:pt>
                <c:pt idx="6">
                  <c:v>543.36221656510702</c:v>
                </c:pt>
                <c:pt idx="7">
                  <c:v>659.98813725601997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AB9-432F-B6D0-52876CC4A243}"/>
            </c:ext>
          </c:extLst>
        </c:ser>
        <c:ser>
          <c:idx val="9"/>
          <c:order val="9"/>
          <c:tx>
            <c:strRef>
              <c:f>'Project - Aifactory'!$A$11</c:f>
              <c:strCache>
                <c:ptCount val="1"/>
                <c:pt idx="0">
                  <c:v>Foundry Tools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 Aifactory'!$B$1:$I$1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 Aifactory'!$B$11:$I$11</c:f>
              <c:numCache>
                <c:formatCode>_-[$$-409]* #,##0_ ;_-[$$-409]* \-#,##0\ ;_-[$$-409]* "-"??_ ;_-@_ </c:formatCode>
                <c:ptCount val="8"/>
                <c:pt idx="1">
                  <c:v>15</c:v>
                </c:pt>
                <c:pt idx="2">
                  <c:v>292.84640000000002</c:v>
                </c:pt>
                <c:pt idx="3">
                  <c:v>251.60140000000001</c:v>
                </c:pt>
                <c:pt idx="4">
                  <c:v>94.940550000000002</c:v>
                </c:pt>
                <c:pt idx="5">
                  <c:v>480.34634999999997</c:v>
                </c:pt>
                <c:pt idx="6">
                  <c:v>718.08609999999999</c:v>
                </c:pt>
                <c:pt idx="7">
                  <c:v>437.75650000000002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AB9-432F-B6D0-52876CC4A243}"/>
            </c:ext>
          </c:extLst>
        </c:ser>
        <c:ser>
          <c:idx val="10"/>
          <c:order val="10"/>
          <c:tx>
            <c:strRef>
              <c:f>'Project - Aifactory'!$A$12</c:f>
              <c:strCache>
                <c:ptCount val="1"/>
                <c:pt idx="0">
                  <c:v>Other service 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 Aifactory'!$B$1:$I$1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 Aifactory'!$B$12:$I$12</c:f>
              <c:numCache>
                <c:formatCode>_-[$$-409]* #,##0_ ;_-[$$-409]* \-#,##0\ ;_-[$$-409]* "-"??_ ;_-@_ </c:formatCode>
                <c:ptCount val="8"/>
                <c:pt idx="0">
                  <c:v>75.810410622461703</c:v>
                </c:pt>
                <c:pt idx="1">
                  <c:v>295</c:v>
                </c:pt>
                <c:pt idx="2">
                  <c:v>367.69469873492108</c:v>
                </c:pt>
                <c:pt idx="3">
                  <c:v>398.95812962845611</c:v>
                </c:pt>
                <c:pt idx="4">
                  <c:v>475.41740856845894</c:v>
                </c:pt>
                <c:pt idx="5">
                  <c:v>619.64541365505113</c:v>
                </c:pt>
                <c:pt idx="6">
                  <c:v>700.51604355055213</c:v>
                </c:pt>
                <c:pt idx="7">
                  <c:v>838.19095765451891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AB9-432F-B6D0-52876CC4A2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10621343"/>
        <c:axId val="1410617503"/>
      </c:barChart>
      <c:dateAx>
        <c:axId val="1410621343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410617503"/>
        <c:crosses val="autoZero"/>
        <c:auto val="1"/>
        <c:lblOffset val="100"/>
        <c:baseTimeUnit val="months"/>
      </c:dateAx>
      <c:valAx>
        <c:axId val="1410617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410621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2861821615865299"/>
          <c:y val="0.8211509256227939"/>
          <c:w val="0.79079701160538163"/>
          <c:h val="0.1646829435881247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327968751135649E-2"/>
          <c:y val="3.2979175079169497E-2"/>
          <c:w val="0.90188551220165569"/>
          <c:h val="0.7562739418207534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'Project -Solugen'!$A$2</c:f>
              <c:strCache>
                <c:ptCount val="1"/>
                <c:pt idx="0">
                  <c:v>Foundry Models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'Project -Solugen'!$B$1:$I$1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-Solugen'!$B$2:$I$2</c:f>
              <c:numCache>
                <c:formatCode>_-[$$-409]* #,##0_ ;_-[$$-409]* \-#,##0\ ;_-[$$-409]* "-"??_ ;_-@_ </c:formatCode>
                <c:ptCount val="8"/>
                <c:pt idx="0">
                  <c:v>10.4739624</c:v>
                </c:pt>
                <c:pt idx="1">
                  <c:v>82</c:v>
                </c:pt>
                <c:pt idx="2">
                  <c:v>23</c:v>
                </c:pt>
                <c:pt idx="3">
                  <c:v>922.64139275000002</c:v>
                </c:pt>
                <c:pt idx="4">
                  <c:v>9077.4639084249993</c:v>
                </c:pt>
                <c:pt idx="5">
                  <c:v>3485.7695653000001</c:v>
                </c:pt>
                <c:pt idx="6">
                  <c:v>3786.2713333500001</c:v>
                </c:pt>
                <c:pt idx="7">
                  <c:v>3166.789186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8C-4134-A9DE-902D71D376AA}"/>
            </c:ext>
          </c:extLst>
        </c:ser>
        <c:ser>
          <c:idx val="1"/>
          <c:order val="1"/>
          <c:tx>
            <c:strRef>
              <c:f>'Project -Solugen'!$A$3</c:f>
              <c:strCache>
                <c:ptCount val="1"/>
                <c:pt idx="0">
                  <c:v>Foundry Tools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'Project -Solugen'!$B$1:$I$1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-Solugen'!$B$3:$I$3</c:f>
              <c:numCache>
                <c:formatCode>_-[$$-409]* #,##0_ ;_-[$$-409]* \-#,##0\ ;_-[$$-409]* "-"??_ ;_-@_ </c:formatCode>
                <c:ptCount val="8"/>
                <c:pt idx="0">
                  <c:v>0.99719999999999998</c:v>
                </c:pt>
                <c:pt idx="1">
                  <c:v>7</c:v>
                </c:pt>
                <c:pt idx="2">
                  <c:v>2</c:v>
                </c:pt>
                <c:pt idx="3">
                  <c:v>75.599400000000003</c:v>
                </c:pt>
                <c:pt idx="4">
                  <c:v>392.41140000000001</c:v>
                </c:pt>
                <c:pt idx="5">
                  <c:v>2143.7087999999999</c:v>
                </c:pt>
                <c:pt idx="6">
                  <c:v>3448.79</c:v>
                </c:pt>
                <c:pt idx="7">
                  <c:v>2779.25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8C-4134-A9DE-902D71D376AA}"/>
            </c:ext>
          </c:extLst>
        </c:ser>
        <c:ser>
          <c:idx val="2"/>
          <c:order val="2"/>
          <c:tx>
            <c:strRef>
              <c:f>'Project -Solugen'!$A$4</c:f>
              <c:strCache>
                <c:ptCount val="1"/>
                <c:pt idx="0">
                  <c:v>Azure Cognitive Search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'Project -Solugen'!$B$1:$I$1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-Solugen'!$B$4:$I$4</c:f>
              <c:numCache>
                <c:formatCode>_-[$$-409]* #,##0_ ;_-[$$-409]* \-#,##0\ ;_-[$$-409]* "-"??_ ;_-@_ </c:formatCode>
                <c:ptCount val="8"/>
                <c:pt idx="0">
                  <c:v>75.144000000000005</c:v>
                </c:pt>
                <c:pt idx="1">
                  <c:v>93</c:v>
                </c:pt>
                <c:pt idx="2">
                  <c:v>150</c:v>
                </c:pt>
                <c:pt idx="3">
                  <c:v>145.44</c:v>
                </c:pt>
                <c:pt idx="4">
                  <c:v>241.00800000000001</c:v>
                </c:pt>
                <c:pt idx="5">
                  <c:v>629.28</c:v>
                </c:pt>
                <c:pt idx="6">
                  <c:v>650.25599999999997</c:v>
                </c:pt>
                <c:pt idx="7">
                  <c:v>650.25599999999997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08C-4134-A9DE-902D71D376AA}"/>
            </c:ext>
          </c:extLst>
        </c:ser>
        <c:ser>
          <c:idx val="3"/>
          <c:order val="3"/>
          <c:tx>
            <c:strRef>
              <c:f>'Project -Solugen'!$A$5</c:f>
              <c:strCache>
                <c:ptCount val="1"/>
                <c:pt idx="0">
                  <c:v>SQL Database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'Project -Solugen'!$B$1:$I$1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-Solugen'!$B$5:$I$5</c:f>
              <c:numCache>
                <c:formatCode>_-[$$-409]* #,##0_ ;_-[$$-409]* \-#,##0\ ;_-[$$-409]* "-"??_ ;_-@_ </c:formatCode>
                <c:ptCount val="8"/>
                <c:pt idx="0">
                  <c:v>317.30263477419402</c:v>
                </c:pt>
                <c:pt idx="1">
                  <c:v>306</c:v>
                </c:pt>
                <c:pt idx="2">
                  <c:v>328</c:v>
                </c:pt>
                <c:pt idx="3">
                  <c:v>351.88717147367402</c:v>
                </c:pt>
                <c:pt idx="4">
                  <c:v>379.08548049750698</c:v>
                </c:pt>
                <c:pt idx="5">
                  <c:v>376.76025847859199</c:v>
                </c:pt>
                <c:pt idx="6">
                  <c:v>356.82591681714899</c:v>
                </c:pt>
                <c:pt idx="7">
                  <c:v>359.32900419460299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08C-4134-A9DE-902D71D376AA}"/>
            </c:ext>
          </c:extLst>
        </c:ser>
        <c:ser>
          <c:idx val="4"/>
          <c:order val="4"/>
          <c:tx>
            <c:strRef>
              <c:f>'Project -Solugen'!$A$6</c:f>
              <c:strCache>
                <c:ptCount val="1"/>
                <c:pt idx="0">
                  <c:v>Functions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'Project -Solugen'!$B$1:$I$1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-Solugen'!$B$6:$I$6</c:f>
              <c:numCache>
                <c:formatCode>_-[$$-409]* #,##0_ ;_-[$$-409]* \-#,##0\ ;_-[$$-409]* "-"??_ ;_-@_ </c:formatCode>
                <c:ptCount val="8"/>
                <c:pt idx="0">
                  <c:v>157.25749812000001</c:v>
                </c:pt>
                <c:pt idx="1">
                  <c:v>206</c:v>
                </c:pt>
                <c:pt idx="2">
                  <c:v>315</c:v>
                </c:pt>
                <c:pt idx="3">
                  <c:v>304.36935119999998</c:v>
                </c:pt>
                <c:pt idx="4">
                  <c:v>313.821356980357</c:v>
                </c:pt>
                <c:pt idx="5">
                  <c:v>304.36935119999998</c:v>
                </c:pt>
                <c:pt idx="6">
                  <c:v>314.51499624000002</c:v>
                </c:pt>
                <c:pt idx="7">
                  <c:v>314.51499624000002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8C-4134-A9DE-902D71D376AA}"/>
            </c:ext>
          </c:extLst>
        </c:ser>
        <c:ser>
          <c:idx val="5"/>
          <c:order val="5"/>
          <c:tx>
            <c:strRef>
              <c:f>'Project -Solugen'!$A$7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'Project -Solugen'!$B$1:$I$1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-Solugen'!$B$7:$I$7</c:f>
              <c:numCache>
                <c:formatCode>_-[$$-409]* #,##0_ ;_-[$$-409]* \-#,##0\ ;_-[$$-409]* "-"??_ ;_-@_ </c:formatCode>
                <c:ptCount val="8"/>
                <c:pt idx="0">
                  <c:v>96.72</c:v>
                </c:pt>
                <c:pt idx="1">
                  <c:v>108</c:v>
                </c:pt>
                <c:pt idx="2">
                  <c:v>149</c:v>
                </c:pt>
                <c:pt idx="3">
                  <c:v>144.12804014292499</c:v>
                </c:pt>
                <c:pt idx="4">
                  <c:v>168.700482589811</c:v>
                </c:pt>
                <c:pt idx="5">
                  <c:v>223.753240098692</c:v>
                </c:pt>
                <c:pt idx="6">
                  <c:v>231.22387821195599</c:v>
                </c:pt>
                <c:pt idx="7">
                  <c:v>231.11801490947599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08C-4134-A9DE-902D71D376AA}"/>
            </c:ext>
          </c:extLst>
        </c:ser>
        <c:ser>
          <c:idx val="6"/>
          <c:order val="6"/>
          <c:tx>
            <c:strRef>
              <c:f>'Project -Solugen'!$A$8</c:f>
              <c:strCache>
                <c:ptCount val="1"/>
                <c:pt idx="0">
                  <c:v>Event Hubs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-Solugen'!$B$1:$I$1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-Solugen'!$B$8:$I$8</c:f>
              <c:numCache>
                <c:formatCode>_-[$$-409]* #,##0_ ;_-[$$-409]* \-#,##0\ ;_-[$$-409]* "-"??_ ;_-@_ </c:formatCode>
                <c:ptCount val="8"/>
                <c:pt idx="0">
                  <c:v>22.320006776</c:v>
                </c:pt>
                <c:pt idx="1">
                  <c:v>29</c:v>
                </c:pt>
                <c:pt idx="2">
                  <c:v>45</c:v>
                </c:pt>
                <c:pt idx="3">
                  <c:v>43.710648396000003</c:v>
                </c:pt>
                <c:pt idx="4">
                  <c:v>58.563501875999997</c:v>
                </c:pt>
                <c:pt idx="5">
                  <c:v>43.201751344000002</c:v>
                </c:pt>
                <c:pt idx="6">
                  <c:v>44.641944627999997</c:v>
                </c:pt>
                <c:pt idx="7">
                  <c:v>44.641503096000001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08C-4134-A9DE-902D71D376AA}"/>
            </c:ext>
          </c:extLst>
        </c:ser>
        <c:ser>
          <c:idx val="7"/>
          <c:order val="7"/>
          <c:tx>
            <c:strRef>
              <c:f>'Project -Solugen'!$A$9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-Solugen'!$B$1:$I$1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-Solugen'!$B$9:$I$9</c:f>
              <c:numCache>
                <c:formatCode>_-[$$-409]* #,##0_ ;_-[$$-409]* \-#,##0\ ;_-[$$-409]* "-"??_ ;_-@_ </c:formatCode>
                <c:ptCount val="8"/>
                <c:pt idx="0">
                  <c:v>5.1466045019999997</c:v>
                </c:pt>
                <c:pt idx="1">
                  <c:v>7</c:v>
                </c:pt>
                <c:pt idx="2">
                  <c:v>12</c:v>
                </c:pt>
                <c:pt idx="3">
                  <c:v>13.139889889999999</c:v>
                </c:pt>
                <c:pt idx="4">
                  <c:v>21.773676089999999</c:v>
                </c:pt>
                <c:pt idx="5">
                  <c:v>19.528431762</c:v>
                </c:pt>
                <c:pt idx="6">
                  <c:v>21.372331712000001</c:v>
                </c:pt>
                <c:pt idx="7">
                  <c:v>21.064282552000002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08C-4134-A9DE-902D71D376AA}"/>
            </c:ext>
          </c:extLst>
        </c:ser>
        <c:ser>
          <c:idx val="8"/>
          <c:order val="8"/>
          <c:tx>
            <c:strRef>
              <c:f>'Project -Solugen'!$A$10</c:f>
              <c:strCache>
                <c:ptCount val="1"/>
                <c:pt idx="0">
                  <c:v>Key Vault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-Solugen'!$B$1:$I$1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-Solugen'!$B$10:$I$10</c:f>
              <c:numCache>
                <c:formatCode>_-[$$-409]* #,##0_ ;_-[$$-409]* \-#,##0\ ;_-[$$-409]* "-"??_ ;_-@_ </c:formatCode>
                <c:ptCount val="8"/>
                <c:pt idx="0">
                  <c:v>0.18582599999999999</c:v>
                </c:pt>
                <c:pt idx="1">
                  <c:v>1</c:v>
                </c:pt>
                <c:pt idx="2">
                  <c:v>2</c:v>
                </c:pt>
                <c:pt idx="3">
                  <c:v>2.1466500000000002</c:v>
                </c:pt>
                <c:pt idx="4">
                  <c:v>2.2317779999999998</c:v>
                </c:pt>
                <c:pt idx="5">
                  <c:v>1.9973460000000001</c:v>
                </c:pt>
                <c:pt idx="6">
                  <c:v>2.2389420000000002</c:v>
                </c:pt>
                <c:pt idx="7">
                  <c:v>2.547879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08C-4134-A9DE-902D71D376AA}"/>
            </c:ext>
          </c:extLst>
        </c:ser>
        <c:ser>
          <c:idx val="9"/>
          <c:order val="9"/>
          <c:tx>
            <c:strRef>
              <c:f>'Project -Solugen'!$A$11</c:f>
              <c:strCache>
                <c:ptCount val="1"/>
                <c:pt idx="0">
                  <c:v>Log Analytics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-Solugen'!$B$1:$I$1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-Solugen'!$B$11:$I$11</c:f>
              <c:numCache>
                <c:formatCode>_-[$$-409]* #,##0_ ;_-[$$-409]* \-#,##0\ ;_-[$$-409]* "-"??_ ;_-@_ </c:formatCode>
                <c:ptCount val="8"/>
                <c:pt idx="0">
                  <c:v>0.63470349683000005</c:v>
                </c:pt>
                <c:pt idx="1">
                  <c:v>1</c:v>
                </c:pt>
                <c:pt idx="2">
                  <c:v>1</c:v>
                </c:pt>
                <c:pt idx="3">
                  <c:v>1.8052415329</c:v>
                </c:pt>
                <c:pt idx="4">
                  <c:v>2.33951266991</c:v>
                </c:pt>
                <c:pt idx="5">
                  <c:v>1.8385738196800001</c:v>
                </c:pt>
                <c:pt idx="6">
                  <c:v>1.8664943141000001</c:v>
                </c:pt>
                <c:pt idx="7">
                  <c:v>1.5803186632999999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08C-4134-A9DE-902D71D376AA}"/>
            </c:ext>
          </c:extLst>
        </c:ser>
        <c:ser>
          <c:idx val="10"/>
          <c:order val="10"/>
          <c:tx>
            <c:strRef>
              <c:f>'Project -Solugen'!$A$12</c:f>
              <c:strCache>
                <c:ptCount val="1"/>
                <c:pt idx="0">
                  <c:v>Azure Container Apps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-Solugen'!$B$1:$I$1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-Solugen'!$B$12:$I$12</c:f>
              <c:numCache>
                <c:formatCode>_-[$$-409]* #,##0_ ;_-[$$-409]* \-#,##0\ ;_-[$$-409]* "-"??_ ;_-@_ </c:formatCode>
                <c:ptCount val="8"/>
                <c:pt idx="0">
                  <c:v>180.18945891999999</c:v>
                </c:pt>
                <c:pt idx="1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08C-4134-A9DE-902D71D376AA}"/>
            </c:ext>
          </c:extLst>
        </c:ser>
        <c:ser>
          <c:idx val="11"/>
          <c:order val="11"/>
          <c:tx>
            <c:strRef>
              <c:f>'Project -Solugen'!$A$13</c:f>
              <c:strCache>
                <c:ptCount val="1"/>
                <c:pt idx="0">
                  <c:v>Container Registry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-Solugen'!$B$1:$I$1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-Solugen'!$B$13:$I$13</c:f>
              <c:numCache>
                <c:formatCode>_-[$$-409]* #,##0_ ;_-[$$-409]* \-#,##0\ ;_-[$$-409]* "-"??_ ;_-@_ </c:formatCode>
                <c:ptCount val="8"/>
                <c:pt idx="0">
                  <c:v>51.656746480665802</c:v>
                </c:pt>
                <c:pt idx="1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08C-4134-A9DE-902D71D376AA}"/>
            </c:ext>
          </c:extLst>
        </c:ser>
        <c:ser>
          <c:idx val="12"/>
          <c:order val="12"/>
          <c:tx>
            <c:strRef>
              <c:f>'Project -Solugen'!$A$14</c:f>
              <c:strCache>
                <c:ptCount val="1"/>
                <c:pt idx="0">
                  <c:v>Load Balancer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-Solugen'!$B$1:$I$1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-Solugen'!$B$14:$I$14</c:f>
              <c:numCache>
                <c:formatCode>_-[$$-409]* #,##0_ ;_-[$$-409]* \-#,##0\ ;_-[$$-409]* "-"??_ ;_-@_ </c:formatCode>
                <c:ptCount val="8"/>
                <c:pt idx="0">
                  <c:v>18.600042286631702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08C-4134-A9DE-902D71D376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81900927"/>
        <c:axId val="681901407"/>
      </c:barChart>
      <c:dateAx>
        <c:axId val="681900927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681901407"/>
        <c:crosses val="autoZero"/>
        <c:auto val="1"/>
        <c:lblOffset val="100"/>
        <c:baseTimeUnit val="months"/>
      </c:dateAx>
      <c:valAx>
        <c:axId val="6819014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6819009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Cost By Subscription Name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title>
    <c:autoTitleDeleted val="0"/>
    <c:plotArea>
      <c:layout>
        <c:manualLayout>
          <c:layoutTarget val="inner"/>
          <c:xMode val="edge"/>
          <c:yMode val="edge"/>
          <c:x val="7.9121877614505412E-2"/>
          <c:y val="0.12006152007834357"/>
          <c:w val="0.9010815691680516"/>
          <c:h val="0.72490001280831795"/>
        </c:manualLayout>
      </c:layout>
      <c:barChart>
        <c:barDir val="col"/>
        <c:grouping val="stacked"/>
        <c:varyColors val="0"/>
        <c:ser>
          <c:idx val="1"/>
          <c:order val="1"/>
          <c:tx>
            <c:strRef>
              <c:f>'Document Intelligence'!$A$8</c:f>
              <c:strCache>
                <c:ptCount val="1"/>
                <c:pt idx="0">
                  <c:v>DataCloud prod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'Document Intelligence'!$B$7:$I$7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'Document Intelligence'!$B$8:$I$8</c:f>
              <c:numCache>
                <c:formatCode>_-[$$-409]* #,##0_ ;_-[$$-409]* \-#,##0\ ;_-[$$-409]* "-"??_ ;_-@_ </c:formatCode>
                <c:ptCount val="8"/>
                <c:pt idx="0">
                  <c:v>2353.25</c:v>
                </c:pt>
                <c:pt idx="1">
                  <c:v>2794.3</c:v>
                </c:pt>
                <c:pt idx="2">
                  <c:v>2548.6999999999998</c:v>
                </c:pt>
                <c:pt idx="3">
                  <c:v>1787.65</c:v>
                </c:pt>
                <c:pt idx="4">
                  <c:v>2613.11</c:v>
                </c:pt>
                <c:pt idx="5">
                  <c:v>3120</c:v>
                </c:pt>
                <c:pt idx="6">
                  <c:v>2959</c:v>
                </c:pt>
                <c:pt idx="7">
                  <c:v>2985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90-48DA-BBDA-B64F70C0FFB6}"/>
            </c:ext>
          </c:extLst>
        </c:ser>
        <c:ser>
          <c:idx val="2"/>
          <c:order val="2"/>
          <c:tx>
            <c:strRef>
              <c:f>'Document Intelligence'!$A$9</c:f>
              <c:strCache>
                <c:ptCount val="1"/>
                <c:pt idx="0">
                  <c:v>Solugen Production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'Document Intelligence'!$B$7:$I$7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'Document Intelligence'!$B$9:$I$9</c:f>
              <c:numCache>
                <c:formatCode>_-[$$-409]* #,##0_ ;_-[$$-409]* \-#,##0\ ;_-[$$-409]* "-"??_ ;_-@_ </c:formatCode>
                <c:ptCount val="8"/>
                <c:pt idx="0">
                  <c:v>1</c:v>
                </c:pt>
                <c:pt idx="1">
                  <c:v>7.4</c:v>
                </c:pt>
                <c:pt idx="2">
                  <c:v>2</c:v>
                </c:pt>
                <c:pt idx="3">
                  <c:v>74.77</c:v>
                </c:pt>
                <c:pt idx="4">
                  <c:v>389.96</c:v>
                </c:pt>
                <c:pt idx="5">
                  <c:v>2125</c:v>
                </c:pt>
                <c:pt idx="6">
                  <c:v>3445</c:v>
                </c:pt>
                <c:pt idx="7">
                  <c:v>2776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90-48DA-BBDA-B64F70C0FFB6}"/>
            </c:ext>
          </c:extLst>
        </c:ser>
        <c:ser>
          <c:idx val="3"/>
          <c:order val="3"/>
          <c:tx>
            <c:strRef>
              <c:f>'Document Intelligence'!$A$10</c:f>
              <c:strCache>
                <c:ptCount val="1"/>
                <c:pt idx="0">
                  <c:v>AI Factory prod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'Document Intelligence'!$B$7:$I$7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'Document Intelligence'!$B$10:$I$10</c:f>
              <c:numCache>
                <c:formatCode>_-[$$-409]* #,##0_ ;_-[$$-409]* \-#,##0\ ;_-[$$-409]* "-"??_ ;_-@_ </c:formatCode>
                <c:ptCount val="8"/>
                <c:pt idx="1">
                  <c:v>14.58</c:v>
                </c:pt>
                <c:pt idx="2">
                  <c:v>288.8</c:v>
                </c:pt>
                <c:pt idx="3">
                  <c:v>247.95</c:v>
                </c:pt>
                <c:pt idx="4">
                  <c:v>86.67</c:v>
                </c:pt>
                <c:pt idx="5">
                  <c:v>313</c:v>
                </c:pt>
                <c:pt idx="6">
                  <c:v>154</c:v>
                </c:pt>
                <c:pt idx="7">
                  <c:v>262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A90-48DA-BBDA-B64F70C0FFB6}"/>
            </c:ext>
          </c:extLst>
        </c:ser>
        <c:ser>
          <c:idx val="4"/>
          <c:order val="4"/>
          <c:tx>
            <c:strRef>
              <c:f>'Document Intelligence'!$A$11</c:f>
              <c:strCache>
                <c:ptCount val="1"/>
                <c:pt idx="0">
                  <c:v>AI Factory dev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'Document Intelligence'!$B$7:$I$7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'Document Intelligence'!$B$11:$I$11</c:f>
              <c:numCache>
                <c:formatCode>_-[$$-409]* #,##0_ ;_-[$$-409]* \-#,##0\ ;_-[$$-409]* "-"??_ ;_-@_ </c:formatCode>
                <c:ptCount val="8"/>
                <c:pt idx="2">
                  <c:v>4</c:v>
                </c:pt>
                <c:pt idx="3">
                  <c:v>3.65</c:v>
                </c:pt>
                <c:pt idx="4">
                  <c:v>8.23</c:v>
                </c:pt>
                <c:pt idx="5">
                  <c:v>163</c:v>
                </c:pt>
                <c:pt idx="6">
                  <c:v>115</c:v>
                </c:pt>
                <c:pt idx="7">
                  <c:v>121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A90-48DA-BBDA-B64F70C0FFB6}"/>
            </c:ext>
          </c:extLst>
        </c:ser>
        <c:ser>
          <c:idx val="5"/>
          <c:order val="5"/>
          <c:tx>
            <c:strRef>
              <c:f>'Document Intelligence'!$A$12</c:f>
              <c:strCache>
                <c:ptCount val="1"/>
                <c:pt idx="0">
                  <c:v>DataCloud dev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'Document Intelligence'!$B$7:$I$7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'Document Intelligence'!$B$12:$I$12</c:f>
              <c:numCache>
                <c:formatCode>_-[$$-409]* #,##0_ ;_-[$$-409]* \-#,##0\ ;_-[$$-409]* "-"??_ ;_-@_ </c:formatCode>
                <c:ptCount val="8"/>
                <c:pt idx="0">
                  <c:v>1428</c:v>
                </c:pt>
                <c:pt idx="1">
                  <c:v>1470.32</c:v>
                </c:pt>
                <c:pt idx="2">
                  <c:v>707.95</c:v>
                </c:pt>
                <c:pt idx="3">
                  <c:v>37.200000000000003</c:v>
                </c:pt>
                <c:pt idx="4">
                  <c:v>257.33</c:v>
                </c:pt>
                <c:pt idx="5">
                  <c:v>375</c:v>
                </c:pt>
                <c:pt idx="6">
                  <c:v>583</c:v>
                </c:pt>
                <c:pt idx="7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A90-48DA-BBDA-B64F70C0FFB6}"/>
            </c:ext>
          </c:extLst>
        </c:ser>
        <c:ser>
          <c:idx val="6"/>
          <c:order val="6"/>
          <c:tx>
            <c:strRef>
              <c:f>'Document Intelligence'!$A$13</c:f>
              <c:strCache>
                <c:ptCount val="1"/>
                <c:pt idx="0">
                  <c:v>OneDoc Dev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'Document Intelligence'!$B$7:$I$7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'Document Intelligence'!$B$13:$I$13</c:f>
              <c:numCache>
                <c:formatCode>_-[$$-409]* #,##0_ ;_-[$$-409]* \-#,##0\ ;_-[$$-409]* "-"??_ ;_-@_ </c:formatCode>
                <c:ptCount val="8"/>
                <c:pt idx="6">
                  <c:v>16</c:v>
                </c:pt>
                <c:pt idx="7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A90-48DA-BBDA-B64F70C0FFB6}"/>
            </c:ext>
          </c:extLst>
        </c:ser>
        <c:ser>
          <c:idx val="7"/>
          <c:order val="7"/>
          <c:tx>
            <c:strRef>
              <c:f>'Document Intelligence'!$A$14</c:f>
              <c:strCache>
                <c:ptCount val="1"/>
                <c:pt idx="0">
                  <c:v>DataCloud prod 4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'Document Intelligence'!$B$7:$I$7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'Document Intelligence'!$B$14:$I$14</c:f>
              <c:numCache>
                <c:formatCode>_-[$$-409]* #,##0_ ;_-[$$-409]* \-#,##0\ ;_-[$$-409]* "-"??_ ;_-@_ </c:formatCode>
                <c:ptCount val="8"/>
                <c:pt idx="0">
                  <c:v>449.22</c:v>
                </c:pt>
                <c:pt idx="1">
                  <c:v>2.4300000000000002</c:v>
                </c:pt>
                <c:pt idx="4">
                  <c:v>4.9400000000000004</c:v>
                </c:pt>
                <c:pt idx="5">
                  <c:v>0.18</c:v>
                </c:pt>
                <c:pt idx="6">
                  <c:v>17</c:v>
                </c:pt>
                <c:pt idx="7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A90-48DA-BBDA-B64F70C0FFB6}"/>
            </c:ext>
          </c:extLst>
        </c:ser>
        <c:ser>
          <c:idx val="8"/>
          <c:order val="8"/>
          <c:tx>
            <c:strRef>
              <c:f>'Document Intelligence'!$A$15</c:f>
              <c:strCache>
                <c:ptCount val="1"/>
                <c:pt idx="0">
                  <c:v>Solugen Dev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'Document Intelligence'!$B$7:$I$7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'Document Intelligence'!$B$15:$I$15</c:f>
              <c:numCache>
                <c:formatCode>_-[$$-409]* #,##0_ ;_-[$$-409]* \-#,##0\ ;_-[$$-409]* "-"??_ ;_-@_ </c:formatCode>
                <c:ptCount val="8"/>
                <c:pt idx="1">
                  <c:v>0.02</c:v>
                </c:pt>
                <c:pt idx="3">
                  <c:v>0.82</c:v>
                </c:pt>
                <c:pt idx="4">
                  <c:v>2.4500000000000002</c:v>
                </c:pt>
                <c:pt idx="5">
                  <c:v>18</c:v>
                </c:pt>
                <c:pt idx="6">
                  <c:v>4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A90-48DA-BBDA-B64F70C0FF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10565183"/>
        <c:axId val="1410576223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'Document Intelligence'!$A$17</c15:sqref>
                        </c15:formulaRef>
                      </c:ext>
                    </c:extLst>
                    <c:strCache>
                      <c:ptCount val="1"/>
                      <c:pt idx="0">
                        <c:v>Total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'Document Intelligence'!$B$7:$I$7</c15:sqref>
                        </c15:formulaRef>
                      </c:ext>
                    </c:extLst>
                    <c:numCache>
                      <c:formatCode>mmm\-yy</c:formatCode>
                      <c:ptCount val="8"/>
                      <c:pt idx="0">
                        <c:v>46023</c:v>
                      </c:pt>
                      <c:pt idx="1">
                        <c:v>46054</c:v>
                      </c:pt>
                      <c:pt idx="2">
                        <c:v>46082</c:v>
                      </c:pt>
                      <c:pt idx="3">
                        <c:v>46113</c:v>
                      </c:pt>
                      <c:pt idx="4">
                        <c:v>46143</c:v>
                      </c:pt>
                      <c:pt idx="5">
                        <c:v>46174</c:v>
                      </c:pt>
                      <c:pt idx="6">
                        <c:v>46204</c:v>
                      </c:pt>
                      <c:pt idx="7">
                        <c:v>46235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'Document Intelligence'!$B$17:$I$17</c15:sqref>
                        </c15:formulaRef>
                      </c:ext>
                    </c:extLst>
                    <c:numCache>
                      <c:formatCode>_-[$$-409]* #,##0_ ;_-[$$-409]* \-#,##0\ ;_-[$$-409]* "-"??_ ;_-@_ </c:formatCode>
                      <c:ptCount val="8"/>
                      <c:pt idx="0">
                        <c:v>4231.47</c:v>
                      </c:pt>
                      <c:pt idx="1">
                        <c:v>4289.0500000000011</c:v>
                      </c:pt>
                      <c:pt idx="2">
                        <c:v>3551.45</c:v>
                      </c:pt>
                      <c:pt idx="3">
                        <c:v>2152.04</c:v>
                      </c:pt>
                      <c:pt idx="4">
                        <c:v>3362.69</c:v>
                      </c:pt>
                      <c:pt idx="5">
                        <c:v>6114.18</c:v>
                      </c:pt>
                      <c:pt idx="6">
                        <c:v>7293</c:v>
                      </c:pt>
                      <c:pt idx="7">
                        <c:v>6333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8-1A90-48DA-BBDA-B64F70C0FFB6}"/>
                  </c:ext>
                </c:extLst>
              </c15:ser>
            </c15:filteredBarSeries>
          </c:ext>
        </c:extLst>
      </c:barChart>
      <c:dateAx>
        <c:axId val="1410565183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410576223"/>
        <c:crosses val="autoZero"/>
        <c:auto val="1"/>
        <c:lblOffset val="100"/>
        <c:baseTimeUnit val="months"/>
      </c:dateAx>
      <c:valAx>
        <c:axId val="1410576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4105651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212292213473316"/>
          <c:y val="0.1735204678362573"/>
          <c:w val="0.84732152230971125"/>
          <c:h val="0.484101246180037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'Project -INSAIT'!$A$2</c:f>
              <c:strCache>
                <c:ptCount val="1"/>
                <c:pt idx="0">
                  <c:v>Foundry Models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'Project -INSAIT'!$B$1:$I$1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-INSAIT'!$B$2:$I$2</c:f>
              <c:numCache>
                <c:formatCode>_-[$$-409]* #,##0_ ;_-[$$-409]* \-#,##0\ ;_-[$$-409]* "-"??_ ;_-@_ </c:formatCode>
                <c:ptCount val="8"/>
                <c:pt idx="0">
                  <c:v>9.6543693919999996</c:v>
                </c:pt>
                <c:pt idx="1">
                  <c:v>712</c:v>
                </c:pt>
                <c:pt idx="2">
                  <c:v>28.874765371999999</c:v>
                </c:pt>
                <c:pt idx="3">
                  <c:v>1.2859790639999999</c:v>
                </c:pt>
                <c:pt idx="4">
                  <c:v>1.9437735119999999</c:v>
                </c:pt>
                <c:pt idx="5">
                  <c:v>2.4146433740000002</c:v>
                </c:pt>
                <c:pt idx="6">
                  <c:v>293.47755608300002</c:v>
                </c:pt>
                <c:pt idx="7">
                  <c:v>1034.372378111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E2-4152-8C01-0179B7F1EB59}"/>
            </c:ext>
          </c:extLst>
        </c:ser>
        <c:ser>
          <c:idx val="1"/>
          <c:order val="1"/>
          <c:tx>
            <c:strRef>
              <c:f>'Project -INSAIT'!$A$3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'Project -INSAIT'!$B$1:$I$1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-INSAIT'!$B$3:$I$3</c:f>
              <c:numCache>
                <c:formatCode>_-[$$-409]* #,##0_ ;_-[$$-409]* \-#,##0\ ;_-[$$-409]* "-"??_ ;_-@_ </c:formatCode>
                <c:ptCount val="8"/>
                <c:pt idx="0">
                  <c:v>114.018401944576</c:v>
                </c:pt>
                <c:pt idx="1">
                  <c:v>308</c:v>
                </c:pt>
                <c:pt idx="2">
                  <c:v>341.36902522000003</c:v>
                </c:pt>
                <c:pt idx="3">
                  <c:v>331.05450522000001</c:v>
                </c:pt>
                <c:pt idx="4">
                  <c:v>339.96300000000002</c:v>
                </c:pt>
                <c:pt idx="5">
                  <c:v>330.83241215999999</c:v>
                </c:pt>
                <c:pt idx="6">
                  <c:v>342.18639666000001</c:v>
                </c:pt>
                <c:pt idx="7">
                  <c:v>325.91056672000002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E2-4152-8C01-0179B7F1EB59}"/>
            </c:ext>
          </c:extLst>
        </c:ser>
        <c:ser>
          <c:idx val="2"/>
          <c:order val="2"/>
          <c:tx>
            <c:strRef>
              <c:f>'Project -INSAIT'!$A$4</c:f>
              <c:strCache>
                <c:ptCount val="1"/>
                <c:pt idx="0">
                  <c:v>Application Gateway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'Project -INSAIT'!$B$1:$I$1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-INSAIT'!$B$4:$I$4</c:f>
              <c:numCache>
                <c:formatCode>_-[$$-409]* #,##0_ ;_-[$$-409]* \-#,##0\ ;_-[$$-409]* "-"??_ ;_-@_ </c:formatCode>
                <c:ptCount val="8"/>
                <c:pt idx="0">
                  <c:v>312.26684444444402</c:v>
                </c:pt>
                <c:pt idx="1">
                  <c:v>282</c:v>
                </c:pt>
                <c:pt idx="2">
                  <c:v>312.48</c:v>
                </c:pt>
                <c:pt idx="3">
                  <c:v>302.39999999999998</c:v>
                </c:pt>
                <c:pt idx="4">
                  <c:v>312.48</c:v>
                </c:pt>
                <c:pt idx="5">
                  <c:v>302.39999999999998</c:v>
                </c:pt>
                <c:pt idx="6">
                  <c:v>312.48</c:v>
                </c:pt>
                <c:pt idx="7">
                  <c:v>312.48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AE2-4152-8C01-0179B7F1EB59}"/>
            </c:ext>
          </c:extLst>
        </c:ser>
        <c:ser>
          <c:idx val="3"/>
          <c:order val="3"/>
          <c:tx>
            <c:strRef>
              <c:f>'Project -INSAIT'!$A$5</c:f>
              <c:strCache>
                <c:ptCount val="1"/>
                <c:pt idx="0">
                  <c:v>Azure Database for PostgreSQL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'Project -INSAIT'!$B$1:$I$1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-INSAIT'!$B$5:$I$5</c:f>
              <c:numCache>
                <c:formatCode>_-[$$-409]* #,##0_ ;_-[$$-409]* \-#,##0\ ;_-[$$-409]* "-"??_ ;_-@_ </c:formatCode>
                <c:ptCount val="8"/>
                <c:pt idx="0">
                  <c:v>155.4128</c:v>
                </c:pt>
                <c:pt idx="1">
                  <c:v>141</c:v>
                </c:pt>
                <c:pt idx="2">
                  <c:v>155.4128</c:v>
                </c:pt>
                <c:pt idx="3">
                  <c:v>150.54079999999999</c:v>
                </c:pt>
                <c:pt idx="4">
                  <c:v>155.4128</c:v>
                </c:pt>
                <c:pt idx="5">
                  <c:v>268.673511111111</c:v>
                </c:pt>
                <c:pt idx="6">
                  <c:v>310.82560000000001</c:v>
                </c:pt>
                <c:pt idx="7">
                  <c:v>310.82560000000001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AE2-4152-8C01-0179B7F1EB59}"/>
            </c:ext>
          </c:extLst>
        </c:ser>
        <c:ser>
          <c:idx val="4"/>
          <c:order val="4"/>
          <c:tx>
            <c:strRef>
              <c:f>'Project -INSAIT'!$A$6</c:f>
              <c:strCache>
                <c:ptCount val="1"/>
                <c:pt idx="0">
                  <c:v>Azure Container Apps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'Project -INSAIT'!$B$1:$I$1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-INSAIT'!$B$6:$I$6</c:f>
              <c:numCache>
                <c:formatCode>_-[$$-409]* #,##0_ ;_-[$$-409]* \-#,##0\ ;_-[$$-409]* "-"??_ ;_-@_ </c:formatCode>
                <c:ptCount val="8"/>
                <c:pt idx="0">
                  <c:v>280.07924475999999</c:v>
                </c:pt>
                <c:pt idx="1">
                  <c:v>245</c:v>
                </c:pt>
                <c:pt idx="2">
                  <c:v>277.57007866666697</c:v>
                </c:pt>
                <c:pt idx="3">
                  <c:v>262.42823466666698</c:v>
                </c:pt>
                <c:pt idx="4">
                  <c:v>270.97211458666698</c:v>
                </c:pt>
                <c:pt idx="5">
                  <c:v>279.12816098666701</c:v>
                </c:pt>
                <c:pt idx="6">
                  <c:v>272.356081786667</c:v>
                </c:pt>
                <c:pt idx="7">
                  <c:v>271.34696400000001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AE2-4152-8C01-0179B7F1EB59}"/>
            </c:ext>
          </c:extLst>
        </c:ser>
        <c:ser>
          <c:idx val="5"/>
          <c:order val="5"/>
          <c:tx>
            <c:strRef>
              <c:f>'Project -INSAIT'!$A$7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'Project -INSAIT'!$B$1:$I$1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-INSAIT'!$B$7:$I$7</c:f>
              <c:numCache>
                <c:formatCode>_-[$$-409]* #,##0_ ;_-[$$-409]* \-#,##0\ ;_-[$$-409]* "-"??_ ;_-@_ </c:formatCode>
                <c:ptCount val="8"/>
                <c:pt idx="0">
                  <c:v>45.384506891721699</c:v>
                </c:pt>
                <c:pt idx="1">
                  <c:v>41</c:v>
                </c:pt>
                <c:pt idx="2">
                  <c:v>45.202688124325498</c:v>
                </c:pt>
                <c:pt idx="3">
                  <c:v>61.797291467484101</c:v>
                </c:pt>
                <c:pt idx="4">
                  <c:v>75.390147890700007</c:v>
                </c:pt>
                <c:pt idx="5">
                  <c:v>78.040055502658305</c:v>
                </c:pt>
                <c:pt idx="6">
                  <c:v>85.718810063029295</c:v>
                </c:pt>
                <c:pt idx="7">
                  <c:v>89.795862531075301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AE2-4152-8C01-0179B7F1EB59}"/>
            </c:ext>
          </c:extLst>
        </c:ser>
        <c:ser>
          <c:idx val="6"/>
          <c:order val="6"/>
          <c:tx>
            <c:strRef>
              <c:f>'Project -INSAIT'!$A$8</c:f>
              <c:strCache>
                <c:ptCount val="1"/>
                <c:pt idx="0">
                  <c:v>Virtual Machines Licenses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-INSAIT'!$B$1:$I$1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-INSAIT'!$B$8:$I$8</c:f>
              <c:numCache>
                <c:formatCode>_-[$$-409]* #,##0_ ;_-[$$-409]* \-#,##0\ ;_-[$$-409]* "-"??_ ;_-@_ </c:formatCode>
                <c:ptCount val="8"/>
                <c:pt idx="0">
                  <c:v>51.664348742400001</c:v>
                </c:pt>
                <c:pt idx="1">
                  <c:v>77</c:v>
                </c:pt>
                <c:pt idx="2">
                  <c:v>85.635926092800005</c:v>
                </c:pt>
                <c:pt idx="3">
                  <c:v>82.9075630464</c:v>
                </c:pt>
                <c:pt idx="4">
                  <c:v>85.708799999999997</c:v>
                </c:pt>
                <c:pt idx="5">
                  <c:v>82.851944140800001</c:v>
                </c:pt>
                <c:pt idx="6">
                  <c:v>85.695375859199999</c:v>
                </c:pt>
                <c:pt idx="7">
                  <c:v>85.704964531200005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AE2-4152-8C01-0179B7F1EB59}"/>
            </c:ext>
          </c:extLst>
        </c:ser>
        <c:ser>
          <c:idx val="7"/>
          <c:order val="7"/>
          <c:tx>
            <c:strRef>
              <c:f>'Project -INSAIT'!$A$9</c:f>
              <c:strCache>
                <c:ptCount val="1"/>
                <c:pt idx="0">
                  <c:v>Azure App Service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-INSAIT'!$B$1:$I$1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-INSAIT'!$B$9:$I$9</c:f>
              <c:numCache>
                <c:formatCode>General</c:formatCode>
                <c:ptCount val="8"/>
                <c:pt idx="3" formatCode="_-[$$-409]* #,##0_ ;_-[$$-409]* \-#,##0\ ;_-[$$-409]* &quot;-&quot;??_ ;_-@_ ">
                  <c:v>33.072967374999998</c:v>
                </c:pt>
                <c:pt idx="4" formatCode="_-[$$-409]* #,##0_ ;_-[$$-409]* \-#,##0\ ;_-[$$-409]* &quot;-&quot;??_ ;_-@_ ">
                  <c:v>65.8155</c:v>
                </c:pt>
                <c:pt idx="5" formatCode="_-[$$-409]* #,##0_ ;_-[$$-409]* \-#,##0\ ;_-[$$-409]* &quot;-&quot;??_ ;_-@_ ">
                  <c:v>64.08</c:v>
                </c:pt>
                <c:pt idx="6" formatCode="_-[$$-409]* #,##0_ ;_-[$$-409]* \-#,##0\ ;_-[$$-409]* &quot;-&quot;??_ ;_-@_ ">
                  <c:v>66.215999999999994</c:v>
                </c:pt>
                <c:pt idx="7" formatCode="_-[$$-409]* #,##0_ ;_-[$$-409]* \-#,##0\ ;_-[$$-409]* &quot;-&quot;??_ ;_-@_ ">
                  <c:v>66.215999999999994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AE2-4152-8C01-0179B7F1EB59}"/>
            </c:ext>
          </c:extLst>
        </c:ser>
        <c:ser>
          <c:idx val="8"/>
          <c:order val="8"/>
          <c:tx>
            <c:strRef>
              <c:f>'Project -INSAIT'!$A$10</c:f>
              <c:strCache>
                <c:ptCount val="1"/>
                <c:pt idx="0">
                  <c:v>Redis Cache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-INSAIT'!$B$1:$I$1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-INSAIT'!$B$10:$I$10</c:f>
              <c:numCache>
                <c:formatCode>_-[$$-409]* #,##0_ ;_-[$$-409]* \-#,##0\ ;_-[$$-409]* "-"??_ ;_-@_ </c:formatCode>
                <c:ptCount val="8"/>
                <c:pt idx="5">
                  <c:v>42.9749388888889</c:v>
                </c:pt>
                <c:pt idx="6">
                  <c:v>56.543999999999997</c:v>
                </c:pt>
                <c:pt idx="7">
                  <c:v>56.543999999999997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AE2-4152-8C01-0179B7F1EB59}"/>
            </c:ext>
          </c:extLst>
        </c:ser>
        <c:ser>
          <c:idx val="9"/>
          <c:order val="9"/>
          <c:tx>
            <c:strRef>
              <c:f>'Project -INSAIT'!$A$11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-INSAIT'!$B$1:$I$1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-INSAIT'!$B$11:$I$11</c:f>
              <c:numCache>
                <c:formatCode>_-[$$-409]* #,##0_ ;_-[$$-409]* \-#,##0\ ;_-[$$-409]* "-"??_ ;_-@_ </c:formatCode>
                <c:ptCount val="8"/>
                <c:pt idx="0">
                  <c:v>15.7879278</c:v>
                </c:pt>
                <c:pt idx="1">
                  <c:v>37</c:v>
                </c:pt>
                <c:pt idx="2">
                  <c:v>38.919925788</c:v>
                </c:pt>
                <c:pt idx="3">
                  <c:v>41.042235591999997</c:v>
                </c:pt>
                <c:pt idx="4">
                  <c:v>47.252041351999999</c:v>
                </c:pt>
                <c:pt idx="5">
                  <c:v>50.567170711999999</c:v>
                </c:pt>
                <c:pt idx="6">
                  <c:v>51.712878121999999</c:v>
                </c:pt>
                <c:pt idx="7">
                  <c:v>52.618063675999998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AE2-4152-8C01-0179B7F1EB59}"/>
            </c:ext>
          </c:extLst>
        </c:ser>
        <c:ser>
          <c:idx val="10"/>
          <c:order val="10"/>
          <c:tx>
            <c:strRef>
              <c:f>'Project -INSAIT'!$A$12</c:f>
              <c:strCache>
                <c:ptCount val="1"/>
                <c:pt idx="0">
                  <c:v>Container Registry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-INSAIT'!$B$1:$I$1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-INSAIT'!$B$12:$I$12</c:f>
              <c:numCache>
                <c:formatCode>_-[$$-409]* #,##0_ ;_-[$$-409]* \-#,##0\ ;_-[$$-409]* "-"??_ ;_-@_ </c:formatCode>
                <c:ptCount val="8"/>
                <c:pt idx="0">
                  <c:v>51.656746480665802</c:v>
                </c:pt>
                <c:pt idx="1">
                  <c:v>47</c:v>
                </c:pt>
                <c:pt idx="2">
                  <c:v>51.656746480665802</c:v>
                </c:pt>
                <c:pt idx="3">
                  <c:v>49.990399819999197</c:v>
                </c:pt>
                <c:pt idx="4">
                  <c:v>51.656746480665802</c:v>
                </c:pt>
                <c:pt idx="5">
                  <c:v>49.990399819999197</c:v>
                </c:pt>
                <c:pt idx="6">
                  <c:v>51.656746480665802</c:v>
                </c:pt>
                <c:pt idx="7">
                  <c:v>51.656746480665802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AE2-4152-8C01-0179B7F1EB59}"/>
            </c:ext>
          </c:extLst>
        </c:ser>
        <c:ser>
          <c:idx val="11"/>
          <c:order val="11"/>
          <c:tx>
            <c:strRef>
              <c:f>'Project -INSAIT'!$A$13</c:f>
              <c:strCache>
                <c:ptCount val="1"/>
                <c:pt idx="0">
                  <c:v>Event Hubs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-INSAIT'!$B$1:$I$1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-INSAIT'!$B$13:$I$13</c:f>
              <c:numCache>
                <c:formatCode>General</c:formatCode>
                <c:ptCount val="8"/>
                <c:pt idx="3" formatCode="_-[$$-409]* #,##0_ ;_-[$$-409]* \-#,##0\ ;_-[$$-409]* &quot;-&quot;??_ ;_-@_ ">
                  <c:v>11.130000280000001</c:v>
                </c:pt>
                <c:pt idx="4" formatCode="_-[$$-409]* #,##0_ ;_-[$$-409]* \-#,##0\ ;_-[$$-409]* &quot;-&quot;??_ ;_-@_ ">
                  <c:v>22.26</c:v>
                </c:pt>
                <c:pt idx="5" formatCode="_-[$$-409]* #,##0_ ;_-[$$-409]* \-#,##0\ ;_-[$$-409]* &quot;-&quot;??_ ;_-@_ ">
                  <c:v>21.6</c:v>
                </c:pt>
                <c:pt idx="6" formatCode="_-[$$-409]* #,##0_ ;_-[$$-409]* \-#,##0\ ;_-[$$-409]* &quot;-&quot;??_ ;_-@_ ">
                  <c:v>22.26</c:v>
                </c:pt>
                <c:pt idx="7" formatCode="_-[$$-409]* #,##0_ ;_-[$$-409]* \-#,##0\ ;_-[$$-409]* &quot;-&quot;??_ ;_-@_ ">
                  <c:v>22.2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CAE2-4152-8C01-0179B7F1EB59}"/>
            </c:ext>
          </c:extLst>
        </c:ser>
        <c:ser>
          <c:idx val="12"/>
          <c:order val="12"/>
          <c:tx>
            <c:strRef>
              <c:f>'Project -INSAIT'!$A$14</c:f>
              <c:strCache>
                <c:ptCount val="1"/>
                <c:pt idx="0">
                  <c:v>Load Balancer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-INSAIT'!$B$1:$I$1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-INSAIT'!$B$14:$I$14</c:f>
              <c:numCache>
                <c:formatCode>_-[$$-409]* #,##0_ ;_-[$$-409]* \-#,##0\ ;_-[$$-409]* "-"??_ ;_-@_ </c:formatCode>
                <c:ptCount val="8"/>
                <c:pt idx="0">
                  <c:v>18.600421255170399</c:v>
                </c:pt>
                <c:pt idx="1">
                  <c:v>17</c:v>
                </c:pt>
                <c:pt idx="2">
                  <c:v>18.600010428866401</c:v>
                </c:pt>
                <c:pt idx="3">
                  <c:v>18.000015287660101</c:v>
                </c:pt>
                <c:pt idx="4">
                  <c:v>18.600017544086999</c:v>
                </c:pt>
                <c:pt idx="5">
                  <c:v>18.000021212138201</c:v>
                </c:pt>
                <c:pt idx="6">
                  <c:v>18.600017831348801</c:v>
                </c:pt>
                <c:pt idx="7">
                  <c:v>18.600037501785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AE2-4152-8C01-0179B7F1EB59}"/>
            </c:ext>
          </c:extLst>
        </c:ser>
        <c:ser>
          <c:idx val="13"/>
          <c:order val="13"/>
          <c:tx>
            <c:strRef>
              <c:f>'Project -INSAIT'!$A$15</c:f>
              <c:strCache>
                <c:ptCount val="1"/>
                <c:pt idx="0">
                  <c:v>Key Vault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-INSAIT'!$B$1:$I$1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-INSAIT'!$B$15:$I$15</c:f>
              <c:numCache>
                <c:formatCode>_-[$$-409]* #,##0_ ;_-[$$-409]* \-#,##0\ ;_-[$$-409]* "-"??_ ;_-@_ </c:formatCode>
                <c:ptCount val="8"/>
                <c:pt idx="5">
                  <c:v>4.2308669999999999</c:v>
                </c:pt>
                <c:pt idx="6">
                  <c:v>4.6146479999999999</c:v>
                </c:pt>
                <c:pt idx="7">
                  <c:v>8.8503000000000007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CAE2-4152-8C01-0179B7F1EB59}"/>
            </c:ext>
          </c:extLst>
        </c:ser>
        <c:ser>
          <c:idx val="14"/>
          <c:order val="14"/>
          <c:tx>
            <c:strRef>
              <c:f>'Project -INSAIT'!$A$16</c:f>
              <c:strCache>
                <c:ptCount val="1"/>
                <c:pt idx="0">
                  <c:v>Log Analytics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-INSAIT'!$B$1:$I$1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-INSAIT'!$B$16:$I$16</c:f>
              <c:numCache>
                <c:formatCode>_-[$$-409]* #,##0_ ;_-[$$-409]* \-#,##0\ ;_-[$$-409]* "-"??_ ;_-@_ </c:formatCode>
                <c:ptCount val="8"/>
                <c:pt idx="0">
                  <c:v>5.9733111128600003</c:v>
                </c:pt>
                <c:pt idx="1">
                  <c:v>5</c:v>
                </c:pt>
                <c:pt idx="2">
                  <c:v>5.3451618993499999</c:v>
                </c:pt>
                <c:pt idx="3">
                  <c:v>5.0989683132700003</c:v>
                </c:pt>
                <c:pt idx="4">
                  <c:v>5.3638468757900002</c:v>
                </c:pt>
                <c:pt idx="5">
                  <c:v>5.1082728255000003</c:v>
                </c:pt>
                <c:pt idx="6">
                  <c:v>5.2963448899400003</c:v>
                </c:pt>
                <c:pt idx="7">
                  <c:v>3.7399439542400001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AE2-4152-8C01-0179B7F1EB59}"/>
            </c:ext>
          </c:extLst>
        </c:ser>
        <c:ser>
          <c:idx val="15"/>
          <c:order val="15"/>
          <c:tx>
            <c:strRef>
              <c:f>'Project -INSAIT'!$A$17</c:f>
              <c:strCache>
                <c:ptCount val="1"/>
                <c:pt idx="0">
                  <c:v>Azure Monitor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-INSAIT'!$B$1:$I$1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-INSAIT'!$B$17:$I$17</c:f>
              <c:numCache>
                <c:formatCode>_-[$$-409]* #,##0_ ;_-[$$-409]* \-#,##0\ ;_-[$$-409]* "-"??_ ;_-@_ </c:formatCode>
                <c:ptCount val="8"/>
                <c:pt idx="0">
                  <c:v>2.99781586021505</c:v>
                </c:pt>
                <c:pt idx="1">
                  <c:v>3</c:v>
                </c:pt>
                <c:pt idx="2">
                  <c:v>2.9994959677419399</c:v>
                </c:pt>
                <c:pt idx="3">
                  <c:v>2.8990255376344098</c:v>
                </c:pt>
                <c:pt idx="4">
                  <c:v>2.9998319892473102</c:v>
                </c:pt>
                <c:pt idx="5">
                  <c:v>2.8990255376344098</c:v>
                </c:pt>
                <c:pt idx="6">
                  <c:v>2.99966397849462</c:v>
                </c:pt>
                <c:pt idx="7">
                  <c:v>2.99966397849462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CAE2-4152-8C01-0179B7F1EB59}"/>
            </c:ext>
          </c:extLst>
        </c:ser>
        <c:ser>
          <c:idx val="16"/>
          <c:order val="16"/>
          <c:tx>
            <c:strRef>
              <c:f>'Project -INSAIT'!$A$18</c:f>
              <c:strCache>
                <c:ptCount val="1"/>
                <c:pt idx="0">
                  <c:v>Azure DNS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'Project -INSAIT'!$B$1:$I$1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'Project -INSAIT'!$B$18:$I$18</c:f>
              <c:numCache>
                <c:formatCode>_-[$$-409]* #,##0_ ;_-[$$-409]* \-#,##0\ ;_-[$$-409]* "-"??_ ;_-@_ </c:formatCode>
                <c:ptCount val="8"/>
                <c:pt idx="0">
                  <c:v>0.5</c:v>
                </c:pt>
                <c:pt idx="1">
                  <c:v>0</c:v>
                </c:pt>
                <c:pt idx="2">
                  <c:v>0.5</c:v>
                </c:pt>
                <c:pt idx="3">
                  <c:v>0.483870967741936</c:v>
                </c:pt>
                <c:pt idx="4">
                  <c:v>0.5</c:v>
                </c:pt>
                <c:pt idx="5">
                  <c:v>0.483870967741936</c:v>
                </c:pt>
                <c:pt idx="6">
                  <c:v>0.5</c:v>
                </c:pt>
                <c:pt idx="7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CAE2-4152-8C01-0179B7F1EB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81922527"/>
        <c:axId val="681914847"/>
      </c:barChart>
      <c:dateAx>
        <c:axId val="681922527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681914847"/>
        <c:crosses val="autoZero"/>
        <c:auto val="1"/>
        <c:lblOffset val="100"/>
        <c:baseTimeUnit val="months"/>
      </c:dateAx>
      <c:valAx>
        <c:axId val="6819148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681922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5914260717410332E-3"/>
          <c:y val="0.7782837237745418"/>
          <c:w val="0.94003937007874017"/>
          <c:h val="0.2217162762254581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053701103917744E-2"/>
          <c:y val="7.6044936507743147E-2"/>
          <c:w val="0.92930936966599675"/>
          <c:h val="0.7645006213880978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'Azure Cognitive Search'!$A$2</c:f>
              <c:strCache>
                <c:ptCount val="1"/>
                <c:pt idx="0">
                  <c:v>Dev/Test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'Azure Cognitive Search'!$B$1:$I$1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'Azure Cognitive Search'!$B$2:$I$2</c:f>
              <c:numCache>
                <c:formatCode>General</c:formatCode>
                <c:ptCount val="8"/>
                <c:pt idx="4" formatCode="_-[$$-409]* #,##0_ ;_-[$$-409]* \-#,##0\ ;_-[$$-409]* &quot;-&quot;??_ ;_-@_ ">
                  <c:v>362.54399999999998</c:v>
                </c:pt>
                <c:pt idx="5" formatCode="_-[$$-409]* #,##0_ ;_-[$$-409]* \-#,##0\ ;_-[$$-409]* &quot;-&quot;??_ ;_-@_ ">
                  <c:v>783.55200000000002</c:v>
                </c:pt>
                <c:pt idx="6" formatCode="_-[$$-409]* #,##0_ ;_-[$$-409]* \-#,##0\ ;_-[$$-409]* &quot;-&quot;??_ ;_-@_ ">
                  <c:v>999.93600000000004</c:v>
                </c:pt>
                <c:pt idx="7" formatCode="_-[$$-409]* #,##0_ ;_-[$$-409]* \-#,##0\ ;_-[$$-409]* &quot;-&quot;??_ ;_-@_ 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53-4B03-9ACD-D77713BDF8D4}"/>
            </c:ext>
          </c:extLst>
        </c:ser>
        <c:ser>
          <c:idx val="1"/>
          <c:order val="1"/>
          <c:tx>
            <c:strRef>
              <c:f>'Azure Cognitive Search'!$A$3</c:f>
              <c:strCache>
                <c:ptCount val="1"/>
                <c:pt idx="0">
                  <c:v> Solugen Production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'Azure Cognitive Search'!$B$1:$I$1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'Azure Cognitive Search'!$B$3:$I$3</c:f>
              <c:numCache>
                <c:formatCode>_-[$$-409]* #,##0_ ;_-[$$-409]* \-#,##0\ ;_-[$$-409]* "-"??_ ;_-@_ </c:formatCode>
                <c:ptCount val="8"/>
                <c:pt idx="0">
                  <c:v>75.144000000000005</c:v>
                </c:pt>
                <c:pt idx="1">
                  <c:v>67.872</c:v>
                </c:pt>
                <c:pt idx="2">
                  <c:v>75.144000000000005</c:v>
                </c:pt>
                <c:pt idx="3">
                  <c:v>72.72</c:v>
                </c:pt>
                <c:pt idx="4">
                  <c:v>165.864</c:v>
                </c:pt>
                <c:pt idx="5">
                  <c:v>556.55999999999995</c:v>
                </c:pt>
                <c:pt idx="6">
                  <c:v>575.11199999999997</c:v>
                </c:pt>
                <c:pt idx="7">
                  <c:v>575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53-4B03-9ACD-D77713BDF8D4}"/>
            </c:ext>
          </c:extLst>
        </c:ser>
        <c:ser>
          <c:idx val="2"/>
          <c:order val="2"/>
          <c:tx>
            <c:strRef>
              <c:f>'Azure Cognitive Search'!$A$4</c:f>
              <c:strCache>
                <c:ptCount val="1"/>
                <c:pt idx="0">
                  <c:v> Prod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'Azure Cognitive Search'!$B$1:$I$1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'Azure Cognitive Search'!$B$4:$I$4</c:f>
              <c:numCache>
                <c:formatCode>_-[$$-409]* #,##0_ ;_-[$$-409]* \-#,##0\ ;_-[$$-409]* "-"??_ ;_-@_ </c:formatCode>
                <c:ptCount val="8"/>
                <c:pt idx="2">
                  <c:v>161.28</c:v>
                </c:pt>
                <c:pt idx="3">
                  <c:v>483.84</c:v>
                </c:pt>
                <c:pt idx="4">
                  <c:v>499.96800000000002</c:v>
                </c:pt>
                <c:pt idx="5">
                  <c:v>483.84</c:v>
                </c:pt>
                <c:pt idx="6">
                  <c:v>499.96800000000002</c:v>
                </c:pt>
                <c:pt idx="7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853-4B03-9ACD-D77713BDF8D4}"/>
            </c:ext>
          </c:extLst>
        </c:ser>
        <c:ser>
          <c:idx val="3"/>
          <c:order val="3"/>
          <c:tx>
            <c:strRef>
              <c:f>'Azure Cognitive Search'!$A$5</c:f>
              <c:strCache>
                <c:ptCount val="1"/>
                <c:pt idx="0">
                  <c:v> Sandbox System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'Azure Cognitive Search'!$B$1:$I$1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'Azure Cognitive Search'!$B$5:$I$5</c:f>
              <c:numCache>
                <c:formatCode>_-[$$-409]* #,##0_ ;_-[$$-409]* \-#,##0\ ;_-[$$-409]* "-"??_ ;_-@_ </c:formatCode>
                <c:ptCount val="8"/>
                <c:pt idx="0">
                  <c:v>249.98400000000001</c:v>
                </c:pt>
                <c:pt idx="1">
                  <c:v>225.792</c:v>
                </c:pt>
                <c:pt idx="2">
                  <c:v>249.98400000000001</c:v>
                </c:pt>
                <c:pt idx="3">
                  <c:v>241.92</c:v>
                </c:pt>
                <c:pt idx="4">
                  <c:v>249.98400000000001</c:v>
                </c:pt>
                <c:pt idx="5">
                  <c:v>241.92</c:v>
                </c:pt>
                <c:pt idx="6">
                  <c:v>249.98400000000001</c:v>
                </c:pt>
                <c:pt idx="7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853-4B03-9ACD-D77713BDF8D4}"/>
            </c:ext>
          </c:extLst>
        </c:ser>
        <c:ser>
          <c:idx val="4"/>
          <c:order val="4"/>
          <c:tx>
            <c:strRef>
              <c:f>'Azure Cognitive Search'!$A$6</c:f>
              <c:strCache>
                <c:ptCount val="1"/>
                <c:pt idx="0">
                  <c:v> AI Factory prod 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'Azure Cognitive Search'!$B$1:$I$1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'Azure Cognitive Search'!$B$6:$I$6</c:f>
              <c:numCache>
                <c:formatCode>_-[$$-409]* #,##0_ ;_-[$$-409]* \-#,##0\ ;_-[$$-409]* "-"??_ ;_-@_ </c:formatCode>
                <c:ptCount val="8"/>
                <c:pt idx="0">
                  <c:v>23.431999999999999</c:v>
                </c:pt>
                <c:pt idx="1">
                  <c:v>67.872</c:v>
                </c:pt>
                <c:pt idx="2">
                  <c:v>75.144000000000005</c:v>
                </c:pt>
                <c:pt idx="3">
                  <c:v>72.72</c:v>
                </c:pt>
                <c:pt idx="4">
                  <c:v>228.834</c:v>
                </c:pt>
                <c:pt idx="5">
                  <c:v>241.92</c:v>
                </c:pt>
                <c:pt idx="6">
                  <c:v>249.98400000000001</c:v>
                </c:pt>
                <c:pt idx="7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853-4B03-9ACD-D77713BDF8D4}"/>
            </c:ext>
          </c:extLst>
        </c:ser>
        <c:ser>
          <c:idx val="5"/>
          <c:order val="5"/>
          <c:tx>
            <c:strRef>
              <c:f>'Azure Cognitive Search'!$A$7</c:f>
              <c:strCache>
                <c:ptCount val="1"/>
                <c:pt idx="0">
                  <c:v> AI Factory dev 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'Azure Cognitive Search'!$B$1:$I$1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'Azure Cognitive Search'!$B$7:$I$7</c:f>
              <c:numCache>
                <c:formatCode>_-[$$-409]* #,##0_ ;_-[$$-409]* \-#,##0\ ;_-[$$-409]* "-"??_ ;_-@_ </c:formatCode>
                <c:ptCount val="8"/>
                <c:pt idx="2">
                  <c:v>69.084000000000003</c:v>
                </c:pt>
                <c:pt idx="3">
                  <c:v>72.72</c:v>
                </c:pt>
                <c:pt idx="4">
                  <c:v>75.144000000000005</c:v>
                </c:pt>
                <c:pt idx="5">
                  <c:v>72.72</c:v>
                </c:pt>
                <c:pt idx="6">
                  <c:v>75.144000000000005</c:v>
                </c:pt>
                <c:pt idx="7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853-4B03-9ACD-D77713BDF8D4}"/>
            </c:ext>
          </c:extLst>
        </c:ser>
        <c:ser>
          <c:idx val="6"/>
          <c:order val="6"/>
          <c:tx>
            <c:strRef>
              <c:f>'Azure Cognitive Search'!$A$8</c:f>
              <c:strCache>
                <c:ptCount val="1"/>
                <c:pt idx="0">
                  <c:v> DataCloud dev 1 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'Azure Cognitive Search'!$B$1:$I$1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'Azure Cognitive Search'!$B$8:$I$8</c:f>
              <c:numCache>
                <c:formatCode>_-[$$-409]* #,##0_ ;_-[$$-409]* \-#,##0\ ;_-[$$-409]* "-"??_ ;_-@_ </c:formatCode>
                <c:ptCount val="8"/>
                <c:pt idx="0">
                  <c:v>75.144000000000005</c:v>
                </c:pt>
                <c:pt idx="1">
                  <c:v>67.872</c:v>
                </c:pt>
                <c:pt idx="2">
                  <c:v>75.144000000000005</c:v>
                </c:pt>
                <c:pt idx="3">
                  <c:v>72.72</c:v>
                </c:pt>
                <c:pt idx="4">
                  <c:v>75.144000000000005</c:v>
                </c:pt>
                <c:pt idx="5">
                  <c:v>72.72</c:v>
                </c:pt>
                <c:pt idx="6">
                  <c:v>75.144000000000005</c:v>
                </c:pt>
                <c:pt idx="7">
                  <c:v>75.144000000000005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853-4B03-9ACD-D77713BDF8D4}"/>
            </c:ext>
          </c:extLst>
        </c:ser>
        <c:ser>
          <c:idx val="7"/>
          <c:order val="7"/>
          <c:tx>
            <c:strRef>
              <c:f>'Azure Cognitive Search'!$A$9</c:f>
              <c:strCache>
                <c:ptCount val="1"/>
                <c:pt idx="0">
                  <c:v> DataCloud dev 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'Azure Cognitive Search'!$B$1:$I$1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'Azure Cognitive Search'!$B$9:$I$9</c:f>
              <c:numCache>
                <c:formatCode>_-[$$-409]* #,##0_ ;_-[$$-409]* \-#,##0\ ;_-[$$-409]* "-"??_ ;_-@_ </c:formatCode>
                <c:ptCount val="8"/>
                <c:pt idx="0">
                  <c:v>75.144000000000005</c:v>
                </c:pt>
                <c:pt idx="1">
                  <c:v>67.872</c:v>
                </c:pt>
                <c:pt idx="2">
                  <c:v>75.144000000000005</c:v>
                </c:pt>
                <c:pt idx="3">
                  <c:v>72.72</c:v>
                </c:pt>
                <c:pt idx="4">
                  <c:v>75.144000000000005</c:v>
                </c:pt>
                <c:pt idx="5">
                  <c:v>72.72</c:v>
                </c:pt>
                <c:pt idx="6">
                  <c:v>75.144000000000005</c:v>
                </c:pt>
                <c:pt idx="7">
                  <c:v>75.144000000000005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853-4B03-9ACD-D77713BDF8D4}"/>
            </c:ext>
          </c:extLst>
        </c:ser>
        <c:ser>
          <c:idx val="8"/>
          <c:order val="8"/>
          <c:tx>
            <c:strRef>
              <c:f>'Azure Cognitive Search'!$A$10</c:f>
              <c:strCache>
                <c:ptCount val="1"/>
                <c:pt idx="0">
                  <c:v> DataCloud prod 4 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'Azure Cognitive Search'!$B$1:$I$1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'Azure Cognitive Search'!$B$10:$I$10</c:f>
              <c:numCache>
                <c:formatCode>_-[$$-409]* #,##0_ ;_-[$$-409]* \-#,##0\ ;_-[$$-409]* "-"??_ ;_-@_ </c:formatCode>
                <c:ptCount val="8"/>
                <c:pt idx="0">
                  <c:v>75.144000000000005</c:v>
                </c:pt>
                <c:pt idx="1">
                  <c:v>67.872</c:v>
                </c:pt>
                <c:pt idx="2">
                  <c:v>75.144000000000005</c:v>
                </c:pt>
                <c:pt idx="3">
                  <c:v>72.72</c:v>
                </c:pt>
                <c:pt idx="4">
                  <c:v>75.144000000000005</c:v>
                </c:pt>
                <c:pt idx="5">
                  <c:v>72.72</c:v>
                </c:pt>
                <c:pt idx="6">
                  <c:v>75.144000000000005</c:v>
                </c:pt>
                <c:pt idx="7">
                  <c:v>75.144000000000005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853-4B03-9ACD-D77713BDF8D4}"/>
            </c:ext>
          </c:extLst>
        </c:ser>
        <c:ser>
          <c:idx val="9"/>
          <c:order val="9"/>
          <c:tx>
            <c:strRef>
              <c:f>'Azure Cognitive Search'!$A$11</c:f>
              <c:strCache>
                <c:ptCount val="1"/>
                <c:pt idx="0">
                  <c:v> Solugen Dev 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'Azure Cognitive Search'!$B$1:$I$1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'Azure Cognitive Search'!$B$11:$I$11</c:f>
              <c:numCache>
                <c:formatCode>_-[$$-409]* #,##0_ ;_-[$$-409]* \-#,##0\ ;_-[$$-409]* "-"??_ ;_-@_ </c:formatCode>
                <c:ptCount val="8"/>
                <c:pt idx="1">
                  <c:v>24.946999999999999</c:v>
                </c:pt>
                <c:pt idx="2">
                  <c:v>75.144000000000005</c:v>
                </c:pt>
                <c:pt idx="3">
                  <c:v>72.72</c:v>
                </c:pt>
                <c:pt idx="4">
                  <c:v>75.144000000000005</c:v>
                </c:pt>
                <c:pt idx="5">
                  <c:v>72.72</c:v>
                </c:pt>
                <c:pt idx="6">
                  <c:v>75.144000000000005</c:v>
                </c:pt>
                <c:pt idx="7">
                  <c:v>75.144000000000005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853-4B03-9ACD-D77713BDF8D4}"/>
            </c:ext>
          </c:extLst>
        </c:ser>
        <c:ser>
          <c:idx val="10"/>
          <c:order val="10"/>
          <c:tx>
            <c:strRef>
              <c:f>'Azure Cognitive Search'!$A$12</c:f>
              <c:strCache>
                <c:ptCount val="1"/>
                <c:pt idx="0">
                  <c:v> Mint Dev 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'Azure Cognitive Search'!$B$1:$I$1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'Azure Cognitive Search'!$B$12:$I$12</c:f>
              <c:numCache>
                <c:formatCode>_-[$$-409]* #,##0_ ;_-[$$-409]* \-#,##0\ ;_-[$$-409]* "-"??_ ;_-@_ </c:formatCode>
                <c:ptCount val="8"/>
                <c:pt idx="5">
                  <c:v>21.007999999999999</c:v>
                </c:pt>
                <c:pt idx="6">
                  <c:v>75.144000000000005</c:v>
                </c:pt>
                <c:pt idx="7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853-4B03-9ACD-D77713BDF8D4}"/>
            </c:ext>
          </c:extLst>
        </c:ser>
        <c:ser>
          <c:idx val="11"/>
          <c:order val="11"/>
          <c:tx>
            <c:strRef>
              <c:f>'Azure Cognitive Search'!$A$13</c:f>
              <c:strCache>
                <c:ptCount val="1"/>
                <c:pt idx="0">
                  <c:v> Mint Prod 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'Azure Cognitive Search'!$B$1:$I$1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'Azure Cognitive Search'!$B$13:$I$13</c:f>
              <c:numCache>
                <c:formatCode>_-[$$-409]* #,##0_ ;_-[$$-409]* \-#,##0\ ;_-[$$-409]* "-"??_ ;_-@_ </c:formatCode>
                <c:ptCount val="8"/>
                <c:pt idx="7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4853-4B03-9ACD-D77713BDF8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64300848"/>
        <c:axId val="1864301328"/>
      </c:barChart>
      <c:dateAx>
        <c:axId val="1864300848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864301328"/>
        <c:crosses val="autoZero"/>
        <c:auto val="1"/>
        <c:lblOffset val="100"/>
        <c:baseTimeUnit val="months"/>
      </c:dateAx>
      <c:valAx>
        <c:axId val="1864301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8643008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551170490566113"/>
          <c:y val="6.8060686551929261E-2"/>
          <c:w val="0.84732152230971125"/>
          <c:h val="0.52123323126275878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'Open AI Services'!$A$2</c:f>
              <c:strCache>
                <c:ptCount val="1"/>
                <c:pt idx="0">
                  <c:v>5.4 opt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Services'!$B$2:$I$2</c:f>
              <c:numCache>
                <c:formatCode>General</c:formatCode>
                <c:ptCount val="8"/>
                <c:pt idx="4" formatCode="_-[$$-409]* #,##0_ ;_-[$$-409]* \-#,##0\ ;_-[$$-409]* &quot;-&quot;??_ ;_-@_ ">
                  <c:v>941.40598199999999</c:v>
                </c:pt>
                <c:pt idx="5" formatCode="_-[$$-409]* #,##0_ ;_-[$$-409]* \-#,##0\ ;_-[$$-409]* &quot;-&quot;??_ ;_-@_ ">
                  <c:v>6273.8043225000001</c:v>
                </c:pt>
                <c:pt idx="6" formatCode="_-[$$-409]* #,##0_ ;_-[$$-409]* \-#,##0\ ;_-[$$-409]* &quot;-&quot;??_ ;_-@_ ">
                  <c:v>3893</c:v>
                </c:pt>
                <c:pt idx="7" formatCode="_-[$$-409]* #,##0_ ;_-[$$-409]* \-#,##0\ ;_-[$$-409]* &quot;-&quot;??_ ;_-@_ ">
                  <c:v>3636.9663165000002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C4-47B2-9765-9C001B49A480}"/>
            </c:ext>
          </c:extLst>
        </c:ser>
        <c:ser>
          <c:idx val="2"/>
          <c:order val="1"/>
          <c:tx>
            <c:strRef>
              <c:f>'Open AI Services'!$A$3</c:f>
              <c:strCache>
                <c:ptCount val="1"/>
                <c:pt idx="0">
                  <c:v>5.4 inp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Services'!$B$3:$I$3</c:f>
              <c:numCache>
                <c:formatCode>General</c:formatCode>
                <c:ptCount val="8"/>
                <c:pt idx="4" formatCode="_-[$$-409]* #,##0_ ;_-[$$-409]* \-#,##0\ ;_-[$$-409]* &quot;-&quot;??_ ;_-@_ ">
                  <c:v>1056.2903230000002</c:v>
                </c:pt>
                <c:pt idx="5" formatCode="_-[$$-409]* #,##0_ ;_-[$$-409]* \-#,##0\ ;_-[$$-409]* &quot;-&quot;??_ ;_-@_ ">
                  <c:v>4877.1598122500009</c:v>
                </c:pt>
                <c:pt idx="6" formatCode="_-[$$-409]* #,##0_ ;_-[$$-409]* \-#,##0\ ;_-[$$-409]* &quot;-&quot;??_ ;_-@_ ">
                  <c:v>4947</c:v>
                </c:pt>
                <c:pt idx="7" formatCode="_-[$$-409]* #,##0_ ;_-[$$-409]* \-#,##0\ ;_-[$$-409]* &quot;-&quot;??_ ;_-@_ ">
                  <c:v>3573.1460489999999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C4-47B2-9765-9C001B49A480}"/>
            </c:ext>
          </c:extLst>
        </c:ser>
        <c:ser>
          <c:idx val="3"/>
          <c:order val="2"/>
          <c:tx>
            <c:strRef>
              <c:f>'Open AI Services'!$A$4</c:f>
              <c:strCache>
                <c:ptCount val="1"/>
                <c:pt idx="0">
                  <c:v>S0 Pre-built Pages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Services'!$B$4:$I$4</c:f>
              <c:numCache>
                <c:formatCode>_-[$$-409]* #,##0_ ;_-[$$-409]* \-#,##0\ ;_-[$$-409]* "-"??_ ;_-@_ </c:formatCode>
                <c:ptCount val="8"/>
                <c:pt idx="0">
                  <c:v>804</c:v>
                </c:pt>
                <c:pt idx="1">
                  <c:v>385</c:v>
                </c:pt>
                <c:pt idx="2">
                  <c:v>521</c:v>
                </c:pt>
                <c:pt idx="3">
                  <c:v>336.11</c:v>
                </c:pt>
                <c:pt idx="4">
                  <c:v>627.22</c:v>
                </c:pt>
                <c:pt idx="5">
                  <c:v>2035.82</c:v>
                </c:pt>
                <c:pt idx="6" formatCode="General">
                  <c:v>3385.11</c:v>
                </c:pt>
                <c:pt idx="7">
                  <c:v>3321.96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2C4-47B2-9765-9C001B49A480}"/>
            </c:ext>
          </c:extLst>
        </c:ser>
        <c:ser>
          <c:idx val="4"/>
          <c:order val="3"/>
          <c:tx>
            <c:strRef>
              <c:f>'Open AI Services'!$A$5</c:f>
              <c:strCache>
                <c:ptCount val="1"/>
                <c:pt idx="0">
                  <c:v>S0 Custom Pages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Services'!$B$5:$I$5</c:f>
              <c:numCache>
                <c:formatCode>_-[$$-409]* #,##0_ ;_-[$$-409]* \-#,##0\ ;_-[$$-409]* "-"??_ ;_-@_ </c:formatCode>
                <c:ptCount val="8"/>
                <c:pt idx="0">
                  <c:v>3312</c:v>
                </c:pt>
                <c:pt idx="1">
                  <c:v>3720</c:v>
                </c:pt>
                <c:pt idx="2">
                  <c:v>2846</c:v>
                </c:pt>
                <c:pt idx="3">
                  <c:v>1523.49</c:v>
                </c:pt>
                <c:pt idx="4">
                  <c:v>2246.94</c:v>
                </c:pt>
                <c:pt idx="5">
                  <c:v>2764.98</c:v>
                </c:pt>
                <c:pt idx="6" formatCode="General">
                  <c:v>2392.3200000000002</c:v>
                </c:pt>
                <c:pt idx="7">
                  <c:v>1807.83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2C4-47B2-9765-9C001B49A480}"/>
            </c:ext>
          </c:extLst>
        </c:ser>
        <c:ser>
          <c:idx val="5"/>
          <c:order val="4"/>
          <c:tx>
            <c:strRef>
              <c:f>'Open AI Services'!$A$6</c:f>
              <c:strCache>
                <c:ptCount val="1"/>
                <c:pt idx="0">
                  <c:v>S0 Add-on for Pages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Services'!$B$6:$I$6</c:f>
              <c:numCache>
                <c:formatCode>General</c:formatCode>
                <c:ptCount val="8"/>
                <c:pt idx="5" formatCode="_-[$$-409]* #,##0_ ;_-[$$-409]* \-#,##0\ ;_-[$$-409]* &quot;-&quot;??_ ;_-@_ ">
                  <c:v>776.05200000000002</c:v>
                </c:pt>
                <c:pt idx="6">
                  <c:v>1293.3</c:v>
                </c:pt>
                <c:pt idx="7" formatCode="_-[$$-409]* #,##0_ ;_-[$$-409]* \-#,##0\ ;_-[$$-409]* &quot;-&quot;??_ ;_-@_ ">
                  <c:v>1042.26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2C4-47B2-9765-9C001B49A480}"/>
            </c:ext>
          </c:extLst>
        </c:ser>
        <c:ser>
          <c:idx val="6"/>
          <c:order val="5"/>
          <c:tx>
            <c:strRef>
              <c:f>'Open AI Services'!$A$7</c:f>
              <c:strCache>
                <c:ptCount val="1"/>
                <c:pt idx="0">
                  <c:v>GPT 5.1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Services'!$B$7:$I$7</c:f>
              <c:numCache>
                <c:formatCode>General</c:formatCode>
                <c:ptCount val="8"/>
                <c:pt idx="2" formatCode="_-[$$-409]* #,##0_ ;_-[$$-409]* \-#,##0\ ;_-[$$-409]* &quot;-&quot;??_ ;_-@_ ">
                  <c:v>22.617163747999999</c:v>
                </c:pt>
                <c:pt idx="3" formatCode="_-[$$-409]* #,##0_ ;_-[$$-409]* \-#,##0\ ;_-[$$-409]* &quot;-&quot;??_ ;_-@_ ">
                  <c:v>0.21248590000000001</c:v>
                </c:pt>
                <c:pt idx="4" formatCode="_-[$$-409]* #,##0_ ;_-[$$-409]* \-#,##0\ ;_-[$$-409]* &quot;-&quot;??_ ;_-@_ ">
                  <c:v>220</c:v>
                </c:pt>
                <c:pt idx="5" formatCode="_-[$$-409]* #,##0_ ;_-[$$-409]* \-#,##0\ ;_-[$$-409]* &quot;-&quot;??_ ;_-@_ ">
                  <c:v>1946</c:v>
                </c:pt>
                <c:pt idx="6" formatCode="_-[$$-409]* #,##0_ ;_-[$$-409]* \-#,##0\ ;_-[$$-409]* &quot;-&quot;??_ ;_-@_ ">
                  <c:v>1204</c:v>
                </c:pt>
                <c:pt idx="7" formatCode="_-[$$-409]* #,##0_ ;_-[$$-409]* \-#,##0\ ;_-[$$-409]* &quot;-&quot;??_ ;_-@_ ">
                  <c:v>758.25119699999993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2C4-47B2-9765-9C001B49A480}"/>
            </c:ext>
          </c:extLst>
        </c:ser>
        <c:ser>
          <c:idx val="7"/>
          <c:order val="6"/>
          <c:tx>
            <c:strRef>
              <c:f>'Open AI Services'!$A$8</c:f>
              <c:strCache>
                <c:ptCount val="1"/>
                <c:pt idx="0">
                  <c:v>5.6 terra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Services'!$B$8:$I$8</c:f>
              <c:numCache>
                <c:formatCode>mmm\-yy</c:formatCode>
                <c:ptCount val="8"/>
                <c:pt idx="6" formatCode="_-[$$-409]* #,##0_ ;_-[$$-409]* \-#,##0\ ;_-[$$-409]* &quot;-&quot;??_ ;_-@_ ">
                  <c:v>586</c:v>
                </c:pt>
                <c:pt idx="7" formatCode="_-[$$-409]* #,##0_ ;_-[$$-409]* \-#,##0\ ;_-[$$-409]* &quot;-&quot;??_ ;_-@_ ">
                  <c:v>613.09541502000002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2C4-47B2-9765-9C001B49A480}"/>
            </c:ext>
          </c:extLst>
        </c:ser>
        <c:ser>
          <c:idx val="8"/>
          <c:order val="7"/>
          <c:tx>
            <c:strRef>
              <c:f>'Open AI Services'!$A$9</c:f>
              <c:strCache>
                <c:ptCount val="1"/>
                <c:pt idx="0">
                  <c:v>5.6 sol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Services'!$B$9:$I$9</c:f>
              <c:numCache>
                <c:formatCode>mmm\-yy</c:formatCode>
                <c:ptCount val="8"/>
                <c:pt idx="6" formatCode="_-[$$-409]* #,##0_ ;_-[$$-409]* \-#,##0\ ;_-[$$-409]* &quot;-&quot;??_ ;_-@_ ">
                  <c:v>25</c:v>
                </c:pt>
                <c:pt idx="7" formatCode="_-[$$-409]* #,##0_ ;_-[$$-409]* \-#,##0\ ;_-[$$-409]* &quot;-&quot;??_ ;_-@_ ">
                  <c:v>465.95194057499998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2C4-47B2-9765-9C001B49A480}"/>
            </c:ext>
          </c:extLst>
        </c:ser>
        <c:ser>
          <c:idx val="9"/>
          <c:order val="8"/>
          <c:tx>
            <c:strRef>
              <c:f>'Open AI Services'!$A$10</c:f>
              <c:strCache>
                <c:ptCount val="1"/>
                <c:pt idx="0">
                  <c:v>text embedding 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Services'!$B$10:$I$10</c:f>
              <c:numCache>
                <c:formatCode>General</c:formatCode>
                <c:ptCount val="8"/>
                <c:pt idx="2" formatCode="_-[$$-409]* #,##0_ ;_-[$$-409]* \-#,##0\ ;_-[$$-409]* &quot;-&quot;??_ ;_-@_ ">
                  <c:v>23.411836045000001</c:v>
                </c:pt>
                <c:pt idx="3" formatCode="_-[$$-409]* #,##0_ ;_-[$$-409]* \-#,##0\ ;_-[$$-409]* &quot;-&quot;??_ ;_-@_ ">
                  <c:v>26.452451493000002</c:v>
                </c:pt>
                <c:pt idx="4" formatCode="_-[$$-409]* #,##0_ ;_-[$$-409]* \-#,##0\ ;_-[$$-409]* &quot;-&quot;??_ ;_-@_ ">
                  <c:v>7</c:v>
                </c:pt>
                <c:pt idx="5" formatCode="_-[$$-409]* #,##0_ ;_-[$$-409]* \-#,##0\ ;_-[$$-409]* &quot;-&quot;??_ ;_-@_ ">
                  <c:v>169</c:v>
                </c:pt>
                <c:pt idx="6" formatCode="_-[$$-409]* #,##0_ ;_-[$$-409]* \-#,##0\ ;_-[$$-409]* &quot;-&quot;??_ ;_-@_ ">
                  <c:v>238</c:v>
                </c:pt>
                <c:pt idx="7" formatCode="_-[$$-409]* #,##0_ ;_-[$$-409]* \-#,##0\ ;_-[$$-409]* &quot;-&quot;??_ ;_-@_ ">
                  <c:v>260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2C4-47B2-9765-9C001B49A480}"/>
            </c:ext>
          </c:extLst>
        </c:ser>
        <c:ser>
          <c:idx val="10"/>
          <c:order val="9"/>
          <c:tx>
            <c:strRef>
              <c:f>'Open AI Services'!$A$11</c:f>
              <c:strCache>
                <c:ptCount val="1"/>
                <c:pt idx="0">
                  <c:v>gpt 4o 0513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Services'!$B$11:$I$11</c:f>
              <c:numCache>
                <c:formatCode>_-[$$-409]* #,##0_ ;_-[$$-409]* \-#,##0\ ;_-[$$-409]* "-"??_ ;_-@_ </c:formatCode>
                <c:ptCount val="8"/>
                <c:pt idx="0">
                  <c:v>1145</c:v>
                </c:pt>
                <c:pt idx="1">
                  <c:v>1300</c:v>
                </c:pt>
                <c:pt idx="2">
                  <c:v>1060.0201531500002</c:v>
                </c:pt>
                <c:pt idx="3">
                  <c:v>3220.2764750000001</c:v>
                </c:pt>
                <c:pt idx="4">
                  <c:v>917</c:v>
                </c:pt>
                <c:pt idx="5">
                  <c:v>261</c:v>
                </c:pt>
                <c:pt idx="6">
                  <c:v>188</c:v>
                </c:pt>
                <c:pt idx="7">
                  <c:v>209.95908449999999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2C4-47B2-9765-9C001B49A480}"/>
            </c:ext>
          </c:extLst>
        </c:ser>
        <c:ser>
          <c:idx val="11"/>
          <c:order val="10"/>
          <c:tx>
            <c:strRef>
              <c:f>'Open AI Services'!$A$12</c:f>
              <c:strCache>
                <c:ptCount val="1"/>
                <c:pt idx="0">
                  <c:v>5.6 luna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Services'!$B$12:$I$12</c:f>
              <c:numCache>
                <c:formatCode>mmm\-yy</c:formatCode>
                <c:ptCount val="8"/>
                <c:pt idx="6" formatCode="_-[$$-409]* #,##0_ ;_-[$$-409]* \-#,##0\ ;_-[$$-409]* &quot;-&quot;??_ ;_-@_ ">
                  <c:v>215</c:v>
                </c:pt>
                <c:pt idx="7" formatCode="_-[$$-409]* #,##0_ ;_-[$$-409]* \-#,##0\ ;_-[$$-409]* &quot;-&quot;??_ ;_-@_ ">
                  <c:v>171.42060829300004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2C4-47B2-9765-9C001B49A480}"/>
            </c:ext>
          </c:extLst>
        </c:ser>
        <c:ser>
          <c:idx val="12"/>
          <c:order val="11"/>
          <c:tx>
            <c:strRef>
              <c:f>'Open AI Services'!$A$13</c:f>
              <c:strCache>
                <c:ptCount val="1"/>
                <c:pt idx="0">
                  <c:v>S0 Read Pages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Services'!$B$13:$I$13</c:f>
              <c:numCache>
                <c:formatCode>_-[$$-409]* #,##0_ ;_-[$$-409]* \-#,##0\ ;_-[$$-409]* "-"??_ ;_-@_ </c:formatCode>
                <c:ptCount val="8"/>
                <c:pt idx="0">
                  <c:v>9</c:v>
                </c:pt>
                <c:pt idx="1">
                  <c:v>14</c:v>
                </c:pt>
                <c:pt idx="2">
                  <c:v>167</c:v>
                </c:pt>
                <c:pt idx="3">
                  <c:v>263.44080000000002</c:v>
                </c:pt>
                <c:pt idx="4">
                  <c:v>435.99180000000001</c:v>
                </c:pt>
                <c:pt idx="5">
                  <c:v>457.32119999999998</c:v>
                </c:pt>
                <c:pt idx="6" formatCode="General">
                  <c:v>132.102</c:v>
                </c:pt>
                <c:pt idx="7">
                  <c:v>105.9462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42C4-47B2-9765-9C001B49A480}"/>
            </c:ext>
          </c:extLst>
        </c:ser>
        <c:ser>
          <c:idx val="13"/>
          <c:order val="12"/>
          <c:tx>
            <c:strRef>
              <c:f>'Open AI Services'!$A$14</c:f>
              <c:strCache>
                <c:ptCount val="1"/>
                <c:pt idx="0">
                  <c:v>o3 0416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Services'!$B$14:$I$14</c:f>
              <c:numCache>
                <c:formatCode>_-[$$-409]* #,##0_ ;_-[$$-409]* \-#,##0\ ;_-[$$-409]* "-"??_ ;_-@_ </c:formatCode>
                <c:ptCount val="8"/>
                <c:pt idx="0">
                  <c:v>48.11</c:v>
                </c:pt>
                <c:pt idx="2">
                  <c:v>69.199301599999998</c:v>
                </c:pt>
                <c:pt idx="3">
                  <c:v>47.545495599999995</c:v>
                </c:pt>
                <c:pt idx="4">
                  <c:v>49</c:v>
                </c:pt>
                <c:pt idx="5">
                  <c:v>42</c:v>
                </c:pt>
                <c:pt idx="7">
                  <c:v>81.677365000000009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2C4-47B2-9765-9C001B49A480}"/>
            </c:ext>
          </c:extLst>
        </c:ser>
        <c:ser>
          <c:idx val="14"/>
          <c:order val="13"/>
          <c:tx>
            <c:strRef>
              <c:f>'Open AI Services'!$A$15</c:f>
              <c:strCache>
                <c:ptCount val="1"/>
                <c:pt idx="0">
                  <c:v>Rerank v4 Fast DZ Search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Services'!$B$15:$I$15</c:f>
              <c:numCache>
                <c:formatCode>_-[$$-409]* #,##0_ ;_-[$$-409]* \-#,##0\ ;_-[$$-409]* "-"??_ ;_-@_ </c:formatCode>
                <c:ptCount val="8"/>
                <c:pt idx="6" formatCode="General">
                  <c:v>20</c:v>
                </c:pt>
                <c:pt idx="7">
                  <c:v>80.090999999999994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42C4-47B2-9765-9C001B49A480}"/>
            </c:ext>
          </c:extLst>
        </c:ser>
        <c:ser>
          <c:idx val="15"/>
          <c:order val="14"/>
          <c:tx>
            <c:strRef>
              <c:f>'Open AI Services'!$A$16</c:f>
              <c:strCache>
                <c:ptCount val="1"/>
                <c:pt idx="0">
                  <c:v>OCR 4 DZ Pages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Services'!$B$16:$I$16</c:f>
              <c:numCache>
                <c:formatCode>_-[$$-409]* #,##0_ ;_-[$$-409]* \-#,##0\ ;_-[$$-409]* "-"??_ ;_-@_ </c:formatCode>
                <c:ptCount val="8"/>
                <c:pt idx="6" formatCode="General">
                  <c:v>4.0171999999999999</c:v>
                </c:pt>
                <c:pt idx="7">
                  <c:v>79.917199999999994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2C4-47B2-9765-9C001B49A480}"/>
            </c:ext>
          </c:extLst>
        </c:ser>
        <c:ser>
          <c:idx val="16"/>
          <c:order val="15"/>
          <c:tx>
            <c:strRef>
              <c:f>'Open AI Services'!$A$17</c:f>
              <c:strCache>
                <c:ptCount val="1"/>
                <c:pt idx="0">
                  <c:v>5.4 cd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Services'!$B$17:$I$17</c:f>
              <c:numCache>
                <c:formatCode>General</c:formatCode>
                <c:ptCount val="8"/>
                <c:pt idx="4" formatCode="_-[$$-409]* #,##0_ ;_-[$$-409]* \-#,##0\ ;_-[$$-409]* &quot;-&quot;??_ ;_-@_ ">
                  <c:v>16.196892800000001</c:v>
                </c:pt>
                <c:pt idx="5" formatCode="_-[$$-409]* #,##0_ ;_-[$$-409]* \-#,##0\ ;_-[$$-409]* &quot;-&quot;??_ ;_-@_ ">
                  <c:v>89.640953600000003</c:v>
                </c:pt>
                <c:pt idx="6" formatCode="_-[$$-409]* #,##0_ ;_-[$$-409]* \-#,##0\ ;_-[$$-409]* &quot;-&quot;??_ ;_-@_ ">
                  <c:v>110</c:v>
                </c:pt>
                <c:pt idx="7" formatCode="_-[$$-409]* #,##0_ ;_-[$$-409]* \-#,##0\ ;_-[$$-409]* &quot;-&quot;??_ ;_-@_ ">
                  <c:v>63.634489599999995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42C4-47B2-9765-9C001B49A480}"/>
            </c:ext>
          </c:extLst>
        </c:ser>
        <c:ser>
          <c:idx val="17"/>
          <c:order val="16"/>
          <c:tx>
            <c:strRef>
              <c:f>'Open AI Services'!$A$18</c:f>
              <c:strCache>
                <c:ptCount val="1"/>
                <c:pt idx="0">
                  <c:v>S0 Pages for doc classifier</c:v>
                </c:pt>
              </c:strCache>
            </c:strRef>
          </c:tx>
          <c:spPr>
            <a:solidFill>
              <a:schemeClr val="accent6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Services'!$B$18:$I$18</c:f>
              <c:numCache>
                <c:formatCode>_-[$$-409]* #,##0_ ;_-[$$-409]* \-#,##0\ ;_-[$$-409]* "-"??_ ;_-@_ </c:formatCode>
                <c:ptCount val="8"/>
                <c:pt idx="0">
                  <c:v>18</c:v>
                </c:pt>
                <c:pt idx="1">
                  <c:v>22</c:v>
                </c:pt>
                <c:pt idx="2">
                  <c:v>18</c:v>
                </c:pt>
                <c:pt idx="3">
                  <c:v>29.027999999999999</c:v>
                </c:pt>
                <c:pt idx="4">
                  <c:v>52.551000000000002</c:v>
                </c:pt>
                <c:pt idx="5">
                  <c:v>57.51</c:v>
                </c:pt>
                <c:pt idx="6" formatCode="General">
                  <c:v>54.591000000000001</c:v>
                </c:pt>
                <c:pt idx="7">
                  <c:v>47.354999999999997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2C4-47B2-9765-9C001B49A480}"/>
            </c:ext>
          </c:extLst>
        </c:ser>
        <c:ser>
          <c:idx val="18"/>
          <c:order val="17"/>
          <c:tx>
            <c:strRef>
              <c:f>'Open AI Services'!$A$19</c:f>
              <c:strCache>
                <c:ptCount val="1"/>
                <c:pt idx="0">
                  <c:v>S1 Custom Speech Model Hosting Unit</c:v>
                </c:pt>
              </c:strCache>
            </c:strRef>
          </c:tx>
          <c:spPr>
            <a:solidFill>
              <a:schemeClr val="accent1">
                <a:lumMod val="8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Services'!$B$19:$I$19</c:f>
              <c:numCache>
                <c:formatCode>_-[$$-409]* #,##0_ ;_-[$$-409]* \-#,##0\ ;_-[$$-409]* "-"??_ ;_-@_ </c:formatCode>
                <c:ptCount val="8"/>
                <c:pt idx="0">
                  <c:v>40</c:v>
                </c:pt>
                <c:pt idx="1">
                  <c:v>36</c:v>
                </c:pt>
                <c:pt idx="2">
                  <c:v>40</c:v>
                </c:pt>
                <c:pt idx="3">
                  <c:v>21.909600000000001</c:v>
                </c:pt>
                <c:pt idx="4">
                  <c:v>37.3752</c:v>
                </c:pt>
                <c:pt idx="5">
                  <c:v>38.664000000000001</c:v>
                </c:pt>
                <c:pt idx="6" formatCode="General">
                  <c:v>39.952800000000003</c:v>
                </c:pt>
                <c:pt idx="7">
                  <c:v>38.664000000000001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42C4-47B2-9765-9C001B49A480}"/>
            </c:ext>
          </c:extLst>
        </c:ser>
        <c:ser>
          <c:idx val="19"/>
          <c:order val="18"/>
          <c:tx>
            <c:strRef>
              <c:f>'Open AI Services'!$A$20</c:f>
              <c:strCache>
                <c:ptCount val="1"/>
                <c:pt idx="0">
                  <c:v>5.4 longco</c:v>
                </c:pt>
              </c:strCache>
            </c:strRef>
          </c:tx>
          <c:spPr>
            <a:solidFill>
              <a:schemeClr val="accent2">
                <a:lumMod val="8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Services'!$B$20:$I$20</c:f>
              <c:numCache>
                <c:formatCode>General</c:formatCode>
                <c:ptCount val="8"/>
                <c:pt idx="4" formatCode="_-[$$-409]* #,##0_ ;_-[$$-409]* \-#,##0\ ;_-[$$-409]* &quot;-&quot;??_ ;_-@_ ">
                  <c:v>0</c:v>
                </c:pt>
                <c:pt idx="5" formatCode="_-[$$-409]* #,##0_ ;_-[$$-409]* \-#,##0\ ;_-[$$-409]* &quot;-&quot;??_ ;_-@_ ">
                  <c:v>435</c:v>
                </c:pt>
                <c:pt idx="6" formatCode="_-[$$-409]* #,##0_ ;_-[$$-409]* \-#,##0\ ;_-[$$-409]* &quot;-&quot;??_ ;_-@_ ">
                  <c:v>616</c:v>
                </c:pt>
                <c:pt idx="7" formatCode="_-[$$-409]* #,##0_ ;_-[$$-409]* \-#,##0\ ;_-[$$-409]* &quot;-&quot;??_ ;_-@_ ">
                  <c:v>16.27354025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42C4-47B2-9765-9C001B49A480}"/>
            </c:ext>
          </c:extLst>
        </c:ser>
        <c:ser>
          <c:idx val="20"/>
          <c:order val="19"/>
          <c:tx>
            <c:strRef>
              <c:f>'Open AI Services'!$A$21</c:f>
              <c:strCache>
                <c:ptCount val="1"/>
                <c:pt idx="0">
                  <c:v>gpt 4o 1120</c:v>
                </c:pt>
              </c:strCache>
            </c:strRef>
          </c:tx>
          <c:spPr>
            <a:solidFill>
              <a:schemeClr val="accent3">
                <a:lumMod val="8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Services'!$B$21:$I$21</c:f>
              <c:numCache>
                <c:formatCode>_-[$$-409]* #,##0_ ;_-[$$-409]* \-#,##0\ ;_-[$$-409]* "-"??_ ;_-@_ </c:formatCode>
                <c:ptCount val="8"/>
                <c:pt idx="0">
                  <c:v>6.1099999999999994</c:v>
                </c:pt>
                <c:pt idx="1">
                  <c:v>524</c:v>
                </c:pt>
                <c:pt idx="2">
                  <c:v>2563.7624435499997</c:v>
                </c:pt>
                <c:pt idx="3">
                  <c:v>3081.8193769</c:v>
                </c:pt>
                <c:pt idx="4">
                  <c:v>253</c:v>
                </c:pt>
                <c:pt idx="5">
                  <c:v>663</c:v>
                </c:pt>
                <c:pt idx="6">
                  <c:v>107</c:v>
                </c:pt>
                <c:pt idx="7">
                  <c:v>9.8000000000000007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42C4-47B2-9765-9C001B49A480}"/>
            </c:ext>
          </c:extLst>
        </c:ser>
        <c:ser>
          <c:idx val="21"/>
          <c:order val="20"/>
          <c:tx>
            <c:strRef>
              <c:f>'Open AI Services'!$A$22</c:f>
              <c:strCache>
                <c:ptCount val="1"/>
                <c:pt idx="0">
                  <c:v>S0 Training </c:v>
                </c:pt>
              </c:strCache>
            </c:strRef>
          </c:tx>
          <c:spPr>
            <a:solidFill>
              <a:schemeClr val="accent4">
                <a:lumMod val="8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Services'!$B$22:$I$22</c:f>
              <c:numCache>
                <c:formatCode>_-[$$-409]* #,##0_ ;_-[$$-409]* \-#,##0\ ;_-[$$-409]* "-"??_ ;_-@_ </c:formatCode>
                <c:ptCount val="8"/>
                <c:pt idx="0">
                  <c:v>88</c:v>
                </c:pt>
                <c:pt idx="1">
                  <c:v>147</c:v>
                </c:pt>
                <c:pt idx="5">
                  <c:v>22.5</c:v>
                </c:pt>
                <c:pt idx="6" formatCode="General">
                  <c:v>19.5</c:v>
                </c:pt>
                <c:pt idx="7" formatCode="General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42C4-47B2-9765-9C001B49A480}"/>
            </c:ext>
          </c:extLst>
        </c:ser>
        <c:ser>
          <c:idx val="22"/>
          <c:order val="21"/>
          <c:tx>
            <c:strRef>
              <c:f>'Open AI Services'!$A$23</c:f>
              <c:strCache>
                <c:ptCount val="1"/>
                <c:pt idx="0">
                  <c:v>5.5 ShortCo</c:v>
                </c:pt>
              </c:strCache>
            </c:strRef>
          </c:tx>
          <c:spPr>
            <a:solidFill>
              <a:schemeClr val="accent5">
                <a:lumMod val="8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Services'!$B$23:$I$23</c:f>
              <c:numCache>
                <c:formatCode>General</c:formatCode>
                <c:ptCount val="8"/>
                <c:pt idx="4" formatCode="_-[$$-409]* #,##0_ ;_-[$$-409]* \-#,##0\ ;_-[$$-409]* &quot;-&quot;??_ ;_-@_ ">
                  <c:v>0</c:v>
                </c:pt>
                <c:pt idx="5" formatCode="_-[$$-409]* #,##0_ ;_-[$$-409]* \-#,##0\ ;_-[$$-409]* &quot;-&quot;??_ ;_-@_ ">
                  <c:v>15</c:v>
                </c:pt>
                <c:pt idx="6" formatCode="_-[$$-409]* #,##0_ ;_-[$$-409]* \-#,##0\ ;_-[$$-409]* &quot;-&quot;??_ ;_-@_ ">
                  <c:v>9.5</c:v>
                </c:pt>
                <c:pt idx="7" formatCode="_-[$$-409]* #,##0_ ;_-[$$-409]* \-#,##0\ ;_-[$$-409]* &quot;-&quot;??_ ;_-@_ ">
                  <c:v>2.7199623000000002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42C4-47B2-9765-9C001B49A480}"/>
            </c:ext>
          </c:extLst>
        </c:ser>
        <c:ser>
          <c:idx val="23"/>
          <c:order val="22"/>
          <c:tx>
            <c:strRef>
              <c:f>'Open AI Services'!$A$24</c:f>
              <c:strCache>
                <c:ptCount val="1"/>
                <c:pt idx="0">
                  <c:v>gpt 4o 1120 cached</c:v>
                </c:pt>
              </c:strCache>
            </c:strRef>
          </c:tx>
          <c:spPr>
            <a:solidFill>
              <a:schemeClr val="accent6">
                <a:lumMod val="8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Services'!$B$24:$I$24</c:f>
              <c:numCache>
                <c:formatCode>_-[$$-409]* #,##0_ ;_-[$$-409]* \-#,##0\ ;_-[$$-409]* "-"??_ ;_-@_ </c:formatCode>
                <c:ptCount val="8"/>
                <c:pt idx="1">
                  <c:v>144</c:v>
                </c:pt>
                <c:pt idx="2">
                  <c:v>132.99719987199998</c:v>
                </c:pt>
                <c:pt idx="3">
                  <c:v>128.95407462399999</c:v>
                </c:pt>
                <c:pt idx="4">
                  <c:v>16.420000000000002</c:v>
                </c:pt>
                <c:pt idx="5">
                  <c:v>185.4248</c:v>
                </c:pt>
                <c:pt idx="6">
                  <c:v>24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42C4-47B2-9765-9C001B49A480}"/>
            </c:ext>
          </c:extLst>
        </c:ser>
        <c:ser>
          <c:idx val="24"/>
          <c:order val="23"/>
          <c:tx>
            <c:strRef>
              <c:f>'Open AI Services'!$A$25</c:f>
              <c:strCache>
                <c:ptCount val="1"/>
                <c:pt idx="0">
                  <c:v>o3 0416 cached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Services'!$B$25:$I$25</c:f>
              <c:numCache>
                <c:formatCode>General</c:formatCode>
                <c:ptCount val="8"/>
                <c:pt idx="2" formatCode="_-[$$-409]* #,##0_ ;_-[$$-409]* \-#,##0\ ;_-[$$-409]* &quot;-&quot;??_ ;_-@_ ">
                  <c:v>1.1993343999999999</c:v>
                </c:pt>
                <c:pt idx="3" formatCode="_-[$$-409]* #,##0_ ;_-[$$-409]* \-#,##0\ ;_-[$$-409]* &quot;-&quot;??_ ;_-@_ ">
                  <c:v>0.5724224</c:v>
                </c:pt>
                <c:pt idx="4" formatCode="_-[$$-409]* #,##0_ ;_-[$$-409]* \-#,##0\ ;_-[$$-409]* &quot;-&quot;??_ ;_-@_ ">
                  <c:v>0.61008640000000003</c:v>
                </c:pt>
                <c:pt idx="5" formatCode="_-[$$-409]* #,##0_ ;_-[$$-409]* \-#,##0\ ;_-[$$-409]* &quot;-&quot;??_ ;_-@_ ">
                  <c:v>0.539968</c:v>
                </c:pt>
                <c:pt idx="6">
                  <c:v>66</c:v>
                </c:pt>
                <c:pt idx="7" formatCode="_-[$$-409]* #,##0_ ;_-[$$-409]* \-#,##0\ ;_-[$$-409]* &quot;-&quot;??_ ;_-@_ 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42C4-47B2-9765-9C001B49A480}"/>
            </c:ext>
          </c:extLst>
        </c:ser>
        <c:ser>
          <c:idx val="25"/>
          <c:order val="24"/>
          <c:tx>
            <c:strRef>
              <c:f>'Open AI Services'!$A$26</c:f>
              <c:strCache>
                <c:ptCount val="1"/>
                <c:pt idx="0">
                  <c:v>Standard Text Records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Services'!$B$26:$I$26</c:f>
              <c:numCache>
                <c:formatCode>_-[$$-409]* #,##0_ ;_-[$$-409]* \-#,##0\ ;_-[$$-409]* "-"??_ ;_-@_ </c:formatCode>
                <c:ptCount val="8"/>
                <c:pt idx="4">
                  <c:v>3.6749999999999998E-2</c:v>
                </c:pt>
                <c:pt idx="5">
                  <c:v>2.9947499999999998</c:v>
                </c:pt>
                <c:pt idx="6" formatCode="General">
                  <c:v>3.2534999999999998</c:v>
                </c:pt>
                <c:pt idx="7">
                  <c:v>0.67649999999999999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42C4-47B2-9765-9C001B49A480}"/>
            </c:ext>
          </c:extLst>
        </c:ser>
        <c:ser>
          <c:idx val="26"/>
          <c:order val="25"/>
          <c:tx>
            <c:strRef>
              <c:f>'Open AI Services'!$A$27</c:f>
              <c:strCache>
                <c:ptCount val="1"/>
                <c:pt idx="0">
                  <c:v>gpt 4.1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Services'!$B$27:$I$27</c:f>
              <c:numCache>
                <c:formatCode>_-[$$-409]* #,##0_ ;_-[$$-409]* \-#,##0\ ;_-[$$-409]* "-"??_ ;_-@_ </c:formatCode>
                <c:ptCount val="8"/>
                <c:pt idx="0">
                  <c:v>13.71</c:v>
                </c:pt>
                <c:pt idx="1">
                  <c:v>82</c:v>
                </c:pt>
                <c:pt idx="2">
                  <c:v>25.040848800000003</c:v>
                </c:pt>
                <c:pt idx="3">
                  <c:v>856.98116020000009</c:v>
                </c:pt>
                <c:pt idx="4">
                  <c:v>2380.1584114000002</c:v>
                </c:pt>
                <c:pt idx="5">
                  <c:v>0.27547959999999999</c:v>
                </c:pt>
                <c:pt idx="7">
                  <c:v>0.55711040000000001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42C4-47B2-9765-9C001B49A480}"/>
            </c:ext>
          </c:extLst>
        </c:ser>
        <c:ser>
          <c:idx val="27"/>
          <c:order val="26"/>
          <c:tx>
            <c:strRef>
              <c:f>'Open AI Services'!$A$28</c:f>
              <c:strCache>
                <c:ptCount val="1"/>
                <c:pt idx="0">
                  <c:v>gpt 4.1 Outp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Services'!$B$28:$I$28</c:f>
              <c:numCache>
                <c:formatCode>_-[$$-409]* #,##0_ ;_-[$$-409]* \-#,##0\ ;_-[$$-409]* "-"??_ ;_-@_ </c:formatCode>
                <c:ptCount val="8"/>
                <c:pt idx="4">
                  <c:v>511.03592320000001</c:v>
                </c:pt>
                <c:pt idx="7">
                  <c:v>0.2169904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42C4-47B2-9765-9C001B49A480}"/>
            </c:ext>
          </c:extLst>
        </c:ser>
        <c:ser>
          <c:idx val="28"/>
          <c:order val="27"/>
          <c:tx>
            <c:strRef>
              <c:f>'Open AI Services'!$A$29</c:f>
              <c:strCache>
                <c:ptCount val="1"/>
                <c:pt idx="0">
                  <c:v>gpt 4o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Services'!$B$29:$I$29</c:f>
              <c:numCache>
                <c:formatCode>_-[$$-409]* #,##0_ ;_-[$$-409]* \-#,##0\ ;_-[$$-409]* "-"??_ ;_-@_ </c:formatCode>
                <c:ptCount val="8"/>
                <c:pt idx="3">
                  <c:v>0.10259072999999999</c:v>
                </c:pt>
                <c:pt idx="7">
                  <c:v>0.2169904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42C4-47B2-9765-9C001B49A480}"/>
            </c:ext>
          </c:extLst>
        </c:ser>
        <c:ser>
          <c:idx val="29"/>
          <c:order val="28"/>
          <c:tx>
            <c:strRef>
              <c:f>'Open AI Services'!$A$30</c:f>
              <c:strCache>
                <c:ptCount val="1"/>
                <c:pt idx="0">
                  <c:v>gpt 4o 0806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Services'!$B$30:$I$30</c:f>
              <c:numCache>
                <c:formatCode>_-[$$-409]* #,##0_ ;_-[$$-409]* \-#,##0\ ;_-[$$-409]* "-"??_ ;_-@_ </c:formatCode>
                <c:ptCount val="8"/>
                <c:pt idx="0">
                  <c:v>120.21</c:v>
                </c:pt>
                <c:pt idx="1">
                  <c:v>80</c:v>
                </c:pt>
                <c:pt idx="2">
                  <c:v>48.24596425</c:v>
                </c:pt>
                <c:pt idx="7">
                  <c:v>0.2169904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42C4-47B2-9765-9C001B49A480}"/>
            </c:ext>
          </c:extLst>
        </c:ser>
        <c:ser>
          <c:idx val="30"/>
          <c:order val="29"/>
          <c:tx>
            <c:strRef>
              <c:f>'Open AI Services'!$A$31</c:f>
              <c:strCache>
                <c:ptCount val="1"/>
                <c:pt idx="0">
                  <c:v>gpt 4o 0806 cached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Services'!$B$31:$I$31</c:f>
              <c:numCache>
                <c:formatCode>_-[$$-409]* #,##0_ ;_-[$$-409]* \-#,##0\ ;_-[$$-409]* "-"??_ ;_-@_ </c:formatCode>
                <c:ptCount val="8"/>
                <c:pt idx="1">
                  <c:v>21</c:v>
                </c:pt>
                <c:pt idx="2">
                  <c:v>11.2615616</c:v>
                </c:pt>
                <c:pt idx="7">
                  <c:v>0.2169904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42C4-47B2-9765-9C001B49A480}"/>
            </c:ext>
          </c:extLst>
        </c:ser>
        <c:ser>
          <c:idx val="31"/>
          <c:order val="30"/>
          <c:tx>
            <c:strRef>
              <c:f>'Open AI Services'!$A$32</c:f>
              <c:strCache>
                <c:ptCount val="1"/>
                <c:pt idx="0">
                  <c:v>gpt 4.1 cached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Services'!$B$32:$I$32</c:f>
              <c:numCache>
                <c:formatCode>General</c:formatCode>
                <c:ptCount val="8"/>
                <c:pt idx="2" formatCode="_-[$$-409]* #,##0_ ;_-[$$-409]* \-#,##0\ ;_-[$$-409]* &quot;-&quot;??_ ;_-@_ ">
                  <c:v>1.4172928</c:v>
                </c:pt>
                <c:pt idx="3" formatCode="_-[$$-409]* #,##0_ ;_-[$$-409]* \-#,##0\ ;_-[$$-409]* &quot;-&quot;??_ ;_-@_ ">
                  <c:v>35.159168000000001</c:v>
                </c:pt>
                <c:pt idx="4" formatCode="_-[$$-409]* #,##0_ ;_-[$$-409]* \-#,##0\ ;_-[$$-409]* &quot;-&quot;??_ ;_-@_ ">
                  <c:v>104.5719488</c:v>
                </c:pt>
                <c:pt idx="5" formatCode="_-[$$-409]* #,##0_ ;_-[$$-409]* \-#,##0\ ;_-[$$-409]* &quot;-&quot;??_ ;_-@_ ">
                  <c:v>0.13502720000000001</c:v>
                </c:pt>
                <c:pt idx="7" formatCode="_-[$$-409]* #,##0_ ;_-[$$-409]* \-#,##0\ ;_-[$$-409]* &quot;-&quot;??_ ;_-@_ ">
                  <c:v>0.15952640000000001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42C4-47B2-9765-9C001B49A480}"/>
            </c:ext>
          </c:extLst>
        </c:ser>
        <c:ser>
          <c:idx val="0"/>
          <c:order val="31"/>
          <c:tx>
            <c:strRef>
              <c:f>'Open AI Services'!$A$33</c:f>
              <c:strCache>
                <c:ptCount val="1"/>
                <c:pt idx="0">
                  <c:v>GPT 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Services'!$B$33:$I$33</c:f>
              <c:numCache>
                <c:formatCode>_-[$$-409]* #,##0_ ;_-[$$-409]* \-#,##0\ ;_-[$$-409]* "-"??_ ;_-@_ </c:formatCode>
                <c:ptCount val="8"/>
                <c:pt idx="0">
                  <c:v>13.65</c:v>
                </c:pt>
                <c:pt idx="1">
                  <c:v>17</c:v>
                </c:pt>
                <c:pt idx="2">
                  <c:v>272.95494159999998</c:v>
                </c:pt>
                <c:pt idx="3">
                  <c:v>971.25697152000009</c:v>
                </c:pt>
                <c:pt idx="4">
                  <c:v>5056</c:v>
                </c:pt>
                <c:pt idx="5">
                  <c:v>494</c:v>
                </c:pt>
                <c:pt idx="6">
                  <c:v>1</c:v>
                </c:pt>
                <c:pt idx="7">
                  <c:v>4.685246500000001E-2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42C4-47B2-9765-9C001B49A480}"/>
            </c:ext>
          </c:extLst>
        </c:ser>
        <c:ser>
          <c:idx val="32"/>
          <c:order val="32"/>
          <c:tx>
            <c:strRef>
              <c:f>'Open AI Services'!$A$34</c:f>
              <c:strCache>
                <c:ptCount val="1"/>
                <c:pt idx="0">
                  <c:v>gpt 4o mini 0718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Services'!$B$34:$I$34</c:f>
              <c:numCache>
                <c:formatCode>General</c:formatCode>
                <c:ptCount val="8"/>
                <c:pt idx="6">
                  <c:v>34</c:v>
                </c:pt>
                <c:pt idx="7" formatCode="_-[$$-409]* #,##0_ ;_-[$$-409]* \-#,##0\ ;_-[$$-409]* &quot;-&quot;??_ ;_-@_ 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0-42C4-47B2-9765-9C001B49A480}"/>
            </c:ext>
          </c:extLst>
        </c:ser>
        <c:ser>
          <c:idx val="33"/>
          <c:order val="33"/>
          <c:tx>
            <c:strRef>
              <c:f>'Open AI Services'!$A$35</c:f>
              <c:strCache>
                <c:ptCount val="1"/>
                <c:pt idx="0">
                  <c:v>Evaluations input tokens Tokens</c:v>
                </c:pt>
              </c:strCache>
            </c:strRef>
          </c:tx>
          <c:spPr>
            <a:solidFill>
              <a:schemeClr val="accent4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Services'!$B$35:$I$35</c:f>
              <c:numCache>
                <c:formatCode>_-[$$-409]* #,##0_ ;_-[$$-409]* \-#,##0\ ;_-[$$-409]* "-"??_ ;_-@_ </c:formatCode>
                <c:ptCount val="8"/>
                <c:pt idx="0">
                  <c:v>135</c:v>
                </c:pt>
                <c:pt idx="1">
                  <c:v>279</c:v>
                </c:pt>
                <c:pt idx="2">
                  <c:v>12</c:v>
                </c:pt>
                <c:pt idx="3">
                  <c:v>0.31163999999999997</c:v>
                </c:pt>
                <c:pt idx="4">
                  <c:v>0</c:v>
                </c:pt>
                <c:pt idx="6" formatCode="General">
                  <c:v>1.4107000000000001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1-42C4-47B2-9765-9C001B49A480}"/>
            </c:ext>
          </c:extLst>
        </c:ser>
        <c:ser>
          <c:idx val="34"/>
          <c:order val="34"/>
          <c:tx>
            <c:strRef>
              <c:f>'Open AI Services'!$A$36</c:f>
              <c:strCache>
                <c:ptCount val="1"/>
                <c:pt idx="0">
                  <c:v>Evaluations Output tokens</c:v>
                </c:pt>
              </c:strCache>
            </c:strRef>
          </c:tx>
          <c:spPr>
            <a:solidFill>
              <a:schemeClr val="accent5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Services'!$B$36:$I$36</c:f>
              <c:numCache>
                <c:formatCode>_-[$$-409]* #,##0_ ;_-[$$-409]* \-#,##0\ ;_-[$$-409]* "-"??_ ;_-@_ </c:formatCode>
                <c:ptCount val="8"/>
                <c:pt idx="0">
                  <c:v>3</c:v>
                </c:pt>
                <c:pt idx="1">
                  <c:v>11</c:v>
                </c:pt>
                <c:pt idx="2">
                  <c:v>0</c:v>
                </c:pt>
                <c:pt idx="6" formatCode="General">
                  <c:v>0.12798000000000001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42C4-47B2-9765-9C001B49A480}"/>
            </c:ext>
          </c:extLst>
        </c:ser>
        <c:ser>
          <c:idx val="35"/>
          <c:order val="35"/>
          <c:tx>
            <c:strRef>
              <c:f>'Open AI Services'!$A$37</c:f>
              <c:strCache>
                <c:ptCount val="1"/>
                <c:pt idx="0">
                  <c:v>GPT 5.2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Services'!$B$37:$I$37</c:f>
              <c:numCache>
                <c:formatCode>_-[$$-409]* #,##0_ ;_-[$$-409]* \-#,##0\ ;_-[$$-409]* "-"??_ ;_-@_ </c:formatCode>
                <c:ptCount val="8"/>
                <c:pt idx="0">
                  <c:v>6.29</c:v>
                </c:pt>
                <c:pt idx="1">
                  <c:v>10</c:v>
                </c:pt>
                <c:pt idx="3">
                  <c:v>7.055125000000001E-2</c:v>
                </c:pt>
                <c:pt idx="4">
                  <c:v>7.055125000000001E-2</c:v>
                </c:pt>
                <c:pt idx="5">
                  <c:v>7.055125000000001E-2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3-42C4-47B2-9765-9C001B49A480}"/>
            </c:ext>
          </c:extLst>
        </c:ser>
        <c:ser>
          <c:idx val="36"/>
          <c:order val="36"/>
          <c:tx>
            <c:strRef>
              <c:f>'Open AI Services'!$A$38</c:f>
              <c:strCache>
                <c:ptCount val="1"/>
                <c:pt idx="0">
                  <c:v>o4-mini 0416</c:v>
                </c:pt>
              </c:strCache>
            </c:strRef>
          </c:tx>
          <c:spPr>
            <a:solidFill>
              <a:schemeClr val="accent1">
                <a:lumMod val="70000"/>
                <a:lumOff val="30000"/>
              </a:schemeClr>
            </a:solidFill>
            <a:ln>
              <a:noFill/>
            </a:ln>
            <a:effectLst/>
          </c:spPr>
          <c:invertIfNegative val="0"/>
          <c:cat>
            <c:numRef>
              <c:f>'Open AI Services'!$B$1:$I$1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'Open AI Services'!$B$38:$I$38</c:f>
              <c:numCache>
                <c:formatCode>General</c:formatCode>
                <c:ptCount val="8"/>
                <c:pt idx="2" formatCode="_-[$$-409]* #,##0_ ;_-[$$-409]* \-#,##0\ ;_-[$$-409]* &quot;-&quot;??_ ;_-@_ ">
                  <c:v>2.3989992400000002</c:v>
                </c:pt>
                <c:pt idx="3" formatCode="_-[$$-409]* #,##0_ ;_-[$$-409]* \-#,##0\ ;_-[$$-409]* &quot;-&quot;??_ ;_-@_ ">
                  <c:v>2.8238980000000004E-2</c:v>
                </c:pt>
                <c:pt idx="4" formatCode="_-[$$-409]* #,##0_ ;_-[$$-409]* \-#,##0\ ;_-[$$-409]* &quot;-&quot;??_ ;_-@_ ">
                  <c:v>2.8238980000000004E-2</c:v>
                </c:pt>
                <c:pt idx="5" formatCode="_-[$$-409]* #,##0_ ;_-[$$-409]* \-#,##0\ ;_-[$$-409]* &quot;-&quot;??_ ;_-@_ ">
                  <c:v>2.8238980000000004E-2</c:v>
                </c:pt>
                <c:pt idx="7" formatCode="_-[$$-409]* #,##0_ ;_-[$$-409]* \-#,##0\ ;_-[$$-409]* &quot;-&quot;??_ ;_-@_ 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4-42C4-47B2-9765-9C001B49A4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93754320"/>
        <c:axId val="1393755280"/>
      </c:barChart>
      <c:dateAx>
        <c:axId val="139375432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393755280"/>
        <c:crosses val="autoZero"/>
        <c:auto val="1"/>
        <c:lblOffset val="100"/>
        <c:baseTimeUnit val="months"/>
      </c:dateAx>
      <c:valAx>
        <c:axId val="1393755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393754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9870802643550117"/>
          <c:y val="0.64779945819542517"/>
          <c:w val="0.79334742176712492"/>
          <c:h val="0.263534852175922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212292213473316"/>
          <c:y val="0.1051945406824147"/>
          <c:w val="0.84732152230971125"/>
          <c:h val="0.6475490841311043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'MP - Bedrock AWS'!$A$2</c:f>
              <c:strCache>
                <c:ptCount val="1"/>
                <c:pt idx="0">
                  <c:v>Claude Opus 4.8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'MP - Bedrock AWS'!$B$1:$G$1</c:f>
              <c:numCache>
                <c:formatCode>mmm\-yy</c:formatCode>
                <c:ptCount val="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</c:numCache>
            </c:numRef>
          </c:cat>
          <c:val>
            <c:numRef>
              <c:f>'MP - Bedrock AWS'!$B$2:$G$2</c:f>
              <c:numCache>
                <c:formatCode>General</c:formatCode>
                <c:ptCount val="6"/>
                <c:pt idx="2" formatCode="_-[$$-409]* #,##0_ ;_-[$$-409]* \-#,##0\ ;_-[$$-409]* &quot;-&quot;??_ ;_-@_ ">
                  <c:v>76.700204350000021</c:v>
                </c:pt>
                <c:pt idx="3" formatCode="_-[$$-409]* #,##0_ ;_-[$$-409]* \-#,##0\ ;_-[$$-409]* &quot;-&quot;??_ ;_-@_ ">
                  <c:v>2024.12</c:v>
                </c:pt>
                <c:pt idx="4" formatCode="_-[$$-409]* #,##0_ ;_-[$$-409]* \-#,##0\ ;_-[$$-409]* &quot;-&quot;??_ ;_-@_ ">
                  <c:v>11361.85579732</c:v>
                </c:pt>
                <c:pt idx="5" formatCode="_-[$$-409]* #,##0_ ;_-[$$-409]* \-#,##0\ ;_-[$$-409]* &quot;-&quot;??_ ;_-@_ ">
                  <c:v>15633.554599300003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4B-4620-871E-F1B55CD700F7}"/>
            </c:ext>
          </c:extLst>
        </c:ser>
        <c:ser>
          <c:idx val="1"/>
          <c:order val="1"/>
          <c:tx>
            <c:strRef>
              <c:f>'MP - Bedrock AWS'!$A$3</c:f>
              <c:strCache>
                <c:ptCount val="1"/>
                <c:pt idx="0">
                  <c:v>Claude Sonnet 4.6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'MP - Bedrock AWS'!$B$1:$G$1</c:f>
              <c:numCache>
                <c:formatCode>mmm\-yy</c:formatCode>
                <c:ptCount val="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</c:numCache>
            </c:numRef>
          </c:cat>
          <c:val>
            <c:numRef>
              <c:f>'MP - Bedrock AWS'!$B$3:$G$3</c:f>
              <c:numCache>
                <c:formatCode>General</c:formatCode>
                <c:ptCount val="6"/>
                <c:pt idx="2" formatCode="_-[$$-409]* #,##0_ ;_-[$$-409]* \-#,##0\ ;_-[$$-409]* &quot;-&quot;??_ ;_-@_ ">
                  <c:v>14.52988086</c:v>
                </c:pt>
                <c:pt idx="3" formatCode="_-[$$-409]* #,##0_ ;_-[$$-409]* \-#,##0\ ;_-[$$-409]* &quot;-&quot;??_ ;_-@_ ">
                  <c:v>540.40800000000002</c:v>
                </c:pt>
                <c:pt idx="4" formatCode="_-[$$-409]* #,##0_ ;_-[$$-409]* \-#,##0\ ;_-[$$-409]* &quot;-&quot;??_ ;_-@_ ">
                  <c:v>688.26465708000001</c:v>
                </c:pt>
                <c:pt idx="5" formatCode="_-[$$-409]* #,##0_ ;_-[$$-409]* \-#,##0\ ;_-[$$-409]* &quot;-&quot;??_ ;_-@_ ">
                  <c:v>9467.9502637500009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4B-4620-871E-F1B55CD700F7}"/>
            </c:ext>
          </c:extLst>
        </c:ser>
        <c:ser>
          <c:idx val="2"/>
          <c:order val="2"/>
          <c:tx>
            <c:strRef>
              <c:f>'MP - Bedrock AWS'!$A$4</c:f>
              <c:strCache>
                <c:ptCount val="1"/>
                <c:pt idx="0">
                  <c:v>Claude Opus 5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'MP - Bedrock AWS'!$B$1:$G$1</c:f>
              <c:numCache>
                <c:formatCode>mmm\-yy</c:formatCode>
                <c:ptCount val="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</c:numCache>
            </c:numRef>
          </c:cat>
          <c:val>
            <c:numRef>
              <c:f>'MP - Bedrock AWS'!$B$4:$G$4</c:f>
              <c:numCache>
                <c:formatCode>General</c:formatCode>
                <c:ptCount val="6"/>
                <c:pt idx="4" formatCode="_-[$$-409]* #,##0_ ;_-[$$-409]* \-#,##0\ ;_-[$$-409]* &quot;-&quot;??_ ;_-@_ ">
                  <c:v>691.44991108000011</c:v>
                </c:pt>
                <c:pt idx="5" formatCode="_-[$$-409]* #,##0_ ;_-[$$-409]* \-#,##0\ ;_-[$$-409]* &quot;-&quot;??_ ;_-@_ ">
                  <c:v>9015.3348114500004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04B-4620-871E-F1B55CD700F7}"/>
            </c:ext>
          </c:extLst>
        </c:ser>
        <c:ser>
          <c:idx val="3"/>
          <c:order val="3"/>
          <c:tx>
            <c:strRef>
              <c:f>'MP - Bedrock AWS'!$A$5</c:f>
              <c:strCache>
                <c:ptCount val="1"/>
                <c:pt idx="0">
                  <c:v>Claude Opus 4.6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'MP - Bedrock AWS'!$B$1:$G$1</c:f>
              <c:numCache>
                <c:formatCode>mmm\-yy</c:formatCode>
                <c:ptCount val="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</c:numCache>
            </c:numRef>
          </c:cat>
          <c:val>
            <c:numRef>
              <c:f>'MP - Bedrock AWS'!$B$5:$G$5</c:f>
              <c:numCache>
                <c:formatCode>General</c:formatCode>
                <c:ptCount val="6"/>
                <c:pt idx="2" formatCode="_-[$$-409]* #,##0_ ;_-[$$-409]* \-#,##0\ ;_-[$$-409]* &quot;-&quot;??_ ;_-@_ ">
                  <c:v>2866.6463916799999</c:v>
                </c:pt>
                <c:pt idx="3" formatCode="_-[$$-409]* #,##0_ ;_-[$$-409]* \-#,##0\ ;_-[$$-409]* &quot;-&quot;??_ ;_-@_ ">
                  <c:v>4806.49</c:v>
                </c:pt>
                <c:pt idx="4" formatCode="_-[$$-409]* #,##0_ ;_-[$$-409]* \-#,##0\ ;_-[$$-409]* &quot;-&quot;??_ ;_-@_ ">
                  <c:v>9873.2235357300015</c:v>
                </c:pt>
                <c:pt idx="5" formatCode="_-[$$-409]* #,##0_ ;_-[$$-409]* \-#,##0\ ;_-[$$-409]* &quot;-&quot;??_ ;_-@_ ">
                  <c:v>8729.9769389300018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04B-4620-871E-F1B55CD700F7}"/>
            </c:ext>
          </c:extLst>
        </c:ser>
        <c:ser>
          <c:idx val="4"/>
          <c:order val="4"/>
          <c:tx>
            <c:strRef>
              <c:f>'MP - Bedrock AWS'!$A$6</c:f>
              <c:strCache>
                <c:ptCount val="1"/>
                <c:pt idx="0">
                  <c:v>Claude Sonnet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'MP - Bedrock AWS'!$B$1:$G$1</c:f>
              <c:numCache>
                <c:formatCode>mmm\-yy</c:formatCode>
                <c:ptCount val="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</c:numCache>
            </c:numRef>
          </c:cat>
          <c:val>
            <c:numRef>
              <c:f>'MP - Bedrock AWS'!$B$6:$G$6</c:f>
              <c:numCache>
                <c:formatCode>General</c:formatCode>
                <c:ptCount val="6"/>
                <c:pt idx="5" formatCode="_-[$$-409]* #,##0_ ;_-[$$-409]* \-#,##0\ ;_-[$$-409]* &quot;-&quot;??_ ;_-@_ ">
                  <c:v>877.60736316000009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4B-4620-871E-F1B55CD700F7}"/>
            </c:ext>
          </c:extLst>
        </c:ser>
        <c:ser>
          <c:idx val="5"/>
          <c:order val="5"/>
          <c:tx>
            <c:strRef>
              <c:f>'MP - Bedrock AWS'!$A$7</c:f>
              <c:strCache>
                <c:ptCount val="1"/>
                <c:pt idx="0">
                  <c:v>Claude Opus 4.7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'MP - Bedrock AWS'!$B$1:$G$1</c:f>
              <c:numCache>
                <c:formatCode>mmm\-yy</c:formatCode>
                <c:ptCount val="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</c:numCache>
            </c:numRef>
          </c:cat>
          <c:val>
            <c:numRef>
              <c:f>'MP - Bedrock AWS'!$B$7:$G$7</c:f>
              <c:numCache>
                <c:formatCode>General</c:formatCode>
                <c:ptCount val="6"/>
                <c:pt idx="2" formatCode="_-[$$-409]* #,##0_ ;_-[$$-409]* \-#,##0\ ;_-[$$-409]* &quot;-&quot;??_ ;_-@_ ">
                  <c:v>786.78735876999986</c:v>
                </c:pt>
                <c:pt idx="3" formatCode="_-[$$-409]* #,##0_ ;_-[$$-409]* \-#,##0\ ;_-[$$-409]* &quot;-&quot;??_ ;_-@_ ">
                  <c:v>2917.83</c:v>
                </c:pt>
                <c:pt idx="4" formatCode="_-[$$-409]* #,##0_ ;_-[$$-409]* \-#,##0\ ;_-[$$-409]* &quot;-&quot;??_ ;_-@_ ">
                  <c:v>2438.4801119199997</c:v>
                </c:pt>
                <c:pt idx="5" formatCode="_-[$$-409]* #,##0_ ;_-[$$-409]* \-#,##0\ ;_-[$$-409]* &quot;-&quot;??_ ;_-@_ ">
                  <c:v>805.5850451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04B-4620-871E-F1B55CD700F7}"/>
            </c:ext>
          </c:extLst>
        </c:ser>
        <c:ser>
          <c:idx val="6"/>
          <c:order val="6"/>
          <c:tx>
            <c:strRef>
              <c:f>'MP - Bedrock AWS'!$A$8</c:f>
              <c:strCache>
                <c:ptCount val="1"/>
                <c:pt idx="0">
                  <c:v>Claude Haiku 4.5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'MP - Bedrock AWS'!$B$1:$G$1</c:f>
              <c:numCache>
                <c:formatCode>mmm\-yy</c:formatCode>
                <c:ptCount val="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</c:numCache>
            </c:numRef>
          </c:cat>
          <c:val>
            <c:numRef>
              <c:f>'MP - Bedrock AWS'!$B$8:$G$8</c:f>
              <c:numCache>
                <c:formatCode>General</c:formatCode>
                <c:ptCount val="6"/>
                <c:pt idx="2" formatCode="_-[$$-409]* #,##0_ ;_-[$$-409]* \-#,##0\ ;_-[$$-409]* &quot;-&quot;??_ ;_-@_ ">
                  <c:v>57.147192300000007</c:v>
                </c:pt>
                <c:pt idx="3" formatCode="_-[$$-409]* #,##0_ ;_-[$$-409]* \-#,##0\ ;_-[$$-409]* &quot;-&quot;??_ ;_-@_ ">
                  <c:v>159.32</c:v>
                </c:pt>
                <c:pt idx="4" formatCode="_-[$$-409]* #,##0_ ;_-[$$-409]* \-#,##0\ ;_-[$$-409]* &quot;-&quot;??_ ;_-@_ ">
                  <c:v>157.36605390000003</c:v>
                </c:pt>
                <c:pt idx="5" formatCode="_-[$$-409]* #,##0_ ;_-[$$-409]* \-#,##0\ ;_-[$$-409]* &quot;-&quot;??_ ;_-@_ ">
                  <c:v>154.22211661999998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04B-4620-871E-F1B55CD700F7}"/>
            </c:ext>
          </c:extLst>
        </c:ser>
        <c:ser>
          <c:idx val="7"/>
          <c:order val="7"/>
          <c:tx>
            <c:strRef>
              <c:f>'MP - Bedrock AWS'!$A$9</c:f>
              <c:strCache>
                <c:ptCount val="1"/>
                <c:pt idx="0">
                  <c:v>Claude Sonnet 4.5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'MP - Bedrock AWS'!$B$1:$G$1</c:f>
              <c:numCache>
                <c:formatCode>mmm\-yy</c:formatCode>
                <c:ptCount val="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</c:numCache>
            </c:numRef>
          </c:cat>
          <c:val>
            <c:numRef>
              <c:f>'MP - Bedrock AWS'!$B$9:$G$9</c:f>
              <c:numCache>
                <c:formatCode>General</c:formatCode>
                <c:ptCount val="6"/>
                <c:pt idx="2" formatCode="_-[$$-409]* #,##0_ ;_-[$$-409]* \-#,##0\ ;_-[$$-409]* &quot;-&quot;??_ ;_-@_ ">
                  <c:v>9.6274188400000025</c:v>
                </c:pt>
                <c:pt idx="3" formatCode="_-[$$-409]* #,##0_ ;_-[$$-409]* \-#,##0\ ;_-[$$-409]* &quot;-&quot;??_ ;_-@_ ">
                  <c:v>58.628</c:v>
                </c:pt>
                <c:pt idx="4" formatCode="_-[$$-409]* #,##0_ ;_-[$$-409]* \-#,##0\ ;_-[$$-409]* &quot;-&quot;??_ ;_-@_ ">
                  <c:v>77.413749599999989</c:v>
                </c:pt>
                <c:pt idx="5" formatCode="_-[$$-409]* #,##0_ ;_-[$$-409]* \-#,##0\ ;_-[$$-409]* &quot;-&quot;??_ ;_-@_ ">
                  <c:v>54.798568439999997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04B-4620-871E-F1B55CD700F7}"/>
            </c:ext>
          </c:extLst>
        </c:ser>
        <c:ser>
          <c:idx val="8"/>
          <c:order val="8"/>
          <c:tx>
            <c:strRef>
              <c:f>'MP - Bedrock AWS'!$A$10</c:f>
              <c:strCache>
                <c:ptCount val="1"/>
                <c:pt idx="0">
                  <c:v>Claude Sonnet 4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'MP - Bedrock AWS'!$B$1:$G$1</c:f>
              <c:numCache>
                <c:formatCode>mmm\-yy</c:formatCode>
                <c:ptCount val="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</c:numCache>
            </c:numRef>
          </c:cat>
          <c:val>
            <c:numRef>
              <c:f>'MP - Bedrock AWS'!$B$10:$G$10</c:f>
              <c:numCache>
                <c:formatCode>General</c:formatCode>
                <c:ptCount val="6"/>
                <c:pt idx="2" formatCode="_-[$$-409]* #,##0_ ;_-[$$-409]* \-#,##0\ ;_-[$$-409]* &quot;-&quot;??_ ;_-@_ ">
                  <c:v>9.0569999999999991E-3</c:v>
                </c:pt>
                <c:pt idx="3" formatCode="_-[$$-409]* #,##0_ ;_-[$$-409]* \-#,##0\ ;_-[$$-409]* &quot;-&quot;??_ ;_-@_ ">
                  <c:v>0</c:v>
                </c:pt>
                <c:pt idx="4" formatCode="_-[$$-409]* #,##0_ ;_-[$$-409]* \-#,##0\ ;_-[$$-409]* &quot;-&quot;??_ ;_-@_ ">
                  <c:v>0.27911624999999995</c:v>
                </c:pt>
                <c:pt idx="5" formatCode="_-[$$-409]* #,##0_ ;_-[$$-409]* \-#,##0\ ;_-[$$-409]* &quot;-&quot;??_ ;_-@_ ">
                  <c:v>6.8730000000000006E-3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04B-4620-871E-F1B55CD700F7}"/>
            </c:ext>
          </c:extLst>
        </c:ser>
        <c:ser>
          <c:idx val="9"/>
          <c:order val="9"/>
          <c:tx>
            <c:strRef>
              <c:f>'MP - Bedrock AWS'!$A$11</c:f>
              <c:strCache>
                <c:ptCount val="1"/>
                <c:pt idx="0">
                  <c:v>Amazon Bedrock Edition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'MP - Bedrock AWS'!$B$1:$G$1</c:f>
              <c:numCache>
                <c:formatCode>mmm\-yy</c:formatCode>
                <c:ptCount val="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</c:numCache>
            </c:numRef>
          </c:cat>
          <c:val>
            <c:numRef>
              <c:f>'MP - Bedrock AWS'!$B$11:$G$11</c:f>
              <c:numCache>
                <c:formatCode>_-[$$-409]* #,##0_ ;_-[$$-409]* \-#,##0\ ;_-[$$-409]* "-"??_ ;_-@_ </c:formatCode>
                <c:ptCount val="6"/>
                <c:pt idx="0">
                  <c:v>841</c:v>
                </c:pt>
                <c:pt idx="1">
                  <c:v>1609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04B-4620-871E-F1B55CD70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93754320"/>
        <c:axId val="1393755280"/>
      </c:barChart>
      <c:dateAx>
        <c:axId val="139375432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393755280"/>
        <c:crosses val="autoZero"/>
        <c:auto val="1"/>
        <c:lblOffset val="100"/>
        <c:baseTimeUnit val="months"/>
      </c:dateAx>
      <c:valAx>
        <c:axId val="1393755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393754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1286307053941904E-2"/>
          <c:y val="0.85753507913941895"/>
          <c:w val="0.81825446813423897"/>
          <c:h val="8.60035154264412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212292213473316"/>
          <c:y val="0.12726859142607175"/>
          <c:w val="0.84732152230971125"/>
          <c:h val="0.4541014144065325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'Harel AI SandBox '!$A$2</c:f>
              <c:strCache>
                <c:ptCount val="1"/>
                <c:pt idx="0">
                  <c:v>Azure Cognitive Search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'Harel AI SandBox 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AI SandBox '!$B$2:$I$2</c:f>
              <c:numCache>
                <c:formatCode>_-[$$-409]* #,##0_ ;_-[$$-409]* \-#,##0\ ;_-[$$-409]* "-"??_ ;_-@_ </c:formatCode>
                <c:ptCount val="8"/>
                <c:pt idx="0">
                  <c:v>37.295999999999999</c:v>
                </c:pt>
                <c:pt idx="1">
                  <c:v>225.792</c:v>
                </c:pt>
                <c:pt idx="2">
                  <c:v>249.98400000000001</c:v>
                </c:pt>
                <c:pt idx="3">
                  <c:v>241.92</c:v>
                </c:pt>
                <c:pt idx="4">
                  <c:v>314.63499999999999</c:v>
                </c:pt>
                <c:pt idx="5">
                  <c:v>314.65600000000001</c:v>
                </c:pt>
                <c:pt idx="6">
                  <c:v>325.12799999999999</c:v>
                </c:pt>
                <c:pt idx="7">
                  <c:v>325.12799999999999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F9-4E6E-860D-8DD722E85664}"/>
            </c:ext>
          </c:extLst>
        </c:ser>
        <c:ser>
          <c:idx val="1"/>
          <c:order val="1"/>
          <c:tx>
            <c:strRef>
              <c:f>'Harel AI SandBox '!$A$3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'Harel AI SandBox 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AI SandBox '!$B$3:$I$3</c:f>
              <c:numCache>
                <c:formatCode>_-[$$-409]* #,##0_ ;_-[$$-409]* \-#,##0\ ;_-[$$-409]* "-"??_ ;_-@_ </c:formatCode>
                <c:ptCount val="8"/>
                <c:pt idx="0">
                  <c:v>204.729662112</c:v>
                </c:pt>
                <c:pt idx="1">
                  <c:v>258.03201840000003</c:v>
                </c:pt>
                <c:pt idx="2">
                  <c:v>285.69440188800002</c:v>
                </c:pt>
                <c:pt idx="3">
                  <c:v>276.54081273600002</c:v>
                </c:pt>
                <c:pt idx="4">
                  <c:v>286.78562352</c:v>
                </c:pt>
                <c:pt idx="5">
                  <c:v>277.419256416</c:v>
                </c:pt>
                <c:pt idx="6">
                  <c:v>286.35202252800002</c:v>
                </c:pt>
                <c:pt idx="7">
                  <c:v>286.53124694399997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F9-4E6E-860D-8DD722E85664}"/>
            </c:ext>
          </c:extLst>
        </c:ser>
        <c:ser>
          <c:idx val="2"/>
          <c:order val="2"/>
          <c:tx>
            <c:strRef>
              <c:f>'Harel AI SandBox '!$A$4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'Harel AI SandBox 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AI SandBox '!$B$4:$I$4</c:f>
              <c:numCache>
                <c:formatCode>_-[$$-409]* #,##0_ ;_-[$$-409]* \-#,##0\ ;_-[$$-409]* "-"??_ ;_-@_ </c:formatCode>
                <c:ptCount val="8"/>
                <c:pt idx="0">
                  <c:v>97.971135130799993</c:v>
                </c:pt>
                <c:pt idx="1">
                  <c:v>132.15460990419999</c:v>
                </c:pt>
                <c:pt idx="2">
                  <c:v>135.53818905</c:v>
                </c:pt>
                <c:pt idx="3">
                  <c:v>135.3928189312</c:v>
                </c:pt>
                <c:pt idx="4">
                  <c:v>130.19461636119999</c:v>
                </c:pt>
                <c:pt idx="5">
                  <c:v>141.57997906439999</c:v>
                </c:pt>
                <c:pt idx="6">
                  <c:v>184.22323461459999</c:v>
                </c:pt>
                <c:pt idx="7">
                  <c:v>183.918300286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DF9-4E6E-860D-8DD722E85664}"/>
            </c:ext>
          </c:extLst>
        </c:ser>
        <c:ser>
          <c:idx val="3"/>
          <c:order val="3"/>
          <c:tx>
            <c:strRef>
              <c:f>'Harel AI SandBox '!$A$5</c:f>
              <c:strCache>
                <c:ptCount val="1"/>
                <c:pt idx="0">
                  <c:v>Event Hubs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'Harel AI SandBox 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AI SandBox '!$B$5:$I$5</c:f>
              <c:numCache>
                <c:formatCode>_-[$$-409]* #,##0_ ;_-[$$-409]* \-#,##0\ ;_-[$$-409]* "-"??_ ;_-@_ </c:formatCode>
                <c:ptCount val="8"/>
                <c:pt idx="0">
                  <c:v>19.2</c:v>
                </c:pt>
                <c:pt idx="1">
                  <c:v>20.16</c:v>
                </c:pt>
                <c:pt idx="2">
                  <c:v>22.32</c:v>
                </c:pt>
                <c:pt idx="3">
                  <c:v>21.6</c:v>
                </c:pt>
                <c:pt idx="4">
                  <c:v>22.32</c:v>
                </c:pt>
                <c:pt idx="5">
                  <c:v>21.6</c:v>
                </c:pt>
                <c:pt idx="6">
                  <c:v>22.32</c:v>
                </c:pt>
                <c:pt idx="7">
                  <c:v>22.32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DF9-4E6E-860D-8DD722E85664}"/>
            </c:ext>
          </c:extLst>
        </c:ser>
        <c:ser>
          <c:idx val="4"/>
          <c:order val="4"/>
          <c:tx>
            <c:strRef>
              <c:f>'Harel AI SandBox '!$A$6</c:f>
              <c:strCache>
                <c:ptCount val="1"/>
                <c:pt idx="0">
                  <c:v>Load Balancer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'Harel AI SandBox 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AI SandBox '!$B$6:$I$6</c:f>
              <c:numCache>
                <c:formatCode>_-[$$-409]* #,##0_ ;_-[$$-409]* \-#,##0\ ;_-[$$-409]* "-"??_ ;_-@_ </c:formatCode>
                <c:ptCount val="8"/>
                <c:pt idx="0">
                  <c:v>21.447069327322801</c:v>
                </c:pt>
                <c:pt idx="1">
                  <c:v>19.706718263421202</c:v>
                </c:pt>
                <c:pt idx="2">
                  <c:v>21.808081463333199</c:v>
                </c:pt>
                <c:pt idx="3">
                  <c:v>21.051195600545</c:v>
                </c:pt>
                <c:pt idx="4">
                  <c:v>21.957736122426599</c:v>
                </c:pt>
                <c:pt idx="5">
                  <c:v>21.291734252097079</c:v>
                </c:pt>
                <c:pt idx="6">
                  <c:v>21.96515024357473</c:v>
                </c:pt>
                <c:pt idx="7">
                  <c:v>21.92711900580213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DF9-4E6E-860D-8DD722E85664}"/>
            </c:ext>
          </c:extLst>
        </c:ser>
        <c:ser>
          <c:idx val="5"/>
          <c:order val="5"/>
          <c:tx>
            <c:strRef>
              <c:f>'Harel AI SandBox '!$A$7</c:f>
              <c:strCache>
                <c:ptCount val="1"/>
                <c:pt idx="0">
                  <c:v>Azure Database for PostgreSQL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'Harel AI SandBox 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AI SandBox '!$B$7:$I$7</c:f>
              <c:numCache>
                <c:formatCode>_-[$$-409]* #,##0_ ;_-[$$-409]* \-#,##0\ ;_-[$$-409]* "-"??_ ;_-@_ </c:formatCode>
                <c:ptCount val="8"/>
                <c:pt idx="0">
                  <c:v>19.186399999999999</c:v>
                </c:pt>
                <c:pt idx="1">
                  <c:v>17.753599999999999</c:v>
                </c:pt>
                <c:pt idx="2">
                  <c:v>19.186399999999999</c:v>
                </c:pt>
                <c:pt idx="3">
                  <c:v>18.7088</c:v>
                </c:pt>
                <c:pt idx="4">
                  <c:v>19.186399999999999</c:v>
                </c:pt>
                <c:pt idx="5">
                  <c:v>18.7088</c:v>
                </c:pt>
                <c:pt idx="6">
                  <c:v>19.18640000000002</c:v>
                </c:pt>
                <c:pt idx="7">
                  <c:v>19.186399999999971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DF9-4E6E-860D-8DD722E85664}"/>
            </c:ext>
          </c:extLst>
        </c:ser>
        <c:ser>
          <c:idx val="6"/>
          <c:order val="6"/>
          <c:tx>
            <c:strRef>
              <c:f>'Harel AI SandBox '!$A$8</c:f>
              <c:strCache>
                <c:ptCount val="1"/>
                <c:pt idx="0">
                  <c:v>Redis Cache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AI SandBox 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AI SandBox '!$B$8:$I$8</c:f>
              <c:numCache>
                <c:formatCode>_-[$$-409]* #,##0_ ;_-[$$-409]* \-#,##0\ ;_-[$$-409]* "-"??_ ;_-@_ </c:formatCode>
                <c:ptCount val="8"/>
                <c:pt idx="0">
                  <c:v>16.367999999999999</c:v>
                </c:pt>
                <c:pt idx="1">
                  <c:v>14.784000000000001</c:v>
                </c:pt>
                <c:pt idx="2">
                  <c:v>16.367999999999999</c:v>
                </c:pt>
                <c:pt idx="3">
                  <c:v>15.84</c:v>
                </c:pt>
                <c:pt idx="4">
                  <c:v>16.346</c:v>
                </c:pt>
                <c:pt idx="5">
                  <c:v>15.84</c:v>
                </c:pt>
                <c:pt idx="6">
                  <c:v>16.367999999999999</c:v>
                </c:pt>
                <c:pt idx="7">
                  <c:v>16.367999999999999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DF9-4E6E-860D-8DD722E85664}"/>
            </c:ext>
          </c:extLst>
        </c:ser>
        <c:ser>
          <c:idx val="7"/>
          <c:order val="7"/>
          <c:tx>
            <c:strRef>
              <c:f>'Harel AI SandBox '!$A$9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AI SandBox 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AI SandBox '!$B$9:$I$9</c:f>
              <c:numCache>
                <c:formatCode>_-[$$-409]* #,##0_ ;_-[$$-409]* \-#,##0\ ;_-[$$-409]* "-"??_ ;_-@_ </c:formatCode>
                <c:ptCount val="8"/>
                <c:pt idx="0">
                  <c:v>9.9502624999999991</c:v>
                </c:pt>
                <c:pt idx="1">
                  <c:v>10.08</c:v>
                </c:pt>
                <c:pt idx="2">
                  <c:v>11.16</c:v>
                </c:pt>
                <c:pt idx="3">
                  <c:v>8.6549999999999994</c:v>
                </c:pt>
                <c:pt idx="4">
                  <c:v>11.16</c:v>
                </c:pt>
                <c:pt idx="5">
                  <c:v>10.8</c:v>
                </c:pt>
                <c:pt idx="6">
                  <c:v>11.16</c:v>
                </c:pt>
                <c:pt idx="7">
                  <c:v>11.16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DF9-4E6E-860D-8DD722E85664}"/>
            </c:ext>
          </c:extLst>
        </c:ser>
        <c:ser>
          <c:idx val="8"/>
          <c:order val="8"/>
          <c:tx>
            <c:strRef>
              <c:f>'Harel AI SandBox '!$A$10</c:f>
              <c:strCache>
                <c:ptCount val="1"/>
                <c:pt idx="0">
                  <c:v>Container Registry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AI SandBox 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AI SandBox '!$B$10:$I$10</c:f>
              <c:numCache>
                <c:formatCode>_-[$$-409]* #,##0_ ;_-[$$-409]* \-#,##0\ ;_-[$$-409]* "-"??_ ;_-@_ </c:formatCode>
                <c:ptCount val="8"/>
                <c:pt idx="0">
                  <c:v>5.1646413168</c:v>
                </c:pt>
                <c:pt idx="1">
                  <c:v>4.6648373184</c:v>
                </c:pt>
                <c:pt idx="2">
                  <c:v>5.1646413168</c:v>
                </c:pt>
                <c:pt idx="3">
                  <c:v>4.998039984</c:v>
                </c:pt>
                <c:pt idx="4">
                  <c:v>5.1646413168</c:v>
                </c:pt>
                <c:pt idx="5">
                  <c:v>4.998039984</c:v>
                </c:pt>
                <c:pt idx="6">
                  <c:v>5.1646413168</c:v>
                </c:pt>
                <c:pt idx="7">
                  <c:v>5.1646413168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DF9-4E6E-860D-8DD722E85664}"/>
            </c:ext>
          </c:extLst>
        </c:ser>
        <c:ser>
          <c:idx val="9"/>
          <c:order val="9"/>
          <c:tx>
            <c:strRef>
              <c:f>'Harel AI SandBox '!$A$11</c:f>
              <c:strCache>
                <c:ptCount val="1"/>
                <c:pt idx="0">
                  <c:v>Foundry Models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AI SandBox 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AI SandBox '!$B$11:$I$11</c:f>
              <c:numCache>
                <c:formatCode>_-[$$-409]* #,##0_ ;_-[$$-409]* \-#,##0\ ;_-[$$-409]* "-"??_ ;_-@_ </c:formatCode>
                <c:ptCount val="8"/>
                <c:pt idx="0">
                  <c:v>2.2387500000000001E-2</c:v>
                </c:pt>
                <c:pt idx="1">
                  <c:v>0.29307388000000001</c:v>
                </c:pt>
                <c:pt idx="4">
                  <c:v>24.676059259999999</c:v>
                </c:pt>
                <c:pt idx="5">
                  <c:v>0.71952419999999995</c:v>
                </c:pt>
                <c:pt idx="6">
                  <c:v>0</c:v>
                </c:pt>
                <c:pt idx="7">
                  <c:v>3.3655214899999999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DF9-4E6E-860D-8DD722E85664}"/>
            </c:ext>
          </c:extLst>
        </c:ser>
        <c:ser>
          <c:idx val="10"/>
          <c:order val="10"/>
          <c:tx>
            <c:strRef>
              <c:f>'Harel AI SandBox '!$A$12</c:f>
              <c:strCache>
                <c:ptCount val="1"/>
                <c:pt idx="0">
                  <c:v>Key Vault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AI SandBox 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AI SandBox '!$B$12:$I$12</c:f>
              <c:numCache>
                <c:formatCode>_-[$$-409]* #,##0_ ;_-[$$-409]* \-#,##0\ ;_-[$$-409]* "-"??_ ;_-@_ </c:formatCode>
                <c:ptCount val="8"/>
                <c:pt idx="0">
                  <c:v>1.103313</c:v>
                </c:pt>
                <c:pt idx="1">
                  <c:v>1.935513</c:v>
                </c:pt>
                <c:pt idx="2">
                  <c:v>2.1430020000000001</c:v>
                </c:pt>
                <c:pt idx="3">
                  <c:v>2.0741100000000001</c:v>
                </c:pt>
                <c:pt idx="4">
                  <c:v>2.1437400000000002</c:v>
                </c:pt>
                <c:pt idx="5">
                  <c:v>2.0738759999999998</c:v>
                </c:pt>
                <c:pt idx="6">
                  <c:v>2.1438359999999999</c:v>
                </c:pt>
                <c:pt idx="7">
                  <c:v>2.1428189999999998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DF9-4E6E-860D-8DD722E85664}"/>
            </c:ext>
          </c:extLst>
        </c:ser>
        <c:ser>
          <c:idx val="11"/>
          <c:order val="11"/>
          <c:tx>
            <c:strRef>
              <c:f>'Harel AI SandBox '!$A$13</c:f>
              <c:strCache>
                <c:ptCount val="1"/>
                <c:pt idx="0">
                  <c:v>Azure DNS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AI SandBox 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AI SandBox '!$B$13:$I$13</c:f>
              <c:numCache>
                <c:formatCode>_-[$$-409]* #,##0_ ;_-[$$-409]* \-#,##0\ ;_-[$$-409]* "-"??_ ;_-@_ </c:formatCode>
                <c:ptCount val="8"/>
                <c:pt idx="0">
                  <c:v>0.44897923751493402</c:v>
                </c:pt>
                <c:pt idx="1">
                  <c:v>0.48222650322580601</c:v>
                </c:pt>
                <c:pt idx="2">
                  <c:v>0.53991199999999995</c:v>
                </c:pt>
                <c:pt idx="3">
                  <c:v>0.51794256774193603</c:v>
                </c:pt>
                <c:pt idx="4">
                  <c:v>0.54317280000000001</c:v>
                </c:pt>
                <c:pt idx="5">
                  <c:v>0.53223896774193558</c:v>
                </c:pt>
                <c:pt idx="6">
                  <c:v>0.54338399999999998</c:v>
                </c:pt>
                <c:pt idx="7">
                  <c:v>0.53956079999999962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DDF9-4E6E-860D-8DD722E85664}"/>
            </c:ext>
          </c:extLst>
        </c:ser>
        <c:ser>
          <c:idx val="12"/>
          <c:order val="12"/>
          <c:tx>
            <c:strRef>
              <c:f>'Harel AI SandBox '!$A$14</c:f>
              <c:strCache>
                <c:ptCount val="1"/>
                <c:pt idx="0">
                  <c:v>Bandwidth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AI SandBox 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AI SandBox '!$B$14:$I$14</c:f>
              <c:numCache>
                <c:formatCode>_-[$$-409]* #,##0_ ;_-[$$-409]* \-#,##0\ ;_-[$$-409]* "-"??_ ;_-@_ </c:formatCode>
                <c:ptCount val="8"/>
                <c:pt idx="0">
                  <c:v>0.16135960192100399</c:v>
                </c:pt>
                <c:pt idx="1">
                  <c:v>0.23899860216441399</c:v>
                </c:pt>
                <c:pt idx="2">
                  <c:v>0.41284276284091198</c:v>
                </c:pt>
                <c:pt idx="3">
                  <c:v>0.34833129659946999</c:v>
                </c:pt>
                <c:pt idx="4">
                  <c:v>0.31732938203859501</c:v>
                </c:pt>
                <c:pt idx="5">
                  <c:v>0.20481364901230839</c:v>
                </c:pt>
                <c:pt idx="6">
                  <c:v>0.2118580091739751</c:v>
                </c:pt>
                <c:pt idx="7">
                  <c:v>0.21299137905665169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DF9-4E6E-860D-8DD722E85664}"/>
            </c:ext>
          </c:extLst>
        </c:ser>
        <c:ser>
          <c:idx val="13"/>
          <c:order val="13"/>
          <c:tx>
            <c:strRef>
              <c:f>'Harel AI SandBox '!$A$15</c:f>
              <c:strCache>
                <c:ptCount val="1"/>
                <c:pt idx="0">
                  <c:v>Azure Monitor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AI SandBox 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AI SandBox '!$B$15:$I$15</c:f>
              <c:numCache>
                <c:formatCode>_-[$$-409]* #,##0_ ;_-[$$-409]* \-#,##0\ ;_-[$$-409]* "-"??_ ;_-@_ </c:formatCode>
                <c:ptCount val="8"/>
                <c:pt idx="0">
                  <c:v>6.4119999999999996E-2</c:v>
                </c:pt>
                <c:pt idx="1">
                  <c:v>6.4119999999999996E-2</c:v>
                </c:pt>
                <c:pt idx="2">
                  <c:v>9.6180000000000002E-2</c:v>
                </c:pt>
                <c:pt idx="3">
                  <c:v>6.4180000000000001E-2</c:v>
                </c:pt>
                <c:pt idx="4">
                  <c:v>6.4180000000000001E-2</c:v>
                </c:pt>
                <c:pt idx="5">
                  <c:v>3.218E-2</c:v>
                </c:pt>
                <c:pt idx="6">
                  <c:v>3.218E-2</c:v>
                </c:pt>
                <c:pt idx="7">
                  <c:v>3.218E-2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DDF9-4E6E-860D-8DD722E85664}"/>
            </c:ext>
          </c:extLst>
        </c:ser>
        <c:ser>
          <c:idx val="14"/>
          <c:order val="14"/>
          <c:tx>
            <c:strRef>
              <c:f>'Harel AI SandBox '!$A$16</c:f>
              <c:strCache>
                <c:ptCount val="1"/>
                <c:pt idx="0">
                  <c:v>Foundry Tools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AI SandBox 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AI SandBox '!$B$16:$I$16</c:f>
              <c:numCache>
                <c:formatCode>_-[$$-409]* #,##0_ ;_-[$$-409]* \-#,##0\ ;_-[$$-409]* "-"??_ ;_-@_ </c:formatCode>
                <c:ptCount val="8"/>
                <c:pt idx="0">
                  <c:v>0.193575</c:v>
                </c:pt>
                <c:pt idx="1">
                  <c:v>0.90149999999999997</c:v>
                </c:pt>
                <c:pt idx="2">
                  <c:v>16.23</c:v>
                </c:pt>
                <c:pt idx="3">
                  <c:v>4.7300000000000004</c:v>
                </c:pt>
                <c:pt idx="4">
                  <c:v>33.181939999999997</c:v>
                </c:pt>
                <c:pt idx="5">
                  <c:v>0</c:v>
                </c:pt>
                <c:pt idx="6">
                  <c:v>0</c:v>
                </c:pt>
                <c:pt idx="7">
                  <c:v>6.0670000000000003E-3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DF9-4E6E-860D-8DD722E85664}"/>
            </c:ext>
          </c:extLst>
        </c:ser>
        <c:ser>
          <c:idx val="15"/>
          <c:order val="15"/>
          <c:tx>
            <c:strRef>
              <c:f>'Harel AI SandBox '!$A$17</c:f>
              <c:strCache>
                <c:ptCount val="1"/>
                <c:pt idx="0">
                  <c:v>Service Bus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AI SandBox 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AI SandBox '!$B$17:$I$17</c:f>
              <c:numCache>
                <c:formatCode>_-[$$-409]* #,##0_ ;_-[$$-409]* \-#,##0\ ;_-[$$-409]* "-"??_ ;_-@_ </c:formatCode>
                <c:ptCount val="8"/>
                <c:pt idx="0">
                  <c:v>2.24E-4</c:v>
                </c:pt>
                <c:pt idx="1">
                  <c:v>1.1519999999999999E-4</c:v>
                </c:pt>
                <c:pt idx="2">
                  <c:v>1.2559999999999999E-4</c:v>
                </c:pt>
                <c:pt idx="3">
                  <c:v>1.2400000000000001E-4</c:v>
                </c:pt>
                <c:pt idx="4">
                  <c:v>1.2640000000000001E-4</c:v>
                </c:pt>
                <c:pt idx="5">
                  <c:v>1.2640000000000001E-4</c:v>
                </c:pt>
                <c:pt idx="6">
                  <c:v>1.2799999999999999E-4</c:v>
                </c:pt>
                <c:pt idx="7">
                  <c:v>1.2799999999999999E-4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DDF9-4E6E-860D-8DD722E85664}"/>
            </c:ext>
          </c:extLst>
        </c:ser>
        <c:ser>
          <c:idx val="16"/>
          <c:order val="16"/>
          <c:tx>
            <c:strRef>
              <c:f>'Harel AI SandBox '!$A$18</c:f>
              <c:strCache>
                <c:ptCount val="1"/>
                <c:pt idx="0">
                  <c:v>Azure App Service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numRef>
              <c:f>'Harel AI SandBox '!$B$1:$I$1</c:f>
              <c:numCache>
                <c:formatCode>mmm\-yy</c:formatCode>
                <c:ptCount val="8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</c:numCache>
            </c:numRef>
          </c:cat>
          <c:val>
            <c:numRef>
              <c:f>'Harel AI SandBox '!$B$18:$I$18</c:f>
              <c:numCache>
                <c:formatCode>_-[$$-409]* #,##0_ ;_-[$$-409]* \-#,##0\ ;_-[$$-409]* "-"??_ ;_-@_ </c:formatCode>
                <c:ptCount val="8"/>
                <c:pt idx="0">
                  <c:v>12.006571178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DDF9-4E6E-860D-8DD722E856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96911311"/>
        <c:axId val="1296928111"/>
      </c:barChart>
      <c:dateAx>
        <c:axId val="1296911311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296928111"/>
        <c:crosses val="autoZero"/>
        <c:auto val="1"/>
        <c:lblOffset val="100"/>
        <c:baseTimeUnit val="months"/>
      </c:dateAx>
      <c:valAx>
        <c:axId val="12969281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2969113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8.1364829396325504E-4"/>
          <c:y val="0.69154709827938177"/>
          <c:w val="0.99837270341207351"/>
          <c:h val="0.3084528433945756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Github by subscription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'github &amp; copilot'!$A$8</c:f>
              <c:strCache>
                <c:ptCount val="1"/>
                <c:pt idx="0">
                  <c:v>Shared resources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'github &amp; copilot'!$B$7:$E$7</c:f>
              <c:numCache>
                <c:formatCode>B1mmm\-yy</c:formatCode>
                <c:ptCount val="4"/>
                <c:pt idx="0">
                  <c:v>46143</c:v>
                </c:pt>
                <c:pt idx="1">
                  <c:v>46174</c:v>
                </c:pt>
                <c:pt idx="2">
                  <c:v>46204</c:v>
                </c:pt>
                <c:pt idx="3">
                  <c:v>46235</c:v>
                </c:pt>
              </c:numCache>
            </c:numRef>
          </c:cat>
          <c:val>
            <c:numRef>
              <c:f>'github &amp; copilot'!$B$8:$E$8</c:f>
              <c:numCache>
                <c:formatCode>_-[$$-409]* #,##0_ ;_-[$$-409]* \-#,##0\ ;_-[$$-409]* "-"??_ ;_-@_ </c:formatCode>
                <c:ptCount val="4"/>
                <c:pt idx="0">
                  <c:v>6467</c:v>
                </c:pt>
                <c:pt idx="1">
                  <c:v>16654</c:v>
                </c:pt>
                <c:pt idx="2">
                  <c:v>19260</c:v>
                </c:pt>
                <c:pt idx="3">
                  <c:v>24028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EF-4F6A-9C0C-B66B0C940C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10621343"/>
        <c:axId val="1410617503"/>
      </c:barChart>
      <c:dateAx>
        <c:axId val="1410621343"/>
        <c:scaling>
          <c:orientation val="minMax"/>
        </c:scaling>
        <c:delete val="0"/>
        <c:axPos val="b"/>
        <c:numFmt formatCode="B1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410617503"/>
        <c:crosses val="autoZero"/>
        <c:auto val="1"/>
        <c:lblOffset val="100"/>
        <c:baseTimeUnit val="months"/>
      </c:dateAx>
      <c:valAx>
        <c:axId val="1410617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410621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Copilot by Subscription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'github &amp; copilot'!$A$3</c:f>
              <c:strCache>
                <c:ptCount val="1"/>
                <c:pt idx="0">
                  <c:v>VdiHorizion Prod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'github &amp; copilot'!$B$2:$E$2</c:f>
              <c:numCache>
                <c:formatCode>B1mmm\-yy</c:formatCode>
                <c:ptCount val="4"/>
                <c:pt idx="0">
                  <c:v>46143</c:v>
                </c:pt>
                <c:pt idx="1">
                  <c:v>46174</c:v>
                </c:pt>
                <c:pt idx="2">
                  <c:v>46204</c:v>
                </c:pt>
                <c:pt idx="3">
                  <c:v>46235</c:v>
                </c:pt>
              </c:numCache>
            </c:numRef>
          </c:cat>
          <c:val>
            <c:numRef>
              <c:f>'github &amp; copilot'!$B$3:$E$3</c:f>
              <c:numCache>
                <c:formatCode>_-[$$-409]* #,##0_ ;_-[$$-409]* \-#,##0\ ;_-[$$-409]* "-"??_ ;_-@_ </c:formatCode>
                <c:ptCount val="4"/>
                <c:pt idx="0">
                  <c:v>80</c:v>
                </c:pt>
                <c:pt idx="3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0B-4CD3-8686-0B524E479201}"/>
            </c:ext>
          </c:extLst>
        </c:ser>
        <c:ser>
          <c:idx val="1"/>
          <c:order val="1"/>
          <c:tx>
            <c:strRef>
              <c:f>'github &amp; copilot'!$A$4</c:f>
              <c:strCache>
                <c:ptCount val="1"/>
                <c:pt idx="0">
                  <c:v>Shared resources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'github &amp; copilot'!$B$2:$E$2</c:f>
              <c:numCache>
                <c:formatCode>B1mmm\-yy</c:formatCode>
                <c:ptCount val="4"/>
                <c:pt idx="0">
                  <c:v>46143</c:v>
                </c:pt>
                <c:pt idx="1">
                  <c:v>46174</c:v>
                </c:pt>
                <c:pt idx="2">
                  <c:v>46204</c:v>
                </c:pt>
                <c:pt idx="3">
                  <c:v>46235</c:v>
                </c:pt>
              </c:numCache>
            </c:numRef>
          </c:cat>
          <c:val>
            <c:numRef>
              <c:f>'github &amp; copilot'!$B$4:$E$4</c:f>
              <c:numCache>
                <c:formatCode>_-[$$-409]* #,##0_ ;_-[$$-409]* \-#,##0\ ;_-[$$-409]* "-"??_ ;_-@_ </c:formatCode>
                <c:ptCount val="4"/>
                <c:pt idx="2">
                  <c:v>8919</c:v>
                </c:pt>
                <c:pt idx="3">
                  <c:v>9840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0B-4CD3-8686-0B524E4792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10621343"/>
        <c:axId val="1410617503"/>
      </c:barChart>
      <c:dateAx>
        <c:axId val="1410621343"/>
        <c:scaling>
          <c:orientation val="minMax"/>
        </c:scaling>
        <c:delete val="0"/>
        <c:axPos val="b"/>
        <c:numFmt formatCode="B1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410617503"/>
        <c:crosses val="autoZero"/>
        <c:auto val="1"/>
        <c:lblOffset val="100"/>
        <c:baseTimeUnit val="months"/>
      </c:dateAx>
      <c:valAx>
        <c:axId val="1410617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410621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עלות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9.32587263522515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E31-4A4F-8A9F-B26D8652C408}"/>
                </c:ext>
              </c:extLst>
            </c:dLbl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0242E"/>
                    </a:solidFill>
                    <a:latin typeface="Arial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Claude Opus 4.6</c:v>
                </c:pt>
                <c:pt idx="1">
                  <c:v>Claude Sonnet 4.5</c:v>
                </c:pt>
                <c:pt idx="2">
                  <c:v>Claude Opus 4.5</c:v>
                </c:pt>
                <c:pt idx="3">
                  <c:v>GPT-5.4</c:v>
                </c:pt>
                <c:pt idx="4">
                  <c:v>GPT-5.3-Codex</c:v>
                </c:pt>
                <c:pt idx="5">
                  <c:v>Claude Haiku 4.5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1846</c:v>
                </c:pt>
                <c:pt idx="1">
                  <c:v>353</c:v>
                </c:pt>
                <c:pt idx="2">
                  <c:v>73</c:v>
                </c:pt>
                <c:pt idx="3">
                  <c:v>77</c:v>
                </c:pt>
                <c:pt idx="4">
                  <c:v>74</c:v>
                </c:pt>
                <c:pt idx="5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B5-4B08-91FC-E60A9096D3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4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77696BD7-E051-4D84-968B-5DD9104F1D29}" type="datetimeFigureOut">
              <a:rPr lang="he-IL" smtClean="0"/>
              <a:t>ד'/תשרי/תשפ"ז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7DEC96ED-7A56-46C9-892D-D114F1A2C2A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436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EC96ED-7A56-46C9-892D-D114F1A2C2A2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89126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EC96ED-7A56-46C9-892D-D114F1A2C2A2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9711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EC96ED-7A56-46C9-892D-D114F1A2C2A2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83330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דף שער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3071802" y="642918"/>
            <a:ext cx="5643602" cy="3000396"/>
          </a:xfrm>
        </p:spPr>
        <p:txBody>
          <a:bodyPr anchor="t">
            <a:noAutofit/>
          </a:bodyPr>
          <a:lstStyle>
            <a:lvl1pPr>
              <a:defRPr sz="6000" b="0"/>
            </a:lvl1pPr>
          </a:lstStyle>
          <a:p>
            <a:r>
              <a:rPr lang="he-IL"/>
              <a:t>לחץ כדי לערוך סגנון כותרת של תבנית בסיס</a:t>
            </a:r>
            <a:endParaRPr lang="he-IL" dirty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357158" y="4572008"/>
            <a:ext cx="8358246" cy="714380"/>
          </a:xfrm>
        </p:spPr>
        <p:txBody>
          <a:bodyPr anchor="ctr">
            <a:noAutofit/>
          </a:bodyPr>
          <a:lstStyle>
            <a:lvl1pPr marL="0" indent="0" algn="r">
              <a:buNone/>
              <a:defRPr sz="4000">
                <a:solidFill>
                  <a:srgbClr val="0B3871"/>
                </a:solidFill>
                <a:latin typeface="ProtocolHarel" pitchFamily="2" charset="-79"/>
                <a:cs typeface="ProtocolHarel" pitchFamily="2" charset="-79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he-I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דף כותרת ותוכן ראש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214282" y="1285860"/>
            <a:ext cx="4286280" cy="5286412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714876" y="1285860"/>
            <a:ext cx="4214842" cy="5286412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1142984"/>
            <a:ext cx="3008313" cy="804859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1142984"/>
            <a:ext cx="5111750" cy="549592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947844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8" name="כותרת 1"/>
          <p:cNvSpPr txBox="1">
            <a:spLocks/>
          </p:cNvSpPr>
          <p:nvPr userDrawn="1"/>
        </p:nvSpPr>
        <p:spPr>
          <a:xfrm>
            <a:off x="1214414" y="214290"/>
            <a:ext cx="7643866" cy="714380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6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otocolHarel" pitchFamily="2" charset="-79"/>
                <a:ea typeface="+mj-ea"/>
                <a:cs typeface="ProtocolHarel" pitchFamily="2" charset="-79"/>
              </a:rPr>
              <a:t>לחץ כדי לערוך סגנון כותרת של תבנית בסיס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דף לבן עם שבשבת תכלת עדין">
    <p:bg>
      <p:bgPr>
        <a:blipFill dpi="0" rotWithShape="1">
          <a:blip r:embed="rId2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142976" y="142852"/>
            <a:ext cx="7786742" cy="714380"/>
          </a:xfrm>
        </p:spPr>
        <p:txBody>
          <a:bodyPr/>
          <a:lstStyle>
            <a:lvl1pPr>
              <a:defRPr>
                <a:solidFill>
                  <a:srgbClr val="0B387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214282" y="1071546"/>
            <a:ext cx="8758270" cy="5572164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5212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557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67"/>
            <a:ext cx="7772400" cy="1470025"/>
          </a:xfrm>
          <a:prstGeom prst="rect">
            <a:avLst/>
          </a:prstGeom>
        </p:spPr>
        <p:txBody>
          <a:bodyPr lIns="91436" tIns="45718" rIns="91436" bIns="45718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lIns="91436" tIns="45718" rIns="91436" bIns="45718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מספר שקופית 5"/>
          <p:cNvSpPr>
            <a:spLocks noGrp="1"/>
          </p:cNvSpPr>
          <p:nvPr>
            <p:ph type="sldNum" sz="quarter" idx="10"/>
          </p:nvPr>
        </p:nvSpPr>
        <p:spPr>
          <a:xfrm>
            <a:off x="6845300" y="6500852"/>
            <a:ext cx="2133600" cy="2206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A059A5-C555-433A-A32F-6856107877FA}" type="slidenum">
              <a:rPr lang="he-IL" altLang="he-IL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he-IL" altLang="he-IL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825284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lIns="91436" tIns="45718" rIns="91436" bIns="45718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1600205"/>
            <a:ext cx="8229600" cy="4525963"/>
          </a:xfrm>
          <a:prstGeom prst="rect">
            <a:avLst/>
          </a:prstGeom>
        </p:spPr>
        <p:txBody>
          <a:bodyPr lIns="91436" tIns="45718" rIns="91436" bIns="45718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מספר שקופית 5"/>
          <p:cNvSpPr>
            <a:spLocks noGrp="1"/>
          </p:cNvSpPr>
          <p:nvPr>
            <p:ph type="sldNum" sz="quarter" idx="10"/>
          </p:nvPr>
        </p:nvSpPr>
        <p:spPr>
          <a:xfrm>
            <a:off x="6845300" y="6500852"/>
            <a:ext cx="2133600" cy="2206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031D5D-DCC9-4DE2-A50B-B50D11A3A839}" type="slidenum">
              <a:rPr lang="he-IL" altLang="he-IL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he-IL" altLang="he-IL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373736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25610" y="2679"/>
            <a:ext cx="8215313" cy="714380"/>
          </a:xfrm>
          <a:prstGeom prst="rect">
            <a:avLst/>
          </a:prstGeom>
        </p:spPr>
        <p:txBody>
          <a:bodyPr lIns="91436" tIns="45718" rIns="91436" bIns="45718"/>
          <a:lstStyle>
            <a:lvl1pPr algn="r">
              <a:defRPr sz="2100" b="1">
                <a:solidFill>
                  <a:schemeClr val="tx1"/>
                </a:solidFill>
                <a:latin typeface="MFProtocolHarel" pitchFamily="2" charset="-79"/>
                <a:ea typeface="Tahoma" pitchFamily="34" charset="0"/>
                <a:cs typeface="+mn-cs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של מספר שקופית 5"/>
          <p:cNvSpPr>
            <a:spLocks noGrp="1"/>
          </p:cNvSpPr>
          <p:nvPr>
            <p:ph type="sldNum" sz="quarter" idx="10"/>
          </p:nvPr>
        </p:nvSpPr>
        <p:spPr>
          <a:xfrm>
            <a:off x="6845300" y="6500852"/>
            <a:ext cx="2133600" cy="2206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54F34C7-78FF-4D4E-99F7-5B16394E8790}" type="slidenum">
              <a:rPr lang="he-IL" altLang="he-IL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he-IL" altLang="he-IL" dirty="0">
              <a:solidFill>
                <a:prstClr val="black"/>
              </a:solidFill>
            </a:endParaRPr>
          </a:p>
        </p:txBody>
      </p:sp>
      <p:pic>
        <p:nvPicPr>
          <p:cNvPr id="164866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8585" y="6193187"/>
            <a:ext cx="1021043" cy="561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63328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ותוספת טקסט בקובי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/>
          <p:cNvSpPr/>
          <p:nvPr userDrawn="1"/>
        </p:nvSpPr>
        <p:spPr>
          <a:xfrm>
            <a:off x="0" y="198439"/>
            <a:ext cx="9144000" cy="646112"/>
          </a:xfrm>
          <a:prstGeom prst="rect">
            <a:avLst/>
          </a:prstGeom>
          <a:solidFill>
            <a:srgbClr val="244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1" anchor="ctr"/>
          <a:lstStyle/>
          <a:p>
            <a:pPr algn="ctr" rtl="0" eaLnBrk="0" hangingPunct="0">
              <a:defRPr/>
            </a:pPr>
            <a:endParaRPr lang="he-IL" sz="1425">
              <a:solidFill>
                <a:prstClr val="white"/>
              </a:solidFill>
            </a:endParaRP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28601" y="204108"/>
            <a:ext cx="7854044" cy="640424"/>
          </a:xfrm>
          <a:prstGeom prst="rect">
            <a:avLst/>
          </a:prstGeom>
        </p:spPr>
        <p:txBody>
          <a:bodyPr lIns="91436" tIns="45718" rIns="91436" bIns="45718"/>
          <a:lstStyle>
            <a:lvl1pPr algn="r">
              <a:defRPr sz="2700" b="1">
                <a:solidFill>
                  <a:schemeClr val="bg1"/>
                </a:solidFill>
                <a:latin typeface="MFProtocolHarel" pitchFamily="2" charset="-79"/>
                <a:ea typeface="Tahoma" pitchFamily="34" charset="0"/>
                <a:cs typeface="MFProtocolHarel" pitchFamily="2" charset="-79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11"/>
          </p:nvPr>
        </p:nvSpPr>
        <p:spPr>
          <a:xfrm>
            <a:off x="369905" y="5141913"/>
            <a:ext cx="8461376" cy="87471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350"/>
              </a:lnSpc>
              <a:buFontTx/>
              <a:buNone/>
              <a:defRPr sz="975">
                <a:solidFill>
                  <a:srgbClr val="3D3D3D"/>
                </a:solidFill>
                <a:latin typeface="MFProtocolHarel" pitchFamily="2" charset="-79"/>
                <a:cs typeface="MFProtocolHarel" pitchFamily="2" charset="-79"/>
              </a:defRPr>
            </a:lvl1pPr>
            <a:lvl2pPr>
              <a:buFontTx/>
              <a:buNone/>
              <a:defRPr sz="1125">
                <a:solidFill>
                  <a:srgbClr val="3D3D3D"/>
                </a:solidFill>
                <a:latin typeface="MFProtocolHarel" pitchFamily="2" charset="-79"/>
                <a:cs typeface="MFProtocolHarel" pitchFamily="2" charset="-79"/>
              </a:defRPr>
            </a:lvl2pPr>
            <a:lvl3pPr>
              <a:buFontTx/>
              <a:buNone/>
              <a:defRPr sz="1125">
                <a:solidFill>
                  <a:srgbClr val="3D3D3D"/>
                </a:solidFill>
                <a:latin typeface="MFProtocolHarel" pitchFamily="2" charset="-79"/>
                <a:cs typeface="MFProtocolHarel" pitchFamily="2" charset="-79"/>
              </a:defRPr>
            </a:lvl3pPr>
            <a:lvl4pPr>
              <a:buFontTx/>
              <a:buNone/>
              <a:defRPr sz="1125">
                <a:solidFill>
                  <a:srgbClr val="3D3D3D"/>
                </a:solidFill>
                <a:latin typeface="MFProtocolHarel" pitchFamily="2" charset="-79"/>
                <a:cs typeface="MFProtocolHarel" pitchFamily="2" charset="-79"/>
              </a:defRPr>
            </a:lvl4pPr>
            <a:lvl5pPr>
              <a:buFontTx/>
              <a:buNone/>
              <a:defRPr sz="1125">
                <a:solidFill>
                  <a:srgbClr val="3D3D3D"/>
                </a:solidFill>
                <a:latin typeface="MFProtocolHarel" pitchFamily="2" charset="-79"/>
                <a:cs typeface="MFProtocolHarel" pitchFamily="2" charset="-79"/>
              </a:defRPr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>
            <a:off x="6845300" y="6500852"/>
            <a:ext cx="2133600" cy="2206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AD1C8C-DAC1-4DB1-A8D4-8FBD39567AE2}" type="slidenum">
              <a:rPr lang="he-IL" altLang="he-IL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he-IL" altLang="he-IL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23170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טקסט נק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>
            <a:off x="6845300" y="6500852"/>
            <a:ext cx="2133600" cy="2206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FA48F6-5741-43D6-A88B-A2550A7725FC}" type="slidenum">
              <a:rPr lang="he-IL" altLang="he-IL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he-IL" altLang="he-IL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881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טקסט נק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>
            <a:off x="6845300" y="6500852"/>
            <a:ext cx="2133600" cy="2206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FA48F6-5741-43D6-A88B-A2550A7725FC}" type="slidenum">
              <a:rPr lang="he-IL" altLang="he-IL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he-IL" altLang="he-IL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13116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מספר שקופית 5"/>
          <p:cNvSpPr>
            <a:spLocks noGrp="1"/>
          </p:cNvSpPr>
          <p:nvPr>
            <p:ph type="sldNum" sz="quarter" idx="10"/>
          </p:nvPr>
        </p:nvSpPr>
        <p:spPr>
          <a:xfrm>
            <a:off x="6975584" y="6558002"/>
            <a:ext cx="2133600" cy="220663"/>
          </a:xfrm>
          <a:prstGeom prst="rect">
            <a:avLst/>
          </a:prstGeom>
        </p:spPr>
        <p:txBody>
          <a:bodyPr/>
          <a:lstStyle>
            <a:lvl1pPr algn="r">
              <a:defRPr sz="750"/>
            </a:lvl1pPr>
          </a:lstStyle>
          <a:p>
            <a:pPr>
              <a:defRPr/>
            </a:pPr>
            <a:fld id="{0529BD72-2E7A-40E0-98AC-80FA925FF791}" type="slidenum">
              <a:rPr lang="he-IL" altLang="he-IL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he-IL" altLang="he-IL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3623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דף לבן עם שבשבת תכלת עדי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142977" y="142854"/>
            <a:ext cx="7786742" cy="714380"/>
          </a:xfrm>
          <a:prstGeom prst="rect">
            <a:avLst/>
          </a:prstGeom>
        </p:spPr>
        <p:txBody>
          <a:bodyPr lIns="91436" tIns="45718" rIns="91436" bIns="45718"/>
          <a:lstStyle>
            <a:lvl1pPr>
              <a:defRPr>
                <a:solidFill>
                  <a:srgbClr val="0B3871"/>
                </a:solidFill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214300" y="1071547"/>
            <a:ext cx="8758271" cy="5572164"/>
          </a:xfrm>
          <a:prstGeom prst="rect">
            <a:avLst/>
          </a:prstGeom>
        </p:spPr>
        <p:txBody>
          <a:bodyPr lIns="91436" tIns="45718" rIns="91436" bIns="45718"/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</p:txBody>
      </p:sp>
    </p:spTree>
    <p:extLst>
      <p:ext uri="{BB962C8B-B14F-4D97-AF65-F5344CB8AC3E}">
        <p14:creationId xmlns:p14="http://schemas.microsoft.com/office/powerpoint/2010/main" val="2385850583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דף ריק לב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121" y="6342915"/>
            <a:ext cx="843836" cy="464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6845300" y="6500852"/>
            <a:ext cx="2133600" cy="220663"/>
          </a:xfrm>
          <a:prstGeom prst="rect">
            <a:avLst/>
          </a:prstGeom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825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4E02F07-86A5-49B8-86A6-A53EB1C1DC54}" type="slidenum">
              <a:rPr lang="he-IL" altLang="he-IL" smtClean="0">
                <a:solidFill>
                  <a:prstClr val="black"/>
                </a:solidFill>
                <a:latin typeface="Cambria" pitchFamily="18" charset="0"/>
                <a:cs typeface="Arial"/>
              </a:rPr>
              <a:pPr>
                <a:defRPr/>
              </a:pPr>
              <a:t>‹#›</a:t>
            </a:fld>
            <a:endParaRPr lang="he-IL" altLang="he-IL" dirty="0">
              <a:solidFill>
                <a:prstClr val="black"/>
              </a:solidFill>
              <a:latin typeface="Cambria" pitchFamily="18" charset="0"/>
              <a:cs typeface="Arial"/>
            </a:endParaRPr>
          </a:p>
        </p:txBody>
      </p:sp>
      <p:sp>
        <p:nvSpPr>
          <p:cNvPr id="5" name="כותרת 1"/>
          <p:cNvSpPr>
            <a:spLocks noGrp="1"/>
          </p:cNvSpPr>
          <p:nvPr>
            <p:ph type="title"/>
          </p:nvPr>
        </p:nvSpPr>
        <p:spPr>
          <a:xfrm>
            <a:off x="825610" y="2679"/>
            <a:ext cx="8215313" cy="714380"/>
          </a:xfrm>
          <a:prstGeom prst="rect">
            <a:avLst/>
          </a:prstGeom>
        </p:spPr>
        <p:txBody>
          <a:bodyPr lIns="91436" tIns="45718" rIns="91436" bIns="45718"/>
          <a:lstStyle>
            <a:lvl1pPr algn="r">
              <a:defRPr sz="2100" b="1">
                <a:solidFill>
                  <a:schemeClr val="tx1"/>
                </a:solidFill>
                <a:latin typeface="MFProtocolHarel" pitchFamily="2" charset="-79"/>
                <a:ea typeface="Tahoma" pitchFamily="34" charset="0"/>
                <a:cs typeface="+mn-cs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1195916267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כותרת ותוספת טקסט בקובי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/>
          <p:cNvSpPr/>
          <p:nvPr userDrawn="1"/>
        </p:nvSpPr>
        <p:spPr>
          <a:xfrm>
            <a:off x="0" y="198439"/>
            <a:ext cx="9144000" cy="646112"/>
          </a:xfrm>
          <a:prstGeom prst="rect">
            <a:avLst/>
          </a:prstGeom>
          <a:solidFill>
            <a:srgbClr val="244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1" anchor="ctr"/>
          <a:lstStyle/>
          <a:p>
            <a:pPr algn="ctr" rtl="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he-IL" sz="1425">
              <a:solidFill>
                <a:prstClr val="white"/>
              </a:solidFill>
            </a:endParaRP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28601" y="204108"/>
            <a:ext cx="7854044" cy="640424"/>
          </a:xfrm>
          <a:prstGeom prst="rect">
            <a:avLst/>
          </a:prstGeom>
        </p:spPr>
        <p:txBody>
          <a:bodyPr lIns="91436" tIns="45718" rIns="91436" bIns="45718"/>
          <a:lstStyle>
            <a:lvl1pPr algn="r">
              <a:defRPr sz="2700" b="1">
                <a:solidFill>
                  <a:schemeClr val="bg1"/>
                </a:solidFill>
                <a:latin typeface="MFProtocolHarel" pitchFamily="2" charset="-79"/>
                <a:ea typeface="Tahoma" pitchFamily="34" charset="0"/>
                <a:cs typeface="MFProtocolHarel" pitchFamily="2" charset="-79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11"/>
          </p:nvPr>
        </p:nvSpPr>
        <p:spPr>
          <a:xfrm>
            <a:off x="369905" y="5141913"/>
            <a:ext cx="8461376" cy="87471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350"/>
              </a:lnSpc>
              <a:buFontTx/>
              <a:buNone/>
              <a:defRPr sz="975">
                <a:solidFill>
                  <a:srgbClr val="3D3D3D"/>
                </a:solidFill>
                <a:latin typeface="MFProtocolHarel" pitchFamily="2" charset="-79"/>
                <a:cs typeface="MFProtocolHarel" pitchFamily="2" charset="-79"/>
              </a:defRPr>
            </a:lvl1pPr>
            <a:lvl2pPr>
              <a:buFontTx/>
              <a:buNone/>
              <a:defRPr sz="1125">
                <a:solidFill>
                  <a:srgbClr val="3D3D3D"/>
                </a:solidFill>
                <a:latin typeface="MFProtocolHarel" pitchFamily="2" charset="-79"/>
                <a:cs typeface="MFProtocolHarel" pitchFamily="2" charset="-79"/>
              </a:defRPr>
            </a:lvl2pPr>
            <a:lvl3pPr>
              <a:buFontTx/>
              <a:buNone/>
              <a:defRPr sz="1125">
                <a:solidFill>
                  <a:srgbClr val="3D3D3D"/>
                </a:solidFill>
                <a:latin typeface="MFProtocolHarel" pitchFamily="2" charset="-79"/>
                <a:cs typeface="MFProtocolHarel" pitchFamily="2" charset="-79"/>
              </a:defRPr>
            </a:lvl3pPr>
            <a:lvl4pPr>
              <a:buFontTx/>
              <a:buNone/>
              <a:defRPr sz="1125">
                <a:solidFill>
                  <a:srgbClr val="3D3D3D"/>
                </a:solidFill>
                <a:latin typeface="MFProtocolHarel" pitchFamily="2" charset="-79"/>
                <a:cs typeface="MFProtocolHarel" pitchFamily="2" charset="-79"/>
              </a:defRPr>
            </a:lvl4pPr>
            <a:lvl5pPr>
              <a:buFontTx/>
              <a:buNone/>
              <a:defRPr sz="1125">
                <a:solidFill>
                  <a:srgbClr val="3D3D3D"/>
                </a:solidFill>
                <a:latin typeface="MFProtocolHarel" pitchFamily="2" charset="-79"/>
                <a:cs typeface="MFProtocolHarel" pitchFamily="2" charset="-79"/>
              </a:defRPr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>
            <a:off x="6845300" y="6500852"/>
            <a:ext cx="2133600" cy="2206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677EF9-4E30-47B8-8019-EC3E92DA4307}" type="slidenum">
              <a:rPr lang="he-IL" altLang="he-IL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he-IL" altLang="he-IL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625698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דף לבן עם שבשבת תכלת עדי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142977" y="142854"/>
            <a:ext cx="7786742" cy="714380"/>
          </a:xfrm>
          <a:prstGeom prst="rect">
            <a:avLst/>
          </a:prstGeom>
        </p:spPr>
        <p:txBody>
          <a:bodyPr lIns="91436" tIns="45718" rIns="91436" bIns="45718"/>
          <a:lstStyle>
            <a:lvl1pPr>
              <a:defRPr>
                <a:solidFill>
                  <a:srgbClr val="0B3871"/>
                </a:solidFill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214300" y="1071547"/>
            <a:ext cx="8758271" cy="5572164"/>
          </a:xfrm>
          <a:prstGeom prst="rect">
            <a:avLst/>
          </a:prstGeom>
        </p:spPr>
        <p:txBody>
          <a:bodyPr lIns="91436" tIns="45718" rIns="91436" bIns="45718"/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</p:txBody>
      </p:sp>
    </p:spTree>
    <p:extLst>
      <p:ext uri="{BB962C8B-B14F-4D97-AF65-F5344CB8AC3E}">
        <p14:creationId xmlns:p14="http://schemas.microsoft.com/office/powerpoint/2010/main" val="2131786089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דף ריק לב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08855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כותרת ותוספת טקסט בקובי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/>
          <p:cNvSpPr/>
          <p:nvPr userDrawn="1"/>
        </p:nvSpPr>
        <p:spPr>
          <a:xfrm>
            <a:off x="0" y="198439"/>
            <a:ext cx="9144000" cy="646112"/>
          </a:xfrm>
          <a:prstGeom prst="rect">
            <a:avLst/>
          </a:prstGeom>
          <a:solidFill>
            <a:srgbClr val="244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1" anchor="ctr"/>
          <a:lstStyle/>
          <a:p>
            <a:pPr algn="ctr" rtl="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he-IL" sz="1425">
              <a:solidFill>
                <a:prstClr val="white"/>
              </a:solidFill>
            </a:endParaRP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28601" y="204108"/>
            <a:ext cx="7854044" cy="640424"/>
          </a:xfrm>
          <a:prstGeom prst="rect">
            <a:avLst/>
          </a:prstGeom>
        </p:spPr>
        <p:txBody>
          <a:bodyPr lIns="91436" tIns="45718" rIns="91436" bIns="45718"/>
          <a:lstStyle>
            <a:lvl1pPr algn="r">
              <a:defRPr sz="2700" b="1">
                <a:solidFill>
                  <a:schemeClr val="bg1"/>
                </a:solidFill>
                <a:latin typeface="MFProtocolHarel" pitchFamily="2" charset="-79"/>
                <a:ea typeface="Tahoma" pitchFamily="34" charset="0"/>
                <a:cs typeface="MFProtocolHarel" pitchFamily="2" charset="-79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11"/>
          </p:nvPr>
        </p:nvSpPr>
        <p:spPr>
          <a:xfrm>
            <a:off x="369905" y="5141913"/>
            <a:ext cx="8461376" cy="87471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350"/>
              </a:lnSpc>
              <a:buFontTx/>
              <a:buNone/>
              <a:defRPr sz="975">
                <a:solidFill>
                  <a:srgbClr val="3D3D3D"/>
                </a:solidFill>
                <a:latin typeface="MFProtocolHarel" pitchFamily="2" charset="-79"/>
                <a:cs typeface="MFProtocolHarel" pitchFamily="2" charset="-79"/>
              </a:defRPr>
            </a:lvl1pPr>
            <a:lvl2pPr>
              <a:buFontTx/>
              <a:buNone/>
              <a:defRPr sz="1125">
                <a:solidFill>
                  <a:srgbClr val="3D3D3D"/>
                </a:solidFill>
                <a:latin typeface="MFProtocolHarel" pitchFamily="2" charset="-79"/>
                <a:cs typeface="MFProtocolHarel" pitchFamily="2" charset="-79"/>
              </a:defRPr>
            </a:lvl2pPr>
            <a:lvl3pPr>
              <a:buFontTx/>
              <a:buNone/>
              <a:defRPr sz="1125">
                <a:solidFill>
                  <a:srgbClr val="3D3D3D"/>
                </a:solidFill>
                <a:latin typeface="MFProtocolHarel" pitchFamily="2" charset="-79"/>
                <a:cs typeface="MFProtocolHarel" pitchFamily="2" charset="-79"/>
              </a:defRPr>
            </a:lvl3pPr>
            <a:lvl4pPr>
              <a:buFontTx/>
              <a:buNone/>
              <a:defRPr sz="1125">
                <a:solidFill>
                  <a:srgbClr val="3D3D3D"/>
                </a:solidFill>
                <a:latin typeface="MFProtocolHarel" pitchFamily="2" charset="-79"/>
                <a:cs typeface="MFProtocolHarel" pitchFamily="2" charset="-79"/>
              </a:defRPr>
            </a:lvl4pPr>
            <a:lvl5pPr>
              <a:buFontTx/>
              <a:buNone/>
              <a:defRPr sz="1125">
                <a:solidFill>
                  <a:srgbClr val="3D3D3D"/>
                </a:solidFill>
                <a:latin typeface="MFProtocolHarel" pitchFamily="2" charset="-79"/>
                <a:cs typeface="MFProtocolHarel" pitchFamily="2" charset="-79"/>
              </a:defRPr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>
            <a:off x="6845300" y="6500852"/>
            <a:ext cx="2133600" cy="2206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677EF9-4E30-47B8-8019-EC3E92DA4307}" type="slidenum">
              <a:rPr lang="he-IL" altLang="he-IL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he-IL" altLang="he-IL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60727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6" y="0"/>
            <a:ext cx="9124121" cy="6858000"/>
          </a:xfrm>
          <a:custGeom>
            <a:avLst/>
            <a:gdLst>
              <a:gd name="connsiteX0" fmla="*/ 6281531 w 12165495"/>
              <a:gd name="connsiteY0" fmla="*/ 0 h 6858000"/>
              <a:gd name="connsiteX1" fmla="*/ 12165495 w 12165495"/>
              <a:gd name="connsiteY1" fmla="*/ 0 h 6858000"/>
              <a:gd name="connsiteX2" fmla="*/ 5307496 w 12165495"/>
              <a:gd name="connsiteY2" fmla="*/ 6858000 h 6858000"/>
              <a:gd name="connsiteX3" fmla="*/ 0 w 12165495"/>
              <a:gd name="connsiteY3" fmla="*/ 6858000 h 6858000"/>
              <a:gd name="connsiteX4" fmla="*/ 0 w 12165495"/>
              <a:gd name="connsiteY4" fmla="*/ 628153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65495" h="6858000">
                <a:moveTo>
                  <a:pt x="6281531" y="0"/>
                </a:moveTo>
                <a:lnTo>
                  <a:pt x="12165495" y="0"/>
                </a:lnTo>
                <a:lnTo>
                  <a:pt x="5307496" y="6858000"/>
                </a:lnTo>
                <a:lnTo>
                  <a:pt x="0" y="6858000"/>
                </a:lnTo>
                <a:lnTo>
                  <a:pt x="0" y="6281530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91436" tIns="45718" rIns="91436" bIns="45718" anchor="ctr">
            <a:noAutofit/>
          </a:bodyPr>
          <a:lstStyle>
            <a:lvl1pPr algn="ctr">
              <a:defRPr sz="675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35252597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6" y="0"/>
            <a:ext cx="9124121" cy="6858000"/>
          </a:xfrm>
          <a:custGeom>
            <a:avLst/>
            <a:gdLst>
              <a:gd name="connsiteX0" fmla="*/ 6281531 w 12165495"/>
              <a:gd name="connsiteY0" fmla="*/ 0 h 6858000"/>
              <a:gd name="connsiteX1" fmla="*/ 12165495 w 12165495"/>
              <a:gd name="connsiteY1" fmla="*/ 0 h 6858000"/>
              <a:gd name="connsiteX2" fmla="*/ 5307496 w 12165495"/>
              <a:gd name="connsiteY2" fmla="*/ 6858000 h 6858000"/>
              <a:gd name="connsiteX3" fmla="*/ 0 w 12165495"/>
              <a:gd name="connsiteY3" fmla="*/ 6858000 h 6858000"/>
              <a:gd name="connsiteX4" fmla="*/ 0 w 12165495"/>
              <a:gd name="connsiteY4" fmla="*/ 628153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65495" h="6858000">
                <a:moveTo>
                  <a:pt x="6281531" y="0"/>
                </a:moveTo>
                <a:lnTo>
                  <a:pt x="12165495" y="0"/>
                </a:lnTo>
                <a:lnTo>
                  <a:pt x="5307496" y="6858000"/>
                </a:lnTo>
                <a:lnTo>
                  <a:pt x="0" y="6858000"/>
                </a:lnTo>
                <a:lnTo>
                  <a:pt x="0" y="6281530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91436" tIns="45718" rIns="91436" bIns="45718" anchor="ctr">
            <a:noAutofit/>
          </a:bodyPr>
          <a:lstStyle>
            <a:lvl1pPr algn="ctr">
              <a:defRPr sz="675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28878636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כותרת ותוספת טקסט בקובי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/>
          <p:cNvSpPr/>
          <p:nvPr userDrawn="1"/>
        </p:nvSpPr>
        <p:spPr>
          <a:xfrm>
            <a:off x="0" y="198439"/>
            <a:ext cx="9144000" cy="646112"/>
          </a:xfrm>
          <a:prstGeom prst="rect">
            <a:avLst/>
          </a:prstGeom>
          <a:solidFill>
            <a:srgbClr val="244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1" anchor="ctr"/>
          <a:lstStyle/>
          <a:p>
            <a:pPr algn="ctr" rtl="0" eaLnBrk="0" hangingPunct="0">
              <a:defRPr/>
            </a:pPr>
            <a:endParaRPr lang="he-IL" sz="1425">
              <a:solidFill>
                <a:prstClr val="white"/>
              </a:solidFill>
            </a:endParaRP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28601" y="204108"/>
            <a:ext cx="7854044" cy="640424"/>
          </a:xfrm>
          <a:prstGeom prst="rect">
            <a:avLst/>
          </a:prstGeom>
        </p:spPr>
        <p:txBody>
          <a:bodyPr lIns="91436" tIns="45718" rIns="91436" bIns="45718"/>
          <a:lstStyle>
            <a:lvl1pPr algn="r">
              <a:defRPr sz="2700" b="1">
                <a:solidFill>
                  <a:schemeClr val="bg1"/>
                </a:solidFill>
                <a:latin typeface="MFProtocolHarel" pitchFamily="2" charset="-79"/>
                <a:ea typeface="Tahoma" pitchFamily="34" charset="0"/>
                <a:cs typeface="MFProtocolHarel" pitchFamily="2" charset="-79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11"/>
          </p:nvPr>
        </p:nvSpPr>
        <p:spPr>
          <a:xfrm>
            <a:off x="369905" y="5141913"/>
            <a:ext cx="8461376" cy="87471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350"/>
              </a:lnSpc>
              <a:buFontTx/>
              <a:buNone/>
              <a:defRPr sz="975">
                <a:solidFill>
                  <a:srgbClr val="3D3D3D"/>
                </a:solidFill>
                <a:latin typeface="MFProtocolHarel" pitchFamily="2" charset="-79"/>
                <a:cs typeface="MFProtocolHarel" pitchFamily="2" charset="-79"/>
              </a:defRPr>
            </a:lvl1pPr>
            <a:lvl2pPr>
              <a:buFontTx/>
              <a:buNone/>
              <a:defRPr sz="1125">
                <a:solidFill>
                  <a:srgbClr val="3D3D3D"/>
                </a:solidFill>
                <a:latin typeface="MFProtocolHarel" pitchFamily="2" charset="-79"/>
                <a:cs typeface="MFProtocolHarel" pitchFamily="2" charset="-79"/>
              </a:defRPr>
            </a:lvl2pPr>
            <a:lvl3pPr>
              <a:buFontTx/>
              <a:buNone/>
              <a:defRPr sz="1125">
                <a:solidFill>
                  <a:srgbClr val="3D3D3D"/>
                </a:solidFill>
                <a:latin typeface="MFProtocolHarel" pitchFamily="2" charset="-79"/>
                <a:cs typeface="MFProtocolHarel" pitchFamily="2" charset="-79"/>
              </a:defRPr>
            </a:lvl3pPr>
            <a:lvl4pPr>
              <a:buFontTx/>
              <a:buNone/>
              <a:defRPr sz="1125">
                <a:solidFill>
                  <a:srgbClr val="3D3D3D"/>
                </a:solidFill>
                <a:latin typeface="MFProtocolHarel" pitchFamily="2" charset="-79"/>
                <a:cs typeface="MFProtocolHarel" pitchFamily="2" charset="-79"/>
              </a:defRPr>
            </a:lvl4pPr>
            <a:lvl5pPr>
              <a:buFontTx/>
              <a:buNone/>
              <a:defRPr sz="1125">
                <a:solidFill>
                  <a:srgbClr val="3D3D3D"/>
                </a:solidFill>
                <a:latin typeface="MFProtocolHarel" pitchFamily="2" charset="-79"/>
                <a:cs typeface="MFProtocolHarel" pitchFamily="2" charset="-79"/>
              </a:defRPr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>
            <a:off x="6845300" y="6500852"/>
            <a:ext cx="2133600" cy="2206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AD1C8C-DAC1-4DB1-A8D4-8FBD39567AE2}" type="slidenum">
              <a:rPr lang="he-IL" altLang="he-IL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he-IL" altLang="he-IL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096851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58440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2581CD-4CC7-4511-8C10-4ED94F96C4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1" y="6356392"/>
            <a:ext cx="2057400" cy="365125"/>
          </a:xfrm>
          <a:prstGeom prst="rect">
            <a:avLst/>
          </a:prstGeom>
        </p:spPr>
        <p:txBody>
          <a:bodyPr lIns="91436" tIns="45718" rIns="91436" bIns="45718"/>
          <a:lstStyle/>
          <a:p>
            <a:fld id="{5954CD30-4CEC-4BF9-AFD5-6940EA4D0410}" type="datetimeFigureOut">
              <a:rPr lang="en-US" smtClean="0">
                <a:solidFill>
                  <a:prstClr val="black"/>
                </a:solidFill>
              </a:rPr>
              <a:pPr/>
              <a:t>9/15/2026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064828-85CC-42F6-AC5D-8D032E88B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1" y="6356392"/>
            <a:ext cx="3086100" cy="365125"/>
          </a:xfrm>
          <a:prstGeom prst="rect">
            <a:avLst/>
          </a:prstGeom>
        </p:spPr>
        <p:txBody>
          <a:bodyPr lIns="91436" tIns="45718" rIns="91436" bIns="45718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7A8B2B-A4A5-4831-B758-A5B75DE9A0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" y="0"/>
            <a:ext cx="4514851" cy="6858000"/>
          </a:xfrm>
          <a:custGeom>
            <a:avLst/>
            <a:gdLst>
              <a:gd name="connsiteX0" fmla="*/ 1524000 w 6019800"/>
              <a:gd name="connsiteY0" fmla="*/ 0 h 6858000"/>
              <a:gd name="connsiteX1" fmla="*/ 6019800 w 6019800"/>
              <a:gd name="connsiteY1" fmla="*/ 0 h 6858000"/>
              <a:gd name="connsiteX2" fmla="*/ 6019800 w 6019800"/>
              <a:gd name="connsiteY2" fmla="*/ 3429000 h 6858000"/>
              <a:gd name="connsiteX3" fmla="*/ 4251158 w 6019800"/>
              <a:gd name="connsiteY3" fmla="*/ 3429000 h 6858000"/>
              <a:gd name="connsiteX4" fmla="*/ 4251158 w 6019800"/>
              <a:gd name="connsiteY4" fmla="*/ 6858000 h 6858000"/>
              <a:gd name="connsiteX5" fmla="*/ 0 w 6019800"/>
              <a:gd name="connsiteY5" fmla="*/ 6858000 h 6858000"/>
              <a:gd name="connsiteX6" fmla="*/ 0 w 6019800"/>
              <a:gd name="connsiteY6" fmla="*/ 3429000 h 6858000"/>
              <a:gd name="connsiteX7" fmla="*/ 1524000 w 6019800"/>
              <a:gd name="connsiteY7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9800" h="6858000">
                <a:moveTo>
                  <a:pt x="1524000" y="0"/>
                </a:moveTo>
                <a:lnTo>
                  <a:pt x="6019800" y="0"/>
                </a:lnTo>
                <a:lnTo>
                  <a:pt x="6019800" y="3429000"/>
                </a:lnTo>
                <a:lnTo>
                  <a:pt x="4251158" y="3429000"/>
                </a:lnTo>
                <a:lnTo>
                  <a:pt x="4251158" y="6858000"/>
                </a:lnTo>
                <a:lnTo>
                  <a:pt x="0" y="6858000"/>
                </a:lnTo>
                <a:lnTo>
                  <a:pt x="0" y="3429000"/>
                </a:lnTo>
                <a:lnTo>
                  <a:pt x="1524000" y="3429000"/>
                </a:lnTo>
                <a:close/>
              </a:path>
            </a:pathLst>
          </a:custGeom>
        </p:spPr>
        <p:txBody>
          <a:bodyPr wrap="square" lIns="91436" tIns="45718" rIns="91436" bIns="45718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20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7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1214414" y="214290"/>
            <a:ext cx="7643866" cy="714380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/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214282" y="1142984"/>
            <a:ext cx="8758270" cy="5500726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6" r:id="rId4"/>
    <p:sldLayoutId id="2147483659" r:id="rId5"/>
    <p:sldLayoutId id="2147483679" r:id="rId6"/>
    <p:sldLayoutId id="2147483680" r:id="rId7"/>
  </p:sldLayoutIdLst>
  <p:hf hdr="0" ftr="0" dt="0"/>
  <p:txStyles>
    <p:titleStyle>
      <a:lvl1pPr algn="r" defTabSz="914400" rtl="1" eaLnBrk="1" latinLnBrk="0" hangingPunct="1">
        <a:spcBef>
          <a:spcPct val="0"/>
        </a:spcBef>
        <a:buNone/>
        <a:defRPr sz="6000" b="0" kern="1200">
          <a:solidFill>
            <a:schemeClr val="bg1"/>
          </a:solidFill>
          <a:latin typeface="ProtocolHarel" pitchFamily="2" charset="-79"/>
          <a:ea typeface="+mj-ea"/>
          <a:cs typeface="ProtocolHarel" pitchFamily="2" charset="-79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Tx/>
        <a:buBlip>
          <a:blip r:embed="rId10"/>
        </a:buBlip>
        <a:defRPr sz="3600" kern="1200">
          <a:solidFill>
            <a:srgbClr val="0B3871"/>
          </a:solidFill>
          <a:latin typeface="ProtocolHarel" pitchFamily="2" charset="-79"/>
          <a:ea typeface="+mn-ea"/>
          <a:cs typeface="ProtocolHarel" pitchFamily="2" charset="-79"/>
        </a:defRPr>
      </a:lvl1pPr>
      <a:lvl2pPr marL="742950" indent="-285750" algn="r" defTabSz="914400" rtl="1" eaLnBrk="1" latinLnBrk="0" hangingPunct="1">
        <a:spcBef>
          <a:spcPct val="20000"/>
        </a:spcBef>
        <a:buFontTx/>
        <a:buBlip>
          <a:blip r:embed="rId11"/>
        </a:buBlip>
        <a:defRPr sz="3200" kern="1200">
          <a:solidFill>
            <a:srgbClr val="0B3871"/>
          </a:solidFill>
          <a:latin typeface="ProtocolHarel" pitchFamily="2" charset="-79"/>
          <a:ea typeface="+mn-ea"/>
          <a:cs typeface="ProtocolHarel" pitchFamily="2" charset="-79"/>
        </a:defRPr>
      </a:lvl2pPr>
      <a:lvl3pPr marL="1143000" indent="-228600" algn="r" defTabSz="914400" rtl="1" eaLnBrk="1" latinLnBrk="0" hangingPunct="1">
        <a:spcBef>
          <a:spcPct val="20000"/>
        </a:spcBef>
        <a:buClr>
          <a:schemeClr val="accent1">
            <a:lumMod val="20000"/>
            <a:lumOff val="80000"/>
          </a:schemeClr>
        </a:buClr>
        <a:buFont typeface="Wingdings" pitchFamily="2" charset="2"/>
        <a:buChar char="§"/>
        <a:defRPr sz="2400" kern="1200">
          <a:solidFill>
            <a:srgbClr val="0B3871"/>
          </a:solidFill>
          <a:latin typeface="ProtocolHarel" pitchFamily="2" charset="-79"/>
          <a:ea typeface="+mn-ea"/>
          <a:cs typeface="ProtocolHarel" pitchFamily="2" charset="-79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 userDrawn="1"/>
        </p:nvSpPr>
        <p:spPr>
          <a:xfrm>
            <a:off x="0" y="-99392"/>
            <a:ext cx="9144000" cy="6957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1" anchor="ctr"/>
          <a:lstStyle/>
          <a:p>
            <a:pPr algn="ctr"/>
            <a:endParaRPr lang="he-IL" sz="1425">
              <a:solidFill>
                <a:prstClr val="white"/>
              </a:solidFill>
            </a:endParaRPr>
          </a:p>
        </p:txBody>
      </p:sp>
      <p:sp>
        <p:nvSpPr>
          <p:cNvPr id="5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107039" y="6500852"/>
            <a:ext cx="2133600" cy="220663"/>
          </a:xfrm>
          <a:prstGeom prst="rect">
            <a:avLst/>
          </a:prstGeom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l" rtl="1" eaLnBrk="1" hangingPunct="1">
              <a:defRPr sz="825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4E02F07-86A5-49B8-86A6-A53EB1C1DC54}" type="slidenum">
              <a:rPr lang="he-IL" altLang="he-IL" smtClean="0">
                <a:solidFill>
                  <a:prstClr val="black"/>
                </a:solidFill>
                <a:latin typeface="Cambria" pitchFamily="18" charset="0"/>
              </a:rPr>
              <a:pPr>
                <a:defRPr/>
              </a:pPr>
              <a:t>‹#›</a:t>
            </a:fld>
            <a:endParaRPr lang="he-IL" altLang="he-IL" dirty="0">
              <a:solidFill>
                <a:prstClr val="black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443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ransition>
    <p:fade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cs typeface="Times New Roman" pitchFamily="18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cs typeface="Times New Roman" pitchFamily="18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cs typeface="Times New Roman" pitchFamily="18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cs typeface="Times New Roman" pitchFamily="18" charset="0"/>
        </a:defRPr>
      </a:lvl5pPr>
      <a:lvl6pPr marL="342884" algn="ctr" rtl="1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cs typeface="Times New Roman" pitchFamily="18" charset="0"/>
        </a:defRPr>
      </a:lvl6pPr>
      <a:lvl7pPr marL="685766" algn="ctr" rtl="1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cs typeface="Times New Roman" pitchFamily="18" charset="0"/>
        </a:defRPr>
      </a:lvl7pPr>
      <a:lvl8pPr marL="1028649" algn="ctr" rtl="1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cs typeface="Times New Roman" pitchFamily="18" charset="0"/>
        </a:defRPr>
      </a:lvl8pPr>
      <a:lvl9pPr marL="1371532" algn="ctr" rtl="1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cs typeface="Times New Roman" pitchFamily="18" charset="0"/>
        </a:defRPr>
      </a:lvl9pPr>
    </p:titleStyle>
    <p:bodyStyle>
      <a:lvl1pPr marL="257162" indent="-257162" algn="r" rtl="1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185" indent="-214303" algn="r" rtl="1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r" rtl="1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r" rtl="1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r" rtl="1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r" defTabSz="685766" rtl="1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r" defTabSz="685766" rtl="1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r" defTabSz="685766" rtl="1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r" defTabSz="685766" rtl="1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685766" rtl="1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r" defTabSz="685766" rtl="1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r" defTabSz="685766" rtl="1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r" defTabSz="685766" rtl="1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r" defTabSz="685766" rtl="1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r" defTabSz="685766" rtl="1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r" defTabSz="685766" rtl="1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r" defTabSz="685766" rtl="1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r" defTabSz="685766" rtl="1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28.xml"/><Relationship Id="rId5" Type="http://schemas.openxmlformats.org/officeDocument/2006/relationships/chart" Target="../charts/chart27.xml"/><Relationship Id="rId4" Type="http://schemas.openxmlformats.org/officeDocument/2006/relationships/chart" Target="../charts/chart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9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5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6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7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8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9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0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3.xml"/><Relationship Id="rId2" Type="http://schemas.openxmlformats.org/officeDocument/2006/relationships/chart" Target="../charts/chart4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chart" Target="../charts/chart4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0"/>
          <p:cNvSpPr/>
          <p:nvPr/>
        </p:nvSpPr>
        <p:spPr bwMode="auto">
          <a:xfrm>
            <a:off x="151497" y="6469640"/>
            <a:ext cx="201243" cy="216024"/>
          </a:xfrm>
          <a:prstGeom prst="ellipse">
            <a:avLst/>
          </a:prstGeom>
          <a:solidFill>
            <a:srgbClr val="0A347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TextBox 46"/>
          <p:cNvSpPr txBox="1">
            <a:spLocks noChangeArrowheads="1"/>
          </p:cNvSpPr>
          <p:nvPr/>
        </p:nvSpPr>
        <p:spPr bwMode="auto">
          <a:xfrm>
            <a:off x="64919" y="6452056"/>
            <a:ext cx="36004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rtl="0" eaLnBrk="1" hangingPunct="1"/>
            <a:fld id="{42511F0F-8D32-47EB-9D11-300C5AB9E50E}" type="slidenum">
              <a:rPr lang="id-ID" altLang="he-IL" sz="1100" smtClean="0">
                <a:solidFill>
                  <a:schemeClr val="bg1"/>
                </a:solidFill>
                <a:latin typeface="Raleway"/>
                <a:ea typeface="Roboto Condensed Light"/>
                <a:cs typeface="Lato Heavy"/>
              </a:rPr>
              <a:t>1</a:t>
            </a:fld>
            <a:endParaRPr lang="id-ID" altLang="he-IL" sz="1100" dirty="0">
              <a:solidFill>
                <a:schemeClr val="bg1"/>
              </a:solidFill>
              <a:latin typeface="Raleway"/>
              <a:ea typeface="Roboto Condensed Light"/>
              <a:cs typeface="Lato Heavy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5AE375-9B91-6B08-4C9D-9CBDA8EC7EB7}"/>
              </a:ext>
            </a:extLst>
          </p:cNvPr>
          <p:cNvSpPr txBox="1"/>
          <p:nvPr/>
        </p:nvSpPr>
        <p:spPr>
          <a:xfrm>
            <a:off x="2051720" y="4509120"/>
            <a:ext cx="69553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400" b="1" dirty="0">
                <a:solidFill>
                  <a:srgbClr val="0A3470"/>
                </a:solidFill>
                <a:latin typeface="Arial" panose="020B0604020202020204" pitchFamily="34" charset="0"/>
              </a:rPr>
              <a:t>מחלקת תשתיות ענן,</a:t>
            </a:r>
            <a:r>
              <a:rPr lang="en-US" sz="2400" b="1" dirty="0">
                <a:solidFill>
                  <a:srgbClr val="0A3470"/>
                </a:solidFill>
                <a:latin typeface="Arial" panose="020B0604020202020204" pitchFamily="34" charset="0"/>
              </a:rPr>
              <a:t>DevOps</a:t>
            </a:r>
            <a:r>
              <a:rPr lang="he-IL" sz="2400" b="1" dirty="0">
                <a:solidFill>
                  <a:srgbClr val="0A3470"/>
                </a:solidFill>
                <a:latin typeface="Arial" panose="020B0604020202020204" pitchFamily="34" charset="0"/>
              </a:rPr>
              <a:t> ובסיסי נתונים</a:t>
            </a:r>
            <a:endParaRPr lang="he-IL" sz="2400" dirty="0">
              <a:solidFill>
                <a:srgbClr val="0A3470"/>
              </a:solidFill>
              <a:latin typeface="Arial" panose="020B0604020202020204" pitchFamily="34" charset="0"/>
            </a:endParaRPr>
          </a:p>
          <a:p>
            <a:r>
              <a:rPr lang="he-IL" sz="2400" dirty="0">
                <a:solidFill>
                  <a:srgbClr val="0A3470"/>
                </a:solidFill>
                <a:latin typeface="Arial" panose="020B0604020202020204" pitchFamily="34" charset="0"/>
              </a:rPr>
              <a:t>אגף טכנולוגיות והגנת הסייבר</a:t>
            </a:r>
            <a:endParaRPr lang="en-US" sz="2400" dirty="0">
              <a:solidFill>
                <a:srgbClr val="0A3470"/>
              </a:solidFill>
            </a:endParaRPr>
          </a:p>
          <a:p>
            <a:endParaRPr lang="en-US" sz="2400" dirty="0">
              <a:solidFill>
                <a:srgbClr val="0A3470"/>
              </a:solidFill>
            </a:endParaRPr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3EF3BF5F-BD85-A9E5-ADBD-9BFA178EE347}"/>
              </a:ext>
            </a:extLst>
          </p:cNvPr>
          <p:cNvSpPr/>
          <p:nvPr/>
        </p:nvSpPr>
        <p:spPr>
          <a:xfrm>
            <a:off x="7524328" y="6454616"/>
            <a:ext cx="1368152" cy="231048"/>
          </a:xfrm>
          <a:prstGeom prst="round2DiagRect">
            <a:avLst/>
          </a:prstGeom>
          <a:solidFill>
            <a:srgbClr val="0A3470"/>
          </a:solidFill>
          <a:ln>
            <a:solidFill>
              <a:srgbClr val="0A34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07/2026</a:t>
            </a:r>
            <a:endParaRPr lang="en-IL" dirty="0">
              <a:solidFill>
                <a:schemeClr val="bg1"/>
              </a:solidFill>
            </a:endParaRPr>
          </a:p>
        </p:txBody>
      </p:sp>
      <p:pic>
        <p:nvPicPr>
          <p:cNvPr id="9" name="Graphic 8" descr="Cloud">
            <a:extLst>
              <a:ext uri="{FF2B5EF4-FFF2-40B4-BE49-F238E27FC236}">
                <a16:creationId xmlns:a16="http://schemas.microsoft.com/office/drawing/2014/main" id="{B001CDF7-4283-0C24-4094-48234BADBC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2280" y="1327715"/>
            <a:ext cx="1728192" cy="17281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F02F8A-E2CA-E2DB-CE76-B96DC5FB2AFD}"/>
              </a:ext>
            </a:extLst>
          </p:cNvPr>
          <p:cNvSpPr txBox="1"/>
          <p:nvPr/>
        </p:nvSpPr>
        <p:spPr>
          <a:xfrm>
            <a:off x="1547664" y="1962859"/>
            <a:ext cx="76224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Verdana" panose="020B0604030504040204" pitchFamily="34" charset="0"/>
                <a:cs typeface="HELVETICA" panose="020B0604020202020204" pitchFamily="34" charset="0"/>
              </a:rPr>
              <a:t> FY2026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Verdana" panose="020B0604030504040204" pitchFamily="34" charset="0"/>
                <a:cs typeface="HELVETICA" panose="020B0604020202020204" pitchFamily="34" charset="0"/>
              </a:rPr>
              <a:t>Cloud Cost Summary</a:t>
            </a:r>
            <a:endParaRPr lang="en-IL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441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B203133-AC82-D741-B4FE-D65DC62B2EA2}"/>
              </a:ext>
            </a:extLst>
          </p:cNvPr>
          <p:cNvSpPr txBox="1">
            <a:spLocks/>
          </p:cNvSpPr>
          <p:nvPr/>
        </p:nvSpPr>
        <p:spPr>
          <a:xfrm>
            <a:off x="1187624" y="347493"/>
            <a:ext cx="6679433" cy="641553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spcBef>
                <a:spcPct val="0"/>
              </a:spcBef>
              <a:buNone/>
              <a:defRPr sz="6000" b="0" kern="1200">
                <a:solidFill>
                  <a:schemeClr val="bg1"/>
                </a:solidFill>
                <a:latin typeface="ProtocolHarel" pitchFamily="2" charset="-79"/>
                <a:ea typeface="+mj-ea"/>
                <a:cs typeface="ProtocolHarel" pitchFamily="2" charset="-79"/>
              </a:defRPr>
            </a:lvl1pPr>
          </a:lstStyle>
          <a:p>
            <a:pPr algn="l" rtl="0">
              <a:lnSpc>
                <a:spcPct val="90000"/>
              </a:lnSpc>
            </a:pPr>
            <a:r>
              <a:rPr lang="en-US" sz="2400" b="1" dirty="0">
                <a:latin typeface="+mn-lt"/>
                <a:cs typeface="Calibri" panose="020F0502020204030204" pitchFamily="34" charset="0"/>
              </a:rPr>
              <a:t>Meeting Agenda</a:t>
            </a:r>
            <a:endParaRPr lang="he-IL" sz="28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0" name="Agenda Item 1"/>
          <p:cNvSpPr/>
          <p:nvPr/>
        </p:nvSpPr>
        <p:spPr>
          <a:xfrm>
            <a:off x="1371600" y="1778439"/>
            <a:ext cx="6400799" cy="354240"/>
          </a:xfrm>
          <a:prstGeom prst="roundRect">
            <a:avLst/>
          </a:prstGeom>
          <a:solidFill>
            <a:schemeClr val="accent1"/>
          </a:solidFill>
          <a:ln w="19050" cap="flat" cmpd="sng" algn="ctr">
            <a:solidFill>
              <a:srgbClr val="0A3470"/>
            </a:solidFill>
          </a:ln>
          <a:effectLst>
            <a:outerShdw blurRad="40000" dist="20000" dir="5400000" rotWithShape="0">
              <a:srgbClr val="000000">
                <a:alpha val="25000"/>
              </a:srgbClr>
            </a:outerShdw>
          </a:effectLst>
        </p:spPr>
        <p:txBody>
          <a:bodyPr vert="horz" wrap="square" lIns="241935" tIns="0" rIns="241935" bIns="0" anchor="ctr"/>
          <a:lstStyle/>
          <a:p>
            <a:pPr algn="l"/>
            <a:r>
              <a:rPr lang="en-US" sz="1500" b="1" kern="1200">
                <a:solidFill>
                  <a:schemeClr val="bg1"/>
                </a:solidFill>
              </a:rPr>
              <a:t>AWS 2026 usages review</a:t>
            </a:r>
          </a:p>
        </p:txBody>
      </p:sp>
      <p:sp>
        <p:nvSpPr>
          <p:cNvPr id="21" name="Agenda Item 2"/>
          <p:cNvSpPr/>
          <p:nvPr/>
        </p:nvSpPr>
        <p:spPr>
          <a:xfrm>
            <a:off x="1371600" y="2393526"/>
            <a:ext cx="6400799" cy="354240"/>
          </a:xfrm>
          <a:prstGeom prst="roundRect">
            <a:avLst/>
          </a:prstGeom>
          <a:solidFill>
            <a:schemeClr val="accent1"/>
          </a:solidFill>
          <a:ln w="19050" cap="flat" cmpd="sng" algn="ctr">
            <a:solidFill>
              <a:srgbClr val="0A3470"/>
            </a:solidFill>
          </a:ln>
          <a:effectLst>
            <a:outerShdw blurRad="40000" dist="20000" dir="5400000" rotWithShape="0">
              <a:srgbClr val="000000">
                <a:alpha val="25000"/>
              </a:srgbClr>
            </a:outerShdw>
          </a:effectLst>
        </p:spPr>
        <p:txBody>
          <a:bodyPr vert="horz" wrap="square" lIns="241935" tIns="0" rIns="241935" bIns="0" anchor="ctr"/>
          <a:lstStyle/>
          <a:p>
            <a:pPr algn="l"/>
            <a:r>
              <a:rPr lang="en-US" sz="1500" b="1" kern="1200" dirty="0">
                <a:solidFill>
                  <a:schemeClr val="bg1"/>
                </a:solidFill>
              </a:rPr>
              <a:t>Azure 2026 usages review</a:t>
            </a:r>
          </a:p>
        </p:txBody>
      </p:sp>
      <p:sp>
        <p:nvSpPr>
          <p:cNvPr id="22" name="Agenda Item 3"/>
          <p:cNvSpPr/>
          <p:nvPr/>
        </p:nvSpPr>
        <p:spPr>
          <a:xfrm>
            <a:off x="1371600" y="2937846"/>
            <a:ext cx="6400799" cy="354240"/>
          </a:xfrm>
          <a:prstGeom prst="roundRect">
            <a:avLst/>
          </a:prstGeom>
          <a:solidFill>
            <a:schemeClr val="accent1"/>
          </a:solidFill>
          <a:ln w="19050" cap="flat" cmpd="sng" algn="ctr">
            <a:solidFill>
              <a:srgbClr val="0A3470"/>
            </a:solidFill>
          </a:ln>
          <a:effectLst>
            <a:outerShdw blurRad="40000" dist="20000" dir="5400000" rotWithShape="0">
              <a:srgbClr val="000000">
                <a:alpha val="25000"/>
              </a:srgbClr>
            </a:outerShdw>
          </a:effectLst>
        </p:spPr>
        <p:txBody>
          <a:bodyPr vert="horz" wrap="square" lIns="241935" tIns="0" rIns="241935" bIns="0" anchor="ctr"/>
          <a:lstStyle/>
          <a:p>
            <a:pPr algn="l"/>
            <a:r>
              <a:rPr lang="en-US" sz="1500" b="1" dirty="0">
                <a:solidFill>
                  <a:schemeClr val="bg1"/>
                </a:solidFill>
              </a:rPr>
              <a:t>GCP 2026 usages review</a:t>
            </a:r>
          </a:p>
        </p:txBody>
      </p:sp>
      <p:sp>
        <p:nvSpPr>
          <p:cNvPr id="23" name="Agenda Item 4"/>
          <p:cNvSpPr/>
          <p:nvPr/>
        </p:nvSpPr>
        <p:spPr>
          <a:xfrm>
            <a:off x="1371600" y="3482166"/>
            <a:ext cx="6400799" cy="354240"/>
          </a:xfrm>
          <a:prstGeom prst="roundRect">
            <a:avLst/>
          </a:prstGeom>
          <a:solidFill>
            <a:schemeClr val="accent1"/>
          </a:solidFill>
          <a:ln w="19050" cap="flat" cmpd="sng" algn="ctr">
            <a:solidFill>
              <a:srgbClr val="0A3470"/>
            </a:solidFill>
          </a:ln>
          <a:effectLst>
            <a:outerShdw blurRad="40000" dist="20000" dir="5400000" rotWithShape="0">
              <a:srgbClr val="000000">
                <a:alpha val="25000"/>
              </a:srgbClr>
            </a:outerShdw>
          </a:effectLst>
        </p:spPr>
        <p:txBody>
          <a:bodyPr vert="horz" wrap="square" lIns="241935" tIns="0" rIns="241935" bIns="0" anchor="ctr"/>
          <a:lstStyle/>
          <a:p>
            <a:pPr lvl="0" algn="l" rtl="0">
              <a:defRPr/>
            </a:pPr>
            <a:r>
              <a:rPr 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sz="1500" b="1" dirty="0">
                <a:solidFill>
                  <a:schemeClr val="bg1"/>
                </a:solidFill>
              </a:rPr>
              <a:t>FinOps Ai Factory</a:t>
            </a:r>
          </a:p>
        </p:txBody>
      </p:sp>
      <p:sp>
        <p:nvSpPr>
          <p:cNvPr id="24" name="Agenda Item 5"/>
          <p:cNvSpPr/>
          <p:nvPr/>
        </p:nvSpPr>
        <p:spPr>
          <a:xfrm>
            <a:off x="1371600" y="4026486"/>
            <a:ext cx="6400799" cy="354240"/>
          </a:xfrm>
          <a:prstGeom prst="roundRect">
            <a:avLst/>
          </a:prstGeom>
          <a:solidFill>
            <a:schemeClr val="accent1"/>
          </a:solidFill>
          <a:ln w="19050" cap="flat" cmpd="sng" algn="ctr">
            <a:solidFill>
              <a:srgbClr val="0A3470"/>
            </a:solidFill>
          </a:ln>
          <a:effectLst>
            <a:outerShdw blurRad="40000" dist="20000" dir="5400000" rotWithShape="0">
              <a:srgbClr val="000000">
                <a:alpha val="25000"/>
              </a:srgbClr>
            </a:outerShdw>
          </a:effectLst>
        </p:spPr>
        <p:txBody>
          <a:bodyPr vert="horz" wrap="square" lIns="241935" tIns="0" rIns="241935" bIns="0" anchor="ctr"/>
          <a:lstStyle/>
          <a:p>
            <a:pPr algn="l" rtl="0">
              <a:defRPr/>
            </a:pPr>
            <a:r>
              <a:rPr lang="he-IL" sz="1500" b="1" dirty="0">
                <a:solidFill>
                  <a:schemeClr val="bg1"/>
                </a:solidFill>
              </a:rPr>
              <a:t>FinOps </a:t>
            </a:r>
            <a:r>
              <a:rPr lang="en-US" sz="1500" b="1" dirty="0">
                <a:solidFill>
                  <a:schemeClr val="bg1"/>
                </a:solidFill>
              </a:rPr>
              <a:t>Project</a:t>
            </a:r>
            <a:endParaRPr lang="he-IL" sz="1500" b="1" dirty="0">
              <a:solidFill>
                <a:schemeClr val="bg1"/>
              </a:solidFill>
            </a:endParaRPr>
          </a:p>
        </p:txBody>
      </p:sp>
      <p:pic>
        <p:nvPicPr>
          <p:cNvPr id="8" name="Picture 7" descr="A clipboard with check marks  AI-generated content may be incorrect.">
            <a:extLst>
              <a:ext uri="{FF2B5EF4-FFF2-40B4-BE49-F238E27FC236}">
                <a16:creationId xmlns:a16="http://schemas.microsoft.com/office/drawing/2014/main" id="{8AFA13F7-24A1-4253-4C38-2C3B463EA5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5208584"/>
            <a:ext cx="1617391" cy="1617391"/>
          </a:xfrm>
          <a:prstGeom prst="rect">
            <a:avLst/>
          </a:prstGeom>
        </p:spPr>
      </p:pic>
      <p:pic>
        <p:nvPicPr>
          <p:cNvPr id="11" name="Picture 10" descr="A logo with a green circle  AI-generated content may be incorrect.">
            <a:extLst>
              <a:ext uri="{FF2B5EF4-FFF2-40B4-BE49-F238E27FC236}">
                <a16:creationId xmlns:a16="http://schemas.microsoft.com/office/drawing/2014/main" id="{0662DC0F-23D3-00E9-00A0-956DB04E35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8" y="6195038"/>
            <a:ext cx="1463043" cy="630937"/>
          </a:xfrm>
          <a:prstGeom prst="rect">
            <a:avLst/>
          </a:prstGeom>
        </p:spPr>
      </p:pic>
      <p:sp>
        <p:nvSpPr>
          <p:cNvPr id="3" name="Agenda Item 6">
            <a:extLst>
              <a:ext uri="{FF2B5EF4-FFF2-40B4-BE49-F238E27FC236}">
                <a16:creationId xmlns:a16="http://schemas.microsoft.com/office/drawing/2014/main" id="{3643F023-FE44-4AAD-446F-5A24BCFB4EDC}"/>
              </a:ext>
            </a:extLst>
          </p:cNvPr>
          <p:cNvSpPr/>
          <p:nvPr/>
        </p:nvSpPr>
        <p:spPr>
          <a:xfrm>
            <a:off x="1371598" y="4520231"/>
            <a:ext cx="6400799" cy="354240"/>
          </a:xfrm>
          <a:prstGeom prst="roundRect">
            <a:avLst/>
          </a:prstGeom>
          <a:solidFill>
            <a:schemeClr val="accent1"/>
          </a:solidFill>
          <a:ln w="19050" cap="flat" cmpd="sng" algn="ctr">
            <a:solidFill>
              <a:srgbClr val="0A3470"/>
            </a:solidFill>
          </a:ln>
          <a:effectLst>
            <a:outerShdw blurRad="40000" dist="20000" dir="5400000" rotWithShape="0">
              <a:srgbClr val="000000">
                <a:alpha val="25000"/>
              </a:srgbClr>
            </a:outerShdw>
          </a:effectLst>
        </p:spPr>
        <p:txBody>
          <a:bodyPr vert="horz" wrap="square" lIns="241935" tIns="0" rIns="241935" bIns="0" anchor="ctr"/>
          <a:lstStyle/>
          <a:p>
            <a:pPr algn="l"/>
            <a:r>
              <a:rPr lang="en-US" sz="1500" b="1" kern="1200" dirty="0">
                <a:solidFill>
                  <a:schemeClr val="bg1"/>
                </a:solidFill>
              </a:rPr>
              <a:t>Savings achievements</a:t>
            </a:r>
          </a:p>
        </p:txBody>
      </p:sp>
      <p:sp>
        <p:nvSpPr>
          <p:cNvPr id="4" name="Agenda Item 6"/>
          <p:cNvSpPr/>
          <p:nvPr/>
        </p:nvSpPr>
        <p:spPr>
          <a:xfrm>
            <a:off x="1371598" y="5038502"/>
            <a:ext cx="6400800" cy="354240"/>
          </a:xfrm>
          <a:prstGeom prst="roundRect">
            <a:avLst>
              <a:gd name="adj" fmla="val 19223"/>
            </a:avLst>
          </a:prstGeom>
          <a:solidFill>
            <a:schemeClr val="accent1"/>
          </a:solidFill>
          <a:ln w="19050" cap="flat" cmpd="sng" algn="ctr">
            <a:solidFill>
              <a:srgbClr val="0A3470"/>
            </a:solidFill>
          </a:ln>
          <a:effectLst>
            <a:outerShdw blurRad="40000" dist="20000" dir="5400000" rotWithShape="0">
              <a:srgbClr val="000000">
                <a:alpha val="25000"/>
              </a:srgbClr>
            </a:outerShdw>
          </a:effectLst>
        </p:spPr>
        <p:txBody>
          <a:bodyPr vert="horz" wrap="square" lIns="241935" tIns="0" rIns="241935" bIns="0" anchor="ctr"/>
          <a:lstStyle/>
          <a:p>
            <a:pPr algn="l">
              <a:defRPr/>
            </a:pPr>
            <a:r>
              <a:rPr lang="en-US" sz="1500" b="1" dirty="0">
                <a:solidFill>
                  <a:schemeClr val="bg1"/>
                </a:solidFill>
              </a:rPr>
              <a:t>Next Steps &amp; Future Initiatives </a:t>
            </a:r>
          </a:p>
        </p:txBody>
      </p:sp>
    </p:spTree>
    <p:extLst>
      <p:ext uri="{BB962C8B-B14F-4D97-AF65-F5344CB8AC3E}">
        <p14:creationId xmlns:p14="http://schemas.microsoft.com/office/powerpoint/2010/main" val="1715869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2785D-F118-FEEA-6293-E740CB30F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0">
            <a:extLst>
              <a:ext uri="{FF2B5EF4-FFF2-40B4-BE49-F238E27FC236}">
                <a16:creationId xmlns:a16="http://schemas.microsoft.com/office/drawing/2014/main" id="{C8CDD6A5-5080-7FD0-A335-840078937B8D}"/>
              </a:ext>
            </a:extLst>
          </p:cNvPr>
          <p:cNvSpPr/>
          <p:nvPr/>
        </p:nvSpPr>
        <p:spPr bwMode="auto">
          <a:xfrm>
            <a:off x="151497" y="6469640"/>
            <a:ext cx="201243" cy="216024"/>
          </a:xfrm>
          <a:prstGeom prst="ellipse">
            <a:avLst/>
          </a:prstGeom>
          <a:solidFill>
            <a:srgbClr val="0A347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TextBox 46">
            <a:extLst>
              <a:ext uri="{FF2B5EF4-FFF2-40B4-BE49-F238E27FC236}">
                <a16:creationId xmlns:a16="http://schemas.microsoft.com/office/drawing/2014/main" id="{2600BF8D-AFA2-C5BF-5B04-E25DC1EFD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19" y="6452056"/>
            <a:ext cx="36004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rtl="0" eaLnBrk="1" hangingPunct="1"/>
            <a:fld id="{42511F0F-8D32-47EB-9D11-300C5AB9E50E}" type="slidenum">
              <a:rPr lang="id-ID" altLang="he-IL" sz="1100" smtClean="0">
                <a:solidFill>
                  <a:schemeClr val="bg1"/>
                </a:solidFill>
                <a:latin typeface="Raleway"/>
                <a:ea typeface="Roboto Condensed Light"/>
                <a:cs typeface="Lato Heavy"/>
              </a:rPr>
              <a:t>3</a:t>
            </a:fld>
            <a:endParaRPr lang="id-ID" altLang="he-IL" sz="1100" dirty="0">
              <a:solidFill>
                <a:schemeClr val="bg1"/>
              </a:solidFill>
              <a:latin typeface="Raleway"/>
              <a:ea typeface="Roboto Condensed Light"/>
              <a:cs typeface="Lato Heavy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B223B5-09FF-32CE-FCD0-D222E7F12771}"/>
              </a:ext>
            </a:extLst>
          </p:cNvPr>
          <p:cNvSpPr txBox="1"/>
          <p:nvPr/>
        </p:nvSpPr>
        <p:spPr>
          <a:xfrm>
            <a:off x="2430813" y="1962859"/>
            <a:ext cx="67393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Verdana" panose="020B0604030504040204" pitchFamily="34" charset="0"/>
                <a:cs typeface="HELVETICA" panose="020B0604020202020204" pitchFamily="34" charset="0"/>
              </a:rPr>
              <a:t> AWS-2026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Verdana" panose="020B0604030504040204" pitchFamily="34" charset="0"/>
                <a:cs typeface="HELVETICA" panose="020B0604020202020204" pitchFamily="34" charset="0"/>
              </a:rPr>
              <a:t>Cloud Cost Summary</a:t>
            </a:r>
            <a:endParaRPr lang="en-IL" sz="6000" dirty="0">
              <a:solidFill>
                <a:schemeClr val="bg1"/>
              </a:solidFill>
            </a:endParaRPr>
          </a:p>
        </p:txBody>
      </p:sp>
      <p:pic>
        <p:nvPicPr>
          <p:cNvPr id="7" name="Picture 6" descr="A logo with a smile&#10;&#10;Description automatically generated">
            <a:extLst>
              <a:ext uri="{FF2B5EF4-FFF2-40B4-BE49-F238E27FC236}">
                <a16:creationId xmlns:a16="http://schemas.microsoft.com/office/drawing/2014/main" id="{0D2B329F-6076-9BAD-5E9F-9408A08D29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908720"/>
            <a:ext cx="2048229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936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E4A19-85E3-3308-7961-06956EDB7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376A638-B480-2994-4D62-35C425AD5772}"/>
              </a:ext>
            </a:extLst>
          </p:cNvPr>
          <p:cNvSpPr txBox="1">
            <a:spLocks/>
          </p:cNvSpPr>
          <p:nvPr/>
        </p:nvSpPr>
        <p:spPr>
          <a:xfrm>
            <a:off x="1115616" y="476672"/>
            <a:ext cx="6679433" cy="641553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spcBef>
                <a:spcPct val="0"/>
              </a:spcBef>
              <a:buNone/>
              <a:defRPr sz="6000" b="0" kern="1200">
                <a:solidFill>
                  <a:schemeClr val="bg1"/>
                </a:solidFill>
                <a:latin typeface="ProtocolHarel" pitchFamily="2" charset="-79"/>
                <a:ea typeface="+mj-ea"/>
                <a:cs typeface="ProtocolHarel" pitchFamily="2" charset="-79"/>
              </a:defRPr>
            </a:lvl1pPr>
          </a:lstStyle>
          <a:p>
            <a:pPr algn="l" rtl="0">
              <a:lnSpc>
                <a:spcPct val="90000"/>
              </a:lnSpc>
            </a:pPr>
            <a:r>
              <a:rPr lang="en-US" sz="2400" b="1" dirty="0">
                <a:latin typeface="+mn-lt"/>
                <a:cs typeface="Calibri" panose="020F0502020204030204" pitchFamily="34" charset="0"/>
              </a:rPr>
              <a:t>2026 Consumption By Account Name</a:t>
            </a:r>
            <a:endParaRPr lang="he-IL" sz="28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31985B-9AA2-5A2C-A02D-4A1D008D59BB}"/>
              </a:ext>
            </a:extLst>
          </p:cNvPr>
          <p:cNvSpPr txBox="1"/>
          <p:nvPr/>
        </p:nvSpPr>
        <p:spPr>
          <a:xfrm>
            <a:off x="539551" y="6381908"/>
            <a:ext cx="23762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 rtl="0">
              <a:buFont typeface="Wingdings" panose="05000000000000000000" pitchFamily="2" charset="2"/>
              <a:buChar char="§"/>
            </a:pPr>
            <a:r>
              <a:rPr lang="en-US" sz="8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Please note that in AWS, there are two payers.</a:t>
            </a:r>
            <a:endParaRPr lang="en-IL" sz="8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" name="Picture 1" descr="A logo with a smile&#10;&#10;Description automatically generated">
            <a:extLst>
              <a:ext uri="{FF2B5EF4-FFF2-40B4-BE49-F238E27FC236}">
                <a16:creationId xmlns:a16="http://schemas.microsoft.com/office/drawing/2014/main" id="{83F4AB70-70C8-03FA-4199-A6519017AE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839" y="126348"/>
            <a:ext cx="1571665" cy="8840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8F66FF-DB7D-314B-3AC5-F2F61C0F7DD6}"/>
              </a:ext>
            </a:extLst>
          </p:cNvPr>
          <p:cNvSpPr txBox="1"/>
          <p:nvPr/>
        </p:nvSpPr>
        <p:spPr>
          <a:xfrm>
            <a:off x="539551" y="6489150"/>
            <a:ext cx="31683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 rtl="0">
              <a:buFont typeface="Wingdings" panose="05000000000000000000" pitchFamily="2" charset="2"/>
              <a:buChar char="§"/>
            </a:pPr>
            <a:r>
              <a:rPr lang="en-US" sz="9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Charges </a:t>
            </a:r>
            <a:r>
              <a:rPr lang="en-US" sz="900" b="1" i="1" dirty="0">
                <a:solidFill>
                  <a:srgbClr val="FF0000"/>
                </a:solidFill>
              </a:rPr>
              <a:t>do not </a:t>
            </a:r>
            <a:r>
              <a:rPr lang="en-US" sz="9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include </a:t>
            </a:r>
            <a:r>
              <a:rPr lang="en-US" sz="900" b="1" i="1" dirty="0">
                <a:solidFill>
                  <a:srgbClr val="0A3470"/>
                </a:solidFill>
              </a:rPr>
              <a:t>Marketplace</a:t>
            </a:r>
            <a:r>
              <a:rPr lang="en-US" sz="9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costs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45A945C9-0A47-942F-14B2-ED81DD2BB65F}"/>
              </a:ext>
            </a:extLst>
          </p:cNvPr>
          <p:cNvSpPr/>
          <p:nvPr/>
        </p:nvSpPr>
        <p:spPr>
          <a:xfrm>
            <a:off x="683568" y="6150496"/>
            <a:ext cx="1728192" cy="230832"/>
          </a:xfrm>
          <a:prstGeom prst="homePlate">
            <a:avLst/>
          </a:prstGeom>
          <a:solidFill>
            <a:srgbClr val="F79646"/>
          </a:solidFill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TOTAL COST $690K</a:t>
            </a:r>
            <a:endParaRPr lang="en-IL" sz="1400" b="1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F4C7CC7-2EC3-80EC-C401-52CB2C1A9A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7709882"/>
              </p:ext>
            </p:extLst>
          </p:nvPr>
        </p:nvGraphicFramePr>
        <p:xfrm>
          <a:off x="558685" y="797448"/>
          <a:ext cx="8628367" cy="521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E847D15-1F72-D5CE-E72E-262266B03FF5}"/>
              </a:ext>
            </a:extLst>
          </p:cNvPr>
          <p:cNvSpPr/>
          <p:nvPr/>
        </p:nvSpPr>
        <p:spPr bwMode="auto">
          <a:xfrm>
            <a:off x="2123727" y="1562539"/>
            <a:ext cx="801060" cy="510778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800" dirty="0"/>
              <a:t>Increase in Customers3 prod</a:t>
            </a:r>
            <a:endParaRPr lang="en-IL" sz="8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2E8FDE-CEA8-BBEF-AD09-229458C46F95}"/>
              </a:ext>
            </a:extLst>
          </p:cNvPr>
          <p:cNvSpPr/>
          <p:nvPr/>
        </p:nvSpPr>
        <p:spPr bwMode="auto">
          <a:xfrm>
            <a:off x="3099663" y="1221059"/>
            <a:ext cx="1023116" cy="578882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</a:t>
            </a:r>
          </a:p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harel-org-02-root , </a:t>
            </a:r>
            <a:r>
              <a:rPr lang="en-US" sz="700" dirty="0" err="1"/>
              <a:t>aws</a:t>
            </a:r>
            <a:r>
              <a:rPr lang="en-US" sz="700" dirty="0"/>
              <a:t>-</a:t>
            </a:r>
            <a:r>
              <a:rPr lang="en-US" sz="700" dirty="0" err="1"/>
              <a:t>devTest</a:t>
            </a:r>
            <a:r>
              <a:rPr lang="en-US" sz="700" dirty="0"/>
              <a:t>-digital (EC2) S3 Storage)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4AFCE1-526C-FC17-A2C4-EC31FF134D9A}"/>
              </a:ext>
            </a:extLst>
          </p:cNvPr>
          <p:cNvSpPr/>
          <p:nvPr/>
        </p:nvSpPr>
        <p:spPr bwMode="auto">
          <a:xfrm>
            <a:off x="6869151" y="970787"/>
            <a:ext cx="1274339" cy="936427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</a:t>
            </a:r>
          </a:p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customers3-prod</a:t>
            </a:r>
          </a:p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horizon-prod</a:t>
            </a:r>
          </a:p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400" dirty="0"/>
          </a:p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Iin addition, in account ai-factory-dev </a:t>
            </a:r>
            <a:r>
              <a:rPr lang="en-US" sz="800" dirty="0"/>
              <a:t>we got credit from the MAP contract</a:t>
            </a:r>
            <a:endParaRPr lang="en-US" sz="7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5F2EAC-5ECC-6380-712E-B324DAECC69D}"/>
              </a:ext>
            </a:extLst>
          </p:cNvPr>
          <p:cNvSpPr/>
          <p:nvPr/>
        </p:nvSpPr>
        <p:spPr bwMode="auto">
          <a:xfrm>
            <a:off x="8115906" y="1010409"/>
            <a:ext cx="1023116" cy="578882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</a:t>
            </a:r>
          </a:p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Harel Insurance</a:t>
            </a:r>
          </a:p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customers3-prod</a:t>
            </a:r>
          </a:p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 err="1"/>
              <a:t>aws</a:t>
            </a:r>
            <a:r>
              <a:rPr lang="en-US" sz="700" dirty="0"/>
              <a:t>-prod-Digital</a:t>
            </a:r>
          </a:p>
        </p:txBody>
      </p:sp>
    </p:spTree>
    <p:extLst>
      <p:ext uri="{BB962C8B-B14F-4D97-AF65-F5344CB8AC3E}">
        <p14:creationId xmlns:p14="http://schemas.microsoft.com/office/powerpoint/2010/main" val="1523872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EE631-09C3-3C64-0D03-EA5A5A2FD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64278ED-153E-9A73-313A-96A5DE5C0BC1}"/>
              </a:ext>
            </a:extLst>
          </p:cNvPr>
          <p:cNvSpPr txBox="1">
            <a:spLocks/>
          </p:cNvSpPr>
          <p:nvPr/>
        </p:nvSpPr>
        <p:spPr>
          <a:xfrm>
            <a:off x="1043608" y="476672"/>
            <a:ext cx="6679433" cy="641553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spcBef>
                <a:spcPct val="0"/>
              </a:spcBef>
              <a:buNone/>
              <a:defRPr sz="6000" b="0" kern="1200">
                <a:solidFill>
                  <a:schemeClr val="bg1"/>
                </a:solidFill>
                <a:latin typeface="ProtocolHarel" pitchFamily="2" charset="-79"/>
                <a:ea typeface="+mj-ea"/>
                <a:cs typeface="ProtocolHarel" pitchFamily="2" charset="-79"/>
              </a:defRPr>
            </a:lvl1pPr>
          </a:lstStyle>
          <a:p>
            <a:pPr algn="l" rtl="0">
              <a:lnSpc>
                <a:spcPct val="90000"/>
              </a:lnSpc>
            </a:pPr>
            <a:r>
              <a:rPr lang="en-US" sz="2400" b="1" dirty="0">
                <a:latin typeface="+mn-lt"/>
                <a:cs typeface="Calibri" panose="020F0502020204030204" pitchFamily="34" charset="0"/>
              </a:rPr>
              <a:t>2026 Consumption By Service Name</a:t>
            </a:r>
            <a:endParaRPr lang="he-IL" sz="28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7" name="Picture 6" descr="A logo with a smile&#10;&#10;Description automatically generated">
            <a:extLst>
              <a:ext uri="{FF2B5EF4-FFF2-40B4-BE49-F238E27FC236}">
                <a16:creationId xmlns:a16="http://schemas.microsoft.com/office/drawing/2014/main" id="{02C23345-4C4B-AE7E-797E-D3914FF621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26348"/>
            <a:ext cx="1571665" cy="8840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B46B0E-23E3-2103-32A1-1A17D67699E8}"/>
              </a:ext>
            </a:extLst>
          </p:cNvPr>
          <p:cNvSpPr txBox="1"/>
          <p:nvPr/>
        </p:nvSpPr>
        <p:spPr>
          <a:xfrm>
            <a:off x="575556" y="6599216"/>
            <a:ext cx="25922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 rtl="0">
              <a:buFont typeface="Wingdings" panose="05000000000000000000" pitchFamily="2" charset="2"/>
              <a:buChar char="§"/>
            </a:pPr>
            <a:r>
              <a:rPr lang="en-US" sz="9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Charges </a:t>
            </a:r>
            <a:r>
              <a:rPr lang="en-US" sz="900" b="1" i="1" dirty="0">
                <a:solidFill>
                  <a:srgbClr val="FF0000"/>
                </a:solidFill>
              </a:rPr>
              <a:t>do not </a:t>
            </a:r>
            <a:r>
              <a:rPr lang="en-US" sz="9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include </a:t>
            </a:r>
            <a:r>
              <a:rPr lang="en-US" sz="900" b="1" i="1" dirty="0">
                <a:solidFill>
                  <a:srgbClr val="0A3470"/>
                </a:solidFill>
              </a:rPr>
              <a:t>Marketplace</a:t>
            </a:r>
            <a:r>
              <a:rPr lang="en-US" sz="9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costs</a:t>
            </a: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FB2602AB-9DBC-DD57-A0EB-117B5FD0FAC9}"/>
              </a:ext>
            </a:extLst>
          </p:cNvPr>
          <p:cNvSpPr/>
          <p:nvPr/>
        </p:nvSpPr>
        <p:spPr>
          <a:xfrm>
            <a:off x="683568" y="6298691"/>
            <a:ext cx="1728192" cy="230832"/>
          </a:xfrm>
          <a:prstGeom prst="homePlate">
            <a:avLst/>
          </a:prstGeom>
          <a:solidFill>
            <a:srgbClr val="F79646"/>
          </a:solidFill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TOTAL COST $690K</a:t>
            </a:r>
            <a:endParaRPr lang="en-IL" sz="1400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8CA264-4E05-440C-5E5D-5CBDDF91DA88}"/>
              </a:ext>
            </a:extLst>
          </p:cNvPr>
          <p:cNvSpPr/>
          <p:nvPr/>
        </p:nvSpPr>
        <p:spPr bwMode="auto">
          <a:xfrm>
            <a:off x="2123728" y="1569057"/>
            <a:ext cx="794177" cy="340519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S3 Storage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80F529-122E-DBA8-6D0D-670068A15F50}"/>
              </a:ext>
            </a:extLst>
          </p:cNvPr>
          <p:cNvSpPr/>
          <p:nvPr/>
        </p:nvSpPr>
        <p:spPr bwMode="auto">
          <a:xfrm>
            <a:off x="3218138" y="1315129"/>
            <a:ext cx="794177" cy="340519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EC2 Compute 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33886B-CA30-1449-E777-FD91C8406BB8}"/>
              </a:ext>
            </a:extLst>
          </p:cNvPr>
          <p:cNvSpPr/>
          <p:nvPr/>
        </p:nvSpPr>
        <p:spPr bwMode="auto">
          <a:xfrm>
            <a:off x="6710371" y="1347970"/>
            <a:ext cx="794177" cy="459700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S3</a:t>
            </a:r>
          </a:p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chemeClr val="tx1"/>
                </a:solidFill>
              </a:rPr>
              <a:t>Decrease due to MAP credit</a:t>
            </a:r>
            <a:endParaRPr lang="en-IL" sz="700" dirty="0">
              <a:solidFill>
                <a:schemeClr val="tx1"/>
              </a:solidFill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BB97BA1-25B5-A706-7DCC-C79D55BCE8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3106282"/>
              </p:ext>
            </p:extLst>
          </p:nvPr>
        </p:nvGraphicFramePr>
        <p:xfrm>
          <a:off x="658257" y="1455205"/>
          <a:ext cx="7800975" cy="4914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36243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FB369-1840-E936-88F7-513D3B685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1D1FADE-1A75-8E14-2DF1-2921C1295993}"/>
              </a:ext>
            </a:extLst>
          </p:cNvPr>
          <p:cNvSpPr txBox="1">
            <a:spLocks/>
          </p:cNvSpPr>
          <p:nvPr/>
        </p:nvSpPr>
        <p:spPr>
          <a:xfrm>
            <a:off x="1043608" y="476672"/>
            <a:ext cx="6679433" cy="641553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spcBef>
                <a:spcPct val="0"/>
              </a:spcBef>
              <a:buNone/>
              <a:defRPr sz="6000" b="0" kern="1200">
                <a:solidFill>
                  <a:schemeClr val="bg1"/>
                </a:solidFill>
                <a:latin typeface="ProtocolHarel" pitchFamily="2" charset="-79"/>
                <a:ea typeface="+mj-ea"/>
                <a:cs typeface="ProtocolHarel" pitchFamily="2" charset="-79"/>
              </a:defRPr>
            </a:lvl1pPr>
          </a:lstStyle>
          <a:p>
            <a:pPr algn="l" rtl="0">
              <a:lnSpc>
                <a:spcPct val="90000"/>
              </a:lnSpc>
            </a:pPr>
            <a:r>
              <a:rPr lang="en-US" sz="2000" b="1" dirty="0">
                <a:latin typeface="+mn-lt"/>
                <a:cs typeface="Calibri" panose="020F0502020204030204" pitchFamily="34" charset="0"/>
              </a:rPr>
              <a:t>2026 Consumption By Billing Account </a:t>
            </a:r>
            <a:r>
              <a:rPr lang="en-US" sz="2400" b="1" dirty="0">
                <a:latin typeface="+mn-lt"/>
                <a:cs typeface="Calibri" panose="020F0502020204030204" pitchFamily="34" charset="0"/>
              </a:rPr>
              <a:t>Harel IL</a:t>
            </a:r>
            <a:endParaRPr lang="he-IL" sz="24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7" name="Picture 6" descr="A logo with a smile&#10;&#10;Description automatically generated">
            <a:extLst>
              <a:ext uri="{FF2B5EF4-FFF2-40B4-BE49-F238E27FC236}">
                <a16:creationId xmlns:a16="http://schemas.microsoft.com/office/drawing/2014/main" id="{63C7A9EF-F01F-9DDC-3344-BBD0A50AA6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839" y="126348"/>
            <a:ext cx="1571665" cy="8840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9A08E7-BEC3-0848-413E-9ED0974BB1F9}"/>
              </a:ext>
            </a:extLst>
          </p:cNvPr>
          <p:cNvSpPr txBox="1"/>
          <p:nvPr/>
        </p:nvSpPr>
        <p:spPr>
          <a:xfrm>
            <a:off x="575556" y="6599216"/>
            <a:ext cx="25922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 rtl="0">
              <a:buFont typeface="Wingdings" panose="05000000000000000000" pitchFamily="2" charset="2"/>
              <a:buChar char="§"/>
            </a:pPr>
            <a:r>
              <a:rPr lang="en-US" sz="9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Charges </a:t>
            </a:r>
            <a:r>
              <a:rPr lang="en-US" sz="900" b="1" i="1" dirty="0">
                <a:solidFill>
                  <a:srgbClr val="FF0000"/>
                </a:solidFill>
              </a:rPr>
              <a:t>do not </a:t>
            </a:r>
            <a:r>
              <a:rPr lang="en-US" sz="9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include </a:t>
            </a:r>
            <a:r>
              <a:rPr lang="en-US" sz="900" b="1" i="1" dirty="0">
                <a:solidFill>
                  <a:srgbClr val="0A3470"/>
                </a:solidFill>
              </a:rPr>
              <a:t>Marketplace</a:t>
            </a:r>
            <a:r>
              <a:rPr lang="en-US" sz="9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costs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F7F7D16-9310-18A5-19B7-57FD3C72D397}"/>
              </a:ext>
            </a:extLst>
          </p:cNvPr>
          <p:cNvSpPr/>
          <p:nvPr/>
        </p:nvSpPr>
        <p:spPr bwMode="auto">
          <a:xfrm>
            <a:off x="1558573" y="995967"/>
            <a:ext cx="1640906" cy="306467"/>
          </a:xfrm>
          <a:prstGeom prst="round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dirty="0">
                <a:solidFill>
                  <a:srgbClr val="4A6895"/>
                </a:solidFill>
              </a:rPr>
              <a:t>Cost By Account Name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2357D07-4F77-0847-6B62-143AB3EB5E0F}"/>
              </a:ext>
            </a:extLst>
          </p:cNvPr>
          <p:cNvSpPr/>
          <p:nvPr/>
        </p:nvSpPr>
        <p:spPr bwMode="auto">
          <a:xfrm>
            <a:off x="6062015" y="982993"/>
            <a:ext cx="1574871" cy="306467"/>
          </a:xfrm>
          <a:prstGeom prst="round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dirty="0">
                <a:solidFill>
                  <a:srgbClr val="4A6895"/>
                </a:solidFill>
              </a:rPr>
              <a:t>Cost By Service Name</a:t>
            </a:r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802C513F-E277-D6CE-D5F0-7DFE4BF5EE68}"/>
              </a:ext>
            </a:extLst>
          </p:cNvPr>
          <p:cNvSpPr/>
          <p:nvPr/>
        </p:nvSpPr>
        <p:spPr>
          <a:xfrm>
            <a:off x="683568" y="6298691"/>
            <a:ext cx="1728192" cy="230832"/>
          </a:xfrm>
          <a:prstGeom prst="homePlate">
            <a:avLst/>
          </a:prstGeom>
          <a:solidFill>
            <a:srgbClr val="F79646"/>
          </a:solidFill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TOTAL COST $136K</a:t>
            </a:r>
            <a:endParaRPr lang="en-IL" sz="1400" b="1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E3FB53D-2ACB-B7AB-8F36-842DAE99A1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2337257"/>
              </p:ext>
            </p:extLst>
          </p:nvPr>
        </p:nvGraphicFramePr>
        <p:xfrm>
          <a:off x="233546" y="1619579"/>
          <a:ext cx="4550414" cy="47911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0B48578-263B-61BF-6BBF-01449DAE68A6}"/>
              </a:ext>
            </a:extLst>
          </p:cNvPr>
          <p:cNvSpPr/>
          <p:nvPr/>
        </p:nvSpPr>
        <p:spPr bwMode="auto">
          <a:xfrm>
            <a:off x="3121354" y="2188101"/>
            <a:ext cx="647771" cy="691961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customers3-prod &amp; horizon-prod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46CC648-CFDD-866D-3CD5-191806AC4B05}"/>
              </a:ext>
            </a:extLst>
          </p:cNvPr>
          <p:cNvSpPr/>
          <p:nvPr/>
        </p:nvSpPr>
        <p:spPr bwMode="auto">
          <a:xfrm>
            <a:off x="3710478" y="1708186"/>
            <a:ext cx="638264" cy="903684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customers3-prod &amp; decrease due to MAP credit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A6F55A8-C359-33DD-AC8B-F824E55ABDA5}"/>
              </a:ext>
            </a:extLst>
          </p:cNvPr>
          <p:cNvSpPr/>
          <p:nvPr/>
        </p:nvSpPr>
        <p:spPr bwMode="auto">
          <a:xfrm>
            <a:off x="4300332" y="1412943"/>
            <a:ext cx="777238" cy="698063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customers3-prod &amp;</a:t>
            </a:r>
          </a:p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harel-org-02-root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E26E4C-435E-86D0-F00E-D12985BB8344}"/>
              </a:ext>
            </a:extLst>
          </p:cNvPr>
          <p:cNvSpPr/>
          <p:nvPr/>
        </p:nvSpPr>
        <p:spPr bwMode="auto">
          <a:xfrm>
            <a:off x="1141458" y="1563433"/>
            <a:ext cx="738583" cy="911870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</a:t>
            </a:r>
            <a:r>
              <a:rPr lang="en-US" sz="700" dirty="0" err="1"/>
              <a:t>cloudops</a:t>
            </a:r>
            <a:r>
              <a:rPr lang="en-US" sz="700" dirty="0"/>
              <a:t>-network</a:t>
            </a:r>
            <a:r>
              <a:rPr lang="he-IL" sz="700" dirty="0"/>
              <a:t>,</a:t>
            </a:r>
            <a:r>
              <a:rPr lang="en-US" sz="700" dirty="0"/>
              <a:t> customers3-prod, and harel-org-02-root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EEF063-522D-A73D-CC1A-40E430EBBBB1}"/>
              </a:ext>
            </a:extLst>
          </p:cNvPr>
          <p:cNvSpPr/>
          <p:nvPr/>
        </p:nvSpPr>
        <p:spPr bwMode="auto">
          <a:xfrm>
            <a:off x="1902121" y="1280324"/>
            <a:ext cx="738584" cy="911870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</a:t>
            </a:r>
            <a:r>
              <a:rPr lang="en-US" sz="700" dirty="0" err="1"/>
              <a:t>cloudops</a:t>
            </a:r>
            <a:r>
              <a:rPr lang="en-US" sz="700" dirty="0"/>
              <a:t>-network</a:t>
            </a:r>
            <a:r>
              <a:rPr lang="he-IL" sz="700" dirty="0"/>
              <a:t>,</a:t>
            </a:r>
            <a:r>
              <a:rPr lang="en-US" sz="700" dirty="0"/>
              <a:t> </a:t>
            </a:r>
            <a:r>
              <a:rPr lang="en-US" sz="700" dirty="0" err="1"/>
              <a:t>harel</a:t>
            </a:r>
            <a:r>
              <a:rPr lang="en-US" sz="700" dirty="0"/>
              <a:t>-digital-lab</a:t>
            </a:r>
            <a:r>
              <a:rPr lang="he-IL" sz="700" dirty="0"/>
              <a:t> </a:t>
            </a:r>
            <a:r>
              <a:rPr lang="en-US" sz="700" dirty="0"/>
              <a:t>and harel-org-02-root</a:t>
            </a:r>
            <a:endParaRPr lang="en-IL" sz="700" dirty="0">
              <a:solidFill>
                <a:schemeClr val="tx1"/>
              </a:solidFill>
            </a:endParaRP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775A6ADE-164C-E90F-98B3-67F14B1EEA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2017937"/>
              </p:ext>
            </p:extLst>
          </p:nvPr>
        </p:nvGraphicFramePr>
        <p:xfrm>
          <a:off x="4913242" y="1559683"/>
          <a:ext cx="4164715" cy="5748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FA238ED-A74F-27D8-B75A-8215B8BC25D2}"/>
              </a:ext>
            </a:extLst>
          </p:cNvPr>
          <p:cNvSpPr/>
          <p:nvPr/>
        </p:nvSpPr>
        <p:spPr bwMode="auto">
          <a:xfrm>
            <a:off x="5532071" y="2571175"/>
            <a:ext cx="876276" cy="340519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S3 Storage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61BE8D3-B660-32B0-73E7-6506B753A8B5}"/>
              </a:ext>
            </a:extLst>
          </p:cNvPr>
          <p:cNvSpPr/>
          <p:nvPr/>
        </p:nvSpPr>
        <p:spPr bwMode="auto">
          <a:xfrm>
            <a:off x="6264217" y="1898660"/>
            <a:ext cx="876277" cy="578882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Other, S3 – API &amp; S3 - Glacier Deep Archive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23C4A7-0197-86AB-0553-D2B0F5DDE6E7}"/>
              </a:ext>
            </a:extLst>
          </p:cNvPr>
          <p:cNvSpPr/>
          <p:nvPr/>
        </p:nvSpPr>
        <p:spPr bwMode="auto">
          <a:xfrm>
            <a:off x="7517112" y="2188101"/>
            <a:ext cx="600822" cy="903684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S3 - Glacier Deep Archive  &amp; RDS compute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54572CA-2426-B24D-D3DB-2AE5E1925DC3}"/>
              </a:ext>
            </a:extLst>
          </p:cNvPr>
          <p:cNvSpPr/>
          <p:nvPr/>
        </p:nvSpPr>
        <p:spPr bwMode="auto">
          <a:xfrm>
            <a:off x="8130022" y="2213963"/>
            <a:ext cx="600822" cy="795814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S3</a:t>
            </a:r>
          </a:p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chemeClr val="tx1"/>
                </a:solidFill>
              </a:rPr>
              <a:t>Decrease due to MAP credit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827E673-0E11-CDDE-8B89-32E742E254E8}"/>
              </a:ext>
            </a:extLst>
          </p:cNvPr>
          <p:cNvSpPr/>
          <p:nvPr/>
        </p:nvSpPr>
        <p:spPr bwMode="auto">
          <a:xfrm>
            <a:off x="8543178" y="1809728"/>
            <a:ext cx="600822" cy="340519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S3</a:t>
            </a:r>
          </a:p>
        </p:txBody>
      </p:sp>
    </p:spTree>
    <p:extLst>
      <p:ext uri="{BB962C8B-B14F-4D97-AF65-F5344CB8AC3E}">
        <p14:creationId xmlns:p14="http://schemas.microsoft.com/office/powerpoint/2010/main" val="3910010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064F-4003-A436-C0A2-FDF4FAB7A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6A54B359-31C5-D01B-FEDA-65DF14E4A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919" y="663190"/>
            <a:ext cx="6679433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400" b="1" dirty="0">
                <a:latin typeface="+mn-lt"/>
                <a:cs typeface="Calibri" panose="020F0502020204030204" pitchFamily="34" charset="0"/>
              </a:rPr>
              <a:t>2026 Market Place Purchases </a:t>
            </a:r>
            <a:br>
              <a:rPr lang="en-US" sz="2800" b="1" dirty="0">
                <a:latin typeface="+mn-lt"/>
                <a:cs typeface="Calibri" panose="020F0502020204030204" pitchFamily="34" charset="0"/>
              </a:rPr>
            </a:br>
            <a:endParaRPr lang="he-IL" sz="28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5" name="Picture 4" descr="A logo with a smile&#10;&#10;Description automatically generated">
            <a:extLst>
              <a:ext uri="{FF2B5EF4-FFF2-40B4-BE49-F238E27FC236}">
                <a16:creationId xmlns:a16="http://schemas.microsoft.com/office/drawing/2014/main" id="{D69C55F8-2D92-9DFC-3DD1-6CBF3CAE8A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839" y="126348"/>
            <a:ext cx="1571665" cy="884061"/>
          </a:xfrm>
          <a:prstGeom prst="rect">
            <a:avLst/>
          </a:prstGeom>
        </p:spPr>
      </p:pic>
      <p:sp>
        <p:nvSpPr>
          <p:cNvPr id="9" name="Arrow: Pentagon 8">
            <a:extLst>
              <a:ext uri="{FF2B5EF4-FFF2-40B4-BE49-F238E27FC236}">
                <a16:creationId xmlns:a16="http://schemas.microsoft.com/office/drawing/2014/main" id="{0AF58880-5E6C-4542-026A-EFC14E435CFB}"/>
              </a:ext>
            </a:extLst>
          </p:cNvPr>
          <p:cNvSpPr/>
          <p:nvPr/>
        </p:nvSpPr>
        <p:spPr>
          <a:xfrm>
            <a:off x="395536" y="6305322"/>
            <a:ext cx="2016224" cy="230832"/>
          </a:xfrm>
          <a:prstGeom prst="homePlate">
            <a:avLst/>
          </a:prstGeom>
          <a:solidFill>
            <a:srgbClr val="F79646"/>
          </a:solidFill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TOTAL COST $1.6M</a:t>
            </a:r>
            <a:endParaRPr lang="en-IL" sz="1400" b="1" dirty="0"/>
          </a:p>
        </p:txBody>
      </p:sp>
      <p:pic>
        <p:nvPicPr>
          <p:cNvPr id="7" name="Picture 6" descr="A store with a shopping cart&#10;&#10;Description automatically generated">
            <a:extLst>
              <a:ext uri="{FF2B5EF4-FFF2-40B4-BE49-F238E27FC236}">
                <a16:creationId xmlns:a16="http://schemas.microsoft.com/office/drawing/2014/main" id="{BC6EE802-DC71-73FF-B94B-F69FE02C54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400635" y="1074316"/>
            <a:ext cx="1081268" cy="1081268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D5E2AFD-B584-C9A1-1C01-FF06D7D5CC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9151283"/>
              </p:ext>
            </p:extLst>
          </p:nvPr>
        </p:nvGraphicFramePr>
        <p:xfrm>
          <a:off x="107504" y="1332398"/>
          <a:ext cx="8352927" cy="4630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04865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AFFC8-ED32-5AEB-CC36-276CB2E0C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0">
            <a:extLst>
              <a:ext uri="{FF2B5EF4-FFF2-40B4-BE49-F238E27FC236}">
                <a16:creationId xmlns:a16="http://schemas.microsoft.com/office/drawing/2014/main" id="{21959B73-F9CA-0832-76C5-C9D4B4599712}"/>
              </a:ext>
            </a:extLst>
          </p:cNvPr>
          <p:cNvSpPr/>
          <p:nvPr/>
        </p:nvSpPr>
        <p:spPr bwMode="auto">
          <a:xfrm>
            <a:off x="151497" y="6469640"/>
            <a:ext cx="201243" cy="216024"/>
          </a:xfrm>
          <a:prstGeom prst="ellipse">
            <a:avLst/>
          </a:prstGeom>
          <a:solidFill>
            <a:srgbClr val="0A347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TextBox 46">
            <a:extLst>
              <a:ext uri="{FF2B5EF4-FFF2-40B4-BE49-F238E27FC236}">
                <a16:creationId xmlns:a16="http://schemas.microsoft.com/office/drawing/2014/main" id="{D7BE8D2C-E7E9-0DEC-BF2F-8D607F498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19" y="6452056"/>
            <a:ext cx="36004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rtl="0" eaLnBrk="1" hangingPunct="1"/>
            <a:fld id="{42511F0F-8D32-47EB-9D11-300C5AB9E50E}" type="slidenum">
              <a:rPr lang="id-ID" altLang="he-IL" sz="1100" smtClean="0">
                <a:solidFill>
                  <a:schemeClr val="bg1"/>
                </a:solidFill>
                <a:latin typeface="Raleway"/>
                <a:ea typeface="Roboto Condensed Light"/>
                <a:cs typeface="Lato Heavy"/>
              </a:rPr>
              <a:t>8</a:t>
            </a:fld>
            <a:endParaRPr lang="id-ID" altLang="he-IL" sz="1100" dirty="0">
              <a:solidFill>
                <a:schemeClr val="bg1"/>
              </a:solidFill>
              <a:latin typeface="Raleway"/>
              <a:ea typeface="Roboto Condensed Light"/>
              <a:cs typeface="Lato Heavy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04B86F-7B76-7BFD-7A78-56F7158E6160}"/>
              </a:ext>
            </a:extLst>
          </p:cNvPr>
          <p:cNvSpPr txBox="1"/>
          <p:nvPr/>
        </p:nvSpPr>
        <p:spPr>
          <a:xfrm>
            <a:off x="2430813" y="1962859"/>
            <a:ext cx="67393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Verdana" panose="020B0604030504040204" pitchFamily="34" charset="0"/>
                <a:cs typeface="HELVETICA" panose="020B0604020202020204" pitchFamily="34" charset="0"/>
              </a:rPr>
              <a:t> Azure-2026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Verdana" panose="020B0604030504040204" pitchFamily="34" charset="0"/>
                <a:cs typeface="HELVETICA" panose="020B0604020202020204" pitchFamily="34" charset="0"/>
              </a:rPr>
              <a:t>Cloud Cost Summary</a:t>
            </a:r>
            <a:endParaRPr lang="en-IL" sz="6000" dirty="0">
              <a:solidFill>
                <a:schemeClr val="bg1"/>
              </a:solidFill>
            </a:endParaRPr>
          </a:p>
        </p:txBody>
      </p:sp>
      <p:pic>
        <p:nvPicPr>
          <p:cNvPr id="3" name="Picture 2" descr="A blue cloud with black text&#10;&#10;Description automatically generated">
            <a:extLst>
              <a:ext uri="{FF2B5EF4-FFF2-40B4-BE49-F238E27FC236}">
                <a16:creationId xmlns:a16="http://schemas.microsoft.com/office/drawing/2014/main" id="{0F81BD1C-3422-493E-2F26-AA8855E3F6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908720"/>
            <a:ext cx="2016223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444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96521-5352-23E6-586D-9F41F5053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7364BEDB-188F-B522-27C4-D46997257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691023"/>
            <a:ext cx="5518670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400" b="1" dirty="0">
                <a:latin typeface="+mn-lt"/>
                <a:cs typeface="Calibri" panose="020F0502020204030204" pitchFamily="34" charset="0"/>
              </a:rPr>
              <a:t>2026 Consumption By Cost Center</a:t>
            </a:r>
            <a:br>
              <a:rPr lang="en-US" sz="2800" b="1" dirty="0">
                <a:latin typeface="+mn-lt"/>
                <a:cs typeface="Calibri" panose="020F0502020204030204" pitchFamily="34" charset="0"/>
              </a:rPr>
            </a:br>
            <a:endParaRPr lang="he-IL" sz="28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5" name="Picture 4" descr="A blue cloud with black text&#10;&#10;Description automatically generated">
            <a:extLst>
              <a:ext uri="{FF2B5EF4-FFF2-40B4-BE49-F238E27FC236}">
                <a16:creationId xmlns:a16="http://schemas.microsoft.com/office/drawing/2014/main" id="{E6E3CDF0-18D3-BAEC-21B6-66CF7F99FE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50792"/>
            <a:ext cx="1548471" cy="8848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DAC8C6-582C-3F31-3579-B6CCD8B56CAB}"/>
              </a:ext>
            </a:extLst>
          </p:cNvPr>
          <p:cNvSpPr txBox="1"/>
          <p:nvPr/>
        </p:nvSpPr>
        <p:spPr>
          <a:xfrm>
            <a:off x="251520" y="6586093"/>
            <a:ext cx="28443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en-US" sz="1000" b="1" i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Charges </a:t>
            </a:r>
            <a:r>
              <a:rPr lang="en-US" sz="1000" b="1" i="1" u="sng" dirty="0">
                <a:solidFill>
                  <a:srgbClr val="FF0000"/>
                </a:solidFill>
              </a:rPr>
              <a:t>do not </a:t>
            </a:r>
            <a:r>
              <a:rPr lang="en-US" sz="1000" b="1" i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include </a:t>
            </a:r>
            <a:r>
              <a:rPr lang="en-US" sz="1000" b="1" i="1" u="sng" dirty="0">
                <a:solidFill>
                  <a:srgbClr val="0A3470"/>
                </a:solidFill>
              </a:rPr>
              <a:t>Marketplace </a:t>
            </a:r>
            <a:r>
              <a:rPr lang="en-US" sz="1000" b="1" i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costs</a:t>
            </a: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A469985D-6EA7-E762-58D9-9FB3D8B64083}"/>
              </a:ext>
            </a:extLst>
          </p:cNvPr>
          <p:cNvSpPr/>
          <p:nvPr/>
        </p:nvSpPr>
        <p:spPr>
          <a:xfrm>
            <a:off x="4705482" y="-1035633"/>
            <a:ext cx="762567" cy="459700"/>
          </a:xfrm>
          <a:prstGeom prst="homePlate">
            <a:avLst/>
          </a:prstGeom>
          <a:solidFill>
            <a:srgbClr val="F79646"/>
          </a:solidFill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TOTAL COST $2.11M</a:t>
            </a:r>
            <a:endParaRPr lang="en-IL" sz="1400" b="1" dirty="0"/>
          </a:p>
        </p:txBody>
      </p:sp>
      <p:sp>
        <p:nvSpPr>
          <p:cNvPr id="20" name="Arrow: Pentagon 19">
            <a:extLst>
              <a:ext uri="{FF2B5EF4-FFF2-40B4-BE49-F238E27FC236}">
                <a16:creationId xmlns:a16="http://schemas.microsoft.com/office/drawing/2014/main" id="{2AA891D4-51A0-F1DD-AB21-A49EF3858DA9}"/>
              </a:ext>
            </a:extLst>
          </p:cNvPr>
          <p:cNvSpPr/>
          <p:nvPr/>
        </p:nvSpPr>
        <p:spPr>
          <a:xfrm>
            <a:off x="395536" y="6305322"/>
            <a:ext cx="2016224" cy="230832"/>
          </a:xfrm>
          <a:prstGeom prst="homePlate">
            <a:avLst/>
          </a:prstGeom>
          <a:solidFill>
            <a:srgbClr val="F79646"/>
          </a:solidFill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TOTAL COST $1.30M</a:t>
            </a:r>
            <a:endParaRPr lang="en-IL" sz="1400" b="1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EC81A9A-59B3-174D-7AC6-6399AA21433B}"/>
              </a:ext>
            </a:extLst>
          </p:cNvPr>
          <p:cNvSpPr/>
          <p:nvPr/>
        </p:nvSpPr>
        <p:spPr bwMode="auto">
          <a:xfrm>
            <a:off x="2192136" y="2156094"/>
            <a:ext cx="762567" cy="459700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</a:t>
            </a:r>
            <a:r>
              <a:rPr lang="en-US" sz="700" dirty="0" err="1"/>
              <a:t>cloudit</a:t>
            </a:r>
            <a:r>
              <a:rPr lang="en-US" sz="700" dirty="0"/>
              <a:t>, sap &amp; </a:t>
            </a:r>
            <a:r>
              <a:rPr lang="en-US" sz="700" dirty="0" err="1"/>
              <a:t>datacloud</a:t>
            </a:r>
            <a:endParaRPr lang="en-IL" sz="700" dirty="0">
              <a:solidFill>
                <a:schemeClr val="tx1"/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6DC3CA7-9C45-5086-8360-BA799F813A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0204588"/>
              </p:ext>
            </p:extLst>
          </p:nvPr>
        </p:nvGraphicFramePr>
        <p:xfrm>
          <a:off x="6256458" y="2156094"/>
          <a:ext cx="2590800" cy="35051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10137A3-6469-639A-35D8-FCA5A8323A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8600111"/>
              </p:ext>
            </p:extLst>
          </p:nvPr>
        </p:nvGraphicFramePr>
        <p:xfrm>
          <a:off x="424136" y="2116075"/>
          <a:ext cx="5518670" cy="3752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443095C-B2F8-C4D2-2181-4DBBC0FDEDB1}"/>
              </a:ext>
            </a:extLst>
          </p:cNvPr>
          <p:cNvSpPr/>
          <p:nvPr/>
        </p:nvSpPr>
        <p:spPr bwMode="auto">
          <a:xfrm>
            <a:off x="3839577" y="2237128"/>
            <a:ext cx="762567" cy="459700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AI Factory &amp; others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914B602-E7FC-AD44-E468-5AF7339B9380}"/>
              </a:ext>
            </a:extLst>
          </p:cNvPr>
          <p:cNvSpPr/>
          <p:nvPr/>
        </p:nvSpPr>
        <p:spPr bwMode="auto">
          <a:xfrm>
            <a:off x="987132" y="2369682"/>
            <a:ext cx="762567" cy="459700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Risk Agility &amp; ACTUARY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E4851C-4750-3E5D-663B-7E2DF77EE816}"/>
              </a:ext>
            </a:extLst>
          </p:cNvPr>
          <p:cNvSpPr/>
          <p:nvPr/>
        </p:nvSpPr>
        <p:spPr bwMode="auto">
          <a:xfrm>
            <a:off x="4582755" y="1776967"/>
            <a:ext cx="762567" cy="578882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</a:t>
            </a:r>
            <a:r>
              <a:rPr lang="en-US" sz="700" dirty="0" err="1"/>
              <a:t>cloudops</a:t>
            </a:r>
            <a:r>
              <a:rPr lang="en-US" sz="700" dirty="0"/>
              <a:t>, </a:t>
            </a:r>
            <a:r>
              <a:rPr lang="en-US" sz="700" dirty="0" err="1"/>
              <a:t>datacloud</a:t>
            </a:r>
            <a:r>
              <a:rPr lang="en-US" sz="700" dirty="0"/>
              <a:t>, </a:t>
            </a:r>
            <a:r>
              <a:rPr lang="en-US" sz="700" dirty="0" err="1"/>
              <a:t>cloudit</a:t>
            </a:r>
            <a:endParaRPr lang="en-IL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514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0DDB268-EE2E-2C51-8661-CC848EF91D74}"/>
              </a:ext>
            </a:extLst>
          </p:cNvPr>
          <p:cNvSpPr txBox="1">
            <a:spLocks/>
          </p:cNvSpPr>
          <p:nvPr/>
        </p:nvSpPr>
        <p:spPr>
          <a:xfrm>
            <a:off x="1043608" y="502092"/>
            <a:ext cx="6679433" cy="641553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spcBef>
                <a:spcPct val="0"/>
              </a:spcBef>
              <a:buNone/>
              <a:defRPr sz="6000" b="0" kern="1200">
                <a:solidFill>
                  <a:schemeClr val="bg1"/>
                </a:solidFill>
                <a:latin typeface="ProtocolHarel" pitchFamily="2" charset="-79"/>
                <a:ea typeface="+mj-ea"/>
                <a:cs typeface="ProtocolHarel" pitchFamily="2" charset="-79"/>
              </a:defRPr>
            </a:lvl1pPr>
          </a:lstStyle>
          <a:p>
            <a:pPr algn="l" rtl="0">
              <a:lnSpc>
                <a:spcPct val="90000"/>
              </a:lnSpc>
            </a:pPr>
            <a:r>
              <a:rPr lang="en-US" sz="2400" b="1" dirty="0">
                <a:latin typeface="+mn-lt"/>
                <a:cs typeface="Calibri" panose="020F0502020204030204" pitchFamily="34" charset="0"/>
              </a:rPr>
              <a:t>2026 Consumption By Service Name</a:t>
            </a:r>
            <a:endParaRPr lang="he-IL" sz="24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6" name="Picture 5" descr="A blue cloud with black text&#10;&#10;Description automatically generated">
            <a:extLst>
              <a:ext uri="{FF2B5EF4-FFF2-40B4-BE49-F238E27FC236}">
                <a16:creationId xmlns:a16="http://schemas.microsoft.com/office/drawing/2014/main" id="{C11991A9-8845-87FD-2F5C-EC618EDD2B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50792"/>
            <a:ext cx="1548471" cy="8848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73A323-468E-4120-5ACD-03267082191A}"/>
              </a:ext>
            </a:extLst>
          </p:cNvPr>
          <p:cNvSpPr txBox="1"/>
          <p:nvPr/>
        </p:nvSpPr>
        <p:spPr>
          <a:xfrm>
            <a:off x="251520" y="6586093"/>
            <a:ext cx="28443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en-US" sz="1000" b="1" i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Charges </a:t>
            </a:r>
            <a:r>
              <a:rPr lang="en-US" sz="1000" b="1" i="1" u="sng" dirty="0">
                <a:solidFill>
                  <a:srgbClr val="FF0000"/>
                </a:solidFill>
              </a:rPr>
              <a:t>do not </a:t>
            </a:r>
            <a:r>
              <a:rPr lang="en-US" sz="1000" b="1" i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include </a:t>
            </a:r>
            <a:r>
              <a:rPr lang="en-US" sz="1000" b="1" i="1" u="sng" dirty="0">
                <a:solidFill>
                  <a:srgbClr val="0A3470"/>
                </a:solidFill>
              </a:rPr>
              <a:t>Marketplace </a:t>
            </a:r>
            <a:r>
              <a:rPr lang="en-US" sz="1000" b="1" i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costs</a:t>
            </a:r>
          </a:p>
        </p:txBody>
      </p:sp>
      <p:sp>
        <p:nvSpPr>
          <p:cNvPr id="22" name="Arrow: Pentagon 21">
            <a:extLst>
              <a:ext uri="{FF2B5EF4-FFF2-40B4-BE49-F238E27FC236}">
                <a16:creationId xmlns:a16="http://schemas.microsoft.com/office/drawing/2014/main" id="{C3924A5A-0D58-70B2-8521-9C98FBD1C486}"/>
              </a:ext>
            </a:extLst>
          </p:cNvPr>
          <p:cNvSpPr/>
          <p:nvPr/>
        </p:nvSpPr>
        <p:spPr>
          <a:xfrm>
            <a:off x="395536" y="6305322"/>
            <a:ext cx="2016224" cy="230832"/>
          </a:xfrm>
          <a:prstGeom prst="homePlate">
            <a:avLst/>
          </a:prstGeom>
          <a:solidFill>
            <a:srgbClr val="F79646"/>
          </a:solidFill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TOTAL COST $1.30M</a:t>
            </a:r>
            <a:endParaRPr lang="en-IL" sz="1400" b="1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1CE865E-5075-B3AB-23E8-9D8589C562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6933413"/>
              </p:ext>
            </p:extLst>
          </p:nvPr>
        </p:nvGraphicFramePr>
        <p:xfrm>
          <a:off x="233772" y="1402646"/>
          <a:ext cx="8676456" cy="4835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A45303E-FCFF-F307-5438-A21F67CAAE4D}"/>
              </a:ext>
            </a:extLst>
          </p:cNvPr>
          <p:cNvSpPr/>
          <p:nvPr/>
        </p:nvSpPr>
        <p:spPr bwMode="auto">
          <a:xfrm>
            <a:off x="1060817" y="1455963"/>
            <a:ext cx="785390" cy="698063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due to Databricks &amp; Virtual Machines &amp; Foundry Tools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3BCC118-F551-C826-AD16-3BA0B7BCD688}"/>
              </a:ext>
            </a:extLst>
          </p:cNvPr>
          <p:cNvSpPr/>
          <p:nvPr/>
        </p:nvSpPr>
        <p:spPr bwMode="auto">
          <a:xfrm>
            <a:off x="2877519" y="1676374"/>
            <a:ext cx="1068300" cy="459700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due to Log Analytics, Sentinel, Foundry tools 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189E2D-0919-8F48-199D-79DE16787243}"/>
              </a:ext>
            </a:extLst>
          </p:cNvPr>
          <p:cNvSpPr/>
          <p:nvPr/>
        </p:nvSpPr>
        <p:spPr bwMode="auto">
          <a:xfrm>
            <a:off x="5675252" y="1652704"/>
            <a:ext cx="1068300" cy="459700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due </a:t>
            </a:r>
            <a:r>
              <a:rPr lang="en-US" sz="700" dirty="0" err="1"/>
              <a:t>Github</a:t>
            </a:r>
            <a:r>
              <a:rPr lang="en-US" sz="700" dirty="0"/>
              <a:t>, foundry models, foundry tools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8D0641-DA62-C2AF-0677-93875F6D9549}"/>
              </a:ext>
            </a:extLst>
          </p:cNvPr>
          <p:cNvSpPr/>
          <p:nvPr/>
        </p:nvSpPr>
        <p:spPr bwMode="auto">
          <a:xfrm>
            <a:off x="6767464" y="1287611"/>
            <a:ext cx="1068300" cy="578882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due to</a:t>
            </a:r>
          </a:p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chemeClr val="tx1"/>
                </a:solidFill>
              </a:rPr>
              <a:t>Copilot</a:t>
            </a:r>
          </a:p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 err="1">
                <a:solidFill>
                  <a:schemeClr val="tx1"/>
                </a:solidFill>
              </a:rPr>
              <a:t>Github</a:t>
            </a:r>
            <a:endParaRPr lang="en-US" sz="700" dirty="0">
              <a:solidFill>
                <a:schemeClr val="tx1"/>
              </a:solidFill>
            </a:endParaRPr>
          </a:p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chemeClr val="tx1"/>
                </a:solidFill>
              </a:rPr>
              <a:t>Virtual network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702E916-A585-98F8-B57A-36DF9E5A67E0}"/>
              </a:ext>
            </a:extLst>
          </p:cNvPr>
          <p:cNvSpPr/>
          <p:nvPr/>
        </p:nvSpPr>
        <p:spPr bwMode="auto">
          <a:xfrm>
            <a:off x="7865840" y="1455963"/>
            <a:ext cx="1001236" cy="459700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due to</a:t>
            </a:r>
          </a:p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 err="1">
                <a:solidFill>
                  <a:schemeClr val="tx1"/>
                </a:solidFill>
              </a:rPr>
              <a:t>Github</a:t>
            </a:r>
            <a:endParaRPr lang="en-US" sz="700" dirty="0">
              <a:solidFill>
                <a:schemeClr val="tx1"/>
              </a:solidFill>
            </a:endParaRPr>
          </a:p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chemeClr val="tx1"/>
                </a:solidFill>
              </a:rPr>
              <a:t>Decrease VM </a:t>
            </a:r>
            <a:endParaRPr lang="en-IL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510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13D40-AA76-F714-C55B-DBE02B3A7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1A3D5BEE-82F9-70D8-756B-19841718F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275" y="666965"/>
            <a:ext cx="6679433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400" b="1" dirty="0">
                <a:latin typeface="+mn-lt"/>
                <a:cs typeface="Calibri" panose="020F0502020204030204" pitchFamily="34" charset="0"/>
              </a:rPr>
              <a:t>2026 Market Place Purchases </a:t>
            </a:r>
            <a:br>
              <a:rPr lang="en-US" sz="2800" b="1" dirty="0">
                <a:latin typeface="+mn-lt"/>
                <a:cs typeface="Calibri" panose="020F0502020204030204" pitchFamily="34" charset="0"/>
              </a:rPr>
            </a:br>
            <a:endParaRPr lang="he-IL" sz="28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5EDA14-B34A-4853-A4E4-8C4FEA369EB2}"/>
              </a:ext>
            </a:extLst>
          </p:cNvPr>
          <p:cNvSpPr txBox="1"/>
          <p:nvPr/>
        </p:nvSpPr>
        <p:spPr>
          <a:xfrm>
            <a:off x="136015" y="6443226"/>
            <a:ext cx="3888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 rtl="0">
              <a:buFont typeface="Wingdings" panose="05000000000000000000" pitchFamily="2" charset="2"/>
              <a:buChar char="§"/>
            </a:pPr>
            <a:r>
              <a:rPr lang="en-US" sz="9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Please note that the MARKETPLACE is located under SHARED RESOURCES.</a:t>
            </a:r>
            <a:endParaRPr lang="en-IL" sz="9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Picture 6" descr="A store with a shopping cart&#10;&#10;Description automatically generated">
            <a:extLst>
              <a:ext uri="{FF2B5EF4-FFF2-40B4-BE49-F238E27FC236}">
                <a16:creationId xmlns:a16="http://schemas.microsoft.com/office/drawing/2014/main" id="{85500F1A-91BE-090E-2B42-EAF349DBD0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70823" y="5796171"/>
            <a:ext cx="1000650" cy="1000650"/>
          </a:xfrm>
          <a:prstGeom prst="rect">
            <a:avLst/>
          </a:prstGeom>
        </p:spPr>
      </p:pic>
      <p:sp>
        <p:nvSpPr>
          <p:cNvPr id="5" name="Arrow: Pentagon 4">
            <a:extLst>
              <a:ext uri="{FF2B5EF4-FFF2-40B4-BE49-F238E27FC236}">
                <a16:creationId xmlns:a16="http://schemas.microsoft.com/office/drawing/2014/main" id="{AF390F50-6353-D13E-0F41-12E5DC4710BD}"/>
              </a:ext>
            </a:extLst>
          </p:cNvPr>
          <p:cNvSpPr/>
          <p:nvPr/>
        </p:nvSpPr>
        <p:spPr>
          <a:xfrm>
            <a:off x="323528" y="6161927"/>
            <a:ext cx="1944216" cy="269139"/>
          </a:xfrm>
          <a:prstGeom prst="homePlate">
            <a:avLst/>
          </a:prstGeom>
          <a:solidFill>
            <a:srgbClr val="4A6895"/>
          </a:solidFill>
          <a:ln>
            <a:solidFill>
              <a:srgbClr val="4A6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TOTAL COST $555K </a:t>
            </a:r>
            <a:endParaRPr lang="en-IL" sz="1600" b="1" dirty="0"/>
          </a:p>
        </p:txBody>
      </p:sp>
      <p:pic>
        <p:nvPicPr>
          <p:cNvPr id="6" name="Picture 5" descr="A blue cloud with black text&#10;&#10;Description automatically generated">
            <a:extLst>
              <a:ext uri="{FF2B5EF4-FFF2-40B4-BE49-F238E27FC236}">
                <a16:creationId xmlns:a16="http://schemas.microsoft.com/office/drawing/2014/main" id="{856BFA4F-6815-566C-9F76-DA5BD74781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50792"/>
            <a:ext cx="1548471" cy="884841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4DDAD89-D069-E241-0E47-B0EABF5BF5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4024936"/>
              </p:ext>
            </p:extLst>
          </p:nvPr>
        </p:nvGraphicFramePr>
        <p:xfrm>
          <a:off x="409003" y="1150380"/>
          <a:ext cx="8181976" cy="48748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A1253F2-D1BA-99F3-8F8D-BFF86279D86E}"/>
              </a:ext>
            </a:extLst>
          </p:cNvPr>
          <p:cNvSpPr/>
          <p:nvPr/>
        </p:nvSpPr>
        <p:spPr bwMode="auto">
          <a:xfrm>
            <a:off x="6622954" y="3663420"/>
            <a:ext cx="1244393" cy="340519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b="1" dirty="0"/>
              <a:t>$22K for Commvault Backup &amp; Recovery </a:t>
            </a:r>
            <a:endParaRPr lang="en-IL" sz="700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6CB036-8D84-F147-FD86-9C4DD76EAE3D}"/>
              </a:ext>
            </a:extLst>
          </p:cNvPr>
          <p:cNvSpPr/>
          <p:nvPr/>
        </p:nvSpPr>
        <p:spPr bwMode="auto">
          <a:xfrm>
            <a:off x="3757963" y="1569313"/>
            <a:ext cx="1244393" cy="459700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b="1" dirty="0"/>
              <a:t>$504K for Databricks’ commitment contract - Azure P3 pre-purchase plan</a:t>
            </a:r>
            <a:endParaRPr lang="en-IL" sz="700" b="1" dirty="0"/>
          </a:p>
        </p:txBody>
      </p:sp>
    </p:spTree>
    <p:extLst>
      <p:ext uri="{BB962C8B-B14F-4D97-AF65-F5344CB8AC3E}">
        <p14:creationId xmlns:p14="http://schemas.microsoft.com/office/powerpoint/2010/main" val="2316002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2C745-27CC-1A03-4BE9-BAB3B1511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15E9E0F7-736E-F3CA-914F-DEC026202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952" y="615833"/>
            <a:ext cx="6679433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200" b="1" dirty="0">
                <a:latin typeface="+mn-lt"/>
                <a:cs typeface="Calibri" panose="020F0502020204030204" pitchFamily="34" charset="0"/>
              </a:rPr>
              <a:t>2026 Consumption By Cost Center – Data Cloud</a:t>
            </a:r>
            <a:br>
              <a:rPr lang="en-US" sz="2200" b="1" dirty="0">
                <a:latin typeface="+mn-lt"/>
                <a:cs typeface="Calibri" panose="020F0502020204030204" pitchFamily="34" charset="0"/>
              </a:rPr>
            </a:br>
            <a:endParaRPr lang="he-IL" sz="22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D300B29A-746E-50D8-0149-942CB251BA7E}"/>
              </a:ext>
            </a:extLst>
          </p:cNvPr>
          <p:cNvSpPr/>
          <p:nvPr/>
        </p:nvSpPr>
        <p:spPr>
          <a:xfrm>
            <a:off x="179512" y="6309320"/>
            <a:ext cx="1728192" cy="216461"/>
          </a:xfrm>
          <a:prstGeom prst="homePlate">
            <a:avLst/>
          </a:prstGeom>
          <a:solidFill>
            <a:srgbClr val="4A6895"/>
          </a:solidFill>
          <a:ln>
            <a:solidFill>
              <a:srgbClr val="4A6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Total Cost $390K </a:t>
            </a:r>
            <a:endParaRPr lang="en-IL" sz="1600" b="1" dirty="0"/>
          </a:p>
        </p:txBody>
      </p:sp>
      <p:pic>
        <p:nvPicPr>
          <p:cNvPr id="5" name="Picture 4" descr="A blue cloud with black text&#10;&#10;Description automatically generated">
            <a:extLst>
              <a:ext uri="{FF2B5EF4-FFF2-40B4-BE49-F238E27FC236}">
                <a16:creationId xmlns:a16="http://schemas.microsoft.com/office/drawing/2014/main" id="{94DC340A-97F1-E762-A7C1-1C636FFBCE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538" y="117080"/>
            <a:ext cx="1548471" cy="88484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64B3659-55B5-CC1A-2831-120F25AF9986}"/>
              </a:ext>
            </a:extLst>
          </p:cNvPr>
          <p:cNvSpPr txBox="1"/>
          <p:nvPr/>
        </p:nvSpPr>
        <p:spPr>
          <a:xfrm>
            <a:off x="6177031" y="1392996"/>
            <a:ext cx="19610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Cost By Service 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46EEB4-D484-73B9-C8CC-8033A94F59A2}"/>
              </a:ext>
            </a:extLst>
          </p:cNvPr>
          <p:cNvSpPr txBox="1"/>
          <p:nvPr/>
        </p:nvSpPr>
        <p:spPr>
          <a:xfrm>
            <a:off x="1220116" y="1400450"/>
            <a:ext cx="24069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4A6895"/>
                </a:solidFill>
              </a:rPr>
              <a:t>Cost By Subscription Name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A36E21E-6482-CE55-14CA-E159164B67E5}"/>
              </a:ext>
            </a:extLst>
          </p:cNvPr>
          <p:cNvSpPr/>
          <p:nvPr/>
        </p:nvSpPr>
        <p:spPr bwMode="auto">
          <a:xfrm>
            <a:off x="711322" y="2001628"/>
            <a:ext cx="664572" cy="459700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</a:t>
            </a:r>
            <a:r>
              <a:rPr lang="en-US" sz="700" dirty="0" err="1"/>
              <a:t>DataCloud</a:t>
            </a:r>
            <a:r>
              <a:rPr lang="en-US" sz="700" dirty="0"/>
              <a:t> dev SUB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7D48937-06A8-27D8-B8A3-DA79F77EA765}"/>
              </a:ext>
            </a:extLst>
          </p:cNvPr>
          <p:cNvSpPr/>
          <p:nvPr/>
        </p:nvSpPr>
        <p:spPr bwMode="auto">
          <a:xfrm>
            <a:off x="1317380" y="1844380"/>
            <a:ext cx="664572" cy="578882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</a:t>
            </a:r>
            <a:r>
              <a:rPr lang="en-US" sz="700" dirty="0" err="1"/>
              <a:t>DataCloud</a:t>
            </a:r>
            <a:r>
              <a:rPr lang="en-US" sz="700" dirty="0"/>
              <a:t> prod &amp; INSAIT SUB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531D80D-128D-0688-2FC0-C0D057F8F258}"/>
              </a:ext>
            </a:extLst>
          </p:cNvPr>
          <p:cNvSpPr/>
          <p:nvPr/>
        </p:nvSpPr>
        <p:spPr bwMode="auto">
          <a:xfrm>
            <a:off x="1905058" y="1778701"/>
            <a:ext cx="620538" cy="578882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</a:t>
            </a:r>
            <a:r>
              <a:rPr lang="en-US" sz="700" dirty="0" err="1"/>
              <a:t>DataCloud</a:t>
            </a:r>
            <a:r>
              <a:rPr lang="en-US" sz="700" dirty="0"/>
              <a:t> prod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1CD90D7-34F3-84E1-A0F0-B39313D547AD}"/>
              </a:ext>
            </a:extLst>
          </p:cNvPr>
          <p:cNvSpPr/>
          <p:nvPr/>
        </p:nvSpPr>
        <p:spPr bwMode="auto">
          <a:xfrm>
            <a:off x="2736614" y="2106067"/>
            <a:ext cx="704560" cy="459700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</a:t>
            </a:r>
            <a:r>
              <a:rPr lang="en-US" sz="700" dirty="0" err="1"/>
              <a:t>Solugen</a:t>
            </a:r>
            <a:r>
              <a:rPr lang="en-US" sz="700" dirty="0"/>
              <a:t> Production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B017319-3939-5E5B-3904-181563F996DD}"/>
              </a:ext>
            </a:extLst>
          </p:cNvPr>
          <p:cNvSpPr/>
          <p:nvPr/>
        </p:nvSpPr>
        <p:spPr bwMode="auto">
          <a:xfrm>
            <a:off x="3534036" y="2053717"/>
            <a:ext cx="704560" cy="459700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</a:t>
            </a:r>
            <a:r>
              <a:rPr lang="en-US" sz="700" dirty="0" err="1"/>
              <a:t>DataCloud</a:t>
            </a:r>
            <a:r>
              <a:rPr lang="en-US" sz="700" dirty="0"/>
              <a:t> prod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6597BF1-AF6B-ECAD-A3CE-7C0D83DAA4D2}"/>
              </a:ext>
            </a:extLst>
          </p:cNvPr>
          <p:cNvSpPr/>
          <p:nvPr/>
        </p:nvSpPr>
        <p:spPr bwMode="auto">
          <a:xfrm>
            <a:off x="7133286" y="2106067"/>
            <a:ext cx="625447" cy="459700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Decrease due to RI Databricks</a:t>
            </a:r>
            <a:endParaRPr lang="en-IL" sz="700" dirty="0">
              <a:solidFill>
                <a:schemeClr val="tx1"/>
              </a:solidFill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192AB38-3AA1-A87B-3BB0-F28C1514CA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258214"/>
              </p:ext>
            </p:extLst>
          </p:nvPr>
        </p:nvGraphicFramePr>
        <p:xfrm>
          <a:off x="4904383" y="2053717"/>
          <a:ext cx="4214345" cy="4472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5FB4BB2-5F67-AFA1-4A70-A26E65D34081}"/>
              </a:ext>
            </a:extLst>
          </p:cNvPr>
          <p:cNvSpPr/>
          <p:nvPr/>
        </p:nvSpPr>
        <p:spPr bwMode="auto">
          <a:xfrm>
            <a:off x="5379922" y="2030956"/>
            <a:ext cx="541083" cy="573822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due to Foundry Tools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D9DB3F6-F83F-4214-0B6C-D245E612D0DD}"/>
              </a:ext>
            </a:extLst>
          </p:cNvPr>
          <p:cNvSpPr/>
          <p:nvPr/>
        </p:nvSpPr>
        <p:spPr bwMode="auto">
          <a:xfrm>
            <a:off x="5921005" y="1912261"/>
            <a:ext cx="566404" cy="685860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due to Foundry Models &amp; VM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D6FB906-5FAA-3637-F4E6-594E26020288}"/>
              </a:ext>
            </a:extLst>
          </p:cNvPr>
          <p:cNvSpPr/>
          <p:nvPr/>
        </p:nvSpPr>
        <p:spPr bwMode="auto">
          <a:xfrm>
            <a:off x="6445151" y="1884970"/>
            <a:ext cx="566405" cy="685860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due Azure Databricks &amp; VM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DB951A8-5F59-E0E7-869F-0BA61D168468}"/>
              </a:ext>
            </a:extLst>
          </p:cNvPr>
          <p:cNvSpPr/>
          <p:nvPr/>
        </p:nvSpPr>
        <p:spPr bwMode="auto">
          <a:xfrm>
            <a:off x="8497025" y="1912144"/>
            <a:ext cx="566405" cy="459700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Foundry models</a:t>
            </a:r>
            <a:endParaRPr lang="en-IL" sz="700" dirty="0">
              <a:solidFill>
                <a:schemeClr val="tx1"/>
              </a:solidFill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B7E38BD-30C7-AFAF-9316-B473431E19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7112450"/>
              </p:ext>
            </p:extLst>
          </p:nvPr>
        </p:nvGraphicFramePr>
        <p:xfrm>
          <a:off x="244347" y="2070236"/>
          <a:ext cx="4358503" cy="34917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0605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CCE6E-D205-E28E-9F33-B08FB1D62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9A3C54C3-B7BB-CF78-591C-ACB1B17EF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686629"/>
            <a:ext cx="6679433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400" b="1" dirty="0">
                <a:latin typeface="+mn-lt"/>
                <a:cs typeface="Calibri" panose="020F0502020204030204" pitchFamily="34" charset="0"/>
              </a:rPr>
              <a:t>2026 Consumption </a:t>
            </a:r>
            <a:r>
              <a:rPr lang="en-US" sz="2400" b="1" dirty="0" err="1">
                <a:latin typeface="+mn-lt"/>
                <a:cs typeface="Calibri" panose="020F0502020204030204" pitchFamily="34" charset="0"/>
              </a:rPr>
              <a:t>Opswat</a:t>
            </a:r>
            <a:r>
              <a:rPr lang="en-US" sz="2400" b="1" dirty="0">
                <a:latin typeface="+mn-lt"/>
                <a:cs typeface="Calibri" panose="020F0502020204030204" pitchFamily="34" charset="0"/>
              </a:rPr>
              <a:t> New Mail</a:t>
            </a:r>
            <a:br>
              <a:rPr lang="en-US" sz="2800" b="1" dirty="0">
                <a:latin typeface="+mn-lt"/>
                <a:cs typeface="Calibri" panose="020F0502020204030204" pitchFamily="34" charset="0"/>
              </a:rPr>
            </a:br>
            <a:endParaRPr lang="he-IL" sz="28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10F16714-FB4C-9793-62D9-A96219E43B34}"/>
              </a:ext>
            </a:extLst>
          </p:cNvPr>
          <p:cNvSpPr/>
          <p:nvPr/>
        </p:nvSpPr>
        <p:spPr>
          <a:xfrm>
            <a:off x="323528" y="6309320"/>
            <a:ext cx="1728192" cy="216461"/>
          </a:xfrm>
          <a:prstGeom prst="homePlate">
            <a:avLst/>
          </a:prstGeom>
          <a:solidFill>
            <a:srgbClr val="4A6895"/>
          </a:solidFill>
          <a:ln>
            <a:solidFill>
              <a:srgbClr val="4A6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Total Cost $22.5K</a:t>
            </a:r>
            <a:endParaRPr lang="en-IL" sz="1600" b="1" dirty="0"/>
          </a:p>
        </p:txBody>
      </p:sp>
      <p:pic>
        <p:nvPicPr>
          <p:cNvPr id="7" name="Picture 6" descr="A blue cloud with black text&#10;&#10;Description automatically generated">
            <a:extLst>
              <a:ext uri="{FF2B5EF4-FFF2-40B4-BE49-F238E27FC236}">
                <a16:creationId xmlns:a16="http://schemas.microsoft.com/office/drawing/2014/main" id="{E248B35F-BFB5-5BD9-625D-BB29BD0968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50792"/>
            <a:ext cx="1548471" cy="884841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B17AD76-A5E1-4A49-B35A-97C2371C39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5390373"/>
              </p:ext>
            </p:extLst>
          </p:nvPr>
        </p:nvGraphicFramePr>
        <p:xfrm>
          <a:off x="575556" y="1700808"/>
          <a:ext cx="7992888" cy="3716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8661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3F9D7-4DAC-91C2-E884-3C6AF9AC9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4A1BC7B6-3A32-F4DC-A47C-B3E6EC755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686629"/>
            <a:ext cx="6679433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200" b="1" dirty="0">
                <a:latin typeface="+mn-lt"/>
                <a:cs typeface="Calibri" panose="020F0502020204030204" pitchFamily="34" charset="0"/>
              </a:rPr>
              <a:t>2026 Consumption By Cost Center - Actuary</a:t>
            </a:r>
            <a:br>
              <a:rPr lang="en-US" sz="2200" b="1" dirty="0">
                <a:latin typeface="+mn-lt"/>
                <a:cs typeface="Calibri" panose="020F0502020204030204" pitchFamily="34" charset="0"/>
              </a:rPr>
            </a:br>
            <a:endParaRPr lang="he-IL" sz="22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C25DA069-9646-5ADF-314F-B4B3B2FFAD53}"/>
              </a:ext>
            </a:extLst>
          </p:cNvPr>
          <p:cNvSpPr/>
          <p:nvPr/>
        </p:nvSpPr>
        <p:spPr>
          <a:xfrm>
            <a:off x="251520" y="6309320"/>
            <a:ext cx="2160240" cy="216461"/>
          </a:xfrm>
          <a:prstGeom prst="homePlate">
            <a:avLst/>
          </a:prstGeom>
          <a:solidFill>
            <a:srgbClr val="4A6895"/>
          </a:solidFill>
          <a:ln>
            <a:solidFill>
              <a:srgbClr val="4A6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Total Cost $45K</a:t>
            </a:r>
            <a:endParaRPr lang="en-IL" sz="1600" b="1" dirty="0"/>
          </a:p>
        </p:txBody>
      </p:sp>
      <p:pic>
        <p:nvPicPr>
          <p:cNvPr id="7" name="Picture 6" descr="A blue cloud with black text&#10;&#10;Description automatically generated">
            <a:extLst>
              <a:ext uri="{FF2B5EF4-FFF2-40B4-BE49-F238E27FC236}">
                <a16:creationId xmlns:a16="http://schemas.microsoft.com/office/drawing/2014/main" id="{1E66A1ED-F22C-3866-2F56-CEF4EA280A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50792"/>
            <a:ext cx="1548471" cy="884841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867DD50-FD52-8013-5F15-DDC0EC7E5A54}"/>
              </a:ext>
            </a:extLst>
          </p:cNvPr>
          <p:cNvSpPr/>
          <p:nvPr/>
        </p:nvSpPr>
        <p:spPr bwMode="auto">
          <a:xfrm>
            <a:off x="4960255" y="1443003"/>
            <a:ext cx="720079" cy="698063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The increase in Azure Databricks and Virtual Machines </a:t>
            </a:r>
            <a:endParaRPr lang="en-IL" sz="700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21EAA95-CB53-300E-7C50-6C160C55434E}"/>
              </a:ext>
            </a:extLst>
          </p:cNvPr>
          <p:cNvSpPr/>
          <p:nvPr/>
        </p:nvSpPr>
        <p:spPr bwMode="auto">
          <a:xfrm>
            <a:off x="7723041" y="2987876"/>
            <a:ext cx="720079" cy="802958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The increase in Virtual machine, Data factory v2, Virtual network</a:t>
            </a:r>
            <a:endParaRPr lang="en-IL" sz="700" b="1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5E17A94-9788-476E-9E6F-99039DB3F9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838412"/>
              </p:ext>
            </p:extLst>
          </p:nvPr>
        </p:nvGraphicFramePr>
        <p:xfrm>
          <a:off x="161438" y="1421550"/>
          <a:ext cx="3546466" cy="40956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9C4C80E-1EAE-48A3-954C-F424E4E3E3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8110730"/>
              </p:ext>
            </p:extLst>
          </p:nvPr>
        </p:nvGraphicFramePr>
        <p:xfrm>
          <a:off x="4383324" y="1434170"/>
          <a:ext cx="4581525" cy="45336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7FB8299-E9D7-3DAD-6D47-B41CDB82728C}"/>
              </a:ext>
            </a:extLst>
          </p:cNvPr>
          <p:cNvSpPr/>
          <p:nvPr/>
        </p:nvSpPr>
        <p:spPr bwMode="auto">
          <a:xfrm>
            <a:off x="8460308" y="3250415"/>
            <a:ext cx="585110" cy="578882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The increase in Virtual machine</a:t>
            </a:r>
            <a:endParaRPr lang="en-IL" sz="700" b="1" dirty="0"/>
          </a:p>
        </p:txBody>
      </p:sp>
    </p:spTree>
    <p:extLst>
      <p:ext uri="{BB962C8B-B14F-4D97-AF65-F5344CB8AC3E}">
        <p14:creationId xmlns:p14="http://schemas.microsoft.com/office/powerpoint/2010/main" val="667991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B3E58-7818-9EAD-0BE3-EFB61FEAD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0C6C1261-19C9-E79C-190B-F422B460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686629"/>
            <a:ext cx="6679433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400" b="1" dirty="0">
                <a:latin typeface="+mn-lt"/>
                <a:cs typeface="Calibri" panose="020F0502020204030204" pitchFamily="34" charset="0"/>
              </a:rPr>
              <a:t> 2026 Consumption By Cost Center – Sap</a:t>
            </a:r>
            <a:br>
              <a:rPr lang="en-US" sz="2800" b="1" dirty="0">
                <a:latin typeface="+mn-lt"/>
                <a:cs typeface="Calibri" panose="020F0502020204030204" pitchFamily="34" charset="0"/>
              </a:rPr>
            </a:br>
            <a:endParaRPr lang="he-IL" sz="28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EA0A9F1A-F4E7-8040-81BC-CF814B530B91}"/>
              </a:ext>
            </a:extLst>
          </p:cNvPr>
          <p:cNvSpPr/>
          <p:nvPr/>
        </p:nvSpPr>
        <p:spPr>
          <a:xfrm>
            <a:off x="251520" y="6381328"/>
            <a:ext cx="1944216" cy="216461"/>
          </a:xfrm>
          <a:prstGeom prst="homePlate">
            <a:avLst/>
          </a:prstGeom>
          <a:solidFill>
            <a:srgbClr val="4A6895"/>
          </a:solidFill>
          <a:ln>
            <a:solidFill>
              <a:srgbClr val="4A6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Total Cost $335K</a:t>
            </a:r>
            <a:endParaRPr lang="en-IL" sz="1600" b="1" dirty="0"/>
          </a:p>
        </p:txBody>
      </p:sp>
      <p:pic>
        <p:nvPicPr>
          <p:cNvPr id="4" name="Picture 3" descr="A blue cloud with black text&#10;&#10;Description automatically generated">
            <a:extLst>
              <a:ext uri="{FF2B5EF4-FFF2-40B4-BE49-F238E27FC236}">
                <a16:creationId xmlns:a16="http://schemas.microsoft.com/office/drawing/2014/main" id="{5CD844E9-49DE-4E23-021A-B4694B0A28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50792"/>
            <a:ext cx="1548471" cy="884841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FD95370-287D-D8EE-2EDD-C4AE5F3044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5766738"/>
              </p:ext>
            </p:extLst>
          </p:nvPr>
        </p:nvGraphicFramePr>
        <p:xfrm>
          <a:off x="228376" y="1325260"/>
          <a:ext cx="3911576" cy="4552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C346389-0BBF-6F6F-EB9D-AB1FCA37D6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2334648"/>
              </p:ext>
            </p:extLst>
          </p:nvPr>
        </p:nvGraphicFramePr>
        <p:xfrm>
          <a:off x="4211960" y="1325260"/>
          <a:ext cx="4577715" cy="41919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07297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56FEC-D7C0-B22A-5939-3428D5011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B47B9DBC-31D8-7194-9CD4-6ECE9E044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686629"/>
            <a:ext cx="6679433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400" b="1" dirty="0">
                <a:latin typeface="+mn-lt"/>
                <a:cs typeface="Calibri" panose="020F0502020204030204" pitchFamily="34" charset="0"/>
              </a:rPr>
              <a:t> 2026 Consumption By Cost Center – Cloud IT</a:t>
            </a:r>
            <a:br>
              <a:rPr lang="en-US" sz="2800" b="1" dirty="0">
                <a:latin typeface="+mn-lt"/>
                <a:cs typeface="Calibri" panose="020F0502020204030204" pitchFamily="34" charset="0"/>
              </a:rPr>
            </a:br>
            <a:endParaRPr lang="he-IL" sz="28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33318EF7-B05B-D7C4-CA84-0177BF0673CD}"/>
              </a:ext>
            </a:extLst>
          </p:cNvPr>
          <p:cNvSpPr/>
          <p:nvPr/>
        </p:nvSpPr>
        <p:spPr>
          <a:xfrm>
            <a:off x="323528" y="6381329"/>
            <a:ext cx="1944216" cy="216024"/>
          </a:xfrm>
          <a:prstGeom prst="homePlate">
            <a:avLst/>
          </a:prstGeom>
          <a:solidFill>
            <a:srgbClr val="4A6895"/>
          </a:solidFill>
          <a:ln>
            <a:solidFill>
              <a:srgbClr val="4A6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Total Cost $248K </a:t>
            </a:r>
            <a:endParaRPr lang="en-IL" sz="1600" b="1" dirty="0"/>
          </a:p>
        </p:txBody>
      </p:sp>
      <p:pic>
        <p:nvPicPr>
          <p:cNvPr id="7" name="Picture 6" descr="A blue cloud with black text&#10;&#10;Description automatically generated">
            <a:extLst>
              <a:ext uri="{FF2B5EF4-FFF2-40B4-BE49-F238E27FC236}">
                <a16:creationId xmlns:a16="http://schemas.microsoft.com/office/drawing/2014/main" id="{6249140A-15ED-064B-4BA3-A6C1C09D22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50792"/>
            <a:ext cx="1548471" cy="884841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0427995-2288-EBEC-8C04-87360A46C8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1404417"/>
              </p:ext>
            </p:extLst>
          </p:nvPr>
        </p:nvGraphicFramePr>
        <p:xfrm>
          <a:off x="4564684" y="1124744"/>
          <a:ext cx="4572000" cy="4968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CE0B26-E623-A05D-C517-6843F981F087}"/>
              </a:ext>
            </a:extLst>
          </p:cNvPr>
          <p:cNvSpPr/>
          <p:nvPr/>
        </p:nvSpPr>
        <p:spPr bwMode="auto">
          <a:xfrm>
            <a:off x="5940152" y="1510908"/>
            <a:ext cx="1008112" cy="510778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800" dirty="0"/>
              <a:t>Log Analytics and Sentinel caused the increase.</a:t>
            </a:r>
            <a:r>
              <a:rPr lang="he-IL" sz="800" dirty="0"/>
              <a:t> </a:t>
            </a:r>
            <a:endParaRPr lang="en-IL" sz="800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E0B5DFE-0B78-3CC9-0230-50B2BAC61B35}"/>
              </a:ext>
            </a:extLst>
          </p:cNvPr>
          <p:cNvSpPr/>
          <p:nvPr/>
        </p:nvSpPr>
        <p:spPr bwMode="auto">
          <a:xfrm>
            <a:off x="7884368" y="2132856"/>
            <a:ext cx="1008112" cy="374571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800" dirty="0"/>
              <a:t>Increase in virtual network &amp; storage</a:t>
            </a:r>
            <a:endParaRPr lang="en-IL" sz="800" b="1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FD03122-D184-1807-2EA9-3176171713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3829650"/>
              </p:ext>
            </p:extLst>
          </p:nvPr>
        </p:nvGraphicFramePr>
        <p:xfrm>
          <a:off x="251521" y="1035633"/>
          <a:ext cx="4068959" cy="5057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0924D8-4FD3-9509-24AA-C14269544541}"/>
              </a:ext>
            </a:extLst>
          </p:cNvPr>
          <p:cNvSpPr/>
          <p:nvPr/>
        </p:nvSpPr>
        <p:spPr bwMode="auto">
          <a:xfrm>
            <a:off x="1525573" y="1365428"/>
            <a:ext cx="760427" cy="459700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The increase in Shared Resources</a:t>
            </a:r>
            <a:endParaRPr lang="en-IL" sz="700" b="1" dirty="0"/>
          </a:p>
        </p:txBody>
      </p:sp>
    </p:spTree>
    <p:extLst>
      <p:ext uri="{BB962C8B-B14F-4D97-AF65-F5344CB8AC3E}">
        <p14:creationId xmlns:p14="http://schemas.microsoft.com/office/powerpoint/2010/main" val="2830300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50A8F-A753-770E-4AD1-879DD8178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D4677744-98FD-EB0A-3762-083D5BCBF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475" y="538096"/>
            <a:ext cx="6679433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200" b="1" dirty="0">
                <a:latin typeface="+mn-lt"/>
                <a:cs typeface="Calibri" panose="020F0502020204030204" pitchFamily="34" charset="0"/>
              </a:rPr>
              <a:t> 2026 Consumption By Cost Center - Risk Agility</a:t>
            </a:r>
            <a:endParaRPr lang="he-IL" sz="22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392412E7-CFAD-4A04-13C1-4A7283E3A245}"/>
              </a:ext>
            </a:extLst>
          </p:cNvPr>
          <p:cNvSpPr/>
          <p:nvPr/>
        </p:nvSpPr>
        <p:spPr>
          <a:xfrm>
            <a:off x="323528" y="6309321"/>
            <a:ext cx="1944216" cy="216024"/>
          </a:xfrm>
          <a:prstGeom prst="homePlate">
            <a:avLst/>
          </a:prstGeom>
          <a:solidFill>
            <a:srgbClr val="4A6895"/>
          </a:solidFill>
          <a:ln>
            <a:solidFill>
              <a:srgbClr val="4A6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Total Cost $33K</a:t>
            </a:r>
            <a:endParaRPr lang="en-IL" sz="1600" b="1" dirty="0"/>
          </a:p>
        </p:txBody>
      </p:sp>
      <p:pic>
        <p:nvPicPr>
          <p:cNvPr id="7" name="Picture 6" descr="A blue cloud with black text&#10;&#10;Description automatically generated">
            <a:extLst>
              <a:ext uri="{FF2B5EF4-FFF2-40B4-BE49-F238E27FC236}">
                <a16:creationId xmlns:a16="http://schemas.microsoft.com/office/drawing/2014/main" id="{C26D7583-FB1D-61A4-8F9F-FE1B6E81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50792"/>
            <a:ext cx="1548471" cy="884841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151766-B991-9583-7A18-5FA430499CA6}"/>
              </a:ext>
            </a:extLst>
          </p:cNvPr>
          <p:cNvSpPr/>
          <p:nvPr/>
        </p:nvSpPr>
        <p:spPr bwMode="auto">
          <a:xfrm>
            <a:off x="6372200" y="3308498"/>
            <a:ext cx="928082" cy="340519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The increase in Virtual Machines </a:t>
            </a:r>
            <a:endParaRPr lang="en-IL" sz="700" b="1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B463E56-BE54-472D-840A-27B061FE69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7940195"/>
              </p:ext>
            </p:extLst>
          </p:nvPr>
        </p:nvGraphicFramePr>
        <p:xfrm>
          <a:off x="179512" y="1412776"/>
          <a:ext cx="4572000" cy="432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35B9038-30A6-441A-AEAD-22AF00A1B1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4227738"/>
              </p:ext>
            </p:extLst>
          </p:nvPr>
        </p:nvGraphicFramePr>
        <p:xfrm>
          <a:off x="4751512" y="1340768"/>
          <a:ext cx="4110171" cy="44684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9FC632-8173-16EC-40EF-35946E54EC83}"/>
              </a:ext>
            </a:extLst>
          </p:cNvPr>
          <p:cNvSpPr/>
          <p:nvPr/>
        </p:nvSpPr>
        <p:spPr bwMode="auto">
          <a:xfrm>
            <a:off x="5292080" y="1584656"/>
            <a:ext cx="719078" cy="459700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The increase in Virtual Machines </a:t>
            </a:r>
            <a:endParaRPr lang="en-IL" sz="700" b="1" dirty="0"/>
          </a:p>
        </p:txBody>
      </p:sp>
    </p:spTree>
    <p:extLst>
      <p:ext uri="{BB962C8B-B14F-4D97-AF65-F5344CB8AC3E}">
        <p14:creationId xmlns:p14="http://schemas.microsoft.com/office/powerpoint/2010/main" val="1608930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22823-06F4-5A70-9F0D-4E4E65514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C16A5F3B-A5A9-2A2D-78CA-A78BC0E96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686629"/>
            <a:ext cx="6679433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200" b="1" dirty="0">
                <a:latin typeface="+mn-lt"/>
                <a:cs typeface="Calibri" panose="020F0502020204030204" pitchFamily="34" charset="0"/>
              </a:rPr>
              <a:t> 2026 Consumption By Cost Center – </a:t>
            </a:r>
            <a:r>
              <a:rPr lang="en-US" sz="2200" b="1" dirty="0" err="1">
                <a:latin typeface="+mn-lt"/>
                <a:cs typeface="Calibri" panose="020F0502020204030204" pitchFamily="34" charset="0"/>
              </a:rPr>
              <a:t>Basasach</a:t>
            </a:r>
            <a:br>
              <a:rPr lang="en-US" sz="2200" b="1" dirty="0">
                <a:latin typeface="+mn-lt"/>
                <a:cs typeface="Calibri" panose="020F0502020204030204" pitchFamily="34" charset="0"/>
              </a:rPr>
            </a:br>
            <a:endParaRPr lang="he-IL" sz="22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F55E0550-13B7-FD09-F7DA-0B69F0156F71}"/>
              </a:ext>
            </a:extLst>
          </p:cNvPr>
          <p:cNvSpPr/>
          <p:nvPr/>
        </p:nvSpPr>
        <p:spPr>
          <a:xfrm>
            <a:off x="323528" y="6309320"/>
            <a:ext cx="1728192" cy="216461"/>
          </a:xfrm>
          <a:prstGeom prst="homePlate">
            <a:avLst/>
          </a:prstGeom>
          <a:solidFill>
            <a:srgbClr val="4A6895"/>
          </a:solidFill>
          <a:ln>
            <a:solidFill>
              <a:srgbClr val="4A6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Total Cost $6.1K</a:t>
            </a:r>
            <a:endParaRPr lang="en-IL" sz="1600" b="1" dirty="0"/>
          </a:p>
        </p:txBody>
      </p:sp>
      <p:pic>
        <p:nvPicPr>
          <p:cNvPr id="6" name="Picture 5" descr="A blue cloud with black text&#10;&#10;Description automatically generated">
            <a:extLst>
              <a:ext uri="{FF2B5EF4-FFF2-40B4-BE49-F238E27FC236}">
                <a16:creationId xmlns:a16="http://schemas.microsoft.com/office/drawing/2014/main" id="{40C97903-D823-5441-BA25-B4DC6443DC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50792"/>
            <a:ext cx="1548471" cy="884841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30BA865-42A5-E92D-60E7-6CDC94347B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3273239"/>
              </p:ext>
            </p:extLst>
          </p:nvPr>
        </p:nvGraphicFramePr>
        <p:xfrm>
          <a:off x="107504" y="1412776"/>
          <a:ext cx="4176464" cy="4104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7D04F7F-19EF-9EDC-78E2-A878F28278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2746934"/>
              </p:ext>
            </p:extLst>
          </p:nvPr>
        </p:nvGraphicFramePr>
        <p:xfrm>
          <a:off x="4383324" y="1411113"/>
          <a:ext cx="4572000" cy="4322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45750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58B05-FA47-F9D0-9DBD-C047C1FA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EF78C783-87D6-12C1-7517-5917BB77B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686629"/>
            <a:ext cx="6679433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200" b="1" dirty="0">
                <a:latin typeface="+mn-lt"/>
                <a:cs typeface="Calibri" panose="020F0502020204030204" pitchFamily="34" charset="0"/>
              </a:rPr>
              <a:t> 2026 Consumption By Cost Center – </a:t>
            </a:r>
            <a:r>
              <a:rPr lang="en-US" sz="2200" b="1" dirty="0" err="1">
                <a:latin typeface="+mn-lt"/>
                <a:cs typeface="Calibri" panose="020F0502020204030204" pitchFamily="34" charset="0"/>
              </a:rPr>
              <a:t>Itsec</a:t>
            </a:r>
            <a:br>
              <a:rPr lang="en-US" sz="2200" b="1" dirty="0">
                <a:latin typeface="+mn-lt"/>
                <a:cs typeface="Calibri" panose="020F0502020204030204" pitchFamily="34" charset="0"/>
              </a:rPr>
            </a:br>
            <a:endParaRPr lang="he-IL" sz="22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3E393FA5-AA7B-32AB-A863-0300D3BA5316}"/>
              </a:ext>
            </a:extLst>
          </p:cNvPr>
          <p:cNvSpPr/>
          <p:nvPr/>
        </p:nvSpPr>
        <p:spPr>
          <a:xfrm>
            <a:off x="323528" y="6309320"/>
            <a:ext cx="1728192" cy="216461"/>
          </a:xfrm>
          <a:prstGeom prst="homePlate">
            <a:avLst/>
          </a:prstGeom>
          <a:solidFill>
            <a:srgbClr val="4A6895"/>
          </a:solidFill>
          <a:ln>
            <a:solidFill>
              <a:srgbClr val="4A6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Total Cost $16K</a:t>
            </a:r>
            <a:endParaRPr lang="en-IL" sz="1600" b="1" dirty="0"/>
          </a:p>
        </p:txBody>
      </p:sp>
      <p:pic>
        <p:nvPicPr>
          <p:cNvPr id="6" name="Picture 5" descr="A blue cloud with black text&#10;&#10;Description automatically generated">
            <a:extLst>
              <a:ext uri="{FF2B5EF4-FFF2-40B4-BE49-F238E27FC236}">
                <a16:creationId xmlns:a16="http://schemas.microsoft.com/office/drawing/2014/main" id="{EE289EAB-9E51-C911-7DAD-BF13E6460D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50792"/>
            <a:ext cx="1548471" cy="884841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88E4570-7F9E-FC1D-90BB-9542382305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5166018"/>
              </p:ext>
            </p:extLst>
          </p:nvPr>
        </p:nvGraphicFramePr>
        <p:xfrm>
          <a:off x="323528" y="1307960"/>
          <a:ext cx="4248472" cy="45312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8027491-F6D3-C5FA-3C60-C0F616D69E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9980624"/>
              </p:ext>
            </p:extLst>
          </p:nvPr>
        </p:nvGraphicFramePr>
        <p:xfrm>
          <a:off x="4645552" y="1230724"/>
          <a:ext cx="4391888" cy="4608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04244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63672-CC9D-06CE-A740-BF571C071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488D216E-68BC-6812-FF44-85D45D4DE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686629"/>
            <a:ext cx="6679433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200" b="1" dirty="0">
                <a:latin typeface="+mn-lt"/>
                <a:cs typeface="Calibri" panose="020F0502020204030204" pitchFamily="34" charset="0"/>
              </a:rPr>
              <a:t>2026 Consumption By Cost Center – Investments</a:t>
            </a:r>
            <a:br>
              <a:rPr lang="en-US" sz="2200" b="1" dirty="0">
                <a:latin typeface="+mn-lt"/>
                <a:cs typeface="Calibri" panose="020F0502020204030204" pitchFamily="34" charset="0"/>
              </a:rPr>
            </a:br>
            <a:endParaRPr lang="he-IL" sz="22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57269D53-0520-9AD5-7910-536DF8864925}"/>
              </a:ext>
            </a:extLst>
          </p:cNvPr>
          <p:cNvSpPr/>
          <p:nvPr/>
        </p:nvSpPr>
        <p:spPr>
          <a:xfrm>
            <a:off x="323528" y="6309320"/>
            <a:ext cx="1728192" cy="216461"/>
          </a:xfrm>
          <a:prstGeom prst="homePlate">
            <a:avLst/>
          </a:prstGeom>
          <a:solidFill>
            <a:srgbClr val="4A6895"/>
          </a:solidFill>
          <a:ln>
            <a:solidFill>
              <a:srgbClr val="4A6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Total Cost $5,145</a:t>
            </a:r>
            <a:endParaRPr lang="en-IL" sz="1600" b="1" dirty="0"/>
          </a:p>
        </p:txBody>
      </p:sp>
      <p:pic>
        <p:nvPicPr>
          <p:cNvPr id="6" name="Picture 5" descr="A blue cloud with black text&#10;&#10;Description automatically generated">
            <a:extLst>
              <a:ext uri="{FF2B5EF4-FFF2-40B4-BE49-F238E27FC236}">
                <a16:creationId xmlns:a16="http://schemas.microsoft.com/office/drawing/2014/main" id="{872941AE-8FB7-2FD0-9E69-271ABF93BA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50792"/>
            <a:ext cx="1548471" cy="884841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26565E9-F64B-0762-A8DB-A6FDE35B49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8921014"/>
              </p:ext>
            </p:extLst>
          </p:nvPr>
        </p:nvGraphicFramePr>
        <p:xfrm>
          <a:off x="1043608" y="1328182"/>
          <a:ext cx="7416824" cy="4261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59365ED-247B-A124-0BBB-71A1C9349FF2}"/>
              </a:ext>
            </a:extLst>
          </p:cNvPr>
          <p:cNvSpPr/>
          <p:nvPr/>
        </p:nvSpPr>
        <p:spPr bwMode="auto">
          <a:xfrm>
            <a:off x="4572000" y="3736982"/>
            <a:ext cx="1008112" cy="340519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Decrease due to </a:t>
            </a:r>
            <a:br>
              <a:rPr lang="en-US" sz="700" dirty="0"/>
            </a:br>
            <a:r>
              <a:rPr lang="en-US" sz="700" dirty="0"/>
              <a:t>Databricks RI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D94788-9DD6-416C-7065-DF3F62E0CC7E}"/>
              </a:ext>
            </a:extLst>
          </p:cNvPr>
          <p:cNvSpPr/>
          <p:nvPr/>
        </p:nvSpPr>
        <p:spPr bwMode="auto">
          <a:xfrm>
            <a:off x="6734354" y="2689333"/>
            <a:ext cx="1008112" cy="340519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virtual machine</a:t>
            </a:r>
            <a:endParaRPr lang="en-IL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670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D993840-06F3-0C4A-8A64-510C6D94FA1D}"/>
              </a:ext>
            </a:extLst>
          </p:cNvPr>
          <p:cNvSpPr txBox="1">
            <a:spLocks/>
          </p:cNvSpPr>
          <p:nvPr/>
        </p:nvSpPr>
        <p:spPr>
          <a:xfrm>
            <a:off x="1043608" y="489619"/>
            <a:ext cx="6679433" cy="641553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spcBef>
                <a:spcPct val="0"/>
              </a:spcBef>
              <a:buNone/>
              <a:defRPr sz="6000" b="0" kern="1200">
                <a:solidFill>
                  <a:schemeClr val="bg1"/>
                </a:solidFill>
                <a:latin typeface="ProtocolHarel" pitchFamily="2" charset="-79"/>
                <a:ea typeface="+mj-ea"/>
                <a:cs typeface="ProtocolHarel" pitchFamily="2" charset="-79"/>
              </a:defRPr>
            </a:lvl1pPr>
          </a:lstStyle>
          <a:p>
            <a:pPr algn="l" rtl="0">
              <a:lnSpc>
                <a:spcPct val="90000"/>
              </a:lnSpc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2026 Coverage by Vendor</a:t>
            </a:r>
            <a:endParaRPr lang="he-IL" sz="2800" b="1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E6A5FDF-C230-7D5B-5F28-7A00ADF79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832851"/>
              </p:ext>
            </p:extLst>
          </p:nvPr>
        </p:nvGraphicFramePr>
        <p:xfrm>
          <a:off x="450792" y="2578085"/>
          <a:ext cx="3839335" cy="1107370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{E8034E78-7F5D-4C2E-B375-FC64B27BC917}</a:tableStyleId>
              </a:tblPr>
              <a:tblGrid>
                <a:gridCol w="1392356">
                  <a:extLst>
                    <a:ext uri="{9D8B030D-6E8A-4147-A177-3AD203B41FA5}">
                      <a16:colId xmlns:a16="http://schemas.microsoft.com/office/drawing/2014/main" val="1888000416"/>
                    </a:ext>
                  </a:extLst>
                </a:gridCol>
                <a:gridCol w="1421063">
                  <a:extLst>
                    <a:ext uri="{9D8B030D-6E8A-4147-A177-3AD203B41FA5}">
                      <a16:colId xmlns:a16="http://schemas.microsoft.com/office/drawing/2014/main" val="4132680295"/>
                    </a:ext>
                  </a:extLst>
                </a:gridCol>
                <a:gridCol w="1025916">
                  <a:extLst>
                    <a:ext uri="{9D8B030D-6E8A-4147-A177-3AD203B41FA5}">
                      <a16:colId xmlns:a16="http://schemas.microsoft.com/office/drawing/2014/main" val="3028193294"/>
                    </a:ext>
                  </a:extLst>
                </a:gridCol>
              </a:tblGrid>
              <a:tr h="27774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Purchase Option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90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 Cost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90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Ratio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9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703025"/>
                  </a:ext>
                </a:extLst>
              </a:tr>
              <a:tr h="210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Spot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17,031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3873328"/>
                  </a:ext>
                </a:extLst>
              </a:tr>
              <a:tr h="210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Compute Savings Plan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16,368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828781"/>
                  </a:ext>
                </a:extLst>
              </a:tr>
              <a:tr h="212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On-Demand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4,162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188965"/>
                  </a:ext>
                </a:extLst>
              </a:tr>
              <a:tr h="195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37,561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2399343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E7AFD01-E55A-9A20-1314-57EC9CE64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589298"/>
              </p:ext>
            </p:extLst>
          </p:nvPr>
        </p:nvGraphicFramePr>
        <p:xfrm>
          <a:off x="4853874" y="2578085"/>
          <a:ext cx="4032448" cy="110737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{E8034E78-7F5D-4C2E-B375-FC64B27BC917}</a:tableStyleId>
              </a:tblPr>
              <a:tblGrid>
                <a:gridCol w="1544287">
                  <a:extLst>
                    <a:ext uri="{9D8B030D-6E8A-4147-A177-3AD203B41FA5}">
                      <a16:colId xmlns:a16="http://schemas.microsoft.com/office/drawing/2014/main" val="332936066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1731278496"/>
                    </a:ext>
                  </a:extLst>
                </a:gridCol>
                <a:gridCol w="975993">
                  <a:extLst>
                    <a:ext uri="{9D8B030D-6E8A-4147-A177-3AD203B41FA5}">
                      <a16:colId xmlns:a16="http://schemas.microsoft.com/office/drawing/2014/main" val="3345622656"/>
                    </a:ext>
                  </a:extLst>
                </a:gridCol>
              </a:tblGrid>
              <a:tr h="19191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Purchase Option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Purchase Option Total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Ratio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811613"/>
                  </a:ext>
                </a:extLst>
              </a:tr>
              <a:tr h="184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 Demand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23,759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5897916"/>
                  </a:ext>
                </a:extLst>
              </a:tr>
              <a:tr h="184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Reservation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21,012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4822"/>
                  </a:ext>
                </a:extLst>
              </a:tr>
              <a:tr h="184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Compute Savings Plan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9,424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1221817"/>
                  </a:ext>
                </a:extLst>
              </a:tr>
              <a:tr h="184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Spot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594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268051"/>
                  </a:ext>
                </a:extLst>
              </a:tr>
              <a:tr h="1784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54,789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270504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6DB49FB9-6F34-82A7-3FA1-5A9933B481A9}"/>
              </a:ext>
            </a:extLst>
          </p:cNvPr>
          <p:cNvSpPr txBox="1"/>
          <p:nvPr/>
        </p:nvSpPr>
        <p:spPr>
          <a:xfrm>
            <a:off x="539551" y="6295063"/>
            <a:ext cx="10081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 rtl="0">
              <a:buFont typeface="Wingdings" panose="05000000000000000000" pitchFamily="2" charset="2"/>
              <a:buChar char="§"/>
            </a:pPr>
            <a:r>
              <a:rPr lang="en-US" sz="8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Monthly Cost.</a:t>
            </a:r>
            <a:endParaRPr lang="en-IL" sz="8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" name="Picture 1" descr="A logo with a smile&#10;&#10;Description automatically generated">
            <a:extLst>
              <a:ext uri="{FF2B5EF4-FFF2-40B4-BE49-F238E27FC236}">
                <a16:creationId xmlns:a16="http://schemas.microsoft.com/office/drawing/2014/main" id="{39003A49-DDBC-5792-0362-E07BD8CA80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" y="1432523"/>
            <a:ext cx="1571665" cy="884061"/>
          </a:xfrm>
          <a:prstGeom prst="rect">
            <a:avLst/>
          </a:prstGeom>
        </p:spPr>
      </p:pic>
      <p:pic>
        <p:nvPicPr>
          <p:cNvPr id="4" name="Picture 3" descr="A blue cloud with black text&#10;&#10;Description automatically generated">
            <a:extLst>
              <a:ext uri="{FF2B5EF4-FFF2-40B4-BE49-F238E27FC236}">
                <a16:creationId xmlns:a16="http://schemas.microsoft.com/office/drawing/2014/main" id="{4390481A-259E-3FFE-53B1-F158E374AC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077" y="1422672"/>
            <a:ext cx="1580950" cy="903400"/>
          </a:xfrm>
          <a:prstGeom prst="rect">
            <a:avLst/>
          </a:prstGeom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E4DE403-7741-6E75-366C-B8C124113A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8469291"/>
              </p:ext>
            </p:extLst>
          </p:nvPr>
        </p:nvGraphicFramePr>
        <p:xfrm>
          <a:off x="5024095" y="4045032"/>
          <a:ext cx="3504913" cy="19997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4CB4F1B-CAC4-173F-D66B-5F5AA29220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4825889"/>
              </p:ext>
            </p:extLst>
          </p:nvPr>
        </p:nvGraphicFramePr>
        <p:xfrm>
          <a:off x="602347" y="4014198"/>
          <a:ext cx="3455670" cy="1522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ED5B8CF8-0382-9DEF-8815-A0C0BAEFC5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4322692"/>
              </p:ext>
            </p:extLst>
          </p:nvPr>
        </p:nvGraphicFramePr>
        <p:xfrm>
          <a:off x="5292080" y="3997004"/>
          <a:ext cx="3130589" cy="1736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917634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C1107-12E3-18C9-69CD-B3B40930E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30684DD6-14A1-4491-72F3-8F59366DD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686629"/>
            <a:ext cx="6679433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400" b="1" dirty="0">
                <a:latin typeface="+mn-lt"/>
                <a:cs typeface="Calibri" panose="020F0502020204030204" pitchFamily="34" charset="0"/>
              </a:rPr>
              <a:t>2026 Consumption by Data Bricks</a:t>
            </a:r>
            <a:br>
              <a:rPr lang="en-US" sz="2800" b="1" dirty="0">
                <a:latin typeface="+mn-lt"/>
                <a:cs typeface="Calibri" panose="020F0502020204030204" pitchFamily="34" charset="0"/>
              </a:rPr>
            </a:br>
            <a:endParaRPr lang="he-IL" sz="28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7" name="Picture 6" descr="A blue cloud with black text&#10;&#10;Description automatically generated">
            <a:extLst>
              <a:ext uri="{FF2B5EF4-FFF2-40B4-BE49-F238E27FC236}">
                <a16:creationId xmlns:a16="http://schemas.microsoft.com/office/drawing/2014/main" id="{211F4F39-CE46-AACB-3C09-9DC910DF35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50792"/>
            <a:ext cx="1548471" cy="8848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134AF7-DAEF-AB88-2AF1-B6DA92471A0B}"/>
              </a:ext>
            </a:extLst>
          </p:cNvPr>
          <p:cNvSpPr txBox="1"/>
          <p:nvPr/>
        </p:nvSpPr>
        <p:spPr>
          <a:xfrm>
            <a:off x="612641" y="1139531"/>
            <a:ext cx="763284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RI purchase of 600,000 DBU hours</a:t>
            </a:r>
          </a:p>
          <a:p>
            <a:pPr algn="l"/>
            <a:endParaRPr lang="en-US" sz="900" dirty="0"/>
          </a:p>
          <a:p>
            <a:pPr algn="l" rtl="0"/>
            <a:r>
              <a:rPr lang="en-US" dirty="0"/>
              <a:t> *Cumulative utilization of </a:t>
            </a:r>
            <a:r>
              <a:rPr lang="en-US" dirty="0">
                <a:highlight>
                  <a:srgbClr val="00FFFF"/>
                </a:highlight>
              </a:rPr>
              <a:t>24%</a:t>
            </a:r>
          </a:p>
          <a:p>
            <a:pPr algn="l" rtl="0"/>
            <a:r>
              <a:rPr lang="en-US" dirty="0"/>
              <a:t>*Databricks actual cost  = </a:t>
            </a:r>
            <a:r>
              <a:rPr lang="en-US" dirty="0">
                <a:highlight>
                  <a:srgbClr val="FFFF00"/>
                </a:highlight>
              </a:rPr>
              <a:t>0$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4EEDEC-74F7-F0EA-C345-9311615AA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605121"/>
              </p:ext>
            </p:extLst>
          </p:nvPr>
        </p:nvGraphicFramePr>
        <p:xfrm>
          <a:off x="395535" y="2249075"/>
          <a:ext cx="8352930" cy="761254"/>
        </p:xfrm>
        <a:graphic>
          <a:graphicData uri="http://schemas.openxmlformats.org/drawingml/2006/table">
            <a:tbl>
              <a:tblPr/>
              <a:tblGrid>
                <a:gridCol w="1593084">
                  <a:extLst>
                    <a:ext uri="{9D8B030D-6E8A-4147-A177-3AD203B41FA5}">
                      <a16:colId xmlns:a16="http://schemas.microsoft.com/office/drawing/2014/main" val="1780790420"/>
                    </a:ext>
                  </a:extLst>
                </a:gridCol>
                <a:gridCol w="645846">
                  <a:extLst>
                    <a:ext uri="{9D8B030D-6E8A-4147-A177-3AD203B41FA5}">
                      <a16:colId xmlns:a16="http://schemas.microsoft.com/office/drawing/2014/main" val="1499918647"/>
                    </a:ext>
                  </a:extLst>
                </a:gridCol>
                <a:gridCol w="3305688">
                  <a:extLst>
                    <a:ext uri="{9D8B030D-6E8A-4147-A177-3AD203B41FA5}">
                      <a16:colId xmlns:a16="http://schemas.microsoft.com/office/drawing/2014/main" val="680613793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1820529816"/>
                    </a:ext>
                  </a:extLst>
                </a:gridCol>
              </a:tblGrid>
              <a:tr h="3806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Purchase 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Term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Product name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cumulative utilization </a:t>
                      </a: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-August 2026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350146"/>
                  </a:ext>
                </a:extLst>
              </a:tr>
              <a:tr h="3806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28/04/2026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P3Y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azure_databricks_600000_dbu_hours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052713"/>
                  </a:ext>
                </a:extLst>
              </a:tr>
            </a:tbl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EAE71CC-4E65-4E05-8746-41F6FB6A47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4010366"/>
              </p:ext>
            </p:extLst>
          </p:nvPr>
        </p:nvGraphicFramePr>
        <p:xfrm>
          <a:off x="323528" y="3212976"/>
          <a:ext cx="3744416" cy="34563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CF224C0-8EF1-498A-8239-CA27B26E11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2074878"/>
              </p:ext>
            </p:extLst>
          </p:nvPr>
        </p:nvGraphicFramePr>
        <p:xfrm>
          <a:off x="4499992" y="3248560"/>
          <a:ext cx="4134820" cy="35648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9358193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E7C1B-8659-C84D-B163-41E0F0695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0">
            <a:extLst>
              <a:ext uri="{FF2B5EF4-FFF2-40B4-BE49-F238E27FC236}">
                <a16:creationId xmlns:a16="http://schemas.microsoft.com/office/drawing/2014/main" id="{78E8AEFD-3E58-09AD-2CAD-60F406CFC7AB}"/>
              </a:ext>
            </a:extLst>
          </p:cNvPr>
          <p:cNvSpPr/>
          <p:nvPr/>
        </p:nvSpPr>
        <p:spPr bwMode="auto">
          <a:xfrm>
            <a:off x="151497" y="6469640"/>
            <a:ext cx="201243" cy="216024"/>
          </a:xfrm>
          <a:prstGeom prst="ellipse">
            <a:avLst/>
          </a:prstGeom>
          <a:solidFill>
            <a:srgbClr val="0A347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TextBox 46">
            <a:extLst>
              <a:ext uri="{FF2B5EF4-FFF2-40B4-BE49-F238E27FC236}">
                <a16:creationId xmlns:a16="http://schemas.microsoft.com/office/drawing/2014/main" id="{830E06D0-2CD1-8159-60E0-CBFAD0308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19" y="6452056"/>
            <a:ext cx="36004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rtl="0" eaLnBrk="1" hangingPunct="1"/>
            <a:fld id="{42511F0F-8D32-47EB-9D11-300C5AB9E50E}" type="slidenum">
              <a:rPr lang="id-ID" altLang="he-IL" sz="1100" smtClean="0">
                <a:solidFill>
                  <a:schemeClr val="bg1"/>
                </a:solidFill>
                <a:latin typeface="Raleway"/>
                <a:ea typeface="Roboto Condensed Light"/>
                <a:cs typeface="Lato Heavy"/>
              </a:rPr>
              <a:t>23</a:t>
            </a:fld>
            <a:endParaRPr lang="id-ID" altLang="he-IL" sz="1100" dirty="0">
              <a:solidFill>
                <a:schemeClr val="bg1"/>
              </a:solidFill>
              <a:latin typeface="Raleway"/>
              <a:ea typeface="Roboto Condensed Light"/>
              <a:cs typeface="Lato Heavy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2DBCA9-A5E1-3F4A-665E-ADF91AE23EEA}"/>
              </a:ext>
            </a:extLst>
          </p:cNvPr>
          <p:cNvSpPr txBox="1"/>
          <p:nvPr/>
        </p:nvSpPr>
        <p:spPr>
          <a:xfrm>
            <a:off x="2430813" y="1962859"/>
            <a:ext cx="67393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Verdana" panose="020B0604030504040204" pitchFamily="34" charset="0"/>
                <a:cs typeface="HELVETICA" panose="020B0604020202020204" pitchFamily="34" charset="0"/>
              </a:rPr>
              <a:t> GCP-2026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Verdana" panose="020B0604030504040204" pitchFamily="34" charset="0"/>
                <a:cs typeface="HELVETICA" panose="020B0604020202020204" pitchFamily="34" charset="0"/>
              </a:rPr>
              <a:t>Cloud Cost Summary</a:t>
            </a:r>
            <a:endParaRPr lang="en-IL" sz="6000" dirty="0">
              <a:solidFill>
                <a:schemeClr val="bg1"/>
              </a:solidFill>
            </a:endParaRPr>
          </a:p>
        </p:txBody>
      </p:sp>
      <p:pic>
        <p:nvPicPr>
          <p:cNvPr id="2" name="Picture 1" descr="Best Google Cloud Services: Solutions for Scalability and Innovation">
            <a:extLst>
              <a:ext uri="{FF2B5EF4-FFF2-40B4-BE49-F238E27FC236}">
                <a16:creationId xmlns:a16="http://schemas.microsoft.com/office/drawing/2014/main" id="{BBEE124E-1CB5-5FB8-AA18-422572A2C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604667"/>
            <a:ext cx="2448272" cy="137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046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F7B08-708B-2948-ECB9-F9C2A1F41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A2E78103-B6AD-EBEB-0F41-711281AF9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686629"/>
            <a:ext cx="6679433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200" b="1" dirty="0">
                <a:latin typeface="+mn-lt"/>
                <a:cs typeface="Calibri" panose="020F0502020204030204" pitchFamily="34" charset="0"/>
              </a:rPr>
              <a:t>2026 Consumption By Google Cloud Services</a:t>
            </a:r>
            <a:br>
              <a:rPr lang="en-US" sz="2200" b="1" dirty="0">
                <a:latin typeface="+mn-lt"/>
                <a:cs typeface="Calibri" panose="020F0502020204030204" pitchFamily="34" charset="0"/>
              </a:rPr>
            </a:br>
            <a:endParaRPr lang="he-IL" sz="22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ED9D6B0A-AF4F-8338-E2B4-0E0510CCF15D}"/>
              </a:ext>
            </a:extLst>
          </p:cNvPr>
          <p:cNvSpPr/>
          <p:nvPr/>
        </p:nvSpPr>
        <p:spPr>
          <a:xfrm>
            <a:off x="251520" y="6309320"/>
            <a:ext cx="2520280" cy="288032"/>
          </a:xfrm>
          <a:prstGeom prst="homePlate">
            <a:avLst/>
          </a:prstGeom>
          <a:solidFill>
            <a:srgbClr val="4A6895"/>
          </a:solidFill>
          <a:ln>
            <a:solidFill>
              <a:srgbClr val="4A6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Total YTD Cost 11,047$</a:t>
            </a:r>
            <a:endParaRPr lang="en-IL" sz="1600" b="1" dirty="0"/>
          </a:p>
        </p:txBody>
      </p:sp>
      <p:pic>
        <p:nvPicPr>
          <p:cNvPr id="7" name="Graphic 6" descr="Cloud">
            <a:extLst>
              <a:ext uri="{FF2B5EF4-FFF2-40B4-BE49-F238E27FC236}">
                <a16:creationId xmlns:a16="http://schemas.microsoft.com/office/drawing/2014/main" id="{878736F8-66BA-8E58-6936-0DAE0B542D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63645" y="-177467"/>
            <a:ext cx="1728192" cy="1728192"/>
          </a:xfrm>
          <a:prstGeom prst="rect">
            <a:avLst/>
          </a:prstGeom>
        </p:spPr>
      </p:pic>
      <p:pic>
        <p:nvPicPr>
          <p:cNvPr id="8" name="Picture 7" descr="Best Google Cloud Services: Solutions for Scalability and Innovation">
            <a:extLst>
              <a:ext uri="{FF2B5EF4-FFF2-40B4-BE49-F238E27FC236}">
                <a16:creationId xmlns:a16="http://schemas.microsoft.com/office/drawing/2014/main" id="{EDF7CEF4-EBBF-3E16-9A15-F1D03345C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588" y="393114"/>
            <a:ext cx="1043608" cy="587030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1FAFBE3-03C0-4D18-B69A-0BD47AED64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8220162"/>
              </p:ext>
            </p:extLst>
          </p:nvPr>
        </p:nvGraphicFramePr>
        <p:xfrm>
          <a:off x="467544" y="1653877"/>
          <a:ext cx="7992888" cy="4943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3A74D5-D251-0BF2-526D-2D4C9F74F75E}"/>
              </a:ext>
            </a:extLst>
          </p:cNvPr>
          <p:cNvSpPr/>
          <p:nvPr/>
        </p:nvSpPr>
        <p:spPr bwMode="auto">
          <a:xfrm>
            <a:off x="4860032" y="2708920"/>
            <a:ext cx="1008112" cy="340519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Vertex AI &amp; compute engine</a:t>
            </a:r>
            <a:endParaRPr lang="en-IL" sz="7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8B0CD11-2201-1C08-7E02-5E9489DC83FF}"/>
              </a:ext>
            </a:extLst>
          </p:cNvPr>
          <p:cNvSpPr/>
          <p:nvPr/>
        </p:nvSpPr>
        <p:spPr bwMode="auto">
          <a:xfrm>
            <a:off x="6012160" y="1977912"/>
            <a:ext cx="1008112" cy="221337"/>
          </a:xfrm>
          <a:prstGeom prst="round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he-IL"/>
            </a:defPPr>
            <a:lvl1pPr marL="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Vertex AI</a:t>
            </a:r>
            <a:endParaRPr lang="en-IL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532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721C6-D501-73C2-F323-B375606B6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0">
            <a:extLst>
              <a:ext uri="{FF2B5EF4-FFF2-40B4-BE49-F238E27FC236}">
                <a16:creationId xmlns:a16="http://schemas.microsoft.com/office/drawing/2014/main" id="{66FD2C7C-D890-2019-AD7F-A9FE9692D75F}"/>
              </a:ext>
            </a:extLst>
          </p:cNvPr>
          <p:cNvSpPr/>
          <p:nvPr/>
        </p:nvSpPr>
        <p:spPr bwMode="auto">
          <a:xfrm>
            <a:off x="151497" y="6469640"/>
            <a:ext cx="201243" cy="216024"/>
          </a:xfrm>
          <a:prstGeom prst="ellipse">
            <a:avLst/>
          </a:prstGeom>
          <a:solidFill>
            <a:srgbClr val="0A347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TextBox 46">
            <a:extLst>
              <a:ext uri="{FF2B5EF4-FFF2-40B4-BE49-F238E27FC236}">
                <a16:creationId xmlns:a16="http://schemas.microsoft.com/office/drawing/2014/main" id="{554E6489-180D-ACDC-13A1-2C286CF51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19" y="6452056"/>
            <a:ext cx="36004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rtl="0" eaLnBrk="1" hangingPunct="1"/>
            <a:fld id="{42511F0F-8D32-47EB-9D11-300C5AB9E50E}" type="slidenum">
              <a:rPr lang="id-ID" altLang="he-IL" sz="1100" smtClean="0">
                <a:solidFill>
                  <a:schemeClr val="bg1"/>
                </a:solidFill>
                <a:latin typeface="Raleway"/>
                <a:ea typeface="Roboto Condensed Light"/>
                <a:cs typeface="Lato Heavy"/>
              </a:rPr>
              <a:t>25</a:t>
            </a:fld>
            <a:endParaRPr lang="id-ID" altLang="he-IL" sz="1100" dirty="0">
              <a:solidFill>
                <a:schemeClr val="bg1"/>
              </a:solidFill>
              <a:latin typeface="Raleway"/>
              <a:ea typeface="Roboto Condensed Light"/>
              <a:cs typeface="Lato Heavy"/>
            </a:endParaRPr>
          </a:p>
        </p:txBody>
      </p:sp>
      <p:pic>
        <p:nvPicPr>
          <p:cNvPr id="9" name="Graphic 8" descr="Cloud">
            <a:extLst>
              <a:ext uri="{FF2B5EF4-FFF2-40B4-BE49-F238E27FC236}">
                <a16:creationId xmlns:a16="http://schemas.microsoft.com/office/drawing/2014/main" id="{50DA3302-FD44-606A-C23D-51E1A182DD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92280" y="1327715"/>
            <a:ext cx="1728192" cy="17281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B5CDFA4-558D-AA83-21B8-36C62D654101}"/>
              </a:ext>
            </a:extLst>
          </p:cNvPr>
          <p:cNvSpPr txBox="1"/>
          <p:nvPr/>
        </p:nvSpPr>
        <p:spPr>
          <a:xfrm>
            <a:off x="90879" y="3055907"/>
            <a:ext cx="66247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Verdana" panose="020B0604030504040204" pitchFamily="34" charset="0"/>
                <a:cs typeface="HELVETICA" panose="020B0604020202020204" pitchFamily="34" charset="0"/>
              </a:rPr>
              <a:t> FinOps Ai Factory</a:t>
            </a:r>
          </a:p>
        </p:txBody>
      </p:sp>
    </p:spTree>
    <p:extLst>
      <p:ext uri="{BB962C8B-B14F-4D97-AF65-F5344CB8AC3E}">
        <p14:creationId xmlns:p14="http://schemas.microsoft.com/office/powerpoint/2010/main" val="3549347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549EB-542F-D1D1-2EBF-7988A3862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BC0C1DD3-7365-F5CC-65B7-7C2859AA2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686629"/>
            <a:ext cx="6679433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200" b="1" dirty="0">
                <a:latin typeface="+mn-lt"/>
                <a:cs typeface="Calibri" panose="020F0502020204030204" pitchFamily="34" charset="0"/>
              </a:rPr>
              <a:t>2026 Consumption By Projects</a:t>
            </a:r>
            <a:br>
              <a:rPr lang="en-US" sz="2200" b="1" dirty="0">
                <a:latin typeface="+mn-lt"/>
                <a:cs typeface="Calibri" panose="020F0502020204030204" pitchFamily="34" charset="0"/>
              </a:rPr>
            </a:br>
            <a:endParaRPr lang="he-IL" sz="22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1B9A2F31-4502-A1EB-85A9-5A16C53C00DC}"/>
              </a:ext>
            </a:extLst>
          </p:cNvPr>
          <p:cNvSpPr/>
          <p:nvPr/>
        </p:nvSpPr>
        <p:spPr>
          <a:xfrm>
            <a:off x="323528" y="6309321"/>
            <a:ext cx="2592288" cy="216023"/>
          </a:xfrm>
          <a:prstGeom prst="homePlate">
            <a:avLst/>
          </a:prstGeom>
          <a:solidFill>
            <a:srgbClr val="4A6895"/>
          </a:solidFill>
          <a:ln>
            <a:solidFill>
              <a:srgbClr val="4A6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Total  YTD Cost $203K</a:t>
            </a:r>
            <a:endParaRPr lang="en-IL" sz="1600" b="1" dirty="0"/>
          </a:p>
        </p:txBody>
      </p:sp>
      <p:pic>
        <p:nvPicPr>
          <p:cNvPr id="6" name="Picture 5" descr="A blue cloud with black text&#10;&#10;Description automatically generated">
            <a:extLst>
              <a:ext uri="{FF2B5EF4-FFF2-40B4-BE49-F238E27FC236}">
                <a16:creationId xmlns:a16="http://schemas.microsoft.com/office/drawing/2014/main" id="{665587D2-BD91-C839-D1EF-7ECA5938B5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50792"/>
            <a:ext cx="1548471" cy="884841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CE35F9B-CC1B-CA17-5477-E18FEF960D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3392645"/>
              </p:ext>
            </p:extLst>
          </p:nvPr>
        </p:nvGraphicFramePr>
        <p:xfrm>
          <a:off x="539552" y="1162049"/>
          <a:ext cx="8136903" cy="4931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78662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0BD77-5706-78AC-C8D3-69BEA8C31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30632977-5028-E5E0-3815-05D65838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686629"/>
            <a:ext cx="5040560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200" b="1" dirty="0">
                <a:latin typeface="+mn-lt"/>
                <a:cs typeface="Calibri" panose="020F0502020204030204" pitchFamily="34" charset="0"/>
              </a:rPr>
              <a:t>2026 Consumption By AI Factory Project</a:t>
            </a:r>
            <a:br>
              <a:rPr lang="en-US" sz="2200" b="1" dirty="0">
                <a:latin typeface="+mn-lt"/>
                <a:cs typeface="Calibri" panose="020F0502020204030204" pitchFamily="34" charset="0"/>
              </a:rPr>
            </a:br>
            <a:endParaRPr lang="he-IL" sz="22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7CE14A13-E31E-CCDE-D5FE-08C10CCE31BE}"/>
              </a:ext>
            </a:extLst>
          </p:cNvPr>
          <p:cNvSpPr/>
          <p:nvPr/>
        </p:nvSpPr>
        <p:spPr>
          <a:xfrm>
            <a:off x="323528" y="6309321"/>
            <a:ext cx="2160240" cy="209504"/>
          </a:xfrm>
          <a:prstGeom prst="homePlate">
            <a:avLst/>
          </a:prstGeom>
          <a:solidFill>
            <a:srgbClr val="4A6895"/>
          </a:solidFill>
          <a:ln>
            <a:solidFill>
              <a:srgbClr val="4A6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Total YTD Cost $113K</a:t>
            </a:r>
            <a:endParaRPr lang="en-IL" sz="1600" b="1" dirty="0"/>
          </a:p>
        </p:txBody>
      </p:sp>
      <p:pic>
        <p:nvPicPr>
          <p:cNvPr id="6" name="Picture 5" descr="A blue cloud with black text&#10;&#10;Description automatically generated">
            <a:extLst>
              <a:ext uri="{FF2B5EF4-FFF2-40B4-BE49-F238E27FC236}">
                <a16:creationId xmlns:a16="http://schemas.microsoft.com/office/drawing/2014/main" id="{CC62C17C-3D28-E965-9800-618FE67CFF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50792"/>
            <a:ext cx="1548471" cy="884841"/>
          </a:xfrm>
          <a:prstGeom prst="rect">
            <a:avLst/>
          </a:prstGeom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5146134-3A72-9305-A315-B254C0660C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8161513"/>
              </p:ext>
            </p:extLst>
          </p:nvPr>
        </p:nvGraphicFramePr>
        <p:xfrm>
          <a:off x="341635" y="1328181"/>
          <a:ext cx="4014341" cy="4843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6EA31A-2B13-F323-22B3-F22391D8DECE}"/>
              </a:ext>
            </a:extLst>
          </p:cNvPr>
          <p:cNvSpPr/>
          <p:nvPr/>
        </p:nvSpPr>
        <p:spPr bwMode="auto">
          <a:xfrm>
            <a:off x="2659142" y="1796910"/>
            <a:ext cx="928082" cy="340519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The increase in Prod subscription</a:t>
            </a:r>
            <a:endParaRPr lang="en-IL" sz="700" b="1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BC58F8CF-70D3-7074-DA61-2622756DBE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3387936"/>
              </p:ext>
            </p:extLst>
          </p:nvPr>
        </p:nvGraphicFramePr>
        <p:xfrm>
          <a:off x="4670958" y="1177821"/>
          <a:ext cx="4230365" cy="5510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57D05A-F2F0-D0E3-2132-0B76EC86D7F5}"/>
              </a:ext>
            </a:extLst>
          </p:cNvPr>
          <p:cNvSpPr/>
          <p:nvPr/>
        </p:nvSpPr>
        <p:spPr bwMode="auto">
          <a:xfrm>
            <a:off x="7079945" y="1558547"/>
            <a:ext cx="928082" cy="578882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The increase in foundry models and virtual machine</a:t>
            </a:r>
            <a:endParaRPr lang="en-IL" sz="7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661F1F5-EE35-B9A1-4409-E0AC3EE2E302}"/>
              </a:ext>
            </a:extLst>
          </p:cNvPr>
          <p:cNvSpPr/>
          <p:nvPr/>
        </p:nvSpPr>
        <p:spPr bwMode="auto">
          <a:xfrm>
            <a:off x="8215918" y="1924443"/>
            <a:ext cx="784873" cy="698063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The increase in Storage,</a:t>
            </a:r>
          </a:p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Decrease in foundry models</a:t>
            </a:r>
            <a:endParaRPr lang="en-IL" sz="700" dirty="0"/>
          </a:p>
        </p:txBody>
      </p:sp>
    </p:spTree>
    <p:extLst>
      <p:ext uri="{BB962C8B-B14F-4D97-AF65-F5344CB8AC3E}">
        <p14:creationId xmlns:p14="http://schemas.microsoft.com/office/powerpoint/2010/main" val="2483175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AEB74-8973-1200-769F-0022A363E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C31ECAEA-4B12-2A51-100A-0DC4296C5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686629"/>
            <a:ext cx="6679433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200" b="1" dirty="0">
                <a:latin typeface="+mn-lt"/>
                <a:cs typeface="Calibri" panose="020F0502020204030204" pitchFamily="34" charset="0"/>
              </a:rPr>
              <a:t>2026 Consumption By </a:t>
            </a:r>
            <a:r>
              <a:rPr lang="en-US" sz="2200" b="1" dirty="0" err="1">
                <a:latin typeface="+mn-lt"/>
                <a:cs typeface="Calibri" panose="020F0502020204030204" pitchFamily="34" charset="0"/>
              </a:rPr>
              <a:t>Solugen</a:t>
            </a:r>
            <a:r>
              <a:rPr lang="en-US" sz="2200" b="1" dirty="0">
                <a:latin typeface="+mn-lt"/>
                <a:cs typeface="Calibri" panose="020F0502020204030204" pitchFamily="34" charset="0"/>
              </a:rPr>
              <a:t> Project</a:t>
            </a:r>
            <a:br>
              <a:rPr lang="en-US" sz="2200" b="1" dirty="0">
                <a:latin typeface="+mn-lt"/>
                <a:cs typeface="Calibri" panose="020F0502020204030204" pitchFamily="34" charset="0"/>
              </a:rPr>
            </a:br>
            <a:endParaRPr lang="he-IL" sz="22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D8F011BB-260F-D0C1-1AD4-E1815E7B9883}"/>
              </a:ext>
            </a:extLst>
          </p:cNvPr>
          <p:cNvSpPr/>
          <p:nvPr/>
        </p:nvSpPr>
        <p:spPr>
          <a:xfrm>
            <a:off x="323528" y="6309321"/>
            <a:ext cx="2088232" cy="216024"/>
          </a:xfrm>
          <a:prstGeom prst="homePlate">
            <a:avLst/>
          </a:prstGeom>
          <a:solidFill>
            <a:srgbClr val="4A6895"/>
          </a:solidFill>
          <a:ln>
            <a:solidFill>
              <a:srgbClr val="4A6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Total YTD Cost $39K</a:t>
            </a:r>
            <a:endParaRPr lang="en-IL" sz="1600" b="1" dirty="0"/>
          </a:p>
        </p:txBody>
      </p:sp>
      <p:pic>
        <p:nvPicPr>
          <p:cNvPr id="6" name="Picture 5" descr="A blue cloud with black text&#10;&#10;Description automatically generated">
            <a:extLst>
              <a:ext uri="{FF2B5EF4-FFF2-40B4-BE49-F238E27FC236}">
                <a16:creationId xmlns:a16="http://schemas.microsoft.com/office/drawing/2014/main" id="{0F1BAE3A-29D3-434D-2E9E-CA4E447314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50792"/>
            <a:ext cx="1548471" cy="884841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AB7E048-5AE7-3EF4-AD5F-7370467C10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9150413"/>
              </p:ext>
            </p:extLst>
          </p:nvPr>
        </p:nvGraphicFramePr>
        <p:xfrm>
          <a:off x="719572" y="1425345"/>
          <a:ext cx="7704856" cy="46210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D885333-8D3F-0511-C676-9E28C968B95C}"/>
              </a:ext>
            </a:extLst>
          </p:cNvPr>
          <p:cNvSpPr/>
          <p:nvPr/>
        </p:nvSpPr>
        <p:spPr bwMode="auto">
          <a:xfrm>
            <a:off x="4788024" y="1445955"/>
            <a:ext cx="928082" cy="340519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The increase in Foundry Models </a:t>
            </a:r>
            <a:endParaRPr lang="en-IL" sz="700" b="1" dirty="0"/>
          </a:p>
        </p:txBody>
      </p:sp>
    </p:spTree>
    <p:extLst>
      <p:ext uri="{BB962C8B-B14F-4D97-AF65-F5344CB8AC3E}">
        <p14:creationId xmlns:p14="http://schemas.microsoft.com/office/powerpoint/2010/main" val="15484671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CC6BC-41B3-B639-1A46-481D3FF95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AAEC1378-868E-208A-BDD1-34FE2CED4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686629"/>
            <a:ext cx="6679433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000" b="1" dirty="0">
                <a:latin typeface="+mn-lt"/>
                <a:cs typeface="Calibri" panose="020F0502020204030204" pitchFamily="34" charset="0"/>
              </a:rPr>
              <a:t>2026 Consumption By Document Intelligence (OCR Services)</a:t>
            </a:r>
            <a:br>
              <a:rPr lang="en-US" sz="2200" b="1" dirty="0">
                <a:latin typeface="+mn-lt"/>
                <a:cs typeface="Calibri" panose="020F0502020204030204" pitchFamily="34" charset="0"/>
              </a:rPr>
            </a:br>
            <a:endParaRPr lang="he-IL" sz="22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ABC68FE9-36A3-4033-4503-BB8F9BB82E75}"/>
              </a:ext>
            </a:extLst>
          </p:cNvPr>
          <p:cNvSpPr/>
          <p:nvPr/>
        </p:nvSpPr>
        <p:spPr>
          <a:xfrm>
            <a:off x="323528" y="6309321"/>
            <a:ext cx="2232248" cy="216024"/>
          </a:xfrm>
          <a:prstGeom prst="homePlate">
            <a:avLst/>
          </a:prstGeom>
          <a:solidFill>
            <a:srgbClr val="4A6895"/>
          </a:solidFill>
          <a:ln>
            <a:solidFill>
              <a:srgbClr val="4A6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Total YTD Cost $37K</a:t>
            </a:r>
            <a:endParaRPr lang="en-IL" sz="1600" b="1" dirty="0"/>
          </a:p>
        </p:txBody>
      </p:sp>
      <p:pic>
        <p:nvPicPr>
          <p:cNvPr id="6" name="Picture 5" descr="A blue cloud with black text&#10;&#10;Description automatically generated">
            <a:extLst>
              <a:ext uri="{FF2B5EF4-FFF2-40B4-BE49-F238E27FC236}">
                <a16:creationId xmlns:a16="http://schemas.microsoft.com/office/drawing/2014/main" id="{0AEAC6DE-EB84-FA84-C987-6CC3F0293E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50792"/>
            <a:ext cx="1548471" cy="884841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0B5BFF2-AC25-4939-8D4C-083E4453AF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6126443"/>
              </p:ext>
            </p:extLst>
          </p:nvPr>
        </p:nvGraphicFramePr>
        <p:xfrm>
          <a:off x="1305132" y="1279344"/>
          <a:ext cx="7056784" cy="4892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7CE82E-A055-91A6-CCF6-9CB6BB27F3E0}"/>
              </a:ext>
            </a:extLst>
          </p:cNvPr>
          <p:cNvSpPr/>
          <p:nvPr/>
        </p:nvSpPr>
        <p:spPr bwMode="auto">
          <a:xfrm>
            <a:off x="6660232" y="1634169"/>
            <a:ext cx="929102" cy="459700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“</a:t>
            </a:r>
            <a:r>
              <a:rPr lang="en-US" sz="700" dirty="0" err="1"/>
              <a:t>Solugen</a:t>
            </a:r>
            <a:r>
              <a:rPr lang="en-US" sz="700" dirty="0"/>
              <a:t> Production”</a:t>
            </a:r>
            <a:endParaRPr lang="en-IL" sz="700" b="1" dirty="0"/>
          </a:p>
        </p:txBody>
      </p:sp>
    </p:spTree>
    <p:extLst>
      <p:ext uri="{BB962C8B-B14F-4D97-AF65-F5344CB8AC3E}">
        <p14:creationId xmlns:p14="http://schemas.microsoft.com/office/powerpoint/2010/main" val="7219716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78833-EB03-F112-70BA-CE011318C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4430EEB4-3C8A-F98D-A75F-4A7A8F950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686629"/>
            <a:ext cx="6679433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200" b="1" dirty="0">
                <a:latin typeface="+mn-lt"/>
                <a:cs typeface="Calibri" panose="020F0502020204030204" pitchFamily="34" charset="0"/>
              </a:rPr>
              <a:t>2026 Consumption By INSAIT Project</a:t>
            </a:r>
            <a:br>
              <a:rPr lang="en-US" sz="2200" b="1" dirty="0">
                <a:latin typeface="+mn-lt"/>
                <a:cs typeface="Calibri" panose="020F0502020204030204" pitchFamily="34" charset="0"/>
              </a:rPr>
            </a:br>
            <a:endParaRPr lang="he-IL" sz="22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915AD0B0-8EA5-926D-C8EF-D6287F473CA6}"/>
              </a:ext>
            </a:extLst>
          </p:cNvPr>
          <p:cNvSpPr/>
          <p:nvPr/>
        </p:nvSpPr>
        <p:spPr>
          <a:xfrm>
            <a:off x="323528" y="6309321"/>
            <a:ext cx="2160240" cy="216024"/>
          </a:xfrm>
          <a:prstGeom prst="homePlate">
            <a:avLst/>
          </a:prstGeom>
          <a:solidFill>
            <a:srgbClr val="4A6895"/>
          </a:solidFill>
          <a:ln>
            <a:solidFill>
              <a:srgbClr val="4A6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Total YTD Cost $13K</a:t>
            </a:r>
            <a:endParaRPr lang="en-IL" sz="1600" b="1" dirty="0"/>
          </a:p>
        </p:txBody>
      </p:sp>
      <p:pic>
        <p:nvPicPr>
          <p:cNvPr id="6" name="Picture 5" descr="A blue cloud with black text&#10;&#10;Description automatically generated">
            <a:extLst>
              <a:ext uri="{FF2B5EF4-FFF2-40B4-BE49-F238E27FC236}">
                <a16:creationId xmlns:a16="http://schemas.microsoft.com/office/drawing/2014/main" id="{EEBD8581-2346-A752-DFC3-7BC1CB5603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50792"/>
            <a:ext cx="1548471" cy="884841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9E5E049-A0FC-7701-BD13-D3A57A54FC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5486654"/>
              </p:ext>
            </p:extLst>
          </p:nvPr>
        </p:nvGraphicFramePr>
        <p:xfrm>
          <a:off x="611560" y="1196752"/>
          <a:ext cx="7920880" cy="48125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3336AF7-CC6E-CB92-60D7-4FA4D81F9FA4}"/>
              </a:ext>
            </a:extLst>
          </p:cNvPr>
          <p:cNvSpPr/>
          <p:nvPr/>
        </p:nvSpPr>
        <p:spPr bwMode="auto">
          <a:xfrm>
            <a:off x="2327745" y="2135686"/>
            <a:ext cx="928082" cy="340519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The increase in Foundry Models </a:t>
            </a:r>
            <a:endParaRPr lang="en-IL" sz="7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DD328D-0652-BA85-76C0-ACDBE272F4DF}"/>
              </a:ext>
            </a:extLst>
          </p:cNvPr>
          <p:cNvSpPr/>
          <p:nvPr/>
        </p:nvSpPr>
        <p:spPr bwMode="auto">
          <a:xfrm>
            <a:off x="6794959" y="1795167"/>
            <a:ext cx="928082" cy="340519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The increase in Foundry Models </a:t>
            </a:r>
            <a:endParaRPr lang="en-IL" sz="700" b="1" dirty="0"/>
          </a:p>
        </p:txBody>
      </p:sp>
    </p:spTree>
    <p:extLst>
      <p:ext uri="{BB962C8B-B14F-4D97-AF65-F5344CB8AC3E}">
        <p14:creationId xmlns:p14="http://schemas.microsoft.com/office/powerpoint/2010/main" val="2525057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C558F-0E8D-F08C-0024-A5CB24215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786B6071-EDAB-5E03-0D18-E3F50DD4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686629"/>
            <a:ext cx="7135664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000" b="1" dirty="0">
                <a:latin typeface="+mn-lt"/>
                <a:cs typeface="Calibri" panose="020F0502020204030204" pitchFamily="34" charset="0"/>
              </a:rPr>
              <a:t>2026 Consumption By Cost Azure Cognitive Search</a:t>
            </a:r>
            <a:br>
              <a:rPr lang="en-US" sz="2000" b="1" dirty="0">
                <a:latin typeface="+mn-lt"/>
                <a:cs typeface="Calibri" panose="020F0502020204030204" pitchFamily="34" charset="0"/>
              </a:rPr>
            </a:br>
            <a:endParaRPr lang="he-IL" sz="20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D8034650-A384-9042-446F-9FF25200D863}"/>
              </a:ext>
            </a:extLst>
          </p:cNvPr>
          <p:cNvSpPr/>
          <p:nvPr/>
        </p:nvSpPr>
        <p:spPr>
          <a:xfrm>
            <a:off x="179512" y="6309321"/>
            <a:ext cx="2520280" cy="209300"/>
          </a:xfrm>
          <a:prstGeom prst="homePlate">
            <a:avLst/>
          </a:prstGeom>
          <a:solidFill>
            <a:srgbClr val="4A6895"/>
          </a:solidFill>
          <a:ln>
            <a:solidFill>
              <a:srgbClr val="4A6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Total YTD Cost $14K </a:t>
            </a:r>
            <a:endParaRPr lang="en-IL" sz="1600" b="1" dirty="0"/>
          </a:p>
        </p:txBody>
      </p:sp>
      <p:pic>
        <p:nvPicPr>
          <p:cNvPr id="5" name="Picture 4" descr="A blue cloud with black text&#10;&#10;Description automatically generated">
            <a:extLst>
              <a:ext uri="{FF2B5EF4-FFF2-40B4-BE49-F238E27FC236}">
                <a16:creationId xmlns:a16="http://schemas.microsoft.com/office/drawing/2014/main" id="{56434F6D-381F-B154-C860-C640D969CC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50792"/>
            <a:ext cx="1548471" cy="884841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038C83-EE85-20E1-B4B4-BBF9CABEA2AE}"/>
              </a:ext>
            </a:extLst>
          </p:cNvPr>
          <p:cNvSpPr/>
          <p:nvPr/>
        </p:nvSpPr>
        <p:spPr bwMode="auto">
          <a:xfrm>
            <a:off x="4499992" y="1844822"/>
            <a:ext cx="928082" cy="817245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The increase in few subscriptions: dev/test, AI factory prod, and </a:t>
            </a:r>
            <a:r>
              <a:rPr lang="en-US" sz="700" dirty="0" err="1"/>
              <a:t>Solugen</a:t>
            </a:r>
            <a:r>
              <a:rPr lang="en-US" sz="700" dirty="0"/>
              <a:t> production</a:t>
            </a:r>
            <a:endParaRPr lang="en-IL" sz="7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C53D8E-5230-67D6-9B24-B546A81315CF}"/>
              </a:ext>
            </a:extLst>
          </p:cNvPr>
          <p:cNvSpPr/>
          <p:nvPr/>
        </p:nvSpPr>
        <p:spPr bwMode="auto">
          <a:xfrm>
            <a:off x="5580112" y="1996890"/>
            <a:ext cx="1008112" cy="340519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The increase dev/test &amp; </a:t>
            </a:r>
            <a:r>
              <a:rPr lang="en-US" sz="700" dirty="0" err="1"/>
              <a:t>Solugen</a:t>
            </a:r>
            <a:r>
              <a:rPr lang="en-US" sz="700" dirty="0"/>
              <a:t> production</a:t>
            </a:r>
            <a:endParaRPr lang="en-IL" sz="700" b="1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1F659CB-4A62-9A2A-39F4-B7FE0EC7AA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0431780"/>
              </p:ext>
            </p:extLst>
          </p:nvPr>
        </p:nvGraphicFramePr>
        <p:xfrm>
          <a:off x="611560" y="1328182"/>
          <a:ext cx="7920880" cy="48431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993963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2F2E4-3F24-FB49-6972-6465EFC78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C4236DA5-0B1A-7469-05ED-C9CBE746F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0" y="777738"/>
            <a:ext cx="6976754" cy="213285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1900" b="1" dirty="0">
                <a:latin typeface="+mn-lt"/>
                <a:cs typeface="Calibri" panose="020F0502020204030204" pitchFamily="34" charset="0"/>
              </a:rPr>
              <a:t>2026 Consumption By Foundry Models &amp; Foundry Tools</a:t>
            </a:r>
            <a:r>
              <a:rPr lang="he-IL" sz="1900" b="1" dirty="0">
                <a:latin typeface="+mn-lt"/>
                <a:cs typeface="Calibri" panose="020F0502020204030204" pitchFamily="34" charset="0"/>
              </a:rPr>
              <a:t> </a:t>
            </a:r>
            <a:r>
              <a:rPr lang="en-US" sz="1900" b="1" dirty="0">
                <a:latin typeface="+mn-lt"/>
                <a:cs typeface="Calibri" panose="020F0502020204030204" pitchFamily="34" charset="0"/>
              </a:rPr>
              <a:t>Usages </a:t>
            </a:r>
            <a:endParaRPr lang="he-IL" sz="1900" b="1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11330CE2-9BE1-4CFD-B8AE-DA23E8A4FC43}"/>
              </a:ext>
            </a:extLst>
          </p:cNvPr>
          <p:cNvSpPr/>
          <p:nvPr/>
        </p:nvSpPr>
        <p:spPr>
          <a:xfrm>
            <a:off x="323528" y="6309320"/>
            <a:ext cx="1728192" cy="216461"/>
          </a:xfrm>
          <a:prstGeom prst="homePlate">
            <a:avLst/>
          </a:prstGeom>
          <a:solidFill>
            <a:srgbClr val="4A6895"/>
          </a:solidFill>
          <a:ln>
            <a:solidFill>
              <a:srgbClr val="4A6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Total Cost $103K</a:t>
            </a:r>
            <a:endParaRPr lang="en-IL" sz="1600" b="1" dirty="0"/>
          </a:p>
        </p:txBody>
      </p:sp>
      <p:pic>
        <p:nvPicPr>
          <p:cNvPr id="6" name="Picture 5" descr="A blue cloud with black text&#10;&#10;Description automatically generated">
            <a:extLst>
              <a:ext uri="{FF2B5EF4-FFF2-40B4-BE49-F238E27FC236}">
                <a16:creationId xmlns:a16="http://schemas.microsoft.com/office/drawing/2014/main" id="{8D202887-537B-18E2-BB98-BACE85AAD3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50792"/>
            <a:ext cx="1548471" cy="884841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72B0CB9-9882-F3C8-F8C7-2F3E8B179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5515861"/>
              </p:ext>
            </p:extLst>
          </p:nvPr>
        </p:nvGraphicFramePr>
        <p:xfrm>
          <a:off x="575556" y="1412776"/>
          <a:ext cx="7992888" cy="5586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3B77DF-AC52-2623-93FC-E3AB59BA1C20}"/>
              </a:ext>
            </a:extLst>
          </p:cNvPr>
          <p:cNvSpPr/>
          <p:nvPr/>
        </p:nvSpPr>
        <p:spPr bwMode="auto">
          <a:xfrm>
            <a:off x="4860032" y="2377427"/>
            <a:ext cx="928082" cy="459700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The increase in GPT5, </a:t>
            </a:r>
            <a:r>
              <a:rPr lang="en-US" sz="700" dirty="0" err="1"/>
              <a:t>gpt</a:t>
            </a:r>
            <a:r>
              <a:rPr lang="en-US" sz="700" dirty="0"/>
              <a:t> 4.1, 5.4 </a:t>
            </a:r>
            <a:r>
              <a:rPr lang="en-US" sz="700" dirty="0" err="1"/>
              <a:t>inp</a:t>
            </a:r>
            <a:r>
              <a:rPr lang="en-US" sz="700" dirty="0"/>
              <a:t>, 5.4 opt</a:t>
            </a:r>
            <a:endParaRPr lang="en-IL" sz="7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A74E40-30F2-8336-6226-9CDB040A9B94}"/>
              </a:ext>
            </a:extLst>
          </p:cNvPr>
          <p:cNvSpPr/>
          <p:nvPr/>
        </p:nvSpPr>
        <p:spPr bwMode="auto">
          <a:xfrm>
            <a:off x="3851920" y="2852936"/>
            <a:ext cx="928082" cy="340519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The increase in </a:t>
            </a:r>
            <a:r>
              <a:rPr lang="en-US" sz="700" dirty="0" err="1"/>
              <a:t>gpt</a:t>
            </a:r>
            <a:r>
              <a:rPr lang="en-US" sz="700" dirty="0"/>
              <a:t> 4o 0513</a:t>
            </a:r>
            <a:endParaRPr lang="en-IL" sz="700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09F8D0-BB5F-3BF4-12A4-53F603599714}"/>
              </a:ext>
            </a:extLst>
          </p:cNvPr>
          <p:cNvSpPr/>
          <p:nvPr/>
        </p:nvSpPr>
        <p:spPr bwMode="auto">
          <a:xfrm>
            <a:off x="5508104" y="1670610"/>
            <a:ext cx="1192143" cy="340519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The increase in 5.4 opt &amp; 5.4 </a:t>
            </a:r>
            <a:r>
              <a:rPr lang="en-US" sz="700" dirty="0" err="1"/>
              <a:t>inp</a:t>
            </a:r>
            <a:endParaRPr lang="en-IL" sz="700" b="1" dirty="0"/>
          </a:p>
        </p:txBody>
      </p:sp>
    </p:spTree>
    <p:extLst>
      <p:ext uri="{BB962C8B-B14F-4D97-AF65-F5344CB8AC3E}">
        <p14:creationId xmlns:p14="http://schemas.microsoft.com/office/powerpoint/2010/main" val="39326908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AC147-EAFF-6935-D3DE-12DE4E265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44E0220F-AAF8-8EC5-D7FA-CBFB4AEAC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686629"/>
            <a:ext cx="6679433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200" b="1" dirty="0">
                <a:latin typeface="+mn-lt"/>
                <a:cs typeface="Calibri" panose="020F0502020204030204" pitchFamily="34" charset="0"/>
              </a:rPr>
              <a:t>2026 Consumption By Bedrock Services</a:t>
            </a:r>
            <a:br>
              <a:rPr lang="en-US" sz="2200" b="1" dirty="0">
                <a:latin typeface="+mn-lt"/>
                <a:cs typeface="Calibri" panose="020F0502020204030204" pitchFamily="34" charset="0"/>
              </a:rPr>
            </a:br>
            <a:endParaRPr lang="he-IL" sz="22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7DD6E811-1E0B-DCDA-4B07-F8FF6A9186DA}"/>
              </a:ext>
            </a:extLst>
          </p:cNvPr>
          <p:cNvSpPr/>
          <p:nvPr/>
        </p:nvSpPr>
        <p:spPr>
          <a:xfrm>
            <a:off x="323528" y="6381328"/>
            <a:ext cx="2448272" cy="216024"/>
          </a:xfrm>
          <a:prstGeom prst="homePlate">
            <a:avLst/>
          </a:prstGeom>
          <a:solidFill>
            <a:srgbClr val="4A6895"/>
          </a:solidFill>
          <a:ln>
            <a:solidFill>
              <a:srgbClr val="4A6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Total YTD Cost $87K</a:t>
            </a:r>
            <a:endParaRPr lang="en-IL" sz="1600" b="1" dirty="0"/>
          </a:p>
        </p:txBody>
      </p:sp>
      <p:pic>
        <p:nvPicPr>
          <p:cNvPr id="5" name="Picture 4" descr="A logo with a smile&#10;&#10;Description automatically generated">
            <a:extLst>
              <a:ext uri="{FF2B5EF4-FFF2-40B4-BE49-F238E27FC236}">
                <a16:creationId xmlns:a16="http://schemas.microsoft.com/office/drawing/2014/main" id="{A3B92A22-16C1-71F5-A571-3EF4543EC4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839" y="126348"/>
            <a:ext cx="1571665" cy="884061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0585199-A312-4FBB-A0B8-1B7B0F6020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7985893"/>
              </p:ext>
            </p:extLst>
          </p:nvPr>
        </p:nvGraphicFramePr>
        <p:xfrm>
          <a:off x="143508" y="1174253"/>
          <a:ext cx="8856983" cy="47254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BEE36A-0F3C-6E00-9BD2-00F3F3DB6549}"/>
              </a:ext>
            </a:extLst>
          </p:cNvPr>
          <p:cNvSpPr/>
          <p:nvPr/>
        </p:nvSpPr>
        <p:spPr bwMode="auto">
          <a:xfrm>
            <a:off x="6116777" y="2780928"/>
            <a:ext cx="1447657" cy="221337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Opus 4.8 &amp; 4.6</a:t>
            </a:r>
            <a:endParaRPr lang="en-IL" sz="700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F5006E-6E03-4887-3C3A-0900F2712783}"/>
              </a:ext>
            </a:extLst>
          </p:cNvPr>
          <p:cNvSpPr/>
          <p:nvPr/>
        </p:nvSpPr>
        <p:spPr bwMode="auto">
          <a:xfrm>
            <a:off x="7380312" y="1594469"/>
            <a:ext cx="1447657" cy="221337"/>
          </a:xfrm>
          <a:prstGeom prst="round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00" dirty="0"/>
              <a:t>increase in Opus 5</a:t>
            </a:r>
            <a:endParaRPr lang="en-IL" sz="700" b="1" dirty="0"/>
          </a:p>
        </p:txBody>
      </p:sp>
    </p:spTree>
    <p:extLst>
      <p:ext uri="{BB962C8B-B14F-4D97-AF65-F5344CB8AC3E}">
        <p14:creationId xmlns:p14="http://schemas.microsoft.com/office/powerpoint/2010/main" val="16706429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08A12-06FA-B241-9920-B81C3ADA3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0C40B32B-50F1-9C96-43F8-6B6430ABE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686629"/>
            <a:ext cx="6679433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2200" b="1" dirty="0">
                <a:latin typeface="+mn-lt"/>
                <a:cs typeface="Calibri" panose="020F0502020204030204" pitchFamily="34" charset="0"/>
              </a:rPr>
              <a:t>2026 Consumption By Harel AI </a:t>
            </a:r>
            <a:r>
              <a:rPr lang="en-US" sz="2200" b="1" dirty="0" err="1">
                <a:latin typeface="+mn-lt"/>
                <a:cs typeface="Calibri" panose="020F0502020204030204" pitchFamily="34" charset="0"/>
              </a:rPr>
              <a:t>SandBox</a:t>
            </a:r>
            <a:r>
              <a:rPr lang="en-US" sz="2200" b="1" dirty="0">
                <a:latin typeface="+mn-lt"/>
                <a:cs typeface="Calibri" panose="020F0502020204030204" pitchFamily="34" charset="0"/>
              </a:rPr>
              <a:t> </a:t>
            </a:r>
            <a:br>
              <a:rPr lang="en-US" sz="2200" b="1" dirty="0">
                <a:latin typeface="+mn-lt"/>
                <a:cs typeface="Calibri" panose="020F0502020204030204" pitchFamily="34" charset="0"/>
              </a:rPr>
            </a:br>
            <a:endParaRPr lang="he-IL" sz="22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C63AF2D4-985B-442F-17B7-7CDE5EC77B51}"/>
              </a:ext>
            </a:extLst>
          </p:cNvPr>
          <p:cNvSpPr/>
          <p:nvPr/>
        </p:nvSpPr>
        <p:spPr>
          <a:xfrm>
            <a:off x="323528" y="6309320"/>
            <a:ext cx="1728192" cy="216461"/>
          </a:xfrm>
          <a:prstGeom prst="homePlate">
            <a:avLst/>
          </a:prstGeom>
          <a:solidFill>
            <a:srgbClr val="4A6895"/>
          </a:solidFill>
          <a:ln>
            <a:solidFill>
              <a:srgbClr val="4A6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Total Cost $6,203</a:t>
            </a:r>
            <a:endParaRPr lang="en-IL" sz="1600" b="1" dirty="0"/>
          </a:p>
        </p:txBody>
      </p:sp>
      <p:pic>
        <p:nvPicPr>
          <p:cNvPr id="6" name="Picture 5" descr="A blue cloud with black text&#10;&#10;Description automatically generated">
            <a:extLst>
              <a:ext uri="{FF2B5EF4-FFF2-40B4-BE49-F238E27FC236}">
                <a16:creationId xmlns:a16="http://schemas.microsoft.com/office/drawing/2014/main" id="{946547FE-2FC2-2C70-7ECE-FBE4B5D42F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50792"/>
            <a:ext cx="1548471" cy="884841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C0FFCAA-4F51-5CB8-CDBC-9EEA7AF677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4408788"/>
              </p:ext>
            </p:extLst>
          </p:nvPr>
        </p:nvGraphicFramePr>
        <p:xfrm>
          <a:off x="827584" y="1328182"/>
          <a:ext cx="7344816" cy="4405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592234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54D40-3610-4582-6527-8B357ACF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55F77FB0-6D3A-013D-A019-3FEEC3E6B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32" y="620688"/>
            <a:ext cx="7632848" cy="641553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sz="1800" b="1" dirty="0">
                <a:cs typeface="Calibri" panose="020F0502020204030204" pitchFamily="34" charset="0"/>
              </a:rPr>
              <a:t>2026 Consumption By </a:t>
            </a:r>
            <a:r>
              <a:rPr lang="en-US" sz="1800" b="1" dirty="0">
                <a:solidFill>
                  <a:srgbClr val="FFFFFF"/>
                </a:solidFill>
              </a:rPr>
              <a:t>GitHub &amp; Copilot</a:t>
            </a:r>
            <a:br>
              <a:rPr lang="en-US" sz="2200" b="1" dirty="0">
                <a:latin typeface="+mn-lt"/>
                <a:cs typeface="Calibri" panose="020F0502020204030204" pitchFamily="34" charset="0"/>
              </a:rPr>
            </a:br>
            <a:endParaRPr lang="he-IL" sz="2200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4A33E285-250A-A64A-E85F-1CA1DBF358C0}"/>
              </a:ext>
            </a:extLst>
          </p:cNvPr>
          <p:cNvSpPr/>
          <p:nvPr/>
        </p:nvSpPr>
        <p:spPr>
          <a:xfrm>
            <a:off x="323528" y="6309320"/>
            <a:ext cx="1728192" cy="216461"/>
          </a:xfrm>
          <a:prstGeom prst="homePlate">
            <a:avLst/>
          </a:prstGeom>
          <a:solidFill>
            <a:srgbClr val="4A6895"/>
          </a:solidFill>
          <a:ln>
            <a:solidFill>
              <a:srgbClr val="4A6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Total Cost $</a:t>
            </a:r>
            <a:r>
              <a:rPr lang="en-US" sz="1600" b="1" dirty="0">
                <a:solidFill>
                  <a:schemeClr val="bg1"/>
                </a:solidFill>
              </a:rPr>
              <a:t>85K</a:t>
            </a:r>
            <a:endParaRPr lang="en-IL" sz="16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635B3AF-1C72-47C2-9354-1FCBE9B31B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0991328"/>
              </p:ext>
            </p:extLst>
          </p:nvPr>
        </p:nvGraphicFramePr>
        <p:xfrm>
          <a:off x="251520" y="1202676"/>
          <a:ext cx="4464496" cy="4853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1FD8F14-118C-4737-9230-F5F7A5FC83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9131917"/>
              </p:ext>
            </p:extLst>
          </p:nvPr>
        </p:nvGraphicFramePr>
        <p:xfrm>
          <a:off x="4716016" y="1187561"/>
          <a:ext cx="4139650" cy="49057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287765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58" y="17190"/>
            <a:ext cx="9143771" cy="14572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he-IL" sz="1350"/>
          </a:p>
        </p:txBody>
      </p:sp>
      <p:sp>
        <p:nvSpPr>
          <p:cNvPr id="3" name="Shape 1"/>
          <p:cNvSpPr/>
          <p:nvPr/>
        </p:nvSpPr>
        <p:spPr>
          <a:xfrm>
            <a:off x="1" y="1508760"/>
            <a:ext cx="9143771" cy="41148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he-IL" sz="1350"/>
          </a:p>
        </p:txBody>
      </p:sp>
      <p:pic>
        <p:nvPicPr>
          <p:cNvPr id="4" name="Image 0" descr="working/brand/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994410"/>
            <a:ext cx="377190" cy="3771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0090" y="966978"/>
            <a:ext cx="658368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b="1" dirty="0">
                <a:solidFill>
                  <a:srgbClr val="FFFFFF"/>
                </a:solidFill>
              </a:rPr>
              <a:t>GitHub Copilot &amp; Licensing — Executive Summary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7509510" y="1021842"/>
            <a:ext cx="1405890" cy="329184"/>
          </a:xfrm>
          <a:prstGeom prst="roundRect">
            <a:avLst>
              <a:gd name="adj" fmla="val 50000"/>
            </a:avLst>
          </a:prstGeom>
          <a:solidFill>
            <a:srgbClr val="2E5496"/>
          </a:solidFill>
          <a:ln/>
        </p:spPr>
        <p:txBody>
          <a:bodyPr/>
          <a:lstStyle/>
          <a:p>
            <a:endParaRPr lang="he-IL" sz="1350"/>
          </a:p>
        </p:txBody>
      </p:sp>
      <p:sp>
        <p:nvSpPr>
          <p:cNvPr id="7" name="Text 4"/>
          <p:cNvSpPr/>
          <p:nvPr/>
        </p:nvSpPr>
        <p:spPr>
          <a:xfrm>
            <a:off x="7509510" y="1021842"/>
            <a:ext cx="140589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</a:rPr>
              <a:t>GitHub · Jun 2026</a:t>
            </a:r>
            <a:endParaRPr lang="en-US" sz="825" dirty="0"/>
          </a:p>
        </p:txBody>
      </p:sp>
      <p:sp>
        <p:nvSpPr>
          <p:cNvPr id="8" name="Shape 5"/>
          <p:cNvSpPr/>
          <p:nvPr/>
        </p:nvSpPr>
        <p:spPr>
          <a:xfrm>
            <a:off x="219456" y="1680210"/>
            <a:ext cx="2091690" cy="8915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E3EF"/>
            </a:solidFill>
            <a:prstDash val="solid"/>
          </a:ln>
          <a:effectLst>
            <a:outerShdw blurRad="101600" dist="38100" dir="5400000" algn="bl" rotWithShape="0">
              <a:srgbClr val="9AA8C2">
                <a:alpha val="35000"/>
              </a:srgbClr>
            </a:outerShdw>
          </a:effectLst>
        </p:spPr>
        <p:txBody>
          <a:bodyPr/>
          <a:lstStyle/>
          <a:p>
            <a:endParaRPr lang="he-IL" sz="1350" dirty="0"/>
          </a:p>
        </p:txBody>
      </p:sp>
      <p:sp>
        <p:nvSpPr>
          <p:cNvPr id="9" name="Text 6"/>
          <p:cNvSpPr/>
          <p:nvPr/>
        </p:nvSpPr>
        <p:spPr>
          <a:xfrm>
            <a:off x="288036" y="1776222"/>
            <a:ext cx="195453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$8,768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288036" y="2215134"/>
            <a:ext cx="195453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88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June 24.6.26 Billing Azure</a:t>
            </a:r>
            <a:endParaRPr lang="he-IL" sz="788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he-IL" sz="788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400300" y="1680210"/>
            <a:ext cx="2091690" cy="8915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E3EF"/>
            </a:solidFill>
            <a:prstDash val="solid"/>
          </a:ln>
          <a:effectLst>
            <a:outerShdw blurRad="1290320000" dist="483870000" algn="bl" rotWithShape="0">
              <a:srgbClr val="9AA8C2">
                <a:alpha val="0"/>
              </a:srgbClr>
            </a:outerShdw>
          </a:effectLst>
        </p:spPr>
        <p:txBody>
          <a:bodyPr/>
          <a:lstStyle/>
          <a:p>
            <a:endParaRPr lang="he-IL" sz="1350"/>
          </a:p>
        </p:txBody>
      </p:sp>
      <p:sp>
        <p:nvSpPr>
          <p:cNvPr id="12" name="Text 9"/>
          <p:cNvSpPr/>
          <p:nvPr/>
        </p:nvSpPr>
        <p:spPr>
          <a:xfrm>
            <a:off x="2468880" y="1776222"/>
            <a:ext cx="195453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95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$6,619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2468880" y="2215134"/>
            <a:ext cx="195453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88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רישוי (Business + GHE)</a:t>
            </a:r>
            <a:endParaRPr lang="en-US" sz="788" dirty="0"/>
          </a:p>
        </p:txBody>
      </p:sp>
      <p:sp>
        <p:nvSpPr>
          <p:cNvPr id="14" name="Shape 11"/>
          <p:cNvSpPr/>
          <p:nvPr/>
        </p:nvSpPr>
        <p:spPr>
          <a:xfrm>
            <a:off x="4581144" y="1680210"/>
            <a:ext cx="2091690" cy="8915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E3EF"/>
            </a:solidFill>
            <a:prstDash val="solid"/>
          </a:ln>
          <a:effectLst>
            <a:outerShdw algn="bl" rotWithShape="0">
              <a:srgbClr val="9AA8C2">
                <a:alpha val="0"/>
              </a:srgbClr>
            </a:outerShdw>
          </a:effectLst>
        </p:spPr>
        <p:txBody>
          <a:bodyPr/>
          <a:lstStyle/>
          <a:p>
            <a:endParaRPr lang="he-IL" sz="1350"/>
          </a:p>
        </p:txBody>
      </p:sp>
      <p:sp>
        <p:nvSpPr>
          <p:cNvPr id="15" name="Text 12"/>
          <p:cNvSpPr/>
          <p:nvPr/>
        </p:nvSpPr>
        <p:spPr>
          <a:xfrm>
            <a:off x="4649724" y="1776222"/>
            <a:ext cx="195453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9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$2,149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4649724" y="2215134"/>
            <a:ext cx="195453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88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Credit (חיוב Azure)</a:t>
            </a:r>
            <a:endParaRPr lang="en-US" sz="788" dirty="0"/>
          </a:p>
        </p:txBody>
      </p:sp>
      <p:sp>
        <p:nvSpPr>
          <p:cNvPr id="17" name="Shape 14"/>
          <p:cNvSpPr/>
          <p:nvPr/>
        </p:nvSpPr>
        <p:spPr>
          <a:xfrm>
            <a:off x="6761988" y="1680210"/>
            <a:ext cx="2139696" cy="8915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E3EF"/>
            </a:solidFill>
            <a:prstDash val="solid"/>
          </a:ln>
          <a:effectLst>
            <a:outerShdw algn="bl" rotWithShape="0">
              <a:srgbClr val="9AA8C2">
                <a:alpha val="0"/>
              </a:srgbClr>
            </a:outerShdw>
          </a:effectLst>
        </p:spPr>
        <p:txBody>
          <a:bodyPr/>
          <a:lstStyle/>
          <a:p>
            <a:endParaRPr lang="he-IL" sz="1350"/>
          </a:p>
        </p:txBody>
      </p:sp>
      <p:sp>
        <p:nvSpPr>
          <p:cNvPr id="18" name="Text 15"/>
          <p:cNvSpPr/>
          <p:nvPr/>
        </p:nvSpPr>
        <p:spPr>
          <a:xfrm>
            <a:off x="6830568" y="1776222"/>
            <a:ext cx="2002536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6830568" y="2215134"/>
            <a:ext cx="200253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88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משתמשים פעילים (AI)</a:t>
            </a:r>
            <a:endParaRPr lang="en-US" sz="788" dirty="0"/>
          </a:p>
        </p:txBody>
      </p:sp>
      <p:sp>
        <p:nvSpPr>
          <p:cNvPr id="20" name="Shape 17"/>
          <p:cNvSpPr/>
          <p:nvPr/>
        </p:nvSpPr>
        <p:spPr>
          <a:xfrm>
            <a:off x="219456" y="2708910"/>
            <a:ext cx="435483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CE3EF"/>
            </a:solidFill>
            <a:prstDash val="solid"/>
          </a:ln>
          <a:effectLst>
            <a:outerShdw algn="bl" rotWithShape="0">
              <a:srgbClr val="9AA8C2">
                <a:alpha val="0"/>
              </a:srgbClr>
            </a:outerShdw>
          </a:effectLst>
        </p:spPr>
        <p:txBody>
          <a:bodyPr/>
          <a:lstStyle/>
          <a:p>
            <a:endParaRPr lang="he-IL" sz="1350"/>
          </a:p>
        </p:txBody>
      </p:sp>
      <p:sp>
        <p:nvSpPr>
          <p:cNvPr id="21" name="Text 18"/>
          <p:cNvSpPr/>
          <p:nvPr/>
        </p:nvSpPr>
        <p:spPr>
          <a:xfrm>
            <a:off x="342900" y="2777490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75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Credit — שימוש לפי מודל (net $, 1–22.6)</a:t>
            </a:r>
            <a:endParaRPr lang="en-US" sz="975" dirty="0"/>
          </a:p>
        </p:txBody>
      </p:sp>
      <p:graphicFrame>
        <p:nvGraphicFramePr>
          <p:cNvPr id="22" name="Chart 0"/>
          <p:cNvGraphicFramePr/>
          <p:nvPr>
            <p:extLst>
              <p:ext uri="{D42A27DB-BD31-4B8C-83A1-F6EECF244321}">
                <p14:modId xmlns:p14="http://schemas.microsoft.com/office/powerpoint/2010/main" val="1970833668"/>
              </p:ext>
            </p:extLst>
          </p:nvPr>
        </p:nvGraphicFramePr>
        <p:xfrm>
          <a:off x="308610" y="3051810"/>
          <a:ext cx="4183380" cy="19065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Shape 19"/>
          <p:cNvSpPr/>
          <p:nvPr/>
        </p:nvSpPr>
        <p:spPr>
          <a:xfrm>
            <a:off x="4697730" y="2708910"/>
            <a:ext cx="4217670" cy="133731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CE3EF"/>
            </a:solidFill>
            <a:prstDash val="solid"/>
          </a:ln>
          <a:effectLst>
            <a:outerShdw algn="bl" rotWithShape="0">
              <a:srgbClr val="9AA8C2">
                <a:alpha val="0"/>
              </a:srgbClr>
            </a:outerShdw>
          </a:effectLst>
        </p:spPr>
        <p:txBody>
          <a:bodyPr/>
          <a:lstStyle/>
          <a:p>
            <a:endParaRPr lang="he-IL" sz="1350"/>
          </a:p>
        </p:txBody>
      </p:sp>
      <p:sp>
        <p:nvSpPr>
          <p:cNvPr id="24" name="Text 20"/>
          <p:cNvSpPr/>
          <p:nvPr/>
        </p:nvSpPr>
        <p:spPr>
          <a:xfrm>
            <a:off x="4800600" y="2777490"/>
            <a:ext cx="401193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he-IL" sz="975" b="1" dirty="0">
                <a:solidFill>
                  <a:schemeClr val="accent1">
                    <a:lumMod val="75000"/>
                  </a:schemeClr>
                </a:solidFill>
              </a:rPr>
              <a:t>חיוב </a:t>
            </a:r>
            <a:r>
              <a:rPr lang="en-US" sz="975" b="1" dirty="0">
                <a:solidFill>
                  <a:schemeClr val="accent1">
                    <a:lumMod val="75000"/>
                  </a:schemeClr>
                </a:solidFill>
              </a:rPr>
              <a:t> GitHub — </a:t>
            </a:r>
            <a:r>
              <a:rPr lang="he-IL" sz="975" b="1" dirty="0">
                <a:solidFill>
                  <a:schemeClr val="accent1">
                    <a:lumMod val="75000"/>
                  </a:schemeClr>
                </a:solidFill>
              </a:rPr>
              <a:t>חשבונית  </a:t>
            </a:r>
            <a:r>
              <a:rPr lang="en-US" sz="975" b="1" dirty="0">
                <a:solidFill>
                  <a:schemeClr val="accent1">
                    <a:lumMod val="75000"/>
                  </a:schemeClr>
                </a:solidFill>
              </a:rPr>
              <a:t> Azure</a:t>
            </a:r>
            <a:r>
              <a:rPr lang="he-IL" sz="975" b="1" dirty="0">
                <a:solidFill>
                  <a:schemeClr val="accent1">
                    <a:lumMod val="75000"/>
                  </a:schemeClr>
                </a:solidFill>
              </a:rPr>
              <a:t>יוני 2026   סה"כ  $8,768</a:t>
            </a:r>
          </a:p>
          <a:p>
            <a:pPr algn="ctr"/>
            <a:endParaRPr lang="en-US" sz="975" dirty="0"/>
          </a:p>
        </p:txBody>
      </p:sp>
      <p:sp>
        <p:nvSpPr>
          <p:cNvPr id="25" name="Shape 21"/>
          <p:cNvSpPr/>
          <p:nvPr/>
        </p:nvSpPr>
        <p:spPr>
          <a:xfrm>
            <a:off x="4800600" y="3086100"/>
            <a:ext cx="1303020" cy="857250"/>
          </a:xfrm>
          <a:prstGeom prst="roundRect">
            <a:avLst>
              <a:gd name="adj" fmla="val 4800"/>
            </a:avLst>
          </a:prstGeom>
          <a:solidFill>
            <a:srgbClr val="F4F7FB"/>
          </a:solidFill>
          <a:ln w="6350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he-IL" sz="1350"/>
          </a:p>
        </p:txBody>
      </p:sp>
      <p:sp>
        <p:nvSpPr>
          <p:cNvPr id="26" name="Text 22"/>
          <p:cNvSpPr/>
          <p:nvPr/>
        </p:nvSpPr>
        <p:spPr>
          <a:xfrm>
            <a:off x="4800600" y="3147822"/>
            <a:ext cx="130302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$3,044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4834890" y="3470148"/>
            <a:ext cx="12344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88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Business</a:t>
            </a:r>
            <a:endParaRPr lang="en-US" sz="788" dirty="0"/>
          </a:p>
        </p:txBody>
      </p:sp>
      <p:sp>
        <p:nvSpPr>
          <p:cNvPr id="28" name="Text 24"/>
          <p:cNvSpPr/>
          <p:nvPr/>
        </p:nvSpPr>
        <p:spPr>
          <a:xfrm>
            <a:off x="4834890" y="367588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75" dirty="0">
                <a:solidFill>
                  <a:srgbClr val="7C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רישוי · ~160 משתמשים</a:t>
            </a:r>
            <a:endParaRPr lang="en-US" sz="675" dirty="0"/>
          </a:p>
        </p:txBody>
      </p:sp>
      <p:sp>
        <p:nvSpPr>
          <p:cNvPr id="29" name="Shape 25"/>
          <p:cNvSpPr/>
          <p:nvPr/>
        </p:nvSpPr>
        <p:spPr>
          <a:xfrm>
            <a:off x="6172200" y="3086100"/>
            <a:ext cx="1303020" cy="857250"/>
          </a:xfrm>
          <a:prstGeom prst="roundRect">
            <a:avLst>
              <a:gd name="adj" fmla="val 4800"/>
            </a:avLst>
          </a:prstGeom>
          <a:solidFill>
            <a:srgbClr val="F4F7FB"/>
          </a:solidFill>
          <a:ln w="6350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he-IL" sz="1350"/>
          </a:p>
        </p:txBody>
      </p:sp>
      <p:sp>
        <p:nvSpPr>
          <p:cNvPr id="30" name="Text 26"/>
          <p:cNvSpPr/>
          <p:nvPr/>
        </p:nvSpPr>
        <p:spPr>
          <a:xfrm>
            <a:off x="6172200" y="3147822"/>
            <a:ext cx="130302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$3,574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6206490" y="3470148"/>
            <a:ext cx="12344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88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Enterprise</a:t>
            </a:r>
            <a:endParaRPr lang="en-US" sz="788" dirty="0"/>
          </a:p>
        </p:txBody>
      </p:sp>
      <p:sp>
        <p:nvSpPr>
          <p:cNvPr id="32" name="Text 28"/>
          <p:cNvSpPr/>
          <p:nvPr/>
        </p:nvSpPr>
        <p:spPr>
          <a:xfrm>
            <a:off x="6206490" y="367588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75" dirty="0">
                <a:solidFill>
                  <a:srgbClr val="7C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רישוי · ~170 משתמשים</a:t>
            </a:r>
            <a:endParaRPr lang="en-US" sz="675" dirty="0"/>
          </a:p>
        </p:txBody>
      </p:sp>
      <p:sp>
        <p:nvSpPr>
          <p:cNvPr id="33" name="Shape 29"/>
          <p:cNvSpPr/>
          <p:nvPr/>
        </p:nvSpPr>
        <p:spPr>
          <a:xfrm>
            <a:off x="7543800" y="3086100"/>
            <a:ext cx="1303020" cy="857250"/>
          </a:xfrm>
          <a:prstGeom prst="roundRect">
            <a:avLst>
              <a:gd name="adj" fmla="val 4800"/>
            </a:avLst>
          </a:prstGeom>
          <a:solidFill>
            <a:srgbClr val="F4F7FB"/>
          </a:solidFill>
          <a:ln w="6350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he-IL" sz="1350"/>
          </a:p>
        </p:txBody>
      </p:sp>
      <p:sp>
        <p:nvSpPr>
          <p:cNvPr id="34" name="Text 30"/>
          <p:cNvSpPr/>
          <p:nvPr/>
        </p:nvSpPr>
        <p:spPr>
          <a:xfrm>
            <a:off x="7543800" y="3147822"/>
            <a:ext cx="130302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$2,149</a:t>
            </a:r>
            <a:endParaRPr lang="en-US" sz="1350" dirty="0"/>
          </a:p>
        </p:txBody>
      </p:sp>
      <p:sp>
        <p:nvSpPr>
          <p:cNvPr id="35" name="Text 31"/>
          <p:cNvSpPr/>
          <p:nvPr/>
        </p:nvSpPr>
        <p:spPr>
          <a:xfrm>
            <a:off x="7578090" y="3470148"/>
            <a:ext cx="12344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88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Credit GAC</a:t>
            </a:r>
            <a:endParaRPr lang="en-US" sz="788" dirty="0"/>
          </a:p>
        </p:txBody>
      </p:sp>
      <p:sp>
        <p:nvSpPr>
          <p:cNvPr id="36" name="Text 32"/>
          <p:cNvSpPr/>
          <p:nvPr/>
        </p:nvSpPr>
        <p:spPr>
          <a:xfrm>
            <a:off x="7578090" y="367588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75" dirty="0">
                <a:solidFill>
                  <a:srgbClr val="7C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שימוש · 214,924 קרדיט</a:t>
            </a:r>
            <a:endParaRPr lang="en-US" sz="675" dirty="0"/>
          </a:p>
        </p:txBody>
      </p:sp>
      <p:sp>
        <p:nvSpPr>
          <p:cNvPr id="37" name="Shape 33"/>
          <p:cNvSpPr/>
          <p:nvPr/>
        </p:nvSpPr>
        <p:spPr>
          <a:xfrm>
            <a:off x="4697730" y="4114800"/>
            <a:ext cx="4217670" cy="925830"/>
          </a:xfrm>
          <a:prstGeom prst="roundRect">
            <a:avLst>
              <a:gd name="adj" fmla="val 5926"/>
            </a:avLst>
          </a:prstGeom>
          <a:solidFill>
            <a:srgbClr val="FDF2E7"/>
          </a:solidFill>
          <a:ln w="9525">
            <a:solidFill>
              <a:srgbClr val="DCE3EF"/>
            </a:solidFill>
            <a:prstDash val="solid"/>
          </a:ln>
          <a:effectLst>
            <a:outerShdw algn="bl" rotWithShape="0">
              <a:srgbClr val="9AA8C2">
                <a:alpha val="0"/>
              </a:srgbClr>
            </a:outerShdw>
          </a:effectLst>
        </p:spPr>
        <p:txBody>
          <a:bodyPr/>
          <a:lstStyle/>
          <a:p>
            <a:endParaRPr lang="he-IL" sz="1350"/>
          </a:p>
        </p:txBody>
      </p:sp>
      <p:sp>
        <p:nvSpPr>
          <p:cNvPr id="38" name="Text 34"/>
          <p:cNvSpPr/>
          <p:nvPr/>
        </p:nvSpPr>
        <p:spPr>
          <a:xfrm>
            <a:off x="4800600" y="4190238"/>
            <a:ext cx="401193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תובנות:  </a:t>
            </a:r>
            <a:r>
              <a:rPr lang="en-US" sz="863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רישוי = ‎75%‎ מעלות GitHub, AI Credit = ‎25%‎. בתוך ה-AI: Claude Opus 4.6 מוביל (‎75%‎) ו-cost center של HR (‎73%‎). הזדמנות: ממשל מודלים ומעקב מכסה (‎1,900‎/משתמש).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200891" y="5255491"/>
            <a:ext cx="8846820" cy="740664"/>
          </a:xfrm>
          <a:prstGeom prst="roundRect">
            <a:avLst>
              <a:gd name="adj" fmla="val 8571"/>
            </a:avLst>
          </a:prstGeom>
          <a:solidFill>
            <a:srgbClr val="F4F7FB"/>
          </a:solidFill>
          <a:ln w="9525">
            <a:solidFill>
              <a:srgbClr val="DCE3EF"/>
            </a:solidFill>
            <a:prstDash val="solid"/>
          </a:ln>
        </p:spPr>
        <p:txBody>
          <a:bodyPr/>
          <a:lstStyle/>
          <a:p>
            <a:endParaRPr lang="he-IL" sz="1350"/>
          </a:p>
        </p:txBody>
      </p:sp>
      <p:sp>
        <p:nvSpPr>
          <p:cNvPr id="40" name="Text 36"/>
          <p:cNvSpPr/>
          <p:nvPr/>
        </p:nvSpPr>
        <p:spPr>
          <a:xfrm>
            <a:off x="288036" y="5136642"/>
            <a:ext cx="644652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825" b="1" dirty="0">
                <a:solidFill>
                  <a:srgbClr val="1F3864"/>
                </a:solidFill>
              </a:rPr>
              <a:t>AI Credit Budget  —  Enterprise: harel-ins · All AI Credit SKUs · Stop usage: Yes</a:t>
            </a:r>
            <a:endParaRPr lang="en-US" sz="825" dirty="0"/>
          </a:p>
        </p:txBody>
      </p:sp>
      <p:sp>
        <p:nvSpPr>
          <p:cNvPr id="41" name="Shape 37"/>
          <p:cNvSpPr/>
          <p:nvPr/>
        </p:nvSpPr>
        <p:spPr>
          <a:xfrm>
            <a:off x="288036" y="5349240"/>
            <a:ext cx="5486400" cy="150876"/>
          </a:xfrm>
          <a:prstGeom prst="roundRect">
            <a:avLst>
              <a:gd name="adj" fmla="val 50000"/>
            </a:avLst>
          </a:prstGeom>
          <a:solidFill>
            <a:srgbClr val="E1E6EF"/>
          </a:solidFill>
          <a:ln/>
        </p:spPr>
        <p:txBody>
          <a:bodyPr/>
          <a:lstStyle/>
          <a:p>
            <a:endParaRPr lang="he-IL" sz="1350"/>
          </a:p>
        </p:txBody>
      </p:sp>
      <p:sp>
        <p:nvSpPr>
          <p:cNvPr id="42" name="Shape 38"/>
          <p:cNvSpPr/>
          <p:nvPr/>
        </p:nvSpPr>
        <p:spPr>
          <a:xfrm>
            <a:off x="288036" y="5349240"/>
            <a:ext cx="4059264" cy="150876"/>
          </a:xfrm>
          <a:prstGeom prst="roundRect">
            <a:avLst>
              <a:gd name="adj" fmla="val 50000"/>
            </a:avLst>
          </a:prstGeom>
          <a:solidFill>
            <a:srgbClr val="2E5496"/>
          </a:solidFill>
          <a:ln/>
        </p:spPr>
        <p:txBody>
          <a:bodyPr/>
          <a:lstStyle/>
          <a:p>
            <a:endParaRPr lang="he-IL" sz="1350"/>
          </a:p>
        </p:txBody>
      </p:sp>
      <p:sp>
        <p:nvSpPr>
          <p:cNvPr id="43" name="Text 39"/>
          <p:cNvSpPr/>
          <p:nvPr/>
        </p:nvSpPr>
        <p:spPr>
          <a:xfrm>
            <a:off x="5877306" y="5314950"/>
            <a:ext cx="29489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$2,959.51</a:t>
            </a:r>
            <a:r>
              <a:rPr lang="en-US" sz="900" dirty="0">
                <a:solidFill>
                  <a:srgbClr val="7C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spent  /  </a:t>
            </a:r>
            <a:r>
              <a:rPr lang="en-US" sz="9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$4,000</a:t>
            </a:r>
            <a:r>
              <a:rPr lang="en-US" sz="9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budget  (74%)</a:t>
            </a:r>
            <a:endParaRPr lang="en-US" sz="900" dirty="0"/>
          </a:p>
        </p:txBody>
      </p:sp>
      <p:pic>
        <p:nvPicPr>
          <p:cNvPr id="44" name="Image 1" descr="working/brand/harel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730" y="6115004"/>
            <a:ext cx="905256" cy="37719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1268730" y="569899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675" dirty="0">
                <a:solidFill>
                  <a:srgbClr val="7C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בשביל השקט הנפשי שלך</a:t>
            </a:r>
            <a:endParaRPr lang="en-US" sz="675" dirty="0"/>
          </a:p>
        </p:txBody>
      </p:sp>
      <p:sp>
        <p:nvSpPr>
          <p:cNvPr id="46" name="Shape 41"/>
          <p:cNvSpPr/>
          <p:nvPr/>
        </p:nvSpPr>
        <p:spPr>
          <a:xfrm>
            <a:off x="8263890" y="5657850"/>
            <a:ext cx="651510" cy="246888"/>
          </a:xfrm>
          <a:prstGeom prst="roundRect">
            <a:avLst>
              <a:gd name="adj" fmla="val 13889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he-IL" sz="1350"/>
          </a:p>
        </p:txBody>
      </p:sp>
      <p:sp>
        <p:nvSpPr>
          <p:cNvPr id="47" name="Text 42"/>
          <p:cNvSpPr/>
          <p:nvPr/>
        </p:nvSpPr>
        <p:spPr>
          <a:xfrm>
            <a:off x="8263890" y="5657850"/>
            <a:ext cx="65151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06/2026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A73C6-DB29-5BF6-523E-F95AA6AA4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0">
            <a:extLst>
              <a:ext uri="{FF2B5EF4-FFF2-40B4-BE49-F238E27FC236}">
                <a16:creationId xmlns:a16="http://schemas.microsoft.com/office/drawing/2014/main" id="{0BF60682-4A3D-CED2-836C-DE8A3A2BB563}"/>
              </a:ext>
            </a:extLst>
          </p:cNvPr>
          <p:cNvSpPr/>
          <p:nvPr/>
        </p:nvSpPr>
        <p:spPr bwMode="auto">
          <a:xfrm>
            <a:off x="151497" y="6469640"/>
            <a:ext cx="201243" cy="216024"/>
          </a:xfrm>
          <a:prstGeom prst="ellipse">
            <a:avLst/>
          </a:prstGeom>
          <a:solidFill>
            <a:srgbClr val="0A347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TextBox 46">
            <a:extLst>
              <a:ext uri="{FF2B5EF4-FFF2-40B4-BE49-F238E27FC236}">
                <a16:creationId xmlns:a16="http://schemas.microsoft.com/office/drawing/2014/main" id="{E495BDC1-08B3-A55A-85CF-161C0F228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19" y="6452056"/>
            <a:ext cx="36004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rtl="0" eaLnBrk="1" hangingPunct="1"/>
            <a:fld id="{42511F0F-8D32-47EB-9D11-300C5AB9E50E}" type="slidenum">
              <a:rPr lang="id-ID" altLang="he-IL" sz="1100" smtClean="0">
                <a:solidFill>
                  <a:schemeClr val="bg1"/>
                </a:solidFill>
                <a:latin typeface="Raleway"/>
                <a:ea typeface="Roboto Condensed Light"/>
                <a:cs typeface="Lato Heavy"/>
              </a:rPr>
              <a:t>37</a:t>
            </a:fld>
            <a:endParaRPr lang="id-ID" altLang="he-IL" sz="1100" dirty="0">
              <a:solidFill>
                <a:schemeClr val="bg1"/>
              </a:solidFill>
              <a:latin typeface="Raleway"/>
              <a:ea typeface="Roboto Condensed Light"/>
              <a:cs typeface="Lato Heavy"/>
            </a:endParaRPr>
          </a:p>
        </p:txBody>
      </p:sp>
      <p:pic>
        <p:nvPicPr>
          <p:cNvPr id="9" name="Graphic 8" descr="Cloud">
            <a:extLst>
              <a:ext uri="{FF2B5EF4-FFF2-40B4-BE49-F238E27FC236}">
                <a16:creationId xmlns:a16="http://schemas.microsoft.com/office/drawing/2014/main" id="{F8D81E1C-5A73-6217-441D-84C82D210A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92280" y="1327715"/>
            <a:ext cx="1728192" cy="17281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560149-1A31-092E-940F-0CAA43EE136C}"/>
              </a:ext>
            </a:extLst>
          </p:cNvPr>
          <p:cNvSpPr txBox="1"/>
          <p:nvPr/>
        </p:nvSpPr>
        <p:spPr>
          <a:xfrm>
            <a:off x="226278" y="1340142"/>
            <a:ext cx="78914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Verdana" panose="020B0604030504040204" pitchFamily="34" charset="0"/>
              <a:cs typeface="HELVETICA" panose="020B0604020202020204" pitchFamily="34" charset="0"/>
            </a:endParaRPr>
          </a:p>
          <a:p>
            <a:pPr algn="l" rtl="0">
              <a:defRPr/>
            </a:pPr>
            <a:r>
              <a:rPr lang="he-IL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Verdana" panose="020B0604030504040204" pitchFamily="34" charset="0"/>
                <a:cs typeface="HELVETICA" panose="020B0604020202020204" pitchFamily="34" charset="0"/>
              </a:rPr>
              <a:t>FinOps </a:t>
            </a:r>
            <a:r>
              <a:rPr 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Verdana" panose="020B0604030504040204" pitchFamily="34" charset="0"/>
                <a:cs typeface="HELVETICA" panose="020B0604020202020204" pitchFamily="34" charset="0"/>
              </a:rPr>
              <a:t>Project</a:t>
            </a:r>
            <a:endParaRPr lang="he-IL" sz="6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Verdana" panose="020B0604030504040204" pitchFamily="34" charset="0"/>
              <a:cs typeface="HELVETICA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L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636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3D210-F96B-00AC-CC51-6FA9931C8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8FC75B8-838C-5C38-7E13-2565C1209BEF}"/>
              </a:ext>
            </a:extLst>
          </p:cNvPr>
          <p:cNvSpPr/>
          <p:nvPr/>
        </p:nvSpPr>
        <p:spPr bwMode="auto">
          <a:xfrm>
            <a:off x="673289" y="1315673"/>
            <a:ext cx="7704856" cy="507372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BCF2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algn="l" rtl="0"/>
            <a:endParaRPr lang="en-US" sz="1000" b="1" dirty="0"/>
          </a:p>
          <a:p>
            <a:pPr lvl="1" algn="l" rtl="0"/>
            <a:endParaRPr lang="he-IL" sz="1000" dirty="0"/>
          </a:p>
          <a:p>
            <a:pPr marL="628650" lvl="1" indent="-171450" algn="l" rtl="0">
              <a:buFont typeface="Arial" panose="020B0604020202020204" pitchFamily="34" charset="0"/>
              <a:buChar char="•"/>
            </a:pPr>
            <a:endParaRPr lang="en-US" sz="1000" dirty="0"/>
          </a:p>
          <a:p>
            <a:pPr algn="ctr" rtl="0"/>
            <a:r>
              <a:rPr lang="en-US" sz="1200" b="1" dirty="0">
                <a:highlight>
                  <a:srgbClr val="00BCF2"/>
                </a:highlight>
              </a:rPr>
              <a:t>Total Potential Savings</a:t>
            </a:r>
            <a:r>
              <a:rPr lang="en-US" sz="1200" dirty="0">
                <a:highlight>
                  <a:srgbClr val="00BCF2"/>
                </a:highlight>
              </a:rPr>
              <a:t> – Up to </a:t>
            </a:r>
            <a:r>
              <a:rPr lang="en-US" sz="1200" b="1" dirty="0">
                <a:highlight>
                  <a:srgbClr val="00BCF2"/>
                </a:highlight>
              </a:rPr>
              <a:t>$193K</a:t>
            </a:r>
            <a:r>
              <a:rPr lang="en-US" sz="1200" dirty="0">
                <a:highlight>
                  <a:srgbClr val="00BCF2"/>
                </a:highlight>
              </a:rPr>
              <a:t> </a:t>
            </a:r>
            <a:r>
              <a:rPr lang="he-IL" sz="1200" dirty="0">
                <a:highlight>
                  <a:srgbClr val="00BCF2"/>
                </a:highlight>
              </a:rPr>
              <a:t>   </a:t>
            </a:r>
            <a:endParaRPr lang="en-US" sz="1200" dirty="0">
              <a:highlight>
                <a:srgbClr val="00BCF2"/>
              </a:highligh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458C9B-747F-17B3-CC1A-62F9999B435D}"/>
              </a:ext>
            </a:extLst>
          </p:cNvPr>
          <p:cNvSpPr txBox="1">
            <a:spLocks/>
          </p:cNvSpPr>
          <p:nvPr/>
        </p:nvSpPr>
        <p:spPr>
          <a:xfrm>
            <a:off x="1115616" y="497207"/>
            <a:ext cx="1296144" cy="641553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spcBef>
                <a:spcPct val="0"/>
              </a:spcBef>
              <a:buNone/>
              <a:defRPr sz="6000" b="0" kern="1200">
                <a:solidFill>
                  <a:schemeClr val="bg1"/>
                </a:solidFill>
                <a:latin typeface="ProtocolHarel" pitchFamily="2" charset="-79"/>
                <a:ea typeface="+mj-ea"/>
                <a:cs typeface="ProtocolHarel" pitchFamily="2" charset="-79"/>
              </a:defRPr>
            </a:lvl1pPr>
          </a:lstStyle>
          <a:p>
            <a:pPr algn="l" rtl="0">
              <a:lnSpc>
                <a:spcPct val="90000"/>
              </a:lnSpc>
            </a:pPr>
            <a:endParaRPr lang="he-IL" sz="2800" b="1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F7EF3A3-B24C-E5A4-C024-E70890E9C792}"/>
              </a:ext>
            </a:extLst>
          </p:cNvPr>
          <p:cNvSpPr txBox="1">
            <a:spLocks/>
          </p:cNvSpPr>
          <p:nvPr/>
        </p:nvSpPr>
        <p:spPr>
          <a:xfrm>
            <a:off x="1043608" y="497207"/>
            <a:ext cx="3240360" cy="641553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spcBef>
                <a:spcPct val="0"/>
              </a:spcBef>
              <a:buNone/>
              <a:defRPr sz="6000" b="0" kern="1200">
                <a:solidFill>
                  <a:schemeClr val="bg1"/>
                </a:solidFill>
                <a:latin typeface="ProtocolHarel" pitchFamily="2" charset="-79"/>
                <a:ea typeface="+mj-ea"/>
                <a:cs typeface="ProtocolHarel" pitchFamily="2" charset="-79"/>
              </a:defRPr>
            </a:lvl1pPr>
          </a:lstStyle>
          <a:p>
            <a:pPr algn="l" rtl="0">
              <a:lnSpc>
                <a:spcPct val="90000"/>
              </a:lnSpc>
            </a:pPr>
            <a:r>
              <a:rPr lang="en-US" sz="2400" b="1" dirty="0">
                <a:latin typeface="+mn-lt"/>
              </a:rPr>
              <a:t>Recommendations</a:t>
            </a:r>
            <a:endParaRPr lang="he-IL" sz="2400" b="1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3FF8FE-DD8A-2349-19BE-9D8355BB7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865805"/>
              </p:ext>
            </p:extLst>
          </p:nvPr>
        </p:nvGraphicFramePr>
        <p:xfrm>
          <a:off x="1331640" y="1700808"/>
          <a:ext cx="6624736" cy="36868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289">
                  <a:extLst>
                    <a:ext uri="{9D8B030D-6E8A-4147-A177-3AD203B41FA5}">
                      <a16:colId xmlns:a16="http://schemas.microsoft.com/office/drawing/2014/main" val="2954091214"/>
                    </a:ext>
                  </a:extLst>
                </a:gridCol>
                <a:gridCol w="3877481">
                  <a:extLst>
                    <a:ext uri="{9D8B030D-6E8A-4147-A177-3AD203B41FA5}">
                      <a16:colId xmlns:a16="http://schemas.microsoft.com/office/drawing/2014/main" val="2678053877"/>
                    </a:ext>
                  </a:extLst>
                </a:gridCol>
                <a:gridCol w="2069966">
                  <a:extLst>
                    <a:ext uri="{9D8B030D-6E8A-4147-A177-3AD203B41FA5}">
                      <a16:colId xmlns:a16="http://schemas.microsoft.com/office/drawing/2014/main" val="3469874548"/>
                    </a:ext>
                  </a:extLst>
                </a:gridCol>
              </a:tblGrid>
              <a:tr h="2304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Vendor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Description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Potential Annual Savings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772572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Azure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Schedule shutdown for 24/7 VMs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$36,741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87613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Azure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VM Right size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$19,854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273508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Azure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VM RI Purchase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$26,758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220742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Azure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SQL DB Right Size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$2,129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456385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Azure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Idle Reserved Disks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$13,464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389458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Azure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Idle Unattached Disks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$7,656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018405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Azure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Premium disks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$44,592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722458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Azure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VPN gateway- check necessity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$794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998804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Azure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RI Azure Database for PostgreSQL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$17,037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264425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Azure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Removed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unecessary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VM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$ 13,147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207959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Azure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RI Redis Cache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$2,664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772650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Azure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Retired VM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 saving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723967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Azure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consider serverless </a:t>
                      </a:r>
                      <a:r>
                        <a:rPr lang="en-US" sz="1100" u="none" strike="noStrike" dirty="0" err="1">
                          <a:effectLst/>
                        </a:rPr>
                        <a:t>databricks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239370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AWS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SageMaker - check necessity for a few accounts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$3,420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365162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AWS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EKS extended support version 1.33 - prod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$4,526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52048"/>
                  </a:ext>
                </a:extLst>
              </a:tr>
            </a:tbl>
          </a:graphicData>
        </a:graphic>
      </p:graphicFrame>
      <p:pic>
        <p:nvPicPr>
          <p:cNvPr id="8" name="Picture 7" descr="A logo with a smile&#10;&#10;Description automatically generated">
            <a:extLst>
              <a:ext uri="{FF2B5EF4-FFF2-40B4-BE49-F238E27FC236}">
                <a16:creationId xmlns:a16="http://schemas.microsoft.com/office/drawing/2014/main" id="{607B7FBE-5922-72D3-E12B-B6F7071DBE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087" y="394956"/>
            <a:ext cx="1290901" cy="726132"/>
          </a:xfrm>
          <a:prstGeom prst="rect">
            <a:avLst/>
          </a:prstGeom>
        </p:spPr>
      </p:pic>
      <p:pic>
        <p:nvPicPr>
          <p:cNvPr id="10" name="Picture 9" descr="A blue cloud with black text&#10;&#10;AI-generated content may be incorrect.">
            <a:extLst>
              <a:ext uri="{FF2B5EF4-FFF2-40B4-BE49-F238E27FC236}">
                <a16:creationId xmlns:a16="http://schemas.microsoft.com/office/drawing/2014/main" id="{7BA35F68-C4B4-BD0F-CAE6-34257A8EDF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927" y="394956"/>
            <a:ext cx="1279795" cy="73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2026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01EC3-A2DD-C471-CA90-CDC52B3A7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0">
            <a:extLst>
              <a:ext uri="{FF2B5EF4-FFF2-40B4-BE49-F238E27FC236}">
                <a16:creationId xmlns:a16="http://schemas.microsoft.com/office/drawing/2014/main" id="{0FAD414C-828B-0751-6178-C830DC367331}"/>
              </a:ext>
            </a:extLst>
          </p:cNvPr>
          <p:cNvSpPr/>
          <p:nvPr/>
        </p:nvSpPr>
        <p:spPr bwMode="auto">
          <a:xfrm>
            <a:off x="151497" y="6469640"/>
            <a:ext cx="201243" cy="216024"/>
          </a:xfrm>
          <a:prstGeom prst="ellipse">
            <a:avLst/>
          </a:prstGeom>
          <a:solidFill>
            <a:srgbClr val="0A347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TextBox 46">
            <a:extLst>
              <a:ext uri="{FF2B5EF4-FFF2-40B4-BE49-F238E27FC236}">
                <a16:creationId xmlns:a16="http://schemas.microsoft.com/office/drawing/2014/main" id="{42FCAAC4-664C-DA50-1C2B-CD82E55E4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19" y="6452056"/>
            <a:ext cx="36004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rtl="0" eaLnBrk="1" hangingPunct="1"/>
            <a:fld id="{42511F0F-8D32-47EB-9D11-300C5AB9E50E}" type="slidenum">
              <a:rPr lang="id-ID" altLang="he-IL" sz="1100" smtClean="0">
                <a:solidFill>
                  <a:schemeClr val="bg1"/>
                </a:solidFill>
                <a:latin typeface="Raleway"/>
                <a:ea typeface="Roboto Condensed Light"/>
                <a:cs typeface="Lato Heavy"/>
              </a:rPr>
              <a:t>39</a:t>
            </a:fld>
            <a:endParaRPr lang="id-ID" altLang="he-IL" sz="1100" dirty="0">
              <a:solidFill>
                <a:schemeClr val="bg1"/>
              </a:solidFill>
              <a:latin typeface="Raleway"/>
              <a:ea typeface="Roboto Condensed Light"/>
              <a:cs typeface="Lato Heavy"/>
            </a:endParaRPr>
          </a:p>
        </p:txBody>
      </p:sp>
      <p:pic>
        <p:nvPicPr>
          <p:cNvPr id="9" name="Graphic 8" descr="Cloud">
            <a:extLst>
              <a:ext uri="{FF2B5EF4-FFF2-40B4-BE49-F238E27FC236}">
                <a16:creationId xmlns:a16="http://schemas.microsoft.com/office/drawing/2014/main" id="{32C44740-636D-7CA6-E265-790E051304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92280" y="1327715"/>
            <a:ext cx="1728192" cy="17281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74C5DD-FC56-6278-6B89-9875A8B87B0F}"/>
              </a:ext>
            </a:extLst>
          </p:cNvPr>
          <p:cNvSpPr txBox="1"/>
          <p:nvPr/>
        </p:nvSpPr>
        <p:spPr>
          <a:xfrm>
            <a:off x="2483768" y="2410415"/>
            <a:ext cx="67393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Verdana" panose="020B0604030504040204" pitchFamily="34" charset="0"/>
                <a:cs typeface="HELVETICA" panose="020B0604020202020204" pitchFamily="34" charset="0"/>
              </a:rPr>
              <a:t>Implemented Savings </a:t>
            </a:r>
            <a:endParaRPr lang="en-IL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0181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A3989-D629-FF81-30C9-132A6628E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08800-E88C-767F-D29F-296E156FA160}"/>
              </a:ext>
            </a:extLst>
          </p:cNvPr>
          <p:cNvSpPr txBox="1">
            <a:spLocks/>
          </p:cNvSpPr>
          <p:nvPr/>
        </p:nvSpPr>
        <p:spPr>
          <a:xfrm>
            <a:off x="1115616" y="497207"/>
            <a:ext cx="1296144" cy="641553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spcBef>
                <a:spcPct val="0"/>
              </a:spcBef>
              <a:buNone/>
              <a:defRPr sz="6000" b="0" kern="1200">
                <a:solidFill>
                  <a:schemeClr val="bg1"/>
                </a:solidFill>
                <a:latin typeface="ProtocolHarel" pitchFamily="2" charset="-79"/>
                <a:ea typeface="+mj-ea"/>
                <a:cs typeface="ProtocolHarel" pitchFamily="2" charset="-79"/>
              </a:defRPr>
            </a:lvl1pPr>
          </a:lstStyle>
          <a:p>
            <a:pPr algn="l" rtl="0">
              <a:lnSpc>
                <a:spcPct val="90000"/>
              </a:lnSpc>
            </a:pPr>
            <a:endParaRPr lang="he-IL" sz="2800" b="1" dirty="0">
              <a:solidFill>
                <a:srgbClr val="FF000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3B20B877-CD0F-D306-C2B9-9C331332E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8560" y="461712"/>
            <a:ext cx="6552728" cy="498328"/>
          </a:xfrm>
        </p:spPr>
        <p:txBody>
          <a:bodyPr>
            <a:noAutofit/>
          </a:bodyPr>
          <a:lstStyle/>
          <a:p>
            <a:pPr algn="r"/>
            <a:r>
              <a:rPr lang="en-US" sz="2000" b="1" dirty="0">
                <a:latin typeface="+mn-lt"/>
              </a:rPr>
              <a:t> Implemented Savings </a:t>
            </a:r>
            <a:r>
              <a:rPr lang="he-IL" sz="2000" b="1" dirty="0">
                <a:latin typeface="+mn-lt"/>
              </a:rPr>
              <a:t>– </a:t>
            </a:r>
            <a:r>
              <a:rPr lang="en-US" sz="2000" b="1" dirty="0">
                <a:latin typeface="+mn-lt"/>
              </a:rPr>
              <a:t>2026 AWS</a:t>
            </a:r>
            <a:r>
              <a:rPr lang="en-US" sz="2800" b="1" dirty="0">
                <a:latin typeface="+mn-lt"/>
                <a:ea typeface="Calibri" panose="020F0502020204030204" pitchFamily="34" charset="0"/>
              </a:rPr>
              <a:t> </a:t>
            </a:r>
            <a:r>
              <a:rPr lang="en-US" sz="2000" b="1" dirty="0">
                <a:latin typeface="+mn-lt"/>
              </a:rPr>
              <a:t>&amp;</a:t>
            </a:r>
            <a:r>
              <a:rPr lang="en-US" sz="2800" b="1" dirty="0">
                <a:latin typeface="+mn-lt"/>
                <a:ea typeface="Calibri" panose="020F0502020204030204" pitchFamily="34" charset="0"/>
              </a:rPr>
              <a:t> </a:t>
            </a:r>
            <a:r>
              <a:rPr lang="en-US" sz="2000" b="1" dirty="0">
                <a:latin typeface="+mn-lt"/>
              </a:rPr>
              <a:t>Azure</a:t>
            </a:r>
            <a:endParaRPr lang="he-IL" sz="2000" b="1" dirty="0">
              <a:latin typeface="+mn-lt"/>
            </a:endParaRPr>
          </a:p>
        </p:txBody>
      </p:sp>
      <p:pic>
        <p:nvPicPr>
          <p:cNvPr id="7" name="Picture 6" descr="A logo with a smile&#10;&#10;Description automatically generated">
            <a:extLst>
              <a:ext uri="{FF2B5EF4-FFF2-40B4-BE49-F238E27FC236}">
                <a16:creationId xmlns:a16="http://schemas.microsoft.com/office/drawing/2014/main" id="{FC951628-514C-75F2-3362-FA29BC942C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087" y="394956"/>
            <a:ext cx="1290901" cy="726132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88ADE94-25E3-2F77-18DE-2E50B8C10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109369"/>
              </p:ext>
            </p:extLst>
          </p:nvPr>
        </p:nvGraphicFramePr>
        <p:xfrm>
          <a:off x="539552" y="2708920"/>
          <a:ext cx="5109499" cy="2239116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021267">
                  <a:extLst>
                    <a:ext uri="{9D8B030D-6E8A-4147-A177-3AD203B41FA5}">
                      <a16:colId xmlns:a16="http://schemas.microsoft.com/office/drawing/2014/main" val="3176138819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1522980967"/>
                    </a:ext>
                  </a:extLst>
                </a:gridCol>
              </a:tblGrid>
              <a:tr h="171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Savings Type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A34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 Annual Savings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A34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368411"/>
                  </a:ext>
                </a:extLst>
              </a:tr>
              <a:tr h="1779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VM RI Purchase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            66,783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145460345"/>
                  </a:ext>
                </a:extLst>
              </a:tr>
              <a:tr h="1779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 service - RI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                  712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11810942"/>
                  </a:ext>
                </a:extLst>
              </a:tr>
              <a:tr h="1779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check necessity for 2 unused SQL of expiring RI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              4,563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54150375"/>
                  </a:ext>
                </a:extLst>
              </a:tr>
              <a:tr h="1779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Decommission North Europe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            70,452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08350867"/>
                  </a:ext>
                </a:extLst>
              </a:tr>
              <a:tr h="1779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EKS extended support version 1.33 - preprod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              4,526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86718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Idle Unattached Disks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            20,576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77645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RDS RI Purchase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              7,944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1570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Removed unecessary VM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            28,105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39893945"/>
                  </a:ext>
                </a:extLst>
              </a:tr>
              <a:tr h="1779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 refund to gain 100% utilization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                  440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33762740"/>
                  </a:ext>
                </a:extLst>
              </a:tr>
              <a:tr h="1779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 Renewal blob storage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              9,432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5959784"/>
                  </a:ext>
                </a:extLst>
              </a:tr>
              <a:tr h="1779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Saving Plan purcahse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            65,335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76722469"/>
                  </a:ext>
                </a:extLst>
              </a:tr>
            </a:tbl>
          </a:graphicData>
        </a:graphic>
      </p:graphicFrame>
      <p:pic>
        <p:nvPicPr>
          <p:cNvPr id="9" name="Picture 8" descr="A blue cloud with black text&#10;&#10;AI-generated content may be incorrect.">
            <a:extLst>
              <a:ext uri="{FF2B5EF4-FFF2-40B4-BE49-F238E27FC236}">
                <a16:creationId xmlns:a16="http://schemas.microsoft.com/office/drawing/2014/main" id="{E0C9B88D-5FF6-88E8-96D6-6A38C3FA44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927" y="394956"/>
            <a:ext cx="1279795" cy="7313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378D8E-2E13-EA7A-932F-4267A7B3720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814" y="1720753"/>
            <a:ext cx="1751474" cy="17514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8E0B122-052E-D5B6-AD20-CDB4B4370F44}"/>
              </a:ext>
            </a:extLst>
          </p:cNvPr>
          <p:cNvSpPr/>
          <p:nvPr/>
        </p:nvSpPr>
        <p:spPr bwMode="auto">
          <a:xfrm>
            <a:off x="6257117" y="4005064"/>
            <a:ext cx="2331510" cy="369332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fontAlgn="b"/>
            <a:r>
              <a:rPr lang="en-US" b="1" dirty="0">
                <a:solidFill>
                  <a:schemeClr val="bg1"/>
                </a:solidFill>
                <a:highlight>
                  <a:srgbClr val="008000"/>
                </a:highlight>
                <a:ea typeface="Tahoma" panose="020B0604030504040204" pitchFamily="34" charset="0"/>
                <a:cs typeface="Tahoma" panose="020B0604030504040204" pitchFamily="34" charset="0"/>
              </a:rPr>
              <a:t>Total Annual Savings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F6C453-108C-3506-4A59-D0D7D8C40848}"/>
              </a:ext>
            </a:extLst>
          </p:cNvPr>
          <p:cNvSpPr/>
          <p:nvPr/>
        </p:nvSpPr>
        <p:spPr bwMode="auto">
          <a:xfrm>
            <a:off x="6870988" y="4454041"/>
            <a:ext cx="1116719" cy="369332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fontAlgn="b"/>
            <a:r>
              <a:rPr lang="en-US" b="1" dirty="0">
                <a:solidFill>
                  <a:schemeClr val="bg1"/>
                </a:solidFill>
                <a:highlight>
                  <a:srgbClr val="008000"/>
                </a:highlight>
                <a:ea typeface="Tahoma" panose="020B0604030504040204" pitchFamily="34" charset="0"/>
                <a:cs typeface="Tahoma" panose="020B0604030504040204" pitchFamily="34" charset="0"/>
              </a:rPr>
              <a:t>$278,868</a:t>
            </a:r>
          </a:p>
        </p:txBody>
      </p:sp>
    </p:spTree>
    <p:extLst>
      <p:ext uri="{BB962C8B-B14F-4D97-AF65-F5344CB8AC3E}">
        <p14:creationId xmlns:p14="http://schemas.microsoft.com/office/powerpoint/2010/main" val="4504491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7CF7647-FF4D-661A-F833-D12B628771C9}"/>
              </a:ext>
            </a:extLst>
          </p:cNvPr>
          <p:cNvSpPr txBox="1"/>
          <p:nvPr/>
        </p:nvSpPr>
        <p:spPr>
          <a:xfrm>
            <a:off x="827584" y="476672"/>
            <a:ext cx="63367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rbel" panose="020B0503020204020204" pitchFamily="34" charset="0"/>
              </a:rPr>
              <a:t> Decommission Cloud Service Costs in North Europe</a:t>
            </a:r>
            <a:endParaRPr lang="en-US" sz="2400" dirty="0">
              <a:solidFill>
                <a:schemeClr val="bg1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2FEA087-DF47-FF3B-29E3-7F551C80BB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271951"/>
              </p:ext>
            </p:extLst>
          </p:nvPr>
        </p:nvGraphicFramePr>
        <p:xfrm>
          <a:off x="1036409" y="1484784"/>
          <a:ext cx="5919053" cy="28602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8533">
                  <a:extLst>
                    <a:ext uri="{9D8B030D-6E8A-4147-A177-3AD203B41FA5}">
                      <a16:colId xmlns:a16="http://schemas.microsoft.com/office/drawing/2014/main" val="415100725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44921051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750317034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124563718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2763407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872336804"/>
                    </a:ext>
                  </a:extLst>
                </a:gridCol>
              </a:tblGrid>
              <a:tr h="2586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Service/SUB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4A68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Resource Location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4A68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Prod Subscription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4A68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SAP Production Subscription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4A68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Shared Resources Subscription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4A68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Grand Total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4A68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86459"/>
                  </a:ext>
                </a:extLst>
              </a:tr>
              <a:tr h="1959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Virtual Machines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northeurope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$ 154 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 1,661 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   550 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 $     2,365 </a:t>
                      </a:r>
                      <a:endParaRPr lang="en-IL" sz="1050" b="0" i="0" u="none" strike="noStrike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89617870"/>
                  </a:ext>
                </a:extLst>
              </a:tr>
              <a:tr h="1959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Storage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northeurope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       7 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 1,868 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   109 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1,984 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15343213"/>
                  </a:ext>
                </a:extLst>
              </a:tr>
              <a:tr h="1959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u="none" strike="noStrike">
                          <a:solidFill>
                            <a:srgbClr val="000000"/>
                          </a:solidFill>
                          <a:effectLst/>
                        </a:rPr>
                        <a:t>VPN Gateway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northeurope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   930 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 $         930 </a:t>
                      </a:r>
                      <a:endParaRPr lang="en-IL" sz="1050" b="0" i="0" u="none" strike="noStrike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20224977"/>
                  </a:ext>
                </a:extLst>
              </a:tr>
              <a:tr h="1959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Azure Site Recovery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northeurope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IL" sz="1050" b="0" i="0" u="none" strike="noStrike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   200 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 $         200 </a:t>
                      </a:r>
                      <a:endParaRPr lang="en-IL" sz="1050" b="0" i="0" u="none" strike="noStrike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90381748"/>
                  </a:ext>
                </a:extLst>
              </a:tr>
              <a:tr h="1959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u="none" strike="noStrike">
                          <a:solidFill>
                            <a:srgbClr val="000000"/>
                          </a:solidFill>
                          <a:effectLst/>
                        </a:rPr>
                        <a:t>Azure DNS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northeurope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   180 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IL" sz="1050" b="0" i="0" u="none" strike="noStrike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   180 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41757927"/>
                  </a:ext>
                </a:extLst>
              </a:tr>
              <a:tr h="1959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Virtual Network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northeurope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 $           18 </a:t>
                      </a:r>
                      <a:endParaRPr lang="en-IL" sz="1050" b="0" i="0" u="none" strike="noStrike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 $             70 </a:t>
                      </a:r>
                      <a:endParaRPr lang="en-IL" sz="1050" b="0" i="0" u="none" strike="noStrike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 $              3 </a:t>
                      </a:r>
                      <a:endParaRPr lang="en-IL" sz="1050" b="0" i="0" u="none" strike="noStrike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 $           91 </a:t>
                      </a:r>
                      <a:endParaRPr lang="en-IL" sz="1050" b="0" i="0" u="none" strike="noStrike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53941073"/>
                  </a:ext>
                </a:extLst>
              </a:tr>
              <a:tr h="1959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Bandwidth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northeurope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 $           25 </a:t>
                      </a:r>
                      <a:endParaRPr lang="en-IL" sz="1050" b="0" i="0" u="none" strike="noStrike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 $               3 </a:t>
                      </a:r>
                      <a:endParaRPr lang="en-IL" sz="1050" b="0" i="0" u="none" strike="noStrike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       9 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     37 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50794904"/>
                  </a:ext>
                </a:extLst>
              </a:tr>
              <a:tr h="1959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NAT Gateway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northeurope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 $           35 </a:t>
                      </a:r>
                      <a:endParaRPr lang="en-IL" sz="1050" b="0" i="0" u="none" strike="noStrike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IL" sz="1050" b="0" i="0" u="none" strike="noStrike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 $           35 </a:t>
                      </a:r>
                      <a:endParaRPr lang="en-IL" sz="1050" b="0" i="0" u="none" strike="noStrike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79728449"/>
                  </a:ext>
                </a:extLst>
              </a:tr>
              <a:tr h="1959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Microsoft Defender for Cloud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northeurope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 $           30 </a:t>
                      </a:r>
                      <a:endParaRPr lang="en-IL" sz="1050" b="0" i="0" u="none" strike="noStrike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     30 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37943451"/>
                  </a:ext>
                </a:extLst>
              </a:tr>
              <a:tr h="1959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Load Balancer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northeurope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 $           19 </a:t>
                      </a:r>
                      <a:endParaRPr lang="en-IL" sz="1050" b="0" i="0" u="none" strike="noStrike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IL" sz="1050" b="0" i="0" u="none" strike="noStrike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     19 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71708341"/>
                  </a:ext>
                </a:extLst>
              </a:tr>
              <a:tr h="2453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Automation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northeurope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IL" sz="1050" b="0" i="0" u="none" strike="noStrike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IL" sz="1050" b="0" i="0" u="none" strike="noStrike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       0 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       0 </a:t>
                      </a:r>
                      <a:endParaRPr lang="en-IL" sz="1050" b="0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35566273"/>
                  </a:ext>
                </a:extLst>
              </a:tr>
              <a:tr h="1959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Grand Total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4A68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IL" sz="1050" b="1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4A68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1,397 </a:t>
                      </a:r>
                      <a:endParaRPr lang="en-IL" sz="1050" b="1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4A68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3,601 </a:t>
                      </a:r>
                      <a:endParaRPr lang="en-IL" sz="1050" b="1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4A68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  872 </a:t>
                      </a:r>
                      <a:endParaRPr lang="en-IL" sz="1050" b="1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4A68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5,871 </a:t>
                      </a:r>
                      <a:endParaRPr lang="en-IL" sz="1050" b="1" i="0" u="none" strike="noStrike" dirty="0">
                        <a:solidFill>
                          <a:srgbClr val="00000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4A68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866105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3985F69F-5BD2-EF2A-EA86-7D375B544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272" y="4509120"/>
            <a:ext cx="1967656" cy="21862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140830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4B6FBC-A04E-AC2C-62BC-227ED5178E00}"/>
              </a:ext>
            </a:extLst>
          </p:cNvPr>
          <p:cNvSpPr/>
          <p:nvPr/>
        </p:nvSpPr>
        <p:spPr bwMode="auto">
          <a:xfrm>
            <a:off x="2555776" y="327510"/>
            <a:ext cx="6336704" cy="461665"/>
          </a:xfrm>
          <a:prstGeom prst="rect">
            <a:avLst/>
          </a:prstGeom>
          <a:solidFill>
            <a:srgbClr val="0A3470"/>
          </a:solidFill>
          <a:ln>
            <a:noFill/>
          </a:ln>
          <a:effectLst>
            <a:outerShdw blurRad="50800" dist="381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spAutoFit/>
          </a:bodyPr>
          <a:lstStyle/>
          <a:p>
            <a:pPr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sz="2400" b="1" i="0" u="none" strike="noStrike" cap="none" spc="80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ProtocolHarel" pitchFamily="2" charset="-79"/>
                <a:cs typeface="ProtocolHarel" pitchFamily="2" charset="-79"/>
              </a:rPr>
              <a:t>נושאים להמשך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7F310D-3D18-4564-1A06-3B9CFABD5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638530"/>
              </p:ext>
            </p:extLst>
          </p:nvPr>
        </p:nvGraphicFramePr>
        <p:xfrm>
          <a:off x="107506" y="1052737"/>
          <a:ext cx="8784975" cy="5694665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448867">
                  <a:extLst>
                    <a:ext uri="{9D8B030D-6E8A-4147-A177-3AD203B41FA5}">
                      <a16:colId xmlns:a16="http://schemas.microsoft.com/office/drawing/2014/main" val="176500027"/>
                    </a:ext>
                  </a:extLst>
                </a:gridCol>
                <a:gridCol w="1538975">
                  <a:extLst>
                    <a:ext uri="{9D8B030D-6E8A-4147-A177-3AD203B41FA5}">
                      <a16:colId xmlns:a16="http://schemas.microsoft.com/office/drawing/2014/main" val="3309986814"/>
                    </a:ext>
                  </a:extLst>
                </a:gridCol>
                <a:gridCol w="5129913">
                  <a:extLst>
                    <a:ext uri="{9D8B030D-6E8A-4147-A177-3AD203B41FA5}">
                      <a16:colId xmlns:a16="http://schemas.microsoft.com/office/drawing/2014/main" val="962127502"/>
                    </a:ext>
                  </a:extLst>
                </a:gridCol>
                <a:gridCol w="897733">
                  <a:extLst>
                    <a:ext uri="{9D8B030D-6E8A-4147-A177-3AD203B41FA5}">
                      <a16:colId xmlns:a16="http://schemas.microsoft.com/office/drawing/2014/main" val="875461661"/>
                    </a:ext>
                  </a:extLst>
                </a:gridCol>
                <a:gridCol w="769487">
                  <a:extLst>
                    <a:ext uri="{9D8B030D-6E8A-4147-A177-3AD203B41FA5}">
                      <a16:colId xmlns:a16="http://schemas.microsoft.com/office/drawing/2014/main" val="45607890"/>
                    </a:ext>
                  </a:extLst>
                </a:gridCol>
              </a:tblGrid>
              <a:tr h="907285">
                <a:tc>
                  <a:txBody>
                    <a:bodyPr/>
                    <a:lstStyle/>
                    <a:p>
                      <a:pPr rtl="1"/>
                      <a:endParaRPr lang="he-IL" sz="11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A3470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200" b="1" dirty="0">
                          <a:solidFill>
                            <a:srgbClr val="FFFFFF"/>
                          </a:solidFill>
                          <a:latin typeface="ProtocolHarel" pitchFamily="2" charset="-79"/>
                          <a:cs typeface="ProtocolHarel" pitchFamily="2" charset="-79"/>
                        </a:rPr>
                        <a:t>משימה</a:t>
                      </a:r>
                    </a:p>
                  </a:txBody>
                  <a:tcPr>
                    <a:solidFill>
                      <a:srgbClr val="0A3470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200" b="1">
                          <a:solidFill>
                            <a:srgbClr val="FFFFFF"/>
                          </a:solidFill>
                          <a:latin typeface="ProtocolHarel" pitchFamily="2" charset="-79"/>
                          <a:cs typeface="ProtocolHarel" pitchFamily="2" charset="-79"/>
                        </a:rPr>
                        <a:t>פירוט</a:t>
                      </a:r>
                    </a:p>
                  </a:txBody>
                  <a:tcPr>
                    <a:solidFill>
                      <a:srgbClr val="0A3470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200" b="1">
                          <a:solidFill>
                            <a:srgbClr val="FFFFFF"/>
                          </a:solidFill>
                          <a:latin typeface="ProtocolHarel" pitchFamily="2" charset="-79"/>
                          <a:cs typeface="ProtocolHarel" pitchFamily="2" charset="-79"/>
                        </a:rPr>
                        <a:t>סטטוס</a:t>
                      </a:r>
                    </a:p>
                  </a:txBody>
                  <a:tcPr>
                    <a:solidFill>
                      <a:srgbClr val="0A3470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200" b="1">
                          <a:solidFill>
                            <a:srgbClr val="FFFFFF"/>
                          </a:solidFill>
                          <a:latin typeface="ProtocolHarel" pitchFamily="2" charset="-79"/>
                          <a:cs typeface="ProtocolHarel" pitchFamily="2" charset="-79"/>
                        </a:rPr>
                        <a:t>אחראי</a:t>
                      </a:r>
                    </a:p>
                  </a:txBody>
                  <a:tcPr>
                    <a:solidFill>
                      <a:srgbClr val="0A34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080369"/>
                  </a:ext>
                </a:extLst>
              </a:tr>
              <a:tr h="907285">
                <a:tc>
                  <a:txBody>
                    <a:bodyPr/>
                    <a:lstStyle/>
                    <a:p>
                      <a:pPr algn="r" rtl="1"/>
                      <a:r>
                        <a:rPr lang="he-IL" sz="1000"/>
                        <a:t>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b="1" dirty="0"/>
                        <a:t>פרויקט חיסכון והתייעלות</a:t>
                      </a:r>
                    </a:p>
                    <a:p>
                      <a:pPr algn="r" rtl="1"/>
                      <a:endParaRPr lang="he-IL" sz="1000" b="1" dirty="0"/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b="0" dirty="0"/>
                        <a:t>מימוש תכנית חיסכון </a:t>
                      </a:r>
                      <a:r>
                        <a:rPr lang="en-US" sz="1000" b="0" dirty="0"/>
                        <a:t>Cloud FinOps - Rightsizing, Auto Shutdown, Reserved Instances</a:t>
                      </a:r>
                      <a:r>
                        <a:rPr lang="he-IL" sz="1000" b="0" dirty="0"/>
                        <a:t> </a:t>
                      </a:r>
                    </a:p>
                    <a:p>
                      <a:pPr algn="r" rtl="1"/>
                      <a:endParaRPr lang="he-IL" sz="1000" b="0" dirty="0"/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000" b="1">
                          <a:solidFill>
                            <a:srgbClr val="2E75B6"/>
                          </a:solidFill>
                        </a:rPr>
                        <a:t>מתוכנן</a:t>
                      </a:r>
                    </a:p>
                    <a:p>
                      <a:pPr algn="r" rtl="1"/>
                      <a:endParaRPr lang="he-IL" sz="1000" b="1">
                        <a:solidFill>
                          <a:srgbClr val="16650E"/>
                        </a:solidFill>
                      </a:endParaRP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אגף תשתיות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104"/>
                  </a:ext>
                </a:extLst>
              </a:tr>
              <a:tr h="907285">
                <a:tc>
                  <a:txBody>
                    <a:bodyPr/>
                    <a:lstStyle/>
                    <a:p>
                      <a:pPr algn="r" rtl="1"/>
                      <a:r>
                        <a:rPr lang="he-IL" sz="10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b="1" dirty="0"/>
                        <a:t>הטמעת </a:t>
                      </a:r>
                      <a:r>
                        <a:rPr lang="en-US" sz="1000" b="1" dirty="0"/>
                        <a:t>WIV.AI</a:t>
                      </a:r>
                      <a:r>
                        <a:rPr lang="he-IL" sz="1000" b="1" dirty="0"/>
                        <a:t>(</a:t>
                      </a:r>
                      <a:r>
                        <a:rPr lang="en-US" sz="1000" b="1" dirty="0"/>
                        <a:t>FREE</a:t>
                      </a:r>
                      <a:r>
                        <a:rPr lang="he-IL" sz="1000" b="1" dirty="0"/>
                        <a:t>)</a:t>
                      </a:r>
                      <a:endParaRPr lang="he-IL"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b="0" dirty="0"/>
                        <a:t>הטמעת פלטפורמת </a:t>
                      </a:r>
                      <a:r>
                        <a:rPr lang="en-US" sz="1000" b="0" dirty="0"/>
                        <a:t> WIV.AI, Governance, </a:t>
                      </a:r>
                      <a:r>
                        <a:rPr lang="he-IL" sz="1000" b="0" dirty="0"/>
                        <a:t>ניטור עלויות ושימושים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b="1">
                          <a:solidFill>
                            <a:srgbClr val="2E75B6"/>
                          </a:solidFill>
                        </a:rPr>
                        <a:t>מתוכנן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אריאל</a:t>
                      </a:r>
                    </a:p>
                    <a:p>
                      <a:pPr algn="r" rtl="1"/>
                      <a:r>
                        <a:rPr lang="he-IL" sz="1000" dirty="0"/>
                        <a:t>אוראל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69885"/>
                  </a:ext>
                </a:extLst>
              </a:tr>
              <a:tr h="907285">
                <a:tc>
                  <a:txBody>
                    <a:bodyPr/>
                    <a:lstStyle/>
                    <a:p>
                      <a:pPr algn="r" rtl="1"/>
                      <a:r>
                        <a:rPr lang="he-IL" sz="1000"/>
                        <a:t>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b="1"/>
                        <a:t>תיוגים לפי שירות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b="0"/>
                        <a:t>השלמת תיוג משאבים לפי</a:t>
                      </a:r>
                      <a:r>
                        <a:rPr lang="en-US" sz="1000" b="0"/>
                        <a:t> Service, Application, Cost Center </a:t>
                      </a:r>
                      <a:r>
                        <a:rPr lang="he-IL" sz="1000" b="0"/>
                        <a:t>ו-</a:t>
                      </a:r>
                      <a:r>
                        <a:rPr lang="en-US" sz="1000" b="0"/>
                        <a:t>Environment</a:t>
                      </a:r>
                    </a:p>
                    <a:p>
                      <a:pPr algn="r" rtl="1"/>
                      <a:r>
                        <a:rPr lang="he-IL" sz="1000" b="0"/>
                        <a:t>לצורך </a:t>
                      </a:r>
                      <a:r>
                        <a:rPr lang="en-US" sz="1000" b="0"/>
                        <a:t>Chargeback/Showback</a:t>
                      </a:r>
                    </a:p>
                    <a:p>
                      <a:pPr algn="r" rtl="1"/>
                      <a:r>
                        <a:rPr lang="he-IL" sz="1000" b="0"/>
                        <a:t>כולל תיוג שירותי </a:t>
                      </a:r>
                      <a:r>
                        <a:rPr lang="en-US" sz="1000" b="0"/>
                        <a:t>AI Gateway </a:t>
                      </a:r>
                      <a:r>
                        <a:rPr lang="he-IL" sz="1000" b="0"/>
                        <a:t>ו-</a:t>
                      </a:r>
                      <a:r>
                        <a:rPr lang="en-US" sz="1000" b="0"/>
                        <a:t>AWS Bedrock – Claude CLI</a:t>
                      </a:r>
                    </a:p>
                    <a:p>
                      <a:pPr algn="r" rtl="1"/>
                      <a:endParaRPr lang="en-US" sz="1000" b="0"/>
                    </a:p>
                    <a:p>
                      <a:pPr algn="r" rtl="1"/>
                      <a:endParaRPr lang="he-IL" sz="1000" b="0" dirty="0"/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b="1">
                          <a:solidFill>
                            <a:srgbClr val="16650E"/>
                          </a:solidFill>
                        </a:rPr>
                        <a:t>בתהליך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אריאל</a:t>
                      </a:r>
                    </a:p>
                    <a:p>
                      <a:pPr algn="r" rtl="1"/>
                      <a:r>
                        <a:rPr lang="he-IL" sz="1000" dirty="0"/>
                        <a:t>אוראל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281631"/>
                  </a:ext>
                </a:extLst>
              </a:tr>
              <a:tr h="907285">
                <a:tc>
                  <a:txBody>
                    <a:bodyPr/>
                    <a:lstStyle/>
                    <a:p>
                      <a:pPr algn="r" rtl="1"/>
                      <a:r>
                        <a:rPr lang="he-IL" sz="1000"/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b="1" dirty="0"/>
                        <a:t>הטמעת</a:t>
                      </a:r>
                      <a:r>
                        <a:rPr lang="en-US" sz="1000" b="1" dirty="0"/>
                        <a:t>AWS FinOps Agent-New</a:t>
                      </a:r>
                      <a:endParaRPr lang="he-IL"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b="0" dirty="0"/>
                        <a:t>ניתוח עלויות אוטומטי, זיהוי המלצות חיסכון ואופטימיזציה של שירותי </a:t>
                      </a:r>
                      <a:r>
                        <a:rPr lang="en-US" sz="1000" b="0" dirty="0"/>
                        <a:t>AWS </a:t>
                      </a:r>
                      <a:endParaRPr lang="he-IL" sz="1000" b="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b="1" dirty="0">
                          <a:solidFill>
                            <a:srgbClr val="2E75B6"/>
                          </a:solidFill>
                        </a:rPr>
                        <a:t>מתוכנן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000" dirty="0"/>
                        <a:t>אריאל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167419"/>
                  </a:ext>
                </a:extLst>
              </a:tr>
              <a:tr h="1152207">
                <a:tc>
                  <a:txBody>
                    <a:bodyPr/>
                    <a:lstStyle/>
                    <a:p>
                      <a:pPr algn="r" rtl="1"/>
                      <a:r>
                        <a:rPr lang="he-IL" sz="1000"/>
                        <a:t>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000" b="1" dirty="0"/>
                        <a:t>Databricks Commitment Optimization</a:t>
                      </a:r>
                      <a:endParaRPr lang="he-IL" sz="1000" dirty="0"/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000" b="0" dirty="0"/>
                        <a:t>הגדלת ניצול חוזה ה-</a:t>
                      </a:r>
                      <a:r>
                        <a:rPr lang="en-US" sz="1000" b="0" dirty="0"/>
                        <a:t>DBU Commitment </a:t>
                      </a:r>
                      <a:r>
                        <a:rPr lang="he-IL" sz="1000" b="0" dirty="0"/>
                        <a:t> ומעקב </a:t>
                      </a:r>
                      <a:r>
                        <a:rPr lang="en-US" sz="1000" b="0" dirty="0"/>
                        <a:t>Utilization </a:t>
                      </a:r>
                      <a:r>
                        <a:rPr lang="he-IL" sz="1000" b="0" dirty="0"/>
                        <a:t> מעבר עומסים  </a:t>
                      </a:r>
                      <a:r>
                        <a:rPr lang="he-IL" sz="1000" b="0" dirty="0" err="1"/>
                        <a:t>ואופטימיזצייה</a:t>
                      </a:r>
                      <a:r>
                        <a:rPr lang="he-IL" sz="1000" b="0" dirty="0"/>
                        <a:t> </a:t>
                      </a:r>
                      <a:r>
                        <a:rPr lang="en-US" sz="1000" b="0" dirty="0"/>
                        <a:t>Classic/Serverless</a:t>
                      </a:r>
                    </a:p>
                    <a:p>
                      <a:pPr algn="r" rtl="1"/>
                      <a:endParaRPr lang="he-IL" sz="1000" b="0" dirty="0"/>
                    </a:p>
                    <a:p>
                      <a:pPr algn="r" rtl="1"/>
                      <a:endParaRPr lang="he-IL" sz="1000" b="0" dirty="0"/>
                    </a:p>
                    <a:p>
                      <a:pPr algn="r" rtl="1"/>
                      <a:endParaRPr lang="en-US" sz="1000" b="0" dirty="0"/>
                    </a:p>
                    <a:p>
                      <a:pPr algn="r" rtl="1"/>
                      <a:endParaRPr lang="en-US" sz="1000" b="0" dirty="0"/>
                    </a:p>
                    <a:p>
                      <a:pPr algn="r" rtl="1"/>
                      <a:endParaRPr lang="he-IL" sz="1000" b="0" dirty="0"/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000" b="1" dirty="0">
                          <a:solidFill>
                            <a:srgbClr val="16650E"/>
                          </a:solidFill>
                        </a:rPr>
                        <a:t>TBD   </a:t>
                      </a:r>
                      <a:endParaRPr lang="he-IL" sz="1000" b="1" dirty="0">
                        <a:solidFill>
                          <a:srgbClr val="16650E"/>
                        </a:solidFill>
                      </a:endParaRP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he-IL" sz="1000" dirty="0"/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625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00456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D808F03-1F48-9355-739C-681A2542E879}"/>
              </a:ext>
            </a:extLst>
          </p:cNvPr>
          <p:cNvSpPr/>
          <p:nvPr/>
        </p:nvSpPr>
        <p:spPr>
          <a:xfrm>
            <a:off x="53752" y="2819490"/>
            <a:ext cx="9036496" cy="994229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59FCD98-9A72-C36E-A50F-3DC06741005B}"/>
              </a:ext>
            </a:extLst>
          </p:cNvPr>
          <p:cNvGrpSpPr/>
          <p:nvPr/>
        </p:nvGrpSpPr>
        <p:grpSpPr>
          <a:xfrm>
            <a:off x="2449747" y="2874640"/>
            <a:ext cx="4244506" cy="914400"/>
            <a:chOff x="4252533" y="2474684"/>
            <a:chExt cx="4244506" cy="914400"/>
          </a:xfrm>
        </p:grpSpPr>
        <p:pic>
          <p:nvPicPr>
            <p:cNvPr id="15" name="Graphic 14" descr="Cloud">
              <a:extLst>
                <a:ext uri="{FF2B5EF4-FFF2-40B4-BE49-F238E27FC236}">
                  <a16:creationId xmlns:a16="http://schemas.microsoft.com/office/drawing/2014/main" id="{5698DD3E-0470-D407-4384-512674D300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82639" y="2474684"/>
              <a:ext cx="914400" cy="9144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830B059-E727-813A-E199-2C83D6C12124}"/>
                </a:ext>
              </a:extLst>
            </p:cNvPr>
            <p:cNvSpPr txBox="1"/>
            <p:nvPr/>
          </p:nvSpPr>
          <p:spPr>
            <a:xfrm>
              <a:off x="4252533" y="2547163"/>
              <a:ext cx="368693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Thank You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9791238"/>
      </p:ext>
    </p:extLst>
  </p:cSld>
  <p:clrMapOvr>
    <a:masterClrMapping/>
  </p:clrMapOvr>
</p:sld>
</file>

<file path=ppt/theme/theme1.xml><?xml version="1.0" encoding="utf-8"?>
<a:theme xmlns:a="http://schemas.openxmlformats.org/drawingml/2006/main" name="תבנית מצגת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R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tabLst/>
          <a:defRPr kumimoji="0" sz="1200" b="1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1_עיצוב מותאם אישית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 bwMode="auto">
        <a:ln w="3175">
          <a:solidFill>
            <a:schemeClr val="tx1">
              <a:lumMod val="65000"/>
              <a:lumOff val="3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66913</TotalTime>
  <Words>1796</Words>
  <Application>Microsoft Office PowerPoint</Application>
  <PresentationFormat>On-screen Show (4:3)</PresentationFormat>
  <Paragraphs>497</Paragraphs>
  <Slides>43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6" baseType="lpstr">
      <vt:lpstr>Aptos Narrow</vt:lpstr>
      <vt:lpstr>Arial</vt:lpstr>
      <vt:lpstr>Calibri</vt:lpstr>
      <vt:lpstr>Cambria</vt:lpstr>
      <vt:lpstr>Corbel</vt:lpstr>
      <vt:lpstr>MFProtocolHarel</vt:lpstr>
      <vt:lpstr>ProtocolHarel</vt:lpstr>
      <vt:lpstr>Raleway</vt:lpstr>
      <vt:lpstr>Tahoma</vt:lpstr>
      <vt:lpstr>Verdana</vt:lpstr>
      <vt:lpstr>Wingdings</vt:lpstr>
      <vt:lpstr>תבנית מצגת</vt:lpstr>
      <vt:lpstr>1_עיצוב מותאם אישית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2026 Market Place Purchases  </vt:lpstr>
      <vt:lpstr>PowerPoint Presentation</vt:lpstr>
      <vt:lpstr>2026 Consumption By Cost Center </vt:lpstr>
      <vt:lpstr>PowerPoint Presentation</vt:lpstr>
      <vt:lpstr>2026 Market Place Purchases  </vt:lpstr>
      <vt:lpstr>2026 Consumption By Cost Center – Data Cloud </vt:lpstr>
      <vt:lpstr>2026 Consumption Opswat New Mail </vt:lpstr>
      <vt:lpstr>2026 Consumption By Cost Center - Actuary </vt:lpstr>
      <vt:lpstr> 2026 Consumption By Cost Center – Sap </vt:lpstr>
      <vt:lpstr> 2026 Consumption By Cost Center – Cloud IT </vt:lpstr>
      <vt:lpstr> 2026 Consumption By Cost Center - Risk Agility</vt:lpstr>
      <vt:lpstr> 2026 Consumption By Cost Center – Basasach </vt:lpstr>
      <vt:lpstr> 2026 Consumption By Cost Center – Itsec </vt:lpstr>
      <vt:lpstr>2026 Consumption By Cost Center – Investments </vt:lpstr>
      <vt:lpstr>PowerPoint Presentation</vt:lpstr>
      <vt:lpstr>2026 Consumption by Data Bricks </vt:lpstr>
      <vt:lpstr>PowerPoint Presentation</vt:lpstr>
      <vt:lpstr>2026 Consumption By Google Cloud Services </vt:lpstr>
      <vt:lpstr>PowerPoint Presentation</vt:lpstr>
      <vt:lpstr>2026 Consumption By Projects </vt:lpstr>
      <vt:lpstr>2026 Consumption By AI Factory Project </vt:lpstr>
      <vt:lpstr>2026 Consumption By Solugen Project </vt:lpstr>
      <vt:lpstr>2026 Consumption By Document Intelligence (OCR Services) </vt:lpstr>
      <vt:lpstr>2026 Consumption By INSAIT Project </vt:lpstr>
      <vt:lpstr>2026 Consumption By Cost Azure Cognitive Search </vt:lpstr>
      <vt:lpstr>2026 Consumption By Foundry Models &amp; Foundry Tools Usages </vt:lpstr>
      <vt:lpstr>2026 Consumption By Bedrock Services </vt:lpstr>
      <vt:lpstr>2026 Consumption By Harel AI SandBox  </vt:lpstr>
      <vt:lpstr>2026 Consumption By GitHub &amp; Copilot </vt:lpstr>
      <vt:lpstr>PowerPoint Presentation</vt:lpstr>
      <vt:lpstr>PowerPoint Presentation</vt:lpstr>
      <vt:lpstr>PowerPoint Presentation</vt:lpstr>
      <vt:lpstr>PowerPoint Presentation</vt:lpstr>
      <vt:lpstr> Implemented Savings – 2026 AWS &amp; Azure</vt:lpstr>
      <vt:lpstr>PowerPoint Presentation</vt:lpstr>
      <vt:lpstr>PowerPoint Presentation</vt:lpstr>
      <vt:lpstr>PowerPoint Presentation</vt:lpstr>
    </vt:vector>
  </TitlesOfParts>
  <Company>Harel-ins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 (Program Increment) planning</dc:title>
  <dc:creator>טל זיו-חסאט</dc:creator>
  <cp:lastModifiedBy>Yael Dayan</cp:lastModifiedBy>
  <cp:revision>2020</cp:revision>
  <dcterms:created xsi:type="dcterms:W3CDTF">2017-11-09T07:19:34Z</dcterms:created>
  <dcterms:modified xsi:type="dcterms:W3CDTF">2026-09-15T12:04:52Z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0x0101006860593609A28147AA16883FD434C29F</vt:lpwstr>
  </property>
</Properties>
</file>