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3.xml" ContentType="application/vnd.openxmlformats-officedocument.drawingml.chart+xml"/>
  <Override PartName="/ppt/charts/chart5.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2.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66" r:id="rId11"/>
    <p:sldId id="258" r:id="rId4"/>
    <p:sldId id="257" r:id="rId3"/>
    <p:sldId id="260" r:id="rId6"/>
    <p:sldId id="265" r:id="rId10"/>
    <p:sldId id="268" r:id="rId13"/>
    <p:sldId id="288" r:id="rId33"/>
    <p:sldId id="279"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1" d="100"/>
          <a:sy n="61" d="100"/>
        </p:scale>
        <p:origin x="8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3.xml"/><Relationship Id="rId6"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2.xml"/><Relationship Id="rId13" Type="http://schemas.openxmlformats.org/officeDocument/2006/relationships/slide" Target="slides/slide7.xml"/><Relationship Id="rId29" Type="http://schemas.openxmlformats.org/officeDocument/2006/relationships/slide" Target="slides/slide9.xml"/><Relationship Id="rId33" Type="http://schemas.openxmlformats.org/officeDocument/2006/relationships/slide" Target="slides/slide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strRef>
              <c:f>Sheet1!$B$1</c:f>
              <c:strCache>
                <c:ptCount val="1"/>
                <c:pt idx="0">
                  <c:v>Base case</c:v>
                </c:pt>
              </c:strCache>
            </c:strRef>
          </c:tx>
          <c:spPr>
            <a:ln w="38100">
              <a:solidFill>
                <a:srgbClr val="6EC8FF"/>
              </a:solidFill>
              <a:prstDash val="solid"/>
            </a:ln>
          </c:spPr>
          <c:marker>
            <c:symbol val="none"/>
          </c:marker>
          <c:cat>
            <c:strRef>
              <c:f>Sheet1!$A$2:$A$7</c:f>
              <c:strCache>
                <c:ptCount val="6"/>
                <c:pt idx="0">
                  <c:v>Jul</c:v>
                </c:pt>
                <c:pt idx="1">
                  <c:v>Aug</c:v>
                </c:pt>
                <c:pt idx="2">
                  <c:v>Sep</c:v>
                </c:pt>
                <c:pt idx="3">
                  <c:v>Oct</c:v>
                </c:pt>
                <c:pt idx="4">
                  <c:v>Nov</c:v>
                </c:pt>
                <c:pt idx="5">
                  <c:v>Dec</c:v>
                </c:pt>
              </c:strCache>
            </c:strRef>
          </c:cat>
          <c:val>
            <c:numRef>
              <c:f>Sheet1!$B$2:$B$7</c:f>
              <c:numCache>
                <c:formatCode>General</c:formatCode>
                <c:ptCount val="6"/>
                <c:pt idx="0">
                  <c:v>3.4</c:v>
                </c:pt>
                <c:pt idx="1">
                  <c:v>3.5</c:v>
                </c:pt>
                <c:pt idx="2">
                  <c:v>3.6</c:v>
                </c:pt>
                <c:pt idx="3">
                  <c:v>3.8</c:v>
                </c:pt>
                <c:pt idx="4">
                  <c:v>3.9</c:v>
                </c:pt>
                <c:pt idx="5">
                  <c:v>4.01</c:v>
                </c:pt>
              </c:numCache>
            </c:numRef>
          </c:val>
          <c:smooth val="1"/>
          <c:extLst>
            <c:ext xmlns:c16="http://schemas.microsoft.com/office/drawing/2014/chart" uri="{C3380CC4-5D6E-409C-BE32-E72D297353CC}">
              <c16:uniqueId val="{00000000-44D8-4ABC-ABF4-D166E8F59752}"/>
            </c:ext>
          </c:extLst>
        </c:ser>
        <c:ser>
          <c:idx val="1"/>
          <c:order val="1"/>
          <c:tx>
            <c:strRef>
              <c:f>Sheet1!$C$1</c:f>
              <c:strCache>
                <c:ptCount val="1"/>
                <c:pt idx="0">
                  <c:v>Faster case</c:v>
                </c:pt>
              </c:strCache>
            </c:strRef>
          </c:tx>
          <c:spPr>
            <a:ln w="38100">
              <a:solidFill>
                <a:srgbClr val="FF9B5C"/>
              </a:solidFill>
              <a:prstDash val="solid"/>
            </a:ln>
          </c:spPr>
          <c:marker>
            <c:symbol val="none"/>
          </c:marker>
          <c:cat>
            <c:strRef>
              <c:f>Sheet1!$A$2:$A$7</c:f>
              <c:strCache>
                <c:ptCount val="6"/>
                <c:pt idx="0">
                  <c:v>Jul</c:v>
                </c:pt>
                <c:pt idx="1">
                  <c:v>Aug</c:v>
                </c:pt>
                <c:pt idx="2">
                  <c:v>Sep</c:v>
                </c:pt>
                <c:pt idx="3">
                  <c:v>Oct</c:v>
                </c:pt>
                <c:pt idx="4">
                  <c:v>Nov</c:v>
                </c:pt>
                <c:pt idx="5">
                  <c:v>Dec</c:v>
                </c:pt>
              </c:strCache>
            </c:strRef>
          </c:cat>
          <c:val>
            <c:numRef>
              <c:f>Sheet1!$C$2:$C$7</c:f>
              <c:numCache>
                <c:formatCode>General</c:formatCode>
                <c:ptCount val="6"/>
                <c:pt idx="0">
                  <c:v>3.4</c:v>
                </c:pt>
                <c:pt idx="1">
                  <c:v>3.8</c:v>
                </c:pt>
                <c:pt idx="2">
                  <c:v>4.2</c:v>
                </c:pt>
                <c:pt idx="3">
                  <c:v>4.7</c:v>
                </c:pt>
                <c:pt idx="4">
                  <c:v>5.2</c:v>
                </c:pt>
                <c:pt idx="5">
                  <c:v>5.78</c:v>
                </c:pt>
              </c:numCache>
            </c:numRef>
          </c:val>
          <c:smooth val="1"/>
          <c:extLst>
            <c:ext xmlns:c16="http://schemas.microsoft.com/office/drawing/2014/chart" uri="{C3380CC4-5D6E-409C-BE32-E72D297353CC}">
              <c16:uniqueId val="{00000001-44D8-4ABC-ABF4-D166E8F59752}"/>
            </c:ext>
          </c:extLst>
        </c:ser>
        <c:ser>
          <c:idx val="2"/>
          <c:order val="2"/>
          <c:tx>
            <c:strRef>
              <c:f>Sheet1!$D$1</c:f>
              <c:strCache>
                <c:ptCount val="1"/>
                <c:pt idx="0">
                  <c:v>Actual</c:v>
                </c:pt>
              </c:strCache>
            </c:strRef>
          </c:tx>
          <c:spPr>
            <a:ln w="38100">
              <a:solidFill>
                <a:srgbClr val="FF9B5C"/>
              </a:solidFill>
              <a:prstDash val="solid"/>
            </a:ln>
          </c:spPr>
          <c:marker>
            <c:symbol val="none"/>
          </c:marker>
          <c:cat>
            <c:strRef>
              <c:f>Sheet1!$A$2:$A$7</c:f>
              <c:strCache>
                <c:ptCount val="6"/>
                <c:pt idx="0">
                  <c:v>Jul</c:v>
                </c:pt>
                <c:pt idx="1">
                  <c:v>Aug</c:v>
                </c:pt>
                <c:pt idx="2">
                  <c:v>Sep</c:v>
                </c:pt>
                <c:pt idx="3">
                  <c:v>Oct</c:v>
                </c:pt>
                <c:pt idx="4">
                  <c:v>Nov</c:v>
                </c:pt>
                <c:pt idx="5">
                  <c:v>Dec</c:v>
                </c:pt>
              </c:strCache>
            </c:strRef>
          </c:cat>
          <c:val>
            <c:numRef>
              <c:f>Sheet1!$D$2:$D$7</c:f>
              <c:numCache>
                <c:formatCode>General</c:formatCode>
                <c:ptCount val="6"/>
                <c:pt idx="0">
                  <c:v>3.4</c:v>
                </c:pt>
                <c:pt idx="1">
                  <c:v>3.49</c:v>
                </c:pt>
              </c:numCache>
            </c:numRef>
          </c:val>
          <c:smooth val="1"/>
          <c:extLst>
            <c:ext xmlns:c16="http://schemas.microsoft.com/office/drawing/2014/chart" uri="{C3380CC4-5D6E-409C-BE32-E72D297353CC}">
              <c16:uniqueId val="{00000001-44D8-4ABC-ABF4-D166E8F59752}"/>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536078"/>
            </a:solidFill>
            <a:prstDash val="solid"/>
          </a:ln>
        </c:spPr>
        <c:txPr>
          <a:bodyPr anchorCtr="1"/>
          <a:lstStyle/>
          <a:p>
            <a:pPr>
              <a:defRPr sz="975">
                <a:solidFill>
                  <a:srgbClr val="C5CCDA"/>
                </a:solidFill>
              </a:defRPr>
            </a:pPr>
            <a:endParaRPr lang="en-US"/>
          </a:p>
        </c:txPr>
        <c:crossAx val="48672768"/>
        <c:crosses val="autoZero"/>
        <c:auto val="1"/>
        <c:lblAlgn val="ctr"/>
        <c:lblOffset val="100"/>
        <c:noMultiLvlLbl val="1"/>
      </c:catAx>
      <c:valAx>
        <c:axId val="48672768"/>
        <c:scaling>
          <c:orientation val="minMax"/>
        </c:scaling>
        <c:delete val="0"/>
        <c:axPos val="l"/>
        <c:majorGridlines>
          <c:spPr>
            <a:ln w="9525">
              <a:solidFill>
                <a:srgbClr val="26364D"/>
              </a:solidFill>
              <a:prstDash val="solid"/>
            </a:ln>
          </c:spPr>
        </c:majorGridlines>
        <c:numFmt formatCode="\$0.0&quot;M&quot;" sourceLinked="1"/>
        <c:majorTickMark val="none"/>
        <c:minorTickMark val="none"/>
        <c:tickLblPos val="nextTo"/>
        <c:spPr>
          <a:ln w="0">
            <a:noFill/>
          </a:ln>
        </c:spPr>
        <c:txPr>
          <a:bodyPr anchorCtr="1"/>
          <a:lstStyle/>
          <a:p>
            <a:pPr>
              <a:defRPr sz="900">
                <a:solidFill>
                  <a:srgbClr val="8D99AE"/>
                </a:solidFill>
              </a:defRPr>
            </a:pPr>
            <a:endParaRPr lang="en-US"/>
          </a:p>
        </c:txPr>
        <c:crossAx val="48650112"/>
        <c:crosses val="autoZero"/>
        <c:crossBetween val="between"/>
        <c:majorUnit val="1"/>
      </c:valAx>
      <c:spPr>
        <a:solidFill>
          <a:srgbClr val="071424"/>
        </a:solidFill>
        <a:ln w="0">
          <a:noFill/>
        </a:ln>
      </c:spPr>
    </c:plotArea>
    <c:legend>
      <c:legendPos val="b"/>
      <c:overlay val="0"/>
      <c:txPr>
        <a:bodyPr anchorCtr="1"/>
        <a:lstStyle/>
        <a:p>
          <a:pPr>
            <a:defRPr sz="1125" b="1">
              <a:solidFill>
                <a:srgbClr val="C5CCDA"/>
              </a:solidFill>
            </a:defRPr>
          </a:pPr>
          <a:endParaRPr lang="en-US"/>
        </a:p>
      </c:txPr>
    </c:legend>
    <c:plotVisOnly val="1"/>
    <c:dispBlanksAs val="zero"/>
    <c:showDLblsOverMax val="1"/>
  </c:chart>
  <c:spPr>
    <a:solidFill>
      <a:srgbClr val="071424"/>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stacked"/>
        <c:varyColors val="0"/>
        <c:ser>
          <c:idx val="0"/>
          <c:order val="0"/>
          <c:tx>
            <c:strRef>
              <c:f>Sheet1!$B$1</c:f>
              <c:strCache>
                <c:ptCount val="1"/>
                <c:pt idx="0">
                  <c:v>Claude Opus 4.8</c:v>
                </c:pt>
              </c:strCache>
            </c:strRef>
          </c:tx>
          <c:spPr>
            <a:solidFill>
              <a:srgbClr val="2F8CFF"/>
            </a:solidFill>
          </c:spPr>
          <c:invertIfNegative val="1"/>
          <c:cat>
            <c:strRef>
              <c:f>Sheet1!$A$2:$A$7</c:f>
              <c:strCache>
                <c:ptCount val="6"/>
                <c:pt idx="0">
                  <c:v>Mar</c:v>
                </c:pt>
                <c:pt idx="1">
                  <c:v>Apr</c:v>
                </c:pt>
                <c:pt idx="2">
                  <c:v>May</c:v>
                </c:pt>
                <c:pt idx="3">
                  <c:v>Jun</c:v>
                </c:pt>
                <c:pt idx="4">
                  <c:v>Jul</c:v>
                </c:pt>
                <c:pt idx="5">
                  <c:v>Aug</c:v>
                </c:pt>
              </c:strCache>
            </c:strRef>
          </c:cat>
          <c:val>
            <c:numRef>
              <c:f>Sheet1!$B$2:$B$7</c:f>
              <c:numCache>
                <c:formatCode>General</c:formatCode>
                <c:ptCount val="6"/>
                <c:pt idx="0">
                  <c:v>0</c:v>
                </c:pt>
                <c:pt idx="1">
                  <c:v>0</c:v>
                </c:pt>
                <c:pt idx="2">
                  <c:v>76.7</c:v>
                </c:pt>
                <c:pt idx="3">
                  <c:v>2024.1</c:v>
                </c:pt>
                <c:pt idx="4">
                  <c:v>11361.9</c:v>
                </c:pt>
                <c:pt idx="5">
                  <c:v>15633.6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F42-451C-B4AD-906A8C0286DC}"/>
            </c:ext>
          </c:extLst>
        </c:ser>
        <c:ser>
          <c:idx val="1"/>
          <c:order val="1"/>
          <c:tx>
            <c:strRef>
              <c:f>Sheet1!$C$1</c:f>
              <c:strCache>
                <c:ptCount val="1"/>
                <c:pt idx="0">
                  <c:v>Claude Sonnet 4.6</c:v>
                </c:pt>
              </c:strCache>
            </c:strRef>
          </c:tx>
          <c:spPr>
            <a:solidFill>
              <a:srgbClr val="3DD9EB"/>
            </a:solidFill>
          </c:spPr>
          <c:invertIfNegative val="1"/>
          <c:cat>
            <c:strRef>
              <c:f>Sheet1!$A$2:$A$7</c:f>
              <c:strCache>
                <c:ptCount val="6"/>
                <c:pt idx="0">
                  <c:v>Mar</c:v>
                </c:pt>
                <c:pt idx="1">
                  <c:v>Apr</c:v>
                </c:pt>
                <c:pt idx="2">
                  <c:v>May</c:v>
                </c:pt>
                <c:pt idx="3">
                  <c:v>Jun</c:v>
                </c:pt>
                <c:pt idx="4">
                  <c:v>Jul</c:v>
                </c:pt>
                <c:pt idx="5">
                  <c:v>Aug</c:v>
                </c:pt>
              </c:strCache>
            </c:strRef>
          </c:cat>
          <c:val>
            <c:numRef>
              <c:f>Sheet1!$C$2:$C$7</c:f>
              <c:numCache>
                <c:formatCode>General</c:formatCode>
                <c:ptCount val="6"/>
                <c:pt idx="0">
                  <c:v>0</c:v>
                </c:pt>
                <c:pt idx="1">
                  <c:v>0</c:v>
                </c:pt>
                <c:pt idx="2">
                  <c:v>14.5</c:v>
                </c:pt>
                <c:pt idx="3">
                  <c:v>540.4</c:v>
                </c:pt>
                <c:pt idx="4">
                  <c:v>688.3</c:v>
                </c:pt>
                <c:pt idx="5">
                  <c:v>9468.0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F42-451C-B4AD-906A8C0286DC}"/>
            </c:ext>
          </c:extLst>
        </c:ser>
        <c:ser>
          <c:idx val="2"/>
          <c:order val="2"/>
          <c:tx>
            <c:strRef>
              <c:f>Sheet1!$D$1</c:f>
              <c:strCache>
                <c:ptCount val="1"/>
                <c:pt idx="0">
                  <c:v>Claude Opus 5</c:v>
                </c:pt>
              </c:strCache>
            </c:strRef>
          </c:tx>
          <c:spPr>
            <a:solidFill>
              <a:srgbClr val="FF9F43"/>
            </a:solidFill>
          </c:spPr>
          <c:invertIfNegative val="1"/>
          <c:cat>
            <c:strRef>
              <c:f>Sheet1!$A$2:$A$7</c:f>
              <c:strCache>
                <c:ptCount val="6"/>
                <c:pt idx="0">
                  <c:v>Mar</c:v>
                </c:pt>
                <c:pt idx="1">
                  <c:v>Apr</c:v>
                </c:pt>
                <c:pt idx="2">
                  <c:v>May</c:v>
                </c:pt>
                <c:pt idx="3">
                  <c:v>Jun</c:v>
                </c:pt>
                <c:pt idx="4">
                  <c:v>Jul</c:v>
                </c:pt>
                <c:pt idx="5">
                  <c:v>Aug</c:v>
                </c:pt>
              </c:strCache>
            </c:strRef>
          </c:cat>
          <c:val>
            <c:numRef>
              <c:f>Sheet1!$D$2:$D$7</c:f>
              <c:numCache>
                <c:formatCode>General</c:formatCode>
                <c:ptCount val="6"/>
                <c:pt idx="0">
                  <c:v>0</c:v>
                </c:pt>
                <c:pt idx="1">
                  <c:v>0</c:v>
                </c:pt>
                <c:pt idx="2">
                  <c:v>0</c:v>
                </c:pt>
                <c:pt idx="3">
                  <c:v>0</c:v>
                </c:pt>
                <c:pt idx="4">
                  <c:v>691.5</c:v>
                </c:pt>
                <c:pt idx="5">
                  <c:v>9015.3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CF42-451C-B4AD-906A8C0286DC}"/>
            </c:ext>
          </c:extLst>
        </c:ser>
        <c:ser>
          <c:idx val="3"/>
          <c:order val="3"/>
          <c:tx>
            <c:strRef>
              <c:f>Sheet1!$E$1</c:f>
              <c:strCache>
                <c:ptCount val="1"/>
                <c:pt idx="0">
                  <c:v>Claude Opus 4.6</c:v>
                </c:pt>
              </c:strCache>
            </c:strRef>
          </c:tx>
          <c:spPr>
            <a:solidFill>
              <a:srgbClr val="B07CFF"/>
            </a:solidFill>
          </c:spPr>
          <c:invertIfNegative val="1"/>
          <c:cat>
            <c:strRef>
              <c:f>Sheet1!$A$2:$A$7</c:f>
              <c:strCache>
                <c:ptCount val="6"/>
                <c:pt idx="0">
                  <c:v>Mar</c:v>
                </c:pt>
                <c:pt idx="1">
                  <c:v>Apr</c:v>
                </c:pt>
                <c:pt idx="2">
                  <c:v>May</c:v>
                </c:pt>
                <c:pt idx="3">
                  <c:v>Jun</c:v>
                </c:pt>
                <c:pt idx="4">
                  <c:v>Jul</c:v>
                </c:pt>
                <c:pt idx="5">
                  <c:v>Aug</c:v>
                </c:pt>
              </c:strCache>
            </c:strRef>
          </c:cat>
          <c:val>
            <c:numRef>
              <c:f>Sheet1!$E$2:$E$7</c:f>
              <c:numCache>
                <c:formatCode>General</c:formatCode>
                <c:ptCount val="6"/>
                <c:pt idx="0">
                  <c:v>0</c:v>
                </c:pt>
                <c:pt idx="1">
                  <c:v>0</c:v>
                </c:pt>
                <c:pt idx="2">
                  <c:v>2866.7</c:v>
                </c:pt>
                <c:pt idx="3">
                  <c:v>4806.5</c:v>
                </c:pt>
                <c:pt idx="4">
                  <c:v>9873.2</c:v>
                </c:pt>
                <c:pt idx="5">
                  <c:v>8730.0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CF42-451C-B4AD-906A8C0286DC}"/>
            </c:ext>
          </c:extLst>
        </c:ser>
        <c:ser>
          <c:idx val="4"/>
          <c:order val="4"/>
          <c:tx>
            <c:strRef>
              <c:f>Sheet1!$F$1</c:f>
              <c:strCache>
                <c:ptCount val="1"/>
                <c:pt idx="0">
                  <c:v>Claude Opus 4.7</c:v>
                </c:pt>
              </c:strCache>
            </c:strRef>
          </c:tx>
          <c:spPr>
            <a:solidFill>
              <a:srgbClr val="3DDC97"/>
            </a:solidFill>
          </c:spPr>
          <c:invertIfNegative val="1"/>
          <c:cat>
            <c:strRef>
              <c:f>Sheet1!$A$2:$A$7</c:f>
              <c:strCache>
                <c:ptCount val="6"/>
                <c:pt idx="0">
                  <c:v>Mar</c:v>
                </c:pt>
                <c:pt idx="1">
                  <c:v>Apr</c:v>
                </c:pt>
                <c:pt idx="2">
                  <c:v>May</c:v>
                </c:pt>
                <c:pt idx="3">
                  <c:v>Jun</c:v>
                </c:pt>
                <c:pt idx="4">
                  <c:v>Jul</c:v>
                </c:pt>
                <c:pt idx="5">
                  <c:v>Aug</c:v>
                </c:pt>
              </c:strCache>
            </c:strRef>
          </c:cat>
          <c:val>
            <c:numRef>
              <c:f>Sheet1!$F$2:$F$7</c:f>
              <c:numCache>
                <c:formatCode>General</c:formatCode>
                <c:ptCount val="6"/>
                <c:pt idx="0">
                  <c:v>0</c:v>
                </c:pt>
                <c:pt idx="1">
                  <c:v>0</c:v>
                </c:pt>
                <c:pt idx="2">
                  <c:v>786.8</c:v>
                </c:pt>
                <c:pt idx="3">
                  <c:v>2917.8</c:v>
                </c:pt>
                <c:pt idx="4">
                  <c:v>2438.5</c:v>
                </c:pt>
                <c:pt idx="5">
                  <c:v>805.6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CF42-451C-B4AD-906A8C0286DC}"/>
            </c:ext>
          </c:extLst>
        </c:ser>
        <c:ser>
          <c:idx val="5"/>
          <c:order val="5"/>
          <c:tx>
            <c:strRef>
              <c:f>Sheet1!$G$1</c:f>
              <c:strCache>
                <c:ptCount val="1"/>
                <c:pt idx="0">
                  <c:v>Claude Sonnet 5</c:v>
                </c:pt>
              </c:strCache>
            </c:strRef>
          </c:tx>
          <c:spPr>
            <a:solidFill>
              <a:srgbClr val="FF6B7A"/>
            </a:solidFill>
          </c:spPr>
          <c:invertIfNegative val="1"/>
          <c:cat>
            <c:strRef>
              <c:f>Sheet1!$A$2:$A$7</c:f>
              <c:strCache>
                <c:ptCount val="6"/>
                <c:pt idx="0">
                  <c:v>Mar</c:v>
                </c:pt>
                <c:pt idx="1">
                  <c:v>Apr</c:v>
                </c:pt>
                <c:pt idx="2">
                  <c:v>May</c:v>
                </c:pt>
                <c:pt idx="3">
                  <c:v>Jun</c:v>
                </c:pt>
                <c:pt idx="4">
                  <c:v>Jul</c:v>
                </c:pt>
                <c:pt idx="5">
                  <c:v>Aug</c:v>
                </c:pt>
              </c:strCache>
            </c:strRef>
          </c:cat>
          <c:val>
            <c:numRef>
              <c:f>Sheet1!$G$2:$G$7</c:f>
              <c:numCache>
                <c:formatCode>General</c:formatCode>
                <c:ptCount val="6"/>
                <c:pt idx="0">
                  <c:v>0</c:v>
                </c:pt>
                <c:pt idx="1">
                  <c:v>0</c:v>
                </c:pt>
                <c:pt idx="2">
                  <c:v>0</c:v>
                </c:pt>
                <c:pt idx="3">
                  <c:v>0</c:v>
                </c:pt>
                <c:pt idx="4">
                  <c:v>0</c:v>
                </c:pt>
                <c:pt idx="5">
                  <c:v>877.6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CF42-451C-B4AD-906A8C0286DC}"/>
            </c:ext>
          </c:extLst>
        </c:ser>
        <c:ser>
          <c:idx val="6"/>
          <c:order val="6"/>
          <c:tx>
            <c:strRef>
              <c:f>Sheet1!$H$1</c:f>
              <c:strCache>
                <c:ptCount val="1"/>
                <c:pt idx="0">
                  <c:v>Claude Haiku 4.5</c:v>
                </c:pt>
              </c:strCache>
            </c:strRef>
          </c:tx>
          <c:spPr>
            <a:solidFill>
              <a:srgbClr val="2AD38C"/>
            </a:solidFill>
          </c:spPr>
          <c:invertIfNegative val="1"/>
          <c:cat>
            <c:strRef>
              <c:f>Sheet1!$A$2:$A$7</c:f>
              <c:strCache>
                <c:ptCount val="6"/>
                <c:pt idx="0">
                  <c:v>Mar</c:v>
                </c:pt>
                <c:pt idx="1">
                  <c:v>Apr</c:v>
                </c:pt>
                <c:pt idx="2">
                  <c:v>May</c:v>
                </c:pt>
                <c:pt idx="3">
                  <c:v>Jun</c:v>
                </c:pt>
                <c:pt idx="4">
                  <c:v>Jul</c:v>
                </c:pt>
                <c:pt idx="5">
                  <c:v>Aug</c:v>
                </c:pt>
              </c:strCache>
            </c:strRef>
          </c:cat>
          <c:val>
            <c:numRef>
              <c:f>Sheet1!$H$2:$H$7</c:f>
              <c:numCache>
                <c:formatCode>General</c:formatCode>
                <c:ptCount val="6"/>
                <c:pt idx="0">
                  <c:v>0</c:v>
                </c:pt>
                <c:pt idx="1">
                  <c:v>0</c:v>
                </c:pt>
                <c:pt idx="2">
                  <c:v>57.1</c:v>
                </c:pt>
                <c:pt idx="3">
                  <c:v>159.3</c:v>
                </c:pt>
                <c:pt idx="4">
                  <c:v>157.4</c:v>
                </c:pt>
                <c:pt idx="5">
                  <c:v>154.2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CF42-451C-B4AD-906A8C0286DC}"/>
            </c:ext>
          </c:extLst>
        </c:ser>
        <c:ser>
          <c:idx val="7"/>
          <c:order val="7"/>
          <c:tx>
            <c:strRef>
              <c:f>Sheet1!$I$1</c:f>
              <c:strCache>
                <c:ptCount val="1"/>
                <c:pt idx="0">
                  <c:v>Claude Sonnet 4.5</c:v>
                </c:pt>
              </c:strCache>
            </c:strRef>
          </c:tx>
          <c:spPr>
            <a:solidFill>
              <a:srgbClr val="FFB84D"/>
            </a:solidFill>
          </c:spPr>
          <c:invertIfNegative val="1"/>
          <c:cat>
            <c:strRef>
              <c:f>Sheet1!$A$2:$A$7</c:f>
              <c:strCache>
                <c:ptCount val="6"/>
                <c:pt idx="0">
                  <c:v>Mar</c:v>
                </c:pt>
                <c:pt idx="1">
                  <c:v>Apr</c:v>
                </c:pt>
                <c:pt idx="2">
                  <c:v>May</c:v>
                </c:pt>
                <c:pt idx="3">
                  <c:v>Jun</c:v>
                </c:pt>
                <c:pt idx="4">
                  <c:v>Jul</c:v>
                </c:pt>
                <c:pt idx="5">
                  <c:v>Aug</c:v>
                </c:pt>
              </c:strCache>
            </c:strRef>
          </c:cat>
          <c:val>
            <c:numRef>
              <c:f>Sheet1!$I$2:$I$7</c:f>
              <c:numCache>
                <c:formatCode>General</c:formatCode>
                <c:ptCount val="6"/>
                <c:pt idx="0">
                  <c:v>0</c:v>
                </c:pt>
                <c:pt idx="1">
                  <c:v>0</c:v>
                </c:pt>
                <c:pt idx="2">
                  <c:v>9.6</c:v>
                </c:pt>
                <c:pt idx="3">
                  <c:v>58.6</c:v>
                </c:pt>
                <c:pt idx="4">
                  <c:v>77.4</c:v>
                </c:pt>
                <c:pt idx="5">
                  <c:v>54.8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CF42-451C-B4AD-906A8C0286DC}"/>
            </c:ext>
          </c:extLst>
        </c:ser>
        <c:ser>
          <c:idx val="8"/>
          <c:order val="8"/>
          <c:tx>
            <c:strRef>
              <c:f>Sheet1!$J$1</c:f>
              <c:strCache>
                <c:ptCount val="1"/>
                <c:pt idx="0">
                  <c:v>Amazon Bedrock Edition</c:v>
                </c:pt>
              </c:strCache>
            </c:strRef>
          </c:tx>
          <c:spPr>
            <a:solidFill>
              <a:srgbClr val="6C8CFF"/>
            </a:solidFill>
          </c:spPr>
          <c:invertIfNegative val="1"/>
          <c:cat>
            <c:strRef>
              <c:f>Sheet1!$A$2:$A$7</c:f>
              <c:strCache>
                <c:ptCount val="6"/>
                <c:pt idx="0">
                  <c:v>Mar</c:v>
                </c:pt>
                <c:pt idx="1">
                  <c:v>Apr</c:v>
                </c:pt>
                <c:pt idx="2">
                  <c:v>May</c:v>
                </c:pt>
                <c:pt idx="3">
                  <c:v>Jun</c:v>
                </c:pt>
                <c:pt idx="4">
                  <c:v>Jul</c:v>
                </c:pt>
                <c:pt idx="5">
                  <c:v>Aug</c:v>
                </c:pt>
              </c:strCache>
            </c:strRef>
          </c:cat>
          <c:val>
            <c:numRef>
              <c:f>Sheet1!$J$2:$J$7</c:f>
              <c:numCache>
                <c:formatCode>General</c:formatCode>
                <c:ptCount val="6"/>
                <c:pt idx="0">
                  <c:v>841.0</c:v>
                </c:pt>
                <c:pt idx="1">
                  <c:v>1609.0</c:v>
                </c:pt>
                <c:pt idx="2">
                  <c:v>0</c:v>
                </c:pt>
                <c:pt idx="3">
                  <c:v>0</c:v>
                </c:pt>
                <c:pt idx="4">
                  <c:v>0</c:v>
                </c:pt>
                <c:pt idx="5">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CF42-451C-B4AD-906A8C0286DC}"/>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a:noFill/>
            <a:prstDash val="solid"/>
          </a:ln>
        </c:spPr>
        <c:txPr>
          <a:bodyPr anchorCtr="1"/>
          <a:lstStyle/>
          <a:p>
            <a:pPr>
              <a:defRPr sz="1200" b="0" i="0" u="none">
                <a:solidFill>
                  <a:srgbClr val="91A0B7"/>
                </a:solidFill>
                <a:latin typeface="Calibri"/>
                <a:ea typeface="Calibri"/>
                <a:cs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a:solidFill>
                <a:srgbClr val="23304A"/>
              </a:solidFill>
              <a:prstDash val="solid"/>
            </a:ln>
          </c:spPr>
        </c:majorGridlines>
        <c:numFmt formatCode="&quot;$&quot;#,##0" sourceLinked="0"/>
        <c:majorTickMark val="out"/>
        <c:minorTickMark val="none"/>
        <c:tickLblPos val="nextTo"/>
        <c:spPr>
          <a:ln w="12700">
            <a:noFill/>
            <a:prstDash val="solid"/>
          </a:ln>
        </c:spPr>
        <c:txPr>
          <a:bodyPr anchorCtr="1"/>
          <a:lstStyle/>
          <a:p>
            <a:pPr>
              <a:defRPr sz="1200" b="0" i="0" u="none">
                <a:solidFill>
                  <a:srgbClr val="91A0B7"/>
                </a:solidFill>
                <a:latin typeface="Calibri"/>
                <a:ea typeface="Calibri"/>
                <a:cs typeface="Calibri"/>
              </a:defRPr>
            </a:pPr>
            <a:endParaRPr lang="en-US"/>
          </a:p>
        </c:txPr>
        <c:crossAx val="2094734554"/>
        <c:crosses val="autoZero"/>
        <c:crossBetween val="between"/>
      </c:valAx>
      <c:spPr>
        <a:solidFill>
          <a:srgbClr val="070A12"/>
        </a:solidFill>
        <a:ln>
          <a:noFill/>
        </a:ln>
      </c:spPr>
    </c:plotArea>
    <c:legend>
      <c:legendPos val="b"/>
      <c:overlay val="0"/>
      <c:txPr>
        <a:bodyPr anchorCtr="1"/>
        <a:lstStyle/>
        <a:p>
          <a:pPr>
            <a:defRPr sz="1100">
              <a:solidFill>
                <a:srgbClr val="91A0B7"/>
              </a:solidFill>
              <a:latin typeface="Calibri"/>
              <a:ea typeface="Calibri"/>
              <a:cs typeface="Calibri"/>
            </a:defRPr>
          </a:pPr>
          <a:endParaRPr lang="en-US"/>
        </a:p>
      </c:txPr>
    </c:legend>
    <c:plotVisOnly val="1"/>
    <c:dispBlanksAs val="zero"/>
    <c:showDLblsOverMax val="1"/>
  </c:chart>
  <c:spPr>
    <a:solidFill>
      <a:srgbClr val="070A12"/>
    </a:solidFill>
    <a:ln>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strRef>
              <c:f>Sheet1!$B$1</c:f>
              <c:strCache>
                <c:ptCount val="1"/>
                <c:pt idx="0">
                  <c:v>August</c:v>
                </c:pt>
              </c:strCache>
            </c:strRef>
          </c:tx>
          <c:spPr>
            <a:solidFill>
              <a:srgbClr val="2F8CFF"/>
            </a:solidFill>
          </c:spPr>
          <c:invertIfNegative val="1"/>
          <c:dPt>
            <c:idx val="1"/>
            <c:invertIfNegative val="0"/>
            <c:bubble3D val="0"/>
            <c:spPr>
              <a:solidFill>
                <a:srgbClr val="3DD9EB"/>
              </a:solidFill>
            </c:spPr>
            <c:extLst>
              <c:ext xmlns:c16="http://schemas.microsoft.com/office/drawing/2014/chart" uri="{C3380CC4-5D6E-409C-BE32-E72D297353CC}">
                <c16:uniqueId val="{00000001-6358-463F-811F-FA773145592F}"/>
              </c:ext>
            </c:extLst>
          </c:dPt>
          <c:dPt>
            <c:idx val="2"/>
            <c:invertIfNegative val="0"/>
            <c:bubble3D val="0"/>
            <c:spPr>
              <a:solidFill>
                <a:srgbClr val="FF9F43"/>
              </a:solidFill>
            </c:spPr>
            <c:extLst>
              <c:ext xmlns:c16="http://schemas.microsoft.com/office/drawing/2014/chart" uri="{C3380CC4-5D6E-409C-BE32-E72D297353CC}">
                <c16:uniqueId val="{00000003-6358-463F-811F-FA773145592F}"/>
              </c:ext>
            </c:extLst>
          </c:dPt>
          <c:dPt>
            <c:idx val="3"/>
            <c:invertIfNegative val="0"/>
            <c:bubble3D val="0"/>
            <c:spPr>
              <a:solidFill>
                <a:srgbClr val="B07CFF"/>
              </a:solidFill>
            </c:spPr>
            <c:extLst>
              <c:ext xmlns:c16="http://schemas.microsoft.com/office/drawing/2014/chart" uri="{C3380CC4-5D6E-409C-BE32-E72D297353CC}">
                <c16:uniqueId val="{00000005-6358-463F-811F-FA773145592F}"/>
              </c:ext>
            </c:extLst>
          </c:dPt>
          <c:dPt>
            <c:idx val="4"/>
            <c:invertIfNegative val="0"/>
            <c:bubble3D val="0"/>
            <c:spPr>
              <a:solidFill>
                <a:srgbClr val="3DDC97"/>
              </a:solidFill>
            </c:spPr>
            <c:extLst>
              <c:ext xmlns:c16="http://schemas.microsoft.com/office/drawing/2014/chart" uri="{C3380CC4-5D6E-409C-BE32-E72D297353CC}">
                <c16:uniqueId val="{00000007-6358-463F-811F-FA773145592F}"/>
              </c:ext>
            </c:extLst>
          </c:dPt>
          <c:dPt>
            <c:idx val="5"/>
            <c:invertIfNegative val="0"/>
            <c:bubble3D val="0"/>
            <c:spPr>
              <a:solidFill>
                <a:srgbClr val="FF6B7A"/>
              </a:solidFill>
            </c:spPr>
            <c:extLst>
              <c:ext xmlns:c16="http://schemas.microsoft.com/office/drawing/2014/chart" uri="{C3380CC4-5D6E-409C-BE32-E72D297353CC}">
                <c16:uniqueId val="{00000009-6358-463F-811F-FA773145592F}"/>
              </c:ext>
            </c:extLst>
          </c:dPt>
          <c:dPt>
            <c:idx val="6"/>
            <c:invertIfNegative val="0"/>
            <c:bubble3D val="0"/>
            <c:spPr>
              <a:solidFill>
                <a:srgbClr val="2AD38C"/>
              </a:solidFill>
            </c:spPr>
            <c:extLst>
              <c:ext xmlns:c16="http://schemas.microsoft.com/office/drawing/2014/chart" uri="{C3380CC4-5D6E-409C-BE32-E72D297353CC}">
                <c16:uniqueId val="{0000000B-6358-463F-811F-FA773145592F}"/>
              </c:ext>
            </c:extLst>
          </c:dPt>
          <c:dPt>
            <c:idx val="7"/>
            <c:invertIfNegative val="0"/>
            <c:bubble3D val="0"/>
            <c:spPr>
              <a:solidFill>
                <a:srgbClr val="FFB84D"/>
              </a:solidFill>
            </c:spPr>
            <c:extLst>
              <c:ext xmlns:c16="http://schemas.microsoft.com/office/drawing/2014/chart" uri="{C3380CC4-5D6E-409C-BE32-E72D297353CC}">
                <c16:uniqueId val="{0000000D-6358-463F-811F-FA773145592F}"/>
              </c:ext>
            </c:extLst>
          </c:dPt>
          <c:dPt>
            <c:idx val="8"/>
            <c:invertIfNegative val="0"/>
            <c:bubble3D val="0"/>
            <c:spPr>
              <a:solidFill>
                <a:srgbClr val="6C8CFF"/>
              </a:solidFill>
            </c:spPr>
            <c:extLst>
              <c:ext xmlns:c16="http://schemas.microsoft.com/office/drawing/2014/chart" uri="{C3380CC4-5D6E-409C-BE32-E72D297353CC}">
                <c16:uniqueId val="{0000000F-6358-463F-811F-FA773145592F}"/>
              </c:ext>
            </c:extLst>
          </c:dPt>
          <c:dPt>
            <c:idx val="9"/>
            <c:invertIfNegative val="0"/>
            <c:bubble3D val="0"/>
            <c:spPr>
              <a:solidFill>
                <a:srgbClr val="8FD8E8"/>
              </a:solidFill>
            </c:spPr>
            <c:extLst>
              <c:ext xmlns:c16="http://schemas.microsoft.com/office/drawing/2014/chart" uri="{C3380CC4-5D6E-409C-BE32-E72D297353CC}">
                <c16:uniqueId val="{00000011-6358-463F-811F-FA773145592F}"/>
              </c:ext>
            </c:extLst>
          </c:dPt>
          <c:dLbls>
            <c:numFmt formatCode="&quot;$&quot;#,##0" sourceLinked="0"/>
            <c:spPr>
              <a:noFill/>
              <a:ln>
                <a:noFill/>
              </a:ln>
            </c:spPr>
            <c:txPr>
              <a:bodyPr anchorCtr="1"/>
              <a:lstStyle/>
              <a:p>
                <a:pPr>
                  <a:defRPr sz="1100" b="0" i="0" u="none">
                    <a:solidFill>
                      <a:srgbClr val="F4F7FB"/>
                    </a:solidFill>
                    <a:latin typeface="Calibri"/>
                    <a:ea typeface="Calibri"/>
                    <a:cs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One-off purchases</c:v>
                </c:pt>
                <c:pt idx="1">
                  <c:v>F5 Rules for AWS WAF</c:v>
                </c:pt>
                <c:pt idx="2">
                  <c:v>Neo4j Aura</c:v>
                </c:pt>
                <c:pt idx="3">
                  <c:v>MongoDB Atlas</c:v>
                </c:pt>
                <c:pt idx="4">
                  <c:v>Claude models via Bedrock</c:v>
                </c:pt>
              </c:strCache>
            </c:strRef>
          </c:cat>
          <c:val>
            <c:numRef>
              <c:f>Sheet1!$B$2:$B$6</c:f>
              <c:numCache>
                <c:formatCode>General</c:formatCode>
                <c:ptCount val="5"/>
                <c:pt idx="0">
                  <c:v>0.0</c:v>
                </c:pt>
                <c:pt idx="1">
                  <c:v>91.7</c:v>
                </c:pt>
                <c:pt idx="2">
                  <c:v>133.9</c:v>
                </c:pt>
                <c:pt idx="3">
                  <c:v>14512.7</c:v>
                </c:pt>
                <c:pt idx="4">
                  <c:v>44739.0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2-6358-463F-811F-FA773145592F}"/>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a:noFill/>
            <a:prstDash val="solid"/>
          </a:ln>
        </c:spPr>
        <c:txPr>
          <a:bodyPr anchorCtr="1"/>
          <a:lstStyle/>
          <a:p>
            <a:pPr>
              <a:defRPr sz="1200" b="0" i="0" u="none">
                <a:solidFill>
                  <a:srgbClr val="91A0B7"/>
                </a:solidFill>
                <a:latin typeface="Calibri"/>
                <a:ea typeface="Calibri"/>
                <a:cs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a:solidFill>
                <a:srgbClr val="23304A"/>
              </a:solidFill>
              <a:prstDash val="solid"/>
            </a:ln>
          </c:spPr>
        </c:majorGridlines>
        <c:numFmt formatCode="&quot;$&quot;#,##0" sourceLinked="0"/>
        <c:majorTickMark val="out"/>
        <c:minorTickMark val="none"/>
        <c:tickLblPos val="low"/>
        <c:spPr>
          <a:ln w="12700">
            <a:noFill/>
            <a:prstDash val="solid"/>
          </a:ln>
        </c:spPr>
        <c:txPr>
          <a:bodyPr anchorCtr="1"/>
          <a:lstStyle/>
          <a:p>
            <a:pPr>
              <a:defRPr sz="1200" b="0" i="0" u="none">
                <a:solidFill>
                  <a:srgbClr val="91A0B7"/>
                </a:solidFill>
                <a:latin typeface="Calibri"/>
                <a:ea typeface="Calibri"/>
                <a:cs typeface="Calibri"/>
              </a:defRPr>
            </a:pPr>
            <a:endParaRPr lang="en-US"/>
          </a:p>
        </c:txPr>
        <c:crossAx val="2094734554"/>
        <c:crosses val="autoZero"/>
        <c:crossBetween val="between"/>
      </c:valAx>
      <c:spPr>
        <a:solidFill>
          <a:srgbClr val="070A12"/>
        </a:solidFill>
        <a:ln>
          <a:noFill/>
        </a:ln>
      </c:spPr>
    </c:plotArea>
    <c:plotVisOnly val="1"/>
    <c:dispBlanksAs val="zero"/>
    <c:showDLblsOverMax val="1"/>
  </c:chart>
  <c:spPr>
    <a:solidFill>
      <a:srgbClr val="070A12"/>
    </a:solidFill>
    <a:ln>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Sheet1!$B$2:$B$9</c:f>
              <c:numCache>
                <c:formatCode>General</c:formatCode>
                <c:ptCount val="8"/>
                <c:pt idx="0">
                  <c:v>47462</c:v>
                </c:pt>
                <c:pt idx="1">
                  <c:v>49198</c:v>
                </c:pt>
                <c:pt idx="2">
                  <c:v>54536</c:v>
                </c:pt>
                <c:pt idx="3">
                  <c:v>50235</c:v>
                </c:pt>
                <c:pt idx="4">
                  <c:v>43925</c:v>
                </c:pt>
                <c:pt idx="5">
                  <c:v>44390</c:v>
                </c:pt>
                <c:pt idx="6">
                  <c:v>49118</c:v>
                </c:pt>
                <c:pt idx="7">
                  <c:v>50888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6AC-4CD9-89F0-D0FAF12DA404}"/>
            </c:ext>
          </c:extLst>
        </c:ser>
        <c:ser>
          <c:idx val="1"/>
          <c:order val="1"/>
          <c:tx>
            <c:strRef>
              <c:f>Sheet1!$C$1</c:f>
              <c:strCache>
                <c:ptCount val="1"/>
                <c:pt idx="0">
                  <c:v>sap</c:v>
                </c:pt>
              </c:strCache>
            </c:strRef>
          </c:tx>
          <c:spPr>
            <a:solidFill>
              <a:srgbClr val="3DD9EB"/>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Sheet1!$C$2:$C$9</c:f>
              <c:numCache>
                <c:formatCode>General</c:formatCode>
                <c:ptCount val="8"/>
                <c:pt idx="0">
                  <c:v>42266</c:v>
                </c:pt>
                <c:pt idx="1">
                  <c:v>39098</c:v>
                </c:pt>
                <c:pt idx="2">
                  <c:v>41546</c:v>
                </c:pt>
                <c:pt idx="3">
                  <c:v>40825</c:v>
                </c:pt>
                <c:pt idx="4">
                  <c:v>46601</c:v>
                </c:pt>
                <c:pt idx="5">
                  <c:v>42665</c:v>
                </c:pt>
                <c:pt idx="6">
                  <c:v>40925</c:v>
                </c:pt>
                <c:pt idx="7">
                  <c:v>41324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6AC-4CD9-89F0-D0FAF12DA404}"/>
            </c:ext>
          </c:extLst>
        </c:ser>
        <c:ser>
          <c:idx val="2"/>
          <c:order val="2"/>
          <c:tx>
            <c:strRef>
              <c:f>Sheet1!$D$1</c:f>
              <c:strCache>
                <c:ptCount val="1"/>
                <c:pt idx="0">
                  <c:v>cloudit</c:v>
                </c:pt>
              </c:strCache>
            </c:strRef>
          </c:tx>
          <c:spPr>
            <a:solidFill>
              <a:srgbClr val="FF9F43"/>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Sheet1!$D$2:$D$9</c:f>
              <c:numCache>
                <c:formatCode>General</c:formatCode>
                <c:ptCount val="8"/>
                <c:pt idx="0">
                  <c:v>30915</c:v>
                </c:pt>
                <c:pt idx="1">
                  <c:v>24681</c:v>
                </c:pt>
                <c:pt idx="2">
                  <c:v>40730</c:v>
                </c:pt>
                <c:pt idx="3">
                  <c:v>29196</c:v>
                </c:pt>
                <c:pt idx="4">
                  <c:v>28615</c:v>
                </c:pt>
                <c:pt idx="5">
                  <c:v>28585</c:v>
                </c:pt>
                <c:pt idx="6">
                  <c:v>33421</c:v>
                </c:pt>
                <c:pt idx="7">
                  <c:v>32087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56AC-4CD9-89F0-D0FAF12DA404}"/>
            </c:ext>
          </c:extLst>
        </c:ser>
        <c:ser>
          <c:idx val="3"/>
          <c:order val="3"/>
          <c:tx>
            <c:strRef>
              <c:f>Sheet1!$E$1</c:f>
              <c:strCache>
                <c:ptCount val="1"/>
                <c:pt idx="0">
                  <c:v>aifactory</c:v>
                </c:pt>
              </c:strCache>
            </c:strRef>
          </c:tx>
          <c:spPr>
            <a:solidFill>
              <a:srgbClr val="B07CFF"/>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Sheet1!$E$2:$E$9</c:f>
              <c:numCache>
                <c:formatCode>General</c:formatCode>
                <c:ptCount val="8"/>
                <c:pt idx="0">
                  <c:v>854</c:v>
                </c:pt>
                <c:pt idx="1">
                  <c:v>3478</c:v>
                </c:pt>
                <c:pt idx="2">
                  <c:v>12632</c:v>
                </c:pt>
                <c:pt idx="3">
                  <c:v>11676</c:v>
                </c:pt>
                <c:pt idx="4">
                  <c:v>13656</c:v>
                </c:pt>
                <c:pt idx="5">
                  <c:v>26476</c:v>
                </c:pt>
                <c:pt idx="6">
                  <c:v>24531</c:v>
                </c:pt>
                <c:pt idx="7">
                  <c:v>23115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56AC-4CD9-89F0-D0FAF12DA404}"/>
            </c:ext>
          </c:extLst>
        </c:ser>
        <c:ser>
          <c:idx val="4"/>
          <c:order val="4"/>
          <c:tx>
            <c:strRef>
              <c:f>Sheet1!$F$1</c:f>
              <c:strCache>
                <c:ptCount val="1"/>
                <c:pt idx="0">
                  <c:v>other</c:v>
                </c:pt>
              </c:strCache>
            </c:strRef>
          </c:tx>
          <c:spPr>
            <a:solidFill>
              <a:srgbClr val="3DDC97"/>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Sheet1!$F$2:$F$9</c:f>
              <c:numCache>
                <c:formatCode>General</c:formatCode>
                <c:ptCount val="8"/>
                <c:pt idx="0">
                  <c:v>4371</c:v>
                </c:pt>
                <c:pt idx="1">
                  <c:v>5240</c:v>
                </c:pt>
                <c:pt idx="2">
                  <c:v>5614</c:v>
                </c:pt>
                <c:pt idx="3">
                  <c:v>5760</c:v>
                </c:pt>
                <c:pt idx="4">
                  <c:v>8681</c:v>
                </c:pt>
                <c:pt idx="5">
                  <c:v>18094</c:v>
                </c:pt>
                <c:pt idx="6">
                  <c:v>22410</c:v>
                </c:pt>
                <c:pt idx="7">
                  <c:v>13993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56AC-4CD9-89F0-D0FAF12DA404}"/>
            </c:ext>
          </c:extLst>
        </c:ser>
        <c:ser>
          <c:idx val="5"/>
          <c:order val="5"/>
          <c:tx>
            <c:strRef>
              <c:f>Sheet1!$G$1</c:f>
              <c:strCache>
                <c:ptCount val="1"/>
                <c:pt idx="0">
                  <c:v>actuary</c:v>
                </c:pt>
              </c:strCache>
            </c:strRef>
          </c:tx>
          <c:spPr>
            <a:solidFill>
              <a:srgbClr val="FF6B7A"/>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Sheet1!$G$2:$G$9</c:f>
              <c:numCache>
                <c:formatCode>General</c:formatCode>
                <c:ptCount val="8"/>
                <c:pt idx="0">
                  <c:v>15102</c:v>
                </c:pt>
                <c:pt idx="1">
                  <c:v>4959</c:v>
                </c:pt>
                <c:pt idx="2">
                  <c:v>3549</c:v>
                </c:pt>
                <c:pt idx="3">
                  <c:v>5341</c:v>
                </c:pt>
                <c:pt idx="4">
                  <c:v>4672</c:v>
                </c:pt>
                <c:pt idx="5">
                  <c:v>2733</c:v>
                </c:pt>
                <c:pt idx="6">
                  <c:v>4058</c:v>
                </c:pt>
                <c:pt idx="7">
                  <c:v>4472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56AC-4CD9-89F0-D0FAF12DA404}"/>
            </c:ext>
          </c:extLst>
        </c:ser>
        <c:ser>
          <c:idx val="6"/>
          <c:order val="6"/>
          <c:tx>
            <c:strRef>
              <c:f>Sheet1!$H$1</c:f>
              <c:strCache>
                <c:ptCount val="1"/>
                <c:pt idx="0">
                  <c:v>Risk Agility</c:v>
                </c:pt>
              </c:strCache>
            </c:strRef>
          </c:tx>
          <c:spPr>
            <a:solidFill>
              <a:srgbClr val="2AD38C"/>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Sheet1!$H$2:$H$9</c:f>
              <c:numCache>
                <c:formatCode>General</c:formatCode>
                <c:ptCount val="8"/>
                <c:pt idx="0">
                  <c:v>13063</c:v>
                </c:pt>
                <c:pt idx="1">
                  <c:v>5274</c:v>
                </c:pt>
                <c:pt idx="2">
                  <c:v>2617</c:v>
                </c:pt>
                <c:pt idx="3">
                  <c:v>5768</c:v>
                </c:pt>
                <c:pt idx="4">
                  <c:v>2842</c:v>
                </c:pt>
                <c:pt idx="5">
                  <c:v>1031</c:v>
                </c:pt>
                <c:pt idx="6">
                  <c:v>1032</c:v>
                </c:pt>
                <c:pt idx="7">
                  <c:v>1032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56AC-4CD9-89F0-D0FAF12DA404}"/>
            </c:ext>
          </c:extLst>
        </c:ser>
        <c:ser>
          <c:idx val="7"/>
          <c:order val="7"/>
          <c:tx>
            <c:strRef>
              <c:f>Sheet1!$I$1</c:f>
              <c:strCache>
                <c:ptCount val="1"/>
                <c:pt idx="0">
                  <c:v>itsec</c:v>
                </c:pt>
              </c:strCache>
            </c:strRef>
          </c:tx>
          <c:spPr>
            <a:solidFill>
              <a:srgbClr val="FFB84D"/>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Sheet1!$I$2:$I$9</c:f>
              <c:numCache>
                <c:formatCode>General</c:formatCode>
                <c:ptCount val="8"/>
                <c:pt idx="0">
                  <c:v>2082</c:v>
                </c:pt>
                <c:pt idx="1">
                  <c:v>1734</c:v>
                </c:pt>
                <c:pt idx="2">
                  <c:v>1908</c:v>
                </c:pt>
                <c:pt idx="3">
                  <c:v>1898</c:v>
                </c:pt>
                <c:pt idx="4">
                  <c:v>2047</c:v>
                </c:pt>
                <c:pt idx="5">
                  <c:v>2059</c:v>
                </c:pt>
                <c:pt idx="6">
                  <c:v>2221</c:v>
                </c:pt>
                <c:pt idx="7">
                  <c:v>2304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56AC-4CD9-89F0-D0FAF12DA404}"/>
            </c:ext>
          </c:extLst>
        </c:ser>
        <c:ser>
          <c:idx val="8"/>
          <c:order val="8"/>
          <c:tx>
            <c:strRef>
              <c:f>Sheet1!$J$1</c:f>
              <c:strCache>
                <c:ptCount val="1"/>
                <c:pt idx="0">
                  <c:v>All other</c:v>
                </c:pt>
              </c:strCache>
            </c:strRef>
          </c:tx>
          <c:spPr>
            <a:solidFill>
              <a:srgbClr val="6C8CFF"/>
            </a:solidFill>
          </c:spPr>
          <c:invertIfNegative val="1"/>
          <c:cat>
            <c:strRef>
              <c:f>Sheet1!$A$2:$A$9</c:f>
              <c:strCache>
                <c:ptCount val="8"/>
                <c:pt idx="0">
                  <c:v>Jan</c:v>
                </c:pt>
                <c:pt idx="1">
                  <c:v>Feb</c:v>
                </c:pt>
                <c:pt idx="2">
                  <c:v>Mar</c:v>
                </c:pt>
                <c:pt idx="3">
                  <c:v>Apr</c:v>
                </c:pt>
                <c:pt idx="4">
                  <c:v>May</c:v>
                </c:pt>
                <c:pt idx="5">
                  <c:v>Jun</c:v>
                </c:pt>
                <c:pt idx="6">
                  <c:v>Jul</c:v>
                </c:pt>
                <c:pt idx="7">
                  <c:v>Aug</c:v>
                </c:pt>
              </c:strCache>
            </c:strRef>
          </c:cat>
          <c:val>
            <c:numRef>
              <c:f>Sheet1!$J$2:$J$9</c:f>
              <c:numCache>
                <c:formatCode>General</c:formatCode>
                <c:ptCount val="8"/>
                <c:pt idx="0">
                  <c:v>875</c:v>
                </c:pt>
                <c:pt idx="1">
                  <c:v>2080</c:v>
                </c:pt>
                <c:pt idx="2">
                  <c:v>2067</c:v>
                </c:pt>
                <c:pt idx="3">
                  <c:v>1879</c:v>
                </c:pt>
                <c:pt idx="4">
                  <c:v>1224</c:v>
                </c:pt>
                <c:pt idx="5">
                  <c:v>1373</c:v>
                </c:pt>
                <c:pt idx="6">
                  <c:v>9201</c:v>
                </c:pt>
                <c:pt idx="7">
                  <c:v>11025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8-56AC-4CD9-89F0-D0FAF12DA40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a:noFill/>
            <a:prstDash val="solid"/>
          </a:ln>
        </c:spPr>
        <c:txPr>
          <a:bodyPr anchorCtr="1"/>
          <a:lstStyle/>
          <a:p>
            <a:pPr>
              <a:defRPr sz="1200" b="0" i="0" u="none">
                <a:solidFill>
                  <a:srgbClr val="91A0B7"/>
                </a:solidFill>
                <a:latin typeface="Calibri"/>
                <a:ea typeface="Calibri"/>
                <a:cs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a:solidFill>
                <a:srgbClr val="23304A"/>
              </a:solidFill>
              <a:prstDash val="solid"/>
            </a:ln>
          </c:spPr>
        </c:majorGridlines>
        <c:numFmt formatCode="&quot;$&quot;#,##0" sourceLinked="0"/>
        <c:majorTickMark val="out"/>
        <c:minorTickMark val="none"/>
        <c:tickLblPos val="nextTo"/>
        <c:spPr>
          <a:ln w="12700">
            <a:noFill/>
            <a:prstDash val="solid"/>
          </a:ln>
        </c:spPr>
        <c:txPr>
          <a:bodyPr anchorCtr="1"/>
          <a:lstStyle/>
          <a:p>
            <a:pPr>
              <a:defRPr sz="1200" b="0" i="0" u="none">
                <a:solidFill>
                  <a:srgbClr val="91A0B7"/>
                </a:solidFill>
                <a:latin typeface="Calibri"/>
                <a:ea typeface="Calibri"/>
                <a:cs typeface="Calibri"/>
              </a:defRPr>
            </a:pPr>
            <a:endParaRPr lang="en-US"/>
          </a:p>
        </c:txPr>
        <c:crossAx val="2094734554"/>
        <c:crosses val="autoZero"/>
        <c:crossBetween val="between"/>
      </c:valAx>
      <c:spPr>
        <a:solidFill>
          <a:srgbClr val="070A12"/>
        </a:solidFill>
        <a:ln>
          <a:noFill/>
        </a:ln>
      </c:spPr>
    </c:plotArea>
    <c:legend>
      <c:legendPos val="b"/>
      <c:overlay val="0"/>
      <c:txPr>
        <a:bodyPr anchorCtr="1"/>
        <a:lstStyle/>
        <a:p>
          <a:pPr>
            <a:defRPr sz="1100">
              <a:solidFill>
                <a:srgbClr val="91A0B7"/>
              </a:solidFill>
              <a:latin typeface="Calibri"/>
              <a:ea typeface="Calibri"/>
              <a:cs typeface="Calibri"/>
            </a:defRPr>
          </a:pPr>
          <a:endParaRPr lang="en-US"/>
        </a:p>
      </c:txPr>
    </c:legend>
    <c:plotVisOnly val="1"/>
    <c:dispBlanksAs val="zero"/>
    <c:showDLblsOverMax val="1"/>
  </c:chart>
  <c:spPr>
    <a:solidFill>
      <a:srgbClr val="070A12"/>
    </a:solidFill>
    <a:ln>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a:p>
            <a:r>
              <a:t>
PRESENTER CUE: frame the discussion as both a cloud-spend review and an AI-governance decision.
[Sources]
- No external sources; title reflects the deck's internal scope.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a:p>
            <a:r>
              <a:t>
PRESENTER CUE: distinguish the $283.6K July monthly consumption from the $3.4M annualized run-rate. The annualized figure is July multiplied by twelve, not a forecast.
[Sources]
- Internal source: slide 2 provider amounts and existing speaker-note calculation.
[/Sources]</a:t>
            </a:r>
          </a:p>
          <a:p>
            <a:r>
              <a:t>
PRESENTER CUE: lead with the $3.4M annualized run-rate, then separate the $283.6K July monthly consumption. Provider colors match the figures and the January movement callouts.
[Sources]
- Internal source: slide 2 provider amounts and existing speaker-note calculations.
[/Sources]</a:t>
            </a:r>
          </a:p>
          <a:p>
            <a:r>
              <a:t>
PRESENTER CUE: the headline no longer repeats the KPI. The three movement bullets are vertically centered beside their matching lines for distance viewing.
[Sources]
- No external sources; formatting-only refinement.
[/Sources]</a:t>
            </a:r>
          </a:p>
          <a:p>
            <a:r>
              <a:t>
PRESENTER CUE: the right-hand provider cards are restored to a neutral, consistent treatment. The left-hand movement summary is intentionally limited to three factual figures.
[Sources]
- Internal source: slide 2 provider amounts and January-to-July differences.
[/Sources]</a:t>
            </a:r>
          </a:p>
          <a:p>
            <a:r>
              <a:t>
PRESENTER CUE: provider cards use a consistent color key—Azure blue, AWS orange and GCP green—while retaining the exact July amounts and shares.
[Sources]
- No external sources; formatting-only refinement.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a:p>
            <a:r>
              <a:t>
PRESENTER CUE: keep the visible comparison on one basis—December annualized run-rate. Base case is about $4.01M; faster case is about $5.78M; the gap is about $1.77M. The cumulative cash difference from August through December is about $400K and is intentionally kept in the notes, not on the slide.
[Sources]
- Internal source: slide 3 chart series and existing scenario assumptions.
[/Sources]</a:t>
            </a:r>
          </a:p>
          <a:p>
            <a:r>
              <a:t>
PRESENTER CUE: the chart now begins at the July actual of $283.6K per month and forks into only two scenario paths. The historical Jan–July line was removed because PowerPoint displayed its empty future months as a misleading downward continuation.
[Sources]
- Internal source: slide 3 scenario series and July actual in the deck.
[/Sources]</a:t>
            </a:r>
          </a:p>
          <a:p>
            <a:r>
              <a:t>
PRESENTER CUE: chart and KPI cards now use the same annualized run-rate basis. Both paths start at July's $3.40M annualized run-rate; the blue base path ends at $4.01M and the orange faster path ends at $5.78M in December.
[Sources]
- Internal source: slide 3 monthly scenario values multiplied by twelve.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platform cut of the slide that follows. Same basis, same total:
  $199,531 of billed AI, January to July 2026.
  Azure AI Foundry             $87,158  43.7%  +240% Jan to Jul
  GitHub Copilot               $57,177  28.7%  +593% Jan to Jul
  AWS Bedrock (Claude)         $42,056  21.1%  First billed in Mar
  Cowork                        $9,444  4.7%  $97 to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same footing as the rest of
the deck, and that credit has its own slide too.
IF ASKED WHY THIS DIFFERS FROM THE v33 VERSION: v33 showed the May-July
invoiced window. This is the full seven months, on the deck's one basis.</a:t>
            </a:r>
          </a:p>
          <a:p>
            <a:r>
              <a:t>
PRESENTER CUE: the AWS Bedrock card now compares the first billed month, March at $841, with July at $25,288.
[Sources]
- Internal source: slide 10 Bedrock monthly series.
[/Sources]</a:t>
            </a:r>
          </a:p>
          <a:p>
            <a:r>
              <a:t>
PRESENTER CUE: Google Vertex AI now compares May, the first meaningful billed month at $379, with July at $2,359. Bedrock's March starting point is highlighted in white.
[Sources]
- Internal source: slide 12 Vertex AI monthly series and slide 10 Bedrock series.
[/Sources]</a:t>
            </a:r>
          </a:p>
          <a:p>
            <a:r>
              <a:t>
PRESENTER CUE: platform names and all comparison-month labels are white for plasma-screen contrast; card accents and growth badges retain the visual differentiation.
[Sources]
- No external sources; formatting-only refinement.
[/Sources]</a:t>
            </a:r>
          </a:p>
          <a:p>
            <a:r>
              <a:t>
PRESENTER CUE: the Bedrock title is shortened to stay inside its card; the March $841 and May $379 values align with the right-hand value column.
[Sources]
- No external sources; layout-only refinement.
[/Sources]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chart" Target="../charts/char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9E8CDAE-AA15-4239-8246-49BC801485BB}"/>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410FE5F4-F73F-46CD-9BF9-881B11357234}"/>
              </a:ext>
            </a:extLst>
          </p:cNvPr>
          <p:cNvSpPr>
            <a:spLocks noGrp="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a:p>
        </p:txBody>
      </p:sp>
      <p:sp>
        <p:nvSpPr>
          <p:cNvPr id="4" name="Shape 2">
            <a:extLst>
              <a:ext uri="{FF2B5EF4-FFF2-40B4-BE49-F238E27FC236}">
                <a16:creationId xmlns:a16="http://schemas.microsoft.com/office/drawing/2014/main" id="{55E898D1-9983-4B1A-B6BB-C33A0D087E35}"/>
              </a:ext>
            </a:extLst>
          </p:cNvPr>
          <p:cNvSpPr>
            <a:spLocks noGrp="1"/>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a:p>
        </p:txBody>
      </p:sp>
      <p:sp>
        <p:nvSpPr>
          <p:cNvPr id="5" name="Text 3">
            <a:extLst>
              <a:ext uri="{FF2B5EF4-FFF2-40B4-BE49-F238E27FC236}">
                <a16:creationId xmlns:a16="http://schemas.microsoft.com/office/drawing/2014/main" id="{2A917600-8880-480C-B9F3-9F933A3E4933}"/>
              </a:ext>
            </a:extLst>
          </p:cNvPr>
          <p:cNvSpPr>
            <a:spLocks noGrp="1"/>
          </p:cNvSpPr>
          <p:nvPr/>
        </p:nvSpPr>
        <p:spPr>
          <a:xfrm>
            <a:off x="457200" y="2331720"/>
            <a:ext cx="8229600" cy="274320"/>
          </a:xfrm>
          <a:prstGeom prst="rect">
            <a:avLst/>
          </a:prstGeom>
          <a:noFill/>
        </p:spPr>
        <p:txBody>
          <a:bodyPr wrap="none" lIns="0" tIns="0" rIns="0" bIns="0" anchor="ctr">
            <a:noAutofit/>
          </a:bodyPr>
          <a:lstStyle/>
          <a:p>
            <a:pPr marL="0" indent="0" algn="l">
              <a:buNone/>
              <a:defRPr sz="1350" b="1">
                <a:solidFill>
                  <a:srgbClr val="B07CFF"/>
                </a:solidFill>
                <a:latin typeface="Calibri"/>
                <a:ea typeface="Calibri"/>
                <a:cs typeface="Calibri"/>
              </a:defRPr>
            </a:pPr>
            <a:r>
              <a:rPr sz="1350" b="1" spc="300">
                <a:solidFill>
                  <a:srgbClr val="B07CFF"/>
                </a:solidFill>
                <a:latin typeface="Calibri"/>
                <a:ea typeface="Calibri"/>
                <a:cs typeface="Calibri"/>
              </a:rPr>
              <a:t>HAREL INSURANCE / CLOUD FINOPS</a:t>
            </a:r>
            <a:endParaRPr sz="1300"/>
          </a:p>
        </p:txBody>
      </p:sp>
      <p:sp>
        <p:nvSpPr>
          <p:cNvPr id="6" name="Text 4">
            <a:extLst>
              <a:ext uri="{FF2B5EF4-FFF2-40B4-BE49-F238E27FC236}">
                <a16:creationId xmlns:a16="http://schemas.microsoft.com/office/drawing/2014/main" id="{44B844C0-EB53-4B7F-82B8-9C3220608104}"/>
              </a:ext>
            </a:extLst>
          </p:cNvPr>
          <p:cNvSpPr>
            <a:spLocks noGrp="1"/>
          </p:cNvSpPr>
          <p:nvPr/>
        </p:nvSpPr>
        <p:spPr>
          <a:xfrm>
            <a:off x="457200" y="2651760"/>
            <a:ext cx="10820400" cy="1005840"/>
          </a:xfrm>
          <a:prstGeom prst="rect">
            <a:avLst/>
          </a:prstGeom>
          <a:noFill/>
        </p:spPr>
        <p:txBody>
          <a:bodyPr wrap="none" lIns="0" tIns="0" rIns="0" bIns="0" anchor="ctr">
            <a:noAutofit/>
          </a:bodyPr>
          <a:lstStyle/>
          <a:p>
            <a:pPr marL="0" indent="0" algn="l">
              <a:buNone/>
              <a:defRPr sz="5400" b="1">
                <a:solidFill>
                  <a:srgbClr val="F4F7FB"/>
                </a:solidFill>
                <a:latin typeface="Calibri"/>
                <a:ea typeface="Calibri"/>
                <a:cs typeface="Calibri"/>
              </a:defRPr>
            </a:pPr>
            <a:r>
              <a:rPr sz="5400" b="1">
                <a:solidFill>
                  <a:srgbClr val="F4F7FB"/>
                </a:solidFill>
                <a:latin typeface="Calibri"/>
                <a:ea typeface="Calibri"/>
                <a:cs typeface="Calibri"/>
              </a:rPr>
              <a:t>August 2026 — what changed</a:t>
            </a:r>
            <a:endParaRPr sz="4000"/>
          </a:p>
        </p:txBody>
      </p:sp>
      <p:sp>
        <p:nvSpPr>
          <p:cNvPr id="7" name="Text 5">
            <a:extLst>
              <a:ext uri="{FF2B5EF4-FFF2-40B4-BE49-F238E27FC236}">
                <a16:creationId xmlns:a16="http://schemas.microsoft.com/office/drawing/2014/main" id="{F55E03E6-96CA-4612-84B7-EBCC836597FF}"/>
              </a:ext>
            </a:extLst>
          </p:cNvPr>
          <p:cNvSpPr>
            <a:spLocks noGrp="1"/>
          </p:cNvSpPr>
          <p:nvPr/>
        </p:nvSpPr>
        <p:spPr>
          <a:xfrm>
            <a:off x="457200" y="3703320"/>
            <a:ext cx="7863840" cy="457200"/>
          </a:xfrm>
          <a:prstGeom prst="rect">
            <a:avLst/>
          </a:prstGeom>
          <a:noFill/>
        </p:spPr>
        <p:txBody>
          <a:bodyPr wrap="none" lIns="0" tIns="0" rIns="0" bIns="0" anchor="ctr">
            <a:noAutofit/>
          </a:bodyPr>
          <a:lstStyle/>
          <a:p>
            <a:pPr marL="0" indent="0" algn="l">
              <a:buNone/>
              <a:defRPr sz="1950" b="0">
                <a:solidFill>
                  <a:srgbClr val="C5CCDA"/>
                </a:solidFill>
                <a:latin typeface="Calibri"/>
                <a:ea typeface="Calibri"/>
                <a:cs typeface="Calibri"/>
              </a:defRPr>
            </a:pPr>
            <a:r>
              <a:rPr sz="1950" b="0">
                <a:solidFill>
                  <a:srgbClr val="C5CCDA"/>
                </a:solidFill>
                <a:latin typeface="Calibri"/>
                <a:ea typeface="Calibri"/>
                <a:cs typeface="Calibri"/>
              </a:rPr>
              <a:t>August 2026 consumption · CIO briefing</a:t>
            </a:r>
            <a:endParaRPr sz="1500"/>
          </a:p>
        </p:txBody>
      </p:sp>
    </p:spTree>
    <p:extLst>
      <p:ext uri="{BB962C8B-B14F-4D97-AF65-F5344CB8AC3E}">
        <p14:creationId xmlns:p14="http://schemas.microsoft.com/office/powerpoint/2010/main" val="5981282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172000D-09F4-4B30-8926-21A8EA339E19}"/>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8F06C97F-3216-4E9E-BEE0-3A4CD07E61C9}"/>
              </a:ext>
            </a:extLst>
          </p:cNvPr>
          <p:cNvSpPr>
            <a:spLocks noGrp="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a:p>
        </p:txBody>
      </p:sp>
      <p:sp>
        <p:nvSpPr>
          <p:cNvPr id="4" name="Text 2">
            <a:extLst>
              <a:ext uri="{FF2B5EF4-FFF2-40B4-BE49-F238E27FC236}">
                <a16:creationId xmlns:a16="http://schemas.microsoft.com/office/drawing/2014/main" id="{8D854B58-E70D-4DAF-8550-06751F3C4F2E}"/>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FF9F43"/>
                </a:solidFill>
                <a:latin typeface="Calibri"/>
                <a:ea typeface="Calibri"/>
                <a:cs typeface="Calibri"/>
              </a:rPr>
              <a:t>AUGUST SCORECARD</a:t>
            </a:r>
            <a:endParaRPr sz="1300"/>
          </a:p>
        </p:txBody>
      </p:sp>
      <p:sp>
        <p:nvSpPr>
          <p:cNvPr id="5" name="Text 3">
            <a:extLst>
              <a:ext uri="{FF2B5EF4-FFF2-40B4-BE49-F238E27FC236}">
                <a16:creationId xmlns:a16="http://schemas.microsoft.com/office/drawing/2014/main" id="{92CB2E23-2185-4936-8175-8F040A2BCF6A}"/>
              </a:ext>
            </a:extLst>
          </p:cNvPr>
          <p:cNvSpPr>
            <a:spLocks noGrp="1"/>
          </p:cNvSpPr>
          <p:nvPr/>
        </p:nvSpPr>
        <p:spPr>
          <a:xfrm>
            <a:off x="457200" y="548640"/>
            <a:ext cx="7680960" cy="566928"/>
          </a:xfrm>
          <a:prstGeom prst="rect">
            <a:avLst/>
          </a:prstGeom>
          <a:noFill/>
        </p:spPr>
        <p:txBody>
          <a:bodyPr wrap="square" lIns="0" tIns="0" rIns="0" bIns="0" anchor="ctr"/>
          <a:lstStyle/>
          <a:p>
            <a:pPr marL="0" indent="0">
              <a:buNone/>
            </a:pPr>
            <a:r>
              <a:t>Four claims from July, tested</a:t>
            </a:r>
            <a:endParaRPr sz="2400"/>
          </a:p>
        </p:txBody>
      </p:sp>
      <p:sp>
        <p:nvSpPr>
          <p:cNvPr id="6" name="Text 4">
            <a:extLst>
              <a:ext uri="{FF2B5EF4-FFF2-40B4-BE49-F238E27FC236}">
                <a16:creationId xmlns:a16="http://schemas.microsoft.com/office/drawing/2014/main" id="{25D4BE8B-83EE-45C6-AD8A-6FBEFADCD957}"/>
              </a:ext>
            </a:extLst>
          </p:cNvPr>
          <p:cNvSpPr>
            <a:spLocks noGrp="1"/>
          </p:cNvSpPr>
          <p:nvPr/>
        </p:nvSpPr>
        <p:spPr>
          <a:xfrm>
            <a:off x="8321040" y="493776"/>
            <a:ext cx="3413455" cy="658368"/>
          </a:xfrm>
          <a:prstGeom prst="rect">
            <a:avLst/>
          </a:prstGeom>
          <a:noFill/>
        </p:spPr>
        <p:txBody>
          <a:bodyPr wrap="square" lIns="0" tIns="0" rIns="0" bIns="0" anchor="t"/>
          <a:lstStyle/>
          <a:p>
            <a:pPr marL="0" indent="0" algn="r">
              <a:lnSpc>
                <a:spcPct val="115000"/>
              </a:lnSpc>
              <a:buNone/>
            </a:pPr>
            <a:r>
              <a:t>Like-for-like with July throughout: excluding Marketplace, gross of credits.</a:t>
            </a:r>
            <a:endParaRPr sz="1200"/>
          </a:p>
        </p:txBody>
      </p:sp>
      <p:sp>
        <p:nvSpPr>
          <p:cNvPr id="7" name="Text 5">
            <a:extLst>
              <a:ext uri="{FF2B5EF4-FFF2-40B4-BE49-F238E27FC236}">
                <a16:creationId xmlns:a16="http://schemas.microsoft.com/office/drawing/2014/main" id="{3E993607-F3DE-4E48-BE40-C665E883E030}"/>
              </a:ext>
            </a:extLst>
          </p:cNvPr>
          <p:cNvSpPr>
            <a:spLocks noGrp="1"/>
          </p:cNvSpPr>
          <p:nvPr/>
        </p:nvSpPr>
        <p:spPr>
          <a:xfrm>
            <a:off x="457200" y="6172200"/>
            <a:ext cx="11277295" cy="576072"/>
          </a:xfrm>
          <a:prstGeom prst="rect">
            <a:avLst/>
          </a:prstGeom>
          <a:noFill/>
        </p:spPr>
        <p:txBody>
          <a:bodyPr wrap="square" lIns="0" tIns="0" rIns="0" bIns="0" anchor="t"/>
          <a:lstStyle/>
          <a:p>
            <a:pPr marL="0" indent="0">
              <a:lnSpc>
                <a:spcPct val="115000"/>
              </a:lnSpc>
              <a:buNone/>
            </a:pPr>
            <a:r>
              <a:t>Azure and AWS are final. GCP is shown at its July figure until the August statement arrives; it is 1.3% of the bill and cannot change these conclusions.</a:t>
            </a:r>
            <a:endParaRPr sz="1200"/>
          </a:p>
        </p:txBody>
      </p:sp>
      <p:sp>
        <p:nvSpPr>
          <p:cNvPr id="8" name="Shape 6">
            <a:extLst>
              <a:ext uri="{FF2B5EF4-FFF2-40B4-BE49-F238E27FC236}">
                <a16:creationId xmlns:a16="http://schemas.microsoft.com/office/drawing/2014/main" id="{1053F211-D307-4FB6-8FE9-38C866D6B51B}"/>
              </a:ext>
            </a:extLst>
          </p:cNvPr>
          <p:cNvSpPr>
            <a:spLocks noGrp="1"/>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a:p>
        </p:txBody>
      </p:sp>
      <p:sp>
        <p:nvSpPr>
          <p:cNvPr id="9" name="Text 7">
            <a:extLst>
              <a:ext uri="{FF2B5EF4-FFF2-40B4-BE49-F238E27FC236}">
                <a16:creationId xmlns:a16="http://schemas.microsoft.com/office/drawing/2014/main" id="{AA3518E2-DBB1-4637-8F30-F8661475AF1C}"/>
              </a:ext>
            </a:extLst>
          </p:cNvPr>
          <p:cNvSpPr>
            <a:spLocks noGrp="1"/>
          </p:cNvSpPr>
          <p:nvPr/>
        </p:nvSpPr>
        <p:spPr>
          <a:xfrm>
            <a:off x="658368" y="1380744"/>
            <a:ext cx="302148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AUGUST RUN-RATE</a:t>
            </a:r>
            <a:endParaRPr sz="1200"/>
          </a:p>
        </p:txBody>
      </p:sp>
      <p:sp>
        <p:nvSpPr>
          <p:cNvPr id="10" name="Text 8">
            <a:extLst>
              <a:ext uri="{FF2B5EF4-FFF2-40B4-BE49-F238E27FC236}">
                <a16:creationId xmlns:a16="http://schemas.microsoft.com/office/drawing/2014/main" id="{8E737A3A-771A-4DD9-A11C-14DED8752011}"/>
              </a:ext>
            </a:extLst>
          </p:cNvPr>
          <p:cNvSpPr>
            <a:spLocks noGrp="1"/>
          </p:cNvSpPr>
          <p:nvPr/>
        </p:nvSpPr>
        <p:spPr>
          <a:xfrm>
            <a:off x="658368" y="1655064"/>
            <a:ext cx="3021482" cy="457200"/>
          </a:xfrm>
          <a:prstGeom prst="rect">
            <a:avLst/>
          </a:prstGeom>
          <a:noFill/>
        </p:spPr>
        <p:txBody>
          <a:bodyPr wrap="square" lIns="0" tIns="0" rIns="0" bIns="0" anchor="ctr"/>
          <a:lstStyle/>
          <a:p>
            <a:pPr marL="0" indent="0">
              <a:buNone/>
            </a:pPr>
            <a:r>
              <a:rPr sz="3000" b="1">
                <a:solidFill>
                  <a:srgbClr val="F4F7FB"/>
                </a:solidFill>
                <a:latin typeface="Calibri"/>
                <a:ea typeface="Calibri"/>
                <a:cs typeface="Calibri"/>
              </a:rPr>
              <a:t>$3.49M</a:t>
            </a:r>
            <a:endParaRPr sz="3000"/>
          </a:p>
        </p:txBody>
      </p:sp>
      <p:sp>
        <p:nvSpPr>
          <p:cNvPr id="11" name="Text 9">
            <a:extLst>
              <a:ext uri="{FF2B5EF4-FFF2-40B4-BE49-F238E27FC236}">
                <a16:creationId xmlns:a16="http://schemas.microsoft.com/office/drawing/2014/main" id="{2D8AA989-84CA-4E71-95AA-43D60E2295FA}"/>
              </a:ext>
            </a:extLst>
          </p:cNvPr>
          <p:cNvSpPr>
            <a:spLocks noGrp="1"/>
          </p:cNvSpPr>
          <p:nvPr/>
        </p:nvSpPr>
        <p:spPr>
          <a:xfrm>
            <a:off x="658368" y="2093976"/>
            <a:ext cx="3021482" cy="237744"/>
          </a:xfrm>
          <a:prstGeom prst="rect">
            <a:avLst/>
          </a:prstGeom>
          <a:noFill/>
        </p:spPr>
        <p:txBody>
          <a:bodyPr wrap="square" lIns="0" tIns="0" rIns="0" bIns="0" anchor="ctr"/>
          <a:lstStyle/>
          <a:p>
            <a:pPr marL="0" indent="0">
              <a:buNone/>
            </a:pPr>
            <a:r>
              <a:rPr sz="1200">
                <a:solidFill>
                  <a:srgbClr val="91A0B7"/>
                </a:solidFill>
                <a:latin typeface="Calibri"/>
                <a:ea typeface="Calibri"/>
                <a:cs typeface="Calibri"/>
              </a:rPr>
              <a:t>base case said $3.50M</a:t>
            </a:r>
            <a:endParaRPr sz="1200"/>
          </a:p>
        </p:txBody>
      </p:sp>
      <p:sp>
        <p:nvSpPr>
          <p:cNvPr id="12" name="Shape 10">
            <a:extLst>
              <a:ext uri="{FF2B5EF4-FFF2-40B4-BE49-F238E27FC236}">
                <a16:creationId xmlns:a16="http://schemas.microsoft.com/office/drawing/2014/main" id="{92919C45-8C8C-4534-92AF-A1C23CDEDE6B}"/>
              </a:ext>
            </a:extLst>
          </p:cNvPr>
          <p:cNvSpPr>
            <a:spLocks noGrp="1"/>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a:p>
        </p:txBody>
      </p:sp>
      <p:sp>
        <p:nvSpPr>
          <p:cNvPr id="13" name="Text 11">
            <a:extLst>
              <a:ext uri="{FF2B5EF4-FFF2-40B4-BE49-F238E27FC236}">
                <a16:creationId xmlns:a16="http://schemas.microsoft.com/office/drawing/2014/main" id="{09801125-D86F-4185-B235-C1A3FC0B128F}"/>
              </a:ext>
            </a:extLst>
          </p:cNvPr>
          <p:cNvSpPr>
            <a:spLocks noGrp="1"/>
          </p:cNvSpPr>
          <p:nvPr/>
        </p:nvSpPr>
        <p:spPr>
          <a:xfrm>
            <a:off x="4585106" y="1380744"/>
            <a:ext cx="302148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AZURE</a:t>
            </a:r>
            <a:endParaRPr sz="1200"/>
          </a:p>
        </p:txBody>
      </p:sp>
      <p:sp>
        <p:nvSpPr>
          <p:cNvPr id="14" name="Text 12">
            <a:extLst>
              <a:ext uri="{FF2B5EF4-FFF2-40B4-BE49-F238E27FC236}">
                <a16:creationId xmlns:a16="http://schemas.microsoft.com/office/drawing/2014/main" id="{1D93D1C4-8A01-4A33-A83E-3CEA3C7779CA}"/>
              </a:ext>
            </a:extLst>
          </p:cNvPr>
          <p:cNvSpPr>
            <a:spLocks noGrp="1"/>
          </p:cNvSpPr>
          <p:nvPr/>
        </p:nvSpPr>
        <p:spPr>
          <a:xfrm>
            <a:off x="4585106" y="1655064"/>
            <a:ext cx="3021482" cy="457200"/>
          </a:xfrm>
          <a:prstGeom prst="rect">
            <a:avLst/>
          </a:prstGeom>
          <a:noFill/>
        </p:spPr>
        <p:txBody>
          <a:bodyPr wrap="square" lIns="0" tIns="0" rIns="0" bIns="0" anchor="ctr"/>
          <a:lstStyle/>
          <a:p>
            <a:pPr marL="0" indent="0">
              <a:buNone/>
            </a:pPr>
            <a:r>
              <a:rPr sz="3000" b="1">
                <a:solidFill>
                  <a:srgbClr val="FF9F43"/>
                </a:solidFill>
                <a:latin typeface="Calibri"/>
                <a:ea typeface="Calibri"/>
                <a:cs typeface="Calibri"/>
              </a:rPr>
              <a:t>−3.6%</a:t>
            </a:r>
            <a:endParaRPr sz="3000"/>
          </a:p>
        </p:txBody>
      </p:sp>
      <p:sp>
        <p:nvSpPr>
          <p:cNvPr id="15" name="Text 13">
            <a:extLst>
              <a:ext uri="{FF2B5EF4-FFF2-40B4-BE49-F238E27FC236}">
                <a16:creationId xmlns:a16="http://schemas.microsoft.com/office/drawing/2014/main" id="{B25E932C-02C6-414F-9782-602B8D0FB0F2}"/>
              </a:ext>
            </a:extLst>
          </p:cNvPr>
          <p:cNvSpPr>
            <a:spLocks noGrp="1"/>
          </p:cNvSpPr>
          <p:nvPr/>
        </p:nvSpPr>
        <p:spPr>
          <a:xfrm>
            <a:off x="4585106" y="2093976"/>
            <a:ext cx="3021482" cy="237744"/>
          </a:xfrm>
          <a:prstGeom prst="rect">
            <a:avLst/>
          </a:prstGeom>
          <a:noFill/>
        </p:spPr>
        <p:txBody>
          <a:bodyPr wrap="square" lIns="0" tIns="0" rIns="0" bIns="0" anchor="ctr"/>
          <a:lstStyle/>
          <a:p>
            <a:pPr marL="0" indent="0">
              <a:buNone/>
            </a:pPr>
            <a:r>
              <a:rPr sz="1200">
                <a:solidFill>
                  <a:srgbClr val="91A0B7"/>
                </a:solidFill>
                <a:latin typeface="Calibri"/>
                <a:ea typeface="Calibri"/>
                <a:cs typeface="Calibri"/>
              </a:rPr>
              <a:t>$186,917 → $180,241</a:t>
            </a:r>
            <a:endParaRPr sz="1200"/>
          </a:p>
        </p:txBody>
      </p:sp>
      <p:sp>
        <p:nvSpPr>
          <p:cNvPr id="16" name="Text 14">
            <a:extLst>
              <a:ext uri="{FF2B5EF4-FFF2-40B4-BE49-F238E27FC236}">
                <a16:creationId xmlns:a16="http://schemas.microsoft.com/office/drawing/2014/main" id="{499D8494-0A36-4F7E-97B9-28FE07E94D44}"/>
              </a:ext>
            </a:extLst>
          </p:cNvPr>
          <p:cNvSpPr>
            <a:spLocks noGrp="1"/>
          </p:cNvSpPr>
          <p:nvPr/>
        </p:nvSpPr>
        <p:spPr>
          <a:xfrm>
            <a:off x="3881018" y="1600200"/>
            <a:ext cx="502920" cy="457200"/>
          </a:xfrm>
          <a:prstGeom prst="rect">
            <a:avLst/>
          </a:prstGeom>
          <a:noFill/>
        </p:spPr>
        <p:txBody>
          <a:bodyPr wrap="square" lIns="0" tIns="0" rIns="0" bIns="0" anchor="ctr"/>
          <a:lstStyle/>
          <a:p>
            <a:pPr marL="0" indent="0" algn="ctr">
              <a:buNone/>
            </a:pPr>
            <a:r>
              <a:rPr sz="2400" b="1">
                <a:solidFill>
                  <a:srgbClr val="91A0B7"/>
                </a:solidFill>
                <a:latin typeface="Calibri"/>
                <a:ea typeface="Calibri"/>
                <a:cs typeface="Calibri"/>
              </a:rPr>
              <a:t/>
            </a:r>
            <a:endParaRPr sz="2400"/>
          </a:p>
        </p:txBody>
      </p:sp>
      <p:sp>
        <p:nvSpPr>
          <p:cNvPr id="17" name="Shape 15">
            <a:extLst>
              <a:ext uri="{FF2B5EF4-FFF2-40B4-BE49-F238E27FC236}">
                <a16:creationId xmlns:a16="http://schemas.microsoft.com/office/drawing/2014/main" id="{F2750068-CEBE-428E-A703-AC44D7CD66D6}"/>
              </a:ext>
            </a:extLst>
          </p:cNvPr>
          <p:cNvSpPr>
            <a:spLocks noGrp="1"/>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a:p>
        </p:txBody>
      </p:sp>
      <p:sp>
        <p:nvSpPr>
          <p:cNvPr id="18" name="Text 16">
            <a:extLst>
              <a:ext uri="{FF2B5EF4-FFF2-40B4-BE49-F238E27FC236}">
                <a16:creationId xmlns:a16="http://schemas.microsoft.com/office/drawing/2014/main" id="{56B9344F-6BA5-4F50-BB4A-5C079935BFC0}"/>
              </a:ext>
            </a:extLst>
          </p:cNvPr>
          <p:cNvSpPr>
            <a:spLocks noGrp="1"/>
          </p:cNvSpPr>
          <p:nvPr/>
        </p:nvSpPr>
        <p:spPr>
          <a:xfrm>
            <a:off x="8511845" y="1380744"/>
            <a:ext cx="302148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AWS</a:t>
            </a:r>
            <a:endParaRPr sz="1200"/>
          </a:p>
        </p:txBody>
      </p:sp>
      <p:sp>
        <p:nvSpPr>
          <p:cNvPr id="19" name="Text 17">
            <a:extLst>
              <a:ext uri="{FF2B5EF4-FFF2-40B4-BE49-F238E27FC236}">
                <a16:creationId xmlns:a16="http://schemas.microsoft.com/office/drawing/2014/main" id="{4F436991-FBEE-4597-BB65-1FF9EC2B6731}"/>
              </a:ext>
            </a:extLst>
          </p:cNvPr>
          <p:cNvSpPr>
            <a:spLocks noGrp="1"/>
          </p:cNvSpPr>
          <p:nvPr/>
        </p:nvSpPr>
        <p:spPr>
          <a:xfrm>
            <a:off x="8511845" y="1655064"/>
            <a:ext cx="3021482" cy="457200"/>
          </a:xfrm>
          <a:prstGeom prst="rect">
            <a:avLst/>
          </a:prstGeom>
          <a:noFill/>
        </p:spPr>
        <p:txBody>
          <a:bodyPr wrap="square" lIns="0" tIns="0" rIns="0" bIns="0" anchor="ctr"/>
          <a:lstStyle/>
          <a:p>
            <a:pPr marL="0" indent="0">
              <a:buNone/>
            </a:pPr>
            <a:r>
              <a:rPr sz="3000" b="1">
                <a:solidFill>
                  <a:srgbClr val="3DDC97"/>
                </a:solidFill>
                <a:latin typeface="Calibri"/>
                <a:ea typeface="Calibri"/>
                <a:cs typeface="Calibri"/>
              </a:rPr>
              <a:t>+15.3%</a:t>
            </a:r>
            <a:endParaRPr sz="3000"/>
          </a:p>
        </p:txBody>
      </p:sp>
      <p:sp>
        <p:nvSpPr>
          <p:cNvPr id="20" name="Text 18">
            <a:extLst>
              <a:ext uri="{FF2B5EF4-FFF2-40B4-BE49-F238E27FC236}">
                <a16:creationId xmlns:a16="http://schemas.microsoft.com/office/drawing/2014/main" id="{3A2AA0FD-CDDE-4388-8A5F-B8416E527C65}"/>
              </a:ext>
            </a:extLst>
          </p:cNvPr>
          <p:cNvSpPr>
            <a:spLocks noGrp="1"/>
          </p:cNvSpPr>
          <p:nvPr/>
        </p:nvSpPr>
        <p:spPr>
          <a:xfrm>
            <a:off x="8511845" y="2093976"/>
            <a:ext cx="3021482" cy="237744"/>
          </a:xfrm>
          <a:prstGeom prst="rect">
            <a:avLst/>
          </a:prstGeom>
          <a:noFill/>
        </p:spPr>
        <p:txBody>
          <a:bodyPr wrap="square" lIns="0" tIns="0" rIns="0" bIns="0" anchor="ctr"/>
          <a:lstStyle/>
          <a:p>
            <a:pPr marL="0" indent="0">
              <a:buNone/>
            </a:pPr>
            <a:r>
              <a:rPr sz="1200">
                <a:solidFill>
                  <a:srgbClr val="91A0B7"/>
                </a:solidFill>
                <a:latin typeface="Calibri"/>
                <a:ea typeface="Calibri"/>
                <a:cs typeface="Calibri"/>
              </a:rPr>
              <a:t>$92,930 → $107,187</a:t>
            </a:r>
            <a:endParaRPr sz="1200"/>
          </a:p>
        </p:txBody>
      </p:sp>
      <p:sp>
        <p:nvSpPr>
          <p:cNvPr id="21" name="Text 19">
            <a:extLst>
              <a:ext uri="{FF2B5EF4-FFF2-40B4-BE49-F238E27FC236}">
                <a16:creationId xmlns:a16="http://schemas.microsoft.com/office/drawing/2014/main" id="{07FA07D5-1F1E-4EF0-A863-43513067C598}"/>
              </a:ext>
            </a:extLst>
          </p:cNvPr>
          <p:cNvSpPr>
            <a:spLocks noGrp="1"/>
          </p:cNvSpPr>
          <p:nvPr/>
        </p:nvSpPr>
        <p:spPr>
          <a:xfrm>
            <a:off x="7807757" y="1600200"/>
            <a:ext cx="502920" cy="457200"/>
          </a:xfrm>
          <a:prstGeom prst="rect">
            <a:avLst/>
          </a:prstGeom>
          <a:noFill/>
        </p:spPr>
        <p:txBody>
          <a:bodyPr wrap="square" lIns="0" tIns="0" rIns="0" bIns="0" anchor="ctr"/>
          <a:lstStyle/>
          <a:p>
            <a:pPr marL="0" indent="0" algn="ctr">
              <a:buNone/>
            </a:pPr>
            <a:r>
              <a:rPr sz="2400" b="1">
                <a:solidFill>
                  <a:srgbClr val="91A0B7"/>
                </a:solidFill>
                <a:latin typeface="Calibri"/>
                <a:ea typeface="Calibri"/>
                <a:cs typeface="Calibri"/>
              </a:rPr>
              <a:t/>
            </a:r>
            <a:endParaRPr sz="2400"/>
          </a:p>
        </p:txBody>
      </p:sp>
      <p:sp>
        <p:nvSpPr>
          <p:cNvPr id="22" name="Text 20">
            <a:extLst>
              <a:ext uri="{FF2B5EF4-FFF2-40B4-BE49-F238E27FC236}">
                <a16:creationId xmlns:a16="http://schemas.microsoft.com/office/drawing/2014/main" id="{3BB2B779-5B53-499C-94AD-E61147FADFB5}"/>
              </a:ext>
            </a:extLst>
          </p:cNvPr>
          <p:cNvSpPr>
            <a:spLocks noGrp="1"/>
          </p:cNvSpPr>
          <p:nvPr/>
        </p:nvSpPr>
        <p:spPr>
          <a:xfrm>
            <a:off x="457200" y="2834640"/>
            <a:ext cx="11277295" cy="237744"/>
          </a:xfrm>
          <a:prstGeom prst="rect">
            <a:avLst/>
          </a:prstGeom>
          <a:noFill/>
        </p:spPr>
        <p:txBody>
          <a:bodyPr wrap="square" lIns="0" tIns="0" rIns="0" bIns="0" anchor="ctr"/>
          <a:lstStyle/>
          <a:p>
            <a:pPr marL="0" indent="0">
              <a:buNone/>
            </a:pPr>
            <a:r>
              <a:rPr sz="1500" b="1">
                <a:solidFill>
                  <a:srgbClr val="F4F7FB"/>
                </a:solidFill>
                <a:latin typeface="Calibri"/>
                <a:ea typeface="Calibri"/>
                <a:cs typeface="Calibri"/>
              </a:rPr>
              <a:t>What July said would happen, and what August shows</a:t>
            </a:r>
            <a:endParaRPr sz="1500"/>
          </a:p>
        </p:txBody>
      </p:sp>
      <p:graphicFrame>
        <p:nvGraphicFramePr>
          <p:cNvPr id="58" name="Table 0"/>
          <p:cNvGraphicFramePr/>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sz="1200" b="1" spc="80">
                          <a:solidFill>
                            <a:srgbClr val="91A0B7"/>
                          </a:solidFill>
                          <a:latin typeface="Calibri"/>
                          <a:ea typeface="Calibri"/>
                          <a:cs typeface="Calibri"/>
                        </a:rPr>
                        <a:t>July said</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b="1" spc="80">
                          <a:solidFill>
                            <a:srgbClr val="91A0B7"/>
                          </a:solidFill>
                          <a:latin typeface="Calibri"/>
                          <a:ea typeface="Calibri"/>
                          <a:cs typeface="Calibri"/>
                        </a:rPr>
                        <a:t>August</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b="1" spc="80">
                          <a:solidFill>
                            <a:srgbClr val="91A0B7"/>
                          </a:solidFill>
                          <a:latin typeface="Calibri"/>
                          <a:ea typeface="Calibri"/>
                          <a:cs typeface="Calibri"/>
                        </a:rPr>
                        <a:t>Verdict</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b="1" spc="80">
                          <a:solidFill>
                            <a:srgbClr val="91A0B7"/>
                          </a:solidFill>
                          <a:latin typeface="Calibri"/>
                          <a:ea typeface="Calibri"/>
                          <a:cs typeface="Calibri"/>
                        </a:rPr>
                        <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sz="1200" b="1">
                          <a:solidFill>
                            <a:srgbClr val="F4F7FB"/>
                          </a:solidFill>
                          <a:latin typeface="Calibri"/>
                          <a:ea typeface="Calibri"/>
                          <a:cs typeface="Calibri"/>
                        </a:rPr>
                        <a:t>December run-rate of $4.01M, base case</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r">
                        <a:buNone/>
                      </a:pPr>
                      <a:r>
                        <a:rPr sz="1200">
                          <a:solidFill>
                            <a:srgbClr val="F4F7FB"/>
                          </a:solidFill>
                          <a:latin typeface="Calibri"/>
                          <a:ea typeface="Calibri"/>
                          <a:cs typeface="Calibri"/>
                        </a:rPr>
                        <a:t>August annualises to $3.49M against a base case of $3.50M</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r">
                        <a:buNone/>
                      </a:pPr>
                      <a:r>
                        <a:rPr sz="1200">
                          <a:solidFill>
                            <a:srgbClr val="F4F7FB"/>
                          </a:solidFill>
                          <a:latin typeface="Calibri"/>
                          <a:ea typeface="Calibri"/>
                          <a:cs typeface="Calibri"/>
                        </a:rPr>
                        <a:t>Held</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r">
                        <a:buNone/>
                      </a:pPr>
                      <a:r>
                        <a:rPr sz="1200">
                          <a:solidFill>
                            <a:srgbClr val="FF9F43"/>
                          </a:solidFill>
                          <a:latin typeface="Calibri"/>
                          <a:ea typeface="Calibri"/>
                          <a:cs typeface="Calibri"/>
                        </a:rPr>
                        <a:t>the projection stands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sz="1200" b="1">
                          <a:solidFill>
                            <a:srgbClr val="F4F7FB"/>
                          </a:solidFill>
                          <a:latin typeface="Calibri"/>
                          <a:ea typeface="Calibri"/>
                          <a:cs typeface="Calibri"/>
                        </a:rPr>
                        <a:t>The MAP credit needs confirming</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a:solidFill>
                            <a:srgbClr val="F4F7FB"/>
                          </a:solidFill>
                          <a:latin typeface="Calibri"/>
                          <a:ea typeface="Calibri"/>
                          <a:cs typeface="Calibri"/>
                        </a:rPr>
                        <a:t>It did not recur — August credits total $654 across all three statements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a:solidFill>
                            <a:srgbClr val="F4F7FB"/>
                          </a:solidFill>
                          <a:latin typeface="Calibri"/>
                          <a:ea typeface="Calibri"/>
                          <a:cs typeface="Calibri"/>
                        </a:rPr>
                        <a:t>Answered</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a:solidFill>
                            <a:srgbClr val="FF9F43"/>
                          </a:solidFill>
                          <a:latin typeface="Calibri"/>
                          <a:ea typeface="Calibri"/>
                          <a:cs typeface="Calibri"/>
                        </a:rPr>
                        <a:t>one-off, as suspected</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a:solidFill>
                            <a:srgbClr val="F4F7FB"/>
                          </a:solidFill>
                          <a:latin typeface="Calibri"/>
                          <a:ea typeface="Calibri"/>
                          <a:cs typeface="Calibri"/>
                        </a:rPr>
                        <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sz="1200" b="1">
                          <a:solidFill>
                            <a:srgbClr val="F4F7FB"/>
                          </a:solidFill>
                          <a:latin typeface="Calibri"/>
                          <a:ea typeface="Calibri"/>
                          <a:cs typeface="Calibri"/>
                        </a:rPr>
                        <a:t>Sonnet by default, Opus by exception</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r">
                        <a:buNone/>
                      </a:pPr>
                      <a:r>
                        <a:rPr sz="1200">
                          <a:solidFill>
                            <a:srgbClr val="F4F7FB"/>
                          </a:solidFill>
                          <a:latin typeface="Calibri"/>
                          <a:ea typeface="Calibri"/>
                          <a:cs typeface="Calibri"/>
                        </a:rPr>
                        <a:t>Opus fell from 96.3% to 76.4% of model spend</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r">
                        <a:buNone/>
                      </a:pPr>
                      <a:r>
                        <a:rPr sz="1200">
                          <a:solidFill>
                            <a:srgbClr val="F4F7FB"/>
                          </a:solidFill>
                          <a:latin typeface="Calibri"/>
                          <a:ea typeface="Calibri"/>
                          <a:cs typeface="Calibri"/>
                        </a:rPr>
                        <a:t>Moving</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r">
                        <a:buNone/>
                      </a:pPr>
                      <a:r>
                        <a:rPr sz="1200">
                          <a:solidFill>
                            <a:srgbClr val="91A0B7"/>
                          </a:solidFill>
                          <a:latin typeface="Calibri"/>
                          <a:ea typeface="Calibri"/>
                          <a:cs typeface="Calibri"/>
                        </a:rPr>
                        <a:t>mix shifted, cost did not</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sz="1200" b="1">
                          <a:solidFill>
                            <a:srgbClr val="F4F7FB"/>
                          </a:solidFill>
                          <a:latin typeface="Calibri"/>
                          <a:ea typeface="Calibri"/>
                          <a:cs typeface="Calibri"/>
                        </a:rPr>
                        <a:t>Untagged spend is getting worse</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b="1">
                          <a:solidFill>
                            <a:srgbClr val="F4F7FB"/>
                          </a:solidFill>
                          <a:latin typeface="Calibri"/>
                          <a:ea typeface="Calibri"/>
                          <a:cs typeface="Calibri"/>
                        </a:rPr>
                        <a:t>Not tested — the tag cut is unavailable this month</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b="1">
                          <a:solidFill>
                            <a:srgbClr val="F4F7FB"/>
                          </a:solidFill>
                          <a:latin typeface="Calibri"/>
                          <a:ea typeface="Calibri"/>
                          <a:cs typeface="Calibri"/>
                        </a:rPr>
                        <a:t>Open</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r">
                        <a:buNone/>
                      </a:pPr>
                      <a:r>
                        <a:rPr sz="1200" b="1">
                          <a:solidFill>
                            <a:srgbClr val="3DDC97"/>
                          </a:solidFill>
                          <a:latin typeface="Calibri"/>
                          <a:ea typeface="Calibri"/>
                          <a:cs typeface="Calibri"/>
                        </a:rPr>
                        <a:t>carried to September</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a:solidFill>
                            <a:srgbClr val="3DDC97"/>
                          </a:solidFill>
                          <a:latin typeface="Calibri"/>
                          <a:ea typeface="Calibri"/>
                          <a:cs typeface="Calibri"/>
                        </a:rPr>
                        <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extLst>
                  <a:ext uri="{0D108BD9-81ED-4DB2-BD59-A6C34878D82A}">
                    <a16:rowId xmlns:a16="http://schemas.microsoft.com/office/drawing/2014/main" val="10004"/>
                  </a:ext>
                </a:extLst>
              </a:tr>
            </a:tbl>
          </a:graphicData>
        </a:graphic>
      </p:graphicFrame>
      <p:sp>
        <p:nvSpPr>
          <p:cNvPr id="24" name="Shape 21">
            <a:extLst>
              <a:ext uri="{FF2B5EF4-FFF2-40B4-BE49-F238E27FC236}">
                <a16:creationId xmlns:a16="http://schemas.microsoft.com/office/drawing/2014/main" id="{CACB8F77-F5BA-4730-89E7-7C68B483F608}"/>
              </a:ext>
            </a:extLst>
          </p:cNvPr>
          <p:cNvSpPr>
            <a:spLocks noGrp="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a:p>
        </p:txBody>
      </p:sp>
      <p:sp>
        <p:nvSpPr>
          <p:cNvPr id="25" name="Text 22">
            <a:extLst>
              <a:ext uri="{FF2B5EF4-FFF2-40B4-BE49-F238E27FC236}">
                <a16:creationId xmlns:a16="http://schemas.microsoft.com/office/drawing/2014/main" id="{E8D19135-676D-4F9C-8D83-B78594E9C41E}"/>
              </a:ext>
            </a:extLst>
          </p:cNvPr>
          <p:cNvSpPr>
            <a:spLocks noGrp="1"/>
          </p:cNvSpPr>
          <p:nvPr/>
        </p:nvSpPr>
        <p:spPr>
          <a:xfrm>
            <a:off x="658368" y="5166360"/>
            <a:ext cx="320436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PROJECTION</a:t>
            </a:r>
            <a:endParaRPr sz="1200"/>
          </a:p>
        </p:txBody>
      </p:sp>
      <p:sp>
        <p:nvSpPr>
          <p:cNvPr id="26" name="Text 23">
            <a:extLst>
              <a:ext uri="{FF2B5EF4-FFF2-40B4-BE49-F238E27FC236}">
                <a16:creationId xmlns:a16="http://schemas.microsoft.com/office/drawing/2014/main" id="{4D843D91-5939-4B8F-8683-572AF64243E6}"/>
              </a:ext>
            </a:extLst>
          </p:cNvPr>
          <p:cNvSpPr>
            <a:spLocks noGrp="1"/>
          </p:cNvSpPr>
          <p:nvPr/>
        </p:nvSpPr>
        <p:spPr>
          <a:xfrm>
            <a:off x="658368" y="5367528"/>
            <a:ext cx="3204362"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Held</a:t>
            </a:r>
            <a:endParaRPr sz="2800"/>
          </a:p>
        </p:txBody>
      </p:sp>
      <p:sp>
        <p:nvSpPr>
          <p:cNvPr id="27" name="Text 24">
            <a:extLst>
              <a:ext uri="{FF2B5EF4-FFF2-40B4-BE49-F238E27FC236}">
                <a16:creationId xmlns:a16="http://schemas.microsoft.com/office/drawing/2014/main" id="{010581C2-30A7-47C6-BC1E-21215151A927}"/>
              </a:ext>
            </a:extLst>
          </p:cNvPr>
          <p:cNvSpPr>
            <a:spLocks noGrp="1"/>
          </p:cNvSpPr>
          <p:nvPr/>
        </p:nvSpPr>
        <p:spPr>
          <a:xfrm>
            <a:off x="658368" y="5769864"/>
            <a:ext cx="3204362" cy="329184"/>
          </a:xfrm>
          <a:prstGeom prst="rect">
            <a:avLst/>
          </a:prstGeom>
          <a:noFill/>
        </p:spPr>
        <p:txBody>
          <a:bodyPr wrap="square" lIns="0" tIns="0" rIns="0" bIns="0" anchor="t"/>
          <a:lstStyle/>
          <a:p>
            <a:pPr marL="0" indent="0">
              <a:lnSpc>
                <a:spcPct val="105000"/>
              </a:lnSpc>
              <a:buNone/>
            </a:pPr>
            <a:r>
              <a:rPr sz="1200" b="1">
                <a:solidFill>
                  <a:srgbClr val="3DDC97"/>
                </a:solidFill>
                <a:latin typeface="Calibri"/>
                <a:ea typeface="Calibri"/>
                <a:cs typeface="Calibri"/>
              </a:rPr>
              <a:t>August sits on the base case</a:t>
            </a:r>
            <a:endParaRPr sz="1200"/>
          </a:p>
        </p:txBody>
      </p:sp>
      <p:sp>
        <p:nvSpPr>
          <p:cNvPr id="28" name="Shape 25">
            <a:extLst>
              <a:ext uri="{FF2B5EF4-FFF2-40B4-BE49-F238E27FC236}">
                <a16:creationId xmlns:a16="http://schemas.microsoft.com/office/drawing/2014/main" id="{6E2543B6-0444-4734-87E3-C9346F108E34}"/>
              </a:ext>
            </a:extLst>
          </p:cNvPr>
          <p:cNvSpPr>
            <a:spLocks noGrp="1"/>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a:p>
        </p:txBody>
      </p:sp>
      <p:sp>
        <p:nvSpPr>
          <p:cNvPr id="29" name="Text 26">
            <a:extLst>
              <a:ext uri="{FF2B5EF4-FFF2-40B4-BE49-F238E27FC236}">
                <a16:creationId xmlns:a16="http://schemas.microsoft.com/office/drawing/2014/main" id="{CCC09E92-51D2-401D-8BD2-887EE7BBF34F}"/>
              </a:ext>
            </a:extLst>
          </p:cNvPr>
          <p:cNvSpPr>
            <a:spLocks noGrp="1"/>
          </p:cNvSpPr>
          <p:nvPr/>
        </p:nvSpPr>
        <p:spPr>
          <a:xfrm>
            <a:off x="4493666" y="5166360"/>
            <a:ext cx="320436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SAVINGS</a:t>
            </a:r>
            <a:endParaRPr sz="1200"/>
          </a:p>
        </p:txBody>
      </p:sp>
      <p:sp>
        <p:nvSpPr>
          <p:cNvPr id="30" name="Text 27">
            <a:extLst>
              <a:ext uri="{FF2B5EF4-FFF2-40B4-BE49-F238E27FC236}">
                <a16:creationId xmlns:a16="http://schemas.microsoft.com/office/drawing/2014/main" id="{FFFA6E60-87C2-4D40-9769-559ADD8A715B}"/>
              </a:ext>
            </a:extLst>
          </p:cNvPr>
          <p:cNvSpPr>
            <a:spLocks noGrp="1"/>
          </p:cNvSpPr>
          <p:nvPr/>
        </p:nvSpPr>
        <p:spPr>
          <a:xfrm>
            <a:off x="4493666" y="5367528"/>
            <a:ext cx="3204362"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Visible</a:t>
            </a:r>
            <a:endParaRPr sz="2800"/>
          </a:p>
        </p:txBody>
      </p:sp>
      <p:sp>
        <p:nvSpPr>
          <p:cNvPr id="31" name="Text 28">
            <a:extLst>
              <a:ext uri="{FF2B5EF4-FFF2-40B4-BE49-F238E27FC236}">
                <a16:creationId xmlns:a16="http://schemas.microsoft.com/office/drawing/2014/main" id="{48E34EBF-1B06-4594-B517-46D76AB445F9}"/>
              </a:ext>
            </a:extLst>
          </p:cNvPr>
          <p:cNvSpPr>
            <a:spLocks noGrp="1"/>
          </p:cNvSpPr>
          <p:nvPr/>
        </p:nvSpPr>
        <p:spPr>
          <a:xfrm>
            <a:off x="4493666" y="5769864"/>
            <a:ext cx="3204362" cy="329184"/>
          </a:xfrm>
          <a:prstGeom prst="rect">
            <a:avLst/>
          </a:prstGeom>
          <a:noFill/>
        </p:spPr>
        <p:txBody>
          <a:bodyPr wrap="square" lIns="0" tIns="0" rIns="0" bIns="0" anchor="t"/>
          <a:lstStyle/>
          <a:p>
            <a:pPr marL="0" indent="0">
              <a:lnSpc>
                <a:spcPct val="105000"/>
              </a:lnSpc>
              <a:buNone/>
            </a:pPr>
            <a:r>
              <a:rPr sz="1200" b="1">
                <a:solidFill>
                  <a:srgbClr val="FF9F43"/>
                </a:solidFill>
                <a:latin typeface="Calibri"/>
                <a:ea typeface="Calibri"/>
                <a:cs typeface="Calibri"/>
              </a:rPr>
              <a:t>Azure VMs down $8,826 in one month</a:t>
            </a:r>
            <a:endParaRPr sz="1200"/>
          </a:p>
        </p:txBody>
      </p:sp>
      <p:sp>
        <p:nvSpPr>
          <p:cNvPr id="32" name="Shape 29">
            <a:extLst>
              <a:ext uri="{FF2B5EF4-FFF2-40B4-BE49-F238E27FC236}">
                <a16:creationId xmlns:a16="http://schemas.microsoft.com/office/drawing/2014/main" id="{9B360870-0406-49DD-BBF9-21090061633B}"/>
              </a:ext>
            </a:extLst>
          </p:cNvPr>
          <p:cNvSpPr>
            <a:spLocks noGrp="1"/>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a:p>
        </p:txBody>
      </p:sp>
      <p:sp>
        <p:nvSpPr>
          <p:cNvPr id="33" name="Text 30">
            <a:extLst>
              <a:ext uri="{FF2B5EF4-FFF2-40B4-BE49-F238E27FC236}">
                <a16:creationId xmlns:a16="http://schemas.microsoft.com/office/drawing/2014/main" id="{578ACEB1-80C7-4086-80E5-86313AF975A0}"/>
              </a:ext>
            </a:extLst>
          </p:cNvPr>
          <p:cNvSpPr>
            <a:spLocks noGrp="1"/>
          </p:cNvSpPr>
          <p:nvPr/>
        </p:nvSpPr>
        <p:spPr>
          <a:xfrm>
            <a:off x="8328965" y="5166360"/>
            <a:ext cx="320436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WATCH</a:t>
            </a:r>
            <a:endParaRPr sz="1200"/>
          </a:p>
        </p:txBody>
      </p:sp>
      <p:sp>
        <p:nvSpPr>
          <p:cNvPr id="34" name="Text 31">
            <a:extLst>
              <a:ext uri="{FF2B5EF4-FFF2-40B4-BE49-F238E27FC236}">
                <a16:creationId xmlns:a16="http://schemas.microsoft.com/office/drawing/2014/main" id="{134F8D0B-7E91-4194-942C-982E30EC8E8D}"/>
              </a:ext>
            </a:extLst>
          </p:cNvPr>
          <p:cNvSpPr>
            <a:spLocks noGrp="1"/>
          </p:cNvSpPr>
          <p:nvPr/>
        </p:nvSpPr>
        <p:spPr>
          <a:xfrm>
            <a:off x="8328965" y="5367528"/>
            <a:ext cx="3204362"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AWS AI</a:t>
            </a:r>
            <a:endParaRPr sz="2800"/>
          </a:p>
        </p:txBody>
      </p:sp>
      <p:sp>
        <p:nvSpPr>
          <p:cNvPr id="35" name="Text 32">
            <a:extLst>
              <a:ext uri="{FF2B5EF4-FFF2-40B4-BE49-F238E27FC236}">
                <a16:creationId xmlns:a16="http://schemas.microsoft.com/office/drawing/2014/main" id="{76B794C1-EE9C-40CF-A963-D0D58AE5EADF}"/>
              </a:ext>
            </a:extLst>
          </p:cNvPr>
          <p:cNvSpPr>
            <a:spLocks noGrp="1"/>
          </p:cNvSpPr>
          <p:nvPr/>
        </p:nvSpPr>
        <p:spPr>
          <a:xfrm>
            <a:off x="8328965" y="5769864"/>
            <a:ext cx="3204362" cy="329184"/>
          </a:xfrm>
          <a:prstGeom prst="rect">
            <a:avLst/>
          </a:prstGeom>
          <a:noFill/>
        </p:spPr>
        <p:txBody>
          <a:bodyPr wrap="square" lIns="0" tIns="0" rIns="0" bIns="0" anchor="t"/>
          <a:lstStyle/>
          <a:p>
            <a:pPr marL="0" indent="0">
              <a:lnSpc>
                <a:spcPct val="105000"/>
              </a:lnSpc>
              <a:buNone/>
            </a:pPr>
            <a:r>
              <a:t>Bedrock $25K → $45K in one month</a:t>
            </a:r>
            <a:endParaRPr sz="1200"/>
          </a:p>
        </p:txBody>
      </p:sp>
    </p:spTree>
    <p:extLst>
      <p:ext uri="{BB962C8B-B14F-4D97-AF65-F5344CB8AC3E}">
        <p14:creationId xmlns:p14="http://schemas.microsoft.com/office/powerpoint/2010/main" val="1084304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64ADFF9-E5A1-4CC7-B45D-C6C56308DDD3}"/>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3862B42D-5DD8-4BB8-B78B-6D3C94EC0EE0}"/>
              </a:ext>
            </a:extLst>
          </p:cNvPr>
          <p:cNvSpPr>
            <a:spLocks noGrp="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a:p>
        </p:txBody>
      </p:sp>
      <p:sp>
        <p:nvSpPr>
          <p:cNvPr id="4" name="Text 2">
            <a:extLst>
              <a:ext uri="{FF2B5EF4-FFF2-40B4-BE49-F238E27FC236}">
                <a16:creationId xmlns:a16="http://schemas.microsoft.com/office/drawing/2014/main" id="{A0F4643F-E168-4701-903D-9B716C28AA84}"/>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FF6B7A"/>
                </a:solidFill>
                <a:latin typeface="Calibri"/>
                <a:ea typeface="Calibri"/>
                <a:cs typeface="Calibri"/>
              </a:rPr>
              <a:t>THE RISK CASE</a:t>
            </a:r>
            <a:endParaRPr sz="1300"/>
          </a:p>
        </p:txBody>
      </p:sp>
      <p:sp>
        <p:nvSpPr>
          <p:cNvPr id="5" name="Text 3">
            <a:extLst>
              <a:ext uri="{FF2B5EF4-FFF2-40B4-BE49-F238E27FC236}">
                <a16:creationId xmlns:a16="http://schemas.microsoft.com/office/drawing/2014/main" id="{014522BB-2B93-4A27-AD01-5E7FD9D58B26}"/>
              </a:ext>
            </a:extLst>
          </p:cNvPr>
          <p:cNvSpPr>
            <a:spLocks noGrp="1"/>
          </p:cNvSpPr>
          <p:nvPr/>
        </p:nvSpPr>
        <p:spPr>
          <a:xfrm>
            <a:off x="457200" y="548640"/>
            <a:ext cx="7680960" cy="566928"/>
          </a:xfrm>
          <a:prstGeom prst="rect">
            <a:avLst/>
          </a:prstGeom>
          <a:noFill/>
        </p:spPr>
        <p:txBody>
          <a:bodyPr wrap="none" lIns="0" tIns="0" rIns="0" bIns="0" anchor="ctr">
            <a:noAutofit/>
          </a:bodyPr>
          <a:lstStyle/>
          <a:p>
            <a:pPr marL="0" indent="0" algn="l">
              <a:buNone/>
              <a:defRPr sz="2850" b="1">
                <a:solidFill>
                  <a:srgbClr val="F4F7FB"/>
                </a:solidFill>
                <a:latin typeface="Calibri"/>
                <a:ea typeface="Calibri"/>
                <a:cs typeface="Calibri"/>
              </a:defRPr>
            </a:pPr>
            <a:r>
              <a:rPr sz="2850" b="1">
                <a:solidFill>
                  <a:srgbClr val="F4F7FB"/>
                </a:solidFill>
                <a:latin typeface="Calibri"/>
                <a:ea typeface="Calibri"/>
                <a:cs typeface="Calibri"/>
              </a:rPr>
              <a:t>August lands on the base case</a:t>
            </a:r>
            <a:endParaRPr sz="2400"/>
          </a:p>
        </p:txBody>
      </p:sp>
      <p:sp>
        <p:nvSpPr>
          <p:cNvPr id="6" name="Text 4">
            <a:extLst>
              <a:ext uri="{FF2B5EF4-FFF2-40B4-BE49-F238E27FC236}">
                <a16:creationId xmlns:a16="http://schemas.microsoft.com/office/drawing/2014/main" id="{A340CAD5-7DEA-4434-9F54-900942B14199}"/>
              </a:ext>
            </a:extLst>
          </p:cNvPr>
          <p:cNvSpPr>
            <a:spLocks noGrp="1"/>
          </p:cNvSpPr>
          <p:nvPr/>
        </p:nvSpPr>
        <p:spPr>
          <a:xfrm>
            <a:off x="8321040" y="493776"/>
            <a:ext cx="3413455" cy="658368"/>
          </a:xfrm>
          <a:prstGeom prst="rect">
            <a:avLst/>
          </a:prstGeom>
          <a:noFill/>
        </p:spPr>
        <p:txBody>
          <a:bodyPr wrap="none" lIns="0" tIns="0" rIns="0" bIns="0" anchor="ctr">
            <a:noAutofit/>
          </a:bodyPr>
          <a:lstStyle/>
          <a:p>
            <a:pPr marL="0" indent="0" algn="r">
              <a:lnSpc>
                <a:spcPct val="115000"/>
              </a:lnSpc>
              <a:buNone/>
              <a:defRPr sz="1350" b="1">
                <a:solidFill>
                  <a:srgbClr val="B07CFF"/>
                </a:solidFill>
                <a:latin typeface="Calibri"/>
                <a:ea typeface="Calibri"/>
                <a:cs typeface="Calibri"/>
              </a:defRPr>
            </a:pPr>
            <a:r>
              <a:rPr sz="1350" b="1">
                <a:solidFill>
                  <a:srgbClr val="B07CFF"/>
                </a:solidFill>
                <a:latin typeface="Calibri"/>
                <a:ea typeface="Calibri"/>
                <a:cs typeface="Calibri"/>
              </a:rPr>
              <a:t>The first of the two months that test it. September is the second.</a:t>
            </a:r>
            <a:endParaRPr sz="1200"/>
          </a:p>
        </p:txBody>
      </p:sp>
      <p:sp>
        <p:nvSpPr>
          <p:cNvPr id="7" name="Text 5">
            <a:extLst>
              <a:ext uri="{FF2B5EF4-FFF2-40B4-BE49-F238E27FC236}">
                <a16:creationId xmlns:a16="http://schemas.microsoft.com/office/drawing/2014/main" id="{7C85AFDD-4F14-4B53-AA53-ED4D6BD8E2F3}"/>
              </a:ext>
            </a:extLst>
          </p:cNvPr>
          <p:cNvSpPr>
            <a:spLocks noGrp="1"/>
          </p:cNvSpPr>
          <p:nvPr/>
        </p:nvSpPr>
        <p:spPr>
          <a:xfrm>
            <a:off x="457200" y="6345936"/>
            <a:ext cx="11277295" cy="402336"/>
          </a:xfrm>
          <a:prstGeom prst="rect">
            <a:avLst/>
          </a:prstGeom>
          <a:noFill/>
        </p:spPr>
        <p:txBody>
          <a:bodyPr wrap="none" lIns="0" tIns="0" rIns="0" bIns="0" anchor="ctr">
            <a:noAutofit/>
          </a:bodyPr>
          <a:lstStyle/>
          <a:p>
            <a:pPr marL="0" indent="0" algn="l">
              <a:lnSpc>
                <a:spcPct val="115000"/>
              </a:lnSpc>
              <a:buNone/>
              <a:defRPr sz="1350" b="0">
                <a:solidFill>
                  <a:srgbClr val="536078"/>
                </a:solidFill>
                <a:latin typeface="Calibri"/>
                <a:ea typeface="Calibri"/>
                <a:cs typeface="Calibri"/>
              </a:defRPr>
            </a:pPr>
            <a:r>
              <a:rPr sz="1350" b="0">
                <a:solidFill>
                  <a:srgbClr val="536078"/>
                </a:solidFill>
                <a:latin typeface="Calibri"/>
                <a:ea typeface="Calibri"/>
                <a:cs typeface="Calibri"/>
              </a:rPr>
              <a:t>One month is not a trend. September decides whether this is the path or a pause — but the case for the faster scenario is weaker than it was in July.</a:t>
            </a:r>
            <a:endParaRPr sz="1200"/>
          </a:p>
        </p:txBody>
      </p:sp>
      <p:sp>
        <p:nvSpPr>
          <p:cNvPr id="8" name="Text 6">
            <a:extLst>
              <a:ext uri="{FF2B5EF4-FFF2-40B4-BE49-F238E27FC236}">
                <a16:creationId xmlns:a16="http://schemas.microsoft.com/office/drawing/2014/main" id="{076B901A-1795-45E5-BE8E-B61547CE341D}"/>
              </a:ext>
            </a:extLst>
          </p:cNvPr>
          <p:cNvSpPr>
            <a:spLocks noGrp="1"/>
          </p:cNvSpPr>
          <p:nvPr/>
        </p:nvSpPr>
        <p:spPr>
          <a:xfrm>
            <a:off x="457200" y="1234440"/>
            <a:ext cx="7360920" cy="237744"/>
          </a:xfrm>
          <a:prstGeom prst="rect">
            <a:avLst/>
          </a:prstGeom>
          <a:noFill/>
        </p:spPr>
        <p:txBody>
          <a:bodyPr wrap="none" lIns="0" tIns="0" rIns="0" bIns="0" anchor="ctr">
            <a:noAutofit/>
          </a:bodyPr>
          <a:lstStyle/>
          <a:p>
            <a:pPr marL="0" indent="0" algn="l">
              <a:buNone/>
              <a:defRPr sz="1725" b="1">
                <a:solidFill>
                  <a:srgbClr val="F4F7FB"/>
                </a:solidFill>
                <a:latin typeface="Calibri"/>
                <a:ea typeface="Calibri"/>
                <a:cs typeface="Calibri"/>
              </a:defRPr>
            </a:pPr>
            <a:r>
              <a:rPr sz="1725" b="1">
                <a:solidFill>
                  <a:srgbClr val="F4F7FB"/>
                </a:solidFill>
                <a:latin typeface="Calibri"/>
                <a:ea typeface="Calibri"/>
                <a:cs typeface="Calibri"/>
              </a:rPr>
              <a:t>Annualized run-rate · July to December ($M)</a:t>
            </a:r>
            <a:endParaRPr sz="1500"/>
          </a:p>
        </p:txBody>
      </p:sp>
      <p:sp>
        <p:nvSpPr>
          <p:cNvPr id="10" name="Shape 7">
            <a:extLst>
              <a:ext uri="{FF2B5EF4-FFF2-40B4-BE49-F238E27FC236}">
                <a16:creationId xmlns:a16="http://schemas.microsoft.com/office/drawing/2014/main" id="{B0D39D76-0730-4CF9-9939-A1D425E3C359}"/>
              </a:ext>
            </a:extLst>
          </p:cNvPr>
          <p:cNvSpPr>
            <a:spLocks noGrp="1"/>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1" name="Text 8">
            <a:extLst>
              <a:ext uri="{FF2B5EF4-FFF2-40B4-BE49-F238E27FC236}">
                <a16:creationId xmlns:a16="http://schemas.microsoft.com/office/drawing/2014/main" id="{930363BD-3976-4AF8-88CB-DBED8698B8BB}"/>
              </a:ext>
            </a:extLst>
          </p:cNvPr>
          <p:cNvSpPr>
            <a:spLocks noGrp="1"/>
          </p:cNvSpPr>
          <p:nvPr/>
        </p:nvSpPr>
        <p:spPr>
          <a:xfrm>
            <a:off x="8293608" y="1325880"/>
            <a:ext cx="3239719" cy="237744"/>
          </a:xfrm>
          <a:prstGeom prst="rect">
            <a:avLst/>
          </a:prstGeom>
          <a:noFill/>
        </p:spPr>
        <p:txBody>
          <a:bodyPr wrap="none" lIns="0" tIns="0" rIns="0" bIns="0" anchor="ctr">
            <a:noAutofit/>
          </a:bodyPr>
          <a:lstStyle/>
          <a:p>
            <a:pPr marL="0" indent="0" algn="l">
              <a:buNone/>
              <a:defRPr sz="1350" b="1">
                <a:solidFill>
                  <a:srgbClr val="C5CCDA"/>
                </a:solidFill>
                <a:latin typeface="Calibri"/>
                <a:ea typeface="Calibri"/>
                <a:cs typeface="Calibri"/>
              </a:defRPr>
            </a:pPr>
            <a:r>
              <a:rPr sz="1350" b="1" spc="120">
                <a:solidFill>
                  <a:srgbClr val="C5CCDA"/>
                </a:solidFill>
                <a:latin typeface="Calibri"/>
                <a:ea typeface="Calibri"/>
                <a:cs typeface="Calibri"/>
              </a:rPr>
              <a:t>AUGUST ACTUAL</a:t>
            </a:r>
            <a:endParaRPr sz="1200"/>
          </a:p>
        </p:txBody>
      </p:sp>
      <p:sp>
        <p:nvSpPr>
          <p:cNvPr id="12" name="Text 9">
            <a:extLst>
              <a:ext uri="{FF2B5EF4-FFF2-40B4-BE49-F238E27FC236}">
                <a16:creationId xmlns:a16="http://schemas.microsoft.com/office/drawing/2014/main" id="{C9095B51-66CE-4E12-96E1-1C0DD2A6C63C}"/>
              </a:ext>
            </a:extLst>
          </p:cNvPr>
          <p:cNvSpPr>
            <a:spLocks noGrp="1"/>
          </p:cNvSpPr>
          <p:nvPr/>
        </p:nvSpPr>
        <p:spPr>
          <a:xfrm>
            <a:off x="8293608" y="1527048"/>
            <a:ext cx="3239719" cy="438912"/>
          </a:xfrm>
          <a:prstGeom prst="rect">
            <a:avLst/>
          </a:prstGeom>
          <a:noFill/>
        </p:spPr>
        <p:txBody>
          <a:bodyPr wrap="none" lIns="0" tIns="0" rIns="0" bIns="0" anchor="ctr">
            <a:noAutofit/>
          </a:bodyPr>
          <a:lstStyle/>
          <a:p>
            <a:pPr marL="0" indent="0" algn="l">
              <a:buNone/>
              <a:defRPr sz="3150" b="1">
                <a:solidFill>
                  <a:srgbClr val="6EC8FF"/>
                </a:solidFill>
                <a:latin typeface="Calibri"/>
                <a:ea typeface="Calibri"/>
                <a:cs typeface="Calibri"/>
              </a:defRPr>
            </a:pPr>
            <a:r>
              <a:rPr sz="3150" b="1">
                <a:solidFill>
                  <a:srgbClr val="6EC8FF"/>
                </a:solidFill>
                <a:latin typeface="Calibri"/>
                <a:ea typeface="Calibri"/>
                <a:cs typeface="Calibri"/>
              </a:rPr>
              <a:t>$3.49M</a:t>
            </a:r>
            <a:endParaRPr sz="2800"/>
          </a:p>
        </p:txBody>
      </p:sp>
      <p:sp>
        <p:nvSpPr>
          <p:cNvPr id="13" name="Text 10">
            <a:extLst>
              <a:ext uri="{FF2B5EF4-FFF2-40B4-BE49-F238E27FC236}">
                <a16:creationId xmlns:a16="http://schemas.microsoft.com/office/drawing/2014/main" id="{638230B3-BCB8-4EC5-8F97-B9012BC5ADD0}"/>
              </a:ext>
            </a:extLst>
          </p:cNvPr>
          <p:cNvSpPr>
            <a:spLocks noGrp="1"/>
          </p:cNvSpPr>
          <p:nvPr/>
        </p:nvSpPr>
        <p:spPr>
          <a:xfrm>
            <a:off x="8293608" y="1929384"/>
            <a:ext cx="3239719" cy="329184"/>
          </a:xfrm>
          <a:prstGeom prst="rect">
            <a:avLst/>
          </a:prstGeom>
          <a:noFill/>
        </p:spPr>
        <p:txBody>
          <a:bodyPr wrap="none" lIns="0" tIns="0" rIns="0" bIns="0" anchor="ctr">
            <a:noAutofit/>
          </a:bodyPr>
          <a:lstStyle/>
          <a:p>
            <a:pPr marL="0" indent="0" algn="l">
              <a:lnSpc>
                <a:spcPct val="105000"/>
              </a:lnSpc>
              <a:buNone/>
              <a:defRPr sz="1350" b="1">
                <a:solidFill>
                  <a:srgbClr val="6EC8FF"/>
                </a:solidFill>
                <a:latin typeface="Calibri"/>
                <a:ea typeface="Calibri"/>
                <a:cs typeface="Calibri"/>
              </a:defRPr>
            </a:pPr>
            <a:r>
              <a:rPr sz="1350" b="1">
                <a:solidFill>
                  <a:srgbClr val="6EC8FF"/>
                </a:solidFill>
                <a:latin typeface="Calibri"/>
                <a:ea typeface="Calibri"/>
                <a:cs typeface="Calibri"/>
              </a:rPr>
              <a:t>base case said $3.50M</a:t>
            </a:r>
            <a:endParaRPr sz="1200"/>
          </a:p>
        </p:txBody>
      </p:sp>
      <p:sp>
        <p:nvSpPr>
          <p:cNvPr id="14" name="Shape 11">
            <a:extLst>
              <a:ext uri="{FF2B5EF4-FFF2-40B4-BE49-F238E27FC236}">
                <a16:creationId xmlns:a16="http://schemas.microsoft.com/office/drawing/2014/main" id="{421954A7-CBBB-4180-8D5E-1CBF415ECF2A}"/>
              </a:ext>
            </a:extLst>
          </p:cNvPr>
          <p:cNvSpPr>
            <a:spLocks noGrp="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5" name="Text 12">
            <a:extLst>
              <a:ext uri="{FF2B5EF4-FFF2-40B4-BE49-F238E27FC236}">
                <a16:creationId xmlns:a16="http://schemas.microsoft.com/office/drawing/2014/main" id="{044EC2A5-A65D-42F4-92F0-6814715B5194}"/>
              </a:ext>
            </a:extLst>
          </p:cNvPr>
          <p:cNvSpPr>
            <a:spLocks noGrp="1"/>
          </p:cNvSpPr>
          <p:nvPr/>
        </p:nvSpPr>
        <p:spPr>
          <a:xfrm>
            <a:off x="8293608" y="2551176"/>
            <a:ext cx="3239719" cy="237744"/>
          </a:xfrm>
          <a:prstGeom prst="rect">
            <a:avLst/>
          </a:prstGeom>
          <a:noFill/>
        </p:spPr>
        <p:txBody>
          <a:bodyPr wrap="none" lIns="0" tIns="0" rIns="0" bIns="0" anchor="ctr">
            <a:noAutofit/>
          </a:bodyPr>
          <a:lstStyle/>
          <a:p>
            <a:pPr marL="0" indent="0" algn="l">
              <a:buNone/>
              <a:defRPr sz="1350" b="1">
                <a:solidFill>
                  <a:srgbClr val="C5CCDA"/>
                </a:solidFill>
                <a:latin typeface="Calibri"/>
                <a:ea typeface="Calibri"/>
                <a:cs typeface="Calibri"/>
              </a:defRPr>
            </a:pPr>
            <a:r>
              <a:rPr sz="1350" b="1" spc="120">
                <a:solidFill>
                  <a:srgbClr val="C5CCDA"/>
                </a:solidFill>
                <a:latin typeface="Calibri"/>
                <a:ea typeface="Calibri"/>
                <a:cs typeface="Calibri"/>
              </a:rPr>
              <a:t>BASE CASE · DECEMBER</a:t>
            </a:r>
            <a:endParaRPr sz="1200"/>
          </a:p>
        </p:txBody>
      </p:sp>
      <p:sp>
        <p:nvSpPr>
          <p:cNvPr id="16" name="Text 13">
            <a:extLst>
              <a:ext uri="{FF2B5EF4-FFF2-40B4-BE49-F238E27FC236}">
                <a16:creationId xmlns:a16="http://schemas.microsoft.com/office/drawing/2014/main" id="{96047E6E-2EA7-48C1-8CC1-AD6FAABF3FE6}"/>
              </a:ext>
            </a:extLst>
          </p:cNvPr>
          <p:cNvSpPr>
            <a:spLocks noGrp="1"/>
          </p:cNvSpPr>
          <p:nvPr/>
        </p:nvSpPr>
        <p:spPr>
          <a:xfrm>
            <a:off x="8293608" y="2752344"/>
            <a:ext cx="3239719" cy="438912"/>
          </a:xfrm>
          <a:prstGeom prst="rect">
            <a:avLst/>
          </a:prstGeom>
          <a:noFill/>
        </p:spPr>
        <p:txBody>
          <a:bodyPr wrap="none" lIns="0" tIns="0" rIns="0" bIns="0" anchor="ctr">
            <a:noAutofit/>
          </a:bodyPr>
          <a:lstStyle/>
          <a:p>
            <a:pPr marL="0" indent="0" algn="l">
              <a:buNone/>
              <a:defRPr sz="3150" b="1">
                <a:solidFill>
                  <a:srgbClr val="FF9B5C"/>
                </a:solidFill>
                <a:latin typeface="Calibri"/>
                <a:ea typeface="Calibri"/>
                <a:cs typeface="Calibri"/>
              </a:defRPr>
            </a:pPr>
            <a:r>
              <a:rPr sz="3150" b="1">
                <a:solidFill>
                  <a:srgbClr val="FF9B5C"/>
                </a:solidFill>
                <a:latin typeface="Calibri"/>
                <a:ea typeface="Calibri"/>
                <a:cs typeface="Calibri"/>
              </a:rPr>
              <a:t>$4.01M</a:t>
            </a:r>
            <a:endParaRPr sz="2800"/>
          </a:p>
        </p:txBody>
      </p:sp>
      <p:sp>
        <p:nvSpPr>
          <p:cNvPr id="17" name="Text 14">
            <a:extLst>
              <a:ext uri="{FF2B5EF4-FFF2-40B4-BE49-F238E27FC236}">
                <a16:creationId xmlns:a16="http://schemas.microsoft.com/office/drawing/2014/main" id="{404CF916-C277-43EB-8101-38CE03CFDC77}"/>
              </a:ext>
            </a:extLst>
          </p:cNvPr>
          <p:cNvSpPr>
            <a:spLocks noGrp="1"/>
          </p:cNvSpPr>
          <p:nvPr/>
        </p:nvSpPr>
        <p:spPr>
          <a:xfrm>
            <a:off x="8293608" y="3154680"/>
            <a:ext cx="3239719" cy="329184"/>
          </a:xfrm>
          <a:prstGeom prst="rect">
            <a:avLst/>
          </a:prstGeom>
          <a:noFill/>
        </p:spPr>
        <p:txBody>
          <a:bodyPr wrap="none" lIns="0" tIns="0" rIns="0" bIns="0" anchor="ctr">
            <a:noAutofit/>
          </a:bodyPr>
          <a:lstStyle/>
          <a:p>
            <a:pPr marL="0" indent="0" algn="l">
              <a:lnSpc>
                <a:spcPct val="105000"/>
              </a:lnSpc>
              <a:buNone/>
              <a:defRPr sz="1350" b="1">
                <a:solidFill>
                  <a:srgbClr val="FF9B5C"/>
                </a:solidFill>
                <a:latin typeface="Calibri"/>
                <a:ea typeface="Calibri"/>
                <a:cs typeface="Calibri"/>
              </a:defRPr>
            </a:pPr>
            <a:r>
              <a:rPr sz="1350" b="1">
                <a:solidFill>
                  <a:srgbClr val="FF9B5C"/>
                </a:solidFill>
                <a:latin typeface="Calibri"/>
                <a:ea typeface="Calibri"/>
                <a:cs typeface="Calibri"/>
              </a:rPr>
              <a:t>unchanged — August supports it</a:t>
            </a:r>
            <a:endParaRPr sz="1200"/>
          </a:p>
        </p:txBody>
      </p:sp>
      <p:sp>
        <p:nvSpPr>
          <p:cNvPr id="18" name="Shape 15">
            <a:extLst>
              <a:ext uri="{FF2B5EF4-FFF2-40B4-BE49-F238E27FC236}">
                <a16:creationId xmlns:a16="http://schemas.microsoft.com/office/drawing/2014/main" id="{2C528B44-3F2B-436C-8970-CDAED70F79A1}"/>
              </a:ext>
            </a:extLst>
          </p:cNvPr>
          <p:cNvSpPr>
            <a:spLocks noGrp="1"/>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9" name="Text 16">
            <a:extLst>
              <a:ext uri="{FF2B5EF4-FFF2-40B4-BE49-F238E27FC236}">
                <a16:creationId xmlns:a16="http://schemas.microsoft.com/office/drawing/2014/main" id="{D93D5870-9D7E-4AF2-AF04-95CE8BF5E769}"/>
              </a:ext>
            </a:extLst>
          </p:cNvPr>
          <p:cNvSpPr>
            <a:spLocks noGrp="1"/>
          </p:cNvSpPr>
          <p:nvPr/>
        </p:nvSpPr>
        <p:spPr>
          <a:xfrm>
            <a:off x="8293608" y="3776472"/>
            <a:ext cx="3239719" cy="237744"/>
          </a:xfrm>
          <a:prstGeom prst="rect">
            <a:avLst/>
          </a:prstGeom>
          <a:noFill/>
        </p:spPr>
        <p:txBody>
          <a:bodyPr wrap="none" lIns="0" tIns="0" rIns="0" bIns="0" anchor="ctr">
            <a:noAutofit/>
          </a:bodyPr>
          <a:lstStyle/>
          <a:p>
            <a:pPr marL="0" indent="0" algn="l">
              <a:buNone/>
              <a:defRPr sz="1350" b="1">
                <a:solidFill>
                  <a:srgbClr val="C5CCDA"/>
                </a:solidFill>
                <a:latin typeface="Calibri"/>
                <a:ea typeface="Calibri"/>
                <a:cs typeface="Calibri"/>
              </a:defRPr>
            </a:pPr>
            <a:r>
              <a:rPr sz="1350" b="1" spc="120">
                <a:solidFill>
                  <a:srgbClr val="C5CCDA"/>
                </a:solidFill>
                <a:latin typeface="Calibri"/>
                <a:ea typeface="Calibri"/>
                <a:cs typeface="Calibri"/>
              </a:rPr>
              <a:t>FASTER CASE · DECEMBER</a:t>
            </a:r>
            <a:endParaRPr sz="1200"/>
          </a:p>
        </p:txBody>
      </p:sp>
      <p:sp>
        <p:nvSpPr>
          <p:cNvPr id="20" name="Text 17">
            <a:extLst>
              <a:ext uri="{FF2B5EF4-FFF2-40B4-BE49-F238E27FC236}">
                <a16:creationId xmlns:a16="http://schemas.microsoft.com/office/drawing/2014/main" id="{BD853AE9-5389-4701-BD8B-D1B0720EA685}"/>
              </a:ext>
            </a:extLst>
          </p:cNvPr>
          <p:cNvSpPr>
            <a:spLocks noGrp="1"/>
          </p:cNvSpPr>
          <p:nvPr/>
        </p:nvSpPr>
        <p:spPr>
          <a:xfrm>
            <a:off x="8293608" y="3977640"/>
            <a:ext cx="3239719" cy="438912"/>
          </a:xfrm>
          <a:prstGeom prst="rect">
            <a:avLst/>
          </a:prstGeom>
          <a:noFill/>
        </p:spPr>
        <p:txBody>
          <a:bodyPr wrap="none" lIns="0" tIns="0" rIns="0" bIns="0" anchor="ctr">
            <a:noAutofit/>
          </a:bodyPr>
          <a:lstStyle/>
          <a:p>
            <a:pPr marL="0" indent="0" algn="l">
              <a:buNone/>
              <a:defRPr sz="3150" b="1">
                <a:solidFill>
                  <a:srgbClr val="F4F7FB"/>
                </a:solidFill>
                <a:latin typeface="Calibri"/>
                <a:ea typeface="Calibri"/>
                <a:cs typeface="Calibri"/>
              </a:defRPr>
            </a:pPr>
            <a:r>
              <a:rPr sz="3150" b="1">
                <a:solidFill>
                  <a:srgbClr val="F4F7FB"/>
                </a:solidFill>
                <a:latin typeface="Calibri"/>
                <a:ea typeface="Calibri"/>
                <a:cs typeface="Calibri"/>
              </a:rPr>
              <a:t>$5.78M</a:t>
            </a:r>
            <a:endParaRPr sz="2800"/>
          </a:p>
        </p:txBody>
      </p:sp>
      <p:sp>
        <p:nvSpPr>
          <p:cNvPr id="21" name="Text 18">
            <a:extLst>
              <a:ext uri="{FF2B5EF4-FFF2-40B4-BE49-F238E27FC236}">
                <a16:creationId xmlns:a16="http://schemas.microsoft.com/office/drawing/2014/main" id="{9C4A3741-A1BF-4A17-812D-C0F483A5517B}"/>
              </a:ext>
            </a:extLst>
          </p:cNvPr>
          <p:cNvSpPr>
            <a:spLocks noGrp="1"/>
          </p:cNvSpPr>
          <p:nvPr/>
        </p:nvSpPr>
        <p:spPr>
          <a:xfrm>
            <a:off x="8293608" y="4379976"/>
            <a:ext cx="3239719" cy="329184"/>
          </a:xfrm>
          <a:prstGeom prst="rect">
            <a:avLst/>
          </a:prstGeom>
          <a:noFill/>
        </p:spPr>
        <p:txBody>
          <a:bodyPr wrap="none" lIns="0" tIns="0" rIns="0" bIns="0" anchor="ctr">
            <a:noAutofit/>
          </a:bodyPr>
          <a:lstStyle/>
          <a:p>
            <a:pPr marL="0" indent="0" algn="l">
              <a:lnSpc>
                <a:spcPct val="105000"/>
              </a:lnSpc>
              <a:buNone/>
              <a:defRPr sz="1350" b="1">
                <a:solidFill>
                  <a:srgbClr val="C5CCDA"/>
                </a:solidFill>
                <a:latin typeface="Calibri"/>
                <a:ea typeface="Calibri"/>
                <a:cs typeface="Calibri"/>
              </a:defRPr>
            </a:pPr>
            <a:r>
              <a:rPr sz="1350" b="1">
                <a:solidFill>
                  <a:srgbClr val="C5CCDA"/>
                </a:solidFill>
                <a:latin typeface="Calibri"/>
                <a:ea typeface="Calibri"/>
                <a:cs typeface="Calibri"/>
              </a:rPr>
              <a:t>not the path we are on</a:t>
            </a:r>
            <a:endParaRPr sz="1200"/>
          </a:p>
        </p:txBody>
      </p:sp>
      <p:graphicFrame>
        <p:nvGraphicFramePr>
          <p:cNvPr id="42" name="Chart"/>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068783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6795454-80C5-4F39-AF5F-5527212BB999}"/>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3557F83F-F1FB-4E8D-990F-9512E1D30F09}"/>
              </a:ext>
            </a:extLst>
          </p:cNvPr>
          <p:cNvSpPr>
            <a:spLocks noGrp="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a:p>
        </p:txBody>
      </p:sp>
      <p:sp>
        <p:nvSpPr>
          <p:cNvPr id="4" name="Text 2">
            <a:extLst>
              <a:ext uri="{FF2B5EF4-FFF2-40B4-BE49-F238E27FC236}">
                <a16:creationId xmlns:a16="http://schemas.microsoft.com/office/drawing/2014/main" id="{8C448E3E-C698-465B-B264-08803A03F338}"/>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3DD9EB"/>
                </a:solidFill>
                <a:latin typeface="Calibri"/>
                <a:ea typeface="Calibri"/>
                <a:cs typeface="Calibri"/>
              </a:rPr>
              <a:t>WHERE WE ARE</a:t>
            </a:r>
            <a:endParaRPr sz="1300"/>
          </a:p>
        </p:txBody>
      </p:sp>
      <p:sp>
        <p:nvSpPr>
          <p:cNvPr id="5" name="Text 3">
            <a:extLst>
              <a:ext uri="{FF2B5EF4-FFF2-40B4-BE49-F238E27FC236}">
                <a16:creationId xmlns:a16="http://schemas.microsoft.com/office/drawing/2014/main" id="{A7E20861-39E1-4AA5-A632-691808E29F03}"/>
              </a:ext>
            </a:extLst>
          </p:cNvPr>
          <p:cNvSpPr>
            <a:spLocks noGrp="1"/>
          </p:cNvSpPr>
          <p:nvPr/>
        </p:nvSpPr>
        <p:spPr>
          <a:xfrm>
            <a:off x="457200" y="548640"/>
            <a:ext cx="7680960" cy="566928"/>
          </a:xfrm>
          <a:prstGeom prst="rect">
            <a:avLst/>
          </a:prstGeom>
          <a:noFill/>
        </p:spPr>
        <p:txBody>
          <a:bodyPr wrap="none" lIns="0" tIns="0" rIns="0" bIns="0" anchor="ctr">
            <a:noAutofit/>
          </a:bodyPr>
          <a:lstStyle/>
          <a:p>
            <a:pPr marL="0" indent="0" algn="l">
              <a:buNone/>
              <a:defRPr sz="3000" b="1">
                <a:solidFill>
                  <a:srgbClr val="F4F7FB"/>
                </a:solidFill>
                <a:latin typeface="Calibri"/>
                <a:ea typeface="Calibri"/>
                <a:cs typeface="Calibri"/>
              </a:defRPr>
            </a:pPr>
            <a:r>
              <a:rPr sz="3000" b="1">
                <a:solidFill>
                  <a:srgbClr val="F4F7FB"/>
                </a:solidFill>
                <a:latin typeface="Calibri"/>
                <a:ea typeface="Calibri"/>
                <a:cs typeface="Calibri"/>
              </a:rPr>
              <a:t>Azure fell, AWS rose, and the growth moved to AI</a:t>
            </a:r>
            <a:endParaRPr sz="2800"/>
          </a:p>
        </p:txBody>
      </p:sp>
      <p:sp>
        <p:nvSpPr>
          <p:cNvPr id="6" name="Text 4">
            <a:extLst>
              <a:ext uri="{FF2B5EF4-FFF2-40B4-BE49-F238E27FC236}">
                <a16:creationId xmlns:a16="http://schemas.microsoft.com/office/drawing/2014/main" id="{63903009-D89C-45DB-83F7-8C3E621BBF82}"/>
              </a:ext>
            </a:extLst>
          </p:cNvPr>
          <p:cNvSpPr>
            <a:spLocks noGrp="1"/>
          </p:cNvSpPr>
          <p:nvPr/>
        </p:nvSpPr>
        <p:spPr>
          <a:xfrm>
            <a:off x="8321040" y="493776"/>
            <a:ext cx="3413455" cy="658368"/>
          </a:xfrm>
          <a:prstGeom prst="rect">
            <a:avLst/>
          </a:prstGeom>
          <a:noFill/>
        </p:spPr>
        <p:txBody>
          <a:bodyPr wrap="none" lIns="0" tIns="0" rIns="0" bIns="0" anchor="ctr">
            <a:noAutofit/>
          </a:bodyPr>
          <a:lstStyle/>
          <a:p>
            <a:pPr algn="r">
              <a:buNone/>
              <a:defRPr>
                <a:latin typeface="Calibri"/>
                <a:ea typeface="Calibri"/>
                <a:cs typeface="Calibri"/>
              </a:defRPr>
            </a:pPr>
            <a:r>
              <a:rPr sz="1500" b="1">
                <a:solidFill>
                  <a:srgbClr val="B07CFF"/>
                </a:solidFill>
                <a:latin typeface="Calibri"/>
                <a:ea typeface="Calibri"/>
                <a:cs typeface="Calibri"/>
              </a:rPr>
              <a:t>AUGUST MONTHLY CONSUMPTION
$291.1K</a:t>
            </a:r>
          </a:p>
        </p:txBody>
      </p:sp>
      <p:sp>
        <p:nvSpPr>
          <p:cNvPr id="7" name="Text 5">
            <a:extLst>
              <a:ext uri="{FF2B5EF4-FFF2-40B4-BE49-F238E27FC236}">
                <a16:creationId xmlns:a16="http://schemas.microsoft.com/office/drawing/2014/main" id="{C989A9AA-7E70-4325-BB59-18DCC0F25837}"/>
              </a:ext>
            </a:extLst>
          </p:cNvPr>
          <p:cNvSpPr>
            <a:spLocks noGrp="1"/>
          </p:cNvSpPr>
          <p:nvPr/>
        </p:nvSpPr>
        <p:spPr>
          <a:xfrm>
            <a:off x="457200" y="6345936"/>
            <a:ext cx="11277295" cy="402336"/>
          </a:xfrm>
          <a:prstGeom prst="rect">
            <a:avLst/>
          </a:prstGeom>
          <a:noFill/>
        </p:spPr>
        <p:txBody>
          <a:bodyPr wrap="none" lIns="0" tIns="0" rIns="0" bIns="0" anchor="ctr">
            <a:noAutofit/>
          </a:bodyPr>
          <a:lstStyle/>
          <a:p>
            <a:pPr marL="0" indent="0" algn="l">
              <a:lnSpc>
                <a:spcPct val="115000"/>
              </a:lnSpc>
              <a:buNone/>
              <a:defRPr sz="1350" b="0">
                <a:solidFill>
                  <a:srgbClr val="536078"/>
                </a:solidFill>
                <a:latin typeface="Calibri"/>
                <a:ea typeface="Calibri"/>
                <a:cs typeface="Calibri"/>
              </a:defRPr>
            </a:pPr>
            <a:r>
              <a:rPr sz="1350" b="0">
                <a:solidFill>
                  <a:srgbClr val="536078"/>
                </a:solidFill>
                <a:latin typeface="Calibri"/>
                <a:ea typeface="Calibri"/>
                <a:cs typeface="Calibri"/>
              </a:rPr>
              <a:t>The estate barely grew. What changed is its composition: infrastructure came down and AI went up by more.</a:t>
            </a:r>
            <a:endParaRPr sz="1200"/>
          </a:p>
        </p:txBody>
      </p:sp>
      <p:sp>
        <p:nvSpPr>
          <p:cNvPr id="8" name="Text 6">
            <a:extLst>
              <a:ext uri="{FF2B5EF4-FFF2-40B4-BE49-F238E27FC236}">
                <a16:creationId xmlns:a16="http://schemas.microsoft.com/office/drawing/2014/main" id="{34774243-A7FF-4B9C-8E31-8A64E43DF4EF}"/>
              </a:ext>
            </a:extLst>
          </p:cNvPr>
          <p:cNvSpPr>
            <a:spLocks noGrp="1"/>
          </p:cNvSpPr>
          <p:nvPr/>
        </p:nvSpPr>
        <p:spPr>
          <a:xfrm>
            <a:off x="457200" y="1691640"/>
            <a:ext cx="5669280" cy="1371600"/>
          </a:xfrm>
          <a:prstGeom prst="rect">
            <a:avLst/>
          </a:prstGeom>
          <a:noFill/>
        </p:spPr>
        <p:txBody>
          <a:bodyPr wrap="none" lIns="0" tIns="0" rIns="0" bIns="0" anchor="ctr">
            <a:noAutofit/>
          </a:bodyPr>
          <a:lstStyle/>
          <a:p>
            <a:pPr marL="0" indent="0" algn="l">
              <a:buNone/>
              <a:defRPr sz="8400" b="1">
                <a:solidFill>
                  <a:srgbClr val="F4F7FB"/>
                </a:solidFill>
                <a:latin typeface="Calibri"/>
                <a:ea typeface="Calibri"/>
                <a:cs typeface="Calibri"/>
              </a:defRPr>
            </a:pPr>
            <a:r>
              <a:rPr sz="8400" b="1">
                <a:solidFill>
                  <a:srgbClr val="F4F7FB"/>
                </a:solidFill>
                <a:latin typeface="Calibri"/>
                <a:ea typeface="Calibri"/>
                <a:cs typeface="Calibri"/>
              </a:rPr>
              <a:t>$3.49M</a:t>
            </a:r>
            <a:endParaRPr sz="9600"/>
          </a:p>
        </p:txBody>
      </p:sp>
      <p:sp>
        <p:nvSpPr>
          <p:cNvPr id="9" name="Text 7">
            <a:extLst>
              <a:ext uri="{FF2B5EF4-FFF2-40B4-BE49-F238E27FC236}">
                <a16:creationId xmlns:a16="http://schemas.microsoft.com/office/drawing/2014/main" id="{D014710B-ED5F-45D4-9870-D525C407D9F1}"/>
              </a:ext>
            </a:extLst>
          </p:cNvPr>
          <p:cNvSpPr>
            <a:spLocks noGrp="1"/>
          </p:cNvSpPr>
          <p:nvPr/>
        </p:nvSpPr>
        <p:spPr>
          <a:xfrm>
            <a:off x="457200" y="3063240"/>
            <a:ext cx="5669280" cy="365760"/>
          </a:xfrm>
          <a:prstGeom prst="rect">
            <a:avLst/>
          </a:prstGeom>
          <a:noFill/>
        </p:spPr>
        <p:txBody>
          <a:bodyPr wrap="none" lIns="0" tIns="0" rIns="0" bIns="0" anchor="ctr">
            <a:noAutofit/>
          </a:bodyPr>
          <a:lstStyle/>
          <a:p>
            <a:pPr marL="0" indent="0" algn="l">
              <a:buNone/>
              <a:defRPr sz="1800" b="1">
                <a:solidFill>
                  <a:srgbClr val="C5CCDA"/>
                </a:solidFill>
                <a:latin typeface="Calibri"/>
                <a:ea typeface="Calibri"/>
                <a:cs typeface="Calibri"/>
              </a:defRPr>
            </a:pPr>
            <a:r>
              <a:rPr sz="1800" b="1">
                <a:solidFill>
                  <a:srgbClr val="C5CCDA"/>
                </a:solidFill>
                <a:latin typeface="Calibri"/>
                <a:ea typeface="Calibri"/>
                <a:cs typeface="Calibri"/>
              </a:rPr>
              <a:t>Annualized from August · not a forecast</a:t>
            </a:r>
            <a:endParaRPr sz="1500"/>
          </a:p>
        </p:txBody>
      </p:sp>
      <p:sp>
        <p:nvSpPr>
          <p:cNvPr id="10" name="Text 8">
            <a:extLst>
              <a:ext uri="{FF2B5EF4-FFF2-40B4-BE49-F238E27FC236}">
                <a16:creationId xmlns:a16="http://schemas.microsoft.com/office/drawing/2014/main" id="{320E8E31-22B7-4616-9C30-29883B1D1A50}"/>
              </a:ext>
            </a:extLst>
          </p:cNvPr>
          <p:cNvSpPr>
            <a:spLocks noGrp="1"/>
          </p:cNvSpPr>
          <p:nvPr/>
        </p:nvSpPr>
        <p:spPr>
          <a:xfrm>
            <a:off x="457200" y="3456432"/>
            <a:ext cx="5669280" cy="365760"/>
          </a:xfrm>
          <a:prstGeom prst="rect">
            <a:avLst/>
          </a:prstGeom>
          <a:noFill/>
        </p:spPr>
        <p:txBody>
          <a:bodyPr wrap="none" lIns="0" tIns="0" rIns="0" bIns="0" anchor="ctr">
            <a:noAutofit/>
          </a:bodyPr>
          <a:lstStyle/>
          <a:p>
            <a:pPr marL="0" indent="0" algn="l">
              <a:buNone/>
              <a:defRPr sz="1725" b="1">
                <a:solidFill>
                  <a:srgbClr val="B07CFF"/>
                </a:solidFill>
                <a:latin typeface="Calibri"/>
                <a:ea typeface="Calibri"/>
                <a:cs typeface="Calibri"/>
              </a:defRPr>
            </a:pPr>
            <a:r>
              <a:rPr sz="1725" b="1">
                <a:solidFill>
                  <a:srgbClr val="B07CFF"/>
                </a:solidFill>
                <a:latin typeface="Calibri"/>
                <a:ea typeface="Calibri"/>
                <a:cs typeface="Calibri"/>
              </a:rPr>
              <a:t>+$91K annual pace since July · +2.7%</a:t>
            </a:r>
            <a:endParaRPr sz="1700"/>
          </a:p>
        </p:txBody>
      </p:sp>
      <p:sp>
        <p:nvSpPr>
          <p:cNvPr id="11" name="Shape 9">
            <a:extLst>
              <a:ext uri="{FF2B5EF4-FFF2-40B4-BE49-F238E27FC236}">
                <a16:creationId xmlns:a16="http://schemas.microsoft.com/office/drawing/2014/main" id="{2C5EA507-A981-4FBE-933D-5006B88E456E}"/>
              </a:ext>
            </a:extLst>
          </p:cNvPr>
          <p:cNvSpPr>
            <a:spLocks noGrp="1"/>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a:p>
        </p:txBody>
      </p:sp>
      <p:sp>
        <p:nvSpPr>
          <p:cNvPr id="12" name="Text 10">
            <a:extLst>
              <a:ext uri="{FF2B5EF4-FFF2-40B4-BE49-F238E27FC236}">
                <a16:creationId xmlns:a16="http://schemas.microsoft.com/office/drawing/2014/main" id="{D39C015B-DE21-4043-97C4-9920F9C77AAA}"/>
              </a:ext>
            </a:extLst>
          </p:cNvPr>
          <p:cNvSpPr>
            <a:spLocks noGrp="1"/>
          </p:cNvSpPr>
          <p:nvPr/>
        </p:nvSpPr>
        <p:spPr>
          <a:xfrm>
            <a:off x="6693408" y="1682496"/>
            <a:ext cx="4839919" cy="274320"/>
          </a:xfrm>
          <a:prstGeom prst="rect">
            <a:avLst/>
          </a:prstGeom>
          <a:noFill/>
        </p:spPr>
        <p:txBody>
          <a:bodyPr wrap="none" lIns="0" tIns="0" rIns="0" bIns="0" anchor="ctr">
            <a:noAutofit/>
          </a:bodyPr>
          <a:lstStyle/>
          <a:p>
            <a:pPr marL="0" indent="0" algn="l">
              <a:buNone/>
              <a:defRPr sz="1500" b="1">
                <a:solidFill>
                  <a:srgbClr val="6EC8FF"/>
                </a:solidFill>
                <a:latin typeface="Calibri"/>
                <a:ea typeface="Calibri"/>
                <a:cs typeface="Calibri"/>
              </a:defRPr>
            </a:pPr>
            <a:r>
              <a:rPr sz="1500" b="1">
                <a:solidFill>
                  <a:srgbClr val="6EC8FF"/>
                </a:solidFill>
                <a:latin typeface="Calibri"/>
                <a:ea typeface="Calibri"/>
                <a:cs typeface="Calibri"/>
              </a:rPr>
              <a:t>Azure</a:t>
            </a:r>
            <a:endParaRPr sz="1500"/>
          </a:p>
        </p:txBody>
      </p:sp>
      <p:sp>
        <p:nvSpPr>
          <p:cNvPr id="13" name="Text 11">
            <a:extLst>
              <a:ext uri="{FF2B5EF4-FFF2-40B4-BE49-F238E27FC236}">
                <a16:creationId xmlns:a16="http://schemas.microsoft.com/office/drawing/2014/main" id="{BCF1D0F5-FC03-4293-952A-708C28B319D3}"/>
              </a:ext>
            </a:extLst>
          </p:cNvPr>
          <p:cNvSpPr>
            <a:spLocks noGrp="1"/>
          </p:cNvSpPr>
          <p:nvPr/>
        </p:nvSpPr>
        <p:spPr>
          <a:xfrm>
            <a:off x="6693408" y="1975104"/>
            <a:ext cx="2419960" cy="347472"/>
          </a:xfrm>
          <a:prstGeom prst="rect">
            <a:avLst/>
          </a:prstGeom>
          <a:noFill/>
        </p:spPr>
        <p:txBody>
          <a:bodyPr wrap="none" lIns="0" tIns="0" rIns="0" bIns="0" anchor="ctr">
            <a:noAutofit/>
          </a:bodyPr>
          <a:lstStyle/>
          <a:p>
            <a:pPr marL="0" indent="0" algn="l">
              <a:buNone/>
              <a:defRPr sz="2325" b="1">
                <a:solidFill>
                  <a:srgbClr val="6EC8FF"/>
                </a:solidFill>
                <a:latin typeface="Calibri"/>
                <a:ea typeface="Calibri"/>
                <a:cs typeface="Calibri"/>
              </a:defRPr>
            </a:pPr>
            <a:r>
              <a:rPr sz="2325" b="1">
                <a:solidFill>
                  <a:srgbClr val="6EC8FF"/>
                </a:solidFill>
                <a:latin typeface="Calibri"/>
                <a:ea typeface="Calibri"/>
                <a:cs typeface="Calibri"/>
              </a:rPr>
              <a:t>$180,241</a:t>
            </a:r>
            <a:endParaRPr sz="2200"/>
          </a:p>
        </p:txBody>
      </p:sp>
      <p:sp>
        <p:nvSpPr>
          <p:cNvPr id="14" name="Text 12">
            <a:extLst>
              <a:ext uri="{FF2B5EF4-FFF2-40B4-BE49-F238E27FC236}">
                <a16:creationId xmlns:a16="http://schemas.microsoft.com/office/drawing/2014/main" id="{EE99CEF2-9611-47B6-BA7A-E8893BFBDE86}"/>
              </a:ext>
            </a:extLst>
          </p:cNvPr>
          <p:cNvSpPr>
            <a:spLocks noGrp="1"/>
          </p:cNvSpPr>
          <p:nvPr/>
        </p:nvSpPr>
        <p:spPr>
          <a:xfrm>
            <a:off x="9113368" y="1975104"/>
            <a:ext cx="2419960" cy="347472"/>
          </a:xfrm>
          <a:prstGeom prst="rect">
            <a:avLst/>
          </a:prstGeom>
          <a:noFill/>
        </p:spPr>
        <p:txBody>
          <a:bodyPr wrap="none" lIns="0" tIns="0" rIns="0" bIns="0" anchor="ctr">
            <a:noAutofit/>
          </a:bodyPr>
          <a:lstStyle/>
          <a:p>
            <a:pPr marL="0" indent="0" algn="r">
              <a:buNone/>
              <a:defRPr sz="1575" b="1">
                <a:solidFill>
                  <a:srgbClr val="6EC8FF"/>
                </a:solidFill>
                <a:latin typeface="Calibri"/>
                <a:ea typeface="Calibri"/>
                <a:cs typeface="Calibri"/>
              </a:defRPr>
            </a:pPr>
            <a:r>
              <a:rPr sz="1575" b="1">
                <a:solidFill>
                  <a:srgbClr val="6EC8FF"/>
                </a:solidFill>
                <a:latin typeface="Calibri"/>
                <a:ea typeface="Calibri"/>
                <a:cs typeface="Calibri"/>
              </a:rPr>
              <a:t>62% of August consumption</a:t>
            </a:r>
            <a:endParaRPr sz="1200"/>
          </a:p>
        </p:txBody>
      </p:sp>
      <p:sp>
        <p:nvSpPr>
          <p:cNvPr id="15" name="Shape 13">
            <a:extLst>
              <a:ext uri="{FF2B5EF4-FFF2-40B4-BE49-F238E27FC236}">
                <a16:creationId xmlns:a16="http://schemas.microsoft.com/office/drawing/2014/main" id="{DBBF64F9-91C3-4634-8CEA-5CBC230FCFDB}"/>
              </a:ext>
            </a:extLst>
          </p:cNvPr>
          <p:cNvSpPr>
            <a:spLocks noGrp="1"/>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a:p>
        </p:txBody>
      </p:sp>
      <p:sp>
        <p:nvSpPr>
          <p:cNvPr id="16" name="Text 14">
            <a:extLst>
              <a:ext uri="{FF2B5EF4-FFF2-40B4-BE49-F238E27FC236}">
                <a16:creationId xmlns:a16="http://schemas.microsoft.com/office/drawing/2014/main" id="{08EB5DA9-06BC-4442-977D-ED91594A22CA}"/>
              </a:ext>
            </a:extLst>
          </p:cNvPr>
          <p:cNvSpPr>
            <a:spLocks noGrp="1"/>
          </p:cNvSpPr>
          <p:nvPr/>
        </p:nvSpPr>
        <p:spPr>
          <a:xfrm>
            <a:off x="6693408" y="2734056"/>
            <a:ext cx="4839919" cy="274320"/>
          </a:xfrm>
          <a:prstGeom prst="rect">
            <a:avLst/>
          </a:prstGeom>
          <a:noFill/>
        </p:spPr>
        <p:txBody>
          <a:bodyPr wrap="none" lIns="0" tIns="0" rIns="0" bIns="0" anchor="ctr">
            <a:noAutofit/>
          </a:bodyPr>
          <a:lstStyle/>
          <a:p>
            <a:pPr marL="0" indent="0" algn="l">
              <a:buNone/>
              <a:defRPr sz="1500" b="1">
                <a:solidFill>
                  <a:srgbClr val="FF9B5C"/>
                </a:solidFill>
                <a:latin typeface="Calibri"/>
                <a:ea typeface="Calibri"/>
                <a:cs typeface="Calibri"/>
              </a:defRPr>
            </a:pPr>
            <a:r>
              <a:rPr sz="1500" b="1">
                <a:solidFill>
                  <a:srgbClr val="FF9B5C"/>
                </a:solidFill>
                <a:latin typeface="Calibri"/>
                <a:ea typeface="Calibri"/>
                <a:cs typeface="Calibri"/>
              </a:rPr>
              <a:t>AWS</a:t>
            </a:r>
            <a:endParaRPr sz="1500"/>
          </a:p>
        </p:txBody>
      </p:sp>
      <p:sp>
        <p:nvSpPr>
          <p:cNvPr id="17" name="Text 15">
            <a:extLst>
              <a:ext uri="{FF2B5EF4-FFF2-40B4-BE49-F238E27FC236}">
                <a16:creationId xmlns:a16="http://schemas.microsoft.com/office/drawing/2014/main" id="{B559A1E5-CD39-4916-9CCE-151BBF4DA91E}"/>
              </a:ext>
            </a:extLst>
          </p:cNvPr>
          <p:cNvSpPr>
            <a:spLocks noGrp="1"/>
          </p:cNvSpPr>
          <p:nvPr/>
        </p:nvSpPr>
        <p:spPr>
          <a:xfrm>
            <a:off x="6693408" y="3026664"/>
            <a:ext cx="2419960" cy="347472"/>
          </a:xfrm>
          <a:prstGeom prst="rect">
            <a:avLst/>
          </a:prstGeom>
          <a:noFill/>
        </p:spPr>
        <p:txBody>
          <a:bodyPr wrap="none" lIns="0" tIns="0" rIns="0" bIns="0" anchor="ctr">
            <a:noAutofit/>
          </a:bodyPr>
          <a:lstStyle/>
          <a:p>
            <a:pPr marL="0" indent="0" algn="l">
              <a:buNone/>
              <a:defRPr sz="2325" b="1">
                <a:solidFill>
                  <a:srgbClr val="FF9B5C"/>
                </a:solidFill>
                <a:latin typeface="Calibri"/>
                <a:ea typeface="Calibri"/>
                <a:cs typeface="Calibri"/>
              </a:defRPr>
            </a:pPr>
            <a:r>
              <a:rPr sz="2325" b="1">
                <a:solidFill>
                  <a:srgbClr val="FF9B5C"/>
                </a:solidFill>
                <a:latin typeface="Calibri"/>
                <a:ea typeface="Calibri"/>
                <a:cs typeface="Calibri"/>
              </a:rPr>
              <a:t>$107,187</a:t>
            </a:r>
            <a:endParaRPr sz="2200"/>
          </a:p>
        </p:txBody>
      </p:sp>
      <p:sp>
        <p:nvSpPr>
          <p:cNvPr id="18" name="Text 16">
            <a:extLst>
              <a:ext uri="{FF2B5EF4-FFF2-40B4-BE49-F238E27FC236}">
                <a16:creationId xmlns:a16="http://schemas.microsoft.com/office/drawing/2014/main" id="{EEFB396D-5336-407E-8865-312876A6612C}"/>
              </a:ext>
            </a:extLst>
          </p:cNvPr>
          <p:cNvSpPr>
            <a:spLocks noGrp="1"/>
          </p:cNvSpPr>
          <p:nvPr/>
        </p:nvSpPr>
        <p:spPr>
          <a:xfrm>
            <a:off x="9113368" y="3026664"/>
            <a:ext cx="2419960" cy="347472"/>
          </a:xfrm>
          <a:prstGeom prst="rect">
            <a:avLst/>
          </a:prstGeom>
          <a:noFill/>
        </p:spPr>
        <p:txBody>
          <a:bodyPr wrap="none" lIns="0" tIns="0" rIns="0" bIns="0" anchor="ctr">
            <a:noAutofit/>
          </a:bodyPr>
          <a:lstStyle/>
          <a:p>
            <a:pPr marL="0" indent="0" algn="r">
              <a:buNone/>
              <a:defRPr sz="1575" b="1">
                <a:solidFill>
                  <a:srgbClr val="FF9B5C"/>
                </a:solidFill>
                <a:latin typeface="Calibri"/>
                <a:ea typeface="Calibri"/>
                <a:cs typeface="Calibri"/>
              </a:defRPr>
            </a:pPr>
            <a:r>
              <a:rPr sz="1575" b="1">
                <a:solidFill>
                  <a:srgbClr val="FF9B5C"/>
                </a:solidFill>
                <a:latin typeface="Calibri"/>
                <a:ea typeface="Calibri"/>
                <a:cs typeface="Calibri"/>
              </a:rPr>
              <a:t>37% of August consumption</a:t>
            </a:r>
            <a:endParaRPr sz="1200"/>
          </a:p>
        </p:txBody>
      </p:sp>
      <p:sp>
        <p:nvSpPr>
          <p:cNvPr id="19" name="Shape 17">
            <a:extLst>
              <a:ext uri="{FF2B5EF4-FFF2-40B4-BE49-F238E27FC236}">
                <a16:creationId xmlns:a16="http://schemas.microsoft.com/office/drawing/2014/main" id="{1ED9BC6B-1929-4C93-A528-1153D5802F7A}"/>
              </a:ext>
            </a:extLst>
          </p:cNvPr>
          <p:cNvSpPr>
            <a:spLocks noGrp="1"/>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a:p>
        </p:txBody>
      </p:sp>
      <p:sp>
        <p:nvSpPr>
          <p:cNvPr id="20" name="Text 18">
            <a:extLst>
              <a:ext uri="{FF2B5EF4-FFF2-40B4-BE49-F238E27FC236}">
                <a16:creationId xmlns:a16="http://schemas.microsoft.com/office/drawing/2014/main" id="{03E0B3E6-5681-4F23-811E-0906E2C07350}"/>
              </a:ext>
            </a:extLst>
          </p:cNvPr>
          <p:cNvSpPr>
            <a:spLocks noGrp="1"/>
          </p:cNvSpPr>
          <p:nvPr/>
        </p:nvSpPr>
        <p:spPr>
          <a:xfrm>
            <a:off x="6693408" y="3785616"/>
            <a:ext cx="4839919" cy="274320"/>
          </a:xfrm>
          <a:prstGeom prst="rect">
            <a:avLst/>
          </a:prstGeom>
          <a:noFill/>
        </p:spPr>
        <p:txBody>
          <a:bodyPr wrap="none" lIns="0" tIns="0" rIns="0" bIns="0" anchor="ctr">
            <a:noAutofit/>
          </a:bodyPr>
          <a:lstStyle/>
          <a:p>
            <a:pPr marL="0" indent="0" algn="l">
              <a:buNone/>
              <a:defRPr sz="1500" b="1">
                <a:solidFill>
                  <a:srgbClr val="62D6A6"/>
                </a:solidFill>
                <a:latin typeface="Calibri"/>
                <a:ea typeface="Calibri"/>
                <a:cs typeface="Calibri"/>
              </a:defRPr>
            </a:pPr>
            <a:r>
              <a:rPr sz="1500" b="1">
                <a:solidFill>
                  <a:srgbClr val="62D6A6"/>
                </a:solidFill>
                <a:latin typeface="Calibri"/>
                <a:ea typeface="Calibri"/>
                <a:cs typeface="Calibri"/>
              </a:rPr>
              <a:t>GCP</a:t>
            </a:r>
            <a:endParaRPr sz="1500"/>
          </a:p>
        </p:txBody>
      </p:sp>
      <p:sp>
        <p:nvSpPr>
          <p:cNvPr id="21" name="Text 19">
            <a:extLst>
              <a:ext uri="{FF2B5EF4-FFF2-40B4-BE49-F238E27FC236}">
                <a16:creationId xmlns:a16="http://schemas.microsoft.com/office/drawing/2014/main" id="{4212CB3B-757A-49B2-8206-A94B8116DC7A}"/>
              </a:ext>
            </a:extLst>
          </p:cNvPr>
          <p:cNvSpPr>
            <a:spLocks noGrp="1"/>
          </p:cNvSpPr>
          <p:nvPr/>
        </p:nvSpPr>
        <p:spPr>
          <a:xfrm>
            <a:off x="6693408" y="4078224"/>
            <a:ext cx="2419960" cy="347472"/>
          </a:xfrm>
          <a:prstGeom prst="rect">
            <a:avLst/>
          </a:prstGeom>
          <a:noFill/>
        </p:spPr>
        <p:txBody>
          <a:bodyPr wrap="none" lIns="0" tIns="0" rIns="0" bIns="0" anchor="ctr">
            <a:noAutofit/>
          </a:bodyPr>
          <a:lstStyle/>
          <a:p>
            <a:pPr marL="0" indent="0" algn="l">
              <a:buNone/>
              <a:defRPr sz="2325" b="1">
                <a:solidFill>
                  <a:srgbClr val="62D6A6"/>
                </a:solidFill>
                <a:latin typeface="Calibri"/>
                <a:ea typeface="Calibri"/>
                <a:cs typeface="Calibri"/>
              </a:defRPr>
            </a:pPr>
            <a:r>
              <a:rPr sz="2325" b="1">
                <a:solidFill>
                  <a:srgbClr val="62D6A6"/>
                </a:solidFill>
                <a:latin typeface="Calibri"/>
                <a:ea typeface="Calibri"/>
                <a:cs typeface="Calibri"/>
              </a:rPr>
              <a:t>$3,707</a:t>
            </a:r>
            <a:endParaRPr sz="2200"/>
          </a:p>
        </p:txBody>
      </p:sp>
      <p:sp>
        <p:nvSpPr>
          <p:cNvPr id="22" name="Text 20">
            <a:extLst>
              <a:ext uri="{FF2B5EF4-FFF2-40B4-BE49-F238E27FC236}">
                <a16:creationId xmlns:a16="http://schemas.microsoft.com/office/drawing/2014/main" id="{FCC63A88-6C89-495F-8691-FD61BC24862B}"/>
              </a:ext>
            </a:extLst>
          </p:cNvPr>
          <p:cNvSpPr>
            <a:spLocks noGrp="1"/>
          </p:cNvSpPr>
          <p:nvPr/>
        </p:nvSpPr>
        <p:spPr>
          <a:xfrm>
            <a:off x="9113368" y="4078224"/>
            <a:ext cx="2419960" cy="347472"/>
          </a:xfrm>
          <a:prstGeom prst="rect">
            <a:avLst/>
          </a:prstGeom>
          <a:noFill/>
        </p:spPr>
        <p:txBody>
          <a:bodyPr wrap="none" lIns="0" tIns="0" rIns="0" bIns="0" anchor="ctr">
            <a:noAutofit/>
          </a:bodyPr>
          <a:lstStyle/>
          <a:p>
            <a:pPr marL="0" indent="0" algn="r">
              <a:buNone/>
              <a:defRPr sz="1575" b="1">
                <a:solidFill>
                  <a:srgbClr val="62D6A6"/>
                </a:solidFill>
                <a:latin typeface="Calibri"/>
                <a:ea typeface="Calibri"/>
                <a:cs typeface="Calibri"/>
              </a:defRPr>
            </a:pPr>
            <a:r>
              <a:rPr sz="1575" b="1">
                <a:solidFill>
                  <a:srgbClr val="62D6A6"/>
                </a:solidFill>
                <a:latin typeface="Calibri"/>
                <a:ea typeface="Calibri"/>
                <a:cs typeface="Calibri"/>
              </a:rPr>
              <a:t>1.3% · July figure, August pending</a:t>
            </a:r>
            <a:endParaRPr sz="1200"/>
          </a:p>
        </p:txBody>
      </p:sp>
      <p:sp>
        <p:nvSpPr>
          <p:cNvPr id="23" name="Text 21">
            <a:extLst>
              <a:ext uri="{FF2B5EF4-FFF2-40B4-BE49-F238E27FC236}">
                <a16:creationId xmlns:a16="http://schemas.microsoft.com/office/drawing/2014/main" id="{D9CB2804-D4B6-4A8E-A89F-6996CD1AA8B1}"/>
              </a:ext>
            </a:extLst>
          </p:cNvPr>
          <p:cNvSpPr>
            <a:spLocks noGrp="1"/>
          </p:cNvSpPr>
          <p:nvPr/>
        </p:nvSpPr>
        <p:spPr>
          <a:xfrm>
            <a:off x="457200" y="4069080"/>
            <a:ext cx="5669280" cy="219456"/>
          </a:xfrm>
          <a:prstGeom prst="rect">
            <a:avLst/>
          </a:prstGeom>
          <a:noFill/>
        </p:spPr>
        <p:txBody>
          <a:bodyPr wrap="none" lIns="0" tIns="0" rIns="0" bIns="0" anchor="ctr">
            <a:noAutofit/>
          </a:bodyPr>
          <a:lstStyle/>
          <a:p>
            <a:pPr marL="0" indent="0" algn="l">
              <a:buNone/>
              <a:defRPr sz="1500" b="1">
                <a:solidFill>
                  <a:srgbClr val="C5CCDA"/>
                </a:solidFill>
                <a:latin typeface="Calibri"/>
                <a:ea typeface="Calibri"/>
                <a:cs typeface="Calibri"/>
              </a:defRPr>
            </a:pPr>
            <a:r>
              <a:rPr sz="1500" b="1" spc="120">
                <a:solidFill>
                  <a:srgbClr val="C5CCDA"/>
                </a:solidFill>
                <a:latin typeface="Calibri"/>
                <a:ea typeface="Calibri"/>
                <a:cs typeface="Calibri"/>
              </a:rPr>
              <a:t>CHANGE FROM JULY TO AUGUST</a:t>
            </a:r>
            <a:endParaRPr sz="1200"/>
          </a:p>
        </p:txBody>
      </p:sp>
      <p:sp>
        <p:nvSpPr>
          <p:cNvPr id="24" name="Shape 22">
            <a:extLst>
              <a:ext uri="{FF2B5EF4-FFF2-40B4-BE49-F238E27FC236}">
                <a16:creationId xmlns:a16="http://schemas.microsoft.com/office/drawing/2014/main" id="{771498AC-C208-4116-A73E-BC1F4B5676AD}"/>
              </a:ext>
            </a:extLst>
          </p:cNvPr>
          <p:cNvSpPr>
            <a:spLocks noGrp="1"/>
          </p:cNvSpPr>
          <p:nvPr/>
        </p:nvSpPr>
        <p:spPr>
          <a:xfrm>
            <a:off x="457200" y="4512564"/>
            <a:ext cx="76200" cy="76200"/>
          </a:xfrm>
          <a:prstGeom prst="rect">
            <a:avLst/>
          </a:prstGeom>
          <a:solidFill>
            <a:srgbClr val="3DD9EB"/>
          </a:solidFill>
          <a:ln w="12700">
            <a:solidFill>
              <a:srgbClr val="3DD9EB"/>
            </a:solidFill>
            <a:prstDash val="solid"/>
          </a:ln>
        </p:spPr>
        <p:txBody>
          <a:bodyPr/>
          <a:lstStyle/>
          <a:p>
            <a:endParaRPr/>
          </a:p>
        </p:txBody>
      </p:sp>
      <p:sp>
        <p:nvSpPr>
          <p:cNvPr id="25" name="Text 23">
            <a:extLst>
              <a:ext uri="{FF2B5EF4-FFF2-40B4-BE49-F238E27FC236}">
                <a16:creationId xmlns:a16="http://schemas.microsoft.com/office/drawing/2014/main" id="{558D0CCD-3B08-43DC-9315-6A5FB333E1E8}"/>
              </a:ext>
            </a:extLst>
          </p:cNvPr>
          <p:cNvSpPr>
            <a:spLocks noGrp="1"/>
          </p:cNvSpPr>
          <p:nvPr/>
        </p:nvSpPr>
        <p:spPr>
          <a:xfrm>
            <a:off x="630936" y="4361688"/>
            <a:ext cx="5495544" cy="365760"/>
          </a:xfrm>
          <a:prstGeom prst="rect">
            <a:avLst/>
          </a:prstGeom>
          <a:noFill/>
        </p:spPr>
        <p:txBody>
          <a:bodyPr wrap="none" lIns="0" tIns="0" rIns="0" bIns="0" anchor="ctr">
            <a:noAutofit/>
          </a:bodyPr>
          <a:lstStyle/>
          <a:p>
            <a:pPr marL="0" indent="0" algn="l">
              <a:lnSpc>
                <a:spcPct val="110000"/>
              </a:lnSpc>
              <a:buNone/>
              <a:defRPr sz="1650" b="1">
                <a:solidFill>
                  <a:srgbClr val="F4F7FB"/>
                </a:solidFill>
                <a:latin typeface="Calibri"/>
                <a:ea typeface="Calibri"/>
                <a:cs typeface="Calibri"/>
              </a:defRPr>
            </a:pPr>
            <a:r>
              <a:rPr sz="1650" b="1">
                <a:solidFill>
                  <a:srgbClr val="F4F7FB"/>
                </a:solidFill>
                <a:latin typeface="Calibri"/>
                <a:ea typeface="Calibri"/>
                <a:cs typeface="Calibri"/>
              </a:rPr>
              <a:t>Azure  −$6.7K · Virtual Machines down $8,826</a:t>
            </a:r>
            <a:endParaRPr sz="1250"/>
          </a:p>
        </p:txBody>
      </p:sp>
      <p:sp>
        <p:nvSpPr>
          <p:cNvPr id="26" name="Shape 24">
            <a:extLst>
              <a:ext uri="{FF2B5EF4-FFF2-40B4-BE49-F238E27FC236}">
                <a16:creationId xmlns:a16="http://schemas.microsoft.com/office/drawing/2014/main" id="{681571E7-D11D-42B4-B9E2-BFDEBB33B3D9}"/>
              </a:ext>
            </a:extLst>
          </p:cNvPr>
          <p:cNvSpPr>
            <a:spLocks noGrp="1"/>
          </p:cNvSpPr>
          <p:nvPr/>
        </p:nvSpPr>
        <p:spPr>
          <a:xfrm>
            <a:off x="457200" y="5119116"/>
            <a:ext cx="76200" cy="76200"/>
          </a:xfrm>
          <a:prstGeom prst="rect">
            <a:avLst/>
          </a:prstGeom>
          <a:solidFill>
            <a:srgbClr val="3DD9EB"/>
          </a:solidFill>
          <a:ln w="12700">
            <a:solidFill>
              <a:srgbClr val="3DD9EB"/>
            </a:solidFill>
            <a:prstDash val="solid"/>
          </a:ln>
        </p:spPr>
        <p:txBody>
          <a:bodyPr/>
          <a:lstStyle/>
          <a:p>
            <a:endParaRPr/>
          </a:p>
        </p:txBody>
      </p:sp>
      <p:sp>
        <p:nvSpPr>
          <p:cNvPr id="27" name="Text 25">
            <a:extLst>
              <a:ext uri="{FF2B5EF4-FFF2-40B4-BE49-F238E27FC236}">
                <a16:creationId xmlns:a16="http://schemas.microsoft.com/office/drawing/2014/main" id="{400597BC-5194-4F3D-8ECF-A2D1FD82342C}"/>
              </a:ext>
            </a:extLst>
          </p:cNvPr>
          <p:cNvSpPr>
            <a:spLocks noGrp="1"/>
          </p:cNvSpPr>
          <p:nvPr/>
        </p:nvSpPr>
        <p:spPr>
          <a:xfrm>
            <a:off x="630936" y="4928616"/>
            <a:ext cx="5495544" cy="457200"/>
          </a:xfrm>
          <a:prstGeom prst="rect">
            <a:avLst/>
          </a:prstGeom>
          <a:noFill/>
        </p:spPr>
        <p:txBody>
          <a:bodyPr wrap="none" lIns="0" tIns="0" rIns="0" bIns="0" anchor="ctr">
            <a:noAutofit/>
          </a:bodyPr>
          <a:lstStyle/>
          <a:p>
            <a:pPr marL="0" indent="0" algn="l">
              <a:lnSpc>
                <a:spcPct val="110000"/>
              </a:lnSpc>
              <a:buNone/>
              <a:defRPr sz="1650" b="1">
                <a:solidFill>
                  <a:srgbClr val="F4F7FB"/>
                </a:solidFill>
                <a:latin typeface="Calibri"/>
                <a:ea typeface="Calibri"/>
                <a:cs typeface="Calibri"/>
              </a:defRPr>
            </a:pPr>
            <a:r>
              <a:rPr sz="1650" b="1">
                <a:solidFill>
                  <a:srgbClr val="F4F7FB"/>
                </a:solidFill>
                <a:latin typeface="Calibri"/>
                <a:ea typeface="Calibri"/>
                <a:cs typeface="Calibri"/>
              </a:rPr>
              <a:t>AWS  +$14.3K · almost entirely Bedrock</a:t>
            </a:r>
            <a:endParaRPr sz="1250"/>
          </a:p>
        </p:txBody>
      </p:sp>
      <p:sp>
        <p:nvSpPr>
          <p:cNvPr id="28" name="Shape 26">
            <a:extLst>
              <a:ext uri="{FF2B5EF4-FFF2-40B4-BE49-F238E27FC236}">
                <a16:creationId xmlns:a16="http://schemas.microsoft.com/office/drawing/2014/main" id="{C2A500CD-92B6-43B3-AA8A-3B7D3D52B47E}"/>
              </a:ext>
            </a:extLst>
          </p:cNvPr>
          <p:cNvSpPr>
            <a:spLocks noGrp="1"/>
          </p:cNvSpPr>
          <p:nvPr/>
        </p:nvSpPr>
        <p:spPr>
          <a:xfrm>
            <a:off x="457200" y="5646420"/>
            <a:ext cx="76200" cy="76200"/>
          </a:xfrm>
          <a:prstGeom prst="rect">
            <a:avLst/>
          </a:prstGeom>
          <a:solidFill>
            <a:srgbClr val="3DD9EB"/>
          </a:solidFill>
          <a:ln w="12700">
            <a:solidFill>
              <a:srgbClr val="3DD9EB"/>
            </a:solidFill>
            <a:prstDash val="solid"/>
          </a:ln>
        </p:spPr>
        <p:txBody>
          <a:bodyPr/>
          <a:lstStyle/>
          <a:p>
            <a:endParaRPr/>
          </a:p>
        </p:txBody>
      </p:sp>
      <p:sp>
        <p:nvSpPr>
          <p:cNvPr id="29" name="Text 27">
            <a:extLst>
              <a:ext uri="{FF2B5EF4-FFF2-40B4-BE49-F238E27FC236}">
                <a16:creationId xmlns:a16="http://schemas.microsoft.com/office/drawing/2014/main" id="{EAF63A33-3826-4F08-AEF0-FBC5207D3AE8}"/>
              </a:ext>
            </a:extLst>
          </p:cNvPr>
          <p:cNvSpPr>
            <a:spLocks noGrp="1"/>
          </p:cNvSpPr>
          <p:nvPr/>
        </p:nvSpPr>
        <p:spPr>
          <a:xfrm>
            <a:off x="630936" y="5495544"/>
            <a:ext cx="5495544" cy="365760"/>
          </a:xfrm>
          <a:prstGeom prst="rect">
            <a:avLst/>
          </a:prstGeom>
          <a:noFill/>
        </p:spPr>
        <p:txBody>
          <a:bodyPr wrap="none" lIns="0" tIns="0" rIns="0" bIns="0" anchor="ctr">
            <a:noAutofit/>
          </a:bodyPr>
          <a:lstStyle/>
          <a:p>
            <a:pPr marL="0" indent="0" algn="l">
              <a:lnSpc>
                <a:spcPct val="110000"/>
              </a:lnSpc>
              <a:buNone/>
              <a:defRPr sz="1650" b="1">
                <a:solidFill>
                  <a:srgbClr val="F4F7FB"/>
                </a:solidFill>
                <a:latin typeface="Calibri"/>
                <a:ea typeface="Calibri"/>
                <a:cs typeface="Calibri"/>
              </a:defRPr>
            </a:pPr>
            <a:r>
              <a:rPr sz="1650" b="1">
                <a:solidFill>
                  <a:srgbClr val="F4F7FB"/>
                </a:solidFill>
                <a:latin typeface="Calibri"/>
                <a:ea typeface="Calibri"/>
                <a:cs typeface="Calibri"/>
              </a:rPr>
              <a:t>GCP  · August statement not yet received</a:t>
            </a:r>
            <a:endParaRPr sz="1250"/>
          </a:p>
        </p:txBody>
      </p:sp>
    </p:spTree>
    <p:extLst>
      <p:ext uri="{BB962C8B-B14F-4D97-AF65-F5344CB8AC3E}">
        <p14:creationId xmlns:p14="http://schemas.microsoft.com/office/powerpoint/2010/main" val="2810094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26F8528-C4FD-4ABC-98E1-EFD67CFC0E7D}"/>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sp>
      <p:sp>
        <p:nvSpPr>
          <p:cNvPr id="3" name="Shape 1">
            <a:extLst>
              <a:ext uri="{FF2B5EF4-FFF2-40B4-BE49-F238E27FC236}">
                <a16:creationId xmlns:a16="http://schemas.microsoft.com/office/drawing/2014/main" id="{724FF072-65A8-4C4B-93D4-3E962E5E4A62}"/>
              </a:ext>
            </a:extLst>
          </p:cNvPr>
          <p:cNvSpPr>
            <a:spLocks noGrp="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a:extLst>
              <a:ext uri="{FF2B5EF4-FFF2-40B4-BE49-F238E27FC236}">
                <a16:creationId xmlns:a16="http://schemas.microsoft.com/office/drawing/2014/main" id="{1387EFD2-B348-4664-B13E-0148BE1C729B}"/>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B07CFF"/>
                </a:solidFill>
                <a:latin typeface="Calibri"/>
                <a:ea typeface="Calibri"/>
                <a:cs typeface="Calibri"/>
              </a:rPr>
              <a:t>ALL PROVIDERS</a:t>
            </a:r>
            <a:endParaRPr sz="1300"/>
          </a:p>
        </p:txBody>
      </p:sp>
      <p:sp>
        <p:nvSpPr>
          <p:cNvPr id="5" name="Text 3">
            <a:extLst>
              <a:ext uri="{FF2B5EF4-FFF2-40B4-BE49-F238E27FC236}">
                <a16:creationId xmlns:a16="http://schemas.microsoft.com/office/drawing/2014/main" id="{14D43995-BA98-4A95-B453-5DDD733B6292}"/>
              </a:ext>
            </a:extLst>
          </p:cNvPr>
          <p:cNvSpPr>
            <a:spLocks noGrp="1"/>
          </p:cNvSpPr>
          <p:nvPr/>
        </p:nvSpPr>
        <p:spPr>
          <a:xfrm>
            <a:off x="457200" y="548640"/>
            <a:ext cx="7680960" cy="566928"/>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AI is $95K a month, and AWS is now half of it</a:t>
            </a:r>
            <a:endParaRPr sz="2800"/>
          </a:p>
        </p:txBody>
      </p:sp>
      <p:sp>
        <p:nvSpPr>
          <p:cNvPr id="6" name="Text 4">
            <a:extLst>
              <a:ext uri="{FF2B5EF4-FFF2-40B4-BE49-F238E27FC236}">
                <a16:creationId xmlns:a16="http://schemas.microsoft.com/office/drawing/2014/main" id="{2CCB0FC0-595C-4B7D-AF57-E626CA6DFBAF}"/>
              </a:ext>
            </a:extLst>
          </p:cNvPr>
          <p:cNvSpPr>
            <a:spLocks noGrp="1"/>
          </p:cNvSpPr>
          <p:nvPr/>
        </p:nvSpPr>
        <p:spPr>
          <a:xfrm>
            <a:off x="8321040" y="493776"/>
            <a:ext cx="3413455" cy="658368"/>
          </a:xfrm>
          <a:prstGeom prst="rect">
            <a:avLst/>
          </a:prstGeom>
          <a:noFill/>
        </p:spPr>
        <p:txBody>
          <a:bodyPr wrap="square" lIns="0" tIns="0" rIns="0" bIns="0" anchor="t"/>
          <a:lstStyle/>
          <a:p>
            <a:pPr marL="0" indent="0" algn="r">
              <a:lnSpc>
                <a:spcPct val="115000"/>
              </a:lnSpc>
              <a:buNone/>
            </a:pPr>
            <a:r>
              <a:rPr sz="1200">
                <a:solidFill>
                  <a:srgbClr val="91A0B7"/>
                </a:solidFill>
                <a:latin typeface="Calibri"/>
                <a:ea typeface="Calibri"/>
                <a:cs typeface="Calibri"/>
              </a:rPr>
              <a:t>Billed AI, August 2026. Excludes the Databricks drawdown, which bills at $0.</a:t>
            </a:r>
            <a:endParaRPr sz="1200"/>
          </a:p>
        </p:txBody>
      </p:sp>
      <p:sp>
        <p:nvSpPr>
          <p:cNvPr id="7" name="Text 5">
            <a:extLst>
              <a:ext uri="{FF2B5EF4-FFF2-40B4-BE49-F238E27FC236}">
                <a16:creationId xmlns:a16="http://schemas.microsoft.com/office/drawing/2014/main" id="{2927AD61-D2FE-49CD-A075-F4C543AC9DAC}"/>
              </a:ext>
            </a:extLst>
          </p:cNvPr>
          <p:cNvSpPr>
            <a:spLocks noGrp="1"/>
          </p:cNvSpPr>
          <p:nvPr/>
        </p:nvSpPr>
        <p:spPr>
          <a:xfrm>
            <a:off x="457200" y="6345936"/>
            <a:ext cx="11277295" cy="402336"/>
          </a:xfrm>
          <a:prstGeom prst="rect">
            <a:avLst/>
          </a:prstGeom>
          <a:noFill/>
        </p:spPr>
        <p:txBody>
          <a:bodyPr wrap="square" lIns="0" tIns="0" rIns="0" bIns="0" anchor="t"/>
          <a:lstStyle/>
          <a:p>
            <a:pPr marL="0" indent="0">
              <a:lnSpc>
                <a:spcPct val="115000"/>
              </a:lnSpc>
              <a:buNone/>
            </a:pPr>
            <a:r>
              <a:t>One provider now carries half of all AI spend, and it is the one with no project tag and no per-team budget.</a:t>
            </a:r>
            <a:endParaRPr sz="1200" dirty="0"/>
          </a:p>
        </p:txBody>
      </p:sp>
      <p:sp>
        <p:nvSpPr>
          <p:cNvPr id="8" name="Shape 6">
            <a:extLst>
              <a:ext uri="{FF2B5EF4-FFF2-40B4-BE49-F238E27FC236}">
                <a16:creationId xmlns:a16="http://schemas.microsoft.com/office/drawing/2014/main" id="{8E507915-53E0-4257-AB99-2E59234F0ECD}"/>
              </a:ext>
            </a:extLst>
          </p:cNvPr>
          <p:cNvSpPr>
            <a:spLocks noGrp="1"/>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a:extLst>
              <a:ext uri="{FF2B5EF4-FFF2-40B4-BE49-F238E27FC236}">
                <a16:creationId xmlns:a16="http://schemas.microsoft.com/office/drawing/2014/main" id="{C2336D49-99BE-4871-8BB2-5A3270B86542}"/>
              </a:ext>
            </a:extLst>
          </p:cNvPr>
          <p:cNvSpPr>
            <a:spLocks noGrp="1"/>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a:extLst>
              <a:ext uri="{FF2B5EF4-FFF2-40B4-BE49-F238E27FC236}">
                <a16:creationId xmlns:a16="http://schemas.microsoft.com/office/drawing/2014/main" id="{8D2EED0A-4C76-4996-9FC7-61716109E0D9}"/>
              </a:ext>
            </a:extLst>
          </p:cNvPr>
          <p:cNvSpPr>
            <a:spLocks noGrp="1"/>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a:extLst>
              <a:ext uri="{FF2B5EF4-FFF2-40B4-BE49-F238E27FC236}">
                <a16:creationId xmlns:a16="http://schemas.microsoft.com/office/drawing/2014/main" id="{7B7DB60F-9A2D-46D6-9399-AF90E4D8E7D7}"/>
              </a:ext>
            </a:extLst>
          </p:cNvPr>
          <p:cNvSpPr>
            <a:spLocks noGrp="1"/>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a:extLst>
              <a:ext uri="{FF2B5EF4-FFF2-40B4-BE49-F238E27FC236}">
                <a16:creationId xmlns:a16="http://schemas.microsoft.com/office/drawing/2014/main" id="{0BB80254-F431-417C-982C-C36BD557A06B}"/>
              </a:ext>
            </a:extLst>
          </p:cNvPr>
          <p:cNvSpPr>
            <a:spLocks noGrp="1"/>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a:extLst>
              <a:ext uri="{FF2B5EF4-FFF2-40B4-BE49-F238E27FC236}">
                <a16:creationId xmlns:a16="http://schemas.microsoft.com/office/drawing/2014/main" id="{5FD6F996-6F52-45A1-BF76-17D5CF68812E}"/>
              </a:ext>
            </a:extLst>
          </p:cNvPr>
          <p:cNvSpPr>
            <a:spLocks noGrp="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a:extLst>
              <a:ext uri="{FF2B5EF4-FFF2-40B4-BE49-F238E27FC236}">
                <a16:creationId xmlns:a16="http://schemas.microsoft.com/office/drawing/2014/main" id="{C1CC5815-2FAA-4338-8698-EF4C8A0A61AB}"/>
              </a:ext>
            </a:extLst>
          </p:cNvPr>
          <p:cNvSpPr>
            <a:spLocks noGrp="1"/>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a:extLst>
              <a:ext uri="{FF2B5EF4-FFF2-40B4-BE49-F238E27FC236}">
                <a16:creationId xmlns:a16="http://schemas.microsoft.com/office/drawing/2014/main" id="{0F2501DF-AC08-489D-90FA-037FD41499F5}"/>
              </a:ext>
            </a:extLst>
          </p:cNvPr>
          <p:cNvSpPr>
            <a:spLocks noGrp="1"/>
          </p:cNvSpPr>
          <p:nvPr/>
        </p:nvSpPr>
        <p:spPr>
          <a:xfrm>
            <a:off x="640080" y="1783080"/>
            <a:ext cx="1728765" cy="438912"/>
          </a:xfrm>
          <a:prstGeom prst="rect">
            <a:avLst/>
          </a:prstGeom>
          <a:noFill/>
        </p:spPr>
        <p:txBody>
          <a:bodyPr wrap="none" lIns="0" tIns="0" rIns="0" bIns="0" anchor="ctr">
            <a:noAutofit/>
          </a:bodyPr>
          <a:lstStyle/>
          <a:p>
            <a:pPr marL="0" indent="0" algn="l">
              <a:lnSpc>
                <a:spcPct val="105000"/>
              </a:lnSpc>
              <a:buNone/>
              <a:defRPr sz="1425" b="1">
                <a:solidFill>
                  <a:srgbClr val="F4F7FB"/>
                </a:solidFill>
                <a:latin typeface="Calibri"/>
                <a:ea typeface="Calibri"/>
                <a:cs typeface="Calibri"/>
              </a:defRPr>
            </a:pPr>
            <a:r>
              <a:rPr sz="1425" b="1" spc="110">
                <a:solidFill>
                  <a:srgbClr val="F4F7FB"/>
                </a:solidFill>
                <a:latin typeface="Calibri"/>
                <a:ea typeface="Calibri"/>
                <a:cs typeface="Calibri"/>
              </a:rPr>
              <a:t>AZURE AI FOUNDRY</a:t>
            </a:r>
            <a:endParaRPr sz="1200"/>
          </a:p>
        </p:txBody>
      </p:sp>
      <p:sp>
        <p:nvSpPr>
          <p:cNvPr id="16" name="Text 14">
            <a:extLst>
              <a:ext uri="{FF2B5EF4-FFF2-40B4-BE49-F238E27FC236}">
                <a16:creationId xmlns:a16="http://schemas.microsoft.com/office/drawing/2014/main" id="{45498FEB-5600-4E35-AB21-3B70526BD1FD}"/>
              </a:ext>
            </a:extLst>
          </p:cNvPr>
          <p:cNvSpPr>
            <a:spLocks noGrp="1"/>
          </p:cNvSpPr>
          <p:nvPr/>
        </p:nvSpPr>
        <p:spPr>
          <a:xfrm>
            <a:off x="640080" y="2276856"/>
            <a:ext cx="1728765" cy="457200"/>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$16,409</a:t>
            </a:r>
            <a:endParaRPr sz="2800"/>
          </a:p>
        </p:txBody>
      </p:sp>
      <p:sp>
        <p:nvSpPr>
          <p:cNvPr id="17" name="Text 15">
            <a:extLst>
              <a:ext uri="{FF2B5EF4-FFF2-40B4-BE49-F238E27FC236}">
                <a16:creationId xmlns:a16="http://schemas.microsoft.com/office/drawing/2014/main" id="{4964ADFA-5090-4E55-AD60-F70D4907ED70}"/>
              </a:ext>
            </a:extLst>
          </p:cNvPr>
          <p:cNvSpPr>
            <a:spLocks noGrp="1"/>
          </p:cNvSpPr>
          <p:nvPr/>
        </p:nvSpPr>
        <p:spPr>
          <a:xfrm>
            <a:off x="640080" y="2734056"/>
            <a:ext cx="1728765" cy="237744"/>
          </a:xfrm>
          <a:prstGeom prst="rect">
            <a:avLst/>
          </a:prstGeom>
          <a:noFill/>
        </p:spPr>
        <p:txBody>
          <a:bodyPr wrap="square" lIns="0" tIns="0" rIns="0" bIns="0" anchor="ctr"/>
          <a:lstStyle/>
          <a:p>
            <a:pPr marL="0" indent="0">
              <a:buNone/>
            </a:pPr>
            <a:r>
              <a:rPr sz="1200" b="1">
                <a:solidFill>
                  <a:srgbClr val="2F8CFF"/>
                </a:solidFill>
                <a:latin typeface="Calibri"/>
                <a:ea typeface="Calibri"/>
                <a:cs typeface="Calibri"/>
              </a:rPr>
              <a:t>17.3% of billed AI</a:t>
            </a:r>
            <a:endParaRPr sz="1200"/>
          </a:p>
        </p:txBody>
      </p:sp>
      <p:sp>
        <p:nvSpPr>
          <p:cNvPr id="18" name="Shape 16">
            <a:extLst>
              <a:ext uri="{FF2B5EF4-FFF2-40B4-BE49-F238E27FC236}">
                <a16:creationId xmlns:a16="http://schemas.microsoft.com/office/drawing/2014/main" id="{58E7F65A-9DCA-4DDD-9E43-ABDF8F1D8C1B}"/>
              </a:ext>
            </a:extLst>
          </p:cNvPr>
          <p:cNvSpPr>
            <a:spLocks noGrp="1"/>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a:extLst>
              <a:ext uri="{FF2B5EF4-FFF2-40B4-BE49-F238E27FC236}">
                <a16:creationId xmlns:a16="http://schemas.microsoft.com/office/drawing/2014/main" id="{F721CE06-E33B-4936-AA0B-603A023117BC}"/>
              </a:ext>
            </a:extLst>
          </p:cNvPr>
          <p:cNvSpPr>
            <a:spLocks noGrp="1"/>
          </p:cNvSpPr>
          <p:nvPr/>
        </p:nvSpPr>
        <p:spPr>
          <a:xfrm>
            <a:off x="640080" y="3209544"/>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JUL</a:t>
            </a:r>
            <a:endParaRPr sz="1200"/>
          </a:p>
        </p:txBody>
      </p:sp>
      <p:sp>
        <p:nvSpPr>
          <p:cNvPr id="20" name="Text 18">
            <a:extLst>
              <a:ext uri="{FF2B5EF4-FFF2-40B4-BE49-F238E27FC236}">
                <a16:creationId xmlns:a16="http://schemas.microsoft.com/office/drawing/2014/main" id="{252A63DC-089E-4C90-B94C-802203EE4B51}"/>
              </a:ext>
            </a:extLst>
          </p:cNvPr>
          <p:cNvSpPr>
            <a:spLocks noGrp="1"/>
          </p:cNvSpPr>
          <p:nvPr/>
        </p:nvSpPr>
        <p:spPr>
          <a:xfrm>
            <a:off x="1504462" y="3209544"/>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$19,613</a:t>
            </a:r>
            <a:endParaRPr sz="1300"/>
          </a:p>
        </p:txBody>
      </p:sp>
      <p:sp>
        <p:nvSpPr>
          <p:cNvPr id="21" name="Text 19">
            <a:extLst>
              <a:ext uri="{FF2B5EF4-FFF2-40B4-BE49-F238E27FC236}">
                <a16:creationId xmlns:a16="http://schemas.microsoft.com/office/drawing/2014/main" id="{9AAF4D46-DE2C-417D-8386-ED18918C9DE4}"/>
              </a:ext>
            </a:extLst>
          </p:cNvPr>
          <p:cNvSpPr>
            <a:spLocks noGrp="1"/>
          </p:cNvSpPr>
          <p:nvPr/>
        </p:nvSpPr>
        <p:spPr>
          <a:xfrm>
            <a:off x="640080" y="3593592"/>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AUG</a:t>
            </a:r>
            <a:endParaRPr sz="1200"/>
          </a:p>
        </p:txBody>
      </p:sp>
      <p:sp>
        <p:nvSpPr>
          <p:cNvPr id="22" name="Text 20">
            <a:extLst>
              <a:ext uri="{FF2B5EF4-FFF2-40B4-BE49-F238E27FC236}">
                <a16:creationId xmlns:a16="http://schemas.microsoft.com/office/drawing/2014/main" id="{C17734F7-038D-496A-B356-7B3D29D988D6}"/>
              </a:ext>
            </a:extLst>
          </p:cNvPr>
          <p:cNvSpPr>
            <a:spLocks noGrp="1"/>
          </p:cNvSpPr>
          <p:nvPr/>
        </p:nvSpPr>
        <p:spPr>
          <a:xfrm>
            <a:off x="1504462" y="3593592"/>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$16,409</a:t>
            </a:r>
            <a:endParaRPr sz="1300"/>
          </a:p>
        </p:txBody>
      </p:sp>
      <p:sp>
        <p:nvSpPr>
          <p:cNvPr id="23" name="Shape 21">
            <a:extLst>
              <a:ext uri="{FF2B5EF4-FFF2-40B4-BE49-F238E27FC236}">
                <a16:creationId xmlns:a16="http://schemas.microsoft.com/office/drawing/2014/main" id="{A0C140F3-11B9-4EC5-BD3D-8A110DDE51C5}"/>
              </a:ext>
            </a:extLst>
          </p:cNvPr>
          <p:cNvSpPr>
            <a:spLocks noGrp="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a:extLst>
              <a:ext uri="{FF2B5EF4-FFF2-40B4-BE49-F238E27FC236}">
                <a16:creationId xmlns:a16="http://schemas.microsoft.com/office/drawing/2014/main" id="{10FAF709-0ABF-40DB-9B09-0AF92B2661A8}"/>
              </a:ext>
            </a:extLst>
          </p:cNvPr>
          <p:cNvSpPr>
            <a:spLocks noGrp="1"/>
          </p:cNvSpPr>
          <p:nvPr/>
        </p:nvSpPr>
        <p:spPr>
          <a:xfrm>
            <a:off x="640080" y="4069080"/>
            <a:ext cx="1728765" cy="329184"/>
          </a:xfrm>
          <a:prstGeom prst="rect">
            <a:avLst/>
          </a:prstGeom>
          <a:noFill/>
        </p:spPr>
        <p:txBody>
          <a:bodyPr wrap="square" lIns="0" tIns="0" rIns="0" bIns="0" anchor="ctr"/>
          <a:lstStyle/>
          <a:p>
            <a:pPr marL="0" indent="0" algn="ctr">
              <a:buNone/>
            </a:pPr>
            <a:r>
              <a:rPr sz="1200" b="1">
                <a:solidFill>
                  <a:srgbClr val="2F8CFF"/>
                </a:solidFill>
                <a:latin typeface="Calibri"/>
                <a:ea typeface="Calibri"/>
                <a:cs typeface="Calibri"/>
              </a:rPr>
              <a:t>−16% Jul to Aug</a:t>
            </a:r>
            <a:endParaRPr sz="1200"/>
          </a:p>
        </p:txBody>
      </p:sp>
      <p:sp>
        <p:nvSpPr>
          <p:cNvPr id="25" name="Text 23">
            <a:extLst>
              <a:ext uri="{FF2B5EF4-FFF2-40B4-BE49-F238E27FC236}">
                <a16:creationId xmlns:a16="http://schemas.microsoft.com/office/drawing/2014/main" id="{D471A4C1-5A87-4C13-A05F-B7A8D1D6EC82}"/>
              </a:ext>
            </a:extLst>
          </p:cNvPr>
          <p:cNvSpPr>
            <a:spLocks noGrp="1"/>
          </p:cNvSpPr>
          <p:nvPr/>
        </p:nvSpPr>
        <p:spPr>
          <a:xfrm>
            <a:off x="640080" y="4526280"/>
            <a:ext cx="1728765" cy="923544"/>
          </a:xfrm>
          <a:prstGeom prst="rect">
            <a:avLst/>
          </a:prstGeom>
          <a:noFill/>
        </p:spPr>
        <p:txBody>
          <a:bodyPr wrap="square" lIns="0" tIns="0" rIns="0" bIns="0" anchor="t"/>
          <a:lstStyle/>
          <a:p>
            <a:pPr marL="0" indent="0">
              <a:lnSpc>
                <a:spcPct val="115000"/>
              </a:lnSpc>
              <a:buNone/>
            </a:pPr>
            <a:r>
              <a:rPr sz="1200">
                <a:solidFill>
                  <a:srgbClr val="91A0B7"/>
                </a:solidFill>
                <a:latin typeface="Calibri"/>
                <a:ea typeface="Calibri"/>
                <a:cs typeface="Calibri"/>
              </a:rPr>
              <a:t>Foundry models and tools. The only AI line that fell.</a:t>
            </a:r>
            <a:endParaRPr sz="1200"/>
          </a:p>
        </p:txBody>
      </p:sp>
      <p:sp>
        <p:nvSpPr>
          <p:cNvPr id="26" name="Shape 24">
            <a:extLst>
              <a:ext uri="{FF2B5EF4-FFF2-40B4-BE49-F238E27FC236}">
                <a16:creationId xmlns:a16="http://schemas.microsoft.com/office/drawing/2014/main" id="{41F27117-F997-460F-BED0-8A055765792E}"/>
              </a:ext>
            </a:extLst>
          </p:cNvPr>
          <p:cNvSpPr>
            <a:spLocks noGrp="1"/>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a:extLst>
              <a:ext uri="{FF2B5EF4-FFF2-40B4-BE49-F238E27FC236}">
                <a16:creationId xmlns:a16="http://schemas.microsoft.com/office/drawing/2014/main" id="{36166351-40FF-4427-A999-66C3CEAE2603}"/>
              </a:ext>
            </a:extLst>
          </p:cNvPr>
          <p:cNvSpPr>
            <a:spLocks noGrp="1"/>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a:extLst>
              <a:ext uri="{FF2B5EF4-FFF2-40B4-BE49-F238E27FC236}">
                <a16:creationId xmlns:a16="http://schemas.microsoft.com/office/drawing/2014/main" id="{133F0F01-46B0-4E50-B40C-77BC375B1B74}"/>
              </a:ext>
            </a:extLst>
          </p:cNvPr>
          <p:cNvSpPr>
            <a:spLocks noGrp="1"/>
          </p:cNvSpPr>
          <p:nvPr/>
        </p:nvSpPr>
        <p:spPr>
          <a:xfrm>
            <a:off x="2935773" y="1783080"/>
            <a:ext cx="1728765" cy="438912"/>
          </a:xfrm>
          <a:prstGeom prst="rect">
            <a:avLst/>
          </a:prstGeom>
          <a:noFill/>
        </p:spPr>
        <p:txBody>
          <a:bodyPr wrap="none" lIns="0" tIns="0" rIns="0" bIns="0" anchor="ctr">
            <a:noAutofit/>
          </a:bodyPr>
          <a:lstStyle/>
          <a:p>
            <a:pPr marL="0" indent="0" algn="l">
              <a:lnSpc>
                <a:spcPct val="105000"/>
              </a:lnSpc>
              <a:buNone/>
              <a:defRPr sz="1425" b="1">
                <a:solidFill>
                  <a:srgbClr val="F4F7FB"/>
                </a:solidFill>
                <a:latin typeface="Calibri"/>
                <a:ea typeface="Calibri"/>
                <a:cs typeface="Calibri"/>
              </a:defRPr>
            </a:pPr>
            <a:r>
              <a:rPr sz="1425" b="1" spc="110">
                <a:solidFill>
                  <a:srgbClr val="F4F7FB"/>
                </a:solidFill>
                <a:latin typeface="Calibri"/>
                <a:ea typeface="Calibri"/>
                <a:cs typeface="Calibri"/>
              </a:rPr>
              <a:t>GITHUB COPILOT</a:t>
            </a:r>
            <a:endParaRPr sz="1200"/>
          </a:p>
        </p:txBody>
      </p:sp>
      <p:sp>
        <p:nvSpPr>
          <p:cNvPr id="29" name="Text 27">
            <a:extLst>
              <a:ext uri="{FF2B5EF4-FFF2-40B4-BE49-F238E27FC236}">
                <a16:creationId xmlns:a16="http://schemas.microsoft.com/office/drawing/2014/main" id="{DA97A973-A5D9-4AEF-A6FF-168844C900FE}"/>
              </a:ext>
            </a:extLst>
          </p:cNvPr>
          <p:cNvSpPr>
            <a:spLocks noGrp="1"/>
          </p:cNvSpPr>
          <p:nvPr/>
        </p:nvSpPr>
        <p:spPr>
          <a:xfrm>
            <a:off x="2935773" y="2276856"/>
            <a:ext cx="1728765" cy="457200"/>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$24,028</a:t>
            </a:r>
            <a:endParaRPr sz="2800"/>
          </a:p>
        </p:txBody>
      </p:sp>
      <p:sp>
        <p:nvSpPr>
          <p:cNvPr id="30" name="Text 28">
            <a:extLst>
              <a:ext uri="{FF2B5EF4-FFF2-40B4-BE49-F238E27FC236}">
                <a16:creationId xmlns:a16="http://schemas.microsoft.com/office/drawing/2014/main" id="{921E6411-1576-4117-8C1B-E47D99DEEF08}"/>
              </a:ext>
            </a:extLst>
          </p:cNvPr>
          <p:cNvSpPr>
            <a:spLocks noGrp="1"/>
          </p:cNvSpPr>
          <p:nvPr/>
        </p:nvSpPr>
        <p:spPr>
          <a:xfrm>
            <a:off x="2935773" y="2734056"/>
            <a:ext cx="1728765" cy="237744"/>
          </a:xfrm>
          <a:prstGeom prst="rect">
            <a:avLst/>
          </a:prstGeom>
          <a:noFill/>
        </p:spPr>
        <p:txBody>
          <a:bodyPr wrap="square" lIns="0" tIns="0" rIns="0" bIns="0" anchor="ctr"/>
          <a:lstStyle/>
          <a:p>
            <a:pPr marL="0" indent="0">
              <a:buNone/>
            </a:pPr>
            <a:r>
              <a:rPr sz="1200" b="1">
                <a:solidFill>
                  <a:srgbClr val="3DD9EB"/>
                </a:solidFill>
                <a:latin typeface="Calibri"/>
                <a:ea typeface="Calibri"/>
                <a:cs typeface="Calibri"/>
              </a:rPr>
              <a:t>25.3% of billed AI</a:t>
            </a:r>
            <a:endParaRPr sz="1200"/>
          </a:p>
        </p:txBody>
      </p:sp>
      <p:sp>
        <p:nvSpPr>
          <p:cNvPr id="31" name="Shape 29">
            <a:extLst>
              <a:ext uri="{FF2B5EF4-FFF2-40B4-BE49-F238E27FC236}">
                <a16:creationId xmlns:a16="http://schemas.microsoft.com/office/drawing/2014/main" id="{68B39D5C-5289-4D0D-967E-D28F5274E966}"/>
              </a:ext>
            </a:extLst>
          </p:cNvPr>
          <p:cNvSpPr>
            <a:spLocks noGrp="1"/>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a:extLst>
              <a:ext uri="{FF2B5EF4-FFF2-40B4-BE49-F238E27FC236}">
                <a16:creationId xmlns:a16="http://schemas.microsoft.com/office/drawing/2014/main" id="{EA6F6EF1-9970-428C-8C04-016957ED80B3}"/>
              </a:ext>
            </a:extLst>
          </p:cNvPr>
          <p:cNvSpPr>
            <a:spLocks noGrp="1"/>
          </p:cNvSpPr>
          <p:nvPr/>
        </p:nvSpPr>
        <p:spPr>
          <a:xfrm>
            <a:off x="2935773" y="3209544"/>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JUL</a:t>
            </a:r>
            <a:endParaRPr sz="1200"/>
          </a:p>
        </p:txBody>
      </p:sp>
      <p:sp>
        <p:nvSpPr>
          <p:cNvPr id="33" name="Text 31">
            <a:extLst>
              <a:ext uri="{FF2B5EF4-FFF2-40B4-BE49-F238E27FC236}">
                <a16:creationId xmlns:a16="http://schemas.microsoft.com/office/drawing/2014/main" id="{95007B1C-57BB-4699-BEBC-09FB601708BF}"/>
              </a:ext>
            </a:extLst>
          </p:cNvPr>
          <p:cNvSpPr>
            <a:spLocks noGrp="1"/>
          </p:cNvSpPr>
          <p:nvPr/>
        </p:nvSpPr>
        <p:spPr>
          <a:xfrm>
            <a:off x="3800155" y="3209544"/>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$19,260</a:t>
            </a:r>
            <a:endParaRPr sz="1300"/>
          </a:p>
        </p:txBody>
      </p:sp>
      <p:sp>
        <p:nvSpPr>
          <p:cNvPr id="34" name="Text 32">
            <a:extLst>
              <a:ext uri="{FF2B5EF4-FFF2-40B4-BE49-F238E27FC236}">
                <a16:creationId xmlns:a16="http://schemas.microsoft.com/office/drawing/2014/main" id="{017D6062-1CA6-4176-87C4-F0C4A479E5CF}"/>
              </a:ext>
            </a:extLst>
          </p:cNvPr>
          <p:cNvSpPr>
            <a:spLocks noGrp="1"/>
          </p:cNvSpPr>
          <p:nvPr/>
        </p:nvSpPr>
        <p:spPr>
          <a:xfrm>
            <a:off x="2935773" y="3593592"/>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AUG</a:t>
            </a:r>
            <a:endParaRPr sz="1200"/>
          </a:p>
        </p:txBody>
      </p:sp>
      <p:sp>
        <p:nvSpPr>
          <p:cNvPr id="35" name="Text 33">
            <a:extLst>
              <a:ext uri="{FF2B5EF4-FFF2-40B4-BE49-F238E27FC236}">
                <a16:creationId xmlns:a16="http://schemas.microsoft.com/office/drawing/2014/main" id="{E6877D6C-7381-4CD7-886B-FA871817150F}"/>
              </a:ext>
            </a:extLst>
          </p:cNvPr>
          <p:cNvSpPr>
            <a:spLocks noGrp="1"/>
          </p:cNvSpPr>
          <p:nvPr/>
        </p:nvSpPr>
        <p:spPr>
          <a:xfrm>
            <a:off x="3800155" y="3593592"/>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$24,028</a:t>
            </a:r>
            <a:endParaRPr sz="1300"/>
          </a:p>
        </p:txBody>
      </p:sp>
      <p:sp>
        <p:nvSpPr>
          <p:cNvPr id="36" name="Shape 34">
            <a:extLst>
              <a:ext uri="{FF2B5EF4-FFF2-40B4-BE49-F238E27FC236}">
                <a16:creationId xmlns:a16="http://schemas.microsoft.com/office/drawing/2014/main" id="{780B8A71-D1F6-4767-96A9-E0C76BC99625}"/>
              </a:ext>
            </a:extLst>
          </p:cNvPr>
          <p:cNvSpPr>
            <a:spLocks noGrp="1"/>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a:extLst>
              <a:ext uri="{FF2B5EF4-FFF2-40B4-BE49-F238E27FC236}">
                <a16:creationId xmlns:a16="http://schemas.microsoft.com/office/drawing/2014/main" id="{99A22888-A96C-458E-B512-48BACD7A9FE3}"/>
              </a:ext>
            </a:extLst>
          </p:cNvPr>
          <p:cNvSpPr>
            <a:spLocks noGrp="1"/>
          </p:cNvSpPr>
          <p:nvPr/>
        </p:nvSpPr>
        <p:spPr>
          <a:xfrm>
            <a:off x="2935773" y="4069080"/>
            <a:ext cx="1728765" cy="329184"/>
          </a:xfrm>
          <a:prstGeom prst="rect">
            <a:avLst/>
          </a:prstGeom>
          <a:noFill/>
        </p:spPr>
        <p:txBody>
          <a:bodyPr wrap="square" lIns="0" tIns="0" rIns="0" bIns="0" anchor="ctr"/>
          <a:lstStyle/>
          <a:p>
            <a:pPr marL="0" indent="0" algn="ctr">
              <a:buNone/>
            </a:pPr>
            <a:r>
              <a:rPr sz="1200" b="1">
                <a:solidFill>
                  <a:srgbClr val="3DD9EB"/>
                </a:solidFill>
                <a:latin typeface="Calibri"/>
                <a:ea typeface="Calibri"/>
                <a:cs typeface="Calibri"/>
              </a:rPr>
              <a:t>+25% Jul to Aug</a:t>
            </a:r>
            <a:endParaRPr sz="1200"/>
          </a:p>
        </p:txBody>
      </p:sp>
      <p:sp>
        <p:nvSpPr>
          <p:cNvPr id="38" name="Text 36">
            <a:extLst>
              <a:ext uri="{FF2B5EF4-FFF2-40B4-BE49-F238E27FC236}">
                <a16:creationId xmlns:a16="http://schemas.microsoft.com/office/drawing/2014/main" id="{D8838DEB-9355-4BF4-B668-BC3CA2A62339}"/>
              </a:ext>
            </a:extLst>
          </p:cNvPr>
          <p:cNvSpPr>
            <a:spLocks noGrp="1"/>
          </p:cNvSpPr>
          <p:nvPr/>
        </p:nvSpPr>
        <p:spPr>
          <a:xfrm>
            <a:off x="2935773" y="4526280"/>
            <a:ext cx="1728765" cy="923544"/>
          </a:xfrm>
          <a:prstGeom prst="rect">
            <a:avLst/>
          </a:prstGeom>
          <a:noFill/>
        </p:spPr>
        <p:txBody>
          <a:bodyPr wrap="square" lIns="0" tIns="0" rIns="0" bIns="0" anchor="t"/>
          <a:lstStyle/>
          <a:p>
            <a:pPr marL="0" indent="0">
              <a:lnSpc>
                <a:spcPct val="115000"/>
              </a:lnSpc>
              <a:buNone/>
            </a:pPr>
            <a:r>
              <a:rPr sz="1200">
                <a:solidFill>
                  <a:srgbClr val="91A0B7"/>
                </a:solidFill>
                <a:latin typeface="Calibri"/>
                <a:ea typeface="Calibri"/>
                <a:cs typeface="Calibri"/>
              </a:rPr>
              <a:t>Developer seats plus AI credit overage. Billed in full.</a:t>
            </a:r>
            <a:endParaRPr sz="1200"/>
          </a:p>
        </p:txBody>
      </p:sp>
      <p:sp>
        <p:nvSpPr>
          <p:cNvPr id="39" name="Shape 37">
            <a:extLst>
              <a:ext uri="{FF2B5EF4-FFF2-40B4-BE49-F238E27FC236}">
                <a16:creationId xmlns:a16="http://schemas.microsoft.com/office/drawing/2014/main" id="{E5C6F2F0-5D22-4436-B4F4-F0E5BD490937}"/>
              </a:ext>
            </a:extLst>
          </p:cNvPr>
          <p:cNvSpPr>
            <a:spLocks noGrp="1"/>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a:extLst>
              <a:ext uri="{FF2B5EF4-FFF2-40B4-BE49-F238E27FC236}">
                <a16:creationId xmlns:a16="http://schemas.microsoft.com/office/drawing/2014/main" id="{063DD483-FED7-4533-BE97-B64C0198EB61}"/>
              </a:ext>
            </a:extLst>
          </p:cNvPr>
          <p:cNvSpPr>
            <a:spLocks noGrp="1"/>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a:extLst>
              <a:ext uri="{FF2B5EF4-FFF2-40B4-BE49-F238E27FC236}">
                <a16:creationId xmlns:a16="http://schemas.microsoft.com/office/drawing/2014/main" id="{AEA35D83-94EF-49E0-B366-985929FF666B}"/>
              </a:ext>
            </a:extLst>
          </p:cNvPr>
          <p:cNvSpPr>
            <a:spLocks noGrp="1"/>
          </p:cNvSpPr>
          <p:nvPr/>
        </p:nvSpPr>
        <p:spPr>
          <a:xfrm>
            <a:off x="5231465" y="1783080"/>
            <a:ext cx="1728765" cy="438912"/>
          </a:xfrm>
          <a:prstGeom prst="rect">
            <a:avLst/>
          </a:prstGeom>
          <a:noFill/>
        </p:spPr>
        <p:txBody>
          <a:bodyPr wrap="none" lIns="0" tIns="0" rIns="0" bIns="0" anchor="ctr">
            <a:noAutofit/>
          </a:bodyPr>
          <a:lstStyle/>
          <a:p>
            <a:pPr marL="0" indent="0" algn="l">
              <a:lnSpc>
                <a:spcPct val="105000"/>
              </a:lnSpc>
              <a:buNone/>
              <a:defRPr sz="1425" b="1">
                <a:solidFill>
                  <a:srgbClr val="F4F7FB"/>
                </a:solidFill>
                <a:latin typeface="Calibri"/>
                <a:ea typeface="Calibri"/>
                <a:cs typeface="Calibri"/>
              </a:defRPr>
            </a:pPr>
            <a:r>
              <a:rPr sz="1425" b="1" spc="110">
                <a:solidFill>
                  <a:srgbClr val="F4F7FB"/>
                </a:solidFill>
                <a:latin typeface="Calibri"/>
                <a:ea typeface="Calibri"/>
                <a:cs typeface="Calibri"/>
              </a:rPr>
              <a:t>AWS BEDROCK</a:t>
            </a:r>
            <a:endParaRPr sz="1200"/>
          </a:p>
        </p:txBody>
      </p:sp>
      <p:sp>
        <p:nvSpPr>
          <p:cNvPr id="42" name="Text 40">
            <a:extLst>
              <a:ext uri="{FF2B5EF4-FFF2-40B4-BE49-F238E27FC236}">
                <a16:creationId xmlns:a16="http://schemas.microsoft.com/office/drawing/2014/main" id="{F128C4FC-354D-4E96-8499-A028230F74FD}"/>
              </a:ext>
            </a:extLst>
          </p:cNvPr>
          <p:cNvSpPr>
            <a:spLocks noGrp="1"/>
          </p:cNvSpPr>
          <p:nvPr/>
        </p:nvSpPr>
        <p:spPr>
          <a:xfrm>
            <a:off x="5231465" y="2276856"/>
            <a:ext cx="1728765" cy="457200"/>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$44,739</a:t>
            </a:r>
            <a:endParaRPr sz="2800"/>
          </a:p>
        </p:txBody>
      </p:sp>
      <p:sp>
        <p:nvSpPr>
          <p:cNvPr id="43" name="Text 41">
            <a:extLst>
              <a:ext uri="{FF2B5EF4-FFF2-40B4-BE49-F238E27FC236}">
                <a16:creationId xmlns:a16="http://schemas.microsoft.com/office/drawing/2014/main" id="{C2D3443A-23B4-4FD1-9BFD-E88EDC51225A}"/>
              </a:ext>
            </a:extLst>
          </p:cNvPr>
          <p:cNvSpPr>
            <a:spLocks noGrp="1"/>
          </p:cNvSpPr>
          <p:nvPr/>
        </p:nvSpPr>
        <p:spPr>
          <a:xfrm>
            <a:off x="5231465" y="2734056"/>
            <a:ext cx="1728765" cy="237744"/>
          </a:xfrm>
          <a:prstGeom prst="rect">
            <a:avLst/>
          </a:prstGeom>
          <a:noFill/>
        </p:spPr>
        <p:txBody>
          <a:bodyPr wrap="square" lIns="0" tIns="0" rIns="0" bIns="0" anchor="ctr"/>
          <a:lstStyle/>
          <a:p>
            <a:pPr marL="0" indent="0">
              <a:buNone/>
            </a:pPr>
            <a:r>
              <a:rPr sz="1200" b="1">
                <a:solidFill>
                  <a:srgbClr val="FF9F43"/>
                </a:solidFill>
                <a:latin typeface="Calibri"/>
                <a:ea typeface="Calibri"/>
                <a:cs typeface="Calibri"/>
              </a:rPr>
              <a:t>47.1% of billed AI</a:t>
            </a:r>
            <a:endParaRPr sz="1200"/>
          </a:p>
        </p:txBody>
      </p:sp>
      <p:sp>
        <p:nvSpPr>
          <p:cNvPr id="44" name="Shape 42">
            <a:extLst>
              <a:ext uri="{FF2B5EF4-FFF2-40B4-BE49-F238E27FC236}">
                <a16:creationId xmlns:a16="http://schemas.microsoft.com/office/drawing/2014/main" id="{C8F613E2-6157-4A3A-ACA1-F4B67E1FF522}"/>
              </a:ext>
            </a:extLst>
          </p:cNvPr>
          <p:cNvSpPr>
            <a:spLocks noGrp="1"/>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a:extLst>
              <a:ext uri="{FF2B5EF4-FFF2-40B4-BE49-F238E27FC236}">
                <a16:creationId xmlns:a16="http://schemas.microsoft.com/office/drawing/2014/main" id="{4ED3DC88-7D27-422D-A317-BAF27F158390}"/>
              </a:ext>
            </a:extLst>
          </p:cNvPr>
          <p:cNvSpPr>
            <a:spLocks noGrp="1"/>
          </p:cNvSpPr>
          <p:nvPr/>
        </p:nvSpPr>
        <p:spPr>
          <a:xfrm>
            <a:off x="5231465" y="3209544"/>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JUL</a:t>
            </a:r>
            <a:endParaRPr sz="1200"/>
          </a:p>
        </p:txBody>
      </p:sp>
      <p:sp>
        <p:nvSpPr>
          <p:cNvPr id="46" name="Text 44">
            <a:extLst>
              <a:ext uri="{FF2B5EF4-FFF2-40B4-BE49-F238E27FC236}">
                <a16:creationId xmlns:a16="http://schemas.microsoft.com/office/drawing/2014/main" id="{03CA7875-4F23-4187-8AD2-F27898FE90C6}"/>
              </a:ext>
            </a:extLst>
          </p:cNvPr>
          <p:cNvSpPr>
            <a:spLocks noGrp="1"/>
          </p:cNvSpPr>
          <p:nvPr/>
        </p:nvSpPr>
        <p:spPr>
          <a:xfrm>
            <a:off x="6095848" y="3209544"/>
            <a:ext cx="864382" cy="274320"/>
          </a:xfrm>
          <a:prstGeom prst="rect">
            <a:avLst/>
          </a:prstGeom>
          <a:noFill/>
        </p:spPr>
        <p:txBody>
          <a:bodyPr wrap="none" lIns="0" tIns="0" rIns="0" bIns="0" anchor="ctr">
            <a:noAutofit/>
          </a:bodyPr>
          <a:lstStyle/>
          <a:p>
            <a:pPr marL="0" indent="0" algn="r">
              <a:buNone/>
              <a:defRPr sz="1350" b="1">
                <a:solidFill>
                  <a:srgbClr val="F4F7FB"/>
                </a:solidFill>
                <a:latin typeface="Calibri"/>
                <a:ea typeface="Calibri"/>
                <a:cs typeface="Calibri"/>
              </a:defRPr>
            </a:pPr>
            <a:r>
              <a:rPr sz="1350" b="1">
                <a:solidFill>
                  <a:srgbClr val="F4F7FB"/>
                </a:solidFill>
                <a:latin typeface="Calibri"/>
                <a:ea typeface="Calibri"/>
                <a:cs typeface="Calibri"/>
              </a:rPr>
              <a:t>$25,288</a:t>
            </a:r>
            <a:endParaRPr sz="1300"/>
          </a:p>
        </p:txBody>
      </p:sp>
      <p:sp>
        <p:nvSpPr>
          <p:cNvPr id="47" name="Text 45">
            <a:extLst>
              <a:ext uri="{FF2B5EF4-FFF2-40B4-BE49-F238E27FC236}">
                <a16:creationId xmlns:a16="http://schemas.microsoft.com/office/drawing/2014/main" id="{DCE73FFF-E351-40B9-BD5B-9799636DCC88}"/>
              </a:ext>
            </a:extLst>
          </p:cNvPr>
          <p:cNvSpPr>
            <a:spLocks noGrp="1"/>
          </p:cNvSpPr>
          <p:nvPr/>
        </p:nvSpPr>
        <p:spPr>
          <a:xfrm>
            <a:off x="5231465" y="3593592"/>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AUG</a:t>
            </a:r>
            <a:endParaRPr sz="1200"/>
          </a:p>
        </p:txBody>
      </p:sp>
      <p:sp>
        <p:nvSpPr>
          <p:cNvPr id="48" name="Text 46">
            <a:extLst>
              <a:ext uri="{FF2B5EF4-FFF2-40B4-BE49-F238E27FC236}">
                <a16:creationId xmlns:a16="http://schemas.microsoft.com/office/drawing/2014/main" id="{E52FECF0-2101-4A4B-BE58-9A64387CC129}"/>
              </a:ext>
            </a:extLst>
          </p:cNvPr>
          <p:cNvSpPr>
            <a:spLocks noGrp="1"/>
          </p:cNvSpPr>
          <p:nvPr/>
        </p:nvSpPr>
        <p:spPr>
          <a:xfrm>
            <a:off x="6095848" y="3593592"/>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$44,739</a:t>
            </a:r>
            <a:endParaRPr sz="1300"/>
          </a:p>
        </p:txBody>
      </p:sp>
      <p:sp>
        <p:nvSpPr>
          <p:cNvPr id="49" name="Shape 47">
            <a:extLst>
              <a:ext uri="{FF2B5EF4-FFF2-40B4-BE49-F238E27FC236}">
                <a16:creationId xmlns:a16="http://schemas.microsoft.com/office/drawing/2014/main" id="{11076722-ED2F-46D9-9A1F-8A09E43FEF12}"/>
              </a:ext>
            </a:extLst>
          </p:cNvPr>
          <p:cNvSpPr>
            <a:spLocks noGrp="1"/>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a:extLst>
              <a:ext uri="{FF2B5EF4-FFF2-40B4-BE49-F238E27FC236}">
                <a16:creationId xmlns:a16="http://schemas.microsoft.com/office/drawing/2014/main" id="{7A2D0BFF-A274-4DF3-AB32-9E6C02B3D66E}"/>
              </a:ext>
            </a:extLst>
          </p:cNvPr>
          <p:cNvSpPr>
            <a:spLocks noGrp="1"/>
          </p:cNvSpPr>
          <p:nvPr/>
        </p:nvSpPr>
        <p:spPr>
          <a:xfrm>
            <a:off x="5231465" y="4069080"/>
            <a:ext cx="1728765" cy="329184"/>
          </a:xfrm>
          <a:prstGeom prst="rect">
            <a:avLst/>
          </a:prstGeom>
          <a:noFill/>
        </p:spPr>
        <p:txBody>
          <a:bodyPr wrap="square" lIns="0" tIns="0" rIns="0" bIns="0" anchor="ctr"/>
          <a:lstStyle/>
          <a:p>
            <a:pPr marL="0" indent="0" algn="ctr">
              <a:buNone/>
            </a:pPr>
            <a:r>
              <a:rPr sz="1200" b="1">
                <a:solidFill>
                  <a:srgbClr val="FF9F43"/>
                </a:solidFill>
                <a:latin typeface="Calibri"/>
                <a:ea typeface="Calibri"/>
                <a:cs typeface="Calibri"/>
              </a:rPr>
              <a:t>+77% Jul to Aug</a:t>
            </a:r>
            <a:endParaRPr sz="1200"/>
          </a:p>
        </p:txBody>
      </p:sp>
      <p:sp>
        <p:nvSpPr>
          <p:cNvPr id="51" name="Text 49">
            <a:extLst>
              <a:ext uri="{FF2B5EF4-FFF2-40B4-BE49-F238E27FC236}">
                <a16:creationId xmlns:a16="http://schemas.microsoft.com/office/drawing/2014/main" id="{3693321A-230B-465E-BD50-03086EAE83CD}"/>
              </a:ext>
            </a:extLst>
          </p:cNvPr>
          <p:cNvSpPr>
            <a:spLocks noGrp="1"/>
          </p:cNvSpPr>
          <p:nvPr/>
        </p:nvSpPr>
        <p:spPr>
          <a:xfrm>
            <a:off x="5231465" y="4526280"/>
            <a:ext cx="1728765" cy="923544"/>
          </a:xfrm>
          <a:prstGeom prst="rect">
            <a:avLst/>
          </a:prstGeom>
          <a:noFill/>
        </p:spPr>
        <p:txBody>
          <a:bodyPr wrap="square" lIns="0" tIns="0" rIns="0" bIns="0" anchor="t"/>
          <a:lstStyle/>
          <a:p>
            <a:pPr marL="0" indent="0">
              <a:lnSpc>
                <a:spcPct val="115000"/>
              </a:lnSpc>
              <a:buNone/>
            </a:pPr>
            <a:r>
              <a:rPr sz="1200">
                <a:solidFill>
                  <a:srgbClr val="91A0B7"/>
                </a:solidFill>
                <a:latin typeface="Calibri"/>
                <a:ea typeface="Calibri"/>
                <a:cs typeface="Calibri"/>
              </a:rPr>
              <a:t>Claude models via Claude Code. August is the first month at full price.</a:t>
            </a:r>
            <a:endParaRPr sz="1200"/>
          </a:p>
        </p:txBody>
      </p:sp>
      <p:sp>
        <p:nvSpPr>
          <p:cNvPr id="52" name="Shape 50">
            <a:extLst>
              <a:ext uri="{FF2B5EF4-FFF2-40B4-BE49-F238E27FC236}">
                <a16:creationId xmlns:a16="http://schemas.microsoft.com/office/drawing/2014/main" id="{F0BCAA03-68BF-4F2D-BE33-094079F3276B}"/>
              </a:ext>
            </a:extLst>
          </p:cNvPr>
          <p:cNvSpPr>
            <a:spLocks noGrp="1"/>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a:extLst>
              <a:ext uri="{FF2B5EF4-FFF2-40B4-BE49-F238E27FC236}">
                <a16:creationId xmlns:a16="http://schemas.microsoft.com/office/drawing/2014/main" id="{BCAC693E-904A-49B0-AC2D-0ADBA3FFAD6C}"/>
              </a:ext>
            </a:extLst>
          </p:cNvPr>
          <p:cNvSpPr>
            <a:spLocks noGrp="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a:extLst>
              <a:ext uri="{FF2B5EF4-FFF2-40B4-BE49-F238E27FC236}">
                <a16:creationId xmlns:a16="http://schemas.microsoft.com/office/drawing/2014/main" id="{FF04CA6B-2333-432A-9B23-0C5709E2541C}"/>
              </a:ext>
            </a:extLst>
          </p:cNvPr>
          <p:cNvSpPr>
            <a:spLocks noGrp="1"/>
          </p:cNvSpPr>
          <p:nvPr/>
        </p:nvSpPr>
        <p:spPr>
          <a:xfrm>
            <a:off x="7527158" y="1783080"/>
            <a:ext cx="1728765" cy="438912"/>
          </a:xfrm>
          <a:prstGeom prst="rect">
            <a:avLst/>
          </a:prstGeom>
          <a:noFill/>
        </p:spPr>
        <p:txBody>
          <a:bodyPr wrap="none" lIns="0" tIns="0" rIns="0" bIns="0" anchor="ctr">
            <a:noAutofit/>
          </a:bodyPr>
          <a:lstStyle/>
          <a:p>
            <a:pPr marL="0" indent="0" algn="l">
              <a:lnSpc>
                <a:spcPct val="105000"/>
              </a:lnSpc>
              <a:buNone/>
              <a:defRPr sz="1425" b="1">
                <a:solidFill>
                  <a:srgbClr val="F4F7FB"/>
                </a:solidFill>
                <a:latin typeface="Calibri"/>
                <a:ea typeface="Calibri"/>
                <a:cs typeface="Calibri"/>
              </a:defRPr>
            </a:pPr>
            <a:r>
              <a:rPr sz="1425" b="1" spc="110">
                <a:solidFill>
                  <a:srgbClr val="F4F7FB"/>
                </a:solidFill>
                <a:latin typeface="Calibri"/>
                <a:ea typeface="Calibri"/>
                <a:cs typeface="Calibri"/>
              </a:rPr>
              <a:t>COWORK</a:t>
            </a:r>
            <a:endParaRPr sz="1200"/>
          </a:p>
        </p:txBody>
      </p:sp>
      <p:sp>
        <p:nvSpPr>
          <p:cNvPr id="55" name="Text 53">
            <a:extLst>
              <a:ext uri="{FF2B5EF4-FFF2-40B4-BE49-F238E27FC236}">
                <a16:creationId xmlns:a16="http://schemas.microsoft.com/office/drawing/2014/main" id="{9B5C729A-45D2-49CD-ABA9-1C2C1A6C7D59}"/>
              </a:ext>
            </a:extLst>
          </p:cNvPr>
          <p:cNvSpPr>
            <a:spLocks noGrp="1"/>
          </p:cNvSpPr>
          <p:nvPr/>
        </p:nvSpPr>
        <p:spPr>
          <a:xfrm>
            <a:off x="7527158" y="2276856"/>
            <a:ext cx="1728765" cy="457200"/>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$9,906</a:t>
            </a:r>
            <a:endParaRPr sz="2800"/>
          </a:p>
        </p:txBody>
      </p:sp>
      <p:sp>
        <p:nvSpPr>
          <p:cNvPr id="56" name="Text 54">
            <a:extLst>
              <a:ext uri="{FF2B5EF4-FFF2-40B4-BE49-F238E27FC236}">
                <a16:creationId xmlns:a16="http://schemas.microsoft.com/office/drawing/2014/main" id="{261A26D8-0827-4133-B1A3-82D273FDDF8A}"/>
              </a:ext>
            </a:extLst>
          </p:cNvPr>
          <p:cNvSpPr>
            <a:spLocks noGrp="1"/>
          </p:cNvSpPr>
          <p:nvPr/>
        </p:nvSpPr>
        <p:spPr>
          <a:xfrm>
            <a:off x="7527158" y="2734056"/>
            <a:ext cx="1728765" cy="237744"/>
          </a:xfrm>
          <a:prstGeom prst="rect">
            <a:avLst/>
          </a:prstGeom>
          <a:noFill/>
        </p:spPr>
        <p:txBody>
          <a:bodyPr wrap="square" lIns="0" tIns="0" rIns="0" bIns="0" anchor="ctr"/>
          <a:lstStyle/>
          <a:p>
            <a:pPr marL="0" indent="0">
              <a:buNone/>
            </a:pPr>
            <a:r>
              <a:rPr sz="1200" b="1">
                <a:solidFill>
                  <a:srgbClr val="B07CFF"/>
                </a:solidFill>
                <a:latin typeface="Calibri"/>
                <a:ea typeface="Calibri"/>
                <a:cs typeface="Calibri"/>
              </a:rPr>
              <a:t>10.4% of billed AI</a:t>
            </a:r>
            <a:endParaRPr sz="1200"/>
          </a:p>
        </p:txBody>
      </p:sp>
      <p:sp>
        <p:nvSpPr>
          <p:cNvPr id="57" name="Shape 55">
            <a:extLst>
              <a:ext uri="{FF2B5EF4-FFF2-40B4-BE49-F238E27FC236}">
                <a16:creationId xmlns:a16="http://schemas.microsoft.com/office/drawing/2014/main" id="{D02BA2BD-33F5-4D03-A6EA-438F997CEDA3}"/>
              </a:ext>
            </a:extLst>
          </p:cNvPr>
          <p:cNvSpPr>
            <a:spLocks noGrp="1"/>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a:extLst>
              <a:ext uri="{FF2B5EF4-FFF2-40B4-BE49-F238E27FC236}">
                <a16:creationId xmlns:a16="http://schemas.microsoft.com/office/drawing/2014/main" id="{7D0F9403-F9E2-48A4-90C6-AA3EA9974DC2}"/>
              </a:ext>
            </a:extLst>
          </p:cNvPr>
          <p:cNvSpPr>
            <a:spLocks noGrp="1"/>
          </p:cNvSpPr>
          <p:nvPr/>
        </p:nvSpPr>
        <p:spPr>
          <a:xfrm>
            <a:off x="7527158" y="3209544"/>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JUL</a:t>
            </a:r>
            <a:endParaRPr sz="1200"/>
          </a:p>
        </p:txBody>
      </p:sp>
      <p:sp>
        <p:nvSpPr>
          <p:cNvPr id="59" name="Text 57">
            <a:extLst>
              <a:ext uri="{FF2B5EF4-FFF2-40B4-BE49-F238E27FC236}">
                <a16:creationId xmlns:a16="http://schemas.microsoft.com/office/drawing/2014/main" id="{E6E55FEA-C8F9-4F44-B33C-5639C83374B0}"/>
              </a:ext>
            </a:extLst>
          </p:cNvPr>
          <p:cNvSpPr>
            <a:spLocks noGrp="1"/>
          </p:cNvSpPr>
          <p:nvPr/>
        </p:nvSpPr>
        <p:spPr>
          <a:xfrm>
            <a:off x="8391540" y="3209544"/>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$8,920</a:t>
            </a:r>
            <a:endParaRPr sz="1300"/>
          </a:p>
        </p:txBody>
      </p:sp>
      <p:sp>
        <p:nvSpPr>
          <p:cNvPr id="60" name="Text 58">
            <a:extLst>
              <a:ext uri="{FF2B5EF4-FFF2-40B4-BE49-F238E27FC236}">
                <a16:creationId xmlns:a16="http://schemas.microsoft.com/office/drawing/2014/main" id="{8F5826AD-6329-4215-B962-2FA79874E6C5}"/>
              </a:ext>
            </a:extLst>
          </p:cNvPr>
          <p:cNvSpPr>
            <a:spLocks noGrp="1"/>
          </p:cNvSpPr>
          <p:nvPr/>
        </p:nvSpPr>
        <p:spPr>
          <a:xfrm>
            <a:off x="7527158" y="3593592"/>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AUG</a:t>
            </a:r>
            <a:endParaRPr sz="1200"/>
          </a:p>
        </p:txBody>
      </p:sp>
      <p:sp>
        <p:nvSpPr>
          <p:cNvPr id="61" name="Text 59">
            <a:extLst>
              <a:ext uri="{FF2B5EF4-FFF2-40B4-BE49-F238E27FC236}">
                <a16:creationId xmlns:a16="http://schemas.microsoft.com/office/drawing/2014/main" id="{745E4055-AD13-4971-A9B6-791A5719FC74}"/>
              </a:ext>
            </a:extLst>
          </p:cNvPr>
          <p:cNvSpPr>
            <a:spLocks noGrp="1"/>
          </p:cNvSpPr>
          <p:nvPr/>
        </p:nvSpPr>
        <p:spPr>
          <a:xfrm>
            <a:off x="8391540" y="3593592"/>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$9,906</a:t>
            </a:r>
            <a:endParaRPr sz="1300"/>
          </a:p>
        </p:txBody>
      </p:sp>
      <p:sp>
        <p:nvSpPr>
          <p:cNvPr id="62" name="Shape 60">
            <a:extLst>
              <a:ext uri="{FF2B5EF4-FFF2-40B4-BE49-F238E27FC236}">
                <a16:creationId xmlns:a16="http://schemas.microsoft.com/office/drawing/2014/main" id="{201472BA-958D-4B1F-BA97-B55C6A37F9F3}"/>
              </a:ext>
            </a:extLst>
          </p:cNvPr>
          <p:cNvSpPr>
            <a:spLocks noGrp="1"/>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a:extLst>
              <a:ext uri="{FF2B5EF4-FFF2-40B4-BE49-F238E27FC236}">
                <a16:creationId xmlns:a16="http://schemas.microsoft.com/office/drawing/2014/main" id="{07178D21-A892-4F37-80B1-F12440C09993}"/>
              </a:ext>
            </a:extLst>
          </p:cNvPr>
          <p:cNvSpPr>
            <a:spLocks noGrp="1"/>
          </p:cNvSpPr>
          <p:nvPr/>
        </p:nvSpPr>
        <p:spPr>
          <a:xfrm>
            <a:off x="7527158" y="4069080"/>
            <a:ext cx="1728765" cy="329184"/>
          </a:xfrm>
          <a:prstGeom prst="rect">
            <a:avLst/>
          </a:prstGeom>
          <a:noFill/>
        </p:spPr>
        <p:txBody>
          <a:bodyPr wrap="square" lIns="0" tIns="0" rIns="0" bIns="0" anchor="ctr"/>
          <a:lstStyle/>
          <a:p>
            <a:pPr marL="0" indent="0" algn="ctr">
              <a:buNone/>
            </a:pPr>
            <a:r>
              <a:rPr sz="1200" b="1">
                <a:solidFill>
                  <a:srgbClr val="B07CFF"/>
                </a:solidFill>
                <a:latin typeface="Calibri"/>
                <a:ea typeface="Calibri"/>
                <a:cs typeface="Calibri"/>
              </a:rPr>
              <a:t>+11% Jul to Aug</a:t>
            </a:r>
            <a:endParaRPr sz="1200"/>
          </a:p>
        </p:txBody>
      </p:sp>
      <p:sp>
        <p:nvSpPr>
          <p:cNvPr id="64" name="Text 62">
            <a:extLst>
              <a:ext uri="{FF2B5EF4-FFF2-40B4-BE49-F238E27FC236}">
                <a16:creationId xmlns:a16="http://schemas.microsoft.com/office/drawing/2014/main" id="{4649CB25-D881-4AC8-B5C1-6007A45422F8}"/>
              </a:ext>
            </a:extLst>
          </p:cNvPr>
          <p:cNvSpPr>
            <a:spLocks noGrp="1"/>
          </p:cNvSpPr>
          <p:nvPr/>
        </p:nvSpPr>
        <p:spPr>
          <a:xfrm>
            <a:off x="7527158" y="4526280"/>
            <a:ext cx="1728765" cy="923544"/>
          </a:xfrm>
          <a:prstGeom prst="rect">
            <a:avLst/>
          </a:prstGeom>
          <a:noFill/>
        </p:spPr>
        <p:txBody>
          <a:bodyPr wrap="square" lIns="0" tIns="0" rIns="0" bIns="0" anchor="t"/>
          <a:lstStyle/>
          <a:p>
            <a:pPr marL="0" indent="0">
              <a:lnSpc>
                <a:spcPct val="115000"/>
              </a:lnSpc>
              <a:buNone/>
            </a:pPr>
            <a:r>
              <a:rPr sz="1200">
                <a:solidFill>
                  <a:srgbClr val="91A0B7"/>
                </a:solidFill>
                <a:latin typeface="Calibri"/>
                <a:ea typeface="Calibri"/>
                <a:cs typeface="Calibri"/>
              </a:rPr>
              <a:t>Pay-as-you-go agent credits, billed through Power Platform.</a:t>
            </a:r>
            <a:endParaRPr sz="1200"/>
          </a:p>
        </p:txBody>
      </p:sp>
      <p:sp>
        <p:nvSpPr>
          <p:cNvPr id="65" name="Shape 63">
            <a:extLst>
              <a:ext uri="{FF2B5EF4-FFF2-40B4-BE49-F238E27FC236}">
                <a16:creationId xmlns:a16="http://schemas.microsoft.com/office/drawing/2014/main" id="{BBFA9EBE-9AF5-4F66-B488-99D1AD1FF2CF}"/>
              </a:ext>
            </a:extLst>
          </p:cNvPr>
          <p:cNvSpPr>
            <a:spLocks noGrp="1"/>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a:extLst>
              <a:ext uri="{FF2B5EF4-FFF2-40B4-BE49-F238E27FC236}">
                <a16:creationId xmlns:a16="http://schemas.microsoft.com/office/drawing/2014/main" id="{BDF1AA85-DABF-4B4A-BFEC-0CD34E99B9AE}"/>
              </a:ext>
            </a:extLst>
          </p:cNvPr>
          <p:cNvSpPr>
            <a:spLocks noGrp="1"/>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a:extLst>
              <a:ext uri="{FF2B5EF4-FFF2-40B4-BE49-F238E27FC236}">
                <a16:creationId xmlns:a16="http://schemas.microsoft.com/office/drawing/2014/main" id="{CF9A81ED-0204-4109-930F-DBAFC16F2599}"/>
              </a:ext>
            </a:extLst>
          </p:cNvPr>
          <p:cNvSpPr>
            <a:spLocks noGrp="1"/>
          </p:cNvSpPr>
          <p:nvPr/>
        </p:nvSpPr>
        <p:spPr>
          <a:xfrm>
            <a:off x="9822851" y="1783080"/>
            <a:ext cx="1728765" cy="438912"/>
          </a:xfrm>
          <a:prstGeom prst="rect">
            <a:avLst/>
          </a:prstGeom>
          <a:noFill/>
        </p:spPr>
        <p:txBody>
          <a:bodyPr wrap="none" lIns="0" tIns="0" rIns="0" bIns="0" anchor="ctr">
            <a:noAutofit/>
          </a:bodyPr>
          <a:lstStyle/>
          <a:p>
            <a:pPr marL="0" indent="0" algn="l">
              <a:lnSpc>
                <a:spcPct val="105000"/>
              </a:lnSpc>
              <a:buNone/>
              <a:defRPr sz="1425" b="1">
                <a:solidFill>
                  <a:srgbClr val="F4F7FB"/>
                </a:solidFill>
                <a:latin typeface="Calibri"/>
                <a:ea typeface="Calibri"/>
                <a:cs typeface="Calibri"/>
              </a:defRPr>
            </a:pPr>
            <a:r>
              <a:rPr sz="1425" b="1" spc="110">
                <a:solidFill>
                  <a:srgbClr val="F4F7FB"/>
                </a:solidFill>
                <a:latin typeface="Calibri"/>
                <a:ea typeface="Calibri"/>
                <a:cs typeface="Calibri"/>
              </a:rPr>
              <a:t>GOOGLE VERTEX AI</a:t>
            </a:r>
            <a:endParaRPr sz="1200"/>
          </a:p>
        </p:txBody>
      </p:sp>
      <p:sp>
        <p:nvSpPr>
          <p:cNvPr id="68" name="Text 66">
            <a:extLst>
              <a:ext uri="{FF2B5EF4-FFF2-40B4-BE49-F238E27FC236}">
                <a16:creationId xmlns:a16="http://schemas.microsoft.com/office/drawing/2014/main" id="{3A5E0B89-ACEA-4538-9492-B0BDA15ADFB3}"/>
              </a:ext>
            </a:extLst>
          </p:cNvPr>
          <p:cNvSpPr>
            <a:spLocks noGrp="1"/>
          </p:cNvSpPr>
          <p:nvPr/>
        </p:nvSpPr>
        <p:spPr>
          <a:xfrm>
            <a:off x="9822851" y="2276856"/>
            <a:ext cx="1728765" cy="457200"/>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pending</a:t>
            </a:r>
            <a:endParaRPr sz="2800"/>
          </a:p>
        </p:txBody>
      </p:sp>
      <p:sp>
        <p:nvSpPr>
          <p:cNvPr id="69" name="Text 67">
            <a:extLst>
              <a:ext uri="{FF2B5EF4-FFF2-40B4-BE49-F238E27FC236}">
                <a16:creationId xmlns:a16="http://schemas.microsoft.com/office/drawing/2014/main" id="{F0012C22-8F4D-4925-A9DC-5016145040E4}"/>
              </a:ext>
            </a:extLst>
          </p:cNvPr>
          <p:cNvSpPr>
            <a:spLocks noGrp="1"/>
          </p:cNvSpPr>
          <p:nvPr/>
        </p:nvSpPr>
        <p:spPr>
          <a:xfrm>
            <a:off x="9822851" y="2734056"/>
            <a:ext cx="1728765" cy="237744"/>
          </a:xfrm>
          <a:prstGeom prst="rect">
            <a:avLst/>
          </a:prstGeom>
          <a:noFill/>
        </p:spPr>
        <p:txBody>
          <a:bodyPr wrap="square" lIns="0" tIns="0" rIns="0" bIns="0" anchor="ctr"/>
          <a:lstStyle/>
          <a:p>
            <a:pPr marL="0" indent="0">
              <a:buNone/>
            </a:pPr>
            <a:r>
              <a:rPr sz="1200" b="1">
                <a:solidFill>
                  <a:srgbClr val="3DDC97"/>
                </a:solidFill>
                <a:latin typeface="Calibri"/>
                <a:ea typeface="Calibri"/>
                <a:cs typeface="Calibri"/>
              </a:rPr>
              <a:t>August statement not in</a:t>
            </a:r>
            <a:endParaRPr sz="1200"/>
          </a:p>
        </p:txBody>
      </p:sp>
      <p:sp>
        <p:nvSpPr>
          <p:cNvPr id="70" name="Shape 68">
            <a:extLst>
              <a:ext uri="{FF2B5EF4-FFF2-40B4-BE49-F238E27FC236}">
                <a16:creationId xmlns:a16="http://schemas.microsoft.com/office/drawing/2014/main" id="{E36006C8-11CD-4280-95B5-3DF0237D8C03}"/>
              </a:ext>
            </a:extLst>
          </p:cNvPr>
          <p:cNvSpPr>
            <a:spLocks noGrp="1"/>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a:extLst>
              <a:ext uri="{FF2B5EF4-FFF2-40B4-BE49-F238E27FC236}">
                <a16:creationId xmlns:a16="http://schemas.microsoft.com/office/drawing/2014/main" id="{F9CDE078-C5B5-4BD8-A165-5F649F8BDD43}"/>
              </a:ext>
            </a:extLst>
          </p:cNvPr>
          <p:cNvSpPr>
            <a:spLocks noGrp="1"/>
          </p:cNvSpPr>
          <p:nvPr/>
        </p:nvSpPr>
        <p:spPr>
          <a:xfrm>
            <a:off x="9822851" y="3209544"/>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JUN</a:t>
            </a:r>
            <a:endParaRPr sz="1200"/>
          </a:p>
        </p:txBody>
      </p:sp>
      <p:sp>
        <p:nvSpPr>
          <p:cNvPr id="72" name="Text 70">
            <a:extLst>
              <a:ext uri="{FF2B5EF4-FFF2-40B4-BE49-F238E27FC236}">
                <a16:creationId xmlns:a16="http://schemas.microsoft.com/office/drawing/2014/main" id="{7F20ADAF-45BE-4322-905E-FA7F4AE506F4}"/>
              </a:ext>
            </a:extLst>
          </p:cNvPr>
          <p:cNvSpPr>
            <a:spLocks noGrp="1"/>
          </p:cNvSpPr>
          <p:nvPr/>
        </p:nvSpPr>
        <p:spPr>
          <a:xfrm>
            <a:off x="10687233" y="3209544"/>
            <a:ext cx="864382" cy="274320"/>
          </a:xfrm>
          <a:prstGeom prst="rect">
            <a:avLst/>
          </a:prstGeom>
          <a:noFill/>
        </p:spPr>
        <p:txBody>
          <a:bodyPr wrap="none" lIns="0" tIns="0" rIns="0" bIns="0" anchor="ctr">
            <a:noAutofit/>
          </a:bodyPr>
          <a:lstStyle/>
          <a:p>
            <a:pPr marL="0" indent="0" algn="r">
              <a:buNone/>
              <a:defRPr sz="1350" b="1">
                <a:solidFill>
                  <a:srgbClr val="F4F7FB"/>
                </a:solidFill>
                <a:latin typeface="Calibri"/>
                <a:ea typeface="Calibri"/>
                <a:cs typeface="Calibri"/>
              </a:defRPr>
            </a:pPr>
            <a:r>
              <a:rPr sz="1350" b="1">
                <a:solidFill>
                  <a:srgbClr val="F4F7FB"/>
                </a:solidFill>
                <a:latin typeface="Calibri"/>
                <a:ea typeface="Calibri"/>
                <a:cs typeface="Calibri"/>
              </a:rPr>
              <a:t>$958</a:t>
            </a:r>
            <a:endParaRPr sz="1300"/>
          </a:p>
        </p:txBody>
      </p:sp>
      <p:sp>
        <p:nvSpPr>
          <p:cNvPr id="73" name="Text 71">
            <a:extLst>
              <a:ext uri="{FF2B5EF4-FFF2-40B4-BE49-F238E27FC236}">
                <a16:creationId xmlns:a16="http://schemas.microsoft.com/office/drawing/2014/main" id="{5BA90F1D-D006-474F-9EB8-30E010E94F61}"/>
              </a:ext>
            </a:extLst>
          </p:cNvPr>
          <p:cNvSpPr>
            <a:spLocks noGrp="1"/>
          </p:cNvSpPr>
          <p:nvPr/>
        </p:nvSpPr>
        <p:spPr>
          <a:xfrm>
            <a:off x="9822851" y="3593592"/>
            <a:ext cx="864382" cy="274320"/>
          </a:xfrm>
          <a:prstGeom prst="rect">
            <a:avLst/>
          </a:prstGeom>
          <a:noFill/>
        </p:spPr>
        <p:txBody>
          <a:bodyPr wrap="none" lIns="0" tIns="0" rIns="0" bIns="0" anchor="ctr">
            <a:noAutofit/>
          </a:bodyPr>
          <a:lstStyle/>
          <a:p>
            <a:pPr marL="0" indent="0" algn="l">
              <a:buNone/>
              <a:defRPr sz="1200" b="1">
                <a:solidFill>
                  <a:srgbClr val="F4F7FB"/>
                </a:solidFill>
                <a:latin typeface="Calibri"/>
                <a:ea typeface="Calibri"/>
                <a:cs typeface="Calibri"/>
              </a:defRPr>
            </a:pPr>
            <a:r>
              <a:rPr sz="1200" b="1" spc="100">
                <a:solidFill>
                  <a:srgbClr val="F4F7FB"/>
                </a:solidFill>
                <a:latin typeface="Calibri"/>
                <a:ea typeface="Calibri"/>
                <a:cs typeface="Calibri"/>
              </a:rPr>
              <a:t>JUL</a:t>
            </a:r>
            <a:endParaRPr sz="1200"/>
          </a:p>
        </p:txBody>
      </p:sp>
      <p:sp>
        <p:nvSpPr>
          <p:cNvPr id="74" name="Text 72">
            <a:extLst>
              <a:ext uri="{FF2B5EF4-FFF2-40B4-BE49-F238E27FC236}">
                <a16:creationId xmlns:a16="http://schemas.microsoft.com/office/drawing/2014/main" id="{672BFD05-7C2D-4596-8507-53BF7D2F9EAD}"/>
              </a:ext>
            </a:extLst>
          </p:cNvPr>
          <p:cNvSpPr>
            <a:spLocks noGrp="1"/>
          </p:cNvSpPr>
          <p:nvPr/>
        </p:nvSpPr>
        <p:spPr>
          <a:xfrm>
            <a:off x="10687233" y="3593592"/>
            <a:ext cx="864382" cy="274320"/>
          </a:xfrm>
          <a:prstGeom prst="rect">
            <a:avLst/>
          </a:prstGeom>
          <a:noFill/>
        </p:spPr>
        <p:txBody>
          <a:bodyPr wrap="square" lIns="0" tIns="0" rIns="0" bIns="0" anchor="ctr"/>
          <a:lstStyle/>
          <a:p>
            <a:pPr marL="0" indent="0" algn="r">
              <a:buNone/>
            </a:pPr>
            <a:r>
              <a:rPr sz="1300" b="1">
                <a:solidFill>
                  <a:srgbClr val="F4F7FB"/>
                </a:solidFill>
                <a:latin typeface="Calibri"/>
                <a:ea typeface="Calibri"/>
                <a:cs typeface="Calibri"/>
              </a:rPr>
              <a:t>$2,359</a:t>
            </a:r>
            <a:endParaRPr sz="1300"/>
          </a:p>
        </p:txBody>
      </p:sp>
      <p:sp>
        <p:nvSpPr>
          <p:cNvPr id="75" name="Shape 73">
            <a:extLst>
              <a:ext uri="{FF2B5EF4-FFF2-40B4-BE49-F238E27FC236}">
                <a16:creationId xmlns:a16="http://schemas.microsoft.com/office/drawing/2014/main" id="{CDB61192-FC95-4F63-A76A-FAD68116257F}"/>
              </a:ext>
            </a:extLst>
          </p:cNvPr>
          <p:cNvSpPr>
            <a:spLocks noGrp="1"/>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a:extLst>
              <a:ext uri="{FF2B5EF4-FFF2-40B4-BE49-F238E27FC236}">
                <a16:creationId xmlns:a16="http://schemas.microsoft.com/office/drawing/2014/main" id="{67C002A3-40AB-4AE6-B4D0-44F30BC1E4BD}"/>
              </a:ext>
            </a:extLst>
          </p:cNvPr>
          <p:cNvSpPr>
            <a:spLocks noGrp="1"/>
          </p:cNvSpPr>
          <p:nvPr/>
        </p:nvSpPr>
        <p:spPr>
          <a:xfrm>
            <a:off x="9822851" y="4069080"/>
            <a:ext cx="1728765" cy="329184"/>
          </a:xfrm>
          <a:prstGeom prst="rect">
            <a:avLst/>
          </a:prstGeom>
          <a:noFill/>
        </p:spPr>
        <p:txBody>
          <a:bodyPr wrap="square" lIns="0" tIns="0" rIns="0" bIns="0" anchor="ctr"/>
          <a:lstStyle/>
          <a:p>
            <a:pPr marL="0" indent="0" algn="ctr">
              <a:buNone/>
            </a:pPr>
            <a:r>
              <a:rPr sz="1200" b="1">
                <a:solidFill>
                  <a:srgbClr val="3DDC97"/>
                </a:solidFill>
                <a:latin typeface="Calibri"/>
                <a:ea typeface="Calibri"/>
                <a:cs typeface="Calibri"/>
              </a:rPr>
              <a:t>July figure shown</a:t>
            </a:r>
            <a:endParaRPr sz="1200"/>
          </a:p>
        </p:txBody>
      </p:sp>
      <p:sp>
        <p:nvSpPr>
          <p:cNvPr id="77" name="Text 75">
            <a:extLst>
              <a:ext uri="{FF2B5EF4-FFF2-40B4-BE49-F238E27FC236}">
                <a16:creationId xmlns:a16="http://schemas.microsoft.com/office/drawing/2014/main" id="{2AF83E86-46F4-46F0-9B04-1BC4BD3C4423}"/>
              </a:ext>
            </a:extLst>
          </p:cNvPr>
          <p:cNvSpPr>
            <a:spLocks noGrp="1"/>
          </p:cNvSpPr>
          <p:nvPr/>
        </p:nvSpPr>
        <p:spPr>
          <a:xfrm>
            <a:off x="9822851" y="4526280"/>
            <a:ext cx="1728765" cy="923544"/>
          </a:xfrm>
          <a:prstGeom prst="rect">
            <a:avLst/>
          </a:prstGeom>
          <a:noFill/>
        </p:spPr>
        <p:txBody>
          <a:bodyPr wrap="square" lIns="0" tIns="0" rIns="0" bIns="0" anchor="t"/>
          <a:lstStyle/>
          <a:p>
            <a:pPr marL="0" indent="0">
              <a:lnSpc>
                <a:spcPct val="115000"/>
              </a:lnSpc>
              <a:buNone/>
            </a:pPr>
            <a:r>
              <a:rPr sz="1200">
                <a:solidFill>
                  <a:srgbClr val="91A0B7"/>
                </a:solidFill>
                <a:latin typeface="Calibri"/>
                <a:ea typeface="Calibri"/>
                <a:cs typeface="Calibri"/>
              </a:rPr>
              <a:t>Gemini prediction tokens on the shared GCP projects.</a:t>
            </a:r>
            <a:endParaRPr sz="1200"/>
          </a:p>
        </p:txBody>
      </p:sp>
    </p:spTree>
    <p:extLst>
      <p:ext uri="{BB962C8B-B14F-4D97-AF65-F5344CB8AC3E}">
        <p14:creationId xmlns:p14="http://schemas.microsoft.com/office/powerpoint/2010/main" val="968350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83A114A-46E1-444D-8A4C-C75405E7D950}"/>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739F10F6-5982-40D3-A237-AEB243E6CDD7}"/>
              </a:ext>
            </a:extLst>
          </p:cNvPr>
          <p:cNvSpPr>
            <a:spLocks noGrp="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a:p>
        </p:txBody>
      </p:sp>
      <p:sp>
        <p:nvSpPr>
          <p:cNvPr id="4" name="Text 2">
            <a:extLst>
              <a:ext uri="{FF2B5EF4-FFF2-40B4-BE49-F238E27FC236}">
                <a16:creationId xmlns:a16="http://schemas.microsoft.com/office/drawing/2014/main" id="{B980F814-1F44-41FB-8379-3DA60E06848A}"/>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FF9F43"/>
                </a:solidFill>
                <a:latin typeface="Calibri"/>
                <a:ea typeface="Calibri"/>
                <a:cs typeface="Calibri"/>
              </a:rPr>
              <a:t>AWS / BEDROCK</a:t>
            </a:r>
            <a:endParaRPr sz="1300"/>
          </a:p>
        </p:txBody>
      </p:sp>
      <p:sp>
        <p:nvSpPr>
          <p:cNvPr id="5" name="Text 3">
            <a:extLst>
              <a:ext uri="{FF2B5EF4-FFF2-40B4-BE49-F238E27FC236}">
                <a16:creationId xmlns:a16="http://schemas.microsoft.com/office/drawing/2014/main" id="{70BE652A-578D-43A7-A400-9457FAF9577E}"/>
              </a:ext>
            </a:extLst>
          </p:cNvPr>
          <p:cNvSpPr>
            <a:spLocks noGrp="1"/>
          </p:cNvSpPr>
          <p:nvPr/>
        </p:nvSpPr>
        <p:spPr>
          <a:xfrm>
            <a:off x="457200" y="548640"/>
            <a:ext cx="7680960" cy="566928"/>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The policy is moving the mix, not yet the cost</a:t>
            </a:r>
            <a:endParaRPr sz="2800"/>
          </a:p>
        </p:txBody>
      </p:sp>
      <p:sp>
        <p:nvSpPr>
          <p:cNvPr id="6" name="Text 4">
            <a:extLst>
              <a:ext uri="{FF2B5EF4-FFF2-40B4-BE49-F238E27FC236}">
                <a16:creationId xmlns:a16="http://schemas.microsoft.com/office/drawing/2014/main" id="{3A27CDD5-A220-4148-B4E8-4F003E0E57B5}"/>
              </a:ext>
            </a:extLst>
          </p:cNvPr>
          <p:cNvSpPr>
            <a:spLocks noGrp="1"/>
          </p:cNvSpPr>
          <p:nvPr/>
        </p:nvSpPr>
        <p:spPr>
          <a:xfrm>
            <a:off x="8321040" y="493776"/>
            <a:ext cx="3413455" cy="658368"/>
          </a:xfrm>
          <a:prstGeom prst="rect">
            <a:avLst/>
          </a:prstGeom>
          <a:noFill/>
        </p:spPr>
        <p:txBody>
          <a:bodyPr wrap="square" lIns="0" tIns="0" rIns="0" bIns="0" anchor="t"/>
          <a:lstStyle/>
          <a:p>
            <a:pPr marL="0" indent="0" algn="r">
              <a:lnSpc>
                <a:spcPct val="115000"/>
              </a:lnSpc>
              <a:buNone/>
            </a:pPr>
            <a:r>
              <a:rPr sz="1200">
                <a:solidFill>
                  <a:srgbClr val="91A0B7"/>
                </a:solidFill>
                <a:latin typeface="Calibri"/>
                <a:ea typeface="Calibri"/>
                <a:cs typeface="Calibri"/>
              </a:rPr>
              <a:t>Claude models consumed through Bedrock, billed as Marketplace lines.</a:t>
            </a:r>
            <a:endParaRPr sz="1200"/>
          </a:p>
        </p:txBody>
      </p:sp>
      <p:sp>
        <p:nvSpPr>
          <p:cNvPr id="7" name="Text 5">
            <a:extLst>
              <a:ext uri="{FF2B5EF4-FFF2-40B4-BE49-F238E27FC236}">
                <a16:creationId xmlns:a16="http://schemas.microsoft.com/office/drawing/2014/main" id="{C032A1C2-FD5C-4EB3-A539-9649C3D5B111}"/>
              </a:ext>
            </a:extLst>
          </p:cNvPr>
          <p:cNvSpPr>
            <a:spLocks noGrp="1"/>
          </p:cNvSpPr>
          <p:nvPr/>
        </p:nvSpPr>
        <p:spPr>
          <a:xfrm>
            <a:off x="457200" y="6345936"/>
            <a:ext cx="11277295" cy="402336"/>
          </a:xfrm>
          <a:prstGeom prst="rect">
            <a:avLst/>
          </a:prstGeom>
          <a:noFill/>
        </p:spPr>
        <p:txBody>
          <a:bodyPr wrap="square" lIns="0" tIns="0" rIns="0" bIns="0" anchor="t"/>
          <a:lstStyle/>
          <a:p>
            <a:pPr marL="0" indent="0">
              <a:lnSpc>
                <a:spcPct val="115000"/>
              </a:lnSpc>
              <a:buNone/>
            </a:pPr>
            <a:r>
              <a:rPr sz="1200">
                <a:solidFill>
                  <a:srgbClr val="536078"/>
                </a:solidFill>
                <a:latin typeface="Calibri"/>
                <a:ea typeface="Calibri"/>
                <a:cs typeface="Calibri"/>
              </a:rPr>
              <a:t>Sonnet went from 3.0% to 23.2% of model spend in a month, which is what the policy asks for. But Opus still grew from $24,365 to $34,184 in absolute terms: the shift is additive, not substitutive. The policy is changing what gets added, not what gets replaced.</a:t>
            </a:r>
            <a:endParaRPr sz="1200"/>
          </a:p>
        </p:txBody>
      </p:sp>
      <p:sp>
        <p:nvSpPr>
          <p:cNvPr id="8" name="Text 6">
            <a:extLst>
              <a:ext uri="{FF2B5EF4-FFF2-40B4-BE49-F238E27FC236}">
                <a16:creationId xmlns:a16="http://schemas.microsoft.com/office/drawing/2014/main" id="{05521D97-91EA-4CD0-89D2-64D3BBCB6AC8}"/>
              </a:ext>
            </a:extLst>
          </p:cNvPr>
          <p:cNvSpPr>
            <a:spLocks noGrp="1"/>
          </p:cNvSpPr>
          <p:nvPr/>
        </p:nvSpPr>
        <p:spPr>
          <a:xfrm>
            <a:off x="457200" y="1234440"/>
            <a:ext cx="7360920" cy="237744"/>
          </a:xfrm>
          <a:prstGeom prst="rect">
            <a:avLst/>
          </a:prstGeom>
          <a:noFill/>
        </p:spPr>
        <p:txBody>
          <a:bodyPr wrap="square" lIns="0" tIns="0" rIns="0" bIns="0" anchor="ctr"/>
          <a:lstStyle/>
          <a:p>
            <a:pPr marL="0" indent="0">
              <a:buNone/>
            </a:pPr>
            <a:r>
              <a:rPr sz="1500" b="1">
                <a:solidFill>
                  <a:srgbClr val="F4F7FB"/>
                </a:solidFill>
                <a:latin typeface="Calibri"/>
                <a:ea typeface="Calibri"/>
                <a:cs typeface="Calibri"/>
              </a:rPr>
              <a:t>Monthly spend by model</a:t>
            </a:r>
            <a:endParaRPr sz="1500"/>
          </a:p>
        </p:txBody>
      </p:sp>
      <p:graphicFrame>
        <p:nvGraphicFramePr>
          <p:cNvPr id="26"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a:extLst>
              <a:ext uri="{FF2B5EF4-FFF2-40B4-BE49-F238E27FC236}">
                <a16:creationId xmlns:a16="http://schemas.microsoft.com/office/drawing/2014/main" id="{C40D6263-2562-41DA-B5A8-0DBCA84A7EEC}"/>
              </a:ext>
            </a:extLst>
          </p:cNvPr>
          <p:cNvSpPr>
            <a:spLocks noGrp="1"/>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1" name="Text 8">
            <a:extLst>
              <a:ext uri="{FF2B5EF4-FFF2-40B4-BE49-F238E27FC236}">
                <a16:creationId xmlns:a16="http://schemas.microsoft.com/office/drawing/2014/main" id="{2A50D4C8-DAD1-4FAE-AC65-6263A5BE40AF}"/>
              </a:ext>
            </a:extLst>
          </p:cNvPr>
          <p:cNvSpPr>
            <a:spLocks noGrp="1"/>
          </p:cNvSpPr>
          <p:nvPr/>
        </p:nvSpPr>
        <p:spPr>
          <a:xfrm>
            <a:off x="8293608" y="1325880"/>
            <a:ext cx="3239719"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TOTAL, AUGUST</a:t>
            </a:r>
            <a:endParaRPr sz="1200"/>
          </a:p>
        </p:txBody>
      </p:sp>
      <p:sp>
        <p:nvSpPr>
          <p:cNvPr id="12" name="Text 9">
            <a:extLst>
              <a:ext uri="{FF2B5EF4-FFF2-40B4-BE49-F238E27FC236}">
                <a16:creationId xmlns:a16="http://schemas.microsoft.com/office/drawing/2014/main" id="{7F8F5153-BB0F-4736-B240-90F1D684E0C2}"/>
              </a:ext>
            </a:extLst>
          </p:cNvPr>
          <p:cNvSpPr>
            <a:spLocks noGrp="1"/>
          </p:cNvSpPr>
          <p:nvPr/>
        </p:nvSpPr>
        <p:spPr>
          <a:xfrm>
            <a:off x="8293608" y="1527048"/>
            <a:ext cx="3239719"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$44,739</a:t>
            </a:r>
            <a:endParaRPr sz="2800"/>
          </a:p>
        </p:txBody>
      </p:sp>
      <p:sp>
        <p:nvSpPr>
          <p:cNvPr id="13" name="Text 10">
            <a:extLst>
              <a:ext uri="{FF2B5EF4-FFF2-40B4-BE49-F238E27FC236}">
                <a16:creationId xmlns:a16="http://schemas.microsoft.com/office/drawing/2014/main" id="{512F8EA5-1D01-4CC0-923D-BA20B742A72D}"/>
              </a:ext>
            </a:extLst>
          </p:cNvPr>
          <p:cNvSpPr>
            <a:spLocks noGrp="1"/>
          </p:cNvSpPr>
          <p:nvPr/>
        </p:nvSpPr>
        <p:spPr>
          <a:xfrm>
            <a:off x="8293608" y="1929384"/>
            <a:ext cx="3239719" cy="329184"/>
          </a:xfrm>
          <a:prstGeom prst="rect">
            <a:avLst/>
          </a:prstGeom>
          <a:noFill/>
        </p:spPr>
        <p:txBody>
          <a:bodyPr wrap="square" lIns="0" tIns="0" rIns="0" bIns="0" anchor="t"/>
          <a:lstStyle/>
          <a:p>
            <a:pPr marL="0" indent="0">
              <a:lnSpc>
                <a:spcPct val="105000"/>
              </a:lnSpc>
              <a:buNone/>
            </a:pPr>
            <a:r>
              <a:rPr sz="1200" b="1">
                <a:solidFill>
                  <a:srgbClr val="FF9F43"/>
                </a:solidFill>
                <a:latin typeface="Calibri"/>
                <a:ea typeface="Calibri"/>
                <a:cs typeface="Calibri"/>
              </a:rPr>
              <a:t>+77% on July</a:t>
            </a:r>
            <a:endParaRPr sz="1200"/>
          </a:p>
        </p:txBody>
      </p:sp>
      <p:sp>
        <p:nvSpPr>
          <p:cNvPr id="14" name="Shape 11">
            <a:extLst>
              <a:ext uri="{FF2B5EF4-FFF2-40B4-BE49-F238E27FC236}">
                <a16:creationId xmlns:a16="http://schemas.microsoft.com/office/drawing/2014/main" id="{3AC87844-1DBD-4C64-BE35-584DEE1E330A}"/>
              </a:ext>
            </a:extLst>
          </p:cNvPr>
          <p:cNvSpPr>
            <a:spLocks noGrp="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5" name="Text 12">
            <a:extLst>
              <a:ext uri="{FF2B5EF4-FFF2-40B4-BE49-F238E27FC236}">
                <a16:creationId xmlns:a16="http://schemas.microsoft.com/office/drawing/2014/main" id="{5DDDD607-79DD-4B47-8969-FEBECB158108}"/>
              </a:ext>
            </a:extLst>
          </p:cNvPr>
          <p:cNvSpPr>
            <a:spLocks noGrp="1"/>
          </p:cNvSpPr>
          <p:nvPr/>
        </p:nvSpPr>
        <p:spPr>
          <a:xfrm>
            <a:off x="8293608" y="2551176"/>
            <a:ext cx="3239719"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OPUS SHARE</a:t>
            </a:r>
            <a:endParaRPr sz="1200"/>
          </a:p>
        </p:txBody>
      </p:sp>
      <p:sp>
        <p:nvSpPr>
          <p:cNvPr id="16" name="Text 13">
            <a:extLst>
              <a:ext uri="{FF2B5EF4-FFF2-40B4-BE49-F238E27FC236}">
                <a16:creationId xmlns:a16="http://schemas.microsoft.com/office/drawing/2014/main" id="{15C9FB1A-ADAD-4619-9742-CDC291F8C804}"/>
              </a:ext>
            </a:extLst>
          </p:cNvPr>
          <p:cNvSpPr>
            <a:spLocks noGrp="1"/>
          </p:cNvSpPr>
          <p:nvPr/>
        </p:nvSpPr>
        <p:spPr>
          <a:xfrm>
            <a:off x="8293608" y="2752344"/>
            <a:ext cx="3239719" cy="438912"/>
          </a:xfrm>
          <a:prstGeom prst="rect">
            <a:avLst/>
          </a:prstGeom>
          <a:noFill/>
        </p:spPr>
        <p:txBody>
          <a:bodyPr wrap="square" lIns="0" tIns="0" rIns="0" bIns="0" anchor="ctr"/>
          <a:lstStyle/>
          <a:p>
            <a:pPr marL="0" indent="0">
              <a:buNone/>
            </a:pPr>
            <a:r>
              <a:rPr sz="2787" b="1">
                <a:solidFill>
                  <a:srgbClr val="F4F7FB"/>
                </a:solidFill>
                <a:latin typeface="Calibri"/>
                <a:ea typeface="Calibri"/>
                <a:cs typeface="Calibri"/>
              </a:rPr>
              <a:t>76.4%</a:t>
            </a:r>
            <a:endParaRPr sz="2787"/>
          </a:p>
        </p:txBody>
      </p:sp>
      <p:sp>
        <p:nvSpPr>
          <p:cNvPr id="17" name="Text 14">
            <a:extLst>
              <a:ext uri="{FF2B5EF4-FFF2-40B4-BE49-F238E27FC236}">
                <a16:creationId xmlns:a16="http://schemas.microsoft.com/office/drawing/2014/main" id="{F99D3F1B-3CDC-4760-9B43-7540F882709D}"/>
              </a:ext>
            </a:extLst>
          </p:cNvPr>
          <p:cNvSpPr>
            <a:spLocks noGrp="1"/>
          </p:cNvSpPr>
          <p:nvPr/>
        </p:nvSpPr>
        <p:spPr>
          <a:xfrm>
            <a:off x="8293608" y="3154680"/>
            <a:ext cx="3239719" cy="329184"/>
          </a:xfrm>
          <a:prstGeom prst="rect">
            <a:avLst/>
          </a:prstGeom>
          <a:noFill/>
        </p:spPr>
        <p:txBody>
          <a:bodyPr wrap="square" lIns="0" tIns="0" rIns="0" bIns="0" anchor="t"/>
          <a:lstStyle/>
          <a:p>
            <a:pPr marL="0" indent="0">
              <a:lnSpc>
                <a:spcPct val="105000"/>
              </a:lnSpc>
              <a:buNone/>
            </a:pPr>
            <a:r>
              <a:rPr sz="1200" b="1">
                <a:solidFill>
                  <a:srgbClr val="3DD9EB"/>
                </a:solidFill>
                <a:latin typeface="Calibri"/>
                <a:ea typeface="Calibri"/>
                <a:cs typeface="Calibri"/>
              </a:rPr>
              <a:t>was 96.3% in July</a:t>
            </a:r>
            <a:endParaRPr sz="1200"/>
          </a:p>
        </p:txBody>
      </p:sp>
    </p:spTree>
    <p:extLst>
      <p:ext uri="{BB962C8B-B14F-4D97-AF65-F5344CB8AC3E}">
        <p14:creationId xmlns:p14="http://schemas.microsoft.com/office/powerpoint/2010/main" val="2860792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4873AEE2-CEBB-4DD5-B3E8-11F237E87E5B}"/>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A9FCB0C8-48ED-468F-90B8-2FFAE3058EA7}"/>
              </a:ext>
            </a:extLst>
          </p:cNvPr>
          <p:cNvSpPr>
            <a:spLocks noGrp="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a:p>
        </p:txBody>
      </p:sp>
      <p:sp>
        <p:nvSpPr>
          <p:cNvPr id="4" name="Text 2">
            <a:extLst>
              <a:ext uri="{FF2B5EF4-FFF2-40B4-BE49-F238E27FC236}">
                <a16:creationId xmlns:a16="http://schemas.microsoft.com/office/drawing/2014/main" id="{19F15442-BF60-4FA4-BE11-22EFC8F80A07}"/>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FF9F43"/>
                </a:solidFill>
                <a:latin typeface="Calibri"/>
                <a:ea typeface="Calibri"/>
                <a:cs typeface="Calibri"/>
              </a:rPr>
              <a:t>MARKETPLACE</a:t>
            </a:r>
            <a:endParaRPr sz="1300"/>
          </a:p>
        </p:txBody>
      </p:sp>
      <p:sp>
        <p:nvSpPr>
          <p:cNvPr id="5" name="Text 3">
            <a:extLst>
              <a:ext uri="{FF2B5EF4-FFF2-40B4-BE49-F238E27FC236}">
                <a16:creationId xmlns:a16="http://schemas.microsoft.com/office/drawing/2014/main" id="{2A2BB505-0F2E-424D-95CE-51130D34C69D}"/>
              </a:ext>
            </a:extLst>
          </p:cNvPr>
          <p:cNvSpPr>
            <a:spLocks noGrp="1"/>
          </p:cNvSpPr>
          <p:nvPr/>
        </p:nvSpPr>
        <p:spPr>
          <a:xfrm>
            <a:off x="457200" y="548640"/>
            <a:ext cx="7680960" cy="566928"/>
          </a:xfrm>
          <a:prstGeom prst="rect">
            <a:avLst/>
          </a:prstGeom>
          <a:noFill/>
        </p:spPr>
        <p:txBody>
          <a:bodyPr wrap="square" lIns="0" tIns="0" rIns="0" bIns="0" anchor="ctr"/>
          <a:lstStyle/>
          <a:p>
            <a:pPr marL="0" indent="0">
              <a:buNone/>
            </a:pPr>
            <a:r>
              <a:rPr sz="2000" b="1">
                <a:solidFill>
                  <a:srgbClr val="F4F7FB"/>
                </a:solidFill>
                <a:latin typeface="Calibri"/>
                <a:ea typeface="Calibri"/>
                <a:cs typeface="Calibri"/>
              </a:rPr>
              <a:t>Marketplace is no longer “not consumption”</a:t>
            </a:r>
            <a:endParaRPr sz="2000"/>
          </a:p>
        </p:txBody>
      </p:sp>
      <p:sp>
        <p:nvSpPr>
          <p:cNvPr id="6" name="Text 4">
            <a:extLst>
              <a:ext uri="{FF2B5EF4-FFF2-40B4-BE49-F238E27FC236}">
                <a16:creationId xmlns:a16="http://schemas.microsoft.com/office/drawing/2014/main" id="{454A2E4B-AE0B-49B1-8F13-CAC9DCAC8960}"/>
              </a:ext>
            </a:extLst>
          </p:cNvPr>
          <p:cNvSpPr>
            <a:spLocks noGrp="1"/>
          </p:cNvSpPr>
          <p:nvPr/>
        </p:nvSpPr>
        <p:spPr>
          <a:xfrm>
            <a:off x="8321040" y="493776"/>
            <a:ext cx="3413455" cy="658368"/>
          </a:xfrm>
          <a:prstGeom prst="rect">
            <a:avLst/>
          </a:prstGeom>
          <a:noFill/>
        </p:spPr>
        <p:txBody>
          <a:bodyPr wrap="square" lIns="0" tIns="0" rIns="0" bIns="0" anchor="t"/>
          <a:lstStyle/>
          <a:p>
            <a:pPr marL="0" indent="0" algn="r">
              <a:lnSpc>
                <a:spcPct val="115000"/>
              </a:lnSpc>
              <a:buNone/>
            </a:pPr>
            <a:r>
              <a:rPr sz="1200">
                <a:solidFill>
                  <a:srgbClr val="91A0B7"/>
                </a:solidFill>
                <a:latin typeface="Calibri"/>
                <a:ea typeface="Calibri"/>
                <a:cs typeface="Calibri"/>
              </a:rPr>
              <a:t>August contained no one-off purchase at all. Every dollar of it is recurring.</a:t>
            </a:r>
            <a:endParaRPr sz="1200"/>
          </a:p>
        </p:txBody>
      </p:sp>
      <p:sp>
        <p:nvSpPr>
          <p:cNvPr id="7" name="Text 5">
            <a:extLst>
              <a:ext uri="{FF2B5EF4-FFF2-40B4-BE49-F238E27FC236}">
                <a16:creationId xmlns:a16="http://schemas.microsoft.com/office/drawing/2014/main" id="{DC2912D4-00C1-4273-88BC-4E087B137210}"/>
              </a:ext>
            </a:extLst>
          </p:cNvPr>
          <p:cNvSpPr>
            <a:spLocks noGrp="1"/>
          </p:cNvSpPr>
          <p:nvPr/>
        </p:nvSpPr>
        <p:spPr>
          <a:xfrm>
            <a:off x="457200" y="6345936"/>
            <a:ext cx="11277295" cy="402336"/>
          </a:xfrm>
          <a:prstGeom prst="rect">
            <a:avLst/>
          </a:prstGeom>
          <a:noFill/>
        </p:spPr>
        <p:txBody>
          <a:bodyPr wrap="square" lIns="0" tIns="0" rIns="0" bIns="0" anchor="t"/>
          <a:lstStyle/>
          <a:p>
            <a:pPr marL="0" indent="0">
              <a:lnSpc>
                <a:spcPct val="115000"/>
              </a:lnSpc>
              <a:buNone/>
            </a:pPr>
            <a:r>
              <a:rPr sz="1200">
                <a:solidFill>
                  <a:srgbClr val="536078"/>
                </a:solidFill>
                <a:latin typeface="Calibri"/>
                <a:ea typeface="Calibri"/>
                <a:cs typeface="Calibri"/>
              </a:rPr>
              <a:t>The line was built to hold lumpy security purchases, and the deck has always said it is not consumption. In August three quarters of it is Claude running through Bedrock, which is consumption in every sense except the line it bills on. Reported as one number it hides the fastest-growing item in the estate.</a:t>
            </a:r>
            <a:endParaRPr sz="1200"/>
          </a:p>
        </p:txBody>
      </p:sp>
      <p:sp>
        <p:nvSpPr>
          <p:cNvPr id="8" name="Text 6">
            <a:extLst>
              <a:ext uri="{FF2B5EF4-FFF2-40B4-BE49-F238E27FC236}">
                <a16:creationId xmlns:a16="http://schemas.microsoft.com/office/drawing/2014/main" id="{33C8C11C-17B2-4A0C-BD17-19412621581A}"/>
              </a:ext>
            </a:extLst>
          </p:cNvPr>
          <p:cNvSpPr>
            <a:spLocks noGrp="1"/>
          </p:cNvSpPr>
          <p:nvPr/>
        </p:nvSpPr>
        <p:spPr>
          <a:xfrm>
            <a:off x="457200" y="1234440"/>
            <a:ext cx="7360920" cy="237744"/>
          </a:xfrm>
          <a:prstGeom prst="rect">
            <a:avLst/>
          </a:prstGeom>
          <a:noFill/>
        </p:spPr>
        <p:txBody>
          <a:bodyPr wrap="square" lIns="0" tIns="0" rIns="0" bIns="0" anchor="ctr"/>
          <a:lstStyle/>
          <a:p>
            <a:pPr marL="0" indent="0">
              <a:buNone/>
            </a:pPr>
            <a:r>
              <a:rPr sz="1500" b="1">
                <a:solidFill>
                  <a:srgbClr val="F4F7FB"/>
                </a:solidFill>
                <a:latin typeface="Calibri"/>
                <a:ea typeface="Calibri"/>
                <a:cs typeface="Calibri"/>
              </a:rPr>
              <a:t>AWS Marketplace by product, August</a:t>
            </a:r>
            <a:endParaRPr sz="1500"/>
          </a:p>
        </p:txBody>
      </p:sp>
      <p:graphicFrame>
        <p:nvGraphicFramePr>
          <p:cNvPr id="30"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a:extLst>
              <a:ext uri="{FF2B5EF4-FFF2-40B4-BE49-F238E27FC236}">
                <a16:creationId xmlns:a16="http://schemas.microsoft.com/office/drawing/2014/main" id="{F8931059-EB48-436F-8804-25F78AF3B674}"/>
              </a:ext>
            </a:extLst>
          </p:cNvPr>
          <p:cNvSpPr>
            <a:spLocks noGrp="1"/>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1" name="Text 8">
            <a:extLst>
              <a:ext uri="{FF2B5EF4-FFF2-40B4-BE49-F238E27FC236}">
                <a16:creationId xmlns:a16="http://schemas.microsoft.com/office/drawing/2014/main" id="{9B3D45AC-9F13-41E2-95AD-B9E233538D98}"/>
              </a:ext>
            </a:extLst>
          </p:cNvPr>
          <p:cNvSpPr>
            <a:spLocks noGrp="1"/>
          </p:cNvSpPr>
          <p:nvPr/>
        </p:nvSpPr>
        <p:spPr>
          <a:xfrm>
            <a:off x="8293608" y="1325880"/>
            <a:ext cx="3239719"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AWS MARKETPLACE, AUGUST</a:t>
            </a:r>
            <a:endParaRPr sz="1200"/>
          </a:p>
        </p:txBody>
      </p:sp>
      <p:sp>
        <p:nvSpPr>
          <p:cNvPr id="12" name="Text 9">
            <a:extLst>
              <a:ext uri="{FF2B5EF4-FFF2-40B4-BE49-F238E27FC236}">
                <a16:creationId xmlns:a16="http://schemas.microsoft.com/office/drawing/2014/main" id="{BEC8CE05-C063-49CC-9569-F4465ED3192F}"/>
              </a:ext>
            </a:extLst>
          </p:cNvPr>
          <p:cNvSpPr>
            <a:spLocks noGrp="1"/>
          </p:cNvSpPr>
          <p:nvPr/>
        </p:nvSpPr>
        <p:spPr>
          <a:xfrm>
            <a:off x="8293608" y="1527048"/>
            <a:ext cx="3239719"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$59,477</a:t>
            </a:r>
            <a:endParaRPr sz="2800"/>
          </a:p>
        </p:txBody>
      </p:sp>
      <p:sp>
        <p:nvSpPr>
          <p:cNvPr id="13" name="Text 10">
            <a:extLst>
              <a:ext uri="{FF2B5EF4-FFF2-40B4-BE49-F238E27FC236}">
                <a16:creationId xmlns:a16="http://schemas.microsoft.com/office/drawing/2014/main" id="{99F04CDF-3765-4510-887D-92D4F257B792}"/>
              </a:ext>
            </a:extLst>
          </p:cNvPr>
          <p:cNvSpPr>
            <a:spLocks noGrp="1"/>
          </p:cNvSpPr>
          <p:nvPr/>
        </p:nvSpPr>
        <p:spPr>
          <a:xfrm>
            <a:off x="8293608" y="1929384"/>
            <a:ext cx="3239719" cy="329184"/>
          </a:xfrm>
          <a:prstGeom prst="rect">
            <a:avLst/>
          </a:prstGeom>
          <a:noFill/>
        </p:spPr>
        <p:txBody>
          <a:bodyPr wrap="square" lIns="0" tIns="0" rIns="0" bIns="0" anchor="t"/>
          <a:lstStyle/>
          <a:p>
            <a:pPr marL="0" indent="0">
              <a:lnSpc>
                <a:spcPct val="105000"/>
              </a:lnSpc>
              <a:buNone/>
            </a:pPr>
            <a:r>
              <a:rPr sz="1200" b="1">
                <a:solidFill>
                  <a:srgbClr val="FF9F43"/>
                </a:solidFill>
                <a:latin typeface="Calibri"/>
                <a:ea typeface="Calibri"/>
                <a:cs typeface="Calibri"/>
              </a:rPr>
              <a:t>no one-off purchases</a:t>
            </a:r>
            <a:endParaRPr sz="1200"/>
          </a:p>
        </p:txBody>
      </p:sp>
      <p:sp>
        <p:nvSpPr>
          <p:cNvPr id="14" name="Shape 11">
            <a:extLst>
              <a:ext uri="{FF2B5EF4-FFF2-40B4-BE49-F238E27FC236}">
                <a16:creationId xmlns:a16="http://schemas.microsoft.com/office/drawing/2014/main" id="{7CF63B13-3DDC-407E-95CB-14862424A8DF}"/>
              </a:ext>
            </a:extLst>
          </p:cNvPr>
          <p:cNvSpPr>
            <a:spLocks noGrp="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5" name="Text 12">
            <a:extLst>
              <a:ext uri="{FF2B5EF4-FFF2-40B4-BE49-F238E27FC236}">
                <a16:creationId xmlns:a16="http://schemas.microsoft.com/office/drawing/2014/main" id="{AB9E18A9-A485-46B4-BB36-CBFFC8ECB56C}"/>
              </a:ext>
            </a:extLst>
          </p:cNvPr>
          <p:cNvSpPr>
            <a:spLocks noGrp="1"/>
          </p:cNvSpPr>
          <p:nvPr/>
        </p:nvSpPr>
        <p:spPr>
          <a:xfrm>
            <a:off x="8293608" y="2551176"/>
            <a:ext cx="3239719"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OF THAT, AI</a:t>
            </a:r>
            <a:endParaRPr sz="1200"/>
          </a:p>
        </p:txBody>
      </p:sp>
      <p:sp>
        <p:nvSpPr>
          <p:cNvPr id="16" name="Text 13">
            <a:extLst>
              <a:ext uri="{FF2B5EF4-FFF2-40B4-BE49-F238E27FC236}">
                <a16:creationId xmlns:a16="http://schemas.microsoft.com/office/drawing/2014/main" id="{E6A61585-F751-46E4-9A60-4588737BDB2D}"/>
              </a:ext>
            </a:extLst>
          </p:cNvPr>
          <p:cNvSpPr>
            <a:spLocks noGrp="1"/>
          </p:cNvSpPr>
          <p:nvPr/>
        </p:nvSpPr>
        <p:spPr>
          <a:xfrm>
            <a:off x="8293608" y="2752344"/>
            <a:ext cx="3239719"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75.2%</a:t>
            </a:r>
            <a:endParaRPr sz="2800"/>
          </a:p>
        </p:txBody>
      </p:sp>
      <p:sp>
        <p:nvSpPr>
          <p:cNvPr id="17" name="Text 14">
            <a:extLst>
              <a:ext uri="{FF2B5EF4-FFF2-40B4-BE49-F238E27FC236}">
                <a16:creationId xmlns:a16="http://schemas.microsoft.com/office/drawing/2014/main" id="{78D9C93A-34C7-4848-BA53-71D165F492B4}"/>
              </a:ext>
            </a:extLst>
          </p:cNvPr>
          <p:cNvSpPr>
            <a:spLocks noGrp="1"/>
          </p:cNvSpPr>
          <p:nvPr/>
        </p:nvSpPr>
        <p:spPr>
          <a:xfrm>
            <a:off x="8293608" y="3154680"/>
            <a:ext cx="3239719" cy="329184"/>
          </a:xfrm>
          <a:prstGeom prst="rect">
            <a:avLst/>
          </a:prstGeom>
          <a:noFill/>
        </p:spPr>
        <p:txBody>
          <a:bodyPr wrap="square" lIns="0" tIns="0" rIns="0" bIns="0" anchor="t"/>
          <a:lstStyle/>
          <a:p>
            <a:pPr marL="0" indent="0">
              <a:lnSpc>
                <a:spcPct val="105000"/>
              </a:lnSpc>
              <a:buNone/>
            </a:pPr>
            <a:r>
              <a:rPr sz="1200" b="1">
                <a:solidFill>
                  <a:srgbClr val="2F8CFF"/>
                </a:solidFill>
                <a:latin typeface="Calibri"/>
                <a:ea typeface="Calibri"/>
                <a:cs typeface="Calibri"/>
              </a:rPr>
              <a:t>was 5.5% in July</a:t>
            </a:r>
            <a:endParaRPr sz="1200"/>
          </a:p>
        </p:txBody>
      </p:sp>
      <p:sp>
        <p:nvSpPr>
          <p:cNvPr id="18" name="Shape 15">
            <a:extLst>
              <a:ext uri="{FF2B5EF4-FFF2-40B4-BE49-F238E27FC236}">
                <a16:creationId xmlns:a16="http://schemas.microsoft.com/office/drawing/2014/main" id="{DBC26F41-2632-43EB-9098-5935F817570D}"/>
              </a:ext>
            </a:extLst>
          </p:cNvPr>
          <p:cNvSpPr>
            <a:spLocks noGrp="1"/>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9" name="Text 16">
            <a:extLst>
              <a:ext uri="{FF2B5EF4-FFF2-40B4-BE49-F238E27FC236}">
                <a16:creationId xmlns:a16="http://schemas.microsoft.com/office/drawing/2014/main" id="{17033E4E-33FB-4CC5-A720-D188C01704D5}"/>
              </a:ext>
            </a:extLst>
          </p:cNvPr>
          <p:cNvSpPr>
            <a:spLocks noGrp="1"/>
          </p:cNvSpPr>
          <p:nvPr/>
        </p:nvSpPr>
        <p:spPr>
          <a:xfrm>
            <a:off x="8293608" y="3776472"/>
            <a:ext cx="3239719"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RECURRING TOOLING</a:t>
            </a:r>
            <a:endParaRPr sz="1200"/>
          </a:p>
        </p:txBody>
      </p:sp>
      <p:sp>
        <p:nvSpPr>
          <p:cNvPr id="20" name="Text 17">
            <a:extLst>
              <a:ext uri="{FF2B5EF4-FFF2-40B4-BE49-F238E27FC236}">
                <a16:creationId xmlns:a16="http://schemas.microsoft.com/office/drawing/2014/main" id="{16F95E57-CA35-4C69-845D-A30EE1287471}"/>
              </a:ext>
            </a:extLst>
          </p:cNvPr>
          <p:cNvSpPr>
            <a:spLocks noGrp="1"/>
          </p:cNvSpPr>
          <p:nvPr/>
        </p:nvSpPr>
        <p:spPr>
          <a:xfrm>
            <a:off x="8293608" y="3977640"/>
            <a:ext cx="3239719"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$14,738</a:t>
            </a:r>
            <a:endParaRPr sz="2800"/>
          </a:p>
        </p:txBody>
      </p:sp>
      <p:sp>
        <p:nvSpPr>
          <p:cNvPr id="21" name="Text 18">
            <a:extLst>
              <a:ext uri="{FF2B5EF4-FFF2-40B4-BE49-F238E27FC236}">
                <a16:creationId xmlns:a16="http://schemas.microsoft.com/office/drawing/2014/main" id="{3A0066F1-3301-4876-95EB-C4DF6A93A016}"/>
              </a:ext>
            </a:extLst>
          </p:cNvPr>
          <p:cNvSpPr>
            <a:spLocks noGrp="1"/>
          </p:cNvSpPr>
          <p:nvPr/>
        </p:nvSpPr>
        <p:spPr>
          <a:xfrm>
            <a:off x="8293608" y="4379976"/>
            <a:ext cx="3239719" cy="329184"/>
          </a:xfrm>
          <a:prstGeom prst="rect">
            <a:avLst/>
          </a:prstGeom>
          <a:noFill/>
        </p:spPr>
        <p:txBody>
          <a:bodyPr wrap="square" lIns="0" tIns="0" rIns="0" bIns="0" anchor="t"/>
          <a:lstStyle/>
          <a:p>
            <a:pPr marL="0" indent="0">
              <a:lnSpc>
                <a:spcPct val="105000"/>
              </a:lnSpc>
              <a:buNone/>
            </a:pPr>
            <a:r>
              <a:rPr sz="1200" b="1">
                <a:solidFill>
                  <a:srgbClr val="3DDC97"/>
                </a:solidFill>
                <a:latin typeface="Calibri"/>
                <a:ea typeface="Calibri"/>
                <a:cs typeface="Calibri"/>
              </a:rPr>
              <a:t>MongoDB Atlas, F5, Neo4j</a:t>
            </a:r>
            <a:endParaRPr sz="1200"/>
          </a:p>
        </p:txBody>
      </p:sp>
    </p:spTree>
    <p:extLst>
      <p:ext uri="{BB962C8B-B14F-4D97-AF65-F5344CB8AC3E}">
        <p14:creationId xmlns:p14="http://schemas.microsoft.com/office/powerpoint/2010/main" val="400952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7D64CFF-817C-4C6E-8489-974691064379}"/>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2CC12D2C-846C-485E-99FD-F6532C4C2624}"/>
              </a:ext>
            </a:extLst>
          </p:cNvPr>
          <p:cNvSpPr>
            <a:spLocks noGrp="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a:p>
        </p:txBody>
      </p:sp>
      <p:sp>
        <p:nvSpPr>
          <p:cNvPr id="4" name="Text 2">
            <a:extLst>
              <a:ext uri="{FF2B5EF4-FFF2-40B4-BE49-F238E27FC236}">
                <a16:creationId xmlns:a16="http://schemas.microsoft.com/office/drawing/2014/main" id="{F6FD4416-5F0F-466D-9B22-B58EEEC82004}"/>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2F8CFF"/>
                </a:solidFill>
                <a:latin typeface="Calibri"/>
                <a:ea typeface="Calibri"/>
                <a:cs typeface="Calibri"/>
              </a:rPr>
              <a:t>AZURE / COST CENTRES</a:t>
            </a:r>
            <a:endParaRPr sz="1300"/>
          </a:p>
        </p:txBody>
      </p:sp>
      <p:sp>
        <p:nvSpPr>
          <p:cNvPr id="5" name="Text 3">
            <a:extLst>
              <a:ext uri="{FF2B5EF4-FFF2-40B4-BE49-F238E27FC236}">
                <a16:creationId xmlns:a16="http://schemas.microsoft.com/office/drawing/2014/main" id="{7650E12D-C356-4C25-BEF8-CE5676204957}"/>
              </a:ext>
            </a:extLst>
          </p:cNvPr>
          <p:cNvSpPr>
            <a:spLocks noGrp="1"/>
          </p:cNvSpPr>
          <p:nvPr/>
        </p:nvSpPr>
        <p:spPr>
          <a:xfrm>
            <a:off x="457200" y="548640"/>
            <a:ext cx="7680960" cy="566928"/>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Where August landed, by cost centre</a:t>
            </a:r>
            <a:endParaRPr sz="2800"/>
          </a:p>
        </p:txBody>
      </p:sp>
      <p:sp>
        <p:nvSpPr>
          <p:cNvPr id="6" name="Text 4">
            <a:extLst>
              <a:ext uri="{FF2B5EF4-FFF2-40B4-BE49-F238E27FC236}">
                <a16:creationId xmlns:a16="http://schemas.microsoft.com/office/drawing/2014/main" id="{669428F8-18ED-4D2E-83BF-011B32DC742E}"/>
              </a:ext>
            </a:extLst>
          </p:cNvPr>
          <p:cNvSpPr>
            <a:spLocks noGrp="1"/>
          </p:cNvSpPr>
          <p:nvPr/>
        </p:nvSpPr>
        <p:spPr>
          <a:xfrm>
            <a:off x="8321040" y="493776"/>
            <a:ext cx="3413455" cy="658368"/>
          </a:xfrm>
          <a:prstGeom prst="rect">
            <a:avLst/>
          </a:prstGeom>
          <a:noFill/>
        </p:spPr>
        <p:txBody>
          <a:bodyPr wrap="square" lIns="0" tIns="0" rIns="0" bIns="0" anchor="t"/>
          <a:lstStyle/>
          <a:p>
            <a:pPr marL="0" indent="0" algn="r">
              <a:lnSpc>
                <a:spcPct val="115000"/>
              </a:lnSpc>
              <a:buNone/>
            </a:pPr>
            <a:r>
              <a:rPr sz="1200">
                <a:solidFill>
                  <a:srgbClr val="91A0B7"/>
                </a:solidFill>
                <a:latin typeface="Calibri"/>
                <a:ea typeface="Calibri"/>
                <a:cs typeface="Calibri"/>
              </a:rPr>
              <a:t>From the CostCenter tag. Charges exclude Marketplace purchases.</a:t>
            </a:r>
            <a:endParaRPr sz="1200"/>
          </a:p>
        </p:txBody>
      </p:sp>
      <p:sp>
        <p:nvSpPr>
          <p:cNvPr id="7" name="Text 5">
            <a:extLst>
              <a:ext uri="{FF2B5EF4-FFF2-40B4-BE49-F238E27FC236}">
                <a16:creationId xmlns:a16="http://schemas.microsoft.com/office/drawing/2014/main" id="{20ED73AD-1249-4C1C-8D7C-7C544D82EC99}"/>
              </a:ext>
            </a:extLst>
          </p:cNvPr>
          <p:cNvSpPr>
            <a:spLocks noGrp="1"/>
          </p:cNvSpPr>
          <p:nvPr/>
        </p:nvSpPr>
        <p:spPr>
          <a:xfrm>
            <a:off x="457200" y="1234440"/>
            <a:ext cx="7360920" cy="237744"/>
          </a:xfrm>
          <a:prstGeom prst="rect">
            <a:avLst/>
          </a:prstGeom>
          <a:noFill/>
        </p:spPr>
        <p:txBody>
          <a:bodyPr wrap="square" lIns="0" tIns="0" rIns="0" bIns="0" anchor="ctr"/>
          <a:lstStyle/>
          <a:p>
            <a:pPr marL="0" indent="0">
              <a:buNone/>
            </a:pPr>
            <a:r>
              <a:rPr sz="1500" b="1">
                <a:solidFill>
                  <a:srgbClr val="F4F7FB"/>
                </a:solidFill>
                <a:latin typeface="Calibri"/>
                <a:ea typeface="Calibri"/>
                <a:cs typeface="Calibri"/>
              </a:rPr>
              <a:t>Monthly spend by cost centre</a:t>
            </a:r>
            <a:endParaRPr sz="1500"/>
          </a:p>
        </p:txBody>
      </p:sp>
      <p:graphicFrame>
        <p:nvGraphicFramePr>
          <p:cNvPr id="31"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a:extLst>
              <a:ext uri="{FF2B5EF4-FFF2-40B4-BE49-F238E27FC236}">
                <a16:creationId xmlns:a16="http://schemas.microsoft.com/office/drawing/2014/main" id="{86FE6320-573E-4CE7-A890-FF45EFF88CC2}"/>
              </a:ext>
            </a:extLst>
          </p:cNvPr>
          <p:cNvSpPr>
            <a:spLocks noGrp="1"/>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0" name="Text 7">
            <a:extLst>
              <a:ext uri="{FF2B5EF4-FFF2-40B4-BE49-F238E27FC236}">
                <a16:creationId xmlns:a16="http://schemas.microsoft.com/office/drawing/2014/main" id="{800EC43E-B147-4D86-B1E3-C4904B8E61B1}"/>
              </a:ext>
            </a:extLst>
          </p:cNvPr>
          <p:cNvSpPr>
            <a:spLocks noGrp="1"/>
          </p:cNvSpPr>
          <p:nvPr/>
        </p:nvSpPr>
        <p:spPr>
          <a:xfrm>
            <a:off x="8293608" y="1325880"/>
            <a:ext cx="3239719"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TOTAL, AUGUST</a:t>
            </a:r>
            <a:endParaRPr sz="1200"/>
          </a:p>
        </p:txBody>
      </p:sp>
      <p:sp>
        <p:nvSpPr>
          <p:cNvPr id="11" name="Text 8">
            <a:extLst>
              <a:ext uri="{FF2B5EF4-FFF2-40B4-BE49-F238E27FC236}">
                <a16:creationId xmlns:a16="http://schemas.microsoft.com/office/drawing/2014/main" id="{8B017769-81FC-42E0-8F62-242ECD0804D9}"/>
              </a:ext>
            </a:extLst>
          </p:cNvPr>
          <p:cNvSpPr>
            <a:spLocks noGrp="1"/>
          </p:cNvSpPr>
          <p:nvPr/>
        </p:nvSpPr>
        <p:spPr>
          <a:xfrm>
            <a:off x="8293608" y="1527048"/>
            <a:ext cx="3239719"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$180,241</a:t>
            </a:r>
            <a:endParaRPr sz="2800"/>
          </a:p>
        </p:txBody>
      </p:sp>
      <p:sp>
        <p:nvSpPr>
          <p:cNvPr id="12" name="Text 9">
            <a:extLst>
              <a:ext uri="{FF2B5EF4-FFF2-40B4-BE49-F238E27FC236}">
                <a16:creationId xmlns:a16="http://schemas.microsoft.com/office/drawing/2014/main" id="{01054849-5415-4319-B964-A0360EFDB6BB}"/>
              </a:ext>
            </a:extLst>
          </p:cNvPr>
          <p:cNvSpPr>
            <a:spLocks noGrp="1"/>
          </p:cNvSpPr>
          <p:nvPr/>
        </p:nvSpPr>
        <p:spPr>
          <a:xfrm>
            <a:off x="8293608" y="1929384"/>
            <a:ext cx="3239719" cy="329184"/>
          </a:xfrm>
          <a:prstGeom prst="rect">
            <a:avLst/>
          </a:prstGeom>
          <a:noFill/>
        </p:spPr>
        <p:txBody>
          <a:bodyPr wrap="square" lIns="0" tIns="0" rIns="0" bIns="0" anchor="t"/>
          <a:lstStyle/>
          <a:p>
            <a:pPr marL="0" indent="0">
              <a:lnSpc>
                <a:spcPct val="105000"/>
              </a:lnSpc>
              <a:buNone/>
            </a:pPr>
            <a:r>
              <a:rPr sz="1200" b="1">
                <a:solidFill>
                  <a:srgbClr val="2F8CFF"/>
                </a:solidFill>
                <a:latin typeface="Calibri"/>
                <a:ea typeface="Calibri"/>
                <a:cs typeface="Calibri"/>
              </a:rPr>
              <a:t>−3.6% on July</a:t>
            </a:r>
            <a:endParaRPr sz="1200"/>
          </a:p>
        </p:txBody>
      </p:sp>
      <p:sp>
        <p:nvSpPr>
          <p:cNvPr id="13" name="Shape 10">
            <a:extLst>
              <a:ext uri="{FF2B5EF4-FFF2-40B4-BE49-F238E27FC236}">
                <a16:creationId xmlns:a16="http://schemas.microsoft.com/office/drawing/2014/main" id="{CF79D828-2D35-4FDE-9B78-74371B64D2F9}"/>
              </a:ext>
            </a:extLst>
          </p:cNvPr>
          <p:cNvSpPr>
            <a:spLocks noGrp="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a:p>
        </p:txBody>
      </p:sp>
      <p:sp>
        <p:nvSpPr>
          <p:cNvPr id="14" name="Text 11">
            <a:extLst>
              <a:ext uri="{FF2B5EF4-FFF2-40B4-BE49-F238E27FC236}">
                <a16:creationId xmlns:a16="http://schemas.microsoft.com/office/drawing/2014/main" id="{6BA1C3DA-F6A8-4D91-95F1-8C36E1B2A6CE}"/>
              </a:ext>
            </a:extLst>
          </p:cNvPr>
          <p:cNvSpPr>
            <a:spLocks noGrp="1"/>
          </p:cNvSpPr>
          <p:nvPr/>
        </p:nvSpPr>
        <p:spPr>
          <a:xfrm>
            <a:off x="8293608" y="2551176"/>
            <a:ext cx="3239719"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LARGEST CENTRE</a:t>
            </a:r>
            <a:endParaRPr sz="1200"/>
          </a:p>
        </p:txBody>
      </p:sp>
      <p:sp>
        <p:nvSpPr>
          <p:cNvPr id="15" name="Text 12">
            <a:extLst>
              <a:ext uri="{FF2B5EF4-FFF2-40B4-BE49-F238E27FC236}">
                <a16:creationId xmlns:a16="http://schemas.microsoft.com/office/drawing/2014/main" id="{5BCFCEF9-E35A-41EB-9E47-307D64C4B5A0}"/>
              </a:ext>
            </a:extLst>
          </p:cNvPr>
          <p:cNvSpPr>
            <a:spLocks noGrp="1"/>
          </p:cNvSpPr>
          <p:nvPr/>
        </p:nvSpPr>
        <p:spPr>
          <a:xfrm>
            <a:off x="8293608" y="2752344"/>
            <a:ext cx="3239719"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datacloud</a:t>
            </a:r>
            <a:endParaRPr sz="2800"/>
          </a:p>
        </p:txBody>
      </p:sp>
      <p:sp>
        <p:nvSpPr>
          <p:cNvPr id="16" name="Text 13">
            <a:extLst>
              <a:ext uri="{FF2B5EF4-FFF2-40B4-BE49-F238E27FC236}">
                <a16:creationId xmlns:a16="http://schemas.microsoft.com/office/drawing/2014/main" id="{1FB2C6F7-8C1E-4931-ADF4-E5372127EFC2}"/>
              </a:ext>
            </a:extLst>
          </p:cNvPr>
          <p:cNvSpPr>
            <a:spLocks noGrp="1"/>
          </p:cNvSpPr>
          <p:nvPr/>
        </p:nvSpPr>
        <p:spPr>
          <a:xfrm>
            <a:off x="8293608" y="3154680"/>
            <a:ext cx="3239719" cy="329184"/>
          </a:xfrm>
          <a:prstGeom prst="rect">
            <a:avLst/>
          </a:prstGeom>
          <a:noFill/>
        </p:spPr>
        <p:txBody>
          <a:bodyPr wrap="square" lIns="0" tIns="0" rIns="0" bIns="0" anchor="t"/>
          <a:lstStyle/>
          <a:p>
            <a:pPr marL="0" indent="0">
              <a:lnSpc>
                <a:spcPct val="105000"/>
              </a:lnSpc>
              <a:buNone/>
            </a:pPr>
            <a:r>
              <a:rPr sz="1200" b="1">
                <a:solidFill>
                  <a:srgbClr val="3DD9EB"/>
                </a:solidFill>
                <a:latin typeface="Calibri"/>
                <a:ea typeface="Calibri"/>
                <a:cs typeface="Calibri"/>
              </a:rPr>
              <a:t>$50,888 · 28% of the total</a:t>
            </a:r>
            <a:endParaRPr sz="1200"/>
          </a:p>
        </p:txBody>
      </p:sp>
      <p:sp>
        <p:nvSpPr>
          <p:cNvPr id="17" name="Text 14">
            <a:extLst>
              <a:ext uri="{FF2B5EF4-FFF2-40B4-BE49-F238E27FC236}">
                <a16:creationId xmlns:a16="http://schemas.microsoft.com/office/drawing/2014/main" id="{BE7E836D-F529-4225-BC2B-C6179CA40419}"/>
              </a:ext>
            </a:extLst>
          </p:cNvPr>
          <p:cNvSpPr>
            <a:spLocks noGrp="1"/>
          </p:cNvSpPr>
          <p:nvPr/>
        </p:nvSpPr>
        <p:spPr>
          <a:xfrm>
            <a:off x="8110728" y="3822192"/>
            <a:ext cx="3605479" cy="219456"/>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WHAT MOVED</a:t>
            </a:r>
            <a:endParaRPr sz="1200"/>
          </a:p>
        </p:txBody>
      </p:sp>
      <p:sp>
        <p:nvSpPr>
          <p:cNvPr id="18" name="Shape 15">
            <a:extLst>
              <a:ext uri="{FF2B5EF4-FFF2-40B4-BE49-F238E27FC236}">
                <a16:creationId xmlns:a16="http://schemas.microsoft.com/office/drawing/2014/main" id="{154B6B03-8FE1-40F5-BA09-DE0549830F1D}"/>
              </a:ext>
            </a:extLst>
          </p:cNvPr>
          <p:cNvSpPr>
            <a:spLocks noGrp="1"/>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a:p>
        </p:txBody>
      </p:sp>
      <p:sp>
        <p:nvSpPr>
          <p:cNvPr id="19" name="Text 16">
            <a:extLst>
              <a:ext uri="{FF2B5EF4-FFF2-40B4-BE49-F238E27FC236}">
                <a16:creationId xmlns:a16="http://schemas.microsoft.com/office/drawing/2014/main" id="{307BD53F-BA3B-4604-BA93-217E6C67A217}"/>
              </a:ext>
            </a:extLst>
          </p:cNvPr>
          <p:cNvSpPr>
            <a:spLocks noGrp="1"/>
          </p:cNvSpPr>
          <p:nvPr/>
        </p:nvSpPr>
        <p:spPr>
          <a:xfrm>
            <a:off x="8284464" y="4114800"/>
            <a:ext cx="3431743" cy="182880"/>
          </a:xfrm>
          <a:prstGeom prst="rect">
            <a:avLst/>
          </a:prstGeom>
          <a:noFill/>
        </p:spPr>
        <p:txBody>
          <a:bodyPr wrap="square" lIns="0" tIns="0" rIns="0" bIns="0" anchor="t"/>
          <a:lstStyle/>
          <a:p>
            <a:pPr marL="0" indent="0">
              <a:lnSpc>
                <a:spcPct val="110000"/>
              </a:lnSpc>
              <a:buNone/>
            </a:pPr>
            <a:r>
              <a:rPr sz="1250">
                <a:solidFill>
                  <a:srgbClr val="F4F7FB"/>
                </a:solidFill>
                <a:latin typeface="Calibri"/>
                <a:ea typeface="Calibri"/>
                <a:cs typeface="Calibri"/>
              </a:rPr>
              <a:t>other fell $8.4K; cloudops rose $1.7K</a:t>
            </a:r>
            <a:endParaRPr sz="1250"/>
          </a:p>
        </p:txBody>
      </p:sp>
      <p:sp>
        <p:nvSpPr>
          <p:cNvPr id="20" name="Shape 17">
            <a:extLst>
              <a:ext uri="{FF2B5EF4-FFF2-40B4-BE49-F238E27FC236}">
                <a16:creationId xmlns:a16="http://schemas.microsoft.com/office/drawing/2014/main" id="{8195899E-7E43-443A-A77C-4EDF5EA64840}"/>
              </a:ext>
            </a:extLst>
          </p:cNvPr>
          <p:cNvSpPr>
            <a:spLocks noGrp="1"/>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a:p>
        </p:txBody>
      </p:sp>
      <p:sp>
        <p:nvSpPr>
          <p:cNvPr id="21" name="Text 18">
            <a:extLst>
              <a:ext uri="{FF2B5EF4-FFF2-40B4-BE49-F238E27FC236}">
                <a16:creationId xmlns:a16="http://schemas.microsoft.com/office/drawing/2014/main" id="{CFA79755-38CC-45F2-A1B6-6833B982893C}"/>
              </a:ext>
            </a:extLst>
          </p:cNvPr>
          <p:cNvSpPr>
            <a:spLocks noGrp="1"/>
          </p:cNvSpPr>
          <p:nvPr/>
        </p:nvSpPr>
        <p:spPr>
          <a:xfrm>
            <a:off x="8284464" y="4462272"/>
            <a:ext cx="3431743" cy="365760"/>
          </a:xfrm>
          <a:prstGeom prst="rect">
            <a:avLst/>
          </a:prstGeom>
          <a:noFill/>
        </p:spPr>
        <p:txBody>
          <a:bodyPr wrap="square" lIns="0" tIns="0" rIns="0" bIns="0" anchor="t"/>
          <a:lstStyle/>
          <a:p>
            <a:pPr marL="0" indent="0">
              <a:lnSpc>
                <a:spcPct val="110000"/>
              </a:lnSpc>
              <a:buNone/>
            </a:pPr>
            <a:r>
              <a:rPr sz="1250">
                <a:solidFill>
                  <a:srgbClr val="F4F7FB"/>
                </a:solidFill>
                <a:latin typeface="Calibri"/>
                <a:ea typeface="Calibri"/>
                <a:cs typeface="Calibri"/>
              </a:rPr>
              <a:t>aifactory came down for the first time, −$1.4K</a:t>
            </a:r>
            <a:endParaRPr sz="1250"/>
          </a:p>
        </p:txBody>
      </p:sp>
      <p:sp>
        <p:nvSpPr>
          <p:cNvPr id="22" name="Shape 19">
            <a:extLst>
              <a:ext uri="{FF2B5EF4-FFF2-40B4-BE49-F238E27FC236}">
                <a16:creationId xmlns:a16="http://schemas.microsoft.com/office/drawing/2014/main" id="{0894529E-F0B0-4A02-BF07-D8C4A1BEAA28}"/>
              </a:ext>
            </a:extLst>
          </p:cNvPr>
          <p:cNvSpPr>
            <a:spLocks noGrp="1"/>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a:p>
        </p:txBody>
      </p:sp>
      <p:sp>
        <p:nvSpPr>
          <p:cNvPr id="23" name="Text 20">
            <a:extLst>
              <a:ext uri="{FF2B5EF4-FFF2-40B4-BE49-F238E27FC236}">
                <a16:creationId xmlns:a16="http://schemas.microsoft.com/office/drawing/2014/main" id="{FB8DC710-6725-475B-B615-4FC7DF9F700B}"/>
              </a:ext>
            </a:extLst>
          </p:cNvPr>
          <p:cNvSpPr>
            <a:spLocks noGrp="1"/>
          </p:cNvSpPr>
          <p:nvPr/>
        </p:nvSpPr>
        <p:spPr>
          <a:xfrm>
            <a:off x="8284464" y="5029200"/>
            <a:ext cx="3431743" cy="365760"/>
          </a:xfrm>
          <a:prstGeom prst="rect">
            <a:avLst/>
          </a:prstGeom>
          <a:noFill/>
        </p:spPr>
        <p:txBody>
          <a:bodyPr wrap="square" lIns="0" tIns="0" rIns="0" bIns="0" anchor="t"/>
          <a:lstStyle/>
          <a:p>
            <a:pPr marL="0" indent="0">
              <a:lnSpc>
                <a:spcPct val="110000"/>
              </a:lnSpc>
              <a:buNone/>
            </a:pPr>
            <a:r>
              <a:rPr sz="1250">
                <a:solidFill>
                  <a:srgbClr val="F4F7FB"/>
                </a:solidFill>
                <a:latin typeface="Calibri"/>
                <a:ea typeface="Calibri"/>
                <a:cs typeface="Calibri"/>
              </a:rPr>
              <a:t>datacloud and sap essentially flat</a:t>
            </a:r>
            <a:endParaRPr sz="1250"/>
          </a:p>
        </p:txBody>
      </p:sp>
    </p:spTree>
    <p:extLst>
      <p:ext uri="{BB962C8B-B14F-4D97-AF65-F5344CB8AC3E}">
        <p14:creationId xmlns:p14="http://schemas.microsoft.com/office/powerpoint/2010/main" val="494970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4483662-BF7D-4D76-804A-568CAEA96766}"/>
              </a:ext>
            </a:extLst>
          </p:cNvPr>
          <p:cNvSpPr>
            <a:spLocks noGrp="1"/>
          </p:cNvSpPr>
          <p:nvPr/>
        </p:nvSpPr>
        <p:spPr>
          <a:xfrm>
            <a:off x="0" y="0"/>
            <a:ext cx="12191695" cy="6858000"/>
          </a:xfrm>
          <a:prstGeom prst="rect">
            <a:avLst/>
          </a:prstGeom>
          <a:solidFill>
            <a:srgbClr val="070A12"/>
          </a:solidFill>
          <a:ln w="12700">
            <a:solidFill>
              <a:srgbClr val="070A12"/>
            </a:solidFill>
            <a:prstDash val="solid"/>
          </a:ln>
        </p:spPr>
        <p:txBody>
          <a:bodyPr/>
          <a:lstStyle/>
          <a:p>
            <a:endParaRPr/>
          </a:p>
        </p:txBody>
      </p:sp>
      <p:sp>
        <p:nvSpPr>
          <p:cNvPr id="3" name="Shape 1">
            <a:extLst>
              <a:ext uri="{FF2B5EF4-FFF2-40B4-BE49-F238E27FC236}">
                <a16:creationId xmlns:a16="http://schemas.microsoft.com/office/drawing/2014/main" id="{6237CA1F-F1E5-4672-B607-DEA851EC2079}"/>
              </a:ext>
            </a:extLst>
          </p:cNvPr>
          <p:cNvSpPr>
            <a:spLocks noGrp="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a:p>
        </p:txBody>
      </p:sp>
      <p:sp>
        <p:nvSpPr>
          <p:cNvPr id="4" name="Text 2">
            <a:extLst>
              <a:ext uri="{FF2B5EF4-FFF2-40B4-BE49-F238E27FC236}">
                <a16:creationId xmlns:a16="http://schemas.microsoft.com/office/drawing/2014/main" id="{F3EB8689-7834-4778-8D9C-C04C9FCA975F}"/>
              </a:ext>
            </a:extLst>
          </p:cNvPr>
          <p:cNvSpPr>
            <a:spLocks noGrp="1"/>
          </p:cNvSpPr>
          <p:nvPr/>
        </p:nvSpPr>
        <p:spPr>
          <a:xfrm>
            <a:off x="640080" y="274320"/>
            <a:ext cx="7315200" cy="237744"/>
          </a:xfrm>
          <a:prstGeom prst="rect">
            <a:avLst/>
          </a:prstGeom>
          <a:noFill/>
        </p:spPr>
        <p:txBody>
          <a:bodyPr wrap="square" lIns="0" tIns="0" rIns="0" bIns="0" anchor="ctr"/>
          <a:lstStyle/>
          <a:p>
            <a:pPr marL="0" indent="0">
              <a:buNone/>
            </a:pPr>
            <a:r>
              <a:rPr sz="1300" b="1" spc="200">
                <a:solidFill>
                  <a:srgbClr val="3DD9EB"/>
                </a:solidFill>
                <a:latin typeface="Calibri"/>
                <a:ea typeface="Calibri"/>
                <a:cs typeface="Calibri"/>
              </a:rPr>
              <a:t>NEXT STEPS</a:t>
            </a:r>
            <a:endParaRPr sz="1300"/>
          </a:p>
        </p:txBody>
      </p:sp>
      <p:sp>
        <p:nvSpPr>
          <p:cNvPr id="5" name="Text 3">
            <a:extLst>
              <a:ext uri="{FF2B5EF4-FFF2-40B4-BE49-F238E27FC236}">
                <a16:creationId xmlns:a16="http://schemas.microsoft.com/office/drawing/2014/main" id="{59DD5423-CE80-48D8-8A9E-B1A343159BAF}"/>
              </a:ext>
            </a:extLst>
          </p:cNvPr>
          <p:cNvSpPr>
            <a:spLocks noGrp="1"/>
          </p:cNvSpPr>
          <p:nvPr/>
        </p:nvSpPr>
        <p:spPr>
          <a:xfrm>
            <a:off x="457200" y="548640"/>
            <a:ext cx="7680960" cy="566928"/>
          </a:xfrm>
          <a:prstGeom prst="rect">
            <a:avLst/>
          </a:prstGeom>
          <a:noFill/>
        </p:spPr>
        <p:txBody>
          <a:bodyPr wrap="square" lIns="0" tIns="0" rIns="0" bIns="0" anchor="ctr"/>
          <a:lstStyle/>
          <a:p>
            <a:pPr marL="0" indent="0">
              <a:buNone/>
            </a:pPr>
            <a:endParaRPr sz="2800"/>
          </a:p>
        </p:txBody>
      </p:sp>
      <p:sp>
        <p:nvSpPr>
          <p:cNvPr id="6" name="Text 4">
            <a:extLst>
              <a:ext uri="{FF2B5EF4-FFF2-40B4-BE49-F238E27FC236}">
                <a16:creationId xmlns:a16="http://schemas.microsoft.com/office/drawing/2014/main" id="{CA79114A-AA50-4869-853E-15E5560F33F3}"/>
              </a:ext>
            </a:extLst>
          </p:cNvPr>
          <p:cNvSpPr>
            <a:spLocks noGrp="1"/>
          </p:cNvSpPr>
          <p:nvPr/>
        </p:nvSpPr>
        <p:spPr>
          <a:xfrm>
            <a:off x="8321040" y="493776"/>
            <a:ext cx="3413455" cy="658368"/>
          </a:xfrm>
          <a:prstGeom prst="rect">
            <a:avLst/>
          </a:prstGeom>
          <a:noFill/>
        </p:spPr>
        <p:txBody>
          <a:bodyPr wrap="square" lIns="0" tIns="0" rIns="0" bIns="0" anchor="t"/>
          <a:lstStyle/>
          <a:p>
            <a:pPr marL="0" indent="0" algn="r">
              <a:lnSpc>
                <a:spcPct val="115000"/>
              </a:lnSpc>
              <a:buNone/>
            </a:pPr>
            <a:endParaRPr sz="1200"/>
          </a:p>
        </p:txBody>
      </p:sp>
      <p:sp>
        <p:nvSpPr>
          <p:cNvPr id="7" name="Text 5">
            <a:extLst>
              <a:ext uri="{FF2B5EF4-FFF2-40B4-BE49-F238E27FC236}">
                <a16:creationId xmlns:a16="http://schemas.microsoft.com/office/drawing/2014/main" id="{1C2521B5-E844-4BD3-A3F2-711E02381E76}"/>
              </a:ext>
            </a:extLst>
          </p:cNvPr>
          <p:cNvSpPr>
            <a:spLocks noGrp="1"/>
          </p:cNvSpPr>
          <p:nvPr/>
        </p:nvSpPr>
        <p:spPr>
          <a:xfrm>
            <a:off x="457200" y="1234440"/>
            <a:ext cx="10972800" cy="237744"/>
          </a:xfrm>
          <a:prstGeom prst="rect">
            <a:avLst/>
          </a:prstGeom>
          <a:noFill/>
        </p:spPr>
        <p:txBody>
          <a:bodyPr wrap="square" lIns="0" tIns="0" rIns="0" bIns="0" anchor="ctr"/>
          <a:lstStyle/>
          <a:p>
            <a:pPr marL="0" indent="0">
              <a:buNone/>
            </a:pPr>
            <a:r>
              <a:rPr sz="1500" b="1">
                <a:solidFill>
                  <a:srgbClr val="F4F7FB"/>
                </a:solidFill>
                <a:latin typeface="Calibri"/>
                <a:ea typeface="Calibri"/>
                <a:cs typeface="Calibri"/>
              </a:rPr>
              <a:t>Open items</a:t>
            </a:r>
            <a:endParaRPr sz="1500"/>
          </a:p>
        </p:txBody>
      </p:sp>
      <p:graphicFrame>
        <p:nvGraphicFramePr>
          <p:cNvPr id="28" name="Table 0"/>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sz="1200" b="1" spc="80">
                          <a:solidFill>
                            <a:srgbClr val="91A0B7"/>
                          </a:solidFill>
                          <a:latin typeface="Calibri"/>
                          <a:ea typeface="Calibri"/>
                          <a:cs typeface="Calibri"/>
                        </a:rPr>
                        <a:t>#</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b="1" spc="80">
                          <a:solidFill>
                            <a:srgbClr val="91A0B7"/>
                          </a:solidFill>
                          <a:latin typeface="Calibri"/>
                          <a:ea typeface="Calibri"/>
                          <a:cs typeface="Calibri"/>
                        </a:rPr>
                        <a:t>Item</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b="1" spc="80">
                          <a:solidFill>
                            <a:srgbClr val="91A0B7"/>
                          </a:solidFill>
                          <a:latin typeface="Calibri"/>
                          <a:ea typeface="Calibri"/>
                          <a:cs typeface="Calibri"/>
                        </a:rPr>
                        <a:t>Detail</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ctr">
                        <a:buNone/>
                      </a:pPr>
                      <a:r>
                        <a:rPr sz="1200" b="1" spc="80">
                          <a:solidFill>
                            <a:srgbClr val="91A0B7"/>
                          </a:solidFill>
                          <a:latin typeface="Calibri"/>
                          <a:ea typeface="Calibri"/>
                          <a:cs typeface="Calibri"/>
                        </a:rPr>
                        <a:t>Status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b="1" spc="80">
                          <a:solidFill>
                            <a:srgbClr val="91A0B7"/>
                          </a:solidFill>
                          <a:latin typeface="Calibri"/>
                          <a:ea typeface="Calibri"/>
                          <a:cs typeface="Calibri"/>
                        </a:rPr>
                        <a:t>Owner</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sz="1200" b="1">
                          <a:solidFill>
                            <a:srgbClr val="F4F7FB"/>
                          </a:solidFill>
                          <a:latin typeface="Calibri"/>
                          <a:ea typeface="Calibri"/>
                          <a:cs typeface="Calibri"/>
                        </a:rPr>
                        <a:t>1</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Model policy — make it bite</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Sonnet is up to 23% of model spend but Opus still grew $10K in the month. Set a per-team Opus budget rather than a default.</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ctr">
                        <a:buNone/>
                      </a:pPr>
                      <a:r>
                        <a:rPr sz="1200">
                          <a:solidFill>
                            <a:srgbClr val="E0A030"/>
                          </a:solidFill>
                          <a:latin typeface="Calibri"/>
                          <a:ea typeface="Calibri"/>
                          <a:cs typeface="Calibri"/>
                        </a:rPr>
                        <a:t>Decision</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AI Factory &amp; CloudOps</a:t>
                      </a:r>
                    </a:p>
                    <a:p>
                      <a:pPr marL="0" indent="0" algn="l">
                        <a:buNone/>
                      </a:pPr>
                      <a:r>
                        <a:rPr sz="1200">
                          <a:solidFill>
                            <a:srgbClr val="F4F7FB"/>
                          </a:solidFill>
                          <a:latin typeface="Calibri"/>
                          <a:ea typeface="Calibri"/>
                          <a:cs typeface="Calibri"/>
                        </a:rPr>
                        <a:t>CloudOps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sz="1200" b="1">
                          <a:solidFill>
                            <a:srgbClr val="F4F7FB"/>
                          </a:solidFill>
                          <a:latin typeface="Calibri"/>
                          <a:ea typeface="Calibri"/>
                          <a:cs typeface="Calibri"/>
                        </a:rPr>
                        <a:t>2</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a:solidFill>
                            <a:srgbClr val="F4F7FB"/>
                          </a:solidFill>
                          <a:latin typeface="Calibri"/>
                          <a:ea typeface="Calibri"/>
                          <a:cs typeface="Calibri"/>
                        </a:rPr>
                        <a:t>Marketplace reporting</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marR="0" lvl="0" indent="0" algn="l" defTabSz="914400">
                        <a:lnSpc>
                          <a:spcPct val="100000"/>
                        </a:lnSpc>
                        <a:spcBef>
                          <a:spcPts val="0"/>
                        </a:spcBef>
                        <a:spcAft>
                          <a:spcPts val="0"/>
                        </a:spcAft>
                        <a:buClrTx/>
                        <a:buSzTx/>
                        <a:buFontTx/>
                        <a:buNone/>
                      </a:pPr>
                      <a:r>
                        <a:rPr sz="1200">
                          <a:solidFill>
                            <a:srgbClr val="F4F7FB"/>
                          </a:solidFill>
                          <a:latin typeface="Calibri"/>
                          <a:ea typeface="Calibri"/>
                          <a:cs typeface="Calibri"/>
                        </a:rPr>
                        <a:t>Split the line three ways: one-off purchases, recurring tooling, AI consumption. Reported as one number it hides the fastest-growing item.</a:t>
                      </a:r>
                    </a:p>
                    <a:p>
                      <a:pPr marL="0" marR="0" lvl="0" indent="0" algn="l" defTabSz="914400">
                        <a:lnSpc>
                          <a:spcPct val="100000"/>
                        </a:lnSpc>
                        <a:spcBef>
                          <a:spcPts val="0"/>
                        </a:spcBef>
                        <a:spcAft>
                          <a:spcPts val="0"/>
                        </a:spcAft>
                        <a:buClrTx/>
                        <a:buSzTx/>
                        <a:buFontTx/>
                        <a:buNone/>
                      </a:pPr>
                      <a:r>
                        <a:rPr sz="1200">
                          <a:solidFill>
                            <a:srgbClr val="F4F7FB"/>
                          </a:solidFill>
                          <a:latin typeface="Calibri"/>
                          <a:ea typeface="Calibri"/>
                          <a:cs typeface="Calibri"/>
                        </a:rPr>
                        <a:t>Power BI For Billing Analytics</a:t>
                      </a:r>
                      <a:endParaRPr sz="1200">
                        <a:latin typeface="Calibri"/>
                        <a:ea typeface="Calibri"/>
                        <a:cs typeface="Calibri"/>
                      </a:endParaRPr>
                    </a:p>
                    <a:p>
                      <a:pPr marL="0" marR="0" lvl="0" indent="0" algn="l" defTabSz="914400">
                        <a:lnSpc>
                          <a:spcPct val="100000"/>
                        </a:lnSpc>
                        <a:spcBef>
                          <a:spcPts val="0"/>
                        </a:spcBef>
                        <a:spcAft>
                          <a:spcPts val="0"/>
                        </a:spcAft>
                        <a:buClrTx/>
                        <a:buSzTx/>
                        <a:buFontTx/>
                        <a:buNone/>
                      </a:pPr>
                      <a:r>
                        <a:rPr sz="1200">
                          <a:solidFill>
                            <a:srgbClr val="F4F7FB"/>
                          </a:solidFill>
                          <a:latin typeface="Calibri"/>
                          <a:ea typeface="Calibri"/>
                          <a:cs typeface="Calibri"/>
                        </a:rPr>
                        <a:t>Elastic For Azure Billing Module </a:t>
                      </a:r>
                    </a:p>
                    <a:p>
                      <a:pPr marL="0" indent="0" algn="l">
                        <a:buNone/>
                      </a:pP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ctr">
                        <a:buNone/>
                      </a:pPr>
                      <a:r>
                        <a:rPr sz="1200">
                          <a:solidFill>
                            <a:srgbClr val="3DD9EB"/>
                          </a:solidFill>
                          <a:latin typeface="Calibri"/>
                          <a:ea typeface="Calibri"/>
                          <a:cs typeface="Calibri"/>
                        </a:rPr>
                        <a:t>Decision</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a:solidFill>
                            <a:srgbClr val="F4F7FB"/>
                          </a:solidFill>
                          <a:latin typeface="Calibri"/>
                          <a:ea typeface="Calibri"/>
                          <a:cs typeface="Calibri"/>
                        </a:rPr>
                        <a:t>FinOps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sz="1200" b="1">
                          <a:solidFill>
                            <a:srgbClr val="F4F7FB"/>
                          </a:solidFill>
                          <a:latin typeface="Calibri"/>
                          <a:ea typeface="Calibri"/>
                          <a:cs typeface="Calibri"/>
                        </a:rPr>
                        <a:t>3</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Two-layer tagging</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Unchanged and still blocking. AWS Bedrock carries no project tag at all, and it is now half of AI spend.</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ctr">
                        <a:buNone/>
                      </a:pPr>
                      <a:r>
                        <a:rPr sz="1200">
                          <a:solidFill>
                            <a:srgbClr val="3DD9EB"/>
                          </a:solidFill>
                          <a:latin typeface="Calibri"/>
                          <a:ea typeface="Calibri"/>
                          <a:cs typeface="Calibri"/>
                        </a:rPr>
                        <a:t>In progress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Ariel</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sz="1200" b="1">
                          <a:solidFill>
                            <a:srgbClr val="F4F7FB"/>
                          </a:solidFill>
                          <a:latin typeface="Calibri"/>
                          <a:ea typeface="Calibri"/>
                          <a:cs typeface="Calibri"/>
                        </a:rPr>
                        <a:t>4</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a:solidFill>
                            <a:srgbClr val="F4F7FB"/>
                          </a:solidFill>
                          <a:latin typeface="Calibri"/>
                          <a:ea typeface="Calibri"/>
                          <a:cs typeface="Calibri"/>
                        </a:rPr>
                        <a:t>The $193K recommendation list</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a:solidFill>
                            <a:srgbClr val="F4F7FB"/>
                          </a:solidFill>
                          <a:latin typeface="Calibri"/>
                          <a:ea typeface="Calibri"/>
                          <a:cs typeface="Calibri"/>
                        </a:rPr>
                        <a:t>Still costed and waiting. Azure VMs fell $8,826 this month without it — the list is additional to that.</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ctr">
                        <a:buNone/>
                      </a:pPr>
                      <a:r>
                        <a:rPr sz="1200">
                          <a:solidFill>
                            <a:srgbClr val="3DD9EB"/>
                          </a:solidFill>
                          <a:latin typeface="Calibri"/>
                          <a:ea typeface="Calibri"/>
                          <a:cs typeface="Calibri"/>
                        </a:rPr>
                        <a:t>Decision</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tc>
                  <a:txBody>
                    <a:bodyPr/>
                    <a:lstStyle/>
                    <a:p>
                      <a:pPr marL="0" indent="0" algn="l">
                        <a:buNone/>
                      </a:pPr>
                      <a:r>
                        <a:rPr sz="1200">
                          <a:solidFill>
                            <a:srgbClr val="F4F7FB"/>
                          </a:solidFill>
                          <a:latin typeface="Calibri"/>
                          <a:ea typeface="Calibri"/>
                          <a:cs typeface="Calibri"/>
                        </a:rPr>
                        <a:t>Infrastructure &amp; CloudOps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sz="1200" b="1">
                          <a:solidFill>
                            <a:srgbClr val="F4F7FB"/>
                          </a:solidFill>
                          <a:latin typeface="Calibri"/>
                          <a:ea typeface="Calibri"/>
                          <a:cs typeface="Calibri"/>
                        </a:rPr>
                        <a:t>5</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Reconcile the two cost bases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Raw export exceeds the reported figure by $11,169 on Virtual Machines, likely reservation amortisation. Settle before either is quoted.</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ctr">
                        <a:buNone/>
                      </a:pPr>
                      <a:r>
                        <a:rPr sz="1200">
                          <a:solidFill>
                            <a:srgbClr val="91A0B7"/>
                          </a:solidFill>
                          <a:latin typeface="Calibri"/>
                          <a:ea typeface="Calibri"/>
                          <a:cs typeface="Calibri"/>
                        </a:rPr>
                        <a:t>To scope</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tc>
                  <a:txBody>
                    <a:bodyPr/>
                    <a:lstStyle/>
                    <a:p>
                      <a:pPr marL="0" indent="0" algn="l">
                        <a:buNone/>
                      </a:pPr>
                      <a:r>
                        <a:rPr sz="1200">
                          <a:solidFill>
                            <a:srgbClr val="F4F7FB"/>
                          </a:solidFill>
                          <a:latin typeface="Calibri"/>
                          <a:ea typeface="Calibri"/>
                          <a:cs typeface="Calibri"/>
                        </a:rPr>
                        <a:t>FinOps</a:t>
                      </a:r>
                      <a:endParaRPr sz="1200">
                        <a:latin typeface="Calibri"/>
                        <a:ea typeface="Calibri"/>
                        <a:cs typeface="Calibri"/>
                      </a:endParaRPr>
                    </a:p>
                  </a:txBody>
                  <a:tcPr marL="76200" marR="76200" marT="25400" marB="25400" anchor="ctr">
                    <a:lnL w="6350" cmpd="sng">
                      <a:solidFill>
                        <a:srgbClr val="23304A"/>
                      </a:solidFill>
                      <a:prstDash val="solid"/>
                    </a:lnL>
                    <a:lnR w="6350" cmpd="sng">
                      <a:solidFill>
                        <a:srgbClr val="23304A"/>
                      </a:solidFill>
                      <a:prstDash val="solid"/>
                    </a:lnR>
                    <a:lnT w="6350" cmpd="sng">
                      <a:solidFill>
                        <a:srgbClr val="23304A"/>
                      </a:solidFill>
                      <a:prstDash val="solid"/>
                    </a:lnT>
                    <a:lnB w="6350" cmpd="sng">
                      <a:solidFill>
                        <a:srgbClr val="23304A"/>
                      </a:solidFill>
                      <a:prstDash val="solid"/>
                    </a:lnB>
                    <a:solidFill>
                      <a:srgbClr val="121B2D"/>
                    </a:solidFill>
                  </a:tcPr>
                </a:tc>
                <a:extLst>
                  <a:ext uri="{0D108BD9-81ED-4DB2-BD59-A6C34878D82A}">
                    <a16:rowId xmlns:a16="http://schemas.microsoft.com/office/drawing/2014/main" val="10005"/>
                  </a:ext>
                </a:extLst>
              </a:tr>
            </a:tbl>
          </a:graphicData>
        </a:graphic>
      </p:graphicFrame>
      <p:sp>
        <p:nvSpPr>
          <p:cNvPr id="9" name="Shape 6">
            <a:extLst>
              <a:ext uri="{FF2B5EF4-FFF2-40B4-BE49-F238E27FC236}">
                <a16:creationId xmlns:a16="http://schemas.microsoft.com/office/drawing/2014/main" id="{3595BD95-AD62-49CA-B2C6-D2A1B839F1EE}"/>
              </a:ext>
            </a:extLst>
          </p:cNvPr>
          <p:cNvSpPr>
            <a:spLocks noGrp="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a:p>
        </p:txBody>
      </p:sp>
      <p:sp>
        <p:nvSpPr>
          <p:cNvPr id="10" name="Text 7">
            <a:extLst>
              <a:ext uri="{FF2B5EF4-FFF2-40B4-BE49-F238E27FC236}">
                <a16:creationId xmlns:a16="http://schemas.microsoft.com/office/drawing/2014/main" id="{92181C09-46D0-4E4E-9967-ACBE7180C211}"/>
              </a:ext>
            </a:extLst>
          </p:cNvPr>
          <p:cNvSpPr>
            <a:spLocks noGrp="1"/>
          </p:cNvSpPr>
          <p:nvPr/>
        </p:nvSpPr>
        <p:spPr>
          <a:xfrm>
            <a:off x="658368" y="5166360"/>
            <a:ext cx="320436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DECISION NEEDED</a:t>
            </a:r>
            <a:endParaRPr sz="1200"/>
          </a:p>
        </p:txBody>
      </p:sp>
      <p:sp>
        <p:nvSpPr>
          <p:cNvPr id="11" name="Text 8">
            <a:extLst>
              <a:ext uri="{FF2B5EF4-FFF2-40B4-BE49-F238E27FC236}">
                <a16:creationId xmlns:a16="http://schemas.microsoft.com/office/drawing/2014/main" id="{C6537BE5-F145-420B-B175-513AE8E9D1BC}"/>
              </a:ext>
            </a:extLst>
          </p:cNvPr>
          <p:cNvSpPr>
            <a:spLocks noGrp="1"/>
          </p:cNvSpPr>
          <p:nvPr/>
        </p:nvSpPr>
        <p:spPr>
          <a:xfrm>
            <a:off x="658368" y="5367528"/>
            <a:ext cx="3204362"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3 items</a:t>
            </a:r>
            <a:endParaRPr sz="2800"/>
          </a:p>
        </p:txBody>
      </p:sp>
      <p:sp>
        <p:nvSpPr>
          <p:cNvPr id="12" name="Text 9">
            <a:extLst>
              <a:ext uri="{FF2B5EF4-FFF2-40B4-BE49-F238E27FC236}">
                <a16:creationId xmlns:a16="http://schemas.microsoft.com/office/drawing/2014/main" id="{34A6FBD5-3DE8-4FD1-A684-F60E755544CF}"/>
              </a:ext>
            </a:extLst>
          </p:cNvPr>
          <p:cNvSpPr>
            <a:spLocks noGrp="1"/>
          </p:cNvSpPr>
          <p:nvPr/>
        </p:nvSpPr>
        <p:spPr>
          <a:xfrm>
            <a:off x="658368" y="5769864"/>
            <a:ext cx="3204362" cy="329184"/>
          </a:xfrm>
          <a:prstGeom prst="rect">
            <a:avLst/>
          </a:prstGeom>
          <a:noFill/>
        </p:spPr>
        <p:txBody>
          <a:bodyPr wrap="square" lIns="0" tIns="0" rIns="0" bIns="0" anchor="t"/>
          <a:lstStyle/>
          <a:p>
            <a:pPr marL="0" indent="0">
              <a:lnSpc>
                <a:spcPct val="105000"/>
              </a:lnSpc>
              <a:buNone/>
            </a:pPr>
            <a:r>
              <a:rPr sz="1200" b="1">
                <a:solidFill>
                  <a:srgbClr val="E0A030"/>
                </a:solidFill>
                <a:latin typeface="Calibri"/>
                <a:ea typeface="Calibri"/>
                <a:cs typeface="Calibri"/>
              </a:rPr>
              <a:t>model policy, Marketplace split, the $193K list</a:t>
            </a:r>
            <a:endParaRPr sz="1200"/>
          </a:p>
        </p:txBody>
      </p:sp>
      <p:sp>
        <p:nvSpPr>
          <p:cNvPr id="13" name="Shape 10">
            <a:extLst>
              <a:ext uri="{FF2B5EF4-FFF2-40B4-BE49-F238E27FC236}">
                <a16:creationId xmlns:a16="http://schemas.microsoft.com/office/drawing/2014/main" id="{832471CB-33DB-4E41-8D8E-8567FCB24001}"/>
              </a:ext>
            </a:extLst>
          </p:cNvPr>
          <p:cNvSpPr>
            <a:spLocks noGrp="1"/>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a:p>
        </p:txBody>
      </p:sp>
      <p:sp>
        <p:nvSpPr>
          <p:cNvPr id="14" name="Text 11">
            <a:extLst>
              <a:ext uri="{FF2B5EF4-FFF2-40B4-BE49-F238E27FC236}">
                <a16:creationId xmlns:a16="http://schemas.microsoft.com/office/drawing/2014/main" id="{C29024C6-1971-48EA-BD78-A64249A61284}"/>
              </a:ext>
            </a:extLst>
          </p:cNvPr>
          <p:cNvSpPr>
            <a:spLocks noGrp="1"/>
          </p:cNvSpPr>
          <p:nvPr/>
        </p:nvSpPr>
        <p:spPr>
          <a:xfrm>
            <a:off x="4493666" y="5166360"/>
            <a:ext cx="3204362" cy="237744"/>
          </a:xfrm>
          <a:prstGeom prst="rect">
            <a:avLst/>
          </a:prstGeom>
          <a:noFill/>
        </p:spPr>
        <p:txBody>
          <a:bodyPr wrap="square" lIns="0" tIns="0" rIns="0" bIns="0" anchor="ctr"/>
          <a:lstStyle/>
          <a:p>
            <a:pPr marL="0" indent="0">
              <a:buNone/>
            </a:pPr>
            <a:r>
              <a:rPr sz="1200" b="1" spc="120">
                <a:solidFill>
                  <a:srgbClr val="91A0B7"/>
                </a:solidFill>
                <a:latin typeface="Calibri"/>
                <a:ea typeface="Calibri"/>
                <a:cs typeface="Calibri"/>
              </a:rPr>
              <a:t>NEW THIS MONTH</a:t>
            </a:r>
            <a:endParaRPr sz="1200"/>
          </a:p>
        </p:txBody>
      </p:sp>
      <p:sp>
        <p:nvSpPr>
          <p:cNvPr id="15" name="Text 12">
            <a:extLst>
              <a:ext uri="{FF2B5EF4-FFF2-40B4-BE49-F238E27FC236}">
                <a16:creationId xmlns:a16="http://schemas.microsoft.com/office/drawing/2014/main" id="{1AEF47F8-CAF9-4531-B72E-961E8E374994}"/>
              </a:ext>
            </a:extLst>
          </p:cNvPr>
          <p:cNvSpPr>
            <a:spLocks noGrp="1"/>
          </p:cNvSpPr>
          <p:nvPr/>
        </p:nvSpPr>
        <p:spPr>
          <a:xfrm>
            <a:off x="4493666" y="5367528"/>
            <a:ext cx="3204362" cy="438912"/>
          </a:xfrm>
          <a:prstGeom prst="rect">
            <a:avLst/>
          </a:prstGeom>
          <a:noFill/>
        </p:spPr>
        <p:txBody>
          <a:bodyPr wrap="square" lIns="0" tIns="0" rIns="0" bIns="0" anchor="ctr"/>
          <a:lstStyle/>
          <a:p>
            <a:pPr marL="0" indent="0">
              <a:buNone/>
            </a:pPr>
            <a:r>
              <a:rPr sz="2800" b="1">
                <a:solidFill>
                  <a:srgbClr val="F4F7FB"/>
                </a:solidFill>
                <a:latin typeface="Calibri"/>
                <a:ea typeface="Calibri"/>
                <a:cs typeface="Calibri"/>
              </a:rPr>
              <a:t>Model policy</a:t>
            </a:r>
            <a:endParaRPr sz="2800"/>
          </a:p>
        </p:txBody>
      </p:sp>
      <p:sp>
        <p:nvSpPr>
          <p:cNvPr id="16" name="Text 13">
            <a:extLst>
              <a:ext uri="{FF2B5EF4-FFF2-40B4-BE49-F238E27FC236}">
                <a16:creationId xmlns:a16="http://schemas.microsoft.com/office/drawing/2014/main" id="{535FB657-45E2-49BF-AB0F-C33C0C716A2D}"/>
              </a:ext>
            </a:extLst>
          </p:cNvPr>
          <p:cNvSpPr>
            <a:spLocks noGrp="1"/>
          </p:cNvSpPr>
          <p:nvPr/>
        </p:nvSpPr>
        <p:spPr>
          <a:xfrm>
            <a:off x="4493666" y="5769864"/>
            <a:ext cx="3204362" cy="329184"/>
          </a:xfrm>
          <a:prstGeom prst="rect">
            <a:avLst/>
          </a:prstGeom>
          <a:noFill/>
        </p:spPr>
        <p:txBody>
          <a:bodyPr wrap="square" lIns="0" tIns="0" rIns="0" bIns="0" anchor="t"/>
          <a:lstStyle/>
          <a:p>
            <a:pPr marL="0" indent="0">
              <a:lnSpc>
                <a:spcPct val="105000"/>
              </a:lnSpc>
              <a:buNone/>
            </a:pPr>
            <a:r>
              <a:rPr sz="1200" b="1">
                <a:solidFill>
                  <a:srgbClr val="3DD9EB"/>
                </a:solidFill>
                <a:latin typeface="Calibri"/>
                <a:ea typeface="Calibri"/>
                <a:cs typeface="Calibri"/>
              </a:rPr>
              <a:t>moving the mix, not yet the cost</a:t>
            </a:r>
            <a:endParaRPr sz="1200"/>
          </a:p>
        </p:txBody>
      </p:sp>
      <p:sp>
        <p:nvSpPr>
          <p:cNvPr id="18" name="Text 15">
            <a:extLst>
              <a:ext uri="{FF2B5EF4-FFF2-40B4-BE49-F238E27FC236}">
                <a16:creationId xmlns:a16="http://schemas.microsoft.com/office/drawing/2014/main" id="{30ED9729-AAC4-482F-BFAB-8D677F893305}"/>
              </a:ext>
            </a:extLst>
          </p:cNvPr>
          <p:cNvSpPr>
            <a:spLocks noGrp="1"/>
          </p:cNvSpPr>
          <p:nvPr/>
        </p:nvSpPr>
        <p:spPr>
          <a:xfrm>
            <a:off x="8328965" y="5166360"/>
            <a:ext cx="3204362" cy="237744"/>
          </a:xfrm>
          <a:prstGeom prst="rect">
            <a:avLst/>
          </a:prstGeom>
          <a:noFill/>
        </p:spPr>
        <p:txBody>
          <a:bodyPr wrap="square" lIns="0" tIns="0" rIns="0" bIns="0" anchor="ctr"/>
          <a:lstStyle/>
          <a:p>
            <a:pPr marL="0" indent="0">
              <a:buNone/>
            </a:pPr>
            <a:endParaRPr sz="1200"/>
          </a:p>
        </p:txBody>
      </p:sp>
      <p:sp>
        <p:nvSpPr>
          <p:cNvPr id="19" name="Text 16">
            <a:extLst>
              <a:ext uri="{FF2B5EF4-FFF2-40B4-BE49-F238E27FC236}">
                <a16:creationId xmlns:a16="http://schemas.microsoft.com/office/drawing/2014/main" id="{3C842509-094E-4FA9-9D3C-C276379C620F}"/>
              </a:ext>
            </a:extLst>
          </p:cNvPr>
          <p:cNvSpPr>
            <a:spLocks noGrp="1"/>
          </p:cNvSpPr>
          <p:nvPr/>
        </p:nvSpPr>
        <p:spPr>
          <a:xfrm>
            <a:off x="8328965" y="5367528"/>
            <a:ext cx="3204362" cy="438912"/>
          </a:xfrm>
          <a:prstGeom prst="rect">
            <a:avLst/>
          </a:prstGeom>
          <a:noFill/>
        </p:spPr>
        <p:txBody>
          <a:bodyPr wrap="square" lIns="0" tIns="0" rIns="0" bIns="0" anchor="ctr"/>
          <a:lstStyle/>
          <a:p>
            <a:pPr marL="0" indent="0">
              <a:buNone/>
            </a:pPr>
            <a:endParaRPr sz="2800"/>
          </a:p>
        </p:txBody>
      </p:sp>
      <p:sp>
        <p:nvSpPr>
          <p:cNvPr id="20" name="Text 17">
            <a:extLst>
              <a:ext uri="{FF2B5EF4-FFF2-40B4-BE49-F238E27FC236}">
                <a16:creationId xmlns:a16="http://schemas.microsoft.com/office/drawing/2014/main" id="{D28C42D8-C911-4F76-9A3C-2D0BCCD5CD15}"/>
              </a:ext>
            </a:extLst>
          </p:cNvPr>
          <p:cNvSpPr>
            <a:spLocks noGrp="1"/>
          </p:cNvSpPr>
          <p:nvPr/>
        </p:nvSpPr>
        <p:spPr>
          <a:xfrm>
            <a:off x="8328965" y="5769864"/>
            <a:ext cx="3204362" cy="329184"/>
          </a:xfrm>
          <a:prstGeom prst="rect">
            <a:avLst/>
          </a:prstGeom>
          <a:noFill/>
        </p:spPr>
        <p:txBody>
          <a:bodyPr wrap="square" lIns="0" tIns="0" rIns="0" bIns="0" anchor="t"/>
          <a:lstStyle/>
          <a:p>
            <a:pPr marL="0" indent="0">
              <a:lnSpc>
                <a:spcPct val="105000"/>
              </a:lnSpc>
              <a:buNone/>
            </a:pPr>
            <a:endParaRPr sz="1200"/>
          </a:p>
        </p:txBody>
      </p:sp>
    </p:spTree>
    <p:extLst>
      <p:ext uri="{BB962C8B-B14F-4D97-AF65-F5344CB8AC3E}">
        <p14:creationId xmlns:p14="http://schemas.microsoft.com/office/powerpoint/2010/main" val="28881969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TotalTime>
  <Words>6322</Words>
  <Application>Microsoft Office PowerPoint</Application>
  <DocSecurity>0</DocSecurity>
  <PresentationFormat>Widescreen</PresentationFormat>
  <Paragraphs>817</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Ariel</cp:lastModifiedBy>
  <cp:revision>5</cp:revision>
  <dcterms:created xsi:type="dcterms:W3CDTF">2026-08-19T08:23:37Z</dcterms:created>
  <dcterms:modified xsi:type="dcterms:W3CDTF">2026-08-19T09:56:36Z</dcterms:modified>
</cp:coreProperties>
</file>