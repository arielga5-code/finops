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66" r:id="rId11"/>
    <p:sldId id="258" r:id="rId4"/>
    <p:sldId id="257" r:id="rId3"/>
    <p:sldId id="260" r:id="rId6"/>
    <p:sldId id="265" r:id="rId10"/>
    <p:sldId id="268" r:id="rId13"/>
    <p:sldId id="288" r:id="rId33"/>
    <p:sldId id="279" r:id="rId29"/>
    <p:sldId id="285" r:id="rId30"/>
    <p:sldId id="286" r:id="rId31"/>
    <p:sldId id="287" r:id="rId32"/>
    <p:sldId id="267" r:id="rId12"/>
    <p:sldId id="289" r:id="rId34"/>
    <p:sldId id="290" r:id="rId35"/>
    <p:sldId id="291"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1" d="100"/>
          <a:sy n="61" d="100"/>
        </p:scale>
        <p:origin x="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xml"/><Relationship Id="rId4" Type="http://schemas.openxmlformats.org/officeDocument/2006/relationships/slide" Target="slides/slide3.xml"/><Relationship Id="rId6"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2.xml"/><Relationship Id="rId12" Type="http://schemas.openxmlformats.org/officeDocument/2006/relationships/slide" Target="slides/slide13.xml"/><Relationship Id="rId13" Type="http://schemas.openxmlformats.org/officeDocument/2006/relationships/slide" Target="slides/slide7.xml"/><Relationship Id="rId29" Type="http://schemas.openxmlformats.org/officeDocument/2006/relationships/slide" Target="slides/slide9.xml"/><Relationship Id="rId30" Type="http://schemas.openxmlformats.org/officeDocument/2006/relationships/slide" Target="slides/slide10.xml"/><Relationship Id="rId31" Type="http://schemas.openxmlformats.org/officeDocument/2006/relationships/slide" Target="slides/slide11.xml"/><Relationship Id="rId32" Type="http://schemas.openxmlformats.org/officeDocument/2006/relationships/slide" Target="slides/slide12.xml"/><Relationship Id="rId33" Type="http://schemas.openxmlformats.org/officeDocument/2006/relationships/slide" Target="slides/slide8.xml"/><Relationship Id="rId34" Type="http://schemas.openxmlformats.org/officeDocument/2006/relationships/slide" Target="slides/slide14.xml"/><Relationship Id="rId35" Type="http://schemas.openxmlformats.org/officeDocument/2006/relationships/slide" Target="slides/slide15.xml"/><Relationship Id="rId36" Type="http://schemas.openxmlformats.org/officeDocument/2006/relationships/slide" Target="slides/slide16.xml"/><Relationship Id="rId37" Type="http://schemas.openxmlformats.org/officeDocument/2006/relationships/slide" Target="slides/slide1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strRef>
              <c:f>Sheet1!$B$1</c:f>
              <c:strCache>
                <c:ptCount val="1"/>
                <c:pt idx="0">
                  <c:v>Base case</c:v>
                </c:pt>
              </c:strCache>
            </c:strRef>
          </c:tx>
          <c:spPr>
            <a:ln w="38100">
              <a:solidFill>
                <a:srgbClr val="6EC8FF"/>
              </a:solidFill>
              <a:prstDash val="solid"/>
            </a:ln>
          </c:spPr>
          <c:marker>
            <c:symbol val="none"/>
          </c:marker>
          <c:cat>
            <c:strRef>
              <c:f>Sheet1!$A$2:$A$7</c:f>
              <c:strCache>
                <c:ptCount val="6"/>
                <c:pt idx="0">
                  <c:v>Jul</c:v>
                </c:pt>
                <c:pt idx="1">
                  <c:v>Aug</c:v>
                </c:pt>
                <c:pt idx="2">
                  <c:v>Sep</c:v>
                </c:pt>
                <c:pt idx="3">
                  <c:v>Oct</c:v>
                </c:pt>
                <c:pt idx="4">
                  <c:v>Nov</c:v>
                </c:pt>
                <c:pt idx="5">
                  <c:v>Dec</c:v>
                </c:pt>
              </c:strCache>
            </c:strRef>
          </c:cat>
          <c:val>
            <c:numRef>
              <c:f>Sheet1!$B$2:$B$7</c:f>
              <c:numCache>
                <c:formatCode>General</c:formatCode>
                <c:ptCount val="6"/>
                <c:pt idx="0">
                  <c:v>3.4</c:v>
                </c:pt>
                <c:pt idx="1">
                  <c:v>3.5</c:v>
                </c:pt>
                <c:pt idx="2">
                  <c:v>3.6</c:v>
                </c:pt>
                <c:pt idx="3">
                  <c:v>3.8</c:v>
                </c:pt>
                <c:pt idx="4">
                  <c:v>3.9</c:v>
                </c:pt>
                <c:pt idx="5">
                  <c:v>4.01</c:v>
                </c:pt>
              </c:numCache>
            </c:numRef>
          </c:val>
          <c:smooth val="1"/>
          <c:extLst>
            <c:ext xmlns:c16="http://schemas.microsoft.com/office/drawing/2014/chart" uri="{C3380CC4-5D6E-409C-BE32-E72D297353CC}">
              <c16:uniqueId val="{00000000-44D8-4ABC-ABF4-D166E8F59752}"/>
            </c:ext>
          </c:extLst>
        </c:ser>
        <c:ser>
          <c:idx val="1"/>
          <c:order val="1"/>
          <c:tx>
            <c:strRef>
              <c:f>Sheet1!$C$1</c:f>
              <c:strCache>
                <c:ptCount val="1"/>
                <c:pt idx="0">
                  <c:v>Faster case</c:v>
                </c:pt>
              </c:strCache>
            </c:strRef>
          </c:tx>
          <c:spPr>
            <a:ln w="38100">
              <a:solidFill>
                <a:srgbClr val="FF9B5C"/>
              </a:solidFill>
              <a:prstDash val="solid"/>
            </a:ln>
          </c:spPr>
          <c:marker>
            <c:symbol val="none"/>
          </c:marker>
          <c:cat>
            <c:strRef>
              <c:f>Sheet1!$A$2:$A$7</c:f>
              <c:strCache>
                <c:ptCount val="6"/>
                <c:pt idx="0">
                  <c:v>Jul</c:v>
                </c:pt>
                <c:pt idx="1">
                  <c:v>Aug</c:v>
                </c:pt>
                <c:pt idx="2">
                  <c:v>Sep</c:v>
                </c:pt>
                <c:pt idx="3">
                  <c:v>Oct</c:v>
                </c:pt>
                <c:pt idx="4">
                  <c:v>Nov</c:v>
                </c:pt>
                <c:pt idx="5">
                  <c:v>Dec</c:v>
                </c:pt>
              </c:strCache>
            </c:strRef>
          </c:cat>
          <c:val>
            <c:numRef>
              <c:f>Sheet1!$C$2:$C$7</c:f>
              <c:numCache>
                <c:formatCode>General</c:formatCode>
                <c:ptCount val="6"/>
                <c:pt idx="0">
                  <c:v>3.4</c:v>
                </c:pt>
                <c:pt idx="1">
                  <c:v>3.8</c:v>
                </c:pt>
                <c:pt idx="2">
                  <c:v>4.2</c:v>
                </c:pt>
                <c:pt idx="3">
                  <c:v>4.7</c:v>
                </c:pt>
                <c:pt idx="4">
                  <c:v>5.2</c:v>
                </c:pt>
                <c:pt idx="5">
                  <c:v>5.78</c:v>
                </c:pt>
              </c:numCache>
            </c:numRef>
          </c:val>
          <c:smooth val="1"/>
          <c:extLst>
            <c:ext xmlns:c16="http://schemas.microsoft.com/office/drawing/2014/chart" uri="{C3380CC4-5D6E-409C-BE32-E72D297353CC}">
              <c16:uniqueId val="{00000001-44D8-4ABC-ABF4-D166E8F59752}"/>
            </c:ext>
          </c:extLst>
        </c:ser>
        <c:ser>
          <c:idx val="2"/>
          <c:order val="2"/>
          <c:tx>
            <c:strRef>
              <c:f>Sheet1!$D$1</c:f>
              <c:strCache>
                <c:ptCount val="1"/>
                <c:pt idx="0">
                  <c:v>Actual</c:v>
                </c:pt>
              </c:strCache>
            </c:strRef>
          </c:tx>
          <c:spPr>
            <a:ln w="38100">
              <a:solidFill>
                <a:srgbClr val="FF9B5C"/>
              </a:solidFill>
              <a:prstDash val="solid"/>
            </a:ln>
          </c:spPr>
          <c:marker>
            <c:symbol val="none"/>
          </c:marker>
          <c:cat>
            <c:strRef>
              <c:f>Sheet1!$A$2:$A$7</c:f>
              <c:strCache>
                <c:ptCount val="6"/>
                <c:pt idx="0">
                  <c:v>Jul</c:v>
                </c:pt>
                <c:pt idx="1">
                  <c:v>Aug</c:v>
                </c:pt>
                <c:pt idx="2">
                  <c:v>Sep</c:v>
                </c:pt>
                <c:pt idx="3">
                  <c:v>Oct</c:v>
                </c:pt>
                <c:pt idx="4">
                  <c:v>Nov</c:v>
                </c:pt>
                <c:pt idx="5">
                  <c:v>Dec</c:v>
                </c:pt>
              </c:strCache>
            </c:strRef>
          </c:cat>
          <c:val>
            <c:numRef>
              <c:f>Sheet1!$D$2:$D$7</c:f>
              <c:numCache>
                <c:formatCode>General</c:formatCode>
                <c:ptCount val="6"/>
                <c:pt idx="0">
                  <c:v>3.4</c:v>
                </c:pt>
                <c:pt idx="1">
                  <c:v>3.48</c:v>
                </c:pt>
              </c:numCache>
            </c:numRef>
          </c:val>
          <c:smooth val="1"/>
          <c:extLst>
            <c:ext xmlns:c16="http://schemas.microsoft.com/office/drawing/2014/chart" uri="{C3380CC4-5D6E-409C-BE32-E72D297353CC}">
              <c16:uniqueId val="{00000001-44D8-4ABC-ABF4-D166E8F59752}"/>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536078"/>
            </a:solidFill>
            <a:prstDash val="solid"/>
          </a:ln>
        </c:spPr>
        <c:txPr>
          <a:bodyPr anchorCtr="1"/>
          <a:lstStyle/>
          <a:p>
            <a:pPr>
              <a:defRPr sz="975">
                <a:solidFill>
                  <a:srgbClr val="C5CCDA"/>
                </a:solidFil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26364D"/>
              </a:solidFill>
              <a:prstDash val="solid"/>
            </a:ln>
          </c:spPr>
        </c:majorGridlines>
        <c:numFmt formatCode="\$0.0&quot;M&quot;" sourceLinked="1"/>
        <c:majorTickMark val="none"/>
        <c:minorTickMark val="none"/>
        <c:tickLblPos val="nextTo"/>
        <c:spPr>
          <a:ln w="0">
            <a:noFill/>
          </a:ln>
        </c:spPr>
        <c:txPr>
          <a:bodyPr anchorCtr="1"/>
          <a:lstStyle/>
          <a:p>
            <a:pPr>
              <a:defRPr sz="900">
                <a:solidFill>
                  <a:srgbClr val="8D99AE"/>
                </a:solidFill>
              </a:defRPr>
            </a:pPr>
            <a:endParaRPr lang="en-US"/>
          </a:p>
        </c:txPr>
        <c:crossAx val="48650112"/>
        <c:crosses val="autoZero"/>
        <c:crossBetween val="between"/>
        <c:majorUnit val="1"/>
      </c:valAx>
      <c:spPr>
        <a:solidFill>
          <a:srgbClr val="071424"/>
        </a:solidFill>
        <a:ln w="0">
          <a:noFill/>
        </a:ln>
      </c:spPr>
    </c:plotArea>
    <c:legend>
      <c:legendPos val="b"/>
      <c:overlay val="0"/>
      <c:txPr>
        <a:bodyPr anchorCtr="1"/>
        <a:lstStyle/>
        <a:p>
          <a:pPr>
            <a:defRPr sz="1125" b="1">
              <a:solidFill>
                <a:srgbClr val="C5CCDA"/>
              </a:solidFill>
            </a:defRPr>
          </a:pPr>
          <a:endParaRPr lang="en-US"/>
        </a:p>
      </c:txPr>
    </c:legend>
    <c:plotVisOnly val="1"/>
    <c:dispBlanksAs val="zero"/>
    <c:showDLblsOverMax val="1"/>
  </c:chart>
  <c:spPr>
    <a:solidFill>
      <a:srgbClr val="071424"/>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Claude Opus 4.8</c:v>
                </c:pt>
              </c:strCache>
            </c:strRef>
          </c:tx>
          <c:spPr>
            <a:solidFill>
              <a:srgbClr val="2F8CFF"/>
            </a:solidFill>
          </c:spPr>
          <c:invertIfNegative val="1"/>
          <c:cat>
            <c:strRef>
              <c:f>Sheet1!$A$2:$A$7</c:f>
              <c:strCache>
                <c:ptCount val="6"/>
                <c:pt idx="0">
                  <c:v>Mar</c:v>
                </c:pt>
                <c:pt idx="1">
                  <c:v>Apr</c:v>
                </c:pt>
                <c:pt idx="2">
                  <c:v>May</c:v>
                </c:pt>
                <c:pt idx="3">
                  <c:v>Jun</c:v>
                </c:pt>
                <c:pt idx="4">
                  <c:v>Jul</c:v>
                </c:pt>
                <c:pt idx="5">
                  <c:v>Aug</c:v>
                </c:pt>
              </c:strCache>
            </c:strRef>
          </c:cat>
          <c:val>
            <c:numRef>
              <c:f>Sheet1!$B$2:$B$7</c:f>
              <c:numCache>
                <c:formatCode>General</c:formatCode>
                <c:ptCount val="6"/>
                <c:pt idx="0">
                  <c:v>0</c:v>
                </c:pt>
                <c:pt idx="1">
                  <c:v>0</c:v>
                </c:pt>
                <c:pt idx="2">
                  <c:v>76.7</c:v>
                </c:pt>
                <c:pt idx="3">
                  <c:v>2024.1</c:v>
                </c:pt>
                <c:pt idx="4">
                  <c:v>11361.9</c:v>
                </c:pt>
                <c:pt idx="5">
                  <c:v>15633.6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F42-451C-B4AD-906A8C0286DC}"/>
            </c:ext>
          </c:extLst>
        </c:ser>
        <c:ser>
          <c:idx val="1"/>
          <c:order val="1"/>
          <c:tx>
            <c:strRef>
              <c:f>Sheet1!$C$1</c:f>
              <c:strCache>
                <c:ptCount val="1"/>
                <c:pt idx="0">
                  <c:v>Claude Sonnet 4.6</c:v>
                </c:pt>
              </c:strCache>
            </c:strRef>
          </c:tx>
          <c:spPr>
            <a:solidFill>
              <a:srgbClr val="3DD9EB"/>
            </a:solidFill>
          </c:spPr>
          <c:invertIfNegative val="1"/>
          <c:cat>
            <c:strRef>
              <c:f>Sheet1!$A$2:$A$7</c:f>
              <c:strCache>
                <c:ptCount val="6"/>
                <c:pt idx="0">
                  <c:v>Mar</c:v>
                </c:pt>
                <c:pt idx="1">
                  <c:v>Apr</c:v>
                </c:pt>
                <c:pt idx="2">
                  <c:v>May</c:v>
                </c:pt>
                <c:pt idx="3">
                  <c:v>Jun</c:v>
                </c:pt>
                <c:pt idx="4">
                  <c:v>Jul</c:v>
                </c:pt>
                <c:pt idx="5">
                  <c:v>Aug</c:v>
                </c:pt>
              </c:strCache>
            </c:strRef>
          </c:cat>
          <c:val>
            <c:numRef>
              <c:f>Sheet1!$C$2:$C$7</c:f>
              <c:numCache>
                <c:formatCode>General</c:formatCode>
                <c:ptCount val="6"/>
                <c:pt idx="0">
                  <c:v>0</c:v>
                </c:pt>
                <c:pt idx="1">
                  <c:v>0</c:v>
                </c:pt>
                <c:pt idx="2">
                  <c:v>14.5</c:v>
                </c:pt>
                <c:pt idx="3">
                  <c:v>540.4</c:v>
                </c:pt>
                <c:pt idx="4">
                  <c:v>688.3</c:v>
                </c:pt>
                <c:pt idx="5">
                  <c:v>9468.0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F42-451C-B4AD-906A8C0286DC}"/>
            </c:ext>
          </c:extLst>
        </c:ser>
        <c:ser>
          <c:idx val="2"/>
          <c:order val="2"/>
          <c:tx>
            <c:strRef>
              <c:f>Sheet1!$D$1</c:f>
              <c:strCache>
                <c:ptCount val="1"/>
                <c:pt idx="0">
                  <c:v>Claude Opus 5</c:v>
                </c:pt>
              </c:strCache>
            </c:strRef>
          </c:tx>
          <c:spPr>
            <a:solidFill>
              <a:srgbClr val="FF9F43"/>
            </a:solidFill>
          </c:spPr>
          <c:invertIfNegative val="1"/>
          <c:cat>
            <c:strRef>
              <c:f>Sheet1!$A$2:$A$7</c:f>
              <c:strCache>
                <c:ptCount val="6"/>
                <c:pt idx="0">
                  <c:v>Mar</c:v>
                </c:pt>
                <c:pt idx="1">
                  <c:v>Apr</c:v>
                </c:pt>
                <c:pt idx="2">
                  <c:v>May</c:v>
                </c:pt>
                <c:pt idx="3">
                  <c:v>Jun</c:v>
                </c:pt>
                <c:pt idx="4">
                  <c:v>Jul</c:v>
                </c:pt>
                <c:pt idx="5">
                  <c:v>Aug</c:v>
                </c:pt>
              </c:strCache>
            </c:strRef>
          </c:cat>
          <c:val>
            <c:numRef>
              <c:f>Sheet1!$D$2:$D$7</c:f>
              <c:numCache>
                <c:formatCode>General</c:formatCode>
                <c:ptCount val="6"/>
                <c:pt idx="0">
                  <c:v>0</c:v>
                </c:pt>
                <c:pt idx="1">
                  <c:v>0</c:v>
                </c:pt>
                <c:pt idx="2">
                  <c:v>0</c:v>
                </c:pt>
                <c:pt idx="3">
                  <c:v>0</c:v>
                </c:pt>
                <c:pt idx="4">
                  <c:v>691.5</c:v>
                </c:pt>
                <c:pt idx="5">
                  <c:v>9015.3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F42-451C-B4AD-906A8C0286DC}"/>
            </c:ext>
          </c:extLst>
        </c:ser>
        <c:ser>
          <c:idx val="3"/>
          <c:order val="3"/>
          <c:tx>
            <c:strRef>
              <c:f>Sheet1!$E$1</c:f>
              <c:strCache>
                <c:ptCount val="1"/>
                <c:pt idx="0">
                  <c:v>Claude Opus 4.6</c:v>
                </c:pt>
              </c:strCache>
            </c:strRef>
          </c:tx>
          <c:spPr>
            <a:solidFill>
              <a:srgbClr val="B07CFF"/>
            </a:solidFill>
          </c:spPr>
          <c:invertIfNegative val="1"/>
          <c:cat>
            <c:strRef>
              <c:f>Sheet1!$A$2:$A$7</c:f>
              <c:strCache>
                <c:ptCount val="6"/>
                <c:pt idx="0">
                  <c:v>Mar</c:v>
                </c:pt>
                <c:pt idx="1">
                  <c:v>Apr</c:v>
                </c:pt>
                <c:pt idx="2">
                  <c:v>May</c:v>
                </c:pt>
                <c:pt idx="3">
                  <c:v>Jun</c:v>
                </c:pt>
                <c:pt idx="4">
                  <c:v>Jul</c:v>
                </c:pt>
                <c:pt idx="5">
                  <c:v>Aug</c:v>
                </c:pt>
              </c:strCache>
            </c:strRef>
          </c:cat>
          <c:val>
            <c:numRef>
              <c:f>Sheet1!$E$2:$E$7</c:f>
              <c:numCache>
                <c:formatCode>General</c:formatCode>
                <c:ptCount val="6"/>
                <c:pt idx="0">
                  <c:v>0</c:v>
                </c:pt>
                <c:pt idx="1">
                  <c:v>0</c:v>
                </c:pt>
                <c:pt idx="2">
                  <c:v>2866.7</c:v>
                </c:pt>
                <c:pt idx="3">
                  <c:v>4806.5</c:v>
                </c:pt>
                <c:pt idx="4">
                  <c:v>9873.2</c:v>
                </c:pt>
                <c:pt idx="5">
                  <c:v>8730.0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CF42-451C-B4AD-906A8C0286DC}"/>
            </c:ext>
          </c:extLst>
        </c:ser>
        <c:ser>
          <c:idx val="4"/>
          <c:order val="4"/>
          <c:tx>
            <c:strRef>
              <c:f>Sheet1!$F$1</c:f>
              <c:strCache>
                <c:ptCount val="1"/>
                <c:pt idx="0">
                  <c:v>Claude Opus 4.7</c:v>
                </c:pt>
              </c:strCache>
            </c:strRef>
          </c:tx>
          <c:spPr>
            <a:solidFill>
              <a:srgbClr val="3DDC97"/>
            </a:solidFill>
          </c:spPr>
          <c:invertIfNegative val="1"/>
          <c:cat>
            <c:strRef>
              <c:f>Sheet1!$A$2:$A$7</c:f>
              <c:strCache>
                <c:ptCount val="6"/>
                <c:pt idx="0">
                  <c:v>Mar</c:v>
                </c:pt>
                <c:pt idx="1">
                  <c:v>Apr</c:v>
                </c:pt>
                <c:pt idx="2">
                  <c:v>May</c:v>
                </c:pt>
                <c:pt idx="3">
                  <c:v>Jun</c:v>
                </c:pt>
                <c:pt idx="4">
                  <c:v>Jul</c:v>
                </c:pt>
                <c:pt idx="5">
                  <c:v>Aug</c:v>
                </c:pt>
              </c:strCache>
            </c:strRef>
          </c:cat>
          <c:val>
            <c:numRef>
              <c:f>Sheet1!$F$2:$F$7</c:f>
              <c:numCache>
                <c:formatCode>General</c:formatCode>
                <c:ptCount val="6"/>
                <c:pt idx="0">
                  <c:v>0</c:v>
                </c:pt>
                <c:pt idx="1">
                  <c:v>0</c:v>
                </c:pt>
                <c:pt idx="2">
                  <c:v>786.8</c:v>
                </c:pt>
                <c:pt idx="3">
                  <c:v>2917.8</c:v>
                </c:pt>
                <c:pt idx="4">
                  <c:v>2438.5</c:v>
                </c:pt>
                <c:pt idx="5">
                  <c:v>805.6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CF42-451C-B4AD-906A8C0286DC}"/>
            </c:ext>
          </c:extLst>
        </c:ser>
        <c:ser>
          <c:idx val="5"/>
          <c:order val="5"/>
          <c:tx>
            <c:strRef>
              <c:f>Sheet1!$G$1</c:f>
              <c:strCache>
                <c:ptCount val="1"/>
                <c:pt idx="0">
                  <c:v>Claude Sonnet 5</c:v>
                </c:pt>
              </c:strCache>
            </c:strRef>
          </c:tx>
          <c:spPr>
            <a:solidFill>
              <a:srgbClr val="FF6B7A"/>
            </a:solidFill>
          </c:spPr>
          <c:invertIfNegative val="1"/>
          <c:cat>
            <c:strRef>
              <c:f>Sheet1!$A$2:$A$7</c:f>
              <c:strCache>
                <c:ptCount val="6"/>
                <c:pt idx="0">
                  <c:v>Mar</c:v>
                </c:pt>
                <c:pt idx="1">
                  <c:v>Apr</c:v>
                </c:pt>
                <c:pt idx="2">
                  <c:v>May</c:v>
                </c:pt>
                <c:pt idx="3">
                  <c:v>Jun</c:v>
                </c:pt>
                <c:pt idx="4">
                  <c:v>Jul</c:v>
                </c:pt>
                <c:pt idx="5">
                  <c:v>Aug</c:v>
                </c:pt>
              </c:strCache>
            </c:strRef>
          </c:cat>
          <c:val>
            <c:numRef>
              <c:f>Sheet1!$G$2:$G$7</c:f>
              <c:numCache>
                <c:formatCode>General</c:formatCode>
                <c:ptCount val="6"/>
                <c:pt idx="0">
                  <c:v>0</c:v>
                </c:pt>
                <c:pt idx="1">
                  <c:v>0</c:v>
                </c:pt>
                <c:pt idx="2">
                  <c:v>0</c:v>
                </c:pt>
                <c:pt idx="3">
                  <c:v>0</c:v>
                </c:pt>
                <c:pt idx="4">
                  <c:v>0</c:v>
                </c:pt>
                <c:pt idx="5">
                  <c:v>877.6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CF42-451C-B4AD-906A8C0286DC}"/>
            </c:ext>
          </c:extLst>
        </c:ser>
        <c:ser>
          <c:idx val="6"/>
          <c:order val="6"/>
          <c:tx>
            <c:strRef>
              <c:f>Sheet1!$H$1</c:f>
              <c:strCache>
                <c:ptCount val="1"/>
                <c:pt idx="0">
                  <c:v>Claude Haiku 4.5</c:v>
                </c:pt>
              </c:strCache>
            </c:strRef>
          </c:tx>
          <c:spPr>
            <a:solidFill>
              <a:srgbClr val="2AD38C"/>
            </a:solidFill>
          </c:spPr>
          <c:invertIfNegative val="1"/>
          <c:cat>
            <c:strRef>
              <c:f>Sheet1!$A$2:$A$7</c:f>
              <c:strCache>
                <c:ptCount val="6"/>
                <c:pt idx="0">
                  <c:v>Mar</c:v>
                </c:pt>
                <c:pt idx="1">
                  <c:v>Apr</c:v>
                </c:pt>
                <c:pt idx="2">
                  <c:v>May</c:v>
                </c:pt>
                <c:pt idx="3">
                  <c:v>Jun</c:v>
                </c:pt>
                <c:pt idx="4">
                  <c:v>Jul</c:v>
                </c:pt>
                <c:pt idx="5">
                  <c:v>Aug</c:v>
                </c:pt>
              </c:strCache>
            </c:strRef>
          </c:cat>
          <c:val>
            <c:numRef>
              <c:f>Sheet1!$H$2:$H$7</c:f>
              <c:numCache>
                <c:formatCode>General</c:formatCode>
                <c:ptCount val="6"/>
                <c:pt idx="0">
                  <c:v>0</c:v>
                </c:pt>
                <c:pt idx="1">
                  <c:v>0</c:v>
                </c:pt>
                <c:pt idx="2">
                  <c:v>57.1</c:v>
                </c:pt>
                <c:pt idx="3">
                  <c:v>159.3</c:v>
                </c:pt>
                <c:pt idx="4">
                  <c:v>157.4</c:v>
                </c:pt>
                <c:pt idx="5">
                  <c:v>154.2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CF42-451C-B4AD-906A8C0286DC}"/>
            </c:ext>
          </c:extLst>
        </c:ser>
        <c:ser>
          <c:idx val="7"/>
          <c:order val="7"/>
          <c:tx>
            <c:strRef>
              <c:f>Sheet1!$I$1</c:f>
              <c:strCache>
                <c:ptCount val="1"/>
                <c:pt idx="0">
                  <c:v>Claude Sonnet 4.5</c:v>
                </c:pt>
              </c:strCache>
            </c:strRef>
          </c:tx>
          <c:spPr>
            <a:solidFill>
              <a:srgbClr val="FFB84D"/>
            </a:solidFill>
          </c:spPr>
          <c:invertIfNegative val="1"/>
          <c:cat>
            <c:strRef>
              <c:f>Sheet1!$A$2:$A$7</c:f>
              <c:strCache>
                <c:ptCount val="6"/>
                <c:pt idx="0">
                  <c:v>Mar</c:v>
                </c:pt>
                <c:pt idx="1">
                  <c:v>Apr</c:v>
                </c:pt>
                <c:pt idx="2">
                  <c:v>May</c:v>
                </c:pt>
                <c:pt idx="3">
                  <c:v>Jun</c:v>
                </c:pt>
                <c:pt idx="4">
                  <c:v>Jul</c:v>
                </c:pt>
                <c:pt idx="5">
                  <c:v>Aug</c:v>
                </c:pt>
              </c:strCache>
            </c:strRef>
          </c:cat>
          <c:val>
            <c:numRef>
              <c:f>Sheet1!$I$2:$I$7</c:f>
              <c:numCache>
                <c:formatCode>General</c:formatCode>
                <c:ptCount val="6"/>
                <c:pt idx="0">
                  <c:v>0</c:v>
                </c:pt>
                <c:pt idx="1">
                  <c:v>0</c:v>
                </c:pt>
                <c:pt idx="2">
                  <c:v>9.6</c:v>
                </c:pt>
                <c:pt idx="3">
                  <c:v>58.6</c:v>
                </c:pt>
                <c:pt idx="4">
                  <c:v>77.4</c:v>
                </c:pt>
                <c:pt idx="5">
                  <c:v>54.8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CF42-451C-B4AD-906A8C0286DC}"/>
            </c:ext>
          </c:extLst>
        </c:ser>
        <c:ser>
          <c:idx val="8"/>
          <c:order val="8"/>
          <c:tx>
            <c:strRef>
              <c:f>Sheet1!$J$1</c:f>
              <c:strCache>
                <c:ptCount val="1"/>
                <c:pt idx="0">
                  <c:v>Amazon Bedrock Edition</c:v>
                </c:pt>
              </c:strCache>
            </c:strRef>
          </c:tx>
          <c:spPr>
            <a:solidFill>
              <a:srgbClr val="6C8CFF"/>
            </a:solidFill>
          </c:spPr>
          <c:invertIfNegative val="1"/>
          <c:cat>
            <c:strRef>
              <c:f>Sheet1!$A$2:$A$7</c:f>
              <c:strCache>
                <c:ptCount val="6"/>
                <c:pt idx="0">
                  <c:v>Mar</c:v>
                </c:pt>
                <c:pt idx="1">
                  <c:v>Apr</c:v>
                </c:pt>
                <c:pt idx="2">
                  <c:v>May</c:v>
                </c:pt>
                <c:pt idx="3">
                  <c:v>Jun</c:v>
                </c:pt>
                <c:pt idx="4">
                  <c:v>Jul</c:v>
                </c:pt>
                <c:pt idx="5">
                  <c:v>Aug</c:v>
                </c:pt>
              </c:strCache>
            </c:strRef>
          </c:cat>
          <c:val>
            <c:numRef>
              <c:f>Sheet1!$J$2:$J$7</c:f>
              <c:numCache>
                <c:formatCode>General</c:formatCode>
                <c:ptCount val="6"/>
                <c:pt idx="0">
                  <c:v>841.0</c:v>
                </c:pt>
                <c:pt idx="1">
                  <c:v>1609.0</c:v>
                </c:pt>
                <c:pt idx="2">
                  <c:v>0</c:v>
                </c:pt>
                <c:pt idx="3">
                  <c:v>0</c:v>
                </c:pt>
                <c:pt idx="4">
                  <c:v>0</c:v>
                </c:pt>
                <c:pt idx="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CF42-451C-B4AD-906A8C0286DC}"/>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Vertex AI</c:v>
                </c:pt>
              </c:strCache>
            </c:strRef>
          </c:tx>
          <c:spPr>
            <a:solidFill>
              <a:srgbClr val="2F8CFF"/>
            </a:solidFill>
          </c:spPr>
          <c:invertIfNegative val="1"/>
          <c:cat>
            <c:strRef>
              <c:f>Sheet1!$A$2:$A$7</c:f>
              <c:strCache>
                <c:ptCount val="6"/>
                <c:pt idx="0">
                  <c:v>Mar</c:v>
                </c:pt>
                <c:pt idx="1">
                  <c:v>Apr</c:v>
                </c:pt>
                <c:pt idx="2">
                  <c:v>May</c:v>
                </c:pt>
                <c:pt idx="3">
                  <c:v>Jun</c:v>
                </c:pt>
                <c:pt idx="4">
                  <c:v>Jul</c:v>
                </c:pt>
                <c:pt idx="5">
                  <c:v>Aug</c:v>
                </c:pt>
              </c:strCache>
            </c:strRef>
          </c:cat>
          <c:val>
            <c:numRef>
              <c:f>Sheet1!$B$2:$B$7</c:f>
              <c:numCache>
                <c:formatCode>General</c:formatCode>
                <c:ptCount val="6"/>
                <c:pt idx="0">
                  <c:v>0</c:v>
                </c:pt>
                <c:pt idx="1">
                  <c:v>0</c:v>
                </c:pt>
                <c:pt idx="2">
                  <c:v>378.8</c:v>
                </c:pt>
                <c:pt idx="3">
                  <c:v>957.5</c:v>
                </c:pt>
                <c:pt idx="4">
                  <c:v>2359.0</c:v>
                </c:pt>
                <c:pt idx="5">
                  <c:v>1522.0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AB8-49C9-B5DF-73676B21A0D6}"/>
            </c:ext>
          </c:extLst>
        </c:ser>
        <c:ser>
          <c:idx val="1"/>
          <c:order val="1"/>
          <c:tx>
            <c:strRef>
              <c:f>Sheet1!$C$1</c:f>
              <c:strCache>
                <c:ptCount val="1"/>
                <c:pt idx="0">
                  <c:v>Compute Engine</c:v>
                </c:pt>
              </c:strCache>
            </c:strRef>
          </c:tx>
          <c:spPr>
            <a:solidFill>
              <a:srgbClr val="3DD9EB"/>
            </a:solidFill>
          </c:spPr>
          <c:invertIfNegative val="1"/>
          <c:cat>
            <c:strRef>
              <c:f>Sheet1!$A$2:$A$7</c:f>
              <c:strCache>
                <c:ptCount val="6"/>
                <c:pt idx="0">
                  <c:v>Mar</c:v>
                </c:pt>
                <c:pt idx="1">
                  <c:v>Apr</c:v>
                </c:pt>
                <c:pt idx="2">
                  <c:v>May</c:v>
                </c:pt>
                <c:pt idx="3">
                  <c:v>Jun</c:v>
                </c:pt>
                <c:pt idx="4">
                  <c:v>Jul</c:v>
                </c:pt>
                <c:pt idx="5">
                  <c:v>Aug</c:v>
                </c:pt>
              </c:strCache>
            </c:strRef>
          </c:cat>
          <c:val>
            <c:numRef>
              <c:f>Sheet1!$C$2:$C$7</c:f>
              <c:numCache>
                <c:formatCode>General</c:formatCode>
                <c:ptCount val="6"/>
                <c:pt idx="0">
                  <c:v>0</c:v>
                </c:pt>
                <c:pt idx="1">
                  <c:v>221.7</c:v>
                </c:pt>
                <c:pt idx="2">
                  <c:v>714.2</c:v>
                </c:pt>
                <c:pt idx="3">
                  <c:v>977.3</c:v>
                </c:pt>
                <c:pt idx="4">
                  <c:v>1011.5</c:v>
                </c:pt>
                <c:pt idx="5">
                  <c:v>1031.0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AB8-49C9-B5DF-73676B21A0D6}"/>
            </c:ext>
          </c:extLst>
        </c:ser>
        <c:ser>
          <c:idx val="2"/>
          <c:order val="2"/>
          <c:tx>
            <c:strRef>
              <c:f>Sheet1!$D$1</c:f>
              <c:strCache>
                <c:ptCount val="1"/>
                <c:pt idx="0">
                  <c:v>Networking</c:v>
                </c:pt>
              </c:strCache>
            </c:strRef>
          </c:tx>
          <c:spPr>
            <a:solidFill>
              <a:srgbClr val="FF9F43"/>
            </a:solidFill>
          </c:spPr>
          <c:invertIfNegative val="1"/>
          <c:cat>
            <c:strRef>
              <c:f>Sheet1!$A$2:$A$7</c:f>
              <c:strCache>
                <c:ptCount val="6"/>
                <c:pt idx="0">
                  <c:v>Mar</c:v>
                </c:pt>
                <c:pt idx="1">
                  <c:v>Apr</c:v>
                </c:pt>
                <c:pt idx="2">
                  <c:v>May</c:v>
                </c:pt>
                <c:pt idx="3">
                  <c:v>Jun</c:v>
                </c:pt>
                <c:pt idx="4">
                  <c:v>Jul</c:v>
                </c:pt>
                <c:pt idx="5">
                  <c:v>Aug</c:v>
                </c:pt>
              </c:strCache>
            </c:strRef>
          </c:cat>
          <c:val>
            <c:numRef>
              <c:f>Sheet1!$D$2:$D$7</c:f>
              <c:numCache>
                <c:formatCode>General</c:formatCode>
                <c:ptCount val="6"/>
                <c:pt idx="0">
                  <c:v>0</c:v>
                </c:pt>
                <c:pt idx="1">
                  <c:v>74.5</c:v>
                </c:pt>
                <c:pt idx="2">
                  <c:v>311.4</c:v>
                </c:pt>
                <c:pt idx="3">
                  <c:v>303.7</c:v>
                </c:pt>
                <c:pt idx="4">
                  <c:v>310.0</c:v>
                </c:pt>
                <c:pt idx="5">
                  <c:v>314.0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AB8-49C9-B5DF-73676B21A0D6}"/>
            </c:ext>
          </c:extLst>
        </c:ser>
        <c:ser>
          <c:idx val="3"/>
          <c:order val="3"/>
          <c:tx>
            <c:strRef>
              <c:f>Sheet1!$E$1</c:f>
              <c:strCache>
                <c:ptCount val="1"/>
                <c:pt idx="0">
                  <c:v>Support</c:v>
                </c:pt>
              </c:strCache>
            </c:strRef>
          </c:tx>
          <c:spPr>
            <a:solidFill>
              <a:srgbClr val="B07CFF"/>
            </a:solidFill>
          </c:spPr>
          <c:invertIfNegative val="1"/>
          <c:cat>
            <c:strRef>
              <c:f>Sheet1!$A$2:$A$7</c:f>
              <c:strCache>
                <c:ptCount val="6"/>
                <c:pt idx="0">
                  <c:v>Mar</c:v>
                </c:pt>
                <c:pt idx="1">
                  <c:v>Apr</c:v>
                </c:pt>
                <c:pt idx="2">
                  <c:v>May</c:v>
                </c:pt>
                <c:pt idx="3">
                  <c:v>Jun</c:v>
                </c:pt>
                <c:pt idx="4">
                  <c:v>Jul</c:v>
                </c:pt>
                <c:pt idx="5">
                  <c:v>Aug</c:v>
                </c:pt>
              </c:strCache>
            </c:strRef>
          </c:cat>
          <c:val>
            <c:numRef>
              <c:f>Sheet1!$E$2:$E$7</c:f>
              <c:numCache>
                <c:formatCode>General</c:formatCode>
                <c:ptCount val="6"/>
                <c:pt idx="0">
                  <c:v>0</c:v>
                </c:pt>
                <c:pt idx="1">
                  <c:v>0</c:v>
                </c:pt>
                <c:pt idx="2">
                  <c:v>26.4</c:v>
                </c:pt>
                <c:pt idx="3">
                  <c:v>98.2</c:v>
                </c:pt>
                <c:pt idx="4">
                  <c:v>141.6</c:v>
                </c:pt>
                <c:pt idx="5">
                  <c:v>117.0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EAB8-49C9-B5DF-73676B21A0D6}"/>
            </c:ext>
          </c:extLst>
        </c:ser>
        <c:ser>
          <c:idx val="4"/>
          <c:order val="4"/>
          <c:tx>
            <c:strRef>
              <c:f>Sheet1!$F$1</c:f>
              <c:strCache>
                <c:ptCount val="1"/>
                <c:pt idx="0">
                  <c:v>Gemini API</c:v>
                </c:pt>
              </c:strCache>
            </c:strRef>
          </c:tx>
          <c:spPr>
            <a:solidFill>
              <a:srgbClr val="3DDC97"/>
            </a:solidFill>
          </c:spPr>
          <c:invertIfNegative val="1"/>
          <c:cat>
            <c:strRef>
              <c:f>Sheet1!$A$2:$A$7</c:f>
              <c:strCache>
                <c:ptCount val="6"/>
                <c:pt idx="0">
                  <c:v>Mar</c:v>
                </c:pt>
                <c:pt idx="1">
                  <c:v>Apr</c:v>
                </c:pt>
                <c:pt idx="2">
                  <c:v>May</c:v>
                </c:pt>
                <c:pt idx="3">
                  <c:v>Jun</c:v>
                </c:pt>
                <c:pt idx="4">
                  <c:v>Jul</c:v>
                </c:pt>
                <c:pt idx="5">
                  <c:v>Aug</c:v>
                </c:pt>
              </c:strCache>
            </c:strRef>
          </c:cat>
          <c:val>
            <c:numRef>
              <c:f>Sheet1!$F$2:$F$7</c:f>
              <c:numCache>
                <c:formatCode>General</c:formatCode>
                <c:ptCount val="6"/>
                <c:pt idx="0">
                  <c:v>395.8</c:v>
                </c:pt>
                <c:pt idx="1">
                  <c:v>134.7</c:v>
                </c:pt>
                <c:pt idx="2">
                  <c:v>92.4</c:v>
                </c:pt>
                <c:pt idx="3">
                  <c:v>0</c:v>
                </c:pt>
                <c:pt idx="4">
                  <c:v>0</c:v>
                </c:pt>
                <c:pt idx="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EAB8-49C9-B5DF-73676B21A0D6}"/>
            </c:ext>
          </c:extLst>
        </c:ser>
        <c:ser>
          <c:idx val="5"/>
          <c:order val="5"/>
          <c:tx>
            <c:strRef>
              <c:f>Sheet1!$G$1</c:f>
              <c:strCache>
                <c:ptCount val="1"/>
                <c:pt idx="0">
                  <c:v>other services</c:v>
                </c:pt>
              </c:strCache>
            </c:strRef>
          </c:tx>
          <c:spPr>
            <a:solidFill>
              <a:srgbClr val="FF6B7A"/>
            </a:solidFill>
          </c:spPr>
          <c:invertIfNegative val="0"/>
          <c:cat>
            <c:strRef>
              <c:f>Sheet1!$A$2:$A$7</c:f>
              <c:strCache>
                <c:ptCount val="6"/>
                <c:pt idx="0">
                  <c:v>Mar</c:v>
                </c:pt>
                <c:pt idx="1">
                  <c:v>Apr</c:v>
                </c:pt>
                <c:pt idx="2">
                  <c:v>May</c:v>
                </c:pt>
                <c:pt idx="3">
                  <c:v>Jun</c:v>
                </c:pt>
                <c:pt idx="4">
                  <c:v>Jul</c:v>
                </c:pt>
                <c:pt idx="5">
                  <c:v>Aug</c:v>
                </c:pt>
              </c:strCache>
            </c:strRef>
          </c:cat>
          <c:val>
            <c:numRef>
              <c:f>Sheet1!$G$2:$G$7</c:f>
              <c:numCache>
                <c:formatCode>General</c:formatCode>
                <c:ptCount val="6"/>
                <c:pt idx="0">
                  <c:v>0.1</c:v>
                </c:pt>
                <c:pt idx="1">
                  <c:v>9.2</c:v>
                </c:pt>
                <c:pt idx="2">
                  <c:v>-74.0</c:v>
                </c:pt>
                <c:pt idx="3">
                  <c:v>-117.3</c:v>
                </c:pt>
                <c:pt idx="4">
                  <c:v>-115.1</c:v>
                </c:pt>
                <c:pt idx="5">
                  <c:v>-149.4</c:v>
                </c:pt>
              </c:numCache>
            </c:numRef>
          </c:val>
          <c:extLst>
            <c:ext xmlns:c16="http://schemas.microsoft.com/office/drawing/2014/chart" uri="{C3380CC4-5D6E-409C-BE32-E72D297353CC}">
              <c16:uniqueId val="{00000005-EAB8-49C9-B5DF-73676B21A0D6}"/>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strRef>
              <c:f>Sheet1!$B$1</c:f>
              <c:strCache>
                <c:ptCount val="1"/>
                <c:pt idx="0">
                  <c:v>August</c:v>
                </c:pt>
              </c:strCache>
            </c:strRef>
          </c:tx>
          <c:spPr>
            <a:solidFill>
              <a:srgbClr val="2F8CFF"/>
            </a:solidFill>
          </c:spPr>
          <c:invertIfNegative val="1"/>
          <c:dPt>
            <c:idx val="1"/>
            <c:invertIfNegative val="0"/>
            <c:bubble3D val="0"/>
            <c:spPr>
              <a:solidFill>
                <a:srgbClr val="3DD9EB"/>
              </a:solidFill>
            </c:spPr>
            <c:extLst>
              <c:ext xmlns:c16="http://schemas.microsoft.com/office/drawing/2014/chart" uri="{C3380CC4-5D6E-409C-BE32-E72D297353CC}">
                <c16:uniqueId val="{00000001-6358-463F-811F-FA773145592F}"/>
              </c:ext>
            </c:extLst>
          </c:dPt>
          <c:dPt>
            <c:idx val="2"/>
            <c:invertIfNegative val="0"/>
            <c:bubble3D val="0"/>
            <c:spPr>
              <a:solidFill>
                <a:srgbClr val="FF9F43"/>
              </a:solidFill>
            </c:spPr>
            <c:extLst>
              <c:ext xmlns:c16="http://schemas.microsoft.com/office/drawing/2014/chart" uri="{C3380CC4-5D6E-409C-BE32-E72D297353CC}">
                <c16:uniqueId val="{00000003-6358-463F-811F-FA773145592F}"/>
              </c:ext>
            </c:extLst>
          </c:dPt>
          <c:dPt>
            <c:idx val="3"/>
            <c:invertIfNegative val="0"/>
            <c:bubble3D val="0"/>
            <c:spPr>
              <a:solidFill>
                <a:srgbClr val="B07CFF"/>
              </a:solidFill>
            </c:spPr>
            <c:extLst>
              <c:ext xmlns:c16="http://schemas.microsoft.com/office/drawing/2014/chart" uri="{C3380CC4-5D6E-409C-BE32-E72D297353CC}">
                <c16:uniqueId val="{00000005-6358-463F-811F-FA773145592F}"/>
              </c:ext>
            </c:extLst>
          </c:dPt>
          <c:dPt>
            <c:idx val="4"/>
            <c:invertIfNegative val="0"/>
            <c:bubble3D val="0"/>
            <c:spPr>
              <a:solidFill>
                <a:srgbClr val="3DDC97"/>
              </a:solidFill>
            </c:spPr>
            <c:extLst>
              <c:ext xmlns:c16="http://schemas.microsoft.com/office/drawing/2014/chart" uri="{C3380CC4-5D6E-409C-BE32-E72D297353CC}">
                <c16:uniqueId val="{00000007-6358-463F-811F-FA773145592F}"/>
              </c:ext>
            </c:extLst>
          </c:dPt>
          <c:dPt>
            <c:idx val="5"/>
            <c:invertIfNegative val="0"/>
            <c:bubble3D val="0"/>
            <c:spPr>
              <a:solidFill>
                <a:srgbClr val="FF6B7A"/>
              </a:solidFill>
            </c:spPr>
            <c:extLst>
              <c:ext xmlns:c16="http://schemas.microsoft.com/office/drawing/2014/chart" uri="{C3380CC4-5D6E-409C-BE32-E72D297353CC}">
                <c16:uniqueId val="{00000009-6358-463F-811F-FA773145592F}"/>
              </c:ext>
            </c:extLst>
          </c:dPt>
          <c:dPt>
            <c:idx val="6"/>
            <c:invertIfNegative val="0"/>
            <c:bubble3D val="0"/>
            <c:spPr>
              <a:solidFill>
                <a:srgbClr val="2AD38C"/>
              </a:solidFill>
            </c:spPr>
            <c:extLst>
              <c:ext xmlns:c16="http://schemas.microsoft.com/office/drawing/2014/chart" uri="{C3380CC4-5D6E-409C-BE32-E72D297353CC}">
                <c16:uniqueId val="{0000000B-6358-463F-811F-FA773145592F}"/>
              </c:ext>
            </c:extLst>
          </c:dPt>
          <c:dPt>
            <c:idx val="7"/>
            <c:invertIfNegative val="0"/>
            <c:bubble3D val="0"/>
            <c:spPr>
              <a:solidFill>
                <a:srgbClr val="FFB84D"/>
              </a:solidFill>
            </c:spPr>
            <c:extLst>
              <c:ext xmlns:c16="http://schemas.microsoft.com/office/drawing/2014/chart" uri="{C3380CC4-5D6E-409C-BE32-E72D297353CC}">
                <c16:uniqueId val="{0000000D-6358-463F-811F-FA773145592F}"/>
              </c:ext>
            </c:extLst>
          </c:dPt>
          <c:dPt>
            <c:idx val="8"/>
            <c:invertIfNegative val="0"/>
            <c:bubble3D val="0"/>
            <c:spPr>
              <a:solidFill>
                <a:srgbClr val="6C8CFF"/>
              </a:solidFill>
            </c:spPr>
            <c:extLst>
              <c:ext xmlns:c16="http://schemas.microsoft.com/office/drawing/2014/chart" uri="{C3380CC4-5D6E-409C-BE32-E72D297353CC}">
                <c16:uniqueId val="{0000000F-6358-463F-811F-FA773145592F}"/>
              </c:ext>
            </c:extLst>
          </c:dPt>
          <c:dPt>
            <c:idx val="9"/>
            <c:invertIfNegative val="0"/>
            <c:bubble3D val="0"/>
            <c:spPr>
              <a:solidFill>
                <a:srgbClr val="8FD8E8"/>
              </a:solidFill>
            </c:spPr>
            <c:extLst>
              <c:ext xmlns:c16="http://schemas.microsoft.com/office/drawing/2014/chart" uri="{C3380CC4-5D6E-409C-BE32-E72D297353CC}">
                <c16:uniqueId val="{00000011-6358-463F-811F-FA773145592F}"/>
              </c:ext>
            </c:extLst>
          </c:dPt>
          <c:dLbls>
            <c:numFmt formatCode="&quot;$&quot;#,##0" sourceLinked="0"/>
            <c:spPr>
              <a:noFill/>
              <a:ln>
                <a:noFill/>
              </a:ln>
            </c:spPr>
            <c:txPr>
              <a:bodyPr anchorCtr="1"/>
              <a:lstStyle/>
              <a:p>
                <a:pPr>
                  <a:defRPr sz="1100" b="0" i="0" u="none">
                    <a:solidFill>
                      <a:srgbClr val="F4F7FB"/>
                    </a:solidFill>
                    <a:latin typeface="Calibri"/>
                    <a:ea typeface="Calibri"/>
                    <a:cs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One-off purchases</c:v>
                </c:pt>
                <c:pt idx="1">
                  <c:v>F5 Rules for AWS WAF</c:v>
                </c:pt>
                <c:pt idx="2">
                  <c:v>Neo4j Aura</c:v>
                </c:pt>
                <c:pt idx="3">
                  <c:v>MongoDB Atlas</c:v>
                </c:pt>
                <c:pt idx="4">
                  <c:v>Claude models via Bedrock</c:v>
                </c:pt>
              </c:strCache>
            </c:strRef>
          </c:cat>
          <c:val>
            <c:numRef>
              <c:f>Sheet1!$B$2:$B$6</c:f>
              <c:numCache>
                <c:formatCode>General</c:formatCode>
                <c:ptCount val="5"/>
                <c:pt idx="0">
                  <c:v>0.0</c:v>
                </c:pt>
                <c:pt idx="1">
                  <c:v>91.7</c:v>
                </c:pt>
                <c:pt idx="2">
                  <c:v>133.9</c:v>
                </c:pt>
                <c:pt idx="3">
                  <c:v>14512.7</c:v>
                </c:pt>
                <c:pt idx="4">
                  <c:v>44739.0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2-6358-463F-811F-FA773145592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a:solidFill>
                <a:srgbClr val="23304A"/>
              </a:solidFill>
              <a:prstDash val="solid"/>
            </a:ln>
          </c:spPr>
        </c:majorGridlines>
        <c:numFmt formatCode="&quot;$&quot;#,##0" sourceLinked="0"/>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plotVisOnly val="1"/>
    <c:dispBlanksAs val="zero"/>
    <c:showDLblsOverMax val="1"/>
  </c:chart>
  <c:spPr>
    <a:solidFill>
      <a:srgbClr val="070A12"/>
    </a:solidFill>
    <a:ln>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aws-prod-Digital</c:v>
                </c:pt>
              </c:strCache>
            </c:strRef>
          </c:tx>
          <c:spPr>
            <a:solidFill>
              <a:srgbClr val="2F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22332.7</c:v>
                </c:pt>
                <c:pt idx="1">
                  <c:v>21140.5</c:v>
                </c:pt>
                <c:pt idx="2">
                  <c:v>21628.9</c:v>
                </c:pt>
                <c:pt idx="3">
                  <c:v>21144.8</c:v>
                </c:pt>
                <c:pt idx="4">
                  <c:v>21545.7</c:v>
                </c:pt>
                <c:pt idx="5">
                  <c:v>21516.4</c:v>
                </c:pt>
                <c:pt idx="6">
                  <c:v>22251.5</c:v>
                </c:pt>
                <c:pt idx="7">
                  <c:v>25323.8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E4D-4C1C-860D-D1AF721278F6}"/>
            </c:ext>
          </c:extLst>
        </c:ser>
        <c:ser>
          <c:idx val="1"/>
          <c:order val="1"/>
          <c:tx>
            <c:strRef>
              <c:f>Sheet1!$C$1</c:f>
              <c:strCache>
                <c:ptCount val="1"/>
                <c:pt idx="0">
                  <c:v>aws-devTest-digital</c:v>
                </c:pt>
              </c:strCache>
            </c:strRef>
          </c:tx>
          <c:spPr>
            <a:solidFill>
              <a:srgbClr val="3DD9EB"/>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Sheet1!$C$2:$C$9</c:f>
              <c:numCache>
                <c:formatCode>General</c:formatCode>
                <c:ptCount val="8"/>
                <c:pt idx="0">
                  <c:v>9774.7</c:v>
                </c:pt>
                <c:pt idx="1">
                  <c:v>9293.5</c:v>
                </c:pt>
                <c:pt idx="2">
                  <c:v>13019.5</c:v>
                </c:pt>
                <c:pt idx="3">
                  <c:v>12889.1</c:v>
                </c:pt>
                <c:pt idx="4">
                  <c:v>14478.5</c:v>
                </c:pt>
                <c:pt idx="5">
                  <c:v>13224.0</c:v>
                </c:pt>
                <c:pt idx="6">
                  <c:v>13679.0</c:v>
                </c:pt>
                <c:pt idx="7">
                  <c:v>13603.9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E4D-4C1C-860D-D1AF721278F6}"/>
            </c:ext>
          </c:extLst>
        </c:ser>
        <c:ser>
          <c:idx val="2"/>
          <c:order val="2"/>
          <c:tx>
            <c:strRef>
              <c:f>Sheet1!$D$1</c:f>
              <c:strCache>
                <c:ptCount val="1"/>
                <c:pt idx="0">
                  <c:v>customers3-prod</c:v>
                </c:pt>
              </c:strCache>
            </c:strRef>
          </c:tx>
          <c:spPr>
            <a:solidFill>
              <a:srgbClr val="FF9F43"/>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Sheet1!$D$2:$D$9</c:f>
              <c:numCache>
                <c:formatCode>General</c:formatCode>
                <c:ptCount val="8"/>
                <c:pt idx="0">
                  <c:v>886.8</c:v>
                </c:pt>
                <c:pt idx="1">
                  <c:v>13482.4</c:v>
                </c:pt>
                <c:pt idx="2">
                  <c:v>11082.4</c:v>
                </c:pt>
                <c:pt idx="3">
                  <c:v>2357.5</c:v>
                </c:pt>
                <c:pt idx="4">
                  <c:v>4222.2</c:v>
                </c:pt>
                <c:pt idx="5">
                  <c:v>6507.6</c:v>
                </c:pt>
                <c:pt idx="6">
                  <c:v>9065.8</c:v>
                </c:pt>
                <c:pt idx="7">
                  <c:v>13088.4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E4D-4C1C-860D-D1AF721278F6}"/>
            </c:ext>
          </c:extLst>
        </c:ser>
        <c:ser>
          <c:idx val="3"/>
          <c:order val="3"/>
          <c:tx>
            <c:strRef>
              <c:f>Sheet1!$E$1</c:f>
              <c:strCache>
                <c:ptCount val="1"/>
                <c:pt idx="0">
                  <c:v>aws-preProd-digital</c:v>
                </c:pt>
              </c:strCache>
            </c:strRef>
          </c:tx>
          <c:spPr>
            <a:solidFill>
              <a:srgbClr val="B07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Sheet1!$E$2:$E$9</c:f>
              <c:numCache>
                <c:formatCode>General</c:formatCode>
                <c:ptCount val="8"/>
                <c:pt idx="0">
                  <c:v>10763.5</c:v>
                </c:pt>
                <c:pt idx="1">
                  <c:v>9195.1</c:v>
                </c:pt>
                <c:pt idx="2">
                  <c:v>10753.1</c:v>
                </c:pt>
                <c:pt idx="3">
                  <c:v>10593.4</c:v>
                </c:pt>
                <c:pt idx="4">
                  <c:v>11424.8</c:v>
                </c:pt>
                <c:pt idx="5">
                  <c:v>10158.6</c:v>
                </c:pt>
                <c:pt idx="6">
                  <c:v>10824.2</c:v>
                </c:pt>
                <c:pt idx="7">
                  <c:v>10943.3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CE4D-4C1C-860D-D1AF721278F6}"/>
            </c:ext>
          </c:extLst>
        </c:ser>
        <c:ser>
          <c:idx val="4"/>
          <c:order val="4"/>
          <c:tx>
            <c:strRef>
              <c:f>Sheet1!$F$1</c:f>
              <c:strCache>
                <c:ptCount val="1"/>
                <c:pt idx="0">
                  <c:v>Harel Insurance</c:v>
                </c:pt>
              </c:strCache>
            </c:strRef>
          </c:tx>
          <c:spPr>
            <a:solidFill>
              <a:srgbClr val="3DDC97"/>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Sheet1!$F$2:$F$9</c:f>
              <c:numCache>
                <c:formatCode>General</c:formatCode>
                <c:ptCount val="8"/>
                <c:pt idx="0">
                  <c:v>6065.7</c:v>
                </c:pt>
                <c:pt idx="1">
                  <c:v>3782.0</c:v>
                </c:pt>
                <c:pt idx="2">
                  <c:v>6398.0</c:v>
                </c:pt>
                <c:pt idx="3">
                  <c:v>8584.5</c:v>
                </c:pt>
                <c:pt idx="4">
                  <c:v>3830.4</c:v>
                </c:pt>
                <c:pt idx="5">
                  <c:v>6197.6</c:v>
                </c:pt>
                <c:pt idx="6">
                  <c:v>5139.9</c:v>
                </c:pt>
                <c:pt idx="7">
                  <c:v>9394.4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CE4D-4C1C-860D-D1AF721278F6}"/>
            </c:ext>
          </c:extLst>
        </c:ser>
        <c:ser>
          <c:idx val="5"/>
          <c:order val="5"/>
          <c:tx>
            <c:strRef>
              <c:f>Sheet1!$G$1</c:f>
              <c:strCache>
                <c:ptCount val="1"/>
                <c:pt idx="0">
                  <c:v>aws-foundation-security</c:v>
                </c:pt>
              </c:strCache>
            </c:strRef>
          </c:tx>
          <c:spPr>
            <a:solidFill>
              <a:srgbClr val="FF6B7A"/>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Sheet1!$G$2:$G$9</c:f>
              <c:numCache>
                <c:formatCode>General</c:formatCode>
                <c:ptCount val="8"/>
                <c:pt idx="0">
                  <c:v>8241.0</c:v>
                </c:pt>
                <c:pt idx="1">
                  <c:v>7426.2</c:v>
                </c:pt>
                <c:pt idx="2">
                  <c:v>8018.5</c:v>
                </c:pt>
                <c:pt idx="3">
                  <c:v>7845.0</c:v>
                </c:pt>
                <c:pt idx="4">
                  <c:v>8595.8</c:v>
                </c:pt>
                <c:pt idx="5">
                  <c:v>8586.6</c:v>
                </c:pt>
                <c:pt idx="6">
                  <c:v>8752.4</c:v>
                </c:pt>
                <c:pt idx="7">
                  <c:v>8937.9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CE4D-4C1C-860D-D1AF721278F6}"/>
            </c:ext>
          </c:extLst>
        </c:ser>
        <c:ser>
          <c:idx val="6"/>
          <c:order val="6"/>
          <c:tx>
            <c:strRef>
              <c:f>Sheet1!$H$1</c:f>
              <c:strCache>
                <c:ptCount val="1"/>
                <c:pt idx="0">
                  <c:v>cloudops-network</c:v>
                </c:pt>
              </c:strCache>
            </c:strRef>
          </c:tx>
          <c:spPr>
            <a:solidFill>
              <a:srgbClr val="2AD38C"/>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Sheet1!$H$2:$H$9</c:f>
              <c:numCache>
                <c:formatCode>General</c:formatCode>
                <c:ptCount val="8"/>
                <c:pt idx="0">
                  <c:v>6243.5</c:v>
                </c:pt>
                <c:pt idx="1">
                  <c:v>5752.8</c:v>
                </c:pt>
                <c:pt idx="2">
                  <c:v>7021.8</c:v>
                </c:pt>
                <c:pt idx="3">
                  <c:v>6897.9</c:v>
                </c:pt>
                <c:pt idx="4">
                  <c:v>7152.3</c:v>
                </c:pt>
                <c:pt idx="5">
                  <c:v>7100.4</c:v>
                </c:pt>
                <c:pt idx="6">
                  <c:v>7373.1</c:v>
                </c:pt>
                <c:pt idx="7">
                  <c:v>7424.1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CE4D-4C1C-860D-D1AF721278F6}"/>
            </c:ext>
          </c:extLst>
        </c:ser>
        <c:ser>
          <c:idx val="7"/>
          <c:order val="7"/>
          <c:tx>
            <c:strRef>
              <c:f>Sheet1!$I$1</c:f>
              <c:strCache>
                <c:ptCount val="1"/>
                <c:pt idx="0">
                  <c:v>aws-foundation-sharedservices</c:v>
                </c:pt>
              </c:strCache>
            </c:strRef>
          </c:tx>
          <c:spPr>
            <a:solidFill>
              <a:srgbClr val="FFB84D"/>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Sheet1!$I$2:$I$9</c:f>
              <c:numCache>
                <c:formatCode>General</c:formatCode>
                <c:ptCount val="8"/>
                <c:pt idx="0">
                  <c:v>6557.2</c:v>
                </c:pt>
                <c:pt idx="1">
                  <c:v>5506.8</c:v>
                </c:pt>
                <c:pt idx="2">
                  <c:v>5797.0</c:v>
                </c:pt>
                <c:pt idx="3">
                  <c:v>5754.8</c:v>
                </c:pt>
                <c:pt idx="4">
                  <c:v>6022.6</c:v>
                </c:pt>
                <c:pt idx="5">
                  <c:v>6015.6</c:v>
                </c:pt>
                <c:pt idx="6">
                  <c:v>6067.4</c:v>
                </c:pt>
                <c:pt idx="7">
                  <c:v>6046.2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CE4D-4C1C-860D-D1AF721278F6}"/>
            </c:ext>
          </c:extLst>
        </c:ser>
        <c:ser>
          <c:idx val="8"/>
          <c:order val="8"/>
          <c:tx>
            <c:strRef>
              <c:f>Sheet1!$J$1</c:f>
              <c:strCache>
                <c:ptCount val="1"/>
                <c:pt idx="0">
                  <c:v>All other</c:v>
                </c:pt>
              </c:strCache>
            </c:strRef>
          </c:tx>
          <c:spPr>
            <a:solidFill>
              <a:srgbClr val="6C8CFF"/>
            </a:solidFill>
          </c:spPr>
          <c:invertIfNegative val="0"/>
          <c:cat>
            <c:strRef>
              <c:f>Sheet1!$A$2:$A$9</c:f>
              <c:strCache>
                <c:ptCount val="8"/>
                <c:pt idx="0">
                  <c:v>Jan</c:v>
                </c:pt>
                <c:pt idx="1">
                  <c:v>Feb</c:v>
                </c:pt>
                <c:pt idx="2">
                  <c:v>Mar</c:v>
                </c:pt>
                <c:pt idx="3">
                  <c:v>Apr</c:v>
                </c:pt>
                <c:pt idx="4">
                  <c:v>May</c:v>
                </c:pt>
                <c:pt idx="5">
                  <c:v>Jun</c:v>
                </c:pt>
                <c:pt idx="6">
                  <c:v>Jul</c:v>
                </c:pt>
                <c:pt idx="7">
                  <c:v>Aug</c:v>
                </c:pt>
              </c:strCache>
            </c:strRef>
          </c:cat>
          <c:val>
            <c:numRef>
              <c:f>Sheet1!$J$2:$J$9</c:f>
              <c:numCache>
                <c:formatCode>General</c:formatCode>
                <c:ptCount val="8"/>
                <c:pt idx="0">
                  <c:v>6260.2</c:v>
                </c:pt>
                <c:pt idx="1">
                  <c:v>7003.2</c:v>
                </c:pt>
                <c:pt idx="2">
                  <c:v>12141.2</c:v>
                </c:pt>
                <c:pt idx="3">
                  <c:v>5862.1</c:v>
                </c:pt>
                <c:pt idx="4">
                  <c:v>5790.1</c:v>
                </c:pt>
                <c:pt idx="5">
                  <c:v>7274.4</c:v>
                </c:pt>
                <c:pt idx="6">
                  <c:v>-6323.6</c:v>
                </c:pt>
                <c:pt idx="7">
                  <c:v>11770.9</c:v>
                </c:pt>
              </c:numCache>
            </c:numRef>
          </c:val>
          <c:extLst>
            <c:ext xmlns:c16="http://schemas.microsoft.com/office/drawing/2014/chart" uri="{C3380CC4-5D6E-409C-BE32-E72D297353CC}">
              <c16:uniqueId val="{00000008-CE4D-4C1C-860D-D1AF721278F6}"/>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EC2 - Compute</c:v>
                </c:pt>
              </c:strCache>
            </c:strRef>
          </c:tx>
          <c:spPr>
            <a:solidFill>
              <a:srgbClr val="2F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31180.7</c:v>
                </c:pt>
                <c:pt idx="1">
                  <c:v>28236.7</c:v>
                </c:pt>
                <c:pt idx="2">
                  <c:v>32994.9</c:v>
                </c:pt>
                <c:pt idx="3">
                  <c:v>32045.9</c:v>
                </c:pt>
                <c:pt idx="4">
                  <c:v>35082.6</c:v>
                </c:pt>
                <c:pt idx="5">
                  <c:v>33427.9</c:v>
                </c:pt>
                <c:pt idx="6">
                  <c:v>35426.3</c:v>
                </c:pt>
                <c:pt idx="7">
                  <c:v>36296.6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694-4DCC-968C-E38A47F5277F}"/>
            </c:ext>
          </c:extLst>
        </c:ser>
        <c:ser>
          <c:idx val="1"/>
          <c:order val="1"/>
          <c:tx>
            <c:strRef>
              <c:f>Sheet1!$C$1</c:f>
              <c:strCache>
                <c:ptCount val="1"/>
                <c:pt idx="0">
                  <c:v>S3 - Glacier Deep Archive</c:v>
                </c:pt>
              </c:strCache>
            </c:strRef>
          </c:tx>
          <c:spPr>
            <a:solidFill>
              <a:srgbClr val="3DD9EB"/>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Sheet1!$C$2:$C$9</c:f>
              <c:numCache>
                <c:formatCode>General</c:formatCode>
                <c:ptCount val="8"/>
                <c:pt idx="0">
                  <c:v>0</c:v>
                </c:pt>
                <c:pt idx="1">
                  <c:v>10.2</c:v>
                </c:pt>
                <c:pt idx="2">
                  <c:v>942.3</c:v>
                </c:pt>
                <c:pt idx="3">
                  <c:v>1640.3</c:v>
                </c:pt>
                <c:pt idx="4">
                  <c:v>3099.7</c:v>
                </c:pt>
                <c:pt idx="5">
                  <c:v>5289.1</c:v>
                </c:pt>
                <c:pt idx="6">
                  <c:v>7425.0</c:v>
                </c:pt>
                <c:pt idx="7">
                  <c:v>10586.0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694-4DCC-968C-E38A47F5277F}"/>
            </c:ext>
          </c:extLst>
        </c:ser>
        <c:ser>
          <c:idx val="2"/>
          <c:order val="2"/>
          <c:tx>
            <c:strRef>
              <c:f>Sheet1!$D$1</c:f>
              <c:strCache>
                <c:ptCount val="1"/>
                <c:pt idx="0">
                  <c:v>Business Support</c:v>
                </c:pt>
              </c:strCache>
            </c:strRef>
          </c:tx>
          <c:spPr>
            <a:solidFill>
              <a:srgbClr val="FF9F43"/>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Sheet1!$D$2:$D$9</c:f>
              <c:numCache>
                <c:formatCode>General</c:formatCode>
                <c:ptCount val="8"/>
                <c:pt idx="0">
                  <c:v>3876.9</c:v>
                </c:pt>
                <c:pt idx="1">
                  <c:v>4269.0</c:v>
                </c:pt>
                <c:pt idx="2">
                  <c:v>4581.2</c:v>
                </c:pt>
                <c:pt idx="3">
                  <c:v>4108.0</c:v>
                </c:pt>
                <c:pt idx="4">
                  <c:v>4478.1</c:v>
                </c:pt>
                <c:pt idx="5">
                  <c:v>4839.1</c:v>
                </c:pt>
                <c:pt idx="6">
                  <c:v>5893.5</c:v>
                </c:pt>
                <c:pt idx="7">
                  <c:v>7237.8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694-4DCC-968C-E38A47F5277F}"/>
            </c:ext>
          </c:extLst>
        </c:ser>
        <c:ser>
          <c:idx val="3"/>
          <c:order val="3"/>
          <c:tx>
            <c:strRef>
              <c:f>Sheet1!$E$1</c:f>
              <c:strCache>
                <c:ptCount val="1"/>
                <c:pt idx="0">
                  <c:v>CloudWatch Log Groups</c:v>
                </c:pt>
              </c:strCache>
            </c:strRef>
          </c:tx>
          <c:spPr>
            <a:solidFill>
              <a:srgbClr val="B07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Sheet1!$E$2:$E$9</c:f>
              <c:numCache>
                <c:formatCode>General</c:formatCode>
                <c:ptCount val="8"/>
                <c:pt idx="0">
                  <c:v>2791.6</c:v>
                </c:pt>
                <c:pt idx="1">
                  <c:v>2486.9</c:v>
                </c:pt>
                <c:pt idx="2">
                  <c:v>2914.1</c:v>
                </c:pt>
                <c:pt idx="3">
                  <c:v>2895.9</c:v>
                </c:pt>
                <c:pt idx="4">
                  <c:v>3040.1</c:v>
                </c:pt>
                <c:pt idx="5">
                  <c:v>3061.8</c:v>
                </c:pt>
                <c:pt idx="6">
                  <c:v>2991.1</c:v>
                </c:pt>
                <c:pt idx="7">
                  <c:v>6150.7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C694-4DCC-968C-E38A47F5277F}"/>
            </c:ext>
          </c:extLst>
        </c:ser>
        <c:ser>
          <c:idx val="4"/>
          <c:order val="4"/>
          <c:tx>
            <c:strRef>
              <c:f>Sheet1!$F$1</c:f>
              <c:strCache>
                <c:ptCount val="1"/>
                <c:pt idx="0">
                  <c:v>VPC - Transit Gateway</c:v>
                </c:pt>
              </c:strCache>
            </c:strRef>
          </c:tx>
          <c:spPr>
            <a:solidFill>
              <a:srgbClr val="3DDC97"/>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Sheet1!$F$2:$F$9</c:f>
              <c:numCache>
                <c:formatCode>General</c:formatCode>
                <c:ptCount val="8"/>
                <c:pt idx="0">
                  <c:v>3925.7</c:v>
                </c:pt>
                <c:pt idx="1">
                  <c:v>3570.9</c:v>
                </c:pt>
                <c:pt idx="2">
                  <c:v>3964.0</c:v>
                </c:pt>
                <c:pt idx="3">
                  <c:v>3878.0</c:v>
                </c:pt>
                <c:pt idx="4">
                  <c:v>4428.7</c:v>
                </c:pt>
                <c:pt idx="5">
                  <c:v>4573.6</c:v>
                </c:pt>
                <c:pt idx="6">
                  <c:v>4657.3</c:v>
                </c:pt>
                <c:pt idx="7">
                  <c:v>4521.8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C694-4DCC-968C-E38A47F5277F}"/>
            </c:ext>
          </c:extLst>
        </c:ser>
        <c:ser>
          <c:idx val="5"/>
          <c:order val="5"/>
          <c:tx>
            <c:strRef>
              <c:f>Sheet1!$G$1</c:f>
              <c:strCache>
                <c:ptCount val="1"/>
                <c:pt idx="0">
                  <c:v>RDS - Compute</c:v>
                </c:pt>
              </c:strCache>
            </c:strRef>
          </c:tx>
          <c:spPr>
            <a:solidFill>
              <a:srgbClr val="FF6B7A"/>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Sheet1!$G$2:$G$9</c:f>
              <c:numCache>
                <c:formatCode>General</c:formatCode>
                <c:ptCount val="8"/>
                <c:pt idx="0">
                  <c:v>4939.7</c:v>
                </c:pt>
                <c:pt idx="1">
                  <c:v>3272.2</c:v>
                </c:pt>
                <c:pt idx="2">
                  <c:v>3522.0</c:v>
                </c:pt>
                <c:pt idx="3">
                  <c:v>3408.1</c:v>
                </c:pt>
                <c:pt idx="4">
                  <c:v>3521.7</c:v>
                </c:pt>
                <c:pt idx="5">
                  <c:v>4011.4</c:v>
                </c:pt>
                <c:pt idx="6">
                  <c:v>4355.0</c:v>
                </c:pt>
                <c:pt idx="7">
                  <c:v>4355.0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C694-4DCC-968C-E38A47F5277F}"/>
            </c:ext>
          </c:extLst>
        </c:ser>
        <c:ser>
          <c:idx val="6"/>
          <c:order val="6"/>
          <c:tx>
            <c:strRef>
              <c:f>Sheet1!$H$1</c:f>
              <c:strCache>
                <c:ptCount val="1"/>
                <c:pt idx="0">
                  <c:v>Direct Connect - Port Hours</c:v>
                </c:pt>
              </c:strCache>
            </c:strRef>
          </c:tx>
          <c:spPr>
            <a:solidFill>
              <a:srgbClr val="2AD38C"/>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Sheet1!$H$2:$H$9</c:f>
              <c:numCache>
                <c:formatCode>General</c:formatCode>
                <c:ptCount val="8"/>
                <c:pt idx="0">
                  <c:v>3794.4</c:v>
                </c:pt>
                <c:pt idx="1">
                  <c:v>3427.2</c:v>
                </c:pt>
                <c:pt idx="2">
                  <c:v>3794.4</c:v>
                </c:pt>
                <c:pt idx="3">
                  <c:v>3672.0</c:v>
                </c:pt>
                <c:pt idx="4">
                  <c:v>3794.4</c:v>
                </c:pt>
                <c:pt idx="5">
                  <c:v>3672.0</c:v>
                </c:pt>
                <c:pt idx="6">
                  <c:v>3794.4</c:v>
                </c:pt>
                <c:pt idx="7">
                  <c:v>3794.4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C694-4DCC-968C-E38A47F5277F}"/>
            </c:ext>
          </c:extLst>
        </c:ser>
        <c:ser>
          <c:idx val="7"/>
          <c:order val="7"/>
          <c:tx>
            <c:strRef>
              <c:f>Sheet1!$I$1</c:f>
              <c:strCache>
                <c:ptCount val="1"/>
                <c:pt idx="0">
                  <c:v>S3 - API and Storage</c:v>
                </c:pt>
              </c:strCache>
            </c:strRef>
          </c:tx>
          <c:spPr>
            <a:solidFill>
              <a:srgbClr val="FFB84D"/>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Sheet1!$I$2:$I$9</c:f>
              <c:numCache>
                <c:formatCode>General</c:formatCode>
                <c:ptCount val="8"/>
                <c:pt idx="0">
                  <c:v>2640.1</c:v>
                </c:pt>
                <c:pt idx="1">
                  <c:v>14740.6</c:v>
                </c:pt>
                <c:pt idx="2">
                  <c:v>11198.8</c:v>
                </c:pt>
                <c:pt idx="3">
                  <c:v>2637.9</c:v>
                </c:pt>
                <c:pt idx="4">
                  <c:v>3130.2</c:v>
                </c:pt>
                <c:pt idx="5">
                  <c:v>3335.1</c:v>
                </c:pt>
                <c:pt idx="6">
                  <c:v>3823.4</c:v>
                </c:pt>
                <c:pt idx="7">
                  <c:v>4738.1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C694-4DCC-968C-E38A47F5277F}"/>
            </c:ext>
          </c:extLst>
        </c:ser>
        <c:ser>
          <c:idx val="8"/>
          <c:order val="8"/>
          <c:tx>
            <c:strRef>
              <c:f>Sheet1!$J$1</c:f>
              <c:strCache>
                <c:ptCount val="1"/>
                <c:pt idx="0">
                  <c:v>All other</c:v>
                </c:pt>
              </c:strCache>
            </c:strRef>
          </c:tx>
          <c:spPr>
            <a:solidFill>
              <a:srgbClr val="6C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Sheet1!$J$2:$J$9</c:f>
              <c:numCache>
                <c:formatCode>General</c:formatCode>
                <c:ptCount val="8"/>
                <c:pt idx="0">
                  <c:v>23976.2</c:v>
                </c:pt>
                <c:pt idx="1">
                  <c:v>22568.8</c:v>
                </c:pt>
                <c:pt idx="2">
                  <c:v>31948.7</c:v>
                </c:pt>
                <c:pt idx="3">
                  <c:v>27643.0</c:v>
                </c:pt>
                <c:pt idx="4">
                  <c:v>22486.9</c:v>
                </c:pt>
                <c:pt idx="5">
                  <c:v>24371.2</c:v>
                </c:pt>
                <c:pt idx="6">
                  <c:v>8463.7</c:v>
                </c:pt>
                <c:pt idx="7">
                  <c:v>28852.5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C694-4DCC-968C-E38A47F5277F}"/>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datacloud</c:v>
                </c:pt>
              </c:strCache>
            </c:strRef>
          </c:tx>
          <c:spPr>
            <a:solidFill>
              <a:srgbClr val="2F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47462</c:v>
                </c:pt>
                <c:pt idx="1">
                  <c:v>49198</c:v>
                </c:pt>
                <c:pt idx="2">
                  <c:v>54536</c:v>
                </c:pt>
                <c:pt idx="3">
                  <c:v>50235</c:v>
                </c:pt>
                <c:pt idx="4">
                  <c:v>43925</c:v>
                </c:pt>
                <c:pt idx="5">
                  <c:v>44390</c:v>
                </c:pt>
                <c:pt idx="6">
                  <c:v>49118</c:v>
                </c:pt>
                <c:pt idx="7">
                  <c:v>50888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6AC-4CD9-89F0-D0FAF12DA404}"/>
            </c:ext>
          </c:extLst>
        </c:ser>
        <c:ser>
          <c:idx val="1"/>
          <c:order val="1"/>
          <c:tx>
            <c:strRef>
              <c:f>Sheet1!$C$1</c:f>
              <c:strCache>
                <c:ptCount val="1"/>
                <c:pt idx="0">
                  <c:v>sap</c:v>
                </c:pt>
              </c:strCache>
            </c:strRef>
          </c:tx>
          <c:spPr>
            <a:solidFill>
              <a:srgbClr val="3DD9EB"/>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Sheet1!$C$2:$C$9</c:f>
              <c:numCache>
                <c:formatCode>General</c:formatCode>
                <c:ptCount val="8"/>
                <c:pt idx="0">
                  <c:v>42266</c:v>
                </c:pt>
                <c:pt idx="1">
                  <c:v>39098</c:v>
                </c:pt>
                <c:pt idx="2">
                  <c:v>41546</c:v>
                </c:pt>
                <c:pt idx="3">
                  <c:v>40825</c:v>
                </c:pt>
                <c:pt idx="4">
                  <c:v>46601</c:v>
                </c:pt>
                <c:pt idx="5">
                  <c:v>42665</c:v>
                </c:pt>
                <c:pt idx="6">
                  <c:v>40925</c:v>
                </c:pt>
                <c:pt idx="7">
                  <c:v>41324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6AC-4CD9-89F0-D0FAF12DA404}"/>
            </c:ext>
          </c:extLst>
        </c:ser>
        <c:ser>
          <c:idx val="2"/>
          <c:order val="2"/>
          <c:tx>
            <c:strRef>
              <c:f>Sheet1!$D$1</c:f>
              <c:strCache>
                <c:ptCount val="1"/>
                <c:pt idx="0">
                  <c:v>cloudit</c:v>
                </c:pt>
              </c:strCache>
            </c:strRef>
          </c:tx>
          <c:spPr>
            <a:solidFill>
              <a:srgbClr val="FF9F43"/>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Sheet1!$D$2:$D$9</c:f>
              <c:numCache>
                <c:formatCode>General</c:formatCode>
                <c:ptCount val="8"/>
                <c:pt idx="0">
                  <c:v>30915</c:v>
                </c:pt>
                <c:pt idx="1">
                  <c:v>24681</c:v>
                </c:pt>
                <c:pt idx="2">
                  <c:v>40730</c:v>
                </c:pt>
                <c:pt idx="3">
                  <c:v>29196</c:v>
                </c:pt>
                <c:pt idx="4">
                  <c:v>28615</c:v>
                </c:pt>
                <c:pt idx="5">
                  <c:v>28585</c:v>
                </c:pt>
                <c:pt idx="6">
                  <c:v>33421</c:v>
                </c:pt>
                <c:pt idx="7">
                  <c:v>32087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6AC-4CD9-89F0-D0FAF12DA404}"/>
            </c:ext>
          </c:extLst>
        </c:ser>
        <c:ser>
          <c:idx val="3"/>
          <c:order val="3"/>
          <c:tx>
            <c:strRef>
              <c:f>Sheet1!$E$1</c:f>
              <c:strCache>
                <c:ptCount val="1"/>
                <c:pt idx="0">
                  <c:v>aifactory</c:v>
                </c:pt>
              </c:strCache>
            </c:strRef>
          </c:tx>
          <c:spPr>
            <a:solidFill>
              <a:srgbClr val="B07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Sheet1!$E$2:$E$9</c:f>
              <c:numCache>
                <c:formatCode>General</c:formatCode>
                <c:ptCount val="8"/>
                <c:pt idx="0">
                  <c:v>854</c:v>
                </c:pt>
                <c:pt idx="1">
                  <c:v>3478</c:v>
                </c:pt>
                <c:pt idx="2">
                  <c:v>12632</c:v>
                </c:pt>
                <c:pt idx="3">
                  <c:v>11676</c:v>
                </c:pt>
                <c:pt idx="4">
                  <c:v>13656</c:v>
                </c:pt>
                <c:pt idx="5">
                  <c:v>26476</c:v>
                </c:pt>
                <c:pt idx="6">
                  <c:v>24531</c:v>
                </c:pt>
                <c:pt idx="7">
                  <c:v>23115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56AC-4CD9-89F0-D0FAF12DA404}"/>
            </c:ext>
          </c:extLst>
        </c:ser>
        <c:ser>
          <c:idx val="4"/>
          <c:order val="4"/>
          <c:tx>
            <c:strRef>
              <c:f>Sheet1!$F$1</c:f>
              <c:strCache>
                <c:ptCount val="1"/>
                <c:pt idx="0">
                  <c:v>other</c:v>
                </c:pt>
              </c:strCache>
            </c:strRef>
          </c:tx>
          <c:spPr>
            <a:solidFill>
              <a:srgbClr val="3DDC97"/>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Sheet1!$F$2:$F$9</c:f>
              <c:numCache>
                <c:formatCode>General</c:formatCode>
                <c:ptCount val="8"/>
                <c:pt idx="0">
                  <c:v>4371</c:v>
                </c:pt>
                <c:pt idx="1">
                  <c:v>5240</c:v>
                </c:pt>
                <c:pt idx="2">
                  <c:v>5614</c:v>
                </c:pt>
                <c:pt idx="3">
                  <c:v>5760</c:v>
                </c:pt>
                <c:pt idx="4">
                  <c:v>8681</c:v>
                </c:pt>
                <c:pt idx="5">
                  <c:v>18094</c:v>
                </c:pt>
                <c:pt idx="6">
                  <c:v>22410</c:v>
                </c:pt>
                <c:pt idx="7">
                  <c:v>13993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56AC-4CD9-89F0-D0FAF12DA404}"/>
            </c:ext>
          </c:extLst>
        </c:ser>
        <c:ser>
          <c:idx val="5"/>
          <c:order val="5"/>
          <c:tx>
            <c:strRef>
              <c:f>Sheet1!$G$1</c:f>
              <c:strCache>
                <c:ptCount val="1"/>
                <c:pt idx="0">
                  <c:v>actuary</c:v>
                </c:pt>
              </c:strCache>
            </c:strRef>
          </c:tx>
          <c:spPr>
            <a:solidFill>
              <a:srgbClr val="FF6B7A"/>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Sheet1!$G$2:$G$9</c:f>
              <c:numCache>
                <c:formatCode>General</c:formatCode>
                <c:ptCount val="8"/>
                <c:pt idx="0">
                  <c:v>15102</c:v>
                </c:pt>
                <c:pt idx="1">
                  <c:v>4959</c:v>
                </c:pt>
                <c:pt idx="2">
                  <c:v>3549</c:v>
                </c:pt>
                <c:pt idx="3">
                  <c:v>5341</c:v>
                </c:pt>
                <c:pt idx="4">
                  <c:v>4672</c:v>
                </c:pt>
                <c:pt idx="5">
                  <c:v>2733</c:v>
                </c:pt>
                <c:pt idx="6">
                  <c:v>4058</c:v>
                </c:pt>
                <c:pt idx="7">
                  <c:v>4472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56AC-4CD9-89F0-D0FAF12DA404}"/>
            </c:ext>
          </c:extLst>
        </c:ser>
        <c:ser>
          <c:idx val="6"/>
          <c:order val="6"/>
          <c:tx>
            <c:strRef>
              <c:f>Sheet1!$H$1</c:f>
              <c:strCache>
                <c:ptCount val="1"/>
                <c:pt idx="0">
                  <c:v>Risk Agility</c:v>
                </c:pt>
              </c:strCache>
            </c:strRef>
          </c:tx>
          <c:spPr>
            <a:solidFill>
              <a:srgbClr val="2AD38C"/>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Sheet1!$H$2:$H$9</c:f>
              <c:numCache>
                <c:formatCode>General</c:formatCode>
                <c:ptCount val="8"/>
                <c:pt idx="0">
                  <c:v>13063</c:v>
                </c:pt>
                <c:pt idx="1">
                  <c:v>5274</c:v>
                </c:pt>
                <c:pt idx="2">
                  <c:v>2617</c:v>
                </c:pt>
                <c:pt idx="3">
                  <c:v>5768</c:v>
                </c:pt>
                <c:pt idx="4">
                  <c:v>2842</c:v>
                </c:pt>
                <c:pt idx="5">
                  <c:v>1031</c:v>
                </c:pt>
                <c:pt idx="6">
                  <c:v>1032</c:v>
                </c:pt>
                <c:pt idx="7">
                  <c:v>1032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56AC-4CD9-89F0-D0FAF12DA404}"/>
            </c:ext>
          </c:extLst>
        </c:ser>
        <c:ser>
          <c:idx val="7"/>
          <c:order val="7"/>
          <c:tx>
            <c:strRef>
              <c:f>Sheet1!$I$1</c:f>
              <c:strCache>
                <c:ptCount val="1"/>
                <c:pt idx="0">
                  <c:v>itsec</c:v>
                </c:pt>
              </c:strCache>
            </c:strRef>
          </c:tx>
          <c:spPr>
            <a:solidFill>
              <a:srgbClr val="FFB84D"/>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Sheet1!$I$2:$I$9</c:f>
              <c:numCache>
                <c:formatCode>General</c:formatCode>
                <c:ptCount val="8"/>
                <c:pt idx="0">
                  <c:v>2082</c:v>
                </c:pt>
                <c:pt idx="1">
                  <c:v>1734</c:v>
                </c:pt>
                <c:pt idx="2">
                  <c:v>1908</c:v>
                </c:pt>
                <c:pt idx="3">
                  <c:v>1898</c:v>
                </c:pt>
                <c:pt idx="4">
                  <c:v>2047</c:v>
                </c:pt>
                <c:pt idx="5">
                  <c:v>2059</c:v>
                </c:pt>
                <c:pt idx="6">
                  <c:v>2221</c:v>
                </c:pt>
                <c:pt idx="7">
                  <c:v>2304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56AC-4CD9-89F0-D0FAF12DA404}"/>
            </c:ext>
          </c:extLst>
        </c:ser>
        <c:ser>
          <c:idx val="8"/>
          <c:order val="8"/>
          <c:tx>
            <c:strRef>
              <c:f>Sheet1!$J$1</c:f>
              <c:strCache>
                <c:ptCount val="1"/>
                <c:pt idx="0">
                  <c:v>All other</c:v>
                </c:pt>
              </c:strCache>
            </c:strRef>
          </c:tx>
          <c:spPr>
            <a:solidFill>
              <a:srgbClr val="6C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Sheet1!$J$2:$J$9</c:f>
              <c:numCache>
                <c:formatCode>General</c:formatCode>
                <c:ptCount val="8"/>
                <c:pt idx="0">
                  <c:v>875</c:v>
                </c:pt>
                <c:pt idx="1">
                  <c:v>2080</c:v>
                </c:pt>
                <c:pt idx="2">
                  <c:v>2067</c:v>
                </c:pt>
                <c:pt idx="3">
                  <c:v>1879</c:v>
                </c:pt>
                <c:pt idx="4">
                  <c:v>1224</c:v>
                </c:pt>
                <c:pt idx="5">
                  <c:v>1373</c:v>
                </c:pt>
                <c:pt idx="6">
                  <c:v>9201</c:v>
                </c:pt>
                <c:pt idx="7">
                  <c:v>11025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56AC-4CD9-89F0-D0FAF12DA404}"/>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58546.1</c:v>
                </c:pt>
                <c:pt idx="1">
                  <c:v>48277.0</c:v>
                </c:pt>
                <c:pt idx="2">
                  <c:v>52579.3</c:v>
                </c:pt>
                <c:pt idx="3">
                  <c:v>51502.8</c:v>
                </c:pt>
                <c:pt idx="4">
                  <c:v>57466.0</c:v>
                </c:pt>
                <c:pt idx="5">
                  <c:v>52188.5</c:v>
                </c:pt>
                <c:pt idx="6">
                  <c:v>53314.3</c:v>
                </c:pt>
                <c:pt idx="7">
                  <c:v>44488.2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CC3-4019-A2DB-D7A42539E9B5}"/>
            </c:ext>
          </c:extLst>
        </c:ser>
        <c:ser>
          <c:idx val="1"/>
          <c:order val="1"/>
          <c:tx>
            <c:strRef>
              <c:f>Sheet1!$C$1</c:f>
              <c:strCache>
                <c:ptCount val="1"/>
                <c:pt idx="0">
                  <c:v>Storage</c:v>
                </c:pt>
              </c:strCache>
            </c:strRef>
          </c:tx>
          <c:spPr>
            <a:solidFill>
              <a:srgbClr val="3DD9EB"/>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Sheet1!$C$2:$C$9</c:f>
              <c:numCache>
                <c:formatCode>General</c:formatCode>
                <c:ptCount val="8"/>
                <c:pt idx="0">
                  <c:v>24139.4</c:v>
                </c:pt>
                <c:pt idx="1">
                  <c:v>22951.0</c:v>
                </c:pt>
                <c:pt idx="2">
                  <c:v>22458.1</c:v>
                </c:pt>
                <c:pt idx="3">
                  <c:v>22680.5</c:v>
                </c:pt>
                <c:pt idx="4">
                  <c:v>24615.2</c:v>
                </c:pt>
                <c:pt idx="5">
                  <c:v>25022.5</c:v>
                </c:pt>
                <c:pt idx="6">
                  <c:v>26364.2</c:v>
                </c:pt>
                <c:pt idx="7">
                  <c:v>27443.5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CC3-4019-A2DB-D7A42539E9B5}"/>
            </c:ext>
          </c:extLst>
        </c:ser>
        <c:ser>
          <c:idx val="2"/>
          <c:order val="2"/>
          <c:tx>
            <c:strRef>
              <c:f>Sheet1!$D$1</c:f>
              <c:strCache>
                <c:ptCount val="1"/>
                <c:pt idx="0">
                  <c:v>GitHub</c:v>
                </c:pt>
              </c:strCache>
            </c:strRef>
          </c:tx>
          <c:spPr>
            <a:solidFill>
              <a:srgbClr val="FF9F43"/>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Sheet1!$D$2:$D$9</c:f>
              <c:numCache>
                <c:formatCode>General</c:formatCode>
                <c:ptCount val="8"/>
                <c:pt idx="0">
                  <c:v>2778.5</c:v>
                </c:pt>
                <c:pt idx="1">
                  <c:v>3618.0</c:v>
                </c:pt>
                <c:pt idx="2">
                  <c:v>4319.1</c:v>
                </c:pt>
                <c:pt idx="3">
                  <c:v>4079.6</c:v>
                </c:pt>
                <c:pt idx="4">
                  <c:v>6467.0</c:v>
                </c:pt>
                <c:pt idx="5">
                  <c:v>16654.2</c:v>
                </c:pt>
                <c:pt idx="6">
                  <c:v>19259.8</c:v>
                </c:pt>
                <c:pt idx="7">
                  <c:v>24027.9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CC3-4019-A2DB-D7A42539E9B5}"/>
            </c:ext>
          </c:extLst>
        </c:ser>
        <c:ser>
          <c:idx val="3"/>
          <c:order val="3"/>
          <c:tx>
            <c:strRef>
              <c:f>Sheet1!$E$1</c:f>
              <c:strCache>
                <c:ptCount val="1"/>
                <c:pt idx="0">
                  <c:v>Virtual Network</c:v>
                </c:pt>
              </c:strCache>
            </c:strRef>
          </c:tx>
          <c:spPr>
            <a:solidFill>
              <a:srgbClr val="B07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Sheet1!$E$2:$E$9</c:f>
              <c:numCache>
                <c:formatCode>General</c:formatCode>
                <c:ptCount val="8"/>
                <c:pt idx="0">
                  <c:v>12726.2</c:v>
                </c:pt>
                <c:pt idx="1">
                  <c:v>12145.0</c:v>
                </c:pt>
                <c:pt idx="2">
                  <c:v>14087.6</c:v>
                </c:pt>
                <c:pt idx="3">
                  <c:v>15311.8</c:v>
                </c:pt>
                <c:pt idx="4">
                  <c:v>18338.3</c:v>
                </c:pt>
                <c:pt idx="5">
                  <c:v>18565.0</c:v>
                </c:pt>
                <c:pt idx="6">
                  <c:v>21999.6</c:v>
                </c:pt>
                <c:pt idx="7">
                  <c:v>20882.8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0CC3-4019-A2DB-D7A42539E9B5}"/>
            </c:ext>
          </c:extLst>
        </c:ser>
        <c:ser>
          <c:idx val="4"/>
          <c:order val="4"/>
          <c:tx>
            <c:strRef>
              <c:f>Sheet1!$F$1</c:f>
              <c:strCache>
                <c:ptCount val="1"/>
                <c:pt idx="0">
                  <c:v>Other services</c:v>
                </c:pt>
              </c:strCache>
            </c:strRef>
          </c:tx>
          <c:spPr>
            <a:solidFill>
              <a:srgbClr val="3DDC97"/>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Sheet1!$F$2:$F$9</c:f>
              <c:numCache>
                <c:formatCode>General</c:formatCode>
                <c:ptCount val="8"/>
                <c:pt idx="0">
                  <c:v>12983.6</c:v>
                </c:pt>
                <c:pt idx="1">
                  <c:v>13665.0</c:v>
                </c:pt>
                <c:pt idx="2">
                  <c:v>12860.9</c:v>
                </c:pt>
                <c:pt idx="3">
                  <c:v>10010.1</c:v>
                </c:pt>
                <c:pt idx="4">
                  <c:v>14322.0</c:v>
                </c:pt>
                <c:pt idx="5">
                  <c:v>16092.7</c:v>
                </c:pt>
                <c:pt idx="6">
                  <c:v>17360.8</c:v>
                </c:pt>
                <c:pt idx="7">
                  <c:v>17665.1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0CC3-4019-A2DB-D7A42539E9B5}"/>
            </c:ext>
          </c:extLst>
        </c:ser>
        <c:ser>
          <c:idx val="5"/>
          <c:order val="5"/>
          <c:tx>
            <c:strRef>
              <c:f>Sheet1!$G$1</c:f>
              <c:strCache>
                <c:ptCount val="1"/>
                <c:pt idx="0">
                  <c:v>Foundry Models</c:v>
                </c:pt>
              </c:strCache>
            </c:strRef>
          </c:tx>
          <c:spPr>
            <a:solidFill>
              <a:srgbClr val="FF6B7A"/>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Sheet1!$G$2:$G$9</c:f>
              <c:numCache>
                <c:formatCode>General</c:formatCode>
                <c:ptCount val="8"/>
                <c:pt idx="0">
                  <c:v>1353.4</c:v>
                </c:pt>
                <c:pt idx="1">
                  <c:v>2260.0</c:v>
                </c:pt>
                <c:pt idx="2">
                  <c:v>4236.4</c:v>
                </c:pt>
                <c:pt idx="3">
                  <c:v>8369.4</c:v>
                </c:pt>
                <c:pt idx="4">
                  <c:v>11512.8</c:v>
                </c:pt>
                <c:pt idx="5">
                  <c:v>15453.3</c:v>
                </c:pt>
                <c:pt idx="6">
                  <c:v>12291.2</c:v>
                </c:pt>
                <c:pt idx="7">
                  <c:v>10034.9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0CC3-4019-A2DB-D7A42539E9B5}"/>
            </c:ext>
          </c:extLst>
        </c:ser>
        <c:ser>
          <c:idx val="6"/>
          <c:order val="6"/>
          <c:tx>
            <c:strRef>
              <c:f>Sheet1!$H$1</c:f>
              <c:strCache>
                <c:ptCount val="1"/>
                <c:pt idx="0">
                  <c:v>Microsoft Copilot Studio</c:v>
                </c:pt>
              </c:strCache>
            </c:strRef>
          </c:tx>
          <c:spPr>
            <a:solidFill>
              <a:srgbClr val="2AD38C"/>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Sheet1!$H$2:$H$9</c:f>
              <c:numCache>
                <c:formatCode>General</c:formatCode>
                <c:ptCount val="8"/>
                <c:pt idx="0">
                  <c:v>97.4</c:v>
                </c:pt>
                <c:pt idx="1">
                  <c:v>100.0</c:v>
                </c:pt>
                <c:pt idx="2">
                  <c:v>116.9</c:v>
                </c:pt>
                <c:pt idx="3">
                  <c:v>130.4</c:v>
                </c:pt>
                <c:pt idx="4">
                  <c:v>80.2</c:v>
                </c:pt>
                <c:pt idx="5">
                  <c:v>0.2</c:v>
                </c:pt>
                <c:pt idx="6">
                  <c:v>8919.7</c:v>
                </c:pt>
                <c:pt idx="7">
                  <c:v>9906.0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0CC3-4019-A2DB-D7A42539E9B5}"/>
            </c:ext>
          </c:extLst>
        </c:ser>
        <c:ser>
          <c:idx val="7"/>
          <c:order val="7"/>
          <c:tx>
            <c:strRef>
              <c:f>Sheet1!$I$1</c:f>
              <c:strCache>
                <c:ptCount val="1"/>
                <c:pt idx="0">
                  <c:v>Azure Databricks</c:v>
                </c:pt>
              </c:strCache>
            </c:strRef>
          </c:tx>
          <c:spPr>
            <a:solidFill>
              <a:srgbClr val="FFB84D"/>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Sheet1!$I$2:$I$9</c:f>
              <c:numCache>
                <c:formatCode>General</c:formatCode>
                <c:ptCount val="8"/>
                <c:pt idx="0">
                  <c:v>24556.1</c:v>
                </c:pt>
                <c:pt idx="1">
                  <c:v>18645.0</c:v>
                </c:pt>
                <c:pt idx="2">
                  <c:v>22427.9</c:v>
                </c:pt>
                <c:pt idx="3">
                  <c:v>19936.3</c:v>
                </c:pt>
                <c:pt idx="4">
                  <c:v>0</c:v>
                </c:pt>
                <c:pt idx="5">
                  <c:v>0</c:v>
                </c:pt>
                <c:pt idx="6">
                  <c:v>0</c:v>
                </c:pt>
                <c:pt idx="7">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0CC3-4019-A2DB-D7A42539E9B5}"/>
            </c:ext>
          </c:extLst>
        </c:ser>
        <c:ser>
          <c:idx val="8"/>
          <c:order val="8"/>
          <c:tx>
            <c:strRef>
              <c:f>Sheet1!$J$1</c:f>
              <c:strCache>
                <c:ptCount val="1"/>
                <c:pt idx="0">
                  <c:v>All other</c:v>
                </c:pt>
              </c:strCache>
            </c:strRef>
          </c:tx>
          <c:spPr>
            <a:solidFill>
              <a:srgbClr val="6C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Sheet1!$J$2:$J$9</c:f>
              <c:numCache>
                <c:formatCode>General</c:formatCode>
                <c:ptCount val="8"/>
                <c:pt idx="0">
                  <c:v>15408.4</c:v>
                </c:pt>
                <c:pt idx="1">
                  <c:v>17612.0</c:v>
                </c:pt>
                <c:pt idx="2">
                  <c:v>23130.1</c:v>
                </c:pt>
                <c:pt idx="3">
                  <c:v>17217.0</c:v>
                </c:pt>
                <c:pt idx="4">
                  <c:v>18194.9</c:v>
                </c:pt>
                <c:pt idx="5">
                  <c:v>24437.0</c:v>
                </c:pt>
                <c:pt idx="6">
                  <c:v>27397.0</c:v>
                </c:pt>
                <c:pt idx="7">
                  <c:v>25792.7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0CC3-4019-A2DB-D7A42539E9B5}"/>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8001.7</c:v>
                </c:pt>
                <c:pt idx="1">
                  <c:v>8851.0</c:v>
                </c:pt>
                <c:pt idx="2">
                  <c:v>9977.0</c:v>
                </c:pt>
                <c:pt idx="3">
                  <c:v>8938.3</c:v>
                </c:pt>
                <c:pt idx="4">
                  <c:v>10192.3</c:v>
                </c:pt>
                <c:pt idx="5">
                  <c:v>10365.6</c:v>
                </c:pt>
                <c:pt idx="6">
                  <c:v>11078.3</c:v>
                </c:pt>
                <c:pt idx="7">
                  <c:v>11266.7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ED0-4D43-912F-F6134FA2ADF2}"/>
            </c:ext>
          </c:extLst>
        </c:ser>
        <c:ser>
          <c:idx val="1"/>
          <c:order val="1"/>
          <c:tx>
            <c:strRef>
              <c:f>Sheet1!$C$1</c:f>
              <c:strCache>
                <c:ptCount val="1"/>
                <c:pt idx="0">
                  <c:v>Azure Databricks</c:v>
                </c:pt>
              </c:strCache>
            </c:strRef>
          </c:tx>
          <c:spPr>
            <a:solidFill>
              <a:srgbClr val="3DD9EB"/>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Sheet1!$C$2:$C$9</c:f>
              <c:numCache>
                <c:formatCode>General</c:formatCode>
                <c:ptCount val="8"/>
                <c:pt idx="0">
                  <c:v>13661.8</c:v>
                </c:pt>
                <c:pt idx="1">
                  <c:v>14023.0</c:v>
                </c:pt>
                <c:pt idx="2">
                  <c:v>19412.0</c:v>
                </c:pt>
                <c:pt idx="3">
                  <c:v>16633.5</c:v>
                </c:pt>
                <c:pt idx="4">
                  <c:v>0</c:v>
                </c:pt>
                <c:pt idx="5">
                  <c:v>0</c:v>
                </c:pt>
                <c:pt idx="6">
                  <c:v>0</c:v>
                </c:pt>
                <c:pt idx="7">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ED0-4D43-912F-F6134FA2ADF2}"/>
            </c:ext>
          </c:extLst>
        </c:ser>
        <c:ser>
          <c:idx val="2"/>
          <c:order val="2"/>
          <c:tx>
            <c:strRef>
              <c:f>Sheet1!$D$1</c:f>
              <c:strCache>
                <c:ptCount val="1"/>
                <c:pt idx="0">
                  <c:v>Storage</c:v>
                </c:pt>
              </c:strCache>
            </c:strRef>
          </c:tx>
          <c:spPr>
            <a:solidFill>
              <a:srgbClr val="FF9F43"/>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Sheet1!$D$2:$D$9</c:f>
              <c:numCache>
                <c:formatCode>General</c:formatCode>
                <c:ptCount val="8"/>
                <c:pt idx="0">
                  <c:v>5134.3</c:v>
                </c:pt>
                <c:pt idx="1">
                  <c:v>5630.0</c:v>
                </c:pt>
                <c:pt idx="2">
                  <c:v>5747.0</c:v>
                </c:pt>
                <c:pt idx="3">
                  <c:v>5515.4</c:v>
                </c:pt>
                <c:pt idx="4">
                  <c:v>6124.6</c:v>
                </c:pt>
                <c:pt idx="5">
                  <c:v>6488.3</c:v>
                </c:pt>
                <c:pt idx="6">
                  <c:v>6847.1</c:v>
                </c:pt>
                <c:pt idx="7">
                  <c:v>6917.6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ED0-4D43-912F-F6134FA2ADF2}"/>
            </c:ext>
          </c:extLst>
        </c:ser>
        <c:ser>
          <c:idx val="3"/>
          <c:order val="3"/>
          <c:tx>
            <c:strRef>
              <c:f>Sheet1!$E$1</c:f>
              <c:strCache>
                <c:ptCount val="1"/>
                <c:pt idx="0">
                  <c:v>Virtual Network</c:v>
                </c:pt>
              </c:strCache>
            </c:strRef>
          </c:tx>
          <c:spPr>
            <a:solidFill>
              <a:srgbClr val="B07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Sheet1!$E$2:$E$9</c:f>
              <c:numCache>
                <c:formatCode>General</c:formatCode>
                <c:ptCount val="8"/>
                <c:pt idx="0">
                  <c:v>4756.2</c:v>
                </c:pt>
                <c:pt idx="1">
                  <c:v>4988.0</c:v>
                </c:pt>
                <c:pt idx="2">
                  <c:v>5905.3</c:v>
                </c:pt>
                <c:pt idx="3">
                  <c:v>5036.8</c:v>
                </c:pt>
                <c:pt idx="4">
                  <c:v>5067.5</c:v>
                </c:pt>
                <c:pt idx="5">
                  <c:v>6698.6</c:v>
                </c:pt>
                <c:pt idx="6">
                  <c:v>7400.6</c:v>
                </c:pt>
                <c:pt idx="7">
                  <c:v>7093.9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5ED0-4D43-912F-F6134FA2ADF2}"/>
            </c:ext>
          </c:extLst>
        </c:ser>
        <c:ser>
          <c:idx val="4"/>
          <c:order val="4"/>
          <c:tx>
            <c:strRef>
              <c:f>Sheet1!$F$1</c:f>
              <c:strCache>
                <c:ptCount val="1"/>
                <c:pt idx="0">
                  <c:v>Foundry Models</c:v>
                </c:pt>
              </c:strCache>
            </c:strRef>
          </c:tx>
          <c:spPr>
            <a:solidFill>
              <a:srgbClr val="3DDC97"/>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Sheet1!$F$2:$F$9</c:f>
              <c:numCache>
                <c:formatCode>General</c:formatCode>
                <c:ptCount val="8"/>
                <c:pt idx="0">
                  <c:v>1347.1</c:v>
                </c:pt>
                <c:pt idx="1">
                  <c:v>2243.0</c:v>
                </c:pt>
                <c:pt idx="2">
                  <c:v>1274.5</c:v>
                </c:pt>
                <c:pt idx="3">
                  <c:v>4218.1</c:v>
                </c:pt>
                <c:pt idx="4">
                  <c:v>10329.6</c:v>
                </c:pt>
                <c:pt idx="5">
                  <c:v>5770.0</c:v>
                </c:pt>
                <c:pt idx="6">
                  <c:v>6649.8</c:v>
                </c:pt>
                <c:pt idx="7">
                  <c:v>8990.8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5ED0-4D43-912F-F6134FA2ADF2}"/>
            </c:ext>
          </c:extLst>
        </c:ser>
        <c:ser>
          <c:idx val="5"/>
          <c:order val="5"/>
          <c:tx>
            <c:strRef>
              <c:f>Sheet1!$G$1</c:f>
              <c:strCache>
                <c:ptCount val="1"/>
                <c:pt idx="0">
                  <c:v>Foundry Tools</c:v>
                </c:pt>
              </c:strCache>
            </c:strRef>
          </c:tx>
          <c:spPr>
            <a:solidFill>
              <a:srgbClr val="FF6B7A"/>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Sheet1!$G$2:$G$9</c:f>
              <c:numCache>
                <c:formatCode>General</c:formatCode>
                <c:ptCount val="8"/>
                <c:pt idx="0">
                  <c:v>4271.5</c:v>
                </c:pt>
                <c:pt idx="1">
                  <c:v>4337.0</c:v>
                </c:pt>
                <c:pt idx="2">
                  <c:v>3298.7</c:v>
                </c:pt>
                <c:pt idx="3">
                  <c:v>1922.7</c:v>
                </c:pt>
                <c:pt idx="4">
                  <c:v>3305.2</c:v>
                </c:pt>
                <c:pt idx="5">
                  <c:v>5675.5</c:v>
                </c:pt>
                <c:pt idx="6">
                  <c:v>6603.6</c:v>
                </c:pt>
                <c:pt idx="7">
                  <c:v>5935.9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5ED0-4D43-912F-F6134FA2ADF2}"/>
            </c:ext>
          </c:extLst>
        </c:ser>
        <c:ser>
          <c:idx val="6"/>
          <c:order val="6"/>
          <c:tx>
            <c:strRef>
              <c:f>Sheet1!$H$1</c:f>
              <c:strCache>
                <c:ptCount val="1"/>
                <c:pt idx="0">
                  <c:v>All other</c:v>
                </c:pt>
              </c:strCache>
            </c:strRef>
          </c:tx>
          <c:spPr>
            <a:solidFill>
              <a:srgbClr val="2AD38C"/>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Sheet1!$H$2:$H$9</c:f>
              <c:numCache>
                <c:formatCode>General</c:formatCode>
                <c:ptCount val="8"/>
                <c:pt idx="0">
                  <c:v>10289.4</c:v>
                </c:pt>
                <c:pt idx="1">
                  <c:v>9126.0</c:v>
                </c:pt>
                <c:pt idx="2">
                  <c:v>8922.0</c:v>
                </c:pt>
                <c:pt idx="3">
                  <c:v>7970.1</c:v>
                </c:pt>
                <c:pt idx="4">
                  <c:v>8905.2</c:v>
                </c:pt>
                <c:pt idx="5">
                  <c:v>9392.6</c:v>
                </c:pt>
                <c:pt idx="6">
                  <c:v>10538.4</c:v>
                </c:pt>
                <c:pt idx="7">
                  <c:v>10683.1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5ED0-4D43-912F-F6134FA2ADF2}"/>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DataCloud prod</c:v>
                </c:pt>
              </c:strCache>
            </c:strRef>
          </c:tx>
          <c:spPr>
            <a:solidFill>
              <a:srgbClr val="2F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40269.8</c:v>
                </c:pt>
                <c:pt idx="1">
                  <c:v>41870.1</c:v>
                </c:pt>
                <c:pt idx="2">
                  <c:v>48649.0</c:v>
                </c:pt>
                <c:pt idx="3">
                  <c:v>42196.4</c:v>
                </c:pt>
                <c:pt idx="4">
                  <c:v>29318.0</c:v>
                </c:pt>
                <c:pt idx="5">
                  <c:v>33038.9</c:v>
                </c:pt>
                <c:pt idx="6">
                  <c:v>36010.2</c:v>
                </c:pt>
                <c:pt idx="7">
                  <c:v>38518.0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43D-4AB2-98D0-29722C46F801}"/>
            </c:ext>
          </c:extLst>
        </c:ser>
        <c:ser>
          <c:idx val="1"/>
          <c:order val="1"/>
          <c:tx>
            <c:strRef>
              <c:f>Sheet1!$C$1</c:f>
              <c:strCache>
                <c:ptCount val="1"/>
                <c:pt idx="0">
                  <c:v>Solugen Production</c:v>
                </c:pt>
              </c:strCache>
            </c:strRef>
          </c:tx>
          <c:spPr>
            <a:solidFill>
              <a:srgbClr val="3DD9EB"/>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Sheet1!$C$2:$C$9</c:f>
              <c:numCache>
                <c:formatCode>General</c:formatCode>
                <c:ptCount val="8"/>
                <c:pt idx="0">
                  <c:v>854.2</c:v>
                </c:pt>
                <c:pt idx="1">
                  <c:v>702.8</c:v>
                </c:pt>
                <c:pt idx="2">
                  <c:v>620.9</c:v>
                </c:pt>
                <c:pt idx="3">
                  <c:v>1545.5</c:v>
                </c:pt>
                <c:pt idx="4">
                  <c:v>10022.0</c:v>
                </c:pt>
                <c:pt idx="5">
                  <c:v>6749.2</c:v>
                </c:pt>
                <c:pt idx="6">
                  <c:v>8415.9</c:v>
                </c:pt>
                <c:pt idx="7">
                  <c:v>7128.0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43D-4AB2-98D0-29722C46F801}"/>
            </c:ext>
          </c:extLst>
        </c:ser>
        <c:ser>
          <c:idx val="2"/>
          <c:order val="2"/>
          <c:tx>
            <c:strRef>
              <c:f>Sheet1!$D$1</c:f>
              <c:strCache>
                <c:ptCount val="1"/>
                <c:pt idx="0">
                  <c:v>DataCloud dev</c:v>
                </c:pt>
              </c:strCache>
            </c:strRef>
          </c:tx>
          <c:spPr>
            <a:solidFill>
              <a:srgbClr val="FF9F43"/>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Sheet1!$D$2:$D$9</c:f>
              <c:numCache>
                <c:formatCode>General</c:formatCode>
                <c:ptCount val="8"/>
                <c:pt idx="0">
                  <c:v>3242.7</c:v>
                </c:pt>
                <c:pt idx="1">
                  <c:v>2995.2</c:v>
                </c:pt>
                <c:pt idx="2">
                  <c:v>2380.0</c:v>
                </c:pt>
                <c:pt idx="3">
                  <c:v>3985.6</c:v>
                </c:pt>
                <c:pt idx="4">
                  <c:v>1715.0</c:v>
                </c:pt>
                <c:pt idx="5">
                  <c:v>1838.6</c:v>
                </c:pt>
                <c:pt idx="6">
                  <c:v>1579.0</c:v>
                </c:pt>
                <c:pt idx="7">
                  <c:v>1324.0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43D-4AB2-98D0-29722C46F801}"/>
            </c:ext>
          </c:extLst>
        </c:ser>
        <c:ser>
          <c:idx val="3"/>
          <c:order val="3"/>
          <c:tx>
            <c:strRef>
              <c:f>Sheet1!$E$1</c:f>
              <c:strCache>
                <c:ptCount val="1"/>
                <c:pt idx="0">
                  <c:v>INSAIT Production</c:v>
                </c:pt>
              </c:strCache>
            </c:strRef>
          </c:tx>
          <c:spPr>
            <a:solidFill>
              <a:srgbClr val="B07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Sheet1!$E$2:$E$9</c:f>
              <c:numCache>
                <c:formatCode>General</c:formatCode>
                <c:ptCount val="8"/>
                <c:pt idx="0">
                  <c:v>1063.6</c:v>
                </c:pt>
                <c:pt idx="1">
                  <c:v>1914.4</c:v>
                </c:pt>
                <c:pt idx="2">
                  <c:v>1364.5</c:v>
                </c:pt>
                <c:pt idx="3">
                  <c:v>1354.4</c:v>
                </c:pt>
                <c:pt idx="4">
                  <c:v>1456.6</c:v>
                </c:pt>
                <c:pt idx="5">
                  <c:v>1604.5</c:v>
                </c:pt>
                <c:pt idx="6">
                  <c:v>1983.4</c:v>
                </c:pt>
                <c:pt idx="7">
                  <c:v>2721.0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143D-4AB2-98D0-29722C46F801}"/>
            </c:ext>
          </c:extLst>
        </c:ser>
        <c:ser>
          <c:idx val="4"/>
          <c:order val="4"/>
          <c:tx>
            <c:strRef>
              <c:f>Sheet1!$F$1</c:f>
              <c:strCache>
                <c:ptCount val="1"/>
                <c:pt idx="0">
                  <c:v>DataCloud dev 1</c:v>
                </c:pt>
              </c:strCache>
            </c:strRef>
          </c:tx>
          <c:spPr>
            <a:solidFill>
              <a:srgbClr val="3DDC97"/>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Sheet1!$F$2:$F$9</c:f>
              <c:numCache>
                <c:formatCode>General</c:formatCode>
                <c:ptCount val="8"/>
                <c:pt idx="0">
                  <c:v>324.2</c:v>
                </c:pt>
                <c:pt idx="1">
                  <c:v>275.0</c:v>
                </c:pt>
                <c:pt idx="2">
                  <c:v>285.9</c:v>
                </c:pt>
                <c:pt idx="3">
                  <c:v>269.8</c:v>
                </c:pt>
                <c:pt idx="4">
                  <c:v>281.6</c:v>
                </c:pt>
                <c:pt idx="5">
                  <c:v>269.2</c:v>
                </c:pt>
                <c:pt idx="6">
                  <c:v>278.2</c:v>
                </c:pt>
                <c:pt idx="7">
                  <c:v>298.0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143D-4AB2-98D0-29722C46F801}"/>
            </c:ext>
          </c:extLst>
        </c:ser>
        <c:ser>
          <c:idx val="5"/>
          <c:order val="5"/>
          <c:tx>
            <c:strRef>
              <c:f>Sheet1!$G$1</c:f>
              <c:strCache>
                <c:ptCount val="1"/>
                <c:pt idx="0">
                  <c:v>Sandbox System</c:v>
                </c:pt>
              </c:strCache>
            </c:strRef>
          </c:tx>
          <c:spPr>
            <a:solidFill>
              <a:srgbClr val="FF6B7A"/>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Sheet1!$G$2:$G$9</c:f>
              <c:numCache>
                <c:formatCode>General</c:formatCode>
                <c:ptCount val="8"/>
                <c:pt idx="0">
                  <c:v>263.9</c:v>
                </c:pt>
                <c:pt idx="1">
                  <c:v>308.0</c:v>
                </c:pt>
                <c:pt idx="2">
                  <c:v>265.0</c:v>
                </c:pt>
                <c:pt idx="3">
                  <c:v>260.1</c:v>
                </c:pt>
                <c:pt idx="4">
                  <c:v>335.8</c:v>
                </c:pt>
                <c:pt idx="5">
                  <c:v>256.1</c:v>
                </c:pt>
                <c:pt idx="6">
                  <c:v>267.4</c:v>
                </c:pt>
                <c:pt idx="7">
                  <c:v>275.0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143D-4AB2-98D0-29722C46F801}"/>
            </c:ext>
          </c:extLst>
        </c:ser>
        <c:ser>
          <c:idx val="6"/>
          <c:order val="6"/>
          <c:tx>
            <c:strRef>
              <c:f>Sheet1!$H$1</c:f>
              <c:strCache>
                <c:ptCount val="1"/>
                <c:pt idx="0">
                  <c:v>All other</c:v>
                </c:pt>
              </c:strCache>
            </c:strRef>
          </c:tx>
          <c:spPr>
            <a:solidFill>
              <a:srgbClr val="2AD38C"/>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Sheet1!$H$2:$H$9</c:f>
              <c:numCache>
                <c:formatCode>General</c:formatCode>
                <c:ptCount val="8"/>
                <c:pt idx="0">
                  <c:v>1443.5</c:v>
                </c:pt>
                <c:pt idx="1">
                  <c:v>1132.5</c:v>
                </c:pt>
                <c:pt idx="2">
                  <c:v>971.1</c:v>
                </c:pt>
                <c:pt idx="3">
                  <c:v>623.2</c:v>
                </c:pt>
                <c:pt idx="4">
                  <c:v>796.1</c:v>
                </c:pt>
                <c:pt idx="5">
                  <c:v>633.9</c:v>
                </c:pt>
                <c:pt idx="6">
                  <c:v>583.6</c:v>
                </c:pt>
                <c:pt idx="7">
                  <c:v>623.0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143D-4AB2-98D0-29722C46F801}"/>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30152.9</c:v>
                </c:pt>
                <c:pt idx="1">
                  <c:v>28348.0</c:v>
                </c:pt>
                <c:pt idx="2">
                  <c:v>31348.0</c:v>
                </c:pt>
                <c:pt idx="3">
                  <c:v>30597.0</c:v>
                </c:pt>
                <c:pt idx="4">
                  <c:v>35586.3</c:v>
                </c:pt>
                <c:pt idx="5">
                  <c:v>31413.0</c:v>
                </c:pt>
                <c:pt idx="6">
                  <c:v>30117.0</c:v>
                </c:pt>
                <c:pt idx="7">
                  <c:v>30608.0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E32-4D6C-9BC5-958C6A36DA8A}"/>
            </c:ext>
          </c:extLst>
        </c:ser>
        <c:ser>
          <c:idx val="1"/>
          <c:order val="1"/>
          <c:tx>
            <c:strRef>
              <c:f>Sheet1!$C$1</c:f>
              <c:strCache>
                <c:ptCount val="1"/>
                <c:pt idx="0">
                  <c:v>Storage</c:v>
                </c:pt>
              </c:strCache>
            </c:strRef>
          </c:tx>
          <c:spPr>
            <a:solidFill>
              <a:srgbClr val="3DD9EB"/>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Sheet1!$C$2:$C$9</c:f>
              <c:numCache>
                <c:formatCode>General</c:formatCode>
                <c:ptCount val="8"/>
                <c:pt idx="0">
                  <c:v>11917.0</c:v>
                </c:pt>
                <c:pt idx="1">
                  <c:v>10639.0</c:v>
                </c:pt>
                <c:pt idx="2">
                  <c:v>10074.0</c:v>
                </c:pt>
                <c:pt idx="3">
                  <c:v>10076.0</c:v>
                </c:pt>
                <c:pt idx="4">
                  <c:v>10811.8</c:v>
                </c:pt>
                <c:pt idx="5">
                  <c:v>11077.0</c:v>
                </c:pt>
                <c:pt idx="6">
                  <c:v>10526.0</c:v>
                </c:pt>
                <c:pt idx="7">
                  <c:v>10478.0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E32-4D6C-9BC5-958C6A36DA8A}"/>
            </c:ext>
          </c:extLst>
        </c:ser>
        <c:ser>
          <c:idx val="2"/>
          <c:order val="2"/>
          <c:tx>
            <c:strRef>
              <c:f>Sheet1!$D$1</c:f>
              <c:strCache>
                <c:ptCount val="1"/>
                <c:pt idx="0">
                  <c:v>Virtual Network</c:v>
                </c:pt>
              </c:strCache>
            </c:strRef>
          </c:tx>
          <c:spPr>
            <a:solidFill>
              <a:srgbClr val="FF9F43"/>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Sheet1!$D$2:$D$9</c:f>
              <c:numCache>
                <c:formatCode>General</c:formatCode>
                <c:ptCount val="8"/>
                <c:pt idx="0">
                  <c:v>195.8</c:v>
                </c:pt>
                <c:pt idx="1">
                  <c:v>112.0</c:v>
                </c:pt>
                <c:pt idx="2">
                  <c:v>124.0</c:v>
                </c:pt>
                <c:pt idx="3">
                  <c:v>153.0</c:v>
                </c:pt>
                <c:pt idx="4">
                  <c:v>166.7</c:v>
                </c:pt>
                <c:pt idx="5">
                  <c:v>134.0</c:v>
                </c:pt>
                <c:pt idx="6">
                  <c:v>238.0</c:v>
                </c:pt>
                <c:pt idx="7">
                  <c:v>194.0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E32-4D6C-9BC5-958C6A36DA8A}"/>
            </c:ext>
          </c:extLst>
        </c:ser>
        <c:ser>
          <c:idx val="3"/>
          <c:order val="3"/>
          <c:tx>
            <c:strRef>
              <c:f>Sheet1!$E$1</c:f>
              <c:strCache>
                <c:ptCount val="1"/>
                <c:pt idx="0">
                  <c:v>Virtual Machines Licenses</c:v>
                </c:pt>
              </c:strCache>
            </c:strRef>
          </c:tx>
          <c:spPr>
            <a:solidFill>
              <a:srgbClr val="B07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Sheet1!$E$2:$E$9</c:f>
              <c:numCache>
                <c:formatCode>General</c:formatCode>
                <c:ptCount val="8"/>
                <c:pt idx="0">
                  <c:v>0</c:v>
                </c:pt>
                <c:pt idx="1">
                  <c:v>0</c:v>
                </c:pt>
                <c:pt idx="2">
                  <c:v>0</c:v>
                </c:pt>
                <c:pt idx="3">
                  <c:v>0</c:v>
                </c:pt>
                <c:pt idx="4">
                  <c:v>36.5</c:v>
                </c:pt>
                <c:pt idx="5">
                  <c:v>41.0</c:v>
                </c:pt>
                <c:pt idx="6">
                  <c:v>43.0</c:v>
                </c:pt>
                <c:pt idx="7">
                  <c:v>43.0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8E32-4D6C-9BC5-958C6A36DA8A}"/>
            </c:ext>
          </c:extLst>
        </c:ser>
        <c:ser>
          <c:idx val="4"/>
          <c:order val="4"/>
          <c:tx>
            <c:strRef>
              <c:f>Sheet1!$F$1</c:f>
              <c:strCache>
                <c:ptCount val="1"/>
                <c:pt idx="0">
                  <c:v>Bandwidth</c:v>
                </c:pt>
              </c:strCache>
            </c:strRef>
          </c:tx>
          <c:spPr>
            <a:solidFill>
              <a:srgbClr val="3DDC97"/>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Sheet1!$F$2:$F$9</c:f>
              <c:numCache>
                <c:formatCode>General</c:formatCode>
                <c:ptCount val="8"/>
                <c:pt idx="0">
                  <c:v>0</c:v>
                </c:pt>
                <c:pt idx="1">
                  <c:v>0</c:v>
                </c:pt>
                <c:pt idx="2">
                  <c:v>0</c:v>
                </c:pt>
                <c:pt idx="3">
                  <c:v>0</c:v>
                </c:pt>
                <c:pt idx="4">
                  <c:v>0</c:v>
                </c:pt>
                <c:pt idx="5">
                  <c:v>0</c:v>
                </c:pt>
                <c:pt idx="6">
                  <c:v>0</c:v>
                </c:pt>
                <c:pt idx="7">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8E32-4D6C-9BC5-958C6A36DA8A}"/>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SAP Dev/Test</c:v>
                </c:pt>
              </c:strCache>
            </c:strRef>
          </c:tx>
          <c:spPr>
            <a:solidFill>
              <a:srgbClr val="2F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23275.7</c:v>
                </c:pt>
                <c:pt idx="1">
                  <c:v>22687.0</c:v>
                </c:pt>
                <c:pt idx="2">
                  <c:v>24090.0</c:v>
                </c:pt>
                <c:pt idx="3">
                  <c:v>23647.0</c:v>
                </c:pt>
                <c:pt idx="4">
                  <c:v>26321.7</c:v>
                </c:pt>
                <c:pt idx="5">
                  <c:v>24985.0</c:v>
                </c:pt>
                <c:pt idx="6">
                  <c:v>23467.0</c:v>
                </c:pt>
                <c:pt idx="7">
                  <c:v>23001.0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359-4080-838B-B6D835ED0C12}"/>
            </c:ext>
          </c:extLst>
        </c:ser>
        <c:ser>
          <c:idx val="1"/>
          <c:order val="1"/>
          <c:tx>
            <c:strRef>
              <c:f>Sheet1!$C$1</c:f>
              <c:strCache>
                <c:ptCount val="1"/>
                <c:pt idx="0">
                  <c:v>SAP Production</c:v>
                </c:pt>
              </c:strCache>
            </c:strRef>
          </c:tx>
          <c:spPr>
            <a:solidFill>
              <a:srgbClr val="3DD9EB"/>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Sheet1!$C$2:$C$9</c:f>
              <c:numCache>
                <c:formatCode>General</c:formatCode>
                <c:ptCount val="8"/>
                <c:pt idx="0">
                  <c:v>18989.9</c:v>
                </c:pt>
                <c:pt idx="1">
                  <c:v>16411.0</c:v>
                </c:pt>
                <c:pt idx="2">
                  <c:v>17456.0</c:v>
                </c:pt>
                <c:pt idx="3">
                  <c:v>17178.0</c:v>
                </c:pt>
                <c:pt idx="4">
                  <c:v>20279.6</c:v>
                </c:pt>
                <c:pt idx="5">
                  <c:v>17680.0</c:v>
                </c:pt>
                <c:pt idx="6">
                  <c:v>17457.0</c:v>
                </c:pt>
                <c:pt idx="7">
                  <c:v>18322.0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359-4080-838B-B6D835ED0C12}"/>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Virtual Network</c:v>
                </c:pt>
              </c:strCache>
            </c:strRef>
          </c:tx>
          <c:spPr>
            <a:solidFill>
              <a:srgbClr val="2F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5740.9</c:v>
                </c:pt>
                <c:pt idx="1">
                  <c:v>5286.0</c:v>
                </c:pt>
                <c:pt idx="2">
                  <c:v>5960.0</c:v>
                </c:pt>
                <c:pt idx="3">
                  <c:v>7306.9</c:v>
                </c:pt>
                <c:pt idx="4">
                  <c:v>8900.5</c:v>
                </c:pt>
                <c:pt idx="5">
                  <c:v>8855.7</c:v>
                </c:pt>
                <c:pt idx="6">
                  <c:v>10913.2</c:v>
                </c:pt>
                <c:pt idx="7">
                  <c:v>10043.1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AD3-4048-8290-6689F8F53EB0}"/>
            </c:ext>
          </c:extLst>
        </c:ser>
        <c:ser>
          <c:idx val="1"/>
          <c:order val="1"/>
          <c:tx>
            <c:strRef>
              <c:f>Sheet1!$C$1</c:f>
              <c:strCache>
                <c:ptCount val="1"/>
                <c:pt idx="0">
                  <c:v>Storage</c:v>
                </c:pt>
              </c:strCache>
            </c:strRef>
          </c:tx>
          <c:spPr>
            <a:solidFill>
              <a:srgbClr val="3DD9EB"/>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Sheet1!$C$2:$C$9</c:f>
              <c:numCache>
                <c:formatCode>General</c:formatCode>
                <c:ptCount val="8"/>
                <c:pt idx="0">
                  <c:v>5000.4</c:v>
                </c:pt>
                <c:pt idx="1">
                  <c:v>4756.0</c:v>
                </c:pt>
                <c:pt idx="2">
                  <c:v>4679.7</c:v>
                </c:pt>
                <c:pt idx="3">
                  <c:v>4663.4</c:v>
                </c:pt>
                <c:pt idx="4">
                  <c:v>4758.8</c:v>
                </c:pt>
                <c:pt idx="5">
                  <c:v>4887.1</c:v>
                </c:pt>
                <c:pt idx="6">
                  <c:v>6077.6</c:v>
                </c:pt>
                <c:pt idx="7">
                  <c:v>6053.8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AD3-4048-8290-6689F8F53EB0}"/>
            </c:ext>
          </c:extLst>
        </c:ser>
        <c:ser>
          <c:idx val="2"/>
          <c:order val="2"/>
          <c:tx>
            <c:strRef>
              <c:f>Sheet1!$D$1</c:f>
              <c:strCache>
                <c:ptCount val="1"/>
                <c:pt idx="0">
                  <c:v>Virtual Machines</c:v>
                </c:pt>
              </c:strCache>
            </c:strRef>
          </c:tx>
          <c:spPr>
            <a:solidFill>
              <a:srgbClr val="FF9F43"/>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Sheet1!$D$2:$D$9</c:f>
              <c:numCache>
                <c:formatCode>General</c:formatCode>
                <c:ptCount val="8"/>
                <c:pt idx="0">
                  <c:v>4242.9</c:v>
                </c:pt>
                <c:pt idx="1">
                  <c:v>3549.0</c:v>
                </c:pt>
                <c:pt idx="2">
                  <c:v>4067.1</c:v>
                </c:pt>
                <c:pt idx="3">
                  <c:v>3938.6</c:v>
                </c:pt>
                <c:pt idx="4">
                  <c:v>4539.7</c:v>
                </c:pt>
                <c:pt idx="5">
                  <c:v>4344.1</c:v>
                </c:pt>
                <c:pt idx="6">
                  <c:v>4847.4</c:v>
                </c:pt>
                <c:pt idx="7">
                  <c:v>5593.3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AD3-4048-8290-6689F8F53EB0}"/>
            </c:ext>
          </c:extLst>
        </c:ser>
        <c:ser>
          <c:idx val="3"/>
          <c:order val="3"/>
          <c:tx>
            <c:strRef>
              <c:f>Sheet1!$E$1</c:f>
              <c:strCache>
                <c:ptCount val="1"/>
                <c:pt idx="0">
                  <c:v>Log Analytics</c:v>
                </c:pt>
              </c:strCache>
            </c:strRef>
          </c:tx>
          <c:spPr>
            <a:solidFill>
              <a:srgbClr val="B07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Sheet1!$E$2:$E$9</c:f>
              <c:numCache>
                <c:formatCode>General</c:formatCode>
                <c:ptCount val="8"/>
                <c:pt idx="0">
                  <c:v>7300.5</c:v>
                </c:pt>
                <c:pt idx="1">
                  <c:v>3692.0</c:v>
                </c:pt>
                <c:pt idx="2">
                  <c:v>10596.1</c:v>
                </c:pt>
                <c:pt idx="3">
                  <c:v>3912.0</c:v>
                </c:pt>
                <c:pt idx="4">
                  <c:v>1966.9</c:v>
                </c:pt>
                <c:pt idx="5">
                  <c:v>2066.7</c:v>
                </c:pt>
                <c:pt idx="6">
                  <c:v>2306.1</c:v>
                </c:pt>
                <c:pt idx="7">
                  <c:v>1565.6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5AD3-4048-8290-6689F8F53EB0}"/>
            </c:ext>
          </c:extLst>
        </c:ser>
        <c:ser>
          <c:idx val="4"/>
          <c:order val="4"/>
          <c:tx>
            <c:strRef>
              <c:f>Sheet1!$F$1</c:f>
              <c:strCache>
                <c:ptCount val="1"/>
                <c:pt idx="0">
                  <c:v>Sentinel</c:v>
                </c:pt>
              </c:strCache>
            </c:strRef>
          </c:tx>
          <c:spPr>
            <a:solidFill>
              <a:srgbClr val="3DDC97"/>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Sheet1!$F$2:$F$9</c:f>
              <c:numCache>
                <c:formatCode>General</c:formatCode>
                <c:ptCount val="8"/>
                <c:pt idx="0">
                  <c:v>1732.0</c:v>
                </c:pt>
                <c:pt idx="1">
                  <c:v>1468.0</c:v>
                </c:pt>
                <c:pt idx="2">
                  <c:v>8874.9</c:v>
                </c:pt>
                <c:pt idx="3">
                  <c:v>3278.0</c:v>
                </c:pt>
                <c:pt idx="4">
                  <c:v>1333.2</c:v>
                </c:pt>
                <c:pt idx="5">
                  <c:v>1369.7</c:v>
                </c:pt>
                <c:pt idx="6">
                  <c:v>1467.7</c:v>
                </c:pt>
                <c:pt idx="7">
                  <c:v>967.2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5AD3-4048-8290-6689F8F53EB0}"/>
            </c:ext>
          </c:extLst>
        </c:ser>
        <c:ser>
          <c:idx val="5"/>
          <c:order val="5"/>
          <c:tx>
            <c:strRef>
              <c:f>Sheet1!$G$1</c:f>
              <c:strCache>
                <c:ptCount val="1"/>
                <c:pt idx="0">
                  <c:v>Other services</c:v>
                </c:pt>
              </c:strCache>
            </c:strRef>
          </c:tx>
          <c:spPr>
            <a:solidFill>
              <a:srgbClr val="FF6B7A"/>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Sheet1!$G$2:$G$9</c:f>
              <c:numCache>
                <c:formatCode>General</c:formatCode>
                <c:ptCount val="8"/>
                <c:pt idx="0">
                  <c:v>2265.0</c:v>
                </c:pt>
                <c:pt idx="1">
                  <c:v>1965.0</c:v>
                </c:pt>
                <c:pt idx="2">
                  <c:v>2206.0</c:v>
                </c:pt>
                <c:pt idx="3">
                  <c:v>2059.0</c:v>
                </c:pt>
                <c:pt idx="4">
                  <c:v>2253.5</c:v>
                </c:pt>
                <c:pt idx="5">
                  <c:v>2467.1</c:v>
                </c:pt>
                <c:pt idx="6">
                  <c:v>2528.5</c:v>
                </c:pt>
                <c:pt idx="7">
                  <c:v>2202.2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5AD3-4048-8290-6689F8F53EB0}"/>
            </c:ext>
          </c:extLst>
        </c:ser>
        <c:ser>
          <c:idx val="6"/>
          <c:order val="6"/>
          <c:tx>
            <c:strRef>
              <c:f>Sheet1!$H$1</c:f>
              <c:strCache>
                <c:ptCount val="1"/>
                <c:pt idx="0">
                  <c:v>All other</c:v>
                </c:pt>
              </c:strCache>
            </c:strRef>
          </c:tx>
          <c:spPr>
            <a:solidFill>
              <a:srgbClr val="2AD38C"/>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Sheet1!$H$2:$H$9</c:f>
              <c:numCache>
                <c:formatCode>General</c:formatCode>
                <c:ptCount val="8"/>
                <c:pt idx="0">
                  <c:v>4634.1</c:v>
                </c:pt>
                <c:pt idx="1">
                  <c:v>3962.0</c:v>
                </c:pt>
                <c:pt idx="2">
                  <c:v>4345.8</c:v>
                </c:pt>
                <c:pt idx="3">
                  <c:v>4241.6</c:v>
                </c:pt>
                <c:pt idx="4">
                  <c:v>4862.7</c:v>
                </c:pt>
                <c:pt idx="5">
                  <c:v>4595.3</c:v>
                </c:pt>
                <c:pt idx="6">
                  <c:v>5280.6</c:v>
                </c:pt>
                <c:pt idx="7">
                  <c:v>5661.6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5AD3-4048-8290-6689F8F53EB0}"/>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Prod</c:v>
                </c:pt>
              </c:strCache>
            </c:strRef>
          </c:tx>
          <c:spPr>
            <a:solidFill>
              <a:srgbClr val="2F8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12493.5</c:v>
                </c:pt>
                <c:pt idx="1">
                  <c:v>11171.0</c:v>
                </c:pt>
                <c:pt idx="2">
                  <c:v>12360.1</c:v>
                </c:pt>
                <c:pt idx="3">
                  <c:v>13593.0</c:v>
                </c:pt>
                <c:pt idx="4">
                  <c:v>15743.1</c:v>
                </c:pt>
                <c:pt idx="5">
                  <c:v>15398.0</c:v>
                </c:pt>
                <c:pt idx="6">
                  <c:v>19303.3</c:v>
                </c:pt>
                <c:pt idx="7">
                  <c:v>18544.0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982-4FA5-992B-566CAF36E63E}"/>
            </c:ext>
          </c:extLst>
        </c:ser>
        <c:ser>
          <c:idx val="1"/>
          <c:order val="1"/>
          <c:tx>
            <c:strRef>
              <c:f>Sheet1!$C$1</c:f>
              <c:strCache>
                <c:ptCount val="1"/>
                <c:pt idx="0">
                  <c:v>Shared Resources</c:v>
                </c:pt>
              </c:strCache>
            </c:strRef>
          </c:tx>
          <c:spPr>
            <a:solidFill>
              <a:srgbClr val="3DD9EB"/>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Sheet1!$C$2:$C$9</c:f>
              <c:numCache>
                <c:formatCode>General</c:formatCode>
                <c:ptCount val="8"/>
                <c:pt idx="0">
                  <c:v>16903.7</c:v>
                </c:pt>
                <c:pt idx="1">
                  <c:v>12321.0</c:v>
                </c:pt>
                <c:pt idx="2">
                  <c:v>26897.1</c:v>
                </c:pt>
                <c:pt idx="3">
                  <c:v>14231.0</c:v>
                </c:pt>
                <c:pt idx="4">
                  <c:v>10755.4</c:v>
                </c:pt>
                <c:pt idx="5">
                  <c:v>10557.0</c:v>
                </c:pt>
                <c:pt idx="6">
                  <c:v>11093.0</c:v>
                </c:pt>
                <c:pt idx="7">
                  <c:v>9897.0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982-4FA5-992B-566CAF36E63E}"/>
            </c:ext>
          </c:extLst>
        </c:ser>
        <c:ser>
          <c:idx val="2"/>
          <c:order val="2"/>
          <c:tx>
            <c:strRef>
              <c:f>Sheet1!$D$1</c:f>
              <c:strCache>
                <c:ptCount val="1"/>
                <c:pt idx="0">
                  <c:v>CloudOps</c:v>
                </c:pt>
              </c:strCache>
            </c:strRef>
          </c:tx>
          <c:spPr>
            <a:solidFill>
              <a:srgbClr val="FF9F43"/>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Sheet1!$D$2:$D$9</c:f>
              <c:numCache>
                <c:formatCode>General</c:formatCode>
                <c:ptCount val="8"/>
                <c:pt idx="0">
                  <c:v>872.7</c:v>
                </c:pt>
                <c:pt idx="1">
                  <c:v>555.0</c:v>
                </c:pt>
                <c:pt idx="2">
                  <c:v>768.7</c:v>
                </c:pt>
                <c:pt idx="3">
                  <c:v>737.0</c:v>
                </c:pt>
                <c:pt idx="4">
                  <c:v>972.0</c:v>
                </c:pt>
                <c:pt idx="5">
                  <c:v>1089.0</c:v>
                </c:pt>
                <c:pt idx="6">
                  <c:v>1225.7</c:v>
                </c:pt>
                <c:pt idx="7">
                  <c:v>726.0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982-4FA5-992B-566CAF36E63E}"/>
            </c:ext>
          </c:extLst>
        </c:ser>
        <c:ser>
          <c:idx val="3"/>
          <c:order val="3"/>
          <c:tx>
            <c:strRef>
              <c:f>Sheet1!$E$1</c:f>
              <c:strCache>
                <c:ptCount val="1"/>
                <c:pt idx="0">
                  <c:v>DataCloud prod</c:v>
                </c:pt>
              </c:strCache>
            </c:strRef>
          </c:tx>
          <c:spPr>
            <a:solidFill>
              <a:srgbClr val="B07CFF"/>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Sheet1!$E$2:$E$9</c:f>
              <c:numCache>
                <c:formatCode>General</c:formatCode>
                <c:ptCount val="8"/>
                <c:pt idx="0">
                  <c:v>363.2</c:v>
                </c:pt>
                <c:pt idx="1">
                  <c:v>357.0</c:v>
                </c:pt>
                <c:pt idx="2">
                  <c:v>397.3</c:v>
                </c:pt>
                <c:pt idx="3">
                  <c:v>336.0</c:v>
                </c:pt>
                <c:pt idx="4">
                  <c:v>370.2</c:v>
                </c:pt>
                <c:pt idx="5">
                  <c:v>550.0</c:v>
                </c:pt>
                <c:pt idx="6">
                  <c:v>818.1</c:v>
                </c:pt>
                <c:pt idx="7">
                  <c:v>812.0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E982-4FA5-992B-566CAF36E63E}"/>
            </c:ext>
          </c:extLst>
        </c:ser>
        <c:ser>
          <c:idx val="4"/>
          <c:order val="4"/>
          <c:tx>
            <c:strRef>
              <c:f>Sheet1!$F$1</c:f>
              <c:strCache>
                <c:ptCount val="1"/>
                <c:pt idx="0">
                  <c:v>DataCloud dev</c:v>
                </c:pt>
              </c:strCache>
            </c:strRef>
          </c:tx>
          <c:spPr>
            <a:solidFill>
              <a:srgbClr val="3DDC97"/>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Sheet1!$F$2:$F$9</c:f>
              <c:numCache>
                <c:formatCode>General</c:formatCode>
                <c:ptCount val="8"/>
                <c:pt idx="0">
                  <c:v>189.0</c:v>
                </c:pt>
                <c:pt idx="1">
                  <c:v>169.0</c:v>
                </c:pt>
                <c:pt idx="2">
                  <c:v>189.5</c:v>
                </c:pt>
                <c:pt idx="3">
                  <c:v>184.0</c:v>
                </c:pt>
                <c:pt idx="4">
                  <c:v>506.7</c:v>
                </c:pt>
                <c:pt idx="5">
                  <c:v>582.0</c:v>
                </c:pt>
                <c:pt idx="6">
                  <c:v>573.9</c:v>
                </c:pt>
                <c:pt idx="7">
                  <c:v>590.0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E982-4FA5-992B-566CAF36E63E}"/>
            </c:ext>
          </c:extLst>
        </c:ser>
        <c:ser>
          <c:idx val="5"/>
          <c:order val="5"/>
          <c:tx>
            <c:strRef>
              <c:f>Sheet1!$G$1</c:f>
              <c:strCache>
                <c:ptCount val="1"/>
                <c:pt idx="0">
                  <c:v>All other</c:v>
                </c:pt>
              </c:strCache>
            </c:strRef>
          </c:tx>
          <c:spPr>
            <a:solidFill>
              <a:srgbClr val="FF6B7A"/>
            </a:solidFill>
          </c:spPr>
          <c:invertIfNegative val="1"/>
          <c:cat>
            <c:strRef>
              <c:f>Sheet1!$A$2:$A$9</c:f>
              <c:strCache>
                <c:ptCount val="8"/>
                <c:pt idx="0">
                  <c:v>Jan</c:v>
                </c:pt>
                <c:pt idx="1">
                  <c:v>Feb</c:v>
                </c:pt>
                <c:pt idx="2">
                  <c:v>Mar</c:v>
                </c:pt>
                <c:pt idx="3">
                  <c:v>Apr</c:v>
                </c:pt>
                <c:pt idx="4">
                  <c:v>May</c:v>
                </c:pt>
                <c:pt idx="5">
                  <c:v>Jun</c:v>
                </c:pt>
                <c:pt idx="6">
                  <c:v>Jul</c:v>
                </c:pt>
                <c:pt idx="7">
                  <c:v>Aug</c:v>
                </c:pt>
              </c:strCache>
            </c:strRef>
          </c:cat>
          <c:val>
            <c:numRef>
              <c:f>Sheet1!$G$2:$G$9</c:f>
              <c:numCache>
                <c:formatCode>General</c:formatCode>
                <c:ptCount val="8"/>
                <c:pt idx="0">
                  <c:v>298.9</c:v>
                </c:pt>
                <c:pt idx="1">
                  <c:v>262.3</c:v>
                </c:pt>
                <c:pt idx="2">
                  <c:v>169.3</c:v>
                </c:pt>
                <c:pt idx="3">
                  <c:v>175.3</c:v>
                </c:pt>
                <c:pt idx="4">
                  <c:v>278.1</c:v>
                </c:pt>
                <c:pt idx="5">
                  <c:v>417.3</c:v>
                </c:pt>
                <c:pt idx="6">
                  <c:v>415.9</c:v>
                </c:pt>
                <c:pt idx="7">
                  <c:v>1517.8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E982-4FA5-992B-566CAF36E63E}"/>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BASIS FOR THE WHOLE DECK: metered consumption, January to July 2026,
all three clouds. Seven months, one series, no switching.
Marketplace purchases are excluded throughout and reported on their own slide.
AWS July is shown gross of the $16,100 MAP credit, which has its own slide.
If asked why this differs from the May-July briefing: same estate, longer
window. Seven months of data instead of two.</a:t>
            </a:r>
          </a:p>
          <a:p>
            <a:r>
              <a:t>
PRESENTER CUE: frame the discussion as both a cloud-spend review and an AI-governance decision.
[Sources]
- No external sources; title reflects the deck's internal scope.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$3.4M IS BUILT, one month, times twelve. No model, no forecast.
  Azure    186,917
  AWS       92,930   (gross, before the $16,100 MAP credit)
  GCP        3,707
  ------------------
  July     283,554   per month
  x 12   3,402,648   per year   -&gt;  $3.4M
If July repeats for a full year, we are at a $3.4M pace. That is all it says.
WHERE THE $593K COMES FROM
  Jan    234,115 x 12 = 2,809,384
  Jul    283,554 x 12 = 3,402,648
  difference              593,264   = +21.1%
Six months, and the annual pace rose by about $593K.</a:t>
            </a:r>
          </a:p>
          <a:p>
            <a:r>
              <a:t>
PRESENTER CUE: distinguish the $283.6K July monthly consumption from the $3.4M annualized run-rate. The annualized figure is July multiplied by twelve, not a forecast.
[Sources]
- Internal source: slide 2 provider amounts and existing speaker-note calculation.
[/Sources]</a:t>
            </a:r>
          </a:p>
          <a:p>
            <a:r>
              <a:t>
PRESENTER CUE: lead with the $3.4M annualized run-rate, then separate the $283.6K July monthly consumption. Provider colors match the figures and the January movement callouts.
[Sources]
- Internal source: slide 2 provider amounts and existing speaker-note calculations.
[/Sources]</a:t>
            </a:r>
          </a:p>
          <a:p>
            <a:r>
              <a:t>
PRESENTER CUE: the headline no longer repeats the KPI. The three movement bullets are vertically centered beside their matching lines for distance viewing.
[Sources]
- No external sources; formatting-only refinement.
[/Sources]</a:t>
            </a:r>
          </a:p>
          <a:p>
            <a:r>
              <a:t>
PRESENTER CUE: the right-hand provider cards are restored to a neutral, consistent treatment. The left-hand movement summary is intentionally limited to three factual figures.
[Sources]
- Internal source: slide 2 provider amounts and January-to-July differences.
[/Sources]</a:t>
            </a:r>
          </a:p>
          <a:p>
            <a:r>
              <a:t>
PRESENTER CUE: provider cards use a consistent color key—Azure blue, AWS orange and GCP green—while retaining the exact July amounts and shares.
[Sources]
- No external sources; formatting-only refinement.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UPPER BOUND. Same start, same method, faster rate.
Rates from the May-July window, as published in the July briefing:
  GCP     +$1 Azure  +13.3% per month
  AWS     +5.8% per month.1K per month
Carried from July's actual 283,554:
  Aug 314,904   Sep 349,873   Oct 388,919   Nov 432,559   Dec 481,378
  481,378 x 12 = $5.78M
WHAT IT COSTS IF IT HAPPENS
  December run-rate   5,776,533  vs  4,011,077   = +1,765,456 a year
  Cash Aug-Dec        1,967,632  vs  1,567,166   =   +400,465
HOW TO POSITION IT
Do not present this as the forecast, present it as the range's top. The
base case is the previous slide at $4.0M. This slide answers 'what if the
acceleration was real', and it is the number the July briefing carried.
Note the Azure rate here is v33's 13.3%, measured off the invoiced May
figure of 145,254. On the consumption basis this deck uses, May was 152,263
and the same window gives 10.8% a month. The 13.3% is deliberately the
harsher of the two, which is what an upper bound should be.
The trigger to watch: if August lands above roughly 300K, we are on the red
line, not the orange one.</a:t>
            </a:r>
          </a:p>
          <a:p>
            <a:r>
              <a:t>
PRESENTER CUE: keep the visible comparison on one basis—December annualized run-rate. Base case is about $4.01M; faster case is about $5.78M; the gap is about $1.77M. The cumulative cash difference from August through December is about $400K and is intentionally kept in the notes, not on the slide.
[Sources]
- Internal source: slide 3 chart series and existing scenario assumptions.
[/Sources]</a:t>
            </a:r>
          </a:p>
          <a:p>
            <a:r>
              <a:t>
PRESENTER CUE: the chart now begins at the July actual of $283.6K per month and forks into only two scenario paths. The historical Jan–July line was removed because PowerPoint displayed its empty future months as a misleading downward continuation.
[Sources]
- Internal source: slide 3 scenario series and July actual in the deck.
[/Sources]</a:t>
            </a:r>
          </a:p>
          <a:p>
            <a:r>
              <a:t>
PRESENTER CUE: chart and KPI cards now use the same annualized run-rate basis. Both paths start at July's $3.40M annualized run-rate; the blue base path ends at $4.01M and the orange faster path ends at $5.78M in December.
[Sources]
- Internal source: slide 3 monthly scenario values multiplied by twelve.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platform cut of the slide that follows. Same basis, same total:
  $199,531 of billed AI, January to July 2026.
  Azure AI Foundry             $87,158  43.7%  +240% Jan to Jul
  GitHub Copilot               $57,177  28.7%  +593% Jan to Jul
  AWS Bedrock (Claude)         $42,056  21.1%  First billed in Mar
  Cowork                        $9,444  4.7%  $97 to $8,920
  Google Vertex AI              $3,696  1.9%  First billed in May
WHAT IS NOT HERE
Databricks. It draws down the 600,000 DBU pre-purchase paid in April and
bills at $0, so it would show as the largest platform while costing nothing
this month. It has its own slide.
AWS July is gross of the $16,100 MAP credit, same footing as the rest of
the deck, and that credit has its own slide too.
IF ASKED WHY THIS DIFFERS FROM THE v33 VERSION: v33 showed the May-July
invoiced window. This is the full seven months, on the deck's one basis.</a:t>
            </a:r>
          </a:p>
          <a:p>
            <a:r>
              <a:t>
PRESENTER CUE: the AWS Bedrock card now compares the first billed month, March at $841, with July at $25,288.
[Sources]
- Internal source: slide 10 Bedrock monthly series.
[/Sources]</a:t>
            </a:r>
          </a:p>
          <a:p>
            <a:r>
              <a:t>
PRESENTER CUE: Google Vertex AI now compares May, the first meaningful billed month at $379, with July at $2,359. Bedrock's March starting point is highlighted in white.
[Sources]
- Internal source: slide 12 Vertex AI monthly series and slide 10 Bedrock series.
[/Sources]</a:t>
            </a:r>
          </a:p>
          <a:p>
            <a:r>
              <a:t>
PRESENTER CUE: platform names and all comparison-month labels are white for plasma-screen contrast; card accents and growth badges retain the visual differentiation.
[Sources]
- No external sources; formatting-only refinement.
[/Sources]</a:t>
            </a:r>
          </a:p>
          <a:p>
            <a:r>
              <a:t>
PRESENTER CUE: the Bedrock title is shortened to stay inside its card; the March $841 and May $379 values align with the right-hand value column.
[Sources]
- No external sources; layout-only refinement.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070A1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chart" Target="../charts/char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chart" Target="../charts/char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chart" Target="../charts/char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chart" Target="../charts/char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chart" Target="../charts/chart10.xml"/><Relationship Id="rId4" Type="http://schemas.openxmlformats.org/officeDocument/2006/relationships/chart" Target="../charts/char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chart" Target="../charts/chart12.xml"/><Relationship Id="rId4" Type="http://schemas.openxmlformats.org/officeDocument/2006/relationships/chart" Target="../charts/char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chart" Target="../charts/chart14.xml"/><Relationship Id="rId4" Type="http://schemas.openxmlformats.org/officeDocument/2006/relationships/chart" Target="../charts/char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9E8CDAE-AA15-4239-8246-49BC801485BB}"/>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410FE5F4-F73F-46CD-9BF9-881B11357234}"/>
              </a:ext>
            </a:extLst>
          </p:cNvPr>
          <p:cNvSpPr>
            <a:spLocks noGrp="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txBody>
          <a:bodyPr/>
          <a:lstStyle/>
          <a:p>
            <a:endParaRPr/>
          </a:p>
        </p:txBody>
      </p:sp>
      <p:sp>
        <p:nvSpPr>
          <p:cNvPr id="4" name="Shape 2">
            <a:extLst>
              <a:ext uri="{FF2B5EF4-FFF2-40B4-BE49-F238E27FC236}">
                <a16:creationId xmlns:a16="http://schemas.microsoft.com/office/drawing/2014/main" id="{55E898D1-9983-4B1A-B6BB-C33A0D087E35}"/>
              </a:ext>
            </a:extLst>
          </p:cNvPr>
          <p:cNvSpPr>
            <a:spLocks noGrp="1"/>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a:p>
        </p:txBody>
      </p:sp>
      <p:sp>
        <p:nvSpPr>
          <p:cNvPr id="5" name="Text 3">
            <a:extLst>
              <a:ext uri="{FF2B5EF4-FFF2-40B4-BE49-F238E27FC236}">
                <a16:creationId xmlns:a16="http://schemas.microsoft.com/office/drawing/2014/main" id="{2A917600-8880-480C-B9F3-9F933A3E4933}"/>
              </a:ext>
            </a:extLst>
          </p:cNvPr>
          <p:cNvSpPr>
            <a:spLocks noGrp="1"/>
          </p:cNvSpPr>
          <p:nvPr/>
        </p:nvSpPr>
        <p:spPr>
          <a:xfrm>
            <a:off x="457200" y="2331720"/>
            <a:ext cx="8229600" cy="274320"/>
          </a:xfrm>
          <a:prstGeom prst="rect">
            <a:avLst/>
          </a:prstGeom>
          <a:noFill/>
        </p:spPr>
        <p:txBody>
          <a:bodyPr wrap="none" lIns="0" tIns="0" rIns="0" bIns="0" anchor="ctr">
            <a:noAutofit/>
          </a:bodyPr>
          <a:lstStyle/>
          <a:p>
            <a:pPr marL="0" indent="0" algn="l">
              <a:buNone/>
              <a:defRPr sz="1350" b="1">
                <a:solidFill>
                  <a:srgbClr val="B07CFF"/>
                </a:solidFill>
                <a:latin typeface="Calibri"/>
                <a:ea typeface="Calibri"/>
                <a:cs typeface="Calibri"/>
              </a:defRPr>
            </a:pPr>
            <a:r>
              <a:rPr sz="1350" b="1" spc="300">
                <a:solidFill>
                  <a:srgbClr val="B07CFF"/>
                </a:solidFill>
                <a:latin typeface="Calibri"/>
                <a:ea typeface="Calibri"/>
                <a:cs typeface="Calibri"/>
              </a:rPr>
              <a:t>HAREL INSURANCE / CLOUD FINOPS</a:t>
            </a:r>
            <a:endParaRPr sz="1300"/>
          </a:p>
        </p:txBody>
      </p:sp>
      <p:sp>
        <p:nvSpPr>
          <p:cNvPr id="6" name="Text 4">
            <a:extLst>
              <a:ext uri="{FF2B5EF4-FFF2-40B4-BE49-F238E27FC236}">
                <a16:creationId xmlns:a16="http://schemas.microsoft.com/office/drawing/2014/main" id="{44B844C0-EB53-4B7F-82B8-9C3220608104}"/>
              </a:ext>
            </a:extLst>
          </p:cNvPr>
          <p:cNvSpPr>
            <a:spLocks noGrp="1"/>
          </p:cNvSpPr>
          <p:nvPr/>
        </p:nvSpPr>
        <p:spPr>
          <a:xfrm>
            <a:off x="457200" y="2651760"/>
            <a:ext cx="10820400" cy="1005840"/>
          </a:xfrm>
          <a:prstGeom prst="rect">
            <a:avLst/>
          </a:prstGeom>
          <a:noFill/>
        </p:spPr>
        <p:txBody>
          <a:bodyPr wrap="none" lIns="0" tIns="0" rIns="0" bIns="0" anchor="ctr">
            <a:noAutofit/>
          </a:bodyPr>
          <a:lstStyle/>
          <a:p>
            <a:pPr marL="0" indent="0" algn="l">
              <a:buNone/>
              <a:defRPr sz="5400" b="1">
                <a:solidFill>
                  <a:srgbClr val="F4F7FB"/>
                </a:solidFill>
                <a:latin typeface="Calibri"/>
                <a:ea typeface="Calibri"/>
                <a:cs typeface="Calibri"/>
              </a:defRPr>
            </a:pPr>
            <a:r>
              <a:rPr sz="5400" b="1">
                <a:solidFill>
                  <a:srgbClr val="F4F7FB"/>
                </a:solidFill>
                <a:latin typeface="Calibri"/>
                <a:ea typeface="Calibri"/>
                <a:cs typeface="Calibri"/>
              </a:rPr>
              <a:t>August 2026 — what changed</a:t>
            </a:r>
            <a:endParaRPr sz="4000"/>
          </a:p>
        </p:txBody>
      </p:sp>
      <p:sp>
        <p:nvSpPr>
          <p:cNvPr id="7" name="Text 5">
            <a:extLst>
              <a:ext uri="{FF2B5EF4-FFF2-40B4-BE49-F238E27FC236}">
                <a16:creationId xmlns:a16="http://schemas.microsoft.com/office/drawing/2014/main" id="{F55E03E6-96CA-4612-84B7-EBCC836597FF}"/>
              </a:ext>
            </a:extLst>
          </p:cNvPr>
          <p:cNvSpPr>
            <a:spLocks noGrp="1"/>
          </p:cNvSpPr>
          <p:nvPr/>
        </p:nvSpPr>
        <p:spPr>
          <a:xfrm>
            <a:off x="457200" y="3703320"/>
            <a:ext cx="7863840" cy="457200"/>
          </a:xfrm>
          <a:prstGeom prst="rect">
            <a:avLst/>
          </a:prstGeom>
          <a:noFill/>
        </p:spPr>
        <p:txBody>
          <a:bodyPr wrap="none" lIns="0" tIns="0" rIns="0" bIns="0" anchor="ctr">
            <a:noAutofit/>
          </a:bodyPr>
          <a:lstStyle/>
          <a:p>
            <a:pPr marL="0" indent="0" algn="l">
              <a:buNone/>
              <a:defRPr sz="1950" b="0">
                <a:solidFill>
                  <a:srgbClr val="C5CCDA"/>
                </a:solidFill>
                <a:latin typeface="Calibri"/>
                <a:ea typeface="Calibri"/>
                <a:cs typeface="Calibri"/>
              </a:defRPr>
            </a:pPr>
            <a:r>
              <a:rPr sz="1950" b="0">
                <a:solidFill>
                  <a:srgbClr val="C5CCDA"/>
                </a:solidFill>
                <a:latin typeface="Calibri"/>
                <a:ea typeface="Calibri"/>
                <a:cs typeface="Calibri"/>
              </a:rPr>
              <a:t>August 2026 consumption · CIO briefing</a:t>
            </a:r>
            <a:endParaRPr sz="1500"/>
          </a:p>
        </p:txBody>
      </p:sp>
    </p:spTree>
    <p:extLst>
      <p:ext uri="{BB962C8B-B14F-4D97-AF65-F5344CB8AC3E}">
        <p14:creationId xmlns:p14="http://schemas.microsoft.com/office/powerpoint/2010/main" val="598128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172000D-09F4-4B30-8926-21A8EA339E19}"/>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8F06C97F-3216-4E9E-BEE0-3A4CD07E61C9}"/>
              </a:ext>
            </a:extLst>
          </p:cNvPr>
          <p:cNvSpPr>
            <a:spLocks noGrp="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a:p>
        </p:txBody>
      </p:sp>
      <p:sp>
        <p:nvSpPr>
          <p:cNvPr id="4" name="Text 2">
            <a:extLst>
              <a:ext uri="{FF2B5EF4-FFF2-40B4-BE49-F238E27FC236}">
                <a16:creationId xmlns:a16="http://schemas.microsoft.com/office/drawing/2014/main" id="{8D854B58-E70D-4DAF-8550-06751F3C4F2E}"/>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9F43"/>
                </a:solidFill>
                <a:latin typeface="Calibri"/>
                <a:ea typeface="Calibri"/>
                <a:cs typeface="Calibri"/>
              </a:rPr>
              <a:t>AUGUST SCORECARD</a:t>
            </a:r>
            <a:endParaRPr sz="1300"/>
          </a:p>
        </p:txBody>
      </p:sp>
      <p:sp>
        <p:nvSpPr>
          <p:cNvPr id="5" name="Text 3">
            <a:extLst>
              <a:ext uri="{FF2B5EF4-FFF2-40B4-BE49-F238E27FC236}">
                <a16:creationId xmlns:a16="http://schemas.microsoft.com/office/drawing/2014/main" id="{92CB2E23-2185-4936-8175-8F040A2BCF6A}"/>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t>Four claims from July, tested</a:t>
            </a:r>
            <a:endParaRPr sz="2400"/>
          </a:p>
        </p:txBody>
      </p:sp>
      <p:sp>
        <p:nvSpPr>
          <p:cNvPr id="6" name="Text 4">
            <a:extLst>
              <a:ext uri="{FF2B5EF4-FFF2-40B4-BE49-F238E27FC236}">
                <a16:creationId xmlns:a16="http://schemas.microsoft.com/office/drawing/2014/main" id="{25D4BE8B-83EE-45C6-AD8A-6FBEFADCD957}"/>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t>Like-for-like with July throughout: excluding Marketplace, gross of credits.</a:t>
            </a:r>
            <a:endParaRPr sz="1200"/>
          </a:p>
        </p:txBody>
      </p:sp>
      <p:sp>
        <p:nvSpPr>
          <p:cNvPr id="7" name="Text 5">
            <a:extLst>
              <a:ext uri="{FF2B5EF4-FFF2-40B4-BE49-F238E27FC236}">
                <a16:creationId xmlns:a16="http://schemas.microsoft.com/office/drawing/2014/main" id="{3E993607-F3DE-4E48-BE40-C665E883E030}"/>
              </a:ext>
            </a:extLst>
          </p:cNvPr>
          <p:cNvSpPr>
            <a:spLocks noGrp="1"/>
          </p:cNvSpPr>
          <p:nvPr/>
        </p:nvSpPr>
        <p:spPr>
          <a:xfrm>
            <a:off x="457200" y="6172200"/>
            <a:ext cx="11277295" cy="576072"/>
          </a:xfrm>
          <a:prstGeom prst="rect">
            <a:avLst/>
          </a:prstGeom>
          <a:noFill/>
        </p:spPr>
        <p:txBody>
          <a:bodyPr wrap="square" lIns="0" tIns="0" rIns="0" bIns="0" anchor="t"/>
          <a:lstStyle/>
          <a:p>
            <a:pPr marL="0" indent="0">
              <a:lnSpc>
                <a:spcPct val="115000"/>
              </a:lnSpc>
              <a:buNone/>
            </a:pPr>
            <a:r>
              <a:t>All three providers are final for August. Figures exclude Marketplace and are gross of credits, matching how July was reported.</a:t>
            </a:r>
            <a:endParaRPr sz="1200"/>
          </a:p>
        </p:txBody>
      </p:sp>
      <p:sp>
        <p:nvSpPr>
          <p:cNvPr id="8" name="Shape 6">
            <a:extLst>
              <a:ext uri="{FF2B5EF4-FFF2-40B4-BE49-F238E27FC236}">
                <a16:creationId xmlns:a16="http://schemas.microsoft.com/office/drawing/2014/main" id="{1053F211-D307-4FB6-8FE9-38C866D6B51B}"/>
              </a:ext>
            </a:extLst>
          </p:cNvPr>
          <p:cNvSpPr>
            <a:spLocks noGrp="1"/>
          </p:cNvSpPr>
          <p:nvPr/>
        </p:nvSpPr>
        <p:spPr>
          <a:xfrm>
            <a:off x="457200" y="1234440"/>
            <a:ext cx="3423818" cy="1188720"/>
          </a:xfrm>
          <a:prstGeom prst="roundRect">
            <a:avLst>
              <a:gd name="adj" fmla="val 4615"/>
            </a:avLst>
          </a:prstGeom>
          <a:solidFill>
            <a:srgbClr val="121B2D"/>
          </a:solidFill>
          <a:ln w="12700">
            <a:solidFill>
              <a:srgbClr val="F4F7FB"/>
            </a:solidFill>
            <a:prstDash val="solid"/>
          </a:ln>
        </p:spPr>
        <p:txBody>
          <a:bodyPr/>
          <a:lstStyle/>
          <a:p>
            <a:endParaRPr/>
          </a:p>
        </p:txBody>
      </p:sp>
      <p:sp>
        <p:nvSpPr>
          <p:cNvPr id="9" name="Text 7">
            <a:extLst>
              <a:ext uri="{FF2B5EF4-FFF2-40B4-BE49-F238E27FC236}">
                <a16:creationId xmlns:a16="http://schemas.microsoft.com/office/drawing/2014/main" id="{AA3518E2-DBB1-4637-8F30-F8661475AF1C}"/>
              </a:ext>
            </a:extLst>
          </p:cNvPr>
          <p:cNvSpPr>
            <a:spLocks noGrp="1"/>
          </p:cNvSpPr>
          <p:nvPr/>
        </p:nvSpPr>
        <p:spPr>
          <a:xfrm>
            <a:off x="658368" y="1380744"/>
            <a:ext cx="302148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AUGUST RUN-RATE</a:t>
            </a:r>
            <a:endParaRPr sz="1200"/>
          </a:p>
        </p:txBody>
      </p:sp>
      <p:sp>
        <p:nvSpPr>
          <p:cNvPr id="10" name="Text 8">
            <a:extLst>
              <a:ext uri="{FF2B5EF4-FFF2-40B4-BE49-F238E27FC236}">
                <a16:creationId xmlns:a16="http://schemas.microsoft.com/office/drawing/2014/main" id="{8E737A3A-771A-4DD9-A11C-14DED8752011}"/>
              </a:ext>
            </a:extLst>
          </p:cNvPr>
          <p:cNvSpPr>
            <a:spLocks noGrp="1"/>
          </p:cNvSpPr>
          <p:nvPr/>
        </p:nvSpPr>
        <p:spPr>
          <a:xfrm>
            <a:off x="658368" y="1655064"/>
            <a:ext cx="3021482" cy="457200"/>
          </a:xfrm>
          <a:prstGeom prst="rect">
            <a:avLst/>
          </a:prstGeom>
          <a:noFill/>
        </p:spPr>
        <p:txBody>
          <a:bodyPr wrap="square" lIns="0" tIns="0" rIns="0" bIns="0" anchor="ctr"/>
          <a:lstStyle/>
          <a:p>
            <a:pPr marL="0" indent="0">
              <a:buNone/>
            </a:pPr>
            <a:r>
              <a:rPr sz="3000" b="1">
                <a:solidFill>
                  <a:srgbClr val="F4F7FB"/>
                </a:solidFill>
                <a:latin typeface="Calibri"/>
                <a:ea typeface="Calibri"/>
                <a:cs typeface="Calibri"/>
              </a:rPr>
              <a:t>$3.48M</a:t>
            </a:r>
            <a:endParaRPr sz="3000"/>
          </a:p>
        </p:txBody>
      </p:sp>
      <p:sp>
        <p:nvSpPr>
          <p:cNvPr id="11" name="Text 9">
            <a:extLst>
              <a:ext uri="{FF2B5EF4-FFF2-40B4-BE49-F238E27FC236}">
                <a16:creationId xmlns:a16="http://schemas.microsoft.com/office/drawing/2014/main" id="{2D8AA989-84CA-4E71-95AA-43D60E2295FA}"/>
              </a:ext>
            </a:extLst>
          </p:cNvPr>
          <p:cNvSpPr>
            <a:spLocks noGrp="1"/>
          </p:cNvSpPr>
          <p:nvPr/>
        </p:nvSpPr>
        <p:spPr>
          <a:xfrm>
            <a:off x="658368" y="2093976"/>
            <a:ext cx="3021482" cy="237744"/>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base case said $3.50M</a:t>
            </a:r>
            <a:endParaRPr sz="1200"/>
          </a:p>
        </p:txBody>
      </p:sp>
      <p:sp>
        <p:nvSpPr>
          <p:cNvPr id="12" name="Shape 10">
            <a:extLst>
              <a:ext uri="{FF2B5EF4-FFF2-40B4-BE49-F238E27FC236}">
                <a16:creationId xmlns:a16="http://schemas.microsoft.com/office/drawing/2014/main" id="{92919C45-8C8C-4534-92AF-A1C23CDEDE6B}"/>
              </a:ext>
            </a:extLst>
          </p:cNvPr>
          <p:cNvSpPr>
            <a:spLocks noGrp="1"/>
          </p:cNvSpPr>
          <p:nvPr/>
        </p:nvSpPr>
        <p:spPr>
          <a:xfrm>
            <a:off x="4383938" y="1234440"/>
            <a:ext cx="3423818" cy="1188720"/>
          </a:xfrm>
          <a:prstGeom prst="roundRect">
            <a:avLst>
              <a:gd name="adj" fmla="val 4615"/>
            </a:avLst>
          </a:prstGeom>
          <a:solidFill>
            <a:srgbClr val="121B2D"/>
          </a:solidFill>
          <a:ln w="12700">
            <a:solidFill>
              <a:srgbClr val="FF9F43"/>
            </a:solidFill>
            <a:prstDash val="solid"/>
          </a:ln>
        </p:spPr>
        <p:txBody>
          <a:bodyPr/>
          <a:lstStyle/>
          <a:p>
            <a:endParaRPr/>
          </a:p>
        </p:txBody>
      </p:sp>
      <p:sp>
        <p:nvSpPr>
          <p:cNvPr id="13" name="Text 11">
            <a:extLst>
              <a:ext uri="{FF2B5EF4-FFF2-40B4-BE49-F238E27FC236}">
                <a16:creationId xmlns:a16="http://schemas.microsoft.com/office/drawing/2014/main" id="{09801125-D86F-4185-B235-C1A3FC0B128F}"/>
              </a:ext>
            </a:extLst>
          </p:cNvPr>
          <p:cNvSpPr>
            <a:spLocks noGrp="1"/>
          </p:cNvSpPr>
          <p:nvPr/>
        </p:nvSpPr>
        <p:spPr>
          <a:xfrm>
            <a:off x="4585106" y="1380744"/>
            <a:ext cx="302148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AZURE</a:t>
            </a:r>
            <a:endParaRPr sz="1200"/>
          </a:p>
        </p:txBody>
      </p:sp>
      <p:sp>
        <p:nvSpPr>
          <p:cNvPr id="14" name="Text 12">
            <a:extLst>
              <a:ext uri="{FF2B5EF4-FFF2-40B4-BE49-F238E27FC236}">
                <a16:creationId xmlns:a16="http://schemas.microsoft.com/office/drawing/2014/main" id="{1D93D1C4-8A01-4A33-A83E-3CEA3C7779CA}"/>
              </a:ext>
            </a:extLst>
          </p:cNvPr>
          <p:cNvSpPr>
            <a:spLocks noGrp="1"/>
          </p:cNvSpPr>
          <p:nvPr/>
        </p:nvSpPr>
        <p:spPr>
          <a:xfrm>
            <a:off x="4585106" y="1655064"/>
            <a:ext cx="3021482" cy="457200"/>
          </a:xfrm>
          <a:prstGeom prst="rect">
            <a:avLst/>
          </a:prstGeom>
          <a:noFill/>
        </p:spPr>
        <p:txBody>
          <a:bodyPr wrap="square" lIns="0" tIns="0" rIns="0" bIns="0" anchor="ctr"/>
          <a:lstStyle/>
          <a:p>
            <a:pPr marL="0" indent="0">
              <a:buNone/>
            </a:pPr>
            <a:r>
              <a:rPr sz="3000" b="1">
                <a:solidFill>
                  <a:srgbClr val="FF9F43"/>
                </a:solidFill>
                <a:latin typeface="Calibri"/>
                <a:ea typeface="Calibri"/>
                <a:cs typeface="Calibri"/>
              </a:rPr>
              <a:t>−3.6%</a:t>
            </a:r>
            <a:endParaRPr sz="3000"/>
          </a:p>
        </p:txBody>
      </p:sp>
      <p:sp>
        <p:nvSpPr>
          <p:cNvPr id="15" name="Text 13">
            <a:extLst>
              <a:ext uri="{FF2B5EF4-FFF2-40B4-BE49-F238E27FC236}">
                <a16:creationId xmlns:a16="http://schemas.microsoft.com/office/drawing/2014/main" id="{B25E932C-02C6-414F-9782-602B8D0FB0F2}"/>
              </a:ext>
            </a:extLst>
          </p:cNvPr>
          <p:cNvSpPr>
            <a:spLocks noGrp="1"/>
          </p:cNvSpPr>
          <p:nvPr/>
        </p:nvSpPr>
        <p:spPr>
          <a:xfrm>
            <a:off x="4585106" y="2093976"/>
            <a:ext cx="3021482" cy="237744"/>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$186,917 → $180,241</a:t>
            </a:r>
            <a:endParaRPr sz="1200"/>
          </a:p>
        </p:txBody>
      </p:sp>
      <p:sp>
        <p:nvSpPr>
          <p:cNvPr id="16" name="Text 14">
            <a:extLst>
              <a:ext uri="{FF2B5EF4-FFF2-40B4-BE49-F238E27FC236}">
                <a16:creationId xmlns:a16="http://schemas.microsoft.com/office/drawing/2014/main" id="{499D8494-0A36-4F7E-97B9-28FE07E94D44}"/>
              </a:ext>
            </a:extLst>
          </p:cNvPr>
          <p:cNvSpPr>
            <a:spLocks noGrp="1"/>
          </p:cNvSpPr>
          <p:nvPr/>
        </p:nvSpPr>
        <p:spPr>
          <a:xfrm>
            <a:off x="3881018" y="1600200"/>
            <a:ext cx="502920" cy="457200"/>
          </a:xfrm>
          <a:prstGeom prst="rect">
            <a:avLst/>
          </a:prstGeom>
          <a:noFill/>
        </p:spPr>
        <p:txBody>
          <a:bodyPr wrap="square" lIns="0" tIns="0" rIns="0" bIns="0" anchor="ctr"/>
          <a:lstStyle/>
          <a:p>
            <a:pPr marL="0" indent="0" algn="ctr">
              <a:buNone/>
            </a:pPr>
            <a:r>
              <a:rPr sz="2400" b="1">
                <a:solidFill>
                  <a:srgbClr val="91A0B7"/>
                </a:solidFill>
                <a:latin typeface="Calibri"/>
                <a:ea typeface="Calibri"/>
                <a:cs typeface="Calibri"/>
              </a:rPr>
              <a:t/>
            </a:r>
            <a:endParaRPr sz="2400"/>
          </a:p>
        </p:txBody>
      </p:sp>
      <p:sp>
        <p:nvSpPr>
          <p:cNvPr id="17" name="Shape 15">
            <a:extLst>
              <a:ext uri="{FF2B5EF4-FFF2-40B4-BE49-F238E27FC236}">
                <a16:creationId xmlns:a16="http://schemas.microsoft.com/office/drawing/2014/main" id="{F2750068-CEBE-428E-A703-AC44D7CD66D6}"/>
              </a:ext>
            </a:extLst>
          </p:cNvPr>
          <p:cNvSpPr>
            <a:spLocks noGrp="1"/>
          </p:cNvSpPr>
          <p:nvPr/>
        </p:nvSpPr>
        <p:spPr>
          <a:xfrm>
            <a:off x="8310677" y="1234440"/>
            <a:ext cx="3423818" cy="1188720"/>
          </a:xfrm>
          <a:prstGeom prst="roundRect">
            <a:avLst>
              <a:gd name="adj" fmla="val 4615"/>
            </a:avLst>
          </a:prstGeom>
          <a:solidFill>
            <a:srgbClr val="121B2D"/>
          </a:solidFill>
          <a:ln w="12700">
            <a:solidFill>
              <a:srgbClr val="3DDC97"/>
            </a:solidFill>
            <a:prstDash val="solid"/>
          </a:ln>
        </p:spPr>
        <p:txBody>
          <a:bodyPr/>
          <a:lstStyle/>
          <a:p>
            <a:endParaRPr/>
          </a:p>
        </p:txBody>
      </p:sp>
      <p:sp>
        <p:nvSpPr>
          <p:cNvPr id="18" name="Text 16">
            <a:extLst>
              <a:ext uri="{FF2B5EF4-FFF2-40B4-BE49-F238E27FC236}">
                <a16:creationId xmlns:a16="http://schemas.microsoft.com/office/drawing/2014/main" id="{56B9344F-6BA5-4F50-BB4A-5C079935BFC0}"/>
              </a:ext>
            </a:extLst>
          </p:cNvPr>
          <p:cNvSpPr>
            <a:spLocks noGrp="1"/>
          </p:cNvSpPr>
          <p:nvPr/>
        </p:nvSpPr>
        <p:spPr>
          <a:xfrm>
            <a:off x="8511845" y="1380744"/>
            <a:ext cx="302148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AWS</a:t>
            </a:r>
            <a:endParaRPr sz="1200"/>
          </a:p>
        </p:txBody>
      </p:sp>
      <p:sp>
        <p:nvSpPr>
          <p:cNvPr id="19" name="Text 17">
            <a:extLst>
              <a:ext uri="{FF2B5EF4-FFF2-40B4-BE49-F238E27FC236}">
                <a16:creationId xmlns:a16="http://schemas.microsoft.com/office/drawing/2014/main" id="{4F436991-FBEE-4597-BB65-1FF9EC2B6731}"/>
              </a:ext>
            </a:extLst>
          </p:cNvPr>
          <p:cNvSpPr>
            <a:spLocks noGrp="1"/>
          </p:cNvSpPr>
          <p:nvPr/>
        </p:nvSpPr>
        <p:spPr>
          <a:xfrm>
            <a:off x="8511845" y="1655064"/>
            <a:ext cx="3021482" cy="457200"/>
          </a:xfrm>
          <a:prstGeom prst="rect">
            <a:avLst/>
          </a:prstGeom>
          <a:noFill/>
        </p:spPr>
        <p:txBody>
          <a:bodyPr wrap="square" lIns="0" tIns="0" rIns="0" bIns="0" anchor="ctr"/>
          <a:lstStyle/>
          <a:p>
            <a:pPr marL="0" indent="0">
              <a:buNone/>
            </a:pPr>
            <a:r>
              <a:rPr sz="3000" b="1">
                <a:solidFill>
                  <a:srgbClr val="3DDC97"/>
                </a:solidFill>
                <a:latin typeface="Calibri"/>
                <a:ea typeface="Calibri"/>
                <a:cs typeface="Calibri"/>
              </a:rPr>
              <a:t>+15.3%</a:t>
            </a:r>
            <a:endParaRPr sz="3000"/>
          </a:p>
        </p:txBody>
      </p:sp>
      <p:sp>
        <p:nvSpPr>
          <p:cNvPr id="20" name="Text 18">
            <a:extLst>
              <a:ext uri="{FF2B5EF4-FFF2-40B4-BE49-F238E27FC236}">
                <a16:creationId xmlns:a16="http://schemas.microsoft.com/office/drawing/2014/main" id="{3A2AA0FD-CDDE-4388-8A5F-B8416E527C65}"/>
              </a:ext>
            </a:extLst>
          </p:cNvPr>
          <p:cNvSpPr>
            <a:spLocks noGrp="1"/>
          </p:cNvSpPr>
          <p:nvPr/>
        </p:nvSpPr>
        <p:spPr>
          <a:xfrm>
            <a:off x="8511845" y="2093976"/>
            <a:ext cx="3021482" cy="237744"/>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$92,930 → $107,187</a:t>
            </a:r>
            <a:endParaRPr sz="1200"/>
          </a:p>
        </p:txBody>
      </p:sp>
      <p:sp>
        <p:nvSpPr>
          <p:cNvPr id="21" name="Text 19">
            <a:extLst>
              <a:ext uri="{FF2B5EF4-FFF2-40B4-BE49-F238E27FC236}">
                <a16:creationId xmlns:a16="http://schemas.microsoft.com/office/drawing/2014/main" id="{07FA07D5-1F1E-4EF0-A863-43513067C598}"/>
              </a:ext>
            </a:extLst>
          </p:cNvPr>
          <p:cNvSpPr>
            <a:spLocks noGrp="1"/>
          </p:cNvSpPr>
          <p:nvPr/>
        </p:nvSpPr>
        <p:spPr>
          <a:xfrm>
            <a:off x="7807757" y="1600200"/>
            <a:ext cx="502920" cy="457200"/>
          </a:xfrm>
          <a:prstGeom prst="rect">
            <a:avLst/>
          </a:prstGeom>
          <a:noFill/>
        </p:spPr>
        <p:txBody>
          <a:bodyPr wrap="square" lIns="0" tIns="0" rIns="0" bIns="0" anchor="ctr"/>
          <a:lstStyle/>
          <a:p>
            <a:pPr marL="0" indent="0" algn="ctr">
              <a:buNone/>
            </a:pPr>
            <a:r>
              <a:rPr sz="2400" b="1">
                <a:solidFill>
                  <a:srgbClr val="91A0B7"/>
                </a:solidFill>
                <a:latin typeface="Calibri"/>
                <a:ea typeface="Calibri"/>
                <a:cs typeface="Calibri"/>
              </a:rPr>
              <a:t/>
            </a:r>
            <a:endParaRPr sz="2400"/>
          </a:p>
        </p:txBody>
      </p:sp>
      <p:sp>
        <p:nvSpPr>
          <p:cNvPr id="22" name="Text 20">
            <a:extLst>
              <a:ext uri="{FF2B5EF4-FFF2-40B4-BE49-F238E27FC236}">
                <a16:creationId xmlns:a16="http://schemas.microsoft.com/office/drawing/2014/main" id="{3BB2B779-5B53-499C-94AD-E61147FADFB5}"/>
              </a:ext>
            </a:extLst>
          </p:cNvPr>
          <p:cNvSpPr>
            <a:spLocks noGrp="1"/>
          </p:cNvSpPr>
          <p:nvPr/>
        </p:nvSpPr>
        <p:spPr>
          <a:xfrm>
            <a:off x="457200" y="2834640"/>
            <a:ext cx="11277295"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What July said would happen, and what August shows</a:t>
            </a:r>
            <a:endParaRPr sz="1500"/>
          </a:p>
        </p:txBody>
      </p:sp>
      <p:graphicFrame>
        <p:nvGraphicFramePr>
          <p:cNvPr id="58" name="Table 0"/>
          <p:cNvGraphicFramePr/>
          <p:nvPr/>
        </p:nvGraphicFramePr>
        <p:xfrm>
          <a:off x="457200" y="3145536"/>
          <a:ext cx="11274552" cy="1586992"/>
        </p:xfrm>
        <a:graphic>
          <a:graphicData uri="http://schemas.openxmlformats.org/drawingml/2006/table">
            <a:tbl>
              <a:tblPr/>
              <a:tblGrid>
                <a:gridCol w="2926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2770632">
                  <a:extLst>
                    <a:ext uri="{9D8B030D-6E8A-4147-A177-3AD203B41FA5}">
                      <a16:colId xmlns:a16="http://schemas.microsoft.com/office/drawing/2014/main" val="20004"/>
                    </a:ext>
                  </a:extLst>
                </a:gridCol>
              </a:tblGrid>
              <a:tr h="292608">
                <a:tc>
                  <a:txBody>
                    <a:bodyPr/>
                    <a:lstStyle/>
                    <a:p>
                      <a:pPr marL="0" indent="0" algn="l">
                        <a:buNone/>
                      </a:pPr>
                      <a:r>
                        <a:rPr sz="1200" b="1" spc="80">
                          <a:solidFill>
                            <a:srgbClr val="91A0B7"/>
                          </a:solidFill>
                          <a:latin typeface="Calibri"/>
                          <a:ea typeface="Calibri"/>
                          <a:cs typeface="Calibri"/>
                        </a:rPr>
                        <a:t>July said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August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Verdict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sz="1200" b="1">
                          <a:solidFill>
                            <a:srgbClr val="F4F7FB"/>
                          </a:solidFill>
                          <a:latin typeface="Calibri"/>
                          <a:ea typeface="Calibri"/>
                          <a:cs typeface="Calibri"/>
                        </a:rPr>
                        <a:t>December run-rate of $4.01M, base case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August annualises to $3.48M against a base case of $3.50M</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Held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F9F43"/>
                          </a:solidFill>
                          <a:latin typeface="Calibri"/>
                          <a:ea typeface="Calibri"/>
                          <a:cs typeface="Calibri"/>
                        </a:rPr>
                        <a:t>the projection stands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sz="1200" b="1">
                          <a:solidFill>
                            <a:srgbClr val="F4F7FB"/>
                          </a:solidFill>
                          <a:latin typeface="Calibri"/>
                          <a:ea typeface="Calibri"/>
                          <a:cs typeface="Calibri"/>
                        </a:rPr>
                        <a:t>The MAP credit needs confirming</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4F7FB"/>
                          </a:solidFill>
                          <a:latin typeface="Calibri"/>
                          <a:ea typeface="Calibri"/>
                          <a:cs typeface="Calibri"/>
                        </a:rPr>
                        <a:t>It did not recur — August credits total $654 across all three statements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4F7FB"/>
                          </a:solidFill>
                          <a:latin typeface="Calibri"/>
                          <a:ea typeface="Calibri"/>
                          <a:cs typeface="Calibri"/>
                        </a:rPr>
                        <a:t>Answered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F9F43"/>
                          </a:solidFill>
                          <a:latin typeface="Calibri"/>
                          <a:ea typeface="Calibri"/>
                          <a:cs typeface="Calibri"/>
                        </a:rPr>
                        <a:t>one-off, as suspected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sz="1200" b="1">
                          <a:solidFill>
                            <a:srgbClr val="F4F7FB"/>
                          </a:solidFill>
                          <a:latin typeface="Calibri"/>
                          <a:ea typeface="Calibri"/>
                          <a:cs typeface="Calibri"/>
                        </a:rPr>
                        <a:t>Sonnet by default, Opus by exception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Opus fell from 96.3% to 76.4% of model spend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Moving</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91A0B7"/>
                          </a:solidFill>
                          <a:latin typeface="Calibri"/>
                          <a:ea typeface="Calibri"/>
                          <a:cs typeface="Calibri"/>
                        </a:rPr>
                        <a:t>mix shifted, cost did not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sz="1200" b="1">
                          <a:solidFill>
                            <a:srgbClr val="F4F7FB"/>
                          </a:solidFill>
                          <a:latin typeface="Calibri"/>
                          <a:ea typeface="Calibri"/>
                          <a:cs typeface="Calibri"/>
                        </a:rPr>
                        <a:t>Untagged spend is getting worse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a:solidFill>
                            <a:srgbClr val="F4F7FB"/>
                          </a:solidFill>
                          <a:latin typeface="Calibri"/>
                          <a:ea typeface="Calibri"/>
                          <a:cs typeface="Calibri"/>
                        </a:rPr>
                        <a:t>Not tested — the tag cut was unavailable this month</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a:solidFill>
                            <a:srgbClr val="F4F7FB"/>
                          </a:solidFill>
                          <a:latin typeface="Calibri"/>
                          <a:ea typeface="Calibri"/>
                          <a:cs typeface="Calibri"/>
                        </a:rPr>
                        <a:t>Open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a:solidFill>
                            <a:srgbClr val="3DDC97"/>
                          </a:solidFill>
                          <a:latin typeface="Calibri"/>
                          <a:ea typeface="Calibri"/>
                          <a:cs typeface="Calibri"/>
                        </a:rPr>
                        <a:t>carried to September</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3DDC97"/>
                          </a:solidFill>
                          <a:latin typeface="Calibri"/>
                          <a:ea typeface="Calibri"/>
                          <a:cs typeface="Calibri"/>
                        </a:rPr>
                        <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4"/>
                  </a:ext>
                </a:extLst>
              </a:tr>
            </a:tbl>
          </a:graphicData>
        </a:graphic>
      </p:graphicFrame>
      <p:sp>
        <p:nvSpPr>
          <p:cNvPr id="24" name="Shape 21">
            <a:extLst>
              <a:ext uri="{FF2B5EF4-FFF2-40B4-BE49-F238E27FC236}">
                <a16:creationId xmlns:a16="http://schemas.microsoft.com/office/drawing/2014/main" id="{CACB8F77-F5BA-4730-89E7-7C68B483F608}"/>
              </a:ext>
            </a:extLst>
          </p:cNvPr>
          <p:cNvSpPr>
            <a:spLocks noGrp="1"/>
          </p:cNvSpPr>
          <p:nvPr/>
        </p:nvSpPr>
        <p:spPr>
          <a:xfrm>
            <a:off x="457200" y="50749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25" name="Text 22">
            <a:extLst>
              <a:ext uri="{FF2B5EF4-FFF2-40B4-BE49-F238E27FC236}">
                <a16:creationId xmlns:a16="http://schemas.microsoft.com/office/drawing/2014/main" id="{E8D19135-676D-4F9C-8D83-B78594E9C41E}"/>
              </a:ext>
            </a:extLst>
          </p:cNvPr>
          <p:cNvSpPr>
            <a:spLocks noGrp="1"/>
          </p:cNvSpPr>
          <p:nvPr/>
        </p:nvSpPr>
        <p:spPr>
          <a:xfrm>
            <a:off x="658368" y="51663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PROJECTION</a:t>
            </a:r>
            <a:endParaRPr sz="1200"/>
          </a:p>
        </p:txBody>
      </p:sp>
      <p:sp>
        <p:nvSpPr>
          <p:cNvPr id="26" name="Text 23">
            <a:extLst>
              <a:ext uri="{FF2B5EF4-FFF2-40B4-BE49-F238E27FC236}">
                <a16:creationId xmlns:a16="http://schemas.microsoft.com/office/drawing/2014/main" id="{4D843D91-5939-4B8F-8683-572AF64243E6}"/>
              </a:ext>
            </a:extLst>
          </p:cNvPr>
          <p:cNvSpPr>
            <a:spLocks noGrp="1"/>
          </p:cNvSpPr>
          <p:nvPr/>
        </p:nvSpPr>
        <p:spPr>
          <a:xfrm>
            <a:off x="658368" y="53675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Held</a:t>
            </a:r>
            <a:endParaRPr sz="2800"/>
          </a:p>
        </p:txBody>
      </p:sp>
      <p:sp>
        <p:nvSpPr>
          <p:cNvPr id="27" name="Text 24">
            <a:extLst>
              <a:ext uri="{FF2B5EF4-FFF2-40B4-BE49-F238E27FC236}">
                <a16:creationId xmlns:a16="http://schemas.microsoft.com/office/drawing/2014/main" id="{010581C2-30A7-47C6-BC1E-21215151A927}"/>
              </a:ext>
            </a:extLst>
          </p:cNvPr>
          <p:cNvSpPr>
            <a:spLocks noGrp="1"/>
          </p:cNvSpPr>
          <p:nvPr/>
        </p:nvSpPr>
        <p:spPr>
          <a:xfrm>
            <a:off x="658368" y="5769864"/>
            <a:ext cx="3204362" cy="329184"/>
          </a:xfrm>
          <a:prstGeom prst="rect">
            <a:avLst/>
          </a:prstGeom>
          <a:noFill/>
        </p:spPr>
        <p:txBody>
          <a:bodyPr wrap="square" lIns="0" tIns="0" rIns="0" bIns="0" anchor="t"/>
          <a:lstStyle/>
          <a:p>
            <a:pPr marL="0" indent="0">
              <a:lnSpc>
                <a:spcPct val="105000"/>
              </a:lnSpc>
              <a:buNone/>
            </a:pPr>
            <a:r>
              <a:rPr sz="1200" b="1">
                <a:solidFill>
                  <a:srgbClr val="3DDC97"/>
                </a:solidFill>
                <a:latin typeface="Calibri"/>
                <a:ea typeface="Calibri"/>
                <a:cs typeface="Calibri"/>
              </a:rPr>
              <a:t>August sits on the base case</a:t>
            </a:r>
            <a:endParaRPr sz="1200"/>
          </a:p>
        </p:txBody>
      </p:sp>
      <p:sp>
        <p:nvSpPr>
          <p:cNvPr id="28" name="Shape 25">
            <a:extLst>
              <a:ext uri="{FF2B5EF4-FFF2-40B4-BE49-F238E27FC236}">
                <a16:creationId xmlns:a16="http://schemas.microsoft.com/office/drawing/2014/main" id="{6E2543B6-0444-4734-87E3-C9346F108E34}"/>
              </a:ext>
            </a:extLst>
          </p:cNvPr>
          <p:cNvSpPr>
            <a:spLocks noGrp="1"/>
          </p:cNvSpPr>
          <p:nvPr/>
        </p:nvSpPr>
        <p:spPr>
          <a:xfrm>
            <a:off x="4292498" y="50749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29" name="Text 26">
            <a:extLst>
              <a:ext uri="{FF2B5EF4-FFF2-40B4-BE49-F238E27FC236}">
                <a16:creationId xmlns:a16="http://schemas.microsoft.com/office/drawing/2014/main" id="{CCC09E92-51D2-401D-8BD2-887EE7BBF34F}"/>
              </a:ext>
            </a:extLst>
          </p:cNvPr>
          <p:cNvSpPr>
            <a:spLocks noGrp="1"/>
          </p:cNvSpPr>
          <p:nvPr/>
        </p:nvSpPr>
        <p:spPr>
          <a:xfrm>
            <a:off x="4493666" y="51663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SAVINGS</a:t>
            </a:r>
            <a:endParaRPr sz="1200"/>
          </a:p>
        </p:txBody>
      </p:sp>
      <p:sp>
        <p:nvSpPr>
          <p:cNvPr id="30" name="Text 27">
            <a:extLst>
              <a:ext uri="{FF2B5EF4-FFF2-40B4-BE49-F238E27FC236}">
                <a16:creationId xmlns:a16="http://schemas.microsoft.com/office/drawing/2014/main" id="{FFFA6E60-87C2-4D40-9769-559ADD8A715B}"/>
              </a:ext>
            </a:extLst>
          </p:cNvPr>
          <p:cNvSpPr>
            <a:spLocks noGrp="1"/>
          </p:cNvSpPr>
          <p:nvPr/>
        </p:nvSpPr>
        <p:spPr>
          <a:xfrm>
            <a:off x="4493666" y="53675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Visible</a:t>
            </a:r>
            <a:endParaRPr sz="2800"/>
          </a:p>
        </p:txBody>
      </p:sp>
      <p:sp>
        <p:nvSpPr>
          <p:cNvPr id="31" name="Text 28">
            <a:extLst>
              <a:ext uri="{FF2B5EF4-FFF2-40B4-BE49-F238E27FC236}">
                <a16:creationId xmlns:a16="http://schemas.microsoft.com/office/drawing/2014/main" id="{48E34EBF-1B06-4594-B517-46D76AB445F9}"/>
              </a:ext>
            </a:extLst>
          </p:cNvPr>
          <p:cNvSpPr>
            <a:spLocks noGrp="1"/>
          </p:cNvSpPr>
          <p:nvPr/>
        </p:nvSpPr>
        <p:spPr>
          <a:xfrm>
            <a:off x="4493666" y="5769864"/>
            <a:ext cx="3204362" cy="329184"/>
          </a:xfrm>
          <a:prstGeom prst="rect">
            <a:avLst/>
          </a:prstGeom>
          <a:noFill/>
        </p:spPr>
        <p:txBody>
          <a:bodyPr wrap="square" lIns="0" tIns="0" rIns="0" bIns="0" anchor="t"/>
          <a:lstStyle/>
          <a:p>
            <a:pPr marL="0" indent="0">
              <a:lnSpc>
                <a:spcPct val="105000"/>
              </a:lnSpc>
              <a:buNone/>
            </a:pPr>
            <a:r>
              <a:rPr sz="1200" b="1">
                <a:solidFill>
                  <a:srgbClr val="FF9F43"/>
                </a:solidFill>
                <a:latin typeface="Calibri"/>
                <a:ea typeface="Calibri"/>
                <a:cs typeface="Calibri"/>
              </a:rPr>
              <a:t>Azure VMs down $8,826 in one month</a:t>
            </a:r>
            <a:endParaRPr sz="1200"/>
          </a:p>
        </p:txBody>
      </p:sp>
      <p:sp>
        <p:nvSpPr>
          <p:cNvPr id="32" name="Shape 29">
            <a:extLst>
              <a:ext uri="{FF2B5EF4-FFF2-40B4-BE49-F238E27FC236}">
                <a16:creationId xmlns:a16="http://schemas.microsoft.com/office/drawing/2014/main" id="{9B360870-0406-49DD-BBF9-21090061633B}"/>
              </a:ext>
            </a:extLst>
          </p:cNvPr>
          <p:cNvSpPr>
            <a:spLocks noGrp="1"/>
          </p:cNvSpPr>
          <p:nvPr/>
        </p:nvSpPr>
        <p:spPr>
          <a:xfrm>
            <a:off x="8127797" y="50749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33" name="Text 30">
            <a:extLst>
              <a:ext uri="{FF2B5EF4-FFF2-40B4-BE49-F238E27FC236}">
                <a16:creationId xmlns:a16="http://schemas.microsoft.com/office/drawing/2014/main" id="{578ACEB1-80C7-4086-80E5-86313AF975A0}"/>
              </a:ext>
            </a:extLst>
          </p:cNvPr>
          <p:cNvSpPr>
            <a:spLocks noGrp="1"/>
          </p:cNvSpPr>
          <p:nvPr/>
        </p:nvSpPr>
        <p:spPr>
          <a:xfrm>
            <a:off x="8328965" y="51663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WATCH</a:t>
            </a:r>
            <a:endParaRPr sz="1200"/>
          </a:p>
        </p:txBody>
      </p:sp>
      <p:sp>
        <p:nvSpPr>
          <p:cNvPr id="34" name="Text 31">
            <a:extLst>
              <a:ext uri="{FF2B5EF4-FFF2-40B4-BE49-F238E27FC236}">
                <a16:creationId xmlns:a16="http://schemas.microsoft.com/office/drawing/2014/main" id="{134F8D0B-7E91-4194-942C-982E30EC8E8D}"/>
              </a:ext>
            </a:extLst>
          </p:cNvPr>
          <p:cNvSpPr>
            <a:spLocks noGrp="1"/>
          </p:cNvSpPr>
          <p:nvPr/>
        </p:nvSpPr>
        <p:spPr>
          <a:xfrm>
            <a:off x="8328965" y="53675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AWS AI</a:t>
            </a:r>
            <a:endParaRPr sz="2800"/>
          </a:p>
        </p:txBody>
      </p:sp>
      <p:sp>
        <p:nvSpPr>
          <p:cNvPr id="35" name="Text 32">
            <a:extLst>
              <a:ext uri="{FF2B5EF4-FFF2-40B4-BE49-F238E27FC236}">
                <a16:creationId xmlns:a16="http://schemas.microsoft.com/office/drawing/2014/main" id="{76B794C1-EE9C-40CF-A963-D0D58AE5EADF}"/>
              </a:ext>
            </a:extLst>
          </p:cNvPr>
          <p:cNvSpPr>
            <a:spLocks noGrp="1"/>
          </p:cNvSpPr>
          <p:nvPr/>
        </p:nvSpPr>
        <p:spPr>
          <a:xfrm>
            <a:off x="8328965" y="5769864"/>
            <a:ext cx="3204362" cy="329184"/>
          </a:xfrm>
          <a:prstGeom prst="rect">
            <a:avLst/>
          </a:prstGeom>
          <a:noFill/>
        </p:spPr>
        <p:txBody>
          <a:bodyPr wrap="square" lIns="0" tIns="0" rIns="0" bIns="0" anchor="t"/>
          <a:lstStyle/>
          <a:p>
            <a:pPr marL="0" indent="0">
              <a:lnSpc>
                <a:spcPct val="105000"/>
              </a:lnSpc>
              <a:buNone/>
            </a:pPr>
            <a:r>
              <a:t>Bedrock $25K → $45K in one month</a:t>
            </a:r>
            <a:endParaRPr sz="1200"/>
          </a:p>
        </p:txBody>
      </p:sp>
    </p:spTree>
    <p:extLst>
      <p:ext uri="{BB962C8B-B14F-4D97-AF65-F5344CB8AC3E}">
        <p14:creationId xmlns:p14="http://schemas.microsoft.com/office/powerpoint/2010/main" val="1084304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64ADFF9-E5A1-4CC7-B45D-C6C56308DDD3}"/>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3862B42D-5DD8-4BB8-B78B-6D3C94EC0EE0}"/>
              </a:ext>
            </a:extLst>
          </p:cNvPr>
          <p:cNvSpPr>
            <a:spLocks noGrp="1"/>
          </p:cNvSpPr>
          <p:nvPr/>
        </p:nvSpPr>
        <p:spPr>
          <a:xfrm>
            <a:off x="457200" y="306324"/>
            <a:ext cx="109728" cy="109728"/>
          </a:xfrm>
          <a:prstGeom prst="ellipse">
            <a:avLst/>
          </a:prstGeom>
          <a:solidFill>
            <a:srgbClr val="FF6B7A"/>
          </a:solidFill>
          <a:ln w="12700">
            <a:solidFill>
              <a:srgbClr val="FF6B7A"/>
            </a:solidFill>
            <a:prstDash val="solid"/>
          </a:ln>
        </p:spPr>
        <p:txBody>
          <a:bodyPr/>
          <a:lstStyle/>
          <a:p>
            <a:endParaRPr/>
          </a:p>
        </p:txBody>
      </p:sp>
      <p:sp>
        <p:nvSpPr>
          <p:cNvPr id="4" name="Text 2">
            <a:extLst>
              <a:ext uri="{FF2B5EF4-FFF2-40B4-BE49-F238E27FC236}">
                <a16:creationId xmlns:a16="http://schemas.microsoft.com/office/drawing/2014/main" id="{A0F4643F-E168-4701-903D-9B716C28AA84}"/>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6B7A"/>
                </a:solidFill>
                <a:latin typeface="Calibri"/>
                <a:ea typeface="Calibri"/>
                <a:cs typeface="Calibri"/>
              </a:rPr>
              <a:t>THE RISK CASE</a:t>
            </a:r>
            <a:endParaRPr sz="1300"/>
          </a:p>
        </p:txBody>
      </p:sp>
      <p:sp>
        <p:nvSpPr>
          <p:cNvPr id="5" name="Text 3">
            <a:extLst>
              <a:ext uri="{FF2B5EF4-FFF2-40B4-BE49-F238E27FC236}">
                <a16:creationId xmlns:a16="http://schemas.microsoft.com/office/drawing/2014/main" id="{014522BB-2B93-4A27-AD01-5E7FD9D58B26}"/>
              </a:ext>
            </a:extLst>
          </p:cNvPr>
          <p:cNvSpPr>
            <a:spLocks noGrp="1"/>
          </p:cNvSpPr>
          <p:nvPr/>
        </p:nvSpPr>
        <p:spPr>
          <a:xfrm>
            <a:off x="457200" y="548640"/>
            <a:ext cx="7680960" cy="566928"/>
          </a:xfrm>
          <a:prstGeom prst="rect">
            <a:avLst/>
          </a:prstGeom>
          <a:noFill/>
        </p:spPr>
        <p:txBody>
          <a:bodyPr wrap="none" lIns="0" tIns="0" rIns="0" bIns="0" anchor="ctr">
            <a:noAutofit/>
          </a:bodyPr>
          <a:lstStyle/>
          <a:p>
            <a:pPr marL="0" indent="0" algn="l">
              <a:buNone/>
              <a:defRPr sz="2850" b="1">
                <a:solidFill>
                  <a:srgbClr val="F4F7FB"/>
                </a:solidFill>
                <a:latin typeface="Calibri"/>
                <a:ea typeface="Calibri"/>
                <a:cs typeface="Calibri"/>
              </a:defRPr>
            </a:pPr>
            <a:r>
              <a:rPr sz="2850" b="1">
                <a:solidFill>
                  <a:srgbClr val="F4F7FB"/>
                </a:solidFill>
                <a:latin typeface="Calibri"/>
                <a:ea typeface="Calibri"/>
                <a:cs typeface="Calibri"/>
              </a:rPr>
              <a:t>August lands on the base case</a:t>
            </a:r>
            <a:endParaRPr sz="2400"/>
          </a:p>
        </p:txBody>
      </p:sp>
      <p:sp>
        <p:nvSpPr>
          <p:cNvPr id="6" name="Text 4">
            <a:extLst>
              <a:ext uri="{FF2B5EF4-FFF2-40B4-BE49-F238E27FC236}">
                <a16:creationId xmlns:a16="http://schemas.microsoft.com/office/drawing/2014/main" id="{A340CAD5-7DEA-4434-9F54-900942B14199}"/>
              </a:ext>
            </a:extLst>
          </p:cNvPr>
          <p:cNvSpPr>
            <a:spLocks noGrp="1"/>
          </p:cNvSpPr>
          <p:nvPr/>
        </p:nvSpPr>
        <p:spPr>
          <a:xfrm>
            <a:off x="8321040" y="493776"/>
            <a:ext cx="3413455" cy="658368"/>
          </a:xfrm>
          <a:prstGeom prst="rect">
            <a:avLst/>
          </a:prstGeom>
          <a:noFill/>
        </p:spPr>
        <p:txBody>
          <a:bodyPr wrap="none" lIns="0" tIns="0" rIns="0" bIns="0" anchor="ctr">
            <a:noAutofit/>
          </a:bodyPr>
          <a:lstStyle/>
          <a:p>
            <a:pPr marL="0" indent="0" algn="r">
              <a:lnSpc>
                <a:spcPct val="115000"/>
              </a:lnSpc>
              <a:buNone/>
              <a:defRPr sz="1350" b="1">
                <a:solidFill>
                  <a:srgbClr val="B07CFF"/>
                </a:solidFill>
                <a:latin typeface="Calibri"/>
                <a:ea typeface="Calibri"/>
                <a:cs typeface="Calibri"/>
              </a:defRPr>
            </a:pPr>
            <a:r>
              <a:rPr sz="1350" b="1">
                <a:solidFill>
                  <a:srgbClr val="B07CFF"/>
                </a:solidFill>
                <a:latin typeface="Calibri"/>
                <a:ea typeface="Calibri"/>
                <a:cs typeface="Calibri"/>
              </a:rPr>
              <a:t>The first of the two months that test it. September is the second.</a:t>
            </a:r>
            <a:endParaRPr sz="1200"/>
          </a:p>
        </p:txBody>
      </p:sp>
      <p:sp>
        <p:nvSpPr>
          <p:cNvPr id="7" name="Text 5">
            <a:extLst>
              <a:ext uri="{FF2B5EF4-FFF2-40B4-BE49-F238E27FC236}">
                <a16:creationId xmlns:a16="http://schemas.microsoft.com/office/drawing/2014/main" id="{7C85AFDD-4F14-4B53-AA53-ED4D6BD8E2F3}"/>
              </a:ext>
            </a:extLst>
          </p:cNvPr>
          <p:cNvSpPr>
            <a:spLocks noGrp="1"/>
          </p:cNvSpPr>
          <p:nvPr/>
        </p:nvSpPr>
        <p:spPr>
          <a:xfrm>
            <a:off x="457200" y="6345936"/>
            <a:ext cx="11277295" cy="402336"/>
          </a:xfrm>
          <a:prstGeom prst="rect">
            <a:avLst/>
          </a:prstGeom>
          <a:noFill/>
        </p:spPr>
        <p:txBody>
          <a:bodyPr wrap="none" lIns="0" tIns="0" rIns="0" bIns="0" anchor="ctr">
            <a:noAutofit/>
          </a:bodyPr>
          <a:lstStyle/>
          <a:p>
            <a:pPr marL="0" indent="0" algn="l">
              <a:lnSpc>
                <a:spcPct val="115000"/>
              </a:lnSpc>
              <a:buNone/>
              <a:defRPr sz="1350" b="0">
                <a:solidFill>
                  <a:srgbClr val="536078"/>
                </a:solidFill>
                <a:latin typeface="Calibri"/>
                <a:ea typeface="Calibri"/>
                <a:cs typeface="Calibri"/>
              </a:defRPr>
            </a:pPr>
            <a:r>
              <a:rPr sz="1350" b="0">
                <a:solidFill>
                  <a:srgbClr val="536078"/>
                </a:solidFill>
                <a:latin typeface="Calibri"/>
                <a:ea typeface="Calibri"/>
                <a:cs typeface="Calibri"/>
              </a:rPr>
              <a:t>One month is not a trend, and September decides whether this is the path or a pause. But the case for the faster scenario is weaker than it was in July.</a:t>
            </a:r>
            <a:endParaRPr sz="1200"/>
          </a:p>
        </p:txBody>
      </p:sp>
      <p:sp>
        <p:nvSpPr>
          <p:cNvPr id="8" name="Text 6">
            <a:extLst>
              <a:ext uri="{FF2B5EF4-FFF2-40B4-BE49-F238E27FC236}">
                <a16:creationId xmlns:a16="http://schemas.microsoft.com/office/drawing/2014/main" id="{076B901A-1795-45E5-BE8E-B61547CE341D}"/>
              </a:ext>
            </a:extLst>
          </p:cNvPr>
          <p:cNvSpPr>
            <a:spLocks noGrp="1"/>
          </p:cNvSpPr>
          <p:nvPr/>
        </p:nvSpPr>
        <p:spPr>
          <a:xfrm>
            <a:off x="457200" y="1234440"/>
            <a:ext cx="7360920" cy="237744"/>
          </a:xfrm>
          <a:prstGeom prst="rect">
            <a:avLst/>
          </a:prstGeom>
          <a:noFill/>
        </p:spPr>
        <p:txBody>
          <a:bodyPr wrap="none" lIns="0" tIns="0" rIns="0" bIns="0" anchor="ctr">
            <a:noAutofit/>
          </a:bodyPr>
          <a:lstStyle/>
          <a:p>
            <a:pPr marL="0" indent="0" algn="l">
              <a:buNone/>
              <a:defRPr sz="1725" b="1">
                <a:solidFill>
                  <a:srgbClr val="F4F7FB"/>
                </a:solidFill>
                <a:latin typeface="Calibri"/>
                <a:ea typeface="Calibri"/>
                <a:cs typeface="Calibri"/>
              </a:defRPr>
            </a:pPr>
            <a:r>
              <a:rPr sz="1725" b="1">
                <a:solidFill>
                  <a:srgbClr val="F4F7FB"/>
                </a:solidFill>
                <a:latin typeface="Calibri"/>
                <a:ea typeface="Calibri"/>
                <a:cs typeface="Calibri"/>
              </a:rPr>
              <a:t>Annualized run-rate · July to December ($M)</a:t>
            </a:r>
            <a:endParaRPr sz="1500"/>
          </a:p>
        </p:txBody>
      </p:sp>
      <p:sp>
        <p:nvSpPr>
          <p:cNvPr id="10" name="Shape 7">
            <a:extLst>
              <a:ext uri="{FF2B5EF4-FFF2-40B4-BE49-F238E27FC236}">
                <a16:creationId xmlns:a16="http://schemas.microsoft.com/office/drawing/2014/main" id="{B0D39D76-0730-4CF9-9939-A1D425E3C359}"/>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1" name="Text 8">
            <a:extLst>
              <a:ext uri="{FF2B5EF4-FFF2-40B4-BE49-F238E27FC236}">
                <a16:creationId xmlns:a16="http://schemas.microsoft.com/office/drawing/2014/main" id="{930363BD-3976-4AF8-88CB-DBED8698B8BB}"/>
              </a:ext>
            </a:extLst>
          </p:cNvPr>
          <p:cNvSpPr>
            <a:spLocks noGrp="1"/>
          </p:cNvSpPr>
          <p:nvPr/>
        </p:nvSpPr>
        <p:spPr>
          <a:xfrm>
            <a:off x="8293608" y="1325880"/>
            <a:ext cx="3239719" cy="237744"/>
          </a:xfrm>
          <a:prstGeom prst="rect">
            <a:avLst/>
          </a:prstGeom>
          <a:noFill/>
        </p:spPr>
        <p:txBody>
          <a:bodyPr wrap="none" lIns="0" tIns="0" rIns="0" bIns="0" anchor="ctr">
            <a:noAutofit/>
          </a:bodyPr>
          <a:lstStyle/>
          <a:p>
            <a:pPr marL="0" indent="0" algn="l">
              <a:buNone/>
              <a:defRPr sz="1350" b="1">
                <a:solidFill>
                  <a:srgbClr val="C5CCDA"/>
                </a:solidFill>
                <a:latin typeface="Calibri"/>
                <a:ea typeface="Calibri"/>
                <a:cs typeface="Calibri"/>
              </a:defRPr>
            </a:pPr>
            <a:r>
              <a:rPr sz="1350" b="1" spc="120">
                <a:solidFill>
                  <a:srgbClr val="C5CCDA"/>
                </a:solidFill>
                <a:latin typeface="Calibri"/>
                <a:ea typeface="Calibri"/>
                <a:cs typeface="Calibri"/>
              </a:rPr>
              <a:t>AUGUST ACTUAL</a:t>
            </a:r>
            <a:endParaRPr sz="1200"/>
          </a:p>
        </p:txBody>
      </p:sp>
      <p:sp>
        <p:nvSpPr>
          <p:cNvPr id="12" name="Text 9">
            <a:extLst>
              <a:ext uri="{FF2B5EF4-FFF2-40B4-BE49-F238E27FC236}">
                <a16:creationId xmlns:a16="http://schemas.microsoft.com/office/drawing/2014/main" id="{C9095B51-66CE-4E12-96E1-1C0DD2A6C63C}"/>
              </a:ext>
            </a:extLst>
          </p:cNvPr>
          <p:cNvSpPr>
            <a:spLocks noGrp="1"/>
          </p:cNvSpPr>
          <p:nvPr/>
        </p:nvSpPr>
        <p:spPr>
          <a:xfrm>
            <a:off x="8293608" y="1527048"/>
            <a:ext cx="3239719" cy="438912"/>
          </a:xfrm>
          <a:prstGeom prst="rect">
            <a:avLst/>
          </a:prstGeom>
          <a:noFill/>
        </p:spPr>
        <p:txBody>
          <a:bodyPr wrap="none" lIns="0" tIns="0" rIns="0" bIns="0" anchor="ctr">
            <a:noAutofit/>
          </a:bodyPr>
          <a:lstStyle/>
          <a:p>
            <a:pPr marL="0" indent="0" algn="l">
              <a:buNone/>
              <a:defRPr sz="3150" b="1">
                <a:solidFill>
                  <a:srgbClr val="6EC8FF"/>
                </a:solidFill>
                <a:latin typeface="Calibri"/>
                <a:ea typeface="Calibri"/>
                <a:cs typeface="Calibri"/>
              </a:defRPr>
            </a:pPr>
            <a:r>
              <a:rPr sz="3150" b="1">
                <a:solidFill>
                  <a:srgbClr val="6EC8FF"/>
                </a:solidFill>
                <a:latin typeface="Calibri"/>
                <a:ea typeface="Calibri"/>
                <a:cs typeface="Calibri"/>
              </a:rPr>
              <a:t>$3.48M</a:t>
            </a:r>
            <a:endParaRPr sz="2800"/>
          </a:p>
        </p:txBody>
      </p:sp>
      <p:sp>
        <p:nvSpPr>
          <p:cNvPr id="13" name="Text 10">
            <a:extLst>
              <a:ext uri="{FF2B5EF4-FFF2-40B4-BE49-F238E27FC236}">
                <a16:creationId xmlns:a16="http://schemas.microsoft.com/office/drawing/2014/main" id="{638230B3-BCB8-4EC5-8F97-B9012BC5ADD0}"/>
              </a:ext>
            </a:extLst>
          </p:cNvPr>
          <p:cNvSpPr>
            <a:spLocks noGrp="1"/>
          </p:cNvSpPr>
          <p:nvPr/>
        </p:nvSpPr>
        <p:spPr>
          <a:xfrm>
            <a:off x="8293608" y="1929384"/>
            <a:ext cx="3239719" cy="329184"/>
          </a:xfrm>
          <a:prstGeom prst="rect">
            <a:avLst/>
          </a:prstGeom>
          <a:noFill/>
        </p:spPr>
        <p:txBody>
          <a:bodyPr wrap="none" lIns="0" tIns="0" rIns="0" bIns="0" anchor="ctr">
            <a:noAutofit/>
          </a:bodyPr>
          <a:lstStyle/>
          <a:p>
            <a:pPr marL="0" indent="0" algn="l">
              <a:lnSpc>
                <a:spcPct val="105000"/>
              </a:lnSpc>
              <a:buNone/>
              <a:defRPr sz="1350" b="1">
                <a:solidFill>
                  <a:srgbClr val="6EC8FF"/>
                </a:solidFill>
                <a:latin typeface="Calibri"/>
                <a:ea typeface="Calibri"/>
                <a:cs typeface="Calibri"/>
              </a:defRPr>
            </a:pPr>
            <a:r>
              <a:rPr sz="1350" b="1">
                <a:solidFill>
                  <a:srgbClr val="6EC8FF"/>
                </a:solidFill>
                <a:latin typeface="Calibri"/>
                <a:ea typeface="Calibri"/>
                <a:cs typeface="Calibri"/>
              </a:rPr>
              <a:t>base case said $3.50M</a:t>
            </a:r>
            <a:endParaRPr sz="1200"/>
          </a:p>
        </p:txBody>
      </p:sp>
      <p:sp>
        <p:nvSpPr>
          <p:cNvPr id="14" name="Shape 11">
            <a:extLst>
              <a:ext uri="{FF2B5EF4-FFF2-40B4-BE49-F238E27FC236}">
                <a16:creationId xmlns:a16="http://schemas.microsoft.com/office/drawing/2014/main" id="{421954A7-CBBB-4180-8D5E-1CBF415ECF2A}"/>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5" name="Text 12">
            <a:extLst>
              <a:ext uri="{FF2B5EF4-FFF2-40B4-BE49-F238E27FC236}">
                <a16:creationId xmlns:a16="http://schemas.microsoft.com/office/drawing/2014/main" id="{044EC2A5-A65D-42F4-92F0-6814715B5194}"/>
              </a:ext>
            </a:extLst>
          </p:cNvPr>
          <p:cNvSpPr>
            <a:spLocks noGrp="1"/>
          </p:cNvSpPr>
          <p:nvPr/>
        </p:nvSpPr>
        <p:spPr>
          <a:xfrm>
            <a:off x="8293608" y="2551176"/>
            <a:ext cx="3239719" cy="237744"/>
          </a:xfrm>
          <a:prstGeom prst="rect">
            <a:avLst/>
          </a:prstGeom>
          <a:noFill/>
        </p:spPr>
        <p:txBody>
          <a:bodyPr wrap="none" lIns="0" tIns="0" rIns="0" bIns="0" anchor="ctr">
            <a:noAutofit/>
          </a:bodyPr>
          <a:lstStyle/>
          <a:p>
            <a:pPr marL="0" indent="0" algn="l">
              <a:buNone/>
              <a:defRPr sz="1350" b="1">
                <a:solidFill>
                  <a:srgbClr val="C5CCDA"/>
                </a:solidFill>
                <a:latin typeface="Calibri"/>
                <a:ea typeface="Calibri"/>
                <a:cs typeface="Calibri"/>
              </a:defRPr>
            </a:pPr>
            <a:r>
              <a:rPr sz="1350" b="1" spc="120">
                <a:solidFill>
                  <a:srgbClr val="C5CCDA"/>
                </a:solidFill>
                <a:latin typeface="Calibri"/>
                <a:ea typeface="Calibri"/>
                <a:cs typeface="Calibri"/>
              </a:rPr>
              <a:t>BASE CASE · DECEMBER</a:t>
            </a:r>
            <a:endParaRPr sz="1200"/>
          </a:p>
        </p:txBody>
      </p:sp>
      <p:sp>
        <p:nvSpPr>
          <p:cNvPr id="16" name="Text 13">
            <a:extLst>
              <a:ext uri="{FF2B5EF4-FFF2-40B4-BE49-F238E27FC236}">
                <a16:creationId xmlns:a16="http://schemas.microsoft.com/office/drawing/2014/main" id="{96047E6E-2EA7-48C1-8CC1-AD6FAABF3FE6}"/>
              </a:ext>
            </a:extLst>
          </p:cNvPr>
          <p:cNvSpPr>
            <a:spLocks noGrp="1"/>
          </p:cNvSpPr>
          <p:nvPr/>
        </p:nvSpPr>
        <p:spPr>
          <a:xfrm>
            <a:off x="8293608" y="2752344"/>
            <a:ext cx="3239719" cy="438912"/>
          </a:xfrm>
          <a:prstGeom prst="rect">
            <a:avLst/>
          </a:prstGeom>
          <a:noFill/>
        </p:spPr>
        <p:txBody>
          <a:bodyPr wrap="none" lIns="0" tIns="0" rIns="0" bIns="0" anchor="ctr">
            <a:noAutofit/>
          </a:bodyPr>
          <a:lstStyle/>
          <a:p>
            <a:pPr marL="0" indent="0" algn="l">
              <a:buNone/>
              <a:defRPr sz="3150" b="1">
                <a:solidFill>
                  <a:srgbClr val="FF9B5C"/>
                </a:solidFill>
                <a:latin typeface="Calibri"/>
                <a:ea typeface="Calibri"/>
                <a:cs typeface="Calibri"/>
              </a:defRPr>
            </a:pPr>
            <a:r>
              <a:rPr sz="3150" b="1">
                <a:solidFill>
                  <a:srgbClr val="FF9B5C"/>
                </a:solidFill>
                <a:latin typeface="Calibri"/>
                <a:ea typeface="Calibri"/>
                <a:cs typeface="Calibri"/>
              </a:rPr>
              <a:t>$4.01M</a:t>
            </a:r>
            <a:endParaRPr sz="2800"/>
          </a:p>
        </p:txBody>
      </p:sp>
      <p:sp>
        <p:nvSpPr>
          <p:cNvPr id="17" name="Text 14">
            <a:extLst>
              <a:ext uri="{FF2B5EF4-FFF2-40B4-BE49-F238E27FC236}">
                <a16:creationId xmlns:a16="http://schemas.microsoft.com/office/drawing/2014/main" id="{404CF916-C277-43EB-8101-38CE03CFDC77}"/>
              </a:ext>
            </a:extLst>
          </p:cNvPr>
          <p:cNvSpPr>
            <a:spLocks noGrp="1"/>
          </p:cNvSpPr>
          <p:nvPr/>
        </p:nvSpPr>
        <p:spPr>
          <a:xfrm>
            <a:off x="8293608" y="3154680"/>
            <a:ext cx="3239719" cy="329184"/>
          </a:xfrm>
          <a:prstGeom prst="rect">
            <a:avLst/>
          </a:prstGeom>
          <a:noFill/>
        </p:spPr>
        <p:txBody>
          <a:bodyPr wrap="none" lIns="0" tIns="0" rIns="0" bIns="0" anchor="ctr">
            <a:noAutofit/>
          </a:bodyPr>
          <a:lstStyle/>
          <a:p>
            <a:pPr marL="0" indent="0" algn="l">
              <a:lnSpc>
                <a:spcPct val="105000"/>
              </a:lnSpc>
              <a:buNone/>
              <a:defRPr sz="1350" b="1">
                <a:solidFill>
                  <a:srgbClr val="FF9B5C"/>
                </a:solidFill>
                <a:latin typeface="Calibri"/>
                <a:ea typeface="Calibri"/>
                <a:cs typeface="Calibri"/>
              </a:defRPr>
            </a:pPr>
            <a:r>
              <a:rPr sz="1350" b="1">
                <a:solidFill>
                  <a:srgbClr val="FF9B5C"/>
                </a:solidFill>
                <a:latin typeface="Calibri"/>
                <a:ea typeface="Calibri"/>
                <a:cs typeface="Calibri"/>
              </a:rPr>
              <a:t>unchanged — August supports it</a:t>
            </a:r>
            <a:endParaRPr sz="1200"/>
          </a:p>
        </p:txBody>
      </p:sp>
      <p:sp>
        <p:nvSpPr>
          <p:cNvPr id="18" name="Shape 15">
            <a:extLst>
              <a:ext uri="{FF2B5EF4-FFF2-40B4-BE49-F238E27FC236}">
                <a16:creationId xmlns:a16="http://schemas.microsoft.com/office/drawing/2014/main" id="{2C528B44-3F2B-436C-8970-CDAED70F79A1}"/>
              </a:ext>
            </a:extLst>
          </p:cNvPr>
          <p:cNvSpPr>
            <a:spLocks noGrp="1"/>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9" name="Text 16">
            <a:extLst>
              <a:ext uri="{FF2B5EF4-FFF2-40B4-BE49-F238E27FC236}">
                <a16:creationId xmlns:a16="http://schemas.microsoft.com/office/drawing/2014/main" id="{D93D5870-9D7E-4AF2-AF04-95CE8BF5E769}"/>
              </a:ext>
            </a:extLst>
          </p:cNvPr>
          <p:cNvSpPr>
            <a:spLocks noGrp="1"/>
          </p:cNvSpPr>
          <p:nvPr/>
        </p:nvSpPr>
        <p:spPr>
          <a:xfrm>
            <a:off x="8293608" y="3776472"/>
            <a:ext cx="3239719" cy="237744"/>
          </a:xfrm>
          <a:prstGeom prst="rect">
            <a:avLst/>
          </a:prstGeom>
          <a:noFill/>
        </p:spPr>
        <p:txBody>
          <a:bodyPr wrap="none" lIns="0" tIns="0" rIns="0" bIns="0" anchor="ctr">
            <a:noAutofit/>
          </a:bodyPr>
          <a:lstStyle/>
          <a:p>
            <a:pPr marL="0" indent="0" algn="l">
              <a:buNone/>
              <a:defRPr sz="1350" b="1">
                <a:solidFill>
                  <a:srgbClr val="C5CCDA"/>
                </a:solidFill>
                <a:latin typeface="Calibri"/>
                <a:ea typeface="Calibri"/>
                <a:cs typeface="Calibri"/>
              </a:defRPr>
            </a:pPr>
            <a:r>
              <a:rPr sz="1350" b="1" spc="120">
                <a:solidFill>
                  <a:srgbClr val="C5CCDA"/>
                </a:solidFill>
                <a:latin typeface="Calibri"/>
                <a:ea typeface="Calibri"/>
                <a:cs typeface="Calibri"/>
              </a:rPr>
              <a:t>FASTER CASE · DECEMBER</a:t>
            </a:r>
            <a:endParaRPr sz="1200"/>
          </a:p>
        </p:txBody>
      </p:sp>
      <p:sp>
        <p:nvSpPr>
          <p:cNvPr id="20" name="Text 17">
            <a:extLst>
              <a:ext uri="{FF2B5EF4-FFF2-40B4-BE49-F238E27FC236}">
                <a16:creationId xmlns:a16="http://schemas.microsoft.com/office/drawing/2014/main" id="{BD853AE9-5389-4701-BD8B-D1B0720EA685}"/>
              </a:ext>
            </a:extLst>
          </p:cNvPr>
          <p:cNvSpPr>
            <a:spLocks noGrp="1"/>
          </p:cNvSpPr>
          <p:nvPr/>
        </p:nvSpPr>
        <p:spPr>
          <a:xfrm>
            <a:off x="8293608" y="3977640"/>
            <a:ext cx="3239719" cy="438912"/>
          </a:xfrm>
          <a:prstGeom prst="rect">
            <a:avLst/>
          </a:prstGeom>
          <a:noFill/>
        </p:spPr>
        <p:txBody>
          <a:bodyPr wrap="none" lIns="0" tIns="0" rIns="0" bIns="0" anchor="ctr">
            <a:noAutofit/>
          </a:bodyPr>
          <a:lstStyle/>
          <a:p>
            <a:pPr marL="0" indent="0" algn="l">
              <a:buNone/>
              <a:defRPr sz="3150" b="1">
                <a:solidFill>
                  <a:srgbClr val="F4F7FB"/>
                </a:solidFill>
                <a:latin typeface="Calibri"/>
                <a:ea typeface="Calibri"/>
                <a:cs typeface="Calibri"/>
              </a:defRPr>
            </a:pPr>
            <a:r>
              <a:rPr sz="3150" b="1">
                <a:solidFill>
                  <a:srgbClr val="F4F7FB"/>
                </a:solidFill>
                <a:latin typeface="Calibri"/>
                <a:ea typeface="Calibri"/>
                <a:cs typeface="Calibri"/>
              </a:rPr>
              <a:t>$5.78M</a:t>
            </a:r>
            <a:endParaRPr sz="2800"/>
          </a:p>
        </p:txBody>
      </p:sp>
      <p:sp>
        <p:nvSpPr>
          <p:cNvPr id="21" name="Text 18">
            <a:extLst>
              <a:ext uri="{FF2B5EF4-FFF2-40B4-BE49-F238E27FC236}">
                <a16:creationId xmlns:a16="http://schemas.microsoft.com/office/drawing/2014/main" id="{9C4A3741-A1BF-4A17-812D-C0F483A5517B}"/>
              </a:ext>
            </a:extLst>
          </p:cNvPr>
          <p:cNvSpPr>
            <a:spLocks noGrp="1"/>
          </p:cNvSpPr>
          <p:nvPr/>
        </p:nvSpPr>
        <p:spPr>
          <a:xfrm>
            <a:off x="8293608" y="4379976"/>
            <a:ext cx="3239719" cy="329184"/>
          </a:xfrm>
          <a:prstGeom prst="rect">
            <a:avLst/>
          </a:prstGeom>
          <a:noFill/>
        </p:spPr>
        <p:txBody>
          <a:bodyPr wrap="none" lIns="0" tIns="0" rIns="0" bIns="0" anchor="ctr">
            <a:noAutofit/>
          </a:bodyPr>
          <a:lstStyle/>
          <a:p>
            <a:pPr marL="0" indent="0" algn="l">
              <a:lnSpc>
                <a:spcPct val="105000"/>
              </a:lnSpc>
              <a:buNone/>
              <a:defRPr sz="1350" b="1">
                <a:solidFill>
                  <a:srgbClr val="C5CCDA"/>
                </a:solidFill>
                <a:latin typeface="Calibri"/>
                <a:ea typeface="Calibri"/>
                <a:cs typeface="Calibri"/>
              </a:defRPr>
            </a:pPr>
            <a:r>
              <a:rPr sz="1350" b="1">
                <a:solidFill>
                  <a:srgbClr val="C5CCDA"/>
                </a:solidFill>
                <a:latin typeface="Calibri"/>
                <a:ea typeface="Calibri"/>
                <a:cs typeface="Calibri"/>
              </a:rPr>
              <a:t>not the path we are on</a:t>
            </a:r>
            <a:endParaRPr sz="1200"/>
          </a:p>
        </p:txBody>
      </p:sp>
      <p:graphicFrame>
        <p:nvGraphicFramePr>
          <p:cNvPr id="42" name="Chart"/>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68783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6795454-80C5-4F39-AF5F-5527212BB999}"/>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3557F83F-F1FB-4E8D-990F-9512E1D30F09}"/>
              </a:ext>
            </a:extLst>
          </p:cNvPr>
          <p:cNvSpPr>
            <a:spLocks noGrp="1"/>
          </p:cNvSpPr>
          <p:nvPr/>
        </p:nvSpPr>
        <p:spPr>
          <a:xfrm>
            <a:off x="457200" y="306324"/>
            <a:ext cx="109728" cy="109728"/>
          </a:xfrm>
          <a:prstGeom prst="ellipse">
            <a:avLst/>
          </a:prstGeom>
          <a:solidFill>
            <a:srgbClr val="3DD9EB"/>
          </a:solidFill>
          <a:ln w="12700">
            <a:solidFill>
              <a:srgbClr val="3DD9EB"/>
            </a:solidFill>
            <a:prstDash val="solid"/>
          </a:ln>
        </p:spPr>
        <p:txBody>
          <a:bodyPr/>
          <a:lstStyle/>
          <a:p>
            <a:endParaRPr/>
          </a:p>
        </p:txBody>
      </p:sp>
      <p:sp>
        <p:nvSpPr>
          <p:cNvPr id="4" name="Text 2">
            <a:extLst>
              <a:ext uri="{FF2B5EF4-FFF2-40B4-BE49-F238E27FC236}">
                <a16:creationId xmlns:a16="http://schemas.microsoft.com/office/drawing/2014/main" id="{8C448E3E-C698-465B-B264-08803A03F338}"/>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3DD9EB"/>
                </a:solidFill>
                <a:latin typeface="Calibri"/>
                <a:ea typeface="Calibri"/>
                <a:cs typeface="Calibri"/>
              </a:rPr>
              <a:t>WHERE WE ARE</a:t>
            </a:r>
            <a:endParaRPr sz="1300"/>
          </a:p>
        </p:txBody>
      </p:sp>
      <p:sp>
        <p:nvSpPr>
          <p:cNvPr id="5" name="Text 3">
            <a:extLst>
              <a:ext uri="{FF2B5EF4-FFF2-40B4-BE49-F238E27FC236}">
                <a16:creationId xmlns:a16="http://schemas.microsoft.com/office/drawing/2014/main" id="{A7E20861-39E1-4AA5-A632-691808E29F03}"/>
              </a:ext>
            </a:extLst>
          </p:cNvPr>
          <p:cNvSpPr>
            <a:spLocks noGrp="1"/>
          </p:cNvSpPr>
          <p:nvPr/>
        </p:nvSpPr>
        <p:spPr>
          <a:xfrm>
            <a:off x="457200" y="548640"/>
            <a:ext cx="7680960" cy="566928"/>
          </a:xfrm>
          <a:prstGeom prst="rect">
            <a:avLst/>
          </a:prstGeom>
          <a:noFill/>
        </p:spPr>
        <p:txBody>
          <a:bodyPr wrap="none" lIns="0" tIns="0" rIns="0" bIns="0" anchor="ctr">
            <a:noAutofit/>
          </a:bodyPr>
          <a:lstStyle/>
          <a:p>
            <a:pPr marL="0" indent="0" algn="l">
              <a:buNone/>
              <a:defRPr sz="3000" b="1">
                <a:solidFill>
                  <a:srgbClr val="F4F7FB"/>
                </a:solidFill>
                <a:latin typeface="Calibri"/>
                <a:ea typeface="Calibri"/>
                <a:cs typeface="Calibri"/>
              </a:defRPr>
            </a:pPr>
            <a:r>
              <a:rPr sz="3000" b="1">
                <a:solidFill>
                  <a:srgbClr val="F4F7FB"/>
                </a:solidFill>
                <a:latin typeface="Calibri"/>
                <a:ea typeface="Calibri"/>
                <a:cs typeface="Calibri"/>
              </a:rPr>
              <a:t>Azure fell, AWS rose, and the growth moved to AI</a:t>
            </a:r>
            <a:endParaRPr sz="2800"/>
          </a:p>
        </p:txBody>
      </p:sp>
      <p:sp>
        <p:nvSpPr>
          <p:cNvPr id="6" name="Text 4">
            <a:extLst>
              <a:ext uri="{FF2B5EF4-FFF2-40B4-BE49-F238E27FC236}">
                <a16:creationId xmlns:a16="http://schemas.microsoft.com/office/drawing/2014/main" id="{63903009-D89C-45DB-83F7-8C3E621BBF82}"/>
              </a:ext>
            </a:extLst>
          </p:cNvPr>
          <p:cNvSpPr>
            <a:spLocks noGrp="1"/>
          </p:cNvSpPr>
          <p:nvPr/>
        </p:nvSpPr>
        <p:spPr>
          <a:xfrm>
            <a:off x="8321040" y="493776"/>
            <a:ext cx="3413455" cy="658368"/>
          </a:xfrm>
          <a:prstGeom prst="rect">
            <a:avLst/>
          </a:prstGeom>
          <a:noFill/>
        </p:spPr>
        <p:txBody>
          <a:bodyPr wrap="none" lIns="0" tIns="0" rIns="0" bIns="0" anchor="ctr">
            <a:noAutofit/>
          </a:bodyPr>
          <a:lstStyle/>
          <a:p>
            <a:pPr algn="r">
              <a:buNone/>
              <a:defRPr>
                <a:latin typeface="Calibri"/>
                <a:ea typeface="Calibri"/>
                <a:cs typeface="Calibri"/>
              </a:defRPr>
            </a:pPr>
            <a:r>
              <a:rPr sz="1500" b="1">
                <a:solidFill>
                  <a:srgbClr val="B07CFF"/>
                </a:solidFill>
                <a:latin typeface="Calibri"/>
                <a:ea typeface="Calibri"/>
                <a:cs typeface="Calibri"/>
              </a:rPr>
              <a:t>AUGUST MONTHLY CONSUMPTION
$290.3K</a:t>
            </a:r>
          </a:p>
        </p:txBody>
      </p:sp>
      <p:sp>
        <p:nvSpPr>
          <p:cNvPr id="7" name="Text 5">
            <a:extLst>
              <a:ext uri="{FF2B5EF4-FFF2-40B4-BE49-F238E27FC236}">
                <a16:creationId xmlns:a16="http://schemas.microsoft.com/office/drawing/2014/main" id="{C989A9AA-7E70-4325-BB59-18DCC0F25837}"/>
              </a:ext>
            </a:extLst>
          </p:cNvPr>
          <p:cNvSpPr>
            <a:spLocks noGrp="1"/>
          </p:cNvSpPr>
          <p:nvPr/>
        </p:nvSpPr>
        <p:spPr>
          <a:xfrm>
            <a:off x="457200" y="6345936"/>
            <a:ext cx="11277295" cy="402336"/>
          </a:xfrm>
          <a:prstGeom prst="rect">
            <a:avLst/>
          </a:prstGeom>
          <a:noFill/>
        </p:spPr>
        <p:txBody>
          <a:bodyPr wrap="none" lIns="0" tIns="0" rIns="0" bIns="0" anchor="ctr">
            <a:noAutofit/>
          </a:bodyPr>
          <a:lstStyle/>
          <a:p>
            <a:pPr marL="0" indent="0" algn="l">
              <a:lnSpc>
                <a:spcPct val="115000"/>
              </a:lnSpc>
              <a:buNone/>
              <a:defRPr sz="1350" b="0">
                <a:solidFill>
                  <a:srgbClr val="536078"/>
                </a:solidFill>
                <a:latin typeface="Calibri"/>
                <a:ea typeface="Calibri"/>
                <a:cs typeface="Calibri"/>
              </a:defRPr>
            </a:pPr>
            <a:r>
              <a:rPr sz="1350" b="0">
                <a:solidFill>
                  <a:srgbClr val="536078"/>
                </a:solidFill>
                <a:latin typeface="Calibri"/>
                <a:ea typeface="Calibri"/>
                <a:cs typeface="Calibri"/>
              </a:rPr>
              <a:t>The estate barely grew. What changed is its composition: infrastructure came down and AI went up by more.</a:t>
            </a:r>
            <a:endParaRPr sz="1200"/>
          </a:p>
        </p:txBody>
      </p:sp>
      <p:sp>
        <p:nvSpPr>
          <p:cNvPr id="8" name="Text 6">
            <a:extLst>
              <a:ext uri="{FF2B5EF4-FFF2-40B4-BE49-F238E27FC236}">
                <a16:creationId xmlns:a16="http://schemas.microsoft.com/office/drawing/2014/main" id="{34774243-A7FF-4B9C-8E31-8A64E43DF4EF}"/>
              </a:ext>
            </a:extLst>
          </p:cNvPr>
          <p:cNvSpPr>
            <a:spLocks noGrp="1"/>
          </p:cNvSpPr>
          <p:nvPr/>
        </p:nvSpPr>
        <p:spPr>
          <a:xfrm>
            <a:off x="457200" y="1691640"/>
            <a:ext cx="5669280" cy="1371600"/>
          </a:xfrm>
          <a:prstGeom prst="rect">
            <a:avLst/>
          </a:prstGeom>
          <a:noFill/>
        </p:spPr>
        <p:txBody>
          <a:bodyPr wrap="none" lIns="0" tIns="0" rIns="0" bIns="0" anchor="ctr">
            <a:noAutofit/>
          </a:bodyPr>
          <a:lstStyle/>
          <a:p>
            <a:pPr marL="0" indent="0" algn="l">
              <a:buNone/>
              <a:defRPr sz="8400" b="1">
                <a:solidFill>
                  <a:srgbClr val="F4F7FB"/>
                </a:solidFill>
                <a:latin typeface="Calibri"/>
                <a:ea typeface="Calibri"/>
                <a:cs typeface="Calibri"/>
              </a:defRPr>
            </a:pPr>
            <a:r>
              <a:rPr sz="8400" b="1">
                <a:solidFill>
                  <a:srgbClr val="F4F7FB"/>
                </a:solidFill>
                <a:latin typeface="Calibri"/>
                <a:ea typeface="Calibri"/>
                <a:cs typeface="Calibri"/>
              </a:rPr>
              <a:t>$3.48M</a:t>
            </a:r>
            <a:endParaRPr sz="9600"/>
          </a:p>
        </p:txBody>
      </p:sp>
      <p:sp>
        <p:nvSpPr>
          <p:cNvPr id="9" name="Text 7">
            <a:extLst>
              <a:ext uri="{FF2B5EF4-FFF2-40B4-BE49-F238E27FC236}">
                <a16:creationId xmlns:a16="http://schemas.microsoft.com/office/drawing/2014/main" id="{D014710B-ED5F-45D4-9870-D525C407D9F1}"/>
              </a:ext>
            </a:extLst>
          </p:cNvPr>
          <p:cNvSpPr>
            <a:spLocks noGrp="1"/>
          </p:cNvSpPr>
          <p:nvPr/>
        </p:nvSpPr>
        <p:spPr>
          <a:xfrm>
            <a:off x="457200" y="3063240"/>
            <a:ext cx="5669280" cy="365760"/>
          </a:xfrm>
          <a:prstGeom prst="rect">
            <a:avLst/>
          </a:prstGeom>
          <a:noFill/>
        </p:spPr>
        <p:txBody>
          <a:bodyPr wrap="none" lIns="0" tIns="0" rIns="0" bIns="0" anchor="ctr">
            <a:noAutofit/>
          </a:bodyPr>
          <a:lstStyle/>
          <a:p>
            <a:pPr marL="0" indent="0" algn="l">
              <a:buNone/>
              <a:defRPr sz="1800" b="1">
                <a:solidFill>
                  <a:srgbClr val="C5CCDA"/>
                </a:solidFill>
                <a:latin typeface="Calibri"/>
                <a:ea typeface="Calibri"/>
                <a:cs typeface="Calibri"/>
              </a:defRPr>
            </a:pPr>
            <a:r>
              <a:rPr sz="1800" b="1">
                <a:solidFill>
                  <a:srgbClr val="C5CCDA"/>
                </a:solidFill>
                <a:latin typeface="Calibri"/>
                <a:ea typeface="Calibri"/>
                <a:cs typeface="Calibri"/>
              </a:rPr>
              <a:t>Annualized from August · not a forecast</a:t>
            </a:r>
            <a:endParaRPr sz="1500"/>
          </a:p>
        </p:txBody>
      </p:sp>
      <p:sp>
        <p:nvSpPr>
          <p:cNvPr id="10" name="Text 8">
            <a:extLst>
              <a:ext uri="{FF2B5EF4-FFF2-40B4-BE49-F238E27FC236}">
                <a16:creationId xmlns:a16="http://schemas.microsoft.com/office/drawing/2014/main" id="{320E8E31-22B7-4616-9C30-29883B1D1A50}"/>
              </a:ext>
            </a:extLst>
          </p:cNvPr>
          <p:cNvSpPr>
            <a:spLocks noGrp="1"/>
          </p:cNvSpPr>
          <p:nvPr/>
        </p:nvSpPr>
        <p:spPr>
          <a:xfrm>
            <a:off x="457200" y="3456432"/>
            <a:ext cx="5669280" cy="365760"/>
          </a:xfrm>
          <a:prstGeom prst="rect">
            <a:avLst/>
          </a:prstGeom>
          <a:noFill/>
        </p:spPr>
        <p:txBody>
          <a:bodyPr wrap="none" lIns="0" tIns="0" rIns="0" bIns="0" anchor="ctr">
            <a:noAutofit/>
          </a:bodyPr>
          <a:lstStyle/>
          <a:p>
            <a:pPr marL="0" indent="0" algn="l">
              <a:buNone/>
              <a:defRPr sz="1725" b="1">
                <a:solidFill>
                  <a:srgbClr val="B07CFF"/>
                </a:solidFill>
                <a:latin typeface="Calibri"/>
                <a:ea typeface="Calibri"/>
                <a:cs typeface="Calibri"/>
              </a:defRPr>
            </a:pPr>
            <a:r>
              <a:rPr sz="1725" b="1">
                <a:solidFill>
                  <a:srgbClr val="B07CFF"/>
                </a:solidFill>
                <a:latin typeface="Calibri"/>
                <a:ea typeface="Calibri"/>
                <a:cs typeface="Calibri"/>
              </a:rPr>
              <a:t>+$81K annual pace since July · +2.4%</a:t>
            </a:r>
            <a:endParaRPr sz="1700"/>
          </a:p>
        </p:txBody>
      </p:sp>
      <p:sp>
        <p:nvSpPr>
          <p:cNvPr id="11" name="Shape 9">
            <a:extLst>
              <a:ext uri="{FF2B5EF4-FFF2-40B4-BE49-F238E27FC236}">
                <a16:creationId xmlns:a16="http://schemas.microsoft.com/office/drawing/2014/main" id="{2C5EA507-A981-4FBE-933D-5006B88E456E}"/>
              </a:ext>
            </a:extLst>
          </p:cNvPr>
          <p:cNvSpPr>
            <a:spLocks noGrp="1"/>
          </p:cNvSpPr>
          <p:nvPr/>
        </p:nvSpPr>
        <p:spPr>
          <a:xfrm>
            <a:off x="6492240" y="1554480"/>
            <a:ext cx="5242255" cy="914400"/>
          </a:xfrm>
          <a:prstGeom prst="roundRect">
            <a:avLst>
              <a:gd name="adj" fmla="val 6000"/>
            </a:avLst>
          </a:prstGeom>
          <a:solidFill>
            <a:srgbClr val="121B2D"/>
          </a:solidFill>
          <a:ln w="12700">
            <a:solidFill>
              <a:srgbClr val="23304A"/>
            </a:solidFill>
            <a:prstDash val="solid"/>
          </a:ln>
        </p:spPr>
        <p:txBody>
          <a:bodyPr/>
          <a:lstStyle/>
          <a:p>
            <a:endParaRPr/>
          </a:p>
        </p:txBody>
      </p:sp>
      <p:sp>
        <p:nvSpPr>
          <p:cNvPr id="12" name="Text 10">
            <a:extLst>
              <a:ext uri="{FF2B5EF4-FFF2-40B4-BE49-F238E27FC236}">
                <a16:creationId xmlns:a16="http://schemas.microsoft.com/office/drawing/2014/main" id="{D39C015B-DE21-4043-97C4-9920F9C77AAA}"/>
              </a:ext>
            </a:extLst>
          </p:cNvPr>
          <p:cNvSpPr>
            <a:spLocks noGrp="1"/>
          </p:cNvSpPr>
          <p:nvPr/>
        </p:nvSpPr>
        <p:spPr>
          <a:xfrm>
            <a:off x="6693408" y="1682496"/>
            <a:ext cx="4839919" cy="274320"/>
          </a:xfrm>
          <a:prstGeom prst="rect">
            <a:avLst/>
          </a:prstGeom>
          <a:noFill/>
        </p:spPr>
        <p:txBody>
          <a:bodyPr wrap="none" lIns="0" tIns="0" rIns="0" bIns="0" anchor="ctr">
            <a:noAutofit/>
          </a:bodyPr>
          <a:lstStyle/>
          <a:p>
            <a:pPr marL="0" indent="0" algn="l">
              <a:buNone/>
              <a:defRPr sz="1500" b="1">
                <a:solidFill>
                  <a:srgbClr val="6EC8FF"/>
                </a:solidFill>
                <a:latin typeface="Calibri"/>
                <a:ea typeface="Calibri"/>
                <a:cs typeface="Calibri"/>
              </a:defRPr>
            </a:pPr>
            <a:r>
              <a:rPr sz="1500" b="1">
                <a:solidFill>
                  <a:srgbClr val="6EC8FF"/>
                </a:solidFill>
                <a:latin typeface="Calibri"/>
                <a:ea typeface="Calibri"/>
                <a:cs typeface="Calibri"/>
              </a:rPr>
              <a:t>Azure</a:t>
            </a:r>
            <a:endParaRPr sz="1500"/>
          </a:p>
        </p:txBody>
      </p:sp>
      <p:sp>
        <p:nvSpPr>
          <p:cNvPr id="13" name="Text 11">
            <a:extLst>
              <a:ext uri="{FF2B5EF4-FFF2-40B4-BE49-F238E27FC236}">
                <a16:creationId xmlns:a16="http://schemas.microsoft.com/office/drawing/2014/main" id="{BCF1D0F5-FC03-4293-952A-708C28B319D3}"/>
              </a:ext>
            </a:extLst>
          </p:cNvPr>
          <p:cNvSpPr>
            <a:spLocks noGrp="1"/>
          </p:cNvSpPr>
          <p:nvPr/>
        </p:nvSpPr>
        <p:spPr>
          <a:xfrm>
            <a:off x="6693408" y="1975104"/>
            <a:ext cx="2419960" cy="347472"/>
          </a:xfrm>
          <a:prstGeom prst="rect">
            <a:avLst/>
          </a:prstGeom>
          <a:noFill/>
        </p:spPr>
        <p:txBody>
          <a:bodyPr wrap="none" lIns="0" tIns="0" rIns="0" bIns="0" anchor="ctr">
            <a:noAutofit/>
          </a:bodyPr>
          <a:lstStyle/>
          <a:p>
            <a:pPr marL="0" indent="0" algn="l">
              <a:buNone/>
              <a:defRPr sz="2325" b="1">
                <a:solidFill>
                  <a:srgbClr val="6EC8FF"/>
                </a:solidFill>
                <a:latin typeface="Calibri"/>
                <a:ea typeface="Calibri"/>
                <a:cs typeface="Calibri"/>
              </a:defRPr>
            </a:pPr>
            <a:r>
              <a:rPr sz="2325" b="1">
                <a:solidFill>
                  <a:srgbClr val="6EC8FF"/>
                </a:solidFill>
                <a:latin typeface="Calibri"/>
                <a:ea typeface="Calibri"/>
                <a:cs typeface="Calibri"/>
              </a:rPr>
              <a:t>$180,241</a:t>
            </a:r>
            <a:endParaRPr sz="2200"/>
          </a:p>
        </p:txBody>
      </p:sp>
      <p:sp>
        <p:nvSpPr>
          <p:cNvPr id="14" name="Text 12">
            <a:extLst>
              <a:ext uri="{FF2B5EF4-FFF2-40B4-BE49-F238E27FC236}">
                <a16:creationId xmlns:a16="http://schemas.microsoft.com/office/drawing/2014/main" id="{EE99CEF2-9611-47B6-BA7A-E8893BFBDE86}"/>
              </a:ext>
            </a:extLst>
          </p:cNvPr>
          <p:cNvSpPr>
            <a:spLocks noGrp="1"/>
          </p:cNvSpPr>
          <p:nvPr/>
        </p:nvSpPr>
        <p:spPr>
          <a:xfrm>
            <a:off x="9113368" y="1975104"/>
            <a:ext cx="2419960" cy="347472"/>
          </a:xfrm>
          <a:prstGeom prst="rect">
            <a:avLst/>
          </a:prstGeom>
          <a:noFill/>
        </p:spPr>
        <p:txBody>
          <a:bodyPr wrap="none" lIns="0" tIns="0" rIns="0" bIns="0" anchor="ctr">
            <a:noAutofit/>
          </a:bodyPr>
          <a:lstStyle/>
          <a:p>
            <a:pPr marL="0" indent="0" algn="r">
              <a:buNone/>
              <a:defRPr sz="1575" b="1">
                <a:solidFill>
                  <a:srgbClr val="6EC8FF"/>
                </a:solidFill>
                <a:latin typeface="Calibri"/>
                <a:ea typeface="Calibri"/>
                <a:cs typeface="Calibri"/>
              </a:defRPr>
            </a:pPr>
            <a:r>
              <a:rPr sz="1575" b="1">
                <a:solidFill>
                  <a:srgbClr val="6EC8FF"/>
                </a:solidFill>
                <a:latin typeface="Calibri"/>
                <a:ea typeface="Calibri"/>
                <a:cs typeface="Calibri"/>
              </a:rPr>
              <a:t>62% of August consumption</a:t>
            </a:r>
            <a:endParaRPr sz="1200"/>
          </a:p>
        </p:txBody>
      </p:sp>
      <p:sp>
        <p:nvSpPr>
          <p:cNvPr id="15" name="Shape 13">
            <a:extLst>
              <a:ext uri="{FF2B5EF4-FFF2-40B4-BE49-F238E27FC236}">
                <a16:creationId xmlns:a16="http://schemas.microsoft.com/office/drawing/2014/main" id="{DBBF64F9-91C3-4634-8CEA-5CBC230FCFDB}"/>
              </a:ext>
            </a:extLst>
          </p:cNvPr>
          <p:cNvSpPr>
            <a:spLocks noGrp="1"/>
          </p:cNvSpPr>
          <p:nvPr/>
        </p:nvSpPr>
        <p:spPr>
          <a:xfrm>
            <a:off x="6492240" y="2606040"/>
            <a:ext cx="5242255" cy="914400"/>
          </a:xfrm>
          <a:prstGeom prst="roundRect">
            <a:avLst>
              <a:gd name="adj" fmla="val 6000"/>
            </a:avLst>
          </a:prstGeom>
          <a:solidFill>
            <a:srgbClr val="121B2D"/>
          </a:solidFill>
          <a:ln w="12700">
            <a:solidFill>
              <a:srgbClr val="23304A"/>
            </a:solidFill>
            <a:prstDash val="solid"/>
          </a:ln>
        </p:spPr>
        <p:txBody>
          <a:bodyPr/>
          <a:lstStyle/>
          <a:p>
            <a:endParaRPr/>
          </a:p>
        </p:txBody>
      </p:sp>
      <p:sp>
        <p:nvSpPr>
          <p:cNvPr id="16" name="Text 14">
            <a:extLst>
              <a:ext uri="{FF2B5EF4-FFF2-40B4-BE49-F238E27FC236}">
                <a16:creationId xmlns:a16="http://schemas.microsoft.com/office/drawing/2014/main" id="{08EB5DA9-06BC-4442-977D-ED91594A22CA}"/>
              </a:ext>
            </a:extLst>
          </p:cNvPr>
          <p:cNvSpPr>
            <a:spLocks noGrp="1"/>
          </p:cNvSpPr>
          <p:nvPr/>
        </p:nvSpPr>
        <p:spPr>
          <a:xfrm>
            <a:off x="6693408" y="2734056"/>
            <a:ext cx="4839919" cy="274320"/>
          </a:xfrm>
          <a:prstGeom prst="rect">
            <a:avLst/>
          </a:prstGeom>
          <a:noFill/>
        </p:spPr>
        <p:txBody>
          <a:bodyPr wrap="none" lIns="0" tIns="0" rIns="0" bIns="0" anchor="ctr">
            <a:noAutofit/>
          </a:bodyPr>
          <a:lstStyle/>
          <a:p>
            <a:pPr marL="0" indent="0" algn="l">
              <a:buNone/>
              <a:defRPr sz="1500" b="1">
                <a:solidFill>
                  <a:srgbClr val="FF9B5C"/>
                </a:solidFill>
                <a:latin typeface="Calibri"/>
                <a:ea typeface="Calibri"/>
                <a:cs typeface="Calibri"/>
              </a:defRPr>
            </a:pPr>
            <a:r>
              <a:rPr sz="1500" b="1">
                <a:solidFill>
                  <a:srgbClr val="FF9B5C"/>
                </a:solidFill>
                <a:latin typeface="Calibri"/>
                <a:ea typeface="Calibri"/>
                <a:cs typeface="Calibri"/>
              </a:rPr>
              <a:t>AWS</a:t>
            </a:r>
            <a:endParaRPr sz="1500"/>
          </a:p>
        </p:txBody>
      </p:sp>
      <p:sp>
        <p:nvSpPr>
          <p:cNvPr id="17" name="Text 15">
            <a:extLst>
              <a:ext uri="{FF2B5EF4-FFF2-40B4-BE49-F238E27FC236}">
                <a16:creationId xmlns:a16="http://schemas.microsoft.com/office/drawing/2014/main" id="{B559A1E5-CD39-4916-9CCE-151BBF4DA91E}"/>
              </a:ext>
            </a:extLst>
          </p:cNvPr>
          <p:cNvSpPr>
            <a:spLocks noGrp="1"/>
          </p:cNvSpPr>
          <p:nvPr/>
        </p:nvSpPr>
        <p:spPr>
          <a:xfrm>
            <a:off x="6693408" y="3026664"/>
            <a:ext cx="2419960" cy="347472"/>
          </a:xfrm>
          <a:prstGeom prst="rect">
            <a:avLst/>
          </a:prstGeom>
          <a:noFill/>
        </p:spPr>
        <p:txBody>
          <a:bodyPr wrap="none" lIns="0" tIns="0" rIns="0" bIns="0" anchor="ctr">
            <a:noAutofit/>
          </a:bodyPr>
          <a:lstStyle/>
          <a:p>
            <a:pPr marL="0" indent="0" algn="l">
              <a:buNone/>
              <a:defRPr sz="2325" b="1">
                <a:solidFill>
                  <a:srgbClr val="FF9B5C"/>
                </a:solidFill>
                <a:latin typeface="Calibri"/>
                <a:ea typeface="Calibri"/>
                <a:cs typeface="Calibri"/>
              </a:defRPr>
            </a:pPr>
            <a:r>
              <a:rPr sz="2325" b="1">
                <a:solidFill>
                  <a:srgbClr val="FF9B5C"/>
                </a:solidFill>
                <a:latin typeface="Calibri"/>
                <a:ea typeface="Calibri"/>
                <a:cs typeface="Calibri"/>
              </a:rPr>
              <a:t>$107,187</a:t>
            </a:r>
            <a:endParaRPr sz="2200"/>
          </a:p>
        </p:txBody>
      </p:sp>
      <p:sp>
        <p:nvSpPr>
          <p:cNvPr id="18" name="Text 16">
            <a:extLst>
              <a:ext uri="{FF2B5EF4-FFF2-40B4-BE49-F238E27FC236}">
                <a16:creationId xmlns:a16="http://schemas.microsoft.com/office/drawing/2014/main" id="{EEFB396D-5336-407E-8865-312876A6612C}"/>
              </a:ext>
            </a:extLst>
          </p:cNvPr>
          <p:cNvSpPr>
            <a:spLocks noGrp="1"/>
          </p:cNvSpPr>
          <p:nvPr/>
        </p:nvSpPr>
        <p:spPr>
          <a:xfrm>
            <a:off x="9113368" y="3026664"/>
            <a:ext cx="2419960" cy="347472"/>
          </a:xfrm>
          <a:prstGeom prst="rect">
            <a:avLst/>
          </a:prstGeom>
          <a:noFill/>
        </p:spPr>
        <p:txBody>
          <a:bodyPr wrap="none" lIns="0" tIns="0" rIns="0" bIns="0" anchor="ctr">
            <a:noAutofit/>
          </a:bodyPr>
          <a:lstStyle/>
          <a:p>
            <a:pPr marL="0" indent="0" algn="r">
              <a:buNone/>
              <a:defRPr sz="1575" b="1">
                <a:solidFill>
                  <a:srgbClr val="FF9B5C"/>
                </a:solidFill>
                <a:latin typeface="Calibri"/>
                <a:ea typeface="Calibri"/>
                <a:cs typeface="Calibri"/>
              </a:defRPr>
            </a:pPr>
            <a:r>
              <a:rPr sz="1575" b="1">
                <a:solidFill>
                  <a:srgbClr val="FF9B5C"/>
                </a:solidFill>
                <a:latin typeface="Calibri"/>
                <a:ea typeface="Calibri"/>
                <a:cs typeface="Calibri"/>
              </a:rPr>
              <a:t>37% of August consumption</a:t>
            </a:r>
            <a:endParaRPr sz="1200"/>
          </a:p>
        </p:txBody>
      </p:sp>
      <p:sp>
        <p:nvSpPr>
          <p:cNvPr id="19" name="Shape 17">
            <a:extLst>
              <a:ext uri="{FF2B5EF4-FFF2-40B4-BE49-F238E27FC236}">
                <a16:creationId xmlns:a16="http://schemas.microsoft.com/office/drawing/2014/main" id="{1ED9BC6B-1929-4C93-A528-1153D5802F7A}"/>
              </a:ext>
            </a:extLst>
          </p:cNvPr>
          <p:cNvSpPr>
            <a:spLocks noGrp="1"/>
          </p:cNvSpPr>
          <p:nvPr/>
        </p:nvSpPr>
        <p:spPr>
          <a:xfrm>
            <a:off x="6492240" y="3657600"/>
            <a:ext cx="5242255" cy="914400"/>
          </a:xfrm>
          <a:prstGeom prst="roundRect">
            <a:avLst>
              <a:gd name="adj" fmla="val 6000"/>
            </a:avLst>
          </a:prstGeom>
          <a:solidFill>
            <a:srgbClr val="121B2D"/>
          </a:solidFill>
          <a:ln w="12700">
            <a:solidFill>
              <a:srgbClr val="23304A"/>
            </a:solidFill>
            <a:prstDash val="solid"/>
          </a:ln>
        </p:spPr>
        <p:txBody>
          <a:bodyPr/>
          <a:lstStyle/>
          <a:p>
            <a:endParaRPr/>
          </a:p>
        </p:txBody>
      </p:sp>
      <p:sp>
        <p:nvSpPr>
          <p:cNvPr id="20" name="Text 18">
            <a:extLst>
              <a:ext uri="{FF2B5EF4-FFF2-40B4-BE49-F238E27FC236}">
                <a16:creationId xmlns:a16="http://schemas.microsoft.com/office/drawing/2014/main" id="{03E0B3E6-5681-4F23-811E-0906E2C07350}"/>
              </a:ext>
            </a:extLst>
          </p:cNvPr>
          <p:cNvSpPr>
            <a:spLocks noGrp="1"/>
          </p:cNvSpPr>
          <p:nvPr/>
        </p:nvSpPr>
        <p:spPr>
          <a:xfrm>
            <a:off x="6693408" y="3785616"/>
            <a:ext cx="4839919" cy="274320"/>
          </a:xfrm>
          <a:prstGeom prst="rect">
            <a:avLst/>
          </a:prstGeom>
          <a:noFill/>
        </p:spPr>
        <p:txBody>
          <a:bodyPr wrap="none" lIns="0" tIns="0" rIns="0" bIns="0" anchor="ctr">
            <a:noAutofit/>
          </a:bodyPr>
          <a:lstStyle/>
          <a:p>
            <a:pPr marL="0" indent="0" algn="l">
              <a:buNone/>
              <a:defRPr sz="1500" b="1">
                <a:solidFill>
                  <a:srgbClr val="62D6A6"/>
                </a:solidFill>
                <a:latin typeface="Calibri"/>
                <a:ea typeface="Calibri"/>
                <a:cs typeface="Calibri"/>
              </a:defRPr>
            </a:pPr>
            <a:r>
              <a:rPr sz="1500" b="1">
                <a:solidFill>
                  <a:srgbClr val="62D6A6"/>
                </a:solidFill>
                <a:latin typeface="Calibri"/>
                <a:ea typeface="Calibri"/>
                <a:cs typeface="Calibri"/>
              </a:rPr>
              <a:t>GCP</a:t>
            </a:r>
            <a:endParaRPr sz="1500"/>
          </a:p>
        </p:txBody>
      </p:sp>
      <p:sp>
        <p:nvSpPr>
          <p:cNvPr id="21" name="Text 19">
            <a:extLst>
              <a:ext uri="{FF2B5EF4-FFF2-40B4-BE49-F238E27FC236}">
                <a16:creationId xmlns:a16="http://schemas.microsoft.com/office/drawing/2014/main" id="{4212CB3B-757A-49B2-8206-A94B8116DC7A}"/>
              </a:ext>
            </a:extLst>
          </p:cNvPr>
          <p:cNvSpPr>
            <a:spLocks noGrp="1"/>
          </p:cNvSpPr>
          <p:nvPr/>
        </p:nvSpPr>
        <p:spPr>
          <a:xfrm>
            <a:off x="6693408" y="4078224"/>
            <a:ext cx="2419960" cy="347472"/>
          </a:xfrm>
          <a:prstGeom prst="rect">
            <a:avLst/>
          </a:prstGeom>
          <a:noFill/>
        </p:spPr>
        <p:txBody>
          <a:bodyPr wrap="none" lIns="0" tIns="0" rIns="0" bIns="0" anchor="ctr">
            <a:noAutofit/>
          </a:bodyPr>
          <a:lstStyle/>
          <a:p>
            <a:pPr marL="0" indent="0" algn="l">
              <a:buNone/>
              <a:defRPr sz="2325" b="1">
                <a:solidFill>
                  <a:srgbClr val="62D6A6"/>
                </a:solidFill>
                <a:latin typeface="Calibri"/>
                <a:ea typeface="Calibri"/>
                <a:cs typeface="Calibri"/>
              </a:defRPr>
            </a:pPr>
            <a:r>
              <a:rPr sz="2325" b="1">
                <a:solidFill>
                  <a:srgbClr val="62D6A6"/>
                </a:solidFill>
                <a:latin typeface="Calibri"/>
                <a:ea typeface="Calibri"/>
                <a:cs typeface="Calibri"/>
              </a:rPr>
              <a:t>$2,835</a:t>
            </a:r>
            <a:endParaRPr sz="2200"/>
          </a:p>
        </p:txBody>
      </p:sp>
      <p:sp>
        <p:nvSpPr>
          <p:cNvPr id="22" name="Text 20">
            <a:extLst>
              <a:ext uri="{FF2B5EF4-FFF2-40B4-BE49-F238E27FC236}">
                <a16:creationId xmlns:a16="http://schemas.microsoft.com/office/drawing/2014/main" id="{FCC63A88-6C89-495F-8691-FD61BC24862B}"/>
              </a:ext>
            </a:extLst>
          </p:cNvPr>
          <p:cNvSpPr>
            <a:spLocks noGrp="1"/>
          </p:cNvSpPr>
          <p:nvPr/>
        </p:nvSpPr>
        <p:spPr>
          <a:xfrm>
            <a:off x="9113368" y="4078224"/>
            <a:ext cx="2419960" cy="347472"/>
          </a:xfrm>
          <a:prstGeom prst="rect">
            <a:avLst/>
          </a:prstGeom>
          <a:noFill/>
        </p:spPr>
        <p:txBody>
          <a:bodyPr wrap="none" lIns="0" tIns="0" rIns="0" bIns="0" anchor="ctr">
            <a:noAutofit/>
          </a:bodyPr>
          <a:lstStyle/>
          <a:p>
            <a:pPr marL="0" indent="0" algn="r">
              <a:buNone/>
              <a:defRPr sz="1575" b="1">
                <a:solidFill>
                  <a:srgbClr val="62D6A6"/>
                </a:solidFill>
                <a:latin typeface="Calibri"/>
                <a:ea typeface="Calibri"/>
                <a:cs typeface="Calibri"/>
              </a:defRPr>
            </a:pPr>
            <a:r>
              <a:rPr sz="1575" b="1">
                <a:solidFill>
                  <a:srgbClr val="62D6A6"/>
                </a:solidFill>
                <a:latin typeface="Calibri"/>
                <a:ea typeface="Calibri"/>
                <a:cs typeface="Calibri"/>
              </a:rPr>
              <a:t>1.0% of August consumption</a:t>
            </a:r>
            <a:endParaRPr sz="1200"/>
          </a:p>
        </p:txBody>
      </p:sp>
      <p:sp>
        <p:nvSpPr>
          <p:cNvPr id="23" name="Text 21">
            <a:extLst>
              <a:ext uri="{FF2B5EF4-FFF2-40B4-BE49-F238E27FC236}">
                <a16:creationId xmlns:a16="http://schemas.microsoft.com/office/drawing/2014/main" id="{D9CB2804-D4B6-4A8E-A89F-6996CD1AA8B1}"/>
              </a:ext>
            </a:extLst>
          </p:cNvPr>
          <p:cNvSpPr>
            <a:spLocks noGrp="1"/>
          </p:cNvSpPr>
          <p:nvPr/>
        </p:nvSpPr>
        <p:spPr>
          <a:xfrm>
            <a:off x="457200" y="4069080"/>
            <a:ext cx="5669280" cy="219456"/>
          </a:xfrm>
          <a:prstGeom prst="rect">
            <a:avLst/>
          </a:prstGeom>
          <a:noFill/>
        </p:spPr>
        <p:txBody>
          <a:bodyPr wrap="none" lIns="0" tIns="0" rIns="0" bIns="0" anchor="ctr">
            <a:noAutofit/>
          </a:bodyPr>
          <a:lstStyle/>
          <a:p>
            <a:pPr marL="0" indent="0" algn="l">
              <a:buNone/>
              <a:defRPr sz="1500" b="1">
                <a:solidFill>
                  <a:srgbClr val="C5CCDA"/>
                </a:solidFill>
                <a:latin typeface="Calibri"/>
                <a:ea typeface="Calibri"/>
                <a:cs typeface="Calibri"/>
              </a:defRPr>
            </a:pPr>
            <a:r>
              <a:rPr sz="1500" b="1" spc="120">
                <a:solidFill>
                  <a:srgbClr val="C5CCDA"/>
                </a:solidFill>
                <a:latin typeface="Calibri"/>
                <a:ea typeface="Calibri"/>
                <a:cs typeface="Calibri"/>
              </a:rPr>
              <a:t>CHANGE FROM JULY TO AUGUST</a:t>
            </a:r>
            <a:endParaRPr sz="1200"/>
          </a:p>
        </p:txBody>
      </p:sp>
      <p:sp>
        <p:nvSpPr>
          <p:cNvPr id="24" name="Shape 22">
            <a:extLst>
              <a:ext uri="{FF2B5EF4-FFF2-40B4-BE49-F238E27FC236}">
                <a16:creationId xmlns:a16="http://schemas.microsoft.com/office/drawing/2014/main" id="{771498AC-C208-4116-A73E-BC1F4B5676AD}"/>
              </a:ext>
            </a:extLst>
          </p:cNvPr>
          <p:cNvSpPr>
            <a:spLocks noGrp="1"/>
          </p:cNvSpPr>
          <p:nvPr/>
        </p:nvSpPr>
        <p:spPr>
          <a:xfrm>
            <a:off x="457200" y="4512564"/>
            <a:ext cx="76200" cy="76200"/>
          </a:xfrm>
          <a:prstGeom prst="rect">
            <a:avLst/>
          </a:prstGeom>
          <a:solidFill>
            <a:srgbClr val="3DD9EB"/>
          </a:solidFill>
          <a:ln w="12700">
            <a:solidFill>
              <a:srgbClr val="3DD9EB"/>
            </a:solidFill>
            <a:prstDash val="solid"/>
          </a:ln>
        </p:spPr>
        <p:txBody>
          <a:bodyPr/>
          <a:lstStyle/>
          <a:p>
            <a:endParaRPr/>
          </a:p>
        </p:txBody>
      </p:sp>
      <p:sp>
        <p:nvSpPr>
          <p:cNvPr id="25" name="Text 23">
            <a:extLst>
              <a:ext uri="{FF2B5EF4-FFF2-40B4-BE49-F238E27FC236}">
                <a16:creationId xmlns:a16="http://schemas.microsoft.com/office/drawing/2014/main" id="{558D0CCD-3B08-43DC-9315-6A5FB333E1E8}"/>
              </a:ext>
            </a:extLst>
          </p:cNvPr>
          <p:cNvSpPr>
            <a:spLocks noGrp="1"/>
          </p:cNvSpPr>
          <p:nvPr/>
        </p:nvSpPr>
        <p:spPr>
          <a:xfrm>
            <a:off x="630936" y="4361688"/>
            <a:ext cx="5495544" cy="365760"/>
          </a:xfrm>
          <a:prstGeom prst="rect">
            <a:avLst/>
          </a:prstGeom>
          <a:noFill/>
        </p:spPr>
        <p:txBody>
          <a:bodyPr wrap="none" lIns="0" tIns="0" rIns="0" bIns="0" anchor="ctr">
            <a:noAutofit/>
          </a:bodyPr>
          <a:lstStyle/>
          <a:p>
            <a:pPr marL="0" indent="0" algn="l">
              <a:lnSpc>
                <a:spcPct val="110000"/>
              </a:lnSpc>
              <a:buNone/>
              <a:defRPr sz="1650" b="1">
                <a:solidFill>
                  <a:srgbClr val="F4F7FB"/>
                </a:solidFill>
                <a:latin typeface="Calibri"/>
                <a:ea typeface="Calibri"/>
                <a:cs typeface="Calibri"/>
              </a:defRPr>
            </a:pPr>
            <a:r>
              <a:rPr sz="1650" b="1">
                <a:solidFill>
                  <a:srgbClr val="F4F7FB"/>
                </a:solidFill>
                <a:latin typeface="Calibri"/>
                <a:ea typeface="Calibri"/>
                <a:cs typeface="Calibri"/>
              </a:rPr>
              <a:t>Azure  −$6.7K · Virtual Machines down $8,826</a:t>
            </a:r>
            <a:endParaRPr sz="1250"/>
          </a:p>
        </p:txBody>
      </p:sp>
      <p:sp>
        <p:nvSpPr>
          <p:cNvPr id="26" name="Shape 24">
            <a:extLst>
              <a:ext uri="{FF2B5EF4-FFF2-40B4-BE49-F238E27FC236}">
                <a16:creationId xmlns:a16="http://schemas.microsoft.com/office/drawing/2014/main" id="{681571E7-D11D-42B4-B9E2-BFDEBB33B3D9}"/>
              </a:ext>
            </a:extLst>
          </p:cNvPr>
          <p:cNvSpPr>
            <a:spLocks noGrp="1"/>
          </p:cNvSpPr>
          <p:nvPr/>
        </p:nvSpPr>
        <p:spPr>
          <a:xfrm>
            <a:off x="457200" y="5119116"/>
            <a:ext cx="76200" cy="76200"/>
          </a:xfrm>
          <a:prstGeom prst="rect">
            <a:avLst/>
          </a:prstGeom>
          <a:solidFill>
            <a:srgbClr val="3DD9EB"/>
          </a:solidFill>
          <a:ln w="12700">
            <a:solidFill>
              <a:srgbClr val="3DD9EB"/>
            </a:solidFill>
            <a:prstDash val="solid"/>
          </a:ln>
        </p:spPr>
        <p:txBody>
          <a:bodyPr/>
          <a:lstStyle/>
          <a:p>
            <a:endParaRPr/>
          </a:p>
        </p:txBody>
      </p:sp>
      <p:sp>
        <p:nvSpPr>
          <p:cNvPr id="27" name="Text 25">
            <a:extLst>
              <a:ext uri="{FF2B5EF4-FFF2-40B4-BE49-F238E27FC236}">
                <a16:creationId xmlns:a16="http://schemas.microsoft.com/office/drawing/2014/main" id="{400597BC-5194-4F3D-8ECF-A2D1FD82342C}"/>
              </a:ext>
            </a:extLst>
          </p:cNvPr>
          <p:cNvSpPr>
            <a:spLocks noGrp="1"/>
          </p:cNvSpPr>
          <p:nvPr/>
        </p:nvSpPr>
        <p:spPr>
          <a:xfrm>
            <a:off x="630936" y="4928616"/>
            <a:ext cx="5495544" cy="457200"/>
          </a:xfrm>
          <a:prstGeom prst="rect">
            <a:avLst/>
          </a:prstGeom>
          <a:noFill/>
        </p:spPr>
        <p:txBody>
          <a:bodyPr wrap="none" lIns="0" tIns="0" rIns="0" bIns="0" anchor="ctr">
            <a:noAutofit/>
          </a:bodyPr>
          <a:lstStyle/>
          <a:p>
            <a:pPr marL="0" indent="0" algn="l">
              <a:lnSpc>
                <a:spcPct val="110000"/>
              </a:lnSpc>
              <a:buNone/>
              <a:defRPr sz="1650" b="1">
                <a:solidFill>
                  <a:srgbClr val="F4F7FB"/>
                </a:solidFill>
                <a:latin typeface="Calibri"/>
                <a:ea typeface="Calibri"/>
                <a:cs typeface="Calibri"/>
              </a:defRPr>
            </a:pPr>
            <a:r>
              <a:rPr sz="1650" b="1">
                <a:solidFill>
                  <a:srgbClr val="F4F7FB"/>
                </a:solidFill>
                <a:latin typeface="Calibri"/>
                <a:ea typeface="Calibri"/>
                <a:cs typeface="Calibri"/>
              </a:rPr>
              <a:t>AWS  +$14.3K · almost entirely Bedrock</a:t>
            </a:r>
            <a:endParaRPr sz="1250"/>
          </a:p>
        </p:txBody>
      </p:sp>
      <p:sp>
        <p:nvSpPr>
          <p:cNvPr id="28" name="Shape 26">
            <a:extLst>
              <a:ext uri="{FF2B5EF4-FFF2-40B4-BE49-F238E27FC236}">
                <a16:creationId xmlns:a16="http://schemas.microsoft.com/office/drawing/2014/main" id="{C2A500CD-92B6-43B3-AA8A-3B7D3D52B47E}"/>
              </a:ext>
            </a:extLst>
          </p:cNvPr>
          <p:cNvSpPr>
            <a:spLocks noGrp="1"/>
          </p:cNvSpPr>
          <p:nvPr/>
        </p:nvSpPr>
        <p:spPr>
          <a:xfrm>
            <a:off x="457200" y="5646420"/>
            <a:ext cx="76200" cy="76200"/>
          </a:xfrm>
          <a:prstGeom prst="rect">
            <a:avLst/>
          </a:prstGeom>
          <a:solidFill>
            <a:srgbClr val="3DD9EB"/>
          </a:solidFill>
          <a:ln w="12700">
            <a:solidFill>
              <a:srgbClr val="3DD9EB"/>
            </a:solidFill>
            <a:prstDash val="solid"/>
          </a:ln>
        </p:spPr>
        <p:txBody>
          <a:bodyPr/>
          <a:lstStyle/>
          <a:p>
            <a:endParaRPr/>
          </a:p>
        </p:txBody>
      </p:sp>
      <p:sp>
        <p:nvSpPr>
          <p:cNvPr id="29" name="Text 27">
            <a:extLst>
              <a:ext uri="{FF2B5EF4-FFF2-40B4-BE49-F238E27FC236}">
                <a16:creationId xmlns:a16="http://schemas.microsoft.com/office/drawing/2014/main" id="{EAF63A33-3826-4F08-AEF0-FBC5207D3AE8}"/>
              </a:ext>
            </a:extLst>
          </p:cNvPr>
          <p:cNvSpPr>
            <a:spLocks noGrp="1"/>
          </p:cNvSpPr>
          <p:nvPr/>
        </p:nvSpPr>
        <p:spPr>
          <a:xfrm>
            <a:off x="630936" y="5495544"/>
            <a:ext cx="5495544" cy="365760"/>
          </a:xfrm>
          <a:prstGeom prst="rect">
            <a:avLst/>
          </a:prstGeom>
          <a:noFill/>
        </p:spPr>
        <p:txBody>
          <a:bodyPr wrap="none" lIns="0" tIns="0" rIns="0" bIns="0" anchor="ctr">
            <a:noAutofit/>
          </a:bodyPr>
          <a:lstStyle/>
          <a:p>
            <a:pPr marL="0" indent="0" algn="l">
              <a:lnSpc>
                <a:spcPct val="110000"/>
              </a:lnSpc>
              <a:buNone/>
              <a:defRPr sz="1650" b="1">
                <a:solidFill>
                  <a:srgbClr val="F4F7FB"/>
                </a:solidFill>
                <a:latin typeface="Calibri"/>
                <a:ea typeface="Calibri"/>
                <a:cs typeface="Calibri"/>
              </a:defRPr>
            </a:pPr>
            <a:r>
              <a:rPr sz="1650" b="1">
                <a:solidFill>
                  <a:srgbClr val="F4F7FB"/>
                </a:solidFill>
                <a:latin typeface="Calibri"/>
                <a:ea typeface="Calibri"/>
                <a:cs typeface="Calibri"/>
              </a:rPr>
              <a:t>GCP  −$0.9K · Vertex AI fell 36%</a:t>
            </a:r>
            <a:endParaRPr sz="1250"/>
          </a:p>
        </p:txBody>
      </p:sp>
    </p:spTree>
    <p:extLst>
      <p:ext uri="{BB962C8B-B14F-4D97-AF65-F5344CB8AC3E}">
        <p14:creationId xmlns:p14="http://schemas.microsoft.com/office/powerpoint/2010/main" val="281009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26F8528-C4FD-4ABC-98E1-EFD67CFC0E7D}"/>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sp>
      <p:sp>
        <p:nvSpPr>
          <p:cNvPr id="3" name="Shape 1">
            <a:extLst>
              <a:ext uri="{FF2B5EF4-FFF2-40B4-BE49-F238E27FC236}">
                <a16:creationId xmlns:a16="http://schemas.microsoft.com/office/drawing/2014/main" id="{724FF072-65A8-4C4B-93D4-3E962E5E4A62}"/>
              </a:ext>
            </a:extLst>
          </p:cNvPr>
          <p:cNvSpPr>
            <a:spLocks noGrp="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a:extLst>
              <a:ext uri="{FF2B5EF4-FFF2-40B4-BE49-F238E27FC236}">
                <a16:creationId xmlns:a16="http://schemas.microsoft.com/office/drawing/2014/main" id="{1387EFD2-B348-4664-B13E-0148BE1C729B}"/>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B07CFF"/>
                </a:solidFill>
                <a:latin typeface="Calibri"/>
                <a:ea typeface="Calibri"/>
                <a:cs typeface="Calibri"/>
              </a:rPr>
              <a:t>ALL PROVIDERS</a:t>
            </a:r>
            <a:endParaRPr sz="1300"/>
          </a:p>
        </p:txBody>
      </p:sp>
      <p:sp>
        <p:nvSpPr>
          <p:cNvPr id="5" name="Text 3">
            <a:extLst>
              <a:ext uri="{FF2B5EF4-FFF2-40B4-BE49-F238E27FC236}">
                <a16:creationId xmlns:a16="http://schemas.microsoft.com/office/drawing/2014/main" id="{14D43995-BA98-4A95-B453-5DDD733B6292}"/>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AI is $97K a month, and AWS is now half of it</a:t>
            </a:r>
            <a:endParaRPr sz="2800"/>
          </a:p>
        </p:txBody>
      </p:sp>
      <p:sp>
        <p:nvSpPr>
          <p:cNvPr id="6" name="Text 4">
            <a:extLst>
              <a:ext uri="{FF2B5EF4-FFF2-40B4-BE49-F238E27FC236}">
                <a16:creationId xmlns:a16="http://schemas.microsoft.com/office/drawing/2014/main" id="{2CCB0FC0-595C-4B7D-AF57-E626CA6DFBAF}"/>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Billed AI, August 2026. Excludes the Databricks drawdown, which bills at $0.</a:t>
            </a:r>
            <a:endParaRPr sz="1200"/>
          </a:p>
        </p:txBody>
      </p:sp>
      <p:sp>
        <p:nvSpPr>
          <p:cNvPr id="7" name="Text 5">
            <a:extLst>
              <a:ext uri="{FF2B5EF4-FFF2-40B4-BE49-F238E27FC236}">
                <a16:creationId xmlns:a16="http://schemas.microsoft.com/office/drawing/2014/main" id="{2927AD61-D2FE-49CD-A075-F4C543AC9DAC}"/>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t>One provider now carries nearly half of all AI spend, and it is the one with no project tag and no per-team budget.</a:t>
            </a:r>
            <a:endParaRPr sz="1200" dirty="0"/>
          </a:p>
        </p:txBody>
      </p:sp>
      <p:sp>
        <p:nvSpPr>
          <p:cNvPr id="8" name="Shape 6">
            <a:extLst>
              <a:ext uri="{FF2B5EF4-FFF2-40B4-BE49-F238E27FC236}">
                <a16:creationId xmlns:a16="http://schemas.microsoft.com/office/drawing/2014/main" id="{8E507915-53E0-4257-AB99-2E59234F0ECD}"/>
              </a:ext>
            </a:extLst>
          </p:cNvPr>
          <p:cNvSpPr>
            <a:spLocks noGrp="1"/>
          </p:cNvSpPr>
          <p:nvPr/>
        </p:nvSpPr>
        <p:spPr>
          <a:xfrm>
            <a:off x="457200" y="1234440"/>
            <a:ext cx="4823713" cy="182880"/>
          </a:xfrm>
          <a:prstGeom prst="rect">
            <a:avLst/>
          </a:prstGeom>
          <a:solidFill>
            <a:srgbClr val="2F8CFF"/>
          </a:solidFill>
          <a:ln w="12700">
            <a:solidFill>
              <a:srgbClr val="2F8CFF"/>
            </a:solidFill>
            <a:prstDash val="solid"/>
          </a:ln>
        </p:spPr>
      </p:sp>
      <p:sp>
        <p:nvSpPr>
          <p:cNvPr id="9" name="Shape 7">
            <a:extLst>
              <a:ext uri="{FF2B5EF4-FFF2-40B4-BE49-F238E27FC236}">
                <a16:creationId xmlns:a16="http://schemas.microsoft.com/office/drawing/2014/main" id="{C2336D49-99BE-4871-8BB2-5A3270B86542}"/>
              </a:ext>
            </a:extLst>
          </p:cNvPr>
          <p:cNvSpPr>
            <a:spLocks noGrp="1"/>
          </p:cNvSpPr>
          <p:nvPr/>
        </p:nvSpPr>
        <p:spPr>
          <a:xfrm>
            <a:off x="5326633" y="1234440"/>
            <a:ext cx="3164430" cy="182880"/>
          </a:xfrm>
          <a:prstGeom prst="rect">
            <a:avLst/>
          </a:prstGeom>
          <a:solidFill>
            <a:srgbClr val="3DD9EB"/>
          </a:solidFill>
          <a:ln w="12700">
            <a:solidFill>
              <a:srgbClr val="3DD9EB"/>
            </a:solidFill>
            <a:prstDash val="solid"/>
          </a:ln>
        </p:spPr>
      </p:sp>
      <p:sp>
        <p:nvSpPr>
          <p:cNvPr id="10" name="Shape 8">
            <a:extLst>
              <a:ext uri="{FF2B5EF4-FFF2-40B4-BE49-F238E27FC236}">
                <a16:creationId xmlns:a16="http://schemas.microsoft.com/office/drawing/2014/main" id="{8D2EED0A-4C76-4996-9FC7-61716109E0D9}"/>
              </a:ext>
            </a:extLst>
          </p:cNvPr>
          <p:cNvSpPr>
            <a:spLocks noGrp="1"/>
          </p:cNvSpPr>
          <p:nvPr/>
        </p:nvSpPr>
        <p:spPr>
          <a:xfrm>
            <a:off x="8536783" y="1234440"/>
            <a:ext cx="2327567" cy="182880"/>
          </a:xfrm>
          <a:prstGeom prst="rect">
            <a:avLst/>
          </a:prstGeom>
          <a:solidFill>
            <a:srgbClr val="FF9F43"/>
          </a:solidFill>
          <a:ln w="12700">
            <a:solidFill>
              <a:srgbClr val="FF9F43"/>
            </a:solidFill>
            <a:prstDash val="solid"/>
          </a:ln>
        </p:spPr>
      </p:sp>
      <p:sp>
        <p:nvSpPr>
          <p:cNvPr id="11" name="Shape 9">
            <a:extLst>
              <a:ext uri="{FF2B5EF4-FFF2-40B4-BE49-F238E27FC236}">
                <a16:creationId xmlns:a16="http://schemas.microsoft.com/office/drawing/2014/main" id="{7B7DB60F-9A2D-46D6-9399-AF90E4D8E7D7}"/>
              </a:ext>
            </a:extLst>
          </p:cNvPr>
          <p:cNvSpPr>
            <a:spLocks noGrp="1"/>
          </p:cNvSpPr>
          <p:nvPr/>
        </p:nvSpPr>
        <p:spPr>
          <a:xfrm>
            <a:off x="10910070" y="1234440"/>
            <a:ext cx="522673" cy="182880"/>
          </a:xfrm>
          <a:prstGeom prst="rect">
            <a:avLst/>
          </a:prstGeom>
          <a:solidFill>
            <a:srgbClr val="B07CFF"/>
          </a:solidFill>
          <a:ln w="12700">
            <a:solidFill>
              <a:srgbClr val="B07CFF"/>
            </a:solidFill>
            <a:prstDash val="solid"/>
          </a:ln>
        </p:spPr>
      </p:sp>
      <p:sp>
        <p:nvSpPr>
          <p:cNvPr id="12" name="Shape 10">
            <a:extLst>
              <a:ext uri="{FF2B5EF4-FFF2-40B4-BE49-F238E27FC236}">
                <a16:creationId xmlns:a16="http://schemas.microsoft.com/office/drawing/2014/main" id="{0BB80254-F431-417C-982C-C36BD557A06B}"/>
              </a:ext>
            </a:extLst>
          </p:cNvPr>
          <p:cNvSpPr>
            <a:spLocks noGrp="1"/>
          </p:cNvSpPr>
          <p:nvPr/>
        </p:nvSpPr>
        <p:spPr>
          <a:xfrm>
            <a:off x="11478463" y="1234440"/>
            <a:ext cx="256032" cy="182880"/>
          </a:xfrm>
          <a:prstGeom prst="rect">
            <a:avLst/>
          </a:prstGeom>
          <a:solidFill>
            <a:srgbClr val="3DDC97"/>
          </a:solidFill>
          <a:ln w="12700">
            <a:solidFill>
              <a:srgbClr val="3DDC97"/>
            </a:solidFill>
            <a:prstDash val="solid"/>
          </a:ln>
        </p:spPr>
      </p:sp>
      <p:sp>
        <p:nvSpPr>
          <p:cNvPr id="13" name="Shape 11">
            <a:extLst>
              <a:ext uri="{FF2B5EF4-FFF2-40B4-BE49-F238E27FC236}">
                <a16:creationId xmlns:a16="http://schemas.microsoft.com/office/drawing/2014/main" id="{5FD6F996-6F52-45A1-BF76-17D5CF68812E}"/>
              </a:ext>
            </a:extLst>
          </p:cNvPr>
          <p:cNvSpPr>
            <a:spLocks noGrp="1"/>
          </p:cNvSpPr>
          <p:nvPr/>
        </p:nvSpPr>
        <p:spPr>
          <a:xfrm>
            <a:off x="457200" y="1618488"/>
            <a:ext cx="2094525" cy="3977640"/>
          </a:xfrm>
          <a:prstGeom prst="roundRect">
            <a:avLst>
              <a:gd name="adj" fmla="val 2619"/>
            </a:avLst>
          </a:prstGeom>
          <a:solidFill>
            <a:srgbClr val="121B2D"/>
          </a:solidFill>
          <a:ln w="12700">
            <a:solidFill>
              <a:srgbClr val="23304A"/>
            </a:solidFill>
            <a:prstDash val="solid"/>
          </a:ln>
        </p:spPr>
      </p:sp>
      <p:sp>
        <p:nvSpPr>
          <p:cNvPr id="14" name="Shape 12">
            <a:extLst>
              <a:ext uri="{FF2B5EF4-FFF2-40B4-BE49-F238E27FC236}">
                <a16:creationId xmlns:a16="http://schemas.microsoft.com/office/drawing/2014/main" id="{C1CC5815-2FAA-4338-8698-EF4C8A0A61AB}"/>
              </a:ext>
            </a:extLst>
          </p:cNvPr>
          <p:cNvSpPr>
            <a:spLocks noGrp="1"/>
          </p:cNvSpPr>
          <p:nvPr/>
        </p:nvSpPr>
        <p:spPr>
          <a:xfrm>
            <a:off x="457200" y="1618488"/>
            <a:ext cx="2094525" cy="45720"/>
          </a:xfrm>
          <a:prstGeom prst="rect">
            <a:avLst/>
          </a:prstGeom>
          <a:solidFill>
            <a:srgbClr val="2F8CFF"/>
          </a:solidFill>
          <a:ln w="12700">
            <a:solidFill>
              <a:srgbClr val="2F8CFF"/>
            </a:solidFill>
            <a:prstDash val="solid"/>
          </a:ln>
        </p:spPr>
      </p:sp>
      <p:sp>
        <p:nvSpPr>
          <p:cNvPr id="15" name="Text 13">
            <a:extLst>
              <a:ext uri="{FF2B5EF4-FFF2-40B4-BE49-F238E27FC236}">
                <a16:creationId xmlns:a16="http://schemas.microsoft.com/office/drawing/2014/main" id="{0F2501DF-AC08-489D-90FA-037FD41499F5}"/>
              </a:ext>
            </a:extLst>
          </p:cNvPr>
          <p:cNvSpPr>
            <a:spLocks noGrp="1"/>
          </p:cNvSpPr>
          <p:nvPr/>
        </p:nvSpPr>
        <p:spPr>
          <a:xfrm>
            <a:off x="640080"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AZURE AI FOUNDRY</a:t>
            </a:r>
            <a:endParaRPr sz="1200"/>
          </a:p>
        </p:txBody>
      </p:sp>
      <p:sp>
        <p:nvSpPr>
          <p:cNvPr id="16" name="Text 14">
            <a:extLst>
              <a:ext uri="{FF2B5EF4-FFF2-40B4-BE49-F238E27FC236}">
                <a16:creationId xmlns:a16="http://schemas.microsoft.com/office/drawing/2014/main" id="{45498FEB-5600-4E35-AB21-3B70526BD1FD}"/>
              </a:ext>
            </a:extLst>
          </p:cNvPr>
          <p:cNvSpPr>
            <a:spLocks noGrp="1"/>
          </p:cNvSpPr>
          <p:nvPr/>
        </p:nvSpPr>
        <p:spPr>
          <a:xfrm>
            <a:off x="640080"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$16,409</a:t>
            </a:r>
            <a:endParaRPr sz="2800"/>
          </a:p>
        </p:txBody>
      </p:sp>
      <p:sp>
        <p:nvSpPr>
          <p:cNvPr id="17" name="Text 15">
            <a:extLst>
              <a:ext uri="{FF2B5EF4-FFF2-40B4-BE49-F238E27FC236}">
                <a16:creationId xmlns:a16="http://schemas.microsoft.com/office/drawing/2014/main" id="{4964ADFA-5090-4E55-AD60-F70D4907ED70}"/>
              </a:ext>
            </a:extLst>
          </p:cNvPr>
          <p:cNvSpPr>
            <a:spLocks noGrp="1"/>
          </p:cNvSpPr>
          <p:nvPr/>
        </p:nvSpPr>
        <p:spPr>
          <a:xfrm>
            <a:off x="640080" y="2734056"/>
            <a:ext cx="1728765" cy="237744"/>
          </a:xfrm>
          <a:prstGeom prst="rect">
            <a:avLst/>
          </a:prstGeom>
          <a:noFill/>
        </p:spPr>
        <p:txBody>
          <a:bodyPr wrap="square" lIns="0" tIns="0" rIns="0" bIns="0" anchor="ctr"/>
          <a:lstStyle/>
          <a:p>
            <a:pPr marL="0" indent="0">
              <a:buNone/>
            </a:pPr>
            <a:r>
              <a:rPr sz="1200" b="1">
                <a:solidFill>
                  <a:srgbClr val="2F8CFF"/>
                </a:solidFill>
                <a:latin typeface="Calibri"/>
                <a:ea typeface="Calibri"/>
                <a:cs typeface="Calibri"/>
              </a:rPr>
              <a:t>16.9% of billed AI</a:t>
            </a:r>
            <a:endParaRPr sz="1200"/>
          </a:p>
        </p:txBody>
      </p:sp>
      <p:sp>
        <p:nvSpPr>
          <p:cNvPr id="18" name="Shape 16">
            <a:extLst>
              <a:ext uri="{FF2B5EF4-FFF2-40B4-BE49-F238E27FC236}">
                <a16:creationId xmlns:a16="http://schemas.microsoft.com/office/drawing/2014/main" id="{58E7F65A-9DCA-4DDD-9E43-ABDF8F1D8C1B}"/>
              </a:ext>
            </a:extLst>
          </p:cNvPr>
          <p:cNvSpPr>
            <a:spLocks noGrp="1"/>
          </p:cNvSpPr>
          <p:nvPr/>
        </p:nvSpPr>
        <p:spPr>
          <a:xfrm>
            <a:off x="640080" y="3081528"/>
            <a:ext cx="1728765" cy="9144"/>
          </a:xfrm>
          <a:prstGeom prst="rect">
            <a:avLst/>
          </a:prstGeom>
          <a:solidFill>
            <a:srgbClr val="23304A"/>
          </a:solidFill>
          <a:ln w="12700">
            <a:solidFill>
              <a:srgbClr val="23304A"/>
            </a:solidFill>
            <a:prstDash val="solid"/>
          </a:ln>
        </p:spPr>
      </p:sp>
      <p:sp>
        <p:nvSpPr>
          <p:cNvPr id="19" name="Text 17">
            <a:extLst>
              <a:ext uri="{FF2B5EF4-FFF2-40B4-BE49-F238E27FC236}">
                <a16:creationId xmlns:a16="http://schemas.microsoft.com/office/drawing/2014/main" id="{F721CE06-E33B-4936-AA0B-603A023117BC}"/>
              </a:ext>
            </a:extLst>
          </p:cNvPr>
          <p:cNvSpPr>
            <a:spLocks noGrp="1"/>
          </p:cNvSpPr>
          <p:nvPr/>
        </p:nvSpPr>
        <p:spPr>
          <a:xfrm>
            <a:off x="640080"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JUL</a:t>
            </a:r>
            <a:endParaRPr sz="1200"/>
          </a:p>
        </p:txBody>
      </p:sp>
      <p:sp>
        <p:nvSpPr>
          <p:cNvPr id="20" name="Text 18">
            <a:extLst>
              <a:ext uri="{FF2B5EF4-FFF2-40B4-BE49-F238E27FC236}">
                <a16:creationId xmlns:a16="http://schemas.microsoft.com/office/drawing/2014/main" id="{252A63DC-089E-4C90-B94C-802203EE4B51}"/>
              </a:ext>
            </a:extLst>
          </p:cNvPr>
          <p:cNvSpPr>
            <a:spLocks noGrp="1"/>
          </p:cNvSpPr>
          <p:nvPr/>
        </p:nvSpPr>
        <p:spPr>
          <a:xfrm>
            <a:off x="1504462" y="3209544"/>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$19,613</a:t>
            </a:r>
            <a:endParaRPr sz="1300"/>
          </a:p>
        </p:txBody>
      </p:sp>
      <p:sp>
        <p:nvSpPr>
          <p:cNvPr id="21" name="Text 19">
            <a:extLst>
              <a:ext uri="{FF2B5EF4-FFF2-40B4-BE49-F238E27FC236}">
                <a16:creationId xmlns:a16="http://schemas.microsoft.com/office/drawing/2014/main" id="{9AAF4D46-DE2C-417D-8386-ED18918C9DE4}"/>
              </a:ext>
            </a:extLst>
          </p:cNvPr>
          <p:cNvSpPr>
            <a:spLocks noGrp="1"/>
          </p:cNvSpPr>
          <p:nvPr/>
        </p:nvSpPr>
        <p:spPr>
          <a:xfrm>
            <a:off x="640080"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AUG</a:t>
            </a:r>
            <a:endParaRPr sz="1200"/>
          </a:p>
        </p:txBody>
      </p:sp>
      <p:sp>
        <p:nvSpPr>
          <p:cNvPr id="22" name="Text 20">
            <a:extLst>
              <a:ext uri="{FF2B5EF4-FFF2-40B4-BE49-F238E27FC236}">
                <a16:creationId xmlns:a16="http://schemas.microsoft.com/office/drawing/2014/main" id="{C17734F7-038D-496A-B356-7B3D29D988D6}"/>
              </a:ext>
            </a:extLst>
          </p:cNvPr>
          <p:cNvSpPr>
            <a:spLocks noGrp="1"/>
          </p:cNvSpPr>
          <p:nvPr/>
        </p:nvSpPr>
        <p:spPr>
          <a:xfrm>
            <a:off x="1504462"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$16,409</a:t>
            </a:r>
            <a:endParaRPr sz="1300"/>
          </a:p>
        </p:txBody>
      </p:sp>
      <p:sp>
        <p:nvSpPr>
          <p:cNvPr id="23" name="Shape 21">
            <a:extLst>
              <a:ext uri="{FF2B5EF4-FFF2-40B4-BE49-F238E27FC236}">
                <a16:creationId xmlns:a16="http://schemas.microsoft.com/office/drawing/2014/main" id="{A0C140F3-11B9-4EC5-BD3D-8A110DDE51C5}"/>
              </a:ext>
            </a:extLst>
          </p:cNvPr>
          <p:cNvSpPr>
            <a:spLocks noGrp="1"/>
          </p:cNvSpPr>
          <p:nvPr/>
        </p:nvSpPr>
        <p:spPr>
          <a:xfrm>
            <a:off x="640080" y="4069080"/>
            <a:ext cx="1728765" cy="329184"/>
          </a:xfrm>
          <a:prstGeom prst="roundRect">
            <a:avLst>
              <a:gd name="adj" fmla="val 27778"/>
            </a:avLst>
          </a:prstGeom>
          <a:solidFill>
            <a:srgbClr val="1D2D42"/>
          </a:solidFill>
          <a:ln w="12700">
            <a:solidFill>
              <a:srgbClr val="2F8CFF"/>
            </a:solidFill>
            <a:prstDash val="solid"/>
          </a:ln>
        </p:spPr>
      </p:sp>
      <p:sp>
        <p:nvSpPr>
          <p:cNvPr id="24" name="Text 22">
            <a:extLst>
              <a:ext uri="{FF2B5EF4-FFF2-40B4-BE49-F238E27FC236}">
                <a16:creationId xmlns:a16="http://schemas.microsoft.com/office/drawing/2014/main" id="{10FAF709-0ABF-40DB-9B09-0AF92B2661A8}"/>
              </a:ext>
            </a:extLst>
          </p:cNvPr>
          <p:cNvSpPr>
            <a:spLocks noGrp="1"/>
          </p:cNvSpPr>
          <p:nvPr/>
        </p:nvSpPr>
        <p:spPr>
          <a:xfrm>
            <a:off x="640080" y="4069080"/>
            <a:ext cx="1728765" cy="329184"/>
          </a:xfrm>
          <a:prstGeom prst="rect">
            <a:avLst/>
          </a:prstGeom>
          <a:noFill/>
        </p:spPr>
        <p:txBody>
          <a:bodyPr wrap="square" lIns="0" tIns="0" rIns="0" bIns="0" anchor="ctr"/>
          <a:lstStyle/>
          <a:p>
            <a:pPr marL="0" indent="0" algn="ctr">
              <a:buNone/>
            </a:pPr>
            <a:r>
              <a:rPr sz="1200" b="1">
                <a:solidFill>
                  <a:srgbClr val="2F8CFF"/>
                </a:solidFill>
                <a:latin typeface="Calibri"/>
                <a:ea typeface="Calibri"/>
                <a:cs typeface="Calibri"/>
              </a:rPr>
              <a:t>−16% Jul to Aug</a:t>
            </a:r>
            <a:endParaRPr sz="1200"/>
          </a:p>
        </p:txBody>
      </p:sp>
      <p:sp>
        <p:nvSpPr>
          <p:cNvPr id="25" name="Text 23">
            <a:extLst>
              <a:ext uri="{FF2B5EF4-FFF2-40B4-BE49-F238E27FC236}">
                <a16:creationId xmlns:a16="http://schemas.microsoft.com/office/drawing/2014/main" id="{D471A4C1-5A87-4C13-A05F-B7A8D1D6EC82}"/>
              </a:ext>
            </a:extLst>
          </p:cNvPr>
          <p:cNvSpPr>
            <a:spLocks noGrp="1"/>
          </p:cNvSpPr>
          <p:nvPr/>
        </p:nvSpPr>
        <p:spPr>
          <a:xfrm>
            <a:off x="640080"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Foundry models and tools. The only Azure AI line that fell.</a:t>
            </a:r>
            <a:endParaRPr sz="1200"/>
          </a:p>
        </p:txBody>
      </p:sp>
      <p:sp>
        <p:nvSpPr>
          <p:cNvPr id="26" name="Shape 24">
            <a:extLst>
              <a:ext uri="{FF2B5EF4-FFF2-40B4-BE49-F238E27FC236}">
                <a16:creationId xmlns:a16="http://schemas.microsoft.com/office/drawing/2014/main" id="{41F27117-F997-460F-BED0-8A055765792E}"/>
              </a:ext>
            </a:extLst>
          </p:cNvPr>
          <p:cNvSpPr>
            <a:spLocks noGrp="1"/>
          </p:cNvSpPr>
          <p:nvPr/>
        </p:nvSpPr>
        <p:spPr>
          <a:xfrm>
            <a:off x="2752893" y="1618488"/>
            <a:ext cx="2094525" cy="3977640"/>
          </a:xfrm>
          <a:prstGeom prst="roundRect">
            <a:avLst>
              <a:gd name="adj" fmla="val 2619"/>
            </a:avLst>
          </a:prstGeom>
          <a:solidFill>
            <a:srgbClr val="121B2D"/>
          </a:solidFill>
          <a:ln w="12700">
            <a:solidFill>
              <a:srgbClr val="23304A"/>
            </a:solidFill>
            <a:prstDash val="solid"/>
          </a:ln>
        </p:spPr>
      </p:sp>
      <p:sp>
        <p:nvSpPr>
          <p:cNvPr id="27" name="Shape 25">
            <a:extLst>
              <a:ext uri="{FF2B5EF4-FFF2-40B4-BE49-F238E27FC236}">
                <a16:creationId xmlns:a16="http://schemas.microsoft.com/office/drawing/2014/main" id="{36166351-40FF-4427-A999-66C3CEAE2603}"/>
              </a:ext>
            </a:extLst>
          </p:cNvPr>
          <p:cNvSpPr>
            <a:spLocks noGrp="1"/>
          </p:cNvSpPr>
          <p:nvPr/>
        </p:nvSpPr>
        <p:spPr>
          <a:xfrm>
            <a:off x="2752893" y="1618488"/>
            <a:ext cx="2094525" cy="45720"/>
          </a:xfrm>
          <a:prstGeom prst="rect">
            <a:avLst/>
          </a:prstGeom>
          <a:solidFill>
            <a:srgbClr val="3DD9EB"/>
          </a:solidFill>
          <a:ln w="12700">
            <a:solidFill>
              <a:srgbClr val="3DD9EB"/>
            </a:solidFill>
            <a:prstDash val="solid"/>
          </a:ln>
        </p:spPr>
      </p:sp>
      <p:sp>
        <p:nvSpPr>
          <p:cNvPr id="28" name="Text 26">
            <a:extLst>
              <a:ext uri="{FF2B5EF4-FFF2-40B4-BE49-F238E27FC236}">
                <a16:creationId xmlns:a16="http://schemas.microsoft.com/office/drawing/2014/main" id="{133F0F01-46B0-4E50-B40C-77BC375B1B74}"/>
              </a:ext>
            </a:extLst>
          </p:cNvPr>
          <p:cNvSpPr>
            <a:spLocks noGrp="1"/>
          </p:cNvSpPr>
          <p:nvPr/>
        </p:nvSpPr>
        <p:spPr>
          <a:xfrm>
            <a:off x="2935773"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GITHUB COPILOT</a:t>
            </a:r>
            <a:endParaRPr sz="1200"/>
          </a:p>
        </p:txBody>
      </p:sp>
      <p:sp>
        <p:nvSpPr>
          <p:cNvPr id="29" name="Text 27">
            <a:extLst>
              <a:ext uri="{FF2B5EF4-FFF2-40B4-BE49-F238E27FC236}">
                <a16:creationId xmlns:a16="http://schemas.microsoft.com/office/drawing/2014/main" id="{DA97A973-A5D9-4AEF-A6FF-168844C900FE}"/>
              </a:ext>
            </a:extLst>
          </p:cNvPr>
          <p:cNvSpPr>
            <a:spLocks noGrp="1"/>
          </p:cNvSpPr>
          <p:nvPr/>
        </p:nvSpPr>
        <p:spPr>
          <a:xfrm>
            <a:off x="2935773"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$24,028</a:t>
            </a:r>
            <a:endParaRPr sz="2800"/>
          </a:p>
        </p:txBody>
      </p:sp>
      <p:sp>
        <p:nvSpPr>
          <p:cNvPr id="30" name="Text 28">
            <a:extLst>
              <a:ext uri="{FF2B5EF4-FFF2-40B4-BE49-F238E27FC236}">
                <a16:creationId xmlns:a16="http://schemas.microsoft.com/office/drawing/2014/main" id="{921E6411-1576-4117-8C1B-E47D99DEEF08}"/>
              </a:ext>
            </a:extLst>
          </p:cNvPr>
          <p:cNvSpPr>
            <a:spLocks noGrp="1"/>
          </p:cNvSpPr>
          <p:nvPr/>
        </p:nvSpPr>
        <p:spPr>
          <a:xfrm>
            <a:off x="2935773" y="2734056"/>
            <a:ext cx="1728765" cy="237744"/>
          </a:xfrm>
          <a:prstGeom prst="rect">
            <a:avLst/>
          </a:prstGeom>
          <a:noFill/>
        </p:spPr>
        <p:txBody>
          <a:bodyPr wrap="square" lIns="0" tIns="0" rIns="0" bIns="0" anchor="ctr"/>
          <a:lstStyle/>
          <a:p>
            <a:pPr marL="0" indent="0">
              <a:buNone/>
            </a:pPr>
            <a:r>
              <a:rPr sz="1200" b="1">
                <a:solidFill>
                  <a:srgbClr val="3DD9EB"/>
                </a:solidFill>
                <a:latin typeface="Calibri"/>
                <a:ea typeface="Calibri"/>
                <a:cs typeface="Calibri"/>
              </a:rPr>
              <a:t>24.7% of billed AI</a:t>
            </a:r>
            <a:endParaRPr sz="1200"/>
          </a:p>
        </p:txBody>
      </p:sp>
      <p:sp>
        <p:nvSpPr>
          <p:cNvPr id="31" name="Shape 29">
            <a:extLst>
              <a:ext uri="{FF2B5EF4-FFF2-40B4-BE49-F238E27FC236}">
                <a16:creationId xmlns:a16="http://schemas.microsoft.com/office/drawing/2014/main" id="{68B39D5C-5289-4D0D-967E-D28F5274E966}"/>
              </a:ext>
            </a:extLst>
          </p:cNvPr>
          <p:cNvSpPr>
            <a:spLocks noGrp="1"/>
          </p:cNvSpPr>
          <p:nvPr/>
        </p:nvSpPr>
        <p:spPr>
          <a:xfrm>
            <a:off x="2935773" y="3081528"/>
            <a:ext cx="1728765" cy="9144"/>
          </a:xfrm>
          <a:prstGeom prst="rect">
            <a:avLst/>
          </a:prstGeom>
          <a:solidFill>
            <a:srgbClr val="23304A"/>
          </a:solidFill>
          <a:ln w="12700">
            <a:solidFill>
              <a:srgbClr val="23304A"/>
            </a:solidFill>
            <a:prstDash val="solid"/>
          </a:ln>
        </p:spPr>
      </p:sp>
      <p:sp>
        <p:nvSpPr>
          <p:cNvPr id="32" name="Text 30">
            <a:extLst>
              <a:ext uri="{FF2B5EF4-FFF2-40B4-BE49-F238E27FC236}">
                <a16:creationId xmlns:a16="http://schemas.microsoft.com/office/drawing/2014/main" id="{EA6F6EF1-9970-428C-8C04-016957ED80B3}"/>
              </a:ext>
            </a:extLst>
          </p:cNvPr>
          <p:cNvSpPr>
            <a:spLocks noGrp="1"/>
          </p:cNvSpPr>
          <p:nvPr/>
        </p:nvSpPr>
        <p:spPr>
          <a:xfrm>
            <a:off x="2935773"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JUL</a:t>
            </a:r>
            <a:endParaRPr sz="1200"/>
          </a:p>
        </p:txBody>
      </p:sp>
      <p:sp>
        <p:nvSpPr>
          <p:cNvPr id="33" name="Text 31">
            <a:extLst>
              <a:ext uri="{FF2B5EF4-FFF2-40B4-BE49-F238E27FC236}">
                <a16:creationId xmlns:a16="http://schemas.microsoft.com/office/drawing/2014/main" id="{95007B1C-57BB-4699-BEBC-09FB601708BF}"/>
              </a:ext>
            </a:extLst>
          </p:cNvPr>
          <p:cNvSpPr>
            <a:spLocks noGrp="1"/>
          </p:cNvSpPr>
          <p:nvPr/>
        </p:nvSpPr>
        <p:spPr>
          <a:xfrm>
            <a:off x="3800155" y="3209544"/>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$19,260</a:t>
            </a:r>
            <a:endParaRPr sz="1300"/>
          </a:p>
        </p:txBody>
      </p:sp>
      <p:sp>
        <p:nvSpPr>
          <p:cNvPr id="34" name="Text 32">
            <a:extLst>
              <a:ext uri="{FF2B5EF4-FFF2-40B4-BE49-F238E27FC236}">
                <a16:creationId xmlns:a16="http://schemas.microsoft.com/office/drawing/2014/main" id="{017D6062-1CA6-4176-87C4-F0C4A479E5CF}"/>
              </a:ext>
            </a:extLst>
          </p:cNvPr>
          <p:cNvSpPr>
            <a:spLocks noGrp="1"/>
          </p:cNvSpPr>
          <p:nvPr/>
        </p:nvSpPr>
        <p:spPr>
          <a:xfrm>
            <a:off x="2935773"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AUG</a:t>
            </a:r>
            <a:endParaRPr sz="1200"/>
          </a:p>
        </p:txBody>
      </p:sp>
      <p:sp>
        <p:nvSpPr>
          <p:cNvPr id="35" name="Text 33">
            <a:extLst>
              <a:ext uri="{FF2B5EF4-FFF2-40B4-BE49-F238E27FC236}">
                <a16:creationId xmlns:a16="http://schemas.microsoft.com/office/drawing/2014/main" id="{E6877D6C-7381-4CD7-886B-FA871817150F}"/>
              </a:ext>
            </a:extLst>
          </p:cNvPr>
          <p:cNvSpPr>
            <a:spLocks noGrp="1"/>
          </p:cNvSpPr>
          <p:nvPr/>
        </p:nvSpPr>
        <p:spPr>
          <a:xfrm>
            <a:off x="3800155"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$24,028</a:t>
            </a:r>
            <a:endParaRPr sz="1300"/>
          </a:p>
        </p:txBody>
      </p:sp>
      <p:sp>
        <p:nvSpPr>
          <p:cNvPr id="36" name="Shape 34">
            <a:extLst>
              <a:ext uri="{FF2B5EF4-FFF2-40B4-BE49-F238E27FC236}">
                <a16:creationId xmlns:a16="http://schemas.microsoft.com/office/drawing/2014/main" id="{780B8A71-D1F6-4767-96A9-E0C76BC99625}"/>
              </a:ext>
            </a:extLst>
          </p:cNvPr>
          <p:cNvSpPr>
            <a:spLocks noGrp="1"/>
          </p:cNvSpPr>
          <p:nvPr/>
        </p:nvSpPr>
        <p:spPr>
          <a:xfrm>
            <a:off x="2935773" y="4069080"/>
            <a:ext cx="1728765" cy="329184"/>
          </a:xfrm>
          <a:prstGeom prst="roundRect">
            <a:avLst>
              <a:gd name="adj" fmla="val 27778"/>
            </a:avLst>
          </a:prstGeom>
          <a:solidFill>
            <a:srgbClr val="1D2D42"/>
          </a:solidFill>
          <a:ln w="12700">
            <a:solidFill>
              <a:srgbClr val="3DD9EB"/>
            </a:solidFill>
            <a:prstDash val="solid"/>
          </a:ln>
        </p:spPr>
      </p:sp>
      <p:sp>
        <p:nvSpPr>
          <p:cNvPr id="37" name="Text 35">
            <a:extLst>
              <a:ext uri="{FF2B5EF4-FFF2-40B4-BE49-F238E27FC236}">
                <a16:creationId xmlns:a16="http://schemas.microsoft.com/office/drawing/2014/main" id="{99A22888-A96C-458E-B512-48BACD7A9FE3}"/>
              </a:ext>
            </a:extLst>
          </p:cNvPr>
          <p:cNvSpPr>
            <a:spLocks noGrp="1"/>
          </p:cNvSpPr>
          <p:nvPr/>
        </p:nvSpPr>
        <p:spPr>
          <a:xfrm>
            <a:off x="2935773" y="4069080"/>
            <a:ext cx="1728765" cy="329184"/>
          </a:xfrm>
          <a:prstGeom prst="rect">
            <a:avLst/>
          </a:prstGeom>
          <a:noFill/>
        </p:spPr>
        <p:txBody>
          <a:bodyPr wrap="square" lIns="0" tIns="0" rIns="0" bIns="0" anchor="ctr"/>
          <a:lstStyle/>
          <a:p>
            <a:pPr marL="0" indent="0" algn="ctr">
              <a:buNone/>
            </a:pPr>
            <a:r>
              <a:rPr sz="1200" b="1">
                <a:solidFill>
                  <a:srgbClr val="3DD9EB"/>
                </a:solidFill>
                <a:latin typeface="Calibri"/>
                <a:ea typeface="Calibri"/>
                <a:cs typeface="Calibri"/>
              </a:rPr>
              <a:t>+25% Jul to Aug</a:t>
            </a:r>
            <a:endParaRPr sz="1200"/>
          </a:p>
        </p:txBody>
      </p:sp>
      <p:sp>
        <p:nvSpPr>
          <p:cNvPr id="38" name="Text 36">
            <a:extLst>
              <a:ext uri="{FF2B5EF4-FFF2-40B4-BE49-F238E27FC236}">
                <a16:creationId xmlns:a16="http://schemas.microsoft.com/office/drawing/2014/main" id="{D8838DEB-9355-4BF4-B668-BC3CA2A62339}"/>
              </a:ext>
            </a:extLst>
          </p:cNvPr>
          <p:cNvSpPr>
            <a:spLocks noGrp="1"/>
          </p:cNvSpPr>
          <p:nvPr/>
        </p:nvSpPr>
        <p:spPr>
          <a:xfrm>
            <a:off x="2935773"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Developer seats plus AI credit overage. Billed in full.</a:t>
            </a:r>
            <a:endParaRPr sz="1200"/>
          </a:p>
        </p:txBody>
      </p:sp>
      <p:sp>
        <p:nvSpPr>
          <p:cNvPr id="39" name="Shape 37">
            <a:extLst>
              <a:ext uri="{FF2B5EF4-FFF2-40B4-BE49-F238E27FC236}">
                <a16:creationId xmlns:a16="http://schemas.microsoft.com/office/drawing/2014/main" id="{E5C6F2F0-5D22-4436-B4F4-F0E5BD490937}"/>
              </a:ext>
            </a:extLst>
          </p:cNvPr>
          <p:cNvSpPr>
            <a:spLocks noGrp="1"/>
          </p:cNvSpPr>
          <p:nvPr/>
        </p:nvSpPr>
        <p:spPr>
          <a:xfrm>
            <a:off x="5048585" y="1618488"/>
            <a:ext cx="2094525" cy="3977640"/>
          </a:xfrm>
          <a:prstGeom prst="roundRect">
            <a:avLst>
              <a:gd name="adj" fmla="val 2619"/>
            </a:avLst>
          </a:prstGeom>
          <a:solidFill>
            <a:srgbClr val="121B2D"/>
          </a:solidFill>
          <a:ln w="12700">
            <a:solidFill>
              <a:srgbClr val="23304A"/>
            </a:solidFill>
            <a:prstDash val="solid"/>
          </a:ln>
        </p:spPr>
      </p:sp>
      <p:sp>
        <p:nvSpPr>
          <p:cNvPr id="40" name="Shape 38">
            <a:extLst>
              <a:ext uri="{FF2B5EF4-FFF2-40B4-BE49-F238E27FC236}">
                <a16:creationId xmlns:a16="http://schemas.microsoft.com/office/drawing/2014/main" id="{063DD483-FED7-4533-BE97-B64C0198EB61}"/>
              </a:ext>
            </a:extLst>
          </p:cNvPr>
          <p:cNvSpPr>
            <a:spLocks noGrp="1"/>
          </p:cNvSpPr>
          <p:nvPr/>
        </p:nvSpPr>
        <p:spPr>
          <a:xfrm>
            <a:off x="5048585" y="1618488"/>
            <a:ext cx="2094525" cy="45720"/>
          </a:xfrm>
          <a:prstGeom prst="rect">
            <a:avLst/>
          </a:prstGeom>
          <a:solidFill>
            <a:srgbClr val="FF9F43"/>
          </a:solidFill>
          <a:ln w="12700">
            <a:solidFill>
              <a:srgbClr val="FF9F43"/>
            </a:solidFill>
            <a:prstDash val="solid"/>
          </a:ln>
        </p:spPr>
      </p:sp>
      <p:sp>
        <p:nvSpPr>
          <p:cNvPr id="41" name="Text 39">
            <a:extLst>
              <a:ext uri="{FF2B5EF4-FFF2-40B4-BE49-F238E27FC236}">
                <a16:creationId xmlns:a16="http://schemas.microsoft.com/office/drawing/2014/main" id="{AEA35D83-94EF-49E0-B366-985929FF666B}"/>
              </a:ext>
            </a:extLst>
          </p:cNvPr>
          <p:cNvSpPr>
            <a:spLocks noGrp="1"/>
          </p:cNvSpPr>
          <p:nvPr/>
        </p:nvSpPr>
        <p:spPr>
          <a:xfrm>
            <a:off x="5231465"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AWS BEDROCK</a:t>
            </a:r>
            <a:endParaRPr sz="1200"/>
          </a:p>
        </p:txBody>
      </p:sp>
      <p:sp>
        <p:nvSpPr>
          <p:cNvPr id="42" name="Text 40">
            <a:extLst>
              <a:ext uri="{FF2B5EF4-FFF2-40B4-BE49-F238E27FC236}">
                <a16:creationId xmlns:a16="http://schemas.microsoft.com/office/drawing/2014/main" id="{F128C4FC-354D-4E96-8499-A028230F74FD}"/>
              </a:ext>
            </a:extLst>
          </p:cNvPr>
          <p:cNvSpPr>
            <a:spLocks noGrp="1"/>
          </p:cNvSpPr>
          <p:nvPr/>
        </p:nvSpPr>
        <p:spPr>
          <a:xfrm>
            <a:off x="5231465"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$44,739</a:t>
            </a:r>
            <a:endParaRPr sz="2800"/>
          </a:p>
        </p:txBody>
      </p:sp>
      <p:sp>
        <p:nvSpPr>
          <p:cNvPr id="43" name="Text 41">
            <a:extLst>
              <a:ext uri="{FF2B5EF4-FFF2-40B4-BE49-F238E27FC236}">
                <a16:creationId xmlns:a16="http://schemas.microsoft.com/office/drawing/2014/main" id="{C2D3443A-23B4-4FD1-9BFD-E88EDC51225A}"/>
              </a:ext>
            </a:extLst>
          </p:cNvPr>
          <p:cNvSpPr>
            <a:spLocks noGrp="1"/>
          </p:cNvSpPr>
          <p:nvPr/>
        </p:nvSpPr>
        <p:spPr>
          <a:xfrm>
            <a:off x="5231465" y="2734056"/>
            <a:ext cx="1728765" cy="237744"/>
          </a:xfrm>
          <a:prstGeom prst="rect">
            <a:avLst/>
          </a:prstGeom>
          <a:noFill/>
        </p:spPr>
        <p:txBody>
          <a:bodyPr wrap="square" lIns="0" tIns="0" rIns="0" bIns="0" anchor="ctr"/>
          <a:lstStyle/>
          <a:p>
            <a:pPr marL="0" indent="0">
              <a:buNone/>
            </a:pPr>
            <a:r>
              <a:rPr sz="1200" b="1">
                <a:solidFill>
                  <a:srgbClr val="FF9F43"/>
                </a:solidFill>
                <a:latin typeface="Calibri"/>
                <a:ea typeface="Calibri"/>
                <a:cs typeface="Calibri"/>
              </a:rPr>
              <a:t>46.1% of billed AI</a:t>
            </a:r>
            <a:endParaRPr sz="1200"/>
          </a:p>
        </p:txBody>
      </p:sp>
      <p:sp>
        <p:nvSpPr>
          <p:cNvPr id="44" name="Shape 42">
            <a:extLst>
              <a:ext uri="{FF2B5EF4-FFF2-40B4-BE49-F238E27FC236}">
                <a16:creationId xmlns:a16="http://schemas.microsoft.com/office/drawing/2014/main" id="{C8F613E2-6157-4A3A-ACA1-F4B67E1FF522}"/>
              </a:ext>
            </a:extLst>
          </p:cNvPr>
          <p:cNvSpPr>
            <a:spLocks noGrp="1"/>
          </p:cNvSpPr>
          <p:nvPr/>
        </p:nvSpPr>
        <p:spPr>
          <a:xfrm>
            <a:off x="5231465" y="3081528"/>
            <a:ext cx="1728765" cy="9144"/>
          </a:xfrm>
          <a:prstGeom prst="rect">
            <a:avLst/>
          </a:prstGeom>
          <a:solidFill>
            <a:srgbClr val="23304A"/>
          </a:solidFill>
          <a:ln w="12700">
            <a:solidFill>
              <a:srgbClr val="23304A"/>
            </a:solidFill>
            <a:prstDash val="solid"/>
          </a:ln>
        </p:spPr>
      </p:sp>
      <p:sp>
        <p:nvSpPr>
          <p:cNvPr id="45" name="Text 43">
            <a:extLst>
              <a:ext uri="{FF2B5EF4-FFF2-40B4-BE49-F238E27FC236}">
                <a16:creationId xmlns:a16="http://schemas.microsoft.com/office/drawing/2014/main" id="{4ED3DC88-7D27-422D-A317-BAF27F158390}"/>
              </a:ext>
            </a:extLst>
          </p:cNvPr>
          <p:cNvSpPr>
            <a:spLocks noGrp="1"/>
          </p:cNvSpPr>
          <p:nvPr/>
        </p:nvSpPr>
        <p:spPr>
          <a:xfrm>
            <a:off x="5231465"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JUL</a:t>
            </a:r>
            <a:endParaRPr sz="1200"/>
          </a:p>
        </p:txBody>
      </p:sp>
      <p:sp>
        <p:nvSpPr>
          <p:cNvPr id="46" name="Text 44">
            <a:extLst>
              <a:ext uri="{FF2B5EF4-FFF2-40B4-BE49-F238E27FC236}">
                <a16:creationId xmlns:a16="http://schemas.microsoft.com/office/drawing/2014/main" id="{03CA7875-4F23-4187-8AD2-F27898FE90C6}"/>
              </a:ext>
            </a:extLst>
          </p:cNvPr>
          <p:cNvSpPr>
            <a:spLocks noGrp="1"/>
          </p:cNvSpPr>
          <p:nvPr/>
        </p:nvSpPr>
        <p:spPr>
          <a:xfrm>
            <a:off x="6095848" y="3209544"/>
            <a:ext cx="864382" cy="274320"/>
          </a:xfrm>
          <a:prstGeom prst="rect">
            <a:avLst/>
          </a:prstGeom>
          <a:noFill/>
        </p:spPr>
        <p:txBody>
          <a:bodyPr wrap="none" lIns="0" tIns="0" rIns="0" bIns="0" anchor="ctr">
            <a:noAutofit/>
          </a:bodyPr>
          <a:lstStyle/>
          <a:p>
            <a:pPr marL="0" indent="0" algn="r">
              <a:buNone/>
              <a:defRPr sz="1350" b="1">
                <a:solidFill>
                  <a:srgbClr val="F4F7FB"/>
                </a:solidFill>
                <a:latin typeface="Calibri"/>
                <a:ea typeface="Calibri"/>
                <a:cs typeface="Calibri"/>
              </a:defRPr>
            </a:pPr>
            <a:r>
              <a:rPr sz="1350" b="1">
                <a:solidFill>
                  <a:srgbClr val="F4F7FB"/>
                </a:solidFill>
                <a:latin typeface="Calibri"/>
                <a:ea typeface="Calibri"/>
                <a:cs typeface="Calibri"/>
              </a:rPr>
              <a:t>$25,288</a:t>
            </a:r>
            <a:endParaRPr sz="1300"/>
          </a:p>
        </p:txBody>
      </p:sp>
      <p:sp>
        <p:nvSpPr>
          <p:cNvPr id="47" name="Text 45">
            <a:extLst>
              <a:ext uri="{FF2B5EF4-FFF2-40B4-BE49-F238E27FC236}">
                <a16:creationId xmlns:a16="http://schemas.microsoft.com/office/drawing/2014/main" id="{DCE73FFF-E351-40B9-BD5B-9799636DCC88}"/>
              </a:ext>
            </a:extLst>
          </p:cNvPr>
          <p:cNvSpPr>
            <a:spLocks noGrp="1"/>
          </p:cNvSpPr>
          <p:nvPr/>
        </p:nvSpPr>
        <p:spPr>
          <a:xfrm>
            <a:off x="5231465"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AUG</a:t>
            </a:r>
            <a:endParaRPr sz="1200"/>
          </a:p>
        </p:txBody>
      </p:sp>
      <p:sp>
        <p:nvSpPr>
          <p:cNvPr id="48" name="Text 46">
            <a:extLst>
              <a:ext uri="{FF2B5EF4-FFF2-40B4-BE49-F238E27FC236}">
                <a16:creationId xmlns:a16="http://schemas.microsoft.com/office/drawing/2014/main" id="{E52FECF0-2101-4A4B-BE58-9A64387CC129}"/>
              </a:ext>
            </a:extLst>
          </p:cNvPr>
          <p:cNvSpPr>
            <a:spLocks noGrp="1"/>
          </p:cNvSpPr>
          <p:nvPr/>
        </p:nvSpPr>
        <p:spPr>
          <a:xfrm>
            <a:off x="6095848"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$44,739</a:t>
            </a:r>
            <a:endParaRPr sz="1300"/>
          </a:p>
        </p:txBody>
      </p:sp>
      <p:sp>
        <p:nvSpPr>
          <p:cNvPr id="49" name="Shape 47">
            <a:extLst>
              <a:ext uri="{FF2B5EF4-FFF2-40B4-BE49-F238E27FC236}">
                <a16:creationId xmlns:a16="http://schemas.microsoft.com/office/drawing/2014/main" id="{11076722-ED2F-46D9-9A1F-8A09E43FEF12}"/>
              </a:ext>
            </a:extLst>
          </p:cNvPr>
          <p:cNvSpPr>
            <a:spLocks noGrp="1"/>
          </p:cNvSpPr>
          <p:nvPr/>
        </p:nvSpPr>
        <p:spPr>
          <a:xfrm>
            <a:off x="5231465" y="4069080"/>
            <a:ext cx="1728765" cy="329184"/>
          </a:xfrm>
          <a:prstGeom prst="roundRect">
            <a:avLst>
              <a:gd name="adj" fmla="val 27778"/>
            </a:avLst>
          </a:prstGeom>
          <a:solidFill>
            <a:srgbClr val="1D2D42"/>
          </a:solidFill>
          <a:ln w="12700">
            <a:solidFill>
              <a:srgbClr val="FF9F43"/>
            </a:solidFill>
            <a:prstDash val="solid"/>
          </a:ln>
        </p:spPr>
      </p:sp>
      <p:sp>
        <p:nvSpPr>
          <p:cNvPr id="50" name="Text 48">
            <a:extLst>
              <a:ext uri="{FF2B5EF4-FFF2-40B4-BE49-F238E27FC236}">
                <a16:creationId xmlns:a16="http://schemas.microsoft.com/office/drawing/2014/main" id="{7A2D0BFF-A274-4DF3-AB32-9E6C02B3D66E}"/>
              </a:ext>
            </a:extLst>
          </p:cNvPr>
          <p:cNvSpPr>
            <a:spLocks noGrp="1"/>
          </p:cNvSpPr>
          <p:nvPr/>
        </p:nvSpPr>
        <p:spPr>
          <a:xfrm>
            <a:off x="5231465" y="4069080"/>
            <a:ext cx="1728765" cy="329184"/>
          </a:xfrm>
          <a:prstGeom prst="rect">
            <a:avLst/>
          </a:prstGeom>
          <a:noFill/>
        </p:spPr>
        <p:txBody>
          <a:bodyPr wrap="square" lIns="0" tIns="0" rIns="0" bIns="0" anchor="ctr"/>
          <a:lstStyle/>
          <a:p>
            <a:pPr marL="0" indent="0" algn="ctr">
              <a:buNone/>
            </a:pPr>
            <a:r>
              <a:rPr sz="1200" b="1">
                <a:solidFill>
                  <a:srgbClr val="FF9F43"/>
                </a:solidFill>
                <a:latin typeface="Calibri"/>
                <a:ea typeface="Calibri"/>
                <a:cs typeface="Calibri"/>
              </a:rPr>
              <a:t>+77% Jul to Aug</a:t>
            </a:r>
            <a:endParaRPr sz="1200"/>
          </a:p>
        </p:txBody>
      </p:sp>
      <p:sp>
        <p:nvSpPr>
          <p:cNvPr id="51" name="Text 49">
            <a:extLst>
              <a:ext uri="{FF2B5EF4-FFF2-40B4-BE49-F238E27FC236}">
                <a16:creationId xmlns:a16="http://schemas.microsoft.com/office/drawing/2014/main" id="{3693321A-230B-465E-BD50-03086EAE83CD}"/>
              </a:ext>
            </a:extLst>
          </p:cNvPr>
          <p:cNvSpPr>
            <a:spLocks noGrp="1"/>
          </p:cNvSpPr>
          <p:nvPr/>
        </p:nvSpPr>
        <p:spPr>
          <a:xfrm>
            <a:off x="5231465"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Claude models via Claude Code. First month at full price.</a:t>
            </a:r>
            <a:endParaRPr sz="1200"/>
          </a:p>
        </p:txBody>
      </p:sp>
      <p:sp>
        <p:nvSpPr>
          <p:cNvPr id="52" name="Shape 50">
            <a:extLst>
              <a:ext uri="{FF2B5EF4-FFF2-40B4-BE49-F238E27FC236}">
                <a16:creationId xmlns:a16="http://schemas.microsoft.com/office/drawing/2014/main" id="{F0BCAA03-68BF-4F2D-BE33-094079F3276B}"/>
              </a:ext>
            </a:extLst>
          </p:cNvPr>
          <p:cNvSpPr>
            <a:spLocks noGrp="1"/>
          </p:cNvSpPr>
          <p:nvPr/>
        </p:nvSpPr>
        <p:spPr>
          <a:xfrm>
            <a:off x="7344278" y="1618488"/>
            <a:ext cx="2094525" cy="3977640"/>
          </a:xfrm>
          <a:prstGeom prst="roundRect">
            <a:avLst>
              <a:gd name="adj" fmla="val 2619"/>
            </a:avLst>
          </a:prstGeom>
          <a:solidFill>
            <a:srgbClr val="121B2D"/>
          </a:solidFill>
          <a:ln w="12700">
            <a:solidFill>
              <a:srgbClr val="23304A"/>
            </a:solidFill>
            <a:prstDash val="solid"/>
          </a:ln>
        </p:spPr>
      </p:sp>
      <p:sp>
        <p:nvSpPr>
          <p:cNvPr id="53" name="Shape 51">
            <a:extLst>
              <a:ext uri="{FF2B5EF4-FFF2-40B4-BE49-F238E27FC236}">
                <a16:creationId xmlns:a16="http://schemas.microsoft.com/office/drawing/2014/main" id="{BCAC693E-904A-49B0-AC2D-0ADBA3FFAD6C}"/>
              </a:ext>
            </a:extLst>
          </p:cNvPr>
          <p:cNvSpPr>
            <a:spLocks noGrp="1"/>
          </p:cNvSpPr>
          <p:nvPr/>
        </p:nvSpPr>
        <p:spPr>
          <a:xfrm>
            <a:off x="7344278" y="1618488"/>
            <a:ext cx="2094525" cy="45720"/>
          </a:xfrm>
          <a:prstGeom prst="rect">
            <a:avLst/>
          </a:prstGeom>
          <a:solidFill>
            <a:srgbClr val="B07CFF"/>
          </a:solidFill>
          <a:ln w="12700">
            <a:solidFill>
              <a:srgbClr val="B07CFF"/>
            </a:solidFill>
            <a:prstDash val="solid"/>
          </a:ln>
        </p:spPr>
      </p:sp>
      <p:sp>
        <p:nvSpPr>
          <p:cNvPr id="54" name="Text 52">
            <a:extLst>
              <a:ext uri="{FF2B5EF4-FFF2-40B4-BE49-F238E27FC236}">
                <a16:creationId xmlns:a16="http://schemas.microsoft.com/office/drawing/2014/main" id="{FF04CA6B-2333-432A-9B23-0C5709E2541C}"/>
              </a:ext>
            </a:extLst>
          </p:cNvPr>
          <p:cNvSpPr>
            <a:spLocks noGrp="1"/>
          </p:cNvSpPr>
          <p:nvPr/>
        </p:nvSpPr>
        <p:spPr>
          <a:xfrm>
            <a:off x="7527158"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COWORK</a:t>
            </a:r>
            <a:endParaRPr sz="1200"/>
          </a:p>
        </p:txBody>
      </p:sp>
      <p:sp>
        <p:nvSpPr>
          <p:cNvPr id="55" name="Text 53">
            <a:extLst>
              <a:ext uri="{FF2B5EF4-FFF2-40B4-BE49-F238E27FC236}">
                <a16:creationId xmlns:a16="http://schemas.microsoft.com/office/drawing/2014/main" id="{9B5C729A-45D2-49CD-ABA9-1C2C1A6C7D59}"/>
              </a:ext>
            </a:extLst>
          </p:cNvPr>
          <p:cNvSpPr>
            <a:spLocks noGrp="1"/>
          </p:cNvSpPr>
          <p:nvPr/>
        </p:nvSpPr>
        <p:spPr>
          <a:xfrm>
            <a:off x="7527158"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$9,906</a:t>
            </a:r>
            <a:endParaRPr sz="2800"/>
          </a:p>
        </p:txBody>
      </p:sp>
      <p:sp>
        <p:nvSpPr>
          <p:cNvPr id="56" name="Text 54">
            <a:extLst>
              <a:ext uri="{FF2B5EF4-FFF2-40B4-BE49-F238E27FC236}">
                <a16:creationId xmlns:a16="http://schemas.microsoft.com/office/drawing/2014/main" id="{261A26D8-0827-4133-B1A3-82D273FDDF8A}"/>
              </a:ext>
            </a:extLst>
          </p:cNvPr>
          <p:cNvSpPr>
            <a:spLocks noGrp="1"/>
          </p:cNvSpPr>
          <p:nvPr/>
        </p:nvSpPr>
        <p:spPr>
          <a:xfrm>
            <a:off x="7527158" y="2734056"/>
            <a:ext cx="1728765" cy="237744"/>
          </a:xfrm>
          <a:prstGeom prst="rect">
            <a:avLst/>
          </a:prstGeom>
          <a:noFill/>
        </p:spPr>
        <p:txBody>
          <a:bodyPr wrap="square" lIns="0" tIns="0" rIns="0" bIns="0" anchor="ctr"/>
          <a:lstStyle/>
          <a:p>
            <a:pPr marL="0" indent="0">
              <a:buNone/>
            </a:pPr>
            <a:r>
              <a:rPr sz="1200" b="1">
                <a:solidFill>
                  <a:srgbClr val="B07CFF"/>
                </a:solidFill>
                <a:latin typeface="Calibri"/>
                <a:ea typeface="Calibri"/>
                <a:cs typeface="Calibri"/>
              </a:rPr>
              <a:t>10.2% of billed AI</a:t>
            </a:r>
            <a:endParaRPr sz="1200"/>
          </a:p>
        </p:txBody>
      </p:sp>
      <p:sp>
        <p:nvSpPr>
          <p:cNvPr id="57" name="Shape 55">
            <a:extLst>
              <a:ext uri="{FF2B5EF4-FFF2-40B4-BE49-F238E27FC236}">
                <a16:creationId xmlns:a16="http://schemas.microsoft.com/office/drawing/2014/main" id="{D02BA2BD-33F5-4D03-A6EA-438F997CEDA3}"/>
              </a:ext>
            </a:extLst>
          </p:cNvPr>
          <p:cNvSpPr>
            <a:spLocks noGrp="1"/>
          </p:cNvSpPr>
          <p:nvPr/>
        </p:nvSpPr>
        <p:spPr>
          <a:xfrm>
            <a:off x="7527158" y="3081528"/>
            <a:ext cx="1728765" cy="9144"/>
          </a:xfrm>
          <a:prstGeom prst="rect">
            <a:avLst/>
          </a:prstGeom>
          <a:solidFill>
            <a:srgbClr val="23304A"/>
          </a:solidFill>
          <a:ln w="12700">
            <a:solidFill>
              <a:srgbClr val="23304A"/>
            </a:solidFill>
            <a:prstDash val="solid"/>
          </a:ln>
        </p:spPr>
      </p:sp>
      <p:sp>
        <p:nvSpPr>
          <p:cNvPr id="58" name="Text 56">
            <a:extLst>
              <a:ext uri="{FF2B5EF4-FFF2-40B4-BE49-F238E27FC236}">
                <a16:creationId xmlns:a16="http://schemas.microsoft.com/office/drawing/2014/main" id="{7D0F9403-F9E2-48A4-90C6-AA3EA9974DC2}"/>
              </a:ext>
            </a:extLst>
          </p:cNvPr>
          <p:cNvSpPr>
            <a:spLocks noGrp="1"/>
          </p:cNvSpPr>
          <p:nvPr/>
        </p:nvSpPr>
        <p:spPr>
          <a:xfrm>
            <a:off x="7527158"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JUL</a:t>
            </a:r>
            <a:endParaRPr sz="1200"/>
          </a:p>
        </p:txBody>
      </p:sp>
      <p:sp>
        <p:nvSpPr>
          <p:cNvPr id="59" name="Text 57">
            <a:extLst>
              <a:ext uri="{FF2B5EF4-FFF2-40B4-BE49-F238E27FC236}">
                <a16:creationId xmlns:a16="http://schemas.microsoft.com/office/drawing/2014/main" id="{E6E55FEA-C8F9-4F44-B33C-5639C83374B0}"/>
              </a:ext>
            </a:extLst>
          </p:cNvPr>
          <p:cNvSpPr>
            <a:spLocks noGrp="1"/>
          </p:cNvSpPr>
          <p:nvPr/>
        </p:nvSpPr>
        <p:spPr>
          <a:xfrm>
            <a:off x="8391540" y="3209544"/>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$8,920</a:t>
            </a:r>
            <a:endParaRPr sz="1300"/>
          </a:p>
        </p:txBody>
      </p:sp>
      <p:sp>
        <p:nvSpPr>
          <p:cNvPr id="60" name="Text 58">
            <a:extLst>
              <a:ext uri="{FF2B5EF4-FFF2-40B4-BE49-F238E27FC236}">
                <a16:creationId xmlns:a16="http://schemas.microsoft.com/office/drawing/2014/main" id="{8F5826AD-6329-4215-B962-2FA79874E6C5}"/>
              </a:ext>
            </a:extLst>
          </p:cNvPr>
          <p:cNvSpPr>
            <a:spLocks noGrp="1"/>
          </p:cNvSpPr>
          <p:nvPr/>
        </p:nvSpPr>
        <p:spPr>
          <a:xfrm>
            <a:off x="7527158"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AUG</a:t>
            </a:r>
            <a:endParaRPr sz="1200"/>
          </a:p>
        </p:txBody>
      </p:sp>
      <p:sp>
        <p:nvSpPr>
          <p:cNvPr id="61" name="Text 59">
            <a:extLst>
              <a:ext uri="{FF2B5EF4-FFF2-40B4-BE49-F238E27FC236}">
                <a16:creationId xmlns:a16="http://schemas.microsoft.com/office/drawing/2014/main" id="{745E4055-AD13-4971-A9B6-791A5719FC74}"/>
              </a:ext>
            </a:extLst>
          </p:cNvPr>
          <p:cNvSpPr>
            <a:spLocks noGrp="1"/>
          </p:cNvSpPr>
          <p:nvPr/>
        </p:nvSpPr>
        <p:spPr>
          <a:xfrm>
            <a:off x="8391540"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$9,906</a:t>
            </a:r>
            <a:endParaRPr sz="1300"/>
          </a:p>
        </p:txBody>
      </p:sp>
      <p:sp>
        <p:nvSpPr>
          <p:cNvPr id="62" name="Shape 60">
            <a:extLst>
              <a:ext uri="{FF2B5EF4-FFF2-40B4-BE49-F238E27FC236}">
                <a16:creationId xmlns:a16="http://schemas.microsoft.com/office/drawing/2014/main" id="{201472BA-958D-4B1F-BA97-B55C6A37F9F3}"/>
              </a:ext>
            </a:extLst>
          </p:cNvPr>
          <p:cNvSpPr>
            <a:spLocks noGrp="1"/>
          </p:cNvSpPr>
          <p:nvPr/>
        </p:nvSpPr>
        <p:spPr>
          <a:xfrm>
            <a:off x="7527158" y="4069080"/>
            <a:ext cx="1728765" cy="329184"/>
          </a:xfrm>
          <a:prstGeom prst="roundRect">
            <a:avLst>
              <a:gd name="adj" fmla="val 27778"/>
            </a:avLst>
          </a:prstGeom>
          <a:solidFill>
            <a:srgbClr val="1D2D42"/>
          </a:solidFill>
          <a:ln w="12700">
            <a:solidFill>
              <a:srgbClr val="B07CFF"/>
            </a:solidFill>
            <a:prstDash val="solid"/>
          </a:ln>
        </p:spPr>
      </p:sp>
      <p:sp>
        <p:nvSpPr>
          <p:cNvPr id="63" name="Text 61">
            <a:extLst>
              <a:ext uri="{FF2B5EF4-FFF2-40B4-BE49-F238E27FC236}">
                <a16:creationId xmlns:a16="http://schemas.microsoft.com/office/drawing/2014/main" id="{07178D21-A892-4F37-80B1-F12440C09993}"/>
              </a:ext>
            </a:extLst>
          </p:cNvPr>
          <p:cNvSpPr>
            <a:spLocks noGrp="1"/>
          </p:cNvSpPr>
          <p:nvPr/>
        </p:nvSpPr>
        <p:spPr>
          <a:xfrm>
            <a:off x="7527158" y="4069080"/>
            <a:ext cx="1728765" cy="329184"/>
          </a:xfrm>
          <a:prstGeom prst="rect">
            <a:avLst/>
          </a:prstGeom>
          <a:noFill/>
        </p:spPr>
        <p:txBody>
          <a:bodyPr wrap="square" lIns="0" tIns="0" rIns="0" bIns="0" anchor="ctr"/>
          <a:lstStyle/>
          <a:p>
            <a:pPr marL="0" indent="0" algn="ctr">
              <a:buNone/>
            </a:pPr>
            <a:r>
              <a:rPr sz="1200" b="1">
                <a:solidFill>
                  <a:srgbClr val="B07CFF"/>
                </a:solidFill>
                <a:latin typeface="Calibri"/>
                <a:ea typeface="Calibri"/>
                <a:cs typeface="Calibri"/>
              </a:rPr>
              <a:t>+11% Jul to Aug</a:t>
            </a:r>
            <a:endParaRPr sz="1200"/>
          </a:p>
        </p:txBody>
      </p:sp>
      <p:sp>
        <p:nvSpPr>
          <p:cNvPr id="64" name="Text 62">
            <a:extLst>
              <a:ext uri="{FF2B5EF4-FFF2-40B4-BE49-F238E27FC236}">
                <a16:creationId xmlns:a16="http://schemas.microsoft.com/office/drawing/2014/main" id="{4649CB25-D881-4AC8-B5C1-6007A45422F8}"/>
              </a:ext>
            </a:extLst>
          </p:cNvPr>
          <p:cNvSpPr>
            <a:spLocks noGrp="1"/>
          </p:cNvSpPr>
          <p:nvPr/>
        </p:nvSpPr>
        <p:spPr>
          <a:xfrm>
            <a:off x="7527158"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Pay-as-you-go agent credits, billed through Power Platform.</a:t>
            </a:r>
            <a:endParaRPr sz="1200"/>
          </a:p>
        </p:txBody>
      </p:sp>
      <p:sp>
        <p:nvSpPr>
          <p:cNvPr id="65" name="Shape 63">
            <a:extLst>
              <a:ext uri="{FF2B5EF4-FFF2-40B4-BE49-F238E27FC236}">
                <a16:creationId xmlns:a16="http://schemas.microsoft.com/office/drawing/2014/main" id="{BBFA9EBE-9AF5-4F66-B488-99D1AD1FF2CF}"/>
              </a:ext>
            </a:extLst>
          </p:cNvPr>
          <p:cNvSpPr>
            <a:spLocks noGrp="1"/>
          </p:cNvSpPr>
          <p:nvPr/>
        </p:nvSpPr>
        <p:spPr>
          <a:xfrm>
            <a:off x="9639971" y="1618488"/>
            <a:ext cx="2094525" cy="3977640"/>
          </a:xfrm>
          <a:prstGeom prst="roundRect">
            <a:avLst>
              <a:gd name="adj" fmla="val 2619"/>
            </a:avLst>
          </a:prstGeom>
          <a:solidFill>
            <a:srgbClr val="121B2D"/>
          </a:solidFill>
          <a:ln w="12700">
            <a:solidFill>
              <a:srgbClr val="23304A"/>
            </a:solidFill>
            <a:prstDash val="solid"/>
          </a:ln>
        </p:spPr>
      </p:sp>
      <p:sp>
        <p:nvSpPr>
          <p:cNvPr id="66" name="Shape 64">
            <a:extLst>
              <a:ext uri="{FF2B5EF4-FFF2-40B4-BE49-F238E27FC236}">
                <a16:creationId xmlns:a16="http://schemas.microsoft.com/office/drawing/2014/main" id="{BDF1AA85-DABF-4B4A-BFEC-0CD34E99B9AE}"/>
              </a:ext>
            </a:extLst>
          </p:cNvPr>
          <p:cNvSpPr>
            <a:spLocks noGrp="1"/>
          </p:cNvSpPr>
          <p:nvPr/>
        </p:nvSpPr>
        <p:spPr>
          <a:xfrm>
            <a:off x="9639971" y="1618488"/>
            <a:ext cx="2094525" cy="45720"/>
          </a:xfrm>
          <a:prstGeom prst="rect">
            <a:avLst/>
          </a:prstGeom>
          <a:solidFill>
            <a:srgbClr val="3DDC97"/>
          </a:solidFill>
          <a:ln w="12700">
            <a:solidFill>
              <a:srgbClr val="3DDC97"/>
            </a:solidFill>
            <a:prstDash val="solid"/>
          </a:ln>
        </p:spPr>
      </p:sp>
      <p:sp>
        <p:nvSpPr>
          <p:cNvPr id="67" name="Text 65">
            <a:extLst>
              <a:ext uri="{FF2B5EF4-FFF2-40B4-BE49-F238E27FC236}">
                <a16:creationId xmlns:a16="http://schemas.microsoft.com/office/drawing/2014/main" id="{CF9A81ED-0204-4109-930F-DBAFC16F2599}"/>
              </a:ext>
            </a:extLst>
          </p:cNvPr>
          <p:cNvSpPr>
            <a:spLocks noGrp="1"/>
          </p:cNvSpPr>
          <p:nvPr/>
        </p:nvSpPr>
        <p:spPr>
          <a:xfrm>
            <a:off x="9822851"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GOOGLE VERTEX AI</a:t>
            </a:r>
            <a:endParaRPr sz="1200"/>
          </a:p>
        </p:txBody>
      </p:sp>
      <p:sp>
        <p:nvSpPr>
          <p:cNvPr id="68" name="Text 66">
            <a:extLst>
              <a:ext uri="{FF2B5EF4-FFF2-40B4-BE49-F238E27FC236}">
                <a16:creationId xmlns:a16="http://schemas.microsoft.com/office/drawing/2014/main" id="{3A5E0B89-ACEA-4538-9492-B0BDA15ADFB3}"/>
              </a:ext>
            </a:extLst>
          </p:cNvPr>
          <p:cNvSpPr>
            <a:spLocks noGrp="1"/>
          </p:cNvSpPr>
          <p:nvPr/>
        </p:nvSpPr>
        <p:spPr>
          <a:xfrm>
            <a:off x="9822851"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$1,522</a:t>
            </a:r>
            <a:endParaRPr sz="2800"/>
          </a:p>
        </p:txBody>
      </p:sp>
      <p:sp>
        <p:nvSpPr>
          <p:cNvPr id="69" name="Text 67">
            <a:extLst>
              <a:ext uri="{FF2B5EF4-FFF2-40B4-BE49-F238E27FC236}">
                <a16:creationId xmlns:a16="http://schemas.microsoft.com/office/drawing/2014/main" id="{F0012C22-8F4D-4925-A9DC-5016145040E4}"/>
              </a:ext>
            </a:extLst>
          </p:cNvPr>
          <p:cNvSpPr>
            <a:spLocks noGrp="1"/>
          </p:cNvSpPr>
          <p:nvPr/>
        </p:nvSpPr>
        <p:spPr>
          <a:xfrm>
            <a:off x="9822851" y="2734056"/>
            <a:ext cx="1728765" cy="237744"/>
          </a:xfrm>
          <a:prstGeom prst="rect">
            <a:avLst/>
          </a:prstGeom>
          <a:noFill/>
        </p:spPr>
        <p:txBody>
          <a:bodyPr wrap="square" lIns="0" tIns="0" rIns="0" bIns="0" anchor="ctr"/>
          <a:lstStyle/>
          <a:p>
            <a:pPr marL="0" indent="0">
              <a:buNone/>
            </a:pPr>
            <a:r>
              <a:rPr sz="1200" b="1">
                <a:solidFill>
                  <a:srgbClr val="3DDC97"/>
                </a:solidFill>
                <a:latin typeface="Calibri"/>
                <a:ea typeface="Calibri"/>
                <a:cs typeface="Calibri"/>
              </a:rPr>
              <a:t>1.6% of billed AI</a:t>
            </a:r>
            <a:endParaRPr sz="1200"/>
          </a:p>
        </p:txBody>
      </p:sp>
      <p:sp>
        <p:nvSpPr>
          <p:cNvPr id="70" name="Shape 68">
            <a:extLst>
              <a:ext uri="{FF2B5EF4-FFF2-40B4-BE49-F238E27FC236}">
                <a16:creationId xmlns:a16="http://schemas.microsoft.com/office/drawing/2014/main" id="{E36006C8-11CD-4280-95B5-3DF0237D8C03}"/>
              </a:ext>
            </a:extLst>
          </p:cNvPr>
          <p:cNvSpPr>
            <a:spLocks noGrp="1"/>
          </p:cNvSpPr>
          <p:nvPr/>
        </p:nvSpPr>
        <p:spPr>
          <a:xfrm>
            <a:off x="9822851" y="3081528"/>
            <a:ext cx="1728765" cy="9144"/>
          </a:xfrm>
          <a:prstGeom prst="rect">
            <a:avLst/>
          </a:prstGeom>
          <a:solidFill>
            <a:srgbClr val="23304A"/>
          </a:solidFill>
          <a:ln w="12700">
            <a:solidFill>
              <a:srgbClr val="23304A"/>
            </a:solidFill>
            <a:prstDash val="solid"/>
          </a:ln>
        </p:spPr>
      </p:sp>
      <p:sp>
        <p:nvSpPr>
          <p:cNvPr id="71" name="Text 69">
            <a:extLst>
              <a:ext uri="{FF2B5EF4-FFF2-40B4-BE49-F238E27FC236}">
                <a16:creationId xmlns:a16="http://schemas.microsoft.com/office/drawing/2014/main" id="{F9CDE078-C5B5-4BD8-A165-5F649F8BDD43}"/>
              </a:ext>
            </a:extLst>
          </p:cNvPr>
          <p:cNvSpPr>
            <a:spLocks noGrp="1"/>
          </p:cNvSpPr>
          <p:nvPr/>
        </p:nvSpPr>
        <p:spPr>
          <a:xfrm>
            <a:off x="9822851"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JUL</a:t>
            </a:r>
            <a:endParaRPr sz="1200"/>
          </a:p>
        </p:txBody>
      </p:sp>
      <p:sp>
        <p:nvSpPr>
          <p:cNvPr id="72" name="Text 70">
            <a:extLst>
              <a:ext uri="{FF2B5EF4-FFF2-40B4-BE49-F238E27FC236}">
                <a16:creationId xmlns:a16="http://schemas.microsoft.com/office/drawing/2014/main" id="{7F20ADAF-45BE-4322-905E-FA7F4AE506F4}"/>
              </a:ext>
            </a:extLst>
          </p:cNvPr>
          <p:cNvSpPr>
            <a:spLocks noGrp="1"/>
          </p:cNvSpPr>
          <p:nvPr/>
        </p:nvSpPr>
        <p:spPr>
          <a:xfrm>
            <a:off x="10687233" y="3209544"/>
            <a:ext cx="864382" cy="274320"/>
          </a:xfrm>
          <a:prstGeom prst="rect">
            <a:avLst/>
          </a:prstGeom>
          <a:noFill/>
        </p:spPr>
        <p:txBody>
          <a:bodyPr wrap="none" lIns="0" tIns="0" rIns="0" bIns="0" anchor="ctr">
            <a:noAutofit/>
          </a:bodyPr>
          <a:lstStyle/>
          <a:p>
            <a:pPr marL="0" indent="0" algn="r">
              <a:buNone/>
              <a:defRPr sz="1350" b="1">
                <a:solidFill>
                  <a:srgbClr val="F4F7FB"/>
                </a:solidFill>
                <a:latin typeface="Calibri"/>
                <a:ea typeface="Calibri"/>
                <a:cs typeface="Calibri"/>
              </a:defRPr>
            </a:pPr>
            <a:r>
              <a:rPr sz="1350" b="1">
                <a:solidFill>
                  <a:srgbClr val="F4F7FB"/>
                </a:solidFill>
                <a:latin typeface="Calibri"/>
                <a:ea typeface="Calibri"/>
                <a:cs typeface="Calibri"/>
              </a:rPr>
              <a:t>$2,359</a:t>
            </a:r>
            <a:endParaRPr sz="1300"/>
          </a:p>
        </p:txBody>
      </p:sp>
      <p:sp>
        <p:nvSpPr>
          <p:cNvPr id="73" name="Text 71">
            <a:extLst>
              <a:ext uri="{FF2B5EF4-FFF2-40B4-BE49-F238E27FC236}">
                <a16:creationId xmlns:a16="http://schemas.microsoft.com/office/drawing/2014/main" id="{5BA90F1D-D006-474F-9EB8-30E010E94F61}"/>
              </a:ext>
            </a:extLst>
          </p:cNvPr>
          <p:cNvSpPr>
            <a:spLocks noGrp="1"/>
          </p:cNvSpPr>
          <p:nvPr/>
        </p:nvSpPr>
        <p:spPr>
          <a:xfrm>
            <a:off x="9822851"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AUG</a:t>
            </a:r>
            <a:endParaRPr sz="1200"/>
          </a:p>
        </p:txBody>
      </p:sp>
      <p:sp>
        <p:nvSpPr>
          <p:cNvPr id="74" name="Text 72">
            <a:extLst>
              <a:ext uri="{FF2B5EF4-FFF2-40B4-BE49-F238E27FC236}">
                <a16:creationId xmlns:a16="http://schemas.microsoft.com/office/drawing/2014/main" id="{672BFD05-7C2D-4596-8507-53BF7D2F9EAD}"/>
              </a:ext>
            </a:extLst>
          </p:cNvPr>
          <p:cNvSpPr>
            <a:spLocks noGrp="1"/>
          </p:cNvSpPr>
          <p:nvPr/>
        </p:nvSpPr>
        <p:spPr>
          <a:xfrm>
            <a:off x="10687233"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$1,522</a:t>
            </a:r>
            <a:endParaRPr sz="1300"/>
          </a:p>
        </p:txBody>
      </p:sp>
      <p:sp>
        <p:nvSpPr>
          <p:cNvPr id="75" name="Shape 73">
            <a:extLst>
              <a:ext uri="{FF2B5EF4-FFF2-40B4-BE49-F238E27FC236}">
                <a16:creationId xmlns:a16="http://schemas.microsoft.com/office/drawing/2014/main" id="{CDB61192-FC95-4F63-A76A-FAD68116257F}"/>
              </a:ext>
            </a:extLst>
          </p:cNvPr>
          <p:cNvSpPr>
            <a:spLocks noGrp="1"/>
          </p:cNvSpPr>
          <p:nvPr/>
        </p:nvSpPr>
        <p:spPr>
          <a:xfrm>
            <a:off x="9822851" y="4069080"/>
            <a:ext cx="1728765" cy="329184"/>
          </a:xfrm>
          <a:prstGeom prst="roundRect">
            <a:avLst>
              <a:gd name="adj" fmla="val 27778"/>
            </a:avLst>
          </a:prstGeom>
          <a:solidFill>
            <a:srgbClr val="1D2D42"/>
          </a:solidFill>
          <a:ln w="12700">
            <a:solidFill>
              <a:srgbClr val="3DDC97"/>
            </a:solidFill>
            <a:prstDash val="solid"/>
          </a:ln>
        </p:spPr>
      </p:sp>
      <p:sp>
        <p:nvSpPr>
          <p:cNvPr id="76" name="Text 74">
            <a:extLst>
              <a:ext uri="{FF2B5EF4-FFF2-40B4-BE49-F238E27FC236}">
                <a16:creationId xmlns:a16="http://schemas.microsoft.com/office/drawing/2014/main" id="{67C002A3-40AB-4AE6-B4D0-44F30BC1E4BD}"/>
              </a:ext>
            </a:extLst>
          </p:cNvPr>
          <p:cNvSpPr>
            <a:spLocks noGrp="1"/>
          </p:cNvSpPr>
          <p:nvPr/>
        </p:nvSpPr>
        <p:spPr>
          <a:xfrm>
            <a:off x="9822851" y="4069080"/>
            <a:ext cx="1728765" cy="329184"/>
          </a:xfrm>
          <a:prstGeom prst="rect">
            <a:avLst/>
          </a:prstGeom>
          <a:noFill/>
        </p:spPr>
        <p:txBody>
          <a:bodyPr wrap="square" lIns="0" tIns="0" rIns="0" bIns="0" anchor="ctr"/>
          <a:lstStyle/>
          <a:p>
            <a:pPr marL="0" indent="0" algn="ctr">
              <a:buNone/>
            </a:pPr>
            <a:r>
              <a:rPr sz="1200" b="1">
                <a:solidFill>
                  <a:srgbClr val="3DDC97"/>
                </a:solidFill>
                <a:latin typeface="Calibri"/>
                <a:ea typeface="Calibri"/>
                <a:cs typeface="Calibri"/>
              </a:rPr>
              <a:t>−36% Jul to Aug</a:t>
            </a:r>
            <a:endParaRPr sz="1200"/>
          </a:p>
        </p:txBody>
      </p:sp>
      <p:sp>
        <p:nvSpPr>
          <p:cNvPr id="77" name="Text 75">
            <a:extLst>
              <a:ext uri="{FF2B5EF4-FFF2-40B4-BE49-F238E27FC236}">
                <a16:creationId xmlns:a16="http://schemas.microsoft.com/office/drawing/2014/main" id="{2AF83E86-46F4-46F0-9B04-1BC4BD3C4423}"/>
              </a:ext>
            </a:extLst>
          </p:cNvPr>
          <p:cNvSpPr>
            <a:spLocks noGrp="1"/>
          </p:cNvSpPr>
          <p:nvPr/>
        </p:nvSpPr>
        <p:spPr>
          <a:xfrm>
            <a:off x="9822851"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Gemini prediction tokens. The only AI line that fell outright.</a:t>
            </a:r>
            <a:endParaRPr sz="1200"/>
          </a:p>
        </p:txBody>
      </p:sp>
    </p:spTree>
    <p:extLst>
      <p:ext uri="{BB962C8B-B14F-4D97-AF65-F5344CB8AC3E}">
        <p14:creationId xmlns:p14="http://schemas.microsoft.com/office/powerpoint/2010/main" val="968350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83A114A-46E1-444D-8A4C-C75405E7D950}"/>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739F10F6-5982-40D3-A237-AEB243E6CDD7}"/>
              </a:ext>
            </a:extLst>
          </p:cNvPr>
          <p:cNvSpPr>
            <a:spLocks noGrp="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a:p>
        </p:txBody>
      </p:sp>
      <p:sp>
        <p:nvSpPr>
          <p:cNvPr id="4" name="Text 2">
            <a:extLst>
              <a:ext uri="{FF2B5EF4-FFF2-40B4-BE49-F238E27FC236}">
                <a16:creationId xmlns:a16="http://schemas.microsoft.com/office/drawing/2014/main" id="{B980F814-1F44-41FB-8379-3DA60E06848A}"/>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9F43"/>
                </a:solidFill>
                <a:latin typeface="Calibri"/>
                <a:ea typeface="Calibri"/>
                <a:cs typeface="Calibri"/>
              </a:rPr>
              <a:t>AWS / BEDROCK</a:t>
            </a:r>
            <a:endParaRPr sz="1300"/>
          </a:p>
        </p:txBody>
      </p:sp>
      <p:sp>
        <p:nvSpPr>
          <p:cNvPr id="5" name="Text 3">
            <a:extLst>
              <a:ext uri="{FF2B5EF4-FFF2-40B4-BE49-F238E27FC236}">
                <a16:creationId xmlns:a16="http://schemas.microsoft.com/office/drawing/2014/main" id="{70BE652A-578D-43A7-A400-9457FAF9577E}"/>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The policy is moving the mix, not yet the cost</a:t>
            </a:r>
            <a:endParaRPr sz="2800"/>
          </a:p>
        </p:txBody>
      </p:sp>
      <p:sp>
        <p:nvSpPr>
          <p:cNvPr id="6" name="Text 4">
            <a:extLst>
              <a:ext uri="{FF2B5EF4-FFF2-40B4-BE49-F238E27FC236}">
                <a16:creationId xmlns:a16="http://schemas.microsoft.com/office/drawing/2014/main" id="{3A27CDD5-A220-4148-B4E8-4F003E0E57B5}"/>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Claude models consumed through Bedrock, billed as Marketplace lines.</a:t>
            </a:r>
            <a:endParaRPr sz="1200"/>
          </a:p>
        </p:txBody>
      </p:sp>
      <p:sp>
        <p:nvSpPr>
          <p:cNvPr id="7" name="Text 5">
            <a:extLst>
              <a:ext uri="{FF2B5EF4-FFF2-40B4-BE49-F238E27FC236}">
                <a16:creationId xmlns:a16="http://schemas.microsoft.com/office/drawing/2014/main" id="{C032A1C2-FD5C-4EB3-A539-9649C3D5B111}"/>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Sonnet went from 3.0% to 23.2% of model spend in a month, which is what the policy asks for. But Opus still grew from $24,365 to $34,184 in absolute terms: the shift is additive, not substitutive. The policy is changing what gets added, not what gets replaced.</a:t>
            </a:r>
            <a:endParaRPr sz="1200"/>
          </a:p>
        </p:txBody>
      </p:sp>
      <p:sp>
        <p:nvSpPr>
          <p:cNvPr id="8" name="Text 6">
            <a:extLst>
              <a:ext uri="{FF2B5EF4-FFF2-40B4-BE49-F238E27FC236}">
                <a16:creationId xmlns:a16="http://schemas.microsoft.com/office/drawing/2014/main" id="{05521D97-91EA-4CD0-89D2-64D3BBCB6AC8}"/>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model</a:t>
            </a:r>
            <a:endParaRPr sz="1500"/>
          </a:p>
        </p:txBody>
      </p:sp>
      <p:graphicFrame>
        <p:nvGraphicFramePr>
          <p:cNvPr id="26"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a:extLst>
              <a:ext uri="{FF2B5EF4-FFF2-40B4-BE49-F238E27FC236}">
                <a16:creationId xmlns:a16="http://schemas.microsoft.com/office/drawing/2014/main" id="{C40D6263-2562-41DA-B5A8-0DBCA84A7EEC}"/>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1" name="Text 8">
            <a:extLst>
              <a:ext uri="{FF2B5EF4-FFF2-40B4-BE49-F238E27FC236}">
                <a16:creationId xmlns:a16="http://schemas.microsoft.com/office/drawing/2014/main" id="{2A50D4C8-DAD1-4FAE-AC65-6263A5BE40AF}"/>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AUGUST</a:t>
            </a:r>
            <a:endParaRPr sz="1200"/>
          </a:p>
        </p:txBody>
      </p:sp>
      <p:sp>
        <p:nvSpPr>
          <p:cNvPr id="12" name="Text 9">
            <a:extLst>
              <a:ext uri="{FF2B5EF4-FFF2-40B4-BE49-F238E27FC236}">
                <a16:creationId xmlns:a16="http://schemas.microsoft.com/office/drawing/2014/main" id="{7F8F5153-BB0F-4736-B240-90F1D684E0C2}"/>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$44,739</a:t>
            </a:r>
            <a:endParaRPr sz="2800"/>
          </a:p>
        </p:txBody>
      </p:sp>
      <p:sp>
        <p:nvSpPr>
          <p:cNvPr id="13" name="Text 10">
            <a:extLst>
              <a:ext uri="{FF2B5EF4-FFF2-40B4-BE49-F238E27FC236}">
                <a16:creationId xmlns:a16="http://schemas.microsoft.com/office/drawing/2014/main" id="{512F8EA5-1D01-4CC0-923D-BA20B742A72D}"/>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FF9F43"/>
                </a:solidFill>
                <a:latin typeface="Calibri"/>
                <a:ea typeface="Calibri"/>
                <a:cs typeface="Calibri"/>
              </a:rPr>
              <a:t>+77% on July</a:t>
            </a:r>
            <a:endParaRPr sz="1200"/>
          </a:p>
        </p:txBody>
      </p:sp>
      <p:sp>
        <p:nvSpPr>
          <p:cNvPr id="14" name="Shape 11">
            <a:extLst>
              <a:ext uri="{FF2B5EF4-FFF2-40B4-BE49-F238E27FC236}">
                <a16:creationId xmlns:a16="http://schemas.microsoft.com/office/drawing/2014/main" id="{3AC87844-1DBD-4C64-BE35-584DEE1E330A}"/>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5" name="Text 12">
            <a:extLst>
              <a:ext uri="{FF2B5EF4-FFF2-40B4-BE49-F238E27FC236}">
                <a16:creationId xmlns:a16="http://schemas.microsoft.com/office/drawing/2014/main" id="{5DDDD607-79DD-4B47-8969-FEBECB158108}"/>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OPUS SHARE</a:t>
            </a:r>
            <a:endParaRPr sz="1200"/>
          </a:p>
        </p:txBody>
      </p:sp>
      <p:sp>
        <p:nvSpPr>
          <p:cNvPr id="16" name="Text 13">
            <a:extLst>
              <a:ext uri="{FF2B5EF4-FFF2-40B4-BE49-F238E27FC236}">
                <a16:creationId xmlns:a16="http://schemas.microsoft.com/office/drawing/2014/main" id="{15C9FB1A-ADAD-4619-9742-CDC291F8C804}"/>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787" b="1">
                <a:solidFill>
                  <a:srgbClr val="F4F7FB"/>
                </a:solidFill>
                <a:latin typeface="Calibri"/>
                <a:ea typeface="Calibri"/>
                <a:cs typeface="Calibri"/>
              </a:rPr>
              <a:t>76.4%</a:t>
            </a:r>
            <a:endParaRPr sz="2787"/>
          </a:p>
        </p:txBody>
      </p:sp>
      <p:sp>
        <p:nvSpPr>
          <p:cNvPr id="17" name="Text 14">
            <a:extLst>
              <a:ext uri="{FF2B5EF4-FFF2-40B4-BE49-F238E27FC236}">
                <a16:creationId xmlns:a16="http://schemas.microsoft.com/office/drawing/2014/main" id="{F99D3F1B-3CDC-4760-9B43-7540F882709D}"/>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was 96.3% in July</a:t>
            </a:r>
            <a:endParaRPr sz="1200"/>
          </a:p>
        </p:txBody>
      </p:sp>
    </p:spTree>
    <p:extLst>
      <p:ext uri="{BB962C8B-B14F-4D97-AF65-F5344CB8AC3E}">
        <p14:creationId xmlns:p14="http://schemas.microsoft.com/office/powerpoint/2010/main" val="2860792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873AEE2-CEBB-4DD5-B3E8-11F237E87E5B}"/>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A9FCB0C8-48ED-468F-90B8-2FFAE3058EA7}"/>
              </a:ext>
            </a:extLst>
          </p:cNvPr>
          <p:cNvSpPr>
            <a:spLocks noGrp="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a:p>
        </p:txBody>
      </p:sp>
      <p:sp>
        <p:nvSpPr>
          <p:cNvPr id="4" name="Text 2">
            <a:extLst>
              <a:ext uri="{FF2B5EF4-FFF2-40B4-BE49-F238E27FC236}">
                <a16:creationId xmlns:a16="http://schemas.microsoft.com/office/drawing/2014/main" id="{19F15442-BF60-4FA4-BE11-22EFC8F80A07}"/>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9F43"/>
                </a:solidFill>
                <a:latin typeface="Calibri"/>
                <a:ea typeface="Calibri"/>
                <a:cs typeface="Calibri"/>
              </a:rPr>
              <a:t>MARKETPLACE</a:t>
            </a:r>
            <a:endParaRPr sz="1300"/>
          </a:p>
        </p:txBody>
      </p:sp>
      <p:sp>
        <p:nvSpPr>
          <p:cNvPr id="5" name="Text 3">
            <a:extLst>
              <a:ext uri="{FF2B5EF4-FFF2-40B4-BE49-F238E27FC236}">
                <a16:creationId xmlns:a16="http://schemas.microsoft.com/office/drawing/2014/main" id="{2A2BB505-0F2E-424D-95CE-51130D34C69D}"/>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000" b="1">
                <a:solidFill>
                  <a:srgbClr val="F4F7FB"/>
                </a:solidFill>
                <a:latin typeface="Calibri"/>
                <a:ea typeface="Calibri"/>
                <a:cs typeface="Calibri"/>
              </a:rPr>
              <a:t>Marketplace is no longer “not consumption”</a:t>
            </a:r>
            <a:endParaRPr sz="2000"/>
          </a:p>
        </p:txBody>
      </p:sp>
      <p:sp>
        <p:nvSpPr>
          <p:cNvPr id="6" name="Text 4">
            <a:extLst>
              <a:ext uri="{FF2B5EF4-FFF2-40B4-BE49-F238E27FC236}">
                <a16:creationId xmlns:a16="http://schemas.microsoft.com/office/drawing/2014/main" id="{454A2E4B-AE0B-49B1-8F13-CAC9DCAC8960}"/>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August contained no one-off purchase at all. Every dollar of it is recurring.</a:t>
            </a:r>
            <a:endParaRPr sz="1200"/>
          </a:p>
        </p:txBody>
      </p:sp>
      <p:sp>
        <p:nvSpPr>
          <p:cNvPr id="7" name="Text 5">
            <a:extLst>
              <a:ext uri="{FF2B5EF4-FFF2-40B4-BE49-F238E27FC236}">
                <a16:creationId xmlns:a16="http://schemas.microsoft.com/office/drawing/2014/main" id="{DC2912D4-00C1-4273-88BC-4E087B137210}"/>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The line was built to hold lumpy security purchases, and the deck has always said it is not consumption. In August three quarters of it is Claude running through Bedrock, which is consumption in every sense except the line it bills on. Reported as one number it hides the fastest-growing item in the estate.</a:t>
            </a:r>
            <a:endParaRPr sz="1200"/>
          </a:p>
        </p:txBody>
      </p:sp>
      <p:sp>
        <p:nvSpPr>
          <p:cNvPr id="8" name="Text 6">
            <a:extLst>
              <a:ext uri="{FF2B5EF4-FFF2-40B4-BE49-F238E27FC236}">
                <a16:creationId xmlns:a16="http://schemas.microsoft.com/office/drawing/2014/main" id="{33C8C11C-17B2-4A0C-BD17-19412621581A}"/>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AWS Marketplace by product, August</a:t>
            </a:r>
            <a:endParaRPr sz="1500"/>
          </a:p>
        </p:txBody>
      </p:sp>
      <p:graphicFrame>
        <p:nvGraphicFramePr>
          <p:cNvPr id="30"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a:extLst>
              <a:ext uri="{FF2B5EF4-FFF2-40B4-BE49-F238E27FC236}">
                <a16:creationId xmlns:a16="http://schemas.microsoft.com/office/drawing/2014/main" id="{F8931059-EB48-436F-8804-25F78AF3B674}"/>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1" name="Text 8">
            <a:extLst>
              <a:ext uri="{FF2B5EF4-FFF2-40B4-BE49-F238E27FC236}">
                <a16:creationId xmlns:a16="http://schemas.microsoft.com/office/drawing/2014/main" id="{9B3D45AC-9F13-41E2-95AD-B9E233538D98}"/>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AWS MARKETPLACE, AUGUST</a:t>
            </a:r>
            <a:endParaRPr sz="1200"/>
          </a:p>
        </p:txBody>
      </p:sp>
      <p:sp>
        <p:nvSpPr>
          <p:cNvPr id="12" name="Text 9">
            <a:extLst>
              <a:ext uri="{FF2B5EF4-FFF2-40B4-BE49-F238E27FC236}">
                <a16:creationId xmlns:a16="http://schemas.microsoft.com/office/drawing/2014/main" id="{BEC8CE05-C063-49CC-9569-F4465ED3192F}"/>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$59,477</a:t>
            </a:r>
            <a:endParaRPr sz="2800"/>
          </a:p>
        </p:txBody>
      </p:sp>
      <p:sp>
        <p:nvSpPr>
          <p:cNvPr id="13" name="Text 10">
            <a:extLst>
              <a:ext uri="{FF2B5EF4-FFF2-40B4-BE49-F238E27FC236}">
                <a16:creationId xmlns:a16="http://schemas.microsoft.com/office/drawing/2014/main" id="{99F04CDF-3765-4510-887D-92D4F257B792}"/>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FF9F43"/>
                </a:solidFill>
                <a:latin typeface="Calibri"/>
                <a:ea typeface="Calibri"/>
                <a:cs typeface="Calibri"/>
              </a:rPr>
              <a:t>no one-off purchases</a:t>
            </a:r>
            <a:endParaRPr sz="1200"/>
          </a:p>
        </p:txBody>
      </p:sp>
      <p:sp>
        <p:nvSpPr>
          <p:cNvPr id="14" name="Shape 11">
            <a:extLst>
              <a:ext uri="{FF2B5EF4-FFF2-40B4-BE49-F238E27FC236}">
                <a16:creationId xmlns:a16="http://schemas.microsoft.com/office/drawing/2014/main" id="{7CF63B13-3DDC-407E-95CB-14862424A8DF}"/>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5" name="Text 12">
            <a:extLst>
              <a:ext uri="{FF2B5EF4-FFF2-40B4-BE49-F238E27FC236}">
                <a16:creationId xmlns:a16="http://schemas.microsoft.com/office/drawing/2014/main" id="{AB9E18A9-A485-46B4-BB36-CBFFC8ECB56C}"/>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OF THAT, AI</a:t>
            </a:r>
            <a:endParaRPr sz="1200"/>
          </a:p>
        </p:txBody>
      </p:sp>
      <p:sp>
        <p:nvSpPr>
          <p:cNvPr id="16" name="Text 13">
            <a:extLst>
              <a:ext uri="{FF2B5EF4-FFF2-40B4-BE49-F238E27FC236}">
                <a16:creationId xmlns:a16="http://schemas.microsoft.com/office/drawing/2014/main" id="{E6A61585-F751-46E4-9A60-4588737BDB2D}"/>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75.2%</a:t>
            </a:r>
            <a:endParaRPr sz="2800"/>
          </a:p>
        </p:txBody>
      </p:sp>
      <p:sp>
        <p:nvSpPr>
          <p:cNvPr id="17" name="Text 14">
            <a:extLst>
              <a:ext uri="{FF2B5EF4-FFF2-40B4-BE49-F238E27FC236}">
                <a16:creationId xmlns:a16="http://schemas.microsoft.com/office/drawing/2014/main" id="{78D9C93A-34C7-4848-BA53-71D165F492B4}"/>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was 5.5% in July</a:t>
            </a:r>
            <a:endParaRPr sz="1200"/>
          </a:p>
        </p:txBody>
      </p:sp>
      <p:sp>
        <p:nvSpPr>
          <p:cNvPr id="18" name="Shape 15">
            <a:extLst>
              <a:ext uri="{FF2B5EF4-FFF2-40B4-BE49-F238E27FC236}">
                <a16:creationId xmlns:a16="http://schemas.microsoft.com/office/drawing/2014/main" id="{DBC26F41-2632-43EB-9098-5935F817570D}"/>
              </a:ext>
            </a:extLst>
          </p:cNvPr>
          <p:cNvSpPr>
            <a:spLocks noGrp="1"/>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9" name="Text 16">
            <a:extLst>
              <a:ext uri="{FF2B5EF4-FFF2-40B4-BE49-F238E27FC236}">
                <a16:creationId xmlns:a16="http://schemas.microsoft.com/office/drawing/2014/main" id="{17033E4E-33FB-4CC5-A720-D188C01704D5}"/>
              </a:ext>
            </a:extLst>
          </p:cNvPr>
          <p:cNvSpPr>
            <a:spLocks noGrp="1"/>
          </p:cNvSpPr>
          <p:nvPr/>
        </p:nvSpPr>
        <p:spPr>
          <a:xfrm>
            <a:off x="8293608" y="3776472"/>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RECURRING TOOLING</a:t>
            </a:r>
            <a:endParaRPr sz="1200"/>
          </a:p>
        </p:txBody>
      </p:sp>
      <p:sp>
        <p:nvSpPr>
          <p:cNvPr id="20" name="Text 17">
            <a:extLst>
              <a:ext uri="{FF2B5EF4-FFF2-40B4-BE49-F238E27FC236}">
                <a16:creationId xmlns:a16="http://schemas.microsoft.com/office/drawing/2014/main" id="{16F95E57-CA35-4C69-845D-A30EE1287471}"/>
              </a:ext>
            </a:extLst>
          </p:cNvPr>
          <p:cNvSpPr>
            <a:spLocks noGrp="1"/>
          </p:cNvSpPr>
          <p:nvPr/>
        </p:nvSpPr>
        <p:spPr>
          <a:xfrm>
            <a:off x="8293608" y="3977640"/>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$14,738</a:t>
            </a:r>
            <a:endParaRPr sz="2800"/>
          </a:p>
        </p:txBody>
      </p:sp>
      <p:sp>
        <p:nvSpPr>
          <p:cNvPr id="21" name="Text 18">
            <a:extLst>
              <a:ext uri="{FF2B5EF4-FFF2-40B4-BE49-F238E27FC236}">
                <a16:creationId xmlns:a16="http://schemas.microsoft.com/office/drawing/2014/main" id="{3A0066F1-3301-4876-95EB-C4DF6A93A016}"/>
              </a:ext>
            </a:extLst>
          </p:cNvPr>
          <p:cNvSpPr>
            <a:spLocks noGrp="1"/>
          </p:cNvSpPr>
          <p:nvPr/>
        </p:nvSpPr>
        <p:spPr>
          <a:xfrm>
            <a:off x="8293608" y="4379976"/>
            <a:ext cx="3239719" cy="329184"/>
          </a:xfrm>
          <a:prstGeom prst="rect">
            <a:avLst/>
          </a:prstGeom>
          <a:noFill/>
        </p:spPr>
        <p:txBody>
          <a:bodyPr wrap="square" lIns="0" tIns="0" rIns="0" bIns="0" anchor="t"/>
          <a:lstStyle/>
          <a:p>
            <a:pPr marL="0" indent="0">
              <a:lnSpc>
                <a:spcPct val="105000"/>
              </a:lnSpc>
              <a:buNone/>
            </a:pPr>
            <a:r>
              <a:rPr sz="1200" b="1">
                <a:solidFill>
                  <a:srgbClr val="3DDC97"/>
                </a:solidFill>
                <a:latin typeface="Calibri"/>
                <a:ea typeface="Calibri"/>
                <a:cs typeface="Calibri"/>
              </a:rPr>
              <a:t>MongoDB Atlas, F5, Neo4j</a:t>
            </a:r>
            <a:endParaRPr sz="1200"/>
          </a:p>
        </p:txBody>
      </p:sp>
    </p:spTree>
    <p:extLst>
      <p:ext uri="{BB962C8B-B14F-4D97-AF65-F5344CB8AC3E}">
        <p14:creationId xmlns:p14="http://schemas.microsoft.com/office/powerpoint/2010/main" val="40095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7D64CFF-817C-4C6E-8489-974691064379}"/>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2CC12D2C-846C-485E-99FD-F6532C4C2624}"/>
              </a:ext>
            </a:extLst>
          </p:cNvPr>
          <p:cNvSpPr>
            <a:spLocks noGrp="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a:p>
        </p:txBody>
      </p:sp>
      <p:sp>
        <p:nvSpPr>
          <p:cNvPr id="4" name="Text 2">
            <a:extLst>
              <a:ext uri="{FF2B5EF4-FFF2-40B4-BE49-F238E27FC236}">
                <a16:creationId xmlns:a16="http://schemas.microsoft.com/office/drawing/2014/main" id="{F6FD4416-5F0F-466D-9B22-B58EEEC82004}"/>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2F8CFF"/>
                </a:solidFill>
                <a:latin typeface="Calibri"/>
                <a:ea typeface="Calibri"/>
                <a:cs typeface="Calibri"/>
              </a:rPr>
              <a:t>AZURE / COST CENTRES</a:t>
            </a:r>
            <a:endParaRPr sz="1300"/>
          </a:p>
        </p:txBody>
      </p:sp>
      <p:sp>
        <p:nvSpPr>
          <p:cNvPr id="5" name="Text 3">
            <a:extLst>
              <a:ext uri="{FF2B5EF4-FFF2-40B4-BE49-F238E27FC236}">
                <a16:creationId xmlns:a16="http://schemas.microsoft.com/office/drawing/2014/main" id="{7650E12D-C356-4C25-BEF8-CE5676204957}"/>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Where August landed, by cost centre</a:t>
            </a:r>
            <a:endParaRPr sz="2800"/>
          </a:p>
        </p:txBody>
      </p:sp>
      <p:sp>
        <p:nvSpPr>
          <p:cNvPr id="6" name="Text 4">
            <a:extLst>
              <a:ext uri="{FF2B5EF4-FFF2-40B4-BE49-F238E27FC236}">
                <a16:creationId xmlns:a16="http://schemas.microsoft.com/office/drawing/2014/main" id="{669428F8-18ED-4D2E-83BF-011B32DC742E}"/>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From the CostCenter tag. Charges exclude Marketplace purchases.</a:t>
            </a:r>
            <a:endParaRPr sz="1200"/>
          </a:p>
        </p:txBody>
      </p:sp>
      <p:sp>
        <p:nvSpPr>
          <p:cNvPr id="7" name="Text 5">
            <a:extLst>
              <a:ext uri="{FF2B5EF4-FFF2-40B4-BE49-F238E27FC236}">
                <a16:creationId xmlns:a16="http://schemas.microsoft.com/office/drawing/2014/main" id="{20ED73AD-1249-4C1C-8D7C-7C544D82EC99}"/>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cost centre</a:t>
            </a:r>
            <a:endParaRPr sz="1500"/>
          </a:p>
        </p:txBody>
      </p:sp>
      <p:graphicFrame>
        <p:nvGraphicFramePr>
          <p:cNvPr id="31"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a:extLst>
              <a:ext uri="{FF2B5EF4-FFF2-40B4-BE49-F238E27FC236}">
                <a16:creationId xmlns:a16="http://schemas.microsoft.com/office/drawing/2014/main" id="{86FE6320-573E-4CE7-A890-FF45EFF88CC2}"/>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0" name="Text 7">
            <a:extLst>
              <a:ext uri="{FF2B5EF4-FFF2-40B4-BE49-F238E27FC236}">
                <a16:creationId xmlns:a16="http://schemas.microsoft.com/office/drawing/2014/main" id="{800EC43E-B147-4D86-B1E3-C4904B8E61B1}"/>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AUGUST</a:t>
            </a:r>
            <a:endParaRPr sz="1200"/>
          </a:p>
        </p:txBody>
      </p:sp>
      <p:sp>
        <p:nvSpPr>
          <p:cNvPr id="11" name="Text 8">
            <a:extLst>
              <a:ext uri="{FF2B5EF4-FFF2-40B4-BE49-F238E27FC236}">
                <a16:creationId xmlns:a16="http://schemas.microsoft.com/office/drawing/2014/main" id="{8B017769-81FC-42E0-8F62-242ECD0804D9}"/>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$180,241</a:t>
            </a:r>
            <a:endParaRPr sz="2800"/>
          </a:p>
        </p:txBody>
      </p:sp>
      <p:sp>
        <p:nvSpPr>
          <p:cNvPr id="12" name="Text 9">
            <a:extLst>
              <a:ext uri="{FF2B5EF4-FFF2-40B4-BE49-F238E27FC236}">
                <a16:creationId xmlns:a16="http://schemas.microsoft.com/office/drawing/2014/main" id="{01054849-5415-4319-B964-A0360EFDB6BB}"/>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−3.6% on July</a:t>
            </a:r>
            <a:endParaRPr sz="1200"/>
          </a:p>
        </p:txBody>
      </p:sp>
      <p:sp>
        <p:nvSpPr>
          <p:cNvPr id="13" name="Shape 10">
            <a:extLst>
              <a:ext uri="{FF2B5EF4-FFF2-40B4-BE49-F238E27FC236}">
                <a16:creationId xmlns:a16="http://schemas.microsoft.com/office/drawing/2014/main" id="{CF79D828-2D35-4FDE-9B78-74371B64D2F9}"/>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4" name="Text 11">
            <a:extLst>
              <a:ext uri="{FF2B5EF4-FFF2-40B4-BE49-F238E27FC236}">
                <a16:creationId xmlns:a16="http://schemas.microsoft.com/office/drawing/2014/main" id="{6BA1C3DA-F6A8-4D91-95F1-8C36E1B2A6CE}"/>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CENTRE</a:t>
            </a:r>
            <a:endParaRPr sz="1200"/>
          </a:p>
        </p:txBody>
      </p:sp>
      <p:sp>
        <p:nvSpPr>
          <p:cNvPr id="15" name="Text 12">
            <a:extLst>
              <a:ext uri="{FF2B5EF4-FFF2-40B4-BE49-F238E27FC236}">
                <a16:creationId xmlns:a16="http://schemas.microsoft.com/office/drawing/2014/main" id="{5BCFCEF9-E35A-41EB-9E47-307D64C4B5A0}"/>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datacloud</a:t>
            </a:r>
            <a:endParaRPr sz="2800"/>
          </a:p>
        </p:txBody>
      </p:sp>
      <p:sp>
        <p:nvSpPr>
          <p:cNvPr id="16" name="Text 13">
            <a:extLst>
              <a:ext uri="{FF2B5EF4-FFF2-40B4-BE49-F238E27FC236}">
                <a16:creationId xmlns:a16="http://schemas.microsoft.com/office/drawing/2014/main" id="{1FB2C6F7-8C1E-4931-ADF4-E5372127EFC2}"/>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$50,888 · 28% of the total</a:t>
            </a:r>
            <a:endParaRPr sz="1200"/>
          </a:p>
        </p:txBody>
      </p:sp>
      <p:sp>
        <p:nvSpPr>
          <p:cNvPr id="17" name="Text 14">
            <a:extLst>
              <a:ext uri="{FF2B5EF4-FFF2-40B4-BE49-F238E27FC236}">
                <a16:creationId xmlns:a16="http://schemas.microsoft.com/office/drawing/2014/main" id="{BE7E836D-F529-4225-BC2B-C6179CA40419}"/>
              </a:ext>
            </a:extLst>
          </p:cNvPr>
          <p:cNvSpPr>
            <a:spLocks noGrp="1"/>
          </p:cNvSpPr>
          <p:nvPr/>
        </p:nvSpPr>
        <p:spPr>
          <a:xfrm>
            <a:off x="8110728" y="3822192"/>
            <a:ext cx="3605479" cy="219456"/>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WHAT MOVED</a:t>
            </a:r>
            <a:endParaRPr sz="1200"/>
          </a:p>
        </p:txBody>
      </p:sp>
      <p:sp>
        <p:nvSpPr>
          <p:cNvPr id="18" name="Shape 15">
            <a:extLst>
              <a:ext uri="{FF2B5EF4-FFF2-40B4-BE49-F238E27FC236}">
                <a16:creationId xmlns:a16="http://schemas.microsoft.com/office/drawing/2014/main" id="{154B6B03-8FE1-40F5-BA09-DE0549830F1D}"/>
              </a:ext>
            </a:extLst>
          </p:cNvPr>
          <p:cNvSpPr>
            <a:spLocks noGrp="1"/>
          </p:cNvSpPr>
          <p:nvPr/>
        </p:nvSpPr>
        <p:spPr>
          <a:xfrm>
            <a:off x="8110728" y="4197096"/>
            <a:ext cx="64008" cy="64008"/>
          </a:xfrm>
          <a:prstGeom prst="rect">
            <a:avLst/>
          </a:prstGeom>
          <a:solidFill>
            <a:srgbClr val="2F8CFF"/>
          </a:solidFill>
          <a:ln w="12700">
            <a:solidFill>
              <a:srgbClr val="2F8CFF"/>
            </a:solidFill>
            <a:prstDash val="solid"/>
          </a:ln>
        </p:spPr>
        <p:txBody>
          <a:bodyPr/>
          <a:lstStyle/>
          <a:p>
            <a:endParaRPr/>
          </a:p>
        </p:txBody>
      </p:sp>
      <p:sp>
        <p:nvSpPr>
          <p:cNvPr id="19" name="Text 16">
            <a:extLst>
              <a:ext uri="{FF2B5EF4-FFF2-40B4-BE49-F238E27FC236}">
                <a16:creationId xmlns:a16="http://schemas.microsoft.com/office/drawing/2014/main" id="{307BD53F-BA3B-4604-BA93-217E6C67A217}"/>
              </a:ext>
            </a:extLst>
          </p:cNvPr>
          <p:cNvSpPr>
            <a:spLocks noGrp="1"/>
          </p:cNvSpPr>
          <p:nvPr/>
        </p:nvSpPr>
        <p:spPr>
          <a:xfrm>
            <a:off x="8284464" y="4114800"/>
            <a:ext cx="3431743" cy="18288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other fell $8.4K; cloudops rose $1.7K</a:t>
            </a:r>
            <a:endParaRPr sz="1250"/>
          </a:p>
        </p:txBody>
      </p:sp>
      <p:sp>
        <p:nvSpPr>
          <p:cNvPr id="20" name="Shape 17">
            <a:extLst>
              <a:ext uri="{FF2B5EF4-FFF2-40B4-BE49-F238E27FC236}">
                <a16:creationId xmlns:a16="http://schemas.microsoft.com/office/drawing/2014/main" id="{8195899E-7E43-443A-A77C-4EDF5EA64840}"/>
              </a:ext>
            </a:extLst>
          </p:cNvPr>
          <p:cNvSpPr>
            <a:spLocks noGrp="1"/>
          </p:cNvSpPr>
          <p:nvPr/>
        </p:nvSpPr>
        <p:spPr>
          <a:xfrm>
            <a:off x="8110728" y="4544568"/>
            <a:ext cx="64008" cy="64008"/>
          </a:xfrm>
          <a:prstGeom prst="rect">
            <a:avLst/>
          </a:prstGeom>
          <a:solidFill>
            <a:srgbClr val="2F8CFF"/>
          </a:solidFill>
          <a:ln w="12700">
            <a:solidFill>
              <a:srgbClr val="2F8CFF"/>
            </a:solidFill>
            <a:prstDash val="solid"/>
          </a:ln>
        </p:spPr>
        <p:txBody>
          <a:bodyPr/>
          <a:lstStyle/>
          <a:p>
            <a:endParaRPr/>
          </a:p>
        </p:txBody>
      </p:sp>
      <p:sp>
        <p:nvSpPr>
          <p:cNvPr id="21" name="Text 18">
            <a:extLst>
              <a:ext uri="{FF2B5EF4-FFF2-40B4-BE49-F238E27FC236}">
                <a16:creationId xmlns:a16="http://schemas.microsoft.com/office/drawing/2014/main" id="{CFA79755-38CC-45F2-A1B6-6833B982893C}"/>
              </a:ext>
            </a:extLst>
          </p:cNvPr>
          <p:cNvSpPr>
            <a:spLocks noGrp="1"/>
          </p:cNvSpPr>
          <p:nvPr/>
        </p:nvSpPr>
        <p:spPr>
          <a:xfrm>
            <a:off x="8284464" y="4462272"/>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aifactory came down for the first time, −$1.4K</a:t>
            </a:r>
            <a:endParaRPr sz="1250"/>
          </a:p>
        </p:txBody>
      </p:sp>
      <p:sp>
        <p:nvSpPr>
          <p:cNvPr id="22" name="Shape 19">
            <a:extLst>
              <a:ext uri="{FF2B5EF4-FFF2-40B4-BE49-F238E27FC236}">
                <a16:creationId xmlns:a16="http://schemas.microsoft.com/office/drawing/2014/main" id="{0894529E-F0B0-4A02-BF07-D8C4A1BEAA28}"/>
              </a:ext>
            </a:extLst>
          </p:cNvPr>
          <p:cNvSpPr>
            <a:spLocks noGrp="1"/>
          </p:cNvSpPr>
          <p:nvPr/>
        </p:nvSpPr>
        <p:spPr>
          <a:xfrm>
            <a:off x="8110728" y="5111496"/>
            <a:ext cx="64008" cy="64008"/>
          </a:xfrm>
          <a:prstGeom prst="rect">
            <a:avLst/>
          </a:prstGeom>
          <a:solidFill>
            <a:srgbClr val="2F8CFF"/>
          </a:solidFill>
          <a:ln w="12700">
            <a:solidFill>
              <a:srgbClr val="2F8CFF"/>
            </a:solidFill>
            <a:prstDash val="solid"/>
          </a:ln>
        </p:spPr>
        <p:txBody>
          <a:bodyPr/>
          <a:lstStyle/>
          <a:p>
            <a:endParaRPr/>
          </a:p>
        </p:txBody>
      </p:sp>
      <p:sp>
        <p:nvSpPr>
          <p:cNvPr id="23" name="Text 20">
            <a:extLst>
              <a:ext uri="{FF2B5EF4-FFF2-40B4-BE49-F238E27FC236}">
                <a16:creationId xmlns:a16="http://schemas.microsoft.com/office/drawing/2014/main" id="{FB8DC710-6725-475B-B615-4FC7DF9F700B}"/>
              </a:ext>
            </a:extLst>
          </p:cNvPr>
          <p:cNvSpPr>
            <a:spLocks noGrp="1"/>
          </p:cNvSpPr>
          <p:nvPr/>
        </p:nvSpPr>
        <p:spPr>
          <a:xfrm>
            <a:off x="8284464" y="5029200"/>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datacloud and sap essentially flat</a:t>
            </a:r>
            <a:endParaRPr sz="1250"/>
          </a:p>
        </p:txBody>
      </p:sp>
    </p:spTree>
    <p:extLst>
      <p:ext uri="{BB962C8B-B14F-4D97-AF65-F5344CB8AC3E}">
        <p14:creationId xmlns:p14="http://schemas.microsoft.com/office/powerpoint/2010/main" val="494970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4483662-BF7D-4D76-804A-568CAEA96766}"/>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6237CA1F-F1E5-4672-B607-DEA851EC2079}"/>
              </a:ext>
            </a:extLst>
          </p:cNvPr>
          <p:cNvSpPr>
            <a:spLocks noGrp="1"/>
          </p:cNvSpPr>
          <p:nvPr/>
        </p:nvSpPr>
        <p:spPr>
          <a:xfrm>
            <a:off x="457200" y="306324"/>
            <a:ext cx="109728" cy="109728"/>
          </a:xfrm>
          <a:prstGeom prst="ellipse">
            <a:avLst/>
          </a:prstGeom>
          <a:solidFill>
            <a:srgbClr val="3DD9EB"/>
          </a:solidFill>
          <a:ln w="12700">
            <a:solidFill>
              <a:srgbClr val="3DD9EB"/>
            </a:solidFill>
            <a:prstDash val="solid"/>
          </a:ln>
        </p:spPr>
        <p:txBody>
          <a:bodyPr/>
          <a:lstStyle/>
          <a:p>
            <a:endParaRPr/>
          </a:p>
        </p:txBody>
      </p:sp>
      <p:sp>
        <p:nvSpPr>
          <p:cNvPr id="4" name="Text 2">
            <a:extLst>
              <a:ext uri="{FF2B5EF4-FFF2-40B4-BE49-F238E27FC236}">
                <a16:creationId xmlns:a16="http://schemas.microsoft.com/office/drawing/2014/main" id="{F3EB8689-7834-4778-8D9C-C04C9FCA975F}"/>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3DD9EB"/>
                </a:solidFill>
                <a:latin typeface="Calibri"/>
                <a:ea typeface="Calibri"/>
                <a:cs typeface="Calibri"/>
              </a:rPr>
              <a:t>NEXT STEPS</a:t>
            </a:r>
            <a:endParaRPr sz="1300"/>
          </a:p>
        </p:txBody>
      </p:sp>
      <p:sp>
        <p:nvSpPr>
          <p:cNvPr id="5" name="Text 3">
            <a:extLst>
              <a:ext uri="{FF2B5EF4-FFF2-40B4-BE49-F238E27FC236}">
                <a16:creationId xmlns:a16="http://schemas.microsoft.com/office/drawing/2014/main" id="{59DD5423-CE80-48D8-8A9E-B1A343159BAF}"/>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endParaRPr sz="2800"/>
          </a:p>
        </p:txBody>
      </p:sp>
      <p:sp>
        <p:nvSpPr>
          <p:cNvPr id="6" name="Text 4">
            <a:extLst>
              <a:ext uri="{FF2B5EF4-FFF2-40B4-BE49-F238E27FC236}">
                <a16:creationId xmlns:a16="http://schemas.microsoft.com/office/drawing/2014/main" id="{CA79114A-AA50-4869-853E-15E5560F33F3}"/>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endParaRPr sz="1200"/>
          </a:p>
        </p:txBody>
      </p:sp>
      <p:sp>
        <p:nvSpPr>
          <p:cNvPr id="7" name="Text 5">
            <a:extLst>
              <a:ext uri="{FF2B5EF4-FFF2-40B4-BE49-F238E27FC236}">
                <a16:creationId xmlns:a16="http://schemas.microsoft.com/office/drawing/2014/main" id="{1C2521B5-E844-4BD3-A3F2-711E02381E76}"/>
              </a:ext>
            </a:extLst>
          </p:cNvPr>
          <p:cNvSpPr>
            <a:spLocks noGrp="1"/>
          </p:cNvSpPr>
          <p:nvPr/>
        </p:nvSpPr>
        <p:spPr>
          <a:xfrm>
            <a:off x="457200" y="1234440"/>
            <a:ext cx="1097280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Open items</a:t>
            </a:r>
            <a:endParaRPr sz="1500"/>
          </a:p>
        </p:txBody>
      </p:sp>
      <p:graphicFrame>
        <p:nvGraphicFramePr>
          <p:cNvPr id="28" name="Table 0"/>
          <p:cNvGraphicFramePr/>
          <p:nvPr/>
        </p:nvGraphicFramePr>
        <p:xfrm>
          <a:off x="457200" y="818388"/>
          <a:ext cx="10972800" cy="3969706"/>
        </p:xfrm>
        <a:graphic>
          <a:graphicData uri="http://schemas.openxmlformats.org/drawingml/2006/table">
            <a:tbl>
              <a:tblPr/>
              <a:tblGrid>
                <a:gridCol w="4114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577282">
                <a:tc>
                  <a:txBody>
                    <a:bodyPr/>
                    <a:lstStyle/>
                    <a:p>
                      <a:pPr marL="0" indent="0" algn="ctr">
                        <a:buNone/>
                      </a:pPr>
                      <a:r>
                        <a:rPr sz="1200" b="1" spc="80">
                          <a:solidFill>
                            <a:srgbClr val="91A0B7"/>
                          </a:solidFill>
                          <a:latin typeface="Calibri"/>
                          <a:ea typeface="Calibri"/>
                          <a:cs typeface="Calibri"/>
                        </a:rPr>
                        <a: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b="1" spc="80">
                          <a:solidFill>
                            <a:srgbClr val="91A0B7"/>
                          </a:solidFill>
                          <a:latin typeface="Calibri"/>
                          <a:ea typeface="Calibri"/>
                          <a:cs typeface="Calibri"/>
                        </a:rPr>
                        <a:t>Item</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b="1" spc="80">
                          <a:solidFill>
                            <a:srgbClr val="91A0B7"/>
                          </a:solidFill>
                          <a:latin typeface="Calibri"/>
                          <a:ea typeface="Calibri"/>
                          <a:cs typeface="Calibri"/>
                        </a:rPr>
                        <a:t>Detail</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ctr">
                        <a:buNone/>
                      </a:pPr>
                      <a:r>
                        <a:rPr sz="1200" b="1" spc="80">
                          <a:solidFill>
                            <a:srgbClr val="91A0B7"/>
                          </a:solidFill>
                          <a:latin typeface="Calibri"/>
                          <a:ea typeface="Calibri"/>
                          <a:cs typeface="Calibri"/>
                        </a:rPr>
                        <a:t>Status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b="1" spc="80">
                          <a:solidFill>
                            <a:srgbClr val="91A0B7"/>
                          </a:solidFill>
                          <a:latin typeface="Calibri"/>
                          <a:ea typeface="Calibri"/>
                          <a:cs typeface="Calibri"/>
                        </a:rPr>
                        <a:t>Owner</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0"/>
                  </a:ext>
                </a:extLst>
              </a:tr>
              <a:tr h="727770">
                <a:tc>
                  <a:txBody>
                    <a:bodyPr/>
                    <a:lstStyle/>
                    <a:p>
                      <a:pPr marL="0" indent="0" algn="ctr">
                        <a:buNone/>
                      </a:pPr>
                      <a:r>
                        <a:rPr sz="1200" b="1">
                          <a:solidFill>
                            <a:srgbClr val="F4F7FB"/>
                          </a:solidFill>
                          <a:latin typeface="Calibri"/>
                          <a:ea typeface="Calibri"/>
                          <a:cs typeface="Calibri"/>
                        </a:rPr>
                        <a:t>1</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Model policy — make it bite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Sonnet reached 23% of model spend but Opus still grew $10K in the month. Set a per-team Opus budget rather than a default.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ctr">
                        <a:buNone/>
                      </a:pPr>
                      <a:r>
                        <a:rPr sz="1200">
                          <a:solidFill>
                            <a:srgbClr val="E0A030"/>
                          </a:solidFill>
                          <a:latin typeface="Calibri"/>
                          <a:ea typeface="Calibri"/>
                          <a:cs typeface="Calibri"/>
                        </a:rPr>
                        <a:t>Decision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AI Factory &amp; CloudOps</a:t>
                      </a:r>
                    </a:p>
                    <a:p>
                      <a:pPr marL="0" indent="0" algn="l">
                        <a:buNone/>
                      </a:pPr>
                      <a:r>
                        <a:rPr sz="1200">
                          <a:solidFill>
                            <a:srgbClr val="F4F7FB"/>
                          </a:solidFill>
                          <a:latin typeface="Calibri"/>
                          <a:ea typeface="Calibri"/>
                          <a:cs typeface="Calibri"/>
                        </a:rPr>
                        <a:t>CloudOps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1"/>
                  </a:ext>
                </a:extLst>
              </a:tr>
              <a:tr h="727770">
                <a:tc>
                  <a:txBody>
                    <a:bodyPr/>
                    <a:lstStyle/>
                    <a:p>
                      <a:pPr marL="0" indent="0" algn="ctr">
                        <a:buNone/>
                      </a:pPr>
                      <a:r>
                        <a:rPr sz="1200" b="1">
                          <a:solidFill>
                            <a:srgbClr val="F4F7FB"/>
                          </a:solidFill>
                          <a:latin typeface="Calibri"/>
                          <a:ea typeface="Calibri"/>
                          <a:cs typeface="Calibri"/>
                        </a:rPr>
                        <a:t>2</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Marketplace reporting</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marR="0" lvl="0" indent="0" algn="l" defTabSz="914400">
                        <a:lnSpc>
                          <a:spcPct val="100000"/>
                        </a:lnSpc>
                        <a:spcBef>
                          <a:spcPts val="0"/>
                        </a:spcBef>
                        <a:spcAft>
                          <a:spcPts val="0"/>
                        </a:spcAft>
                        <a:buClrTx/>
                        <a:buSzTx/>
                        <a:buFontTx/>
                        <a:buNone/>
                      </a:pPr>
                      <a:r>
                        <a:rPr sz="1200">
                          <a:solidFill>
                            <a:srgbClr val="F4F7FB"/>
                          </a:solidFill>
                          <a:latin typeface="Calibri"/>
                          <a:ea typeface="Calibri"/>
                          <a:cs typeface="Calibri"/>
                        </a:rPr>
                        <a:t>Split the line three ways: one-off purchases, recurring tooling, AI consumption. As one number it hides the fastest-growing item.</a:t>
                      </a:r>
                    </a:p>
                    <a:p>
                      <a:pPr marL="0" marR="0" lvl="0" indent="0" algn="l" defTabSz="914400">
                        <a:lnSpc>
                          <a:spcPct val="100000"/>
                        </a:lnSpc>
                        <a:spcBef>
                          <a:spcPts val="0"/>
                        </a:spcBef>
                        <a:spcAft>
                          <a:spcPts val="0"/>
                        </a:spcAft>
                        <a:buClrTx/>
                        <a:buSzTx/>
                        <a:buFontTx/>
                        <a:buNone/>
                      </a:pPr>
                      <a:r>
                        <a:rPr sz="1200">
                          <a:solidFill>
                            <a:srgbClr val="F4F7FB"/>
                          </a:solidFill>
                          <a:latin typeface="Calibri"/>
                          <a:ea typeface="Calibri"/>
                          <a:cs typeface="Calibri"/>
                        </a:rPr>
                        <a:t>Power BI For Billing Analytics</a:t>
                      </a:r>
                      <a:endParaRPr sz="1200">
                        <a:latin typeface="Calibri"/>
                        <a:ea typeface="Calibri"/>
                        <a:cs typeface="Calibri"/>
                      </a:endParaRPr>
                    </a:p>
                    <a:p>
                      <a:pPr marL="0" marR="0" lvl="0" indent="0" algn="l" defTabSz="914400">
                        <a:lnSpc>
                          <a:spcPct val="100000"/>
                        </a:lnSpc>
                        <a:spcBef>
                          <a:spcPts val="0"/>
                        </a:spcBef>
                        <a:spcAft>
                          <a:spcPts val="0"/>
                        </a:spcAft>
                        <a:buClrTx/>
                        <a:buSzTx/>
                        <a:buFontTx/>
                        <a:buNone/>
                      </a:pPr>
                      <a:r>
                        <a:rPr sz="1200">
                          <a:solidFill>
                            <a:srgbClr val="F4F7FB"/>
                          </a:solidFill>
                          <a:latin typeface="Calibri"/>
                          <a:ea typeface="Calibri"/>
                          <a:cs typeface="Calibri"/>
                        </a:rPr>
                        <a:t>Elastic For Azure Billing Module </a:t>
                      </a:r>
                    </a:p>
                    <a:p>
                      <a:pPr marL="0" indent="0" algn="l">
                        <a:buNone/>
                      </a:pP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ctr">
                        <a:buNone/>
                      </a:pPr>
                      <a:r>
                        <a:rPr sz="1200">
                          <a:solidFill>
                            <a:srgbClr val="3DD9EB"/>
                          </a:solidFill>
                          <a:latin typeface="Calibri"/>
                          <a:ea typeface="Calibri"/>
                          <a:cs typeface="Calibri"/>
                        </a:rPr>
                        <a:t>Decision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FinOps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2"/>
                  </a:ext>
                </a:extLst>
              </a:tr>
              <a:tr h="727770">
                <a:tc>
                  <a:txBody>
                    <a:bodyPr/>
                    <a:lstStyle/>
                    <a:p>
                      <a:pPr marL="0" indent="0" algn="ctr">
                        <a:buNone/>
                      </a:pPr>
                      <a:r>
                        <a:rPr sz="1200" b="1">
                          <a:solidFill>
                            <a:srgbClr val="F4F7FB"/>
                          </a:solidFill>
                          <a:latin typeface="Calibri"/>
                          <a:ea typeface="Calibri"/>
                          <a:cs typeface="Calibri"/>
                        </a:rPr>
                        <a:t>3</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Two-layer tagging</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Unchanged and still blocking. AWS Bedrock carries no project tag at all, and it is now half of AI spend.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ctr">
                        <a:buNone/>
                      </a:pPr>
                      <a:r>
                        <a:rPr sz="1200">
                          <a:solidFill>
                            <a:srgbClr val="3DD9EB"/>
                          </a:solidFill>
                          <a:latin typeface="Calibri"/>
                          <a:ea typeface="Calibri"/>
                          <a:cs typeface="Calibri"/>
                        </a:rPr>
                        <a:t>In progress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Ariel</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3"/>
                  </a:ext>
                </a:extLst>
              </a:tr>
              <a:tr h="577282">
                <a:tc>
                  <a:txBody>
                    <a:bodyPr/>
                    <a:lstStyle/>
                    <a:p>
                      <a:pPr marL="0" indent="0" algn="ctr">
                        <a:buNone/>
                      </a:pPr>
                      <a:r>
                        <a:rPr sz="1200" b="1">
                          <a:solidFill>
                            <a:srgbClr val="F4F7FB"/>
                          </a:solidFill>
                          <a:latin typeface="Calibri"/>
                          <a:ea typeface="Calibri"/>
                          <a:cs typeface="Calibri"/>
                        </a:rPr>
                        <a:t>4</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The $193K recommendation list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Still costed and waiting. Azure VMs fell $8,826 this month without it — the list is additional to that.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ctr">
                        <a:buNone/>
                      </a:pPr>
                      <a:r>
                        <a:rPr sz="1200">
                          <a:solidFill>
                            <a:srgbClr val="3DD9EB"/>
                          </a:solidFill>
                          <a:latin typeface="Calibri"/>
                          <a:ea typeface="Calibri"/>
                          <a:cs typeface="Calibri"/>
                        </a:rPr>
                        <a:t>Decision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Infrastructure &amp; CloudOps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4"/>
                  </a:ext>
                </a:extLst>
              </a:tr>
              <a:tr h="577282">
                <a:tc>
                  <a:txBody>
                    <a:bodyPr/>
                    <a:lstStyle/>
                    <a:p>
                      <a:pPr marL="0" indent="0" algn="ctr">
                        <a:buNone/>
                      </a:pPr>
                      <a:r>
                        <a:rPr sz="1200" b="1">
                          <a:solidFill>
                            <a:srgbClr val="F4F7FB"/>
                          </a:solidFill>
                          <a:latin typeface="Calibri"/>
                          <a:ea typeface="Calibri"/>
                          <a:cs typeface="Calibri"/>
                        </a:rPr>
                        <a:t>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Reconcile the two cost bases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The raw export exceeds the reported figure by $11,169 on Virtual Machines, likely reservation amortisation. Settle before either is quoted.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ctr">
                        <a:buNone/>
                      </a:pPr>
                      <a:r>
                        <a:rPr sz="1200">
                          <a:solidFill>
                            <a:srgbClr val="91A0B7"/>
                          </a:solidFill>
                          <a:latin typeface="Calibri"/>
                          <a:ea typeface="Calibri"/>
                          <a:cs typeface="Calibri"/>
                        </a:rPr>
                        <a:t>To scope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FinOps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5"/>
                  </a:ext>
                </a:extLst>
              </a:tr>
            </a:tbl>
          </a:graphicData>
        </a:graphic>
      </p:graphicFrame>
      <p:sp>
        <p:nvSpPr>
          <p:cNvPr id="9" name="Shape 6">
            <a:extLst>
              <a:ext uri="{FF2B5EF4-FFF2-40B4-BE49-F238E27FC236}">
                <a16:creationId xmlns:a16="http://schemas.microsoft.com/office/drawing/2014/main" id="{3595BD95-AD62-49CA-B2C6-D2A1B839F1EE}"/>
              </a:ext>
            </a:extLst>
          </p:cNvPr>
          <p:cNvSpPr>
            <a:spLocks noGrp="1"/>
          </p:cNvSpPr>
          <p:nvPr/>
        </p:nvSpPr>
        <p:spPr>
          <a:xfrm>
            <a:off x="457200" y="50749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0" name="Text 7">
            <a:extLst>
              <a:ext uri="{FF2B5EF4-FFF2-40B4-BE49-F238E27FC236}">
                <a16:creationId xmlns:a16="http://schemas.microsoft.com/office/drawing/2014/main" id="{92181C09-46D0-4E4E-9967-ACBE7180C211}"/>
              </a:ext>
            </a:extLst>
          </p:cNvPr>
          <p:cNvSpPr>
            <a:spLocks noGrp="1"/>
          </p:cNvSpPr>
          <p:nvPr/>
        </p:nvSpPr>
        <p:spPr>
          <a:xfrm>
            <a:off x="658368" y="51663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DECISION NEEDED</a:t>
            </a:r>
            <a:endParaRPr sz="1200"/>
          </a:p>
        </p:txBody>
      </p:sp>
      <p:sp>
        <p:nvSpPr>
          <p:cNvPr id="11" name="Text 8">
            <a:extLst>
              <a:ext uri="{FF2B5EF4-FFF2-40B4-BE49-F238E27FC236}">
                <a16:creationId xmlns:a16="http://schemas.microsoft.com/office/drawing/2014/main" id="{C6537BE5-F145-420B-B175-513AE8E9D1BC}"/>
              </a:ext>
            </a:extLst>
          </p:cNvPr>
          <p:cNvSpPr>
            <a:spLocks noGrp="1"/>
          </p:cNvSpPr>
          <p:nvPr/>
        </p:nvSpPr>
        <p:spPr>
          <a:xfrm>
            <a:off x="658368" y="53675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3 items</a:t>
            </a:r>
            <a:endParaRPr sz="2800"/>
          </a:p>
        </p:txBody>
      </p:sp>
      <p:sp>
        <p:nvSpPr>
          <p:cNvPr id="12" name="Text 9">
            <a:extLst>
              <a:ext uri="{FF2B5EF4-FFF2-40B4-BE49-F238E27FC236}">
                <a16:creationId xmlns:a16="http://schemas.microsoft.com/office/drawing/2014/main" id="{34A6FBD5-3DE8-4FD1-A684-F60E755544CF}"/>
              </a:ext>
            </a:extLst>
          </p:cNvPr>
          <p:cNvSpPr>
            <a:spLocks noGrp="1"/>
          </p:cNvSpPr>
          <p:nvPr/>
        </p:nvSpPr>
        <p:spPr>
          <a:xfrm>
            <a:off x="658368" y="5769864"/>
            <a:ext cx="3204362" cy="329184"/>
          </a:xfrm>
          <a:prstGeom prst="rect">
            <a:avLst/>
          </a:prstGeom>
          <a:noFill/>
        </p:spPr>
        <p:txBody>
          <a:bodyPr wrap="square" lIns="0" tIns="0" rIns="0" bIns="0" anchor="t"/>
          <a:lstStyle/>
          <a:p>
            <a:pPr marL="0" indent="0">
              <a:lnSpc>
                <a:spcPct val="105000"/>
              </a:lnSpc>
              <a:buNone/>
            </a:pPr>
            <a:r>
              <a:rPr sz="1200" b="1">
                <a:solidFill>
                  <a:srgbClr val="E0A030"/>
                </a:solidFill>
                <a:latin typeface="Calibri"/>
                <a:ea typeface="Calibri"/>
                <a:cs typeface="Calibri"/>
              </a:rPr>
              <a:t>model policy, Marketplace split, the $193K list</a:t>
            </a:r>
            <a:endParaRPr sz="1200"/>
          </a:p>
        </p:txBody>
      </p:sp>
      <p:sp>
        <p:nvSpPr>
          <p:cNvPr id="13" name="Shape 10">
            <a:extLst>
              <a:ext uri="{FF2B5EF4-FFF2-40B4-BE49-F238E27FC236}">
                <a16:creationId xmlns:a16="http://schemas.microsoft.com/office/drawing/2014/main" id="{832471CB-33DB-4E41-8D8E-8567FCB24001}"/>
              </a:ext>
            </a:extLst>
          </p:cNvPr>
          <p:cNvSpPr>
            <a:spLocks noGrp="1"/>
          </p:cNvSpPr>
          <p:nvPr/>
        </p:nvSpPr>
        <p:spPr>
          <a:xfrm>
            <a:off x="4292498" y="50749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4" name="Text 11">
            <a:extLst>
              <a:ext uri="{FF2B5EF4-FFF2-40B4-BE49-F238E27FC236}">
                <a16:creationId xmlns:a16="http://schemas.microsoft.com/office/drawing/2014/main" id="{C29024C6-1971-48EA-BD78-A64249A61284}"/>
              </a:ext>
            </a:extLst>
          </p:cNvPr>
          <p:cNvSpPr>
            <a:spLocks noGrp="1"/>
          </p:cNvSpPr>
          <p:nvPr/>
        </p:nvSpPr>
        <p:spPr>
          <a:xfrm>
            <a:off x="4493666" y="51663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NEW THIS MONTH</a:t>
            </a:r>
            <a:endParaRPr sz="1200"/>
          </a:p>
        </p:txBody>
      </p:sp>
      <p:sp>
        <p:nvSpPr>
          <p:cNvPr id="15" name="Text 12">
            <a:extLst>
              <a:ext uri="{FF2B5EF4-FFF2-40B4-BE49-F238E27FC236}">
                <a16:creationId xmlns:a16="http://schemas.microsoft.com/office/drawing/2014/main" id="{1AEF47F8-CAF9-4531-B72E-961E8E374994}"/>
              </a:ext>
            </a:extLst>
          </p:cNvPr>
          <p:cNvSpPr>
            <a:spLocks noGrp="1"/>
          </p:cNvSpPr>
          <p:nvPr/>
        </p:nvSpPr>
        <p:spPr>
          <a:xfrm>
            <a:off x="4493666" y="53675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Model policy</a:t>
            </a:r>
            <a:endParaRPr sz="2800"/>
          </a:p>
        </p:txBody>
      </p:sp>
      <p:sp>
        <p:nvSpPr>
          <p:cNvPr id="16" name="Text 13">
            <a:extLst>
              <a:ext uri="{FF2B5EF4-FFF2-40B4-BE49-F238E27FC236}">
                <a16:creationId xmlns:a16="http://schemas.microsoft.com/office/drawing/2014/main" id="{535FB657-45E2-49BF-AB0F-C33C0C716A2D}"/>
              </a:ext>
            </a:extLst>
          </p:cNvPr>
          <p:cNvSpPr>
            <a:spLocks noGrp="1"/>
          </p:cNvSpPr>
          <p:nvPr/>
        </p:nvSpPr>
        <p:spPr>
          <a:xfrm>
            <a:off x="4493666" y="57698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moving the mix, not yet the cost</a:t>
            </a:r>
            <a:endParaRPr sz="1200"/>
          </a:p>
        </p:txBody>
      </p:sp>
      <p:sp>
        <p:nvSpPr>
          <p:cNvPr id="18" name="Text 15">
            <a:extLst>
              <a:ext uri="{FF2B5EF4-FFF2-40B4-BE49-F238E27FC236}">
                <a16:creationId xmlns:a16="http://schemas.microsoft.com/office/drawing/2014/main" id="{30ED9729-AAC4-482F-BFAB-8D677F893305}"/>
              </a:ext>
            </a:extLst>
          </p:cNvPr>
          <p:cNvSpPr>
            <a:spLocks noGrp="1"/>
          </p:cNvSpPr>
          <p:nvPr/>
        </p:nvSpPr>
        <p:spPr>
          <a:xfrm>
            <a:off x="8328965" y="5166360"/>
            <a:ext cx="3204362" cy="237744"/>
          </a:xfrm>
          <a:prstGeom prst="rect">
            <a:avLst/>
          </a:prstGeom>
          <a:noFill/>
        </p:spPr>
        <p:txBody>
          <a:bodyPr wrap="square" lIns="0" tIns="0" rIns="0" bIns="0" anchor="ctr"/>
          <a:lstStyle/>
          <a:p>
            <a:pPr marL="0" indent="0">
              <a:buNone/>
            </a:pPr>
            <a:endParaRPr sz="1200"/>
          </a:p>
        </p:txBody>
      </p:sp>
      <p:sp>
        <p:nvSpPr>
          <p:cNvPr id="19" name="Text 16">
            <a:extLst>
              <a:ext uri="{FF2B5EF4-FFF2-40B4-BE49-F238E27FC236}">
                <a16:creationId xmlns:a16="http://schemas.microsoft.com/office/drawing/2014/main" id="{3C842509-094E-4FA9-9D3C-C276379C620F}"/>
              </a:ext>
            </a:extLst>
          </p:cNvPr>
          <p:cNvSpPr>
            <a:spLocks noGrp="1"/>
          </p:cNvSpPr>
          <p:nvPr/>
        </p:nvSpPr>
        <p:spPr>
          <a:xfrm>
            <a:off x="8328965" y="5367528"/>
            <a:ext cx="3204362" cy="438912"/>
          </a:xfrm>
          <a:prstGeom prst="rect">
            <a:avLst/>
          </a:prstGeom>
          <a:noFill/>
        </p:spPr>
        <p:txBody>
          <a:bodyPr wrap="square" lIns="0" tIns="0" rIns="0" bIns="0" anchor="ctr"/>
          <a:lstStyle/>
          <a:p>
            <a:pPr marL="0" indent="0">
              <a:buNone/>
            </a:pPr>
            <a:endParaRPr sz="2800"/>
          </a:p>
        </p:txBody>
      </p:sp>
      <p:sp>
        <p:nvSpPr>
          <p:cNvPr id="20" name="Text 17">
            <a:extLst>
              <a:ext uri="{FF2B5EF4-FFF2-40B4-BE49-F238E27FC236}">
                <a16:creationId xmlns:a16="http://schemas.microsoft.com/office/drawing/2014/main" id="{D28C42D8-C911-4F76-9A3C-2D0BCCD5CD15}"/>
              </a:ext>
            </a:extLst>
          </p:cNvPr>
          <p:cNvSpPr>
            <a:spLocks noGrp="1"/>
          </p:cNvSpPr>
          <p:nvPr/>
        </p:nvSpPr>
        <p:spPr>
          <a:xfrm>
            <a:off x="8328965" y="5769864"/>
            <a:ext cx="3204362" cy="329184"/>
          </a:xfrm>
          <a:prstGeom prst="rect">
            <a:avLst/>
          </a:prstGeom>
          <a:noFill/>
        </p:spPr>
        <p:txBody>
          <a:bodyPr wrap="square" lIns="0" tIns="0" rIns="0" bIns="0" anchor="t"/>
          <a:lstStyle/>
          <a:p>
            <a:pPr marL="0" indent="0">
              <a:lnSpc>
                <a:spcPct val="105000"/>
              </a:lnSpc>
              <a:buNone/>
            </a:pPr>
            <a:endParaRPr sz="1200"/>
          </a:p>
        </p:txBody>
      </p:sp>
    </p:spTree>
    <p:extLst>
      <p:ext uri="{BB962C8B-B14F-4D97-AF65-F5344CB8AC3E}">
        <p14:creationId xmlns:p14="http://schemas.microsoft.com/office/powerpoint/2010/main" val="2888196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9368C5C-5924-41D3-AC62-12383B558DAE}"/>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EC501AF2-C9AB-415B-9B52-80E8CB653EAD}"/>
              </a:ext>
            </a:extLst>
          </p:cNvPr>
          <p:cNvSpPr>
            <a:spLocks noGrp="1"/>
          </p:cNvSpPr>
          <p:nvPr/>
        </p:nvSpPr>
        <p:spPr>
          <a:xfrm>
            <a:off x="7863840" y="-1280160"/>
            <a:ext cx="5852160" cy="5852160"/>
          </a:xfrm>
          <a:prstGeom prst="ellipse">
            <a:avLst/>
          </a:prstGeom>
          <a:solidFill>
            <a:srgbClr val="91A0B7">
              <a:alpha val="8000"/>
            </a:srgbClr>
          </a:solidFill>
          <a:ln w="12700">
            <a:solidFill>
              <a:srgbClr val="91A0B7">
                <a:alpha val="0"/>
              </a:srgbClr>
            </a:solidFill>
            <a:prstDash val="solid"/>
          </a:ln>
        </p:spPr>
        <p:txBody>
          <a:bodyPr/>
          <a:lstStyle/>
          <a:p>
            <a:endParaRPr/>
          </a:p>
        </p:txBody>
      </p:sp>
      <p:sp>
        <p:nvSpPr>
          <p:cNvPr id="4" name="Shape 2">
            <a:extLst>
              <a:ext uri="{FF2B5EF4-FFF2-40B4-BE49-F238E27FC236}">
                <a16:creationId xmlns:a16="http://schemas.microsoft.com/office/drawing/2014/main" id="{D8670E18-2160-4636-AC31-DE7E14FAEBE1}"/>
              </a:ext>
            </a:extLst>
          </p:cNvPr>
          <p:cNvSpPr>
            <a:spLocks noGrp="1"/>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a:p>
        </p:txBody>
      </p:sp>
      <p:sp>
        <p:nvSpPr>
          <p:cNvPr id="5" name="Text 3">
            <a:extLst>
              <a:ext uri="{FF2B5EF4-FFF2-40B4-BE49-F238E27FC236}">
                <a16:creationId xmlns:a16="http://schemas.microsoft.com/office/drawing/2014/main" id="{97A7790A-D81C-4290-87D3-3385C6D819F4}"/>
              </a:ext>
            </a:extLst>
          </p:cNvPr>
          <p:cNvSpPr>
            <a:spLocks noGrp="1"/>
          </p:cNvSpPr>
          <p:nvPr/>
        </p:nvSpPr>
        <p:spPr>
          <a:xfrm>
            <a:off x="457200" y="2331720"/>
            <a:ext cx="8229600" cy="274320"/>
          </a:xfrm>
          <a:prstGeom prst="rect">
            <a:avLst/>
          </a:prstGeom>
          <a:noFill/>
        </p:spPr>
        <p:txBody>
          <a:bodyPr wrap="square" lIns="0" tIns="0" rIns="0" bIns="0" anchor="ctr"/>
          <a:lstStyle/>
          <a:p>
            <a:pPr marL="0" indent="0">
              <a:buNone/>
            </a:pPr>
            <a:r>
              <a:rPr b="1" spc="300" dirty="0">
                <a:solidFill>
                  <a:srgbClr val="91A0B7"/>
                </a:solidFill>
                <a:latin typeface="Calibri"/>
                <a:ea typeface="Calibri"/>
                <a:cs typeface="Calibri"/>
              </a:rPr>
              <a:t>APPENDIX</a:t>
            </a:r>
            <a:endParaRPr dirty="0"/>
          </a:p>
        </p:txBody>
      </p:sp>
      <p:sp>
        <p:nvSpPr>
          <p:cNvPr id="6" name="Text 4">
            <a:extLst>
              <a:ext uri="{FF2B5EF4-FFF2-40B4-BE49-F238E27FC236}">
                <a16:creationId xmlns:a16="http://schemas.microsoft.com/office/drawing/2014/main" id="{34AA6A93-3D53-42D2-A711-F5C2350E20EE}"/>
              </a:ext>
            </a:extLst>
          </p:cNvPr>
          <p:cNvSpPr>
            <a:spLocks noGrp="1"/>
          </p:cNvSpPr>
          <p:nvPr/>
        </p:nvSpPr>
        <p:spPr>
          <a:xfrm>
            <a:off x="457200" y="2651760"/>
            <a:ext cx="8412480" cy="1005840"/>
          </a:xfrm>
          <a:prstGeom prst="rect">
            <a:avLst/>
          </a:prstGeom>
          <a:noFill/>
        </p:spPr>
        <p:txBody>
          <a:bodyPr wrap="square" lIns="0" tIns="0" rIns="0" bIns="0" anchor="ctr"/>
          <a:lstStyle/>
          <a:p>
            <a:pPr marL="0" indent="0">
              <a:buNone/>
            </a:pPr>
            <a:r>
              <a:rPr sz="4000" b="1">
                <a:solidFill>
                  <a:srgbClr val="F4F7FB"/>
                </a:solidFill>
                <a:latin typeface="Calibri"/>
                <a:ea typeface="Calibri"/>
                <a:cs typeface="Calibri"/>
              </a:rPr>
              <a:t>The operational detail</a:t>
            </a:r>
            <a:endParaRPr sz="4000"/>
          </a:p>
        </p:txBody>
      </p:sp>
      <p:sp>
        <p:nvSpPr>
          <p:cNvPr id="7" name="Text 5">
            <a:extLst>
              <a:ext uri="{FF2B5EF4-FFF2-40B4-BE49-F238E27FC236}">
                <a16:creationId xmlns:a16="http://schemas.microsoft.com/office/drawing/2014/main" id="{8421E409-70DD-46E1-B9C0-876141F84B1C}"/>
              </a:ext>
            </a:extLst>
          </p:cNvPr>
          <p:cNvSpPr>
            <a:spLocks noGrp="1"/>
          </p:cNvSpPr>
          <p:nvPr/>
        </p:nvSpPr>
        <p:spPr>
          <a:xfrm>
            <a:off x="457200" y="3703320"/>
            <a:ext cx="7863840" cy="457200"/>
          </a:xfrm>
          <a:prstGeom prst="rect">
            <a:avLst/>
          </a:prstGeom>
          <a:noFill/>
        </p:spPr>
        <p:txBody>
          <a:bodyPr wrap="square" lIns="0" tIns="0" rIns="0" bIns="0" anchor="ctr"/>
          <a:lstStyle/>
          <a:p>
            <a:pPr marL="0" indent="0">
              <a:buNone/>
            </a:pPr>
            <a:r>
              <a:rPr sz="1500">
                <a:solidFill>
                  <a:srgbClr val="91A0B7"/>
                </a:solidFill>
                <a:latin typeface="Calibri"/>
                <a:ea typeface="Calibri"/>
                <a:cs typeface="Calibri"/>
              </a:rPr>
              <a:t>Account, service, cost-centre and project breakdowns, January to August 2026</a:t>
            </a:r>
            <a:endParaRPr sz="1500"/>
          </a:p>
        </p:txBody>
      </p:sp>
    </p:spTree>
    <p:extLst>
      <p:ext uri="{BB962C8B-B14F-4D97-AF65-F5344CB8AC3E}">
        <p14:creationId xmlns:p14="http://schemas.microsoft.com/office/powerpoint/2010/main" val="1203256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9ECD1D0-165D-4B02-9B9E-AD6ED0E7D7EB}"/>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C35F9C1A-AFB9-410B-A17D-BC730420739E}"/>
              </a:ext>
            </a:extLst>
          </p:cNvPr>
          <p:cNvSpPr>
            <a:spLocks noGrp="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a:p>
        </p:txBody>
      </p:sp>
      <p:sp>
        <p:nvSpPr>
          <p:cNvPr id="4" name="Text 2">
            <a:extLst>
              <a:ext uri="{FF2B5EF4-FFF2-40B4-BE49-F238E27FC236}">
                <a16:creationId xmlns:a16="http://schemas.microsoft.com/office/drawing/2014/main" id="{91C4F4E8-DB36-486D-A0AB-CE056E3977C3}"/>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9F43"/>
                </a:solidFill>
                <a:latin typeface="Calibri"/>
                <a:ea typeface="Calibri"/>
                <a:cs typeface="Calibri"/>
              </a:rPr>
              <a:t>AWS / ACCOUNTS</a:t>
            </a:r>
            <a:endParaRPr sz="1300"/>
          </a:p>
        </p:txBody>
      </p:sp>
      <p:sp>
        <p:nvSpPr>
          <p:cNvPr id="5" name="Text 3">
            <a:extLst>
              <a:ext uri="{FF2B5EF4-FFF2-40B4-BE49-F238E27FC236}">
                <a16:creationId xmlns:a16="http://schemas.microsoft.com/office/drawing/2014/main" id="{21FB45E0-71C1-4F3F-94DF-A4958E7EA974}"/>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Consumption by account name</a:t>
            </a:r>
            <a:endParaRPr sz="2800"/>
          </a:p>
        </p:txBody>
      </p:sp>
      <p:sp>
        <p:nvSpPr>
          <p:cNvPr id="6" name="Text 4">
            <a:extLst>
              <a:ext uri="{FF2B5EF4-FFF2-40B4-BE49-F238E27FC236}">
                <a16:creationId xmlns:a16="http://schemas.microsoft.com/office/drawing/2014/main" id="{66ECF48F-515E-4E7B-A1EE-85A6DCBE9530}"/>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t>Monthly spend by linked account, excluding Marketplace. Two payers are consolidated here.</a:t>
            </a:r>
            <a:endParaRPr sz="1200"/>
          </a:p>
        </p:txBody>
      </p:sp>
      <p:sp>
        <p:nvSpPr>
          <p:cNvPr id="7" name="Text 5">
            <a:extLst>
              <a:ext uri="{FF2B5EF4-FFF2-40B4-BE49-F238E27FC236}">
                <a16:creationId xmlns:a16="http://schemas.microsoft.com/office/drawing/2014/main" id="{BB75F9D3-0667-4A9A-80B1-440175ED6E6D}"/>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linked account</a:t>
            </a:r>
            <a:endParaRPr sz="1500"/>
          </a:p>
        </p:txBody>
      </p:sp>
      <p:graphicFrame>
        <p:nvGraphicFramePr>
          <p:cNvPr id="31"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a:extLst>
              <a:ext uri="{FF2B5EF4-FFF2-40B4-BE49-F238E27FC236}">
                <a16:creationId xmlns:a16="http://schemas.microsoft.com/office/drawing/2014/main" id="{6061DD4A-BAD4-4BB0-A8D0-DD8ADE90B99B}"/>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0" name="Text 7">
            <a:extLst>
              <a:ext uri="{FF2B5EF4-FFF2-40B4-BE49-F238E27FC236}">
                <a16:creationId xmlns:a16="http://schemas.microsoft.com/office/drawing/2014/main" id="{8B2D6401-9CFC-47EE-95C7-49BD124CB680}"/>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JAN-AUG</a:t>
            </a:r>
            <a:endParaRPr sz="1200"/>
          </a:p>
        </p:txBody>
      </p:sp>
      <p:sp>
        <p:nvSpPr>
          <p:cNvPr id="11" name="Text 8">
            <a:extLst>
              <a:ext uri="{FF2B5EF4-FFF2-40B4-BE49-F238E27FC236}">
                <a16:creationId xmlns:a16="http://schemas.microsoft.com/office/drawing/2014/main" id="{20A6722E-227B-40FE-9F68-F8E65ADADF66}"/>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$690K</a:t>
            </a:r>
            <a:endParaRPr sz="2800"/>
          </a:p>
        </p:txBody>
      </p:sp>
      <p:sp>
        <p:nvSpPr>
          <p:cNvPr id="12" name="Text 9">
            <a:extLst>
              <a:ext uri="{FF2B5EF4-FFF2-40B4-BE49-F238E27FC236}">
                <a16:creationId xmlns:a16="http://schemas.microsoft.com/office/drawing/2014/main" id="{98F56899-4728-4150-A14E-6B5D02755570}"/>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FF9F43"/>
                </a:solidFill>
                <a:latin typeface="Calibri"/>
                <a:ea typeface="Calibri"/>
                <a:cs typeface="Calibri"/>
              </a:rPr>
              <a:t>+38.7% Jul to Aug</a:t>
            </a:r>
            <a:endParaRPr sz="1200"/>
          </a:p>
        </p:txBody>
      </p:sp>
      <p:sp>
        <p:nvSpPr>
          <p:cNvPr id="13" name="Shape 10">
            <a:extLst>
              <a:ext uri="{FF2B5EF4-FFF2-40B4-BE49-F238E27FC236}">
                <a16:creationId xmlns:a16="http://schemas.microsoft.com/office/drawing/2014/main" id="{5216C818-33AB-4B55-BD8D-23A377CDAB82}"/>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4" name="Text 11">
            <a:extLst>
              <a:ext uri="{FF2B5EF4-FFF2-40B4-BE49-F238E27FC236}">
                <a16:creationId xmlns:a16="http://schemas.microsoft.com/office/drawing/2014/main" id="{E27ABF73-0ADB-4C3B-8558-6FA2B8C4EDF7}"/>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AUGUST</a:t>
            </a:r>
            <a:endParaRPr sz="1200"/>
          </a:p>
        </p:txBody>
      </p:sp>
      <p:sp>
        <p:nvSpPr>
          <p:cNvPr id="15" name="Text 12">
            <a:extLst>
              <a:ext uri="{FF2B5EF4-FFF2-40B4-BE49-F238E27FC236}">
                <a16:creationId xmlns:a16="http://schemas.microsoft.com/office/drawing/2014/main" id="{A26FD768-8507-476A-B86A-821F52751DD9}"/>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$107K</a:t>
            </a:r>
            <a:endParaRPr sz="2800"/>
          </a:p>
        </p:txBody>
      </p:sp>
      <p:sp>
        <p:nvSpPr>
          <p:cNvPr id="16" name="Text 13">
            <a:extLst>
              <a:ext uri="{FF2B5EF4-FFF2-40B4-BE49-F238E27FC236}">
                <a16:creationId xmlns:a16="http://schemas.microsoft.com/office/drawing/2014/main" id="{43B9A058-1617-467C-8B9B-FB62488904F1}"/>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91A0B7"/>
                </a:solidFill>
                <a:latin typeface="Calibri"/>
                <a:ea typeface="Calibri"/>
                <a:cs typeface="Calibri"/>
              </a:rPr>
              <a:t>no credit applied this month</a:t>
            </a:r>
            <a:endParaRPr sz="1200"/>
          </a:p>
        </p:txBody>
      </p:sp>
      <p:sp>
        <p:nvSpPr>
          <p:cNvPr id="17" name="Text 14">
            <a:extLst>
              <a:ext uri="{FF2B5EF4-FFF2-40B4-BE49-F238E27FC236}">
                <a16:creationId xmlns:a16="http://schemas.microsoft.com/office/drawing/2014/main" id="{955AFCD5-BC60-4641-B7C4-50C17E69A9CE}"/>
              </a:ext>
            </a:extLst>
          </p:cNvPr>
          <p:cNvSpPr>
            <a:spLocks noGrp="1"/>
          </p:cNvSpPr>
          <p:nvPr/>
        </p:nvSpPr>
        <p:spPr>
          <a:xfrm>
            <a:off x="8110728" y="3822192"/>
            <a:ext cx="3605479" cy="219456"/>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WHAT MOVED</a:t>
            </a:r>
            <a:endParaRPr sz="1200"/>
          </a:p>
        </p:txBody>
      </p:sp>
      <p:sp>
        <p:nvSpPr>
          <p:cNvPr id="18" name="Shape 15">
            <a:extLst>
              <a:ext uri="{FF2B5EF4-FFF2-40B4-BE49-F238E27FC236}">
                <a16:creationId xmlns:a16="http://schemas.microsoft.com/office/drawing/2014/main" id="{4E07F602-196E-4475-AD1A-551863DE6E0C}"/>
              </a:ext>
            </a:extLst>
          </p:cNvPr>
          <p:cNvSpPr>
            <a:spLocks noGrp="1"/>
          </p:cNvSpPr>
          <p:nvPr/>
        </p:nvSpPr>
        <p:spPr>
          <a:xfrm>
            <a:off x="8110728" y="4197096"/>
            <a:ext cx="64008" cy="64008"/>
          </a:xfrm>
          <a:prstGeom prst="rect">
            <a:avLst/>
          </a:prstGeom>
          <a:solidFill>
            <a:srgbClr val="FF9F43"/>
          </a:solidFill>
          <a:ln w="12700">
            <a:solidFill>
              <a:srgbClr val="FF9F43"/>
            </a:solidFill>
            <a:prstDash val="solid"/>
          </a:ln>
        </p:spPr>
        <p:txBody>
          <a:bodyPr/>
          <a:lstStyle/>
          <a:p>
            <a:endParaRPr/>
          </a:p>
        </p:txBody>
      </p:sp>
      <p:sp>
        <p:nvSpPr>
          <p:cNvPr id="19" name="Text 16">
            <a:extLst>
              <a:ext uri="{FF2B5EF4-FFF2-40B4-BE49-F238E27FC236}">
                <a16:creationId xmlns:a16="http://schemas.microsoft.com/office/drawing/2014/main" id="{C00F2DFB-6F50-498C-B7F6-D09C887BBCC1}"/>
              </a:ext>
            </a:extLst>
          </p:cNvPr>
          <p:cNvSpPr>
            <a:spLocks noGrp="1"/>
          </p:cNvSpPr>
          <p:nvPr/>
        </p:nvSpPr>
        <p:spPr>
          <a:xfrm>
            <a:off x="8284464" y="4114800"/>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customers3-prod rose to $13.1K on S3 alone</a:t>
            </a:r>
            <a:endParaRPr sz="1250"/>
          </a:p>
        </p:txBody>
      </p:sp>
      <p:sp>
        <p:nvSpPr>
          <p:cNvPr id="20" name="Shape 17">
            <a:extLst>
              <a:ext uri="{FF2B5EF4-FFF2-40B4-BE49-F238E27FC236}">
                <a16:creationId xmlns:a16="http://schemas.microsoft.com/office/drawing/2014/main" id="{7257F445-AEBD-4515-855F-493C4B8F5643}"/>
              </a:ext>
            </a:extLst>
          </p:cNvPr>
          <p:cNvSpPr>
            <a:spLocks noGrp="1"/>
          </p:cNvSpPr>
          <p:nvPr/>
        </p:nvSpPr>
        <p:spPr>
          <a:xfrm>
            <a:off x="8110728" y="4764024"/>
            <a:ext cx="64008" cy="64008"/>
          </a:xfrm>
          <a:prstGeom prst="rect">
            <a:avLst/>
          </a:prstGeom>
          <a:solidFill>
            <a:srgbClr val="FF9F43"/>
          </a:solidFill>
          <a:ln w="12700">
            <a:solidFill>
              <a:srgbClr val="FF9F43"/>
            </a:solidFill>
            <a:prstDash val="solid"/>
          </a:ln>
        </p:spPr>
        <p:txBody>
          <a:bodyPr/>
          <a:lstStyle/>
          <a:p>
            <a:endParaRPr/>
          </a:p>
        </p:txBody>
      </p:sp>
      <p:sp>
        <p:nvSpPr>
          <p:cNvPr id="21" name="Text 18">
            <a:extLst>
              <a:ext uri="{FF2B5EF4-FFF2-40B4-BE49-F238E27FC236}">
                <a16:creationId xmlns:a16="http://schemas.microsoft.com/office/drawing/2014/main" id="{D62F18F0-D93C-4C34-B8AD-3194C7D7E044}"/>
              </a:ext>
            </a:extLst>
          </p:cNvPr>
          <p:cNvSpPr>
            <a:spLocks noGrp="1"/>
          </p:cNvSpPr>
          <p:nvPr/>
        </p:nvSpPr>
        <p:spPr>
          <a:xfrm>
            <a:off x="8284464" y="4681728"/>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aws-prod-Digital up $3.1K; Harel Insurance up $4.3K</a:t>
            </a:r>
            <a:endParaRPr sz="1250"/>
          </a:p>
        </p:txBody>
      </p:sp>
      <p:sp>
        <p:nvSpPr>
          <p:cNvPr id="22" name="Shape 19">
            <a:extLst>
              <a:ext uri="{FF2B5EF4-FFF2-40B4-BE49-F238E27FC236}">
                <a16:creationId xmlns:a16="http://schemas.microsoft.com/office/drawing/2014/main" id="{A3196581-FFBF-4A58-8DA0-86B07C830BD8}"/>
              </a:ext>
            </a:extLst>
          </p:cNvPr>
          <p:cNvSpPr>
            <a:spLocks noGrp="1"/>
          </p:cNvSpPr>
          <p:nvPr/>
        </p:nvSpPr>
        <p:spPr>
          <a:xfrm>
            <a:off x="8110728" y="5330952"/>
            <a:ext cx="64008" cy="64008"/>
          </a:xfrm>
          <a:prstGeom prst="rect">
            <a:avLst/>
          </a:prstGeom>
          <a:solidFill>
            <a:srgbClr val="FF9F43"/>
          </a:solidFill>
          <a:ln w="12700">
            <a:solidFill>
              <a:srgbClr val="FF9F43"/>
            </a:solidFill>
            <a:prstDash val="solid"/>
          </a:ln>
        </p:spPr>
        <p:txBody>
          <a:bodyPr/>
          <a:lstStyle/>
          <a:p>
            <a:endParaRPr/>
          </a:p>
        </p:txBody>
      </p:sp>
      <p:sp>
        <p:nvSpPr>
          <p:cNvPr id="23" name="Text 20">
            <a:extLst>
              <a:ext uri="{FF2B5EF4-FFF2-40B4-BE49-F238E27FC236}">
                <a16:creationId xmlns:a16="http://schemas.microsoft.com/office/drawing/2014/main" id="{FDB039D2-20E6-4349-94CF-3C8B6295BDFE}"/>
              </a:ext>
            </a:extLst>
          </p:cNvPr>
          <p:cNvSpPr>
            <a:spLocks noGrp="1"/>
          </p:cNvSpPr>
          <p:nvPr/>
        </p:nvSpPr>
        <p:spPr>
          <a:xfrm>
            <a:off x="8284464" y="5248656"/>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ai-factory-dev returns to normal: July carried the MAP credit</a:t>
            </a:r>
            <a:endParaRPr sz="1250"/>
          </a:p>
        </p:txBody>
      </p:sp>
    </p:spTree>
    <p:extLst>
      <p:ext uri="{BB962C8B-B14F-4D97-AF65-F5344CB8AC3E}">
        <p14:creationId xmlns:p14="http://schemas.microsoft.com/office/powerpoint/2010/main" val="1756823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2C75513-8C6D-47B0-AB38-C1BB0F7CD97A}"/>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89BE27E6-E40A-4B96-9A89-20384990394D}"/>
              </a:ext>
            </a:extLst>
          </p:cNvPr>
          <p:cNvSpPr>
            <a:spLocks noGrp="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a:p>
        </p:txBody>
      </p:sp>
      <p:sp>
        <p:nvSpPr>
          <p:cNvPr id="4" name="Text 2">
            <a:extLst>
              <a:ext uri="{FF2B5EF4-FFF2-40B4-BE49-F238E27FC236}">
                <a16:creationId xmlns:a16="http://schemas.microsoft.com/office/drawing/2014/main" id="{E6D58AA0-6B9C-4F22-80D3-9CFADE2A19D9}"/>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9F43"/>
                </a:solidFill>
                <a:latin typeface="Calibri"/>
                <a:ea typeface="Calibri"/>
                <a:cs typeface="Calibri"/>
              </a:rPr>
              <a:t>AWS / SERVICES</a:t>
            </a:r>
            <a:endParaRPr sz="1300"/>
          </a:p>
        </p:txBody>
      </p:sp>
      <p:sp>
        <p:nvSpPr>
          <p:cNvPr id="5" name="Text 3">
            <a:extLst>
              <a:ext uri="{FF2B5EF4-FFF2-40B4-BE49-F238E27FC236}">
                <a16:creationId xmlns:a16="http://schemas.microsoft.com/office/drawing/2014/main" id="{03CFEFA2-E42D-4A4B-91E0-B352DD616C2D}"/>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Consumption by service name</a:t>
            </a:r>
            <a:endParaRPr sz="2800"/>
          </a:p>
        </p:txBody>
      </p:sp>
      <p:sp>
        <p:nvSpPr>
          <p:cNvPr id="6" name="Text 4">
            <a:extLst>
              <a:ext uri="{FF2B5EF4-FFF2-40B4-BE49-F238E27FC236}">
                <a16:creationId xmlns:a16="http://schemas.microsoft.com/office/drawing/2014/main" id="{D705FFA9-A30E-4E21-AB26-705645DBEA83}"/>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t>Same total, cut by service. Marketplace excluded and reported separately.</a:t>
            </a:r>
            <a:endParaRPr sz="1200"/>
          </a:p>
        </p:txBody>
      </p:sp>
      <p:sp>
        <p:nvSpPr>
          <p:cNvPr id="7" name="Text 5">
            <a:extLst>
              <a:ext uri="{FF2B5EF4-FFF2-40B4-BE49-F238E27FC236}">
                <a16:creationId xmlns:a16="http://schemas.microsoft.com/office/drawing/2014/main" id="{27479084-F28E-483C-BA35-6683C3B8C39C}"/>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service</a:t>
            </a:r>
            <a:endParaRPr sz="1500"/>
          </a:p>
        </p:txBody>
      </p:sp>
      <p:graphicFrame>
        <p:nvGraphicFramePr>
          <p:cNvPr id="31"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a:extLst>
              <a:ext uri="{FF2B5EF4-FFF2-40B4-BE49-F238E27FC236}">
                <a16:creationId xmlns:a16="http://schemas.microsoft.com/office/drawing/2014/main" id="{D3582600-F569-4292-90C9-4E6E2CAAC74E}"/>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0" name="Text 7">
            <a:extLst>
              <a:ext uri="{FF2B5EF4-FFF2-40B4-BE49-F238E27FC236}">
                <a16:creationId xmlns:a16="http://schemas.microsoft.com/office/drawing/2014/main" id="{A195F2C3-9697-4550-B6F0-FB2BC8458190}"/>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JAN-AUG</a:t>
            </a:r>
            <a:endParaRPr sz="1200"/>
          </a:p>
        </p:txBody>
      </p:sp>
      <p:sp>
        <p:nvSpPr>
          <p:cNvPr id="11" name="Text 8">
            <a:extLst>
              <a:ext uri="{FF2B5EF4-FFF2-40B4-BE49-F238E27FC236}">
                <a16:creationId xmlns:a16="http://schemas.microsoft.com/office/drawing/2014/main" id="{F455D17B-322A-4662-B24C-01F378752760}"/>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$690K</a:t>
            </a:r>
            <a:endParaRPr sz="2800"/>
          </a:p>
        </p:txBody>
      </p:sp>
      <p:sp>
        <p:nvSpPr>
          <p:cNvPr id="12" name="Text 9">
            <a:extLst>
              <a:ext uri="{FF2B5EF4-FFF2-40B4-BE49-F238E27FC236}">
                <a16:creationId xmlns:a16="http://schemas.microsoft.com/office/drawing/2014/main" id="{41AB9B4A-3576-4443-9B1B-75FE371BF9F0}"/>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FF9F43"/>
                </a:solidFill>
                <a:latin typeface="Calibri"/>
                <a:ea typeface="Calibri"/>
                <a:cs typeface="Calibri"/>
              </a:rPr>
              <a:t>August is the largest month</a:t>
            </a:r>
            <a:endParaRPr sz="1200"/>
          </a:p>
        </p:txBody>
      </p:sp>
      <p:sp>
        <p:nvSpPr>
          <p:cNvPr id="13" name="Shape 10">
            <a:extLst>
              <a:ext uri="{FF2B5EF4-FFF2-40B4-BE49-F238E27FC236}">
                <a16:creationId xmlns:a16="http://schemas.microsoft.com/office/drawing/2014/main" id="{2E82C8CC-0788-497D-B48F-2CA6E0E63291}"/>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4" name="Text 11">
            <a:extLst>
              <a:ext uri="{FF2B5EF4-FFF2-40B4-BE49-F238E27FC236}">
                <a16:creationId xmlns:a16="http://schemas.microsoft.com/office/drawing/2014/main" id="{1A42E40B-987E-4823-8764-95A2001EFA77}"/>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SERVICE</a:t>
            </a:r>
            <a:endParaRPr sz="1200"/>
          </a:p>
        </p:txBody>
      </p:sp>
      <p:sp>
        <p:nvSpPr>
          <p:cNvPr id="15" name="Text 12">
            <a:extLst>
              <a:ext uri="{FF2B5EF4-FFF2-40B4-BE49-F238E27FC236}">
                <a16:creationId xmlns:a16="http://schemas.microsoft.com/office/drawing/2014/main" id="{0E3E6613-0C92-4F1B-9663-6F02C7CFEBAF}"/>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EC2 - Compute</a:t>
            </a:r>
            <a:endParaRPr sz="2800"/>
          </a:p>
        </p:txBody>
      </p:sp>
      <p:sp>
        <p:nvSpPr>
          <p:cNvPr id="16" name="Text 13">
            <a:extLst>
              <a:ext uri="{FF2B5EF4-FFF2-40B4-BE49-F238E27FC236}">
                <a16:creationId xmlns:a16="http://schemas.microsoft.com/office/drawing/2014/main" id="{9DD0148C-7228-4CC8-B6D8-3E8D3E05A993}"/>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34% of August</a:t>
            </a:r>
            <a:endParaRPr sz="1200"/>
          </a:p>
        </p:txBody>
      </p:sp>
      <p:sp>
        <p:nvSpPr>
          <p:cNvPr id="17" name="Text 14">
            <a:extLst>
              <a:ext uri="{FF2B5EF4-FFF2-40B4-BE49-F238E27FC236}">
                <a16:creationId xmlns:a16="http://schemas.microsoft.com/office/drawing/2014/main" id="{1DB50FF4-A034-43E6-A5A9-95E2A3F6A790}"/>
              </a:ext>
            </a:extLst>
          </p:cNvPr>
          <p:cNvSpPr>
            <a:spLocks noGrp="1"/>
          </p:cNvSpPr>
          <p:nvPr/>
        </p:nvSpPr>
        <p:spPr>
          <a:xfrm>
            <a:off x="8110728" y="3822192"/>
            <a:ext cx="3605479" cy="219456"/>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WHAT MOVED</a:t>
            </a:r>
            <a:endParaRPr sz="1200"/>
          </a:p>
        </p:txBody>
      </p:sp>
      <p:sp>
        <p:nvSpPr>
          <p:cNvPr id="18" name="Shape 15">
            <a:extLst>
              <a:ext uri="{FF2B5EF4-FFF2-40B4-BE49-F238E27FC236}">
                <a16:creationId xmlns:a16="http://schemas.microsoft.com/office/drawing/2014/main" id="{15ED7224-7F1C-4DC4-8341-C2E802391D05}"/>
              </a:ext>
            </a:extLst>
          </p:cNvPr>
          <p:cNvSpPr>
            <a:spLocks noGrp="1"/>
          </p:cNvSpPr>
          <p:nvPr/>
        </p:nvSpPr>
        <p:spPr>
          <a:xfrm>
            <a:off x="8110728" y="4197096"/>
            <a:ext cx="64008" cy="64008"/>
          </a:xfrm>
          <a:prstGeom prst="rect">
            <a:avLst/>
          </a:prstGeom>
          <a:solidFill>
            <a:srgbClr val="FF9F43"/>
          </a:solidFill>
          <a:ln w="12700">
            <a:solidFill>
              <a:srgbClr val="FF9F43"/>
            </a:solidFill>
            <a:prstDash val="solid"/>
          </a:ln>
        </p:spPr>
        <p:txBody>
          <a:bodyPr/>
          <a:lstStyle/>
          <a:p>
            <a:endParaRPr/>
          </a:p>
        </p:txBody>
      </p:sp>
      <p:sp>
        <p:nvSpPr>
          <p:cNvPr id="19" name="Text 16">
            <a:extLst>
              <a:ext uri="{FF2B5EF4-FFF2-40B4-BE49-F238E27FC236}">
                <a16:creationId xmlns:a16="http://schemas.microsoft.com/office/drawing/2014/main" id="{632CA4DC-AA25-4C53-8ECA-6FA084B6EC6A}"/>
              </a:ext>
            </a:extLst>
          </p:cNvPr>
          <p:cNvSpPr>
            <a:spLocks noGrp="1"/>
          </p:cNvSpPr>
          <p:nvPr/>
        </p:nvSpPr>
        <p:spPr>
          <a:xfrm>
            <a:off x="8284464" y="4114800"/>
            <a:ext cx="3431743" cy="18288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Glacier Deep Archive keeps climbing, now $10.6K</a:t>
            </a:r>
            <a:endParaRPr sz="1250"/>
          </a:p>
        </p:txBody>
      </p:sp>
      <p:sp>
        <p:nvSpPr>
          <p:cNvPr id="20" name="Shape 17">
            <a:extLst>
              <a:ext uri="{FF2B5EF4-FFF2-40B4-BE49-F238E27FC236}">
                <a16:creationId xmlns:a16="http://schemas.microsoft.com/office/drawing/2014/main" id="{A08D57EE-FB8D-438D-90FF-695657729D71}"/>
              </a:ext>
            </a:extLst>
          </p:cNvPr>
          <p:cNvSpPr>
            <a:spLocks noGrp="1"/>
          </p:cNvSpPr>
          <p:nvPr/>
        </p:nvSpPr>
        <p:spPr>
          <a:xfrm>
            <a:off x="8110728" y="4544568"/>
            <a:ext cx="64008" cy="64008"/>
          </a:xfrm>
          <a:prstGeom prst="rect">
            <a:avLst/>
          </a:prstGeom>
          <a:solidFill>
            <a:srgbClr val="FF9F43"/>
          </a:solidFill>
          <a:ln w="12700">
            <a:solidFill>
              <a:srgbClr val="FF9F43"/>
            </a:solidFill>
            <a:prstDash val="solid"/>
          </a:ln>
        </p:spPr>
        <p:txBody>
          <a:bodyPr/>
          <a:lstStyle/>
          <a:p>
            <a:endParaRPr/>
          </a:p>
        </p:txBody>
      </p:sp>
      <p:sp>
        <p:nvSpPr>
          <p:cNvPr id="21" name="Text 18">
            <a:extLst>
              <a:ext uri="{FF2B5EF4-FFF2-40B4-BE49-F238E27FC236}">
                <a16:creationId xmlns:a16="http://schemas.microsoft.com/office/drawing/2014/main" id="{AC4882BE-5796-4E38-B1BA-28080431A33A}"/>
              </a:ext>
            </a:extLst>
          </p:cNvPr>
          <p:cNvSpPr>
            <a:spLocks noGrp="1"/>
          </p:cNvSpPr>
          <p:nvPr/>
        </p:nvSpPr>
        <p:spPr>
          <a:xfrm>
            <a:off x="8284464" y="4462272"/>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CloudWatch Log Groups doubled to $6.2K</a:t>
            </a:r>
            <a:endParaRPr sz="1250"/>
          </a:p>
        </p:txBody>
      </p:sp>
      <p:sp>
        <p:nvSpPr>
          <p:cNvPr id="22" name="Shape 19">
            <a:extLst>
              <a:ext uri="{FF2B5EF4-FFF2-40B4-BE49-F238E27FC236}">
                <a16:creationId xmlns:a16="http://schemas.microsoft.com/office/drawing/2014/main" id="{B1A379D6-FA5C-452C-9656-84B03B1DA1C4}"/>
              </a:ext>
            </a:extLst>
          </p:cNvPr>
          <p:cNvSpPr>
            <a:spLocks noGrp="1"/>
          </p:cNvSpPr>
          <p:nvPr/>
        </p:nvSpPr>
        <p:spPr>
          <a:xfrm>
            <a:off x="8110728" y="5111496"/>
            <a:ext cx="64008" cy="64008"/>
          </a:xfrm>
          <a:prstGeom prst="rect">
            <a:avLst/>
          </a:prstGeom>
          <a:solidFill>
            <a:srgbClr val="FF9F43"/>
          </a:solidFill>
          <a:ln w="12700">
            <a:solidFill>
              <a:srgbClr val="FF9F43"/>
            </a:solidFill>
            <a:prstDash val="solid"/>
          </a:ln>
        </p:spPr>
        <p:txBody>
          <a:bodyPr/>
          <a:lstStyle/>
          <a:p>
            <a:endParaRPr/>
          </a:p>
        </p:txBody>
      </p:sp>
      <p:sp>
        <p:nvSpPr>
          <p:cNvPr id="23" name="Text 20">
            <a:extLst>
              <a:ext uri="{FF2B5EF4-FFF2-40B4-BE49-F238E27FC236}">
                <a16:creationId xmlns:a16="http://schemas.microsoft.com/office/drawing/2014/main" id="{665D1943-83A6-44D7-A48E-C96EEB98300B}"/>
              </a:ext>
            </a:extLst>
          </p:cNvPr>
          <p:cNvSpPr>
            <a:spLocks noGrp="1"/>
          </p:cNvSpPr>
          <p:nvPr/>
        </p:nvSpPr>
        <p:spPr>
          <a:xfrm>
            <a:off x="8284464" y="5029200"/>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Business Support tracks the bill it is priced on</a:t>
            </a:r>
            <a:endParaRPr sz="1250"/>
          </a:p>
        </p:txBody>
      </p:sp>
    </p:spTree>
    <p:extLst>
      <p:ext uri="{BB962C8B-B14F-4D97-AF65-F5344CB8AC3E}">
        <p14:creationId xmlns:p14="http://schemas.microsoft.com/office/powerpoint/2010/main" val="1110834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6F9FB81-E0C2-4231-ACF7-0F8A740ADD28}"/>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067F607D-3F8C-4088-912A-5C8D69BDBCAE}"/>
              </a:ext>
            </a:extLst>
          </p:cNvPr>
          <p:cNvSpPr>
            <a:spLocks noGrp="1"/>
          </p:cNvSpPr>
          <p:nvPr/>
        </p:nvSpPr>
        <p:spPr>
          <a:xfrm>
            <a:off x="457200" y="306324"/>
            <a:ext cx="109728" cy="109728"/>
          </a:xfrm>
          <a:prstGeom prst="ellipse">
            <a:avLst/>
          </a:prstGeom>
          <a:solidFill>
            <a:srgbClr val="3DDC97"/>
          </a:solidFill>
          <a:ln w="12700">
            <a:solidFill>
              <a:srgbClr val="3DDC97"/>
            </a:solidFill>
            <a:prstDash val="solid"/>
          </a:ln>
        </p:spPr>
        <p:txBody>
          <a:bodyPr/>
          <a:lstStyle/>
          <a:p>
            <a:endParaRPr/>
          </a:p>
        </p:txBody>
      </p:sp>
      <p:sp>
        <p:nvSpPr>
          <p:cNvPr id="4" name="Text 2">
            <a:extLst>
              <a:ext uri="{FF2B5EF4-FFF2-40B4-BE49-F238E27FC236}">
                <a16:creationId xmlns:a16="http://schemas.microsoft.com/office/drawing/2014/main" id="{95CC2670-E3CA-4FFB-8D73-25F348D69DFB}"/>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3DDC97"/>
                </a:solidFill>
                <a:latin typeface="Calibri"/>
                <a:ea typeface="Calibri"/>
                <a:cs typeface="Calibri"/>
              </a:rPr>
              <a:t>GCP</a:t>
            </a:r>
            <a:endParaRPr sz="1300"/>
          </a:p>
        </p:txBody>
      </p:sp>
      <p:sp>
        <p:nvSpPr>
          <p:cNvPr id="5" name="Text 3">
            <a:extLst>
              <a:ext uri="{FF2B5EF4-FFF2-40B4-BE49-F238E27FC236}">
                <a16:creationId xmlns:a16="http://schemas.microsoft.com/office/drawing/2014/main" id="{425AC5C6-DFCE-4148-9EDF-0C6E9BE29EA7}"/>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Small, and now falling</a:t>
            </a:r>
            <a:endParaRPr sz="2800"/>
          </a:p>
        </p:txBody>
      </p:sp>
      <p:sp>
        <p:nvSpPr>
          <p:cNvPr id="6" name="Text 4">
            <a:extLst>
              <a:ext uri="{FF2B5EF4-FFF2-40B4-BE49-F238E27FC236}">
                <a16:creationId xmlns:a16="http://schemas.microsoft.com/office/drawing/2014/main" id="{CE0F81CB-8A3A-41AD-AB5D-2C97D5146A75}"/>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The smallest provider by a wide margin. All statements reconcile to their invoices.</a:t>
            </a:r>
            <a:endParaRPr sz="1200"/>
          </a:p>
        </p:txBody>
      </p:sp>
      <p:sp>
        <p:nvSpPr>
          <p:cNvPr id="7" name="Text 5">
            <a:extLst>
              <a:ext uri="{FF2B5EF4-FFF2-40B4-BE49-F238E27FC236}">
                <a16:creationId xmlns:a16="http://schemas.microsoft.com/office/drawing/2014/main" id="{BDA976C8-02C2-4DA0-995B-E2EF79A8E03D}"/>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Vertex AI fell 36% and took GCP down with it. It is the only AI line in the estate that dropped, and at this size it changes nothing — but it is the one place where AI spend went down rather than up.</a:t>
            </a:r>
            <a:endParaRPr sz="1200"/>
          </a:p>
        </p:txBody>
      </p:sp>
      <p:sp>
        <p:nvSpPr>
          <p:cNvPr id="8" name="Text 6">
            <a:extLst>
              <a:ext uri="{FF2B5EF4-FFF2-40B4-BE49-F238E27FC236}">
                <a16:creationId xmlns:a16="http://schemas.microsoft.com/office/drawing/2014/main" id="{A64BE798-25C1-454D-914E-83B95870F9E4}"/>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service</a:t>
            </a:r>
            <a:endParaRPr sz="1500"/>
          </a:p>
        </p:txBody>
      </p:sp>
      <p:graphicFrame>
        <p:nvGraphicFramePr>
          <p:cNvPr id="30"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a:extLst>
              <a:ext uri="{FF2B5EF4-FFF2-40B4-BE49-F238E27FC236}">
                <a16:creationId xmlns:a16="http://schemas.microsoft.com/office/drawing/2014/main" id="{999507E5-B0C0-4DD0-815F-8C63644E4E52}"/>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1" name="Text 8">
            <a:extLst>
              <a:ext uri="{FF2B5EF4-FFF2-40B4-BE49-F238E27FC236}">
                <a16:creationId xmlns:a16="http://schemas.microsoft.com/office/drawing/2014/main" id="{469895BF-1B92-4240-B6DC-C2B64717C98B}"/>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GCP, AUGUST</a:t>
            </a:r>
            <a:endParaRPr sz="1200"/>
          </a:p>
        </p:txBody>
      </p:sp>
      <p:sp>
        <p:nvSpPr>
          <p:cNvPr id="12" name="Text 9">
            <a:extLst>
              <a:ext uri="{FF2B5EF4-FFF2-40B4-BE49-F238E27FC236}">
                <a16:creationId xmlns:a16="http://schemas.microsoft.com/office/drawing/2014/main" id="{A7403F54-289D-4F19-81FA-EBABB6E345BF}"/>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$2,835</a:t>
            </a:r>
            <a:endParaRPr sz="2800"/>
          </a:p>
        </p:txBody>
      </p:sp>
      <p:sp>
        <p:nvSpPr>
          <p:cNvPr id="13" name="Text 10">
            <a:extLst>
              <a:ext uri="{FF2B5EF4-FFF2-40B4-BE49-F238E27FC236}">
                <a16:creationId xmlns:a16="http://schemas.microsoft.com/office/drawing/2014/main" id="{6E4292A9-7CE2-42A4-A43B-14CDBA0C800B}"/>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3DDC97"/>
                </a:solidFill>
                <a:latin typeface="Calibri"/>
                <a:ea typeface="Calibri"/>
                <a:cs typeface="Calibri"/>
              </a:rPr>
              <a:t>1.0% of the total cloud bill</a:t>
            </a:r>
            <a:endParaRPr sz="1200"/>
          </a:p>
        </p:txBody>
      </p:sp>
      <p:sp>
        <p:nvSpPr>
          <p:cNvPr id="14" name="Shape 11">
            <a:extLst>
              <a:ext uri="{FF2B5EF4-FFF2-40B4-BE49-F238E27FC236}">
                <a16:creationId xmlns:a16="http://schemas.microsoft.com/office/drawing/2014/main" id="{B8593319-DC22-4F1C-9831-193E4E0B399A}"/>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5" name="Text 12">
            <a:extLst>
              <a:ext uri="{FF2B5EF4-FFF2-40B4-BE49-F238E27FC236}">
                <a16:creationId xmlns:a16="http://schemas.microsoft.com/office/drawing/2014/main" id="{E89F89DE-C9BF-42E9-9E95-165690FCBB2E}"/>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VERTEX AI, AUGUST</a:t>
            </a:r>
            <a:endParaRPr sz="1200"/>
          </a:p>
        </p:txBody>
      </p:sp>
      <p:sp>
        <p:nvSpPr>
          <p:cNvPr id="16" name="Text 13">
            <a:extLst>
              <a:ext uri="{FF2B5EF4-FFF2-40B4-BE49-F238E27FC236}">
                <a16:creationId xmlns:a16="http://schemas.microsoft.com/office/drawing/2014/main" id="{CBD94C71-3262-4FE4-BBCB-54480F517B14}"/>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$1,522</a:t>
            </a:r>
            <a:endParaRPr sz="2800"/>
          </a:p>
        </p:txBody>
      </p:sp>
      <p:sp>
        <p:nvSpPr>
          <p:cNvPr id="17" name="Text 14">
            <a:extLst>
              <a:ext uri="{FF2B5EF4-FFF2-40B4-BE49-F238E27FC236}">
                <a16:creationId xmlns:a16="http://schemas.microsoft.com/office/drawing/2014/main" id="{EA9ED2C1-F72E-4207-9CA0-4E7066FD7C7C}"/>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B07CFF"/>
                </a:solidFill>
                <a:latin typeface="Calibri"/>
                <a:ea typeface="Calibri"/>
                <a:cs typeface="Calibri"/>
              </a:rPr>
              <a:t>−36% on July</a:t>
            </a:r>
            <a:endParaRPr sz="1200"/>
          </a:p>
        </p:txBody>
      </p:sp>
      <p:sp>
        <p:nvSpPr>
          <p:cNvPr id="18" name="Shape 15">
            <a:extLst>
              <a:ext uri="{FF2B5EF4-FFF2-40B4-BE49-F238E27FC236}">
                <a16:creationId xmlns:a16="http://schemas.microsoft.com/office/drawing/2014/main" id="{26619510-A1BF-40BD-89C7-2153A76705DC}"/>
              </a:ext>
            </a:extLst>
          </p:cNvPr>
          <p:cNvSpPr>
            <a:spLocks noGrp="1"/>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9" name="Text 16">
            <a:extLst>
              <a:ext uri="{FF2B5EF4-FFF2-40B4-BE49-F238E27FC236}">
                <a16:creationId xmlns:a16="http://schemas.microsoft.com/office/drawing/2014/main" id="{49560C56-0C03-4939-8BCC-D06CA316B774}"/>
              </a:ext>
            </a:extLst>
          </p:cNvPr>
          <p:cNvSpPr>
            <a:spLocks noGrp="1"/>
          </p:cNvSpPr>
          <p:nvPr/>
        </p:nvSpPr>
        <p:spPr>
          <a:xfrm>
            <a:off x="8293608" y="3776472"/>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EVERYTHING ELSE</a:t>
            </a:r>
            <a:endParaRPr sz="1200"/>
          </a:p>
        </p:txBody>
      </p:sp>
      <p:sp>
        <p:nvSpPr>
          <p:cNvPr id="20" name="Text 17">
            <a:extLst>
              <a:ext uri="{FF2B5EF4-FFF2-40B4-BE49-F238E27FC236}">
                <a16:creationId xmlns:a16="http://schemas.microsoft.com/office/drawing/2014/main" id="{11FDF6EA-7E81-4A55-A9B9-58AE763109AC}"/>
              </a:ext>
            </a:extLst>
          </p:cNvPr>
          <p:cNvSpPr>
            <a:spLocks noGrp="1"/>
          </p:cNvSpPr>
          <p:nvPr/>
        </p:nvSpPr>
        <p:spPr>
          <a:xfrm>
            <a:off x="8293608" y="3977640"/>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flat</a:t>
            </a:r>
            <a:endParaRPr sz="2800"/>
          </a:p>
        </p:txBody>
      </p:sp>
      <p:sp>
        <p:nvSpPr>
          <p:cNvPr id="21" name="Text 18">
            <a:extLst>
              <a:ext uri="{FF2B5EF4-FFF2-40B4-BE49-F238E27FC236}">
                <a16:creationId xmlns:a16="http://schemas.microsoft.com/office/drawing/2014/main" id="{64EDF18F-237F-497B-854E-D00F3CDD0B51}"/>
              </a:ext>
            </a:extLst>
          </p:cNvPr>
          <p:cNvSpPr>
            <a:spLocks noGrp="1"/>
          </p:cNvSpPr>
          <p:nvPr/>
        </p:nvSpPr>
        <p:spPr>
          <a:xfrm>
            <a:off x="8293608" y="4379976"/>
            <a:ext cx="3239719" cy="329184"/>
          </a:xfrm>
          <a:prstGeom prst="rect">
            <a:avLst/>
          </a:prstGeom>
          <a:noFill/>
        </p:spPr>
        <p:txBody>
          <a:bodyPr wrap="square" lIns="0" tIns="0" rIns="0" bIns="0" anchor="t"/>
          <a:lstStyle/>
          <a:p>
            <a:pPr marL="0" indent="0">
              <a:lnSpc>
                <a:spcPct val="105000"/>
              </a:lnSpc>
              <a:buNone/>
            </a:pPr>
            <a:r>
              <a:rPr sz="1200" b="1">
                <a:solidFill>
                  <a:srgbClr val="91A0B7"/>
                </a:solidFill>
                <a:latin typeface="Calibri"/>
                <a:ea typeface="Calibri"/>
                <a:cs typeface="Calibri"/>
              </a:rPr>
              <a:t>Compute, networking and DNS unchanged</a:t>
            </a:r>
            <a:endParaRPr sz="1200"/>
          </a:p>
        </p:txBody>
      </p:sp>
    </p:spTree>
    <p:extLst>
      <p:ext uri="{BB962C8B-B14F-4D97-AF65-F5344CB8AC3E}">
        <p14:creationId xmlns:p14="http://schemas.microsoft.com/office/powerpoint/2010/main" val="1970081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89751AF-008E-4050-8806-0E0CDFBC99D7}"/>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A62F779C-0F10-4E18-8BD5-68F9F70ED381}"/>
              </a:ext>
            </a:extLst>
          </p:cNvPr>
          <p:cNvSpPr>
            <a:spLocks noGrp="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a:p>
        </p:txBody>
      </p:sp>
      <p:sp>
        <p:nvSpPr>
          <p:cNvPr id="4" name="Text 2">
            <a:extLst>
              <a:ext uri="{FF2B5EF4-FFF2-40B4-BE49-F238E27FC236}">
                <a16:creationId xmlns:a16="http://schemas.microsoft.com/office/drawing/2014/main" id="{286EB1FE-195A-4EC1-9C5F-87407A1CB85D}"/>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2F8CFF"/>
                </a:solidFill>
                <a:latin typeface="Calibri"/>
                <a:ea typeface="Calibri"/>
                <a:cs typeface="Calibri"/>
              </a:rPr>
              <a:t>AZURE / SERVICES</a:t>
            </a:r>
            <a:endParaRPr sz="1300"/>
          </a:p>
        </p:txBody>
      </p:sp>
      <p:sp>
        <p:nvSpPr>
          <p:cNvPr id="5" name="Text 3">
            <a:extLst>
              <a:ext uri="{FF2B5EF4-FFF2-40B4-BE49-F238E27FC236}">
                <a16:creationId xmlns:a16="http://schemas.microsoft.com/office/drawing/2014/main" id="{56C00C8C-5C29-4777-A587-13A115F04890}"/>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Consumption by service name</a:t>
            </a:r>
            <a:endParaRPr sz="2800"/>
          </a:p>
        </p:txBody>
      </p:sp>
      <p:sp>
        <p:nvSpPr>
          <p:cNvPr id="6" name="Text 4">
            <a:extLst>
              <a:ext uri="{FF2B5EF4-FFF2-40B4-BE49-F238E27FC236}">
                <a16:creationId xmlns:a16="http://schemas.microsoft.com/office/drawing/2014/main" id="{C18392A3-90A6-466B-B0A2-358E44FE466E}"/>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Same total, cut by service. Charges exclude Marketplace purchases.</a:t>
            </a:r>
            <a:endParaRPr sz="1200"/>
          </a:p>
        </p:txBody>
      </p:sp>
      <p:sp>
        <p:nvSpPr>
          <p:cNvPr id="7" name="Text 5">
            <a:extLst>
              <a:ext uri="{FF2B5EF4-FFF2-40B4-BE49-F238E27FC236}">
                <a16:creationId xmlns:a16="http://schemas.microsoft.com/office/drawing/2014/main" id="{78BEEE33-A909-473C-A53C-5892FE02D029}"/>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service</a:t>
            </a:r>
            <a:endParaRPr sz="1500"/>
          </a:p>
        </p:txBody>
      </p:sp>
      <p:graphicFrame>
        <p:nvGraphicFramePr>
          <p:cNvPr id="31"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a:extLst>
              <a:ext uri="{FF2B5EF4-FFF2-40B4-BE49-F238E27FC236}">
                <a16:creationId xmlns:a16="http://schemas.microsoft.com/office/drawing/2014/main" id="{7A9FEBBA-79C9-4C33-83A0-969204AEB96B}"/>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0" name="Text 7">
            <a:extLst>
              <a:ext uri="{FF2B5EF4-FFF2-40B4-BE49-F238E27FC236}">
                <a16:creationId xmlns:a16="http://schemas.microsoft.com/office/drawing/2014/main" id="{8BEE7D71-15CA-497F-BC06-F61B6E41D4D8}"/>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JAN-AUG</a:t>
            </a:r>
            <a:endParaRPr sz="1200"/>
          </a:p>
        </p:txBody>
      </p:sp>
      <p:sp>
        <p:nvSpPr>
          <p:cNvPr id="11" name="Text 8">
            <a:extLst>
              <a:ext uri="{FF2B5EF4-FFF2-40B4-BE49-F238E27FC236}">
                <a16:creationId xmlns:a16="http://schemas.microsoft.com/office/drawing/2014/main" id="{90098472-11B3-4259-93C7-EAD1706D1CC3}"/>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$1.30M</a:t>
            </a:r>
            <a:endParaRPr sz="2800"/>
          </a:p>
        </p:txBody>
      </p:sp>
      <p:sp>
        <p:nvSpPr>
          <p:cNvPr id="12" name="Text 9">
            <a:extLst>
              <a:ext uri="{FF2B5EF4-FFF2-40B4-BE49-F238E27FC236}">
                <a16:creationId xmlns:a16="http://schemas.microsoft.com/office/drawing/2014/main" id="{96EB73C8-6761-45CE-942B-C513EAD4EC15}"/>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−3.6% Jul to Aug</a:t>
            </a:r>
            <a:endParaRPr sz="1200"/>
          </a:p>
        </p:txBody>
      </p:sp>
      <p:sp>
        <p:nvSpPr>
          <p:cNvPr id="13" name="Shape 10">
            <a:extLst>
              <a:ext uri="{FF2B5EF4-FFF2-40B4-BE49-F238E27FC236}">
                <a16:creationId xmlns:a16="http://schemas.microsoft.com/office/drawing/2014/main" id="{5518599B-41D6-48D6-848E-4F7852FE1054}"/>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4" name="Text 11">
            <a:extLst>
              <a:ext uri="{FF2B5EF4-FFF2-40B4-BE49-F238E27FC236}">
                <a16:creationId xmlns:a16="http://schemas.microsoft.com/office/drawing/2014/main" id="{043C94DA-452F-4418-81E1-F7E286DF0B65}"/>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SERVICE</a:t>
            </a:r>
            <a:endParaRPr sz="1200"/>
          </a:p>
        </p:txBody>
      </p:sp>
      <p:sp>
        <p:nvSpPr>
          <p:cNvPr id="15" name="Text 12">
            <a:extLst>
              <a:ext uri="{FF2B5EF4-FFF2-40B4-BE49-F238E27FC236}">
                <a16:creationId xmlns:a16="http://schemas.microsoft.com/office/drawing/2014/main" id="{39C1751D-1801-4A1D-9EF3-BE582E394BFC}"/>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613" b="1">
                <a:solidFill>
                  <a:srgbClr val="F4F7FB"/>
                </a:solidFill>
                <a:latin typeface="Calibri"/>
                <a:ea typeface="Calibri"/>
                <a:cs typeface="Calibri"/>
              </a:rPr>
              <a:t>Virtual Machines</a:t>
            </a:r>
            <a:endParaRPr sz="2613"/>
          </a:p>
        </p:txBody>
      </p:sp>
      <p:sp>
        <p:nvSpPr>
          <p:cNvPr id="16" name="Text 13">
            <a:extLst>
              <a:ext uri="{FF2B5EF4-FFF2-40B4-BE49-F238E27FC236}">
                <a16:creationId xmlns:a16="http://schemas.microsoft.com/office/drawing/2014/main" id="{185D3231-5EF2-4FC0-82DB-F4550FA6C0DC}"/>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25% of August</a:t>
            </a:r>
            <a:endParaRPr sz="1200"/>
          </a:p>
        </p:txBody>
      </p:sp>
      <p:sp>
        <p:nvSpPr>
          <p:cNvPr id="17" name="Text 14">
            <a:extLst>
              <a:ext uri="{FF2B5EF4-FFF2-40B4-BE49-F238E27FC236}">
                <a16:creationId xmlns:a16="http://schemas.microsoft.com/office/drawing/2014/main" id="{500F3F42-6B27-473B-B087-B71234614BA3}"/>
              </a:ext>
            </a:extLst>
          </p:cNvPr>
          <p:cNvSpPr>
            <a:spLocks noGrp="1"/>
          </p:cNvSpPr>
          <p:nvPr/>
        </p:nvSpPr>
        <p:spPr>
          <a:xfrm>
            <a:off x="8110728" y="3822192"/>
            <a:ext cx="3605479" cy="219456"/>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WHAT MOVED</a:t>
            </a:r>
            <a:endParaRPr sz="1200"/>
          </a:p>
        </p:txBody>
      </p:sp>
      <p:sp>
        <p:nvSpPr>
          <p:cNvPr id="18" name="Shape 15">
            <a:extLst>
              <a:ext uri="{FF2B5EF4-FFF2-40B4-BE49-F238E27FC236}">
                <a16:creationId xmlns:a16="http://schemas.microsoft.com/office/drawing/2014/main" id="{D3A1E646-D5D3-41E4-B3B5-0FD0BDFECB0E}"/>
              </a:ext>
            </a:extLst>
          </p:cNvPr>
          <p:cNvSpPr>
            <a:spLocks noGrp="1"/>
          </p:cNvSpPr>
          <p:nvPr/>
        </p:nvSpPr>
        <p:spPr>
          <a:xfrm>
            <a:off x="8110728" y="4197096"/>
            <a:ext cx="64008" cy="64008"/>
          </a:xfrm>
          <a:prstGeom prst="rect">
            <a:avLst/>
          </a:prstGeom>
          <a:solidFill>
            <a:srgbClr val="2F8CFF"/>
          </a:solidFill>
          <a:ln w="12700">
            <a:solidFill>
              <a:srgbClr val="2F8CFF"/>
            </a:solidFill>
            <a:prstDash val="solid"/>
          </a:ln>
        </p:spPr>
        <p:txBody>
          <a:bodyPr/>
          <a:lstStyle/>
          <a:p>
            <a:endParaRPr/>
          </a:p>
        </p:txBody>
      </p:sp>
      <p:sp>
        <p:nvSpPr>
          <p:cNvPr id="19" name="Text 16">
            <a:extLst>
              <a:ext uri="{FF2B5EF4-FFF2-40B4-BE49-F238E27FC236}">
                <a16:creationId xmlns:a16="http://schemas.microsoft.com/office/drawing/2014/main" id="{962B33C1-946B-416C-8C28-B229953B302F}"/>
              </a:ext>
            </a:extLst>
          </p:cNvPr>
          <p:cNvSpPr>
            <a:spLocks noGrp="1"/>
          </p:cNvSpPr>
          <p:nvPr/>
        </p:nvSpPr>
        <p:spPr>
          <a:xfrm>
            <a:off x="8284464" y="4114800"/>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Virtual Machines fell $8,826, the largest single move</a:t>
            </a:r>
            <a:endParaRPr sz="1250"/>
          </a:p>
        </p:txBody>
      </p:sp>
      <p:sp>
        <p:nvSpPr>
          <p:cNvPr id="20" name="Shape 17">
            <a:extLst>
              <a:ext uri="{FF2B5EF4-FFF2-40B4-BE49-F238E27FC236}">
                <a16:creationId xmlns:a16="http://schemas.microsoft.com/office/drawing/2014/main" id="{5B9EA5A0-6945-4BF7-B5A6-856F2E374696}"/>
              </a:ext>
            </a:extLst>
          </p:cNvPr>
          <p:cNvSpPr>
            <a:spLocks noGrp="1"/>
          </p:cNvSpPr>
          <p:nvPr/>
        </p:nvSpPr>
        <p:spPr>
          <a:xfrm>
            <a:off x="8110728" y="4764024"/>
            <a:ext cx="64008" cy="64008"/>
          </a:xfrm>
          <a:prstGeom prst="rect">
            <a:avLst/>
          </a:prstGeom>
          <a:solidFill>
            <a:srgbClr val="2F8CFF"/>
          </a:solidFill>
          <a:ln w="12700">
            <a:solidFill>
              <a:srgbClr val="2F8CFF"/>
            </a:solidFill>
            <a:prstDash val="solid"/>
          </a:ln>
        </p:spPr>
        <p:txBody>
          <a:bodyPr/>
          <a:lstStyle/>
          <a:p>
            <a:endParaRPr/>
          </a:p>
        </p:txBody>
      </p:sp>
      <p:sp>
        <p:nvSpPr>
          <p:cNvPr id="21" name="Text 18">
            <a:extLst>
              <a:ext uri="{FF2B5EF4-FFF2-40B4-BE49-F238E27FC236}">
                <a16:creationId xmlns:a16="http://schemas.microsoft.com/office/drawing/2014/main" id="{22D4D714-007E-4D7A-A15B-259E5F780C64}"/>
              </a:ext>
            </a:extLst>
          </p:cNvPr>
          <p:cNvSpPr>
            <a:spLocks noGrp="1"/>
          </p:cNvSpPr>
          <p:nvPr/>
        </p:nvSpPr>
        <p:spPr>
          <a:xfrm>
            <a:off x="8284464" y="4681728"/>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GitHub rose again, $19.3K to $24.0K</a:t>
            </a:r>
            <a:endParaRPr sz="1250"/>
          </a:p>
        </p:txBody>
      </p:sp>
      <p:sp>
        <p:nvSpPr>
          <p:cNvPr id="22" name="Shape 19">
            <a:extLst>
              <a:ext uri="{FF2B5EF4-FFF2-40B4-BE49-F238E27FC236}">
                <a16:creationId xmlns:a16="http://schemas.microsoft.com/office/drawing/2014/main" id="{61275110-E131-4CB8-9C57-69E9F5A36704}"/>
              </a:ext>
            </a:extLst>
          </p:cNvPr>
          <p:cNvSpPr>
            <a:spLocks noGrp="1"/>
          </p:cNvSpPr>
          <p:nvPr/>
        </p:nvSpPr>
        <p:spPr>
          <a:xfrm>
            <a:off x="8110728" y="5330952"/>
            <a:ext cx="64008" cy="64008"/>
          </a:xfrm>
          <a:prstGeom prst="rect">
            <a:avLst/>
          </a:prstGeom>
          <a:solidFill>
            <a:srgbClr val="2F8CFF"/>
          </a:solidFill>
          <a:ln w="12700">
            <a:solidFill>
              <a:srgbClr val="2F8CFF"/>
            </a:solidFill>
            <a:prstDash val="solid"/>
          </a:ln>
        </p:spPr>
        <p:txBody>
          <a:bodyPr/>
          <a:lstStyle/>
          <a:p>
            <a:endParaRPr/>
          </a:p>
        </p:txBody>
      </p:sp>
      <p:sp>
        <p:nvSpPr>
          <p:cNvPr id="23" name="Text 20">
            <a:extLst>
              <a:ext uri="{FF2B5EF4-FFF2-40B4-BE49-F238E27FC236}">
                <a16:creationId xmlns:a16="http://schemas.microsoft.com/office/drawing/2014/main" id="{BA114222-7F50-47C8-8D12-1D8BE2C9DC57}"/>
              </a:ext>
            </a:extLst>
          </p:cNvPr>
          <p:cNvSpPr>
            <a:spLocks noGrp="1"/>
          </p:cNvSpPr>
          <p:nvPr/>
        </p:nvSpPr>
        <p:spPr>
          <a:xfrm>
            <a:off x="8284464" y="5248656"/>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Databricks stays at $0 — drawn against the pre-purchase</a:t>
            </a:r>
            <a:endParaRPr sz="1250"/>
          </a:p>
        </p:txBody>
      </p:sp>
    </p:spTree>
    <p:extLst>
      <p:ext uri="{BB962C8B-B14F-4D97-AF65-F5344CB8AC3E}">
        <p14:creationId xmlns:p14="http://schemas.microsoft.com/office/powerpoint/2010/main" val="1039688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7EA08E0-6A08-41B1-8DEB-142E050DDCF6}"/>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6A5D318A-85A0-4887-915B-216EDD9CC716}"/>
              </a:ext>
            </a:extLst>
          </p:cNvPr>
          <p:cNvSpPr>
            <a:spLocks noGrp="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a:p>
        </p:txBody>
      </p:sp>
      <p:sp>
        <p:nvSpPr>
          <p:cNvPr id="4" name="Text 2">
            <a:extLst>
              <a:ext uri="{FF2B5EF4-FFF2-40B4-BE49-F238E27FC236}">
                <a16:creationId xmlns:a16="http://schemas.microsoft.com/office/drawing/2014/main" id="{B6764723-0DA6-4221-8598-15836E382B18}"/>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2F8CFF"/>
                </a:solidFill>
                <a:latin typeface="Calibri"/>
                <a:ea typeface="Calibri"/>
                <a:cs typeface="Calibri"/>
              </a:rPr>
              <a:t>AZURE / DATACLOUD</a:t>
            </a:r>
            <a:endParaRPr sz="1300"/>
          </a:p>
        </p:txBody>
      </p:sp>
      <p:sp>
        <p:nvSpPr>
          <p:cNvPr id="5" name="Text 3">
            <a:extLst>
              <a:ext uri="{FF2B5EF4-FFF2-40B4-BE49-F238E27FC236}">
                <a16:creationId xmlns:a16="http://schemas.microsoft.com/office/drawing/2014/main" id="{403CE1E0-E151-49BA-8019-B0A8C86A68F7}"/>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Cost centre: DataCloud</a:t>
            </a:r>
            <a:endParaRPr sz="2800"/>
          </a:p>
        </p:txBody>
      </p:sp>
      <p:sp>
        <p:nvSpPr>
          <p:cNvPr id="6" name="Text 4">
            <a:extLst>
              <a:ext uri="{FF2B5EF4-FFF2-40B4-BE49-F238E27FC236}">
                <a16:creationId xmlns:a16="http://schemas.microsoft.com/office/drawing/2014/main" id="{D19F441F-6155-43CA-8CC5-E575BE736DC4}"/>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The largest Azure cost centre, by service and by subscription.</a:t>
            </a:r>
            <a:endParaRPr sz="1200"/>
          </a:p>
        </p:txBody>
      </p:sp>
      <p:sp>
        <p:nvSpPr>
          <p:cNvPr id="7" name="Text 5">
            <a:extLst>
              <a:ext uri="{FF2B5EF4-FFF2-40B4-BE49-F238E27FC236}">
                <a16:creationId xmlns:a16="http://schemas.microsoft.com/office/drawing/2014/main" id="{A09C66BD-66BE-4445-BAD5-81BCA3DA397B}"/>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Databricks has billed at $0 since May, drawn against the April pre-purchase. Foundry Models rose again to $8,991 and is now the growth line here.</a:t>
            </a:r>
            <a:endParaRPr sz="1200"/>
          </a:p>
        </p:txBody>
      </p:sp>
      <p:sp>
        <p:nvSpPr>
          <p:cNvPr id="8" name="Shape 6">
            <a:extLst>
              <a:ext uri="{FF2B5EF4-FFF2-40B4-BE49-F238E27FC236}">
                <a16:creationId xmlns:a16="http://schemas.microsoft.com/office/drawing/2014/main" id="{629EAAA9-BB78-4CC3-BF7B-BC65211F6E44}"/>
              </a:ext>
            </a:extLst>
          </p:cNvPr>
          <p:cNvSpPr>
            <a:spLocks noGrp="1"/>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9" name="Text 7">
            <a:extLst>
              <a:ext uri="{FF2B5EF4-FFF2-40B4-BE49-F238E27FC236}">
                <a16:creationId xmlns:a16="http://schemas.microsoft.com/office/drawing/2014/main" id="{ED14AF2A-B4DF-4802-8849-F4FDCC3F79CE}"/>
              </a:ext>
            </a:extLst>
          </p:cNvPr>
          <p:cNvSpPr>
            <a:spLocks noGrp="1"/>
          </p:cNvSpPr>
          <p:nvPr/>
        </p:nvSpPr>
        <p:spPr>
          <a:xfrm>
            <a:off x="658368"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JAN-AUG</a:t>
            </a:r>
            <a:endParaRPr sz="1200"/>
          </a:p>
        </p:txBody>
      </p:sp>
      <p:sp>
        <p:nvSpPr>
          <p:cNvPr id="10" name="Text 8">
            <a:extLst>
              <a:ext uri="{FF2B5EF4-FFF2-40B4-BE49-F238E27FC236}">
                <a16:creationId xmlns:a16="http://schemas.microsoft.com/office/drawing/2014/main" id="{0FA76D10-7CA4-4A14-A5B4-C6EA2CE94A54}"/>
              </a:ext>
            </a:extLst>
          </p:cNvPr>
          <p:cNvSpPr>
            <a:spLocks noGrp="1"/>
          </p:cNvSpPr>
          <p:nvPr/>
        </p:nvSpPr>
        <p:spPr>
          <a:xfrm>
            <a:off x="658368" y="14813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$390K</a:t>
            </a:r>
            <a:endParaRPr sz="2800"/>
          </a:p>
        </p:txBody>
      </p:sp>
      <p:sp>
        <p:nvSpPr>
          <p:cNvPr id="11" name="Text 9">
            <a:extLst>
              <a:ext uri="{FF2B5EF4-FFF2-40B4-BE49-F238E27FC236}">
                <a16:creationId xmlns:a16="http://schemas.microsoft.com/office/drawing/2014/main" id="{88E208EA-C0CC-472F-AF92-B983F0AFBDE5}"/>
              </a:ext>
            </a:extLst>
          </p:cNvPr>
          <p:cNvSpPr>
            <a:spLocks noGrp="1"/>
          </p:cNvSpPr>
          <p:nvPr/>
        </p:nvSpPr>
        <p:spPr>
          <a:xfrm>
            <a:off x="658368" y="1883664"/>
            <a:ext cx="3204362"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+3.6% Jul to Aug</a:t>
            </a:r>
            <a:endParaRPr sz="1200"/>
          </a:p>
        </p:txBody>
      </p:sp>
      <p:sp>
        <p:nvSpPr>
          <p:cNvPr id="12" name="Shape 10">
            <a:extLst>
              <a:ext uri="{FF2B5EF4-FFF2-40B4-BE49-F238E27FC236}">
                <a16:creationId xmlns:a16="http://schemas.microsoft.com/office/drawing/2014/main" id="{04F985A0-76B3-427E-BB0F-595D781F7297}"/>
              </a:ext>
            </a:extLst>
          </p:cNvPr>
          <p:cNvSpPr>
            <a:spLocks noGrp="1"/>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3" name="Text 11">
            <a:extLst>
              <a:ext uri="{FF2B5EF4-FFF2-40B4-BE49-F238E27FC236}">
                <a16:creationId xmlns:a16="http://schemas.microsoft.com/office/drawing/2014/main" id="{EC88F483-2095-480B-879C-FA6B93BCBE03}"/>
              </a:ext>
            </a:extLst>
          </p:cNvPr>
          <p:cNvSpPr>
            <a:spLocks noGrp="1"/>
          </p:cNvSpPr>
          <p:nvPr/>
        </p:nvSpPr>
        <p:spPr>
          <a:xfrm>
            <a:off x="4493666"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SUBSCRIPTION</a:t>
            </a:r>
            <a:endParaRPr sz="1200"/>
          </a:p>
        </p:txBody>
      </p:sp>
      <p:sp>
        <p:nvSpPr>
          <p:cNvPr id="14" name="Text 12">
            <a:extLst>
              <a:ext uri="{FF2B5EF4-FFF2-40B4-BE49-F238E27FC236}">
                <a16:creationId xmlns:a16="http://schemas.microsoft.com/office/drawing/2014/main" id="{276DC9A7-B546-4840-8F6B-409A0D77861E}"/>
              </a:ext>
            </a:extLst>
          </p:cNvPr>
          <p:cNvSpPr>
            <a:spLocks noGrp="1"/>
          </p:cNvSpPr>
          <p:nvPr/>
        </p:nvSpPr>
        <p:spPr>
          <a:xfrm>
            <a:off x="4493666" y="14813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DataCloud prod</a:t>
            </a:r>
            <a:endParaRPr sz="2800"/>
          </a:p>
        </p:txBody>
      </p:sp>
      <p:sp>
        <p:nvSpPr>
          <p:cNvPr id="15" name="Text 13">
            <a:extLst>
              <a:ext uri="{FF2B5EF4-FFF2-40B4-BE49-F238E27FC236}">
                <a16:creationId xmlns:a16="http://schemas.microsoft.com/office/drawing/2014/main" id="{2F7FACCA-E46A-4DA0-86E8-1C8A45DF24D0}"/>
              </a:ext>
            </a:extLst>
          </p:cNvPr>
          <p:cNvSpPr>
            <a:spLocks noGrp="1"/>
          </p:cNvSpPr>
          <p:nvPr/>
        </p:nvSpPr>
        <p:spPr>
          <a:xfrm>
            <a:off x="4493666"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76% of August</a:t>
            </a:r>
            <a:endParaRPr sz="1200"/>
          </a:p>
        </p:txBody>
      </p:sp>
      <p:sp>
        <p:nvSpPr>
          <p:cNvPr id="16" name="Shape 14">
            <a:extLst>
              <a:ext uri="{FF2B5EF4-FFF2-40B4-BE49-F238E27FC236}">
                <a16:creationId xmlns:a16="http://schemas.microsoft.com/office/drawing/2014/main" id="{191E7004-A840-4B02-9837-FDDB360996FA}"/>
              </a:ext>
            </a:extLst>
          </p:cNvPr>
          <p:cNvSpPr>
            <a:spLocks noGrp="1"/>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7" name="Text 15">
            <a:extLst>
              <a:ext uri="{FF2B5EF4-FFF2-40B4-BE49-F238E27FC236}">
                <a16:creationId xmlns:a16="http://schemas.microsoft.com/office/drawing/2014/main" id="{862CDCB5-6070-4D1D-922B-9027266A7F96}"/>
              </a:ext>
            </a:extLst>
          </p:cNvPr>
          <p:cNvSpPr>
            <a:spLocks noGrp="1"/>
          </p:cNvSpPr>
          <p:nvPr/>
        </p:nvSpPr>
        <p:spPr>
          <a:xfrm>
            <a:off x="8328965"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SERVICE</a:t>
            </a:r>
            <a:endParaRPr sz="1200"/>
          </a:p>
        </p:txBody>
      </p:sp>
      <p:sp>
        <p:nvSpPr>
          <p:cNvPr id="18" name="Text 16">
            <a:extLst>
              <a:ext uri="{FF2B5EF4-FFF2-40B4-BE49-F238E27FC236}">
                <a16:creationId xmlns:a16="http://schemas.microsoft.com/office/drawing/2014/main" id="{3074C136-E7F6-48AD-BCB5-C35F04AFF7E7}"/>
              </a:ext>
            </a:extLst>
          </p:cNvPr>
          <p:cNvSpPr>
            <a:spLocks noGrp="1"/>
          </p:cNvSpPr>
          <p:nvPr/>
        </p:nvSpPr>
        <p:spPr>
          <a:xfrm>
            <a:off x="8328965" y="1481328"/>
            <a:ext cx="3204362" cy="438912"/>
          </a:xfrm>
          <a:prstGeom prst="rect">
            <a:avLst/>
          </a:prstGeom>
          <a:noFill/>
        </p:spPr>
        <p:txBody>
          <a:bodyPr wrap="square" lIns="0" tIns="0" rIns="0" bIns="0" anchor="ctr"/>
          <a:lstStyle/>
          <a:p>
            <a:pPr marL="0" indent="0">
              <a:buNone/>
            </a:pPr>
            <a:r>
              <a:rPr sz="2584" b="1">
                <a:solidFill>
                  <a:srgbClr val="F4F7FB"/>
                </a:solidFill>
                <a:latin typeface="Calibri"/>
                <a:ea typeface="Calibri"/>
                <a:cs typeface="Calibri"/>
              </a:rPr>
              <a:t>Virtual Machines</a:t>
            </a:r>
            <a:endParaRPr sz="2584"/>
          </a:p>
        </p:txBody>
      </p:sp>
      <p:sp>
        <p:nvSpPr>
          <p:cNvPr id="19" name="Text 17">
            <a:extLst>
              <a:ext uri="{FF2B5EF4-FFF2-40B4-BE49-F238E27FC236}">
                <a16:creationId xmlns:a16="http://schemas.microsoft.com/office/drawing/2014/main" id="{9421D9B5-55F8-41D8-8C1A-9EB7E3950C18}"/>
              </a:ext>
            </a:extLst>
          </p:cNvPr>
          <p:cNvSpPr>
            <a:spLocks noGrp="1"/>
          </p:cNvSpPr>
          <p:nvPr/>
        </p:nvSpPr>
        <p:spPr>
          <a:xfrm>
            <a:off x="8328965"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22% of August</a:t>
            </a:r>
            <a:endParaRPr sz="1200"/>
          </a:p>
        </p:txBody>
      </p:sp>
      <p:sp>
        <p:nvSpPr>
          <p:cNvPr id="20" name="Text 18">
            <a:extLst>
              <a:ext uri="{FF2B5EF4-FFF2-40B4-BE49-F238E27FC236}">
                <a16:creationId xmlns:a16="http://schemas.microsoft.com/office/drawing/2014/main" id="{BFB95CD9-1DF9-49BC-8685-EE29FD057EF7}"/>
              </a:ext>
            </a:extLst>
          </p:cNvPr>
          <p:cNvSpPr>
            <a:spLocks noGrp="1"/>
          </p:cNvSpPr>
          <p:nvPr/>
        </p:nvSpPr>
        <p:spPr>
          <a:xfrm>
            <a:off x="457200"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service</a:t>
            </a:r>
            <a:endParaRPr sz="1500"/>
          </a:p>
        </p:txBody>
      </p:sp>
      <p:graphicFrame>
        <p:nvGraphicFramePr>
          <p:cNvPr id="44"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a:extLst>
              <a:ext uri="{FF2B5EF4-FFF2-40B4-BE49-F238E27FC236}">
                <a16:creationId xmlns:a16="http://schemas.microsoft.com/office/drawing/2014/main" id="{09CEBF44-C53A-4C93-AD6F-DCA877141EA3}"/>
              </a:ext>
            </a:extLst>
          </p:cNvPr>
          <p:cNvSpPr>
            <a:spLocks noGrp="1"/>
          </p:cNvSpPr>
          <p:nvPr/>
        </p:nvSpPr>
        <p:spPr>
          <a:xfrm>
            <a:off x="6255868"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subscription</a:t>
            </a:r>
            <a:endParaRPr sz="1500"/>
          </a:p>
        </p:txBody>
      </p:sp>
      <p:graphicFrame>
        <p:nvGraphicFramePr>
          <p:cNvPr id="46"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81975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84D6DE7-5741-4ECC-888F-9784C6132BEE}"/>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2652000B-5B37-48B2-95E8-94162681C9BD}"/>
              </a:ext>
            </a:extLst>
          </p:cNvPr>
          <p:cNvSpPr>
            <a:spLocks noGrp="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a:p>
        </p:txBody>
      </p:sp>
      <p:sp>
        <p:nvSpPr>
          <p:cNvPr id="4" name="Text 2">
            <a:extLst>
              <a:ext uri="{FF2B5EF4-FFF2-40B4-BE49-F238E27FC236}">
                <a16:creationId xmlns:a16="http://schemas.microsoft.com/office/drawing/2014/main" id="{BD5DC145-4708-4FCC-9757-C328CC2C5123}"/>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2F8CFF"/>
                </a:solidFill>
                <a:latin typeface="Calibri"/>
                <a:ea typeface="Calibri"/>
                <a:cs typeface="Calibri"/>
              </a:rPr>
              <a:t>AZURE / SAP</a:t>
            </a:r>
            <a:endParaRPr sz="1300"/>
          </a:p>
        </p:txBody>
      </p:sp>
      <p:sp>
        <p:nvSpPr>
          <p:cNvPr id="5" name="Text 3">
            <a:extLst>
              <a:ext uri="{FF2B5EF4-FFF2-40B4-BE49-F238E27FC236}">
                <a16:creationId xmlns:a16="http://schemas.microsoft.com/office/drawing/2014/main" id="{0667A829-9739-4873-89E4-80F106B4A782}"/>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Cost centre: SAP</a:t>
            </a:r>
            <a:endParaRPr sz="2800"/>
          </a:p>
        </p:txBody>
      </p:sp>
      <p:sp>
        <p:nvSpPr>
          <p:cNvPr id="6" name="Text 4">
            <a:extLst>
              <a:ext uri="{FF2B5EF4-FFF2-40B4-BE49-F238E27FC236}">
                <a16:creationId xmlns:a16="http://schemas.microsoft.com/office/drawing/2014/main" id="{4185A978-C546-4806-8A19-A1B2F2751B9A}"/>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The most stable large workload in the estate, and still the best candidate for reservations.</a:t>
            </a:r>
            <a:endParaRPr sz="1200"/>
          </a:p>
        </p:txBody>
      </p:sp>
      <p:sp>
        <p:nvSpPr>
          <p:cNvPr id="7" name="Text 5">
            <a:extLst>
              <a:ext uri="{FF2B5EF4-FFF2-40B4-BE49-F238E27FC236}">
                <a16:creationId xmlns:a16="http://schemas.microsoft.com/office/drawing/2014/main" id="{B63DE47C-FD38-4372-A98D-C3CA29E7A378}"/>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Dev/Test has cost more than Production in every month of the year. Virtual machines are roughly three quarters of the bill and barely vary — a flat, reservable profile that is still on demand.</a:t>
            </a:r>
            <a:endParaRPr sz="1200"/>
          </a:p>
        </p:txBody>
      </p:sp>
      <p:sp>
        <p:nvSpPr>
          <p:cNvPr id="8" name="Shape 6">
            <a:extLst>
              <a:ext uri="{FF2B5EF4-FFF2-40B4-BE49-F238E27FC236}">
                <a16:creationId xmlns:a16="http://schemas.microsoft.com/office/drawing/2014/main" id="{940AAA05-61B9-4A84-87EC-EB545C6B0D54}"/>
              </a:ext>
            </a:extLst>
          </p:cNvPr>
          <p:cNvSpPr>
            <a:spLocks noGrp="1"/>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9" name="Text 7">
            <a:extLst>
              <a:ext uri="{FF2B5EF4-FFF2-40B4-BE49-F238E27FC236}">
                <a16:creationId xmlns:a16="http://schemas.microsoft.com/office/drawing/2014/main" id="{85269707-941E-48AC-B3D9-DF6185E8C206}"/>
              </a:ext>
            </a:extLst>
          </p:cNvPr>
          <p:cNvSpPr>
            <a:spLocks noGrp="1"/>
          </p:cNvSpPr>
          <p:nvPr/>
        </p:nvSpPr>
        <p:spPr>
          <a:xfrm>
            <a:off x="658368"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JAN-AUG</a:t>
            </a:r>
            <a:endParaRPr sz="1200"/>
          </a:p>
        </p:txBody>
      </p:sp>
      <p:sp>
        <p:nvSpPr>
          <p:cNvPr id="10" name="Text 8">
            <a:extLst>
              <a:ext uri="{FF2B5EF4-FFF2-40B4-BE49-F238E27FC236}">
                <a16:creationId xmlns:a16="http://schemas.microsoft.com/office/drawing/2014/main" id="{7EE90275-0D40-42DE-BF6E-A2D2C7F5E33B}"/>
              </a:ext>
            </a:extLst>
          </p:cNvPr>
          <p:cNvSpPr>
            <a:spLocks noGrp="1"/>
          </p:cNvSpPr>
          <p:nvPr/>
        </p:nvSpPr>
        <p:spPr>
          <a:xfrm>
            <a:off x="658368" y="14813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$335K</a:t>
            </a:r>
            <a:endParaRPr sz="2800"/>
          </a:p>
        </p:txBody>
      </p:sp>
      <p:sp>
        <p:nvSpPr>
          <p:cNvPr id="11" name="Text 9">
            <a:extLst>
              <a:ext uri="{FF2B5EF4-FFF2-40B4-BE49-F238E27FC236}">
                <a16:creationId xmlns:a16="http://schemas.microsoft.com/office/drawing/2014/main" id="{A0B49FB6-F844-4F5E-8835-675A32D99D70}"/>
              </a:ext>
            </a:extLst>
          </p:cNvPr>
          <p:cNvSpPr>
            <a:spLocks noGrp="1"/>
          </p:cNvSpPr>
          <p:nvPr/>
        </p:nvSpPr>
        <p:spPr>
          <a:xfrm>
            <a:off x="658368" y="1883664"/>
            <a:ext cx="3204362"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+1.0% Jul to Aug</a:t>
            </a:r>
            <a:endParaRPr sz="1200"/>
          </a:p>
        </p:txBody>
      </p:sp>
      <p:sp>
        <p:nvSpPr>
          <p:cNvPr id="12" name="Shape 10">
            <a:extLst>
              <a:ext uri="{FF2B5EF4-FFF2-40B4-BE49-F238E27FC236}">
                <a16:creationId xmlns:a16="http://schemas.microsoft.com/office/drawing/2014/main" id="{D377AC7A-B3B2-4E2F-A48A-AD834283CC78}"/>
              </a:ext>
            </a:extLst>
          </p:cNvPr>
          <p:cNvSpPr>
            <a:spLocks noGrp="1"/>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3" name="Text 11">
            <a:extLst>
              <a:ext uri="{FF2B5EF4-FFF2-40B4-BE49-F238E27FC236}">
                <a16:creationId xmlns:a16="http://schemas.microsoft.com/office/drawing/2014/main" id="{9A8102A3-159E-425A-9286-884770B4BB51}"/>
              </a:ext>
            </a:extLst>
          </p:cNvPr>
          <p:cNvSpPr>
            <a:spLocks noGrp="1"/>
          </p:cNvSpPr>
          <p:nvPr/>
        </p:nvSpPr>
        <p:spPr>
          <a:xfrm>
            <a:off x="4493666"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SUBSCRIPTION</a:t>
            </a:r>
            <a:endParaRPr sz="1200"/>
          </a:p>
        </p:txBody>
      </p:sp>
      <p:sp>
        <p:nvSpPr>
          <p:cNvPr id="14" name="Text 12">
            <a:extLst>
              <a:ext uri="{FF2B5EF4-FFF2-40B4-BE49-F238E27FC236}">
                <a16:creationId xmlns:a16="http://schemas.microsoft.com/office/drawing/2014/main" id="{F4FF4629-CB87-446C-9150-AAB41005CE4A}"/>
              </a:ext>
            </a:extLst>
          </p:cNvPr>
          <p:cNvSpPr>
            <a:spLocks noGrp="1"/>
          </p:cNvSpPr>
          <p:nvPr/>
        </p:nvSpPr>
        <p:spPr>
          <a:xfrm>
            <a:off x="4493666" y="14813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SAP Dev/Test</a:t>
            </a:r>
            <a:endParaRPr sz="2800"/>
          </a:p>
        </p:txBody>
      </p:sp>
      <p:sp>
        <p:nvSpPr>
          <p:cNvPr id="15" name="Text 13">
            <a:extLst>
              <a:ext uri="{FF2B5EF4-FFF2-40B4-BE49-F238E27FC236}">
                <a16:creationId xmlns:a16="http://schemas.microsoft.com/office/drawing/2014/main" id="{8EB7622D-3347-423A-B888-91090A30DD7D}"/>
              </a:ext>
            </a:extLst>
          </p:cNvPr>
          <p:cNvSpPr>
            <a:spLocks noGrp="1"/>
          </p:cNvSpPr>
          <p:nvPr/>
        </p:nvSpPr>
        <p:spPr>
          <a:xfrm>
            <a:off x="4493666"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56% of August</a:t>
            </a:r>
            <a:endParaRPr sz="1200"/>
          </a:p>
        </p:txBody>
      </p:sp>
      <p:sp>
        <p:nvSpPr>
          <p:cNvPr id="16" name="Shape 14">
            <a:extLst>
              <a:ext uri="{FF2B5EF4-FFF2-40B4-BE49-F238E27FC236}">
                <a16:creationId xmlns:a16="http://schemas.microsoft.com/office/drawing/2014/main" id="{B277DF33-8D69-4823-BAAE-3A4EF9A929A9}"/>
              </a:ext>
            </a:extLst>
          </p:cNvPr>
          <p:cNvSpPr>
            <a:spLocks noGrp="1"/>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7" name="Text 15">
            <a:extLst>
              <a:ext uri="{FF2B5EF4-FFF2-40B4-BE49-F238E27FC236}">
                <a16:creationId xmlns:a16="http://schemas.microsoft.com/office/drawing/2014/main" id="{AC62EEED-D444-449E-A250-76EEF0BB9446}"/>
              </a:ext>
            </a:extLst>
          </p:cNvPr>
          <p:cNvSpPr>
            <a:spLocks noGrp="1"/>
          </p:cNvSpPr>
          <p:nvPr/>
        </p:nvSpPr>
        <p:spPr>
          <a:xfrm>
            <a:off x="8328965"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SERVICE</a:t>
            </a:r>
            <a:endParaRPr sz="1200"/>
          </a:p>
        </p:txBody>
      </p:sp>
      <p:sp>
        <p:nvSpPr>
          <p:cNvPr id="18" name="Text 16">
            <a:extLst>
              <a:ext uri="{FF2B5EF4-FFF2-40B4-BE49-F238E27FC236}">
                <a16:creationId xmlns:a16="http://schemas.microsoft.com/office/drawing/2014/main" id="{1A9058FB-DA88-4506-820E-26EC05DB31C8}"/>
              </a:ext>
            </a:extLst>
          </p:cNvPr>
          <p:cNvSpPr>
            <a:spLocks noGrp="1"/>
          </p:cNvSpPr>
          <p:nvPr/>
        </p:nvSpPr>
        <p:spPr>
          <a:xfrm>
            <a:off x="8328965" y="1481328"/>
            <a:ext cx="3204362" cy="438912"/>
          </a:xfrm>
          <a:prstGeom prst="rect">
            <a:avLst/>
          </a:prstGeom>
          <a:noFill/>
        </p:spPr>
        <p:txBody>
          <a:bodyPr wrap="square" lIns="0" tIns="0" rIns="0" bIns="0" anchor="ctr"/>
          <a:lstStyle/>
          <a:p>
            <a:pPr marL="0" indent="0">
              <a:buNone/>
            </a:pPr>
            <a:r>
              <a:rPr sz="2584" b="1">
                <a:solidFill>
                  <a:srgbClr val="F4F7FB"/>
                </a:solidFill>
                <a:latin typeface="Calibri"/>
                <a:ea typeface="Calibri"/>
                <a:cs typeface="Calibri"/>
              </a:rPr>
              <a:t>Virtual Machines</a:t>
            </a:r>
            <a:endParaRPr sz="2584"/>
          </a:p>
        </p:txBody>
      </p:sp>
      <p:sp>
        <p:nvSpPr>
          <p:cNvPr id="19" name="Text 17">
            <a:extLst>
              <a:ext uri="{FF2B5EF4-FFF2-40B4-BE49-F238E27FC236}">
                <a16:creationId xmlns:a16="http://schemas.microsoft.com/office/drawing/2014/main" id="{32BE7D7B-C487-4565-9D01-D903BA1DA211}"/>
              </a:ext>
            </a:extLst>
          </p:cNvPr>
          <p:cNvSpPr>
            <a:spLocks noGrp="1"/>
          </p:cNvSpPr>
          <p:nvPr/>
        </p:nvSpPr>
        <p:spPr>
          <a:xfrm>
            <a:off x="8328965"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74% of August</a:t>
            </a:r>
            <a:endParaRPr sz="1200"/>
          </a:p>
        </p:txBody>
      </p:sp>
      <p:sp>
        <p:nvSpPr>
          <p:cNvPr id="20" name="Text 18">
            <a:extLst>
              <a:ext uri="{FF2B5EF4-FFF2-40B4-BE49-F238E27FC236}">
                <a16:creationId xmlns:a16="http://schemas.microsoft.com/office/drawing/2014/main" id="{AE01A042-6158-4F70-ADA6-85CB0924908A}"/>
              </a:ext>
            </a:extLst>
          </p:cNvPr>
          <p:cNvSpPr>
            <a:spLocks noGrp="1"/>
          </p:cNvSpPr>
          <p:nvPr/>
        </p:nvSpPr>
        <p:spPr>
          <a:xfrm>
            <a:off x="457200"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service</a:t>
            </a:r>
            <a:endParaRPr sz="1500"/>
          </a:p>
        </p:txBody>
      </p:sp>
      <p:graphicFrame>
        <p:nvGraphicFramePr>
          <p:cNvPr id="44"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a:extLst>
              <a:ext uri="{FF2B5EF4-FFF2-40B4-BE49-F238E27FC236}">
                <a16:creationId xmlns:a16="http://schemas.microsoft.com/office/drawing/2014/main" id="{CAAAB21C-EBE6-4924-8889-442BFD69A3CB}"/>
              </a:ext>
            </a:extLst>
          </p:cNvPr>
          <p:cNvSpPr>
            <a:spLocks noGrp="1"/>
          </p:cNvSpPr>
          <p:nvPr/>
        </p:nvSpPr>
        <p:spPr>
          <a:xfrm>
            <a:off x="6255868"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subscription</a:t>
            </a:r>
            <a:endParaRPr sz="1500"/>
          </a:p>
        </p:txBody>
      </p:sp>
      <p:graphicFrame>
        <p:nvGraphicFramePr>
          <p:cNvPr id="46"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79304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7A045FD-A36B-4A6F-95F8-C73D64AB723D}"/>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63707572-9A84-4787-A3A1-5FC5B67274CC}"/>
              </a:ext>
            </a:extLst>
          </p:cNvPr>
          <p:cNvSpPr>
            <a:spLocks noGrp="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a:p>
        </p:txBody>
      </p:sp>
      <p:sp>
        <p:nvSpPr>
          <p:cNvPr id="4" name="Text 2">
            <a:extLst>
              <a:ext uri="{FF2B5EF4-FFF2-40B4-BE49-F238E27FC236}">
                <a16:creationId xmlns:a16="http://schemas.microsoft.com/office/drawing/2014/main" id="{A4A5A7EF-52AA-4E60-A307-FC49655406D8}"/>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2F8CFF"/>
                </a:solidFill>
                <a:latin typeface="Calibri"/>
                <a:ea typeface="Calibri"/>
                <a:cs typeface="Calibri"/>
              </a:rPr>
              <a:t>AZURE / CLOUD IT</a:t>
            </a:r>
            <a:endParaRPr sz="1300"/>
          </a:p>
        </p:txBody>
      </p:sp>
      <p:sp>
        <p:nvSpPr>
          <p:cNvPr id="5" name="Text 3">
            <a:extLst>
              <a:ext uri="{FF2B5EF4-FFF2-40B4-BE49-F238E27FC236}">
                <a16:creationId xmlns:a16="http://schemas.microsoft.com/office/drawing/2014/main" id="{B686028F-A7B3-4329-B486-F543E76AE977}"/>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Cost centre: Cloud IT</a:t>
            </a:r>
            <a:endParaRPr sz="2800"/>
          </a:p>
        </p:txBody>
      </p:sp>
      <p:sp>
        <p:nvSpPr>
          <p:cNvPr id="6" name="Text 4">
            <a:extLst>
              <a:ext uri="{FF2B5EF4-FFF2-40B4-BE49-F238E27FC236}">
                <a16:creationId xmlns:a16="http://schemas.microsoft.com/office/drawing/2014/main" id="{F07711EE-F2FA-495E-89A4-C9DEB2085628}"/>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Shared platform services: network, monitoring and security for everyone else.</a:t>
            </a:r>
            <a:endParaRPr sz="1200"/>
          </a:p>
        </p:txBody>
      </p:sp>
      <p:sp>
        <p:nvSpPr>
          <p:cNvPr id="7" name="Text 5">
            <a:extLst>
              <a:ext uri="{FF2B5EF4-FFF2-40B4-BE49-F238E27FC236}">
                <a16:creationId xmlns:a16="http://schemas.microsoft.com/office/drawing/2014/main" id="{3B149403-544C-465D-8234-F656C58E84DC}"/>
              </a:ext>
            </a:extLst>
          </p:cNvPr>
          <p:cNvSpPr>
            <a:spLocks noGrp="1"/>
          </p:cNvSpPr>
          <p:nvPr/>
        </p:nvSpPr>
        <p:spPr>
          <a:xfrm>
            <a:off x="457200" y="6355080"/>
            <a:ext cx="11277295" cy="228600"/>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Log Analytics and Sentinel have both come down since the March spike. Virtual network is now the largest line and carries the underlying growth.</a:t>
            </a:r>
            <a:endParaRPr sz="1200"/>
          </a:p>
        </p:txBody>
      </p:sp>
      <p:sp>
        <p:nvSpPr>
          <p:cNvPr id="8" name="Shape 6">
            <a:extLst>
              <a:ext uri="{FF2B5EF4-FFF2-40B4-BE49-F238E27FC236}">
                <a16:creationId xmlns:a16="http://schemas.microsoft.com/office/drawing/2014/main" id="{B9AB7A9E-C9DE-429A-BEE1-6A0FFD6EBFA7}"/>
              </a:ext>
            </a:extLst>
          </p:cNvPr>
          <p:cNvSpPr>
            <a:spLocks noGrp="1"/>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9" name="Text 7">
            <a:extLst>
              <a:ext uri="{FF2B5EF4-FFF2-40B4-BE49-F238E27FC236}">
                <a16:creationId xmlns:a16="http://schemas.microsoft.com/office/drawing/2014/main" id="{685EDBC5-4AD9-48FC-A0A8-11EBCA9E8EF8}"/>
              </a:ext>
            </a:extLst>
          </p:cNvPr>
          <p:cNvSpPr>
            <a:spLocks noGrp="1"/>
          </p:cNvSpPr>
          <p:nvPr/>
        </p:nvSpPr>
        <p:spPr>
          <a:xfrm>
            <a:off x="658368"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JAN-AUG</a:t>
            </a:r>
            <a:endParaRPr sz="1200"/>
          </a:p>
        </p:txBody>
      </p:sp>
      <p:sp>
        <p:nvSpPr>
          <p:cNvPr id="10" name="Text 8">
            <a:extLst>
              <a:ext uri="{FF2B5EF4-FFF2-40B4-BE49-F238E27FC236}">
                <a16:creationId xmlns:a16="http://schemas.microsoft.com/office/drawing/2014/main" id="{93D498C6-B9C0-4BC9-A19C-B8FEDFE59055}"/>
              </a:ext>
            </a:extLst>
          </p:cNvPr>
          <p:cNvSpPr>
            <a:spLocks noGrp="1"/>
          </p:cNvSpPr>
          <p:nvPr/>
        </p:nvSpPr>
        <p:spPr>
          <a:xfrm>
            <a:off x="658368" y="14813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$248K</a:t>
            </a:r>
            <a:endParaRPr sz="2800"/>
          </a:p>
        </p:txBody>
      </p:sp>
      <p:sp>
        <p:nvSpPr>
          <p:cNvPr id="11" name="Text 9">
            <a:extLst>
              <a:ext uri="{FF2B5EF4-FFF2-40B4-BE49-F238E27FC236}">
                <a16:creationId xmlns:a16="http://schemas.microsoft.com/office/drawing/2014/main" id="{D0373655-C52F-408A-819C-3824F203B0D7}"/>
              </a:ext>
            </a:extLst>
          </p:cNvPr>
          <p:cNvSpPr>
            <a:spLocks noGrp="1"/>
          </p:cNvSpPr>
          <p:nvPr/>
        </p:nvSpPr>
        <p:spPr>
          <a:xfrm>
            <a:off x="658368" y="1883664"/>
            <a:ext cx="3204362"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−4.0% Jul to Aug</a:t>
            </a:r>
            <a:endParaRPr sz="1200"/>
          </a:p>
        </p:txBody>
      </p:sp>
      <p:sp>
        <p:nvSpPr>
          <p:cNvPr id="12" name="Shape 10">
            <a:extLst>
              <a:ext uri="{FF2B5EF4-FFF2-40B4-BE49-F238E27FC236}">
                <a16:creationId xmlns:a16="http://schemas.microsoft.com/office/drawing/2014/main" id="{03BE0959-B548-4AE5-93B1-8FB9D03A5459}"/>
              </a:ext>
            </a:extLst>
          </p:cNvPr>
          <p:cNvSpPr>
            <a:spLocks noGrp="1"/>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3" name="Text 11">
            <a:extLst>
              <a:ext uri="{FF2B5EF4-FFF2-40B4-BE49-F238E27FC236}">
                <a16:creationId xmlns:a16="http://schemas.microsoft.com/office/drawing/2014/main" id="{98B4AA08-3469-4722-AB74-888AD90568D1}"/>
              </a:ext>
            </a:extLst>
          </p:cNvPr>
          <p:cNvSpPr>
            <a:spLocks noGrp="1"/>
          </p:cNvSpPr>
          <p:nvPr/>
        </p:nvSpPr>
        <p:spPr>
          <a:xfrm>
            <a:off x="4493666"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SUBSCRIPTION</a:t>
            </a:r>
            <a:endParaRPr sz="1200"/>
          </a:p>
        </p:txBody>
      </p:sp>
      <p:sp>
        <p:nvSpPr>
          <p:cNvPr id="14" name="Text 12">
            <a:extLst>
              <a:ext uri="{FF2B5EF4-FFF2-40B4-BE49-F238E27FC236}">
                <a16:creationId xmlns:a16="http://schemas.microsoft.com/office/drawing/2014/main" id="{50825C31-63AE-4FE1-AAD6-D8898F6DA450}"/>
              </a:ext>
            </a:extLst>
          </p:cNvPr>
          <p:cNvSpPr>
            <a:spLocks noGrp="1"/>
          </p:cNvSpPr>
          <p:nvPr/>
        </p:nvSpPr>
        <p:spPr>
          <a:xfrm>
            <a:off x="4493666" y="1481328"/>
            <a:ext cx="3204362" cy="438912"/>
          </a:xfrm>
          <a:prstGeom prst="rect">
            <a:avLst/>
          </a:prstGeom>
          <a:noFill/>
        </p:spPr>
        <p:txBody>
          <a:bodyPr wrap="square" lIns="0" tIns="0" rIns="0" bIns="0" anchor="ctr"/>
          <a:lstStyle/>
          <a:p>
            <a:pPr marL="0" indent="0">
              <a:buNone/>
            </a:pPr>
            <a:r>
              <a:rPr sz="2584" b="1">
                <a:solidFill>
                  <a:srgbClr val="F4F7FB"/>
                </a:solidFill>
                <a:latin typeface="Calibri"/>
                <a:ea typeface="Calibri"/>
                <a:cs typeface="Calibri"/>
              </a:rPr>
              <a:t>Prod</a:t>
            </a:r>
            <a:endParaRPr sz="2584"/>
          </a:p>
        </p:txBody>
      </p:sp>
      <p:sp>
        <p:nvSpPr>
          <p:cNvPr id="15" name="Text 13">
            <a:extLst>
              <a:ext uri="{FF2B5EF4-FFF2-40B4-BE49-F238E27FC236}">
                <a16:creationId xmlns:a16="http://schemas.microsoft.com/office/drawing/2014/main" id="{A7BF002B-A31B-46C6-ACBC-D0FC65B1F539}"/>
              </a:ext>
            </a:extLst>
          </p:cNvPr>
          <p:cNvSpPr>
            <a:spLocks noGrp="1"/>
          </p:cNvSpPr>
          <p:nvPr/>
        </p:nvSpPr>
        <p:spPr>
          <a:xfrm>
            <a:off x="4493666"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58% of August</a:t>
            </a:r>
            <a:endParaRPr sz="1200"/>
          </a:p>
        </p:txBody>
      </p:sp>
      <p:sp>
        <p:nvSpPr>
          <p:cNvPr id="16" name="Shape 14">
            <a:extLst>
              <a:ext uri="{FF2B5EF4-FFF2-40B4-BE49-F238E27FC236}">
                <a16:creationId xmlns:a16="http://schemas.microsoft.com/office/drawing/2014/main" id="{B407A759-2318-4A97-95FD-C7401BB150D5}"/>
              </a:ext>
            </a:extLst>
          </p:cNvPr>
          <p:cNvSpPr>
            <a:spLocks noGrp="1"/>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7" name="Text 15">
            <a:extLst>
              <a:ext uri="{FF2B5EF4-FFF2-40B4-BE49-F238E27FC236}">
                <a16:creationId xmlns:a16="http://schemas.microsoft.com/office/drawing/2014/main" id="{F0445D66-ACE4-4AB0-9DE3-9EDF57BC2CF0}"/>
              </a:ext>
            </a:extLst>
          </p:cNvPr>
          <p:cNvSpPr>
            <a:spLocks noGrp="1"/>
          </p:cNvSpPr>
          <p:nvPr/>
        </p:nvSpPr>
        <p:spPr>
          <a:xfrm>
            <a:off x="8328965"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SERVICE</a:t>
            </a:r>
            <a:endParaRPr sz="1200"/>
          </a:p>
        </p:txBody>
      </p:sp>
      <p:sp>
        <p:nvSpPr>
          <p:cNvPr id="18" name="Text 16">
            <a:extLst>
              <a:ext uri="{FF2B5EF4-FFF2-40B4-BE49-F238E27FC236}">
                <a16:creationId xmlns:a16="http://schemas.microsoft.com/office/drawing/2014/main" id="{2D543CC6-0CB3-488A-A5BA-76B0F3B6E5F9}"/>
              </a:ext>
            </a:extLst>
          </p:cNvPr>
          <p:cNvSpPr>
            <a:spLocks noGrp="1"/>
          </p:cNvSpPr>
          <p:nvPr/>
        </p:nvSpPr>
        <p:spPr>
          <a:xfrm>
            <a:off x="8328965" y="1481328"/>
            <a:ext cx="3204362" cy="438912"/>
          </a:xfrm>
          <a:prstGeom prst="rect">
            <a:avLst/>
          </a:prstGeom>
          <a:noFill/>
        </p:spPr>
        <p:txBody>
          <a:bodyPr wrap="square" lIns="0" tIns="0" rIns="0" bIns="0" anchor="ctr"/>
          <a:lstStyle/>
          <a:p>
            <a:pPr marL="0" indent="0">
              <a:buNone/>
            </a:pPr>
            <a:r>
              <a:rPr sz="2757" b="1">
                <a:solidFill>
                  <a:srgbClr val="F4F7FB"/>
                </a:solidFill>
                <a:latin typeface="Calibri"/>
                <a:ea typeface="Calibri"/>
                <a:cs typeface="Calibri"/>
              </a:rPr>
              <a:t>Virtual Network</a:t>
            </a:r>
            <a:endParaRPr sz="2757"/>
          </a:p>
        </p:txBody>
      </p:sp>
      <p:sp>
        <p:nvSpPr>
          <p:cNvPr id="19" name="Text 17">
            <a:extLst>
              <a:ext uri="{FF2B5EF4-FFF2-40B4-BE49-F238E27FC236}">
                <a16:creationId xmlns:a16="http://schemas.microsoft.com/office/drawing/2014/main" id="{B468B6F3-2E10-47BA-8BF3-2C9E90DDD7BB}"/>
              </a:ext>
            </a:extLst>
          </p:cNvPr>
          <p:cNvSpPr>
            <a:spLocks noGrp="1"/>
          </p:cNvSpPr>
          <p:nvPr/>
        </p:nvSpPr>
        <p:spPr>
          <a:xfrm>
            <a:off x="8328965"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31% of August</a:t>
            </a:r>
            <a:endParaRPr sz="1200"/>
          </a:p>
        </p:txBody>
      </p:sp>
      <p:sp>
        <p:nvSpPr>
          <p:cNvPr id="20" name="Text 18">
            <a:extLst>
              <a:ext uri="{FF2B5EF4-FFF2-40B4-BE49-F238E27FC236}">
                <a16:creationId xmlns:a16="http://schemas.microsoft.com/office/drawing/2014/main" id="{9D5F67E7-2611-49EA-88BA-A0E0084722CF}"/>
              </a:ext>
            </a:extLst>
          </p:cNvPr>
          <p:cNvSpPr>
            <a:spLocks noGrp="1"/>
          </p:cNvSpPr>
          <p:nvPr/>
        </p:nvSpPr>
        <p:spPr>
          <a:xfrm>
            <a:off x="457200"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service</a:t>
            </a:r>
            <a:endParaRPr sz="1500"/>
          </a:p>
        </p:txBody>
      </p:sp>
      <p:graphicFrame>
        <p:nvGraphicFramePr>
          <p:cNvPr id="44"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a:extLst>
              <a:ext uri="{FF2B5EF4-FFF2-40B4-BE49-F238E27FC236}">
                <a16:creationId xmlns:a16="http://schemas.microsoft.com/office/drawing/2014/main" id="{C7F68169-EB40-44B7-8343-08DA03032A20}"/>
              </a:ext>
            </a:extLst>
          </p:cNvPr>
          <p:cNvSpPr>
            <a:spLocks noGrp="1"/>
          </p:cNvSpPr>
          <p:nvPr/>
        </p:nvSpPr>
        <p:spPr>
          <a:xfrm>
            <a:off x="6255868"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subscription</a:t>
            </a:r>
            <a:endParaRPr sz="1500"/>
          </a:p>
        </p:txBody>
      </p:sp>
      <p:graphicFrame>
        <p:nvGraphicFramePr>
          <p:cNvPr id="46"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10894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6322</Words>
  <Application>Microsoft Office PowerPoint</Application>
  <DocSecurity>0</DocSecurity>
  <PresentationFormat>Widescreen</PresentationFormat>
  <Paragraphs>817</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Ariel</cp:lastModifiedBy>
  <cp:revision>5</cp:revision>
  <dcterms:created xsi:type="dcterms:W3CDTF">2026-08-19T08:23:37Z</dcterms:created>
  <dcterms:modified xsi:type="dcterms:W3CDTF">2026-08-19T09:56:36Z</dcterms:modified>
</cp:coreProperties>
</file>