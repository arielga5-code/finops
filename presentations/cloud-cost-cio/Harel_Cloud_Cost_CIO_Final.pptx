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6.xml" ContentType="application/vnd.openxmlformats-officedocument.drawingml.chart+xml"/>
  <Override PartName="/ppt/notesSlides/notesSlide31.xml" ContentType="application/vnd.openxmlformats-officedocument.presentationml.notesSlide+xml"/>
  <Override PartName="/ppt/charts/chart7.xml" ContentType="application/vnd.openxmlformats-officedocument.drawingml.chart+xml"/>
  <Override PartName="/ppt/notesSlides/notesSlide32.xml" ContentType="application/vnd.openxmlformats-officedocument.presentationml.notesSlide+xml"/>
  <Override PartName="/ppt/charts/chart8.xml" ContentType="application/vnd.openxmlformats-officedocument.drawingml.chart+xml"/>
  <Override PartName="/ppt/notesSlides/notesSlide33.xml" ContentType="application/vnd.openxmlformats-officedocument.presentationml.notesSlide+xml"/>
  <Override PartName="/ppt/charts/chart9.xml" ContentType="application/vnd.openxmlformats-officedocument.drawingml.chart+xml"/>
  <Override PartName="/ppt/notesSlides/notesSlide34.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35.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36.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80" r:id="rId23"/>
    <p:sldId id="278" r:id="rId24"/>
    <p:sldId id="281" r:id="rId25"/>
    <p:sldId id="282" r:id="rId26"/>
    <p:sldId id="283" r:id="rId27"/>
    <p:sldId id="284" r:id="rId28"/>
    <p:sldId id="279" r:id="rId29"/>
    <p:sldId id="285" r:id="rId30"/>
    <p:sldId id="286" r:id="rId31"/>
    <p:sldId id="287" r:id="rId32"/>
    <p:sldId id="288" r:id="rId33"/>
    <p:sldId id="289" r:id="rId34"/>
    <p:sldId id="290" r:id="rId35"/>
    <p:sldId id="291"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Base case</c:v>
          </c:tx>
          <c:spPr>
            <a:ln w="38100">
              <a:solidFill>
                <a:srgbClr val="6EC8FF"/>
              </a:solidFill>
              <a:prstDash val="solid"/>
            </a:ln>
          </c:spPr>
          <c:marker>
            <c:symbol val="none"/>
          </c:marker>
          <c:cat>
            <c:strLit>
              <c:ptCount val="6"/>
              <c:pt idx="0">
                <c:v>Jul</c:v>
              </c:pt>
              <c:pt idx="1">
                <c:v>Aug</c:v>
              </c:pt>
              <c:pt idx="2">
                <c:v>Sep</c:v>
              </c:pt>
              <c:pt idx="3">
                <c:v>Oct</c:v>
              </c:pt>
              <c:pt idx="4">
                <c:v>Nov</c:v>
              </c:pt>
              <c:pt idx="5">
                <c:v>Dec</c:v>
              </c:pt>
            </c:strLit>
          </c:cat>
          <c:val>
            <c:numLit>
              <c:formatCode>\$0.0"M"</c:formatCode>
              <c:ptCount val="6"/>
              <c:pt idx="0">
                <c:v>3.4026480000000001</c:v>
              </c:pt>
              <c:pt idx="1">
                <c:v>3.5179200000000002</c:v>
              </c:pt>
              <c:pt idx="2">
                <c:v>3.6363120000000002</c:v>
              </c:pt>
              <c:pt idx="3">
                <c:v>3.7578960000000001</c:v>
              </c:pt>
              <c:pt idx="4">
                <c:v>3.8827919999999998</c:v>
              </c:pt>
              <c:pt idx="5">
                <c:v>4.0110720000000004</c:v>
              </c:pt>
            </c:numLit>
          </c:val>
          <c:smooth val="1"/>
          <c:extLst>
            <c:ext xmlns:c16="http://schemas.microsoft.com/office/drawing/2014/chart" uri="{C3380CC4-5D6E-409C-BE32-E72D297353CC}">
              <c16:uniqueId val="{00000000-44D8-4ABC-ABF4-D166E8F59752}"/>
            </c:ext>
          </c:extLst>
        </c:ser>
        <c:ser>
          <c:idx val="1"/>
          <c:order val="1"/>
          <c:tx>
            <c:v>Faster case</c:v>
          </c:tx>
          <c:spPr>
            <a:ln w="38100">
              <a:solidFill>
                <a:srgbClr val="FF9B5C"/>
              </a:solidFill>
              <a:prstDash val="solid"/>
            </a:ln>
          </c:spPr>
          <c:marker>
            <c:symbol val="none"/>
          </c:marker>
          <c:cat>
            <c:strLit>
              <c:ptCount val="6"/>
              <c:pt idx="0">
                <c:v>Jul</c:v>
              </c:pt>
              <c:pt idx="1">
                <c:v>Aug</c:v>
              </c:pt>
              <c:pt idx="2">
                <c:v>Sep</c:v>
              </c:pt>
              <c:pt idx="3">
                <c:v>Oct</c:v>
              </c:pt>
              <c:pt idx="4">
                <c:v>Nov</c:v>
              </c:pt>
              <c:pt idx="5">
                <c:v>Dec</c:v>
              </c:pt>
            </c:strLit>
          </c:cat>
          <c:val>
            <c:numLit>
              <c:formatCode>\$0.0"M"</c:formatCode>
              <c:ptCount val="6"/>
              <c:pt idx="0">
                <c:v>3.4026480000000001</c:v>
              </c:pt>
              <c:pt idx="1">
                <c:v>3.778848</c:v>
              </c:pt>
              <c:pt idx="2">
                <c:v>4.1984760000000003</c:v>
              </c:pt>
              <c:pt idx="3">
                <c:v>4.6670280000000002</c:v>
              </c:pt>
              <c:pt idx="4">
                <c:v>5.1907079999999999</c:v>
              </c:pt>
              <c:pt idx="5">
                <c:v>5.7765360000000001</c:v>
              </c:pt>
            </c:numLit>
          </c:val>
          <c:smooth val="1"/>
          <c:extLst>
            <c:ext xmlns:c16="http://schemas.microsoft.com/office/drawing/2014/chart" uri="{C3380CC4-5D6E-409C-BE32-E72D297353CC}">
              <c16:uniqueId val="{00000001-44D8-4ABC-ABF4-D166E8F59752}"/>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536078"/>
            </a:solidFill>
            <a:prstDash val="solid"/>
          </a:ln>
        </c:spPr>
        <c:txPr>
          <a:bodyPr anchorCtr="1"/>
          <a:lstStyle/>
          <a:p>
            <a:pPr>
              <a:defRPr sz="975">
                <a:solidFill>
                  <a:srgbClr val="C5CCDA"/>
                </a:solidFil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26364D"/>
              </a:solidFill>
              <a:prstDash val="solid"/>
            </a:ln>
          </c:spPr>
        </c:majorGridlines>
        <c:numFmt formatCode="\$0.0&quot;M&quot;" sourceLinked="1"/>
        <c:majorTickMark val="none"/>
        <c:minorTickMark val="none"/>
        <c:tickLblPos val="nextTo"/>
        <c:spPr>
          <a:ln w="0">
            <a:noFill/>
          </a:ln>
        </c:spPr>
        <c:txPr>
          <a:bodyPr anchorCtr="1"/>
          <a:lstStyle/>
          <a:p>
            <a:pPr>
              <a:defRPr sz="900">
                <a:solidFill>
                  <a:srgbClr val="8D99AE"/>
                </a:solidFill>
              </a:defRPr>
            </a:pPr>
            <a:endParaRPr lang="en-US"/>
          </a:p>
        </c:txPr>
        <c:crossAx val="48650112"/>
        <c:crosses val="autoZero"/>
        <c:crossBetween val="between"/>
        <c:majorUnit val="1"/>
      </c:valAx>
      <c:spPr>
        <a:solidFill>
          <a:srgbClr val="071424"/>
        </a:solidFill>
        <a:ln w="0">
          <a:noFill/>
        </a:ln>
      </c:spPr>
    </c:plotArea>
    <c:legend>
      <c:legendPos val="b"/>
      <c:overlay val="0"/>
      <c:txPr>
        <a:bodyPr anchorCtr="1"/>
        <a:lstStyle/>
        <a:p>
          <a:pPr>
            <a:defRPr sz="1125" b="1">
              <a:solidFill>
                <a:srgbClr val="C5CCDA"/>
              </a:solidFill>
            </a:defRPr>
          </a:pPr>
          <a:endParaRPr lang="en-US"/>
        </a:p>
      </c:txPr>
    </c:legend>
    <c:plotVisOnly val="1"/>
    <c:dispBlanksAs val="zero"/>
    <c:showDLblsOverMax val="1"/>
  </c:chart>
  <c:spPr>
    <a:solidFill>
      <a:srgbClr val="071424"/>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Total</c:v>
                </c:pt>
              </c:strCache>
            </c:strRef>
          </c:tx>
          <c:spPr>
            <a:solidFill>
              <a:srgbClr val="2F8CFF"/>
            </a:solidFill>
          </c:spPr>
          <c:invertIfNegative val="1"/>
          <c:dLbls>
            <c:numFmt formatCode="&quot;$&quot;#,##0" sourceLinked="0"/>
            <c:spPr>
              <a:noFill/>
              <a:ln>
                <a:noFill/>
              </a:ln>
              <a:effectLst/>
            </c:spPr>
            <c:txPr>
              <a:bodyPr anchorCtr="1"/>
              <a:lstStyle/>
              <a:p>
                <a:pPr>
                  <a:defRPr sz="1100" b="0" i="0" u="none">
                    <a:solidFill>
                      <a:srgbClr val="F4F7FB"/>
                    </a:solidFill>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Application Gateway</c:v>
                </c:pt>
                <c:pt idx="1">
                  <c:v>Storage</c:v>
                </c:pt>
                <c:pt idx="2">
                  <c:v>SQL Database</c:v>
                </c:pt>
                <c:pt idx="3">
                  <c:v>Virtual Network</c:v>
                </c:pt>
                <c:pt idx="4">
                  <c:v>Microsoft Defender for Cloud</c:v>
                </c:pt>
                <c:pt idx="5">
                  <c:v>Azure Database for PostgreSQL</c:v>
                </c:pt>
                <c:pt idx="6">
                  <c:v>14 smaller services</c:v>
                </c:pt>
                <c:pt idx="7">
                  <c:v>Virtual Machines</c:v>
                </c:pt>
                <c:pt idx="8">
                  <c:v>API Management</c:v>
                </c:pt>
              </c:strCache>
            </c:strRef>
          </c:cat>
          <c:val>
            <c:numRef>
              <c:f>Sheet1!$B$2:$B$10</c:f>
              <c:numCache>
                <c:formatCode>General</c:formatCode>
                <c:ptCount val="9"/>
                <c:pt idx="0">
                  <c:v>2136.5100000000002</c:v>
                </c:pt>
                <c:pt idx="1">
                  <c:v>2240.92</c:v>
                </c:pt>
                <c:pt idx="2">
                  <c:v>2415.87</c:v>
                </c:pt>
                <c:pt idx="3">
                  <c:v>3450.26</c:v>
                </c:pt>
                <c:pt idx="4">
                  <c:v>4141.0600000000004</c:v>
                </c:pt>
                <c:pt idx="5">
                  <c:v>5331.4299999999994</c:v>
                </c:pt>
                <c:pt idx="6">
                  <c:v>10176.409999999998</c:v>
                </c:pt>
                <c:pt idx="7">
                  <c:v>23493.350000000006</c:v>
                </c:pt>
                <c:pt idx="8">
                  <c:v>23663.35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C4C-4171-B3E6-386F37A9F39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a:solidFill>
                <a:srgbClr val="23304A"/>
              </a:solidFill>
              <a:prstDash val="solid"/>
            </a:ln>
          </c:spPr>
        </c:majorGridlines>
        <c:numFmt formatCode="&quot;$&quot;#,##0" sourceLinked="0"/>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plotVisOnly val="1"/>
    <c:dispBlanksAs val="zero"/>
    <c:showDLblsOverMax val="1"/>
  </c:chart>
  <c:spPr>
    <a:solidFill>
      <a:srgbClr val="070A12"/>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Claude Opus 4.6</c:v>
                </c:pt>
              </c:strCache>
            </c:strRef>
          </c:tx>
          <c:spPr>
            <a:solidFill>
              <a:srgbClr val="2F8CFF"/>
            </a:solidFill>
          </c:spPr>
          <c:invertIfNegative val="1"/>
          <c:cat>
            <c:strRef>
              <c:f>Sheet1!$A$2:$A$6</c:f>
              <c:strCache>
                <c:ptCount val="5"/>
                <c:pt idx="0">
                  <c:v>Mar</c:v>
                </c:pt>
                <c:pt idx="1">
                  <c:v>Apr</c:v>
                </c:pt>
                <c:pt idx="2">
                  <c:v>May</c:v>
                </c:pt>
                <c:pt idx="3">
                  <c:v>Jun</c:v>
                </c:pt>
                <c:pt idx="4">
                  <c:v>Jul</c:v>
                </c:pt>
              </c:strCache>
            </c:strRef>
          </c:cat>
          <c:val>
            <c:numRef>
              <c:f>Sheet1!$B$2:$B$6</c:f>
              <c:numCache>
                <c:formatCode>General</c:formatCode>
                <c:ptCount val="5"/>
                <c:pt idx="0">
                  <c:v>0</c:v>
                </c:pt>
                <c:pt idx="1">
                  <c:v>0</c:v>
                </c:pt>
                <c:pt idx="2">
                  <c:v>2866.65</c:v>
                </c:pt>
                <c:pt idx="3">
                  <c:v>4806.49</c:v>
                </c:pt>
                <c:pt idx="4">
                  <c:v>9873.2199999999993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F42-451C-B4AD-906A8C0286DC}"/>
            </c:ext>
          </c:extLst>
        </c:ser>
        <c:ser>
          <c:idx val="1"/>
          <c:order val="1"/>
          <c:tx>
            <c:strRef>
              <c:f>Sheet1!$C$1</c:f>
              <c:strCache>
                <c:ptCount val="1"/>
                <c:pt idx="0">
                  <c:v>Claude Opus 4.8</c:v>
                </c:pt>
              </c:strCache>
            </c:strRef>
          </c:tx>
          <c:spPr>
            <a:solidFill>
              <a:srgbClr val="3DD9EB"/>
            </a:solidFill>
          </c:spPr>
          <c:invertIfNegative val="1"/>
          <c:cat>
            <c:strRef>
              <c:f>Sheet1!$A$2:$A$6</c:f>
              <c:strCache>
                <c:ptCount val="5"/>
                <c:pt idx="0">
                  <c:v>Mar</c:v>
                </c:pt>
                <c:pt idx="1">
                  <c:v>Apr</c:v>
                </c:pt>
                <c:pt idx="2">
                  <c:v>May</c:v>
                </c:pt>
                <c:pt idx="3">
                  <c:v>Jun</c:v>
                </c:pt>
                <c:pt idx="4">
                  <c:v>Jul</c:v>
                </c:pt>
              </c:strCache>
            </c:strRef>
          </c:cat>
          <c:val>
            <c:numRef>
              <c:f>Sheet1!$C$2:$C$6</c:f>
              <c:numCache>
                <c:formatCode>General</c:formatCode>
                <c:ptCount val="5"/>
                <c:pt idx="0">
                  <c:v>0</c:v>
                </c:pt>
                <c:pt idx="1">
                  <c:v>0</c:v>
                </c:pt>
                <c:pt idx="2">
                  <c:v>76.7</c:v>
                </c:pt>
                <c:pt idx="3">
                  <c:v>2024.12</c:v>
                </c:pt>
                <c:pt idx="4">
                  <c:v>11361.86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F42-451C-B4AD-906A8C0286DC}"/>
            </c:ext>
          </c:extLst>
        </c:ser>
        <c:ser>
          <c:idx val="2"/>
          <c:order val="2"/>
          <c:tx>
            <c:strRef>
              <c:f>Sheet1!$D$1</c:f>
              <c:strCache>
                <c:ptCount val="1"/>
                <c:pt idx="0">
                  <c:v>Claude Opus 4.7</c:v>
                </c:pt>
              </c:strCache>
            </c:strRef>
          </c:tx>
          <c:spPr>
            <a:solidFill>
              <a:srgbClr val="FF9F43"/>
            </a:solidFill>
          </c:spPr>
          <c:invertIfNegative val="1"/>
          <c:cat>
            <c:strRef>
              <c:f>Sheet1!$A$2:$A$6</c:f>
              <c:strCache>
                <c:ptCount val="5"/>
                <c:pt idx="0">
                  <c:v>Mar</c:v>
                </c:pt>
                <c:pt idx="1">
                  <c:v>Apr</c:v>
                </c:pt>
                <c:pt idx="2">
                  <c:v>May</c:v>
                </c:pt>
                <c:pt idx="3">
                  <c:v>Jun</c:v>
                </c:pt>
                <c:pt idx="4">
                  <c:v>Jul</c:v>
                </c:pt>
              </c:strCache>
            </c:strRef>
          </c:cat>
          <c:val>
            <c:numRef>
              <c:f>Sheet1!$D$2:$D$6</c:f>
              <c:numCache>
                <c:formatCode>General</c:formatCode>
                <c:ptCount val="5"/>
                <c:pt idx="0">
                  <c:v>0</c:v>
                </c:pt>
                <c:pt idx="1">
                  <c:v>0</c:v>
                </c:pt>
                <c:pt idx="2">
                  <c:v>786.79</c:v>
                </c:pt>
                <c:pt idx="3">
                  <c:v>2917.83</c:v>
                </c:pt>
                <c:pt idx="4">
                  <c:v>2438.48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F42-451C-B4AD-906A8C0286DC}"/>
            </c:ext>
          </c:extLst>
        </c:ser>
        <c:ser>
          <c:idx val="3"/>
          <c:order val="3"/>
          <c:tx>
            <c:strRef>
              <c:f>Sheet1!$E$1</c:f>
              <c:strCache>
                <c:ptCount val="1"/>
                <c:pt idx="0">
                  <c:v>Amazon Bedrock Edition</c:v>
                </c:pt>
              </c:strCache>
            </c:strRef>
          </c:tx>
          <c:spPr>
            <a:solidFill>
              <a:srgbClr val="B07CFF"/>
            </a:solidFill>
          </c:spPr>
          <c:invertIfNegative val="1"/>
          <c:cat>
            <c:strRef>
              <c:f>Sheet1!$A$2:$A$6</c:f>
              <c:strCache>
                <c:ptCount val="5"/>
                <c:pt idx="0">
                  <c:v>Mar</c:v>
                </c:pt>
                <c:pt idx="1">
                  <c:v>Apr</c:v>
                </c:pt>
                <c:pt idx="2">
                  <c:v>May</c:v>
                </c:pt>
                <c:pt idx="3">
                  <c:v>Jun</c:v>
                </c:pt>
                <c:pt idx="4">
                  <c:v>Jul</c:v>
                </c:pt>
              </c:strCache>
            </c:strRef>
          </c:cat>
          <c:val>
            <c:numRef>
              <c:f>Sheet1!$E$2:$E$6</c:f>
              <c:numCache>
                <c:formatCode>General</c:formatCode>
                <c:ptCount val="5"/>
                <c:pt idx="0">
                  <c:v>841</c:v>
                </c:pt>
                <c:pt idx="1">
                  <c:v>1609</c:v>
                </c:pt>
                <c:pt idx="2">
                  <c:v>0</c:v>
                </c:pt>
                <c:pt idx="3">
                  <c:v>0</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F42-451C-B4AD-906A8C0286DC}"/>
            </c:ext>
          </c:extLst>
        </c:ser>
        <c:ser>
          <c:idx val="4"/>
          <c:order val="4"/>
          <c:tx>
            <c:strRef>
              <c:f>Sheet1!$F$1</c:f>
              <c:strCache>
                <c:ptCount val="1"/>
                <c:pt idx="0">
                  <c:v>Claude Sonnet 4.6</c:v>
                </c:pt>
              </c:strCache>
            </c:strRef>
          </c:tx>
          <c:spPr>
            <a:solidFill>
              <a:srgbClr val="3DDC97"/>
            </a:solidFill>
          </c:spPr>
          <c:invertIfNegative val="1"/>
          <c:cat>
            <c:strRef>
              <c:f>Sheet1!$A$2:$A$6</c:f>
              <c:strCache>
                <c:ptCount val="5"/>
                <c:pt idx="0">
                  <c:v>Mar</c:v>
                </c:pt>
                <c:pt idx="1">
                  <c:v>Apr</c:v>
                </c:pt>
                <c:pt idx="2">
                  <c:v>May</c:v>
                </c:pt>
                <c:pt idx="3">
                  <c:v>Jun</c:v>
                </c:pt>
                <c:pt idx="4">
                  <c:v>Jul</c:v>
                </c:pt>
              </c:strCache>
            </c:strRef>
          </c:cat>
          <c:val>
            <c:numRef>
              <c:f>Sheet1!$F$2:$F$6</c:f>
              <c:numCache>
                <c:formatCode>General</c:formatCode>
                <c:ptCount val="5"/>
                <c:pt idx="0">
                  <c:v>0</c:v>
                </c:pt>
                <c:pt idx="1">
                  <c:v>0</c:v>
                </c:pt>
                <c:pt idx="2">
                  <c:v>14.53</c:v>
                </c:pt>
                <c:pt idx="3">
                  <c:v>540.41</c:v>
                </c:pt>
                <c:pt idx="4">
                  <c:v>688.26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F42-451C-B4AD-906A8C0286DC}"/>
            </c:ext>
          </c:extLst>
        </c:ser>
        <c:ser>
          <c:idx val="5"/>
          <c:order val="5"/>
          <c:tx>
            <c:strRef>
              <c:f>Sheet1!$G$1</c:f>
              <c:strCache>
                <c:ptCount val="1"/>
                <c:pt idx="0">
                  <c:v>Claude Opus 5</c:v>
                </c:pt>
              </c:strCache>
            </c:strRef>
          </c:tx>
          <c:spPr>
            <a:solidFill>
              <a:srgbClr val="FF6B7A"/>
            </a:solidFill>
          </c:spPr>
          <c:invertIfNegative val="1"/>
          <c:cat>
            <c:strRef>
              <c:f>Sheet1!$A$2:$A$6</c:f>
              <c:strCache>
                <c:ptCount val="5"/>
                <c:pt idx="0">
                  <c:v>Mar</c:v>
                </c:pt>
                <c:pt idx="1">
                  <c:v>Apr</c:v>
                </c:pt>
                <c:pt idx="2">
                  <c:v>May</c:v>
                </c:pt>
                <c:pt idx="3">
                  <c:v>Jun</c:v>
                </c:pt>
                <c:pt idx="4">
                  <c:v>Jul</c:v>
                </c:pt>
              </c:strCache>
            </c:strRef>
          </c:cat>
          <c:val>
            <c:numRef>
              <c:f>Sheet1!$G$2:$G$6</c:f>
              <c:numCache>
                <c:formatCode>General</c:formatCode>
                <c:ptCount val="5"/>
                <c:pt idx="0">
                  <c:v>0</c:v>
                </c:pt>
                <c:pt idx="1">
                  <c:v>0</c:v>
                </c:pt>
                <c:pt idx="2">
                  <c:v>0</c:v>
                </c:pt>
                <c:pt idx="3">
                  <c:v>0</c:v>
                </c:pt>
                <c:pt idx="4">
                  <c:v>691.45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F42-451C-B4AD-906A8C0286DC}"/>
            </c:ext>
          </c:extLst>
        </c:ser>
        <c:ser>
          <c:idx val="6"/>
          <c:order val="6"/>
          <c:tx>
            <c:strRef>
              <c:f>Sheet1!$H$1</c:f>
              <c:strCache>
                <c:ptCount val="1"/>
                <c:pt idx="0">
                  <c:v>Claude Haiku 4.5</c:v>
                </c:pt>
              </c:strCache>
            </c:strRef>
          </c:tx>
          <c:spPr>
            <a:solidFill>
              <a:srgbClr val="2AD38C"/>
            </a:solidFill>
          </c:spPr>
          <c:invertIfNegative val="1"/>
          <c:cat>
            <c:strRef>
              <c:f>Sheet1!$A$2:$A$6</c:f>
              <c:strCache>
                <c:ptCount val="5"/>
                <c:pt idx="0">
                  <c:v>Mar</c:v>
                </c:pt>
                <c:pt idx="1">
                  <c:v>Apr</c:v>
                </c:pt>
                <c:pt idx="2">
                  <c:v>May</c:v>
                </c:pt>
                <c:pt idx="3">
                  <c:v>Jun</c:v>
                </c:pt>
                <c:pt idx="4">
                  <c:v>Jul</c:v>
                </c:pt>
              </c:strCache>
            </c:strRef>
          </c:cat>
          <c:val>
            <c:numRef>
              <c:f>Sheet1!$H$2:$H$6</c:f>
              <c:numCache>
                <c:formatCode>General</c:formatCode>
                <c:ptCount val="5"/>
                <c:pt idx="0">
                  <c:v>0</c:v>
                </c:pt>
                <c:pt idx="1">
                  <c:v>0</c:v>
                </c:pt>
                <c:pt idx="2">
                  <c:v>57.15</c:v>
                </c:pt>
                <c:pt idx="3">
                  <c:v>159.32</c:v>
                </c:pt>
                <c:pt idx="4">
                  <c:v>157.37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F42-451C-B4AD-906A8C0286DC}"/>
            </c:ext>
          </c:extLst>
        </c:ser>
        <c:ser>
          <c:idx val="7"/>
          <c:order val="7"/>
          <c:tx>
            <c:strRef>
              <c:f>Sheet1!$I$1</c:f>
              <c:strCache>
                <c:ptCount val="1"/>
                <c:pt idx="0">
                  <c:v>Claude Sonnet 4.5</c:v>
                </c:pt>
              </c:strCache>
            </c:strRef>
          </c:tx>
          <c:spPr>
            <a:solidFill>
              <a:srgbClr val="FFB84D"/>
            </a:solidFill>
          </c:spPr>
          <c:invertIfNegative val="1"/>
          <c:cat>
            <c:strRef>
              <c:f>Sheet1!$A$2:$A$6</c:f>
              <c:strCache>
                <c:ptCount val="5"/>
                <c:pt idx="0">
                  <c:v>Mar</c:v>
                </c:pt>
                <c:pt idx="1">
                  <c:v>Apr</c:v>
                </c:pt>
                <c:pt idx="2">
                  <c:v>May</c:v>
                </c:pt>
                <c:pt idx="3">
                  <c:v>Jun</c:v>
                </c:pt>
                <c:pt idx="4">
                  <c:v>Jul</c:v>
                </c:pt>
              </c:strCache>
            </c:strRef>
          </c:cat>
          <c:val>
            <c:numRef>
              <c:f>Sheet1!$I$2:$I$6</c:f>
              <c:numCache>
                <c:formatCode>General</c:formatCode>
                <c:ptCount val="5"/>
                <c:pt idx="0">
                  <c:v>0</c:v>
                </c:pt>
                <c:pt idx="1">
                  <c:v>0</c:v>
                </c:pt>
                <c:pt idx="2">
                  <c:v>9.6300000000000008</c:v>
                </c:pt>
                <c:pt idx="3">
                  <c:v>58.63</c:v>
                </c:pt>
                <c:pt idx="4">
                  <c:v>77.41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F42-451C-B4AD-906A8C0286DC}"/>
            </c:ext>
          </c:extLst>
        </c:ser>
        <c:ser>
          <c:idx val="8"/>
          <c:order val="8"/>
          <c:tx>
            <c:strRef>
              <c:f>Sheet1!$J$1</c:f>
              <c:strCache>
                <c:ptCount val="1"/>
                <c:pt idx="0">
                  <c:v>All other</c:v>
                </c:pt>
              </c:strCache>
            </c:strRef>
          </c:tx>
          <c:spPr>
            <a:solidFill>
              <a:srgbClr val="6C8CFF"/>
            </a:solidFill>
          </c:spPr>
          <c:invertIfNegative val="1"/>
          <c:cat>
            <c:strRef>
              <c:f>Sheet1!$A$2:$A$6</c:f>
              <c:strCache>
                <c:ptCount val="5"/>
                <c:pt idx="0">
                  <c:v>Mar</c:v>
                </c:pt>
                <c:pt idx="1">
                  <c:v>Apr</c:v>
                </c:pt>
                <c:pt idx="2">
                  <c:v>May</c:v>
                </c:pt>
                <c:pt idx="3">
                  <c:v>Jun</c:v>
                </c:pt>
                <c:pt idx="4">
                  <c:v>Jul</c:v>
                </c:pt>
              </c:strCache>
            </c:strRef>
          </c:cat>
          <c:val>
            <c:numRef>
              <c:f>Sheet1!$J$2:$J$6</c:f>
              <c:numCache>
                <c:formatCode>General</c:formatCode>
                <c:ptCount val="5"/>
                <c:pt idx="0">
                  <c:v>0</c:v>
                </c:pt>
                <c:pt idx="1">
                  <c:v>0</c:v>
                </c:pt>
                <c:pt idx="2">
                  <c:v>0.01</c:v>
                </c:pt>
                <c:pt idx="3">
                  <c:v>0</c:v>
                </c:pt>
                <c:pt idx="4">
                  <c:v>0.28000000000000003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CF42-451C-B4AD-906A8C0286DC}"/>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Vertex AI</c:v>
                </c:pt>
              </c:strCache>
            </c:strRef>
          </c:tx>
          <c:spPr>
            <a:solidFill>
              <a:srgbClr val="2F8CFF"/>
            </a:solidFill>
          </c:spPr>
          <c:invertIfNegative val="1"/>
          <c:cat>
            <c:strRef>
              <c:f>Sheet1!$A$2:$A$6</c:f>
              <c:strCache>
                <c:ptCount val="5"/>
                <c:pt idx="0">
                  <c:v>Mar</c:v>
                </c:pt>
                <c:pt idx="1">
                  <c:v>Apr</c:v>
                </c:pt>
                <c:pt idx="2">
                  <c:v>May</c:v>
                </c:pt>
                <c:pt idx="3">
                  <c:v>Jun</c:v>
                </c:pt>
                <c:pt idx="4">
                  <c:v>Jul</c:v>
                </c:pt>
              </c:strCache>
            </c:strRef>
          </c:cat>
          <c:val>
            <c:numRef>
              <c:f>Sheet1!$B$2:$B$6</c:f>
              <c:numCache>
                <c:formatCode>General</c:formatCode>
                <c:ptCount val="5"/>
                <c:pt idx="0">
                  <c:v>0</c:v>
                </c:pt>
                <c:pt idx="1">
                  <c:v>0.01</c:v>
                </c:pt>
                <c:pt idx="2">
                  <c:v>378.84</c:v>
                </c:pt>
                <c:pt idx="3">
                  <c:v>957.52</c:v>
                </c:pt>
                <c:pt idx="4">
                  <c:v>2359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AB8-49C9-B5DF-73676B21A0D6}"/>
            </c:ext>
          </c:extLst>
        </c:ser>
        <c:ser>
          <c:idx val="1"/>
          <c:order val="1"/>
          <c:tx>
            <c:strRef>
              <c:f>Sheet1!$C$1</c:f>
              <c:strCache>
                <c:ptCount val="1"/>
                <c:pt idx="0">
                  <c:v>Compute Engine</c:v>
                </c:pt>
              </c:strCache>
            </c:strRef>
          </c:tx>
          <c:spPr>
            <a:solidFill>
              <a:srgbClr val="3DD9EB"/>
            </a:solidFill>
          </c:spPr>
          <c:invertIfNegative val="1"/>
          <c:cat>
            <c:strRef>
              <c:f>Sheet1!$A$2:$A$6</c:f>
              <c:strCache>
                <c:ptCount val="5"/>
                <c:pt idx="0">
                  <c:v>Mar</c:v>
                </c:pt>
                <c:pt idx="1">
                  <c:v>Apr</c:v>
                </c:pt>
                <c:pt idx="2">
                  <c:v>May</c:v>
                </c:pt>
                <c:pt idx="3">
                  <c:v>Jun</c:v>
                </c:pt>
                <c:pt idx="4">
                  <c:v>Jul</c:v>
                </c:pt>
              </c:strCache>
            </c:strRef>
          </c:cat>
          <c:val>
            <c:numRef>
              <c:f>Sheet1!$C$2:$C$6</c:f>
              <c:numCache>
                <c:formatCode>General</c:formatCode>
                <c:ptCount val="5"/>
                <c:pt idx="0">
                  <c:v>0</c:v>
                </c:pt>
                <c:pt idx="1">
                  <c:v>221.73</c:v>
                </c:pt>
                <c:pt idx="2">
                  <c:v>714.24</c:v>
                </c:pt>
                <c:pt idx="3">
                  <c:v>977.33</c:v>
                </c:pt>
                <c:pt idx="4">
                  <c:v>1011.51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AB8-49C9-B5DF-73676B21A0D6}"/>
            </c:ext>
          </c:extLst>
        </c:ser>
        <c:ser>
          <c:idx val="2"/>
          <c:order val="2"/>
          <c:tx>
            <c:strRef>
              <c:f>Sheet1!$D$1</c:f>
              <c:strCache>
                <c:ptCount val="1"/>
                <c:pt idx="0">
                  <c:v>Networking</c:v>
                </c:pt>
              </c:strCache>
            </c:strRef>
          </c:tx>
          <c:spPr>
            <a:solidFill>
              <a:srgbClr val="FF9F43"/>
            </a:solidFill>
          </c:spPr>
          <c:invertIfNegative val="1"/>
          <c:cat>
            <c:strRef>
              <c:f>Sheet1!$A$2:$A$6</c:f>
              <c:strCache>
                <c:ptCount val="5"/>
                <c:pt idx="0">
                  <c:v>Mar</c:v>
                </c:pt>
                <c:pt idx="1">
                  <c:v>Apr</c:v>
                </c:pt>
                <c:pt idx="2">
                  <c:v>May</c:v>
                </c:pt>
                <c:pt idx="3">
                  <c:v>Jun</c:v>
                </c:pt>
                <c:pt idx="4">
                  <c:v>Jul</c:v>
                </c:pt>
              </c:strCache>
            </c:strRef>
          </c:cat>
          <c:val>
            <c:numRef>
              <c:f>Sheet1!$D$2:$D$6</c:f>
              <c:numCache>
                <c:formatCode>General</c:formatCode>
                <c:ptCount val="5"/>
                <c:pt idx="0">
                  <c:v>0</c:v>
                </c:pt>
                <c:pt idx="1">
                  <c:v>74.48</c:v>
                </c:pt>
                <c:pt idx="2">
                  <c:v>311.42</c:v>
                </c:pt>
                <c:pt idx="3">
                  <c:v>303.73</c:v>
                </c:pt>
                <c:pt idx="4">
                  <c:v>310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AB8-49C9-B5DF-73676B21A0D6}"/>
            </c:ext>
          </c:extLst>
        </c:ser>
        <c:ser>
          <c:idx val="3"/>
          <c:order val="3"/>
          <c:tx>
            <c:strRef>
              <c:f>Sheet1!$E$1</c:f>
              <c:strCache>
                <c:ptCount val="1"/>
                <c:pt idx="0">
                  <c:v>Gemini API</c:v>
                </c:pt>
              </c:strCache>
            </c:strRef>
          </c:tx>
          <c:spPr>
            <a:solidFill>
              <a:srgbClr val="B07CFF"/>
            </a:solidFill>
          </c:spPr>
          <c:invertIfNegative val="1"/>
          <c:cat>
            <c:strRef>
              <c:f>Sheet1!$A$2:$A$6</c:f>
              <c:strCache>
                <c:ptCount val="5"/>
                <c:pt idx="0">
                  <c:v>Mar</c:v>
                </c:pt>
                <c:pt idx="1">
                  <c:v>Apr</c:v>
                </c:pt>
                <c:pt idx="2">
                  <c:v>May</c:v>
                </c:pt>
                <c:pt idx="3">
                  <c:v>Jun</c:v>
                </c:pt>
                <c:pt idx="4">
                  <c:v>Jul</c:v>
                </c:pt>
              </c:strCache>
            </c:strRef>
          </c:cat>
          <c:val>
            <c:numRef>
              <c:f>Sheet1!$E$2:$E$6</c:f>
              <c:numCache>
                <c:formatCode>General</c:formatCode>
                <c:ptCount val="5"/>
                <c:pt idx="0">
                  <c:v>395.81</c:v>
                </c:pt>
                <c:pt idx="1">
                  <c:v>134.71</c:v>
                </c:pt>
                <c:pt idx="2">
                  <c:v>92.38</c:v>
                </c:pt>
                <c:pt idx="3">
                  <c:v>0</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EAB8-49C9-B5DF-73676B21A0D6}"/>
            </c:ext>
          </c:extLst>
        </c:ser>
        <c:ser>
          <c:idx val="4"/>
          <c:order val="4"/>
          <c:tx>
            <c:strRef>
              <c:f>Sheet1!$F$1</c:f>
              <c:strCache>
                <c:ptCount val="1"/>
                <c:pt idx="0">
                  <c:v>Support</c:v>
                </c:pt>
              </c:strCache>
            </c:strRef>
          </c:tx>
          <c:spPr>
            <a:solidFill>
              <a:srgbClr val="3DDC97"/>
            </a:solidFill>
          </c:spPr>
          <c:invertIfNegative val="1"/>
          <c:cat>
            <c:strRef>
              <c:f>Sheet1!$A$2:$A$6</c:f>
              <c:strCache>
                <c:ptCount val="5"/>
                <c:pt idx="0">
                  <c:v>Mar</c:v>
                </c:pt>
                <c:pt idx="1">
                  <c:v>Apr</c:v>
                </c:pt>
                <c:pt idx="2">
                  <c:v>May</c:v>
                </c:pt>
                <c:pt idx="3">
                  <c:v>Jun</c:v>
                </c:pt>
                <c:pt idx="4">
                  <c:v>Jul</c:v>
                </c:pt>
              </c:strCache>
            </c:strRef>
          </c:cat>
          <c:val>
            <c:numRef>
              <c:f>Sheet1!$F$2:$F$6</c:f>
              <c:numCache>
                <c:formatCode>General</c:formatCode>
                <c:ptCount val="5"/>
                <c:pt idx="0">
                  <c:v>0</c:v>
                </c:pt>
                <c:pt idx="1">
                  <c:v>0</c:v>
                </c:pt>
                <c:pt idx="2">
                  <c:v>26.43</c:v>
                </c:pt>
                <c:pt idx="3">
                  <c:v>98.24</c:v>
                </c:pt>
                <c:pt idx="4">
                  <c:v>141.65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EAB8-49C9-B5DF-73676B21A0D6}"/>
            </c:ext>
          </c:extLst>
        </c:ser>
        <c:ser>
          <c:idx val="5"/>
          <c:order val="5"/>
          <c:tx>
            <c:strRef>
              <c:f>Sheet1!$G$1</c:f>
              <c:strCache>
                <c:ptCount val="1"/>
                <c:pt idx="0">
                  <c:v>other services</c:v>
                </c:pt>
              </c:strCache>
            </c:strRef>
          </c:tx>
          <c:spPr>
            <a:solidFill>
              <a:srgbClr val="FF6B7A"/>
            </a:solidFill>
          </c:spPr>
          <c:invertIfNegative val="0"/>
          <c:cat>
            <c:strRef>
              <c:f>Sheet1!$A$2:$A$6</c:f>
              <c:strCache>
                <c:ptCount val="5"/>
                <c:pt idx="0">
                  <c:v>Mar</c:v>
                </c:pt>
                <c:pt idx="1">
                  <c:v>Apr</c:v>
                </c:pt>
                <c:pt idx="2">
                  <c:v>May</c:v>
                </c:pt>
                <c:pt idx="3">
                  <c:v>Jun</c:v>
                </c:pt>
                <c:pt idx="4">
                  <c:v>Jul</c:v>
                </c:pt>
              </c:strCache>
            </c:strRef>
          </c:cat>
          <c:val>
            <c:numRef>
              <c:f>Sheet1!$G$2:$G$6</c:f>
              <c:numCache>
                <c:formatCode>General</c:formatCode>
                <c:ptCount val="5"/>
                <c:pt idx="0">
                  <c:v>0.06</c:v>
                </c:pt>
                <c:pt idx="1">
                  <c:v>9.23</c:v>
                </c:pt>
                <c:pt idx="2">
                  <c:v>-73.959999999999994</c:v>
                </c:pt>
                <c:pt idx="3">
                  <c:v>-117.27</c:v>
                </c:pt>
                <c:pt idx="4">
                  <c:v>-115.11</c:v>
                </c:pt>
              </c:numCache>
            </c:numRef>
          </c:val>
          <c:extLst>
            <c:ext xmlns:c16="http://schemas.microsoft.com/office/drawing/2014/chart" uri="{C3380CC4-5D6E-409C-BE32-E72D297353CC}">
              <c16:uniqueId val="{00000005-EAB8-49C9-B5DF-73676B21A0D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strRef>
              <c:f>Sheet1!$B$1</c:f>
              <c:strCache>
                <c:ptCount val="1"/>
                <c:pt idx="0">
                  <c:v>Total</c:v>
                </c:pt>
              </c:strCache>
            </c:strRef>
          </c:tx>
          <c:spPr>
            <a:solidFill>
              <a:srgbClr val="2F8CFF"/>
            </a:solidFill>
          </c:spPr>
          <c:invertIfNegative val="1"/>
          <c:dPt>
            <c:idx val="1"/>
            <c:invertIfNegative val="0"/>
            <c:bubble3D val="0"/>
            <c:spPr>
              <a:solidFill>
                <a:srgbClr val="3DD9EB"/>
              </a:solidFill>
            </c:spPr>
            <c:extLst>
              <c:ext xmlns:c16="http://schemas.microsoft.com/office/drawing/2014/chart" uri="{C3380CC4-5D6E-409C-BE32-E72D297353CC}">
                <c16:uniqueId val="{00000001-6358-463F-811F-FA773145592F}"/>
              </c:ext>
            </c:extLst>
          </c:dPt>
          <c:dPt>
            <c:idx val="2"/>
            <c:invertIfNegative val="0"/>
            <c:bubble3D val="0"/>
            <c:spPr>
              <a:solidFill>
                <a:srgbClr val="FF9F43"/>
              </a:solidFill>
            </c:spPr>
            <c:extLst>
              <c:ext xmlns:c16="http://schemas.microsoft.com/office/drawing/2014/chart" uri="{C3380CC4-5D6E-409C-BE32-E72D297353CC}">
                <c16:uniqueId val="{00000003-6358-463F-811F-FA773145592F}"/>
              </c:ext>
            </c:extLst>
          </c:dPt>
          <c:dPt>
            <c:idx val="3"/>
            <c:invertIfNegative val="0"/>
            <c:bubble3D val="0"/>
            <c:spPr>
              <a:solidFill>
                <a:srgbClr val="B07CFF"/>
              </a:solidFill>
            </c:spPr>
            <c:extLst>
              <c:ext xmlns:c16="http://schemas.microsoft.com/office/drawing/2014/chart" uri="{C3380CC4-5D6E-409C-BE32-E72D297353CC}">
                <c16:uniqueId val="{00000005-6358-463F-811F-FA773145592F}"/>
              </c:ext>
            </c:extLst>
          </c:dPt>
          <c:dPt>
            <c:idx val="4"/>
            <c:invertIfNegative val="0"/>
            <c:bubble3D val="0"/>
            <c:spPr>
              <a:solidFill>
                <a:srgbClr val="3DDC97"/>
              </a:solidFill>
            </c:spPr>
            <c:extLst>
              <c:ext xmlns:c16="http://schemas.microsoft.com/office/drawing/2014/chart" uri="{C3380CC4-5D6E-409C-BE32-E72D297353CC}">
                <c16:uniqueId val="{00000007-6358-463F-811F-FA773145592F}"/>
              </c:ext>
            </c:extLst>
          </c:dPt>
          <c:dPt>
            <c:idx val="5"/>
            <c:invertIfNegative val="0"/>
            <c:bubble3D val="0"/>
            <c:spPr>
              <a:solidFill>
                <a:srgbClr val="FF6B7A"/>
              </a:solidFill>
            </c:spPr>
            <c:extLst>
              <c:ext xmlns:c16="http://schemas.microsoft.com/office/drawing/2014/chart" uri="{C3380CC4-5D6E-409C-BE32-E72D297353CC}">
                <c16:uniqueId val="{00000009-6358-463F-811F-FA773145592F}"/>
              </c:ext>
            </c:extLst>
          </c:dPt>
          <c:dPt>
            <c:idx val="6"/>
            <c:invertIfNegative val="0"/>
            <c:bubble3D val="0"/>
            <c:spPr>
              <a:solidFill>
                <a:srgbClr val="2AD38C"/>
              </a:solidFill>
            </c:spPr>
            <c:extLst>
              <c:ext xmlns:c16="http://schemas.microsoft.com/office/drawing/2014/chart" uri="{C3380CC4-5D6E-409C-BE32-E72D297353CC}">
                <c16:uniqueId val="{0000000B-6358-463F-811F-FA773145592F}"/>
              </c:ext>
            </c:extLst>
          </c:dPt>
          <c:dPt>
            <c:idx val="7"/>
            <c:invertIfNegative val="0"/>
            <c:bubble3D val="0"/>
            <c:spPr>
              <a:solidFill>
                <a:srgbClr val="FFB84D"/>
              </a:solidFill>
            </c:spPr>
            <c:extLst>
              <c:ext xmlns:c16="http://schemas.microsoft.com/office/drawing/2014/chart" uri="{C3380CC4-5D6E-409C-BE32-E72D297353CC}">
                <c16:uniqueId val="{0000000D-6358-463F-811F-FA773145592F}"/>
              </c:ext>
            </c:extLst>
          </c:dPt>
          <c:dPt>
            <c:idx val="8"/>
            <c:invertIfNegative val="0"/>
            <c:bubble3D val="0"/>
            <c:spPr>
              <a:solidFill>
                <a:srgbClr val="6C8CFF"/>
              </a:solidFill>
            </c:spPr>
            <c:extLst>
              <c:ext xmlns:c16="http://schemas.microsoft.com/office/drawing/2014/chart" uri="{C3380CC4-5D6E-409C-BE32-E72D297353CC}">
                <c16:uniqueId val="{0000000F-6358-463F-811F-FA773145592F}"/>
              </c:ext>
            </c:extLst>
          </c:dPt>
          <c:dPt>
            <c:idx val="9"/>
            <c:invertIfNegative val="0"/>
            <c:bubble3D val="0"/>
            <c:spPr>
              <a:solidFill>
                <a:srgbClr val="8FD8E8"/>
              </a:solidFill>
            </c:spPr>
            <c:extLst>
              <c:ext xmlns:c16="http://schemas.microsoft.com/office/drawing/2014/chart" uri="{C3380CC4-5D6E-409C-BE32-E72D297353CC}">
                <c16:uniqueId val="{00000011-6358-463F-811F-FA773145592F}"/>
              </c:ext>
            </c:extLst>
          </c:dPt>
          <c:dLbls>
            <c:numFmt formatCode="&quot;$&quot;#,##0" sourceLinked="0"/>
            <c:spPr>
              <a:noFill/>
              <a:ln>
                <a:noFill/>
              </a:ln>
            </c:spPr>
            <c:txPr>
              <a:bodyPr anchorCtr="1"/>
              <a:lstStyle/>
              <a:p>
                <a:pPr>
                  <a:defRPr sz="1100" b="0" i="0" u="none">
                    <a:solidFill>
                      <a:srgbClr val="F4F7FB"/>
                    </a:solidFill>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F5 Distributed Cloud Bot Defense</c:v>
                </c:pt>
                <c:pt idx="1">
                  <c:v>Fortinet Cloud Security Platform</c:v>
                </c:pt>
                <c:pt idx="2">
                  <c:v>Trellix_Private Offer Only</c:v>
                </c:pt>
                <c:pt idx="3">
                  <c:v>All other</c:v>
                </c:pt>
                <c:pt idx="4">
                  <c:v>(Private) Cortex</c:v>
                </c:pt>
                <c:pt idx="5">
                  <c:v>MongoDB Atlas on AWS - Contract ...</c:v>
                </c:pt>
                <c:pt idx="6">
                  <c:v>F5 Distributed Cloud Services</c:v>
                </c:pt>
                <c:pt idx="7">
                  <c:v>CrowdStrike Falcon Identity Prot...</c:v>
                </c:pt>
                <c:pt idx="8">
                  <c:v>TrendAI Enterprise Security Solu...</c:v>
                </c:pt>
                <c:pt idx="9">
                  <c:v>Splunk Private Offer Session 3</c:v>
                </c:pt>
              </c:strCache>
            </c:strRef>
          </c:cat>
          <c:val>
            <c:numRef>
              <c:f>Sheet1!$B$2:$B$11</c:f>
              <c:numCache>
                <c:formatCode>General</c:formatCode>
                <c:ptCount val="10"/>
                <c:pt idx="0">
                  <c:v>43307.51</c:v>
                </c:pt>
                <c:pt idx="1">
                  <c:v>61998.34</c:v>
                </c:pt>
                <c:pt idx="2">
                  <c:v>70680</c:v>
                </c:pt>
                <c:pt idx="3">
                  <c:v>101662.59</c:v>
                </c:pt>
                <c:pt idx="4">
                  <c:v>142960.14000000001</c:v>
                </c:pt>
                <c:pt idx="5">
                  <c:v>163240.16999999998</c:v>
                </c:pt>
                <c:pt idx="6">
                  <c:v>166293</c:v>
                </c:pt>
                <c:pt idx="7">
                  <c:v>171303</c:v>
                </c:pt>
                <c:pt idx="8">
                  <c:v>257323</c:v>
                </c:pt>
                <c:pt idx="9">
                  <c:v>365018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2-6358-463F-811F-FA773145592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a:solidFill>
                <a:srgbClr val="23304A"/>
              </a:solidFill>
              <a:prstDash val="solid"/>
            </a:ln>
          </c:spPr>
        </c:majorGridlines>
        <c:numFmt formatCode="&quot;$&quot;#,##0" sourceLinked="0"/>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plotVisOnly val="1"/>
    <c:dispBlanksAs val="zero"/>
    <c:showDLblsOverMax val="1"/>
  </c:chart>
  <c:spPr>
    <a:solidFill>
      <a:srgbClr val="070A12"/>
    </a:solid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aws-prod-Digital</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22332.66</c:v>
                </c:pt>
                <c:pt idx="1">
                  <c:v>21140.47</c:v>
                </c:pt>
                <c:pt idx="2">
                  <c:v>21628.91</c:v>
                </c:pt>
                <c:pt idx="3">
                  <c:v>21144.81</c:v>
                </c:pt>
                <c:pt idx="4">
                  <c:v>21545.74</c:v>
                </c:pt>
                <c:pt idx="5">
                  <c:v>21516.36</c:v>
                </c:pt>
                <c:pt idx="6">
                  <c:v>22251.5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E4D-4C1C-860D-D1AF721278F6}"/>
            </c:ext>
          </c:extLst>
        </c:ser>
        <c:ser>
          <c:idx val="1"/>
          <c:order val="1"/>
          <c:tx>
            <c:strRef>
              <c:f>Sheet1!$C$1</c:f>
              <c:strCache>
                <c:ptCount val="1"/>
                <c:pt idx="0">
                  <c:v>aws-devTest-digital</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9774.69</c:v>
                </c:pt>
                <c:pt idx="1">
                  <c:v>9293.5</c:v>
                </c:pt>
                <c:pt idx="2">
                  <c:v>13019.52</c:v>
                </c:pt>
                <c:pt idx="3">
                  <c:v>12889.08</c:v>
                </c:pt>
                <c:pt idx="4">
                  <c:v>14478.53</c:v>
                </c:pt>
                <c:pt idx="5">
                  <c:v>13223.96</c:v>
                </c:pt>
                <c:pt idx="6">
                  <c:v>13679.04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E4D-4C1C-860D-D1AF721278F6}"/>
            </c:ext>
          </c:extLst>
        </c:ser>
        <c:ser>
          <c:idx val="2"/>
          <c:order val="2"/>
          <c:tx>
            <c:strRef>
              <c:f>Sheet1!$D$1</c:f>
              <c:strCache>
                <c:ptCount val="1"/>
                <c:pt idx="0">
                  <c:v>aws-preProd-digital</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10763.47</c:v>
                </c:pt>
                <c:pt idx="1">
                  <c:v>9195.09</c:v>
                </c:pt>
                <c:pt idx="2">
                  <c:v>10753.11</c:v>
                </c:pt>
                <c:pt idx="3">
                  <c:v>10593.41</c:v>
                </c:pt>
                <c:pt idx="4">
                  <c:v>11424.85</c:v>
                </c:pt>
                <c:pt idx="5">
                  <c:v>10158.6</c:v>
                </c:pt>
                <c:pt idx="6">
                  <c:v>10824.22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E4D-4C1C-860D-D1AF721278F6}"/>
            </c:ext>
          </c:extLst>
        </c:ser>
        <c:ser>
          <c:idx val="3"/>
          <c:order val="3"/>
          <c:tx>
            <c:strRef>
              <c:f>Sheet1!$E$1</c:f>
              <c:strCache>
                <c:ptCount val="1"/>
                <c:pt idx="0">
                  <c:v>aws-foundation-security</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8241.01</c:v>
                </c:pt>
                <c:pt idx="1">
                  <c:v>7426.22</c:v>
                </c:pt>
                <c:pt idx="2">
                  <c:v>8018.52</c:v>
                </c:pt>
                <c:pt idx="3">
                  <c:v>7844.99</c:v>
                </c:pt>
                <c:pt idx="4">
                  <c:v>8595.7999999999993</c:v>
                </c:pt>
                <c:pt idx="5">
                  <c:v>8586.64</c:v>
                </c:pt>
                <c:pt idx="6">
                  <c:v>8752.36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E4D-4C1C-860D-D1AF721278F6}"/>
            </c:ext>
          </c:extLst>
        </c:ser>
        <c:ser>
          <c:idx val="4"/>
          <c:order val="4"/>
          <c:tx>
            <c:strRef>
              <c:f>Sheet1!$F$1</c:f>
              <c:strCache>
                <c:ptCount val="1"/>
                <c:pt idx="0">
                  <c:v>customers3-prod</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886.84</c:v>
                </c:pt>
                <c:pt idx="1">
                  <c:v>13482.36</c:v>
                </c:pt>
                <c:pt idx="2">
                  <c:v>11082.36</c:v>
                </c:pt>
                <c:pt idx="3">
                  <c:v>2357.5</c:v>
                </c:pt>
                <c:pt idx="4">
                  <c:v>4222.21</c:v>
                </c:pt>
                <c:pt idx="5">
                  <c:v>6507.56</c:v>
                </c:pt>
                <c:pt idx="6">
                  <c:v>9065.77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E4D-4C1C-860D-D1AF721278F6}"/>
            </c:ext>
          </c:extLst>
        </c:ser>
        <c:ser>
          <c:idx val="5"/>
          <c:order val="5"/>
          <c:tx>
            <c:strRef>
              <c:f>Sheet1!$G$1</c:f>
              <c:strCache>
                <c:ptCount val="1"/>
                <c:pt idx="0">
                  <c:v>cloudops-network</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6243.55</c:v>
                </c:pt>
                <c:pt idx="1">
                  <c:v>5752.81</c:v>
                </c:pt>
                <c:pt idx="2">
                  <c:v>7021.84</c:v>
                </c:pt>
                <c:pt idx="3">
                  <c:v>6897.91</c:v>
                </c:pt>
                <c:pt idx="4">
                  <c:v>7152.27</c:v>
                </c:pt>
                <c:pt idx="5">
                  <c:v>7100.37</c:v>
                </c:pt>
                <c:pt idx="6">
                  <c:v>7373.13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E4D-4C1C-860D-D1AF721278F6}"/>
            </c:ext>
          </c:extLst>
        </c:ser>
        <c:ser>
          <c:idx val="6"/>
          <c:order val="6"/>
          <c:tx>
            <c:strRef>
              <c:f>Sheet1!$H$1</c:f>
              <c:strCache>
                <c:ptCount val="1"/>
                <c:pt idx="0">
                  <c:v>aws-foundation-sharedservices</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6557.18</c:v>
                </c:pt>
                <c:pt idx="1">
                  <c:v>5506.82</c:v>
                </c:pt>
                <c:pt idx="2">
                  <c:v>5796.97</c:v>
                </c:pt>
                <c:pt idx="3">
                  <c:v>5754.82</c:v>
                </c:pt>
                <c:pt idx="4">
                  <c:v>6022.6</c:v>
                </c:pt>
                <c:pt idx="5">
                  <c:v>6015.61</c:v>
                </c:pt>
                <c:pt idx="6">
                  <c:v>6067.45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E4D-4C1C-860D-D1AF721278F6}"/>
            </c:ext>
          </c:extLst>
        </c:ser>
        <c:ser>
          <c:idx val="7"/>
          <c:order val="7"/>
          <c:tx>
            <c:strRef>
              <c:f>Sheet1!$I$1</c:f>
              <c:strCache>
                <c:ptCount val="1"/>
                <c:pt idx="0">
                  <c:v>Harel Insurance</c:v>
                </c:pt>
              </c:strCache>
            </c:strRef>
          </c:tx>
          <c:spPr>
            <a:solidFill>
              <a:srgbClr val="FFB84D"/>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6065.71</c:v>
                </c:pt>
                <c:pt idx="1">
                  <c:v>3782.04</c:v>
                </c:pt>
                <c:pt idx="2">
                  <c:v>6397.95</c:v>
                </c:pt>
                <c:pt idx="3">
                  <c:v>8584.51</c:v>
                </c:pt>
                <c:pt idx="4">
                  <c:v>3830.37</c:v>
                </c:pt>
                <c:pt idx="5">
                  <c:v>6197.57</c:v>
                </c:pt>
                <c:pt idx="6">
                  <c:v>5139.8599999999997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E4D-4C1C-860D-D1AF721278F6}"/>
            </c:ext>
          </c:extLst>
        </c:ser>
        <c:ser>
          <c:idx val="8"/>
          <c:order val="8"/>
          <c:tx>
            <c:strRef>
              <c:f>Sheet1!$J$1</c:f>
              <c:strCache>
                <c:ptCount val="1"/>
                <c:pt idx="0">
                  <c:v>All other</c:v>
                </c:pt>
              </c:strCache>
            </c:strRef>
          </c:tx>
          <c:spPr>
            <a:solidFill>
              <a:srgbClr val="6C8CFF"/>
            </a:solidFill>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6260.39</c:v>
                </c:pt>
                <c:pt idx="1">
                  <c:v>7002.8999999999987</c:v>
                </c:pt>
                <c:pt idx="2">
                  <c:v>12141.12</c:v>
                </c:pt>
                <c:pt idx="3">
                  <c:v>5862.0499999999993</c:v>
                </c:pt>
                <c:pt idx="4">
                  <c:v>5790.1100000000015</c:v>
                </c:pt>
                <c:pt idx="5">
                  <c:v>7274.5199999999995</c:v>
                </c:pt>
                <c:pt idx="6">
                  <c:v>-6323.6400000000012</c:v>
                </c:pt>
              </c:numCache>
            </c:numRef>
          </c:val>
          <c:extLst>
            <c:ext xmlns:c16="http://schemas.microsoft.com/office/drawing/2014/chart" uri="{C3380CC4-5D6E-409C-BE32-E72D297353CC}">
              <c16:uniqueId val="{00000008-CE4D-4C1C-860D-D1AF721278F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EC2 - Compute</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31180.69</c:v>
                </c:pt>
                <c:pt idx="1">
                  <c:v>28236.720000000001</c:v>
                </c:pt>
                <c:pt idx="2">
                  <c:v>32994.93</c:v>
                </c:pt>
                <c:pt idx="3">
                  <c:v>32045.93</c:v>
                </c:pt>
                <c:pt idx="4">
                  <c:v>35082.639999999999</c:v>
                </c:pt>
                <c:pt idx="5">
                  <c:v>33427.89</c:v>
                </c:pt>
                <c:pt idx="6">
                  <c:v>35426.33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694-4DCC-968C-E38A47F5277F}"/>
            </c:ext>
          </c:extLst>
        </c:ser>
        <c:ser>
          <c:idx val="1"/>
          <c:order val="1"/>
          <c:tx>
            <c:strRef>
              <c:f>Sheet1!$C$1</c:f>
              <c:strCache>
                <c:ptCount val="1"/>
                <c:pt idx="0">
                  <c:v>Business Support</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3876.88</c:v>
                </c:pt>
                <c:pt idx="1">
                  <c:v>4268.96</c:v>
                </c:pt>
                <c:pt idx="2">
                  <c:v>4581.17</c:v>
                </c:pt>
                <c:pt idx="3">
                  <c:v>4108.04</c:v>
                </c:pt>
                <c:pt idx="4">
                  <c:v>4478.1000000000004</c:v>
                </c:pt>
                <c:pt idx="5">
                  <c:v>4839.1400000000003</c:v>
                </c:pt>
                <c:pt idx="6">
                  <c:v>5893.49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694-4DCC-968C-E38A47F5277F}"/>
            </c:ext>
          </c:extLst>
        </c:ser>
        <c:ser>
          <c:idx val="2"/>
          <c:order val="2"/>
          <c:tx>
            <c:strRef>
              <c:f>Sheet1!$D$1</c:f>
              <c:strCache>
                <c:ptCount val="1"/>
                <c:pt idx="0">
                  <c:v>S3 - Storage</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1978.49</c:v>
                </c:pt>
                <c:pt idx="1">
                  <c:v>13276.31</c:v>
                </c:pt>
                <c:pt idx="2">
                  <c:v>5868.01</c:v>
                </c:pt>
                <c:pt idx="3">
                  <c:v>2134.4699999999998</c:v>
                </c:pt>
                <c:pt idx="4">
                  <c:v>2249.46</c:v>
                </c:pt>
                <c:pt idx="5">
                  <c:v>2370.09</c:v>
                </c:pt>
                <c:pt idx="6">
                  <c:v>2324.71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694-4DCC-968C-E38A47F5277F}"/>
            </c:ext>
          </c:extLst>
        </c:ser>
        <c:ser>
          <c:idx val="3"/>
          <c:order val="3"/>
          <c:tx>
            <c:strRef>
              <c:f>Sheet1!$E$1</c:f>
              <c:strCache>
                <c:ptCount val="1"/>
                <c:pt idx="0">
                  <c:v>Virtual Private Cloud - Transit Gateway</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3925.73</c:v>
                </c:pt>
                <c:pt idx="1">
                  <c:v>3570.88</c:v>
                </c:pt>
                <c:pt idx="2">
                  <c:v>3963.99</c:v>
                </c:pt>
                <c:pt idx="3">
                  <c:v>3878.04</c:v>
                </c:pt>
                <c:pt idx="4">
                  <c:v>4428.68</c:v>
                </c:pt>
                <c:pt idx="5">
                  <c:v>4573.6000000000004</c:v>
                </c:pt>
                <c:pt idx="6">
                  <c:v>4657.2700000000004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C694-4DCC-968C-E38A47F5277F}"/>
            </c:ext>
          </c:extLst>
        </c:ser>
        <c:ser>
          <c:idx val="4"/>
          <c:order val="4"/>
          <c:tx>
            <c:strRef>
              <c:f>Sheet1!$F$1</c:f>
              <c:strCache>
                <c:ptCount val="1"/>
                <c:pt idx="0">
                  <c:v>RDS - Compute</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4939.68</c:v>
                </c:pt>
                <c:pt idx="1">
                  <c:v>3272.18</c:v>
                </c:pt>
                <c:pt idx="2">
                  <c:v>3522.03</c:v>
                </c:pt>
                <c:pt idx="3">
                  <c:v>3408.12</c:v>
                </c:pt>
                <c:pt idx="4">
                  <c:v>3521.72</c:v>
                </c:pt>
                <c:pt idx="5">
                  <c:v>4011.45</c:v>
                </c:pt>
                <c:pt idx="6">
                  <c:v>4355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C694-4DCC-968C-E38A47F5277F}"/>
            </c:ext>
          </c:extLst>
        </c:ser>
        <c:ser>
          <c:idx val="5"/>
          <c:order val="5"/>
          <c:tx>
            <c:strRef>
              <c:f>Sheet1!$G$1</c:f>
              <c:strCache>
                <c:ptCount val="1"/>
                <c:pt idx="0">
                  <c:v>Direct Connect - Port Hours</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3794.4</c:v>
                </c:pt>
                <c:pt idx="1">
                  <c:v>3427.2</c:v>
                </c:pt>
                <c:pt idx="2">
                  <c:v>3794.4</c:v>
                </c:pt>
                <c:pt idx="3">
                  <c:v>3672</c:v>
                </c:pt>
                <c:pt idx="4">
                  <c:v>3794.4</c:v>
                </c:pt>
                <c:pt idx="5">
                  <c:v>3672</c:v>
                </c:pt>
                <c:pt idx="6">
                  <c:v>3794.4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694-4DCC-968C-E38A47F5277F}"/>
            </c:ext>
          </c:extLst>
        </c:ser>
        <c:ser>
          <c:idx val="6"/>
          <c:order val="6"/>
          <c:tx>
            <c:strRef>
              <c:f>Sheet1!$H$1</c:f>
              <c:strCache>
                <c:ptCount val="1"/>
                <c:pt idx="0">
                  <c:v>CloudWatch Log Groups</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2791.6</c:v>
                </c:pt>
                <c:pt idx="1">
                  <c:v>2486.91</c:v>
                </c:pt>
                <c:pt idx="2">
                  <c:v>2914.14</c:v>
                </c:pt>
                <c:pt idx="3">
                  <c:v>2895.9</c:v>
                </c:pt>
                <c:pt idx="4">
                  <c:v>3040.1</c:v>
                </c:pt>
                <c:pt idx="5">
                  <c:v>3061.85</c:v>
                </c:pt>
                <c:pt idx="6">
                  <c:v>2991.11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694-4DCC-968C-E38A47F5277F}"/>
            </c:ext>
          </c:extLst>
        </c:ser>
        <c:ser>
          <c:idx val="7"/>
          <c:order val="7"/>
          <c:tx>
            <c:strRef>
              <c:f>Sheet1!$I$1</c:f>
              <c:strCache>
                <c:ptCount val="1"/>
                <c:pt idx="0">
                  <c:v>all other services</c:v>
                </c:pt>
              </c:strCache>
            </c:strRef>
          </c:tx>
          <c:spPr>
            <a:solidFill>
              <a:srgbClr val="FFB84D"/>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2981.34</c:v>
                </c:pt>
                <c:pt idx="1">
                  <c:v>4394.96</c:v>
                </c:pt>
                <c:pt idx="2">
                  <c:v>3697.84</c:v>
                </c:pt>
                <c:pt idx="3">
                  <c:v>2273.25</c:v>
                </c:pt>
                <c:pt idx="4">
                  <c:v>2037.07</c:v>
                </c:pt>
                <c:pt idx="5">
                  <c:v>1889.52</c:v>
                </c:pt>
                <c:pt idx="6">
                  <c:v>1276.28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694-4DCC-968C-E38A47F5277F}"/>
            </c:ext>
          </c:extLst>
        </c:ser>
        <c:ser>
          <c:idx val="8"/>
          <c:order val="8"/>
          <c:tx>
            <c:strRef>
              <c:f>Sheet1!$J$1</c:f>
              <c:strCache>
                <c:ptCount val="1"/>
                <c:pt idx="0">
                  <c:v>All other</c:v>
                </c:pt>
              </c:strCache>
            </c:strRef>
          </c:tx>
          <c:spPr>
            <a:solidFill>
              <a:srgbClr val="6C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21656.71000000001</c:v>
                </c:pt>
                <c:pt idx="1">
                  <c:v>19648.099999999999</c:v>
                </c:pt>
                <c:pt idx="2">
                  <c:v>34523.78</c:v>
                </c:pt>
                <c:pt idx="3">
                  <c:v>27513.360000000008</c:v>
                </c:pt>
                <c:pt idx="4">
                  <c:v>24430.3</c:v>
                </c:pt>
                <c:pt idx="5">
                  <c:v>28735.639999999996</c:v>
                </c:pt>
                <c:pt idx="6">
                  <c:v>16111.090000000006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C694-4DCC-968C-E38A47F5277F}"/>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datacloud</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47462</c:v>
                </c:pt>
                <c:pt idx="1">
                  <c:v>49198.19</c:v>
                </c:pt>
                <c:pt idx="2">
                  <c:v>54536</c:v>
                </c:pt>
                <c:pt idx="3">
                  <c:v>50235.01</c:v>
                </c:pt>
                <c:pt idx="4">
                  <c:v>43924.46</c:v>
                </c:pt>
                <c:pt idx="5">
                  <c:v>44390</c:v>
                </c:pt>
                <c:pt idx="6">
                  <c:v>49118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6AC-4CD9-89F0-D0FAF12DA404}"/>
            </c:ext>
          </c:extLst>
        </c:ser>
        <c:ser>
          <c:idx val="1"/>
          <c:order val="1"/>
          <c:tx>
            <c:strRef>
              <c:f>Sheet1!$C$1</c:f>
              <c:strCache>
                <c:ptCount val="1"/>
                <c:pt idx="0">
                  <c:v>sap</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42266</c:v>
                </c:pt>
                <c:pt idx="1">
                  <c:v>39098.06</c:v>
                </c:pt>
                <c:pt idx="2">
                  <c:v>41546</c:v>
                </c:pt>
                <c:pt idx="3">
                  <c:v>40825.4</c:v>
                </c:pt>
                <c:pt idx="4">
                  <c:v>46601</c:v>
                </c:pt>
                <c:pt idx="5">
                  <c:v>42665</c:v>
                </c:pt>
                <c:pt idx="6">
                  <c:v>40925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6AC-4CD9-89F0-D0FAF12DA404}"/>
            </c:ext>
          </c:extLst>
        </c:ser>
        <c:ser>
          <c:idx val="2"/>
          <c:order val="2"/>
          <c:tx>
            <c:strRef>
              <c:f>Sheet1!$D$1</c:f>
              <c:strCache>
                <c:ptCount val="1"/>
                <c:pt idx="0">
                  <c:v>cloudit</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30915</c:v>
                </c:pt>
                <c:pt idx="1">
                  <c:v>24680.95</c:v>
                </c:pt>
                <c:pt idx="2">
                  <c:v>40730</c:v>
                </c:pt>
                <c:pt idx="3">
                  <c:v>29195.48</c:v>
                </c:pt>
                <c:pt idx="4">
                  <c:v>28615</c:v>
                </c:pt>
                <c:pt idx="5">
                  <c:v>28585</c:v>
                </c:pt>
                <c:pt idx="6">
                  <c:v>33421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6AC-4CD9-89F0-D0FAF12DA404}"/>
            </c:ext>
          </c:extLst>
        </c:ser>
        <c:ser>
          <c:idx val="3"/>
          <c:order val="3"/>
          <c:tx>
            <c:strRef>
              <c:f>Sheet1!$E$1</c:f>
              <c:strCache>
                <c:ptCount val="1"/>
                <c:pt idx="0">
                  <c:v>aifactory</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854</c:v>
                </c:pt>
                <c:pt idx="1">
                  <c:v>3477.58</c:v>
                </c:pt>
                <c:pt idx="2">
                  <c:v>12632</c:v>
                </c:pt>
                <c:pt idx="3">
                  <c:v>11675.62</c:v>
                </c:pt>
                <c:pt idx="4">
                  <c:v>13656</c:v>
                </c:pt>
                <c:pt idx="5">
                  <c:v>26476</c:v>
                </c:pt>
                <c:pt idx="6">
                  <c:v>24531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6AC-4CD9-89F0-D0FAF12DA404}"/>
            </c:ext>
          </c:extLst>
        </c:ser>
        <c:ser>
          <c:idx val="4"/>
          <c:order val="4"/>
          <c:tx>
            <c:strRef>
              <c:f>Sheet1!$F$1</c:f>
              <c:strCache>
                <c:ptCount val="1"/>
                <c:pt idx="0">
                  <c:v>other</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4371</c:v>
                </c:pt>
                <c:pt idx="1">
                  <c:v>5240</c:v>
                </c:pt>
                <c:pt idx="2">
                  <c:v>5614</c:v>
                </c:pt>
                <c:pt idx="3">
                  <c:v>5760</c:v>
                </c:pt>
                <c:pt idx="4">
                  <c:v>8681.34</c:v>
                </c:pt>
                <c:pt idx="5">
                  <c:v>18094</c:v>
                </c:pt>
                <c:pt idx="6">
                  <c:v>22410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6AC-4CD9-89F0-D0FAF12DA404}"/>
            </c:ext>
          </c:extLst>
        </c:ser>
        <c:ser>
          <c:idx val="5"/>
          <c:order val="5"/>
          <c:tx>
            <c:strRef>
              <c:f>Sheet1!$G$1</c:f>
              <c:strCache>
                <c:ptCount val="1"/>
                <c:pt idx="0">
                  <c:v>actuary</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15102</c:v>
                </c:pt>
                <c:pt idx="1">
                  <c:v>4959.24</c:v>
                </c:pt>
                <c:pt idx="2">
                  <c:v>3549</c:v>
                </c:pt>
                <c:pt idx="3">
                  <c:v>5341</c:v>
                </c:pt>
                <c:pt idx="4">
                  <c:v>4672</c:v>
                </c:pt>
                <c:pt idx="5">
                  <c:v>2733</c:v>
                </c:pt>
                <c:pt idx="6">
                  <c:v>4058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6AC-4CD9-89F0-D0FAF12DA404}"/>
            </c:ext>
          </c:extLst>
        </c:ser>
        <c:ser>
          <c:idx val="6"/>
          <c:order val="6"/>
          <c:tx>
            <c:strRef>
              <c:f>Sheet1!$H$1</c:f>
              <c:strCache>
                <c:ptCount val="1"/>
                <c:pt idx="0">
                  <c:v>Risk Agility</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13063</c:v>
                </c:pt>
                <c:pt idx="1">
                  <c:v>5274</c:v>
                </c:pt>
                <c:pt idx="2">
                  <c:v>2617</c:v>
                </c:pt>
                <c:pt idx="3">
                  <c:v>5768</c:v>
                </c:pt>
                <c:pt idx="4">
                  <c:v>2842</c:v>
                </c:pt>
                <c:pt idx="5">
                  <c:v>1031</c:v>
                </c:pt>
                <c:pt idx="6">
                  <c:v>1032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6AC-4CD9-89F0-D0FAF12DA404}"/>
            </c:ext>
          </c:extLst>
        </c:ser>
        <c:ser>
          <c:idx val="7"/>
          <c:order val="7"/>
          <c:tx>
            <c:strRef>
              <c:f>Sheet1!$I$1</c:f>
              <c:strCache>
                <c:ptCount val="1"/>
                <c:pt idx="0">
                  <c:v>itsec</c:v>
                </c:pt>
              </c:strCache>
            </c:strRef>
          </c:tx>
          <c:spPr>
            <a:solidFill>
              <a:srgbClr val="FFB84D"/>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2082</c:v>
                </c:pt>
                <c:pt idx="1">
                  <c:v>1733.66</c:v>
                </c:pt>
                <c:pt idx="2">
                  <c:v>1908</c:v>
                </c:pt>
                <c:pt idx="3">
                  <c:v>1897.79</c:v>
                </c:pt>
                <c:pt idx="4">
                  <c:v>2047</c:v>
                </c:pt>
                <c:pt idx="5">
                  <c:v>2059</c:v>
                </c:pt>
                <c:pt idx="6">
                  <c:v>2221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56AC-4CD9-89F0-D0FAF12DA404}"/>
            </c:ext>
          </c:extLst>
        </c:ser>
        <c:ser>
          <c:idx val="8"/>
          <c:order val="8"/>
          <c:tx>
            <c:strRef>
              <c:f>Sheet1!$J$1</c:f>
              <c:strCache>
                <c:ptCount val="1"/>
                <c:pt idx="0">
                  <c:v>All other</c:v>
                </c:pt>
              </c:strCache>
            </c:strRef>
          </c:tx>
          <c:spPr>
            <a:solidFill>
              <a:srgbClr val="6C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874.61</c:v>
                </c:pt>
                <c:pt idx="1">
                  <c:v>2079.7999999999997</c:v>
                </c:pt>
                <c:pt idx="2">
                  <c:v>2067</c:v>
                </c:pt>
                <c:pt idx="3">
                  <c:v>1879.0600000000002</c:v>
                </c:pt>
                <c:pt idx="4">
                  <c:v>1224.2</c:v>
                </c:pt>
                <c:pt idx="5">
                  <c:v>1373</c:v>
                </c:pt>
                <c:pt idx="6">
                  <c:v>9201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56AC-4CD9-89F0-D0FAF12DA404}"/>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58546.14</c:v>
                </c:pt>
                <c:pt idx="1">
                  <c:v>48277</c:v>
                </c:pt>
                <c:pt idx="2">
                  <c:v>52579.27</c:v>
                </c:pt>
                <c:pt idx="3">
                  <c:v>51502.75</c:v>
                </c:pt>
                <c:pt idx="4">
                  <c:v>57465.99</c:v>
                </c:pt>
                <c:pt idx="5">
                  <c:v>52188.55</c:v>
                </c:pt>
                <c:pt idx="6">
                  <c:v>53314.28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CC3-4019-A2DB-D7A42539E9B5}"/>
            </c:ext>
          </c:extLst>
        </c:ser>
        <c:ser>
          <c:idx val="1"/>
          <c:order val="1"/>
          <c:tx>
            <c:strRef>
              <c:f>Sheet1!$C$1</c:f>
              <c:strCache>
                <c:ptCount val="1"/>
                <c:pt idx="0">
                  <c:v>Storage</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24139.41</c:v>
                </c:pt>
                <c:pt idx="1">
                  <c:v>22951</c:v>
                </c:pt>
                <c:pt idx="2">
                  <c:v>22458.080000000002</c:v>
                </c:pt>
                <c:pt idx="3">
                  <c:v>22680.51</c:v>
                </c:pt>
                <c:pt idx="4">
                  <c:v>24615.18</c:v>
                </c:pt>
                <c:pt idx="5">
                  <c:v>25022.53</c:v>
                </c:pt>
                <c:pt idx="6">
                  <c:v>26364.22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CC3-4019-A2DB-D7A42539E9B5}"/>
            </c:ext>
          </c:extLst>
        </c:ser>
        <c:ser>
          <c:idx val="2"/>
          <c:order val="2"/>
          <c:tx>
            <c:strRef>
              <c:f>Sheet1!$D$1</c:f>
              <c:strCache>
                <c:ptCount val="1"/>
                <c:pt idx="0">
                  <c:v>Virtual Network</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12726.23</c:v>
                </c:pt>
                <c:pt idx="1">
                  <c:v>12145</c:v>
                </c:pt>
                <c:pt idx="2">
                  <c:v>14087.61</c:v>
                </c:pt>
                <c:pt idx="3">
                  <c:v>15311.83</c:v>
                </c:pt>
                <c:pt idx="4">
                  <c:v>18338.27</c:v>
                </c:pt>
                <c:pt idx="5">
                  <c:v>18564.990000000002</c:v>
                </c:pt>
                <c:pt idx="6">
                  <c:v>21999.599999999999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CC3-4019-A2DB-D7A42539E9B5}"/>
            </c:ext>
          </c:extLst>
        </c:ser>
        <c:ser>
          <c:idx val="3"/>
          <c:order val="3"/>
          <c:tx>
            <c:strRef>
              <c:f>Sheet1!$E$1</c:f>
              <c:strCache>
                <c:ptCount val="1"/>
                <c:pt idx="0">
                  <c:v>Other services</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11748.56</c:v>
                </c:pt>
                <c:pt idx="1">
                  <c:v>10773</c:v>
                </c:pt>
                <c:pt idx="2">
                  <c:v>12318.12</c:v>
                </c:pt>
                <c:pt idx="3">
                  <c:v>12412.59</c:v>
                </c:pt>
                <c:pt idx="4">
                  <c:v>15149.61</c:v>
                </c:pt>
                <c:pt idx="5">
                  <c:v>18338.580000000002</c:v>
                </c:pt>
                <c:pt idx="6">
                  <c:v>20600.18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CC3-4019-A2DB-D7A42539E9B5}"/>
            </c:ext>
          </c:extLst>
        </c:ser>
        <c:ser>
          <c:idx val="4"/>
          <c:order val="4"/>
          <c:tx>
            <c:strRef>
              <c:f>Sheet1!$F$1</c:f>
              <c:strCache>
                <c:ptCount val="1"/>
                <c:pt idx="0">
                  <c:v>Azure Databricks</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24556.13</c:v>
                </c:pt>
                <c:pt idx="1">
                  <c:v>18645</c:v>
                </c:pt>
                <c:pt idx="2">
                  <c:v>22427.89</c:v>
                </c:pt>
                <c:pt idx="3">
                  <c:v>19936.330000000002</c:v>
                </c:pt>
                <c:pt idx="4">
                  <c:v>0</c:v>
                </c:pt>
                <c:pt idx="5">
                  <c:v>0</c:v>
                </c:pt>
                <c:pt idx="6">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CC3-4019-A2DB-D7A42539E9B5}"/>
            </c:ext>
          </c:extLst>
        </c:ser>
        <c:ser>
          <c:idx val="5"/>
          <c:order val="5"/>
          <c:tx>
            <c:strRef>
              <c:f>Sheet1!$G$1</c:f>
              <c:strCache>
                <c:ptCount val="1"/>
                <c:pt idx="0">
                  <c:v>GitHub</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2778.52</c:v>
                </c:pt>
                <c:pt idx="1">
                  <c:v>3618</c:v>
                </c:pt>
                <c:pt idx="2">
                  <c:v>4319.13</c:v>
                </c:pt>
                <c:pt idx="3">
                  <c:v>4079.57</c:v>
                </c:pt>
                <c:pt idx="4">
                  <c:v>6467.04</c:v>
                </c:pt>
                <c:pt idx="5">
                  <c:v>16654.2</c:v>
                </c:pt>
                <c:pt idx="6">
                  <c:v>19259.78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0CC3-4019-A2DB-D7A42539E9B5}"/>
            </c:ext>
          </c:extLst>
        </c:ser>
        <c:ser>
          <c:idx val="6"/>
          <c:order val="6"/>
          <c:tx>
            <c:strRef>
              <c:f>Sheet1!$H$1</c:f>
              <c:strCache>
                <c:ptCount val="1"/>
                <c:pt idx="0">
                  <c:v>Foundry Models</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1353.37</c:v>
                </c:pt>
                <c:pt idx="1">
                  <c:v>2260</c:v>
                </c:pt>
                <c:pt idx="2">
                  <c:v>4236.3500000000004</c:v>
                </c:pt>
                <c:pt idx="3">
                  <c:v>8369.39</c:v>
                </c:pt>
                <c:pt idx="4">
                  <c:v>11512.76</c:v>
                </c:pt>
                <c:pt idx="5">
                  <c:v>15453.34</c:v>
                </c:pt>
                <c:pt idx="6">
                  <c:v>12291.25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CC3-4019-A2DB-D7A42539E9B5}"/>
            </c:ext>
          </c:extLst>
        </c:ser>
        <c:ser>
          <c:idx val="7"/>
          <c:order val="7"/>
          <c:tx>
            <c:strRef>
              <c:f>Sheet1!$I$1</c:f>
              <c:strCache>
                <c:ptCount val="1"/>
                <c:pt idx="0">
                  <c:v>Log Analytics</c:v>
                </c:pt>
              </c:strCache>
            </c:strRef>
          </c:tx>
          <c:spPr>
            <a:solidFill>
              <a:srgbClr val="FFB84D"/>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7521.92</c:v>
                </c:pt>
                <c:pt idx="1">
                  <c:v>3955</c:v>
                </c:pt>
                <c:pt idx="2">
                  <c:v>10858.98</c:v>
                </c:pt>
                <c:pt idx="3">
                  <c:v>3911.97</c:v>
                </c:pt>
                <c:pt idx="4">
                  <c:v>2204.52</c:v>
                </c:pt>
                <c:pt idx="5">
                  <c:v>2318.73</c:v>
                </c:pt>
                <c:pt idx="6">
                  <c:v>2680.5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0CC3-4019-A2DB-D7A42539E9B5}"/>
            </c:ext>
          </c:extLst>
        </c:ser>
        <c:ser>
          <c:idx val="8"/>
          <c:order val="8"/>
          <c:tx>
            <c:strRef>
              <c:f>Sheet1!$J$1</c:f>
              <c:strCache>
                <c:ptCount val="1"/>
                <c:pt idx="0">
                  <c:v>All other</c:v>
                </c:pt>
              </c:strCache>
            </c:strRef>
          </c:tx>
          <c:spPr>
            <a:solidFill>
              <a:srgbClr val="6C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13619.52</c:v>
                </c:pt>
                <c:pt idx="1">
                  <c:v>13118</c:v>
                </c:pt>
                <c:pt idx="2">
                  <c:v>21913.22</c:v>
                </c:pt>
                <c:pt idx="3">
                  <c:v>14372.410000000002</c:v>
                </c:pt>
                <c:pt idx="4">
                  <c:v>16509.63</c:v>
                </c:pt>
                <c:pt idx="5">
                  <c:v>18865.080000000005</c:v>
                </c:pt>
                <c:pt idx="6">
                  <c:v>30407.200000000001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0CC3-4019-A2DB-D7A42539E9B5}"/>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8001.69</c:v>
                </c:pt>
                <c:pt idx="1">
                  <c:v>8851</c:v>
                </c:pt>
                <c:pt idx="2">
                  <c:v>9977</c:v>
                </c:pt>
                <c:pt idx="3">
                  <c:v>8938.34</c:v>
                </c:pt>
                <c:pt idx="4">
                  <c:v>10192.34</c:v>
                </c:pt>
                <c:pt idx="5">
                  <c:v>10365.58</c:v>
                </c:pt>
                <c:pt idx="6">
                  <c:v>11078.33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ED0-4D43-912F-F6134FA2ADF2}"/>
            </c:ext>
          </c:extLst>
        </c:ser>
        <c:ser>
          <c:idx val="1"/>
          <c:order val="1"/>
          <c:tx>
            <c:strRef>
              <c:f>Sheet1!$C$1</c:f>
              <c:strCache>
                <c:ptCount val="1"/>
                <c:pt idx="0">
                  <c:v>Azure Databricks</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13661.81</c:v>
                </c:pt>
                <c:pt idx="1">
                  <c:v>14023</c:v>
                </c:pt>
                <c:pt idx="2">
                  <c:v>19412</c:v>
                </c:pt>
                <c:pt idx="3">
                  <c:v>16633.53</c:v>
                </c:pt>
                <c:pt idx="4">
                  <c:v>0</c:v>
                </c:pt>
                <c:pt idx="5">
                  <c:v>0</c:v>
                </c:pt>
                <c:pt idx="6">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ED0-4D43-912F-F6134FA2ADF2}"/>
            </c:ext>
          </c:extLst>
        </c:ser>
        <c:ser>
          <c:idx val="2"/>
          <c:order val="2"/>
          <c:tx>
            <c:strRef>
              <c:f>Sheet1!$D$1</c:f>
              <c:strCache>
                <c:ptCount val="1"/>
                <c:pt idx="0">
                  <c:v>Storage</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5134.3100000000004</c:v>
                </c:pt>
                <c:pt idx="1">
                  <c:v>5630</c:v>
                </c:pt>
                <c:pt idx="2">
                  <c:v>5747</c:v>
                </c:pt>
                <c:pt idx="3">
                  <c:v>5515.42</c:v>
                </c:pt>
                <c:pt idx="4">
                  <c:v>6124.59</c:v>
                </c:pt>
                <c:pt idx="5">
                  <c:v>6488.31</c:v>
                </c:pt>
                <c:pt idx="6">
                  <c:v>6847.08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ED0-4D43-912F-F6134FA2ADF2}"/>
            </c:ext>
          </c:extLst>
        </c:ser>
        <c:ser>
          <c:idx val="3"/>
          <c:order val="3"/>
          <c:tx>
            <c:strRef>
              <c:f>Sheet1!$E$1</c:f>
              <c:strCache>
                <c:ptCount val="1"/>
                <c:pt idx="0">
                  <c:v>Virtual Network</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4756.18</c:v>
                </c:pt>
                <c:pt idx="1">
                  <c:v>4988</c:v>
                </c:pt>
                <c:pt idx="2">
                  <c:v>5905.3</c:v>
                </c:pt>
                <c:pt idx="3">
                  <c:v>5036.83</c:v>
                </c:pt>
                <c:pt idx="4">
                  <c:v>5067.49</c:v>
                </c:pt>
                <c:pt idx="5">
                  <c:v>6698.63</c:v>
                </c:pt>
                <c:pt idx="6">
                  <c:v>7400.62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ED0-4D43-912F-F6134FA2ADF2}"/>
            </c:ext>
          </c:extLst>
        </c:ser>
        <c:ser>
          <c:idx val="4"/>
          <c:order val="4"/>
          <c:tx>
            <c:strRef>
              <c:f>Sheet1!$F$1</c:f>
              <c:strCache>
                <c:ptCount val="1"/>
                <c:pt idx="0">
                  <c:v>Foundry Models</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1347.06</c:v>
                </c:pt>
                <c:pt idx="1">
                  <c:v>2243</c:v>
                </c:pt>
                <c:pt idx="2">
                  <c:v>1274.47</c:v>
                </c:pt>
                <c:pt idx="3">
                  <c:v>4218.08</c:v>
                </c:pt>
                <c:pt idx="4">
                  <c:v>10329.629999999999</c:v>
                </c:pt>
                <c:pt idx="5">
                  <c:v>5769.96</c:v>
                </c:pt>
                <c:pt idx="6">
                  <c:v>6649.77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ED0-4D43-912F-F6134FA2ADF2}"/>
            </c:ext>
          </c:extLst>
        </c:ser>
        <c:ser>
          <c:idx val="5"/>
          <c:order val="5"/>
          <c:tx>
            <c:strRef>
              <c:f>Sheet1!$G$1</c:f>
              <c:strCache>
                <c:ptCount val="1"/>
                <c:pt idx="0">
                  <c:v>Foundry Tools</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4271.49</c:v>
                </c:pt>
                <c:pt idx="1">
                  <c:v>4337</c:v>
                </c:pt>
                <c:pt idx="2">
                  <c:v>3298.75</c:v>
                </c:pt>
                <c:pt idx="3">
                  <c:v>1922.73</c:v>
                </c:pt>
                <c:pt idx="4">
                  <c:v>3305.17</c:v>
                </c:pt>
                <c:pt idx="5">
                  <c:v>5675.5</c:v>
                </c:pt>
                <c:pt idx="6">
                  <c:v>6603.58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ED0-4D43-912F-F6134FA2ADF2}"/>
            </c:ext>
          </c:extLst>
        </c:ser>
        <c:ser>
          <c:idx val="6"/>
          <c:order val="6"/>
          <c:tx>
            <c:strRef>
              <c:f>Sheet1!$H$1</c:f>
              <c:strCache>
                <c:ptCount val="1"/>
                <c:pt idx="0">
                  <c:v>All other</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10289.35</c:v>
                </c:pt>
                <c:pt idx="1">
                  <c:v>9126</c:v>
                </c:pt>
                <c:pt idx="2">
                  <c:v>8921.9800000000014</c:v>
                </c:pt>
                <c:pt idx="3">
                  <c:v>7970.0800000000008</c:v>
                </c:pt>
                <c:pt idx="4">
                  <c:v>8905.24</c:v>
                </c:pt>
                <c:pt idx="5">
                  <c:v>9392.630000000001</c:v>
                </c:pt>
                <c:pt idx="6">
                  <c:v>10538.439999999999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ED0-4D43-912F-F6134FA2ADF2}"/>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DataCloud prod</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40269.800000000003</c:v>
                </c:pt>
                <c:pt idx="1">
                  <c:v>41870.089999999997</c:v>
                </c:pt>
                <c:pt idx="2">
                  <c:v>48649</c:v>
                </c:pt>
                <c:pt idx="3">
                  <c:v>42196.41</c:v>
                </c:pt>
                <c:pt idx="4">
                  <c:v>29317.96</c:v>
                </c:pt>
                <c:pt idx="5">
                  <c:v>33038.949999999997</c:v>
                </c:pt>
                <c:pt idx="6">
                  <c:v>36010.25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43D-4AB2-98D0-29722C46F801}"/>
            </c:ext>
          </c:extLst>
        </c:ser>
        <c:ser>
          <c:idx val="1"/>
          <c:order val="1"/>
          <c:tx>
            <c:strRef>
              <c:f>Sheet1!$C$1</c:f>
              <c:strCache>
                <c:ptCount val="1"/>
                <c:pt idx="0">
                  <c:v>Solugen Production</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854.16</c:v>
                </c:pt>
                <c:pt idx="1">
                  <c:v>702.78</c:v>
                </c:pt>
                <c:pt idx="2">
                  <c:v>620.89</c:v>
                </c:pt>
                <c:pt idx="3">
                  <c:v>1545.48</c:v>
                </c:pt>
                <c:pt idx="4">
                  <c:v>10021.98</c:v>
                </c:pt>
                <c:pt idx="5">
                  <c:v>6749.23</c:v>
                </c:pt>
                <c:pt idx="6">
                  <c:v>8415.8700000000008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43D-4AB2-98D0-29722C46F801}"/>
            </c:ext>
          </c:extLst>
        </c:ser>
        <c:ser>
          <c:idx val="2"/>
          <c:order val="2"/>
          <c:tx>
            <c:strRef>
              <c:f>Sheet1!$D$1</c:f>
              <c:strCache>
                <c:ptCount val="1"/>
                <c:pt idx="0">
                  <c:v>DataCloud dev</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3242.73</c:v>
                </c:pt>
                <c:pt idx="1">
                  <c:v>2995.17</c:v>
                </c:pt>
                <c:pt idx="2">
                  <c:v>2380</c:v>
                </c:pt>
                <c:pt idx="3">
                  <c:v>3985.63</c:v>
                </c:pt>
                <c:pt idx="4">
                  <c:v>1715.02</c:v>
                </c:pt>
                <c:pt idx="5">
                  <c:v>1838.65</c:v>
                </c:pt>
                <c:pt idx="6">
                  <c:v>1579.05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43D-4AB2-98D0-29722C46F801}"/>
            </c:ext>
          </c:extLst>
        </c:ser>
        <c:ser>
          <c:idx val="3"/>
          <c:order val="3"/>
          <c:tx>
            <c:strRef>
              <c:f>Sheet1!$E$1</c:f>
              <c:strCache>
                <c:ptCount val="1"/>
                <c:pt idx="0">
                  <c:v>INSAIT Production</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1063.6300000000001</c:v>
                </c:pt>
                <c:pt idx="1">
                  <c:v>1914.41</c:v>
                </c:pt>
                <c:pt idx="2">
                  <c:v>1364.48</c:v>
                </c:pt>
                <c:pt idx="3">
                  <c:v>1354.4</c:v>
                </c:pt>
                <c:pt idx="4">
                  <c:v>1456.6</c:v>
                </c:pt>
                <c:pt idx="5">
                  <c:v>1604.48</c:v>
                </c:pt>
                <c:pt idx="6">
                  <c:v>1983.38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143D-4AB2-98D0-29722C46F801}"/>
            </c:ext>
          </c:extLst>
        </c:ser>
        <c:ser>
          <c:idx val="4"/>
          <c:order val="4"/>
          <c:tx>
            <c:strRef>
              <c:f>Sheet1!$F$1</c:f>
              <c:strCache>
                <c:ptCount val="1"/>
                <c:pt idx="0">
                  <c:v>DataCloud dev 1</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324.17</c:v>
                </c:pt>
                <c:pt idx="1">
                  <c:v>275</c:v>
                </c:pt>
                <c:pt idx="2">
                  <c:v>285.86</c:v>
                </c:pt>
                <c:pt idx="3">
                  <c:v>269.83999999999997</c:v>
                </c:pt>
                <c:pt idx="4">
                  <c:v>281.57</c:v>
                </c:pt>
                <c:pt idx="5">
                  <c:v>269.20999999999998</c:v>
                </c:pt>
                <c:pt idx="6">
                  <c:v>278.23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143D-4AB2-98D0-29722C46F801}"/>
            </c:ext>
          </c:extLst>
        </c:ser>
        <c:ser>
          <c:idx val="5"/>
          <c:order val="5"/>
          <c:tx>
            <c:strRef>
              <c:f>Sheet1!$G$1</c:f>
              <c:strCache>
                <c:ptCount val="1"/>
                <c:pt idx="0">
                  <c:v>Sandbox System</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263.89</c:v>
                </c:pt>
                <c:pt idx="1">
                  <c:v>308.02999999999997</c:v>
                </c:pt>
                <c:pt idx="2">
                  <c:v>265</c:v>
                </c:pt>
                <c:pt idx="3">
                  <c:v>260.07</c:v>
                </c:pt>
                <c:pt idx="4">
                  <c:v>335.75</c:v>
                </c:pt>
                <c:pt idx="5">
                  <c:v>256.14</c:v>
                </c:pt>
                <c:pt idx="6">
                  <c:v>267.43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143D-4AB2-98D0-29722C46F801}"/>
            </c:ext>
          </c:extLst>
        </c:ser>
        <c:ser>
          <c:idx val="6"/>
          <c:order val="6"/>
          <c:tx>
            <c:strRef>
              <c:f>Sheet1!$H$1</c:f>
              <c:strCache>
                <c:ptCount val="1"/>
                <c:pt idx="0">
                  <c:v>All other</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1443.54</c:v>
                </c:pt>
                <c:pt idx="1">
                  <c:v>1132.52</c:v>
                </c:pt>
                <c:pt idx="2">
                  <c:v>971.12000000000012</c:v>
                </c:pt>
                <c:pt idx="3">
                  <c:v>623.18999999999983</c:v>
                </c:pt>
                <c:pt idx="4">
                  <c:v>796.06999999999994</c:v>
                </c:pt>
                <c:pt idx="5">
                  <c:v>633.94999999999993</c:v>
                </c:pt>
                <c:pt idx="6">
                  <c:v>583.62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143D-4AB2-98D0-29722C46F801}"/>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30152.87</c:v>
                </c:pt>
                <c:pt idx="1">
                  <c:v>28348</c:v>
                </c:pt>
                <c:pt idx="2">
                  <c:v>31348</c:v>
                </c:pt>
                <c:pt idx="3">
                  <c:v>30597</c:v>
                </c:pt>
                <c:pt idx="4">
                  <c:v>35586.32</c:v>
                </c:pt>
                <c:pt idx="5">
                  <c:v>31413</c:v>
                </c:pt>
                <c:pt idx="6">
                  <c:v>30117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32-4D6C-9BC5-958C6A36DA8A}"/>
            </c:ext>
          </c:extLst>
        </c:ser>
        <c:ser>
          <c:idx val="1"/>
          <c:order val="1"/>
          <c:tx>
            <c:strRef>
              <c:f>Sheet1!$C$1</c:f>
              <c:strCache>
                <c:ptCount val="1"/>
                <c:pt idx="0">
                  <c:v>Storage</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11916.96</c:v>
                </c:pt>
                <c:pt idx="1">
                  <c:v>10639</c:v>
                </c:pt>
                <c:pt idx="2">
                  <c:v>10074</c:v>
                </c:pt>
                <c:pt idx="3">
                  <c:v>10076</c:v>
                </c:pt>
                <c:pt idx="4">
                  <c:v>10811.81</c:v>
                </c:pt>
                <c:pt idx="5">
                  <c:v>11077</c:v>
                </c:pt>
                <c:pt idx="6">
                  <c:v>10526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E32-4D6C-9BC5-958C6A36DA8A}"/>
            </c:ext>
          </c:extLst>
        </c:ser>
        <c:ser>
          <c:idx val="2"/>
          <c:order val="2"/>
          <c:tx>
            <c:strRef>
              <c:f>Sheet1!$D$1</c:f>
              <c:strCache>
                <c:ptCount val="1"/>
                <c:pt idx="0">
                  <c:v>Virtual Network</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195.78</c:v>
                </c:pt>
                <c:pt idx="1">
                  <c:v>112</c:v>
                </c:pt>
                <c:pt idx="2">
                  <c:v>124</c:v>
                </c:pt>
                <c:pt idx="3">
                  <c:v>153</c:v>
                </c:pt>
                <c:pt idx="4">
                  <c:v>166.67</c:v>
                </c:pt>
                <c:pt idx="5">
                  <c:v>134</c:v>
                </c:pt>
                <c:pt idx="6">
                  <c:v>238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E32-4D6C-9BC5-958C6A36DA8A}"/>
            </c:ext>
          </c:extLst>
        </c:ser>
        <c:ser>
          <c:idx val="3"/>
          <c:order val="3"/>
          <c:tx>
            <c:strRef>
              <c:f>Sheet1!$E$1</c:f>
              <c:strCache>
                <c:ptCount val="1"/>
                <c:pt idx="0">
                  <c:v>Virtual Machines Licenses</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0</c:v>
                </c:pt>
                <c:pt idx="1">
                  <c:v>0</c:v>
                </c:pt>
                <c:pt idx="2">
                  <c:v>0</c:v>
                </c:pt>
                <c:pt idx="3">
                  <c:v>0</c:v>
                </c:pt>
                <c:pt idx="4">
                  <c:v>36.53</c:v>
                </c:pt>
                <c:pt idx="5">
                  <c:v>41</c:v>
                </c:pt>
                <c:pt idx="6">
                  <c:v>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8E32-4D6C-9BC5-958C6A36DA8A}"/>
            </c:ext>
          </c:extLst>
        </c:ser>
        <c:ser>
          <c:idx val="4"/>
          <c:order val="4"/>
          <c:tx>
            <c:strRef>
              <c:f>Sheet1!$F$1</c:f>
              <c:strCache>
                <c:ptCount val="1"/>
                <c:pt idx="0">
                  <c:v>Bandwidth</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0</c:v>
                </c:pt>
                <c:pt idx="1">
                  <c:v>0</c:v>
                </c:pt>
                <c:pt idx="2">
                  <c:v>0</c:v>
                </c:pt>
                <c:pt idx="3">
                  <c:v>0</c:v>
                </c:pt>
                <c:pt idx="4">
                  <c:v>0.01</c:v>
                </c:pt>
                <c:pt idx="5">
                  <c:v>0</c:v>
                </c:pt>
                <c:pt idx="6">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8E32-4D6C-9BC5-958C6A36DA8A}"/>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SAP Dev/Test</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23275.74</c:v>
                </c:pt>
                <c:pt idx="1">
                  <c:v>22687</c:v>
                </c:pt>
                <c:pt idx="2">
                  <c:v>24090</c:v>
                </c:pt>
                <c:pt idx="3">
                  <c:v>23647</c:v>
                </c:pt>
                <c:pt idx="4">
                  <c:v>26321.74</c:v>
                </c:pt>
                <c:pt idx="5">
                  <c:v>24985</c:v>
                </c:pt>
                <c:pt idx="6">
                  <c:v>23467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359-4080-838B-B6D835ED0C12}"/>
            </c:ext>
          </c:extLst>
        </c:ser>
        <c:ser>
          <c:idx val="1"/>
          <c:order val="1"/>
          <c:tx>
            <c:strRef>
              <c:f>Sheet1!$C$1</c:f>
              <c:strCache>
                <c:ptCount val="1"/>
                <c:pt idx="0">
                  <c:v>SAP Production</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18989.88</c:v>
                </c:pt>
                <c:pt idx="1">
                  <c:v>16411</c:v>
                </c:pt>
                <c:pt idx="2">
                  <c:v>17456</c:v>
                </c:pt>
                <c:pt idx="3">
                  <c:v>17178</c:v>
                </c:pt>
                <c:pt idx="4">
                  <c:v>20279.59</c:v>
                </c:pt>
                <c:pt idx="5">
                  <c:v>17680</c:v>
                </c:pt>
                <c:pt idx="6">
                  <c:v>17457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359-4080-838B-B6D835ED0C12}"/>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Virtual Network</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5740.91</c:v>
                </c:pt>
                <c:pt idx="1">
                  <c:v>5286</c:v>
                </c:pt>
                <c:pt idx="2">
                  <c:v>5960.04</c:v>
                </c:pt>
                <c:pt idx="3">
                  <c:v>7306.9</c:v>
                </c:pt>
                <c:pt idx="4">
                  <c:v>8900.5</c:v>
                </c:pt>
                <c:pt idx="5">
                  <c:v>8855.65</c:v>
                </c:pt>
                <c:pt idx="6">
                  <c:v>10913.22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AD3-4048-8290-6689F8F53EB0}"/>
            </c:ext>
          </c:extLst>
        </c:ser>
        <c:ser>
          <c:idx val="1"/>
          <c:order val="1"/>
          <c:tx>
            <c:strRef>
              <c:f>Sheet1!$C$1</c:f>
              <c:strCache>
                <c:ptCount val="1"/>
                <c:pt idx="0">
                  <c:v>Storage</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5000.41</c:v>
                </c:pt>
                <c:pt idx="1">
                  <c:v>4756</c:v>
                </c:pt>
                <c:pt idx="2">
                  <c:v>4679.66</c:v>
                </c:pt>
                <c:pt idx="3">
                  <c:v>4663.37</c:v>
                </c:pt>
                <c:pt idx="4">
                  <c:v>4758.84</c:v>
                </c:pt>
                <c:pt idx="5">
                  <c:v>4887.1499999999996</c:v>
                </c:pt>
                <c:pt idx="6">
                  <c:v>6077.62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AD3-4048-8290-6689F8F53EB0}"/>
            </c:ext>
          </c:extLst>
        </c:ser>
        <c:ser>
          <c:idx val="2"/>
          <c:order val="2"/>
          <c:tx>
            <c:strRef>
              <c:f>Sheet1!$D$1</c:f>
              <c:strCache>
                <c:ptCount val="1"/>
                <c:pt idx="0">
                  <c:v>Log Analytics</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7300.46</c:v>
                </c:pt>
                <c:pt idx="1">
                  <c:v>3692</c:v>
                </c:pt>
                <c:pt idx="2">
                  <c:v>10596.09</c:v>
                </c:pt>
                <c:pt idx="3">
                  <c:v>3911.97</c:v>
                </c:pt>
                <c:pt idx="4">
                  <c:v>1966.89</c:v>
                </c:pt>
                <c:pt idx="5">
                  <c:v>2066.6999999999998</c:v>
                </c:pt>
                <c:pt idx="6">
                  <c:v>2306.0500000000002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AD3-4048-8290-6689F8F53EB0}"/>
            </c:ext>
          </c:extLst>
        </c:ser>
        <c:ser>
          <c:idx val="3"/>
          <c:order val="3"/>
          <c:tx>
            <c:strRef>
              <c:f>Sheet1!$E$1</c:f>
              <c:strCache>
                <c:ptCount val="1"/>
                <c:pt idx="0">
                  <c:v>Virtual Machines</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4242.88</c:v>
                </c:pt>
                <c:pt idx="1">
                  <c:v>3549</c:v>
                </c:pt>
                <c:pt idx="2">
                  <c:v>4067.07</c:v>
                </c:pt>
                <c:pt idx="3">
                  <c:v>3938.6</c:v>
                </c:pt>
                <c:pt idx="4">
                  <c:v>4539.7</c:v>
                </c:pt>
                <c:pt idx="5">
                  <c:v>4344.13</c:v>
                </c:pt>
                <c:pt idx="6">
                  <c:v>4847.43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AD3-4048-8290-6689F8F53EB0}"/>
            </c:ext>
          </c:extLst>
        </c:ser>
        <c:ser>
          <c:idx val="4"/>
          <c:order val="4"/>
          <c:tx>
            <c:strRef>
              <c:f>Sheet1!$F$1</c:f>
              <c:strCache>
                <c:ptCount val="1"/>
                <c:pt idx="0">
                  <c:v>Sentinel</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1732.05</c:v>
                </c:pt>
                <c:pt idx="1">
                  <c:v>1468</c:v>
                </c:pt>
                <c:pt idx="2">
                  <c:v>8874.9</c:v>
                </c:pt>
                <c:pt idx="3">
                  <c:v>3278.03</c:v>
                </c:pt>
                <c:pt idx="4">
                  <c:v>1333.2</c:v>
                </c:pt>
                <c:pt idx="5">
                  <c:v>1369.67</c:v>
                </c:pt>
                <c:pt idx="6">
                  <c:v>1467.73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AD3-4048-8290-6689F8F53EB0}"/>
            </c:ext>
          </c:extLst>
        </c:ser>
        <c:ser>
          <c:idx val="5"/>
          <c:order val="5"/>
          <c:tx>
            <c:strRef>
              <c:f>Sheet1!$G$1</c:f>
              <c:strCache>
                <c:ptCount val="1"/>
                <c:pt idx="0">
                  <c:v>Other services</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2265</c:v>
                </c:pt>
                <c:pt idx="1">
                  <c:v>1965</c:v>
                </c:pt>
                <c:pt idx="2">
                  <c:v>2206</c:v>
                </c:pt>
                <c:pt idx="3">
                  <c:v>2059</c:v>
                </c:pt>
                <c:pt idx="4">
                  <c:v>2253.46</c:v>
                </c:pt>
                <c:pt idx="5">
                  <c:v>2467.09</c:v>
                </c:pt>
                <c:pt idx="6">
                  <c:v>2528.4699999999998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AD3-4048-8290-6689F8F53EB0}"/>
            </c:ext>
          </c:extLst>
        </c:ser>
        <c:ser>
          <c:idx val="6"/>
          <c:order val="6"/>
          <c:tx>
            <c:strRef>
              <c:f>Sheet1!$H$1</c:f>
              <c:strCache>
                <c:ptCount val="1"/>
                <c:pt idx="0">
                  <c:v>All other</c:v>
                </c:pt>
              </c:strCache>
            </c:strRef>
          </c:tx>
          <c:spPr>
            <a:solidFill>
              <a:srgbClr val="2AD38C"/>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4634.13</c:v>
                </c:pt>
                <c:pt idx="1">
                  <c:v>3962</c:v>
                </c:pt>
                <c:pt idx="2">
                  <c:v>4345.76</c:v>
                </c:pt>
                <c:pt idx="3">
                  <c:v>4241.6400000000003</c:v>
                </c:pt>
                <c:pt idx="4">
                  <c:v>4862.66</c:v>
                </c:pt>
                <c:pt idx="5">
                  <c:v>4595.34</c:v>
                </c:pt>
                <c:pt idx="6">
                  <c:v>5280.59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AD3-4048-8290-6689F8F53EB0}"/>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strRef>
              <c:f>Sheet1!$B$1</c:f>
              <c:strCache>
                <c:ptCount val="1"/>
                <c:pt idx="0">
                  <c:v>Shared Resources</c:v>
                </c:pt>
              </c:strCache>
            </c:strRef>
          </c:tx>
          <c:spPr>
            <a:solidFill>
              <a:srgbClr val="2F8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16903.740000000002</c:v>
                </c:pt>
                <c:pt idx="1">
                  <c:v>12321</c:v>
                </c:pt>
                <c:pt idx="2">
                  <c:v>26897.08</c:v>
                </c:pt>
                <c:pt idx="3">
                  <c:v>14231</c:v>
                </c:pt>
                <c:pt idx="4">
                  <c:v>10755.39</c:v>
                </c:pt>
                <c:pt idx="5">
                  <c:v>10557</c:v>
                </c:pt>
                <c:pt idx="6">
                  <c:v>11092.99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982-4FA5-992B-566CAF36E63E}"/>
            </c:ext>
          </c:extLst>
        </c:ser>
        <c:ser>
          <c:idx val="1"/>
          <c:order val="1"/>
          <c:tx>
            <c:strRef>
              <c:f>Sheet1!$C$1</c:f>
              <c:strCache>
                <c:ptCount val="1"/>
                <c:pt idx="0">
                  <c:v>Prod</c:v>
                </c:pt>
              </c:strCache>
            </c:strRef>
          </c:tx>
          <c:spPr>
            <a:solidFill>
              <a:srgbClr val="3DD9EB"/>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12493.49</c:v>
                </c:pt>
                <c:pt idx="1">
                  <c:v>11171</c:v>
                </c:pt>
                <c:pt idx="2">
                  <c:v>12360.07</c:v>
                </c:pt>
                <c:pt idx="3">
                  <c:v>13593</c:v>
                </c:pt>
                <c:pt idx="4">
                  <c:v>15743.11</c:v>
                </c:pt>
                <c:pt idx="5">
                  <c:v>15398</c:v>
                </c:pt>
                <c:pt idx="6">
                  <c:v>19303.29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982-4FA5-992B-566CAF36E63E}"/>
            </c:ext>
          </c:extLst>
        </c:ser>
        <c:ser>
          <c:idx val="2"/>
          <c:order val="2"/>
          <c:tx>
            <c:strRef>
              <c:f>Sheet1!$D$1</c:f>
              <c:strCache>
                <c:ptCount val="1"/>
                <c:pt idx="0">
                  <c:v>CloudOps</c:v>
                </c:pt>
              </c:strCache>
            </c:strRef>
          </c:tx>
          <c:spPr>
            <a:solidFill>
              <a:srgbClr val="FF9F43"/>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872.66</c:v>
                </c:pt>
                <c:pt idx="1">
                  <c:v>555</c:v>
                </c:pt>
                <c:pt idx="2">
                  <c:v>768.67</c:v>
                </c:pt>
                <c:pt idx="3">
                  <c:v>737</c:v>
                </c:pt>
                <c:pt idx="4">
                  <c:v>971.96</c:v>
                </c:pt>
                <c:pt idx="5">
                  <c:v>1089</c:v>
                </c:pt>
                <c:pt idx="6">
                  <c:v>1225.74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982-4FA5-992B-566CAF36E63E}"/>
            </c:ext>
          </c:extLst>
        </c:ser>
        <c:ser>
          <c:idx val="3"/>
          <c:order val="3"/>
          <c:tx>
            <c:strRef>
              <c:f>Sheet1!$E$1</c:f>
              <c:strCache>
                <c:ptCount val="1"/>
                <c:pt idx="0">
                  <c:v>DataCloud prod</c:v>
                </c:pt>
              </c:strCache>
            </c:strRef>
          </c:tx>
          <c:spPr>
            <a:solidFill>
              <a:srgbClr val="B07CFF"/>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363.16</c:v>
                </c:pt>
                <c:pt idx="1">
                  <c:v>357</c:v>
                </c:pt>
                <c:pt idx="2">
                  <c:v>397.3</c:v>
                </c:pt>
                <c:pt idx="3">
                  <c:v>336</c:v>
                </c:pt>
                <c:pt idx="4">
                  <c:v>370.22</c:v>
                </c:pt>
                <c:pt idx="5">
                  <c:v>550</c:v>
                </c:pt>
                <c:pt idx="6">
                  <c:v>818.11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E982-4FA5-992B-566CAF36E63E}"/>
            </c:ext>
          </c:extLst>
        </c:ser>
        <c:ser>
          <c:idx val="4"/>
          <c:order val="4"/>
          <c:tx>
            <c:strRef>
              <c:f>Sheet1!$F$1</c:f>
              <c:strCache>
                <c:ptCount val="1"/>
                <c:pt idx="0">
                  <c:v>DataCloud dev</c:v>
                </c:pt>
              </c:strCache>
            </c:strRef>
          </c:tx>
          <c:spPr>
            <a:solidFill>
              <a:srgbClr val="3DDC97"/>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188.97</c:v>
                </c:pt>
                <c:pt idx="1">
                  <c:v>169</c:v>
                </c:pt>
                <c:pt idx="2">
                  <c:v>189.53</c:v>
                </c:pt>
                <c:pt idx="3">
                  <c:v>184</c:v>
                </c:pt>
                <c:pt idx="4">
                  <c:v>506.65</c:v>
                </c:pt>
                <c:pt idx="5">
                  <c:v>582</c:v>
                </c:pt>
                <c:pt idx="6">
                  <c:v>573.9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E982-4FA5-992B-566CAF36E63E}"/>
            </c:ext>
          </c:extLst>
        </c:ser>
        <c:ser>
          <c:idx val="5"/>
          <c:order val="5"/>
          <c:tx>
            <c:strRef>
              <c:f>Sheet1!$G$1</c:f>
              <c:strCache>
                <c:ptCount val="1"/>
                <c:pt idx="0">
                  <c:v>All other</c:v>
                </c:pt>
              </c:strCache>
            </c:strRef>
          </c:tx>
          <c:spPr>
            <a:solidFill>
              <a:srgbClr val="FF6B7A"/>
            </a:solidFill>
          </c:spPr>
          <c:invertIfNegative val="1"/>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93.22</c:v>
                </c:pt>
                <c:pt idx="1">
                  <c:v>107</c:v>
                </c:pt>
                <c:pt idx="2">
                  <c:v>117.14</c:v>
                </c:pt>
                <c:pt idx="3">
                  <c:v>114</c:v>
                </c:pt>
                <c:pt idx="4">
                  <c:v>268.11</c:v>
                </c:pt>
                <c:pt idx="5">
                  <c:v>407</c:v>
                </c:pt>
                <c:pt idx="6">
                  <c:v>406.88000000000005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E982-4FA5-992B-566CAF36E63E}"/>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a:solidFill>
                <a:srgbClr val="23304A"/>
              </a:solidFill>
              <a:prstDash val="solid"/>
            </a:ln>
          </c:spPr>
        </c:majorGridlines>
        <c:numFmt formatCode="&quot;$&quot;#,##0" sourceLinked="0"/>
        <c:majorTickMark val="out"/>
        <c:minorTickMark val="none"/>
        <c:tickLblPos val="nextTo"/>
        <c:spPr>
          <a:ln w="12700">
            <a:noFill/>
            <a:prstDash val="solid"/>
          </a:ln>
        </c:spPr>
        <c:txPr>
          <a:bodyPr anchorCtr="1"/>
          <a:lstStyle/>
          <a:p>
            <a:pPr>
              <a:defRPr sz="1200" b="0" i="0" u="none">
                <a:solidFill>
                  <a:srgbClr val="91A0B7"/>
                </a:solidFill>
                <a:latin typeface="Calibri"/>
                <a:ea typeface="Calibri"/>
                <a:cs typeface="Calibri"/>
              </a:defRPr>
            </a:pPr>
            <a:endParaRPr lang="en-US"/>
          </a:p>
        </c:txPr>
        <c:crossAx val="2094734554"/>
        <c:crosses val="autoZero"/>
        <c:crossBetween val="between"/>
      </c:valAx>
      <c:spPr>
        <a:solidFill>
          <a:srgbClr val="070A12"/>
        </a:solidFill>
        <a:ln>
          <a:noFill/>
        </a:ln>
      </c:spPr>
    </c:plotArea>
    <c:legend>
      <c:legendPos val="b"/>
      <c:overlay val="0"/>
      <c:txPr>
        <a:bodyPr anchorCtr="1"/>
        <a:lstStyle/>
        <a:p>
          <a:pPr>
            <a:defRPr sz="1100">
              <a:solidFill>
                <a:srgbClr val="91A0B7"/>
              </a:solidFill>
              <a:latin typeface="Calibri"/>
              <a:ea typeface="Calibri"/>
              <a:cs typeface="Calibri"/>
            </a:defRPr>
          </a:pPr>
          <a:endParaRPr lang="en-US"/>
        </a:p>
      </c:txPr>
    </c:legend>
    <c:plotVisOnly val="1"/>
    <c:dispBlanksAs val="zero"/>
    <c:showDLblsOverMax val="1"/>
  </c:chart>
  <c:spPr>
    <a:solidFill>
      <a:srgbClr val="070A12"/>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BASIS FOR THE WHOLE DECK: metered consumption, January to July 2026,
all three clouds. Seven months, one series, no switching.
Marketplace purchases are excluded throughout and reported on their own slide.
AWS July is shown gross of the $16,100 MAP credit, which has its own slide.
If asked why this differs from the May-July briefing: same estate, longer
window. Seven months of data instead of two.</a:t>
            </a:r>
          </a:p>
          <a:p>
            <a:r>
              <a:t>
PRESENTER CUE: frame the discussion as both a cloud-spend review and an AI-governance decision.
[Sources]
- No external sources; title reflects the deck's internal scope.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$3.4M IS BUILT, one month, times twelve. No model, no forecast.
  Azure    186,917
  AWS       92,930   (gross, before the $16,100 MAP credit)
  GCP        3,707
  ------------------
  July     283,554   per month
  x 12   3,402,648   per year   -&gt;  $3.4M
If July repeats for a full year, we are at a $3.4M pace. That is all it says.
WHERE THE $593K COMES FROM
  Jan    234,115 x 12 = 2,809,384
  Jul    283,554 x 12 = 3,402,648
  difference              593,264   = +21.1%
Six months, and the annual pace rose by about $593K.</a:t>
            </a:r>
          </a:p>
          <a:p>
            <a:r>
              <a:t>
PRESENTER CUE: distinguish the $283.6K July monthly consumption from the $3.4M annualized run-rate. The annualized figure is July multiplied by twelve, not a forecast.
[Sources]
- Internal source: slide 2 provider amounts and existing speaker-note calculation.
[/Sources]</a:t>
            </a:r>
          </a:p>
          <a:p>
            <a:r>
              <a:t>
PRESENTER CUE: lead with the $3.4M annualized run-rate, then separate the $283.6K July monthly consumption. Provider colors match the figures and the January movement callouts.
[Sources]
- Internal source: slide 2 provider amounts and existing speaker-note calculations.
[/Sources]</a:t>
            </a:r>
          </a:p>
          <a:p>
            <a:r>
              <a:t>
PRESENTER CUE: the headline no longer repeats the KPI. The three movement bullets are vertically centered beside their matching lines for distance viewing.
[Sources]
- No external sources; formatting-only refinement.
[/Sources]</a:t>
            </a:r>
          </a:p>
          <a:p>
            <a:r>
              <a:t>
PRESENTER CUE: the right-hand provider cards are restored to a neutral, consistent treatment. The left-hand movement summary is intentionally limited to three factual figures.
[Sources]
- Internal source: slide 2 provider amounts and January-to-July differences.
[/Sources]</a:t>
            </a:r>
          </a:p>
          <a:p>
            <a:r>
              <a:t>
PRESENTER CUE: provider cards use a consistent color key—Azure blue, AWS orange and GCP green—while retaining the exact July amounts and shares.
[Sources]
- No external sources; formatting-only refinement.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UPPER BOUND. Same start, same method, faster rate.
Rates from the May-July window, as published in the July briefing:
  GCP     +$1 Azure  +13.3% per month
  AWS     +5.8% per month.1K per month
Carried from July's actual 283,554:
  Aug 314,904   Sep 349,873   Oct 388,919   Nov 432,559   Dec 481,378
  481,378 x 12 = $5.78M
WHAT IT COSTS IF IT HAPPENS
  December run-rate   5,776,533  vs  4,011,077   = +1,765,456 a year
  Cash Aug-Dec        1,967,632  vs  1,567,166   =   +400,465
HOW TO POSITION IT
Do not present this as the forecast, present it as the range's top. The
base case is the previous slide at $4.0M. This slide answers 'what if the
acceleration was real', and it is the number the July briefing carried.
Note the Azure rate here is v33's 13.3%, measured off the invoiced May
figure of 145,254. On the consumption basis this deck uses, May was 152,263
and the same window gives 10.8% a month. The 13.3% is deliberately the
harsher of the two, which is what an upper bound should be.
The trigger to watch: if August lands above roughly 300K, we are on the red
line, not the orange one.</a:t>
            </a:r>
          </a:p>
          <a:p>
            <a:r>
              <a:t>
PRESENTER CUE: keep the visible comparison on one basis—December annualized run-rate. Base case is about $4.01M; faster case is about $5.78M; the gap is about $1.77M. The cumulative cash difference from August through December is about $400K and is intentionally kept in the notes, not on the slide.
[Sources]
- Internal source: slide 3 chart series and existing scenario assumptions.
[/Sources]</a:t>
            </a:r>
          </a:p>
          <a:p>
            <a:r>
              <a:t>
PRESENTER CUE: the chart now begins at the July actual of $283.6K per month and forks into only two scenario paths. The historical Jan–July line was removed because PowerPoint displayed its empty future months as a misleading downward continuation.
[Sources]
- Internal source: slide 3 scenario series and July actual in the deck.
[/Sources]</a:t>
            </a:r>
          </a:p>
          <a:p>
            <a:r>
              <a:t>
PRESENTER CUE: chart and KPI cards now use the same annualized run-rate basis. Both paths start at July's $3.40M annualized run-rate; the blue base path ends at $4.01M and the orange faster path ends at $5.78M in December.
[Sources]
- Internal source: slide 3 monthly scenario values multiplied by twelve.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from here is the same seven-month consumption series, unless a slide says otherwise on its face.</a:t>
            </a:r>
          </a:p>
          <a:p>
            <a:r>
              <a:t>
PRESENTER CUE: this section moves from the total run-rate into where consumption sits—by provider, project and workload.
[Sources]
- No external sources; section title reflects slides 5–13.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platform cut of the slide that follows. Same basis, same total:
  $199,531 of billed AI, January to July 2026.
  Azure AI Foundry             $87,158  43.7%  +240% Jan to Jul
  GitHub Copilot               $57,177  28.7%  +593% Jan to Jul
  AWS Bedrock (Claude)         $42,056  21.1%  First billed in Mar
  Cowork                        $9,444  4.7%  $97 to $8,920
  Google Vertex AI              $3,696  1.9%  First billed in May
WHAT IS NOT HERE
Databricks. It draws down the 600,000 DBU pre-purchase paid in April and
bills at $0, so it would show as the largest platform while costing nothing
this month. It has its own slide.
AWS July is gross of the $16,100 MAP credit, same footing as the rest of
the deck, and that credit has its own slide too.
IF ASKED WHY THIS DIFFERS FROM THE v33 VERSION: v33 showed the May-July
invoiced window. This is the full seven months, on the deck's one basis.</a:t>
            </a:r>
          </a:p>
          <a:p>
            <a:r>
              <a:t>
PRESENTER CUE: the AWS Bedrock card now compares the first billed month, March at $841, with July at $25,288.
[Sources]
- Internal source: slide 10 Bedrock monthly series.
[/Sources]</a:t>
            </a:r>
          </a:p>
          <a:p>
            <a:r>
              <a:t>
PRESENTER CUE: Google Vertex AI now compares May, the first meaningful billed month at $379, with July at $2,359. Bedrock's March starting point is highlighted in white.
[Sources]
- Internal source: slide 12 Vertex AI monthly series and slide 10 Bedrock series.
[/Sources]</a:t>
            </a:r>
          </a:p>
          <a:p>
            <a:r>
              <a:t>
PRESENTER CUE: platform names and all comparison-month labels are white for plasma-screen contrast; card accents and growth badges retain the visual differentiation.
[Sources]
- No external sources; formatting-only refinement.
[/Sources]</a:t>
            </a:r>
          </a:p>
          <a:p>
            <a:r>
              <a:t>
PRESENTER CUE: the Bedrock title is shortened to stay inside its card; the March $841 and May $379 values align with the right-hand value column.
[Sources]
- No external sources; layout-only refinement.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 five applications by estimated AI consumption.</a:t>
            </a:r>
          </a:p>
          <a:p>
            <a:endParaRPr/>
          </a:p>
          <a:p>
            <a:r>
              <a:t>[Sources]</a:t>
            </a:r>
          </a:p>
          <a:p>
            <a:r>
              <a:t>- Internal source: AI_cost_table.xlsx supplied by the user, Details sheet.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ONE NUMBER OFF THIS SLIDE: $77,049 of the $165,589 AI Factory total is infrastructure, or 46.5%. AI services are $88,540, or 53.5%.
THE TWO BIG INFRASTRUCTURE LINES
- API Management: $23,663
- Virtual Machines: $23,493
Together they represent 61.2% of infrastructure spend.
Do not relabel the Virtual Machines line as AKS without resource-level Azure mapping; the deck contains no AKS-specific attribution.
AI meters are excluded from the chart: Foundry Models, Foundry Tools, Azure Cognitive Search and Document Intelligence page meters.
PRESENTER CUE: nearly half of AI Factory spend is conventional infrastructure, which is the portion right-sizing and reservations can influence. The next slide shows the project split.
[Sources]
- Internal source: slide 6 chart series and KPI calculations.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Azure-only project-level comparison for January through July.
- AI Factory: $92,247 total; 66% infrastructure, 34% AI.
- Solugen: $31,631 total; 20% infrastructure, 80% AI.
- Document Intelligence: $30,970 total; entirely AI, no infrastructure.
- INSAIT: $10,740 total; 90% infrastructure, 10% AI.
The combined total is $165,589, matching slide 6. AWS project-level attribution is not available and is therefore excluded.
Visible KPI callouts are intentionally limited to the combined total and the largest Azure project; redundant percentage and range comparisons were removed for CIO readability.
[Sources]
- Internal source: Azure project totals and composition values on slide 7; reconciled total on slide 6.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mesh is the argument. Five consumer groups, six platforms, nothing in
the middle. Thirty direct paths, no single place that can see the spend,
refuse a request, or attribute a bill.
Databricks is on the list because it is bought the same way as the rest, and
it is the largest single commitment of the year. It bills at $0 today because
it draws down the April pre-purchase, which is exactly why nobody is watching
it. See the Databricks slide.
This slide sets up the gateway slide. Do not solve it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ITEM 3 ON THE NEXT SLIDE IS TWO JOBS, NOT ONE.
Resource tagging, owner, application, environment, cost centre, business
unit, fixes attribution for VMs, storage and databases. That work is in
progress and it is worth finishing: it is what closes the 23.4% untagged gap.
It will NOT fix AI attribution. AI cost does not sit on a resource; it sits
on a request. One Bedrock key served $25,288 of Claude in July across an
unknown number of use cases. No tag on a resource can split that.
WHAT CHANGES
Every AI call goes through the gateway anyway, for budgets and quotas. The
same gateway stamps each request with use case, agent, model and provider.
Cost then lands against a use case instead of a subscription.
The telemetry side already exists in our Elastic design, OpenTelemetry
spans carry token counts and tool activity. This is the missing half.
IF ASKED WHAT IT COSTS: nothing new to buy. It is a schema decision plus
gateway configuration, done once, enforced in CI/CD.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A BUDGET IS NOT A KILL SWITCH
Azure Cost Management budgets are a reporting mechanism: cost data arrives
roughly 8-24 hours late, the budget is evaluated about once a day, and
breaching it does not stop consumption. By the time it fires, the money is
spent. APIM token quota is the enforcement point; the budget is the late
financial control.
SEPARATE IDENTITY PER APPLICATION
Each application gets its own APIM subscription or Entra client_id, carrying
owner, cost centre, environment, monthly budget, approved models, TPM, and
daily plus monthly quota. Never share one key across applications, you can
then neither limit nor attribute.
HARD LIMITS IN APIM, three llm-token-limit instances in &lt;inbound&gt;:
  minute   tokens-per-minute="20000"                    burst protection
  daily    token-quota="3000000"  period="Daily"        runaway job
  monthly  token-quota="60000000" period="Monthly"      hard ceiling
  counter-key on context.Subscription.Id, estimate-prompt-tokens="true"
  so an oversized prompt is blocked before it reaches the model.
  TPM breach returns 429; quota breach returns 403.
Add rate-limit-by-key, cap max_output_tokens, disable streaming and tool
calling where not needed, and cap concurrency for agents.
HIERARCHY: low TPM per user; TPM plus quotas per application; cumulative
quota per cost centre; a ceiling on each expensive model; sandbox well
below production. One user cannot drain an application, one application
cannot drain the organisation.
BUDGET INTO TOKENS, the policy counts tokens, not dollars, so each model
needs its own quota:
  cost = (input tokens x input price + output tokens x output price) / 1M
On a $1,000 budget set the hard quota near $750-$850. The margin covers
in-flight parallel requests, reasoning tokens, price differences between
models, counting lag, and multiple gateways. Microsoft notes concurrent
requests can temporarily exceed the quota, and that in multi-region APIM
each gateway counts separately rather than globally, so split the quota
across regions.
ALERTS: emit llm-emit-token-metric to Application Insights with application,
cost centre, model, environment and owner as dimensions. Alert on an
abnormal token rate over 5 and 15 minutes; 70% of quota to the owner; 85%
to FinOps with a rate reduction; 100% automatic block; a jump in the
output-to-input ratio; and repeated 429s, 403s or agent retries.</a:t>
            </a:r>
          </a:p>
          <a:p>
            <a:r>
              <a:t>
PRESENTER TIPS
- Treat 75–85% as a starting guardrail; tune it for request burstiness, model mix and regional gateway topology.
- Repeated 429 or 403 responses can signal bad retry logic as well as healthy enforcement—monitor both the block and the retry pattern.
- Keep the break-glass path time-bound, logged, owner-approved and tested before it is needed.
- Revisit quotas after launches and model changes, not only at month end.
[Sources]
- No external sources added; presenter tips are general cloud FinOps and API-governance guidance for internal validation.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070A1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11.xml"/></Relationships>
</file>

<file path=ppt/slides/_rels/slide3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13.xml"/></Relationships>
</file>

<file path=ppt/slides/_rels/slide3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9E8CDAE-AA15-4239-8246-49BC801485BB}"/>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410FE5F4-F73F-46CD-9BF9-881B11357234}"/>
              </a:ext>
            </a:extLst>
          </p:cNvPr>
          <p:cNvSpPr>
            <a:spLocks noGrp="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a:p>
        </p:txBody>
      </p:sp>
      <p:sp>
        <p:nvSpPr>
          <p:cNvPr id="4" name="Shape 2">
            <a:extLst>
              <a:ext uri="{FF2B5EF4-FFF2-40B4-BE49-F238E27FC236}">
                <a16:creationId xmlns:a16="http://schemas.microsoft.com/office/drawing/2014/main" id="{55E898D1-9983-4B1A-B6BB-C33A0D087E35}"/>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2A917600-8880-480C-B9F3-9F933A3E4933}"/>
              </a:ext>
            </a:extLst>
          </p:cNvPr>
          <p:cNvSpPr>
            <a:spLocks noGrp="1"/>
          </p:cNvSpPr>
          <p:nvPr/>
        </p:nvSpPr>
        <p:spPr>
          <a:xfrm>
            <a:off x="457200" y="2331720"/>
            <a:ext cx="8229600" cy="274320"/>
          </a:xfrm>
          <a:prstGeom prst="rect">
            <a:avLst/>
          </a:prstGeom>
          <a:noFill/>
        </p:spPr>
        <p:txBody>
          <a:bodyPr wrap="none" lIns="0" tIns="0" rIns="0" bIns="0" anchor="ctr">
            <a:noAutofit/>
          </a:bodyPr>
          <a:lstStyle/>
          <a:p>
            <a:pPr marL="0" indent="0" algn="l">
              <a:buNone/>
              <a:defRPr sz="1350" b="1">
                <a:solidFill>
                  <a:srgbClr val="B07CFF"/>
                </a:solidFill>
                <a:latin typeface="Calibri"/>
                <a:ea typeface="Calibri"/>
                <a:cs typeface="Calibri"/>
              </a:defRPr>
            </a:pPr>
            <a:r>
              <a:rPr sz="1350" b="1" spc="300">
                <a:solidFill>
                  <a:srgbClr val="B07CFF"/>
                </a:solidFill>
                <a:latin typeface="Calibri"/>
                <a:ea typeface="Calibri"/>
                <a:cs typeface="Calibri"/>
              </a:rPr>
              <a:t>HAREL INSURANCE / CLOUD FINOPS</a:t>
            </a:r>
            <a:endParaRPr sz="1300"/>
          </a:p>
        </p:txBody>
      </p:sp>
      <p:sp>
        <p:nvSpPr>
          <p:cNvPr id="6" name="Text 4">
            <a:extLst>
              <a:ext uri="{FF2B5EF4-FFF2-40B4-BE49-F238E27FC236}">
                <a16:creationId xmlns:a16="http://schemas.microsoft.com/office/drawing/2014/main" id="{44B844C0-EB53-4B7F-82B8-9C3220608104}"/>
              </a:ext>
            </a:extLst>
          </p:cNvPr>
          <p:cNvSpPr>
            <a:spLocks noGrp="1"/>
          </p:cNvSpPr>
          <p:nvPr/>
        </p:nvSpPr>
        <p:spPr>
          <a:xfrm>
            <a:off x="457200" y="2651760"/>
            <a:ext cx="10820400" cy="1005840"/>
          </a:xfrm>
          <a:prstGeom prst="rect">
            <a:avLst/>
          </a:prstGeom>
          <a:noFill/>
        </p:spPr>
        <p:txBody>
          <a:bodyPr wrap="none" lIns="0" tIns="0" rIns="0" bIns="0" anchor="ctr">
            <a:noAutofit/>
          </a:bodyPr>
          <a:lstStyle/>
          <a:p>
            <a:pPr marL="0" indent="0" algn="l">
              <a:buNone/>
              <a:defRPr sz="5400" b="1">
                <a:solidFill>
                  <a:srgbClr val="F4F7FB"/>
                </a:solidFill>
                <a:latin typeface="Calibri"/>
                <a:ea typeface="Calibri"/>
                <a:cs typeface="Calibri"/>
              </a:defRPr>
            </a:pPr>
            <a:r>
              <a:rPr sz="5400" b="1">
                <a:solidFill>
                  <a:srgbClr val="F4F7FB"/>
                </a:solidFill>
                <a:latin typeface="Calibri"/>
                <a:ea typeface="Calibri"/>
                <a:cs typeface="Calibri"/>
              </a:rPr>
              <a:t>Cloud Spend &amp; AI Governance</a:t>
            </a:r>
            <a:endParaRPr sz="4000"/>
          </a:p>
        </p:txBody>
      </p:sp>
      <p:sp>
        <p:nvSpPr>
          <p:cNvPr id="7" name="Text 5">
            <a:extLst>
              <a:ext uri="{FF2B5EF4-FFF2-40B4-BE49-F238E27FC236}">
                <a16:creationId xmlns:a16="http://schemas.microsoft.com/office/drawing/2014/main" id="{F55E03E6-96CA-4612-84B7-EBCC836597FF}"/>
              </a:ext>
            </a:extLst>
          </p:cNvPr>
          <p:cNvSpPr>
            <a:spLocks noGrp="1"/>
          </p:cNvSpPr>
          <p:nvPr/>
        </p:nvSpPr>
        <p:spPr>
          <a:xfrm>
            <a:off x="457200" y="3703320"/>
            <a:ext cx="7863840" cy="457200"/>
          </a:xfrm>
          <a:prstGeom prst="rect">
            <a:avLst/>
          </a:prstGeom>
          <a:noFill/>
        </p:spPr>
        <p:txBody>
          <a:bodyPr wrap="none" lIns="0" tIns="0" rIns="0" bIns="0" anchor="ctr">
            <a:noAutofit/>
          </a:bodyPr>
          <a:lstStyle/>
          <a:p>
            <a:pPr marL="0" indent="0" algn="l">
              <a:buNone/>
              <a:defRPr sz="1950" b="0">
                <a:solidFill>
                  <a:srgbClr val="C5CCDA"/>
                </a:solidFill>
                <a:latin typeface="Calibri"/>
                <a:ea typeface="Calibri"/>
                <a:cs typeface="Calibri"/>
              </a:defRPr>
            </a:pPr>
            <a:r>
              <a:rPr sz="1950" b="0">
                <a:solidFill>
                  <a:srgbClr val="C5CCDA"/>
                </a:solidFill>
                <a:latin typeface="Calibri"/>
                <a:ea typeface="Calibri"/>
                <a:cs typeface="Calibri"/>
              </a:rPr>
              <a:t>January–July 2026 consumption · CIO briefing</a:t>
            </a:r>
            <a:endParaRPr sz="1500"/>
          </a:p>
        </p:txBody>
      </p:sp>
    </p:spTree>
    <p:extLst>
      <p:ext uri="{BB962C8B-B14F-4D97-AF65-F5344CB8AC3E}">
        <p14:creationId xmlns:p14="http://schemas.microsoft.com/office/powerpoint/2010/main" val="598128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6795454-80C5-4F39-AF5F-5527212BB999}"/>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3557F83F-F1FB-4E8D-990F-9512E1D30F09}"/>
              </a:ext>
            </a:extLst>
          </p:cNvPr>
          <p:cNvSpPr>
            <a:spLocks noGrp="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a:p>
        </p:txBody>
      </p:sp>
      <p:sp>
        <p:nvSpPr>
          <p:cNvPr id="4" name="Text 2">
            <a:extLst>
              <a:ext uri="{FF2B5EF4-FFF2-40B4-BE49-F238E27FC236}">
                <a16:creationId xmlns:a16="http://schemas.microsoft.com/office/drawing/2014/main" id="{8C448E3E-C698-465B-B264-08803A03F33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9EB"/>
                </a:solidFill>
                <a:latin typeface="Calibri"/>
                <a:ea typeface="Calibri"/>
                <a:cs typeface="Calibri"/>
              </a:rPr>
              <a:t>WHERE WE ARE</a:t>
            </a:r>
            <a:endParaRPr sz="1300"/>
          </a:p>
        </p:txBody>
      </p:sp>
      <p:sp>
        <p:nvSpPr>
          <p:cNvPr id="5" name="Text 3">
            <a:extLst>
              <a:ext uri="{FF2B5EF4-FFF2-40B4-BE49-F238E27FC236}">
                <a16:creationId xmlns:a16="http://schemas.microsoft.com/office/drawing/2014/main" id="{A7E20861-39E1-4AA5-A632-691808E29F03}"/>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3000" b="1">
                <a:solidFill>
                  <a:srgbClr val="F4F7FB"/>
                </a:solidFill>
                <a:latin typeface="Calibri"/>
                <a:ea typeface="Calibri"/>
                <a:cs typeface="Calibri"/>
              </a:defRPr>
            </a:pPr>
            <a:r>
              <a:rPr sz="3000" b="1">
                <a:solidFill>
                  <a:srgbClr val="F4F7FB"/>
                </a:solidFill>
                <a:latin typeface="Calibri"/>
                <a:ea typeface="Calibri"/>
                <a:cs typeface="Calibri"/>
              </a:rPr>
              <a:t>Current cloud spend at a glance</a:t>
            </a:r>
            <a:endParaRPr sz="2800"/>
          </a:p>
        </p:txBody>
      </p:sp>
      <p:sp>
        <p:nvSpPr>
          <p:cNvPr id="6" name="Text 4">
            <a:extLst>
              <a:ext uri="{FF2B5EF4-FFF2-40B4-BE49-F238E27FC236}">
                <a16:creationId xmlns:a16="http://schemas.microsoft.com/office/drawing/2014/main" id="{63903009-D89C-45DB-83F7-8C3E621BBF82}"/>
              </a:ext>
            </a:extLst>
          </p:cNvPr>
          <p:cNvSpPr>
            <a:spLocks noGrp="1"/>
          </p:cNvSpPr>
          <p:nvPr/>
        </p:nvSpPr>
        <p:spPr>
          <a:xfrm>
            <a:off x="8321040" y="493776"/>
            <a:ext cx="3413455" cy="658368"/>
          </a:xfrm>
          <a:prstGeom prst="rect">
            <a:avLst/>
          </a:prstGeom>
          <a:noFill/>
        </p:spPr>
        <p:txBody>
          <a:bodyPr wrap="none" lIns="0" tIns="0" rIns="0" bIns="0" anchor="ctr">
            <a:noAutofit/>
          </a:bodyPr>
          <a:lstStyle/>
          <a:p>
            <a:pPr algn="r">
              <a:buNone/>
              <a:defRPr>
                <a:latin typeface="Calibri"/>
                <a:ea typeface="Calibri"/>
                <a:cs typeface="Calibri"/>
              </a:defRPr>
            </a:pPr>
            <a:r>
              <a:rPr sz="1500" b="1">
                <a:solidFill>
                  <a:srgbClr val="B07CFF"/>
                </a:solidFill>
                <a:latin typeface="Calibri"/>
                <a:ea typeface="Calibri"/>
                <a:cs typeface="Calibri"/>
              </a:rPr>
              <a:t>JULY MONTHLY CONSUMPTION</a:t>
            </a:r>
          </a:p>
          <a:p>
            <a:pPr algn="r">
              <a:buNone/>
              <a:defRPr>
                <a:latin typeface="Calibri"/>
                <a:ea typeface="Calibri"/>
                <a:cs typeface="Calibri"/>
              </a:defRPr>
            </a:pPr>
            <a:r>
              <a:rPr sz="2500" b="1">
                <a:solidFill>
                  <a:srgbClr val="F4F7FB"/>
                </a:solidFill>
                <a:latin typeface="Calibri"/>
                <a:ea typeface="Calibri"/>
                <a:cs typeface="Calibri"/>
              </a:rPr>
              <a:t>$283.6K</a:t>
            </a:r>
          </a:p>
        </p:txBody>
      </p:sp>
      <p:sp>
        <p:nvSpPr>
          <p:cNvPr id="7" name="Text 5">
            <a:extLst>
              <a:ext uri="{FF2B5EF4-FFF2-40B4-BE49-F238E27FC236}">
                <a16:creationId xmlns:a16="http://schemas.microsoft.com/office/drawing/2014/main" id="{C989A9AA-7E70-4325-BB59-18DCC0F25837}"/>
              </a:ext>
            </a:extLst>
          </p:cNvPr>
          <p:cNvSpPr>
            <a:spLocks noGrp="1"/>
          </p:cNvSpPr>
          <p:nvPr/>
        </p:nvSpPr>
        <p:spPr>
          <a:xfrm>
            <a:off x="457200" y="6345936"/>
            <a:ext cx="11277295" cy="402336"/>
          </a:xfrm>
          <a:prstGeom prst="rect">
            <a:avLst/>
          </a:prstGeom>
          <a:noFill/>
        </p:spPr>
        <p:txBody>
          <a:bodyPr wrap="none" lIns="0" tIns="0" rIns="0" bIns="0" anchor="ctr">
            <a:noAutofit/>
          </a:bodyPr>
          <a:lstStyle/>
          <a:p>
            <a:pPr marL="0" indent="0" algn="l">
              <a:lnSpc>
                <a:spcPct val="115000"/>
              </a:lnSpc>
              <a:buNone/>
              <a:defRPr sz="1350" b="0">
                <a:solidFill>
                  <a:srgbClr val="536078"/>
                </a:solidFill>
                <a:latin typeface="Calibri"/>
                <a:ea typeface="Calibri"/>
                <a:cs typeface="Calibri"/>
              </a:defRPr>
            </a:pPr>
            <a:r>
              <a:rPr sz="1350" b="0">
                <a:solidFill>
                  <a:srgbClr val="536078"/>
                </a:solidFill>
                <a:latin typeface="Calibri"/>
                <a:ea typeface="Calibri"/>
                <a:cs typeface="Calibri"/>
              </a:rPr>
              <a:t>July covers Azure, AWS and GCP; AWS Marketplace is reported separately.</a:t>
            </a:r>
            <a:endParaRPr sz="1200"/>
          </a:p>
        </p:txBody>
      </p:sp>
      <p:sp>
        <p:nvSpPr>
          <p:cNvPr id="8" name="Text 6">
            <a:extLst>
              <a:ext uri="{FF2B5EF4-FFF2-40B4-BE49-F238E27FC236}">
                <a16:creationId xmlns:a16="http://schemas.microsoft.com/office/drawing/2014/main" id="{34774243-A7FF-4B9C-8E31-8A64E43DF4EF}"/>
              </a:ext>
            </a:extLst>
          </p:cNvPr>
          <p:cNvSpPr>
            <a:spLocks noGrp="1"/>
          </p:cNvSpPr>
          <p:nvPr/>
        </p:nvSpPr>
        <p:spPr>
          <a:xfrm>
            <a:off x="457200" y="1691640"/>
            <a:ext cx="5669280" cy="1371600"/>
          </a:xfrm>
          <a:prstGeom prst="rect">
            <a:avLst/>
          </a:prstGeom>
          <a:noFill/>
        </p:spPr>
        <p:txBody>
          <a:bodyPr wrap="none" lIns="0" tIns="0" rIns="0" bIns="0" anchor="ctr">
            <a:noAutofit/>
          </a:bodyPr>
          <a:lstStyle/>
          <a:p>
            <a:pPr marL="0" indent="0" algn="l">
              <a:buNone/>
              <a:defRPr sz="8400" b="1">
                <a:solidFill>
                  <a:srgbClr val="F4F7FB"/>
                </a:solidFill>
                <a:latin typeface="Calibri"/>
                <a:ea typeface="Calibri"/>
                <a:cs typeface="Calibri"/>
              </a:defRPr>
            </a:pPr>
            <a:r>
              <a:rPr sz="8400" b="1">
                <a:solidFill>
                  <a:srgbClr val="F4F7FB"/>
                </a:solidFill>
                <a:latin typeface="Calibri"/>
                <a:ea typeface="Calibri"/>
                <a:cs typeface="Calibri"/>
              </a:rPr>
              <a:t>$3.4M</a:t>
            </a:r>
            <a:endParaRPr sz="9600"/>
          </a:p>
        </p:txBody>
      </p:sp>
      <p:sp>
        <p:nvSpPr>
          <p:cNvPr id="9" name="Text 7">
            <a:extLst>
              <a:ext uri="{FF2B5EF4-FFF2-40B4-BE49-F238E27FC236}">
                <a16:creationId xmlns:a16="http://schemas.microsoft.com/office/drawing/2014/main" id="{D014710B-ED5F-45D4-9870-D525C407D9F1}"/>
              </a:ext>
            </a:extLst>
          </p:cNvPr>
          <p:cNvSpPr>
            <a:spLocks noGrp="1"/>
          </p:cNvSpPr>
          <p:nvPr/>
        </p:nvSpPr>
        <p:spPr>
          <a:xfrm>
            <a:off x="457200" y="3063240"/>
            <a:ext cx="5669280" cy="365760"/>
          </a:xfrm>
          <a:prstGeom prst="rect">
            <a:avLst/>
          </a:prstGeom>
          <a:noFill/>
        </p:spPr>
        <p:txBody>
          <a:bodyPr wrap="none" lIns="0" tIns="0" rIns="0" bIns="0" anchor="ctr">
            <a:noAutofit/>
          </a:bodyPr>
          <a:lstStyle/>
          <a:p>
            <a:pPr marL="0" indent="0" algn="l">
              <a:buNone/>
              <a:defRPr sz="1800" b="1">
                <a:solidFill>
                  <a:srgbClr val="C5CCDA"/>
                </a:solidFill>
                <a:latin typeface="Calibri"/>
                <a:ea typeface="Calibri"/>
                <a:cs typeface="Calibri"/>
              </a:defRPr>
            </a:pPr>
            <a:r>
              <a:rPr sz="1800" b="1">
                <a:solidFill>
                  <a:srgbClr val="C5CCDA"/>
                </a:solidFill>
                <a:latin typeface="Calibri"/>
                <a:ea typeface="Calibri"/>
                <a:cs typeface="Calibri"/>
              </a:rPr>
              <a:t>Annualized from July · not a forecast</a:t>
            </a:r>
            <a:endParaRPr sz="1500"/>
          </a:p>
        </p:txBody>
      </p:sp>
      <p:sp>
        <p:nvSpPr>
          <p:cNvPr id="10" name="Text 8">
            <a:extLst>
              <a:ext uri="{FF2B5EF4-FFF2-40B4-BE49-F238E27FC236}">
                <a16:creationId xmlns:a16="http://schemas.microsoft.com/office/drawing/2014/main" id="{320E8E31-22B7-4616-9C30-29883B1D1A50}"/>
              </a:ext>
            </a:extLst>
          </p:cNvPr>
          <p:cNvSpPr>
            <a:spLocks noGrp="1"/>
          </p:cNvSpPr>
          <p:nvPr/>
        </p:nvSpPr>
        <p:spPr>
          <a:xfrm>
            <a:off x="457200" y="3456432"/>
            <a:ext cx="5669280" cy="365760"/>
          </a:xfrm>
          <a:prstGeom prst="rect">
            <a:avLst/>
          </a:prstGeom>
          <a:noFill/>
        </p:spPr>
        <p:txBody>
          <a:bodyPr wrap="none" lIns="0" tIns="0" rIns="0" bIns="0" anchor="ctr">
            <a:noAutofit/>
          </a:bodyPr>
          <a:lstStyle/>
          <a:p>
            <a:pPr marL="0" indent="0" algn="l">
              <a:buNone/>
              <a:defRPr sz="1725" b="1">
                <a:solidFill>
                  <a:srgbClr val="B07CFF"/>
                </a:solidFill>
                <a:latin typeface="Calibri"/>
                <a:ea typeface="Calibri"/>
                <a:cs typeface="Calibri"/>
              </a:defRPr>
            </a:pPr>
            <a:r>
              <a:rPr sz="1725" b="1">
                <a:solidFill>
                  <a:srgbClr val="B07CFF"/>
                </a:solidFill>
                <a:latin typeface="Calibri"/>
                <a:ea typeface="Calibri"/>
                <a:cs typeface="Calibri"/>
              </a:rPr>
              <a:t>+$593K annual pace since January · +21.1%</a:t>
            </a:r>
            <a:endParaRPr sz="1700"/>
          </a:p>
        </p:txBody>
      </p:sp>
      <p:sp>
        <p:nvSpPr>
          <p:cNvPr id="11" name="Shape 9">
            <a:extLst>
              <a:ext uri="{FF2B5EF4-FFF2-40B4-BE49-F238E27FC236}">
                <a16:creationId xmlns:a16="http://schemas.microsoft.com/office/drawing/2014/main" id="{2C5EA507-A981-4FBE-933D-5006B88E456E}"/>
              </a:ext>
            </a:extLst>
          </p:cNvPr>
          <p:cNvSpPr>
            <a:spLocks noGrp="1"/>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txBody>
          <a:bodyPr/>
          <a:lstStyle/>
          <a:p>
            <a:endParaRPr/>
          </a:p>
        </p:txBody>
      </p:sp>
      <p:sp>
        <p:nvSpPr>
          <p:cNvPr id="12" name="Text 10">
            <a:extLst>
              <a:ext uri="{FF2B5EF4-FFF2-40B4-BE49-F238E27FC236}">
                <a16:creationId xmlns:a16="http://schemas.microsoft.com/office/drawing/2014/main" id="{D39C015B-DE21-4043-97C4-9920F9C77AAA}"/>
              </a:ext>
            </a:extLst>
          </p:cNvPr>
          <p:cNvSpPr>
            <a:spLocks noGrp="1"/>
          </p:cNvSpPr>
          <p:nvPr/>
        </p:nvSpPr>
        <p:spPr>
          <a:xfrm>
            <a:off x="6693408" y="1682496"/>
            <a:ext cx="4839919" cy="274320"/>
          </a:xfrm>
          <a:prstGeom prst="rect">
            <a:avLst/>
          </a:prstGeom>
          <a:noFill/>
        </p:spPr>
        <p:txBody>
          <a:bodyPr wrap="none" lIns="0" tIns="0" rIns="0" bIns="0" anchor="ctr">
            <a:noAutofit/>
          </a:bodyPr>
          <a:lstStyle/>
          <a:p>
            <a:pPr marL="0" indent="0" algn="l">
              <a:buNone/>
              <a:defRPr sz="1500" b="1">
                <a:solidFill>
                  <a:srgbClr val="6EC8FF"/>
                </a:solidFill>
                <a:latin typeface="Calibri"/>
                <a:ea typeface="Calibri"/>
                <a:cs typeface="Calibri"/>
              </a:defRPr>
            </a:pPr>
            <a:r>
              <a:rPr sz="1500" b="1">
                <a:solidFill>
                  <a:srgbClr val="6EC8FF"/>
                </a:solidFill>
                <a:latin typeface="Calibri"/>
                <a:ea typeface="Calibri"/>
                <a:cs typeface="Calibri"/>
              </a:rPr>
              <a:t>Azure</a:t>
            </a:r>
            <a:endParaRPr sz="1500"/>
          </a:p>
        </p:txBody>
      </p:sp>
      <p:sp>
        <p:nvSpPr>
          <p:cNvPr id="13" name="Text 11">
            <a:extLst>
              <a:ext uri="{FF2B5EF4-FFF2-40B4-BE49-F238E27FC236}">
                <a16:creationId xmlns:a16="http://schemas.microsoft.com/office/drawing/2014/main" id="{BCF1D0F5-FC03-4293-952A-708C28B319D3}"/>
              </a:ext>
            </a:extLst>
          </p:cNvPr>
          <p:cNvSpPr>
            <a:spLocks noGrp="1"/>
          </p:cNvSpPr>
          <p:nvPr/>
        </p:nvSpPr>
        <p:spPr>
          <a:xfrm>
            <a:off x="6693408" y="1975104"/>
            <a:ext cx="2419960" cy="347472"/>
          </a:xfrm>
          <a:prstGeom prst="rect">
            <a:avLst/>
          </a:prstGeom>
          <a:noFill/>
        </p:spPr>
        <p:txBody>
          <a:bodyPr wrap="none" lIns="0" tIns="0" rIns="0" bIns="0" anchor="ctr">
            <a:noAutofit/>
          </a:bodyPr>
          <a:lstStyle/>
          <a:p>
            <a:pPr marL="0" indent="0" algn="l">
              <a:buNone/>
              <a:defRPr sz="2325" b="1">
                <a:solidFill>
                  <a:srgbClr val="6EC8FF"/>
                </a:solidFill>
                <a:latin typeface="Calibri"/>
                <a:ea typeface="Calibri"/>
                <a:cs typeface="Calibri"/>
              </a:defRPr>
            </a:pPr>
            <a:r>
              <a:rPr sz="2325" b="1">
                <a:solidFill>
                  <a:srgbClr val="6EC8FF"/>
                </a:solidFill>
                <a:latin typeface="Calibri"/>
                <a:ea typeface="Calibri"/>
                <a:cs typeface="Calibri"/>
              </a:rPr>
              <a:t>$186,917</a:t>
            </a:r>
            <a:endParaRPr sz="2200"/>
          </a:p>
        </p:txBody>
      </p:sp>
      <p:sp>
        <p:nvSpPr>
          <p:cNvPr id="14" name="Text 12">
            <a:extLst>
              <a:ext uri="{FF2B5EF4-FFF2-40B4-BE49-F238E27FC236}">
                <a16:creationId xmlns:a16="http://schemas.microsoft.com/office/drawing/2014/main" id="{EE99CEF2-9611-47B6-BA7A-E8893BFBDE86}"/>
              </a:ext>
            </a:extLst>
          </p:cNvPr>
          <p:cNvSpPr>
            <a:spLocks noGrp="1"/>
          </p:cNvSpPr>
          <p:nvPr/>
        </p:nvSpPr>
        <p:spPr>
          <a:xfrm>
            <a:off x="9113368" y="1975104"/>
            <a:ext cx="2419960" cy="347472"/>
          </a:xfrm>
          <a:prstGeom prst="rect">
            <a:avLst/>
          </a:prstGeom>
          <a:noFill/>
        </p:spPr>
        <p:txBody>
          <a:bodyPr wrap="none" lIns="0" tIns="0" rIns="0" bIns="0" anchor="ctr">
            <a:noAutofit/>
          </a:bodyPr>
          <a:lstStyle/>
          <a:p>
            <a:pPr marL="0" indent="0" algn="r">
              <a:buNone/>
              <a:defRPr sz="1575" b="1">
                <a:solidFill>
                  <a:srgbClr val="6EC8FF"/>
                </a:solidFill>
                <a:latin typeface="Calibri"/>
                <a:ea typeface="Calibri"/>
                <a:cs typeface="Calibri"/>
              </a:defRPr>
            </a:pPr>
            <a:r>
              <a:rPr sz="1575" b="1">
                <a:solidFill>
                  <a:srgbClr val="6EC8FF"/>
                </a:solidFill>
                <a:latin typeface="Calibri"/>
                <a:ea typeface="Calibri"/>
                <a:cs typeface="Calibri"/>
              </a:rPr>
              <a:t>66% of July consumption</a:t>
            </a:r>
            <a:endParaRPr sz="1200"/>
          </a:p>
        </p:txBody>
      </p:sp>
      <p:sp>
        <p:nvSpPr>
          <p:cNvPr id="15" name="Shape 13">
            <a:extLst>
              <a:ext uri="{FF2B5EF4-FFF2-40B4-BE49-F238E27FC236}">
                <a16:creationId xmlns:a16="http://schemas.microsoft.com/office/drawing/2014/main" id="{DBBF64F9-91C3-4634-8CEA-5CBC230FCFDB}"/>
              </a:ext>
            </a:extLst>
          </p:cNvPr>
          <p:cNvSpPr>
            <a:spLocks noGrp="1"/>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txBody>
          <a:bodyPr/>
          <a:lstStyle/>
          <a:p>
            <a:endParaRPr/>
          </a:p>
        </p:txBody>
      </p:sp>
      <p:sp>
        <p:nvSpPr>
          <p:cNvPr id="16" name="Text 14">
            <a:extLst>
              <a:ext uri="{FF2B5EF4-FFF2-40B4-BE49-F238E27FC236}">
                <a16:creationId xmlns:a16="http://schemas.microsoft.com/office/drawing/2014/main" id="{08EB5DA9-06BC-4442-977D-ED91594A22CA}"/>
              </a:ext>
            </a:extLst>
          </p:cNvPr>
          <p:cNvSpPr>
            <a:spLocks noGrp="1"/>
          </p:cNvSpPr>
          <p:nvPr/>
        </p:nvSpPr>
        <p:spPr>
          <a:xfrm>
            <a:off x="6693408" y="2734056"/>
            <a:ext cx="4839919" cy="274320"/>
          </a:xfrm>
          <a:prstGeom prst="rect">
            <a:avLst/>
          </a:prstGeom>
          <a:noFill/>
        </p:spPr>
        <p:txBody>
          <a:bodyPr wrap="none" lIns="0" tIns="0" rIns="0" bIns="0" anchor="ctr">
            <a:noAutofit/>
          </a:bodyPr>
          <a:lstStyle/>
          <a:p>
            <a:pPr marL="0" indent="0" algn="l">
              <a:buNone/>
              <a:defRPr sz="1500" b="1">
                <a:solidFill>
                  <a:srgbClr val="FF9B5C"/>
                </a:solidFill>
                <a:latin typeface="Calibri"/>
                <a:ea typeface="Calibri"/>
                <a:cs typeface="Calibri"/>
              </a:defRPr>
            </a:pPr>
            <a:r>
              <a:rPr sz="1500" b="1">
                <a:solidFill>
                  <a:srgbClr val="FF9B5C"/>
                </a:solidFill>
                <a:latin typeface="Calibri"/>
                <a:ea typeface="Calibri"/>
                <a:cs typeface="Calibri"/>
              </a:rPr>
              <a:t>AWS</a:t>
            </a:r>
            <a:endParaRPr sz="1500"/>
          </a:p>
        </p:txBody>
      </p:sp>
      <p:sp>
        <p:nvSpPr>
          <p:cNvPr id="17" name="Text 15">
            <a:extLst>
              <a:ext uri="{FF2B5EF4-FFF2-40B4-BE49-F238E27FC236}">
                <a16:creationId xmlns:a16="http://schemas.microsoft.com/office/drawing/2014/main" id="{B559A1E5-CD39-4916-9CCE-151BBF4DA91E}"/>
              </a:ext>
            </a:extLst>
          </p:cNvPr>
          <p:cNvSpPr>
            <a:spLocks noGrp="1"/>
          </p:cNvSpPr>
          <p:nvPr/>
        </p:nvSpPr>
        <p:spPr>
          <a:xfrm>
            <a:off x="6693408" y="3026664"/>
            <a:ext cx="2419960" cy="347472"/>
          </a:xfrm>
          <a:prstGeom prst="rect">
            <a:avLst/>
          </a:prstGeom>
          <a:noFill/>
        </p:spPr>
        <p:txBody>
          <a:bodyPr wrap="none" lIns="0" tIns="0" rIns="0" bIns="0" anchor="ctr">
            <a:noAutofit/>
          </a:bodyPr>
          <a:lstStyle/>
          <a:p>
            <a:pPr marL="0" indent="0" algn="l">
              <a:buNone/>
              <a:defRPr sz="2325" b="1">
                <a:solidFill>
                  <a:srgbClr val="FF9B5C"/>
                </a:solidFill>
                <a:latin typeface="Calibri"/>
                <a:ea typeface="Calibri"/>
                <a:cs typeface="Calibri"/>
              </a:defRPr>
            </a:pPr>
            <a:r>
              <a:rPr sz="2325" b="1">
                <a:solidFill>
                  <a:srgbClr val="FF9B5C"/>
                </a:solidFill>
                <a:latin typeface="Calibri"/>
                <a:ea typeface="Calibri"/>
                <a:cs typeface="Calibri"/>
              </a:rPr>
              <a:t>$92,930</a:t>
            </a:r>
            <a:endParaRPr sz="2200"/>
          </a:p>
        </p:txBody>
      </p:sp>
      <p:sp>
        <p:nvSpPr>
          <p:cNvPr id="18" name="Text 16">
            <a:extLst>
              <a:ext uri="{FF2B5EF4-FFF2-40B4-BE49-F238E27FC236}">
                <a16:creationId xmlns:a16="http://schemas.microsoft.com/office/drawing/2014/main" id="{EEFB396D-5336-407E-8865-312876A6612C}"/>
              </a:ext>
            </a:extLst>
          </p:cNvPr>
          <p:cNvSpPr>
            <a:spLocks noGrp="1"/>
          </p:cNvSpPr>
          <p:nvPr/>
        </p:nvSpPr>
        <p:spPr>
          <a:xfrm>
            <a:off x="9113368" y="3026664"/>
            <a:ext cx="2419960" cy="347472"/>
          </a:xfrm>
          <a:prstGeom prst="rect">
            <a:avLst/>
          </a:prstGeom>
          <a:noFill/>
        </p:spPr>
        <p:txBody>
          <a:bodyPr wrap="none" lIns="0" tIns="0" rIns="0" bIns="0" anchor="ctr">
            <a:noAutofit/>
          </a:bodyPr>
          <a:lstStyle/>
          <a:p>
            <a:pPr marL="0" indent="0" algn="r">
              <a:buNone/>
              <a:defRPr sz="1575" b="1">
                <a:solidFill>
                  <a:srgbClr val="FF9B5C"/>
                </a:solidFill>
                <a:latin typeface="Calibri"/>
                <a:ea typeface="Calibri"/>
                <a:cs typeface="Calibri"/>
              </a:defRPr>
            </a:pPr>
            <a:r>
              <a:rPr sz="1575" b="1">
                <a:solidFill>
                  <a:srgbClr val="FF9B5C"/>
                </a:solidFill>
                <a:latin typeface="Calibri"/>
                <a:ea typeface="Calibri"/>
                <a:cs typeface="Calibri"/>
              </a:rPr>
              <a:t>33% of July consumption</a:t>
            </a:r>
            <a:endParaRPr sz="1200"/>
          </a:p>
        </p:txBody>
      </p:sp>
      <p:sp>
        <p:nvSpPr>
          <p:cNvPr id="19" name="Shape 17">
            <a:extLst>
              <a:ext uri="{FF2B5EF4-FFF2-40B4-BE49-F238E27FC236}">
                <a16:creationId xmlns:a16="http://schemas.microsoft.com/office/drawing/2014/main" id="{1ED9BC6B-1929-4C93-A528-1153D5802F7A}"/>
              </a:ext>
            </a:extLst>
          </p:cNvPr>
          <p:cNvSpPr>
            <a:spLocks noGrp="1"/>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txBody>
          <a:bodyPr/>
          <a:lstStyle/>
          <a:p>
            <a:endParaRPr/>
          </a:p>
        </p:txBody>
      </p:sp>
      <p:sp>
        <p:nvSpPr>
          <p:cNvPr id="20" name="Text 18">
            <a:extLst>
              <a:ext uri="{FF2B5EF4-FFF2-40B4-BE49-F238E27FC236}">
                <a16:creationId xmlns:a16="http://schemas.microsoft.com/office/drawing/2014/main" id="{03E0B3E6-5681-4F23-811E-0906E2C07350}"/>
              </a:ext>
            </a:extLst>
          </p:cNvPr>
          <p:cNvSpPr>
            <a:spLocks noGrp="1"/>
          </p:cNvSpPr>
          <p:nvPr/>
        </p:nvSpPr>
        <p:spPr>
          <a:xfrm>
            <a:off x="6693408" y="3785616"/>
            <a:ext cx="4839919" cy="274320"/>
          </a:xfrm>
          <a:prstGeom prst="rect">
            <a:avLst/>
          </a:prstGeom>
          <a:noFill/>
        </p:spPr>
        <p:txBody>
          <a:bodyPr wrap="none" lIns="0" tIns="0" rIns="0" bIns="0" anchor="ctr">
            <a:noAutofit/>
          </a:bodyPr>
          <a:lstStyle/>
          <a:p>
            <a:pPr marL="0" indent="0" algn="l">
              <a:buNone/>
              <a:defRPr sz="1500" b="1">
                <a:solidFill>
                  <a:srgbClr val="62D6A6"/>
                </a:solidFill>
                <a:latin typeface="Calibri"/>
                <a:ea typeface="Calibri"/>
                <a:cs typeface="Calibri"/>
              </a:defRPr>
            </a:pPr>
            <a:r>
              <a:rPr sz="1500" b="1">
                <a:solidFill>
                  <a:srgbClr val="62D6A6"/>
                </a:solidFill>
                <a:latin typeface="Calibri"/>
                <a:ea typeface="Calibri"/>
                <a:cs typeface="Calibri"/>
              </a:rPr>
              <a:t>GCP</a:t>
            </a:r>
            <a:endParaRPr sz="1500"/>
          </a:p>
        </p:txBody>
      </p:sp>
      <p:sp>
        <p:nvSpPr>
          <p:cNvPr id="21" name="Text 19">
            <a:extLst>
              <a:ext uri="{FF2B5EF4-FFF2-40B4-BE49-F238E27FC236}">
                <a16:creationId xmlns:a16="http://schemas.microsoft.com/office/drawing/2014/main" id="{4212CB3B-757A-49B2-8206-A94B8116DC7A}"/>
              </a:ext>
            </a:extLst>
          </p:cNvPr>
          <p:cNvSpPr>
            <a:spLocks noGrp="1"/>
          </p:cNvSpPr>
          <p:nvPr/>
        </p:nvSpPr>
        <p:spPr>
          <a:xfrm>
            <a:off x="6693408" y="4078224"/>
            <a:ext cx="2419960" cy="347472"/>
          </a:xfrm>
          <a:prstGeom prst="rect">
            <a:avLst/>
          </a:prstGeom>
          <a:noFill/>
        </p:spPr>
        <p:txBody>
          <a:bodyPr wrap="none" lIns="0" tIns="0" rIns="0" bIns="0" anchor="ctr">
            <a:noAutofit/>
          </a:bodyPr>
          <a:lstStyle/>
          <a:p>
            <a:pPr marL="0" indent="0" algn="l">
              <a:buNone/>
              <a:defRPr sz="2325" b="1">
                <a:solidFill>
                  <a:srgbClr val="62D6A6"/>
                </a:solidFill>
                <a:latin typeface="Calibri"/>
                <a:ea typeface="Calibri"/>
                <a:cs typeface="Calibri"/>
              </a:defRPr>
            </a:pPr>
            <a:r>
              <a:rPr sz="2325" b="1">
                <a:solidFill>
                  <a:srgbClr val="62D6A6"/>
                </a:solidFill>
                <a:latin typeface="Calibri"/>
                <a:ea typeface="Calibri"/>
                <a:cs typeface="Calibri"/>
              </a:rPr>
              <a:t>$3,707</a:t>
            </a:r>
            <a:endParaRPr sz="2200"/>
          </a:p>
        </p:txBody>
      </p:sp>
      <p:sp>
        <p:nvSpPr>
          <p:cNvPr id="22" name="Text 20">
            <a:extLst>
              <a:ext uri="{FF2B5EF4-FFF2-40B4-BE49-F238E27FC236}">
                <a16:creationId xmlns:a16="http://schemas.microsoft.com/office/drawing/2014/main" id="{FCC63A88-6C89-495F-8691-FD61BC24862B}"/>
              </a:ext>
            </a:extLst>
          </p:cNvPr>
          <p:cNvSpPr>
            <a:spLocks noGrp="1"/>
          </p:cNvSpPr>
          <p:nvPr/>
        </p:nvSpPr>
        <p:spPr>
          <a:xfrm>
            <a:off x="9113368" y="4078224"/>
            <a:ext cx="2419960" cy="347472"/>
          </a:xfrm>
          <a:prstGeom prst="rect">
            <a:avLst/>
          </a:prstGeom>
          <a:noFill/>
        </p:spPr>
        <p:txBody>
          <a:bodyPr wrap="none" lIns="0" tIns="0" rIns="0" bIns="0" anchor="ctr">
            <a:noAutofit/>
          </a:bodyPr>
          <a:lstStyle/>
          <a:p>
            <a:pPr marL="0" indent="0" algn="r">
              <a:buNone/>
              <a:defRPr sz="1575" b="1">
                <a:solidFill>
                  <a:srgbClr val="62D6A6"/>
                </a:solidFill>
                <a:latin typeface="Calibri"/>
                <a:ea typeface="Calibri"/>
                <a:cs typeface="Calibri"/>
              </a:defRPr>
            </a:pPr>
            <a:r>
              <a:rPr sz="1575" b="1">
                <a:solidFill>
                  <a:srgbClr val="62D6A6"/>
                </a:solidFill>
                <a:latin typeface="Calibri"/>
                <a:ea typeface="Calibri"/>
                <a:cs typeface="Calibri"/>
              </a:rPr>
              <a:t>1.3% of July consumption</a:t>
            </a:r>
            <a:endParaRPr sz="1200"/>
          </a:p>
        </p:txBody>
      </p:sp>
      <p:sp>
        <p:nvSpPr>
          <p:cNvPr id="23" name="Text 21">
            <a:extLst>
              <a:ext uri="{FF2B5EF4-FFF2-40B4-BE49-F238E27FC236}">
                <a16:creationId xmlns:a16="http://schemas.microsoft.com/office/drawing/2014/main" id="{D9CB2804-D4B6-4A8E-A89F-6996CD1AA8B1}"/>
              </a:ext>
            </a:extLst>
          </p:cNvPr>
          <p:cNvSpPr>
            <a:spLocks noGrp="1"/>
          </p:cNvSpPr>
          <p:nvPr/>
        </p:nvSpPr>
        <p:spPr>
          <a:xfrm>
            <a:off x="457200" y="4069080"/>
            <a:ext cx="5669280" cy="219456"/>
          </a:xfrm>
          <a:prstGeom prst="rect">
            <a:avLst/>
          </a:prstGeom>
          <a:noFill/>
        </p:spPr>
        <p:txBody>
          <a:bodyPr wrap="none" lIns="0" tIns="0" rIns="0" bIns="0" anchor="ctr">
            <a:noAutofit/>
          </a:bodyPr>
          <a:lstStyle/>
          <a:p>
            <a:pPr marL="0" indent="0" algn="l">
              <a:buNone/>
              <a:defRPr sz="1500" b="1">
                <a:solidFill>
                  <a:srgbClr val="C5CCDA"/>
                </a:solidFill>
                <a:latin typeface="Calibri"/>
                <a:ea typeface="Calibri"/>
                <a:cs typeface="Calibri"/>
              </a:defRPr>
            </a:pPr>
            <a:r>
              <a:rPr sz="1500" b="1" spc="120">
                <a:solidFill>
                  <a:srgbClr val="C5CCDA"/>
                </a:solidFill>
                <a:latin typeface="Calibri"/>
                <a:ea typeface="Calibri"/>
                <a:cs typeface="Calibri"/>
              </a:rPr>
              <a:t>CHANGE IN MONTHLY SPEND SINCE JANUARY</a:t>
            </a:r>
            <a:endParaRPr sz="1200"/>
          </a:p>
        </p:txBody>
      </p:sp>
      <p:sp>
        <p:nvSpPr>
          <p:cNvPr id="24" name="Shape 22">
            <a:extLst>
              <a:ext uri="{FF2B5EF4-FFF2-40B4-BE49-F238E27FC236}">
                <a16:creationId xmlns:a16="http://schemas.microsoft.com/office/drawing/2014/main" id="{771498AC-C208-4116-A73E-BC1F4B5676AD}"/>
              </a:ext>
            </a:extLst>
          </p:cNvPr>
          <p:cNvSpPr>
            <a:spLocks noGrp="1"/>
          </p:cNvSpPr>
          <p:nvPr/>
        </p:nvSpPr>
        <p:spPr>
          <a:xfrm>
            <a:off x="457200" y="4512564"/>
            <a:ext cx="76200" cy="76200"/>
          </a:xfrm>
          <a:prstGeom prst="rect">
            <a:avLst/>
          </a:prstGeom>
          <a:solidFill>
            <a:srgbClr val="3DD9EB"/>
          </a:solidFill>
          <a:ln w="12700">
            <a:solidFill>
              <a:srgbClr val="3DD9EB"/>
            </a:solidFill>
            <a:prstDash val="solid"/>
          </a:ln>
        </p:spPr>
        <p:txBody>
          <a:bodyPr/>
          <a:lstStyle/>
          <a:p>
            <a:endParaRPr/>
          </a:p>
        </p:txBody>
      </p:sp>
      <p:sp>
        <p:nvSpPr>
          <p:cNvPr id="25" name="Text 23">
            <a:extLst>
              <a:ext uri="{FF2B5EF4-FFF2-40B4-BE49-F238E27FC236}">
                <a16:creationId xmlns:a16="http://schemas.microsoft.com/office/drawing/2014/main" id="{558D0CCD-3B08-43DC-9315-6A5FB333E1E8}"/>
              </a:ext>
            </a:extLst>
          </p:cNvPr>
          <p:cNvSpPr>
            <a:spLocks noGrp="1"/>
          </p:cNvSpPr>
          <p:nvPr/>
        </p:nvSpPr>
        <p:spPr>
          <a:xfrm>
            <a:off x="630936" y="4361688"/>
            <a:ext cx="5495544" cy="365760"/>
          </a:xfrm>
          <a:prstGeom prst="rect">
            <a:avLst/>
          </a:prstGeom>
          <a:noFill/>
        </p:spPr>
        <p:txBody>
          <a:bodyPr wrap="none" lIns="0" tIns="0" rIns="0" bIns="0" anchor="ctr">
            <a:noAutofit/>
          </a:bodyPr>
          <a:lstStyle/>
          <a:p>
            <a:pPr marL="0" indent="0" algn="l">
              <a:lnSpc>
                <a:spcPct val="110000"/>
              </a:lnSpc>
              <a:buNone/>
              <a:defRPr sz="1650" b="1">
                <a:solidFill>
                  <a:srgbClr val="F4F7FB"/>
                </a:solidFill>
                <a:latin typeface="Calibri"/>
                <a:ea typeface="Calibri"/>
                <a:cs typeface="Calibri"/>
              </a:defRPr>
            </a:pPr>
            <a:r>
              <a:rPr sz="1650" b="1">
                <a:solidFill>
                  <a:srgbClr val="F4F7FB"/>
                </a:solidFill>
                <a:latin typeface="Calibri"/>
                <a:ea typeface="Calibri"/>
                <a:cs typeface="Calibri"/>
              </a:rPr>
              <a:t>Azure  +$29.9K/month</a:t>
            </a:r>
            <a:endParaRPr sz="1250"/>
          </a:p>
        </p:txBody>
      </p:sp>
      <p:sp>
        <p:nvSpPr>
          <p:cNvPr id="26" name="Shape 24">
            <a:extLst>
              <a:ext uri="{FF2B5EF4-FFF2-40B4-BE49-F238E27FC236}">
                <a16:creationId xmlns:a16="http://schemas.microsoft.com/office/drawing/2014/main" id="{681571E7-D11D-42B4-B9E2-BFDEBB33B3D9}"/>
              </a:ext>
            </a:extLst>
          </p:cNvPr>
          <p:cNvSpPr>
            <a:spLocks noGrp="1"/>
          </p:cNvSpPr>
          <p:nvPr/>
        </p:nvSpPr>
        <p:spPr>
          <a:xfrm>
            <a:off x="457200" y="5119116"/>
            <a:ext cx="76200" cy="76200"/>
          </a:xfrm>
          <a:prstGeom prst="rect">
            <a:avLst/>
          </a:prstGeom>
          <a:solidFill>
            <a:srgbClr val="3DD9EB"/>
          </a:solidFill>
          <a:ln w="12700">
            <a:solidFill>
              <a:srgbClr val="3DD9EB"/>
            </a:solidFill>
            <a:prstDash val="solid"/>
          </a:ln>
        </p:spPr>
        <p:txBody>
          <a:bodyPr/>
          <a:lstStyle/>
          <a:p>
            <a:endParaRPr/>
          </a:p>
        </p:txBody>
      </p:sp>
      <p:sp>
        <p:nvSpPr>
          <p:cNvPr id="27" name="Text 25">
            <a:extLst>
              <a:ext uri="{FF2B5EF4-FFF2-40B4-BE49-F238E27FC236}">
                <a16:creationId xmlns:a16="http://schemas.microsoft.com/office/drawing/2014/main" id="{400597BC-5194-4F3D-8ECF-A2D1FD82342C}"/>
              </a:ext>
            </a:extLst>
          </p:cNvPr>
          <p:cNvSpPr>
            <a:spLocks noGrp="1"/>
          </p:cNvSpPr>
          <p:nvPr/>
        </p:nvSpPr>
        <p:spPr>
          <a:xfrm>
            <a:off x="630936" y="4928616"/>
            <a:ext cx="5495544" cy="457200"/>
          </a:xfrm>
          <a:prstGeom prst="rect">
            <a:avLst/>
          </a:prstGeom>
          <a:noFill/>
        </p:spPr>
        <p:txBody>
          <a:bodyPr wrap="none" lIns="0" tIns="0" rIns="0" bIns="0" anchor="ctr">
            <a:noAutofit/>
          </a:bodyPr>
          <a:lstStyle/>
          <a:p>
            <a:pPr marL="0" indent="0" algn="l">
              <a:lnSpc>
                <a:spcPct val="110000"/>
              </a:lnSpc>
              <a:buNone/>
              <a:defRPr sz="1650" b="1">
                <a:solidFill>
                  <a:srgbClr val="F4F7FB"/>
                </a:solidFill>
                <a:latin typeface="Calibri"/>
                <a:ea typeface="Calibri"/>
                <a:cs typeface="Calibri"/>
              </a:defRPr>
            </a:pPr>
            <a:r>
              <a:rPr sz="1650" b="1">
                <a:solidFill>
                  <a:srgbClr val="F4F7FB"/>
                </a:solidFill>
                <a:latin typeface="Calibri"/>
                <a:ea typeface="Calibri"/>
                <a:cs typeface="Calibri"/>
              </a:rPr>
              <a:t>AWS  +$15.8K/month · before Marketplace</a:t>
            </a:r>
            <a:endParaRPr sz="1250"/>
          </a:p>
        </p:txBody>
      </p:sp>
      <p:sp>
        <p:nvSpPr>
          <p:cNvPr id="28" name="Shape 26">
            <a:extLst>
              <a:ext uri="{FF2B5EF4-FFF2-40B4-BE49-F238E27FC236}">
                <a16:creationId xmlns:a16="http://schemas.microsoft.com/office/drawing/2014/main" id="{C2A500CD-92B6-43B3-AA8A-3B7D3D52B47E}"/>
              </a:ext>
            </a:extLst>
          </p:cNvPr>
          <p:cNvSpPr>
            <a:spLocks noGrp="1"/>
          </p:cNvSpPr>
          <p:nvPr/>
        </p:nvSpPr>
        <p:spPr>
          <a:xfrm>
            <a:off x="457200" y="5646420"/>
            <a:ext cx="76200" cy="76200"/>
          </a:xfrm>
          <a:prstGeom prst="rect">
            <a:avLst/>
          </a:prstGeom>
          <a:solidFill>
            <a:srgbClr val="3DD9EB"/>
          </a:solidFill>
          <a:ln w="12700">
            <a:solidFill>
              <a:srgbClr val="3DD9EB"/>
            </a:solidFill>
            <a:prstDash val="solid"/>
          </a:ln>
        </p:spPr>
        <p:txBody>
          <a:bodyPr/>
          <a:lstStyle/>
          <a:p>
            <a:endParaRPr/>
          </a:p>
        </p:txBody>
      </p:sp>
      <p:sp>
        <p:nvSpPr>
          <p:cNvPr id="29" name="Text 27">
            <a:extLst>
              <a:ext uri="{FF2B5EF4-FFF2-40B4-BE49-F238E27FC236}">
                <a16:creationId xmlns:a16="http://schemas.microsoft.com/office/drawing/2014/main" id="{EAF63A33-3826-4F08-AEF0-FBC5207D3AE8}"/>
              </a:ext>
            </a:extLst>
          </p:cNvPr>
          <p:cNvSpPr>
            <a:spLocks noGrp="1"/>
          </p:cNvSpPr>
          <p:nvPr/>
        </p:nvSpPr>
        <p:spPr>
          <a:xfrm>
            <a:off x="630936" y="5495544"/>
            <a:ext cx="5495544" cy="365760"/>
          </a:xfrm>
          <a:prstGeom prst="rect">
            <a:avLst/>
          </a:prstGeom>
          <a:noFill/>
        </p:spPr>
        <p:txBody>
          <a:bodyPr wrap="none" lIns="0" tIns="0" rIns="0" bIns="0" anchor="ctr">
            <a:noAutofit/>
          </a:bodyPr>
          <a:lstStyle/>
          <a:p>
            <a:pPr marL="0" indent="0" algn="l">
              <a:lnSpc>
                <a:spcPct val="110000"/>
              </a:lnSpc>
              <a:buNone/>
              <a:defRPr sz="1650" b="1">
                <a:solidFill>
                  <a:srgbClr val="F4F7FB"/>
                </a:solidFill>
                <a:latin typeface="Calibri"/>
                <a:ea typeface="Calibri"/>
                <a:cs typeface="Calibri"/>
              </a:defRPr>
            </a:pPr>
            <a:r>
              <a:rPr sz="1650" b="1">
                <a:solidFill>
                  <a:srgbClr val="F4F7FB"/>
                </a:solidFill>
                <a:latin typeface="Calibri"/>
                <a:ea typeface="Calibri"/>
                <a:cs typeface="Calibri"/>
              </a:rPr>
              <a:t>GCP  +$3.7K/month</a:t>
            </a:r>
            <a:endParaRPr sz="1250"/>
          </a:p>
        </p:txBody>
      </p:sp>
    </p:spTree>
    <p:extLst>
      <p:ext uri="{BB962C8B-B14F-4D97-AF65-F5344CB8AC3E}">
        <p14:creationId xmlns:p14="http://schemas.microsoft.com/office/powerpoint/2010/main" val="281009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64ADFF9-E5A1-4CC7-B45D-C6C56308DDD3}"/>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3862B42D-5DD8-4BB8-B78B-6D3C94EC0EE0}"/>
              </a:ext>
            </a:extLst>
          </p:cNvPr>
          <p:cNvSpPr>
            <a:spLocks noGrp="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a:p>
        </p:txBody>
      </p:sp>
      <p:sp>
        <p:nvSpPr>
          <p:cNvPr id="4" name="Text 2">
            <a:extLst>
              <a:ext uri="{FF2B5EF4-FFF2-40B4-BE49-F238E27FC236}">
                <a16:creationId xmlns:a16="http://schemas.microsoft.com/office/drawing/2014/main" id="{A0F4643F-E168-4701-903D-9B716C28AA84}"/>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6B7A"/>
                </a:solidFill>
                <a:latin typeface="Calibri"/>
                <a:ea typeface="Calibri"/>
                <a:cs typeface="Calibri"/>
              </a:rPr>
              <a:t>THE RISK CASE</a:t>
            </a:r>
            <a:endParaRPr sz="1300"/>
          </a:p>
        </p:txBody>
      </p:sp>
      <p:sp>
        <p:nvSpPr>
          <p:cNvPr id="5" name="Text 3">
            <a:extLst>
              <a:ext uri="{FF2B5EF4-FFF2-40B4-BE49-F238E27FC236}">
                <a16:creationId xmlns:a16="http://schemas.microsoft.com/office/drawing/2014/main" id="{014522BB-2B93-4A27-AD01-5E7FD9D58B26}"/>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2850" b="1">
                <a:solidFill>
                  <a:srgbClr val="F4F7FB"/>
                </a:solidFill>
                <a:latin typeface="Calibri"/>
                <a:ea typeface="Calibri"/>
                <a:cs typeface="Calibri"/>
              </a:defRPr>
            </a:pPr>
            <a:r>
              <a:rPr sz="2850" b="1">
                <a:solidFill>
                  <a:srgbClr val="F4F7FB"/>
                </a:solidFill>
                <a:latin typeface="Calibri"/>
                <a:ea typeface="Calibri"/>
                <a:cs typeface="Calibri"/>
              </a:rPr>
              <a:t>July growth path sets December run-rate</a:t>
            </a:r>
            <a:endParaRPr sz="2400"/>
          </a:p>
        </p:txBody>
      </p:sp>
      <p:sp>
        <p:nvSpPr>
          <p:cNvPr id="6" name="Text 4">
            <a:extLst>
              <a:ext uri="{FF2B5EF4-FFF2-40B4-BE49-F238E27FC236}">
                <a16:creationId xmlns:a16="http://schemas.microsoft.com/office/drawing/2014/main" id="{A340CAD5-7DEA-4434-9F54-900942B14199}"/>
              </a:ext>
            </a:extLst>
          </p:cNvPr>
          <p:cNvSpPr>
            <a:spLocks noGrp="1"/>
          </p:cNvSpPr>
          <p:nvPr/>
        </p:nvSpPr>
        <p:spPr>
          <a:xfrm>
            <a:off x="8321040" y="493776"/>
            <a:ext cx="3413455" cy="658368"/>
          </a:xfrm>
          <a:prstGeom prst="rect">
            <a:avLst/>
          </a:prstGeom>
          <a:noFill/>
        </p:spPr>
        <p:txBody>
          <a:bodyPr wrap="none" lIns="0" tIns="0" rIns="0" bIns="0" anchor="ctr">
            <a:noAutofit/>
          </a:bodyPr>
          <a:lstStyle/>
          <a:p>
            <a:pPr marL="0" indent="0" algn="r">
              <a:lnSpc>
                <a:spcPct val="115000"/>
              </a:lnSpc>
              <a:buNone/>
              <a:defRPr sz="1350" b="1">
                <a:solidFill>
                  <a:srgbClr val="B07CFF"/>
                </a:solidFill>
                <a:latin typeface="Calibri"/>
                <a:ea typeface="Calibri"/>
                <a:cs typeface="Calibri"/>
              </a:defRPr>
            </a:pPr>
            <a:r>
              <a:rPr sz="1350" b="1">
                <a:solidFill>
                  <a:srgbClr val="B07CFF"/>
                </a:solidFill>
                <a:latin typeface="Calibri"/>
                <a:ea typeface="Calibri"/>
                <a:cs typeface="Calibri"/>
              </a:rPr>
              <a:t>UPPER BOUND · NOT FORECAST</a:t>
            </a:r>
            <a:endParaRPr sz="1200"/>
          </a:p>
        </p:txBody>
      </p:sp>
      <p:sp>
        <p:nvSpPr>
          <p:cNvPr id="7" name="Text 5">
            <a:extLst>
              <a:ext uri="{FF2B5EF4-FFF2-40B4-BE49-F238E27FC236}">
                <a16:creationId xmlns:a16="http://schemas.microsoft.com/office/drawing/2014/main" id="{7C85AFDD-4F14-4B53-AA53-ED4D6BD8E2F3}"/>
              </a:ext>
            </a:extLst>
          </p:cNvPr>
          <p:cNvSpPr>
            <a:spLocks noGrp="1"/>
          </p:cNvSpPr>
          <p:nvPr/>
        </p:nvSpPr>
        <p:spPr>
          <a:xfrm>
            <a:off x="457200" y="6345936"/>
            <a:ext cx="11277295" cy="402336"/>
          </a:xfrm>
          <a:prstGeom prst="rect">
            <a:avLst/>
          </a:prstGeom>
          <a:noFill/>
        </p:spPr>
        <p:txBody>
          <a:bodyPr wrap="none" lIns="0" tIns="0" rIns="0" bIns="0" anchor="ctr">
            <a:noAutofit/>
          </a:bodyPr>
          <a:lstStyle/>
          <a:p>
            <a:pPr marL="0" indent="0" algn="l">
              <a:lnSpc>
                <a:spcPct val="115000"/>
              </a:lnSpc>
              <a:buNone/>
              <a:defRPr sz="1350" b="0">
                <a:solidFill>
                  <a:srgbClr val="536078"/>
                </a:solidFill>
                <a:latin typeface="Calibri"/>
                <a:ea typeface="Calibri"/>
                <a:cs typeface="Calibri"/>
              </a:defRPr>
            </a:pPr>
            <a:r>
              <a:rPr sz="1350" b="0">
                <a:solidFill>
                  <a:srgbClr val="536078"/>
                </a:solidFill>
                <a:latin typeface="Calibri"/>
                <a:ea typeface="Calibri"/>
                <a:cs typeface="Calibri"/>
              </a:rPr>
              <a:t>August and September will show which path is emerging.</a:t>
            </a:r>
            <a:endParaRPr sz="1200"/>
          </a:p>
        </p:txBody>
      </p:sp>
      <p:sp>
        <p:nvSpPr>
          <p:cNvPr id="8" name="Text 6">
            <a:extLst>
              <a:ext uri="{FF2B5EF4-FFF2-40B4-BE49-F238E27FC236}">
                <a16:creationId xmlns:a16="http://schemas.microsoft.com/office/drawing/2014/main" id="{076B901A-1795-45E5-BE8E-B61547CE341D}"/>
              </a:ext>
            </a:extLst>
          </p:cNvPr>
          <p:cNvSpPr>
            <a:spLocks noGrp="1"/>
          </p:cNvSpPr>
          <p:nvPr/>
        </p:nvSpPr>
        <p:spPr>
          <a:xfrm>
            <a:off x="457200" y="1234440"/>
            <a:ext cx="7360920" cy="237744"/>
          </a:xfrm>
          <a:prstGeom prst="rect">
            <a:avLst/>
          </a:prstGeom>
          <a:noFill/>
        </p:spPr>
        <p:txBody>
          <a:bodyPr wrap="none" lIns="0" tIns="0" rIns="0" bIns="0" anchor="ctr">
            <a:noAutofit/>
          </a:bodyPr>
          <a:lstStyle/>
          <a:p>
            <a:pPr marL="0" indent="0" algn="l">
              <a:buNone/>
              <a:defRPr sz="1725" b="1">
                <a:solidFill>
                  <a:srgbClr val="F4F7FB"/>
                </a:solidFill>
                <a:latin typeface="Calibri"/>
                <a:ea typeface="Calibri"/>
                <a:cs typeface="Calibri"/>
              </a:defRPr>
            </a:pPr>
            <a:r>
              <a:rPr sz="1725" b="1">
                <a:solidFill>
                  <a:srgbClr val="F4F7FB"/>
                </a:solidFill>
                <a:latin typeface="Calibri"/>
                <a:ea typeface="Calibri"/>
                <a:cs typeface="Calibri"/>
              </a:rPr>
              <a:t>Annualized run-rate · July to December ($M)</a:t>
            </a:r>
            <a:endParaRPr sz="1500"/>
          </a:p>
        </p:txBody>
      </p:sp>
      <p:sp>
        <p:nvSpPr>
          <p:cNvPr id="10" name="Shape 7">
            <a:extLst>
              <a:ext uri="{FF2B5EF4-FFF2-40B4-BE49-F238E27FC236}">
                <a16:creationId xmlns:a16="http://schemas.microsoft.com/office/drawing/2014/main" id="{B0D39D76-0730-4CF9-9939-A1D425E3C359}"/>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930363BD-3976-4AF8-88CB-DBED8698B8BB}"/>
              </a:ext>
            </a:extLst>
          </p:cNvPr>
          <p:cNvSpPr>
            <a:spLocks noGrp="1"/>
          </p:cNvSpPr>
          <p:nvPr/>
        </p:nvSpPr>
        <p:spPr>
          <a:xfrm>
            <a:off x="8293608" y="1325880"/>
            <a:ext cx="3239719" cy="237744"/>
          </a:xfrm>
          <a:prstGeom prst="rect">
            <a:avLst/>
          </a:prstGeom>
          <a:noFill/>
        </p:spPr>
        <p:txBody>
          <a:bodyPr wrap="none" lIns="0" tIns="0" rIns="0" bIns="0" anchor="ctr">
            <a:noAutofit/>
          </a:bodyPr>
          <a:lstStyle/>
          <a:p>
            <a:pPr marL="0" indent="0" algn="l">
              <a:buNone/>
              <a:defRPr sz="1350" b="1">
                <a:solidFill>
                  <a:srgbClr val="C5CCDA"/>
                </a:solidFill>
                <a:latin typeface="Calibri"/>
                <a:ea typeface="Calibri"/>
                <a:cs typeface="Calibri"/>
              </a:defRPr>
            </a:pPr>
            <a:r>
              <a:rPr sz="1350" b="1" spc="120">
                <a:solidFill>
                  <a:srgbClr val="C5CCDA"/>
                </a:solidFill>
                <a:latin typeface="Calibri"/>
                <a:ea typeface="Calibri"/>
                <a:cs typeface="Calibri"/>
              </a:rPr>
              <a:t>BASE CASE · DECEMBER</a:t>
            </a:r>
            <a:endParaRPr sz="1200"/>
          </a:p>
        </p:txBody>
      </p:sp>
      <p:sp>
        <p:nvSpPr>
          <p:cNvPr id="12" name="Text 9">
            <a:extLst>
              <a:ext uri="{FF2B5EF4-FFF2-40B4-BE49-F238E27FC236}">
                <a16:creationId xmlns:a16="http://schemas.microsoft.com/office/drawing/2014/main" id="{C9095B51-66CE-4E12-96E1-1C0DD2A6C63C}"/>
              </a:ext>
            </a:extLst>
          </p:cNvPr>
          <p:cNvSpPr>
            <a:spLocks noGrp="1"/>
          </p:cNvSpPr>
          <p:nvPr/>
        </p:nvSpPr>
        <p:spPr>
          <a:xfrm>
            <a:off x="8293608" y="1527048"/>
            <a:ext cx="3239719" cy="438912"/>
          </a:xfrm>
          <a:prstGeom prst="rect">
            <a:avLst/>
          </a:prstGeom>
          <a:noFill/>
        </p:spPr>
        <p:txBody>
          <a:bodyPr wrap="none" lIns="0" tIns="0" rIns="0" bIns="0" anchor="ctr">
            <a:noAutofit/>
          </a:bodyPr>
          <a:lstStyle/>
          <a:p>
            <a:pPr marL="0" indent="0" algn="l">
              <a:buNone/>
              <a:defRPr sz="3150" b="1">
                <a:solidFill>
                  <a:srgbClr val="6EC8FF"/>
                </a:solidFill>
                <a:latin typeface="Calibri"/>
                <a:ea typeface="Calibri"/>
                <a:cs typeface="Calibri"/>
              </a:defRPr>
            </a:pPr>
            <a:r>
              <a:rPr sz="3150" b="1">
                <a:solidFill>
                  <a:srgbClr val="6EC8FF"/>
                </a:solidFill>
                <a:latin typeface="Calibri"/>
                <a:ea typeface="Calibri"/>
                <a:cs typeface="Calibri"/>
              </a:rPr>
              <a:t>$4.01M</a:t>
            </a:r>
            <a:endParaRPr sz="2800"/>
          </a:p>
        </p:txBody>
      </p:sp>
      <p:sp>
        <p:nvSpPr>
          <p:cNvPr id="13" name="Text 10">
            <a:extLst>
              <a:ext uri="{FF2B5EF4-FFF2-40B4-BE49-F238E27FC236}">
                <a16:creationId xmlns:a16="http://schemas.microsoft.com/office/drawing/2014/main" id="{638230B3-BCB8-4EC5-8F97-B9012BC5ADD0}"/>
              </a:ext>
            </a:extLst>
          </p:cNvPr>
          <p:cNvSpPr>
            <a:spLocks noGrp="1"/>
          </p:cNvSpPr>
          <p:nvPr/>
        </p:nvSpPr>
        <p:spPr>
          <a:xfrm>
            <a:off x="8293608" y="1929384"/>
            <a:ext cx="3239719" cy="329184"/>
          </a:xfrm>
          <a:prstGeom prst="rect">
            <a:avLst/>
          </a:prstGeom>
          <a:noFill/>
        </p:spPr>
        <p:txBody>
          <a:bodyPr wrap="none" lIns="0" tIns="0" rIns="0" bIns="0" anchor="ctr">
            <a:noAutofit/>
          </a:bodyPr>
          <a:lstStyle/>
          <a:p>
            <a:pPr marL="0" indent="0" algn="l">
              <a:lnSpc>
                <a:spcPct val="105000"/>
              </a:lnSpc>
              <a:buNone/>
              <a:defRPr sz="1350" b="1">
                <a:solidFill>
                  <a:srgbClr val="6EC8FF"/>
                </a:solidFill>
                <a:latin typeface="Calibri"/>
                <a:ea typeface="Calibri"/>
                <a:cs typeface="Calibri"/>
              </a:defRPr>
            </a:pPr>
            <a:r>
              <a:rPr sz="1350" b="1">
                <a:solidFill>
                  <a:srgbClr val="6EC8FF"/>
                </a:solidFill>
                <a:latin typeface="Calibri"/>
                <a:ea typeface="Calibri"/>
                <a:cs typeface="Calibri"/>
              </a:rPr>
              <a:t>annualized run-rate</a:t>
            </a:r>
            <a:endParaRPr sz="1200"/>
          </a:p>
        </p:txBody>
      </p:sp>
      <p:sp>
        <p:nvSpPr>
          <p:cNvPr id="14" name="Shape 11">
            <a:extLst>
              <a:ext uri="{FF2B5EF4-FFF2-40B4-BE49-F238E27FC236}">
                <a16:creationId xmlns:a16="http://schemas.microsoft.com/office/drawing/2014/main" id="{421954A7-CBBB-4180-8D5E-1CBF415ECF2A}"/>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044EC2A5-A65D-42F4-92F0-6814715B5194}"/>
              </a:ext>
            </a:extLst>
          </p:cNvPr>
          <p:cNvSpPr>
            <a:spLocks noGrp="1"/>
          </p:cNvSpPr>
          <p:nvPr/>
        </p:nvSpPr>
        <p:spPr>
          <a:xfrm>
            <a:off x="8293608" y="2551176"/>
            <a:ext cx="3239719" cy="237744"/>
          </a:xfrm>
          <a:prstGeom prst="rect">
            <a:avLst/>
          </a:prstGeom>
          <a:noFill/>
        </p:spPr>
        <p:txBody>
          <a:bodyPr wrap="none" lIns="0" tIns="0" rIns="0" bIns="0" anchor="ctr">
            <a:noAutofit/>
          </a:bodyPr>
          <a:lstStyle/>
          <a:p>
            <a:pPr marL="0" indent="0" algn="l">
              <a:buNone/>
              <a:defRPr sz="1350" b="1">
                <a:solidFill>
                  <a:srgbClr val="C5CCDA"/>
                </a:solidFill>
                <a:latin typeface="Calibri"/>
                <a:ea typeface="Calibri"/>
                <a:cs typeface="Calibri"/>
              </a:defRPr>
            </a:pPr>
            <a:r>
              <a:rPr sz="1350" b="1" spc="120">
                <a:solidFill>
                  <a:srgbClr val="C5CCDA"/>
                </a:solidFill>
                <a:latin typeface="Calibri"/>
                <a:ea typeface="Calibri"/>
                <a:cs typeface="Calibri"/>
              </a:rPr>
              <a:t>FASTER CASE · DECEMBER</a:t>
            </a:r>
            <a:endParaRPr sz="1200"/>
          </a:p>
        </p:txBody>
      </p:sp>
      <p:sp>
        <p:nvSpPr>
          <p:cNvPr id="16" name="Text 13">
            <a:extLst>
              <a:ext uri="{FF2B5EF4-FFF2-40B4-BE49-F238E27FC236}">
                <a16:creationId xmlns:a16="http://schemas.microsoft.com/office/drawing/2014/main" id="{96047E6E-2EA7-48C1-8CC1-AD6FAABF3FE6}"/>
              </a:ext>
            </a:extLst>
          </p:cNvPr>
          <p:cNvSpPr>
            <a:spLocks noGrp="1"/>
          </p:cNvSpPr>
          <p:nvPr/>
        </p:nvSpPr>
        <p:spPr>
          <a:xfrm>
            <a:off x="8293608" y="2752344"/>
            <a:ext cx="3239719" cy="438912"/>
          </a:xfrm>
          <a:prstGeom prst="rect">
            <a:avLst/>
          </a:prstGeom>
          <a:noFill/>
        </p:spPr>
        <p:txBody>
          <a:bodyPr wrap="none" lIns="0" tIns="0" rIns="0" bIns="0" anchor="ctr">
            <a:noAutofit/>
          </a:bodyPr>
          <a:lstStyle/>
          <a:p>
            <a:pPr marL="0" indent="0" algn="l">
              <a:buNone/>
              <a:defRPr sz="3150" b="1">
                <a:solidFill>
                  <a:srgbClr val="FF9B5C"/>
                </a:solidFill>
                <a:latin typeface="Calibri"/>
                <a:ea typeface="Calibri"/>
                <a:cs typeface="Calibri"/>
              </a:defRPr>
            </a:pPr>
            <a:r>
              <a:rPr sz="3150" b="1">
                <a:solidFill>
                  <a:srgbClr val="FF9B5C"/>
                </a:solidFill>
                <a:latin typeface="Calibri"/>
                <a:ea typeface="Calibri"/>
                <a:cs typeface="Calibri"/>
              </a:rPr>
              <a:t>$5.78M</a:t>
            </a:r>
            <a:endParaRPr sz="2800"/>
          </a:p>
        </p:txBody>
      </p:sp>
      <p:sp>
        <p:nvSpPr>
          <p:cNvPr id="17" name="Text 14">
            <a:extLst>
              <a:ext uri="{FF2B5EF4-FFF2-40B4-BE49-F238E27FC236}">
                <a16:creationId xmlns:a16="http://schemas.microsoft.com/office/drawing/2014/main" id="{404CF916-C277-43EB-8101-38CE03CFDC77}"/>
              </a:ext>
            </a:extLst>
          </p:cNvPr>
          <p:cNvSpPr>
            <a:spLocks noGrp="1"/>
          </p:cNvSpPr>
          <p:nvPr/>
        </p:nvSpPr>
        <p:spPr>
          <a:xfrm>
            <a:off x="8293608" y="3154680"/>
            <a:ext cx="3239719" cy="329184"/>
          </a:xfrm>
          <a:prstGeom prst="rect">
            <a:avLst/>
          </a:prstGeom>
          <a:noFill/>
        </p:spPr>
        <p:txBody>
          <a:bodyPr wrap="none" lIns="0" tIns="0" rIns="0" bIns="0" anchor="ctr">
            <a:noAutofit/>
          </a:bodyPr>
          <a:lstStyle/>
          <a:p>
            <a:pPr marL="0" indent="0" algn="l">
              <a:lnSpc>
                <a:spcPct val="105000"/>
              </a:lnSpc>
              <a:buNone/>
              <a:defRPr sz="1350" b="1">
                <a:solidFill>
                  <a:srgbClr val="FF9B5C"/>
                </a:solidFill>
                <a:latin typeface="Calibri"/>
                <a:ea typeface="Calibri"/>
                <a:cs typeface="Calibri"/>
              </a:defRPr>
            </a:pPr>
            <a:r>
              <a:rPr sz="1350" b="1">
                <a:solidFill>
                  <a:srgbClr val="FF9B5C"/>
                </a:solidFill>
                <a:latin typeface="Calibri"/>
                <a:ea typeface="Calibri"/>
                <a:cs typeface="Calibri"/>
              </a:rPr>
              <a:t>annualized run-rate</a:t>
            </a:r>
            <a:endParaRPr sz="1200"/>
          </a:p>
        </p:txBody>
      </p:sp>
      <p:sp>
        <p:nvSpPr>
          <p:cNvPr id="18" name="Shape 15">
            <a:extLst>
              <a:ext uri="{FF2B5EF4-FFF2-40B4-BE49-F238E27FC236}">
                <a16:creationId xmlns:a16="http://schemas.microsoft.com/office/drawing/2014/main" id="{2C528B44-3F2B-436C-8970-CDAED70F79A1}"/>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D93D5870-9D7E-4AF2-AF04-95CE8BF5E769}"/>
              </a:ext>
            </a:extLst>
          </p:cNvPr>
          <p:cNvSpPr>
            <a:spLocks noGrp="1"/>
          </p:cNvSpPr>
          <p:nvPr/>
        </p:nvSpPr>
        <p:spPr>
          <a:xfrm>
            <a:off x="8293608" y="3776472"/>
            <a:ext cx="3239719" cy="237744"/>
          </a:xfrm>
          <a:prstGeom prst="rect">
            <a:avLst/>
          </a:prstGeom>
          <a:noFill/>
        </p:spPr>
        <p:txBody>
          <a:bodyPr wrap="none" lIns="0" tIns="0" rIns="0" bIns="0" anchor="ctr">
            <a:noAutofit/>
          </a:bodyPr>
          <a:lstStyle/>
          <a:p>
            <a:pPr marL="0" indent="0" algn="l">
              <a:buNone/>
              <a:defRPr sz="1350" b="1">
                <a:solidFill>
                  <a:srgbClr val="C5CCDA"/>
                </a:solidFill>
                <a:latin typeface="Calibri"/>
                <a:ea typeface="Calibri"/>
                <a:cs typeface="Calibri"/>
              </a:defRPr>
            </a:pPr>
            <a:r>
              <a:rPr sz="1350" b="1" spc="120">
                <a:solidFill>
                  <a:srgbClr val="C5CCDA"/>
                </a:solidFill>
                <a:latin typeface="Calibri"/>
                <a:ea typeface="Calibri"/>
                <a:cs typeface="Calibri"/>
              </a:rPr>
              <a:t>GAP · FASTER VS BASE</a:t>
            </a:r>
            <a:endParaRPr sz="1200"/>
          </a:p>
        </p:txBody>
      </p:sp>
      <p:sp>
        <p:nvSpPr>
          <p:cNvPr id="20" name="Text 17">
            <a:extLst>
              <a:ext uri="{FF2B5EF4-FFF2-40B4-BE49-F238E27FC236}">
                <a16:creationId xmlns:a16="http://schemas.microsoft.com/office/drawing/2014/main" id="{BD853AE9-5389-4701-BD8B-D1B0720EA685}"/>
              </a:ext>
            </a:extLst>
          </p:cNvPr>
          <p:cNvSpPr>
            <a:spLocks noGrp="1"/>
          </p:cNvSpPr>
          <p:nvPr/>
        </p:nvSpPr>
        <p:spPr>
          <a:xfrm>
            <a:off x="8293608" y="3977640"/>
            <a:ext cx="3239719" cy="438912"/>
          </a:xfrm>
          <a:prstGeom prst="rect">
            <a:avLst/>
          </a:prstGeom>
          <a:noFill/>
        </p:spPr>
        <p:txBody>
          <a:bodyPr wrap="none" lIns="0" tIns="0" rIns="0" bIns="0" anchor="ctr">
            <a:noAutofit/>
          </a:bodyPr>
          <a:lstStyle/>
          <a:p>
            <a:pPr marL="0" indent="0" algn="l">
              <a:buNone/>
              <a:defRPr sz="3150" b="1">
                <a:solidFill>
                  <a:srgbClr val="F4F7FB"/>
                </a:solidFill>
                <a:latin typeface="Calibri"/>
                <a:ea typeface="Calibri"/>
                <a:cs typeface="Calibri"/>
              </a:defRPr>
            </a:pPr>
            <a:r>
              <a:rPr sz="3150" b="1">
                <a:solidFill>
                  <a:srgbClr val="F4F7FB"/>
                </a:solidFill>
                <a:latin typeface="Calibri"/>
                <a:ea typeface="Calibri"/>
                <a:cs typeface="Calibri"/>
              </a:rPr>
              <a:t>+$1.77M</a:t>
            </a:r>
            <a:endParaRPr sz="2800"/>
          </a:p>
        </p:txBody>
      </p:sp>
      <p:sp>
        <p:nvSpPr>
          <p:cNvPr id="21" name="Text 18">
            <a:extLst>
              <a:ext uri="{FF2B5EF4-FFF2-40B4-BE49-F238E27FC236}">
                <a16:creationId xmlns:a16="http://schemas.microsoft.com/office/drawing/2014/main" id="{9C4A3741-A1BF-4A17-812D-C0F483A5517B}"/>
              </a:ext>
            </a:extLst>
          </p:cNvPr>
          <p:cNvSpPr>
            <a:spLocks noGrp="1"/>
          </p:cNvSpPr>
          <p:nvPr/>
        </p:nvSpPr>
        <p:spPr>
          <a:xfrm>
            <a:off x="8293608" y="4379976"/>
            <a:ext cx="3239719" cy="329184"/>
          </a:xfrm>
          <a:prstGeom prst="rect">
            <a:avLst/>
          </a:prstGeom>
          <a:noFill/>
        </p:spPr>
        <p:txBody>
          <a:bodyPr wrap="none" lIns="0" tIns="0" rIns="0" bIns="0" anchor="ctr">
            <a:noAutofit/>
          </a:bodyPr>
          <a:lstStyle/>
          <a:p>
            <a:pPr marL="0" indent="0" algn="l">
              <a:lnSpc>
                <a:spcPct val="105000"/>
              </a:lnSpc>
              <a:buNone/>
              <a:defRPr sz="1350" b="1">
                <a:solidFill>
                  <a:srgbClr val="C5CCDA"/>
                </a:solidFill>
                <a:latin typeface="Calibri"/>
                <a:ea typeface="Calibri"/>
                <a:cs typeface="Calibri"/>
              </a:defRPr>
            </a:pPr>
            <a:r>
              <a:rPr sz="1350" b="1">
                <a:solidFill>
                  <a:srgbClr val="C5CCDA"/>
                </a:solidFill>
                <a:latin typeface="Calibri"/>
                <a:ea typeface="Calibri"/>
                <a:cs typeface="Calibri"/>
              </a:rPr>
              <a:t>faster vs base · annualized</a:t>
            </a:r>
            <a:endParaRPr sz="1200"/>
          </a:p>
        </p:txBody>
      </p:sp>
      <p:graphicFrame>
        <p:nvGraphicFramePr>
          <p:cNvPr id="42" name="Chart"/>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6878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AE62D08-8778-42D9-9D61-A900BF0F6A4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B01EF07C-E0A6-4D5E-9206-F14CB3231F40}"/>
              </a:ext>
            </a:extLst>
          </p:cNvPr>
          <p:cNvSpPr>
            <a:spLocks noGrp="1"/>
          </p:cNvSpPr>
          <p:nvPr/>
        </p:nvSpPr>
        <p:spPr>
          <a:xfrm>
            <a:off x="7863840" y="-1280160"/>
            <a:ext cx="5852160" cy="5852160"/>
          </a:xfrm>
          <a:prstGeom prst="ellipse">
            <a:avLst/>
          </a:prstGeom>
          <a:solidFill>
            <a:srgbClr val="2F8CFF">
              <a:alpha val="8000"/>
            </a:srgbClr>
          </a:solidFill>
          <a:ln w="12700">
            <a:solidFill>
              <a:srgbClr val="2F8CFF">
                <a:alpha val="0"/>
              </a:srgbClr>
            </a:solidFill>
            <a:prstDash val="solid"/>
          </a:ln>
        </p:spPr>
        <p:txBody>
          <a:bodyPr/>
          <a:lstStyle/>
          <a:p>
            <a:endParaRPr/>
          </a:p>
        </p:txBody>
      </p:sp>
      <p:sp>
        <p:nvSpPr>
          <p:cNvPr id="4" name="Shape 2">
            <a:extLst>
              <a:ext uri="{FF2B5EF4-FFF2-40B4-BE49-F238E27FC236}">
                <a16:creationId xmlns:a16="http://schemas.microsoft.com/office/drawing/2014/main" id="{815B0BC2-0F15-42EB-BA6F-E714E2B95148}"/>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AE24D6B5-05A2-4155-9B4C-83A583E549D2}"/>
              </a:ext>
            </a:extLst>
          </p:cNvPr>
          <p:cNvSpPr>
            <a:spLocks noGrp="1"/>
          </p:cNvSpPr>
          <p:nvPr/>
        </p:nvSpPr>
        <p:spPr>
          <a:xfrm>
            <a:off x="457200" y="2331720"/>
            <a:ext cx="8229600" cy="274320"/>
          </a:xfrm>
          <a:prstGeom prst="rect">
            <a:avLst/>
          </a:prstGeom>
          <a:noFill/>
        </p:spPr>
        <p:txBody>
          <a:bodyPr wrap="square" lIns="0" tIns="0" rIns="0" bIns="0" anchor="ctr"/>
          <a:lstStyle/>
          <a:p>
            <a:pPr marL="0" indent="0">
              <a:buNone/>
            </a:pPr>
            <a:endParaRPr sz="1300" dirty="0"/>
          </a:p>
        </p:txBody>
      </p:sp>
      <p:sp>
        <p:nvSpPr>
          <p:cNvPr id="6" name="Text 4">
            <a:extLst>
              <a:ext uri="{FF2B5EF4-FFF2-40B4-BE49-F238E27FC236}">
                <a16:creationId xmlns:a16="http://schemas.microsoft.com/office/drawing/2014/main" id="{1CEFEB3D-32FB-446D-BD41-56138758CB24}"/>
              </a:ext>
            </a:extLst>
          </p:cNvPr>
          <p:cNvSpPr>
            <a:spLocks noGrp="1"/>
          </p:cNvSpPr>
          <p:nvPr/>
        </p:nvSpPr>
        <p:spPr>
          <a:xfrm>
            <a:off x="457200" y="2651760"/>
            <a:ext cx="8412480" cy="1005840"/>
          </a:xfrm>
          <a:prstGeom prst="rect">
            <a:avLst/>
          </a:prstGeom>
          <a:noFill/>
        </p:spPr>
        <p:txBody>
          <a:bodyPr wrap="square" lIns="0" tIns="0" rIns="0" bIns="0" anchor="ctr"/>
          <a:lstStyle/>
          <a:p>
            <a:pPr marL="0" indent="0">
              <a:buNone/>
            </a:pPr>
            <a:r>
              <a:rPr sz="4000" b="1">
                <a:solidFill>
                  <a:srgbClr val="F4F7FB"/>
                </a:solidFill>
                <a:latin typeface="Calibri"/>
                <a:ea typeface="Calibri"/>
                <a:cs typeface="Calibri"/>
              </a:rPr>
              <a:t>Cloud spend by provider and workload</a:t>
            </a:r>
            <a:endParaRPr sz="4000"/>
          </a:p>
        </p:txBody>
      </p:sp>
      <p:sp>
        <p:nvSpPr>
          <p:cNvPr id="7" name="Text 5">
            <a:extLst>
              <a:ext uri="{FF2B5EF4-FFF2-40B4-BE49-F238E27FC236}">
                <a16:creationId xmlns:a16="http://schemas.microsoft.com/office/drawing/2014/main" id="{EBB5E52E-329B-42BB-BB59-0F9285A80BE0}"/>
              </a:ext>
            </a:extLst>
          </p:cNvPr>
          <p:cNvSpPr>
            <a:spLocks noGrp="1"/>
          </p:cNvSpPr>
          <p:nvPr/>
        </p:nvSpPr>
        <p:spPr>
          <a:xfrm>
            <a:off x="457200" y="3703320"/>
            <a:ext cx="7863840" cy="457200"/>
          </a:xfrm>
          <a:prstGeom prst="rect">
            <a:avLst/>
          </a:prstGeom>
          <a:noFill/>
        </p:spPr>
        <p:txBody>
          <a:bodyPr wrap="square" lIns="0" tIns="0" rIns="0" bIns="0" anchor="ctr"/>
          <a:lstStyle/>
          <a:p>
            <a:pPr marL="0" indent="0">
              <a:buNone/>
            </a:pPr>
            <a:r>
              <a:rPr sz="1500">
                <a:solidFill>
                  <a:srgbClr val="91A0B7"/>
                </a:solidFill>
                <a:latin typeface="Calibri"/>
                <a:ea typeface="Calibri"/>
                <a:cs typeface="Calibri"/>
              </a:rPr>
              <a:t>Seven months of consumption across Azure, AWS, GCP and Marketplace</a:t>
            </a:r>
            <a:endParaRPr sz="1500"/>
          </a:p>
        </p:txBody>
      </p:sp>
    </p:spTree>
    <p:extLst>
      <p:ext uri="{BB962C8B-B14F-4D97-AF65-F5344CB8AC3E}">
        <p14:creationId xmlns:p14="http://schemas.microsoft.com/office/powerpoint/2010/main" val="1237170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6F8528-C4FD-4ABC-98E1-EFD67CFC0E7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sp>
      <p:sp>
        <p:nvSpPr>
          <p:cNvPr id="3" name="Shape 1">
            <a:extLst>
              <a:ext uri="{FF2B5EF4-FFF2-40B4-BE49-F238E27FC236}">
                <a16:creationId xmlns:a16="http://schemas.microsoft.com/office/drawing/2014/main" id="{724FF072-65A8-4C4B-93D4-3E962E5E4A62}"/>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a:extLst>
              <a:ext uri="{FF2B5EF4-FFF2-40B4-BE49-F238E27FC236}">
                <a16:creationId xmlns:a16="http://schemas.microsoft.com/office/drawing/2014/main" id="{1387EFD2-B348-4664-B13E-0148BE1C729B}"/>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ALL PROVIDERS</a:t>
            </a:r>
            <a:endParaRPr sz="1300"/>
          </a:p>
        </p:txBody>
      </p:sp>
      <p:sp>
        <p:nvSpPr>
          <p:cNvPr id="5" name="Text 3">
            <a:extLst>
              <a:ext uri="{FF2B5EF4-FFF2-40B4-BE49-F238E27FC236}">
                <a16:creationId xmlns:a16="http://schemas.microsoft.com/office/drawing/2014/main" id="{14D43995-BA98-4A95-B453-5DDD733B6292}"/>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Spend by AI platform</a:t>
            </a:r>
            <a:endParaRPr sz="2800"/>
          </a:p>
        </p:txBody>
      </p:sp>
      <p:sp>
        <p:nvSpPr>
          <p:cNvPr id="6" name="Text 4">
            <a:extLst>
              <a:ext uri="{FF2B5EF4-FFF2-40B4-BE49-F238E27FC236}">
                <a16:creationId xmlns:a16="http://schemas.microsoft.com/office/drawing/2014/main" id="{2CCB0FC0-595C-4B7D-AF57-E626CA6DFBAF}"/>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Billed AI, all three clouds, January to July. Excludes the Databricks pre-purchase, which bills at $0.</a:t>
            </a:r>
            <a:endParaRPr sz="1200"/>
          </a:p>
        </p:txBody>
      </p:sp>
      <p:sp>
        <p:nvSpPr>
          <p:cNvPr id="7" name="Text 5">
            <a:extLst>
              <a:ext uri="{FF2B5EF4-FFF2-40B4-BE49-F238E27FC236}">
                <a16:creationId xmlns:a16="http://schemas.microsoft.com/office/drawing/2014/main" id="{2927AD61-D2FE-49CD-A075-F4C543AC9DAC}"/>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endParaRPr sz="1200" dirty="0"/>
          </a:p>
        </p:txBody>
      </p:sp>
      <p:sp>
        <p:nvSpPr>
          <p:cNvPr id="8" name="Shape 6">
            <a:extLst>
              <a:ext uri="{FF2B5EF4-FFF2-40B4-BE49-F238E27FC236}">
                <a16:creationId xmlns:a16="http://schemas.microsoft.com/office/drawing/2014/main" id="{8E507915-53E0-4257-AB99-2E59234F0ECD}"/>
              </a:ext>
            </a:extLst>
          </p:cNvPr>
          <p:cNvSpPr>
            <a:spLocks noGrp="1"/>
          </p:cNvSpPr>
          <p:nvPr/>
        </p:nvSpPr>
        <p:spPr>
          <a:xfrm>
            <a:off x="457200" y="1234440"/>
            <a:ext cx="4823713" cy="182880"/>
          </a:xfrm>
          <a:prstGeom prst="rect">
            <a:avLst/>
          </a:prstGeom>
          <a:solidFill>
            <a:srgbClr val="2F8CFF"/>
          </a:solidFill>
          <a:ln w="12700">
            <a:solidFill>
              <a:srgbClr val="2F8CFF"/>
            </a:solidFill>
            <a:prstDash val="solid"/>
          </a:ln>
        </p:spPr>
      </p:sp>
      <p:sp>
        <p:nvSpPr>
          <p:cNvPr id="9" name="Shape 7">
            <a:extLst>
              <a:ext uri="{FF2B5EF4-FFF2-40B4-BE49-F238E27FC236}">
                <a16:creationId xmlns:a16="http://schemas.microsoft.com/office/drawing/2014/main" id="{C2336D49-99BE-4871-8BB2-5A3270B86542}"/>
              </a:ext>
            </a:extLst>
          </p:cNvPr>
          <p:cNvSpPr>
            <a:spLocks noGrp="1"/>
          </p:cNvSpPr>
          <p:nvPr/>
        </p:nvSpPr>
        <p:spPr>
          <a:xfrm>
            <a:off x="5326633" y="1234440"/>
            <a:ext cx="3164430" cy="182880"/>
          </a:xfrm>
          <a:prstGeom prst="rect">
            <a:avLst/>
          </a:prstGeom>
          <a:solidFill>
            <a:srgbClr val="3DD9EB"/>
          </a:solidFill>
          <a:ln w="12700">
            <a:solidFill>
              <a:srgbClr val="3DD9EB"/>
            </a:solidFill>
            <a:prstDash val="solid"/>
          </a:ln>
        </p:spPr>
      </p:sp>
      <p:sp>
        <p:nvSpPr>
          <p:cNvPr id="10" name="Shape 8">
            <a:extLst>
              <a:ext uri="{FF2B5EF4-FFF2-40B4-BE49-F238E27FC236}">
                <a16:creationId xmlns:a16="http://schemas.microsoft.com/office/drawing/2014/main" id="{8D2EED0A-4C76-4996-9FC7-61716109E0D9}"/>
              </a:ext>
            </a:extLst>
          </p:cNvPr>
          <p:cNvSpPr>
            <a:spLocks noGrp="1"/>
          </p:cNvSpPr>
          <p:nvPr/>
        </p:nvSpPr>
        <p:spPr>
          <a:xfrm>
            <a:off x="8536783" y="1234440"/>
            <a:ext cx="2327567" cy="182880"/>
          </a:xfrm>
          <a:prstGeom prst="rect">
            <a:avLst/>
          </a:prstGeom>
          <a:solidFill>
            <a:srgbClr val="FF9F43"/>
          </a:solidFill>
          <a:ln w="12700">
            <a:solidFill>
              <a:srgbClr val="FF9F43"/>
            </a:solidFill>
            <a:prstDash val="solid"/>
          </a:ln>
        </p:spPr>
      </p:sp>
      <p:sp>
        <p:nvSpPr>
          <p:cNvPr id="11" name="Shape 9">
            <a:extLst>
              <a:ext uri="{FF2B5EF4-FFF2-40B4-BE49-F238E27FC236}">
                <a16:creationId xmlns:a16="http://schemas.microsoft.com/office/drawing/2014/main" id="{7B7DB60F-9A2D-46D6-9399-AF90E4D8E7D7}"/>
              </a:ext>
            </a:extLst>
          </p:cNvPr>
          <p:cNvSpPr>
            <a:spLocks noGrp="1"/>
          </p:cNvSpPr>
          <p:nvPr/>
        </p:nvSpPr>
        <p:spPr>
          <a:xfrm>
            <a:off x="10910070" y="1234440"/>
            <a:ext cx="522673" cy="182880"/>
          </a:xfrm>
          <a:prstGeom prst="rect">
            <a:avLst/>
          </a:prstGeom>
          <a:solidFill>
            <a:srgbClr val="B07CFF"/>
          </a:solidFill>
          <a:ln w="12700">
            <a:solidFill>
              <a:srgbClr val="B07CFF"/>
            </a:solidFill>
            <a:prstDash val="solid"/>
          </a:ln>
        </p:spPr>
      </p:sp>
      <p:sp>
        <p:nvSpPr>
          <p:cNvPr id="12" name="Shape 10">
            <a:extLst>
              <a:ext uri="{FF2B5EF4-FFF2-40B4-BE49-F238E27FC236}">
                <a16:creationId xmlns:a16="http://schemas.microsoft.com/office/drawing/2014/main" id="{0BB80254-F431-417C-982C-C36BD557A06B}"/>
              </a:ext>
            </a:extLst>
          </p:cNvPr>
          <p:cNvSpPr>
            <a:spLocks noGrp="1"/>
          </p:cNvSpPr>
          <p:nvPr/>
        </p:nvSpPr>
        <p:spPr>
          <a:xfrm>
            <a:off x="11478463" y="1234440"/>
            <a:ext cx="256032" cy="182880"/>
          </a:xfrm>
          <a:prstGeom prst="rect">
            <a:avLst/>
          </a:prstGeom>
          <a:solidFill>
            <a:srgbClr val="3DDC97"/>
          </a:solidFill>
          <a:ln w="12700">
            <a:solidFill>
              <a:srgbClr val="3DDC97"/>
            </a:solidFill>
            <a:prstDash val="solid"/>
          </a:ln>
        </p:spPr>
      </p:sp>
      <p:sp>
        <p:nvSpPr>
          <p:cNvPr id="13" name="Shape 11">
            <a:extLst>
              <a:ext uri="{FF2B5EF4-FFF2-40B4-BE49-F238E27FC236}">
                <a16:creationId xmlns:a16="http://schemas.microsoft.com/office/drawing/2014/main" id="{5FD6F996-6F52-45A1-BF76-17D5CF68812E}"/>
              </a:ext>
            </a:extLst>
          </p:cNvPr>
          <p:cNvSpPr>
            <a:spLocks noGrp="1"/>
          </p:cNvSpPr>
          <p:nvPr/>
        </p:nvSpPr>
        <p:spPr>
          <a:xfrm>
            <a:off x="457200" y="1618488"/>
            <a:ext cx="2094525" cy="3977640"/>
          </a:xfrm>
          <a:prstGeom prst="roundRect">
            <a:avLst>
              <a:gd name="adj" fmla="val 2619"/>
            </a:avLst>
          </a:prstGeom>
          <a:solidFill>
            <a:srgbClr val="121B2D"/>
          </a:solidFill>
          <a:ln w="12700">
            <a:solidFill>
              <a:srgbClr val="23304A"/>
            </a:solidFill>
            <a:prstDash val="solid"/>
          </a:ln>
        </p:spPr>
      </p:sp>
      <p:sp>
        <p:nvSpPr>
          <p:cNvPr id="14" name="Shape 12">
            <a:extLst>
              <a:ext uri="{FF2B5EF4-FFF2-40B4-BE49-F238E27FC236}">
                <a16:creationId xmlns:a16="http://schemas.microsoft.com/office/drawing/2014/main" id="{C1CC5815-2FAA-4338-8698-EF4C8A0A61AB}"/>
              </a:ext>
            </a:extLst>
          </p:cNvPr>
          <p:cNvSpPr>
            <a:spLocks noGrp="1"/>
          </p:cNvSpPr>
          <p:nvPr/>
        </p:nvSpPr>
        <p:spPr>
          <a:xfrm>
            <a:off x="457200" y="1618488"/>
            <a:ext cx="2094525" cy="45720"/>
          </a:xfrm>
          <a:prstGeom prst="rect">
            <a:avLst/>
          </a:prstGeom>
          <a:solidFill>
            <a:srgbClr val="2F8CFF"/>
          </a:solidFill>
          <a:ln w="12700">
            <a:solidFill>
              <a:srgbClr val="2F8CFF"/>
            </a:solidFill>
            <a:prstDash val="solid"/>
          </a:ln>
        </p:spPr>
      </p:sp>
      <p:sp>
        <p:nvSpPr>
          <p:cNvPr id="15" name="Text 13">
            <a:extLst>
              <a:ext uri="{FF2B5EF4-FFF2-40B4-BE49-F238E27FC236}">
                <a16:creationId xmlns:a16="http://schemas.microsoft.com/office/drawing/2014/main" id="{0F2501DF-AC08-489D-90FA-037FD41499F5}"/>
              </a:ext>
            </a:extLst>
          </p:cNvPr>
          <p:cNvSpPr>
            <a:spLocks noGrp="1"/>
          </p:cNvSpPr>
          <p:nvPr/>
        </p:nvSpPr>
        <p:spPr>
          <a:xfrm>
            <a:off x="640080"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AZURE AI FOUNDRY</a:t>
            </a:r>
            <a:endParaRPr sz="1200"/>
          </a:p>
        </p:txBody>
      </p:sp>
      <p:sp>
        <p:nvSpPr>
          <p:cNvPr id="16" name="Text 14">
            <a:extLst>
              <a:ext uri="{FF2B5EF4-FFF2-40B4-BE49-F238E27FC236}">
                <a16:creationId xmlns:a16="http://schemas.microsoft.com/office/drawing/2014/main" id="{45498FEB-5600-4E35-AB21-3B70526BD1FD}"/>
              </a:ext>
            </a:extLst>
          </p:cNvPr>
          <p:cNvSpPr>
            <a:spLocks noGrp="1"/>
          </p:cNvSpPr>
          <p:nvPr/>
        </p:nvSpPr>
        <p:spPr>
          <a:xfrm>
            <a:off x="640080"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$87,158</a:t>
            </a:r>
            <a:endParaRPr sz="2800"/>
          </a:p>
        </p:txBody>
      </p:sp>
      <p:sp>
        <p:nvSpPr>
          <p:cNvPr id="17" name="Text 15">
            <a:extLst>
              <a:ext uri="{FF2B5EF4-FFF2-40B4-BE49-F238E27FC236}">
                <a16:creationId xmlns:a16="http://schemas.microsoft.com/office/drawing/2014/main" id="{4964ADFA-5090-4E55-AD60-F70D4907ED70}"/>
              </a:ext>
            </a:extLst>
          </p:cNvPr>
          <p:cNvSpPr>
            <a:spLocks noGrp="1"/>
          </p:cNvSpPr>
          <p:nvPr/>
        </p:nvSpPr>
        <p:spPr>
          <a:xfrm>
            <a:off x="640080" y="2734056"/>
            <a:ext cx="1728765" cy="237744"/>
          </a:xfrm>
          <a:prstGeom prst="rect">
            <a:avLst/>
          </a:prstGeom>
          <a:noFill/>
        </p:spPr>
        <p:txBody>
          <a:bodyPr wrap="square" lIns="0" tIns="0" rIns="0" bIns="0" anchor="ctr"/>
          <a:lstStyle/>
          <a:p>
            <a:pPr marL="0" indent="0">
              <a:buNone/>
            </a:pPr>
            <a:r>
              <a:rPr sz="1200" b="1">
                <a:solidFill>
                  <a:srgbClr val="2F8CFF"/>
                </a:solidFill>
                <a:latin typeface="Calibri"/>
                <a:ea typeface="Calibri"/>
                <a:cs typeface="Calibri"/>
              </a:rPr>
              <a:t>43.7% of billed AI</a:t>
            </a:r>
            <a:endParaRPr sz="1200"/>
          </a:p>
        </p:txBody>
      </p:sp>
      <p:sp>
        <p:nvSpPr>
          <p:cNvPr id="18" name="Shape 16">
            <a:extLst>
              <a:ext uri="{FF2B5EF4-FFF2-40B4-BE49-F238E27FC236}">
                <a16:creationId xmlns:a16="http://schemas.microsoft.com/office/drawing/2014/main" id="{58E7F65A-9DCA-4DDD-9E43-ABDF8F1D8C1B}"/>
              </a:ext>
            </a:extLst>
          </p:cNvPr>
          <p:cNvSpPr>
            <a:spLocks noGrp="1"/>
          </p:cNvSpPr>
          <p:nvPr/>
        </p:nvSpPr>
        <p:spPr>
          <a:xfrm>
            <a:off x="640080" y="3081528"/>
            <a:ext cx="1728765" cy="9144"/>
          </a:xfrm>
          <a:prstGeom prst="rect">
            <a:avLst/>
          </a:prstGeom>
          <a:solidFill>
            <a:srgbClr val="23304A"/>
          </a:solidFill>
          <a:ln w="12700">
            <a:solidFill>
              <a:srgbClr val="23304A"/>
            </a:solidFill>
            <a:prstDash val="solid"/>
          </a:ln>
        </p:spPr>
      </p:sp>
      <p:sp>
        <p:nvSpPr>
          <p:cNvPr id="19" name="Text 17">
            <a:extLst>
              <a:ext uri="{FF2B5EF4-FFF2-40B4-BE49-F238E27FC236}">
                <a16:creationId xmlns:a16="http://schemas.microsoft.com/office/drawing/2014/main" id="{F721CE06-E33B-4936-AA0B-603A023117BC}"/>
              </a:ext>
            </a:extLst>
          </p:cNvPr>
          <p:cNvSpPr>
            <a:spLocks noGrp="1"/>
          </p:cNvSpPr>
          <p:nvPr/>
        </p:nvSpPr>
        <p:spPr>
          <a:xfrm>
            <a:off x="640080"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JAN</a:t>
            </a:r>
            <a:endParaRPr sz="1200"/>
          </a:p>
        </p:txBody>
      </p:sp>
      <p:sp>
        <p:nvSpPr>
          <p:cNvPr id="20" name="Text 18">
            <a:extLst>
              <a:ext uri="{FF2B5EF4-FFF2-40B4-BE49-F238E27FC236}">
                <a16:creationId xmlns:a16="http://schemas.microsoft.com/office/drawing/2014/main" id="{252A63DC-089E-4C90-B94C-802203EE4B51}"/>
              </a:ext>
            </a:extLst>
          </p:cNvPr>
          <p:cNvSpPr>
            <a:spLocks noGrp="1"/>
          </p:cNvSpPr>
          <p:nvPr/>
        </p:nvSpPr>
        <p:spPr>
          <a:xfrm>
            <a:off x="1504462"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$5,764</a:t>
            </a:r>
            <a:endParaRPr sz="1300"/>
          </a:p>
        </p:txBody>
      </p:sp>
      <p:sp>
        <p:nvSpPr>
          <p:cNvPr id="21" name="Text 19">
            <a:extLst>
              <a:ext uri="{FF2B5EF4-FFF2-40B4-BE49-F238E27FC236}">
                <a16:creationId xmlns:a16="http://schemas.microsoft.com/office/drawing/2014/main" id="{9AAF4D46-DE2C-417D-8386-ED18918C9DE4}"/>
              </a:ext>
            </a:extLst>
          </p:cNvPr>
          <p:cNvSpPr>
            <a:spLocks noGrp="1"/>
          </p:cNvSpPr>
          <p:nvPr/>
        </p:nvSpPr>
        <p:spPr>
          <a:xfrm>
            <a:off x="640080"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22" name="Text 20">
            <a:extLst>
              <a:ext uri="{FF2B5EF4-FFF2-40B4-BE49-F238E27FC236}">
                <a16:creationId xmlns:a16="http://schemas.microsoft.com/office/drawing/2014/main" id="{C17734F7-038D-496A-B356-7B3D29D988D6}"/>
              </a:ext>
            </a:extLst>
          </p:cNvPr>
          <p:cNvSpPr>
            <a:spLocks noGrp="1"/>
          </p:cNvSpPr>
          <p:nvPr/>
        </p:nvSpPr>
        <p:spPr>
          <a:xfrm>
            <a:off x="1504462"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$19,613</a:t>
            </a:r>
            <a:endParaRPr sz="1300"/>
          </a:p>
        </p:txBody>
      </p:sp>
      <p:sp>
        <p:nvSpPr>
          <p:cNvPr id="23" name="Shape 21">
            <a:extLst>
              <a:ext uri="{FF2B5EF4-FFF2-40B4-BE49-F238E27FC236}">
                <a16:creationId xmlns:a16="http://schemas.microsoft.com/office/drawing/2014/main" id="{A0C140F3-11B9-4EC5-BD3D-8A110DDE51C5}"/>
              </a:ext>
            </a:extLst>
          </p:cNvPr>
          <p:cNvSpPr>
            <a:spLocks noGrp="1"/>
          </p:cNvSpPr>
          <p:nvPr/>
        </p:nvSpPr>
        <p:spPr>
          <a:xfrm>
            <a:off x="640080" y="4069080"/>
            <a:ext cx="1728765" cy="329184"/>
          </a:xfrm>
          <a:prstGeom prst="roundRect">
            <a:avLst>
              <a:gd name="adj" fmla="val 27778"/>
            </a:avLst>
          </a:prstGeom>
          <a:solidFill>
            <a:srgbClr val="1D2D42"/>
          </a:solidFill>
          <a:ln w="12700">
            <a:solidFill>
              <a:srgbClr val="2F8CFF"/>
            </a:solidFill>
            <a:prstDash val="solid"/>
          </a:ln>
        </p:spPr>
      </p:sp>
      <p:sp>
        <p:nvSpPr>
          <p:cNvPr id="24" name="Text 22">
            <a:extLst>
              <a:ext uri="{FF2B5EF4-FFF2-40B4-BE49-F238E27FC236}">
                <a16:creationId xmlns:a16="http://schemas.microsoft.com/office/drawing/2014/main" id="{10FAF709-0ABF-40DB-9B09-0AF92B2661A8}"/>
              </a:ext>
            </a:extLst>
          </p:cNvPr>
          <p:cNvSpPr>
            <a:spLocks noGrp="1"/>
          </p:cNvSpPr>
          <p:nvPr/>
        </p:nvSpPr>
        <p:spPr>
          <a:xfrm>
            <a:off x="640080" y="4069080"/>
            <a:ext cx="1728765" cy="329184"/>
          </a:xfrm>
          <a:prstGeom prst="rect">
            <a:avLst/>
          </a:prstGeom>
          <a:noFill/>
        </p:spPr>
        <p:txBody>
          <a:bodyPr wrap="square" lIns="0" tIns="0" rIns="0" bIns="0" anchor="ctr"/>
          <a:lstStyle/>
          <a:p>
            <a:pPr marL="0" indent="0" algn="ctr">
              <a:buNone/>
            </a:pPr>
            <a:r>
              <a:rPr sz="1200" b="1">
                <a:solidFill>
                  <a:srgbClr val="2F8CFF"/>
                </a:solidFill>
                <a:latin typeface="Calibri"/>
                <a:ea typeface="Calibri"/>
                <a:cs typeface="Calibri"/>
              </a:rPr>
              <a:t>+240% Jan to Jul</a:t>
            </a:r>
            <a:endParaRPr sz="1200"/>
          </a:p>
        </p:txBody>
      </p:sp>
      <p:sp>
        <p:nvSpPr>
          <p:cNvPr id="25" name="Text 23">
            <a:extLst>
              <a:ext uri="{FF2B5EF4-FFF2-40B4-BE49-F238E27FC236}">
                <a16:creationId xmlns:a16="http://schemas.microsoft.com/office/drawing/2014/main" id="{D471A4C1-5A87-4C13-A05F-B7A8D1D6EC82}"/>
              </a:ext>
            </a:extLst>
          </p:cNvPr>
          <p:cNvSpPr>
            <a:spLocks noGrp="1"/>
          </p:cNvSpPr>
          <p:nvPr/>
        </p:nvSpPr>
        <p:spPr>
          <a:xfrm>
            <a:off x="640080"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Foundry models, Document Intelligence, AI Search and Defender for AI.</a:t>
            </a:r>
            <a:endParaRPr sz="1200"/>
          </a:p>
        </p:txBody>
      </p:sp>
      <p:sp>
        <p:nvSpPr>
          <p:cNvPr id="26" name="Shape 24">
            <a:extLst>
              <a:ext uri="{FF2B5EF4-FFF2-40B4-BE49-F238E27FC236}">
                <a16:creationId xmlns:a16="http://schemas.microsoft.com/office/drawing/2014/main" id="{41F27117-F997-460F-BED0-8A055765792E}"/>
              </a:ext>
            </a:extLst>
          </p:cNvPr>
          <p:cNvSpPr>
            <a:spLocks noGrp="1"/>
          </p:cNvSpPr>
          <p:nvPr/>
        </p:nvSpPr>
        <p:spPr>
          <a:xfrm>
            <a:off x="2752893" y="1618488"/>
            <a:ext cx="2094525" cy="3977640"/>
          </a:xfrm>
          <a:prstGeom prst="roundRect">
            <a:avLst>
              <a:gd name="adj" fmla="val 2619"/>
            </a:avLst>
          </a:prstGeom>
          <a:solidFill>
            <a:srgbClr val="121B2D"/>
          </a:solidFill>
          <a:ln w="12700">
            <a:solidFill>
              <a:srgbClr val="23304A"/>
            </a:solidFill>
            <a:prstDash val="solid"/>
          </a:ln>
        </p:spPr>
      </p:sp>
      <p:sp>
        <p:nvSpPr>
          <p:cNvPr id="27" name="Shape 25">
            <a:extLst>
              <a:ext uri="{FF2B5EF4-FFF2-40B4-BE49-F238E27FC236}">
                <a16:creationId xmlns:a16="http://schemas.microsoft.com/office/drawing/2014/main" id="{36166351-40FF-4427-A999-66C3CEAE2603}"/>
              </a:ext>
            </a:extLst>
          </p:cNvPr>
          <p:cNvSpPr>
            <a:spLocks noGrp="1"/>
          </p:cNvSpPr>
          <p:nvPr/>
        </p:nvSpPr>
        <p:spPr>
          <a:xfrm>
            <a:off x="2752893" y="1618488"/>
            <a:ext cx="2094525" cy="45720"/>
          </a:xfrm>
          <a:prstGeom prst="rect">
            <a:avLst/>
          </a:prstGeom>
          <a:solidFill>
            <a:srgbClr val="3DD9EB"/>
          </a:solidFill>
          <a:ln w="12700">
            <a:solidFill>
              <a:srgbClr val="3DD9EB"/>
            </a:solidFill>
            <a:prstDash val="solid"/>
          </a:ln>
        </p:spPr>
      </p:sp>
      <p:sp>
        <p:nvSpPr>
          <p:cNvPr id="28" name="Text 26">
            <a:extLst>
              <a:ext uri="{FF2B5EF4-FFF2-40B4-BE49-F238E27FC236}">
                <a16:creationId xmlns:a16="http://schemas.microsoft.com/office/drawing/2014/main" id="{133F0F01-46B0-4E50-B40C-77BC375B1B74}"/>
              </a:ext>
            </a:extLst>
          </p:cNvPr>
          <p:cNvSpPr>
            <a:spLocks noGrp="1"/>
          </p:cNvSpPr>
          <p:nvPr/>
        </p:nvSpPr>
        <p:spPr>
          <a:xfrm>
            <a:off x="2935773"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GITHUB COPILOT</a:t>
            </a:r>
            <a:endParaRPr sz="1200"/>
          </a:p>
        </p:txBody>
      </p:sp>
      <p:sp>
        <p:nvSpPr>
          <p:cNvPr id="29" name="Text 27">
            <a:extLst>
              <a:ext uri="{FF2B5EF4-FFF2-40B4-BE49-F238E27FC236}">
                <a16:creationId xmlns:a16="http://schemas.microsoft.com/office/drawing/2014/main" id="{DA97A973-A5D9-4AEF-A6FF-168844C900FE}"/>
              </a:ext>
            </a:extLst>
          </p:cNvPr>
          <p:cNvSpPr>
            <a:spLocks noGrp="1"/>
          </p:cNvSpPr>
          <p:nvPr/>
        </p:nvSpPr>
        <p:spPr>
          <a:xfrm>
            <a:off x="2935773"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$57,177</a:t>
            </a:r>
            <a:endParaRPr sz="2800"/>
          </a:p>
        </p:txBody>
      </p:sp>
      <p:sp>
        <p:nvSpPr>
          <p:cNvPr id="30" name="Text 28">
            <a:extLst>
              <a:ext uri="{FF2B5EF4-FFF2-40B4-BE49-F238E27FC236}">
                <a16:creationId xmlns:a16="http://schemas.microsoft.com/office/drawing/2014/main" id="{921E6411-1576-4117-8C1B-E47D99DEEF08}"/>
              </a:ext>
            </a:extLst>
          </p:cNvPr>
          <p:cNvSpPr>
            <a:spLocks noGrp="1"/>
          </p:cNvSpPr>
          <p:nvPr/>
        </p:nvSpPr>
        <p:spPr>
          <a:xfrm>
            <a:off x="2935773" y="2734056"/>
            <a:ext cx="1728765" cy="237744"/>
          </a:xfrm>
          <a:prstGeom prst="rect">
            <a:avLst/>
          </a:prstGeom>
          <a:noFill/>
        </p:spPr>
        <p:txBody>
          <a:bodyPr wrap="square" lIns="0" tIns="0" rIns="0" bIns="0" anchor="ctr"/>
          <a:lstStyle/>
          <a:p>
            <a:pPr marL="0" indent="0">
              <a:buNone/>
            </a:pPr>
            <a:r>
              <a:rPr sz="1200" b="1">
                <a:solidFill>
                  <a:srgbClr val="3DD9EB"/>
                </a:solidFill>
                <a:latin typeface="Calibri"/>
                <a:ea typeface="Calibri"/>
                <a:cs typeface="Calibri"/>
              </a:rPr>
              <a:t>28.7% of billed AI</a:t>
            </a:r>
            <a:endParaRPr sz="1200"/>
          </a:p>
        </p:txBody>
      </p:sp>
      <p:sp>
        <p:nvSpPr>
          <p:cNvPr id="31" name="Shape 29">
            <a:extLst>
              <a:ext uri="{FF2B5EF4-FFF2-40B4-BE49-F238E27FC236}">
                <a16:creationId xmlns:a16="http://schemas.microsoft.com/office/drawing/2014/main" id="{68B39D5C-5289-4D0D-967E-D28F5274E966}"/>
              </a:ext>
            </a:extLst>
          </p:cNvPr>
          <p:cNvSpPr>
            <a:spLocks noGrp="1"/>
          </p:cNvSpPr>
          <p:nvPr/>
        </p:nvSpPr>
        <p:spPr>
          <a:xfrm>
            <a:off x="2935773" y="3081528"/>
            <a:ext cx="1728765" cy="9144"/>
          </a:xfrm>
          <a:prstGeom prst="rect">
            <a:avLst/>
          </a:prstGeom>
          <a:solidFill>
            <a:srgbClr val="23304A"/>
          </a:solidFill>
          <a:ln w="12700">
            <a:solidFill>
              <a:srgbClr val="23304A"/>
            </a:solidFill>
            <a:prstDash val="solid"/>
          </a:ln>
        </p:spPr>
      </p:sp>
      <p:sp>
        <p:nvSpPr>
          <p:cNvPr id="32" name="Text 30">
            <a:extLst>
              <a:ext uri="{FF2B5EF4-FFF2-40B4-BE49-F238E27FC236}">
                <a16:creationId xmlns:a16="http://schemas.microsoft.com/office/drawing/2014/main" id="{EA6F6EF1-9970-428C-8C04-016957ED80B3}"/>
              </a:ext>
            </a:extLst>
          </p:cNvPr>
          <p:cNvSpPr>
            <a:spLocks noGrp="1"/>
          </p:cNvSpPr>
          <p:nvPr/>
        </p:nvSpPr>
        <p:spPr>
          <a:xfrm>
            <a:off x="2935773"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JAN</a:t>
            </a:r>
            <a:endParaRPr sz="1200"/>
          </a:p>
        </p:txBody>
      </p:sp>
      <p:sp>
        <p:nvSpPr>
          <p:cNvPr id="33" name="Text 31">
            <a:extLst>
              <a:ext uri="{FF2B5EF4-FFF2-40B4-BE49-F238E27FC236}">
                <a16:creationId xmlns:a16="http://schemas.microsoft.com/office/drawing/2014/main" id="{95007B1C-57BB-4699-BEBC-09FB601708BF}"/>
              </a:ext>
            </a:extLst>
          </p:cNvPr>
          <p:cNvSpPr>
            <a:spLocks noGrp="1"/>
          </p:cNvSpPr>
          <p:nvPr/>
        </p:nvSpPr>
        <p:spPr>
          <a:xfrm>
            <a:off x="3800155"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$2,779</a:t>
            </a:r>
            <a:endParaRPr sz="1300"/>
          </a:p>
        </p:txBody>
      </p:sp>
      <p:sp>
        <p:nvSpPr>
          <p:cNvPr id="34" name="Text 32">
            <a:extLst>
              <a:ext uri="{FF2B5EF4-FFF2-40B4-BE49-F238E27FC236}">
                <a16:creationId xmlns:a16="http://schemas.microsoft.com/office/drawing/2014/main" id="{017D6062-1CA6-4176-87C4-F0C4A479E5CF}"/>
              </a:ext>
            </a:extLst>
          </p:cNvPr>
          <p:cNvSpPr>
            <a:spLocks noGrp="1"/>
          </p:cNvSpPr>
          <p:nvPr/>
        </p:nvSpPr>
        <p:spPr>
          <a:xfrm>
            <a:off x="2935773"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35" name="Text 33">
            <a:extLst>
              <a:ext uri="{FF2B5EF4-FFF2-40B4-BE49-F238E27FC236}">
                <a16:creationId xmlns:a16="http://schemas.microsoft.com/office/drawing/2014/main" id="{E6877D6C-7381-4CD7-886B-FA871817150F}"/>
              </a:ext>
            </a:extLst>
          </p:cNvPr>
          <p:cNvSpPr>
            <a:spLocks noGrp="1"/>
          </p:cNvSpPr>
          <p:nvPr/>
        </p:nvSpPr>
        <p:spPr>
          <a:xfrm>
            <a:off x="3800155"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$19,260</a:t>
            </a:r>
            <a:endParaRPr sz="1300"/>
          </a:p>
        </p:txBody>
      </p:sp>
      <p:sp>
        <p:nvSpPr>
          <p:cNvPr id="36" name="Shape 34">
            <a:extLst>
              <a:ext uri="{FF2B5EF4-FFF2-40B4-BE49-F238E27FC236}">
                <a16:creationId xmlns:a16="http://schemas.microsoft.com/office/drawing/2014/main" id="{780B8A71-D1F6-4767-96A9-E0C76BC99625}"/>
              </a:ext>
            </a:extLst>
          </p:cNvPr>
          <p:cNvSpPr>
            <a:spLocks noGrp="1"/>
          </p:cNvSpPr>
          <p:nvPr/>
        </p:nvSpPr>
        <p:spPr>
          <a:xfrm>
            <a:off x="2935773" y="4069080"/>
            <a:ext cx="1728765" cy="329184"/>
          </a:xfrm>
          <a:prstGeom prst="roundRect">
            <a:avLst>
              <a:gd name="adj" fmla="val 27778"/>
            </a:avLst>
          </a:prstGeom>
          <a:solidFill>
            <a:srgbClr val="1D2D42"/>
          </a:solidFill>
          <a:ln w="12700">
            <a:solidFill>
              <a:srgbClr val="3DD9EB"/>
            </a:solidFill>
            <a:prstDash val="solid"/>
          </a:ln>
        </p:spPr>
      </p:sp>
      <p:sp>
        <p:nvSpPr>
          <p:cNvPr id="37" name="Text 35">
            <a:extLst>
              <a:ext uri="{FF2B5EF4-FFF2-40B4-BE49-F238E27FC236}">
                <a16:creationId xmlns:a16="http://schemas.microsoft.com/office/drawing/2014/main" id="{99A22888-A96C-458E-B512-48BACD7A9FE3}"/>
              </a:ext>
            </a:extLst>
          </p:cNvPr>
          <p:cNvSpPr>
            <a:spLocks noGrp="1"/>
          </p:cNvSpPr>
          <p:nvPr/>
        </p:nvSpPr>
        <p:spPr>
          <a:xfrm>
            <a:off x="2935773" y="4069080"/>
            <a:ext cx="1728765" cy="329184"/>
          </a:xfrm>
          <a:prstGeom prst="rect">
            <a:avLst/>
          </a:prstGeom>
          <a:noFill/>
        </p:spPr>
        <p:txBody>
          <a:bodyPr wrap="square" lIns="0" tIns="0" rIns="0" bIns="0" anchor="ctr"/>
          <a:lstStyle/>
          <a:p>
            <a:pPr marL="0" indent="0" algn="ctr">
              <a:buNone/>
            </a:pPr>
            <a:r>
              <a:rPr sz="1200" b="1">
                <a:solidFill>
                  <a:srgbClr val="3DD9EB"/>
                </a:solidFill>
                <a:latin typeface="Calibri"/>
                <a:ea typeface="Calibri"/>
                <a:cs typeface="Calibri"/>
              </a:rPr>
              <a:t>+593% Jan to Jul</a:t>
            </a:r>
            <a:endParaRPr sz="1200"/>
          </a:p>
        </p:txBody>
      </p:sp>
      <p:sp>
        <p:nvSpPr>
          <p:cNvPr id="38" name="Text 36">
            <a:extLst>
              <a:ext uri="{FF2B5EF4-FFF2-40B4-BE49-F238E27FC236}">
                <a16:creationId xmlns:a16="http://schemas.microsoft.com/office/drawing/2014/main" id="{D8838DEB-9355-4BF4-B668-BC3CA2A62339}"/>
              </a:ext>
            </a:extLst>
          </p:cNvPr>
          <p:cNvSpPr>
            <a:spLocks noGrp="1"/>
          </p:cNvSpPr>
          <p:nvPr/>
        </p:nvSpPr>
        <p:spPr>
          <a:xfrm>
            <a:off x="2935773"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Developer seats plus AI credit overage. Billed in full.</a:t>
            </a:r>
            <a:endParaRPr sz="1200"/>
          </a:p>
        </p:txBody>
      </p:sp>
      <p:sp>
        <p:nvSpPr>
          <p:cNvPr id="39" name="Shape 37">
            <a:extLst>
              <a:ext uri="{FF2B5EF4-FFF2-40B4-BE49-F238E27FC236}">
                <a16:creationId xmlns:a16="http://schemas.microsoft.com/office/drawing/2014/main" id="{E5C6F2F0-5D22-4436-B4F4-F0E5BD490937}"/>
              </a:ext>
            </a:extLst>
          </p:cNvPr>
          <p:cNvSpPr>
            <a:spLocks noGrp="1"/>
          </p:cNvSpPr>
          <p:nvPr/>
        </p:nvSpPr>
        <p:spPr>
          <a:xfrm>
            <a:off x="5048585" y="1618488"/>
            <a:ext cx="2094525" cy="3977640"/>
          </a:xfrm>
          <a:prstGeom prst="roundRect">
            <a:avLst>
              <a:gd name="adj" fmla="val 2619"/>
            </a:avLst>
          </a:prstGeom>
          <a:solidFill>
            <a:srgbClr val="121B2D"/>
          </a:solidFill>
          <a:ln w="12700">
            <a:solidFill>
              <a:srgbClr val="23304A"/>
            </a:solidFill>
            <a:prstDash val="solid"/>
          </a:ln>
        </p:spPr>
      </p:sp>
      <p:sp>
        <p:nvSpPr>
          <p:cNvPr id="40" name="Shape 38">
            <a:extLst>
              <a:ext uri="{FF2B5EF4-FFF2-40B4-BE49-F238E27FC236}">
                <a16:creationId xmlns:a16="http://schemas.microsoft.com/office/drawing/2014/main" id="{063DD483-FED7-4533-BE97-B64C0198EB61}"/>
              </a:ext>
            </a:extLst>
          </p:cNvPr>
          <p:cNvSpPr>
            <a:spLocks noGrp="1"/>
          </p:cNvSpPr>
          <p:nvPr/>
        </p:nvSpPr>
        <p:spPr>
          <a:xfrm>
            <a:off x="5048585" y="1618488"/>
            <a:ext cx="2094525" cy="45720"/>
          </a:xfrm>
          <a:prstGeom prst="rect">
            <a:avLst/>
          </a:prstGeom>
          <a:solidFill>
            <a:srgbClr val="FF9F43"/>
          </a:solidFill>
          <a:ln w="12700">
            <a:solidFill>
              <a:srgbClr val="FF9F43"/>
            </a:solidFill>
            <a:prstDash val="solid"/>
          </a:ln>
        </p:spPr>
      </p:sp>
      <p:sp>
        <p:nvSpPr>
          <p:cNvPr id="41" name="Text 39">
            <a:extLst>
              <a:ext uri="{FF2B5EF4-FFF2-40B4-BE49-F238E27FC236}">
                <a16:creationId xmlns:a16="http://schemas.microsoft.com/office/drawing/2014/main" id="{AEA35D83-94EF-49E0-B366-985929FF666B}"/>
              </a:ext>
            </a:extLst>
          </p:cNvPr>
          <p:cNvSpPr>
            <a:spLocks noGrp="1"/>
          </p:cNvSpPr>
          <p:nvPr/>
        </p:nvSpPr>
        <p:spPr>
          <a:xfrm>
            <a:off x="5231465"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AWS BEDROCK</a:t>
            </a:r>
            <a:endParaRPr sz="1200"/>
          </a:p>
        </p:txBody>
      </p:sp>
      <p:sp>
        <p:nvSpPr>
          <p:cNvPr id="42" name="Text 40">
            <a:extLst>
              <a:ext uri="{FF2B5EF4-FFF2-40B4-BE49-F238E27FC236}">
                <a16:creationId xmlns:a16="http://schemas.microsoft.com/office/drawing/2014/main" id="{F128C4FC-354D-4E96-8499-A028230F74FD}"/>
              </a:ext>
            </a:extLst>
          </p:cNvPr>
          <p:cNvSpPr>
            <a:spLocks noGrp="1"/>
          </p:cNvSpPr>
          <p:nvPr/>
        </p:nvSpPr>
        <p:spPr>
          <a:xfrm>
            <a:off x="5231465"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$42,056</a:t>
            </a:r>
            <a:endParaRPr sz="2800"/>
          </a:p>
        </p:txBody>
      </p:sp>
      <p:sp>
        <p:nvSpPr>
          <p:cNvPr id="43" name="Text 41">
            <a:extLst>
              <a:ext uri="{FF2B5EF4-FFF2-40B4-BE49-F238E27FC236}">
                <a16:creationId xmlns:a16="http://schemas.microsoft.com/office/drawing/2014/main" id="{C2D3443A-23B4-4FD1-9BFD-E88EDC51225A}"/>
              </a:ext>
            </a:extLst>
          </p:cNvPr>
          <p:cNvSpPr>
            <a:spLocks noGrp="1"/>
          </p:cNvSpPr>
          <p:nvPr/>
        </p:nvSpPr>
        <p:spPr>
          <a:xfrm>
            <a:off x="5231465" y="2734056"/>
            <a:ext cx="1728765" cy="237744"/>
          </a:xfrm>
          <a:prstGeom prst="rect">
            <a:avLst/>
          </a:prstGeom>
          <a:noFill/>
        </p:spPr>
        <p:txBody>
          <a:bodyPr wrap="square" lIns="0" tIns="0" rIns="0" bIns="0" anchor="ctr"/>
          <a:lstStyle/>
          <a:p>
            <a:pPr marL="0" indent="0">
              <a:buNone/>
            </a:pPr>
            <a:r>
              <a:rPr sz="1200" b="1">
                <a:solidFill>
                  <a:srgbClr val="FF9F43"/>
                </a:solidFill>
                <a:latin typeface="Calibri"/>
                <a:ea typeface="Calibri"/>
                <a:cs typeface="Calibri"/>
              </a:rPr>
              <a:t>21.1% of billed AI</a:t>
            </a:r>
            <a:endParaRPr sz="1200"/>
          </a:p>
        </p:txBody>
      </p:sp>
      <p:sp>
        <p:nvSpPr>
          <p:cNvPr id="44" name="Shape 42">
            <a:extLst>
              <a:ext uri="{FF2B5EF4-FFF2-40B4-BE49-F238E27FC236}">
                <a16:creationId xmlns:a16="http://schemas.microsoft.com/office/drawing/2014/main" id="{C8F613E2-6157-4A3A-ACA1-F4B67E1FF522}"/>
              </a:ext>
            </a:extLst>
          </p:cNvPr>
          <p:cNvSpPr>
            <a:spLocks noGrp="1"/>
          </p:cNvSpPr>
          <p:nvPr/>
        </p:nvSpPr>
        <p:spPr>
          <a:xfrm>
            <a:off x="5231465" y="3081528"/>
            <a:ext cx="1728765" cy="9144"/>
          </a:xfrm>
          <a:prstGeom prst="rect">
            <a:avLst/>
          </a:prstGeom>
          <a:solidFill>
            <a:srgbClr val="23304A"/>
          </a:solidFill>
          <a:ln w="12700">
            <a:solidFill>
              <a:srgbClr val="23304A"/>
            </a:solidFill>
            <a:prstDash val="solid"/>
          </a:ln>
        </p:spPr>
      </p:sp>
      <p:sp>
        <p:nvSpPr>
          <p:cNvPr id="45" name="Text 43">
            <a:extLst>
              <a:ext uri="{FF2B5EF4-FFF2-40B4-BE49-F238E27FC236}">
                <a16:creationId xmlns:a16="http://schemas.microsoft.com/office/drawing/2014/main" id="{4ED3DC88-7D27-422D-A317-BAF27F158390}"/>
              </a:ext>
            </a:extLst>
          </p:cNvPr>
          <p:cNvSpPr>
            <a:spLocks noGrp="1"/>
          </p:cNvSpPr>
          <p:nvPr/>
        </p:nvSpPr>
        <p:spPr>
          <a:xfrm>
            <a:off x="5231465"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MAR</a:t>
            </a:r>
            <a:endParaRPr sz="1200"/>
          </a:p>
        </p:txBody>
      </p:sp>
      <p:sp>
        <p:nvSpPr>
          <p:cNvPr id="46" name="Text 44">
            <a:extLst>
              <a:ext uri="{FF2B5EF4-FFF2-40B4-BE49-F238E27FC236}">
                <a16:creationId xmlns:a16="http://schemas.microsoft.com/office/drawing/2014/main" id="{03CA7875-4F23-4187-8AD2-F27898FE90C6}"/>
              </a:ext>
            </a:extLst>
          </p:cNvPr>
          <p:cNvSpPr>
            <a:spLocks noGrp="1"/>
          </p:cNvSpPr>
          <p:nvPr/>
        </p:nvSpPr>
        <p:spPr>
          <a:xfrm>
            <a:off x="6095848" y="3209544"/>
            <a:ext cx="864382" cy="274320"/>
          </a:xfrm>
          <a:prstGeom prst="rect">
            <a:avLst/>
          </a:prstGeom>
          <a:noFill/>
        </p:spPr>
        <p:txBody>
          <a:bodyPr wrap="none" lIns="0" tIns="0" rIns="0" bIns="0" anchor="ctr">
            <a:noAutofit/>
          </a:bodyPr>
          <a:lstStyle/>
          <a:p>
            <a:pPr marL="0" indent="0" algn="r">
              <a:buNone/>
              <a:defRPr sz="1350" b="1">
                <a:solidFill>
                  <a:srgbClr val="F4F7FB"/>
                </a:solidFill>
                <a:latin typeface="Calibri"/>
                <a:ea typeface="Calibri"/>
                <a:cs typeface="Calibri"/>
              </a:defRPr>
            </a:pPr>
            <a:r>
              <a:rPr sz="1350" b="1">
                <a:solidFill>
                  <a:srgbClr val="F4F7FB"/>
                </a:solidFill>
                <a:latin typeface="Calibri"/>
                <a:ea typeface="Calibri"/>
                <a:cs typeface="Calibri"/>
              </a:rPr>
              <a:t>$841</a:t>
            </a:r>
            <a:endParaRPr sz="1300"/>
          </a:p>
        </p:txBody>
      </p:sp>
      <p:sp>
        <p:nvSpPr>
          <p:cNvPr id="47" name="Text 45">
            <a:extLst>
              <a:ext uri="{FF2B5EF4-FFF2-40B4-BE49-F238E27FC236}">
                <a16:creationId xmlns:a16="http://schemas.microsoft.com/office/drawing/2014/main" id="{DCE73FFF-E351-40B9-BD5B-9799636DCC88}"/>
              </a:ext>
            </a:extLst>
          </p:cNvPr>
          <p:cNvSpPr>
            <a:spLocks noGrp="1"/>
          </p:cNvSpPr>
          <p:nvPr/>
        </p:nvSpPr>
        <p:spPr>
          <a:xfrm>
            <a:off x="5231465"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48" name="Text 46">
            <a:extLst>
              <a:ext uri="{FF2B5EF4-FFF2-40B4-BE49-F238E27FC236}">
                <a16:creationId xmlns:a16="http://schemas.microsoft.com/office/drawing/2014/main" id="{E52FECF0-2101-4A4B-BE58-9A64387CC129}"/>
              </a:ext>
            </a:extLst>
          </p:cNvPr>
          <p:cNvSpPr>
            <a:spLocks noGrp="1"/>
          </p:cNvSpPr>
          <p:nvPr/>
        </p:nvSpPr>
        <p:spPr>
          <a:xfrm>
            <a:off x="6095848"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$25,288</a:t>
            </a:r>
            <a:endParaRPr sz="1300"/>
          </a:p>
        </p:txBody>
      </p:sp>
      <p:sp>
        <p:nvSpPr>
          <p:cNvPr id="49" name="Shape 47">
            <a:extLst>
              <a:ext uri="{FF2B5EF4-FFF2-40B4-BE49-F238E27FC236}">
                <a16:creationId xmlns:a16="http://schemas.microsoft.com/office/drawing/2014/main" id="{11076722-ED2F-46D9-9A1F-8A09E43FEF12}"/>
              </a:ext>
            </a:extLst>
          </p:cNvPr>
          <p:cNvSpPr>
            <a:spLocks noGrp="1"/>
          </p:cNvSpPr>
          <p:nvPr/>
        </p:nvSpPr>
        <p:spPr>
          <a:xfrm>
            <a:off x="5231465" y="4069080"/>
            <a:ext cx="1728765" cy="329184"/>
          </a:xfrm>
          <a:prstGeom prst="roundRect">
            <a:avLst>
              <a:gd name="adj" fmla="val 27778"/>
            </a:avLst>
          </a:prstGeom>
          <a:solidFill>
            <a:srgbClr val="1D2D42"/>
          </a:solidFill>
          <a:ln w="12700">
            <a:solidFill>
              <a:srgbClr val="FF9F43"/>
            </a:solidFill>
            <a:prstDash val="solid"/>
          </a:ln>
        </p:spPr>
      </p:sp>
      <p:sp>
        <p:nvSpPr>
          <p:cNvPr id="50" name="Text 48">
            <a:extLst>
              <a:ext uri="{FF2B5EF4-FFF2-40B4-BE49-F238E27FC236}">
                <a16:creationId xmlns:a16="http://schemas.microsoft.com/office/drawing/2014/main" id="{7A2D0BFF-A274-4DF3-AB32-9E6C02B3D66E}"/>
              </a:ext>
            </a:extLst>
          </p:cNvPr>
          <p:cNvSpPr>
            <a:spLocks noGrp="1"/>
          </p:cNvSpPr>
          <p:nvPr/>
        </p:nvSpPr>
        <p:spPr>
          <a:xfrm>
            <a:off x="5231465" y="4069080"/>
            <a:ext cx="1728765" cy="329184"/>
          </a:xfrm>
          <a:prstGeom prst="rect">
            <a:avLst/>
          </a:prstGeom>
          <a:noFill/>
        </p:spPr>
        <p:txBody>
          <a:bodyPr wrap="square" lIns="0" tIns="0" rIns="0" bIns="0" anchor="ctr"/>
          <a:lstStyle/>
          <a:p>
            <a:pPr marL="0" indent="0" algn="ctr">
              <a:buNone/>
            </a:pPr>
            <a:r>
              <a:rPr sz="1200" b="1">
                <a:solidFill>
                  <a:srgbClr val="FF9F43"/>
                </a:solidFill>
                <a:latin typeface="Calibri"/>
                <a:ea typeface="Calibri"/>
                <a:cs typeface="Calibri"/>
              </a:rPr>
              <a:t>+2907% Mar to Jul</a:t>
            </a:r>
            <a:endParaRPr sz="1200"/>
          </a:p>
        </p:txBody>
      </p:sp>
      <p:sp>
        <p:nvSpPr>
          <p:cNvPr id="51" name="Text 49">
            <a:extLst>
              <a:ext uri="{FF2B5EF4-FFF2-40B4-BE49-F238E27FC236}">
                <a16:creationId xmlns:a16="http://schemas.microsoft.com/office/drawing/2014/main" id="{3693321A-230B-465E-BD50-03086EAE83CD}"/>
              </a:ext>
            </a:extLst>
          </p:cNvPr>
          <p:cNvSpPr>
            <a:spLocks noGrp="1"/>
          </p:cNvSpPr>
          <p:nvPr/>
        </p:nvSpPr>
        <p:spPr>
          <a:xfrm>
            <a:off x="5231465"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Claude models via Claude Code. July gross of the MAP credit.</a:t>
            </a:r>
            <a:endParaRPr sz="1200"/>
          </a:p>
        </p:txBody>
      </p:sp>
      <p:sp>
        <p:nvSpPr>
          <p:cNvPr id="52" name="Shape 50">
            <a:extLst>
              <a:ext uri="{FF2B5EF4-FFF2-40B4-BE49-F238E27FC236}">
                <a16:creationId xmlns:a16="http://schemas.microsoft.com/office/drawing/2014/main" id="{F0BCAA03-68BF-4F2D-BE33-094079F3276B}"/>
              </a:ext>
            </a:extLst>
          </p:cNvPr>
          <p:cNvSpPr>
            <a:spLocks noGrp="1"/>
          </p:cNvSpPr>
          <p:nvPr/>
        </p:nvSpPr>
        <p:spPr>
          <a:xfrm>
            <a:off x="7344278" y="1618488"/>
            <a:ext cx="2094525" cy="3977640"/>
          </a:xfrm>
          <a:prstGeom prst="roundRect">
            <a:avLst>
              <a:gd name="adj" fmla="val 2619"/>
            </a:avLst>
          </a:prstGeom>
          <a:solidFill>
            <a:srgbClr val="121B2D"/>
          </a:solidFill>
          <a:ln w="12700">
            <a:solidFill>
              <a:srgbClr val="23304A"/>
            </a:solidFill>
            <a:prstDash val="solid"/>
          </a:ln>
        </p:spPr>
      </p:sp>
      <p:sp>
        <p:nvSpPr>
          <p:cNvPr id="53" name="Shape 51">
            <a:extLst>
              <a:ext uri="{FF2B5EF4-FFF2-40B4-BE49-F238E27FC236}">
                <a16:creationId xmlns:a16="http://schemas.microsoft.com/office/drawing/2014/main" id="{BCAC693E-904A-49B0-AC2D-0ADBA3FFAD6C}"/>
              </a:ext>
            </a:extLst>
          </p:cNvPr>
          <p:cNvSpPr>
            <a:spLocks noGrp="1"/>
          </p:cNvSpPr>
          <p:nvPr/>
        </p:nvSpPr>
        <p:spPr>
          <a:xfrm>
            <a:off x="7344278" y="1618488"/>
            <a:ext cx="2094525" cy="45720"/>
          </a:xfrm>
          <a:prstGeom prst="rect">
            <a:avLst/>
          </a:prstGeom>
          <a:solidFill>
            <a:srgbClr val="B07CFF"/>
          </a:solidFill>
          <a:ln w="12700">
            <a:solidFill>
              <a:srgbClr val="B07CFF"/>
            </a:solidFill>
            <a:prstDash val="solid"/>
          </a:ln>
        </p:spPr>
      </p:sp>
      <p:sp>
        <p:nvSpPr>
          <p:cNvPr id="54" name="Text 52">
            <a:extLst>
              <a:ext uri="{FF2B5EF4-FFF2-40B4-BE49-F238E27FC236}">
                <a16:creationId xmlns:a16="http://schemas.microsoft.com/office/drawing/2014/main" id="{FF04CA6B-2333-432A-9B23-0C5709E2541C}"/>
              </a:ext>
            </a:extLst>
          </p:cNvPr>
          <p:cNvSpPr>
            <a:spLocks noGrp="1"/>
          </p:cNvSpPr>
          <p:nvPr/>
        </p:nvSpPr>
        <p:spPr>
          <a:xfrm>
            <a:off x="7527158"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COWORK</a:t>
            </a:r>
            <a:endParaRPr sz="1200"/>
          </a:p>
        </p:txBody>
      </p:sp>
      <p:sp>
        <p:nvSpPr>
          <p:cNvPr id="55" name="Text 53">
            <a:extLst>
              <a:ext uri="{FF2B5EF4-FFF2-40B4-BE49-F238E27FC236}">
                <a16:creationId xmlns:a16="http://schemas.microsoft.com/office/drawing/2014/main" id="{9B5C729A-45D2-49CD-ABA9-1C2C1A6C7D59}"/>
              </a:ext>
            </a:extLst>
          </p:cNvPr>
          <p:cNvSpPr>
            <a:spLocks noGrp="1"/>
          </p:cNvSpPr>
          <p:nvPr/>
        </p:nvSpPr>
        <p:spPr>
          <a:xfrm>
            <a:off x="7527158"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$9,444</a:t>
            </a:r>
            <a:endParaRPr sz="2800"/>
          </a:p>
        </p:txBody>
      </p:sp>
      <p:sp>
        <p:nvSpPr>
          <p:cNvPr id="56" name="Text 54">
            <a:extLst>
              <a:ext uri="{FF2B5EF4-FFF2-40B4-BE49-F238E27FC236}">
                <a16:creationId xmlns:a16="http://schemas.microsoft.com/office/drawing/2014/main" id="{261A26D8-0827-4133-B1A3-82D273FDDF8A}"/>
              </a:ext>
            </a:extLst>
          </p:cNvPr>
          <p:cNvSpPr>
            <a:spLocks noGrp="1"/>
          </p:cNvSpPr>
          <p:nvPr/>
        </p:nvSpPr>
        <p:spPr>
          <a:xfrm>
            <a:off x="7527158" y="2734056"/>
            <a:ext cx="1728765" cy="237744"/>
          </a:xfrm>
          <a:prstGeom prst="rect">
            <a:avLst/>
          </a:prstGeom>
          <a:noFill/>
        </p:spPr>
        <p:txBody>
          <a:bodyPr wrap="square" lIns="0" tIns="0" rIns="0" bIns="0" anchor="ctr"/>
          <a:lstStyle/>
          <a:p>
            <a:pPr marL="0" indent="0">
              <a:buNone/>
            </a:pPr>
            <a:r>
              <a:rPr sz="1200" b="1">
                <a:solidFill>
                  <a:srgbClr val="B07CFF"/>
                </a:solidFill>
                <a:latin typeface="Calibri"/>
                <a:ea typeface="Calibri"/>
                <a:cs typeface="Calibri"/>
              </a:rPr>
              <a:t>4.7% of billed AI</a:t>
            </a:r>
            <a:endParaRPr sz="1200"/>
          </a:p>
        </p:txBody>
      </p:sp>
      <p:sp>
        <p:nvSpPr>
          <p:cNvPr id="57" name="Shape 55">
            <a:extLst>
              <a:ext uri="{FF2B5EF4-FFF2-40B4-BE49-F238E27FC236}">
                <a16:creationId xmlns:a16="http://schemas.microsoft.com/office/drawing/2014/main" id="{D02BA2BD-33F5-4D03-A6EA-438F997CEDA3}"/>
              </a:ext>
            </a:extLst>
          </p:cNvPr>
          <p:cNvSpPr>
            <a:spLocks noGrp="1"/>
          </p:cNvSpPr>
          <p:nvPr/>
        </p:nvSpPr>
        <p:spPr>
          <a:xfrm>
            <a:off x="7527158" y="3081528"/>
            <a:ext cx="1728765" cy="9144"/>
          </a:xfrm>
          <a:prstGeom prst="rect">
            <a:avLst/>
          </a:prstGeom>
          <a:solidFill>
            <a:srgbClr val="23304A"/>
          </a:solidFill>
          <a:ln w="12700">
            <a:solidFill>
              <a:srgbClr val="23304A"/>
            </a:solidFill>
            <a:prstDash val="solid"/>
          </a:ln>
        </p:spPr>
      </p:sp>
      <p:sp>
        <p:nvSpPr>
          <p:cNvPr id="58" name="Text 56">
            <a:extLst>
              <a:ext uri="{FF2B5EF4-FFF2-40B4-BE49-F238E27FC236}">
                <a16:creationId xmlns:a16="http://schemas.microsoft.com/office/drawing/2014/main" id="{7D0F9403-F9E2-48A4-90C6-AA3EA9974DC2}"/>
              </a:ext>
            </a:extLst>
          </p:cNvPr>
          <p:cNvSpPr>
            <a:spLocks noGrp="1"/>
          </p:cNvSpPr>
          <p:nvPr/>
        </p:nvSpPr>
        <p:spPr>
          <a:xfrm>
            <a:off x="7527158"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JAN</a:t>
            </a:r>
            <a:endParaRPr sz="1200"/>
          </a:p>
        </p:txBody>
      </p:sp>
      <p:sp>
        <p:nvSpPr>
          <p:cNvPr id="59" name="Text 57">
            <a:extLst>
              <a:ext uri="{FF2B5EF4-FFF2-40B4-BE49-F238E27FC236}">
                <a16:creationId xmlns:a16="http://schemas.microsoft.com/office/drawing/2014/main" id="{E6E55FEA-C8F9-4F44-B33C-5639C83374B0}"/>
              </a:ext>
            </a:extLst>
          </p:cNvPr>
          <p:cNvSpPr>
            <a:spLocks noGrp="1"/>
          </p:cNvSpPr>
          <p:nvPr/>
        </p:nvSpPr>
        <p:spPr>
          <a:xfrm>
            <a:off x="8391540"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$97</a:t>
            </a:r>
            <a:endParaRPr sz="1300"/>
          </a:p>
        </p:txBody>
      </p:sp>
      <p:sp>
        <p:nvSpPr>
          <p:cNvPr id="60" name="Text 58">
            <a:extLst>
              <a:ext uri="{FF2B5EF4-FFF2-40B4-BE49-F238E27FC236}">
                <a16:creationId xmlns:a16="http://schemas.microsoft.com/office/drawing/2014/main" id="{8F5826AD-6329-4215-B962-2FA79874E6C5}"/>
              </a:ext>
            </a:extLst>
          </p:cNvPr>
          <p:cNvSpPr>
            <a:spLocks noGrp="1"/>
          </p:cNvSpPr>
          <p:nvPr/>
        </p:nvSpPr>
        <p:spPr>
          <a:xfrm>
            <a:off x="7527158"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61" name="Text 59">
            <a:extLst>
              <a:ext uri="{FF2B5EF4-FFF2-40B4-BE49-F238E27FC236}">
                <a16:creationId xmlns:a16="http://schemas.microsoft.com/office/drawing/2014/main" id="{745E4055-AD13-4971-A9B6-791A5719FC74}"/>
              </a:ext>
            </a:extLst>
          </p:cNvPr>
          <p:cNvSpPr>
            <a:spLocks noGrp="1"/>
          </p:cNvSpPr>
          <p:nvPr/>
        </p:nvSpPr>
        <p:spPr>
          <a:xfrm>
            <a:off x="8391540"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$8,920</a:t>
            </a:r>
            <a:endParaRPr sz="1300"/>
          </a:p>
        </p:txBody>
      </p:sp>
      <p:sp>
        <p:nvSpPr>
          <p:cNvPr id="62" name="Shape 60">
            <a:extLst>
              <a:ext uri="{FF2B5EF4-FFF2-40B4-BE49-F238E27FC236}">
                <a16:creationId xmlns:a16="http://schemas.microsoft.com/office/drawing/2014/main" id="{201472BA-958D-4B1F-BA97-B55C6A37F9F3}"/>
              </a:ext>
            </a:extLst>
          </p:cNvPr>
          <p:cNvSpPr>
            <a:spLocks noGrp="1"/>
          </p:cNvSpPr>
          <p:nvPr/>
        </p:nvSpPr>
        <p:spPr>
          <a:xfrm>
            <a:off x="7527158" y="4069080"/>
            <a:ext cx="1728765" cy="329184"/>
          </a:xfrm>
          <a:prstGeom prst="roundRect">
            <a:avLst>
              <a:gd name="adj" fmla="val 27778"/>
            </a:avLst>
          </a:prstGeom>
          <a:solidFill>
            <a:srgbClr val="1D2D42"/>
          </a:solidFill>
          <a:ln w="12700">
            <a:solidFill>
              <a:srgbClr val="B07CFF"/>
            </a:solidFill>
            <a:prstDash val="solid"/>
          </a:ln>
        </p:spPr>
      </p:sp>
      <p:sp>
        <p:nvSpPr>
          <p:cNvPr id="63" name="Text 61">
            <a:extLst>
              <a:ext uri="{FF2B5EF4-FFF2-40B4-BE49-F238E27FC236}">
                <a16:creationId xmlns:a16="http://schemas.microsoft.com/office/drawing/2014/main" id="{07178D21-A892-4F37-80B1-F12440C09993}"/>
              </a:ext>
            </a:extLst>
          </p:cNvPr>
          <p:cNvSpPr>
            <a:spLocks noGrp="1"/>
          </p:cNvSpPr>
          <p:nvPr/>
        </p:nvSpPr>
        <p:spPr>
          <a:xfrm>
            <a:off x="7527158" y="4069080"/>
            <a:ext cx="1728765" cy="329184"/>
          </a:xfrm>
          <a:prstGeom prst="rect">
            <a:avLst/>
          </a:prstGeom>
          <a:noFill/>
        </p:spPr>
        <p:txBody>
          <a:bodyPr wrap="square" lIns="0" tIns="0" rIns="0" bIns="0" anchor="ctr"/>
          <a:lstStyle/>
          <a:p>
            <a:pPr marL="0" indent="0" algn="ctr">
              <a:buNone/>
            </a:pPr>
            <a:r>
              <a:rPr sz="1200" b="1">
                <a:solidFill>
                  <a:srgbClr val="B07CFF"/>
                </a:solidFill>
                <a:latin typeface="Calibri"/>
                <a:ea typeface="Calibri"/>
                <a:cs typeface="Calibri"/>
              </a:rPr>
              <a:t>$97 to $8,920</a:t>
            </a:r>
            <a:endParaRPr sz="1200"/>
          </a:p>
        </p:txBody>
      </p:sp>
      <p:sp>
        <p:nvSpPr>
          <p:cNvPr id="64" name="Text 62">
            <a:extLst>
              <a:ext uri="{FF2B5EF4-FFF2-40B4-BE49-F238E27FC236}">
                <a16:creationId xmlns:a16="http://schemas.microsoft.com/office/drawing/2014/main" id="{4649CB25-D881-4AC8-B5C1-6007A45422F8}"/>
              </a:ext>
            </a:extLst>
          </p:cNvPr>
          <p:cNvSpPr>
            <a:spLocks noGrp="1"/>
          </p:cNvSpPr>
          <p:nvPr/>
        </p:nvSpPr>
        <p:spPr>
          <a:xfrm>
            <a:off x="7527158"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Pay-as-you-go agent credits, billed through Power Platform.</a:t>
            </a:r>
            <a:endParaRPr sz="1200"/>
          </a:p>
        </p:txBody>
      </p:sp>
      <p:sp>
        <p:nvSpPr>
          <p:cNvPr id="65" name="Shape 63">
            <a:extLst>
              <a:ext uri="{FF2B5EF4-FFF2-40B4-BE49-F238E27FC236}">
                <a16:creationId xmlns:a16="http://schemas.microsoft.com/office/drawing/2014/main" id="{BBFA9EBE-9AF5-4F66-B488-99D1AD1FF2CF}"/>
              </a:ext>
            </a:extLst>
          </p:cNvPr>
          <p:cNvSpPr>
            <a:spLocks noGrp="1"/>
          </p:cNvSpPr>
          <p:nvPr/>
        </p:nvSpPr>
        <p:spPr>
          <a:xfrm>
            <a:off x="9639971" y="1618488"/>
            <a:ext cx="2094525" cy="3977640"/>
          </a:xfrm>
          <a:prstGeom prst="roundRect">
            <a:avLst>
              <a:gd name="adj" fmla="val 2619"/>
            </a:avLst>
          </a:prstGeom>
          <a:solidFill>
            <a:srgbClr val="121B2D"/>
          </a:solidFill>
          <a:ln w="12700">
            <a:solidFill>
              <a:srgbClr val="23304A"/>
            </a:solidFill>
            <a:prstDash val="solid"/>
          </a:ln>
        </p:spPr>
      </p:sp>
      <p:sp>
        <p:nvSpPr>
          <p:cNvPr id="66" name="Shape 64">
            <a:extLst>
              <a:ext uri="{FF2B5EF4-FFF2-40B4-BE49-F238E27FC236}">
                <a16:creationId xmlns:a16="http://schemas.microsoft.com/office/drawing/2014/main" id="{BDF1AA85-DABF-4B4A-BFEC-0CD34E99B9AE}"/>
              </a:ext>
            </a:extLst>
          </p:cNvPr>
          <p:cNvSpPr>
            <a:spLocks noGrp="1"/>
          </p:cNvSpPr>
          <p:nvPr/>
        </p:nvSpPr>
        <p:spPr>
          <a:xfrm>
            <a:off x="9639971" y="1618488"/>
            <a:ext cx="2094525" cy="45720"/>
          </a:xfrm>
          <a:prstGeom prst="rect">
            <a:avLst/>
          </a:prstGeom>
          <a:solidFill>
            <a:srgbClr val="3DDC97"/>
          </a:solidFill>
          <a:ln w="12700">
            <a:solidFill>
              <a:srgbClr val="3DDC97"/>
            </a:solidFill>
            <a:prstDash val="solid"/>
          </a:ln>
        </p:spPr>
      </p:sp>
      <p:sp>
        <p:nvSpPr>
          <p:cNvPr id="67" name="Text 65">
            <a:extLst>
              <a:ext uri="{FF2B5EF4-FFF2-40B4-BE49-F238E27FC236}">
                <a16:creationId xmlns:a16="http://schemas.microsoft.com/office/drawing/2014/main" id="{CF9A81ED-0204-4109-930F-DBAFC16F2599}"/>
              </a:ext>
            </a:extLst>
          </p:cNvPr>
          <p:cNvSpPr>
            <a:spLocks noGrp="1"/>
          </p:cNvSpPr>
          <p:nvPr/>
        </p:nvSpPr>
        <p:spPr>
          <a:xfrm>
            <a:off x="9822851"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GOOGLE VERTEX AI</a:t>
            </a:r>
            <a:endParaRPr sz="1200"/>
          </a:p>
        </p:txBody>
      </p:sp>
      <p:sp>
        <p:nvSpPr>
          <p:cNvPr id="68" name="Text 66">
            <a:extLst>
              <a:ext uri="{FF2B5EF4-FFF2-40B4-BE49-F238E27FC236}">
                <a16:creationId xmlns:a16="http://schemas.microsoft.com/office/drawing/2014/main" id="{3A5E0B89-ACEA-4538-9492-B0BDA15ADFB3}"/>
              </a:ext>
            </a:extLst>
          </p:cNvPr>
          <p:cNvSpPr>
            <a:spLocks noGrp="1"/>
          </p:cNvSpPr>
          <p:nvPr/>
        </p:nvSpPr>
        <p:spPr>
          <a:xfrm>
            <a:off x="9822851"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$3,696</a:t>
            </a:r>
            <a:endParaRPr sz="2800"/>
          </a:p>
        </p:txBody>
      </p:sp>
      <p:sp>
        <p:nvSpPr>
          <p:cNvPr id="69" name="Text 67">
            <a:extLst>
              <a:ext uri="{FF2B5EF4-FFF2-40B4-BE49-F238E27FC236}">
                <a16:creationId xmlns:a16="http://schemas.microsoft.com/office/drawing/2014/main" id="{F0012C22-8F4D-4925-A9DC-5016145040E4}"/>
              </a:ext>
            </a:extLst>
          </p:cNvPr>
          <p:cNvSpPr>
            <a:spLocks noGrp="1"/>
          </p:cNvSpPr>
          <p:nvPr/>
        </p:nvSpPr>
        <p:spPr>
          <a:xfrm>
            <a:off x="9822851" y="2734056"/>
            <a:ext cx="1728765" cy="237744"/>
          </a:xfrm>
          <a:prstGeom prst="rect">
            <a:avLst/>
          </a:prstGeom>
          <a:noFill/>
        </p:spPr>
        <p:txBody>
          <a:bodyPr wrap="square" lIns="0" tIns="0" rIns="0" bIns="0" anchor="ctr"/>
          <a:lstStyle/>
          <a:p>
            <a:pPr marL="0" indent="0">
              <a:buNone/>
            </a:pPr>
            <a:r>
              <a:rPr sz="1200" b="1">
                <a:solidFill>
                  <a:srgbClr val="3DDC97"/>
                </a:solidFill>
                <a:latin typeface="Calibri"/>
                <a:ea typeface="Calibri"/>
                <a:cs typeface="Calibri"/>
              </a:rPr>
              <a:t>1.9% of billed AI</a:t>
            </a:r>
            <a:endParaRPr sz="1200"/>
          </a:p>
        </p:txBody>
      </p:sp>
      <p:sp>
        <p:nvSpPr>
          <p:cNvPr id="70" name="Shape 68">
            <a:extLst>
              <a:ext uri="{FF2B5EF4-FFF2-40B4-BE49-F238E27FC236}">
                <a16:creationId xmlns:a16="http://schemas.microsoft.com/office/drawing/2014/main" id="{E36006C8-11CD-4280-95B5-3DF0237D8C03}"/>
              </a:ext>
            </a:extLst>
          </p:cNvPr>
          <p:cNvSpPr>
            <a:spLocks noGrp="1"/>
          </p:cNvSpPr>
          <p:nvPr/>
        </p:nvSpPr>
        <p:spPr>
          <a:xfrm>
            <a:off x="9822851" y="3081528"/>
            <a:ext cx="1728765" cy="9144"/>
          </a:xfrm>
          <a:prstGeom prst="rect">
            <a:avLst/>
          </a:prstGeom>
          <a:solidFill>
            <a:srgbClr val="23304A"/>
          </a:solidFill>
          <a:ln w="12700">
            <a:solidFill>
              <a:srgbClr val="23304A"/>
            </a:solidFill>
            <a:prstDash val="solid"/>
          </a:ln>
        </p:spPr>
      </p:sp>
      <p:sp>
        <p:nvSpPr>
          <p:cNvPr id="71" name="Text 69">
            <a:extLst>
              <a:ext uri="{FF2B5EF4-FFF2-40B4-BE49-F238E27FC236}">
                <a16:creationId xmlns:a16="http://schemas.microsoft.com/office/drawing/2014/main" id="{F9CDE078-C5B5-4BD8-A165-5F649F8BDD43}"/>
              </a:ext>
            </a:extLst>
          </p:cNvPr>
          <p:cNvSpPr>
            <a:spLocks noGrp="1"/>
          </p:cNvSpPr>
          <p:nvPr/>
        </p:nvSpPr>
        <p:spPr>
          <a:xfrm>
            <a:off x="9822851"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MAY</a:t>
            </a:r>
            <a:endParaRPr sz="1200"/>
          </a:p>
        </p:txBody>
      </p:sp>
      <p:sp>
        <p:nvSpPr>
          <p:cNvPr id="72" name="Text 70">
            <a:extLst>
              <a:ext uri="{FF2B5EF4-FFF2-40B4-BE49-F238E27FC236}">
                <a16:creationId xmlns:a16="http://schemas.microsoft.com/office/drawing/2014/main" id="{7F20ADAF-45BE-4322-905E-FA7F4AE506F4}"/>
              </a:ext>
            </a:extLst>
          </p:cNvPr>
          <p:cNvSpPr>
            <a:spLocks noGrp="1"/>
          </p:cNvSpPr>
          <p:nvPr/>
        </p:nvSpPr>
        <p:spPr>
          <a:xfrm>
            <a:off x="10687233" y="3209544"/>
            <a:ext cx="864382" cy="274320"/>
          </a:xfrm>
          <a:prstGeom prst="rect">
            <a:avLst/>
          </a:prstGeom>
          <a:noFill/>
        </p:spPr>
        <p:txBody>
          <a:bodyPr wrap="none" lIns="0" tIns="0" rIns="0" bIns="0" anchor="ctr">
            <a:noAutofit/>
          </a:bodyPr>
          <a:lstStyle/>
          <a:p>
            <a:pPr marL="0" indent="0" algn="r">
              <a:buNone/>
              <a:defRPr sz="1350" b="1">
                <a:solidFill>
                  <a:srgbClr val="F4F7FB"/>
                </a:solidFill>
                <a:latin typeface="Calibri"/>
                <a:ea typeface="Calibri"/>
                <a:cs typeface="Calibri"/>
              </a:defRPr>
            </a:pPr>
            <a:r>
              <a:rPr sz="1350" b="1">
                <a:solidFill>
                  <a:srgbClr val="F4F7FB"/>
                </a:solidFill>
                <a:latin typeface="Calibri"/>
                <a:ea typeface="Calibri"/>
                <a:cs typeface="Calibri"/>
              </a:rPr>
              <a:t>$379</a:t>
            </a:r>
            <a:endParaRPr sz="1300"/>
          </a:p>
        </p:txBody>
      </p:sp>
      <p:sp>
        <p:nvSpPr>
          <p:cNvPr id="73" name="Text 71">
            <a:extLst>
              <a:ext uri="{FF2B5EF4-FFF2-40B4-BE49-F238E27FC236}">
                <a16:creationId xmlns:a16="http://schemas.microsoft.com/office/drawing/2014/main" id="{5BA90F1D-D006-474F-9EB8-30E010E94F61}"/>
              </a:ext>
            </a:extLst>
          </p:cNvPr>
          <p:cNvSpPr>
            <a:spLocks noGrp="1"/>
          </p:cNvSpPr>
          <p:nvPr/>
        </p:nvSpPr>
        <p:spPr>
          <a:xfrm>
            <a:off x="9822851"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JUL</a:t>
            </a:r>
            <a:endParaRPr sz="1200"/>
          </a:p>
        </p:txBody>
      </p:sp>
      <p:sp>
        <p:nvSpPr>
          <p:cNvPr id="74" name="Text 72">
            <a:extLst>
              <a:ext uri="{FF2B5EF4-FFF2-40B4-BE49-F238E27FC236}">
                <a16:creationId xmlns:a16="http://schemas.microsoft.com/office/drawing/2014/main" id="{672BFD05-7C2D-4596-8507-53BF7D2F9EAD}"/>
              </a:ext>
            </a:extLst>
          </p:cNvPr>
          <p:cNvSpPr>
            <a:spLocks noGrp="1"/>
          </p:cNvSpPr>
          <p:nvPr/>
        </p:nvSpPr>
        <p:spPr>
          <a:xfrm>
            <a:off x="10687233"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$2,359</a:t>
            </a:r>
            <a:endParaRPr sz="1300"/>
          </a:p>
        </p:txBody>
      </p:sp>
      <p:sp>
        <p:nvSpPr>
          <p:cNvPr id="75" name="Shape 73">
            <a:extLst>
              <a:ext uri="{FF2B5EF4-FFF2-40B4-BE49-F238E27FC236}">
                <a16:creationId xmlns:a16="http://schemas.microsoft.com/office/drawing/2014/main" id="{CDB61192-FC95-4F63-A76A-FAD68116257F}"/>
              </a:ext>
            </a:extLst>
          </p:cNvPr>
          <p:cNvSpPr>
            <a:spLocks noGrp="1"/>
          </p:cNvSpPr>
          <p:nvPr/>
        </p:nvSpPr>
        <p:spPr>
          <a:xfrm>
            <a:off x="9822851" y="4069080"/>
            <a:ext cx="1728765" cy="329184"/>
          </a:xfrm>
          <a:prstGeom prst="roundRect">
            <a:avLst>
              <a:gd name="adj" fmla="val 27778"/>
            </a:avLst>
          </a:prstGeom>
          <a:solidFill>
            <a:srgbClr val="1D2D42"/>
          </a:solidFill>
          <a:ln w="12700">
            <a:solidFill>
              <a:srgbClr val="3DDC97"/>
            </a:solidFill>
            <a:prstDash val="solid"/>
          </a:ln>
        </p:spPr>
      </p:sp>
      <p:sp>
        <p:nvSpPr>
          <p:cNvPr id="76" name="Text 74">
            <a:extLst>
              <a:ext uri="{FF2B5EF4-FFF2-40B4-BE49-F238E27FC236}">
                <a16:creationId xmlns:a16="http://schemas.microsoft.com/office/drawing/2014/main" id="{67C002A3-40AB-4AE6-B4D0-44F30BC1E4BD}"/>
              </a:ext>
            </a:extLst>
          </p:cNvPr>
          <p:cNvSpPr>
            <a:spLocks noGrp="1"/>
          </p:cNvSpPr>
          <p:nvPr/>
        </p:nvSpPr>
        <p:spPr>
          <a:xfrm>
            <a:off x="9822851" y="4069080"/>
            <a:ext cx="1728765" cy="329184"/>
          </a:xfrm>
          <a:prstGeom prst="rect">
            <a:avLst/>
          </a:prstGeom>
          <a:noFill/>
        </p:spPr>
        <p:txBody>
          <a:bodyPr wrap="square" lIns="0" tIns="0" rIns="0" bIns="0" anchor="ctr"/>
          <a:lstStyle/>
          <a:p>
            <a:pPr marL="0" indent="0" algn="ctr">
              <a:buNone/>
            </a:pPr>
            <a:r>
              <a:rPr sz="1200" b="1">
                <a:solidFill>
                  <a:srgbClr val="3DDC97"/>
                </a:solidFill>
                <a:latin typeface="Calibri"/>
                <a:ea typeface="Calibri"/>
                <a:cs typeface="Calibri"/>
              </a:rPr>
              <a:t>+523% May to Jul</a:t>
            </a:r>
            <a:endParaRPr sz="1200"/>
          </a:p>
        </p:txBody>
      </p:sp>
      <p:sp>
        <p:nvSpPr>
          <p:cNvPr id="77" name="Text 75">
            <a:extLst>
              <a:ext uri="{FF2B5EF4-FFF2-40B4-BE49-F238E27FC236}">
                <a16:creationId xmlns:a16="http://schemas.microsoft.com/office/drawing/2014/main" id="{2AF83E86-46F4-46F0-9B04-1BC4BD3C4423}"/>
              </a:ext>
            </a:extLst>
          </p:cNvPr>
          <p:cNvSpPr>
            <a:spLocks noGrp="1"/>
          </p:cNvSpPr>
          <p:nvPr/>
        </p:nvSpPr>
        <p:spPr>
          <a:xfrm>
            <a:off x="9822851"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Gemini prediction tokens on the shared GCP projects.</a:t>
            </a:r>
            <a:endParaRPr sz="1200"/>
          </a:p>
        </p:txBody>
      </p:sp>
    </p:spTree>
    <p:extLst>
      <p:ext uri="{BB962C8B-B14F-4D97-AF65-F5344CB8AC3E}">
        <p14:creationId xmlns:p14="http://schemas.microsoft.com/office/powerpoint/2010/main" val="968350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6F8528-C4FD-4ABC-98E1-EFD67CFC0E7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sp>
      <p:sp>
        <p:nvSpPr>
          <p:cNvPr id="3" name="Shape 1">
            <a:extLst>
              <a:ext uri="{FF2B5EF4-FFF2-40B4-BE49-F238E27FC236}">
                <a16:creationId xmlns:a16="http://schemas.microsoft.com/office/drawing/2014/main" id="{724FF072-65A8-4C4B-93D4-3E962E5E4A62}"/>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a:extLst>
              <a:ext uri="{FF2B5EF4-FFF2-40B4-BE49-F238E27FC236}">
                <a16:creationId xmlns:a16="http://schemas.microsoft.com/office/drawing/2014/main" id="{1387EFD2-B348-4664-B13E-0148BE1C729B}"/>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APPLICATION CONSUMPTION</a:t>
            </a:r>
            <a:endParaRPr sz="1300"/>
          </a:p>
        </p:txBody>
      </p:sp>
      <p:sp>
        <p:nvSpPr>
          <p:cNvPr id="5" name="Text 3">
            <a:extLst>
              <a:ext uri="{FF2B5EF4-FFF2-40B4-BE49-F238E27FC236}">
                <a16:creationId xmlns:a16="http://schemas.microsoft.com/office/drawing/2014/main" id="{14D43995-BA98-4A95-B453-5DDD733B6292}"/>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Top five applications by estimated AI cost</a:t>
            </a:r>
            <a:endParaRPr sz="2800"/>
          </a:p>
        </p:txBody>
      </p:sp>
      <p:sp>
        <p:nvSpPr>
          <p:cNvPr id="6" name="Text 4">
            <a:extLst>
              <a:ext uri="{FF2B5EF4-FFF2-40B4-BE49-F238E27FC236}">
                <a16:creationId xmlns:a16="http://schemas.microsoft.com/office/drawing/2014/main" id="{2CCB0FC0-595C-4B7D-AF57-E626CA6DFBAF}"/>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Application, cloud vendor, team and invocation volume from the supplied AI cost table.</a:t>
            </a:r>
            <a:endParaRPr sz="1200"/>
          </a:p>
        </p:txBody>
      </p:sp>
      <p:sp>
        <p:nvSpPr>
          <p:cNvPr id="7" name="Text 5">
            <a:extLst>
              <a:ext uri="{FF2B5EF4-FFF2-40B4-BE49-F238E27FC236}">
                <a16:creationId xmlns:a16="http://schemas.microsoft.com/office/drawing/2014/main" id="{2927AD61-D2FE-49CD-A075-F4C543AC9DAC}"/>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The top five applications represent $34,489 (79.2%) of estimated AI consumption. Start ownership, tagging and budget controls here.</a:t>
            </a:r>
            <a:endParaRPr sz="1200"/>
          </a:p>
        </p:txBody>
      </p:sp>
      <p:sp>
        <p:nvSpPr>
          <p:cNvPr id="8" name="Shape 6">
            <a:extLst>
              <a:ext uri="{FF2B5EF4-FFF2-40B4-BE49-F238E27FC236}">
                <a16:creationId xmlns:a16="http://schemas.microsoft.com/office/drawing/2014/main" id="{8E507915-53E0-4257-AB99-2E59234F0ECD}"/>
              </a:ext>
            </a:extLst>
          </p:cNvPr>
          <p:cNvSpPr>
            <a:spLocks noGrp="1"/>
          </p:cNvSpPr>
          <p:nvPr/>
        </p:nvSpPr>
        <p:spPr>
          <a:xfrm>
            <a:off x="457200" y="1234440"/>
            <a:ext cx="4823713" cy="182880"/>
          </a:xfrm>
          <a:prstGeom prst="rect">
            <a:avLst/>
          </a:prstGeom>
          <a:solidFill>
            <a:srgbClr val="2F8CFF"/>
          </a:solidFill>
          <a:ln w="12700">
            <a:solidFill>
              <a:srgbClr val="2F8CFF"/>
            </a:solidFill>
            <a:prstDash val="solid"/>
          </a:ln>
        </p:spPr>
      </p:sp>
      <p:sp>
        <p:nvSpPr>
          <p:cNvPr id="9" name="Shape 7">
            <a:extLst>
              <a:ext uri="{FF2B5EF4-FFF2-40B4-BE49-F238E27FC236}">
                <a16:creationId xmlns:a16="http://schemas.microsoft.com/office/drawing/2014/main" id="{C2336D49-99BE-4871-8BB2-5A3270B86542}"/>
              </a:ext>
            </a:extLst>
          </p:cNvPr>
          <p:cNvSpPr>
            <a:spLocks noGrp="1"/>
          </p:cNvSpPr>
          <p:nvPr/>
        </p:nvSpPr>
        <p:spPr>
          <a:xfrm>
            <a:off x="5326633" y="1234440"/>
            <a:ext cx="3164430" cy="182880"/>
          </a:xfrm>
          <a:prstGeom prst="rect">
            <a:avLst/>
          </a:prstGeom>
          <a:solidFill>
            <a:srgbClr val="3DD9EB"/>
          </a:solidFill>
          <a:ln w="12700">
            <a:solidFill>
              <a:srgbClr val="3DD9EB"/>
            </a:solidFill>
            <a:prstDash val="solid"/>
          </a:ln>
        </p:spPr>
      </p:sp>
      <p:sp>
        <p:nvSpPr>
          <p:cNvPr id="10" name="Shape 8">
            <a:extLst>
              <a:ext uri="{FF2B5EF4-FFF2-40B4-BE49-F238E27FC236}">
                <a16:creationId xmlns:a16="http://schemas.microsoft.com/office/drawing/2014/main" id="{8D2EED0A-4C76-4996-9FC7-61716109E0D9}"/>
              </a:ext>
            </a:extLst>
          </p:cNvPr>
          <p:cNvSpPr>
            <a:spLocks noGrp="1"/>
          </p:cNvSpPr>
          <p:nvPr/>
        </p:nvSpPr>
        <p:spPr>
          <a:xfrm>
            <a:off x="8536783" y="1234440"/>
            <a:ext cx="2327567" cy="182880"/>
          </a:xfrm>
          <a:prstGeom prst="rect">
            <a:avLst/>
          </a:prstGeom>
          <a:solidFill>
            <a:srgbClr val="FF9F43"/>
          </a:solidFill>
          <a:ln w="12700">
            <a:solidFill>
              <a:srgbClr val="FF9F43"/>
            </a:solidFill>
            <a:prstDash val="solid"/>
          </a:ln>
        </p:spPr>
      </p:sp>
      <p:sp>
        <p:nvSpPr>
          <p:cNvPr id="11" name="Shape 9">
            <a:extLst>
              <a:ext uri="{FF2B5EF4-FFF2-40B4-BE49-F238E27FC236}">
                <a16:creationId xmlns:a16="http://schemas.microsoft.com/office/drawing/2014/main" id="{7B7DB60F-9A2D-46D6-9399-AF90E4D8E7D7}"/>
              </a:ext>
            </a:extLst>
          </p:cNvPr>
          <p:cNvSpPr>
            <a:spLocks noGrp="1"/>
          </p:cNvSpPr>
          <p:nvPr/>
        </p:nvSpPr>
        <p:spPr>
          <a:xfrm>
            <a:off x="10910070" y="1234440"/>
            <a:ext cx="522673" cy="182880"/>
          </a:xfrm>
          <a:prstGeom prst="rect">
            <a:avLst/>
          </a:prstGeom>
          <a:solidFill>
            <a:srgbClr val="B07CFF"/>
          </a:solidFill>
          <a:ln w="12700">
            <a:solidFill>
              <a:srgbClr val="B07CFF"/>
            </a:solidFill>
            <a:prstDash val="solid"/>
          </a:ln>
        </p:spPr>
      </p:sp>
      <p:sp>
        <p:nvSpPr>
          <p:cNvPr id="12" name="Shape 10">
            <a:extLst>
              <a:ext uri="{FF2B5EF4-FFF2-40B4-BE49-F238E27FC236}">
                <a16:creationId xmlns:a16="http://schemas.microsoft.com/office/drawing/2014/main" id="{0BB80254-F431-417C-982C-C36BD557A06B}"/>
              </a:ext>
            </a:extLst>
          </p:cNvPr>
          <p:cNvSpPr>
            <a:spLocks noGrp="1"/>
          </p:cNvSpPr>
          <p:nvPr/>
        </p:nvSpPr>
        <p:spPr>
          <a:xfrm>
            <a:off x="11478463" y="1234440"/>
            <a:ext cx="256032" cy="182880"/>
          </a:xfrm>
          <a:prstGeom prst="rect">
            <a:avLst/>
          </a:prstGeom>
          <a:solidFill>
            <a:srgbClr val="3DDC97"/>
          </a:solidFill>
          <a:ln w="12700">
            <a:solidFill>
              <a:srgbClr val="3DDC97"/>
            </a:solidFill>
            <a:prstDash val="solid"/>
          </a:ln>
        </p:spPr>
      </p:sp>
      <p:sp>
        <p:nvSpPr>
          <p:cNvPr id="13" name="Shape 11">
            <a:extLst>
              <a:ext uri="{FF2B5EF4-FFF2-40B4-BE49-F238E27FC236}">
                <a16:creationId xmlns:a16="http://schemas.microsoft.com/office/drawing/2014/main" id="{5FD6F996-6F52-45A1-BF76-17D5CF68812E}"/>
              </a:ext>
            </a:extLst>
          </p:cNvPr>
          <p:cNvSpPr>
            <a:spLocks noGrp="1"/>
          </p:cNvSpPr>
          <p:nvPr/>
        </p:nvSpPr>
        <p:spPr>
          <a:xfrm>
            <a:off x="457200" y="1618488"/>
            <a:ext cx="2094525" cy="3977640"/>
          </a:xfrm>
          <a:prstGeom prst="roundRect">
            <a:avLst>
              <a:gd name="adj" fmla="val 2619"/>
            </a:avLst>
          </a:prstGeom>
          <a:solidFill>
            <a:srgbClr val="121B2D"/>
          </a:solidFill>
          <a:ln w="12700">
            <a:solidFill>
              <a:srgbClr val="23304A"/>
            </a:solidFill>
            <a:prstDash val="solid"/>
          </a:ln>
        </p:spPr>
      </p:sp>
      <p:sp>
        <p:nvSpPr>
          <p:cNvPr id="14" name="Shape 12">
            <a:extLst>
              <a:ext uri="{FF2B5EF4-FFF2-40B4-BE49-F238E27FC236}">
                <a16:creationId xmlns:a16="http://schemas.microsoft.com/office/drawing/2014/main" id="{C1CC5815-2FAA-4338-8698-EF4C8A0A61AB}"/>
              </a:ext>
            </a:extLst>
          </p:cNvPr>
          <p:cNvSpPr>
            <a:spLocks noGrp="1"/>
          </p:cNvSpPr>
          <p:nvPr/>
        </p:nvSpPr>
        <p:spPr>
          <a:xfrm>
            <a:off x="457200" y="1618488"/>
            <a:ext cx="2094525" cy="45720"/>
          </a:xfrm>
          <a:prstGeom prst="rect">
            <a:avLst/>
          </a:prstGeom>
          <a:solidFill>
            <a:srgbClr val="2F8CFF"/>
          </a:solidFill>
          <a:ln w="12700">
            <a:solidFill>
              <a:srgbClr val="2F8CFF"/>
            </a:solidFill>
            <a:prstDash val="solid"/>
          </a:ln>
        </p:spPr>
      </p:sp>
      <p:sp>
        <p:nvSpPr>
          <p:cNvPr id="15" name="Text 13">
            <a:extLst>
              <a:ext uri="{FF2B5EF4-FFF2-40B4-BE49-F238E27FC236}">
                <a16:creationId xmlns:a16="http://schemas.microsoft.com/office/drawing/2014/main" id="{0F2501DF-AC08-489D-90FA-037FD41499F5}"/>
              </a:ext>
            </a:extLst>
          </p:cNvPr>
          <p:cNvSpPr>
            <a:spLocks noGrp="1"/>
          </p:cNvSpPr>
          <p:nvPr/>
        </p:nvSpPr>
        <p:spPr>
          <a:xfrm>
            <a:off x="640080"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INSUREGEN</a:t>
            </a:r>
            <a:endParaRPr sz="1200"/>
          </a:p>
        </p:txBody>
      </p:sp>
      <p:sp>
        <p:nvSpPr>
          <p:cNvPr id="16" name="Text 14">
            <a:extLst>
              <a:ext uri="{FF2B5EF4-FFF2-40B4-BE49-F238E27FC236}">
                <a16:creationId xmlns:a16="http://schemas.microsoft.com/office/drawing/2014/main" id="{45498FEB-5600-4E35-AB21-3B70526BD1FD}"/>
              </a:ext>
            </a:extLst>
          </p:cNvPr>
          <p:cNvSpPr>
            <a:spLocks noGrp="1"/>
          </p:cNvSpPr>
          <p:nvPr/>
        </p:nvSpPr>
        <p:spPr>
          <a:xfrm>
            <a:off x="640080"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$11,486</a:t>
            </a:r>
            <a:endParaRPr sz="2800"/>
          </a:p>
        </p:txBody>
      </p:sp>
      <p:sp>
        <p:nvSpPr>
          <p:cNvPr id="17" name="Text 15">
            <a:extLst>
              <a:ext uri="{FF2B5EF4-FFF2-40B4-BE49-F238E27FC236}">
                <a16:creationId xmlns:a16="http://schemas.microsoft.com/office/drawing/2014/main" id="{4964ADFA-5090-4E55-AD60-F70D4907ED70}"/>
              </a:ext>
            </a:extLst>
          </p:cNvPr>
          <p:cNvSpPr>
            <a:spLocks noGrp="1"/>
          </p:cNvSpPr>
          <p:nvPr/>
        </p:nvSpPr>
        <p:spPr>
          <a:xfrm>
            <a:off x="640080" y="2734056"/>
            <a:ext cx="1728765" cy="237744"/>
          </a:xfrm>
          <a:prstGeom prst="rect">
            <a:avLst/>
          </a:prstGeom>
          <a:noFill/>
        </p:spPr>
        <p:txBody>
          <a:bodyPr wrap="square" lIns="0" tIns="0" rIns="0" bIns="0" anchor="ctr"/>
          <a:lstStyle/>
          <a:p>
            <a:pPr marL="0" indent="0">
              <a:buNone/>
            </a:pPr>
            <a:r>
              <a:rPr sz="1200" b="1">
                <a:solidFill>
                  <a:srgbClr val="2F8CFF"/>
                </a:solidFill>
                <a:latin typeface="Calibri"/>
                <a:ea typeface="Calibri"/>
                <a:cs typeface="Calibri"/>
              </a:rPr>
              <a:t>26.4% of estimated spend</a:t>
            </a:r>
            <a:endParaRPr sz="1200"/>
          </a:p>
        </p:txBody>
      </p:sp>
      <p:sp>
        <p:nvSpPr>
          <p:cNvPr id="18" name="Shape 16">
            <a:extLst>
              <a:ext uri="{FF2B5EF4-FFF2-40B4-BE49-F238E27FC236}">
                <a16:creationId xmlns:a16="http://schemas.microsoft.com/office/drawing/2014/main" id="{58E7F65A-9DCA-4DDD-9E43-ABDF8F1D8C1B}"/>
              </a:ext>
            </a:extLst>
          </p:cNvPr>
          <p:cNvSpPr>
            <a:spLocks noGrp="1"/>
          </p:cNvSpPr>
          <p:nvPr/>
        </p:nvSpPr>
        <p:spPr>
          <a:xfrm>
            <a:off x="640080" y="3081528"/>
            <a:ext cx="1728765" cy="9144"/>
          </a:xfrm>
          <a:prstGeom prst="rect">
            <a:avLst/>
          </a:prstGeom>
          <a:solidFill>
            <a:srgbClr val="23304A"/>
          </a:solidFill>
          <a:ln w="12700">
            <a:solidFill>
              <a:srgbClr val="23304A"/>
            </a:solidFill>
            <a:prstDash val="solid"/>
          </a:ln>
        </p:spPr>
      </p:sp>
      <p:sp>
        <p:nvSpPr>
          <p:cNvPr id="19" name="Text 17">
            <a:extLst>
              <a:ext uri="{FF2B5EF4-FFF2-40B4-BE49-F238E27FC236}">
                <a16:creationId xmlns:a16="http://schemas.microsoft.com/office/drawing/2014/main" id="{F721CE06-E33B-4936-AA0B-603A023117BC}"/>
              </a:ext>
            </a:extLst>
          </p:cNvPr>
          <p:cNvSpPr>
            <a:spLocks noGrp="1"/>
          </p:cNvSpPr>
          <p:nvPr/>
        </p:nvSpPr>
        <p:spPr>
          <a:xfrm>
            <a:off x="640080"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VENDOR</a:t>
            </a:r>
            <a:endParaRPr sz="1200"/>
          </a:p>
        </p:txBody>
      </p:sp>
      <p:sp>
        <p:nvSpPr>
          <p:cNvPr id="20" name="Text 18">
            <a:extLst>
              <a:ext uri="{FF2B5EF4-FFF2-40B4-BE49-F238E27FC236}">
                <a16:creationId xmlns:a16="http://schemas.microsoft.com/office/drawing/2014/main" id="{252A63DC-089E-4C90-B94C-802203EE4B51}"/>
              </a:ext>
            </a:extLst>
          </p:cNvPr>
          <p:cNvSpPr>
            <a:spLocks noGrp="1"/>
          </p:cNvSpPr>
          <p:nvPr/>
        </p:nvSpPr>
        <p:spPr>
          <a:xfrm>
            <a:off x="1504462"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Azure</a:t>
            </a:r>
            <a:endParaRPr sz="1300"/>
          </a:p>
        </p:txBody>
      </p:sp>
      <p:sp>
        <p:nvSpPr>
          <p:cNvPr id="21" name="Text 19">
            <a:extLst>
              <a:ext uri="{FF2B5EF4-FFF2-40B4-BE49-F238E27FC236}">
                <a16:creationId xmlns:a16="http://schemas.microsoft.com/office/drawing/2014/main" id="{9AAF4D46-DE2C-417D-8386-ED18918C9DE4}"/>
              </a:ext>
            </a:extLst>
          </p:cNvPr>
          <p:cNvSpPr>
            <a:spLocks noGrp="1"/>
          </p:cNvSpPr>
          <p:nvPr/>
        </p:nvSpPr>
        <p:spPr>
          <a:xfrm>
            <a:off x="640080"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TEAM</a:t>
            </a:r>
            <a:endParaRPr sz="1200"/>
          </a:p>
        </p:txBody>
      </p:sp>
      <p:sp>
        <p:nvSpPr>
          <p:cNvPr id="22" name="Text 20">
            <a:extLst>
              <a:ext uri="{FF2B5EF4-FFF2-40B4-BE49-F238E27FC236}">
                <a16:creationId xmlns:a16="http://schemas.microsoft.com/office/drawing/2014/main" id="{C17734F7-038D-496A-B356-7B3D29D988D6}"/>
              </a:ext>
            </a:extLst>
          </p:cNvPr>
          <p:cNvSpPr>
            <a:spLocks noGrp="1"/>
          </p:cNvSpPr>
          <p:nvPr/>
        </p:nvSpPr>
        <p:spPr>
          <a:xfrm>
            <a:off x="1504462"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solugen</a:t>
            </a:r>
            <a:endParaRPr sz="1300"/>
          </a:p>
        </p:txBody>
      </p:sp>
      <p:sp>
        <p:nvSpPr>
          <p:cNvPr id="23" name="Shape 21">
            <a:extLst>
              <a:ext uri="{FF2B5EF4-FFF2-40B4-BE49-F238E27FC236}">
                <a16:creationId xmlns:a16="http://schemas.microsoft.com/office/drawing/2014/main" id="{A0C140F3-11B9-4EC5-BD3D-8A110DDE51C5}"/>
              </a:ext>
            </a:extLst>
          </p:cNvPr>
          <p:cNvSpPr>
            <a:spLocks noGrp="1"/>
          </p:cNvSpPr>
          <p:nvPr/>
        </p:nvSpPr>
        <p:spPr>
          <a:xfrm>
            <a:off x="640080" y="4069080"/>
            <a:ext cx="1728765" cy="329184"/>
          </a:xfrm>
          <a:prstGeom prst="roundRect">
            <a:avLst>
              <a:gd name="adj" fmla="val 27778"/>
            </a:avLst>
          </a:prstGeom>
          <a:solidFill>
            <a:srgbClr val="1D2D42"/>
          </a:solidFill>
          <a:ln w="12700">
            <a:solidFill>
              <a:srgbClr val="2F8CFF"/>
            </a:solidFill>
            <a:prstDash val="solid"/>
          </a:ln>
        </p:spPr>
      </p:sp>
      <p:sp>
        <p:nvSpPr>
          <p:cNvPr id="24" name="Text 22">
            <a:extLst>
              <a:ext uri="{FF2B5EF4-FFF2-40B4-BE49-F238E27FC236}">
                <a16:creationId xmlns:a16="http://schemas.microsoft.com/office/drawing/2014/main" id="{10FAF709-0ABF-40DB-9B09-0AF92B2661A8}"/>
              </a:ext>
            </a:extLst>
          </p:cNvPr>
          <p:cNvSpPr>
            <a:spLocks noGrp="1"/>
          </p:cNvSpPr>
          <p:nvPr/>
        </p:nvSpPr>
        <p:spPr>
          <a:xfrm>
            <a:off x="640080" y="4069080"/>
            <a:ext cx="1728765" cy="329184"/>
          </a:xfrm>
          <a:prstGeom prst="rect">
            <a:avLst/>
          </a:prstGeom>
          <a:noFill/>
        </p:spPr>
        <p:txBody>
          <a:bodyPr wrap="square" lIns="0" tIns="0" rIns="0" bIns="0" anchor="ctr"/>
          <a:lstStyle/>
          <a:p>
            <a:pPr marL="0" indent="0" algn="ctr">
              <a:buNone/>
            </a:pPr>
            <a:r>
              <a:rPr sz="1200" b="1">
                <a:solidFill>
                  <a:srgbClr val="2F8CFF"/>
                </a:solidFill>
                <a:latin typeface="Calibri"/>
                <a:ea typeface="Calibri"/>
                <a:cs typeface="Calibri"/>
              </a:rPr>
              <a:t>640,626 invocations</a:t>
            </a:r>
            <a:endParaRPr sz="1200"/>
          </a:p>
        </p:txBody>
      </p:sp>
      <p:sp>
        <p:nvSpPr>
          <p:cNvPr id="25" name="Text 23">
            <a:extLst>
              <a:ext uri="{FF2B5EF4-FFF2-40B4-BE49-F238E27FC236}">
                <a16:creationId xmlns:a16="http://schemas.microsoft.com/office/drawing/2014/main" id="{D471A4C1-5A87-4C13-A05F-B7A8D1D6EC82}"/>
              </a:ext>
            </a:extLst>
          </p:cNvPr>
          <p:cNvSpPr>
            <a:spLocks noGrp="1"/>
          </p:cNvSpPr>
          <p:nvPr/>
        </p:nvSpPr>
        <p:spPr>
          <a:xfrm>
            <a:off x="640080"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Largest single application in the cost table.</a:t>
            </a:r>
            <a:endParaRPr sz="1200"/>
          </a:p>
        </p:txBody>
      </p:sp>
      <p:sp>
        <p:nvSpPr>
          <p:cNvPr id="26" name="Shape 24">
            <a:extLst>
              <a:ext uri="{FF2B5EF4-FFF2-40B4-BE49-F238E27FC236}">
                <a16:creationId xmlns:a16="http://schemas.microsoft.com/office/drawing/2014/main" id="{41F27117-F997-460F-BED0-8A055765792E}"/>
              </a:ext>
            </a:extLst>
          </p:cNvPr>
          <p:cNvSpPr>
            <a:spLocks noGrp="1"/>
          </p:cNvSpPr>
          <p:nvPr/>
        </p:nvSpPr>
        <p:spPr>
          <a:xfrm>
            <a:off x="2752893" y="1618488"/>
            <a:ext cx="2094525" cy="3977640"/>
          </a:xfrm>
          <a:prstGeom prst="roundRect">
            <a:avLst>
              <a:gd name="adj" fmla="val 2619"/>
            </a:avLst>
          </a:prstGeom>
          <a:solidFill>
            <a:srgbClr val="121B2D"/>
          </a:solidFill>
          <a:ln w="12700">
            <a:solidFill>
              <a:srgbClr val="23304A"/>
            </a:solidFill>
            <a:prstDash val="solid"/>
          </a:ln>
        </p:spPr>
      </p:sp>
      <p:sp>
        <p:nvSpPr>
          <p:cNvPr id="27" name="Shape 25">
            <a:extLst>
              <a:ext uri="{FF2B5EF4-FFF2-40B4-BE49-F238E27FC236}">
                <a16:creationId xmlns:a16="http://schemas.microsoft.com/office/drawing/2014/main" id="{36166351-40FF-4427-A999-66C3CEAE2603}"/>
              </a:ext>
            </a:extLst>
          </p:cNvPr>
          <p:cNvSpPr>
            <a:spLocks noGrp="1"/>
          </p:cNvSpPr>
          <p:nvPr/>
        </p:nvSpPr>
        <p:spPr>
          <a:xfrm>
            <a:off x="2752893" y="1618488"/>
            <a:ext cx="2094525" cy="45720"/>
          </a:xfrm>
          <a:prstGeom prst="rect">
            <a:avLst/>
          </a:prstGeom>
          <a:solidFill>
            <a:srgbClr val="3DD9EB"/>
          </a:solidFill>
          <a:ln w="12700">
            <a:solidFill>
              <a:srgbClr val="3DD9EB"/>
            </a:solidFill>
            <a:prstDash val="solid"/>
          </a:ln>
        </p:spPr>
      </p:sp>
      <p:sp>
        <p:nvSpPr>
          <p:cNvPr id="28" name="Text 26">
            <a:extLst>
              <a:ext uri="{FF2B5EF4-FFF2-40B4-BE49-F238E27FC236}">
                <a16:creationId xmlns:a16="http://schemas.microsoft.com/office/drawing/2014/main" id="{133F0F01-46B0-4E50-B40C-77BC375B1B74}"/>
              </a:ext>
            </a:extLst>
          </p:cNvPr>
          <p:cNvSpPr>
            <a:spLocks noGrp="1"/>
          </p:cNvSpPr>
          <p:nvPr/>
        </p:nvSpPr>
        <p:spPr>
          <a:xfrm>
            <a:off x="2935773"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AGENT</a:t>
            </a:r>
            <a:endParaRPr sz="1200"/>
          </a:p>
        </p:txBody>
      </p:sp>
      <p:sp>
        <p:nvSpPr>
          <p:cNvPr id="29" name="Text 27">
            <a:extLst>
              <a:ext uri="{FF2B5EF4-FFF2-40B4-BE49-F238E27FC236}">
                <a16:creationId xmlns:a16="http://schemas.microsoft.com/office/drawing/2014/main" id="{DA97A973-A5D9-4AEF-A6FF-168844C900FE}"/>
              </a:ext>
            </a:extLst>
          </p:cNvPr>
          <p:cNvSpPr>
            <a:spLocks noGrp="1"/>
          </p:cNvSpPr>
          <p:nvPr/>
        </p:nvSpPr>
        <p:spPr>
          <a:xfrm>
            <a:off x="2935773"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$10,747</a:t>
            </a:r>
            <a:endParaRPr sz="2800"/>
          </a:p>
        </p:txBody>
      </p:sp>
      <p:sp>
        <p:nvSpPr>
          <p:cNvPr id="30" name="Text 28">
            <a:extLst>
              <a:ext uri="{FF2B5EF4-FFF2-40B4-BE49-F238E27FC236}">
                <a16:creationId xmlns:a16="http://schemas.microsoft.com/office/drawing/2014/main" id="{921E6411-1576-4117-8C1B-E47D99DEEF08}"/>
              </a:ext>
            </a:extLst>
          </p:cNvPr>
          <p:cNvSpPr>
            <a:spLocks noGrp="1"/>
          </p:cNvSpPr>
          <p:nvPr/>
        </p:nvSpPr>
        <p:spPr>
          <a:xfrm>
            <a:off x="2935773" y="2734056"/>
            <a:ext cx="1728765" cy="237744"/>
          </a:xfrm>
          <a:prstGeom prst="rect">
            <a:avLst/>
          </a:prstGeom>
          <a:noFill/>
        </p:spPr>
        <p:txBody>
          <a:bodyPr wrap="square" lIns="0" tIns="0" rIns="0" bIns="0" anchor="ctr"/>
          <a:lstStyle/>
          <a:p>
            <a:pPr marL="0" indent="0">
              <a:buNone/>
            </a:pPr>
            <a:r>
              <a:rPr sz="1200" b="1">
                <a:solidFill>
                  <a:srgbClr val="3DD9EB"/>
                </a:solidFill>
                <a:latin typeface="Calibri"/>
                <a:ea typeface="Calibri"/>
                <a:cs typeface="Calibri"/>
              </a:rPr>
              <a:t>24.7% of estimated spend</a:t>
            </a:r>
            <a:endParaRPr sz="1200"/>
          </a:p>
        </p:txBody>
      </p:sp>
      <p:sp>
        <p:nvSpPr>
          <p:cNvPr id="31" name="Shape 29">
            <a:extLst>
              <a:ext uri="{FF2B5EF4-FFF2-40B4-BE49-F238E27FC236}">
                <a16:creationId xmlns:a16="http://schemas.microsoft.com/office/drawing/2014/main" id="{68B39D5C-5289-4D0D-967E-D28F5274E966}"/>
              </a:ext>
            </a:extLst>
          </p:cNvPr>
          <p:cNvSpPr>
            <a:spLocks noGrp="1"/>
          </p:cNvSpPr>
          <p:nvPr/>
        </p:nvSpPr>
        <p:spPr>
          <a:xfrm>
            <a:off x="2935773" y="3081528"/>
            <a:ext cx="1728765" cy="9144"/>
          </a:xfrm>
          <a:prstGeom prst="rect">
            <a:avLst/>
          </a:prstGeom>
          <a:solidFill>
            <a:srgbClr val="23304A"/>
          </a:solidFill>
          <a:ln w="12700">
            <a:solidFill>
              <a:srgbClr val="23304A"/>
            </a:solidFill>
            <a:prstDash val="solid"/>
          </a:ln>
        </p:spPr>
      </p:sp>
      <p:sp>
        <p:nvSpPr>
          <p:cNvPr id="32" name="Text 30">
            <a:extLst>
              <a:ext uri="{FF2B5EF4-FFF2-40B4-BE49-F238E27FC236}">
                <a16:creationId xmlns:a16="http://schemas.microsoft.com/office/drawing/2014/main" id="{EA6F6EF1-9970-428C-8C04-016957ED80B3}"/>
              </a:ext>
            </a:extLst>
          </p:cNvPr>
          <p:cNvSpPr>
            <a:spLocks noGrp="1"/>
          </p:cNvSpPr>
          <p:nvPr/>
        </p:nvSpPr>
        <p:spPr>
          <a:xfrm>
            <a:off x="2935773"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VENDOR</a:t>
            </a:r>
            <a:endParaRPr sz="1200"/>
          </a:p>
        </p:txBody>
      </p:sp>
      <p:sp>
        <p:nvSpPr>
          <p:cNvPr id="33" name="Text 31">
            <a:extLst>
              <a:ext uri="{FF2B5EF4-FFF2-40B4-BE49-F238E27FC236}">
                <a16:creationId xmlns:a16="http://schemas.microsoft.com/office/drawing/2014/main" id="{95007B1C-57BB-4699-BEBC-09FB601708BF}"/>
              </a:ext>
            </a:extLst>
          </p:cNvPr>
          <p:cNvSpPr>
            <a:spLocks noGrp="1"/>
          </p:cNvSpPr>
          <p:nvPr/>
        </p:nvSpPr>
        <p:spPr>
          <a:xfrm>
            <a:off x="3800155"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Claude</a:t>
            </a:r>
            <a:endParaRPr sz="1300"/>
          </a:p>
        </p:txBody>
      </p:sp>
      <p:sp>
        <p:nvSpPr>
          <p:cNvPr id="34" name="Text 32">
            <a:extLst>
              <a:ext uri="{FF2B5EF4-FFF2-40B4-BE49-F238E27FC236}">
                <a16:creationId xmlns:a16="http://schemas.microsoft.com/office/drawing/2014/main" id="{017D6062-1CA6-4176-87C4-F0C4A479E5CF}"/>
              </a:ext>
            </a:extLst>
          </p:cNvPr>
          <p:cNvSpPr>
            <a:spLocks noGrp="1"/>
          </p:cNvSpPr>
          <p:nvPr/>
        </p:nvSpPr>
        <p:spPr>
          <a:xfrm>
            <a:off x="2935773"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TEAM</a:t>
            </a:r>
            <a:endParaRPr sz="1200"/>
          </a:p>
        </p:txBody>
      </p:sp>
      <p:sp>
        <p:nvSpPr>
          <p:cNvPr id="35" name="Text 33">
            <a:extLst>
              <a:ext uri="{FF2B5EF4-FFF2-40B4-BE49-F238E27FC236}">
                <a16:creationId xmlns:a16="http://schemas.microsoft.com/office/drawing/2014/main" id="{E6877D6C-7381-4CD7-886B-FA871817150F}"/>
              </a:ext>
            </a:extLst>
          </p:cNvPr>
          <p:cNvSpPr>
            <a:spLocks noGrp="1"/>
          </p:cNvSpPr>
          <p:nvPr/>
        </p:nvSpPr>
        <p:spPr>
          <a:xfrm>
            <a:off x="3800155"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insait</a:t>
            </a:r>
            <a:endParaRPr sz="1300"/>
          </a:p>
        </p:txBody>
      </p:sp>
      <p:sp>
        <p:nvSpPr>
          <p:cNvPr id="36" name="Shape 34">
            <a:extLst>
              <a:ext uri="{FF2B5EF4-FFF2-40B4-BE49-F238E27FC236}">
                <a16:creationId xmlns:a16="http://schemas.microsoft.com/office/drawing/2014/main" id="{780B8A71-D1F6-4767-96A9-E0C76BC99625}"/>
              </a:ext>
            </a:extLst>
          </p:cNvPr>
          <p:cNvSpPr>
            <a:spLocks noGrp="1"/>
          </p:cNvSpPr>
          <p:nvPr/>
        </p:nvSpPr>
        <p:spPr>
          <a:xfrm>
            <a:off x="2935773" y="4069080"/>
            <a:ext cx="1728765" cy="329184"/>
          </a:xfrm>
          <a:prstGeom prst="roundRect">
            <a:avLst>
              <a:gd name="adj" fmla="val 27778"/>
            </a:avLst>
          </a:prstGeom>
          <a:solidFill>
            <a:srgbClr val="1D2D42"/>
          </a:solidFill>
          <a:ln w="12700">
            <a:solidFill>
              <a:srgbClr val="3DD9EB"/>
            </a:solidFill>
            <a:prstDash val="solid"/>
          </a:ln>
        </p:spPr>
      </p:sp>
      <p:sp>
        <p:nvSpPr>
          <p:cNvPr id="37" name="Text 35">
            <a:extLst>
              <a:ext uri="{FF2B5EF4-FFF2-40B4-BE49-F238E27FC236}">
                <a16:creationId xmlns:a16="http://schemas.microsoft.com/office/drawing/2014/main" id="{99A22888-A96C-458E-B512-48BACD7A9FE3}"/>
              </a:ext>
            </a:extLst>
          </p:cNvPr>
          <p:cNvSpPr>
            <a:spLocks noGrp="1"/>
          </p:cNvSpPr>
          <p:nvPr/>
        </p:nvSpPr>
        <p:spPr>
          <a:xfrm>
            <a:off x="2935773" y="4069080"/>
            <a:ext cx="1728765" cy="329184"/>
          </a:xfrm>
          <a:prstGeom prst="rect">
            <a:avLst/>
          </a:prstGeom>
          <a:noFill/>
        </p:spPr>
        <p:txBody>
          <a:bodyPr wrap="square" lIns="0" tIns="0" rIns="0" bIns="0" anchor="ctr"/>
          <a:lstStyle/>
          <a:p>
            <a:pPr marL="0" indent="0" algn="ctr">
              <a:buNone/>
            </a:pPr>
            <a:r>
              <a:rPr sz="1200" b="1">
                <a:solidFill>
                  <a:srgbClr val="3DD9EB"/>
                </a:solidFill>
                <a:latin typeface="Calibri"/>
                <a:ea typeface="Calibri"/>
                <a:cs typeface="Calibri"/>
              </a:rPr>
              <a:t>74,475 invocations</a:t>
            </a:r>
            <a:endParaRPr sz="1200"/>
          </a:p>
        </p:txBody>
      </p:sp>
      <p:sp>
        <p:nvSpPr>
          <p:cNvPr id="38" name="Text 36">
            <a:extLst>
              <a:ext uri="{FF2B5EF4-FFF2-40B4-BE49-F238E27FC236}">
                <a16:creationId xmlns:a16="http://schemas.microsoft.com/office/drawing/2014/main" id="{D8838DEB-9355-4BF4-B668-BC3CA2A62339}"/>
              </a:ext>
            </a:extLst>
          </p:cNvPr>
          <p:cNvSpPr>
            <a:spLocks noGrp="1"/>
          </p:cNvSpPr>
          <p:nvPr/>
        </p:nvSpPr>
        <p:spPr>
          <a:xfrm>
            <a:off x="2935773"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High spend relative to request volume.</a:t>
            </a:r>
            <a:endParaRPr sz="1200"/>
          </a:p>
        </p:txBody>
      </p:sp>
      <p:sp>
        <p:nvSpPr>
          <p:cNvPr id="39" name="Shape 37">
            <a:extLst>
              <a:ext uri="{FF2B5EF4-FFF2-40B4-BE49-F238E27FC236}">
                <a16:creationId xmlns:a16="http://schemas.microsoft.com/office/drawing/2014/main" id="{E5C6F2F0-5D22-4436-B4F4-F0E5BD490937}"/>
              </a:ext>
            </a:extLst>
          </p:cNvPr>
          <p:cNvSpPr>
            <a:spLocks noGrp="1"/>
          </p:cNvSpPr>
          <p:nvPr/>
        </p:nvSpPr>
        <p:spPr>
          <a:xfrm>
            <a:off x="5048585" y="1618488"/>
            <a:ext cx="2094525" cy="3977640"/>
          </a:xfrm>
          <a:prstGeom prst="roundRect">
            <a:avLst>
              <a:gd name="adj" fmla="val 2619"/>
            </a:avLst>
          </a:prstGeom>
          <a:solidFill>
            <a:srgbClr val="121B2D"/>
          </a:solidFill>
          <a:ln w="12700">
            <a:solidFill>
              <a:srgbClr val="23304A"/>
            </a:solidFill>
            <a:prstDash val="solid"/>
          </a:ln>
        </p:spPr>
      </p:sp>
      <p:sp>
        <p:nvSpPr>
          <p:cNvPr id="40" name="Shape 38">
            <a:extLst>
              <a:ext uri="{FF2B5EF4-FFF2-40B4-BE49-F238E27FC236}">
                <a16:creationId xmlns:a16="http://schemas.microsoft.com/office/drawing/2014/main" id="{063DD483-FED7-4533-BE97-B64C0198EB61}"/>
              </a:ext>
            </a:extLst>
          </p:cNvPr>
          <p:cNvSpPr>
            <a:spLocks noGrp="1"/>
          </p:cNvSpPr>
          <p:nvPr/>
        </p:nvSpPr>
        <p:spPr>
          <a:xfrm>
            <a:off x="5048585" y="1618488"/>
            <a:ext cx="2094525" cy="45720"/>
          </a:xfrm>
          <a:prstGeom prst="rect">
            <a:avLst/>
          </a:prstGeom>
          <a:solidFill>
            <a:srgbClr val="FF9F43"/>
          </a:solidFill>
          <a:ln w="12700">
            <a:solidFill>
              <a:srgbClr val="FF9F43"/>
            </a:solidFill>
            <a:prstDash val="solid"/>
          </a:ln>
        </p:spPr>
      </p:sp>
      <p:sp>
        <p:nvSpPr>
          <p:cNvPr id="41" name="Text 39">
            <a:extLst>
              <a:ext uri="{FF2B5EF4-FFF2-40B4-BE49-F238E27FC236}">
                <a16:creationId xmlns:a16="http://schemas.microsoft.com/office/drawing/2014/main" id="{AEA35D83-94EF-49E0-B366-985929FF666B}"/>
              </a:ext>
            </a:extLst>
          </p:cNvPr>
          <p:cNvSpPr>
            <a:spLocks noGrp="1"/>
          </p:cNvSpPr>
          <p:nvPr/>
        </p:nvSpPr>
        <p:spPr>
          <a:xfrm>
            <a:off x="5231465"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CLAIMS-COPILOT</a:t>
            </a:r>
            <a:endParaRPr sz="1200"/>
          </a:p>
        </p:txBody>
      </p:sp>
      <p:sp>
        <p:nvSpPr>
          <p:cNvPr id="42" name="Text 40">
            <a:extLst>
              <a:ext uri="{FF2B5EF4-FFF2-40B4-BE49-F238E27FC236}">
                <a16:creationId xmlns:a16="http://schemas.microsoft.com/office/drawing/2014/main" id="{F128C4FC-354D-4E96-8499-A028230F74FD}"/>
              </a:ext>
            </a:extLst>
          </p:cNvPr>
          <p:cNvSpPr>
            <a:spLocks noGrp="1"/>
          </p:cNvSpPr>
          <p:nvPr/>
        </p:nvSpPr>
        <p:spPr>
          <a:xfrm>
            <a:off x="5231465"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$5,345</a:t>
            </a:r>
            <a:endParaRPr sz="2800"/>
          </a:p>
        </p:txBody>
      </p:sp>
      <p:sp>
        <p:nvSpPr>
          <p:cNvPr id="43" name="Text 41">
            <a:extLst>
              <a:ext uri="{FF2B5EF4-FFF2-40B4-BE49-F238E27FC236}">
                <a16:creationId xmlns:a16="http://schemas.microsoft.com/office/drawing/2014/main" id="{C2D3443A-23B4-4FD1-9BFD-E88EDC51225A}"/>
              </a:ext>
            </a:extLst>
          </p:cNvPr>
          <p:cNvSpPr>
            <a:spLocks noGrp="1"/>
          </p:cNvSpPr>
          <p:nvPr/>
        </p:nvSpPr>
        <p:spPr>
          <a:xfrm>
            <a:off x="5231465" y="2734056"/>
            <a:ext cx="1728765" cy="237744"/>
          </a:xfrm>
          <a:prstGeom prst="rect">
            <a:avLst/>
          </a:prstGeom>
          <a:noFill/>
        </p:spPr>
        <p:txBody>
          <a:bodyPr wrap="square" lIns="0" tIns="0" rIns="0" bIns="0" anchor="ctr"/>
          <a:lstStyle/>
          <a:p>
            <a:pPr marL="0" indent="0">
              <a:buNone/>
            </a:pPr>
            <a:r>
              <a:rPr sz="1200" b="1">
                <a:solidFill>
                  <a:srgbClr val="FF9F43"/>
                </a:solidFill>
                <a:latin typeface="Calibri"/>
                <a:ea typeface="Calibri"/>
                <a:cs typeface="Calibri"/>
              </a:rPr>
              <a:t>12.3% of estimated spend</a:t>
            </a:r>
            <a:endParaRPr sz="1200"/>
          </a:p>
        </p:txBody>
      </p:sp>
      <p:sp>
        <p:nvSpPr>
          <p:cNvPr id="44" name="Shape 42">
            <a:extLst>
              <a:ext uri="{FF2B5EF4-FFF2-40B4-BE49-F238E27FC236}">
                <a16:creationId xmlns:a16="http://schemas.microsoft.com/office/drawing/2014/main" id="{C8F613E2-6157-4A3A-ACA1-F4B67E1FF522}"/>
              </a:ext>
            </a:extLst>
          </p:cNvPr>
          <p:cNvSpPr>
            <a:spLocks noGrp="1"/>
          </p:cNvSpPr>
          <p:nvPr/>
        </p:nvSpPr>
        <p:spPr>
          <a:xfrm>
            <a:off x="5231465" y="3081528"/>
            <a:ext cx="1728765" cy="9144"/>
          </a:xfrm>
          <a:prstGeom prst="rect">
            <a:avLst/>
          </a:prstGeom>
          <a:solidFill>
            <a:srgbClr val="23304A"/>
          </a:solidFill>
          <a:ln w="12700">
            <a:solidFill>
              <a:srgbClr val="23304A"/>
            </a:solidFill>
            <a:prstDash val="solid"/>
          </a:ln>
        </p:spPr>
      </p:sp>
      <p:sp>
        <p:nvSpPr>
          <p:cNvPr id="45" name="Text 43">
            <a:extLst>
              <a:ext uri="{FF2B5EF4-FFF2-40B4-BE49-F238E27FC236}">
                <a16:creationId xmlns:a16="http://schemas.microsoft.com/office/drawing/2014/main" id="{4ED3DC88-7D27-422D-A317-BAF27F158390}"/>
              </a:ext>
            </a:extLst>
          </p:cNvPr>
          <p:cNvSpPr>
            <a:spLocks noGrp="1"/>
          </p:cNvSpPr>
          <p:nvPr/>
        </p:nvSpPr>
        <p:spPr>
          <a:xfrm>
            <a:off x="5231465"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VENDOR</a:t>
            </a:r>
            <a:endParaRPr sz="1200"/>
          </a:p>
        </p:txBody>
      </p:sp>
      <p:sp>
        <p:nvSpPr>
          <p:cNvPr id="46" name="Text 44">
            <a:extLst>
              <a:ext uri="{FF2B5EF4-FFF2-40B4-BE49-F238E27FC236}">
                <a16:creationId xmlns:a16="http://schemas.microsoft.com/office/drawing/2014/main" id="{03CA7875-4F23-4187-8AD2-F27898FE90C6}"/>
              </a:ext>
            </a:extLst>
          </p:cNvPr>
          <p:cNvSpPr>
            <a:spLocks noGrp="1"/>
          </p:cNvSpPr>
          <p:nvPr/>
        </p:nvSpPr>
        <p:spPr>
          <a:xfrm>
            <a:off x="6095848" y="3209544"/>
            <a:ext cx="864382" cy="274320"/>
          </a:xfrm>
          <a:prstGeom prst="rect">
            <a:avLst/>
          </a:prstGeom>
          <a:noFill/>
        </p:spPr>
        <p:txBody>
          <a:bodyPr wrap="none" lIns="0" tIns="0" rIns="0" bIns="0" anchor="ctr">
            <a:noAutofit/>
          </a:bodyPr>
          <a:lstStyle/>
          <a:p>
            <a:pPr marL="0" indent="0" algn="r">
              <a:buNone/>
              <a:defRPr sz="1350" b="1">
                <a:solidFill>
                  <a:srgbClr val="F4F7FB"/>
                </a:solidFill>
                <a:latin typeface="Calibri"/>
                <a:ea typeface="Calibri"/>
                <a:cs typeface="Calibri"/>
              </a:defRPr>
            </a:pPr>
            <a:r>
              <a:rPr sz="1350" b="1">
                <a:solidFill>
                  <a:srgbClr val="F4F7FB"/>
                </a:solidFill>
                <a:latin typeface="Calibri"/>
                <a:ea typeface="Calibri"/>
                <a:cs typeface="Calibri"/>
              </a:rPr>
              <a:t>Azure</a:t>
            </a:r>
            <a:endParaRPr sz="1300"/>
          </a:p>
        </p:txBody>
      </p:sp>
      <p:sp>
        <p:nvSpPr>
          <p:cNvPr id="47" name="Text 45">
            <a:extLst>
              <a:ext uri="{FF2B5EF4-FFF2-40B4-BE49-F238E27FC236}">
                <a16:creationId xmlns:a16="http://schemas.microsoft.com/office/drawing/2014/main" id="{DCE73FFF-E351-40B9-BD5B-9799636DCC88}"/>
              </a:ext>
            </a:extLst>
          </p:cNvPr>
          <p:cNvSpPr>
            <a:spLocks noGrp="1"/>
          </p:cNvSpPr>
          <p:nvPr/>
        </p:nvSpPr>
        <p:spPr>
          <a:xfrm>
            <a:off x="5231465"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TEAM</a:t>
            </a:r>
            <a:endParaRPr sz="1200"/>
          </a:p>
        </p:txBody>
      </p:sp>
      <p:sp>
        <p:nvSpPr>
          <p:cNvPr id="48" name="Text 46">
            <a:extLst>
              <a:ext uri="{FF2B5EF4-FFF2-40B4-BE49-F238E27FC236}">
                <a16:creationId xmlns:a16="http://schemas.microsoft.com/office/drawing/2014/main" id="{E52FECF0-2101-4A4B-BE58-9A64387CC129}"/>
              </a:ext>
            </a:extLst>
          </p:cNvPr>
          <p:cNvSpPr>
            <a:spLocks noGrp="1"/>
          </p:cNvSpPr>
          <p:nvPr/>
        </p:nvSpPr>
        <p:spPr>
          <a:xfrm>
            <a:off x="6095848"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ai-factory</a:t>
            </a:r>
            <a:endParaRPr sz="1300"/>
          </a:p>
        </p:txBody>
      </p:sp>
      <p:sp>
        <p:nvSpPr>
          <p:cNvPr id="49" name="Shape 47">
            <a:extLst>
              <a:ext uri="{FF2B5EF4-FFF2-40B4-BE49-F238E27FC236}">
                <a16:creationId xmlns:a16="http://schemas.microsoft.com/office/drawing/2014/main" id="{11076722-ED2F-46D9-9A1F-8A09E43FEF12}"/>
              </a:ext>
            </a:extLst>
          </p:cNvPr>
          <p:cNvSpPr>
            <a:spLocks noGrp="1"/>
          </p:cNvSpPr>
          <p:nvPr/>
        </p:nvSpPr>
        <p:spPr>
          <a:xfrm>
            <a:off x="5231465" y="4069080"/>
            <a:ext cx="1728765" cy="329184"/>
          </a:xfrm>
          <a:prstGeom prst="roundRect">
            <a:avLst>
              <a:gd name="adj" fmla="val 27778"/>
            </a:avLst>
          </a:prstGeom>
          <a:solidFill>
            <a:srgbClr val="1D2D42"/>
          </a:solidFill>
          <a:ln w="12700">
            <a:solidFill>
              <a:srgbClr val="FF9F43"/>
            </a:solidFill>
            <a:prstDash val="solid"/>
          </a:ln>
        </p:spPr>
      </p:sp>
      <p:sp>
        <p:nvSpPr>
          <p:cNvPr id="50" name="Text 48">
            <a:extLst>
              <a:ext uri="{FF2B5EF4-FFF2-40B4-BE49-F238E27FC236}">
                <a16:creationId xmlns:a16="http://schemas.microsoft.com/office/drawing/2014/main" id="{7A2D0BFF-A274-4DF3-AB32-9E6C02B3D66E}"/>
              </a:ext>
            </a:extLst>
          </p:cNvPr>
          <p:cNvSpPr>
            <a:spLocks noGrp="1"/>
          </p:cNvSpPr>
          <p:nvPr/>
        </p:nvSpPr>
        <p:spPr>
          <a:xfrm>
            <a:off x="5231465" y="4069080"/>
            <a:ext cx="1728765" cy="329184"/>
          </a:xfrm>
          <a:prstGeom prst="rect">
            <a:avLst/>
          </a:prstGeom>
          <a:noFill/>
        </p:spPr>
        <p:txBody>
          <a:bodyPr wrap="square" lIns="0" tIns="0" rIns="0" bIns="0" anchor="ctr"/>
          <a:lstStyle/>
          <a:p>
            <a:pPr marL="0" indent="0" algn="ctr">
              <a:buNone/>
            </a:pPr>
            <a:r>
              <a:rPr sz="1200" b="1">
                <a:solidFill>
                  <a:srgbClr val="FF9F43"/>
                </a:solidFill>
                <a:latin typeface="Calibri"/>
                <a:ea typeface="Calibri"/>
                <a:cs typeface="Calibri"/>
              </a:rPr>
              <a:t>274,015 invocations</a:t>
            </a:r>
            <a:endParaRPr sz="1200"/>
          </a:p>
        </p:txBody>
      </p:sp>
      <p:sp>
        <p:nvSpPr>
          <p:cNvPr id="51" name="Text 49">
            <a:extLst>
              <a:ext uri="{FF2B5EF4-FFF2-40B4-BE49-F238E27FC236}">
                <a16:creationId xmlns:a16="http://schemas.microsoft.com/office/drawing/2014/main" id="{3693321A-230B-465E-BD50-03086EAE83CD}"/>
              </a:ext>
            </a:extLst>
          </p:cNvPr>
          <p:cNvSpPr>
            <a:spLocks noGrp="1"/>
          </p:cNvSpPr>
          <p:nvPr/>
        </p:nvSpPr>
        <p:spPr>
          <a:xfrm>
            <a:off x="5231465"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Primary Azure application cost driver.</a:t>
            </a:r>
            <a:endParaRPr sz="1200"/>
          </a:p>
        </p:txBody>
      </p:sp>
      <p:sp>
        <p:nvSpPr>
          <p:cNvPr id="52" name="Shape 50">
            <a:extLst>
              <a:ext uri="{FF2B5EF4-FFF2-40B4-BE49-F238E27FC236}">
                <a16:creationId xmlns:a16="http://schemas.microsoft.com/office/drawing/2014/main" id="{F0BCAA03-68BF-4F2D-BE33-094079F3276B}"/>
              </a:ext>
            </a:extLst>
          </p:cNvPr>
          <p:cNvSpPr>
            <a:spLocks noGrp="1"/>
          </p:cNvSpPr>
          <p:nvPr/>
        </p:nvSpPr>
        <p:spPr>
          <a:xfrm>
            <a:off x="7344278" y="1618488"/>
            <a:ext cx="2094525" cy="3977640"/>
          </a:xfrm>
          <a:prstGeom prst="roundRect">
            <a:avLst>
              <a:gd name="adj" fmla="val 2619"/>
            </a:avLst>
          </a:prstGeom>
          <a:solidFill>
            <a:srgbClr val="121B2D"/>
          </a:solidFill>
          <a:ln w="12700">
            <a:solidFill>
              <a:srgbClr val="23304A"/>
            </a:solidFill>
            <a:prstDash val="solid"/>
          </a:ln>
        </p:spPr>
      </p:sp>
      <p:sp>
        <p:nvSpPr>
          <p:cNvPr id="53" name="Shape 51">
            <a:extLst>
              <a:ext uri="{FF2B5EF4-FFF2-40B4-BE49-F238E27FC236}">
                <a16:creationId xmlns:a16="http://schemas.microsoft.com/office/drawing/2014/main" id="{BCAC693E-904A-49B0-AC2D-0ADBA3FFAD6C}"/>
              </a:ext>
            </a:extLst>
          </p:cNvPr>
          <p:cNvSpPr>
            <a:spLocks noGrp="1"/>
          </p:cNvSpPr>
          <p:nvPr/>
        </p:nvSpPr>
        <p:spPr>
          <a:xfrm>
            <a:off x="7344278" y="1618488"/>
            <a:ext cx="2094525" cy="45720"/>
          </a:xfrm>
          <a:prstGeom prst="rect">
            <a:avLst/>
          </a:prstGeom>
          <a:solidFill>
            <a:srgbClr val="B07CFF"/>
          </a:solidFill>
          <a:ln w="12700">
            <a:solidFill>
              <a:srgbClr val="B07CFF"/>
            </a:solidFill>
            <a:prstDash val="solid"/>
          </a:ln>
        </p:spPr>
      </p:sp>
      <p:sp>
        <p:nvSpPr>
          <p:cNvPr id="54" name="Text 52">
            <a:extLst>
              <a:ext uri="{FF2B5EF4-FFF2-40B4-BE49-F238E27FC236}">
                <a16:creationId xmlns:a16="http://schemas.microsoft.com/office/drawing/2014/main" id="{FF04CA6B-2333-432A-9B23-0C5709E2541C}"/>
              </a:ext>
            </a:extLst>
          </p:cNvPr>
          <p:cNvSpPr>
            <a:spLocks noGrp="1"/>
          </p:cNvSpPr>
          <p:nvPr/>
        </p:nvSpPr>
        <p:spPr>
          <a:xfrm>
            <a:off x="7527158"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CLI</a:t>
            </a:r>
            <a:endParaRPr sz="1200"/>
          </a:p>
        </p:txBody>
      </p:sp>
      <p:sp>
        <p:nvSpPr>
          <p:cNvPr id="55" name="Text 53">
            <a:extLst>
              <a:ext uri="{FF2B5EF4-FFF2-40B4-BE49-F238E27FC236}">
                <a16:creationId xmlns:a16="http://schemas.microsoft.com/office/drawing/2014/main" id="{9B5C729A-45D2-49CD-ABA9-1C2C1A6C7D59}"/>
              </a:ext>
            </a:extLst>
          </p:cNvPr>
          <p:cNvSpPr>
            <a:spLocks noGrp="1"/>
          </p:cNvSpPr>
          <p:nvPr/>
        </p:nvSpPr>
        <p:spPr>
          <a:xfrm>
            <a:off x="7527158"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$4,188</a:t>
            </a:r>
            <a:endParaRPr sz="2800"/>
          </a:p>
        </p:txBody>
      </p:sp>
      <p:sp>
        <p:nvSpPr>
          <p:cNvPr id="56" name="Text 54">
            <a:extLst>
              <a:ext uri="{FF2B5EF4-FFF2-40B4-BE49-F238E27FC236}">
                <a16:creationId xmlns:a16="http://schemas.microsoft.com/office/drawing/2014/main" id="{261A26D8-0827-4133-B1A3-82D273FDDF8A}"/>
              </a:ext>
            </a:extLst>
          </p:cNvPr>
          <p:cNvSpPr>
            <a:spLocks noGrp="1"/>
          </p:cNvSpPr>
          <p:nvPr/>
        </p:nvSpPr>
        <p:spPr>
          <a:xfrm>
            <a:off x="7527158" y="2734056"/>
            <a:ext cx="1728765" cy="237744"/>
          </a:xfrm>
          <a:prstGeom prst="rect">
            <a:avLst/>
          </a:prstGeom>
          <a:noFill/>
        </p:spPr>
        <p:txBody>
          <a:bodyPr wrap="square" lIns="0" tIns="0" rIns="0" bIns="0" anchor="ctr"/>
          <a:lstStyle/>
          <a:p>
            <a:pPr marL="0" indent="0">
              <a:buNone/>
            </a:pPr>
            <a:r>
              <a:rPr sz="1200" b="1">
                <a:solidFill>
                  <a:srgbClr val="B07CFF"/>
                </a:solidFill>
                <a:latin typeface="Calibri"/>
                <a:ea typeface="Calibri"/>
                <a:cs typeface="Calibri"/>
              </a:rPr>
              <a:t>9.6% of estimated spend</a:t>
            </a:r>
            <a:endParaRPr sz="1200"/>
          </a:p>
        </p:txBody>
      </p:sp>
      <p:sp>
        <p:nvSpPr>
          <p:cNvPr id="57" name="Shape 55">
            <a:extLst>
              <a:ext uri="{FF2B5EF4-FFF2-40B4-BE49-F238E27FC236}">
                <a16:creationId xmlns:a16="http://schemas.microsoft.com/office/drawing/2014/main" id="{D02BA2BD-33F5-4D03-A6EA-438F997CEDA3}"/>
              </a:ext>
            </a:extLst>
          </p:cNvPr>
          <p:cNvSpPr>
            <a:spLocks noGrp="1"/>
          </p:cNvSpPr>
          <p:nvPr/>
        </p:nvSpPr>
        <p:spPr>
          <a:xfrm>
            <a:off x="7527158" y="3081528"/>
            <a:ext cx="1728765" cy="9144"/>
          </a:xfrm>
          <a:prstGeom prst="rect">
            <a:avLst/>
          </a:prstGeom>
          <a:solidFill>
            <a:srgbClr val="23304A"/>
          </a:solidFill>
          <a:ln w="12700">
            <a:solidFill>
              <a:srgbClr val="23304A"/>
            </a:solidFill>
            <a:prstDash val="solid"/>
          </a:ln>
        </p:spPr>
      </p:sp>
      <p:sp>
        <p:nvSpPr>
          <p:cNvPr id="58" name="Text 56">
            <a:extLst>
              <a:ext uri="{FF2B5EF4-FFF2-40B4-BE49-F238E27FC236}">
                <a16:creationId xmlns:a16="http://schemas.microsoft.com/office/drawing/2014/main" id="{7D0F9403-F9E2-48A4-90C6-AA3EA9974DC2}"/>
              </a:ext>
            </a:extLst>
          </p:cNvPr>
          <p:cNvSpPr>
            <a:spLocks noGrp="1"/>
          </p:cNvSpPr>
          <p:nvPr/>
        </p:nvSpPr>
        <p:spPr>
          <a:xfrm>
            <a:off x="7527158"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VENDOR</a:t>
            </a:r>
            <a:endParaRPr sz="1200"/>
          </a:p>
        </p:txBody>
      </p:sp>
      <p:sp>
        <p:nvSpPr>
          <p:cNvPr id="59" name="Text 57">
            <a:extLst>
              <a:ext uri="{FF2B5EF4-FFF2-40B4-BE49-F238E27FC236}">
                <a16:creationId xmlns:a16="http://schemas.microsoft.com/office/drawing/2014/main" id="{E6E55FEA-C8F9-4F44-B33C-5639C83374B0}"/>
              </a:ext>
            </a:extLst>
          </p:cNvPr>
          <p:cNvSpPr>
            <a:spLocks noGrp="1"/>
          </p:cNvSpPr>
          <p:nvPr/>
        </p:nvSpPr>
        <p:spPr>
          <a:xfrm>
            <a:off x="8391540" y="3209544"/>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Claude</a:t>
            </a:r>
            <a:endParaRPr sz="1300"/>
          </a:p>
        </p:txBody>
      </p:sp>
      <p:sp>
        <p:nvSpPr>
          <p:cNvPr id="60" name="Text 58">
            <a:extLst>
              <a:ext uri="{FF2B5EF4-FFF2-40B4-BE49-F238E27FC236}">
                <a16:creationId xmlns:a16="http://schemas.microsoft.com/office/drawing/2014/main" id="{8F5826AD-6329-4215-B962-2FA79874E6C5}"/>
              </a:ext>
            </a:extLst>
          </p:cNvPr>
          <p:cNvSpPr>
            <a:spLocks noGrp="1"/>
          </p:cNvSpPr>
          <p:nvPr/>
        </p:nvSpPr>
        <p:spPr>
          <a:xfrm>
            <a:off x="7527158"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TEAM</a:t>
            </a:r>
            <a:endParaRPr sz="1200"/>
          </a:p>
        </p:txBody>
      </p:sp>
      <p:sp>
        <p:nvSpPr>
          <p:cNvPr id="61" name="Text 59">
            <a:extLst>
              <a:ext uri="{FF2B5EF4-FFF2-40B4-BE49-F238E27FC236}">
                <a16:creationId xmlns:a16="http://schemas.microsoft.com/office/drawing/2014/main" id="{745E4055-AD13-4971-A9B6-791A5719FC74}"/>
              </a:ext>
            </a:extLst>
          </p:cNvPr>
          <p:cNvSpPr>
            <a:spLocks noGrp="1"/>
          </p:cNvSpPr>
          <p:nvPr/>
        </p:nvSpPr>
        <p:spPr>
          <a:xfrm>
            <a:off x="8391540"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ai-factory</a:t>
            </a:r>
            <a:endParaRPr sz="1300"/>
          </a:p>
        </p:txBody>
      </p:sp>
      <p:sp>
        <p:nvSpPr>
          <p:cNvPr id="62" name="Shape 60">
            <a:extLst>
              <a:ext uri="{FF2B5EF4-FFF2-40B4-BE49-F238E27FC236}">
                <a16:creationId xmlns:a16="http://schemas.microsoft.com/office/drawing/2014/main" id="{201472BA-958D-4B1F-BA97-B55C6A37F9F3}"/>
              </a:ext>
            </a:extLst>
          </p:cNvPr>
          <p:cNvSpPr>
            <a:spLocks noGrp="1"/>
          </p:cNvSpPr>
          <p:nvPr/>
        </p:nvSpPr>
        <p:spPr>
          <a:xfrm>
            <a:off x="7527158" y="4069080"/>
            <a:ext cx="1728765" cy="329184"/>
          </a:xfrm>
          <a:prstGeom prst="roundRect">
            <a:avLst>
              <a:gd name="adj" fmla="val 27778"/>
            </a:avLst>
          </a:prstGeom>
          <a:solidFill>
            <a:srgbClr val="1D2D42"/>
          </a:solidFill>
          <a:ln w="12700">
            <a:solidFill>
              <a:srgbClr val="B07CFF"/>
            </a:solidFill>
            <a:prstDash val="solid"/>
          </a:ln>
        </p:spPr>
      </p:sp>
      <p:sp>
        <p:nvSpPr>
          <p:cNvPr id="63" name="Text 61">
            <a:extLst>
              <a:ext uri="{FF2B5EF4-FFF2-40B4-BE49-F238E27FC236}">
                <a16:creationId xmlns:a16="http://schemas.microsoft.com/office/drawing/2014/main" id="{07178D21-A892-4F37-80B1-F12440C09993}"/>
              </a:ext>
            </a:extLst>
          </p:cNvPr>
          <p:cNvSpPr>
            <a:spLocks noGrp="1"/>
          </p:cNvSpPr>
          <p:nvPr/>
        </p:nvSpPr>
        <p:spPr>
          <a:xfrm>
            <a:off x="7527158" y="4069080"/>
            <a:ext cx="1728765" cy="329184"/>
          </a:xfrm>
          <a:prstGeom prst="rect">
            <a:avLst/>
          </a:prstGeom>
          <a:noFill/>
        </p:spPr>
        <p:txBody>
          <a:bodyPr wrap="square" lIns="0" tIns="0" rIns="0" bIns="0" anchor="ctr"/>
          <a:lstStyle/>
          <a:p>
            <a:pPr marL="0" indent="0" algn="ctr">
              <a:buNone/>
            </a:pPr>
            <a:r>
              <a:rPr sz="1200" b="1">
                <a:solidFill>
                  <a:srgbClr val="B07CFF"/>
                </a:solidFill>
                <a:latin typeface="Calibri"/>
                <a:ea typeface="Calibri"/>
                <a:cs typeface="Calibri"/>
              </a:rPr>
              <a:t>77,289 invocations</a:t>
            </a:r>
            <a:endParaRPr sz="1200"/>
          </a:p>
        </p:txBody>
      </p:sp>
      <p:sp>
        <p:nvSpPr>
          <p:cNvPr id="64" name="Text 62">
            <a:extLst>
              <a:ext uri="{FF2B5EF4-FFF2-40B4-BE49-F238E27FC236}">
                <a16:creationId xmlns:a16="http://schemas.microsoft.com/office/drawing/2014/main" id="{4649CB25-D881-4AC8-B5C1-6007A45422F8}"/>
              </a:ext>
            </a:extLst>
          </p:cNvPr>
          <p:cNvSpPr>
            <a:spLocks noGrp="1"/>
          </p:cNvSpPr>
          <p:nvPr/>
        </p:nvSpPr>
        <p:spPr>
          <a:xfrm>
            <a:off x="7527158"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Second largest Claude workload.</a:t>
            </a:r>
            <a:endParaRPr sz="1200"/>
          </a:p>
        </p:txBody>
      </p:sp>
      <p:sp>
        <p:nvSpPr>
          <p:cNvPr id="65" name="Shape 63">
            <a:extLst>
              <a:ext uri="{FF2B5EF4-FFF2-40B4-BE49-F238E27FC236}">
                <a16:creationId xmlns:a16="http://schemas.microsoft.com/office/drawing/2014/main" id="{BBFA9EBE-9AF5-4F66-B488-99D1AD1FF2CF}"/>
              </a:ext>
            </a:extLst>
          </p:cNvPr>
          <p:cNvSpPr>
            <a:spLocks noGrp="1"/>
          </p:cNvSpPr>
          <p:nvPr/>
        </p:nvSpPr>
        <p:spPr>
          <a:xfrm>
            <a:off x="9639971" y="1618488"/>
            <a:ext cx="2094525" cy="3977640"/>
          </a:xfrm>
          <a:prstGeom prst="roundRect">
            <a:avLst>
              <a:gd name="adj" fmla="val 2619"/>
            </a:avLst>
          </a:prstGeom>
          <a:solidFill>
            <a:srgbClr val="121B2D"/>
          </a:solidFill>
          <a:ln w="12700">
            <a:solidFill>
              <a:srgbClr val="23304A"/>
            </a:solidFill>
            <a:prstDash val="solid"/>
          </a:ln>
        </p:spPr>
      </p:sp>
      <p:sp>
        <p:nvSpPr>
          <p:cNvPr id="66" name="Shape 64">
            <a:extLst>
              <a:ext uri="{FF2B5EF4-FFF2-40B4-BE49-F238E27FC236}">
                <a16:creationId xmlns:a16="http://schemas.microsoft.com/office/drawing/2014/main" id="{BDF1AA85-DABF-4B4A-BFEC-0CD34E99B9AE}"/>
              </a:ext>
            </a:extLst>
          </p:cNvPr>
          <p:cNvSpPr>
            <a:spLocks noGrp="1"/>
          </p:cNvSpPr>
          <p:nvPr/>
        </p:nvSpPr>
        <p:spPr>
          <a:xfrm>
            <a:off x="9639971" y="1618488"/>
            <a:ext cx="2094525" cy="45720"/>
          </a:xfrm>
          <a:prstGeom prst="rect">
            <a:avLst/>
          </a:prstGeom>
          <a:solidFill>
            <a:srgbClr val="3DDC97"/>
          </a:solidFill>
          <a:ln w="12700">
            <a:solidFill>
              <a:srgbClr val="3DDC97"/>
            </a:solidFill>
            <a:prstDash val="solid"/>
          </a:ln>
        </p:spPr>
      </p:sp>
      <p:sp>
        <p:nvSpPr>
          <p:cNvPr id="67" name="Text 65">
            <a:extLst>
              <a:ext uri="{FF2B5EF4-FFF2-40B4-BE49-F238E27FC236}">
                <a16:creationId xmlns:a16="http://schemas.microsoft.com/office/drawing/2014/main" id="{CF9A81ED-0204-4109-930F-DBAFC16F2599}"/>
              </a:ext>
            </a:extLst>
          </p:cNvPr>
          <p:cNvSpPr>
            <a:spLocks noGrp="1"/>
          </p:cNvSpPr>
          <p:nvPr/>
        </p:nvSpPr>
        <p:spPr>
          <a:xfrm>
            <a:off x="9822851" y="1783080"/>
            <a:ext cx="1728765" cy="438912"/>
          </a:xfrm>
          <a:prstGeom prst="rect">
            <a:avLst/>
          </a:prstGeom>
          <a:noFill/>
        </p:spPr>
        <p:txBody>
          <a:bodyPr wrap="none" lIns="0" tIns="0" rIns="0" bIns="0" anchor="ctr">
            <a:noAutofit/>
          </a:bodyPr>
          <a:lstStyle/>
          <a:p>
            <a:pPr marL="0" indent="0" algn="l">
              <a:lnSpc>
                <a:spcPct val="105000"/>
              </a:lnSpc>
              <a:buNone/>
              <a:defRPr sz="1425" b="1">
                <a:solidFill>
                  <a:srgbClr val="F4F7FB"/>
                </a:solidFill>
                <a:latin typeface="Calibri"/>
                <a:ea typeface="Calibri"/>
                <a:cs typeface="Calibri"/>
              </a:defRPr>
            </a:pPr>
            <a:r>
              <a:rPr sz="1425" b="1" spc="110">
                <a:solidFill>
                  <a:srgbClr val="F4F7FB"/>
                </a:solidFill>
                <a:latin typeface="Calibri"/>
                <a:ea typeface="Calibri"/>
                <a:cs typeface="Calibri"/>
              </a:rPr>
              <a:t>UNKNOWN</a:t>
            </a:r>
            <a:endParaRPr sz="1200"/>
          </a:p>
        </p:txBody>
      </p:sp>
      <p:sp>
        <p:nvSpPr>
          <p:cNvPr id="68" name="Text 66">
            <a:extLst>
              <a:ext uri="{FF2B5EF4-FFF2-40B4-BE49-F238E27FC236}">
                <a16:creationId xmlns:a16="http://schemas.microsoft.com/office/drawing/2014/main" id="{3A5E0B89-ACEA-4538-9492-B0BDA15ADFB3}"/>
              </a:ext>
            </a:extLst>
          </p:cNvPr>
          <p:cNvSpPr>
            <a:spLocks noGrp="1"/>
          </p:cNvSpPr>
          <p:nvPr/>
        </p:nvSpPr>
        <p:spPr>
          <a:xfrm>
            <a:off x="9822851" y="2276856"/>
            <a:ext cx="1728765" cy="457200"/>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$2,723</a:t>
            </a:r>
            <a:endParaRPr sz="2800"/>
          </a:p>
        </p:txBody>
      </p:sp>
      <p:sp>
        <p:nvSpPr>
          <p:cNvPr id="69" name="Text 67">
            <a:extLst>
              <a:ext uri="{FF2B5EF4-FFF2-40B4-BE49-F238E27FC236}">
                <a16:creationId xmlns:a16="http://schemas.microsoft.com/office/drawing/2014/main" id="{F0012C22-8F4D-4925-A9DC-5016145040E4}"/>
              </a:ext>
            </a:extLst>
          </p:cNvPr>
          <p:cNvSpPr>
            <a:spLocks noGrp="1"/>
          </p:cNvSpPr>
          <p:nvPr/>
        </p:nvSpPr>
        <p:spPr>
          <a:xfrm>
            <a:off x="9822851" y="2734056"/>
            <a:ext cx="1728765" cy="237744"/>
          </a:xfrm>
          <a:prstGeom prst="rect">
            <a:avLst/>
          </a:prstGeom>
          <a:noFill/>
        </p:spPr>
        <p:txBody>
          <a:bodyPr wrap="square" lIns="0" tIns="0" rIns="0" bIns="0" anchor="ctr"/>
          <a:lstStyle/>
          <a:p>
            <a:pPr marL="0" indent="0">
              <a:buNone/>
            </a:pPr>
            <a:r>
              <a:rPr sz="1200" b="1">
                <a:solidFill>
                  <a:srgbClr val="3DDC97"/>
                </a:solidFill>
                <a:latin typeface="Calibri"/>
                <a:ea typeface="Calibri"/>
                <a:cs typeface="Calibri"/>
              </a:rPr>
              <a:t>6.3% of estimated spend</a:t>
            </a:r>
            <a:endParaRPr sz="1200"/>
          </a:p>
        </p:txBody>
      </p:sp>
      <p:sp>
        <p:nvSpPr>
          <p:cNvPr id="70" name="Shape 68">
            <a:extLst>
              <a:ext uri="{FF2B5EF4-FFF2-40B4-BE49-F238E27FC236}">
                <a16:creationId xmlns:a16="http://schemas.microsoft.com/office/drawing/2014/main" id="{E36006C8-11CD-4280-95B5-3DF0237D8C03}"/>
              </a:ext>
            </a:extLst>
          </p:cNvPr>
          <p:cNvSpPr>
            <a:spLocks noGrp="1"/>
          </p:cNvSpPr>
          <p:nvPr/>
        </p:nvSpPr>
        <p:spPr>
          <a:xfrm>
            <a:off x="9822851" y="3081528"/>
            <a:ext cx="1728765" cy="9144"/>
          </a:xfrm>
          <a:prstGeom prst="rect">
            <a:avLst/>
          </a:prstGeom>
          <a:solidFill>
            <a:srgbClr val="23304A"/>
          </a:solidFill>
          <a:ln w="12700">
            <a:solidFill>
              <a:srgbClr val="23304A"/>
            </a:solidFill>
            <a:prstDash val="solid"/>
          </a:ln>
        </p:spPr>
      </p:sp>
      <p:sp>
        <p:nvSpPr>
          <p:cNvPr id="71" name="Text 69">
            <a:extLst>
              <a:ext uri="{FF2B5EF4-FFF2-40B4-BE49-F238E27FC236}">
                <a16:creationId xmlns:a16="http://schemas.microsoft.com/office/drawing/2014/main" id="{F9CDE078-C5B5-4BD8-A165-5F649F8BDD43}"/>
              </a:ext>
            </a:extLst>
          </p:cNvPr>
          <p:cNvSpPr>
            <a:spLocks noGrp="1"/>
          </p:cNvSpPr>
          <p:nvPr/>
        </p:nvSpPr>
        <p:spPr>
          <a:xfrm>
            <a:off x="9822851" y="3209544"/>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VENDOR</a:t>
            </a:r>
            <a:endParaRPr sz="1200"/>
          </a:p>
        </p:txBody>
      </p:sp>
      <p:sp>
        <p:nvSpPr>
          <p:cNvPr id="72" name="Text 70">
            <a:extLst>
              <a:ext uri="{FF2B5EF4-FFF2-40B4-BE49-F238E27FC236}">
                <a16:creationId xmlns:a16="http://schemas.microsoft.com/office/drawing/2014/main" id="{7F20ADAF-45BE-4322-905E-FA7F4AE506F4}"/>
              </a:ext>
            </a:extLst>
          </p:cNvPr>
          <p:cNvSpPr>
            <a:spLocks noGrp="1"/>
          </p:cNvSpPr>
          <p:nvPr/>
        </p:nvSpPr>
        <p:spPr>
          <a:xfrm>
            <a:off x="10687233" y="3209544"/>
            <a:ext cx="864382" cy="274320"/>
          </a:xfrm>
          <a:prstGeom prst="rect">
            <a:avLst/>
          </a:prstGeom>
          <a:noFill/>
        </p:spPr>
        <p:txBody>
          <a:bodyPr wrap="none" lIns="0" tIns="0" rIns="0" bIns="0" anchor="ctr">
            <a:noAutofit/>
          </a:bodyPr>
          <a:lstStyle/>
          <a:p>
            <a:pPr marL="0" indent="0" algn="r">
              <a:buNone/>
              <a:defRPr sz="1350" b="1">
                <a:solidFill>
                  <a:srgbClr val="F4F7FB"/>
                </a:solidFill>
                <a:latin typeface="Calibri"/>
                <a:ea typeface="Calibri"/>
                <a:cs typeface="Calibri"/>
              </a:defRPr>
            </a:pPr>
            <a:r>
              <a:rPr sz="1350" b="1">
                <a:solidFill>
                  <a:srgbClr val="F4F7FB"/>
                </a:solidFill>
                <a:latin typeface="Calibri"/>
                <a:ea typeface="Calibri"/>
                <a:cs typeface="Calibri"/>
              </a:rPr>
              <a:t>Claude</a:t>
            </a:r>
            <a:endParaRPr sz="1300"/>
          </a:p>
        </p:txBody>
      </p:sp>
      <p:sp>
        <p:nvSpPr>
          <p:cNvPr id="73" name="Text 71">
            <a:extLst>
              <a:ext uri="{FF2B5EF4-FFF2-40B4-BE49-F238E27FC236}">
                <a16:creationId xmlns:a16="http://schemas.microsoft.com/office/drawing/2014/main" id="{5BA90F1D-D006-474F-9EB8-30E010E94F61}"/>
              </a:ext>
            </a:extLst>
          </p:cNvPr>
          <p:cNvSpPr>
            <a:spLocks noGrp="1"/>
          </p:cNvSpPr>
          <p:nvPr/>
        </p:nvSpPr>
        <p:spPr>
          <a:xfrm>
            <a:off x="9822851" y="3593592"/>
            <a:ext cx="864382" cy="274320"/>
          </a:xfrm>
          <a:prstGeom prst="rect">
            <a:avLst/>
          </a:prstGeom>
          <a:noFill/>
        </p:spPr>
        <p:txBody>
          <a:bodyPr wrap="none" lIns="0" tIns="0" rIns="0" bIns="0" anchor="ctr">
            <a:noAutofit/>
          </a:bodyPr>
          <a:lstStyle/>
          <a:p>
            <a:pPr marL="0" indent="0" algn="l">
              <a:buNone/>
              <a:defRPr sz="1200" b="1">
                <a:solidFill>
                  <a:srgbClr val="F4F7FB"/>
                </a:solidFill>
                <a:latin typeface="Calibri"/>
                <a:ea typeface="Calibri"/>
                <a:cs typeface="Calibri"/>
              </a:defRPr>
            </a:pPr>
            <a:r>
              <a:rPr sz="1200" b="1" spc="100">
                <a:solidFill>
                  <a:srgbClr val="F4F7FB"/>
                </a:solidFill>
                <a:latin typeface="Calibri"/>
                <a:ea typeface="Calibri"/>
                <a:cs typeface="Calibri"/>
              </a:rPr>
              <a:t>TEAM</a:t>
            </a:r>
            <a:endParaRPr sz="1200"/>
          </a:p>
        </p:txBody>
      </p:sp>
      <p:sp>
        <p:nvSpPr>
          <p:cNvPr id="74" name="Text 72">
            <a:extLst>
              <a:ext uri="{FF2B5EF4-FFF2-40B4-BE49-F238E27FC236}">
                <a16:creationId xmlns:a16="http://schemas.microsoft.com/office/drawing/2014/main" id="{672BFD05-7C2D-4596-8507-53BF7D2F9EAD}"/>
              </a:ext>
            </a:extLst>
          </p:cNvPr>
          <p:cNvSpPr>
            <a:spLocks noGrp="1"/>
          </p:cNvSpPr>
          <p:nvPr/>
        </p:nvSpPr>
        <p:spPr>
          <a:xfrm>
            <a:off x="10687233" y="3593592"/>
            <a:ext cx="864382" cy="274320"/>
          </a:xfrm>
          <a:prstGeom prst="rect">
            <a:avLst/>
          </a:prstGeom>
          <a:noFill/>
        </p:spPr>
        <p:txBody>
          <a:bodyPr wrap="square" lIns="0" tIns="0" rIns="0" bIns="0" anchor="ctr"/>
          <a:lstStyle/>
          <a:p>
            <a:pPr marL="0" indent="0" algn="r">
              <a:buNone/>
            </a:pPr>
            <a:r>
              <a:rPr sz="1300" b="1">
                <a:solidFill>
                  <a:srgbClr val="F4F7FB"/>
                </a:solidFill>
                <a:latin typeface="Calibri"/>
                <a:ea typeface="Calibri"/>
                <a:cs typeface="Calibri"/>
              </a:rPr>
              <a:t>insait</a:t>
            </a:r>
            <a:endParaRPr sz="1300"/>
          </a:p>
        </p:txBody>
      </p:sp>
      <p:sp>
        <p:nvSpPr>
          <p:cNvPr id="75" name="Shape 73">
            <a:extLst>
              <a:ext uri="{FF2B5EF4-FFF2-40B4-BE49-F238E27FC236}">
                <a16:creationId xmlns:a16="http://schemas.microsoft.com/office/drawing/2014/main" id="{CDB61192-FC95-4F63-A76A-FAD68116257F}"/>
              </a:ext>
            </a:extLst>
          </p:cNvPr>
          <p:cNvSpPr>
            <a:spLocks noGrp="1"/>
          </p:cNvSpPr>
          <p:nvPr/>
        </p:nvSpPr>
        <p:spPr>
          <a:xfrm>
            <a:off x="9822851" y="4069080"/>
            <a:ext cx="1728765" cy="329184"/>
          </a:xfrm>
          <a:prstGeom prst="roundRect">
            <a:avLst>
              <a:gd name="adj" fmla="val 27778"/>
            </a:avLst>
          </a:prstGeom>
          <a:solidFill>
            <a:srgbClr val="1D2D42"/>
          </a:solidFill>
          <a:ln w="12700">
            <a:solidFill>
              <a:srgbClr val="3DDC97"/>
            </a:solidFill>
            <a:prstDash val="solid"/>
          </a:ln>
        </p:spPr>
      </p:sp>
      <p:sp>
        <p:nvSpPr>
          <p:cNvPr id="76" name="Text 74">
            <a:extLst>
              <a:ext uri="{FF2B5EF4-FFF2-40B4-BE49-F238E27FC236}">
                <a16:creationId xmlns:a16="http://schemas.microsoft.com/office/drawing/2014/main" id="{67C002A3-40AB-4AE6-B4D0-44F30BC1E4BD}"/>
              </a:ext>
            </a:extLst>
          </p:cNvPr>
          <p:cNvSpPr>
            <a:spLocks noGrp="1"/>
          </p:cNvSpPr>
          <p:nvPr/>
        </p:nvSpPr>
        <p:spPr>
          <a:xfrm>
            <a:off x="9822851" y="4069080"/>
            <a:ext cx="1728765" cy="329184"/>
          </a:xfrm>
          <a:prstGeom prst="rect">
            <a:avLst/>
          </a:prstGeom>
          <a:noFill/>
        </p:spPr>
        <p:txBody>
          <a:bodyPr wrap="square" lIns="0" tIns="0" rIns="0" bIns="0" anchor="ctr"/>
          <a:lstStyle/>
          <a:p>
            <a:pPr marL="0" indent="0" algn="ctr">
              <a:buNone/>
            </a:pPr>
            <a:r>
              <a:rPr sz="1200" b="1">
                <a:solidFill>
                  <a:srgbClr val="3DDC97"/>
                </a:solidFill>
                <a:latin typeface="Calibri"/>
                <a:ea typeface="Calibri"/>
                <a:cs typeface="Calibri"/>
              </a:rPr>
              <a:t>30,396 invocations</a:t>
            </a:r>
            <a:endParaRPr sz="1200"/>
          </a:p>
        </p:txBody>
      </p:sp>
      <p:sp>
        <p:nvSpPr>
          <p:cNvPr id="77" name="Text 75">
            <a:extLst>
              <a:ext uri="{FF2B5EF4-FFF2-40B4-BE49-F238E27FC236}">
                <a16:creationId xmlns:a16="http://schemas.microsoft.com/office/drawing/2014/main" id="{2AF83E86-46F4-46F0-9B04-1BC4BD3C4423}"/>
              </a:ext>
            </a:extLst>
          </p:cNvPr>
          <p:cNvSpPr>
            <a:spLocks noGrp="1"/>
          </p:cNvSpPr>
          <p:nvPr/>
        </p:nvSpPr>
        <p:spPr>
          <a:xfrm>
            <a:off x="9822851" y="4526280"/>
            <a:ext cx="1728765" cy="923544"/>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Naming and ownership need resolution.</a:t>
            </a:r>
            <a:endParaRPr sz="1200"/>
          </a:p>
        </p:txBody>
      </p:sp>
    </p:spTree>
    <p:extLst>
      <p:ext uri="{BB962C8B-B14F-4D97-AF65-F5344CB8AC3E}">
        <p14:creationId xmlns:p14="http://schemas.microsoft.com/office/powerpoint/2010/main" val="968350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D8D3FB7-692A-4B43-B502-A67347595371}"/>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sp>
      <p:sp>
        <p:nvSpPr>
          <p:cNvPr id="3" name="Shape 1">
            <a:extLst>
              <a:ext uri="{FF2B5EF4-FFF2-40B4-BE49-F238E27FC236}">
                <a16:creationId xmlns:a16="http://schemas.microsoft.com/office/drawing/2014/main" id="{EDD137E3-960F-45D7-A824-DFDF39F0844D}"/>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a:extLst>
              <a:ext uri="{FF2B5EF4-FFF2-40B4-BE49-F238E27FC236}">
                <a16:creationId xmlns:a16="http://schemas.microsoft.com/office/drawing/2014/main" id="{A3E057EE-BA79-412C-B49E-031CB9BD234D}"/>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AI FACTORY / INFRASTRUCTURE</a:t>
            </a:r>
            <a:endParaRPr sz="1300"/>
          </a:p>
        </p:txBody>
      </p:sp>
      <p:sp>
        <p:nvSpPr>
          <p:cNvPr id="5" name="Text 3">
            <a:extLst>
              <a:ext uri="{FF2B5EF4-FFF2-40B4-BE49-F238E27FC236}">
                <a16:creationId xmlns:a16="http://schemas.microsoft.com/office/drawing/2014/main" id="{5297C4B3-D689-4D0A-84AE-5EE11F5ED3D7}"/>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2700" b="1">
                <a:solidFill>
                  <a:srgbClr val="F4F7FB"/>
                </a:solidFill>
                <a:latin typeface="Calibri"/>
                <a:ea typeface="Calibri"/>
                <a:cs typeface="Calibri"/>
              </a:defRPr>
            </a:pPr>
            <a:r>
              <a:rPr sz="2700" b="1">
                <a:solidFill>
                  <a:srgbClr val="F4F7FB"/>
                </a:solidFill>
                <a:latin typeface="Calibri"/>
                <a:ea typeface="Calibri"/>
                <a:cs typeface="Calibri"/>
              </a:rPr>
              <a:t>Infrastructure is 46.5% of AI Factory spend</a:t>
            </a:r>
            <a:endParaRPr sz="1800"/>
          </a:p>
        </p:txBody>
      </p:sp>
      <p:sp>
        <p:nvSpPr>
          <p:cNvPr id="6" name="Text 4">
            <a:extLst>
              <a:ext uri="{FF2B5EF4-FFF2-40B4-BE49-F238E27FC236}">
                <a16:creationId xmlns:a16="http://schemas.microsoft.com/office/drawing/2014/main" id="{17679B24-DB6B-4AF3-AA44-1CDBD2ADE40D}"/>
              </a:ext>
            </a:extLst>
          </p:cNvPr>
          <p:cNvSpPr>
            <a:spLocks noGrp="1"/>
          </p:cNvSpPr>
          <p:nvPr/>
        </p:nvSpPr>
        <p:spPr>
          <a:xfrm>
            <a:off x="8321040" y="493776"/>
            <a:ext cx="3413455" cy="658368"/>
          </a:xfrm>
          <a:prstGeom prst="rect">
            <a:avLst/>
          </a:prstGeom>
          <a:noFill/>
        </p:spPr>
        <p:txBody>
          <a:bodyPr wrap="none" lIns="0" tIns="0" rIns="0" bIns="0" anchor="ctr">
            <a:noAutofit/>
          </a:bodyPr>
          <a:lstStyle/>
          <a:p>
            <a:pPr marL="0" indent="0" algn="r">
              <a:lnSpc>
                <a:spcPct val="115000"/>
              </a:lnSpc>
              <a:buNone/>
              <a:defRPr sz="1350" b="1">
                <a:solidFill>
                  <a:srgbClr val="B07CFF"/>
                </a:solidFill>
                <a:latin typeface="Calibri"/>
                <a:ea typeface="Calibri"/>
                <a:cs typeface="Calibri"/>
              </a:defRPr>
            </a:pPr>
            <a:r>
              <a:rPr sz="1350" b="1">
                <a:solidFill>
                  <a:srgbClr val="B07CFF"/>
                </a:solidFill>
                <a:latin typeface="Calibri"/>
                <a:ea typeface="Calibri"/>
                <a:cs typeface="Calibri"/>
              </a:rPr>
              <a:t>JANUARY–JULY · FOUR PROJECTS</a:t>
            </a:r>
            <a:endParaRPr sz="1200"/>
          </a:p>
          <a:p>
            <a:pPr marL="0" indent="0" algn="r">
              <a:lnSpc>
                <a:spcPct val="115000"/>
              </a:lnSpc>
              <a:buNone/>
              <a:defRPr sz="1350" b="1">
                <a:solidFill>
                  <a:srgbClr val="B07CFF"/>
                </a:solidFill>
                <a:latin typeface="Calibri"/>
                <a:ea typeface="Calibri"/>
                <a:cs typeface="Calibri"/>
              </a:defRPr>
            </a:pPr>
            <a:r>
              <a:rPr sz="1350" b="1">
                <a:solidFill>
                  <a:srgbClr val="B07CFF"/>
                </a:solidFill>
                <a:latin typeface="Calibri"/>
                <a:ea typeface="Calibri"/>
                <a:cs typeface="Calibri"/>
              </a:rPr>
              <a:t>AI METERS EXCLUDED</a:t>
            </a:r>
            <a:endParaRPr sz="1200"/>
          </a:p>
        </p:txBody>
      </p:sp>
      <p:sp>
        <p:nvSpPr>
          <p:cNvPr id="7" name="Text 5">
            <a:extLst>
              <a:ext uri="{FF2B5EF4-FFF2-40B4-BE49-F238E27FC236}">
                <a16:creationId xmlns:a16="http://schemas.microsoft.com/office/drawing/2014/main" id="{EF4B6E74-CB3E-426D-8304-F6476AD008FF}"/>
              </a:ext>
            </a:extLst>
          </p:cNvPr>
          <p:cNvSpPr>
            <a:spLocks noGrp="1"/>
          </p:cNvSpPr>
          <p:nvPr/>
        </p:nvSpPr>
        <p:spPr>
          <a:xfrm>
            <a:off x="457200" y="6345936"/>
            <a:ext cx="11277295" cy="402336"/>
          </a:xfrm>
          <a:prstGeom prst="rect">
            <a:avLst/>
          </a:prstGeom>
          <a:noFill/>
        </p:spPr>
        <p:txBody>
          <a:bodyPr wrap="none" lIns="0" tIns="0" rIns="0" bIns="0" anchor="ctr">
            <a:noAutofit/>
          </a:bodyPr>
          <a:lstStyle/>
          <a:p>
            <a:pPr marL="0" indent="0" algn="l">
              <a:lnSpc>
                <a:spcPct val="115000"/>
              </a:lnSpc>
              <a:buNone/>
              <a:defRPr sz="1350" b="0">
                <a:solidFill>
                  <a:srgbClr val="536078"/>
                </a:solidFill>
                <a:latin typeface="Calibri"/>
                <a:ea typeface="Calibri"/>
                <a:cs typeface="Calibri"/>
              </a:defRPr>
            </a:pPr>
            <a:r>
              <a:rPr sz="1350" b="0">
                <a:solidFill>
                  <a:srgbClr val="536078"/>
                </a:solidFill>
                <a:latin typeface="Calibri"/>
                <a:ea typeface="Calibri"/>
                <a:cs typeface="Calibri"/>
              </a:rPr>
              <a:t>API Management and virtual machines account for 61% of infrastructure spend. The next slide shows the project split.</a:t>
            </a:r>
            <a:endParaRPr sz="1200"/>
          </a:p>
        </p:txBody>
      </p:sp>
      <p:sp>
        <p:nvSpPr>
          <p:cNvPr id="8" name="Text 6">
            <a:extLst>
              <a:ext uri="{FF2B5EF4-FFF2-40B4-BE49-F238E27FC236}">
                <a16:creationId xmlns:a16="http://schemas.microsoft.com/office/drawing/2014/main" id="{79062F6E-83A1-40A5-A58A-AED8633B180F}"/>
              </a:ext>
            </a:extLst>
          </p:cNvPr>
          <p:cNvSpPr>
            <a:spLocks noGrp="1"/>
          </p:cNvSpPr>
          <p:nvPr/>
        </p:nvSpPr>
        <p:spPr>
          <a:xfrm>
            <a:off x="457200" y="1234440"/>
            <a:ext cx="7360920" cy="237744"/>
          </a:xfrm>
          <a:prstGeom prst="rect">
            <a:avLst/>
          </a:prstGeom>
          <a:noFill/>
        </p:spPr>
        <p:txBody>
          <a:bodyPr wrap="none" lIns="0" tIns="0" rIns="0" bIns="0" anchor="ctr">
            <a:noAutofit/>
          </a:bodyPr>
          <a:lstStyle/>
          <a:p>
            <a:pPr marL="0" indent="0" algn="l">
              <a:buNone/>
              <a:defRPr sz="1650" b="1">
                <a:solidFill>
                  <a:srgbClr val="F4F7FB"/>
                </a:solidFill>
                <a:latin typeface="Calibri"/>
                <a:ea typeface="Calibri"/>
                <a:cs typeface="Calibri"/>
              </a:defRPr>
            </a:pPr>
            <a:r>
              <a:rPr sz="1650" b="1">
                <a:solidFill>
                  <a:srgbClr val="F4F7FB"/>
                </a:solidFill>
                <a:latin typeface="Calibri"/>
                <a:ea typeface="Calibri"/>
                <a:cs typeface="Calibri"/>
              </a:rPr>
              <a:t>Infrastructure spend by service · January–July</a:t>
            </a:r>
            <a:endParaRPr sz="1500"/>
          </a:p>
        </p:txBody>
      </p:sp>
      <p:graphicFrame>
        <p:nvGraphicFramePr>
          <p:cNvPr id="30"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FBB33514-BFBE-44EE-8966-A1085D4632A0}"/>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a:extLst>
              <a:ext uri="{FF2B5EF4-FFF2-40B4-BE49-F238E27FC236}">
                <a16:creationId xmlns:a16="http://schemas.microsoft.com/office/drawing/2014/main" id="{77CA3402-7D21-4F92-AEE3-8FE02684ECD7}"/>
              </a:ext>
            </a:extLst>
          </p:cNvPr>
          <p:cNvSpPr>
            <a:spLocks noGrp="1"/>
          </p:cNvSpPr>
          <p:nvPr/>
        </p:nvSpPr>
        <p:spPr>
          <a:xfrm>
            <a:off x="8293608" y="1325880"/>
            <a:ext cx="3239719" cy="237744"/>
          </a:xfrm>
          <a:prstGeom prst="rect">
            <a:avLst/>
          </a:prstGeom>
          <a:noFill/>
        </p:spPr>
        <p:txBody>
          <a:bodyPr wrap="none" lIns="0" tIns="0" rIns="0" bIns="0" anchor="ctr">
            <a:noAutofit/>
          </a:bodyPr>
          <a:lstStyle/>
          <a:p>
            <a:pPr marL="0" indent="0" algn="l">
              <a:buNone/>
              <a:defRPr sz="1500" b="1">
                <a:solidFill>
                  <a:srgbClr val="F4F7FB"/>
                </a:solidFill>
                <a:latin typeface="Calibri"/>
                <a:ea typeface="Calibri"/>
                <a:cs typeface="Calibri"/>
              </a:defRPr>
            </a:pPr>
            <a:r>
              <a:rPr sz="1500" b="1" spc="120">
                <a:solidFill>
                  <a:srgbClr val="F4F7FB"/>
                </a:solidFill>
                <a:latin typeface="Calibri"/>
                <a:ea typeface="Calibri"/>
                <a:cs typeface="Calibri"/>
              </a:rPr>
              <a:t>INFRASTRUCTURE</a:t>
            </a:r>
            <a:endParaRPr sz="1200"/>
          </a:p>
        </p:txBody>
      </p:sp>
      <p:sp>
        <p:nvSpPr>
          <p:cNvPr id="12" name="Text 9">
            <a:extLst>
              <a:ext uri="{FF2B5EF4-FFF2-40B4-BE49-F238E27FC236}">
                <a16:creationId xmlns:a16="http://schemas.microsoft.com/office/drawing/2014/main" id="{C9ED0E16-3AE3-485F-A12C-CAB1EF2A21CB}"/>
              </a:ext>
            </a:extLst>
          </p:cNvPr>
          <p:cNvSpPr>
            <a:spLocks noGrp="1"/>
          </p:cNvSpPr>
          <p:nvPr/>
        </p:nvSpPr>
        <p:spPr>
          <a:xfrm>
            <a:off x="8293608" y="1527048"/>
            <a:ext cx="3239719" cy="438912"/>
          </a:xfrm>
          <a:prstGeom prst="rect">
            <a:avLst/>
          </a:prstGeom>
          <a:noFill/>
        </p:spPr>
        <p:txBody>
          <a:bodyPr wrap="none" lIns="0" tIns="0" rIns="0" bIns="0" anchor="ctr">
            <a:noAutofit/>
          </a:bodyPr>
          <a:lstStyle/>
          <a:p>
            <a:pPr marL="0" indent="0" algn="l">
              <a:buNone/>
              <a:defRPr sz="2550" b="1">
                <a:solidFill>
                  <a:srgbClr val="F4F7FB"/>
                </a:solidFill>
                <a:latin typeface="Calibri"/>
                <a:ea typeface="Calibri"/>
                <a:cs typeface="Calibri"/>
              </a:defRPr>
            </a:pPr>
            <a:r>
              <a:rPr sz="2550" b="1">
                <a:solidFill>
                  <a:srgbClr val="F4F7FB"/>
                </a:solidFill>
                <a:latin typeface="Calibri"/>
                <a:ea typeface="Calibri"/>
                <a:cs typeface="Calibri"/>
              </a:rPr>
              <a:t>$77,049</a:t>
            </a:r>
            <a:endParaRPr sz="2800"/>
          </a:p>
        </p:txBody>
      </p:sp>
      <p:sp>
        <p:nvSpPr>
          <p:cNvPr id="13" name="Text 10">
            <a:extLst>
              <a:ext uri="{FF2B5EF4-FFF2-40B4-BE49-F238E27FC236}">
                <a16:creationId xmlns:a16="http://schemas.microsoft.com/office/drawing/2014/main" id="{0044B0F1-41EE-4855-967F-D49CE29CB0CE}"/>
              </a:ext>
            </a:extLst>
          </p:cNvPr>
          <p:cNvSpPr>
            <a:spLocks noGrp="1"/>
          </p:cNvSpPr>
          <p:nvPr/>
        </p:nvSpPr>
        <p:spPr>
          <a:xfrm>
            <a:off x="8293608" y="1929384"/>
            <a:ext cx="3239719" cy="329184"/>
          </a:xfrm>
          <a:prstGeom prst="rect">
            <a:avLst/>
          </a:prstGeom>
          <a:noFill/>
        </p:spPr>
        <p:txBody>
          <a:bodyPr wrap="none" lIns="0" tIns="0" rIns="0" bIns="0" anchor="ctr">
            <a:noAutofit/>
          </a:bodyPr>
          <a:lstStyle/>
          <a:p>
            <a:pPr marL="0" indent="0" algn="l">
              <a:lnSpc>
                <a:spcPct val="105000"/>
              </a:lnSpc>
              <a:buNone/>
              <a:defRPr sz="1425" b="1">
                <a:solidFill>
                  <a:srgbClr val="6EC8FF"/>
                </a:solidFill>
                <a:latin typeface="Calibri"/>
                <a:ea typeface="Calibri"/>
                <a:cs typeface="Calibri"/>
              </a:defRPr>
            </a:pPr>
            <a:r>
              <a:rPr sz="1425" b="1">
                <a:solidFill>
                  <a:srgbClr val="6EC8FF"/>
                </a:solidFill>
                <a:latin typeface="Calibri"/>
                <a:ea typeface="Calibri"/>
                <a:cs typeface="Calibri"/>
              </a:rPr>
              <a:t>46.5% of AI Factory spend</a:t>
            </a:r>
            <a:endParaRPr sz="1200"/>
          </a:p>
        </p:txBody>
      </p:sp>
      <p:sp>
        <p:nvSpPr>
          <p:cNvPr id="14" name="Shape 11">
            <a:extLst>
              <a:ext uri="{FF2B5EF4-FFF2-40B4-BE49-F238E27FC236}">
                <a16:creationId xmlns:a16="http://schemas.microsoft.com/office/drawing/2014/main" id="{9ADCB256-4F4D-4F71-8DF9-819D90C4E0E0}"/>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a:extLst>
              <a:ext uri="{FF2B5EF4-FFF2-40B4-BE49-F238E27FC236}">
                <a16:creationId xmlns:a16="http://schemas.microsoft.com/office/drawing/2014/main" id="{E56741B1-C3F7-46E0-A294-FA9A385F882E}"/>
              </a:ext>
            </a:extLst>
          </p:cNvPr>
          <p:cNvSpPr>
            <a:spLocks noGrp="1"/>
          </p:cNvSpPr>
          <p:nvPr/>
        </p:nvSpPr>
        <p:spPr>
          <a:xfrm>
            <a:off x="8293608" y="2551176"/>
            <a:ext cx="3239719" cy="237744"/>
          </a:xfrm>
          <a:prstGeom prst="rect">
            <a:avLst/>
          </a:prstGeom>
          <a:noFill/>
        </p:spPr>
        <p:txBody>
          <a:bodyPr wrap="none" lIns="0" tIns="0" rIns="0" bIns="0" anchor="ctr">
            <a:noAutofit/>
          </a:bodyPr>
          <a:lstStyle/>
          <a:p>
            <a:pPr marL="0" indent="0" algn="l">
              <a:buNone/>
              <a:defRPr sz="1350" b="1">
                <a:solidFill>
                  <a:srgbClr val="F4F7FB"/>
                </a:solidFill>
                <a:latin typeface="Calibri"/>
                <a:ea typeface="Calibri"/>
                <a:cs typeface="Calibri"/>
              </a:defRPr>
            </a:pPr>
            <a:r>
              <a:rPr sz="1350" b="1" spc="120">
                <a:solidFill>
                  <a:srgbClr val="F4F7FB"/>
                </a:solidFill>
                <a:latin typeface="Calibri"/>
                <a:ea typeface="Calibri"/>
                <a:cs typeface="Calibri"/>
              </a:rPr>
              <a:t>LARGEST INFRASTRUCTURE LINE</a:t>
            </a:r>
            <a:endParaRPr sz="1200"/>
          </a:p>
        </p:txBody>
      </p:sp>
      <p:sp>
        <p:nvSpPr>
          <p:cNvPr id="16" name="Text 13">
            <a:extLst>
              <a:ext uri="{FF2B5EF4-FFF2-40B4-BE49-F238E27FC236}">
                <a16:creationId xmlns:a16="http://schemas.microsoft.com/office/drawing/2014/main" id="{60D5A22C-EACD-45CF-BA00-439B51832B42}"/>
              </a:ext>
            </a:extLst>
          </p:cNvPr>
          <p:cNvSpPr>
            <a:spLocks noGrp="1"/>
          </p:cNvSpPr>
          <p:nvPr/>
        </p:nvSpPr>
        <p:spPr>
          <a:xfrm>
            <a:off x="8293608" y="2752344"/>
            <a:ext cx="3239719" cy="438912"/>
          </a:xfrm>
          <a:prstGeom prst="rect">
            <a:avLst/>
          </a:prstGeom>
          <a:noFill/>
        </p:spPr>
        <p:txBody>
          <a:bodyPr wrap="none" lIns="0" tIns="0" rIns="0" bIns="0" anchor="ctr">
            <a:noAutofit/>
          </a:bodyPr>
          <a:lstStyle/>
          <a:p>
            <a:pPr marL="0" indent="0" algn="l">
              <a:buNone/>
              <a:defRPr sz="2550" b="1">
                <a:solidFill>
                  <a:srgbClr val="F4F7FB"/>
                </a:solidFill>
                <a:latin typeface="Calibri"/>
                <a:ea typeface="Calibri"/>
                <a:cs typeface="Calibri"/>
              </a:defRPr>
            </a:pPr>
            <a:r>
              <a:rPr sz="2550" b="1">
                <a:solidFill>
                  <a:srgbClr val="F4F7FB"/>
                </a:solidFill>
                <a:latin typeface="Calibri"/>
                <a:ea typeface="Calibri"/>
                <a:cs typeface="Calibri"/>
              </a:rPr>
              <a:t>$23,663</a:t>
            </a:r>
            <a:endParaRPr sz="2800"/>
          </a:p>
        </p:txBody>
      </p:sp>
      <p:sp>
        <p:nvSpPr>
          <p:cNvPr id="17" name="Text 14">
            <a:extLst>
              <a:ext uri="{FF2B5EF4-FFF2-40B4-BE49-F238E27FC236}">
                <a16:creationId xmlns:a16="http://schemas.microsoft.com/office/drawing/2014/main" id="{40EAD8D9-1F22-4328-92BF-2439F70470EC}"/>
              </a:ext>
            </a:extLst>
          </p:cNvPr>
          <p:cNvSpPr>
            <a:spLocks noGrp="1"/>
          </p:cNvSpPr>
          <p:nvPr/>
        </p:nvSpPr>
        <p:spPr>
          <a:xfrm>
            <a:off x="8293608" y="3154680"/>
            <a:ext cx="3239719" cy="329184"/>
          </a:xfrm>
          <a:prstGeom prst="rect">
            <a:avLst/>
          </a:prstGeom>
          <a:noFill/>
        </p:spPr>
        <p:txBody>
          <a:bodyPr wrap="none" lIns="0" tIns="0" rIns="0" bIns="0" anchor="ctr">
            <a:noAutofit/>
          </a:bodyPr>
          <a:lstStyle/>
          <a:p>
            <a:pPr marL="0" indent="0" algn="l">
              <a:lnSpc>
                <a:spcPct val="105000"/>
              </a:lnSpc>
              <a:buNone/>
              <a:defRPr sz="1425" b="1">
                <a:solidFill>
                  <a:srgbClr val="B07CFF"/>
                </a:solidFill>
                <a:latin typeface="Calibri"/>
                <a:ea typeface="Calibri"/>
                <a:cs typeface="Calibri"/>
              </a:defRPr>
            </a:pPr>
            <a:r>
              <a:rPr sz="1425" b="1">
                <a:solidFill>
                  <a:srgbClr val="B07CFF"/>
                </a:solidFill>
                <a:latin typeface="Calibri"/>
                <a:ea typeface="Calibri"/>
                <a:cs typeface="Calibri"/>
              </a:rPr>
              <a:t>API Management</a:t>
            </a:r>
            <a:endParaRPr sz="1200"/>
          </a:p>
        </p:txBody>
      </p:sp>
      <p:sp>
        <p:nvSpPr>
          <p:cNvPr id="18" name="Shape 15">
            <a:extLst>
              <a:ext uri="{FF2B5EF4-FFF2-40B4-BE49-F238E27FC236}">
                <a16:creationId xmlns:a16="http://schemas.microsoft.com/office/drawing/2014/main" id="{88C7B1E5-DD00-4BFD-9BC6-7B757A8D8D12}"/>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a:extLst>
              <a:ext uri="{FF2B5EF4-FFF2-40B4-BE49-F238E27FC236}">
                <a16:creationId xmlns:a16="http://schemas.microsoft.com/office/drawing/2014/main" id="{AAD3C393-03AC-41A1-A428-A0736314672E}"/>
              </a:ext>
            </a:extLst>
          </p:cNvPr>
          <p:cNvSpPr>
            <a:spLocks noGrp="1"/>
          </p:cNvSpPr>
          <p:nvPr/>
        </p:nvSpPr>
        <p:spPr>
          <a:xfrm>
            <a:off x="8293608" y="3776472"/>
            <a:ext cx="3239719" cy="237744"/>
          </a:xfrm>
          <a:prstGeom prst="rect">
            <a:avLst/>
          </a:prstGeom>
          <a:noFill/>
        </p:spPr>
        <p:txBody>
          <a:bodyPr wrap="none" lIns="0" tIns="0" rIns="0" bIns="0" anchor="ctr">
            <a:noAutofit/>
          </a:bodyPr>
          <a:lstStyle/>
          <a:p>
            <a:pPr marL="0" indent="0" algn="l">
              <a:buNone/>
              <a:defRPr sz="1500" b="1">
                <a:solidFill>
                  <a:srgbClr val="F4F7FB"/>
                </a:solidFill>
                <a:latin typeface="Calibri"/>
                <a:ea typeface="Calibri"/>
                <a:cs typeface="Calibri"/>
              </a:defRPr>
            </a:pPr>
            <a:r>
              <a:rPr sz="1500" b="1" spc="120">
                <a:solidFill>
                  <a:srgbClr val="F4F7FB"/>
                </a:solidFill>
                <a:latin typeface="Calibri"/>
                <a:ea typeface="Calibri"/>
                <a:cs typeface="Calibri"/>
              </a:rPr>
              <a:t>AI SERVICES</a:t>
            </a:r>
            <a:endParaRPr sz="1200"/>
          </a:p>
        </p:txBody>
      </p:sp>
      <p:sp>
        <p:nvSpPr>
          <p:cNvPr id="20" name="Text 17">
            <a:extLst>
              <a:ext uri="{FF2B5EF4-FFF2-40B4-BE49-F238E27FC236}">
                <a16:creationId xmlns:a16="http://schemas.microsoft.com/office/drawing/2014/main" id="{D6FA61FD-05EE-46FE-BC1D-152B56356EA7}"/>
              </a:ext>
            </a:extLst>
          </p:cNvPr>
          <p:cNvSpPr>
            <a:spLocks noGrp="1"/>
          </p:cNvSpPr>
          <p:nvPr/>
        </p:nvSpPr>
        <p:spPr>
          <a:xfrm>
            <a:off x="8293608" y="3977640"/>
            <a:ext cx="3239719" cy="438912"/>
          </a:xfrm>
          <a:prstGeom prst="rect">
            <a:avLst/>
          </a:prstGeom>
          <a:noFill/>
        </p:spPr>
        <p:txBody>
          <a:bodyPr wrap="none" lIns="0" tIns="0" rIns="0" bIns="0" anchor="ctr">
            <a:noAutofit/>
          </a:bodyPr>
          <a:lstStyle/>
          <a:p>
            <a:pPr marL="0" indent="0" algn="l">
              <a:buNone/>
              <a:defRPr sz="2550" b="1">
                <a:solidFill>
                  <a:srgbClr val="F4F7FB"/>
                </a:solidFill>
                <a:latin typeface="Calibri"/>
                <a:ea typeface="Calibri"/>
                <a:cs typeface="Calibri"/>
              </a:defRPr>
            </a:pPr>
            <a:r>
              <a:rPr sz="2550" b="1">
                <a:solidFill>
                  <a:srgbClr val="F4F7FB"/>
                </a:solidFill>
                <a:latin typeface="Calibri"/>
                <a:ea typeface="Calibri"/>
                <a:cs typeface="Calibri"/>
              </a:rPr>
              <a:t>$88,540</a:t>
            </a:r>
            <a:endParaRPr sz="2800"/>
          </a:p>
        </p:txBody>
      </p:sp>
      <p:sp>
        <p:nvSpPr>
          <p:cNvPr id="21" name="Text 18">
            <a:extLst>
              <a:ext uri="{FF2B5EF4-FFF2-40B4-BE49-F238E27FC236}">
                <a16:creationId xmlns:a16="http://schemas.microsoft.com/office/drawing/2014/main" id="{A5582AF6-8558-44B4-BD54-AA0FE0B7C08D}"/>
              </a:ext>
            </a:extLst>
          </p:cNvPr>
          <p:cNvSpPr>
            <a:spLocks noGrp="1"/>
          </p:cNvSpPr>
          <p:nvPr/>
        </p:nvSpPr>
        <p:spPr>
          <a:xfrm>
            <a:off x="8293608" y="4379976"/>
            <a:ext cx="3239719" cy="329184"/>
          </a:xfrm>
          <a:prstGeom prst="rect">
            <a:avLst/>
          </a:prstGeom>
          <a:noFill/>
        </p:spPr>
        <p:txBody>
          <a:bodyPr wrap="none" lIns="0" tIns="0" rIns="0" bIns="0" anchor="ctr">
            <a:noAutofit/>
          </a:bodyPr>
          <a:lstStyle/>
          <a:p>
            <a:pPr marL="0" indent="0" algn="l">
              <a:lnSpc>
                <a:spcPct val="105000"/>
              </a:lnSpc>
              <a:buNone/>
              <a:defRPr sz="1425" b="1">
                <a:solidFill>
                  <a:srgbClr val="FF9B5C"/>
                </a:solidFill>
                <a:latin typeface="Calibri"/>
                <a:ea typeface="Calibri"/>
                <a:cs typeface="Calibri"/>
              </a:defRPr>
            </a:pPr>
            <a:r>
              <a:rPr sz="1425" b="1">
                <a:solidFill>
                  <a:srgbClr val="FF9B5C"/>
                </a:solidFill>
                <a:latin typeface="Calibri"/>
                <a:ea typeface="Calibri"/>
                <a:cs typeface="Calibri"/>
              </a:rPr>
              <a:t>53.5% of AI Factory spend</a:t>
            </a:r>
            <a:endParaRPr sz="1200"/>
          </a:p>
        </p:txBody>
      </p:sp>
    </p:spTree>
    <p:extLst>
      <p:ext uri="{BB962C8B-B14F-4D97-AF65-F5344CB8AC3E}">
        <p14:creationId xmlns:p14="http://schemas.microsoft.com/office/powerpoint/2010/main" val="794599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6109B6-BB21-4D76-B4CD-052D43F41C14}"/>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sp>
      <p:sp>
        <p:nvSpPr>
          <p:cNvPr id="3" name="Shape 1">
            <a:extLst>
              <a:ext uri="{FF2B5EF4-FFF2-40B4-BE49-F238E27FC236}">
                <a16:creationId xmlns:a16="http://schemas.microsoft.com/office/drawing/2014/main" id="{9C167279-B8BF-4531-A887-19A75F9BB85A}"/>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a:extLst>
              <a:ext uri="{FF2B5EF4-FFF2-40B4-BE49-F238E27FC236}">
                <a16:creationId xmlns:a16="http://schemas.microsoft.com/office/drawing/2014/main" id="{409F36F8-902E-40E0-A256-25025ED3E743}"/>
              </a:ext>
            </a:extLst>
          </p:cNvPr>
          <p:cNvSpPr>
            <a:spLocks noGrp="1"/>
          </p:cNvSpPr>
          <p:nvPr/>
        </p:nvSpPr>
        <p:spPr>
          <a:xfrm>
            <a:off x="640080" y="274320"/>
            <a:ext cx="7315200" cy="237744"/>
          </a:xfrm>
          <a:prstGeom prst="rect">
            <a:avLst/>
          </a:prstGeom>
          <a:noFill/>
        </p:spPr>
        <p:txBody>
          <a:bodyPr wrap="none" lIns="0" tIns="0" rIns="0" bIns="0" anchor="ctr">
            <a:noAutofit/>
          </a:bodyPr>
          <a:lstStyle/>
          <a:p>
            <a:pPr marL="0" indent="0" algn="l">
              <a:buNone/>
              <a:defRPr sz="1050" b="1">
                <a:solidFill>
                  <a:srgbClr val="AAB4C8"/>
                </a:solidFill>
                <a:latin typeface="Calibri"/>
                <a:ea typeface="Calibri"/>
                <a:cs typeface="Calibri"/>
              </a:defRPr>
            </a:pPr>
            <a:r>
              <a:rPr sz="1050" b="1" spc="200">
                <a:solidFill>
                  <a:srgbClr val="AAB4C8"/>
                </a:solidFill>
                <a:latin typeface="Calibri"/>
                <a:ea typeface="Calibri"/>
                <a:cs typeface="Calibri"/>
              </a:rPr>
              <a:t>AZURE AI FACTORY / PROJECTS</a:t>
            </a:r>
            <a:endParaRPr sz="1300"/>
          </a:p>
        </p:txBody>
      </p:sp>
      <p:sp>
        <p:nvSpPr>
          <p:cNvPr id="5" name="Text 3">
            <a:extLst>
              <a:ext uri="{FF2B5EF4-FFF2-40B4-BE49-F238E27FC236}">
                <a16:creationId xmlns:a16="http://schemas.microsoft.com/office/drawing/2014/main" id="{0C3E47F7-910D-4DA0-A8FF-B9C3C9ABFA58}"/>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2400" b="1">
                <a:solidFill>
                  <a:srgbClr val="F4F7FB"/>
                </a:solidFill>
                <a:latin typeface="Calibri"/>
                <a:ea typeface="Calibri"/>
                <a:cs typeface="Calibri"/>
              </a:defRPr>
            </a:pPr>
            <a:r>
              <a:rPr sz="2400" b="1">
                <a:solidFill>
                  <a:srgbClr val="F4F7FB"/>
                </a:solidFill>
                <a:latin typeface="Calibri"/>
                <a:ea typeface="Calibri"/>
                <a:cs typeface="Calibri"/>
              </a:rPr>
              <a:t>Four projects, four cost profiles</a:t>
            </a:r>
            <a:endParaRPr sz="1867"/>
          </a:p>
        </p:txBody>
      </p:sp>
      <p:sp>
        <p:nvSpPr>
          <p:cNvPr id="6" name="Text 4">
            <a:extLst>
              <a:ext uri="{FF2B5EF4-FFF2-40B4-BE49-F238E27FC236}">
                <a16:creationId xmlns:a16="http://schemas.microsoft.com/office/drawing/2014/main" id="{21DC8986-9705-4F1A-B71C-1CFBD3AD3DB1}"/>
              </a:ext>
            </a:extLst>
          </p:cNvPr>
          <p:cNvSpPr>
            <a:spLocks noGrp="1"/>
          </p:cNvSpPr>
          <p:nvPr/>
        </p:nvSpPr>
        <p:spPr>
          <a:xfrm>
            <a:off x="8321040" y="493776"/>
            <a:ext cx="3413455" cy="658368"/>
          </a:xfrm>
          <a:prstGeom prst="rect">
            <a:avLst/>
          </a:prstGeom>
          <a:noFill/>
        </p:spPr>
        <p:txBody>
          <a:bodyPr wrap="square" lIns="0" tIns="0" rIns="0" bIns="0" anchor="ctr">
            <a:noAutofit/>
          </a:bodyPr>
          <a:lstStyle/>
          <a:p>
            <a:pPr marL="0" indent="0" algn="r">
              <a:lnSpc>
                <a:spcPct val="115000"/>
              </a:lnSpc>
              <a:buNone/>
              <a:defRPr sz="1200" b="0">
                <a:solidFill>
                  <a:srgbClr val="C5CCDA"/>
                </a:solidFill>
                <a:latin typeface="Calibri"/>
                <a:ea typeface="Calibri"/>
                <a:cs typeface="Calibri"/>
              </a:defRPr>
            </a:pPr>
            <a:r>
              <a:rPr sz="1200" b="0">
                <a:solidFill>
                  <a:srgbClr val="C5CCDA"/>
                </a:solidFill>
                <a:latin typeface="Calibri"/>
                <a:ea typeface="Calibri"/>
                <a:cs typeface="Calibri"/>
              </a:rPr>
              <a:t>Azure only · January–July</a:t>
            </a:r>
            <a:endParaRPr sz="1200"/>
          </a:p>
          <a:p>
            <a:pPr marL="0" indent="0" algn="r">
              <a:lnSpc>
                <a:spcPct val="115000"/>
              </a:lnSpc>
              <a:buNone/>
              <a:defRPr sz="1200" b="0">
                <a:solidFill>
                  <a:srgbClr val="C5CCDA"/>
                </a:solidFill>
                <a:latin typeface="Calibri"/>
                <a:ea typeface="Calibri"/>
                <a:cs typeface="Calibri"/>
              </a:defRPr>
            </a:pPr>
            <a:r>
              <a:rPr sz="1200" b="0">
                <a:solidFill>
                  <a:srgbClr val="C5CCDA"/>
                </a:solidFill>
                <a:latin typeface="Calibri"/>
                <a:ea typeface="Calibri"/>
                <a:cs typeface="Calibri"/>
              </a:rPr>
              <a:t>Blue is infrastructure · purple is AI</a:t>
            </a:r>
            <a:endParaRPr sz="1200"/>
          </a:p>
        </p:txBody>
      </p:sp>
      <p:sp>
        <p:nvSpPr>
          <p:cNvPr id="7" name="Text 5">
            <a:extLst>
              <a:ext uri="{FF2B5EF4-FFF2-40B4-BE49-F238E27FC236}">
                <a16:creationId xmlns:a16="http://schemas.microsoft.com/office/drawing/2014/main" id="{736AB118-C9C7-40AA-B69B-EB6068327CD1}"/>
              </a:ext>
            </a:extLst>
          </p:cNvPr>
          <p:cNvSpPr>
            <a:spLocks noGrp="1"/>
          </p:cNvSpPr>
          <p:nvPr/>
        </p:nvSpPr>
        <p:spPr>
          <a:xfrm>
            <a:off x="457200" y="6345936"/>
            <a:ext cx="11277295" cy="402336"/>
          </a:xfrm>
          <a:prstGeom prst="rect">
            <a:avLst/>
          </a:prstGeom>
          <a:noFill/>
        </p:spPr>
        <p:txBody>
          <a:bodyPr wrap="square" lIns="0" tIns="0" rIns="0" bIns="0" anchor="ctr">
            <a:noAutofit/>
          </a:bodyPr>
          <a:lstStyle/>
          <a:p>
            <a:pPr marL="0" indent="0" algn="l">
              <a:lnSpc>
                <a:spcPct val="115000"/>
              </a:lnSpc>
              <a:buNone/>
              <a:defRPr sz="1350" b="0">
                <a:solidFill>
                  <a:srgbClr val="C5CCDA"/>
                </a:solidFill>
                <a:latin typeface="Calibri"/>
                <a:ea typeface="Calibri"/>
                <a:cs typeface="Calibri"/>
              </a:defRPr>
            </a:pPr>
            <a:r>
              <a:rPr sz="1350" b="0">
                <a:solidFill>
                  <a:srgbClr val="C5CCDA"/>
                </a:solidFill>
                <a:latin typeface="Calibri"/>
                <a:ea typeface="Calibri"/>
                <a:cs typeface="Calibri"/>
              </a:rPr>
              <a:t>Azure project costs vary by architecture and service mix. The four dollar totals show the scale clearly; AWS project-level data is not included.</a:t>
            </a:r>
            <a:endParaRPr sz="1200"/>
          </a:p>
        </p:txBody>
      </p:sp>
      <p:sp>
        <p:nvSpPr>
          <p:cNvPr id="8" name="Shape 6">
            <a:extLst>
              <a:ext uri="{FF2B5EF4-FFF2-40B4-BE49-F238E27FC236}">
                <a16:creationId xmlns:a16="http://schemas.microsoft.com/office/drawing/2014/main" id="{F3DD5B80-1B67-4ABB-A5B0-CCF99EC556A8}"/>
              </a:ext>
            </a:extLst>
          </p:cNvPr>
          <p:cNvSpPr>
            <a:spLocks noGrp="1"/>
          </p:cNvSpPr>
          <p:nvPr/>
        </p:nvSpPr>
        <p:spPr>
          <a:xfrm>
            <a:off x="457200" y="1234440"/>
            <a:ext cx="3606698" cy="960120"/>
          </a:xfrm>
          <a:prstGeom prst="roundRect">
            <a:avLst>
              <a:gd name="adj" fmla="val 5714"/>
            </a:avLst>
          </a:prstGeom>
          <a:solidFill>
            <a:srgbClr val="121B2D"/>
          </a:solidFill>
          <a:ln w="12700">
            <a:solidFill>
              <a:srgbClr val="23304A"/>
            </a:solidFill>
            <a:prstDash val="solid"/>
          </a:ln>
        </p:spPr>
      </p:sp>
      <p:sp>
        <p:nvSpPr>
          <p:cNvPr id="9" name="Text 7">
            <a:extLst>
              <a:ext uri="{FF2B5EF4-FFF2-40B4-BE49-F238E27FC236}">
                <a16:creationId xmlns:a16="http://schemas.microsoft.com/office/drawing/2014/main" id="{14D96D70-F337-441E-9D7A-689EAB70872B}"/>
              </a:ext>
            </a:extLst>
          </p:cNvPr>
          <p:cNvSpPr>
            <a:spLocks noGrp="1"/>
          </p:cNvSpPr>
          <p:nvPr/>
        </p:nvSpPr>
        <p:spPr>
          <a:xfrm>
            <a:off x="658368" y="132588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0" name="Text 8">
            <a:extLst>
              <a:ext uri="{FF2B5EF4-FFF2-40B4-BE49-F238E27FC236}">
                <a16:creationId xmlns:a16="http://schemas.microsoft.com/office/drawing/2014/main" id="{B10D9A1A-1AEE-4D39-AFDE-0804671C89B6}"/>
              </a:ext>
            </a:extLst>
          </p:cNvPr>
          <p:cNvSpPr>
            <a:spLocks noGrp="1"/>
          </p:cNvSpPr>
          <p:nvPr/>
        </p:nvSpPr>
        <p:spPr>
          <a:xfrm>
            <a:off x="658368" y="1527048"/>
            <a:ext cx="3204362" cy="438912"/>
          </a:xfrm>
          <a:prstGeom prst="rect">
            <a:avLst/>
          </a:prstGeom>
          <a:noFill/>
        </p:spPr>
        <p:txBody>
          <a:bodyPr wrap="none" lIns="0" tIns="0" rIns="0" bIns="0" anchor="ctr">
            <a:noAutofit/>
          </a:bodyPr>
          <a:lstStyle/>
          <a:p>
            <a:pPr marL="0" indent="0" algn="l">
              <a:buNone/>
              <a:defRPr sz="2550" b="1">
                <a:solidFill>
                  <a:srgbClr val="F4F7FB"/>
                </a:solidFill>
                <a:latin typeface="Calibri"/>
                <a:ea typeface="Calibri"/>
                <a:cs typeface="Calibri"/>
              </a:defRPr>
            </a:pPr>
            <a:r>
              <a:rPr sz="2550" b="1">
                <a:solidFill>
                  <a:srgbClr val="F4F7FB"/>
                </a:solidFill>
                <a:latin typeface="Calibri"/>
                <a:ea typeface="Calibri"/>
                <a:cs typeface="Calibri"/>
              </a:rPr>
              <a:t>$165,589</a:t>
            </a:r>
            <a:endParaRPr sz="2800"/>
          </a:p>
        </p:txBody>
      </p:sp>
      <p:sp>
        <p:nvSpPr>
          <p:cNvPr id="11" name="Text 9">
            <a:extLst>
              <a:ext uri="{FF2B5EF4-FFF2-40B4-BE49-F238E27FC236}">
                <a16:creationId xmlns:a16="http://schemas.microsoft.com/office/drawing/2014/main" id="{2BB8A3CA-D2D2-4D8F-843E-4D2FD8E8926B}"/>
              </a:ext>
            </a:extLst>
          </p:cNvPr>
          <p:cNvSpPr>
            <a:spLocks noGrp="1"/>
          </p:cNvSpPr>
          <p:nvPr/>
        </p:nvSpPr>
        <p:spPr>
          <a:xfrm>
            <a:off x="658368" y="1929384"/>
            <a:ext cx="3204362" cy="329184"/>
          </a:xfrm>
          <a:prstGeom prst="rect">
            <a:avLst/>
          </a:prstGeom>
          <a:noFill/>
        </p:spPr>
        <p:txBody>
          <a:bodyPr wrap="none" lIns="0" tIns="0" rIns="0" bIns="0" anchor="ctr">
            <a:noAutofit/>
          </a:bodyPr>
          <a:lstStyle/>
          <a:p>
            <a:pPr marL="0" indent="0" algn="l">
              <a:lnSpc>
                <a:spcPct val="105000"/>
              </a:lnSpc>
              <a:buNone/>
              <a:defRPr sz="1425" b="1">
                <a:solidFill>
                  <a:srgbClr val="C5CCDA"/>
                </a:solidFill>
                <a:latin typeface="Calibri"/>
                <a:ea typeface="Calibri"/>
                <a:cs typeface="Calibri"/>
              </a:defRPr>
            </a:pPr>
            <a:r>
              <a:rPr sz="1425" b="1">
                <a:solidFill>
                  <a:srgbClr val="C5CCDA"/>
                </a:solidFill>
                <a:latin typeface="Calibri"/>
                <a:ea typeface="Calibri"/>
                <a:cs typeface="Calibri"/>
              </a:rPr>
              <a:t>four projects combined</a:t>
            </a:r>
            <a:endParaRPr sz="1200"/>
          </a:p>
        </p:txBody>
      </p:sp>
      <p:sp>
        <p:nvSpPr>
          <p:cNvPr id="12" name="Shape 10">
            <a:extLst>
              <a:ext uri="{FF2B5EF4-FFF2-40B4-BE49-F238E27FC236}">
                <a16:creationId xmlns:a16="http://schemas.microsoft.com/office/drawing/2014/main" id="{38B7E958-A4D6-4C5F-A86D-FF6C022D2B57}"/>
              </a:ext>
            </a:extLst>
          </p:cNvPr>
          <p:cNvSpPr>
            <a:spLocks noGrp="1"/>
          </p:cNvSpPr>
          <p:nvPr/>
        </p:nvSpPr>
        <p:spPr>
          <a:xfrm>
            <a:off x="4292498" y="1234440"/>
            <a:ext cx="3606698" cy="960120"/>
          </a:xfrm>
          <a:prstGeom prst="roundRect">
            <a:avLst>
              <a:gd name="adj" fmla="val 5714"/>
            </a:avLst>
          </a:prstGeom>
          <a:solidFill>
            <a:srgbClr val="121B2D"/>
          </a:solidFill>
          <a:ln w="12700">
            <a:solidFill>
              <a:srgbClr val="23304A"/>
            </a:solidFill>
            <a:prstDash val="solid"/>
          </a:ln>
        </p:spPr>
      </p:sp>
      <p:sp>
        <p:nvSpPr>
          <p:cNvPr id="13" name="Text 11">
            <a:extLst>
              <a:ext uri="{FF2B5EF4-FFF2-40B4-BE49-F238E27FC236}">
                <a16:creationId xmlns:a16="http://schemas.microsoft.com/office/drawing/2014/main" id="{10F7683A-ACF6-4B31-86C2-BB4A529A1401}"/>
              </a:ext>
            </a:extLst>
          </p:cNvPr>
          <p:cNvSpPr>
            <a:spLocks noGrp="1"/>
          </p:cNvSpPr>
          <p:nvPr/>
        </p:nvSpPr>
        <p:spPr>
          <a:xfrm>
            <a:off x="4493666" y="132588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PROJECT</a:t>
            </a:r>
            <a:endParaRPr sz="1200"/>
          </a:p>
        </p:txBody>
      </p:sp>
      <p:sp>
        <p:nvSpPr>
          <p:cNvPr id="14" name="Text 12">
            <a:extLst>
              <a:ext uri="{FF2B5EF4-FFF2-40B4-BE49-F238E27FC236}">
                <a16:creationId xmlns:a16="http://schemas.microsoft.com/office/drawing/2014/main" id="{3DA8EA9C-9563-4F5A-80EC-362F9D3A85D7}"/>
              </a:ext>
            </a:extLst>
          </p:cNvPr>
          <p:cNvSpPr>
            <a:spLocks noGrp="1"/>
          </p:cNvSpPr>
          <p:nvPr/>
        </p:nvSpPr>
        <p:spPr>
          <a:xfrm>
            <a:off x="4493666" y="152704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AI Factory</a:t>
            </a:r>
            <a:endParaRPr sz="2800"/>
          </a:p>
        </p:txBody>
      </p:sp>
      <p:sp>
        <p:nvSpPr>
          <p:cNvPr id="20" name="Text 18">
            <a:extLst>
              <a:ext uri="{FF2B5EF4-FFF2-40B4-BE49-F238E27FC236}">
                <a16:creationId xmlns:a16="http://schemas.microsoft.com/office/drawing/2014/main" id="{49E03952-A0B9-4675-ACD3-987152FAB3CA}"/>
              </a:ext>
            </a:extLst>
          </p:cNvPr>
          <p:cNvSpPr>
            <a:spLocks noGrp="1"/>
          </p:cNvSpPr>
          <p:nvPr/>
        </p:nvSpPr>
        <p:spPr>
          <a:xfrm>
            <a:off x="457200" y="2404872"/>
            <a:ext cx="8899855" cy="274320"/>
          </a:xfrm>
          <a:prstGeom prst="rect">
            <a:avLst/>
          </a:prstGeom>
          <a:noFill/>
        </p:spPr>
        <p:txBody>
          <a:bodyPr wrap="square" lIns="0" tIns="0" rIns="0" bIns="0" anchor="ctr"/>
          <a:lstStyle/>
          <a:p>
            <a:pPr marL="0" indent="0">
              <a:buNone/>
            </a:pPr>
            <a:r>
              <a:rPr sz="1600" b="1">
                <a:solidFill>
                  <a:srgbClr val="F4F7FB"/>
                </a:solidFill>
                <a:latin typeface="Calibri"/>
                <a:ea typeface="Calibri"/>
                <a:cs typeface="Calibri"/>
              </a:rPr>
              <a:t>AI Factory</a:t>
            </a:r>
            <a:endParaRPr sz="1600"/>
          </a:p>
        </p:txBody>
      </p:sp>
      <p:sp>
        <p:nvSpPr>
          <p:cNvPr id="22" name="Shape 20">
            <a:extLst>
              <a:ext uri="{FF2B5EF4-FFF2-40B4-BE49-F238E27FC236}">
                <a16:creationId xmlns:a16="http://schemas.microsoft.com/office/drawing/2014/main" id="{11F373AA-86E1-4E4A-8E7A-47F6C9ED4C38}"/>
              </a:ext>
            </a:extLst>
          </p:cNvPr>
          <p:cNvSpPr>
            <a:spLocks noGrp="1"/>
          </p:cNvSpPr>
          <p:nvPr/>
        </p:nvSpPr>
        <p:spPr>
          <a:xfrm>
            <a:off x="457200" y="2752344"/>
            <a:ext cx="9905695" cy="365760"/>
          </a:xfrm>
          <a:prstGeom prst="rect">
            <a:avLst/>
          </a:prstGeom>
          <a:solidFill>
            <a:srgbClr val="0E1422"/>
          </a:solidFill>
          <a:ln w="9525">
            <a:solidFill>
              <a:srgbClr val="23304A"/>
            </a:solidFill>
            <a:prstDash val="solid"/>
          </a:ln>
        </p:spPr>
      </p:sp>
      <p:sp>
        <p:nvSpPr>
          <p:cNvPr id="23" name="Shape 21">
            <a:extLst>
              <a:ext uri="{FF2B5EF4-FFF2-40B4-BE49-F238E27FC236}">
                <a16:creationId xmlns:a16="http://schemas.microsoft.com/office/drawing/2014/main" id="{0661835E-0D63-4706-B2C8-D50DF298AE5F}"/>
              </a:ext>
            </a:extLst>
          </p:cNvPr>
          <p:cNvSpPr>
            <a:spLocks noGrp="1"/>
          </p:cNvSpPr>
          <p:nvPr/>
        </p:nvSpPr>
        <p:spPr>
          <a:xfrm>
            <a:off x="457200" y="2752344"/>
            <a:ext cx="6568394" cy="365760"/>
          </a:xfrm>
          <a:prstGeom prst="rect">
            <a:avLst/>
          </a:prstGeom>
          <a:solidFill>
            <a:srgbClr val="2F8CFF"/>
          </a:solidFill>
          <a:ln w="12700">
            <a:solidFill>
              <a:srgbClr val="2F8CFF"/>
            </a:solidFill>
            <a:prstDash val="solid"/>
          </a:ln>
        </p:spPr>
      </p:sp>
      <p:sp>
        <p:nvSpPr>
          <p:cNvPr id="24" name="Shape 22">
            <a:extLst>
              <a:ext uri="{FF2B5EF4-FFF2-40B4-BE49-F238E27FC236}">
                <a16:creationId xmlns:a16="http://schemas.microsoft.com/office/drawing/2014/main" id="{BF6CAB51-1D57-458E-83E4-0A1AE25561FF}"/>
              </a:ext>
            </a:extLst>
          </p:cNvPr>
          <p:cNvSpPr>
            <a:spLocks noGrp="1"/>
          </p:cNvSpPr>
          <p:nvPr/>
        </p:nvSpPr>
        <p:spPr>
          <a:xfrm>
            <a:off x="7025594" y="2752344"/>
            <a:ext cx="3337301" cy="365760"/>
          </a:xfrm>
          <a:prstGeom prst="rect">
            <a:avLst/>
          </a:prstGeom>
          <a:solidFill>
            <a:srgbClr val="B07CFF"/>
          </a:solidFill>
          <a:ln w="12700">
            <a:solidFill>
              <a:srgbClr val="B07CFF"/>
            </a:solidFill>
            <a:prstDash val="solid"/>
          </a:ln>
        </p:spPr>
      </p:sp>
      <p:sp>
        <p:nvSpPr>
          <p:cNvPr id="25" name="Text 23">
            <a:extLst>
              <a:ext uri="{FF2B5EF4-FFF2-40B4-BE49-F238E27FC236}">
                <a16:creationId xmlns:a16="http://schemas.microsoft.com/office/drawing/2014/main" id="{A14FC93B-D744-4E02-B310-EA8D867445B8}"/>
              </a:ext>
            </a:extLst>
          </p:cNvPr>
          <p:cNvSpPr>
            <a:spLocks noGrp="1"/>
          </p:cNvSpPr>
          <p:nvPr/>
        </p:nvSpPr>
        <p:spPr>
          <a:xfrm>
            <a:off x="10500055" y="2752344"/>
            <a:ext cx="1234440" cy="365760"/>
          </a:xfrm>
          <a:prstGeom prst="rect">
            <a:avLst/>
          </a:prstGeom>
          <a:noFill/>
        </p:spPr>
        <p:txBody>
          <a:bodyPr wrap="square" lIns="0" tIns="0" rIns="0" bIns="0" anchor="ctr"/>
          <a:lstStyle/>
          <a:p>
            <a:pPr marL="0" indent="0">
              <a:buNone/>
            </a:pPr>
            <a:r>
              <a:rPr sz="1800" b="1">
                <a:solidFill>
                  <a:srgbClr val="F4F7FB"/>
                </a:solidFill>
                <a:latin typeface="Calibri"/>
                <a:ea typeface="Calibri"/>
                <a:cs typeface="Calibri"/>
              </a:rPr>
              <a:t>$92,247</a:t>
            </a:r>
            <a:endParaRPr sz="1800"/>
          </a:p>
        </p:txBody>
      </p:sp>
      <p:sp>
        <p:nvSpPr>
          <p:cNvPr id="26" name="Text 24">
            <a:extLst>
              <a:ext uri="{FF2B5EF4-FFF2-40B4-BE49-F238E27FC236}">
                <a16:creationId xmlns:a16="http://schemas.microsoft.com/office/drawing/2014/main" id="{539FC794-1F5D-43D3-8151-0329BDDD7C89}"/>
              </a:ext>
            </a:extLst>
          </p:cNvPr>
          <p:cNvSpPr>
            <a:spLocks noGrp="1"/>
          </p:cNvSpPr>
          <p:nvPr/>
        </p:nvSpPr>
        <p:spPr>
          <a:xfrm>
            <a:off x="457200" y="3163824"/>
            <a:ext cx="9905695" cy="201168"/>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66% infrastructure, 34% AI</a:t>
            </a:r>
            <a:endParaRPr sz="1200"/>
          </a:p>
        </p:txBody>
      </p:sp>
      <p:sp>
        <p:nvSpPr>
          <p:cNvPr id="27" name="Text 25">
            <a:extLst>
              <a:ext uri="{FF2B5EF4-FFF2-40B4-BE49-F238E27FC236}">
                <a16:creationId xmlns:a16="http://schemas.microsoft.com/office/drawing/2014/main" id="{B651D3B9-469B-4DD5-A0DD-7D4019188F22}"/>
              </a:ext>
            </a:extLst>
          </p:cNvPr>
          <p:cNvSpPr>
            <a:spLocks noGrp="1"/>
          </p:cNvSpPr>
          <p:nvPr/>
        </p:nvSpPr>
        <p:spPr>
          <a:xfrm>
            <a:off x="457200" y="3364992"/>
            <a:ext cx="8899855" cy="274320"/>
          </a:xfrm>
          <a:prstGeom prst="rect">
            <a:avLst/>
          </a:prstGeom>
          <a:noFill/>
        </p:spPr>
        <p:txBody>
          <a:bodyPr wrap="square" lIns="0" tIns="0" rIns="0" bIns="0" anchor="ctr"/>
          <a:lstStyle/>
          <a:p>
            <a:pPr marL="0" indent="0">
              <a:buNone/>
            </a:pPr>
            <a:r>
              <a:rPr sz="1600" b="1">
                <a:solidFill>
                  <a:srgbClr val="F4F7FB"/>
                </a:solidFill>
                <a:latin typeface="Calibri"/>
                <a:ea typeface="Calibri"/>
                <a:cs typeface="Calibri"/>
              </a:rPr>
              <a:t>Solugen</a:t>
            </a:r>
            <a:endParaRPr sz="1600"/>
          </a:p>
        </p:txBody>
      </p:sp>
      <p:sp>
        <p:nvSpPr>
          <p:cNvPr id="29" name="Shape 27">
            <a:extLst>
              <a:ext uri="{FF2B5EF4-FFF2-40B4-BE49-F238E27FC236}">
                <a16:creationId xmlns:a16="http://schemas.microsoft.com/office/drawing/2014/main" id="{EA68786B-E61A-4B1A-9F3B-9CCC754024DE}"/>
              </a:ext>
            </a:extLst>
          </p:cNvPr>
          <p:cNvSpPr>
            <a:spLocks noGrp="1"/>
          </p:cNvSpPr>
          <p:nvPr/>
        </p:nvSpPr>
        <p:spPr>
          <a:xfrm>
            <a:off x="457200" y="3712464"/>
            <a:ext cx="9905695" cy="365760"/>
          </a:xfrm>
          <a:prstGeom prst="rect">
            <a:avLst/>
          </a:prstGeom>
          <a:solidFill>
            <a:srgbClr val="0E1422"/>
          </a:solidFill>
          <a:ln w="9525">
            <a:solidFill>
              <a:srgbClr val="23304A"/>
            </a:solidFill>
            <a:prstDash val="solid"/>
          </a:ln>
        </p:spPr>
      </p:sp>
      <p:sp>
        <p:nvSpPr>
          <p:cNvPr id="30" name="Shape 28">
            <a:extLst>
              <a:ext uri="{FF2B5EF4-FFF2-40B4-BE49-F238E27FC236}">
                <a16:creationId xmlns:a16="http://schemas.microsoft.com/office/drawing/2014/main" id="{7D411BDA-5388-491D-AC4B-19D27D3808B5}"/>
              </a:ext>
            </a:extLst>
          </p:cNvPr>
          <p:cNvSpPr>
            <a:spLocks noGrp="1"/>
          </p:cNvSpPr>
          <p:nvPr/>
        </p:nvSpPr>
        <p:spPr>
          <a:xfrm>
            <a:off x="457200" y="3712464"/>
            <a:ext cx="664572" cy="365760"/>
          </a:xfrm>
          <a:prstGeom prst="rect">
            <a:avLst/>
          </a:prstGeom>
          <a:solidFill>
            <a:srgbClr val="2F8CFF"/>
          </a:solidFill>
          <a:ln w="12700">
            <a:solidFill>
              <a:srgbClr val="2F8CFF"/>
            </a:solidFill>
            <a:prstDash val="solid"/>
          </a:ln>
        </p:spPr>
      </p:sp>
      <p:sp>
        <p:nvSpPr>
          <p:cNvPr id="31" name="Shape 29">
            <a:extLst>
              <a:ext uri="{FF2B5EF4-FFF2-40B4-BE49-F238E27FC236}">
                <a16:creationId xmlns:a16="http://schemas.microsoft.com/office/drawing/2014/main" id="{71A3DE92-723B-465D-A5C1-10DDE850CCAF}"/>
              </a:ext>
            </a:extLst>
          </p:cNvPr>
          <p:cNvSpPr>
            <a:spLocks noGrp="1"/>
          </p:cNvSpPr>
          <p:nvPr/>
        </p:nvSpPr>
        <p:spPr>
          <a:xfrm>
            <a:off x="1121772" y="3712464"/>
            <a:ext cx="2732009" cy="365760"/>
          </a:xfrm>
          <a:prstGeom prst="rect">
            <a:avLst/>
          </a:prstGeom>
          <a:solidFill>
            <a:srgbClr val="B07CFF"/>
          </a:solidFill>
          <a:ln w="12700">
            <a:solidFill>
              <a:srgbClr val="B07CFF"/>
            </a:solidFill>
            <a:prstDash val="solid"/>
          </a:ln>
        </p:spPr>
      </p:sp>
      <p:sp>
        <p:nvSpPr>
          <p:cNvPr id="32" name="Text 30">
            <a:extLst>
              <a:ext uri="{FF2B5EF4-FFF2-40B4-BE49-F238E27FC236}">
                <a16:creationId xmlns:a16="http://schemas.microsoft.com/office/drawing/2014/main" id="{B455F1B7-7F53-4C09-A419-AFBFA2504B98}"/>
              </a:ext>
            </a:extLst>
          </p:cNvPr>
          <p:cNvSpPr>
            <a:spLocks noGrp="1"/>
          </p:cNvSpPr>
          <p:nvPr/>
        </p:nvSpPr>
        <p:spPr>
          <a:xfrm>
            <a:off x="10500055" y="3712464"/>
            <a:ext cx="1234440" cy="365760"/>
          </a:xfrm>
          <a:prstGeom prst="rect">
            <a:avLst/>
          </a:prstGeom>
          <a:noFill/>
        </p:spPr>
        <p:txBody>
          <a:bodyPr wrap="square" lIns="0" tIns="0" rIns="0" bIns="0" anchor="ctr"/>
          <a:lstStyle/>
          <a:p>
            <a:pPr marL="0" indent="0">
              <a:buNone/>
            </a:pPr>
            <a:r>
              <a:rPr sz="1800" b="1">
                <a:solidFill>
                  <a:srgbClr val="F4F7FB"/>
                </a:solidFill>
                <a:latin typeface="Calibri"/>
                <a:ea typeface="Calibri"/>
                <a:cs typeface="Calibri"/>
              </a:rPr>
              <a:t>$31,631</a:t>
            </a:r>
            <a:endParaRPr sz="1800"/>
          </a:p>
        </p:txBody>
      </p:sp>
      <p:sp>
        <p:nvSpPr>
          <p:cNvPr id="33" name="Text 31">
            <a:extLst>
              <a:ext uri="{FF2B5EF4-FFF2-40B4-BE49-F238E27FC236}">
                <a16:creationId xmlns:a16="http://schemas.microsoft.com/office/drawing/2014/main" id="{3CF8A463-5F65-4976-8DD9-CB0222F2BA42}"/>
              </a:ext>
            </a:extLst>
          </p:cNvPr>
          <p:cNvSpPr>
            <a:spLocks noGrp="1"/>
          </p:cNvSpPr>
          <p:nvPr/>
        </p:nvSpPr>
        <p:spPr>
          <a:xfrm>
            <a:off x="457200" y="4123944"/>
            <a:ext cx="9905695" cy="201168"/>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20% infrastructure, 80% AI</a:t>
            </a:r>
            <a:endParaRPr sz="1200"/>
          </a:p>
        </p:txBody>
      </p:sp>
      <p:sp>
        <p:nvSpPr>
          <p:cNvPr id="34" name="Text 32">
            <a:extLst>
              <a:ext uri="{FF2B5EF4-FFF2-40B4-BE49-F238E27FC236}">
                <a16:creationId xmlns:a16="http://schemas.microsoft.com/office/drawing/2014/main" id="{C0B16FB4-DECD-4360-872E-DC69CCD1C3AA}"/>
              </a:ext>
            </a:extLst>
          </p:cNvPr>
          <p:cNvSpPr>
            <a:spLocks noGrp="1"/>
          </p:cNvSpPr>
          <p:nvPr/>
        </p:nvSpPr>
        <p:spPr>
          <a:xfrm>
            <a:off x="457200" y="4325112"/>
            <a:ext cx="8899855" cy="274320"/>
          </a:xfrm>
          <a:prstGeom prst="rect">
            <a:avLst/>
          </a:prstGeom>
          <a:noFill/>
        </p:spPr>
        <p:txBody>
          <a:bodyPr wrap="square" lIns="0" tIns="0" rIns="0" bIns="0" anchor="ctr"/>
          <a:lstStyle/>
          <a:p>
            <a:pPr marL="0" indent="0">
              <a:buNone/>
            </a:pPr>
            <a:r>
              <a:rPr sz="1600" b="1">
                <a:solidFill>
                  <a:srgbClr val="F4F7FB"/>
                </a:solidFill>
                <a:latin typeface="Calibri"/>
                <a:ea typeface="Calibri"/>
                <a:cs typeface="Calibri"/>
              </a:rPr>
              <a:t>Document Intelligence</a:t>
            </a:r>
            <a:endParaRPr sz="1600"/>
          </a:p>
        </p:txBody>
      </p:sp>
      <p:sp>
        <p:nvSpPr>
          <p:cNvPr id="36" name="Shape 34">
            <a:extLst>
              <a:ext uri="{FF2B5EF4-FFF2-40B4-BE49-F238E27FC236}">
                <a16:creationId xmlns:a16="http://schemas.microsoft.com/office/drawing/2014/main" id="{6BC30758-7791-4B51-9BF4-A47C3A26A8C7}"/>
              </a:ext>
            </a:extLst>
          </p:cNvPr>
          <p:cNvSpPr>
            <a:spLocks noGrp="1"/>
          </p:cNvSpPr>
          <p:nvPr/>
        </p:nvSpPr>
        <p:spPr>
          <a:xfrm>
            <a:off x="457200" y="4672584"/>
            <a:ext cx="9905695" cy="365760"/>
          </a:xfrm>
          <a:prstGeom prst="rect">
            <a:avLst/>
          </a:prstGeom>
          <a:solidFill>
            <a:srgbClr val="0E1422"/>
          </a:solidFill>
          <a:ln w="9525">
            <a:solidFill>
              <a:srgbClr val="23304A"/>
            </a:solidFill>
            <a:prstDash val="solid"/>
          </a:ln>
        </p:spPr>
      </p:sp>
      <p:sp>
        <p:nvSpPr>
          <p:cNvPr id="37" name="Shape 35">
            <a:extLst>
              <a:ext uri="{FF2B5EF4-FFF2-40B4-BE49-F238E27FC236}">
                <a16:creationId xmlns:a16="http://schemas.microsoft.com/office/drawing/2014/main" id="{271636E2-80DE-4CEF-B517-60C8F89C94B9}"/>
              </a:ext>
            </a:extLst>
          </p:cNvPr>
          <p:cNvSpPr>
            <a:spLocks noGrp="1"/>
          </p:cNvSpPr>
          <p:nvPr/>
        </p:nvSpPr>
        <p:spPr>
          <a:xfrm>
            <a:off x="457200" y="4672584"/>
            <a:ext cx="3325619" cy="365760"/>
          </a:xfrm>
          <a:prstGeom prst="rect">
            <a:avLst/>
          </a:prstGeom>
          <a:solidFill>
            <a:srgbClr val="B07CFF"/>
          </a:solidFill>
          <a:ln w="12700">
            <a:solidFill>
              <a:srgbClr val="B07CFF"/>
            </a:solidFill>
            <a:prstDash val="solid"/>
          </a:ln>
        </p:spPr>
      </p:sp>
      <p:sp>
        <p:nvSpPr>
          <p:cNvPr id="38" name="Text 36">
            <a:extLst>
              <a:ext uri="{FF2B5EF4-FFF2-40B4-BE49-F238E27FC236}">
                <a16:creationId xmlns:a16="http://schemas.microsoft.com/office/drawing/2014/main" id="{0CF57338-8B87-4986-B28D-5846CCF9E96B}"/>
              </a:ext>
            </a:extLst>
          </p:cNvPr>
          <p:cNvSpPr>
            <a:spLocks noGrp="1"/>
          </p:cNvSpPr>
          <p:nvPr/>
        </p:nvSpPr>
        <p:spPr>
          <a:xfrm>
            <a:off x="10500055" y="4672584"/>
            <a:ext cx="1234440" cy="365760"/>
          </a:xfrm>
          <a:prstGeom prst="rect">
            <a:avLst/>
          </a:prstGeom>
          <a:noFill/>
        </p:spPr>
        <p:txBody>
          <a:bodyPr wrap="square" lIns="0" tIns="0" rIns="0" bIns="0" anchor="ctr"/>
          <a:lstStyle/>
          <a:p>
            <a:pPr marL="0" indent="0">
              <a:buNone/>
            </a:pPr>
            <a:r>
              <a:rPr sz="1800" b="1">
                <a:solidFill>
                  <a:srgbClr val="F4F7FB"/>
                </a:solidFill>
                <a:latin typeface="Calibri"/>
                <a:ea typeface="Calibri"/>
                <a:cs typeface="Calibri"/>
              </a:rPr>
              <a:t>$30,970</a:t>
            </a:r>
            <a:endParaRPr sz="1800"/>
          </a:p>
        </p:txBody>
      </p:sp>
      <p:sp>
        <p:nvSpPr>
          <p:cNvPr id="39" name="Text 37">
            <a:extLst>
              <a:ext uri="{FF2B5EF4-FFF2-40B4-BE49-F238E27FC236}">
                <a16:creationId xmlns:a16="http://schemas.microsoft.com/office/drawing/2014/main" id="{060DE204-60F0-4195-819B-DAEC958FB8AA}"/>
              </a:ext>
            </a:extLst>
          </p:cNvPr>
          <p:cNvSpPr>
            <a:spLocks noGrp="1"/>
          </p:cNvSpPr>
          <p:nvPr/>
        </p:nvSpPr>
        <p:spPr>
          <a:xfrm>
            <a:off x="457200" y="5084064"/>
            <a:ext cx="9905695" cy="201168"/>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entirely AI, no infrastructure</a:t>
            </a:r>
            <a:endParaRPr sz="1200"/>
          </a:p>
        </p:txBody>
      </p:sp>
      <p:sp>
        <p:nvSpPr>
          <p:cNvPr id="40" name="Text 38">
            <a:extLst>
              <a:ext uri="{FF2B5EF4-FFF2-40B4-BE49-F238E27FC236}">
                <a16:creationId xmlns:a16="http://schemas.microsoft.com/office/drawing/2014/main" id="{99DEB121-4464-4C19-BAE4-C90E6D112839}"/>
              </a:ext>
            </a:extLst>
          </p:cNvPr>
          <p:cNvSpPr>
            <a:spLocks noGrp="1"/>
          </p:cNvSpPr>
          <p:nvPr/>
        </p:nvSpPr>
        <p:spPr>
          <a:xfrm>
            <a:off x="457200" y="5285232"/>
            <a:ext cx="8899855" cy="274320"/>
          </a:xfrm>
          <a:prstGeom prst="rect">
            <a:avLst/>
          </a:prstGeom>
          <a:noFill/>
        </p:spPr>
        <p:txBody>
          <a:bodyPr wrap="square" lIns="0" tIns="0" rIns="0" bIns="0" anchor="ctr"/>
          <a:lstStyle/>
          <a:p>
            <a:pPr marL="0" indent="0">
              <a:buNone/>
            </a:pPr>
            <a:r>
              <a:rPr sz="1600" b="1">
                <a:solidFill>
                  <a:srgbClr val="F4F7FB"/>
                </a:solidFill>
                <a:latin typeface="Calibri"/>
                <a:ea typeface="Calibri"/>
                <a:cs typeface="Calibri"/>
              </a:rPr>
              <a:t>INSAIT</a:t>
            </a:r>
            <a:endParaRPr sz="1600"/>
          </a:p>
        </p:txBody>
      </p:sp>
      <p:sp>
        <p:nvSpPr>
          <p:cNvPr id="42" name="Shape 40">
            <a:extLst>
              <a:ext uri="{FF2B5EF4-FFF2-40B4-BE49-F238E27FC236}">
                <a16:creationId xmlns:a16="http://schemas.microsoft.com/office/drawing/2014/main" id="{D4F3F481-23E6-48AF-B476-1AA4D45CE317}"/>
              </a:ext>
            </a:extLst>
          </p:cNvPr>
          <p:cNvSpPr>
            <a:spLocks noGrp="1"/>
          </p:cNvSpPr>
          <p:nvPr/>
        </p:nvSpPr>
        <p:spPr>
          <a:xfrm>
            <a:off x="457200" y="5632704"/>
            <a:ext cx="9905695" cy="365760"/>
          </a:xfrm>
          <a:prstGeom prst="rect">
            <a:avLst/>
          </a:prstGeom>
          <a:solidFill>
            <a:srgbClr val="0E1422"/>
          </a:solidFill>
          <a:ln w="9525">
            <a:solidFill>
              <a:srgbClr val="23304A"/>
            </a:solidFill>
            <a:prstDash val="solid"/>
          </a:ln>
        </p:spPr>
      </p:sp>
      <p:sp>
        <p:nvSpPr>
          <p:cNvPr id="43" name="Shape 41">
            <a:extLst>
              <a:ext uri="{FF2B5EF4-FFF2-40B4-BE49-F238E27FC236}">
                <a16:creationId xmlns:a16="http://schemas.microsoft.com/office/drawing/2014/main" id="{10EB30DD-02DF-48AA-BB92-974C921B20BF}"/>
              </a:ext>
            </a:extLst>
          </p:cNvPr>
          <p:cNvSpPr>
            <a:spLocks noGrp="1"/>
          </p:cNvSpPr>
          <p:nvPr/>
        </p:nvSpPr>
        <p:spPr>
          <a:xfrm>
            <a:off x="457200" y="5632704"/>
            <a:ext cx="1040722" cy="365760"/>
          </a:xfrm>
          <a:prstGeom prst="rect">
            <a:avLst/>
          </a:prstGeom>
          <a:solidFill>
            <a:srgbClr val="2F8CFF"/>
          </a:solidFill>
          <a:ln w="12700">
            <a:solidFill>
              <a:srgbClr val="2F8CFF"/>
            </a:solidFill>
            <a:prstDash val="solid"/>
          </a:ln>
        </p:spPr>
      </p:sp>
      <p:sp>
        <p:nvSpPr>
          <p:cNvPr id="44" name="Shape 42">
            <a:extLst>
              <a:ext uri="{FF2B5EF4-FFF2-40B4-BE49-F238E27FC236}">
                <a16:creationId xmlns:a16="http://schemas.microsoft.com/office/drawing/2014/main" id="{2560E8C3-FF19-4790-B758-5AAF7C4C228F}"/>
              </a:ext>
            </a:extLst>
          </p:cNvPr>
          <p:cNvSpPr>
            <a:spLocks noGrp="1"/>
          </p:cNvSpPr>
          <p:nvPr/>
        </p:nvSpPr>
        <p:spPr>
          <a:xfrm>
            <a:off x="1497922" y="5632704"/>
            <a:ext cx="112550" cy="365760"/>
          </a:xfrm>
          <a:prstGeom prst="rect">
            <a:avLst/>
          </a:prstGeom>
          <a:solidFill>
            <a:srgbClr val="B07CFF"/>
          </a:solidFill>
          <a:ln w="12700">
            <a:solidFill>
              <a:srgbClr val="B07CFF"/>
            </a:solidFill>
            <a:prstDash val="solid"/>
          </a:ln>
        </p:spPr>
      </p:sp>
      <p:sp>
        <p:nvSpPr>
          <p:cNvPr id="45" name="Text 43">
            <a:extLst>
              <a:ext uri="{FF2B5EF4-FFF2-40B4-BE49-F238E27FC236}">
                <a16:creationId xmlns:a16="http://schemas.microsoft.com/office/drawing/2014/main" id="{B8240068-938B-4420-81BD-4AA0BD8C7D27}"/>
              </a:ext>
            </a:extLst>
          </p:cNvPr>
          <p:cNvSpPr>
            <a:spLocks noGrp="1"/>
          </p:cNvSpPr>
          <p:nvPr/>
        </p:nvSpPr>
        <p:spPr>
          <a:xfrm>
            <a:off x="10500055" y="5632704"/>
            <a:ext cx="1234440" cy="365760"/>
          </a:xfrm>
          <a:prstGeom prst="rect">
            <a:avLst/>
          </a:prstGeom>
          <a:noFill/>
        </p:spPr>
        <p:txBody>
          <a:bodyPr wrap="square" lIns="0" tIns="0" rIns="0" bIns="0" anchor="ctr"/>
          <a:lstStyle/>
          <a:p>
            <a:pPr marL="0" indent="0">
              <a:buNone/>
            </a:pPr>
            <a:r>
              <a:rPr sz="1800" b="1">
                <a:solidFill>
                  <a:srgbClr val="F4F7FB"/>
                </a:solidFill>
                <a:latin typeface="Calibri"/>
                <a:ea typeface="Calibri"/>
                <a:cs typeface="Calibri"/>
              </a:rPr>
              <a:t>$10,740</a:t>
            </a:r>
            <a:endParaRPr sz="1800"/>
          </a:p>
        </p:txBody>
      </p:sp>
      <p:sp>
        <p:nvSpPr>
          <p:cNvPr id="46" name="Text 44">
            <a:extLst>
              <a:ext uri="{FF2B5EF4-FFF2-40B4-BE49-F238E27FC236}">
                <a16:creationId xmlns:a16="http://schemas.microsoft.com/office/drawing/2014/main" id="{701916BA-E607-40E4-ADC9-F82BB17DC2EE}"/>
              </a:ext>
            </a:extLst>
          </p:cNvPr>
          <p:cNvSpPr>
            <a:spLocks noGrp="1"/>
          </p:cNvSpPr>
          <p:nvPr/>
        </p:nvSpPr>
        <p:spPr>
          <a:xfrm>
            <a:off x="457200" y="6044184"/>
            <a:ext cx="9905695" cy="201168"/>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90% infrastructure, 10% AI</a:t>
            </a:r>
            <a:endParaRPr sz="1200"/>
          </a:p>
        </p:txBody>
      </p:sp>
    </p:spTree>
    <p:extLst>
      <p:ext uri="{BB962C8B-B14F-4D97-AF65-F5344CB8AC3E}">
        <p14:creationId xmlns:p14="http://schemas.microsoft.com/office/powerpoint/2010/main" val="2072750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83A114A-46E1-444D-8A4C-C75405E7D950}"/>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739F10F6-5982-40D3-A237-AEB243E6CDD7}"/>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B980F814-1F44-41FB-8379-3DA60E06848A}"/>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 / BEDROCK</a:t>
            </a:r>
            <a:endParaRPr sz="1300"/>
          </a:p>
        </p:txBody>
      </p:sp>
      <p:sp>
        <p:nvSpPr>
          <p:cNvPr id="5" name="Text 3">
            <a:extLst>
              <a:ext uri="{FF2B5EF4-FFF2-40B4-BE49-F238E27FC236}">
                <a16:creationId xmlns:a16="http://schemas.microsoft.com/office/drawing/2014/main" id="{70BE652A-578D-43A7-A400-9457FAF9577E}"/>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Bedrock service</a:t>
            </a:r>
            <a:endParaRPr sz="2800"/>
          </a:p>
        </p:txBody>
      </p:sp>
      <p:sp>
        <p:nvSpPr>
          <p:cNvPr id="6" name="Text 4">
            <a:extLst>
              <a:ext uri="{FF2B5EF4-FFF2-40B4-BE49-F238E27FC236}">
                <a16:creationId xmlns:a16="http://schemas.microsoft.com/office/drawing/2014/main" id="{3A27CDD5-A220-4148-B4E8-4F003E0E57B5}"/>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Claude models consumed through Bedrock by the engineering teams, billed as Marketplace lines.</a:t>
            </a:r>
            <a:endParaRPr sz="1200"/>
          </a:p>
        </p:txBody>
      </p:sp>
      <p:sp>
        <p:nvSpPr>
          <p:cNvPr id="7" name="Text 5">
            <a:extLst>
              <a:ext uri="{FF2B5EF4-FFF2-40B4-BE49-F238E27FC236}">
                <a16:creationId xmlns:a16="http://schemas.microsoft.com/office/drawing/2014/main" id="{C032A1C2-FD5C-4EB3-A539-9649C3D5B111}"/>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Opus-class models are the overwhelming majority of Bedrock spend. Model mix changes month to month, with Opus 5 appearing in July, which is exactly what a model policy is for.</a:t>
            </a:r>
            <a:endParaRPr sz="1200"/>
          </a:p>
        </p:txBody>
      </p:sp>
      <p:sp>
        <p:nvSpPr>
          <p:cNvPr id="8" name="Text 6">
            <a:extLst>
              <a:ext uri="{FF2B5EF4-FFF2-40B4-BE49-F238E27FC236}">
                <a16:creationId xmlns:a16="http://schemas.microsoft.com/office/drawing/2014/main" id="{05521D97-91EA-4CD0-89D2-64D3BBCB6AC8}"/>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model</a:t>
            </a:r>
            <a:endParaRPr sz="1500"/>
          </a:p>
        </p:txBody>
      </p:sp>
      <p:graphicFrame>
        <p:nvGraphicFramePr>
          <p:cNvPr id="26"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C40D6263-2562-41DA-B5A8-0DBCA84A7EEC}"/>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2A50D4C8-DAD1-4FAE-AC65-6263A5BE40AF}"/>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MAR-JUL</a:t>
            </a:r>
            <a:endParaRPr sz="1200"/>
          </a:p>
        </p:txBody>
      </p:sp>
      <p:sp>
        <p:nvSpPr>
          <p:cNvPr id="12" name="Text 9">
            <a:extLst>
              <a:ext uri="{FF2B5EF4-FFF2-40B4-BE49-F238E27FC236}">
                <a16:creationId xmlns:a16="http://schemas.microsoft.com/office/drawing/2014/main" id="{7F8F5153-BB0F-4736-B240-90F1D684E0C2}"/>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$42K</a:t>
            </a:r>
            <a:endParaRPr sz="2800"/>
          </a:p>
        </p:txBody>
      </p:sp>
      <p:sp>
        <p:nvSpPr>
          <p:cNvPr id="13" name="Text 10">
            <a:extLst>
              <a:ext uri="{FF2B5EF4-FFF2-40B4-BE49-F238E27FC236}">
                <a16:creationId xmlns:a16="http://schemas.microsoft.com/office/drawing/2014/main" id="{512F8EA5-1D01-4CC0-923D-BA20B742A72D}"/>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+2907% Mar to Jul</a:t>
            </a:r>
            <a:endParaRPr sz="1200"/>
          </a:p>
        </p:txBody>
      </p:sp>
      <p:sp>
        <p:nvSpPr>
          <p:cNvPr id="14" name="Shape 11">
            <a:extLst>
              <a:ext uri="{FF2B5EF4-FFF2-40B4-BE49-F238E27FC236}">
                <a16:creationId xmlns:a16="http://schemas.microsoft.com/office/drawing/2014/main" id="{3AC87844-1DBD-4C64-BE35-584DEE1E330A}"/>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5DDDD607-79DD-4B47-8969-FEBECB158108}"/>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MODEL</a:t>
            </a:r>
            <a:endParaRPr sz="1200"/>
          </a:p>
        </p:txBody>
      </p:sp>
      <p:sp>
        <p:nvSpPr>
          <p:cNvPr id="16" name="Text 13">
            <a:extLst>
              <a:ext uri="{FF2B5EF4-FFF2-40B4-BE49-F238E27FC236}">
                <a16:creationId xmlns:a16="http://schemas.microsoft.com/office/drawing/2014/main" id="{15C9FB1A-ADAD-4619-9742-CDC291F8C804}"/>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787" b="1">
                <a:solidFill>
                  <a:srgbClr val="F4F7FB"/>
                </a:solidFill>
                <a:latin typeface="Calibri"/>
                <a:ea typeface="Calibri"/>
                <a:cs typeface="Calibri"/>
              </a:rPr>
              <a:t>Claude Opus 4.6</a:t>
            </a:r>
            <a:endParaRPr sz="2787"/>
          </a:p>
        </p:txBody>
      </p:sp>
      <p:sp>
        <p:nvSpPr>
          <p:cNvPr id="17" name="Text 14">
            <a:extLst>
              <a:ext uri="{FF2B5EF4-FFF2-40B4-BE49-F238E27FC236}">
                <a16:creationId xmlns:a16="http://schemas.microsoft.com/office/drawing/2014/main" id="{F99D3F1B-3CDC-4760-9B43-7540F882709D}"/>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42% of the total</a:t>
            </a:r>
            <a:endParaRPr sz="1200"/>
          </a:p>
        </p:txBody>
      </p:sp>
    </p:spTree>
    <p:extLst>
      <p:ext uri="{BB962C8B-B14F-4D97-AF65-F5344CB8AC3E}">
        <p14:creationId xmlns:p14="http://schemas.microsoft.com/office/powerpoint/2010/main" val="2860792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172000D-09F4-4B30-8926-21A8EA339E19}"/>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8F06C97F-3216-4E9E-BEE0-3A4CD07E61C9}"/>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8D854B58-E70D-4DAF-8550-06751F3C4F2E}"/>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a:t>
            </a:r>
            <a:endParaRPr sz="1300"/>
          </a:p>
        </p:txBody>
      </p:sp>
      <p:sp>
        <p:nvSpPr>
          <p:cNvPr id="5" name="Text 3">
            <a:extLst>
              <a:ext uri="{FF2B5EF4-FFF2-40B4-BE49-F238E27FC236}">
                <a16:creationId xmlns:a16="http://schemas.microsoft.com/office/drawing/2014/main" id="{92CB2E23-2185-4936-8175-8F040A2BCF6A}"/>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endParaRPr sz="2400"/>
          </a:p>
        </p:txBody>
      </p:sp>
      <p:sp>
        <p:nvSpPr>
          <p:cNvPr id="6" name="Text 4">
            <a:extLst>
              <a:ext uri="{FF2B5EF4-FFF2-40B4-BE49-F238E27FC236}">
                <a16:creationId xmlns:a16="http://schemas.microsoft.com/office/drawing/2014/main" id="{25D4BE8B-83EE-45C6-AD8A-6FBEFADCD957}"/>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3E993607-F3DE-4E48-BE40-C665E883E030}"/>
              </a:ext>
            </a:extLst>
          </p:cNvPr>
          <p:cNvSpPr>
            <a:spLocks noGrp="1"/>
          </p:cNvSpPr>
          <p:nvPr/>
        </p:nvSpPr>
        <p:spPr>
          <a:xfrm>
            <a:off x="457200" y="6172200"/>
            <a:ext cx="11277295" cy="576072"/>
          </a:xfrm>
          <a:prstGeom prst="rect">
            <a:avLst/>
          </a:prstGeom>
          <a:noFill/>
        </p:spPr>
        <p:txBody>
          <a:bodyPr wrap="square" lIns="0" tIns="0" rIns="0" bIns="0" anchor="t"/>
          <a:lstStyle/>
          <a:p>
            <a:pPr marL="0" indent="0">
              <a:lnSpc>
                <a:spcPct val="115000"/>
              </a:lnSpc>
              <a:buNone/>
            </a:pPr>
            <a:endParaRPr sz="1200"/>
          </a:p>
        </p:txBody>
      </p:sp>
      <p:sp>
        <p:nvSpPr>
          <p:cNvPr id="8" name="Shape 6">
            <a:extLst>
              <a:ext uri="{FF2B5EF4-FFF2-40B4-BE49-F238E27FC236}">
                <a16:creationId xmlns:a16="http://schemas.microsoft.com/office/drawing/2014/main" id="{1053F211-D307-4FB6-8FE9-38C866D6B51B}"/>
              </a:ext>
            </a:extLst>
          </p:cNvPr>
          <p:cNvSpPr>
            <a:spLocks noGrp="1"/>
          </p:cNvSpPr>
          <p:nvPr/>
        </p:nvSpPr>
        <p:spPr>
          <a:xfrm>
            <a:off x="457200" y="1234440"/>
            <a:ext cx="3423818" cy="1188720"/>
          </a:xfrm>
          <a:prstGeom prst="roundRect">
            <a:avLst>
              <a:gd name="adj" fmla="val 4615"/>
            </a:avLst>
          </a:prstGeom>
          <a:solidFill>
            <a:srgbClr val="121B2D"/>
          </a:solidFill>
          <a:ln w="12700">
            <a:solidFill>
              <a:srgbClr val="F4F7FB"/>
            </a:solidFill>
            <a:prstDash val="solid"/>
          </a:ln>
        </p:spPr>
        <p:txBody>
          <a:bodyPr/>
          <a:lstStyle/>
          <a:p>
            <a:endParaRPr/>
          </a:p>
        </p:txBody>
      </p:sp>
      <p:sp>
        <p:nvSpPr>
          <p:cNvPr id="9" name="Text 7">
            <a:extLst>
              <a:ext uri="{FF2B5EF4-FFF2-40B4-BE49-F238E27FC236}">
                <a16:creationId xmlns:a16="http://schemas.microsoft.com/office/drawing/2014/main" id="{AA3518E2-DBB1-4637-8F30-F8661475AF1C}"/>
              </a:ext>
            </a:extLst>
          </p:cNvPr>
          <p:cNvSpPr>
            <a:spLocks noGrp="1"/>
          </p:cNvSpPr>
          <p:nvPr/>
        </p:nvSpPr>
        <p:spPr>
          <a:xfrm>
            <a:off x="658368" y="1380744"/>
            <a:ext cx="302148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REGULAR AWS USAGE, JULY</a:t>
            </a:r>
            <a:endParaRPr sz="1200"/>
          </a:p>
        </p:txBody>
      </p:sp>
      <p:sp>
        <p:nvSpPr>
          <p:cNvPr id="10" name="Text 8">
            <a:extLst>
              <a:ext uri="{FF2B5EF4-FFF2-40B4-BE49-F238E27FC236}">
                <a16:creationId xmlns:a16="http://schemas.microsoft.com/office/drawing/2014/main" id="{8E737A3A-771A-4DD9-A11C-14DED8752011}"/>
              </a:ext>
            </a:extLst>
          </p:cNvPr>
          <p:cNvSpPr>
            <a:spLocks noGrp="1"/>
          </p:cNvSpPr>
          <p:nvPr/>
        </p:nvSpPr>
        <p:spPr>
          <a:xfrm>
            <a:off x="658368" y="1655064"/>
            <a:ext cx="3021482" cy="457200"/>
          </a:xfrm>
          <a:prstGeom prst="rect">
            <a:avLst/>
          </a:prstGeom>
          <a:noFill/>
        </p:spPr>
        <p:txBody>
          <a:bodyPr wrap="square" lIns="0" tIns="0" rIns="0" bIns="0" anchor="ctr"/>
          <a:lstStyle/>
          <a:p>
            <a:pPr marL="0" indent="0">
              <a:buNone/>
            </a:pPr>
            <a:r>
              <a:rPr sz="3000" b="1">
                <a:solidFill>
                  <a:srgbClr val="F4F7FB"/>
                </a:solidFill>
                <a:latin typeface="Calibri"/>
                <a:ea typeface="Calibri"/>
                <a:cs typeface="Calibri"/>
              </a:rPr>
              <a:t>$92,930</a:t>
            </a:r>
            <a:endParaRPr sz="3000"/>
          </a:p>
        </p:txBody>
      </p:sp>
      <p:sp>
        <p:nvSpPr>
          <p:cNvPr id="11" name="Text 9">
            <a:extLst>
              <a:ext uri="{FF2B5EF4-FFF2-40B4-BE49-F238E27FC236}">
                <a16:creationId xmlns:a16="http://schemas.microsoft.com/office/drawing/2014/main" id="{2D8AA989-84CA-4E71-95AA-43D60E2295FA}"/>
              </a:ext>
            </a:extLst>
          </p:cNvPr>
          <p:cNvSpPr>
            <a:spLocks noGrp="1"/>
          </p:cNvSpPr>
          <p:nvPr/>
        </p:nvSpPr>
        <p:spPr>
          <a:xfrm>
            <a:off x="658368" y="2093976"/>
            <a:ext cx="3021482" cy="237744"/>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service usage as metered</a:t>
            </a:r>
            <a:endParaRPr sz="1200"/>
          </a:p>
        </p:txBody>
      </p:sp>
      <p:sp>
        <p:nvSpPr>
          <p:cNvPr id="12" name="Shape 10">
            <a:extLst>
              <a:ext uri="{FF2B5EF4-FFF2-40B4-BE49-F238E27FC236}">
                <a16:creationId xmlns:a16="http://schemas.microsoft.com/office/drawing/2014/main" id="{92919C45-8C8C-4534-92AF-A1C23CDEDE6B}"/>
              </a:ext>
            </a:extLst>
          </p:cNvPr>
          <p:cNvSpPr>
            <a:spLocks noGrp="1"/>
          </p:cNvSpPr>
          <p:nvPr/>
        </p:nvSpPr>
        <p:spPr>
          <a:xfrm>
            <a:off x="4383938" y="1234440"/>
            <a:ext cx="3423818" cy="1188720"/>
          </a:xfrm>
          <a:prstGeom prst="roundRect">
            <a:avLst>
              <a:gd name="adj" fmla="val 4615"/>
            </a:avLst>
          </a:prstGeom>
          <a:solidFill>
            <a:srgbClr val="121B2D"/>
          </a:solidFill>
          <a:ln w="12700">
            <a:solidFill>
              <a:srgbClr val="FF9F43"/>
            </a:solidFill>
            <a:prstDash val="solid"/>
          </a:ln>
        </p:spPr>
        <p:txBody>
          <a:bodyPr/>
          <a:lstStyle/>
          <a:p>
            <a:endParaRPr/>
          </a:p>
        </p:txBody>
      </p:sp>
      <p:sp>
        <p:nvSpPr>
          <p:cNvPr id="13" name="Text 11">
            <a:extLst>
              <a:ext uri="{FF2B5EF4-FFF2-40B4-BE49-F238E27FC236}">
                <a16:creationId xmlns:a16="http://schemas.microsoft.com/office/drawing/2014/main" id="{09801125-D86F-4185-B235-C1A3FC0B128F}"/>
              </a:ext>
            </a:extLst>
          </p:cNvPr>
          <p:cNvSpPr>
            <a:spLocks noGrp="1"/>
          </p:cNvSpPr>
          <p:nvPr/>
        </p:nvSpPr>
        <p:spPr>
          <a:xfrm>
            <a:off x="4585106" y="1380744"/>
            <a:ext cx="302148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CREDIT APPLIED</a:t>
            </a:r>
            <a:endParaRPr sz="1200"/>
          </a:p>
        </p:txBody>
      </p:sp>
      <p:sp>
        <p:nvSpPr>
          <p:cNvPr id="14" name="Text 12">
            <a:extLst>
              <a:ext uri="{FF2B5EF4-FFF2-40B4-BE49-F238E27FC236}">
                <a16:creationId xmlns:a16="http://schemas.microsoft.com/office/drawing/2014/main" id="{1D93D1C4-8A01-4A33-A83E-3CEA3C7779CA}"/>
              </a:ext>
            </a:extLst>
          </p:cNvPr>
          <p:cNvSpPr>
            <a:spLocks noGrp="1"/>
          </p:cNvSpPr>
          <p:nvPr/>
        </p:nvSpPr>
        <p:spPr>
          <a:xfrm>
            <a:off x="4585106" y="1655064"/>
            <a:ext cx="3021482" cy="457200"/>
          </a:xfrm>
          <a:prstGeom prst="rect">
            <a:avLst/>
          </a:prstGeom>
          <a:noFill/>
        </p:spPr>
        <p:txBody>
          <a:bodyPr wrap="square" lIns="0" tIns="0" rIns="0" bIns="0" anchor="ctr"/>
          <a:lstStyle/>
          <a:p>
            <a:pPr marL="0" indent="0">
              <a:buNone/>
            </a:pPr>
            <a:r>
              <a:rPr sz="3000" b="1">
                <a:solidFill>
                  <a:srgbClr val="FF9F43"/>
                </a:solidFill>
                <a:latin typeface="Calibri"/>
                <a:ea typeface="Calibri"/>
                <a:cs typeface="Calibri"/>
              </a:rPr>
              <a:t>$16,100</a:t>
            </a:r>
            <a:endParaRPr sz="3000"/>
          </a:p>
        </p:txBody>
      </p:sp>
      <p:sp>
        <p:nvSpPr>
          <p:cNvPr id="15" name="Text 13">
            <a:extLst>
              <a:ext uri="{FF2B5EF4-FFF2-40B4-BE49-F238E27FC236}">
                <a16:creationId xmlns:a16="http://schemas.microsoft.com/office/drawing/2014/main" id="{B25E932C-02C6-414F-9782-602B8D0FB0F2}"/>
              </a:ext>
            </a:extLst>
          </p:cNvPr>
          <p:cNvSpPr>
            <a:spLocks noGrp="1"/>
          </p:cNvSpPr>
          <p:nvPr/>
        </p:nvSpPr>
        <p:spPr>
          <a:xfrm>
            <a:off x="4585106" y="2093976"/>
            <a:ext cx="3021482" cy="237744"/>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MAP contract credit, ai-factory-dev</a:t>
            </a:r>
            <a:endParaRPr sz="1200"/>
          </a:p>
        </p:txBody>
      </p:sp>
      <p:sp>
        <p:nvSpPr>
          <p:cNvPr id="16" name="Text 14">
            <a:extLst>
              <a:ext uri="{FF2B5EF4-FFF2-40B4-BE49-F238E27FC236}">
                <a16:creationId xmlns:a16="http://schemas.microsoft.com/office/drawing/2014/main" id="{499D8494-0A36-4F7E-97B9-28FE07E94D44}"/>
              </a:ext>
            </a:extLst>
          </p:cNvPr>
          <p:cNvSpPr>
            <a:spLocks noGrp="1"/>
          </p:cNvSpPr>
          <p:nvPr/>
        </p:nvSpPr>
        <p:spPr>
          <a:xfrm>
            <a:off x="3881018" y="1600200"/>
            <a:ext cx="502920" cy="457200"/>
          </a:xfrm>
          <a:prstGeom prst="rect">
            <a:avLst/>
          </a:prstGeom>
          <a:noFill/>
        </p:spPr>
        <p:txBody>
          <a:bodyPr wrap="square" lIns="0" tIns="0" rIns="0" bIns="0" anchor="ctr"/>
          <a:lstStyle/>
          <a:p>
            <a:pPr marL="0" indent="0" algn="ctr">
              <a:buNone/>
            </a:pPr>
            <a:r>
              <a:rPr sz="2400" b="1">
                <a:solidFill>
                  <a:srgbClr val="91A0B7"/>
                </a:solidFill>
                <a:latin typeface="Calibri"/>
                <a:ea typeface="Calibri"/>
                <a:cs typeface="Calibri"/>
              </a:rPr>
              <a:t>-</a:t>
            </a:r>
            <a:endParaRPr sz="2400"/>
          </a:p>
        </p:txBody>
      </p:sp>
      <p:sp>
        <p:nvSpPr>
          <p:cNvPr id="17" name="Shape 15">
            <a:extLst>
              <a:ext uri="{FF2B5EF4-FFF2-40B4-BE49-F238E27FC236}">
                <a16:creationId xmlns:a16="http://schemas.microsoft.com/office/drawing/2014/main" id="{F2750068-CEBE-428E-A703-AC44D7CD66D6}"/>
              </a:ext>
            </a:extLst>
          </p:cNvPr>
          <p:cNvSpPr>
            <a:spLocks noGrp="1"/>
          </p:cNvSpPr>
          <p:nvPr/>
        </p:nvSpPr>
        <p:spPr>
          <a:xfrm>
            <a:off x="8310677" y="1234440"/>
            <a:ext cx="3423818" cy="1188720"/>
          </a:xfrm>
          <a:prstGeom prst="roundRect">
            <a:avLst>
              <a:gd name="adj" fmla="val 4615"/>
            </a:avLst>
          </a:prstGeom>
          <a:solidFill>
            <a:srgbClr val="121B2D"/>
          </a:solidFill>
          <a:ln w="12700">
            <a:solidFill>
              <a:srgbClr val="3DDC97"/>
            </a:solidFill>
            <a:prstDash val="solid"/>
          </a:ln>
        </p:spPr>
        <p:txBody>
          <a:bodyPr/>
          <a:lstStyle/>
          <a:p>
            <a:endParaRPr/>
          </a:p>
        </p:txBody>
      </p:sp>
      <p:sp>
        <p:nvSpPr>
          <p:cNvPr id="18" name="Text 16">
            <a:extLst>
              <a:ext uri="{FF2B5EF4-FFF2-40B4-BE49-F238E27FC236}">
                <a16:creationId xmlns:a16="http://schemas.microsoft.com/office/drawing/2014/main" id="{56B9344F-6BA5-4F50-BB4A-5C079935BFC0}"/>
              </a:ext>
            </a:extLst>
          </p:cNvPr>
          <p:cNvSpPr>
            <a:spLocks noGrp="1"/>
          </p:cNvSpPr>
          <p:nvPr/>
        </p:nvSpPr>
        <p:spPr>
          <a:xfrm>
            <a:off x="8511845" y="1380744"/>
            <a:ext cx="302148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INVOICED BY COMM-IT</a:t>
            </a:r>
            <a:endParaRPr sz="1200"/>
          </a:p>
        </p:txBody>
      </p:sp>
      <p:sp>
        <p:nvSpPr>
          <p:cNvPr id="19" name="Text 17">
            <a:extLst>
              <a:ext uri="{FF2B5EF4-FFF2-40B4-BE49-F238E27FC236}">
                <a16:creationId xmlns:a16="http://schemas.microsoft.com/office/drawing/2014/main" id="{4F436991-FBEE-4597-BB65-1FF9EC2B6731}"/>
              </a:ext>
            </a:extLst>
          </p:cNvPr>
          <p:cNvSpPr>
            <a:spLocks noGrp="1"/>
          </p:cNvSpPr>
          <p:nvPr/>
        </p:nvSpPr>
        <p:spPr>
          <a:xfrm>
            <a:off x="8511845" y="1655064"/>
            <a:ext cx="3021482" cy="457200"/>
          </a:xfrm>
          <a:prstGeom prst="rect">
            <a:avLst/>
          </a:prstGeom>
          <a:noFill/>
        </p:spPr>
        <p:txBody>
          <a:bodyPr wrap="square" lIns="0" tIns="0" rIns="0" bIns="0" anchor="ctr"/>
          <a:lstStyle/>
          <a:p>
            <a:pPr marL="0" indent="0">
              <a:buNone/>
            </a:pPr>
            <a:r>
              <a:rPr sz="3000" b="1">
                <a:solidFill>
                  <a:srgbClr val="3DDC97"/>
                </a:solidFill>
                <a:latin typeface="Calibri"/>
                <a:ea typeface="Calibri"/>
                <a:cs typeface="Calibri"/>
              </a:rPr>
              <a:t>$76,830</a:t>
            </a:r>
            <a:endParaRPr sz="3000"/>
          </a:p>
        </p:txBody>
      </p:sp>
      <p:sp>
        <p:nvSpPr>
          <p:cNvPr id="20" name="Text 18">
            <a:extLst>
              <a:ext uri="{FF2B5EF4-FFF2-40B4-BE49-F238E27FC236}">
                <a16:creationId xmlns:a16="http://schemas.microsoft.com/office/drawing/2014/main" id="{3A2AA0FD-CDDE-4388-8A5F-B8416E527C65}"/>
              </a:ext>
            </a:extLst>
          </p:cNvPr>
          <p:cNvSpPr>
            <a:spLocks noGrp="1"/>
          </p:cNvSpPr>
          <p:nvPr/>
        </p:nvSpPr>
        <p:spPr>
          <a:xfrm>
            <a:off x="8511845" y="2093976"/>
            <a:ext cx="3021482" cy="237744"/>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what we actually paid</a:t>
            </a:r>
            <a:endParaRPr sz="1200"/>
          </a:p>
        </p:txBody>
      </p:sp>
      <p:sp>
        <p:nvSpPr>
          <p:cNvPr id="21" name="Text 19">
            <a:extLst>
              <a:ext uri="{FF2B5EF4-FFF2-40B4-BE49-F238E27FC236}">
                <a16:creationId xmlns:a16="http://schemas.microsoft.com/office/drawing/2014/main" id="{07FA07D5-1F1E-4EF0-A863-43513067C598}"/>
              </a:ext>
            </a:extLst>
          </p:cNvPr>
          <p:cNvSpPr>
            <a:spLocks noGrp="1"/>
          </p:cNvSpPr>
          <p:nvPr/>
        </p:nvSpPr>
        <p:spPr>
          <a:xfrm>
            <a:off x="7807757" y="1600200"/>
            <a:ext cx="502920" cy="457200"/>
          </a:xfrm>
          <a:prstGeom prst="rect">
            <a:avLst/>
          </a:prstGeom>
          <a:noFill/>
        </p:spPr>
        <p:txBody>
          <a:bodyPr wrap="square" lIns="0" tIns="0" rIns="0" bIns="0" anchor="ctr"/>
          <a:lstStyle/>
          <a:p>
            <a:pPr marL="0" indent="0" algn="ctr">
              <a:buNone/>
            </a:pPr>
            <a:r>
              <a:rPr sz="2400" b="1">
                <a:solidFill>
                  <a:srgbClr val="91A0B7"/>
                </a:solidFill>
                <a:latin typeface="Calibri"/>
                <a:ea typeface="Calibri"/>
                <a:cs typeface="Calibri"/>
              </a:rPr>
              <a:t>=</a:t>
            </a:r>
            <a:endParaRPr sz="2400"/>
          </a:p>
        </p:txBody>
      </p:sp>
      <p:sp>
        <p:nvSpPr>
          <p:cNvPr id="22" name="Text 20">
            <a:extLst>
              <a:ext uri="{FF2B5EF4-FFF2-40B4-BE49-F238E27FC236}">
                <a16:creationId xmlns:a16="http://schemas.microsoft.com/office/drawing/2014/main" id="{3BB2B779-5B53-499C-94AD-E61147FADFB5}"/>
              </a:ext>
            </a:extLst>
          </p:cNvPr>
          <p:cNvSpPr>
            <a:spLocks noGrp="1"/>
          </p:cNvSpPr>
          <p:nvPr/>
        </p:nvSpPr>
        <p:spPr>
          <a:xfrm>
            <a:off x="457200" y="2834640"/>
            <a:ext cx="11277295"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Where the $16,100.27 sits: July Bedrock consumption, two sources</a:t>
            </a:r>
            <a:endParaRPr sz="1500"/>
          </a:p>
        </p:txBody>
      </p:sp>
      <p:graphicFrame>
        <p:nvGraphicFramePr>
          <p:cNvPr id="58" name="Table 0"/>
          <p:cNvGraphicFramePr/>
          <p:nvPr/>
        </p:nvGraphicFramePr>
        <p:xfrm>
          <a:off x="457200" y="3145536"/>
          <a:ext cx="11274552" cy="1586992"/>
        </p:xfrm>
        <a:graphic>
          <a:graphicData uri="http://schemas.openxmlformats.org/drawingml/2006/table">
            <a:tbl>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770632">
                  <a:extLst>
                    <a:ext uri="{9D8B030D-6E8A-4147-A177-3AD203B41FA5}">
                      <a16:colId xmlns:a16="http://schemas.microsoft.com/office/drawing/2014/main" val="20004"/>
                    </a:ext>
                  </a:extLst>
                </a:gridCol>
              </a:tblGrid>
              <a:tr h="292608">
                <a:tc>
                  <a:txBody>
                    <a:bodyPr/>
                    <a:lstStyle/>
                    <a:p>
                      <a:pPr marL="0" indent="0" algn="l">
                        <a:buNone/>
                      </a:pPr>
                      <a:r>
                        <a:rPr sz="1200" b="1" spc="80">
                          <a:solidFill>
                            <a:srgbClr val="91A0B7"/>
                          </a:solidFill>
                          <a:latin typeface="Calibri"/>
                          <a:ea typeface="Calibri"/>
                          <a:cs typeface="Calibri"/>
                        </a:rPr>
                        <a:t>Claude model, July 2026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Operational data (gross)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v33 CIO deck (net)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Difference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Claude Opus 4.8</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$11,361.86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F9F43"/>
                          </a:solidFill>
                          <a:latin typeface="Calibri"/>
                          <a:ea typeface="Calibri"/>
                          <a:cs typeface="Calibri"/>
                        </a:rPr>
                        <a:t>$11,361.86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entire line reversed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Claude Opus 4.6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$9,873.22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$5,134.81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F9F43"/>
                          </a:solidFill>
                          <a:latin typeface="Calibri"/>
                          <a:ea typeface="Calibri"/>
                          <a:cs typeface="Calibri"/>
                        </a:rPr>
                        <a:t>$4,738.41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part of the line reversed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Opus 4.7, Opus 5, Sonnet 4.6, Haiku 4.5, Sonnet 4.5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$3,362.97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$3,362.97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91A0B7"/>
                          </a:solidFill>
                          <a:latin typeface="Calibri"/>
                          <a:ea typeface="Calibri"/>
                          <a:cs typeface="Calibri"/>
                        </a:rPr>
                        <a: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identical in both</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Total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F4F7FB"/>
                          </a:solidFill>
                          <a:latin typeface="Calibri"/>
                          <a:ea typeface="Calibri"/>
                          <a:cs typeface="Calibri"/>
                        </a:rPr>
                        <a:t>$25,288.33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F4F7FB"/>
                          </a:solidFill>
                          <a:latin typeface="Calibri"/>
                          <a:ea typeface="Calibri"/>
                          <a:cs typeface="Calibri"/>
                        </a:rPr>
                        <a:t>$9,188.06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3DDC97"/>
                          </a:solidFill>
                          <a:latin typeface="Calibri"/>
                          <a:ea typeface="Calibri"/>
                          <a:cs typeface="Calibri"/>
                        </a:rPr>
                        <a:t>$16,100.27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3DDC97"/>
                          </a:solidFill>
                          <a:latin typeface="Calibri"/>
                          <a:ea typeface="Calibri"/>
                          <a:cs typeface="Calibri"/>
                        </a:rPr>
                        <a:t>matches the credit to the cent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bl>
          </a:graphicData>
        </a:graphic>
      </p:graphicFrame>
      <p:sp>
        <p:nvSpPr>
          <p:cNvPr id="24" name="Shape 21">
            <a:extLst>
              <a:ext uri="{FF2B5EF4-FFF2-40B4-BE49-F238E27FC236}">
                <a16:creationId xmlns:a16="http://schemas.microsoft.com/office/drawing/2014/main" id="{CACB8F77-F5BA-4730-89E7-7C68B483F608}"/>
              </a:ext>
            </a:extLst>
          </p:cNvPr>
          <p:cNvSpPr>
            <a:spLocks noGrp="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5" name="Text 22">
            <a:extLst>
              <a:ext uri="{FF2B5EF4-FFF2-40B4-BE49-F238E27FC236}">
                <a16:creationId xmlns:a16="http://schemas.microsoft.com/office/drawing/2014/main" id="{E8D19135-676D-4F9C-8D83-B78594E9C41E}"/>
              </a:ext>
            </a:extLst>
          </p:cNvPr>
          <p:cNvSpPr>
            <a:spLocks noGrp="1"/>
          </p:cNvSpPr>
          <p:nvPr/>
        </p:nvSpPr>
        <p:spPr>
          <a:xfrm>
            <a:off x="658368"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IDENTIFIED</a:t>
            </a:r>
            <a:endParaRPr sz="1200"/>
          </a:p>
        </p:txBody>
      </p:sp>
      <p:sp>
        <p:nvSpPr>
          <p:cNvPr id="26" name="Text 23">
            <a:extLst>
              <a:ext uri="{FF2B5EF4-FFF2-40B4-BE49-F238E27FC236}">
                <a16:creationId xmlns:a16="http://schemas.microsoft.com/office/drawing/2014/main" id="{4D843D91-5939-4B8F-8683-572AF64243E6}"/>
              </a:ext>
            </a:extLst>
          </p:cNvPr>
          <p:cNvSpPr>
            <a:spLocks noGrp="1"/>
          </p:cNvSpPr>
          <p:nvPr/>
        </p:nvSpPr>
        <p:spPr>
          <a:xfrm>
            <a:off x="658368"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$16,100.27</a:t>
            </a:r>
            <a:endParaRPr sz="2800"/>
          </a:p>
        </p:txBody>
      </p:sp>
      <p:sp>
        <p:nvSpPr>
          <p:cNvPr id="27" name="Text 24">
            <a:extLst>
              <a:ext uri="{FF2B5EF4-FFF2-40B4-BE49-F238E27FC236}">
                <a16:creationId xmlns:a16="http://schemas.microsoft.com/office/drawing/2014/main" id="{010581C2-30A7-47C6-BC1E-21215151A927}"/>
              </a:ext>
            </a:extLst>
          </p:cNvPr>
          <p:cNvSpPr>
            <a:spLocks noGrp="1"/>
          </p:cNvSpPr>
          <p:nvPr/>
        </p:nvSpPr>
        <p:spPr>
          <a:xfrm>
            <a:off x="658368" y="5769864"/>
            <a:ext cx="3204362"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Opus 4.8 in full, plus part of Opus 4.6</a:t>
            </a:r>
            <a:endParaRPr sz="1200"/>
          </a:p>
        </p:txBody>
      </p:sp>
      <p:sp>
        <p:nvSpPr>
          <p:cNvPr id="28" name="Shape 25">
            <a:extLst>
              <a:ext uri="{FF2B5EF4-FFF2-40B4-BE49-F238E27FC236}">
                <a16:creationId xmlns:a16="http://schemas.microsoft.com/office/drawing/2014/main" id="{6E2543B6-0444-4734-87E3-C9346F108E34}"/>
              </a:ext>
            </a:extLst>
          </p:cNvPr>
          <p:cNvSpPr>
            <a:spLocks noGrp="1"/>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9" name="Text 26">
            <a:extLst>
              <a:ext uri="{FF2B5EF4-FFF2-40B4-BE49-F238E27FC236}">
                <a16:creationId xmlns:a16="http://schemas.microsoft.com/office/drawing/2014/main" id="{CCC09E92-51D2-401D-8BD2-887EE7BBF34F}"/>
              </a:ext>
            </a:extLst>
          </p:cNvPr>
          <p:cNvSpPr>
            <a:spLocks noGrp="1"/>
          </p:cNvSpPr>
          <p:nvPr/>
        </p:nvSpPr>
        <p:spPr>
          <a:xfrm>
            <a:off x="4493666"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ATTRIBUTED TO</a:t>
            </a:r>
            <a:endParaRPr sz="1200"/>
          </a:p>
        </p:txBody>
      </p:sp>
      <p:sp>
        <p:nvSpPr>
          <p:cNvPr id="30" name="Text 27">
            <a:extLst>
              <a:ext uri="{FF2B5EF4-FFF2-40B4-BE49-F238E27FC236}">
                <a16:creationId xmlns:a16="http://schemas.microsoft.com/office/drawing/2014/main" id="{FFFA6E60-87C2-4D40-9769-559ADD8A715B}"/>
              </a:ext>
            </a:extLst>
          </p:cNvPr>
          <p:cNvSpPr>
            <a:spLocks noGrp="1"/>
          </p:cNvSpPr>
          <p:nvPr/>
        </p:nvSpPr>
        <p:spPr>
          <a:xfrm>
            <a:off x="4493666"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ai-factory-dev</a:t>
            </a:r>
            <a:endParaRPr sz="2800"/>
          </a:p>
        </p:txBody>
      </p:sp>
      <p:sp>
        <p:nvSpPr>
          <p:cNvPr id="31" name="Text 28">
            <a:extLst>
              <a:ext uri="{FF2B5EF4-FFF2-40B4-BE49-F238E27FC236}">
                <a16:creationId xmlns:a16="http://schemas.microsoft.com/office/drawing/2014/main" id="{48E34EBF-1B06-4594-B517-46D76AB445F9}"/>
              </a:ext>
            </a:extLst>
          </p:cNvPr>
          <p:cNvSpPr>
            <a:spLocks noGrp="1"/>
          </p:cNvSpPr>
          <p:nvPr/>
        </p:nvSpPr>
        <p:spPr>
          <a:xfrm>
            <a:off x="4493666" y="5769864"/>
            <a:ext cx="3204362"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88.6% of all July AWS credits</a:t>
            </a:r>
            <a:endParaRPr sz="1200"/>
          </a:p>
        </p:txBody>
      </p:sp>
      <p:sp>
        <p:nvSpPr>
          <p:cNvPr id="32" name="Shape 29">
            <a:extLst>
              <a:ext uri="{FF2B5EF4-FFF2-40B4-BE49-F238E27FC236}">
                <a16:creationId xmlns:a16="http://schemas.microsoft.com/office/drawing/2014/main" id="{9B360870-0406-49DD-BBF9-21090061633B}"/>
              </a:ext>
            </a:extLst>
          </p:cNvPr>
          <p:cNvSpPr>
            <a:spLocks noGrp="1"/>
          </p:cNvSpPr>
          <p:nvPr/>
        </p:nvSpPr>
        <p:spPr>
          <a:xfrm>
            <a:off x="8127797"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33" name="Text 30">
            <a:extLst>
              <a:ext uri="{FF2B5EF4-FFF2-40B4-BE49-F238E27FC236}">
                <a16:creationId xmlns:a16="http://schemas.microsoft.com/office/drawing/2014/main" id="{578ACEB1-80C7-4086-80E5-86313AF975A0}"/>
              </a:ext>
            </a:extLst>
          </p:cNvPr>
          <p:cNvSpPr>
            <a:spLocks noGrp="1"/>
          </p:cNvSpPr>
          <p:nvPr/>
        </p:nvSpPr>
        <p:spPr>
          <a:xfrm>
            <a:off x="8328965"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ACTION</a:t>
            </a:r>
            <a:endParaRPr sz="1200"/>
          </a:p>
        </p:txBody>
      </p:sp>
      <p:sp>
        <p:nvSpPr>
          <p:cNvPr id="34" name="Text 31">
            <a:extLst>
              <a:ext uri="{FF2B5EF4-FFF2-40B4-BE49-F238E27FC236}">
                <a16:creationId xmlns:a16="http://schemas.microsoft.com/office/drawing/2014/main" id="{134F8D0B-7E91-4194-942C-982E30EC8E8D}"/>
              </a:ext>
            </a:extLst>
          </p:cNvPr>
          <p:cNvSpPr>
            <a:spLocks noGrp="1"/>
          </p:cNvSpPr>
          <p:nvPr/>
        </p:nvSpPr>
        <p:spPr>
          <a:xfrm>
            <a:off x="8328965"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Confirm</a:t>
            </a:r>
            <a:endParaRPr sz="2800"/>
          </a:p>
        </p:txBody>
      </p:sp>
      <p:sp>
        <p:nvSpPr>
          <p:cNvPr id="35" name="Text 32">
            <a:extLst>
              <a:ext uri="{FF2B5EF4-FFF2-40B4-BE49-F238E27FC236}">
                <a16:creationId xmlns:a16="http://schemas.microsoft.com/office/drawing/2014/main" id="{76B794C1-EE9C-40CF-A963-D0D58AE5EADF}"/>
              </a:ext>
            </a:extLst>
          </p:cNvPr>
          <p:cNvSpPr>
            <a:spLocks noGrp="1"/>
          </p:cNvSpPr>
          <p:nvPr/>
        </p:nvSpPr>
        <p:spPr>
          <a:xfrm>
            <a:off x="8328965" y="5769864"/>
            <a:ext cx="3204362" cy="329184"/>
          </a:xfrm>
          <a:prstGeom prst="rect">
            <a:avLst/>
          </a:prstGeom>
          <a:noFill/>
        </p:spPr>
        <p:txBody>
          <a:bodyPr wrap="square" lIns="0" tIns="0" rIns="0" bIns="0" anchor="t"/>
          <a:lstStyle/>
          <a:p>
            <a:pPr marL="0" indent="0">
              <a:lnSpc>
                <a:spcPct val="105000"/>
              </a:lnSpc>
              <a:buNone/>
            </a:pPr>
            <a:endParaRPr sz="1200"/>
          </a:p>
        </p:txBody>
      </p:sp>
    </p:spTree>
    <p:extLst>
      <p:ext uri="{BB962C8B-B14F-4D97-AF65-F5344CB8AC3E}">
        <p14:creationId xmlns:p14="http://schemas.microsoft.com/office/powerpoint/2010/main" val="108430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6F9FB81-E0C2-4231-ACF7-0F8A740ADD28}"/>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067F607D-3F8C-4088-912A-5C8D69BDBCAE}"/>
              </a:ext>
            </a:extLst>
          </p:cNvPr>
          <p:cNvSpPr>
            <a:spLocks noGrp="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a:p>
        </p:txBody>
      </p:sp>
      <p:sp>
        <p:nvSpPr>
          <p:cNvPr id="4" name="Text 2">
            <a:extLst>
              <a:ext uri="{FF2B5EF4-FFF2-40B4-BE49-F238E27FC236}">
                <a16:creationId xmlns:a16="http://schemas.microsoft.com/office/drawing/2014/main" id="{95CC2670-E3CA-4FFB-8D73-25F348D69DFB}"/>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C97"/>
                </a:solidFill>
                <a:latin typeface="Calibri"/>
                <a:ea typeface="Calibri"/>
                <a:cs typeface="Calibri"/>
              </a:rPr>
              <a:t>GCP</a:t>
            </a:r>
            <a:endParaRPr sz="1300"/>
          </a:p>
        </p:txBody>
      </p:sp>
      <p:sp>
        <p:nvSpPr>
          <p:cNvPr id="5" name="Text 3">
            <a:extLst>
              <a:ext uri="{FF2B5EF4-FFF2-40B4-BE49-F238E27FC236}">
                <a16:creationId xmlns:a16="http://schemas.microsoft.com/office/drawing/2014/main" id="{425AC5C6-DFCE-4148-9EDF-0C6E9BE29EA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Small, and entirely AI</a:t>
            </a:r>
            <a:endParaRPr sz="2800"/>
          </a:p>
        </p:txBody>
      </p:sp>
      <p:sp>
        <p:nvSpPr>
          <p:cNvPr id="6" name="Text 4">
            <a:extLst>
              <a:ext uri="{FF2B5EF4-FFF2-40B4-BE49-F238E27FC236}">
                <a16:creationId xmlns:a16="http://schemas.microsoft.com/office/drawing/2014/main" id="{CE0F81CB-8A3A-41AD-AB5D-2C97D5146A75}"/>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The smallest provider by a wide margin, and the fastest growing. All three statements reconcile to their invoices exactly.</a:t>
            </a:r>
            <a:endParaRPr sz="1200"/>
          </a:p>
        </p:txBody>
      </p:sp>
      <p:sp>
        <p:nvSpPr>
          <p:cNvPr id="7" name="Text 5">
            <a:extLst>
              <a:ext uri="{FF2B5EF4-FFF2-40B4-BE49-F238E27FC236}">
                <a16:creationId xmlns:a16="http://schemas.microsoft.com/office/drawing/2014/main" id="{BDA976C8-02C2-4DA0-995B-E2EF79A8E03D}"/>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Vertex AI passed Compute Engine in July. Every dollar of GCP growth this year is AI, which makes it the cleanest illustration of the shift happening more expensively elsewhere.</a:t>
            </a:r>
            <a:endParaRPr sz="1200"/>
          </a:p>
        </p:txBody>
      </p:sp>
      <p:sp>
        <p:nvSpPr>
          <p:cNvPr id="8" name="Text 6">
            <a:extLst>
              <a:ext uri="{FF2B5EF4-FFF2-40B4-BE49-F238E27FC236}">
                <a16:creationId xmlns:a16="http://schemas.microsoft.com/office/drawing/2014/main" id="{A64BE798-25C1-454D-914E-83B95870F9E4}"/>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service</a:t>
            </a:r>
            <a:endParaRPr sz="1500"/>
          </a:p>
        </p:txBody>
      </p:sp>
      <p:graphicFrame>
        <p:nvGraphicFramePr>
          <p:cNvPr id="30"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999507E5-B0C0-4DD0-815F-8C63644E4E52}"/>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469895BF-1B92-4240-B6DC-C2B64717C98B}"/>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GCP, JULY</a:t>
            </a:r>
            <a:endParaRPr sz="1200"/>
          </a:p>
        </p:txBody>
      </p:sp>
      <p:sp>
        <p:nvSpPr>
          <p:cNvPr id="12" name="Text 9">
            <a:extLst>
              <a:ext uri="{FF2B5EF4-FFF2-40B4-BE49-F238E27FC236}">
                <a16:creationId xmlns:a16="http://schemas.microsoft.com/office/drawing/2014/main" id="{A7403F54-289D-4F19-81FA-EBABB6E345BF}"/>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$3,707</a:t>
            </a:r>
            <a:endParaRPr sz="2800"/>
          </a:p>
        </p:txBody>
      </p:sp>
      <p:sp>
        <p:nvSpPr>
          <p:cNvPr id="13" name="Text 10">
            <a:extLst>
              <a:ext uri="{FF2B5EF4-FFF2-40B4-BE49-F238E27FC236}">
                <a16:creationId xmlns:a16="http://schemas.microsoft.com/office/drawing/2014/main" id="{6E4292A9-7CE2-42A4-A43B-14CDBA0C800B}"/>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1.4% of the total cloud bill</a:t>
            </a:r>
            <a:endParaRPr sz="1200"/>
          </a:p>
        </p:txBody>
      </p:sp>
      <p:sp>
        <p:nvSpPr>
          <p:cNvPr id="14" name="Shape 11">
            <a:extLst>
              <a:ext uri="{FF2B5EF4-FFF2-40B4-BE49-F238E27FC236}">
                <a16:creationId xmlns:a16="http://schemas.microsoft.com/office/drawing/2014/main" id="{B8593319-DC22-4F1C-9831-193E4E0B399A}"/>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E89F89DE-C9BF-42E9-9E95-165690FCBB2E}"/>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VERTEX AI, JULY</a:t>
            </a:r>
            <a:endParaRPr sz="1200"/>
          </a:p>
        </p:txBody>
      </p:sp>
      <p:sp>
        <p:nvSpPr>
          <p:cNvPr id="16" name="Text 13">
            <a:extLst>
              <a:ext uri="{FF2B5EF4-FFF2-40B4-BE49-F238E27FC236}">
                <a16:creationId xmlns:a16="http://schemas.microsoft.com/office/drawing/2014/main" id="{CBD94C71-3262-4FE4-BBCB-54480F517B14}"/>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$2,359</a:t>
            </a:r>
            <a:endParaRPr sz="2800"/>
          </a:p>
        </p:txBody>
      </p:sp>
      <p:sp>
        <p:nvSpPr>
          <p:cNvPr id="17" name="Text 14">
            <a:extLst>
              <a:ext uri="{FF2B5EF4-FFF2-40B4-BE49-F238E27FC236}">
                <a16:creationId xmlns:a16="http://schemas.microsoft.com/office/drawing/2014/main" id="{EA9ED2C1-F72E-4207-9CA0-4E7066FD7C7C}"/>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B07CFF"/>
                </a:solidFill>
                <a:latin typeface="Calibri"/>
                <a:ea typeface="Calibri"/>
                <a:cs typeface="Calibri"/>
              </a:rPr>
              <a:t>now the largest GCP service</a:t>
            </a:r>
            <a:endParaRPr sz="1200"/>
          </a:p>
        </p:txBody>
      </p:sp>
      <p:sp>
        <p:nvSpPr>
          <p:cNvPr id="18" name="Shape 15">
            <a:extLst>
              <a:ext uri="{FF2B5EF4-FFF2-40B4-BE49-F238E27FC236}">
                <a16:creationId xmlns:a16="http://schemas.microsoft.com/office/drawing/2014/main" id="{26619510-A1BF-40BD-89C7-2153A76705DC}"/>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49560C56-0C03-4939-8BCC-D06CA316B774}"/>
              </a:ext>
            </a:extLst>
          </p:cNvPr>
          <p:cNvSpPr>
            <a:spLocks noGrp="1"/>
          </p:cNvSpPr>
          <p:nvPr/>
        </p:nvSpPr>
        <p:spPr>
          <a:xfrm>
            <a:off x="8293608" y="3776472"/>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EVERYTHING ELSE</a:t>
            </a:r>
            <a:endParaRPr sz="1200"/>
          </a:p>
        </p:txBody>
      </p:sp>
      <p:sp>
        <p:nvSpPr>
          <p:cNvPr id="20" name="Text 17">
            <a:extLst>
              <a:ext uri="{FF2B5EF4-FFF2-40B4-BE49-F238E27FC236}">
                <a16:creationId xmlns:a16="http://schemas.microsoft.com/office/drawing/2014/main" id="{11FDF6EA-7E81-4A55-A9B9-58AE763109AC}"/>
              </a:ext>
            </a:extLst>
          </p:cNvPr>
          <p:cNvSpPr>
            <a:spLocks noGrp="1"/>
          </p:cNvSpPr>
          <p:nvPr/>
        </p:nvSpPr>
        <p:spPr>
          <a:xfrm>
            <a:off x="8293608" y="3977640"/>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flat</a:t>
            </a:r>
            <a:endParaRPr sz="2800"/>
          </a:p>
        </p:txBody>
      </p:sp>
      <p:sp>
        <p:nvSpPr>
          <p:cNvPr id="21" name="Text 18">
            <a:extLst>
              <a:ext uri="{FF2B5EF4-FFF2-40B4-BE49-F238E27FC236}">
                <a16:creationId xmlns:a16="http://schemas.microsoft.com/office/drawing/2014/main" id="{64EDF18F-237F-497B-854E-D00F3CDD0B51}"/>
              </a:ext>
            </a:extLst>
          </p:cNvPr>
          <p:cNvSpPr>
            <a:spLocks noGrp="1"/>
          </p:cNvSpPr>
          <p:nvPr/>
        </p:nvSpPr>
        <p:spPr>
          <a:xfrm>
            <a:off x="8293608" y="4379976"/>
            <a:ext cx="3239719"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Compute, networking and DNS unchanged</a:t>
            </a:r>
            <a:endParaRPr sz="1200"/>
          </a:p>
        </p:txBody>
      </p:sp>
    </p:spTree>
    <p:extLst>
      <p:ext uri="{BB962C8B-B14F-4D97-AF65-F5344CB8AC3E}">
        <p14:creationId xmlns:p14="http://schemas.microsoft.com/office/powerpoint/2010/main" val="1970081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873AEE2-CEBB-4DD5-B3E8-11F237E87E5B}"/>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A9FCB0C8-48ED-468F-90B8-2FFAE3058EA7}"/>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19F15442-BF60-4FA4-BE11-22EFC8F80A07}"/>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MARKETPLACE</a:t>
            </a:r>
            <a:endParaRPr sz="1300"/>
          </a:p>
        </p:txBody>
      </p:sp>
      <p:sp>
        <p:nvSpPr>
          <p:cNvPr id="5" name="Text 3">
            <a:extLst>
              <a:ext uri="{FF2B5EF4-FFF2-40B4-BE49-F238E27FC236}">
                <a16:creationId xmlns:a16="http://schemas.microsoft.com/office/drawing/2014/main" id="{2A2BB505-0F2E-424D-95CE-51130D34C69D}"/>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000" b="1">
                <a:solidFill>
                  <a:srgbClr val="F4F7FB"/>
                </a:solidFill>
                <a:latin typeface="Calibri"/>
                <a:ea typeface="Calibri"/>
                <a:cs typeface="Calibri"/>
              </a:rPr>
              <a:t>Marketplace dwarfs the usage underneath it</a:t>
            </a:r>
            <a:endParaRPr sz="2000"/>
          </a:p>
        </p:txBody>
      </p:sp>
      <p:sp>
        <p:nvSpPr>
          <p:cNvPr id="6" name="Text 4">
            <a:extLst>
              <a:ext uri="{FF2B5EF4-FFF2-40B4-BE49-F238E27FC236}">
                <a16:creationId xmlns:a16="http://schemas.microsoft.com/office/drawing/2014/main" id="{454A2E4B-AE0B-49B1-8F13-CAC9DCAC8960}"/>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None of this is consumption. Security vendors bought, replaced and retired inside the year.</a:t>
            </a:r>
            <a:endParaRPr sz="1200"/>
          </a:p>
        </p:txBody>
      </p:sp>
      <p:sp>
        <p:nvSpPr>
          <p:cNvPr id="7" name="Text 5">
            <a:extLst>
              <a:ext uri="{FF2B5EF4-FFF2-40B4-BE49-F238E27FC236}">
                <a16:creationId xmlns:a16="http://schemas.microsoft.com/office/drawing/2014/main" id="{DC2912D4-00C1-4273-88BC-4E087B137210}"/>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Splunk, CrowdStrike and Trellix land in Q1; TrendAI and Fortinet in June and gone by July; Cortex replaces them. Treating Marketplace as part of the cloud bill makes the trend unreadable. It belongs on its own line in the budget.</a:t>
            </a:r>
            <a:endParaRPr sz="1200"/>
          </a:p>
        </p:txBody>
      </p:sp>
      <p:sp>
        <p:nvSpPr>
          <p:cNvPr id="8" name="Text 6">
            <a:extLst>
              <a:ext uri="{FF2B5EF4-FFF2-40B4-BE49-F238E27FC236}">
                <a16:creationId xmlns:a16="http://schemas.microsoft.com/office/drawing/2014/main" id="{33C8C11C-17B2-4A0C-BD17-19412621581A}"/>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AWS Marketplace purchases by product, Jan-Jul total</a:t>
            </a:r>
            <a:endParaRPr sz="1500"/>
          </a:p>
        </p:txBody>
      </p:sp>
      <p:graphicFrame>
        <p:nvGraphicFramePr>
          <p:cNvPr id="30"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a:extLst>
              <a:ext uri="{FF2B5EF4-FFF2-40B4-BE49-F238E27FC236}">
                <a16:creationId xmlns:a16="http://schemas.microsoft.com/office/drawing/2014/main" id="{F8931059-EB48-436F-8804-25F78AF3B674}"/>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9B3D45AC-9F13-41E2-95AD-B9E233538D98}"/>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AWS MARKETPLACE, JAN-JUL</a:t>
            </a:r>
            <a:endParaRPr sz="1200"/>
          </a:p>
        </p:txBody>
      </p:sp>
      <p:sp>
        <p:nvSpPr>
          <p:cNvPr id="12" name="Text 9">
            <a:extLst>
              <a:ext uri="{FF2B5EF4-FFF2-40B4-BE49-F238E27FC236}">
                <a16:creationId xmlns:a16="http://schemas.microsoft.com/office/drawing/2014/main" id="{BEC8CE05-C063-49CC-9569-F4465ED3192F}"/>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$1.54M</a:t>
            </a:r>
            <a:endParaRPr sz="2800"/>
          </a:p>
        </p:txBody>
      </p:sp>
      <p:sp>
        <p:nvSpPr>
          <p:cNvPr id="13" name="Text 10">
            <a:extLst>
              <a:ext uri="{FF2B5EF4-FFF2-40B4-BE49-F238E27FC236}">
                <a16:creationId xmlns:a16="http://schemas.microsoft.com/office/drawing/2014/main" id="{99F04CDF-3765-4510-887D-92D4F257B792}"/>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2.6x regular AWS usage</a:t>
            </a:r>
            <a:endParaRPr sz="1200"/>
          </a:p>
        </p:txBody>
      </p:sp>
      <p:sp>
        <p:nvSpPr>
          <p:cNvPr id="14" name="Shape 11">
            <a:extLst>
              <a:ext uri="{FF2B5EF4-FFF2-40B4-BE49-F238E27FC236}">
                <a16:creationId xmlns:a16="http://schemas.microsoft.com/office/drawing/2014/main" id="{7CF63B13-3DDC-407E-95CB-14862424A8DF}"/>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AB9E18A9-A485-46B4-BB36-CBFFC8ECB56C}"/>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AZURE MARKETPLACE, JAN-JUL</a:t>
            </a:r>
            <a:endParaRPr sz="1200"/>
          </a:p>
        </p:txBody>
      </p:sp>
      <p:sp>
        <p:nvSpPr>
          <p:cNvPr id="16" name="Text 13">
            <a:extLst>
              <a:ext uri="{FF2B5EF4-FFF2-40B4-BE49-F238E27FC236}">
                <a16:creationId xmlns:a16="http://schemas.microsoft.com/office/drawing/2014/main" id="{E6A61585-F751-46E4-9A60-4588737BDB2D}"/>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$551K</a:t>
            </a:r>
            <a:endParaRPr sz="2800"/>
          </a:p>
        </p:txBody>
      </p:sp>
      <p:sp>
        <p:nvSpPr>
          <p:cNvPr id="17" name="Text 14">
            <a:extLst>
              <a:ext uri="{FF2B5EF4-FFF2-40B4-BE49-F238E27FC236}">
                <a16:creationId xmlns:a16="http://schemas.microsoft.com/office/drawing/2014/main" id="{78D9C93A-34C7-4848-BA53-71D165F492B4}"/>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mostly the Databricks prepayment</a:t>
            </a:r>
            <a:endParaRPr sz="1200"/>
          </a:p>
        </p:txBody>
      </p:sp>
      <p:sp>
        <p:nvSpPr>
          <p:cNvPr id="18" name="Shape 15">
            <a:extLst>
              <a:ext uri="{FF2B5EF4-FFF2-40B4-BE49-F238E27FC236}">
                <a16:creationId xmlns:a16="http://schemas.microsoft.com/office/drawing/2014/main" id="{DBC26F41-2632-43EB-9098-5935F817570D}"/>
              </a:ext>
            </a:extLst>
          </p:cNvPr>
          <p:cNvSpPr>
            <a:spLocks noGrp="1"/>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17033E4E-33FB-4CC5-A720-D188C01704D5}"/>
              </a:ext>
            </a:extLst>
          </p:cNvPr>
          <p:cNvSpPr>
            <a:spLocks noGrp="1"/>
          </p:cNvSpPr>
          <p:nvPr/>
        </p:nvSpPr>
        <p:spPr>
          <a:xfrm>
            <a:off x="8293608" y="3776472"/>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RECURRING, OF ALL OF IT</a:t>
            </a:r>
            <a:endParaRPr sz="1200"/>
          </a:p>
        </p:txBody>
      </p:sp>
      <p:sp>
        <p:nvSpPr>
          <p:cNvPr id="20" name="Text 17">
            <a:extLst>
              <a:ext uri="{FF2B5EF4-FFF2-40B4-BE49-F238E27FC236}">
                <a16:creationId xmlns:a16="http://schemas.microsoft.com/office/drawing/2014/main" id="{16F95E57-CA35-4C69-845D-A30EE1287471}"/>
              </a:ext>
            </a:extLst>
          </p:cNvPr>
          <p:cNvSpPr>
            <a:spLocks noGrp="1"/>
          </p:cNvSpPr>
          <p:nvPr/>
        </p:nvSpPr>
        <p:spPr>
          <a:xfrm>
            <a:off x="8293608" y="3977640"/>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~$14K/mo</a:t>
            </a:r>
            <a:endParaRPr sz="2800"/>
          </a:p>
        </p:txBody>
      </p:sp>
      <p:sp>
        <p:nvSpPr>
          <p:cNvPr id="21" name="Text 18">
            <a:extLst>
              <a:ext uri="{FF2B5EF4-FFF2-40B4-BE49-F238E27FC236}">
                <a16:creationId xmlns:a16="http://schemas.microsoft.com/office/drawing/2014/main" id="{3A0066F1-3301-4876-95EB-C4DF6A93A016}"/>
              </a:ext>
            </a:extLst>
          </p:cNvPr>
          <p:cNvSpPr>
            <a:spLocks noGrp="1"/>
          </p:cNvSpPr>
          <p:nvPr/>
        </p:nvSpPr>
        <p:spPr>
          <a:xfrm>
            <a:off x="8293608" y="4379976"/>
            <a:ext cx="3239719"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MongoDB Atlas and the small tools</a:t>
            </a:r>
            <a:endParaRPr sz="1200"/>
          </a:p>
        </p:txBody>
      </p:sp>
    </p:spTree>
    <p:extLst>
      <p:ext uri="{BB962C8B-B14F-4D97-AF65-F5344CB8AC3E}">
        <p14:creationId xmlns:p14="http://schemas.microsoft.com/office/powerpoint/2010/main" val="400952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6DBED42-31C8-4B5D-955F-5E680E75C834}"/>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DD30603C-83F2-4478-A77E-4DCB2B00B4B6}"/>
              </a:ext>
            </a:extLst>
          </p:cNvPr>
          <p:cNvSpPr>
            <a:spLocks noGrp="1"/>
          </p:cNvSpPr>
          <p:nvPr/>
        </p:nvSpPr>
        <p:spPr>
          <a:xfrm>
            <a:off x="7863840" y="-1280160"/>
            <a:ext cx="5852160" cy="5852160"/>
          </a:xfrm>
          <a:prstGeom prst="ellipse">
            <a:avLst/>
          </a:prstGeom>
          <a:solidFill>
            <a:srgbClr val="B07CFF">
              <a:alpha val="8000"/>
            </a:srgbClr>
          </a:solidFill>
          <a:ln w="12700">
            <a:solidFill>
              <a:srgbClr val="B07CFF">
                <a:alpha val="0"/>
              </a:srgbClr>
            </a:solidFill>
            <a:prstDash val="solid"/>
          </a:ln>
        </p:spPr>
        <p:txBody>
          <a:bodyPr/>
          <a:lstStyle/>
          <a:p>
            <a:endParaRPr/>
          </a:p>
        </p:txBody>
      </p:sp>
      <p:sp>
        <p:nvSpPr>
          <p:cNvPr id="4" name="Shape 2">
            <a:extLst>
              <a:ext uri="{FF2B5EF4-FFF2-40B4-BE49-F238E27FC236}">
                <a16:creationId xmlns:a16="http://schemas.microsoft.com/office/drawing/2014/main" id="{D9A5AE82-88D3-408C-AEDE-A8368CEADEFC}"/>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B191F1D0-A366-4ED2-AC8D-0AB204B98430}"/>
              </a:ext>
            </a:extLst>
          </p:cNvPr>
          <p:cNvSpPr>
            <a:spLocks noGrp="1"/>
          </p:cNvSpPr>
          <p:nvPr/>
        </p:nvSpPr>
        <p:spPr>
          <a:xfrm>
            <a:off x="457200" y="2331720"/>
            <a:ext cx="8229600" cy="274320"/>
          </a:xfrm>
          <a:prstGeom prst="rect">
            <a:avLst/>
          </a:prstGeom>
          <a:noFill/>
        </p:spPr>
        <p:txBody>
          <a:bodyPr wrap="square" lIns="0" tIns="0" rIns="0" bIns="0" anchor="ctr"/>
          <a:lstStyle/>
          <a:p>
            <a:pPr marL="0" indent="0">
              <a:buNone/>
            </a:pPr>
            <a:endParaRPr sz="1300" dirty="0"/>
          </a:p>
        </p:txBody>
      </p:sp>
      <p:sp>
        <p:nvSpPr>
          <p:cNvPr id="6" name="Text 4">
            <a:extLst>
              <a:ext uri="{FF2B5EF4-FFF2-40B4-BE49-F238E27FC236}">
                <a16:creationId xmlns:a16="http://schemas.microsoft.com/office/drawing/2014/main" id="{6BBA5D6F-6DB3-4ECB-BB8B-287EE6EB9C83}"/>
              </a:ext>
            </a:extLst>
          </p:cNvPr>
          <p:cNvSpPr>
            <a:spLocks noGrp="1"/>
          </p:cNvSpPr>
          <p:nvPr/>
        </p:nvSpPr>
        <p:spPr>
          <a:xfrm>
            <a:off x="426568" y="1919877"/>
            <a:ext cx="8412480" cy="2835003"/>
          </a:xfrm>
          <a:prstGeom prst="rect">
            <a:avLst/>
          </a:prstGeom>
          <a:noFill/>
        </p:spPr>
        <p:txBody>
          <a:bodyPr wrap="square" lIns="0" tIns="0" rIns="0" bIns="0" anchor="ctr"/>
          <a:lstStyle/>
          <a:p>
            <a:pPr>
              <a:lnSpc>
                <a:spcPct val="108000"/>
              </a:lnSpc>
              <a:buNone/>
            </a:pPr>
            <a:r>
              <a:rPr sz="4000" b="1" dirty="0">
                <a:solidFill>
                  <a:srgbClr val="F4F7FB"/>
                </a:solidFill>
                <a:latin typeface="Cambria"/>
                <a:ea typeface="Cambria"/>
                <a:cs typeface="Cambria"/>
              </a:rPr>
              <a:t>FinOps</a:t>
            </a:r>
            <a:endParaRPr sz="4000" dirty="0"/>
          </a:p>
          <a:p>
            <a:pPr>
              <a:lnSpc>
                <a:spcPct val="108000"/>
              </a:lnSpc>
              <a:buNone/>
            </a:pPr>
            <a:r>
              <a:rPr sz="4000" b="1" dirty="0">
                <a:solidFill>
                  <a:srgbClr val="F4F7FB"/>
                </a:solidFill>
                <a:latin typeface="Cambria"/>
                <a:ea typeface="Cambria"/>
                <a:cs typeface="Cambria"/>
              </a:rPr>
              <a:t>Visibility &amp; Governance</a:t>
            </a:r>
            <a:endParaRPr sz="4000" dirty="0"/>
          </a:p>
        </p:txBody>
      </p:sp>
      <p:sp>
        <p:nvSpPr>
          <p:cNvPr id="7" name="Text 5">
            <a:extLst>
              <a:ext uri="{FF2B5EF4-FFF2-40B4-BE49-F238E27FC236}">
                <a16:creationId xmlns:a16="http://schemas.microsoft.com/office/drawing/2014/main" id="{EBB88845-6C14-4199-852D-31B2B14C076A}"/>
              </a:ext>
            </a:extLst>
          </p:cNvPr>
          <p:cNvSpPr>
            <a:spLocks noGrp="1"/>
          </p:cNvSpPr>
          <p:nvPr/>
        </p:nvSpPr>
        <p:spPr>
          <a:xfrm>
            <a:off x="457200" y="4012162"/>
            <a:ext cx="7863840" cy="696997"/>
          </a:xfrm>
          <a:prstGeom prst="rect">
            <a:avLst/>
          </a:prstGeom>
          <a:noFill/>
        </p:spPr>
        <p:txBody>
          <a:bodyPr wrap="square" lIns="0" tIns="0" rIns="0" bIns="0" anchor="ctr"/>
          <a:lstStyle/>
          <a:p>
            <a:pPr marL="0" indent="0">
              <a:buNone/>
            </a:pPr>
            <a:endParaRPr sz="1500"/>
          </a:p>
        </p:txBody>
      </p:sp>
    </p:spTree>
    <p:extLst>
      <p:ext uri="{BB962C8B-B14F-4D97-AF65-F5344CB8AC3E}">
        <p14:creationId xmlns:p14="http://schemas.microsoft.com/office/powerpoint/2010/main" val="4164748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FA74715-32C0-48CE-B58B-EA07723F7808}"/>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sp>
      <p:sp>
        <p:nvSpPr>
          <p:cNvPr id="3" name="Shape 1">
            <a:extLst>
              <a:ext uri="{FF2B5EF4-FFF2-40B4-BE49-F238E27FC236}">
                <a16:creationId xmlns:a16="http://schemas.microsoft.com/office/drawing/2014/main" id="{E01D2E9B-A1C1-4DEC-AD1C-30A310C0D5AB}"/>
              </a:ext>
            </a:extLst>
          </p:cNvPr>
          <p:cNvSpPr>
            <a:spLocks noGrp="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a:extLst>
              <a:ext uri="{FF2B5EF4-FFF2-40B4-BE49-F238E27FC236}">
                <a16:creationId xmlns:a16="http://schemas.microsoft.com/office/drawing/2014/main" id="{A96464A2-2DC2-47A6-83B3-E7DBB09C75D5}"/>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6B7A"/>
                </a:solidFill>
                <a:latin typeface="Calibri"/>
                <a:ea typeface="Calibri"/>
                <a:cs typeface="Calibri"/>
              </a:rPr>
              <a:t>THE PROBLEM</a:t>
            </a:r>
            <a:endParaRPr sz="1300"/>
          </a:p>
        </p:txBody>
      </p:sp>
      <p:sp>
        <p:nvSpPr>
          <p:cNvPr id="5" name="Text 3">
            <a:extLst>
              <a:ext uri="{FF2B5EF4-FFF2-40B4-BE49-F238E27FC236}">
                <a16:creationId xmlns:a16="http://schemas.microsoft.com/office/drawing/2014/main" id="{01C47CBC-F62C-4E77-AEDF-65330676F628}"/>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625" b="1">
                <a:solidFill>
                  <a:srgbClr val="F4F7FB"/>
                </a:solidFill>
                <a:latin typeface="Calibri"/>
                <a:ea typeface="Calibri"/>
                <a:cs typeface="Calibri"/>
              </a:rPr>
              <a:t>AI spend is outpacing governance</a:t>
            </a:r>
            <a:endParaRPr sz="2625"/>
          </a:p>
        </p:txBody>
      </p:sp>
      <p:sp>
        <p:nvSpPr>
          <p:cNvPr id="6" name="Text 4">
            <a:extLst>
              <a:ext uri="{FF2B5EF4-FFF2-40B4-BE49-F238E27FC236}">
                <a16:creationId xmlns:a16="http://schemas.microsoft.com/office/drawing/2014/main" id="{3A15DA65-9B38-43A4-BB23-B9B341ECF330}"/>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Every business unit buys AI separately, on shared keys, with no owner per consumer.</a:t>
            </a:r>
            <a:endParaRPr sz="1200"/>
          </a:p>
        </p:txBody>
      </p:sp>
      <p:sp>
        <p:nvSpPr>
          <p:cNvPr id="7" name="Shape 5">
            <a:extLst>
              <a:ext uri="{FF2B5EF4-FFF2-40B4-BE49-F238E27FC236}">
                <a16:creationId xmlns:a16="http://schemas.microsoft.com/office/drawing/2014/main" id="{50A981BD-1FF3-4C12-8692-D6A634D7E995}"/>
              </a:ext>
            </a:extLst>
          </p:cNvPr>
          <p:cNvSpPr>
            <a:spLocks noGrp="1"/>
          </p:cNvSpPr>
          <p:nvPr/>
        </p:nvSpPr>
        <p:spPr>
          <a:xfrm>
            <a:off x="3200400" y="2029968"/>
            <a:ext cx="1005840" cy="3658"/>
          </a:xfrm>
          <a:prstGeom prst="line">
            <a:avLst/>
          </a:prstGeom>
          <a:noFill/>
          <a:ln w="9525">
            <a:solidFill>
              <a:srgbClr val="FF6B7A">
                <a:alpha val="42000"/>
              </a:srgbClr>
            </a:solidFill>
            <a:prstDash val="solid"/>
          </a:ln>
        </p:spPr>
      </p:sp>
      <p:sp>
        <p:nvSpPr>
          <p:cNvPr id="8" name="Shape 6">
            <a:extLst>
              <a:ext uri="{FF2B5EF4-FFF2-40B4-BE49-F238E27FC236}">
                <a16:creationId xmlns:a16="http://schemas.microsoft.com/office/drawing/2014/main" id="{F73D2BE9-71A6-46B4-AB84-428035AAF11F}"/>
              </a:ext>
            </a:extLst>
          </p:cNvPr>
          <p:cNvSpPr>
            <a:spLocks noGrp="1"/>
          </p:cNvSpPr>
          <p:nvPr/>
        </p:nvSpPr>
        <p:spPr>
          <a:xfrm>
            <a:off x="3200400" y="2029968"/>
            <a:ext cx="1005840" cy="779069"/>
          </a:xfrm>
          <a:prstGeom prst="line">
            <a:avLst/>
          </a:prstGeom>
          <a:noFill/>
          <a:ln w="9525">
            <a:solidFill>
              <a:srgbClr val="FF6B7A">
                <a:alpha val="42000"/>
              </a:srgbClr>
            </a:solidFill>
            <a:prstDash val="solid"/>
          </a:ln>
        </p:spPr>
      </p:sp>
      <p:sp>
        <p:nvSpPr>
          <p:cNvPr id="9" name="Shape 7">
            <a:extLst>
              <a:ext uri="{FF2B5EF4-FFF2-40B4-BE49-F238E27FC236}">
                <a16:creationId xmlns:a16="http://schemas.microsoft.com/office/drawing/2014/main" id="{FC5D842D-96ED-41E3-9507-39FE21067AFF}"/>
              </a:ext>
            </a:extLst>
          </p:cNvPr>
          <p:cNvSpPr>
            <a:spLocks noGrp="1"/>
          </p:cNvSpPr>
          <p:nvPr/>
        </p:nvSpPr>
        <p:spPr>
          <a:xfrm>
            <a:off x="3200400" y="2029968"/>
            <a:ext cx="1005840" cy="1558138"/>
          </a:xfrm>
          <a:prstGeom prst="line">
            <a:avLst/>
          </a:prstGeom>
          <a:noFill/>
          <a:ln w="9525">
            <a:solidFill>
              <a:srgbClr val="FF6B7A">
                <a:alpha val="42000"/>
              </a:srgbClr>
            </a:solidFill>
            <a:prstDash val="solid"/>
          </a:ln>
        </p:spPr>
      </p:sp>
      <p:sp>
        <p:nvSpPr>
          <p:cNvPr id="10" name="Shape 8">
            <a:extLst>
              <a:ext uri="{FF2B5EF4-FFF2-40B4-BE49-F238E27FC236}">
                <a16:creationId xmlns:a16="http://schemas.microsoft.com/office/drawing/2014/main" id="{6BC566AF-AE37-4158-A501-9FC6C9A31B5F}"/>
              </a:ext>
            </a:extLst>
          </p:cNvPr>
          <p:cNvSpPr>
            <a:spLocks noGrp="1"/>
          </p:cNvSpPr>
          <p:nvPr/>
        </p:nvSpPr>
        <p:spPr>
          <a:xfrm>
            <a:off x="3200400" y="2029968"/>
            <a:ext cx="1005840" cy="2337206"/>
          </a:xfrm>
          <a:prstGeom prst="line">
            <a:avLst/>
          </a:prstGeom>
          <a:noFill/>
          <a:ln w="9525">
            <a:solidFill>
              <a:srgbClr val="FF6B7A">
                <a:alpha val="42000"/>
              </a:srgbClr>
            </a:solidFill>
            <a:prstDash val="solid"/>
          </a:ln>
        </p:spPr>
      </p:sp>
      <p:sp>
        <p:nvSpPr>
          <p:cNvPr id="11" name="Shape 9">
            <a:extLst>
              <a:ext uri="{FF2B5EF4-FFF2-40B4-BE49-F238E27FC236}">
                <a16:creationId xmlns:a16="http://schemas.microsoft.com/office/drawing/2014/main" id="{E914CEEF-B14D-44C7-AECA-1A9A4E4542D9}"/>
              </a:ext>
            </a:extLst>
          </p:cNvPr>
          <p:cNvSpPr>
            <a:spLocks noGrp="1"/>
          </p:cNvSpPr>
          <p:nvPr/>
        </p:nvSpPr>
        <p:spPr>
          <a:xfrm>
            <a:off x="3200400" y="2029968"/>
            <a:ext cx="1005840" cy="3116275"/>
          </a:xfrm>
          <a:prstGeom prst="line">
            <a:avLst/>
          </a:prstGeom>
          <a:noFill/>
          <a:ln w="9525">
            <a:solidFill>
              <a:srgbClr val="FF6B7A">
                <a:alpha val="42000"/>
              </a:srgbClr>
            </a:solidFill>
            <a:prstDash val="solid"/>
          </a:ln>
        </p:spPr>
      </p:sp>
      <p:sp>
        <p:nvSpPr>
          <p:cNvPr id="12" name="Shape 10">
            <a:extLst>
              <a:ext uri="{FF2B5EF4-FFF2-40B4-BE49-F238E27FC236}">
                <a16:creationId xmlns:a16="http://schemas.microsoft.com/office/drawing/2014/main" id="{4EBCF98B-89DC-41A4-93F7-B409F05A7912}"/>
              </a:ext>
            </a:extLst>
          </p:cNvPr>
          <p:cNvSpPr>
            <a:spLocks noGrp="1"/>
          </p:cNvSpPr>
          <p:nvPr/>
        </p:nvSpPr>
        <p:spPr>
          <a:xfrm>
            <a:off x="3200400" y="2029968"/>
            <a:ext cx="1005840" cy="3895344"/>
          </a:xfrm>
          <a:prstGeom prst="line">
            <a:avLst/>
          </a:prstGeom>
          <a:noFill/>
          <a:ln w="9525">
            <a:solidFill>
              <a:srgbClr val="FF6B7A">
                <a:alpha val="42000"/>
              </a:srgbClr>
            </a:solidFill>
            <a:prstDash val="solid"/>
          </a:ln>
        </p:spPr>
      </p:sp>
      <p:sp>
        <p:nvSpPr>
          <p:cNvPr id="13" name="Shape 11">
            <a:extLst>
              <a:ext uri="{FF2B5EF4-FFF2-40B4-BE49-F238E27FC236}">
                <a16:creationId xmlns:a16="http://schemas.microsoft.com/office/drawing/2014/main" id="{A3515DBC-CAFD-4A83-8AA7-7AEBFCBE3711}"/>
              </a:ext>
            </a:extLst>
          </p:cNvPr>
          <p:cNvSpPr>
            <a:spLocks noGrp="1"/>
          </p:cNvSpPr>
          <p:nvPr/>
        </p:nvSpPr>
        <p:spPr>
          <a:xfrm flipV="1">
            <a:off x="3200400" y="2029968"/>
            <a:ext cx="1005840" cy="779069"/>
          </a:xfrm>
          <a:prstGeom prst="line">
            <a:avLst/>
          </a:prstGeom>
          <a:noFill/>
          <a:ln w="9525">
            <a:solidFill>
              <a:srgbClr val="FF6B7A">
                <a:alpha val="42000"/>
              </a:srgbClr>
            </a:solidFill>
            <a:prstDash val="solid"/>
          </a:ln>
        </p:spPr>
      </p:sp>
      <p:sp>
        <p:nvSpPr>
          <p:cNvPr id="14" name="Shape 12">
            <a:extLst>
              <a:ext uri="{FF2B5EF4-FFF2-40B4-BE49-F238E27FC236}">
                <a16:creationId xmlns:a16="http://schemas.microsoft.com/office/drawing/2014/main" id="{0B93BA4B-FC3D-4EB9-A814-305DD007397D}"/>
              </a:ext>
            </a:extLst>
          </p:cNvPr>
          <p:cNvSpPr>
            <a:spLocks noGrp="1"/>
          </p:cNvSpPr>
          <p:nvPr/>
        </p:nvSpPr>
        <p:spPr>
          <a:xfrm>
            <a:off x="3200400" y="2809037"/>
            <a:ext cx="1005840" cy="3658"/>
          </a:xfrm>
          <a:prstGeom prst="line">
            <a:avLst/>
          </a:prstGeom>
          <a:noFill/>
          <a:ln w="9525">
            <a:solidFill>
              <a:srgbClr val="FF6B7A">
                <a:alpha val="42000"/>
              </a:srgbClr>
            </a:solidFill>
            <a:prstDash val="solid"/>
          </a:ln>
        </p:spPr>
      </p:sp>
      <p:sp>
        <p:nvSpPr>
          <p:cNvPr id="15" name="Shape 13">
            <a:extLst>
              <a:ext uri="{FF2B5EF4-FFF2-40B4-BE49-F238E27FC236}">
                <a16:creationId xmlns:a16="http://schemas.microsoft.com/office/drawing/2014/main" id="{27C3BEEA-8AE6-4A7C-B112-8EAEA5F6072D}"/>
              </a:ext>
            </a:extLst>
          </p:cNvPr>
          <p:cNvSpPr>
            <a:spLocks noGrp="1"/>
          </p:cNvSpPr>
          <p:nvPr/>
        </p:nvSpPr>
        <p:spPr>
          <a:xfrm>
            <a:off x="3200400" y="2809037"/>
            <a:ext cx="1005840" cy="779069"/>
          </a:xfrm>
          <a:prstGeom prst="line">
            <a:avLst/>
          </a:prstGeom>
          <a:noFill/>
          <a:ln w="9525">
            <a:solidFill>
              <a:srgbClr val="FF6B7A">
                <a:alpha val="42000"/>
              </a:srgbClr>
            </a:solidFill>
            <a:prstDash val="solid"/>
          </a:ln>
        </p:spPr>
      </p:sp>
      <p:sp>
        <p:nvSpPr>
          <p:cNvPr id="16" name="Shape 14">
            <a:extLst>
              <a:ext uri="{FF2B5EF4-FFF2-40B4-BE49-F238E27FC236}">
                <a16:creationId xmlns:a16="http://schemas.microsoft.com/office/drawing/2014/main" id="{044BAE64-7B0D-49B7-B011-0720F6493F5E}"/>
              </a:ext>
            </a:extLst>
          </p:cNvPr>
          <p:cNvSpPr>
            <a:spLocks noGrp="1"/>
          </p:cNvSpPr>
          <p:nvPr/>
        </p:nvSpPr>
        <p:spPr>
          <a:xfrm>
            <a:off x="3200400" y="2809037"/>
            <a:ext cx="1005840" cy="1558138"/>
          </a:xfrm>
          <a:prstGeom prst="line">
            <a:avLst/>
          </a:prstGeom>
          <a:noFill/>
          <a:ln w="9525">
            <a:solidFill>
              <a:srgbClr val="FF6B7A">
                <a:alpha val="42000"/>
              </a:srgbClr>
            </a:solidFill>
            <a:prstDash val="solid"/>
          </a:ln>
        </p:spPr>
      </p:sp>
      <p:sp>
        <p:nvSpPr>
          <p:cNvPr id="17" name="Shape 15">
            <a:extLst>
              <a:ext uri="{FF2B5EF4-FFF2-40B4-BE49-F238E27FC236}">
                <a16:creationId xmlns:a16="http://schemas.microsoft.com/office/drawing/2014/main" id="{EE3F6FF9-D61B-4F42-9D18-986509BB7A16}"/>
              </a:ext>
            </a:extLst>
          </p:cNvPr>
          <p:cNvSpPr>
            <a:spLocks noGrp="1"/>
          </p:cNvSpPr>
          <p:nvPr/>
        </p:nvSpPr>
        <p:spPr>
          <a:xfrm>
            <a:off x="3200400" y="2809037"/>
            <a:ext cx="1005840" cy="2337206"/>
          </a:xfrm>
          <a:prstGeom prst="line">
            <a:avLst/>
          </a:prstGeom>
          <a:noFill/>
          <a:ln w="9525">
            <a:solidFill>
              <a:srgbClr val="FF6B7A">
                <a:alpha val="42000"/>
              </a:srgbClr>
            </a:solidFill>
            <a:prstDash val="solid"/>
          </a:ln>
        </p:spPr>
      </p:sp>
      <p:sp>
        <p:nvSpPr>
          <p:cNvPr id="18" name="Shape 16">
            <a:extLst>
              <a:ext uri="{FF2B5EF4-FFF2-40B4-BE49-F238E27FC236}">
                <a16:creationId xmlns:a16="http://schemas.microsoft.com/office/drawing/2014/main" id="{6BEED6B0-41FF-47E5-B8B4-82648F0D4841}"/>
              </a:ext>
            </a:extLst>
          </p:cNvPr>
          <p:cNvSpPr>
            <a:spLocks noGrp="1"/>
          </p:cNvSpPr>
          <p:nvPr/>
        </p:nvSpPr>
        <p:spPr>
          <a:xfrm>
            <a:off x="3200400" y="2809037"/>
            <a:ext cx="1005840" cy="3116275"/>
          </a:xfrm>
          <a:prstGeom prst="line">
            <a:avLst/>
          </a:prstGeom>
          <a:noFill/>
          <a:ln w="9525">
            <a:solidFill>
              <a:srgbClr val="FF6B7A">
                <a:alpha val="42000"/>
              </a:srgbClr>
            </a:solidFill>
            <a:prstDash val="solid"/>
          </a:ln>
        </p:spPr>
      </p:sp>
      <p:sp>
        <p:nvSpPr>
          <p:cNvPr id="19" name="Shape 17">
            <a:extLst>
              <a:ext uri="{FF2B5EF4-FFF2-40B4-BE49-F238E27FC236}">
                <a16:creationId xmlns:a16="http://schemas.microsoft.com/office/drawing/2014/main" id="{84F14F04-06C3-40B5-9106-4A22787451FF}"/>
              </a:ext>
            </a:extLst>
          </p:cNvPr>
          <p:cNvSpPr>
            <a:spLocks noGrp="1"/>
          </p:cNvSpPr>
          <p:nvPr/>
        </p:nvSpPr>
        <p:spPr>
          <a:xfrm flipV="1">
            <a:off x="3200400" y="2029968"/>
            <a:ext cx="1005840" cy="1558138"/>
          </a:xfrm>
          <a:prstGeom prst="line">
            <a:avLst/>
          </a:prstGeom>
          <a:noFill/>
          <a:ln w="9525">
            <a:solidFill>
              <a:srgbClr val="FF6B7A">
                <a:alpha val="42000"/>
              </a:srgbClr>
            </a:solidFill>
            <a:prstDash val="solid"/>
          </a:ln>
        </p:spPr>
      </p:sp>
      <p:sp>
        <p:nvSpPr>
          <p:cNvPr id="20" name="Shape 18">
            <a:extLst>
              <a:ext uri="{FF2B5EF4-FFF2-40B4-BE49-F238E27FC236}">
                <a16:creationId xmlns:a16="http://schemas.microsoft.com/office/drawing/2014/main" id="{D360E37A-E03E-41EA-A3AF-1767D97FFBB2}"/>
              </a:ext>
            </a:extLst>
          </p:cNvPr>
          <p:cNvSpPr>
            <a:spLocks noGrp="1"/>
          </p:cNvSpPr>
          <p:nvPr/>
        </p:nvSpPr>
        <p:spPr>
          <a:xfrm flipV="1">
            <a:off x="3200400" y="2809037"/>
            <a:ext cx="1005840" cy="779069"/>
          </a:xfrm>
          <a:prstGeom prst="line">
            <a:avLst/>
          </a:prstGeom>
          <a:noFill/>
          <a:ln w="9525">
            <a:solidFill>
              <a:srgbClr val="FF6B7A">
                <a:alpha val="42000"/>
              </a:srgbClr>
            </a:solidFill>
            <a:prstDash val="solid"/>
          </a:ln>
        </p:spPr>
      </p:sp>
      <p:sp>
        <p:nvSpPr>
          <p:cNvPr id="21" name="Shape 19">
            <a:extLst>
              <a:ext uri="{FF2B5EF4-FFF2-40B4-BE49-F238E27FC236}">
                <a16:creationId xmlns:a16="http://schemas.microsoft.com/office/drawing/2014/main" id="{1EF95FE6-DC87-411C-B8B5-AD9577025D0F}"/>
              </a:ext>
            </a:extLst>
          </p:cNvPr>
          <p:cNvSpPr>
            <a:spLocks noGrp="1"/>
          </p:cNvSpPr>
          <p:nvPr/>
        </p:nvSpPr>
        <p:spPr>
          <a:xfrm>
            <a:off x="3200400" y="3588106"/>
            <a:ext cx="1005840" cy="3658"/>
          </a:xfrm>
          <a:prstGeom prst="line">
            <a:avLst/>
          </a:prstGeom>
          <a:noFill/>
          <a:ln w="9525">
            <a:solidFill>
              <a:srgbClr val="FF6B7A">
                <a:alpha val="42000"/>
              </a:srgbClr>
            </a:solidFill>
            <a:prstDash val="solid"/>
          </a:ln>
        </p:spPr>
      </p:sp>
      <p:sp>
        <p:nvSpPr>
          <p:cNvPr id="22" name="Shape 20">
            <a:extLst>
              <a:ext uri="{FF2B5EF4-FFF2-40B4-BE49-F238E27FC236}">
                <a16:creationId xmlns:a16="http://schemas.microsoft.com/office/drawing/2014/main" id="{463ACD57-0904-4200-ACDB-2CAA015CE93D}"/>
              </a:ext>
            </a:extLst>
          </p:cNvPr>
          <p:cNvSpPr>
            <a:spLocks noGrp="1"/>
          </p:cNvSpPr>
          <p:nvPr/>
        </p:nvSpPr>
        <p:spPr>
          <a:xfrm>
            <a:off x="3200400" y="3588106"/>
            <a:ext cx="1005840" cy="779069"/>
          </a:xfrm>
          <a:prstGeom prst="line">
            <a:avLst/>
          </a:prstGeom>
          <a:noFill/>
          <a:ln w="9525">
            <a:solidFill>
              <a:srgbClr val="FF6B7A">
                <a:alpha val="42000"/>
              </a:srgbClr>
            </a:solidFill>
            <a:prstDash val="solid"/>
          </a:ln>
        </p:spPr>
      </p:sp>
      <p:sp>
        <p:nvSpPr>
          <p:cNvPr id="23" name="Shape 21">
            <a:extLst>
              <a:ext uri="{FF2B5EF4-FFF2-40B4-BE49-F238E27FC236}">
                <a16:creationId xmlns:a16="http://schemas.microsoft.com/office/drawing/2014/main" id="{46F1D7D1-66AB-4E4A-9277-B0C8DBFC5854}"/>
              </a:ext>
            </a:extLst>
          </p:cNvPr>
          <p:cNvSpPr>
            <a:spLocks noGrp="1"/>
          </p:cNvSpPr>
          <p:nvPr/>
        </p:nvSpPr>
        <p:spPr>
          <a:xfrm>
            <a:off x="3200400" y="3588106"/>
            <a:ext cx="1005840" cy="1558138"/>
          </a:xfrm>
          <a:prstGeom prst="line">
            <a:avLst/>
          </a:prstGeom>
          <a:noFill/>
          <a:ln w="9525">
            <a:solidFill>
              <a:srgbClr val="FF6B7A">
                <a:alpha val="42000"/>
              </a:srgbClr>
            </a:solidFill>
            <a:prstDash val="solid"/>
          </a:ln>
        </p:spPr>
      </p:sp>
      <p:sp>
        <p:nvSpPr>
          <p:cNvPr id="24" name="Shape 22">
            <a:extLst>
              <a:ext uri="{FF2B5EF4-FFF2-40B4-BE49-F238E27FC236}">
                <a16:creationId xmlns:a16="http://schemas.microsoft.com/office/drawing/2014/main" id="{BBF1CA16-FC48-4EDA-9001-D9014ED1C875}"/>
              </a:ext>
            </a:extLst>
          </p:cNvPr>
          <p:cNvSpPr>
            <a:spLocks noGrp="1"/>
          </p:cNvSpPr>
          <p:nvPr/>
        </p:nvSpPr>
        <p:spPr>
          <a:xfrm>
            <a:off x="3200400" y="3588106"/>
            <a:ext cx="1005840" cy="2337206"/>
          </a:xfrm>
          <a:prstGeom prst="line">
            <a:avLst/>
          </a:prstGeom>
          <a:noFill/>
          <a:ln w="9525">
            <a:solidFill>
              <a:srgbClr val="FF6B7A">
                <a:alpha val="42000"/>
              </a:srgbClr>
            </a:solidFill>
            <a:prstDash val="solid"/>
          </a:ln>
        </p:spPr>
      </p:sp>
      <p:sp>
        <p:nvSpPr>
          <p:cNvPr id="25" name="Shape 23">
            <a:extLst>
              <a:ext uri="{FF2B5EF4-FFF2-40B4-BE49-F238E27FC236}">
                <a16:creationId xmlns:a16="http://schemas.microsoft.com/office/drawing/2014/main" id="{DE32D649-F579-4CAE-A40E-A625D654AD01}"/>
              </a:ext>
            </a:extLst>
          </p:cNvPr>
          <p:cNvSpPr>
            <a:spLocks noGrp="1"/>
          </p:cNvSpPr>
          <p:nvPr/>
        </p:nvSpPr>
        <p:spPr>
          <a:xfrm flipV="1">
            <a:off x="3200400" y="2029968"/>
            <a:ext cx="1005840" cy="2337206"/>
          </a:xfrm>
          <a:prstGeom prst="line">
            <a:avLst/>
          </a:prstGeom>
          <a:noFill/>
          <a:ln w="9525">
            <a:solidFill>
              <a:srgbClr val="FF6B7A">
                <a:alpha val="42000"/>
              </a:srgbClr>
            </a:solidFill>
            <a:prstDash val="solid"/>
          </a:ln>
        </p:spPr>
      </p:sp>
      <p:sp>
        <p:nvSpPr>
          <p:cNvPr id="26" name="Shape 24">
            <a:extLst>
              <a:ext uri="{FF2B5EF4-FFF2-40B4-BE49-F238E27FC236}">
                <a16:creationId xmlns:a16="http://schemas.microsoft.com/office/drawing/2014/main" id="{C7F70187-2950-4FC5-B823-81396B6C2B05}"/>
              </a:ext>
            </a:extLst>
          </p:cNvPr>
          <p:cNvSpPr>
            <a:spLocks noGrp="1"/>
          </p:cNvSpPr>
          <p:nvPr/>
        </p:nvSpPr>
        <p:spPr>
          <a:xfrm flipV="1">
            <a:off x="3200400" y="2809037"/>
            <a:ext cx="1005840" cy="1558138"/>
          </a:xfrm>
          <a:prstGeom prst="line">
            <a:avLst/>
          </a:prstGeom>
          <a:noFill/>
          <a:ln w="9525">
            <a:solidFill>
              <a:srgbClr val="FF6B7A">
                <a:alpha val="42000"/>
              </a:srgbClr>
            </a:solidFill>
            <a:prstDash val="solid"/>
          </a:ln>
        </p:spPr>
      </p:sp>
      <p:sp>
        <p:nvSpPr>
          <p:cNvPr id="27" name="Shape 25">
            <a:extLst>
              <a:ext uri="{FF2B5EF4-FFF2-40B4-BE49-F238E27FC236}">
                <a16:creationId xmlns:a16="http://schemas.microsoft.com/office/drawing/2014/main" id="{299A3FD6-6997-4739-A212-D84EB6BAEDFA}"/>
              </a:ext>
            </a:extLst>
          </p:cNvPr>
          <p:cNvSpPr>
            <a:spLocks noGrp="1"/>
          </p:cNvSpPr>
          <p:nvPr/>
        </p:nvSpPr>
        <p:spPr>
          <a:xfrm flipV="1">
            <a:off x="3200400" y="3588106"/>
            <a:ext cx="1005840" cy="779069"/>
          </a:xfrm>
          <a:prstGeom prst="line">
            <a:avLst/>
          </a:prstGeom>
          <a:noFill/>
          <a:ln w="9525">
            <a:solidFill>
              <a:srgbClr val="FF6B7A">
                <a:alpha val="42000"/>
              </a:srgbClr>
            </a:solidFill>
            <a:prstDash val="solid"/>
          </a:ln>
        </p:spPr>
      </p:sp>
      <p:sp>
        <p:nvSpPr>
          <p:cNvPr id="28" name="Shape 26">
            <a:extLst>
              <a:ext uri="{FF2B5EF4-FFF2-40B4-BE49-F238E27FC236}">
                <a16:creationId xmlns:a16="http://schemas.microsoft.com/office/drawing/2014/main" id="{2B4E5BA1-F348-4B05-BF3F-1398988CA4EA}"/>
              </a:ext>
            </a:extLst>
          </p:cNvPr>
          <p:cNvSpPr>
            <a:spLocks noGrp="1"/>
          </p:cNvSpPr>
          <p:nvPr/>
        </p:nvSpPr>
        <p:spPr>
          <a:xfrm>
            <a:off x="3200400" y="4367174"/>
            <a:ext cx="1005840" cy="3658"/>
          </a:xfrm>
          <a:prstGeom prst="line">
            <a:avLst/>
          </a:prstGeom>
          <a:noFill/>
          <a:ln w="9525">
            <a:solidFill>
              <a:srgbClr val="FF6B7A">
                <a:alpha val="42000"/>
              </a:srgbClr>
            </a:solidFill>
            <a:prstDash val="solid"/>
          </a:ln>
        </p:spPr>
      </p:sp>
      <p:sp>
        <p:nvSpPr>
          <p:cNvPr id="29" name="Shape 27">
            <a:extLst>
              <a:ext uri="{FF2B5EF4-FFF2-40B4-BE49-F238E27FC236}">
                <a16:creationId xmlns:a16="http://schemas.microsoft.com/office/drawing/2014/main" id="{02941428-6D84-43A9-9F8B-9966E8A7A0C3}"/>
              </a:ext>
            </a:extLst>
          </p:cNvPr>
          <p:cNvSpPr>
            <a:spLocks noGrp="1"/>
          </p:cNvSpPr>
          <p:nvPr/>
        </p:nvSpPr>
        <p:spPr>
          <a:xfrm>
            <a:off x="3200400" y="4367174"/>
            <a:ext cx="1005840" cy="779069"/>
          </a:xfrm>
          <a:prstGeom prst="line">
            <a:avLst/>
          </a:prstGeom>
          <a:noFill/>
          <a:ln w="9525">
            <a:solidFill>
              <a:srgbClr val="FF6B7A">
                <a:alpha val="42000"/>
              </a:srgbClr>
            </a:solidFill>
            <a:prstDash val="solid"/>
          </a:ln>
        </p:spPr>
      </p:sp>
      <p:sp>
        <p:nvSpPr>
          <p:cNvPr id="30" name="Shape 28">
            <a:extLst>
              <a:ext uri="{FF2B5EF4-FFF2-40B4-BE49-F238E27FC236}">
                <a16:creationId xmlns:a16="http://schemas.microsoft.com/office/drawing/2014/main" id="{159FFABF-29F4-43A5-BF04-97C55ACDD4E3}"/>
              </a:ext>
            </a:extLst>
          </p:cNvPr>
          <p:cNvSpPr>
            <a:spLocks noGrp="1"/>
          </p:cNvSpPr>
          <p:nvPr/>
        </p:nvSpPr>
        <p:spPr>
          <a:xfrm>
            <a:off x="3200400" y="4367174"/>
            <a:ext cx="1005840" cy="1558138"/>
          </a:xfrm>
          <a:prstGeom prst="line">
            <a:avLst/>
          </a:prstGeom>
          <a:noFill/>
          <a:ln w="9525">
            <a:solidFill>
              <a:srgbClr val="FF6B7A">
                <a:alpha val="42000"/>
              </a:srgbClr>
            </a:solidFill>
            <a:prstDash val="solid"/>
          </a:ln>
        </p:spPr>
      </p:sp>
      <p:sp>
        <p:nvSpPr>
          <p:cNvPr id="31" name="Shape 29">
            <a:extLst>
              <a:ext uri="{FF2B5EF4-FFF2-40B4-BE49-F238E27FC236}">
                <a16:creationId xmlns:a16="http://schemas.microsoft.com/office/drawing/2014/main" id="{F97FD44C-29FC-4A92-B97A-2E3E5602A1AF}"/>
              </a:ext>
            </a:extLst>
          </p:cNvPr>
          <p:cNvSpPr>
            <a:spLocks noGrp="1"/>
          </p:cNvSpPr>
          <p:nvPr/>
        </p:nvSpPr>
        <p:spPr>
          <a:xfrm flipV="1">
            <a:off x="3200400" y="2029968"/>
            <a:ext cx="1005840" cy="3116275"/>
          </a:xfrm>
          <a:prstGeom prst="line">
            <a:avLst/>
          </a:prstGeom>
          <a:noFill/>
          <a:ln w="9525">
            <a:solidFill>
              <a:srgbClr val="FF6B7A">
                <a:alpha val="42000"/>
              </a:srgbClr>
            </a:solidFill>
            <a:prstDash val="solid"/>
          </a:ln>
        </p:spPr>
      </p:sp>
      <p:sp>
        <p:nvSpPr>
          <p:cNvPr id="32" name="Shape 30">
            <a:extLst>
              <a:ext uri="{FF2B5EF4-FFF2-40B4-BE49-F238E27FC236}">
                <a16:creationId xmlns:a16="http://schemas.microsoft.com/office/drawing/2014/main" id="{0930D18C-0BF2-45C9-86D3-09F3C3FF3187}"/>
              </a:ext>
            </a:extLst>
          </p:cNvPr>
          <p:cNvSpPr>
            <a:spLocks noGrp="1"/>
          </p:cNvSpPr>
          <p:nvPr/>
        </p:nvSpPr>
        <p:spPr>
          <a:xfrm flipV="1">
            <a:off x="3200400" y="2809037"/>
            <a:ext cx="1005840" cy="2337206"/>
          </a:xfrm>
          <a:prstGeom prst="line">
            <a:avLst/>
          </a:prstGeom>
          <a:noFill/>
          <a:ln w="9525">
            <a:solidFill>
              <a:srgbClr val="FF6B7A">
                <a:alpha val="42000"/>
              </a:srgbClr>
            </a:solidFill>
            <a:prstDash val="solid"/>
          </a:ln>
        </p:spPr>
      </p:sp>
      <p:sp>
        <p:nvSpPr>
          <p:cNvPr id="33" name="Shape 31">
            <a:extLst>
              <a:ext uri="{FF2B5EF4-FFF2-40B4-BE49-F238E27FC236}">
                <a16:creationId xmlns:a16="http://schemas.microsoft.com/office/drawing/2014/main" id="{A1480F07-7F2A-4229-872D-EB5B474353C8}"/>
              </a:ext>
            </a:extLst>
          </p:cNvPr>
          <p:cNvSpPr>
            <a:spLocks noGrp="1"/>
          </p:cNvSpPr>
          <p:nvPr/>
        </p:nvSpPr>
        <p:spPr>
          <a:xfrm flipV="1">
            <a:off x="3200400" y="3588106"/>
            <a:ext cx="1005840" cy="1558138"/>
          </a:xfrm>
          <a:prstGeom prst="line">
            <a:avLst/>
          </a:prstGeom>
          <a:noFill/>
          <a:ln w="9525">
            <a:solidFill>
              <a:srgbClr val="FF6B7A">
                <a:alpha val="42000"/>
              </a:srgbClr>
            </a:solidFill>
            <a:prstDash val="solid"/>
          </a:ln>
        </p:spPr>
      </p:sp>
      <p:sp>
        <p:nvSpPr>
          <p:cNvPr id="34" name="Shape 32">
            <a:extLst>
              <a:ext uri="{FF2B5EF4-FFF2-40B4-BE49-F238E27FC236}">
                <a16:creationId xmlns:a16="http://schemas.microsoft.com/office/drawing/2014/main" id="{2A06D513-7372-4AA5-80FE-64BA081F3E87}"/>
              </a:ext>
            </a:extLst>
          </p:cNvPr>
          <p:cNvSpPr>
            <a:spLocks noGrp="1"/>
          </p:cNvSpPr>
          <p:nvPr/>
        </p:nvSpPr>
        <p:spPr>
          <a:xfrm flipV="1">
            <a:off x="3200400" y="4367174"/>
            <a:ext cx="1005840" cy="779069"/>
          </a:xfrm>
          <a:prstGeom prst="line">
            <a:avLst/>
          </a:prstGeom>
          <a:noFill/>
          <a:ln w="9525">
            <a:solidFill>
              <a:srgbClr val="FF6B7A">
                <a:alpha val="42000"/>
              </a:srgbClr>
            </a:solidFill>
            <a:prstDash val="solid"/>
          </a:ln>
        </p:spPr>
      </p:sp>
      <p:sp>
        <p:nvSpPr>
          <p:cNvPr id="35" name="Shape 33">
            <a:extLst>
              <a:ext uri="{FF2B5EF4-FFF2-40B4-BE49-F238E27FC236}">
                <a16:creationId xmlns:a16="http://schemas.microsoft.com/office/drawing/2014/main" id="{45EAB3A6-8224-4AAD-A1DE-97284EA8D93D}"/>
              </a:ext>
            </a:extLst>
          </p:cNvPr>
          <p:cNvSpPr>
            <a:spLocks noGrp="1"/>
          </p:cNvSpPr>
          <p:nvPr/>
        </p:nvSpPr>
        <p:spPr>
          <a:xfrm>
            <a:off x="3200400" y="5146243"/>
            <a:ext cx="1005840" cy="3658"/>
          </a:xfrm>
          <a:prstGeom prst="line">
            <a:avLst/>
          </a:prstGeom>
          <a:noFill/>
          <a:ln w="9525">
            <a:solidFill>
              <a:srgbClr val="FF6B7A">
                <a:alpha val="42000"/>
              </a:srgbClr>
            </a:solidFill>
            <a:prstDash val="solid"/>
          </a:ln>
        </p:spPr>
      </p:sp>
      <p:sp>
        <p:nvSpPr>
          <p:cNvPr id="36" name="Shape 34">
            <a:extLst>
              <a:ext uri="{FF2B5EF4-FFF2-40B4-BE49-F238E27FC236}">
                <a16:creationId xmlns:a16="http://schemas.microsoft.com/office/drawing/2014/main" id="{236A0187-E9DD-479D-9293-7105E2912BF1}"/>
              </a:ext>
            </a:extLst>
          </p:cNvPr>
          <p:cNvSpPr>
            <a:spLocks noGrp="1"/>
          </p:cNvSpPr>
          <p:nvPr/>
        </p:nvSpPr>
        <p:spPr>
          <a:xfrm>
            <a:off x="3200400" y="5146243"/>
            <a:ext cx="1005840" cy="779069"/>
          </a:xfrm>
          <a:prstGeom prst="line">
            <a:avLst/>
          </a:prstGeom>
          <a:noFill/>
          <a:ln w="9525">
            <a:solidFill>
              <a:srgbClr val="FF6B7A">
                <a:alpha val="42000"/>
              </a:srgbClr>
            </a:solidFill>
            <a:prstDash val="solid"/>
          </a:ln>
        </p:spPr>
      </p:sp>
      <p:sp>
        <p:nvSpPr>
          <p:cNvPr id="37" name="Text 35">
            <a:extLst>
              <a:ext uri="{FF2B5EF4-FFF2-40B4-BE49-F238E27FC236}">
                <a16:creationId xmlns:a16="http://schemas.microsoft.com/office/drawing/2014/main" id="{28A45927-268F-45A1-AB7B-49A193FF6545}"/>
              </a:ext>
            </a:extLst>
          </p:cNvPr>
          <p:cNvSpPr>
            <a:spLocks noGrp="1"/>
          </p:cNvSpPr>
          <p:nvPr/>
        </p:nvSpPr>
        <p:spPr>
          <a:xfrm>
            <a:off x="457200" y="1325880"/>
            <a:ext cx="2743200" cy="256032"/>
          </a:xfrm>
          <a:prstGeom prst="rect">
            <a:avLst/>
          </a:prstGeom>
          <a:noFill/>
        </p:spPr>
        <p:txBody>
          <a:bodyPr wrap="square" lIns="0" tIns="0" rIns="0" bIns="0" anchor="ctr"/>
          <a:lstStyle/>
          <a:p>
            <a:pPr marL="0" indent="0">
              <a:buNone/>
            </a:pPr>
            <a:r>
              <a:rPr sz="1200" b="1" spc="140">
                <a:solidFill>
                  <a:srgbClr val="91A0B7"/>
                </a:solidFill>
                <a:latin typeface="Calibri"/>
                <a:ea typeface="Calibri"/>
                <a:cs typeface="Calibri"/>
              </a:rPr>
              <a:t>WHO CONSUMES AI</a:t>
            </a:r>
            <a:endParaRPr sz="1200"/>
          </a:p>
        </p:txBody>
      </p:sp>
      <p:sp>
        <p:nvSpPr>
          <p:cNvPr id="38" name="Shape 36">
            <a:extLst>
              <a:ext uri="{FF2B5EF4-FFF2-40B4-BE49-F238E27FC236}">
                <a16:creationId xmlns:a16="http://schemas.microsoft.com/office/drawing/2014/main" id="{304D3582-B4CB-4D16-BBCF-F9A3E4FFCAAD}"/>
              </a:ext>
            </a:extLst>
          </p:cNvPr>
          <p:cNvSpPr>
            <a:spLocks noGrp="1"/>
          </p:cNvSpPr>
          <p:nvPr/>
        </p:nvSpPr>
        <p:spPr>
          <a:xfrm>
            <a:off x="457200" y="1691640"/>
            <a:ext cx="2743200" cy="676656"/>
          </a:xfrm>
          <a:prstGeom prst="roundRect">
            <a:avLst>
              <a:gd name="adj" fmla="val 8108"/>
            </a:avLst>
          </a:prstGeom>
          <a:solidFill>
            <a:srgbClr val="121B2D"/>
          </a:solidFill>
          <a:ln w="12700">
            <a:solidFill>
              <a:srgbClr val="23304A"/>
            </a:solidFill>
            <a:prstDash val="solid"/>
          </a:ln>
        </p:spPr>
      </p:sp>
      <p:sp>
        <p:nvSpPr>
          <p:cNvPr id="39" name="Text 37">
            <a:extLst>
              <a:ext uri="{FF2B5EF4-FFF2-40B4-BE49-F238E27FC236}">
                <a16:creationId xmlns:a16="http://schemas.microsoft.com/office/drawing/2014/main" id="{83BE7977-AFA6-40D7-B1B4-04D128156E53}"/>
              </a:ext>
            </a:extLst>
          </p:cNvPr>
          <p:cNvSpPr>
            <a:spLocks noGrp="1"/>
          </p:cNvSpPr>
          <p:nvPr/>
        </p:nvSpPr>
        <p:spPr>
          <a:xfrm>
            <a:off x="640080" y="1691640"/>
            <a:ext cx="2377440" cy="676656"/>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Business applications</a:t>
            </a:r>
            <a:endParaRPr sz="1300"/>
          </a:p>
        </p:txBody>
      </p:sp>
      <p:sp>
        <p:nvSpPr>
          <p:cNvPr id="40" name="Shape 38">
            <a:extLst>
              <a:ext uri="{FF2B5EF4-FFF2-40B4-BE49-F238E27FC236}">
                <a16:creationId xmlns:a16="http://schemas.microsoft.com/office/drawing/2014/main" id="{481870CB-534E-43CE-B619-C7B2D076CC11}"/>
              </a:ext>
            </a:extLst>
          </p:cNvPr>
          <p:cNvSpPr>
            <a:spLocks noGrp="1"/>
          </p:cNvSpPr>
          <p:nvPr/>
        </p:nvSpPr>
        <p:spPr>
          <a:xfrm>
            <a:off x="457200" y="2470709"/>
            <a:ext cx="2743200" cy="676656"/>
          </a:xfrm>
          <a:prstGeom prst="roundRect">
            <a:avLst>
              <a:gd name="adj" fmla="val 8108"/>
            </a:avLst>
          </a:prstGeom>
          <a:solidFill>
            <a:srgbClr val="121B2D"/>
          </a:solidFill>
          <a:ln w="12700">
            <a:solidFill>
              <a:srgbClr val="23304A"/>
            </a:solidFill>
            <a:prstDash val="solid"/>
          </a:ln>
        </p:spPr>
      </p:sp>
      <p:sp>
        <p:nvSpPr>
          <p:cNvPr id="41" name="Text 39">
            <a:extLst>
              <a:ext uri="{FF2B5EF4-FFF2-40B4-BE49-F238E27FC236}">
                <a16:creationId xmlns:a16="http://schemas.microsoft.com/office/drawing/2014/main" id="{BC8DD3B7-8A57-41A5-B7FE-9A7D857F19A0}"/>
              </a:ext>
            </a:extLst>
          </p:cNvPr>
          <p:cNvSpPr>
            <a:spLocks noGrp="1"/>
          </p:cNvSpPr>
          <p:nvPr/>
        </p:nvSpPr>
        <p:spPr>
          <a:xfrm>
            <a:off x="640080" y="2470709"/>
            <a:ext cx="2377440" cy="676656"/>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Analytics and BI</a:t>
            </a:r>
            <a:endParaRPr sz="1300"/>
          </a:p>
        </p:txBody>
      </p:sp>
      <p:sp>
        <p:nvSpPr>
          <p:cNvPr id="42" name="Shape 40">
            <a:extLst>
              <a:ext uri="{FF2B5EF4-FFF2-40B4-BE49-F238E27FC236}">
                <a16:creationId xmlns:a16="http://schemas.microsoft.com/office/drawing/2014/main" id="{E7F13C8A-AB73-4A90-BA41-E41DAECB7C2F}"/>
              </a:ext>
            </a:extLst>
          </p:cNvPr>
          <p:cNvSpPr>
            <a:spLocks noGrp="1"/>
          </p:cNvSpPr>
          <p:nvPr/>
        </p:nvSpPr>
        <p:spPr>
          <a:xfrm>
            <a:off x="457200" y="3249778"/>
            <a:ext cx="2743200" cy="676656"/>
          </a:xfrm>
          <a:prstGeom prst="roundRect">
            <a:avLst>
              <a:gd name="adj" fmla="val 8108"/>
            </a:avLst>
          </a:prstGeom>
          <a:solidFill>
            <a:srgbClr val="121B2D"/>
          </a:solidFill>
          <a:ln w="12700">
            <a:solidFill>
              <a:srgbClr val="23304A"/>
            </a:solidFill>
            <a:prstDash val="solid"/>
          </a:ln>
        </p:spPr>
      </p:sp>
      <p:sp>
        <p:nvSpPr>
          <p:cNvPr id="43" name="Text 41">
            <a:extLst>
              <a:ext uri="{FF2B5EF4-FFF2-40B4-BE49-F238E27FC236}">
                <a16:creationId xmlns:a16="http://schemas.microsoft.com/office/drawing/2014/main" id="{B65CB962-C84C-44FD-A210-1F780A3BE51F}"/>
              </a:ext>
            </a:extLst>
          </p:cNvPr>
          <p:cNvSpPr>
            <a:spLocks noGrp="1"/>
          </p:cNvSpPr>
          <p:nvPr/>
        </p:nvSpPr>
        <p:spPr>
          <a:xfrm>
            <a:off x="640080" y="3249778"/>
            <a:ext cx="2377440" cy="676656"/>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HR and back office</a:t>
            </a:r>
            <a:endParaRPr sz="1300"/>
          </a:p>
        </p:txBody>
      </p:sp>
      <p:sp>
        <p:nvSpPr>
          <p:cNvPr id="44" name="Shape 42">
            <a:extLst>
              <a:ext uri="{FF2B5EF4-FFF2-40B4-BE49-F238E27FC236}">
                <a16:creationId xmlns:a16="http://schemas.microsoft.com/office/drawing/2014/main" id="{BC1EA276-7940-4BC0-8E13-5E4CFB0FBEF6}"/>
              </a:ext>
            </a:extLst>
          </p:cNvPr>
          <p:cNvSpPr>
            <a:spLocks noGrp="1"/>
          </p:cNvSpPr>
          <p:nvPr/>
        </p:nvSpPr>
        <p:spPr>
          <a:xfrm>
            <a:off x="457200" y="4028846"/>
            <a:ext cx="2743200" cy="676656"/>
          </a:xfrm>
          <a:prstGeom prst="roundRect">
            <a:avLst>
              <a:gd name="adj" fmla="val 8108"/>
            </a:avLst>
          </a:prstGeom>
          <a:solidFill>
            <a:srgbClr val="121B2D"/>
          </a:solidFill>
          <a:ln w="12700">
            <a:solidFill>
              <a:srgbClr val="23304A"/>
            </a:solidFill>
            <a:prstDash val="solid"/>
          </a:ln>
        </p:spPr>
      </p:sp>
      <p:sp>
        <p:nvSpPr>
          <p:cNvPr id="45" name="Text 43">
            <a:extLst>
              <a:ext uri="{FF2B5EF4-FFF2-40B4-BE49-F238E27FC236}">
                <a16:creationId xmlns:a16="http://schemas.microsoft.com/office/drawing/2014/main" id="{ACFE9BBE-482E-4F28-BA3C-E596A03BC125}"/>
              </a:ext>
            </a:extLst>
          </p:cNvPr>
          <p:cNvSpPr>
            <a:spLocks noGrp="1"/>
          </p:cNvSpPr>
          <p:nvPr/>
        </p:nvSpPr>
        <p:spPr>
          <a:xfrm>
            <a:off x="640080" y="4028846"/>
            <a:ext cx="2377440" cy="676656"/>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R&amp;D and data science</a:t>
            </a:r>
            <a:endParaRPr sz="1300"/>
          </a:p>
        </p:txBody>
      </p:sp>
      <p:sp>
        <p:nvSpPr>
          <p:cNvPr id="46" name="Shape 44">
            <a:extLst>
              <a:ext uri="{FF2B5EF4-FFF2-40B4-BE49-F238E27FC236}">
                <a16:creationId xmlns:a16="http://schemas.microsoft.com/office/drawing/2014/main" id="{806B5AC7-D5B0-419F-BF87-73CB7D07EB0D}"/>
              </a:ext>
            </a:extLst>
          </p:cNvPr>
          <p:cNvSpPr>
            <a:spLocks noGrp="1"/>
          </p:cNvSpPr>
          <p:nvPr/>
        </p:nvSpPr>
        <p:spPr>
          <a:xfrm>
            <a:off x="457200" y="4807915"/>
            <a:ext cx="2743200" cy="676656"/>
          </a:xfrm>
          <a:prstGeom prst="roundRect">
            <a:avLst>
              <a:gd name="adj" fmla="val 8108"/>
            </a:avLst>
          </a:prstGeom>
          <a:solidFill>
            <a:srgbClr val="121B2D"/>
          </a:solidFill>
          <a:ln w="12700">
            <a:solidFill>
              <a:srgbClr val="23304A"/>
            </a:solidFill>
            <a:prstDash val="solid"/>
          </a:ln>
        </p:spPr>
      </p:sp>
      <p:sp>
        <p:nvSpPr>
          <p:cNvPr id="47" name="Text 45">
            <a:extLst>
              <a:ext uri="{FF2B5EF4-FFF2-40B4-BE49-F238E27FC236}">
                <a16:creationId xmlns:a16="http://schemas.microsoft.com/office/drawing/2014/main" id="{59861A19-CBD8-4D8E-995B-CABF90F9F607}"/>
              </a:ext>
            </a:extLst>
          </p:cNvPr>
          <p:cNvSpPr>
            <a:spLocks noGrp="1"/>
          </p:cNvSpPr>
          <p:nvPr/>
        </p:nvSpPr>
        <p:spPr>
          <a:xfrm>
            <a:off x="640080" y="4807915"/>
            <a:ext cx="2377440" cy="676656"/>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Cloud and platform</a:t>
            </a:r>
            <a:endParaRPr sz="1300"/>
          </a:p>
        </p:txBody>
      </p:sp>
      <p:sp>
        <p:nvSpPr>
          <p:cNvPr id="48" name="Text 46">
            <a:extLst>
              <a:ext uri="{FF2B5EF4-FFF2-40B4-BE49-F238E27FC236}">
                <a16:creationId xmlns:a16="http://schemas.microsoft.com/office/drawing/2014/main" id="{65B5BDBD-0689-4617-9BA8-017E39D1BCC0}"/>
              </a:ext>
            </a:extLst>
          </p:cNvPr>
          <p:cNvSpPr>
            <a:spLocks noGrp="1"/>
          </p:cNvSpPr>
          <p:nvPr/>
        </p:nvSpPr>
        <p:spPr>
          <a:xfrm>
            <a:off x="4206240" y="1325880"/>
            <a:ext cx="2743200" cy="256032"/>
          </a:xfrm>
          <a:prstGeom prst="rect">
            <a:avLst/>
          </a:prstGeom>
          <a:noFill/>
        </p:spPr>
        <p:txBody>
          <a:bodyPr wrap="square" lIns="0" tIns="0" rIns="0" bIns="0" anchor="ctr"/>
          <a:lstStyle/>
          <a:p>
            <a:pPr marL="0" indent="0">
              <a:buNone/>
            </a:pPr>
            <a:r>
              <a:rPr sz="1200" b="1" spc="140">
                <a:solidFill>
                  <a:srgbClr val="91A0B7"/>
                </a:solidFill>
                <a:latin typeface="Calibri"/>
                <a:ea typeface="Calibri"/>
                <a:cs typeface="Calibri"/>
              </a:rPr>
              <a:t>WHAT THEY BUY</a:t>
            </a:r>
            <a:endParaRPr sz="1200"/>
          </a:p>
        </p:txBody>
      </p:sp>
      <p:sp>
        <p:nvSpPr>
          <p:cNvPr id="49" name="Shape 47">
            <a:extLst>
              <a:ext uri="{FF2B5EF4-FFF2-40B4-BE49-F238E27FC236}">
                <a16:creationId xmlns:a16="http://schemas.microsoft.com/office/drawing/2014/main" id="{FD88AFEE-C0A9-4A91-9795-35E7FF1D55DB}"/>
              </a:ext>
            </a:extLst>
          </p:cNvPr>
          <p:cNvSpPr>
            <a:spLocks noGrp="1"/>
          </p:cNvSpPr>
          <p:nvPr/>
        </p:nvSpPr>
        <p:spPr>
          <a:xfrm>
            <a:off x="4206240" y="1691640"/>
            <a:ext cx="2743200" cy="676656"/>
          </a:xfrm>
          <a:prstGeom prst="roundRect">
            <a:avLst>
              <a:gd name="adj" fmla="val 8108"/>
            </a:avLst>
          </a:prstGeom>
          <a:solidFill>
            <a:srgbClr val="121B2D"/>
          </a:solidFill>
          <a:ln w="12700">
            <a:solidFill>
              <a:srgbClr val="23304A"/>
            </a:solidFill>
            <a:prstDash val="solid"/>
          </a:ln>
        </p:spPr>
      </p:sp>
      <p:sp>
        <p:nvSpPr>
          <p:cNvPr id="50" name="Text 48">
            <a:extLst>
              <a:ext uri="{FF2B5EF4-FFF2-40B4-BE49-F238E27FC236}">
                <a16:creationId xmlns:a16="http://schemas.microsoft.com/office/drawing/2014/main" id="{2A5BF541-D7C0-4733-96F4-3F7BE85451D1}"/>
              </a:ext>
            </a:extLst>
          </p:cNvPr>
          <p:cNvSpPr>
            <a:spLocks noGrp="1"/>
          </p:cNvSpPr>
          <p:nvPr/>
        </p:nvSpPr>
        <p:spPr>
          <a:xfrm>
            <a:off x="4389120" y="1691640"/>
            <a:ext cx="2377440" cy="676656"/>
          </a:xfrm>
          <a:prstGeom prst="rect">
            <a:avLst/>
          </a:prstGeom>
          <a:noFill/>
        </p:spPr>
        <p:txBody>
          <a:bodyPr wrap="square" lIns="0" tIns="0" rIns="0" bIns="0" anchor="ctr"/>
          <a:lstStyle/>
          <a:p>
            <a:pPr marL="0" indent="0">
              <a:buNone/>
            </a:pPr>
            <a:r>
              <a:rPr sz="1300">
                <a:solidFill>
                  <a:srgbClr val="3DD9EB"/>
                </a:solidFill>
                <a:latin typeface="Calibri"/>
                <a:ea typeface="Calibri"/>
                <a:cs typeface="Calibri"/>
              </a:rPr>
              <a:t>Microsoft Copilot</a:t>
            </a:r>
            <a:endParaRPr sz="1300"/>
          </a:p>
        </p:txBody>
      </p:sp>
      <p:sp>
        <p:nvSpPr>
          <p:cNvPr id="51" name="Shape 49">
            <a:extLst>
              <a:ext uri="{FF2B5EF4-FFF2-40B4-BE49-F238E27FC236}">
                <a16:creationId xmlns:a16="http://schemas.microsoft.com/office/drawing/2014/main" id="{7B5C7D79-19D7-4075-B206-DA917A122CEA}"/>
              </a:ext>
            </a:extLst>
          </p:cNvPr>
          <p:cNvSpPr>
            <a:spLocks noGrp="1"/>
          </p:cNvSpPr>
          <p:nvPr/>
        </p:nvSpPr>
        <p:spPr>
          <a:xfrm>
            <a:off x="4206240" y="2470709"/>
            <a:ext cx="2743200" cy="676656"/>
          </a:xfrm>
          <a:prstGeom prst="roundRect">
            <a:avLst>
              <a:gd name="adj" fmla="val 8108"/>
            </a:avLst>
          </a:prstGeom>
          <a:solidFill>
            <a:srgbClr val="121B2D"/>
          </a:solidFill>
          <a:ln w="12700">
            <a:solidFill>
              <a:srgbClr val="23304A"/>
            </a:solidFill>
            <a:prstDash val="solid"/>
          </a:ln>
        </p:spPr>
      </p:sp>
      <p:sp>
        <p:nvSpPr>
          <p:cNvPr id="52" name="Text 50">
            <a:extLst>
              <a:ext uri="{FF2B5EF4-FFF2-40B4-BE49-F238E27FC236}">
                <a16:creationId xmlns:a16="http://schemas.microsoft.com/office/drawing/2014/main" id="{30CFFD27-4A0E-456C-A0D8-F2061DCD1B5A}"/>
              </a:ext>
            </a:extLst>
          </p:cNvPr>
          <p:cNvSpPr>
            <a:spLocks noGrp="1"/>
          </p:cNvSpPr>
          <p:nvPr/>
        </p:nvSpPr>
        <p:spPr>
          <a:xfrm>
            <a:off x="4389120" y="2470709"/>
            <a:ext cx="2377440" cy="676656"/>
          </a:xfrm>
          <a:prstGeom prst="rect">
            <a:avLst/>
          </a:prstGeom>
          <a:noFill/>
        </p:spPr>
        <p:txBody>
          <a:bodyPr wrap="square" lIns="0" tIns="0" rIns="0" bIns="0" anchor="ctr"/>
          <a:lstStyle/>
          <a:p>
            <a:pPr marL="0" indent="0">
              <a:buNone/>
            </a:pPr>
            <a:r>
              <a:rPr sz="1300">
                <a:solidFill>
                  <a:srgbClr val="3DD9EB"/>
                </a:solidFill>
                <a:latin typeface="Calibri"/>
                <a:ea typeface="Calibri"/>
                <a:cs typeface="Calibri"/>
              </a:rPr>
              <a:t>Azure AI Foundry</a:t>
            </a:r>
            <a:endParaRPr sz="1300"/>
          </a:p>
        </p:txBody>
      </p:sp>
      <p:sp>
        <p:nvSpPr>
          <p:cNvPr id="53" name="Shape 51">
            <a:extLst>
              <a:ext uri="{FF2B5EF4-FFF2-40B4-BE49-F238E27FC236}">
                <a16:creationId xmlns:a16="http://schemas.microsoft.com/office/drawing/2014/main" id="{B6A508CC-AF17-47D3-8FDA-FEDE22965645}"/>
              </a:ext>
            </a:extLst>
          </p:cNvPr>
          <p:cNvSpPr>
            <a:spLocks noGrp="1"/>
          </p:cNvSpPr>
          <p:nvPr/>
        </p:nvSpPr>
        <p:spPr>
          <a:xfrm>
            <a:off x="4206240" y="3249778"/>
            <a:ext cx="2743200" cy="676656"/>
          </a:xfrm>
          <a:prstGeom prst="roundRect">
            <a:avLst>
              <a:gd name="adj" fmla="val 8108"/>
            </a:avLst>
          </a:prstGeom>
          <a:solidFill>
            <a:srgbClr val="121B2D"/>
          </a:solidFill>
          <a:ln w="12700">
            <a:solidFill>
              <a:srgbClr val="23304A"/>
            </a:solidFill>
            <a:prstDash val="solid"/>
          </a:ln>
        </p:spPr>
      </p:sp>
      <p:sp>
        <p:nvSpPr>
          <p:cNvPr id="54" name="Text 52">
            <a:extLst>
              <a:ext uri="{FF2B5EF4-FFF2-40B4-BE49-F238E27FC236}">
                <a16:creationId xmlns:a16="http://schemas.microsoft.com/office/drawing/2014/main" id="{F6462761-1C88-4580-AF3C-061E115746A9}"/>
              </a:ext>
            </a:extLst>
          </p:cNvPr>
          <p:cNvSpPr>
            <a:spLocks noGrp="1"/>
          </p:cNvSpPr>
          <p:nvPr/>
        </p:nvSpPr>
        <p:spPr>
          <a:xfrm>
            <a:off x="4389120" y="3249778"/>
            <a:ext cx="2377440" cy="676656"/>
          </a:xfrm>
          <a:prstGeom prst="rect">
            <a:avLst/>
          </a:prstGeom>
          <a:noFill/>
        </p:spPr>
        <p:txBody>
          <a:bodyPr wrap="square" lIns="0" tIns="0" rIns="0" bIns="0" anchor="ctr"/>
          <a:lstStyle/>
          <a:p>
            <a:pPr marL="0" indent="0">
              <a:buNone/>
            </a:pPr>
            <a:r>
              <a:rPr sz="1300">
                <a:solidFill>
                  <a:srgbClr val="3DD9EB"/>
                </a:solidFill>
                <a:latin typeface="Calibri"/>
                <a:ea typeface="Calibri"/>
                <a:cs typeface="Calibri"/>
              </a:rPr>
              <a:t>AWS Bedrock</a:t>
            </a:r>
            <a:endParaRPr sz="1300"/>
          </a:p>
        </p:txBody>
      </p:sp>
      <p:sp>
        <p:nvSpPr>
          <p:cNvPr id="55" name="Shape 53">
            <a:extLst>
              <a:ext uri="{FF2B5EF4-FFF2-40B4-BE49-F238E27FC236}">
                <a16:creationId xmlns:a16="http://schemas.microsoft.com/office/drawing/2014/main" id="{BB3F9FC5-6921-47BB-B627-692D3EC63EB5}"/>
              </a:ext>
            </a:extLst>
          </p:cNvPr>
          <p:cNvSpPr>
            <a:spLocks noGrp="1"/>
          </p:cNvSpPr>
          <p:nvPr/>
        </p:nvSpPr>
        <p:spPr>
          <a:xfrm>
            <a:off x="4206240" y="4028846"/>
            <a:ext cx="2743200" cy="676656"/>
          </a:xfrm>
          <a:prstGeom prst="roundRect">
            <a:avLst>
              <a:gd name="adj" fmla="val 8108"/>
            </a:avLst>
          </a:prstGeom>
          <a:solidFill>
            <a:srgbClr val="121B2D"/>
          </a:solidFill>
          <a:ln w="12700">
            <a:solidFill>
              <a:srgbClr val="23304A"/>
            </a:solidFill>
            <a:prstDash val="solid"/>
          </a:ln>
        </p:spPr>
      </p:sp>
      <p:sp>
        <p:nvSpPr>
          <p:cNvPr id="56" name="Text 54">
            <a:extLst>
              <a:ext uri="{FF2B5EF4-FFF2-40B4-BE49-F238E27FC236}">
                <a16:creationId xmlns:a16="http://schemas.microsoft.com/office/drawing/2014/main" id="{54075073-8245-4001-8DDE-A950268C3E97}"/>
              </a:ext>
            </a:extLst>
          </p:cNvPr>
          <p:cNvSpPr>
            <a:spLocks noGrp="1"/>
          </p:cNvSpPr>
          <p:nvPr/>
        </p:nvSpPr>
        <p:spPr>
          <a:xfrm>
            <a:off x="4389120" y="4028846"/>
            <a:ext cx="2377440" cy="676656"/>
          </a:xfrm>
          <a:prstGeom prst="rect">
            <a:avLst/>
          </a:prstGeom>
          <a:noFill/>
        </p:spPr>
        <p:txBody>
          <a:bodyPr wrap="square" lIns="0" tIns="0" rIns="0" bIns="0" anchor="ctr"/>
          <a:lstStyle/>
          <a:p>
            <a:pPr marL="0" indent="0">
              <a:buNone/>
            </a:pPr>
            <a:r>
              <a:rPr sz="1300">
                <a:solidFill>
                  <a:srgbClr val="3DD9EB"/>
                </a:solidFill>
                <a:latin typeface="Calibri"/>
                <a:ea typeface="Calibri"/>
                <a:cs typeface="Calibri"/>
              </a:rPr>
              <a:t>Google Vertex AI</a:t>
            </a:r>
            <a:endParaRPr sz="1300"/>
          </a:p>
        </p:txBody>
      </p:sp>
      <p:sp>
        <p:nvSpPr>
          <p:cNvPr id="57" name="Shape 55">
            <a:extLst>
              <a:ext uri="{FF2B5EF4-FFF2-40B4-BE49-F238E27FC236}">
                <a16:creationId xmlns:a16="http://schemas.microsoft.com/office/drawing/2014/main" id="{3274AEFE-861D-4B67-AC0F-50C29A0528E0}"/>
              </a:ext>
            </a:extLst>
          </p:cNvPr>
          <p:cNvSpPr>
            <a:spLocks noGrp="1"/>
          </p:cNvSpPr>
          <p:nvPr/>
        </p:nvSpPr>
        <p:spPr>
          <a:xfrm>
            <a:off x="4206240" y="4807915"/>
            <a:ext cx="2743200" cy="676656"/>
          </a:xfrm>
          <a:prstGeom prst="roundRect">
            <a:avLst>
              <a:gd name="adj" fmla="val 8108"/>
            </a:avLst>
          </a:prstGeom>
          <a:solidFill>
            <a:srgbClr val="121B2D"/>
          </a:solidFill>
          <a:ln w="12700">
            <a:solidFill>
              <a:srgbClr val="23304A"/>
            </a:solidFill>
            <a:prstDash val="solid"/>
          </a:ln>
        </p:spPr>
      </p:sp>
      <p:sp>
        <p:nvSpPr>
          <p:cNvPr id="58" name="Text 56">
            <a:extLst>
              <a:ext uri="{FF2B5EF4-FFF2-40B4-BE49-F238E27FC236}">
                <a16:creationId xmlns:a16="http://schemas.microsoft.com/office/drawing/2014/main" id="{BB321B7C-9225-41AF-B8E5-00FDEEF6B689}"/>
              </a:ext>
            </a:extLst>
          </p:cNvPr>
          <p:cNvSpPr>
            <a:spLocks noGrp="1"/>
          </p:cNvSpPr>
          <p:nvPr/>
        </p:nvSpPr>
        <p:spPr>
          <a:xfrm>
            <a:off x="4389120" y="4807915"/>
            <a:ext cx="2377440" cy="676656"/>
          </a:xfrm>
          <a:prstGeom prst="rect">
            <a:avLst/>
          </a:prstGeom>
          <a:noFill/>
        </p:spPr>
        <p:txBody>
          <a:bodyPr wrap="square" lIns="0" tIns="0" rIns="0" bIns="0" anchor="ctr"/>
          <a:lstStyle/>
          <a:p>
            <a:pPr marL="0" indent="0">
              <a:buNone/>
            </a:pPr>
            <a:r>
              <a:rPr sz="1300">
                <a:solidFill>
                  <a:srgbClr val="3DD9EB"/>
                </a:solidFill>
                <a:latin typeface="Calibri"/>
                <a:ea typeface="Calibri"/>
                <a:cs typeface="Calibri"/>
              </a:rPr>
              <a:t>Claude / OpenAI</a:t>
            </a:r>
            <a:endParaRPr sz="1300"/>
          </a:p>
        </p:txBody>
      </p:sp>
      <p:sp>
        <p:nvSpPr>
          <p:cNvPr id="59" name="Shape 57">
            <a:extLst>
              <a:ext uri="{FF2B5EF4-FFF2-40B4-BE49-F238E27FC236}">
                <a16:creationId xmlns:a16="http://schemas.microsoft.com/office/drawing/2014/main" id="{21D1112E-B92D-465B-A79A-8DAF1654A21D}"/>
              </a:ext>
            </a:extLst>
          </p:cNvPr>
          <p:cNvSpPr>
            <a:spLocks noGrp="1"/>
          </p:cNvSpPr>
          <p:nvPr/>
        </p:nvSpPr>
        <p:spPr>
          <a:xfrm>
            <a:off x="4206240" y="5586984"/>
            <a:ext cx="2743200" cy="676656"/>
          </a:xfrm>
          <a:prstGeom prst="roundRect">
            <a:avLst>
              <a:gd name="adj" fmla="val 8108"/>
            </a:avLst>
          </a:prstGeom>
          <a:solidFill>
            <a:srgbClr val="121B2D"/>
          </a:solidFill>
          <a:ln w="12700">
            <a:solidFill>
              <a:srgbClr val="23304A"/>
            </a:solidFill>
            <a:prstDash val="solid"/>
          </a:ln>
        </p:spPr>
      </p:sp>
      <p:sp>
        <p:nvSpPr>
          <p:cNvPr id="60" name="Text 58">
            <a:extLst>
              <a:ext uri="{FF2B5EF4-FFF2-40B4-BE49-F238E27FC236}">
                <a16:creationId xmlns:a16="http://schemas.microsoft.com/office/drawing/2014/main" id="{1ECF979C-784E-4510-A10B-59C84C964B88}"/>
              </a:ext>
            </a:extLst>
          </p:cNvPr>
          <p:cNvSpPr>
            <a:spLocks noGrp="1"/>
          </p:cNvSpPr>
          <p:nvPr/>
        </p:nvSpPr>
        <p:spPr>
          <a:xfrm>
            <a:off x="4389120" y="5586984"/>
            <a:ext cx="2377440" cy="676656"/>
          </a:xfrm>
          <a:prstGeom prst="rect">
            <a:avLst/>
          </a:prstGeom>
          <a:noFill/>
        </p:spPr>
        <p:txBody>
          <a:bodyPr wrap="square" lIns="0" tIns="0" rIns="0" bIns="0" anchor="ctr"/>
          <a:lstStyle/>
          <a:p>
            <a:pPr marL="0" indent="0">
              <a:buNone/>
            </a:pPr>
            <a:r>
              <a:rPr sz="1300">
                <a:solidFill>
                  <a:srgbClr val="3DD9EB"/>
                </a:solidFill>
                <a:latin typeface="Calibri"/>
                <a:ea typeface="Calibri"/>
                <a:cs typeface="Calibri"/>
              </a:rPr>
              <a:t>Databricks</a:t>
            </a:r>
            <a:endParaRPr sz="1300"/>
          </a:p>
        </p:txBody>
      </p:sp>
      <p:sp>
        <p:nvSpPr>
          <p:cNvPr id="61" name="Shape 59">
            <a:extLst>
              <a:ext uri="{FF2B5EF4-FFF2-40B4-BE49-F238E27FC236}">
                <a16:creationId xmlns:a16="http://schemas.microsoft.com/office/drawing/2014/main" id="{682339BC-BDFD-4378-93E7-095C56AA3433}"/>
              </a:ext>
            </a:extLst>
          </p:cNvPr>
          <p:cNvSpPr>
            <a:spLocks noGrp="1"/>
          </p:cNvSpPr>
          <p:nvPr/>
        </p:nvSpPr>
        <p:spPr>
          <a:xfrm>
            <a:off x="7315200" y="1234440"/>
            <a:ext cx="4419295" cy="5029200"/>
          </a:xfrm>
          <a:prstGeom prst="roundRect">
            <a:avLst>
              <a:gd name="adj" fmla="val 1241"/>
            </a:avLst>
          </a:prstGeom>
          <a:solidFill>
            <a:srgbClr val="121B2D"/>
          </a:solidFill>
          <a:ln w="12700">
            <a:solidFill>
              <a:srgbClr val="23304A"/>
            </a:solidFill>
            <a:prstDash val="solid"/>
          </a:ln>
        </p:spPr>
      </p:sp>
      <p:sp>
        <p:nvSpPr>
          <p:cNvPr id="62" name="Shape 60">
            <a:extLst>
              <a:ext uri="{FF2B5EF4-FFF2-40B4-BE49-F238E27FC236}">
                <a16:creationId xmlns:a16="http://schemas.microsoft.com/office/drawing/2014/main" id="{BD7599A6-77B0-4AE7-873B-440D78841EB0}"/>
              </a:ext>
            </a:extLst>
          </p:cNvPr>
          <p:cNvSpPr>
            <a:spLocks noGrp="1"/>
          </p:cNvSpPr>
          <p:nvPr/>
        </p:nvSpPr>
        <p:spPr>
          <a:xfrm>
            <a:off x="7315200" y="1234440"/>
            <a:ext cx="4419295" cy="45720"/>
          </a:xfrm>
          <a:prstGeom prst="rect">
            <a:avLst/>
          </a:prstGeom>
          <a:solidFill>
            <a:srgbClr val="FF6B7A"/>
          </a:solidFill>
          <a:ln w="12700">
            <a:solidFill>
              <a:srgbClr val="FF6B7A"/>
            </a:solidFill>
            <a:prstDash val="solid"/>
          </a:ln>
        </p:spPr>
      </p:sp>
      <p:sp>
        <p:nvSpPr>
          <p:cNvPr id="63" name="Text 61">
            <a:extLst>
              <a:ext uri="{FF2B5EF4-FFF2-40B4-BE49-F238E27FC236}">
                <a16:creationId xmlns:a16="http://schemas.microsoft.com/office/drawing/2014/main" id="{BAD27520-D73C-44CC-8B26-81614AA8C423}"/>
              </a:ext>
            </a:extLst>
          </p:cNvPr>
          <p:cNvSpPr>
            <a:spLocks noGrp="1"/>
          </p:cNvSpPr>
          <p:nvPr/>
        </p:nvSpPr>
        <p:spPr>
          <a:xfrm>
            <a:off x="7534656" y="1399032"/>
            <a:ext cx="3980383" cy="274320"/>
          </a:xfrm>
          <a:prstGeom prst="rect">
            <a:avLst/>
          </a:prstGeom>
          <a:noFill/>
        </p:spPr>
        <p:txBody>
          <a:bodyPr wrap="square" lIns="0" tIns="0" rIns="0" bIns="0" anchor="ctr"/>
          <a:lstStyle/>
          <a:p>
            <a:pPr marL="0" indent="0">
              <a:buNone/>
            </a:pPr>
            <a:r>
              <a:rPr sz="1200" b="1" spc="140">
                <a:solidFill>
                  <a:srgbClr val="FF6B7A"/>
                </a:solidFill>
                <a:latin typeface="Calibri"/>
                <a:ea typeface="Calibri"/>
                <a:cs typeface="Calibri"/>
              </a:rPr>
              <a:t>TODAY'S REALITY</a:t>
            </a:r>
            <a:endParaRPr sz="1200"/>
          </a:p>
        </p:txBody>
      </p:sp>
      <p:sp>
        <p:nvSpPr>
          <p:cNvPr id="64" name="Text 62">
            <a:extLst>
              <a:ext uri="{FF2B5EF4-FFF2-40B4-BE49-F238E27FC236}">
                <a16:creationId xmlns:a16="http://schemas.microsoft.com/office/drawing/2014/main" id="{952A609C-A6A0-420E-8125-5E395E8C52E7}"/>
              </a:ext>
            </a:extLst>
          </p:cNvPr>
          <p:cNvSpPr>
            <a:spLocks noGrp="1"/>
          </p:cNvSpPr>
          <p:nvPr/>
        </p:nvSpPr>
        <p:spPr>
          <a:xfrm>
            <a:off x="7534656" y="1783080"/>
            <a:ext cx="3980383" cy="83759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Multiple AI providers, bought separately</a:t>
            </a:r>
            <a:endParaRPr sz="1300"/>
          </a:p>
        </p:txBody>
      </p:sp>
      <p:sp>
        <p:nvSpPr>
          <p:cNvPr id="65" name="Shape 63">
            <a:extLst>
              <a:ext uri="{FF2B5EF4-FFF2-40B4-BE49-F238E27FC236}">
                <a16:creationId xmlns:a16="http://schemas.microsoft.com/office/drawing/2014/main" id="{352B5B4D-6399-48EC-A35D-068599C0BE01}"/>
              </a:ext>
            </a:extLst>
          </p:cNvPr>
          <p:cNvSpPr>
            <a:spLocks noGrp="1"/>
          </p:cNvSpPr>
          <p:nvPr/>
        </p:nvSpPr>
        <p:spPr>
          <a:xfrm>
            <a:off x="7534656" y="2638958"/>
            <a:ext cx="3980383" cy="9144"/>
          </a:xfrm>
          <a:prstGeom prst="rect">
            <a:avLst/>
          </a:prstGeom>
          <a:solidFill>
            <a:srgbClr val="23304A"/>
          </a:solidFill>
          <a:ln w="12700">
            <a:solidFill>
              <a:srgbClr val="23304A"/>
            </a:solidFill>
            <a:prstDash val="solid"/>
          </a:ln>
        </p:spPr>
      </p:sp>
      <p:sp>
        <p:nvSpPr>
          <p:cNvPr id="66" name="Text 64">
            <a:extLst>
              <a:ext uri="{FF2B5EF4-FFF2-40B4-BE49-F238E27FC236}">
                <a16:creationId xmlns:a16="http://schemas.microsoft.com/office/drawing/2014/main" id="{018994CD-FF52-48BE-99AC-1723FD8B2558}"/>
              </a:ext>
            </a:extLst>
          </p:cNvPr>
          <p:cNvSpPr>
            <a:spLocks noGrp="1"/>
          </p:cNvSpPr>
          <p:nvPr/>
        </p:nvSpPr>
        <p:spPr>
          <a:xfrm>
            <a:off x="7534656" y="2675534"/>
            <a:ext cx="3980383" cy="83759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Multiple business units consuming them</a:t>
            </a:r>
            <a:endParaRPr sz="1300"/>
          </a:p>
        </p:txBody>
      </p:sp>
      <p:sp>
        <p:nvSpPr>
          <p:cNvPr id="67" name="Shape 65">
            <a:extLst>
              <a:ext uri="{FF2B5EF4-FFF2-40B4-BE49-F238E27FC236}">
                <a16:creationId xmlns:a16="http://schemas.microsoft.com/office/drawing/2014/main" id="{3035C62D-E716-495E-8556-C859EEC859E0}"/>
              </a:ext>
            </a:extLst>
          </p:cNvPr>
          <p:cNvSpPr>
            <a:spLocks noGrp="1"/>
          </p:cNvSpPr>
          <p:nvPr/>
        </p:nvSpPr>
        <p:spPr>
          <a:xfrm>
            <a:off x="7534656" y="3531413"/>
            <a:ext cx="3980383" cy="9144"/>
          </a:xfrm>
          <a:prstGeom prst="rect">
            <a:avLst/>
          </a:prstGeom>
          <a:solidFill>
            <a:srgbClr val="23304A"/>
          </a:solidFill>
          <a:ln w="12700">
            <a:solidFill>
              <a:srgbClr val="23304A"/>
            </a:solidFill>
            <a:prstDash val="solid"/>
          </a:ln>
        </p:spPr>
      </p:sp>
      <p:sp>
        <p:nvSpPr>
          <p:cNvPr id="68" name="Text 66">
            <a:extLst>
              <a:ext uri="{FF2B5EF4-FFF2-40B4-BE49-F238E27FC236}">
                <a16:creationId xmlns:a16="http://schemas.microsoft.com/office/drawing/2014/main" id="{4FD8F6CC-8E70-4C0F-893F-F7514152F23B}"/>
              </a:ext>
            </a:extLst>
          </p:cNvPr>
          <p:cNvSpPr>
            <a:spLocks noGrp="1"/>
          </p:cNvSpPr>
          <p:nvPr/>
        </p:nvSpPr>
        <p:spPr>
          <a:xfrm>
            <a:off x="7534656" y="3567989"/>
            <a:ext cx="3980383" cy="83759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Multiple applications on shared keys</a:t>
            </a:r>
            <a:endParaRPr sz="1300"/>
          </a:p>
        </p:txBody>
      </p:sp>
      <p:sp>
        <p:nvSpPr>
          <p:cNvPr id="69" name="Shape 67">
            <a:extLst>
              <a:ext uri="{FF2B5EF4-FFF2-40B4-BE49-F238E27FC236}">
                <a16:creationId xmlns:a16="http://schemas.microsoft.com/office/drawing/2014/main" id="{DDAADD81-9A89-41B5-86B3-80FAC964EA11}"/>
              </a:ext>
            </a:extLst>
          </p:cNvPr>
          <p:cNvSpPr>
            <a:spLocks noGrp="1"/>
          </p:cNvSpPr>
          <p:nvPr/>
        </p:nvSpPr>
        <p:spPr>
          <a:xfrm>
            <a:off x="7534656" y="4423867"/>
            <a:ext cx="3980383" cy="9144"/>
          </a:xfrm>
          <a:prstGeom prst="rect">
            <a:avLst/>
          </a:prstGeom>
          <a:solidFill>
            <a:srgbClr val="23304A"/>
          </a:solidFill>
          <a:ln w="12700">
            <a:solidFill>
              <a:srgbClr val="23304A"/>
            </a:solidFill>
            <a:prstDash val="solid"/>
          </a:ln>
        </p:spPr>
      </p:sp>
      <p:sp>
        <p:nvSpPr>
          <p:cNvPr id="70" name="Text 68">
            <a:extLst>
              <a:ext uri="{FF2B5EF4-FFF2-40B4-BE49-F238E27FC236}">
                <a16:creationId xmlns:a16="http://schemas.microsoft.com/office/drawing/2014/main" id="{944F4257-E10C-43D4-B400-4915D86E02A6}"/>
              </a:ext>
            </a:extLst>
          </p:cNvPr>
          <p:cNvSpPr>
            <a:spLocks noGrp="1"/>
          </p:cNvSpPr>
          <p:nvPr/>
        </p:nvSpPr>
        <p:spPr>
          <a:xfrm>
            <a:off x="7534656" y="4460443"/>
            <a:ext cx="3980383" cy="83759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Limited financial visibility per consumer</a:t>
            </a:r>
            <a:endParaRPr sz="1300"/>
          </a:p>
        </p:txBody>
      </p:sp>
      <p:sp>
        <p:nvSpPr>
          <p:cNvPr id="71" name="Shape 69">
            <a:extLst>
              <a:ext uri="{FF2B5EF4-FFF2-40B4-BE49-F238E27FC236}">
                <a16:creationId xmlns:a16="http://schemas.microsoft.com/office/drawing/2014/main" id="{5427D7BC-D2A0-4459-98FF-D8968EC77E5E}"/>
              </a:ext>
            </a:extLst>
          </p:cNvPr>
          <p:cNvSpPr>
            <a:spLocks noGrp="1"/>
          </p:cNvSpPr>
          <p:nvPr/>
        </p:nvSpPr>
        <p:spPr>
          <a:xfrm>
            <a:off x="7534656" y="5316322"/>
            <a:ext cx="3980383" cy="9144"/>
          </a:xfrm>
          <a:prstGeom prst="rect">
            <a:avLst/>
          </a:prstGeom>
          <a:solidFill>
            <a:srgbClr val="23304A"/>
          </a:solidFill>
          <a:ln w="12700">
            <a:solidFill>
              <a:srgbClr val="23304A"/>
            </a:solidFill>
            <a:prstDash val="solid"/>
          </a:ln>
        </p:spPr>
      </p:sp>
      <p:sp>
        <p:nvSpPr>
          <p:cNvPr id="72" name="Text 70">
            <a:extLst>
              <a:ext uri="{FF2B5EF4-FFF2-40B4-BE49-F238E27FC236}">
                <a16:creationId xmlns:a16="http://schemas.microsoft.com/office/drawing/2014/main" id="{AFC3C8A2-A974-4560-9DB1-073139982C85}"/>
              </a:ext>
            </a:extLst>
          </p:cNvPr>
          <p:cNvSpPr>
            <a:spLocks noGrp="1"/>
          </p:cNvSpPr>
          <p:nvPr/>
        </p:nvSpPr>
        <p:spPr>
          <a:xfrm>
            <a:off x="7534656" y="5352898"/>
            <a:ext cx="3980383" cy="83759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No unified enterprise ownership</a:t>
            </a:r>
            <a:endParaRPr sz="1300"/>
          </a:p>
        </p:txBody>
      </p:sp>
    </p:spTree>
    <p:extLst>
      <p:ext uri="{BB962C8B-B14F-4D97-AF65-F5344CB8AC3E}">
        <p14:creationId xmlns:p14="http://schemas.microsoft.com/office/powerpoint/2010/main" val="745138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57D918E-D145-4718-9FE9-7C81331220A2}"/>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8F81A11E-0689-4867-AF81-2DEBC18C0BFA}"/>
              </a:ext>
            </a:extLst>
          </p:cNvPr>
          <p:cNvSpPr>
            <a:spLocks noGrp="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a:p>
        </p:txBody>
      </p:sp>
      <p:sp>
        <p:nvSpPr>
          <p:cNvPr id="4" name="Text 2">
            <a:extLst>
              <a:ext uri="{FF2B5EF4-FFF2-40B4-BE49-F238E27FC236}">
                <a16:creationId xmlns:a16="http://schemas.microsoft.com/office/drawing/2014/main" id="{B24BAA60-1463-4BE3-BB07-56D4F53E3A85}"/>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9EB"/>
                </a:solidFill>
                <a:latin typeface="Calibri"/>
                <a:ea typeface="Calibri"/>
                <a:cs typeface="Calibri"/>
              </a:rPr>
              <a:t>TAGGING</a:t>
            </a:r>
            <a:endParaRPr sz="1300"/>
          </a:p>
        </p:txBody>
      </p:sp>
      <p:sp>
        <p:nvSpPr>
          <p:cNvPr id="5" name="Text 3">
            <a:extLst>
              <a:ext uri="{FF2B5EF4-FFF2-40B4-BE49-F238E27FC236}">
                <a16:creationId xmlns:a16="http://schemas.microsoft.com/office/drawing/2014/main" id="{F0D7151C-4673-4D82-AE44-681CAB80A4B6}"/>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211" b="1">
                <a:solidFill>
                  <a:srgbClr val="F4F7FB"/>
                </a:solidFill>
                <a:latin typeface="Calibri"/>
                <a:ea typeface="Calibri"/>
                <a:cs typeface="Calibri"/>
              </a:rPr>
              <a:t>Tag the request, not just the resource</a:t>
            </a:r>
            <a:endParaRPr sz="2211"/>
          </a:p>
        </p:txBody>
      </p:sp>
      <p:sp>
        <p:nvSpPr>
          <p:cNvPr id="6" name="Text 4">
            <a:extLst>
              <a:ext uri="{FF2B5EF4-FFF2-40B4-BE49-F238E27FC236}">
                <a16:creationId xmlns:a16="http://schemas.microsoft.com/office/drawing/2014/main" id="{328EB7CD-9175-4A05-A051-5BA56FC13A1B}"/>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82A60174-2C79-4150-AF0E-ABE5A6ED59EA}"/>
              </a:ext>
            </a:extLst>
          </p:cNvPr>
          <p:cNvSpPr>
            <a:spLocks noGrp="1"/>
          </p:cNvSpPr>
          <p:nvPr/>
        </p:nvSpPr>
        <p:spPr>
          <a:xfrm>
            <a:off x="457200" y="5367528"/>
            <a:ext cx="11277295" cy="1380744"/>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Today we can say AI cost $75,439 in July and that $25,288 of it was Claude on Bedrock. We cannot say which agent, which use case, or which tool call spent it and no resource tag will ever tell us, because the cost is in the traffic, not the resource.</a:t>
            </a:r>
            <a:endParaRPr sz="1200"/>
          </a:p>
        </p:txBody>
      </p:sp>
      <p:sp>
        <p:nvSpPr>
          <p:cNvPr id="8" name="Text 6">
            <a:extLst>
              <a:ext uri="{FF2B5EF4-FFF2-40B4-BE49-F238E27FC236}">
                <a16:creationId xmlns:a16="http://schemas.microsoft.com/office/drawing/2014/main" id="{4FCB33FE-F072-488D-A1A8-AC0D6D744FBB}"/>
              </a:ext>
            </a:extLst>
          </p:cNvPr>
          <p:cNvSpPr>
            <a:spLocks noGrp="1"/>
          </p:cNvSpPr>
          <p:nvPr/>
        </p:nvSpPr>
        <p:spPr>
          <a:xfrm>
            <a:off x="457200" y="1115568"/>
            <a:ext cx="3063240" cy="237744"/>
          </a:xfrm>
          <a:prstGeom prst="rect">
            <a:avLst/>
          </a:prstGeom>
          <a:noFill/>
        </p:spPr>
        <p:txBody>
          <a:bodyPr wrap="square" lIns="0" tIns="0" rIns="0" bIns="0" anchor="ctr"/>
          <a:lstStyle/>
          <a:p>
            <a:pPr marL="0" indent="0">
              <a:buNone/>
            </a:pPr>
            <a:r>
              <a:rPr sz="1200" b="1" spc="140">
                <a:solidFill>
                  <a:srgbClr val="91A0B7"/>
                </a:solidFill>
                <a:latin typeface="Calibri"/>
                <a:ea typeface="Calibri"/>
                <a:cs typeface="Calibri"/>
              </a:rPr>
              <a:t>FOUNDATION TAGS</a:t>
            </a:r>
            <a:endParaRPr sz="1200"/>
          </a:p>
        </p:txBody>
      </p:sp>
      <p:sp>
        <p:nvSpPr>
          <p:cNvPr id="9" name="Shape 7">
            <a:extLst>
              <a:ext uri="{FF2B5EF4-FFF2-40B4-BE49-F238E27FC236}">
                <a16:creationId xmlns:a16="http://schemas.microsoft.com/office/drawing/2014/main" id="{64FF0017-AD19-4EBE-BC1A-A7A941D8FC08}"/>
              </a:ext>
            </a:extLst>
          </p:cNvPr>
          <p:cNvSpPr>
            <a:spLocks noGrp="1"/>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0" name="Text 8">
            <a:extLst>
              <a:ext uri="{FF2B5EF4-FFF2-40B4-BE49-F238E27FC236}">
                <a16:creationId xmlns:a16="http://schemas.microsoft.com/office/drawing/2014/main" id="{F82F139E-3CF4-4F9B-B88D-CBD69BD49CF1}"/>
              </a:ext>
            </a:extLst>
          </p:cNvPr>
          <p:cNvSpPr>
            <a:spLocks noGrp="1"/>
          </p:cNvSpPr>
          <p:nvPr/>
        </p:nvSpPr>
        <p:spPr>
          <a:xfrm>
            <a:off x="640080" y="1463040"/>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owner</a:t>
            </a:r>
            <a:endParaRPr sz="1300"/>
          </a:p>
        </p:txBody>
      </p:sp>
      <p:sp>
        <p:nvSpPr>
          <p:cNvPr id="11" name="Shape 9">
            <a:extLst>
              <a:ext uri="{FF2B5EF4-FFF2-40B4-BE49-F238E27FC236}">
                <a16:creationId xmlns:a16="http://schemas.microsoft.com/office/drawing/2014/main" id="{E42AD044-586F-413D-8DF9-CEF6ED819F52}"/>
              </a:ext>
            </a:extLst>
          </p:cNvPr>
          <p:cNvSpPr>
            <a:spLocks noGrp="1"/>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2" name="Text 10">
            <a:extLst>
              <a:ext uri="{FF2B5EF4-FFF2-40B4-BE49-F238E27FC236}">
                <a16:creationId xmlns:a16="http://schemas.microsoft.com/office/drawing/2014/main" id="{53E05DBF-03AC-4115-8ABB-C8C9BC0B0336}"/>
              </a:ext>
            </a:extLst>
          </p:cNvPr>
          <p:cNvSpPr>
            <a:spLocks noGrp="1"/>
          </p:cNvSpPr>
          <p:nvPr/>
        </p:nvSpPr>
        <p:spPr>
          <a:xfrm>
            <a:off x="640080" y="2121408"/>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application</a:t>
            </a:r>
            <a:endParaRPr sz="1300"/>
          </a:p>
        </p:txBody>
      </p:sp>
      <p:sp>
        <p:nvSpPr>
          <p:cNvPr id="13" name="Shape 11">
            <a:extLst>
              <a:ext uri="{FF2B5EF4-FFF2-40B4-BE49-F238E27FC236}">
                <a16:creationId xmlns:a16="http://schemas.microsoft.com/office/drawing/2014/main" id="{BE20D752-A838-4277-92F9-724B9E6BE42A}"/>
              </a:ext>
            </a:extLst>
          </p:cNvPr>
          <p:cNvSpPr>
            <a:spLocks noGrp="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4" name="Text 12">
            <a:extLst>
              <a:ext uri="{FF2B5EF4-FFF2-40B4-BE49-F238E27FC236}">
                <a16:creationId xmlns:a16="http://schemas.microsoft.com/office/drawing/2014/main" id="{17F60B70-AC50-4229-AE32-A222E8D0EF7C}"/>
              </a:ext>
            </a:extLst>
          </p:cNvPr>
          <p:cNvSpPr>
            <a:spLocks noGrp="1"/>
          </p:cNvSpPr>
          <p:nvPr/>
        </p:nvSpPr>
        <p:spPr>
          <a:xfrm>
            <a:off x="640080" y="2779776"/>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environment</a:t>
            </a:r>
            <a:endParaRPr sz="1300"/>
          </a:p>
        </p:txBody>
      </p:sp>
      <p:sp>
        <p:nvSpPr>
          <p:cNvPr id="15" name="Shape 13">
            <a:extLst>
              <a:ext uri="{FF2B5EF4-FFF2-40B4-BE49-F238E27FC236}">
                <a16:creationId xmlns:a16="http://schemas.microsoft.com/office/drawing/2014/main" id="{41F5F2C5-8CC3-4869-985A-9BFF010FA3ED}"/>
              </a:ext>
            </a:extLst>
          </p:cNvPr>
          <p:cNvSpPr>
            <a:spLocks noGrp="1"/>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6" name="Text 14">
            <a:extLst>
              <a:ext uri="{FF2B5EF4-FFF2-40B4-BE49-F238E27FC236}">
                <a16:creationId xmlns:a16="http://schemas.microsoft.com/office/drawing/2014/main" id="{E81D6166-A346-41B5-9718-99B2508335E4}"/>
              </a:ext>
            </a:extLst>
          </p:cNvPr>
          <p:cNvSpPr>
            <a:spLocks noGrp="1"/>
          </p:cNvSpPr>
          <p:nvPr/>
        </p:nvSpPr>
        <p:spPr>
          <a:xfrm>
            <a:off x="640080" y="3438144"/>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cost_center</a:t>
            </a:r>
            <a:endParaRPr sz="1300"/>
          </a:p>
        </p:txBody>
      </p:sp>
      <p:sp>
        <p:nvSpPr>
          <p:cNvPr id="17" name="Shape 15">
            <a:extLst>
              <a:ext uri="{FF2B5EF4-FFF2-40B4-BE49-F238E27FC236}">
                <a16:creationId xmlns:a16="http://schemas.microsoft.com/office/drawing/2014/main" id="{02D22FF9-B45D-4B66-A817-6FF3652A9FF5}"/>
              </a:ext>
            </a:extLst>
          </p:cNvPr>
          <p:cNvSpPr>
            <a:spLocks noGrp="1"/>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8" name="Text 16">
            <a:extLst>
              <a:ext uri="{FF2B5EF4-FFF2-40B4-BE49-F238E27FC236}">
                <a16:creationId xmlns:a16="http://schemas.microsoft.com/office/drawing/2014/main" id="{3B71AFC8-60D1-4CDF-A6F1-9C9A76C48202}"/>
              </a:ext>
            </a:extLst>
          </p:cNvPr>
          <p:cNvSpPr>
            <a:spLocks noGrp="1"/>
          </p:cNvSpPr>
          <p:nvPr/>
        </p:nvSpPr>
        <p:spPr>
          <a:xfrm>
            <a:off x="640080" y="4096512"/>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business_unit</a:t>
            </a:r>
            <a:endParaRPr sz="1300"/>
          </a:p>
        </p:txBody>
      </p:sp>
      <p:sp>
        <p:nvSpPr>
          <p:cNvPr id="19" name="Text 17">
            <a:extLst>
              <a:ext uri="{FF2B5EF4-FFF2-40B4-BE49-F238E27FC236}">
                <a16:creationId xmlns:a16="http://schemas.microsoft.com/office/drawing/2014/main" id="{3E7EED95-A7E4-4816-A460-7AE1D076A9C8}"/>
              </a:ext>
            </a:extLst>
          </p:cNvPr>
          <p:cNvSpPr>
            <a:spLocks noGrp="1"/>
          </p:cNvSpPr>
          <p:nvPr/>
        </p:nvSpPr>
        <p:spPr>
          <a:xfrm>
            <a:off x="8671255" y="1115568"/>
            <a:ext cx="3063240" cy="237744"/>
          </a:xfrm>
          <a:prstGeom prst="rect">
            <a:avLst/>
          </a:prstGeom>
          <a:noFill/>
        </p:spPr>
        <p:txBody>
          <a:bodyPr wrap="square" lIns="0" tIns="0" rIns="0" bIns="0" anchor="ctr"/>
          <a:lstStyle/>
          <a:p>
            <a:pPr marL="0" indent="0">
              <a:buNone/>
            </a:pPr>
            <a:r>
              <a:rPr sz="1200" b="1" spc="140">
                <a:solidFill>
                  <a:srgbClr val="91A0B7"/>
                </a:solidFill>
                <a:latin typeface="Calibri"/>
                <a:ea typeface="Calibri"/>
                <a:cs typeface="Calibri"/>
              </a:rPr>
              <a:t>WHAT IT UNLOCKS</a:t>
            </a:r>
            <a:endParaRPr sz="1200"/>
          </a:p>
        </p:txBody>
      </p:sp>
      <p:sp>
        <p:nvSpPr>
          <p:cNvPr id="20" name="Shape 18">
            <a:extLst>
              <a:ext uri="{FF2B5EF4-FFF2-40B4-BE49-F238E27FC236}">
                <a16:creationId xmlns:a16="http://schemas.microsoft.com/office/drawing/2014/main" id="{6F50D2B6-3936-4B89-8351-19CCF702AEBA}"/>
              </a:ext>
            </a:extLst>
          </p:cNvPr>
          <p:cNvSpPr>
            <a:spLocks noGrp="1"/>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1" name="Text 19">
            <a:extLst>
              <a:ext uri="{FF2B5EF4-FFF2-40B4-BE49-F238E27FC236}">
                <a16:creationId xmlns:a16="http://schemas.microsoft.com/office/drawing/2014/main" id="{F120BBF7-8CC3-4318-AFF6-B801198FF007}"/>
              </a:ext>
            </a:extLst>
          </p:cNvPr>
          <p:cNvSpPr>
            <a:spLocks noGrp="1"/>
          </p:cNvSpPr>
          <p:nvPr/>
        </p:nvSpPr>
        <p:spPr>
          <a:xfrm>
            <a:off x="8854135" y="1463040"/>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Cost per use case</a:t>
            </a:r>
            <a:endParaRPr sz="1300"/>
          </a:p>
        </p:txBody>
      </p:sp>
      <p:sp>
        <p:nvSpPr>
          <p:cNvPr id="22" name="Shape 20">
            <a:extLst>
              <a:ext uri="{FF2B5EF4-FFF2-40B4-BE49-F238E27FC236}">
                <a16:creationId xmlns:a16="http://schemas.microsoft.com/office/drawing/2014/main" id="{CF447D92-9BDE-419C-9463-0D73B79FEB50}"/>
              </a:ext>
            </a:extLst>
          </p:cNvPr>
          <p:cNvSpPr>
            <a:spLocks noGrp="1"/>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3" name="Text 21">
            <a:extLst>
              <a:ext uri="{FF2B5EF4-FFF2-40B4-BE49-F238E27FC236}">
                <a16:creationId xmlns:a16="http://schemas.microsoft.com/office/drawing/2014/main" id="{9F341943-5021-4F67-8852-213110EBF530}"/>
              </a:ext>
            </a:extLst>
          </p:cNvPr>
          <p:cNvSpPr>
            <a:spLocks noGrp="1"/>
          </p:cNvSpPr>
          <p:nvPr/>
        </p:nvSpPr>
        <p:spPr>
          <a:xfrm>
            <a:off x="8854135" y="2121408"/>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Cost per agent</a:t>
            </a:r>
            <a:endParaRPr sz="1300"/>
          </a:p>
        </p:txBody>
      </p:sp>
      <p:sp>
        <p:nvSpPr>
          <p:cNvPr id="24" name="Shape 22">
            <a:extLst>
              <a:ext uri="{FF2B5EF4-FFF2-40B4-BE49-F238E27FC236}">
                <a16:creationId xmlns:a16="http://schemas.microsoft.com/office/drawing/2014/main" id="{27C86769-8CBD-47D8-8A2E-EF6F5A9EE2A8}"/>
              </a:ext>
            </a:extLst>
          </p:cNvPr>
          <p:cNvSpPr>
            <a:spLocks noGrp="1"/>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5" name="Text 23">
            <a:extLst>
              <a:ext uri="{FF2B5EF4-FFF2-40B4-BE49-F238E27FC236}">
                <a16:creationId xmlns:a16="http://schemas.microsoft.com/office/drawing/2014/main" id="{936F0D0D-4625-4A9A-9D27-2BBAFFDBDD2A}"/>
              </a:ext>
            </a:extLst>
          </p:cNvPr>
          <p:cNvSpPr>
            <a:spLocks noGrp="1"/>
          </p:cNvSpPr>
          <p:nvPr/>
        </p:nvSpPr>
        <p:spPr>
          <a:xfrm>
            <a:off x="8854135" y="2779776"/>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AI unit economics</a:t>
            </a:r>
            <a:endParaRPr sz="1300"/>
          </a:p>
        </p:txBody>
      </p:sp>
      <p:sp>
        <p:nvSpPr>
          <p:cNvPr id="26" name="Shape 24">
            <a:extLst>
              <a:ext uri="{FF2B5EF4-FFF2-40B4-BE49-F238E27FC236}">
                <a16:creationId xmlns:a16="http://schemas.microsoft.com/office/drawing/2014/main" id="{DC79AC17-2404-434D-A34A-8D3862D5BA8A}"/>
              </a:ext>
            </a:extLst>
          </p:cNvPr>
          <p:cNvSpPr>
            <a:spLocks noGrp="1"/>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7" name="Text 25">
            <a:extLst>
              <a:ext uri="{FF2B5EF4-FFF2-40B4-BE49-F238E27FC236}">
                <a16:creationId xmlns:a16="http://schemas.microsoft.com/office/drawing/2014/main" id="{DF49848D-D4B5-457D-B403-B87BFF5DE2AD}"/>
              </a:ext>
            </a:extLst>
          </p:cNvPr>
          <p:cNvSpPr>
            <a:spLocks noGrp="1"/>
          </p:cNvSpPr>
          <p:nvPr/>
        </p:nvSpPr>
        <p:spPr>
          <a:xfrm>
            <a:off x="8854135" y="3438144"/>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Anomaly detection</a:t>
            </a:r>
            <a:endParaRPr sz="1300"/>
          </a:p>
        </p:txBody>
      </p:sp>
      <p:sp>
        <p:nvSpPr>
          <p:cNvPr id="28" name="Shape 26">
            <a:extLst>
              <a:ext uri="{FF2B5EF4-FFF2-40B4-BE49-F238E27FC236}">
                <a16:creationId xmlns:a16="http://schemas.microsoft.com/office/drawing/2014/main" id="{09965879-A153-42C0-B31A-85D02398CC35}"/>
              </a:ext>
            </a:extLst>
          </p:cNvPr>
          <p:cNvSpPr>
            <a:spLocks noGrp="1"/>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9" name="Text 27">
            <a:extLst>
              <a:ext uri="{FF2B5EF4-FFF2-40B4-BE49-F238E27FC236}">
                <a16:creationId xmlns:a16="http://schemas.microsoft.com/office/drawing/2014/main" id="{FAD27A6C-09CD-47CA-9693-49767DE9BC29}"/>
              </a:ext>
            </a:extLst>
          </p:cNvPr>
          <p:cNvSpPr>
            <a:spLocks noGrp="1"/>
          </p:cNvSpPr>
          <p:nvPr/>
        </p:nvSpPr>
        <p:spPr>
          <a:xfrm>
            <a:off x="8854135" y="4096512"/>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Chargeback that holds</a:t>
            </a:r>
            <a:endParaRPr sz="1300"/>
          </a:p>
        </p:txBody>
      </p:sp>
      <p:sp>
        <p:nvSpPr>
          <p:cNvPr id="30" name="Shape 28">
            <a:extLst>
              <a:ext uri="{FF2B5EF4-FFF2-40B4-BE49-F238E27FC236}">
                <a16:creationId xmlns:a16="http://schemas.microsoft.com/office/drawing/2014/main" id="{5093E291-E283-4971-9AB7-08934F0BAE1B}"/>
              </a:ext>
            </a:extLst>
          </p:cNvPr>
          <p:cNvSpPr>
            <a:spLocks noGrp="1"/>
          </p:cNvSpPr>
          <p:nvPr/>
        </p:nvSpPr>
        <p:spPr>
          <a:xfrm>
            <a:off x="3840480" y="1353312"/>
            <a:ext cx="4510735" cy="3291840"/>
          </a:xfrm>
          <a:prstGeom prst="roundRect">
            <a:avLst>
              <a:gd name="adj" fmla="val 1724"/>
            </a:avLst>
          </a:prstGeom>
          <a:solidFill>
            <a:srgbClr val="1D2D42"/>
          </a:solidFill>
          <a:ln w="15875">
            <a:solidFill>
              <a:srgbClr val="3DD9EB"/>
            </a:solidFill>
            <a:prstDash val="solid"/>
          </a:ln>
        </p:spPr>
        <p:txBody>
          <a:bodyPr/>
          <a:lstStyle/>
          <a:p>
            <a:endParaRPr/>
          </a:p>
        </p:txBody>
      </p:sp>
      <p:sp>
        <p:nvSpPr>
          <p:cNvPr id="31" name="Text 29">
            <a:extLst>
              <a:ext uri="{FF2B5EF4-FFF2-40B4-BE49-F238E27FC236}">
                <a16:creationId xmlns:a16="http://schemas.microsoft.com/office/drawing/2014/main" id="{15AF8B76-914F-4C42-8A8E-6F17BC20E774}"/>
              </a:ext>
            </a:extLst>
          </p:cNvPr>
          <p:cNvSpPr>
            <a:spLocks noGrp="1"/>
          </p:cNvSpPr>
          <p:nvPr/>
        </p:nvSpPr>
        <p:spPr>
          <a:xfrm>
            <a:off x="4023360" y="1627632"/>
            <a:ext cx="4144975" cy="329184"/>
          </a:xfrm>
          <a:prstGeom prst="rect">
            <a:avLst/>
          </a:prstGeom>
          <a:noFill/>
        </p:spPr>
        <p:txBody>
          <a:bodyPr wrap="square" lIns="0" tIns="0" rIns="0" bIns="0" anchor="ctr"/>
          <a:lstStyle/>
          <a:p>
            <a:pPr marL="0" indent="0" algn="ctr">
              <a:buNone/>
            </a:pPr>
            <a:r>
              <a:rPr sz="1700" b="1">
                <a:solidFill>
                  <a:srgbClr val="F4F7FB"/>
                </a:solidFill>
                <a:latin typeface="Calibri"/>
                <a:ea typeface="Calibri"/>
                <a:cs typeface="Calibri"/>
              </a:rPr>
              <a:t>The gateway injects them</a:t>
            </a:r>
            <a:endParaRPr sz="1700"/>
          </a:p>
        </p:txBody>
      </p:sp>
      <p:sp>
        <p:nvSpPr>
          <p:cNvPr id="32" name="Text 30">
            <a:extLst>
              <a:ext uri="{FF2B5EF4-FFF2-40B4-BE49-F238E27FC236}">
                <a16:creationId xmlns:a16="http://schemas.microsoft.com/office/drawing/2014/main" id="{375EB63B-3549-4B38-978B-D8D9B6568A7B}"/>
              </a:ext>
            </a:extLst>
          </p:cNvPr>
          <p:cNvSpPr>
            <a:spLocks noGrp="1"/>
          </p:cNvSpPr>
          <p:nvPr/>
        </p:nvSpPr>
        <p:spPr>
          <a:xfrm>
            <a:off x="4023360" y="1956816"/>
            <a:ext cx="4144975" cy="256032"/>
          </a:xfrm>
          <a:prstGeom prst="rect">
            <a:avLst/>
          </a:prstGeom>
          <a:noFill/>
        </p:spPr>
        <p:txBody>
          <a:bodyPr wrap="square" lIns="0" tIns="0" rIns="0" bIns="0" anchor="ctr"/>
          <a:lstStyle/>
          <a:p>
            <a:pPr marL="0" indent="0" algn="ctr">
              <a:buNone/>
            </a:pPr>
            <a:r>
              <a:rPr sz="1200">
                <a:solidFill>
                  <a:srgbClr val="91A0B7"/>
                </a:solidFill>
                <a:latin typeface="Calibri"/>
                <a:ea typeface="Calibri"/>
                <a:cs typeface="Calibri"/>
              </a:rPr>
              <a:t>Every AI request carries its own metadata</a:t>
            </a:r>
            <a:endParaRPr sz="1200"/>
          </a:p>
        </p:txBody>
      </p:sp>
      <p:sp>
        <p:nvSpPr>
          <p:cNvPr id="33" name="Shape 31">
            <a:extLst>
              <a:ext uri="{FF2B5EF4-FFF2-40B4-BE49-F238E27FC236}">
                <a16:creationId xmlns:a16="http://schemas.microsoft.com/office/drawing/2014/main" id="{8655C93C-FDED-4B79-9DFE-AACE6F16CDF9}"/>
              </a:ext>
            </a:extLst>
          </p:cNvPr>
          <p:cNvSpPr>
            <a:spLocks noGrp="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34" name="Text 32">
            <a:extLst>
              <a:ext uri="{FF2B5EF4-FFF2-40B4-BE49-F238E27FC236}">
                <a16:creationId xmlns:a16="http://schemas.microsoft.com/office/drawing/2014/main" id="{F11805F3-F4C3-4EE7-ACDA-337D25BCBD0F}"/>
              </a:ext>
            </a:extLst>
          </p:cNvPr>
          <p:cNvSpPr>
            <a:spLocks noGrp="1"/>
          </p:cNvSpPr>
          <p:nvPr/>
        </p:nvSpPr>
        <p:spPr>
          <a:xfrm>
            <a:off x="4023360" y="23317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use_case</a:t>
            </a:r>
            <a:endParaRPr sz="1200"/>
          </a:p>
        </p:txBody>
      </p:sp>
      <p:sp>
        <p:nvSpPr>
          <p:cNvPr id="35" name="Shape 33">
            <a:extLst>
              <a:ext uri="{FF2B5EF4-FFF2-40B4-BE49-F238E27FC236}">
                <a16:creationId xmlns:a16="http://schemas.microsoft.com/office/drawing/2014/main" id="{F85961CB-73DD-4F2A-9134-B3D01F9BB0BE}"/>
              </a:ext>
            </a:extLst>
          </p:cNvPr>
          <p:cNvSpPr>
            <a:spLocks noGrp="1"/>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36" name="Text 34">
            <a:extLst>
              <a:ext uri="{FF2B5EF4-FFF2-40B4-BE49-F238E27FC236}">
                <a16:creationId xmlns:a16="http://schemas.microsoft.com/office/drawing/2014/main" id="{3D0215AD-A7DA-4103-9815-ECDD5076F127}"/>
              </a:ext>
            </a:extLst>
          </p:cNvPr>
          <p:cNvSpPr>
            <a:spLocks noGrp="1"/>
          </p:cNvSpPr>
          <p:nvPr/>
        </p:nvSpPr>
        <p:spPr>
          <a:xfrm>
            <a:off x="6187288" y="23317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agent_id</a:t>
            </a:r>
            <a:endParaRPr sz="1200"/>
          </a:p>
        </p:txBody>
      </p:sp>
      <p:sp>
        <p:nvSpPr>
          <p:cNvPr id="37" name="Shape 35">
            <a:extLst>
              <a:ext uri="{FF2B5EF4-FFF2-40B4-BE49-F238E27FC236}">
                <a16:creationId xmlns:a16="http://schemas.microsoft.com/office/drawing/2014/main" id="{73201B27-37FE-459F-8C81-9FBA853051D2}"/>
              </a:ext>
            </a:extLst>
          </p:cNvPr>
          <p:cNvSpPr>
            <a:spLocks noGrp="1"/>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38" name="Text 36">
            <a:extLst>
              <a:ext uri="{FF2B5EF4-FFF2-40B4-BE49-F238E27FC236}">
                <a16:creationId xmlns:a16="http://schemas.microsoft.com/office/drawing/2014/main" id="{8F42B410-BDC7-45A9-9E20-AA62D68F53FB}"/>
              </a:ext>
            </a:extLst>
          </p:cNvPr>
          <p:cNvSpPr>
            <a:spLocks noGrp="1"/>
          </p:cNvSpPr>
          <p:nvPr/>
        </p:nvSpPr>
        <p:spPr>
          <a:xfrm>
            <a:off x="4023360" y="27889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workflow_id</a:t>
            </a:r>
            <a:endParaRPr sz="1200"/>
          </a:p>
        </p:txBody>
      </p:sp>
      <p:sp>
        <p:nvSpPr>
          <p:cNvPr id="39" name="Shape 37">
            <a:extLst>
              <a:ext uri="{FF2B5EF4-FFF2-40B4-BE49-F238E27FC236}">
                <a16:creationId xmlns:a16="http://schemas.microsoft.com/office/drawing/2014/main" id="{726DEB15-7B43-4B80-9EEF-1933FFBFE60D}"/>
              </a:ext>
            </a:extLst>
          </p:cNvPr>
          <p:cNvSpPr>
            <a:spLocks noGrp="1"/>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0" name="Text 38">
            <a:extLst>
              <a:ext uri="{FF2B5EF4-FFF2-40B4-BE49-F238E27FC236}">
                <a16:creationId xmlns:a16="http://schemas.microsoft.com/office/drawing/2014/main" id="{03E26F26-292B-457E-82BE-69AF3EC657DE}"/>
              </a:ext>
            </a:extLst>
          </p:cNvPr>
          <p:cNvSpPr>
            <a:spLocks noGrp="1"/>
          </p:cNvSpPr>
          <p:nvPr/>
        </p:nvSpPr>
        <p:spPr>
          <a:xfrm>
            <a:off x="6187288" y="27889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ai_model</a:t>
            </a:r>
            <a:endParaRPr sz="1200"/>
          </a:p>
        </p:txBody>
      </p:sp>
      <p:sp>
        <p:nvSpPr>
          <p:cNvPr id="41" name="Shape 39">
            <a:extLst>
              <a:ext uri="{FF2B5EF4-FFF2-40B4-BE49-F238E27FC236}">
                <a16:creationId xmlns:a16="http://schemas.microsoft.com/office/drawing/2014/main" id="{B6C97A39-A851-4CAE-B1A3-FAF7CF0AA331}"/>
              </a:ext>
            </a:extLst>
          </p:cNvPr>
          <p:cNvSpPr>
            <a:spLocks noGrp="1"/>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2" name="Text 40">
            <a:extLst>
              <a:ext uri="{FF2B5EF4-FFF2-40B4-BE49-F238E27FC236}">
                <a16:creationId xmlns:a16="http://schemas.microsoft.com/office/drawing/2014/main" id="{6C633DD8-B6E7-4B77-A99F-425B4188FC9C}"/>
              </a:ext>
            </a:extLst>
          </p:cNvPr>
          <p:cNvSpPr>
            <a:spLocks noGrp="1"/>
          </p:cNvSpPr>
          <p:nvPr/>
        </p:nvSpPr>
        <p:spPr>
          <a:xfrm>
            <a:off x="4023360" y="32461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ai_provider</a:t>
            </a:r>
            <a:endParaRPr sz="1200"/>
          </a:p>
        </p:txBody>
      </p:sp>
      <p:sp>
        <p:nvSpPr>
          <p:cNvPr id="43" name="Shape 41">
            <a:extLst>
              <a:ext uri="{FF2B5EF4-FFF2-40B4-BE49-F238E27FC236}">
                <a16:creationId xmlns:a16="http://schemas.microsoft.com/office/drawing/2014/main" id="{F13247C4-A0CB-4689-A544-28EEF1B1B21E}"/>
              </a:ext>
            </a:extLst>
          </p:cNvPr>
          <p:cNvSpPr>
            <a:spLocks noGrp="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4" name="Text 42">
            <a:extLst>
              <a:ext uri="{FF2B5EF4-FFF2-40B4-BE49-F238E27FC236}">
                <a16:creationId xmlns:a16="http://schemas.microsoft.com/office/drawing/2014/main" id="{5E48692E-0C27-4378-9585-A1752F65AE79}"/>
              </a:ext>
            </a:extLst>
          </p:cNvPr>
          <p:cNvSpPr>
            <a:spLocks noGrp="1"/>
          </p:cNvSpPr>
          <p:nvPr/>
        </p:nvSpPr>
        <p:spPr>
          <a:xfrm>
            <a:off x="6187288" y="32461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mcp_tool</a:t>
            </a:r>
            <a:endParaRPr sz="1200"/>
          </a:p>
        </p:txBody>
      </p:sp>
      <p:sp>
        <p:nvSpPr>
          <p:cNvPr id="45" name="Shape 43">
            <a:extLst>
              <a:ext uri="{FF2B5EF4-FFF2-40B4-BE49-F238E27FC236}">
                <a16:creationId xmlns:a16="http://schemas.microsoft.com/office/drawing/2014/main" id="{7EF2C1DE-A4A7-44D0-8958-B4B8D5A9D046}"/>
              </a:ext>
            </a:extLst>
          </p:cNvPr>
          <p:cNvSpPr>
            <a:spLocks noGrp="1"/>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6" name="Text 44">
            <a:extLst>
              <a:ext uri="{FF2B5EF4-FFF2-40B4-BE49-F238E27FC236}">
                <a16:creationId xmlns:a16="http://schemas.microsoft.com/office/drawing/2014/main" id="{8D145012-31DD-40B5-BC22-43B28DB31DAE}"/>
              </a:ext>
            </a:extLst>
          </p:cNvPr>
          <p:cNvSpPr>
            <a:spLocks noGrp="1"/>
          </p:cNvSpPr>
          <p:nvPr/>
        </p:nvSpPr>
        <p:spPr>
          <a:xfrm>
            <a:off x="4023360" y="37033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session_id</a:t>
            </a:r>
            <a:endParaRPr sz="1200"/>
          </a:p>
        </p:txBody>
      </p:sp>
      <p:sp>
        <p:nvSpPr>
          <p:cNvPr id="47" name="Shape 45">
            <a:extLst>
              <a:ext uri="{FF2B5EF4-FFF2-40B4-BE49-F238E27FC236}">
                <a16:creationId xmlns:a16="http://schemas.microsoft.com/office/drawing/2014/main" id="{BB58D957-CA81-4712-B14C-2F3FD942FAB2}"/>
              </a:ext>
            </a:extLst>
          </p:cNvPr>
          <p:cNvSpPr>
            <a:spLocks noGrp="1"/>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8" name="Text 46">
            <a:extLst>
              <a:ext uri="{FF2B5EF4-FFF2-40B4-BE49-F238E27FC236}">
                <a16:creationId xmlns:a16="http://schemas.microsoft.com/office/drawing/2014/main" id="{4265E89A-9C0E-4539-A37C-5851EE6D7F7A}"/>
              </a:ext>
            </a:extLst>
          </p:cNvPr>
          <p:cNvSpPr>
            <a:spLocks noGrp="1"/>
          </p:cNvSpPr>
          <p:nvPr/>
        </p:nvSpPr>
        <p:spPr>
          <a:xfrm>
            <a:off x="6187288" y="37033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request_id</a:t>
            </a:r>
            <a:endParaRPr sz="1200"/>
          </a:p>
        </p:txBody>
      </p:sp>
      <p:sp>
        <p:nvSpPr>
          <p:cNvPr id="49" name="Text 47">
            <a:extLst>
              <a:ext uri="{FF2B5EF4-FFF2-40B4-BE49-F238E27FC236}">
                <a16:creationId xmlns:a16="http://schemas.microsoft.com/office/drawing/2014/main" id="{09D5C8A1-1DA6-4EC1-9AA1-645938C7267A}"/>
              </a:ext>
            </a:extLst>
          </p:cNvPr>
          <p:cNvSpPr>
            <a:spLocks noGrp="1"/>
          </p:cNvSpPr>
          <p:nvPr/>
        </p:nvSpPr>
        <p:spPr>
          <a:xfrm>
            <a:off x="4023360" y="4078224"/>
            <a:ext cx="4144975" cy="457200"/>
          </a:xfrm>
          <a:prstGeom prst="rect">
            <a:avLst/>
          </a:prstGeom>
          <a:noFill/>
        </p:spPr>
        <p:txBody>
          <a:bodyPr wrap="square" lIns="0" tIns="0" rIns="0" bIns="0" anchor="ctr"/>
          <a:lstStyle/>
          <a:p>
            <a:pPr marL="0" indent="0" algn="ctr">
              <a:lnSpc>
                <a:spcPct val="110000"/>
              </a:lnSpc>
              <a:buNone/>
            </a:pPr>
            <a:r>
              <a:rPr sz="1150">
                <a:solidFill>
                  <a:srgbClr val="91A0B7"/>
                </a:solidFill>
                <a:latin typeface="Calibri"/>
                <a:ea typeface="Calibri"/>
                <a:cs typeface="Calibri"/>
              </a:rPr>
              <a:t>The gateway is the only place these can be made mandatory.</a:t>
            </a:r>
            <a:endParaRPr sz="1150"/>
          </a:p>
        </p:txBody>
      </p:sp>
    </p:spTree>
    <p:extLst>
      <p:ext uri="{BB962C8B-B14F-4D97-AF65-F5344CB8AC3E}">
        <p14:creationId xmlns:p14="http://schemas.microsoft.com/office/powerpoint/2010/main" val="3730409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561D85F-3877-43A8-B4E4-C3D406F935AC}"/>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DBFFCB99-92FC-40CB-92C0-BA6D67D18957}"/>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a:p>
        </p:txBody>
      </p:sp>
      <p:sp>
        <p:nvSpPr>
          <p:cNvPr id="4" name="Text 2">
            <a:extLst>
              <a:ext uri="{FF2B5EF4-FFF2-40B4-BE49-F238E27FC236}">
                <a16:creationId xmlns:a16="http://schemas.microsoft.com/office/drawing/2014/main" id="{A32753AF-CB15-4E72-8E6B-9D2CA711F502}"/>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THE MECHANISM</a:t>
            </a:r>
            <a:endParaRPr sz="1300"/>
          </a:p>
        </p:txBody>
      </p:sp>
      <p:sp>
        <p:nvSpPr>
          <p:cNvPr id="5" name="Text 3">
            <a:extLst>
              <a:ext uri="{FF2B5EF4-FFF2-40B4-BE49-F238E27FC236}">
                <a16:creationId xmlns:a16="http://schemas.microsoft.com/office/drawing/2014/main" id="{599ACFDA-644D-4C1D-BE57-B8C0B9AE634C}"/>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625" b="1">
                <a:solidFill>
                  <a:srgbClr val="F4F7FB"/>
                </a:solidFill>
                <a:latin typeface="Calibri"/>
                <a:ea typeface="Calibri"/>
                <a:cs typeface="Calibri"/>
              </a:rPr>
              <a:t>One gateway for every AI request</a:t>
            </a:r>
            <a:endParaRPr sz="2625"/>
          </a:p>
        </p:txBody>
      </p:sp>
      <p:sp>
        <p:nvSpPr>
          <p:cNvPr id="6" name="Text 4">
            <a:extLst>
              <a:ext uri="{FF2B5EF4-FFF2-40B4-BE49-F238E27FC236}">
                <a16:creationId xmlns:a16="http://schemas.microsoft.com/office/drawing/2014/main" id="{A3852844-0612-43B2-BAD7-D3B77050102B}"/>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C805D46C-C018-49C6-BA4D-663370F7634D}"/>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Today every business unit buys AI separately, on shared keys, with no owner per consumer, which is why 23.4% of the bill has no name against it.</a:t>
            </a:r>
            <a:endParaRPr sz="1200"/>
          </a:p>
        </p:txBody>
      </p:sp>
      <p:sp>
        <p:nvSpPr>
          <p:cNvPr id="8" name="Text 6">
            <a:extLst>
              <a:ext uri="{FF2B5EF4-FFF2-40B4-BE49-F238E27FC236}">
                <a16:creationId xmlns:a16="http://schemas.microsoft.com/office/drawing/2014/main" id="{C10613E4-C41F-41E9-8AAC-481DF952A9DC}"/>
              </a:ext>
            </a:extLst>
          </p:cNvPr>
          <p:cNvSpPr>
            <a:spLocks noGrp="1"/>
          </p:cNvSpPr>
          <p:nvPr/>
        </p:nvSpPr>
        <p:spPr>
          <a:xfrm>
            <a:off x="457200" y="1115568"/>
            <a:ext cx="3063240" cy="237744"/>
          </a:xfrm>
          <a:prstGeom prst="rect">
            <a:avLst/>
          </a:prstGeom>
          <a:noFill/>
        </p:spPr>
        <p:txBody>
          <a:bodyPr wrap="square" lIns="0" tIns="0" rIns="0" bIns="0" anchor="ctr"/>
          <a:lstStyle/>
          <a:p>
            <a:pPr marL="0" indent="0">
              <a:buNone/>
            </a:pPr>
            <a:r>
              <a:rPr sz="1200" b="1" spc="140">
                <a:solidFill>
                  <a:srgbClr val="91A0B7"/>
                </a:solidFill>
                <a:latin typeface="Calibri"/>
                <a:ea typeface="Calibri"/>
                <a:cs typeface="Calibri"/>
              </a:rPr>
              <a:t>CONSUMERS</a:t>
            </a:r>
            <a:endParaRPr sz="1200"/>
          </a:p>
        </p:txBody>
      </p:sp>
      <p:sp>
        <p:nvSpPr>
          <p:cNvPr id="9" name="Shape 7">
            <a:extLst>
              <a:ext uri="{FF2B5EF4-FFF2-40B4-BE49-F238E27FC236}">
                <a16:creationId xmlns:a16="http://schemas.microsoft.com/office/drawing/2014/main" id="{230CE8D2-C78E-461C-B363-813220DDD8D9}"/>
              </a:ext>
            </a:extLst>
          </p:cNvPr>
          <p:cNvSpPr>
            <a:spLocks noGrp="1"/>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0" name="Text 8">
            <a:extLst>
              <a:ext uri="{FF2B5EF4-FFF2-40B4-BE49-F238E27FC236}">
                <a16:creationId xmlns:a16="http://schemas.microsoft.com/office/drawing/2014/main" id="{AE97BEA4-EF7A-4AF8-8DEC-C89E2777EAAE}"/>
              </a:ext>
            </a:extLst>
          </p:cNvPr>
          <p:cNvSpPr>
            <a:spLocks noGrp="1"/>
          </p:cNvSpPr>
          <p:nvPr/>
        </p:nvSpPr>
        <p:spPr>
          <a:xfrm>
            <a:off x="640080" y="1463040"/>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Business applications</a:t>
            </a:r>
            <a:endParaRPr sz="1300"/>
          </a:p>
        </p:txBody>
      </p:sp>
      <p:sp>
        <p:nvSpPr>
          <p:cNvPr id="11" name="Shape 9">
            <a:extLst>
              <a:ext uri="{FF2B5EF4-FFF2-40B4-BE49-F238E27FC236}">
                <a16:creationId xmlns:a16="http://schemas.microsoft.com/office/drawing/2014/main" id="{35C1F33B-EC27-4058-B78E-8719B72165BE}"/>
              </a:ext>
            </a:extLst>
          </p:cNvPr>
          <p:cNvSpPr>
            <a:spLocks noGrp="1"/>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2" name="Text 10">
            <a:extLst>
              <a:ext uri="{FF2B5EF4-FFF2-40B4-BE49-F238E27FC236}">
                <a16:creationId xmlns:a16="http://schemas.microsoft.com/office/drawing/2014/main" id="{FA8E2718-226D-4848-83FC-B7F06696225D}"/>
              </a:ext>
            </a:extLst>
          </p:cNvPr>
          <p:cNvSpPr>
            <a:spLocks noGrp="1"/>
          </p:cNvSpPr>
          <p:nvPr/>
        </p:nvSpPr>
        <p:spPr>
          <a:xfrm>
            <a:off x="640080" y="2121408"/>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Copilots and assistants</a:t>
            </a:r>
            <a:endParaRPr sz="1300"/>
          </a:p>
        </p:txBody>
      </p:sp>
      <p:sp>
        <p:nvSpPr>
          <p:cNvPr id="13" name="Shape 11">
            <a:extLst>
              <a:ext uri="{FF2B5EF4-FFF2-40B4-BE49-F238E27FC236}">
                <a16:creationId xmlns:a16="http://schemas.microsoft.com/office/drawing/2014/main" id="{B7D3B32E-5A4C-4E19-822A-7B72CE674DA6}"/>
              </a:ext>
            </a:extLst>
          </p:cNvPr>
          <p:cNvSpPr>
            <a:spLocks noGrp="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4" name="Text 12">
            <a:extLst>
              <a:ext uri="{FF2B5EF4-FFF2-40B4-BE49-F238E27FC236}">
                <a16:creationId xmlns:a16="http://schemas.microsoft.com/office/drawing/2014/main" id="{16F94B4F-C76C-4BD8-B736-2A2409004A3D}"/>
              </a:ext>
            </a:extLst>
          </p:cNvPr>
          <p:cNvSpPr>
            <a:spLocks noGrp="1"/>
          </p:cNvSpPr>
          <p:nvPr/>
        </p:nvSpPr>
        <p:spPr>
          <a:xfrm>
            <a:off x="640080" y="2779776"/>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Autonomous agents</a:t>
            </a:r>
            <a:endParaRPr sz="1300"/>
          </a:p>
        </p:txBody>
      </p:sp>
      <p:sp>
        <p:nvSpPr>
          <p:cNvPr id="15" name="Shape 13">
            <a:extLst>
              <a:ext uri="{FF2B5EF4-FFF2-40B4-BE49-F238E27FC236}">
                <a16:creationId xmlns:a16="http://schemas.microsoft.com/office/drawing/2014/main" id="{314E46DF-11AE-4D10-B359-5ADA32432472}"/>
              </a:ext>
            </a:extLst>
          </p:cNvPr>
          <p:cNvSpPr>
            <a:spLocks noGrp="1"/>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6" name="Text 14">
            <a:extLst>
              <a:ext uri="{FF2B5EF4-FFF2-40B4-BE49-F238E27FC236}">
                <a16:creationId xmlns:a16="http://schemas.microsoft.com/office/drawing/2014/main" id="{02F63C6E-5E09-4D52-93D9-8E5FCFBAAA9C}"/>
              </a:ext>
            </a:extLst>
          </p:cNvPr>
          <p:cNvSpPr>
            <a:spLocks noGrp="1"/>
          </p:cNvSpPr>
          <p:nvPr/>
        </p:nvSpPr>
        <p:spPr>
          <a:xfrm>
            <a:off x="640080" y="3438144"/>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Data science</a:t>
            </a:r>
            <a:endParaRPr sz="1300"/>
          </a:p>
        </p:txBody>
      </p:sp>
      <p:sp>
        <p:nvSpPr>
          <p:cNvPr id="17" name="Shape 15">
            <a:extLst>
              <a:ext uri="{FF2B5EF4-FFF2-40B4-BE49-F238E27FC236}">
                <a16:creationId xmlns:a16="http://schemas.microsoft.com/office/drawing/2014/main" id="{41F3317D-37D7-41A7-8AF0-897DB6548FEA}"/>
              </a:ext>
            </a:extLst>
          </p:cNvPr>
          <p:cNvSpPr>
            <a:spLocks noGrp="1"/>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18" name="Text 16">
            <a:extLst>
              <a:ext uri="{FF2B5EF4-FFF2-40B4-BE49-F238E27FC236}">
                <a16:creationId xmlns:a16="http://schemas.microsoft.com/office/drawing/2014/main" id="{ED818AF2-C8C3-442B-91EA-B2EB4359C42B}"/>
              </a:ext>
            </a:extLst>
          </p:cNvPr>
          <p:cNvSpPr>
            <a:spLocks noGrp="1"/>
          </p:cNvSpPr>
          <p:nvPr/>
        </p:nvSpPr>
        <p:spPr>
          <a:xfrm>
            <a:off x="640080" y="4096512"/>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Third-party SaaS</a:t>
            </a:r>
            <a:endParaRPr sz="1300"/>
          </a:p>
        </p:txBody>
      </p:sp>
      <p:sp>
        <p:nvSpPr>
          <p:cNvPr id="19" name="Text 17">
            <a:extLst>
              <a:ext uri="{FF2B5EF4-FFF2-40B4-BE49-F238E27FC236}">
                <a16:creationId xmlns:a16="http://schemas.microsoft.com/office/drawing/2014/main" id="{F1A96230-FAF8-4AB6-932A-11A85A60BA52}"/>
              </a:ext>
            </a:extLst>
          </p:cNvPr>
          <p:cNvSpPr>
            <a:spLocks noGrp="1"/>
          </p:cNvSpPr>
          <p:nvPr/>
        </p:nvSpPr>
        <p:spPr>
          <a:xfrm>
            <a:off x="8671255" y="1115568"/>
            <a:ext cx="3063240" cy="237744"/>
          </a:xfrm>
          <a:prstGeom prst="rect">
            <a:avLst/>
          </a:prstGeom>
          <a:noFill/>
        </p:spPr>
        <p:txBody>
          <a:bodyPr wrap="square" lIns="0" tIns="0" rIns="0" bIns="0" anchor="ctr"/>
          <a:lstStyle/>
          <a:p>
            <a:pPr marL="0" indent="0">
              <a:buNone/>
            </a:pPr>
            <a:r>
              <a:rPr sz="1200" b="1" spc="140">
                <a:solidFill>
                  <a:srgbClr val="91A0B7"/>
                </a:solidFill>
                <a:latin typeface="Calibri"/>
                <a:ea typeface="Calibri"/>
                <a:cs typeface="Calibri"/>
              </a:rPr>
              <a:t>PROVIDERS</a:t>
            </a:r>
            <a:endParaRPr sz="1200"/>
          </a:p>
        </p:txBody>
      </p:sp>
      <p:sp>
        <p:nvSpPr>
          <p:cNvPr id="20" name="Shape 18">
            <a:extLst>
              <a:ext uri="{FF2B5EF4-FFF2-40B4-BE49-F238E27FC236}">
                <a16:creationId xmlns:a16="http://schemas.microsoft.com/office/drawing/2014/main" id="{2B8E6C77-5EB5-4E95-81FE-CB42D65A34CC}"/>
              </a:ext>
            </a:extLst>
          </p:cNvPr>
          <p:cNvSpPr>
            <a:spLocks noGrp="1"/>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1" name="Text 19">
            <a:extLst>
              <a:ext uri="{FF2B5EF4-FFF2-40B4-BE49-F238E27FC236}">
                <a16:creationId xmlns:a16="http://schemas.microsoft.com/office/drawing/2014/main" id="{10D3D55C-7A31-47D3-B5F5-B85CEA376956}"/>
              </a:ext>
            </a:extLst>
          </p:cNvPr>
          <p:cNvSpPr>
            <a:spLocks noGrp="1"/>
          </p:cNvSpPr>
          <p:nvPr/>
        </p:nvSpPr>
        <p:spPr>
          <a:xfrm>
            <a:off x="8854135" y="1463040"/>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Microsoft Copilot</a:t>
            </a:r>
            <a:endParaRPr sz="1300"/>
          </a:p>
        </p:txBody>
      </p:sp>
      <p:sp>
        <p:nvSpPr>
          <p:cNvPr id="22" name="Shape 20">
            <a:extLst>
              <a:ext uri="{FF2B5EF4-FFF2-40B4-BE49-F238E27FC236}">
                <a16:creationId xmlns:a16="http://schemas.microsoft.com/office/drawing/2014/main" id="{D22F55BC-4994-464B-9B02-C0B88EEFCBBE}"/>
              </a:ext>
            </a:extLst>
          </p:cNvPr>
          <p:cNvSpPr>
            <a:spLocks noGrp="1"/>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3" name="Text 21">
            <a:extLst>
              <a:ext uri="{FF2B5EF4-FFF2-40B4-BE49-F238E27FC236}">
                <a16:creationId xmlns:a16="http://schemas.microsoft.com/office/drawing/2014/main" id="{D0D2E511-7507-4C89-AC6A-DCC2F1799396}"/>
              </a:ext>
            </a:extLst>
          </p:cNvPr>
          <p:cNvSpPr>
            <a:spLocks noGrp="1"/>
          </p:cNvSpPr>
          <p:nvPr/>
        </p:nvSpPr>
        <p:spPr>
          <a:xfrm>
            <a:off x="8854135" y="2121408"/>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Azure AI Foundry</a:t>
            </a:r>
            <a:endParaRPr sz="1300"/>
          </a:p>
        </p:txBody>
      </p:sp>
      <p:sp>
        <p:nvSpPr>
          <p:cNvPr id="24" name="Shape 22">
            <a:extLst>
              <a:ext uri="{FF2B5EF4-FFF2-40B4-BE49-F238E27FC236}">
                <a16:creationId xmlns:a16="http://schemas.microsoft.com/office/drawing/2014/main" id="{231EB9C2-FF63-4015-B90F-DB13B594DAC5}"/>
              </a:ext>
            </a:extLst>
          </p:cNvPr>
          <p:cNvSpPr>
            <a:spLocks noGrp="1"/>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5" name="Text 23">
            <a:extLst>
              <a:ext uri="{FF2B5EF4-FFF2-40B4-BE49-F238E27FC236}">
                <a16:creationId xmlns:a16="http://schemas.microsoft.com/office/drawing/2014/main" id="{D301EB85-B265-4100-A9BC-0A6C3DDB661C}"/>
              </a:ext>
            </a:extLst>
          </p:cNvPr>
          <p:cNvSpPr>
            <a:spLocks noGrp="1"/>
          </p:cNvSpPr>
          <p:nvPr/>
        </p:nvSpPr>
        <p:spPr>
          <a:xfrm>
            <a:off x="8854135" y="2779776"/>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AWS Bedrock</a:t>
            </a:r>
            <a:endParaRPr sz="1300"/>
          </a:p>
        </p:txBody>
      </p:sp>
      <p:sp>
        <p:nvSpPr>
          <p:cNvPr id="26" name="Shape 24">
            <a:extLst>
              <a:ext uri="{FF2B5EF4-FFF2-40B4-BE49-F238E27FC236}">
                <a16:creationId xmlns:a16="http://schemas.microsoft.com/office/drawing/2014/main" id="{F9823B28-678F-4DD1-B8C9-CA7B5498DBE4}"/>
              </a:ext>
            </a:extLst>
          </p:cNvPr>
          <p:cNvSpPr>
            <a:spLocks noGrp="1"/>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7" name="Text 25">
            <a:extLst>
              <a:ext uri="{FF2B5EF4-FFF2-40B4-BE49-F238E27FC236}">
                <a16:creationId xmlns:a16="http://schemas.microsoft.com/office/drawing/2014/main" id="{5AAE98FA-5501-446C-B561-CB8B303FA444}"/>
              </a:ext>
            </a:extLst>
          </p:cNvPr>
          <p:cNvSpPr>
            <a:spLocks noGrp="1"/>
          </p:cNvSpPr>
          <p:nvPr/>
        </p:nvSpPr>
        <p:spPr>
          <a:xfrm>
            <a:off x="8854135" y="3438144"/>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Google Vertex AI</a:t>
            </a:r>
            <a:endParaRPr sz="1300"/>
          </a:p>
        </p:txBody>
      </p:sp>
      <p:sp>
        <p:nvSpPr>
          <p:cNvPr id="28" name="Shape 26">
            <a:extLst>
              <a:ext uri="{FF2B5EF4-FFF2-40B4-BE49-F238E27FC236}">
                <a16:creationId xmlns:a16="http://schemas.microsoft.com/office/drawing/2014/main" id="{B4CA147B-8DF0-4EA9-8049-72DB31657F83}"/>
              </a:ext>
            </a:extLst>
          </p:cNvPr>
          <p:cNvSpPr>
            <a:spLocks noGrp="1"/>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txBody>
          <a:bodyPr/>
          <a:lstStyle/>
          <a:p>
            <a:endParaRPr/>
          </a:p>
        </p:txBody>
      </p:sp>
      <p:sp>
        <p:nvSpPr>
          <p:cNvPr id="29" name="Text 27">
            <a:extLst>
              <a:ext uri="{FF2B5EF4-FFF2-40B4-BE49-F238E27FC236}">
                <a16:creationId xmlns:a16="http://schemas.microsoft.com/office/drawing/2014/main" id="{F59E29BB-F6EB-4E45-BD31-4A16DB7281FA}"/>
              </a:ext>
            </a:extLst>
          </p:cNvPr>
          <p:cNvSpPr>
            <a:spLocks noGrp="1"/>
          </p:cNvSpPr>
          <p:nvPr/>
        </p:nvSpPr>
        <p:spPr>
          <a:xfrm>
            <a:off x="8854135" y="4096512"/>
            <a:ext cx="2697480" cy="548640"/>
          </a:xfrm>
          <a:prstGeom prst="rect">
            <a:avLst/>
          </a:prstGeom>
          <a:noFill/>
        </p:spPr>
        <p:txBody>
          <a:bodyPr wrap="square" lIns="0" tIns="0" rIns="0" bIns="0" anchor="ctr"/>
          <a:lstStyle/>
          <a:p>
            <a:pPr marL="0" indent="0">
              <a:buNone/>
            </a:pPr>
            <a:r>
              <a:rPr sz="1300">
                <a:solidFill>
                  <a:srgbClr val="F4F7FB"/>
                </a:solidFill>
                <a:latin typeface="Calibri"/>
                <a:ea typeface="Calibri"/>
                <a:cs typeface="Calibri"/>
              </a:rPr>
              <a:t>Claude / OpenAI</a:t>
            </a:r>
            <a:endParaRPr sz="1300"/>
          </a:p>
        </p:txBody>
      </p:sp>
      <p:sp>
        <p:nvSpPr>
          <p:cNvPr id="30" name="Shape 28">
            <a:extLst>
              <a:ext uri="{FF2B5EF4-FFF2-40B4-BE49-F238E27FC236}">
                <a16:creationId xmlns:a16="http://schemas.microsoft.com/office/drawing/2014/main" id="{51F12800-B578-4AFE-86F1-57E3D0B9061E}"/>
              </a:ext>
            </a:extLst>
          </p:cNvPr>
          <p:cNvSpPr>
            <a:spLocks noGrp="1"/>
          </p:cNvSpPr>
          <p:nvPr/>
        </p:nvSpPr>
        <p:spPr>
          <a:xfrm>
            <a:off x="3840480" y="1463040"/>
            <a:ext cx="4510735" cy="3182112"/>
          </a:xfrm>
          <a:prstGeom prst="roundRect">
            <a:avLst>
              <a:gd name="adj" fmla="val 1724"/>
            </a:avLst>
          </a:prstGeom>
          <a:solidFill>
            <a:srgbClr val="1D2D42"/>
          </a:solidFill>
          <a:ln w="15875">
            <a:solidFill>
              <a:srgbClr val="B07CFF"/>
            </a:solidFill>
            <a:prstDash val="solid"/>
          </a:ln>
        </p:spPr>
        <p:txBody>
          <a:bodyPr/>
          <a:lstStyle/>
          <a:p>
            <a:endParaRPr/>
          </a:p>
        </p:txBody>
      </p:sp>
      <p:sp>
        <p:nvSpPr>
          <p:cNvPr id="31" name="Text 29">
            <a:extLst>
              <a:ext uri="{FF2B5EF4-FFF2-40B4-BE49-F238E27FC236}">
                <a16:creationId xmlns:a16="http://schemas.microsoft.com/office/drawing/2014/main" id="{7D5F84D5-4261-4999-ABA4-61BEC311E3E8}"/>
              </a:ext>
            </a:extLst>
          </p:cNvPr>
          <p:cNvSpPr>
            <a:spLocks noGrp="1"/>
          </p:cNvSpPr>
          <p:nvPr/>
        </p:nvSpPr>
        <p:spPr>
          <a:xfrm>
            <a:off x="4023360" y="1627632"/>
            <a:ext cx="4144975" cy="329184"/>
          </a:xfrm>
          <a:prstGeom prst="rect">
            <a:avLst/>
          </a:prstGeom>
          <a:noFill/>
        </p:spPr>
        <p:txBody>
          <a:bodyPr wrap="square" lIns="0" tIns="0" rIns="0" bIns="0" anchor="ctr"/>
          <a:lstStyle/>
          <a:p>
            <a:pPr marL="0" indent="0" algn="ctr">
              <a:buNone/>
            </a:pPr>
            <a:r>
              <a:rPr sz="1700" b="1">
                <a:solidFill>
                  <a:srgbClr val="F4F7FB"/>
                </a:solidFill>
                <a:latin typeface="Calibri"/>
                <a:ea typeface="Calibri"/>
                <a:cs typeface="Calibri"/>
              </a:rPr>
              <a:t>AI Command Center</a:t>
            </a:r>
            <a:endParaRPr sz="1700"/>
          </a:p>
        </p:txBody>
      </p:sp>
      <p:sp>
        <p:nvSpPr>
          <p:cNvPr id="32" name="Text 30">
            <a:extLst>
              <a:ext uri="{FF2B5EF4-FFF2-40B4-BE49-F238E27FC236}">
                <a16:creationId xmlns:a16="http://schemas.microsoft.com/office/drawing/2014/main" id="{CEF3AF34-DE86-4298-A679-6C481D040053}"/>
              </a:ext>
            </a:extLst>
          </p:cNvPr>
          <p:cNvSpPr>
            <a:spLocks noGrp="1"/>
          </p:cNvSpPr>
          <p:nvPr/>
        </p:nvSpPr>
        <p:spPr>
          <a:xfrm>
            <a:off x="4023360" y="1956816"/>
            <a:ext cx="4144975" cy="256032"/>
          </a:xfrm>
          <a:prstGeom prst="rect">
            <a:avLst/>
          </a:prstGeom>
          <a:noFill/>
        </p:spPr>
        <p:txBody>
          <a:bodyPr wrap="square" lIns="0" tIns="0" rIns="0" bIns="0" anchor="ctr"/>
          <a:lstStyle/>
          <a:p>
            <a:pPr marL="0" indent="0" algn="ctr">
              <a:buNone/>
            </a:pPr>
            <a:r>
              <a:rPr sz="1200">
                <a:solidFill>
                  <a:srgbClr val="91A0B7"/>
                </a:solidFill>
                <a:latin typeface="Calibri"/>
                <a:ea typeface="Calibri"/>
                <a:cs typeface="Calibri"/>
              </a:rPr>
              <a:t>Policy enforcement point</a:t>
            </a:r>
            <a:endParaRPr sz="1200"/>
          </a:p>
        </p:txBody>
      </p:sp>
      <p:sp>
        <p:nvSpPr>
          <p:cNvPr id="33" name="Shape 31">
            <a:extLst>
              <a:ext uri="{FF2B5EF4-FFF2-40B4-BE49-F238E27FC236}">
                <a16:creationId xmlns:a16="http://schemas.microsoft.com/office/drawing/2014/main" id="{986BB6F0-F12C-4853-827B-2E6FD496B085}"/>
              </a:ext>
            </a:extLst>
          </p:cNvPr>
          <p:cNvSpPr>
            <a:spLocks noGrp="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34" name="Text 32">
            <a:extLst>
              <a:ext uri="{FF2B5EF4-FFF2-40B4-BE49-F238E27FC236}">
                <a16:creationId xmlns:a16="http://schemas.microsoft.com/office/drawing/2014/main" id="{2AEAEF38-1E92-4C92-8896-D2EB62E759D7}"/>
              </a:ext>
            </a:extLst>
          </p:cNvPr>
          <p:cNvSpPr>
            <a:spLocks noGrp="1"/>
          </p:cNvSpPr>
          <p:nvPr/>
        </p:nvSpPr>
        <p:spPr>
          <a:xfrm>
            <a:off x="4023360" y="23317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Visibility</a:t>
            </a:r>
            <a:endParaRPr sz="1200"/>
          </a:p>
        </p:txBody>
      </p:sp>
      <p:sp>
        <p:nvSpPr>
          <p:cNvPr id="35" name="Shape 33">
            <a:extLst>
              <a:ext uri="{FF2B5EF4-FFF2-40B4-BE49-F238E27FC236}">
                <a16:creationId xmlns:a16="http://schemas.microsoft.com/office/drawing/2014/main" id="{11E120B3-7157-4224-AA48-6CE8E973052A}"/>
              </a:ext>
            </a:extLst>
          </p:cNvPr>
          <p:cNvSpPr>
            <a:spLocks noGrp="1"/>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36" name="Text 34">
            <a:extLst>
              <a:ext uri="{FF2B5EF4-FFF2-40B4-BE49-F238E27FC236}">
                <a16:creationId xmlns:a16="http://schemas.microsoft.com/office/drawing/2014/main" id="{AB570E2C-198C-486C-B71B-3AA8967BD66C}"/>
              </a:ext>
            </a:extLst>
          </p:cNvPr>
          <p:cNvSpPr>
            <a:spLocks noGrp="1"/>
          </p:cNvSpPr>
          <p:nvPr/>
        </p:nvSpPr>
        <p:spPr>
          <a:xfrm>
            <a:off x="6187288" y="23317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Budgets per unit</a:t>
            </a:r>
            <a:endParaRPr sz="1200"/>
          </a:p>
        </p:txBody>
      </p:sp>
      <p:sp>
        <p:nvSpPr>
          <p:cNvPr id="37" name="Shape 35">
            <a:extLst>
              <a:ext uri="{FF2B5EF4-FFF2-40B4-BE49-F238E27FC236}">
                <a16:creationId xmlns:a16="http://schemas.microsoft.com/office/drawing/2014/main" id="{1DF10E59-11F5-4C69-A2E3-6FC983806A23}"/>
              </a:ext>
            </a:extLst>
          </p:cNvPr>
          <p:cNvSpPr>
            <a:spLocks noGrp="1"/>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38" name="Text 36">
            <a:extLst>
              <a:ext uri="{FF2B5EF4-FFF2-40B4-BE49-F238E27FC236}">
                <a16:creationId xmlns:a16="http://schemas.microsoft.com/office/drawing/2014/main" id="{2172338F-93E1-4C8B-8057-B75653357FD4}"/>
              </a:ext>
            </a:extLst>
          </p:cNvPr>
          <p:cNvSpPr>
            <a:spLocks noGrp="1"/>
          </p:cNvSpPr>
          <p:nvPr/>
        </p:nvSpPr>
        <p:spPr>
          <a:xfrm>
            <a:off x="4023360" y="27889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Owners</a:t>
            </a:r>
            <a:endParaRPr sz="1200"/>
          </a:p>
        </p:txBody>
      </p:sp>
      <p:sp>
        <p:nvSpPr>
          <p:cNvPr id="39" name="Shape 37">
            <a:extLst>
              <a:ext uri="{FF2B5EF4-FFF2-40B4-BE49-F238E27FC236}">
                <a16:creationId xmlns:a16="http://schemas.microsoft.com/office/drawing/2014/main" id="{51D58777-6FC6-463F-A9BE-4D05BCD316FF}"/>
              </a:ext>
            </a:extLst>
          </p:cNvPr>
          <p:cNvSpPr>
            <a:spLocks noGrp="1"/>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0" name="Text 38">
            <a:extLst>
              <a:ext uri="{FF2B5EF4-FFF2-40B4-BE49-F238E27FC236}">
                <a16:creationId xmlns:a16="http://schemas.microsoft.com/office/drawing/2014/main" id="{7170275C-0104-4732-B981-24E21E02C57A}"/>
              </a:ext>
            </a:extLst>
          </p:cNvPr>
          <p:cNvSpPr>
            <a:spLocks noGrp="1"/>
          </p:cNvSpPr>
          <p:nvPr/>
        </p:nvSpPr>
        <p:spPr>
          <a:xfrm>
            <a:off x="6187288" y="27889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Alerts</a:t>
            </a:r>
            <a:endParaRPr sz="1200"/>
          </a:p>
        </p:txBody>
      </p:sp>
      <p:sp>
        <p:nvSpPr>
          <p:cNvPr id="41" name="Shape 39">
            <a:extLst>
              <a:ext uri="{FF2B5EF4-FFF2-40B4-BE49-F238E27FC236}">
                <a16:creationId xmlns:a16="http://schemas.microsoft.com/office/drawing/2014/main" id="{83057F16-5FDA-4572-BB97-C7BF3C6488BA}"/>
              </a:ext>
            </a:extLst>
          </p:cNvPr>
          <p:cNvSpPr>
            <a:spLocks noGrp="1"/>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2" name="Text 40">
            <a:extLst>
              <a:ext uri="{FF2B5EF4-FFF2-40B4-BE49-F238E27FC236}">
                <a16:creationId xmlns:a16="http://schemas.microsoft.com/office/drawing/2014/main" id="{E0BC57D9-5608-434E-B148-03D9E59AD200}"/>
              </a:ext>
            </a:extLst>
          </p:cNvPr>
          <p:cNvSpPr>
            <a:spLocks noGrp="1"/>
          </p:cNvSpPr>
          <p:nvPr/>
        </p:nvSpPr>
        <p:spPr>
          <a:xfrm>
            <a:off x="4023360" y="32461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Rate limits</a:t>
            </a:r>
            <a:endParaRPr sz="1200"/>
          </a:p>
        </p:txBody>
      </p:sp>
      <p:sp>
        <p:nvSpPr>
          <p:cNvPr id="43" name="Shape 41">
            <a:extLst>
              <a:ext uri="{FF2B5EF4-FFF2-40B4-BE49-F238E27FC236}">
                <a16:creationId xmlns:a16="http://schemas.microsoft.com/office/drawing/2014/main" id="{BE977C55-8504-48DB-A336-B954A3B4B555}"/>
              </a:ext>
            </a:extLst>
          </p:cNvPr>
          <p:cNvSpPr>
            <a:spLocks noGrp="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4" name="Text 42">
            <a:extLst>
              <a:ext uri="{FF2B5EF4-FFF2-40B4-BE49-F238E27FC236}">
                <a16:creationId xmlns:a16="http://schemas.microsoft.com/office/drawing/2014/main" id="{557E33BE-542D-45BC-B948-658C2548886C}"/>
              </a:ext>
            </a:extLst>
          </p:cNvPr>
          <p:cNvSpPr>
            <a:spLocks noGrp="1"/>
          </p:cNvSpPr>
          <p:nvPr/>
        </p:nvSpPr>
        <p:spPr>
          <a:xfrm>
            <a:off x="6187288" y="32461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Token quotas</a:t>
            </a:r>
            <a:endParaRPr sz="1200"/>
          </a:p>
        </p:txBody>
      </p:sp>
      <p:sp>
        <p:nvSpPr>
          <p:cNvPr id="45" name="Shape 43">
            <a:extLst>
              <a:ext uri="{FF2B5EF4-FFF2-40B4-BE49-F238E27FC236}">
                <a16:creationId xmlns:a16="http://schemas.microsoft.com/office/drawing/2014/main" id="{72D4C8FF-F771-423E-ADD8-97A212AB759F}"/>
              </a:ext>
            </a:extLst>
          </p:cNvPr>
          <p:cNvSpPr>
            <a:spLocks noGrp="1"/>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6" name="Text 44">
            <a:extLst>
              <a:ext uri="{FF2B5EF4-FFF2-40B4-BE49-F238E27FC236}">
                <a16:creationId xmlns:a16="http://schemas.microsoft.com/office/drawing/2014/main" id="{D4A29C58-24FC-43DA-A0CB-CB3298DD4EFC}"/>
              </a:ext>
            </a:extLst>
          </p:cNvPr>
          <p:cNvSpPr>
            <a:spLocks noGrp="1"/>
          </p:cNvSpPr>
          <p:nvPr/>
        </p:nvSpPr>
        <p:spPr>
          <a:xfrm>
            <a:off x="4023360" y="37033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Chargeback</a:t>
            </a:r>
            <a:endParaRPr sz="1200"/>
          </a:p>
        </p:txBody>
      </p:sp>
      <p:sp>
        <p:nvSpPr>
          <p:cNvPr id="47" name="Shape 45">
            <a:extLst>
              <a:ext uri="{FF2B5EF4-FFF2-40B4-BE49-F238E27FC236}">
                <a16:creationId xmlns:a16="http://schemas.microsoft.com/office/drawing/2014/main" id="{982F30EA-0F6A-4482-9801-7C547751FB1D}"/>
              </a:ext>
            </a:extLst>
          </p:cNvPr>
          <p:cNvSpPr>
            <a:spLocks noGrp="1"/>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txBody>
          <a:bodyPr/>
          <a:lstStyle/>
          <a:p>
            <a:endParaRPr/>
          </a:p>
        </p:txBody>
      </p:sp>
      <p:sp>
        <p:nvSpPr>
          <p:cNvPr id="48" name="Text 46">
            <a:extLst>
              <a:ext uri="{FF2B5EF4-FFF2-40B4-BE49-F238E27FC236}">
                <a16:creationId xmlns:a16="http://schemas.microsoft.com/office/drawing/2014/main" id="{8376044C-3A51-477D-A7EE-B788035FF59A}"/>
              </a:ext>
            </a:extLst>
          </p:cNvPr>
          <p:cNvSpPr>
            <a:spLocks noGrp="1"/>
          </p:cNvSpPr>
          <p:nvPr/>
        </p:nvSpPr>
        <p:spPr>
          <a:xfrm>
            <a:off x="6187288" y="3703320"/>
            <a:ext cx="1981048" cy="365760"/>
          </a:xfrm>
          <a:prstGeom prst="rect">
            <a:avLst/>
          </a:prstGeom>
          <a:noFill/>
        </p:spPr>
        <p:txBody>
          <a:bodyPr wrap="square" lIns="0" tIns="0" rIns="0" bIns="0" anchor="ctr"/>
          <a:lstStyle/>
          <a:p>
            <a:pPr marL="0" indent="0" algn="ctr">
              <a:buNone/>
            </a:pPr>
            <a:r>
              <a:rPr sz="1200">
                <a:solidFill>
                  <a:srgbClr val="F4F7FB"/>
                </a:solidFill>
                <a:latin typeface="Calibri"/>
                <a:ea typeface="Calibri"/>
                <a:cs typeface="Calibri"/>
              </a:rPr>
              <a:t>Executive dashboard</a:t>
            </a:r>
            <a:endParaRPr sz="1200"/>
          </a:p>
        </p:txBody>
      </p:sp>
      <p:sp>
        <p:nvSpPr>
          <p:cNvPr id="49" name="Text 47">
            <a:extLst>
              <a:ext uri="{FF2B5EF4-FFF2-40B4-BE49-F238E27FC236}">
                <a16:creationId xmlns:a16="http://schemas.microsoft.com/office/drawing/2014/main" id="{E3EB580A-7241-48C2-A6E2-995592047101}"/>
              </a:ext>
            </a:extLst>
          </p:cNvPr>
          <p:cNvSpPr>
            <a:spLocks noGrp="1"/>
          </p:cNvSpPr>
          <p:nvPr/>
        </p:nvSpPr>
        <p:spPr>
          <a:xfrm>
            <a:off x="4023360" y="4078224"/>
            <a:ext cx="4144975" cy="457200"/>
          </a:xfrm>
          <a:prstGeom prst="rect">
            <a:avLst/>
          </a:prstGeom>
          <a:noFill/>
        </p:spPr>
        <p:txBody>
          <a:bodyPr wrap="square" lIns="0" tIns="0" rIns="0" bIns="0" anchor="ctr"/>
          <a:lstStyle/>
          <a:p>
            <a:pPr marL="0" indent="0" algn="ctr">
              <a:lnSpc>
                <a:spcPct val="110000"/>
              </a:lnSpc>
              <a:buNone/>
            </a:pPr>
            <a:r>
              <a:rPr sz="1150">
                <a:solidFill>
                  <a:srgbClr val="91A0B7"/>
                </a:solidFill>
                <a:latin typeface="Calibri"/>
                <a:ea typeface="Calibri"/>
                <a:cs typeface="Calibri"/>
              </a:rPr>
              <a:t>Unauthorised or over-budget requests are filtered out. Governed, cost-allocated requests pass through.</a:t>
            </a:r>
            <a:endParaRPr sz="1150"/>
          </a:p>
        </p:txBody>
      </p:sp>
      <p:sp>
        <p:nvSpPr>
          <p:cNvPr id="51" name="Shape 26">
            <a:extLst>
              <a:ext uri="{FF2B5EF4-FFF2-40B4-BE49-F238E27FC236}">
                <a16:creationId xmlns:a16="http://schemas.microsoft.com/office/drawing/2014/main" id="{ECFA40AD-96FD-61F0-5BE6-9E33ACBB4782}"/>
              </a:ext>
            </a:extLst>
          </p:cNvPr>
          <p:cNvSpPr>
            <a:spLocks noGrp="1"/>
          </p:cNvSpPr>
          <p:nvPr/>
        </p:nvSpPr>
        <p:spPr>
          <a:xfrm>
            <a:off x="8671255" y="4754880"/>
            <a:ext cx="3215640" cy="402336"/>
          </a:xfrm>
          <a:prstGeom prst="roundRect">
            <a:avLst>
              <a:gd name="adj" fmla="val 10000"/>
            </a:avLst>
          </a:prstGeom>
          <a:solidFill>
            <a:srgbClr val="121B2D"/>
          </a:solidFill>
          <a:ln w="12700">
            <a:solidFill>
              <a:srgbClr val="23304A"/>
            </a:solidFill>
            <a:prstDash val="solid"/>
          </a:ln>
        </p:spPr>
        <p:txBody>
          <a:bodyPr/>
          <a:lstStyle/>
          <a:p>
            <a:r>
              <a:rPr sz="1300">
                <a:solidFill>
                  <a:srgbClr val="F4F7FB"/>
                </a:solidFill>
                <a:latin typeface="Calibri"/>
                <a:ea typeface="Calibri"/>
                <a:cs typeface="Calibri"/>
              </a:rPr>
              <a:t>   Databrikes</a:t>
            </a:r>
          </a:p>
        </p:txBody>
      </p:sp>
    </p:spTree>
    <p:extLst>
      <p:ext uri="{BB962C8B-B14F-4D97-AF65-F5344CB8AC3E}">
        <p14:creationId xmlns:p14="http://schemas.microsoft.com/office/powerpoint/2010/main" val="20614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D87C746-1D4A-4277-AD61-EDCC6A57C966}"/>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466EEF34-F97E-421B-8DE9-0FBC3F67A69F}"/>
              </a:ext>
            </a:extLst>
          </p:cNvPr>
          <p:cNvSpPr>
            <a:spLocks noGrp="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a:p>
        </p:txBody>
      </p:sp>
      <p:sp>
        <p:nvSpPr>
          <p:cNvPr id="4" name="Text 2">
            <a:extLst>
              <a:ext uri="{FF2B5EF4-FFF2-40B4-BE49-F238E27FC236}">
                <a16:creationId xmlns:a16="http://schemas.microsoft.com/office/drawing/2014/main" id="{EDD57BE4-59C8-470D-A561-A794C6AB77ED}"/>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6B7A"/>
                </a:solidFill>
                <a:latin typeface="Calibri"/>
                <a:ea typeface="Calibri"/>
                <a:cs typeface="Calibri"/>
              </a:rPr>
              <a:t>ENFORCEMENT</a:t>
            </a:r>
            <a:endParaRPr sz="1300"/>
          </a:p>
        </p:txBody>
      </p:sp>
      <p:sp>
        <p:nvSpPr>
          <p:cNvPr id="5" name="Text 3">
            <a:extLst>
              <a:ext uri="{FF2B5EF4-FFF2-40B4-BE49-F238E27FC236}">
                <a16:creationId xmlns:a16="http://schemas.microsoft.com/office/drawing/2014/main" id="{C06BF1E4-7B5E-4AB4-9229-4BFF09D6E183}"/>
              </a:ext>
            </a:extLst>
          </p:cNvPr>
          <p:cNvSpPr>
            <a:spLocks noGrp="1"/>
          </p:cNvSpPr>
          <p:nvPr/>
        </p:nvSpPr>
        <p:spPr>
          <a:xfrm>
            <a:off x="457200" y="548640"/>
            <a:ext cx="7680960" cy="566928"/>
          </a:xfrm>
          <a:prstGeom prst="rect">
            <a:avLst/>
          </a:prstGeom>
          <a:noFill/>
        </p:spPr>
        <p:txBody>
          <a:bodyPr wrap="none" lIns="0" tIns="0" rIns="0" bIns="0" anchor="ctr">
            <a:noAutofit/>
          </a:bodyPr>
          <a:lstStyle/>
          <a:p>
            <a:pPr marL="0" indent="0" algn="l">
              <a:buNone/>
              <a:defRPr sz="3000" b="1">
                <a:solidFill>
                  <a:srgbClr val="F4F7FB"/>
                </a:solidFill>
                <a:latin typeface="Calibri"/>
                <a:ea typeface="Calibri"/>
                <a:cs typeface="Calibri"/>
              </a:defRPr>
            </a:pPr>
            <a:r>
              <a:rPr sz="3000" b="1">
                <a:solidFill>
                  <a:srgbClr val="F4F7FB"/>
                </a:solidFill>
                <a:latin typeface="Calibri"/>
                <a:ea typeface="Calibri"/>
                <a:cs typeface="Calibri"/>
              </a:rPr>
              <a:t>Azure Budget will not stop the spend</a:t>
            </a:r>
            <a:endParaRPr sz="2333"/>
          </a:p>
        </p:txBody>
      </p:sp>
      <p:sp>
        <p:nvSpPr>
          <p:cNvPr id="6" name="Text 4">
            <a:extLst>
              <a:ext uri="{FF2B5EF4-FFF2-40B4-BE49-F238E27FC236}">
                <a16:creationId xmlns:a16="http://schemas.microsoft.com/office/drawing/2014/main" id="{EA0C14FF-0B32-42A4-A7C0-0CD3EE8E0A73}"/>
              </a:ext>
            </a:extLst>
          </p:cNvPr>
          <p:cNvSpPr>
            <a:spLocks noGrp="1"/>
          </p:cNvSpPr>
          <p:nvPr/>
        </p:nvSpPr>
        <p:spPr>
          <a:xfrm>
            <a:off x="8321040" y="493776"/>
            <a:ext cx="3413455" cy="658368"/>
          </a:xfrm>
          <a:prstGeom prst="rect">
            <a:avLst/>
          </a:prstGeom>
          <a:noFill/>
        </p:spPr>
        <p:txBody>
          <a:bodyPr wrap="square" lIns="0" tIns="0" rIns="0" bIns="0" anchor="ctr">
            <a:noAutofit/>
          </a:bodyPr>
          <a:lstStyle/>
          <a:p>
            <a:pPr marL="0" indent="0" algn="r">
              <a:lnSpc>
                <a:spcPct val="115000"/>
              </a:lnSpc>
              <a:buNone/>
              <a:defRPr sz="1500" b="1">
                <a:solidFill>
                  <a:srgbClr val="91A0B7"/>
                </a:solidFill>
                <a:latin typeface="Calibri"/>
                <a:ea typeface="Calibri"/>
                <a:cs typeface="Calibri"/>
              </a:defRPr>
            </a:pPr>
            <a:r>
              <a:rPr sz="1500" b="1">
                <a:solidFill>
                  <a:srgbClr val="91A0B7"/>
                </a:solidFill>
                <a:latin typeface="Calibri"/>
                <a:ea typeface="Calibri"/>
                <a:cs typeface="Calibri"/>
              </a:rPr>
              <a:t>Budgets report after the fact. The gateway blocks requests in real time.</a:t>
            </a:r>
            <a:endParaRPr sz="1200"/>
          </a:p>
        </p:txBody>
      </p:sp>
      <p:sp>
        <p:nvSpPr>
          <p:cNvPr id="7" name="Text 5">
            <a:extLst>
              <a:ext uri="{FF2B5EF4-FFF2-40B4-BE49-F238E27FC236}">
                <a16:creationId xmlns:a16="http://schemas.microsoft.com/office/drawing/2014/main" id="{6AF63430-B0BB-4D9D-AF21-50CC49608B99}"/>
              </a:ext>
            </a:extLst>
          </p:cNvPr>
          <p:cNvSpPr>
            <a:spLocks noGrp="1"/>
          </p:cNvSpPr>
          <p:nvPr/>
        </p:nvSpPr>
        <p:spPr>
          <a:xfrm>
            <a:off x="457200" y="5175504"/>
            <a:ext cx="11277314" cy="1325880"/>
          </a:xfrm>
          <a:prstGeom prst="rect">
            <a:avLst/>
          </a:prstGeom>
          <a:noFill/>
        </p:spPr>
        <p:txBody>
          <a:bodyPr wrap="square" lIns="0" tIns="0" rIns="0" bIns="0" anchor="ctr">
            <a:noAutofit/>
          </a:bodyPr>
          <a:lstStyle/>
          <a:p>
            <a:pPr marL="0" indent="0" algn="l">
              <a:lnSpc>
                <a:spcPct val="115000"/>
              </a:lnSpc>
              <a:buNone/>
              <a:defRPr sz="1500" b="0">
                <a:solidFill>
                  <a:srgbClr val="D8E0EB"/>
                </a:solidFill>
                <a:latin typeface="Calibri"/>
                <a:ea typeface="Calibri"/>
                <a:cs typeface="Calibri"/>
              </a:defRPr>
            </a:pPr>
            <a:r>
              <a:rPr sz="1500" b="0">
                <a:solidFill>
                  <a:srgbClr val="D8E0EB"/>
                </a:solidFill>
                <a:latin typeface="Calibri"/>
                <a:ea typeface="Calibri"/>
                <a:cs typeface="Calibri"/>
              </a:rPr>
              <a:t>No API key without an owner, cost centre, approved models, token limits, quotas and a tested break-glass path.</a:t>
            </a:r>
            <a:endParaRPr sz="1200"/>
          </a:p>
          <a:p>
            <a:pPr marL="0" indent="0" algn="l">
              <a:lnSpc>
                <a:spcPct val="115000"/>
              </a:lnSpc>
              <a:buNone/>
              <a:defRPr sz="1500" b="0">
                <a:solidFill>
                  <a:srgbClr val="D8E0EB"/>
                </a:solidFill>
                <a:latin typeface="Calibri"/>
                <a:ea typeface="Calibri"/>
                <a:cs typeface="Calibri"/>
              </a:defRPr>
            </a:pPr>
            <a:r>
              <a:rPr sz="1500" b="0">
                <a:solidFill>
                  <a:srgbClr val="D8E0EB"/>
                </a:solidFill>
                <a:latin typeface="Calibri"/>
                <a:ea typeface="Calibri"/>
                <a:cs typeface="Calibri"/>
              </a:rPr>
              <a:t>Direct model access stays blocked; all traffic goes through the gateway.</a:t>
            </a:r>
            <a:endParaRPr sz="1200"/>
          </a:p>
        </p:txBody>
      </p:sp>
      <p:sp>
        <p:nvSpPr>
          <p:cNvPr id="8" name="Text 6">
            <a:extLst>
              <a:ext uri="{FF2B5EF4-FFF2-40B4-BE49-F238E27FC236}">
                <a16:creationId xmlns:a16="http://schemas.microsoft.com/office/drawing/2014/main" id="{24150E07-F412-4CB1-92A1-1ED7E0596784}"/>
              </a:ext>
            </a:extLst>
          </p:cNvPr>
          <p:cNvSpPr>
            <a:spLocks noGrp="1"/>
          </p:cNvSpPr>
          <p:nvPr/>
        </p:nvSpPr>
        <p:spPr>
          <a:xfrm>
            <a:off x="457200" y="1234440"/>
            <a:ext cx="7863840" cy="237744"/>
          </a:xfrm>
          <a:prstGeom prst="rect">
            <a:avLst/>
          </a:prstGeom>
          <a:noFill/>
        </p:spPr>
        <p:txBody>
          <a:bodyPr wrap="none" lIns="0" tIns="0" rIns="0" bIns="0" anchor="ctr">
            <a:noAutofit/>
          </a:bodyPr>
          <a:lstStyle/>
          <a:p>
            <a:pPr marL="0" indent="0" algn="l">
              <a:buNone/>
              <a:defRPr sz="1800" b="1">
                <a:solidFill>
                  <a:srgbClr val="F4F7FB"/>
                </a:solidFill>
                <a:latin typeface="Calibri"/>
                <a:ea typeface="Calibri"/>
                <a:cs typeface="Calibri"/>
              </a:defRPr>
            </a:pPr>
            <a:r>
              <a:rPr sz="1800" b="1">
                <a:solidFill>
                  <a:srgbClr val="F4F7FB"/>
                </a:solidFill>
                <a:latin typeface="Calibri"/>
                <a:ea typeface="Calibri"/>
                <a:cs typeface="Calibri"/>
              </a:rPr>
              <a:t>The control model</a:t>
            </a:r>
            <a:endParaRPr sz="1500"/>
          </a:p>
        </p:txBody>
      </p:sp>
      <p:sp>
        <p:nvSpPr>
          <p:cNvPr id="9" name="Text 7">
            <a:extLst>
              <a:ext uri="{FF2B5EF4-FFF2-40B4-BE49-F238E27FC236}">
                <a16:creationId xmlns:a16="http://schemas.microsoft.com/office/drawing/2014/main" id="{16EEE007-CF5E-4A76-934A-C5C362BB7364}"/>
              </a:ext>
            </a:extLst>
          </p:cNvPr>
          <p:cNvSpPr>
            <a:spLocks noGrp="1"/>
          </p:cNvSpPr>
          <p:nvPr/>
        </p:nvSpPr>
        <p:spPr>
          <a:xfrm>
            <a:off x="457200" y="1508760"/>
            <a:ext cx="7863840" cy="219456"/>
          </a:xfrm>
          <a:prstGeom prst="rect">
            <a:avLst/>
          </a:prstGeom>
          <a:noFill/>
        </p:spPr>
        <p:txBody>
          <a:bodyPr wrap="none" lIns="0" tIns="0" rIns="0" bIns="0" anchor="ctr">
            <a:noAutofit/>
          </a:bodyPr>
          <a:lstStyle/>
          <a:p>
            <a:pPr marL="0" indent="0" algn="l">
              <a:buNone/>
              <a:defRPr sz="1425" b="0">
                <a:solidFill>
                  <a:srgbClr val="91A0B7"/>
                </a:solidFill>
                <a:latin typeface="Calibri"/>
                <a:ea typeface="Calibri"/>
                <a:cs typeface="Calibri"/>
              </a:defRPr>
            </a:pPr>
            <a:r>
              <a:rPr sz="1425" b="0">
                <a:solidFill>
                  <a:srgbClr val="91A0B7"/>
                </a:solidFill>
                <a:latin typeface="Calibri"/>
                <a:ea typeface="Calibri"/>
                <a:cs typeface="Calibri"/>
              </a:rPr>
              <a:t>Enforced in API Management, per subscription key</a:t>
            </a:r>
            <a:endParaRPr sz="1200"/>
          </a:p>
        </p:txBody>
      </p:sp>
      <p:graphicFrame>
        <p:nvGraphicFramePr>
          <p:cNvPr id="32" name="Table 0"/>
          <p:cNvGraphicFramePr/>
          <p:nvPr/>
        </p:nvGraphicFramePr>
        <p:xfrm>
          <a:off x="457200" y="1764792"/>
          <a:ext cx="7863840" cy="3026664"/>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93192">
                <a:tc>
                  <a:txBody>
                    <a:bodyPr/>
                    <a:lstStyle/>
                    <a:p>
                      <a:pPr marL="0" indent="0" algn="l">
                        <a:buNone/>
                      </a:pPr>
                      <a:r>
                        <a:rPr sz="1500" b="1" spc="80">
                          <a:solidFill>
                            <a:srgbClr val="F4F7FB"/>
                          </a:solidFill>
                          <a:latin typeface="Calibri"/>
                          <a:ea typeface="Calibri"/>
                          <a:cs typeface="Calibri"/>
                        </a:rPr>
                        <a:t>Control layer</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1" spc="80">
                          <a:solidFill>
                            <a:srgbClr val="F4F7FB"/>
                          </a:solidFill>
                          <a:latin typeface="Calibri"/>
                          <a:ea typeface="Calibri"/>
                          <a:cs typeface="Calibri"/>
                        </a:rPr>
                        <a:t>Enforced at</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1" spc="80">
                          <a:solidFill>
                            <a:srgbClr val="F4F7FB"/>
                          </a:solidFill>
                          <a:latin typeface="Calibri"/>
                          <a:ea typeface="Calibri"/>
                          <a:cs typeface="Calibri"/>
                        </a:rPr>
                        <a:t>What it prevents</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438912">
                <a:tc>
                  <a:txBody>
                    <a:bodyPr/>
                    <a:lstStyle/>
                    <a:p>
                      <a:pPr marL="0" indent="0" algn="l">
                        <a:buNone/>
                      </a:pPr>
                      <a:r>
                        <a:rPr sz="1500" b="1">
                          <a:solidFill>
                            <a:srgbClr val="F4F7FB"/>
                          </a:solidFill>
                          <a:latin typeface="Calibri"/>
                          <a:ea typeface="Calibri"/>
                          <a:cs typeface="Calibri"/>
                        </a:rPr>
                        <a:t>TPM / RPM</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500" b="0">
                          <a:solidFill>
                            <a:srgbClr val="D8E0EB"/>
                          </a:solidFill>
                          <a:latin typeface="Calibri"/>
                          <a:ea typeface="Calibri"/>
                          <a:cs typeface="Calibri"/>
                        </a:rPr>
                        <a:t>User / application</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500" b="0">
                          <a:solidFill>
                            <a:srgbClr val="D8E0EB"/>
                          </a:solidFill>
                          <a:latin typeface="Calibri"/>
                          <a:ea typeface="Calibri"/>
                          <a:cs typeface="Calibri"/>
                        </a:rPr>
                        <a:t>Minute-scale bursts</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438912">
                <a:tc>
                  <a:txBody>
                    <a:bodyPr/>
                    <a:lstStyle/>
                    <a:p>
                      <a:pPr marL="0" indent="0" algn="l">
                        <a:buNone/>
                      </a:pPr>
                      <a:r>
                        <a:rPr sz="1500" b="1">
                          <a:solidFill>
                            <a:srgbClr val="F4F7FB"/>
                          </a:solidFill>
                          <a:latin typeface="Calibri"/>
                          <a:ea typeface="Calibri"/>
                          <a:cs typeface="Calibri"/>
                        </a:rPr>
                        <a:t>Daily token quota</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0">
                          <a:solidFill>
                            <a:srgbClr val="D8E0EB"/>
                          </a:solidFill>
                          <a:latin typeface="Calibri"/>
                          <a:ea typeface="Calibri"/>
                          <a:cs typeface="Calibri"/>
                        </a:rPr>
                        <a:t>Application</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0">
                          <a:solidFill>
                            <a:srgbClr val="D8E0EB"/>
                          </a:solidFill>
                          <a:latin typeface="Calibri"/>
                          <a:ea typeface="Calibri"/>
                          <a:cs typeface="Calibri"/>
                        </a:rPr>
                        <a:t>Runaway jobs</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438912">
                <a:tc>
                  <a:txBody>
                    <a:bodyPr/>
                    <a:lstStyle/>
                    <a:p>
                      <a:pPr marL="0" indent="0" algn="l">
                        <a:buNone/>
                      </a:pPr>
                      <a:r>
                        <a:rPr sz="1500" b="1">
                          <a:solidFill>
                            <a:srgbClr val="F4F7FB"/>
                          </a:solidFill>
                          <a:latin typeface="Calibri"/>
                          <a:ea typeface="Calibri"/>
                          <a:cs typeface="Calibri"/>
                        </a:rPr>
                        <a:t>Monthly token quota</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500" b="0">
                          <a:solidFill>
                            <a:srgbClr val="D8E0EB"/>
                          </a:solidFill>
                          <a:latin typeface="Calibri"/>
                          <a:ea typeface="Calibri"/>
                          <a:cs typeface="Calibri"/>
                        </a:rPr>
                        <a:t>App / cost centre</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500" b="0">
                          <a:solidFill>
                            <a:srgbClr val="D8E0EB"/>
                          </a:solidFill>
                          <a:latin typeface="Calibri"/>
                          <a:ea typeface="Calibri"/>
                          <a:cs typeface="Calibri"/>
                        </a:rPr>
                        <a:t>Approved-budget overrun</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438912">
                <a:tc>
                  <a:txBody>
                    <a:bodyPr/>
                    <a:lstStyle/>
                    <a:p>
                      <a:pPr marL="0" indent="0" algn="l">
                        <a:buNone/>
                      </a:pPr>
                      <a:r>
                        <a:rPr sz="1500" b="1">
                          <a:solidFill>
                            <a:srgbClr val="F4F7FB"/>
                          </a:solidFill>
                          <a:latin typeface="Calibri"/>
                          <a:ea typeface="Calibri"/>
                          <a:cs typeface="Calibri"/>
                        </a:rPr>
                        <a:t>Model allowlist</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0">
                          <a:solidFill>
                            <a:srgbClr val="D8E0EB"/>
                          </a:solidFill>
                          <a:latin typeface="Calibri"/>
                          <a:ea typeface="Calibri"/>
                          <a:cs typeface="Calibri"/>
                        </a:rPr>
                        <a:t>Application</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0">
                          <a:solidFill>
                            <a:srgbClr val="D8E0EB"/>
                          </a:solidFill>
                          <a:latin typeface="Calibri"/>
                          <a:ea typeface="Calibri"/>
                          <a:cs typeface="Calibri"/>
                        </a:rPr>
                        <a:t>Expensive model switching</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r h="438912">
                <a:tc>
                  <a:txBody>
                    <a:bodyPr/>
                    <a:lstStyle/>
                    <a:p>
                      <a:pPr marL="0" indent="0" algn="l">
                        <a:buNone/>
                      </a:pPr>
                      <a:r>
                        <a:rPr sz="1500" b="1">
                          <a:solidFill>
                            <a:srgbClr val="F4F7FB"/>
                          </a:solidFill>
                          <a:latin typeface="Calibri"/>
                          <a:ea typeface="Calibri"/>
                          <a:cs typeface="Calibri"/>
                        </a:rPr>
                        <a:t>Max output tokens</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500" b="0">
                          <a:solidFill>
                            <a:srgbClr val="D8E0EB"/>
                          </a:solidFill>
                          <a:latin typeface="Calibri"/>
                          <a:ea typeface="Calibri"/>
                          <a:cs typeface="Calibri"/>
                        </a:rPr>
                        <a:t>Every request</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500" b="0">
                          <a:solidFill>
                            <a:srgbClr val="D8E0EB"/>
                          </a:solidFill>
                          <a:latin typeface="Calibri"/>
                          <a:ea typeface="Calibri"/>
                          <a:cs typeface="Calibri"/>
                        </a:rPr>
                        <a:t>Runaway answers / loops</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5"/>
                  </a:ext>
                </a:extLst>
              </a:tr>
              <a:tr h="438912">
                <a:tc>
                  <a:txBody>
                    <a:bodyPr/>
                    <a:lstStyle/>
                    <a:p>
                      <a:pPr marL="0" indent="0" algn="l">
                        <a:buNone/>
                      </a:pPr>
                      <a:r>
                        <a:rPr sz="1500" b="1">
                          <a:solidFill>
                            <a:srgbClr val="F4F7FB"/>
                          </a:solidFill>
                          <a:latin typeface="Calibri"/>
                          <a:ea typeface="Calibri"/>
                          <a:cs typeface="Calibri"/>
                        </a:rPr>
                        <a:t>Global model ceiling</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0">
                          <a:solidFill>
                            <a:srgbClr val="D8E0EB"/>
                          </a:solidFill>
                          <a:latin typeface="Calibri"/>
                          <a:ea typeface="Calibri"/>
                          <a:cs typeface="Calibri"/>
                        </a:rPr>
                        <a:t>Model / backend</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500" b="0">
                          <a:solidFill>
                            <a:srgbClr val="D8E0EB"/>
                          </a:solidFill>
                          <a:latin typeface="Calibri"/>
                          <a:ea typeface="Calibri"/>
                          <a:cs typeface="Calibri"/>
                        </a:rPr>
                        <a:t>Organisation-wide blast radius</a:t>
                      </a:r>
                      <a:endParaRPr sz="1200">
                        <a:latin typeface="Calibri"/>
                        <a:ea typeface="Calibri"/>
                        <a:cs typeface="Calibri"/>
                      </a:endParaRPr>
                    </a:p>
                  </a:txBody>
                  <a:tcPr marL="95250" marR="95250" marT="38100" marB="381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6"/>
                  </a:ext>
                </a:extLst>
              </a:tr>
            </a:tbl>
          </a:graphicData>
        </a:graphic>
      </p:graphicFrame>
      <p:sp>
        <p:nvSpPr>
          <p:cNvPr id="11" name="Shape 8">
            <a:extLst>
              <a:ext uri="{FF2B5EF4-FFF2-40B4-BE49-F238E27FC236}">
                <a16:creationId xmlns:a16="http://schemas.microsoft.com/office/drawing/2014/main" id="{0DC78992-4008-4A88-B89F-ED42A1F28C91}"/>
              </a:ext>
            </a:extLst>
          </p:cNvPr>
          <p:cNvSpPr>
            <a:spLocks noGrp="1"/>
          </p:cNvSpPr>
          <p:nvPr/>
        </p:nvSpPr>
        <p:spPr>
          <a:xfrm>
            <a:off x="8686800" y="1234440"/>
            <a:ext cx="304769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2" name="Text 9">
            <a:extLst>
              <a:ext uri="{FF2B5EF4-FFF2-40B4-BE49-F238E27FC236}">
                <a16:creationId xmlns:a16="http://schemas.microsoft.com/office/drawing/2014/main" id="{584EE6FB-FE2F-4193-A4DD-DADFA0EA7DBC}"/>
              </a:ext>
            </a:extLst>
          </p:cNvPr>
          <p:cNvSpPr>
            <a:spLocks noGrp="1"/>
          </p:cNvSpPr>
          <p:nvPr/>
        </p:nvSpPr>
        <p:spPr>
          <a:xfrm>
            <a:off x="8887968" y="1325880"/>
            <a:ext cx="2645359" cy="237744"/>
          </a:xfrm>
          <a:prstGeom prst="rect">
            <a:avLst/>
          </a:prstGeom>
          <a:noFill/>
        </p:spPr>
        <p:txBody>
          <a:bodyPr wrap="none" lIns="0" tIns="0" rIns="0" bIns="0" anchor="ctr">
            <a:noAutofit/>
          </a:bodyPr>
          <a:lstStyle/>
          <a:p>
            <a:pPr marL="0" indent="0" algn="l">
              <a:buNone/>
              <a:defRPr sz="1350" b="1">
                <a:solidFill>
                  <a:srgbClr val="91A0B7"/>
                </a:solidFill>
                <a:latin typeface="Calibri"/>
                <a:ea typeface="Calibri"/>
                <a:cs typeface="Calibri"/>
              </a:defRPr>
            </a:pPr>
            <a:r>
              <a:rPr sz="1350" b="1" spc="120">
                <a:solidFill>
                  <a:srgbClr val="91A0B7"/>
                </a:solidFill>
                <a:latin typeface="Calibri"/>
                <a:ea typeface="Calibri"/>
                <a:cs typeface="Calibri"/>
              </a:rPr>
              <a:t>AZURE BUDGET LATENCY</a:t>
            </a:r>
            <a:endParaRPr sz="1200"/>
          </a:p>
        </p:txBody>
      </p:sp>
      <p:sp>
        <p:nvSpPr>
          <p:cNvPr id="13" name="Text 10">
            <a:extLst>
              <a:ext uri="{FF2B5EF4-FFF2-40B4-BE49-F238E27FC236}">
                <a16:creationId xmlns:a16="http://schemas.microsoft.com/office/drawing/2014/main" id="{F55B519D-CB11-4569-8D16-AE086FA3245D}"/>
              </a:ext>
            </a:extLst>
          </p:cNvPr>
          <p:cNvSpPr>
            <a:spLocks noGrp="1"/>
          </p:cNvSpPr>
          <p:nvPr/>
        </p:nvSpPr>
        <p:spPr>
          <a:xfrm>
            <a:off x="8887968" y="1527048"/>
            <a:ext cx="2645359" cy="438912"/>
          </a:xfrm>
          <a:prstGeom prst="rect">
            <a:avLst/>
          </a:prstGeom>
          <a:noFill/>
        </p:spPr>
        <p:txBody>
          <a:bodyPr wrap="none" lIns="0" tIns="0" rIns="0" bIns="0" anchor="ctr">
            <a:noAutofit/>
          </a:bodyPr>
          <a:lstStyle/>
          <a:p>
            <a:pPr marL="0" indent="0" algn="l">
              <a:buNone/>
              <a:defRPr sz="3150" b="1">
                <a:solidFill>
                  <a:srgbClr val="F4F7FB"/>
                </a:solidFill>
                <a:latin typeface="Calibri"/>
                <a:ea typeface="Calibri"/>
                <a:cs typeface="Calibri"/>
              </a:defRPr>
            </a:pPr>
            <a:r>
              <a:rPr sz="3150" b="1">
                <a:solidFill>
                  <a:srgbClr val="F4F7FB"/>
                </a:solidFill>
                <a:latin typeface="Calibri"/>
                <a:ea typeface="Calibri"/>
                <a:cs typeface="Calibri"/>
              </a:rPr>
              <a:t>8–24 h</a:t>
            </a:r>
            <a:endParaRPr sz="2800"/>
          </a:p>
        </p:txBody>
      </p:sp>
      <p:sp>
        <p:nvSpPr>
          <p:cNvPr id="14" name="Text 11">
            <a:extLst>
              <a:ext uri="{FF2B5EF4-FFF2-40B4-BE49-F238E27FC236}">
                <a16:creationId xmlns:a16="http://schemas.microsoft.com/office/drawing/2014/main" id="{90AFEEA1-4860-458A-9FFF-EDA98405759A}"/>
              </a:ext>
            </a:extLst>
          </p:cNvPr>
          <p:cNvSpPr>
            <a:spLocks noGrp="1"/>
          </p:cNvSpPr>
          <p:nvPr/>
        </p:nvSpPr>
        <p:spPr>
          <a:xfrm>
            <a:off x="8887968" y="1929384"/>
            <a:ext cx="2645359" cy="329184"/>
          </a:xfrm>
          <a:prstGeom prst="rect">
            <a:avLst/>
          </a:prstGeom>
          <a:noFill/>
        </p:spPr>
        <p:txBody>
          <a:bodyPr wrap="none" lIns="0" tIns="0" rIns="0" bIns="0" anchor="t">
            <a:noAutofit/>
          </a:bodyPr>
          <a:lstStyle/>
          <a:p>
            <a:pPr marL="0" indent="0" algn="l">
              <a:lnSpc>
                <a:spcPct val="105000"/>
              </a:lnSpc>
              <a:buNone/>
              <a:defRPr sz="1350" b="1">
                <a:solidFill>
                  <a:srgbClr val="B07CFF"/>
                </a:solidFill>
                <a:latin typeface="Calibri"/>
                <a:ea typeface="Calibri"/>
                <a:cs typeface="Calibri"/>
              </a:defRPr>
            </a:pPr>
            <a:r>
              <a:rPr sz="1350" b="1">
                <a:solidFill>
                  <a:srgbClr val="B07CFF"/>
                </a:solidFill>
                <a:latin typeface="Calibri"/>
                <a:ea typeface="Calibri"/>
                <a:cs typeface="Calibri"/>
              </a:rPr>
              <a:t>reporting, not enforcement</a:t>
            </a:r>
            <a:endParaRPr sz="1200"/>
          </a:p>
        </p:txBody>
      </p:sp>
      <p:sp>
        <p:nvSpPr>
          <p:cNvPr id="15" name="Shape 12">
            <a:extLst>
              <a:ext uri="{FF2B5EF4-FFF2-40B4-BE49-F238E27FC236}">
                <a16:creationId xmlns:a16="http://schemas.microsoft.com/office/drawing/2014/main" id="{F1AB3776-1E39-47B6-BB56-303AD075D7A3}"/>
              </a:ext>
            </a:extLst>
          </p:cNvPr>
          <p:cNvSpPr>
            <a:spLocks noGrp="1"/>
          </p:cNvSpPr>
          <p:nvPr/>
        </p:nvSpPr>
        <p:spPr>
          <a:xfrm>
            <a:off x="8686800" y="2459736"/>
            <a:ext cx="304769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6" name="Text 13">
            <a:extLst>
              <a:ext uri="{FF2B5EF4-FFF2-40B4-BE49-F238E27FC236}">
                <a16:creationId xmlns:a16="http://schemas.microsoft.com/office/drawing/2014/main" id="{3E1D261D-6778-48C7-9CB4-9F8628452947}"/>
              </a:ext>
            </a:extLst>
          </p:cNvPr>
          <p:cNvSpPr>
            <a:spLocks noGrp="1"/>
          </p:cNvSpPr>
          <p:nvPr/>
        </p:nvSpPr>
        <p:spPr>
          <a:xfrm>
            <a:off x="8887968" y="2551176"/>
            <a:ext cx="2645359" cy="237744"/>
          </a:xfrm>
          <a:prstGeom prst="rect">
            <a:avLst/>
          </a:prstGeom>
          <a:noFill/>
        </p:spPr>
        <p:txBody>
          <a:bodyPr wrap="none" lIns="0" tIns="0" rIns="0" bIns="0" anchor="ctr">
            <a:noAutofit/>
          </a:bodyPr>
          <a:lstStyle/>
          <a:p>
            <a:pPr marL="0" indent="0" algn="l">
              <a:buNone/>
              <a:defRPr sz="1350" b="1">
                <a:solidFill>
                  <a:srgbClr val="91A0B7"/>
                </a:solidFill>
                <a:latin typeface="Calibri"/>
                <a:ea typeface="Calibri"/>
                <a:cs typeface="Calibri"/>
              </a:defRPr>
            </a:pPr>
            <a:r>
              <a:rPr sz="1350" b="1" spc="120">
                <a:solidFill>
                  <a:srgbClr val="91A0B7"/>
                </a:solidFill>
                <a:latin typeface="Calibri"/>
                <a:ea typeface="Calibri"/>
                <a:cs typeface="Calibri"/>
              </a:rPr>
              <a:t>APIM ENFORCEMENT</a:t>
            </a:r>
            <a:endParaRPr sz="1200"/>
          </a:p>
        </p:txBody>
      </p:sp>
      <p:sp>
        <p:nvSpPr>
          <p:cNvPr id="17" name="Text 14">
            <a:extLst>
              <a:ext uri="{FF2B5EF4-FFF2-40B4-BE49-F238E27FC236}">
                <a16:creationId xmlns:a16="http://schemas.microsoft.com/office/drawing/2014/main" id="{C717E80D-EAE2-459A-BA5E-46EAC0DDD8A7}"/>
              </a:ext>
            </a:extLst>
          </p:cNvPr>
          <p:cNvSpPr>
            <a:spLocks noGrp="1"/>
          </p:cNvSpPr>
          <p:nvPr/>
        </p:nvSpPr>
        <p:spPr>
          <a:xfrm>
            <a:off x="8887968" y="2752344"/>
            <a:ext cx="2645359" cy="438912"/>
          </a:xfrm>
          <a:prstGeom prst="rect">
            <a:avLst/>
          </a:prstGeom>
          <a:noFill/>
        </p:spPr>
        <p:txBody>
          <a:bodyPr wrap="none" lIns="0" tIns="0" rIns="0" bIns="0" anchor="ctr">
            <a:noAutofit/>
          </a:bodyPr>
          <a:lstStyle/>
          <a:p>
            <a:pPr marL="0" indent="0" algn="l">
              <a:buNone/>
              <a:defRPr sz="3150" b="1">
                <a:solidFill>
                  <a:srgbClr val="F4F7FB"/>
                </a:solidFill>
                <a:latin typeface="Calibri"/>
                <a:ea typeface="Calibri"/>
                <a:cs typeface="Calibri"/>
              </a:defRPr>
            </a:pPr>
            <a:r>
              <a:rPr sz="3150" b="1">
                <a:solidFill>
                  <a:srgbClr val="F4F7FB"/>
                </a:solidFill>
                <a:latin typeface="Calibri"/>
                <a:ea typeface="Calibri"/>
                <a:cs typeface="Calibri"/>
              </a:rPr>
              <a:t>Per request</a:t>
            </a:r>
            <a:endParaRPr sz="2800"/>
          </a:p>
        </p:txBody>
      </p:sp>
      <p:sp>
        <p:nvSpPr>
          <p:cNvPr id="18" name="Text 15">
            <a:extLst>
              <a:ext uri="{FF2B5EF4-FFF2-40B4-BE49-F238E27FC236}">
                <a16:creationId xmlns:a16="http://schemas.microsoft.com/office/drawing/2014/main" id="{1A04B1D0-10F9-4324-8C46-C357F35FBE64}"/>
              </a:ext>
            </a:extLst>
          </p:cNvPr>
          <p:cNvSpPr>
            <a:spLocks noGrp="1"/>
          </p:cNvSpPr>
          <p:nvPr/>
        </p:nvSpPr>
        <p:spPr>
          <a:xfrm>
            <a:off x="8887968" y="3154680"/>
            <a:ext cx="2645359" cy="329184"/>
          </a:xfrm>
          <a:prstGeom prst="rect">
            <a:avLst/>
          </a:prstGeom>
          <a:noFill/>
        </p:spPr>
        <p:txBody>
          <a:bodyPr wrap="none" lIns="0" tIns="0" rIns="0" bIns="0" anchor="t">
            <a:noAutofit/>
          </a:bodyPr>
          <a:lstStyle/>
          <a:p>
            <a:pPr marL="0" indent="0" algn="l">
              <a:lnSpc>
                <a:spcPct val="105000"/>
              </a:lnSpc>
              <a:buNone/>
              <a:defRPr sz="1350" b="1">
                <a:solidFill>
                  <a:srgbClr val="3DD9EB"/>
                </a:solidFill>
                <a:latin typeface="Calibri"/>
                <a:ea typeface="Calibri"/>
                <a:cs typeface="Calibri"/>
              </a:defRPr>
            </a:pPr>
            <a:r>
              <a:rPr sz="1350" b="1">
                <a:solidFill>
                  <a:srgbClr val="3DD9EB"/>
                </a:solidFill>
                <a:latin typeface="Calibri"/>
                <a:ea typeface="Calibri"/>
                <a:cs typeface="Calibri"/>
              </a:rPr>
              <a:t>429 on TPM · 403 on quota</a:t>
            </a:r>
            <a:endParaRPr sz="1200"/>
          </a:p>
        </p:txBody>
      </p:sp>
      <p:sp>
        <p:nvSpPr>
          <p:cNvPr id="19" name="Shape 16">
            <a:extLst>
              <a:ext uri="{FF2B5EF4-FFF2-40B4-BE49-F238E27FC236}">
                <a16:creationId xmlns:a16="http://schemas.microsoft.com/office/drawing/2014/main" id="{5AFBB0B8-AD0B-45F8-BF8B-6ED1AFE97198}"/>
              </a:ext>
            </a:extLst>
          </p:cNvPr>
          <p:cNvSpPr>
            <a:spLocks noGrp="1"/>
          </p:cNvSpPr>
          <p:nvPr/>
        </p:nvSpPr>
        <p:spPr>
          <a:xfrm>
            <a:off x="8686800" y="3685032"/>
            <a:ext cx="304769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20" name="Text 17">
            <a:extLst>
              <a:ext uri="{FF2B5EF4-FFF2-40B4-BE49-F238E27FC236}">
                <a16:creationId xmlns:a16="http://schemas.microsoft.com/office/drawing/2014/main" id="{7D189407-B719-40D5-A307-BCD935C71692}"/>
              </a:ext>
            </a:extLst>
          </p:cNvPr>
          <p:cNvSpPr>
            <a:spLocks noGrp="1"/>
          </p:cNvSpPr>
          <p:nvPr/>
        </p:nvSpPr>
        <p:spPr>
          <a:xfrm>
            <a:off x="8887968" y="3776472"/>
            <a:ext cx="2645359" cy="237744"/>
          </a:xfrm>
          <a:prstGeom prst="rect">
            <a:avLst/>
          </a:prstGeom>
          <a:noFill/>
        </p:spPr>
        <p:txBody>
          <a:bodyPr wrap="none" lIns="0" tIns="0" rIns="0" bIns="0" anchor="ctr">
            <a:noAutofit/>
          </a:bodyPr>
          <a:lstStyle/>
          <a:p>
            <a:pPr marL="0" indent="0" algn="l">
              <a:buNone/>
              <a:defRPr sz="1350" b="1">
                <a:solidFill>
                  <a:srgbClr val="91A0B7"/>
                </a:solidFill>
                <a:latin typeface="Calibri"/>
                <a:ea typeface="Calibri"/>
                <a:cs typeface="Calibri"/>
              </a:defRPr>
            </a:pPr>
            <a:r>
              <a:rPr sz="1350" b="1" spc="120">
                <a:solidFill>
                  <a:srgbClr val="91A0B7"/>
                </a:solidFill>
                <a:latin typeface="Calibri"/>
                <a:ea typeface="Calibri"/>
                <a:cs typeface="Calibri"/>
              </a:rPr>
              <a:t>HARD QUOTA STARTING POINT</a:t>
            </a:r>
            <a:endParaRPr sz="1200"/>
          </a:p>
        </p:txBody>
      </p:sp>
      <p:sp>
        <p:nvSpPr>
          <p:cNvPr id="21" name="Text 18">
            <a:extLst>
              <a:ext uri="{FF2B5EF4-FFF2-40B4-BE49-F238E27FC236}">
                <a16:creationId xmlns:a16="http://schemas.microsoft.com/office/drawing/2014/main" id="{F573EE80-4B8F-4794-B00F-B850398DFD2D}"/>
              </a:ext>
            </a:extLst>
          </p:cNvPr>
          <p:cNvSpPr>
            <a:spLocks noGrp="1"/>
          </p:cNvSpPr>
          <p:nvPr/>
        </p:nvSpPr>
        <p:spPr>
          <a:xfrm>
            <a:off x="8887968" y="3977640"/>
            <a:ext cx="2645359" cy="438912"/>
          </a:xfrm>
          <a:prstGeom prst="rect">
            <a:avLst/>
          </a:prstGeom>
          <a:noFill/>
        </p:spPr>
        <p:txBody>
          <a:bodyPr wrap="none" lIns="0" tIns="0" rIns="0" bIns="0" anchor="ctr">
            <a:noAutofit/>
          </a:bodyPr>
          <a:lstStyle/>
          <a:p>
            <a:pPr marL="0" indent="0" algn="l">
              <a:buNone/>
              <a:defRPr sz="3150" b="1">
                <a:solidFill>
                  <a:srgbClr val="F4F7FB"/>
                </a:solidFill>
                <a:latin typeface="Calibri"/>
                <a:ea typeface="Calibri"/>
                <a:cs typeface="Calibri"/>
              </a:defRPr>
            </a:pPr>
            <a:r>
              <a:rPr sz="3150" b="1">
                <a:solidFill>
                  <a:srgbClr val="F4F7FB"/>
                </a:solidFill>
                <a:latin typeface="Calibri"/>
                <a:ea typeface="Calibri"/>
                <a:cs typeface="Calibri"/>
              </a:rPr>
              <a:t>75–85%</a:t>
            </a:r>
            <a:endParaRPr sz="2800"/>
          </a:p>
        </p:txBody>
      </p:sp>
      <p:sp>
        <p:nvSpPr>
          <p:cNvPr id="22" name="Text 19">
            <a:extLst>
              <a:ext uri="{FF2B5EF4-FFF2-40B4-BE49-F238E27FC236}">
                <a16:creationId xmlns:a16="http://schemas.microsoft.com/office/drawing/2014/main" id="{3E2444BD-A61E-4039-8BDF-50D8B4F13843}"/>
              </a:ext>
            </a:extLst>
          </p:cNvPr>
          <p:cNvSpPr>
            <a:spLocks noGrp="1"/>
          </p:cNvSpPr>
          <p:nvPr/>
        </p:nvSpPr>
        <p:spPr>
          <a:xfrm>
            <a:off x="8887968" y="4379976"/>
            <a:ext cx="2645359" cy="329184"/>
          </a:xfrm>
          <a:prstGeom prst="rect">
            <a:avLst/>
          </a:prstGeom>
          <a:noFill/>
        </p:spPr>
        <p:txBody>
          <a:bodyPr wrap="none" lIns="0" tIns="0" rIns="0" bIns="0" anchor="t">
            <a:noAutofit/>
          </a:bodyPr>
          <a:lstStyle/>
          <a:p>
            <a:pPr marL="0" indent="0" algn="l">
              <a:lnSpc>
                <a:spcPct val="105000"/>
              </a:lnSpc>
              <a:buNone/>
              <a:defRPr sz="1350" b="1">
                <a:solidFill>
                  <a:srgbClr val="FF9F43"/>
                </a:solidFill>
                <a:latin typeface="Calibri"/>
                <a:ea typeface="Calibri"/>
                <a:cs typeface="Calibri"/>
              </a:defRPr>
            </a:pPr>
            <a:r>
              <a:rPr sz="1350" b="1">
                <a:solidFill>
                  <a:srgbClr val="FF9F43"/>
                </a:solidFill>
                <a:latin typeface="Calibri"/>
                <a:ea typeface="Calibri"/>
                <a:cs typeface="Calibri"/>
              </a:rPr>
              <a:t>of the approved budget</a:t>
            </a:r>
            <a:endParaRPr sz="1200"/>
          </a:p>
        </p:txBody>
      </p:sp>
    </p:spTree>
    <p:extLst>
      <p:ext uri="{BB962C8B-B14F-4D97-AF65-F5344CB8AC3E}">
        <p14:creationId xmlns:p14="http://schemas.microsoft.com/office/powerpoint/2010/main" val="638208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FBAD654-29CD-4CED-939C-A1A9831275D7}"/>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01BAAE32-C36F-4969-AC93-E141CADB1D1D}"/>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a:p>
        </p:txBody>
      </p:sp>
      <p:sp>
        <p:nvSpPr>
          <p:cNvPr id="4" name="Text 2">
            <a:extLst>
              <a:ext uri="{FF2B5EF4-FFF2-40B4-BE49-F238E27FC236}">
                <a16:creationId xmlns:a16="http://schemas.microsoft.com/office/drawing/2014/main" id="{7634DCBE-7819-4A78-8B28-0B7113AD08E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OWNERSHIP</a:t>
            </a:r>
            <a:endParaRPr sz="1300"/>
          </a:p>
        </p:txBody>
      </p:sp>
      <p:sp>
        <p:nvSpPr>
          <p:cNvPr id="5" name="Text 3">
            <a:extLst>
              <a:ext uri="{FF2B5EF4-FFF2-40B4-BE49-F238E27FC236}">
                <a16:creationId xmlns:a16="http://schemas.microsoft.com/office/drawing/2014/main" id="{7B3BF02F-719F-4DE6-970F-75364D6086AE}"/>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471" b="1">
                <a:solidFill>
                  <a:srgbClr val="F4F7FB"/>
                </a:solidFill>
                <a:latin typeface="Calibri"/>
                <a:ea typeface="Calibri"/>
                <a:cs typeface="Calibri"/>
              </a:rPr>
              <a:t>Nothing reaches production unowned</a:t>
            </a:r>
            <a:endParaRPr sz="2471"/>
          </a:p>
        </p:txBody>
      </p:sp>
      <p:sp>
        <p:nvSpPr>
          <p:cNvPr id="6" name="Text 4">
            <a:extLst>
              <a:ext uri="{FF2B5EF4-FFF2-40B4-BE49-F238E27FC236}">
                <a16:creationId xmlns:a16="http://schemas.microsoft.com/office/drawing/2014/main" id="{C570DEF1-CB9A-4E36-9940-80457F677AE8}"/>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No AI workload goes live without explicit business ownership and financial allocation.</a:t>
            </a:r>
            <a:endParaRPr sz="1200"/>
          </a:p>
        </p:txBody>
      </p:sp>
      <p:sp>
        <p:nvSpPr>
          <p:cNvPr id="7" name="Shape 5">
            <a:extLst>
              <a:ext uri="{FF2B5EF4-FFF2-40B4-BE49-F238E27FC236}">
                <a16:creationId xmlns:a16="http://schemas.microsoft.com/office/drawing/2014/main" id="{3A932924-85C6-4003-AD50-0E02F4E65638}"/>
              </a:ext>
            </a:extLst>
          </p:cNvPr>
          <p:cNvSpPr>
            <a:spLocks noGrp="1"/>
          </p:cNvSpPr>
          <p:nvPr/>
        </p:nvSpPr>
        <p:spPr>
          <a:xfrm>
            <a:off x="457200" y="1536192"/>
            <a:ext cx="329184" cy="329184"/>
          </a:xfrm>
          <a:prstGeom prst="ellipse">
            <a:avLst/>
          </a:prstGeom>
          <a:solidFill>
            <a:srgbClr val="121B2D"/>
          </a:solidFill>
          <a:ln w="12700">
            <a:solidFill>
              <a:srgbClr val="B07CFF"/>
            </a:solidFill>
            <a:prstDash val="solid"/>
          </a:ln>
        </p:spPr>
        <p:txBody>
          <a:bodyPr/>
          <a:lstStyle/>
          <a:p>
            <a:endParaRPr/>
          </a:p>
        </p:txBody>
      </p:sp>
      <p:sp>
        <p:nvSpPr>
          <p:cNvPr id="8" name="Text 6">
            <a:extLst>
              <a:ext uri="{FF2B5EF4-FFF2-40B4-BE49-F238E27FC236}">
                <a16:creationId xmlns:a16="http://schemas.microsoft.com/office/drawing/2014/main" id="{9F9DBF98-B70F-4F03-858E-249E0BDA8C30}"/>
              </a:ext>
            </a:extLst>
          </p:cNvPr>
          <p:cNvSpPr>
            <a:spLocks noGrp="1"/>
          </p:cNvSpPr>
          <p:nvPr/>
        </p:nvSpPr>
        <p:spPr>
          <a:xfrm>
            <a:off x="457200" y="1536192"/>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1</a:t>
            </a:r>
            <a:endParaRPr sz="1300"/>
          </a:p>
        </p:txBody>
      </p:sp>
      <p:sp>
        <p:nvSpPr>
          <p:cNvPr id="9" name="Text 7">
            <a:extLst>
              <a:ext uri="{FF2B5EF4-FFF2-40B4-BE49-F238E27FC236}">
                <a16:creationId xmlns:a16="http://schemas.microsoft.com/office/drawing/2014/main" id="{49BA9E8A-F5C1-4567-9788-69BB5D193467}"/>
              </a:ext>
            </a:extLst>
          </p:cNvPr>
          <p:cNvSpPr>
            <a:spLocks noGrp="1"/>
          </p:cNvSpPr>
          <p:nvPr/>
        </p:nvSpPr>
        <p:spPr>
          <a:xfrm>
            <a:off x="914400" y="1481328"/>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Business owner</a:t>
            </a:r>
            <a:endParaRPr sz="1400"/>
          </a:p>
        </p:txBody>
      </p:sp>
      <p:sp>
        <p:nvSpPr>
          <p:cNvPr id="10" name="Text 8">
            <a:extLst>
              <a:ext uri="{FF2B5EF4-FFF2-40B4-BE49-F238E27FC236}">
                <a16:creationId xmlns:a16="http://schemas.microsoft.com/office/drawing/2014/main" id="{C7345F97-B043-4BFF-8042-B6B138FC0C29}"/>
              </a:ext>
            </a:extLst>
          </p:cNvPr>
          <p:cNvSpPr>
            <a:spLocks noGrp="1"/>
          </p:cNvSpPr>
          <p:nvPr/>
        </p:nvSpPr>
        <p:spPr>
          <a:xfrm>
            <a:off x="914400" y="1737360"/>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Accountability for the use case and its return.</a:t>
            </a:r>
            <a:endParaRPr sz="1200"/>
          </a:p>
        </p:txBody>
      </p:sp>
      <p:sp>
        <p:nvSpPr>
          <p:cNvPr id="11" name="Shape 9">
            <a:extLst>
              <a:ext uri="{FF2B5EF4-FFF2-40B4-BE49-F238E27FC236}">
                <a16:creationId xmlns:a16="http://schemas.microsoft.com/office/drawing/2014/main" id="{9A744C06-C381-4EF4-B7F0-05EB24E2B16D}"/>
              </a:ext>
            </a:extLst>
          </p:cNvPr>
          <p:cNvSpPr>
            <a:spLocks noGrp="1"/>
          </p:cNvSpPr>
          <p:nvPr/>
        </p:nvSpPr>
        <p:spPr>
          <a:xfrm>
            <a:off x="457200" y="2194560"/>
            <a:ext cx="329184" cy="329184"/>
          </a:xfrm>
          <a:prstGeom prst="ellipse">
            <a:avLst/>
          </a:prstGeom>
          <a:solidFill>
            <a:srgbClr val="121B2D"/>
          </a:solidFill>
          <a:ln w="12700">
            <a:solidFill>
              <a:srgbClr val="B07CFF"/>
            </a:solidFill>
            <a:prstDash val="solid"/>
          </a:ln>
        </p:spPr>
        <p:txBody>
          <a:bodyPr/>
          <a:lstStyle/>
          <a:p>
            <a:endParaRPr/>
          </a:p>
        </p:txBody>
      </p:sp>
      <p:sp>
        <p:nvSpPr>
          <p:cNvPr id="12" name="Text 10">
            <a:extLst>
              <a:ext uri="{FF2B5EF4-FFF2-40B4-BE49-F238E27FC236}">
                <a16:creationId xmlns:a16="http://schemas.microsoft.com/office/drawing/2014/main" id="{BF6971B4-5546-4500-A603-D048053F2F51}"/>
              </a:ext>
            </a:extLst>
          </p:cNvPr>
          <p:cNvSpPr>
            <a:spLocks noGrp="1"/>
          </p:cNvSpPr>
          <p:nvPr/>
        </p:nvSpPr>
        <p:spPr>
          <a:xfrm>
            <a:off x="457200" y="2194560"/>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2</a:t>
            </a:r>
            <a:endParaRPr sz="1300"/>
          </a:p>
        </p:txBody>
      </p:sp>
      <p:sp>
        <p:nvSpPr>
          <p:cNvPr id="13" name="Text 11">
            <a:extLst>
              <a:ext uri="{FF2B5EF4-FFF2-40B4-BE49-F238E27FC236}">
                <a16:creationId xmlns:a16="http://schemas.microsoft.com/office/drawing/2014/main" id="{A3C48E29-B590-44BB-92E4-93076D7AE4FF}"/>
              </a:ext>
            </a:extLst>
          </p:cNvPr>
          <p:cNvSpPr>
            <a:spLocks noGrp="1"/>
          </p:cNvSpPr>
          <p:nvPr/>
        </p:nvSpPr>
        <p:spPr>
          <a:xfrm>
            <a:off x="914400" y="2139696"/>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Technical owner</a:t>
            </a:r>
            <a:endParaRPr sz="1400"/>
          </a:p>
        </p:txBody>
      </p:sp>
      <p:sp>
        <p:nvSpPr>
          <p:cNvPr id="14" name="Text 12">
            <a:extLst>
              <a:ext uri="{FF2B5EF4-FFF2-40B4-BE49-F238E27FC236}">
                <a16:creationId xmlns:a16="http://schemas.microsoft.com/office/drawing/2014/main" id="{2D62D082-CEAE-4C66-A45A-35255AAEC85B}"/>
              </a:ext>
            </a:extLst>
          </p:cNvPr>
          <p:cNvSpPr>
            <a:spLocks noGrp="1"/>
          </p:cNvSpPr>
          <p:nvPr/>
        </p:nvSpPr>
        <p:spPr>
          <a:xfrm>
            <a:off x="914400" y="2395728"/>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Deployment, model choice and system health.</a:t>
            </a:r>
            <a:endParaRPr sz="1200"/>
          </a:p>
        </p:txBody>
      </p:sp>
      <p:sp>
        <p:nvSpPr>
          <p:cNvPr id="15" name="Shape 13">
            <a:extLst>
              <a:ext uri="{FF2B5EF4-FFF2-40B4-BE49-F238E27FC236}">
                <a16:creationId xmlns:a16="http://schemas.microsoft.com/office/drawing/2014/main" id="{72187D04-35D4-4F58-A5AD-0B629E926322}"/>
              </a:ext>
            </a:extLst>
          </p:cNvPr>
          <p:cNvSpPr>
            <a:spLocks noGrp="1"/>
          </p:cNvSpPr>
          <p:nvPr/>
        </p:nvSpPr>
        <p:spPr>
          <a:xfrm>
            <a:off x="457200" y="2852928"/>
            <a:ext cx="329184" cy="329184"/>
          </a:xfrm>
          <a:prstGeom prst="ellipse">
            <a:avLst/>
          </a:prstGeom>
          <a:solidFill>
            <a:srgbClr val="121B2D"/>
          </a:solidFill>
          <a:ln w="12700">
            <a:solidFill>
              <a:srgbClr val="B07CFF"/>
            </a:solidFill>
            <a:prstDash val="solid"/>
          </a:ln>
        </p:spPr>
        <p:txBody>
          <a:bodyPr/>
          <a:lstStyle/>
          <a:p>
            <a:endParaRPr/>
          </a:p>
        </p:txBody>
      </p:sp>
      <p:sp>
        <p:nvSpPr>
          <p:cNvPr id="16" name="Text 14">
            <a:extLst>
              <a:ext uri="{FF2B5EF4-FFF2-40B4-BE49-F238E27FC236}">
                <a16:creationId xmlns:a16="http://schemas.microsoft.com/office/drawing/2014/main" id="{0785C916-FA8A-4C71-9552-933E2FA9DE28}"/>
              </a:ext>
            </a:extLst>
          </p:cNvPr>
          <p:cNvSpPr>
            <a:spLocks noGrp="1"/>
          </p:cNvSpPr>
          <p:nvPr/>
        </p:nvSpPr>
        <p:spPr>
          <a:xfrm>
            <a:off x="457200" y="2852928"/>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3</a:t>
            </a:r>
            <a:endParaRPr sz="1300"/>
          </a:p>
        </p:txBody>
      </p:sp>
      <p:sp>
        <p:nvSpPr>
          <p:cNvPr id="17" name="Text 15">
            <a:extLst>
              <a:ext uri="{FF2B5EF4-FFF2-40B4-BE49-F238E27FC236}">
                <a16:creationId xmlns:a16="http://schemas.microsoft.com/office/drawing/2014/main" id="{D3D9C7B9-700A-499F-A7F6-08A2F92AE0DD}"/>
              </a:ext>
            </a:extLst>
          </p:cNvPr>
          <p:cNvSpPr>
            <a:spLocks noGrp="1"/>
          </p:cNvSpPr>
          <p:nvPr/>
        </p:nvSpPr>
        <p:spPr>
          <a:xfrm>
            <a:off x="914400" y="2798064"/>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Budget</a:t>
            </a:r>
            <a:endParaRPr sz="1400"/>
          </a:p>
        </p:txBody>
      </p:sp>
      <p:sp>
        <p:nvSpPr>
          <p:cNvPr id="18" name="Text 16">
            <a:extLst>
              <a:ext uri="{FF2B5EF4-FFF2-40B4-BE49-F238E27FC236}">
                <a16:creationId xmlns:a16="http://schemas.microsoft.com/office/drawing/2014/main" id="{9445C090-5C19-4022-92B7-6E3E212C96D4}"/>
              </a:ext>
            </a:extLst>
          </p:cNvPr>
          <p:cNvSpPr>
            <a:spLocks noGrp="1"/>
          </p:cNvSpPr>
          <p:nvPr/>
        </p:nvSpPr>
        <p:spPr>
          <a:xfrm>
            <a:off x="914400" y="3054096"/>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Maximum financial exposure, set before anything runs.</a:t>
            </a:r>
            <a:endParaRPr sz="1200"/>
          </a:p>
        </p:txBody>
      </p:sp>
      <p:sp>
        <p:nvSpPr>
          <p:cNvPr id="19" name="Shape 17">
            <a:extLst>
              <a:ext uri="{FF2B5EF4-FFF2-40B4-BE49-F238E27FC236}">
                <a16:creationId xmlns:a16="http://schemas.microsoft.com/office/drawing/2014/main" id="{DA56FE53-FE5A-4726-A92C-90F5E6EF892D}"/>
              </a:ext>
            </a:extLst>
          </p:cNvPr>
          <p:cNvSpPr>
            <a:spLocks noGrp="1"/>
          </p:cNvSpPr>
          <p:nvPr/>
        </p:nvSpPr>
        <p:spPr>
          <a:xfrm>
            <a:off x="457200" y="3511296"/>
            <a:ext cx="329184" cy="329184"/>
          </a:xfrm>
          <a:prstGeom prst="ellipse">
            <a:avLst/>
          </a:prstGeom>
          <a:solidFill>
            <a:srgbClr val="121B2D"/>
          </a:solidFill>
          <a:ln w="12700">
            <a:solidFill>
              <a:srgbClr val="B07CFF"/>
            </a:solidFill>
            <a:prstDash val="solid"/>
          </a:ln>
        </p:spPr>
        <p:txBody>
          <a:bodyPr/>
          <a:lstStyle/>
          <a:p>
            <a:endParaRPr/>
          </a:p>
        </p:txBody>
      </p:sp>
      <p:sp>
        <p:nvSpPr>
          <p:cNvPr id="20" name="Text 18">
            <a:extLst>
              <a:ext uri="{FF2B5EF4-FFF2-40B4-BE49-F238E27FC236}">
                <a16:creationId xmlns:a16="http://schemas.microsoft.com/office/drawing/2014/main" id="{B6975B70-1144-4668-A90D-B272D8A3C24C}"/>
              </a:ext>
            </a:extLst>
          </p:cNvPr>
          <p:cNvSpPr>
            <a:spLocks noGrp="1"/>
          </p:cNvSpPr>
          <p:nvPr/>
        </p:nvSpPr>
        <p:spPr>
          <a:xfrm>
            <a:off x="457200" y="3511296"/>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4</a:t>
            </a:r>
            <a:endParaRPr sz="1300"/>
          </a:p>
        </p:txBody>
      </p:sp>
      <p:sp>
        <p:nvSpPr>
          <p:cNvPr id="21" name="Text 19">
            <a:extLst>
              <a:ext uri="{FF2B5EF4-FFF2-40B4-BE49-F238E27FC236}">
                <a16:creationId xmlns:a16="http://schemas.microsoft.com/office/drawing/2014/main" id="{982F737A-5B06-4B7B-8B00-FA46125495B6}"/>
              </a:ext>
            </a:extLst>
          </p:cNvPr>
          <p:cNvSpPr>
            <a:spLocks noGrp="1"/>
          </p:cNvSpPr>
          <p:nvPr/>
        </p:nvSpPr>
        <p:spPr>
          <a:xfrm>
            <a:off x="914400" y="3456432"/>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Rate limit</a:t>
            </a:r>
            <a:endParaRPr sz="1400"/>
          </a:p>
        </p:txBody>
      </p:sp>
      <p:sp>
        <p:nvSpPr>
          <p:cNvPr id="22" name="Text 20">
            <a:extLst>
              <a:ext uri="{FF2B5EF4-FFF2-40B4-BE49-F238E27FC236}">
                <a16:creationId xmlns:a16="http://schemas.microsoft.com/office/drawing/2014/main" id="{EE73D6C8-5AAC-4DB5-9788-0B2829CEC3CD}"/>
              </a:ext>
            </a:extLst>
          </p:cNvPr>
          <p:cNvSpPr>
            <a:spLocks noGrp="1"/>
          </p:cNvSpPr>
          <p:nvPr/>
        </p:nvSpPr>
        <p:spPr>
          <a:xfrm>
            <a:off x="914400" y="3712464"/>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Prevents API spam, runaway loops and overload.</a:t>
            </a:r>
            <a:endParaRPr sz="1200"/>
          </a:p>
        </p:txBody>
      </p:sp>
      <p:sp>
        <p:nvSpPr>
          <p:cNvPr id="23" name="Shape 21">
            <a:extLst>
              <a:ext uri="{FF2B5EF4-FFF2-40B4-BE49-F238E27FC236}">
                <a16:creationId xmlns:a16="http://schemas.microsoft.com/office/drawing/2014/main" id="{5B516BD0-9784-4179-8F8E-950545ED3374}"/>
              </a:ext>
            </a:extLst>
          </p:cNvPr>
          <p:cNvSpPr>
            <a:spLocks noGrp="1"/>
          </p:cNvSpPr>
          <p:nvPr/>
        </p:nvSpPr>
        <p:spPr>
          <a:xfrm>
            <a:off x="6278728" y="1536192"/>
            <a:ext cx="329184" cy="329184"/>
          </a:xfrm>
          <a:prstGeom prst="ellipse">
            <a:avLst/>
          </a:prstGeom>
          <a:solidFill>
            <a:srgbClr val="121B2D"/>
          </a:solidFill>
          <a:ln w="12700">
            <a:solidFill>
              <a:srgbClr val="B07CFF"/>
            </a:solidFill>
            <a:prstDash val="solid"/>
          </a:ln>
        </p:spPr>
        <p:txBody>
          <a:bodyPr/>
          <a:lstStyle/>
          <a:p>
            <a:endParaRPr/>
          </a:p>
        </p:txBody>
      </p:sp>
      <p:sp>
        <p:nvSpPr>
          <p:cNvPr id="24" name="Text 22">
            <a:extLst>
              <a:ext uri="{FF2B5EF4-FFF2-40B4-BE49-F238E27FC236}">
                <a16:creationId xmlns:a16="http://schemas.microsoft.com/office/drawing/2014/main" id="{031B507A-47ED-4F60-9212-AD3FEF88E3E5}"/>
              </a:ext>
            </a:extLst>
          </p:cNvPr>
          <p:cNvSpPr>
            <a:spLocks noGrp="1"/>
          </p:cNvSpPr>
          <p:nvPr/>
        </p:nvSpPr>
        <p:spPr>
          <a:xfrm>
            <a:off x="6278728" y="1536192"/>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5</a:t>
            </a:r>
            <a:endParaRPr sz="1300"/>
          </a:p>
        </p:txBody>
      </p:sp>
      <p:sp>
        <p:nvSpPr>
          <p:cNvPr id="25" name="Text 23">
            <a:extLst>
              <a:ext uri="{FF2B5EF4-FFF2-40B4-BE49-F238E27FC236}">
                <a16:creationId xmlns:a16="http://schemas.microsoft.com/office/drawing/2014/main" id="{7A93E6CD-A25E-4E1A-8E91-13771D0573EF}"/>
              </a:ext>
            </a:extLst>
          </p:cNvPr>
          <p:cNvSpPr>
            <a:spLocks noGrp="1"/>
          </p:cNvSpPr>
          <p:nvPr/>
        </p:nvSpPr>
        <p:spPr>
          <a:xfrm>
            <a:off x="6735928" y="1481328"/>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Token quota</a:t>
            </a:r>
            <a:endParaRPr sz="1400"/>
          </a:p>
        </p:txBody>
      </p:sp>
      <p:sp>
        <p:nvSpPr>
          <p:cNvPr id="26" name="Text 24">
            <a:extLst>
              <a:ext uri="{FF2B5EF4-FFF2-40B4-BE49-F238E27FC236}">
                <a16:creationId xmlns:a16="http://schemas.microsoft.com/office/drawing/2014/main" id="{EEB13360-393B-47F3-8773-5FFD94BEBF3D}"/>
              </a:ext>
            </a:extLst>
          </p:cNvPr>
          <p:cNvSpPr>
            <a:spLocks noGrp="1"/>
          </p:cNvSpPr>
          <p:nvPr/>
        </p:nvSpPr>
        <p:spPr>
          <a:xfrm>
            <a:off x="6735928" y="1737360"/>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Caps consumption per consumer, independent of budget.</a:t>
            </a:r>
            <a:endParaRPr sz="1200"/>
          </a:p>
        </p:txBody>
      </p:sp>
      <p:sp>
        <p:nvSpPr>
          <p:cNvPr id="27" name="Shape 25">
            <a:extLst>
              <a:ext uri="{FF2B5EF4-FFF2-40B4-BE49-F238E27FC236}">
                <a16:creationId xmlns:a16="http://schemas.microsoft.com/office/drawing/2014/main" id="{D843C969-22F2-4FC9-B0EB-E9436E8BA3B7}"/>
              </a:ext>
            </a:extLst>
          </p:cNvPr>
          <p:cNvSpPr>
            <a:spLocks noGrp="1"/>
          </p:cNvSpPr>
          <p:nvPr/>
        </p:nvSpPr>
        <p:spPr>
          <a:xfrm>
            <a:off x="6278728" y="2194560"/>
            <a:ext cx="329184" cy="329184"/>
          </a:xfrm>
          <a:prstGeom prst="ellipse">
            <a:avLst/>
          </a:prstGeom>
          <a:solidFill>
            <a:srgbClr val="121B2D"/>
          </a:solidFill>
          <a:ln w="12700">
            <a:solidFill>
              <a:srgbClr val="B07CFF"/>
            </a:solidFill>
            <a:prstDash val="solid"/>
          </a:ln>
        </p:spPr>
        <p:txBody>
          <a:bodyPr/>
          <a:lstStyle/>
          <a:p>
            <a:endParaRPr/>
          </a:p>
        </p:txBody>
      </p:sp>
      <p:sp>
        <p:nvSpPr>
          <p:cNvPr id="28" name="Text 26">
            <a:extLst>
              <a:ext uri="{FF2B5EF4-FFF2-40B4-BE49-F238E27FC236}">
                <a16:creationId xmlns:a16="http://schemas.microsoft.com/office/drawing/2014/main" id="{2430686C-F82E-4F95-89BB-032D1AF0BE67}"/>
              </a:ext>
            </a:extLst>
          </p:cNvPr>
          <p:cNvSpPr>
            <a:spLocks noGrp="1"/>
          </p:cNvSpPr>
          <p:nvPr/>
        </p:nvSpPr>
        <p:spPr>
          <a:xfrm>
            <a:off x="6278728" y="2194560"/>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6</a:t>
            </a:r>
            <a:endParaRPr sz="1300"/>
          </a:p>
        </p:txBody>
      </p:sp>
      <p:sp>
        <p:nvSpPr>
          <p:cNvPr id="29" name="Text 27">
            <a:extLst>
              <a:ext uri="{FF2B5EF4-FFF2-40B4-BE49-F238E27FC236}">
                <a16:creationId xmlns:a16="http://schemas.microsoft.com/office/drawing/2014/main" id="{3A92D64A-C3FE-4646-AFD7-E343DF93A14B}"/>
              </a:ext>
            </a:extLst>
          </p:cNvPr>
          <p:cNvSpPr>
            <a:spLocks noGrp="1"/>
          </p:cNvSpPr>
          <p:nvPr/>
        </p:nvSpPr>
        <p:spPr>
          <a:xfrm>
            <a:off x="6735928" y="2139696"/>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Cost centre</a:t>
            </a:r>
            <a:endParaRPr sz="1400"/>
          </a:p>
        </p:txBody>
      </p:sp>
      <p:sp>
        <p:nvSpPr>
          <p:cNvPr id="30" name="Text 28">
            <a:extLst>
              <a:ext uri="{FF2B5EF4-FFF2-40B4-BE49-F238E27FC236}">
                <a16:creationId xmlns:a16="http://schemas.microsoft.com/office/drawing/2014/main" id="{246C19AE-ACAA-4A5F-A3F9-C444A888912E}"/>
              </a:ext>
            </a:extLst>
          </p:cNvPr>
          <p:cNvSpPr>
            <a:spLocks noGrp="1"/>
          </p:cNvSpPr>
          <p:nvPr/>
        </p:nvSpPr>
        <p:spPr>
          <a:xfrm>
            <a:off x="6735928" y="2395728"/>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Makes chargeback possible at month end.</a:t>
            </a:r>
            <a:endParaRPr sz="1200"/>
          </a:p>
        </p:txBody>
      </p:sp>
      <p:sp>
        <p:nvSpPr>
          <p:cNvPr id="31" name="Shape 29">
            <a:extLst>
              <a:ext uri="{FF2B5EF4-FFF2-40B4-BE49-F238E27FC236}">
                <a16:creationId xmlns:a16="http://schemas.microsoft.com/office/drawing/2014/main" id="{E3616C4D-C1C6-4971-B741-E7592DADEB5E}"/>
              </a:ext>
            </a:extLst>
          </p:cNvPr>
          <p:cNvSpPr>
            <a:spLocks noGrp="1"/>
          </p:cNvSpPr>
          <p:nvPr/>
        </p:nvSpPr>
        <p:spPr>
          <a:xfrm>
            <a:off x="6278728" y="2852928"/>
            <a:ext cx="329184" cy="329184"/>
          </a:xfrm>
          <a:prstGeom prst="ellipse">
            <a:avLst/>
          </a:prstGeom>
          <a:solidFill>
            <a:srgbClr val="121B2D"/>
          </a:solidFill>
          <a:ln w="12700">
            <a:solidFill>
              <a:srgbClr val="B07CFF"/>
            </a:solidFill>
            <a:prstDash val="solid"/>
          </a:ln>
        </p:spPr>
        <p:txBody>
          <a:bodyPr/>
          <a:lstStyle/>
          <a:p>
            <a:endParaRPr/>
          </a:p>
        </p:txBody>
      </p:sp>
      <p:sp>
        <p:nvSpPr>
          <p:cNvPr id="32" name="Text 30">
            <a:extLst>
              <a:ext uri="{FF2B5EF4-FFF2-40B4-BE49-F238E27FC236}">
                <a16:creationId xmlns:a16="http://schemas.microsoft.com/office/drawing/2014/main" id="{15A9F8FB-58F9-4711-A65B-9E3CE44E8AC9}"/>
              </a:ext>
            </a:extLst>
          </p:cNvPr>
          <p:cNvSpPr>
            <a:spLocks noGrp="1"/>
          </p:cNvSpPr>
          <p:nvPr/>
        </p:nvSpPr>
        <p:spPr>
          <a:xfrm>
            <a:off x="6278728" y="2852928"/>
            <a:ext cx="329184" cy="329184"/>
          </a:xfrm>
          <a:prstGeom prst="rect">
            <a:avLst/>
          </a:prstGeom>
          <a:noFill/>
        </p:spPr>
        <p:txBody>
          <a:bodyPr wrap="square" lIns="0" tIns="0" rIns="0" bIns="0" anchor="ctr"/>
          <a:lstStyle/>
          <a:p>
            <a:pPr marL="0" indent="0" algn="ctr">
              <a:buNone/>
            </a:pPr>
            <a:r>
              <a:rPr sz="1300" b="1">
                <a:solidFill>
                  <a:srgbClr val="B07CFF"/>
                </a:solidFill>
                <a:latin typeface="Calibri"/>
                <a:ea typeface="Calibri"/>
                <a:cs typeface="Calibri"/>
              </a:rPr>
              <a:t>7</a:t>
            </a:r>
            <a:endParaRPr sz="1300"/>
          </a:p>
        </p:txBody>
      </p:sp>
      <p:sp>
        <p:nvSpPr>
          <p:cNvPr id="33" name="Text 31">
            <a:extLst>
              <a:ext uri="{FF2B5EF4-FFF2-40B4-BE49-F238E27FC236}">
                <a16:creationId xmlns:a16="http://schemas.microsoft.com/office/drawing/2014/main" id="{557FFED1-2314-45EF-AA9E-2281CCCA32A9}"/>
              </a:ext>
            </a:extLst>
          </p:cNvPr>
          <p:cNvSpPr>
            <a:spLocks noGrp="1"/>
          </p:cNvSpPr>
          <p:nvPr/>
        </p:nvSpPr>
        <p:spPr>
          <a:xfrm>
            <a:off x="6735928" y="2798064"/>
            <a:ext cx="4998568" cy="256032"/>
          </a:xfrm>
          <a:prstGeom prst="rect">
            <a:avLst/>
          </a:prstGeom>
          <a:noFill/>
        </p:spPr>
        <p:txBody>
          <a:bodyPr wrap="square" lIns="0" tIns="0" rIns="0" bIns="0" anchor="ctr"/>
          <a:lstStyle/>
          <a:p>
            <a:pPr marL="0" indent="0">
              <a:buNone/>
            </a:pPr>
            <a:r>
              <a:rPr sz="1400" b="1">
                <a:solidFill>
                  <a:srgbClr val="F4F7FB"/>
                </a:solidFill>
                <a:latin typeface="Calibri"/>
                <a:ea typeface="Calibri"/>
                <a:cs typeface="Calibri"/>
              </a:rPr>
              <a:t>Executive approval</a:t>
            </a:r>
            <a:endParaRPr sz="1400"/>
          </a:p>
        </p:txBody>
      </p:sp>
      <p:sp>
        <p:nvSpPr>
          <p:cNvPr id="34" name="Text 32">
            <a:extLst>
              <a:ext uri="{FF2B5EF4-FFF2-40B4-BE49-F238E27FC236}">
                <a16:creationId xmlns:a16="http://schemas.microsoft.com/office/drawing/2014/main" id="{01198B09-8C7D-4DE3-979F-08F02D62EBA4}"/>
              </a:ext>
            </a:extLst>
          </p:cNvPr>
          <p:cNvSpPr>
            <a:spLocks noGrp="1"/>
          </p:cNvSpPr>
          <p:nvPr/>
        </p:nvSpPr>
        <p:spPr>
          <a:xfrm>
            <a:off x="6735928" y="3054096"/>
            <a:ext cx="4998568" cy="365760"/>
          </a:xfrm>
          <a:prstGeom prst="rect">
            <a:avLst/>
          </a:prstGeom>
          <a:noFill/>
        </p:spPr>
        <p:txBody>
          <a:bodyPr wrap="square" lIns="0" tIns="0" rIns="0" bIns="0" anchor="t"/>
          <a:lstStyle/>
          <a:p>
            <a:pPr marL="0" indent="0">
              <a:lnSpc>
                <a:spcPct val="110000"/>
              </a:lnSpc>
              <a:buNone/>
            </a:pPr>
            <a:r>
              <a:rPr sz="1200">
                <a:solidFill>
                  <a:srgbClr val="91A0B7"/>
                </a:solidFill>
                <a:latin typeface="Calibri"/>
                <a:ea typeface="Calibri"/>
                <a:cs typeface="Calibri"/>
              </a:rPr>
              <a:t>Sign-off before launch, not after the first invoice.</a:t>
            </a:r>
            <a:endParaRPr sz="1200"/>
          </a:p>
        </p:txBody>
      </p:sp>
      <p:sp>
        <p:nvSpPr>
          <p:cNvPr id="35" name="Shape 33">
            <a:extLst>
              <a:ext uri="{FF2B5EF4-FFF2-40B4-BE49-F238E27FC236}">
                <a16:creationId xmlns:a16="http://schemas.microsoft.com/office/drawing/2014/main" id="{F64B7B45-096F-4038-8F8D-3E924074F18D}"/>
              </a:ext>
            </a:extLst>
          </p:cNvPr>
          <p:cNvSpPr>
            <a:spLocks noGrp="1"/>
          </p:cNvSpPr>
          <p:nvPr/>
        </p:nvSpPr>
        <p:spPr>
          <a:xfrm>
            <a:off x="457200" y="4279392"/>
            <a:ext cx="11277295" cy="914400"/>
          </a:xfrm>
          <a:prstGeom prst="roundRect">
            <a:avLst>
              <a:gd name="adj" fmla="val 6000"/>
            </a:avLst>
          </a:prstGeom>
          <a:solidFill>
            <a:srgbClr val="121B2D"/>
          </a:solidFill>
          <a:ln w="12700">
            <a:solidFill>
              <a:srgbClr val="B07CFF"/>
            </a:solidFill>
            <a:prstDash val="solid"/>
          </a:ln>
        </p:spPr>
        <p:txBody>
          <a:bodyPr/>
          <a:lstStyle/>
          <a:p>
            <a:endParaRPr/>
          </a:p>
        </p:txBody>
      </p:sp>
      <p:sp>
        <p:nvSpPr>
          <p:cNvPr id="36" name="Text 34">
            <a:extLst>
              <a:ext uri="{FF2B5EF4-FFF2-40B4-BE49-F238E27FC236}">
                <a16:creationId xmlns:a16="http://schemas.microsoft.com/office/drawing/2014/main" id="{1C728088-8D36-4402-AD58-CC3702F26F81}"/>
              </a:ext>
            </a:extLst>
          </p:cNvPr>
          <p:cNvSpPr>
            <a:spLocks noGrp="1"/>
          </p:cNvSpPr>
          <p:nvPr/>
        </p:nvSpPr>
        <p:spPr>
          <a:xfrm>
            <a:off x="685800" y="4407408"/>
            <a:ext cx="10820095" cy="292608"/>
          </a:xfrm>
          <a:prstGeom prst="rect">
            <a:avLst/>
          </a:prstGeom>
          <a:noFill/>
        </p:spPr>
        <p:txBody>
          <a:bodyPr wrap="square" lIns="0" tIns="0" rIns="0" bIns="0" anchor="ctr"/>
          <a:lstStyle/>
          <a:p>
            <a:pPr marL="0" indent="0">
              <a:buNone/>
            </a:pPr>
            <a:r>
              <a:rPr sz="1600" b="1">
                <a:solidFill>
                  <a:srgbClr val="F4F7FB"/>
                </a:solidFill>
                <a:latin typeface="Calibri"/>
                <a:ea typeface="Calibri"/>
                <a:cs typeface="Calibri"/>
              </a:rPr>
              <a:t>This is what makes shadow AI structurally impossible</a:t>
            </a:r>
            <a:endParaRPr sz="1600"/>
          </a:p>
        </p:txBody>
      </p:sp>
      <p:sp>
        <p:nvSpPr>
          <p:cNvPr id="37" name="Text 35">
            <a:extLst>
              <a:ext uri="{FF2B5EF4-FFF2-40B4-BE49-F238E27FC236}">
                <a16:creationId xmlns:a16="http://schemas.microsoft.com/office/drawing/2014/main" id="{950DC19E-8EB2-404C-8445-9ED59DAF7820}"/>
              </a:ext>
            </a:extLst>
          </p:cNvPr>
          <p:cNvSpPr>
            <a:spLocks noGrp="1"/>
          </p:cNvSpPr>
          <p:nvPr/>
        </p:nvSpPr>
        <p:spPr>
          <a:xfrm>
            <a:off x="685800" y="4700016"/>
            <a:ext cx="10820095" cy="402336"/>
          </a:xfrm>
          <a:prstGeom prst="rect">
            <a:avLst/>
          </a:prstGeom>
          <a:noFill/>
        </p:spPr>
        <p:txBody>
          <a:bodyPr wrap="square" lIns="0" tIns="0" rIns="0" bIns="0" anchor="t"/>
          <a:lstStyle/>
          <a:p>
            <a:pPr marL="0" indent="0">
              <a:lnSpc>
                <a:spcPct val="115000"/>
              </a:lnSpc>
              <a:buNone/>
            </a:pPr>
            <a:r>
              <a:rPr sz="1250">
                <a:solidFill>
                  <a:srgbClr val="91A0B7"/>
                </a:solidFill>
                <a:latin typeface="Calibri"/>
                <a:ea typeface="Calibri"/>
                <a:cs typeface="Calibri"/>
              </a:rPr>
              <a:t>Applied at the gateway, these criteria mean an unowned or unfunded workload cannot obtain a key, so it never reaches a provider inside the enterprise network.</a:t>
            </a:r>
            <a:endParaRPr sz="1250"/>
          </a:p>
        </p:txBody>
      </p:sp>
    </p:spTree>
    <p:extLst>
      <p:ext uri="{BB962C8B-B14F-4D97-AF65-F5344CB8AC3E}">
        <p14:creationId xmlns:p14="http://schemas.microsoft.com/office/powerpoint/2010/main" val="1326744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26C55FD-153F-4A83-A3E3-A532FE915C52}"/>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DAA91D25-54B8-41BA-A32A-047D1D0AC540}"/>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47E7546E-82C6-42F2-9008-8451DAB74CB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LIFECYCLE</a:t>
            </a:r>
            <a:endParaRPr sz="1300"/>
          </a:p>
        </p:txBody>
      </p:sp>
      <p:sp>
        <p:nvSpPr>
          <p:cNvPr id="5" name="Text 3">
            <a:extLst>
              <a:ext uri="{FF2B5EF4-FFF2-40B4-BE49-F238E27FC236}">
                <a16:creationId xmlns:a16="http://schemas.microsoft.com/office/drawing/2014/main" id="{D59AF422-CD40-4081-A161-091B050870DA}"/>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333" b="1">
                <a:solidFill>
                  <a:srgbClr val="F4F7FB"/>
                </a:solidFill>
                <a:latin typeface="Calibri"/>
                <a:ea typeface="Calibri"/>
                <a:cs typeface="Calibri"/>
              </a:rPr>
              <a:t>A gated path from proposal to report</a:t>
            </a:r>
            <a:endParaRPr sz="2333"/>
          </a:p>
        </p:txBody>
      </p:sp>
      <p:sp>
        <p:nvSpPr>
          <p:cNvPr id="6" name="Text 4">
            <a:extLst>
              <a:ext uri="{FF2B5EF4-FFF2-40B4-BE49-F238E27FC236}">
                <a16:creationId xmlns:a16="http://schemas.microsoft.com/office/drawing/2014/main" id="{7A7CD0FF-DCB0-48E1-841C-068149AEB57C}"/>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Four hard checkpoints sit before deployment. A request that cannot clear them does not reach a provider at all.</a:t>
            </a:r>
            <a:endParaRPr sz="1200"/>
          </a:p>
        </p:txBody>
      </p:sp>
      <p:sp>
        <p:nvSpPr>
          <p:cNvPr id="7" name="Text 5">
            <a:extLst>
              <a:ext uri="{FF2B5EF4-FFF2-40B4-BE49-F238E27FC236}">
                <a16:creationId xmlns:a16="http://schemas.microsoft.com/office/drawing/2014/main" id="{998CD7C4-8853-4FA9-8375-98FD76A1ED4A}"/>
              </a:ext>
            </a:extLst>
          </p:cNvPr>
          <p:cNvSpPr>
            <a:spLocks noGrp="1"/>
          </p:cNvSpPr>
          <p:nvPr/>
        </p:nvSpPr>
        <p:spPr>
          <a:xfrm>
            <a:off x="457200" y="6355080"/>
            <a:ext cx="11277295" cy="228600"/>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Steps 02 to 05 are the gates. Everything after them is observation, not permission.</a:t>
            </a:r>
            <a:endParaRPr sz="1200"/>
          </a:p>
        </p:txBody>
      </p:sp>
      <p:sp>
        <p:nvSpPr>
          <p:cNvPr id="8" name="Shape 6">
            <a:extLst>
              <a:ext uri="{FF2B5EF4-FFF2-40B4-BE49-F238E27FC236}">
                <a16:creationId xmlns:a16="http://schemas.microsoft.com/office/drawing/2014/main" id="{685F5768-A902-4445-BCB5-EF917AA2EA98}"/>
              </a:ext>
            </a:extLst>
          </p:cNvPr>
          <p:cNvSpPr>
            <a:spLocks noGrp="1"/>
          </p:cNvSpPr>
          <p:nvPr/>
        </p:nvSpPr>
        <p:spPr>
          <a:xfrm>
            <a:off x="457200" y="1508760"/>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36C208BC-4F8A-428B-8A57-249D365F0F10}"/>
              </a:ext>
            </a:extLst>
          </p:cNvPr>
          <p:cNvSpPr>
            <a:spLocks noGrp="1"/>
          </p:cNvSpPr>
          <p:nvPr/>
        </p:nvSpPr>
        <p:spPr>
          <a:xfrm>
            <a:off x="658368" y="1655064"/>
            <a:ext cx="822960" cy="329184"/>
          </a:xfrm>
          <a:prstGeom prst="rect">
            <a:avLst/>
          </a:prstGeom>
          <a:noFill/>
        </p:spPr>
        <p:txBody>
          <a:bodyPr wrap="square" lIns="0" tIns="0" rIns="0" bIns="0" anchor="ctr"/>
          <a:lstStyle/>
          <a:p>
            <a:pPr marL="0" indent="0">
              <a:buNone/>
            </a:pPr>
            <a:r>
              <a:rPr sz="2100" b="1">
                <a:solidFill>
                  <a:srgbClr val="536078"/>
                </a:solidFill>
                <a:latin typeface="Calibri"/>
                <a:ea typeface="Calibri"/>
                <a:cs typeface="Calibri"/>
              </a:rPr>
              <a:t>01</a:t>
            </a:r>
            <a:endParaRPr sz="2100"/>
          </a:p>
        </p:txBody>
      </p:sp>
      <p:sp>
        <p:nvSpPr>
          <p:cNvPr id="10" name="Text 8">
            <a:extLst>
              <a:ext uri="{FF2B5EF4-FFF2-40B4-BE49-F238E27FC236}">
                <a16:creationId xmlns:a16="http://schemas.microsoft.com/office/drawing/2014/main" id="{C21DA49E-1AB5-4E91-8393-6385186D3A9C}"/>
              </a:ext>
            </a:extLst>
          </p:cNvPr>
          <p:cNvSpPr>
            <a:spLocks noGrp="1"/>
          </p:cNvSpPr>
          <p:nvPr/>
        </p:nvSpPr>
        <p:spPr>
          <a:xfrm>
            <a:off x="658368" y="2039112"/>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Request</a:t>
            </a:r>
            <a:endParaRPr sz="1400"/>
          </a:p>
        </p:txBody>
      </p:sp>
      <p:sp>
        <p:nvSpPr>
          <p:cNvPr id="11" name="Text 9">
            <a:extLst>
              <a:ext uri="{FF2B5EF4-FFF2-40B4-BE49-F238E27FC236}">
                <a16:creationId xmlns:a16="http://schemas.microsoft.com/office/drawing/2014/main" id="{5B6FF298-2C55-4526-8B99-0109F69D08FF}"/>
              </a:ext>
            </a:extLst>
          </p:cNvPr>
          <p:cNvSpPr>
            <a:spLocks noGrp="1"/>
          </p:cNvSpPr>
          <p:nvPr/>
        </p:nvSpPr>
        <p:spPr>
          <a:xfrm>
            <a:off x="658368" y="2478024"/>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Use case, expected volume and business justification submitted.</a:t>
            </a:r>
            <a:endParaRPr sz="1200"/>
          </a:p>
        </p:txBody>
      </p:sp>
      <p:sp>
        <p:nvSpPr>
          <p:cNvPr id="12" name="Shape 10">
            <a:extLst>
              <a:ext uri="{FF2B5EF4-FFF2-40B4-BE49-F238E27FC236}">
                <a16:creationId xmlns:a16="http://schemas.microsoft.com/office/drawing/2014/main" id="{A1164F28-10D9-44C9-943C-C0E3E8F3F9D7}"/>
              </a:ext>
            </a:extLst>
          </p:cNvPr>
          <p:cNvSpPr>
            <a:spLocks noGrp="1"/>
          </p:cNvSpPr>
          <p:nvPr/>
        </p:nvSpPr>
        <p:spPr>
          <a:xfrm>
            <a:off x="3340532" y="1508760"/>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B22D25EB-622A-449B-85C9-25B8C8FAC870}"/>
              </a:ext>
            </a:extLst>
          </p:cNvPr>
          <p:cNvSpPr>
            <a:spLocks noGrp="1"/>
          </p:cNvSpPr>
          <p:nvPr/>
        </p:nvSpPr>
        <p:spPr>
          <a:xfrm>
            <a:off x="3541700" y="1655064"/>
            <a:ext cx="822960" cy="329184"/>
          </a:xfrm>
          <a:prstGeom prst="rect">
            <a:avLst/>
          </a:prstGeom>
          <a:noFill/>
        </p:spPr>
        <p:txBody>
          <a:bodyPr wrap="square" lIns="0" tIns="0" rIns="0" bIns="0" anchor="ctr"/>
          <a:lstStyle/>
          <a:p>
            <a:pPr marL="0" indent="0">
              <a:buNone/>
            </a:pPr>
            <a:r>
              <a:rPr sz="2100" b="1">
                <a:solidFill>
                  <a:srgbClr val="FF9F43"/>
                </a:solidFill>
                <a:latin typeface="Calibri"/>
                <a:ea typeface="Calibri"/>
                <a:cs typeface="Calibri"/>
              </a:rPr>
              <a:t>02</a:t>
            </a:r>
            <a:endParaRPr sz="2100"/>
          </a:p>
        </p:txBody>
      </p:sp>
      <p:sp>
        <p:nvSpPr>
          <p:cNvPr id="14" name="Shape 12">
            <a:extLst>
              <a:ext uri="{FF2B5EF4-FFF2-40B4-BE49-F238E27FC236}">
                <a16:creationId xmlns:a16="http://schemas.microsoft.com/office/drawing/2014/main" id="{C1DBCB7F-06B1-433A-8EB5-2539D1A7DBF6}"/>
              </a:ext>
            </a:extLst>
          </p:cNvPr>
          <p:cNvSpPr>
            <a:spLocks noGrp="1"/>
          </p:cNvSpPr>
          <p:nvPr/>
        </p:nvSpPr>
        <p:spPr>
          <a:xfrm>
            <a:off x="5126584" y="1691640"/>
            <a:ext cx="640080" cy="237744"/>
          </a:xfrm>
          <a:prstGeom prst="roundRect">
            <a:avLst>
              <a:gd name="adj" fmla="val 50000"/>
            </a:avLst>
          </a:prstGeom>
          <a:solidFill>
            <a:srgbClr val="3D2B0C"/>
          </a:solidFill>
          <a:ln w="9525">
            <a:solidFill>
              <a:srgbClr val="FF9F43"/>
            </a:solidFill>
            <a:prstDash val="solid"/>
          </a:ln>
        </p:spPr>
        <p:txBody>
          <a:bodyPr/>
          <a:lstStyle/>
          <a:p>
            <a:endParaRPr/>
          </a:p>
        </p:txBody>
      </p:sp>
      <p:sp>
        <p:nvSpPr>
          <p:cNvPr id="15" name="Text 13">
            <a:extLst>
              <a:ext uri="{FF2B5EF4-FFF2-40B4-BE49-F238E27FC236}">
                <a16:creationId xmlns:a16="http://schemas.microsoft.com/office/drawing/2014/main" id="{13B54A5C-22FE-44F2-9C4D-252541391251}"/>
              </a:ext>
            </a:extLst>
          </p:cNvPr>
          <p:cNvSpPr>
            <a:spLocks noGrp="1"/>
          </p:cNvSpPr>
          <p:nvPr/>
        </p:nvSpPr>
        <p:spPr>
          <a:xfrm>
            <a:off x="5126584" y="1691640"/>
            <a:ext cx="640080" cy="237744"/>
          </a:xfrm>
          <a:prstGeom prst="rect">
            <a:avLst/>
          </a:prstGeom>
          <a:noFill/>
        </p:spPr>
        <p:txBody>
          <a:bodyPr wrap="square" lIns="0" tIns="0" rIns="0" bIns="0" anchor="ctr"/>
          <a:lstStyle/>
          <a:p>
            <a:pPr marL="0" indent="0" algn="ctr">
              <a:buNone/>
            </a:pPr>
            <a:r>
              <a:rPr sz="1100" b="1" spc="80">
                <a:solidFill>
                  <a:srgbClr val="FF9F43"/>
                </a:solidFill>
                <a:latin typeface="Calibri"/>
                <a:ea typeface="Calibri"/>
                <a:cs typeface="Calibri"/>
              </a:rPr>
              <a:t>GATE</a:t>
            </a:r>
            <a:endParaRPr sz="1100"/>
          </a:p>
        </p:txBody>
      </p:sp>
      <p:sp>
        <p:nvSpPr>
          <p:cNvPr id="16" name="Text 14">
            <a:extLst>
              <a:ext uri="{FF2B5EF4-FFF2-40B4-BE49-F238E27FC236}">
                <a16:creationId xmlns:a16="http://schemas.microsoft.com/office/drawing/2014/main" id="{61DFDF45-C992-434B-8D59-9AC70EE2B63F}"/>
              </a:ext>
            </a:extLst>
          </p:cNvPr>
          <p:cNvSpPr>
            <a:spLocks noGrp="1"/>
          </p:cNvSpPr>
          <p:nvPr/>
        </p:nvSpPr>
        <p:spPr>
          <a:xfrm>
            <a:off x="3541700" y="2039112"/>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Business approval</a:t>
            </a:r>
            <a:endParaRPr sz="1400"/>
          </a:p>
        </p:txBody>
      </p:sp>
      <p:sp>
        <p:nvSpPr>
          <p:cNvPr id="17" name="Text 15">
            <a:extLst>
              <a:ext uri="{FF2B5EF4-FFF2-40B4-BE49-F238E27FC236}">
                <a16:creationId xmlns:a16="http://schemas.microsoft.com/office/drawing/2014/main" id="{4FB217BA-58A7-40F6-BC2A-E67998DAF21C}"/>
              </a:ext>
            </a:extLst>
          </p:cNvPr>
          <p:cNvSpPr>
            <a:spLocks noGrp="1"/>
          </p:cNvSpPr>
          <p:nvPr/>
        </p:nvSpPr>
        <p:spPr>
          <a:xfrm>
            <a:off x="3541700" y="2478024"/>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Named business owner accepts the outcome and the cost.</a:t>
            </a:r>
            <a:endParaRPr sz="1200"/>
          </a:p>
        </p:txBody>
      </p:sp>
      <p:sp>
        <p:nvSpPr>
          <p:cNvPr id="18" name="Shape 16">
            <a:extLst>
              <a:ext uri="{FF2B5EF4-FFF2-40B4-BE49-F238E27FC236}">
                <a16:creationId xmlns:a16="http://schemas.microsoft.com/office/drawing/2014/main" id="{1B906C8F-EE3F-4964-9F0D-DFC27BE3EF36}"/>
              </a:ext>
            </a:extLst>
          </p:cNvPr>
          <p:cNvSpPr>
            <a:spLocks noGrp="1"/>
          </p:cNvSpPr>
          <p:nvPr/>
        </p:nvSpPr>
        <p:spPr>
          <a:xfrm>
            <a:off x="6223864" y="1508760"/>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19" name="Text 17">
            <a:extLst>
              <a:ext uri="{FF2B5EF4-FFF2-40B4-BE49-F238E27FC236}">
                <a16:creationId xmlns:a16="http://schemas.microsoft.com/office/drawing/2014/main" id="{A7ABBB6F-EFCF-4686-B47F-F695E7FBCFBE}"/>
              </a:ext>
            </a:extLst>
          </p:cNvPr>
          <p:cNvSpPr>
            <a:spLocks noGrp="1"/>
          </p:cNvSpPr>
          <p:nvPr/>
        </p:nvSpPr>
        <p:spPr>
          <a:xfrm>
            <a:off x="6425032" y="1655064"/>
            <a:ext cx="822960" cy="329184"/>
          </a:xfrm>
          <a:prstGeom prst="rect">
            <a:avLst/>
          </a:prstGeom>
          <a:noFill/>
        </p:spPr>
        <p:txBody>
          <a:bodyPr wrap="square" lIns="0" tIns="0" rIns="0" bIns="0" anchor="ctr"/>
          <a:lstStyle/>
          <a:p>
            <a:pPr marL="0" indent="0">
              <a:buNone/>
            </a:pPr>
            <a:r>
              <a:rPr sz="2100" b="1">
                <a:solidFill>
                  <a:srgbClr val="FF9F43"/>
                </a:solidFill>
                <a:latin typeface="Calibri"/>
                <a:ea typeface="Calibri"/>
                <a:cs typeface="Calibri"/>
              </a:rPr>
              <a:t>03</a:t>
            </a:r>
            <a:endParaRPr sz="2100"/>
          </a:p>
        </p:txBody>
      </p:sp>
      <p:sp>
        <p:nvSpPr>
          <p:cNvPr id="20" name="Shape 18">
            <a:extLst>
              <a:ext uri="{FF2B5EF4-FFF2-40B4-BE49-F238E27FC236}">
                <a16:creationId xmlns:a16="http://schemas.microsoft.com/office/drawing/2014/main" id="{5BC561FA-7425-4C4D-A06B-09C8882E033A}"/>
              </a:ext>
            </a:extLst>
          </p:cNvPr>
          <p:cNvSpPr>
            <a:spLocks noGrp="1"/>
          </p:cNvSpPr>
          <p:nvPr/>
        </p:nvSpPr>
        <p:spPr>
          <a:xfrm>
            <a:off x="8009915" y="1691640"/>
            <a:ext cx="640080" cy="237744"/>
          </a:xfrm>
          <a:prstGeom prst="roundRect">
            <a:avLst>
              <a:gd name="adj" fmla="val 50000"/>
            </a:avLst>
          </a:prstGeom>
          <a:solidFill>
            <a:srgbClr val="3D2B0C"/>
          </a:solidFill>
          <a:ln w="9525">
            <a:solidFill>
              <a:srgbClr val="FF9F43"/>
            </a:solidFill>
            <a:prstDash val="solid"/>
          </a:ln>
        </p:spPr>
        <p:txBody>
          <a:bodyPr/>
          <a:lstStyle/>
          <a:p>
            <a:endParaRPr/>
          </a:p>
        </p:txBody>
      </p:sp>
      <p:sp>
        <p:nvSpPr>
          <p:cNvPr id="21" name="Text 19">
            <a:extLst>
              <a:ext uri="{FF2B5EF4-FFF2-40B4-BE49-F238E27FC236}">
                <a16:creationId xmlns:a16="http://schemas.microsoft.com/office/drawing/2014/main" id="{33439A3A-B565-43B7-A717-5E8DD35F4DFA}"/>
              </a:ext>
            </a:extLst>
          </p:cNvPr>
          <p:cNvSpPr>
            <a:spLocks noGrp="1"/>
          </p:cNvSpPr>
          <p:nvPr/>
        </p:nvSpPr>
        <p:spPr>
          <a:xfrm>
            <a:off x="8009915" y="1691640"/>
            <a:ext cx="640080" cy="237744"/>
          </a:xfrm>
          <a:prstGeom prst="rect">
            <a:avLst/>
          </a:prstGeom>
          <a:noFill/>
        </p:spPr>
        <p:txBody>
          <a:bodyPr wrap="square" lIns="0" tIns="0" rIns="0" bIns="0" anchor="ctr"/>
          <a:lstStyle/>
          <a:p>
            <a:pPr marL="0" indent="0" algn="ctr">
              <a:buNone/>
            </a:pPr>
            <a:r>
              <a:rPr sz="1100" b="1" spc="80">
                <a:solidFill>
                  <a:srgbClr val="FF9F43"/>
                </a:solidFill>
                <a:latin typeface="Calibri"/>
                <a:ea typeface="Calibri"/>
                <a:cs typeface="Calibri"/>
              </a:rPr>
              <a:t>GATE</a:t>
            </a:r>
            <a:endParaRPr sz="1100"/>
          </a:p>
        </p:txBody>
      </p:sp>
      <p:sp>
        <p:nvSpPr>
          <p:cNvPr id="22" name="Text 20">
            <a:extLst>
              <a:ext uri="{FF2B5EF4-FFF2-40B4-BE49-F238E27FC236}">
                <a16:creationId xmlns:a16="http://schemas.microsoft.com/office/drawing/2014/main" id="{DE04BFCE-D8ED-44F2-B122-5DE74D5EE4D8}"/>
              </a:ext>
            </a:extLst>
          </p:cNvPr>
          <p:cNvSpPr>
            <a:spLocks noGrp="1"/>
          </p:cNvSpPr>
          <p:nvPr/>
        </p:nvSpPr>
        <p:spPr>
          <a:xfrm>
            <a:off x="6425032" y="2039112"/>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Budget allocation</a:t>
            </a:r>
            <a:endParaRPr sz="1400"/>
          </a:p>
        </p:txBody>
      </p:sp>
      <p:sp>
        <p:nvSpPr>
          <p:cNvPr id="23" name="Text 21">
            <a:extLst>
              <a:ext uri="{FF2B5EF4-FFF2-40B4-BE49-F238E27FC236}">
                <a16:creationId xmlns:a16="http://schemas.microsoft.com/office/drawing/2014/main" id="{D2FD66FD-0EF4-4E3E-8791-9A1BECB472D1}"/>
              </a:ext>
            </a:extLst>
          </p:cNvPr>
          <p:cNvSpPr>
            <a:spLocks noGrp="1"/>
          </p:cNvSpPr>
          <p:nvPr/>
        </p:nvSpPr>
        <p:spPr>
          <a:xfrm>
            <a:off x="6425032" y="2478024"/>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Monthly envelope assigned against a cost centre.</a:t>
            </a:r>
            <a:endParaRPr sz="1200"/>
          </a:p>
        </p:txBody>
      </p:sp>
      <p:sp>
        <p:nvSpPr>
          <p:cNvPr id="24" name="Shape 22">
            <a:extLst>
              <a:ext uri="{FF2B5EF4-FFF2-40B4-BE49-F238E27FC236}">
                <a16:creationId xmlns:a16="http://schemas.microsoft.com/office/drawing/2014/main" id="{1571F10F-A513-4598-A006-432EAD2B51CC}"/>
              </a:ext>
            </a:extLst>
          </p:cNvPr>
          <p:cNvSpPr>
            <a:spLocks noGrp="1"/>
          </p:cNvSpPr>
          <p:nvPr/>
        </p:nvSpPr>
        <p:spPr>
          <a:xfrm>
            <a:off x="9107195" y="1508760"/>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25" name="Text 23">
            <a:extLst>
              <a:ext uri="{FF2B5EF4-FFF2-40B4-BE49-F238E27FC236}">
                <a16:creationId xmlns:a16="http://schemas.microsoft.com/office/drawing/2014/main" id="{9006265D-5000-4B98-B618-7F90F1F0E822}"/>
              </a:ext>
            </a:extLst>
          </p:cNvPr>
          <p:cNvSpPr>
            <a:spLocks noGrp="1"/>
          </p:cNvSpPr>
          <p:nvPr/>
        </p:nvSpPr>
        <p:spPr>
          <a:xfrm>
            <a:off x="9308363" y="1655064"/>
            <a:ext cx="822960" cy="329184"/>
          </a:xfrm>
          <a:prstGeom prst="rect">
            <a:avLst/>
          </a:prstGeom>
          <a:noFill/>
        </p:spPr>
        <p:txBody>
          <a:bodyPr wrap="square" lIns="0" tIns="0" rIns="0" bIns="0" anchor="ctr"/>
          <a:lstStyle/>
          <a:p>
            <a:pPr marL="0" indent="0">
              <a:buNone/>
            </a:pPr>
            <a:r>
              <a:rPr sz="2100" b="1">
                <a:solidFill>
                  <a:srgbClr val="FF9F43"/>
                </a:solidFill>
                <a:latin typeface="Calibri"/>
                <a:ea typeface="Calibri"/>
                <a:cs typeface="Calibri"/>
              </a:rPr>
              <a:t>04</a:t>
            </a:r>
            <a:endParaRPr sz="2100"/>
          </a:p>
        </p:txBody>
      </p:sp>
      <p:sp>
        <p:nvSpPr>
          <p:cNvPr id="26" name="Shape 24">
            <a:extLst>
              <a:ext uri="{FF2B5EF4-FFF2-40B4-BE49-F238E27FC236}">
                <a16:creationId xmlns:a16="http://schemas.microsoft.com/office/drawing/2014/main" id="{7199B70B-CCA0-4E54-A295-F9509828D173}"/>
              </a:ext>
            </a:extLst>
          </p:cNvPr>
          <p:cNvSpPr>
            <a:spLocks noGrp="1"/>
          </p:cNvSpPr>
          <p:nvPr/>
        </p:nvSpPr>
        <p:spPr>
          <a:xfrm>
            <a:off x="10893247" y="1691640"/>
            <a:ext cx="640080" cy="237744"/>
          </a:xfrm>
          <a:prstGeom prst="roundRect">
            <a:avLst>
              <a:gd name="adj" fmla="val 50000"/>
            </a:avLst>
          </a:prstGeom>
          <a:solidFill>
            <a:srgbClr val="3D2B0C"/>
          </a:solidFill>
          <a:ln w="9525">
            <a:solidFill>
              <a:srgbClr val="FF9F43"/>
            </a:solidFill>
            <a:prstDash val="solid"/>
          </a:ln>
        </p:spPr>
        <p:txBody>
          <a:bodyPr/>
          <a:lstStyle/>
          <a:p>
            <a:endParaRPr/>
          </a:p>
        </p:txBody>
      </p:sp>
      <p:sp>
        <p:nvSpPr>
          <p:cNvPr id="27" name="Text 25">
            <a:extLst>
              <a:ext uri="{FF2B5EF4-FFF2-40B4-BE49-F238E27FC236}">
                <a16:creationId xmlns:a16="http://schemas.microsoft.com/office/drawing/2014/main" id="{950CAD48-5D41-45E9-99B2-7734D7E0C7D9}"/>
              </a:ext>
            </a:extLst>
          </p:cNvPr>
          <p:cNvSpPr>
            <a:spLocks noGrp="1"/>
          </p:cNvSpPr>
          <p:nvPr/>
        </p:nvSpPr>
        <p:spPr>
          <a:xfrm>
            <a:off x="10893247" y="1691640"/>
            <a:ext cx="640080" cy="237744"/>
          </a:xfrm>
          <a:prstGeom prst="rect">
            <a:avLst/>
          </a:prstGeom>
          <a:noFill/>
        </p:spPr>
        <p:txBody>
          <a:bodyPr wrap="square" lIns="0" tIns="0" rIns="0" bIns="0" anchor="ctr"/>
          <a:lstStyle/>
          <a:p>
            <a:pPr marL="0" indent="0" algn="ctr">
              <a:buNone/>
            </a:pPr>
            <a:r>
              <a:rPr sz="1100" b="1" spc="80">
                <a:solidFill>
                  <a:srgbClr val="FF9F43"/>
                </a:solidFill>
                <a:latin typeface="Calibri"/>
                <a:ea typeface="Calibri"/>
                <a:cs typeface="Calibri"/>
              </a:rPr>
              <a:t>GATE</a:t>
            </a:r>
            <a:endParaRPr sz="1100"/>
          </a:p>
        </p:txBody>
      </p:sp>
      <p:sp>
        <p:nvSpPr>
          <p:cNvPr id="28" name="Text 26">
            <a:extLst>
              <a:ext uri="{FF2B5EF4-FFF2-40B4-BE49-F238E27FC236}">
                <a16:creationId xmlns:a16="http://schemas.microsoft.com/office/drawing/2014/main" id="{6DA28A1E-5D8C-4A33-9261-294C5563940B}"/>
              </a:ext>
            </a:extLst>
          </p:cNvPr>
          <p:cNvSpPr>
            <a:spLocks noGrp="1"/>
          </p:cNvSpPr>
          <p:nvPr/>
        </p:nvSpPr>
        <p:spPr>
          <a:xfrm>
            <a:off x="9308363" y="2039112"/>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Quota assignment</a:t>
            </a:r>
            <a:endParaRPr sz="1400"/>
          </a:p>
        </p:txBody>
      </p:sp>
      <p:sp>
        <p:nvSpPr>
          <p:cNvPr id="29" name="Text 27">
            <a:extLst>
              <a:ext uri="{FF2B5EF4-FFF2-40B4-BE49-F238E27FC236}">
                <a16:creationId xmlns:a16="http://schemas.microsoft.com/office/drawing/2014/main" id="{B587712D-4C34-4937-9131-8FDC5D240A0E}"/>
              </a:ext>
            </a:extLst>
          </p:cNvPr>
          <p:cNvSpPr>
            <a:spLocks noGrp="1"/>
          </p:cNvSpPr>
          <p:nvPr/>
        </p:nvSpPr>
        <p:spPr>
          <a:xfrm>
            <a:off x="9308363" y="2478024"/>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Token quota and rate limit set per consumer.</a:t>
            </a:r>
            <a:endParaRPr sz="1200"/>
          </a:p>
        </p:txBody>
      </p:sp>
      <p:sp>
        <p:nvSpPr>
          <p:cNvPr id="30" name="Shape 28">
            <a:extLst>
              <a:ext uri="{FF2B5EF4-FFF2-40B4-BE49-F238E27FC236}">
                <a16:creationId xmlns:a16="http://schemas.microsoft.com/office/drawing/2014/main" id="{50F6E277-96B5-4130-9EEC-D3233224827D}"/>
              </a:ext>
            </a:extLst>
          </p:cNvPr>
          <p:cNvSpPr>
            <a:spLocks noGrp="1"/>
          </p:cNvSpPr>
          <p:nvPr/>
        </p:nvSpPr>
        <p:spPr>
          <a:xfrm>
            <a:off x="457200" y="3639312"/>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31" name="Text 29">
            <a:extLst>
              <a:ext uri="{FF2B5EF4-FFF2-40B4-BE49-F238E27FC236}">
                <a16:creationId xmlns:a16="http://schemas.microsoft.com/office/drawing/2014/main" id="{CF9236D2-A554-4980-B169-44D07ED635BB}"/>
              </a:ext>
            </a:extLst>
          </p:cNvPr>
          <p:cNvSpPr>
            <a:spLocks noGrp="1"/>
          </p:cNvSpPr>
          <p:nvPr/>
        </p:nvSpPr>
        <p:spPr>
          <a:xfrm>
            <a:off x="658368" y="3785616"/>
            <a:ext cx="822960" cy="329184"/>
          </a:xfrm>
          <a:prstGeom prst="rect">
            <a:avLst/>
          </a:prstGeom>
          <a:noFill/>
        </p:spPr>
        <p:txBody>
          <a:bodyPr wrap="square" lIns="0" tIns="0" rIns="0" bIns="0" anchor="ctr"/>
          <a:lstStyle/>
          <a:p>
            <a:pPr marL="0" indent="0">
              <a:buNone/>
            </a:pPr>
            <a:r>
              <a:rPr sz="2100" b="1">
                <a:solidFill>
                  <a:srgbClr val="FF9F43"/>
                </a:solidFill>
                <a:latin typeface="Calibri"/>
                <a:ea typeface="Calibri"/>
                <a:cs typeface="Calibri"/>
              </a:rPr>
              <a:t>05</a:t>
            </a:r>
            <a:endParaRPr sz="2100"/>
          </a:p>
        </p:txBody>
      </p:sp>
      <p:sp>
        <p:nvSpPr>
          <p:cNvPr id="32" name="Shape 30">
            <a:extLst>
              <a:ext uri="{FF2B5EF4-FFF2-40B4-BE49-F238E27FC236}">
                <a16:creationId xmlns:a16="http://schemas.microsoft.com/office/drawing/2014/main" id="{7F1A55C6-593A-425E-8945-B1BCB532ED25}"/>
              </a:ext>
            </a:extLst>
          </p:cNvPr>
          <p:cNvSpPr>
            <a:spLocks noGrp="1"/>
          </p:cNvSpPr>
          <p:nvPr/>
        </p:nvSpPr>
        <p:spPr>
          <a:xfrm>
            <a:off x="2243252" y="3822192"/>
            <a:ext cx="640080" cy="237744"/>
          </a:xfrm>
          <a:prstGeom prst="roundRect">
            <a:avLst>
              <a:gd name="adj" fmla="val 50000"/>
            </a:avLst>
          </a:prstGeom>
          <a:solidFill>
            <a:srgbClr val="3D2B0C"/>
          </a:solidFill>
          <a:ln w="9525">
            <a:solidFill>
              <a:srgbClr val="FF9F43"/>
            </a:solidFill>
            <a:prstDash val="solid"/>
          </a:ln>
        </p:spPr>
        <p:txBody>
          <a:bodyPr/>
          <a:lstStyle/>
          <a:p>
            <a:endParaRPr/>
          </a:p>
        </p:txBody>
      </p:sp>
      <p:sp>
        <p:nvSpPr>
          <p:cNvPr id="33" name="Text 31">
            <a:extLst>
              <a:ext uri="{FF2B5EF4-FFF2-40B4-BE49-F238E27FC236}">
                <a16:creationId xmlns:a16="http://schemas.microsoft.com/office/drawing/2014/main" id="{2553D245-D574-478F-85AD-0D9E7CED8A83}"/>
              </a:ext>
            </a:extLst>
          </p:cNvPr>
          <p:cNvSpPr>
            <a:spLocks noGrp="1"/>
          </p:cNvSpPr>
          <p:nvPr/>
        </p:nvSpPr>
        <p:spPr>
          <a:xfrm>
            <a:off x="2243252" y="3822192"/>
            <a:ext cx="640080" cy="237744"/>
          </a:xfrm>
          <a:prstGeom prst="rect">
            <a:avLst/>
          </a:prstGeom>
          <a:noFill/>
        </p:spPr>
        <p:txBody>
          <a:bodyPr wrap="square" lIns="0" tIns="0" rIns="0" bIns="0" anchor="ctr"/>
          <a:lstStyle/>
          <a:p>
            <a:pPr marL="0" indent="0" algn="ctr">
              <a:buNone/>
            </a:pPr>
            <a:r>
              <a:rPr sz="1100" b="1" spc="80">
                <a:solidFill>
                  <a:srgbClr val="FF9F43"/>
                </a:solidFill>
                <a:latin typeface="Calibri"/>
                <a:ea typeface="Calibri"/>
                <a:cs typeface="Calibri"/>
              </a:rPr>
              <a:t>GATE</a:t>
            </a:r>
            <a:endParaRPr sz="1100"/>
          </a:p>
        </p:txBody>
      </p:sp>
      <p:sp>
        <p:nvSpPr>
          <p:cNvPr id="34" name="Text 32">
            <a:extLst>
              <a:ext uri="{FF2B5EF4-FFF2-40B4-BE49-F238E27FC236}">
                <a16:creationId xmlns:a16="http://schemas.microsoft.com/office/drawing/2014/main" id="{CF3942B2-25B5-45D2-B6A2-8920D6A0A656}"/>
              </a:ext>
            </a:extLst>
          </p:cNvPr>
          <p:cNvSpPr>
            <a:spLocks noGrp="1"/>
          </p:cNvSpPr>
          <p:nvPr/>
        </p:nvSpPr>
        <p:spPr>
          <a:xfrm>
            <a:off x="658368" y="4169664"/>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Gateway policy</a:t>
            </a:r>
            <a:endParaRPr sz="1400"/>
          </a:p>
        </p:txBody>
      </p:sp>
      <p:sp>
        <p:nvSpPr>
          <p:cNvPr id="35" name="Text 33">
            <a:extLst>
              <a:ext uri="{FF2B5EF4-FFF2-40B4-BE49-F238E27FC236}">
                <a16:creationId xmlns:a16="http://schemas.microsoft.com/office/drawing/2014/main" id="{7D27F3DF-B391-420D-AE6B-7804A55B9E31}"/>
              </a:ext>
            </a:extLst>
          </p:cNvPr>
          <p:cNvSpPr>
            <a:spLocks noGrp="1"/>
          </p:cNvSpPr>
          <p:nvPr/>
        </p:nvSpPr>
        <p:spPr>
          <a:xfrm>
            <a:off x="658368" y="4608576"/>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Key issued, model tier pinned, policy applied.</a:t>
            </a:r>
            <a:endParaRPr sz="1200"/>
          </a:p>
        </p:txBody>
      </p:sp>
      <p:sp>
        <p:nvSpPr>
          <p:cNvPr id="36" name="Shape 34">
            <a:extLst>
              <a:ext uri="{FF2B5EF4-FFF2-40B4-BE49-F238E27FC236}">
                <a16:creationId xmlns:a16="http://schemas.microsoft.com/office/drawing/2014/main" id="{84CCC720-D5D1-41CF-9258-AEE0BD6E6D7A}"/>
              </a:ext>
            </a:extLst>
          </p:cNvPr>
          <p:cNvSpPr>
            <a:spLocks noGrp="1"/>
          </p:cNvSpPr>
          <p:nvPr/>
        </p:nvSpPr>
        <p:spPr>
          <a:xfrm>
            <a:off x="3340532" y="3639312"/>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37" name="Text 35">
            <a:extLst>
              <a:ext uri="{FF2B5EF4-FFF2-40B4-BE49-F238E27FC236}">
                <a16:creationId xmlns:a16="http://schemas.microsoft.com/office/drawing/2014/main" id="{F2CFCD7E-888C-4F8D-AFA0-5E08085C8FA2}"/>
              </a:ext>
            </a:extLst>
          </p:cNvPr>
          <p:cNvSpPr>
            <a:spLocks noGrp="1"/>
          </p:cNvSpPr>
          <p:nvPr/>
        </p:nvSpPr>
        <p:spPr>
          <a:xfrm>
            <a:off x="3541700" y="3785616"/>
            <a:ext cx="822960" cy="329184"/>
          </a:xfrm>
          <a:prstGeom prst="rect">
            <a:avLst/>
          </a:prstGeom>
          <a:noFill/>
        </p:spPr>
        <p:txBody>
          <a:bodyPr wrap="square" lIns="0" tIns="0" rIns="0" bIns="0" anchor="ctr"/>
          <a:lstStyle/>
          <a:p>
            <a:pPr marL="0" indent="0">
              <a:buNone/>
            </a:pPr>
            <a:r>
              <a:rPr sz="2100" b="1">
                <a:solidFill>
                  <a:srgbClr val="536078"/>
                </a:solidFill>
                <a:latin typeface="Calibri"/>
                <a:ea typeface="Calibri"/>
                <a:cs typeface="Calibri"/>
              </a:rPr>
              <a:t>06</a:t>
            </a:r>
            <a:endParaRPr sz="2100"/>
          </a:p>
        </p:txBody>
      </p:sp>
      <p:sp>
        <p:nvSpPr>
          <p:cNvPr id="38" name="Text 36">
            <a:extLst>
              <a:ext uri="{FF2B5EF4-FFF2-40B4-BE49-F238E27FC236}">
                <a16:creationId xmlns:a16="http://schemas.microsoft.com/office/drawing/2014/main" id="{6EC008ED-A3D5-4639-96DE-492486BDDF0D}"/>
              </a:ext>
            </a:extLst>
          </p:cNvPr>
          <p:cNvSpPr>
            <a:spLocks noGrp="1"/>
          </p:cNvSpPr>
          <p:nvPr/>
        </p:nvSpPr>
        <p:spPr>
          <a:xfrm>
            <a:off x="3541700" y="4169664"/>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Deployment</a:t>
            </a:r>
            <a:endParaRPr sz="1400"/>
          </a:p>
        </p:txBody>
      </p:sp>
      <p:sp>
        <p:nvSpPr>
          <p:cNvPr id="39" name="Text 37">
            <a:extLst>
              <a:ext uri="{FF2B5EF4-FFF2-40B4-BE49-F238E27FC236}">
                <a16:creationId xmlns:a16="http://schemas.microsoft.com/office/drawing/2014/main" id="{89BDFB1D-6E88-4A64-86A1-8B680D31FA2D}"/>
              </a:ext>
            </a:extLst>
          </p:cNvPr>
          <p:cNvSpPr>
            <a:spLocks noGrp="1"/>
          </p:cNvSpPr>
          <p:nvPr/>
        </p:nvSpPr>
        <p:spPr>
          <a:xfrm>
            <a:off x="3541700" y="4608576"/>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Workload goes live through the gateway, never around it.</a:t>
            </a:r>
            <a:endParaRPr sz="1200"/>
          </a:p>
        </p:txBody>
      </p:sp>
      <p:sp>
        <p:nvSpPr>
          <p:cNvPr id="40" name="Shape 38">
            <a:extLst>
              <a:ext uri="{FF2B5EF4-FFF2-40B4-BE49-F238E27FC236}">
                <a16:creationId xmlns:a16="http://schemas.microsoft.com/office/drawing/2014/main" id="{BE4C3FDF-467C-4A94-876F-E218105AF4F5}"/>
              </a:ext>
            </a:extLst>
          </p:cNvPr>
          <p:cNvSpPr>
            <a:spLocks noGrp="1"/>
          </p:cNvSpPr>
          <p:nvPr/>
        </p:nvSpPr>
        <p:spPr>
          <a:xfrm>
            <a:off x="6223864" y="3639312"/>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41" name="Text 39">
            <a:extLst>
              <a:ext uri="{FF2B5EF4-FFF2-40B4-BE49-F238E27FC236}">
                <a16:creationId xmlns:a16="http://schemas.microsoft.com/office/drawing/2014/main" id="{1A6AEB24-3571-4D78-A6D0-D227B2611454}"/>
              </a:ext>
            </a:extLst>
          </p:cNvPr>
          <p:cNvSpPr>
            <a:spLocks noGrp="1"/>
          </p:cNvSpPr>
          <p:nvPr/>
        </p:nvSpPr>
        <p:spPr>
          <a:xfrm>
            <a:off x="6425032" y="3785616"/>
            <a:ext cx="822960" cy="329184"/>
          </a:xfrm>
          <a:prstGeom prst="rect">
            <a:avLst/>
          </a:prstGeom>
          <a:noFill/>
        </p:spPr>
        <p:txBody>
          <a:bodyPr wrap="square" lIns="0" tIns="0" rIns="0" bIns="0" anchor="ctr"/>
          <a:lstStyle/>
          <a:p>
            <a:pPr marL="0" indent="0">
              <a:buNone/>
            </a:pPr>
            <a:r>
              <a:rPr sz="2100" b="1">
                <a:solidFill>
                  <a:srgbClr val="536078"/>
                </a:solidFill>
                <a:latin typeface="Calibri"/>
                <a:ea typeface="Calibri"/>
                <a:cs typeface="Calibri"/>
              </a:rPr>
              <a:t>07</a:t>
            </a:r>
            <a:endParaRPr sz="2100"/>
          </a:p>
        </p:txBody>
      </p:sp>
      <p:sp>
        <p:nvSpPr>
          <p:cNvPr id="42" name="Text 40">
            <a:extLst>
              <a:ext uri="{FF2B5EF4-FFF2-40B4-BE49-F238E27FC236}">
                <a16:creationId xmlns:a16="http://schemas.microsoft.com/office/drawing/2014/main" id="{46ED9B8D-F306-4FA7-980C-AD805B6A0A85}"/>
              </a:ext>
            </a:extLst>
          </p:cNvPr>
          <p:cNvSpPr>
            <a:spLocks noGrp="1"/>
          </p:cNvSpPr>
          <p:nvPr/>
        </p:nvSpPr>
        <p:spPr>
          <a:xfrm>
            <a:off x="6425032" y="4169664"/>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Monitoring</a:t>
            </a:r>
            <a:endParaRPr sz="1400"/>
          </a:p>
        </p:txBody>
      </p:sp>
      <p:sp>
        <p:nvSpPr>
          <p:cNvPr id="43" name="Text 41">
            <a:extLst>
              <a:ext uri="{FF2B5EF4-FFF2-40B4-BE49-F238E27FC236}">
                <a16:creationId xmlns:a16="http://schemas.microsoft.com/office/drawing/2014/main" id="{D709407B-7A1E-47A0-8EC8-95157882738C}"/>
              </a:ext>
            </a:extLst>
          </p:cNvPr>
          <p:cNvSpPr>
            <a:spLocks noGrp="1"/>
          </p:cNvSpPr>
          <p:nvPr/>
        </p:nvSpPr>
        <p:spPr>
          <a:xfrm>
            <a:off x="6425032" y="4608576"/>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Usage, anomalies and unit cost tracked continuously.</a:t>
            </a:r>
            <a:endParaRPr sz="1200"/>
          </a:p>
        </p:txBody>
      </p:sp>
      <p:sp>
        <p:nvSpPr>
          <p:cNvPr id="44" name="Shape 42">
            <a:extLst>
              <a:ext uri="{FF2B5EF4-FFF2-40B4-BE49-F238E27FC236}">
                <a16:creationId xmlns:a16="http://schemas.microsoft.com/office/drawing/2014/main" id="{3FF1767F-4783-47D6-B1FE-9227FD578F71}"/>
              </a:ext>
            </a:extLst>
          </p:cNvPr>
          <p:cNvSpPr>
            <a:spLocks noGrp="1"/>
          </p:cNvSpPr>
          <p:nvPr/>
        </p:nvSpPr>
        <p:spPr>
          <a:xfrm>
            <a:off x="9107195" y="3639312"/>
            <a:ext cx="2627300" cy="1874520"/>
          </a:xfrm>
          <a:prstGeom prst="roundRect">
            <a:avLst>
              <a:gd name="adj" fmla="val 2927"/>
            </a:avLst>
          </a:prstGeom>
          <a:solidFill>
            <a:srgbClr val="121B2D"/>
          </a:solidFill>
          <a:ln w="12700">
            <a:solidFill>
              <a:srgbClr val="23304A"/>
            </a:solidFill>
            <a:prstDash val="solid"/>
          </a:ln>
        </p:spPr>
        <p:txBody>
          <a:bodyPr/>
          <a:lstStyle/>
          <a:p>
            <a:endParaRPr/>
          </a:p>
        </p:txBody>
      </p:sp>
      <p:sp>
        <p:nvSpPr>
          <p:cNvPr id="45" name="Text 43">
            <a:extLst>
              <a:ext uri="{FF2B5EF4-FFF2-40B4-BE49-F238E27FC236}">
                <a16:creationId xmlns:a16="http://schemas.microsoft.com/office/drawing/2014/main" id="{8A7C0D31-965C-4169-8BC9-352325B59216}"/>
              </a:ext>
            </a:extLst>
          </p:cNvPr>
          <p:cNvSpPr>
            <a:spLocks noGrp="1"/>
          </p:cNvSpPr>
          <p:nvPr/>
        </p:nvSpPr>
        <p:spPr>
          <a:xfrm>
            <a:off x="9308363" y="3785616"/>
            <a:ext cx="822960" cy="329184"/>
          </a:xfrm>
          <a:prstGeom prst="rect">
            <a:avLst/>
          </a:prstGeom>
          <a:noFill/>
        </p:spPr>
        <p:txBody>
          <a:bodyPr wrap="square" lIns="0" tIns="0" rIns="0" bIns="0" anchor="ctr"/>
          <a:lstStyle/>
          <a:p>
            <a:pPr marL="0" indent="0">
              <a:buNone/>
            </a:pPr>
            <a:r>
              <a:rPr sz="2100" b="1">
                <a:solidFill>
                  <a:srgbClr val="536078"/>
                </a:solidFill>
                <a:latin typeface="Calibri"/>
                <a:ea typeface="Calibri"/>
                <a:cs typeface="Calibri"/>
              </a:rPr>
              <a:t>08</a:t>
            </a:r>
            <a:endParaRPr sz="2100"/>
          </a:p>
        </p:txBody>
      </p:sp>
      <p:sp>
        <p:nvSpPr>
          <p:cNvPr id="46" name="Text 44">
            <a:extLst>
              <a:ext uri="{FF2B5EF4-FFF2-40B4-BE49-F238E27FC236}">
                <a16:creationId xmlns:a16="http://schemas.microsoft.com/office/drawing/2014/main" id="{6FFDD5B1-443A-4AA0-8701-B2CFC1887A6B}"/>
              </a:ext>
            </a:extLst>
          </p:cNvPr>
          <p:cNvSpPr>
            <a:spLocks noGrp="1"/>
          </p:cNvSpPr>
          <p:nvPr/>
        </p:nvSpPr>
        <p:spPr>
          <a:xfrm>
            <a:off x="9308363" y="4169664"/>
            <a:ext cx="2224964" cy="457200"/>
          </a:xfrm>
          <a:prstGeom prst="rect">
            <a:avLst/>
          </a:prstGeom>
          <a:noFill/>
        </p:spPr>
        <p:txBody>
          <a:bodyPr wrap="square" lIns="0" tIns="0" rIns="0" bIns="0" anchor="t"/>
          <a:lstStyle/>
          <a:p>
            <a:pPr marL="0" indent="0">
              <a:buNone/>
            </a:pPr>
            <a:r>
              <a:rPr sz="1400" b="1">
                <a:solidFill>
                  <a:srgbClr val="F4F7FB"/>
                </a:solidFill>
                <a:latin typeface="Calibri"/>
                <a:ea typeface="Calibri"/>
                <a:cs typeface="Calibri"/>
              </a:rPr>
              <a:t>Executive report</a:t>
            </a:r>
            <a:endParaRPr sz="1400"/>
          </a:p>
        </p:txBody>
      </p:sp>
      <p:sp>
        <p:nvSpPr>
          <p:cNvPr id="47" name="Text 45">
            <a:extLst>
              <a:ext uri="{FF2B5EF4-FFF2-40B4-BE49-F238E27FC236}">
                <a16:creationId xmlns:a16="http://schemas.microsoft.com/office/drawing/2014/main" id="{4481F887-C926-406E-9716-A18B25EBED0C}"/>
              </a:ext>
            </a:extLst>
          </p:cNvPr>
          <p:cNvSpPr>
            <a:spLocks noGrp="1"/>
          </p:cNvSpPr>
          <p:nvPr/>
        </p:nvSpPr>
        <p:spPr>
          <a:xfrm>
            <a:off x="9308363" y="4608576"/>
            <a:ext cx="2224964" cy="777240"/>
          </a:xfrm>
          <a:prstGeom prst="rect">
            <a:avLst/>
          </a:prstGeom>
          <a:noFill/>
        </p:spPr>
        <p:txBody>
          <a:bodyPr wrap="square" lIns="0" tIns="0" rIns="0" bIns="0" anchor="t"/>
          <a:lstStyle/>
          <a:p>
            <a:pPr marL="0" indent="0">
              <a:lnSpc>
                <a:spcPct val="115000"/>
              </a:lnSpc>
              <a:buNone/>
            </a:pPr>
            <a:r>
              <a:rPr sz="1200">
                <a:solidFill>
                  <a:srgbClr val="91A0B7"/>
                </a:solidFill>
                <a:latin typeface="Calibri"/>
                <a:ea typeface="Calibri"/>
                <a:cs typeface="Calibri"/>
              </a:rPr>
              <a:t>Consumption, variance and value reported monthly.</a:t>
            </a:r>
            <a:endParaRPr sz="1200"/>
          </a:p>
        </p:txBody>
      </p:sp>
    </p:spTree>
    <p:extLst>
      <p:ext uri="{BB962C8B-B14F-4D97-AF65-F5344CB8AC3E}">
        <p14:creationId xmlns:p14="http://schemas.microsoft.com/office/powerpoint/2010/main" val="4120224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757D293-3191-47ED-8DC6-28B3607D43E0}"/>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DEDA71BF-5BE3-4715-86E7-E9D5445EBCA9}"/>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a:p>
        </p:txBody>
      </p:sp>
      <p:sp>
        <p:nvSpPr>
          <p:cNvPr id="4" name="Text 2">
            <a:extLst>
              <a:ext uri="{FF2B5EF4-FFF2-40B4-BE49-F238E27FC236}">
                <a16:creationId xmlns:a16="http://schemas.microsoft.com/office/drawing/2014/main" id="{0D258B3E-C06A-4723-BFF3-AADA2C516407}"/>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MODEL POLICY</a:t>
            </a:r>
            <a:endParaRPr sz="1300"/>
          </a:p>
        </p:txBody>
      </p:sp>
      <p:sp>
        <p:nvSpPr>
          <p:cNvPr id="5" name="Text 3">
            <a:extLst>
              <a:ext uri="{FF2B5EF4-FFF2-40B4-BE49-F238E27FC236}">
                <a16:creationId xmlns:a16="http://schemas.microsoft.com/office/drawing/2014/main" id="{ECE34316-2C82-4EB8-A6AA-57937DEE4C84}"/>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333" b="1">
                <a:solidFill>
                  <a:srgbClr val="F4F7FB"/>
                </a:solidFill>
                <a:latin typeface="Calibri"/>
                <a:ea typeface="Calibri"/>
                <a:cs typeface="Calibri"/>
              </a:rPr>
              <a:t>Sonnet by default, Opus by exception</a:t>
            </a:r>
            <a:endParaRPr sz="2333"/>
          </a:p>
        </p:txBody>
      </p:sp>
      <p:sp>
        <p:nvSpPr>
          <p:cNvPr id="6" name="Text 4">
            <a:extLst>
              <a:ext uri="{FF2B5EF4-FFF2-40B4-BE49-F238E27FC236}">
                <a16:creationId xmlns:a16="http://schemas.microsoft.com/office/drawing/2014/main" id="{00AA44DC-A096-465F-94A8-6ED8EE9E2D60}"/>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GitHub Copilot model selection is the one AI lever that needs no new platform, only a policy.</a:t>
            </a:r>
            <a:endParaRPr sz="1200"/>
          </a:p>
        </p:txBody>
      </p:sp>
      <p:sp>
        <p:nvSpPr>
          <p:cNvPr id="7" name="Text 5">
            <a:extLst>
              <a:ext uri="{FF2B5EF4-FFF2-40B4-BE49-F238E27FC236}">
                <a16:creationId xmlns:a16="http://schemas.microsoft.com/office/drawing/2014/main" id="{A2ED11E6-4407-47A2-AF74-6E511267749A}"/>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The same policy applies to Bedrock: 82% of AWS AI spend is Opus-class, and the model mix changes month to month: Opus 4.8 ran and stopped, Opus 5 appeared in July. That is a policy gap, not a usage pattern.</a:t>
            </a:r>
            <a:endParaRPr sz="1200"/>
          </a:p>
        </p:txBody>
      </p:sp>
      <p:sp>
        <p:nvSpPr>
          <p:cNvPr id="8" name="Text 6">
            <a:extLst>
              <a:ext uri="{FF2B5EF4-FFF2-40B4-BE49-F238E27FC236}">
                <a16:creationId xmlns:a16="http://schemas.microsoft.com/office/drawing/2014/main" id="{7FCCF5C3-5834-48DC-82A5-8D524AE56BC4}"/>
              </a:ext>
            </a:extLst>
          </p:cNvPr>
          <p:cNvSpPr>
            <a:spLocks noGrp="1"/>
          </p:cNvSpPr>
          <p:nvPr/>
        </p:nvSpPr>
        <p:spPr>
          <a:xfrm>
            <a:off x="457200" y="1234440"/>
            <a:ext cx="768096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Model pricing and intended use</a:t>
            </a:r>
            <a:endParaRPr sz="1500"/>
          </a:p>
        </p:txBody>
      </p:sp>
      <p:sp>
        <p:nvSpPr>
          <p:cNvPr id="9" name="Text 7">
            <a:extLst>
              <a:ext uri="{FF2B5EF4-FFF2-40B4-BE49-F238E27FC236}">
                <a16:creationId xmlns:a16="http://schemas.microsoft.com/office/drawing/2014/main" id="{42D93D18-7795-44C5-9230-D9AE6202DB82}"/>
              </a:ext>
            </a:extLst>
          </p:cNvPr>
          <p:cNvSpPr>
            <a:spLocks noGrp="1"/>
          </p:cNvSpPr>
          <p:nvPr/>
        </p:nvSpPr>
        <p:spPr>
          <a:xfrm>
            <a:off x="457200" y="1508760"/>
            <a:ext cx="7680960" cy="219456"/>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Promotional pricing, valid through 31 August 2026</a:t>
            </a:r>
            <a:endParaRPr sz="1200"/>
          </a:p>
        </p:txBody>
      </p:sp>
      <p:graphicFrame>
        <p:nvGraphicFramePr>
          <p:cNvPr id="35" name="Table 0"/>
          <p:cNvGraphicFramePr/>
          <p:nvPr/>
        </p:nvGraphicFramePr>
        <p:xfrm>
          <a:off x="457200" y="1764792"/>
          <a:ext cx="7680960" cy="1586992"/>
        </p:xfrm>
        <a:graphic>
          <a:graphicData uri="http://schemas.openxmlformats.org/drawingml/2006/table">
            <a:tbl>
              <a:tblPr/>
              <a:tblGrid>
                <a:gridCol w="19202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292608">
                <a:tc>
                  <a:txBody>
                    <a:bodyPr/>
                    <a:lstStyle/>
                    <a:p>
                      <a:pPr marL="0" indent="0" algn="l">
                        <a:buNone/>
                      </a:pPr>
                      <a:r>
                        <a:rPr sz="1200" b="1" spc="80">
                          <a:solidFill>
                            <a:srgbClr val="91A0B7"/>
                          </a:solidFill>
                          <a:latin typeface="Calibri"/>
                          <a:ea typeface="Calibri"/>
                          <a:cs typeface="Calibri"/>
                        </a:rPr>
                        <a:t>Model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Input / 1M</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Output / 1M</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Relative cost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Recommended usage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Claude Sonnet 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$10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Baseline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Default model: routine coding, SQL, debugging, documentation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Claude Opus 4.8</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$25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E0A030"/>
                          </a:solidFill>
                          <a:latin typeface="Calibri"/>
                          <a:ea typeface="Calibri"/>
                          <a:cs typeface="Calibri"/>
                        </a:rPr>
                        <a:t>~2.5x</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Complex tasks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Claude Opus 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$25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E0A030"/>
                          </a:solidFill>
                          <a:latin typeface="Calibri"/>
                          <a:ea typeface="Calibri"/>
                          <a:cs typeface="Calibri"/>
                        </a:rPr>
                        <a:t>~2.5x</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Advanced reasoning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Opus 4.8 Fast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$10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$50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F6B7A"/>
                          </a:solidFill>
                          <a:latin typeface="Calibri"/>
                          <a:ea typeface="Calibri"/>
                          <a:cs typeface="Calibri"/>
                        </a:rPr>
                        <a:t>~5x</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Exception only</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97B72BAE-1901-4161-940A-47DC1FA1F8E8}"/>
              </a:ext>
            </a:extLst>
          </p:cNvPr>
          <p:cNvSpPr>
            <a:spLocks noGrp="1"/>
          </p:cNvSpPr>
          <p:nvPr/>
        </p:nvSpPr>
        <p:spPr>
          <a:xfrm>
            <a:off x="8503920" y="1234440"/>
            <a:ext cx="323057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2" name="Text 9">
            <a:extLst>
              <a:ext uri="{FF2B5EF4-FFF2-40B4-BE49-F238E27FC236}">
                <a16:creationId xmlns:a16="http://schemas.microsoft.com/office/drawing/2014/main" id="{C4A5ED72-0FD9-4C66-BB7A-0D44F8C83513}"/>
              </a:ext>
            </a:extLst>
          </p:cNvPr>
          <p:cNvSpPr>
            <a:spLocks noGrp="1"/>
          </p:cNvSpPr>
          <p:nvPr/>
        </p:nvSpPr>
        <p:spPr>
          <a:xfrm>
            <a:off x="8705088" y="1325880"/>
            <a:ext cx="282823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AVAILABLE SAVING</a:t>
            </a:r>
            <a:endParaRPr sz="1200"/>
          </a:p>
        </p:txBody>
      </p:sp>
      <p:sp>
        <p:nvSpPr>
          <p:cNvPr id="13" name="Text 10">
            <a:extLst>
              <a:ext uri="{FF2B5EF4-FFF2-40B4-BE49-F238E27FC236}">
                <a16:creationId xmlns:a16="http://schemas.microsoft.com/office/drawing/2014/main" id="{65835EF9-A873-4C91-98A2-1D3F3544E118}"/>
              </a:ext>
            </a:extLst>
          </p:cNvPr>
          <p:cNvSpPr>
            <a:spLocks noGrp="1"/>
          </p:cNvSpPr>
          <p:nvPr/>
        </p:nvSpPr>
        <p:spPr>
          <a:xfrm>
            <a:off x="8705088" y="1527048"/>
            <a:ext cx="282823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~60%</a:t>
            </a:r>
            <a:endParaRPr sz="2800"/>
          </a:p>
        </p:txBody>
      </p:sp>
      <p:sp>
        <p:nvSpPr>
          <p:cNvPr id="14" name="Text 11">
            <a:extLst>
              <a:ext uri="{FF2B5EF4-FFF2-40B4-BE49-F238E27FC236}">
                <a16:creationId xmlns:a16="http://schemas.microsoft.com/office/drawing/2014/main" id="{131F89DE-C06A-45BA-9620-26DC2A73428D}"/>
              </a:ext>
            </a:extLst>
          </p:cNvPr>
          <p:cNvSpPr>
            <a:spLocks noGrp="1"/>
          </p:cNvSpPr>
          <p:nvPr/>
        </p:nvSpPr>
        <p:spPr>
          <a:xfrm>
            <a:off x="8705088" y="1929384"/>
            <a:ext cx="2828239"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on model token cost, routine work Opus to Sonnet</a:t>
            </a:r>
            <a:endParaRPr sz="1200"/>
          </a:p>
        </p:txBody>
      </p:sp>
      <p:sp>
        <p:nvSpPr>
          <p:cNvPr id="15" name="Shape 12">
            <a:extLst>
              <a:ext uri="{FF2B5EF4-FFF2-40B4-BE49-F238E27FC236}">
                <a16:creationId xmlns:a16="http://schemas.microsoft.com/office/drawing/2014/main" id="{CBA2E43C-A79C-4016-818B-21EE345A0A3B}"/>
              </a:ext>
            </a:extLst>
          </p:cNvPr>
          <p:cNvSpPr>
            <a:spLocks noGrp="1"/>
          </p:cNvSpPr>
          <p:nvPr/>
        </p:nvSpPr>
        <p:spPr>
          <a:xfrm>
            <a:off x="8503920" y="2459736"/>
            <a:ext cx="323057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6" name="Text 13">
            <a:extLst>
              <a:ext uri="{FF2B5EF4-FFF2-40B4-BE49-F238E27FC236}">
                <a16:creationId xmlns:a16="http://schemas.microsoft.com/office/drawing/2014/main" id="{DF3A7B14-6174-4D47-A8C1-60EC6E241FC6}"/>
              </a:ext>
            </a:extLst>
          </p:cNvPr>
          <p:cNvSpPr>
            <a:spLocks noGrp="1"/>
          </p:cNvSpPr>
          <p:nvPr/>
        </p:nvSpPr>
        <p:spPr>
          <a:xfrm>
            <a:off x="8705088" y="2551176"/>
            <a:ext cx="282823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GITHUB COPILOT SPEND</a:t>
            </a:r>
            <a:endParaRPr sz="1200"/>
          </a:p>
        </p:txBody>
      </p:sp>
      <p:sp>
        <p:nvSpPr>
          <p:cNvPr id="17" name="Text 14">
            <a:extLst>
              <a:ext uri="{FF2B5EF4-FFF2-40B4-BE49-F238E27FC236}">
                <a16:creationId xmlns:a16="http://schemas.microsoft.com/office/drawing/2014/main" id="{B89F3A02-B30B-400A-ABB1-8081524F4178}"/>
              </a:ext>
            </a:extLst>
          </p:cNvPr>
          <p:cNvSpPr>
            <a:spLocks noGrp="1"/>
          </p:cNvSpPr>
          <p:nvPr/>
        </p:nvSpPr>
        <p:spPr>
          <a:xfrm>
            <a:off x="8705088" y="2752344"/>
            <a:ext cx="282823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$57,177</a:t>
            </a:r>
            <a:endParaRPr sz="2800"/>
          </a:p>
        </p:txBody>
      </p:sp>
      <p:sp>
        <p:nvSpPr>
          <p:cNvPr id="18" name="Text 15">
            <a:extLst>
              <a:ext uri="{FF2B5EF4-FFF2-40B4-BE49-F238E27FC236}">
                <a16:creationId xmlns:a16="http://schemas.microsoft.com/office/drawing/2014/main" id="{528AFBB5-EF79-4029-A804-9C23C3A62C50}"/>
              </a:ext>
            </a:extLst>
          </p:cNvPr>
          <p:cNvSpPr>
            <a:spLocks noGrp="1"/>
          </p:cNvSpPr>
          <p:nvPr/>
        </p:nvSpPr>
        <p:spPr>
          <a:xfrm>
            <a:off x="8705088" y="3154680"/>
            <a:ext cx="2828239" cy="329184"/>
          </a:xfrm>
          <a:prstGeom prst="rect">
            <a:avLst/>
          </a:prstGeom>
          <a:noFill/>
        </p:spPr>
        <p:txBody>
          <a:bodyPr wrap="square" lIns="0" tIns="0" rIns="0" bIns="0" anchor="t"/>
          <a:lstStyle/>
          <a:p>
            <a:pPr marL="0" indent="0">
              <a:lnSpc>
                <a:spcPct val="105000"/>
              </a:lnSpc>
              <a:buNone/>
            </a:pPr>
            <a:r>
              <a:rPr sz="1200" b="1">
                <a:solidFill>
                  <a:srgbClr val="FF6B7A"/>
                </a:solidFill>
                <a:latin typeface="Calibri"/>
                <a:ea typeface="Calibri"/>
                <a:cs typeface="Calibri"/>
              </a:rPr>
              <a:t>Jan-Jul, +593% Jan to Jul</a:t>
            </a:r>
            <a:endParaRPr sz="1200"/>
          </a:p>
        </p:txBody>
      </p:sp>
      <p:sp>
        <p:nvSpPr>
          <p:cNvPr id="19" name="Shape 16">
            <a:extLst>
              <a:ext uri="{FF2B5EF4-FFF2-40B4-BE49-F238E27FC236}">
                <a16:creationId xmlns:a16="http://schemas.microsoft.com/office/drawing/2014/main" id="{365B20CE-63FF-41A0-9160-EE714B3198FD}"/>
              </a:ext>
            </a:extLst>
          </p:cNvPr>
          <p:cNvSpPr>
            <a:spLocks noGrp="1"/>
          </p:cNvSpPr>
          <p:nvPr/>
        </p:nvSpPr>
        <p:spPr>
          <a:xfrm>
            <a:off x="8503920" y="3685032"/>
            <a:ext cx="323057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20" name="Text 17">
            <a:extLst>
              <a:ext uri="{FF2B5EF4-FFF2-40B4-BE49-F238E27FC236}">
                <a16:creationId xmlns:a16="http://schemas.microsoft.com/office/drawing/2014/main" id="{BCEF87DB-120C-474A-9CF9-251F8178D590}"/>
              </a:ext>
            </a:extLst>
          </p:cNvPr>
          <p:cNvSpPr>
            <a:spLocks noGrp="1"/>
          </p:cNvSpPr>
          <p:nvPr/>
        </p:nvSpPr>
        <p:spPr>
          <a:xfrm>
            <a:off x="8705088" y="3776472"/>
            <a:ext cx="282823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AWS BEDROCK, OPUS SHARE</a:t>
            </a:r>
            <a:endParaRPr sz="1200"/>
          </a:p>
        </p:txBody>
      </p:sp>
      <p:sp>
        <p:nvSpPr>
          <p:cNvPr id="21" name="Text 18">
            <a:extLst>
              <a:ext uri="{FF2B5EF4-FFF2-40B4-BE49-F238E27FC236}">
                <a16:creationId xmlns:a16="http://schemas.microsoft.com/office/drawing/2014/main" id="{21377A06-0762-401C-ADF5-FFD60F3DFA16}"/>
              </a:ext>
            </a:extLst>
          </p:cNvPr>
          <p:cNvSpPr>
            <a:spLocks noGrp="1"/>
          </p:cNvSpPr>
          <p:nvPr/>
        </p:nvSpPr>
        <p:spPr>
          <a:xfrm>
            <a:off x="8705088" y="3977640"/>
            <a:ext cx="282823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82.1%</a:t>
            </a:r>
            <a:endParaRPr sz="2800"/>
          </a:p>
        </p:txBody>
      </p:sp>
      <p:sp>
        <p:nvSpPr>
          <p:cNvPr id="22" name="Text 19">
            <a:extLst>
              <a:ext uri="{FF2B5EF4-FFF2-40B4-BE49-F238E27FC236}">
                <a16:creationId xmlns:a16="http://schemas.microsoft.com/office/drawing/2014/main" id="{621BCB7B-7536-450F-BADD-84AE681FA93C}"/>
              </a:ext>
            </a:extLst>
          </p:cNvPr>
          <p:cNvSpPr>
            <a:spLocks noGrp="1"/>
          </p:cNvSpPr>
          <p:nvPr/>
        </p:nvSpPr>
        <p:spPr>
          <a:xfrm>
            <a:off x="8705088" y="4379976"/>
            <a:ext cx="2828239" cy="329184"/>
          </a:xfrm>
          <a:prstGeom prst="rect">
            <a:avLst/>
          </a:prstGeom>
          <a:noFill/>
        </p:spPr>
        <p:txBody>
          <a:bodyPr wrap="square" lIns="0" tIns="0" rIns="0" bIns="0" anchor="t"/>
          <a:lstStyle/>
          <a:p>
            <a:pPr marL="0" indent="0">
              <a:lnSpc>
                <a:spcPct val="105000"/>
              </a:lnSpc>
              <a:buNone/>
            </a:pPr>
            <a:r>
              <a:rPr sz="1200" b="1">
                <a:solidFill>
                  <a:srgbClr val="E0A030"/>
                </a:solidFill>
                <a:latin typeface="Calibri"/>
                <a:ea typeface="Calibri"/>
                <a:cs typeface="Calibri"/>
              </a:rPr>
              <a:t>of AWS AI spend is Opus-class</a:t>
            </a:r>
            <a:endParaRPr sz="1200"/>
          </a:p>
        </p:txBody>
      </p:sp>
      <p:sp>
        <p:nvSpPr>
          <p:cNvPr id="23" name="Shape 20">
            <a:extLst>
              <a:ext uri="{FF2B5EF4-FFF2-40B4-BE49-F238E27FC236}">
                <a16:creationId xmlns:a16="http://schemas.microsoft.com/office/drawing/2014/main" id="{35C06B0C-77E2-4E66-8858-C5C4914932CA}"/>
              </a:ext>
            </a:extLst>
          </p:cNvPr>
          <p:cNvSpPr>
            <a:spLocks noGrp="1"/>
          </p:cNvSpPr>
          <p:nvPr/>
        </p:nvSpPr>
        <p:spPr>
          <a:xfrm>
            <a:off x="8503920" y="4910328"/>
            <a:ext cx="323057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24" name="Text 21">
            <a:extLst>
              <a:ext uri="{FF2B5EF4-FFF2-40B4-BE49-F238E27FC236}">
                <a16:creationId xmlns:a16="http://schemas.microsoft.com/office/drawing/2014/main" id="{60FB8547-596B-410A-977C-8DAC1A7583AC}"/>
              </a:ext>
            </a:extLst>
          </p:cNvPr>
          <p:cNvSpPr>
            <a:spLocks noGrp="1"/>
          </p:cNvSpPr>
          <p:nvPr/>
        </p:nvSpPr>
        <p:spPr>
          <a:xfrm>
            <a:off x="8705088" y="5001768"/>
            <a:ext cx="282823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PROMO PRICING ENDS</a:t>
            </a:r>
            <a:endParaRPr sz="1200"/>
          </a:p>
        </p:txBody>
      </p:sp>
      <p:sp>
        <p:nvSpPr>
          <p:cNvPr id="25" name="Text 22">
            <a:extLst>
              <a:ext uri="{FF2B5EF4-FFF2-40B4-BE49-F238E27FC236}">
                <a16:creationId xmlns:a16="http://schemas.microsoft.com/office/drawing/2014/main" id="{59513AEC-0217-4CDF-8B90-B1E3B38322FC}"/>
              </a:ext>
            </a:extLst>
          </p:cNvPr>
          <p:cNvSpPr>
            <a:spLocks noGrp="1"/>
          </p:cNvSpPr>
          <p:nvPr/>
        </p:nvSpPr>
        <p:spPr>
          <a:xfrm>
            <a:off x="8705088" y="5202936"/>
            <a:ext cx="282823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31 Aug 2026</a:t>
            </a:r>
            <a:endParaRPr sz="2800"/>
          </a:p>
        </p:txBody>
      </p:sp>
      <p:sp>
        <p:nvSpPr>
          <p:cNvPr id="10" name="Text 23">
            <a:extLst>
              <a:ext uri="{FF2B5EF4-FFF2-40B4-BE49-F238E27FC236}">
                <a16:creationId xmlns:a16="http://schemas.microsoft.com/office/drawing/2014/main" id="{82711873-0792-4326-9BFA-F718E453FAA4}"/>
              </a:ext>
            </a:extLst>
          </p:cNvPr>
          <p:cNvSpPr>
            <a:spLocks noGrp="1"/>
          </p:cNvSpPr>
          <p:nvPr/>
        </p:nvSpPr>
        <p:spPr>
          <a:xfrm>
            <a:off x="8705088" y="5605272"/>
            <a:ext cx="2828239"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reassess before the date</a:t>
            </a:r>
            <a:endParaRPr sz="1200"/>
          </a:p>
        </p:txBody>
      </p:sp>
    </p:spTree>
    <p:extLst>
      <p:ext uri="{BB962C8B-B14F-4D97-AF65-F5344CB8AC3E}">
        <p14:creationId xmlns:p14="http://schemas.microsoft.com/office/powerpoint/2010/main" val="3672353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6BEDEA6-B320-4DCD-88AC-F19F793A00A3}"/>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9DE2B7B9-F7B7-4D4F-B5A6-E134A84D200E}"/>
              </a:ext>
            </a:extLst>
          </p:cNvPr>
          <p:cNvSpPr>
            <a:spLocks noGrp="1"/>
          </p:cNvSpPr>
          <p:nvPr/>
        </p:nvSpPr>
        <p:spPr>
          <a:xfrm>
            <a:off x="7863840" y="-1280160"/>
            <a:ext cx="5852160" cy="5852160"/>
          </a:xfrm>
          <a:prstGeom prst="ellipse">
            <a:avLst/>
          </a:prstGeom>
          <a:solidFill>
            <a:srgbClr val="E0A030">
              <a:alpha val="8000"/>
            </a:srgbClr>
          </a:solidFill>
          <a:ln w="12700">
            <a:solidFill>
              <a:srgbClr val="E0A030">
                <a:alpha val="0"/>
              </a:srgbClr>
            </a:solidFill>
            <a:prstDash val="solid"/>
          </a:ln>
        </p:spPr>
        <p:txBody>
          <a:bodyPr/>
          <a:lstStyle/>
          <a:p>
            <a:endParaRPr/>
          </a:p>
        </p:txBody>
      </p:sp>
      <p:sp>
        <p:nvSpPr>
          <p:cNvPr id="4" name="Shape 2">
            <a:extLst>
              <a:ext uri="{FF2B5EF4-FFF2-40B4-BE49-F238E27FC236}">
                <a16:creationId xmlns:a16="http://schemas.microsoft.com/office/drawing/2014/main" id="{9D19926A-4CD4-43B9-9F43-23DCCC383AB1}"/>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2BF2AF5E-D2F2-4D9A-BBA2-612EB8E9C35E}"/>
              </a:ext>
            </a:extLst>
          </p:cNvPr>
          <p:cNvSpPr>
            <a:spLocks noGrp="1"/>
          </p:cNvSpPr>
          <p:nvPr/>
        </p:nvSpPr>
        <p:spPr>
          <a:xfrm>
            <a:off x="457200" y="2331720"/>
            <a:ext cx="8229600" cy="274320"/>
          </a:xfrm>
          <a:prstGeom prst="rect">
            <a:avLst/>
          </a:prstGeom>
          <a:noFill/>
        </p:spPr>
        <p:txBody>
          <a:bodyPr wrap="square" lIns="0" tIns="0" rIns="0" bIns="0" anchor="ctr"/>
          <a:lstStyle/>
          <a:p>
            <a:pPr marL="0" indent="0">
              <a:buNone/>
            </a:pPr>
            <a:endParaRPr sz="1300" dirty="0"/>
          </a:p>
        </p:txBody>
      </p:sp>
      <p:sp>
        <p:nvSpPr>
          <p:cNvPr id="6" name="Text 4">
            <a:extLst>
              <a:ext uri="{FF2B5EF4-FFF2-40B4-BE49-F238E27FC236}">
                <a16:creationId xmlns:a16="http://schemas.microsoft.com/office/drawing/2014/main" id="{316AC623-1402-41EB-AB9D-E3C0FC83E614}"/>
              </a:ext>
            </a:extLst>
          </p:cNvPr>
          <p:cNvSpPr>
            <a:spLocks noGrp="1"/>
          </p:cNvSpPr>
          <p:nvPr/>
        </p:nvSpPr>
        <p:spPr>
          <a:xfrm>
            <a:off x="457200" y="2651760"/>
            <a:ext cx="8412480" cy="1005840"/>
          </a:xfrm>
          <a:prstGeom prst="rect">
            <a:avLst/>
          </a:prstGeom>
          <a:noFill/>
        </p:spPr>
        <p:txBody>
          <a:bodyPr wrap="square" lIns="0" tIns="0" rIns="0" bIns="0" anchor="ctr"/>
          <a:lstStyle/>
          <a:p>
            <a:pPr marL="0" indent="0">
              <a:buNone/>
            </a:pPr>
            <a:r>
              <a:rPr sz="4000" b="1">
                <a:solidFill>
                  <a:srgbClr val="F4F7FB"/>
                </a:solidFill>
                <a:latin typeface="Calibri"/>
                <a:ea typeface="Calibri"/>
                <a:cs typeface="Calibri"/>
              </a:rPr>
              <a:t>What waiting costs</a:t>
            </a:r>
            <a:endParaRPr sz="4000"/>
          </a:p>
        </p:txBody>
      </p:sp>
      <p:sp>
        <p:nvSpPr>
          <p:cNvPr id="7" name="Text 5">
            <a:extLst>
              <a:ext uri="{FF2B5EF4-FFF2-40B4-BE49-F238E27FC236}">
                <a16:creationId xmlns:a16="http://schemas.microsoft.com/office/drawing/2014/main" id="{DECC50AE-991B-4C74-9CCB-ED7DEFFBEB21}"/>
              </a:ext>
            </a:extLst>
          </p:cNvPr>
          <p:cNvSpPr>
            <a:spLocks noGrp="1"/>
          </p:cNvSpPr>
          <p:nvPr/>
        </p:nvSpPr>
        <p:spPr>
          <a:xfrm>
            <a:off x="457200" y="3703320"/>
            <a:ext cx="7863840" cy="457200"/>
          </a:xfrm>
          <a:prstGeom prst="rect">
            <a:avLst/>
          </a:prstGeom>
          <a:noFill/>
        </p:spPr>
        <p:txBody>
          <a:bodyPr wrap="square" lIns="0" tIns="0" rIns="0" bIns="0" anchor="ctr"/>
          <a:lstStyle/>
          <a:p>
            <a:pPr marL="0" indent="0">
              <a:buNone/>
            </a:pPr>
            <a:r>
              <a:rPr sz="1500">
                <a:solidFill>
                  <a:srgbClr val="91A0B7"/>
                </a:solidFill>
                <a:latin typeface="Calibri"/>
                <a:ea typeface="Calibri"/>
                <a:cs typeface="Calibri"/>
              </a:rPr>
              <a:t>Three gaps that are already priced, and already being paid</a:t>
            </a:r>
            <a:endParaRPr sz="1500"/>
          </a:p>
        </p:txBody>
      </p:sp>
    </p:spTree>
    <p:extLst>
      <p:ext uri="{BB962C8B-B14F-4D97-AF65-F5344CB8AC3E}">
        <p14:creationId xmlns:p14="http://schemas.microsoft.com/office/powerpoint/2010/main" val="1393812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3D7B3F4-DF4A-403B-AB09-7FE920492FF1}"/>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9E8D50B2-2E38-486F-9789-D52602B801E5}"/>
              </a:ext>
            </a:extLst>
          </p:cNvPr>
          <p:cNvSpPr>
            <a:spLocks noGrp="1"/>
          </p:cNvSpPr>
          <p:nvPr/>
        </p:nvSpPr>
        <p:spPr>
          <a:xfrm>
            <a:off x="457200" y="306324"/>
            <a:ext cx="109728" cy="109728"/>
          </a:xfrm>
          <a:prstGeom prst="ellipse">
            <a:avLst/>
          </a:prstGeom>
          <a:solidFill>
            <a:srgbClr val="E0A030"/>
          </a:solidFill>
          <a:ln w="12700">
            <a:solidFill>
              <a:srgbClr val="E0A030"/>
            </a:solidFill>
            <a:prstDash val="solid"/>
          </a:ln>
        </p:spPr>
        <p:txBody>
          <a:bodyPr/>
          <a:lstStyle/>
          <a:p>
            <a:endParaRPr/>
          </a:p>
        </p:txBody>
      </p:sp>
      <p:sp>
        <p:nvSpPr>
          <p:cNvPr id="4" name="Text 2">
            <a:extLst>
              <a:ext uri="{FF2B5EF4-FFF2-40B4-BE49-F238E27FC236}">
                <a16:creationId xmlns:a16="http://schemas.microsoft.com/office/drawing/2014/main" id="{CC021D01-CCE9-41AF-AB28-9273DE46944F}"/>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E0A030"/>
                </a:solidFill>
                <a:latin typeface="Calibri"/>
                <a:ea typeface="Calibri"/>
                <a:cs typeface="Calibri"/>
              </a:rPr>
              <a:t>COVERAGE</a:t>
            </a:r>
            <a:endParaRPr sz="1300"/>
          </a:p>
        </p:txBody>
      </p:sp>
      <p:sp>
        <p:nvSpPr>
          <p:cNvPr id="5" name="Text 3">
            <a:extLst>
              <a:ext uri="{FF2B5EF4-FFF2-40B4-BE49-F238E27FC236}">
                <a16:creationId xmlns:a16="http://schemas.microsoft.com/office/drawing/2014/main" id="{404BC04E-9D5B-41E6-8455-B5FB933BF636}"/>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1953" b="1">
                <a:solidFill>
                  <a:srgbClr val="F4F7FB"/>
                </a:solidFill>
                <a:latin typeface="Calibri"/>
                <a:ea typeface="Calibri"/>
                <a:cs typeface="Calibri"/>
              </a:rPr>
              <a:t>Azure buys 59% at a discount, AWS 93%</a:t>
            </a:r>
            <a:endParaRPr sz="1953"/>
          </a:p>
        </p:txBody>
      </p:sp>
      <p:sp>
        <p:nvSpPr>
          <p:cNvPr id="6" name="Text 4">
            <a:extLst>
              <a:ext uri="{FF2B5EF4-FFF2-40B4-BE49-F238E27FC236}">
                <a16:creationId xmlns:a16="http://schemas.microsoft.com/office/drawing/2014/main" id="{BBC91FFF-19F0-4660-9379-61BD80033CCA}"/>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How each cloud's compute is actually purchased, the single biggest lever on unit cost.</a:t>
            </a:r>
            <a:endParaRPr sz="1200"/>
          </a:p>
        </p:txBody>
      </p:sp>
      <p:sp>
        <p:nvSpPr>
          <p:cNvPr id="7" name="Text 5">
            <a:extLst>
              <a:ext uri="{FF2B5EF4-FFF2-40B4-BE49-F238E27FC236}">
                <a16:creationId xmlns:a16="http://schemas.microsoft.com/office/drawing/2014/main" id="{C3F65B95-5B62-4C8F-83F8-6679C1763569}"/>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SAP is the obvious first candidate: it is the largest Azure workload, it has not moved more than a few percent in seven months, and it is almost entirely virtual machines, the flattest, most reservable profile in the estate.</a:t>
            </a:r>
            <a:endParaRPr sz="1200"/>
          </a:p>
        </p:txBody>
      </p:sp>
      <p:sp>
        <p:nvSpPr>
          <p:cNvPr id="8" name="Text 6">
            <a:extLst>
              <a:ext uri="{FF2B5EF4-FFF2-40B4-BE49-F238E27FC236}">
                <a16:creationId xmlns:a16="http://schemas.microsoft.com/office/drawing/2014/main" id="{451E6CF3-5BB1-4589-94B7-362268FBD719}"/>
              </a:ext>
            </a:extLst>
          </p:cNvPr>
          <p:cNvSpPr>
            <a:spLocks noGrp="1"/>
          </p:cNvSpPr>
          <p:nvPr/>
        </p:nvSpPr>
        <p:spPr>
          <a:xfrm>
            <a:off x="457200" y="1234440"/>
            <a:ext cx="475488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AWS</a:t>
            </a:r>
            <a:endParaRPr sz="1500"/>
          </a:p>
        </p:txBody>
      </p:sp>
      <p:sp>
        <p:nvSpPr>
          <p:cNvPr id="9" name="Text 7">
            <a:extLst>
              <a:ext uri="{FF2B5EF4-FFF2-40B4-BE49-F238E27FC236}">
                <a16:creationId xmlns:a16="http://schemas.microsoft.com/office/drawing/2014/main" id="{78DB540F-E670-4711-B412-33FC1A874158}"/>
              </a:ext>
            </a:extLst>
          </p:cNvPr>
          <p:cNvSpPr>
            <a:spLocks noGrp="1"/>
          </p:cNvSpPr>
          <p:nvPr/>
        </p:nvSpPr>
        <p:spPr>
          <a:xfrm>
            <a:off x="457200" y="1508760"/>
            <a:ext cx="4754880" cy="219456"/>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Monthly cost by purchase option</a:t>
            </a:r>
            <a:endParaRPr sz="1200"/>
          </a:p>
        </p:txBody>
      </p:sp>
      <p:graphicFrame>
        <p:nvGraphicFramePr>
          <p:cNvPr id="36" name="Table 0"/>
          <p:cNvGraphicFramePr/>
          <p:nvPr/>
        </p:nvGraphicFramePr>
        <p:xfrm>
          <a:off x="457200" y="1764792"/>
          <a:ext cx="4754880"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92608">
                <a:tc>
                  <a:txBody>
                    <a:bodyPr/>
                    <a:lstStyle/>
                    <a:p>
                      <a:pPr marL="0" indent="0" algn="l">
                        <a:buNone/>
                      </a:pPr>
                      <a:r>
                        <a:rPr sz="1200" b="1" spc="80">
                          <a:solidFill>
                            <a:srgbClr val="91A0B7"/>
                          </a:solidFill>
                          <a:latin typeface="Calibri"/>
                          <a:ea typeface="Calibri"/>
                          <a:cs typeface="Calibri"/>
                        </a:rPr>
                        <a:t>Purchase option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Total cost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Ratio</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Spot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$16,559</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47%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Compute Savings Plan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$16,364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46%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On-Demand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$2,502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F6B7A"/>
                          </a:solidFill>
                          <a:latin typeface="Calibri"/>
                          <a:ea typeface="Calibri"/>
                          <a:cs typeface="Calibri"/>
                        </a:rPr>
                        <a:t>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Total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F4F7FB"/>
                          </a:solidFill>
                          <a:latin typeface="Calibri"/>
                          <a:ea typeface="Calibri"/>
                          <a:cs typeface="Calibri"/>
                        </a:rPr>
                        <a:t>$35,425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a:solidFill>
                            <a:srgbClr val="91A0B7"/>
                          </a:solidFill>
                          <a:latin typeface="Calibri"/>
                          <a:ea typeface="Calibri"/>
                          <a:cs typeface="Calibri"/>
                        </a:rPr>
                        <a:t>100%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bl>
          </a:graphicData>
        </a:graphic>
      </p:graphicFrame>
      <p:sp>
        <p:nvSpPr>
          <p:cNvPr id="11" name="Text 8">
            <a:extLst>
              <a:ext uri="{FF2B5EF4-FFF2-40B4-BE49-F238E27FC236}">
                <a16:creationId xmlns:a16="http://schemas.microsoft.com/office/drawing/2014/main" id="{A9C56DEF-FC87-4282-8D76-A079FAFEE62F}"/>
              </a:ext>
            </a:extLst>
          </p:cNvPr>
          <p:cNvSpPr>
            <a:spLocks noGrp="1"/>
          </p:cNvSpPr>
          <p:nvPr/>
        </p:nvSpPr>
        <p:spPr>
          <a:xfrm>
            <a:off x="5577840" y="1234440"/>
            <a:ext cx="475488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Azure</a:t>
            </a:r>
            <a:endParaRPr sz="1500"/>
          </a:p>
        </p:txBody>
      </p:sp>
      <p:sp>
        <p:nvSpPr>
          <p:cNvPr id="12" name="Text 9">
            <a:extLst>
              <a:ext uri="{FF2B5EF4-FFF2-40B4-BE49-F238E27FC236}">
                <a16:creationId xmlns:a16="http://schemas.microsoft.com/office/drawing/2014/main" id="{4B88BACB-109D-4D9E-860A-DD912EEE05DF}"/>
              </a:ext>
            </a:extLst>
          </p:cNvPr>
          <p:cNvSpPr>
            <a:spLocks noGrp="1"/>
          </p:cNvSpPr>
          <p:nvPr/>
        </p:nvSpPr>
        <p:spPr>
          <a:xfrm>
            <a:off x="5577840" y="1508760"/>
            <a:ext cx="4754880" cy="219456"/>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Monthly cost by purchase option</a:t>
            </a:r>
            <a:endParaRPr sz="1200"/>
          </a:p>
        </p:txBody>
      </p:sp>
      <p:graphicFrame>
        <p:nvGraphicFramePr>
          <p:cNvPr id="39" name="Table 1"/>
          <p:cNvGraphicFramePr/>
          <p:nvPr/>
        </p:nvGraphicFramePr>
        <p:xfrm>
          <a:off x="5577840" y="1764792"/>
          <a:ext cx="4754880" cy="1755648"/>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92608">
                <a:tc>
                  <a:txBody>
                    <a:bodyPr/>
                    <a:lstStyle/>
                    <a:p>
                      <a:pPr marL="0" indent="0" algn="l">
                        <a:buNone/>
                      </a:pPr>
                      <a:r>
                        <a:rPr sz="1200" b="1" spc="80">
                          <a:solidFill>
                            <a:srgbClr val="91A0B7"/>
                          </a:solidFill>
                          <a:latin typeface="Calibri"/>
                          <a:ea typeface="Calibri"/>
                          <a:cs typeface="Calibri"/>
                        </a:rPr>
                        <a:t>Purchase option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Total cost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Ratio</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On-Demand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$21,690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F6B7A"/>
                          </a:solidFill>
                          <a:latin typeface="Calibri"/>
                          <a:ea typeface="Calibri"/>
                          <a:cs typeface="Calibri"/>
                        </a:rPr>
                        <a:t>41%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Reservation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$21,463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40%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Compute Savings Plan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F4F7FB"/>
                          </a:solidFill>
                          <a:latin typeface="Calibri"/>
                          <a:ea typeface="Calibri"/>
                          <a:cs typeface="Calibri"/>
                        </a:rPr>
                        <a:t>$9,424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18%</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Spot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F4F7FB"/>
                          </a:solidFill>
                          <a:latin typeface="Calibri"/>
                          <a:ea typeface="Calibri"/>
                          <a:cs typeface="Calibri"/>
                        </a:rPr>
                        <a:t>$737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91A0B7"/>
                          </a:solidFill>
                          <a:latin typeface="Calibri"/>
                          <a:ea typeface="Calibri"/>
                          <a:cs typeface="Calibri"/>
                        </a:rPr>
                        <a:t>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sz="1200" b="1">
                          <a:solidFill>
                            <a:srgbClr val="F4F7FB"/>
                          </a:solidFill>
                          <a:latin typeface="Calibri"/>
                          <a:ea typeface="Calibri"/>
                          <a:cs typeface="Calibri"/>
                        </a:rPr>
                        <a:t>Total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b="1">
                          <a:solidFill>
                            <a:srgbClr val="F4F7FB"/>
                          </a:solidFill>
                          <a:latin typeface="Calibri"/>
                          <a:ea typeface="Calibri"/>
                          <a:cs typeface="Calibri"/>
                        </a:rPr>
                        <a:t>$53,314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b="1">
                          <a:solidFill>
                            <a:srgbClr val="91A0B7"/>
                          </a:solidFill>
                          <a:latin typeface="Calibri"/>
                          <a:ea typeface="Calibri"/>
                          <a:cs typeface="Calibri"/>
                        </a:rPr>
                        <a:t>100%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5"/>
                  </a:ext>
                </a:extLst>
              </a:tr>
            </a:tbl>
          </a:graphicData>
        </a:graphic>
      </p:graphicFrame>
      <p:sp>
        <p:nvSpPr>
          <p:cNvPr id="10" name="Shape 10">
            <a:extLst>
              <a:ext uri="{FF2B5EF4-FFF2-40B4-BE49-F238E27FC236}">
                <a16:creationId xmlns:a16="http://schemas.microsoft.com/office/drawing/2014/main" id="{14713186-0085-4866-976F-6F75F1B51A4D}"/>
              </a:ext>
            </a:extLst>
          </p:cNvPr>
          <p:cNvSpPr>
            <a:spLocks noGrp="1"/>
          </p:cNvSpPr>
          <p:nvPr/>
        </p:nvSpPr>
        <p:spPr>
          <a:xfrm>
            <a:off x="457200" y="4041648"/>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5" name="Text 11">
            <a:extLst>
              <a:ext uri="{FF2B5EF4-FFF2-40B4-BE49-F238E27FC236}">
                <a16:creationId xmlns:a16="http://schemas.microsoft.com/office/drawing/2014/main" id="{FDA75519-5AF2-4379-8B57-F920D9F6F78B}"/>
              </a:ext>
            </a:extLst>
          </p:cNvPr>
          <p:cNvSpPr>
            <a:spLocks noGrp="1"/>
          </p:cNvSpPr>
          <p:nvPr/>
        </p:nvSpPr>
        <p:spPr>
          <a:xfrm>
            <a:off x="658368" y="4133088"/>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AZURE ON-DEMAND</a:t>
            </a:r>
            <a:endParaRPr sz="1200"/>
          </a:p>
        </p:txBody>
      </p:sp>
      <p:sp>
        <p:nvSpPr>
          <p:cNvPr id="16" name="Text 12">
            <a:extLst>
              <a:ext uri="{FF2B5EF4-FFF2-40B4-BE49-F238E27FC236}">
                <a16:creationId xmlns:a16="http://schemas.microsoft.com/office/drawing/2014/main" id="{F341E7A1-8C81-4E47-AAEA-90092C90A4DB}"/>
              </a:ext>
            </a:extLst>
          </p:cNvPr>
          <p:cNvSpPr>
            <a:spLocks noGrp="1"/>
          </p:cNvSpPr>
          <p:nvPr/>
        </p:nvSpPr>
        <p:spPr>
          <a:xfrm>
            <a:off x="658368" y="4334256"/>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$21,690</a:t>
            </a:r>
            <a:endParaRPr sz="2800"/>
          </a:p>
        </p:txBody>
      </p:sp>
      <p:sp>
        <p:nvSpPr>
          <p:cNvPr id="17" name="Text 13">
            <a:extLst>
              <a:ext uri="{FF2B5EF4-FFF2-40B4-BE49-F238E27FC236}">
                <a16:creationId xmlns:a16="http://schemas.microsoft.com/office/drawing/2014/main" id="{250DDCB8-ED0D-4C1E-920B-A8FA0031D8C9}"/>
              </a:ext>
            </a:extLst>
          </p:cNvPr>
          <p:cNvSpPr>
            <a:spLocks noGrp="1"/>
          </p:cNvSpPr>
          <p:nvPr/>
        </p:nvSpPr>
        <p:spPr>
          <a:xfrm>
            <a:off x="658368" y="4736592"/>
            <a:ext cx="3204362" cy="329184"/>
          </a:xfrm>
          <a:prstGeom prst="rect">
            <a:avLst/>
          </a:prstGeom>
          <a:noFill/>
        </p:spPr>
        <p:txBody>
          <a:bodyPr wrap="square" lIns="0" tIns="0" rIns="0" bIns="0" anchor="t"/>
          <a:lstStyle/>
          <a:p>
            <a:pPr marL="0" indent="0">
              <a:lnSpc>
                <a:spcPct val="105000"/>
              </a:lnSpc>
              <a:buNone/>
            </a:pPr>
            <a:r>
              <a:rPr sz="1200" b="1">
                <a:solidFill>
                  <a:srgbClr val="FF6B7A"/>
                </a:solidFill>
                <a:latin typeface="Calibri"/>
                <a:ea typeface="Calibri"/>
                <a:cs typeface="Calibri"/>
              </a:rPr>
              <a:t>per month, at list price</a:t>
            </a:r>
            <a:endParaRPr sz="1200"/>
          </a:p>
        </p:txBody>
      </p:sp>
      <p:sp>
        <p:nvSpPr>
          <p:cNvPr id="18" name="Shape 14">
            <a:extLst>
              <a:ext uri="{FF2B5EF4-FFF2-40B4-BE49-F238E27FC236}">
                <a16:creationId xmlns:a16="http://schemas.microsoft.com/office/drawing/2014/main" id="{75F26A13-506E-4538-ABE9-CE63F3A04ADB}"/>
              </a:ext>
            </a:extLst>
          </p:cNvPr>
          <p:cNvSpPr>
            <a:spLocks noGrp="1"/>
          </p:cNvSpPr>
          <p:nvPr/>
        </p:nvSpPr>
        <p:spPr>
          <a:xfrm>
            <a:off x="4292498" y="4041648"/>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9" name="Text 15">
            <a:extLst>
              <a:ext uri="{FF2B5EF4-FFF2-40B4-BE49-F238E27FC236}">
                <a16:creationId xmlns:a16="http://schemas.microsoft.com/office/drawing/2014/main" id="{A88CE183-3110-4DBA-BD27-D4D22BA548CA}"/>
              </a:ext>
            </a:extLst>
          </p:cNvPr>
          <p:cNvSpPr>
            <a:spLocks noGrp="1"/>
          </p:cNvSpPr>
          <p:nvPr/>
        </p:nvSpPr>
        <p:spPr>
          <a:xfrm>
            <a:off x="4493666" y="4133088"/>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IF AZURE MATCHED AWS</a:t>
            </a:r>
            <a:endParaRPr sz="1200"/>
          </a:p>
        </p:txBody>
      </p:sp>
      <p:sp>
        <p:nvSpPr>
          <p:cNvPr id="20" name="Text 16">
            <a:extLst>
              <a:ext uri="{FF2B5EF4-FFF2-40B4-BE49-F238E27FC236}">
                <a16:creationId xmlns:a16="http://schemas.microsoft.com/office/drawing/2014/main" id="{6BA95037-ADFB-48B1-9C1A-F7ADF9D17705}"/>
              </a:ext>
            </a:extLst>
          </p:cNvPr>
          <p:cNvSpPr>
            <a:spLocks noGrp="1"/>
          </p:cNvSpPr>
          <p:nvPr/>
        </p:nvSpPr>
        <p:spPr>
          <a:xfrm>
            <a:off x="4493666" y="4334256"/>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~$7,600</a:t>
            </a:r>
            <a:endParaRPr sz="2800"/>
          </a:p>
        </p:txBody>
      </p:sp>
      <p:sp>
        <p:nvSpPr>
          <p:cNvPr id="21" name="Text 17">
            <a:extLst>
              <a:ext uri="{FF2B5EF4-FFF2-40B4-BE49-F238E27FC236}">
                <a16:creationId xmlns:a16="http://schemas.microsoft.com/office/drawing/2014/main" id="{0D9ABA96-0AE9-4DB4-88B4-1F73396C3E99}"/>
              </a:ext>
            </a:extLst>
          </p:cNvPr>
          <p:cNvSpPr>
            <a:spLocks noGrp="1"/>
          </p:cNvSpPr>
          <p:nvPr/>
        </p:nvSpPr>
        <p:spPr>
          <a:xfrm>
            <a:off x="4493666" y="4736592"/>
            <a:ext cx="3204362"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estimated monthly saving at 93% coverage</a:t>
            </a:r>
            <a:endParaRPr sz="1200"/>
          </a:p>
        </p:txBody>
      </p:sp>
      <p:sp>
        <p:nvSpPr>
          <p:cNvPr id="22" name="Shape 18">
            <a:extLst>
              <a:ext uri="{FF2B5EF4-FFF2-40B4-BE49-F238E27FC236}">
                <a16:creationId xmlns:a16="http://schemas.microsoft.com/office/drawing/2014/main" id="{ACA30360-AC88-45E2-819B-176D3DA31E07}"/>
              </a:ext>
            </a:extLst>
          </p:cNvPr>
          <p:cNvSpPr>
            <a:spLocks noGrp="1"/>
          </p:cNvSpPr>
          <p:nvPr/>
        </p:nvSpPr>
        <p:spPr>
          <a:xfrm>
            <a:off x="8127797" y="4041648"/>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3" name="Text 19">
            <a:extLst>
              <a:ext uri="{FF2B5EF4-FFF2-40B4-BE49-F238E27FC236}">
                <a16:creationId xmlns:a16="http://schemas.microsoft.com/office/drawing/2014/main" id="{464106E7-895C-4198-B9E7-0942BD58098C}"/>
              </a:ext>
            </a:extLst>
          </p:cNvPr>
          <p:cNvSpPr>
            <a:spLocks noGrp="1"/>
          </p:cNvSpPr>
          <p:nvPr/>
        </p:nvSpPr>
        <p:spPr>
          <a:xfrm>
            <a:off x="8328965" y="4133088"/>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ANNUALISED</a:t>
            </a:r>
            <a:endParaRPr sz="1200"/>
          </a:p>
        </p:txBody>
      </p:sp>
      <p:sp>
        <p:nvSpPr>
          <p:cNvPr id="24" name="Text 20">
            <a:extLst>
              <a:ext uri="{FF2B5EF4-FFF2-40B4-BE49-F238E27FC236}">
                <a16:creationId xmlns:a16="http://schemas.microsoft.com/office/drawing/2014/main" id="{28DB381B-4B66-4481-9772-5105B47D4CFC}"/>
              </a:ext>
            </a:extLst>
          </p:cNvPr>
          <p:cNvSpPr>
            <a:spLocks noGrp="1"/>
          </p:cNvSpPr>
          <p:nvPr/>
        </p:nvSpPr>
        <p:spPr>
          <a:xfrm>
            <a:off x="8328965" y="4334256"/>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~$91,000</a:t>
            </a:r>
            <a:endParaRPr sz="2800"/>
          </a:p>
        </p:txBody>
      </p:sp>
      <p:sp>
        <p:nvSpPr>
          <p:cNvPr id="25" name="Text 21">
            <a:extLst>
              <a:ext uri="{FF2B5EF4-FFF2-40B4-BE49-F238E27FC236}">
                <a16:creationId xmlns:a16="http://schemas.microsoft.com/office/drawing/2014/main" id="{8B38A046-83F3-438E-9119-8DBD07719C6E}"/>
              </a:ext>
            </a:extLst>
          </p:cNvPr>
          <p:cNvSpPr>
            <a:spLocks noGrp="1"/>
          </p:cNvSpPr>
          <p:nvPr/>
        </p:nvSpPr>
        <p:spPr>
          <a:xfrm>
            <a:off x="8328965" y="4736592"/>
            <a:ext cx="3204362"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on compute alone, nothing switched off</a:t>
            </a:r>
            <a:endParaRPr sz="1200"/>
          </a:p>
        </p:txBody>
      </p:sp>
    </p:spTree>
    <p:extLst>
      <p:ext uri="{BB962C8B-B14F-4D97-AF65-F5344CB8AC3E}">
        <p14:creationId xmlns:p14="http://schemas.microsoft.com/office/powerpoint/2010/main" val="1431355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2ED675-1055-4B9F-8E5D-93873E5CD441}"/>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C236689D-B3FF-42B4-83C2-66BA3166AB38}"/>
              </a:ext>
            </a:extLst>
          </p:cNvPr>
          <p:cNvSpPr>
            <a:spLocks noGrp="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a:p>
        </p:txBody>
      </p:sp>
      <p:sp>
        <p:nvSpPr>
          <p:cNvPr id="4" name="Text 2">
            <a:extLst>
              <a:ext uri="{FF2B5EF4-FFF2-40B4-BE49-F238E27FC236}">
                <a16:creationId xmlns:a16="http://schemas.microsoft.com/office/drawing/2014/main" id="{7DC68419-FD45-47E0-889C-B2BE41C2DAD2}"/>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B07CFF"/>
                </a:solidFill>
                <a:latin typeface="Calibri"/>
                <a:ea typeface="Calibri"/>
                <a:cs typeface="Calibri"/>
              </a:rPr>
              <a:t>DATABRICKS</a:t>
            </a:r>
            <a:endParaRPr sz="1300"/>
          </a:p>
        </p:txBody>
      </p:sp>
      <p:sp>
        <p:nvSpPr>
          <p:cNvPr id="5" name="Text 3">
            <a:extLst>
              <a:ext uri="{FF2B5EF4-FFF2-40B4-BE49-F238E27FC236}">
                <a16:creationId xmlns:a16="http://schemas.microsoft.com/office/drawing/2014/main" id="{9F3106AF-3B15-4A1D-9DB1-68DE52475525}"/>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154" b="1">
                <a:solidFill>
                  <a:srgbClr val="F4F7FB"/>
                </a:solidFill>
                <a:latin typeface="Calibri"/>
                <a:ea typeface="Calibri"/>
                <a:cs typeface="Calibri"/>
              </a:rPr>
              <a:t>$504,000 paid in April. 18% of it used.</a:t>
            </a:r>
            <a:endParaRPr sz="2154"/>
          </a:p>
        </p:txBody>
      </p:sp>
      <p:sp>
        <p:nvSpPr>
          <p:cNvPr id="6" name="Text 4">
            <a:extLst>
              <a:ext uri="{FF2B5EF4-FFF2-40B4-BE49-F238E27FC236}">
                <a16:creationId xmlns:a16="http://schemas.microsoft.com/office/drawing/2014/main" id="{E52CAAB5-7EA2-4304-80E0-007B2C80A6BE}"/>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A three-year, 600,000 DBU-hour pre-purchase made on 28 April 2026.</a:t>
            </a:r>
            <a:endParaRPr sz="1200"/>
          </a:p>
        </p:txBody>
      </p:sp>
      <p:sp>
        <p:nvSpPr>
          <p:cNvPr id="7" name="Shape 5">
            <a:extLst>
              <a:ext uri="{FF2B5EF4-FFF2-40B4-BE49-F238E27FC236}">
                <a16:creationId xmlns:a16="http://schemas.microsoft.com/office/drawing/2014/main" id="{E6CA0EC6-2EC0-491D-88A8-574F66A22D29}"/>
              </a:ext>
            </a:extLst>
          </p:cNvPr>
          <p:cNvSpPr>
            <a:spLocks noGrp="1"/>
          </p:cNvSpPr>
          <p:nvPr/>
        </p:nvSpPr>
        <p:spPr>
          <a:xfrm>
            <a:off x="457200" y="1234440"/>
            <a:ext cx="2647874"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8" name="Text 6">
            <a:extLst>
              <a:ext uri="{FF2B5EF4-FFF2-40B4-BE49-F238E27FC236}">
                <a16:creationId xmlns:a16="http://schemas.microsoft.com/office/drawing/2014/main" id="{FEBD77FE-D7BB-4508-833D-457E272F6CDF}"/>
              </a:ext>
            </a:extLst>
          </p:cNvPr>
          <p:cNvSpPr>
            <a:spLocks noGrp="1"/>
          </p:cNvSpPr>
          <p:nvPr/>
        </p:nvSpPr>
        <p:spPr>
          <a:xfrm>
            <a:off x="658368" y="1325880"/>
            <a:ext cx="2245538"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COMMITTED</a:t>
            </a:r>
            <a:endParaRPr sz="1200"/>
          </a:p>
        </p:txBody>
      </p:sp>
      <p:sp>
        <p:nvSpPr>
          <p:cNvPr id="9" name="Text 7">
            <a:extLst>
              <a:ext uri="{FF2B5EF4-FFF2-40B4-BE49-F238E27FC236}">
                <a16:creationId xmlns:a16="http://schemas.microsoft.com/office/drawing/2014/main" id="{537FA99B-2072-4355-B1D1-6C920207D3C0}"/>
              </a:ext>
            </a:extLst>
          </p:cNvPr>
          <p:cNvSpPr>
            <a:spLocks noGrp="1"/>
          </p:cNvSpPr>
          <p:nvPr/>
        </p:nvSpPr>
        <p:spPr>
          <a:xfrm>
            <a:off x="658368" y="1527048"/>
            <a:ext cx="2245538"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$504,000</a:t>
            </a:r>
            <a:endParaRPr sz="2800"/>
          </a:p>
        </p:txBody>
      </p:sp>
      <p:sp>
        <p:nvSpPr>
          <p:cNvPr id="10" name="Text 8">
            <a:extLst>
              <a:ext uri="{FF2B5EF4-FFF2-40B4-BE49-F238E27FC236}">
                <a16:creationId xmlns:a16="http://schemas.microsoft.com/office/drawing/2014/main" id="{482F5DFC-FB0B-4979-9244-2ADB33CB539B}"/>
              </a:ext>
            </a:extLst>
          </p:cNvPr>
          <p:cNvSpPr>
            <a:spLocks noGrp="1"/>
          </p:cNvSpPr>
          <p:nvPr/>
        </p:nvSpPr>
        <p:spPr>
          <a:xfrm>
            <a:off x="658368" y="1929384"/>
            <a:ext cx="2245538" cy="329184"/>
          </a:xfrm>
          <a:prstGeom prst="rect">
            <a:avLst/>
          </a:prstGeom>
          <a:noFill/>
        </p:spPr>
        <p:txBody>
          <a:bodyPr wrap="square" lIns="0" tIns="0" rIns="0" bIns="0" anchor="t"/>
          <a:lstStyle/>
          <a:p>
            <a:pPr marL="0" indent="0">
              <a:lnSpc>
                <a:spcPct val="105000"/>
              </a:lnSpc>
              <a:buNone/>
            </a:pPr>
            <a:r>
              <a:rPr sz="1200" b="1">
                <a:solidFill>
                  <a:srgbClr val="B07CFF"/>
                </a:solidFill>
                <a:latin typeface="Calibri"/>
                <a:ea typeface="Calibri"/>
                <a:cs typeface="Calibri"/>
              </a:rPr>
              <a:t>Azure P3 pre-purchase, 28 Apr 2026</a:t>
            </a:r>
            <a:endParaRPr sz="1200"/>
          </a:p>
        </p:txBody>
      </p:sp>
      <p:sp>
        <p:nvSpPr>
          <p:cNvPr id="11" name="Shape 9">
            <a:extLst>
              <a:ext uri="{FF2B5EF4-FFF2-40B4-BE49-F238E27FC236}">
                <a16:creationId xmlns:a16="http://schemas.microsoft.com/office/drawing/2014/main" id="{D592E8E4-8997-42C2-A60B-B2FA7ECDAE64}"/>
              </a:ext>
            </a:extLst>
          </p:cNvPr>
          <p:cNvSpPr>
            <a:spLocks noGrp="1"/>
          </p:cNvSpPr>
          <p:nvPr/>
        </p:nvSpPr>
        <p:spPr>
          <a:xfrm>
            <a:off x="3333674" y="1234440"/>
            <a:ext cx="2647874"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2" name="Text 10">
            <a:extLst>
              <a:ext uri="{FF2B5EF4-FFF2-40B4-BE49-F238E27FC236}">
                <a16:creationId xmlns:a16="http://schemas.microsoft.com/office/drawing/2014/main" id="{DE060C61-72FD-43DC-BF6C-16B35B4DEF93}"/>
              </a:ext>
            </a:extLst>
          </p:cNvPr>
          <p:cNvSpPr>
            <a:spLocks noGrp="1"/>
          </p:cNvSpPr>
          <p:nvPr/>
        </p:nvSpPr>
        <p:spPr>
          <a:xfrm>
            <a:off x="3534842" y="1325880"/>
            <a:ext cx="2245538"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TERM</a:t>
            </a:r>
            <a:endParaRPr sz="1200"/>
          </a:p>
        </p:txBody>
      </p:sp>
      <p:sp>
        <p:nvSpPr>
          <p:cNvPr id="13" name="Text 11">
            <a:extLst>
              <a:ext uri="{FF2B5EF4-FFF2-40B4-BE49-F238E27FC236}">
                <a16:creationId xmlns:a16="http://schemas.microsoft.com/office/drawing/2014/main" id="{B95F5EB0-B45B-49B2-BBED-EAF5EF996A8E}"/>
              </a:ext>
            </a:extLst>
          </p:cNvPr>
          <p:cNvSpPr>
            <a:spLocks noGrp="1"/>
          </p:cNvSpPr>
          <p:nvPr/>
        </p:nvSpPr>
        <p:spPr>
          <a:xfrm>
            <a:off x="3534842" y="1527048"/>
            <a:ext cx="2245538"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 years</a:t>
            </a:r>
            <a:endParaRPr sz="2800"/>
          </a:p>
        </p:txBody>
      </p:sp>
      <p:sp>
        <p:nvSpPr>
          <p:cNvPr id="14" name="Text 12">
            <a:extLst>
              <a:ext uri="{FF2B5EF4-FFF2-40B4-BE49-F238E27FC236}">
                <a16:creationId xmlns:a16="http://schemas.microsoft.com/office/drawing/2014/main" id="{5E112846-F53D-47F4-BB6C-08197F0139DF}"/>
              </a:ext>
            </a:extLst>
          </p:cNvPr>
          <p:cNvSpPr>
            <a:spLocks noGrp="1"/>
          </p:cNvSpPr>
          <p:nvPr/>
        </p:nvSpPr>
        <p:spPr>
          <a:xfrm>
            <a:off x="3534842" y="1929384"/>
            <a:ext cx="2245538"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600,000 DBU hours</a:t>
            </a:r>
            <a:endParaRPr sz="1200"/>
          </a:p>
        </p:txBody>
      </p:sp>
      <p:sp>
        <p:nvSpPr>
          <p:cNvPr id="15" name="Shape 13">
            <a:extLst>
              <a:ext uri="{FF2B5EF4-FFF2-40B4-BE49-F238E27FC236}">
                <a16:creationId xmlns:a16="http://schemas.microsoft.com/office/drawing/2014/main" id="{F430786A-4684-41D0-B1D0-DE0CB57185B6}"/>
              </a:ext>
            </a:extLst>
          </p:cNvPr>
          <p:cNvSpPr>
            <a:spLocks noGrp="1"/>
          </p:cNvSpPr>
          <p:nvPr/>
        </p:nvSpPr>
        <p:spPr>
          <a:xfrm>
            <a:off x="6210148" y="1234440"/>
            <a:ext cx="2647874"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6" name="Text 14">
            <a:extLst>
              <a:ext uri="{FF2B5EF4-FFF2-40B4-BE49-F238E27FC236}">
                <a16:creationId xmlns:a16="http://schemas.microsoft.com/office/drawing/2014/main" id="{F9648FEB-338A-4553-A09A-E600F1B98F29}"/>
              </a:ext>
            </a:extLst>
          </p:cNvPr>
          <p:cNvSpPr>
            <a:spLocks noGrp="1"/>
          </p:cNvSpPr>
          <p:nvPr/>
        </p:nvSpPr>
        <p:spPr>
          <a:xfrm>
            <a:off x="6411316" y="1325880"/>
            <a:ext cx="2245538"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DRAWN TO JULY</a:t>
            </a:r>
            <a:endParaRPr sz="1200"/>
          </a:p>
        </p:txBody>
      </p:sp>
      <p:sp>
        <p:nvSpPr>
          <p:cNvPr id="17" name="Text 15">
            <a:extLst>
              <a:ext uri="{FF2B5EF4-FFF2-40B4-BE49-F238E27FC236}">
                <a16:creationId xmlns:a16="http://schemas.microsoft.com/office/drawing/2014/main" id="{2278EF67-58E4-49C2-A9FA-343D083CF99A}"/>
              </a:ext>
            </a:extLst>
          </p:cNvPr>
          <p:cNvSpPr>
            <a:spLocks noGrp="1"/>
          </p:cNvSpPr>
          <p:nvPr/>
        </p:nvSpPr>
        <p:spPr>
          <a:xfrm>
            <a:off x="6411316" y="1527048"/>
            <a:ext cx="2245538"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$88,666</a:t>
            </a:r>
            <a:endParaRPr sz="2800"/>
          </a:p>
        </p:txBody>
      </p:sp>
      <p:sp>
        <p:nvSpPr>
          <p:cNvPr id="18" name="Text 16">
            <a:extLst>
              <a:ext uri="{FF2B5EF4-FFF2-40B4-BE49-F238E27FC236}">
                <a16:creationId xmlns:a16="http://schemas.microsoft.com/office/drawing/2014/main" id="{632FF2FE-BD8A-4D05-94F8-1D29366C6EFE}"/>
              </a:ext>
            </a:extLst>
          </p:cNvPr>
          <p:cNvSpPr>
            <a:spLocks noGrp="1"/>
          </p:cNvSpPr>
          <p:nvPr/>
        </p:nvSpPr>
        <p:spPr>
          <a:xfrm>
            <a:off x="6411316" y="1929384"/>
            <a:ext cx="2245538"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consumption, not new cash</a:t>
            </a:r>
            <a:endParaRPr sz="1200"/>
          </a:p>
        </p:txBody>
      </p:sp>
      <p:sp>
        <p:nvSpPr>
          <p:cNvPr id="19" name="Shape 17">
            <a:extLst>
              <a:ext uri="{FF2B5EF4-FFF2-40B4-BE49-F238E27FC236}">
                <a16:creationId xmlns:a16="http://schemas.microsoft.com/office/drawing/2014/main" id="{63B986D1-6FA0-4DAE-BB30-2614158E64C7}"/>
              </a:ext>
            </a:extLst>
          </p:cNvPr>
          <p:cNvSpPr>
            <a:spLocks noGrp="1"/>
          </p:cNvSpPr>
          <p:nvPr/>
        </p:nvSpPr>
        <p:spPr>
          <a:xfrm>
            <a:off x="9086621" y="1234440"/>
            <a:ext cx="2647874"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0" name="Text 18">
            <a:extLst>
              <a:ext uri="{FF2B5EF4-FFF2-40B4-BE49-F238E27FC236}">
                <a16:creationId xmlns:a16="http://schemas.microsoft.com/office/drawing/2014/main" id="{448DD203-0EF1-4EE4-A8EC-A1F145A9BB23}"/>
              </a:ext>
            </a:extLst>
          </p:cNvPr>
          <p:cNvSpPr>
            <a:spLocks noGrp="1"/>
          </p:cNvSpPr>
          <p:nvPr/>
        </p:nvSpPr>
        <p:spPr>
          <a:xfrm>
            <a:off x="9287789" y="1325880"/>
            <a:ext cx="2245538"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INFRA UNDERNEATH</a:t>
            </a:r>
            <a:endParaRPr sz="1200"/>
          </a:p>
        </p:txBody>
      </p:sp>
      <p:sp>
        <p:nvSpPr>
          <p:cNvPr id="21" name="Text 19">
            <a:extLst>
              <a:ext uri="{FF2B5EF4-FFF2-40B4-BE49-F238E27FC236}">
                <a16:creationId xmlns:a16="http://schemas.microsoft.com/office/drawing/2014/main" id="{D6ECF4CE-17DA-425A-9FB0-17BAEB11D55B}"/>
              </a:ext>
            </a:extLst>
          </p:cNvPr>
          <p:cNvSpPr>
            <a:spLocks noGrp="1"/>
          </p:cNvSpPr>
          <p:nvPr/>
        </p:nvSpPr>
        <p:spPr>
          <a:xfrm>
            <a:off x="9287789" y="1527048"/>
            <a:ext cx="2245538"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$63,501</a:t>
            </a:r>
            <a:endParaRPr sz="2800"/>
          </a:p>
        </p:txBody>
      </p:sp>
      <p:sp>
        <p:nvSpPr>
          <p:cNvPr id="22" name="Text 20">
            <a:extLst>
              <a:ext uri="{FF2B5EF4-FFF2-40B4-BE49-F238E27FC236}">
                <a16:creationId xmlns:a16="http://schemas.microsoft.com/office/drawing/2014/main" id="{F8D2DE3F-B517-49A4-8542-7224B113372D}"/>
              </a:ext>
            </a:extLst>
          </p:cNvPr>
          <p:cNvSpPr>
            <a:spLocks noGrp="1"/>
          </p:cNvSpPr>
          <p:nvPr/>
        </p:nvSpPr>
        <p:spPr>
          <a:xfrm>
            <a:off x="9287789" y="1929384"/>
            <a:ext cx="2245538" cy="329184"/>
          </a:xfrm>
          <a:prstGeom prst="rect">
            <a:avLst/>
          </a:prstGeom>
          <a:noFill/>
        </p:spPr>
        <p:txBody>
          <a:bodyPr wrap="square" lIns="0" tIns="0" rIns="0" bIns="0" anchor="t"/>
          <a:lstStyle/>
          <a:p>
            <a:pPr marL="0" indent="0">
              <a:lnSpc>
                <a:spcPct val="105000"/>
              </a:lnSpc>
              <a:buNone/>
            </a:pPr>
            <a:r>
              <a:rPr sz="1200" b="1">
                <a:solidFill>
                  <a:srgbClr val="FF6B7A"/>
                </a:solidFill>
                <a:latin typeface="Calibri"/>
                <a:ea typeface="Calibri"/>
                <a:cs typeface="Calibri"/>
              </a:rPr>
              <a:t>May-Jul, this part still bills</a:t>
            </a:r>
            <a:endParaRPr sz="1200"/>
          </a:p>
        </p:txBody>
      </p:sp>
      <p:sp>
        <p:nvSpPr>
          <p:cNvPr id="23" name="Shape 21">
            <a:extLst>
              <a:ext uri="{FF2B5EF4-FFF2-40B4-BE49-F238E27FC236}">
                <a16:creationId xmlns:a16="http://schemas.microsoft.com/office/drawing/2014/main" id="{326D3C35-D5C3-4488-A206-FAF52486065A}"/>
              </a:ext>
            </a:extLst>
          </p:cNvPr>
          <p:cNvSpPr>
            <a:spLocks noGrp="1"/>
          </p:cNvSpPr>
          <p:nvPr/>
        </p:nvSpPr>
        <p:spPr>
          <a:xfrm>
            <a:off x="457200" y="2468880"/>
            <a:ext cx="11277295" cy="1691640"/>
          </a:xfrm>
          <a:prstGeom prst="roundRect">
            <a:avLst>
              <a:gd name="adj" fmla="val 3243"/>
            </a:avLst>
          </a:prstGeom>
          <a:solidFill>
            <a:srgbClr val="121B2D"/>
          </a:solidFill>
          <a:ln w="12700">
            <a:solidFill>
              <a:srgbClr val="B07CFF"/>
            </a:solidFill>
            <a:prstDash val="solid"/>
          </a:ln>
        </p:spPr>
        <p:txBody>
          <a:bodyPr/>
          <a:lstStyle/>
          <a:p>
            <a:endParaRPr/>
          </a:p>
        </p:txBody>
      </p:sp>
      <p:sp>
        <p:nvSpPr>
          <p:cNvPr id="24" name="Text 22">
            <a:extLst>
              <a:ext uri="{FF2B5EF4-FFF2-40B4-BE49-F238E27FC236}">
                <a16:creationId xmlns:a16="http://schemas.microsoft.com/office/drawing/2014/main" id="{BBA1F0B9-0566-49BC-8BAB-6D535C43C267}"/>
              </a:ext>
            </a:extLst>
          </p:cNvPr>
          <p:cNvSpPr>
            <a:spLocks noGrp="1"/>
          </p:cNvSpPr>
          <p:nvPr/>
        </p:nvSpPr>
        <p:spPr>
          <a:xfrm>
            <a:off x="777240" y="2651760"/>
            <a:ext cx="3108960" cy="1325880"/>
          </a:xfrm>
          <a:prstGeom prst="rect">
            <a:avLst/>
          </a:prstGeom>
          <a:noFill/>
        </p:spPr>
        <p:txBody>
          <a:bodyPr wrap="square" lIns="0" tIns="0" rIns="0" bIns="0" anchor="ctr"/>
          <a:lstStyle/>
          <a:p>
            <a:pPr marL="0" indent="0">
              <a:buNone/>
            </a:pPr>
            <a:r>
              <a:rPr sz="6600" b="1">
                <a:solidFill>
                  <a:srgbClr val="B07CFF"/>
                </a:solidFill>
                <a:latin typeface="Calibri"/>
                <a:ea typeface="Calibri"/>
                <a:cs typeface="Calibri"/>
              </a:rPr>
              <a:t>18%</a:t>
            </a:r>
            <a:endParaRPr sz="6600"/>
          </a:p>
        </p:txBody>
      </p:sp>
      <p:sp>
        <p:nvSpPr>
          <p:cNvPr id="25" name="Text 23">
            <a:extLst>
              <a:ext uri="{FF2B5EF4-FFF2-40B4-BE49-F238E27FC236}">
                <a16:creationId xmlns:a16="http://schemas.microsoft.com/office/drawing/2014/main" id="{DC000734-3FA6-44DB-9DB6-9A5FD58866BD}"/>
              </a:ext>
            </a:extLst>
          </p:cNvPr>
          <p:cNvSpPr>
            <a:spLocks noGrp="1"/>
          </p:cNvSpPr>
          <p:nvPr/>
        </p:nvSpPr>
        <p:spPr>
          <a:xfrm>
            <a:off x="4023360" y="2724912"/>
            <a:ext cx="7345375" cy="1188720"/>
          </a:xfrm>
          <a:prstGeom prst="rect">
            <a:avLst/>
          </a:prstGeom>
          <a:noFill/>
        </p:spPr>
        <p:txBody>
          <a:bodyPr wrap="square" lIns="0" tIns="0" rIns="0" bIns="0" anchor="ctr"/>
          <a:lstStyle/>
          <a:p>
            <a:pPr marL="0" indent="0">
              <a:lnSpc>
                <a:spcPct val="125000"/>
              </a:lnSpc>
              <a:buNone/>
            </a:pPr>
            <a:r>
              <a:rPr sz="1550">
                <a:solidFill>
                  <a:srgbClr val="F4F7FB"/>
                </a:solidFill>
                <a:latin typeface="Calibri"/>
                <a:ea typeface="Calibri"/>
                <a:cs typeface="Calibri"/>
              </a:rPr>
              <a:t>cumulative utilisation of the Databricks commitment as at July. Databricks compute bills at $0 because it draws against a balance already paid so it disappears from every consumption report while the money is already gone.</a:t>
            </a:r>
            <a:endParaRPr sz="1550"/>
          </a:p>
        </p:txBody>
      </p:sp>
      <p:sp>
        <p:nvSpPr>
          <p:cNvPr id="27" name="Text 25">
            <a:extLst>
              <a:ext uri="{FF2B5EF4-FFF2-40B4-BE49-F238E27FC236}">
                <a16:creationId xmlns:a16="http://schemas.microsoft.com/office/drawing/2014/main" id="{99A4F111-7CFE-452A-B93E-CE2E88831C37}"/>
              </a:ext>
            </a:extLst>
          </p:cNvPr>
          <p:cNvSpPr>
            <a:spLocks noGrp="1"/>
          </p:cNvSpPr>
          <p:nvPr/>
        </p:nvSpPr>
        <p:spPr>
          <a:xfrm>
            <a:off x="630936" y="4434840"/>
            <a:ext cx="11103559" cy="365760"/>
          </a:xfrm>
          <a:prstGeom prst="rect">
            <a:avLst/>
          </a:prstGeom>
          <a:noFill/>
        </p:spPr>
        <p:txBody>
          <a:bodyPr wrap="square" lIns="0" tIns="0" rIns="0" bIns="0" anchor="t"/>
          <a:lstStyle/>
          <a:p>
            <a:pPr marL="0" indent="0">
              <a:lnSpc>
                <a:spcPct val="110000"/>
              </a:lnSpc>
              <a:buNone/>
            </a:pPr>
            <a:endParaRPr sz="1250"/>
          </a:p>
        </p:txBody>
      </p:sp>
      <p:sp>
        <p:nvSpPr>
          <p:cNvPr id="28" name="Shape 26">
            <a:extLst>
              <a:ext uri="{FF2B5EF4-FFF2-40B4-BE49-F238E27FC236}">
                <a16:creationId xmlns:a16="http://schemas.microsoft.com/office/drawing/2014/main" id="{2340BED1-5D8D-4DDE-AE31-5B426FCFDFFD}"/>
              </a:ext>
            </a:extLst>
          </p:cNvPr>
          <p:cNvSpPr>
            <a:spLocks noGrp="1"/>
          </p:cNvSpPr>
          <p:nvPr/>
        </p:nvSpPr>
        <p:spPr>
          <a:xfrm>
            <a:off x="457200" y="5084064"/>
            <a:ext cx="64008" cy="64008"/>
          </a:xfrm>
          <a:prstGeom prst="rect">
            <a:avLst/>
          </a:prstGeom>
          <a:solidFill>
            <a:srgbClr val="B07CFF"/>
          </a:solidFill>
          <a:ln w="12700">
            <a:solidFill>
              <a:srgbClr val="B07CFF"/>
            </a:solidFill>
            <a:prstDash val="solid"/>
          </a:ln>
        </p:spPr>
        <p:txBody>
          <a:bodyPr/>
          <a:lstStyle/>
          <a:p>
            <a:endParaRPr/>
          </a:p>
        </p:txBody>
      </p:sp>
      <p:sp>
        <p:nvSpPr>
          <p:cNvPr id="29" name="Text 27">
            <a:extLst>
              <a:ext uri="{FF2B5EF4-FFF2-40B4-BE49-F238E27FC236}">
                <a16:creationId xmlns:a16="http://schemas.microsoft.com/office/drawing/2014/main" id="{3CC3CFD1-8821-4AF2-BCB2-00837549C2F1}"/>
              </a:ext>
            </a:extLst>
          </p:cNvPr>
          <p:cNvSpPr>
            <a:spLocks noGrp="1"/>
          </p:cNvSpPr>
          <p:nvPr/>
        </p:nvSpPr>
        <p:spPr>
          <a:xfrm>
            <a:off x="630936" y="5001768"/>
            <a:ext cx="11103559"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The VMs, networking and storage that Databricks runs on are not covered by the pre-purchase and cost $63,501 across May to July alone.</a:t>
            </a:r>
            <a:endParaRPr sz="1250"/>
          </a:p>
        </p:txBody>
      </p:sp>
      <p:sp>
        <p:nvSpPr>
          <p:cNvPr id="31" name="Text 29">
            <a:extLst>
              <a:ext uri="{FF2B5EF4-FFF2-40B4-BE49-F238E27FC236}">
                <a16:creationId xmlns:a16="http://schemas.microsoft.com/office/drawing/2014/main" id="{46E7EFFB-66DA-433E-ACAA-DDCB87A08272}"/>
              </a:ext>
            </a:extLst>
          </p:cNvPr>
          <p:cNvSpPr>
            <a:spLocks noGrp="1"/>
          </p:cNvSpPr>
          <p:nvPr/>
        </p:nvSpPr>
        <p:spPr>
          <a:xfrm>
            <a:off x="630936" y="5568696"/>
            <a:ext cx="11103559" cy="182880"/>
          </a:xfrm>
          <a:prstGeom prst="rect">
            <a:avLst/>
          </a:prstGeom>
          <a:noFill/>
        </p:spPr>
        <p:txBody>
          <a:bodyPr wrap="square" lIns="0" tIns="0" rIns="0" bIns="0" anchor="t"/>
          <a:lstStyle/>
          <a:p>
            <a:pPr marL="0" indent="0">
              <a:lnSpc>
                <a:spcPct val="110000"/>
              </a:lnSpc>
              <a:buNone/>
            </a:pPr>
            <a:endParaRPr sz="1250"/>
          </a:p>
        </p:txBody>
      </p:sp>
    </p:spTree>
    <p:extLst>
      <p:ext uri="{BB962C8B-B14F-4D97-AF65-F5344CB8AC3E}">
        <p14:creationId xmlns:p14="http://schemas.microsoft.com/office/powerpoint/2010/main" val="1717296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9E94990-942E-403C-BC69-DD21E86C0F7A}"/>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D79D9625-634F-425A-9A37-7C40474355ED}"/>
              </a:ext>
            </a:extLst>
          </p:cNvPr>
          <p:cNvSpPr>
            <a:spLocks noGrp="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a:p>
        </p:txBody>
      </p:sp>
      <p:sp>
        <p:nvSpPr>
          <p:cNvPr id="4" name="Text 2">
            <a:extLst>
              <a:ext uri="{FF2B5EF4-FFF2-40B4-BE49-F238E27FC236}">
                <a16:creationId xmlns:a16="http://schemas.microsoft.com/office/drawing/2014/main" id="{4D057E66-1A36-4D8F-A559-742D1D02612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6B7A"/>
                </a:solidFill>
                <a:latin typeface="Calibri"/>
                <a:ea typeface="Calibri"/>
                <a:cs typeface="Calibri"/>
              </a:rPr>
              <a:t>ATTRIBUTION</a:t>
            </a:r>
            <a:endParaRPr sz="1300"/>
          </a:p>
        </p:txBody>
      </p:sp>
      <p:sp>
        <p:nvSpPr>
          <p:cNvPr id="5" name="Text 3">
            <a:extLst>
              <a:ext uri="{FF2B5EF4-FFF2-40B4-BE49-F238E27FC236}">
                <a16:creationId xmlns:a16="http://schemas.microsoft.com/office/drawing/2014/main" id="{E330B830-5AD3-44A2-858D-46F690F59749}"/>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471" b="1">
                <a:solidFill>
                  <a:srgbClr val="F4F7FB"/>
                </a:solidFill>
                <a:latin typeface="Calibri"/>
                <a:ea typeface="Calibri"/>
                <a:cs typeface="Calibri"/>
              </a:rPr>
              <a:t>A quarter of the bill has no owner</a:t>
            </a:r>
            <a:endParaRPr sz="2471"/>
          </a:p>
        </p:txBody>
      </p:sp>
      <p:sp>
        <p:nvSpPr>
          <p:cNvPr id="6" name="Text 4">
            <a:extLst>
              <a:ext uri="{FF2B5EF4-FFF2-40B4-BE49-F238E27FC236}">
                <a16:creationId xmlns:a16="http://schemas.microsoft.com/office/drawing/2014/main" id="{95FCA4C1-7C81-4224-B2A6-114F209C4A37}"/>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From the Project tag on each resource, Azure enrollment.</a:t>
            </a:r>
            <a:endParaRPr sz="1200"/>
          </a:p>
        </p:txBody>
      </p:sp>
      <p:sp>
        <p:nvSpPr>
          <p:cNvPr id="7" name="Shape 5">
            <a:extLst>
              <a:ext uri="{FF2B5EF4-FFF2-40B4-BE49-F238E27FC236}">
                <a16:creationId xmlns:a16="http://schemas.microsoft.com/office/drawing/2014/main" id="{5F4DC9A6-6335-4F0E-87ED-AD4AB24AB475}"/>
              </a:ext>
            </a:extLst>
          </p:cNvPr>
          <p:cNvSpPr>
            <a:spLocks noGrp="1"/>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8" name="Text 6">
            <a:extLst>
              <a:ext uri="{FF2B5EF4-FFF2-40B4-BE49-F238E27FC236}">
                <a16:creationId xmlns:a16="http://schemas.microsoft.com/office/drawing/2014/main" id="{C88C202E-F60B-4945-9D75-A731565ED22E}"/>
              </a:ext>
            </a:extLst>
          </p:cNvPr>
          <p:cNvSpPr>
            <a:spLocks noGrp="1"/>
          </p:cNvSpPr>
          <p:nvPr/>
        </p:nvSpPr>
        <p:spPr>
          <a:xfrm>
            <a:off x="658368" y="132588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UNTAGGED, JULY</a:t>
            </a:r>
            <a:endParaRPr sz="1200"/>
          </a:p>
        </p:txBody>
      </p:sp>
      <p:sp>
        <p:nvSpPr>
          <p:cNvPr id="9" name="Text 7">
            <a:extLst>
              <a:ext uri="{FF2B5EF4-FFF2-40B4-BE49-F238E27FC236}">
                <a16:creationId xmlns:a16="http://schemas.microsoft.com/office/drawing/2014/main" id="{2F23E5A4-ECE1-407D-9C3F-91D88C2C4A93}"/>
              </a:ext>
            </a:extLst>
          </p:cNvPr>
          <p:cNvSpPr>
            <a:spLocks noGrp="1"/>
          </p:cNvSpPr>
          <p:nvPr/>
        </p:nvSpPr>
        <p:spPr>
          <a:xfrm>
            <a:off x="658368" y="152704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23.4%</a:t>
            </a:r>
            <a:endParaRPr sz="2800"/>
          </a:p>
        </p:txBody>
      </p:sp>
      <p:sp>
        <p:nvSpPr>
          <p:cNvPr id="10" name="Text 8">
            <a:extLst>
              <a:ext uri="{FF2B5EF4-FFF2-40B4-BE49-F238E27FC236}">
                <a16:creationId xmlns:a16="http://schemas.microsoft.com/office/drawing/2014/main" id="{C48DFEA5-FA47-4872-A360-BAACEA62AA4B}"/>
              </a:ext>
            </a:extLst>
          </p:cNvPr>
          <p:cNvSpPr>
            <a:spLocks noGrp="1"/>
          </p:cNvSpPr>
          <p:nvPr/>
        </p:nvSpPr>
        <p:spPr>
          <a:xfrm>
            <a:off x="658368" y="1929384"/>
            <a:ext cx="3204362" cy="329184"/>
          </a:xfrm>
          <a:prstGeom prst="rect">
            <a:avLst/>
          </a:prstGeom>
          <a:noFill/>
        </p:spPr>
        <p:txBody>
          <a:bodyPr wrap="square" lIns="0" tIns="0" rIns="0" bIns="0" anchor="t"/>
          <a:lstStyle/>
          <a:p>
            <a:pPr marL="0" indent="0">
              <a:lnSpc>
                <a:spcPct val="105000"/>
              </a:lnSpc>
              <a:buNone/>
            </a:pPr>
            <a:r>
              <a:rPr sz="1200" b="1">
                <a:solidFill>
                  <a:srgbClr val="FF6B7A"/>
                </a:solidFill>
                <a:latin typeface="Calibri"/>
                <a:ea typeface="Calibri"/>
                <a:cs typeface="Calibri"/>
              </a:rPr>
              <a:t>was 8.4% in May</a:t>
            </a:r>
            <a:endParaRPr sz="1200"/>
          </a:p>
        </p:txBody>
      </p:sp>
      <p:sp>
        <p:nvSpPr>
          <p:cNvPr id="11" name="Shape 9">
            <a:extLst>
              <a:ext uri="{FF2B5EF4-FFF2-40B4-BE49-F238E27FC236}">
                <a16:creationId xmlns:a16="http://schemas.microsoft.com/office/drawing/2014/main" id="{3206965C-F217-4988-8468-7E97587668CE}"/>
              </a:ext>
            </a:extLst>
          </p:cNvPr>
          <p:cNvSpPr>
            <a:spLocks noGrp="1"/>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2" name="Text 10">
            <a:extLst>
              <a:ext uri="{FF2B5EF4-FFF2-40B4-BE49-F238E27FC236}">
                <a16:creationId xmlns:a16="http://schemas.microsoft.com/office/drawing/2014/main" id="{43A2FB71-A298-4330-A74D-A93F5DD509A0}"/>
              </a:ext>
            </a:extLst>
          </p:cNvPr>
          <p:cNvSpPr>
            <a:spLocks noGrp="1"/>
          </p:cNvSpPr>
          <p:nvPr/>
        </p:nvSpPr>
        <p:spPr>
          <a:xfrm>
            <a:off x="4493666" y="132588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UNTAGGED AI SPEND</a:t>
            </a:r>
            <a:endParaRPr sz="1200"/>
          </a:p>
        </p:txBody>
      </p:sp>
      <p:sp>
        <p:nvSpPr>
          <p:cNvPr id="13" name="Text 11">
            <a:extLst>
              <a:ext uri="{FF2B5EF4-FFF2-40B4-BE49-F238E27FC236}">
                <a16:creationId xmlns:a16="http://schemas.microsoft.com/office/drawing/2014/main" id="{11B0ADFB-D840-4A3B-A6A9-EF2972CB1FC6}"/>
              </a:ext>
            </a:extLst>
          </p:cNvPr>
          <p:cNvSpPr>
            <a:spLocks noGrp="1"/>
          </p:cNvSpPr>
          <p:nvPr/>
        </p:nvSpPr>
        <p:spPr>
          <a:xfrm>
            <a:off x="4493666" y="152704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$51,381</a:t>
            </a:r>
            <a:endParaRPr sz="2800"/>
          </a:p>
        </p:txBody>
      </p:sp>
      <p:sp>
        <p:nvSpPr>
          <p:cNvPr id="14" name="Text 12">
            <a:extLst>
              <a:ext uri="{FF2B5EF4-FFF2-40B4-BE49-F238E27FC236}">
                <a16:creationId xmlns:a16="http://schemas.microsoft.com/office/drawing/2014/main" id="{B1A4A997-7EB5-4FCC-8152-99535241286B}"/>
              </a:ext>
            </a:extLst>
          </p:cNvPr>
          <p:cNvSpPr>
            <a:spLocks noGrp="1"/>
          </p:cNvSpPr>
          <p:nvPr/>
        </p:nvSpPr>
        <p:spPr>
          <a:xfrm>
            <a:off x="4493666" y="1929384"/>
            <a:ext cx="3204362" cy="329184"/>
          </a:xfrm>
          <a:prstGeom prst="rect">
            <a:avLst/>
          </a:prstGeom>
          <a:noFill/>
        </p:spPr>
        <p:txBody>
          <a:bodyPr wrap="square" lIns="0" tIns="0" rIns="0" bIns="0" anchor="t"/>
          <a:lstStyle/>
          <a:p>
            <a:pPr marL="0" indent="0">
              <a:lnSpc>
                <a:spcPct val="105000"/>
              </a:lnSpc>
              <a:buNone/>
            </a:pPr>
            <a:r>
              <a:rPr sz="1200" b="1">
                <a:solidFill>
                  <a:srgbClr val="B07CFF"/>
                </a:solidFill>
                <a:latin typeface="Calibri"/>
                <a:ea typeface="Calibri"/>
                <a:cs typeface="Calibri"/>
              </a:rPr>
              <a:t>of $96,843 untagged in total</a:t>
            </a:r>
            <a:endParaRPr sz="1200"/>
          </a:p>
        </p:txBody>
      </p:sp>
      <p:sp>
        <p:nvSpPr>
          <p:cNvPr id="15" name="Shape 13">
            <a:extLst>
              <a:ext uri="{FF2B5EF4-FFF2-40B4-BE49-F238E27FC236}">
                <a16:creationId xmlns:a16="http://schemas.microsoft.com/office/drawing/2014/main" id="{C969D336-1DC4-47CD-B649-22F32CC3DF8A}"/>
              </a:ext>
            </a:extLst>
          </p:cNvPr>
          <p:cNvSpPr>
            <a:spLocks noGrp="1"/>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6" name="Text 14">
            <a:extLst>
              <a:ext uri="{FF2B5EF4-FFF2-40B4-BE49-F238E27FC236}">
                <a16:creationId xmlns:a16="http://schemas.microsoft.com/office/drawing/2014/main" id="{75ED5120-FAC8-4FA8-B0EC-34367BB797E6}"/>
              </a:ext>
            </a:extLst>
          </p:cNvPr>
          <p:cNvSpPr>
            <a:spLocks noGrp="1"/>
          </p:cNvSpPr>
          <p:nvPr/>
        </p:nvSpPr>
        <p:spPr>
          <a:xfrm>
            <a:off x="8328965" y="132588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COST CENTRE FIELD</a:t>
            </a:r>
            <a:endParaRPr sz="1200"/>
          </a:p>
        </p:txBody>
      </p:sp>
      <p:sp>
        <p:nvSpPr>
          <p:cNvPr id="17" name="Text 15">
            <a:extLst>
              <a:ext uri="{FF2B5EF4-FFF2-40B4-BE49-F238E27FC236}">
                <a16:creationId xmlns:a16="http://schemas.microsoft.com/office/drawing/2014/main" id="{8968C143-51FC-49BF-B3C3-F040F361A715}"/>
              </a:ext>
            </a:extLst>
          </p:cNvPr>
          <p:cNvSpPr>
            <a:spLocks noGrp="1"/>
          </p:cNvSpPr>
          <p:nvPr/>
        </p:nvSpPr>
        <p:spPr>
          <a:xfrm>
            <a:off x="8328965" y="152704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empty</a:t>
            </a:r>
            <a:endParaRPr sz="2800"/>
          </a:p>
        </p:txBody>
      </p:sp>
      <p:sp>
        <p:nvSpPr>
          <p:cNvPr id="18" name="Text 16">
            <a:extLst>
              <a:ext uri="{FF2B5EF4-FFF2-40B4-BE49-F238E27FC236}">
                <a16:creationId xmlns:a16="http://schemas.microsoft.com/office/drawing/2014/main" id="{0691EECB-D057-4328-AA0B-23AF7816025C}"/>
              </a:ext>
            </a:extLst>
          </p:cNvPr>
          <p:cNvSpPr>
            <a:spLocks noGrp="1"/>
          </p:cNvSpPr>
          <p:nvPr/>
        </p:nvSpPr>
        <p:spPr>
          <a:xfrm>
            <a:off x="8328965" y="1929384"/>
            <a:ext cx="3204362"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on every line of the enrollment</a:t>
            </a:r>
            <a:endParaRPr sz="1200"/>
          </a:p>
        </p:txBody>
      </p:sp>
      <p:sp>
        <p:nvSpPr>
          <p:cNvPr id="19" name="Shape 17">
            <a:extLst>
              <a:ext uri="{FF2B5EF4-FFF2-40B4-BE49-F238E27FC236}">
                <a16:creationId xmlns:a16="http://schemas.microsoft.com/office/drawing/2014/main" id="{1A59E0D2-AF96-4A34-8AF6-79801C17EF3D}"/>
              </a:ext>
            </a:extLst>
          </p:cNvPr>
          <p:cNvSpPr>
            <a:spLocks noGrp="1"/>
          </p:cNvSpPr>
          <p:nvPr/>
        </p:nvSpPr>
        <p:spPr>
          <a:xfrm>
            <a:off x="457200" y="2468880"/>
            <a:ext cx="11277295" cy="1691640"/>
          </a:xfrm>
          <a:prstGeom prst="roundRect">
            <a:avLst>
              <a:gd name="adj" fmla="val 3243"/>
            </a:avLst>
          </a:prstGeom>
          <a:solidFill>
            <a:srgbClr val="121B2D"/>
          </a:solidFill>
          <a:ln w="12700">
            <a:solidFill>
              <a:srgbClr val="FF6B7A"/>
            </a:solidFill>
            <a:prstDash val="solid"/>
          </a:ln>
        </p:spPr>
        <p:txBody>
          <a:bodyPr/>
          <a:lstStyle/>
          <a:p>
            <a:endParaRPr/>
          </a:p>
        </p:txBody>
      </p:sp>
      <p:sp>
        <p:nvSpPr>
          <p:cNvPr id="20" name="Text 18">
            <a:extLst>
              <a:ext uri="{FF2B5EF4-FFF2-40B4-BE49-F238E27FC236}">
                <a16:creationId xmlns:a16="http://schemas.microsoft.com/office/drawing/2014/main" id="{E6E0DB4A-ED1C-44D8-BE8E-082BDDF91F58}"/>
              </a:ext>
            </a:extLst>
          </p:cNvPr>
          <p:cNvSpPr>
            <a:spLocks noGrp="1"/>
          </p:cNvSpPr>
          <p:nvPr/>
        </p:nvSpPr>
        <p:spPr>
          <a:xfrm>
            <a:off x="777240" y="2651760"/>
            <a:ext cx="3108960" cy="1325880"/>
          </a:xfrm>
          <a:prstGeom prst="rect">
            <a:avLst/>
          </a:prstGeom>
          <a:noFill/>
        </p:spPr>
        <p:txBody>
          <a:bodyPr wrap="square" lIns="0" tIns="0" rIns="0" bIns="0" anchor="ctr"/>
          <a:lstStyle/>
          <a:p>
            <a:pPr marL="0" indent="0">
              <a:buNone/>
            </a:pPr>
            <a:r>
              <a:rPr sz="6600" b="1">
                <a:solidFill>
                  <a:srgbClr val="FF6B7A"/>
                </a:solidFill>
                <a:latin typeface="Calibri"/>
                <a:ea typeface="Calibri"/>
                <a:cs typeface="Calibri"/>
              </a:rPr>
              <a:t>23.4%</a:t>
            </a:r>
            <a:endParaRPr sz="6600"/>
          </a:p>
        </p:txBody>
      </p:sp>
      <p:sp>
        <p:nvSpPr>
          <p:cNvPr id="21" name="Text 19">
            <a:extLst>
              <a:ext uri="{FF2B5EF4-FFF2-40B4-BE49-F238E27FC236}">
                <a16:creationId xmlns:a16="http://schemas.microsoft.com/office/drawing/2014/main" id="{DD83F80D-F0CA-4DE8-AAD8-FDD385885D18}"/>
              </a:ext>
            </a:extLst>
          </p:cNvPr>
          <p:cNvSpPr>
            <a:spLocks noGrp="1"/>
          </p:cNvSpPr>
          <p:nvPr/>
        </p:nvSpPr>
        <p:spPr>
          <a:xfrm>
            <a:off x="4023360" y="2724912"/>
            <a:ext cx="7345375" cy="1188720"/>
          </a:xfrm>
          <a:prstGeom prst="rect">
            <a:avLst/>
          </a:prstGeom>
          <a:noFill/>
        </p:spPr>
        <p:txBody>
          <a:bodyPr wrap="square" lIns="0" tIns="0" rIns="0" bIns="0" anchor="ctr"/>
          <a:lstStyle/>
          <a:p>
            <a:pPr marL="0" indent="0">
              <a:lnSpc>
                <a:spcPct val="125000"/>
              </a:lnSpc>
              <a:buNone/>
            </a:pPr>
            <a:r>
              <a:rPr sz="1550">
                <a:solidFill>
                  <a:srgbClr val="F4F7FB"/>
                </a:solidFill>
                <a:latin typeface="Calibri"/>
                <a:ea typeface="Calibri"/>
                <a:cs typeface="Calibri"/>
              </a:rPr>
              <a:t>of July's Azure spend carries no project tag, up from 8.4% in May. Nearly a quarter of the bill cannot be attributed to a team, which means it cannot be charged back, questioned, or defended.</a:t>
            </a:r>
            <a:endParaRPr sz="1550"/>
          </a:p>
        </p:txBody>
      </p:sp>
      <p:sp>
        <p:nvSpPr>
          <p:cNvPr id="22" name="Shape 20">
            <a:extLst>
              <a:ext uri="{FF2B5EF4-FFF2-40B4-BE49-F238E27FC236}">
                <a16:creationId xmlns:a16="http://schemas.microsoft.com/office/drawing/2014/main" id="{EA8D7E72-9556-415C-BA7D-7F40DF6C2DD6}"/>
              </a:ext>
            </a:extLst>
          </p:cNvPr>
          <p:cNvSpPr>
            <a:spLocks noGrp="1"/>
          </p:cNvSpPr>
          <p:nvPr/>
        </p:nvSpPr>
        <p:spPr>
          <a:xfrm>
            <a:off x="457200" y="4517136"/>
            <a:ext cx="64008" cy="64008"/>
          </a:xfrm>
          <a:prstGeom prst="rect">
            <a:avLst/>
          </a:prstGeom>
          <a:solidFill>
            <a:srgbClr val="FF6B7A"/>
          </a:solidFill>
          <a:ln w="12700">
            <a:solidFill>
              <a:srgbClr val="FF6B7A"/>
            </a:solidFill>
            <a:prstDash val="solid"/>
          </a:ln>
        </p:spPr>
        <p:txBody>
          <a:bodyPr/>
          <a:lstStyle/>
          <a:p>
            <a:endParaRPr/>
          </a:p>
        </p:txBody>
      </p:sp>
      <p:sp>
        <p:nvSpPr>
          <p:cNvPr id="23" name="Text 21">
            <a:extLst>
              <a:ext uri="{FF2B5EF4-FFF2-40B4-BE49-F238E27FC236}">
                <a16:creationId xmlns:a16="http://schemas.microsoft.com/office/drawing/2014/main" id="{60F0DD27-B5F1-4697-B9A6-F4B458A5DE7C}"/>
              </a:ext>
            </a:extLst>
          </p:cNvPr>
          <p:cNvSpPr>
            <a:spLocks noGrp="1"/>
          </p:cNvSpPr>
          <p:nvPr/>
        </p:nvSpPr>
        <p:spPr>
          <a:xfrm>
            <a:off x="630936" y="4434840"/>
            <a:ext cx="11103559"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The untagged share tripled in three months, it is getting worse, not better, and it is worst in exactly the AI workloads that are growing fastest.</a:t>
            </a:r>
            <a:endParaRPr sz="1250"/>
          </a:p>
        </p:txBody>
      </p:sp>
      <p:sp>
        <p:nvSpPr>
          <p:cNvPr id="24" name="Shape 22">
            <a:extLst>
              <a:ext uri="{FF2B5EF4-FFF2-40B4-BE49-F238E27FC236}">
                <a16:creationId xmlns:a16="http://schemas.microsoft.com/office/drawing/2014/main" id="{B9C8874E-4CD8-4A04-ABA8-28E0DB2B0629}"/>
              </a:ext>
            </a:extLst>
          </p:cNvPr>
          <p:cNvSpPr>
            <a:spLocks noGrp="1"/>
          </p:cNvSpPr>
          <p:nvPr/>
        </p:nvSpPr>
        <p:spPr>
          <a:xfrm>
            <a:off x="457200" y="5084064"/>
            <a:ext cx="64008" cy="64008"/>
          </a:xfrm>
          <a:prstGeom prst="rect">
            <a:avLst/>
          </a:prstGeom>
          <a:solidFill>
            <a:srgbClr val="FF6B7A"/>
          </a:solidFill>
          <a:ln w="12700">
            <a:solidFill>
              <a:srgbClr val="FF6B7A"/>
            </a:solidFill>
            <a:prstDash val="solid"/>
          </a:ln>
        </p:spPr>
        <p:txBody>
          <a:bodyPr/>
          <a:lstStyle/>
          <a:p>
            <a:endParaRPr/>
          </a:p>
        </p:txBody>
      </p:sp>
      <p:sp>
        <p:nvSpPr>
          <p:cNvPr id="25" name="Text 23">
            <a:extLst>
              <a:ext uri="{FF2B5EF4-FFF2-40B4-BE49-F238E27FC236}">
                <a16:creationId xmlns:a16="http://schemas.microsoft.com/office/drawing/2014/main" id="{40BCB9EF-34DD-4FB7-AA7C-8F17C4D1C209}"/>
              </a:ext>
            </a:extLst>
          </p:cNvPr>
          <p:cNvSpPr>
            <a:spLocks noGrp="1"/>
          </p:cNvSpPr>
          <p:nvPr/>
        </p:nvSpPr>
        <p:spPr>
          <a:xfrm>
            <a:off x="630936" y="5001768"/>
            <a:ext cx="11103559"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Tagging is the dependency under everything else: no chargeback, no per-consumer budget, and no gateway quota can be enforced without it.</a:t>
            </a:r>
            <a:endParaRPr sz="1250"/>
          </a:p>
        </p:txBody>
      </p:sp>
    </p:spTree>
    <p:extLst>
      <p:ext uri="{BB962C8B-B14F-4D97-AF65-F5344CB8AC3E}">
        <p14:creationId xmlns:p14="http://schemas.microsoft.com/office/powerpoint/2010/main" val="694322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3F913B8-8AB9-49CA-AFC8-D44AC585C9CF}"/>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7C3AF05F-CE50-4C0A-8396-E6A24544E2CA}"/>
              </a:ext>
            </a:extLst>
          </p:cNvPr>
          <p:cNvSpPr>
            <a:spLocks noGrp="1"/>
          </p:cNvSpPr>
          <p:nvPr/>
        </p:nvSpPr>
        <p:spPr>
          <a:xfrm>
            <a:off x="7863840" y="-1280160"/>
            <a:ext cx="5852160" cy="5852160"/>
          </a:xfrm>
          <a:prstGeom prst="ellipse">
            <a:avLst/>
          </a:prstGeom>
          <a:solidFill>
            <a:srgbClr val="3DDC97">
              <a:alpha val="8000"/>
            </a:srgbClr>
          </a:solidFill>
          <a:ln w="12700">
            <a:solidFill>
              <a:srgbClr val="3DDC97">
                <a:alpha val="0"/>
              </a:srgbClr>
            </a:solidFill>
            <a:prstDash val="solid"/>
          </a:ln>
        </p:spPr>
        <p:txBody>
          <a:bodyPr/>
          <a:lstStyle/>
          <a:p>
            <a:endParaRPr/>
          </a:p>
        </p:txBody>
      </p:sp>
      <p:sp>
        <p:nvSpPr>
          <p:cNvPr id="4" name="Shape 2">
            <a:extLst>
              <a:ext uri="{FF2B5EF4-FFF2-40B4-BE49-F238E27FC236}">
                <a16:creationId xmlns:a16="http://schemas.microsoft.com/office/drawing/2014/main" id="{86209C85-DDE2-488E-9236-0E2E31EEF913}"/>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2F551954-5A58-490A-A137-339D8D59F647}"/>
              </a:ext>
            </a:extLst>
          </p:cNvPr>
          <p:cNvSpPr>
            <a:spLocks noGrp="1"/>
          </p:cNvSpPr>
          <p:nvPr/>
        </p:nvSpPr>
        <p:spPr>
          <a:xfrm>
            <a:off x="457200" y="2331720"/>
            <a:ext cx="8229600" cy="274320"/>
          </a:xfrm>
          <a:prstGeom prst="rect">
            <a:avLst/>
          </a:prstGeom>
          <a:noFill/>
        </p:spPr>
        <p:txBody>
          <a:bodyPr wrap="square" lIns="0" tIns="0" rIns="0" bIns="0" anchor="ctr"/>
          <a:lstStyle/>
          <a:p>
            <a:pPr marL="0" indent="0">
              <a:buNone/>
            </a:pPr>
            <a:endParaRPr sz="1300" dirty="0"/>
          </a:p>
        </p:txBody>
      </p:sp>
      <p:sp>
        <p:nvSpPr>
          <p:cNvPr id="6" name="Text 4">
            <a:extLst>
              <a:ext uri="{FF2B5EF4-FFF2-40B4-BE49-F238E27FC236}">
                <a16:creationId xmlns:a16="http://schemas.microsoft.com/office/drawing/2014/main" id="{25B49A53-5DFE-4B4C-845C-060A334311D1}"/>
              </a:ext>
            </a:extLst>
          </p:cNvPr>
          <p:cNvSpPr>
            <a:spLocks noGrp="1"/>
          </p:cNvSpPr>
          <p:nvPr/>
        </p:nvSpPr>
        <p:spPr>
          <a:xfrm>
            <a:off x="457200" y="2651760"/>
            <a:ext cx="8412480" cy="1005840"/>
          </a:xfrm>
          <a:prstGeom prst="rect">
            <a:avLst/>
          </a:prstGeom>
          <a:noFill/>
        </p:spPr>
        <p:txBody>
          <a:bodyPr wrap="square" lIns="0" tIns="0" rIns="0" bIns="0" anchor="ctr"/>
          <a:lstStyle/>
          <a:p>
            <a:pPr marL="0" indent="0">
              <a:buNone/>
            </a:pPr>
            <a:r>
              <a:rPr sz="4000" b="1">
                <a:solidFill>
                  <a:srgbClr val="F4F7FB"/>
                </a:solidFill>
                <a:latin typeface="Calibri"/>
                <a:ea typeface="Calibri"/>
                <a:cs typeface="Calibri"/>
              </a:rPr>
              <a:t>What we have already taken out</a:t>
            </a:r>
            <a:endParaRPr sz="4000"/>
          </a:p>
        </p:txBody>
      </p:sp>
      <p:sp>
        <p:nvSpPr>
          <p:cNvPr id="7" name="Text 5">
            <a:extLst>
              <a:ext uri="{FF2B5EF4-FFF2-40B4-BE49-F238E27FC236}">
                <a16:creationId xmlns:a16="http://schemas.microsoft.com/office/drawing/2014/main" id="{212D2757-7F4D-4963-AF66-65B8750B73B2}"/>
              </a:ext>
            </a:extLst>
          </p:cNvPr>
          <p:cNvSpPr>
            <a:spLocks noGrp="1"/>
          </p:cNvSpPr>
          <p:nvPr/>
        </p:nvSpPr>
        <p:spPr>
          <a:xfrm>
            <a:off x="457200" y="3703320"/>
            <a:ext cx="7863840" cy="457200"/>
          </a:xfrm>
          <a:prstGeom prst="rect">
            <a:avLst/>
          </a:prstGeom>
          <a:noFill/>
        </p:spPr>
        <p:txBody>
          <a:bodyPr wrap="square" lIns="0" tIns="0" rIns="0" bIns="0" anchor="ctr"/>
          <a:lstStyle/>
          <a:p>
            <a:pPr marL="0" indent="0">
              <a:buNone/>
            </a:pPr>
            <a:r>
              <a:rPr sz="1500">
                <a:solidFill>
                  <a:srgbClr val="91A0B7"/>
                </a:solidFill>
                <a:latin typeface="Calibri"/>
                <a:ea typeface="Calibri"/>
                <a:cs typeface="Calibri"/>
              </a:rPr>
              <a:t>$278,868 banked, $193,000 identified and waiting</a:t>
            </a:r>
            <a:endParaRPr sz="1500"/>
          </a:p>
        </p:txBody>
      </p:sp>
    </p:spTree>
    <p:extLst>
      <p:ext uri="{BB962C8B-B14F-4D97-AF65-F5344CB8AC3E}">
        <p14:creationId xmlns:p14="http://schemas.microsoft.com/office/powerpoint/2010/main" val="764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9FBCB9C-942B-45DC-9945-AEAA8E763F88}"/>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4C5F9029-917C-40B0-B86A-8FDC99F77A22}"/>
              </a:ext>
            </a:extLst>
          </p:cNvPr>
          <p:cNvSpPr>
            <a:spLocks noGrp="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a:p>
        </p:txBody>
      </p:sp>
      <p:sp>
        <p:nvSpPr>
          <p:cNvPr id="4" name="Text 2">
            <a:extLst>
              <a:ext uri="{FF2B5EF4-FFF2-40B4-BE49-F238E27FC236}">
                <a16:creationId xmlns:a16="http://schemas.microsoft.com/office/drawing/2014/main" id="{C4C48818-123E-47B8-BBEA-BCB2FDC12C5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C97"/>
                </a:solidFill>
                <a:latin typeface="Calibri"/>
                <a:ea typeface="Calibri"/>
                <a:cs typeface="Calibri"/>
              </a:rPr>
              <a:t>IMPLEMENTED</a:t>
            </a:r>
            <a:endParaRPr sz="1300"/>
          </a:p>
        </p:txBody>
      </p:sp>
      <p:sp>
        <p:nvSpPr>
          <p:cNvPr id="5" name="Text 3">
            <a:extLst>
              <a:ext uri="{FF2B5EF4-FFF2-40B4-BE49-F238E27FC236}">
                <a16:creationId xmlns:a16="http://schemas.microsoft.com/office/drawing/2014/main" id="{54C1ADED-9067-4224-9011-970393A00E09}"/>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1953" b="1">
                <a:solidFill>
                  <a:srgbClr val="F4F7FB"/>
                </a:solidFill>
                <a:latin typeface="Calibri"/>
                <a:ea typeface="Calibri"/>
                <a:cs typeface="Calibri"/>
              </a:rPr>
              <a:t>$278,868 of annual saving, already actioned</a:t>
            </a:r>
            <a:endParaRPr sz="1953"/>
          </a:p>
        </p:txBody>
      </p:sp>
      <p:sp>
        <p:nvSpPr>
          <p:cNvPr id="6" name="Text 4">
            <a:extLst>
              <a:ext uri="{FF2B5EF4-FFF2-40B4-BE49-F238E27FC236}">
                <a16:creationId xmlns:a16="http://schemas.microsoft.com/office/drawing/2014/main" id="{441D8BA0-1D23-4067-AA9D-DBBB85665A2A}"/>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Delivered during 2026. Annualised figures.</a:t>
            </a:r>
            <a:endParaRPr sz="1200"/>
          </a:p>
        </p:txBody>
      </p:sp>
      <p:sp>
        <p:nvSpPr>
          <p:cNvPr id="7" name="Text 5">
            <a:extLst>
              <a:ext uri="{FF2B5EF4-FFF2-40B4-BE49-F238E27FC236}">
                <a16:creationId xmlns:a16="http://schemas.microsoft.com/office/drawing/2014/main" id="{9AA3ABE1-44B8-4E7E-A73B-AE0ADF9AC406}"/>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This is the half of the story the previous briefing did not tell: the bill grew 21% since January, and it would have grown considerably more without these.</a:t>
            </a:r>
            <a:endParaRPr sz="1200"/>
          </a:p>
        </p:txBody>
      </p:sp>
      <p:sp>
        <p:nvSpPr>
          <p:cNvPr id="8" name="Text 6">
            <a:extLst>
              <a:ext uri="{FF2B5EF4-FFF2-40B4-BE49-F238E27FC236}">
                <a16:creationId xmlns:a16="http://schemas.microsoft.com/office/drawing/2014/main" id="{90E86866-2C38-4842-9538-1CF089DE8BD1}"/>
              </a:ext>
            </a:extLst>
          </p:cNvPr>
          <p:cNvSpPr>
            <a:spLocks noGrp="1"/>
          </p:cNvSpPr>
          <p:nvPr/>
        </p:nvSpPr>
        <p:spPr>
          <a:xfrm>
            <a:off x="457200" y="1234440"/>
            <a:ext cx="53035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Banked savings, by type</a:t>
            </a:r>
            <a:endParaRPr sz="1500"/>
          </a:p>
        </p:txBody>
      </p:sp>
      <p:graphicFrame>
        <p:nvGraphicFramePr>
          <p:cNvPr id="34" name="Table 0"/>
          <p:cNvGraphicFramePr/>
          <p:nvPr/>
        </p:nvGraphicFramePr>
        <p:xfrm>
          <a:off x="457200" y="1508760"/>
          <a:ext cx="5303520" cy="3511296"/>
        </p:xfrm>
        <a:graphic>
          <a:graphicData uri="http://schemas.openxmlformats.org/drawingml/2006/table">
            <a:tbl>
              <a:tblPr/>
              <a:tblGrid>
                <a:gridCol w="3840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292608">
                <a:tc>
                  <a:txBody>
                    <a:bodyPr/>
                    <a:lstStyle/>
                    <a:p>
                      <a:pPr marL="0" indent="0" algn="l">
                        <a:buNone/>
                      </a:pPr>
                      <a:r>
                        <a:rPr sz="1200" b="1" spc="80">
                          <a:solidFill>
                            <a:srgbClr val="91A0B7"/>
                          </a:solidFill>
                          <a:latin typeface="Calibri"/>
                          <a:ea typeface="Calibri"/>
                          <a:cs typeface="Calibri"/>
                        </a:rPr>
                        <a:t>Savings type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Annual saving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Decommission North Europe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$70,452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VM reserved instance purchase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$66,783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Savings plan purchase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$65,335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Remove unnecessary VMs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$28,105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sz="1200" b="1">
                          <a:solidFill>
                            <a:srgbClr val="F4F7FB"/>
                          </a:solidFill>
                          <a:latin typeface="Calibri"/>
                          <a:ea typeface="Calibri"/>
                          <a:cs typeface="Calibri"/>
                        </a:rPr>
                        <a:t>Idle unattached disks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$20,576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sz="1200" b="1">
                          <a:solidFill>
                            <a:srgbClr val="F4F7FB"/>
                          </a:solidFill>
                          <a:latin typeface="Calibri"/>
                          <a:ea typeface="Calibri"/>
                          <a:cs typeface="Calibri"/>
                        </a:rPr>
                        <a:t>RI renewal, blob storage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$9,432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sz="1200" b="1">
                          <a:solidFill>
                            <a:srgbClr val="F4F7FB"/>
                          </a:solidFill>
                          <a:latin typeface="Calibri"/>
                          <a:ea typeface="Calibri"/>
                          <a:cs typeface="Calibri"/>
                        </a:rPr>
                        <a:t>RDS reserved instance purchase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$7,944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sz="1200" b="1">
                          <a:solidFill>
                            <a:srgbClr val="F4F7FB"/>
                          </a:solidFill>
                          <a:latin typeface="Calibri"/>
                          <a:ea typeface="Calibri"/>
                          <a:cs typeface="Calibri"/>
                        </a:rPr>
                        <a:t>Retire two unused SQL instances on expiring RI</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$4,563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8"/>
                  </a:ext>
                </a:extLst>
              </a:tr>
              <a:tr h="292608">
                <a:tc>
                  <a:txBody>
                    <a:bodyPr/>
                    <a:lstStyle/>
                    <a:p>
                      <a:pPr marL="0" indent="0" algn="l">
                        <a:buNone/>
                      </a:pPr>
                      <a:r>
                        <a:rPr sz="1200" b="1">
                          <a:solidFill>
                            <a:srgbClr val="F4F7FB"/>
                          </a:solidFill>
                          <a:latin typeface="Calibri"/>
                          <a:ea typeface="Calibri"/>
                          <a:cs typeface="Calibri"/>
                        </a:rPr>
                        <a:t>EKS extended support 1.33, preprod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$4,526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9"/>
                  </a:ext>
                </a:extLst>
              </a:tr>
              <a:tr h="292608">
                <a:tc>
                  <a:txBody>
                    <a:bodyPr/>
                    <a:lstStyle/>
                    <a:p>
                      <a:pPr marL="0" indent="0" algn="l">
                        <a:buNone/>
                      </a:pPr>
                      <a:r>
                        <a:rPr sz="1200" b="1">
                          <a:solidFill>
                            <a:srgbClr val="F4F7FB"/>
                          </a:solidFill>
                          <a:latin typeface="Calibri"/>
                          <a:ea typeface="Calibri"/>
                          <a:cs typeface="Calibri"/>
                        </a:rPr>
                        <a:t>App Service, reserved instance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$712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10"/>
                  </a:ext>
                </a:extLst>
              </a:tr>
              <a:tr h="292608">
                <a:tc>
                  <a:txBody>
                    <a:bodyPr/>
                    <a:lstStyle/>
                    <a:p>
                      <a:pPr marL="0" indent="0" algn="l">
                        <a:buNone/>
                      </a:pPr>
                      <a:r>
                        <a:rPr sz="1200" b="1">
                          <a:solidFill>
                            <a:srgbClr val="F4F7FB"/>
                          </a:solidFill>
                          <a:latin typeface="Calibri"/>
                          <a:ea typeface="Calibri"/>
                          <a:cs typeface="Calibri"/>
                        </a:rPr>
                        <a:t>RI refund to reach 100% utilisation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$440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11"/>
                  </a:ext>
                </a:extLst>
              </a:tr>
            </a:tbl>
          </a:graphicData>
        </a:graphic>
      </p:graphicFrame>
      <p:sp>
        <p:nvSpPr>
          <p:cNvPr id="10" name="Shape 7">
            <a:extLst>
              <a:ext uri="{FF2B5EF4-FFF2-40B4-BE49-F238E27FC236}">
                <a16:creationId xmlns:a16="http://schemas.microsoft.com/office/drawing/2014/main" id="{5ADA8DE1-C3F0-4796-8B4A-6F3D466ECF46}"/>
              </a:ext>
            </a:extLst>
          </p:cNvPr>
          <p:cNvSpPr>
            <a:spLocks noGrp="1"/>
          </p:cNvSpPr>
          <p:nvPr/>
        </p:nvSpPr>
        <p:spPr>
          <a:xfrm>
            <a:off x="6126480" y="1234440"/>
            <a:ext cx="560801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1" name="Text 8">
            <a:extLst>
              <a:ext uri="{FF2B5EF4-FFF2-40B4-BE49-F238E27FC236}">
                <a16:creationId xmlns:a16="http://schemas.microsoft.com/office/drawing/2014/main" id="{AB4D7511-86E6-4F17-8272-233720A06969}"/>
              </a:ext>
            </a:extLst>
          </p:cNvPr>
          <p:cNvSpPr>
            <a:spLocks noGrp="1"/>
          </p:cNvSpPr>
          <p:nvPr/>
        </p:nvSpPr>
        <p:spPr>
          <a:xfrm>
            <a:off x="6327648" y="1325880"/>
            <a:ext cx="520567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ANNUAL SAVINGS</a:t>
            </a:r>
            <a:endParaRPr sz="1200"/>
          </a:p>
        </p:txBody>
      </p:sp>
      <p:sp>
        <p:nvSpPr>
          <p:cNvPr id="12" name="Text 9">
            <a:extLst>
              <a:ext uri="{FF2B5EF4-FFF2-40B4-BE49-F238E27FC236}">
                <a16:creationId xmlns:a16="http://schemas.microsoft.com/office/drawing/2014/main" id="{E241B879-D484-47DD-90B4-255BAA61B124}"/>
              </a:ext>
            </a:extLst>
          </p:cNvPr>
          <p:cNvSpPr>
            <a:spLocks noGrp="1"/>
          </p:cNvSpPr>
          <p:nvPr/>
        </p:nvSpPr>
        <p:spPr>
          <a:xfrm>
            <a:off x="6327648" y="1527048"/>
            <a:ext cx="5205679" cy="438912"/>
          </a:xfrm>
          <a:prstGeom prst="rect">
            <a:avLst/>
          </a:prstGeom>
          <a:noFill/>
        </p:spPr>
        <p:txBody>
          <a:bodyPr wrap="square" lIns="0" tIns="0" rIns="0" bIns="0" anchor="ctr"/>
          <a:lstStyle/>
          <a:p>
            <a:pPr marL="0" indent="0">
              <a:buNone/>
            </a:pPr>
            <a:r>
              <a:rPr sz="3000" b="1">
                <a:solidFill>
                  <a:srgbClr val="F4F7FB"/>
                </a:solidFill>
                <a:latin typeface="Calibri"/>
                <a:ea typeface="Calibri"/>
                <a:cs typeface="Calibri"/>
              </a:rPr>
              <a:t>$278,868</a:t>
            </a:r>
            <a:endParaRPr sz="3000"/>
          </a:p>
        </p:txBody>
      </p:sp>
      <p:sp>
        <p:nvSpPr>
          <p:cNvPr id="13" name="Text 10">
            <a:extLst>
              <a:ext uri="{FF2B5EF4-FFF2-40B4-BE49-F238E27FC236}">
                <a16:creationId xmlns:a16="http://schemas.microsoft.com/office/drawing/2014/main" id="{53286F0C-7363-4E41-A669-D17C67E7B49C}"/>
              </a:ext>
            </a:extLst>
          </p:cNvPr>
          <p:cNvSpPr>
            <a:spLocks noGrp="1"/>
          </p:cNvSpPr>
          <p:nvPr/>
        </p:nvSpPr>
        <p:spPr>
          <a:xfrm>
            <a:off x="6327648" y="1929384"/>
            <a:ext cx="5205679"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already implemented</a:t>
            </a:r>
            <a:endParaRPr sz="1200"/>
          </a:p>
        </p:txBody>
      </p:sp>
      <p:sp>
        <p:nvSpPr>
          <p:cNvPr id="14" name="Shape 11">
            <a:extLst>
              <a:ext uri="{FF2B5EF4-FFF2-40B4-BE49-F238E27FC236}">
                <a16:creationId xmlns:a16="http://schemas.microsoft.com/office/drawing/2014/main" id="{61D4B3D6-9FA8-4994-8180-0BE647083901}"/>
              </a:ext>
            </a:extLst>
          </p:cNvPr>
          <p:cNvSpPr>
            <a:spLocks noGrp="1"/>
          </p:cNvSpPr>
          <p:nvPr/>
        </p:nvSpPr>
        <p:spPr>
          <a:xfrm>
            <a:off x="6126480" y="2459736"/>
            <a:ext cx="560801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5" name="Text 12">
            <a:extLst>
              <a:ext uri="{FF2B5EF4-FFF2-40B4-BE49-F238E27FC236}">
                <a16:creationId xmlns:a16="http://schemas.microsoft.com/office/drawing/2014/main" id="{2B68F968-2BBC-4B3B-8AF6-19F7E886F114}"/>
              </a:ext>
            </a:extLst>
          </p:cNvPr>
          <p:cNvSpPr>
            <a:spLocks noGrp="1"/>
          </p:cNvSpPr>
          <p:nvPr/>
        </p:nvSpPr>
        <p:spPr>
          <a:xfrm>
            <a:off x="6327648" y="2551176"/>
            <a:ext cx="520567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AGAINST ANNUALISED SPEND</a:t>
            </a:r>
            <a:endParaRPr sz="1200"/>
          </a:p>
        </p:txBody>
      </p:sp>
      <p:sp>
        <p:nvSpPr>
          <p:cNvPr id="16" name="Text 13">
            <a:extLst>
              <a:ext uri="{FF2B5EF4-FFF2-40B4-BE49-F238E27FC236}">
                <a16:creationId xmlns:a16="http://schemas.microsoft.com/office/drawing/2014/main" id="{224AD1C5-6BDC-4A51-A48C-FFA26E652840}"/>
              </a:ext>
            </a:extLst>
          </p:cNvPr>
          <p:cNvSpPr>
            <a:spLocks noGrp="1"/>
          </p:cNvSpPr>
          <p:nvPr/>
        </p:nvSpPr>
        <p:spPr>
          <a:xfrm>
            <a:off x="6327648" y="2752344"/>
            <a:ext cx="520567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9.4%</a:t>
            </a:r>
            <a:endParaRPr sz="2800"/>
          </a:p>
        </p:txBody>
      </p:sp>
      <p:sp>
        <p:nvSpPr>
          <p:cNvPr id="17" name="Text 14">
            <a:extLst>
              <a:ext uri="{FF2B5EF4-FFF2-40B4-BE49-F238E27FC236}">
                <a16:creationId xmlns:a16="http://schemas.microsoft.com/office/drawing/2014/main" id="{6C3A2932-5370-40C3-B0BA-176CE4EC36FC}"/>
              </a:ext>
            </a:extLst>
          </p:cNvPr>
          <p:cNvSpPr>
            <a:spLocks noGrp="1"/>
          </p:cNvSpPr>
          <p:nvPr/>
        </p:nvSpPr>
        <p:spPr>
          <a:xfrm>
            <a:off x="6327648" y="3154680"/>
            <a:ext cx="520567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of ~$3.0M consumption</a:t>
            </a:r>
            <a:endParaRPr sz="1200"/>
          </a:p>
        </p:txBody>
      </p:sp>
      <p:sp>
        <p:nvSpPr>
          <p:cNvPr id="9" name="Shape 15">
            <a:extLst>
              <a:ext uri="{FF2B5EF4-FFF2-40B4-BE49-F238E27FC236}">
                <a16:creationId xmlns:a16="http://schemas.microsoft.com/office/drawing/2014/main" id="{E29D7ADF-EBFE-4308-BEFC-D68934988D6E}"/>
              </a:ext>
            </a:extLst>
          </p:cNvPr>
          <p:cNvSpPr>
            <a:spLocks noGrp="1"/>
          </p:cNvSpPr>
          <p:nvPr/>
        </p:nvSpPr>
        <p:spPr>
          <a:xfrm>
            <a:off x="6126480" y="3685032"/>
            <a:ext cx="560801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9" name="Text 16">
            <a:extLst>
              <a:ext uri="{FF2B5EF4-FFF2-40B4-BE49-F238E27FC236}">
                <a16:creationId xmlns:a16="http://schemas.microsoft.com/office/drawing/2014/main" id="{96C16CC0-A316-4FF4-A24E-7397CA5225DB}"/>
              </a:ext>
            </a:extLst>
          </p:cNvPr>
          <p:cNvSpPr>
            <a:spLocks noGrp="1"/>
          </p:cNvSpPr>
          <p:nvPr/>
        </p:nvSpPr>
        <p:spPr>
          <a:xfrm>
            <a:off x="6327648" y="3776472"/>
            <a:ext cx="520567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ACTION</a:t>
            </a:r>
            <a:endParaRPr sz="1200"/>
          </a:p>
        </p:txBody>
      </p:sp>
      <p:sp>
        <p:nvSpPr>
          <p:cNvPr id="20" name="Text 17">
            <a:extLst>
              <a:ext uri="{FF2B5EF4-FFF2-40B4-BE49-F238E27FC236}">
                <a16:creationId xmlns:a16="http://schemas.microsoft.com/office/drawing/2014/main" id="{7BA3F6E9-58F2-4621-BFF9-214915515293}"/>
              </a:ext>
            </a:extLst>
          </p:cNvPr>
          <p:cNvSpPr>
            <a:spLocks noGrp="1"/>
          </p:cNvSpPr>
          <p:nvPr/>
        </p:nvSpPr>
        <p:spPr>
          <a:xfrm>
            <a:off x="6327648" y="3977640"/>
            <a:ext cx="520567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$70,452</a:t>
            </a:r>
            <a:endParaRPr sz="2800"/>
          </a:p>
        </p:txBody>
      </p:sp>
      <p:sp>
        <p:nvSpPr>
          <p:cNvPr id="21" name="Text 18">
            <a:extLst>
              <a:ext uri="{FF2B5EF4-FFF2-40B4-BE49-F238E27FC236}">
                <a16:creationId xmlns:a16="http://schemas.microsoft.com/office/drawing/2014/main" id="{084427C3-F1E0-4611-B232-16B5E55EA151}"/>
              </a:ext>
            </a:extLst>
          </p:cNvPr>
          <p:cNvSpPr>
            <a:spLocks noGrp="1"/>
          </p:cNvSpPr>
          <p:nvPr/>
        </p:nvSpPr>
        <p:spPr>
          <a:xfrm>
            <a:off x="6327648" y="4379976"/>
            <a:ext cx="520567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North Europe, $5,871/mo removed</a:t>
            </a:r>
            <a:endParaRPr sz="1200"/>
          </a:p>
        </p:txBody>
      </p:sp>
      <p:sp>
        <p:nvSpPr>
          <p:cNvPr id="22" name="Shape 19">
            <a:extLst>
              <a:ext uri="{FF2B5EF4-FFF2-40B4-BE49-F238E27FC236}">
                <a16:creationId xmlns:a16="http://schemas.microsoft.com/office/drawing/2014/main" id="{9EC4A86D-720E-4116-A79E-3F817E5BC03E}"/>
              </a:ext>
            </a:extLst>
          </p:cNvPr>
          <p:cNvSpPr>
            <a:spLocks noGrp="1"/>
          </p:cNvSpPr>
          <p:nvPr/>
        </p:nvSpPr>
        <p:spPr>
          <a:xfrm>
            <a:off x="6126480" y="4910328"/>
            <a:ext cx="560801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23" name="Text 20">
            <a:extLst>
              <a:ext uri="{FF2B5EF4-FFF2-40B4-BE49-F238E27FC236}">
                <a16:creationId xmlns:a16="http://schemas.microsoft.com/office/drawing/2014/main" id="{18A33254-DF99-47B9-968E-E0DD929577CC}"/>
              </a:ext>
            </a:extLst>
          </p:cNvPr>
          <p:cNvSpPr>
            <a:spLocks noGrp="1"/>
          </p:cNvSpPr>
          <p:nvPr/>
        </p:nvSpPr>
        <p:spPr>
          <a:xfrm>
            <a:off x="6327648" y="5001768"/>
            <a:ext cx="520567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COMMITMENT-BASED</a:t>
            </a:r>
            <a:endParaRPr sz="1200"/>
          </a:p>
        </p:txBody>
      </p:sp>
      <p:sp>
        <p:nvSpPr>
          <p:cNvPr id="24" name="Text 21">
            <a:extLst>
              <a:ext uri="{FF2B5EF4-FFF2-40B4-BE49-F238E27FC236}">
                <a16:creationId xmlns:a16="http://schemas.microsoft.com/office/drawing/2014/main" id="{CD407D98-FE72-4797-A28A-23F717460967}"/>
              </a:ext>
            </a:extLst>
          </p:cNvPr>
          <p:cNvSpPr>
            <a:spLocks noGrp="1"/>
          </p:cNvSpPr>
          <p:nvPr/>
        </p:nvSpPr>
        <p:spPr>
          <a:xfrm>
            <a:off x="6327648" y="5202936"/>
            <a:ext cx="520567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$132,118</a:t>
            </a:r>
            <a:endParaRPr sz="2800"/>
          </a:p>
        </p:txBody>
      </p:sp>
      <p:sp>
        <p:nvSpPr>
          <p:cNvPr id="25" name="Text 22">
            <a:extLst>
              <a:ext uri="{FF2B5EF4-FFF2-40B4-BE49-F238E27FC236}">
                <a16:creationId xmlns:a16="http://schemas.microsoft.com/office/drawing/2014/main" id="{64F8B6BE-B7F0-42AF-A9BD-F34E95FF87A4}"/>
              </a:ext>
            </a:extLst>
          </p:cNvPr>
          <p:cNvSpPr>
            <a:spLocks noGrp="1"/>
          </p:cNvSpPr>
          <p:nvPr/>
        </p:nvSpPr>
        <p:spPr>
          <a:xfrm>
            <a:off x="6327648" y="5605272"/>
            <a:ext cx="5205679"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reservations and savings plans</a:t>
            </a:r>
            <a:endParaRPr sz="1200"/>
          </a:p>
        </p:txBody>
      </p:sp>
    </p:spTree>
    <p:extLst>
      <p:ext uri="{BB962C8B-B14F-4D97-AF65-F5344CB8AC3E}">
        <p14:creationId xmlns:p14="http://schemas.microsoft.com/office/powerpoint/2010/main" val="390571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906FAA-4BA7-4D5D-BFE6-5BC75090867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C4C76CF6-F918-4761-8C37-5CED2BDC8A09}"/>
              </a:ext>
            </a:extLst>
          </p:cNvPr>
          <p:cNvSpPr>
            <a:spLocks noGrp="1"/>
          </p:cNvSpPr>
          <p:nvPr/>
        </p:nvSpPr>
        <p:spPr>
          <a:xfrm>
            <a:off x="457200" y="306324"/>
            <a:ext cx="109728" cy="109728"/>
          </a:xfrm>
          <a:prstGeom prst="ellipse">
            <a:avLst/>
          </a:prstGeom>
          <a:solidFill>
            <a:srgbClr val="E0A030"/>
          </a:solidFill>
          <a:ln w="12700">
            <a:solidFill>
              <a:srgbClr val="E0A030"/>
            </a:solidFill>
            <a:prstDash val="solid"/>
          </a:ln>
        </p:spPr>
        <p:txBody>
          <a:bodyPr/>
          <a:lstStyle/>
          <a:p>
            <a:endParaRPr/>
          </a:p>
        </p:txBody>
      </p:sp>
      <p:sp>
        <p:nvSpPr>
          <p:cNvPr id="4" name="Text 2">
            <a:extLst>
              <a:ext uri="{FF2B5EF4-FFF2-40B4-BE49-F238E27FC236}">
                <a16:creationId xmlns:a16="http://schemas.microsoft.com/office/drawing/2014/main" id="{DE5B9230-8EFC-4D0F-A1EA-A78085B8782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E0A030"/>
                </a:solidFill>
                <a:latin typeface="Calibri"/>
                <a:ea typeface="Calibri"/>
                <a:cs typeface="Calibri"/>
              </a:rPr>
              <a:t>IDENTIFIED</a:t>
            </a:r>
            <a:endParaRPr sz="1300"/>
          </a:p>
        </p:txBody>
      </p:sp>
      <p:sp>
        <p:nvSpPr>
          <p:cNvPr id="5" name="Text 3">
            <a:extLst>
              <a:ext uri="{FF2B5EF4-FFF2-40B4-BE49-F238E27FC236}">
                <a16:creationId xmlns:a16="http://schemas.microsoft.com/office/drawing/2014/main" id="{E3474CB4-E338-4BE3-AF51-9D86EEAB8B80}"/>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1800" b="1">
                <a:solidFill>
                  <a:srgbClr val="F4F7FB"/>
                </a:solidFill>
                <a:latin typeface="Calibri"/>
                <a:ea typeface="Calibri"/>
                <a:cs typeface="Calibri"/>
              </a:rPr>
              <a:t>$193,000 more, costed and waiting on a decision</a:t>
            </a:r>
            <a:endParaRPr sz="1800"/>
          </a:p>
        </p:txBody>
      </p:sp>
      <p:sp>
        <p:nvSpPr>
          <p:cNvPr id="6" name="Text 4">
            <a:extLst>
              <a:ext uri="{FF2B5EF4-FFF2-40B4-BE49-F238E27FC236}">
                <a16:creationId xmlns:a16="http://schemas.microsoft.com/office/drawing/2014/main" id="{4AB49267-27C0-48E2-8E81-61D6F4A3466B}"/>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C0A77DC7-B6ED-429D-9ADE-312B66B0BC8F}"/>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endParaRPr sz="1200"/>
          </a:p>
        </p:txBody>
      </p:sp>
      <p:sp>
        <p:nvSpPr>
          <p:cNvPr id="8" name="Text 6">
            <a:extLst>
              <a:ext uri="{FF2B5EF4-FFF2-40B4-BE49-F238E27FC236}">
                <a16:creationId xmlns:a16="http://schemas.microsoft.com/office/drawing/2014/main" id="{EA56D5D2-5E4A-4FC3-B14D-FE2B83884511}"/>
              </a:ext>
            </a:extLst>
          </p:cNvPr>
          <p:cNvSpPr>
            <a:spLocks noGrp="1"/>
          </p:cNvSpPr>
          <p:nvPr/>
        </p:nvSpPr>
        <p:spPr>
          <a:xfrm>
            <a:off x="457200" y="1234440"/>
            <a:ext cx="452628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Azure</a:t>
            </a:r>
            <a:endParaRPr sz="1500"/>
          </a:p>
        </p:txBody>
      </p:sp>
      <p:sp>
        <p:nvSpPr>
          <p:cNvPr id="9" name="Text 7">
            <a:extLst>
              <a:ext uri="{FF2B5EF4-FFF2-40B4-BE49-F238E27FC236}">
                <a16:creationId xmlns:a16="http://schemas.microsoft.com/office/drawing/2014/main" id="{8E098FA0-C1C6-4681-9616-30EE947E1A68}"/>
              </a:ext>
            </a:extLst>
          </p:cNvPr>
          <p:cNvSpPr>
            <a:spLocks noGrp="1"/>
          </p:cNvSpPr>
          <p:nvPr/>
        </p:nvSpPr>
        <p:spPr>
          <a:xfrm>
            <a:off x="457200" y="1508760"/>
            <a:ext cx="4526280" cy="219456"/>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Annual saving if implemented</a:t>
            </a:r>
            <a:endParaRPr sz="1200"/>
          </a:p>
        </p:txBody>
      </p:sp>
      <p:graphicFrame>
        <p:nvGraphicFramePr>
          <p:cNvPr id="36" name="Table 0"/>
          <p:cNvGraphicFramePr/>
          <p:nvPr/>
        </p:nvGraphicFramePr>
        <p:xfrm>
          <a:off x="457200" y="1764792"/>
          <a:ext cx="4526280" cy="2633472"/>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292608">
                <a:tc>
                  <a:txBody>
                    <a:bodyPr/>
                    <a:lstStyle/>
                    <a:p>
                      <a:pPr marL="0" indent="0" algn="l">
                        <a:buNone/>
                      </a:pPr>
                      <a:r>
                        <a:rPr sz="1200" b="1" spc="80">
                          <a:solidFill>
                            <a:srgbClr val="91A0B7"/>
                          </a:solidFill>
                          <a:latin typeface="Calibri"/>
                          <a:ea typeface="Calibri"/>
                          <a:cs typeface="Calibri"/>
                        </a:rPr>
                        <a:t>Recommendation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Annual saving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Premium disks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$44,592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Schedule shutdown for 24/7 VMs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$36,741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sz="1200" b="1">
                          <a:solidFill>
                            <a:srgbClr val="F4F7FB"/>
                          </a:solidFill>
                          <a:latin typeface="Calibri"/>
                          <a:ea typeface="Calibri"/>
                          <a:cs typeface="Calibri"/>
                        </a:rPr>
                        <a:t>VM reserved instance purchase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$26,758</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sz="1200" b="1">
                          <a:solidFill>
                            <a:srgbClr val="F4F7FB"/>
                          </a:solidFill>
                          <a:latin typeface="Calibri"/>
                          <a:ea typeface="Calibri"/>
                          <a:cs typeface="Calibri"/>
                        </a:rPr>
                        <a:t>VM right-size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$19,854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sz="1200" b="1">
                          <a:solidFill>
                            <a:srgbClr val="F4F7FB"/>
                          </a:solidFill>
                          <a:latin typeface="Calibri"/>
                          <a:ea typeface="Calibri"/>
                          <a:cs typeface="Calibri"/>
                        </a:rPr>
                        <a:t>RI, PostgreSQL databases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$17,037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sz="1200" b="1">
                          <a:solidFill>
                            <a:srgbClr val="F4F7FB"/>
                          </a:solidFill>
                          <a:latin typeface="Calibri"/>
                          <a:ea typeface="Calibri"/>
                          <a:cs typeface="Calibri"/>
                        </a:rPr>
                        <a:t>Idle reserved disks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$13,464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sz="1200" b="1">
                          <a:solidFill>
                            <a:srgbClr val="F4F7FB"/>
                          </a:solidFill>
                          <a:latin typeface="Calibri"/>
                          <a:ea typeface="Calibri"/>
                          <a:cs typeface="Calibri"/>
                        </a:rPr>
                        <a:t>Remove unnecessary VMs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$13,147</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sz="1200" b="1">
                          <a:solidFill>
                            <a:srgbClr val="91A0B7"/>
                          </a:solidFill>
                          <a:latin typeface="Calibri"/>
                          <a:ea typeface="Calibri"/>
                          <a:cs typeface="Calibri"/>
                        </a:rPr>
                        <a:t>Four smaller items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$13,243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8"/>
                  </a:ext>
                </a:extLst>
              </a:tr>
            </a:tbl>
          </a:graphicData>
        </a:graphic>
      </p:graphicFrame>
      <p:sp>
        <p:nvSpPr>
          <p:cNvPr id="11" name="Text 8">
            <a:extLst>
              <a:ext uri="{FF2B5EF4-FFF2-40B4-BE49-F238E27FC236}">
                <a16:creationId xmlns:a16="http://schemas.microsoft.com/office/drawing/2014/main" id="{C72556FF-A283-49E5-AAE9-72A07CAD0B69}"/>
              </a:ext>
            </a:extLst>
          </p:cNvPr>
          <p:cNvSpPr>
            <a:spLocks noGrp="1"/>
          </p:cNvSpPr>
          <p:nvPr/>
        </p:nvSpPr>
        <p:spPr>
          <a:xfrm>
            <a:off x="5349240" y="1234440"/>
            <a:ext cx="452628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AWS</a:t>
            </a:r>
            <a:endParaRPr sz="1500"/>
          </a:p>
        </p:txBody>
      </p:sp>
      <p:sp>
        <p:nvSpPr>
          <p:cNvPr id="12" name="Text 9">
            <a:extLst>
              <a:ext uri="{FF2B5EF4-FFF2-40B4-BE49-F238E27FC236}">
                <a16:creationId xmlns:a16="http://schemas.microsoft.com/office/drawing/2014/main" id="{FF97D4CC-1D03-4646-8A5F-9F1BB2C04FF1}"/>
              </a:ext>
            </a:extLst>
          </p:cNvPr>
          <p:cNvSpPr>
            <a:spLocks noGrp="1"/>
          </p:cNvSpPr>
          <p:nvPr/>
        </p:nvSpPr>
        <p:spPr>
          <a:xfrm>
            <a:off x="5349240" y="1508760"/>
            <a:ext cx="4526280" cy="219456"/>
          </a:xfrm>
          <a:prstGeom prst="rect">
            <a:avLst/>
          </a:prstGeom>
          <a:noFill/>
        </p:spPr>
        <p:txBody>
          <a:bodyPr wrap="square" lIns="0" tIns="0" rIns="0" bIns="0" anchor="ctr"/>
          <a:lstStyle/>
          <a:p>
            <a:pPr marL="0" indent="0">
              <a:buNone/>
            </a:pPr>
            <a:r>
              <a:rPr sz="1200">
                <a:solidFill>
                  <a:srgbClr val="91A0B7"/>
                </a:solidFill>
                <a:latin typeface="Calibri"/>
                <a:ea typeface="Calibri"/>
                <a:cs typeface="Calibri"/>
              </a:rPr>
              <a:t>Annual saving if implemented</a:t>
            </a:r>
            <a:endParaRPr sz="1200"/>
          </a:p>
        </p:txBody>
      </p:sp>
      <p:graphicFrame>
        <p:nvGraphicFramePr>
          <p:cNvPr id="39" name="Table 1"/>
          <p:cNvGraphicFramePr/>
          <p:nvPr/>
        </p:nvGraphicFramePr>
        <p:xfrm>
          <a:off x="5349240" y="1764792"/>
          <a:ext cx="4526280" cy="877824"/>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292608">
                <a:tc>
                  <a:txBody>
                    <a:bodyPr/>
                    <a:lstStyle/>
                    <a:p>
                      <a:pPr marL="0" indent="0" algn="l">
                        <a:buNone/>
                      </a:pPr>
                      <a:r>
                        <a:rPr sz="1200" b="1" spc="80">
                          <a:solidFill>
                            <a:srgbClr val="91A0B7"/>
                          </a:solidFill>
                          <a:latin typeface="Calibri"/>
                          <a:ea typeface="Calibri"/>
                          <a:cs typeface="Calibri"/>
                        </a:rPr>
                        <a:t>Recommendation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b="1" spc="80">
                          <a:solidFill>
                            <a:srgbClr val="91A0B7"/>
                          </a:solidFill>
                          <a:latin typeface="Calibri"/>
                          <a:ea typeface="Calibri"/>
                          <a:cs typeface="Calibri"/>
                        </a:rPr>
                        <a:t>Annual saving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sz="1200" b="1">
                          <a:solidFill>
                            <a:srgbClr val="F4F7FB"/>
                          </a:solidFill>
                          <a:latin typeface="Calibri"/>
                          <a:ea typeface="Calibri"/>
                          <a:cs typeface="Calibri"/>
                        </a:rPr>
                        <a:t>EKS extended support 1.33, prod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r">
                        <a:buNone/>
                      </a:pPr>
                      <a:r>
                        <a:rPr sz="1200">
                          <a:solidFill>
                            <a:srgbClr val="3DDC97"/>
                          </a:solidFill>
                          <a:latin typeface="Calibri"/>
                          <a:ea typeface="Calibri"/>
                          <a:cs typeface="Calibri"/>
                        </a:rPr>
                        <a:t>$4,526</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sz="1200" b="1">
                          <a:solidFill>
                            <a:srgbClr val="F4F7FB"/>
                          </a:solidFill>
                          <a:latin typeface="Calibri"/>
                          <a:ea typeface="Calibri"/>
                          <a:cs typeface="Calibri"/>
                        </a:rPr>
                        <a:t>SageMaker, check necessity</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r">
                        <a:buNone/>
                      </a:pPr>
                      <a:r>
                        <a:rPr sz="1200">
                          <a:solidFill>
                            <a:srgbClr val="3DDC97"/>
                          </a:solidFill>
                          <a:latin typeface="Calibri"/>
                          <a:ea typeface="Calibri"/>
                          <a:cs typeface="Calibri"/>
                        </a:rPr>
                        <a:t>$3,420</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bl>
          </a:graphicData>
        </a:graphic>
      </p:graphicFrame>
      <p:sp>
        <p:nvSpPr>
          <p:cNvPr id="14" name="Shape 10">
            <a:extLst>
              <a:ext uri="{FF2B5EF4-FFF2-40B4-BE49-F238E27FC236}">
                <a16:creationId xmlns:a16="http://schemas.microsoft.com/office/drawing/2014/main" id="{9E37F67F-8EAA-4911-88D0-0A11B0821E0C}"/>
              </a:ext>
            </a:extLst>
          </p:cNvPr>
          <p:cNvSpPr>
            <a:spLocks noGrp="1"/>
          </p:cNvSpPr>
          <p:nvPr/>
        </p:nvSpPr>
        <p:spPr>
          <a:xfrm>
            <a:off x="457200" y="4997196"/>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5" name="Text 11">
            <a:extLst>
              <a:ext uri="{FF2B5EF4-FFF2-40B4-BE49-F238E27FC236}">
                <a16:creationId xmlns:a16="http://schemas.microsoft.com/office/drawing/2014/main" id="{78A4BEFD-6446-4620-870B-3B91A3D36E92}"/>
              </a:ext>
            </a:extLst>
          </p:cNvPr>
          <p:cNvSpPr>
            <a:spLocks noGrp="1"/>
          </p:cNvSpPr>
          <p:nvPr/>
        </p:nvSpPr>
        <p:spPr>
          <a:xfrm>
            <a:off x="658368" y="5088636"/>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POTENTIAL</a:t>
            </a:r>
            <a:endParaRPr sz="1200"/>
          </a:p>
        </p:txBody>
      </p:sp>
      <p:sp>
        <p:nvSpPr>
          <p:cNvPr id="16" name="Text 12">
            <a:extLst>
              <a:ext uri="{FF2B5EF4-FFF2-40B4-BE49-F238E27FC236}">
                <a16:creationId xmlns:a16="http://schemas.microsoft.com/office/drawing/2014/main" id="{53E15D85-1BC0-4B44-B502-E316325F75A2}"/>
              </a:ext>
            </a:extLst>
          </p:cNvPr>
          <p:cNvSpPr>
            <a:spLocks noGrp="1"/>
          </p:cNvSpPr>
          <p:nvPr/>
        </p:nvSpPr>
        <p:spPr>
          <a:xfrm>
            <a:off x="658368" y="5289804"/>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$193K</a:t>
            </a:r>
            <a:endParaRPr sz="2800"/>
          </a:p>
        </p:txBody>
      </p:sp>
      <p:sp>
        <p:nvSpPr>
          <p:cNvPr id="17" name="Text 13">
            <a:extLst>
              <a:ext uri="{FF2B5EF4-FFF2-40B4-BE49-F238E27FC236}">
                <a16:creationId xmlns:a16="http://schemas.microsoft.com/office/drawing/2014/main" id="{DA20BA40-7AA4-4BA4-8540-BC742ECBC99C}"/>
              </a:ext>
            </a:extLst>
          </p:cNvPr>
          <p:cNvSpPr>
            <a:spLocks noGrp="1"/>
          </p:cNvSpPr>
          <p:nvPr/>
        </p:nvSpPr>
        <p:spPr>
          <a:xfrm>
            <a:off x="658368" y="5692140"/>
            <a:ext cx="3204362" cy="329184"/>
          </a:xfrm>
          <a:prstGeom prst="rect">
            <a:avLst/>
          </a:prstGeom>
          <a:noFill/>
        </p:spPr>
        <p:txBody>
          <a:bodyPr wrap="square" lIns="0" tIns="0" rIns="0" bIns="0" anchor="t"/>
          <a:lstStyle/>
          <a:p>
            <a:pPr marL="0" indent="0">
              <a:lnSpc>
                <a:spcPct val="105000"/>
              </a:lnSpc>
              <a:buNone/>
            </a:pPr>
            <a:r>
              <a:rPr sz="1200" b="1">
                <a:solidFill>
                  <a:srgbClr val="E0A030"/>
                </a:solidFill>
                <a:latin typeface="Calibri"/>
                <a:ea typeface="Calibri"/>
                <a:cs typeface="Calibri"/>
              </a:rPr>
              <a:t>annualised, both clouds</a:t>
            </a:r>
            <a:endParaRPr sz="1200"/>
          </a:p>
        </p:txBody>
      </p:sp>
      <p:sp>
        <p:nvSpPr>
          <p:cNvPr id="18" name="Shape 14">
            <a:extLst>
              <a:ext uri="{FF2B5EF4-FFF2-40B4-BE49-F238E27FC236}">
                <a16:creationId xmlns:a16="http://schemas.microsoft.com/office/drawing/2014/main" id="{3CD06E68-F0EA-4DE2-93F0-848A45280BB2}"/>
              </a:ext>
            </a:extLst>
          </p:cNvPr>
          <p:cNvSpPr>
            <a:spLocks noGrp="1"/>
          </p:cNvSpPr>
          <p:nvPr/>
        </p:nvSpPr>
        <p:spPr>
          <a:xfrm>
            <a:off x="4292498" y="4997196"/>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0" name="Text 15">
            <a:extLst>
              <a:ext uri="{FF2B5EF4-FFF2-40B4-BE49-F238E27FC236}">
                <a16:creationId xmlns:a16="http://schemas.microsoft.com/office/drawing/2014/main" id="{A1E4E09B-CAD4-429E-BC38-D35165EFA348}"/>
              </a:ext>
            </a:extLst>
          </p:cNvPr>
          <p:cNvSpPr>
            <a:spLocks noGrp="1"/>
          </p:cNvSpPr>
          <p:nvPr/>
        </p:nvSpPr>
        <p:spPr>
          <a:xfrm>
            <a:off x="4493666" y="5088636"/>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PLUS THE COVERAGE GAP</a:t>
            </a:r>
            <a:endParaRPr sz="1200"/>
          </a:p>
        </p:txBody>
      </p:sp>
      <p:sp>
        <p:nvSpPr>
          <p:cNvPr id="20" name="Text 16">
            <a:extLst>
              <a:ext uri="{FF2B5EF4-FFF2-40B4-BE49-F238E27FC236}">
                <a16:creationId xmlns:a16="http://schemas.microsoft.com/office/drawing/2014/main" id="{26498858-4797-49BD-927F-2972903F79C1}"/>
              </a:ext>
            </a:extLst>
          </p:cNvPr>
          <p:cNvSpPr>
            <a:spLocks noGrp="1"/>
          </p:cNvSpPr>
          <p:nvPr/>
        </p:nvSpPr>
        <p:spPr>
          <a:xfrm>
            <a:off x="4493666" y="5289804"/>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~$91K</a:t>
            </a:r>
            <a:endParaRPr sz="2800"/>
          </a:p>
        </p:txBody>
      </p:sp>
      <p:sp>
        <p:nvSpPr>
          <p:cNvPr id="21" name="Text 17">
            <a:extLst>
              <a:ext uri="{FF2B5EF4-FFF2-40B4-BE49-F238E27FC236}">
                <a16:creationId xmlns:a16="http://schemas.microsoft.com/office/drawing/2014/main" id="{6C56ED54-60BB-4F22-9F74-088644B081F8}"/>
              </a:ext>
            </a:extLst>
          </p:cNvPr>
          <p:cNvSpPr>
            <a:spLocks noGrp="1"/>
          </p:cNvSpPr>
          <p:nvPr/>
        </p:nvSpPr>
        <p:spPr>
          <a:xfrm>
            <a:off x="4493666" y="5692140"/>
            <a:ext cx="3204362" cy="329184"/>
          </a:xfrm>
          <a:prstGeom prst="rect">
            <a:avLst/>
          </a:prstGeom>
          <a:noFill/>
        </p:spPr>
        <p:txBody>
          <a:bodyPr wrap="square" lIns="0" tIns="0" rIns="0" bIns="0" anchor="t"/>
          <a:lstStyle/>
          <a:p>
            <a:pPr marL="0" indent="0">
              <a:lnSpc>
                <a:spcPct val="105000"/>
              </a:lnSpc>
              <a:buNone/>
            </a:pPr>
            <a:r>
              <a:rPr sz="1200" b="1">
                <a:solidFill>
                  <a:srgbClr val="E0A030"/>
                </a:solidFill>
                <a:latin typeface="Calibri"/>
                <a:ea typeface="Calibri"/>
                <a:cs typeface="Calibri"/>
              </a:rPr>
              <a:t>Azure on-demand, at AWS rates</a:t>
            </a:r>
            <a:endParaRPr sz="1200"/>
          </a:p>
        </p:txBody>
      </p:sp>
      <p:sp>
        <p:nvSpPr>
          <p:cNvPr id="22" name="Shape 18">
            <a:extLst>
              <a:ext uri="{FF2B5EF4-FFF2-40B4-BE49-F238E27FC236}">
                <a16:creationId xmlns:a16="http://schemas.microsoft.com/office/drawing/2014/main" id="{05A84F2D-13AF-4AFE-AB44-749FB6920F5E}"/>
              </a:ext>
            </a:extLst>
          </p:cNvPr>
          <p:cNvSpPr>
            <a:spLocks noGrp="1"/>
          </p:cNvSpPr>
          <p:nvPr/>
        </p:nvSpPr>
        <p:spPr>
          <a:xfrm>
            <a:off x="8127797" y="4997196"/>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23" name="Text 19">
            <a:extLst>
              <a:ext uri="{FF2B5EF4-FFF2-40B4-BE49-F238E27FC236}">
                <a16:creationId xmlns:a16="http://schemas.microsoft.com/office/drawing/2014/main" id="{1A834C06-AE19-4289-95AE-BEB0865311EC}"/>
              </a:ext>
            </a:extLst>
          </p:cNvPr>
          <p:cNvSpPr>
            <a:spLocks noGrp="1"/>
          </p:cNvSpPr>
          <p:nvPr/>
        </p:nvSpPr>
        <p:spPr>
          <a:xfrm>
            <a:off x="8328965" y="5088636"/>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BANKED PLUS IDENTIFIED</a:t>
            </a:r>
            <a:endParaRPr sz="1200"/>
          </a:p>
        </p:txBody>
      </p:sp>
      <p:sp>
        <p:nvSpPr>
          <p:cNvPr id="24" name="Text 20">
            <a:extLst>
              <a:ext uri="{FF2B5EF4-FFF2-40B4-BE49-F238E27FC236}">
                <a16:creationId xmlns:a16="http://schemas.microsoft.com/office/drawing/2014/main" id="{14BFCC78-126F-449C-9277-0B7F903A3B8D}"/>
              </a:ext>
            </a:extLst>
          </p:cNvPr>
          <p:cNvSpPr>
            <a:spLocks noGrp="1"/>
          </p:cNvSpPr>
          <p:nvPr/>
        </p:nvSpPr>
        <p:spPr>
          <a:xfrm>
            <a:off x="8328965" y="5289804"/>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$563K</a:t>
            </a:r>
            <a:endParaRPr sz="2800"/>
          </a:p>
        </p:txBody>
      </p:sp>
      <p:sp>
        <p:nvSpPr>
          <p:cNvPr id="25" name="Text 21">
            <a:extLst>
              <a:ext uri="{FF2B5EF4-FFF2-40B4-BE49-F238E27FC236}">
                <a16:creationId xmlns:a16="http://schemas.microsoft.com/office/drawing/2014/main" id="{985854BF-589B-4F52-AAEE-CB6DA854F94B}"/>
              </a:ext>
            </a:extLst>
          </p:cNvPr>
          <p:cNvSpPr>
            <a:spLocks noGrp="1"/>
          </p:cNvSpPr>
          <p:nvPr/>
        </p:nvSpPr>
        <p:spPr>
          <a:xfrm>
            <a:off x="8328965" y="5692140"/>
            <a:ext cx="3204362" cy="329184"/>
          </a:xfrm>
          <a:prstGeom prst="rect">
            <a:avLst/>
          </a:prstGeom>
          <a:noFill/>
        </p:spPr>
        <p:txBody>
          <a:bodyPr wrap="square" lIns="0" tIns="0" rIns="0" bIns="0" anchor="t"/>
          <a:lstStyle/>
          <a:p>
            <a:pPr marL="0" indent="0">
              <a:lnSpc>
                <a:spcPct val="105000"/>
              </a:lnSpc>
              <a:buNone/>
            </a:pPr>
            <a:r>
              <a:rPr sz="1200" b="1">
                <a:solidFill>
                  <a:srgbClr val="3DDC97"/>
                </a:solidFill>
                <a:latin typeface="Calibri"/>
                <a:ea typeface="Calibri"/>
                <a:cs typeface="Calibri"/>
              </a:rPr>
              <a:t>about 19% of annualised consumption</a:t>
            </a:r>
            <a:endParaRPr sz="1200"/>
          </a:p>
        </p:txBody>
      </p:sp>
    </p:spTree>
    <p:extLst>
      <p:ext uri="{BB962C8B-B14F-4D97-AF65-F5344CB8AC3E}">
        <p14:creationId xmlns:p14="http://schemas.microsoft.com/office/powerpoint/2010/main" val="881856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483662-BF7D-4D76-804A-568CAEA96766}"/>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6237CA1F-F1E5-4672-B607-DEA851EC2079}"/>
              </a:ext>
            </a:extLst>
          </p:cNvPr>
          <p:cNvSpPr>
            <a:spLocks noGrp="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a:p>
        </p:txBody>
      </p:sp>
      <p:sp>
        <p:nvSpPr>
          <p:cNvPr id="4" name="Text 2">
            <a:extLst>
              <a:ext uri="{FF2B5EF4-FFF2-40B4-BE49-F238E27FC236}">
                <a16:creationId xmlns:a16="http://schemas.microsoft.com/office/drawing/2014/main" id="{F3EB8689-7834-4778-8D9C-C04C9FCA975F}"/>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3DD9EB"/>
                </a:solidFill>
                <a:latin typeface="Calibri"/>
                <a:ea typeface="Calibri"/>
                <a:cs typeface="Calibri"/>
              </a:rPr>
              <a:t>NEXT STEPS</a:t>
            </a:r>
            <a:endParaRPr sz="1300"/>
          </a:p>
        </p:txBody>
      </p:sp>
      <p:sp>
        <p:nvSpPr>
          <p:cNvPr id="5" name="Text 3">
            <a:extLst>
              <a:ext uri="{FF2B5EF4-FFF2-40B4-BE49-F238E27FC236}">
                <a16:creationId xmlns:a16="http://schemas.microsoft.com/office/drawing/2014/main" id="{59DD5423-CE80-48D8-8A9E-B1A343159BAF}"/>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endParaRPr sz="2800"/>
          </a:p>
        </p:txBody>
      </p:sp>
      <p:sp>
        <p:nvSpPr>
          <p:cNvPr id="6" name="Text 4">
            <a:extLst>
              <a:ext uri="{FF2B5EF4-FFF2-40B4-BE49-F238E27FC236}">
                <a16:creationId xmlns:a16="http://schemas.microsoft.com/office/drawing/2014/main" id="{CA79114A-AA50-4869-853E-15E5560F33F3}"/>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1C2521B5-E844-4BD3-A3F2-711E02381E76}"/>
              </a:ext>
            </a:extLst>
          </p:cNvPr>
          <p:cNvSpPr>
            <a:spLocks noGrp="1"/>
          </p:cNvSpPr>
          <p:nvPr/>
        </p:nvSpPr>
        <p:spPr>
          <a:xfrm>
            <a:off x="457200" y="1234440"/>
            <a:ext cx="1097280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Open items</a:t>
            </a:r>
            <a:endParaRPr sz="1500"/>
          </a:p>
        </p:txBody>
      </p:sp>
      <p:graphicFrame>
        <p:nvGraphicFramePr>
          <p:cNvPr id="28" name="Table 0"/>
          <p:cNvGraphicFramePr/>
          <p:nvPr/>
        </p:nvGraphicFramePr>
        <p:xfrm>
          <a:off x="457200" y="818388"/>
          <a:ext cx="10972800" cy="3969706"/>
        </p:xfrm>
        <a:graphic>
          <a:graphicData uri="http://schemas.openxmlformats.org/drawingml/2006/table">
            <a:tbl>
              <a:tblPr/>
              <a:tblGrid>
                <a:gridCol w="411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77282">
                <a:tc>
                  <a:txBody>
                    <a:bodyPr/>
                    <a:lstStyle/>
                    <a:p>
                      <a:pPr marL="0" indent="0" algn="ctr">
                        <a:buNone/>
                      </a:pPr>
                      <a:r>
                        <a:rPr sz="1200" b="1" spc="80">
                          <a:solidFill>
                            <a:srgbClr val="91A0B7"/>
                          </a:solidFill>
                          <a:latin typeface="Calibri"/>
                          <a:ea typeface="Calibri"/>
                          <a:cs typeface="Calibri"/>
                        </a:rPr>
                        <a: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Item</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Detail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ctr">
                        <a:buNone/>
                      </a:pPr>
                      <a:r>
                        <a:rPr sz="1200" b="1" spc="80">
                          <a:solidFill>
                            <a:srgbClr val="91A0B7"/>
                          </a:solidFill>
                          <a:latin typeface="Calibri"/>
                          <a:ea typeface="Calibri"/>
                          <a:cs typeface="Calibri"/>
                        </a:rPr>
                        <a:t>Status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b="1" spc="80">
                          <a:solidFill>
                            <a:srgbClr val="91A0B7"/>
                          </a:solidFill>
                          <a:latin typeface="Calibri"/>
                          <a:ea typeface="Calibri"/>
                          <a:cs typeface="Calibri"/>
                        </a:rPr>
                        <a:t>Owner</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0"/>
                  </a:ext>
                </a:extLst>
              </a:tr>
              <a:tr h="727770">
                <a:tc>
                  <a:txBody>
                    <a:bodyPr/>
                    <a:lstStyle/>
                    <a:p>
                      <a:pPr marL="0" indent="0" algn="ctr">
                        <a:buNone/>
                      </a:pPr>
                      <a:r>
                        <a:rPr sz="1200" b="1">
                          <a:solidFill>
                            <a:srgbClr val="F4F7FB"/>
                          </a:solidFill>
                          <a:latin typeface="Calibri"/>
                          <a:ea typeface="Calibri"/>
                          <a:cs typeface="Calibri"/>
                        </a:rPr>
                        <a:t>1</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Savings and efficiency programme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Deliver the Cloud FinOps savings plan: right-sizing, auto-shutdown, reserved instances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ctr">
                        <a:buNone/>
                      </a:pPr>
                      <a:r>
                        <a:rPr sz="1200">
                          <a:solidFill>
                            <a:srgbClr val="E0A030"/>
                          </a:solidFill>
                          <a:latin typeface="Calibri"/>
                          <a:ea typeface="Calibri"/>
                          <a:cs typeface="Calibri"/>
                        </a:rPr>
                        <a:t>Planned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Infrastructure Division&amp;</a:t>
                      </a:r>
                    </a:p>
                    <a:p>
                      <a:pPr marL="0" indent="0" algn="l">
                        <a:buNone/>
                      </a:pPr>
                      <a:r>
                        <a:rPr sz="1200">
                          <a:solidFill>
                            <a:srgbClr val="F4F7FB"/>
                          </a:solidFill>
                          <a:latin typeface="Calibri"/>
                          <a:ea typeface="Calibri"/>
                          <a:cs typeface="Calibri"/>
                        </a:rPr>
                        <a:t>CloudOps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1"/>
                  </a:ext>
                </a:extLst>
              </a:tr>
              <a:tr h="727770">
                <a:tc>
                  <a:txBody>
                    <a:bodyPr/>
                    <a:lstStyle/>
                    <a:p>
                      <a:pPr marL="0" indent="0" algn="ctr">
                        <a:buNone/>
                      </a:pPr>
                      <a:r>
                        <a:rPr sz="1200" b="1">
                          <a:solidFill>
                            <a:srgbClr val="F4F7FB"/>
                          </a:solidFill>
                          <a:latin typeface="Calibri"/>
                          <a:ea typeface="Calibri"/>
                          <a:cs typeface="Calibri"/>
                        </a:rPr>
                        <a:t>2</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Analytics Tools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marR="0" lvl="0" indent="0" algn="l" defTabSz="914400">
                        <a:lnSpc>
                          <a:spcPct val="100000"/>
                        </a:lnSpc>
                        <a:spcBef>
                          <a:spcPts val="0"/>
                        </a:spcBef>
                        <a:spcAft>
                          <a:spcPts val="0"/>
                        </a:spcAft>
                        <a:buClrTx/>
                        <a:buSzTx/>
                        <a:buFontTx/>
                        <a:buNone/>
                      </a:pPr>
                      <a:r>
                        <a:rPr sz="1200">
                          <a:solidFill>
                            <a:srgbClr val="F4F7FB"/>
                          </a:solidFill>
                          <a:latin typeface="Calibri"/>
                          <a:ea typeface="Calibri"/>
                          <a:cs typeface="Calibri"/>
                        </a:rPr>
                        <a:t>Deploy the WIV.AI platform for governance, cost and usage monitoring</a:t>
                      </a:r>
                    </a:p>
                    <a:p>
                      <a:pPr marL="0" marR="0" lvl="0" indent="0" algn="l" defTabSz="914400">
                        <a:lnSpc>
                          <a:spcPct val="100000"/>
                        </a:lnSpc>
                        <a:spcBef>
                          <a:spcPts val="0"/>
                        </a:spcBef>
                        <a:spcAft>
                          <a:spcPts val="0"/>
                        </a:spcAft>
                        <a:buClrTx/>
                        <a:buSzTx/>
                        <a:buFontTx/>
                        <a:buNone/>
                      </a:pPr>
                      <a:r>
                        <a:rPr sz="1200">
                          <a:solidFill>
                            <a:srgbClr val="F4F7FB"/>
                          </a:solidFill>
                          <a:latin typeface="Calibri"/>
                          <a:ea typeface="Calibri"/>
                          <a:cs typeface="Calibri"/>
                        </a:rPr>
                        <a:t>Power BI For Billing Analytics</a:t>
                      </a:r>
                      <a:endParaRPr sz="1200">
                        <a:latin typeface="Calibri"/>
                        <a:ea typeface="Calibri"/>
                        <a:cs typeface="Calibri"/>
                      </a:endParaRPr>
                    </a:p>
                    <a:p>
                      <a:pPr marL="0" marR="0" lvl="0" indent="0" algn="l" defTabSz="914400">
                        <a:lnSpc>
                          <a:spcPct val="100000"/>
                        </a:lnSpc>
                        <a:spcBef>
                          <a:spcPts val="0"/>
                        </a:spcBef>
                        <a:spcAft>
                          <a:spcPts val="0"/>
                        </a:spcAft>
                        <a:buClrTx/>
                        <a:buSzTx/>
                        <a:buFontTx/>
                        <a:buNone/>
                      </a:pPr>
                      <a:r>
                        <a:rPr sz="1200">
                          <a:solidFill>
                            <a:srgbClr val="F4F7FB"/>
                          </a:solidFill>
                          <a:latin typeface="Calibri"/>
                          <a:ea typeface="Calibri"/>
                          <a:cs typeface="Calibri"/>
                        </a:rPr>
                        <a:t>Elastic For Azure Billing Module </a:t>
                      </a:r>
                    </a:p>
                    <a:p>
                      <a:pPr marL="0" indent="0" algn="l">
                        <a:buNone/>
                      </a:pP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ctr">
                        <a:buNone/>
                      </a:pPr>
                      <a:r>
                        <a:rPr sz="1200">
                          <a:solidFill>
                            <a:srgbClr val="3DD9EB"/>
                          </a:solidFill>
                          <a:latin typeface="Calibri"/>
                          <a:ea typeface="Calibri"/>
                          <a:cs typeface="Calibri"/>
                        </a:rPr>
                        <a:t>In progress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Ariel Oral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2"/>
                  </a:ext>
                </a:extLst>
              </a:tr>
              <a:tr h="727770">
                <a:tc>
                  <a:txBody>
                    <a:bodyPr/>
                    <a:lstStyle/>
                    <a:p>
                      <a:pPr marL="0" indent="0" algn="ctr">
                        <a:buNone/>
                      </a:pPr>
                      <a:r>
                        <a:rPr sz="1200" b="1">
                          <a:solidFill>
                            <a:srgbClr val="F4F7FB"/>
                          </a:solidFill>
                          <a:latin typeface="Calibri"/>
                          <a:ea typeface="Calibri"/>
                          <a:cs typeface="Calibri"/>
                        </a:rPr>
                        <a:t>3</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Two-layer tagging</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Resource tags (Service, Application, Cost Center, Environment) for chargeback, plus per-request metadata (use case, agent, model, provider) injected at the AI gateway</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ctr">
                        <a:buNone/>
                      </a:pPr>
                      <a:r>
                        <a:rPr sz="1200">
                          <a:solidFill>
                            <a:srgbClr val="3DD9EB"/>
                          </a:solidFill>
                          <a:latin typeface="Calibri"/>
                          <a:ea typeface="Calibri"/>
                          <a:cs typeface="Calibri"/>
                        </a:rPr>
                        <a:t>In progress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Ariel Oral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3"/>
                  </a:ext>
                </a:extLst>
              </a:tr>
              <a:tr h="577282">
                <a:tc>
                  <a:txBody>
                    <a:bodyPr/>
                    <a:lstStyle/>
                    <a:p>
                      <a:pPr marL="0" indent="0" algn="ctr">
                        <a:buNone/>
                      </a:pPr>
                      <a:r>
                        <a:rPr sz="1200" b="1">
                          <a:solidFill>
                            <a:srgbClr val="F4F7FB"/>
                          </a:solidFill>
                          <a:latin typeface="Calibri"/>
                          <a:ea typeface="Calibri"/>
                          <a:cs typeface="Calibri"/>
                        </a:rPr>
                        <a:t>4</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AWS FinOps agent</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Automated cost analysis, savings recommendations and AWS service optimisation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ctr">
                        <a:buNone/>
                      </a:pPr>
                      <a:r>
                        <a:rPr sz="1200">
                          <a:solidFill>
                            <a:srgbClr val="3DD9EB"/>
                          </a:solidFill>
                          <a:latin typeface="Calibri"/>
                          <a:ea typeface="Calibri"/>
                          <a:cs typeface="Calibri"/>
                        </a:rPr>
                        <a:t>In progress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tc>
                  <a:txBody>
                    <a:bodyPr/>
                    <a:lstStyle/>
                    <a:p>
                      <a:pPr marL="0" indent="0" algn="l">
                        <a:buNone/>
                      </a:pPr>
                      <a:r>
                        <a:rPr sz="1200">
                          <a:solidFill>
                            <a:srgbClr val="F4F7FB"/>
                          </a:solidFill>
                          <a:latin typeface="Calibri"/>
                          <a:ea typeface="Calibri"/>
                          <a:cs typeface="Calibri"/>
                        </a:rPr>
                        <a:t>Ariel</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0E1422"/>
                    </a:solidFill>
                  </a:tcPr>
                </a:tc>
                <a:extLst>
                  <a:ext uri="{0D108BD9-81ED-4DB2-BD59-A6C34878D82A}">
                    <a16:rowId xmlns:a16="http://schemas.microsoft.com/office/drawing/2014/main" val="10004"/>
                  </a:ext>
                </a:extLst>
              </a:tr>
              <a:tr h="577282">
                <a:tc>
                  <a:txBody>
                    <a:bodyPr/>
                    <a:lstStyle/>
                    <a:p>
                      <a:pPr marL="0" indent="0" algn="ctr">
                        <a:buNone/>
                      </a:pPr>
                      <a:r>
                        <a:rPr sz="1200" b="1">
                          <a:solidFill>
                            <a:srgbClr val="F4F7FB"/>
                          </a:solidFill>
                          <a:latin typeface="Calibri"/>
                          <a:ea typeface="Calibri"/>
                          <a:cs typeface="Calibri"/>
                        </a:rPr>
                        <a:t>5</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Databricks commitment optimisation</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Raise DBU commitment utilisation from 18%, track it monthly, and tune Classic vs Serverless</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ctr">
                        <a:buNone/>
                      </a:pPr>
                      <a:r>
                        <a:rPr sz="1200">
                          <a:solidFill>
                            <a:srgbClr val="91A0B7"/>
                          </a:solidFill>
                          <a:latin typeface="Calibri"/>
                          <a:ea typeface="Calibri"/>
                          <a:cs typeface="Calibri"/>
                        </a:rPr>
                        <a:t>To scope</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tc>
                  <a:txBody>
                    <a:bodyPr/>
                    <a:lstStyle/>
                    <a:p>
                      <a:pPr marL="0" indent="0" algn="l">
                        <a:buNone/>
                      </a:pPr>
                      <a:r>
                        <a:rPr sz="1200">
                          <a:solidFill>
                            <a:srgbClr val="F4F7FB"/>
                          </a:solidFill>
                          <a:latin typeface="Calibri"/>
                          <a:ea typeface="Calibri"/>
                          <a:cs typeface="Calibri"/>
                        </a:rPr>
                        <a:t>TBD</a:t>
                      </a:r>
                      <a:endParaRPr sz="1200">
                        <a:latin typeface="Calibri"/>
                        <a:ea typeface="Calibri"/>
                        <a:cs typeface="Calibri"/>
                      </a:endParaRPr>
                    </a:p>
                  </a:txBody>
                  <a:tcPr marL="76200" marR="76200" marT="25400" marB="25400" anchor="ctr">
                    <a:lnL w="6350" cmpd="sng">
                      <a:solidFill>
                        <a:srgbClr val="23304A"/>
                      </a:solidFill>
                      <a:prstDash val="solid"/>
                    </a:lnL>
                    <a:lnR w="6350" cmpd="sng">
                      <a:solidFill>
                        <a:srgbClr val="23304A"/>
                      </a:solidFill>
                      <a:prstDash val="solid"/>
                    </a:lnR>
                    <a:lnT w="6350" cmpd="sng">
                      <a:solidFill>
                        <a:srgbClr val="23304A"/>
                      </a:solidFill>
                      <a:prstDash val="solid"/>
                    </a:lnT>
                    <a:lnB w="6350" cmpd="sng">
                      <a:solidFill>
                        <a:srgbClr val="23304A"/>
                      </a:solidFill>
                      <a:prstDash val="solid"/>
                    </a:lnB>
                    <a:solidFill>
                      <a:srgbClr val="121B2D"/>
                    </a:solidFill>
                  </a:tcPr>
                </a:tc>
                <a:extLst>
                  <a:ext uri="{0D108BD9-81ED-4DB2-BD59-A6C34878D82A}">
                    <a16:rowId xmlns:a16="http://schemas.microsoft.com/office/drawing/2014/main" val="10005"/>
                  </a:ext>
                </a:extLst>
              </a:tr>
            </a:tbl>
          </a:graphicData>
        </a:graphic>
      </p:graphicFrame>
      <p:sp>
        <p:nvSpPr>
          <p:cNvPr id="9" name="Shape 6">
            <a:extLst>
              <a:ext uri="{FF2B5EF4-FFF2-40B4-BE49-F238E27FC236}">
                <a16:creationId xmlns:a16="http://schemas.microsoft.com/office/drawing/2014/main" id="{3595BD95-AD62-49CA-B2C6-D2A1B839F1EE}"/>
              </a:ext>
            </a:extLst>
          </p:cNvPr>
          <p:cNvSpPr>
            <a:spLocks noGrp="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92181C09-46D0-4E4E-9967-ACBE7180C211}"/>
              </a:ext>
            </a:extLst>
          </p:cNvPr>
          <p:cNvSpPr>
            <a:spLocks noGrp="1"/>
          </p:cNvSpPr>
          <p:nvPr/>
        </p:nvSpPr>
        <p:spPr>
          <a:xfrm>
            <a:off x="658368"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DECISION NEEDED</a:t>
            </a:r>
            <a:endParaRPr sz="1200"/>
          </a:p>
        </p:txBody>
      </p:sp>
      <p:sp>
        <p:nvSpPr>
          <p:cNvPr id="11" name="Text 8">
            <a:extLst>
              <a:ext uri="{FF2B5EF4-FFF2-40B4-BE49-F238E27FC236}">
                <a16:creationId xmlns:a16="http://schemas.microsoft.com/office/drawing/2014/main" id="{C6537BE5-F145-420B-B175-513AE8E9D1BC}"/>
              </a:ext>
            </a:extLst>
          </p:cNvPr>
          <p:cNvSpPr>
            <a:spLocks noGrp="1"/>
          </p:cNvSpPr>
          <p:nvPr/>
        </p:nvSpPr>
        <p:spPr>
          <a:xfrm>
            <a:off x="658368"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4 items</a:t>
            </a:r>
            <a:endParaRPr sz="2800"/>
          </a:p>
        </p:txBody>
      </p:sp>
      <p:sp>
        <p:nvSpPr>
          <p:cNvPr id="12" name="Text 9">
            <a:extLst>
              <a:ext uri="{FF2B5EF4-FFF2-40B4-BE49-F238E27FC236}">
                <a16:creationId xmlns:a16="http://schemas.microsoft.com/office/drawing/2014/main" id="{34A6FBD5-3DE8-4FD1-A684-F60E755544CF}"/>
              </a:ext>
            </a:extLst>
          </p:cNvPr>
          <p:cNvSpPr>
            <a:spLocks noGrp="1"/>
          </p:cNvSpPr>
          <p:nvPr/>
        </p:nvSpPr>
        <p:spPr>
          <a:xfrm>
            <a:off x="658368" y="5769864"/>
            <a:ext cx="3204362" cy="329184"/>
          </a:xfrm>
          <a:prstGeom prst="rect">
            <a:avLst/>
          </a:prstGeom>
          <a:noFill/>
        </p:spPr>
        <p:txBody>
          <a:bodyPr wrap="square" lIns="0" tIns="0" rIns="0" bIns="0" anchor="t"/>
          <a:lstStyle/>
          <a:p>
            <a:pPr marL="0" indent="0">
              <a:lnSpc>
                <a:spcPct val="105000"/>
              </a:lnSpc>
              <a:buNone/>
            </a:pPr>
            <a:r>
              <a:rPr sz="1200" b="1">
                <a:solidFill>
                  <a:srgbClr val="E0A030"/>
                </a:solidFill>
                <a:latin typeface="Calibri"/>
                <a:ea typeface="Calibri"/>
                <a:cs typeface="Calibri"/>
              </a:rPr>
              <a:t>the $193K recommendation list</a:t>
            </a:r>
            <a:endParaRPr sz="1200"/>
          </a:p>
        </p:txBody>
      </p:sp>
      <p:sp>
        <p:nvSpPr>
          <p:cNvPr id="13" name="Shape 10">
            <a:extLst>
              <a:ext uri="{FF2B5EF4-FFF2-40B4-BE49-F238E27FC236}">
                <a16:creationId xmlns:a16="http://schemas.microsoft.com/office/drawing/2014/main" id="{832471CB-33DB-4E41-8D8E-8567FCB24001}"/>
              </a:ext>
            </a:extLst>
          </p:cNvPr>
          <p:cNvSpPr>
            <a:spLocks noGrp="1"/>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C29024C6-1971-48EA-BD78-A64249A61284}"/>
              </a:ext>
            </a:extLst>
          </p:cNvPr>
          <p:cNvSpPr>
            <a:spLocks noGrp="1"/>
          </p:cNvSpPr>
          <p:nvPr/>
        </p:nvSpPr>
        <p:spPr>
          <a:xfrm>
            <a:off x="4493666" y="51663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DEPENDENCY</a:t>
            </a:r>
            <a:endParaRPr sz="1200"/>
          </a:p>
        </p:txBody>
      </p:sp>
      <p:sp>
        <p:nvSpPr>
          <p:cNvPr id="15" name="Text 12">
            <a:extLst>
              <a:ext uri="{FF2B5EF4-FFF2-40B4-BE49-F238E27FC236}">
                <a16:creationId xmlns:a16="http://schemas.microsoft.com/office/drawing/2014/main" id="{1AEF47F8-CAF9-4531-B72E-961E8E374994}"/>
              </a:ext>
            </a:extLst>
          </p:cNvPr>
          <p:cNvSpPr>
            <a:spLocks noGrp="1"/>
          </p:cNvSpPr>
          <p:nvPr/>
        </p:nvSpPr>
        <p:spPr>
          <a:xfrm>
            <a:off x="4493666" y="53675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Tagging</a:t>
            </a:r>
            <a:endParaRPr sz="2800"/>
          </a:p>
        </p:txBody>
      </p:sp>
      <p:sp>
        <p:nvSpPr>
          <p:cNvPr id="16" name="Text 13">
            <a:extLst>
              <a:ext uri="{FF2B5EF4-FFF2-40B4-BE49-F238E27FC236}">
                <a16:creationId xmlns:a16="http://schemas.microsoft.com/office/drawing/2014/main" id="{535FB657-45E2-49BF-AB0F-C33C0C716A2D}"/>
              </a:ext>
            </a:extLst>
          </p:cNvPr>
          <p:cNvSpPr>
            <a:spLocks noGrp="1"/>
          </p:cNvSpPr>
          <p:nvPr/>
        </p:nvSpPr>
        <p:spPr>
          <a:xfrm>
            <a:off x="4493666" y="57698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item 3 blocks chargeback</a:t>
            </a:r>
            <a:endParaRPr sz="1200"/>
          </a:p>
        </p:txBody>
      </p:sp>
      <p:sp>
        <p:nvSpPr>
          <p:cNvPr id="18" name="Text 15">
            <a:extLst>
              <a:ext uri="{FF2B5EF4-FFF2-40B4-BE49-F238E27FC236}">
                <a16:creationId xmlns:a16="http://schemas.microsoft.com/office/drawing/2014/main" id="{30ED9729-AAC4-482F-BFAB-8D677F893305}"/>
              </a:ext>
            </a:extLst>
          </p:cNvPr>
          <p:cNvSpPr>
            <a:spLocks noGrp="1"/>
          </p:cNvSpPr>
          <p:nvPr/>
        </p:nvSpPr>
        <p:spPr>
          <a:xfrm>
            <a:off x="8328965" y="5166360"/>
            <a:ext cx="3204362" cy="237744"/>
          </a:xfrm>
          <a:prstGeom prst="rect">
            <a:avLst/>
          </a:prstGeom>
          <a:noFill/>
        </p:spPr>
        <p:txBody>
          <a:bodyPr wrap="square" lIns="0" tIns="0" rIns="0" bIns="0" anchor="ctr"/>
          <a:lstStyle/>
          <a:p>
            <a:pPr marL="0" indent="0">
              <a:buNone/>
            </a:pPr>
            <a:endParaRPr sz="1200"/>
          </a:p>
        </p:txBody>
      </p:sp>
      <p:sp>
        <p:nvSpPr>
          <p:cNvPr id="19" name="Text 16">
            <a:extLst>
              <a:ext uri="{FF2B5EF4-FFF2-40B4-BE49-F238E27FC236}">
                <a16:creationId xmlns:a16="http://schemas.microsoft.com/office/drawing/2014/main" id="{3C842509-094E-4FA9-9D3C-C276379C620F}"/>
              </a:ext>
            </a:extLst>
          </p:cNvPr>
          <p:cNvSpPr>
            <a:spLocks noGrp="1"/>
          </p:cNvSpPr>
          <p:nvPr/>
        </p:nvSpPr>
        <p:spPr>
          <a:xfrm>
            <a:off x="8328965" y="5367528"/>
            <a:ext cx="3204362" cy="438912"/>
          </a:xfrm>
          <a:prstGeom prst="rect">
            <a:avLst/>
          </a:prstGeom>
          <a:noFill/>
        </p:spPr>
        <p:txBody>
          <a:bodyPr wrap="square" lIns="0" tIns="0" rIns="0" bIns="0" anchor="ctr"/>
          <a:lstStyle/>
          <a:p>
            <a:pPr marL="0" indent="0">
              <a:buNone/>
            </a:pPr>
            <a:endParaRPr sz="2800"/>
          </a:p>
        </p:txBody>
      </p:sp>
      <p:sp>
        <p:nvSpPr>
          <p:cNvPr id="20" name="Text 17">
            <a:extLst>
              <a:ext uri="{FF2B5EF4-FFF2-40B4-BE49-F238E27FC236}">
                <a16:creationId xmlns:a16="http://schemas.microsoft.com/office/drawing/2014/main" id="{D28C42D8-C911-4F76-9A3C-2D0BCCD5CD15}"/>
              </a:ext>
            </a:extLst>
          </p:cNvPr>
          <p:cNvSpPr>
            <a:spLocks noGrp="1"/>
          </p:cNvSpPr>
          <p:nvPr/>
        </p:nvSpPr>
        <p:spPr>
          <a:xfrm>
            <a:off x="8328965" y="5769864"/>
            <a:ext cx="3204362" cy="329184"/>
          </a:xfrm>
          <a:prstGeom prst="rect">
            <a:avLst/>
          </a:prstGeom>
          <a:noFill/>
        </p:spPr>
        <p:txBody>
          <a:bodyPr wrap="square" lIns="0" tIns="0" rIns="0" bIns="0" anchor="t"/>
          <a:lstStyle/>
          <a:p>
            <a:pPr marL="0" indent="0">
              <a:lnSpc>
                <a:spcPct val="105000"/>
              </a:lnSpc>
              <a:buNone/>
            </a:pPr>
            <a:endParaRPr sz="1200"/>
          </a:p>
        </p:txBody>
      </p:sp>
    </p:spTree>
    <p:extLst>
      <p:ext uri="{BB962C8B-B14F-4D97-AF65-F5344CB8AC3E}">
        <p14:creationId xmlns:p14="http://schemas.microsoft.com/office/powerpoint/2010/main" val="2888196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9368C5C-5924-41D3-AC62-12383B558DAE}"/>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EC501AF2-C9AB-415B-9B52-80E8CB653EAD}"/>
              </a:ext>
            </a:extLst>
          </p:cNvPr>
          <p:cNvSpPr>
            <a:spLocks noGrp="1"/>
          </p:cNvSpPr>
          <p:nvPr/>
        </p:nvSpPr>
        <p:spPr>
          <a:xfrm>
            <a:off x="7863840" y="-1280160"/>
            <a:ext cx="5852160" cy="5852160"/>
          </a:xfrm>
          <a:prstGeom prst="ellipse">
            <a:avLst/>
          </a:prstGeom>
          <a:solidFill>
            <a:srgbClr val="91A0B7">
              <a:alpha val="8000"/>
            </a:srgbClr>
          </a:solidFill>
          <a:ln w="12700">
            <a:solidFill>
              <a:srgbClr val="91A0B7">
                <a:alpha val="0"/>
              </a:srgbClr>
            </a:solidFill>
            <a:prstDash val="solid"/>
          </a:ln>
        </p:spPr>
        <p:txBody>
          <a:bodyPr/>
          <a:lstStyle/>
          <a:p>
            <a:endParaRPr/>
          </a:p>
        </p:txBody>
      </p:sp>
      <p:sp>
        <p:nvSpPr>
          <p:cNvPr id="4" name="Shape 2">
            <a:extLst>
              <a:ext uri="{FF2B5EF4-FFF2-40B4-BE49-F238E27FC236}">
                <a16:creationId xmlns:a16="http://schemas.microsoft.com/office/drawing/2014/main" id="{D8670E18-2160-4636-AC31-DE7E14FAEBE1}"/>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97A7790A-D81C-4290-87D3-3385C6D819F4}"/>
              </a:ext>
            </a:extLst>
          </p:cNvPr>
          <p:cNvSpPr>
            <a:spLocks noGrp="1"/>
          </p:cNvSpPr>
          <p:nvPr/>
        </p:nvSpPr>
        <p:spPr>
          <a:xfrm>
            <a:off x="457200" y="2331720"/>
            <a:ext cx="8229600" cy="274320"/>
          </a:xfrm>
          <a:prstGeom prst="rect">
            <a:avLst/>
          </a:prstGeom>
          <a:noFill/>
        </p:spPr>
        <p:txBody>
          <a:bodyPr wrap="square" lIns="0" tIns="0" rIns="0" bIns="0" anchor="ctr"/>
          <a:lstStyle/>
          <a:p>
            <a:pPr marL="0" indent="0">
              <a:buNone/>
            </a:pPr>
            <a:r>
              <a:rPr b="1" spc="300" dirty="0">
                <a:solidFill>
                  <a:srgbClr val="91A0B7"/>
                </a:solidFill>
                <a:latin typeface="Calibri"/>
                <a:ea typeface="Calibri"/>
                <a:cs typeface="Calibri"/>
              </a:rPr>
              <a:t>APPENDIX</a:t>
            </a:r>
            <a:endParaRPr dirty="0"/>
          </a:p>
        </p:txBody>
      </p:sp>
      <p:sp>
        <p:nvSpPr>
          <p:cNvPr id="6" name="Text 4">
            <a:extLst>
              <a:ext uri="{FF2B5EF4-FFF2-40B4-BE49-F238E27FC236}">
                <a16:creationId xmlns:a16="http://schemas.microsoft.com/office/drawing/2014/main" id="{34AA6A93-3D53-42D2-A711-F5C2350E20EE}"/>
              </a:ext>
            </a:extLst>
          </p:cNvPr>
          <p:cNvSpPr>
            <a:spLocks noGrp="1"/>
          </p:cNvSpPr>
          <p:nvPr/>
        </p:nvSpPr>
        <p:spPr>
          <a:xfrm>
            <a:off x="457200" y="2651760"/>
            <a:ext cx="8412480" cy="1005840"/>
          </a:xfrm>
          <a:prstGeom prst="rect">
            <a:avLst/>
          </a:prstGeom>
          <a:noFill/>
        </p:spPr>
        <p:txBody>
          <a:bodyPr wrap="square" lIns="0" tIns="0" rIns="0" bIns="0" anchor="ctr"/>
          <a:lstStyle/>
          <a:p>
            <a:pPr marL="0" indent="0">
              <a:buNone/>
            </a:pPr>
            <a:r>
              <a:rPr sz="4000" b="1">
                <a:solidFill>
                  <a:srgbClr val="F4F7FB"/>
                </a:solidFill>
                <a:latin typeface="Calibri"/>
                <a:ea typeface="Calibri"/>
                <a:cs typeface="Calibri"/>
              </a:rPr>
              <a:t>The operational detail</a:t>
            </a:r>
            <a:endParaRPr sz="4000"/>
          </a:p>
        </p:txBody>
      </p:sp>
      <p:sp>
        <p:nvSpPr>
          <p:cNvPr id="7" name="Text 5">
            <a:extLst>
              <a:ext uri="{FF2B5EF4-FFF2-40B4-BE49-F238E27FC236}">
                <a16:creationId xmlns:a16="http://schemas.microsoft.com/office/drawing/2014/main" id="{8421E409-70DD-46E1-B9C0-876141F84B1C}"/>
              </a:ext>
            </a:extLst>
          </p:cNvPr>
          <p:cNvSpPr>
            <a:spLocks noGrp="1"/>
          </p:cNvSpPr>
          <p:nvPr/>
        </p:nvSpPr>
        <p:spPr>
          <a:xfrm>
            <a:off x="457200" y="3703320"/>
            <a:ext cx="7863840" cy="457200"/>
          </a:xfrm>
          <a:prstGeom prst="rect">
            <a:avLst/>
          </a:prstGeom>
          <a:noFill/>
        </p:spPr>
        <p:txBody>
          <a:bodyPr wrap="square" lIns="0" tIns="0" rIns="0" bIns="0" anchor="ctr"/>
          <a:lstStyle/>
          <a:p>
            <a:pPr marL="0" indent="0">
              <a:buNone/>
            </a:pPr>
            <a:r>
              <a:rPr sz="1500">
                <a:solidFill>
                  <a:srgbClr val="91A0B7"/>
                </a:solidFill>
                <a:latin typeface="Calibri"/>
                <a:ea typeface="Calibri"/>
                <a:cs typeface="Calibri"/>
              </a:rPr>
              <a:t>Cost centre and project breakdowns, January to July 2026</a:t>
            </a:r>
            <a:endParaRPr sz="1500"/>
          </a:p>
        </p:txBody>
      </p:sp>
    </p:spTree>
    <p:extLst>
      <p:ext uri="{BB962C8B-B14F-4D97-AF65-F5344CB8AC3E}">
        <p14:creationId xmlns:p14="http://schemas.microsoft.com/office/powerpoint/2010/main" val="1203256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9ECD1D0-165D-4B02-9B9E-AD6ED0E7D7EB}"/>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C35F9C1A-AFB9-410B-A17D-BC730420739E}"/>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91C4F4E8-DB36-486D-A0AB-CE056E3977C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 / ACCOUNTS</a:t>
            </a:r>
            <a:endParaRPr sz="1300"/>
          </a:p>
        </p:txBody>
      </p:sp>
      <p:sp>
        <p:nvSpPr>
          <p:cNvPr id="5" name="Text 3">
            <a:extLst>
              <a:ext uri="{FF2B5EF4-FFF2-40B4-BE49-F238E27FC236}">
                <a16:creationId xmlns:a16="http://schemas.microsoft.com/office/drawing/2014/main" id="{21FB45E0-71C1-4F3F-94DF-A4958E7EA974}"/>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account name</a:t>
            </a:r>
            <a:endParaRPr sz="2800"/>
          </a:p>
        </p:txBody>
      </p:sp>
      <p:sp>
        <p:nvSpPr>
          <p:cNvPr id="6" name="Text 4">
            <a:extLst>
              <a:ext uri="{FF2B5EF4-FFF2-40B4-BE49-F238E27FC236}">
                <a16:creationId xmlns:a16="http://schemas.microsoft.com/office/drawing/2014/main" id="{66ECF48F-515E-4E7B-A1EE-85A6DCBE9530}"/>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BB75F9D3-0667-4A9A-80B1-440175ED6E6D}"/>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linked account</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6061DD4A-BAD4-4BB0-A8D0-DD8ADE90B99B}"/>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8B2D6401-9CFC-47EE-95C7-49BD124CB680}"/>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1" name="Text 8">
            <a:extLst>
              <a:ext uri="{FF2B5EF4-FFF2-40B4-BE49-F238E27FC236}">
                <a16:creationId xmlns:a16="http://schemas.microsoft.com/office/drawing/2014/main" id="{20A6722E-227B-40FE-9F68-F8E65ADADF66}"/>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$584K</a:t>
            </a:r>
            <a:endParaRPr sz="2800"/>
          </a:p>
        </p:txBody>
      </p:sp>
      <p:sp>
        <p:nvSpPr>
          <p:cNvPr id="12" name="Text 9">
            <a:extLst>
              <a:ext uri="{FF2B5EF4-FFF2-40B4-BE49-F238E27FC236}">
                <a16:creationId xmlns:a16="http://schemas.microsoft.com/office/drawing/2014/main" id="{98F56899-4728-4150-A14E-6B5D02755570}"/>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flat Jan to Jul</a:t>
            </a:r>
            <a:endParaRPr sz="1200"/>
          </a:p>
        </p:txBody>
      </p:sp>
      <p:sp>
        <p:nvSpPr>
          <p:cNvPr id="13" name="Shape 10">
            <a:extLst>
              <a:ext uri="{FF2B5EF4-FFF2-40B4-BE49-F238E27FC236}">
                <a16:creationId xmlns:a16="http://schemas.microsoft.com/office/drawing/2014/main" id="{5216C818-33AB-4B55-BD8D-23A377CDAB82}"/>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E27ABF73-0ADB-4C3B-8558-6FA2B8C4EDF7}"/>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JULY</a:t>
            </a:r>
            <a:endParaRPr sz="1200"/>
          </a:p>
        </p:txBody>
      </p:sp>
      <p:sp>
        <p:nvSpPr>
          <p:cNvPr id="15" name="Text 12">
            <a:extLst>
              <a:ext uri="{FF2B5EF4-FFF2-40B4-BE49-F238E27FC236}">
                <a16:creationId xmlns:a16="http://schemas.microsoft.com/office/drawing/2014/main" id="{A26FD768-8507-476A-B86A-821F52751DD9}"/>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$77K</a:t>
            </a:r>
            <a:endParaRPr sz="2800"/>
          </a:p>
        </p:txBody>
      </p:sp>
      <p:sp>
        <p:nvSpPr>
          <p:cNvPr id="16" name="Text 13">
            <a:extLst>
              <a:ext uri="{FF2B5EF4-FFF2-40B4-BE49-F238E27FC236}">
                <a16:creationId xmlns:a16="http://schemas.microsoft.com/office/drawing/2014/main" id="{43B9A058-1617-467C-8B9B-FB62488904F1}"/>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91A0B7"/>
                </a:solidFill>
                <a:latin typeface="Calibri"/>
                <a:ea typeface="Calibri"/>
                <a:cs typeface="Calibri"/>
              </a:rPr>
              <a:t>after MAP credit</a:t>
            </a:r>
            <a:endParaRPr sz="1200"/>
          </a:p>
        </p:txBody>
      </p:sp>
      <p:sp>
        <p:nvSpPr>
          <p:cNvPr id="17" name="Text 14">
            <a:extLst>
              <a:ext uri="{FF2B5EF4-FFF2-40B4-BE49-F238E27FC236}">
                <a16:creationId xmlns:a16="http://schemas.microsoft.com/office/drawing/2014/main" id="{955AFCD5-BC60-4641-B7C4-50C17E69A9CE}"/>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4E07F602-196E-4475-AD1A-551863DE6E0C}"/>
              </a:ext>
            </a:extLst>
          </p:cNvPr>
          <p:cNvSpPr>
            <a:spLocks noGrp="1"/>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a:p>
        </p:txBody>
      </p:sp>
      <p:sp>
        <p:nvSpPr>
          <p:cNvPr id="19" name="Text 16">
            <a:extLst>
              <a:ext uri="{FF2B5EF4-FFF2-40B4-BE49-F238E27FC236}">
                <a16:creationId xmlns:a16="http://schemas.microsoft.com/office/drawing/2014/main" id="{C00F2DFB-6F50-498C-B7F6-D09C887BBCC1}"/>
              </a:ext>
            </a:extLst>
          </p:cNvPr>
          <p:cNvSpPr>
            <a:spLocks noGrp="1"/>
          </p:cNvSpPr>
          <p:nvPr/>
        </p:nvSpPr>
        <p:spPr>
          <a:xfrm>
            <a:off x="8284464" y="41148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customers3-prod and horizon-prod both stepped up</a:t>
            </a:r>
            <a:endParaRPr sz="1250"/>
          </a:p>
        </p:txBody>
      </p:sp>
      <p:sp>
        <p:nvSpPr>
          <p:cNvPr id="20" name="Shape 17">
            <a:extLst>
              <a:ext uri="{FF2B5EF4-FFF2-40B4-BE49-F238E27FC236}">
                <a16:creationId xmlns:a16="http://schemas.microsoft.com/office/drawing/2014/main" id="{7257F445-AEBD-4515-855F-493C4B8F5643}"/>
              </a:ext>
            </a:extLst>
          </p:cNvPr>
          <p:cNvSpPr>
            <a:spLocks noGrp="1"/>
          </p:cNvSpPr>
          <p:nvPr/>
        </p:nvSpPr>
        <p:spPr>
          <a:xfrm>
            <a:off x="8110728" y="4764024"/>
            <a:ext cx="64008" cy="64008"/>
          </a:xfrm>
          <a:prstGeom prst="rect">
            <a:avLst/>
          </a:prstGeom>
          <a:solidFill>
            <a:srgbClr val="FF9F43"/>
          </a:solidFill>
          <a:ln w="12700">
            <a:solidFill>
              <a:srgbClr val="FF9F43"/>
            </a:solidFill>
            <a:prstDash val="solid"/>
          </a:ln>
        </p:spPr>
        <p:txBody>
          <a:bodyPr/>
          <a:lstStyle/>
          <a:p>
            <a:endParaRPr/>
          </a:p>
        </p:txBody>
      </p:sp>
      <p:sp>
        <p:nvSpPr>
          <p:cNvPr id="21" name="Text 18">
            <a:extLst>
              <a:ext uri="{FF2B5EF4-FFF2-40B4-BE49-F238E27FC236}">
                <a16:creationId xmlns:a16="http://schemas.microsoft.com/office/drawing/2014/main" id="{D62F18F0-D93C-4C34-B8AD-3194C7D7E044}"/>
              </a:ext>
            </a:extLst>
          </p:cNvPr>
          <p:cNvSpPr>
            <a:spLocks noGrp="1"/>
          </p:cNvSpPr>
          <p:nvPr/>
        </p:nvSpPr>
        <p:spPr>
          <a:xfrm>
            <a:off x="8284464" y="4681728"/>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harel-org-02-root and aws-devTest-digital grew on EC2 and S3</a:t>
            </a:r>
            <a:endParaRPr sz="1250"/>
          </a:p>
        </p:txBody>
      </p:sp>
      <p:sp>
        <p:nvSpPr>
          <p:cNvPr id="22" name="Shape 19">
            <a:extLst>
              <a:ext uri="{FF2B5EF4-FFF2-40B4-BE49-F238E27FC236}">
                <a16:creationId xmlns:a16="http://schemas.microsoft.com/office/drawing/2014/main" id="{A3196581-FFBF-4A58-8DA0-86B07C830BD8}"/>
              </a:ext>
            </a:extLst>
          </p:cNvPr>
          <p:cNvSpPr>
            <a:spLocks noGrp="1"/>
          </p:cNvSpPr>
          <p:nvPr/>
        </p:nvSpPr>
        <p:spPr>
          <a:xfrm>
            <a:off x="8110728" y="5330952"/>
            <a:ext cx="64008" cy="64008"/>
          </a:xfrm>
          <a:prstGeom prst="rect">
            <a:avLst/>
          </a:prstGeom>
          <a:solidFill>
            <a:srgbClr val="FF9F43"/>
          </a:solidFill>
          <a:ln w="12700">
            <a:solidFill>
              <a:srgbClr val="FF9F43"/>
            </a:solidFill>
            <a:prstDash val="solid"/>
          </a:ln>
        </p:spPr>
        <p:txBody>
          <a:bodyPr/>
          <a:lstStyle/>
          <a:p>
            <a:endParaRPr/>
          </a:p>
        </p:txBody>
      </p:sp>
      <p:sp>
        <p:nvSpPr>
          <p:cNvPr id="23" name="Text 20">
            <a:extLst>
              <a:ext uri="{FF2B5EF4-FFF2-40B4-BE49-F238E27FC236}">
                <a16:creationId xmlns:a16="http://schemas.microsoft.com/office/drawing/2014/main" id="{FDB039D2-20E6-4349-94CF-3C8B6295BDFE}"/>
              </a:ext>
            </a:extLst>
          </p:cNvPr>
          <p:cNvSpPr>
            <a:spLocks noGrp="1"/>
          </p:cNvSpPr>
          <p:nvPr/>
        </p:nvSpPr>
        <p:spPr>
          <a:xfrm>
            <a:off x="8284464" y="5248656"/>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ai-factory-dev carries a MAP contract credit, which is why July nets down</a:t>
            </a:r>
            <a:endParaRPr sz="1250"/>
          </a:p>
        </p:txBody>
      </p:sp>
    </p:spTree>
    <p:extLst>
      <p:ext uri="{BB962C8B-B14F-4D97-AF65-F5344CB8AC3E}">
        <p14:creationId xmlns:p14="http://schemas.microsoft.com/office/powerpoint/2010/main" val="1756823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2C75513-8C6D-47B0-AB38-C1BB0F7CD97A}"/>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89BE27E6-E40A-4B96-9A89-20384990394D}"/>
              </a:ext>
            </a:extLst>
          </p:cNvPr>
          <p:cNvSpPr>
            <a:spLocks noGrp="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a:p>
        </p:txBody>
      </p:sp>
      <p:sp>
        <p:nvSpPr>
          <p:cNvPr id="4" name="Text 2">
            <a:extLst>
              <a:ext uri="{FF2B5EF4-FFF2-40B4-BE49-F238E27FC236}">
                <a16:creationId xmlns:a16="http://schemas.microsoft.com/office/drawing/2014/main" id="{E6D58AA0-6B9C-4F22-80D3-9CFADE2A19D9}"/>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FF9F43"/>
                </a:solidFill>
                <a:latin typeface="Calibri"/>
                <a:ea typeface="Calibri"/>
                <a:cs typeface="Calibri"/>
              </a:rPr>
              <a:t>AWS / SERVICES</a:t>
            </a:r>
            <a:endParaRPr sz="1300"/>
          </a:p>
        </p:txBody>
      </p:sp>
      <p:sp>
        <p:nvSpPr>
          <p:cNvPr id="5" name="Text 3">
            <a:extLst>
              <a:ext uri="{FF2B5EF4-FFF2-40B4-BE49-F238E27FC236}">
                <a16:creationId xmlns:a16="http://schemas.microsoft.com/office/drawing/2014/main" id="{03CFEFA2-E42D-4A4B-91E0-B352DD616C2D}"/>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service name</a:t>
            </a:r>
            <a:endParaRPr sz="2800"/>
          </a:p>
        </p:txBody>
      </p:sp>
      <p:sp>
        <p:nvSpPr>
          <p:cNvPr id="6" name="Text 4">
            <a:extLst>
              <a:ext uri="{FF2B5EF4-FFF2-40B4-BE49-F238E27FC236}">
                <a16:creationId xmlns:a16="http://schemas.microsoft.com/office/drawing/2014/main" id="{D705FFA9-A30E-4E21-AB26-705645DBEA83}"/>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endParaRPr sz="1200"/>
          </a:p>
        </p:txBody>
      </p:sp>
      <p:sp>
        <p:nvSpPr>
          <p:cNvPr id="7" name="Text 5">
            <a:extLst>
              <a:ext uri="{FF2B5EF4-FFF2-40B4-BE49-F238E27FC236}">
                <a16:creationId xmlns:a16="http://schemas.microsoft.com/office/drawing/2014/main" id="{27479084-F28E-483C-BA35-6683C3B8C39C}"/>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service</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D3582600-F569-4292-90C9-4E6E2CAAC74E}"/>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A195F2C3-9697-4550-B6F0-FB2BC8458190}"/>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1" name="Text 8">
            <a:extLst>
              <a:ext uri="{FF2B5EF4-FFF2-40B4-BE49-F238E27FC236}">
                <a16:creationId xmlns:a16="http://schemas.microsoft.com/office/drawing/2014/main" id="{F455D17B-322A-4662-B24C-01F378752760}"/>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$584K</a:t>
            </a:r>
            <a:endParaRPr sz="2800"/>
          </a:p>
        </p:txBody>
      </p:sp>
      <p:sp>
        <p:nvSpPr>
          <p:cNvPr id="12" name="Text 9">
            <a:extLst>
              <a:ext uri="{FF2B5EF4-FFF2-40B4-BE49-F238E27FC236}">
                <a16:creationId xmlns:a16="http://schemas.microsoft.com/office/drawing/2014/main" id="{41AB9B4A-3576-4443-9B1B-75FE371BF9F0}"/>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FF9F43"/>
                </a:solidFill>
                <a:latin typeface="Calibri"/>
                <a:ea typeface="Calibri"/>
                <a:cs typeface="Calibri"/>
              </a:rPr>
              <a:t>flat Jan to Jul</a:t>
            </a:r>
            <a:endParaRPr sz="1200"/>
          </a:p>
        </p:txBody>
      </p:sp>
      <p:sp>
        <p:nvSpPr>
          <p:cNvPr id="13" name="Shape 10">
            <a:extLst>
              <a:ext uri="{FF2B5EF4-FFF2-40B4-BE49-F238E27FC236}">
                <a16:creationId xmlns:a16="http://schemas.microsoft.com/office/drawing/2014/main" id="{2E82C8CC-0788-497D-B48F-2CA6E0E63291}"/>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1A42E40B-987E-4823-8764-95A2001EFA77}"/>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5" name="Text 12">
            <a:extLst>
              <a:ext uri="{FF2B5EF4-FFF2-40B4-BE49-F238E27FC236}">
                <a16:creationId xmlns:a16="http://schemas.microsoft.com/office/drawing/2014/main" id="{0E3E6613-0C92-4F1B-9663-6F02C7CFEBAF}"/>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EC2 - Compute</a:t>
            </a:r>
            <a:endParaRPr sz="2800"/>
          </a:p>
        </p:txBody>
      </p:sp>
      <p:sp>
        <p:nvSpPr>
          <p:cNvPr id="16" name="Text 13">
            <a:extLst>
              <a:ext uri="{FF2B5EF4-FFF2-40B4-BE49-F238E27FC236}">
                <a16:creationId xmlns:a16="http://schemas.microsoft.com/office/drawing/2014/main" id="{9DD0148C-7228-4CC8-B6D8-3E8D3E05A993}"/>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39% of the total</a:t>
            </a:r>
            <a:endParaRPr sz="1200"/>
          </a:p>
        </p:txBody>
      </p:sp>
      <p:sp>
        <p:nvSpPr>
          <p:cNvPr id="17" name="Text 14">
            <a:extLst>
              <a:ext uri="{FF2B5EF4-FFF2-40B4-BE49-F238E27FC236}">
                <a16:creationId xmlns:a16="http://schemas.microsoft.com/office/drawing/2014/main" id="{1DB50FF4-A034-43E6-A5A9-95E2A3F6A790}"/>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15ED7224-7F1C-4DC4-8341-C2E802391D05}"/>
              </a:ext>
            </a:extLst>
          </p:cNvPr>
          <p:cNvSpPr>
            <a:spLocks noGrp="1"/>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a:p>
        </p:txBody>
      </p:sp>
      <p:sp>
        <p:nvSpPr>
          <p:cNvPr id="19" name="Text 16">
            <a:extLst>
              <a:ext uri="{FF2B5EF4-FFF2-40B4-BE49-F238E27FC236}">
                <a16:creationId xmlns:a16="http://schemas.microsoft.com/office/drawing/2014/main" id="{632CA4DC-AA25-4C53-8ECA-6FA084B6EC6A}"/>
              </a:ext>
            </a:extLst>
          </p:cNvPr>
          <p:cNvSpPr>
            <a:spLocks noGrp="1"/>
          </p:cNvSpPr>
          <p:nvPr/>
        </p:nvSpPr>
        <p:spPr>
          <a:xfrm>
            <a:off x="8284464" y="4114800"/>
            <a:ext cx="3431743" cy="18288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EC2 compute keeps rising month over month</a:t>
            </a:r>
            <a:endParaRPr sz="1250"/>
          </a:p>
        </p:txBody>
      </p:sp>
      <p:sp>
        <p:nvSpPr>
          <p:cNvPr id="20" name="Shape 17">
            <a:extLst>
              <a:ext uri="{FF2B5EF4-FFF2-40B4-BE49-F238E27FC236}">
                <a16:creationId xmlns:a16="http://schemas.microsoft.com/office/drawing/2014/main" id="{A08D57EE-FB8D-438D-90FF-695657729D71}"/>
              </a:ext>
            </a:extLst>
          </p:cNvPr>
          <p:cNvSpPr>
            <a:spLocks noGrp="1"/>
          </p:cNvSpPr>
          <p:nvPr/>
        </p:nvSpPr>
        <p:spPr>
          <a:xfrm>
            <a:off x="8110728" y="4544568"/>
            <a:ext cx="64008" cy="64008"/>
          </a:xfrm>
          <a:prstGeom prst="rect">
            <a:avLst/>
          </a:prstGeom>
          <a:solidFill>
            <a:srgbClr val="FF9F43"/>
          </a:solidFill>
          <a:ln w="12700">
            <a:solidFill>
              <a:srgbClr val="FF9F43"/>
            </a:solidFill>
            <a:prstDash val="solid"/>
          </a:ln>
        </p:spPr>
        <p:txBody>
          <a:bodyPr/>
          <a:lstStyle/>
          <a:p>
            <a:endParaRPr/>
          </a:p>
        </p:txBody>
      </p:sp>
      <p:sp>
        <p:nvSpPr>
          <p:cNvPr id="21" name="Text 18">
            <a:extLst>
              <a:ext uri="{FF2B5EF4-FFF2-40B4-BE49-F238E27FC236}">
                <a16:creationId xmlns:a16="http://schemas.microsoft.com/office/drawing/2014/main" id="{AC4882BE-5796-4E38-B1BA-28080431A33A}"/>
              </a:ext>
            </a:extLst>
          </p:cNvPr>
          <p:cNvSpPr>
            <a:spLocks noGrp="1"/>
          </p:cNvSpPr>
          <p:nvPr/>
        </p:nvSpPr>
        <p:spPr>
          <a:xfrm>
            <a:off x="8284464" y="4462272"/>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S3 storage and Glacier Deep Archive both up sharply</a:t>
            </a:r>
            <a:endParaRPr sz="1250"/>
          </a:p>
        </p:txBody>
      </p:sp>
      <p:sp>
        <p:nvSpPr>
          <p:cNvPr id="22" name="Shape 19">
            <a:extLst>
              <a:ext uri="{FF2B5EF4-FFF2-40B4-BE49-F238E27FC236}">
                <a16:creationId xmlns:a16="http://schemas.microsoft.com/office/drawing/2014/main" id="{B1A379D6-FA5C-452C-9656-84B03B1DA1C4}"/>
              </a:ext>
            </a:extLst>
          </p:cNvPr>
          <p:cNvSpPr>
            <a:spLocks noGrp="1"/>
          </p:cNvSpPr>
          <p:nvPr/>
        </p:nvSpPr>
        <p:spPr>
          <a:xfrm>
            <a:off x="8110728" y="5111496"/>
            <a:ext cx="64008" cy="64008"/>
          </a:xfrm>
          <a:prstGeom prst="rect">
            <a:avLst/>
          </a:prstGeom>
          <a:solidFill>
            <a:srgbClr val="FF9F43"/>
          </a:solidFill>
          <a:ln w="12700">
            <a:solidFill>
              <a:srgbClr val="FF9F43"/>
            </a:solidFill>
            <a:prstDash val="solid"/>
          </a:ln>
        </p:spPr>
        <p:txBody>
          <a:bodyPr/>
          <a:lstStyle/>
          <a:p>
            <a:endParaRPr/>
          </a:p>
        </p:txBody>
      </p:sp>
      <p:sp>
        <p:nvSpPr>
          <p:cNvPr id="23" name="Text 20">
            <a:extLst>
              <a:ext uri="{FF2B5EF4-FFF2-40B4-BE49-F238E27FC236}">
                <a16:creationId xmlns:a16="http://schemas.microsoft.com/office/drawing/2014/main" id="{665D1943-83A6-44D7-A48E-C96EEB98300B}"/>
              </a:ext>
            </a:extLst>
          </p:cNvPr>
          <p:cNvSpPr>
            <a:spLocks noGrp="1"/>
          </p:cNvSpPr>
          <p:nvPr/>
        </p:nvSpPr>
        <p:spPr>
          <a:xfrm>
            <a:off x="8284464" y="50292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The July dip in 'Other' is the MAP credit, not a usage change</a:t>
            </a:r>
            <a:endParaRPr sz="1250"/>
          </a:p>
        </p:txBody>
      </p:sp>
    </p:spTree>
    <p:extLst>
      <p:ext uri="{BB962C8B-B14F-4D97-AF65-F5344CB8AC3E}">
        <p14:creationId xmlns:p14="http://schemas.microsoft.com/office/powerpoint/2010/main" val="1110834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7D64CFF-817C-4C6E-8489-974691064379}"/>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2CC12D2C-846C-485E-99FD-F6532C4C2624}"/>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F6FD4416-5F0F-466D-9B22-B58EEEC82004}"/>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COST CENTRES</a:t>
            </a:r>
            <a:endParaRPr sz="1300"/>
          </a:p>
        </p:txBody>
      </p:sp>
      <p:sp>
        <p:nvSpPr>
          <p:cNvPr id="5" name="Text 3">
            <a:extLst>
              <a:ext uri="{FF2B5EF4-FFF2-40B4-BE49-F238E27FC236}">
                <a16:creationId xmlns:a16="http://schemas.microsoft.com/office/drawing/2014/main" id="{7650E12D-C356-4C25-BEF8-CE567620495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cost centre</a:t>
            </a:r>
            <a:endParaRPr sz="2800"/>
          </a:p>
        </p:txBody>
      </p:sp>
      <p:sp>
        <p:nvSpPr>
          <p:cNvPr id="6" name="Text 4">
            <a:extLst>
              <a:ext uri="{FF2B5EF4-FFF2-40B4-BE49-F238E27FC236}">
                <a16:creationId xmlns:a16="http://schemas.microsoft.com/office/drawing/2014/main" id="{669428F8-18ED-4D2E-83BF-011B32DC742E}"/>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From the CostCenter tag. Charges exclude Marketplace purchases.</a:t>
            </a:r>
            <a:endParaRPr sz="1200"/>
          </a:p>
        </p:txBody>
      </p:sp>
      <p:sp>
        <p:nvSpPr>
          <p:cNvPr id="7" name="Text 5">
            <a:extLst>
              <a:ext uri="{FF2B5EF4-FFF2-40B4-BE49-F238E27FC236}">
                <a16:creationId xmlns:a16="http://schemas.microsoft.com/office/drawing/2014/main" id="{20ED73AD-1249-4C1C-8D7C-7C544D82EC99}"/>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cost centre</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86FE6320-573E-4CE7-A890-FF45EFF88CC2}"/>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800EC43E-B147-4D86-B1E3-C4904B8E61B1}"/>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1" name="Text 8">
            <a:extLst>
              <a:ext uri="{FF2B5EF4-FFF2-40B4-BE49-F238E27FC236}">
                <a16:creationId xmlns:a16="http://schemas.microsoft.com/office/drawing/2014/main" id="{8B017769-81FC-42E0-8F62-242ECD0804D9}"/>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$1.12M</a:t>
            </a:r>
            <a:endParaRPr sz="2800"/>
          </a:p>
        </p:txBody>
      </p:sp>
      <p:sp>
        <p:nvSpPr>
          <p:cNvPr id="12" name="Text 9">
            <a:extLst>
              <a:ext uri="{FF2B5EF4-FFF2-40B4-BE49-F238E27FC236}">
                <a16:creationId xmlns:a16="http://schemas.microsoft.com/office/drawing/2014/main" id="{01054849-5415-4319-B964-A0360EFDB6BB}"/>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+19% Jan to Jul</a:t>
            </a:r>
            <a:endParaRPr sz="1200"/>
          </a:p>
        </p:txBody>
      </p:sp>
      <p:sp>
        <p:nvSpPr>
          <p:cNvPr id="13" name="Shape 10">
            <a:extLst>
              <a:ext uri="{FF2B5EF4-FFF2-40B4-BE49-F238E27FC236}">
                <a16:creationId xmlns:a16="http://schemas.microsoft.com/office/drawing/2014/main" id="{CF79D828-2D35-4FDE-9B78-74371B64D2F9}"/>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6BA1C3DA-F6A8-4D91-95F1-8C36E1B2A6CE}"/>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COST CENTRE</a:t>
            </a:r>
            <a:endParaRPr sz="1200"/>
          </a:p>
        </p:txBody>
      </p:sp>
      <p:sp>
        <p:nvSpPr>
          <p:cNvPr id="15" name="Text 12">
            <a:extLst>
              <a:ext uri="{FF2B5EF4-FFF2-40B4-BE49-F238E27FC236}">
                <a16:creationId xmlns:a16="http://schemas.microsoft.com/office/drawing/2014/main" id="{5BCFCEF9-E35A-41EB-9E47-307D64C4B5A0}"/>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datacloud</a:t>
            </a:r>
            <a:endParaRPr sz="2800"/>
          </a:p>
        </p:txBody>
      </p:sp>
      <p:sp>
        <p:nvSpPr>
          <p:cNvPr id="16" name="Text 13">
            <a:extLst>
              <a:ext uri="{FF2B5EF4-FFF2-40B4-BE49-F238E27FC236}">
                <a16:creationId xmlns:a16="http://schemas.microsoft.com/office/drawing/2014/main" id="{1FB2C6F7-8C1E-4931-ADF4-E5372127EFC2}"/>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30% of the total</a:t>
            </a:r>
            <a:endParaRPr sz="1200"/>
          </a:p>
        </p:txBody>
      </p:sp>
      <p:sp>
        <p:nvSpPr>
          <p:cNvPr id="17" name="Text 14">
            <a:extLst>
              <a:ext uri="{FF2B5EF4-FFF2-40B4-BE49-F238E27FC236}">
                <a16:creationId xmlns:a16="http://schemas.microsoft.com/office/drawing/2014/main" id="{BE7E836D-F529-4225-BC2B-C6179CA40419}"/>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154B6B03-8FE1-40F5-BA09-DE0549830F1D}"/>
              </a:ext>
            </a:extLst>
          </p:cNvPr>
          <p:cNvSpPr>
            <a:spLocks noGrp="1"/>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a:p>
        </p:txBody>
      </p:sp>
      <p:sp>
        <p:nvSpPr>
          <p:cNvPr id="19" name="Text 16">
            <a:extLst>
              <a:ext uri="{FF2B5EF4-FFF2-40B4-BE49-F238E27FC236}">
                <a16:creationId xmlns:a16="http://schemas.microsoft.com/office/drawing/2014/main" id="{307BD53F-BA3B-4604-BA93-217E6C67A217}"/>
              </a:ext>
            </a:extLst>
          </p:cNvPr>
          <p:cNvSpPr>
            <a:spLocks noGrp="1"/>
          </p:cNvSpPr>
          <p:nvPr/>
        </p:nvSpPr>
        <p:spPr>
          <a:xfrm>
            <a:off x="8284464" y="4114800"/>
            <a:ext cx="3431743" cy="18288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cloudops, datacloud and cloudit all up</a:t>
            </a:r>
            <a:endParaRPr sz="1250"/>
          </a:p>
        </p:txBody>
      </p:sp>
      <p:sp>
        <p:nvSpPr>
          <p:cNvPr id="20" name="Shape 17">
            <a:extLst>
              <a:ext uri="{FF2B5EF4-FFF2-40B4-BE49-F238E27FC236}">
                <a16:creationId xmlns:a16="http://schemas.microsoft.com/office/drawing/2014/main" id="{8195899E-7E43-443A-A77C-4EDF5EA64840}"/>
              </a:ext>
            </a:extLst>
          </p:cNvPr>
          <p:cNvSpPr>
            <a:spLocks noGrp="1"/>
          </p:cNvSpPr>
          <p:nvPr/>
        </p:nvSpPr>
        <p:spPr>
          <a:xfrm>
            <a:off x="8110728" y="4544568"/>
            <a:ext cx="64008" cy="64008"/>
          </a:xfrm>
          <a:prstGeom prst="rect">
            <a:avLst/>
          </a:prstGeom>
          <a:solidFill>
            <a:srgbClr val="2F8CFF"/>
          </a:solidFill>
          <a:ln w="12700">
            <a:solidFill>
              <a:srgbClr val="2F8CFF"/>
            </a:solidFill>
            <a:prstDash val="solid"/>
          </a:ln>
        </p:spPr>
        <p:txBody>
          <a:bodyPr/>
          <a:lstStyle/>
          <a:p>
            <a:endParaRPr/>
          </a:p>
        </p:txBody>
      </p:sp>
      <p:sp>
        <p:nvSpPr>
          <p:cNvPr id="21" name="Text 18">
            <a:extLst>
              <a:ext uri="{FF2B5EF4-FFF2-40B4-BE49-F238E27FC236}">
                <a16:creationId xmlns:a16="http://schemas.microsoft.com/office/drawing/2014/main" id="{CFA79755-38CC-45F2-A1B6-6833B982893C}"/>
              </a:ext>
            </a:extLst>
          </p:cNvPr>
          <p:cNvSpPr>
            <a:spLocks noGrp="1"/>
          </p:cNvSpPr>
          <p:nvPr/>
        </p:nvSpPr>
        <p:spPr>
          <a:xfrm>
            <a:off x="8284464" y="4462272"/>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AI Factory is the fastest-growing centre in the period</a:t>
            </a:r>
            <a:endParaRPr sz="1250"/>
          </a:p>
        </p:txBody>
      </p:sp>
      <p:sp>
        <p:nvSpPr>
          <p:cNvPr id="22" name="Shape 19">
            <a:extLst>
              <a:ext uri="{FF2B5EF4-FFF2-40B4-BE49-F238E27FC236}">
                <a16:creationId xmlns:a16="http://schemas.microsoft.com/office/drawing/2014/main" id="{0894529E-F0B0-4A02-BF07-D8C4A1BEAA28}"/>
              </a:ext>
            </a:extLst>
          </p:cNvPr>
          <p:cNvSpPr>
            <a:spLocks noGrp="1"/>
          </p:cNvSpPr>
          <p:nvPr/>
        </p:nvSpPr>
        <p:spPr>
          <a:xfrm>
            <a:off x="8110728" y="5111496"/>
            <a:ext cx="64008" cy="64008"/>
          </a:xfrm>
          <a:prstGeom prst="rect">
            <a:avLst/>
          </a:prstGeom>
          <a:solidFill>
            <a:srgbClr val="2F8CFF"/>
          </a:solidFill>
          <a:ln w="12700">
            <a:solidFill>
              <a:srgbClr val="2F8CFF"/>
            </a:solidFill>
            <a:prstDash val="solid"/>
          </a:ln>
        </p:spPr>
        <p:txBody>
          <a:bodyPr/>
          <a:lstStyle/>
          <a:p>
            <a:endParaRPr/>
          </a:p>
        </p:txBody>
      </p:sp>
      <p:sp>
        <p:nvSpPr>
          <p:cNvPr id="23" name="Text 20">
            <a:extLst>
              <a:ext uri="{FF2B5EF4-FFF2-40B4-BE49-F238E27FC236}">
                <a16:creationId xmlns:a16="http://schemas.microsoft.com/office/drawing/2014/main" id="{FB8DC710-6725-475B-B615-4FC7DF9F700B}"/>
              </a:ext>
            </a:extLst>
          </p:cNvPr>
          <p:cNvSpPr>
            <a:spLocks noGrp="1"/>
          </p:cNvSpPr>
          <p:nvPr/>
        </p:nvSpPr>
        <p:spPr>
          <a:xfrm>
            <a:off x="8284464" y="50292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Risk Agility and Actuary fell back after Q1</a:t>
            </a:r>
            <a:endParaRPr sz="1250"/>
          </a:p>
        </p:txBody>
      </p:sp>
    </p:spTree>
    <p:extLst>
      <p:ext uri="{BB962C8B-B14F-4D97-AF65-F5344CB8AC3E}">
        <p14:creationId xmlns:p14="http://schemas.microsoft.com/office/powerpoint/2010/main" val="494970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89751AF-008E-4050-8806-0E0CDFBC99D7}"/>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A62F779C-0F10-4E18-8BD5-68F9F70ED381}"/>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286EB1FE-195A-4EC1-9C5F-87407A1CB85D}"/>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SERVICES</a:t>
            </a:r>
            <a:endParaRPr sz="1300"/>
          </a:p>
        </p:txBody>
      </p:sp>
      <p:sp>
        <p:nvSpPr>
          <p:cNvPr id="5" name="Text 3">
            <a:extLst>
              <a:ext uri="{FF2B5EF4-FFF2-40B4-BE49-F238E27FC236}">
                <a16:creationId xmlns:a16="http://schemas.microsoft.com/office/drawing/2014/main" id="{56C00C8C-5C29-4777-A587-13A115F04890}"/>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Consumption by service name</a:t>
            </a:r>
            <a:endParaRPr sz="2800"/>
          </a:p>
        </p:txBody>
      </p:sp>
      <p:sp>
        <p:nvSpPr>
          <p:cNvPr id="6" name="Text 4">
            <a:extLst>
              <a:ext uri="{FF2B5EF4-FFF2-40B4-BE49-F238E27FC236}">
                <a16:creationId xmlns:a16="http://schemas.microsoft.com/office/drawing/2014/main" id="{C18392A3-90A6-466B-B0A2-358E44FE466E}"/>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Same total, cut by service. Charges exclude Marketplace purchases.</a:t>
            </a:r>
            <a:endParaRPr sz="1200"/>
          </a:p>
        </p:txBody>
      </p:sp>
      <p:sp>
        <p:nvSpPr>
          <p:cNvPr id="7" name="Text 5">
            <a:extLst>
              <a:ext uri="{FF2B5EF4-FFF2-40B4-BE49-F238E27FC236}">
                <a16:creationId xmlns:a16="http://schemas.microsoft.com/office/drawing/2014/main" id="{78BEEE33-A909-473C-A53C-5892FE02D029}"/>
              </a:ext>
            </a:extLst>
          </p:cNvPr>
          <p:cNvSpPr>
            <a:spLocks noGrp="1"/>
          </p:cNvSpPr>
          <p:nvPr/>
        </p:nvSpPr>
        <p:spPr>
          <a:xfrm>
            <a:off x="457200" y="1234440"/>
            <a:ext cx="7360920"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Monthly spend by service</a:t>
            </a:r>
            <a:endParaRPr sz="1500"/>
          </a:p>
        </p:txBody>
      </p:sp>
      <p:graphicFrame>
        <p:nvGraphicFramePr>
          <p:cNvPr id="31"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a:extLst>
              <a:ext uri="{FF2B5EF4-FFF2-40B4-BE49-F238E27FC236}">
                <a16:creationId xmlns:a16="http://schemas.microsoft.com/office/drawing/2014/main" id="{7A9FEBBA-79C9-4C33-83A0-969204AEB96B}"/>
              </a:ext>
            </a:extLst>
          </p:cNvPr>
          <p:cNvSpPr>
            <a:spLocks noGrp="1"/>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0" name="Text 7">
            <a:extLst>
              <a:ext uri="{FF2B5EF4-FFF2-40B4-BE49-F238E27FC236}">
                <a16:creationId xmlns:a16="http://schemas.microsoft.com/office/drawing/2014/main" id="{8BEE7D71-15CA-497F-BC06-F61B6E41D4D8}"/>
              </a:ext>
            </a:extLst>
          </p:cNvPr>
          <p:cNvSpPr>
            <a:spLocks noGrp="1"/>
          </p:cNvSpPr>
          <p:nvPr/>
        </p:nvSpPr>
        <p:spPr>
          <a:xfrm>
            <a:off x="8293608" y="1325880"/>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1" name="Text 8">
            <a:extLst>
              <a:ext uri="{FF2B5EF4-FFF2-40B4-BE49-F238E27FC236}">
                <a16:creationId xmlns:a16="http://schemas.microsoft.com/office/drawing/2014/main" id="{90098472-11B3-4259-93C7-EAD1706D1CC3}"/>
              </a:ext>
            </a:extLst>
          </p:cNvPr>
          <p:cNvSpPr>
            <a:spLocks noGrp="1"/>
          </p:cNvSpPr>
          <p:nvPr/>
        </p:nvSpPr>
        <p:spPr>
          <a:xfrm>
            <a:off x="8293608" y="1527048"/>
            <a:ext cx="3239719"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$1.12M</a:t>
            </a:r>
            <a:endParaRPr sz="2800"/>
          </a:p>
        </p:txBody>
      </p:sp>
      <p:sp>
        <p:nvSpPr>
          <p:cNvPr id="12" name="Text 9">
            <a:extLst>
              <a:ext uri="{FF2B5EF4-FFF2-40B4-BE49-F238E27FC236}">
                <a16:creationId xmlns:a16="http://schemas.microsoft.com/office/drawing/2014/main" id="{96EB73C8-6761-45CE-942B-C513EAD4EC15}"/>
              </a:ext>
            </a:extLst>
          </p:cNvPr>
          <p:cNvSpPr>
            <a:spLocks noGrp="1"/>
          </p:cNvSpPr>
          <p:nvPr/>
        </p:nvSpPr>
        <p:spPr>
          <a:xfrm>
            <a:off x="8293608" y="1929384"/>
            <a:ext cx="3239719"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+19% Jan to Jul</a:t>
            </a:r>
            <a:endParaRPr sz="1200"/>
          </a:p>
        </p:txBody>
      </p:sp>
      <p:sp>
        <p:nvSpPr>
          <p:cNvPr id="13" name="Shape 10">
            <a:extLst>
              <a:ext uri="{FF2B5EF4-FFF2-40B4-BE49-F238E27FC236}">
                <a16:creationId xmlns:a16="http://schemas.microsoft.com/office/drawing/2014/main" id="{5518599B-41D6-48D6-848E-4F7852FE1054}"/>
              </a:ext>
            </a:extLst>
          </p:cNvPr>
          <p:cNvSpPr>
            <a:spLocks noGrp="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a:p>
        </p:txBody>
      </p:sp>
      <p:sp>
        <p:nvSpPr>
          <p:cNvPr id="14" name="Text 11">
            <a:extLst>
              <a:ext uri="{FF2B5EF4-FFF2-40B4-BE49-F238E27FC236}">
                <a16:creationId xmlns:a16="http://schemas.microsoft.com/office/drawing/2014/main" id="{043C94DA-452F-4418-81E1-F7E286DF0B65}"/>
              </a:ext>
            </a:extLst>
          </p:cNvPr>
          <p:cNvSpPr>
            <a:spLocks noGrp="1"/>
          </p:cNvSpPr>
          <p:nvPr/>
        </p:nvSpPr>
        <p:spPr>
          <a:xfrm>
            <a:off x="8293608" y="2551176"/>
            <a:ext cx="3239719"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5" name="Text 12">
            <a:extLst>
              <a:ext uri="{FF2B5EF4-FFF2-40B4-BE49-F238E27FC236}">
                <a16:creationId xmlns:a16="http://schemas.microsoft.com/office/drawing/2014/main" id="{39C1751D-1801-4A1D-9EF3-BE582E394BFC}"/>
              </a:ext>
            </a:extLst>
          </p:cNvPr>
          <p:cNvSpPr>
            <a:spLocks noGrp="1"/>
          </p:cNvSpPr>
          <p:nvPr/>
        </p:nvSpPr>
        <p:spPr>
          <a:xfrm>
            <a:off x="8293608" y="2752344"/>
            <a:ext cx="3239719" cy="438912"/>
          </a:xfrm>
          <a:prstGeom prst="rect">
            <a:avLst/>
          </a:prstGeom>
          <a:noFill/>
        </p:spPr>
        <p:txBody>
          <a:bodyPr wrap="square" lIns="0" tIns="0" rIns="0" bIns="0" anchor="ctr"/>
          <a:lstStyle/>
          <a:p>
            <a:pPr marL="0" indent="0">
              <a:buNone/>
            </a:pPr>
            <a:r>
              <a:rPr sz="2613" b="1">
                <a:solidFill>
                  <a:srgbClr val="F4F7FB"/>
                </a:solidFill>
                <a:latin typeface="Calibri"/>
                <a:ea typeface="Calibri"/>
                <a:cs typeface="Calibri"/>
              </a:rPr>
              <a:t>Virtual Machines</a:t>
            </a:r>
            <a:endParaRPr sz="2613"/>
          </a:p>
        </p:txBody>
      </p:sp>
      <p:sp>
        <p:nvSpPr>
          <p:cNvPr id="16" name="Text 13">
            <a:extLst>
              <a:ext uri="{FF2B5EF4-FFF2-40B4-BE49-F238E27FC236}">
                <a16:creationId xmlns:a16="http://schemas.microsoft.com/office/drawing/2014/main" id="{185D3231-5EF2-4FC0-82DB-F4550FA6C0DC}"/>
              </a:ext>
            </a:extLst>
          </p:cNvPr>
          <p:cNvSpPr>
            <a:spLocks noGrp="1"/>
          </p:cNvSpPr>
          <p:nvPr/>
        </p:nvSpPr>
        <p:spPr>
          <a:xfrm>
            <a:off x="8293608" y="3154680"/>
            <a:ext cx="3239719"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33% of the total</a:t>
            </a:r>
            <a:endParaRPr sz="1200"/>
          </a:p>
        </p:txBody>
      </p:sp>
      <p:sp>
        <p:nvSpPr>
          <p:cNvPr id="17" name="Text 14">
            <a:extLst>
              <a:ext uri="{FF2B5EF4-FFF2-40B4-BE49-F238E27FC236}">
                <a16:creationId xmlns:a16="http://schemas.microsoft.com/office/drawing/2014/main" id="{500F3F42-6B27-473B-B087-B71234614BA3}"/>
              </a:ext>
            </a:extLst>
          </p:cNvPr>
          <p:cNvSpPr>
            <a:spLocks noGrp="1"/>
          </p:cNvSpPr>
          <p:nvPr/>
        </p:nvSpPr>
        <p:spPr>
          <a:xfrm>
            <a:off x="8110728" y="3822192"/>
            <a:ext cx="3605479" cy="219456"/>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WHAT MOVED</a:t>
            </a:r>
            <a:endParaRPr sz="1200"/>
          </a:p>
        </p:txBody>
      </p:sp>
      <p:sp>
        <p:nvSpPr>
          <p:cNvPr id="18" name="Shape 15">
            <a:extLst>
              <a:ext uri="{FF2B5EF4-FFF2-40B4-BE49-F238E27FC236}">
                <a16:creationId xmlns:a16="http://schemas.microsoft.com/office/drawing/2014/main" id="{D3A1E646-D5D3-41E4-B3B5-0FD0BDFECB0E}"/>
              </a:ext>
            </a:extLst>
          </p:cNvPr>
          <p:cNvSpPr>
            <a:spLocks noGrp="1"/>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a:p>
        </p:txBody>
      </p:sp>
      <p:sp>
        <p:nvSpPr>
          <p:cNvPr id="19" name="Text 16">
            <a:extLst>
              <a:ext uri="{FF2B5EF4-FFF2-40B4-BE49-F238E27FC236}">
                <a16:creationId xmlns:a16="http://schemas.microsoft.com/office/drawing/2014/main" id="{962B33C1-946B-416C-8C28-B229953B302F}"/>
              </a:ext>
            </a:extLst>
          </p:cNvPr>
          <p:cNvSpPr>
            <a:spLocks noGrp="1"/>
          </p:cNvSpPr>
          <p:nvPr/>
        </p:nvSpPr>
        <p:spPr>
          <a:xfrm>
            <a:off x="8284464" y="4114800"/>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GitHub and Cowork drive most of the July step-up</a:t>
            </a:r>
            <a:endParaRPr sz="1250"/>
          </a:p>
        </p:txBody>
      </p:sp>
      <p:sp>
        <p:nvSpPr>
          <p:cNvPr id="20" name="Shape 17">
            <a:extLst>
              <a:ext uri="{FF2B5EF4-FFF2-40B4-BE49-F238E27FC236}">
                <a16:creationId xmlns:a16="http://schemas.microsoft.com/office/drawing/2014/main" id="{5B9EA5A0-6945-4BF7-B5A6-856F2E374696}"/>
              </a:ext>
            </a:extLst>
          </p:cNvPr>
          <p:cNvSpPr>
            <a:spLocks noGrp="1"/>
          </p:cNvSpPr>
          <p:nvPr/>
        </p:nvSpPr>
        <p:spPr>
          <a:xfrm>
            <a:off x="8110728" y="4764024"/>
            <a:ext cx="64008" cy="64008"/>
          </a:xfrm>
          <a:prstGeom prst="rect">
            <a:avLst/>
          </a:prstGeom>
          <a:solidFill>
            <a:srgbClr val="2F8CFF"/>
          </a:solidFill>
          <a:ln w="12700">
            <a:solidFill>
              <a:srgbClr val="2F8CFF"/>
            </a:solidFill>
            <a:prstDash val="solid"/>
          </a:ln>
        </p:spPr>
        <p:txBody>
          <a:bodyPr/>
          <a:lstStyle/>
          <a:p>
            <a:endParaRPr/>
          </a:p>
        </p:txBody>
      </p:sp>
      <p:sp>
        <p:nvSpPr>
          <p:cNvPr id="21" name="Text 18">
            <a:extLst>
              <a:ext uri="{FF2B5EF4-FFF2-40B4-BE49-F238E27FC236}">
                <a16:creationId xmlns:a16="http://schemas.microsoft.com/office/drawing/2014/main" id="{22D4D714-007E-4D7A-A15B-259E5F780C64}"/>
              </a:ext>
            </a:extLst>
          </p:cNvPr>
          <p:cNvSpPr>
            <a:spLocks noGrp="1"/>
          </p:cNvSpPr>
          <p:nvPr/>
        </p:nvSpPr>
        <p:spPr>
          <a:xfrm>
            <a:off x="8284464" y="4681728"/>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Foundry Models and Foundry Tools rise every month from April</a:t>
            </a:r>
            <a:endParaRPr sz="1250"/>
          </a:p>
        </p:txBody>
      </p:sp>
      <p:sp>
        <p:nvSpPr>
          <p:cNvPr id="22" name="Shape 19">
            <a:extLst>
              <a:ext uri="{FF2B5EF4-FFF2-40B4-BE49-F238E27FC236}">
                <a16:creationId xmlns:a16="http://schemas.microsoft.com/office/drawing/2014/main" id="{61275110-E131-4CB8-9C57-69E9F5A36704}"/>
              </a:ext>
            </a:extLst>
          </p:cNvPr>
          <p:cNvSpPr>
            <a:spLocks noGrp="1"/>
          </p:cNvSpPr>
          <p:nvPr/>
        </p:nvSpPr>
        <p:spPr>
          <a:xfrm>
            <a:off x="8110728" y="5330952"/>
            <a:ext cx="64008" cy="64008"/>
          </a:xfrm>
          <a:prstGeom prst="rect">
            <a:avLst/>
          </a:prstGeom>
          <a:solidFill>
            <a:srgbClr val="2F8CFF"/>
          </a:solidFill>
          <a:ln w="12700">
            <a:solidFill>
              <a:srgbClr val="2F8CFF"/>
            </a:solidFill>
            <a:prstDash val="solid"/>
          </a:ln>
        </p:spPr>
        <p:txBody>
          <a:bodyPr/>
          <a:lstStyle/>
          <a:p>
            <a:endParaRPr/>
          </a:p>
        </p:txBody>
      </p:sp>
      <p:sp>
        <p:nvSpPr>
          <p:cNvPr id="23" name="Text 20">
            <a:extLst>
              <a:ext uri="{FF2B5EF4-FFF2-40B4-BE49-F238E27FC236}">
                <a16:creationId xmlns:a16="http://schemas.microsoft.com/office/drawing/2014/main" id="{BA114222-7F50-47C8-8D12-1D8BE2C9DC57}"/>
              </a:ext>
            </a:extLst>
          </p:cNvPr>
          <p:cNvSpPr>
            <a:spLocks noGrp="1"/>
          </p:cNvSpPr>
          <p:nvPr/>
        </p:nvSpPr>
        <p:spPr>
          <a:xfrm>
            <a:off x="8284464" y="5248656"/>
            <a:ext cx="3431743" cy="365760"/>
          </a:xfrm>
          <a:prstGeom prst="rect">
            <a:avLst/>
          </a:prstGeom>
          <a:noFill/>
        </p:spPr>
        <p:txBody>
          <a:bodyPr wrap="square" lIns="0" tIns="0" rIns="0" bIns="0" anchor="t"/>
          <a:lstStyle/>
          <a:p>
            <a:pPr marL="0" indent="0">
              <a:lnSpc>
                <a:spcPct val="110000"/>
              </a:lnSpc>
              <a:buNone/>
            </a:pPr>
            <a:r>
              <a:rPr sz="1250">
                <a:solidFill>
                  <a:srgbClr val="F4F7FB"/>
                </a:solidFill>
                <a:latin typeface="Calibri"/>
                <a:ea typeface="Calibri"/>
                <a:cs typeface="Calibri"/>
              </a:rPr>
              <a:t>Virtual Network, Log Analytics and Sentinel add to the base</a:t>
            </a:r>
            <a:endParaRPr sz="1250"/>
          </a:p>
        </p:txBody>
      </p:sp>
    </p:spTree>
    <p:extLst>
      <p:ext uri="{BB962C8B-B14F-4D97-AF65-F5344CB8AC3E}">
        <p14:creationId xmlns:p14="http://schemas.microsoft.com/office/powerpoint/2010/main" val="1039688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7EA08E0-6A08-41B1-8DEB-142E050DDCF6}"/>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6A5D318A-85A0-4887-915B-216EDD9CC716}"/>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B6764723-0DA6-4221-8598-15836E382B1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DATACLOUD</a:t>
            </a:r>
            <a:endParaRPr sz="1300"/>
          </a:p>
        </p:txBody>
      </p:sp>
      <p:sp>
        <p:nvSpPr>
          <p:cNvPr id="5" name="Text 3">
            <a:extLst>
              <a:ext uri="{FF2B5EF4-FFF2-40B4-BE49-F238E27FC236}">
                <a16:creationId xmlns:a16="http://schemas.microsoft.com/office/drawing/2014/main" id="{403CE1E0-E151-49BA-8019-B0A8C86A68F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Cost centre: DataCloud</a:t>
            </a:r>
            <a:endParaRPr sz="2800"/>
          </a:p>
        </p:txBody>
      </p:sp>
      <p:sp>
        <p:nvSpPr>
          <p:cNvPr id="6" name="Text 4">
            <a:extLst>
              <a:ext uri="{FF2B5EF4-FFF2-40B4-BE49-F238E27FC236}">
                <a16:creationId xmlns:a16="http://schemas.microsoft.com/office/drawing/2014/main" id="{D19F441F-6155-43CA-8CC5-E575BE736DC4}"/>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The largest Azure cost centre, by service and by subscription.</a:t>
            </a:r>
            <a:endParaRPr sz="1200"/>
          </a:p>
        </p:txBody>
      </p:sp>
      <p:sp>
        <p:nvSpPr>
          <p:cNvPr id="7" name="Text 5">
            <a:extLst>
              <a:ext uri="{FF2B5EF4-FFF2-40B4-BE49-F238E27FC236}">
                <a16:creationId xmlns:a16="http://schemas.microsoft.com/office/drawing/2014/main" id="{A09C66BD-66BE-4445-BAD5-81BCA3DA397B}"/>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Databricks drops to zero from May. That is the reserved capacity purchase taking over, not a workload stopping. Foundry Models and Foundry Tools take its place as the growth line.</a:t>
            </a:r>
            <a:endParaRPr sz="1200"/>
          </a:p>
        </p:txBody>
      </p:sp>
      <p:sp>
        <p:nvSpPr>
          <p:cNvPr id="8" name="Shape 6">
            <a:extLst>
              <a:ext uri="{FF2B5EF4-FFF2-40B4-BE49-F238E27FC236}">
                <a16:creationId xmlns:a16="http://schemas.microsoft.com/office/drawing/2014/main" id="{629EAAA9-BB78-4CC3-BF7B-BC65211F6E44}"/>
              </a:ext>
            </a:extLst>
          </p:cNvPr>
          <p:cNvSpPr>
            <a:spLocks noGrp="1"/>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ED14AF2A-B4DF-4802-8849-F4FDCC3F79CE}"/>
              </a:ext>
            </a:extLst>
          </p:cNvPr>
          <p:cNvSpPr>
            <a:spLocks noGrp="1"/>
          </p:cNvSpPr>
          <p:nvPr/>
        </p:nvSpPr>
        <p:spPr>
          <a:xfrm>
            <a:off x="658368"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0" name="Text 8">
            <a:extLst>
              <a:ext uri="{FF2B5EF4-FFF2-40B4-BE49-F238E27FC236}">
                <a16:creationId xmlns:a16="http://schemas.microsoft.com/office/drawing/2014/main" id="{0FA76D10-7CA4-4A14-A5B4-C6EA2CE94A54}"/>
              </a:ext>
            </a:extLst>
          </p:cNvPr>
          <p:cNvSpPr>
            <a:spLocks noGrp="1"/>
          </p:cNvSpPr>
          <p:nvPr/>
        </p:nvSpPr>
        <p:spPr>
          <a:xfrm>
            <a:off x="658368"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$339K</a:t>
            </a:r>
            <a:endParaRPr sz="2800"/>
          </a:p>
        </p:txBody>
      </p:sp>
      <p:sp>
        <p:nvSpPr>
          <p:cNvPr id="11" name="Text 9">
            <a:extLst>
              <a:ext uri="{FF2B5EF4-FFF2-40B4-BE49-F238E27FC236}">
                <a16:creationId xmlns:a16="http://schemas.microsoft.com/office/drawing/2014/main" id="{88E208EA-C0CC-472F-AF92-B983F0AFBDE5}"/>
              </a:ext>
            </a:extLst>
          </p:cNvPr>
          <p:cNvSpPr>
            <a:spLocks noGrp="1"/>
          </p:cNvSpPr>
          <p:nvPr/>
        </p:nvSpPr>
        <p:spPr>
          <a:xfrm>
            <a:off x="658368" y="1883664"/>
            <a:ext cx="3204362"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+3% Jan to Jul</a:t>
            </a:r>
            <a:endParaRPr sz="1200"/>
          </a:p>
        </p:txBody>
      </p:sp>
      <p:sp>
        <p:nvSpPr>
          <p:cNvPr id="12" name="Shape 10">
            <a:extLst>
              <a:ext uri="{FF2B5EF4-FFF2-40B4-BE49-F238E27FC236}">
                <a16:creationId xmlns:a16="http://schemas.microsoft.com/office/drawing/2014/main" id="{04F985A0-76B3-427E-BB0F-595D781F7297}"/>
              </a:ext>
            </a:extLst>
          </p:cNvPr>
          <p:cNvSpPr>
            <a:spLocks noGrp="1"/>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EC88F483-2095-480B-879C-FA6B93BCBE03}"/>
              </a:ext>
            </a:extLst>
          </p:cNvPr>
          <p:cNvSpPr>
            <a:spLocks noGrp="1"/>
          </p:cNvSpPr>
          <p:nvPr/>
        </p:nvSpPr>
        <p:spPr>
          <a:xfrm>
            <a:off x="4493666"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SUBSCRIPTION</a:t>
            </a:r>
            <a:endParaRPr sz="1200"/>
          </a:p>
        </p:txBody>
      </p:sp>
      <p:sp>
        <p:nvSpPr>
          <p:cNvPr id="14" name="Text 12">
            <a:extLst>
              <a:ext uri="{FF2B5EF4-FFF2-40B4-BE49-F238E27FC236}">
                <a16:creationId xmlns:a16="http://schemas.microsoft.com/office/drawing/2014/main" id="{276DC9A7-B546-4840-8F6B-409A0D77861E}"/>
              </a:ext>
            </a:extLst>
          </p:cNvPr>
          <p:cNvSpPr>
            <a:spLocks noGrp="1"/>
          </p:cNvSpPr>
          <p:nvPr/>
        </p:nvSpPr>
        <p:spPr>
          <a:xfrm>
            <a:off x="4493666"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DataCloud prod</a:t>
            </a:r>
            <a:endParaRPr sz="2800"/>
          </a:p>
        </p:txBody>
      </p:sp>
      <p:sp>
        <p:nvSpPr>
          <p:cNvPr id="15" name="Text 13">
            <a:extLst>
              <a:ext uri="{FF2B5EF4-FFF2-40B4-BE49-F238E27FC236}">
                <a16:creationId xmlns:a16="http://schemas.microsoft.com/office/drawing/2014/main" id="{2F7FACCA-E46A-4DA0-86E8-1C8A45DF24D0}"/>
              </a:ext>
            </a:extLst>
          </p:cNvPr>
          <p:cNvSpPr>
            <a:spLocks noGrp="1"/>
          </p:cNvSpPr>
          <p:nvPr/>
        </p:nvSpPr>
        <p:spPr>
          <a:xfrm>
            <a:off x="4493666"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80% of the total</a:t>
            </a:r>
            <a:endParaRPr sz="1200"/>
          </a:p>
        </p:txBody>
      </p:sp>
      <p:sp>
        <p:nvSpPr>
          <p:cNvPr id="16" name="Shape 14">
            <a:extLst>
              <a:ext uri="{FF2B5EF4-FFF2-40B4-BE49-F238E27FC236}">
                <a16:creationId xmlns:a16="http://schemas.microsoft.com/office/drawing/2014/main" id="{191E7004-A840-4B02-9837-FDDB360996FA}"/>
              </a:ext>
            </a:extLst>
          </p:cNvPr>
          <p:cNvSpPr>
            <a:spLocks noGrp="1"/>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7" name="Text 15">
            <a:extLst>
              <a:ext uri="{FF2B5EF4-FFF2-40B4-BE49-F238E27FC236}">
                <a16:creationId xmlns:a16="http://schemas.microsoft.com/office/drawing/2014/main" id="{862CDCB5-6070-4D1D-922B-9027266A7F96}"/>
              </a:ext>
            </a:extLst>
          </p:cNvPr>
          <p:cNvSpPr>
            <a:spLocks noGrp="1"/>
          </p:cNvSpPr>
          <p:nvPr/>
        </p:nvSpPr>
        <p:spPr>
          <a:xfrm>
            <a:off x="8328965"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8" name="Text 16">
            <a:extLst>
              <a:ext uri="{FF2B5EF4-FFF2-40B4-BE49-F238E27FC236}">
                <a16:creationId xmlns:a16="http://schemas.microsoft.com/office/drawing/2014/main" id="{3074C136-E7F6-48AD-BCB5-C35F04AFF7E7}"/>
              </a:ext>
            </a:extLst>
          </p:cNvPr>
          <p:cNvSpPr>
            <a:spLocks noGrp="1"/>
          </p:cNvSpPr>
          <p:nvPr/>
        </p:nvSpPr>
        <p:spPr>
          <a:xfrm>
            <a:off x="8328965" y="1481328"/>
            <a:ext cx="3204362" cy="438912"/>
          </a:xfrm>
          <a:prstGeom prst="rect">
            <a:avLst/>
          </a:prstGeom>
          <a:noFill/>
        </p:spPr>
        <p:txBody>
          <a:bodyPr wrap="square" lIns="0" tIns="0" rIns="0" bIns="0" anchor="ctr"/>
          <a:lstStyle/>
          <a:p>
            <a:pPr marL="0" indent="0">
              <a:buNone/>
            </a:pPr>
            <a:r>
              <a:rPr sz="2584" b="1">
                <a:solidFill>
                  <a:srgbClr val="F4F7FB"/>
                </a:solidFill>
                <a:latin typeface="Calibri"/>
                <a:ea typeface="Calibri"/>
                <a:cs typeface="Calibri"/>
              </a:rPr>
              <a:t>Virtual Machines</a:t>
            </a:r>
            <a:endParaRPr sz="2584"/>
          </a:p>
        </p:txBody>
      </p:sp>
      <p:sp>
        <p:nvSpPr>
          <p:cNvPr id="19" name="Text 17">
            <a:extLst>
              <a:ext uri="{FF2B5EF4-FFF2-40B4-BE49-F238E27FC236}">
                <a16:creationId xmlns:a16="http://schemas.microsoft.com/office/drawing/2014/main" id="{9421D9B5-55F8-41D8-8C1A-9EB7E3950C18}"/>
              </a:ext>
            </a:extLst>
          </p:cNvPr>
          <p:cNvSpPr>
            <a:spLocks noGrp="1"/>
          </p:cNvSpPr>
          <p:nvPr/>
        </p:nvSpPr>
        <p:spPr>
          <a:xfrm>
            <a:off x="8328965"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20% of the total</a:t>
            </a:r>
            <a:endParaRPr sz="1200"/>
          </a:p>
        </p:txBody>
      </p:sp>
      <p:sp>
        <p:nvSpPr>
          <p:cNvPr id="20" name="Text 18">
            <a:extLst>
              <a:ext uri="{FF2B5EF4-FFF2-40B4-BE49-F238E27FC236}">
                <a16:creationId xmlns:a16="http://schemas.microsoft.com/office/drawing/2014/main" id="{BFB95CD9-1DF9-49BC-8685-EE29FD057EF7}"/>
              </a:ext>
            </a:extLst>
          </p:cNvPr>
          <p:cNvSpPr>
            <a:spLocks noGrp="1"/>
          </p:cNvSpPr>
          <p:nvPr/>
        </p:nvSpPr>
        <p:spPr>
          <a:xfrm>
            <a:off x="457200"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service</a:t>
            </a:r>
            <a:endParaRPr sz="1500"/>
          </a:p>
        </p:txBody>
      </p:sp>
      <p:graphicFrame>
        <p:nvGraphicFramePr>
          <p:cNvPr id="44"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a:extLst>
              <a:ext uri="{FF2B5EF4-FFF2-40B4-BE49-F238E27FC236}">
                <a16:creationId xmlns:a16="http://schemas.microsoft.com/office/drawing/2014/main" id="{09CEBF44-C53A-4C93-AD6F-DCA877141EA3}"/>
              </a:ext>
            </a:extLst>
          </p:cNvPr>
          <p:cNvSpPr>
            <a:spLocks noGrp="1"/>
          </p:cNvSpPr>
          <p:nvPr/>
        </p:nvSpPr>
        <p:spPr>
          <a:xfrm>
            <a:off x="6255868"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subscription</a:t>
            </a:r>
            <a:endParaRPr sz="1500"/>
          </a:p>
        </p:txBody>
      </p:sp>
      <p:graphicFrame>
        <p:nvGraphicFramePr>
          <p:cNvPr id="46"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81975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84D6DE7-5741-4ECC-888F-9784C6132BEE}"/>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2652000B-5B37-48B2-95E8-94162681C9BD}"/>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BD5DC145-4708-4FCC-9757-C328CC2C5123}"/>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SAP</a:t>
            </a:r>
            <a:endParaRPr sz="1300"/>
          </a:p>
        </p:txBody>
      </p:sp>
      <p:sp>
        <p:nvSpPr>
          <p:cNvPr id="5" name="Text 3">
            <a:extLst>
              <a:ext uri="{FF2B5EF4-FFF2-40B4-BE49-F238E27FC236}">
                <a16:creationId xmlns:a16="http://schemas.microsoft.com/office/drawing/2014/main" id="{0667A829-9739-4873-89E4-80F106B4A782}"/>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Cost centre: SAP</a:t>
            </a:r>
            <a:endParaRPr sz="2800"/>
          </a:p>
        </p:txBody>
      </p:sp>
      <p:sp>
        <p:nvSpPr>
          <p:cNvPr id="6" name="Text 4">
            <a:extLst>
              <a:ext uri="{FF2B5EF4-FFF2-40B4-BE49-F238E27FC236}">
                <a16:creationId xmlns:a16="http://schemas.microsoft.com/office/drawing/2014/main" id="{4185A978-C546-4806-8A19-A1B2F2751B9A}"/>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The most stable large workload in the estate, and the best candidate for reservations.</a:t>
            </a:r>
            <a:endParaRPr sz="1200"/>
          </a:p>
        </p:txBody>
      </p:sp>
      <p:sp>
        <p:nvSpPr>
          <p:cNvPr id="7" name="Text 5">
            <a:extLst>
              <a:ext uri="{FF2B5EF4-FFF2-40B4-BE49-F238E27FC236}">
                <a16:creationId xmlns:a16="http://schemas.microsoft.com/office/drawing/2014/main" id="{B63DE47C-FD38-4372-A98D-C3CA29E7A378}"/>
              </a:ext>
            </a:extLst>
          </p:cNvPr>
          <p:cNvSpPr>
            <a:spLocks noGrp="1"/>
          </p:cNvSpPr>
          <p:nvPr/>
        </p:nvSpPr>
        <p:spPr>
          <a:xfrm>
            <a:off x="457200" y="6345936"/>
            <a:ext cx="11277295" cy="402336"/>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Dev/Test costs more than Production every month of the period. Virtual machines are roughly three quarters of the bill and barely vary, a flat and reservable profile.</a:t>
            </a:r>
            <a:endParaRPr sz="1200"/>
          </a:p>
        </p:txBody>
      </p:sp>
      <p:sp>
        <p:nvSpPr>
          <p:cNvPr id="8" name="Shape 6">
            <a:extLst>
              <a:ext uri="{FF2B5EF4-FFF2-40B4-BE49-F238E27FC236}">
                <a16:creationId xmlns:a16="http://schemas.microsoft.com/office/drawing/2014/main" id="{940AAA05-61B9-4A84-87EC-EB545C6B0D54}"/>
              </a:ext>
            </a:extLst>
          </p:cNvPr>
          <p:cNvSpPr>
            <a:spLocks noGrp="1"/>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85269707-941E-48AC-B3D9-DF6185E8C206}"/>
              </a:ext>
            </a:extLst>
          </p:cNvPr>
          <p:cNvSpPr>
            <a:spLocks noGrp="1"/>
          </p:cNvSpPr>
          <p:nvPr/>
        </p:nvSpPr>
        <p:spPr>
          <a:xfrm>
            <a:off x="658368"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0" name="Text 8">
            <a:extLst>
              <a:ext uri="{FF2B5EF4-FFF2-40B4-BE49-F238E27FC236}">
                <a16:creationId xmlns:a16="http://schemas.microsoft.com/office/drawing/2014/main" id="{7EE90275-0D40-42DE-BF6E-A2D2C7F5E33B}"/>
              </a:ext>
            </a:extLst>
          </p:cNvPr>
          <p:cNvSpPr>
            <a:spLocks noGrp="1"/>
          </p:cNvSpPr>
          <p:nvPr/>
        </p:nvSpPr>
        <p:spPr>
          <a:xfrm>
            <a:off x="658368"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$294K</a:t>
            </a:r>
            <a:endParaRPr sz="2800"/>
          </a:p>
        </p:txBody>
      </p:sp>
      <p:sp>
        <p:nvSpPr>
          <p:cNvPr id="11" name="Text 9">
            <a:extLst>
              <a:ext uri="{FF2B5EF4-FFF2-40B4-BE49-F238E27FC236}">
                <a16:creationId xmlns:a16="http://schemas.microsoft.com/office/drawing/2014/main" id="{A0B49FB6-F844-4F5E-8835-675A32D99D70}"/>
              </a:ext>
            </a:extLst>
          </p:cNvPr>
          <p:cNvSpPr>
            <a:spLocks noGrp="1"/>
          </p:cNvSpPr>
          <p:nvPr/>
        </p:nvSpPr>
        <p:spPr>
          <a:xfrm>
            <a:off x="658368" y="1883664"/>
            <a:ext cx="3204362"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-3% Jan to Jul</a:t>
            </a:r>
            <a:endParaRPr sz="1200"/>
          </a:p>
        </p:txBody>
      </p:sp>
      <p:sp>
        <p:nvSpPr>
          <p:cNvPr id="12" name="Shape 10">
            <a:extLst>
              <a:ext uri="{FF2B5EF4-FFF2-40B4-BE49-F238E27FC236}">
                <a16:creationId xmlns:a16="http://schemas.microsoft.com/office/drawing/2014/main" id="{D377AC7A-B3B2-4E2F-A48A-AD834283CC78}"/>
              </a:ext>
            </a:extLst>
          </p:cNvPr>
          <p:cNvSpPr>
            <a:spLocks noGrp="1"/>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9A8102A3-159E-425A-9286-884770B4BB51}"/>
              </a:ext>
            </a:extLst>
          </p:cNvPr>
          <p:cNvSpPr>
            <a:spLocks noGrp="1"/>
          </p:cNvSpPr>
          <p:nvPr/>
        </p:nvSpPr>
        <p:spPr>
          <a:xfrm>
            <a:off x="4493666"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SUBSCRIPTION</a:t>
            </a:r>
            <a:endParaRPr sz="1200"/>
          </a:p>
        </p:txBody>
      </p:sp>
      <p:sp>
        <p:nvSpPr>
          <p:cNvPr id="14" name="Text 12">
            <a:extLst>
              <a:ext uri="{FF2B5EF4-FFF2-40B4-BE49-F238E27FC236}">
                <a16:creationId xmlns:a16="http://schemas.microsoft.com/office/drawing/2014/main" id="{F4FF4629-CB87-446C-9150-AAB41005CE4A}"/>
              </a:ext>
            </a:extLst>
          </p:cNvPr>
          <p:cNvSpPr>
            <a:spLocks noGrp="1"/>
          </p:cNvSpPr>
          <p:nvPr/>
        </p:nvSpPr>
        <p:spPr>
          <a:xfrm>
            <a:off x="4493666"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SAP Dev/Test</a:t>
            </a:r>
            <a:endParaRPr sz="2800"/>
          </a:p>
        </p:txBody>
      </p:sp>
      <p:sp>
        <p:nvSpPr>
          <p:cNvPr id="15" name="Text 13">
            <a:extLst>
              <a:ext uri="{FF2B5EF4-FFF2-40B4-BE49-F238E27FC236}">
                <a16:creationId xmlns:a16="http://schemas.microsoft.com/office/drawing/2014/main" id="{8EB7622D-3347-423A-B888-91090A30DD7D}"/>
              </a:ext>
            </a:extLst>
          </p:cNvPr>
          <p:cNvSpPr>
            <a:spLocks noGrp="1"/>
          </p:cNvSpPr>
          <p:nvPr/>
        </p:nvSpPr>
        <p:spPr>
          <a:xfrm>
            <a:off x="4493666"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57% of the total</a:t>
            </a:r>
            <a:endParaRPr sz="1200"/>
          </a:p>
        </p:txBody>
      </p:sp>
      <p:sp>
        <p:nvSpPr>
          <p:cNvPr id="16" name="Shape 14">
            <a:extLst>
              <a:ext uri="{FF2B5EF4-FFF2-40B4-BE49-F238E27FC236}">
                <a16:creationId xmlns:a16="http://schemas.microsoft.com/office/drawing/2014/main" id="{B277DF33-8D69-4823-BAAE-3A4EF9A929A9}"/>
              </a:ext>
            </a:extLst>
          </p:cNvPr>
          <p:cNvSpPr>
            <a:spLocks noGrp="1"/>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7" name="Text 15">
            <a:extLst>
              <a:ext uri="{FF2B5EF4-FFF2-40B4-BE49-F238E27FC236}">
                <a16:creationId xmlns:a16="http://schemas.microsoft.com/office/drawing/2014/main" id="{AC62EEED-D444-449E-A250-76EEF0BB9446}"/>
              </a:ext>
            </a:extLst>
          </p:cNvPr>
          <p:cNvSpPr>
            <a:spLocks noGrp="1"/>
          </p:cNvSpPr>
          <p:nvPr/>
        </p:nvSpPr>
        <p:spPr>
          <a:xfrm>
            <a:off x="8328965"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8" name="Text 16">
            <a:extLst>
              <a:ext uri="{FF2B5EF4-FFF2-40B4-BE49-F238E27FC236}">
                <a16:creationId xmlns:a16="http://schemas.microsoft.com/office/drawing/2014/main" id="{1A9058FB-DA88-4506-820E-26EC05DB31C8}"/>
              </a:ext>
            </a:extLst>
          </p:cNvPr>
          <p:cNvSpPr>
            <a:spLocks noGrp="1"/>
          </p:cNvSpPr>
          <p:nvPr/>
        </p:nvSpPr>
        <p:spPr>
          <a:xfrm>
            <a:off x="8328965" y="1481328"/>
            <a:ext cx="3204362" cy="438912"/>
          </a:xfrm>
          <a:prstGeom prst="rect">
            <a:avLst/>
          </a:prstGeom>
          <a:noFill/>
        </p:spPr>
        <p:txBody>
          <a:bodyPr wrap="square" lIns="0" tIns="0" rIns="0" bIns="0" anchor="ctr"/>
          <a:lstStyle/>
          <a:p>
            <a:pPr marL="0" indent="0">
              <a:buNone/>
            </a:pPr>
            <a:r>
              <a:rPr sz="2584" b="1">
                <a:solidFill>
                  <a:srgbClr val="F4F7FB"/>
                </a:solidFill>
                <a:latin typeface="Calibri"/>
                <a:ea typeface="Calibri"/>
                <a:cs typeface="Calibri"/>
              </a:rPr>
              <a:t>Virtual Machines</a:t>
            </a:r>
            <a:endParaRPr sz="2584"/>
          </a:p>
        </p:txBody>
      </p:sp>
      <p:sp>
        <p:nvSpPr>
          <p:cNvPr id="19" name="Text 17">
            <a:extLst>
              <a:ext uri="{FF2B5EF4-FFF2-40B4-BE49-F238E27FC236}">
                <a16:creationId xmlns:a16="http://schemas.microsoft.com/office/drawing/2014/main" id="{32BE7D7B-C487-4565-9D01-D903BA1DA211}"/>
              </a:ext>
            </a:extLst>
          </p:cNvPr>
          <p:cNvSpPr>
            <a:spLocks noGrp="1"/>
          </p:cNvSpPr>
          <p:nvPr/>
        </p:nvSpPr>
        <p:spPr>
          <a:xfrm>
            <a:off x="8328965"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74% of the total</a:t>
            </a:r>
            <a:endParaRPr sz="1200"/>
          </a:p>
        </p:txBody>
      </p:sp>
      <p:sp>
        <p:nvSpPr>
          <p:cNvPr id="20" name="Text 18">
            <a:extLst>
              <a:ext uri="{FF2B5EF4-FFF2-40B4-BE49-F238E27FC236}">
                <a16:creationId xmlns:a16="http://schemas.microsoft.com/office/drawing/2014/main" id="{AE01A042-6158-4F70-ADA6-85CB0924908A}"/>
              </a:ext>
            </a:extLst>
          </p:cNvPr>
          <p:cNvSpPr>
            <a:spLocks noGrp="1"/>
          </p:cNvSpPr>
          <p:nvPr/>
        </p:nvSpPr>
        <p:spPr>
          <a:xfrm>
            <a:off x="457200"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service</a:t>
            </a:r>
            <a:endParaRPr sz="1500"/>
          </a:p>
        </p:txBody>
      </p:sp>
      <p:graphicFrame>
        <p:nvGraphicFramePr>
          <p:cNvPr id="44"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a:extLst>
              <a:ext uri="{FF2B5EF4-FFF2-40B4-BE49-F238E27FC236}">
                <a16:creationId xmlns:a16="http://schemas.microsoft.com/office/drawing/2014/main" id="{CAAAB21C-EBE6-4924-8889-442BFD69A3CB}"/>
              </a:ext>
            </a:extLst>
          </p:cNvPr>
          <p:cNvSpPr>
            <a:spLocks noGrp="1"/>
          </p:cNvSpPr>
          <p:nvPr/>
        </p:nvSpPr>
        <p:spPr>
          <a:xfrm>
            <a:off x="6255868"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subscription</a:t>
            </a:r>
            <a:endParaRPr sz="1500"/>
          </a:p>
        </p:txBody>
      </p:sp>
      <p:graphicFrame>
        <p:nvGraphicFramePr>
          <p:cNvPr id="46"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79304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7A045FD-A36B-4A6F-95F8-C73D64AB723D}"/>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63707572-9A84-4787-A3A1-5FC5B67274CC}"/>
              </a:ext>
            </a:extLst>
          </p:cNvPr>
          <p:cNvSpPr>
            <a:spLocks noGrp="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a:p>
        </p:txBody>
      </p:sp>
      <p:sp>
        <p:nvSpPr>
          <p:cNvPr id="4" name="Text 2">
            <a:extLst>
              <a:ext uri="{FF2B5EF4-FFF2-40B4-BE49-F238E27FC236}">
                <a16:creationId xmlns:a16="http://schemas.microsoft.com/office/drawing/2014/main" id="{A4A5A7EF-52AA-4E60-A307-FC49655406D8}"/>
              </a:ext>
            </a:extLst>
          </p:cNvPr>
          <p:cNvSpPr>
            <a:spLocks noGrp="1"/>
          </p:cNvSpPr>
          <p:nvPr/>
        </p:nvSpPr>
        <p:spPr>
          <a:xfrm>
            <a:off x="640080" y="274320"/>
            <a:ext cx="7315200" cy="237744"/>
          </a:xfrm>
          <a:prstGeom prst="rect">
            <a:avLst/>
          </a:prstGeom>
          <a:noFill/>
        </p:spPr>
        <p:txBody>
          <a:bodyPr wrap="square" lIns="0" tIns="0" rIns="0" bIns="0" anchor="ctr"/>
          <a:lstStyle/>
          <a:p>
            <a:pPr marL="0" indent="0">
              <a:buNone/>
            </a:pPr>
            <a:r>
              <a:rPr sz="1300" b="1" spc="200">
                <a:solidFill>
                  <a:srgbClr val="2F8CFF"/>
                </a:solidFill>
                <a:latin typeface="Calibri"/>
                <a:ea typeface="Calibri"/>
                <a:cs typeface="Calibri"/>
              </a:rPr>
              <a:t>AZURE / CLOUD IT</a:t>
            </a:r>
            <a:endParaRPr sz="1300"/>
          </a:p>
        </p:txBody>
      </p:sp>
      <p:sp>
        <p:nvSpPr>
          <p:cNvPr id="5" name="Text 3">
            <a:extLst>
              <a:ext uri="{FF2B5EF4-FFF2-40B4-BE49-F238E27FC236}">
                <a16:creationId xmlns:a16="http://schemas.microsoft.com/office/drawing/2014/main" id="{B686028F-A7B3-4329-B486-F543E76AE977}"/>
              </a:ext>
            </a:extLst>
          </p:cNvPr>
          <p:cNvSpPr>
            <a:spLocks noGrp="1"/>
          </p:cNvSpPr>
          <p:nvPr/>
        </p:nvSpPr>
        <p:spPr>
          <a:xfrm>
            <a:off x="457200" y="548640"/>
            <a:ext cx="7680960" cy="566928"/>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Cost centre: Cloud IT</a:t>
            </a:r>
            <a:endParaRPr sz="2800"/>
          </a:p>
        </p:txBody>
      </p:sp>
      <p:sp>
        <p:nvSpPr>
          <p:cNvPr id="6" name="Text 4">
            <a:extLst>
              <a:ext uri="{FF2B5EF4-FFF2-40B4-BE49-F238E27FC236}">
                <a16:creationId xmlns:a16="http://schemas.microsoft.com/office/drawing/2014/main" id="{F07711EE-F2FA-495E-89A4-C9DEB2085628}"/>
              </a:ext>
            </a:extLst>
          </p:cNvPr>
          <p:cNvSpPr>
            <a:spLocks noGrp="1"/>
          </p:cNvSpPr>
          <p:nvPr/>
        </p:nvSpPr>
        <p:spPr>
          <a:xfrm>
            <a:off x="8321040" y="493776"/>
            <a:ext cx="3413455" cy="658368"/>
          </a:xfrm>
          <a:prstGeom prst="rect">
            <a:avLst/>
          </a:prstGeom>
          <a:noFill/>
        </p:spPr>
        <p:txBody>
          <a:bodyPr wrap="square" lIns="0" tIns="0" rIns="0" bIns="0" anchor="t"/>
          <a:lstStyle/>
          <a:p>
            <a:pPr marL="0" indent="0" algn="r">
              <a:lnSpc>
                <a:spcPct val="115000"/>
              </a:lnSpc>
              <a:buNone/>
            </a:pPr>
            <a:r>
              <a:rPr sz="1200">
                <a:solidFill>
                  <a:srgbClr val="91A0B7"/>
                </a:solidFill>
                <a:latin typeface="Calibri"/>
                <a:ea typeface="Calibri"/>
                <a:cs typeface="Calibri"/>
              </a:rPr>
              <a:t>Shared platform services: network, monitoring and security for everyone else.</a:t>
            </a:r>
            <a:endParaRPr sz="1200"/>
          </a:p>
        </p:txBody>
      </p:sp>
      <p:sp>
        <p:nvSpPr>
          <p:cNvPr id="7" name="Text 5">
            <a:extLst>
              <a:ext uri="{FF2B5EF4-FFF2-40B4-BE49-F238E27FC236}">
                <a16:creationId xmlns:a16="http://schemas.microsoft.com/office/drawing/2014/main" id="{3B149403-544C-465D-8234-F656C58E84DC}"/>
              </a:ext>
            </a:extLst>
          </p:cNvPr>
          <p:cNvSpPr>
            <a:spLocks noGrp="1"/>
          </p:cNvSpPr>
          <p:nvPr/>
        </p:nvSpPr>
        <p:spPr>
          <a:xfrm>
            <a:off x="457200" y="6355080"/>
            <a:ext cx="11277295" cy="228600"/>
          </a:xfrm>
          <a:prstGeom prst="rect">
            <a:avLst/>
          </a:prstGeom>
          <a:noFill/>
        </p:spPr>
        <p:txBody>
          <a:bodyPr wrap="square" lIns="0" tIns="0" rIns="0" bIns="0" anchor="t"/>
          <a:lstStyle/>
          <a:p>
            <a:pPr marL="0" indent="0">
              <a:lnSpc>
                <a:spcPct val="115000"/>
              </a:lnSpc>
              <a:buNone/>
            </a:pPr>
            <a:r>
              <a:rPr sz="1200">
                <a:solidFill>
                  <a:srgbClr val="536078"/>
                </a:solidFill>
                <a:latin typeface="Calibri"/>
                <a:ea typeface="Calibri"/>
                <a:cs typeface="Calibri"/>
              </a:rPr>
              <a:t>Log Analytics and Sentinel drive the March spike; virtual network and storage carry the underlying growth.</a:t>
            </a:r>
            <a:endParaRPr sz="1200"/>
          </a:p>
        </p:txBody>
      </p:sp>
      <p:sp>
        <p:nvSpPr>
          <p:cNvPr id="8" name="Shape 6">
            <a:extLst>
              <a:ext uri="{FF2B5EF4-FFF2-40B4-BE49-F238E27FC236}">
                <a16:creationId xmlns:a16="http://schemas.microsoft.com/office/drawing/2014/main" id="{B9AB7A9E-C9DE-429A-BEE1-6A0FFD6EBFA7}"/>
              </a:ext>
            </a:extLst>
          </p:cNvPr>
          <p:cNvSpPr>
            <a:spLocks noGrp="1"/>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9" name="Text 7">
            <a:extLst>
              <a:ext uri="{FF2B5EF4-FFF2-40B4-BE49-F238E27FC236}">
                <a16:creationId xmlns:a16="http://schemas.microsoft.com/office/drawing/2014/main" id="{685EDBC5-4AD9-48FC-A0A8-11EBCA9E8EF8}"/>
              </a:ext>
            </a:extLst>
          </p:cNvPr>
          <p:cNvSpPr>
            <a:spLocks noGrp="1"/>
          </p:cNvSpPr>
          <p:nvPr/>
        </p:nvSpPr>
        <p:spPr>
          <a:xfrm>
            <a:off x="658368"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TOTAL, JAN-JUL</a:t>
            </a:r>
            <a:endParaRPr sz="1200"/>
          </a:p>
        </p:txBody>
      </p:sp>
      <p:sp>
        <p:nvSpPr>
          <p:cNvPr id="10" name="Text 8">
            <a:extLst>
              <a:ext uri="{FF2B5EF4-FFF2-40B4-BE49-F238E27FC236}">
                <a16:creationId xmlns:a16="http://schemas.microsoft.com/office/drawing/2014/main" id="{93D498C6-B9C0-4BC9-A19C-B8FEDFE59055}"/>
              </a:ext>
            </a:extLst>
          </p:cNvPr>
          <p:cNvSpPr>
            <a:spLocks noGrp="1"/>
          </p:cNvSpPr>
          <p:nvPr/>
        </p:nvSpPr>
        <p:spPr>
          <a:xfrm>
            <a:off x="658368" y="1481328"/>
            <a:ext cx="3204362" cy="438912"/>
          </a:xfrm>
          <a:prstGeom prst="rect">
            <a:avLst/>
          </a:prstGeom>
          <a:noFill/>
        </p:spPr>
        <p:txBody>
          <a:bodyPr wrap="square" lIns="0" tIns="0" rIns="0" bIns="0" anchor="ctr"/>
          <a:lstStyle/>
          <a:p>
            <a:pPr marL="0" indent="0">
              <a:buNone/>
            </a:pPr>
            <a:r>
              <a:rPr sz="2800" b="1">
                <a:solidFill>
                  <a:srgbClr val="F4F7FB"/>
                </a:solidFill>
                <a:latin typeface="Calibri"/>
                <a:ea typeface="Calibri"/>
                <a:cs typeface="Calibri"/>
              </a:rPr>
              <a:t>$216K</a:t>
            </a:r>
            <a:endParaRPr sz="2800"/>
          </a:p>
        </p:txBody>
      </p:sp>
      <p:sp>
        <p:nvSpPr>
          <p:cNvPr id="11" name="Text 9">
            <a:extLst>
              <a:ext uri="{FF2B5EF4-FFF2-40B4-BE49-F238E27FC236}">
                <a16:creationId xmlns:a16="http://schemas.microsoft.com/office/drawing/2014/main" id="{D0373655-C52F-408A-819C-3824F203B0D7}"/>
              </a:ext>
            </a:extLst>
          </p:cNvPr>
          <p:cNvSpPr>
            <a:spLocks noGrp="1"/>
          </p:cNvSpPr>
          <p:nvPr/>
        </p:nvSpPr>
        <p:spPr>
          <a:xfrm>
            <a:off x="658368" y="1883664"/>
            <a:ext cx="3204362" cy="329184"/>
          </a:xfrm>
          <a:prstGeom prst="rect">
            <a:avLst/>
          </a:prstGeom>
          <a:noFill/>
        </p:spPr>
        <p:txBody>
          <a:bodyPr wrap="square" lIns="0" tIns="0" rIns="0" bIns="0" anchor="t"/>
          <a:lstStyle/>
          <a:p>
            <a:pPr marL="0" indent="0">
              <a:lnSpc>
                <a:spcPct val="105000"/>
              </a:lnSpc>
              <a:buNone/>
            </a:pPr>
            <a:r>
              <a:rPr sz="1200" b="1">
                <a:solidFill>
                  <a:srgbClr val="2F8CFF"/>
                </a:solidFill>
                <a:latin typeface="Calibri"/>
                <a:ea typeface="Calibri"/>
                <a:cs typeface="Calibri"/>
              </a:rPr>
              <a:t>+8% Jan to Jul</a:t>
            </a:r>
            <a:endParaRPr sz="1200"/>
          </a:p>
        </p:txBody>
      </p:sp>
      <p:sp>
        <p:nvSpPr>
          <p:cNvPr id="12" name="Shape 10">
            <a:extLst>
              <a:ext uri="{FF2B5EF4-FFF2-40B4-BE49-F238E27FC236}">
                <a16:creationId xmlns:a16="http://schemas.microsoft.com/office/drawing/2014/main" id="{03BE0959-B548-4AE5-93B1-8FB9D03A5459}"/>
              </a:ext>
            </a:extLst>
          </p:cNvPr>
          <p:cNvSpPr>
            <a:spLocks noGrp="1"/>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3" name="Text 11">
            <a:extLst>
              <a:ext uri="{FF2B5EF4-FFF2-40B4-BE49-F238E27FC236}">
                <a16:creationId xmlns:a16="http://schemas.microsoft.com/office/drawing/2014/main" id="{98B4AA08-3469-4722-AB74-888AD90568D1}"/>
              </a:ext>
            </a:extLst>
          </p:cNvPr>
          <p:cNvSpPr>
            <a:spLocks noGrp="1"/>
          </p:cNvSpPr>
          <p:nvPr/>
        </p:nvSpPr>
        <p:spPr>
          <a:xfrm>
            <a:off x="4493666"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SUBSCRIPTION</a:t>
            </a:r>
            <a:endParaRPr sz="1200"/>
          </a:p>
        </p:txBody>
      </p:sp>
      <p:sp>
        <p:nvSpPr>
          <p:cNvPr id="14" name="Text 12">
            <a:extLst>
              <a:ext uri="{FF2B5EF4-FFF2-40B4-BE49-F238E27FC236}">
                <a16:creationId xmlns:a16="http://schemas.microsoft.com/office/drawing/2014/main" id="{50825C31-63AE-4FE1-AAD6-D8898F6DA450}"/>
              </a:ext>
            </a:extLst>
          </p:cNvPr>
          <p:cNvSpPr>
            <a:spLocks noGrp="1"/>
          </p:cNvSpPr>
          <p:nvPr/>
        </p:nvSpPr>
        <p:spPr>
          <a:xfrm>
            <a:off x="4493666" y="1481328"/>
            <a:ext cx="3204362" cy="438912"/>
          </a:xfrm>
          <a:prstGeom prst="rect">
            <a:avLst/>
          </a:prstGeom>
          <a:noFill/>
        </p:spPr>
        <p:txBody>
          <a:bodyPr wrap="square" lIns="0" tIns="0" rIns="0" bIns="0" anchor="ctr"/>
          <a:lstStyle/>
          <a:p>
            <a:pPr marL="0" indent="0">
              <a:buNone/>
            </a:pPr>
            <a:r>
              <a:rPr sz="2584" b="1">
                <a:solidFill>
                  <a:srgbClr val="F4F7FB"/>
                </a:solidFill>
                <a:latin typeface="Calibri"/>
                <a:ea typeface="Calibri"/>
                <a:cs typeface="Calibri"/>
              </a:rPr>
              <a:t>Shared Resources</a:t>
            </a:r>
            <a:endParaRPr sz="2584"/>
          </a:p>
        </p:txBody>
      </p:sp>
      <p:sp>
        <p:nvSpPr>
          <p:cNvPr id="15" name="Text 13">
            <a:extLst>
              <a:ext uri="{FF2B5EF4-FFF2-40B4-BE49-F238E27FC236}">
                <a16:creationId xmlns:a16="http://schemas.microsoft.com/office/drawing/2014/main" id="{A7BF002B-A31B-46C6-ACBC-D0FC65B1F539}"/>
              </a:ext>
            </a:extLst>
          </p:cNvPr>
          <p:cNvSpPr>
            <a:spLocks noGrp="1"/>
          </p:cNvSpPr>
          <p:nvPr/>
        </p:nvSpPr>
        <p:spPr>
          <a:xfrm>
            <a:off x="4493666"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48% of the total</a:t>
            </a:r>
            <a:endParaRPr sz="1200"/>
          </a:p>
        </p:txBody>
      </p:sp>
      <p:sp>
        <p:nvSpPr>
          <p:cNvPr id="16" name="Shape 14">
            <a:extLst>
              <a:ext uri="{FF2B5EF4-FFF2-40B4-BE49-F238E27FC236}">
                <a16:creationId xmlns:a16="http://schemas.microsoft.com/office/drawing/2014/main" id="{B407A759-2318-4A97-95FD-C7401BB150D5}"/>
              </a:ext>
            </a:extLst>
          </p:cNvPr>
          <p:cNvSpPr>
            <a:spLocks noGrp="1"/>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a:p>
        </p:txBody>
      </p:sp>
      <p:sp>
        <p:nvSpPr>
          <p:cNvPr id="17" name="Text 15">
            <a:extLst>
              <a:ext uri="{FF2B5EF4-FFF2-40B4-BE49-F238E27FC236}">
                <a16:creationId xmlns:a16="http://schemas.microsoft.com/office/drawing/2014/main" id="{F0445D66-ACE4-4AB0-9DE3-9EDF57BC2CF0}"/>
              </a:ext>
            </a:extLst>
          </p:cNvPr>
          <p:cNvSpPr>
            <a:spLocks noGrp="1"/>
          </p:cNvSpPr>
          <p:nvPr/>
        </p:nvSpPr>
        <p:spPr>
          <a:xfrm>
            <a:off x="8328965" y="1280160"/>
            <a:ext cx="3204362" cy="237744"/>
          </a:xfrm>
          <a:prstGeom prst="rect">
            <a:avLst/>
          </a:prstGeom>
          <a:noFill/>
        </p:spPr>
        <p:txBody>
          <a:bodyPr wrap="square" lIns="0" tIns="0" rIns="0" bIns="0" anchor="ctr"/>
          <a:lstStyle/>
          <a:p>
            <a:pPr marL="0" indent="0">
              <a:buNone/>
            </a:pPr>
            <a:r>
              <a:rPr sz="1200" b="1" spc="120">
                <a:solidFill>
                  <a:srgbClr val="91A0B7"/>
                </a:solidFill>
                <a:latin typeface="Calibri"/>
                <a:ea typeface="Calibri"/>
                <a:cs typeface="Calibri"/>
              </a:rPr>
              <a:t>LARGEST SERVICE</a:t>
            </a:r>
            <a:endParaRPr sz="1200"/>
          </a:p>
        </p:txBody>
      </p:sp>
      <p:sp>
        <p:nvSpPr>
          <p:cNvPr id="18" name="Text 16">
            <a:extLst>
              <a:ext uri="{FF2B5EF4-FFF2-40B4-BE49-F238E27FC236}">
                <a16:creationId xmlns:a16="http://schemas.microsoft.com/office/drawing/2014/main" id="{2D543CC6-0CB3-488A-A5BA-76B0F3B6E5F9}"/>
              </a:ext>
            </a:extLst>
          </p:cNvPr>
          <p:cNvSpPr>
            <a:spLocks noGrp="1"/>
          </p:cNvSpPr>
          <p:nvPr/>
        </p:nvSpPr>
        <p:spPr>
          <a:xfrm>
            <a:off x="8328965" y="1481328"/>
            <a:ext cx="3204362" cy="438912"/>
          </a:xfrm>
          <a:prstGeom prst="rect">
            <a:avLst/>
          </a:prstGeom>
          <a:noFill/>
        </p:spPr>
        <p:txBody>
          <a:bodyPr wrap="square" lIns="0" tIns="0" rIns="0" bIns="0" anchor="ctr"/>
          <a:lstStyle/>
          <a:p>
            <a:pPr marL="0" indent="0">
              <a:buNone/>
            </a:pPr>
            <a:r>
              <a:rPr sz="2757" b="1">
                <a:solidFill>
                  <a:srgbClr val="F4F7FB"/>
                </a:solidFill>
                <a:latin typeface="Calibri"/>
                <a:ea typeface="Calibri"/>
                <a:cs typeface="Calibri"/>
              </a:rPr>
              <a:t>Virtual Network</a:t>
            </a:r>
            <a:endParaRPr sz="2757"/>
          </a:p>
        </p:txBody>
      </p:sp>
      <p:sp>
        <p:nvSpPr>
          <p:cNvPr id="19" name="Text 17">
            <a:extLst>
              <a:ext uri="{FF2B5EF4-FFF2-40B4-BE49-F238E27FC236}">
                <a16:creationId xmlns:a16="http://schemas.microsoft.com/office/drawing/2014/main" id="{B468B6F3-2E10-47BA-8BF3-2C9E90DDD7BB}"/>
              </a:ext>
            </a:extLst>
          </p:cNvPr>
          <p:cNvSpPr>
            <a:spLocks noGrp="1"/>
          </p:cNvSpPr>
          <p:nvPr/>
        </p:nvSpPr>
        <p:spPr>
          <a:xfrm>
            <a:off x="8328965" y="1883664"/>
            <a:ext cx="3204362" cy="329184"/>
          </a:xfrm>
          <a:prstGeom prst="rect">
            <a:avLst/>
          </a:prstGeom>
          <a:noFill/>
        </p:spPr>
        <p:txBody>
          <a:bodyPr wrap="square" lIns="0" tIns="0" rIns="0" bIns="0" anchor="t"/>
          <a:lstStyle/>
          <a:p>
            <a:pPr marL="0" indent="0">
              <a:lnSpc>
                <a:spcPct val="105000"/>
              </a:lnSpc>
              <a:buNone/>
            </a:pPr>
            <a:r>
              <a:rPr sz="1200" b="1">
                <a:solidFill>
                  <a:srgbClr val="3DD9EB"/>
                </a:solidFill>
                <a:latin typeface="Calibri"/>
                <a:ea typeface="Calibri"/>
                <a:cs typeface="Calibri"/>
              </a:rPr>
              <a:t>24% of the total</a:t>
            </a:r>
            <a:endParaRPr sz="1200"/>
          </a:p>
        </p:txBody>
      </p:sp>
      <p:sp>
        <p:nvSpPr>
          <p:cNvPr id="20" name="Text 18">
            <a:extLst>
              <a:ext uri="{FF2B5EF4-FFF2-40B4-BE49-F238E27FC236}">
                <a16:creationId xmlns:a16="http://schemas.microsoft.com/office/drawing/2014/main" id="{9D5F67E7-2611-49EA-88BA-A0E0084722CF}"/>
              </a:ext>
            </a:extLst>
          </p:cNvPr>
          <p:cNvSpPr>
            <a:spLocks noGrp="1"/>
          </p:cNvSpPr>
          <p:nvPr/>
        </p:nvSpPr>
        <p:spPr>
          <a:xfrm>
            <a:off x="457200"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service</a:t>
            </a:r>
            <a:endParaRPr sz="1500"/>
          </a:p>
        </p:txBody>
      </p:sp>
      <p:graphicFrame>
        <p:nvGraphicFramePr>
          <p:cNvPr id="44"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a:extLst>
              <a:ext uri="{FF2B5EF4-FFF2-40B4-BE49-F238E27FC236}">
                <a16:creationId xmlns:a16="http://schemas.microsoft.com/office/drawing/2014/main" id="{C7F68169-EB40-44B7-8343-08DA03032A20}"/>
              </a:ext>
            </a:extLst>
          </p:cNvPr>
          <p:cNvSpPr>
            <a:spLocks noGrp="1"/>
          </p:cNvSpPr>
          <p:nvPr/>
        </p:nvSpPr>
        <p:spPr>
          <a:xfrm>
            <a:off x="6255868" y="2423160"/>
            <a:ext cx="5478628" cy="237744"/>
          </a:xfrm>
          <a:prstGeom prst="rect">
            <a:avLst/>
          </a:prstGeom>
          <a:noFill/>
        </p:spPr>
        <p:txBody>
          <a:bodyPr wrap="square" lIns="0" tIns="0" rIns="0" bIns="0" anchor="ctr"/>
          <a:lstStyle/>
          <a:p>
            <a:pPr marL="0" indent="0">
              <a:buNone/>
            </a:pPr>
            <a:r>
              <a:rPr sz="1500" b="1">
                <a:solidFill>
                  <a:srgbClr val="F4F7FB"/>
                </a:solidFill>
                <a:latin typeface="Calibri"/>
                <a:ea typeface="Calibri"/>
                <a:cs typeface="Calibri"/>
              </a:rPr>
              <a:t>By subscription</a:t>
            </a:r>
            <a:endParaRPr sz="1500"/>
          </a:p>
        </p:txBody>
      </p:sp>
      <p:graphicFrame>
        <p:nvGraphicFramePr>
          <p:cNvPr id="46"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10894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05A9338-DCA1-4CAF-A513-4BD44DE525DA}"/>
              </a:ext>
            </a:extLst>
          </p:cNvPr>
          <p:cNvSpPr>
            <a:spLocks noGrp="1"/>
          </p:cNvSpPr>
          <p:nvPr/>
        </p:nvSpPr>
        <p:spPr>
          <a:xfrm>
            <a:off x="0" y="0"/>
            <a:ext cx="12191695" cy="6858000"/>
          </a:xfrm>
          <a:prstGeom prst="rect">
            <a:avLst/>
          </a:prstGeom>
          <a:solidFill>
            <a:srgbClr val="070A12"/>
          </a:solidFill>
          <a:ln w="12700">
            <a:solidFill>
              <a:srgbClr val="070A12"/>
            </a:solidFill>
            <a:prstDash val="solid"/>
          </a:ln>
        </p:spPr>
        <p:txBody>
          <a:bodyPr/>
          <a:lstStyle/>
          <a:p>
            <a:endParaRPr/>
          </a:p>
        </p:txBody>
      </p:sp>
      <p:sp>
        <p:nvSpPr>
          <p:cNvPr id="3" name="Shape 1">
            <a:extLst>
              <a:ext uri="{FF2B5EF4-FFF2-40B4-BE49-F238E27FC236}">
                <a16:creationId xmlns:a16="http://schemas.microsoft.com/office/drawing/2014/main" id="{D9078D45-FED5-4EF2-B8AD-32FF472A23B3}"/>
              </a:ext>
            </a:extLst>
          </p:cNvPr>
          <p:cNvSpPr>
            <a:spLocks noGrp="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a:p>
        </p:txBody>
      </p:sp>
      <p:sp>
        <p:nvSpPr>
          <p:cNvPr id="4" name="Shape 2">
            <a:extLst>
              <a:ext uri="{FF2B5EF4-FFF2-40B4-BE49-F238E27FC236}">
                <a16:creationId xmlns:a16="http://schemas.microsoft.com/office/drawing/2014/main" id="{12BF6105-0658-4500-A0BD-C477C96E7928}"/>
              </a:ext>
            </a:extLst>
          </p:cNvPr>
          <p:cNvSpPr>
            <a:spLocks noGrp="1"/>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a:p>
        </p:txBody>
      </p:sp>
      <p:sp>
        <p:nvSpPr>
          <p:cNvPr id="5" name="Text 3">
            <a:extLst>
              <a:ext uri="{FF2B5EF4-FFF2-40B4-BE49-F238E27FC236}">
                <a16:creationId xmlns:a16="http://schemas.microsoft.com/office/drawing/2014/main" id="{621E1FF0-B49F-4D9F-A04A-D7F4C53C9562}"/>
              </a:ext>
            </a:extLst>
          </p:cNvPr>
          <p:cNvSpPr>
            <a:spLocks noGrp="1"/>
          </p:cNvSpPr>
          <p:nvPr/>
        </p:nvSpPr>
        <p:spPr>
          <a:xfrm>
            <a:off x="0" y="2514600"/>
            <a:ext cx="12191695" cy="1828800"/>
          </a:xfrm>
          <a:prstGeom prst="rect">
            <a:avLst/>
          </a:prstGeom>
          <a:noFill/>
        </p:spPr>
        <p:txBody>
          <a:bodyPr wrap="square" lIns="0" tIns="0" rIns="0" bIns="0" anchor="ctr"/>
          <a:lstStyle/>
          <a:p>
            <a:pPr marL="0" indent="0" algn="ctr">
              <a:buNone/>
            </a:pPr>
            <a:r>
              <a:rPr sz="11000" b="1">
                <a:solidFill>
                  <a:srgbClr val="3DD9EB"/>
                </a:solidFill>
                <a:latin typeface="Calibri"/>
                <a:ea typeface="Calibri"/>
                <a:cs typeface="Calibri"/>
              </a:rPr>
              <a:t>Thank you</a:t>
            </a:r>
            <a:endParaRPr sz="11000"/>
          </a:p>
        </p:txBody>
      </p:sp>
    </p:spTree>
    <p:extLst>
      <p:ext uri="{BB962C8B-B14F-4D97-AF65-F5344CB8AC3E}">
        <p14:creationId xmlns:p14="http://schemas.microsoft.com/office/powerpoint/2010/main" val="1609780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6322</Words>
  <Application>Microsoft Office PowerPoint</Application>
  <DocSecurity>0</DocSecurity>
  <PresentationFormat>Widescreen</PresentationFormat>
  <Paragraphs>817</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Ariel</cp:lastModifiedBy>
  <cp:revision>5</cp:revision>
  <dcterms:created xsi:type="dcterms:W3CDTF">2026-08-19T08:23:37Z</dcterms:created>
  <dcterms:modified xsi:type="dcterms:W3CDTF">2026-08-19T09:56:36Z</dcterms:modified>
</cp:coreProperties>
</file>