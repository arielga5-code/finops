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notesSlides/notesSlide3.xml" ContentType="application/vnd.openxmlformats-officedocument.presentationml.notesSlide+xml"/>
  <Override PartName="/ppt/charts/chart5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7.xml" ContentType="application/vnd.openxmlformats-officedocument.drawingml.chart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1.xml" ContentType="application/vnd.openxmlformats-officedocument.presentationml.notesSlide+xml"/>
  <Override PartName="/ppt/charts/chart10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7" r:id="rId2"/>
    <p:sldId id="279" r:id="rId3"/>
    <p:sldId id="291" r:id="rId4"/>
    <p:sldId id="281" r:id="rId5"/>
    <p:sldId id="284" r:id="rId6"/>
    <p:sldId id="258" r:id="rId7"/>
    <p:sldId id="259" r:id="rId8"/>
    <p:sldId id="261" r:id="rId9"/>
    <p:sldId id="267" r:id="rId10"/>
    <p:sldId id="260" r:id="rId11"/>
    <p:sldId id="262" r:id="rId12"/>
    <p:sldId id="263" r:id="rId13"/>
    <p:sldId id="264" r:id="rId14"/>
    <p:sldId id="286" r:id="rId15"/>
    <p:sldId id="268" r:id="rId16"/>
    <p:sldId id="287" r:id="rId17"/>
    <p:sldId id="288" r:id="rId18"/>
    <p:sldId id="270" r:id="rId19"/>
    <p:sldId id="289" r:id="rId20"/>
    <p:sldId id="256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2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אריאל גזית" userId="ab0a39ea-8878-4fcc-a857-5afbe9cb9050" providerId="ADAL" clId="{8AF1E48A-3E39-4A45-9543-E35A5CD44E8F}"/>
    <pc:docChg chg="custSel delSld modSld sldOrd">
      <pc:chgData name="אריאל גזית" userId="ab0a39ea-8878-4fcc-a857-5afbe9cb9050" providerId="ADAL" clId="{8AF1E48A-3E39-4A45-9543-E35A5CD44E8F}" dt="2026-08-13T05:41:57.905" v="32"/>
      <pc:docMkLst>
        <pc:docMk/>
      </pc:docMkLst>
      <pc:sldChg chg="delSp modSp mod">
        <pc:chgData name="אריאל גזית" userId="ab0a39ea-8878-4fcc-a857-5afbe9cb9050" providerId="ADAL" clId="{8AF1E48A-3E39-4A45-9543-E35A5CD44E8F}" dt="2026-08-13T05:39:19.517" v="28" actId="478"/>
        <pc:sldMkLst>
          <pc:docMk/>
          <pc:sldMk cId="0" sldId="257"/>
        </pc:sldMkLst>
        <pc:spChg chg="del">
          <ac:chgData name="אריאל גזית" userId="ab0a39ea-8878-4fcc-a857-5afbe9cb9050" providerId="ADAL" clId="{8AF1E48A-3E39-4A45-9543-E35A5CD44E8F}" dt="2026-08-13T05:38:51.094" v="5" actId="478"/>
          <ac:spMkLst>
            <pc:docMk/>
            <pc:sldMk cId="0" sldId="257"/>
            <ac:spMk id="7" creationId="{00000000-0000-0000-0000-000000000000}"/>
          </ac:spMkLst>
        </pc:spChg>
        <pc:spChg chg="del mod">
          <ac:chgData name="אריאל גזית" userId="ab0a39ea-8878-4fcc-a857-5afbe9cb9050" providerId="ADAL" clId="{8AF1E48A-3E39-4A45-9543-E35A5CD44E8F}" dt="2026-08-13T05:38:56.970" v="10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אריאל גזית" userId="ab0a39ea-8878-4fcc-a857-5afbe9cb9050" providerId="ADAL" clId="{8AF1E48A-3E39-4A45-9543-E35A5CD44E8F}" dt="2026-08-13T05:38:53.150" v="6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אריאל גזית" userId="ab0a39ea-8878-4fcc-a857-5afbe9cb9050" providerId="ADAL" clId="{8AF1E48A-3E39-4A45-9543-E35A5CD44E8F}" dt="2026-08-13T05:38:53.913" v="7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אריאל גזית" userId="ab0a39ea-8878-4fcc-a857-5afbe9cb9050" providerId="ADAL" clId="{8AF1E48A-3E39-4A45-9543-E35A5CD44E8F}" dt="2026-08-13T05:39:05.197" v="19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אריאל גזית" userId="ab0a39ea-8878-4fcc-a857-5afbe9cb9050" providerId="ADAL" clId="{8AF1E48A-3E39-4A45-9543-E35A5CD44E8F}" dt="2026-08-13T05:39:02.367" v="17" actId="6549"/>
          <ac:spMkLst>
            <pc:docMk/>
            <pc:sldMk cId="0" sldId="257"/>
            <ac:spMk id="12" creationId="{00000000-0000-0000-0000-000000000000}"/>
          </ac:spMkLst>
        </pc:spChg>
        <pc:spChg chg="mod">
          <ac:chgData name="אריאל גזית" userId="ab0a39ea-8878-4fcc-a857-5afbe9cb9050" providerId="ADAL" clId="{8AF1E48A-3E39-4A45-9543-E35A5CD44E8F}" dt="2026-08-13T05:39:03.598" v="18" actId="6549"/>
          <ac:spMkLst>
            <pc:docMk/>
            <pc:sldMk cId="0" sldId="257"/>
            <ac:spMk id="13" creationId="{00000000-0000-0000-0000-000000000000}"/>
          </ac:spMkLst>
        </pc:spChg>
        <pc:spChg chg="mod">
          <ac:chgData name="אריאל גזית" userId="ab0a39ea-8878-4fcc-a857-5afbe9cb9050" providerId="ADAL" clId="{8AF1E48A-3E39-4A45-9543-E35A5CD44E8F}" dt="2026-08-13T05:39:01.120" v="16" actId="6549"/>
          <ac:spMkLst>
            <pc:docMk/>
            <pc:sldMk cId="0" sldId="257"/>
            <ac:spMk id="14" creationId="{00000000-0000-0000-0000-000000000000}"/>
          </ac:spMkLst>
        </pc:spChg>
        <pc:spChg chg="del">
          <ac:chgData name="אריאל גזית" userId="ab0a39ea-8878-4fcc-a857-5afbe9cb9050" providerId="ADAL" clId="{8AF1E48A-3E39-4A45-9543-E35A5CD44E8F}" dt="2026-08-13T05:39:15.562" v="26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אריאל גזית" userId="ab0a39ea-8878-4fcc-a857-5afbe9cb9050" providerId="ADAL" clId="{8AF1E48A-3E39-4A45-9543-E35A5CD44E8F}" dt="2026-08-13T05:39:13.667" v="25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אריאל גזית" userId="ab0a39ea-8878-4fcc-a857-5afbe9cb9050" providerId="ADAL" clId="{8AF1E48A-3E39-4A45-9543-E35A5CD44E8F}" dt="2026-08-13T05:39:10.753" v="23" actId="6549"/>
          <ac:spMkLst>
            <pc:docMk/>
            <pc:sldMk cId="0" sldId="257"/>
            <ac:spMk id="17" creationId="{00000000-0000-0000-0000-000000000000}"/>
          </ac:spMkLst>
        </pc:spChg>
        <pc:spChg chg="mod">
          <ac:chgData name="אריאל גזית" userId="ab0a39ea-8878-4fcc-a857-5afbe9cb9050" providerId="ADAL" clId="{8AF1E48A-3E39-4A45-9543-E35A5CD44E8F}" dt="2026-08-13T05:39:08.206" v="21" actId="6549"/>
          <ac:spMkLst>
            <pc:docMk/>
            <pc:sldMk cId="0" sldId="257"/>
            <ac:spMk id="18" creationId="{00000000-0000-0000-0000-000000000000}"/>
          </ac:spMkLst>
        </pc:spChg>
        <pc:spChg chg="del mod">
          <ac:chgData name="אריאל גזית" userId="ab0a39ea-8878-4fcc-a857-5afbe9cb9050" providerId="ADAL" clId="{8AF1E48A-3E39-4A45-9543-E35A5CD44E8F}" dt="2026-08-13T05:39:19.517" v="28" actId="478"/>
          <ac:spMkLst>
            <pc:docMk/>
            <pc:sldMk cId="0" sldId="257"/>
            <ac:spMk id="19" creationId="{00000000-0000-0000-0000-000000000000}"/>
          </ac:spMkLst>
        </pc:spChg>
      </pc:sldChg>
      <pc:sldChg chg="ord">
        <pc:chgData name="אריאל גזית" userId="ab0a39ea-8878-4fcc-a857-5afbe9cb9050" providerId="ADAL" clId="{8AF1E48A-3E39-4A45-9543-E35A5CD44E8F}" dt="2026-08-13T05:41:57.905" v="32"/>
        <pc:sldMkLst>
          <pc:docMk/>
          <pc:sldMk cId="0" sldId="261"/>
        </pc:sldMkLst>
      </pc:sldChg>
      <pc:sldChg chg="del">
        <pc:chgData name="אריאל גזית" userId="ab0a39ea-8878-4fcc-a857-5afbe9cb9050" providerId="ADAL" clId="{8AF1E48A-3E39-4A45-9543-E35A5CD44E8F}" dt="2026-08-13T05:36:48.550" v="3" actId="2696"/>
        <pc:sldMkLst>
          <pc:docMk/>
          <pc:sldMk cId="0" sldId="265"/>
        </pc:sldMkLst>
      </pc:sldChg>
      <pc:sldChg chg="del">
        <pc:chgData name="אריאל גזית" userId="ab0a39ea-8878-4fcc-a857-5afbe9cb9050" providerId="ADAL" clId="{8AF1E48A-3E39-4A45-9543-E35A5CD44E8F}" dt="2026-08-13T05:36:53.550" v="4" actId="2696"/>
        <pc:sldMkLst>
          <pc:docMk/>
          <pc:sldMk cId="0" sldId="266"/>
        </pc:sldMkLst>
      </pc:sldChg>
      <pc:sldChg chg="del">
        <pc:chgData name="אריאל גזית" userId="ab0a39ea-8878-4fcc-a857-5afbe9cb9050" providerId="ADAL" clId="{8AF1E48A-3E39-4A45-9543-E35A5CD44E8F}" dt="2026-08-13T05:34:31.485" v="1" actId="2696"/>
        <pc:sldMkLst>
          <pc:docMk/>
          <pc:sldMk cId="0" sldId="272"/>
        </pc:sldMkLst>
      </pc:sldChg>
      <pc:sldChg chg="del">
        <pc:chgData name="אריאל גזית" userId="ab0a39ea-8878-4fcc-a857-5afbe9cb9050" providerId="ADAL" clId="{8AF1E48A-3E39-4A45-9543-E35A5CD44E8F}" dt="2026-08-13T05:34:45.304" v="2" actId="2696"/>
        <pc:sldMkLst>
          <pc:docMk/>
          <pc:sldMk cId="0" sldId="280"/>
        </pc:sldMkLst>
      </pc:sldChg>
      <pc:sldChg chg="del">
        <pc:chgData name="אריאל גזית" userId="ab0a39ea-8878-4fcc-a857-5afbe9cb9050" providerId="ADAL" clId="{8AF1E48A-3E39-4A45-9543-E35A5CD44E8F}" dt="2026-08-13T05:41:07.809" v="29" actId="2696"/>
        <pc:sldMkLst>
          <pc:docMk/>
          <pc:sldMk cId="0" sldId="282"/>
        </pc:sldMkLst>
      </pc:sldChg>
      <pc:sldChg chg="modSp mod">
        <pc:chgData name="אריאל גזית" userId="ab0a39ea-8878-4fcc-a857-5afbe9cb9050" providerId="ADAL" clId="{8AF1E48A-3E39-4A45-9543-E35A5CD44E8F}" dt="2026-08-13T05:41:23.740" v="30" actId="20577"/>
        <pc:sldMkLst>
          <pc:docMk/>
          <pc:sldMk cId="0" sldId="284"/>
        </pc:sldMkLst>
        <pc:spChg chg="mod">
          <ac:chgData name="אריאל גזית" userId="ab0a39ea-8878-4fcc-a857-5afbe9cb9050" providerId="ADAL" clId="{8AF1E48A-3E39-4A45-9543-E35A5CD44E8F}" dt="2026-08-13T05:41:23.740" v="30" actId="20577"/>
          <ac:spMkLst>
            <pc:docMk/>
            <pc:sldMk cId="0" sldId="284"/>
            <ac:spMk id="6" creationId="{00000000-0000-0000-0000-000000000000}"/>
          </ac:spMkLst>
        </pc:spChg>
      </pc:sldChg>
      <pc:sldChg chg="del">
        <pc:chgData name="אריאל גזית" userId="ab0a39ea-8878-4fcc-a857-5afbe9cb9050" providerId="ADAL" clId="{8AF1E48A-3E39-4A45-9543-E35A5CD44E8F}" dt="2026-08-13T05:34:23.027" v="0" actId="2696"/>
        <pc:sldMkLst>
          <pc:docMk/>
          <pc:sldMk cId="0" sldId="29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1.4999999999999999E-2"/>
          <c:y val="0.03"/>
          <c:w val="0.97"/>
          <c:h val="0.74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 Azure</c:v>
                </c:pt>
              </c:strCache>
            </c:strRef>
          </c:tx>
          <c:spPr>
            <a:solidFill>
              <a:srgbClr val="2583F6"/>
            </a:solidFill>
          </c:spPr>
          <c:invertIfNegative val="1"/>
          <c:dLbls>
            <c:numFmt formatCode="\$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/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1743050.64</c:v>
                </c:pt>
                <c:pt idx="1">
                  <c:v>2021050.08</c:v>
                </c:pt>
                <c:pt idx="2">
                  <c:v>2238495.7200000002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AE9-4BDF-B563-844F17F231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AWS</c:v>
                </c:pt>
              </c:strCache>
            </c:strRef>
          </c:tx>
          <c:spPr>
            <a:solidFill>
              <a:srgbClr val="C76B00"/>
            </a:solidFill>
          </c:spPr>
          <c:invertIfNegative val="1"/>
          <c:dLbls>
            <c:numFmt formatCode="\$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1"/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996750.36</c:v>
                </c:pt>
                <c:pt idx="1">
                  <c:v>1038973.8</c:v>
                </c:pt>
                <c:pt idx="2">
                  <c:v>1115159.28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AE9-4BDF-B563-844F17F231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Google Cloud</c:v>
                </c:pt>
              </c:strCache>
            </c:strRef>
          </c:tx>
          <c:spPr>
            <a:solidFill>
              <a:srgbClr val="0099A8"/>
            </a:solidFill>
          </c:spPr>
          <c:invertIfNegative val="1"/>
          <c:dLbls>
            <c:delete val="1"/>
          </c:dLbls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19099.32</c:v>
                </c:pt>
                <c:pt idx="1">
                  <c:v>28928.04</c:v>
                </c:pt>
                <c:pt idx="2">
                  <c:v>46204.32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AE9-4BDF-B563-844F17F2311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9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875839.6247999994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950">
              <a:solidFill>
                <a:srgbClr val="91A0B7"/>
              </a:solidFill>
              <a:latin typeface="Calibri"/>
            </a:defRPr>
          </a:pPr>
          <a:endParaRPr lang="he-IL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ln w="38100">
              <a:solidFill>
                <a:srgbClr val="F4F7FB"/>
              </a:solidFill>
            </a:ln>
          </c:spPr>
          <c:marker>
            <c:symbol val="circle"/>
            <c:size val="7"/>
            <c:spPr>
              <a:solidFill>
                <a:srgbClr val="F4F7FB"/>
              </a:solidFill>
              <a:ln>
                <a:solidFill>
                  <a:srgbClr val="F4F7FB"/>
                </a:solidFill>
              </a:ln>
            </c:spPr>
          </c:marker>
          <c:dLbls>
            <c:dLbl>
              <c:idx val="2"/>
              <c:numFmt formatCode="\$#,##0,&quot;K&quot;" sourceLinked="0"/>
              <c:spPr/>
              <c:txPr>
                <a:bodyPr/>
                <a:lstStyle/>
                <a:p>
                  <a:pPr>
                    <a:defRPr/>
                  </a:pPr>
                  <a:endParaRPr lang="he-I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A81-43C8-A85A-B19B47170A1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229908.36</c:v>
                </c:pt>
                <c:pt idx="1">
                  <c:v>257412.66</c:v>
                </c:pt>
                <c:pt idx="2">
                  <c:v>283321.61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81-43C8-A85A-B19B47170A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Projected</c:v>
                </c:pt>
              </c:strCache>
            </c:strRef>
          </c:tx>
          <c:spPr>
            <a:ln w="38100">
              <a:solidFill>
                <a:srgbClr val="2583F6"/>
              </a:solidFill>
              <a:prstDash val="dash"/>
            </a:ln>
          </c:spPr>
          <c:marker>
            <c:symbol val="circle"/>
            <c:size val="7"/>
            <c:spPr>
              <a:solidFill>
                <a:srgbClr val="2583F6"/>
              </a:solidFill>
              <a:ln>
                <a:solidFill>
                  <a:srgbClr val="2583F6"/>
                </a:solidFill>
              </a:ln>
            </c:spPr>
          </c:marker>
          <c:dLbls>
            <c:dLbl>
              <c:idx val="7"/>
              <c:numFmt formatCode="\$#,##0,&quot;K&quot;" sourceLinked="0"/>
              <c:spPr/>
              <c:txPr>
                <a:bodyPr/>
                <a:lstStyle/>
                <a:p>
                  <a:pPr>
                    <a:defRPr/>
                  </a:pPr>
                  <a:endParaRPr lang="he-I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EA81-43C8-A85A-B19B47170A1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2">
                  <c:v>283321.61</c:v>
                </c:pt>
                <c:pt idx="3">
                  <c:v>299085.5</c:v>
                </c:pt>
                <c:pt idx="4">
                  <c:v>311110.38</c:v>
                </c:pt>
                <c:pt idx="5">
                  <c:v>321470.18</c:v>
                </c:pt>
                <c:pt idx="6">
                  <c:v>331262.19</c:v>
                </c:pt>
                <c:pt idx="7">
                  <c:v>341014.54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A81-43C8-A85A-B19B47170A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3304A"/>
            </a:solidFill>
          </a:ln>
        </c:spPr>
        <c:txPr>
          <a:bodyPr/>
          <a:lstStyle/>
          <a:p>
            <a:pPr>
              <a:defRPr sz="1100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02397.1574503470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>
              <a:solidFill>
                <a:srgbClr val="91A0B7"/>
              </a:solidFill>
              <a:latin typeface="Calibri"/>
            </a:defRPr>
          </a:pPr>
          <a:endParaRPr lang="he-IL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Azure bill</c:v>
                </c:pt>
              </c:strCache>
            </c:strRef>
          </c:tx>
          <c:spPr>
            <a:ln w="31750">
              <a:solidFill>
                <a:srgbClr val="2583F6"/>
              </a:solidFill>
            </a:ln>
          </c:spPr>
          <c:dLbls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/>
                  </a:pPr>
                  <a:endParaRPr lang="he-I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864-443D-91C2-2605470437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116</c:v>
                </c:pt>
                <c:pt idx="2">
                  <c:v>128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864-443D-91C2-26054704375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platforms</c:v>
                </c:pt>
              </c:strCache>
            </c:strRef>
          </c:tx>
          <c:spPr>
            <a:ln w="31750">
              <a:solidFill>
                <a:srgbClr val="C76B00"/>
              </a:solidFill>
            </a:ln>
          </c:spPr>
          <c:dLbls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/>
                  </a:pPr>
                  <a:endParaRPr lang="he-I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864-443D-91C2-2605470437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100</c:v>
                </c:pt>
                <c:pt idx="1">
                  <c:v>133</c:v>
                </c:pt>
                <c:pt idx="2">
                  <c:v>163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864-443D-91C2-26054704375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Azure Databricks</c:v>
                </c:pt>
              </c:strCache>
            </c:strRef>
          </c:tx>
          <c:spPr>
            <a:ln w="31750">
              <a:solidFill>
                <a:srgbClr val="0099A8"/>
              </a:solidFill>
            </a:ln>
          </c:spPr>
          <c:dLbls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/>
                  </a:pPr>
                  <a:endParaRPr lang="he-I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864-443D-91C2-2605470437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100</c:v>
                </c:pt>
                <c:pt idx="1">
                  <c:v>104</c:v>
                </c:pt>
                <c:pt idx="2">
                  <c:v>124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F864-443D-91C2-26054704375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GitHub Copilot</c:v>
                </c:pt>
              </c:strCache>
            </c:strRef>
          </c:tx>
          <c:spPr>
            <a:ln w="31750">
              <a:solidFill>
                <a:srgbClr val="9964E5"/>
              </a:solidFill>
            </a:ln>
          </c:spPr>
          <c:dLbls>
            <c:dLbl>
              <c:idx val="2"/>
              <c:numFmt formatCode="0" sourceLinked="0"/>
              <c:spPr/>
              <c:txPr>
                <a:bodyPr/>
                <a:lstStyle/>
                <a:p>
                  <a:pPr>
                    <a:defRPr/>
                  </a:pPr>
                  <a:endParaRPr lang="he-I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F864-443D-91C2-26054704375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100</c:v>
                </c:pt>
                <c:pt idx="1">
                  <c:v>240</c:v>
                </c:pt>
                <c:pt idx="2">
                  <c:v>283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F864-443D-91C2-2605470437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23304A"/>
            </a:solidFill>
          </a:ln>
        </c:spPr>
        <c:txPr>
          <a:bodyPr/>
          <a:lstStyle/>
          <a:p>
            <a:pPr>
              <a:defRPr sz="1200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in val="90"/>
        </c:scaling>
        <c:delete val="0"/>
        <c:axPos val="l"/>
        <c:majorGridlines>
          <c:spPr>
            <a:ln>
              <a:solidFill>
                <a:srgbClr val="23304A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50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2118791784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150">
              <a:solidFill>
                <a:srgbClr val="91A0B7"/>
              </a:solidFill>
              <a:latin typeface="Calibri"/>
            </a:defRPr>
          </a:pPr>
          <a:endParaRPr lang="he-IL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2F8CF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697-4CCE-A1EE-F7B881061932}"/>
              </c:ext>
            </c:extLst>
          </c:dPt>
          <c:dPt>
            <c:idx val="1"/>
            <c:invertIfNegative val="0"/>
            <c:bubble3D val="0"/>
            <c:spPr>
              <a:solidFill>
                <a:srgbClr val="3DD9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697-4CCE-A1EE-F7B881061932}"/>
              </c:ext>
            </c:extLst>
          </c:dPt>
          <c:dPt>
            <c:idx val="2"/>
            <c:invertIfNegative val="0"/>
            <c:bubble3D val="0"/>
            <c:spPr>
              <a:solidFill>
                <a:srgbClr val="FF9F4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697-4CCE-A1EE-F7B881061932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4F7FB"/>
                    </a:solidFill>
                    <a:latin typeface="Calibri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145254.22</c:v>
                </c:pt>
                <c:pt idx="1">
                  <c:v>168420.84</c:v>
                </c:pt>
                <c:pt idx="2">
                  <c:v>186541.31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2697-4CCE-A1EE-F7B8810619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15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Azure AI Services</c:v>
                </c:pt>
              </c:strCache>
            </c:strRef>
          </c:tx>
          <c:spPr>
            <a:solidFill>
              <a:srgbClr val="0099A8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16933</c:v>
                </c:pt>
                <c:pt idx="1">
                  <c:v>25370</c:v>
                </c:pt>
                <c:pt idx="2">
                  <c:v>23301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50C-46FD-8780-741F8FD6569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GitHub Copilot</c:v>
                </c:pt>
              </c:strCache>
            </c:strRef>
          </c:tx>
          <c:spPr>
            <a:solidFill>
              <a:srgbClr val="9964E5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4760</c:v>
                </c:pt>
                <c:pt idx="1">
                  <c:v>11445</c:v>
                </c:pt>
                <c:pt idx="2">
                  <c:v>13460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50C-46FD-8780-741F8FD6569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Copilot Studio</c:v>
                </c:pt>
              </c:strCache>
            </c:strRef>
          </c:tx>
          <c:spPr>
            <a:solidFill>
              <a:srgbClr val="C76B00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80</c:v>
                </c:pt>
                <c:pt idx="1">
                  <c:v>0</c:v>
                </c:pt>
                <c:pt idx="2">
                  <c:v>8920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50C-46FD-8780-741F8FD6569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Google Vertex AI</c:v>
                </c:pt>
              </c:strCache>
            </c:strRef>
          </c:tx>
          <c:spPr>
            <a:solidFill>
              <a:srgbClr val="2583F6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FFFFFF"/>
                    </a:solidFill>
                    <a:latin typeface="Calibri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366</c:v>
                </c:pt>
                <c:pt idx="1">
                  <c:v>958</c:v>
                </c:pt>
                <c:pt idx="2">
                  <c:v>1069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50C-46FD-8780-741F8FD6569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91A0B7"/>
              </a:solidFill>
              <a:latin typeface="Calibri"/>
              <a:cs typeface="Calibri"/>
            </a:defRPr>
          </a:pPr>
          <a:endParaRPr lang="he-IL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3-month total</c:v>
                </c:pt>
              </c:strCache>
            </c:strRef>
          </c:tx>
          <c:spPr>
            <a:solidFill>
              <a:srgbClr val="C76B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005-42C9-AC64-6B83BB37DF1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2005-42C9-AC64-6B83BB37DF15}"/>
              </c:ext>
            </c:extLst>
          </c:dPt>
          <c:dPt>
            <c:idx val="2"/>
            <c:invertIfNegative val="0"/>
            <c:bubble3D val="0"/>
            <c:spPr>
              <a:solidFill>
                <a:srgbClr val="2583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05-42C9-AC64-6B83BB37DF1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2005-42C9-AC64-6B83BB37DF15}"/>
              </c:ext>
            </c:extLst>
          </c:dPt>
          <c:dPt>
            <c:idx val="4"/>
            <c:invertIfNegative val="0"/>
            <c:bubble3D val="0"/>
            <c:spPr>
              <a:solidFill>
                <a:srgbClr val="2583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005-42C9-AC64-6B83BB37DF1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2005-42C9-AC64-6B83BB37DF15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4F7FB"/>
                    </a:solidFill>
                    <a:latin typeface="Calibri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Azure Database for Pos</c:v>
                </c:pt>
                <c:pt idx="1">
                  <c:v>Microsoft Defender for</c:v>
                </c:pt>
                <c:pt idx="2">
                  <c:v>Azure Cognitive Search</c:v>
                </c:pt>
                <c:pt idx="3">
                  <c:v>Virtual Machines</c:v>
                </c:pt>
                <c:pt idx="4">
                  <c:v>Foundry Models</c:v>
                </c:pt>
                <c:pt idx="5">
                  <c:v>API Management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2961</c:v>
                </c:pt>
                <c:pt idx="1">
                  <c:v>3142</c:v>
                </c:pt>
                <c:pt idx="2">
                  <c:v>4574</c:v>
                </c:pt>
                <c:pt idx="3">
                  <c:v>12310</c:v>
                </c:pt>
                <c:pt idx="4">
                  <c:v>16507</c:v>
                </c:pt>
                <c:pt idx="5">
                  <c:v>17311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005-42C9-AC64-6B83BB37DF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AWS regular usage</c:v>
                </c:pt>
              </c:strCache>
            </c:strRef>
          </c:tx>
          <c:spPr>
            <a:solidFill>
              <a:srgbClr val="2583F6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4F7FB"/>
                    </a:solidFill>
                    <a:latin typeface="Calibri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83062.53</c:v>
                </c:pt>
                <c:pt idx="1">
                  <c:v>86581.15</c:v>
                </c:pt>
                <c:pt idx="2">
                  <c:v>92929.94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CF2-4647-9DBE-D201D8F624E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6162.425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Marketplace purchases</c:v>
                </c:pt>
              </c:strCache>
            </c:strRef>
          </c:tx>
          <c:spPr>
            <a:solidFill>
              <a:srgbClr val="C76B00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4F7FB"/>
                    </a:solidFill>
                    <a:latin typeface="Calibri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25331.34</c:v>
                </c:pt>
                <c:pt idx="1">
                  <c:v>350486.24</c:v>
                </c:pt>
                <c:pt idx="2">
                  <c:v>165985.56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4C5-4139-9BF6-AD46047620D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38107.8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services</c:v>
                </c:pt>
              </c:strCache>
            </c:strRef>
          </c:tx>
          <c:spPr>
            <a:solidFill>
              <a:srgbClr val="0099A8"/>
            </a:solidFill>
          </c:spPr>
          <c:invertIfNegative val="1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>
                    <a:solidFill>
                      <a:srgbClr val="F4F7FB"/>
                    </a:solidFill>
                    <a:latin typeface="Calibri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4096.7</c:v>
                </c:pt>
                <c:pt idx="1">
                  <c:v>11089.79</c:v>
                </c:pt>
                <c:pt idx="2">
                  <c:v>10062.99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7D8-475F-869D-F18B021CA3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3862.237500000001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03"/>
          <c:w val="0.96"/>
          <c:h val="0.78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Everything else</c:v>
                </c:pt>
              </c:strCache>
            </c:strRef>
          </c:tx>
          <c:spPr>
            <a:solidFill>
              <a:srgbClr val="2583F6"/>
            </a:solidFill>
          </c:spPr>
          <c:invertIfNegative val="1"/>
          <c:dLbls>
            <c:delete val="1"/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1120.3900000000001</c:v>
                </c:pt>
                <c:pt idx="1">
                  <c:v>1453.15</c:v>
                </c:pt>
                <c:pt idx="2">
                  <c:v>1491.02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3BD-437A-8A54-07136B482B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services</c:v>
                </c:pt>
              </c:strCache>
            </c:strRef>
          </c:tx>
          <c:spPr>
            <a:solidFill>
              <a:srgbClr val="0099A8"/>
            </a:solidFill>
          </c:spPr>
          <c:invertIfNegative val="1"/>
          <c:dLbls>
            <c:delete val="1"/>
          </c:dLbls>
          <c:cat>
            <c:strRef>
              <c:f>Sheet1!$A$2:$A$4</c:f>
              <c:strCache>
                <c:ptCount val="3"/>
                <c:pt idx="0">
                  <c:v>May 2026</c:v>
                </c:pt>
                <c:pt idx="1">
                  <c:v>Jun 2026</c:v>
                </c:pt>
                <c:pt idx="2">
                  <c:v>Jul 2026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471.22</c:v>
                </c:pt>
                <c:pt idx="1">
                  <c:v>957.52</c:v>
                </c:pt>
                <c:pt idx="2">
                  <c:v>2359.34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3BD-437A-8A54-07136B482BE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91A0B7"/>
                </a:solidFill>
                <a:latin typeface="Calibri"/>
              </a:defRPr>
            </a:pPr>
            <a:endParaRPr lang="he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235.3960000000006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91A0B7"/>
              </a:solidFill>
              <a:latin typeface="Calibri"/>
            </a:defRPr>
          </a:pPr>
          <a:endParaRPr lang="he-IL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174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months of Azure on an invoiced basis, plus the first real AWS statements for July.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month is higher than the last. AI is growing more than twice as fast as the bill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Databricks is the largest platform but draws on a pre-purchase, so it is consumption rather than new cash.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Granularity note: the source crosses project with meter category, not with model name, so a project cannot be split GPT-5.4 vs GPT-5.1.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Rebuilt from the FinOps: Visibility &amp; Governance briefing, page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mesh is the point: five consumer groups buying from five providers with nothing in the middle. The three figures underneath are from this report, not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gateway is the enforcement point. Requests that cannot clear policy never reach a provider.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637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2103120"/>
            <a:ext cx="6949440" cy="6949440"/>
          </a:xfrm>
          <a:prstGeom prst="ellipse">
            <a:avLst/>
          </a:prstGeom>
          <a:solidFill>
            <a:srgbClr val="2F8CFF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9509760" y="2468880"/>
            <a:ext cx="4572000" cy="4572000"/>
          </a:xfrm>
          <a:prstGeom prst="ellipse">
            <a:avLst/>
          </a:prstGeom>
          <a:solidFill>
            <a:srgbClr val="3DD9EB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 Insurance · Cloud FinOps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47088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Cost 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688336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to July 2026 · Management view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79976" y="404164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79976" y="425196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379976" y="464515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38160" y="4041648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138160" y="4251960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138160" y="4645152"/>
            <a:ext cx="3145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20">
                <a:solidFill>
                  <a:srgbClr val="FF6B7A"/>
                </a:solidFill>
                <a:latin typeface="Calibri"/>
              </a:rPr>
              <a:t>WHERE WE ARE HEADING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4F7FB"/>
                </a:solidFill>
                <a:latin typeface="Calibri"/>
              </a:rPr>
              <a:t>We are adding $641K a year to a $3.4M cloud run-rate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10545775" cy="9525"/>
          </a:xfrm>
          <a:prstGeom prst="rect">
            <a:avLst/>
          </a:prstGeom>
          <a:solidFill>
            <a:srgbClr val="23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3931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4F7FB"/>
                </a:solidFill>
                <a:latin typeface="Calibri"/>
              </a:rPr>
              <a:t>$3,399,859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3931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20">
                <a:solidFill>
                  <a:srgbClr val="91A0B7"/>
                </a:solidFill>
                <a:latin typeface="Calibri"/>
              </a:rPr>
              <a:t>ANNUAL RUN-RATE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9319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1A0B7"/>
                </a:solidFill>
                <a:latin typeface="Calibri"/>
              </a:rPr>
              <a:t>Jul across all three providers, annualised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874519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6B7A"/>
                </a:solidFill>
                <a:latin typeface="Calibri"/>
              </a:rPr>
              <a:t>+$640,959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697480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20">
                <a:solidFill>
                  <a:srgbClr val="91A0B7"/>
                </a:solidFill>
                <a:latin typeface="Calibri"/>
              </a:rPr>
              <a:t>ADDED IN THREE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97180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1A0B7"/>
                </a:solidFill>
                <a:latin typeface="Calibri"/>
              </a:rPr>
              <a:t>was $2,758,900 on May, +23.2%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1874519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550" b="1">
                <a:solidFill>
                  <a:srgbClr val="3DD9EB"/>
                </a:solidFill>
                <a:latin typeface="Calibri"/>
              </a:rPr>
              <a:t>$1,100,724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2697480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20">
                <a:solidFill>
                  <a:srgbClr val="91A0B7"/>
                </a:solidFill>
                <a:latin typeface="Calibri"/>
              </a:rPr>
              <a:t>OF THAT IS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971800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1A0B7"/>
                </a:solidFill>
                <a:latin typeface="Calibri"/>
              </a:rPr>
              <a:t>32.4% of the bill, all providers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373368"/>
            <a:ext cx="10545775" cy="9525"/>
          </a:xfrm>
          <a:prstGeom prst="rect">
            <a:avLst/>
          </a:prstGeom>
          <a:solidFill>
            <a:srgbClr val="23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" y="6510528"/>
            <a:ext cx="118872" cy="118872"/>
          </a:xfrm>
          <a:prstGeom prst="ellipse">
            <a:avLst/>
          </a:prstGeom>
          <a:solidFill>
            <a:srgbClr val="FF6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78992" y="6446520"/>
            <a:ext cx="1028974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4F7FB"/>
                </a:solidFill>
                <a:latin typeface="Calibri"/>
              </a:rPr>
              <a:t>Budget against the run-rate, not the three-month total. It assumes Jul repeats: spend has in fact grown 11.0% a month across the period, so treat $3,399,859 as a floor, not a ceiling. Azure is 66% of it, AWS 33%, GCP 1.4%.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822960" y="3456432"/>
          <a:ext cx="10543032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862602" y="361041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Calibri"/>
              </a:rPr>
              <a:t>$2,758,900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1515" y="3511303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Calibri"/>
              </a:rPr>
              <a:t>$3,088,952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0429" y="3417943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F4F7FB"/>
                </a:solidFill>
                <a:latin typeface="Calibri"/>
              </a:rPr>
              <a:t>$3,399,859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38928"/>
            <a:ext cx="1054303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 spc="200">
                <a:solidFill>
                  <a:srgbClr val="91A0B7"/>
                </a:solidFill>
                <a:latin typeface="Calibri"/>
              </a:rPr>
              <a:t>WHAT THE RUN-RATE IS MADE OF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22960" y="5358384"/>
          <a:ext cx="10543032" cy="102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01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Provider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Jul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Annualised on Jul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583F6"/>
                          </a:solidFill>
                          <a:latin typeface="Calibri"/>
                        </a:rPr>
                        <a:t>Microsoft Azure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$145,254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$168,421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$186,541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$2,238,496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invoice, less prepayment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C76B00"/>
                          </a:solidFill>
                          <a:latin typeface="Calibri"/>
                        </a:rPr>
                        <a:t>AWS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$83,063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$86,581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$92,930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$1,115,159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usage, no marketplace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099A8"/>
                          </a:solidFill>
                          <a:latin typeface="Calibri"/>
                        </a:rPr>
                        <a:t>Google Cloud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$1,592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$2,411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$3,850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$46,204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statement total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All providers</a:t>
                      </a:r>
                    </a:p>
                  </a:txBody>
                  <a:tcPr marL="54864" marR="54864" marT="0" marB="0" anchor="ctr">
                    <a:solidFill>
                      <a:srgbClr val="23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$229,908</a:t>
                      </a:r>
                    </a:p>
                  </a:txBody>
                  <a:tcPr marL="54864" marR="54864" marT="0" marB="0" anchor="ctr">
                    <a:solidFill>
                      <a:srgbClr val="23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$257,413</a:t>
                      </a:r>
                    </a:p>
                  </a:txBody>
                  <a:tcPr marL="54864" marR="54864" marT="0" marB="0" anchor="ctr">
                    <a:solidFill>
                      <a:srgbClr val="23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$283,322</a:t>
                      </a:r>
                    </a:p>
                  </a:txBody>
                  <a:tcPr marL="54864" marR="54864" marT="0" marB="0" anchor="ctr">
                    <a:solidFill>
                      <a:srgbClr val="23304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$3,399,859</a:t>
                      </a:r>
                    </a:p>
                  </a:txBody>
                  <a:tcPr marL="54864" marR="54864" marT="0" marB="0" anchor="ctr">
                    <a:solidFill>
                      <a:srgbClr val="2330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91A0B7"/>
                          </a:solidFill>
                          <a:latin typeface="Calibri"/>
                        </a:rPr>
                        <a:t>recurring cash</a:t>
                      </a:r>
                    </a:p>
                  </a:txBody>
                  <a:tcPr marL="54864" marR="54864" marT="0" marB="0" anchor="ctr">
                    <a:solidFill>
                      <a:srgbClr val="2330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spc="200">
                <a:solidFill>
                  <a:srgbClr val="FF9F43"/>
                </a:solidFill>
                <a:latin typeface="Calibri"/>
              </a:rPr>
              <a:t>WHERE THIS GOES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Calibri"/>
              </a:rPr>
              <a:t>December is a $4.1M run-rate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12064"/>
            <a:ext cx="35935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50" b="0">
                <a:solidFill>
                  <a:srgbClr val="91A0B7"/>
                </a:solidFill>
                <a:latin typeface="Calibri"/>
              </a:rPr>
              <a:t>A projection from July, on one stated assumption. Aug and Sep will confirm it or break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6903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Monthly spend to December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37360"/>
          <a:ext cx="699516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973568" y="1737360"/>
            <a:ext cx="50292" cy="1051560"/>
          </a:xfrm>
          <a:prstGeom prst="rect">
            <a:avLst/>
          </a:prstGeom>
          <a:solidFill>
            <a:srgbClr val="258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79" y="1737360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200">
                <a:solidFill>
                  <a:srgbClr val="91A0B7"/>
                </a:solidFill>
                <a:latin typeface="Calibri"/>
              </a:rPr>
              <a:t>RUN-RATE IN DECEMBER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975104"/>
            <a:ext cx="3520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Calibri"/>
              </a:rPr>
              <a:t>$4,092,174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450591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2583F6"/>
                </a:solidFill>
                <a:latin typeface="Calibri"/>
              </a:rPr>
              <a:t>+20% on today's $3,399,859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73568" y="3154680"/>
            <a:ext cx="50292" cy="1051560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83879" y="3154680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200">
                <a:solidFill>
                  <a:srgbClr val="91A0B7"/>
                </a:solidFill>
                <a:latin typeface="Calibri"/>
              </a:rPr>
              <a:t>SPEND, AUG TO DEC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3392424"/>
            <a:ext cx="3520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Calibri"/>
              </a:rPr>
              <a:t>$1,603,943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867912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FF9F43"/>
                </a:solidFill>
                <a:latin typeface="Calibri"/>
              </a:rPr>
              <a:t>$187,335 more than a flat Jul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4572000"/>
            <a:ext cx="50292" cy="1051560"/>
          </a:xfrm>
          <a:prstGeom prst="rect">
            <a:avLst/>
          </a:prstGeom>
          <a:solidFill>
            <a:srgbClr val="3D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183879" y="4572000"/>
            <a:ext cx="35204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spc="200">
                <a:solidFill>
                  <a:srgbClr val="91A0B7"/>
                </a:solidFill>
                <a:latin typeface="Calibri"/>
              </a:rPr>
              <a:t>WHAT DRIVES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809744"/>
            <a:ext cx="35204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Calibri"/>
              </a:rPr>
              <a:t>$43,484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5285232"/>
            <a:ext cx="35204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3DD9EB"/>
                </a:solidFill>
                <a:latin typeface="Calibri"/>
              </a:rPr>
              <a:t>infrastructure adds this by Dec; AI only $14,209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44768"/>
            <a:ext cx="1088136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1A0B7"/>
                </a:solidFill>
                <a:latin typeface="Calibri"/>
              </a:rPr>
              <a:t>The assumption: AI keeps slowing at the rate it already has (44% then 19% a month, so ×0.44 each month after), and everything else keeps growing at 4.2%. If instead the estate simply held its current 11.0% a month, December would be $5,731,566 — so treat $4,092,174 as the working number, not the worst case.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475488"/>
            <a:ext cx="7315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spc="220">
                <a:solidFill>
                  <a:srgbClr val="3DD9EB"/>
                </a:solidFill>
                <a:latin typeface="Calibri"/>
              </a:rPr>
              <a:t>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86384"/>
            <a:ext cx="10545775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750" b="1">
                <a:solidFill>
                  <a:srgbClr val="F4F7FB"/>
                </a:solidFill>
                <a:latin typeface="Calibri"/>
              </a:rPr>
              <a:t>AI is a $1.1M-a-year line growing three times as fast as the bill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00784"/>
            <a:ext cx="10545775" cy="9525"/>
          </a:xfrm>
          <a:prstGeom prst="rect">
            <a:avLst/>
          </a:prstGeom>
          <a:solidFill>
            <a:srgbClr val="23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011680"/>
          <a:ext cx="72237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95360" y="2148840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>
                <a:solidFill>
                  <a:srgbClr val="9964E5"/>
                </a:solidFill>
                <a:latin typeface="Calibri"/>
              </a:rPr>
              <a:t>$63.79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990088"/>
            <a:ext cx="28346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spc="120">
                <a:solidFill>
                  <a:srgbClr val="91A0B7"/>
                </a:solidFill>
                <a:latin typeface="Calibri"/>
              </a:rPr>
              <a:t>PER DEVELOPER, PER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3264408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91A0B7"/>
                </a:solidFill>
                <a:latin typeface="Calibri"/>
              </a:rPr>
              <a:t>GitHub Copilot across 211 users —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91A0B7"/>
                </a:solidFill>
                <a:latin typeface="Calibri"/>
              </a:rPr>
              <a:t>the one line with a per-seat lever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4251960"/>
            <a:ext cx="28346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91A0B7"/>
                </a:solidFill>
                <a:latin typeface="Calibri"/>
              </a:rPr>
              <a:t>Azure meters indexed to May = 100, so growth rates compare regardless of size. Copilot has nearly tripled.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870448"/>
            <a:ext cx="10545775" cy="9525"/>
          </a:xfrm>
          <a:prstGeom prst="rect">
            <a:avLst/>
          </a:prstGeom>
          <a:solidFill>
            <a:srgbClr val="23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22960" y="6144768"/>
            <a:ext cx="118872" cy="118872"/>
          </a:xfrm>
          <a:prstGeom prst="ellipse">
            <a:avLst/>
          </a:prstGeom>
          <a:solidFill>
            <a:srgbClr val="3D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" y="6053328"/>
            <a:ext cx="10289743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F4F7FB"/>
                </a:solidFill>
                <a:latin typeface="Calibri"/>
              </a:rPr>
              <a:t>AI is the growth engine and the only place a unit cost exists today. Across all three providers it grew 72% while the bill grew 23% — everything else is billed by consumption with no denominator.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spc="240">
                <a:solidFill>
                  <a:srgbClr val="91A0B7"/>
                </a:solidFill>
                <a:latin typeface="Calibri"/>
              </a:rPr>
              <a:t>APPENDIX A ·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08960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4F7FB"/>
                </a:solidFill>
                <a:latin typeface="Calibri"/>
              </a:rPr>
              <a:t>Everything behind the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69080"/>
            <a:ext cx="4572000" cy="9525"/>
          </a:xfrm>
          <a:prstGeom prst="rect">
            <a:avLst/>
          </a:prstGeom>
          <a:solidFill>
            <a:srgbClr val="2330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7680960" cy="1328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dirty="0">
                <a:solidFill>
                  <a:srgbClr val="91A0B7"/>
                </a:solidFill>
                <a:latin typeface="Calibri"/>
              </a:rPr>
              <a:t>The estate month by month and the AI platform mix across all three providers; then each cloud on its own  Azure in full, then AWS with marketplace separated from usage, then GCP. The governance briefing follows the numbers.</a:t>
            </a:r>
          </a:p>
          <a:p>
            <a:pPr algn="l">
              <a:lnSpc>
                <a:spcPct val="130000"/>
              </a:lnSpc>
            </a:pPr>
            <a:endParaRPr sz="1350" b="0" dirty="0">
              <a:solidFill>
                <a:srgbClr val="91A0B7"/>
              </a:solidFill>
              <a:latin typeface="Calibri"/>
            </a:endParaRPr>
          </a:p>
          <a:p>
            <a:pPr algn="l">
              <a:lnSpc>
                <a:spcPct val="130000"/>
              </a:lnSpc>
            </a:pPr>
            <a:endParaRPr sz="1350" b="0" dirty="0">
              <a:solidFill>
                <a:srgbClr val="91A0B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ESTATE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climbing every month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totals from Azure Cost Management, Commvault annual prepayment excluded so the trend reads as run-rate.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852160" cy="3200400"/>
          </a:xfrm>
          <a:prstGeom prst="roundRect">
            <a:avLst>
              <a:gd name="adj" fmla="val 2286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invoiced spend</a:t>
            </a:r>
            <a:endParaRPr lang="en-US" sz="135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94360" y="1783080"/>
          <a:ext cx="55778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583680" y="123444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748272" y="134416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Three-month total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48272" y="155448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$500,216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748272" y="194767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+28.4% May→Jul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9326880" y="1234440"/>
            <a:ext cx="2404872" cy="1051560"/>
          </a:xfrm>
          <a:prstGeom prst="roundRect">
            <a:avLst>
              <a:gd name="adj" fmla="val 6957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9491472" y="134416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data platforms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491472" y="15544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$192,935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9491472" y="1947672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+62.5%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583680" y="2423160"/>
            <a:ext cx="2606040" cy="1051560"/>
          </a:xfrm>
          <a:prstGeom prst="roundRect">
            <a:avLst>
              <a:gd name="adj" fmla="val 6957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6748272" y="2532888"/>
            <a:ext cx="2276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share of consumption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48272" y="2743200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748272" y="3136392"/>
            <a:ext cx="2276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26.4% in May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326880" y="2423160"/>
            <a:ext cx="2404872" cy="1051560"/>
          </a:xfrm>
          <a:prstGeom prst="roundRect">
            <a:avLst>
              <a:gd name="adj" fmla="val 6957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491472" y="253288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tag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9491472" y="274320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9491472" y="3136392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8.4%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57200" y="4572000"/>
            <a:ext cx="11274552" cy="1920240"/>
          </a:xfrm>
          <a:prstGeom prst="roundRect">
            <a:avLst>
              <a:gd name="adj" fmla="val 381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3"/>
          <p:cNvSpPr/>
          <p:nvPr/>
        </p:nvSpPr>
        <p:spPr>
          <a:xfrm>
            <a:off x="685800" y="468172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by month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85800" y="492861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spend and change; AI spend and share are measured on total consumption</a:t>
            </a:r>
            <a:endParaRPr lang="en-US" sz="10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138928"/>
          <a:ext cx="10881360" cy="102412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spend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share of consumed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$145,254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$48,797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$168,421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$186,541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$79,305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PROVIDERS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AI platform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9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Databricks is shown separately below — $88,666 of pre-purchased draw-down would otherwise dominate every share here. Vertex AI is GCP, not the Azure enrollment.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883328" cy="164592"/>
          </a:xfrm>
          <a:prstGeom prst="rect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354244" y="1234440"/>
            <a:ext cx="3104947" cy="164592"/>
          </a:xfrm>
          <a:prstGeom prst="rect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472908" y="1234440"/>
            <a:ext cx="932478" cy="164592"/>
          </a:xfrm>
          <a:prstGeom prst="rect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419101" y="1234440"/>
            <a:ext cx="301678" cy="164592"/>
          </a:xfrm>
          <a:prstGeom prst="rect">
            <a:avLst/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57200" y="1572768"/>
            <a:ext cx="2709596" cy="2880360"/>
          </a:xfrm>
          <a:prstGeom prst="roundRect">
            <a:avLst>
              <a:gd name="adj" fmla="val 270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7200" y="1572768"/>
            <a:ext cx="2709596" cy="41148"/>
          </a:xfrm>
          <a:prstGeom prst="rect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234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Services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1975104"/>
            <a:ext cx="2343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$65,604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40080" y="2432304"/>
            <a:ext cx="234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61.2% of the four shown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724912"/>
            <a:ext cx="23438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Foundry Models, Document Intelligence, AI Search and Defender for AI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billed on demand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2343836" cy="292608"/>
          </a:xfrm>
          <a:prstGeom prst="roundRect">
            <a:avLst>
              <a:gd name="adj" fmla="val 50000"/>
            </a:avLst>
          </a:prstGeom>
          <a:solidFill>
            <a:srgbClr val="3DD9EB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3877056"/>
            <a:ext cx="234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+38% May to Jul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13100" y="1572768"/>
            <a:ext cx="2709596" cy="2880360"/>
          </a:xfrm>
          <a:prstGeom prst="roundRect">
            <a:avLst>
              <a:gd name="adj" fmla="val 270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313100" y="1572768"/>
            <a:ext cx="2709596" cy="41148"/>
          </a:xfrm>
          <a:prstGeom prst="rect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495980" y="1737360"/>
            <a:ext cx="234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95980" y="1975104"/>
            <a:ext cx="2343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$29,664</a:t>
            </a:r>
            <a:endParaRPr lang="en-US" sz="2500" dirty="0"/>
          </a:p>
        </p:txBody>
      </p:sp>
      <p:sp>
        <p:nvSpPr>
          <p:cNvPr id="22" name="Text 20"/>
          <p:cNvSpPr/>
          <p:nvPr/>
        </p:nvSpPr>
        <p:spPr>
          <a:xfrm>
            <a:off x="3495980" y="2432304"/>
            <a:ext cx="234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27.7% of the four shown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95980" y="2724912"/>
            <a:ext cx="23438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seats plus AI credit overage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$29,664 across the three months, all billed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95980" y="3877056"/>
            <a:ext cx="2343836" cy="292608"/>
          </a:xfrm>
          <a:prstGeom prst="roundRect">
            <a:avLst>
              <a:gd name="adj" fmla="val 50000"/>
            </a:avLst>
          </a:prstGeom>
          <a:solidFill>
            <a:srgbClr val="B07CFF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495980" y="3877056"/>
            <a:ext cx="234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+183% May to Jul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9000" y="1572768"/>
            <a:ext cx="2709596" cy="2880360"/>
          </a:xfrm>
          <a:prstGeom prst="roundRect">
            <a:avLst>
              <a:gd name="adj" fmla="val 270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6169000" y="1572768"/>
            <a:ext cx="2709596" cy="41148"/>
          </a:xfrm>
          <a:prstGeom prst="rect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6351880" y="1737360"/>
            <a:ext cx="234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(Cowork)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51880" y="1975104"/>
            <a:ext cx="2343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$9,000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6351880" y="2432304"/>
            <a:ext cx="234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8.4% of the four shown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51880" y="2724912"/>
            <a:ext cx="23438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Pay-as-you-go Copilot credits, internally branded Cowork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platform, billed through Power Platform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51880" y="3877056"/>
            <a:ext cx="2343836" cy="292608"/>
          </a:xfrm>
          <a:prstGeom prst="roundRect">
            <a:avLst>
              <a:gd name="adj" fmla="val 50000"/>
            </a:avLst>
          </a:prstGeom>
          <a:solidFill>
            <a:srgbClr val="FF9F43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351880" y="3877056"/>
            <a:ext cx="234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month in Jul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24899" y="1572768"/>
            <a:ext cx="2709596" cy="2880360"/>
          </a:xfrm>
          <a:prstGeom prst="roundRect">
            <a:avLst>
              <a:gd name="adj" fmla="val 270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9024899" y="1572768"/>
            <a:ext cx="2709596" cy="41148"/>
          </a:xfrm>
          <a:prstGeom prst="rect">
            <a:avLst/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9207779" y="1737360"/>
            <a:ext cx="234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9207779" y="1975104"/>
            <a:ext cx="23438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$3,000</a:t>
            </a:r>
            <a:endParaRPr lang="en-US" sz="2500" dirty="0"/>
          </a:p>
        </p:txBody>
      </p:sp>
      <p:sp>
        <p:nvSpPr>
          <p:cNvPr id="38" name="Text 36"/>
          <p:cNvSpPr/>
          <p:nvPr/>
        </p:nvSpPr>
        <p:spPr>
          <a:xfrm>
            <a:off x="9207779" y="2432304"/>
            <a:ext cx="23438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2.8% of the four shown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207779" y="2724912"/>
            <a:ext cx="23438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prediction tokens on the shared projects</a:t>
            </a:r>
            <a:endParaRPr lang="en-US" sz="1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GCP, outside the Azure enrollment — export covers 2026-05-17 to 2026-07-12 and sums to $2,393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207779" y="3877056"/>
            <a:ext cx="2343836" cy="292608"/>
          </a:xfrm>
          <a:prstGeom prst="roundRect">
            <a:avLst>
              <a:gd name="adj" fmla="val 50000"/>
            </a:avLst>
          </a:prstGeom>
          <a:solidFill>
            <a:srgbClr val="3DDC97">
              <a:alpha val="14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Text 39"/>
          <p:cNvSpPr/>
          <p:nvPr/>
        </p:nvSpPr>
        <p:spPr>
          <a:xfrm>
            <a:off x="9207779" y="3877056"/>
            <a:ext cx="23438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export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" y="4572000"/>
            <a:ext cx="11277295" cy="1920240"/>
          </a:xfrm>
          <a:prstGeom prst="roundRect">
            <a:avLst>
              <a:gd name="adj" fmla="val 381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85800" y="468172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mix moved, month by month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85800" y="492861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to total AI spend per month</a:t>
            </a:r>
            <a:endParaRPr lang="en-US" sz="1050" dirty="0"/>
          </a:p>
        </p:txBody>
      </p:sp>
      <p:graphicFrame>
        <p:nvGraphicFramePr>
          <p:cNvPr id="45" name="Chart 0"/>
          <p:cNvGraphicFramePr/>
          <p:nvPr/>
        </p:nvGraphicFramePr>
        <p:xfrm>
          <a:off x="594360" y="5029200"/>
          <a:ext cx="11002975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AI DEEP DIVE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and high-cost combinations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$152,402 of AI meter spend across the tagged projects. Each bar is the mix inside that project's tag.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7295" cy="4297680"/>
          </a:xfrm>
          <a:prstGeom prst="roundRect">
            <a:avLst>
              <a:gd name="adj" fmla="val 170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110486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cost by project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110486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 totals and the drivers inside each, including infrastructure billed under the same tag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190195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DataCloud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11226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28.8% of AI spend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19385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$43,840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749040" y="1947672"/>
            <a:ext cx="3705880" cy="146304"/>
          </a:xfrm>
          <a:prstGeom prst="rect">
            <a:avLst/>
          </a:prstGeom>
          <a:solidFill>
            <a:srgbClr val="2F8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468636" y="1947672"/>
            <a:ext cx="1810695" cy="146304"/>
          </a:xfrm>
          <a:prstGeom prst="rect">
            <a:avLst/>
          </a:prstGeom>
          <a:solidFill>
            <a:srgbClr val="53607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9293047" y="1947672"/>
            <a:ext cx="1307409" cy="146304"/>
          </a:xfrm>
          <a:prstGeom prst="rect">
            <a:avLst/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614172" y="1947672"/>
            <a:ext cx="819851" cy="146304"/>
          </a:xfrm>
          <a:prstGeom prst="rect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1447739" y="1947672"/>
            <a:ext cx="151425" cy="146304"/>
          </a:xfrm>
          <a:prstGeom prst="rect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3749040" y="213969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Azure Databricks 47.3%   </a:t>
            </a:r>
            <a:r>
              <a:rPr lang="en-US" sz="85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Infrastructure 23.2%   </a:t>
            </a:r>
            <a:r>
              <a:rPr lang="en-US" sz="8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Document Intelligence 16.8%   </a:t>
            </a:r>
            <a:r>
              <a:rPr lang="en-US" sz="8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Foundry Models 10.6%   </a:t>
            </a:r>
            <a:r>
              <a:rPr lang="en-US" sz="85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AI Search 2.1%   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85800" y="2468880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2679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18.6% of AI spend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468880" y="25054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$28,358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49040" y="2514600"/>
            <a:ext cx="5435925" cy="146304"/>
          </a:xfrm>
          <a:prstGeom prst="rect">
            <a:avLst/>
          </a:prstGeom>
          <a:solidFill>
            <a:srgbClr val="53607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198681" y="2514600"/>
            <a:ext cx="2400483" cy="146304"/>
          </a:xfrm>
          <a:prstGeom prst="rect">
            <a:avLst/>
          </a:prstGeom>
          <a:solidFill>
            <a:srgbClr val="2F8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3749040" y="2706624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Infrastructure 69.3%   </a:t>
            </a:r>
            <a:r>
              <a:rPr lang="en-US" sz="85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Azure Databricks 30.7%  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5800" y="3035808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Solugen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85800" y="32461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15.7% of AI spend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307238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$23,855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49040" y="3081528"/>
            <a:ext cx="4791090" cy="146304"/>
          </a:xfrm>
          <a:prstGeom prst="rect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553846" y="3081528"/>
            <a:ext cx="1747784" cy="146304"/>
          </a:xfrm>
          <a:prstGeom prst="rect">
            <a:avLst/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315346" y="3081528"/>
            <a:ext cx="835579" cy="146304"/>
          </a:xfrm>
          <a:prstGeom prst="rect">
            <a:avLst/>
          </a:prstGeom>
          <a:solidFill>
            <a:srgbClr val="53607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11164641" y="3081528"/>
            <a:ext cx="434523" cy="146304"/>
          </a:xfrm>
          <a:prstGeom prst="rect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749040" y="327355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Foundry Models 61.1%   </a:t>
            </a:r>
            <a:r>
              <a:rPr lang="en-US" sz="8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Document Intelligence 22.4%   </a:t>
            </a:r>
            <a:r>
              <a:rPr lang="en-US" sz="85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Infrastructure 10.8%   </a:t>
            </a:r>
            <a:r>
              <a:rPr lang="en-US" sz="85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AI Search 5.7%   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85800" y="360273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AIFactory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85800" y="38130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14.7% of AI spend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468880" y="36393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$22,374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749040" y="3648456"/>
            <a:ext cx="5082052" cy="146304"/>
          </a:xfrm>
          <a:prstGeom prst="rect">
            <a:avLst/>
          </a:prstGeom>
          <a:solidFill>
            <a:srgbClr val="53607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8844808" y="3648456"/>
            <a:ext cx="2030882" cy="146304"/>
          </a:xfrm>
          <a:prstGeom prst="rect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10889407" y="3648456"/>
            <a:ext cx="552480" cy="146304"/>
          </a:xfrm>
          <a:prstGeom prst="rect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11455603" y="3648456"/>
            <a:ext cx="143561" cy="146304"/>
          </a:xfrm>
          <a:prstGeom prst="rect">
            <a:avLst/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3749040" y="3840480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Infrastructure 64.8%   </a:t>
            </a:r>
            <a:r>
              <a:rPr lang="en-US" sz="8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Foundry Models 26.0%   </a:t>
            </a:r>
            <a:r>
              <a:rPr lang="en-US" sz="85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AI Search 7.2%   </a:t>
            </a:r>
            <a:r>
              <a:rPr lang="en-US" sz="85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Document Intelligence 2.0%   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85800" y="416966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Actuary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85800" y="437997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 of AI spend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468880" y="42062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$13,887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749040" y="4215384"/>
            <a:ext cx="4334988" cy="146304"/>
          </a:xfrm>
          <a:prstGeom prst="rect">
            <a:avLst/>
          </a:prstGeom>
          <a:solidFill>
            <a:srgbClr val="2F8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097744" y="4215384"/>
            <a:ext cx="3501420" cy="146304"/>
          </a:xfrm>
          <a:prstGeom prst="rect">
            <a:avLst/>
          </a:prstGeom>
          <a:solidFill>
            <a:srgbClr val="53607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3749040" y="440740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Azure Databricks 55.3%   </a:t>
            </a:r>
            <a:r>
              <a:rPr lang="en-US" sz="85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Infrastructure 44.7%   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85800" y="4736592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685800" y="494690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7.9% of AI spend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468880" y="47731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$12,090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749040" y="4782312"/>
            <a:ext cx="4374307" cy="146304"/>
          </a:xfrm>
          <a:prstGeom prst="rect">
            <a:avLst/>
          </a:prstGeom>
          <a:solidFill>
            <a:srgbClr val="53607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8137063" y="4782312"/>
            <a:ext cx="3391327" cy="146304"/>
          </a:xfrm>
          <a:prstGeom prst="rect">
            <a:avLst/>
          </a:prstGeom>
          <a:solidFill>
            <a:srgbClr val="2F8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11542105" y="4782312"/>
            <a:ext cx="49195" cy="146304"/>
          </a:xfrm>
          <a:prstGeom prst="rect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11605016" y="4782312"/>
            <a:ext cx="9144" cy="146304"/>
          </a:xfrm>
          <a:prstGeom prst="rect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3749040" y="4974336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36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Infrastructure 55.8%   </a:t>
            </a:r>
            <a:r>
              <a:rPr lang="en-US" sz="85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Azure Databricks 43.3%   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457200" y="5623560"/>
            <a:ext cx="11277295" cy="868680"/>
          </a:xfrm>
          <a:prstGeom prst="roundRect">
            <a:avLst>
              <a:gd name="adj" fmla="val 8421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621792" y="581558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804672" y="5724144"/>
            <a:ext cx="107652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of the top 6 projects spend more on infrastructure than on AI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21792" y="6007608"/>
            <a:ext cx="10948111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BI, AIFactory, Research each run over half their tagged spend on infrastructure rather than on models. Not automatically wrong — inference needs somewhere to run — but it is the part of the AI bill that right-sizing can actually move.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2F8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WHERE THE MONEY SITS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 and by service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cuts of the same total.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23560" cy="5257800"/>
          </a:xfrm>
          <a:prstGeom prst="roundRect">
            <a:avLst>
              <a:gd name="adj" fmla="val 1391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58368" y="13441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subscription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8368" y="1591056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share of each subscription</a:t>
            </a:r>
            <a:endParaRPr lang="en-US" sz="10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783080"/>
          <a:ext cx="5303520" cy="4288536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May→Jul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DataCloud prod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$169,221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Resources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$121,872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$97,464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Dev/Test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$74,898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$55,443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Solugen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$25,444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Actuary prod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$22,418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-26.8%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Dev/Test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$21,646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DataCloud 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$9,761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 prod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$6,128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+1620.3%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INSAIT Production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$5,086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CloudOps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20 subscriptions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$18,247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1234440"/>
            <a:ext cx="5468112" cy="5257800"/>
          </a:xfrm>
          <a:prstGeom prst="roundRect">
            <a:avLst>
              <a:gd name="adj" fmla="val 1391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464808" y="134416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service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64808" y="15910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 categories consolidated into management groups</a:t>
            </a:r>
            <a:endParaRPr lang="en-US" sz="105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28232" y="1783080"/>
          <a:ext cx="5138928" cy="4594860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5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group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May→Jul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$163,857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Databricks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$88,666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$76,387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$76,002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OpenAI and AI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$63,736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$42,381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+197.8%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and app platform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$39,881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and SaaS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$36,932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and security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$15,882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+32.1%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$14,434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Studio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B07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$2,713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tooling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AI PROGRAMME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AI cost drivers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$192,935 over three months, 30.5% of consumed spend. Share moved 26.4% → 32.1%.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7295" cy="4160520"/>
          </a:xfrm>
          <a:prstGeom prst="roundRect">
            <a:avLst>
              <a:gd name="adj" fmla="val 1758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1274552" cy="3712464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18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or 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Consumed, 3 months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Databricks platform (DBU)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$88,666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Pre-purchased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$27,024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$28,018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$33,625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Copilot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$29,664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$4,760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$11,445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$23,255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$11,676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$9,566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Intelligence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$16,717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Studio credits (Cowork)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$8,920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$7,601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$5,551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$3,370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$1,946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for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embedding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smaller models and 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532120"/>
            <a:ext cx="11277295" cy="960120"/>
          </a:xfrm>
          <a:prstGeom prst="roundRect">
            <a:avLst>
              <a:gd name="adj" fmla="val 7619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21792" y="5724144"/>
            <a:ext cx="109728" cy="109728"/>
          </a:xfrm>
          <a:prstGeom prst="ellipse">
            <a:avLst/>
          </a:prstGeom>
          <a:solidFill>
            <a:srgbClr val="3DDC9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04672" y="5632704"/>
            <a:ext cx="107652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platform usage carries no new cash cost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5916168"/>
            <a:ext cx="10948111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$88,666 of DBU across the three months bills as a reservation against the 600,000 DBCU pre-purchase of 28 Apr 2026, so it draws down a balance already paid for. Read it as consumption, not invoice.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AIFACTORY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AIFactory: infrastructure vs. 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$63,609 under the AIFactory tag. The two subscriptions actually named "AI Factory" total only $4,279.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4297680"/>
          </a:xfrm>
          <a:prstGeom prst="roundRect">
            <a:avLst>
              <a:gd name="adj" fmla="val 186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35331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against AI meters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C7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AIFactory tag is infrastructure, not AI meters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2238801" cy="201168"/>
          </a:xfrm>
          <a:prstGeom prst="rect">
            <a:avLst/>
          </a:prstGeom>
          <a:solidFill>
            <a:srgbClr val="C76B0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2938317" y="2880360"/>
            <a:ext cx="1208487" cy="201168"/>
          </a:xfrm>
          <a:prstGeom prst="rect">
            <a:avLst/>
          </a:prstGeom>
          <a:solidFill>
            <a:srgbClr val="2583F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85800" y="3154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7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Infrastructure $41,235   </a:t>
            </a:r>
            <a:r>
              <a:rPr lang="en-US" sz="1000" dirty="0">
                <a:solidFill>
                  <a:srgbClr val="258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AI meters $22,374</a:t>
            </a:r>
            <a:endParaRPr lang="en-US" sz="10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548640" y="3474720"/>
          <a:ext cx="3749040" cy="1920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4617720" y="1234440"/>
            <a:ext cx="7116775" cy="4297680"/>
          </a:xfrm>
          <a:prstGeom prst="roundRect">
            <a:avLst>
              <a:gd name="adj" fmla="val 170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7114032" cy="339242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89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 category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Management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$17,311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$5,694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$5,514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$6,103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Models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$16,507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DD9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$5,641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Machines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$12,310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$2,887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$4,865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Cognitive 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DD9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Defender for Cloud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$3,142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Database for PostgreSQL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$2,961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$1,069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Network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$1,391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Foundry 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$1,293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3DD9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Cache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smaller meters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$1,796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Infrastructure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$41,235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$11,212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$14,597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$15,426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2F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23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meters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$22,374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$11,745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$8,184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3DD9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457200" y="5669280"/>
            <a:ext cx="11277295" cy="822960"/>
          </a:xfrm>
          <a:prstGeom prst="roundRect">
            <a:avLst>
              <a:gd name="adj" fmla="val 8889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21792" y="586130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4"/>
          <p:cNvSpPr/>
          <p:nvPr/>
        </p:nvSpPr>
        <p:spPr>
          <a:xfrm>
            <a:off x="804672" y="5769864"/>
            <a:ext cx="107652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Management alone is the largest line, ahead of Foundry Models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21792" y="6053328"/>
            <a:ext cx="1094811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$17,311 of the tag is API Management — 27.2%, more than the models it fronts. Infrastructure is 64.8% of everything billed under this tag.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ALLOCATION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business project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Project tag on each resource. Untagged is shown last as a governance flag.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7295" cy="5257800"/>
          </a:xfrm>
          <a:prstGeom prst="roundRect">
            <a:avLst>
              <a:gd name="adj" fmla="val 1391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1274552" cy="459486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$92,307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$28,358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$28,453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$29,659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$34,194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$72,543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$27,042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$23,719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$21,782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$63,609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$22,374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$13,656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$26,343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$23,610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$57,078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$43,840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$14,311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$23,207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$19,560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$49,792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$15,535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$19,081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$48,343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$16,272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$15,930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$16,141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$27,350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$9,094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$8,922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$9,334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Solugen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$26,746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$23,855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$10,657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$7,230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$8,858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$25,131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$11,698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$4,508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$8,925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$15,859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$5,342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$5,126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$5,391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$12,137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$3,892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$3,976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$4,270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$3,288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smaller projects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$35,142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$10,243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$9,412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$15,487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(untagged)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$96,843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$51,381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$15,536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$23,504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$57,803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· ALLOCATION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cost centre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CostCenter tag. The enrollment's own CostCenter column is empty on every line.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7295" cy="5257800"/>
          </a:xfrm>
          <a:prstGeom prst="roundRect">
            <a:avLst>
              <a:gd name="adj" fmla="val 1391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1274552" cy="398221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centre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3-month 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$204,598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$108,440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$62,982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$69,372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$72,245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$130,191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$46,601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$42,665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$40,925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$90,622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$28,615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$28,586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$33,421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$64,663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$22,470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$13,656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$26,476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$24,531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$29,038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$14,207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$5,209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$9,622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$8,639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$7,605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$1,493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$6,327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Basasach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$2,348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$766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$792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$784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ITInfra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63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(untagged)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$94,819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$51,381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$14,825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$22,797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$57,196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FF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spc="200">
                <a:solidFill>
                  <a:srgbClr val="FF9F43"/>
                </a:solidFill>
                <a:latin typeface="Calibri"/>
              </a:rPr>
              <a:t>AWS · OPERATIONAL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Calibri"/>
              </a:rPr>
              <a:t>What AWS actually costs to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12064"/>
            <a:ext cx="35935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91A0B7"/>
                </a:solidFill>
                <a:latin typeface="Calibri"/>
              </a:rPr>
              <a:t>Marketplace purchases are excluded here and shown on the next slide. These figures are the service usage the reseller invoices.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Regular service usage, by month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83080"/>
          <a:ext cx="55778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48272" y="134416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Regular usage, Jul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55448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$92,930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1947672"/>
            <a:ext cx="227685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FF6B7A"/>
                </a:solidFill>
                <a:latin typeface="Calibri"/>
              </a:rPr>
              <a:t>+11.9% since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134416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Annual run-rate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1554480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$1,115,159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1472" y="1947672"/>
            <a:ext cx="2075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91A0B7"/>
                </a:solidFill>
                <a:latin typeface="Calibri"/>
              </a:rPr>
              <a:t>on the Jul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53288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AI services, Jul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74320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$10,063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136392"/>
            <a:ext cx="227685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3DD9EB"/>
                </a:solidFill>
                <a:latin typeface="Calibri"/>
              </a:rPr>
              <a:t>from $4,097 in May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53288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AI share of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743200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10.8%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136392"/>
            <a:ext cx="2075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3DD9EB"/>
                </a:solidFill>
                <a:latin typeface="Calibri"/>
              </a:rPr>
              <a:t>of regular usage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90288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Usage against what we were invoiced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837176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In May and June the reseller billed our usage to within five cents. July is the exception.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5074920"/>
          <a:ext cx="10881360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Month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Regular usage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Comm-IT invoice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4F7FB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4F7FB"/>
                          </a:solidFill>
                          <a:latin typeface="Calibri"/>
                        </a:rPr>
                        <a:t>$83,062.53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4F7FB"/>
                          </a:solidFill>
                          <a:latin typeface="Calibri"/>
                        </a:rPr>
                        <a:t>$83,062.47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3DDC9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91A0B7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4F7FB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4F7FB"/>
                          </a:solidFill>
                          <a:latin typeface="Calibri"/>
                        </a:rPr>
                        <a:t>$86,581.15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4F7FB"/>
                          </a:solidFill>
                          <a:latin typeface="Calibri"/>
                        </a:rPr>
                        <a:t>$86,581.19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3DDC9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91A0B7"/>
                          </a:solidFill>
                          <a:latin typeface="Calibri"/>
                        </a:rPr>
                        <a:t>matches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4F7FB"/>
                          </a:solidFill>
                          <a:latin typeface="Calibri"/>
                        </a:rPr>
                        <a:t>Jul 2026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4F7FB"/>
                          </a:solidFill>
                          <a:latin typeface="Calibri"/>
                        </a:rPr>
                        <a:t>$92,929.94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F4F7FB"/>
                          </a:solidFill>
                          <a:latin typeface="Calibri"/>
                        </a:rPr>
                        <a:t>$76,829.67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6B7A"/>
                          </a:solidFill>
                          <a:latin typeface="Calibri"/>
                        </a:rPr>
                        <a:t>$16,100.27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91A0B7"/>
                          </a:solidFill>
                          <a:latin typeface="Calibri"/>
                        </a:rPr>
                        <a:t>credit applied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40080" y="6355080"/>
            <a:ext cx="1088136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1A0B7"/>
                </a:solidFill>
                <a:latin typeface="Calibri"/>
              </a:rPr>
              <a:t>Operational AWS grew +11.9% over the three months. The headline AWS total moved by hundreds of percent — that is marketplace, not usage.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INVOICE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July invoice fell while usage rose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were supplied for Jul but not May or Jun, so AWS is reported separately and is not part of any Azure figure.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94360" y="14264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AWS usage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$92,930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03904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15968" y="12801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53128" y="14264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applied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53128" y="1700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$16,100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662672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174736" y="12801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311896" y="14264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by Comm-IT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11896" y="170078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$76,830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5623560" cy="3840480"/>
          </a:xfrm>
          <a:prstGeom prst="roundRect">
            <a:avLst>
              <a:gd name="adj" fmla="val 1905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58368" y="276148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$18,170 taken off the Jul bill in credits</a:t>
            </a:r>
            <a:endParaRPr lang="en-US" sz="13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3127248"/>
          <a:ext cx="5303520" cy="329184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ai-factory-dev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$-16,100.27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harel-org-root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$-1,239.96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aws-prod-Digital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$-405.85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harel-org-02-root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$-244.28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harel-digital-lab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$-173.93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aws-prod-customers3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aws-devTest-digital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$-2.24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aws-preProd-digital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$-0.86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cloudops-network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$-0.50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aws-foundation-ingress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$-0.04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credits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$-18,170.30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6263640" y="2651760"/>
            <a:ext cx="5468112" cy="3840480"/>
          </a:xfrm>
          <a:prstGeom prst="roundRect">
            <a:avLst>
              <a:gd name="adj" fmla="val 1905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8"/>
          <p:cNvSpPr/>
          <p:nvPr/>
        </p:nvSpPr>
        <p:spPr>
          <a:xfrm>
            <a:off x="6428232" y="2843784"/>
            <a:ext cx="109728" cy="109728"/>
          </a:xfrm>
          <a:prstGeom prst="ellipse">
            <a:avLst/>
          </a:prstGeom>
          <a:solidFill>
            <a:srgbClr val="FF6B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6611112" y="2752344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credit offsets a charge that is never itemised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28232" y="3035808"/>
            <a:ext cx="5138928" cy="3364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$16,100.27 of the $18,170.30 total — 88.6% — sits on ai-factory-dev. That account shows $26,068.22 of service charges but only $9,967.95 of itemised product lines, and the credit is exactly the difference.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discount on Claude consumption: the daily token extract puts Jul Bedrock usage at roughly $8,862, in line with the $9,919.37 actually invoiced, so token spend is already fully accounted for.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$16,100.27 charge was, and why it was reversed, is not documented anywhere in the supplied files. Open with the reseller.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spc="200">
                <a:solidFill>
                  <a:srgbClr val="FF9F43"/>
                </a:solidFill>
                <a:latin typeface="Calibri"/>
              </a:rPr>
              <a:t>AWS ·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Calibri"/>
              </a:rPr>
              <a:t>Marketplace swings dwarf the usage underneath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12064"/>
            <a:ext cx="35935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91A0B7"/>
                </a:solidFill>
                <a:latin typeface="Calibri"/>
              </a:rPr>
              <a:t>Security vendors bought and replaced within the period. None of this is consumption; all of it lands in the AWS headline total.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Marketplace purchases, by month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83080"/>
          <a:ext cx="55778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48272" y="134416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Peak 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55448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$350,486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1947672"/>
            <a:ext cx="227685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FF9F43"/>
                </a:solidFill>
                <a:latin typeface="Calibri"/>
              </a:rPr>
              <a:t>Jun — 4.0x the May 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134416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1554480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$165,986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1472" y="1947672"/>
            <a:ext cx="2075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91A0B7"/>
                </a:solidFill>
                <a:latin typeface="Calibri"/>
              </a:rPr>
              <a:t>-53% off the peak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53288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Three-month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74320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$541,803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136392"/>
            <a:ext cx="227685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FF9F43"/>
                </a:solidFill>
                <a:latin typeface="Calibri"/>
              </a:rPr>
              <a:t>against regular usage of $262,574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53288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Share of 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743200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67.4%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136392"/>
            <a:ext cx="2075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FF9F43"/>
                </a:solidFill>
                <a:latin typeface="Calibri"/>
              </a:rPr>
              <a:t>of everything AWS reported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90288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What was bought, and when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4864608"/>
          <a:ext cx="10881360" cy="1687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Product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Jul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TrendAI Enterprise Security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$257,323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bought and gone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(Private) Cortex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$142,960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new in Jul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Fortinet Cloud Security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$61,998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bought and gone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MongoDB Atlas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$15,853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$14,974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$13,606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steady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Claude models (Bedrock)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$3,813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$10,507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$9,188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steady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Spot.io Contract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$5,500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$5,500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ended after Jun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Neo4j Aura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$69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$81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$134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steady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F5 Rules for AWS WAF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$100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$103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$97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steady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" y="6583680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1A0B7"/>
                </a:solidFill>
                <a:latin typeface="Calibri"/>
              </a:rPr>
              <a:t>TrendAI and Fortinet were bought in June and gone by July; Cortex replaced them. Only MongoDB Atlas and the small tools are genuinely recurring.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3DD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spc="200">
                <a:solidFill>
                  <a:srgbClr val="3DD9EB"/>
                </a:solidFill>
                <a:latin typeface="Calibri"/>
              </a:rPr>
              <a:t>AWS ·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Calibri"/>
              </a:rPr>
              <a:t>AWS AI more than doubled, then held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12064"/>
            <a:ext cx="35935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91A0B7"/>
                </a:solidFill>
                <a:latin typeface="Calibri"/>
              </a:rPr>
              <a:t>Claude models bill as marketplace lines; Bedrock, Q and SageMaker as service usage. Both are counted 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AI services, by month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83080"/>
          <a:ext cx="55778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48272" y="134416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AI services, Jul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8272" y="155448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$10,063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8272" y="1947672"/>
            <a:ext cx="227685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3DD9EB"/>
                </a:solidFill>
                <a:latin typeface="Calibri"/>
              </a:rPr>
              <a:t>+146% since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91472" y="134416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Annual run-rate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91472" y="1554480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$120,756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91472" y="1947672"/>
            <a:ext cx="2075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91A0B7"/>
                </a:solidFill>
                <a:latin typeface="Calibri"/>
              </a:rPr>
              <a:t>on the Jul month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48272" y="253288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Opus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48272" y="274320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82.1%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136392"/>
            <a:ext cx="227685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FF9F43"/>
                </a:solidFill>
                <a:latin typeface="Calibri"/>
              </a:rPr>
              <a:t>of AWS AI is Opus-class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91472" y="253288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Models in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743200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136392"/>
            <a:ext cx="2075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91A0B7"/>
                </a:solidFill>
                <a:latin typeface="Calibri"/>
              </a:rPr>
              <a:t>Claude variants billed in Jul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90288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By model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" y="4864608"/>
          <a:ext cx="10881360" cy="1760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Model or service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Jul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Share of Jul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Claude Opus 4.6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$2,866.65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$4,806.50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$5,134.81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51.0%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Claude Opus 4.7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$786.79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$2,917.84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$2,438.48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24.2%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Claude Opus 4.8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$76.70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$2,024.12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Claude Opus 5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$691.45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6.9%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Claude Sonnet 4.6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$14.53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$540.41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$688.26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Claude Haiku 4.5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$57.15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$159.32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$157.37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Claude Sonnet 4.5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$9.63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$58.63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$77.41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0.8%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Amazon Bedrock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$141.63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$440.89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$731.31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7.3%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Amazon Q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$95.00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$95.00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$95.00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0.9%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00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4F7FB"/>
                          </a:solidFill>
                          <a:latin typeface="Calibri"/>
                        </a:rPr>
                        <a:t>Amazon SageMaker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$48.62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$48.62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4F7FB"/>
                          </a:solidFill>
                          <a:latin typeface="Calibri"/>
                        </a:rPr>
                        <a:t>$48.62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91A0B7"/>
                          </a:solidFill>
                          <a:latin typeface="Calibri"/>
                        </a:rPr>
                        <a:t>0.5%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40080" y="6583680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1A0B7"/>
                </a:solidFill>
                <a:latin typeface="Calibri"/>
              </a:rPr>
              <a:t>Opus 4.8 ran in May and June then stopped; Opus 5 appeared in July. Model mix changes month to month, which is what the model policy is for.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· ACCOUNTS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linked account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55 linked accounts across the three consolidated statements. Charges are before credits; the total is after.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1277295" cy="4617720"/>
          </a:xfrm>
          <a:prstGeom prst="roundRect">
            <a:avLst>
              <a:gd name="adj" fmla="val 1584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1274552" cy="460857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850" b="1" kern="0" spc="8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harel-org-root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$163,080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$-1,240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$161,840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aws-prod-Digital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$22,657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$22,252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aws-devTest-digital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$13,681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$13,679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aws-preProd-digital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$10,825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$10,824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ai-factory-dev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harel-org-02-root (AI Factory)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$26,068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$-16,100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$9,968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customers3-prod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harel-org-02-root (AI Factory)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$9,066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aws-foundation-security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$8,752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$8,752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cloudops-network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harel-org-02-root (AI Factory)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$7,471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$7,470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aws-foundation-sharedservices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$6,067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harel-org-02-root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harel-org-02-root (AI Factory)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horizon-prod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harel-org-02-root (AI Factory)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aws-prod-customers3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aws-foundation-logging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$695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aws-sandbox-stageAccount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Harel Insurance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F4F7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 smaller accounts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$2,610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$2,437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91A0B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30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5989320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6"/>
          <p:cNvSpPr/>
          <p:nvPr/>
        </p:nvSpPr>
        <p:spPr>
          <a:xfrm>
            <a:off x="621792" y="618134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804672" y="6089904"/>
            <a:ext cx="107652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accounts carry three quarters of the bill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6373368"/>
            <a:ext cx="10948111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harel-org-root at $161,840 is 62.5% of the total, almost entirely the Cortex marketplace line. aws-prod-Digital follows at $22,252.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0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3DD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spc="200">
                <a:solidFill>
                  <a:srgbClr val="3DDC97"/>
                </a:solidFill>
                <a:latin typeface="Calibri"/>
              </a:rPr>
              <a:t>GCP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12064"/>
            <a:ext cx="7498079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>
                <a:solidFill>
                  <a:srgbClr val="F4F7FB"/>
                </a:solidFill>
                <a:latin typeface="Calibri"/>
              </a:rPr>
              <a:t>GCP grew 142% — all of it Vertex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512064"/>
            <a:ext cx="359359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91A0B7"/>
                </a:solidFill>
                <a:latin typeface="Calibri"/>
              </a:rPr>
              <a:t>All three statements are in. Each reconciles to its Comm-IT invoice exactly.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394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AI against everything else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94360" y="1783080"/>
          <a:ext cx="557784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58291" y="2770400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4F7FB"/>
                </a:solidFill>
                <a:latin typeface="Calibri"/>
              </a:rPr>
              <a:t>$1,592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9" y="2404891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4F7FB"/>
                </a:solidFill>
                <a:latin typeface="Calibri"/>
              </a:rPr>
              <a:t>$2,411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8108" y="1762422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>
                <a:solidFill>
                  <a:srgbClr val="F4F7FB"/>
                </a:solidFill>
                <a:latin typeface="Calibri"/>
              </a:rPr>
              <a:t>$3,850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8272" y="134416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GCP, Jul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55448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$3,850.36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1947672"/>
            <a:ext cx="227685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FF6B7A"/>
                </a:solidFill>
                <a:latin typeface="Calibri"/>
              </a:rPr>
              <a:t>+142% since May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91472" y="134416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Invoiced, Jul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1554480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$3,674.46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1947672"/>
            <a:ext cx="2075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3DDC97"/>
                </a:solidFill>
                <a:latin typeface="Calibri"/>
              </a:rPr>
              <a:t>matches the statement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48272" y="2532888"/>
            <a:ext cx="227685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Vertex AI, Jul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2" y="2743200"/>
            <a:ext cx="2276856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$2,359.34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3136392"/>
            <a:ext cx="2276856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3DD9EB"/>
                </a:solidFill>
                <a:latin typeface="Calibri"/>
              </a:rPr>
              <a:t>+401% since May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1472" y="2532888"/>
            <a:ext cx="20756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AI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2743200"/>
            <a:ext cx="2075688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>
                <a:solidFill>
                  <a:srgbClr val="F4F7FB"/>
                </a:solidFill>
                <a:latin typeface="Calibri"/>
              </a:rPr>
              <a:t>61.3%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3136392"/>
            <a:ext cx="207568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3DD9EB"/>
                </a:solidFill>
                <a:latin typeface="Calibri"/>
              </a:rPr>
              <a:t>was 29.6% in May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98848"/>
            <a:ext cx="107899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>
                <a:solidFill>
                  <a:srgbClr val="F4F7FB"/>
                </a:solidFill>
                <a:latin typeface="Calibri"/>
              </a:rPr>
              <a:t>By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45736"/>
            <a:ext cx="1078992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91A0B7"/>
                </a:solidFill>
                <a:latin typeface="Calibri"/>
              </a:rPr>
              <a:t>Compute Engine, Networking and DNS are flat to within a few dollars. Vertex AI passed Compute Engine in July to become the largest GCP service.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40080" y="4983480"/>
          <a:ext cx="10881359" cy="16047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Service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May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Jun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Jul 2026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91A0B7"/>
                          </a:solidFill>
                          <a:latin typeface="Calibri"/>
                        </a:rPr>
                        <a:t>Change, May to Jul</a:t>
                      </a:r>
                    </a:p>
                  </a:txBody>
                  <a:tcPr marL="54864" marR="54864" marT="0" marB="0" anchor="ctr">
                    <a:solidFill>
                      <a:srgbClr val="070A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DD9EB"/>
                          </a:solidFill>
                          <a:latin typeface="Calibri"/>
                        </a:rPr>
                        <a:t>Vertex AI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$378.84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$957.52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$2,359.34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DD9EB"/>
                          </a:solidFill>
                          <a:latin typeface="Calibri"/>
                        </a:rPr>
                        <a:t>+523%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Compute Engine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$779.65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$1,046.60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$1,046.22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+34%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Networking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$310.27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$304.87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$301.13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-3%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Support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$26.31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$98.31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$140.27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+433%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Cloud DNS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$2.03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$2.02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$2.02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-0%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Cloud Logging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$0.78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$0.74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new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3DD9EB"/>
                          </a:solidFill>
                          <a:latin typeface="Calibri"/>
                        </a:rPr>
                        <a:t>Gemini API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$92.38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3DD9EB"/>
                          </a:solidFill>
                          <a:latin typeface="Calibri"/>
                        </a:rPr>
                        <a:t>ended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8308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4F7FB"/>
                          </a:solidFill>
                          <a:latin typeface="Calibri"/>
                        </a:rPr>
                        <a:t>VM Manager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$1.71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91A0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50" b="0">
                          <a:solidFill>
                            <a:srgbClr val="F4F7FB"/>
                          </a:solidFill>
                          <a:latin typeface="Calibri"/>
                        </a:rPr>
                        <a:t>ended</a:t>
                      </a:r>
                    </a:p>
                  </a:txBody>
                  <a:tcPr marL="54864" marR="54864" marT="0" marB="0" anchor="ctr">
                    <a:solidFill>
                      <a:srgbClr val="0E14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40080" y="6633972"/>
            <a:ext cx="1088136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91A0B7"/>
                </a:solidFill>
                <a:latin typeface="Calibri"/>
              </a:rPr>
              <a:t>GCP is the smallest provider at $3,850 a month, and the fastest growing. Cyan marks AI services.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FinOps: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4F7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&amp; Governance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33756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cloud spend — and controlling it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069080" y="5742432"/>
            <a:ext cx="2011680" cy="3658"/>
          </a:xfrm>
          <a:prstGeom prst="line">
            <a:avLst/>
          </a:prstGeom>
          <a:noFill/>
          <a:ln w="12700">
            <a:solidFill>
              <a:srgbClr val="91A0B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8275320" y="17373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8709660" y="17373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9144000" y="17373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9578340" y="17373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10012680" y="17373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0447020" y="17373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10881360" y="17373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275320" y="21717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709660" y="21717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9144000" y="21717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9578340" y="21717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0012680" y="21717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10447020" y="21717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10881360" y="21717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275320" y="260604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709660" y="260604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9144000" y="260604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9578340" y="260604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10012680" y="260604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10447020" y="260604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10881360" y="260604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8275320" y="304038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8709660" y="304038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9144000" y="304038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9578340" y="304038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10012680" y="304038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10447020" y="304038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10881360" y="304038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275320" y="347472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709660" y="347472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9144000" y="347472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>
            <a:off x="9578340" y="347472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10012680" y="347472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10447020" y="347472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10881360" y="347472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8275320" y="39090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8709660" y="39090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Shape 44"/>
          <p:cNvSpPr/>
          <p:nvPr/>
        </p:nvSpPr>
        <p:spPr>
          <a:xfrm>
            <a:off x="9144000" y="390906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9578340" y="390906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Shape 46"/>
          <p:cNvSpPr/>
          <p:nvPr/>
        </p:nvSpPr>
        <p:spPr>
          <a:xfrm>
            <a:off x="10012680" y="390906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10447020" y="390906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Shape 48"/>
          <p:cNvSpPr/>
          <p:nvPr/>
        </p:nvSpPr>
        <p:spPr>
          <a:xfrm>
            <a:off x="10881360" y="390906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8275320" y="43434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709660" y="4343400"/>
            <a:ext cx="274320" cy="274320"/>
          </a:xfrm>
          <a:prstGeom prst="ellipse">
            <a:avLst/>
          </a:prstGeom>
          <a:solidFill>
            <a:srgbClr val="222B3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51"/>
          <p:cNvSpPr/>
          <p:nvPr/>
        </p:nvSpPr>
        <p:spPr>
          <a:xfrm>
            <a:off x="9144000" y="434340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9578340" y="434340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10012680" y="434340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10447020" y="434340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10881360" y="4343400"/>
            <a:ext cx="274320" cy="274320"/>
          </a:xfrm>
          <a:prstGeom prst="ellipse">
            <a:avLst/>
          </a:prstGeom>
          <a:solidFill>
            <a:srgbClr val="E0A03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8275320" y="5230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YOU CAN SEE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FF6B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spend is outpacing governance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unit buys AI separately, on shared keys, with no owner per consumer — so the spend exists but nobody can attribute it.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CONSUMES AI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2130552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85216" y="2130552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752344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85216" y="2752344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and BI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374136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85216" y="3374136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back office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995928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5216" y="3995928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and data science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2286000" cy="402336"/>
          </a:xfrm>
          <a:prstGeom prst="roundRect">
            <a:avLst>
              <a:gd name="adj" fmla="val 1818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85216" y="4617720"/>
            <a:ext cx="20299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and platform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0" y="2331720"/>
            <a:ext cx="2880360" cy="3658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743200" y="2331720"/>
            <a:ext cx="2880360" cy="1243584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2743200" y="2331720"/>
            <a:ext cx="2880360" cy="2487168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2743200" y="2953512"/>
            <a:ext cx="2880360" cy="3658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2743200" y="2953512"/>
            <a:ext cx="2880360" cy="1243584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 flipV="1">
            <a:off x="2743200" y="2331720"/>
            <a:ext cx="2880360" cy="1243584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743200" y="3575304"/>
            <a:ext cx="2880360" cy="3658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743200" y="3575304"/>
            <a:ext cx="2880360" cy="1243584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 flipV="1">
            <a:off x="2743200" y="2953512"/>
            <a:ext cx="2880360" cy="1243584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2743200" y="4197096"/>
            <a:ext cx="2880360" cy="3658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 flipV="1">
            <a:off x="2743200" y="2331720"/>
            <a:ext cx="2880360" cy="2487168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 flipV="1">
            <a:off x="2743200" y="3575304"/>
            <a:ext cx="2880360" cy="1243584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2743200" y="4818888"/>
            <a:ext cx="2880360" cy="3658"/>
          </a:xfrm>
          <a:prstGeom prst="line">
            <a:avLst/>
          </a:prstGeom>
          <a:noFill/>
          <a:ln w="12700">
            <a:solidFill>
              <a:srgbClr val="FF9F43">
                <a:alpha val="4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5623560" y="187452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BUY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623560" y="2130552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5751576" y="213055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23560" y="2752344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5751576" y="275234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623560" y="3374136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751576" y="337413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623560" y="3995928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5751576" y="3995928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623560" y="4617720"/>
            <a:ext cx="2103120" cy="402336"/>
          </a:xfrm>
          <a:prstGeom prst="roundRect">
            <a:avLst>
              <a:gd name="adj" fmla="val 18182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5751576" y="4617720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092440" y="1874520"/>
            <a:ext cx="3642055" cy="3657600"/>
          </a:xfrm>
          <a:prstGeom prst="roundRect">
            <a:avLst>
              <a:gd name="adj" fmla="val 2009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8092440" y="1874520"/>
            <a:ext cx="3642055" cy="45720"/>
          </a:xfrm>
          <a:prstGeom prst="rect">
            <a:avLst/>
          </a:prstGeom>
          <a:solidFill>
            <a:srgbClr val="FF6B7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8366760" y="2084832"/>
            <a:ext cx="30934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F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REALITY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366760" y="2487168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AI providers, bought separately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8366760" y="2999232"/>
            <a:ext cx="3093415" cy="3658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366760" y="3072384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business units consuming them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366760" y="3584448"/>
            <a:ext cx="3093415" cy="3658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8366760" y="3657600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applications on shared keys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366760" y="4169664"/>
            <a:ext cx="3093415" cy="3658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366760" y="4242816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financial visibility per consumer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366760" y="4754880"/>
            <a:ext cx="3093415" cy="3658"/>
          </a:xfrm>
          <a:prstGeom prst="line">
            <a:avLst/>
          </a:prstGeom>
          <a:noFill/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8366760" y="4828032"/>
            <a:ext cx="3093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enterprise ownership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457200" y="57150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603504" y="5788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UNTAGGED SPEND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3504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603504" y="6208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Jul bill has no project owner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2944368" y="57150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3090672" y="5788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CREDIT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090672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$16,100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3090672" y="6208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reversed against a charge nobody can identify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431536" y="571500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5577840" y="57881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8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PLATFORM, NO BASELINE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57784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$8,920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5577840" y="620877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went 0 to this in one month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gateway every AI request passes 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is the enforcement point, not a reporting layer bolted on afterwards — its logs are the financial record.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14600" cy="4114800"/>
          </a:xfrm>
          <a:prstGeom prst="roundRect">
            <a:avLst>
              <a:gd name="adj" fmla="val 2909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153619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AND DEVELOPERS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49808" y="205740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49808" y="262432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Copilots and assistants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191256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3191256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58184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9808" y="3758184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2148840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49808" y="4325112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SaaS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94760" y="137160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794760" y="1371600"/>
            <a:ext cx="4572000" cy="45720"/>
          </a:xfrm>
          <a:prstGeom prst="rect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3794760" y="15361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COMMAND CENTER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94760" y="18013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DD9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enforcement point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050792" y="221284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096512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49824" y="221284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495544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Per UNIT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48856" y="221284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6894576" y="22128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050792" y="2871216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4096512" y="2871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49824" y="2871216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495544" y="2871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48856" y="2871216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894576" y="28712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050792" y="3529584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4096512" y="35295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Chargeback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49824" y="3529584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495544" y="35295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48856" y="3529584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/>
          <p:nvPr/>
        </p:nvSpPr>
        <p:spPr>
          <a:xfrm>
            <a:off x="6894576" y="352958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050792" y="4315968"/>
            <a:ext cx="4059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Unauthorized or over-budget requests are filtered out.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cost-allocated requests pass through.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006840" y="1371600"/>
            <a:ext cx="2727655" cy="4114800"/>
          </a:xfrm>
          <a:prstGeom prst="roundRect">
            <a:avLst>
              <a:gd name="adj" fmla="val 2682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9189720" y="1536192"/>
            <a:ext cx="2361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ESTATE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189720" y="2057400"/>
            <a:ext cx="2361895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/>
          <p:nvPr/>
        </p:nvSpPr>
        <p:spPr>
          <a:xfrm>
            <a:off x="9299448" y="2057400"/>
            <a:ext cx="2142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89720" y="2624328"/>
            <a:ext cx="2361895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9299448" y="2624328"/>
            <a:ext cx="2142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189720" y="3191256"/>
            <a:ext cx="2361895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9299448" y="3191256"/>
            <a:ext cx="2142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9189720" y="3758184"/>
            <a:ext cx="2361895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9299448" y="3758184"/>
            <a:ext cx="2142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Vertex AI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189720" y="4325112"/>
            <a:ext cx="2361895" cy="457200"/>
          </a:xfrm>
          <a:prstGeom prst="roundRect">
            <a:avLst>
              <a:gd name="adj" fmla="val 1600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9299448" y="4325112"/>
            <a:ext cx="21424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63240" y="2651760"/>
            <a:ext cx="457200" cy="201168"/>
          </a:xfrm>
          <a:prstGeom prst="chevron">
            <a:avLst/>
          </a:prstGeom>
          <a:solidFill>
            <a:srgbClr val="2F8CFF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Shape 52"/>
          <p:cNvSpPr/>
          <p:nvPr/>
        </p:nvSpPr>
        <p:spPr>
          <a:xfrm>
            <a:off x="3063240" y="3310128"/>
            <a:ext cx="457200" cy="201168"/>
          </a:xfrm>
          <a:prstGeom prst="chevron">
            <a:avLst/>
          </a:prstGeom>
          <a:solidFill>
            <a:srgbClr val="2F8CFF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3063240" y="3968496"/>
            <a:ext cx="457200" cy="201168"/>
          </a:xfrm>
          <a:prstGeom prst="chevron">
            <a:avLst/>
          </a:prstGeom>
          <a:solidFill>
            <a:srgbClr val="2F8CFF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8485632" y="2651760"/>
            <a:ext cx="457200" cy="201168"/>
          </a:xfrm>
          <a:prstGeom prst="chevron">
            <a:avLst/>
          </a:prstGeom>
          <a:solidFill>
            <a:srgbClr val="3DD9EB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8485632" y="3310128"/>
            <a:ext cx="457200" cy="201168"/>
          </a:xfrm>
          <a:prstGeom prst="chevron">
            <a:avLst/>
          </a:prstGeom>
          <a:solidFill>
            <a:srgbClr val="3DD9EB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8485632" y="3968496"/>
            <a:ext cx="457200" cy="201168"/>
          </a:xfrm>
          <a:prstGeom prst="chevron">
            <a:avLst/>
          </a:prstGeom>
          <a:solidFill>
            <a:srgbClr val="3DD9EB">
              <a:alpha val="5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B07C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production unowned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 workload goes live without explicit business ownership and financial allocation.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2984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CRITERION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937760" y="1298448"/>
            <a:ext cx="6309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MANDATORY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1277295" cy="512064"/>
          </a:xfrm>
          <a:prstGeom prst="roundRect">
            <a:avLst>
              <a:gd name="adj" fmla="val 14286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94944" y="1755648"/>
            <a:ext cx="256032" cy="256032"/>
          </a:xfrm>
          <a:prstGeom prst="ellipse">
            <a:avLst/>
          </a:prstGeom>
          <a:solidFill>
            <a:srgbClr val="B07CFF">
              <a:alpha val="22000"/>
            </a:srgbClr>
          </a:solidFill>
          <a:ln w="9525">
            <a:solidFill>
              <a:srgbClr val="B0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94944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43000" y="162763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0" y="162763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point of accountability for the use case and its return.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31136"/>
            <a:ext cx="11277295" cy="512064"/>
          </a:xfrm>
          <a:prstGeom prst="roundRect">
            <a:avLst>
              <a:gd name="adj" fmla="val 14286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94944" y="2359152"/>
            <a:ext cx="256032" cy="256032"/>
          </a:xfrm>
          <a:prstGeom prst="ellipse">
            <a:avLst/>
          </a:prstGeom>
          <a:solidFill>
            <a:srgbClr val="B07CFF">
              <a:alpha val="22000"/>
            </a:srgbClr>
          </a:solidFill>
          <a:ln w="9525">
            <a:solidFill>
              <a:srgbClr val="B0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94944" y="2359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43000" y="223113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owner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937760" y="2231136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deployment, model choice and system health.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11277295" cy="512064"/>
          </a:xfrm>
          <a:prstGeom prst="roundRect">
            <a:avLst>
              <a:gd name="adj" fmla="val 14286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94944" y="2962656"/>
            <a:ext cx="256032" cy="256032"/>
          </a:xfrm>
          <a:prstGeom prst="ellipse">
            <a:avLst/>
          </a:prstGeom>
          <a:solidFill>
            <a:srgbClr val="B07CFF">
              <a:alpha val="22000"/>
            </a:srgbClr>
          </a:solidFill>
          <a:ln w="9525">
            <a:solidFill>
              <a:srgbClr val="B0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94944" y="29626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43000" y="28346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maximum financial exposure before anything runs.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11277295" cy="512064"/>
          </a:xfrm>
          <a:prstGeom prst="roundRect">
            <a:avLst>
              <a:gd name="adj" fmla="val 14286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94944" y="3566160"/>
            <a:ext cx="256032" cy="256032"/>
          </a:xfrm>
          <a:prstGeom prst="ellipse">
            <a:avLst/>
          </a:prstGeom>
          <a:solidFill>
            <a:srgbClr val="B07CFF">
              <a:alpha val="22000"/>
            </a:srgbClr>
          </a:solidFill>
          <a:ln w="9525">
            <a:solidFill>
              <a:srgbClr val="B0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94944" y="3566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143000" y="34381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37760" y="3438144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API spam, runaway loops and system overload.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41648"/>
            <a:ext cx="11277295" cy="512064"/>
          </a:xfrm>
          <a:prstGeom prst="roundRect">
            <a:avLst>
              <a:gd name="adj" fmla="val 14286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94944" y="4169664"/>
            <a:ext cx="256032" cy="256032"/>
          </a:xfrm>
          <a:prstGeom prst="ellipse">
            <a:avLst/>
          </a:prstGeom>
          <a:solidFill>
            <a:srgbClr val="B07CFF">
              <a:alpha val="22000"/>
            </a:srgbClr>
          </a:solidFill>
          <a:ln w="9525">
            <a:solidFill>
              <a:srgbClr val="B0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94944" y="4169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43000" y="40416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37760" y="4041648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total consumption per consumer, independent of budget.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645152"/>
            <a:ext cx="11277295" cy="512064"/>
          </a:xfrm>
          <a:prstGeom prst="roundRect">
            <a:avLst>
              <a:gd name="adj" fmla="val 14286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694944" y="4773168"/>
            <a:ext cx="256032" cy="256032"/>
          </a:xfrm>
          <a:prstGeom prst="ellipse">
            <a:avLst/>
          </a:prstGeom>
          <a:solidFill>
            <a:srgbClr val="B07CFF">
              <a:alpha val="22000"/>
            </a:srgbClr>
          </a:solidFill>
          <a:ln w="9525">
            <a:solidFill>
              <a:srgbClr val="B0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694944" y="47731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43000" y="464515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centre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937760" y="4645152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accurate chargeback and accounting possible at month end.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248656"/>
            <a:ext cx="11277295" cy="512064"/>
          </a:xfrm>
          <a:prstGeom prst="roundRect">
            <a:avLst>
              <a:gd name="adj" fmla="val 14286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694944" y="5376672"/>
            <a:ext cx="256032" cy="256032"/>
          </a:xfrm>
          <a:prstGeom prst="ellipse">
            <a:avLst/>
          </a:prstGeom>
          <a:solidFill>
            <a:srgbClr val="B07CFF">
              <a:alpha val="22000"/>
            </a:srgbClr>
          </a:solidFill>
          <a:ln w="9525">
            <a:solidFill>
              <a:srgbClr val="B07C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694944" y="53766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07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43000" y="52486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approval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937760" y="5248656"/>
            <a:ext cx="6309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sign-off before launch, not after the first invoice.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5943600"/>
            <a:ext cx="11277295" cy="658368"/>
          </a:xfrm>
          <a:prstGeom prst="roundRect">
            <a:avLst>
              <a:gd name="adj" fmla="val 11111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621792" y="6135624"/>
            <a:ext cx="109728" cy="109728"/>
          </a:xfrm>
          <a:prstGeom prst="ellipse">
            <a:avLst/>
          </a:prstGeom>
          <a:solidFill>
            <a:srgbClr val="3DD9EB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Text 43"/>
          <p:cNvSpPr/>
          <p:nvPr/>
        </p:nvSpPr>
        <p:spPr>
          <a:xfrm>
            <a:off x="804672" y="6044184"/>
            <a:ext cx="107652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makes shadow AI structurally impossible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621792" y="6327648"/>
            <a:ext cx="109481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the gateway, these criteria mean an unowned or unfunded workload cannot obtain a key — so it never reaches a provider inside the enterprise network.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9184"/>
            <a:ext cx="109728" cy="10972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640080" y="2377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gated path from proposal to report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138160" y="512064"/>
            <a:ext cx="3596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15000"/>
              </a:lnSpc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hard checkpoints sit before deployment. A request that cannot clear them does not reach a provider at all.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58368" y="1536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193852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28600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case, expected volume and business justification submitted.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86684" y="2240280"/>
            <a:ext cx="109728" cy="182880"/>
          </a:xfrm>
          <a:prstGeom prst="chevron">
            <a:avLst/>
          </a:prstGeom>
          <a:solidFill>
            <a:srgbClr val="91A0B7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300984" y="13716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3300984" y="1371600"/>
            <a:ext cx="2724912" cy="41148"/>
          </a:xfrm>
          <a:prstGeom prst="rect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02152" y="1536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157216" y="155448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9F4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157216" y="15544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02152" y="193852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approval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02152" y="228600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business owner accepts the outcome and the cost.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0468" y="2240280"/>
            <a:ext cx="109728" cy="182880"/>
          </a:xfrm>
          <a:prstGeom prst="chevron">
            <a:avLst/>
          </a:prstGeom>
          <a:solidFill>
            <a:srgbClr val="91A0B7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6144768" y="13716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144768" y="1371600"/>
            <a:ext cx="2724912" cy="41148"/>
          </a:xfrm>
          <a:prstGeom prst="rect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345936" y="1536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001000" y="155448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9F4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001000" y="15544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45936" y="193852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5936" y="228600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envelope assigned against a cost centre.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74252" y="2240280"/>
            <a:ext cx="109728" cy="182880"/>
          </a:xfrm>
          <a:prstGeom prst="chevron">
            <a:avLst/>
          </a:prstGeom>
          <a:solidFill>
            <a:srgbClr val="91A0B7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988552" y="137160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26"/>
          <p:cNvSpPr/>
          <p:nvPr/>
        </p:nvSpPr>
        <p:spPr>
          <a:xfrm>
            <a:off x="8988552" y="1371600"/>
            <a:ext cx="2724912" cy="41148"/>
          </a:xfrm>
          <a:prstGeom prst="rect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9189720" y="1536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10844784" y="155448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9F4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10844784" y="155448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189720" y="193852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assignment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89720" y="228600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quota and rate limit set per consumer.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52044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121B2D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457200" y="3520440"/>
            <a:ext cx="2724912" cy="41148"/>
          </a:xfrm>
          <a:prstGeom prst="rect">
            <a:avLst/>
          </a:prstGeom>
          <a:solidFill>
            <a:srgbClr val="FF9F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658368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2313432" y="3703320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FF9F43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2313432" y="370332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9F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58368" y="40873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policy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" y="443484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issued, model tier pinned, policy applied.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3186684" y="4389120"/>
            <a:ext cx="109728" cy="182880"/>
          </a:xfrm>
          <a:prstGeom prst="chevron">
            <a:avLst/>
          </a:prstGeom>
          <a:solidFill>
            <a:srgbClr val="91A0B7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>
            <a:off x="3300984" y="352044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3502152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3502152" y="40873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502152" y="443484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goes live through the gateway, never around it.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030468" y="4389120"/>
            <a:ext cx="109728" cy="182880"/>
          </a:xfrm>
          <a:prstGeom prst="chevron">
            <a:avLst/>
          </a:prstGeom>
          <a:solidFill>
            <a:srgbClr val="91A0B7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5"/>
          <p:cNvSpPr/>
          <p:nvPr/>
        </p:nvSpPr>
        <p:spPr>
          <a:xfrm>
            <a:off x="6144768" y="352044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6345936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6345936" y="40873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345936" y="443484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Usage, anomalies and unit cost tracked continuously.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8874252" y="4389120"/>
            <a:ext cx="109728" cy="182880"/>
          </a:xfrm>
          <a:prstGeom prst="chevron">
            <a:avLst/>
          </a:prstGeom>
          <a:solidFill>
            <a:srgbClr val="91A0B7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8988552" y="3520440"/>
            <a:ext cx="2724912" cy="1920240"/>
          </a:xfrm>
          <a:prstGeom prst="roundRect">
            <a:avLst>
              <a:gd name="adj" fmla="val 3810"/>
            </a:avLst>
          </a:prstGeom>
          <a:solidFill>
            <a:srgbClr val="0E1422"/>
          </a:solidFill>
          <a:ln w="9525">
            <a:solidFill>
              <a:srgbClr val="23304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/>
          <p:nvPr/>
        </p:nvSpPr>
        <p:spPr>
          <a:xfrm>
            <a:off x="9189720" y="368503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700" dirty="0"/>
          </a:p>
        </p:txBody>
      </p:sp>
      <p:sp>
        <p:nvSpPr>
          <p:cNvPr id="54" name="Text 52"/>
          <p:cNvSpPr/>
          <p:nvPr/>
        </p:nvSpPr>
        <p:spPr>
          <a:xfrm>
            <a:off x="9189720" y="4087368"/>
            <a:ext cx="2322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F7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report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189720" y="4434840"/>
            <a:ext cx="23225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Consumption, variance and value reported monthly.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57200" y="58064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1A0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02 to 05 are the gates. Everything after them is observation, not permission.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GitHub Copilot — AI Model Cost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3B1C2"/>
                </a:solidFill>
                <a:latin typeface="Aptos"/>
              </a:defRPr>
            </a:pPr>
            <a:r>
              <a:t>Control model selection to balance developer productivity and AI 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2468880" cy="475488"/>
          </a:xfrm>
          <a:prstGeom prst="roundRect">
            <a:avLst/>
          </a:prstGeom>
          <a:solidFill>
            <a:srgbClr val="1D2D42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417320"/>
            <a:ext cx="1325880" cy="475488"/>
          </a:xfrm>
          <a:prstGeom prst="roundRect">
            <a:avLst/>
          </a:prstGeom>
          <a:solidFill>
            <a:srgbClr val="1D2D42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Input / 1M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1417320" cy="475488"/>
          </a:xfrm>
          <a:prstGeom prst="roundRect">
            <a:avLst/>
          </a:prstGeom>
          <a:solidFill>
            <a:srgbClr val="1D2D42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Output / 1M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417320"/>
            <a:ext cx="1417320" cy="475488"/>
          </a:xfrm>
          <a:prstGeom prst="roundRect">
            <a:avLst/>
          </a:prstGeom>
          <a:solidFill>
            <a:srgbClr val="1D2D42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Relative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78040" y="1417320"/>
            <a:ext cx="2743200" cy="475488"/>
          </a:xfrm>
          <a:prstGeom prst="roundRect">
            <a:avLst/>
          </a:prstGeom>
          <a:solidFill>
            <a:srgbClr val="1D2D42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Recommended Usage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892808"/>
            <a:ext cx="246888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Claude Sonnet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92808"/>
            <a:ext cx="132588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D38C"/>
                </a:solidFill>
                <a:latin typeface="Aptos"/>
              </a:defRPr>
            </a:pPr>
            <a:r>
              <a:t>$2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892808"/>
            <a:ext cx="141732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D38C"/>
                </a:solidFill>
                <a:latin typeface="Aptos"/>
              </a:defRPr>
            </a:pPr>
            <a:r>
              <a:t>$10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892808"/>
            <a:ext cx="141732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D38C"/>
                </a:solidFill>
                <a:latin typeface="Aptos"/>
              </a:defRPr>
            </a:pPr>
            <a:r>
              <a:t>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78040" y="1892808"/>
            <a:ext cx="274320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>
              <a:defRPr sz="1100" b="1">
                <a:solidFill>
                  <a:srgbClr val="F5F8FC"/>
                </a:solidFill>
                <a:latin typeface="Aptos"/>
              </a:defRPr>
            </a:pPr>
            <a:r>
              <a:t>Default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368296"/>
            <a:ext cx="246888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>
              <a:defRPr sz="1100">
                <a:solidFill>
                  <a:srgbClr val="F5F8FC"/>
                </a:solidFill>
                <a:latin typeface="Aptos"/>
              </a:defRPr>
            </a:pPr>
            <a:r>
              <a:t>Claude Opus 4.8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17520" y="2368296"/>
            <a:ext cx="132588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$5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2368296"/>
            <a:ext cx="141732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$25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2368296"/>
            <a:ext cx="141732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~2.5×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2368296"/>
            <a:ext cx="274320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>
              <a:defRPr sz="1100">
                <a:solidFill>
                  <a:srgbClr val="F5F8FC"/>
                </a:solidFill>
                <a:latin typeface="Aptos"/>
              </a:defRPr>
            </a:pPr>
            <a:r>
              <a:t>Complex tasks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843784"/>
            <a:ext cx="246888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>
              <a:defRPr sz="1100">
                <a:solidFill>
                  <a:srgbClr val="F5F8FC"/>
                </a:solidFill>
                <a:latin typeface="Aptos"/>
              </a:defRPr>
            </a:pPr>
            <a:r>
              <a:t>Claude Opus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843784"/>
            <a:ext cx="132588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$5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843784"/>
            <a:ext cx="141732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$25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843784"/>
            <a:ext cx="141732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~2.5×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2843784"/>
            <a:ext cx="2743200" cy="475488"/>
          </a:xfrm>
          <a:prstGeom prst="rect">
            <a:avLst/>
          </a:prstGeom>
          <a:solidFill>
            <a:srgbClr val="101B2A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>
              <a:defRPr sz="1100">
                <a:solidFill>
                  <a:srgbClr val="F5F8FC"/>
                </a:solidFill>
                <a:latin typeface="Aptos"/>
              </a:defRPr>
            </a:pPr>
            <a:r>
              <a:t>Advanced reasoning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319272"/>
            <a:ext cx="246888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>
              <a:defRPr sz="1100">
                <a:solidFill>
                  <a:srgbClr val="F5F8FC"/>
                </a:solidFill>
                <a:latin typeface="Aptos"/>
              </a:defRPr>
            </a:pPr>
            <a:r>
              <a:t>Opus 4.8 Fast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7520" y="3319272"/>
            <a:ext cx="132588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$10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3319272"/>
            <a:ext cx="141732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$50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3319272"/>
            <a:ext cx="141732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F6666"/>
                </a:solidFill>
                <a:latin typeface="Aptos"/>
              </a:defRPr>
            </a:pPr>
            <a:r>
              <a:t>~5×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319272"/>
            <a:ext cx="2743200" cy="475488"/>
          </a:xfrm>
          <a:prstGeom prst="rect">
            <a:avLst/>
          </a:prstGeom>
          <a:solidFill>
            <a:srgbClr val="131F2F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tlCol="0" anchor="ctr"/>
          <a:lstStyle/>
          <a:p>
            <a:pPr algn="l">
              <a:defRPr sz="1100">
                <a:solidFill>
                  <a:srgbClr val="F5F8FC"/>
                </a:solidFill>
                <a:latin typeface="Aptos"/>
              </a:defRPr>
            </a:pPr>
            <a:r>
              <a:t>Exception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794760"/>
            <a:ext cx="3520440" cy="1261872"/>
          </a:xfrm>
          <a:prstGeom prst="roundRect">
            <a:avLst/>
          </a:prstGeom>
          <a:solidFill>
            <a:srgbClr val="142030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AD38C"/>
                </a:solidFill>
                <a:latin typeface="Aptos"/>
              </a:defRPr>
            </a:pPr>
            <a:r>
              <a:t>SONNET 5 → DEFAULT</a:t>
            </a:r>
          </a:p>
          <a:p>
            <a:pPr>
              <a:spcBef>
                <a:spcPts val="700"/>
              </a:spcBef>
              <a:defRPr sz="1100">
                <a:solidFill>
                  <a:srgbClr val="F5F8FC"/>
                </a:solidFill>
                <a:latin typeface="Aptos"/>
              </a:defRPr>
            </a:pPr>
            <a:r>
              <a:t>Routine coding</a:t>
            </a:r>
            <a:br/>
            <a:r>
              <a:t>SQL • Debugging • Documentation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0248" y="3794760"/>
            <a:ext cx="3520440" cy="1261872"/>
          </a:xfrm>
          <a:prstGeom prst="roundRect">
            <a:avLst/>
          </a:prstGeom>
          <a:solidFill>
            <a:srgbClr val="142030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6666"/>
                </a:solidFill>
                <a:latin typeface="Aptos"/>
              </a:defRPr>
            </a:pPr>
            <a:r>
              <a:t>OPUS → CONTROLLED ACCESS</a:t>
            </a:r>
          </a:p>
          <a:p>
            <a:pPr>
              <a:spcBef>
                <a:spcPts val="700"/>
              </a:spcBef>
              <a:defRPr sz="1100">
                <a:solidFill>
                  <a:srgbClr val="F5F8FC"/>
                </a:solidFill>
                <a:latin typeface="Aptos"/>
              </a:defRPr>
            </a:pPr>
            <a:r>
              <a:t>Complex architecture</a:t>
            </a:r>
            <a:br/>
            <a:r>
              <a:t>Difficult debugging • Advanced reasoning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91856" y="3794760"/>
            <a:ext cx="3520440" cy="1261872"/>
          </a:xfrm>
          <a:prstGeom prst="roundRect">
            <a:avLst/>
          </a:prstGeom>
          <a:solidFill>
            <a:srgbClr val="142030"/>
          </a:solidFill>
          <a:ln>
            <a:solidFill>
              <a:srgbClr val="334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B90FF"/>
                </a:solidFill>
                <a:latin typeface="Aptos"/>
              </a:defRPr>
            </a:pPr>
            <a:r>
              <a:t>FINOPS CONTROLS</a:t>
            </a:r>
          </a:p>
          <a:p>
            <a:pPr>
              <a:spcBef>
                <a:spcPts val="700"/>
              </a:spcBef>
              <a:defRPr sz="1100">
                <a:solidFill>
                  <a:srgbClr val="F5F8FC"/>
                </a:solidFill>
                <a:latin typeface="Aptos"/>
              </a:defRPr>
            </a:pPr>
            <a:r>
              <a:t>Model Policy → Usage Visibility</a:t>
            </a:r>
            <a:br/>
            <a:r>
              <a:t>AI Credits → Budget Alerts → Monthly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5303520"/>
            <a:ext cx="11064240" cy="914400"/>
          </a:xfrm>
          <a:prstGeom prst="roundRect">
            <a:avLst/>
          </a:prstGeom>
          <a:solidFill>
            <a:srgbClr val="0E2E28"/>
          </a:solidFill>
          <a:ln>
            <a:solidFill>
              <a:srgbClr val="2AD3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AD38C"/>
                </a:solidFill>
                <a:latin typeface="Aptos"/>
              </a:defRPr>
            </a:pPr>
            <a:r>
              <a:t>KEY MESSAGE</a:t>
            </a:r>
          </a:p>
          <a:p>
            <a:pPr>
              <a:defRPr sz="1700" b="1">
                <a:solidFill>
                  <a:srgbClr val="F5F8FC"/>
                </a:solidFill>
                <a:latin typeface="Aptos Display"/>
              </a:defRPr>
            </a:pPr>
            <a:r>
              <a:t>Sonnet by default → Opus by exception → Monitor consumption by user/team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35508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A3B1C2"/>
                </a:solidFill>
                <a:latin typeface="Aptos"/>
              </a:defRPr>
            </a:pPr>
            <a:r>
              <a:t>Current promotional saving: shifting routine workloads from Opus to Sonnet can reduce model token cost by ~60% through 31 Aug 2026.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841248"/>
            <a:ext cx="3429000" cy="502920"/>
          </a:xfrm>
          <a:prstGeom prst="roundRect">
            <a:avLst/>
          </a:prstGeom>
          <a:solidFill>
            <a:srgbClr val="3D2B0C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B84D"/>
                </a:solidFill>
                <a:latin typeface="Aptos"/>
              </a:defRPr>
            </a:pPr>
            <a:r>
              <a:t>PROMOTIONAL PRICING • VALID THROUGH 31 AUG 2026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047488"/>
            <a:ext cx="11064240" cy="301752"/>
          </a:xfrm>
          <a:prstGeom prst="roundRect">
            <a:avLst/>
          </a:prstGeom>
          <a:solidFill>
            <a:srgbClr val="3D2B0C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60">
                <a:solidFill>
                  <a:srgbClr val="F5F8FC"/>
                </a:solidFill>
                <a:latin typeface="Aptos"/>
              </a:defRPr>
            </a:pPr>
            <a:r>
              <a:t>Pricing Note: Sonnet 5 pricing ($2 input / $10 output per 1M tokens) is promotional through August 31, 2026. Reassess pricing after the promotion 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4470</Words>
  <Application>Microsoft Office PowerPoint</Application>
  <PresentationFormat>Widescreen</PresentationFormat>
  <Paragraphs>1294</Paragraphs>
  <Slides>25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Cost Dashboard · May–Jul 2026</dc:title>
  <dc:subject>PptxGenJS Presentation</dc:subject>
  <dc:creator>Harel Insurance · Cloud FinOps</dc:creator>
  <cp:lastModifiedBy>אריאל גזית</cp:lastModifiedBy>
  <cp:revision>4</cp:revision>
  <dcterms:created xsi:type="dcterms:W3CDTF">2026-08-07T21:19:22Z</dcterms:created>
  <dcterms:modified xsi:type="dcterms:W3CDTF">2026-08-13T05:42:08Z</dcterms:modified>
</cp:coreProperties>
</file>