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FF6B7A"/>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IVR - Main Stable - 17.8</c:v>
                  </c:pt>
                  <c:pt idx="1">
                    <c:v>voice stress test mike</c:v>
                  </c:pt>
                  <c:pt idx="2">
                    <c:v>onedoc-processor-worker</c:v>
                  </c:pt>
                  <c:pt idx="3">
                    <c:v>agent (Azure)</c:v>
                  </c:pt>
                  <c:pt idx="4">
                    <c:v>jeff---pension-copilot</c:v>
                  </c:pt>
                  <c:pt idx="5">
                    <c:v>claims-copilot (Azure)</c:v>
                  </c:pt>
                  <c:pt idx="6">
                    <c:v>(unlabeled) (Azure)</c:v>
                  </c:pt>
                  <c:pt idx="7">
                    <c:v>insureGen</c:v>
                  </c:pt>
                  <c:pt idx="8">
                    <c:v>unknown (Claude)</c:v>
                  </c:pt>
                  <c:pt idx="9">
                    <c:v>cli</c:v>
                  </c:pt>
                </c:lvl>
              </c:multiLvlStrCache>
            </c:multiLvlStrRef>
          </c:cat>
          <c:val>
            <c:numRef>
              <c:f>Sheet1!$B$2:$B$11</c:f>
              <c:numCache>
                <c:formatCode>General</c:formatCode>
                <c:ptCount val="10"/>
                <c:pt idx="0">
                  <c:v>4.351578947368421</c:v>
                </c:pt>
                <c:pt idx="1">
                  <c:v>4.830526315789474</c:v>
                </c:pt>
                <c:pt idx="2">
                  <c:v>5.737266553480476</c:v>
                </c:pt>
                <c:pt idx="3">
                  <c:v>31.675229202037347</c:v>
                </c:pt>
                <c:pt idx="4">
                  <c:v>59.397894736842105</c:v>
                </c:pt>
                <c:pt idx="5">
                  <c:v>79.78383701188456</c:v>
                </c:pt>
                <c:pt idx="6">
                  <c:v>107.59460101867572</c:v>
                </c:pt>
                <c:pt idx="7">
                  <c:v>121.6025127334465</c:v>
                </c:pt>
                <c:pt idx="8">
                  <c:v>146.31736842105263</c:v>
                </c:pt>
                <c:pt idx="9">
                  <c:v>191.81881154499152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to date, 01/08/2026 to 19/08/2026, 19 days.
  $24,563 estimated so far
  691,367 invocations
  64 applications, against 45 in July
SAY THE COMPARISON PROPERLY, ONCE, AT THE TOP: this is 19 days against a
31-day month. The totals are $24,563 and $19,351, which looks like
27% growth and is not. Per day it is $1,293 against $624, which is
2.1x. Everything comparative in this deck is per day for that reason.
The good news is on the second slide and it is real: almost all of the
increase is more calls, not a worse price. Lead with the number, then give
them that, then give them the part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DAY, WHICH IS THE ONLY HONEST COMPARISON
  July       $624/day over 31 days
  August   $1,293/day over 19 days
  2.1x
BY PROVIDER, PER DAY
  Azure      $276 -&gt;   $636  2.3x
  Claude     $274 -&gt;   $608  2.2x
  GCP         $75 -&gt;    $48  0.6x
IF ASKED FOR A FULL-MONTH NUMBER: about $40,077. Give it as a run-rate
and say what it assumes. Nineteen days into a month is early, the last day
in the export may be partial, and a single new workload can move it.
DO NOT LET THIS LAND AS ALARM. The next slide is why it is happening, and
the answer is adoption rather than waste. Getting that order wrong turns a
growth story into a cost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DECOMPOSITION, AND IT IS EXACT
  calls per day     18,072 -&gt; 36,388   2.0x
  cost per 1,000    $34.54 -&gt; $35.53     1.03x
  cost per day      $624 -&gt; $1,293   2.1x
THIS IS THE REASSURING SLIDE AND IT IS HONESTLY REASSURING. We are not being
charged more for the same thing. We are doing more of it.
THE HONEST CAVEAT, IF SOMEONE PRESSES: a flat blended price is a mix result,
not a promise that nothing moved. The agent workload on Claude doubled its
cost per call. It is offset in the blend by cheaper high-volume traffic
growing faster. Both facts are true and the second does not cancel the first.
WHERE THIS LEADS: if the calls are worth making, the bill is fine and we
budget for it. If they are not, the fix is at the application, not the
contract. That is the decision this deck is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DAY BY TEAM
  insait         $239 -&gt;   $560  2.3x
  ai-factory     $170 -&gt;   $416  2.5x
  solugen        $194 -&gt;   $305  1.6x
  onedoc           $5 -&gt;    $11  2.2x
  unknown          $2 -&gt;     $0  0.0x
  apim            $15 -&gt;     $0  new
THE SINGLE BIGGEST MOVER IS ONE APPLICATION, NOT ONE TEAM:
  cli went $15 to $207 a day, 13.7x.
  That is $192 a day of the $669 total increase, on its own.
  It is developer tooling inside ai-factory, which is worth knowing before
  anyone treats the growth as customer-facing demand.
SOLUGEN IS FLAT IN CHARACTER: one application, high volume, cheap per call,
growing steadily. It needs no intervention, it needs a budget line.
IF ASKED WHY apim DISAPPEARED: its one row, bedrock-session, is not in the
August export at all. Either the workload stopped or the tag moved. Worth
checking, but it was $474 in July, so it is not what moved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LARGEST INCREASES IN DAILY RATE
  cli                                $15 -&gt;   $207  +  $192/day  13.7x
  unknown (Claude)                    $0 -&gt;   $146  +  $146/day  new
  insureGen                         $184 -&gt;   $305  +  $122/day  1.7x
  (unlabeled) (Azure)                $11 -&gt;   $118  +  $108/day  10.9x
  claims-copilot (Azure)             $77 -&gt;   $156  +   $80/day  2.0x
  jeff---pension-copilot              $0 -&gt;    $59  +   $59/day  new
  agent (Azure)                       $1 -&gt;    $32  +   $32/day  62.9x
  onedoc-processor-worker             $5 -&gt;    $11  +    $6/day  2.2x
  voice stress test mike              $0 -&gt;     $5  +    $5/day  new
  IVR - Main Stable - 17.8            $0 -&gt;     $4  +    $4/day  new
LARGEST DECREASES
  agent (Claude)                    $238 -&gt;   $177  0.7x
  idp-ocr-hybrid                     $23 -&gt;     $0  gone
  bedrock-session                    $15 -&gt;     $0  gone
  ai-factory-yacovz                   $3 -&gt;     $0  gone
THE ONE TO EXPLAIN: cli is the AI Factory's developer CLI. It went
from $15 to $207 a day. That is internal engineering usage,
and it is the largest single change in the bill. It is not obviously wrong,
but it is the one line nobody has budgeted for, and it deserves an owner.
TWO OF THE TOP FIVE INCREASES ARE UNTAGGED. That is the next slide, and it
is the reason this list is less useful than it should be.
WHAT ALSO CHANGED, QUIETLY: the whole idp-ocr-hybrid pipeline on GCP dropped
out. If that was deliberate, good. If nobody knows, that is a finding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$9,184  Bedrock actual spend, no application tag
      $666  Bedrock guardrail fees, a separate charge line
    $9,850  together
SCALE IT FOR THEM: Bedrock actual we can attribute is $11,517. Bedrock
actual we cannot is $9,184. So 44% of our Bedrock spend has no
application on it. That is not a rounding issue, it is most of a provider.
WHY IT MATTERS MORE THAN THE NUMBER: every chargeback conversation, every
quota, every 'which team is this' question runs off the tagged rows. A
44% blind spot makes all of them arguable.
BE CAREFUL WHAT YOU CLAIM: July's file does not mention this bucket. That
does not mean it did not exist in July. Do not say the charges are new. Say
that this export shows them and the last one did not, and that we should ask
for the same line on every future export.
GUARDRAIL FEES ARE A SEPARATE POINT: $666 for the safety layer, billed
apart from inference. Small, but it is a real cost of running AI safely and
it belongs in the number when anyone asks what AI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HERE IS THE FIRST ROW. Spend with no application name went from
$376 to $5,031, 1.9% of the month to 20.5%.
AND WE CAN PROBABLY SAY WHERE IT WENT. July's largest application was
agent on Claude, $7,378 over 60,707 calls. In August
agent is smaller and a new row called 'unknown' appears on the same team,
same provider, $2,780 over 30,397 calls. That is very
likely the same workload having lost its label. Say 'likely', not 'is'.
NAME SPRAWL: 10 rows beginning IVR, 7 for the pension copilot,
differing by version and by 'copy' and by date. Each is a different row in
every report, so nothing can be trended and no budget can be set.
THE GOOD NEWS, AND MEAN IT: the estimator is now accurate. July was 30.8% low
on the rows we can check, August is within 0.4%. Whoever fixed that should hear so.
TONE: none of this is anyone's fault and none of it is expensive to fix.
A to-do list, not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tag the Bedrock spend, recover the lost label, and
tell us whether the new volume is worth having.
THE FIRST THREE ARE FREE. They are how the data is produced, not how AI is
used. Nobody has to stop building anything, and it is worth saying that out
loud, because a cost slide in a CIO meeting is usually heard as a restriction.
THE FOURTH IS THE ONLY REAL DECISION IN THE DECK. The bill doubled because
usage doubled at a flat price. There is no procurement fix for that and no
waste to cut. Either the calls are worth making, in which case we budget
for $40,077 a month and move on, or some of them are not, in which case
the fix is at the application and the owners are the four teams on slide four.
IF YOU ARE ASKED FOR ONE NUMBER TO REMEMBER: $1,293 a day, doubling
since July, and 29% of it currently belongs to nobody.
CLOSE ON THE POSITIVE, BECAUSE IT IS TRUE: the estimate is now accurate, the
growth is adoption rather than waste, and the fixes are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FF6B7A">
              <a:alpha val="8000"/>
            </a:srgbClr>
          </a:solidFill>
          <a:ln w="12700">
            <a:solidFill>
              <a:srgbClr val="FF6B7A">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033016"/>
            <a:ext cx="8229600" cy="274320"/>
          </a:xfrm>
          <a:prstGeom prst="rect">
            <a:avLst/>
          </a:prstGeom>
          <a:noFill/>
          <a:ln/>
        </p:spPr>
        <p:txBody>
          <a:bodyPr wrap="square" lIns="0" tIns="0" rIns="0" bIns="0" rtlCol="0" anchor="ctr"/>
          <a:lstStyle/>
          <a:p>
            <a:pPr indent="0" marL="0">
              <a:buNone/>
            </a:pPr>
            <a:r>
              <a:rPr lang="en-US" sz="1300" b="1" spc="300" kern="0" dirty="0">
                <a:solidFill>
                  <a:srgbClr val="FF6B7A"/>
                </a:solidFill>
                <a:latin typeface="Calibri" pitchFamily="34" charset="0"/>
                <a:ea typeface="Calibri" pitchFamily="34" charset="-122"/>
                <a:cs typeface="Calibri" pitchFamily="34" charset="-120"/>
              </a:rPr>
              <a:t>AI COST, 1 TO 19 AUGUST 2026</a:t>
            </a:r>
            <a:endParaRPr lang="en-US" sz="1300" dirty="0"/>
          </a:p>
        </p:txBody>
      </p:sp>
      <p:sp>
        <p:nvSpPr>
          <p:cNvPr id="6" name="Text 4"/>
          <p:cNvSpPr/>
          <p:nvPr/>
        </p:nvSpPr>
        <p:spPr>
          <a:xfrm>
            <a:off x="457200" y="2380488"/>
            <a:ext cx="8412480" cy="185928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AI bill doubled,</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it is not the price</a:t>
            </a:r>
            <a:endParaRPr lang="en-US" sz="4000" dirty="0"/>
          </a:p>
        </p:txBody>
      </p:sp>
      <p:sp>
        <p:nvSpPr>
          <p:cNvPr id="7" name="Text 5"/>
          <p:cNvSpPr/>
          <p:nvPr/>
        </p:nvSpPr>
        <p:spPr>
          <a:xfrm>
            <a:off x="457200" y="436778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$1,293 a day so far, against $624 a day across July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RUN RATE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The daily rate has doubled since July</a:t>
            </a:r>
            <a:endParaRPr lang="en-US" sz="227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19 days against a full month, so the comparison is per day rather than per period.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August figures are month to date, 01/08/2026 to 19/08/2026. The final day of the export may be partial, which would make the daily rate here slightly conservative.</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$1,293</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a day so far in August, against $624 a day across July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2.1x the July rate</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$636/day</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2.3x 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$608/day</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2.2x 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$48/day</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0.6x 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DOES AND DOES NOT MEAN</a:t>
            </a:r>
            <a:endParaRPr lang="en-US" sz="1200" dirty="0"/>
          </a:p>
        </p:txBody>
      </p:sp>
      <p:sp>
        <p:nvSpPr>
          <p:cNvPr id="24" name="Shape 22"/>
          <p:cNvSpPr/>
          <p:nvPr/>
        </p:nvSpPr>
        <p:spPr>
          <a:xfrm>
            <a:off x="457200" y="4443984"/>
            <a:ext cx="64008" cy="64008"/>
          </a:xfrm>
          <a:prstGeom prst="rect">
            <a:avLst/>
          </a:prstGeom>
          <a:solidFill>
            <a:srgbClr val="FF6B7A"/>
          </a:solidFill>
          <a:ln w="12700">
            <a:solidFill>
              <a:srgbClr val="FF6B7A"/>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this rate a full August lands near $40,077, against $19,351 for July.</a:t>
            </a:r>
            <a:endParaRPr lang="en-US" sz="1250" dirty="0"/>
          </a:p>
        </p:txBody>
      </p:sp>
      <p:sp>
        <p:nvSpPr>
          <p:cNvPr id="26" name="Shape 24"/>
          <p:cNvSpPr/>
          <p:nvPr/>
        </p:nvSpPr>
        <p:spPr>
          <a:xfrm>
            <a:off x="457200" y="5010912"/>
            <a:ext cx="64008" cy="64008"/>
          </a:xfrm>
          <a:prstGeom prst="rect">
            <a:avLst/>
          </a:prstGeom>
          <a:solidFill>
            <a:srgbClr val="FF6B7A"/>
          </a:solidFill>
          <a:ln w="12700">
            <a:solidFill>
              <a:srgbClr val="FF6B7A"/>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and Claude both roughly doubled. GCP went the other way, down to $48 a day, as one OCR pipeline stopped.</a:t>
            </a:r>
            <a:endParaRPr lang="en-US" sz="1250" dirty="0"/>
          </a:p>
        </p:txBody>
      </p:sp>
      <p:sp>
        <p:nvSpPr>
          <p:cNvPr id="28" name="Shape 26"/>
          <p:cNvSpPr/>
          <p:nvPr/>
        </p:nvSpPr>
        <p:spPr>
          <a:xfrm>
            <a:off x="457200" y="5577840"/>
            <a:ext cx="64008" cy="64008"/>
          </a:xfrm>
          <a:prstGeom prst="rect">
            <a:avLst/>
          </a:prstGeom>
          <a:solidFill>
            <a:srgbClr val="FF6B7A"/>
          </a:solidFill>
          <a:ln w="12700">
            <a:solidFill>
              <a:srgbClr val="FF6B7A"/>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projection assumes the rest of the month looks like the first 19 days. It is a run-rate, not a forecast.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WHY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Almost all of it is more calls, not a worse price</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Daily cost is calls per day times cost per call, so the growth splits cleanly between the two.</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Growth in cost is growth in volume multiplied by growth in unit price: 2.01 times 1.03 is 2.07. All three are derived from the same rows, so the split closes exactly.</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DAY</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2.1x</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$624 to $1,293</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CALLS PER DAY</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2.0x</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18,072 to 36,388</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PRICE PER 1,000 CALLS</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1.03x</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$34.54 to $35.53</a:t>
            </a:r>
            <a:endParaRPr lang="en-US" sz="1200" dirty="0"/>
          </a:p>
        </p:txBody>
      </p:sp>
      <p:sp>
        <p:nvSpPr>
          <p:cNvPr id="20" name="Shape 18"/>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1" name="Text 19"/>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2.9%</a:t>
            </a:r>
            <a:endParaRPr lang="en-US" sz="6600" dirty="0"/>
          </a:p>
        </p:txBody>
      </p:sp>
      <p:sp>
        <p:nvSpPr>
          <p:cNvPr id="22" name="Text 20"/>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is all the blended price moved. The rest of the increase is volume: we are making 2.0x the calls we made in July, at very nearly the same cost each.</a:t>
            </a:r>
            <a:endParaRPr lang="en-US" sz="1550" dirty="0"/>
          </a:p>
        </p:txBody>
      </p:sp>
      <p:sp>
        <p:nvSpPr>
          <p:cNvPr id="23" name="Text 21"/>
          <p:cNvSpPr/>
          <p:nvPr/>
        </p:nvSpPr>
        <p:spPr>
          <a:xfrm>
            <a:off x="457200" y="4434840"/>
            <a:ext cx="11277295"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THAT CHANGES ABOUT THE RESPONSE</a:t>
            </a:r>
            <a:endParaRPr lang="en-US" sz="1200" dirty="0"/>
          </a:p>
        </p:txBody>
      </p:sp>
      <p:sp>
        <p:nvSpPr>
          <p:cNvPr id="24" name="Shape 22"/>
          <p:cNvSpPr/>
          <p:nvPr/>
        </p:nvSpPr>
        <p:spPr>
          <a:xfrm>
            <a:off x="457200" y="4809744"/>
            <a:ext cx="64008" cy="64008"/>
          </a:xfrm>
          <a:prstGeom prst="rect">
            <a:avLst/>
          </a:prstGeom>
          <a:solidFill>
            <a:srgbClr val="3DDC97"/>
          </a:solidFill>
          <a:ln w="12700">
            <a:solidFill>
              <a:srgbClr val="3DDC97"/>
            </a:solidFill>
            <a:prstDash val="solid"/>
          </a:ln>
        </p:spPr>
      </p:sp>
      <p:sp>
        <p:nvSpPr>
          <p:cNvPr id="25" name="Text 23"/>
          <p:cNvSpPr/>
          <p:nvPr/>
        </p:nvSpPr>
        <p:spPr>
          <a:xfrm>
            <a:off x="630936" y="472744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an adoption curve, not a pricing problem. Renegotiating rates or switching models would address the 2.9%, not the 2.1x.</a:t>
            </a:r>
            <a:endParaRPr lang="en-US" sz="1250" dirty="0"/>
          </a:p>
        </p:txBody>
      </p:sp>
      <p:sp>
        <p:nvSpPr>
          <p:cNvPr id="26" name="Shape 24"/>
          <p:cNvSpPr/>
          <p:nvPr/>
        </p:nvSpPr>
        <p:spPr>
          <a:xfrm>
            <a:off x="457200" y="5157216"/>
            <a:ext cx="64008" cy="64008"/>
          </a:xfrm>
          <a:prstGeom prst="rect">
            <a:avLst/>
          </a:prstGeom>
          <a:solidFill>
            <a:srgbClr val="3DDC97"/>
          </a:solidFill>
          <a:ln w="12700">
            <a:solidFill>
              <a:srgbClr val="3DDC97"/>
            </a:solidFill>
            <a:prstDash val="solid"/>
          </a:ln>
        </p:spPr>
      </p:sp>
      <p:sp>
        <p:nvSpPr>
          <p:cNvPr id="27" name="Text 25"/>
          <p:cNvSpPr/>
          <p:nvPr/>
        </p:nvSpPr>
        <p:spPr>
          <a:xfrm>
            <a:off x="630936" y="507492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question to put to each team is whether the extra calls are worth making, which is a product question rather than a procurement one.</a:t>
            </a:r>
            <a:endParaRPr lang="en-US" sz="1250" dirty="0"/>
          </a:p>
        </p:txBody>
      </p:sp>
      <p:sp>
        <p:nvSpPr>
          <p:cNvPr id="28" name="Shape 26"/>
          <p:cNvSpPr/>
          <p:nvPr/>
        </p:nvSpPr>
        <p:spPr>
          <a:xfrm>
            <a:off x="457200" y="5724144"/>
            <a:ext cx="64008" cy="64008"/>
          </a:xfrm>
          <a:prstGeom prst="rect">
            <a:avLst/>
          </a:prstGeom>
          <a:solidFill>
            <a:srgbClr val="3DDC97"/>
          </a:solidFill>
          <a:ln w="12700">
            <a:solidFill>
              <a:srgbClr val="3DDC97"/>
            </a:solidFill>
            <a:prstDash val="solid"/>
          </a:ln>
        </p:spPr>
      </p:sp>
      <p:sp>
        <p:nvSpPr>
          <p:cNvPr id="29" name="Text 27"/>
          <p:cNvSpPr/>
          <p:nvPr/>
        </p:nvSpPr>
        <p:spPr>
          <a:xfrm>
            <a:off x="630936" y="564184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blended price is flat because the mix stayed similar. Inside it, individual applications moved a lot: agent (Claude) went from $122 to $245 per thousand.</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WHERE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insait and ai-factory are 85% of the increase</a:t>
            </a:r>
            <a:endParaRPr lang="en-US" sz="1867"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Daily rate in August, split into the July rate and what was added on top.</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Bars are dollars per day, not period totals, so the two months can sit on the same scale. Team names are folded to one capitalisation, as they are throughout.</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FASTEST GROWING TEAM</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2.5x</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ai-factory, $170 to $416 a day</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TEAM</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$560/day</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43.3% of August so far</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ADDED PER DAY</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$669</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across all teams, against the July rate</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per day by team, August against July</a:t>
            </a:r>
            <a:endParaRPr lang="en-US" sz="1500" dirty="0"/>
          </a:p>
        </p:txBody>
      </p:sp>
      <p:sp>
        <p:nvSpPr>
          <p:cNvPr id="21" name="Text 19"/>
          <p:cNvSpPr/>
          <p:nvPr/>
        </p:nvSpPr>
        <p:spPr>
          <a:xfrm>
            <a:off x="10417759" y="2514600"/>
            <a:ext cx="1316736"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Added in August</a:t>
            </a:r>
            <a:endParaRPr lang="en-US" sz="1200" dirty="0"/>
          </a:p>
        </p:txBody>
      </p:sp>
      <p:sp>
        <p:nvSpPr>
          <p:cNvPr id="22" name="Shape 20"/>
          <p:cNvSpPr/>
          <p:nvPr/>
        </p:nvSpPr>
        <p:spPr>
          <a:xfrm>
            <a:off x="10216591" y="2569464"/>
            <a:ext cx="128016" cy="128016"/>
          </a:xfrm>
          <a:prstGeom prst="rect">
            <a:avLst/>
          </a:prstGeom>
          <a:solidFill>
            <a:srgbClr val="FF6B7A"/>
          </a:solidFill>
          <a:ln w="12700">
            <a:solidFill>
              <a:srgbClr val="FF6B7A"/>
            </a:solidFill>
            <a:prstDash val="solid"/>
          </a:ln>
        </p:spPr>
      </p:sp>
      <p:sp>
        <p:nvSpPr>
          <p:cNvPr id="23" name="Text 21"/>
          <p:cNvSpPr/>
          <p:nvPr/>
        </p:nvSpPr>
        <p:spPr>
          <a:xfrm>
            <a:off x="9218066" y="2514600"/>
            <a:ext cx="833933"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 rate</a:t>
            </a:r>
            <a:endParaRPr lang="en-US" sz="1200" dirty="0"/>
          </a:p>
        </p:txBody>
      </p:sp>
      <p:sp>
        <p:nvSpPr>
          <p:cNvPr id="24" name="Shape 22"/>
          <p:cNvSpPr/>
          <p:nvPr/>
        </p:nvSpPr>
        <p:spPr>
          <a:xfrm>
            <a:off x="9016898" y="2569464"/>
            <a:ext cx="128016" cy="128016"/>
          </a:xfrm>
          <a:prstGeom prst="rect">
            <a:avLst/>
          </a:prstGeom>
          <a:solidFill>
            <a:srgbClr val="2F8CFF"/>
          </a:solidFill>
          <a:ln w="12700">
            <a:solidFill>
              <a:srgbClr val="2F8CFF"/>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2.3x the July rate</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4216163" cy="324888"/>
          </a:xfrm>
          <a:prstGeom prst="rect">
            <a:avLst/>
          </a:prstGeom>
          <a:solidFill>
            <a:srgbClr val="2F8CFF"/>
          </a:solidFill>
          <a:ln w="12700">
            <a:solidFill>
              <a:srgbClr val="2F8CFF"/>
            </a:solidFill>
            <a:prstDash val="solid"/>
          </a:ln>
        </p:spPr>
      </p:sp>
      <p:sp>
        <p:nvSpPr>
          <p:cNvPr id="29" name="Shape 27"/>
          <p:cNvSpPr/>
          <p:nvPr/>
        </p:nvSpPr>
        <p:spPr>
          <a:xfrm>
            <a:off x="4673363" y="3120396"/>
            <a:ext cx="5689532" cy="324888"/>
          </a:xfrm>
          <a:prstGeom prst="rect">
            <a:avLst/>
          </a:prstGeom>
          <a:solidFill>
            <a:srgbClr val="FF6B7A"/>
          </a:solidFill>
          <a:ln w="12700">
            <a:solidFill>
              <a:srgbClr val="FF6B7A"/>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$560</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43% the July rate, 57% added in August</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2.5x the July rate</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2998857" cy="324888"/>
          </a:xfrm>
          <a:prstGeom prst="rect">
            <a:avLst/>
          </a:prstGeom>
          <a:solidFill>
            <a:srgbClr val="2F8CFF"/>
          </a:solidFill>
          <a:ln w="12700">
            <a:solidFill>
              <a:srgbClr val="2F8CFF"/>
            </a:solidFill>
            <a:prstDash val="solid"/>
          </a:ln>
        </p:spPr>
      </p:sp>
      <p:sp>
        <p:nvSpPr>
          <p:cNvPr id="36" name="Shape 34"/>
          <p:cNvSpPr/>
          <p:nvPr/>
        </p:nvSpPr>
        <p:spPr>
          <a:xfrm>
            <a:off x="3456057" y="3961644"/>
            <a:ext cx="4357182" cy="324888"/>
          </a:xfrm>
          <a:prstGeom prst="rect">
            <a:avLst/>
          </a:prstGeom>
          <a:solidFill>
            <a:srgbClr val="FF6B7A"/>
          </a:solidFill>
          <a:ln w="12700">
            <a:solidFill>
              <a:srgbClr val="FF6B7A"/>
            </a:solidFill>
            <a:prstDash val="solid"/>
          </a:ln>
        </p:spPr>
      </p:sp>
      <p:sp>
        <p:nvSpPr>
          <p:cNvPr id="37" name="Text 35"/>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$416</a:t>
            </a:r>
            <a:endParaRPr lang="en-US" sz="1300" dirty="0"/>
          </a:p>
        </p:txBody>
      </p:sp>
      <p:sp>
        <p:nvSpPr>
          <p:cNvPr id="38" name="Text 36"/>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41% the July rate, 59% added in August</a:t>
            </a:r>
            <a:endParaRPr lang="en-US" sz="1200" dirty="0"/>
          </a:p>
        </p:txBody>
      </p:sp>
      <p:sp>
        <p:nvSpPr>
          <p:cNvPr id="39" name="Text 37"/>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40" name="Text 38"/>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1.6x the July rate</a:t>
            </a:r>
            <a:endParaRPr lang="en-US" sz="1200" dirty="0"/>
          </a:p>
        </p:txBody>
      </p:sp>
      <p:sp>
        <p:nvSpPr>
          <p:cNvPr id="41" name="Shape 39"/>
          <p:cNvSpPr/>
          <p:nvPr/>
        </p:nvSpPr>
        <p:spPr>
          <a:xfrm>
            <a:off x="457200" y="4802892"/>
            <a:ext cx="9905695" cy="324888"/>
          </a:xfrm>
          <a:prstGeom prst="rect">
            <a:avLst/>
          </a:prstGeom>
          <a:solidFill>
            <a:srgbClr val="0E1422"/>
          </a:solidFill>
          <a:ln w="9525">
            <a:solidFill>
              <a:srgbClr val="23304A"/>
            </a:solidFill>
            <a:prstDash val="solid"/>
          </a:ln>
        </p:spPr>
      </p:sp>
      <p:sp>
        <p:nvSpPr>
          <p:cNvPr id="42" name="Shape 40"/>
          <p:cNvSpPr/>
          <p:nvPr/>
        </p:nvSpPr>
        <p:spPr>
          <a:xfrm>
            <a:off x="457200" y="4802892"/>
            <a:ext cx="3428111" cy="324888"/>
          </a:xfrm>
          <a:prstGeom prst="rect">
            <a:avLst/>
          </a:prstGeom>
          <a:solidFill>
            <a:srgbClr val="2F8CFF"/>
          </a:solidFill>
          <a:ln w="12700">
            <a:solidFill>
              <a:srgbClr val="2F8CFF"/>
            </a:solidFill>
            <a:prstDash val="solid"/>
          </a:ln>
        </p:spPr>
      </p:sp>
      <p:sp>
        <p:nvSpPr>
          <p:cNvPr id="43" name="Shape 41"/>
          <p:cNvSpPr/>
          <p:nvPr/>
        </p:nvSpPr>
        <p:spPr>
          <a:xfrm>
            <a:off x="3885311" y="4802892"/>
            <a:ext cx="1970068" cy="324888"/>
          </a:xfrm>
          <a:prstGeom prst="rect">
            <a:avLst/>
          </a:prstGeom>
          <a:solidFill>
            <a:srgbClr val="FF6B7A"/>
          </a:solidFill>
          <a:ln w="12700">
            <a:solidFill>
              <a:srgbClr val="FF6B7A"/>
            </a:solidFill>
            <a:prstDash val="solid"/>
          </a:ln>
        </p:spPr>
      </p:sp>
      <p:sp>
        <p:nvSpPr>
          <p:cNvPr id="44" name="Text 42"/>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$305</a:t>
            </a:r>
            <a:endParaRPr lang="en-US" sz="1300" dirty="0"/>
          </a:p>
        </p:txBody>
      </p:sp>
      <p:sp>
        <p:nvSpPr>
          <p:cNvPr id="45" name="Text 43"/>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64% the July rate, 36% added in August</a:t>
            </a:r>
            <a:endParaRPr lang="en-US" sz="1200" dirty="0"/>
          </a:p>
        </p:txBody>
      </p:sp>
      <p:sp>
        <p:nvSpPr>
          <p:cNvPr id="46" name="Text 44"/>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onedoc and 9 smaller teams</a:t>
            </a:r>
            <a:endParaRPr lang="en-US" sz="1200" dirty="0"/>
          </a:p>
        </p:txBody>
      </p:sp>
      <p:sp>
        <p:nvSpPr>
          <p:cNvPr id="47" name="Text 45"/>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0.5x the July rate</a:t>
            </a:r>
            <a:endParaRPr lang="en-US" sz="1200" dirty="0"/>
          </a:p>
        </p:txBody>
      </p:sp>
      <p:sp>
        <p:nvSpPr>
          <p:cNvPr id="48" name="Shape 46"/>
          <p:cNvSpPr/>
          <p:nvPr/>
        </p:nvSpPr>
        <p:spPr>
          <a:xfrm>
            <a:off x="457200" y="5644140"/>
            <a:ext cx="9905695" cy="324888"/>
          </a:xfrm>
          <a:prstGeom prst="rect">
            <a:avLst/>
          </a:prstGeom>
          <a:solidFill>
            <a:srgbClr val="0E1422"/>
          </a:solidFill>
          <a:ln w="9525">
            <a:solidFill>
              <a:srgbClr val="23304A"/>
            </a:solidFill>
            <a:prstDash val="solid"/>
          </a:ln>
        </p:spPr>
      </p:sp>
      <p:sp>
        <p:nvSpPr>
          <p:cNvPr id="49" name="Shape 47"/>
          <p:cNvSpPr/>
          <p:nvPr/>
        </p:nvSpPr>
        <p:spPr>
          <a:xfrm>
            <a:off x="457200" y="5644140"/>
            <a:ext cx="191082" cy="324888"/>
          </a:xfrm>
          <a:prstGeom prst="rect">
            <a:avLst/>
          </a:prstGeom>
          <a:solidFill>
            <a:srgbClr val="2F8CFF"/>
          </a:solidFill>
          <a:ln w="12700">
            <a:solidFill>
              <a:srgbClr val="2F8CFF"/>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$11</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the July rate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MOVERS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cli alone is 29% of the increase</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Change in cost per day, August against July. Largest increases only.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cli is the AI Factory's developer command line, so the largest single increase in the bill is internal engineering usage. Two of the other top increases are untagged rows rather than named applications, which is why the tagging slide follows this one.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Increase in cost per day, by application</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BIGGEST SINGLE MOVER</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+$192/day</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cli, 13.7x its July rate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NEW APPLICATIONS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not present in July at all, $233 a day between them</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APPLICATIONS THAT STOPPED</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gone from the export, $42 a day of July spend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UNATTRIBUTED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$9,850 of real spend sits on no application at all</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August export lists these separately, outside every application row and every team total.</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July's export names no bucket like this, which is not the same as there not having been one. Nothing here claims the charges are new; what is new is that we can see them.</a:t>
            </a:r>
            <a:endParaRPr lang="en-US" sz="1200" dirty="0"/>
          </a:p>
        </p:txBody>
      </p:sp>
      <p:sp>
        <p:nvSpPr>
          <p:cNvPr id="8" name="Shape 6"/>
          <p:cNvSpPr/>
          <p:nvPr/>
        </p:nvSpPr>
        <p:spPr>
          <a:xfrm>
            <a:off x="457200" y="1280160"/>
            <a:ext cx="6243682"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804770"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55.6%</a:t>
            </a:r>
            <a:endParaRPr lang="en-US" sz="3000" dirty="0"/>
          </a:p>
        </p:txBody>
      </p:sp>
      <p:sp>
        <p:nvSpPr>
          <p:cNvPr id="10" name="Text 8"/>
          <p:cNvSpPr/>
          <p:nvPr/>
        </p:nvSpPr>
        <p:spPr>
          <a:xfrm>
            <a:off x="676656" y="1755648"/>
            <a:ext cx="5804770"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ATTRIBUTED TO AN APPLICATION</a:t>
            </a:r>
            <a:endParaRPr lang="en-US" sz="1200" dirty="0"/>
          </a:p>
        </p:txBody>
      </p:sp>
      <p:sp>
        <p:nvSpPr>
          <p:cNvPr id="11" name="Text 9"/>
          <p:cNvSpPr/>
          <p:nvPr/>
        </p:nvSpPr>
        <p:spPr>
          <a:xfrm>
            <a:off x="676656" y="2157984"/>
            <a:ext cx="6024226"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$11,517, Bedrock actual spend carried on named rows</a:t>
            </a:r>
            <a:endParaRPr lang="en-US" sz="1200" dirty="0"/>
          </a:p>
        </p:txBody>
      </p:sp>
      <p:sp>
        <p:nvSpPr>
          <p:cNvPr id="12" name="Shape 10"/>
          <p:cNvSpPr/>
          <p:nvPr/>
        </p:nvSpPr>
        <p:spPr>
          <a:xfrm>
            <a:off x="6755746" y="1280160"/>
            <a:ext cx="4978749" cy="786384"/>
          </a:xfrm>
          <a:prstGeom prst="roundRect">
            <a:avLst>
              <a:gd name="adj" fmla="val 5814"/>
            </a:avLst>
          </a:prstGeom>
          <a:solidFill>
            <a:srgbClr val="FF6B7A"/>
          </a:solidFill>
          <a:ln w="12700">
            <a:solidFill>
              <a:srgbClr val="FF6B7A"/>
            </a:solidFill>
            <a:prstDash val="solid"/>
          </a:ln>
        </p:spPr>
      </p:sp>
      <p:sp>
        <p:nvSpPr>
          <p:cNvPr id="13" name="Text 11"/>
          <p:cNvSpPr/>
          <p:nvPr/>
        </p:nvSpPr>
        <p:spPr>
          <a:xfrm>
            <a:off x="6975202" y="1353312"/>
            <a:ext cx="4539837"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44.4%</a:t>
            </a:r>
            <a:endParaRPr lang="en-US" sz="3000" dirty="0"/>
          </a:p>
        </p:txBody>
      </p:sp>
      <p:sp>
        <p:nvSpPr>
          <p:cNvPr id="14" name="Text 12"/>
          <p:cNvSpPr/>
          <p:nvPr/>
        </p:nvSpPr>
        <p:spPr>
          <a:xfrm>
            <a:off x="6975202" y="1755648"/>
            <a:ext cx="4539837"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ATTRIBUTED TO NOTHING</a:t>
            </a:r>
            <a:endParaRPr lang="en-US" sz="1200" dirty="0"/>
          </a:p>
        </p:txBody>
      </p:sp>
      <p:sp>
        <p:nvSpPr>
          <p:cNvPr id="15" name="Text 13"/>
          <p:cNvSpPr/>
          <p:nvPr/>
        </p:nvSpPr>
        <p:spPr>
          <a:xfrm>
            <a:off x="6975202" y="2157984"/>
            <a:ext cx="4759293"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$9,184, Bedrock actual spend with no application on it</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August, from the top of the export to the bottom</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 rows, estimated</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$24,563</a:t>
            </a:r>
            <a:endParaRPr lang="en-US" sz="1200" dirty="0"/>
          </a:p>
        </p:txBody>
      </p:sp>
      <p:sp>
        <p:nvSpPr>
          <p:cNvPr id="21" name="Text 19"/>
          <p:cNvSpPr/>
          <p:nvPr/>
        </p:nvSpPr>
        <p:spPr>
          <a:xfrm>
            <a:off x="457200" y="352044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Untagged Bedrock actual</a:t>
            </a:r>
            <a:endParaRPr lang="en-US" sz="1300" dirty="0"/>
          </a:p>
        </p:txBody>
      </p:sp>
      <p:sp>
        <p:nvSpPr>
          <p:cNvPr id="22" name="Shape 20"/>
          <p:cNvSpPr/>
          <p:nvPr/>
        </p:nvSpPr>
        <p:spPr>
          <a:xfrm>
            <a:off x="3474720" y="3593592"/>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593592"/>
            <a:ext cx="2643810" cy="146304"/>
          </a:xfrm>
          <a:prstGeom prst="roundRect">
            <a:avLst>
              <a:gd name="adj" fmla="val 50000"/>
            </a:avLst>
          </a:prstGeom>
          <a:solidFill>
            <a:srgbClr val="FF6B7A"/>
          </a:solidFill>
          <a:ln w="12700">
            <a:solidFill>
              <a:srgbClr val="FF6B7A"/>
            </a:solidFill>
            <a:prstDash val="solid"/>
          </a:ln>
        </p:spPr>
      </p:sp>
      <p:sp>
        <p:nvSpPr>
          <p:cNvPr id="24" name="Text 22"/>
          <p:cNvSpPr/>
          <p:nvPr/>
        </p:nvSpPr>
        <p:spPr>
          <a:xfrm>
            <a:off x="10682935" y="352044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$9,184</a:t>
            </a:r>
            <a:endParaRPr lang="en-US" sz="1200" dirty="0"/>
          </a:p>
        </p:txBody>
      </p:sp>
      <p:sp>
        <p:nvSpPr>
          <p:cNvPr id="25" name="Text 23"/>
          <p:cNvSpPr/>
          <p:nvPr/>
        </p:nvSpPr>
        <p:spPr>
          <a:xfrm>
            <a:off x="457200" y="4087368"/>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 guardrail fees</a:t>
            </a:r>
            <a:endParaRPr lang="en-US" sz="1300" dirty="0"/>
          </a:p>
        </p:txBody>
      </p:sp>
      <p:sp>
        <p:nvSpPr>
          <p:cNvPr id="26" name="Shape 24"/>
          <p:cNvSpPr/>
          <p:nvPr/>
        </p:nvSpPr>
        <p:spPr>
          <a:xfrm>
            <a:off x="3474720" y="4160520"/>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4160520"/>
            <a:ext cx="191625"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4087368"/>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$666</a:t>
            </a:r>
            <a:endParaRPr lang="en-US" sz="1200" dirty="0"/>
          </a:p>
        </p:txBody>
      </p:sp>
      <p:sp>
        <p:nvSpPr>
          <p:cNvPr id="29" name="Shape 27"/>
          <p:cNvSpPr/>
          <p:nvPr/>
        </p:nvSpPr>
        <p:spPr>
          <a:xfrm>
            <a:off x="457200" y="5176330"/>
            <a:ext cx="11277295" cy="1041591"/>
          </a:xfrm>
          <a:prstGeom prst="roundRect">
            <a:avLst>
              <a:gd name="adj" fmla="val 5267"/>
            </a:avLst>
          </a:prstGeom>
          <a:solidFill>
            <a:srgbClr val="121B2D"/>
          </a:solidFill>
          <a:ln w="12700">
            <a:solidFill>
              <a:srgbClr val="FF6B7A"/>
            </a:solidFill>
            <a:prstDash val="solid"/>
          </a:ln>
        </p:spPr>
      </p:sp>
      <p:sp>
        <p:nvSpPr>
          <p:cNvPr id="30" name="Text 28"/>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month to date is $34,413, not $24,563</a:t>
            </a:r>
            <a:endParaRPr lang="en-US" sz="1600" dirty="0"/>
          </a:p>
        </p:txBody>
      </p:sp>
      <p:sp>
        <p:nvSpPr>
          <p:cNvPr id="31" name="Text 29"/>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The two lines the export keeps outside the application rows add $9,850, which is 29% of everything we know we spent on AI this month.</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DATA QUALITY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Tagging went backwards this month</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these change what we spent. They change how much of it we can explain.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thing did get better. In July the estimate ran 30.8% under the actual on the rows that carry both; in August it is within 0.4%. The estimator is now accurate on the traffic it can see, which is exactly why the traffic it cannot see matters more.</a:t>
            </a:r>
            <a:endParaRPr lang="en-US" sz="1200" dirty="0"/>
          </a:p>
        </p:txBody>
      </p:sp>
      <p:sp>
        <p:nvSpPr>
          <p:cNvPr id="8" name="Text 6"/>
          <p:cNvSpPr/>
          <p:nvPr/>
        </p:nvSpPr>
        <p:spPr>
          <a:xfrm>
            <a:off x="457200" y="1234440"/>
            <a:ext cx="10058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What changed in the data between the two exports</a:t>
            </a:r>
            <a:endParaRPr lang="en-US" sz="1500" dirty="0"/>
          </a:p>
        </p:txBody>
      </p:sp>
      <p:sp>
        <p:nvSpPr>
          <p:cNvPr id="9" name="Text 7"/>
          <p:cNvSpPr/>
          <p:nvPr/>
        </p:nvSpPr>
        <p:spPr>
          <a:xfrm>
            <a:off x="457200" y="1508760"/>
            <a:ext cx="10058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In the order it should be fixed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10058400" cy="914400"/>
        </p:xfrm>
        <a:graphic>
          <a:graphicData uri="http://schemas.openxmlformats.org/drawingml/2006/table">
            <a:tbl>
              <a:tblPr/>
              <a:tblGrid>
                <a:gridCol w="2834640"/>
                <a:gridCol w="1828800"/>
                <a:gridCol w="1828800"/>
                <a:gridCol w="35661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July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August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Why it matters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Spend with no 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$376, 1.9%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$5,031, 20.5%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be charged to anyone, even in principle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Bedrock spend with no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not shown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$9,184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of one provider is outside the per-team 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One workload, many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not present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10 IVR rows, 7 pension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Versioned names mean nothing can be trended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Rows still with no actuals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$9,016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$12,092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Azure row, in both months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Names mangled in the export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2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Percent-encoding left in the 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457200" y="4986528"/>
            <a:ext cx="3606698" cy="1078992"/>
          </a:xfrm>
          <a:prstGeom prst="roundRect">
            <a:avLst>
              <a:gd name="adj" fmla="val 5085"/>
            </a:avLst>
          </a:prstGeom>
          <a:solidFill>
            <a:srgbClr val="121B2D"/>
          </a:solidFill>
          <a:ln w="12700">
            <a:solidFill>
              <a:srgbClr val="23304A"/>
            </a:solidFill>
            <a:prstDash val="solid"/>
          </a:ln>
        </p:spPr>
      </p:sp>
      <p:sp>
        <p:nvSpPr>
          <p:cNvPr id="12" name="Text 9"/>
          <p:cNvSpPr/>
          <p:nvPr/>
        </p:nvSpPr>
        <p:spPr>
          <a:xfrm>
            <a:off x="658368" y="50779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SPEND</a:t>
            </a:r>
            <a:endParaRPr lang="en-US" sz="1200" dirty="0"/>
          </a:p>
        </p:txBody>
      </p:sp>
      <p:sp>
        <p:nvSpPr>
          <p:cNvPr id="13" name="Text 10"/>
          <p:cNvSpPr/>
          <p:nvPr/>
        </p:nvSpPr>
        <p:spPr>
          <a:xfrm>
            <a:off x="658368" y="52791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20.5%</a:t>
            </a:r>
            <a:endParaRPr lang="en-US" sz="2800" dirty="0"/>
          </a:p>
        </p:txBody>
      </p:sp>
      <p:sp>
        <p:nvSpPr>
          <p:cNvPr id="14" name="Text 11"/>
          <p:cNvSpPr/>
          <p:nvPr/>
        </p:nvSpPr>
        <p:spPr>
          <a:xfrm>
            <a:off x="658368" y="56814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of August, against 1.9% in July</a:t>
            </a:r>
            <a:endParaRPr lang="en-US" sz="1200" dirty="0"/>
          </a:p>
        </p:txBody>
      </p:sp>
      <p:sp>
        <p:nvSpPr>
          <p:cNvPr id="15" name="Shape 12"/>
          <p:cNvSpPr/>
          <p:nvPr/>
        </p:nvSpPr>
        <p:spPr>
          <a:xfrm>
            <a:off x="4292498" y="4986528"/>
            <a:ext cx="3606698" cy="1078992"/>
          </a:xfrm>
          <a:prstGeom prst="roundRect">
            <a:avLst>
              <a:gd name="adj" fmla="val 5085"/>
            </a:avLst>
          </a:prstGeom>
          <a:solidFill>
            <a:srgbClr val="121B2D"/>
          </a:solidFill>
          <a:ln w="12700">
            <a:solidFill>
              <a:srgbClr val="23304A"/>
            </a:solidFill>
            <a:prstDash val="solid"/>
          </a:ln>
        </p:spPr>
      </p:sp>
      <p:sp>
        <p:nvSpPr>
          <p:cNvPr id="16" name="Text 13"/>
          <p:cNvSpPr/>
          <p:nvPr/>
        </p:nvSpPr>
        <p:spPr>
          <a:xfrm>
            <a:off x="4493666" y="50779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UNEXPLAINED IN TOTAL</a:t>
            </a:r>
            <a:endParaRPr lang="en-US" sz="1200" dirty="0"/>
          </a:p>
        </p:txBody>
      </p:sp>
      <p:sp>
        <p:nvSpPr>
          <p:cNvPr id="17" name="Text 14"/>
          <p:cNvSpPr/>
          <p:nvPr/>
        </p:nvSpPr>
        <p:spPr>
          <a:xfrm>
            <a:off x="4493666" y="52791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$14,215</a:t>
            </a:r>
            <a:endParaRPr lang="en-US" sz="2800" dirty="0"/>
          </a:p>
        </p:txBody>
      </p:sp>
      <p:sp>
        <p:nvSpPr>
          <p:cNvPr id="18" name="Text 15"/>
          <p:cNvSpPr/>
          <p:nvPr/>
        </p:nvSpPr>
        <p:spPr>
          <a:xfrm>
            <a:off x="4493666" y="56814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unnamed rows plus untagged Bedrock</a:t>
            </a:r>
            <a:endParaRPr lang="en-US" sz="1200" dirty="0"/>
          </a:p>
        </p:txBody>
      </p:sp>
      <p:sp>
        <p:nvSpPr>
          <p:cNvPr id="19" name="Shape 16"/>
          <p:cNvSpPr/>
          <p:nvPr/>
        </p:nvSpPr>
        <p:spPr>
          <a:xfrm>
            <a:off x="8127797" y="4986528"/>
            <a:ext cx="3606698" cy="1078992"/>
          </a:xfrm>
          <a:prstGeom prst="roundRect">
            <a:avLst>
              <a:gd name="adj" fmla="val 5085"/>
            </a:avLst>
          </a:prstGeom>
          <a:solidFill>
            <a:srgbClr val="121B2D"/>
          </a:solidFill>
          <a:ln w="12700">
            <a:solidFill>
              <a:srgbClr val="23304A"/>
            </a:solidFill>
            <a:prstDash val="solid"/>
          </a:ln>
        </p:spPr>
      </p:sp>
      <p:sp>
        <p:nvSpPr>
          <p:cNvPr id="20" name="Text 17"/>
          <p:cNvSpPr/>
          <p:nvPr/>
        </p:nvSpPr>
        <p:spPr>
          <a:xfrm>
            <a:off x="8328965" y="50779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ESTIMATE NOW WITHIN</a:t>
            </a:r>
            <a:endParaRPr lang="en-US" sz="1200" dirty="0"/>
          </a:p>
        </p:txBody>
      </p:sp>
      <p:sp>
        <p:nvSpPr>
          <p:cNvPr id="21" name="Text 18"/>
          <p:cNvSpPr/>
          <p:nvPr/>
        </p:nvSpPr>
        <p:spPr>
          <a:xfrm>
            <a:off x="8328965" y="52791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0.4%</a:t>
            </a:r>
            <a:endParaRPr lang="en-US" sz="2800" dirty="0"/>
          </a:p>
        </p:txBody>
      </p:sp>
      <p:sp>
        <p:nvSpPr>
          <p:cNvPr id="22" name="Text 19"/>
          <p:cNvSpPr/>
          <p:nvPr/>
        </p:nvSpPr>
        <p:spPr>
          <a:xfrm>
            <a:off x="8328965" y="56814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Claude rows, from 30.8% out in July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Four things before the month closes</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are export settings. The fourth is a decision, and it is the only one that needs you.</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Put an application on every Bedrock charge</a:t>
            </a:r>
            <a:endParaRPr lang="en-US" sz="1624" dirty="0"/>
          </a:p>
        </p:txBody>
      </p:sp>
      <p:sp>
        <p:nvSpPr>
          <p:cNvPr id="10" name="Text 8"/>
          <p:cNvSpPr/>
          <p:nvPr/>
        </p:nvSpPr>
        <p:spPr>
          <a:xfrm>
            <a:off x="1115568"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Tag the untagged actual so the largest single unexplained line in the bill lands on a team.</a:t>
            </a:r>
            <a:endParaRPr lang="en-US" sz="1237" dirty="0"/>
          </a:p>
        </p:txBody>
      </p:sp>
      <p:sp>
        <p:nvSpPr>
          <p:cNvPr id="11" name="Text 9"/>
          <p:cNvSpPr/>
          <p:nvPr/>
        </p:nvSpPr>
        <p:spPr>
          <a:xfrm>
            <a:off x="1115568"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$9,184 this month, 44% of our Bedrock spend.</a:t>
            </a:r>
            <a:endParaRPr lang="en-US" sz="1200"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Recover the label on the agent traffic</a:t>
            </a:r>
            <a:endParaRPr lang="en-US" sz="1624" dirty="0"/>
          </a:p>
        </p:txBody>
      </p:sp>
      <p:sp>
        <p:nvSpPr>
          <p:cNvPr id="15" name="Text 13"/>
          <p:cNvSpPr/>
          <p:nvPr/>
        </p:nvSpPr>
        <p:spPr>
          <a:xfrm>
            <a:off x="1115568"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The row now reporting as unknown is almost certainly one named application that lost its tag.</a:t>
            </a:r>
            <a:endParaRPr lang="en-US" sz="1237" dirty="0"/>
          </a:p>
        </p:txBody>
      </p:sp>
      <p:sp>
        <p:nvSpPr>
          <p:cNvPr id="16" name="Text 14"/>
          <p:cNvSpPr/>
          <p:nvPr/>
        </p:nvSpPr>
        <p:spPr>
          <a:xfrm>
            <a:off x="1115568"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$5,031 of August has no application name, against $376 in July.</a:t>
            </a:r>
            <a:endParaRPr lang="en-US" sz="1200"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One name per workload, not one per version</a:t>
            </a:r>
            <a:endParaRPr lang="en-US" sz="1624" dirty="0"/>
          </a:p>
        </p:txBody>
      </p:sp>
      <p:sp>
        <p:nvSpPr>
          <p:cNvPr id="20" name="Text 18"/>
          <p:cNvSpPr/>
          <p:nvPr/>
        </p:nvSpPr>
        <p:spPr>
          <a:xfrm>
            <a:off x="6937096"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Stable application names, with the version somewhere that is not the name.</a:t>
            </a:r>
            <a:endParaRPr lang="en-US" sz="1237" dirty="0"/>
          </a:p>
        </p:txBody>
      </p:sp>
      <p:sp>
        <p:nvSpPr>
          <p:cNvPr id="21" name="Text 19"/>
          <p:cNvSpPr/>
          <p:nvPr/>
        </p:nvSpPr>
        <p:spPr>
          <a:xfrm>
            <a:off x="6937096"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10 rows for what is one IVR service, 7 for one copilot.</a:t>
            </a:r>
            <a:endParaRPr lang="en-US" sz="1200"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Decide whether the extra calls are worth making</a:t>
            </a:r>
            <a:endParaRPr lang="en-US" sz="1624" dirty="0"/>
          </a:p>
        </p:txBody>
      </p:sp>
      <p:sp>
        <p:nvSpPr>
          <p:cNvPr id="25" name="Text 23"/>
          <p:cNvSpPr/>
          <p:nvPr/>
        </p:nvSpPr>
        <p:spPr>
          <a:xfrm>
            <a:off x="6937096"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The growth is real usage at a steady price, so the only question left is a product one.</a:t>
            </a:r>
            <a:endParaRPr lang="en-US" sz="1237" dirty="0"/>
          </a:p>
        </p:txBody>
      </p:sp>
      <p:sp>
        <p:nvSpPr>
          <p:cNvPr id="26" name="Text 24"/>
          <p:cNvSpPr/>
          <p:nvPr/>
        </p:nvSpPr>
        <p:spPr>
          <a:xfrm>
            <a:off x="6937096"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Cost is 2.1x on 2.0x the volume. Nothing to renegotiate.</a:t>
            </a:r>
            <a:endParaRPr lang="en-US" sz="1200"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August lands near $40,077, with about $16,070 of it unowned</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The first three fix that. The fourth decides whether $40,077 a month is the right number to be spending, which is the only part of this that is not an export setting.</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August 2026 month to date — Harel</dc:title>
  <dc:subject>PptxGenJS Presentation</dc:subject>
  <dc:creator>Cloud Infrastructure, DevOps &amp; Databases</dc:creator>
  <cp:lastModifiedBy>Cloud Infrastructure, DevOps &amp; Databases</cp:lastModifiedBy>
  <cp:revision>1</cp:revision>
  <dcterms:created xsi:type="dcterms:W3CDTF">2026-08-19T18:09:29Z</dcterms:created>
  <dcterms:modified xsi:type="dcterms:W3CDTF">2026-08-19T18:09:29Z</dcterms:modified>
</cp:coreProperties>
</file>