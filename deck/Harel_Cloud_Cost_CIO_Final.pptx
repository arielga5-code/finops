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9.xml" ContentType="application/vnd.openxmlformats-officedocument.drawingml.chart+xml"/>
  <Override PartName="/ppt/notesSlides/notesSlide32.xml" ContentType="application/vnd.openxmlformats-officedocument.presentationml.notesSlide+xml"/>
  <Override PartName="/ppt/charts/chart10.xml" ContentType="application/vnd.openxmlformats-officedocument.drawingml.chart+xml"/>
  <Override PartName="/ppt/notesSlides/notesSlide33.xml" ContentType="application/vnd.openxmlformats-officedocument.presentationml.notesSlide+xml"/>
  <Override PartName="/ppt/charts/chart11.xml" ContentType="application/vnd.openxmlformats-officedocument.drawingml.chart+xml"/>
  <Override PartName="/ppt/notesSlides/notesSlide34.xml" ContentType="application/vnd.openxmlformats-officedocument.presentationml.notesSlide+xml"/>
  <Override PartName="/ppt/charts/chart12.xml" ContentType="application/vnd.openxmlformats-officedocument.drawingml.chart+xml"/>
  <Override PartName="/ppt/notesSlides/notesSlide35.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36.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37.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9" r:id="rId4"/>
    <p:sldId id="260" r:id="rId5"/>
    <p:sldId id="296" r:id="rId6"/>
    <p:sldId id="297" r:id="rId7"/>
    <p:sldId id="290" r:id="rId8"/>
    <p:sldId id="291" r:id="rId9"/>
    <p:sldId id="292" r:id="rId10"/>
    <p:sldId id="293" r:id="rId11"/>
    <p:sldId id="264" r:id="rId12"/>
    <p:sldId id="266" r:id="rId13"/>
    <p:sldId id="265" r:id="rId14"/>
    <p:sldId id="274" r:id="rId15"/>
    <p:sldId id="298" r:id="rId16"/>
    <p:sldId id="276" r:id="rId17"/>
    <p:sldId id="275" r:id="rId18"/>
    <p:sldId id="277" r:id="rId19"/>
    <p:sldId id="278" r:id="rId20"/>
    <p:sldId id="279" r:id="rId21"/>
    <p:sldId id="280" r:id="rId22"/>
    <p:sldId id="267" r:id="rId23"/>
    <p:sldId id="269" r:id="rId24"/>
    <p:sldId id="281" r:id="rId25"/>
    <p:sldId id="268" r:id="rId26"/>
    <p:sldId id="270" r:id="rId27"/>
    <p:sldId id="271" r:id="rId28"/>
    <p:sldId id="272" r:id="rId29"/>
    <p:sldId id="273" r:id="rId30"/>
    <p:sldId id="282" r:id="rId31"/>
    <p:sldId id="283" r:id="rId32"/>
    <p:sldId id="284" r:id="rId33"/>
    <p:sldId id="285" r:id="rId34"/>
    <p:sldId id="286" r:id="rId35"/>
    <p:sldId id="287" r:id="rId36"/>
    <p:sldId id="288" r:id="rId37"/>
    <p:sldId id="289" r:id="rId38"/>
    <p:sldId id="29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C844F-8BDE-4D8A-B526-6E9C34F9C055}" v="4" dt="2026-08-18T12:01:17.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247" autoAdjust="0"/>
  </p:normalViewPr>
  <p:slideViewPr>
    <p:cSldViewPr snapToGrid="0" snapToObjects="1">
      <p:cViewPr varScale="1">
        <p:scale>
          <a:sx n="114" d="100"/>
          <a:sy n="114" d="100"/>
        </p:scale>
        <p:origin x="156"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אריאל גזית" userId="ab0a39ea-8878-4fcc-a857-5afbe9cb9050" providerId="ADAL" clId="{8AF1E48A-3E39-4A45-9543-E35A5CD44E8F}"/>
    <pc:docChg chg="undo custSel addSld delSld modSld sldOrd">
      <pc:chgData name="אריאל גזית" userId="ab0a39ea-8878-4fcc-a857-5afbe9cb9050" providerId="ADAL" clId="{8AF1E48A-3E39-4A45-9543-E35A5CD44E8F}" dt="2026-08-18T12:01:39.741" v="47"/>
      <pc:docMkLst>
        <pc:docMk/>
      </pc:docMkLst>
      <pc:sldChg chg="del">
        <pc:chgData name="אריאל גזית" userId="ab0a39ea-8878-4fcc-a857-5afbe9cb9050" providerId="ADAL" clId="{8AF1E48A-3E39-4A45-9543-E35A5CD44E8F}" dt="2026-08-18T08:51:46.069" v="0" actId="2696"/>
        <pc:sldMkLst>
          <pc:docMk/>
          <pc:sldMk cId="0" sldId="258"/>
        </pc:sldMkLst>
      </pc:sldChg>
      <pc:sldChg chg="del">
        <pc:chgData name="אריאל גזית" userId="ab0a39ea-8878-4fcc-a857-5afbe9cb9050" providerId="ADAL" clId="{8AF1E48A-3E39-4A45-9543-E35A5CD44E8F}" dt="2026-08-18T11:44:49.566" v="2" actId="2696"/>
        <pc:sldMkLst>
          <pc:docMk/>
          <pc:sldMk cId="0" sldId="263"/>
        </pc:sldMkLst>
      </pc:sldChg>
      <pc:sldChg chg="ord">
        <pc:chgData name="אריאל גזית" userId="ab0a39ea-8878-4fcc-a857-5afbe9cb9050" providerId="ADAL" clId="{8AF1E48A-3E39-4A45-9543-E35A5CD44E8F}" dt="2026-08-18T11:46:38.652" v="5"/>
        <pc:sldMkLst>
          <pc:docMk/>
          <pc:sldMk cId="0" sldId="265"/>
        </pc:sldMkLst>
      </pc:sldChg>
      <pc:sldChg chg="ord">
        <pc:chgData name="אריאל גזית" userId="ab0a39ea-8878-4fcc-a857-5afbe9cb9050" providerId="ADAL" clId="{8AF1E48A-3E39-4A45-9543-E35A5CD44E8F}" dt="2026-08-18T12:01:39.741" v="47"/>
        <pc:sldMkLst>
          <pc:docMk/>
          <pc:sldMk cId="0" sldId="268"/>
        </pc:sldMkLst>
      </pc:sldChg>
      <pc:sldChg chg="add setBg">
        <pc:chgData name="אריאל גזית" userId="ab0a39ea-8878-4fcc-a857-5afbe9cb9050" providerId="ADAL" clId="{8AF1E48A-3E39-4A45-9543-E35A5CD44E8F}" dt="2026-08-18T12:01:17.163" v="45"/>
        <pc:sldMkLst>
          <pc:docMk/>
          <pc:sldMk cId="4164748938" sldId="274"/>
        </pc:sldMkLst>
      </pc:sldChg>
      <pc:sldChg chg="add setBg">
        <pc:chgData name="אריאל גזית" userId="ab0a39ea-8878-4fcc-a857-5afbe9cb9050" providerId="ADAL" clId="{8AF1E48A-3E39-4A45-9543-E35A5CD44E8F}" dt="2026-08-18T12:01:17.163" v="45"/>
        <pc:sldMkLst>
          <pc:docMk/>
          <pc:sldMk cId="3730409472" sldId="276"/>
        </pc:sldMkLst>
      </pc:sldChg>
      <pc:sldChg chg="add setBg">
        <pc:chgData name="אריאל גזית" userId="ab0a39ea-8878-4fcc-a857-5afbe9cb9050" providerId="ADAL" clId="{8AF1E48A-3E39-4A45-9543-E35A5CD44E8F}" dt="2026-08-18T12:01:17.163" v="45"/>
        <pc:sldMkLst>
          <pc:docMk/>
          <pc:sldMk cId="638208443" sldId="277"/>
        </pc:sldMkLst>
      </pc:sldChg>
      <pc:sldChg chg="add setBg">
        <pc:chgData name="אריאל גזית" userId="ab0a39ea-8878-4fcc-a857-5afbe9cb9050" providerId="ADAL" clId="{8AF1E48A-3E39-4A45-9543-E35A5CD44E8F}" dt="2026-08-18T12:01:17.163" v="45"/>
        <pc:sldMkLst>
          <pc:docMk/>
          <pc:sldMk cId="1326744587" sldId="278"/>
        </pc:sldMkLst>
      </pc:sldChg>
      <pc:sldChg chg="add setBg">
        <pc:chgData name="אריאל גזית" userId="ab0a39ea-8878-4fcc-a857-5afbe9cb9050" providerId="ADAL" clId="{8AF1E48A-3E39-4A45-9543-E35A5CD44E8F}" dt="2026-08-18T12:01:17.163" v="45"/>
        <pc:sldMkLst>
          <pc:docMk/>
          <pc:sldMk cId="4120224329" sldId="279"/>
        </pc:sldMkLst>
      </pc:sldChg>
      <pc:sldChg chg="add setBg">
        <pc:chgData name="אריאל גזית" userId="ab0a39ea-8878-4fcc-a857-5afbe9cb9050" providerId="ADAL" clId="{8AF1E48A-3E39-4A45-9543-E35A5CD44E8F}" dt="2026-08-18T12:01:17.163" v="45"/>
        <pc:sldMkLst>
          <pc:docMk/>
          <pc:sldMk cId="3672353744" sldId="280"/>
        </pc:sldMkLst>
      </pc:sldChg>
      <pc:sldChg chg="del">
        <pc:chgData name="אריאל גזית" userId="ab0a39ea-8878-4fcc-a857-5afbe9cb9050" providerId="ADAL" clId="{8AF1E48A-3E39-4A45-9543-E35A5CD44E8F}" dt="2026-08-18T12:01:08.494" v="44" actId="2696"/>
        <pc:sldMkLst>
          <pc:docMk/>
          <pc:sldMk cId="2888196944" sldId="281"/>
        </pc:sldMkLst>
      </pc:sldChg>
      <pc:sldChg chg="mod modShow">
        <pc:chgData name="אריאל גזית" userId="ab0a39ea-8878-4fcc-a857-5afbe9cb9050" providerId="ADAL" clId="{8AF1E48A-3E39-4A45-9543-E35A5CD44E8F}" dt="2026-08-18T11:44:37.235" v="1" actId="729"/>
        <pc:sldMkLst>
          <pc:docMk/>
          <pc:sldMk cId="2277920120" sldId="292"/>
        </pc:sldMkLst>
      </pc:sldChg>
      <pc:sldChg chg="modSp add mod ord setBg">
        <pc:chgData name="אריאל גזית" userId="ab0a39ea-8878-4fcc-a857-5afbe9cb9050" providerId="ADAL" clId="{8AF1E48A-3E39-4A45-9543-E35A5CD44E8F}" dt="2026-08-18T11:53:44.014" v="41" actId="20577"/>
        <pc:sldMkLst>
          <pc:docMk/>
          <pc:sldMk cId="0" sldId="296"/>
        </pc:sldMkLst>
        <pc:spChg chg="mod">
          <ac:chgData name="אריאל גזית" userId="ab0a39ea-8878-4fcc-a857-5afbe9cb9050" providerId="ADAL" clId="{8AF1E48A-3E39-4A45-9543-E35A5CD44E8F}" dt="2026-08-18T11:52:16.826" v="21" actId="6549"/>
          <ac:spMkLst>
            <pc:docMk/>
            <pc:sldMk cId="0" sldId="296"/>
            <ac:spMk id="28" creationId="{00000000-0000-0000-0000-000000000000}"/>
          </ac:spMkLst>
        </pc:spChg>
        <pc:spChg chg="mod">
          <ac:chgData name="אריאל גזית" userId="ab0a39ea-8878-4fcc-a857-5afbe9cb9050" providerId="ADAL" clId="{8AF1E48A-3E39-4A45-9543-E35A5CD44E8F}" dt="2026-08-18T11:52:05.128" v="13" actId="1076"/>
          <ac:spMkLst>
            <pc:docMk/>
            <pc:sldMk cId="0" sldId="296"/>
            <ac:spMk id="34" creationId="{00000000-0000-0000-0000-000000000000}"/>
          </ac:spMkLst>
        </pc:spChg>
        <pc:spChg chg="mod">
          <ac:chgData name="אריאל גזית" userId="ab0a39ea-8878-4fcc-a857-5afbe9cb9050" providerId="ADAL" clId="{8AF1E48A-3E39-4A45-9543-E35A5CD44E8F}" dt="2026-08-18T11:52:31.120" v="34" actId="20577"/>
          <ac:spMkLst>
            <pc:docMk/>
            <pc:sldMk cId="0" sldId="296"/>
            <ac:spMk id="36" creationId="{00000000-0000-0000-0000-000000000000}"/>
          </ac:spMkLst>
        </pc:spChg>
        <pc:spChg chg="mod">
          <ac:chgData name="אריאל גזית" userId="ab0a39ea-8878-4fcc-a857-5afbe9cb9050" providerId="ADAL" clId="{8AF1E48A-3E39-4A45-9543-E35A5CD44E8F}" dt="2026-08-18T11:53:44.014" v="41" actId="20577"/>
          <ac:spMkLst>
            <pc:docMk/>
            <pc:sldMk cId="0" sldId="296"/>
            <ac:spMk id="704" creationId="{00000000-0000-0000-0000-000000000000}"/>
          </ac:spMkLst>
        </pc:spChg>
        <pc:spChg chg="mod">
          <ac:chgData name="אריאל גזית" userId="ab0a39ea-8878-4fcc-a857-5afbe9cb9050" providerId="ADAL" clId="{8AF1E48A-3E39-4A45-9543-E35A5CD44E8F}" dt="2026-08-18T11:52:37.857" v="35" actId="6549"/>
          <ac:spMkLst>
            <pc:docMk/>
            <pc:sldMk cId="0" sldId="296"/>
            <ac:spMk id="708" creationId="{00000000-0000-0000-0000-000000000000}"/>
          </ac:spMkLst>
        </pc:spChg>
      </pc:sldChg>
      <pc:sldChg chg="add setBg">
        <pc:chgData name="אריאל גזית" userId="ab0a39ea-8878-4fcc-a857-5afbe9cb9050" providerId="ADAL" clId="{8AF1E48A-3E39-4A45-9543-E35A5CD44E8F}" dt="2026-08-18T11:49:25.503" v="6"/>
        <pc:sldMkLst>
          <pc:docMk/>
          <pc:sldMk cId="0" sldId="297"/>
        </pc:sldMkLst>
      </pc:sldChg>
      <pc:sldChg chg="add del ord setBg">
        <pc:chgData name="אריאל גזית" userId="ab0a39ea-8878-4fcc-a857-5afbe9cb9050" providerId="ADAL" clId="{8AF1E48A-3E39-4A45-9543-E35A5CD44E8F}" dt="2026-08-18T12:01:08.494" v="44" actId="2696"/>
        <pc:sldMkLst>
          <pc:docMk/>
          <pc:sldMk cId="0" sldId="298"/>
        </pc:sldMkLst>
      </pc:sldChg>
      <pc:sldChg chg="add">
        <pc:chgData name="אריאל גזית" userId="ab0a39ea-8878-4fcc-a857-5afbe9cb9050" providerId="ADAL" clId="{8AF1E48A-3E39-4A45-9543-E35A5CD44E8F}" dt="2026-08-18T12:01:17.163" v="45"/>
        <pc:sldMkLst>
          <pc:docMk/>
          <pc:sldMk cId="494707938"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lineChart>
        <c:grouping val="standard"/>
        <c:varyColors val="0"/>
        <c:ser>
          <c:idx val="0"/>
          <c:order val="0"/>
          <c:tx>
            <c:strRef>
              <c:f>Sheet1!$B$1</c:f>
              <c:strCache>
                <c:ptCount val="1"/>
                <c:pt idx="0">
                  <c:v>Actual</c:v>
                </c:pt>
              </c:strCache>
            </c:strRef>
          </c:tx>
          <c:spPr>
            <a:ln w="31750" cap="flat">
              <a:solidFill>
                <a:srgbClr val="F4F7FB"/>
              </a:solidFill>
              <a:prstDash val="solid"/>
              <a:round/>
            </a:ln>
            <a:effectLst/>
          </c:spPr>
          <c:marker>
            <c:symbol val="circle"/>
            <c:size val="6"/>
            <c:spPr>
              <a:solidFill>
                <a:srgbClr val="F4F7FB"/>
              </a:solidFill>
              <a:ln w="9525" cap="flat">
                <a:solidFill>
                  <a:srgbClr val="F4F7F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234115</c:v>
                </c:pt>
                <c:pt idx="1">
                  <c:v>218324</c:v>
                </c:pt>
                <c:pt idx="2">
                  <c:v>261455</c:v>
                </c:pt>
                <c:pt idx="3">
                  <c:v>234947</c:v>
                </c:pt>
                <c:pt idx="4">
                  <c:v>236775</c:v>
                </c:pt>
                <c:pt idx="5">
                  <c:v>256207</c:v>
                </c:pt>
                <c:pt idx="6">
                  <c:v>283554</c:v>
                </c:pt>
              </c:numCache>
            </c:numRef>
          </c:val>
          <c:smooth val="0"/>
          <c:extLst>
            <c:ext xmlns:c16="http://schemas.microsoft.com/office/drawing/2014/chart" uri="{C3380CC4-5D6E-409C-BE32-E72D297353CC}">
              <c16:uniqueId val="{00000000-0BE4-45F5-A8B0-F27D1EBF969A}"/>
            </c:ext>
          </c:extLst>
        </c:ser>
        <c:ser>
          <c:idx val="1"/>
          <c:order val="1"/>
          <c:tx>
            <c:strRef>
              <c:f>Sheet1!$C$1</c:f>
              <c:strCache>
                <c:ptCount val="1"/>
                <c:pt idx="0">
                  <c:v>Jan-Jul pace / +3.2%/mo</c:v>
                </c:pt>
              </c:strCache>
            </c:strRef>
          </c:tx>
          <c:spPr>
            <a:ln w="31750" cap="flat">
              <a:solidFill>
                <a:srgbClr val="E0A030"/>
              </a:solidFill>
              <a:prstDash val="solid"/>
              <a:round/>
            </a:ln>
            <a:effectLst/>
          </c:spPr>
          <c:marker>
            <c:symbol val="circle"/>
            <c:size val="6"/>
            <c:spPr>
              <a:solidFill>
                <a:srgbClr val="E0A030"/>
              </a:solidFill>
              <a:ln w="9525" cap="flat">
                <a:solidFill>
                  <a:srgbClr val="E0A030"/>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6">
                  <c:v>283554</c:v>
                </c:pt>
                <c:pt idx="7">
                  <c:v>293160</c:v>
                </c:pt>
                <c:pt idx="8">
                  <c:v>303026</c:v>
                </c:pt>
                <c:pt idx="9">
                  <c:v>313158</c:v>
                </c:pt>
                <c:pt idx="10">
                  <c:v>323566</c:v>
                </c:pt>
                <c:pt idx="11">
                  <c:v>334256</c:v>
                </c:pt>
              </c:numCache>
            </c:numRef>
          </c:val>
          <c:smooth val="0"/>
          <c:extLst>
            <c:ext xmlns:c16="http://schemas.microsoft.com/office/drawing/2014/chart" uri="{C3380CC4-5D6E-409C-BE32-E72D297353CC}">
              <c16:uniqueId val="{00000001-0BE4-45F5-A8B0-F27D1EBF969A}"/>
            </c:ext>
          </c:extLst>
        </c:ser>
        <c:ser>
          <c:idx val="2"/>
          <c:order val="2"/>
          <c:tx>
            <c:strRef>
              <c:f>Sheet1!$D$1</c:f>
              <c:strCache>
                <c:ptCount val="1"/>
                <c:pt idx="0">
                  <c:v>May-Jul pace / Azure +13.3%/mo</c:v>
                </c:pt>
              </c:strCache>
            </c:strRef>
          </c:tx>
          <c:spPr>
            <a:ln w="31750" cap="flat">
              <a:solidFill>
                <a:srgbClr val="FF6B7A"/>
              </a:solidFill>
              <a:prstDash val="solid"/>
              <a:round/>
            </a:ln>
            <a:effectLst/>
          </c:spPr>
          <c:marker>
            <c:symbol val="circle"/>
            <c:size val="6"/>
            <c:spPr>
              <a:solidFill>
                <a:srgbClr val="FF6B7A"/>
              </a:solidFill>
              <a:ln w="9525" cap="flat">
                <a:solidFill>
                  <a:srgbClr val="FF6B7A"/>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6">
                  <c:v>283554</c:v>
                </c:pt>
                <c:pt idx="7">
                  <c:v>314904</c:v>
                </c:pt>
                <c:pt idx="8">
                  <c:v>349873</c:v>
                </c:pt>
                <c:pt idx="9">
                  <c:v>388919</c:v>
                </c:pt>
                <c:pt idx="10">
                  <c:v>432559</c:v>
                </c:pt>
                <c:pt idx="11">
                  <c:v>481378</c:v>
                </c:pt>
              </c:numCache>
            </c:numRef>
          </c:val>
          <c:smooth val="0"/>
          <c:extLst>
            <c:ext xmlns:c16="http://schemas.microsoft.com/office/drawing/2014/chart" uri="{C3380CC4-5D6E-409C-BE32-E72D297353CC}">
              <c16:uniqueId val="{00000002-0BE4-45F5-A8B0-F27D1EBF969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Aifactory</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854.31</c:v>
                </c:pt>
                <c:pt idx="1">
                  <c:v>3477</c:v>
                </c:pt>
                <c:pt idx="2">
                  <c:v>12632</c:v>
                </c:pt>
                <c:pt idx="3">
                  <c:v>11676</c:v>
                </c:pt>
                <c:pt idx="4">
                  <c:v>13656</c:v>
                </c:pt>
                <c:pt idx="5">
                  <c:v>26342</c:v>
                </c:pt>
                <c:pt idx="6">
                  <c:v>23610</c:v>
                </c:pt>
              </c:numCache>
            </c:numRef>
          </c:val>
          <c:extLst>
            <c:ext xmlns:c16="http://schemas.microsoft.com/office/drawing/2014/chart" uri="{C3380CC4-5D6E-409C-BE32-E72D297353CC}">
              <c16:uniqueId val="{00000000-6164-4BEF-984C-2DEF8609A167}"/>
            </c:ext>
          </c:extLst>
        </c:ser>
        <c:ser>
          <c:idx val="1"/>
          <c:order val="1"/>
          <c:tx>
            <c:strRef>
              <c:f>Sheet1!$C$1</c:f>
              <c:strCache>
                <c:ptCount val="1"/>
                <c:pt idx="0">
                  <c:v>Solugen</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936.63</c:v>
                </c:pt>
                <c:pt idx="1">
                  <c:v>917</c:v>
                </c:pt>
                <c:pt idx="2">
                  <c:v>1027</c:v>
                </c:pt>
                <c:pt idx="3">
                  <c:v>2005</c:v>
                </c:pt>
                <c:pt idx="4">
                  <c:v>10657</c:v>
                </c:pt>
                <c:pt idx="5">
                  <c:v>7230.21</c:v>
                </c:pt>
                <c:pt idx="6">
                  <c:v>8858</c:v>
                </c:pt>
              </c:numCache>
            </c:numRef>
          </c:val>
          <c:extLst>
            <c:ext xmlns:c16="http://schemas.microsoft.com/office/drawing/2014/chart" uri="{C3380CC4-5D6E-409C-BE32-E72D297353CC}">
              <c16:uniqueId val="{00000001-6164-4BEF-984C-2DEF8609A167}"/>
            </c:ext>
          </c:extLst>
        </c:ser>
        <c:ser>
          <c:idx val="2"/>
          <c:order val="2"/>
          <c:tx>
            <c:strRef>
              <c:f>Sheet1!$D$1</c:f>
              <c:strCache>
                <c:ptCount val="1"/>
                <c:pt idx="0">
                  <c:v>Document Intelligence (OCR Services)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4231</c:v>
                </c:pt>
                <c:pt idx="1">
                  <c:v>4282</c:v>
                </c:pt>
                <c:pt idx="2">
                  <c:v>3552</c:v>
                </c:pt>
                <c:pt idx="3">
                  <c:v>2152</c:v>
                </c:pt>
                <c:pt idx="4">
                  <c:v>3362</c:v>
                </c:pt>
                <c:pt idx="5">
                  <c:v>6114</c:v>
                </c:pt>
                <c:pt idx="6">
                  <c:v>7277</c:v>
                </c:pt>
              </c:numCache>
            </c:numRef>
          </c:val>
          <c:extLst>
            <c:ext xmlns:c16="http://schemas.microsoft.com/office/drawing/2014/chart" uri="{C3380CC4-5D6E-409C-BE32-E72D297353CC}">
              <c16:uniqueId val="{00000002-6164-4BEF-984C-2DEF8609A167}"/>
            </c:ext>
          </c:extLst>
        </c:ser>
        <c:ser>
          <c:idx val="3"/>
          <c:order val="3"/>
          <c:tx>
            <c:strRef>
              <c:f>Sheet1!$E$1</c:f>
              <c:strCache>
                <c:ptCount val="1"/>
                <c:pt idx="0">
                  <c:v>INSAIT</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1063.6300000000001</c:v>
                </c:pt>
                <c:pt idx="1">
                  <c:v>1914</c:v>
                </c:pt>
                <c:pt idx="2">
                  <c:v>1365</c:v>
                </c:pt>
                <c:pt idx="3">
                  <c:v>1354</c:v>
                </c:pt>
                <c:pt idx="4">
                  <c:v>1456</c:v>
                </c:pt>
                <c:pt idx="5">
                  <c:v>1604.28</c:v>
                </c:pt>
                <c:pt idx="6">
                  <c:v>1983</c:v>
                </c:pt>
              </c:numCache>
            </c:numRef>
          </c:val>
          <c:extLst>
            <c:ext xmlns:c16="http://schemas.microsoft.com/office/drawing/2014/chart" uri="{C3380CC4-5D6E-409C-BE32-E72D297353CC}">
              <c16:uniqueId val="{00000003-6164-4BEF-984C-2DEF8609A167}"/>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API Management</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0</c:v>
                </c:pt>
                <c:pt idx="1">
                  <c:v>406</c:v>
                </c:pt>
                <c:pt idx="2">
                  <c:v>2848.78</c:v>
                </c:pt>
                <c:pt idx="3">
                  <c:v>3097.66</c:v>
                </c:pt>
                <c:pt idx="4">
                  <c:v>5693.72</c:v>
                </c:pt>
                <c:pt idx="5">
                  <c:v>5513.76</c:v>
                </c:pt>
                <c:pt idx="6">
                  <c:v>6103.43</c:v>
                </c:pt>
              </c:numCache>
            </c:numRef>
          </c:val>
          <c:extLst>
            <c:ext xmlns:c16="http://schemas.microsoft.com/office/drawing/2014/chart" uri="{C3380CC4-5D6E-409C-BE32-E72D297353CC}">
              <c16:uniqueId val="{00000000-319D-41A8-9887-F92F3F3C0EB3}"/>
            </c:ext>
          </c:extLst>
        </c:ser>
        <c:ser>
          <c:idx val="1"/>
          <c:order val="1"/>
          <c:tx>
            <c:strRef>
              <c:f>Sheet1!$C$1</c:f>
              <c:strCache>
                <c:ptCount val="1"/>
                <c:pt idx="0">
                  <c:v>Foundry Models</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6</c:v>
                </c:pt>
                <c:pt idx="2">
                  <c:v>2961.34</c:v>
                </c:pt>
                <c:pt idx="3">
                  <c:v>4151.25</c:v>
                </c:pt>
                <c:pt idx="4">
                  <c:v>1183.0999999999999</c:v>
                </c:pt>
                <c:pt idx="5">
                  <c:v>9682.7999999999993</c:v>
                </c:pt>
                <c:pt idx="6">
                  <c:v>5641.2</c:v>
                </c:pt>
              </c:numCache>
            </c:numRef>
          </c:val>
          <c:extLst>
            <c:ext xmlns:c16="http://schemas.microsoft.com/office/drawing/2014/chart" uri="{C3380CC4-5D6E-409C-BE32-E72D297353CC}">
              <c16:uniqueId val="{00000001-319D-41A8-9887-F92F3F3C0EB3}"/>
            </c:ext>
          </c:extLst>
        </c:ser>
        <c:ser>
          <c:idx val="2"/>
          <c:order val="2"/>
          <c:tx>
            <c:strRef>
              <c:f>Sheet1!$D$1</c:f>
              <c:strCache>
                <c:ptCount val="1"/>
                <c:pt idx="0">
                  <c:v>Virtual Machines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487.69</c:v>
                </c:pt>
                <c:pt idx="1">
                  <c:v>1951</c:v>
                </c:pt>
                <c:pt idx="2">
                  <c:v>4361.8999999999996</c:v>
                </c:pt>
                <c:pt idx="3">
                  <c:v>1724.33</c:v>
                </c:pt>
                <c:pt idx="4">
                  <c:v>2887.44</c:v>
                </c:pt>
                <c:pt idx="5">
                  <c:v>4556.63</c:v>
                </c:pt>
                <c:pt idx="6">
                  <c:v>4865.47</c:v>
                </c:pt>
              </c:numCache>
            </c:numRef>
          </c:val>
          <c:extLst>
            <c:ext xmlns:c16="http://schemas.microsoft.com/office/drawing/2014/chart" uri="{C3380CC4-5D6E-409C-BE32-E72D297353CC}">
              <c16:uniqueId val="{00000002-319D-41A8-9887-F92F3F3C0EB3}"/>
            </c:ext>
          </c:extLst>
        </c:ser>
        <c:ser>
          <c:idx val="3"/>
          <c:order val="3"/>
          <c:tx>
            <c:strRef>
              <c:f>Sheet1!$E$1</c:f>
              <c:strCache>
                <c:ptCount val="1"/>
                <c:pt idx="0">
                  <c:v>Azure Cognitive Search</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23.43</c:v>
                </c:pt>
                <c:pt idx="1">
                  <c:v>68</c:v>
                </c:pt>
                <c:pt idx="2">
                  <c:v>305.51</c:v>
                </c:pt>
                <c:pt idx="3">
                  <c:v>629.28</c:v>
                </c:pt>
                <c:pt idx="4">
                  <c:v>1166.49</c:v>
                </c:pt>
                <c:pt idx="5">
                  <c:v>1582.03</c:v>
                </c:pt>
                <c:pt idx="6">
                  <c:v>1825.03</c:v>
                </c:pt>
              </c:numCache>
            </c:numRef>
          </c:val>
          <c:extLst>
            <c:ext xmlns:c16="http://schemas.microsoft.com/office/drawing/2014/chart" uri="{C3380CC4-5D6E-409C-BE32-E72D297353CC}">
              <c16:uniqueId val="{00000003-319D-41A8-9887-F92F3F3C0EB3}"/>
            </c:ext>
          </c:extLst>
        </c:ser>
        <c:ser>
          <c:idx val="4"/>
          <c:order val="4"/>
          <c:tx>
            <c:strRef>
              <c:f>Sheet1!$F$1</c:f>
              <c:strCache>
                <c:ptCount val="1"/>
                <c:pt idx="0">
                  <c:v>Microsoft Defender for Cloud</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83.58</c:v>
                </c:pt>
                <c:pt idx="1">
                  <c:v>237</c:v>
                </c:pt>
                <c:pt idx="2">
                  <c:v>535.5</c:v>
                </c:pt>
                <c:pt idx="3">
                  <c:v>143.21</c:v>
                </c:pt>
                <c:pt idx="4">
                  <c:v>401.16</c:v>
                </c:pt>
                <c:pt idx="5">
                  <c:v>1574.44</c:v>
                </c:pt>
                <c:pt idx="6">
                  <c:v>1166.17</c:v>
                </c:pt>
              </c:numCache>
            </c:numRef>
          </c:val>
          <c:extLst>
            <c:ext xmlns:c16="http://schemas.microsoft.com/office/drawing/2014/chart" uri="{C3380CC4-5D6E-409C-BE32-E72D297353CC}">
              <c16:uniqueId val="{00000004-319D-41A8-9887-F92F3F3C0EB3}"/>
            </c:ext>
          </c:extLst>
        </c:ser>
        <c:ser>
          <c:idx val="5"/>
          <c:order val="5"/>
          <c:tx>
            <c:strRef>
              <c:f>Sheet1!$G$1</c:f>
              <c:strCache>
                <c:ptCount val="1"/>
                <c:pt idx="0">
                  <c:v>Azure Database for PostgreSQL</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46.79</c:v>
                </c:pt>
                <c:pt idx="1">
                  <c:v>141</c:v>
                </c:pt>
                <c:pt idx="2">
                  <c:v>356.15</c:v>
                </c:pt>
                <c:pt idx="3">
                  <c:v>489.68</c:v>
                </c:pt>
                <c:pt idx="4">
                  <c:v>790.07</c:v>
                </c:pt>
                <c:pt idx="5">
                  <c:v>1068.76</c:v>
                </c:pt>
                <c:pt idx="6">
                  <c:v>1101.71</c:v>
                </c:pt>
              </c:numCache>
            </c:numRef>
          </c:val>
          <c:extLst>
            <c:ext xmlns:c16="http://schemas.microsoft.com/office/drawing/2014/chart" uri="{C3380CC4-5D6E-409C-BE32-E72D297353CC}">
              <c16:uniqueId val="{00000005-319D-41A8-9887-F92F3F3C0EB3}"/>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212.84999999999997</c:v>
                </c:pt>
                <c:pt idx="1">
                  <c:v>669</c:v>
                </c:pt>
                <c:pt idx="2">
                  <c:v>1260.73</c:v>
                </c:pt>
                <c:pt idx="3">
                  <c:v>1440.16</c:v>
                </c:pt>
                <c:pt idx="4">
                  <c:v>1534.08</c:v>
                </c:pt>
                <c:pt idx="5">
                  <c:v>2364.1500000000005</c:v>
                </c:pt>
                <c:pt idx="6">
                  <c:v>2907.3499999999995</c:v>
                </c:pt>
              </c:numCache>
            </c:numRef>
          </c:val>
          <c:extLst>
            <c:ext xmlns:c16="http://schemas.microsoft.com/office/drawing/2014/chart" uri="{C3380CC4-5D6E-409C-BE32-E72D297353CC}">
              <c16:uniqueId val="{00000006-319D-41A8-9887-F92F3F3C0EB3}"/>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Prod Subscription</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798.75</c:v>
                </c:pt>
                <c:pt idx="1">
                  <c:v>2844</c:v>
                </c:pt>
                <c:pt idx="2">
                  <c:v>10910</c:v>
                </c:pt>
                <c:pt idx="3">
                  <c:v>9522</c:v>
                </c:pt>
                <c:pt idx="4">
                  <c:v>7610.56</c:v>
                </c:pt>
                <c:pt idx="5">
                  <c:v>17286</c:v>
                </c:pt>
                <c:pt idx="6">
                  <c:v>13714</c:v>
                </c:pt>
              </c:numCache>
            </c:numRef>
          </c:val>
          <c:extLst>
            <c:ext xmlns:c16="http://schemas.microsoft.com/office/drawing/2014/chart" uri="{C3380CC4-5D6E-409C-BE32-E72D297353CC}">
              <c16:uniqueId val="{00000000-1AAB-45A1-9AE2-1194C1E415F8}"/>
            </c:ext>
          </c:extLst>
        </c:ser>
        <c:ser>
          <c:idx val="1"/>
          <c:order val="1"/>
          <c:tx>
            <c:strRef>
              <c:f>Sheet1!$C$1</c:f>
              <c:strCache>
                <c:ptCount val="1"/>
                <c:pt idx="0">
                  <c:v>Dev/Test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464</c:v>
                </c:pt>
                <c:pt idx="2">
                  <c:v>1031</c:v>
                </c:pt>
                <c:pt idx="3">
                  <c:v>1368</c:v>
                </c:pt>
                <c:pt idx="4">
                  <c:v>4874.3900000000003</c:v>
                </c:pt>
                <c:pt idx="5">
                  <c:v>7063</c:v>
                </c:pt>
                <c:pt idx="6">
                  <c:v>6454</c:v>
                </c:pt>
              </c:numCache>
            </c:numRef>
          </c:val>
          <c:extLst>
            <c:ext xmlns:c16="http://schemas.microsoft.com/office/drawing/2014/chart" uri="{C3380CC4-5D6E-409C-BE32-E72D297353CC}">
              <c16:uniqueId val="{00000001-1AAB-45A1-9AE2-1194C1E415F8}"/>
            </c:ext>
          </c:extLst>
        </c:ser>
        <c:ser>
          <c:idx val="2"/>
          <c:order val="2"/>
          <c:tx>
            <c:strRef>
              <c:f>Sheet1!$D$1</c:f>
              <c:strCache>
                <c:ptCount val="1"/>
                <c:pt idx="0">
                  <c:v>AI Factory prod</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55.56</c:v>
                </c:pt>
                <c:pt idx="1">
                  <c:v>169</c:v>
                </c:pt>
                <c:pt idx="2">
                  <c:v>460</c:v>
                </c:pt>
                <c:pt idx="3">
                  <c:v>454</c:v>
                </c:pt>
                <c:pt idx="4">
                  <c:v>575.07000000000005</c:v>
                </c:pt>
                <c:pt idx="5">
                  <c:v>814</c:v>
                </c:pt>
                <c:pt idx="6">
                  <c:v>1160</c:v>
                </c:pt>
              </c:numCache>
            </c:numRef>
          </c:val>
          <c:extLst>
            <c:ext xmlns:c16="http://schemas.microsoft.com/office/drawing/2014/chart" uri="{C3380CC4-5D6E-409C-BE32-E72D297353CC}">
              <c16:uniqueId val="{00000002-1AAB-45A1-9AE2-1194C1E415F8}"/>
            </c:ext>
          </c:extLst>
        </c:ser>
        <c:ser>
          <c:idx val="3"/>
          <c:order val="3"/>
          <c:tx>
            <c:strRef>
              <c:f>Sheet1!$E$1</c:f>
              <c:strCache>
                <c:ptCount val="1"/>
                <c:pt idx="0">
                  <c:v>AI Factory dev</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0</c:v>
                </c:pt>
                <c:pt idx="1">
                  <c:v>0</c:v>
                </c:pt>
                <c:pt idx="2">
                  <c:v>231</c:v>
                </c:pt>
                <c:pt idx="3">
                  <c:v>332</c:v>
                </c:pt>
                <c:pt idx="4">
                  <c:v>347.57</c:v>
                </c:pt>
                <c:pt idx="5">
                  <c:v>497</c:v>
                </c:pt>
                <c:pt idx="6">
                  <c:v>458</c:v>
                </c:pt>
              </c:numCache>
            </c:numRef>
          </c:val>
          <c:extLst>
            <c:ext xmlns:c16="http://schemas.microsoft.com/office/drawing/2014/chart" uri="{C3380CC4-5D6E-409C-BE32-E72D297353CC}">
              <c16:uniqueId val="{00000003-1AAB-45A1-9AE2-1194C1E415F8}"/>
            </c:ext>
          </c:extLst>
        </c:ser>
        <c:ser>
          <c:idx val="4"/>
          <c:order val="4"/>
          <c:tx>
            <c:strRef>
              <c:f>Sheet1!$F$1</c:f>
              <c:strCache>
                <c:ptCount val="1"/>
                <c:pt idx="0">
                  <c:v>INSAIT Dev</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0</c:v>
                </c:pt>
                <c:pt idx="1">
                  <c:v>0</c:v>
                </c:pt>
                <c:pt idx="2">
                  <c:v>0</c:v>
                </c:pt>
                <c:pt idx="3">
                  <c:v>0</c:v>
                </c:pt>
                <c:pt idx="4">
                  <c:v>193.18</c:v>
                </c:pt>
                <c:pt idx="5">
                  <c:v>239</c:v>
                </c:pt>
                <c:pt idx="6">
                  <c:v>1339</c:v>
                </c:pt>
              </c:numCache>
            </c:numRef>
          </c:val>
          <c:extLst>
            <c:ext xmlns:c16="http://schemas.microsoft.com/office/drawing/2014/chart" uri="{C3380CC4-5D6E-409C-BE32-E72D297353CC}">
              <c16:uniqueId val="{00000004-1AAB-45A1-9AE2-1194C1E415F8}"/>
            </c:ext>
          </c:extLst>
        </c:ser>
        <c:ser>
          <c:idx val="5"/>
          <c:order val="5"/>
          <c:tx>
            <c:strRef>
              <c:f>Sheet1!$G$1</c:f>
              <c:strCache>
                <c:ptCount val="1"/>
                <c:pt idx="0">
                  <c:v>All other</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0</c:v>
                </c:pt>
                <c:pt idx="1">
                  <c:v>0</c:v>
                </c:pt>
                <c:pt idx="2">
                  <c:v>0</c:v>
                </c:pt>
                <c:pt idx="3">
                  <c:v>0</c:v>
                </c:pt>
                <c:pt idx="4">
                  <c:v>55.57</c:v>
                </c:pt>
                <c:pt idx="5">
                  <c:v>443</c:v>
                </c:pt>
                <c:pt idx="6">
                  <c:v>485</c:v>
                </c:pt>
              </c:numCache>
            </c:numRef>
          </c:val>
          <c:extLst>
            <c:ext xmlns:c16="http://schemas.microsoft.com/office/drawing/2014/chart" uri="{C3380CC4-5D6E-409C-BE32-E72D297353CC}">
              <c16:uniqueId val="{00000005-1AAB-45A1-9AE2-1194C1E415F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S0 Custom Pages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3312</c:v>
                </c:pt>
                <c:pt idx="1">
                  <c:v>3720</c:v>
                </c:pt>
                <c:pt idx="2">
                  <c:v>2846</c:v>
                </c:pt>
                <c:pt idx="3">
                  <c:v>1523.49</c:v>
                </c:pt>
                <c:pt idx="4">
                  <c:v>2246.94</c:v>
                </c:pt>
                <c:pt idx="5">
                  <c:v>2764.98</c:v>
                </c:pt>
                <c:pt idx="6">
                  <c:v>2392.3200000000002</c:v>
                </c:pt>
              </c:numCache>
            </c:numRef>
          </c:val>
          <c:extLst>
            <c:ext xmlns:c16="http://schemas.microsoft.com/office/drawing/2014/chart" uri="{C3380CC4-5D6E-409C-BE32-E72D297353CC}">
              <c16:uniqueId val="{00000000-23A4-44DC-A9AD-11A330C60FB0}"/>
            </c:ext>
          </c:extLst>
        </c:ser>
        <c:ser>
          <c:idx val="1"/>
          <c:order val="1"/>
          <c:tx>
            <c:strRef>
              <c:f>Sheet1!$C$1</c:f>
              <c:strCache>
                <c:ptCount val="1"/>
                <c:pt idx="0">
                  <c:v>5.4 opt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0</c:v>
                </c:pt>
                <c:pt idx="2">
                  <c:v>0</c:v>
                </c:pt>
                <c:pt idx="3">
                  <c:v>0</c:v>
                </c:pt>
                <c:pt idx="4">
                  <c:v>941.41</c:v>
                </c:pt>
                <c:pt idx="5">
                  <c:v>6273.8</c:v>
                </c:pt>
                <c:pt idx="6">
                  <c:v>3893</c:v>
                </c:pt>
              </c:numCache>
            </c:numRef>
          </c:val>
          <c:extLst>
            <c:ext xmlns:c16="http://schemas.microsoft.com/office/drawing/2014/chart" uri="{C3380CC4-5D6E-409C-BE32-E72D297353CC}">
              <c16:uniqueId val="{00000001-23A4-44DC-A9AD-11A330C60FB0}"/>
            </c:ext>
          </c:extLst>
        </c:ser>
        <c:ser>
          <c:idx val="2"/>
          <c:order val="2"/>
          <c:tx>
            <c:strRef>
              <c:f>Sheet1!$D$1</c:f>
              <c:strCache>
                <c:ptCount val="1"/>
                <c:pt idx="0">
                  <c:v>5.4 inp</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0</c:v>
                </c:pt>
                <c:pt idx="1">
                  <c:v>0</c:v>
                </c:pt>
                <c:pt idx="2">
                  <c:v>0</c:v>
                </c:pt>
                <c:pt idx="3">
                  <c:v>0</c:v>
                </c:pt>
                <c:pt idx="4">
                  <c:v>1056.29</c:v>
                </c:pt>
                <c:pt idx="5">
                  <c:v>4877.16</c:v>
                </c:pt>
                <c:pt idx="6">
                  <c:v>4947</c:v>
                </c:pt>
              </c:numCache>
            </c:numRef>
          </c:val>
          <c:extLst>
            <c:ext xmlns:c16="http://schemas.microsoft.com/office/drawing/2014/chart" uri="{C3380CC4-5D6E-409C-BE32-E72D297353CC}">
              <c16:uniqueId val="{00000002-23A4-44DC-A9AD-11A330C60FB0}"/>
            </c:ext>
          </c:extLst>
        </c:ser>
        <c:ser>
          <c:idx val="3"/>
          <c:order val="3"/>
          <c:tx>
            <c:strRef>
              <c:f>Sheet1!$E$1</c:f>
              <c:strCache>
                <c:ptCount val="1"/>
                <c:pt idx="0">
                  <c:v>S0 Pre-built Pages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804</c:v>
                </c:pt>
                <c:pt idx="1">
                  <c:v>385</c:v>
                </c:pt>
                <c:pt idx="2">
                  <c:v>521</c:v>
                </c:pt>
                <c:pt idx="3">
                  <c:v>336.11</c:v>
                </c:pt>
                <c:pt idx="4">
                  <c:v>627.22</c:v>
                </c:pt>
                <c:pt idx="5">
                  <c:v>2035.82</c:v>
                </c:pt>
                <c:pt idx="6">
                  <c:v>3385.11</c:v>
                </c:pt>
              </c:numCache>
            </c:numRef>
          </c:val>
          <c:extLst>
            <c:ext xmlns:c16="http://schemas.microsoft.com/office/drawing/2014/chart" uri="{C3380CC4-5D6E-409C-BE32-E72D297353CC}">
              <c16:uniqueId val="{00000003-23A4-44DC-A9AD-11A330C60FB0}"/>
            </c:ext>
          </c:extLst>
        </c:ser>
        <c:ser>
          <c:idx val="4"/>
          <c:order val="4"/>
          <c:tx>
            <c:strRef>
              <c:f>Sheet1!$F$1</c:f>
              <c:strCache>
                <c:ptCount val="1"/>
                <c:pt idx="0">
                  <c:v>gpt 4o 0513</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1145</c:v>
                </c:pt>
                <c:pt idx="1">
                  <c:v>1300</c:v>
                </c:pt>
                <c:pt idx="2">
                  <c:v>1060.02</c:v>
                </c:pt>
                <c:pt idx="3">
                  <c:v>3220.28</c:v>
                </c:pt>
                <c:pt idx="4">
                  <c:v>917</c:v>
                </c:pt>
                <c:pt idx="5">
                  <c:v>261</c:v>
                </c:pt>
                <c:pt idx="6">
                  <c:v>188</c:v>
                </c:pt>
              </c:numCache>
            </c:numRef>
          </c:val>
          <c:extLst>
            <c:ext xmlns:c16="http://schemas.microsoft.com/office/drawing/2014/chart" uri="{C3380CC4-5D6E-409C-BE32-E72D297353CC}">
              <c16:uniqueId val="{00000004-23A4-44DC-A9AD-11A330C60FB0}"/>
            </c:ext>
          </c:extLst>
        </c:ser>
        <c:ser>
          <c:idx val="5"/>
          <c:order val="5"/>
          <c:tx>
            <c:strRef>
              <c:f>Sheet1!$G$1</c:f>
              <c:strCache>
                <c:ptCount val="1"/>
                <c:pt idx="0">
                  <c:v>gpt 4o 1120</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6.11</c:v>
                </c:pt>
                <c:pt idx="1">
                  <c:v>524</c:v>
                </c:pt>
                <c:pt idx="2">
                  <c:v>2563.7600000000002</c:v>
                </c:pt>
                <c:pt idx="3">
                  <c:v>3081.82</c:v>
                </c:pt>
                <c:pt idx="4">
                  <c:v>253</c:v>
                </c:pt>
                <c:pt idx="5">
                  <c:v>663</c:v>
                </c:pt>
                <c:pt idx="6">
                  <c:v>107</c:v>
                </c:pt>
              </c:numCache>
            </c:numRef>
          </c:val>
          <c:extLst>
            <c:ext xmlns:c16="http://schemas.microsoft.com/office/drawing/2014/chart" uri="{C3380CC4-5D6E-409C-BE32-E72D297353CC}">
              <c16:uniqueId val="{00000005-23A4-44DC-A9AD-11A330C60FB0}"/>
            </c:ext>
          </c:extLst>
        </c:ser>
        <c:ser>
          <c:idx val="6"/>
          <c:order val="6"/>
          <c:tx>
            <c:strRef>
              <c:f>Sheet1!$H$1</c:f>
              <c:strCache>
                <c:ptCount val="1"/>
                <c:pt idx="0">
                  <c:v>GPT 5</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13.65</c:v>
                </c:pt>
                <c:pt idx="1">
                  <c:v>17</c:v>
                </c:pt>
                <c:pt idx="2">
                  <c:v>272.95</c:v>
                </c:pt>
                <c:pt idx="3">
                  <c:v>971.26</c:v>
                </c:pt>
                <c:pt idx="4">
                  <c:v>5056</c:v>
                </c:pt>
                <c:pt idx="5">
                  <c:v>494</c:v>
                </c:pt>
                <c:pt idx="6">
                  <c:v>1</c:v>
                </c:pt>
              </c:numCache>
            </c:numRef>
          </c:val>
          <c:extLst>
            <c:ext xmlns:c16="http://schemas.microsoft.com/office/drawing/2014/chart" uri="{C3380CC4-5D6E-409C-BE32-E72D297353CC}">
              <c16:uniqueId val="{00000006-23A4-44DC-A9AD-11A330C60FB0}"/>
            </c:ext>
          </c:extLst>
        </c:ser>
        <c:ser>
          <c:idx val="7"/>
          <c:order val="7"/>
          <c:tx>
            <c:strRef>
              <c:f>Sheet1!$I$1</c:f>
              <c:strCache>
                <c:ptCount val="1"/>
                <c:pt idx="0">
                  <c:v>GPT 5.1</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0</c:v>
                </c:pt>
                <c:pt idx="1">
                  <c:v>0</c:v>
                </c:pt>
                <c:pt idx="2">
                  <c:v>22.62</c:v>
                </c:pt>
                <c:pt idx="3">
                  <c:v>0.21</c:v>
                </c:pt>
                <c:pt idx="4">
                  <c:v>220</c:v>
                </c:pt>
                <c:pt idx="5">
                  <c:v>1946</c:v>
                </c:pt>
                <c:pt idx="6">
                  <c:v>1204</c:v>
                </c:pt>
              </c:numCache>
            </c:numRef>
          </c:val>
          <c:extLst>
            <c:ext xmlns:c16="http://schemas.microsoft.com/office/drawing/2014/chart" uri="{C3380CC4-5D6E-409C-BE32-E72D297353CC}">
              <c16:uniqueId val="{00000007-23A4-44DC-A9AD-11A330C60FB0}"/>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481.32</c:v>
                </c:pt>
                <c:pt idx="1">
                  <c:v>846</c:v>
                </c:pt>
                <c:pt idx="2">
                  <c:v>552.17999999999995</c:v>
                </c:pt>
                <c:pt idx="3">
                  <c:v>1410.55</c:v>
                </c:pt>
                <c:pt idx="4">
                  <c:v>3611.5500000000006</c:v>
                </c:pt>
                <c:pt idx="5">
                  <c:v>2292.8399999999997</c:v>
                </c:pt>
                <c:pt idx="6">
                  <c:v>3491.7999999999997</c:v>
                </c:pt>
              </c:numCache>
            </c:numRef>
          </c:val>
          <c:extLst>
            <c:ext xmlns:c16="http://schemas.microsoft.com/office/drawing/2014/chart" uri="{C3380CC4-5D6E-409C-BE32-E72D297353CC}">
              <c16:uniqueId val="{00000008-23A4-44DC-A9AD-11A330C60FB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Claude Opus 4.6</c:v>
                </c:pt>
              </c:strCache>
            </c:strRef>
          </c:tx>
          <c:spPr>
            <a:solidFill>
              <a:srgbClr val="2F8CFF"/>
            </a:solidFill>
            <a:effectLst/>
          </c:spPr>
          <c:invertIfNegative val="0"/>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c:v>
                </c:pt>
                <c:pt idx="2">
                  <c:v>2866.65</c:v>
                </c:pt>
                <c:pt idx="3">
                  <c:v>4806.49</c:v>
                </c:pt>
                <c:pt idx="4">
                  <c:v>9873.2199999999993</c:v>
                </c:pt>
              </c:numCache>
            </c:numRef>
          </c:val>
          <c:extLst>
            <c:ext xmlns:c16="http://schemas.microsoft.com/office/drawing/2014/chart" uri="{C3380CC4-5D6E-409C-BE32-E72D297353CC}">
              <c16:uniqueId val="{00000000-A0FD-45DB-9477-45B977C906D2}"/>
            </c:ext>
          </c:extLst>
        </c:ser>
        <c:ser>
          <c:idx val="1"/>
          <c:order val="1"/>
          <c:tx>
            <c:strRef>
              <c:f>Sheet1!$C$1</c:f>
              <c:strCache>
                <c:ptCount val="1"/>
                <c:pt idx="0">
                  <c:v>Claude Opus 4.8</c:v>
                </c:pt>
              </c:strCache>
            </c:strRef>
          </c:tx>
          <c:spPr>
            <a:solidFill>
              <a:srgbClr val="3DD9EB"/>
            </a:solidFill>
            <a:effectLst/>
          </c:spPr>
          <c:invertIfNegative val="0"/>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0</c:v>
                </c:pt>
                <c:pt idx="2">
                  <c:v>76.7</c:v>
                </c:pt>
                <c:pt idx="3">
                  <c:v>2024.12</c:v>
                </c:pt>
                <c:pt idx="4">
                  <c:v>11361.86</c:v>
                </c:pt>
              </c:numCache>
            </c:numRef>
          </c:val>
          <c:extLst>
            <c:ext xmlns:c16="http://schemas.microsoft.com/office/drawing/2014/chart" uri="{C3380CC4-5D6E-409C-BE32-E72D297353CC}">
              <c16:uniqueId val="{00000001-A0FD-45DB-9477-45B977C906D2}"/>
            </c:ext>
          </c:extLst>
        </c:ser>
        <c:ser>
          <c:idx val="2"/>
          <c:order val="2"/>
          <c:tx>
            <c:strRef>
              <c:f>Sheet1!$D$1</c:f>
              <c:strCache>
                <c:ptCount val="1"/>
                <c:pt idx="0">
                  <c:v>Claude Opus 4.7</c:v>
                </c:pt>
              </c:strCache>
            </c:strRef>
          </c:tx>
          <c:spPr>
            <a:solidFill>
              <a:srgbClr val="FF9F43"/>
            </a:solidFill>
            <a:effectLst/>
          </c:spPr>
          <c:invertIfNegative val="0"/>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0</c:v>
                </c:pt>
                <c:pt idx="2">
                  <c:v>786.79</c:v>
                </c:pt>
                <c:pt idx="3">
                  <c:v>2917.83</c:v>
                </c:pt>
                <c:pt idx="4">
                  <c:v>2438.48</c:v>
                </c:pt>
              </c:numCache>
            </c:numRef>
          </c:val>
          <c:extLst>
            <c:ext xmlns:c16="http://schemas.microsoft.com/office/drawing/2014/chart" uri="{C3380CC4-5D6E-409C-BE32-E72D297353CC}">
              <c16:uniqueId val="{00000002-A0FD-45DB-9477-45B977C906D2}"/>
            </c:ext>
          </c:extLst>
        </c:ser>
        <c:ser>
          <c:idx val="3"/>
          <c:order val="3"/>
          <c:tx>
            <c:strRef>
              <c:f>Sheet1!$E$1</c:f>
              <c:strCache>
                <c:ptCount val="1"/>
                <c:pt idx="0">
                  <c:v>Amazon Bedrock Edition</c:v>
                </c:pt>
              </c:strCache>
            </c:strRef>
          </c:tx>
          <c:spPr>
            <a:solidFill>
              <a:srgbClr val="B07CFF"/>
            </a:solidFill>
            <a:effectLst/>
          </c:spPr>
          <c:invertIfNegative val="0"/>
          <c:cat>
            <c:strRef>
              <c:f>Sheet1!$A$2:$A$6</c:f>
              <c:strCache>
                <c:ptCount val="5"/>
                <c:pt idx="0">
                  <c:v>Mar</c:v>
                </c:pt>
                <c:pt idx="1">
                  <c:v>Apr</c:v>
                </c:pt>
                <c:pt idx="2">
                  <c:v>May</c:v>
                </c:pt>
                <c:pt idx="3">
                  <c:v>Jun</c:v>
                </c:pt>
                <c:pt idx="4">
                  <c:v>Jul</c:v>
                </c:pt>
              </c:strCache>
            </c:strRef>
          </c:cat>
          <c:val>
            <c:numRef>
              <c:f>Sheet1!$E$2:$E$6</c:f>
              <c:numCache>
                <c:formatCode>General</c:formatCode>
                <c:ptCount val="5"/>
                <c:pt idx="0">
                  <c:v>841</c:v>
                </c:pt>
                <c:pt idx="1">
                  <c:v>1609</c:v>
                </c:pt>
                <c:pt idx="2">
                  <c:v>0</c:v>
                </c:pt>
                <c:pt idx="3">
                  <c:v>0</c:v>
                </c:pt>
                <c:pt idx="4">
                  <c:v>0</c:v>
                </c:pt>
              </c:numCache>
            </c:numRef>
          </c:val>
          <c:extLst>
            <c:ext xmlns:c16="http://schemas.microsoft.com/office/drawing/2014/chart" uri="{C3380CC4-5D6E-409C-BE32-E72D297353CC}">
              <c16:uniqueId val="{00000003-A0FD-45DB-9477-45B977C906D2}"/>
            </c:ext>
          </c:extLst>
        </c:ser>
        <c:ser>
          <c:idx val="4"/>
          <c:order val="4"/>
          <c:tx>
            <c:strRef>
              <c:f>Sheet1!$F$1</c:f>
              <c:strCache>
                <c:ptCount val="1"/>
                <c:pt idx="0">
                  <c:v>Claude Sonnet 4.6</c:v>
                </c:pt>
              </c:strCache>
            </c:strRef>
          </c:tx>
          <c:spPr>
            <a:solidFill>
              <a:srgbClr val="3DDC97"/>
            </a:solidFill>
            <a:effectLst/>
          </c:spPr>
          <c:invertIfNegative val="0"/>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14.53</c:v>
                </c:pt>
                <c:pt idx="3">
                  <c:v>540.41</c:v>
                </c:pt>
                <c:pt idx="4">
                  <c:v>688.26</c:v>
                </c:pt>
              </c:numCache>
            </c:numRef>
          </c:val>
          <c:extLst>
            <c:ext xmlns:c16="http://schemas.microsoft.com/office/drawing/2014/chart" uri="{C3380CC4-5D6E-409C-BE32-E72D297353CC}">
              <c16:uniqueId val="{00000004-A0FD-45DB-9477-45B977C906D2}"/>
            </c:ext>
          </c:extLst>
        </c:ser>
        <c:ser>
          <c:idx val="5"/>
          <c:order val="5"/>
          <c:tx>
            <c:strRef>
              <c:f>Sheet1!$G$1</c:f>
              <c:strCache>
                <c:ptCount val="1"/>
                <c:pt idx="0">
                  <c:v>Claude Opus 5</c:v>
                </c:pt>
              </c:strCache>
            </c:strRef>
          </c:tx>
          <c:spPr>
            <a:solidFill>
              <a:srgbClr val="FF6B7A"/>
            </a:solidFill>
            <a:effectLst/>
          </c:spPr>
          <c:invertIfNegative val="0"/>
          <c:cat>
            <c:strRef>
              <c:f>Sheet1!$A$2:$A$6</c:f>
              <c:strCache>
                <c:ptCount val="5"/>
                <c:pt idx="0">
                  <c:v>Mar</c:v>
                </c:pt>
                <c:pt idx="1">
                  <c:v>Apr</c:v>
                </c:pt>
                <c:pt idx="2">
                  <c:v>May</c:v>
                </c:pt>
                <c:pt idx="3">
                  <c:v>Jun</c:v>
                </c:pt>
                <c:pt idx="4">
                  <c:v>Jul</c:v>
                </c:pt>
              </c:strCache>
            </c:strRef>
          </c:cat>
          <c:val>
            <c:numRef>
              <c:f>Sheet1!$G$2:$G$6</c:f>
              <c:numCache>
                <c:formatCode>General</c:formatCode>
                <c:ptCount val="5"/>
                <c:pt idx="0">
                  <c:v>0</c:v>
                </c:pt>
                <c:pt idx="1">
                  <c:v>0</c:v>
                </c:pt>
                <c:pt idx="2">
                  <c:v>0</c:v>
                </c:pt>
                <c:pt idx="3">
                  <c:v>0</c:v>
                </c:pt>
                <c:pt idx="4">
                  <c:v>691.45</c:v>
                </c:pt>
              </c:numCache>
            </c:numRef>
          </c:val>
          <c:extLst>
            <c:ext xmlns:c16="http://schemas.microsoft.com/office/drawing/2014/chart" uri="{C3380CC4-5D6E-409C-BE32-E72D297353CC}">
              <c16:uniqueId val="{00000005-A0FD-45DB-9477-45B977C906D2}"/>
            </c:ext>
          </c:extLst>
        </c:ser>
        <c:ser>
          <c:idx val="6"/>
          <c:order val="6"/>
          <c:tx>
            <c:strRef>
              <c:f>Sheet1!$H$1</c:f>
              <c:strCache>
                <c:ptCount val="1"/>
                <c:pt idx="0">
                  <c:v>Claude Haiku 4.5</c:v>
                </c:pt>
              </c:strCache>
            </c:strRef>
          </c:tx>
          <c:spPr>
            <a:solidFill>
              <a:srgbClr val="2AD38C"/>
            </a:solidFill>
            <a:effectLst/>
          </c:spPr>
          <c:invertIfNegative val="0"/>
          <c:cat>
            <c:strRef>
              <c:f>Sheet1!$A$2:$A$6</c:f>
              <c:strCache>
                <c:ptCount val="5"/>
                <c:pt idx="0">
                  <c:v>Mar</c:v>
                </c:pt>
                <c:pt idx="1">
                  <c:v>Apr</c:v>
                </c:pt>
                <c:pt idx="2">
                  <c:v>May</c:v>
                </c:pt>
                <c:pt idx="3">
                  <c:v>Jun</c:v>
                </c:pt>
                <c:pt idx="4">
                  <c:v>Jul</c:v>
                </c:pt>
              </c:strCache>
            </c:strRef>
          </c:cat>
          <c:val>
            <c:numRef>
              <c:f>Sheet1!$H$2:$H$6</c:f>
              <c:numCache>
                <c:formatCode>General</c:formatCode>
                <c:ptCount val="5"/>
                <c:pt idx="0">
                  <c:v>0</c:v>
                </c:pt>
                <c:pt idx="1">
                  <c:v>0</c:v>
                </c:pt>
                <c:pt idx="2">
                  <c:v>57.15</c:v>
                </c:pt>
                <c:pt idx="3">
                  <c:v>159.32</c:v>
                </c:pt>
                <c:pt idx="4">
                  <c:v>157.37</c:v>
                </c:pt>
              </c:numCache>
            </c:numRef>
          </c:val>
          <c:extLst>
            <c:ext xmlns:c16="http://schemas.microsoft.com/office/drawing/2014/chart" uri="{C3380CC4-5D6E-409C-BE32-E72D297353CC}">
              <c16:uniqueId val="{00000006-A0FD-45DB-9477-45B977C906D2}"/>
            </c:ext>
          </c:extLst>
        </c:ser>
        <c:ser>
          <c:idx val="7"/>
          <c:order val="7"/>
          <c:tx>
            <c:strRef>
              <c:f>Sheet1!$I$1</c:f>
              <c:strCache>
                <c:ptCount val="1"/>
                <c:pt idx="0">
                  <c:v>Claude Sonnet 4.5</c:v>
                </c:pt>
              </c:strCache>
            </c:strRef>
          </c:tx>
          <c:spPr>
            <a:solidFill>
              <a:srgbClr val="FFB84D"/>
            </a:solidFill>
            <a:effectLst/>
          </c:spPr>
          <c:invertIfNegative val="0"/>
          <c:cat>
            <c:strRef>
              <c:f>Sheet1!$A$2:$A$6</c:f>
              <c:strCache>
                <c:ptCount val="5"/>
                <c:pt idx="0">
                  <c:v>Mar</c:v>
                </c:pt>
                <c:pt idx="1">
                  <c:v>Apr</c:v>
                </c:pt>
                <c:pt idx="2">
                  <c:v>May</c:v>
                </c:pt>
                <c:pt idx="3">
                  <c:v>Jun</c:v>
                </c:pt>
                <c:pt idx="4">
                  <c:v>Jul</c:v>
                </c:pt>
              </c:strCache>
            </c:strRef>
          </c:cat>
          <c:val>
            <c:numRef>
              <c:f>Sheet1!$I$2:$I$6</c:f>
              <c:numCache>
                <c:formatCode>General</c:formatCode>
                <c:ptCount val="5"/>
                <c:pt idx="0">
                  <c:v>0</c:v>
                </c:pt>
                <c:pt idx="1">
                  <c:v>0</c:v>
                </c:pt>
                <c:pt idx="2">
                  <c:v>9.6300000000000008</c:v>
                </c:pt>
                <c:pt idx="3">
                  <c:v>58.63</c:v>
                </c:pt>
                <c:pt idx="4">
                  <c:v>77.41</c:v>
                </c:pt>
              </c:numCache>
            </c:numRef>
          </c:val>
          <c:extLst>
            <c:ext xmlns:c16="http://schemas.microsoft.com/office/drawing/2014/chart" uri="{C3380CC4-5D6E-409C-BE32-E72D297353CC}">
              <c16:uniqueId val="{00000007-A0FD-45DB-9477-45B977C906D2}"/>
            </c:ext>
          </c:extLst>
        </c:ser>
        <c:ser>
          <c:idx val="8"/>
          <c:order val="8"/>
          <c:tx>
            <c:strRef>
              <c:f>Sheet1!$J$1</c:f>
              <c:strCache>
                <c:ptCount val="1"/>
                <c:pt idx="0">
                  <c:v>All other</c:v>
                </c:pt>
              </c:strCache>
            </c:strRef>
          </c:tx>
          <c:spPr>
            <a:solidFill>
              <a:srgbClr val="6C8CFF"/>
            </a:solidFill>
            <a:effectLst/>
          </c:spPr>
          <c:invertIfNegative val="0"/>
          <c:cat>
            <c:strRef>
              <c:f>Sheet1!$A$2:$A$6</c:f>
              <c:strCache>
                <c:ptCount val="5"/>
                <c:pt idx="0">
                  <c:v>Mar</c:v>
                </c:pt>
                <c:pt idx="1">
                  <c:v>Apr</c:v>
                </c:pt>
                <c:pt idx="2">
                  <c:v>May</c:v>
                </c:pt>
                <c:pt idx="3">
                  <c:v>Jun</c:v>
                </c:pt>
                <c:pt idx="4">
                  <c:v>Jul</c:v>
                </c:pt>
              </c:strCache>
            </c:strRef>
          </c:cat>
          <c:val>
            <c:numRef>
              <c:f>Sheet1!$J$2:$J$6</c:f>
              <c:numCache>
                <c:formatCode>General</c:formatCode>
                <c:ptCount val="5"/>
                <c:pt idx="0">
                  <c:v>0</c:v>
                </c:pt>
                <c:pt idx="1">
                  <c:v>0</c:v>
                </c:pt>
                <c:pt idx="2">
                  <c:v>0.01</c:v>
                </c:pt>
                <c:pt idx="3">
                  <c:v>0</c:v>
                </c:pt>
                <c:pt idx="4">
                  <c:v>0.28000000000000003</c:v>
                </c:pt>
              </c:numCache>
            </c:numRef>
          </c:val>
          <c:extLst>
            <c:ext xmlns:c16="http://schemas.microsoft.com/office/drawing/2014/chart" uri="{C3380CC4-5D6E-409C-BE32-E72D297353CC}">
              <c16:uniqueId val="{00000008-A0FD-45DB-9477-45B977C906D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Vertex AI</c:v>
                </c:pt>
              </c:strCache>
            </c:strRef>
          </c:tx>
          <c:spPr>
            <a:solidFill>
              <a:srgbClr val="2F8CFF"/>
            </a:solidFill>
            <a:effectLst/>
          </c:spPr>
          <c:invertIfNegative val="0"/>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0.01</c:v>
                </c:pt>
                <c:pt idx="2">
                  <c:v>378.84</c:v>
                </c:pt>
                <c:pt idx="3">
                  <c:v>957.52</c:v>
                </c:pt>
                <c:pt idx="4">
                  <c:v>2359</c:v>
                </c:pt>
              </c:numCache>
            </c:numRef>
          </c:val>
          <c:extLst>
            <c:ext xmlns:c16="http://schemas.microsoft.com/office/drawing/2014/chart" uri="{C3380CC4-5D6E-409C-BE32-E72D297353CC}">
              <c16:uniqueId val="{00000000-1CE6-47BE-AEDC-98C6021259A6}"/>
            </c:ext>
          </c:extLst>
        </c:ser>
        <c:ser>
          <c:idx val="1"/>
          <c:order val="1"/>
          <c:tx>
            <c:strRef>
              <c:f>Sheet1!$C$1</c:f>
              <c:strCache>
                <c:ptCount val="1"/>
                <c:pt idx="0">
                  <c:v>Compute Engine</c:v>
                </c:pt>
              </c:strCache>
            </c:strRef>
          </c:tx>
          <c:spPr>
            <a:solidFill>
              <a:srgbClr val="3DD9EB"/>
            </a:solidFill>
            <a:effectLst/>
          </c:spPr>
          <c:invertIfNegative val="0"/>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221.73</c:v>
                </c:pt>
                <c:pt idx="2">
                  <c:v>714.24</c:v>
                </c:pt>
                <c:pt idx="3">
                  <c:v>977.33</c:v>
                </c:pt>
                <c:pt idx="4">
                  <c:v>1011.51</c:v>
                </c:pt>
              </c:numCache>
            </c:numRef>
          </c:val>
          <c:extLst>
            <c:ext xmlns:c16="http://schemas.microsoft.com/office/drawing/2014/chart" uri="{C3380CC4-5D6E-409C-BE32-E72D297353CC}">
              <c16:uniqueId val="{00000001-1CE6-47BE-AEDC-98C6021259A6}"/>
            </c:ext>
          </c:extLst>
        </c:ser>
        <c:ser>
          <c:idx val="2"/>
          <c:order val="2"/>
          <c:tx>
            <c:strRef>
              <c:f>Sheet1!$D$1</c:f>
              <c:strCache>
                <c:ptCount val="1"/>
                <c:pt idx="0">
                  <c:v>Networking</c:v>
                </c:pt>
              </c:strCache>
            </c:strRef>
          </c:tx>
          <c:spPr>
            <a:solidFill>
              <a:srgbClr val="FF9F43"/>
            </a:solidFill>
            <a:effectLst/>
          </c:spPr>
          <c:invertIfNegative val="0"/>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74.48</c:v>
                </c:pt>
                <c:pt idx="2">
                  <c:v>311.42</c:v>
                </c:pt>
                <c:pt idx="3">
                  <c:v>303.73</c:v>
                </c:pt>
                <c:pt idx="4">
                  <c:v>310</c:v>
                </c:pt>
              </c:numCache>
            </c:numRef>
          </c:val>
          <c:extLst>
            <c:ext xmlns:c16="http://schemas.microsoft.com/office/drawing/2014/chart" uri="{C3380CC4-5D6E-409C-BE32-E72D297353CC}">
              <c16:uniqueId val="{00000002-1CE6-47BE-AEDC-98C6021259A6}"/>
            </c:ext>
          </c:extLst>
        </c:ser>
        <c:ser>
          <c:idx val="3"/>
          <c:order val="3"/>
          <c:tx>
            <c:strRef>
              <c:f>Sheet1!$E$1</c:f>
              <c:strCache>
                <c:ptCount val="1"/>
                <c:pt idx="0">
                  <c:v>Gemini API</c:v>
                </c:pt>
              </c:strCache>
            </c:strRef>
          </c:tx>
          <c:spPr>
            <a:solidFill>
              <a:srgbClr val="B07CFF"/>
            </a:solidFill>
            <a:effectLst/>
          </c:spPr>
          <c:invertIfNegative val="0"/>
          <c:cat>
            <c:strRef>
              <c:f>Sheet1!$A$2:$A$6</c:f>
              <c:strCache>
                <c:ptCount val="5"/>
                <c:pt idx="0">
                  <c:v>Mar</c:v>
                </c:pt>
                <c:pt idx="1">
                  <c:v>Apr</c:v>
                </c:pt>
                <c:pt idx="2">
                  <c:v>May</c:v>
                </c:pt>
                <c:pt idx="3">
                  <c:v>Jun</c:v>
                </c:pt>
                <c:pt idx="4">
                  <c:v>Jul</c:v>
                </c:pt>
              </c:strCache>
            </c:strRef>
          </c:cat>
          <c:val>
            <c:numRef>
              <c:f>Sheet1!$E$2:$E$6</c:f>
              <c:numCache>
                <c:formatCode>General</c:formatCode>
                <c:ptCount val="5"/>
                <c:pt idx="0">
                  <c:v>395.81</c:v>
                </c:pt>
                <c:pt idx="1">
                  <c:v>134.71</c:v>
                </c:pt>
                <c:pt idx="2">
                  <c:v>92.38</c:v>
                </c:pt>
                <c:pt idx="3">
                  <c:v>0</c:v>
                </c:pt>
                <c:pt idx="4">
                  <c:v>0</c:v>
                </c:pt>
              </c:numCache>
            </c:numRef>
          </c:val>
          <c:extLst>
            <c:ext xmlns:c16="http://schemas.microsoft.com/office/drawing/2014/chart" uri="{C3380CC4-5D6E-409C-BE32-E72D297353CC}">
              <c16:uniqueId val="{00000003-1CE6-47BE-AEDC-98C6021259A6}"/>
            </c:ext>
          </c:extLst>
        </c:ser>
        <c:ser>
          <c:idx val="4"/>
          <c:order val="4"/>
          <c:tx>
            <c:strRef>
              <c:f>Sheet1!$F$1</c:f>
              <c:strCache>
                <c:ptCount val="1"/>
                <c:pt idx="0">
                  <c:v>Support</c:v>
                </c:pt>
              </c:strCache>
            </c:strRef>
          </c:tx>
          <c:spPr>
            <a:solidFill>
              <a:srgbClr val="3DDC97"/>
            </a:solidFill>
            <a:effectLst/>
          </c:spPr>
          <c:invertIfNegative val="0"/>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26.43</c:v>
                </c:pt>
                <c:pt idx="3">
                  <c:v>98.24</c:v>
                </c:pt>
                <c:pt idx="4">
                  <c:v>141.65</c:v>
                </c:pt>
              </c:numCache>
            </c:numRef>
          </c:val>
          <c:extLst>
            <c:ext xmlns:c16="http://schemas.microsoft.com/office/drawing/2014/chart" uri="{C3380CC4-5D6E-409C-BE32-E72D297353CC}">
              <c16:uniqueId val="{00000004-1CE6-47BE-AEDC-98C6021259A6}"/>
            </c:ext>
          </c:extLst>
        </c:ser>
        <c:ser>
          <c:idx val="5"/>
          <c:order val="5"/>
          <c:tx>
            <c:strRef>
              <c:f>Sheet1!$G$1</c:f>
              <c:strCache>
                <c:ptCount val="1"/>
                <c:pt idx="0">
                  <c:v>other services</c:v>
                </c:pt>
              </c:strCache>
            </c:strRef>
          </c:tx>
          <c:spPr>
            <a:solidFill>
              <a:srgbClr val="FF6B7A"/>
            </a:solidFill>
            <a:effectLst/>
          </c:spPr>
          <c:invertIfNegative val="0"/>
          <c:cat>
            <c:strRef>
              <c:f>Sheet1!$A$2:$A$6</c:f>
              <c:strCache>
                <c:ptCount val="5"/>
                <c:pt idx="0">
                  <c:v>Mar</c:v>
                </c:pt>
                <c:pt idx="1">
                  <c:v>Apr</c:v>
                </c:pt>
                <c:pt idx="2">
                  <c:v>May</c:v>
                </c:pt>
                <c:pt idx="3">
                  <c:v>Jun</c:v>
                </c:pt>
                <c:pt idx="4">
                  <c:v>Jul</c:v>
                </c:pt>
              </c:strCache>
            </c:strRef>
          </c:cat>
          <c:val>
            <c:numRef>
              <c:f>Sheet1!$G$2:$G$6</c:f>
              <c:numCache>
                <c:formatCode>General</c:formatCode>
                <c:ptCount val="5"/>
                <c:pt idx="0">
                  <c:v>0.06</c:v>
                </c:pt>
                <c:pt idx="1">
                  <c:v>9.23</c:v>
                </c:pt>
                <c:pt idx="2">
                  <c:v>-73.959999999999994</c:v>
                </c:pt>
                <c:pt idx="3">
                  <c:v>-117.27</c:v>
                </c:pt>
                <c:pt idx="4">
                  <c:v>-115.11</c:v>
                </c:pt>
              </c:numCache>
            </c:numRef>
          </c:val>
          <c:extLst>
            <c:ext xmlns:c16="http://schemas.microsoft.com/office/drawing/2014/chart" uri="{C3380CC4-5D6E-409C-BE32-E72D297353CC}">
              <c16:uniqueId val="{00000005-1CE6-47BE-AEDC-98C6021259A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a:effectLst/>
          </c:spPr>
          <c:invertIfNegative val="0"/>
          <c:dPt>
            <c:idx val="0"/>
            <c:invertIfNegative val="0"/>
            <c:bubble3D val="0"/>
            <c:extLst>
              <c:ext xmlns:c16="http://schemas.microsoft.com/office/drawing/2014/chart" uri="{C3380CC4-5D6E-409C-BE32-E72D297353CC}">
                <c16:uniqueId val="{00000001-06E1-475D-A14C-86EE7B8AFA70}"/>
              </c:ext>
            </c:extLst>
          </c:dPt>
          <c:dPt>
            <c:idx val="1"/>
            <c:invertIfNegative val="0"/>
            <c:bubble3D val="0"/>
            <c:spPr>
              <a:solidFill>
                <a:srgbClr val="3DD9EB"/>
              </a:solidFill>
              <a:effectLst/>
            </c:spPr>
            <c:extLst>
              <c:ext xmlns:c16="http://schemas.microsoft.com/office/drawing/2014/chart" uri="{C3380CC4-5D6E-409C-BE32-E72D297353CC}">
                <c16:uniqueId val="{00000003-06E1-475D-A14C-86EE7B8AFA70}"/>
              </c:ext>
            </c:extLst>
          </c:dPt>
          <c:dPt>
            <c:idx val="2"/>
            <c:invertIfNegative val="0"/>
            <c:bubble3D val="0"/>
            <c:spPr>
              <a:solidFill>
                <a:srgbClr val="FF9F43"/>
              </a:solidFill>
              <a:effectLst/>
            </c:spPr>
            <c:extLst>
              <c:ext xmlns:c16="http://schemas.microsoft.com/office/drawing/2014/chart" uri="{C3380CC4-5D6E-409C-BE32-E72D297353CC}">
                <c16:uniqueId val="{00000005-06E1-475D-A14C-86EE7B8AFA70}"/>
              </c:ext>
            </c:extLst>
          </c:dPt>
          <c:dPt>
            <c:idx val="3"/>
            <c:invertIfNegative val="0"/>
            <c:bubble3D val="0"/>
            <c:spPr>
              <a:solidFill>
                <a:srgbClr val="B07CFF"/>
              </a:solidFill>
              <a:effectLst/>
            </c:spPr>
            <c:extLst>
              <c:ext xmlns:c16="http://schemas.microsoft.com/office/drawing/2014/chart" uri="{C3380CC4-5D6E-409C-BE32-E72D297353CC}">
                <c16:uniqueId val="{00000007-06E1-475D-A14C-86EE7B8AFA70}"/>
              </c:ext>
            </c:extLst>
          </c:dPt>
          <c:dPt>
            <c:idx val="4"/>
            <c:invertIfNegative val="0"/>
            <c:bubble3D val="0"/>
            <c:spPr>
              <a:solidFill>
                <a:srgbClr val="3DDC97"/>
              </a:solidFill>
              <a:effectLst/>
            </c:spPr>
            <c:extLst>
              <c:ext xmlns:c16="http://schemas.microsoft.com/office/drawing/2014/chart" uri="{C3380CC4-5D6E-409C-BE32-E72D297353CC}">
                <c16:uniqueId val="{00000009-06E1-475D-A14C-86EE7B8AFA70}"/>
              </c:ext>
            </c:extLst>
          </c:dPt>
          <c:dPt>
            <c:idx val="5"/>
            <c:invertIfNegative val="0"/>
            <c:bubble3D val="0"/>
            <c:spPr>
              <a:solidFill>
                <a:srgbClr val="FF6B7A"/>
              </a:solidFill>
              <a:effectLst/>
            </c:spPr>
            <c:extLst>
              <c:ext xmlns:c16="http://schemas.microsoft.com/office/drawing/2014/chart" uri="{C3380CC4-5D6E-409C-BE32-E72D297353CC}">
                <c16:uniqueId val="{0000000B-06E1-475D-A14C-86EE7B8AFA70}"/>
              </c:ext>
            </c:extLst>
          </c:dPt>
          <c:dPt>
            <c:idx val="6"/>
            <c:invertIfNegative val="0"/>
            <c:bubble3D val="0"/>
            <c:spPr>
              <a:solidFill>
                <a:srgbClr val="2AD38C"/>
              </a:solidFill>
              <a:effectLst/>
            </c:spPr>
            <c:extLst>
              <c:ext xmlns:c16="http://schemas.microsoft.com/office/drawing/2014/chart" uri="{C3380CC4-5D6E-409C-BE32-E72D297353CC}">
                <c16:uniqueId val="{0000000D-06E1-475D-A14C-86EE7B8AFA70}"/>
              </c:ext>
            </c:extLst>
          </c:dPt>
          <c:dPt>
            <c:idx val="7"/>
            <c:invertIfNegative val="0"/>
            <c:bubble3D val="0"/>
            <c:spPr>
              <a:solidFill>
                <a:srgbClr val="FFB84D"/>
              </a:solidFill>
              <a:effectLst/>
            </c:spPr>
            <c:extLst>
              <c:ext xmlns:c16="http://schemas.microsoft.com/office/drawing/2014/chart" uri="{C3380CC4-5D6E-409C-BE32-E72D297353CC}">
                <c16:uniqueId val="{0000000F-06E1-475D-A14C-86EE7B8AFA70}"/>
              </c:ext>
            </c:extLst>
          </c:dPt>
          <c:dPt>
            <c:idx val="8"/>
            <c:invertIfNegative val="0"/>
            <c:bubble3D val="0"/>
            <c:spPr>
              <a:solidFill>
                <a:srgbClr val="6C8CFF"/>
              </a:solidFill>
              <a:effectLst/>
            </c:spPr>
            <c:extLst>
              <c:ext xmlns:c16="http://schemas.microsoft.com/office/drawing/2014/chart" uri="{C3380CC4-5D6E-409C-BE32-E72D297353CC}">
                <c16:uniqueId val="{00000011-06E1-475D-A14C-86EE7B8AFA70}"/>
              </c:ext>
            </c:extLst>
          </c:dPt>
          <c:dPt>
            <c:idx val="9"/>
            <c:invertIfNegative val="0"/>
            <c:bubble3D val="0"/>
            <c:spPr>
              <a:solidFill>
                <a:srgbClr val="8FD8E8"/>
              </a:solidFill>
              <a:effectLst/>
            </c:spPr>
            <c:extLst>
              <c:ext xmlns:c16="http://schemas.microsoft.com/office/drawing/2014/chart" uri="{C3380CC4-5D6E-409C-BE32-E72D297353CC}">
                <c16:uniqueId val="{00000013-06E1-475D-A14C-86EE7B8AFA70}"/>
              </c:ext>
            </c:extLst>
          </c:dPt>
          <c:dLbls>
            <c:numFmt formatCode="&quot;$&quot;#,##0" sourceLinked="0"/>
            <c:spPr>
              <a:noFill/>
              <a:ln>
                <a:noFill/>
              </a:ln>
              <a:effectLst/>
            </c:spPr>
            <c:txPr>
              <a:bodyPr/>
              <a:lstStyle/>
              <a:p>
                <a:pPr>
                  <a:defRPr sz="1100" b="0" i="0" u="none" strike="noStrike">
                    <a:solidFill>
                      <a:srgbClr val="F4F7FB"/>
                    </a:solidFill>
                    <a:latin typeface="Calibri"/>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F5 Distributed Cloud Bot Defense</c:v>
                </c:pt>
                <c:pt idx="1">
                  <c:v>Fortinet Cloud Security Platform</c:v>
                </c:pt>
                <c:pt idx="2">
                  <c:v>Trellix_Private Offer Only</c:v>
                </c:pt>
                <c:pt idx="3">
                  <c:v>All other</c:v>
                </c:pt>
                <c:pt idx="4">
                  <c:v>(Private) Cortex</c:v>
                </c:pt>
                <c:pt idx="5">
                  <c:v>MongoDB Atlas on AWS - Contract ...</c:v>
                </c:pt>
                <c:pt idx="6">
                  <c:v>F5 Distributed Cloud Services</c:v>
                </c:pt>
                <c:pt idx="7">
                  <c:v>CrowdStrike Falcon Identity Prot...</c:v>
                </c:pt>
                <c:pt idx="8">
                  <c:v>TrendAI Enterprise Security Solu...</c:v>
                </c:pt>
                <c:pt idx="9">
                  <c:v>Splunk Private Offer Session 3</c:v>
                </c:pt>
              </c:strCache>
            </c:strRef>
          </c:cat>
          <c:val>
            <c:numRef>
              <c:f>Sheet1!$B$2:$B$11</c:f>
              <c:numCache>
                <c:formatCode>General</c:formatCode>
                <c:ptCount val="10"/>
                <c:pt idx="0">
                  <c:v>43307.51</c:v>
                </c:pt>
                <c:pt idx="1">
                  <c:v>61998.34</c:v>
                </c:pt>
                <c:pt idx="2">
                  <c:v>70680</c:v>
                </c:pt>
                <c:pt idx="3">
                  <c:v>101662.59</c:v>
                </c:pt>
                <c:pt idx="4">
                  <c:v>142960.14000000001</c:v>
                </c:pt>
                <c:pt idx="5">
                  <c:v>163240.16999999998</c:v>
                </c:pt>
                <c:pt idx="6">
                  <c:v>166293</c:v>
                </c:pt>
                <c:pt idx="7">
                  <c:v>171303</c:v>
                </c:pt>
                <c:pt idx="8">
                  <c:v>257323</c:v>
                </c:pt>
                <c:pt idx="9">
                  <c:v>365018</c:v>
                </c:pt>
              </c:numCache>
            </c:numRef>
          </c:val>
          <c:extLst>
            <c:ext xmlns:c16="http://schemas.microsoft.com/office/drawing/2014/chart" uri="{C3380CC4-5D6E-409C-BE32-E72D297353CC}">
              <c16:uniqueId val="{00000014-06E1-475D-A14C-86EE7B8AFA7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plotVisOnly val="1"/>
    <c:dispBlanksAs val="span"/>
    <c:showDLblsOverMax val="1"/>
  </c:chart>
  <c:spPr>
    <a:solidFill>
      <a:srgbClr val="070A12"/>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aws-prod-Digital</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22332.66</c:v>
                </c:pt>
                <c:pt idx="1">
                  <c:v>21140.47</c:v>
                </c:pt>
                <c:pt idx="2">
                  <c:v>21628.91</c:v>
                </c:pt>
                <c:pt idx="3">
                  <c:v>21144.81</c:v>
                </c:pt>
                <c:pt idx="4">
                  <c:v>21545.74</c:v>
                </c:pt>
                <c:pt idx="5">
                  <c:v>21516.36</c:v>
                </c:pt>
                <c:pt idx="6">
                  <c:v>22251.5</c:v>
                </c:pt>
              </c:numCache>
            </c:numRef>
          </c:val>
          <c:extLst>
            <c:ext xmlns:c16="http://schemas.microsoft.com/office/drawing/2014/chart" uri="{C3380CC4-5D6E-409C-BE32-E72D297353CC}">
              <c16:uniqueId val="{00000000-F41E-41A5-BF8C-F81052B10E2A}"/>
            </c:ext>
          </c:extLst>
        </c:ser>
        <c:ser>
          <c:idx val="1"/>
          <c:order val="1"/>
          <c:tx>
            <c:strRef>
              <c:f>Sheet1!$C$1</c:f>
              <c:strCache>
                <c:ptCount val="1"/>
                <c:pt idx="0">
                  <c:v>aws-devTest-digital</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9774.69</c:v>
                </c:pt>
                <c:pt idx="1">
                  <c:v>9293.5</c:v>
                </c:pt>
                <c:pt idx="2">
                  <c:v>13019.52</c:v>
                </c:pt>
                <c:pt idx="3">
                  <c:v>12889.08</c:v>
                </c:pt>
                <c:pt idx="4">
                  <c:v>14478.53</c:v>
                </c:pt>
                <c:pt idx="5">
                  <c:v>13223.96</c:v>
                </c:pt>
                <c:pt idx="6">
                  <c:v>13679.04</c:v>
                </c:pt>
              </c:numCache>
            </c:numRef>
          </c:val>
          <c:extLst>
            <c:ext xmlns:c16="http://schemas.microsoft.com/office/drawing/2014/chart" uri="{C3380CC4-5D6E-409C-BE32-E72D297353CC}">
              <c16:uniqueId val="{00000001-F41E-41A5-BF8C-F81052B10E2A}"/>
            </c:ext>
          </c:extLst>
        </c:ser>
        <c:ser>
          <c:idx val="2"/>
          <c:order val="2"/>
          <c:tx>
            <c:strRef>
              <c:f>Sheet1!$D$1</c:f>
              <c:strCache>
                <c:ptCount val="1"/>
                <c:pt idx="0">
                  <c:v>aws-preProd-digital</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10763.47</c:v>
                </c:pt>
                <c:pt idx="1">
                  <c:v>9195.09</c:v>
                </c:pt>
                <c:pt idx="2">
                  <c:v>10753.11</c:v>
                </c:pt>
                <c:pt idx="3">
                  <c:v>10593.41</c:v>
                </c:pt>
                <c:pt idx="4">
                  <c:v>11424.85</c:v>
                </c:pt>
                <c:pt idx="5">
                  <c:v>10158.6</c:v>
                </c:pt>
                <c:pt idx="6">
                  <c:v>10824.22</c:v>
                </c:pt>
              </c:numCache>
            </c:numRef>
          </c:val>
          <c:extLst>
            <c:ext xmlns:c16="http://schemas.microsoft.com/office/drawing/2014/chart" uri="{C3380CC4-5D6E-409C-BE32-E72D297353CC}">
              <c16:uniqueId val="{00000002-F41E-41A5-BF8C-F81052B10E2A}"/>
            </c:ext>
          </c:extLst>
        </c:ser>
        <c:ser>
          <c:idx val="3"/>
          <c:order val="3"/>
          <c:tx>
            <c:strRef>
              <c:f>Sheet1!$E$1</c:f>
              <c:strCache>
                <c:ptCount val="1"/>
                <c:pt idx="0">
                  <c:v>aws-foundation-security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8241.01</c:v>
                </c:pt>
                <c:pt idx="1">
                  <c:v>7426.22</c:v>
                </c:pt>
                <c:pt idx="2">
                  <c:v>8018.52</c:v>
                </c:pt>
                <c:pt idx="3">
                  <c:v>7844.99</c:v>
                </c:pt>
                <c:pt idx="4">
                  <c:v>8595.7999999999993</c:v>
                </c:pt>
                <c:pt idx="5">
                  <c:v>8586.64</c:v>
                </c:pt>
                <c:pt idx="6">
                  <c:v>8752.36</c:v>
                </c:pt>
              </c:numCache>
            </c:numRef>
          </c:val>
          <c:extLst>
            <c:ext xmlns:c16="http://schemas.microsoft.com/office/drawing/2014/chart" uri="{C3380CC4-5D6E-409C-BE32-E72D297353CC}">
              <c16:uniqueId val="{00000003-F41E-41A5-BF8C-F81052B10E2A}"/>
            </c:ext>
          </c:extLst>
        </c:ser>
        <c:ser>
          <c:idx val="4"/>
          <c:order val="4"/>
          <c:tx>
            <c:strRef>
              <c:f>Sheet1!$F$1</c:f>
              <c:strCache>
                <c:ptCount val="1"/>
                <c:pt idx="0">
                  <c:v>customers3-prod</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886.84</c:v>
                </c:pt>
                <c:pt idx="1">
                  <c:v>13482.36</c:v>
                </c:pt>
                <c:pt idx="2">
                  <c:v>11082.36</c:v>
                </c:pt>
                <c:pt idx="3">
                  <c:v>2357.5</c:v>
                </c:pt>
                <c:pt idx="4">
                  <c:v>4222.21</c:v>
                </c:pt>
                <c:pt idx="5">
                  <c:v>6507.56</c:v>
                </c:pt>
                <c:pt idx="6">
                  <c:v>9065.77</c:v>
                </c:pt>
              </c:numCache>
            </c:numRef>
          </c:val>
          <c:extLst>
            <c:ext xmlns:c16="http://schemas.microsoft.com/office/drawing/2014/chart" uri="{C3380CC4-5D6E-409C-BE32-E72D297353CC}">
              <c16:uniqueId val="{00000004-F41E-41A5-BF8C-F81052B10E2A}"/>
            </c:ext>
          </c:extLst>
        </c:ser>
        <c:ser>
          <c:idx val="5"/>
          <c:order val="5"/>
          <c:tx>
            <c:strRef>
              <c:f>Sheet1!$G$1</c:f>
              <c:strCache>
                <c:ptCount val="1"/>
                <c:pt idx="0">
                  <c:v>cloudops-network</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6243.55</c:v>
                </c:pt>
                <c:pt idx="1">
                  <c:v>5752.81</c:v>
                </c:pt>
                <c:pt idx="2">
                  <c:v>7021.84</c:v>
                </c:pt>
                <c:pt idx="3">
                  <c:v>6897.91</c:v>
                </c:pt>
                <c:pt idx="4">
                  <c:v>7152.27</c:v>
                </c:pt>
                <c:pt idx="5">
                  <c:v>7100.37</c:v>
                </c:pt>
                <c:pt idx="6">
                  <c:v>7373.13</c:v>
                </c:pt>
              </c:numCache>
            </c:numRef>
          </c:val>
          <c:extLst>
            <c:ext xmlns:c16="http://schemas.microsoft.com/office/drawing/2014/chart" uri="{C3380CC4-5D6E-409C-BE32-E72D297353CC}">
              <c16:uniqueId val="{00000005-F41E-41A5-BF8C-F81052B10E2A}"/>
            </c:ext>
          </c:extLst>
        </c:ser>
        <c:ser>
          <c:idx val="6"/>
          <c:order val="6"/>
          <c:tx>
            <c:strRef>
              <c:f>Sheet1!$H$1</c:f>
              <c:strCache>
                <c:ptCount val="1"/>
                <c:pt idx="0">
                  <c:v>aws-foundation-sharedservices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6557.18</c:v>
                </c:pt>
                <c:pt idx="1">
                  <c:v>5506.82</c:v>
                </c:pt>
                <c:pt idx="2">
                  <c:v>5796.97</c:v>
                </c:pt>
                <c:pt idx="3">
                  <c:v>5754.82</c:v>
                </c:pt>
                <c:pt idx="4">
                  <c:v>6022.6</c:v>
                </c:pt>
                <c:pt idx="5">
                  <c:v>6015.61</c:v>
                </c:pt>
                <c:pt idx="6">
                  <c:v>6067.45</c:v>
                </c:pt>
              </c:numCache>
            </c:numRef>
          </c:val>
          <c:extLst>
            <c:ext xmlns:c16="http://schemas.microsoft.com/office/drawing/2014/chart" uri="{C3380CC4-5D6E-409C-BE32-E72D297353CC}">
              <c16:uniqueId val="{00000006-F41E-41A5-BF8C-F81052B10E2A}"/>
            </c:ext>
          </c:extLst>
        </c:ser>
        <c:ser>
          <c:idx val="7"/>
          <c:order val="7"/>
          <c:tx>
            <c:strRef>
              <c:f>Sheet1!$I$1</c:f>
              <c:strCache>
                <c:ptCount val="1"/>
                <c:pt idx="0">
                  <c:v>Harel Insurance</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6065.71</c:v>
                </c:pt>
                <c:pt idx="1">
                  <c:v>3782.04</c:v>
                </c:pt>
                <c:pt idx="2">
                  <c:v>6397.95</c:v>
                </c:pt>
                <c:pt idx="3">
                  <c:v>8584.51</c:v>
                </c:pt>
                <c:pt idx="4">
                  <c:v>3830.37</c:v>
                </c:pt>
                <c:pt idx="5">
                  <c:v>6197.57</c:v>
                </c:pt>
                <c:pt idx="6">
                  <c:v>5139.8599999999997</c:v>
                </c:pt>
              </c:numCache>
            </c:numRef>
          </c:val>
          <c:extLst>
            <c:ext xmlns:c16="http://schemas.microsoft.com/office/drawing/2014/chart" uri="{C3380CC4-5D6E-409C-BE32-E72D297353CC}">
              <c16:uniqueId val="{00000007-F41E-41A5-BF8C-F81052B10E2A}"/>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6260.39</c:v>
                </c:pt>
                <c:pt idx="1">
                  <c:v>7002.8999999999987</c:v>
                </c:pt>
                <c:pt idx="2">
                  <c:v>12141.12</c:v>
                </c:pt>
                <c:pt idx="3">
                  <c:v>5862.0499999999993</c:v>
                </c:pt>
                <c:pt idx="4">
                  <c:v>5790.1100000000015</c:v>
                </c:pt>
                <c:pt idx="5">
                  <c:v>7274.5199999999995</c:v>
                </c:pt>
                <c:pt idx="6">
                  <c:v>-6323.6400000000012</c:v>
                </c:pt>
              </c:numCache>
            </c:numRef>
          </c:val>
          <c:extLst>
            <c:ext xmlns:c16="http://schemas.microsoft.com/office/drawing/2014/chart" uri="{C3380CC4-5D6E-409C-BE32-E72D297353CC}">
              <c16:uniqueId val="{00000008-F41E-41A5-BF8C-F81052B10E2A}"/>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EC2 - Compute</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31180.69</c:v>
                </c:pt>
                <c:pt idx="1">
                  <c:v>28236.720000000001</c:v>
                </c:pt>
                <c:pt idx="2">
                  <c:v>32994.93</c:v>
                </c:pt>
                <c:pt idx="3">
                  <c:v>32045.93</c:v>
                </c:pt>
                <c:pt idx="4">
                  <c:v>35082.639999999999</c:v>
                </c:pt>
                <c:pt idx="5">
                  <c:v>33427.89</c:v>
                </c:pt>
                <c:pt idx="6">
                  <c:v>35426.33</c:v>
                </c:pt>
              </c:numCache>
            </c:numRef>
          </c:val>
          <c:extLst>
            <c:ext xmlns:c16="http://schemas.microsoft.com/office/drawing/2014/chart" uri="{C3380CC4-5D6E-409C-BE32-E72D297353CC}">
              <c16:uniqueId val="{00000000-FE8D-498B-BF3C-41B5FEC9E780}"/>
            </c:ext>
          </c:extLst>
        </c:ser>
        <c:ser>
          <c:idx val="1"/>
          <c:order val="1"/>
          <c:tx>
            <c:strRef>
              <c:f>Sheet1!$C$1</c:f>
              <c:strCache>
                <c:ptCount val="1"/>
                <c:pt idx="0">
                  <c:v>Business Support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3876.88</c:v>
                </c:pt>
                <c:pt idx="1">
                  <c:v>4268.96</c:v>
                </c:pt>
                <c:pt idx="2">
                  <c:v>4581.17</c:v>
                </c:pt>
                <c:pt idx="3">
                  <c:v>4108.04</c:v>
                </c:pt>
                <c:pt idx="4">
                  <c:v>4478.1000000000004</c:v>
                </c:pt>
                <c:pt idx="5">
                  <c:v>4839.1400000000003</c:v>
                </c:pt>
                <c:pt idx="6">
                  <c:v>5893.49</c:v>
                </c:pt>
              </c:numCache>
            </c:numRef>
          </c:val>
          <c:extLst>
            <c:ext xmlns:c16="http://schemas.microsoft.com/office/drawing/2014/chart" uri="{C3380CC4-5D6E-409C-BE32-E72D297353CC}">
              <c16:uniqueId val="{00000001-FE8D-498B-BF3C-41B5FEC9E780}"/>
            </c:ext>
          </c:extLst>
        </c:ser>
        <c:ser>
          <c:idx val="2"/>
          <c:order val="2"/>
          <c:tx>
            <c:strRef>
              <c:f>Sheet1!$D$1</c:f>
              <c:strCache>
                <c:ptCount val="1"/>
                <c:pt idx="0">
                  <c:v>S3 - Storage</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1978.49</c:v>
                </c:pt>
                <c:pt idx="1">
                  <c:v>13276.31</c:v>
                </c:pt>
                <c:pt idx="2">
                  <c:v>5868.01</c:v>
                </c:pt>
                <c:pt idx="3">
                  <c:v>2134.4699999999998</c:v>
                </c:pt>
                <c:pt idx="4">
                  <c:v>2249.46</c:v>
                </c:pt>
                <c:pt idx="5">
                  <c:v>2370.09</c:v>
                </c:pt>
                <c:pt idx="6">
                  <c:v>2324.71</c:v>
                </c:pt>
              </c:numCache>
            </c:numRef>
          </c:val>
          <c:extLst>
            <c:ext xmlns:c16="http://schemas.microsoft.com/office/drawing/2014/chart" uri="{C3380CC4-5D6E-409C-BE32-E72D297353CC}">
              <c16:uniqueId val="{00000002-FE8D-498B-BF3C-41B5FEC9E780}"/>
            </c:ext>
          </c:extLst>
        </c:ser>
        <c:ser>
          <c:idx val="3"/>
          <c:order val="3"/>
          <c:tx>
            <c:strRef>
              <c:f>Sheet1!$E$1</c:f>
              <c:strCache>
                <c:ptCount val="1"/>
                <c:pt idx="0">
                  <c:v>Virtual Private Cloud - Transit Gateway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3925.73</c:v>
                </c:pt>
                <c:pt idx="1">
                  <c:v>3570.88</c:v>
                </c:pt>
                <c:pt idx="2">
                  <c:v>3963.99</c:v>
                </c:pt>
                <c:pt idx="3">
                  <c:v>3878.04</c:v>
                </c:pt>
                <c:pt idx="4">
                  <c:v>4428.68</c:v>
                </c:pt>
                <c:pt idx="5">
                  <c:v>4573.6000000000004</c:v>
                </c:pt>
                <c:pt idx="6">
                  <c:v>4657.2700000000004</c:v>
                </c:pt>
              </c:numCache>
            </c:numRef>
          </c:val>
          <c:extLst>
            <c:ext xmlns:c16="http://schemas.microsoft.com/office/drawing/2014/chart" uri="{C3380CC4-5D6E-409C-BE32-E72D297353CC}">
              <c16:uniqueId val="{00000003-FE8D-498B-BF3C-41B5FEC9E780}"/>
            </c:ext>
          </c:extLst>
        </c:ser>
        <c:ser>
          <c:idx val="4"/>
          <c:order val="4"/>
          <c:tx>
            <c:strRef>
              <c:f>Sheet1!$F$1</c:f>
              <c:strCache>
                <c:ptCount val="1"/>
                <c:pt idx="0">
                  <c:v>RDS - Compute</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4939.68</c:v>
                </c:pt>
                <c:pt idx="1">
                  <c:v>3272.18</c:v>
                </c:pt>
                <c:pt idx="2">
                  <c:v>3522.03</c:v>
                </c:pt>
                <c:pt idx="3">
                  <c:v>3408.12</c:v>
                </c:pt>
                <c:pt idx="4">
                  <c:v>3521.72</c:v>
                </c:pt>
                <c:pt idx="5">
                  <c:v>4011.45</c:v>
                </c:pt>
                <c:pt idx="6">
                  <c:v>4355</c:v>
                </c:pt>
              </c:numCache>
            </c:numRef>
          </c:val>
          <c:extLst>
            <c:ext xmlns:c16="http://schemas.microsoft.com/office/drawing/2014/chart" uri="{C3380CC4-5D6E-409C-BE32-E72D297353CC}">
              <c16:uniqueId val="{00000004-FE8D-498B-BF3C-41B5FEC9E780}"/>
            </c:ext>
          </c:extLst>
        </c:ser>
        <c:ser>
          <c:idx val="5"/>
          <c:order val="5"/>
          <c:tx>
            <c:strRef>
              <c:f>Sheet1!$G$1</c:f>
              <c:strCache>
                <c:ptCount val="1"/>
                <c:pt idx="0">
                  <c:v>Direct Connect - Port Hours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3794.4</c:v>
                </c:pt>
                <c:pt idx="1">
                  <c:v>3427.2</c:v>
                </c:pt>
                <c:pt idx="2">
                  <c:v>3794.4</c:v>
                </c:pt>
                <c:pt idx="3">
                  <c:v>3672</c:v>
                </c:pt>
                <c:pt idx="4">
                  <c:v>3794.4</c:v>
                </c:pt>
                <c:pt idx="5">
                  <c:v>3672</c:v>
                </c:pt>
                <c:pt idx="6">
                  <c:v>3794.4</c:v>
                </c:pt>
              </c:numCache>
            </c:numRef>
          </c:val>
          <c:extLst>
            <c:ext xmlns:c16="http://schemas.microsoft.com/office/drawing/2014/chart" uri="{C3380CC4-5D6E-409C-BE32-E72D297353CC}">
              <c16:uniqueId val="{00000005-FE8D-498B-BF3C-41B5FEC9E780}"/>
            </c:ext>
          </c:extLst>
        </c:ser>
        <c:ser>
          <c:idx val="6"/>
          <c:order val="6"/>
          <c:tx>
            <c:strRef>
              <c:f>Sheet1!$H$1</c:f>
              <c:strCache>
                <c:ptCount val="1"/>
                <c:pt idx="0">
                  <c:v>CloudWatch Log Groups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2791.6</c:v>
                </c:pt>
                <c:pt idx="1">
                  <c:v>2486.91</c:v>
                </c:pt>
                <c:pt idx="2">
                  <c:v>2914.14</c:v>
                </c:pt>
                <c:pt idx="3">
                  <c:v>2895.9</c:v>
                </c:pt>
                <c:pt idx="4">
                  <c:v>3040.1</c:v>
                </c:pt>
                <c:pt idx="5">
                  <c:v>3061.85</c:v>
                </c:pt>
                <c:pt idx="6">
                  <c:v>2991.11</c:v>
                </c:pt>
              </c:numCache>
            </c:numRef>
          </c:val>
          <c:extLst>
            <c:ext xmlns:c16="http://schemas.microsoft.com/office/drawing/2014/chart" uri="{C3380CC4-5D6E-409C-BE32-E72D297353CC}">
              <c16:uniqueId val="{00000006-FE8D-498B-BF3C-41B5FEC9E780}"/>
            </c:ext>
          </c:extLst>
        </c:ser>
        <c:ser>
          <c:idx val="7"/>
          <c:order val="7"/>
          <c:tx>
            <c:strRef>
              <c:f>Sheet1!$I$1</c:f>
              <c:strCache>
                <c:ptCount val="1"/>
                <c:pt idx="0">
                  <c:v>all other services</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2981.34</c:v>
                </c:pt>
                <c:pt idx="1">
                  <c:v>4394.96</c:v>
                </c:pt>
                <c:pt idx="2">
                  <c:v>3697.84</c:v>
                </c:pt>
                <c:pt idx="3">
                  <c:v>2273.25</c:v>
                </c:pt>
                <c:pt idx="4">
                  <c:v>2037.07</c:v>
                </c:pt>
                <c:pt idx="5">
                  <c:v>1889.52</c:v>
                </c:pt>
                <c:pt idx="6">
                  <c:v>1276.28</c:v>
                </c:pt>
              </c:numCache>
            </c:numRef>
          </c:val>
          <c:extLst>
            <c:ext xmlns:c16="http://schemas.microsoft.com/office/drawing/2014/chart" uri="{C3380CC4-5D6E-409C-BE32-E72D297353CC}">
              <c16:uniqueId val="{00000007-FE8D-498B-BF3C-41B5FEC9E780}"/>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21656.71000000001</c:v>
                </c:pt>
                <c:pt idx="1">
                  <c:v>19648.099999999999</c:v>
                </c:pt>
                <c:pt idx="2">
                  <c:v>34523.78</c:v>
                </c:pt>
                <c:pt idx="3">
                  <c:v>27513.360000000008</c:v>
                </c:pt>
                <c:pt idx="4">
                  <c:v>24430.3</c:v>
                </c:pt>
                <c:pt idx="5">
                  <c:v>28735.639999999996</c:v>
                </c:pt>
                <c:pt idx="6">
                  <c:v>16111.090000000006</c:v>
                </c:pt>
              </c:numCache>
            </c:numRef>
          </c:val>
          <c:extLst>
            <c:ext xmlns:c16="http://schemas.microsoft.com/office/drawing/2014/chart" uri="{C3380CC4-5D6E-409C-BE32-E72D297353CC}">
              <c16:uniqueId val="{00000008-FE8D-498B-BF3C-41B5FEC9E78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datacloud</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47462</c:v>
                </c:pt>
                <c:pt idx="1">
                  <c:v>49198.19</c:v>
                </c:pt>
                <c:pt idx="2">
                  <c:v>54536</c:v>
                </c:pt>
                <c:pt idx="3">
                  <c:v>50235.01</c:v>
                </c:pt>
                <c:pt idx="4">
                  <c:v>43924.46</c:v>
                </c:pt>
                <c:pt idx="5">
                  <c:v>44390</c:v>
                </c:pt>
                <c:pt idx="6">
                  <c:v>49118</c:v>
                </c:pt>
              </c:numCache>
            </c:numRef>
          </c:val>
          <c:extLst>
            <c:ext xmlns:c16="http://schemas.microsoft.com/office/drawing/2014/chart" uri="{C3380CC4-5D6E-409C-BE32-E72D297353CC}">
              <c16:uniqueId val="{00000000-F341-4A39-8380-354D4962DC58}"/>
            </c:ext>
          </c:extLst>
        </c:ser>
        <c:ser>
          <c:idx val="1"/>
          <c:order val="1"/>
          <c:tx>
            <c:strRef>
              <c:f>Sheet1!$C$1</c:f>
              <c:strCache>
                <c:ptCount val="1"/>
                <c:pt idx="0">
                  <c:v>sap</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42266</c:v>
                </c:pt>
                <c:pt idx="1">
                  <c:v>39098.06</c:v>
                </c:pt>
                <c:pt idx="2">
                  <c:v>41546</c:v>
                </c:pt>
                <c:pt idx="3">
                  <c:v>40825.4</c:v>
                </c:pt>
                <c:pt idx="4">
                  <c:v>46601</c:v>
                </c:pt>
                <c:pt idx="5">
                  <c:v>42665</c:v>
                </c:pt>
                <c:pt idx="6">
                  <c:v>40925</c:v>
                </c:pt>
              </c:numCache>
            </c:numRef>
          </c:val>
          <c:extLst>
            <c:ext xmlns:c16="http://schemas.microsoft.com/office/drawing/2014/chart" uri="{C3380CC4-5D6E-409C-BE32-E72D297353CC}">
              <c16:uniqueId val="{00000001-F341-4A39-8380-354D4962DC58}"/>
            </c:ext>
          </c:extLst>
        </c:ser>
        <c:ser>
          <c:idx val="2"/>
          <c:order val="2"/>
          <c:tx>
            <c:strRef>
              <c:f>Sheet1!$D$1</c:f>
              <c:strCache>
                <c:ptCount val="1"/>
                <c:pt idx="0">
                  <c:v>cloudit</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30915</c:v>
                </c:pt>
                <c:pt idx="1">
                  <c:v>24680.95</c:v>
                </c:pt>
                <c:pt idx="2">
                  <c:v>40730</c:v>
                </c:pt>
                <c:pt idx="3">
                  <c:v>29195.48</c:v>
                </c:pt>
                <c:pt idx="4">
                  <c:v>28615</c:v>
                </c:pt>
                <c:pt idx="5">
                  <c:v>28585</c:v>
                </c:pt>
                <c:pt idx="6">
                  <c:v>33421</c:v>
                </c:pt>
              </c:numCache>
            </c:numRef>
          </c:val>
          <c:extLst>
            <c:ext xmlns:c16="http://schemas.microsoft.com/office/drawing/2014/chart" uri="{C3380CC4-5D6E-409C-BE32-E72D297353CC}">
              <c16:uniqueId val="{00000002-F341-4A39-8380-354D4962DC58}"/>
            </c:ext>
          </c:extLst>
        </c:ser>
        <c:ser>
          <c:idx val="3"/>
          <c:order val="3"/>
          <c:tx>
            <c:strRef>
              <c:f>Sheet1!$E$1</c:f>
              <c:strCache>
                <c:ptCount val="1"/>
                <c:pt idx="0">
                  <c:v>aifactory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854</c:v>
                </c:pt>
                <c:pt idx="1">
                  <c:v>3477.58</c:v>
                </c:pt>
                <c:pt idx="2">
                  <c:v>12632</c:v>
                </c:pt>
                <c:pt idx="3">
                  <c:v>11675.62</c:v>
                </c:pt>
                <c:pt idx="4">
                  <c:v>13656</c:v>
                </c:pt>
                <c:pt idx="5">
                  <c:v>26476</c:v>
                </c:pt>
                <c:pt idx="6">
                  <c:v>24531</c:v>
                </c:pt>
              </c:numCache>
            </c:numRef>
          </c:val>
          <c:extLst>
            <c:ext xmlns:c16="http://schemas.microsoft.com/office/drawing/2014/chart" uri="{C3380CC4-5D6E-409C-BE32-E72D297353CC}">
              <c16:uniqueId val="{00000003-F341-4A39-8380-354D4962DC58}"/>
            </c:ext>
          </c:extLst>
        </c:ser>
        <c:ser>
          <c:idx val="4"/>
          <c:order val="4"/>
          <c:tx>
            <c:strRef>
              <c:f>Sheet1!$F$1</c:f>
              <c:strCache>
                <c:ptCount val="1"/>
                <c:pt idx="0">
                  <c:v>other</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4371</c:v>
                </c:pt>
                <c:pt idx="1">
                  <c:v>5240</c:v>
                </c:pt>
                <c:pt idx="2">
                  <c:v>5614</c:v>
                </c:pt>
                <c:pt idx="3">
                  <c:v>5760</c:v>
                </c:pt>
                <c:pt idx="4">
                  <c:v>8681.34</c:v>
                </c:pt>
                <c:pt idx="5">
                  <c:v>18094</c:v>
                </c:pt>
                <c:pt idx="6">
                  <c:v>22410</c:v>
                </c:pt>
              </c:numCache>
            </c:numRef>
          </c:val>
          <c:extLst>
            <c:ext xmlns:c16="http://schemas.microsoft.com/office/drawing/2014/chart" uri="{C3380CC4-5D6E-409C-BE32-E72D297353CC}">
              <c16:uniqueId val="{00000004-F341-4A39-8380-354D4962DC58}"/>
            </c:ext>
          </c:extLst>
        </c:ser>
        <c:ser>
          <c:idx val="5"/>
          <c:order val="5"/>
          <c:tx>
            <c:strRef>
              <c:f>Sheet1!$G$1</c:f>
              <c:strCache>
                <c:ptCount val="1"/>
                <c:pt idx="0">
                  <c:v>actuary</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15102</c:v>
                </c:pt>
                <c:pt idx="1">
                  <c:v>4959.24</c:v>
                </c:pt>
                <c:pt idx="2">
                  <c:v>3549</c:v>
                </c:pt>
                <c:pt idx="3">
                  <c:v>5341</c:v>
                </c:pt>
                <c:pt idx="4">
                  <c:v>4672</c:v>
                </c:pt>
                <c:pt idx="5">
                  <c:v>2733</c:v>
                </c:pt>
                <c:pt idx="6">
                  <c:v>4058</c:v>
                </c:pt>
              </c:numCache>
            </c:numRef>
          </c:val>
          <c:extLst>
            <c:ext xmlns:c16="http://schemas.microsoft.com/office/drawing/2014/chart" uri="{C3380CC4-5D6E-409C-BE32-E72D297353CC}">
              <c16:uniqueId val="{00000005-F341-4A39-8380-354D4962DC58}"/>
            </c:ext>
          </c:extLst>
        </c:ser>
        <c:ser>
          <c:idx val="6"/>
          <c:order val="6"/>
          <c:tx>
            <c:strRef>
              <c:f>Sheet1!$H$1</c:f>
              <c:strCache>
                <c:ptCount val="1"/>
                <c:pt idx="0">
                  <c:v>Risk Agility</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13063</c:v>
                </c:pt>
                <c:pt idx="1">
                  <c:v>5274</c:v>
                </c:pt>
                <c:pt idx="2">
                  <c:v>2617</c:v>
                </c:pt>
                <c:pt idx="3">
                  <c:v>5768</c:v>
                </c:pt>
                <c:pt idx="4">
                  <c:v>2842</c:v>
                </c:pt>
                <c:pt idx="5">
                  <c:v>1031</c:v>
                </c:pt>
                <c:pt idx="6">
                  <c:v>1032</c:v>
                </c:pt>
              </c:numCache>
            </c:numRef>
          </c:val>
          <c:extLst>
            <c:ext xmlns:c16="http://schemas.microsoft.com/office/drawing/2014/chart" uri="{C3380CC4-5D6E-409C-BE32-E72D297353CC}">
              <c16:uniqueId val="{00000006-F341-4A39-8380-354D4962DC58}"/>
            </c:ext>
          </c:extLst>
        </c:ser>
        <c:ser>
          <c:idx val="7"/>
          <c:order val="7"/>
          <c:tx>
            <c:strRef>
              <c:f>Sheet1!$I$1</c:f>
              <c:strCache>
                <c:ptCount val="1"/>
                <c:pt idx="0">
                  <c:v>itsec</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2082</c:v>
                </c:pt>
                <c:pt idx="1">
                  <c:v>1733.66</c:v>
                </c:pt>
                <c:pt idx="2">
                  <c:v>1908</c:v>
                </c:pt>
                <c:pt idx="3">
                  <c:v>1897.79</c:v>
                </c:pt>
                <c:pt idx="4">
                  <c:v>2047</c:v>
                </c:pt>
                <c:pt idx="5">
                  <c:v>2059</c:v>
                </c:pt>
                <c:pt idx="6">
                  <c:v>2221</c:v>
                </c:pt>
              </c:numCache>
            </c:numRef>
          </c:val>
          <c:extLst>
            <c:ext xmlns:c16="http://schemas.microsoft.com/office/drawing/2014/chart" uri="{C3380CC4-5D6E-409C-BE32-E72D297353CC}">
              <c16:uniqueId val="{00000007-F341-4A39-8380-354D4962DC58}"/>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874.61</c:v>
                </c:pt>
                <c:pt idx="1">
                  <c:v>2079.7999999999997</c:v>
                </c:pt>
                <c:pt idx="2">
                  <c:v>2067</c:v>
                </c:pt>
                <c:pt idx="3">
                  <c:v>1879.0600000000002</c:v>
                </c:pt>
                <c:pt idx="4">
                  <c:v>1224.2</c:v>
                </c:pt>
                <c:pt idx="5">
                  <c:v>1373</c:v>
                </c:pt>
                <c:pt idx="6">
                  <c:v>9201</c:v>
                </c:pt>
              </c:numCache>
            </c:numRef>
          </c:val>
          <c:extLst>
            <c:ext xmlns:c16="http://schemas.microsoft.com/office/drawing/2014/chart" uri="{C3380CC4-5D6E-409C-BE32-E72D297353CC}">
              <c16:uniqueId val="{00000008-F341-4A39-8380-354D4962DC5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58546.14</c:v>
                </c:pt>
                <c:pt idx="1">
                  <c:v>48277</c:v>
                </c:pt>
                <c:pt idx="2">
                  <c:v>52579.27</c:v>
                </c:pt>
                <c:pt idx="3">
                  <c:v>51502.75</c:v>
                </c:pt>
                <c:pt idx="4">
                  <c:v>57465.99</c:v>
                </c:pt>
                <c:pt idx="5">
                  <c:v>52188.55</c:v>
                </c:pt>
                <c:pt idx="6">
                  <c:v>53314.28</c:v>
                </c:pt>
              </c:numCache>
            </c:numRef>
          </c:val>
          <c:extLst>
            <c:ext xmlns:c16="http://schemas.microsoft.com/office/drawing/2014/chart" uri="{C3380CC4-5D6E-409C-BE32-E72D297353CC}">
              <c16:uniqueId val="{00000000-B0DC-427D-8A55-1FFDC572EFE1}"/>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24139.41</c:v>
                </c:pt>
                <c:pt idx="1">
                  <c:v>22951</c:v>
                </c:pt>
                <c:pt idx="2">
                  <c:v>22458.080000000002</c:v>
                </c:pt>
                <c:pt idx="3">
                  <c:v>22680.51</c:v>
                </c:pt>
                <c:pt idx="4">
                  <c:v>24615.18</c:v>
                </c:pt>
                <c:pt idx="5">
                  <c:v>25022.53</c:v>
                </c:pt>
                <c:pt idx="6">
                  <c:v>26364.22</c:v>
                </c:pt>
              </c:numCache>
            </c:numRef>
          </c:val>
          <c:extLst>
            <c:ext xmlns:c16="http://schemas.microsoft.com/office/drawing/2014/chart" uri="{C3380CC4-5D6E-409C-BE32-E72D297353CC}">
              <c16:uniqueId val="{00000001-B0DC-427D-8A55-1FFDC572EFE1}"/>
            </c:ext>
          </c:extLst>
        </c:ser>
        <c:ser>
          <c:idx val="2"/>
          <c:order val="2"/>
          <c:tx>
            <c:strRef>
              <c:f>Sheet1!$D$1</c:f>
              <c:strCache>
                <c:ptCount val="1"/>
                <c:pt idx="0">
                  <c:v>Virtual Network</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12726.23</c:v>
                </c:pt>
                <c:pt idx="1">
                  <c:v>12145</c:v>
                </c:pt>
                <c:pt idx="2">
                  <c:v>14087.61</c:v>
                </c:pt>
                <c:pt idx="3">
                  <c:v>15311.83</c:v>
                </c:pt>
                <c:pt idx="4">
                  <c:v>18338.27</c:v>
                </c:pt>
                <c:pt idx="5">
                  <c:v>18564.990000000002</c:v>
                </c:pt>
                <c:pt idx="6">
                  <c:v>21999.599999999999</c:v>
                </c:pt>
              </c:numCache>
            </c:numRef>
          </c:val>
          <c:extLst>
            <c:ext xmlns:c16="http://schemas.microsoft.com/office/drawing/2014/chart" uri="{C3380CC4-5D6E-409C-BE32-E72D297353CC}">
              <c16:uniqueId val="{00000002-B0DC-427D-8A55-1FFDC572EFE1}"/>
            </c:ext>
          </c:extLst>
        </c:ser>
        <c:ser>
          <c:idx val="3"/>
          <c:order val="3"/>
          <c:tx>
            <c:strRef>
              <c:f>Sheet1!$E$1</c:f>
              <c:strCache>
                <c:ptCount val="1"/>
                <c:pt idx="0">
                  <c:v>Other services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11748.56</c:v>
                </c:pt>
                <c:pt idx="1">
                  <c:v>10773</c:v>
                </c:pt>
                <c:pt idx="2">
                  <c:v>12318.12</c:v>
                </c:pt>
                <c:pt idx="3">
                  <c:v>12412.59</c:v>
                </c:pt>
                <c:pt idx="4">
                  <c:v>15149.61</c:v>
                </c:pt>
                <c:pt idx="5">
                  <c:v>18338.580000000002</c:v>
                </c:pt>
                <c:pt idx="6">
                  <c:v>20600.18</c:v>
                </c:pt>
              </c:numCache>
            </c:numRef>
          </c:val>
          <c:extLst>
            <c:ext xmlns:c16="http://schemas.microsoft.com/office/drawing/2014/chart" uri="{C3380CC4-5D6E-409C-BE32-E72D297353CC}">
              <c16:uniqueId val="{00000003-B0DC-427D-8A55-1FFDC572EFE1}"/>
            </c:ext>
          </c:extLst>
        </c:ser>
        <c:ser>
          <c:idx val="4"/>
          <c:order val="4"/>
          <c:tx>
            <c:strRef>
              <c:f>Sheet1!$F$1</c:f>
              <c:strCache>
                <c:ptCount val="1"/>
                <c:pt idx="0">
                  <c:v>Azure Databricks</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24556.13</c:v>
                </c:pt>
                <c:pt idx="1">
                  <c:v>18645</c:v>
                </c:pt>
                <c:pt idx="2">
                  <c:v>22427.89</c:v>
                </c:pt>
                <c:pt idx="3">
                  <c:v>19936.330000000002</c:v>
                </c:pt>
                <c:pt idx="4">
                  <c:v>0</c:v>
                </c:pt>
                <c:pt idx="5">
                  <c:v>0</c:v>
                </c:pt>
                <c:pt idx="6">
                  <c:v>0</c:v>
                </c:pt>
              </c:numCache>
            </c:numRef>
          </c:val>
          <c:extLst>
            <c:ext xmlns:c16="http://schemas.microsoft.com/office/drawing/2014/chart" uri="{C3380CC4-5D6E-409C-BE32-E72D297353CC}">
              <c16:uniqueId val="{00000004-B0DC-427D-8A55-1FFDC572EFE1}"/>
            </c:ext>
          </c:extLst>
        </c:ser>
        <c:ser>
          <c:idx val="5"/>
          <c:order val="5"/>
          <c:tx>
            <c:strRef>
              <c:f>Sheet1!$G$1</c:f>
              <c:strCache>
                <c:ptCount val="1"/>
                <c:pt idx="0">
                  <c:v>GitHub</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2778.52</c:v>
                </c:pt>
                <c:pt idx="1">
                  <c:v>3618</c:v>
                </c:pt>
                <c:pt idx="2">
                  <c:v>4319.13</c:v>
                </c:pt>
                <c:pt idx="3">
                  <c:v>4079.57</c:v>
                </c:pt>
                <c:pt idx="4">
                  <c:v>6467.04</c:v>
                </c:pt>
                <c:pt idx="5">
                  <c:v>16654.2</c:v>
                </c:pt>
                <c:pt idx="6">
                  <c:v>19259.78</c:v>
                </c:pt>
              </c:numCache>
            </c:numRef>
          </c:val>
          <c:extLst>
            <c:ext xmlns:c16="http://schemas.microsoft.com/office/drawing/2014/chart" uri="{C3380CC4-5D6E-409C-BE32-E72D297353CC}">
              <c16:uniqueId val="{00000005-B0DC-427D-8A55-1FFDC572EFE1}"/>
            </c:ext>
          </c:extLst>
        </c:ser>
        <c:ser>
          <c:idx val="6"/>
          <c:order val="6"/>
          <c:tx>
            <c:strRef>
              <c:f>Sheet1!$H$1</c:f>
              <c:strCache>
                <c:ptCount val="1"/>
                <c:pt idx="0">
                  <c:v>Foundry Models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1353.37</c:v>
                </c:pt>
                <c:pt idx="1">
                  <c:v>2260</c:v>
                </c:pt>
                <c:pt idx="2">
                  <c:v>4236.3500000000004</c:v>
                </c:pt>
                <c:pt idx="3">
                  <c:v>8369.39</c:v>
                </c:pt>
                <c:pt idx="4">
                  <c:v>11512.76</c:v>
                </c:pt>
                <c:pt idx="5">
                  <c:v>15453.34</c:v>
                </c:pt>
                <c:pt idx="6">
                  <c:v>12291.25</c:v>
                </c:pt>
              </c:numCache>
            </c:numRef>
          </c:val>
          <c:extLst>
            <c:ext xmlns:c16="http://schemas.microsoft.com/office/drawing/2014/chart" uri="{C3380CC4-5D6E-409C-BE32-E72D297353CC}">
              <c16:uniqueId val="{00000006-B0DC-427D-8A55-1FFDC572EFE1}"/>
            </c:ext>
          </c:extLst>
        </c:ser>
        <c:ser>
          <c:idx val="7"/>
          <c:order val="7"/>
          <c:tx>
            <c:strRef>
              <c:f>Sheet1!$I$1</c:f>
              <c:strCache>
                <c:ptCount val="1"/>
                <c:pt idx="0">
                  <c:v>Log Analytics</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7521.92</c:v>
                </c:pt>
                <c:pt idx="1">
                  <c:v>3955</c:v>
                </c:pt>
                <c:pt idx="2">
                  <c:v>10858.98</c:v>
                </c:pt>
                <c:pt idx="3">
                  <c:v>3911.97</c:v>
                </c:pt>
                <c:pt idx="4">
                  <c:v>2204.52</c:v>
                </c:pt>
                <c:pt idx="5">
                  <c:v>2318.73</c:v>
                </c:pt>
                <c:pt idx="6">
                  <c:v>2680.5</c:v>
                </c:pt>
              </c:numCache>
            </c:numRef>
          </c:val>
          <c:extLst>
            <c:ext xmlns:c16="http://schemas.microsoft.com/office/drawing/2014/chart" uri="{C3380CC4-5D6E-409C-BE32-E72D297353CC}">
              <c16:uniqueId val="{00000007-B0DC-427D-8A55-1FFDC572EFE1}"/>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13619.52</c:v>
                </c:pt>
                <c:pt idx="1">
                  <c:v>13118</c:v>
                </c:pt>
                <c:pt idx="2">
                  <c:v>21913.22</c:v>
                </c:pt>
                <c:pt idx="3">
                  <c:v>14372.410000000002</c:v>
                </c:pt>
                <c:pt idx="4">
                  <c:v>16509.63</c:v>
                </c:pt>
                <c:pt idx="5">
                  <c:v>18865.080000000005</c:v>
                </c:pt>
                <c:pt idx="6">
                  <c:v>30407.200000000001</c:v>
                </c:pt>
              </c:numCache>
            </c:numRef>
          </c:val>
          <c:extLst>
            <c:ext xmlns:c16="http://schemas.microsoft.com/office/drawing/2014/chart" uri="{C3380CC4-5D6E-409C-BE32-E72D297353CC}">
              <c16:uniqueId val="{00000008-B0DC-427D-8A55-1FFDC572EFE1}"/>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8001.69</c:v>
                </c:pt>
                <c:pt idx="1">
                  <c:v>8851</c:v>
                </c:pt>
                <c:pt idx="2">
                  <c:v>9977</c:v>
                </c:pt>
                <c:pt idx="3">
                  <c:v>8938.34</c:v>
                </c:pt>
                <c:pt idx="4">
                  <c:v>10192.34</c:v>
                </c:pt>
                <c:pt idx="5">
                  <c:v>10365.58</c:v>
                </c:pt>
                <c:pt idx="6">
                  <c:v>11078.33</c:v>
                </c:pt>
              </c:numCache>
            </c:numRef>
          </c:val>
          <c:extLst>
            <c:ext xmlns:c16="http://schemas.microsoft.com/office/drawing/2014/chart" uri="{C3380CC4-5D6E-409C-BE32-E72D297353CC}">
              <c16:uniqueId val="{00000000-A580-483C-B42E-F9A018373946}"/>
            </c:ext>
          </c:extLst>
        </c:ser>
        <c:ser>
          <c:idx val="1"/>
          <c:order val="1"/>
          <c:tx>
            <c:strRef>
              <c:f>Sheet1!$C$1</c:f>
              <c:strCache>
                <c:ptCount val="1"/>
                <c:pt idx="0">
                  <c:v>Azure Databricks</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13661.81</c:v>
                </c:pt>
                <c:pt idx="1">
                  <c:v>14023</c:v>
                </c:pt>
                <c:pt idx="2">
                  <c:v>19412</c:v>
                </c:pt>
                <c:pt idx="3">
                  <c:v>16633.53</c:v>
                </c:pt>
                <c:pt idx="4">
                  <c:v>0</c:v>
                </c:pt>
                <c:pt idx="5">
                  <c:v>0</c:v>
                </c:pt>
                <c:pt idx="6">
                  <c:v>0</c:v>
                </c:pt>
              </c:numCache>
            </c:numRef>
          </c:val>
          <c:extLst>
            <c:ext xmlns:c16="http://schemas.microsoft.com/office/drawing/2014/chart" uri="{C3380CC4-5D6E-409C-BE32-E72D297353CC}">
              <c16:uniqueId val="{00000001-A580-483C-B42E-F9A018373946}"/>
            </c:ext>
          </c:extLst>
        </c:ser>
        <c:ser>
          <c:idx val="2"/>
          <c:order val="2"/>
          <c:tx>
            <c:strRef>
              <c:f>Sheet1!$D$1</c:f>
              <c:strCache>
                <c:ptCount val="1"/>
                <c:pt idx="0">
                  <c:v>Storage</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5134.3100000000004</c:v>
                </c:pt>
                <c:pt idx="1">
                  <c:v>5630</c:v>
                </c:pt>
                <c:pt idx="2">
                  <c:v>5747</c:v>
                </c:pt>
                <c:pt idx="3">
                  <c:v>5515.42</c:v>
                </c:pt>
                <c:pt idx="4">
                  <c:v>6124.59</c:v>
                </c:pt>
                <c:pt idx="5">
                  <c:v>6488.31</c:v>
                </c:pt>
                <c:pt idx="6">
                  <c:v>6847.08</c:v>
                </c:pt>
              </c:numCache>
            </c:numRef>
          </c:val>
          <c:extLst>
            <c:ext xmlns:c16="http://schemas.microsoft.com/office/drawing/2014/chart" uri="{C3380CC4-5D6E-409C-BE32-E72D297353CC}">
              <c16:uniqueId val="{00000002-A580-483C-B42E-F9A018373946}"/>
            </c:ext>
          </c:extLst>
        </c:ser>
        <c:ser>
          <c:idx val="3"/>
          <c:order val="3"/>
          <c:tx>
            <c:strRef>
              <c:f>Sheet1!$E$1</c:f>
              <c:strCache>
                <c:ptCount val="1"/>
                <c:pt idx="0">
                  <c:v>Virtual Network</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4756.18</c:v>
                </c:pt>
                <c:pt idx="1">
                  <c:v>4988</c:v>
                </c:pt>
                <c:pt idx="2">
                  <c:v>5905.3</c:v>
                </c:pt>
                <c:pt idx="3">
                  <c:v>5036.83</c:v>
                </c:pt>
                <c:pt idx="4">
                  <c:v>5067.49</c:v>
                </c:pt>
                <c:pt idx="5">
                  <c:v>6698.63</c:v>
                </c:pt>
                <c:pt idx="6">
                  <c:v>7400.62</c:v>
                </c:pt>
              </c:numCache>
            </c:numRef>
          </c:val>
          <c:extLst>
            <c:ext xmlns:c16="http://schemas.microsoft.com/office/drawing/2014/chart" uri="{C3380CC4-5D6E-409C-BE32-E72D297353CC}">
              <c16:uniqueId val="{00000003-A580-483C-B42E-F9A018373946}"/>
            </c:ext>
          </c:extLst>
        </c:ser>
        <c:ser>
          <c:idx val="4"/>
          <c:order val="4"/>
          <c:tx>
            <c:strRef>
              <c:f>Sheet1!$F$1</c:f>
              <c:strCache>
                <c:ptCount val="1"/>
                <c:pt idx="0">
                  <c:v>Foundry Models</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1347.06</c:v>
                </c:pt>
                <c:pt idx="1">
                  <c:v>2243</c:v>
                </c:pt>
                <c:pt idx="2">
                  <c:v>1274.47</c:v>
                </c:pt>
                <c:pt idx="3">
                  <c:v>4218.08</c:v>
                </c:pt>
                <c:pt idx="4">
                  <c:v>10329.629999999999</c:v>
                </c:pt>
                <c:pt idx="5">
                  <c:v>5769.96</c:v>
                </c:pt>
                <c:pt idx="6">
                  <c:v>6649.77</c:v>
                </c:pt>
              </c:numCache>
            </c:numRef>
          </c:val>
          <c:extLst>
            <c:ext xmlns:c16="http://schemas.microsoft.com/office/drawing/2014/chart" uri="{C3380CC4-5D6E-409C-BE32-E72D297353CC}">
              <c16:uniqueId val="{00000004-A580-483C-B42E-F9A018373946}"/>
            </c:ext>
          </c:extLst>
        </c:ser>
        <c:ser>
          <c:idx val="5"/>
          <c:order val="5"/>
          <c:tx>
            <c:strRef>
              <c:f>Sheet1!$G$1</c:f>
              <c:strCache>
                <c:ptCount val="1"/>
                <c:pt idx="0">
                  <c:v>Foundry Tools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4271.49</c:v>
                </c:pt>
                <c:pt idx="1">
                  <c:v>4337</c:v>
                </c:pt>
                <c:pt idx="2">
                  <c:v>3298.75</c:v>
                </c:pt>
                <c:pt idx="3">
                  <c:v>1922.73</c:v>
                </c:pt>
                <c:pt idx="4">
                  <c:v>3305.17</c:v>
                </c:pt>
                <c:pt idx="5">
                  <c:v>5675.5</c:v>
                </c:pt>
                <c:pt idx="6">
                  <c:v>6603.58</c:v>
                </c:pt>
              </c:numCache>
            </c:numRef>
          </c:val>
          <c:extLst>
            <c:ext xmlns:c16="http://schemas.microsoft.com/office/drawing/2014/chart" uri="{C3380CC4-5D6E-409C-BE32-E72D297353CC}">
              <c16:uniqueId val="{00000005-A580-483C-B42E-F9A018373946}"/>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10289.35</c:v>
                </c:pt>
                <c:pt idx="1">
                  <c:v>9126</c:v>
                </c:pt>
                <c:pt idx="2">
                  <c:v>8921.9800000000014</c:v>
                </c:pt>
                <c:pt idx="3">
                  <c:v>7970.0800000000008</c:v>
                </c:pt>
                <c:pt idx="4">
                  <c:v>8905.24</c:v>
                </c:pt>
                <c:pt idx="5">
                  <c:v>9392.630000000001</c:v>
                </c:pt>
                <c:pt idx="6">
                  <c:v>10538.439999999999</c:v>
                </c:pt>
              </c:numCache>
            </c:numRef>
          </c:val>
          <c:extLst>
            <c:ext xmlns:c16="http://schemas.microsoft.com/office/drawing/2014/chart" uri="{C3380CC4-5D6E-409C-BE32-E72D297353CC}">
              <c16:uniqueId val="{00000006-A580-483C-B42E-F9A01837394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DataCloud prod</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40269.800000000003</c:v>
                </c:pt>
                <c:pt idx="1">
                  <c:v>41870.089999999997</c:v>
                </c:pt>
                <c:pt idx="2">
                  <c:v>48649</c:v>
                </c:pt>
                <c:pt idx="3">
                  <c:v>42196.41</c:v>
                </c:pt>
                <c:pt idx="4">
                  <c:v>29317.96</c:v>
                </c:pt>
                <c:pt idx="5">
                  <c:v>33038.949999999997</c:v>
                </c:pt>
                <c:pt idx="6">
                  <c:v>36010.25</c:v>
                </c:pt>
              </c:numCache>
            </c:numRef>
          </c:val>
          <c:extLst>
            <c:ext xmlns:c16="http://schemas.microsoft.com/office/drawing/2014/chart" uri="{C3380CC4-5D6E-409C-BE32-E72D297353CC}">
              <c16:uniqueId val="{00000000-90D1-4C4B-840C-4C96612F5768}"/>
            </c:ext>
          </c:extLst>
        </c:ser>
        <c:ser>
          <c:idx val="1"/>
          <c:order val="1"/>
          <c:tx>
            <c:strRef>
              <c:f>Sheet1!$C$1</c:f>
              <c:strCache>
                <c:ptCount val="1"/>
                <c:pt idx="0">
                  <c:v>Solugen Production</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854.16</c:v>
                </c:pt>
                <c:pt idx="1">
                  <c:v>702.78</c:v>
                </c:pt>
                <c:pt idx="2">
                  <c:v>620.89</c:v>
                </c:pt>
                <c:pt idx="3">
                  <c:v>1545.48</c:v>
                </c:pt>
                <c:pt idx="4">
                  <c:v>10021.98</c:v>
                </c:pt>
                <c:pt idx="5">
                  <c:v>6749.23</c:v>
                </c:pt>
                <c:pt idx="6">
                  <c:v>8415.8700000000008</c:v>
                </c:pt>
              </c:numCache>
            </c:numRef>
          </c:val>
          <c:extLst>
            <c:ext xmlns:c16="http://schemas.microsoft.com/office/drawing/2014/chart" uri="{C3380CC4-5D6E-409C-BE32-E72D297353CC}">
              <c16:uniqueId val="{00000001-90D1-4C4B-840C-4C96612F5768}"/>
            </c:ext>
          </c:extLst>
        </c:ser>
        <c:ser>
          <c:idx val="2"/>
          <c:order val="2"/>
          <c:tx>
            <c:strRef>
              <c:f>Sheet1!$D$1</c:f>
              <c:strCache>
                <c:ptCount val="1"/>
                <c:pt idx="0">
                  <c:v>DataCloud dev</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3242.73</c:v>
                </c:pt>
                <c:pt idx="1">
                  <c:v>2995.17</c:v>
                </c:pt>
                <c:pt idx="2">
                  <c:v>2380</c:v>
                </c:pt>
                <c:pt idx="3">
                  <c:v>3985.63</c:v>
                </c:pt>
                <c:pt idx="4">
                  <c:v>1715.02</c:v>
                </c:pt>
                <c:pt idx="5">
                  <c:v>1838.65</c:v>
                </c:pt>
                <c:pt idx="6">
                  <c:v>1579.05</c:v>
                </c:pt>
              </c:numCache>
            </c:numRef>
          </c:val>
          <c:extLst>
            <c:ext xmlns:c16="http://schemas.microsoft.com/office/drawing/2014/chart" uri="{C3380CC4-5D6E-409C-BE32-E72D297353CC}">
              <c16:uniqueId val="{00000002-90D1-4C4B-840C-4C96612F5768}"/>
            </c:ext>
          </c:extLst>
        </c:ser>
        <c:ser>
          <c:idx val="3"/>
          <c:order val="3"/>
          <c:tx>
            <c:strRef>
              <c:f>Sheet1!$E$1</c:f>
              <c:strCache>
                <c:ptCount val="1"/>
                <c:pt idx="0">
                  <c:v>INSAIT Production</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1063.6300000000001</c:v>
                </c:pt>
                <c:pt idx="1">
                  <c:v>1914.41</c:v>
                </c:pt>
                <c:pt idx="2">
                  <c:v>1364.48</c:v>
                </c:pt>
                <c:pt idx="3">
                  <c:v>1354.4</c:v>
                </c:pt>
                <c:pt idx="4">
                  <c:v>1456.6</c:v>
                </c:pt>
                <c:pt idx="5">
                  <c:v>1604.48</c:v>
                </c:pt>
                <c:pt idx="6">
                  <c:v>1983.38</c:v>
                </c:pt>
              </c:numCache>
            </c:numRef>
          </c:val>
          <c:extLst>
            <c:ext xmlns:c16="http://schemas.microsoft.com/office/drawing/2014/chart" uri="{C3380CC4-5D6E-409C-BE32-E72D297353CC}">
              <c16:uniqueId val="{00000003-90D1-4C4B-840C-4C96612F5768}"/>
            </c:ext>
          </c:extLst>
        </c:ser>
        <c:ser>
          <c:idx val="4"/>
          <c:order val="4"/>
          <c:tx>
            <c:strRef>
              <c:f>Sheet1!$F$1</c:f>
              <c:strCache>
                <c:ptCount val="1"/>
                <c:pt idx="0">
                  <c:v>DataCloud dev 1</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324.17</c:v>
                </c:pt>
                <c:pt idx="1">
                  <c:v>275</c:v>
                </c:pt>
                <c:pt idx="2">
                  <c:v>285.86</c:v>
                </c:pt>
                <c:pt idx="3">
                  <c:v>269.83999999999997</c:v>
                </c:pt>
                <c:pt idx="4">
                  <c:v>281.57</c:v>
                </c:pt>
                <c:pt idx="5">
                  <c:v>269.20999999999998</c:v>
                </c:pt>
                <c:pt idx="6">
                  <c:v>278.23</c:v>
                </c:pt>
              </c:numCache>
            </c:numRef>
          </c:val>
          <c:extLst>
            <c:ext xmlns:c16="http://schemas.microsoft.com/office/drawing/2014/chart" uri="{C3380CC4-5D6E-409C-BE32-E72D297353CC}">
              <c16:uniqueId val="{00000004-90D1-4C4B-840C-4C96612F5768}"/>
            </c:ext>
          </c:extLst>
        </c:ser>
        <c:ser>
          <c:idx val="5"/>
          <c:order val="5"/>
          <c:tx>
            <c:strRef>
              <c:f>Sheet1!$G$1</c:f>
              <c:strCache>
                <c:ptCount val="1"/>
                <c:pt idx="0">
                  <c:v>Sandbox System</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263.89</c:v>
                </c:pt>
                <c:pt idx="1">
                  <c:v>308.02999999999997</c:v>
                </c:pt>
                <c:pt idx="2">
                  <c:v>265</c:v>
                </c:pt>
                <c:pt idx="3">
                  <c:v>260.07</c:v>
                </c:pt>
                <c:pt idx="4">
                  <c:v>335.75</c:v>
                </c:pt>
                <c:pt idx="5">
                  <c:v>256.14</c:v>
                </c:pt>
                <c:pt idx="6">
                  <c:v>267.43</c:v>
                </c:pt>
              </c:numCache>
            </c:numRef>
          </c:val>
          <c:extLst>
            <c:ext xmlns:c16="http://schemas.microsoft.com/office/drawing/2014/chart" uri="{C3380CC4-5D6E-409C-BE32-E72D297353CC}">
              <c16:uniqueId val="{00000005-90D1-4C4B-840C-4C96612F5768}"/>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1443.54</c:v>
                </c:pt>
                <c:pt idx="1">
                  <c:v>1132.52</c:v>
                </c:pt>
                <c:pt idx="2">
                  <c:v>971.12000000000012</c:v>
                </c:pt>
                <c:pt idx="3">
                  <c:v>623.18999999999983</c:v>
                </c:pt>
                <c:pt idx="4">
                  <c:v>796.06999999999994</c:v>
                </c:pt>
                <c:pt idx="5">
                  <c:v>633.94999999999993</c:v>
                </c:pt>
                <c:pt idx="6">
                  <c:v>583.62</c:v>
                </c:pt>
              </c:numCache>
            </c:numRef>
          </c:val>
          <c:extLst>
            <c:ext xmlns:c16="http://schemas.microsoft.com/office/drawing/2014/chart" uri="{C3380CC4-5D6E-409C-BE32-E72D297353CC}">
              <c16:uniqueId val="{00000006-90D1-4C4B-840C-4C96612F576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30152.87</c:v>
                </c:pt>
                <c:pt idx="1">
                  <c:v>28348</c:v>
                </c:pt>
                <c:pt idx="2">
                  <c:v>31348</c:v>
                </c:pt>
                <c:pt idx="3">
                  <c:v>30597</c:v>
                </c:pt>
                <c:pt idx="4">
                  <c:v>35586.32</c:v>
                </c:pt>
                <c:pt idx="5">
                  <c:v>31413</c:v>
                </c:pt>
                <c:pt idx="6">
                  <c:v>30117</c:v>
                </c:pt>
              </c:numCache>
            </c:numRef>
          </c:val>
          <c:extLst>
            <c:ext xmlns:c16="http://schemas.microsoft.com/office/drawing/2014/chart" uri="{C3380CC4-5D6E-409C-BE32-E72D297353CC}">
              <c16:uniqueId val="{00000000-B5B3-415D-8B37-41E08BF57B07}"/>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11916.96</c:v>
                </c:pt>
                <c:pt idx="1">
                  <c:v>10639</c:v>
                </c:pt>
                <c:pt idx="2">
                  <c:v>10074</c:v>
                </c:pt>
                <c:pt idx="3">
                  <c:v>10076</c:v>
                </c:pt>
                <c:pt idx="4">
                  <c:v>10811.81</c:v>
                </c:pt>
                <c:pt idx="5">
                  <c:v>11077</c:v>
                </c:pt>
                <c:pt idx="6">
                  <c:v>10526</c:v>
                </c:pt>
              </c:numCache>
            </c:numRef>
          </c:val>
          <c:extLst>
            <c:ext xmlns:c16="http://schemas.microsoft.com/office/drawing/2014/chart" uri="{C3380CC4-5D6E-409C-BE32-E72D297353CC}">
              <c16:uniqueId val="{00000001-B5B3-415D-8B37-41E08BF57B07}"/>
            </c:ext>
          </c:extLst>
        </c:ser>
        <c:ser>
          <c:idx val="2"/>
          <c:order val="2"/>
          <c:tx>
            <c:strRef>
              <c:f>Sheet1!$D$1</c:f>
              <c:strCache>
                <c:ptCount val="1"/>
                <c:pt idx="0">
                  <c:v>Virtual Network</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195.78</c:v>
                </c:pt>
                <c:pt idx="1">
                  <c:v>112</c:v>
                </c:pt>
                <c:pt idx="2">
                  <c:v>124</c:v>
                </c:pt>
                <c:pt idx="3">
                  <c:v>153</c:v>
                </c:pt>
                <c:pt idx="4">
                  <c:v>166.67</c:v>
                </c:pt>
                <c:pt idx="5">
                  <c:v>134</c:v>
                </c:pt>
                <c:pt idx="6">
                  <c:v>238</c:v>
                </c:pt>
              </c:numCache>
            </c:numRef>
          </c:val>
          <c:extLst>
            <c:ext xmlns:c16="http://schemas.microsoft.com/office/drawing/2014/chart" uri="{C3380CC4-5D6E-409C-BE32-E72D297353CC}">
              <c16:uniqueId val="{00000002-B5B3-415D-8B37-41E08BF57B07}"/>
            </c:ext>
          </c:extLst>
        </c:ser>
        <c:ser>
          <c:idx val="3"/>
          <c:order val="3"/>
          <c:tx>
            <c:strRef>
              <c:f>Sheet1!$E$1</c:f>
              <c:strCache>
                <c:ptCount val="1"/>
                <c:pt idx="0">
                  <c:v>Virtual Machines Licenses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0</c:v>
                </c:pt>
                <c:pt idx="1">
                  <c:v>0</c:v>
                </c:pt>
                <c:pt idx="2">
                  <c:v>0</c:v>
                </c:pt>
                <c:pt idx="3">
                  <c:v>0</c:v>
                </c:pt>
                <c:pt idx="4">
                  <c:v>36.53</c:v>
                </c:pt>
                <c:pt idx="5">
                  <c:v>41</c:v>
                </c:pt>
                <c:pt idx="6">
                  <c:v>43</c:v>
                </c:pt>
              </c:numCache>
            </c:numRef>
          </c:val>
          <c:extLst>
            <c:ext xmlns:c16="http://schemas.microsoft.com/office/drawing/2014/chart" uri="{C3380CC4-5D6E-409C-BE32-E72D297353CC}">
              <c16:uniqueId val="{00000003-B5B3-415D-8B37-41E08BF57B07}"/>
            </c:ext>
          </c:extLst>
        </c:ser>
        <c:ser>
          <c:idx val="4"/>
          <c:order val="4"/>
          <c:tx>
            <c:strRef>
              <c:f>Sheet1!$F$1</c:f>
              <c:strCache>
                <c:ptCount val="1"/>
                <c:pt idx="0">
                  <c:v>Bandwidth</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0</c:v>
                </c:pt>
                <c:pt idx="1">
                  <c:v>0</c:v>
                </c:pt>
                <c:pt idx="2">
                  <c:v>0</c:v>
                </c:pt>
                <c:pt idx="3">
                  <c:v>0</c:v>
                </c:pt>
                <c:pt idx="4">
                  <c:v>0.01</c:v>
                </c:pt>
                <c:pt idx="5">
                  <c:v>0</c:v>
                </c:pt>
                <c:pt idx="6">
                  <c:v>0</c:v>
                </c:pt>
              </c:numCache>
            </c:numRef>
          </c:val>
          <c:extLst>
            <c:ext xmlns:c16="http://schemas.microsoft.com/office/drawing/2014/chart" uri="{C3380CC4-5D6E-409C-BE32-E72D297353CC}">
              <c16:uniqueId val="{00000004-B5B3-415D-8B37-41E08BF57B07}"/>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SAP Dev/Test</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23275.74</c:v>
                </c:pt>
                <c:pt idx="1">
                  <c:v>22687</c:v>
                </c:pt>
                <c:pt idx="2">
                  <c:v>24090</c:v>
                </c:pt>
                <c:pt idx="3">
                  <c:v>23647</c:v>
                </c:pt>
                <c:pt idx="4">
                  <c:v>26321.74</c:v>
                </c:pt>
                <c:pt idx="5">
                  <c:v>24985</c:v>
                </c:pt>
                <c:pt idx="6">
                  <c:v>23467</c:v>
                </c:pt>
              </c:numCache>
            </c:numRef>
          </c:val>
          <c:extLst>
            <c:ext xmlns:c16="http://schemas.microsoft.com/office/drawing/2014/chart" uri="{C3380CC4-5D6E-409C-BE32-E72D297353CC}">
              <c16:uniqueId val="{00000000-4E75-4989-B5B5-0376CA53C9B4}"/>
            </c:ext>
          </c:extLst>
        </c:ser>
        <c:ser>
          <c:idx val="1"/>
          <c:order val="1"/>
          <c:tx>
            <c:strRef>
              <c:f>Sheet1!$C$1</c:f>
              <c:strCache>
                <c:ptCount val="1"/>
                <c:pt idx="0">
                  <c:v>SAP Production</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18989.88</c:v>
                </c:pt>
                <c:pt idx="1">
                  <c:v>16411</c:v>
                </c:pt>
                <c:pt idx="2">
                  <c:v>17456</c:v>
                </c:pt>
                <c:pt idx="3">
                  <c:v>17178</c:v>
                </c:pt>
                <c:pt idx="4">
                  <c:v>20279.59</c:v>
                </c:pt>
                <c:pt idx="5">
                  <c:v>17680</c:v>
                </c:pt>
                <c:pt idx="6">
                  <c:v>17457</c:v>
                </c:pt>
              </c:numCache>
            </c:numRef>
          </c:val>
          <c:extLst>
            <c:ext xmlns:c16="http://schemas.microsoft.com/office/drawing/2014/chart" uri="{C3380CC4-5D6E-409C-BE32-E72D297353CC}">
              <c16:uniqueId val="{00000001-4E75-4989-B5B5-0376CA53C9B4}"/>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Network</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5740.91</c:v>
                </c:pt>
                <c:pt idx="1">
                  <c:v>5286</c:v>
                </c:pt>
                <c:pt idx="2">
                  <c:v>5960.04</c:v>
                </c:pt>
                <c:pt idx="3">
                  <c:v>7306.9</c:v>
                </c:pt>
                <c:pt idx="4">
                  <c:v>8900.5</c:v>
                </c:pt>
                <c:pt idx="5">
                  <c:v>8855.65</c:v>
                </c:pt>
                <c:pt idx="6">
                  <c:v>10913.22</c:v>
                </c:pt>
              </c:numCache>
            </c:numRef>
          </c:val>
          <c:extLst>
            <c:ext xmlns:c16="http://schemas.microsoft.com/office/drawing/2014/chart" uri="{C3380CC4-5D6E-409C-BE32-E72D297353CC}">
              <c16:uniqueId val="{00000000-7307-4381-8B90-67A7378595E5}"/>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5000.41</c:v>
                </c:pt>
                <c:pt idx="1">
                  <c:v>4756</c:v>
                </c:pt>
                <c:pt idx="2">
                  <c:v>4679.66</c:v>
                </c:pt>
                <c:pt idx="3">
                  <c:v>4663.37</c:v>
                </c:pt>
                <c:pt idx="4">
                  <c:v>4758.84</c:v>
                </c:pt>
                <c:pt idx="5">
                  <c:v>4887.1499999999996</c:v>
                </c:pt>
                <c:pt idx="6">
                  <c:v>6077.62</c:v>
                </c:pt>
              </c:numCache>
            </c:numRef>
          </c:val>
          <c:extLst>
            <c:ext xmlns:c16="http://schemas.microsoft.com/office/drawing/2014/chart" uri="{C3380CC4-5D6E-409C-BE32-E72D297353CC}">
              <c16:uniqueId val="{00000001-7307-4381-8B90-67A7378595E5}"/>
            </c:ext>
          </c:extLst>
        </c:ser>
        <c:ser>
          <c:idx val="2"/>
          <c:order val="2"/>
          <c:tx>
            <c:strRef>
              <c:f>Sheet1!$D$1</c:f>
              <c:strCache>
                <c:ptCount val="1"/>
                <c:pt idx="0">
                  <c:v>Log Analytics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7300.46</c:v>
                </c:pt>
                <c:pt idx="1">
                  <c:v>3692</c:v>
                </c:pt>
                <c:pt idx="2">
                  <c:v>10596.09</c:v>
                </c:pt>
                <c:pt idx="3">
                  <c:v>3911.97</c:v>
                </c:pt>
                <c:pt idx="4">
                  <c:v>1966.89</c:v>
                </c:pt>
                <c:pt idx="5">
                  <c:v>2066.6999999999998</c:v>
                </c:pt>
                <c:pt idx="6">
                  <c:v>2306.0500000000002</c:v>
                </c:pt>
              </c:numCache>
            </c:numRef>
          </c:val>
          <c:extLst>
            <c:ext xmlns:c16="http://schemas.microsoft.com/office/drawing/2014/chart" uri="{C3380CC4-5D6E-409C-BE32-E72D297353CC}">
              <c16:uniqueId val="{00000002-7307-4381-8B90-67A7378595E5}"/>
            </c:ext>
          </c:extLst>
        </c:ser>
        <c:ser>
          <c:idx val="3"/>
          <c:order val="3"/>
          <c:tx>
            <c:strRef>
              <c:f>Sheet1!$E$1</c:f>
              <c:strCache>
                <c:ptCount val="1"/>
                <c:pt idx="0">
                  <c:v>Virtual Machines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4242.88</c:v>
                </c:pt>
                <c:pt idx="1">
                  <c:v>3549</c:v>
                </c:pt>
                <c:pt idx="2">
                  <c:v>4067.07</c:v>
                </c:pt>
                <c:pt idx="3">
                  <c:v>3938.6</c:v>
                </c:pt>
                <c:pt idx="4">
                  <c:v>4539.7</c:v>
                </c:pt>
                <c:pt idx="5">
                  <c:v>4344.13</c:v>
                </c:pt>
                <c:pt idx="6">
                  <c:v>4847.43</c:v>
                </c:pt>
              </c:numCache>
            </c:numRef>
          </c:val>
          <c:extLst>
            <c:ext xmlns:c16="http://schemas.microsoft.com/office/drawing/2014/chart" uri="{C3380CC4-5D6E-409C-BE32-E72D297353CC}">
              <c16:uniqueId val="{00000003-7307-4381-8B90-67A7378595E5}"/>
            </c:ext>
          </c:extLst>
        </c:ser>
        <c:ser>
          <c:idx val="4"/>
          <c:order val="4"/>
          <c:tx>
            <c:strRef>
              <c:f>Sheet1!$F$1</c:f>
              <c:strCache>
                <c:ptCount val="1"/>
                <c:pt idx="0">
                  <c:v>Sentinel</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1732.05</c:v>
                </c:pt>
                <c:pt idx="1">
                  <c:v>1468</c:v>
                </c:pt>
                <c:pt idx="2">
                  <c:v>8874.9</c:v>
                </c:pt>
                <c:pt idx="3">
                  <c:v>3278.03</c:v>
                </c:pt>
                <c:pt idx="4">
                  <c:v>1333.2</c:v>
                </c:pt>
                <c:pt idx="5">
                  <c:v>1369.67</c:v>
                </c:pt>
                <c:pt idx="6">
                  <c:v>1467.73</c:v>
                </c:pt>
              </c:numCache>
            </c:numRef>
          </c:val>
          <c:extLst>
            <c:ext xmlns:c16="http://schemas.microsoft.com/office/drawing/2014/chart" uri="{C3380CC4-5D6E-409C-BE32-E72D297353CC}">
              <c16:uniqueId val="{00000004-7307-4381-8B90-67A7378595E5}"/>
            </c:ext>
          </c:extLst>
        </c:ser>
        <c:ser>
          <c:idx val="5"/>
          <c:order val="5"/>
          <c:tx>
            <c:strRef>
              <c:f>Sheet1!$G$1</c:f>
              <c:strCache>
                <c:ptCount val="1"/>
                <c:pt idx="0">
                  <c:v>Other services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2265</c:v>
                </c:pt>
                <c:pt idx="1">
                  <c:v>1965</c:v>
                </c:pt>
                <c:pt idx="2">
                  <c:v>2206</c:v>
                </c:pt>
                <c:pt idx="3">
                  <c:v>2059</c:v>
                </c:pt>
                <c:pt idx="4">
                  <c:v>2253.46</c:v>
                </c:pt>
                <c:pt idx="5">
                  <c:v>2467.09</c:v>
                </c:pt>
                <c:pt idx="6">
                  <c:v>2528.4699999999998</c:v>
                </c:pt>
              </c:numCache>
            </c:numRef>
          </c:val>
          <c:extLst>
            <c:ext xmlns:c16="http://schemas.microsoft.com/office/drawing/2014/chart" uri="{C3380CC4-5D6E-409C-BE32-E72D297353CC}">
              <c16:uniqueId val="{00000005-7307-4381-8B90-67A7378595E5}"/>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4634.13</c:v>
                </c:pt>
                <c:pt idx="1">
                  <c:v>3962</c:v>
                </c:pt>
                <c:pt idx="2">
                  <c:v>4345.76</c:v>
                </c:pt>
                <c:pt idx="3">
                  <c:v>4241.6400000000003</c:v>
                </c:pt>
                <c:pt idx="4">
                  <c:v>4862.66</c:v>
                </c:pt>
                <c:pt idx="5">
                  <c:v>4595.34</c:v>
                </c:pt>
                <c:pt idx="6">
                  <c:v>5280.59</c:v>
                </c:pt>
              </c:numCache>
            </c:numRef>
          </c:val>
          <c:extLst>
            <c:ext xmlns:c16="http://schemas.microsoft.com/office/drawing/2014/chart" uri="{C3380CC4-5D6E-409C-BE32-E72D297353CC}">
              <c16:uniqueId val="{00000006-7307-4381-8B90-67A7378595E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16903.740000000002</c:v>
                </c:pt>
                <c:pt idx="1">
                  <c:v>12321</c:v>
                </c:pt>
                <c:pt idx="2">
                  <c:v>26897.08</c:v>
                </c:pt>
                <c:pt idx="3">
                  <c:v>14231</c:v>
                </c:pt>
                <c:pt idx="4">
                  <c:v>10755.39</c:v>
                </c:pt>
                <c:pt idx="5">
                  <c:v>10557</c:v>
                </c:pt>
                <c:pt idx="6">
                  <c:v>11092.99</c:v>
                </c:pt>
              </c:numCache>
            </c:numRef>
          </c:val>
          <c:extLst>
            <c:ext xmlns:c16="http://schemas.microsoft.com/office/drawing/2014/chart" uri="{C3380CC4-5D6E-409C-BE32-E72D297353CC}">
              <c16:uniqueId val="{00000000-1222-4A91-9CF9-FEC89B2CB5F5}"/>
            </c:ext>
          </c:extLst>
        </c:ser>
        <c:ser>
          <c:idx val="1"/>
          <c:order val="1"/>
          <c:tx>
            <c:strRef>
              <c:f>Sheet1!$C$1</c:f>
              <c:strCache>
                <c:ptCount val="1"/>
                <c:pt idx="0">
                  <c:v>Prod</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12493.49</c:v>
                </c:pt>
                <c:pt idx="1">
                  <c:v>11171</c:v>
                </c:pt>
                <c:pt idx="2">
                  <c:v>12360.07</c:v>
                </c:pt>
                <c:pt idx="3">
                  <c:v>13593</c:v>
                </c:pt>
                <c:pt idx="4">
                  <c:v>15743.11</c:v>
                </c:pt>
                <c:pt idx="5">
                  <c:v>15398</c:v>
                </c:pt>
                <c:pt idx="6">
                  <c:v>19303.29</c:v>
                </c:pt>
              </c:numCache>
            </c:numRef>
          </c:val>
          <c:extLst>
            <c:ext xmlns:c16="http://schemas.microsoft.com/office/drawing/2014/chart" uri="{C3380CC4-5D6E-409C-BE32-E72D297353CC}">
              <c16:uniqueId val="{00000001-1222-4A91-9CF9-FEC89B2CB5F5}"/>
            </c:ext>
          </c:extLst>
        </c:ser>
        <c:ser>
          <c:idx val="2"/>
          <c:order val="2"/>
          <c:tx>
            <c:strRef>
              <c:f>Sheet1!$D$1</c:f>
              <c:strCache>
                <c:ptCount val="1"/>
                <c:pt idx="0">
                  <c:v>CloudOps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872.66</c:v>
                </c:pt>
                <c:pt idx="1">
                  <c:v>555</c:v>
                </c:pt>
                <c:pt idx="2">
                  <c:v>768.67</c:v>
                </c:pt>
                <c:pt idx="3">
                  <c:v>737</c:v>
                </c:pt>
                <c:pt idx="4">
                  <c:v>971.96</c:v>
                </c:pt>
                <c:pt idx="5">
                  <c:v>1089</c:v>
                </c:pt>
                <c:pt idx="6">
                  <c:v>1225.74</c:v>
                </c:pt>
              </c:numCache>
            </c:numRef>
          </c:val>
          <c:extLst>
            <c:ext xmlns:c16="http://schemas.microsoft.com/office/drawing/2014/chart" uri="{C3380CC4-5D6E-409C-BE32-E72D297353CC}">
              <c16:uniqueId val="{00000002-1222-4A91-9CF9-FEC89B2CB5F5}"/>
            </c:ext>
          </c:extLst>
        </c:ser>
        <c:ser>
          <c:idx val="3"/>
          <c:order val="3"/>
          <c:tx>
            <c:strRef>
              <c:f>Sheet1!$E$1</c:f>
              <c:strCache>
                <c:ptCount val="1"/>
                <c:pt idx="0">
                  <c:v>DataCloud prod</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363.16</c:v>
                </c:pt>
                <c:pt idx="1">
                  <c:v>357</c:v>
                </c:pt>
                <c:pt idx="2">
                  <c:v>397.3</c:v>
                </c:pt>
                <c:pt idx="3">
                  <c:v>336</c:v>
                </c:pt>
                <c:pt idx="4">
                  <c:v>370.22</c:v>
                </c:pt>
                <c:pt idx="5">
                  <c:v>550</c:v>
                </c:pt>
                <c:pt idx="6">
                  <c:v>818.11</c:v>
                </c:pt>
              </c:numCache>
            </c:numRef>
          </c:val>
          <c:extLst>
            <c:ext xmlns:c16="http://schemas.microsoft.com/office/drawing/2014/chart" uri="{C3380CC4-5D6E-409C-BE32-E72D297353CC}">
              <c16:uniqueId val="{00000003-1222-4A91-9CF9-FEC89B2CB5F5}"/>
            </c:ext>
          </c:extLst>
        </c:ser>
        <c:ser>
          <c:idx val="4"/>
          <c:order val="4"/>
          <c:tx>
            <c:strRef>
              <c:f>Sheet1!$F$1</c:f>
              <c:strCache>
                <c:ptCount val="1"/>
                <c:pt idx="0">
                  <c:v>DataCloud dev</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188.97</c:v>
                </c:pt>
                <c:pt idx="1">
                  <c:v>169</c:v>
                </c:pt>
                <c:pt idx="2">
                  <c:v>189.53</c:v>
                </c:pt>
                <c:pt idx="3">
                  <c:v>184</c:v>
                </c:pt>
                <c:pt idx="4">
                  <c:v>506.65</c:v>
                </c:pt>
                <c:pt idx="5">
                  <c:v>582</c:v>
                </c:pt>
                <c:pt idx="6">
                  <c:v>573.9</c:v>
                </c:pt>
              </c:numCache>
            </c:numRef>
          </c:val>
          <c:extLst>
            <c:ext xmlns:c16="http://schemas.microsoft.com/office/drawing/2014/chart" uri="{C3380CC4-5D6E-409C-BE32-E72D297353CC}">
              <c16:uniqueId val="{00000004-1222-4A91-9CF9-FEC89B2CB5F5}"/>
            </c:ext>
          </c:extLst>
        </c:ser>
        <c:ser>
          <c:idx val="5"/>
          <c:order val="5"/>
          <c:tx>
            <c:strRef>
              <c:f>Sheet1!$G$1</c:f>
              <c:strCache>
                <c:ptCount val="1"/>
                <c:pt idx="0">
                  <c:v>All other</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93.22</c:v>
                </c:pt>
                <c:pt idx="1">
                  <c:v>107</c:v>
                </c:pt>
                <c:pt idx="2">
                  <c:v>117.14</c:v>
                </c:pt>
                <c:pt idx="3">
                  <c:v>114</c:v>
                </c:pt>
                <c:pt idx="4">
                  <c:v>268.11</c:v>
                </c:pt>
                <c:pt idx="5">
                  <c:v>407</c:v>
                </c:pt>
                <c:pt idx="6">
                  <c:v>406.88000000000005</c:v>
                </c:pt>
              </c:numCache>
            </c:numRef>
          </c:val>
          <c:extLst>
            <c:ext xmlns:c16="http://schemas.microsoft.com/office/drawing/2014/chart" uri="{C3380CC4-5D6E-409C-BE32-E72D297353CC}">
              <c16:uniqueId val="{00000005-1222-4A91-9CF9-FEC89B2CB5F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44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ONE BASIS FOR THE WHOLE DECK: metered consumption, January to July 2026,
all three clouds. Seven months, one series, no switching.
Marketplace purchases are excluded throughout and reported on their own slide.
AWS July is shown gross of the $16,100 MAP credit, which has its own slide.
If asked why this differs from the May-July briefing: same estate, longer
window. Seven months of data instead of two.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HOW $3.4M IS BUILT, one month, times twelve. No model, no forecast.
  Azure    186,917
  AWS       92,930   (gross, before the $16,100 MAP credit)
  GCP        3,707
  ------------------
  July     283,554   per month
  x 12   3,402,648   per year   -&gt;  $3.4M
If July repeats for a full year, we are at a $3.4M pace. That is all it says.
WHERE THE $593K COMES FROM
  Jan    234,115 x 12 = 2,809,384
  Jul    283,554 x 12 = 3,402,648
  difference              593,264   = +21.1%
Six months, and the annual pace rose by about $593K.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THE UPPER BOUND. Same start, same method, faster rate.
Rates from the May-July window, as published in the July briefing:
  GCP     +$1 Azure  +13.3% per month
  AWS     +5.8% per month.1K per month
Carried from July's actual 283,554:
  Aug 314,904   Sep 349,873   Oct 388,919   Nov 432,559   Dec 481,378
  481,378 x 12 = $5.78M
WHAT IT COSTS IF IT HAPPENS
  December run-rate   5,776,533  vs  4,011,077   = +1,765,456 a year
  Cash Aug-Dec        1,967,632  vs  1,567,166   =   +400,465
HOW TO POSITION IT
Do not present this as the forecast, present it as the range's top. The
base case is the previous slide at $4.0M. This slide answers 'what if the
acceleration was real', and it is the number the July briefing carried.
Note the Azure rate here is v33's 13.3%, measured off the invoiced May
figure of 145,254. On the consumption basis this deck uses, May was 152,263
and the same window gives 10.8% a month. The 13.3% is deliberately the
harsher of the two, which is what an upper bound should be.
The trigger to watch: if August lands above roughly 300K, we are on the red
line, not the orange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Everything from here is the same seven-month consumption series, unless a slide says otherwise on its 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cut of the slide that follows. Same basis, same total:
  $199,531 of billed AI, January to July 2026.
  Azure AI Foundry             $87,158  43.7%  +240% Jan to Jul
  GitHub Copilot               $57,177  28.7%  +593% Jan to Jul
  AWS Bedrock (Claude)         $42,056  21.1%  First billed in Mar
  Cowork                        $9,444  4.7%  $97 to $8,920
  Google Vertex AI              $3,696  1.9%  First billed in May
WHAT IS NOT HERE
Databricks. It draws down the 600,000 DBU pre-purchase paid in April and
bills at $0, so it would show as the largest platform while costing nothing
this month. It has its own slide.
AWS July is gross of the $16,100 MAP credit, same footing as the rest of
the deck, and that credit has its own slide too.
IF ASKED WHY THIS DIFFERS FROM THE v33 VERSION: v33 showed the May-July
invoiced window. This is the full seven months, on the deck's one basis.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AIFactory tag is $63,609 over May-July.
  Infrastructure  $41,236  64.8%
  AI meters       $22,373  35.2%
The headline: API Management is the single largest line at $17,311,
ahead of Foundry Models. The gateway costs more than the models behind it.
Watch for the trap in the name: the two subscriptions literally called
"AI Factory" total $4,279. The tag is what matters, not the subscription name.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4835064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81060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1297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57999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2674476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mesh is the argument. Five consumer groups, five providers, nothing in
the middle. Twenty-five direct paths, no single place that can see the spend,
refuse a request, or attribute a bill.
The three figures underneath are from this report, not illustrative:
  23.4%   of the July bill carries no project tag
  $16,100 credit reversed against a charge nobody can identify
  $8,920 Cowork, from $0 the month before
This slide sets up the gateway slide. Do not solve it 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WHY ITEM 3 ON THE NEXT SLIDE IS TWO JOBS, NOT ONE.
Resource tagging, owner, application, environment, cost centre, business
unit, fixes attribution for VMs, storage and databases. That work is in
progress and it is worth finishing: it is what closes the 23.4% untagged gap.
It will NOT fix AI attribution. AI cost does not sit on a resource; it sits
on a request. One Bedrock key served $25,288 of Claude in July across an
unknown number of use cases. No tag on a resource can split that.
WHAT CHANGES
Every AI call goes through the gateway anyway, for budgets and quotas. The
same gateway stamps each request with use case, agent, model and provider.
Cost then lands against a use case instead of a subscription.
The telemetry side already exists in our Elastic design, OpenTelemetry
spans carry token counts and tool activity. This is the missing half.
IF ASKED WHAT IT COSTS: nothing new to buy. It is a schema decision plus
gateway configuration, done once, enforced in CI/CD.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27619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WHY A BUDGET IS NOT A KILL SWITCH
Azure Cost Management budgets are a reporting mechanism: cost data arrives
roughly 8-24 hours late, the budget is evaluated about once a day, and
breaching it does not stop consumption. By the time it fires, the money is
spent. APIM token quota is the enforcement point; the budget is the late
financial control.
SEPARATE IDENTITY PER APPLICATION
Each application gets its own APIM subscription or Entra client_id, carrying
owner, cost centre, environment, monthly budget, approved models, TPM, and
daily plus monthly quota. Never share one key across applications, you can
then neither limit nor attribute.
HARD LIMITS IN APIM, three llm-token-limit instances in &lt;inbound&gt;:
  minute   tokens-per-minute="20000"                    burst protection
  daily    token-quota="3000000"  period="Daily"        runaway job
  monthly  token-quota="60000000" period="Monthly"      hard ceiling
  counter-key on context.Subscription.Id, estimate-prompt-tokens="true"
  so an oversized prompt is blocked before it reaches the model.
  TPM breach returns 429; quota breach returns 403.
Add rate-limit-by-key, cap max_output_tokens, disable streaming and tool
calling where not needed, and cap concurrency for agents.
HIERARCHY: low TPM per user; TPM plus quotas per application; cumulative
quota per cost centre; a ceiling on each expensive model; sandbox well
below production. One user cannot drain an application, one application
cannot drain the organisation.
BUDGET INTO TOKENS, the policy counts tokens, not dollars, so each model
needs its own quota:
  cost = (input tokens x input price + output tokens x output price) / 1M
On a $1,000 budget set the hard quota near $750-$850. The margin covers
in-flight parallel requests, reasoning tokens, price differences between
models, counting lag, and multiple gateways. Microsoft notes concurrent
requests can temporarily exceed the quota, and that in multi-region APIM
each gateway counts separately rather than globally, so split the quota
across regions.
ALERTS: emit llm-emit-token-metric to Application Insights with application,
cost centre, model, environment and owner as dimensions. Alert on an
abnormal token rate over 5 and 15 minutes; 70% of quota to the owner; 85%
to FinOps with a rate reduction; 100% automatic block; a jump in the
output-to-input ratio; and repeated 429s, 403s or agent retries.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09394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90556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61110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05986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6046197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070A1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3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3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chart" Target="../charts/char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3DD9EB"/>
                </a:solidFill>
                <a:latin typeface="Calibri" pitchFamily="34" charset="0"/>
                <a:ea typeface="Calibri" pitchFamily="34" charset="-122"/>
                <a:cs typeface="Calibri" pitchFamily="34" charset="-120"/>
              </a:rPr>
              <a:t>HAREL INSURANCE / CLOUD FINOPS</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Cloud spend, the AI shift</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Seven months of consumption, January to July 2026, CIO briefing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WHERE WE ARE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Today's run-rate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marL="0" indent="0">
              <a:buNone/>
            </a:pPr>
            <a:r>
              <a:rPr lang="en-US" sz="9600" b="1" dirty="0">
                <a:solidFill>
                  <a:srgbClr val="F4F7FB"/>
                </a:solidFill>
                <a:latin typeface="Calibri" pitchFamily="34" charset="0"/>
                <a:ea typeface="Calibri" pitchFamily="34" charset="-122"/>
                <a:cs typeface="Calibri" pitchFamily="34" charset="-120"/>
              </a:rPr>
              <a:t>$3.4M</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run-rate today. July consumption x 12, across Azure, AWS and GCP</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marL="0" indent="0">
              <a:buNone/>
            </a:pPr>
            <a:r>
              <a:rPr lang="en-US" sz="1700" b="1" dirty="0">
                <a:solidFill>
                  <a:srgbClr val="FF6B7A"/>
                </a:solidFill>
                <a:latin typeface="Calibri" pitchFamily="34" charset="0"/>
                <a:ea typeface="Calibri" pitchFamily="34" charset="-122"/>
                <a:cs typeface="Calibri" pitchFamily="34" charset="-120"/>
              </a:rPr>
              <a:t>up $593K since January, +21.1%</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6693408" y="1682496"/>
            <a:ext cx="4839919" cy="274320"/>
          </a:xfrm>
          <a:prstGeom prst="rect">
            <a:avLst/>
          </a:prstGeom>
          <a:noFill/>
          <a:ln/>
        </p:spPr>
        <p:txBody>
          <a:bodyPr wrap="square" lIns="0" tIns="0" rIns="0" bIns="0" rtlCol="0" anchor="ctr"/>
          <a:lstStyle/>
          <a:p>
            <a:pPr marL="0" indent="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$186,917</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66% of the bill</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693408" y="2734056"/>
            <a:ext cx="4839919" cy="274320"/>
          </a:xfrm>
          <a:prstGeom prst="rect">
            <a:avLst/>
          </a:prstGeom>
          <a:noFill/>
          <a:ln/>
        </p:spPr>
        <p:txBody>
          <a:bodyPr wrap="square" lIns="0" tIns="0" rIns="0" bIns="0" rtlCol="0" anchor="ctr"/>
          <a:lstStyle/>
          <a:p>
            <a:pPr marL="0" indent="0">
              <a:buNone/>
            </a:pPr>
            <a:r>
              <a:rPr lang="en-US" sz="1500" b="1" dirty="0">
                <a:solidFill>
                  <a:srgbClr val="FF9F43"/>
                </a:solidFill>
                <a:latin typeface="Calibri" pitchFamily="34" charset="0"/>
                <a:ea typeface="Calibri" pitchFamily="34" charset="-122"/>
                <a:cs typeface="Calibri" pitchFamily="34" charset="-120"/>
              </a:rPr>
              <a:t>AWS</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$92,930</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33% of the bill</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20" name="Text 18"/>
          <p:cNvSpPr/>
          <p:nvPr/>
        </p:nvSpPr>
        <p:spPr>
          <a:xfrm>
            <a:off x="6693408" y="3785616"/>
            <a:ext cx="4839919" cy="274320"/>
          </a:xfrm>
          <a:prstGeom prst="rect">
            <a:avLst/>
          </a:prstGeom>
          <a:noFill/>
          <a:ln/>
        </p:spPr>
        <p:txBody>
          <a:bodyPr wrap="square" lIns="0" tIns="0" rIns="0" bIns="0" rtlCol="0" anchor="ctr"/>
          <a:lstStyle/>
          <a:p>
            <a:pPr marL="0" indent="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$3,707</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1.3% of the bill</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 SINCE JANUARY</a:t>
            </a:r>
            <a:endParaRPr lang="en-US" sz="1200" dirty="0"/>
          </a:p>
        </p:txBody>
      </p:sp>
      <p:sp>
        <p:nvSpPr>
          <p:cNvPr id="24" name="Shape 22"/>
          <p:cNvSpPr/>
          <p:nvPr/>
        </p:nvSpPr>
        <p:spPr>
          <a:xfrm>
            <a:off x="457200" y="4443984"/>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5" name="Text 23"/>
          <p:cNvSpPr/>
          <p:nvPr/>
        </p:nvSpPr>
        <p:spPr>
          <a:xfrm>
            <a:off x="630936" y="4361688"/>
            <a:ext cx="5495544"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Azure added $29,927 a month, billed AI accounts for more than the whole increase</a:t>
            </a:r>
            <a:endParaRPr lang="en-US" sz="1250" dirty="0"/>
          </a:p>
        </p:txBody>
      </p:sp>
      <p:sp>
        <p:nvSpPr>
          <p:cNvPr id="26" name="Shape 24"/>
          <p:cNvSpPr/>
          <p:nvPr/>
        </p:nvSpPr>
        <p:spPr>
          <a:xfrm>
            <a:off x="457200" y="5010912"/>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7" name="Text 25"/>
          <p:cNvSpPr/>
          <p:nvPr/>
        </p:nvSpPr>
        <p:spPr>
          <a:xfrm>
            <a:off x="630936" y="4928616"/>
            <a:ext cx="5495544" cy="45720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AWS added $15,804 a month of usage, before Marketplace, which is reported separately</a:t>
            </a:r>
            <a:endParaRPr lang="en-US" sz="1250" dirty="0"/>
          </a:p>
        </p:txBody>
      </p:sp>
      <p:sp>
        <p:nvSpPr>
          <p:cNvPr id="28" name="Shape 26"/>
          <p:cNvSpPr/>
          <p:nvPr/>
        </p:nvSpPr>
        <p:spPr>
          <a:xfrm>
            <a:off x="457200" y="5577840"/>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9" name="Text 27"/>
          <p:cNvSpPr/>
          <p:nvPr/>
        </p:nvSpPr>
        <p:spPr>
          <a:xfrm>
            <a:off x="630936" y="5495544"/>
            <a:ext cx="5495544"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GCP started from nothing in March and is now $3,707 a month, almost entirely Vertex AI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THE RISK CASE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00" b="1" dirty="0">
                <a:solidFill>
                  <a:srgbClr val="F4F7FB"/>
                </a:solidFill>
                <a:latin typeface="Calibri" pitchFamily="34" charset="0"/>
                <a:ea typeface="Calibri" pitchFamily="34" charset="-122"/>
                <a:cs typeface="Calibri" pitchFamily="34" charset="-120"/>
              </a:rPr>
              <a:t>If the May-July pace returns: $5.8M</a:t>
            </a:r>
            <a:endParaRPr lang="en-US" sz="24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same arithmetic as the previous slide, carried at the faster rate the last three months set.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The July briefing's number, recomputed from today's July actual. It is the upper bound, not the forecast: it assumes Azure resumes 13.3% a month, a rate seen over two months only. August and September decide which line we are on.</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to December, on both paces</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DECEMBER RUN-RATE</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$5.78M</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+70% on today's $3.4M</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AGAINST THE BASE CASE</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+$1.77M</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 year more than the Jan-Jul pace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EXTRA CASH, AUG-DEC</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$400,465</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if the faster pace resumes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2F8CFF">
              <a:alpha val="8000"/>
            </a:srgbClr>
          </a:solidFill>
          <a:ln w="12700">
            <a:solidFill>
              <a:srgbClr val="2F8CFF">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2F8CFF"/>
                </a:solidFill>
                <a:latin typeface="Calibri" pitchFamily="34" charset="0"/>
                <a:ea typeface="Calibri" pitchFamily="34" charset="-122"/>
                <a:cs typeface="Calibri" pitchFamily="34" charset="-120"/>
              </a:rPr>
              <a:t>PART ONE</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the money is doing</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Where it sits, where it grew, and one number that did not add up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ALL PROVIDERS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Spend by AI platform</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Billed AI, all three clouds, January to July. Excludes the Databricks pre-purchase, which bills at $0.</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Five platforms, bought separately by different teams, on three clouds and two enrolments. Every one of them grew, and the two that did not exist in January are already 22% of the July bill. $199,531 over the seven months.</a:t>
            </a:r>
            <a:endParaRPr lang="en-US" sz="1200" dirty="0"/>
          </a:p>
        </p:txBody>
      </p:sp>
      <p:sp>
        <p:nvSpPr>
          <p:cNvPr id="8" name="Shape 6"/>
          <p:cNvSpPr/>
          <p:nvPr/>
        </p:nvSpPr>
        <p:spPr>
          <a:xfrm>
            <a:off x="457200" y="1234440"/>
            <a:ext cx="4823713" cy="182880"/>
          </a:xfrm>
          <a:prstGeom prst="rect">
            <a:avLst/>
          </a:prstGeom>
          <a:solidFill>
            <a:srgbClr val="2F8CFF"/>
          </a:solidFill>
          <a:ln w="12700">
            <a:solidFill>
              <a:srgbClr val="2F8CFF"/>
            </a:solidFill>
            <a:prstDash val="solid"/>
          </a:ln>
        </p:spPr>
      </p:sp>
      <p:sp>
        <p:nvSpPr>
          <p:cNvPr id="9" name="Shape 7"/>
          <p:cNvSpPr/>
          <p:nvPr/>
        </p:nvSpPr>
        <p:spPr>
          <a:xfrm>
            <a:off x="5326633" y="1234440"/>
            <a:ext cx="3164430" cy="182880"/>
          </a:xfrm>
          <a:prstGeom prst="rect">
            <a:avLst/>
          </a:prstGeom>
          <a:solidFill>
            <a:srgbClr val="3DD9EB"/>
          </a:solidFill>
          <a:ln w="12700">
            <a:solidFill>
              <a:srgbClr val="3DD9EB"/>
            </a:solidFill>
            <a:prstDash val="solid"/>
          </a:ln>
        </p:spPr>
      </p:sp>
      <p:sp>
        <p:nvSpPr>
          <p:cNvPr id="10" name="Shape 8"/>
          <p:cNvSpPr/>
          <p:nvPr/>
        </p:nvSpPr>
        <p:spPr>
          <a:xfrm>
            <a:off x="8536783" y="1234440"/>
            <a:ext cx="2327567" cy="182880"/>
          </a:xfrm>
          <a:prstGeom prst="rect">
            <a:avLst/>
          </a:prstGeom>
          <a:solidFill>
            <a:srgbClr val="FF9F43"/>
          </a:solidFill>
          <a:ln w="12700">
            <a:solidFill>
              <a:srgbClr val="FF9F43"/>
            </a:solidFill>
            <a:prstDash val="solid"/>
          </a:ln>
        </p:spPr>
      </p:sp>
      <p:sp>
        <p:nvSpPr>
          <p:cNvPr id="11" name="Shape 9"/>
          <p:cNvSpPr/>
          <p:nvPr/>
        </p:nvSpPr>
        <p:spPr>
          <a:xfrm>
            <a:off x="10910070" y="1234440"/>
            <a:ext cx="522673" cy="182880"/>
          </a:xfrm>
          <a:prstGeom prst="rect">
            <a:avLst/>
          </a:prstGeom>
          <a:solidFill>
            <a:srgbClr val="B07CFF"/>
          </a:solidFill>
          <a:ln w="12700">
            <a:solidFill>
              <a:srgbClr val="B07CFF"/>
            </a:solidFill>
            <a:prstDash val="solid"/>
          </a:ln>
        </p:spPr>
      </p:sp>
      <p:sp>
        <p:nvSpPr>
          <p:cNvPr id="12" name="Shape 10"/>
          <p:cNvSpPr/>
          <p:nvPr/>
        </p:nvSpPr>
        <p:spPr>
          <a:xfrm>
            <a:off x="11478463" y="1234440"/>
            <a:ext cx="256032" cy="182880"/>
          </a:xfrm>
          <a:prstGeom prst="rect">
            <a:avLst/>
          </a:prstGeom>
          <a:solidFill>
            <a:srgbClr val="3DDC97"/>
          </a:solidFill>
          <a:ln w="12700">
            <a:solidFill>
              <a:srgbClr val="3DDC97"/>
            </a:solidFill>
            <a:prstDash val="solid"/>
          </a:ln>
        </p:spPr>
      </p:sp>
      <p:sp>
        <p:nvSpPr>
          <p:cNvPr id="13" name="Shape 11"/>
          <p:cNvSpPr/>
          <p:nvPr/>
        </p:nvSpPr>
        <p:spPr>
          <a:xfrm>
            <a:off x="457200" y="1618488"/>
            <a:ext cx="2094525" cy="3977640"/>
          </a:xfrm>
          <a:prstGeom prst="roundRect">
            <a:avLst>
              <a:gd name="adj" fmla="val 2619"/>
            </a:avLst>
          </a:prstGeom>
          <a:solidFill>
            <a:srgbClr val="121B2D"/>
          </a:solidFill>
          <a:ln w="12700">
            <a:solidFill>
              <a:srgbClr val="23304A"/>
            </a:solidFill>
            <a:prstDash val="solid"/>
          </a:ln>
        </p:spPr>
      </p:sp>
      <p:sp>
        <p:nvSpPr>
          <p:cNvPr id="14" name="Shape 12"/>
          <p:cNvSpPr/>
          <p:nvPr/>
        </p:nvSpPr>
        <p:spPr>
          <a:xfrm>
            <a:off x="457200" y="1618488"/>
            <a:ext cx="2094525" cy="45720"/>
          </a:xfrm>
          <a:prstGeom prst="rect">
            <a:avLst/>
          </a:prstGeom>
          <a:solidFill>
            <a:srgbClr val="2F8CFF"/>
          </a:solidFill>
          <a:ln w="12700">
            <a:solidFill>
              <a:srgbClr val="2F8CFF"/>
            </a:solidFill>
            <a:prstDash val="solid"/>
          </a:ln>
        </p:spPr>
      </p:sp>
      <p:sp>
        <p:nvSpPr>
          <p:cNvPr id="15" name="Text 13"/>
          <p:cNvSpPr/>
          <p:nvPr/>
        </p:nvSpPr>
        <p:spPr>
          <a:xfrm>
            <a:off x="640080"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AZURE AI FOUNDRY</a:t>
            </a:r>
            <a:endParaRPr lang="en-US" sz="1200" dirty="0"/>
          </a:p>
        </p:txBody>
      </p:sp>
      <p:sp>
        <p:nvSpPr>
          <p:cNvPr id="16" name="Text 14"/>
          <p:cNvSpPr/>
          <p:nvPr/>
        </p:nvSpPr>
        <p:spPr>
          <a:xfrm>
            <a:off x="640080"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$87,158</a:t>
            </a:r>
            <a:endParaRPr lang="en-US" sz="2800" dirty="0"/>
          </a:p>
        </p:txBody>
      </p:sp>
      <p:sp>
        <p:nvSpPr>
          <p:cNvPr id="17" name="Text 15"/>
          <p:cNvSpPr/>
          <p:nvPr/>
        </p:nvSpPr>
        <p:spPr>
          <a:xfrm>
            <a:off x="640080" y="2734056"/>
            <a:ext cx="1728765" cy="237744"/>
          </a:xfrm>
          <a:prstGeom prst="rect">
            <a:avLst/>
          </a:prstGeom>
          <a:noFill/>
          <a:ln/>
        </p:spPr>
        <p:txBody>
          <a:bodyPr wrap="square" lIns="0" tIns="0" rIns="0" bIns="0" rtlCol="0" anchor="ctr"/>
          <a:lstStyle/>
          <a:p>
            <a:pPr marL="0" indent="0">
              <a:buNone/>
            </a:pPr>
            <a:r>
              <a:rPr lang="en-US" sz="1200" b="1" dirty="0">
                <a:solidFill>
                  <a:srgbClr val="2F8CFF"/>
                </a:solidFill>
                <a:latin typeface="Calibri" pitchFamily="34" charset="0"/>
                <a:ea typeface="Calibri" pitchFamily="34" charset="-122"/>
                <a:cs typeface="Calibri" pitchFamily="34" charset="-120"/>
              </a:rPr>
              <a:t>43.7% of billed AI</a:t>
            </a:r>
            <a:endParaRPr lang="en-US" sz="1200" dirty="0"/>
          </a:p>
        </p:txBody>
      </p:sp>
      <p:sp>
        <p:nvSpPr>
          <p:cNvPr id="18" name="Shape 16"/>
          <p:cNvSpPr/>
          <p:nvPr/>
        </p:nvSpPr>
        <p:spPr>
          <a:xfrm>
            <a:off x="640080" y="3081528"/>
            <a:ext cx="1728765" cy="9144"/>
          </a:xfrm>
          <a:prstGeom prst="rect">
            <a:avLst/>
          </a:prstGeom>
          <a:solidFill>
            <a:srgbClr val="23304A"/>
          </a:solidFill>
          <a:ln w="12700">
            <a:solidFill>
              <a:srgbClr val="23304A"/>
            </a:solidFill>
            <a:prstDash val="solid"/>
          </a:ln>
        </p:spPr>
      </p:sp>
      <p:sp>
        <p:nvSpPr>
          <p:cNvPr id="19" name="Text 17"/>
          <p:cNvSpPr/>
          <p:nvPr/>
        </p:nvSpPr>
        <p:spPr>
          <a:xfrm>
            <a:off x="640080"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20" name="Text 18"/>
          <p:cNvSpPr/>
          <p:nvPr/>
        </p:nvSpPr>
        <p:spPr>
          <a:xfrm>
            <a:off x="1504462"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$5,764</a:t>
            </a:r>
            <a:endParaRPr lang="en-US" sz="1300" dirty="0"/>
          </a:p>
        </p:txBody>
      </p:sp>
      <p:sp>
        <p:nvSpPr>
          <p:cNvPr id="21" name="Text 19"/>
          <p:cNvSpPr/>
          <p:nvPr/>
        </p:nvSpPr>
        <p:spPr>
          <a:xfrm>
            <a:off x="640080"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22" name="Text 20"/>
          <p:cNvSpPr/>
          <p:nvPr/>
        </p:nvSpPr>
        <p:spPr>
          <a:xfrm>
            <a:off x="1504462"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$19,613</a:t>
            </a:r>
            <a:endParaRPr lang="en-US" sz="1300" dirty="0"/>
          </a:p>
        </p:txBody>
      </p:sp>
      <p:sp>
        <p:nvSpPr>
          <p:cNvPr id="23" name="Shape 21"/>
          <p:cNvSpPr/>
          <p:nvPr/>
        </p:nvSpPr>
        <p:spPr>
          <a:xfrm>
            <a:off x="640080" y="4069080"/>
            <a:ext cx="1728765" cy="329184"/>
          </a:xfrm>
          <a:prstGeom prst="roundRect">
            <a:avLst>
              <a:gd name="adj" fmla="val 27778"/>
            </a:avLst>
          </a:prstGeom>
          <a:solidFill>
            <a:srgbClr val="1D2D42"/>
          </a:solidFill>
          <a:ln w="12700">
            <a:solidFill>
              <a:srgbClr val="2F8CFF"/>
            </a:solidFill>
            <a:prstDash val="solid"/>
          </a:ln>
        </p:spPr>
      </p:sp>
      <p:sp>
        <p:nvSpPr>
          <p:cNvPr id="24" name="Text 22"/>
          <p:cNvSpPr/>
          <p:nvPr/>
        </p:nvSpPr>
        <p:spPr>
          <a:xfrm>
            <a:off x="640080" y="4069080"/>
            <a:ext cx="1728765" cy="329184"/>
          </a:xfrm>
          <a:prstGeom prst="rect">
            <a:avLst/>
          </a:prstGeom>
          <a:noFill/>
          <a:ln/>
        </p:spPr>
        <p:txBody>
          <a:bodyPr wrap="square" lIns="0" tIns="0" rIns="0" bIns="0" rtlCol="0" anchor="ctr"/>
          <a:lstStyle/>
          <a:p>
            <a:pPr marL="0" indent="0" algn="ctr">
              <a:buNone/>
            </a:pPr>
            <a:r>
              <a:rPr lang="en-US" sz="1200" b="1" dirty="0">
                <a:solidFill>
                  <a:srgbClr val="2F8CFF"/>
                </a:solidFill>
                <a:latin typeface="Calibri" pitchFamily="34" charset="0"/>
                <a:ea typeface="Calibri" pitchFamily="34" charset="-122"/>
                <a:cs typeface="Calibri" pitchFamily="34" charset="-120"/>
              </a:rPr>
              <a:t>+240% Jan to Jul</a:t>
            </a:r>
            <a:endParaRPr lang="en-US" sz="1200" dirty="0"/>
          </a:p>
        </p:txBody>
      </p:sp>
      <p:sp>
        <p:nvSpPr>
          <p:cNvPr id="25" name="Text 23"/>
          <p:cNvSpPr/>
          <p:nvPr/>
        </p:nvSpPr>
        <p:spPr>
          <a:xfrm>
            <a:off x="640080"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Foundry models, Document Intelligence, AI Search and Defender for AI.</a:t>
            </a:r>
            <a:endParaRPr lang="en-US" sz="1200" dirty="0"/>
          </a:p>
        </p:txBody>
      </p:sp>
      <p:sp>
        <p:nvSpPr>
          <p:cNvPr id="26" name="Shape 24"/>
          <p:cNvSpPr/>
          <p:nvPr/>
        </p:nvSpPr>
        <p:spPr>
          <a:xfrm>
            <a:off x="2752893" y="1618488"/>
            <a:ext cx="2094525" cy="3977640"/>
          </a:xfrm>
          <a:prstGeom prst="roundRect">
            <a:avLst>
              <a:gd name="adj" fmla="val 2619"/>
            </a:avLst>
          </a:prstGeom>
          <a:solidFill>
            <a:srgbClr val="121B2D"/>
          </a:solidFill>
          <a:ln w="12700">
            <a:solidFill>
              <a:srgbClr val="23304A"/>
            </a:solidFill>
            <a:prstDash val="solid"/>
          </a:ln>
        </p:spPr>
      </p:sp>
      <p:sp>
        <p:nvSpPr>
          <p:cNvPr id="27" name="Shape 25"/>
          <p:cNvSpPr/>
          <p:nvPr/>
        </p:nvSpPr>
        <p:spPr>
          <a:xfrm>
            <a:off x="2752893" y="1618488"/>
            <a:ext cx="2094525" cy="45720"/>
          </a:xfrm>
          <a:prstGeom prst="rect">
            <a:avLst/>
          </a:prstGeom>
          <a:solidFill>
            <a:srgbClr val="3DD9EB"/>
          </a:solidFill>
          <a:ln w="12700">
            <a:solidFill>
              <a:srgbClr val="3DD9EB"/>
            </a:solidFill>
            <a:prstDash val="solid"/>
          </a:ln>
        </p:spPr>
      </p:sp>
      <p:sp>
        <p:nvSpPr>
          <p:cNvPr id="28" name="Text 26"/>
          <p:cNvSpPr/>
          <p:nvPr/>
        </p:nvSpPr>
        <p:spPr>
          <a:xfrm>
            <a:off x="2935773"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GITHUB COPILOT</a:t>
            </a:r>
            <a:endParaRPr lang="en-US" sz="1200" dirty="0"/>
          </a:p>
        </p:txBody>
      </p:sp>
      <p:sp>
        <p:nvSpPr>
          <p:cNvPr id="29" name="Text 27"/>
          <p:cNvSpPr/>
          <p:nvPr/>
        </p:nvSpPr>
        <p:spPr>
          <a:xfrm>
            <a:off x="2935773"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30" name="Text 28"/>
          <p:cNvSpPr/>
          <p:nvPr/>
        </p:nvSpPr>
        <p:spPr>
          <a:xfrm>
            <a:off x="2935773" y="2734056"/>
            <a:ext cx="1728765" cy="237744"/>
          </a:xfrm>
          <a:prstGeom prst="rect">
            <a:avLst/>
          </a:prstGeom>
          <a:noFill/>
          <a:ln/>
        </p:spPr>
        <p:txBody>
          <a:bodyPr wrap="square" lIns="0" tIns="0" rIns="0" bIns="0" rtlCol="0" anchor="ctr"/>
          <a:lstStyle/>
          <a:p>
            <a:pPr marL="0" indent="0">
              <a:buNone/>
            </a:pPr>
            <a:r>
              <a:rPr lang="en-US" sz="1200" b="1" dirty="0">
                <a:solidFill>
                  <a:srgbClr val="3DD9EB"/>
                </a:solidFill>
                <a:latin typeface="Calibri" pitchFamily="34" charset="0"/>
                <a:ea typeface="Calibri" pitchFamily="34" charset="-122"/>
                <a:cs typeface="Calibri" pitchFamily="34" charset="-120"/>
              </a:rPr>
              <a:t>28.7% of billed AI</a:t>
            </a:r>
            <a:endParaRPr lang="en-US" sz="1200" dirty="0"/>
          </a:p>
        </p:txBody>
      </p:sp>
      <p:sp>
        <p:nvSpPr>
          <p:cNvPr id="31" name="Shape 29"/>
          <p:cNvSpPr/>
          <p:nvPr/>
        </p:nvSpPr>
        <p:spPr>
          <a:xfrm>
            <a:off x="2935773" y="3081528"/>
            <a:ext cx="1728765" cy="9144"/>
          </a:xfrm>
          <a:prstGeom prst="rect">
            <a:avLst/>
          </a:prstGeom>
          <a:solidFill>
            <a:srgbClr val="23304A"/>
          </a:solidFill>
          <a:ln w="12700">
            <a:solidFill>
              <a:srgbClr val="23304A"/>
            </a:solidFill>
            <a:prstDash val="solid"/>
          </a:ln>
        </p:spPr>
      </p:sp>
      <p:sp>
        <p:nvSpPr>
          <p:cNvPr id="32" name="Text 30"/>
          <p:cNvSpPr/>
          <p:nvPr/>
        </p:nvSpPr>
        <p:spPr>
          <a:xfrm>
            <a:off x="2935773"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33" name="Text 31"/>
          <p:cNvSpPr/>
          <p:nvPr/>
        </p:nvSpPr>
        <p:spPr>
          <a:xfrm>
            <a:off x="3800155"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$2,779</a:t>
            </a:r>
            <a:endParaRPr lang="en-US" sz="1300" dirty="0"/>
          </a:p>
        </p:txBody>
      </p:sp>
      <p:sp>
        <p:nvSpPr>
          <p:cNvPr id="34" name="Text 32"/>
          <p:cNvSpPr/>
          <p:nvPr/>
        </p:nvSpPr>
        <p:spPr>
          <a:xfrm>
            <a:off x="2935773"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35" name="Text 33"/>
          <p:cNvSpPr/>
          <p:nvPr/>
        </p:nvSpPr>
        <p:spPr>
          <a:xfrm>
            <a:off x="3800155"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$19,260</a:t>
            </a:r>
            <a:endParaRPr lang="en-US" sz="1300" dirty="0"/>
          </a:p>
        </p:txBody>
      </p:sp>
      <p:sp>
        <p:nvSpPr>
          <p:cNvPr id="36" name="Shape 34"/>
          <p:cNvSpPr/>
          <p:nvPr/>
        </p:nvSpPr>
        <p:spPr>
          <a:xfrm>
            <a:off x="2935773" y="4069080"/>
            <a:ext cx="1728765" cy="329184"/>
          </a:xfrm>
          <a:prstGeom prst="roundRect">
            <a:avLst>
              <a:gd name="adj" fmla="val 27778"/>
            </a:avLst>
          </a:prstGeom>
          <a:solidFill>
            <a:srgbClr val="1D2D42"/>
          </a:solidFill>
          <a:ln w="12700">
            <a:solidFill>
              <a:srgbClr val="3DD9EB"/>
            </a:solidFill>
            <a:prstDash val="solid"/>
          </a:ln>
        </p:spPr>
      </p:sp>
      <p:sp>
        <p:nvSpPr>
          <p:cNvPr id="37" name="Text 35"/>
          <p:cNvSpPr/>
          <p:nvPr/>
        </p:nvSpPr>
        <p:spPr>
          <a:xfrm>
            <a:off x="2935773" y="4069080"/>
            <a:ext cx="1728765" cy="329184"/>
          </a:xfrm>
          <a:prstGeom prst="rect">
            <a:avLst/>
          </a:prstGeom>
          <a:noFill/>
          <a:ln/>
        </p:spPr>
        <p:txBody>
          <a:bodyPr wrap="square" lIns="0" tIns="0" rIns="0" bIns="0" rtlCol="0" anchor="ctr"/>
          <a:lstStyle/>
          <a:p>
            <a:pPr marL="0" indent="0" algn="ctr">
              <a:buNone/>
            </a:pPr>
            <a:r>
              <a:rPr lang="en-US" sz="1200" b="1" dirty="0">
                <a:solidFill>
                  <a:srgbClr val="3DD9EB"/>
                </a:solidFill>
                <a:latin typeface="Calibri" pitchFamily="34" charset="0"/>
                <a:ea typeface="Calibri" pitchFamily="34" charset="-122"/>
                <a:cs typeface="Calibri" pitchFamily="34" charset="-120"/>
              </a:rPr>
              <a:t>+593% Jan to Jul</a:t>
            </a:r>
            <a:endParaRPr lang="en-US" sz="1200" dirty="0"/>
          </a:p>
        </p:txBody>
      </p:sp>
      <p:sp>
        <p:nvSpPr>
          <p:cNvPr id="38" name="Text 36"/>
          <p:cNvSpPr/>
          <p:nvPr/>
        </p:nvSpPr>
        <p:spPr>
          <a:xfrm>
            <a:off x="2935773"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Developer seats plus AI credit overage. Billed in full.</a:t>
            </a:r>
            <a:endParaRPr lang="en-US" sz="1200" dirty="0"/>
          </a:p>
        </p:txBody>
      </p:sp>
      <p:sp>
        <p:nvSpPr>
          <p:cNvPr id="39" name="Shape 37"/>
          <p:cNvSpPr/>
          <p:nvPr/>
        </p:nvSpPr>
        <p:spPr>
          <a:xfrm>
            <a:off x="5048585" y="1618488"/>
            <a:ext cx="2094525" cy="3977640"/>
          </a:xfrm>
          <a:prstGeom prst="roundRect">
            <a:avLst>
              <a:gd name="adj" fmla="val 2619"/>
            </a:avLst>
          </a:prstGeom>
          <a:solidFill>
            <a:srgbClr val="121B2D"/>
          </a:solidFill>
          <a:ln w="12700">
            <a:solidFill>
              <a:srgbClr val="23304A"/>
            </a:solidFill>
            <a:prstDash val="solid"/>
          </a:ln>
        </p:spPr>
      </p:sp>
      <p:sp>
        <p:nvSpPr>
          <p:cNvPr id="40" name="Shape 38"/>
          <p:cNvSpPr/>
          <p:nvPr/>
        </p:nvSpPr>
        <p:spPr>
          <a:xfrm>
            <a:off x="5048585" y="1618488"/>
            <a:ext cx="2094525" cy="45720"/>
          </a:xfrm>
          <a:prstGeom prst="rect">
            <a:avLst/>
          </a:prstGeom>
          <a:solidFill>
            <a:srgbClr val="FF9F43"/>
          </a:solidFill>
          <a:ln w="12700">
            <a:solidFill>
              <a:srgbClr val="FF9F43"/>
            </a:solidFill>
            <a:prstDash val="solid"/>
          </a:ln>
        </p:spPr>
      </p:sp>
      <p:sp>
        <p:nvSpPr>
          <p:cNvPr id="41" name="Text 39"/>
          <p:cNvSpPr/>
          <p:nvPr/>
        </p:nvSpPr>
        <p:spPr>
          <a:xfrm>
            <a:off x="5231465"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AWS BEDROCK (CLAUDE)</a:t>
            </a:r>
            <a:endParaRPr lang="en-US" sz="1200" dirty="0"/>
          </a:p>
        </p:txBody>
      </p:sp>
      <p:sp>
        <p:nvSpPr>
          <p:cNvPr id="42" name="Text 40"/>
          <p:cNvSpPr/>
          <p:nvPr/>
        </p:nvSpPr>
        <p:spPr>
          <a:xfrm>
            <a:off x="5231465"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$42,056</a:t>
            </a:r>
            <a:endParaRPr lang="en-US" sz="2800" dirty="0"/>
          </a:p>
        </p:txBody>
      </p:sp>
      <p:sp>
        <p:nvSpPr>
          <p:cNvPr id="43" name="Text 41"/>
          <p:cNvSpPr/>
          <p:nvPr/>
        </p:nvSpPr>
        <p:spPr>
          <a:xfrm>
            <a:off x="5231465" y="2734056"/>
            <a:ext cx="1728765" cy="237744"/>
          </a:xfrm>
          <a:prstGeom prst="rect">
            <a:avLst/>
          </a:prstGeom>
          <a:noFill/>
          <a:ln/>
        </p:spPr>
        <p:txBody>
          <a:bodyPr wrap="square" lIns="0" tIns="0" rIns="0" bIns="0" rtlCol="0" anchor="ctr"/>
          <a:lstStyle/>
          <a:p>
            <a:pPr marL="0" indent="0">
              <a:buNone/>
            </a:pPr>
            <a:r>
              <a:rPr lang="en-US" sz="1200" b="1" dirty="0">
                <a:solidFill>
                  <a:srgbClr val="FF9F43"/>
                </a:solidFill>
                <a:latin typeface="Calibri" pitchFamily="34" charset="0"/>
                <a:ea typeface="Calibri" pitchFamily="34" charset="-122"/>
                <a:cs typeface="Calibri" pitchFamily="34" charset="-120"/>
              </a:rPr>
              <a:t>21.1% of billed AI</a:t>
            </a:r>
            <a:endParaRPr lang="en-US" sz="1200" dirty="0"/>
          </a:p>
        </p:txBody>
      </p:sp>
      <p:sp>
        <p:nvSpPr>
          <p:cNvPr id="44" name="Shape 42"/>
          <p:cNvSpPr/>
          <p:nvPr/>
        </p:nvSpPr>
        <p:spPr>
          <a:xfrm>
            <a:off x="5231465" y="3081528"/>
            <a:ext cx="1728765" cy="9144"/>
          </a:xfrm>
          <a:prstGeom prst="rect">
            <a:avLst/>
          </a:prstGeom>
          <a:solidFill>
            <a:srgbClr val="23304A"/>
          </a:solidFill>
          <a:ln w="12700">
            <a:solidFill>
              <a:srgbClr val="23304A"/>
            </a:solidFill>
            <a:prstDash val="solid"/>
          </a:ln>
        </p:spPr>
      </p:sp>
      <p:sp>
        <p:nvSpPr>
          <p:cNvPr id="45" name="Text 43"/>
          <p:cNvSpPr/>
          <p:nvPr/>
        </p:nvSpPr>
        <p:spPr>
          <a:xfrm>
            <a:off x="5231465"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46" name="Text 44"/>
          <p:cNvSpPr/>
          <p:nvPr/>
        </p:nvSpPr>
        <p:spPr>
          <a:xfrm>
            <a:off x="6095848" y="3209544"/>
            <a:ext cx="864382" cy="274320"/>
          </a:xfrm>
          <a:prstGeom prst="rect">
            <a:avLst/>
          </a:prstGeom>
          <a:noFill/>
          <a:ln/>
        </p:spPr>
        <p:txBody>
          <a:bodyPr wrap="square" lIns="0" tIns="0" rIns="0" bIns="0" rtlCol="0" anchor="ctr"/>
          <a:lstStyle/>
          <a:p>
            <a:pPr marL="0" indent="0" algn="r">
              <a:buNone/>
            </a:pPr>
            <a:r>
              <a:rPr lang="en-US" sz="1300" b="1" dirty="0">
                <a:solidFill>
                  <a:srgbClr val="536078"/>
                </a:solidFill>
                <a:latin typeface="Calibri" pitchFamily="34" charset="0"/>
                <a:ea typeface="Calibri" pitchFamily="34" charset="-122"/>
                <a:cs typeface="Calibri" pitchFamily="34" charset="-120"/>
              </a:rPr>
              <a:t>-</a:t>
            </a:r>
            <a:endParaRPr lang="en-US" sz="1300" dirty="0"/>
          </a:p>
        </p:txBody>
      </p:sp>
      <p:sp>
        <p:nvSpPr>
          <p:cNvPr id="47" name="Text 45"/>
          <p:cNvSpPr/>
          <p:nvPr/>
        </p:nvSpPr>
        <p:spPr>
          <a:xfrm>
            <a:off x="5231465"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48" name="Text 46"/>
          <p:cNvSpPr/>
          <p:nvPr/>
        </p:nvSpPr>
        <p:spPr>
          <a:xfrm>
            <a:off x="6095848"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$25,288</a:t>
            </a:r>
            <a:endParaRPr lang="en-US" sz="1300" dirty="0"/>
          </a:p>
        </p:txBody>
      </p:sp>
      <p:sp>
        <p:nvSpPr>
          <p:cNvPr id="49" name="Shape 47"/>
          <p:cNvSpPr/>
          <p:nvPr/>
        </p:nvSpPr>
        <p:spPr>
          <a:xfrm>
            <a:off x="5231465" y="4069080"/>
            <a:ext cx="1728765" cy="329184"/>
          </a:xfrm>
          <a:prstGeom prst="roundRect">
            <a:avLst>
              <a:gd name="adj" fmla="val 27778"/>
            </a:avLst>
          </a:prstGeom>
          <a:solidFill>
            <a:srgbClr val="1D2D42"/>
          </a:solidFill>
          <a:ln w="12700">
            <a:solidFill>
              <a:srgbClr val="FF9F43"/>
            </a:solidFill>
            <a:prstDash val="solid"/>
          </a:ln>
        </p:spPr>
      </p:sp>
      <p:sp>
        <p:nvSpPr>
          <p:cNvPr id="50" name="Text 48"/>
          <p:cNvSpPr/>
          <p:nvPr/>
        </p:nvSpPr>
        <p:spPr>
          <a:xfrm>
            <a:off x="5231465" y="4069080"/>
            <a:ext cx="1728765" cy="329184"/>
          </a:xfrm>
          <a:prstGeom prst="rect">
            <a:avLst/>
          </a:prstGeom>
          <a:noFill/>
          <a:ln/>
        </p:spPr>
        <p:txBody>
          <a:bodyPr wrap="square" lIns="0" tIns="0" rIns="0" bIns="0" rtlCol="0" anchor="ctr"/>
          <a:lstStyle/>
          <a:p>
            <a:pPr marL="0" indent="0" algn="ctr">
              <a:buNone/>
            </a:pPr>
            <a:r>
              <a:rPr lang="en-US" sz="1200" b="1" dirty="0">
                <a:solidFill>
                  <a:srgbClr val="FF9F43"/>
                </a:solidFill>
                <a:latin typeface="Calibri" pitchFamily="34" charset="0"/>
                <a:ea typeface="Calibri" pitchFamily="34" charset="-122"/>
                <a:cs typeface="Calibri" pitchFamily="34" charset="-120"/>
              </a:rPr>
              <a:t>First billed in Mar</a:t>
            </a:r>
            <a:endParaRPr lang="en-US" sz="1200" dirty="0"/>
          </a:p>
        </p:txBody>
      </p:sp>
      <p:sp>
        <p:nvSpPr>
          <p:cNvPr id="51" name="Text 49"/>
          <p:cNvSpPr/>
          <p:nvPr/>
        </p:nvSpPr>
        <p:spPr>
          <a:xfrm>
            <a:off x="5231465"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Claude models via Claude Code. July gross of the MAP credit.</a:t>
            </a:r>
            <a:endParaRPr lang="en-US" sz="1200" dirty="0"/>
          </a:p>
        </p:txBody>
      </p:sp>
      <p:sp>
        <p:nvSpPr>
          <p:cNvPr id="52" name="Shape 50"/>
          <p:cNvSpPr/>
          <p:nvPr/>
        </p:nvSpPr>
        <p:spPr>
          <a:xfrm>
            <a:off x="7344278" y="1618488"/>
            <a:ext cx="2094525" cy="3977640"/>
          </a:xfrm>
          <a:prstGeom prst="roundRect">
            <a:avLst>
              <a:gd name="adj" fmla="val 2619"/>
            </a:avLst>
          </a:prstGeom>
          <a:solidFill>
            <a:srgbClr val="121B2D"/>
          </a:solidFill>
          <a:ln w="12700">
            <a:solidFill>
              <a:srgbClr val="23304A"/>
            </a:solidFill>
            <a:prstDash val="solid"/>
          </a:ln>
        </p:spPr>
      </p:sp>
      <p:sp>
        <p:nvSpPr>
          <p:cNvPr id="53" name="Shape 51"/>
          <p:cNvSpPr/>
          <p:nvPr/>
        </p:nvSpPr>
        <p:spPr>
          <a:xfrm>
            <a:off x="7344278" y="1618488"/>
            <a:ext cx="2094525" cy="45720"/>
          </a:xfrm>
          <a:prstGeom prst="rect">
            <a:avLst/>
          </a:prstGeom>
          <a:solidFill>
            <a:srgbClr val="B07CFF"/>
          </a:solidFill>
          <a:ln w="12700">
            <a:solidFill>
              <a:srgbClr val="B07CFF"/>
            </a:solidFill>
            <a:prstDash val="solid"/>
          </a:ln>
        </p:spPr>
      </p:sp>
      <p:sp>
        <p:nvSpPr>
          <p:cNvPr id="54" name="Text 52"/>
          <p:cNvSpPr/>
          <p:nvPr/>
        </p:nvSpPr>
        <p:spPr>
          <a:xfrm>
            <a:off x="7527158"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COWORK</a:t>
            </a:r>
            <a:endParaRPr lang="en-US" sz="1200" dirty="0"/>
          </a:p>
        </p:txBody>
      </p:sp>
      <p:sp>
        <p:nvSpPr>
          <p:cNvPr id="55" name="Text 53"/>
          <p:cNvSpPr/>
          <p:nvPr/>
        </p:nvSpPr>
        <p:spPr>
          <a:xfrm>
            <a:off x="7527158"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$9,444</a:t>
            </a:r>
            <a:endParaRPr lang="en-US" sz="2800" dirty="0"/>
          </a:p>
        </p:txBody>
      </p:sp>
      <p:sp>
        <p:nvSpPr>
          <p:cNvPr id="56" name="Text 54"/>
          <p:cNvSpPr/>
          <p:nvPr/>
        </p:nvSpPr>
        <p:spPr>
          <a:xfrm>
            <a:off x="7527158" y="2734056"/>
            <a:ext cx="1728765" cy="237744"/>
          </a:xfrm>
          <a:prstGeom prst="rect">
            <a:avLst/>
          </a:prstGeom>
          <a:noFill/>
          <a:ln/>
        </p:spPr>
        <p:txBody>
          <a:bodyPr wrap="square" lIns="0" tIns="0" rIns="0" bIns="0" rtlCol="0" anchor="ctr"/>
          <a:lstStyle/>
          <a:p>
            <a:pPr marL="0" indent="0">
              <a:buNone/>
            </a:pPr>
            <a:r>
              <a:rPr lang="en-US" sz="1200" b="1" dirty="0">
                <a:solidFill>
                  <a:srgbClr val="B07CFF"/>
                </a:solidFill>
                <a:latin typeface="Calibri" pitchFamily="34" charset="0"/>
                <a:ea typeface="Calibri" pitchFamily="34" charset="-122"/>
                <a:cs typeface="Calibri" pitchFamily="34" charset="-120"/>
              </a:rPr>
              <a:t>4.7% of billed AI</a:t>
            </a:r>
            <a:endParaRPr lang="en-US" sz="1200" dirty="0"/>
          </a:p>
        </p:txBody>
      </p:sp>
      <p:sp>
        <p:nvSpPr>
          <p:cNvPr id="57" name="Shape 55"/>
          <p:cNvSpPr/>
          <p:nvPr/>
        </p:nvSpPr>
        <p:spPr>
          <a:xfrm>
            <a:off x="7527158" y="3081528"/>
            <a:ext cx="1728765" cy="9144"/>
          </a:xfrm>
          <a:prstGeom prst="rect">
            <a:avLst/>
          </a:prstGeom>
          <a:solidFill>
            <a:srgbClr val="23304A"/>
          </a:solidFill>
          <a:ln w="12700">
            <a:solidFill>
              <a:srgbClr val="23304A"/>
            </a:solidFill>
            <a:prstDash val="solid"/>
          </a:ln>
        </p:spPr>
      </p:sp>
      <p:sp>
        <p:nvSpPr>
          <p:cNvPr id="58" name="Text 56"/>
          <p:cNvSpPr/>
          <p:nvPr/>
        </p:nvSpPr>
        <p:spPr>
          <a:xfrm>
            <a:off x="7527158"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59" name="Text 57"/>
          <p:cNvSpPr/>
          <p:nvPr/>
        </p:nvSpPr>
        <p:spPr>
          <a:xfrm>
            <a:off x="8391540"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$97</a:t>
            </a:r>
            <a:endParaRPr lang="en-US" sz="1300" dirty="0"/>
          </a:p>
        </p:txBody>
      </p:sp>
      <p:sp>
        <p:nvSpPr>
          <p:cNvPr id="60" name="Text 58"/>
          <p:cNvSpPr/>
          <p:nvPr/>
        </p:nvSpPr>
        <p:spPr>
          <a:xfrm>
            <a:off x="7527158"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61" name="Text 59"/>
          <p:cNvSpPr/>
          <p:nvPr/>
        </p:nvSpPr>
        <p:spPr>
          <a:xfrm>
            <a:off x="8391540"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$8,920</a:t>
            </a:r>
            <a:endParaRPr lang="en-US" sz="1300" dirty="0"/>
          </a:p>
        </p:txBody>
      </p:sp>
      <p:sp>
        <p:nvSpPr>
          <p:cNvPr id="62" name="Shape 60"/>
          <p:cNvSpPr/>
          <p:nvPr/>
        </p:nvSpPr>
        <p:spPr>
          <a:xfrm>
            <a:off x="7527158" y="4069080"/>
            <a:ext cx="1728765" cy="329184"/>
          </a:xfrm>
          <a:prstGeom prst="roundRect">
            <a:avLst>
              <a:gd name="adj" fmla="val 27778"/>
            </a:avLst>
          </a:prstGeom>
          <a:solidFill>
            <a:srgbClr val="1D2D42"/>
          </a:solidFill>
          <a:ln w="12700">
            <a:solidFill>
              <a:srgbClr val="B07CFF"/>
            </a:solidFill>
            <a:prstDash val="solid"/>
          </a:ln>
        </p:spPr>
      </p:sp>
      <p:sp>
        <p:nvSpPr>
          <p:cNvPr id="63" name="Text 61"/>
          <p:cNvSpPr/>
          <p:nvPr/>
        </p:nvSpPr>
        <p:spPr>
          <a:xfrm>
            <a:off x="7527158" y="4069080"/>
            <a:ext cx="1728765" cy="329184"/>
          </a:xfrm>
          <a:prstGeom prst="rect">
            <a:avLst/>
          </a:prstGeom>
          <a:noFill/>
          <a:ln/>
        </p:spPr>
        <p:txBody>
          <a:bodyPr wrap="square" lIns="0" tIns="0" rIns="0" bIns="0" rtlCol="0" anchor="ctr"/>
          <a:lstStyle/>
          <a:p>
            <a:pPr marL="0" indent="0" algn="ctr">
              <a:buNone/>
            </a:pPr>
            <a:r>
              <a:rPr lang="en-US" sz="1200" b="1" dirty="0">
                <a:solidFill>
                  <a:srgbClr val="B07CFF"/>
                </a:solidFill>
                <a:latin typeface="Calibri" pitchFamily="34" charset="0"/>
                <a:ea typeface="Calibri" pitchFamily="34" charset="-122"/>
                <a:cs typeface="Calibri" pitchFamily="34" charset="-120"/>
              </a:rPr>
              <a:t>$97 to $8,920</a:t>
            </a:r>
            <a:endParaRPr lang="en-US" sz="1200" dirty="0"/>
          </a:p>
        </p:txBody>
      </p:sp>
      <p:sp>
        <p:nvSpPr>
          <p:cNvPr id="64" name="Text 62"/>
          <p:cNvSpPr/>
          <p:nvPr/>
        </p:nvSpPr>
        <p:spPr>
          <a:xfrm>
            <a:off x="7527158"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Pay-as-you-go agent credits, billed through Power Platform.</a:t>
            </a:r>
            <a:endParaRPr lang="en-US" sz="1200" dirty="0"/>
          </a:p>
        </p:txBody>
      </p:sp>
      <p:sp>
        <p:nvSpPr>
          <p:cNvPr id="65" name="Shape 63"/>
          <p:cNvSpPr/>
          <p:nvPr/>
        </p:nvSpPr>
        <p:spPr>
          <a:xfrm>
            <a:off x="9639971" y="1618488"/>
            <a:ext cx="2094525" cy="3977640"/>
          </a:xfrm>
          <a:prstGeom prst="roundRect">
            <a:avLst>
              <a:gd name="adj" fmla="val 2619"/>
            </a:avLst>
          </a:prstGeom>
          <a:solidFill>
            <a:srgbClr val="121B2D"/>
          </a:solidFill>
          <a:ln w="12700">
            <a:solidFill>
              <a:srgbClr val="23304A"/>
            </a:solidFill>
            <a:prstDash val="solid"/>
          </a:ln>
        </p:spPr>
      </p:sp>
      <p:sp>
        <p:nvSpPr>
          <p:cNvPr id="66" name="Shape 64"/>
          <p:cNvSpPr/>
          <p:nvPr/>
        </p:nvSpPr>
        <p:spPr>
          <a:xfrm>
            <a:off x="9639971" y="1618488"/>
            <a:ext cx="2094525" cy="45720"/>
          </a:xfrm>
          <a:prstGeom prst="rect">
            <a:avLst/>
          </a:prstGeom>
          <a:solidFill>
            <a:srgbClr val="3DDC97"/>
          </a:solidFill>
          <a:ln w="12700">
            <a:solidFill>
              <a:srgbClr val="3DDC97"/>
            </a:solidFill>
            <a:prstDash val="solid"/>
          </a:ln>
        </p:spPr>
      </p:sp>
      <p:sp>
        <p:nvSpPr>
          <p:cNvPr id="67" name="Text 65"/>
          <p:cNvSpPr/>
          <p:nvPr/>
        </p:nvSpPr>
        <p:spPr>
          <a:xfrm>
            <a:off x="9822851"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GOOGLE VERTEX AI</a:t>
            </a:r>
            <a:endParaRPr lang="en-US" sz="1200" dirty="0"/>
          </a:p>
        </p:txBody>
      </p:sp>
      <p:sp>
        <p:nvSpPr>
          <p:cNvPr id="68" name="Text 66"/>
          <p:cNvSpPr/>
          <p:nvPr/>
        </p:nvSpPr>
        <p:spPr>
          <a:xfrm>
            <a:off x="9822851"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$3,696</a:t>
            </a:r>
            <a:endParaRPr lang="en-US" sz="2800" dirty="0"/>
          </a:p>
        </p:txBody>
      </p:sp>
      <p:sp>
        <p:nvSpPr>
          <p:cNvPr id="69" name="Text 67"/>
          <p:cNvSpPr/>
          <p:nvPr/>
        </p:nvSpPr>
        <p:spPr>
          <a:xfrm>
            <a:off x="9822851" y="2734056"/>
            <a:ext cx="1728765" cy="237744"/>
          </a:xfrm>
          <a:prstGeom prst="rect">
            <a:avLst/>
          </a:prstGeom>
          <a:noFill/>
          <a:ln/>
        </p:spPr>
        <p:txBody>
          <a:bodyPr wrap="square" lIns="0" tIns="0" rIns="0" bIns="0" rtlCol="0" anchor="ctr"/>
          <a:lstStyle/>
          <a:p>
            <a:pPr marL="0" indent="0">
              <a:buNone/>
            </a:pPr>
            <a:r>
              <a:rPr lang="en-US" sz="1200" b="1" dirty="0">
                <a:solidFill>
                  <a:srgbClr val="3DDC97"/>
                </a:solidFill>
                <a:latin typeface="Calibri" pitchFamily="34" charset="0"/>
                <a:ea typeface="Calibri" pitchFamily="34" charset="-122"/>
                <a:cs typeface="Calibri" pitchFamily="34" charset="-120"/>
              </a:rPr>
              <a:t>1.9% of billed AI</a:t>
            </a:r>
            <a:endParaRPr lang="en-US" sz="1200" dirty="0"/>
          </a:p>
        </p:txBody>
      </p:sp>
      <p:sp>
        <p:nvSpPr>
          <p:cNvPr id="70" name="Shape 68"/>
          <p:cNvSpPr/>
          <p:nvPr/>
        </p:nvSpPr>
        <p:spPr>
          <a:xfrm>
            <a:off x="9822851" y="3081528"/>
            <a:ext cx="1728765" cy="9144"/>
          </a:xfrm>
          <a:prstGeom prst="rect">
            <a:avLst/>
          </a:prstGeom>
          <a:solidFill>
            <a:srgbClr val="23304A"/>
          </a:solidFill>
          <a:ln w="12700">
            <a:solidFill>
              <a:srgbClr val="23304A"/>
            </a:solidFill>
            <a:prstDash val="solid"/>
          </a:ln>
        </p:spPr>
      </p:sp>
      <p:sp>
        <p:nvSpPr>
          <p:cNvPr id="71" name="Text 69"/>
          <p:cNvSpPr/>
          <p:nvPr/>
        </p:nvSpPr>
        <p:spPr>
          <a:xfrm>
            <a:off x="9822851"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72" name="Text 70"/>
          <p:cNvSpPr/>
          <p:nvPr/>
        </p:nvSpPr>
        <p:spPr>
          <a:xfrm>
            <a:off x="10687233" y="3209544"/>
            <a:ext cx="864382" cy="274320"/>
          </a:xfrm>
          <a:prstGeom prst="rect">
            <a:avLst/>
          </a:prstGeom>
          <a:noFill/>
          <a:ln/>
        </p:spPr>
        <p:txBody>
          <a:bodyPr wrap="square" lIns="0" tIns="0" rIns="0" bIns="0" rtlCol="0" anchor="ctr"/>
          <a:lstStyle/>
          <a:p>
            <a:pPr marL="0" indent="0" algn="r">
              <a:buNone/>
            </a:pPr>
            <a:r>
              <a:rPr lang="en-US" sz="1300" b="1" dirty="0">
                <a:solidFill>
                  <a:srgbClr val="536078"/>
                </a:solidFill>
                <a:latin typeface="Calibri" pitchFamily="34" charset="0"/>
                <a:ea typeface="Calibri" pitchFamily="34" charset="-122"/>
                <a:cs typeface="Calibri" pitchFamily="34" charset="-120"/>
              </a:rPr>
              <a:t>-</a:t>
            </a:r>
            <a:endParaRPr lang="en-US" sz="1300" dirty="0"/>
          </a:p>
        </p:txBody>
      </p:sp>
      <p:sp>
        <p:nvSpPr>
          <p:cNvPr id="73" name="Text 71"/>
          <p:cNvSpPr/>
          <p:nvPr/>
        </p:nvSpPr>
        <p:spPr>
          <a:xfrm>
            <a:off x="9822851"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74" name="Text 72"/>
          <p:cNvSpPr/>
          <p:nvPr/>
        </p:nvSpPr>
        <p:spPr>
          <a:xfrm>
            <a:off x="10687233"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$2,359</a:t>
            </a:r>
            <a:endParaRPr lang="en-US" sz="1300" dirty="0"/>
          </a:p>
        </p:txBody>
      </p:sp>
      <p:sp>
        <p:nvSpPr>
          <p:cNvPr id="75" name="Shape 73"/>
          <p:cNvSpPr/>
          <p:nvPr/>
        </p:nvSpPr>
        <p:spPr>
          <a:xfrm>
            <a:off x="9822851" y="4069080"/>
            <a:ext cx="1728765" cy="329184"/>
          </a:xfrm>
          <a:prstGeom prst="roundRect">
            <a:avLst>
              <a:gd name="adj" fmla="val 27778"/>
            </a:avLst>
          </a:prstGeom>
          <a:solidFill>
            <a:srgbClr val="1D2D42"/>
          </a:solidFill>
          <a:ln w="12700">
            <a:solidFill>
              <a:srgbClr val="3DDC97"/>
            </a:solidFill>
            <a:prstDash val="solid"/>
          </a:ln>
        </p:spPr>
      </p:sp>
      <p:sp>
        <p:nvSpPr>
          <p:cNvPr id="76" name="Text 74"/>
          <p:cNvSpPr/>
          <p:nvPr/>
        </p:nvSpPr>
        <p:spPr>
          <a:xfrm>
            <a:off x="9822851" y="4069080"/>
            <a:ext cx="1728765" cy="329184"/>
          </a:xfrm>
          <a:prstGeom prst="rect">
            <a:avLst/>
          </a:prstGeom>
          <a:noFill/>
          <a:ln/>
        </p:spPr>
        <p:txBody>
          <a:bodyPr wrap="square" lIns="0" tIns="0" rIns="0" bIns="0" rtlCol="0" anchor="ctr"/>
          <a:lstStyle/>
          <a:p>
            <a:pPr marL="0" indent="0" algn="ctr">
              <a:buNone/>
            </a:pPr>
            <a:r>
              <a:rPr lang="en-US" sz="1200" b="1" dirty="0">
                <a:solidFill>
                  <a:srgbClr val="3DDC97"/>
                </a:solidFill>
                <a:latin typeface="Calibri" pitchFamily="34" charset="0"/>
                <a:ea typeface="Calibri" pitchFamily="34" charset="-122"/>
                <a:cs typeface="Calibri" pitchFamily="34" charset="-120"/>
              </a:rPr>
              <a:t>First billed in May</a:t>
            </a:r>
            <a:endParaRPr lang="en-US" sz="1200" dirty="0"/>
          </a:p>
        </p:txBody>
      </p:sp>
      <p:sp>
        <p:nvSpPr>
          <p:cNvPr id="77" name="Text 75"/>
          <p:cNvSpPr/>
          <p:nvPr/>
        </p:nvSpPr>
        <p:spPr>
          <a:xfrm>
            <a:off x="9822851"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Gemini prediction tokens on the shared GCP projects.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E0A030"/>
                </a:solidFill>
                <a:latin typeface="Calibri" pitchFamily="34" charset="0"/>
                <a:ea typeface="Calibri" pitchFamily="34" charset="-122"/>
                <a:cs typeface="Calibri" pitchFamily="34" charset="-120"/>
              </a:rPr>
              <a:t>AZURE / AIFACTORY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154" b="1" dirty="0">
                <a:solidFill>
                  <a:srgbClr val="F4F7FB"/>
                </a:solidFill>
                <a:latin typeface="Calibri" pitchFamily="34" charset="0"/>
                <a:ea typeface="Calibri" pitchFamily="34" charset="-122"/>
                <a:cs typeface="Calibri" pitchFamily="34" charset="-120"/>
              </a:rPr>
              <a:t>Inside AIFactory: infrastructure vs. AI</a:t>
            </a:r>
            <a:endParaRPr lang="en-US" sz="2154"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May-Jul invoiced, the only window with meter-level detail.</a:t>
            </a: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API Management alone is $17,311, or 27.2% of the tag, more than the models it fronts. Inference has to run somewhere, so this is not automatically wrong; it is the part of the AI bill that right-sizing can actually move, and nobody is looking at it. The subscriptions actually named "AI Factory" total just $4,279. The tag is what counts here, not the subscription name.</a:t>
            </a:r>
            <a:endParaRPr lang="en-US" sz="1200" dirty="0"/>
          </a:p>
        </p:txBody>
      </p:sp>
      <p:sp>
        <p:nvSpPr>
          <p:cNvPr id="8" name="Text 6"/>
          <p:cNvSpPr/>
          <p:nvPr/>
        </p:nvSpPr>
        <p:spPr>
          <a:xfrm>
            <a:off x="457200" y="1234440"/>
            <a:ext cx="754380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Every meter billed under the tag</a:t>
            </a:r>
            <a:endParaRPr lang="en-US" sz="1500" dirty="0"/>
          </a:p>
        </p:txBody>
      </p:sp>
      <p:sp>
        <p:nvSpPr>
          <p:cNvPr id="9" name="Text 7"/>
          <p:cNvSpPr/>
          <p:nvPr/>
        </p:nvSpPr>
        <p:spPr>
          <a:xfrm>
            <a:off x="457200" y="1508760"/>
            <a:ext cx="754380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Three-month totals, with the month-by-month split and each meter's share of the tag</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7543800" cy="4096512"/>
        </p:xfrm>
        <a:graphic>
          <a:graphicData uri="http://schemas.openxmlformats.org/drawingml/2006/table">
            <a:tbl>
              <a:tblPr/>
              <a:tblGrid>
                <a:gridCol w="2514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777240">
                  <a:extLst>
                    <a:ext uri="{9D8B030D-6E8A-4147-A177-3AD203B41FA5}">
                      <a16:colId xmlns:a16="http://schemas.microsoft.com/office/drawing/2014/main" val="20006"/>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Meter category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Kind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May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Jun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Jul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3-month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API Management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$5,694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$5,514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$6,103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$17,311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27.2%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Foundry Models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2F8CFF"/>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$1,183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$9,683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$5,641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$16,507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26.0%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Virtual Machines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$2,887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$4,557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$4,865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$12,309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Azure Cognitive Search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2F8CFF"/>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$1,166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$1,582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$1,825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$4,573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Microsoft Defender for Cloud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$1,574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$1,166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$3,141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Azure Database for PostgreSQL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$1,069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$2,961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Virtual Network</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$330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$543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$1,391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Foundry Tools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2F8CFF"/>
                          </a:solidFill>
                          <a:latin typeface="Calibri" pitchFamily="34" charset="0"/>
                          <a:ea typeface="Calibri" pitchFamily="34" charset="-122"/>
                          <a:cs typeface="Calibri" pitchFamily="34" charset="-120"/>
                        </a:rPr>
                        <a:t>AI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$480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$1,293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8"/>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Redis Cache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$379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$1,206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9"/>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Storage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E0A030"/>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$307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$368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1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10 smaller meters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$476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$620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$701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$1,797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1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Infrastructure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$11,212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$14,599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$15,425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$41,236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E0A030"/>
                          </a:solidFill>
                          <a:latin typeface="Calibri" pitchFamily="34" charset="0"/>
                          <a:ea typeface="Calibri" pitchFamily="34" charset="-122"/>
                          <a:cs typeface="Calibri" pitchFamily="34" charset="-120"/>
                        </a:rPr>
                        <a:t>64.8%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1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AI meters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536078"/>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$2,444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$11,745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$8,184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$22,373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2F8CFF"/>
                          </a:solidFill>
                          <a:latin typeface="Calibri" pitchFamily="34" charset="0"/>
                          <a:ea typeface="Calibri" pitchFamily="34" charset="-122"/>
                          <a:cs typeface="Calibri" pitchFamily="34" charset="-120"/>
                        </a:rPr>
                        <a:t>35.2%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13"/>
                  </a:ext>
                </a:extLst>
              </a:tr>
            </a:tbl>
          </a:graphicData>
        </a:graphic>
      </p:graphicFrame>
      <p:sp>
        <p:nvSpPr>
          <p:cNvPr id="11" name="Shape 8"/>
          <p:cNvSpPr/>
          <p:nvPr/>
        </p:nvSpPr>
        <p:spPr>
          <a:xfrm>
            <a:off x="8366760" y="1234440"/>
            <a:ext cx="3367735" cy="1097280"/>
          </a:xfrm>
          <a:prstGeom prst="roundRect">
            <a:avLst>
              <a:gd name="adj" fmla="val 5000"/>
            </a:avLst>
          </a:prstGeom>
          <a:solidFill>
            <a:srgbClr val="121B2D"/>
          </a:solidFill>
          <a:ln w="12700">
            <a:solidFill>
              <a:srgbClr val="23304A"/>
            </a:solidFill>
            <a:prstDash val="solid"/>
          </a:ln>
        </p:spPr>
      </p:sp>
      <p:sp>
        <p:nvSpPr>
          <p:cNvPr id="12" name="Text 9"/>
          <p:cNvSpPr/>
          <p:nvPr/>
        </p:nvSpPr>
        <p:spPr>
          <a:xfrm>
            <a:off x="8567928" y="1325880"/>
            <a:ext cx="296539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NOT AI METERS</a:t>
            </a:r>
            <a:endParaRPr lang="en-US" sz="1200" dirty="0"/>
          </a:p>
        </p:txBody>
      </p:sp>
      <p:sp>
        <p:nvSpPr>
          <p:cNvPr id="13" name="Text 10"/>
          <p:cNvSpPr/>
          <p:nvPr/>
        </p:nvSpPr>
        <p:spPr>
          <a:xfrm>
            <a:off x="8567928" y="1527048"/>
            <a:ext cx="296539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64.8%</a:t>
            </a:r>
            <a:endParaRPr lang="en-US" sz="2800" dirty="0"/>
          </a:p>
        </p:txBody>
      </p:sp>
      <p:sp>
        <p:nvSpPr>
          <p:cNvPr id="14" name="Text 11"/>
          <p:cNvSpPr/>
          <p:nvPr/>
        </p:nvSpPr>
        <p:spPr>
          <a:xfrm>
            <a:off x="8567928" y="1929384"/>
            <a:ext cx="296539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of the AIFactory tag is infrastructure</a:t>
            </a:r>
            <a:endParaRPr lang="en-US" sz="1200" dirty="0"/>
          </a:p>
        </p:txBody>
      </p:sp>
      <p:sp>
        <p:nvSpPr>
          <p:cNvPr id="15" name="Shape 12"/>
          <p:cNvSpPr/>
          <p:nvPr/>
        </p:nvSpPr>
        <p:spPr>
          <a:xfrm>
            <a:off x="8366760" y="2459736"/>
            <a:ext cx="3367735" cy="1097280"/>
          </a:xfrm>
          <a:prstGeom prst="roundRect">
            <a:avLst>
              <a:gd name="adj" fmla="val 5000"/>
            </a:avLst>
          </a:prstGeom>
          <a:solidFill>
            <a:srgbClr val="121B2D"/>
          </a:solidFill>
          <a:ln w="12700">
            <a:solidFill>
              <a:srgbClr val="23304A"/>
            </a:solidFill>
            <a:prstDash val="solid"/>
          </a:ln>
        </p:spPr>
      </p:sp>
      <p:sp>
        <p:nvSpPr>
          <p:cNvPr id="16" name="Text 13"/>
          <p:cNvSpPr/>
          <p:nvPr/>
        </p:nvSpPr>
        <p:spPr>
          <a:xfrm>
            <a:off x="8567928" y="2551176"/>
            <a:ext cx="296539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SINGLE LINE</a:t>
            </a:r>
            <a:endParaRPr lang="en-US" sz="1200" dirty="0"/>
          </a:p>
        </p:txBody>
      </p:sp>
      <p:sp>
        <p:nvSpPr>
          <p:cNvPr id="17" name="Text 14"/>
          <p:cNvSpPr/>
          <p:nvPr/>
        </p:nvSpPr>
        <p:spPr>
          <a:xfrm>
            <a:off x="8567928" y="2752344"/>
            <a:ext cx="296539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$17,311</a:t>
            </a:r>
            <a:endParaRPr lang="en-US" sz="2800" dirty="0"/>
          </a:p>
        </p:txBody>
      </p:sp>
      <p:sp>
        <p:nvSpPr>
          <p:cNvPr id="18" name="Text 15"/>
          <p:cNvSpPr/>
          <p:nvPr/>
        </p:nvSpPr>
        <p:spPr>
          <a:xfrm>
            <a:off x="8567928" y="3154680"/>
            <a:ext cx="296539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API Management, ahead of the models it fronts</a:t>
            </a:r>
            <a:endParaRPr lang="en-US" sz="1200" dirty="0"/>
          </a:p>
        </p:txBody>
      </p:sp>
      <p:sp>
        <p:nvSpPr>
          <p:cNvPr id="19" name="Shape 16"/>
          <p:cNvSpPr/>
          <p:nvPr/>
        </p:nvSpPr>
        <p:spPr>
          <a:xfrm>
            <a:off x="8366760" y="3685032"/>
            <a:ext cx="3367735" cy="1097280"/>
          </a:xfrm>
          <a:prstGeom prst="roundRect">
            <a:avLst>
              <a:gd name="adj" fmla="val 5000"/>
            </a:avLst>
          </a:prstGeom>
          <a:solidFill>
            <a:srgbClr val="121B2D"/>
          </a:solidFill>
          <a:ln w="12700">
            <a:solidFill>
              <a:srgbClr val="23304A"/>
            </a:solidFill>
            <a:prstDash val="solid"/>
          </a:ln>
        </p:spPr>
      </p:sp>
      <p:sp>
        <p:nvSpPr>
          <p:cNvPr id="20" name="Text 17"/>
          <p:cNvSpPr/>
          <p:nvPr/>
        </p:nvSpPr>
        <p:spPr>
          <a:xfrm>
            <a:off x="8567928" y="3776472"/>
            <a:ext cx="296539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AI METERS</a:t>
            </a:r>
            <a:endParaRPr lang="en-US" sz="1200" dirty="0"/>
          </a:p>
        </p:txBody>
      </p:sp>
      <p:sp>
        <p:nvSpPr>
          <p:cNvPr id="21" name="Text 18"/>
          <p:cNvSpPr/>
          <p:nvPr/>
        </p:nvSpPr>
        <p:spPr>
          <a:xfrm>
            <a:off x="8567928" y="3977640"/>
            <a:ext cx="296539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$22,373</a:t>
            </a:r>
            <a:endParaRPr lang="en-US" sz="2800" dirty="0"/>
          </a:p>
        </p:txBody>
      </p:sp>
      <p:sp>
        <p:nvSpPr>
          <p:cNvPr id="22" name="Text 19"/>
          <p:cNvSpPr/>
          <p:nvPr/>
        </p:nvSpPr>
        <p:spPr>
          <a:xfrm>
            <a:off x="8567928" y="4379976"/>
            <a:ext cx="296539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35.2% of the tag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AI FACTORY / PROJECTS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project</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Four projects make up the AI Factory programme. AIFactory itself is more than half of it.</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Spend roughly quadruples between January and July. June and July are flat against each other, the first month the programme has not grown.</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project</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$166K</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+489%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PROJECT</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Aifactory</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56% of the total</a:t>
            </a:r>
            <a:endParaRPr lang="en-US" sz="1200" dirty="0"/>
          </a:p>
        </p:txBody>
      </p:sp>
    </p:spTree>
    <p:extLst>
      <p:ext uri="{BB962C8B-B14F-4D97-AF65-F5344CB8AC3E}">
        <p14:creationId xmlns:p14="http://schemas.microsoft.com/office/powerpoint/2010/main" val="657241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AI FACTORY / CORE PROJECT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AI Factory project</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tag covers far more than models. API Management and VMs are the two largest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Most of what is tagged AI Factory is infrastructure rather than inference. That is not automatically wrong, since models need somewhere to run, but it is the part right-sizing can move.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$92K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+2664%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API Management</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26%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FOUNDRY MODELS</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$24K</a:t>
            </a:r>
            <a:endParaRPr lang="en-US" sz="2800"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the actual model spend</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90319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AI FACTORY / MODELS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Foundry models and tools</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Consumption by model and meter. This is the closest view of what the models themselves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GPT-5.4 input and output become the dominant meters from June. Document intelligence page meters (S0 Custom / Pre-built / Add-on) are the steady base underneath them.</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model and meter</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$87K</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+240%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METER</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787" b="1" dirty="0">
                <a:solidFill>
                  <a:srgbClr val="F4F7FB"/>
                </a:solidFill>
                <a:latin typeface="Calibri" pitchFamily="34" charset="0"/>
                <a:ea typeface="Calibri" pitchFamily="34" charset="-122"/>
                <a:cs typeface="Calibri" pitchFamily="34" charset="-120"/>
              </a:rPr>
              <a:t>S0 Custom Pages</a:t>
            </a:r>
            <a:endParaRPr lang="en-US" sz="2787"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22% of the total</a:t>
            </a:r>
            <a:endParaRPr lang="en-US" sz="1200" dirty="0"/>
          </a:p>
        </p:txBody>
      </p:sp>
    </p:spTree>
    <p:extLst>
      <p:ext uri="{BB962C8B-B14F-4D97-AF65-F5344CB8AC3E}">
        <p14:creationId xmlns:p14="http://schemas.microsoft.com/office/powerpoint/2010/main" val="227792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BEDROCK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Bedrock service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Claude models consumed through Bedrock by the engineering teams, billed as Marketplace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Opus-class models are the overwhelming majority of Bedrock spend. Model mix changes month to month, with Opus 5 appearing in July, which is exactly what a model policy is for.</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model</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MAR-JUL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$42K</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+2907% Mar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MODEL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787" b="1" dirty="0">
                <a:solidFill>
                  <a:srgbClr val="F4F7FB"/>
                </a:solidFill>
                <a:latin typeface="Calibri" pitchFamily="34" charset="0"/>
                <a:ea typeface="Calibri" pitchFamily="34" charset="-122"/>
                <a:cs typeface="Calibri" pitchFamily="34" charset="-120"/>
              </a:rPr>
              <a:t>Claude Opus 4.6</a:t>
            </a:r>
            <a:endParaRPr lang="en-US" sz="2787"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42% of the total</a:t>
            </a:r>
            <a:endParaRPr lang="en-US" sz="1200" dirty="0"/>
          </a:p>
        </p:txBody>
      </p:sp>
    </p:spTree>
    <p:extLst>
      <p:ext uri="{BB962C8B-B14F-4D97-AF65-F5344CB8AC3E}">
        <p14:creationId xmlns:p14="http://schemas.microsoft.com/office/powerpoint/2010/main" val="286079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endParaRPr lang="en-US" sz="24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Shape 6"/>
          <p:cNvSpPr/>
          <p:nvPr/>
        </p:nvSpPr>
        <p:spPr>
          <a:xfrm>
            <a:off x="457200" y="1234440"/>
            <a:ext cx="3423818" cy="1188720"/>
          </a:xfrm>
          <a:prstGeom prst="roundRect">
            <a:avLst>
              <a:gd name="adj" fmla="val 4615"/>
            </a:avLst>
          </a:prstGeom>
          <a:solidFill>
            <a:srgbClr val="121B2D"/>
          </a:solidFill>
          <a:ln w="12700">
            <a:solidFill>
              <a:srgbClr val="F4F7FB"/>
            </a:solidFill>
            <a:prstDash val="solid"/>
          </a:ln>
        </p:spPr>
        <p:txBody>
          <a:bodyPr/>
          <a:lstStyle/>
          <a:p>
            <a:endParaRPr lang="he-IL" dirty="0"/>
          </a:p>
        </p:txBody>
      </p:sp>
      <p:sp>
        <p:nvSpPr>
          <p:cNvPr id="9" name="Text 7"/>
          <p:cNvSpPr/>
          <p:nvPr/>
        </p:nvSpPr>
        <p:spPr>
          <a:xfrm>
            <a:off x="658368"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REGULAR AWS USAGE, JULY</a:t>
            </a:r>
            <a:endParaRPr lang="en-US" sz="1200" dirty="0"/>
          </a:p>
        </p:txBody>
      </p:sp>
      <p:sp>
        <p:nvSpPr>
          <p:cNvPr id="10" name="Text 8"/>
          <p:cNvSpPr/>
          <p:nvPr/>
        </p:nvSpPr>
        <p:spPr>
          <a:xfrm>
            <a:off x="658368" y="1655064"/>
            <a:ext cx="3021482" cy="457200"/>
          </a:xfrm>
          <a:prstGeom prst="rect">
            <a:avLst/>
          </a:prstGeom>
          <a:noFill/>
          <a:ln/>
        </p:spPr>
        <p:txBody>
          <a:bodyPr wrap="square" lIns="0" tIns="0" rIns="0" bIns="0" rtlCol="0" anchor="ctr"/>
          <a:lstStyle/>
          <a:p>
            <a:pPr marL="0" indent="0">
              <a:buNone/>
            </a:pPr>
            <a:r>
              <a:rPr lang="en-US" sz="3000" b="1" dirty="0">
                <a:solidFill>
                  <a:srgbClr val="F4F7FB"/>
                </a:solidFill>
                <a:latin typeface="Calibri" pitchFamily="34" charset="0"/>
                <a:ea typeface="Calibri" pitchFamily="34" charset="-122"/>
                <a:cs typeface="Calibri" pitchFamily="34" charset="-120"/>
              </a:rPr>
              <a:t>$92,930</a:t>
            </a:r>
            <a:endParaRPr lang="en-US" sz="3000" dirty="0"/>
          </a:p>
        </p:txBody>
      </p:sp>
      <p:sp>
        <p:nvSpPr>
          <p:cNvPr id="11" name="Text 9"/>
          <p:cNvSpPr/>
          <p:nvPr/>
        </p:nvSpPr>
        <p:spPr>
          <a:xfrm>
            <a:off x="658368"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service usage as metered</a:t>
            </a:r>
            <a:endParaRPr lang="en-US" sz="1200" dirty="0"/>
          </a:p>
        </p:txBody>
      </p:sp>
      <p:sp>
        <p:nvSpPr>
          <p:cNvPr id="12" name="Shape 10"/>
          <p:cNvSpPr/>
          <p:nvPr/>
        </p:nvSpPr>
        <p:spPr>
          <a:xfrm>
            <a:off x="4383938" y="1234440"/>
            <a:ext cx="3423818" cy="1188720"/>
          </a:xfrm>
          <a:prstGeom prst="roundRect">
            <a:avLst>
              <a:gd name="adj" fmla="val 4615"/>
            </a:avLst>
          </a:prstGeom>
          <a:solidFill>
            <a:srgbClr val="121B2D"/>
          </a:solidFill>
          <a:ln w="12700">
            <a:solidFill>
              <a:srgbClr val="FF9F43"/>
            </a:solidFill>
            <a:prstDash val="solid"/>
          </a:ln>
        </p:spPr>
        <p:txBody>
          <a:bodyPr/>
          <a:lstStyle/>
          <a:p>
            <a:endParaRPr lang="he-IL" dirty="0"/>
          </a:p>
        </p:txBody>
      </p:sp>
      <p:sp>
        <p:nvSpPr>
          <p:cNvPr id="13" name="Text 11"/>
          <p:cNvSpPr/>
          <p:nvPr/>
        </p:nvSpPr>
        <p:spPr>
          <a:xfrm>
            <a:off x="4585106"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CREDIT APPLIED</a:t>
            </a:r>
            <a:endParaRPr lang="en-US" sz="1200" dirty="0"/>
          </a:p>
        </p:txBody>
      </p:sp>
      <p:sp>
        <p:nvSpPr>
          <p:cNvPr id="14" name="Text 12"/>
          <p:cNvSpPr/>
          <p:nvPr/>
        </p:nvSpPr>
        <p:spPr>
          <a:xfrm>
            <a:off x="4585106" y="1655064"/>
            <a:ext cx="3021482" cy="457200"/>
          </a:xfrm>
          <a:prstGeom prst="rect">
            <a:avLst/>
          </a:prstGeom>
          <a:noFill/>
          <a:ln/>
        </p:spPr>
        <p:txBody>
          <a:bodyPr wrap="square" lIns="0" tIns="0" rIns="0" bIns="0" rtlCol="0" anchor="ctr"/>
          <a:lstStyle/>
          <a:p>
            <a:pPr marL="0" indent="0">
              <a:buNone/>
            </a:pPr>
            <a:r>
              <a:rPr lang="en-US" sz="3000" b="1" dirty="0">
                <a:solidFill>
                  <a:srgbClr val="FF9F43"/>
                </a:solidFill>
                <a:latin typeface="Calibri" pitchFamily="34" charset="0"/>
                <a:ea typeface="Calibri" pitchFamily="34" charset="-122"/>
                <a:cs typeface="Calibri" pitchFamily="34" charset="-120"/>
              </a:rPr>
              <a:t>$16,100</a:t>
            </a:r>
            <a:endParaRPr lang="en-US" sz="3000" dirty="0"/>
          </a:p>
        </p:txBody>
      </p:sp>
      <p:sp>
        <p:nvSpPr>
          <p:cNvPr id="15" name="Text 13"/>
          <p:cNvSpPr/>
          <p:nvPr/>
        </p:nvSpPr>
        <p:spPr>
          <a:xfrm>
            <a:off x="4585106"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MAP contract credit, ai-factory-dev</a:t>
            </a:r>
            <a:endParaRPr lang="en-US" sz="1200" dirty="0"/>
          </a:p>
        </p:txBody>
      </p:sp>
      <p:sp>
        <p:nvSpPr>
          <p:cNvPr id="16" name="Text 14"/>
          <p:cNvSpPr/>
          <p:nvPr/>
        </p:nvSpPr>
        <p:spPr>
          <a:xfrm>
            <a:off x="3881018" y="1600200"/>
            <a:ext cx="502920" cy="457200"/>
          </a:xfrm>
          <a:prstGeom prst="rect">
            <a:avLst/>
          </a:prstGeom>
          <a:noFill/>
          <a:ln/>
        </p:spPr>
        <p:txBody>
          <a:bodyPr wrap="square" lIns="0" tIns="0" rIns="0" bIns="0" rtlCol="0" anchor="ctr"/>
          <a:lstStyle/>
          <a:p>
            <a:pPr marL="0" indent="0" algn="ctr">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8310677" y="1234440"/>
            <a:ext cx="3423818" cy="1188720"/>
          </a:xfrm>
          <a:prstGeom prst="roundRect">
            <a:avLst>
              <a:gd name="adj" fmla="val 4615"/>
            </a:avLst>
          </a:prstGeom>
          <a:solidFill>
            <a:srgbClr val="121B2D"/>
          </a:solidFill>
          <a:ln w="12700">
            <a:solidFill>
              <a:srgbClr val="3DDC97"/>
            </a:solidFill>
            <a:prstDash val="solid"/>
          </a:ln>
        </p:spPr>
        <p:txBody>
          <a:bodyPr/>
          <a:lstStyle/>
          <a:p>
            <a:endParaRPr lang="he-IL" dirty="0"/>
          </a:p>
        </p:txBody>
      </p:sp>
      <p:sp>
        <p:nvSpPr>
          <p:cNvPr id="18" name="Text 16"/>
          <p:cNvSpPr/>
          <p:nvPr/>
        </p:nvSpPr>
        <p:spPr>
          <a:xfrm>
            <a:off x="8511845"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INVOICED BY COMM-IT</a:t>
            </a:r>
            <a:endParaRPr lang="en-US" sz="1200" dirty="0"/>
          </a:p>
        </p:txBody>
      </p:sp>
      <p:sp>
        <p:nvSpPr>
          <p:cNvPr id="19" name="Text 17"/>
          <p:cNvSpPr/>
          <p:nvPr/>
        </p:nvSpPr>
        <p:spPr>
          <a:xfrm>
            <a:off x="8511845" y="1655064"/>
            <a:ext cx="3021482" cy="457200"/>
          </a:xfrm>
          <a:prstGeom prst="rect">
            <a:avLst/>
          </a:prstGeom>
          <a:noFill/>
          <a:ln/>
        </p:spPr>
        <p:txBody>
          <a:bodyPr wrap="square" lIns="0" tIns="0" rIns="0" bIns="0" rtlCol="0" anchor="ctr"/>
          <a:lstStyle/>
          <a:p>
            <a:pPr marL="0" indent="0">
              <a:buNone/>
            </a:pPr>
            <a:r>
              <a:rPr lang="en-US" sz="3000" b="1" dirty="0">
                <a:solidFill>
                  <a:srgbClr val="3DDC97"/>
                </a:solidFill>
                <a:latin typeface="Calibri" pitchFamily="34" charset="0"/>
                <a:ea typeface="Calibri" pitchFamily="34" charset="-122"/>
                <a:cs typeface="Calibri" pitchFamily="34" charset="-120"/>
              </a:rPr>
              <a:t>$76,830</a:t>
            </a:r>
            <a:endParaRPr lang="en-US" sz="3000" dirty="0"/>
          </a:p>
        </p:txBody>
      </p:sp>
      <p:sp>
        <p:nvSpPr>
          <p:cNvPr id="20" name="Text 18"/>
          <p:cNvSpPr/>
          <p:nvPr/>
        </p:nvSpPr>
        <p:spPr>
          <a:xfrm>
            <a:off x="8511845"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what we actually paid</a:t>
            </a:r>
            <a:endParaRPr lang="en-US" sz="1200" dirty="0"/>
          </a:p>
        </p:txBody>
      </p:sp>
      <p:sp>
        <p:nvSpPr>
          <p:cNvPr id="21" name="Text 19"/>
          <p:cNvSpPr/>
          <p:nvPr/>
        </p:nvSpPr>
        <p:spPr>
          <a:xfrm>
            <a:off x="7807757" y="1600200"/>
            <a:ext cx="502920" cy="457200"/>
          </a:xfrm>
          <a:prstGeom prst="rect">
            <a:avLst/>
          </a:prstGeom>
          <a:noFill/>
          <a:ln/>
        </p:spPr>
        <p:txBody>
          <a:bodyPr wrap="square" lIns="0" tIns="0" rIns="0" bIns="0" rtlCol="0" anchor="ctr"/>
          <a:lstStyle/>
          <a:p>
            <a:pPr marL="0" indent="0" algn="ctr">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57200" y="2834640"/>
            <a:ext cx="11277295"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Where the $16,100.27 sits: July Bedrock consumption, two sources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145536"/>
          <a:ext cx="11274552" cy="1586992"/>
        </p:xfrm>
        <a:graphic>
          <a:graphicData uri="http://schemas.openxmlformats.org/drawingml/2006/table">
            <a:tbl>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770632">
                  <a:extLst>
                    <a:ext uri="{9D8B030D-6E8A-4147-A177-3AD203B41FA5}">
                      <a16:colId xmlns:a16="http://schemas.microsoft.com/office/drawing/2014/main" val="20004"/>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Claude model, July 2026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Operational data (gross)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v33 CIO deck (net)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Difference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9F43"/>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entire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$9,873.22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$5,134.81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F9F43"/>
                          </a:solidFill>
                          <a:latin typeface="Calibri" pitchFamily="34" charset="0"/>
                          <a:ea typeface="Calibri" pitchFamily="34" charset="-122"/>
                          <a:cs typeface="Calibri" pitchFamily="34" charset="-120"/>
                        </a:rPr>
                        <a:t>$4,738.41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part of the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Opus 4.7, Opus 5, Sonnet 4.6, Haiku 4.5, Sonnet 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identical in both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$25,288.33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$9,188.06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3DDC97"/>
                          </a:solidFill>
                          <a:latin typeface="Calibri" pitchFamily="34" charset="0"/>
                          <a:ea typeface="Calibri" pitchFamily="34" charset="-122"/>
                          <a:cs typeface="Calibri" pitchFamily="34" charset="-120"/>
                        </a:rPr>
                        <a:t>$16,100.27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3DDC97"/>
                          </a:solidFill>
                          <a:latin typeface="Calibri" pitchFamily="34" charset="0"/>
                          <a:ea typeface="Calibri" pitchFamily="34" charset="-122"/>
                          <a:cs typeface="Calibri" pitchFamily="34" charset="-120"/>
                        </a:rPr>
                        <a:t>matches the credit to the cent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24" name="Shape 2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5" name="Text 22"/>
          <p:cNvSpPr/>
          <p:nvPr/>
        </p:nvSpPr>
        <p:spPr>
          <a:xfrm>
            <a:off x="658368"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IDENTIFIED</a:t>
            </a:r>
            <a:endParaRPr lang="en-US" sz="1200" dirty="0"/>
          </a:p>
        </p:txBody>
      </p:sp>
      <p:sp>
        <p:nvSpPr>
          <p:cNvPr id="26" name="Text 23"/>
          <p:cNvSpPr/>
          <p:nvPr/>
        </p:nvSpPr>
        <p:spPr>
          <a:xfrm>
            <a:off x="658368"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$16,100.27</a:t>
            </a:r>
            <a:endParaRPr lang="en-US" sz="2800" dirty="0"/>
          </a:p>
        </p:txBody>
      </p:sp>
      <p:sp>
        <p:nvSpPr>
          <p:cNvPr id="27" name="Text 24"/>
          <p:cNvSpPr/>
          <p:nvPr/>
        </p:nvSpPr>
        <p:spPr>
          <a:xfrm>
            <a:off x="658368"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Opus 4.8 in full, plus part of Opus 4.6</a:t>
            </a:r>
            <a:endParaRPr lang="en-US" sz="1200" dirty="0"/>
          </a:p>
        </p:txBody>
      </p:sp>
      <p:sp>
        <p:nvSpPr>
          <p:cNvPr id="28" name="Shape 25"/>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9" name="Text 26"/>
          <p:cNvSpPr/>
          <p:nvPr/>
        </p:nvSpPr>
        <p:spPr>
          <a:xfrm>
            <a:off x="4493666"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ATTRIBUTED TO</a:t>
            </a:r>
            <a:endParaRPr lang="en-US" sz="1200" dirty="0"/>
          </a:p>
        </p:txBody>
      </p:sp>
      <p:sp>
        <p:nvSpPr>
          <p:cNvPr id="30" name="Text 27"/>
          <p:cNvSpPr/>
          <p:nvPr/>
        </p:nvSpPr>
        <p:spPr>
          <a:xfrm>
            <a:off x="4493666"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ai-factory-dev</a:t>
            </a:r>
            <a:endParaRPr lang="en-US" sz="2800" dirty="0"/>
          </a:p>
        </p:txBody>
      </p:sp>
      <p:sp>
        <p:nvSpPr>
          <p:cNvPr id="31" name="Text 28"/>
          <p:cNvSpPr/>
          <p:nvPr/>
        </p:nvSpPr>
        <p:spPr>
          <a:xfrm>
            <a:off x="4493666"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88.6% of all July AWS credits</a:t>
            </a:r>
            <a:endParaRPr lang="en-US" sz="1200" dirty="0"/>
          </a:p>
        </p:txBody>
      </p:sp>
      <p:sp>
        <p:nvSpPr>
          <p:cNvPr id="32" name="Shape 29"/>
          <p:cNvSpPr/>
          <p:nvPr/>
        </p:nvSpPr>
        <p:spPr>
          <a:xfrm>
            <a:off x="8127797"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33" name="Text 30"/>
          <p:cNvSpPr/>
          <p:nvPr/>
        </p:nvSpPr>
        <p:spPr>
          <a:xfrm>
            <a:off x="8328965"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ACTION</a:t>
            </a:r>
            <a:endParaRPr lang="en-US" sz="1200" dirty="0"/>
          </a:p>
        </p:txBody>
      </p:sp>
      <p:sp>
        <p:nvSpPr>
          <p:cNvPr id="34" name="Text 31"/>
          <p:cNvSpPr/>
          <p:nvPr/>
        </p:nvSpPr>
        <p:spPr>
          <a:xfrm>
            <a:off x="8328965"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Confirm</a:t>
            </a:r>
            <a:endParaRPr lang="en-US" sz="2800" dirty="0"/>
          </a:p>
        </p:txBody>
      </p:sp>
      <p:sp>
        <p:nvSpPr>
          <p:cNvPr id="35" name="Text 32"/>
          <p:cNvSpPr/>
          <p:nvPr/>
        </p:nvSpPr>
        <p:spPr>
          <a:xfrm>
            <a:off x="8328965" y="5769864"/>
            <a:ext cx="3204362" cy="329184"/>
          </a:xfrm>
          <a:prstGeom prst="rect">
            <a:avLst/>
          </a:prstGeom>
          <a:noFill/>
          <a:ln/>
        </p:spPr>
        <p:txBody>
          <a:bodyPr wrap="square" lIns="0" tIns="0" rIns="0" bIns="0" rtlCol="0" anchor="t"/>
          <a:lstStyle/>
          <a:p>
            <a:pPr marL="0" indent="0">
              <a:lnSpc>
                <a:spcPct val="10500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GCP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Small, and entirely AI</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smallest provider by a wide margin, and the fastest growing. All three statements reconcile to their invoices exactly.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Vertex AI passed Compute Engine in July. Every dollar of GCP growth this year is AI, which makes it the cleanest illustration of the shift happening more expensively elsewhere.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GCP, JULY</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$3,707</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1.4% of the total cloud bill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VERTEX AI, JULY</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$2,359</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now the largest GCP service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EVERYTHING ELSE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flat</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Compute, networking and DNS unchanged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MARKETPLACE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000" b="1" dirty="0">
                <a:solidFill>
                  <a:srgbClr val="F4F7FB"/>
                </a:solidFill>
                <a:latin typeface="Calibri" pitchFamily="34" charset="0"/>
                <a:ea typeface="Calibri" pitchFamily="34" charset="-122"/>
                <a:cs typeface="Calibri" pitchFamily="34" charset="-120"/>
              </a:rPr>
              <a:t>Marketplace dwarfs the usage underneath it</a:t>
            </a:r>
            <a:endParaRPr lang="en-US" sz="20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None of this is consumption. Security vendors bought, replaced and retired inside the year.</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Splunk, CrowdStrike and Trellix land in Q1; TrendAI and Fortinet in June and gone by July; Cortex replaces them. Treating Marketplace as part of the cloud bill makes the trend unreadable. It belongs on its own line in the budget.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 Marketplace purchases by product, Jan-Jul total</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AWS MARKETPLACE,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$1.54M</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2.6x regular AWS usage</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MARKETPLACE, JAN-JUL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$551K</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mostly the Databricks prepayment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RECURRING, OF ALL OF IT</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~$14K/mo</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MongoDB Atlas and the small tools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B07CFF">
              <a:alpha val="8000"/>
            </a:srgbClr>
          </a:solidFill>
          <a:ln w="12700">
            <a:solidFill>
              <a:srgbClr val="B07CFF">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B07CFF"/>
                </a:solidFill>
                <a:latin typeface="Calibri" pitchFamily="34" charset="0"/>
                <a:ea typeface="Calibri" pitchFamily="34" charset="-122"/>
                <a:cs typeface="Calibri" pitchFamily="34" charset="-120"/>
              </a:rPr>
              <a:t>PART FOUR</a:t>
            </a:r>
            <a:endParaRPr lang="en-US" sz="1300" dirty="0"/>
          </a:p>
        </p:txBody>
      </p:sp>
      <p:sp>
        <p:nvSpPr>
          <p:cNvPr id="6" name="Text 4"/>
          <p:cNvSpPr/>
          <p:nvPr/>
        </p:nvSpPr>
        <p:spPr>
          <a:xfrm>
            <a:off x="457200" y="2651760"/>
            <a:ext cx="8412480" cy="1360402"/>
          </a:xfrm>
          <a:prstGeom prst="rect">
            <a:avLst/>
          </a:prstGeom>
          <a:noFill/>
          <a:ln/>
        </p:spPr>
        <p:txBody>
          <a:bodyPr wrap="square" lIns="0" tIns="0" rIns="0" bIns="0" rtlCol="0" anchor="ctr"/>
          <a:lstStyle/>
          <a:p>
            <a:pPr>
              <a:lnSpc>
                <a:spcPct val="108000"/>
              </a:lnSpc>
            </a:pPr>
            <a:r>
              <a:rPr lang="en-US" sz="4000" b="1" dirty="0">
                <a:solidFill>
                  <a:srgbClr val="F4F7FB"/>
                </a:solidFill>
                <a:latin typeface="Cambria" pitchFamily="34" charset="0"/>
                <a:ea typeface="Cambria" pitchFamily="34" charset="-122"/>
                <a:cs typeface="Cambria" pitchFamily="34" charset="-120"/>
              </a:rPr>
              <a:t>FinOps</a:t>
            </a:r>
            <a:endParaRPr lang="en-US" sz="4000" dirty="0"/>
          </a:p>
          <a:p>
            <a:pPr>
              <a:lnSpc>
                <a:spcPct val="108000"/>
              </a:lnSpc>
            </a:pPr>
            <a:r>
              <a:rPr lang="en-US" sz="4000" b="1" dirty="0">
                <a:solidFill>
                  <a:srgbClr val="F4F7FB"/>
                </a:solidFill>
                <a:latin typeface="Cambria" pitchFamily="34" charset="0"/>
                <a:ea typeface="Cambria" pitchFamily="34" charset="-122"/>
                <a:cs typeface="Cambria" pitchFamily="34" charset="-120"/>
              </a:rPr>
              <a:t>Visibility &amp; Governance</a:t>
            </a:r>
            <a:endParaRPr lang="en-US" sz="4000" dirty="0"/>
          </a:p>
        </p:txBody>
      </p:sp>
      <p:sp>
        <p:nvSpPr>
          <p:cNvPr id="7" name="Text 5"/>
          <p:cNvSpPr/>
          <p:nvPr/>
        </p:nvSpPr>
        <p:spPr>
          <a:xfrm>
            <a:off x="457200" y="4012162"/>
            <a:ext cx="7863840" cy="696997"/>
          </a:xfrm>
          <a:prstGeom prst="rect">
            <a:avLst/>
          </a:prstGeom>
          <a:noFill/>
          <a:ln/>
        </p:spPr>
        <p:txBody>
          <a:bodyPr wrap="square" lIns="0" tIns="0" rIns="0" bIns="0" rtlCol="0" anchor="ctr"/>
          <a:lstStyle/>
          <a:p>
            <a:pPr marL="0" indent="0">
              <a:buNone/>
            </a:pPr>
            <a:endParaRPr lang="en-US" sz="1500" dirty="0"/>
          </a:p>
        </p:txBody>
      </p:sp>
    </p:spTree>
    <p:extLst>
      <p:ext uri="{BB962C8B-B14F-4D97-AF65-F5344CB8AC3E}">
        <p14:creationId xmlns:p14="http://schemas.microsoft.com/office/powerpoint/2010/main" val="4164748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THE PROBLEM</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625" b="1" dirty="0">
                <a:solidFill>
                  <a:srgbClr val="F4F7FB"/>
                </a:solidFill>
                <a:latin typeface="Calibri" pitchFamily="34" charset="0"/>
                <a:ea typeface="Calibri" pitchFamily="34" charset="-122"/>
                <a:cs typeface="Calibri" pitchFamily="34" charset="-120"/>
              </a:rPr>
              <a:t>AI spend is outpacing governance</a:t>
            </a:r>
            <a:endParaRPr lang="en-US" sz="2625"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Every business unit buys AI separately, on shared keys, with no owner per consumer.</a:t>
            </a:r>
            <a:endParaRPr lang="en-US" sz="1200" dirty="0"/>
          </a:p>
        </p:txBody>
      </p:sp>
      <p:sp>
        <p:nvSpPr>
          <p:cNvPr id="7" name="Shape 5"/>
          <p:cNvSpPr/>
          <p:nvPr/>
        </p:nvSpPr>
        <p:spPr>
          <a:xfrm>
            <a:off x="3200400" y="1956816"/>
            <a:ext cx="1005840" cy="3658"/>
          </a:xfrm>
          <a:prstGeom prst="line">
            <a:avLst/>
          </a:prstGeom>
          <a:noFill/>
          <a:ln w="9525">
            <a:solidFill>
              <a:srgbClr val="FF6B7A">
                <a:alpha val="42000"/>
              </a:srgbClr>
            </a:solidFill>
            <a:prstDash val="solid"/>
          </a:ln>
        </p:spPr>
      </p:sp>
      <p:sp>
        <p:nvSpPr>
          <p:cNvPr id="8" name="Shape 6"/>
          <p:cNvSpPr/>
          <p:nvPr/>
        </p:nvSpPr>
        <p:spPr>
          <a:xfrm>
            <a:off x="3200400" y="1956816"/>
            <a:ext cx="1005840" cy="640080"/>
          </a:xfrm>
          <a:prstGeom prst="line">
            <a:avLst/>
          </a:prstGeom>
          <a:noFill/>
          <a:ln w="9525">
            <a:solidFill>
              <a:srgbClr val="FF6B7A">
                <a:alpha val="42000"/>
              </a:srgbClr>
            </a:solidFill>
            <a:prstDash val="solid"/>
          </a:ln>
        </p:spPr>
      </p:sp>
      <p:sp>
        <p:nvSpPr>
          <p:cNvPr id="9" name="Shape 7"/>
          <p:cNvSpPr/>
          <p:nvPr/>
        </p:nvSpPr>
        <p:spPr>
          <a:xfrm>
            <a:off x="3200400" y="1956816"/>
            <a:ext cx="1005840" cy="1280160"/>
          </a:xfrm>
          <a:prstGeom prst="line">
            <a:avLst/>
          </a:prstGeom>
          <a:noFill/>
          <a:ln w="9525">
            <a:solidFill>
              <a:srgbClr val="FF6B7A">
                <a:alpha val="42000"/>
              </a:srgbClr>
            </a:solidFill>
            <a:prstDash val="solid"/>
          </a:ln>
        </p:spPr>
      </p:sp>
      <p:sp>
        <p:nvSpPr>
          <p:cNvPr id="10" name="Shape 8"/>
          <p:cNvSpPr/>
          <p:nvPr/>
        </p:nvSpPr>
        <p:spPr>
          <a:xfrm>
            <a:off x="3200400" y="1956816"/>
            <a:ext cx="1005840" cy="1920240"/>
          </a:xfrm>
          <a:prstGeom prst="line">
            <a:avLst/>
          </a:prstGeom>
          <a:noFill/>
          <a:ln w="9525">
            <a:solidFill>
              <a:srgbClr val="FF6B7A">
                <a:alpha val="42000"/>
              </a:srgbClr>
            </a:solidFill>
            <a:prstDash val="solid"/>
          </a:ln>
        </p:spPr>
      </p:sp>
      <p:sp>
        <p:nvSpPr>
          <p:cNvPr id="11" name="Shape 9"/>
          <p:cNvSpPr/>
          <p:nvPr/>
        </p:nvSpPr>
        <p:spPr>
          <a:xfrm>
            <a:off x="3200400" y="1956816"/>
            <a:ext cx="1005840" cy="2560320"/>
          </a:xfrm>
          <a:prstGeom prst="line">
            <a:avLst/>
          </a:prstGeom>
          <a:noFill/>
          <a:ln w="9525">
            <a:solidFill>
              <a:srgbClr val="FF6B7A">
                <a:alpha val="42000"/>
              </a:srgbClr>
            </a:solidFill>
            <a:prstDash val="solid"/>
          </a:ln>
        </p:spPr>
      </p:sp>
      <p:sp>
        <p:nvSpPr>
          <p:cNvPr id="12" name="Shape 10"/>
          <p:cNvSpPr/>
          <p:nvPr/>
        </p:nvSpPr>
        <p:spPr>
          <a:xfrm flipV="1">
            <a:off x="3200400" y="1956816"/>
            <a:ext cx="1005840" cy="640080"/>
          </a:xfrm>
          <a:prstGeom prst="line">
            <a:avLst/>
          </a:prstGeom>
          <a:noFill/>
          <a:ln w="9525">
            <a:solidFill>
              <a:srgbClr val="FF6B7A">
                <a:alpha val="42000"/>
              </a:srgbClr>
            </a:solidFill>
            <a:prstDash val="solid"/>
          </a:ln>
        </p:spPr>
      </p:sp>
      <p:sp>
        <p:nvSpPr>
          <p:cNvPr id="13" name="Shape 11"/>
          <p:cNvSpPr/>
          <p:nvPr/>
        </p:nvSpPr>
        <p:spPr>
          <a:xfrm>
            <a:off x="3200400" y="2596896"/>
            <a:ext cx="1005840" cy="3658"/>
          </a:xfrm>
          <a:prstGeom prst="line">
            <a:avLst/>
          </a:prstGeom>
          <a:noFill/>
          <a:ln w="9525">
            <a:solidFill>
              <a:srgbClr val="FF6B7A">
                <a:alpha val="42000"/>
              </a:srgbClr>
            </a:solidFill>
            <a:prstDash val="solid"/>
          </a:ln>
        </p:spPr>
      </p:sp>
      <p:sp>
        <p:nvSpPr>
          <p:cNvPr id="14" name="Shape 12"/>
          <p:cNvSpPr/>
          <p:nvPr/>
        </p:nvSpPr>
        <p:spPr>
          <a:xfrm>
            <a:off x="3200400" y="2596896"/>
            <a:ext cx="1005840" cy="640080"/>
          </a:xfrm>
          <a:prstGeom prst="line">
            <a:avLst/>
          </a:prstGeom>
          <a:noFill/>
          <a:ln w="9525">
            <a:solidFill>
              <a:srgbClr val="FF6B7A">
                <a:alpha val="42000"/>
              </a:srgbClr>
            </a:solidFill>
            <a:prstDash val="solid"/>
          </a:ln>
        </p:spPr>
      </p:sp>
      <p:sp>
        <p:nvSpPr>
          <p:cNvPr id="15" name="Shape 13"/>
          <p:cNvSpPr/>
          <p:nvPr/>
        </p:nvSpPr>
        <p:spPr>
          <a:xfrm>
            <a:off x="3200400" y="2596896"/>
            <a:ext cx="1005840" cy="1280160"/>
          </a:xfrm>
          <a:prstGeom prst="line">
            <a:avLst/>
          </a:prstGeom>
          <a:noFill/>
          <a:ln w="9525">
            <a:solidFill>
              <a:srgbClr val="FF6B7A">
                <a:alpha val="42000"/>
              </a:srgbClr>
            </a:solidFill>
            <a:prstDash val="solid"/>
          </a:ln>
        </p:spPr>
      </p:sp>
      <p:sp>
        <p:nvSpPr>
          <p:cNvPr id="16" name="Shape 14"/>
          <p:cNvSpPr/>
          <p:nvPr/>
        </p:nvSpPr>
        <p:spPr>
          <a:xfrm>
            <a:off x="3200400" y="2596896"/>
            <a:ext cx="1005840" cy="1920240"/>
          </a:xfrm>
          <a:prstGeom prst="line">
            <a:avLst/>
          </a:prstGeom>
          <a:noFill/>
          <a:ln w="9525">
            <a:solidFill>
              <a:srgbClr val="FF6B7A">
                <a:alpha val="42000"/>
              </a:srgbClr>
            </a:solidFill>
            <a:prstDash val="solid"/>
          </a:ln>
        </p:spPr>
      </p:sp>
      <p:sp>
        <p:nvSpPr>
          <p:cNvPr id="17" name="Shape 15"/>
          <p:cNvSpPr/>
          <p:nvPr/>
        </p:nvSpPr>
        <p:spPr>
          <a:xfrm flipV="1">
            <a:off x="3200400" y="1956816"/>
            <a:ext cx="1005840" cy="1280160"/>
          </a:xfrm>
          <a:prstGeom prst="line">
            <a:avLst/>
          </a:prstGeom>
          <a:noFill/>
          <a:ln w="9525">
            <a:solidFill>
              <a:srgbClr val="FF6B7A">
                <a:alpha val="42000"/>
              </a:srgbClr>
            </a:solidFill>
            <a:prstDash val="solid"/>
          </a:ln>
        </p:spPr>
      </p:sp>
      <p:sp>
        <p:nvSpPr>
          <p:cNvPr id="18" name="Shape 16"/>
          <p:cNvSpPr/>
          <p:nvPr/>
        </p:nvSpPr>
        <p:spPr>
          <a:xfrm flipV="1">
            <a:off x="3200400" y="2596896"/>
            <a:ext cx="1005840" cy="640080"/>
          </a:xfrm>
          <a:prstGeom prst="line">
            <a:avLst/>
          </a:prstGeom>
          <a:noFill/>
          <a:ln w="9525">
            <a:solidFill>
              <a:srgbClr val="FF6B7A">
                <a:alpha val="42000"/>
              </a:srgbClr>
            </a:solidFill>
            <a:prstDash val="solid"/>
          </a:ln>
        </p:spPr>
      </p:sp>
      <p:sp>
        <p:nvSpPr>
          <p:cNvPr id="19" name="Shape 17"/>
          <p:cNvSpPr/>
          <p:nvPr/>
        </p:nvSpPr>
        <p:spPr>
          <a:xfrm>
            <a:off x="3200400" y="3236976"/>
            <a:ext cx="1005840" cy="3658"/>
          </a:xfrm>
          <a:prstGeom prst="line">
            <a:avLst/>
          </a:prstGeom>
          <a:noFill/>
          <a:ln w="9525">
            <a:solidFill>
              <a:srgbClr val="FF6B7A">
                <a:alpha val="42000"/>
              </a:srgbClr>
            </a:solidFill>
            <a:prstDash val="solid"/>
          </a:ln>
        </p:spPr>
      </p:sp>
      <p:sp>
        <p:nvSpPr>
          <p:cNvPr id="20" name="Shape 18"/>
          <p:cNvSpPr/>
          <p:nvPr/>
        </p:nvSpPr>
        <p:spPr>
          <a:xfrm>
            <a:off x="3200400" y="3236976"/>
            <a:ext cx="1005840" cy="640080"/>
          </a:xfrm>
          <a:prstGeom prst="line">
            <a:avLst/>
          </a:prstGeom>
          <a:noFill/>
          <a:ln w="9525">
            <a:solidFill>
              <a:srgbClr val="FF6B7A">
                <a:alpha val="42000"/>
              </a:srgbClr>
            </a:solidFill>
            <a:prstDash val="solid"/>
          </a:ln>
        </p:spPr>
      </p:sp>
      <p:sp>
        <p:nvSpPr>
          <p:cNvPr id="21" name="Shape 19"/>
          <p:cNvSpPr/>
          <p:nvPr/>
        </p:nvSpPr>
        <p:spPr>
          <a:xfrm>
            <a:off x="3200400" y="3236976"/>
            <a:ext cx="1005840" cy="1280160"/>
          </a:xfrm>
          <a:prstGeom prst="line">
            <a:avLst/>
          </a:prstGeom>
          <a:noFill/>
          <a:ln w="9525">
            <a:solidFill>
              <a:srgbClr val="FF6B7A">
                <a:alpha val="42000"/>
              </a:srgbClr>
            </a:solidFill>
            <a:prstDash val="solid"/>
          </a:ln>
        </p:spPr>
      </p:sp>
      <p:sp>
        <p:nvSpPr>
          <p:cNvPr id="22" name="Shape 20"/>
          <p:cNvSpPr/>
          <p:nvPr/>
        </p:nvSpPr>
        <p:spPr>
          <a:xfrm flipV="1">
            <a:off x="3200400" y="1956816"/>
            <a:ext cx="1005840" cy="1920240"/>
          </a:xfrm>
          <a:prstGeom prst="line">
            <a:avLst/>
          </a:prstGeom>
          <a:noFill/>
          <a:ln w="9525">
            <a:solidFill>
              <a:srgbClr val="FF6B7A">
                <a:alpha val="42000"/>
              </a:srgbClr>
            </a:solidFill>
            <a:prstDash val="solid"/>
          </a:ln>
        </p:spPr>
      </p:sp>
      <p:sp>
        <p:nvSpPr>
          <p:cNvPr id="23" name="Shape 21"/>
          <p:cNvSpPr/>
          <p:nvPr/>
        </p:nvSpPr>
        <p:spPr>
          <a:xfrm flipV="1">
            <a:off x="3200400" y="2596896"/>
            <a:ext cx="1005840" cy="1280160"/>
          </a:xfrm>
          <a:prstGeom prst="line">
            <a:avLst/>
          </a:prstGeom>
          <a:noFill/>
          <a:ln w="9525">
            <a:solidFill>
              <a:srgbClr val="FF6B7A">
                <a:alpha val="42000"/>
              </a:srgbClr>
            </a:solidFill>
            <a:prstDash val="solid"/>
          </a:ln>
        </p:spPr>
      </p:sp>
      <p:sp>
        <p:nvSpPr>
          <p:cNvPr id="24" name="Shape 22"/>
          <p:cNvSpPr/>
          <p:nvPr/>
        </p:nvSpPr>
        <p:spPr>
          <a:xfrm flipV="1">
            <a:off x="3200400" y="3236976"/>
            <a:ext cx="1005840" cy="640080"/>
          </a:xfrm>
          <a:prstGeom prst="line">
            <a:avLst/>
          </a:prstGeom>
          <a:noFill/>
          <a:ln w="9525">
            <a:solidFill>
              <a:srgbClr val="FF6B7A">
                <a:alpha val="42000"/>
              </a:srgbClr>
            </a:solidFill>
            <a:prstDash val="solid"/>
          </a:ln>
        </p:spPr>
      </p:sp>
      <p:sp>
        <p:nvSpPr>
          <p:cNvPr id="25" name="Shape 23"/>
          <p:cNvSpPr/>
          <p:nvPr/>
        </p:nvSpPr>
        <p:spPr>
          <a:xfrm>
            <a:off x="3200400" y="3877056"/>
            <a:ext cx="1005840" cy="3658"/>
          </a:xfrm>
          <a:prstGeom prst="line">
            <a:avLst/>
          </a:prstGeom>
          <a:noFill/>
          <a:ln w="9525">
            <a:solidFill>
              <a:srgbClr val="FF6B7A">
                <a:alpha val="42000"/>
              </a:srgbClr>
            </a:solidFill>
            <a:prstDash val="solid"/>
          </a:ln>
        </p:spPr>
      </p:sp>
      <p:sp>
        <p:nvSpPr>
          <p:cNvPr id="26" name="Shape 24"/>
          <p:cNvSpPr/>
          <p:nvPr/>
        </p:nvSpPr>
        <p:spPr>
          <a:xfrm>
            <a:off x="3200400" y="3877056"/>
            <a:ext cx="1005840" cy="640080"/>
          </a:xfrm>
          <a:prstGeom prst="line">
            <a:avLst/>
          </a:prstGeom>
          <a:noFill/>
          <a:ln w="9525">
            <a:solidFill>
              <a:srgbClr val="FF6B7A">
                <a:alpha val="42000"/>
              </a:srgbClr>
            </a:solidFill>
            <a:prstDash val="solid"/>
          </a:ln>
        </p:spPr>
      </p:sp>
      <p:sp>
        <p:nvSpPr>
          <p:cNvPr id="27" name="Shape 25"/>
          <p:cNvSpPr/>
          <p:nvPr/>
        </p:nvSpPr>
        <p:spPr>
          <a:xfrm flipV="1">
            <a:off x="3200400" y="1956816"/>
            <a:ext cx="1005840" cy="2560320"/>
          </a:xfrm>
          <a:prstGeom prst="line">
            <a:avLst/>
          </a:prstGeom>
          <a:noFill/>
          <a:ln w="9525">
            <a:solidFill>
              <a:srgbClr val="FF6B7A">
                <a:alpha val="42000"/>
              </a:srgbClr>
            </a:solidFill>
            <a:prstDash val="solid"/>
          </a:ln>
        </p:spPr>
      </p:sp>
      <p:sp>
        <p:nvSpPr>
          <p:cNvPr id="28" name="Shape 26"/>
          <p:cNvSpPr/>
          <p:nvPr/>
        </p:nvSpPr>
        <p:spPr>
          <a:xfrm flipV="1">
            <a:off x="3200400" y="2596896"/>
            <a:ext cx="1005840" cy="1920240"/>
          </a:xfrm>
          <a:prstGeom prst="line">
            <a:avLst/>
          </a:prstGeom>
          <a:noFill/>
          <a:ln w="9525">
            <a:solidFill>
              <a:srgbClr val="FF6B7A">
                <a:alpha val="42000"/>
              </a:srgbClr>
            </a:solidFill>
            <a:prstDash val="solid"/>
          </a:ln>
        </p:spPr>
      </p:sp>
      <p:sp>
        <p:nvSpPr>
          <p:cNvPr id="29" name="Shape 27"/>
          <p:cNvSpPr/>
          <p:nvPr/>
        </p:nvSpPr>
        <p:spPr>
          <a:xfrm flipV="1">
            <a:off x="3200400" y="3236976"/>
            <a:ext cx="1005840" cy="1280160"/>
          </a:xfrm>
          <a:prstGeom prst="line">
            <a:avLst/>
          </a:prstGeom>
          <a:noFill/>
          <a:ln w="9525">
            <a:solidFill>
              <a:srgbClr val="FF6B7A">
                <a:alpha val="42000"/>
              </a:srgbClr>
            </a:solidFill>
            <a:prstDash val="solid"/>
          </a:ln>
        </p:spPr>
      </p:sp>
      <p:sp>
        <p:nvSpPr>
          <p:cNvPr id="30" name="Shape 28"/>
          <p:cNvSpPr/>
          <p:nvPr/>
        </p:nvSpPr>
        <p:spPr>
          <a:xfrm flipV="1">
            <a:off x="3200400" y="3877056"/>
            <a:ext cx="1005840" cy="640080"/>
          </a:xfrm>
          <a:prstGeom prst="line">
            <a:avLst/>
          </a:prstGeom>
          <a:noFill/>
          <a:ln w="9525">
            <a:solidFill>
              <a:srgbClr val="FF6B7A">
                <a:alpha val="42000"/>
              </a:srgbClr>
            </a:solidFill>
            <a:prstDash val="solid"/>
          </a:ln>
        </p:spPr>
      </p:sp>
      <p:sp>
        <p:nvSpPr>
          <p:cNvPr id="31" name="Shape 29"/>
          <p:cNvSpPr/>
          <p:nvPr/>
        </p:nvSpPr>
        <p:spPr>
          <a:xfrm>
            <a:off x="3200400" y="4517136"/>
            <a:ext cx="1005840" cy="3658"/>
          </a:xfrm>
          <a:prstGeom prst="line">
            <a:avLst/>
          </a:prstGeom>
          <a:noFill/>
          <a:ln w="9525">
            <a:solidFill>
              <a:srgbClr val="FF6B7A">
                <a:alpha val="42000"/>
              </a:srgbClr>
            </a:solidFill>
            <a:prstDash val="solid"/>
          </a:ln>
        </p:spPr>
      </p:sp>
      <p:sp>
        <p:nvSpPr>
          <p:cNvPr id="32" name="Text 30"/>
          <p:cNvSpPr/>
          <p:nvPr/>
        </p:nvSpPr>
        <p:spPr>
          <a:xfrm>
            <a:off x="457200" y="1325880"/>
            <a:ext cx="2743200" cy="256032"/>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WHO CONSUMES AI</a:t>
            </a:r>
            <a:endParaRPr lang="en-US" sz="1200" dirty="0"/>
          </a:p>
        </p:txBody>
      </p:sp>
      <p:sp>
        <p:nvSpPr>
          <p:cNvPr id="33" name="Shape 31"/>
          <p:cNvSpPr/>
          <p:nvPr/>
        </p:nvSpPr>
        <p:spPr>
          <a:xfrm>
            <a:off x="457200" y="1691640"/>
            <a:ext cx="2743200" cy="530352"/>
          </a:xfrm>
          <a:prstGeom prst="roundRect">
            <a:avLst>
              <a:gd name="adj" fmla="val 10345"/>
            </a:avLst>
          </a:prstGeom>
          <a:solidFill>
            <a:srgbClr val="121B2D"/>
          </a:solidFill>
          <a:ln w="12700">
            <a:solidFill>
              <a:srgbClr val="23304A"/>
            </a:solidFill>
            <a:prstDash val="solid"/>
          </a:ln>
        </p:spPr>
      </p:sp>
      <p:sp>
        <p:nvSpPr>
          <p:cNvPr id="34" name="Text 32"/>
          <p:cNvSpPr/>
          <p:nvPr/>
        </p:nvSpPr>
        <p:spPr>
          <a:xfrm>
            <a:off x="640080" y="1691640"/>
            <a:ext cx="2377440" cy="530352"/>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Business applications</a:t>
            </a:r>
            <a:endParaRPr lang="en-US" sz="1300" dirty="0"/>
          </a:p>
        </p:txBody>
      </p:sp>
      <p:sp>
        <p:nvSpPr>
          <p:cNvPr id="35" name="Shape 33"/>
          <p:cNvSpPr/>
          <p:nvPr/>
        </p:nvSpPr>
        <p:spPr>
          <a:xfrm>
            <a:off x="457200" y="2331720"/>
            <a:ext cx="2743200" cy="530352"/>
          </a:xfrm>
          <a:prstGeom prst="roundRect">
            <a:avLst>
              <a:gd name="adj" fmla="val 10345"/>
            </a:avLst>
          </a:prstGeom>
          <a:solidFill>
            <a:srgbClr val="121B2D"/>
          </a:solidFill>
          <a:ln w="12700">
            <a:solidFill>
              <a:srgbClr val="23304A"/>
            </a:solidFill>
            <a:prstDash val="solid"/>
          </a:ln>
        </p:spPr>
      </p:sp>
      <p:sp>
        <p:nvSpPr>
          <p:cNvPr id="36" name="Text 34"/>
          <p:cNvSpPr/>
          <p:nvPr/>
        </p:nvSpPr>
        <p:spPr>
          <a:xfrm>
            <a:off x="640080" y="2331720"/>
            <a:ext cx="2377440" cy="530352"/>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Analytics and BI</a:t>
            </a:r>
            <a:endParaRPr lang="en-US" sz="1300" dirty="0"/>
          </a:p>
        </p:txBody>
      </p:sp>
      <p:sp>
        <p:nvSpPr>
          <p:cNvPr id="37" name="Shape 35"/>
          <p:cNvSpPr/>
          <p:nvPr/>
        </p:nvSpPr>
        <p:spPr>
          <a:xfrm>
            <a:off x="457200" y="2971800"/>
            <a:ext cx="2743200" cy="530352"/>
          </a:xfrm>
          <a:prstGeom prst="roundRect">
            <a:avLst>
              <a:gd name="adj" fmla="val 10345"/>
            </a:avLst>
          </a:prstGeom>
          <a:solidFill>
            <a:srgbClr val="121B2D"/>
          </a:solidFill>
          <a:ln w="12700">
            <a:solidFill>
              <a:srgbClr val="23304A"/>
            </a:solidFill>
            <a:prstDash val="solid"/>
          </a:ln>
        </p:spPr>
      </p:sp>
      <p:sp>
        <p:nvSpPr>
          <p:cNvPr id="38" name="Text 36"/>
          <p:cNvSpPr/>
          <p:nvPr/>
        </p:nvSpPr>
        <p:spPr>
          <a:xfrm>
            <a:off x="640080" y="2971800"/>
            <a:ext cx="2377440" cy="530352"/>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HR and back office</a:t>
            </a:r>
            <a:endParaRPr lang="en-US" sz="1300" dirty="0"/>
          </a:p>
        </p:txBody>
      </p:sp>
      <p:sp>
        <p:nvSpPr>
          <p:cNvPr id="39" name="Shape 37"/>
          <p:cNvSpPr/>
          <p:nvPr/>
        </p:nvSpPr>
        <p:spPr>
          <a:xfrm>
            <a:off x="457200" y="3611880"/>
            <a:ext cx="2743200" cy="530352"/>
          </a:xfrm>
          <a:prstGeom prst="roundRect">
            <a:avLst>
              <a:gd name="adj" fmla="val 10345"/>
            </a:avLst>
          </a:prstGeom>
          <a:solidFill>
            <a:srgbClr val="121B2D"/>
          </a:solidFill>
          <a:ln w="12700">
            <a:solidFill>
              <a:srgbClr val="23304A"/>
            </a:solidFill>
            <a:prstDash val="solid"/>
          </a:ln>
        </p:spPr>
      </p:sp>
      <p:sp>
        <p:nvSpPr>
          <p:cNvPr id="40" name="Text 38"/>
          <p:cNvSpPr/>
          <p:nvPr/>
        </p:nvSpPr>
        <p:spPr>
          <a:xfrm>
            <a:off x="640080" y="3611880"/>
            <a:ext cx="2377440" cy="530352"/>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R&amp;D and data science</a:t>
            </a:r>
            <a:endParaRPr lang="en-US" sz="1300" dirty="0"/>
          </a:p>
        </p:txBody>
      </p:sp>
      <p:sp>
        <p:nvSpPr>
          <p:cNvPr id="41" name="Shape 39"/>
          <p:cNvSpPr/>
          <p:nvPr/>
        </p:nvSpPr>
        <p:spPr>
          <a:xfrm>
            <a:off x="457200" y="4251960"/>
            <a:ext cx="2743200" cy="530352"/>
          </a:xfrm>
          <a:prstGeom prst="roundRect">
            <a:avLst>
              <a:gd name="adj" fmla="val 10345"/>
            </a:avLst>
          </a:prstGeom>
          <a:solidFill>
            <a:srgbClr val="121B2D"/>
          </a:solidFill>
          <a:ln w="12700">
            <a:solidFill>
              <a:srgbClr val="23304A"/>
            </a:solidFill>
            <a:prstDash val="solid"/>
          </a:ln>
        </p:spPr>
      </p:sp>
      <p:sp>
        <p:nvSpPr>
          <p:cNvPr id="42" name="Text 40"/>
          <p:cNvSpPr/>
          <p:nvPr/>
        </p:nvSpPr>
        <p:spPr>
          <a:xfrm>
            <a:off x="640080" y="4251960"/>
            <a:ext cx="2377440" cy="530352"/>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Cloud and platform</a:t>
            </a:r>
            <a:endParaRPr lang="en-US" sz="1300" dirty="0"/>
          </a:p>
        </p:txBody>
      </p:sp>
      <p:sp>
        <p:nvSpPr>
          <p:cNvPr id="43" name="Text 41"/>
          <p:cNvSpPr/>
          <p:nvPr/>
        </p:nvSpPr>
        <p:spPr>
          <a:xfrm>
            <a:off x="4206240" y="1325880"/>
            <a:ext cx="2743200" cy="256032"/>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WHAT THEY BUY</a:t>
            </a:r>
            <a:endParaRPr lang="en-US" sz="1200" dirty="0"/>
          </a:p>
        </p:txBody>
      </p:sp>
      <p:sp>
        <p:nvSpPr>
          <p:cNvPr id="44" name="Shape 42"/>
          <p:cNvSpPr/>
          <p:nvPr/>
        </p:nvSpPr>
        <p:spPr>
          <a:xfrm>
            <a:off x="4206240" y="1691640"/>
            <a:ext cx="2743200" cy="530352"/>
          </a:xfrm>
          <a:prstGeom prst="roundRect">
            <a:avLst>
              <a:gd name="adj" fmla="val 10345"/>
            </a:avLst>
          </a:prstGeom>
          <a:solidFill>
            <a:srgbClr val="121B2D"/>
          </a:solidFill>
          <a:ln w="12700">
            <a:solidFill>
              <a:srgbClr val="23304A"/>
            </a:solidFill>
            <a:prstDash val="solid"/>
          </a:ln>
        </p:spPr>
      </p:sp>
      <p:sp>
        <p:nvSpPr>
          <p:cNvPr id="45" name="Text 43"/>
          <p:cNvSpPr/>
          <p:nvPr/>
        </p:nvSpPr>
        <p:spPr>
          <a:xfrm>
            <a:off x="4389120" y="1691640"/>
            <a:ext cx="2377440" cy="530352"/>
          </a:xfrm>
          <a:prstGeom prst="rect">
            <a:avLst/>
          </a:prstGeom>
          <a:noFill/>
          <a:ln/>
        </p:spPr>
        <p:txBody>
          <a:bodyPr wrap="square" lIns="0" tIns="0" rIns="0" bIns="0" rtlCol="0" anchor="ctr"/>
          <a:lstStyle/>
          <a:p>
            <a:pPr marL="0" indent="0">
              <a:buNone/>
            </a:pPr>
            <a:r>
              <a:rPr lang="en-US" sz="1300" dirty="0">
                <a:solidFill>
                  <a:srgbClr val="3DD9EB"/>
                </a:solidFill>
                <a:latin typeface="Calibri" pitchFamily="34" charset="0"/>
                <a:ea typeface="Calibri" pitchFamily="34" charset="-122"/>
                <a:cs typeface="Calibri" pitchFamily="34" charset="-120"/>
              </a:rPr>
              <a:t>Microsoft Copilot</a:t>
            </a:r>
            <a:endParaRPr lang="en-US" sz="1300" dirty="0"/>
          </a:p>
        </p:txBody>
      </p:sp>
      <p:sp>
        <p:nvSpPr>
          <p:cNvPr id="46" name="Shape 44"/>
          <p:cNvSpPr/>
          <p:nvPr/>
        </p:nvSpPr>
        <p:spPr>
          <a:xfrm>
            <a:off x="4206240" y="2331720"/>
            <a:ext cx="2743200" cy="530352"/>
          </a:xfrm>
          <a:prstGeom prst="roundRect">
            <a:avLst>
              <a:gd name="adj" fmla="val 10345"/>
            </a:avLst>
          </a:prstGeom>
          <a:solidFill>
            <a:srgbClr val="121B2D"/>
          </a:solidFill>
          <a:ln w="12700">
            <a:solidFill>
              <a:srgbClr val="23304A"/>
            </a:solidFill>
            <a:prstDash val="solid"/>
          </a:ln>
        </p:spPr>
      </p:sp>
      <p:sp>
        <p:nvSpPr>
          <p:cNvPr id="47" name="Text 45"/>
          <p:cNvSpPr/>
          <p:nvPr/>
        </p:nvSpPr>
        <p:spPr>
          <a:xfrm>
            <a:off x="4389120" y="2331720"/>
            <a:ext cx="2377440" cy="530352"/>
          </a:xfrm>
          <a:prstGeom prst="rect">
            <a:avLst/>
          </a:prstGeom>
          <a:noFill/>
          <a:ln/>
        </p:spPr>
        <p:txBody>
          <a:bodyPr wrap="square" lIns="0" tIns="0" rIns="0" bIns="0" rtlCol="0" anchor="ctr"/>
          <a:lstStyle/>
          <a:p>
            <a:pPr marL="0" indent="0">
              <a:buNone/>
            </a:pPr>
            <a:r>
              <a:rPr lang="en-US" sz="1300" dirty="0">
                <a:solidFill>
                  <a:srgbClr val="3DD9EB"/>
                </a:solidFill>
                <a:latin typeface="Calibri" pitchFamily="34" charset="0"/>
                <a:ea typeface="Calibri" pitchFamily="34" charset="-122"/>
                <a:cs typeface="Calibri" pitchFamily="34" charset="-120"/>
              </a:rPr>
              <a:t>Azure AI Foundry</a:t>
            </a:r>
            <a:endParaRPr lang="en-US" sz="1300" dirty="0"/>
          </a:p>
        </p:txBody>
      </p:sp>
      <p:sp>
        <p:nvSpPr>
          <p:cNvPr id="48" name="Shape 46"/>
          <p:cNvSpPr/>
          <p:nvPr/>
        </p:nvSpPr>
        <p:spPr>
          <a:xfrm>
            <a:off x="4206240" y="2971800"/>
            <a:ext cx="2743200" cy="530352"/>
          </a:xfrm>
          <a:prstGeom prst="roundRect">
            <a:avLst>
              <a:gd name="adj" fmla="val 10345"/>
            </a:avLst>
          </a:prstGeom>
          <a:solidFill>
            <a:srgbClr val="121B2D"/>
          </a:solidFill>
          <a:ln w="12700">
            <a:solidFill>
              <a:srgbClr val="23304A"/>
            </a:solidFill>
            <a:prstDash val="solid"/>
          </a:ln>
        </p:spPr>
      </p:sp>
      <p:sp>
        <p:nvSpPr>
          <p:cNvPr id="49" name="Text 47"/>
          <p:cNvSpPr/>
          <p:nvPr/>
        </p:nvSpPr>
        <p:spPr>
          <a:xfrm>
            <a:off x="4389120" y="2971800"/>
            <a:ext cx="2377440" cy="530352"/>
          </a:xfrm>
          <a:prstGeom prst="rect">
            <a:avLst/>
          </a:prstGeom>
          <a:noFill/>
          <a:ln/>
        </p:spPr>
        <p:txBody>
          <a:bodyPr wrap="square" lIns="0" tIns="0" rIns="0" bIns="0" rtlCol="0" anchor="ctr"/>
          <a:lstStyle/>
          <a:p>
            <a:pPr marL="0" indent="0">
              <a:buNone/>
            </a:pPr>
            <a:r>
              <a:rPr lang="en-US" sz="1300" dirty="0">
                <a:solidFill>
                  <a:srgbClr val="3DD9EB"/>
                </a:solidFill>
                <a:latin typeface="Calibri" pitchFamily="34" charset="0"/>
                <a:ea typeface="Calibri" pitchFamily="34" charset="-122"/>
                <a:cs typeface="Calibri" pitchFamily="34" charset="-120"/>
              </a:rPr>
              <a:t>AWS Bedrock</a:t>
            </a:r>
            <a:endParaRPr lang="en-US" sz="1300" dirty="0"/>
          </a:p>
        </p:txBody>
      </p:sp>
      <p:sp>
        <p:nvSpPr>
          <p:cNvPr id="50" name="Shape 48"/>
          <p:cNvSpPr/>
          <p:nvPr/>
        </p:nvSpPr>
        <p:spPr>
          <a:xfrm>
            <a:off x="4206240" y="3611880"/>
            <a:ext cx="2743200" cy="530352"/>
          </a:xfrm>
          <a:prstGeom prst="roundRect">
            <a:avLst>
              <a:gd name="adj" fmla="val 10345"/>
            </a:avLst>
          </a:prstGeom>
          <a:solidFill>
            <a:srgbClr val="121B2D"/>
          </a:solidFill>
          <a:ln w="12700">
            <a:solidFill>
              <a:srgbClr val="23304A"/>
            </a:solidFill>
            <a:prstDash val="solid"/>
          </a:ln>
        </p:spPr>
      </p:sp>
      <p:sp>
        <p:nvSpPr>
          <p:cNvPr id="51" name="Text 49"/>
          <p:cNvSpPr/>
          <p:nvPr/>
        </p:nvSpPr>
        <p:spPr>
          <a:xfrm>
            <a:off x="4389120" y="3611880"/>
            <a:ext cx="2377440" cy="530352"/>
          </a:xfrm>
          <a:prstGeom prst="rect">
            <a:avLst/>
          </a:prstGeom>
          <a:noFill/>
          <a:ln/>
        </p:spPr>
        <p:txBody>
          <a:bodyPr wrap="square" lIns="0" tIns="0" rIns="0" bIns="0" rtlCol="0" anchor="ctr"/>
          <a:lstStyle/>
          <a:p>
            <a:pPr marL="0" indent="0">
              <a:buNone/>
            </a:pPr>
            <a:r>
              <a:rPr lang="en-US" sz="1300" dirty="0">
                <a:solidFill>
                  <a:srgbClr val="3DD9EB"/>
                </a:solidFill>
                <a:latin typeface="Calibri" pitchFamily="34" charset="0"/>
                <a:ea typeface="Calibri" pitchFamily="34" charset="-122"/>
                <a:cs typeface="Calibri" pitchFamily="34" charset="-120"/>
              </a:rPr>
              <a:t>Google Vertex AI</a:t>
            </a:r>
            <a:endParaRPr lang="en-US" sz="1300" dirty="0"/>
          </a:p>
        </p:txBody>
      </p:sp>
      <p:sp>
        <p:nvSpPr>
          <p:cNvPr id="52" name="Shape 50"/>
          <p:cNvSpPr/>
          <p:nvPr/>
        </p:nvSpPr>
        <p:spPr>
          <a:xfrm>
            <a:off x="4206240" y="4251960"/>
            <a:ext cx="2743200" cy="530352"/>
          </a:xfrm>
          <a:prstGeom prst="roundRect">
            <a:avLst>
              <a:gd name="adj" fmla="val 10345"/>
            </a:avLst>
          </a:prstGeom>
          <a:solidFill>
            <a:srgbClr val="121B2D"/>
          </a:solidFill>
          <a:ln w="12700">
            <a:solidFill>
              <a:srgbClr val="23304A"/>
            </a:solidFill>
            <a:prstDash val="solid"/>
          </a:ln>
        </p:spPr>
      </p:sp>
      <p:sp>
        <p:nvSpPr>
          <p:cNvPr id="53" name="Text 51"/>
          <p:cNvSpPr/>
          <p:nvPr/>
        </p:nvSpPr>
        <p:spPr>
          <a:xfrm>
            <a:off x="4389120" y="4251960"/>
            <a:ext cx="2377440" cy="530352"/>
          </a:xfrm>
          <a:prstGeom prst="rect">
            <a:avLst/>
          </a:prstGeom>
          <a:noFill/>
          <a:ln/>
        </p:spPr>
        <p:txBody>
          <a:bodyPr wrap="square" lIns="0" tIns="0" rIns="0" bIns="0" rtlCol="0" anchor="ctr"/>
          <a:lstStyle/>
          <a:p>
            <a:pPr marL="0" indent="0">
              <a:buNone/>
            </a:pPr>
            <a:r>
              <a:rPr lang="en-US" sz="1300" dirty="0">
                <a:solidFill>
                  <a:srgbClr val="3DD9EB"/>
                </a:solidFill>
                <a:latin typeface="Calibri" pitchFamily="34" charset="0"/>
                <a:ea typeface="Calibri" pitchFamily="34" charset="-122"/>
                <a:cs typeface="Calibri" pitchFamily="34" charset="-120"/>
              </a:rPr>
              <a:t>Claude / OpenAI</a:t>
            </a:r>
            <a:endParaRPr lang="en-US" sz="1300" dirty="0"/>
          </a:p>
        </p:txBody>
      </p:sp>
      <p:sp>
        <p:nvSpPr>
          <p:cNvPr id="54" name="Shape 52"/>
          <p:cNvSpPr/>
          <p:nvPr/>
        </p:nvSpPr>
        <p:spPr>
          <a:xfrm>
            <a:off x="7315200" y="1234440"/>
            <a:ext cx="4419295" cy="3547872"/>
          </a:xfrm>
          <a:prstGeom prst="roundRect">
            <a:avLst>
              <a:gd name="adj" fmla="val 1546"/>
            </a:avLst>
          </a:prstGeom>
          <a:solidFill>
            <a:srgbClr val="121B2D"/>
          </a:solidFill>
          <a:ln w="12700">
            <a:solidFill>
              <a:srgbClr val="23304A"/>
            </a:solidFill>
            <a:prstDash val="solid"/>
          </a:ln>
        </p:spPr>
      </p:sp>
      <p:sp>
        <p:nvSpPr>
          <p:cNvPr id="55" name="Shape 53"/>
          <p:cNvSpPr/>
          <p:nvPr/>
        </p:nvSpPr>
        <p:spPr>
          <a:xfrm>
            <a:off x="7315200" y="1234440"/>
            <a:ext cx="4419295" cy="45720"/>
          </a:xfrm>
          <a:prstGeom prst="rect">
            <a:avLst/>
          </a:prstGeom>
          <a:solidFill>
            <a:srgbClr val="FF6B7A"/>
          </a:solidFill>
          <a:ln w="12700">
            <a:solidFill>
              <a:srgbClr val="FF6B7A"/>
            </a:solidFill>
            <a:prstDash val="solid"/>
          </a:ln>
        </p:spPr>
      </p:sp>
      <p:sp>
        <p:nvSpPr>
          <p:cNvPr id="56" name="Text 54"/>
          <p:cNvSpPr/>
          <p:nvPr/>
        </p:nvSpPr>
        <p:spPr>
          <a:xfrm>
            <a:off x="7534656" y="1399032"/>
            <a:ext cx="3980383" cy="274320"/>
          </a:xfrm>
          <a:prstGeom prst="rect">
            <a:avLst/>
          </a:prstGeom>
          <a:noFill/>
          <a:ln/>
        </p:spPr>
        <p:txBody>
          <a:bodyPr wrap="square" lIns="0" tIns="0" rIns="0" bIns="0" rtlCol="0" anchor="ctr"/>
          <a:lstStyle/>
          <a:p>
            <a:pPr marL="0" indent="0">
              <a:buNone/>
            </a:pPr>
            <a:r>
              <a:rPr lang="en-US" sz="1200" b="1" kern="0" spc="140" dirty="0">
                <a:solidFill>
                  <a:srgbClr val="FF6B7A"/>
                </a:solidFill>
                <a:latin typeface="Calibri" pitchFamily="34" charset="0"/>
                <a:ea typeface="Calibri" pitchFamily="34" charset="-122"/>
                <a:cs typeface="Calibri" pitchFamily="34" charset="-120"/>
              </a:rPr>
              <a:t>TODAY'S REALITY</a:t>
            </a:r>
            <a:endParaRPr lang="en-US" sz="1200" dirty="0"/>
          </a:p>
        </p:txBody>
      </p:sp>
      <p:sp>
        <p:nvSpPr>
          <p:cNvPr id="57" name="Text 55"/>
          <p:cNvSpPr/>
          <p:nvPr/>
        </p:nvSpPr>
        <p:spPr>
          <a:xfrm>
            <a:off x="7534656" y="1783080"/>
            <a:ext cx="3980383" cy="541325"/>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Multiple AI providers, bought separately</a:t>
            </a:r>
            <a:endParaRPr lang="en-US" sz="1300" dirty="0"/>
          </a:p>
        </p:txBody>
      </p:sp>
      <p:sp>
        <p:nvSpPr>
          <p:cNvPr id="58" name="Shape 56"/>
          <p:cNvSpPr/>
          <p:nvPr/>
        </p:nvSpPr>
        <p:spPr>
          <a:xfrm>
            <a:off x="7534656" y="2342693"/>
            <a:ext cx="3980383" cy="9144"/>
          </a:xfrm>
          <a:prstGeom prst="rect">
            <a:avLst/>
          </a:prstGeom>
          <a:solidFill>
            <a:srgbClr val="23304A"/>
          </a:solidFill>
          <a:ln w="12700">
            <a:solidFill>
              <a:srgbClr val="23304A"/>
            </a:solidFill>
            <a:prstDash val="solid"/>
          </a:ln>
        </p:spPr>
      </p:sp>
      <p:sp>
        <p:nvSpPr>
          <p:cNvPr id="59" name="Text 57"/>
          <p:cNvSpPr/>
          <p:nvPr/>
        </p:nvSpPr>
        <p:spPr>
          <a:xfrm>
            <a:off x="7534656" y="2379269"/>
            <a:ext cx="3980383" cy="541325"/>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Multiple business units consuming them</a:t>
            </a:r>
            <a:endParaRPr lang="en-US" sz="1300" dirty="0"/>
          </a:p>
        </p:txBody>
      </p:sp>
      <p:sp>
        <p:nvSpPr>
          <p:cNvPr id="60" name="Shape 58"/>
          <p:cNvSpPr/>
          <p:nvPr/>
        </p:nvSpPr>
        <p:spPr>
          <a:xfrm>
            <a:off x="7534656" y="2938882"/>
            <a:ext cx="3980383" cy="9144"/>
          </a:xfrm>
          <a:prstGeom prst="rect">
            <a:avLst/>
          </a:prstGeom>
          <a:solidFill>
            <a:srgbClr val="23304A"/>
          </a:solidFill>
          <a:ln w="12700">
            <a:solidFill>
              <a:srgbClr val="23304A"/>
            </a:solidFill>
            <a:prstDash val="solid"/>
          </a:ln>
        </p:spPr>
      </p:sp>
      <p:sp>
        <p:nvSpPr>
          <p:cNvPr id="61" name="Text 59"/>
          <p:cNvSpPr/>
          <p:nvPr/>
        </p:nvSpPr>
        <p:spPr>
          <a:xfrm>
            <a:off x="7534656" y="2975458"/>
            <a:ext cx="3980383" cy="541325"/>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Multiple applications on shared keys</a:t>
            </a:r>
            <a:endParaRPr lang="en-US" sz="1300" dirty="0"/>
          </a:p>
        </p:txBody>
      </p:sp>
      <p:sp>
        <p:nvSpPr>
          <p:cNvPr id="62" name="Shape 60"/>
          <p:cNvSpPr/>
          <p:nvPr/>
        </p:nvSpPr>
        <p:spPr>
          <a:xfrm>
            <a:off x="7534656" y="3535070"/>
            <a:ext cx="3980383" cy="9144"/>
          </a:xfrm>
          <a:prstGeom prst="rect">
            <a:avLst/>
          </a:prstGeom>
          <a:solidFill>
            <a:srgbClr val="23304A"/>
          </a:solidFill>
          <a:ln w="12700">
            <a:solidFill>
              <a:srgbClr val="23304A"/>
            </a:solidFill>
            <a:prstDash val="solid"/>
          </a:ln>
        </p:spPr>
      </p:sp>
      <p:sp>
        <p:nvSpPr>
          <p:cNvPr id="63" name="Text 61"/>
          <p:cNvSpPr/>
          <p:nvPr/>
        </p:nvSpPr>
        <p:spPr>
          <a:xfrm>
            <a:off x="7534656" y="3571646"/>
            <a:ext cx="3980383" cy="541325"/>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Limited financial visibility per consumer</a:t>
            </a:r>
            <a:endParaRPr lang="en-US" sz="1300" dirty="0"/>
          </a:p>
        </p:txBody>
      </p:sp>
      <p:sp>
        <p:nvSpPr>
          <p:cNvPr id="64" name="Shape 62"/>
          <p:cNvSpPr/>
          <p:nvPr/>
        </p:nvSpPr>
        <p:spPr>
          <a:xfrm>
            <a:off x="7534656" y="4131259"/>
            <a:ext cx="3980383" cy="9144"/>
          </a:xfrm>
          <a:prstGeom prst="rect">
            <a:avLst/>
          </a:prstGeom>
          <a:solidFill>
            <a:srgbClr val="23304A"/>
          </a:solidFill>
          <a:ln w="12700">
            <a:solidFill>
              <a:srgbClr val="23304A"/>
            </a:solidFill>
            <a:prstDash val="solid"/>
          </a:ln>
        </p:spPr>
      </p:sp>
      <p:sp>
        <p:nvSpPr>
          <p:cNvPr id="65" name="Text 63"/>
          <p:cNvSpPr/>
          <p:nvPr/>
        </p:nvSpPr>
        <p:spPr>
          <a:xfrm>
            <a:off x="7534656" y="4167835"/>
            <a:ext cx="3980383" cy="541325"/>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No unified enterprise ownership</a:t>
            </a:r>
            <a:endParaRPr lang="en-US" sz="1300" dirty="0"/>
          </a:p>
        </p:txBody>
      </p:sp>
      <p:sp>
        <p:nvSpPr>
          <p:cNvPr id="66" name="Shape 64"/>
          <p:cNvSpPr/>
          <p:nvPr/>
        </p:nvSpPr>
        <p:spPr>
          <a:xfrm>
            <a:off x="457200" y="51206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67" name="Text 65"/>
          <p:cNvSpPr/>
          <p:nvPr/>
        </p:nvSpPr>
        <p:spPr>
          <a:xfrm>
            <a:off x="658368" y="52120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UNTAGGED SPEND</a:t>
            </a:r>
            <a:endParaRPr lang="en-US" sz="1200" dirty="0"/>
          </a:p>
        </p:txBody>
      </p:sp>
      <p:sp>
        <p:nvSpPr>
          <p:cNvPr id="68" name="Text 66"/>
          <p:cNvSpPr/>
          <p:nvPr/>
        </p:nvSpPr>
        <p:spPr>
          <a:xfrm>
            <a:off x="658368" y="54132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23.4%</a:t>
            </a:r>
            <a:endParaRPr lang="en-US" sz="2800" dirty="0"/>
          </a:p>
        </p:txBody>
      </p:sp>
      <p:sp>
        <p:nvSpPr>
          <p:cNvPr id="69" name="Text 67"/>
          <p:cNvSpPr/>
          <p:nvPr/>
        </p:nvSpPr>
        <p:spPr>
          <a:xfrm>
            <a:off x="658368" y="58155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of the July bill has no project owner</a:t>
            </a:r>
            <a:endParaRPr lang="en-US" sz="1200" dirty="0"/>
          </a:p>
        </p:txBody>
      </p:sp>
      <p:sp>
        <p:nvSpPr>
          <p:cNvPr id="70" name="Shape 68"/>
          <p:cNvSpPr/>
          <p:nvPr/>
        </p:nvSpPr>
        <p:spPr>
          <a:xfrm>
            <a:off x="4292498" y="5120640"/>
            <a:ext cx="3606698" cy="1078992"/>
          </a:xfrm>
          <a:prstGeom prst="roundRect">
            <a:avLst>
              <a:gd name="adj" fmla="val 5085"/>
            </a:avLst>
          </a:prstGeom>
          <a:solidFill>
            <a:srgbClr val="121B2D"/>
          </a:solidFill>
          <a:ln w="12700">
            <a:solidFill>
              <a:srgbClr val="23304A"/>
            </a:solidFill>
            <a:prstDash val="solid"/>
          </a:ln>
        </p:spPr>
      </p:sp>
      <p:sp>
        <p:nvSpPr>
          <p:cNvPr id="71" name="Text 69"/>
          <p:cNvSpPr/>
          <p:nvPr/>
        </p:nvSpPr>
        <p:spPr>
          <a:xfrm>
            <a:off x="4493666" y="52120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UNEXPLAINED CREDIT</a:t>
            </a:r>
            <a:endParaRPr lang="en-US" sz="1200" dirty="0"/>
          </a:p>
        </p:txBody>
      </p:sp>
      <p:sp>
        <p:nvSpPr>
          <p:cNvPr id="72" name="Text 70"/>
          <p:cNvSpPr/>
          <p:nvPr/>
        </p:nvSpPr>
        <p:spPr>
          <a:xfrm>
            <a:off x="4493666" y="54132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$16,100</a:t>
            </a:r>
            <a:endParaRPr lang="en-US" sz="2800" dirty="0"/>
          </a:p>
        </p:txBody>
      </p:sp>
      <p:sp>
        <p:nvSpPr>
          <p:cNvPr id="73" name="Text 71"/>
          <p:cNvSpPr/>
          <p:nvPr/>
        </p:nvSpPr>
        <p:spPr>
          <a:xfrm>
            <a:off x="4493666" y="58155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reversed against a charge nobody can identify</a:t>
            </a:r>
            <a:endParaRPr lang="en-US" sz="1200" dirty="0"/>
          </a:p>
        </p:txBody>
      </p:sp>
      <p:sp>
        <p:nvSpPr>
          <p:cNvPr id="74" name="Shape 72"/>
          <p:cNvSpPr/>
          <p:nvPr/>
        </p:nvSpPr>
        <p:spPr>
          <a:xfrm>
            <a:off x="8127797" y="5120640"/>
            <a:ext cx="3606698" cy="1078992"/>
          </a:xfrm>
          <a:prstGeom prst="roundRect">
            <a:avLst>
              <a:gd name="adj" fmla="val 5085"/>
            </a:avLst>
          </a:prstGeom>
          <a:solidFill>
            <a:srgbClr val="121B2D"/>
          </a:solidFill>
          <a:ln w="12700">
            <a:solidFill>
              <a:srgbClr val="23304A"/>
            </a:solidFill>
            <a:prstDash val="solid"/>
          </a:ln>
        </p:spPr>
      </p:sp>
      <p:sp>
        <p:nvSpPr>
          <p:cNvPr id="75" name="Text 73"/>
          <p:cNvSpPr/>
          <p:nvPr/>
        </p:nvSpPr>
        <p:spPr>
          <a:xfrm>
            <a:off x="8328965" y="52120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NEW PLATFORM, NO BASELINE</a:t>
            </a:r>
            <a:endParaRPr lang="en-US" sz="1200" dirty="0"/>
          </a:p>
        </p:txBody>
      </p:sp>
      <p:sp>
        <p:nvSpPr>
          <p:cNvPr id="76" name="Text 74"/>
          <p:cNvSpPr/>
          <p:nvPr/>
        </p:nvSpPr>
        <p:spPr>
          <a:xfrm>
            <a:off x="8328965" y="54132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$8,920</a:t>
            </a:r>
            <a:endParaRPr lang="en-US" sz="2800" dirty="0"/>
          </a:p>
        </p:txBody>
      </p:sp>
      <p:sp>
        <p:nvSpPr>
          <p:cNvPr id="77" name="Text 75"/>
          <p:cNvSpPr/>
          <p:nvPr/>
        </p:nvSpPr>
        <p:spPr>
          <a:xfrm>
            <a:off x="8328965" y="58155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Cowork went from $0 to this in one month</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TAGGING</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211" b="1" dirty="0">
                <a:solidFill>
                  <a:srgbClr val="F4F7FB"/>
                </a:solidFill>
                <a:latin typeface="Calibri" pitchFamily="34" charset="0"/>
                <a:ea typeface="Calibri" pitchFamily="34" charset="-122"/>
                <a:cs typeface="Calibri" pitchFamily="34" charset="-120"/>
              </a:rPr>
              <a:t>Tag the request, not just the resource</a:t>
            </a:r>
            <a:endParaRPr lang="en-US" sz="221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5367528"/>
            <a:ext cx="11277295" cy="1380744"/>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Today we can say AI cost $75,439 in July and that $25,288 of it was Claude on Bedrock. We cannot say which agent, which use case, or which tool call spent it and no resource tag will ever tell us, because the cost is in the traffic, not the resource.</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FOUNDATION TAGS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0" name="Text 8"/>
          <p:cNvSpPr/>
          <p:nvPr/>
        </p:nvSpPr>
        <p:spPr>
          <a:xfrm>
            <a:off x="640080"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owner</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2" name="Text 10"/>
          <p:cNvSpPr/>
          <p:nvPr/>
        </p:nvSpPr>
        <p:spPr>
          <a:xfrm>
            <a:off x="640080"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application</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4" name="Text 12"/>
          <p:cNvSpPr/>
          <p:nvPr/>
        </p:nvSpPr>
        <p:spPr>
          <a:xfrm>
            <a:off x="640080"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environment</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6" name="Text 14"/>
          <p:cNvSpPr/>
          <p:nvPr/>
        </p:nvSpPr>
        <p:spPr>
          <a:xfrm>
            <a:off x="640080"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cost_center</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8" name="Text 16"/>
          <p:cNvSpPr/>
          <p:nvPr/>
        </p:nvSpPr>
        <p:spPr>
          <a:xfrm>
            <a:off x="640080"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business_unit</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WHAT IT UNLOCKS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1" name="Text 19"/>
          <p:cNvSpPr/>
          <p:nvPr/>
        </p:nvSpPr>
        <p:spPr>
          <a:xfrm>
            <a:off x="8854135"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 per use case</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3" name="Text 21"/>
          <p:cNvSpPr/>
          <p:nvPr/>
        </p:nvSpPr>
        <p:spPr>
          <a:xfrm>
            <a:off x="8854135"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 per agent</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5" name="Text 23"/>
          <p:cNvSpPr/>
          <p:nvPr/>
        </p:nvSpPr>
        <p:spPr>
          <a:xfrm>
            <a:off x="8854135"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AI unit economics</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7" name="Text 25"/>
          <p:cNvSpPr/>
          <p:nvPr/>
        </p:nvSpPr>
        <p:spPr>
          <a:xfrm>
            <a:off x="8854135"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Anomaly detection</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9" name="Text 27"/>
          <p:cNvSpPr/>
          <p:nvPr/>
        </p:nvSpPr>
        <p:spPr>
          <a:xfrm>
            <a:off x="8854135"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Chargeback that holds</a:t>
            </a:r>
            <a:endParaRPr lang="en-US" sz="1300" dirty="0"/>
          </a:p>
        </p:txBody>
      </p:sp>
      <p:sp>
        <p:nvSpPr>
          <p:cNvPr id="30" name="Shape 28"/>
          <p:cNvSpPr/>
          <p:nvPr/>
        </p:nvSpPr>
        <p:spPr>
          <a:xfrm>
            <a:off x="3840480" y="1353312"/>
            <a:ext cx="4510735" cy="3291840"/>
          </a:xfrm>
          <a:prstGeom prst="roundRect">
            <a:avLst>
              <a:gd name="adj" fmla="val 1724"/>
            </a:avLst>
          </a:prstGeom>
          <a:solidFill>
            <a:srgbClr val="1D2D42"/>
          </a:solidFill>
          <a:ln w="15875">
            <a:solidFill>
              <a:srgbClr val="3DD9EB"/>
            </a:solidFill>
            <a:prstDash val="solid"/>
          </a:ln>
        </p:spPr>
        <p:txBody>
          <a:bodyPr/>
          <a:lstStyle/>
          <a:p>
            <a:endParaRPr lang="he-IL"/>
          </a:p>
        </p:txBody>
      </p:sp>
      <p:sp>
        <p:nvSpPr>
          <p:cNvPr id="31" name="Text 29"/>
          <p:cNvSpPr/>
          <p:nvPr/>
        </p:nvSpPr>
        <p:spPr>
          <a:xfrm>
            <a:off x="4023360" y="1627632"/>
            <a:ext cx="4144975" cy="329184"/>
          </a:xfrm>
          <a:prstGeom prst="rect">
            <a:avLst/>
          </a:prstGeom>
          <a:noFill/>
          <a:ln/>
        </p:spPr>
        <p:txBody>
          <a:bodyPr wrap="square" lIns="0" tIns="0" rIns="0" bIns="0" rtlCol="0" anchor="ctr"/>
          <a:lstStyle/>
          <a:p>
            <a:pPr marL="0" indent="0" algn="ctr">
              <a:buNone/>
            </a:pPr>
            <a:r>
              <a:rPr lang="en-US" sz="1700" b="1" dirty="0">
                <a:solidFill>
                  <a:srgbClr val="F4F7FB"/>
                </a:solidFill>
                <a:latin typeface="Calibri" pitchFamily="34" charset="0"/>
                <a:ea typeface="Calibri" pitchFamily="34" charset="-122"/>
                <a:cs typeface="Calibri" pitchFamily="34" charset="-120"/>
              </a:rPr>
              <a:t>The gateway injects them</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marL="0" indent="0" algn="ctr">
              <a:buNone/>
            </a:pPr>
            <a:r>
              <a:rPr lang="en-US" sz="1200" dirty="0">
                <a:solidFill>
                  <a:srgbClr val="91A0B7"/>
                </a:solidFill>
                <a:latin typeface="Calibri" pitchFamily="34" charset="0"/>
                <a:ea typeface="Calibri" pitchFamily="34" charset="-122"/>
                <a:cs typeface="Calibri" pitchFamily="34" charset="-120"/>
              </a:rPr>
              <a:t>Every AI request carries its own metadata</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4" name="Text 32"/>
          <p:cNvSpPr/>
          <p:nvPr/>
        </p:nvSpPr>
        <p:spPr>
          <a:xfrm>
            <a:off x="4023360"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use_case</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6" name="Text 34"/>
          <p:cNvSpPr/>
          <p:nvPr/>
        </p:nvSpPr>
        <p:spPr>
          <a:xfrm>
            <a:off x="6187288"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agent_id</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8" name="Text 36"/>
          <p:cNvSpPr/>
          <p:nvPr/>
        </p:nvSpPr>
        <p:spPr>
          <a:xfrm>
            <a:off x="4023360"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workflow_id</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0" name="Text 38"/>
          <p:cNvSpPr/>
          <p:nvPr/>
        </p:nvSpPr>
        <p:spPr>
          <a:xfrm>
            <a:off x="6187288"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ai_model</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2" name="Text 40"/>
          <p:cNvSpPr/>
          <p:nvPr/>
        </p:nvSpPr>
        <p:spPr>
          <a:xfrm>
            <a:off x="4023360"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ai_provider</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4" name="Text 42"/>
          <p:cNvSpPr/>
          <p:nvPr/>
        </p:nvSpPr>
        <p:spPr>
          <a:xfrm>
            <a:off x="6187288"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mcp_tool</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6" name="Text 44"/>
          <p:cNvSpPr/>
          <p:nvPr/>
        </p:nvSpPr>
        <p:spPr>
          <a:xfrm>
            <a:off x="4023360"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session_id</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8" name="Text 46"/>
          <p:cNvSpPr/>
          <p:nvPr/>
        </p:nvSpPr>
        <p:spPr>
          <a:xfrm>
            <a:off x="6187288"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request_id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marL="0" indent="0" algn="ctr">
              <a:lnSpc>
                <a:spcPct val="110000"/>
              </a:lnSpc>
              <a:buNone/>
            </a:pPr>
            <a:r>
              <a:rPr lang="en-US" sz="1150" dirty="0">
                <a:solidFill>
                  <a:srgbClr val="91A0B7"/>
                </a:solidFill>
                <a:latin typeface="Calibri" pitchFamily="34" charset="0"/>
                <a:ea typeface="Calibri" pitchFamily="34" charset="-122"/>
                <a:cs typeface="Calibri" pitchFamily="34" charset="-120"/>
              </a:rPr>
              <a:t>The gateway is the only place these can be made mandatory.</a:t>
            </a:r>
            <a:endParaRPr lang="en-US" sz="1150" dirty="0"/>
          </a:p>
        </p:txBody>
      </p:sp>
    </p:spTree>
    <p:extLst>
      <p:ext uri="{BB962C8B-B14F-4D97-AF65-F5344CB8AC3E}">
        <p14:creationId xmlns:p14="http://schemas.microsoft.com/office/powerpoint/2010/main" val="373040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THE MECHANISM</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625" b="1" dirty="0">
                <a:solidFill>
                  <a:srgbClr val="F4F7FB"/>
                </a:solidFill>
                <a:latin typeface="Calibri" pitchFamily="34" charset="0"/>
                <a:ea typeface="Calibri" pitchFamily="34" charset="-122"/>
                <a:cs typeface="Calibri" pitchFamily="34" charset="-120"/>
              </a:rPr>
              <a:t>One gateway for every AI request</a:t>
            </a:r>
            <a:endParaRPr lang="en-US" sz="2625"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Today every business unit buys AI separately, on shared keys, with no owner per consumer, which is why 23.4% of the bill has no name against it.</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CONSUMERS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0" name="Text 8"/>
          <p:cNvSpPr/>
          <p:nvPr/>
        </p:nvSpPr>
        <p:spPr>
          <a:xfrm>
            <a:off x="640080"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Business applications</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640080"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Copilots and assistants</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4" name="Text 12"/>
          <p:cNvSpPr/>
          <p:nvPr/>
        </p:nvSpPr>
        <p:spPr>
          <a:xfrm>
            <a:off x="640080"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Autonomous agents</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40080"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Data science</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8" name="Text 16"/>
          <p:cNvSpPr/>
          <p:nvPr/>
        </p:nvSpPr>
        <p:spPr>
          <a:xfrm>
            <a:off x="640080"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Third-party SaaS</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PROVIDERS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1" name="Text 19"/>
          <p:cNvSpPr/>
          <p:nvPr/>
        </p:nvSpPr>
        <p:spPr>
          <a:xfrm>
            <a:off x="8854135"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Microsoft Copilot</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3" name="Text 21"/>
          <p:cNvSpPr/>
          <p:nvPr/>
        </p:nvSpPr>
        <p:spPr>
          <a:xfrm>
            <a:off x="8854135"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Azure AI Foundry</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5" name="Text 23"/>
          <p:cNvSpPr/>
          <p:nvPr/>
        </p:nvSpPr>
        <p:spPr>
          <a:xfrm>
            <a:off x="8854135"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AWS Bedrock</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7" name="Text 25"/>
          <p:cNvSpPr/>
          <p:nvPr/>
        </p:nvSpPr>
        <p:spPr>
          <a:xfrm>
            <a:off x="8854135"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Google Vertex AI</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9" name="Text 27"/>
          <p:cNvSpPr/>
          <p:nvPr/>
        </p:nvSpPr>
        <p:spPr>
          <a:xfrm>
            <a:off x="8854135"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Claude / OpenAI</a:t>
            </a:r>
            <a:endParaRPr lang="en-US" sz="1300" dirty="0"/>
          </a:p>
        </p:txBody>
      </p:sp>
      <p:sp>
        <p:nvSpPr>
          <p:cNvPr id="30" name="Shape 28"/>
          <p:cNvSpPr/>
          <p:nvPr/>
        </p:nvSpPr>
        <p:spPr>
          <a:xfrm>
            <a:off x="3840480" y="1463040"/>
            <a:ext cx="4510735" cy="3182112"/>
          </a:xfrm>
          <a:prstGeom prst="roundRect">
            <a:avLst>
              <a:gd name="adj" fmla="val 1724"/>
            </a:avLst>
          </a:prstGeom>
          <a:solidFill>
            <a:srgbClr val="1D2D42"/>
          </a:solidFill>
          <a:ln w="15875">
            <a:solidFill>
              <a:srgbClr val="B07CFF"/>
            </a:solidFill>
            <a:prstDash val="solid"/>
          </a:ln>
        </p:spPr>
        <p:txBody>
          <a:bodyPr/>
          <a:lstStyle/>
          <a:p>
            <a:endParaRPr lang="he-IL" dirty="0"/>
          </a:p>
        </p:txBody>
      </p:sp>
      <p:sp>
        <p:nvSpPr>
          <p:cNvPr id="31" name="Text 29"/>
          <p:cNvSpPr/>
          <p:nvPr/>
        </p:nvSpPr>
        <p:spPr>
          <a:xfrm>
            <a:off x="4023360" y="1627632"/>
            <a:ext cx="4144975" cy="329184"/>
          </a:xfrm>
          <a:prstGeom prst="rect">
            <a:avLst/>
          </a:prstGeom>
          <a:noFill/>
          <a:ln/>
        </p:spPr>
        <p:txBody>
          <a:bodyPr wrap="square" lIns="0" tIns="0" rIns="0" bIns="0" rtlCol="0" anchor="ctr"/>
          <a:lstStyle/>
          <a:p>
            <a:pPr marL="0" indent="0" algn="ctr">
              <a:buNone/>
            </a:pPr>
            <a:r>
              <a:rPr lang="en-US" sz="1700" b="1" dirty="0">
                <a:solidFill>
                  <a:srgbClr val="F4F7FB"/>
                </a:solidFill>
                <a:latin typeface="Calibri" pitchFamily="34" charset="0"/>
                <a:ea typeface="Calibri" pitchFamily="34" charset="-122"/>
                <a:cs typeface="Calibri" pitchFamily="34" charset="-120"/>
              </a:rPr>
              <a:t>AI Command Center</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marL="0" indent="0" algn="ctr">
              <a:buNone/>
            </a:pPr>
            <a:r>
              <a:rPr lang="en-US" sz="1200" dirty="0">
                <a:solidFill>
                  <a:srgbClr val="91A0B7"/>
                </a:solidFill>
                <a:latin typeface="Calibri" pitchFamily="34" charset="0"/>
                <a:ea typeface="Calibri" pitchFamily="34" charset="-122"/>
                <a:cs typeface="Calibri" pitchFamily="34" charset="-120"/>
              </a:rPr>
              <a:t>Policy enforcement point</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4" name="Text 32"/>
          <p:cNvSpPr/>
          <p:nvPr/>
        </p:nvSpPr>
        <p:spPr>
          <a:xfrm>
            <a:off x="4023360"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Visibility</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6" name="Text 34"/>
          <p:cNvSpPr/>
          <p:nvPr/>
        </p:nvSpPr>
        <p:spPr>
          <a:xfrm>
            <a:off x="6187288"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Budgets per unit</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8" name="Text 36"/>
          <p:cNvSpPr/>
          <p:nvPr/>
        </p:nvSpPr>
        <p:spPr>
          <a:xfrm>
            <a:off x="4023360"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Owners</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0" name="Text 38"/>
          <p:cNvSpPr/>
          <p:nvPr/>
        </p:nvSpPr>
        <p:spPr>
          <a:xfrm>
            <a:off x="6187288"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Alerts</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2" name="Text 40"/>
          <p:cNvSpPr/>
          <p:nvPr/>
        </p:nvSpPr>
        <p:spPr>
          <a:xfrm>
            <a:off x="4023360"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Rate limits</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4" name="Text 42"/>
          <p:cNvSpPr/>
          <p:nvPr/>
        </p:nvSpPr>
        <p:spPr>
          <a:xfrm>
            <a:off x="6187288"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Token quotas</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6" name="Text 44"/>
          <p:cNvSpPr/>
          <p:nvPr/>
        </p:nvSpPr>
        <p:spPr>
          <a:xfrm>
            <a:off x="4023360"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Chargeback</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8" name="Text 46"/>
          <p:cNvSpPr/>
          <p:nvPr/>
        </p:nvSpPr>
        <p:spPr>
          <a:xfrm>
            <a:off x="6187288"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Executive dashboard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marL="0" indent="0" algn="ctr">
              <a:lnSpc>
                <a:spcPct val="110000"/>
              </a:lnSpc>
              <a:buNone/>
            </a:pPr>
            <a:r>
              <a:rPr lang="en-US" sz="1150" dirty="0">
                <a:solidFill>
                  <a:srgbClr val="91A0B7"/>
                </a:solidFill>
                <a:latin typeface="Calibri" pitchFamily="34" charset="0"/>
                <a:ea typeface="Calibri" pitchFamily="34" charset="-122"/>
                <a:cs typeface="Calibri" pitchFamily="34" charset="-120"/>
              </a:rPr>
              <a:t>Unauthorised or over-budget requests are filtered out. Governed, cost-allocated requests pass through.</a:t>
            </a:r>
            <a:endParaRPr lang="en-US" sz="1150" dirty="0"/>
          </a:p>
        </p:txBody>
      </p:sp>
      <p:sp>
        <p:nvSpPr>
          <p:cNvPr id="51" name="Shape 26">
            <a:extLst>
              <a:ext uri="{FF2B5EF4-FFF2-40B4-BE49-F238E27FC236}">
                <a16:creationId xmlns:a16="http://schemas.microsoft.com/office/drawing/2014/main" id="{ECFA40AD-96FD-61F0-5BE6-9E33ACBB4782}"/>
              </a:ext>
            </a:extLst>
          </p:cNvPr>
          <p:cNvSpPr/>
          <p:nvPr/>
        </p:nvSpPr>
        <p:spPr>
          <a:xfrm>
            <a:off x="8671255" y="4754880"/>
            <a:ext cx="3215640" cy="402336"/>
          </a:xfrm>
          <a:prstGeom prst="roundRect">
            <a:avLst>
              <a:gd name="adj" fmla="val 10000"/>
            </a:avLst>
          </a:prstGeom>
          <a:solidFill>
            <a:srgbClr val="121B2D"/>
          </a:solidFill>
          <a:ln w="12700">
            <a:solidFill>
              <a:srgbClr val="23304A"/>
            </a:solidFill>
            <a:prstDash val="solid"/>
          </a:ln>
        </p:spPr>
        <p:txBody>
          <a:bodyPr/>
          <a:lstStyle/>
          <a:p>
            <a:r>
              <a:rPr lang="en-US" sz="1300" dirty="0">
                <a:solidFill>
                  <a:srgbClr val="F4F7FB"/>
                </a:solidFill>
                <a:latin typeface="Calibri" pitchFamily="34" charset="0"/>
                <a:ea typeface="Calibri" pitchFamily="34" charset="-122"/>
                <a:cs typeface="Calibri" pitchFamily="34" charset="-120"/>
              </a:rPr>
              <a:t>   Databrikes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ENFORCEMENT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Azure Budget will not stop the spend</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A budget reports. Only the gateway can refuse a request.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No API key is approved without: owner, cost centre, allowed models, max output tokens, TPM, a daily and a monthly quota, and an agreed break-glass path. Direct access to Foundry or a model endpoint is blocked. All traffic goes through the gateway.</a:t>
            </a:r>
            <a:endParaRPr lang="en-US" sz="1200" dirty="0"/>
          </a:p>
        </p:txBody>
      </p:sp>
      <p:sp>
        <p:nvSpPr>
          <p:cNvPr id="8" name="Text 6"/>
          <p:cNvSpPr/>
          <p:nvPr/>
        </p:nvSpPr>
        <p:spPr>
          <a:xfrm>
            <a:off x="457200" y="1234440"/>
            <a:ext cx="786384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The control model</a:t>
            </a:r>
            <a:endParaRPr lang="en-US" sz="1500" dirty="0"/>
          </a:p>
        </p:txBody>
      </p:sp>
      <p:sp>
        <p:nvSpPr>
          <p:cNvPr id="9" name="Text 7"/>
          <p:cNvSpPr/>
          <p:nvPr/>
        </p:nvSpPr>
        <p:spPr>
          <a:xfrm>
            <a:off x="457200" y="1508760"/>
            <a:ext cx="786384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Every layer enforced in API Management, per subscription key</a:t>
            </a:r>
            <a:endParaRPr lang="en-US" sz="1200" dirty="0"/>
          </a:p>
        </p:txBody>
      </p:sp>
      <p:graphicFrame>
        <p:nvGraphicFramePr>
          <p:cNvPr id="23" name="Table 0"/>
          <p:cNvGraphicFramePr>
            <a:graphicFrameLocks noGrp="1"/>
          </p:cNvGraphicFramePr>
          <p:nvPr/>
        </p:nvGraphicFramePr>
        <p:xfrm>
          <a:off x="457200" y="1764792"/>
          <a:ext cx="7863840" cy="2048256"/>
        </p:xfrm>
        <a:graphic>
          <a:graphicData uri="http://schemas.openxmlformats.org/drawingml/2006/table">
            <a:tbl>
              <a:tblPr/>
              <a:tblGrid>
                <a:gridCol w="24688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Control layer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Enforced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What it prevents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TPM / RPM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User and 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Minute-scale bursts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Daily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 broken job running for hours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Monthly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 / cost centre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Overrun of the approved budget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Model allowlist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Unplanned jump to an expensive 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Max output tokens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Every request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Runaway answers and agent loops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Global deployment ceiling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Model / backend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Organisation-wide blast radius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bl>
          </a:graphicData>
        </a:graphic>
      </p:graphicFrame>
      <p:sp>
        <p:nvSpPr>
          <p:cNvPr id="11" name="Shape 8"/>
          <p:cNvSpPr/>
          <p:nvPr/>
        </p:nvSpPr>
        <p:spPr>
          <a:xfrm>
            <a:off x="8686800" y="1234440"/>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2" name="Text 9"/>
          <p:cNvSpPr/>
          <p:nvPr/>
        </p:nvSpPr>
        <p:spPr>
          <a:xfrm>
            <a:off x="8887968" y="1325880"/>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BUDGET LATENCY</a:t>
            </a:r>
            <a:endParaRPr lang="en-US" sz="1200" dirty="0"/>
          </a:p>
        </p:txBody>
      </p:sp>
      <p:sp>
        <p:nvSpPr>
          <p:cNvPr id="13" name="Text 10"/>
          <p:cNvSpPr/>
          <p:nvPr/>
        </p:nvSpPr>
        <p:spPr>
          <a:xfrm>
            <a:off x="8887968" y="1527048"/>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8-24 h</a:t>
            </a:r>
            <a:endParaRPr lang="en-US" sz="2800" dirty="0"/>
          </a:p>
        </p:txBody>
      </p:sp>
      <p:sp>
        <p:nvSpPr>
          <p:cNvPr id="14" name="Text 11"/>
          <p:cNvSpPr/>
          <p:nvPr/>
        </p:nvSpPr>
        <p:spPr>
          <a:xfrm>
            <a:off x="8887968" y="1929384"/>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reporting, not enforcement</a:t>
            </a:r>
            <a:endParaRPr lang="en-US" sz="1200" dirty="0"/>
          </a:p>
        </p:txBody>
      </p:sp>
      <p:sp>
        <p:nvSpPr>
          <p:cNvPr id="15" name="Shape 12"/>
          <p:cNvSpPr/>
          <p:nvPr/>
        </p:nvSpPr>
        <p:spPr>
          <a:xfrm>
            <a:off x="8686800" y="2459736"/>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6" name="Text 13"/>
          <p:cNvSpPr/>
          <p:nvPr/>
        </p:nvSpPr>
        <p:spPr>
          <a:xfrm>
            <a:off x="8887968" y="2551176"/>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APIM ENFORCEMENT</a:t>
            </a:r>
            <a:endParaRPr lang="en-US" sz="1200" dirty="0"/>
          </a:p>
        </p:txBody>
      </p:sp>
      <p:sp>
        <p:nvSpPr>
          <p:cNvPr id="17" name="Text 14"/>
          <p:cNvSpPr/>
          <p:nvPr/>
        </p:nvSpPr>
        <p:spPr>
          <a:xfrm>
            <a:off x="8887968" y="2752344"/>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Per request</a:t>
            </a:r>
            <a:endParaRPr lang="en-US" sz="2800" dirty="0"/>
          </a:p>
        </p:txBody>
      </p:sp>
      <p:sp>
        <p:nvSpPr>
          <p:cNvPr id="18" name="Text 15"/>
          <p:cNvSpPr/>
          <p:nvPr/>
        </p:nvSpPr>
        <p:spPr>
          <a:xfrm>
            <a:off x="8887968" y="3154680"/>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429 on TPM, 403 on quota</a:t>
            </a:r>
            <a:endParaRPr lang="en-US" sz="1200" dirty="0"/>
          </a:p>
        </p:txBody>
      </p:sp>
      <p:sp>
        <p:nvSpPr>
          <p:cNvPr id="19" name="Shape 16"/>
          <p:cNvSpPr/>
          <p:nvPr/>
        </p:nvSpPr>
        <p:spPr>
          <a:xfrm>
            <a:off x="8686800" y="3685032"/>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0" name="Text 17"/>
          <p:cNvSpPr/>
          <p:nvPr/>
        </p:nvSpPr>
        <p:spPr>
          <a:xfrm>
            <a:off x="8887968" y="3776472"/>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SET THE HARD QUOTA AT</a:t>
            </a:r>
            <a:endParaRPr lang="en-US" sz="1200" dirty="0"/>
          </a:p>
        </p:txBody>
      </p:sp>
      <p:sp>
        <p:nvSpPr>
          <p:cNvPr id="21" name="Text 18"/>
          <p:cNvSpPr/>
          <p:nvPr/>
        </p:nvSpPr>
        <p:spPr>
          <a:xfrm>
            <a:off x="8887968" y="3977640"/>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75-85%</a:t>
            </a:r>
            <a:endParaRPr lang="en-US" sz="2800" dirty="0"/>
          </a:p>
        </p:txBody>
      </p:sp>
      <p:sp>
        <p:nvSpPr>
          <p:cNvPr id="22" name="Text 19"/>
          <p:cNvSpPr/>
          <p:nvPr/>
        </p:nvSpPr>
        <p:spPr>
          <a:xfrm>
            <a:off x="8887968" y="4379976"/>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of the approved budget</a:t>
            </a:r>
            <a:endParaRPr lang="en-US" sz="1200" dirty="0"/>
          </a:p>
        </p:txBody>
      </p:sp>
    </p:spTree>
    <p:extLst>
      <p:ext uri="{BB962C8B-B14F-4D97-AF65-F5344CB8AC3E}">
        <p14:creationId xmlns:p14="http://schemas.microsoft.com/office/powerpoint/2010/main" val="638208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OWNERSHIP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71" b="1" dirty="0">
                <a:solidFill>
                  <a:srgbClr val="F4F7FB"/>
                </a:solidFill>
                <a:latin typeface="Calibri" pitchFamily="34" charset="0"/>
                <a:ea typeface="Calibri" pitchFamily="34" charset="-122"/>
                <a:cs typeface="Calibri" pitchFamily="34" charset="-120"/>
              </a:rPr>
              <a:t>Nothing reaches production unowned</a:t>
            </a:r>
            <a:endParaRPr lang="en-US" sz="247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No AI workload goes live without explicit business ownership and financial allocation.</a:t>
            </a:r>
            <a:endParaRPr lang="en-US" sz="1200" dirty="0"/>
          </a:p>
        </p:txBody>
      </p:sp>
      <p:sp>
        <p:nvSpPr>
          <p:cNvPr id="7" name="Shape 5"/>
          <p:cNvSpPr/>
          <p:nvPr/>
        </p:nvSpPr>
        <p:spPr>
          <a:xfrm>
            <a:off x="457200" y="1536192"/>
            <a:ext cx="329184" cy="329184"/>
          </a:xfrm>
          <a:prstGeom prst="ellipse">
            <a:avLst/>
          </a:prstGeom>
          <a:solidFill>
            <a:srgbClr val="121B2D"/>
          </a:solidFill>
          <a:ln w="12700">
            <a:solidFill>
              <a:srgbClr val="B07CFF"/>
            </a:solidFill>
            <a:prstDash val="solid"/>
          </a:ln>
        </p:spPr>
        <p:txBody>
          <a:bodyPr/>
          <a:lstStyle/>
          <a:p>
            <a:endParaRPr lang="he-IL"/>
          </a:p>
        </p:txBody>
      </p:sp>
      <p:sp>
        <p:nvSpPr>
          <p:cNvPr id="8" name="Text 6"/>
          <p:cNvSpPr/>
          <p:nvPr/>
        </p:nvSpPr>
        <p:spPr>
          <a:xfrm>
            <a:off x="457200" y="1536192"/>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14400" y="1481328"/>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Business owner</a:t>
            </a:r>
            <a:endParaRPr lang="en-US" sz="1400" dirty="0"/>
          </a:p>
        </p:txBody>
      </p:sp>
      <p:sp>
        <p:nvSpPr>
          <p:cNvPr id="10" name="Text 8"/>
          <p:cNvSpPr/>
          <p:nvPr/>
        </p:nvSpPr>
        <p:spPr>
          <a:xfrm>
            <a:off x="914400" y="1737360"/>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Accountability for the use case and its return.</a:t>
            </a:r>
            <a:endParaRPr lang="en-US" sz="1200" dirty="0"/>
          </a:p>
        </p:txBody>
      </p:sp>
      <p:sp>
        <p:nvSpPr>
          <p:cNvPr id="11" name="Shape 9"/>
          <p:cNvSpPr/>
          <p:nvPr/>
        </p:nvSpPr>
        <p:spPr>
          <a:xfrm>
            <a:off x="457200" y="2194560"/>
            <a:ext cx="329184" cy="329184"/>
          </a:xfrm>
          <a:prstGeom prst="ellipse">
            <a:avLst/>
          </a:prstGeom>
          <a:solidFill>
            <a:srgbClr val="121B2D"/>
          </a:solidFill>
          <a:ln w="12700">
            <a:solidFill>
              <a:srgbClr val="B07CFF"/>
            </a:solidFill>
            <a:prstDash val="solid"/>
          </a:ln>
        </p:spPr>
        <p:txBody>
          <a:bodyPr/>
          <a:lstStyle/>
          <a:p>
            <a:endParaRPr lang="he-IL"/>
          </a:p>
        </p:txBody>
      </p:sp>
      <p:sp>
        <p:nvSpPr>
          <p:cNvPr id="12" name="Text 10"/>
          <p:cNvSpPr/>
          <p:nvPr/>
        </p:nvSpPr>
        <p:spPr>
          <a:xfrm>
            <a:off x="457200" y="2194560"/>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914400" y="2139696"/>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Technical owner</a:t>
            </a:r>
            <a:endParaRPr lang="en-US" sz="1400" dirty="0"/>
          </a:p>
        </p:txBody>
      </p:sp>
      <p:sp>
        <p:nvSpPr>
          <p:cNvPr id="14" name="Text 12"/>
          <p:cNvSpPr/>
          <p:nvPr/>
        </p:nvSpPr>
        <p:spPr>
          <a:xfrm>
            <a:off x="914400" y="2395728"/>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Deployment, model choice and system health.</a:t>
            </a:r>
            <a:endParaRPr lang="en-US" sz="1200" dirty="0"/>
          </a:p>
        </p:txBody>
      </p:sp>
      <p:sp>
        <p:nvSpPr>
          <p:cNvPr id="15" name="Shape 13"/>
          <p:cNvSpPr/>
          <p:nvPr/>
        </p:nvSpPr>
        <p:spPr>
          <a:xfrm>
            <a:off x="457200" y="2852928"/>
            <a:ext cx="329184" cy="329184"/>
          </a:xfrm>
          <a:prstGeom prst="ellipse">
            <a:avLst/>
          </a:prstGeom>
          <a:solidFill>
            <a:srgbClr val="121B2D"/>
          </a:solidFill>
          <a:ln w="12700">
            <a:solidFill>
              <a:srgbClr val="B07CFF"/>
            </a:solidFill>
            <a:prstDash val="solid"/>
          </a:ln>
        </p:spPr>
        <p:txBody>
          <a:bodyPr/>
          <a:lstStyle/>
          <a:p>
            <a:endParaRPr lang="he-IL"/>
          </a:p>
        </p:txBody>
      </p:sp>
      <p:sp>
        <p:nvSpPr>
          <p:cNvPr id="16" name="Text 14"/>
          <p:cNvSpPr/>
          <p:nvPr/>
        </p:nvSpPr>
        <p:spPr>
          <a:xfrm>
            <a:off x="457200" y="2852928"/>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14400" y="2798064"/>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Budget</a:t>
            </a:r>
            <a:endParaRPr lang="en-US" sz="1400" dirty="0"/>
          </a:p>
        </p:txBody>
      </p:sp>
      <p:sp>
        <p:nvSpPr>
          <p:cNvPr id="18" name="Text 16"/>
          <p:cNvSpPr/>
          <p:nvPr/>
        </p:nvSpPr>
        <p:spPr>
          <a:xfrm>
            <a:off x="914400" y="3054096"/>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Maximum financial exposure, set before anything runs.</a:t>
            </a:r>
            <a:endParaRPr lang="en-US" sz="1200" dirty="0"/>
          </a:p>
        </p:txBody>
      </p:sp>
      <p:sp>
        <p:nvSpPr>
          <p:cNvPr id="19" name="Shape 17"/>
          <p:cNvSpPr/>
          <p:nvPr/>
        </p:nvSpPr>
        <p:spPr>
          <a:xfrm>
            <a:off x="457200" y="3511296"/>
            <a:ext cx="329184" cy="329184"/>
          </a:xfrm>
          <a:prstGeom prst="ellipse">
            <a:avLst/>
          </a:prstGeom>
          <a:solidFill>
            <a:srgbClr val="121B2D"/>
          </a:solidFill>
          <a:ln w="12700">
            <a:solidFill>
              <a:srgbClr val="B07CFF"/>
            </a:solidFill>
            <a:prstDash val="solid"/>
          </a:ln>
        </p:spPr>
        <p:txBody>
          <a:bodyPr/>
          <a:lstStyle/>
          <a:p>
            <a:endParaRPr lang="he-IL"/>
          </a:p>
        </p:txBody>
      </p:sp>
      <p:sp>
        <p:nvSpPr>
          <p:cNvPr id="20" name="Text 18"/>
          <p:cNvSpPr/>
          <p:nvPr/>
        </p:nvSpPr>
        <p:spPr>
          <a:xfrm>
            <a:off x="457200" y="3511296"/>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914400" y="3456432"/>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Rate limit</a:t>
            </a:r>
            <a:endParaRPr lang="en-US" sz="1400" dirty="0"/>
          </a:p>
        </p:txBody>
      </p:sp>
      <p:sp>
        <p:nvSpPr>
          <p:cNvPr id="22" name="Text 20"/>
          <p:cNvSpPr/>
          <p:nvPr/>
        </p:nvSpPr>
        <p:spPr>
          <a:xfrm>
            <a:off x="914400" y="3712464"/>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Prevents API spam, runaway loops and overload.</a:t>
            </a:r>
            <a:endParaRPr lang="en-US" sz="1200" dirty="0"/>
          </a:p>
        </p:txBody>
      </p:sp>
      <p:sp>
        <p:nvSpPr>
          <p:cNvPr id="23" name="Shape 21"/>
          <p:cNvSpPr/>
          <p:nvPr/>
        </p:nvSpPr>
        <p:spPr>
          <a:xfrm>
            <a:off x="6278728" y="1536192"/>
            <a:ext cx="329184" cy="329184"/>
          </a:xfrm>
          <a:prstGeom prst="ellipse">
            <a:avLst/>
          </a:prstGeom>
          <a:solidFill>
            <a:srgbClr val="121B2D"/>
          </a:solidFill>
          <a:ln w="12700">
            <a:solidFill>
              <a:srgbClr val="B07CFF"/>
            </a:solidFill>
            <a:prstDash val="solid"/>
          </a:ln>
        </p:spPr>
        <p:txBody>
          <a:bodyPr/>
          <a:lstStyle/>
          <a:p>
            <a:endParaRPr lang="he-IL"/>
          </a:p>
        </p:txBody>
      </p:sp>
      <p:sp>
        <p:nvSpPr>
          <p:cNvPr id="24" name="Text 22"/>
          <p:cNvSpPr/>
          <p:nvPr/>
        </p:nvSpPr>
        <p:spPr>
          <a:xfrm>
            <a:off x="6278728" y="1536192"/>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5</a:t>
            </a:r>
            <a:endParaRPr lang="en-US" sz="1300" dirty="0"/>
          </a:p>
        </p:txBody>
      </p:sp>
      <p:sp>
        <p:nvSpPr>
          <p:cNvPr id="25" name="Text 23"/>
          <p:cNvSpPr/>
          <p:nvPr/>
        </p:nvSpPr>
        <p:spPr>
          <a:xfrm>
            <a:off x="6735928" y="1481328"/>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Token quota</a:t>
            </a:r>
            <a:endParaRPr lang="en-US" sz="1400" dirty="0"/>
          </a:p>
        </p:txBody>
      </p:sp>
      <p:sp>
        <p:nvSpPr>
          <p:cNvPr id="26" name="Text 24"/>
          <p:cNvSpPr/>
          <p:nvPr/>
        </p:nvSpPr>
        <p:spPr>
          <a:xfrm>
            <a:off x="6735928" y="1737360"/>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Caps consumption per consumer, independent of budget.</a:t>
            </a:r>
            <a:endParaRPr lang="en-US" sz="1200" dirty="0"/>
          </a:p>
        </p:txBody>
      </p:sp>
      <p:sp>
        <p:nvSpPr>
          <p:cNvPr id="27" name="Shape 25"/>
          <p:cNvSpPr/>
          <p:nvPr/>
        </p:nvSpPr>
        <p:spPr>
          <a:xfrm>
            <a:off x="6278728" y="2194560"/>
            <a:ext cx="329184" cy="329184"/>
          </a:xfrm>
          <a:prstGeom prst="ellipse">
            <a:avLst/>
          </a:prstGeom>
          <a:solidFill>
            <a:srgbClr val="121B2D"/>
          </a:solidFill>
          <a:ln w="12700">
            <a:solidFill>
              <a:srgbClr val="B07CFF"/>
            </a:solidFill>
            <a:prstDash val="solid"/>
          </a:ln>
        </p:spPr>
        <p:txBody>
          <a:bodyPr/>
          <a:lstStyle/>
          <a:p>
            <a:endParaRPr lang="he-IL"/>
          </a:p>
        </p:txBody>
      </p:sp>
      <p:sp>
        <p:nvSpPr>
          <p:cNvPr id="28" name="Text 26"/>
          <p:cNvSpPr/>
          <p:nvPr/>
        </p:nvSpPr>
        <p:spPr>
          <a:xfrm>
            <a:off x="6278728" y="2194560"/>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6</a:t>
            </a:r>
            <a:endParaRPr lang="en-US" sz="1300" dirty="0"/>
          </a:p>
        </p:txBody>
      </p:sp>
      <p:sp>
        <p:nvSpPr>
          <p:cNvPr id="29" name="Text 27"/>
          <p:cNvSpPr/>
          <p:nvPr/>
        </p:nvSpPr>
        <p:spPr>
          <a:xfrm>
            <a:off x="6735928" y="2139696"/>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Cost centre</a:t>
            </a:r>
            <a:endParaRPr lang="en-US" sz="1400" dirty="0"/>
          </a:p>
        </p:txBody>
      </p:sp>
      <p:sp>
        <p:nvSpPr>
          <p:cNvPr id="30" name="Text 28"/>
          <p:cNvSpPr/>
          <p:nvPr/>
        </p:nvSpPr>
        <p:spPr>
          <a:xfrm>
            <a:off x="6735928" y="2395728"/>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Makes chargeback possible at month end.</a:t>
            </a:r>
            <a:endParaRPr lang="en-US" sz="1200" dirty="0"/>
          </a:p>
        </p:txBody>
      </p:sp>
      <p:sp>
        <p:nvSpPr>
          <p:cNvPr id="31" name="Shape 29"/>
          <p:cNvSpPr/>
          <p:nvPr/>
        </p:nvSpPr>
        <p:spPr>
          <a:xfrm>
            <a:off x="6278728" y="2852928"/>
            <a:ext cx="329184" cy="329184"/>
          </a:xfrm>
          <a:prstGeom prst="ellipse">
            <a:avLst/>
          </a:prstGeom>
          <a:solidFill>
            <a:srgbClr val="121B2D"/>
          </a:solidFill>
          <a:ln w="12700">
            <a:solidFill>
              <a:srgbClr val="B07CFF"/>
            </a:solidFill>
            <a:prstDash val="solid"/>
          </a:ln>
        </p:spPr>
        <p:txBody>
          <a:bodyPr/>
          <a:lstStyle/>
          <a:p>
            <a:endParaRPr lang="he-IL"/>
          </a:p>
        </p:txBody>
      </p:sp>
      <p:sp>
        <p:nvSpPr>
          <p:cNvPr id="32" name="Text 30"/>
          <p:cNvSpPr/>
          <p:nvPr/>
        </p:nvSpPr>
        <p:spPr>
          <a:xfrm>
            <a:off x="6278728" y="2852928"/>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7</a:t>
            </a:r>
            <a:endParaRPr lang="en-US" sz="1300" dirty="0"/>
          </a:p>
        </p:txBody>
      </p:sp>
      <p:sp>
        <p:nvSpPr>
          <p:cNvPr id="33" name="Text 31"/>
          <p:cNvSpPr/>
          <p:nvPr/>
        </p:nvSpPr>
        <p:spPr>
          <a:xfrm>
            <a:off x="6735928" y="2798064"/>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Executive approval</a:t>
            </a:r>
            <a:endParaRPr lang="en-US" sz="1400" dirty="0"/>
          </a:p>
        </p:txBody>
      </p:sp>
      <p:sp>
        <p:nvSpPr>
          <p:cNvPr id="34" name="Text 32"/>
          <p:cNvSpPr/>
          <p:nvPr/>
        </p:nvSpPr>
        <p:spPr>
          <a:xfrm>
            <a:off x="6735928" y="3054096"/>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Sign-off before launch, not after the first invoice.</a:t>
            </a:r>
            <a:endParaRPr lang="en-US" sz="1200" dirty="0"/>
          </a:p>
        </p:txBody>
      </p:sp>
      <p:sp>
        <p:nvSpPr>
          <p:cNvPr id="35" name="Shape 33"/>
          <p:cNvSpPr/>
          <p:nvPr/>
        </p:nvSpPr>
        <p:spPr>
          <a:xfrm>
            <a:off x="457200" y="4279392"/>
            <a:ext cx="11277295" cy="914400"/>
          </a:xfrm>
          <a:prstGeom prst="roundRect">
            <a:avLst>
              <a:gd name="adj" fmla="val 6000"/>
            </a:avLst>
          </a:prstGeom>
          <a:solidFill>
            <a:srgbClr val="121B2D"/>
          </a:solidFill>
          <a:ln w="12700">
            <a:solidFill>
              <a:srgbClr val="B07CFF"/>
            </a:solidFill>
            <a:prstDash val="solid"/>
          </a:ln>
        </p:spPr>
        <p:txBody>
          <a:bodyPr/>
          <a:lstStyle/>
          <a:p>
            <a:endParaRPr lang="he-IL"/>
          </a:p>
        </p:txBody>
      </p:sp>
      <p:sp>
        <p:nvSpPr>
          <p:cNvPr id="36" name="Text 34"/>
          <p:cNvSpPr/>
          <p:nvPr/>
        </p:nvSpPr>
        <p:spPr>
          <a:xfrm>
            <a:off x="685800" y="4407408"/>
            <a:ext cx="10820095" cy="292608"/>
          </a:xfrm>
          <a:prstGeom prst="rect">
            <a:avLst/>
          </a:prstGeom>
          <a:noFill/>
          <a:ln/>
        </p:spPr>
        <p:txBody>
          <a:bodyPr wrap="square" lIns="0" tIns="0" rIns="0" bIns="0" rtlCol="0" anchor="ctr"/>
          <a:lstStyle/>
          <a:p>
            <a:pPr marL="0" indent="0">
              <a:buNone/>
            </a:pPr>
            <a:r>
              <a:rPr lang="en-US" sz="1600" b="1" dirty="0">
                <a:solidFill>
                  <a:srgbClr val="F4F7FB"/>
                </a:solidFill>
                <a:latin typeface="Calibri" pitchFamily="34" charset="0"/>
                <a:ea typeface="Calibri" pitchFamily="34" charset="-122"/>
                <a:cs typeface="Calibri" pitchFamily="34" charset="-120"/>
              </a:rPr>
              <a:t>This is what makes shadow AI structurally impossible</a:t>
            </a:r>
            <a:endParaRPr lang="en-US" sz="1600" dirty="0"/>
          </a:p>
        </p:txBody>
      </p:sp>
      <p:sp>
        <p:nvSpPr>
          <p:cNvPr id="37" name="Text 35"/>
          <p:cNvSpPr/>
          <p:nvPr/>
        </p:nvSpPr>
        <p:spPr>
          <a:xfrm>
            <a:off x="685800" y="4700016"/>
            <a:ext cx="10820095" cy="402336"/>
          </a:xfrm>
          <a:prstGeom prst="rect">
            <a:avLst/>
          </a:prstGeom>
          <a:noFill/>
          <a:ln/>
        </p:spPr>
        <p:txBody>
          <a:bodyPr wrap="square" lIns="0" tIns="0" rIns="0" bIns="0" rtlCol="0" anchor="t"/>
          <a:lstStyle/>
          <a:p>
            <a:pPr marL="0" indent="0">
              <a:lnSpc>
                <a:spcPct val="115000"/>
              </a:lnSpc>
              <a:buNone/>
            </a:pPr>
            <a:r>
              <a:rPr lang="en-US" sz="1250" dirty="0">
                <a:solidFill>
                  <a:srgbClr val="91A0B7"/>
                </a:solidFill>
                <a:latin typeface="Calibri" pitchFamily="34" charset="0"/>
                <a:ea typeface="Calibri" pitchFamily="34" charset="-122"/>
                <a:cs typeface="Calibri" pitchFamily="34" charset="-120"/>
              </a:rPr>
              <a:t>Applied at the gateway, these criteria mean an unowned or unfunded workload cannot obtain a key, so it never reaches a provider inside the enterprise network.</a:t>
            </a:r>
            <a:endParaRPr lang="en-US" sz="1250" dirty="0"/>
          </a:p>
        </p:txBody>
      </p:sp>
    </p:spTree>
    <p:extLst>
      <p:ext uri="{BB962C8B-B14F-4D97-AF65-F5344CB8AC3E}">
        <p14:creationId xmlns:p14="http://schemas.microsoft.com/office/powerpoint/2010/main" val="1326744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LIFECYCLE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A gated path from proposal to report</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Four hard checkpoints sit before deployment. A request that cannot clear them does not reach a provider at all.</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Steps 02 to 05 are the gates. Everything after them is observation, not permission.</a:t>
            </a:r>
            <a:endParaRPr lang="en-US" sz="1200" dirty="0"/>
          </a:p>
        </p:txBody>
      </p:sp>
      <p:sp>
        <p:nvSpPr>
          <p:cNvPr id="8" name="Shape 6"/>
          <p:cNvSpPr/>
          <p:nvPr/>
        </p:nvSpPr>
        <p:spPr>
          <a:xfrm>
            <a:off x="457200"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655064"/>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01</a:t>
            </a:r>
            <a:endParaRPr lang="en-US" sz="2100" dirty="0"/>
          </a:p>
        </p:txBody>
      </p:sp>
      <p:sp>
        <p:nvSpPr>
          <p:cNvPr id="10" name="Text 8"/>
          <p:cNvSpPr/>
          <p:nvPr/>
        </p:nvSpPr>
        <p:spPr>
          <a:xfrm>
            <a:off x="658368"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Request</a:t>
            </a:r>
            <a:endParaRPr lang="en-US" sz="1400" dirty="0"/>
          </a:p>
        </p:txBody>
      </p:sp>
      <p:sp>
        <p:nvSpPr>
          <p:cNvPr id="11" name="Text 9"/>
          <p:cNvSpPr/>
          <p:nvPr/>
        </p:nvSpPr>
        <p:spPr>
          <a:xfrm>
            <a:off x="658368"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Use case, expected volume and business justification submitted.</a:t>
            </a:r>
            <a:endParaRPr lang="en-US" sz="1200" dirty="0"/>
          </a:p>
        </p:txBody>
      </p:sp>
      <p:sp>
        <p:nvSpPr>
          <p:cNvPr id="12" name="Shape 10"/>
          <p:cNvSpPr/>
          <p:nvPr/>
        </p:nvSpPr>
        <p:spPr>
          <a:xfrm>
            <a:off x="3340532"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3541700"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02</a:t>
            </a:r>
            <a:endParaRPr lang="en-US" sz="2100" dirty="0"/>
          </a:p>
        </p:txBody>
      </p:sp>
      <p:sp>
        <p:nvSpPr>
          <p:cNvPr id="14" name="Shape 12"/>
          <p:cNvSpPr/>
          <p:nvPr/>
        </p:nvSpPr>
        <p:spPr>
          <a:xfrm>
            <a:off x="5126584"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15" name="Text 13"/>
          <p:cNvSpPr/>
          <p:nvPr/>
        </p:nvSpPr>
        <p:spPr>
          <a:xfrm>
            <a:off x="5126584"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16" name="Text 14"/>
          <p:cNvSpPr/>
          <p:nvPr/>
        </p:nvSpPr>
        <p:spPr>
          <a:xfrm>
            <a:off x="3541700"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Business approval</a:t>
            </a:r>
            <a:endParaRPr lang="en-US" sz="1400" dirty="0"/>
          </a:p>
        </p:txBody>
      </p:sp>
      <p:sp>
        <p:nvSpPr>
          <p:cNvPr id="17" name="Text 15"/>
          <p:cNvSpPr/>
          <p:nvPr/>
        </p:nvSpPr>
        <p:spPr>
          <a:xfrm>
            <a:off x="3541700"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Named business owner accepts the outcome and the cost.</a:t>
            </a:r>
            <a:endParaRPr lang="en-US" sz="1200" dirty="0"/>
          </a:p>
        </p:txBody>
      </p:sp>
      <p:sp>
        <p:nvSpPr>
          <p:cNvPr id="18" name="Shape 16"/>
          <p:cNvSpPr/>
          <p:nvPr/>
        </p:nvSpPr>
        <p:spPr>
          <a:xfrm>
            <a:off x="6223864"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19" name="Text 17"/>
          <p:cNvSpPr/>
          <p:nvPr/>
        </p:nvSpPr>
        <p:spPr>
          <a:xfrm>
            <a:off x="6425032"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03</a:t>
            </a:r>
            <a:endParaRPr lang="en-US" sz="2100" dirty="0"/>
          </a:p>
        </p:txBody>
      </p:sp>
      <p:sp>
        <p:nvSpPr>
          <p:cNvPr id="20" name="Shape 18"/>
          <p:cNvSpPr/>
          <p:nvPr/>
        </p:nvSpPr>
        <p:spPr>
          <a:xfrm>
            <a:off x="8009915"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21" name="Text 19"/>
          <p:cNvSpPr/>
          <p:nvPr/>
        </p:nvSpPr>
        <p:spPr>
          <a:xfrm>
            <a:off x="8009915"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22" name="Text 20"/>
          <p:cNvSpPr/>
          <p:nvPr/>
        </p:nvSpPr>
        <p:spPr>
          <a:xfrm>
            <a:off x="6425032"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Budget allocation</a:t>
            </a:r>
            <a:endParaRPr lang="en-US" sz="1400" dirty="0"/>
          </a:p>
        </p:txBody>
      </p:sp>
      <p:sp>
        <p:nvSpPr>
          <p:cNvPr id="23" name="Text 21"/>
          <p:cNvSpPr/>
          <p:nvPr/>
        </p:nvSpPr>
        <p:spPr>
          <a:xfrm>
            <a:off x="6425032"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Monthly envelope assigned against a cost centre.</a:t>
            </a:r>
            <a:endParaRPr lang="en-US" sz="1200" dirty="0"/>
          </a:p>
        </p:txBody>
      </p:sp>
      <p:sp>
        <p:nvSpPr>
          <p:cNvPr id="24" name="Shape 22"/>
          <p:cNvSpPr/>
          <p:nvPr/>
        </p:nvSpPr>
        <p:spPr>
          <a:xfrm>
            <a:off x="9107195"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25" name="Text 23"/>
          <p:cNvSpPr/>
          <p:nvPr/>
        </p:nvSpPr>
        <p:spPr>
          <a:xfrm>
            <a:off x="9308363"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04</a:t>
            </a:r>
            <a:endParaRPr lang="en-US" sz="2100" dirty="0"/>
          </a:p>
        </p:txBody>
      </p:sp>
      <p:sp>
        <p:nvSpPr>
          <p:cNvPr id="26" name="Shape 24"/>
          <p:cNvSpPr/>
          <p:nvPr/>
        </p:nvSpPr>
        <p:spPr>
          <a:xfrm>
            <a:off x="10893247"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27" name="Text 25"/>
          <p:cNvSpPr/>
          <p:nvPr/>
        </p:nvSpPr>
        <p:spPr>
          <a:xfrm>
            <a:off x="10893247"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28" name="Text 26"/>
          <p:cNvSpPr/>
          <p:nvPr/>
        </p:nvSpPr>
        <p:spPr>
          <a:xfrm>
            <a:off x="9308363"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Quota assignment</a:t>
            </a:r>
            <a:endParaRPr lang="en-US" sz="1400" dirty="0"/>
          </a:p>
        </p:txBody>
      </p:sp>
      <p:sp>
        <p:nvSpPr>
          <p:cNvPr id="29" name="Text 27"/>
          <p:cNvSpPr/>
          <p:nvPr/>
        </p:nvSpPr>
        <p:spPr>
          <a:xfrm>
            <a:off x="9308363"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Token quota and rate limit set per consumer.</a:t>
            </a:r>
            <a:endParaRPr lang="en-US" sz="1200" dirty="0"/>
          </a:p>
        </p:txBody>
      </p:sp>
      <p:sp>
        <p:nvSpPr>
          <p:cNvPr id="30" name="Shape 28"/>
          <p:cNvSpPr/>
          <p:nvPr/>
        </p:nvSpPr>
        <p:spPr>
          <a:xfrm>
            <a:off x="457200"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31" name="Text 29"/>
          <p:cNvSpPr/>
          <p:nvPr/>
        </p:nvSpPr>
        <p:spPr>
          <a:xfrm>
            <a:off x="658368" y="3785616"/>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05</a:t>
            </a:r>
            <a:endParaRPr lang="en-US" sz="2100" dirty="0"/>
          </a:p>
        </p:txBody>
      </p:sp>
      <p:sp>
        <p:nvSpPr>
          <p:cNvPr id="32" name="Shape 30"/>
          <p:cNvSpPr/>
          <p:nvPr/>
        </p:nvSpPr>
        <p:spPr>
          <a:xfrm>
            <a:off x="2243252" y="3822192"/>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33" name="Text 31"/>
          <p:cNvSpPr/>
          <p:nvPr/>
        </p:nvSpPr>
        <p:spPr>
          <a:xfrm>
            <a:off x="2243252" y="3822192"/>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34" name="Text 32"/>
          <p:cNvSpPr/>
          <p:nvPr/>
        </p:nvSpPr>
        <p:spPr>
          <a:xfrm>
            <a:off x="658368"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Gateway policy</a:t>
            </a:r>
            <a:endParaRPr lang="en-US" sz="1400" dirty="0"/>
          </a:p>
        </p:txBody>
      </p:sp>
      <p:sp>
        <p:nvSpPr>
          <p:cNvPr id="35" name="Text 33"/>
          <p:cNvSpPr/>
          <p:nvPr/>
        </p:nvSpPr>
        <p:spPr>
          <a:xfrm>
            <a:off x="658368"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Key issued, model tier pinned, policy applied.</a:t>
            </a:r>
            <a:endParaRPr lang="en-US" sz="1200" dirty="0"/>
          </a:p>
        </p:txBody>
      </p:sp>
      <p:sp>
        <p:nvSpPr>
          <p:cNvPr id="36" name="Shape 34"/>
          <p:cNvSpPr/>
          <p:nvPr/>
        </p:nvSpPr>
        <p:spPr>
          <a:xfrm>
            <a:off x="3340532"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37" name="Text 35"/>
          <p:cNvSpPr/>
          <p:nvPr/>
        </p:nvSpPr>
        <p:spPr>
          <a:xfrm>
            <a:off x="3541700"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06</a:t>
            </a:r>
            <a:endParaRPr lang="en-US" sz="2100" dirty="0"/>
          </a:p>
        </p:txBody>
      </p:sp>
      <p:sp>
        <p:nvSpPr>
          <p:cNvPr id="38" name="Text 36"/>
          <p:cNvSpPr/>
          <p:nvPr/>
        </p:nvSpPr>
        <p:spPr>
          <a:xfrm>
            <a:off x="3541700"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Deployment</a:t>
            </a:r>
            <a:endParaRPr lang="en-US" sz="1400" dirty="0"/>
          </a:p>
        </p:txBody>
      </p:sp>
      <p:sp>
        <p:nvSpPr>
          <p:cNvPr id="39" name="Text 37"/>
          <p:cNvSpPr/>
          <p:nvPr/>
        </p:nvSpPr>
        <p:spPr>
          <a:xfrm>
            <a:off x="3541700"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Workload goes live through the gateway, never around it.</a:t>
            </a:r>
            <a:endParaRPr lang="en-US" sz="1200" dirty="0"/>
          </a:p>
        </p:txBody>
      </p:sp>
      <p:sp>
        <p:nvSpPr>
          <p:cNvPr id="40" name="Shape 38"/>
          <p:cNvSpPr/>
          <p:nvPr/>
        </p:nvSpPr>
        <p:spPr>
          <a:xfrm>
            <a:off x="6223864"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41" name="Text 39"/>
          <p:cNvSpPr/>
          <p:nvPr/>
        </p:nvSpPr>
        <p:spPr>
          <a:xfrm>
            <a:off x="6425032"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07</a:t>
            </a:r>
            <a:endParaRPr lang="en-US" sz="2100" dirty="0"/>
          </a:p>
        </p:txBody>
      </p:sp>
      <p:sp>
        <p:nvSpPr>
          <p:cNvPr id="42" name="Text 40"/>
          <p:cNvSpPr/>
          <p:nvPr/>
        </p:nvSpPr>
        <p:spPr>
          <a:xfrm>
            <a:off x="6425032"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Monitoring</a:t>
            </a:r>
            <a:endParaRPr lang="en-US" sz="1400" dirty="0"/>
          </a:p>
        </p:txBody>
      </p:sp>
      <p:sp>
        <p:nvSpPr>
          <p:cNvPr id="43" name="Text 41"/>
          <p:cNvSpPr/>
          <p:nvPr/>
        </p:nvSpPr>
        <p:spPr>
          <a:xfrm>
            <a:off x="6425032"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Usage, anomalies and unit cost tracked continuously.</a:t>
            </a:r>
            <a:endParaRPr lang="en-US" sz="1200" dirty="0"/>
          </a:p>
        </p:txBody>
      </p:sp>
      <p:sp>
        <p:nvSpPr>
          <p:cNvPr id="44" name="Shape 42"/>
          <p:cNvSpPr/>
          <p:nvPr/>
        </p:nvSpPr>
        <p:spPr>
          <a:xfrm>
            <a:off x="9107195"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45" name="Text 43"/>
          <p:cNvSpPr/>
          <p:nvPr/>
        </p:nvSpPr>
        <p:spPr>
          <a:xfrm>
            <a:off x="9308363"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08</a:t>
            </a:r>
            <a:endParaRPr lang="en-US" sz="2100" dirty="0"/>
          </a:p>
        </p:txBody>
      </p:sp>
      <p:sp>
        <p:nvSpPr>
          <p:cNvPr id="46" name="Text 44"/>
          <p:cNvSpPr/>
          <p:nvPr/>
        </p:nvSpPr>
        <p:spPr>
          <a:xfrm>
            <a:off x="9308363"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Executive report</a:t>
            </a:r>
            <a:endParaRPr lang="en-US" sz="1400" dirty="0"/>
          </a:p>
        </p:txBody>
      </p:sp>
      <p:sp>
        <p:nvSpPr>
          <p:cNvPr id="47" name="Text 45"/>
          <p:cNvSpPr/>
          <p:nvPr/>
        </p:nvSpPr>
        <p:spPr>
          <a:xfrm>
            <a:off x="9308363"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Consumption, variance and value reported monthly.</a:t>
            </a:r>
            <a:endParaRPr lang="en-US" sz="1200" dirty="0"/>
          </a:p>
        </p:txBody>
      </p:sp>
    </p:spTree>
    <p:extLst>
      <p:ext uri="{BB962C8B-B14F-4D97-AF65-F5344CB8AC3E}">
        <p14:creationId xmlns:p14="http://schemas.microsoft.com/office/powerpoint/2010/main" val="4120224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MODEL POLICY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Sonnet by default, Opus by exception</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GitHub Copilot model selection is the one AI lever that needs no new platform, only a policy.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The same policy applies to Bedrock: 82% of AWS AI spend is Opus-class, and the model mix changes month to month: Opus 4.8 ran and stopped, Opus 5 appeared in July. That is a policy gap, not a usage pattern.</a:t>
            </a:r>
            <a:endParaRPr lang="en-US" sz="1200" dirty="0"/>
          </a:p>
        </p:txBody>
      </p:sp>
      <p:sp>
        <p:nvSpPr>
          <p:cNvPr id="8" name="Text 6"/>
          <p:cNvSpPr/>
          <p:nvPr/>
        </p:nvSpPr>
        <p:spPr>
          <a:xfrm>
            <a:off x="457200" y="1234440"/>
            <a:ext cx="768096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Model pricing and intended use</a:t>
            </a:r>
            <a:endParaRPr lang="en-US" sz="1500" dirty="0"/>
          </a:p>
        </p:txBody>
      </p:sp>
      <p:sp>
        <p:nvSpPr>
          <p:cNvPr id="9" name="Text 7"/>
          <p:cNvSpPr/>
          <p:nvPr/>
        </p:nvSpPr>
        <p:spPr>
          <a:xfrm>
            <a:off x="457200" y="1508760"/>
            <a:ext cx="768096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Promotional pricing, valid through 31 August 2026</a:t>
            </a:r>
            <a:endParaRPr lang="en-US" sz="1200" dirty="0"/>
          </a:p>
        </p:txBody>
      </p:sp>
      <p:graphicFrame>
        <p:nvGraphicFramePr>
          <p:cNvPr id="26" name="Table 0"/>
          <p:cNvGraphicFramePr>
            <a:graphicFrameLocks noGrp="1"/>
          </p:cNvGraphicFramePr>
          <p:nvPr/>
        </p:nvGraphicFramePr>
        <p:xfrm>
          <a:off x="457200" y="1764792"/>
          <a:ext cx="7680960" cy="1586992"/>
        </p:xfrm>
        <a:graphic>
          <a:graphicData uri="http://schemas.openxmlformats.org/drawingml/2006/table">
            <a:tbl>
              <a:tblPr/>
              <a:tblGrid>
                <a:gridCol w="19202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Input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Output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Relative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Recommended usage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Sonnet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Default model: routine coding, SQL, debugging, documentation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Complex tasks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Advanced reasoning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Opus 4.8 Fast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Exception only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11" name="Shape 8"/>
          <p:cNvSpPr/>
          <p:nvPr/>
        </p:nvSpPr>
        <p:spPr>
          <a:xfrm>
            <a:off x="8503920" y="1234440"/>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2" name="Text 9"/>
          <p:cNvSpPr/>
          <p:nvPr/>
        </p:nvSpPr>
        <p:spPr>
          <a:xfrm>
            <a:off x="8705088" y="1325880"/>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AVAILABLE SAVING</a:t>
            </a:r>
            <a:endParaRPr lang="en-US" sz="1200" dirty="0"/>
          </a:p>
        </p:txBody>
      </p:sp>
      <p:sp>
        <p:nvSpPr>
          <p:cNvPr id="13" name="Text 10"/>
          <p:cNvSpPr/>
          <p:nvPr/>
        </p:nvSpPr>
        <p:spPr>
          <a:xfrm>
            <a:off x="8705088" y="1527048"/>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~60%</a:t>
            </a:r>
            <a:endParaRPr lang="en-US" sz="2800" dirty="0"/>
          </a:p>
        </p:txBody>
      </p:sp>
      <p:sp>
        <p:nvSpPr>
          <p:cNvPr id="14" name="Text 11"/>
          <p:cNvSpPr/>
          <p:nvPr/>
        </p:nvSpPr>
        <p:spPr>
          <a:xfrm>
            <a:off x="8705088" y="1929384"/>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on model token cost, routine work Opus to Sonnet</a:t>
            </a:r>
            <a:endParaRPr lang="en-US" sz="1200" dirty="0"/>
          </a:p>
        </p:txBody>
      </p:sp>
      <p:sp>
        <p:nvSpPr>
          <p:cNvPr id="15" name="Shape 12"/>
          <p:cNvSpPr/>
          <p:nvPr/>
        </p:nvSpPr>
        <p:spPr>
          <a:xfrm>
            <a:off x="8503920" y="2459736"/>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6" name="Text 13"/>
          <p:cNvSpPr/>
          <p:nvPr/>
        </p:nvSpPr>
        <p:spPr>
          <a:xfrm>
            <a:off x="8705088" y="2551176"/>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GITHUB COPILOT SPEND</a:t>
            </a:r>
            <a:endParaRPr lang="en-US" sz="1200" dirty="0"/>
          </a:p>
        </p:txBody>
      </p:sp>
      <p:sp>
        <p:nvSpPr>
          <p:cNvPr id="17" name="Text 14"/>
          <p:cNvSpPr/>
          <p:nvPr/>
        </p:nvSpPr>
        <p:spPr>
          <a:xfrm>
            <a:off x="8705088" y="2752344"/>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18" name="Text 15"/>
          <p:cNvSpPr/>
          <p:nvPr/>
        </p:nvSpPr>
        <p:spPr>
          <a:xfrm>
            <a:off x="8705088" y="3154680"/>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Jan-Jul, +593% Jan to Jul</a:t>
            </a:r>
            <a:endParaRPr lang="en-US" sz="1200" dirty="0"/>
          </a:p>
        </p:txBody>
      </p:sp>
      <p:sp>
        <p:nvSpPr>
          <p:cNvPr id="19" name="Shape 16"/>
          <p:cNvSpPr/>
          <p:nvPr/>
        </p:nvSpPr>
        <p:spPr>
          <a:xfrm>
            <a:off x="8503920" y="3685032"/>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0" name="Text 17"/>
          <p:cNvSpPr/>
          <p:nvPr/>
        </p:nvSpPr>
        <p:spPr>
          <a:xfrm>
            <a:off x="8705088" y="3776472"/>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AWS BEDROCK, OPUS SHARE</a:t>
            </a:r>
            <a:endParaRPr lang="en-US" sz="1200" dirty="0"/>
          </a:p>
        </p:txBody>
      </p:sp>
      <p:sp>
        <p:nvSpPr>
          <p:cNvPr id="21" name="Text 18"/>
          <p:cNvSpPr/>
          <p:nvPr/>
        </p:nvSpPr>
        <p:spPr>
          <a:xfrm>
            <a:off x="8705088" y="3977640"/>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82.1%</a:t>
            </a:r>
            <a:endParaRPr lang="en-US" sz="2800" dirty="0"/>
          </a:p>
        </p:txBody>
      </p:sp>
      <p:sp>
        <p:nvSpPr>
          <p:cNvPr id="22" name="Text 19"/>
          <p:cNvSpPr/>
          <p:nvPr/>
        </p:nvSpPr>
        <p:spPr>
          <a:xfrm>
            <a:off x="8705088" y="4379976"/>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of AWS AI spend is Opus-class</a:t>
            </a:r>
            <a:endParaRPr lang="en-US" sz="1200" dirty="0"/>
          </a:p>
        </p:txBody>
      </p:sp>
      <p:sp>
        <p:nvSpPr>
          <p:cNvPr id="23" name="Shape 20"/>
          <p:cNvSpPr/>
          <p:nvPr/>
        </p:nvSpPr>
        <p:spPr>
          <a:xfrm>
            <a:off x="8503920" y="4910328"/>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4" name="Text 21"/>
          <p:cNvSpPr/>
          <p:nvPr/>
        </p:nvSpPr>
        <p:spPr>
          <a:xfrm>
            <a:off x="8705088" y="5001768"/>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PROMO PRICING ENDS</a:t>
            </a:r>
            <a:endParaRPr lang="en-US" sz="1200" dirty="0"/>
          </a:p>
        </p:txBody>
      </p:sp>
      <p:sp>
        <p:nvSpPr>
          <p:cNvPr id="25" name="Text 22"/>
          <p:cNvSpPr/>
          <p:nvPr/>
        </p:nvSpPr>
        <p:spPr>
          <a:xfrm>
            <a:off x="8705088" y="5202936"/>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31 Aug 2026</a:t>
            </a:r>
            <a:endParaRPr lang="en-US" sz="2800" dirty="0"/>
          </a:p>
        </p:txBody>
      </p:sp>
      <p:sp>
        <p:nvSpPr>
          <p:cNvPr id="10" name="Text 23"/>
          <p:cNvSpPr/>
          <p:nvPr/>
        </p:nvSpPr>
        <p:spPr>
          <a:xfrm>
            <a:off x="8705088" y="5605272"/>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reassess before the date</a:t>
            </a:r>
            <a:endParaRPr lang="en-US" sz="1200" dirty="0"/>
          </a:p>
        </p:txBody>
      </p:sp>
    </p:spTree>
    <p:extLst>
      <p:ext uri="{BB962C8B-B14F-4D97-AF65-F5344CB8AC3E}">
        <p14:creationId xmlns:p14="http://schemas.microsoft.com/office/powerpoint/2010/main" val="3672353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E0A030">
              <a:alpha val="8000"/>
            </a:srgbClr>
          </a:solidFill>
          <a:ln w="12700">
            <a:solidFill>
              <a:srgbClr val="E0A030">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E0A030"/>
                </a:solidFill>
                <a:latin typeface="Calibri" pitchFamily="34" charset="0"/>
                <a:ea typeface="Calibri" pitchFamily="34" charset="-122"/>
                <a:cs typeface="Calibri" pitchFamily="34" charset="-120"/>
              </a:rPr>
              <a:t>PART TWO</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waiting costs</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Three gaps that are already priced, and already being paid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DATABRICKS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154" b="1" dirty="0">
                <a:solidFill>
                  <a:srgbClr val="F4F7FB"/>
                </a:solidFill>
                <a:latin typeface="Calibri" pitchFamily="34" charset="0"/>
                <a:ea typeface="Calibri" pitchFamily="34" charset="-122"/>
                <a:cs typeface="Calibri" pitchFamily="34" charset="-120"/>
              </a:rPr>
              <a:t>$504,000 paid in April. 18% of it used.</a:t>
            </a:r>
            <a:endParaRPr lang="en-US" sz="2154"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A three-year, 600,000 DBU-hour pre-purchase made on 28 April 2026.</a:t>
            </a:r>
            <a:endParaRPr lang="en-US" sz="1200" dirty="0"/>
          </a:p>
        </p:txBody>
      </p:sp>
      <p:sp>
        <p:nvSpPr>
          <p:cNvPr id="7" name="Shape 5"/>
          <p:cNvSpPr/>
          <p:nvPr/>
        </p:nvSpPr>
        <p:spPr>
          <a:xfrm>
            <a:off x="457200"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8" name="Text 6"/>
          <p:cNvSpPr/>
          <p:nvPr/>
        </p:nvSpPr>
        <p:spPr>
          <a:xfrm>
            <a:off x="658368"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COMMITTED</a:t>
            </a:r>
            <a:endParaRPr lang="en-US" sz="1200" dirty="0"/>
          </a:p>
        </p:txBody>
      </p:sp>
      <p:sp>
        <p:nvSpPr>
          <p:cNvPr id="9" name="Text 7"/>
          <p:cNvSpPr/>
          <p:nvPr/>
        </p:nvSpPr>
        <p:spPr>
          <a:xfrm>
            <a:off x="658368"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$504,000</a:t>
            </a:r>
            <a:endParaRPr lang="en-US" sz="2800" dirty="0"/>
          </a:p>
        </p:txBody>
      </p:sp>
      <p:sp>
        <p:nvSpPr>
          <p:cNvPr id="10" name="Text 8"/>
          <p:cNvSpPr/>
          <p:nvPr/>
        </p:nvSpPr>
        <p:spPr>
          <a:xfrm>
            <a:off x="658368"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Azure P3 pre-purchase, 28 Apr 2026</a:t>
            </a:r>
            <a:endParaRPr lang="en-US" sz="1200" dirty="0"/>
          </a:p>
        </p:txBody>
      </p:sp>
      <p:sp>
        <p:nvSpPr>
          <p:cNvPr id="11" name="Shape 9"/>
          <p:cNvSpPr/>
          <p:nvPr/>
        </p:nvSpPr>
        <p:spPr>
          <a:xfrm>
            <a:off x="3333674"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3534842"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TERM</a:t>
            </a:r>
            <a:endParaRPr lang="en-US" sz="1200" dirty="0"/>
          </a:p>
        </p:txBody>
      </p:sp>
      <p:sp>
        <p:nvSpPr>
          <p:cNvPr id="13" name="Text 11"/>
          <p:cNvSpPr/>
          <p:nvPr/>
        </p:nvSpPr>
        <p:spPr>
          <a:xfrm>
            <a:off x="3534842"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 years</a:t>
            </a:r>
            <a:endParaRPr lang="en-US" sz="2800" dirty="0"/>
          </a:p>
        </p:txBody>
      </p:sp>
      <p:sp>
        <p:nvSpPr>
          <p:cNvPr id="14" name="Text 12"/>
          <p:cNvSpPr/>
          <p:nvPr/>
        </p:nvSpPr>
        <p:spPr>
          <a:xfrm>
            <a:off x="3534842"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600,000 DBU hours</a:t>
            </a:r>
            <a:endParaRPr lang="en-US" sz="1200" dirty="0"/>
          </a:p>
        </p:txBody>
      </p:sp>
      <p:sp>
        <p:nvSpPr>
          <p:cNvPr id="15" name="Shape 13"/>
          <p:cNvSpPr/>
          <p:nvPr/>
        </p:nvSpPr>
        <p:spPr>
          <a:xfrm>
            <a:off x="6210148"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411316"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DRAWN TO JULY</a:t>
            </a:r>
            <a:endParaRPr lang="en-US" sz="1200" dirty="0"/>
          </a:p>
        </p:txBody>
      </p:sp>
      <p:sp>
        <p:nvSpPr>
          <p:cNvPr id="17" name="Text 15"/>
          <p:cNvSpPr/>
          <p:nvPr/>
        </p:nvSpPr>
        <p:spPr>
          <a:xfrm>
            <a:off x="6411316"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$88,666</a:t>
            </a:r>
            <a:endParaRPr lang="en-US" sz="2800" dirty="0"/>
          </a:p>
        </p:txBody>
      </p:sp>
      <p:sp>
        <p:nvSpPr>
          <p:cNvPr id="18" name="Text 16"/>
          <p:cNvSpPr/>
          <p:nvPr/>
        </p:nvSpPr>
        <p:spPr>
          <a:xfrm>
            <a:off x="6411316"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consumption, not new cash</a:t>
            </a:r>
            <a:endParaRPr lang="en-US" sz="1200" dirty="0"/>
          </a:p>
        </p:txBody>
      </p:sp>
      <p:sp>
        <p:nvSpPr>
          <p:cNvPr id="19" name="Shape 17"/>
          <p:cNvSpPr/>
          <p:nvPr/>
        </p:nvSpPr>
        <p:spPr>
          <a:xfrm>
            <a:off x="9086621"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0" name="Text 18"/>
          <p:cNvSpPr/>
          <p:nvPr/>
        </p:nvSpPr>
        <p:spPr>
          <a:xfrm>
            <a:off x="9287789"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INFRA UNDERNEATH</a:t>
            </a:r>
            <a:endParaRPr lang="en-US" sz="1200" dirty="0"/>
          </a:p>
        </p:txBody>
      </p:sp>
      <p:sp>
        <p:nvSpPr>
          <p:cNvPr id="21" name="Text 19"/>
          <p:cNvSpPr/>
          <p:nvPr/>
        </p:nvSpPr>
        <p:spPr>
          <a:xfrm>
            <a:off x="9287789"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$63,501</a:t>
            </a:r>
            <a:endParaRPr lang="en-US" sz="2800" dirty="0"/>
          </a:p>
        </p:txBody>
      </p:sp>
      <p:sp>
        <p:nvSpPr>
          <p:cNvPr id="22" name="Text 20"/>
          <p:cNvSpPr/>
          <p:nvPr/>
        </p:nvSpPr>
        <p:spPr>
          <a:xfrm>
            <a:off x="9287789"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May-Jul, this part still bills</a:t>
            </a:r>
            <a:endParaRPr lang="en-US" sz="1200" dirty="0"/>
          </a:p>
        </p:txBody>
      </p:sp>
      <p:sp>
        <p:nvSpPr>
          <p:cNvPr id="23" name="Shape 21"/>
          <p:cNvSpPr/>
          <p:nvPr/>
        </p:nvSpPr>
        <p:spPr>
          <a:xfrm>
            <a:off x="457200" y="2468880"/>
            <a:ext cx="11277295" cy="1691640"/>
          </a:xfrm>
          <a:prstGeom prst="roundRect">
            <a:avLst>
              <a:gd name="adj" fmla="val 3243"/>
            </a:avLst>
          </a:prstGeom>
          <a:solidFill>
            <a:srgbClr val="121B2D"/>
          </a:solidFill>
          <a:ln w="12700">
            <a:solidFill>
              <a:srgbClr val="B07CFF"/>
            </a:solidFill>
            <a:prstDash val="solid"/>
          </a:ln>
        </p:spPr>
        <p:txBody>
          <a:bodyPr/>
          <a:lstStyle/>
          <a:p>
            <a:endParaRPr lang="he-IL" dirty="0"/>
          </a:p>
        </p:txBody>
      </p:sp>
      <p:sp>
        <p:nvSpPr>
          <p:cNvPr id="24" name="Text 22"/>
          <p:cNvSpPr/>
          <p:nvPr/>
        </p:nvSpPr>
        <p:spPr>
          <a:xfrm>
            <a:off x="777240" y="2651760"/>
            <a:ext cx="3108960" cy="1325880"/>
          </a:xfrm>
          <a:prstGeom prst="rect">
            <a:avLst/>
          </a:prstGeom>
          <a:noFill/>
          <a:ln/>
        </p:spPr>
        <p:txBody>
          <a:bodyPr wrap="square" lIns="0" tIns="0" rIns="0" bIns="0" rtlCol="0" anchor="ctr"/>
          <a:lstStyle/>
          <a:p>
            <a:pPr marL="0" indent="0">
              <a:buNone/>
            </a:pPr>
            <a:r>
              <a:rPr lang="en-US" sz="6600" b="1" dirty="0">
                <a:solidFill>
                  <a:srgbClr val="B07CFF"/>
                </a:solidFill>
                <a:latin typeface="Calibri" pitchFamily="34" charset="0"/>
                <a:ea typeface="Calibri" pitchFamily="34" charset="-122"/>
                <a:cs typeface="Calibri" pitchFamily="34" charset="-120"/>
              </a:rPr>
              <a:t>18%</a:t>
            </a:r>
            <a:endParaRPr lang="en-US" sz="6600" dirty="0"/>
          </a:p>
        </p:txBody>
      </p:sp>
      <p:sp>
        <p:nvSpPr>
          <p:cNvPr id="25" name="Text 23"/>
          <p:cNvSpPr/>
          <p:nvPr/>
        </p:nvSpPr>
        <p:spPr>
          <a:xfrm>
            <a:off x="4023360" y="2724912"/>
            <a:ext cx="7345375" cy="1188720"/>
          </a:xfrm>
          <a:prstGeom prst="rect">
            <a:avLst/>
          </a:prstGeom>
          <a:noFill/>
          <a:ln/>
        </p:spPr>
        <p:txBody>
          <a:bodyPr wrap="square" lIns="0" tIns="0" rIns="0" bIns="0" rtlCol="0" anchor="ctr"/>
          <a:lstStyle/>
          <a:p>
            <a:pPr marL="0" indent="0">
              <a:lnSpc>
                <a:spcPct val="125000"/>
              </a:lnSpc>
              <a:buNone/>
            </a:pPr>
            <a:r>
              <a:rPr lang="en-US" sz="1550" dirty="0">
                <a:solidFill>
                  <a:srgbClr val="F4F7FB"/>
                </a:solidFill>
                <a:latin typeface="Calibri" pitchFamily="34" charset="0"/>
                <a:ea typeface="Calibri" pitchFamily="34" charset="-122"/>
                <a:cs typeface="Calibri" pitchFamily="34" charset="-120"/>
              </a:rPr>
              <a:t>cumulative utilisation of the Databricks commitment as at July. Databricks compute bills at $0 because it draws against a balance already paid so it disappears from every consumption report while the money is already gone.</a:t>
            </a:r>
            <a:endParaRPr lang="en-US" sz="1550" dirty="0"/>
          </a:p>
        </p:txBody>
      </p:sp>
      <p:sp>
        <p:nvSpPr>
          <p:cNvPr id="27" name="Text 25"/>
          <p:cNvSpPr/>
          <p:nvPr/>
        </p:nvSpPr>
        <p:spPr>
          <a:xfrm>
            <a:off x="630936" y="4434840"/>
            <a:ext cx="11103559" cy="365760"/>
          </a:xfrm>
          <a:prstGeom prst="rect">
            <a:avLst/>
          </a:prstGeom>
          <a:noFill/>
          <a:ln/>
        </p:spPr>
        <p:txBody>
          <a:bodyPr wrap="square" lIns="0" tIns="0" rIns="0" bIns="0" rtlCol="0" anchor="t"/>
          <a:lstStyle/>
          <a:p>
            <a:pPr marL="0" indent="0">
              <a:lnSpc>
                <a:spcPct val="110000"/>
              </a:lnSpc>
              <a:buNone/>
            </a:pPr>
            <a:endParaRPr lang="en-US" sz="1250" dirty="0"/>
          </a:p>
        </p:txBody>
      </p:sp>
      <p:sp>
        <p:nvSpPr>
          <p:cNvPr id="28" name="Shape 26"/>
          <p:cNvSpPr/>
          <p:nvPr/>
        </p:nvSpPr>
        <p:spPr>
          <a:xfrm>
            <a:off x="457200" y="5084064"/>
            <a:ext cx="64008" cy="64008"/>
          </a:xfrm>
          <a:prstGeom prst="rect">
            <a:avLst/>
          </a:prstGeom>
          <a:solidFill>
            <a:srgbClr val="B07CFF"/>
          </a:solidFill>
          <a:ln w="12700">
            <a:solidFill>
              <a:srgbClr val="B07CFF"/>
            </a:solidFill>
            <a:prstDash val="solid"/>
          </a:ln>
        </p:spPr>
        <p:txBody>
          <a:bodyPr/>
          <a:lstStyle/>
          <a:p>
            <a:endParaRPr lang="he-IL" dirty="0"/>
          </a:p>
        </p:txBody>
      </p:sp>
      <p:sp>
        <p:nvSpPr>
          <p:cNvPr id="29" name="Text 27"/>
          <p:cNvSpPr/>
          <p:nvPr/>
        </p:nvSpPr>
        <p:spPr>
          <a:xfrm>
            <a:off x="630936" y="5001768"/>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VMs, networking and storage that Databricks runs on are not covered by the pre-purchase and cost $63,501 across May to July alone.</a:t>
            </a:r>
            <a:endParaRPr lang="en-US" sz="1250" dirty="0"/>
          </a:p>
        </p:txBody>
      </p:sp>
      <p:sp>
        <p:nvSpPr>
          <p:cNvPr id="31" name="Text 29"/>
          <p:cNvSpPr/>
          <p:nvPr/>
        </p:nvSpPr>
        <p:spPr>
          <a:xfrm>
            <a:off x="630936" y="5568696"/>
            <a:ext cx="11103559" cy="182880"/>
          </a:xfrm>
          <a:prstGeom prst="rect">
            <a:avLst/>
          </a:prstGeom>
          <a:noFill/>
          <a:ln/>
        </p:spPr>
        <p:txBody>
          <a:bodyPr wrap="square" lIns="0" tIns="0" rIns="0" bIns="0" rtlCol="0" anchor="t"/>
          <a:lstStyle/>
          <a:p>
            <a:pPr marL="0" indent="0">
              <a:lnSpc>
                <a:spcPct val="110000"/>
              </a:lnSpc>
              <a:buNone/>
            </a:pP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NEXT STEPS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1097280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Open items</a:t>
            </a:r>
            <a:endParaRPr lang="en-US" sz="1500" dirty="0"/>
          </a:p>
        </p:txBody>
      </p:sp>
      <p:graphicFrame>
        <p:nvGraphicFramePr>
          <p:cNvPr id="27" name="Table 0"/>
          <p:cNvGraphicFramePr>
            <a:graphicFrameLocks noGrp="1"/>
          </p:cNvGraphicFramePr>
          <p:nvPr/>
        </p:nvGraphicFramePr>
        <p:xfrm>
          <a:off x="457200" y="818388"/>
          <a:ext cx="10972800" cy="3969706"/>
        </p:xfrm>
        <a:graphic>
          <a:graphicData uri="http://schemas.openxmlformats.org/drawingml/2006/table">
            <a:tbl>
              <a:tblPr/>
              <a:tblGrid>
                <a:gridCol w="411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77282">
                <a:tc>
                  <a:txBody>
                    <a:bodyPr/>
                    <a:lstStyle/>
                    <a:p>
                      <a:pPr marL="0" indent="0" algn="ctr">
                        <a:buNone/>
                      </a:pPr>
                      <a:r>
                        <a:rPr lang="en-US" sz="1200" b="1" kern="0" spc="8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b="1" kern="0" spc="80" dirty="0">
                          <a:solidFill>
                            <a:srgbClr val="91A0B7"/>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Savings and efficiency programme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Deliver the Cloud FinOps savings plan: right-sizing, auto-shutdown, reserved instances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E0A03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Infrastructure Division&amp;</a:t>
                      </a:r>
                    </a:p>
                    <a:p>
                      <a:pPr marL="0" indent="0" algn="l">
                        <a:buNone/>
                      </a:pPr>
                      <a:r>
                        <a:rPr lang="en-US" sz="1200" dirty="0" err="1">
                          <a:solidFill>
                            <a:srgbClr val="F4F7FB"/>
                          </a:solidFill>
                          <a:latin typeface="Calibri" pitchFamily="34" charset="0"/>
                          <a:ea typeface="Calibri" pitchFamily="34" charset="-122"/>
                          <a:cs typeface="Calibri" pitchFamily="34" charset="-120"/>
                        </a:rPr>
                        <a:t>CloudOps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Analytics Tools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Deploy the WIV.AI platform for governance, cost and usage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Power BI For Billing Analytics</a:t>
                      </a:r>
                      <a:endParaRPr lang="en-US"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Elastic For Azure Billing Module </a:t>
                      </a:r>
                    </a:p>
                    <a:p>
                      <a:pPr marL="0" indent="0" algn="l">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Two-layer tagging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Resource tags (Service, Application, Cost Center, Environment) for chargeback, plus per-request metadata (use case, agent, model, provider) injected at the AI gateway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577282">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AWS FinOps agent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Automated cost analysis, savings recommendations and AWS service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577282">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Databricks commitment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Raise DBU commitment utilisation from 18%, track it monthly, and tune Classic vs Serverless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91A0B7"/>
                          </a:solidFill>
                          <a:latin typeface="Calibri" pitchFamily="34" charset="0"/>
                          <a:ea typeface="Calibri" pitchFamily="34" charset="-122"/>
                          <a:cs typeface="Calibri" pitchFamily="34" charset="-120"/>
                        </a:rPr>
                        <a:t>To scope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TBD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bl>
          </a:graphicData>
        </a:graphic>
      </p:graphicFrame>
      <p:sp>
        <p:nvSpPr>
          <p:cNvPr id="9" name="Shape 6"/>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658368"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DECISION NEEDED</a:t>
            </a:r>
            <a:endParaRPr lang="en-US" sz="1200" dirty="0"/>
          </a:p>
        </p:txBody>
      </p:sp>
      <p:sp>
        <p:nvSpPr>
          <p:cNvPr id="11" name="Text 8"/>
          <p:cNvSpPr/>
          <p:nvPr/>
        </p:nvSpPr>
        <p:spPr>
          <a:xfrm>
            <a:off x="658368"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 items</a:t>
            </a:r>
            <a:endParaRPr lang="en-US" sz="2800" dirty="0"/>
          </a:p>
        </p:txBody>
      </p:sp>
      <p:sp>
        <p:nvSpPr>
          <p:cNvPr id="12" name="Text 9"/>
          <p:cNvSpPr/>
          <p:nvPr/>
        </p:nvSpPr>
        <p:spPr>
          <a:xfrm>
            <a:off x="658368"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the $193K recommendation list</a:t>
            </a:r>
            <a:endParaRPr lang="en-US" sz="1200" dirty="0"/>
          </a:p>
        </p:txBody>
      </p:sp>
      <p:sp>
        <p:nvSpPr>
          <p:cNvPr id="13" name="Shape 10"/>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4493666"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DEPENDENCY</a:t>
            </a:r>
            <a:endParaRPr lang="en-US" sz="1200" dirty="0"/>
          </a:p>
        </p:txBody>
      </p:sp>
      <p:sp>
        <p:nvSpPr>
          <p:cNvPr id="15" name="Text 12"/>
          <p:cNvSpPr/>
          <p:nvPr/>
        </p:nvSpPr>
        <p:spPr>
          <a:xfrm>
            <a:off x="4493666"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Tagging</a:t>
            </a:r>
            <a:endParaRPr lang="en-US" sz="2800" dirty="0"/>
          </a:p>
        </p:txBody>
      </p:sp>
      <p:sp>
        <p:nvSpPr>
          <p:cNvPr id="16" name="Text 13"/>
          <p:cNvSpPr/>
          <p:nvPr/>
        </p:nvSpPr>
        <p:spPr>
          <a:xfrm>
            <a:off x="4493666"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item 3 blocks chargeback</a:t>
            </a:r>
            <a:endParaRPr lang="en-US" sz="1200" dirty="0"/>
          </a:p>
        </p:txBody>
      </p:sp>
      <p:sp>
        <p:nvSpPr>
          <p:cNvPr id="18" name="Text 15"/>
          <p:cNvSpPr/>
          <p:nvPr/>
        </p:nvSpPr>
        <p:spPr>
          <a:xfrm>
            <a:off x="8328965" y="5166360"/>
            <a:ext cx="3204362" cy="237744"/>
          </a:xfrm>
          <a:prstGeom prst="rect">
            <a:avLst/>
          </a:prstGeom>
          <a:noFill/>
          <a:ln/>
        </p:spPr>
        <p:txBody>
          <a:bodyPr wrap="square" lIns="0" tIns="0" rIns="0" bIns="0" rtlCol="0" anchor="ctr"/>
          <a:lstStyle/>
          <a:p>
            <a:pPr marL="0" indent="0">
              <a:buNone/>
            </a:pPr>
            <a:endParaRPr lang="en-US" sz="1200" dirty="0"/>
          </a:p>
        </p:txBody>
      </p:sp>
      <p:sp>
        <p:nvSpPr>
          <p:cNvPr id="19" name="Text 16"/>
          <p:cNvSpPr/>
          <p:nvPr/>
        </p:nvSpPr>
        <p:spPr>
          <a:xfrm>
            <a:off x="8328965" y="5367528"/>
            <a:ext cx="3204362" cy="438912"/>
          </a:xfrm>
          <a:prstGeom prst="rect">
            <a:avLst/>
          </a:prstGeom>
          <a:noFill/>
          <a:ln/>
        </p:spPr>
        <p:txBody>
          <a:bodyPr wrap="square" lIns="0" tIns="0" rIns="0" bIns="0" rtlCol="0" anchor="ctr"/>
          <a:lstStyle/>
          <a:p>
            <a:pPr marL="0" indent="0">
              <a:buNone/>
            </a:pPr>
            <a:endParaRPr lang="en-US" sz="2800" dirty="0"/>
          </a:p>
        </p:txBody>
      </p:sp>
      <p:sp>
        <p:nvSpPr>
          <p:cNvPr id="20" name="Text 17"/>
          <p:cNvSpPr/>
          <p:nvPr/>
        </p:nvSpPr>
        <p:spPr>
          <a:xfrm>
            <a:off x="8328965" y="5769864"/>
            <a:ext cx="3204362" cy="329184"/>
          </a:xfrm>
          <a:prstGeom prst="rect">
            <a:avLst/>
          </a:prstGeom>
          <a:noFill/>
          <a:ln/>
        </p:spPr>
        <p:txBody>
          <a:bodyPr wrap="square" lIns="0" tIns="0" rIns="0" bIns="0" rtlCol="0" anchor="t"/>
          <a:lstStyle/>
          <a:p>
            <a:pPr marL="0" indent="0">
              <a:lnSpc>
                <a:spcPct val="105000"/>
              </a:lnSpc>
              <a:buNone/>
            </a:pPr>
            <a:endParaRPr lang="en-US" sz="1200" dirty="0"/>
          </a:p>
        </p:txBody>
      </p:sp>
    </p:spTree>
    <p:extLst>
      <p:ext uri="{BB962C8B-B14F-4D97-AF65-F5344CB8AC3E}">
        <p14:creationId xmlns:p14="http://schemas.microsoft.com/office/powerpoint/2010/main" val="2888196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E0A030"/>
                </a:solidFill>
                <a:latin typeface="Calibri" pitchFamily="34" charset="0"/>
                <a:ea typeface="Calibri" pitchFamily="34" charset="-122"/>
                <a:cs typeface="Calibri" pitchFamily="34" charset="-120"/>
              </a:rPr>
              <a:t>COVERAGE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953" b="1" dirty="0">
                <a:solidFill>
                  <a:srgbClr val="F4F7FB"/>
                </a:solidFill>
                <a:latin typeface="Calibri" pitchFamily="34" charset="0"/>
                <a:ea typeface="Calibri" pitchFamily="34" charset="-122"/>
                <a:cs typeface="Calibri" pitchFamily="34" charset="-120"/>
              </a:rPr>
              <a:t>Azure buys 59% at a discount, AWS 93%</a:t>
            </a:r>
            <a:endParaRPr lang="en-US" sz="195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How each cloud's compute is actually purchased, the single biggest lever on unit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SAP is the obvious first candidate: it is the largest Azure workload, it has not moved more than a few percent in seven months, and it is almost entirely virtual machines, the flattest, most reservable profile in the estate.</a:t>
            </a:r>
            <a:endParaRPr lang="en-US" sz="1200" dirty="0"/>
          </a:p>
        </p:txBody>
      </p:sp>
      <p:sp>
        <p:nvSpPr>
          <p:cNvPr id="8" name="Text 6"/>
          <p:cNvSpPr/>
          <p:nvPr/>
        </p:nvSpPr>
        <p:spPr>
          <a:xfrm>
            <a:off x="457200" y="1234440"/>
            <a:ext cx="47548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9" name="Text 7"/>
          <p:cNvSpPr/>
          <p:nvPr/>
        </p:nvSpPr>
        <p:spPr>
          <a:xfrm>
            <a:off x="457200" y="1508760"/>
            <a:ext cx="47548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4754880"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$16,559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$16,364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$35,425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11" name="Text 8"/>
          <p:cNvSpPr/>
          <p:nvPr/>
        </p:nvSpPr>
        <p:spPr>
          <a:xfrm>
            <a:off x="5577840" y="1234440"/>
            <a:ext cx="47548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12" name="Text 9"/>
          <p:cNvSpPr/>
          <p:nvPr/>
        </p:nvSpPr>
        <p:spPr>
          <a:xfrm>
            <a:off x="5577840" y="1508760"/>
            <a:ext cx="47548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577840" y="1764792"/>
          <a:ext cx="4754880" cy="1755648"/>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$21,690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Reservation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$21,463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$9,424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91A0B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$53,314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bl>
          </a:graphicData>
        </a:graphic>
      </p:graphicFrame>
      <p:sp>
        <p:nvSpPr>
          <p:cNvPr id="10" name="Shape 10"/>
          <p:cNvSpPr/>
          <p:nvPr/>
        </p:nvSpPr>
        <p:spPr>
          <a:xfrm>
            <a:off x="457200"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5" name="Text 11"/>
          <p:cNvSpPr/>
          <p:nvPr/>
        </p:nvSpPr>
        <p:spPr>
          <a:xfrm>
            <a:off x="658368"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ON-DEMAND</a:t>
            </a:r>
            <a:endParaRPr lang="en-US" sz="1200" dirty="0"/>
          </a:p>
        </p:txBody>
      </p:sp>
      <p:sp>
        <p:nvSpPr>
          <p:cNvPr id="16" name="Text 12"/>
          <p:cNvSpPr/>
          <p:nvPr/>
        </p:nvSpPr>
        <p:spPr>
          <a:xfrm>
            <a:off x="658368"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$21,690</a:t>
            </a:r>
            <a:endParaRPr lang="en-US" sz="2800" dirty="0"/>
          </a:p>
        </p:txBody>
      </p:sp>
      <p:sp>
        <p:nvSpPr>
          <p:cNvPr id="17" name="Text 13"/>
          <p:cNvSpPr/>
          <p:nvPr/>
        </p:nvSpPr>
        <p:spPr>
          <a:xfrm>
            <a:off x="658368"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per month, at list price</a:t>
            </a:r>
            <a:endParaRPr lang="en-US" sz="1200" dirty="0"/>
          </a:p>
        </p:txBody>
      </p:sp>
      <p:sp>
        <p:nvSpPr>
          <p:cNvPr id="18" name="Shape 14"/>
          <p:cNvSpPr/>
          <p:nvPr/>
        </p:nvSpPr>
        <p:spPr>
          <a:xfrm>
            <a:off x="4292498"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9" name="Text 15"/>
          <p:cNvSpPr/>
          <p:nvPr/>
        </p:nvSpPr>
        <p:spPr>
          <a:xfrm>
            <a:off x="4493666"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IF AZURE MATCHED AWS</a:t>
            </a:r>
            <a:endParaRPr lang="en-US" sz="1200" dirty="0"/>
          </a:p>
        </p:txBody>
      </p:sp>
      <p:sp>
        <p:nvSpPr>
          <p:cNvPr id="20" name="Text 16"/>
          <p:cNvSpPr/>
          <p:nvPr/>
        </p:nvSpPr>
        <p:spPr>
          <a:xfrm>
            <a:off x="4493666"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~$7,600</a:t>
            </a:r>
            <a:endParaRPr lang="en-US" sz="2800" dirty="0"/>
          </a:p>
        </p:txBody>
      </p:sp>
      <p:sp>
        <p:nvSpPr>
          <p:cNvPr id="21" name="Text 17"/>
          <p:cNvSpPr/>
          <p:nvPr/>
        </p:nvSpPr>
        <p:spPr>
          <a:xfrm>
            <a:off x="4493666"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estimated monthly saving at 93% coverage</a:t>
            </a:r>
            <a:endParaRPr lang="en-US" sz="1200" dirty="0"/>
          </a:p>
        </p:txBody>
      </p:sp>
      <p:sp>
        <p:nvSpPr>
          <p:cNvPr id="22" name="Shape 18"/>
          <p:cNvSpPr/>
          <p:nvPr/>
        </p:nvSpPr>
        <p:spPr>
          <a:xfrm>
            <a:off x="8127797"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3" name="Text 19"/>
          <p:cNvSpPr/>
          <p:nvPr/>
        </p:nvSpPr>
        <p:spPr>
          <a:xfrm>
            <a:off x="8328965"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ANNUALISED</a:t>
            </a:r>
            <a:endParaRPr lang="en-US" sz="1200" dirty="0"/>
          </a:p>
        </p:txBody>
      </p:sp>
      <p:sp>
        <p:nvSpPr>
          <p:cNvPr id="24" name="Text 20"/>
          <p:cNvSpPr/>
          <p:nvPr/>
        </p:nvSpPr>
        <p:spPr>
          <a:xfrm>
            <a:off x="8328965"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~$91,000</a:t>
            </a:r>
            <a:endParaRPr lang="en-US" sz="2800" dirty="0"/>
          </a:p>
        </p:txBody>
      </p:sp>
      <p:sp>
        <p:nvSpPr>
          <p:cNvPr id="25" name="Text 21"/>
          <p:cNvSpPr/>
          <p:nvPr/>
        </p:nvSpPr>
        <p:spPr>
          <a:xfrm>
            <a:off x="8328965"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on compute alone, nothing switched off</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ATTRIBUTION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71" b="1" dirty="0">
                <a:solidFill>
                  <a:srgbClr val="F4F7FB"/>
                </a:solidFill>
                <a:latin typeface="Calibri" pitchFamily="34" charset="0"/>
                <a:ea typeface="Calibri" pitchFamily="34" charset="-122"/>
                <a:cs typeface="Calibri" pitchFamily="34" charset="-120"/>
              </a:rPr>
              <a:t>A quarter of the bill has no owner</a:t>
            </a:r>
            <a:endParaRPr lang="en-US" sz="247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From the Project tag on each resource, Azure enrollment.</a:t>
            </a:r>
            <a:endParaRPr lang="en-US" sz="1200" dirty="0"/>
          </a:p>
        </p:txBody>
      </p:sp>
      <p:sp>
        <p:nvSpPr>
          <p:cNvPr id="7" name="Shape 5"/>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8" name="Text 6"/>
          <p:cNvSpPr/>
          <p:nvPr/>
        </p:nvSpPr>
        <p:spPr>
          <a:xfrm>
            <a:off x="658368"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UNTAGGED, JULY</a:t>
            </a:r>
            <a:endParaRPr lang="en-US" sz="1200" dirty="0"/>
          </a:p>
        </p:txBody>
      </p:sp>
      <p:sp>
        <p:nvSpPr>
          <p:cNvPr id="9" name="Text 7"/>
          <p:cNvSpPr/>
          <p:nvPr/>
        </p:nvSpPr>
        <p:spPr>
          <a:xfrm>
            <a:off x="658368"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23.4%</a:t>
            </a:r>
            <a:endParaRPr lang="en-US" sz="2800" dirty="0"/>
          </a:p>
        </p:txBody>
      </p:sp>
      <p:sp>
        <p:nvSpPr>
          <p:cNvPr id="10" name="Text 8"/>
          <p:cNvSpPr/>
          <p:nvPr/>
        </p:nvSpPr>
        <p:spPr>
          <a:xfrm>
            <a:off x="658368"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was 8.4% in May</a:t>
            </a:r>
            <a:endParaRPr lang="en-US" sz="1200" dirty="0"/>
          </a:p>
        </p:txBody>
      </p:sp>
      <p:sp>
        <p:nvSpPr>
          <p:cNvPr id="11" name="Shape 9"/>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4493666"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UNTAGGED AI SPEND</a:t>
            </a:r>
            <a:endParaRPr lang="en-US" sz="1200" dirty="0"/>
          </a:p>
        </p:txBody>
      </p:sp>
      <p:sp>
        <p:nvSpPr>
          <p:cNvPr id="13" name="Text 11"/>
          <p:cNvSpPr/>
          <p:nvPr/>
        </p:nvSpPr>
        <p:spPr>
          <a:xfrm>
            <a:off x="4493666"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$51,381</a:t>
            </a:r>
            <a:endParaRPr lang="en-US" sz="2800" dirty="0"/>
          </a:p>
        </p:txBody>
      </p:sp>
      <p:sp>
        <p:nvSpPr>
          <p:cNvPr id="14" name="Text 12"/>
          <p:cNvSpPr/>
          <p:nvPr/>
        </p:nvSpPr>
        <p:spPr>
          <a:xfrm>
            <a:off x="4493666"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of $96,843 untagged in total</a:t>
            </a:r>
            <a:endParaRPr lang="en-US" sz="1200" dirty="0"/>
          </a:p>
        </p:txBody>
      </p:sp>
      <p:sp>
        <p:nvSpPr>
          <p:cNvPr id="15" name="Shape 13"/>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8328965"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COST CENTRE FIELD</a:t>
            </a:r>
            <a:endParaRPr lang="en-US" sz="1200" dirty="0"/>
          </a:p>
        </p:txBody>
      </p:sp>
      <p:sp>
        <p:nvSpPr>
          <p:cNvPr id="17" name="Text 15"/>
          <p:cNvSpPr/>
          <p:nvPr/>
        </p:nvSpPr>
        <p:spPr>
          <a:xfrm>
            <a:off x="8328965"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empty</a:t>
            </a:r>
            <a:endParaRPr lang="en-US" sz="2800" dirty="0"/>
          </a:p>
        </p:txBody>
      </p:sp>
      <p:sp>
        <p:nvSpPr>
          <p:cNvPr id="18" name="Text 16"/>
          <p:cNvSpPr/>
          <p:nvPr/>
        </p:nvSpPr>
        <p:spPr>
          <a:xfrm>
            <a:off x="8328965"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on every line of the enrollment</a:t>
            </a:r>
            <a:endParaRPr lang="en-US" sz="1200" dirty="0"/>
          </a:p>
        </p:txBody>
      </p:sp>
      <p:sp>
        <p:nvSpPr>
          <p:cNvPr id="19" name="Shape 17"/>
          <p:cNvSpPr/>
          <p:nvPr/>
        </p:nvSpPr>
        <p:spPr>
          <a:xfrm>
            <a:off x="457200" y="2468880"/>
            <a:ext cx="11277295" cy="1691640"/>
          </a:xfrm>
          <a:prstGeom prst="roundRect">
            <a:avLst>
              <a:gd name="adj" fmla="val 3243"/>
            </a:avLst>
          </a:prstGeom>
          <a:solidFill>
            <a:srgbClr val="121B2D"/>
          </a:solidFill>
          <a:ln w="12700">
            <a:solidFill>
              <a:srgbClr val="FF6B7A"/>
            </a:solidFill>
            <a:prstDash val="solid"/>
          </a:ln>
        </p:spPr>
        <p:txBody>
          <a:bodyPr/>
          <a:lstStyle/>
          <a:p>
            <a:endParaRPr lang="he-IL" dirty="0"/>
          </a:p>
        </p:txBody>
      </p:sp>
      <p:sp>
        <p:nvSpPr>
          <p:cNvPr id="20" name="Text 18"/>
          <p:cNvSpPr/>
          <p:nvPr/>
        </p:nvSpPr>
        <p:spPr>
          <a:xfrm>
            <a:off x="777240" y="2651760"/>
            <a:ext cx="3108960" cy="1325880"/>
          </a:xfrm>
          <a:prstGeom prst="rect">
            <a:avLst/>
          </a:prstGeom>
          <a:noFill/>
          <a:ln/>
        </p:spPr>
        <p:txBody>
          <a:bodyPr wrap="square" lIns="0" tIns="0" rIns="0" bIns="0" rtlCol="0" anchor="ctr"/>
          <a:lstStyle/>
          <a:p>
            <a:pPr marL="0" indent="0">
              <a:buNone/>
            </a:pPr>
            <a:r>
              <a:rPr lang="en-US" sz="6600" b="1" dirty="0">
                <a:solidFill>
                  <a:srgbClr val="FF6B7A"/>
                </a:solidFill>
                <a:latin typeface="Calibri" pitchFamily="34" charset="0"/>
                <a:ea typeface="Calibri" pitchFamily="34" charset="-122"/>
                <a:cs typeface="Calibri" pitchFamily="34" charset="-120"/>
              </a:rPr>
              <a:t>23.4%</a:t>
            </a:r>
            <a:endParaRPr lang="en-US" sz="6600" dirty="0"/>
          </a:p>
        </p:txBody>
      </p:sp>
      <p:sp>
        <p:nvSpPr>
          <p:cNvPr id="21" name="Text 19"/>
          <p:cNvSpPr/>
          <p:nvPr/>
        </p:nvSpPr>
        <p:spPr>
          <a:xfrm>
            <a:off x="4023360" y="2724912"/>
            <a:ext cx="7345375" cy="1188720"/>
          </a:xfrm>
          <a:prstGeom prst="rect">
            <a:avLst/>
          </a:prstGeom>
          <a:noFill/>
          <a:ln/>
        </p:spPr>
        <p:txBody>
          <a:bodyPr wrap="square" lIns="0" tIns="0" rIns="0" bIns="0" rtlCol="0" anchor="ctr"/>
          <a:lstStyle/>
          <a:p>
            <a:pPr marL="0" indent="0">
              <a:lnSpc>
                <a:spcPct val="125000"/>
              </a:lnSpc>
              <a:buNone/>
            </a:pPr>
            <a:r>
              <a:rPr lang="en-US" sz="1550" dirty="0">
                <a:solidFill>
                  <a:srgbClr val="F4F7FB"/>
                </a:solidFill>
                <a:latin typeface="Calibri" pitchFamily="34" charset="0"/>
                <a:ea typeface="Calibri" pitchFamily="34" charset="-122"/>
                <a:cs typeface="Calibri" pitchFamily="34" charset="-120"/>
              </a:rPr>
              <a:t>of July's Azure spend carries no project tag, up from 8.4% in May. Nearly a quarter of the bill cannot be attributed to a team, which means it cannot be charged back, questioned, or defended.</a:t>
            </a:r>
            <a:endParaRPr lang="en-US" sz="1550" dirty="0"/>
          </a:p>
        </p:txBody>
      </p:sp>
      <p:sp>
        <p:nvSpPr>
          <p:cNvPr id="22" name="Shape 20"/>
          <p:cNvSpPr/>
          <p:nvPr/>
        </p:nvSpPr>
        <p:spPr>
          <a:xfrm>
            <a:off x="457200" y="4517136"/>
            <a:ext cx="64008" cy="64008"/>
          </a:xfrm>
          <a:prstGeom prst="rect">
            <a:avLst/>
          </a:prstGeom>
          <a:solidFill>
            <a:srgbClr val="FF6B7A"/>
          </a:solidFill>
          <a:ln w="12700">
            <a:solidFill>
              <a:srgbClr val="FF6B7A"/>
            </a:solidFill>
            <a:prstDash val="solid"/>
          </a:ln>
        </p:spPr>
        <p:txBody>
          <a:bodyPr/>
          <a:lstStyle/>
          <a:p>
            <a:endParaRPr lang="he-IL" dirty="0"/>
          </a:p>
        </p:txBody>
      </p:sp>
      <p:sp>
        <p:nvSpPr>
          <p:cNvPr id="23" name="Text 21"/>
          <p:cNvSpPr/>
          <p:nvPr/>
        </p:nvSpPr>
        <p:spPr>
          <a:xfrm>
            <a:off x="630936" y="4434840"/>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untagged share tripled in three months, it is getting worse, not better, and it is worst in exactly the AI workloads that are growing fastest.</a:t>
            </a:r>
            <a:endParaRPr lang="en-US" sz="1250" dirty="0"/>
          </a:p>
        </p:txBody>
      </p:sp>
      <p:sp>
        <p:nvSpPr>
          <p:cNvPr id="24" name="Shape 22"/>
          <p:cNvSpPr/>
          <p:nvPr/>
        </p:nvSpPr>
        <p:spPr>
          <a:xfrm>
            <a:off x="457200" y="5084064"/>
            <a:ext cx="64008" cy="64008"/>
          </a:xfrm>
          <a:prstGeom prst="rect">
            <a:avLst/>
          </a:prstGeom>
          <a:solidFill>
            <a:srgbClr val="FF6B7A"/>
          </a:solidFill>
          <a:ln w="12700">
            <a:solidFill>
              <a:srgbClr val="FF6B7A"/>
            </a:solidFill>
            <a:prstDash val="solid"/>
          </a:ln>
        </p:spPr>
        <p:txBody>
          <a:bodyPr/>
          <a:lstStyle/>
          <a:p>
            <a:endParaRPr lang="he-IL" dirty="0"/>
          </a:p>
        </p:txBody>
      </p:sp>
      <p:sp>
        <p:nvSpPr>
          <p:cNvPr id="25" name="Text 23"/>
          <p:cNvSpPr/>
          <p:nvPr/>
        </p:nvSpPr>
        <p:spPr>
          <a:xfrm>
            <a:off x="630936" y="5001768"/>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Tagging is the dependency under everything else: no chargeback, no per-consumer budget, and no gateway quota can be enforced without it.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3DDC97">
              <a:alpha val="8000"/>
            </a:srgbClr>
          </a:solidFill>
          <a:ln w="12700">
            <a:solidFill>
              <a:srgbClr val="3DDC97">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3DDC97"/>
                </a:solidFill>
                <a:latin typeface="Calibri" pitchFamily="34" charset="0"/>
                <a:ea typeface="Calibri" pitchFamily="34" charset="-122"/>
                <a:cs typeface="Calibri" pitchFamily="34" charset="-120"/>
              </a:rPr>
              <a:t>PART THREE</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we have already taken out</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$278,868 banked, $193,000 identified and waiting</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IMPLEMENTED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953" b="1" dirty="0">
                <a:solidFill>
                  <a:srgbClr val="F4F7FB"/>
                </a:solidFill>
                <a:latin typeface="Calibri" pitchFamily="34" charset="0"/>
                <a:ea typeface="Calibri" pitchFamily="34" charset="-122"/>
                <a:cs typeface="Calibri" pitchFamily="34" charset="-120"/>
              </a:rPr>
              <a:t>$278,868 of annual saving, already actioned</a:t>
            </a:r>
            <a:endParaRPr lang="en-US" sz="195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Delivered during 2026. Annualised figures.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This is the half of the story the previous briefing did not tell: the bill grew 21% since January, and it would have grown considerably more without these.</a:t>
            </a:r>
            <a:endParaRPr lang="en-US" sz="1200" dirty="0"/>
          </a:p>
        </p:txBody>
      </p:sp>
      <p:sp>
        <p:nvSpPr>
          <p:cNvPr id="8" name="Text 6"/>
          <p:cNvSpPr/>
          <p:nvPr/>
        </p:nvSpPr>
        <p:spPr>
          <a:xfrm>
            <a:off x="457200" y="1234440"/>
            <a:ext cx="53035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Banked savings, by type</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303520" cy="3511296"/>
        </p:xfrm>
        <a:graphic>
          <a:graphicData uri="http://schemas.openxmlformats.org/drawingml/2006/table">
            <a:tbl>
              <a:tblPr/>
              <a:tblGrid>
                <a:gridCol w="3840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Savings type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Decommission North Europe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$70,452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$66,783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Savings plan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$65,335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$28,105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Idle unattached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$20,576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renewal, blob storage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$9,432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RDS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$7,944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Retire two unused SQL instances on expiring RI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8"/>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EKS extended support 1.33, preprod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9"/>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App Service, reserved instance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1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refund to reach 100% utilisation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11"/>
                  </a:ext>
                </a:extLst>
              </a:tr>
            </a:tbl>
          </a:graphicData>
        </a:graphic>
      </p:graphicFrame>
      <p:sp>
        <p:nvSpPr>
          <p:cNvPr id="10" name="Shape 7"/>
          <p:cNvSpPr/>
          <p:nvPr/>
        </p:nvSpPr>
        <p:spPr>
          <a:xfrm>
            <a:off x="6126480" y="1234440"/>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6327648" y="1325880"/>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ANNUAL SAVINGS</a:t>
            </a:r>
            <a:endParaRPr lang="en-US" sz="1200" dirty="0"/>
          </a:p>
        </p:txBody>
      </p:sp>
      <p:sp>
        <p:nvSpPr>
          <p:cNvPr id="12" name="Text 9"/>
          <p:cNvSpPr/>
          <p:nvPr/>
        </p:nvSpPr>
        <p:spPr>
          <a:xfrm>
            <a:off x="6327648" y="1527048"/>
            <a:ext cx="5205679" cy="438912"/>
          </a:xfrm>
          <a:prstGeom prst="rect">
            <a:avLst/>
          </a:prstGeom>
          <a:noFill/>
          <a:ln/>
        </p:spPr>
        <p:txBody>
          <a:bodyPr wrap="square" lIns="0" tIns="0" rIns="0" bIns="0" rtlCol="0" anchor="ctr"/>
          <a:lstStyle/>
          <a:p>
            <a:pPr marL="0" indent="0">
              <a:buNone/>
            </a:pPr>
            <a:r>
              <a:rPr lang="en-US" sz="3000" b="1" dirty="0">
                <a:solidFill>
                  <a:srgbClr val="F4F7FB"/>
                </a:solidFill>
                <a:latin typeface="Calibri" pitchFamily="34" charset="0"/>
                <a:ea typeface="Calibri" pitchFamily="34" charset="-122"/>
                <a:cs typeface="Calibri" pitchFamily="34" charset="-120"/>
              </a:rPr>
              <a:t>$278,868</a:t>
            </a:r>
            <a:endParaRPr lang="en-US" sz="3000" dirty="0"/>
          </a:p>
        </p:txBody>
      </p:sp>
      <p:sp>
        <p:nvSpPr>
          <p:cNvPr id="13" name="Text 10"/>
          <p:cNvSpPr/>
          <p:nvPr/>
        </p:nvSpPr>
        <p:spPr>
          <a:xfrm>
            <a:off x="6327648" y="1929384"/>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already implemented</a:t>
            </a:r>
            <a:endParaRPr lang="en-US" sz="1200" dirty="0"/>
          </a:p>
        </p:txBody>
      </p:sp>
      <p:sp>
        <p:nvSpPr>
          <p:cNvPr id="14" name="Shape 11"/>
          <p:cNvSpPr/>
          <p:nvPr/>
        </p:nvSpPr>
        <p:spPr>
          <a:xfrm>
            <a:off x="6126480" y="2459736"/>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6327648" y="2551176"/>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AGAINST ANNUALISED SPEND</a:t>
            </a:r>
            <a:endParaRPr lang="en-US" sz="1200" dirty="0"/>
          </a:p>
        </p:txBody>
      </p:sp>
      <p:sp>
        <p:nvSpPr>
          <p:cNvPr id="16" name="Text 13"/>
          <p:cNvSpPr/>
          <p:nvPr/>
        </p:nvSpPr>
        <p:spPr>
          <a:xfrm>
            <a:off x="6327648" y="2752344"/>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9.4%</a:t>
            </a:r>
            <a:endParaRPr lang="en-US" sz="2800" dirty="0"/>
          </a:p>
        </p:txBody>
      </p:sp>
      <p:sp>
        <p:nvSpPr>
          <p:cNvPr id="17" name="Text 14"/>
          <p:cNvSpPr/>
          <p:nvPr/>
        </p:nvSpPr>
        <p:spPr>
          <a:xfrm>
            <a:off x="6327648" y="3154680"/>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of ~$3.0M consumption</a:t>
            </a:r>
            <a:endParaRPr lang="en-US" sz="1200" dirty="0"/>
          </a:p>
        </p:txBody>
      </p:sp>
      <p:sp>
        <p:nvSpPr>
          <p:cNvPr id="9" name="Shape 15"/>
          <p:cNvSpPr/>
          <p:nvPr/>
        </p:nvSpPr>
        <p:spPr>
          <a:xfrm>
            <a:off x="6126480" y="3685032"/>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6327648" y="3776472"/>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ACTION</a:t>
            </a:r>
            <a:endParaRPr lang="en-US" sz="1200" dirty="0"/>
          </a:p>
        </p:txBody>
      </p:sp>
      <p:sp>
        <p:nvSpPr>
          <p:cNvPr id="20" name="Text 17"/>
          <p:cNvSpPr/>
          <p:nvPr/>
        </p:nvSpPr>
        <p:spPr>
          <a:xfrm>
            <a:off x="6327648" y="3977640"/>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$70,452</a:t>
            </a:r>
            <a:endParaRPr lang="en-US" sz="2800" dirty="0"/>
          </a:p>
        </p:txBody>
      </p:sp>
      <p:sp>
        <p:nvSpPr>
          <p:cNvPr id="21" name="Text 18"/>
          <p:cNvSpPr/>
          <p:nvPr/>
        </p:nvSpPr>
        <p:spPr>
          <a:xfrm>
            <a:off x="6327648" y="4379976"/>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North Europe, $5,871/mo removed</a:t>
            </a:r>
            <a:endParaRPr lang="en-US" sz="1200" dirty="0"/>
          </a:p>
        </p:txBody>
      </p:sp>
      <p:sp>
        <p:nvSpPr>
          <p:cNvPr id="22" name="Shape 19"/>
          <p:cNvSpPr/>
          <p:nvPr/>
        </p:nvSpPr>
        <p:spPr>
          <a:xfrm>
            <a:off x="6126480" y="4910328"/>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23" name="Text 20"/>
          <p:cNvSpPr/>
          <p:nvPr/>
        </p:nvSpPr>
        <p:spPr>
          <a:xfrm>
            <a:off x="6327648" y="5001768"/>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COMMITMENT-BASED</a:t>
            </a:r>
            <a:endParaRPr lang="en-US" sz="1200" dirty="0"/>
          </a:p>
        </p:txBody>
      </p:sp>
      <p:sp>
        <p:nvSpPr>
          <p:cNvPr id="24" name="Text 21"/>
          <p:cNvSpPr/>
          <p:nvPr/>
        </p:nvSpPr>
        <p:spPr>
          <a:xfrm>
            <a:off x="6327648" y="5202936"/>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$132,118</a:t>
            </a:r>
            <a:endParaRPr lang="en-US" sz="2800" dirty="0"/>
          </a:p>
        </p:txBody>
      </p:sp>
      <p:sp>
        <p:nvSpPr>
          <p:cNvPr id="25" name="Text 22"/>
          <p:cNvSpPr/>
          <p:nvPr/>
        </p:nvSpPr>
        <p:spPr>
          <a:xfrm>
            <a:off x="6327648" y="5605272"/>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reservations and savings plans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E0A030"/>
                </a:solidFill>
                <a:latin typeface="Calibri" pitchFamily="34" charset="0"/>
                <a:ea typeface="Calibri" pitchFamily="34" charset="-122"/>
                <a:cs typeface="Calibri" pitchFamily="34" charset="-120"/>
              </a:rPr>
              <a:t>IDENTIFIED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800" b="1" dirty="0">
                <a:solidFill>
                  <a:srgbClr val="F4F7FB"/>
                </a:solidFill>
                <a:latin typeface="Calibri" pitchFamily="34" charset="0"/>
                <a:ea typeface="Calibri" pitchFamily="34" charset="-122"/>
                <a:cs typeface="Calibri" pitchFamily="34" charset="-120"/>
              </a:rPr>
              <a:t>$193,000 more, costed and waiting on a decision</a:t>
            </a:r>
            <a:endParaRPr lang="en-US" sz="1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Text 6"/>
          <p:cNvSpPr/>
          <p:nvPr/>
        </p:nvSpPr>
        <p:spPr>
          <a:xfrm>
            <a:off x="457200" y="1234440"/>
            <a:ext cx="45262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9" name="Text 7"/>
          <p:cNvSpPr/>
          <p:nvPr/>
        </p:nvSpPr>
        <p:spPr>
          <a:xfrm>
            <a:off x="457200" y="1508760"/>
            <a:ext cx="45262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601292036"/>
              </p:ext>
            </p:extLst>
          </p:nvPr>
        </p:nvGraphicFramePr>
        <p:xfrm>
          <a:off x="457200" y="1764792"/>
          <a:ext cx="4526280" cy="2633472"/>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Premium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$44,592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Schedule shutdown for 24/7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$36,741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$26,758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right-size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$19,854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PostgreSQL databases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$17,037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Idle reserved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$13,464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$13,147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lang="en-US" sz="1200" b="1" dirty="0">
                          <a:solidFill>
                            <a:srgbClr val="91A0B7"/>
                          </a:solidFill>
                          <a:latin typeface="Calibri" pitchFamily="34" charset="0"/>
                          <a:ea typeface="Calibri" pitchFamily="34" charset="-122"/>
                          <a:cs typeface="Calibri" pitchFamily="34" charset="-120"/>
                        </a:rPr>
                        <a:t>Four smaller items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$13,243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8"/>
                  </a:ext>
                </a:extLst>
              </a:tr>
            </a:tbl>
          </a:graphicData>
        </a:graphic>
      </p:graphicFrame>
      <p:sp>
        <p:nvSpPr>
          <p:cNvPr id="11" name="Text 8"/>
          <p:cNvSpPr/>
          <p:nvPr/>
        </p:nvSpPr>
        <p:spPr>
          <a:xfrm>
            <a:off x="5349240" y="1234440"/>
            <a:ext cx="45262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12" name="Text 9"/>
          <p:cNvSpPr/>
          <p:nvPr/>
        </p:nvSpPr>
        <p:spPr>
          <a:xfrm>
            <a:off x="5349240" y="1508760"/>
            <a:ext cx="45262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37" name="Table 1"/>
          <p:cNvGraphicFramePr>
            <a:graphicFrameLocks noGrp="1"/>
          </p:cNvGraphicFramePr>
          <p:nvPr>
            <p:extLst>
              <p:ext uri="{D42A27DB-BD31-4B8C-83A1-F6EECF244321}">
                <p14:modId xmlns:p14="http://schemas.microsoft.com/office/powerpoint/2010/main" val="2004530639"/>
              </p:ext>
            </p:extLst>
          </p:nvPr>
        </p:nvGraphicFramePr>
        <p:xfrm>
          <a:off x="5349240" y="1764792"/>
          <a:ext cx="4526280" cy="877824"/>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EKS extended support 1.33, 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SageMaker, check necessity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$3,420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bl>
          </a:graphicData>
        </a:graphic>
      </p:graphicFrame>
      <p:sp>
        <p:nvSpPr>
          <p:cNvPr id="14" name="Shape 10"/>
          <p:cNvSpPr/>
          <p:nvPr/>
        </p:nvSpPr>
        <p:spPr>
          <a:xfrm>
            <a:off x="457200"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5" name="Text 11"/>
          <p:cNvSpPr/>
          <p:nvPr/>
        </p:nvSpPr>
        <p:spPr>
          <a:xfrm>
            <a:off x="658368"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POTENTIAL</a:t>
            </a:r>
            <a:endParaRPr lang="en-US" sz="1200" dirty="0"/>
          </a:p>
        </p:txBody>
      </p:sp>
      <p:sp>
        <p:nvSpPr>
          <p:cNvPr id="16" name="Text 12"/>
          <p:cNvSpPr/>
          <p:nvPr/>
        </p:nvSpPr>
        <p:spPr>
          <a:xfrm>
            <a:off x="658368"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$193K</a:t>
            </a:r>
            <a:endParaRPr lang="en-US" sz="2800" dirty="0"/>
          </a:p>
        </p:txBody>
      </p:sp>
      <p:sp>
        <p:nvSpPr>
          <p:cNvPr id="17" name="Text 13"/>
          <p:cNvSpPr/>
          <p:nvPr/>
        </p:nvSpPr>
        <p:spPr>
          <a:xfrm>
            <a:off x="658368"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annualised, both clouds</a:t>
            </a:r>
            <a:endParaRPr lang="en-US" sz="1200" dirty="0"/>
          </a:p>
        </p:txBody>
      </p:sp>
      <p:sp>
        <p:nvSpPr>
          <p:cNvPr id="18" name="Shape 14"/>
          <p:cNvSpPr/>
          <p:nvPr/>
        </p:nvSpPr>
        <p:spPr>
          <a:xfrm>
            <a:off x="4292498"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0" name="Text 15"/>
          <p:cNvSpPr/>
          <p:nvPr/>
        </p:nvSpPr>
        <p:spPr>
          <a:xfrm>
            <a:off x="4493666"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PLUS THE COVERAGE GAP</a:t>
            </a:r>
            <a:endParaRPr lang="en-US" sz="1200" dirty="0"/>
          </a:p>
        </p:txBody>
      </p:sp>
      <p:sp>
        <p:nvSpPr>
          <p:cNvPr id="20" name="Text 16"/>
          <p:cNvSpPr/>
          <p:nvPr/>
        </p:nvSpPr>
        <p:spPr>
          <a:xfrm>
            <a:off x="4493666"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~$91K</a:t>
            </a:r>
            <a:endParaRPr lang="en-US" sz="2800" dirty="0"/>
          </a:p>
        </p:txBody>
      </p:sp>
      <p:sp>
        <p:nvSpPr>
          <p:cNvPr id="21" name="Text 17"/>
          <p:cNvSpPr/>
          <p:nvPr/>
        </p:nvSpPr>
        <p:spPr>
          <a:xfrm>
            <a:off x="4493666"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Azure on-demand, at AWS rates</a:t>
            </a:r>
            <a:endParaRPr lang="en-US" sz="1200" dirty="0"/>
          </a:p>
        </p:txBody>
      </p:sp>
      <p:sp>
        <p:nvSpPr>
          <p:cNvPr id="22" name="Shape 18"/>
          <p:cNvSpPr/>
          <p:nvPr/>
        </p:nvSpPr>
        <p:spPr>
          <a:xfrm>
            <a:off x="8127797"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3" name="Text 19"/>
          <p:cNvSpPr/>
          <p:nvPr/>
        </p:nvSpPr>
        <p:spPr>
          <a:xfrm>
            <a:off x="8328965"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BANKED PLUS IDENTIFIED</a:t>
            </a:r>
            <a:endParaRPr lang="en-US" sz="1200" dirty="0"/>
          </a:p>
        </p:txBody>
      </p:sp>
      <p:sp>
        <p:nvSpPr>
          <p:cNvPr id="24" name="Text 20"/>
          <p:cNvSpPr/>
          <p:nvPr/>
        </p:nvSpPr>
        <p:spPr>
          <a:xfrm>
            <a:off x="8328965"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$563K</a:t>
            </a:r>
            <a:endParaRPr lang="en-US" sz="2800" dirty="0"/>
          </a:p>
        </p:txBody>
      </p:sp>
      <p:sp>
        <p:nvSpPr>
          <p:cNvPr id="25" name="Text 21"/>
          <p:cNvSpPr/>
          <p:nvPr/>
        </p:nvSpPr>
        <p:spPr>
          <a:xfrm>
            <a:off x="8328965"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about 19% of annualised consumption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7863840" y="-1280160"/>
            <a:ext cx="5852160" cy="5852160"/>
          </a:xfrm>
          <a:prstGeom prst="ellipse">
            <a:avLst/>
          </a:prstGeom>
          <a:solidFill>
            <a:srgbClr val="91A0B7">
              <a:alpha val="8000"/>
            </a:srgbClr>
          </a:solidFill>
          <a:ln w="12700">
            <a:solidFill>
              <a:srgbClr val="91A0B7">
                <a:alpha val="0"/>
              </a:srgbClr>
            </a:solidFill>
            <a:prstDash val="solid"/>
          </a:ln>
        </p:spPr>
        <p:txBody>
          <a:bodyPr/>
          <a:lstStyle/>
          <a:p>
            <a:endParaRPr lang="he-IL"/>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91A0B7"/>
                </a:solidFill>
                <a:latin typeface="Calibri" pitchFamily="34" charset="0"/>
                <a:ea typeface="Calibri" pitchFamily="34" charset="-122"/>
                <a:cs typeface="Calibri" pitchFamily="34" charset="-120"/>
              </a:rPr>
              <a:t>APPENDIX</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The operational detail</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Cost centre and project breakdowns, January to July 2026</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ACCOUNTS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account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linked account</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JULY</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$77K</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after MAP credit</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lang="he-IL"/>
          </a:p>
        </p:txBody>
      </p:sp>
      <p:sp>
        <p:nvSpPr>
          <p:cNvPr id="19" name="Text 16"/>
          <p:cNvSpPr/>
          <p:nvPr/>
        </p:nvSpPr>
        <p:spPr>
          <a:xfrm>
            <a:off x="8284464" y="41148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customers3-prod and horizon-prod both stepped up</a:t>
            </a:r>
            <a:endParaRPr lang="en-US" sz="1250" dirty="0"/>
          </a:p>
        </p:txBody>
      </p:sp>
      <p:sp>
        <p:nvSpPr>
          <p:cNvPr id="20" name="Shape 17"/>
          <p:cNvSpPr/>
          <p:nvPr/>
        </p:nvSpPr>
        <p:spPr>
          <a:xfrm>
            <a:off x="8110728" y="4764024"/>
            <a:ext cx="64008" cy="64008"/>
          </a:xfrm>
          <a:prstGeom prst="rect">
            <a:avLst/>
          </a:prstGeom>
          <a:solidFill>
            <a:srgbClr val="FF9F43"/>
          </a:solidFill>
          <a:ln w="12700">
            <a:solidFill>
              <a:srgbClr val="FF9F43"/>
            </a:solidFill>
            <a:prstDash val="solid"/>
          </a:ln>
        </p:spPr>
        <p:txBody>
          <a:bodyPr/>
          <a:lstStyle/>
          <a:p>
            <a:endParaRPr lang="he-IL"/>
          </a:p>
        </p:txBody>
      </p:sp>
      <p:sp>
        <p:nvSpPr>
          <p:cNvPr id="21" name="Text 18"/>
          <p:cNvSpPr/>
          <p:nvPr/>
        </p:nvSpPr>
        <p:spPr>
          <a:xfrm>
            <a:off x="8284464" y="4681728"/>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harel-org-02-root and aws-devTest-digital grew on EC2 and S3</a:t>
            </a:r>
            <a:endParaRPr lang="en-US" sz="1250" dirty="0"/>
          </a:p>
        </p:txBody>
      </p:sp>
      <p:sp>
        <p:nvSpPr>
          <p:cNvPr id="22" name="Shape 19"/>
          <p:cNvSpPr/>
          <p:nvPr/>
        </p:nvSpPr>
        <p:spPr>
          <a:xfrm>
            <a:off x="8110728" y="5330952"/>
            <a:ext cx="64008" cy="64008"/>
          </a:xfrm>
          <a:prstGeom prst="rect">
            <a:avLst/>
          </a:prstGeom>
          <a:solidFill>
            <a:srgbClr val="FF9F43"/>
          </a:solidFill>
          <a:ln w="12700">
            <a:solidFill>
              <a:srgbClr val="FF9F43"/>
            </a:solidFill>
            <a:prstDash val="solid"/>
          </a:ln>
        </p:spPr>
        <p:txBody>
          <a:bodyPr/>
          <a:lstStyle/>
          <a:p>
            <a:endParaRPr lang="he-IL"/>
          </a:p>
        </p:txBody>
      </p:sp>
      <p:sp>
        <p:nvSpPr>
          <p:cNvPr id="23" name="Text 20"/>
          <p:cNvSpPr/>
          <p:nvPr/>
        </p:nvSpPr>
        <p:spPr>
          <a:xfrm>
            <a:off x="8284464" y="5248656"/>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ai-factory-dev carries a MAP contract credit, which is why July nets down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EC2 - Compute</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39%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lang="he-IL"/>
          </a:p>
        </p:txBody>
      </p:sp>
      <p:sp>
        <p:nvSpPr>
          <p:cNvPr id="19" name="Text 16"/>
          <p:cNvSpPr/>
          <p:nvPr/>
        </p:nvSpPr>
        <p:spPr>
          <a:xfrm>
            <a:off x="8284464" y="4114800"/>
            <a:ext cx="3431743" cy="18288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EC2 compute keeps rising month over month</a:t>
            </a:r>
            <a:endParaRPr lang="en-US" sz="1250" dirty="0"/>
          </a:p>
        </p:txBody>
      </p:sp>
      <p:sp>
        <p:nvSpPr>
          <p:cNvPr id="20" name="Shape 17"/>
          <p:cNvSpPr/>
          <p:nvPr/>
        </p:nvSpPr>
        <p:spPr>
          <a:xfrm>
            <a:off x="8110728" y="4544568"/>
            <a:ext cx="64008" cy="64008"/>
          </a:xfrm>
          <a:prstGeom prst="rect">
            <a:avLst/>
          </a:prstGeom>
          <a:solidFill>
            <a:srgbClr val="FF9F43"/>
          </a:solidFill>
          <a:ln w="12700">
            <a:solidFill>
              <a:srgbClr val="FF9F43"/>
            </a:solidFill>
            <a:prstDash val="solid"/>
          </a:ln>
        </p:spPr>
        <p:txBody>
          <a:bodyPr/>
          <a:lstStyle/>
          <a:p>
            <a:endParaRPr lang="he-IL"/>
          </a:p>
        </p:txBody>
      </p:sp>
      <p:sp>
        <p:nvSpPr>
          <p:cNvPr id="21" name="Text 18"/>
          <p:cNvSpPr/>
          <p:nvPr/>
        </p:nvSpPr>
        <p:spPr>
          <a:xfrm>
            <a:off x="8284464" y="4462272"/>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S3 storage and Glacier Deep Archive both up sharply</a:t>
            </a:r>
            <a:endParaRPr lang="en-US" sz="1250" dirty="0"/>
          </a:p>
        </p:txBody>
      </p:sp>
      <p:sp>
        <p:nvSpPr>
          <p:cNvPr id="22" name="Shape 19"/>
          <p:cNvSpPr/>
          <p:nvPr/>
        </p:nvSpPr>
        <p:spPr>
          <a:xfrm>
            <a:off x="8110728" y="5111496"/>
            <a:ext cx="64008" cy="64008"/>
          </a:xfrm>
          <a:prstGeom prst="rect">
            <a:avLst/>
          </a:prstGeom>
          <a:solidFill>
            <a:srgbClr val="FF9F43"/>
          </a:solidFill>
          <a:ln w="12700">
            <a:solidFill>
              <a:srgbClr val="FF9F43"/>
            </a:solidFill>
            <a:prstDash val="solid"/>
          </a:ln>
        </p:spPr>
        <p:txBody>
          <a:bodyPr/>
          <a:lstStyle/>
          <a:p>
            <a:endParaRPr lang="he-IL"/>
          </a:p>
        </p:txBody>
      </p:sp>
      <p:sp>
        <p:nvSpPr>
          <p:cNvPr id="23" name="Text 20"/>
          <p:cNvSpPr/>
          <p:nvPr/>
        </p:nvSpPr>
        <p:spPr>
          <a:xfrm>
            <a:off x="8284464" y="50292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July dip in 'Other' is the MAP credit, not a usage change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COST CENTRES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cost centre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From the CostCenter tag.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cost centre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COST CENTRE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datacloud</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30%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lang="he-IL"/>
          </a:p>
        </p:txBody>
      </p:sp>
      <p:sp>
        <p:nvSpPr>
          <p:cNvPr id="19" name="Text 16"/>
          <p:cNvSpPr/>
          <p:nvPr/>
        </p:nvSpPr>
        <p:spPr>
          <a:xfrm>
            <a:off x="8284464" y="4114800"/>
            <a:ext cx="3431743" cy="18288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cloudops, datacloud and cloudit all up</a:t>
            </a:r>
            <a:endParaRPr lang="en-US" sz="1250" dirty="0"/>
          </a:p>
        </p:txBody>
      </p:sp>
      <p:sp>
        <p:nvSpPr>
          <p:cNvPr id="20" name="Shape 17"/>
          <p:cNvSpPr/>
          <p:nvPr/>
        </p:nvSpPr>
        <p:spPr>
          <a:xfrm>
            <a:off x="8110728" y="4544568"/>
            <a:ext cx="64008" cy="64008"/>
          </a:xfrm>
          <a:prstGeom prst="rect">
            <a:avLst/>
          </a:prstGeom>
          <a:solidFill>
            <a:srgbClr val="2F8CFF"/>
          </a:solidFill>
          <a:ln w="12700">
            <a:solidFill>
              <a:srgbClr val="2F8CFF"/>
            </a:solidFill>
            <a:prstDash val="solid"/>
          </a:ln>
        </p:spPr>
        <p:txBody>
          <a:bodyPr/>
          <a:lstStyle/>
          <a:p>
            <a:endParaRPr lang="he-IL"/>
          </a:p>
        </p:txBody>
      </p:sp>
      <p:sp>
        <p:nvSpPr>
          <p:cNvPr id="21" name="Text 18"/>
          <p:cNvSpPr/>
          <p:nvPr/>
        </p:nvSpPr>
        <p:spPr>
          <a:xfrm>
            <a:off x="8284464" y="4462272"/>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AI Factory is the fastest-growing centre in the period</a:t>
            </a:r>
            <a:endParaRPr lang="en-US" sz="1250" dirty="0"/>
          </a:p>
        </p:txBody>
      </p:sp>
      <p:sp>
        <p:nvSpPr>
          <p:cNvPr id="22" name="Shape 19"/>
          <p:cNvSpPr/>
          <p:nvPr/>
        </p:nvSpPr>
        <p:spPr>
          <a:xfrm>
            <a:off x="8110728" y="5111496"/>
            <a:ext cx="64008" cy="64008"/>
          </a:xfrm>
          <a:prstGeom prst="rect">
            <a:avLst/>
          </a:prstGeom>
          <a:solidFill>
            <a:srgbClr val="2F8CFF"/>
          </a:solidFill>
          <a:ln w="12700">
            <a:solidFill>
              <a:srgbClr val="2F8CFF"/>
            </a:solidFill>
            <a:prstDash val="solid"/>
          </a:ln>
        </p:spPr>
        <p:txBody>
          <a:bodyPr/>
          <a:lstStyle/>
          <a:p>
            <a:endParaRPr lang="he-IL"/>
          </a:p>
        </p:txBody>
      </p:sp>
      <p:sp>
        <p:nvSpPr>
          <p:cNvPr id="23" name="Text 20"/>
          <p:cNvSpPr/>
          <p:nvPr/>
        </p:nvSpPr>
        <p:spPr>
          <a:xfrm>
            <a:off x="8284464" y="50292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Risk Agility and Actuary fell back after Q1</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Same total, cut by service.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613" b="1" dirty="0">
                <a:solidFill>
                  <a:srgbClr val="F4F7FB"/>
                </a:solidFill>
                <a:latin typeface="Calibri" pitchFamily="34" charset="0"/>
                <a:ea typeface="Calibri" pitchFamily="34" charset="-122"/>
                <a:cs typeface="Calibri" pitchFamily="34" charset="-120"/>
              </a:rPr>
              <a:t>Virtual Machines</a:t>
            </a:r>
            <a:endParaRPr lang="en-US" sz="2613"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33%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lang="he-IL"/>
          </a:p>
        </p:txBody>
      </p:sp>
      <p:sp>
        <p:nvSpPr>
          <p:cNvPr id="19" name="Text 16"/>
          <p:cNvSpPr/>
          <p:nvPr/>
        </p:nvSpPr>
        <p:spPr>
          <a:xfrm>
            <a:off x="8284464" y="41148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GitHub and Cowork drive most of the July step-up</a:t>
            </a:r>
            <a:endParaRPr lang="en-US" sz="1250" dirty="0"/>
          </a:p>
        </p:txBody>
      </p:sp>
      <p:sp>
        <p:nvSpPr>
          <p:cNvPr id="20" name="Shape 17"/>
          <p:cNvSpPr/>
          <p:nvPr/>
        </p:nvSpPr>
        <p:spPr>
          <a:xfrm>
            <a:off x="8110728" y="4764024"/>
            <a:ext cx="64008" cy="64008"/>
          </a:xfrm>
          <a:prstGeom prst="rect">
            <a:avLst/>
          </a:prstGeom>
          <a:solidFill>
            <a:srgbClr val="2F8CFF"/>
          </a:solidFill>
          <a:ln w="12700">
            <a:solidFill>
              <a:srgbClr val="2F8CFF"/>
            </a:solidFill>
            <a:prstDash val="solid"/>
          </a:ln>
        </p:spPr>
        <p:txBody>
          <a:bodyPr/>
          <a:lstStyle/>
          <a:p>
            <a:endParaRPr lang="he-IL"/>
          </a:p>
        </p:txBody>
      </p:sp>
      <p:sp>
        <p:nvSpPr>
          <p:cNvPr id="21" name="Text 18"/>
          <p:cNvSpPr/>
          <p:nvPr/>
        </p:nvSpPr>
        <p:spPr>
          <a:xfrm>
            <a:off x="8284464" y="4681728"/>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Foundry Models and Foundry Tools rise every month from April</a:t>
            </a:r>
            <a:endParaRPr lang="en-US" sz="1250" dirty="0"/>
          </a:p>
        </p:txBody>
      </p:sp>
      <p:sp>
        <p:nvSpPr>
          <p:cNvPr id="22" name="Shape 19"/>
          <p:cNvSpPr/>
          <p:nvPr/>
        </p:nvSpPr>
        <p:spPr>
          <a:xfrm>
            <a:off x="8110728" y="5330952"/>
            <a:ext cx="64008" cy="64008"/>
          </a:xfrm>
          <a:prstGeom prst="rect">
            <a:avLst/>
          </a:prstGeom>
          <a:solidFill>
            <a:srgbClr val="2F8CFF"/>
          </a:solidFill>
          <a:ln w="12700">
            <a:solidFill>
              <a:srgbClr val="2F8CFF"/>
            </a:solidFill>
            <a:prstDash val="solid"/>
          </a:ln>
        </p:spPr>
        <p:txBody>
          <a:bodyPr/>
          <a:lstStyle/>
          <a:p>
            <a:endParaRPr lang="he-IL"/>
          </a:p>
        </p:txBody>
      </p:sp>
      <p:sp>
        <p:nvSpPr>
          <p:cNvPr id="23" name="Text 20"/>
          <p:cNvSpPr/>
          <p:nvPr/>
        </p:nvSpPr>
        <p:spPr>
          <a:xfrm>
            <a:off x="8284464" y="5248656"/>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Virtual Network, Log Analytics and Sentinel add to the base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DATACLOUD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DataCloud</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largest Azure cost centre, by service and by subscription.</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Databricks drops to zero from May. That is the reserved capacity purchase taking over, not a workload stopping. Foundry Models and Foundry Tools take its place as the growth line.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$339K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DataCloud prod</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80%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20%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SAP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SAP</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most stable large workload in the estate, and the best candidate for reservations.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Dev/Test costs more than Production every month of the period. Virtual machines are roughly three quarters of the bill and barely vary, a flat and reservable profile.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$294K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SAP Dev/Test</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57%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74%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CLOUD IT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Cloud IT</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Shared platform services: network, monitoring and security for everyone else.</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Log Analytics and Sentinel drive the March spike; virtual network and storage carry the underlying growth.</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$216K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+8%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Shared Resources</a:t>
            </a:r>
            <a:endParaRPr lang="en-US" sz="2584"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48%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757" b="1" dirty="0">
                <a:solidFill>
                  <a:srgbClr val="F4F7FB"/>
                </a:solidFill>
                <a:latin typeface="Calibri" pitchFamily="34" charset="0"/>
                <a:ea typeface="Calibri" pitchFamily="34" charset="-122"/>
                <a:cs typeface="Calibri" pitchFamily="34" charset="-120"/>
              </a:rPr>
              <a:t>Virtual Network</a:t>
            </a:r>
            <a:endParaRPr lang="en-US" sz="2757"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lang="he-IL"/>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a:p>
        </p:txBody>
      </p:sp>
      <p:sp>
        <p:nvSpPr>
          <p:cNvPr id="5" name="Text 3"/>
          <p:cNvSpPr/>
          <p:nvPr/>
        </p:nvSpPr>
        <p:spPr>
          <a:xfrm>
            <a:off x="0" y="2514600"/>
            <a:ext cx="12191695" cy="1828800"/>
          </a:xfrm>
          <a:prstGeom prst="rect">
            <a:avLst/>
          </a:prstGeom>
          <a:noFill/>
          <a:ln/>
        </p:spPr>
        <p:txBody>
          <a:bodyPr wrap="square" lIns="0" tIns="0" rIns="0" bIns="0" rtlCol="0" anchor="ctr"/>
          <a:lstStyle/>
          <a:p>
            <a:pPr marL="0" indent="0" algn="ctr">
              <a:buNone/>
            </a:pPr>
            <a:r>
              <a:rPr lang="en-US" sz="11000" b="1" dirty="0">
                <a:solidFill>
                  <a:srgbClr val="3DD9EB"/>
                </a:solidFill>
                <a:latin typeface="Calibri" pitchFamily="34" charset="0"/>
                <a:ea typeface="Calibri" pitchFamily="34" charset="-122"/>
                <a:cs typeface="Calibri" pitchFamily="34" charset="-120"/>
              </a:rPr>
              <a:t>Thank you</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1495</TotalTime>
  <Words>5685</Words>
  <Application>Microsoft Office PowerPoint</Application>
  <PresentationFormat>מסך רחב</PresentationFormat>
  <Paragraphs>905</Paragraphs>
  <Slides>38</Slides>
  <Notes>38</Notes>
  <HiddenSlides>1</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38</vt:i4>
      </vt:variant>
    </vt:vector>
  </HeadingPairs>
  <TitlesOfParts>
    <vt:vector size="43" baseType="lpstr">
      <vt:lpstr>Aptos</vt:lpstr>
      <vt:lpstr>Arial</vt:lpstr>
      <vt:lpstr>Calibri</vt:lpstr>
      <vt:lpstr>Cambria</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Harel Cloud Cost — CIO briefing, v34</dc:title>
  <dc:subject>PptxGenJS Presentation</dc:subject>
  <dc:creator>Cloud Infrastructure, DevOps &amp; Databases</dc:creator>
  <cp:lastModifiedBy>אריאל גזית</cp:lastModifiedBy>
  <cp:revision>23</cp:revision>
  <dcterms:created xsi:type="dcterms:W3CDTF">2026-08-17T09:02:17Z</dcterms:created>
  <dcterms:modified xsi:type="dcterms:W3CDTF">2026-08-18T15:19:28Z</dcterms:modified>
</cp:coreProperties>
</file>