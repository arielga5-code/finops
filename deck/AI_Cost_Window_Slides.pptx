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insait</c:v>
                </c:pt>
              </c:strCache>
            </c:strRef>
          </c:tx>
          <c:spPr>
            <a:solidFill>
              <a:srgbClr val="FF9F43"/>
            </a:solidFill>
            <a:effectLst/>
          </c:spPr>
          <c:invertIfNegative val="0"/>
          <c:dLbls>
            <c:numFmt formatCode="0&quot;%&quot;"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Share of calls</c:v>
                  </c:pt>
                  <c:pt idx="1">
                    <c:v>Share of attributed cost</c:v>
                  </c:pt>
                </c:lvl>
              </c:multiLvlStrCache>
            </c:multiLvlStrRef>
          </c:cat>
          <c:val>
            <c:numRef>
              <c:f>Sheet1!$B$2:$B$3</c:f>
              <c:numCache>
                <c:formatCode>General</c:formatCode>
                <c:ptCount val="2"/>
                <c:pt idx="0">
                  <c:v>14.57335495804336</c:v>
                </c:pt>
                <c:pt idx="1">
                  <c:v>42.85971770722373</c:v>
                </c:pt>
              </c:numCache>
            </c:numRef>
          </c:val>
        </c:ser>
        <c:ser>
          <c:idx val="1"/>
          <c:order val="1"/>
          <c:tx>
            <c:strRef>
              <c:f>Sheet1!$C$1</c:f>
              <c:strCache>
                <c:ptCount val="1"/>
                <c:pt idx="0">
                  <c:v>ai-factory</c:v>
                </c:pt>
              </c:strCache>
            </c:strRef>
          </c:tx>
          <c:spPr>
            <a:solidFill>
              <a:srgbClr val="B07CFF"/>
            </a:solidFill>
            <a:effectLst/>
          </c:spPr>
          <c:invertIfNegative val="0"/>
          <c:dLbls>
            <c:numFmt formatCode="0&quot;%&quot;"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Share of calls</c:v>
                  </c:pt>
                  <c:pt idx="1">
                    <c:v>Share of attributed cost</c:v>
                  </c:pt>
                </c:lvl>
              </c:multiLvlStrCache>
            </c:multiLvlStrRef>
          </c:cat>
          <c:val>
            <c:numRef>
              <c:f>Sheet1!$C$2:$C$3</c:f>
              <c:numCache>
                <c:formatCode>General</c:formatCode>
                <c:ptCount val="2"/>
                <c:pt idx="0">
                  <c:v>31.682240745634054</c:v>
                </c:pt>
                <c:pt idx="1">
                  <c:v>30.149750847774452</c:v>
                </c:pt>
              </c:numCache>
            </c:numRef>
          </c:val>
        </c:ser>
        <c:ser>
          <c:idx val="2"/>
          <c:order val="2"/>
          <c:tx>
            <c:strRef>
              <c:f>Sheet1!$D$1</c:f>
              <c:strCache>
                <c:ptCount val="1"/>
                <c:pt idx="0">
                  <c:v>solugen</c:v>
                </c:pt>
              </c:strCache>
            </c:strRef>
          </c:tx>
          <c:spPr>
            <a:solidFill>
              <a:srgbClr val="3DD9EB"/>
            </a:solidFill>
            <a:effectLst/>
          </c:spPr>
          <c:invertIfNegative val="0"/>
          <c:dLbls>
            <c:numFmt formatCode="0&quot;%&quot;"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Share of calls</c:v>
                  </c:pt>
                  <c:pt idx="1">
                    <c:v>Share of attributed cost</c:v>
                  </c:pt>
                </c:lvl>
              </c:multiLvlStrCache>
            </c:multiLvlStrRef>
          </c:cat>
          <c:val>
            <c:numRef>
              <c:f>Sheet1!$D$2:$D$3</c:f>
              <c:numCache>
                <c:formatCode>General</c:formatCode>
                <c:ptCount val="2"/>
                <c:pt idx="0">
                  <c:v>51.23576229040084</c:v>
                </c:pt>
                <c:pt idx="1">
                  <c:v>24.02839958267154</c:v>
                </c:pt>
              </c:numCache>
            </c:numRef>
          </c:val>
        </c:ser>
        <c:ser>
          <c:idx val="3"/>
          <c:order val="3"/>
          <c:tx>
            <c:strRef>
              <c:f>Sheet1!$E$1</c:f>
              <c:strCache>
                <c:ptCount val="1"/>
                <c:pt idx="0">
                  <c:v>13 other teams</c:v>
                </c:pt>
              </c:strCache>
            </c:strRef>
          </c:tx>
          <c:spPr>
            <a:solidFill>
              <a:srgbClr val="536078"/>
            </a:solidFill>
            <a:effectLst/>
          </c:spPr>
          <c:invertIfNegative val="0"/>
          <c:dLbls>
            <c:numFmt formatCode="0&quot;%&quot;"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Share of calls</c:v>
                  </c:pt>
                  <c:pt idx="1">
                    <c:v>Share of attributed cost</c:v>
                  </c:pt>
                </c:lvl>
              </c:multiLvlStrCache>
            </c:multiLvlStrRef>
          </c:cat>
          <c:val>
            <c:numRef>
              <c:f>Sheet1!$E$2:$E$3</c:f>
              <c:numCache>
                <c:formatCode>General</c:formatCode>
                <c:ptCount val="2"/>
                <c:pt idx="0">
                  <c:v>2.5086420059217405</c:v>
                </c:pt>
                <c:pt idx="1">
                  <c:v>2.9621318623302666</c:v>
                </c:pt>
              </c:numCache>
            </c:numRef>
          </c:val>
        </c:ser>
        <c:dLbls>
          <c:numFmt formatCode="0&quot;%&quot;" sourceLinked="0"/>
          <c:txPr>
            <a:bodyPr/>
            <a:lstStyle/>
            <a:p>
              <a:pPr>
                <a:defRPr b="1" i="0" strike="noStrike" sz="1200" u="none">
                  <a:solidFill>
                    <a:srgbClr val="070A12"/>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3304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en-US"/>
        </a:p>
      </c:txPr>
    </c:legend>
    <c:plotVisOnly val="1"/>
    <c:dispBlanksAs val="span"/>
  </c:chart>
  <c:spPr>
    <a:solidFill>
      <a:srgbClr val="070A1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BILL, 1 July to 19 August 2026, 50 days.
   $79,448  grand total
   $49,323  attributed to a team   62.1%
   $28,370  untagged Bedrock spend
    $1,754  guardrail fees, billed separately
  $1,589 a day, about $48,331 a month, $579,969 a year at this rate.
THE LINE TO LAND: the untagged bucket is 1.3x our largest team.
We are not looking at a rounding error, we are looking at the single
largest item in the AI bill, and it belongs to nobody.
SCALE IT ON AWS: $53,250 of Bedrock in the window, of which $30,125
has no application on it. That is 57% of one provider.
AND IT IS WORSE THAN THE BAR SHOWS. Inside the attributed half, 10 rows
are named 'unknown' or '(unlabeled)', $5,487. Together with the
untagged bucket that is $35,612, 44.8% of everything we spent.
WHAT IT COSTS US IN PRACTICE: no chargeback, no quota that anyone can be
held to, and no answer to 'whose is this' for nearly half the bill. The fix
is a tag on the Bedrock calls, not a new system.
IF ASKED WHETHER THE NUMBER IS SOLID: the two sheets in the source disagree
by $753, 1.5%, because the most recent day is still
estimated rather than billed. Call volumes match exactly. It does not move
anything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TEAM, ATTRIBUTED SPEND ONLY
  insait        $21,140   42.9% of cost   14.6% of calls  $112.40/1K
  ai-factory    $14,871   30.1% of cost   31.7% of calls  $ 36.37/1K
  solugen       $11,852   24.0% of cost   51.2% of calls  $ 17.92/1K
  onedoc           $395    0.8% of cost    1.0% of calls  $ 30.74/1K
  datainfra          $4    0.0% of cost    0.0% of calls  $206.00/1K
THE SHAPE OF THE SLIDE IS THE ARGUMENT. The two columns are the same teams
in almost the opposite order. solugen makes 51% of our calls for 24% of the
money. insait makes 15% of them for 43%.
SO: VOLUME IS NOT THE COST DRIVER. Growth in calls is not what we should be
managing. Which model answers which call is.
BE FAIR ABOUT THIS, IT MATTERS. insait runs agent and copilot traffic,
which is genuinely more expensive per turn than a classification call. This
is not a league table and nobody should leave the room thinking a team is
being criticised. What it is, is the largest lever in the dataset: a 6.3x spread
on unit cost, on which we currently set no target at all.
THE PRACTICAL ASK: a cost-per-call target per workload class, agreed with
the teams, reviewed monthly. Not a cap on usage. Nobody has to stop
building anything.
IF ASKED ABOUT GCP: it is small, $4,540, and the most expensive per call
we run, $164 per thousand, because it is all document OCR. Worth a look on
its own, not worth a slide here.
IF ASKED WHY THE ESTIMATE CAN BE TRUSTED: across every row we can reconcile,
the estimate is 7.5% under the billed figure. Accurate in aggregate. Not
per application, though, agent alone is 23.2% under, $2,495.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AI SPEND, 1 JULY TO 19 AUGUST 2026</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Nearly half the AI bill cannot be charged to an application</a:t>
            </a:r>
            <a:endParaRPr lang="en-US" sz="1800"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$79,448 across Claude, Azure OpenAI and GCP in 50 days. About $48,331 a month at this rate.</a:t>
            </a:r>
            <a:endParaRPr lang="en-US" sz="1200" dirty="0"/>
          </a:p>
        </p:txBody>
      </p:sp>
      <p:sp>
        <p:nvSpPr>
          <p:cNvPr id="7" name="Text 5"/>
          <p:cNvSpPr/>
          <p:nvPr/>
        </p:nvSpPr>
        <p:spPr>
          <a:xfrm>
            <a:off x="457200" y="6172200"/>
            <a:ext cx="11277295" cy="576072"/>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Untagged spend and guardrail fees are billed on AWS and carry no application, so they cannot be split by team and sit in no team figure. Azure has no reconciliation column at all, so every Azure figure here is the token estimate. The report's two tables disagree on dollars by 1.5% and agree on call volumes exactly.</a:t>
            </a:r>
            <a:endParaRPr lang="en-US" sz="1200" dirty="0"/>
          </a:p>
        </p:txBody>
      </p:sp>
      <p:sp>
        <p:nvSpPr>
          <p:cNvPr id="8" name="Shape 6"/>
          <p:cNvSpPr/>
          <p:nvPr/>
        </p:nvSpPr>
        <p:spPr>
          <a:xfrm>
            <a:off x="457200" y="1280160"/>
            <a:ext cx="6192072" cy="786384"/>
          </a:xfrm>
          <a:prstGeom prst="roundRect">
            <a:avLst>
              <a:gd name="adj" fmla="val 5814"/>
            </a:avLst>
          </a:prstGeom>
          <a:solidFill>
            <a:srgbClr val="3DD9EB"/>
          </a:solidFill>
          <a:ln w="12700">
            <a:solidFill>
              <a:srgbClr val="3DD9EB"/>
            </a:solidFill>
            <a:prstDash val="solid"/>
          </a:ln>
        </p:spPr>
      </p:sp>
      <p:sp>
        <p:nvSpPr>
          <p:cNvPr id="9" name="Text 7"/>
          <p:cNvSpPr/>
          <p:nvPr/>
        </p:nvSpPr>
        <p:spPr>
          <a:xfrm>
            <a:off x="676656" y="1353312"/>
            <a:ext cx="5753160" cy="420624"/>
          </a:xfrm>
          <a:prstGeom prst="rect">
            <a:avLst/>
          </a:prstGeom>
          <a:noFill/>
          <a:ln/>
        </p:spPr>
        <p:txBody>
          <a:bodyPr wrap="square" lIns="0" tIns="0" rIns="0" bIns="0" rtlCol="0" anchor="ctr"/>
          <a:lstStyle/>
          <a:p>
            <a:pPr indent="0" marL="0">
              <a:buNone/>
            </a:pPr>
            <a:r>
              <a:rPr lang="en-US" sz="3000" b="1" dirty="0">
                <a:solidFill>
                  <a:srgbClr val="070A12"/>
                </a:solidFill>
                <a:latin typeface="Calibri" pitchFamily="34" charset="0"/>
                <a:ea typeface="Calibri" pitchFamily="34" charset="-122"/>
                <a:cs typeface="Calibri" pitchFamily="34" charset="-120"/>
              </a:rPr>
              <a:t>55.2%</a:t>
            </a:r>
            <a:endParaRPr lang="en-US" sz="3000" dirty="0"/>
          </a:p>
        </p:txBody>
      </p:sp>
      <p:sp>
        <p:nvSpPr>
          <p:cNvPr id="10" name="Text 8"/>
          <p:cNvSpPr/>
          <p:nvPr/>
        </p:nvSpPr>
        <p:spPr>
          <a:xfrm>
            <a:off x="676656" y="1755648"/>
            <a:ext cx="5753160" cy="237744"/>
          </a:xfrm>
          <a:prstGeom prst="rect">
            <a:avLst/>
          </a:prstGeom>
          <a:noFill/>
          <a:ln/>
        </p:spPr>
        <p:txBody>
          <a:bodyPr wrap="square" lIns="0" tIns="0" rIns="0" bIns="0" rtlCol="0" anchor="ctr"/>
          <a:lstStyle/>
          <a:p>
            <a:pPr indent="0" marL="0">
              <a:buNone/>
            </a:pPr>
            <a:r>
              <a:rPr lang="en-US" sz="1200" b="1" spc="120" kern="0" dirty="0">
                <a:solidFill>
                  <a:srgbClr val="070A12"/>
                </a:solidFill>
                <a:latin typeface="Calibri" pitchFamily="34" charset="0"/>
                <a:ea typeface="Calibri" pitchFamily="34" charset="-122"/>
                <a:cs typeface="Calibri" pitchFamily="34" charset="-120"/>
              </a:rPr>
              <a:t>HAS A NAME ON IT</a:t>
            </a:r>
            <a:endParaRPr lang="en-US" sz="1200" dirty="0"/>
          </a:p>
        </p:txBody>
      </p:sp>
      <p:sp>
        <p:nvSpPr>
          <p:cNvPr id="11" name="Text 9"/>
          <p:cNvSpPr/>
          <p:nvPr/>
        </p:nvSpPr>
        <p:spPr>
          <a:xfrm>
            <a:off x="676656" y="2157984"/>
            <a:ext cx="5972616" cy="256032"/>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$43,836, a team and a named application</a:t>
            </a:r>
            <a:endParaRPr lang="en-US" sz="1200" dirty="0"/>
          </a:p>
        </p:txBody>
      </p:sp>
      <p:sp>
        <p:nvSpPr>
          <p:cNvPr id="12" name="Shape 10"/>
          <p:cNvSpPr/>
          <p:nvPr/>
        </p:nvSpPr>
        <p:spPr>
          <a:xfrm>
            <a:off x="6704136" y="1280160"/>
            <a:ext cx="5030359" cy="786384"/>
          </a:xfrm>
          <a:prstGeom prst="roundRect">
            <a:avLst>
              <a:gd name="adj" fmla="val 5814"/>
            </a:avLst>
          </a:prstGeom>
          <a:solidFill>
            <a:srgbClr val="FF6B7A"/>
          </a:solidFill>
          <a:ln w="12700">
            <a:solidFill>
              <a:srgbClr val="FF6B7A"/>
            </a:solidFill>
            <a:prstDash val="solid"/>
          </a:ln>
        </p:spPr>
      </p:sp>
      <p:sp>
        <p:nvSpPr>
          <p:cNvPr id="13" name="Text 11"/>
          <p:cNvSpPr/>
          <p:nvPr/>
        </p:nvSpPr>
        <p:spPr>
          <a:xfrm>
            <a:off x="6923592" y="1353312"/>
            <a:ext cx="4591447" cy="420624"/>
          </a:xfrm>
          <a:prstGeom prst="rect">
            <a:avLst/>
          </a:prstGeom>
          <a:noFill/>
          <a:ln/>
        </p:spPr>
        <p:txBody>
          <a:bodyPr wrap="square" lIns="0" tIns="0" rIns="0" bIns="0" rtlCol="0" anchor="ctr"/>
          <a:lstStyle/>
          <a:p>
            <a:pPr indent="0" marL="0">
              <a:buNone/>
            </a:pPr>
            <a:r>
              <a:rPr lang="en-US" sz="3000" b="1" dirty="0">
                <a:solidFill>
                  <a:srgbClr val="070A12"/>
                </a:solidFill>
                <a:latin typeface="Calibri" pitchFamily="34" charset="0"/>
                <a:ea typeface="Calibri" pitchFamily="34" charset="-122"/>
                <a:cs typeface="Calibri" pitchFamily="34" charset="-120"/>
              </a:rPr>
              <a:t>44.8%</a:t>
            </a:r>
            <a:endParaRPr lang="en-US" sz="3000" dirty="0"/>
          </a:p>
        </p:txBody>
      </p:sp>
      <p:sp>
        <p:nvSpPr>
          <p:cNvPr id="14" name="Text 12"/>
          <p:cNvSpPr/>
          <p:nvPr/>
        </p:nvSpPr>
        <p:spPr>
          <a:xfrm>
            <a:off x="6923592" y="1755648"/>
            <a:ext cx="4591447" cy="237744"/>
          </a:xfrm>
          <a:prstGeom prst="rect">
            <a:avLst/>
          </a:prstGeom>
          <a:noFill/>
          <a:ln/>
        </p:spPr>
        <p:txBody>
          <a:bodyPr wrap="square" lIns="0" tIns="0" rIns="0" bIns="0" rtlCol="0" anchor="ctr"/>
          <a:lstStyle/>
          <a:p>
            <a:pPr indent="0" marL="0">
              <a:buNone/>
            </a:pPr>
            <a:r>
              <a:rPr lang="en-US" sz="1200" b="1" spc="120" kern="0" dirty="0">
                <a:solidFill>
                  <a:srgbClr val="070A12"/>
                </a:solidFill>
                <a:latin typeface="Calibri" pitchFamily="34" charset="0"/>
                <a:ea typeface="Calibri" pitchFamily="34" charset="-122"/>
                <a:cs typeface="Calibri" pitchFamily="34" charset="-120"/>
              </a:rPr>
              <a:t>HAS NO NAME ON IT</a:t>
            </a:r>
            <a:endParaRPr lang="en-US" sz="1200" dirty="0"/>
          </a:p>
        </p:txBody>
      </p:sp>
      <p:sp>
        <p:nvSpPr>
          <p:cNvPr id="15" name="Text 13"/>
          <p:cNvSpPr/>
          <p:nvPr/>
        </p:nvSpPr>
        <p:spPr>
          <a:xfrm>
            <a:off x="6923592" y="2157984"/>
            <a:ext cx="4810903" cy="256032"/>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$35,612, cannot be charged to anyone</a:t>
            </a:r>
            <a:endParaRPr lang="en-US" sz="1200" dirty="0"/>
          </a:p>
        </p:txBody>
      </p:sp>
      <p:sp>
        <p:nvSpPr>
          <p:cNvPr id="16" name="Text 14"/>
          <p:cNvSpPr/>
          <p:nvPr/>
        </p:nvSpPr>
        <p:spPr>
          <a:xfrm>
            <a:off x="457200" y="2569464"/>
            <a:ext cx="11277295"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The whole bill, from the top of the report to the bottom</a:t>
            </a:r>
            <a:endParaRPr lang="en-US" sz="1500" dirty="0"/>
          </a:p>
        </p:txBody>
      </p:sp>
      <p:sp>
        <p:nvSpPr>
          <p:cNvPr id="17" name="Text 15"/>
          <p:cNvSpPr/>
          <p:nvPr/>
        </p:nvSpPr>
        <p:spPr>
          <a:xfrm>
            <a:off x="457200" y="2953512"/>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Named and owned by a team</a:t>
            </a:r>
            <a:endParaRPr lang="en-US" sz="1300" dirty="0"/>
          </a:p>
        </p:txBody>
      </p:sp>
      <p:sp>
        <p:nvSpPr>
          <p:cNvPr id="18" name="Shape 16"/>
          <p:cNvSpPr/>
          <p:nvPr/>
        </p:nvSpPr>
        <p:spPr>
          <a:xfrm>
            <a:off x="3474720" y="3026664"/>
            <a:ext cx="7071055" cy="146304"/>
          </a:xfrm>
          <a:prstGeom prst="roundRect">
            <a:avLst>
              <a:gd name="adj" fmla="val 50000"/>
            </a:avLst>
          </a:prstGeom>
          <a:solidFill>
            <a:srgbClr val="0E1422"/>
          </a:solidFill>
          <a:ln w="6350">
            <a:solidFill>
              <a:srgbClr val="23304A"/>
            </a:solidFill>
            <a:prstDash val="solid"/>
          </a:ln>
        </p:spPr>
      </p:sp>
      <p:sp>
        <p:nvSpPr>
          <p:cNvPr id="19" name="Shape 17"/>
          <p:cNvSpPr/>
          <p:nvPr/>
        </p:nvSpPr>
        <p:spPr>
          <a:xfrm>
            <a:off x="3474720" y="3026664"/>
            <a:ext cx="7071055" cy="146304"/>
          </a:xfrm>
          <a:prstGeom prst="roundRect">
            <a:avLst>
              <a:gd name="adj" fmla="val 50000"/>
            </a:avLst>
          </a:prstGeom>
          <a:solidFill>
            <a:srgbClr val="3DD9EB"/>
          </a:solidFill>
          <a:ln w="12700">
            <a:solidFill>
              <a:srgbClr val="3DD9EB"/>
            </a:solidFill>
            <a:prstDash val="solid"/>
          </a:ln>
        </p:spPr>
      </p:sp>
      <p:sp>
        <p:nvSpPr>
          <p:cNvPr id="20" name="Text 18"/>
          <p:cNvSpPr/>
          <p:nvPr/>
        </p:nvSpPr>
        <p:spPr>
          <a:xfrm>
            <a:off x="10682935" y="2953512"/>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$43,836</a:t>
            </a:r>
            <a:endParaRPr lang="en-US" sz="1200" dirty="0"/>
          </a:p>
        </p:txBody>
      </p:sp>
      <p:sp>
        <p:nvSpPr>
          <p:cNvPr id="21" name="Text 19"/>
          <p:cNvSpPr/>
          <p:nvPr/>
        </p:nvSpPr>
        <p:spPr>
          <a:xfrm>
            <a:off x="457200" y="3420062"/>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Untagged Bedrock spend</a:t>
            </a:r>
            <a:endParaRPr lang="en-US" sz="1300" dirty="0"/>
          </a:p>
        </p:txBody>
      </p:sp>
      <p:sp>
        <p:nvSpPr>
          <p:cNvPr id="22" name="Shape 20"/>
          <p:cNvSpPr/>
          <p:nvPr/>
        </p:nvSpPr>
        <p:spPr>
          <a:xfrm>
            <a:off x="3474720" y="3493214"/>
            <a:ext cx="7071055" cy="146304"/>
          </a:xfrm>
          <a:prstGeom prst="roundRect">
            <a:avLst>
              <a:gd name="adj" fmla="val 50000"/>
            </a:avLst>
          </a:prstGeom>
          <a:solidFill>
            <a:srgbClr val="0E1422"/>
          </a:solidFill>
          <a:ln w="6350">
            <a:solidFill>
              <a:srgbClr val="23304A"/>
            </a:solidFill>
            <a:prstDash val="solid"/>
          </a:ln>
        </p:spPr>
      </p:sp>
      <p:sp>
        <p:nvSpPr>
          <p:cNvPr id="23" name="Shape 21"/>
          <p:cNvSpPr/>
          <p:nvPr/>
        </p:nvSpPr>
        <p:spPr>
          <a:xfrm>
            <a:off x="3474720" y="3493214"/>
            <a:ext cx="4576336" cy="146304"/>
          </a:xfrm>
          <a:prstGeom prst="roundRect">
            <a:avLst>
              <a:gd name="adj" fmla="val 50000"/>
            </a:avLst>
          </a:prstGeom>
          <a:solidFill>
            <a:srgbClr val="FF6B7A"/>
          </a:solidFill>
          <a:ln w="12700">
            <a:solidFill>
              <a:srgbClr val="FF6B7A"/>
            </a:solidFill>
            <a:prstDash val="solid"/>
          </a:ln>
        </p:spPr>
      </p:sp>
      <p:sp>
        <p:nvSpPr>
          <p:cNvPr id="24" name="Text 22"/>
          <p:cNvSpPr/>
          <p:nvPr/>
        </p:nvSpPr>
        <p:spPr>
          <a:xfrm>
            <a:off x="10682935" y="3420062"/>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$28,370</a:t>
            </a:r>
            <a:endParaRPr lang="en-US" sz="1200" dirty="0"/>
          </a:p>
        </p:txBody>
      </p:sp>
      <p:sp>
        <p:nvSpPr>
          <p:cNvPr id="25" name="Text 23"/>
          <p:cNvSpPr/>
          <p:nvPr/>
        </p:nvSpPr>
        <p:spPr>
          <a:xfrm>
            <a:off x="457200" y="3886613"/>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Rows named unknown</a:t>
            </a:r>
            <a:endParaRPr lang="en-US" sz="1300" dirty="0"/>
          </a:p>
        </p:txBody>
      </p:sp>
      <p:sp>
        <p:nvSpPr>
          <p:cNvPr id="26" name="Shape 24"/>
          <p:cNvSpPr/>
          <p:nvPr/>
        </p:nvSpPr>
        <p:spPr>
          <a:xfrm>
            <a:off x="3474720" y="3959765"/>
            <a:ext cx="7071055" cy="146304"/>
          </a:xfrm>
          <a:prstGeom prst="roundRect">
            <a:avLst>
              <a:gd name="adj" fmla="val 50000"/>
            </a:avLst>
          </a:prstGeom>
          <a:solidFill>
            <a:srgbClr val="0E1422"/>
          </a:solidFill>
          <a:ln w="6350">
            <a:solidFill>
              <a:srgbClr val="23304A"/>
            </a:solidFill>
            <a:prstDash val="solid"/>
          </a:ln>
        </p:spPr>
      </p:sp>
      <p:sp>
        <p:nvSpPr>
          <p:cNvPr id="27" name="Shape 25"/>
          <p:cNvSpPr/>
          <p:nvPr/>
        </p:nvSpPr>
        <p:spPr>
          <a:xfrm>
            <a:off x="3474720" y="3959765"/>
            <a:ext cx="885128" cy="146304"/>
          </a:xfrm>
          <a:prstGeom prst="roundRect">
            <a:avLst>
              <a:gd name="adj" fmla="val 50000"/>
            </a:avLst>
          </a:prstGeom>
          <a:solidFill>
            <a:srgbClr val="E0A030"/>
          </a:solidFill>
          <a:ln w="12700">
            <a:solidFill>
              <a:srgbClr val="E0A030"/>
            </a:solidFill>
            <a:prstDash val="solid"/>
          </a:ln>
        </p:spPr>
      </p:sp>
      <p:sp>
        <p:nvSpPr>
          <p:cNvPr id="28" name="Text 26"/>
          <p:cNvSpPr/>
          <p:nvPr/>
        </p:nvSpPr>
        <p:spPr>
          <a:xfrm>
            <a:off x="10682935" y="3886613"/>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$5,487</a:t>
            </a:r>
            <a:endParaRPr lang="en-US" sz="1200" dirty="0"/>
          </a:p>
        </p:txBody>
      </p:sp>
      <p:sp>
        <p:nvSpPr>
          <p:cNvPr id="29" name="Text 27"/>
          <p:cNvSpPr/>
          <p:nvPr/>
        </p:nvSpPr>
        <p:spPr>
          <a:xfrm>
            <a:off x="457200" y="4353163"/>
            <a:ext cx="2834640" cy="292608"/>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Bedrock guardrail fees</a:t>
            </a:r>
            <a:endParaRPr lang="en-US" sz="1300" dirty="0"/>
          </a:p>
        </p:txBody>
      </p:sp>
      <p:sp>
        <p:nvSpPr>
          <p:cNvPr id="30" name="Shape 28"/>
          <p:cNvSpPr/>
          <p:nvPr/>
        </p:nvSpPr>
        <p:spPr>
          <a:xfrm>
            <a:off x="3474720" y="4426315"/>
            <a:ext cx="7071055" cy="146304"/>
          </a:xfrm>
          <a:prstGeom prst="roundRect">
            <a:avLst>
              <a:gd name="adj" fmla="val 50000"/>
            </a:avLst>
          </a:prstGeom>
          <a:solidFill>
            <a:srgbClr val="0E1422"/>
          </a:solidFill>
          <a:ln w="6350">
            <a:solidFill>
              <a:srgbClr val="23304A"/>
            </a:solidFill>
            <a:prstDash val="solid"/>
          </a:ln>
        </p:spPr>
      </p:sp>
      <p:sp>
        <p:nvSpPr>
          <p:cNvPr id="31" name="Shape 29"/>
          <p:cNvSpPr/>
          <p:nvPr/>
        </p:nvSpPr>
        <p:spPr>
          <a:xfrm>
            <a:off x="3474720" y="4426315"/>
            <a:ext cx="282969" cy="146304"/>
          </a:xfrm>
          <a:prstGeom prst="roundRect">
            <a:avLst>
              <a:gd name="adj" fmla="val 50000"/>
            </a:avLst>
          </a:prstGeom>
          <a:solidFill>
            <a:srgbClr val="E0A030"/>
          </a:solidFill>
          <a:ln w="12700">
            <a:solidFill>
              <a:srgbClr val="E0A030"/>
            </a:solidFill>
            <a:prstDash val="solid"/>
          </a:ln>
        </p:spPr>
      </p:sp>
      <p:sp>
        <p:nvSpPr>
          <p:cNvPr id="32" name="Text 30"/>
          <p:cNvSpPr/>
          <p:nvPr/>
        </p:nvSpPr>
        <p:spPr>
          <a:xfrm>
            <a:off x="10682935" y="4353163"/>
            <a:ext cx="1051560" cy="292608"/>
          </a:xfrm>
          <a:prstGeom prst="rect">
            <a:avLst/>
          </a:prstGeom>
          <a:noFill/>
          <a:ln/>
        </p:spPr>
        <p:txBody>
          <a:bodyPr wrap="square" lIns="0" tIns="0" rIns="0" bIns="0" rtlCol="0" anchor="ctr"/>
          <a:lstStyle/>
          <a:p>
            <a:pPr algn="r" indent="0" marL="0">
              <a:buNone/>
            </a:pPr>
            <a:r>
              <a:rPr lang="en-US" sz="1200" b="1" dirty="0">
                <a:solidFill>
                  <a:srgbClr val="F4F7FB"/>
                </a:solidFill>
                <a:latin typeface="Calibri" pitchFamily="34" charset="0"/>
                <a:ea typeface="Calibri" pitchFamily="34" charset="-122"/>
                <a:cs typeface="Calibri" pitchFamily="34" charset="-120"/>
              </a:rPr>
              <a:t>$1,754</a:t>
            </a:r>
            <a:endParaRPr lang="en-US" sz="1200" dirty="0"/>
          </a:p>
        </p:txBody>
      </p:sp>
      <p:sp>
        <p:nvSpPr>
          <p:cNvPr id="33" name="Shape 31"/>
          <p:cNvSpPr/>
          <p:nvPr/>
        </p:nvSpPr>
        <p:spPr>
          <a:xfrm>
            <a:off x="457200" y="5002594"/>
            <a:ext cx="11277295" cy="1041591"/>
          </a:xfrm>
          <a:prstGeom prst="roundRect">
            <a:avLst>
              <a:gd name="adj" fmla="val 5267"/>
            </a:avLst>
          </a:prstGeom>
          <a:solidFill>
            <a:srgbClr val="121B2D"/>
          </a:solidFill>
          <a:ln w="12700">
            <a:solidFill>
              <a:srgbClr val="FF6B7A"/>
            </a:solidFill>
            <a:prstDash val="solid"/>
          </a:ln>
        </p:spPr>
      </p:sp>
      <p:sp>
        <p:nvSpPr>
          <p:cNvPr id="34" name="Text 32"/>
          <p:cNvSpPr/>
          <p:nvPr/>
        </p:nvSpPr>
        <p:spPr>
          <a:xfrm>
            <a:off x="685800" y="5112322"/>
            <a:ext cx="10820095" cy="292608"/>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The untagged line on its own is bigger than any team we have</a:t>
            </a:r>
            <a:endParaRPr lang="en-US" sz="1600" dirty="0"/>
          </a:p>
        </p:txBody>
      </p:sp>
      <p:sp>
        <p:nvSpPr>
          <p:cNvPr id="35" name="Text 33"/>
          <p:cNvSpPr/>
          <p:nvPr/>
        </p:nvSpPr>
        <p:spPr>
          <a:xfrm>
            <a:off x="685800" y="5441506"/>
            <a:ext cx="10820095" cy="474663"/>
          </a:xfrm>
          <a:prstGeom prst="rect">
            <a:avLst/>
          </a:prstGeom>
          <a:noFill/>
          <a:ln/>
        </p:spPr>
        <p:txBody>
          <a:bodyPr wrap="square" lIns="0" tIns="0" rIns="0" bIns="0" rtlCol="0" anchor="t"/>
          <a:lstStyle/>
          <a:p>
            <a:pPr indent="0" marL="0">
              <a:lnSpc>
                <a:spcPct val="115000"/>
              </a:lnSpc>
              <a:buNone/>
            </a:pPr>
            <a:r>
              <a:rPr lang="en-US" sz="1300" dirty="0">
                <a:solidFill>
                  <a:srgbClr val="91A0B7"/>
                </a:solidFill>
                <a:latin typeface="Calibri" pitchFamily="34" charset="0"/>
                <a:ea typeface="Calibri" pitchFamily="34" charset="-122"/>
                <a:cs typeface="Calibri" pitchFamily="34" charset="-120"/>
              </a:rPr>
              <a:t>$28,370 of Bedrock spend carries no application tag, against $21,140 for insait, our largest team. 57% of everything we spend on Bedrock has no application on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9F43"/>
                </a:solidFill>
                <a:latin typeface="Calibri" pitchFamily="34" charset="0"/>
                <a:ea typeface="Calibri" pitchFamily="34" charset="-122"/>
                <a:cs typeface="Calibri" pitchFamily="34" charset="-120"/>
              </a:rPr>
              <a:t>WHERE THE MONEY GOES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26" b="1" dirty="0">
                <a:solidFill>
                  <a:srgbClr val="F4F7FB"/>
                </a:solidFill>
                <a:latin typeface="Calibri" pitchFamily="34" charset="0"/>
                <a:ea typeface="Calibri" pitchFamily="34" charset="-122"/>
                <a:cs typeface="Calibri" pitchFamily="34" charset="-120"/>
              </a:rPr>
              <a:t>insait is 15% of the calls and 43% of the cost</a:t>
            </a:r>
            <a:endParaRPr lang="en-US" sz="1826" dirty="0"/>
          </a:p>
        </p:txBody>
      </p:sp>
      <p:sp>
        <p:nvSpPr>
          <p:cNvPr id="6" name="Text 4"/>
          <p:cNvSpPr/>
          <p:nvPr/>
        </p:nvSpPr>
        <p:spPr>
          <a:xfrm>
            <a:off x="8321040" y="493776"/>
            <a:ext cx="3413455" cy="731520"/>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Attributed spend only. Volume and cost, as shares of the same 50 day window.</a:t>
            </a:r>
            <a:endParaRPr lang="en-US" sz="1200" dirty="0"/>
          </a:p>
        </p:txBody>
      </p:sp>
      <p:sp>
        <p:nvSpPr>
          <p:cNvPr id="7" name="Text 5"/>
          <p:cNvSpPr/>
          <p:nvPr/>
        </p:nvSpPr>
        <p:spPr>
          <a:xfrm>
            <a:off x="457200" y="6172200"/>
            <a:ext cx="11277295" cy="576072"/>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Cost per call is a property of the work, not a score: an agent turn is not a classification call, and insait is not being wasteful for costing more. The point is the size of the lever. A 6.3x spread means the bill is set by which model handles which call, and nobody has a target for that yet.</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Share of calls against share of cost, by team</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DEAREST PER CALL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$112</a:t>
            </a:r>
            <a:endParaRPr lang="en-US" sz="2800" dirty="0"/>
          </a:p>
        </p:txBody>
      </p:sp>
      <p:sp>
        <p:nvSpPr>
          <p:cNvPr id="13" name="Text 10"/>
          <p:cNvSpPr/>
          <p:nvPr/>
        </p:nvSpPr>
        <p:spPr>
          <a:xfrm>
            <a:off x="8293608" y="1929384"/>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FF9F43"/>
                </a:solidFill>
                <a:latin typeface="Calibri" pitchFamily="34" charset="0"/>
                <a:ea typeface="Calibri" pitchFamily="34" charset="-122"/>
                <a:cs typeface="Calibri" pitchFamily="34" charset="-120"/>
              </a:rPr>
              <a:t>per 1,000 calls, insait</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CHEAPEST PER CALL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$18</a:t>
            </a:r>
            <a:endParaRPr lang="en-US" sz="2800" dirty="0"/>
          </a:p>
        </p:txBody>
      </p:sp>
      <p:sp>
        <p:nvSpPr>
          <p:cNvPr id="17" name="Text 14"/>
          <p:cNvSpPr/>
          <p:nvPr/>
        </p:nvSpPr>
        <p:spPr>
          <a:xfrm>
            <a:off x="8293608" y="3154680"/>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3DDC97"/>
                </a:solidFill>
                <a:latin typeface="Calibri" pitchFamily="34" charset="0"/>
                <a:ea typeface="Calibri" pitchFamily="34" charset="-122"/>
                <a:cs typeface="Calibri" pitchFamily="34" charset="-120"/>
              </a:rPr>
              <a:t>per 1,000 calls, solugen</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THE SPREAD</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6.3x</a:t>
            </a:r>
            <a:endParaRPr lang="en-US" sz="2800" dirty="0"/>
          </a:p>
        </p:txBody>
      </p:sp>
      <p:sp>
        <p:nvSpPr>
          <p:cNvPr id="21" name="Text 18"/>
          <p:cNvSpPr/>
          <p:nvPr/>
        </p:nvSpPr>
        <p:spPr>
          <a:xfrm>
            <a:off x="8293608" y="4379976"/>
            <a:ext cx="3239719" cy="356616"/>
          </a:xfrm>
          <a:prstGeom prst="rect">
            <a:avLst/>
          </a:prstGeom>
          <a:noFill/>
          <a:ln/>
        </p:spPr>
        <p:txBody>
          <a:bodyPr wrap="square" lIns="0" tIns="0" rIns="0" bIns="0" rtlCol="0" anchor="t"/>
          <a:lstStyle/>
          <a:p>
            <a:pPr indent="0" marL="0">
              <a:lnSpc>
                <a:spcPct val="105000"/>
              </a:lnSpc>
              <a:buNone/>
            </a:pPr>
            <a:r>
              <a:rPr lang="en-US" sz="1200" b="1" dirty="0">
                <a:solidFill>
                  <a:srgbClr val="E0A030"/>
                </a:solidFill>
                <a:latin typeface="Calibri" pitchFamily="34" charset="0"/>
                <a:ea typeface="Calibri" pitchFamily="34" charset="-122"/>
                <a:cs typeface="Calibri" pitchFamily="34" charset="-120"/>
              </a:rPr>
              <a:t>between the cheapest and dearest team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cost, July to August 2026 — Harel</dc:title>
  <dc:subject>PptxGenJS Presentation</dc:subject>
  <dc:creator>Cloud Infrastructure, DevOps &amp; Databases</dc:creator>
  <cp:lastModifiedBy>Cloud Infrastructure, DevOps &amp; Databases</cp:lastModifiedBy>
  <cp:revision>1</cp:revision>
  <dcterms:created xsi:type="dcterms:W3CDTF">2026-09-22T17:12:13Z</dcterms:created>
  <dcterms:modified xsi:type="dcterms:W3CDTF">2026-09-22T17:12:13Z</dcterms:modified>
</cp:coreProperties>
</file>