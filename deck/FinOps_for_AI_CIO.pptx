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IN ONE LINE: agree a model policy, so AI spend scales with value
instead of with habit.
This is not about spending less on AI. It is about paying the right price
for each unit of it. Five levers, all available today on platforms we
already run — no new tooling to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THE CONVERSATION IN OUR OWN NUMBERS.
  Billed AI, July      75,439   (26.6% of a 283,554 monthly bill)
  Billed AI, January    8,640   ( 3.7% of a 234,115 monthly bill)
  Jan-Jul total       199,531   growth +773%
By platform in July: Bedrock 25,288, Foundry 19,613, Copilot 19,260,
Copilot Studio 8,920, Vertex AI 2,359.
The point to land: the growth is not the problem. The absence of a price
policy underneath the growth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SLIDE THAT MATTERS MOST.
The 5-15x gap is between tiers for the same task. Choosing the top tier by
default is the most expensive habit in AI, and it is invisible on an
invoice because the line item looks identical.
OUR EXPOSURE
82.1% of AWS AI spend is Opus-class. Bedrock was 25,288 in July. We have
not measured how much of that genuinely needs Opus — that measurement is
the first action, not a blanket downgrade.
On GitHub Copilot the published promotional pricing makes Sonnet 5 the
baseline and Opus about 2.5x; shifting routine work is roughly 60% off the
token cost. That promotional pricing ends 31 Aug 2026 — reassess before,
not after.
IF CHALLENGED: this is not a quality policy, it is a default policy. Any
team can escalate; they just have to show the balanced tier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B07CFF">
              <a:alpha val="8000"/>
            </a:srgbClr>
          </a:solidFill>
          <a:ln w="12700">
            <a:solidFill>
              <a:srgbClr val="B07CFF">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457200" y="2652776"/>
            <a:ext cx="8229600" cy="274320"/>
          </a:xfrm>
          <a:prstGeom prst="rect">
            <a:avLst/>
          </a:prstGeom>
          <a:noFill/>
          <a:ln/>
        </p:spPr>
        <p:txBody>
          <a:bodyPr wrap="square" lIns="0" tIns="0" rIns="0" bIns="0" rtlCol="0" anchor="ctr"/>
          <a:lstStyle/>
          <a:p>
            <a:pPr indent="0" marL="0">
              <a:buNone/>
            </a:pPr>
            <a:r>
              <a:rPr lang="en-US" sz="1300" b="1" spc="300" kern="0" dirty="0">
                <a:solidFill>
                  <a:srgbClr val="B07CFF"/>
                </a:solidFill>
                <a:latin typeface="Calibri" pitchFamily="34" charset="0"/>
                <a:ea typeface="Calibri" pitchFamily="34" charset="-122"/>
                <a:cs typeface="Calibri" pitchFamily="34" charset="-120"/>
              </a:rPr>
              <a:t>HAREL INSURANCE · FINOPS FOR AI</a:t>
            </a:r>
            <a:endParaRPr lang="en-US" sz="1300" dirty="0"/>
          </a:p>
        </p:txBody>
      </p:sp>
      <p:sp>
        <p:nvSpPr>
          <p:cNvPr id="6" name="Text 4"/>
          <p:cNvSpPr/>
          <p:nvPr/>
        </p:nvSpPr>
        <p:spPr>
          <a:xfrm>
            <a:off x="457200" y="3000248"/>
            <a:ext cx="8412480" cy="619760"/>
          </a:xfrm>
          <a:prstGeom prst="rect">
            <a:avLst/>
          </a:prstGeom>
          <a:noFill/>
          <a:ln/>
        </p:spPr>
        <p:txBody>
          <a:bodyPr wrap="square" lIns="0" tIns="0" rIns="0" bIns="0" rtlCol="0" anchor="ctr"/>
          <a:lstStyle/>
          <a:p>
            <a:pPr indent="0" marL="0">
              <a:buNone/>
            </a:pPr>
            <a:r>
              <a:rPr lang="en-US" sz="4000" b="1" dirty="0">
                <a:solidFill>
                  <a:srgbClr val="F4F7FB"/>
                </a:solidFill>
                <a:latin typeface="Calibri" pitchFamily="34" charset="0"/>
                <a:ea typeface="Calibri" pitchFamily="34" charset="-122"/>
                <a:cs typeface="Calibri" pitchFamily="34" charset="-120"/>
              </a:rPr>
              <a:t>Using AI right</a:t>
            </a:r>
            <a:endParaRPr lang="en-US" sz="4000" dirty="0"/>
          </a:p>
        </p:txBody>
      </p:sp>
      <p:sp>
        <p:nvSpPr>
          <p:cNvPr id="7" name="Text 5"/>
          <p:cNvSpPr/>
          <p:nvPr/>
        </p:nvSpPr>
        <p:spPr>
          <a:xfrm>
            <a:off x="457200" y="3748024"/>
            <a:ext cx="7863840" cy="457200"/>
          </a:xfrm>
          <a:prstGeom prst="rect">
            <a:avLst/>
          </a:prstGeom>
          <a:noFill/>
          <a:ln/>
        </p:spPr>
        <p:txBody>
          <a:bodyPr wrap="square" lIns="0" tIns="0" rIns="0" bIns="0" rtlCol="0" anchor="t"/>
          <a:lstStyle/>
          <a:p>
            <a:pPr indent="0" marL="0">
              <a:buNone/>
            </a:pPr>
            <a:r>
              <a:rPr lang="en-US" sz="1500" dirty="0">
                <a:solidFill>
                  <a:srgbClr val="91A0B7"/>
                </a:solidFill>
                <a:latin typeface="Calibri" pitchFamily="34" charset="0"/>
                <a:ea typeface="Calibri" pitchFamily="34" charset="-122"/>
                <a:cs typeface="Calibri" pitchFamily="34" charset="-120"/>
              </a:rPr>
              <a:t>Cost-optimal, compliant use of Bedrock, GitHub Copilot and Azure AI Foundry · CIO briefing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WHY NOW</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545" b="1" dirty="0">
                <a:solidFill>
                  <a:srgbClr val="F4F7FB"/>
                </a:solidFill>
                <a:latin typeface="Calibri" pitchFamily="34" charset="0"/>
                <a:ea typeface="Calibri" pitchFamily="34" charset="-122"/>
                <a:cs typeface="Calibri" pitchFamily="34" charset="-120"/>
              </a:rPr>
              <a:t>AI is a quarter of the cloud bill</a:t>
            </a:r>
            <a:endParaRPr lang="en-US" sz="2545"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Billed AI across all three clouds. Excludes the Databricks pre-purchase, which bills at $0.</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Jan–Jul 2026 consumption. Billed AI totalled $199,531 over the seven months and grew 773% from January to July.</a:t>
            </a:r>
            <a:endParaRPr lang="en-US" sz="1200" dirty="0"/>
          </a:p>
        </p:txBody>
      </p:sp>
      <p:sp>
        <p:nvSpPr>
          <p:cNvPr id="8" name="Text 6"/>
          <p:cNvSpPr/>
          <p:nvPr/>
        </p:nvSpPr>
        <p:spPr>
          <a:xfrm>
            <a:off x="457200" y="1691640"/>
            <a:ext cx="5669280" cy="1371600"/>
          </a:xfrm>
          <a:prstGeom prst="rect">
            <a:avLst/>
          </a:prstGeom>
          <a:noFill/>
          <a:ln/>
        </p:spPr>
        <p:txBody>
          <a:bodyPr wrap="square" lIns="0" tIns="0" rIns="0" bIns="0" rtlCol="0" anchor="ctr"/>
          <a:lstStyle/>
          <a:p>
            <a:pPr indent="0" marL="0">
              <a:buNone/>
            </a:pPr>
            <a:r>
              <a:rPr lang="en-US" sz="9600" b="1" dirty="0">
                <a:solidFill>
                  <a:srgbClr val="F4F7FB"/>
                </a:solidFill>
                <a:latin typeface="Calibri" pitchFamily="34" charset="0"/>
                <a:ea typeface="Calibri" pitchFamily="34" charset="-122"/>
                <a:cs typeface="Calibri" pitchFamily="34" charset="-120"/>
              </a:rPr>
              <a:t>$75,439</a:t>
            </a:r>
            <a:endParaRPr lang="en-US" sz="9600" dirty="0"/>
          </a:p>
        </p:txBody>
      </p:sp>
      <p:sp>
        <p:nvSpPr>
          <p:cNvPr id="9" name="Text 7"/>
          <p:cNvSpPr/>
          <p:nvPr/>
        </p:nvSpPr>
        <p:spPr>
          <a:xfrm>
            <a:off x="457200" y="3063240"/>
            <a:ext cx="5669280" cy="365760"/>
          </a:xfrm>
          <a:prstGeom prst="rect">
            <a:avLst/>
          </a:prstGeom>
          <a:noFill/>
          <a:ln/>
        </p:spPr>
        <p:txBody>
          <a:bodyPr wrap="square" lIns="0" tIns="0" rIns="0" bIns="0" rtlCol="0" anchor="ctr"/>
          <a:lstStyle/>
          <a:p>
            <a:pPr indent="0" marL="0">
              <a:buNone/>
            </a:pPr>
            <a:r>
              <a:rPr lang="en-US" sz="1500" dirty="0">
                <a:solidFill>
                  <a:srgbClr val="91A0B7"/>
                </a:solidFill>
                <a:latin typeface="Calibri" pitchFamily="34" charset="0"/>
                <a:ea typeface="Calibri" pitchFamily="34" charset="-122"/>
                <a:cs typeface="Calibri" pitchFamily="34" charset="-120"/>
              </a:rPr>
              <a:t>billed AI in July 2026  ·  up from $8,640 in January</a:t>
            </a:r>
            <a:endParaRPr lang="en-US" sz="1500" dirty="0"/>
          </a:p>
        </p:txBody>
      </p:sp>
      <p:sp>
        <p:nvSpPr>
          <p:cNvPr id="10" name="Text 8"/>
          <p:cNvSpPr/>
          <p:nvPr/>
        </p:nvSpPr>
        <p:spPr>
          <a:xfrm>
            <a:off x="457200" y="3456432"/>
            <a:ext cx="5669280" cy="365760"/>
          </a:xfrm>
          <a:prstGeom prst="rect">
            <a:avLst/>
          </a:prstGeom>
          <a:noFill/>
          <a:ln/>
        </p:spPr>
        <p:txBody>
          <a:bodyPr wrap="square" lIns="0" tIns="0" rIns="0" bIns="0" rtlCol="0" anchor="ctr"/>
          <a:lstStyle/>
          <a:p>
            <a:pPr indent="0" marL="0">
              <a:buNone/>
            </a:pPr>
            <a:r>
              <a:rPr lang="en-US" sz="1700" b="1" dirty="0">
                <a:solidFill>
                  <a:srgbClr val="FF6B7A"/>
                </a:solidFill>
                <a:latin typeface="Calibri" pitchFamily="34" charset="0"/>
                <a:ea typeface="Calibri" pitchFamily="34" charset="-122"/>
                <a:cs typeface="Calibri" pitchFamily="34" charset="-120"/>
              </a:rPr>
              <a:t>26.6% of the cloud bill  ·  was 3.7% in January</a:t>
            </a:r>
            <a:endParaRPr lang="en-US" sz="1700" dirty="0"/>
          </a:p>
        </p:txBody>
      </p:sp>
      <p:sp>
        <p:nvSpPr>
          <p:cNvPr id="11" name="Shape 9"/>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sp>
      <p:sp>
        <p:nvSpPr>
          <p:cNvPr id="12" name="Text 10"/>
          <p:cNvSpPr/>
          <p:nvPr/>
        </p:nvSpPr>
        <p:spPr>
          <a:xfrm>
            <a:off x="6693408" y="1682496"/>
            <a:ext cx="4839919" cy="274320"/>
          </a:xfrm>
          <a:prstGeom prst="rect">
            <a:avLst/>
          </a:prstGeom>
          <a:noFill/>
          <a:ln/>
        </p:spPr>
        <p:txBody>
          <a:bodyPr wrap="square" lIns="0" tIns="0" rIns="0" bIns="0" rtlCol="0" anchor="ctr"/>
          <a:lstStyle/>
          <a:p>
            <a:pPr indent="0" marL="0">
              <a:buNone/>
            </a:pPr>
            <a:r>
              <a:rPr lang="en-US" sz="1500" b="1" dirty="0">
                <a:solidFill>
                  <a:srgbClr val="FF9F43"/>
                </a:solidFill>
                <a:latin typeface="Calibri" pitchFamily="34" charset="0"/>
                <a:ea typeface="Calibri" pitchFamily="34" charset="-122"/>
                <a:cs typeface="Calibri" pitchFamily="34" charset="-120"/>
              </a:rPr>
              <a:t>AWS Bedrock — Claude</a:t>
            </a:r>
            <a:endParaRPr lang="en-US" sz="1500" dirty="0"/>
          </a:p>
        </p:txBody>
      </p:sp>
      <p:sp>
        <p:nvSpPr>
          <p:cNvPr id="13" name="Text 11"/>
          <p:cNvSpPr/>
          <p:nvPr/>
        </p:nvSpPr>
        <p:spPr>
          <a:xfrm>
            <a:off x="6693408" y="197510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$25,288</a:t>
            </a:r>
            <a:endParaRPr lang="en-US" sz="2200" dirty="0"/>
          </a:p>
        </p:txBody>
      </p:sp>
      <p:sp>
        <p:nvSpPr>
          <p:cNvPr id="14" name="Text 12"/>
          <p:cNvSpPr/>
          <p:nvPr/>
        </p:nvSpPr>
        <p:spPr>
          <a:xfrm>
            <a:off x="9113368" y="197510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July</a:t>
            </a:r>
            <a:endParaRPr lang="en-US" sz="1200" dirty="0"/>
          </a:p>
        </p:txBody>
      </p:sp>
      <p:sp>
        <p:nvSpPr>
          <p:cNvPr id="15" name="Shape 13"/>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sp>
      <p:sp>
        <p:nvSpPr>
          <p:cNvPr id="16" name="Text 14"/>
          <p:cNvSpPr/>
          <p:nvPr/>
        </p:nvSpPr>
        <p:spPr>
          <a:xfrm>
            <a:off x="6693408" y="2734056"/>
            <a:ext cx="4839919" cy="274320"/>
          </a:xfrm>
          <a:prstGeom prst="rect">
            <a:avLst/>
          </a:prstGeom>
          <a:noFill/>
          <a:ln/>
        </p:spPr>
        <p:txBody>
          <a:bodyPr wrap="square" lIns="0" tIns="0" rIns="0" bIns="0" rtlCol="0" anchor="ctr"/>
          <a:lstStyle/>
          <a:p>
            <a:pPr indent="0" marL="0">
              <a:buNone/>
            </a:pPr>
            <a:r>
              <a:rPr lang="en-US" sz="1500" b="1" dirty="0">
                <a:solidFill>
                  <a:srgbClr val="2F8CFF"/>
                </a:solidFill>
                <a:latin typeface="Calibri" pitchFamily="34" charset="0"/>
                <a:ea typeface="Calibri" pitchFamily="34" charset="-122"/>
                <a:cs typeface="Calibri" pitchFamily="34" charset="-120"/>
              </a:rPr>
              <a:t>Azure AI Foundry</a:t>
            </a:r>
            <a:endParaRPr lang="en-US" sz="1500" dirty="0"/>
          </a:p>
        </p:txBody>
      </p:sp>
      <p:sp>
        <p:nvSpPr>
          <p:cNvPr id="17" name="Text 15"/>
          <p:cNvSpPr/>
          <p:nvPr/>
        </p:nvSpPr>
        <p:spPr>
          <a:xfrm>
            <a:off x="6693408" y="302666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$19,613</a:t>
            </a:r>
            <a:endParaRPr lang="en-US" sz="2200" dirty="0"/>
          </a:p>
        </p:txBody>
      </p:sp>
      <p:sp>
        <p:nvSpPr>
          <p:cNvPr id="18" name="Text 16"/>
          <p:cNvSpPr/>
          <p:nvPr/>
        </p:nvSpPr>
        <p:spPr>
          <a:xfrm>
            <a:off x="9113368" y="302666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July</a:t>
            </a:r>
            <a:endParaRPr lang="en-US" sz="1200" dirty="0"/>
          </a:p>
        </p:txBody>
      </p:sp>
      <p:sp>
        <p:nvSpPr>
          <p:cNvPr id="19" name="Shape 17"/>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sp>
      <p:sp>
        <p:nvSpPr>
          <p:cNvPr id="20" name="Text 18"/>
          <p:cNvSpPr/>
          <p:nvPr/>
        </p:nvSpPr>
        <p:spPr>
          <a:xfrm>
            <a:off x="6693408" y="3785616"/>
            <a:ext cx="4839919" cy="274320"/>
          </a:xfrm>
          <a:prstGeom prst="rect">
            <a:avLst/>
          </a:prstGeom>
          <a:noFill/>
          <a:ln/>
        </p:spPr>
        <p:txBody>
          <a:bodyPr wrap="square" lIns="0" tIns="0" rIns="0" bIns="0" rtlCol="0" anchor="ctr"/>
          <a:lstStyle/>
          <a:p>
            <a:pPr indent="0" marL="0">
              <a:buNone/>
            </a:pPr>
            <a:r>
              <a:rPr lang="en-US" sz="1500" b="1" dirty="0">
                <a:solidFill>
                  <a:srgbClr val="B07CFF"/>
                </a:solidFill>
                <a:latin typeface="Calibri" pitchFamily="34" charset="0"/>
                <a:ea typeface="Calibri" pitchFamily="34" charset="-122"/>
                <a:cs typeface="Calibri" pitchFamily="34" charset="-120"/>
              </a:rPr>
              <a:t>GitHub Copilot</a:t>
            </a:r>
            <a:endParaRPr lang="en-US" sz="1500" dirty="0"/>
          </a:p>
        </p:txBody>
      </p:sp>
      <p:sp>
        <p:nvSpPr>
          <p:cNvPr id="21" name="Text 19"/>
          <p:cNvSpPr/>
          <p:nvPr/>
        </p:nvSpPr>
        <p:spPr>
          <a:xfrm>
            <a:off x="6693408" y="4078224"/>
            <a:ext cx="2419960" cy="34747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$19,260</a:t>
            </a:r>
            <a:endParaRPr lang="en-US" sz="2200" dirty="0"/>
          </a:p>
        </p:txBody>
      </p:sp>
      <p:sp>
        <p:nvSpPr>
          <p:cNvPr id="22" name="Text 20"/>
          <p:cNvSpPr/>
          <p:nvPr/>
        </p:nvSpPr>
        <p:spPr>
          <a:xfrm>
            <a:off x="9113368" y="4078224"/>
            <a:ext cx="2419960" cy="347472"/>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July</a:t>
            </a:r>
            <a:endParaRPr lang="en-US" sz="1200" dirty="0"/>
          </a:p>
        </p:txBody>
      </p:sp>
      <p:sp>
        <p:nvSpPr>
          <p:cNvPr id="23" name="Text 21"/>
          <p:cNvSpPr/>
          <p:nvPr/>
        </p:nvSpPr>
        <p:spPr>
          <a:xfrm>
            <a:off x="457200" y="4069080"/>
            <a:ext cx="5669280" cy="219456"/>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THIS SLIDE IS NOT SAYING</a:t>
            </a:r>
            <a:endParaRPr lang="en-US" sz="1200" dirty="0"/>
          </a:p>
        </p:txBody>
      </p:sp>
      <p:sp>
        <p:nvSpPr>
          <p:cNvPr id="24" name="Shape 22"/>
          <p:cNvSpPr/>
          <p:nvPr/>
        </p:nvSpPr>
        <p:spPr>
          <a:xfrm>
            <a:off x="457200" y="4443984"/>
            <a:ext cx="64008" cy="64008"/>
          </a:xfrm>
          <a:prstGeom prst="rect">
            <a:avLst/>
          </a:prstGeom>
          <a:solidFill>
            <a:srgbClr val="B07CFF"/>
          </a:solidFill>
          <a:ln w="12700">
            <a:solidFill>
              <a:srgbClr val="B07CFF"/>
            </a:solidFill>
            <a:prstDash val="solid"/>
          </a:ln>
        </p:spPr>
      </p:sp>
      <p:sp>
        <p:nvSpPr>
          <p:cNvPr id="25" name="Text 23"/>
          <p:cNvSpPr/>
          <p:nvPr/>
        </p:nvSpPr>
        <p:spPr>
          <a:xfrm>
            <a:off x="630936" y="4361688"/>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Not that AI is too expensive — the return is real and the spend is growing for good reasons.</a:t>
            </a:r>
            <a:endParaRPr lang="en-US" sz="1250" dirty="0"/>
          </a:p>
        </p:txBody>
      </p:sp>
      <p:sp>
        <p:nvSpPr>
          <p:cNvPr id="26" name="Shape 24"/>
          <p:cNvSpPr/>
          <p:nvPr/>
        </p:nvSpPr>
        <p:spPr>
          <a:xfrm>
            <a:off x="457200" y="5010912"/>
            <a:ext cx="64008" cy="64008"/>
          </a:xfrm>
          <a:prstGeom prst="rect">
            <a:avLst/>
          </a:prstGeom>
          <a:solidFill>
            <a:srgbClr val="B07CFF"/>
          </a:solidFill>
          <a:ln w="12700">
            <a:solidFill>
              <a:srgbClr val="B07CFF"/>
            </a:solidFill>
            <a:prstDash val="solid"/>
          </a:ln>
        </p:spPr>
      </p:sp>
      <p:sp>
        <p:nvSpPr>
          <p:cNvPr id="27" name="Text 25"/>
          <p:cNvSpPr/>
          <p:nvPr/>
        </p:nvSpPr>
        <p:spPr>
          <a:xfrm>
            <a:off x="630936" y="4928616"/>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It is saying the unit price is unmanaged: no tier policy, no caching standard, no batch default.</a:t>
            </a:r>
            <a:endParaRPr lang="en-US" sz="1250" dirty="0"/>
          </a:p>
        </p:txBody>
      </p:sp>
      <p:sp>
        <p:nvSpPr>
          <p:cNvPr id="28" name="Shape 26"/>
          <p:cNvSpPr/>
          <p:nvPr/>
        </p:nvSpPr>
        <p:spPr>
          <a:xfrm>
            <a:off x="457200" y="5577840"/>
            <a:ext cx="64008" cy="64008"/>
          </a:xfrm>
          <a:prstGeom prst="rect">
            <a:avLst/>
          </a:prstGeom>
          <a:solidFill>
            <a:srgbClr val="B07CFF"/>
          </a:solidFill>
          <a:ln w="12700">
            <a:solidFill>
              <a:srgbClr val="B07CFF"/>
            </a:solidFill>
            <a:prstDash val="solid"/>
          </a:ln>
        </p:spPr>
      </p:sp>
      <p:sp>
        <p:nvSpPr>
          <p:cNvPr id="29" name="Text 27"/>
          <p:cNvSpPr/>
          <p:nvPr/>
        </p:nvSpPr>
        <p:spPr>
          <a:xfrm>
            <a:off x="630936" y="5495544"/>
            <a:ext cx="5495544"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Five levers below change what each unit costs, without changing what anyone is allowed to build.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THE PROGRAMME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625" b="1" dirty="0">
                <a:solidFill>
                  <a:srgbClr val="F4F7FB"/>
                </a:solidFill>
                <a:latin typeface="Calibri" pitchFamily="34" charset="0"/>
                <a:ea typeface="Calibri" pitchFamily="34" charset="-122"/>
                <a:cs typeface="Calibri" pitchFamily="34" charset="-120"/>
              </a:rPr>
              <a:t>Five levers, all available today</a:t>
            </a:r>
            <a:endParaRPr lang="en-US" sz="2625"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Nothing here needs new tooling. Every one is a setting or a habit on a platform we already run.</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Levers 1 and 3 are the largest and the fastest — a tier policy and a caching standard can be in force within a sprint.</a:t>
            </a:r>
            <a:endParaRPr lang="en-US" sz="1200" dirty="0"/>
          </a:p>
        </p:txBody>
      </p:sp>
      <p:sp>
        <p:nvSpPr>
          <p:cNvPr id="8" name="Shape 6"/>
          <p:cNvSpPr/>
          <p:nvPr/>
        </p:nvSpPr>
        <p:spPr>
          <a:xfrm>
            <a:off x="457200" y="1508760"/>
            <a:ext cx="2050633" cy="2743200"/>
          </a:xfrm>
          <a:prstGeom prst="roundRect">
            <a:avLst>
              <a:gd name="adj" fmla="val 2675"/>
            </a:avLst>
          </a:prstGeom>
          <a:solidFill>
            <a:srgbClr val="121B2D"/>
          </a:solidFill>
          <a:ln w="12700">
            <a:solidFill>
              <a:srgbClr val="23304A"/>
            </a:solidFill>
            <a:prstDash val="solid"/>
          </a:ln>
        </p:spPr>
      </p:sp>
      <p:sp>
        <p:nvSpPr>
          <p:cNvPr id="9" name="Text 7"/>
          <p:cNvSpPr/>
          <p:nvPr/>
        </p:nvSpPr>
        <p:spPr>
          <a:xfrm>
            <a:off x="658368" y="1655064"/>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01</a:t>
            </a:r>
            <a:endParaRPr lang="en-US" sz="2100" dirty="0"/>
          </a:p>
        </p:txBody>
      </p:sp>
      <p:sp>
        <p:nvSpPr>
          <p:cNvPr id="10" name="Text 8"/>
          <p:cNvSpPr/>
          <p:nvPr/>
        </p:nvSpPr>
        <p:spPr>
          <a:xfrm>
            <a:off x="658368" y="2039112"/>
            <a:ext cx="1648297"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Model tier</a:t>
            </a:r>
            <a:endParaRPr lang="en-US" sz="1400" dirty="0"/>
          </a:p>
        </p:txBody>
      </p:sp>
      <p:sp>
        <p:nvSpPr>
          <p:cNvPr id="11" name="Text 9"/>
          <p:cNvSpPr/>
          <p:nvPr/>
        </p:nvSpPr>
        <p:spPr>
          <a:xfrm>
            <a:off x="658368" y="2606040"/>
            <a:ext cx="1648297" cy="151790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Match the model to the task. The price gap between tiers is 5–15×.</a:t>
            </a:r>
            <a:endParaRPr lang="en-US" sz="1200" dirty="0"/>
          </a:p>
        </p:txBody>
      </p:sp>
      <p:sp>
        <p:nvSpPr>
          <p:cNvPr id="12" name="Shape 10"/>
          <p:cNvSpPr/>
          <p:nvPr/>
        </p:nvSpPr>
        <p:spPr>
          <a:xfrm>
            <a:off x="2763865" y="1508760"/>
            <a:ext cx="2050633" cy="2743200"/>
          </a:xfrm>
          <a:prstGeom prst="roundRect">
            <a:avLst>
              <a:gd name="adj" fmla="val 2675"/>
            </a:avLst>
          </a:prstGeom>
          <a:solidFill>
            <a:srgbClr val="121B2D"/>
          </a:solidFill>
          <a:ln w="12700">
            <a:solidFill>
              <a:srgbClr val="23304A"/>
            </a:solidFill>
            <a:prstDash val="solid"/>
          </a:ln>
        </p:spPr>
      </p:sp>
      <p:sp>
        <p:nvSpPr>
          <p:cNvPr id="13" name="Text 11"/>
          <p:cNvSpPr/>
          <p:nvPr/>
        </p:nvSpPr>
        <p:spPr>
          <a:xfrm>
            <a:off x="2965033" y="1655064"/>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02</a:t>
            </a:r>
            <a:endParaRPr lang="en-US" sz="2100" dirty="0"/>
          </a:p>
        </p:txBody>
      </p:sp>
      <p:sp>
        <p:nvSpPr>
          <p:cNvPr id="14" name="Text 12"/>
          <p:cNvSpPr/>
          <p:nvPr/>
        </p:nvSpPr>
        <p:spPr>
          <a:xfrm>
            <a:off x="2965033" y="2039112"/>
            <a:ext cx="1648297"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Region</a:t>
            </a:r>
            <a:endParaRPr lang="en-US" sz="1400" dirty="0"/>
          </a:p>
        </p:txBody>
      </p:sp>
      <p:sp>
        <p:nvSpPr>
          <p:cNvPr id="15" name="Text 13"/>
          <p:cNvSpPr/>
          <p:nvPr/>
        </p:nvSpPr>
        <p:spPr>
          <a:xfrm>
            <a:off x="2965033" y="2606040"/>
            <a:ext cx="1648297" cy="151790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Cheapest region that still meets the compliance requirement of the data.</a:t>
            </a:r>
            <a:endParaRPr lang="en-US" sz="1200" dirty="0"/>
          </a:p>
        </p:txBody>
      </p:sp>
      <p:sp>
        <p:nvSpPr>
          <p:cNvPr id="16" name="Shape 14"/>
          <p:cNvSpPr/>
          <p:nvPr/>
        </p:nvSpPr>
        <p:spPr>
          <a:xfrm>
            <a:off x="5070531" y="1508760"/>
            <a:ext cx="2050633" cy="2743200"/>
          </a:xfrm>
          <a:prstGeom prst="roundRect">
            <a:avLst>
              <a:gd name="adj" fmla="val 2675"/>
            </a:avLst>
          </a:prstGeom>
          <a:solidFill>
            <a:srgbClr val="121B2D"/>
          </a:solidFill>
          <a:ln w="12700">
            <a:solidFill>
              <a:srgbClr val="23304A"/>
            </a:solidFill>
            <a:prstDash val="solid"/>
          </a:ln>
        </p:spPr>
      </p:sp>
      <p:sp>
        <p:nvSpPr>
          <p:cNvPr id="17" name="Text 15"/>
          <p:cNvSpPr/>
          <p:nvPr/>
        </p:nvSpPr>
        <p:spPr>
          <a:xfrm>
            <a:off x="5271699" y="1655064"/>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03</a:t>
            </a:r>
            <a:endParaRPr lang="en-US" sz="2100" dirty="0"/>
          </a:p>
        </p:txBody>
      </p:sp>
      <p:sp>
        <p:nvSpPr>
          <p:cNvPr id="18" name="Text 16"/>
          <p:cNvSpPr/>
          <p:nvPr/>
        </p:nvSpPr>
        <p:spPr>
          <a:xfrm>
            <a:off x="5271699" y="2039112"/>
            <a:ext cx="1648297"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Prompt caching</a:t>
            </a:r>
            <a:endParaRPr lang="en-US" sz="1400" dirty="0"/>
          </a:p>
        </p:txBody>
      </p:sp>
      <p:sp>
        <p:nvSpPr>
          <p:cNvPr id="19" name="Text 17"/>
          <p:cNvSpPr/>
          <p:nvPr/>
        </p:nvSpPr>
        <p:spPr>
          <a:xfrm>
            <a:off x="5271699" y="2606040"/>
            <a:ext cx="1648297" cy="151790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Stop paying twice for the same context. Up to 90% off the repeated part.</a:t>
            </a:r>
            <a:endParaRPr lang="en-US" sz="1200" dirty="0"/>
          </a:p>
        </p:txBody>
      </p:sp>
      <p:sp>
        <p:nvSpPr>
          <p:cNvPr id="20" name="Shape 18"/>
          <p:cNvSpPr/>
          <p:nvPr/>
        </p:nvSpPr>
        <p:spPr>
          <a:xfrm>
            <a:off x="7377196" y="1508760"/>
            <a:ext cx="2050633" cy="2743200"/>
          </a:xfrm>
          <a:prstGeom prst="roundRect">
            <a:avLst>
              <a:gd name="adj" fmla="val 2675"/>
            </a:avLst>
          </a:prstGeom>
          <a:solidFill>
            <a:srgbClr val="121B2D"/>
          </a:solidFill>
          <a:ln w="12700">
            <a:solidFill>
              <a:srgbClr val="23304A"/>
            </a:solidFill>
            <a:prstDash val="solid"/>
          </a:ln>
        </p:spPr>
      </p:sp>
      <p:sp>
        <p:nvSpPr>
          <p:cNvPr id="21" name="Text 19"/>
          <p:cNvSpPr/>
          <p:nvPr/>
        </p:nvSpPr>
        <p:spPr>
          <a:xfrm>
            <a:off x="7578364" y="1655064"/>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04</a:t>
            </a:r>
            <a:endParaRPr lang="en-US" sz="2100" dirty="0"/>
          </a:p>
        </p:txBody>
      </p:sp>
      <p:sp>
        <p:nvSpPr>
          <p:cNvPr id="22" name="Text 20"/>
          <p:cNvSpPr/>
          <p:nvPr/>
        </p:nvSpPr>
        <p:spPr>
          <a:xfrm>
            <a:off x="7578364" y="2039112"/>
            <a:ext cx="1648297"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Batch &amp; commit</a:t>
            </a:r>
            <a:endParaRPr lang="en-US" sz="1400" dirty="0"/>
          </a:p>
        </p:txBody>
      </p:sp>
      <p:sp>
        <p:nvSpPr>
          <p:cNvPr id="23" name="Text 21"/>
          <p:cNvSpPr/>
          <p:nvPr/>
        </p:nvSpPr>
        <p:spPr>
          <a:xfrm>
            <a:off x="7578364" y="2606040"/>
            <a:ext cx="1648297" cy="151790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Batch is about 50% cheaper. Commit steady volume to reserved capacity.</a:t>
            </a:r>
            <a:endParaRPr lang="en-US" sz="1200" dirty="0"/>
          </a:p>
        </p:txBody>
      </p:sp>
      <p:sp>
        <p:nvSpPr>
          <p:cNvPr id="24" name="Shape 22"/>
          <p:cNvSpPr/>
          <p:nvPr/>
        </p:nvSpPr>
        <p:spPr>
          <a:xfrm>
            <a:off x="9683862" y="1508760"/>
            <a:ext cx="2050633" cy="2743200"/>
          </a:xfrm>
          <a:prstGeom prst="roundRect">
            <a:avLst>
              <a:gd name="adj" fmla="val 2675"/>
            </a:avLst>
          </a:prstGeom>
          <a:solidFill>
            <a:srgbClr val="121B2D"/>
          </a:solidFill>
          <a:ln w="12700">
            <a:solidFill>
              <a:srgbClr val="23304A"/>
            </a:solidFill>
            <a:prstDash val="solid"/>
          </a:ln>
        </p:spPr>
      </p:sp>
      <p:sp>
        <p:nvSpPr>
          <p:cNvPr id="25" name="Text 23"/>
          <p:cNvSpPr/>
          <p:nvPr/>
        </p:nvSpPr>
        <p:spPr>
          <a:xfrm>
            <a:off x="9885030" y="1655064"/>
            <a:ext cx="822960" cy="329184"/>
          </a:xfrm>
          <a:prstGeom prst="rect">
            <a:avLst/>
          </a:prstGeom>
          <a:noFill/>
          <a:ln/>
        </p:spPr>
        <p:txBody>
          <a:bodyPr wrap="square" lIns="0" tIns="0" rIns="0" bIns="0" rtlCol="0" anchor="ctr"/>
          <a:lstStyle/>
          <a:p>
            <a:pPr indent="0" marL="0">
              <a:buNone/>
            </a:pPr>
            <a:r>
              <a:rPr lang="en-US" sz="2100" b="1" dirty="0">
                <a:solidFill>
                  <a:srgbClr val="536078"/>
                </a:solidFill>
                <a:latin typeface="Calibri" pitchFamily="34" charset="0"/>
                <a:ea typeface="Calibri" pitchFamily="34" charset="-122"/>
                <a:cs typeface="Calibri" pitchFamily="34" charset="-120"/>
              </a:rPr>
              <a:t>05</a:t>
            </a:r>
            <a:endParaRPr lang="en-US" sz="2100" dirty="0"/>
          </a:p>
        </p:txBody>
      </p:sp>
      <p:sp>
        <p:nvSpPr>
          <p:cNvPr id="26" name="Text 24"/>
          <p:cNvSpPr/>
          <p:nvPr/>
        </p:nvSpPr>
        <p:spPr>
          <a:xfrm>
            <a:off x="9885030" y="2039112"/>
            <a:ext cx="1648297" cy="512064"/>
          </a:xfrm>
          <a:prstGeom prst="rect">
            <a:avLst/>
          </a:prstGeom>
          <a:noFill/>
          <a:ln/>
        </p:spPr>
        <p:txBody>
          <a:bodyPr wrap="square" lIns="0" tIns="0" rIns="0" bIns="0" rtlCol="0" anchor="t"/>
          <a:lstStyle/>
          <a:p>
            <a:pPr indent="0" marL="0">
              <a:buNone/>
            </a:pPr>
            <a:r>
              <a:rPr lang="en-US" sz="1400" b="1" dirty="0">
                <a:solidFill>
                  <a:srgbClr val="F4F7FB"/>
                </a:solidFill>
                <a:latin typeface="Calibri" pitchFamily="34" charset="0"/>
                <a:ea typeface="Calibri" pitchFamily="34" charset="-122"/>
                <a:cs typeface="Calibri" pitchFamily="34" charset="-120"/>
              </a:rPr>
              <a:t>Platform wins</a:t>
            </a:r>
            <a:endParaRPr lang="en-US" sz="1400" dirty="0"/>
          </a:p>
        </p:txBody>
      </p:sp>
      <p:sp>
        <p:nvSpPr>
          <p:cNvPr id="27" name="Text 25"/>
          <p:cNvSpPr/>
          <p:nvPr/>
        </p:nvSpPr>
        <p:spPr>
          <a:xfrm>
            <a:off x="9885030" y="2606040"/>
            <a:ext cx="1648297" cy="1517904"/>
          </a:xfrm>
          <a:prstGeom prst="rect">
            <a:avLst/>
          </a:prstGeom>
          <a:noFill/>
          <a:ln/>
        </p:spPr>
        <p:txBody>
          <a:bodyPr wrap="square" lIns="0" tIns="0" rIns="0" bIns="0" rtlCol="0" anchor="t"/>
          <a:lstStyle/>
          <a:p>
            <a:pPr indent="0" marL="0">
              <a:lnSpc>
                <a:spcPct val="115000"/>
              </a:lnSpc>
              <a:buNone/>
            </a:pPr>
            <a:r>
              <a:rPr lang="en-US" sz="1200" dirty="0">
                <a:solidFill>
                  <a:srgbClr val="91A0B7"/>
                </a:solidFill>
                <a:latin typeface="Calibri" pitchFamily="34" charset="0"/>
                <a:ea typeface="Calibri" pitchFamily="34" charset="-122"/>
                <a:cs typeface="Calibri" pitchFamily="34" charset="-120"/>
              </a:rPr>
              <a:t>One high-impact move each on Bedrock, Copilot and Foundry.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LEVER 1 · THE BIGGEST DRIVER</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Match the model to the task</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The single largest determinant of AI unit cost. Escalate on measured need, never by default.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The rule: start on the balanced tier, escalate only when quality measurably fails a real test — never 'just in case'. Today 82% of our AWS AI spend is Opus-class, which is the clearest single opportunity in this deck.</a:t>
            </a:r>
            <a:endParaRPr lang="en-US" sz="1200" dirty="0"/>
          </a:p>
        </p:txBody>
      </p:sp>
      <p:sp>
        <p:nvSpPr>
          <p:cNvPr id="8" name="Text 6"/>
          <p:cNvSpPr/>
          <p:nvPr/>
        </p:nvSpPr>
        <p:spPr>
          <a:xfrm>
            <a:off x="457200" y="1234440"/>
            <a:ext cx="795528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The three tiers</a:t>
            </a:r>
            <a:endParaRPr lang="en-US" sz="1500" dirty="0"/>
          </a:p>
        </p:txBody>
      </p:sp>
      <p:sp>
        <p:nvSpPr>
          <p:cNvPr id="9" name="Text 7"/>
          <p:cNvSpPr/>
          <p:nvPr/>
        </p:nvSpPr>
        <p:spPr>
          <a:xfrm>
            <a:off x="457200" y="1508760"/>
            <a:ext cx="7955280" cy="219456"/>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Start at balanced. Move up only when quality measurably fails a real test.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7955280" cy="914400"/>
        </p:xfrm>
        <a:graphic>
          <a:graphicData uri="http://schemas.openxmlformats.org/drawingml/2006/table">
            <a:tbl>
              <a:tblPr/>
              <a:tblGrid>
                <a:gridCol w="2011680"/>
                <a:gridCol w="3200400"/>
                <a:gridCol w="274320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What it is for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Models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Light / fast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High volume, simple: classification, extraction, routing, tagging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Claude Haiku · GPT-4o-mini · small Foundry and open models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3DD9EB"/>
                          </a:solidFill>
                          <a:latin typeface="Calibri" pitchFamily="34" charset="0"/>
                          <a:ea typeface="Calibri" pitchFamily="34" charset="-122"/>
                          <a:cs typeface="Calibri" pitchFamily="34" charset="-120"/>
                        </a:rPr>
                        <a:t>Balanced — default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Most production work: chat, drafting, document processing, standard coding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Claude Sonnet · GPT-4o · GitHub Copilot base 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Top — deliberate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Hard reasoning only: complex underwriting logic, difficult code, deep analysis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Claude Opus · OpenAI o-series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
        <p:nvSpPr>
          <p:cNvPr id="11" name="Shape 8"/>
          <p:cNvSpPr/>
          <p:nvPr/>
        </p:nvSpPr>
        <p:spPr>
          <a:xfrm>
            <a:off x="8778240" y="1234440"/>
            <a:ext cx="2956255" cy="1097280"/>
          </a:xfrm>
          <a:prstGeom prst="roundRect">
            <a:avLst>
              <a:gd name="adj" fmla="val 5000"/>
            </a:avLst>
          </a:prstGeom>
          <a:solidFill>
            <a:srgbClr val="121B2D"/>
          </a:solidFill>
          <a:ln w="12700">
            <a:solidFill>
              <a:srgbClr val="23304A"/>
            </a:solidFill>
            <a:prstDash val="solid"/>
          </a:ln>
        </p:spPr>
      </p:sp>
      <p:sp>
        <p:nvSpPr>
          <p:cNvPr id="12" name="Text 9"/>
          <p:cNvSpPr/>
          <p:nvPr/>
        </p:nvSpPr>
        <p:spPr>
          <a:xfrm>
            <a:off x="8979408" y="1325880"/>
            <a:ext cx="25539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GAP BETWEEN TIERS</a:t>
            </a:r>
            <a:endParaRPr lang="en-US" sz="1200" dirty="0"/>
          </a:p>
        </p:txBody>
      </p:sp>
      <p:sp>
        <p:nvSpPr>
          <p:cNvPr id="13" name="Text 10"/>
          <p:cNvSpPr/>
          <p:nvPr/>
        </p:nvSpPr>
        <p:spPr>
          <a:xfrm>
            <a:off x="8979408" y="1527048"/>
            <a:ext cx="25539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5–15×</a:t>
            </a:r>
            <a:endParaRPr lang="en-US" sz="2800" dirty="0"/>
          </a:p>
        </p:txBody>
      </p:sp>
      <p:sp>
        <p:nvSpPr>
          <p:cNvPr id="14" name="Text 11"/>
          <p:cNvSpPr/>
          <p:nvPr/>
        </p:nvSpPr>
        <p:spPr>
          <a:xfrm>
            <a:off x="8979408" y="1929384"/>
            <a:ext cx="255391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same task, different tier</a:t>
            </a:r>
            <a:endParaRPr lang="en-US" sz="1200" dirty="0"/>
          </a:p>
        </p:txBody>
      </p:sp>
      <p:sp>
        <p:nvSpPr>
          <p:cNvPr id="15" name="Shape 12"/>
          <p:cNvSpPr/>
          <p:nvPr/>
        </p:nvSpPr>
        <p:spPr>
          <a:xfrm>
            <a:off x="8778240" y="2459736"/>
            <a:ext cx="2956255" cy="1097280"/>
          </a:xfrm>
          <a:prstGeom prst="roundRect">
            <a:avLst>
              <a:gd name="adj" fmla="val 5000"/>
            </a:avLst>
          </a:prstGeom>
          <a:solidFill>
            <a:srgbClr val="121B2D"/>
          </a:solidFill>
          <a:ln w="12700">
            <a:solidFill>
              <a:srgbClr val="23304A"/>
            </a:solidFill>
            <a:prstDash val="solid"/>
          </a:ln>
        </p:spPr>
      </p:sp>
      <p:sp>
        <p:nvSpPr>
          <p:cNvPr id="16" name="Text 13"/>
          <p:cNvSpPr/>
          <p:nvPr/>
        </p:nvSpPr>
        <p:spPr>
          <a:xfrm>
            <a:off x="8979408" y="2551176"/>
            <a:ext cx="25539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OUR BEDROCK SPEND</a:t>
            </a:r>
            <a:endParaRPr lang="en-US" sz="1200" dirty="0"/>
          </a:p>
        </p:txBody>
      </p:sp>
      <p:sp>
        <p:nvSpPr>
          <p:cNvPr id="17" name="Text 14"/>
          <p:cNvSpPr/>
          <p:nvPr/>
        </p:nvSpPr>
        <p:spPr>
          <a:xfrm>
            <a:off x="8979408" y="2752344"/>
            <a:ext cx="25539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82%</a:t>
            </a:r>
            <a:endParaRPr lang="en-US" sz="2800" dirty="0"/>
          </a:p>
        </p:txBody>
      </p:sp>
      <p:sp>
        <p:nvSpPr>
          <p:cNvPr id="18" name="Text 15"/>
          <p:cNvSpPr/>
          <p:nvPr/>
        </p:nvSpPr>
        <p:spPr>
          <a:xfrm>
            <a:off x="8979408" y="3154680"/>
            <a:ext cx="2553919" cy="356616"/>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is Opus-class today</a:t>
            </a:r>
            <a:endParaRPr lang="en-US" sz="1200" dirty="0"/>
          </a:p>
        </p:txBody>
      </p:sp>
      <p:sp>
        <p:nvSpPr>
          <p:cNvPr id="19" name="Shape 16"/>
          <p:cNvSpPr/>
          <p:nvPr/>
        </p:nvSpPr>
        <p:spPr>
          <a:xfrm>
            <a:off x="8778240" y="3685032"/>
            <a:ext cx="2956255" cy="1097280"/>
          </a:xfrm>
          <a:prstGeom prst="roundRect">
            <a:avLst>
              <a:gd name="adj" fmla="val 5000"/>
            </a:avLst>
          </a:prstGeom>
          <a:solidFill>
            <a:srgbClr val="121B2D"/>
          </a:solidFill>
          <a:ln w="12700">
            <a:solidFill>
              <a:srgbClr val="23304A"/>
            </a:solidFill>
            <a:prstDash val="solid"/>
          </a:ln>
        </p:spPr>
      </p:sp>
      <p:sp>
        <p:nvSpPr>
          <p:cNvPr id="20" name="Text 17"/>
          <p:cNvSpPr/>
          <p:nvPr/>
        </p:nvSpPr>
        <p:spPr>
          <a:xfrm>
            <a:off x="8979408" y="3776472"/>
            <a:ext cx="25539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OPUS → SONNET</a:t>
            </a:r>
            <a:endParaRPr lang="en-US" sz="1200" dirty="0"/>
          </a:p>
        </p:txBody>
      </p:sp>
      <p:sp>
        <p:nvSpPr>
          <p:cNvPr id="21" name="Text 18"/>
          <p:cNvSpPr/>
          <p:nvPr/>
        </p:nvSpPr>
        <p:spPr>
          <a:xfrm>
            <a:off x="8979408" y="3977640"/>
            <a:ext cx="25539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~60%</a:t>
            </a:r>
            <a:endParaRPr lang="en-US" sz="2800" dirty="0"/>
          </a:p>
        </p:txBody>
      </p:sp>
      <p:sp>
        <p:nvSpPr>
          <p:cNvPr id="22" name="Text 19"/>
          <p:cNvSpPr/>
          <p:nvPr/>
        </p:nvSpPr>
        <p:spPr>
          <a:xfrm>
            <a:off x="8979408" y="4379976"/>
            <a:ext cx="25539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lower token cost, routine work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2F8CFF"/>
                </a:solidFill>
                <a:latin typeface="Calibri" pitchFamily="34" charset="0"/>
                <a:ea typeface="Calibri" pitchFamily="34" charset="-122"/>
                <a:cs typeface="Calibri" pitchFamily="34" charset="-120"/>
              </a:rPr>
              <a:t>LEVER 2 · REGION</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400" b="1" dirty="0">
                <a:solidFill>
                  <a:srgbClr val="F4F7FB"/>
                </a:solidFill>
                <a:latin typeface="Calibri" pitchFamily="34" charset="0"/>
                <a:ea typeface="Calibri" pitchFamily="34" charset="-122"/>
                <a:cs typeface="Calibri" pitchFamily="34" charset="-120"/>
              </a:rPr>
              <a:t>Cheapest region that still complies</a:t>
            </a:r>
            <a:endParaRPr lang="en-US" sz="24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For an insurer this is a compliance decision first and a cost decision second.</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Harel rule: regulated data never leaves an approved region — even for a discount. Everything else takes the cheapest compliant route. This is the one lever where the answer is not always 'the cheaper option'.</a:t>
            </a:r>
            <a:endParaRPr lang="en-US" sz="1200" dirty="0"/>
          </a:p>
        </p:txBody>
      </p:sp>
      <p:sp>
        <p:nvSpPr>
          <p:cNvPr id="8" name="Text 6"/>
          <p:cNvSpPr/>
          <p:nvPr/>
        </p:nvSpPr>
        <p:spPr>
          <a:xfrm>
            <a:off x="457200" y="1234440"/>
            <a:ext cx="859536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Two ways to route a request</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595360" cy="914400"/>
        </p:xfrm>
        <a:graphic>
          <a:graphicData uri="http://schemas.openxmlformats.org/drawingml/2006/table">
            <a:tbl>
              <a:tblPr/>
              <a:tblGrid>
                <a:gridCol w="2377440"/>
                <a:gridCol w="3108960"/>
                <a:gridCol w="310896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Routing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Use it for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Global / cross-region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Bedrock cross-region profile · Azure Global Standard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Non-sensitive, high-volume work only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2F8CFF"/>
                          </a:solidFill>
                          <a:latin typeface="Calibri" pitchFamily="34" charset="0"/>
                          <a:ea typeface="Calibri" pitchFamily="34" charset="-122"/>
                          <a:cs typeface="Calibri" pitchFamily="34" charset="-120"/>
                        </a:rPr>
                        <a:t>Specific / in-region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Bedrock regional endpoint · Azure Data Zone or Regional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Default for policyholder, PII and regulated data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0" name="Shape 7"/>
          <p:cNvSpPr/>
          <p:nvPr/>
        </p:nvSpPr>
        <p:spPr>
          <a:xfrm>
            <a:off x="9418320" y="1234440"/>
            <a:ext cx="231617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9619488" y="1325880"/>
            <a:ext cx="191383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GLOBAL ROUTING</a:t>
            </a:r>
            <a:endParaRPr lang="en-US" sz="1200" dirty="0"/>
          </a:p>
        </p:txBody>
      </p:sp>
      <p:sp>
        <p:nvSpPr>
          <p:cNvPr id="12" name="Text 9"/>
          <p:cNvSpPr/>
          <p:nvPr/>
        </p:nvSpPr>
        <p:spPr>
          <a:xfrm>
            <a:off x="9619488" y="1527048"/>
            <a:ext cx="19138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Cheapest</a:t>
            </a:r>
            <a:endParaRPr lang="en-US" sz="2800" dirty="0"/>
          </a:p>
        </p:txBody>
      </p:sp>
      <p:sp>
        <p:nvSpPr>
          <p:cNvPr id="13" name="Text 10"/>
          <p:cNvSpPr/>
          <p:nvPr/>
        </p:nvSpPr>
        <p:spPr>
          <a:xfrm>
            <a:off x="9619488" y="1929384"/>
            <a:ext cx="191383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per token, best throughput</a:t>
            </a:r>
            <a:endParaRPr lang="en-US" sz="1200" dirty="0"/>
          </a:p>
        </p:txBody>
      </p:sp>
      <p:sp>
        <p:nvSpPr>
          <p:cNvPr id="14" name="Shape 11"/>
          <p:cNvSpPr/>
          <p:nvPr/>
        </p:nvSpPr>
        <p:spPr>
          <a:xfrm>
            <a:off x="9418320" y="2459736"/>
            <a:ext cx="231617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9619488" y="2551176"/>
            <a:ext cx="1913839" cy="237744"/>
          </a:xfrm>
          <a:prstGeom prst="rect">
            <a:avLst/>
          </a:prstGeom>
          <a:noFill/>
          <a:ln/>
        </p:spPr>
        <p:txBody>
          <a:bodyPr wrap="square" lIns="0" tIns="0" rIns="0" bIns="0" rtlCol="0" anchor="ctr"/>
          <a:lstStyle/>
          <a:p>
            <a:pPr indent="0" marL="0">
              <a:buNone/>
            </a:pPr>
            <a:r>
              <a:rPr lang="en-US" sz="1023" b="1" spc="120" kern="0" dirty="0">
                <a:solidFill>
                  <a:srgbClr val="91A0B7"/>
                </a:solidFill>
                <a:latin typeface="Calibri" pitchFamily="34" charset="0"/>
                <a:ea typeface="Calibri" pitchFamily="34" charset="-122"/>
                <a:cs typeface="Calibri" pitchFamily="34" charset="-120"/>
              </a:rPr>
              <a:t>BUT IT MAY PROCESS</a:t>
            </a:r>
            <a:endParaRPr lang="en-US" sz="1023" dirty="0"/>
          </a:p>
        </p:txBody>
      </p:sp>
      <p:sp>
        <p:nvSpPr>
          <p:cNvPr id="16" name="Text 13"/>
          <p:cNvSpPr/>
          <p:nvPr/>
        </p:nvSpPr>
        <p:spPr>
          <a:xfrm>
            <a:off x="9619488" y="2752344"/>
            <a:ext cx="19138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Outside</a:t>
            </a:r>
            <a:endParaRPr lang="en-US" sz="2800" dirty="0"/>
          </a:p>
        </p:txBody>
      </p:sp>
      <p:sp>
        <p:nvSpPr>
          <p:cNvPr id="17" name="Text 14"/>
          <p:cNvSpPr/>
          <p:nvPr/>
        </p:nvSpPr>
        <p:spPr>
          <a:xfrm>
            <a:off x="9619488" y="3154680"/>
            <a:ext cx="1913839" cy="356616"/>
          </a:xfrm>
          <a:prstGeom prst="rect">
            <a:avLst/>
          </a:prstGeom>
          <a:noFill/>
          <a:ln/>
        </p:spPr>
        <p:txBody>
          <a:bodyPr wrap="square" lIns="0" tIns="0" rIns="0" bIns="0" rtlCol="0" anchor="t"/>
          <a:lstStyle/>
          <a:p>
            <a:pPr indent="0" marL="0">
              <a:lnSpc>
                <a:spcPct val="105000"/>
              </a:lnSpc>
              <a:buNone/>
            </a:pPr>
            <a:r>
              <a:rPr lang="en-US" sz="1200" b="1" dirty="0">
                <a:solidFill>
                  <a:srgbClr val="FF6B7A"/>
                </a:solidFill>
                <a:latin typeface="Calibri" pitchFamily="34" charset="0"/>
                <a:ea typeface="Calibri" pitchFamily="34" charset="-122"/>
                <a:cs typeface="Calibri" pitchFamily="34" charset="-120"/>
              </a:rPr>
              <a:t>the chosen region</a:t>
            </a:r>
            <a:endParaRPr lang="en-US" sz="1200" dirty="0"/>
          </a:p>
        </p:txBody>
      </p:sp>
      <p:sp>
        <p:nvSpPr>
          <p:cNvPr id="18" name="Shape 15"/>
          <p:cNvSpPr/>
          <p:nvPr/>
        </p:nvSpPr>
        <p:spPr>
          <a:xfrm>
            <a:off x="9418320" y="3685032"/>
            <a:ext cx="231617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9619488" y="3776472"/>
            <a:ext cx="1913839" cy="237744"/>
          </a:xfrm>
          <a:prstGeom prst="rect">
            <a:avLst/>
          </a:prstGeom>
          <a:noFill/>
          <a:ln/>
        </p:spPr>
        <p:txBody>
          <a:bodyPr wrap="square" lIns="0" tIns="0" rIns="0" bIns="0" rtlCol="0" anchor="ctr"/>
          <a:lstStyle/>
          <a:p>
            <a:pPr indent="0" marL="0">
              <a:buNone/>
            </a:pPr>
            <a:r>
              <a:rPr lang="en-US" sz="1083" b="1" spc="120" kern="0" dirty="0">
                <a:solidFill>
                  <a:srgbClr val="91A0B7"/>
                </a:solidFill>
                <a:latin typeface="Calibri" pitchFamily="34" charset="0"/>
                <a:ea typeface="Calibri" pitchFamily="34" charset="-122"/>
                <a:cs typeface="Calibri" pitchFamily="34" charset="-120"/>
              </a:rPr>
              <a:t>IN-REGION PREMIUM</a:t>
            </a:r>
            <a:endParaRPr lang="en-US" sz="1083" dirty="0"/>
          </a:p>
        </p:txBody>
      </p:sp>
      <p:sp>
        <p:nvSpPr>
          <p:cNvPr id="20" name="Text 17"/>
          <p:cNvSpPr/>
          <p:nvPr/>
        </p:nvSpPr>
        <p:spPr>
          <a:xfrm>
            <a:off x="9619488" y="3977640"/>
            <a:ext cx="19138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Small</a:t>
            </a:r>
            <a:endParaRPr lang="en-US" sz="2800" dirty="0"/>
          </a:p>
        </p:txBody>
      </p:sp>
      <p:sp>
        <p:nvSpPr>
          <p:cNvPr id="21" name="Text 18"/>
          <p:cNvSpPr/>
          <p:nvPr/>
        </p:nvSpPr>
        <p:spPr>
          <a:xfrm>
            <a:off x="9619488" y="4379976"/>
            <a:ext cx="1913839" cy="356616"/>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for compliance certainty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C97"/>
                </a:solidFill>
                <a:latin typeface="Calibri" pitchFamily="34" charset="0"/>
                <a:ea typeface="Calibri" pitchFamily="34" charset="-122"/>
                <a:cs typeface="Calibri" pitchFamily="34" charset="-120"/>
              </a:rPr>
              <a:t>LEVER 3 · PROMPT CACHING</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211" b="1" dirty="0">
                <a:solidFill>
                  <a:srgbClr val="F4F7FB"/>
                </a:solidFill>
                <a:latin typeface="Calibri" pitchFamily="34" charset="0"/>
                <a:ea typeface="Calibri" pitchFamily="34" charset="-122"/>
                <a:cs typeface="Calibri" pitchFamily="34" charset="-120"/>
              </a:rPr>
              <a:t>Stop paying twice for the same context</a:t>
            </a:r>
            <a:endParaRPr lang="en-US" sz="2211"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Supported natively by both Bedrock and Azure AI Foundry.</a:t>
            </a:r>
            <a:endParaRPr lang="en-US" sz="1200" dirty="0"/>
          </a:p>
        </p:txBody>
      </p:sp>
      <p:sp>
        <p:nvSpPr>
          <p:cNvPr id="7" name="Shape 5"/>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sp>
      <p:sp>
        <p:nvSpPr>
          <p:cNvPr id="8" name="Text 6"/>
          <p:cNvSpPr/>
          <p:nvPr/>
        </p:nvSpPr>
        <p:spPr>
          <a:xfrm>
            <a:off x="658368"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WHAT TO CACHE</a:t>
            </a:r>
            <a:endParaRPr lang="en-US" sz="1200" dirty="0"/>
          </a:p>
        </p:txBody>
      </p:sp>
      <p:sp>
        <p:nvSpPr>
          <p:cNvPr id="9" name="Text 7"/>
          <p:cNvSpPr/>
          <p:nvPr/>
        </p:nvSpPr>
        <p:spPr>
          <a:xfrm>
            <a:off x="658368"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Stable context</a:t>
            </a:r>
            <a:endParaRPr lang="en-US" sz="2800" dirty="0"/>
          </a:p>
        </p:txBody>
      </p:sp>
      <p:sp>
        <p:nvSpPr>
          <p:cNvPr id="10" name="Text 8"/>
          <p:cNvSpPr/>
          <p:nvPr/>
        </p:nvSpPr>
        <p:spPr>
          <a:xfrm>
            <a:off x="658368"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system prompts, policies, forms, code</a:t>
            </a:r>
            <a:endParaRPr lang="en-US" sz="1200" dirty="0"/>
          </a:p>
        </p:txBody>
      </p:sp>
      <p:sp>
        <p:nvSpPr>
          <p:cNvPr id="11" name="Shape 9"/>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sp>
      <p:sp>
        <p:nvSpPr>
          <p:cNvPr id="12" name="Text 10"/>
          <p:cNvSpPr/>
          <p:nvPr/>
        </p:nvSpPr>
        <p:spPr>
          <a:xfrm>
            <a:off x="4493666"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BEST FIT</a:t>
            </a:r>
            <a:endParaRPr lang="en-US" sz="1200" dirty="0"/>
          </a:p>
        </p:txBody>
      </p:sp>
      <p:sp>
        <p:nvSpPr>
          <p:cNvPr id="13" name="Text 11"/>
          <p:cNvSpPr/>
          <p:nvPr/>
        </p:nvSpPr>
        <p:spPr>
          <a:xfrm>
            <a:off x="4493666"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Assistants</a:t>
            </a:r>
            <a:endParaRPr lang="en-US" sz="2800" dirty="0"/>
          </a:p>
        </p:txBody>
      </p:sp>
      <p:sp>
        <p:nvSpPr>
          <p:cNvPr id="14" name="Text 12"/>
          <p:cNvSpPr/>
          <p:nvPr/>
        </p:nvSpPr>
        <p:spPr>
          <a:xfrm>
            <a:off x="4493666"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document Q&amp;A, agentic workflows</a:t>
            </a:r>
            <a:endParaRPr lang="en-US" sz="1200" dirty="0"/>
          </a:p>
        </p:txBody>
      </p:sp>
      <p:sp>
        <p:nvSpPr>
          <p:cNvPr id="15" name="Shape 13"/>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sp>
      <p:sp>
        <p:nvSpPr>
          <p:cNvPr id="16" name="Text 14"/>
          <p:cNvSpPr/>
          <p:nvPr/>
        </p:nvSpPr>
        <p:spPr>
          <a:xfrm>
            <a:off x="8328965"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EFFORT</a:t>
            </a:r>
            <a:endParaRPr lang="en-US" sz="1200" dirty="0"/>
          </a:p>
        </p:txBody>
      </p:sp>
      <p:sp>
        <p:nvSpPr>
          <p:cNvPr id="17" name="Text 15"/>
          <p:cNvSpPr/>
          <p:nvPr/>
        </p:nvSpPr>
        <p:spPr>
          <a:xfrm>
            <a:off x="8328965"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Configuration</a:t>
            </a:r>
            <a:endParaRPr lang="en-US" sz="2800" dirty="0"/>
          </a:p>
        </p:txBody>
      </p:sp>
      <p:sp>
        <p:nvSpPr>
          <p:cNvPr id="18" name="Text 16"/>
          <p:cNvSpPr/>
          <p:nvPr/>
        </p:nvSpPr>
        <p:spPr>
          <a:xfrm>
            <a:off x="8328965" y="1929384"/>
            <a:ext cx="3204362" cy="338328"/>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no new platform, no new licence</a:t>
            </a:r>
            <a:endParaRPr lang="en-US" sz="1200" dirty="0"/>
          </a:p>
        </p:txBody>
      </p:sp>
      <p:sp>
        <p:nvSpPr>
          <p:cNvPr id="19" name="Shape 17"/>
          <p:cNvSpPr/>
          <p:nvPr/>
        </p:nvSpPr>
        <p:spPr>
          <a:xfrm>
            <a:off x="457200" y="2468880"/>
            <a:ext cx="11277295" cy="1691640"/>
          </a:xfrm>
          <a:prstGeom prst="roundRect">
            <a:avLst>
              <a:gd name="adj" fmla="val 3243"/>
            </a:avLst>
          </a:prstGeom>
          <a:solidFill>
            <a:srgbClr val="121B2D"/>
          </a:solidFill>
          <a:ln w="12700">
            <a:solidFill>
              <a:srgbClr val="3DDC97"/>
            </a:solidFill>
            <a:prstDash val="solid"/>
          </a:ln>
        </p:spPr>
      </p:sp>
      <p:sp>
        <p:nvSpPr>
          <p:cNvPr id="20" name="Text 18"/>
          <p:cNvSpPr/>
          <p:nvPr/>
        </p:nvSpPr>
        <p:spPr>
          <a:xfrm>
            <a:off x="777240" y="2651760"/>
            <a:ext cx="3108960" cy="1325880"/>
          </a:xfrm>
          <a:prstGeom prst="rect">
            <a:avLst/>
          </a:prstGeom>
          <a:noFill/>
          <a:ln/>
        </p:spPr>
        <p:txBody>
          <a:bodyPr wrap="square" lIns="0" tIns="0" rIns="0" bIns="0" rtlCol="0" anchor="ctr"/>
          <a:lstStyle/>
          <a:p>
            <a:pPr indent="0" marL="0">
              <a:buNone/>
            </a:pPr>
            <a:r>
              <a:rPr lang="en-US" sz="6600" b="1" dirty="0">
                <a:solidFill>
                  <a:srgbClr val="3DDC97"/>
                </a:solidFill>
                <a:latin typeface="Calibri" pitchFamily="34" charset="0"/>
                <a:ea typeface="Calibri" pitchFamily="34" charset="-122"/>
                <a:cs typeface="Calibri" pitchFamily="34" charset="-120"/>
              </a:rPr>
              <a:t>~90%</a:t>
            </a:r>
            <a:endParaRPr lang="en-US" sz="6600" dirty="0"/>
          </a:p>
        </p:txBody>
      </p:sp>
      <p:sp>
        <p:nvSpPr>
          <p:cNvPr id="21" name="Text 19"/>
          <p:cNvSpPr/>
          <p:nvPr/>
        </p:nvSpPr>
        <p:spPr>
          <a:xfrm>
            <a:off x="4023360" y="2724912"/>
            <a:ext cx="7345375" cy="1188720"/>
          </a:xfrm>
          <a:prstGeom prst="rect">
            <a:avLst/>
          </a:prstGeom>
          <a:noFill/>
          <a:ln/>
        </p:spPr>
        <p:txBody>
          <a:bodyPr wrap="square" lIns="0" tIns="0" rIns="0" bIns="0" rtlCol="0" anchor="ctr"/>
          <a:lstStyle/>
          <a:p>
            <a:pPr indent="0" marL="0">
              <a:lnSpc>
                <a:spcPct val="125000"/>
              </a:lnSpc>
              <a:buNone/>
            </a:pPr>
            <a:r>
              <a:rPr lang="en-US" sz="1550" dirty="0">
                <a:solidFill>
                  <a:srgbClr val="F4F7FB"/>
                </a:solidFill>
                <a:latin typeface="Calibri" pitchFamily="34" charset="0"/>
                <a:ea typeface="Calibri" pitchFamily="34" charset="-122"/>
                <a:cs typeface="Calibri" pitchFamily="34" charset="-120"/>
              </a:rPr>
              <a:t>lower cost on the cached, repeated portion of the input. Large stable context — system prompts, policy documents, knowledge bases — is re-sent and re-charged on every single call unless it is cached.</a:t>
            </a:r>
            <a:endParaRPr lang="en-US" sz="1550" dirty="0"/>
          </a:p>
        </p:txBody>
      </p:sp>
      <p:sp>
        <p:nvSpPr>
          <p:cNvPr id="22" name="Shape 20"/>
          <p:cNvSpPr/>
          <p:nvPr/>
        </p:nvSpPr>
        <p:spPr>
          <a:xfrm>
            <a:off x="457200" y="4517136"/>
            <a:ext cx="64008" cy="64008"/>
          </a:xfrm>
          <a:prstGeom prst="rect">
            <a:avLst/>
          </a:prstGeom>
          <a:solidFill>
            <a:srgbClr val="3DDC97"/>
          </a:solidFill>
          <a:ln w="12700">
            <a:solidFill>
              <a:srgbClr val="3DDC97"/>
            </a:solidFill>
            <a:prstDash val="solid"/>
          </a:ln>
        </p:spPr>
      </p:sp>
      <p:sp>
        <p:nvSpPr>
          <p:cNvPr id="23" name="Text 21"/>
          <p:cNvSpPr/>
          <p:nvPr/>
        </p:nvSpPr>
        <p:spPr>
          <a:xfrm>
            <a:off x="630936" y="4434840"/>
            <a:ext cx="11103559" cy="36576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Cache system and instruction prompts, policy documents, forms, knowledge bases, long code references, and few-shot examples reused on every request.</a:t>
            </a:r>
            <a:endParaRPr lang="en-US" sz="1250" dirty="0"/>
          </a:p>
        </p:txBody>
      </p:sp>
      <p:sp>
        <p:nvSpPr>
          <p:cNvPr id="24" name="Shape 22"/>
          <p:cNvSpPr/>
          <p:nvPr/>
        </p:nvSpPr>
        <p:spPr>
          <a:xfrm>
            <a:off x="457200" y="5084064"/>
            <a:ext cx="64008" cy="64008"/>
          </a:xfrm>
          <a:prstGeom prst="rect">
            <a:avLst/>
          </a:prstGeom>
          <a:solidFill>
            <a:srgbClr val="3DDC97"/>
          </a:solidFill>
          <a:ln w="12700">
            <a:solidFill>
              <a:srgbClr val="3DDC97"/>
            </a:solidFill>
            <a:prstDash val="solid"/>
          </a:ln>
        </p:spPr>
      </p:sp>
      <p:sp>
        <p:nvSpPr>
          <p:cNvPr id="25" name="Text 23"/>
          <p:cNvSpPr/>
          <p:nvPr/>
        </p:nvSpPr>
        <p:spPr>
          <a:xfrm>
            <a:off x="630936" y="5001768"/>
            <a:ext cx="11103559" cy="18288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The saving lands hardest exactly where our spend is growing fastest — internal assistants and document processing.</a:t>
            </a:r>
            <a:endParaRPr lang="en-US" sz="1250" dirty="0"/>
          </a:p>
        </p:txBody>
      </p:sp>
      <p:sp>
        <p:nvSpPr>
          <p:cNvPr id="26" name="Shape 24"/>
          <p:cNvSpPr/>
          <p:nvPr/>
        </p:nvSpPr>
        <p:spPr>
          <a:xfrm>
            <a:off x="457200" y="5431536"/>
            <a:ext cx="64008" cy="64008"/>
          </a:xfrm>
          <a:prstGeom prst="rect">
            <a:avLst/>
          </a:prstGeom>
          <a:solidFill>
            <a:srgbClr val="3DDC97"/>
          </a:solidFill>
          <a:ln w="12700">
            <a:solidFill>
              <a:srgbClr val="3DDC97"/>
            </a:solidFill>
            <a:prstDash val="solid"/>
          </a:ln>
        </p:spPr>
      </p:sp>
      <p:sp>
        <p:nvSpPr>
          <p:cNvPr id="27" name="Text 25"/>
          <p:cNvSpPr/>
          <p:nvPr/>
        </p:nvSpPr>
        <p:spPr>
          <a:xfrm>
            <a:off x="630936" y="5349240"/>
            <a:ext cx="11103559" cy="182880"/>
          </a:xfrm>
          <a:prstGeom prst="rect">
            <a:avLst/>
          </a:prstGeom>
          <a:noFill/>
          <a:ln/>
        </p:spPr>
        <p:txBody>
          <a:bodyPr wrap="square" lIns="0" tIns="0" rIns="0" bIns="0" rtlCol="0" anchor="t"/>
          <a:lstStyle/>
          <a:p>
            <a:pPr indent="0" marL="0">
              <a:lnSpc>
                <a:spcPct val="110000"/>
              </a:lnSpc>
              <a:buNone/>
            </a:pPr>
            <a:r>
              <a:rPr lang="en-US" sz="1250" dirty="0">
                <a:solidFill>
                  <a:srgbClr val="F4F7FB"/>
                </a:solidFill>
                <a:latin typeface="Calibri" pitchFamily="34" charset="0"/>
                <a:ea typeface="Calibri" pitchFamily="34" charset="-122"/>
                <a:cs typeface="Calibri" pitchFamily="34" charset="-120"/>
              </a:rPr>
              <a:t>Fastest lever to implement: it is a change to how a request is composed, not to what the workload does.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E0A030"/>
                </a:solidFill>
                <a:latin typeface="Calibri" pitchFamily="34" charset="0"/>
                <a:ea typeface="Calibri" pitchFamily="34" charset="-122"/>
                <a:cs typeface="Calibri" pitchFamily="34" charset="-120"/>
              </a:rPr>
              <a:t>LEVER 4 · CONSUMPTION MODEL</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Batch it, or commit it</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Two different answers to the same question: does this work need to happen in seconds?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The rule: if it isn't needed right now, send it to the batch API. Then review quarterly and move anything that has settled into steady production onto committed capacity — the same discipline that already saved $132,118 a year on cloud reservations.</a:t>
            </a:r>
            <a:endParaRPr lang="en-US" sz="1200" dirty="0"/>
          </a:p>
        </p:txBody>
      </p:sp>
      <p:sp>
        <p:nvSpPr>
          <p:cNvPr id="8" name="Text 6"/>
          <p:cNvSpPr/>
          <p:nvPr/>
        </p:nvSpPr>
        <p:spPr>
          <a:xfrm>
            <a:off x="457200" y="1234440"/>
            <a:ext cx="841248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How to buy the capacity</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412480" cy="914400"/>
        </p:xfrm>
        <a:graphic>
          <a:graphicData uri="http://schemas.openxmlformats.org/drawingml/2006/table">
            <a:tbl>
              <a:tblPr/>
              <a:tblGrid>
                <a:gridCol w="2011680"/>
                <a:gridCol w="1645920"/>
                <a:gridCol w="475488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b="1" spc="80" kern="0" dirty="0">
                          <a:solidFill>
                            <a:srgbClr val="91A0B7"/>
                          </a:solidFill>
                          <a:latin typeface="Calibri" pitchFamily="34" charset="0"/>
                          <a:ea typeface="Calibri" pitchFamily="34" charset="-122"/>
                          <a:cs typeface="Calibri" pitchFamily="34" charset="-120"/>
                        </a:rPr>
                        <a:t>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When it applies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Batch it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r" indent="0" marL="0">
                        <a:buNone/>
                      </a:pPr>
                      <a:r>
                        <a:rPr lang="en-US" sz="1200" dirty="0">
                          <a:solidFill>
                            <a:srgbClr val="3DDC97"/>
                          </a:solidFill>
                          <a:latin typeface="Calibri" pitchFamily="34" charset="0"/>
                          <a:ea typeface="Calibri" pitchFamily="34" charset="-122"/>
                          <a:cs typeface="Calibri" pitchFamily="34" charset="-120"/>
                        </a:rPr>
                        <a:t>≈ 50%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Anything not needed in seconds: overnight document processing, bulk classification, report generation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3DD9EB"/>
                          </a:solidFill>
                          <a:latin typeface="Calibri" pitchFamily="34" charset="0"/>
                          <a:ea typeface="Calibri" pitchFamily="34" charset="-122"/>
                          <a:cs typeface="Calibri" pitchFamily="34" charset="-120"/>
                        </a:rPr>
                        <a:t>Commit it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r" indent="0" marL="0">
                        <a:buNone/>
                      </a:pPr>
                      <a:r>
                        <a:rPr lang="en-US" sz="1200" dirty="0">
                          <a:solidFill>
                            <a:srgbClr val="3DD9EB"/>
                          </a:solidFill>
                          <a:latin typeface="Calibri" pitchFamily="34" charset="0"/>
                          <a:ea typeface="Calibri" pitchFamily="34" charset="-122"/>
                          <a:cs typeface="Calibri" pitchFamily="34" charset="-120"/>
                        </a:rPr>
                        <a:t>Lower rate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Steady, high-volume production → Bedrock Provisioned Throughput or Azure PTU. Variable and experimental stays on-demand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bl>
          </a:graphicData>
        </a:graphic>
      </p:graphicFrame>
      <p:sp>
        <p:nvSpPr>
          <p:cNvPr id="10" name="Shape 7"/>
          <p:cNvSpPr/>
          <p:nvPr/>
        </p:nvSpPr>
        <p:spPr>
          <a:xfrm>
            <a:off x="9235440" y="1234440"/>
            <a:ext cx="2499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9436608" y="1325880"/>
            <a:ext cx="2096719" cy="237744"/>
          </a:xfrm>
          <a:prstGeom prst="rect">
            <a:avLst/>
          </a:prstGeom>
          <a:noFill/>
          <a:ln/>
        </p:spPr>
        <p:txBody>
          <a:bodyPr wrap="square" lIns="0" tIns="0" rIns="0" bIns="0" rtlCol="0" anchor="ctr"/>
          <a:lstStyle/>
          <a:p>
            <a:pPr indent="0" marL="0">
              <a:buNone/>
            </a:pPr>
            <a:r>
              <a:rPr lang="en-US" sz="1000" b="1" spc="120" kern="0" dirty="0">
                <a:solidFill>
                  <a:srgbClr val="91A0B7"/>
                </a:solidFill>
                <a:latin typeface="Calibri" pitchFamily="34" charset="0"/>
                <a:ea typeface="Calibri" pitchFamily="34" charset="-122"/>
                <a:cs typeface="Calibri" pitchFamily="34" charset="-120"/>
              </a:rPr>
              <a:t>BATCH VERSUS REAL-TIME</a:t>
            </a:r>
            <a:endParaRPr lang="en-US" sz="1000" dirty="0"/>
          </a:p>
        </p:txBody>
      </p:sp>
      <p:sp>
        <p:nvSpPr>
          <p:cNvPr id="12" name="Text 9"/>
          <p:cNvSpPr/>
          <p:nvPr/>
        </p:nvSpPr>
        <p:spPr>
          <a:xfrm>
            <a:off x="9436608" y="1527048"/>
            <a:ext cx="2096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 50%</a:t>
            </a:r>
            <a:endParaRPr lang="en-US" sz="2800" dirty="0"/>
          </a:p>
        </p:txBody>
      </p:sp>
      <p:sp>
        <p:nvSpPr>
          <p:cNvPr id="13" name="Text 10"/>
          <p:cNvSpPr/>
          <p:nvPr/>
        </p:nvSpPr>
        <p:spPr>
          <a:xfrm>
            <a:off x="9436608" y="1929384"/>
            <a:ext cx="20967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cheaper for the same work</a:t>
            </a:r>
            <a:endParaRPr lang="en-US" sz="1200" dirty="0"/>
          </a:p>
        </p:txBody>
      </p:sp>
      <p:sp>
        <p:nvSpPr>
          <p:cNvPr id="14" name="Shape 11"/>
          <p:cNvSpPr/>
          <p:nvPr/>
        </p:nvSpPr>
        <p:spPr>
          <a:xfrm>
            <a:off x="9235440" y="2459736"/>
            <a:ext cx="2499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9436608" y="2551176"/>
            <a:ext cx="2096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COMMITMENT GIVES</a:t>
            </a:r>
            <a:endParaRPr lang="en-US" sz="1200" dirty="0"/>
          </a:p>
        </p:txBody>
      </p:sp>
      <p:sp>
        <p:nvSpPr>
          <p:cNvPr id="16" name="Text 13"/>
          <p:cNvSpPr/>
          <p:nvPr/>
        </p:nvSpPr>
        <p:spPr>
          <a:xfrm>
            <a:off x="9436608" y="2752344"/>
            <a:ext cx="2096719" cy="438912"/>
          </a:xfrm>
          <a:prstGeom prst="rect">
            <a:avLst/>
          </a:prstGeom>
          <a:noFill/>
          <a:ln/>
        </p:spPr>
        <p:txBody>
          <a:bodyPr wrap="square" lIns="0" tIns="0" rIns="0" bIns="0" rtlCol="0" anchor="ctr"/>
          <a:lstStyle/>
          <a:p>
            <a:pPr indent="0" marL="0">
              <a:buNone/>
            </a:pPr>
            <a:r>
              <a:rPr lang="en-US" sz="2460" b="1" dirty="0">
                <a:solidFill>
                  <a:srgbClr val="F4F7FB"/>
                </a:solidFill>
                <a:latin typeface="Calibri" pitchFamily="34" charset="0"/>
                <a:ea typeface="Calibri" pitchFamily="34" charset="-122"/>
                <a:cs typeface="Calibri" pitchFamily="34" charset="-120"/>
              </a:rPr>
              <a:t>Predictable</a:t>
            </a:r>
            <a:endParaRPr lang="en-US" sz="2460" dirty="0"/>
          </a:p>
        </p:txBody>
      </p:sp>
      <p:sp>
        <p:nvSpPr>
          <p:cNvPr id="17" name="Text 14"/>
          <p:cNvSpPr/>
          <p:nvPr/>
        </p:nvSpPr>
        <p:spPr>
          <a:xfrm>
            <a:off x="9436608" y="3154680"/>
            <a:ext cx="2096719" cy="356616"/>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capacity, at a lower rate</a:t>
            </a:r>
            <a:endParaRPr lang="en-US" sz="1200" dirty="0"/>
          </a:p>
        </p:txBody>
      </p:sp>
      <p:sp>
        <p:nvSpPr>
          <p:cNvPr id="18" name="Shape 15"/>
          <p:cNvSpPr/>
          <p:nvPr/>
        </p:nvSpPr>
        <p:spPr>
          <a:xfrm>
            <a:off x="9235440" y="3685032"/>
            <a:ext cx="2499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9436608" y="3776472"/>
            <a:ext cx="2096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REVIEW CADENCE</a:t>
            </a:r>
            <a:endParaRPr lang="en-US" sz="1200" dirty="0"/>
          </a:p>
        </p:txBody>
      </p:sp>
      <p:sp>
        <p:nvSpPr>
          <p:cNvPr id="20" name="Text 17"/>
          <p:cNvSpPr/>
          <p:nvPr/>
        </p:nvSpPr>
        <p:spPr>
          <a:xfrm>
            <a:off x="9436608" y="3977640"/>
            <a:ext cx="2096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Quarterly</a:t>
            </a:r>
            <a:endParaRPr lang="en-US" sz="2800" dirty="0"/>
          </a:p>
        </p:txBody>
      </p:sp>
      <p:sp>
        <p:nvSpPr>
          <p:cNvPr id="21" name="Text 18"/>
          <p:cNvSpPr/>
          <p:nvPr/>
        </p:nvSpPr>
        <p:spPr>
          <a:xfrm>
            <a:off x="9436608" y="4379976"/>
            <a:ext cx="2096719" cy="356616"/>
          </a:xfrm>
          <a:prstGeom prst="rect">
            <a:avLst/>
          </a:prstGeom>
          <a:noFill/>
          <a:ln/>
        </p:spPr>
        <p:txBody>
          <a:bodyPr wrap="square" lIns="0" tIns="0" rIns="0" bIns="0" rtlCol="0" anchor="t"/>
          <a:lstStyle/>
          <a:p>
            <a:pPr indent="0" marL="0">
              <a:lnSpc>
                <a:spcPct val="105000"/>
              </a:lnSpc>
              <a:buNone/>
            </a:pPr>
            <a:r>
              <a:rPr lang="en-US" sz="1200" b="1" dirty="0">
                <a:solidFill>
                  <a:srgbClr val="91A0B7"/>
                </a:solidFill>
                <a:latin typeface="Calibri" pitchFamily="34" charset="0"/>
                <a:ea typeface="Calibri" pitchFamily="34" charset="-122"/>
                <a:cs typeface="Calibri" pitchFamily="34" charset="-120"/>
              </a:rPr>
              <a:t>promote matured, steady workloads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LEVER 5 · QUICK WINS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545" b="1" dirty="0">
                <a:solidFill>
                  <a:srgbClr val="F4F7FB"/>
                </a:solidFill>
                <a:latin typeface="Calibri" pitchFamily="34" charset="0"/>
                <a:ea typeface="Calibri" pitchFamily="34" charset="-122"/>
                <a:cs typeface="Calibri" pitchFamily="34" charset="-120"/>
              </a:rPr>
              <a:t>One high-impact move per platform</a:t>
            </a:r>
            <a:endParaRPr lang="en-US" sz="2545"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Three platforms, three different failure modes, three different fixes.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Copilot is a licence problem, Bedrock is an attribution problem, Foundry is a model-choice problem. Each needs a different owner and a different monthly routine.</a:t>
            </a:r>
            <a:endParaRPr lang="en-US" sz="1200" dirty="0"/>
          </a:p>
        </p:txBody>
      </p:sp>
      <p:sp>
        <p:nvSpPr>
          <p:cNvPr id="8" name="Text 6"/>
          <p:cNvSpPr/>
          <p:nvPr/>
        </p:nvSpPr>
        <p:spPr>
          <a:xfrm>
            <a:off x="457200" y="1234440"/>
            <a:ext cx="859536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Per platform</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595360" cy="914400"/>
        </p:xfrm>
        <a:graphic>
          <a:graphicData uri="http://schemas.openxmlformats.org/drawingml/2006/table">
            <a:tbl>
              <a:tblPr/>
              <a:tblGrid>
                <a:gridCol w="2194560"/>
                <a:gridCol w="3291840"/>
                <a:gridCol w="310896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The move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Also worth doing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9F43"/>
                          </a:solidFill>
                          <a:latin typeface="Calibri" pitchFamily="34" charset="0"/>
                          <a:ea typeface="Calibri" pitchFamily="34" charset="-122"/>
                          <a:cs typeface="Calibri" pitchFamily="34" charset="-120"/>
                        </a:rPr>
                        <a:t>Amazon Bedrock</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Tag every workload with team and use case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Per-team budget alerts on token spend · Guardrails to block off-scope calls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B07CFF"/>
                          </a:solidFill>
                          <a:latin typeface="Calibri" pitchFamily="34" charset="0"/>
                          <a:ea typeface="Calibri" pitchFamily="34" charset="-122"/>
                          <a:cs typeface="Calibri" pitchFamily="34" charset="-120"/>
                        </a:rPr>
                        <a:t>GitHub Copilot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Reclaim idle seats monthly — it is a per-seat licence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Measure acceptance rate, not seat count · Steer routine work to the included 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2F8CFF"/>
                          </a:solidFill>
                          <a:latin typeface="Calibri" pitchFamily="34" charset="0"/>
                          <a:ea typeface="Calibri" pitchFamily="34" charset="-122"/>
                          <a:cs typeface="Calibri" pitchFamily="34" charset="-120"/>
                        </a:rPr>
                        <a:t>Azure AI Foundry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Choose by cost-per-capability, not by brand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algn="l" indent="0" marL="0">
                        <a:buNone/>
                      </a:pPr>
                      <a:r>
                        <a:rPr lang="en-US" sz="1200" dirty="0">
                          <a:solidFill>
                            <a:srgbClr val="F4F7FB"/>
                          </a:solidFill>
                          <a:latin typeface="Calibri" pitchFamily="34" charset="0"/>
                          <a:ea typeface="Calibri" pitchFamily="34" charset="-122"/>
                          <a:cs typeface="Calibri" pitchFamily="34" charset="-120"/>
                        </a:rPr>
                        <a:t>Smaller and open models cover most cases · Batch deployments for bulk jobs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
        <p:nvSpPr>
          <p:cNvPr id="10" name="Shape 7"/>
          <p:cNvSpPr/>
          <p:nvPr/>
        </p:nvSpPr>
        <p:spPr>
          <a:xfrm>
            <a:off x="9418320" y="1234440"/>
            <a:ext cx="231617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9619488" y="1325880"/>
            <a:ext cx="1913839" cy="237744"/>
          </a:xfrm>
          <a:prstGeom prst="rect">
            <a:avLst/>
          </a:prstGeom>
          <a:noFill/>
          <a:ln/>
        </p:spPr>
        <p:txBody>
          <a:bodyPr wrap="square" lIns="0" tIns="0" rIns="0" bIns="0" rtlCol="0" anchor="ctr"/>
          <a:lstStyle/>
          <a:p>
            <a:pPr indent="0" marL="0">
              <a:buNone/>
            </a:pPr>
            <a:r>
              <a:rPr lang="en-US" sz="1151" b="1" spc="120" kern="0" dirty="0">
                <a:solidFill>
                  <a:srgbClr val="91A0B7"/>
                </a:solidFill>
                <a:latin typeface="Calibri" pitchFamily="34" charset="0"/>
                <a:ea typeface="Calibri" pitchFamily="34" charset="-122"/>
                <a:cs typeface="Calibri" pitchFamily="34" charset="-120"/>
              </a:rPr>
              <a:t>COPILOT, JAN–JUL</a:t>
            </a:r>
            <a:endParaRPr lang="en-US" sz="1151" dirty="0"/>
          </a:p>
        </p:txBody>
      </p:sp>
      <p:sp>
        <p:nvSpPr>
          <p:cNvPr id="12" name="Text 9"/>
          <p:cNvSpPr/>
          <p:nvPr/>
        </p:nvSpPr>
        <p:spPr>
          <a:xfrm>
            <a:off x="9619488" y="1527048"/>
            <a:ext cx="19138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$57,177</a:t>
            </a:r>
            <a:endParaRPr lang="en-US" sz="2800" dirty="0"/>
          </a:p>
        </p:txBody>
      </p:sp>
      <p:sp>
        <p:nvSpPr>
          <p:cNvPr id="13" name="Text 10"/>
          <p:cNvSpPr/>
          <p:nvPr/>
        </p:nvSpPr>
        <p:spPr>
          <a:xfrm>
            <a:off x="9619488" y="1929384"/>
            <a:ext cx="1913839" cy="356616"/>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+593% — seats worth auditing</a:t>
            </a:r>
            <a:endParaRPr lang="en-US" sz="1200" dirty="0"/>
          </a:p>
        </p:txBody>
      </p:sp>
      <p:sp>
        <p:nvSpPr>
          <p:cNvPr id="14" name="Shape 11"/>
          <p:cNvSpPr/>
          <p:nvPr/>
        </p:nvSpPr>
        <p:spPr>
          <a:xfrm>
            <a:off x="9418320" y="2459736"/>
            <a:ext cx="231617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9619488" y="2551176"/>
            <a:ext cx="191383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BEDROCK, JULY</a:t>
            </a:r>
            <a:endParaRPr lang="en-US" sz="1200" dirty="0"/>
          </a:p>
        </p:txBody>
      </p:sp>
      <p:sp>
        <p:nvSpPr>
          <p:cNvPr id="16" name="Text 13"/>
          <p:cNvSpPr/>
          <p:nvPr/>
        </p:nvSpPr>
        <p:spPr>
          <a:xfrm>
            <a:off x="9619488" y="2752344"/>
            <a:ext cx="19138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$25,288</a:t>
            </a:r>
            <a:endParaRPr lang="en-US" sz="2800" dirty="0"/>
          </a:p>
        </p:txBody>
      </p:sp>
      <p:sp>
        <p:nvSpPr>
          <p:cNvPr id="17" name="Text 14"/>
          <p:cNvSpPr/>
          <p:nvPr/>
        </p:nvSpPr>
        <p:spPr>
          <a:xfrm>
            <a:off x="9619488" y="3154680"/>
            <a:ext cx="1913839" cy="356616"/>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untagged by use case today</a:t>
            </a:r>
            <a:endParaRPr lang="en-US" sz="1200" dirty="0"/>
          </a:p>
        </p:txBody>
      </p:sp>
      <p:sp>
        <p:nvSpPr>
          <p:cNvPr id="18" name="Shape 15"/>
          <p:cNvSpPr/>
          <p:nvPr/>
        </p:nvSpPr>
        <p:spPr>
          <a:xfrm>
            <a:off x="9418320" y="3685032"/>
            <a:ext cx="231617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9619488" y="3776472"/>
            <a:ext cx="191383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FOUNDRY, JULY</a:t>
            </a:r>
            <a:endParaRPr lang="en-US" sz="1200" dirty="0"/>
          </a:p>
        </p:txBody>
      </p:sp>
      <p:sp>
        <p:nvSpPr>
          <p:cNvPr id="20" name="Text 17"/>
          <p:cNvSpPr/>
          <p:nvPr/>
        </p:nvSpPr>
        <p:spPr>
          <a:xfrm>
            <a:off x="9619488" y="3977640"/>
            <a:ext cx="191383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$19,613</a:t>
            </a:r>
            <a:endParaRPr lang="en-US" sz="2800" dirty="0"/>
          </a:p>
        </p:txBody>
      </p:sp>
      <p:sp>
        <p:nvSpPr>
          <p:cNvPr id="21" name="Text 18"/>
          <p:cNvSpPr/>
          <p:nvPr/>
        </p:nvSpPr>
        <p:spPr>
          <a:xfrm>
            <a:off x="9619488" y="4379976"/>
            <a:ext cx="1913839" cy="356616"/>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model choice not yet governed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C97"/>
                </a:solidFill>
                <a:latin typeface="Calibri" pitchFamily="34" charset="0"/>
                <a:ea typeface="Calibri" pitchFamily="34" charset="-122"/>
                <a:cs typeface="Calibri" pitchFamily="34" charset="-120"/>
              </a:rPr>
              <a:t>THE POLICY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How teams use AI at Harel</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One page. This is the artefact we are asking to adopt.</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None of this restricts what a team may build. It sets the default price of building it, and makes the exception a decision someone owns.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212080" cy="914400"/>
        </p:xfrm>
        <a:graphic>
          <a:graphicData uri="http://schemas.openxmlformats.org/drawingml/2006/table">
            <a:tbl>
              <a:tblPr/>
              <a:tblGrid>
                <a:gridCol w="521208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Do</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Default to the balanced model tier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Escalate to top models only on measured need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Cache stable, repeated context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Batch every non-urgent job</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Pick the compliant region at lowest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Reclaim idle Copilot seats monthly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3DDC97"/>
                          </a:solidFill>
                          <a:latin typeface="Calibri" pitchFamily="34" charset="0"/>
                          <a:ea typeface="Calibri" pitchFamily="34" charset="-122"/>
                          <a:cs typeface="Calibri" pitchFamily="34" charset="-120"/>
                        </a:rPr>
                        <a:t>Tag and budget every workload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035040" y="1234440"/>
          <a:ext cx="5212080" cy="914400"/>
        </p:xfrm>
        <a:graphic>
          <a:graphicData uri="http://schemas.openxmlformats.org/drawingml/2006/table">
            <a:tbl>
              <a:tblPr/>
              <a:tblGrid>
                <a:gridCol w="5212080"/>
              </a:tblGrid>
              <a:tr h="292608">
                <a:tc>
                  <a:txBody>
                    <a:bodyPr/>
                    <a:lstStyle/>
                    <a:p>
                      <a:pPr algn="l" indent="0" marL="0">
                        <a:buNone/>
                      </a:pPr>
                      <a:r>
                        <a:rPr lang="en-US" sz="1200" b="1" spc="80" kern="0" dirty="0">
                          <a:solidFill>
                            <a:srgbClr val="91A0B7"/>
                          </a:solidFill>
                          <a:latin typeface="Calibri" pitchFamily="34" charset="0"/>
                          <a:ea typeface="Calibri" pitchFamily="34" charset="-122"/>
                          <a:cs typeface="Calibri" pitchFamily="34" charset="-120"/>
                        </a:rPr>
                        <a:t>Don't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Reach for the top model by default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Send regulated data to global endpoints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Re-send the same context on every call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Run real-time when batch would do</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Leave Copilot seats idle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Ship untagged, un-budgeted workloads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r>
              <a:tr h="292608">
                <a:tc>
                  <a:txBody>
                    <a:bodyPr/>
                    <a:lstStyle/>
                    <a:p>
                      <a:pPr algn="l" indent="0" marL="0">
                        <a:buNone/>
                      </a:pPr>
                      <a:r>
                        <a:rPr lang="en-US" sz="1200" b="1" dirty="0">
                          <a:solidFill>
                            <a:srgbClr val="FF6B7A"/>
                          </a:solidFill>
                          <a:latin typeface="Calibri" pitchFamily="34" charset="0"/>
                          <a:ea typeface="Calibri" pitchFamily="34" charset="-122"/>
                          <a:cs typeface="Calibri" pitchFamily="34" charset="-120"/>
                        </a:rPr>
                        <a:t>Trust one model choice forever — re-review</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THE ASK</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What we need from this meeting</a:t>
            </a:r>
            <a:endParaRPr lang="en-US" sz="2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Six decisions. Each needs a named owner.</a:t>
            </a:r>
            <a:endParaRPr lang="en-US" sz="1200" dirty="0"/>
          </a:p>
        </p:txBody>
      </p:sp>
      <p:sp>
        <p:nvSpPr>
          <p:cNvPr id="7" name="Shape 5"/>
          <p:cNvSpPr/>
          <p:nvPr/>
        </p:nvSpPr>
        <p:spPr>
          <a:xfrm>
            <a:off x="457200" y="1517904"/>
            <a:ext cx="512064" cy="512064"/>
          </a:xfrm>
          <a:prstGeom prst="ellipse">
            <a:avLst/>
          </a:prstGeom>
          <a:solidFill>
            <a:srgbClr val="121B2D"/>
          </a:solidFill>
          <a:ln w="15875">
            <a:solidFill>
              <a:srgbClr val="3DD9EB"/>
            </a:solidFill>
            <a:prstDash val="solid"/>
          </a:ln>
        </p:spPr>
      </p:sp>
      <p:sp>
        <p:nvSpPr>
          <p:cNvPr id="8" name="Text 6"/>
          <p:cNvSpPr/>
          <p:nvPr/>
        </p:nvSpPr>
        <p:spPr>
          <a:xfrm>
            <a:off x="457200"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115568" y="1463040"/>
            <a:ext cx="4797400" cy="333375"/>
          </a:xfrm>
          <a:prstGeom prst="rect">
            <a:avLst/>
          </a:prstGeom>
          <a:noFill/>
          <a:ln/>
        </p:spPr>
        <p:txBody>
          <a:bodyPr wrap="square" lIns="0" tIns="0" rIns="0" bIns="0" rtlCol="0" anchor="ctr"/>
          <a:lstStyle/>
          <a:p>
            <a:pPr indent="0" marL="0">
              <a:buNone/>
            </a:pPr>
            <a:r>
              <a:rPr lang="en-US" sz="2100" b="1" dirty="0">
                <a:solidFill>
                  <a:srgbClr val="F4F7FB"/>
                </a:solidFill>
                <a:latin typeface="Calibri" pitchFamily="34" charset="0"/>
                <a:ea typeface="Calibri" pitchFamily="34" charset="-122"/>
                <a:cs typeface="Calibri" pitchFamily="34" charset="-120"/>
              </a:rPr>
              <a:t>Adopt the one-page policy</a:t>
            </a:r>
            <a:endParaRPr lang="en-US" sz="2100" dirty="0"/>
          </a:p>
        </p:txBody>
      </p:sp>
      <p:sp>
        <p:nvSpPr>
          <p:cNvPr id="10" name="Text 8"/>
          <p:cNvSpPr/>
          <p:nvPr/>
        </p:nvSpPr>
        <p:spPr>
          <a:xfrm>
            <a:off x="1115568" y="1842135"/>
            <a:ext cx="4797400" cy="508000"/>
          </a:xfrm>
          <a:prstGeom prst="rect">
            <a:avLst/>
          </a:prstGeom>
          <a:noFill/>
          <a:ln/>
        </p:spPr>
        <p:txBody>
          <a:bodyPr wrap="square" lIns="0" tIns="0" rIns="0" bIns="0" rtlCol="0" anchor="t"/>
          <a:lstStyle/>
          <a:p>
            <a:pPr indent="0" marL="0">
              <a:lnSpc>
                <a:spcPct val="112000"/>
              </a:lnSpc>
              <a:buNone/>
            </a:pPr>
            <a:r>
              <a:rPr lang="en-US" sz="1600" dirty="0">
                <a:solidFill>
                  <a:srgbClr val="91A0B7"/>
                </a:solidFill>
                <a:latin typeface="Calibri" pitchFamily="34" charset="0"/>
                <a:ea typeface="Calibri" pitchFamily="34" charset="-122"/>
                <a:cs typeface="Calibri" pitchFamily="34" charset="-120"/>
              </a:rPr>
              <a:t>As the default for every team building on AI.</a:t>
            </a:r>
            <a:endParaRPr lang="en-US" sz="1600" dirty="0"/>
          </a:p>
        </p:txBody>
      </p:sp>
      <p:sp>
        <p:nvSpPr>
          <p:cNvPr id="11" name="Shape 9"/>
          <p:cNvSpPr/>
          <p:nvPr/>
        </p:nvSpPr>
        <p:spPr>
          <a:xfrm>
            <a:off x="457200" y="2610612"/>
            <a:ext cx="512064" cy="512064"/>
          </a:xfrm>
          <a:prstGeom prst="ellipse">
            <a:avLst/>
          </a:prstGeom>
          <a:solidFill>
            <a:srgbClr val="121B2D"/>
          </a:solidFill>
          <a:ln w="15875">
            <a:solidFill>
              <a:srgbClr val="3DD9EB"/>
            </a:solidFill>
            <a:prstDash val="solid"/>
          </a:ln>
        </p:spPr>
      </p:sp>
      <p:sp>
        <p:nvSpPr>
          <p:cNvPr id="12" name="Text 10"/>
          <p:cNvSpPr/>
          <p:nvPr/>
        </p:nvSpPr>
        <p:spPr>
          <a:xfrm>
            <a:off x="457200" y="2610612"/>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1115568" y="2555748"/>
            <a:ext cx="4797400" cy="333375"/>
          </a:xfrm>
          <a:prstGeom prst="rect">
            <a:avLst/>
          </a:prstGeom>
          <a:noFill/>
          <a:ln/>
        </p:spPr>
        <p:txBody>
          <a:bodyPr wrap="square" lIns="0" tIns="0" rIns="0" bIns="0" rtlCol="0" anchor="ctr"/>
          <a:lstStyle/>
          <a:p>
            <a:pPr indent="0" marL="0">
              <a:buNone/>
            </a:pPr>
            <a:r>
              <a:rPr lang="en-US" sz="2100" b="1" dirty="0">
                <a:solidFill>
                  <a:srgbClr val="F4F7FB"/>
                </a:solidFill>
                <a:latin typeface="Calibri" pitchFamily="34" charset="0"/>
                <a:ea typeface="Calibri" pitchFamily="34" charset="-122"/>
                <a:cs typeface="Calibri" pitchFamily="34" charset="-120"/>
              </a:rPr>
              <a:t>Set the tier default</a:t>
            </a:r>
            <a:endParaRPr lang="en-US" sz="2100" dirty="0"/>
          </a:p>
        </p:txBody>
      </p:sp>
      <p:sp>
        <p:nvSpPr>
          <p:cNvPr id="14" name="Text 12"/>
          <p:cNvSpPr/>
          <p:nvPr/>
        </p:nvSpPr>
        <p:spPr>
          <a:xfrm>
            <a:off x="1115568" y="2934843"/>
            <a:ext cx="4797400" cy="508000"/>
          </a:xfrm>
          <a:prstGeom prst="rect">
            <a:avLst/>
          </a:prstGeom>
          <a:noFill/>
          <a:ln/>
        </p:spPr>
        <p:txBody>
          <a:bodyPr wrap="square" lIns="0" tIns="0" rIns="0" bIns="0" rtlCol="0" anchor="t"/>
          <a:lstStyle/>
          <a:p>
            <a:pPr indent="0" marL="0">
              <a:lnSpc>
                <a:spcPct val="112000"/>
              </a:lnSpc>
              <a:buNone/>
            </a:pPr>
            <a:r>
              <a:rPr lang="en-US" sz="1600" dirty="0">
                <a:solidFill>
                  <a:srgbClr val="91A0B7"/>
                </a:solidFill>
                <a:latin typeface="Calibri" pitchFamily="34" charset="0"/>
                <a:ea typeface="Calibri" pitchFamily="34" charset="-122"/>
                <a:cs typeface="Calibri" pitchFamily="34" charset="-120"/>
              </a:rPr>
              <a:t>Balanced tier standard; top tier by exception, with evidence.</a:t>
            </a:r>
            <a:endParaRPr lang="en-US" sz="1600" dirty="0"/>
          </a:p>
        </p:txBody>
      </p:sp>
      <p:sp>
        <p:nvSpPr>
          <p:cNvPr id="15" name="Shape 13"/>
          <p:cNvSpPr/>
          <p:nvPr/>
        </p:nvSpPr>
        <p:spPr>
          <a:xfrm>
            <a:off x="457200" y="3703320"/>
            <a:ext cx="512064" cy="512064"/>
          </a:xfrm>
          <a:prstGeom prst="ellipse">
            <a:avLst/>
          </a:prstGeom>
          <a:solidFill>
            <a:srgbClr val="121B2D"/>
          </a:solidFill>
          <a:ln w="15875">
            <a:solidFill>
              <a:srgbClr val="3DD9EB"/>
            </a:solidFill>
            <a:prstDash val="solid"/>
          </a:ln>
        </p:spPr>
      </p:sp>
      <p:sp>
        <p:nvSpPr>
          <p:cNvPr id="16" name="Text 14"/>
          <p:cNvSpPr/>
          <p:nvPr/>
        </p:nvSpPr>
        <p:spPr>
          <a:xfrm>
            <a:off x="457200" y="3703320"/>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115568" y="3648456"/>
            <a:ext cx="4797400" cy="333375"/>
          </a:xfrm>
          <a:prstGeom prst="rect">
            <a:avLst/>
          </a:prstGeom>
          <a:noFill/>
          <a:ln/>
        </p:spPr>
        <p:txBody>
          <a:bodyPr wrap="square" lIns="0" tIns="0" rIns="0" bIns="0" rtlCol="0" anchor="ctr"/>
          <a:lstStyle/>
          <a:p>
            <a:pPr indent="0" marL="0">
              <a:buNone/>
            </a:pPr>
            <a:r>
              <a:rPr lang="en-US" sz="2100" b="1" dirty="0">
                <a:solidFill>
                  <a:srgbClr val="F4F7FB"/>
                </a:solidFill>
                <a:latin typeface="Calibri" pitchFamily="34" charset="0"/>
                <a:ea typeface="Calibri" pitchFamily="34" charset="-122"/>
                <a:cs typeface="Calibri" pitchFamily="34" charset="-120"/>
              </a:rPr>
              <a:t>Mandate caching</a:t>
            </a:r>
            <a:endParaRPr lang="en-US" sz="2100" dirty="0"/>
          </a:p>
        </p:txBody>
      </p:sp>
      <p:sp>
        <p:nvSpPr>
          <p:cNvPr id="18" name="Text 16"/>
          <p:cNvSpPr/>
          <p:nvPr/>
        </p:nvSpPr>
        <p:spPr>
          <a:xfrm>
            <a:off x="1115568" y="4027551"/>
            <a:ext cx="4797400" cy="508000"/>
          </a:xfrm>
          <a:prstGeom prst="rect">
            <a:avLst/>
          </a:prstGeom>
          <a:noFill/>
          <a:ln/>
        </p:spPr>
        <p:txBody>
          <a:bodyPr wrap="square" lIns="0" tIns="0" rIns="0" bIns="0" rtlCol="0" anchor="t"/>
          <a:lstStyle/>
          <a:p>
            <a:pPr indent="0" marL="0">
              <a:lnSpc>
                <a:spcPct val="112000"/>
              </a:lnSpc>
              <a:buNone/>
            </a:pPr>
            <a:r>
              <a:rPr lang="en-US" sz="1600" dirty="0">
                <a:solidFill>
                  <a:srgbClr val="91A0B7"/>
                </a:solidFill>
                <a:latin typeface="Calibri" pitchFamily="34" charset="0"/>
                <a:ea typeface="Calibri" pitchFamily="34" charset="-122"/>
                <a:cs typeface="Calibri" pitchFamily="34" charset="-120"/>
              </a:rPr>
              <a:t>Stable context cached on assistants and document workloads.</a:t>
            </a:r>
            <a:endParaRPr lang="en-US" sz="1600" dirty="0"/>
          </a:p>
        </p:txBody>
      </p:sp>
      <p:sp>
        <p:nvSpPr>
          <p:cNvPr id="19" name="Shape 17"/>
          <p:cNvSpPr/>
          <p:nvPr/>
        </p:nvSpPr>
        <p:spPr>
          <a:xfrm>
            <a:off x="6278728" y="1517904"/>
            <a:ext cx="512064" cy="512064"/>
          </a:xfrm>
          <a:prstGeom prst="ellipse">
            <a:avLst/>
          </a:prstGeom>
          <a:solidFill>
            <a:srgbClr val="121B2D"/>
          </a:solidFill>
          <a:ln w="15875">
            <a:solidFill>
              <a:srgbClr val="3DD9EB"/>
            </a:solidFill>
            <a:prstDash val="solid"/>
          </a:ln>
        </p:spPr>
      </p:sp>
      <p:sp>
        <p:nvSpPr>
          <p:cNvPr id="20" name="Text 18"/>
          <p:cNvSpPr/>
          <p:nvPr/>
        </p:nvSpPr>
        <p:spPr>
          <a:xfrm>
            <a:off x="6278728" y="1517904"/>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6937096" y="1463040"/>
            <a:ext cx="4797400" cy="333375"/>
          </a:xfrm>
          <a:prstGeom prst="rect">
            <a:avLst/>
          </a:prstGeom>
          <a:noFill/>
          <a:ln/>
        </p:spPr>
        <p:txBody>
          <a:bodyPr wrap="square" lIns="0" tIns="0" rIns="0" bIns="0" rtlCol="0" anchor="ctr"/>
          <a:lstStyle/>
          <a:p>
            <a:pPr indent="0" marL="0">
              <a:buNone/>
            </a:pPr>
            <a:r>
              <a:rPr lang="en-US" sz="2100" b="1" dirty="0">
                <a:solidFill>
                  <a:srgbClr val="F4F7FB"/>
                </a:solidFill>
                <a:latin typeface="Calibri" pitchFamily="34" charset="0"/>
                <a:ea typeface="Calibri" pitchFamily="34" charset="-122"/>
                <a:cs typeface="Calibri" pitchFamily="34" charset="-120"/>
              </a:rPr>
              <a:t>Batch by default</a:t>
            </a:r>
            <a:endParaRPr lang="en-US" sz="2100" dirty="0"/>
          </a:p>
        </p:txBody>
      </p:sp>
      <p:sp>
        <p:nvSpPr>
          <p:cNvPr id="22" name="Text 20"/>
          <p:cNvSpPr/>
          <p:nvPr/>
        </p:nvSpPr>
        <p:spPr>
          <a:xfrm>
            <a:off x="6937096" y="1842135"/>
            <a:ext cx="4797400" cy="508000"/>
          </a:xfrm>
          <a:prstGeom prst="rect">
            <a:avLst/>
          </a:prstGeom>
          <a:noFill/>
          <a:ln/>
        </p:spPr>
        <p:txBody>
          <a:bodyPr wrap="square" lIns="0" tIns="0" rIns="0" bIns="0" rtlCol="0" anchor="t"/>
          <a:lstStyle/>
          <a:p>
            <a:pPr indent="0" marL="0">
              <a:lnSpc>
                <a:spcPct val="112000"/>
              </a:lnSpc>
              <a:buNone/>
            </a:pPr>
            <a:r>
              <a:rPr lang="en-US" sz="1600" dirty="0">
                <a:solidFill>
                  <a:srgbClr val="91A0B7"/>
                </a:solidFill>
                <a:latin typeface="Calibri" pitchFamily="34" charset="0"/>
                <a:ea typeface="Calibri" pitchFamily="34" charset="-122"/>
                <a:cs typeface="Calibri" pitchFamily="34" charset="-120"/>
              </a:rPr>
              <a:t>Anything not needed in seconds goes to the batch API.</a:t>
            </a:r>
            <a:endParaRPr lang="en-US" sz="1600" dirty="0"/>
          </a:p>
        </p:txBody>
      </p:sp>
      <p:sp>
        <p:nvSpPr>
          <p:cNvPr id="23" name="Shape 21"/>
          <p:cNvSpPr/>
          <p:nvPr/>
        </p:nvSpPr>
        <p:spPr>
          <a:xfrm>
            <a:off x="6278728" y="2610612"/>
            <a:ext cx="512064" cy="512064"/>
          </a:xfrm>
          <a:prstGeom prst="ellipse">
            <a:avLst/>
          </a:prstGeom>
          <a:solidFill>
            <a:srgbClr val="121B2D"/>
          </a:solidFill>
          <a:ln w="15875">
            <a:solidFill>
              <a:srgbClr val="3DD9EB"/>
            </a:solidFill>
            <a:prstDash val="solid"/>
          </a:ln>
        </p:spPr>
      </p:sp>
      <p:sp>
        <p:nvSpPr>
          <p:cNvPr id="24" name="Text 22"/>
          <p:cNvSpPr/>
          <p:nvPr/>
        </p:nvSpPr>
        <p:spPr>
          <a:xfrm>
            <a:off x="6278728" y="2610612"/>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5</a:t>
            </a:r>
            <a:endParaRPr lang="en-US" sz="2000" dirty="0"/>
          </a:p>
        </p:txBody>
      </p:sp>
      <p:sp>
        <p:nvSpPr>
          <p:cNvPr id="25" name="Text 23"/>
          <p:cNvSpPr/>
          <p:nvPr/>
        </p:nvSpPr>
        <p:spPr>
          <a:xfrm>
            <a:off x="6937096" y="2555748"/>
            <a:ext cx="4797400" cy="333375"/>
          </a:xfrm>
          <a:prstGeom prst="rect">
            <a:avLst/>
          </a:prstGeom>
          <a:noFill/>
          <a:ln/>
        </p:spPr>
        <p:txBody>
          <a:bodyPr wrap="square" lIns="0" tIns="0" rIns="0" bIns="0" rtlCol="0" anchor="ctr"/>
          <a:lstStyle/>
          <a:p>
            <a:pPr indent="0" marL="0">
              <a:buNone/>
            </a:pPr>
            <a:r>
              <a:rPr lang="en-US" sz="2100" b="1" dirty="0">
                <a:solidFill>
                  <a:srgbClr val="F4F7FB"/>
                </a:solidFill>
                <a:latin typeface="Calibri" pitchFamily="34" charset="0"/>
                <a:ea typeface="Calibri" pitchFamily="34" charset="-122"/>
                <a:cs typeface="Calibri" pitchFamily="34" charset="-120"/>
              </a:rPr>
              <a:t>Monthly Copilot review</a:t>
            </a:r>
            <a:endParaRPr lang="en-US" sz="2100" dirty="0"/>
          </a:p>
        </p:txBody>
      </p:sp>
      <p:sp>
        <p:nvSpPr>
          <p:cNvPr id="26" name="Text 24"/>
          <p:cNvSpPr/>
          <p:nvPr/>
        </p:nvSpPr>
        <p:spPr>
          <a:xfrm>
            <a:off x="6937096" y="2934843"/>
            <a:ext cx="4797400" cy="508000"/>
          </a:xfrm>
          <a:prstGeom prst="rect">
            <a:avLst/>
          </a:prstGeom>
          <a:noFill/>
          <a:ln/>
        </p:spPr>
        <p:txBody>
          <a:bodyPr wrap="square" lIns="0" tIns="0" rIns="0" bIns="0" rtlCol="0" anchor="t"/>
          <a:lstStyle/>
          <a:p>
            <a:pPr indent="0" marL="0">
              <a:lnSpc>
                <a:spcPct val="112000"/>
              </a:lnSpc>
              <a:buNone/>
            </a:pPr>
            <a:r>
              <a:rPr lang="en-US" sz="1600" dirty="0">
                <a:solidFill>
                  <a:srgbClr val="91A0B7"/>
                </a:solidFill>
                <a:latin typeface="Calibri" pitchFamily="34" charset="0"/>
                <a:ea typeface="Calibri" pitchFamily="34" charset="-122"/>
                <a:cs typeface="Calibri" pitchFamily="34" charset="-120"/>
              </a:rPr>
              <a:t>Reclaim idle seats; report acceptance rate, not seat count.</a:t>
            </a:r>
            <a:endParaRPr lang="en-US" sz="1600" dirty="0"/>
          </a:p>
        </p:txBody>
      </p:sp>
      <p:sp>
        <p:nvSpPr>
          <p:cNvPr id="27" name="Shape 25"/>
          <p:cNvSpPr/>
          <p:nvPr/>
        </p:nvSpPr>
        <p:spPr>
          <a:xfrm>
            <a:off x="6278728" y="3703320"/>
            <a:ext cx="512064" cy="512064"/>
          </a:xfrm>
          <a:prstGeom prst="ellipse">
            <a:avLst/>
          </a:prstGeom>
          <a:solidFill>
            <a:srgbClr val="121B2D"/>
          </a:solidFill>
          <a:ln w="15875">
            <a:solidFill>
              <a:srgbClr val="3DD9EB"/>
            </a:solidFill>
            <a:prstDash val="solid"/>
          </a:ln>
        </p:spPr>
      </p:sp>
      <p:sp>
        <p:nvSpPr>
          <p:cNvPr id="28" name="Text 26"/>
          <p:cNvSpPr/>
          <p:nvPr/>
        </p:nvSpPr>
        <p:spPr>
          <a:xfrm>
            <a:off x="6278728" y="3703320"/>
            <a:ext cx="512064" cy="512064"/>
          </a:xfrm>
          <a:prstGeom prst="rect">
            <a:avLst/>
          </a:prstGeom>
          <a:noFill/>
          <a:ln/>
        </p:spPr>
        <p:txBody>
          <a:bodyPr wrap="square" lIns="0" tIns="0" rIns="0" bIns="0" rtlCol="0" anchor="ctr"/>
          <a:lstStyle/>
          <a:p>
            <a:pPr algn="ctr" indent="0" marL="0">
              <a:buNone/>
            </a:pPr>
            <a:r>
              <a:rPr lang="en-US" sz="2000" b="1" dirty="0">
                <a:solidFill>
                  <a:srgbClr val="3DD9EB"/>
                </a:solidFill>
                <a:latin typeface="Calibri" pitchFamily="34" charset="0"/>
                <a:ea typeface="Calibri" pitchFamily="34" charset="-122"/>
                <a:cs typeface="Calibri" pitchFamily="34" charset="-120"/>
              </a:rPr>
              <a:t>6</a:t>
            </a:r>
            <a:endParaRPr lang="en-US" sz="2000" dirty="0"/>
          </a:p>
        </p:txBody>
      </p:sp>
      <p:sp>
        <p:nvSpPr>
          <p:cNvPr id="29" name="Text 27"/>
          <p:cNvSpPr/>
          <p:nvPr/>
        </p:nvSpPr>
        <p:spPr>
          <a:xfrm>
            <a:off x="6937096" y="3648456"/>
            <a:ext cx="4797400" cy="333375"/>
          </a:xfrm>
          <a:prstGeom prst="rect">
            <a:avLst/>
          </a:prstGeom>
          <a:noFill/>
          <a:ln/>
        </p:spPr>
        <p:txBody>
          <a:bodyPr wrap="square" lIns="0" tIns="0" rIns="0" bIns="0" rtlCol="0" anchor="ctr"/>
          <a:lstStyle/>
          <a:p>
            <a:pPr indent="0" marL="0">
              <a:buNone/>
            </a:pPr>
            <a:r>
              <a:rPr lang="en-US" sz="2100" b="1" dirty="0">
                <a:solidFill>
                  <a:srgbClr val="F4F7FB"/>
                </a:solidFill>
                <a:latin typeface="Calibri" pitchFamily="34" charset="0"/>
                <a:ea typeface="Calibri" pitchFamily="34" charset="-122"/>
                <a:cs typeface="Calibri" pitchFamily="34" charset="-120"/>
              </a:rPr>
              <a:t>Name an owner per platform</a:t>
            </a:r>
            <a:endParaRPr lang="en-US" sz="2100" dirty="0"/>
          </a:p>
        </p:txBody>
      </p:sp>
      <p:sp>
        <p:nvSpPr>
          <p:cNvPr id="30" name="Text 28"/>
          <p:cNvSpPr/>
          <p:nvPr/>
        </p:nvSpPr>
        <p:spPr>
          <a:xfrm>
            <a:off x="6937096" y="4027551"/>
            <a:ext cx="4797400" cy="508000"/>
          </a:xfrm>
          <a:prstGeom prst="rect">
            <a:avLst/>
          </a:prstGeom>
          <a:noFill/>
          <a:ln/>
        </p:spPr>
        <p:txBody>
          <a:bodyPr wrap="square" lIns="0" tIns="0" rIns="0" bIns="0" rtlCol="0" anchor="t"/>
          <a:lstStyle/>
          <a:p>
            <a:pPr indent="0" marL="0">
              <a:lnSpc>
                <a:spcPct val="112000"/>
              </a:lnSpc>
              <a:buNone/>
            </a:pPr>
            <a:r>
              <a:rPr lang="en-US" sz="1600" dirty="0">
                <a:solidFill>
                  <a:srgbClr val="91A0B7"/>
                </a:solidFill>
                <a:latin typeface="Calibri" pitchFamily="34" charset="0"/>
                <a:ea typeface="Calibri" pitchFamily="34" charset="-122"/>
                <a:cs typeface="Calibri" pitchFamily="34" charset="-120"/>
              </a:rPr>
              <a:t>Bedrock, Copilot and Foundry each need one.</a:t>
            </a:r>
            <a:endParaRPr lang="en-US" sz="1600" dirty="0"/>
          </a:p>
        </p:txBody>
      </p:sp>
      <p:sp>
        <p:nvSpPr>
          <p:cNvPr id="31" name="Shape 29"/>
          <p:cNvSpPr/>
          <p:nvPr/>
        </p:nvSpPr>
        <p:spPr>
          <a:xfrm>
            <a:off x="457200" y="5015484"/>
            <a:ext cx="11277295" cy="1248156"/>
          </a:xfrm>
          <a:prstGeom prst="roundRect">
            <a:avLst>
              <a:gd name="adj" fmla="val 4396"/>
            </a:avLst>
          </a:prstGeom>
          <a:solidFill>
            <a:srgbClr val="121B2D"/>
          </a:solidFill>
          <a:ln w="12700">
            <a:solidFill>
              <a:srgbClr val="3DD9EB"/>
            </a:solidFill>
            <a:prstDash val="solid"/>
          </a:ln>
        </p:spPr>
      </p:sp>
      <p:sp>
        <p:nvSpPr>
          <p:cNvPr id="32" name="Text 30"/>
          <p:cNvSpPr/>
          <p:nvPr/>
        </p:nvSpPr>
        <p:spPr>
          <a:xfrm>
            <a:off x="713232" y="5161788"/>
            <a:ext cx="10765231" cy="422402"/>
          </a:xfrm>
          <a:prstGeom prst="rect">
            <a:avLst/>
          </a:prstGeom>
          <a:noFill/>
          <a:ln/>
        </p:spPr>
        <p:txBody>
          <a:bodyPr wrap="square" lIns="0" tIns="0" rIns="0" bIns="0" rtlCol="0" anchor="ctr"/>
          <a:lstStyle/>
          <a:p>
            <a:pPr indent="0" marL="0">
              <a:buNone/>
            </a:pPr>
            <a:r>
              <a:rPr lang="en-US" sz="2200" b="1" dirty="0">
                <a:solidFill>
                  <a:srgbClr val="F4F7FB"/>
                </a:solidFill>
                <a:latin typeface="Calibri" pitchFamily="34" charset="0"/>
                <a:ea typeface="Calibri" pitchFamily="34" charset="-122"/>
                <a:cs typeface="Calibri" pitchFamily="34" charset="-120"/>
              </a:rPr>
              <a:t>Reassess before 31 August 2026</a:t>
            </a:r>
            <a:endParaRPr lang="en-US" sz="2200" dirty="0"/>
          </a:p>
        </p:txBody>
      </p:sp>
      <p:sp>
        <p:nvSpPr>
          <p:cNvPr id="33" name="Text 31"/>
          <p:cNvSpPr/>
          <p:nvPr/>
        </p:nvSpPr>
        <p:spPr>
          <a:xfrm>
            <a:off x="713232" y="5584190"/>
            <a:ext cx="10765231" cy="533146"/>
          </a:xfrm>
          <a:prstGeom prst="rect">
            <a:avLst/>
          </a:prstGeom>
          <a:noFill/>
          <a:ln/>
        </p:spPr>
        <p:txBody>
          <a:bodyPr wrap="square" lIns="0" tIns="0" rIns="0" bIns="0" rtlCol="0" anchor="t"/>
          <a:lstStyle/>
          <a:p>
            <a:pPr indent="0" marL="0">
              <a:lnSpc>
                <a:spcPct val="118000"/>
              </a:lnSpc>
              <a:buNone/>
            </a:pPr>
            <a:r>
              <a:rPr lang="en-US" sz="1600" dirty="0">
                <a:solidFill>
                  <a:srgbClr val="91A0B7"/>
                </a:solidFill>
                <a:latin typeface="Calibri" pitchFamily="34" charset="0"/>
                <a:ea typeface="Calibri" pitchFamily="34" charset="-122"/>
                <a:cs typeface="Calibri" pitchFamily="34" charset="-120"/>
              </a:rPr>
              <a:t>GitHub Copilot's promotional model pricing ends on that date. The tier decision should be taken and measured before it changes, not after the first invoice that reflects 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sp>
      <p:sp>
        <p:nvSpPr>
          <p:cNvPr id="5" name="Text 3"/>
          <p:cNvSpPr/>
          <p:nvPr/>
        </p:nvSpPr>
        <p:spPr>
          <a:xfrm>
            <a:off x="0" y="2514600"/>
            <a:ext cx="12191695" cy="1828800"/>
          </a:xfrm>
          <a:prstGeom prst="rect">
            <a:avLst/>
          </a:prstGeom>
          <a:noFill/>
          <a:ln/>
        </p:spPr>
        <p:txBody>
          <a:bodyPr wrap="square" lIns="0" tIns="0" rIns="0" bIns="0" rtlCol="0" anchor="ctr"/>
          <a:lstStyle/>
          <a:p>
            <a:pPr algn="ctr" indent="0" marL="0">
              <a:buNone/>
            </a:pPr>
            <a:r>
              <a:rPr lang="en-US" sz="11000" b="1" dirty="0">
                <a:solidFill>
                  <a:srgbClr val="3DD9EB"/>
                </a:solidFill>
                <a:latin typeface="Calibri" pitchFamily="34" charset="0"/>
                <a:ea typeface="Calibri" pitchFamily="34" charset="-122"/>
                <a:cs typeface="Calibri" pitchFamily="34" charset="-120"/>
              </a:rPr>
              <a:t>Thank you</a:t>
            </a:r>
            <a:endParaRPr lang="en-US" sz="1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FinOps for AI — Harel, CIO briefing</dc:title>
  <dc:subject>PptxGenJS Presentation</dc:subject>
  <dc:creator>Cloud Infrastructure, DevOps &amp; Databases</dc:creator>
  <cp:lastModifiedBy>Cloud Infrastructure, DevOps &amp; Databases</cp:lastModifiedBy>
  <cp:revision>1</cp:revision>
  <dcterms:created xsi:type="dcterms:W3CDTF">2026-09-22T16:58:58Z</dcterms:created>
  <dcterms:modified xsi:type="dcterms:W3CDTF">2026-09-22T16:58:58Z</dcterms:modified>
</cp:coreProperties>
</file>