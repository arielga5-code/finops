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LINE: agree a model policy, so AI spend scales with value
instead of with habit.
This is not about spending less on AI. It is about paying the right price
for each unit of it. Five levers, all available today on platforms we
already run — no new tooling to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THE CONVERSATION IN OUR OWN NUMBERS.
  Billed AI, July      75,439   (26.6% of a 283,554 monthly bill)
  Billed AI, January    8,640   ( 3.7% of a 234,115 monthly bill)
  Jan-Jul total       199,531   growth +773%
By platform in July: Bedrock 25,288, Foundry 19,613, Copilot 19,260,
Copilot Studio 8,920, Vertex AI 2,359.
The point to land: the growth is not the problem. The absence of a price
policy underneath the growth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SLIDE THAT MATTERS MOST.
The 5-15x gap is between tiers for the same task. Choosing the top tier by
default is the most expensive habit in AI, and it is invisible on an
invoice because the line item looks identical.
OUR EXPOSURE
82.1% of AWS AI spend is Opus-class. Bedrock was 25,288 in July. We have
not measured how much of that genuinely needs Opus — that measurement is
the first action, not a blanket downgrade.
On GitHub Copilot the published promotional pricing makes Sonnet 5 the
baseline and Opus about 2.5x; shifting routine work is roughly 60% off the
token cost. That promotional pricing ends 31 Aug 2026 — reassess before,
not after.
IF CHALLENGED: this is not a quality policy, it is a default policy. Any
team can escalate; they just have to show the balanced tier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HAREL INSURANCE · FINOPS FOR AI</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Using AI right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Cost-optimal, compliant use of Bedrock, GitHub Copilot and Azure AI Foundry ·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WHY NOW</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AI is a quarter of the cloud bill</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Jan–Jul 2026 consumption. Billed AI totalled $199,531 over the seven months and grew 773% from January to July.</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$75,439</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billed AI in July 2026  ·  up from $8,640 in January</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26.6% of the cloud bill  ·  was 3.7% in January</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 Bedrock — Claude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$25,288</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 AI Foundry</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$19,613</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B07CFF"/>
                </a:solidFill>
                <a:latin typeface="Calibri" pitchFamily="34" charset="0"/>
                <a:ea typeface="Calibri" pitchFamily="34" charset="-122"/>
                <a:cs typeface="Calibri" pitchFamily="34" charset="-120"/>
              </a:rPr>
              <a:t>GitHub Copilot</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$19,260</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THIS SLIDE IS NOT SAYING</a:t>
            </a:r>
            <a:endParaRPr lang="en-US" sz="1200" dirty="0"/>
          </a:p>
        </p:txBody>
      </p:sp>
      <p:sp>
        <p:nvSpPr>
          <p:cNvPr id="24" name="Shape 22"/>
          <p:cNvSpPr/>
          <p:nvPr/>
        </p:nvSpPr>
        <p:spPr>
          <a:xfrm>
            <a:off x="457200" y="4443984"/>
            <a:ext cx="64008" cy="64008"/>
          </a:xfrm>
          <a:prstGeom prst="rect">
            <a:avLst/>
          </a:prstGeom>
          <a:solidFill>
            <a:srgbClr val="B07CFF"/>
          </a:solidFill>
          <a:ln w="12700">
            <a:solidFill>
              <a:srgbClr val="B07CFF"/>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Not that AI is too expensive — the return is real and the spend is growing for good reasons.</a:t>
            </a:r>
            <a:endParaRPr lang="en-US" sz="1250" dirty="0"/>
          </a:p>
        </p:txBody>
      </p:sp>
      <p:sp>
        <p:nvSpPr>
          <p:cNvPr id="26" name="Shape 24"/>
          <p:cNvSpPr/>
          <p:nvPr/>
        </p:nvSpPr>
        <p:spPr>
          <a:xfrm>
            <a:off x="457200" y="5010912"/>
            <a:ext cx="64008" cy="64008"/>
          </a:xfrm>
          <a:prstGeom prst="rect">
            <a:avLst/>
          </a:prstGeom>
          <a:solidFill>
            <a:srgbClr val="B07CFF"/>
          </a:solidFill>
          <a:ln w="12700">
            <a:solidFill>
              <a:srgbClr val="B07CFF"/>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It is saying the unit price is unmanaged: no tier policy, no caching standard, no batch default.</a:t>
            </a:r>
            <a:endParaRPr lang="en-US" sz="1250" dirty="0"/>
          </a:p>
        </p:txBody>
      </p:sp>
      <p:sp>
        <p:nvSpPr>
          <p:cNvPr id="28" name="Shape 26"/>
          <p:cNvSpPr/>
          <p:nvPr/>
        </p:nvSpPr>
        <p:spPr>
          <a:xfrm>
            <a:off x="457200" y="5577840"/>
            <a:ext cx="64008" cy="64008"/>
          </a:xfrm>
          <a:prstGeom prst="rect">
            <a:avLst/>
          </a:prstGeom>
          <a:solidFill>
            <a:srgbClr val="B07CFF"/>
          </a:solidFill>
          <a:ln w="12700">
            <a:solidFill>
              <a:srgbClr val="B07CFF"/>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Five levers below change what each unit costs, without changing what anyone is allowed to build.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PROGRAMME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Five levers, all available today</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Nothing here needs new tooling. Every one is a setting or a habit on a platform we already run.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Levers 1 and 3 are the largest and the fastest — a tier policy and a caching standard can be in force within a sprint.</a:t>
            </a:r>
            <a:endParaRPr lang="en-US" sz="1200" dirty="0"/>
          </a:p>
        </p:txBody>
      </p:sp>
      <p:sp>
        <p:nvSpPr>
          <p:cNvPr id="8" name="Shape 6"/>
          <p:cNvSpPr/>
          <p:nvPr/>
        </p:nvSpPr>
        <p:spPr>
          <a:xfrm>
            <a:off x="457200" y="1508760"/>
            <a:ext cx="2050633" cy="2743200"/>
          </a:xfrm>
          <a:prstGeom prst="roundRect">
            <a:avLst>
              <a:gd name="adj" fmla="val 2675"/>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Model tier</a:t>
            </a:r>
            <a:endParaRPr lang="en-US" sz="1400" dirty="0"/>
          </a:p>
        </p:txBody>
      </p:sp>
      <p:sp>
        <p:nvSpPr>
          <p:cNvPr id="11" name="Text 9"/>
          <p:cNvSpPr/>
          <p:nvPr/>
        </p:nvSpPr>
        <p:spPr>
          <a:xfrm>
            <a:off x="658368"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Match the model to the task. The price gap between tiers is 5–15×.</a:t>
            </a:r>
            <a:endParaRPr lang="en-US" sz="1200" dirty="0"/>
          </a:p>
        </p:txBody>
      </p:sp>
      <p:sp>
        <p:nvSpPr>
          <p:cNvPr id="12" name="Shape 10"/>
          <p:cNvSpPr/>
          <p:nvPr/>
        </p:nvSpPr>
        <p:spPr>
          <a:xfrm>
            <a:off x="2763865" y="1508760"/>
            <a:ext cx="2050633" cy="2743200"/>
          </a:xfrm>
          <a:prstGeom prst="roundRect">
            <a:avLst>
              <a:gd name="adj" fmla="val 2675"/>
            </a:avLst>
          </a:prstGeom>
          <a:solidFill>
            <a:srgbClr val="121B2D"/>
          </a:solidFill>
          <a:ln w="12700">
            <a:solidFill>
              <a:srgbClr val="23304A"/>
            </a:solidFill>
            <a:prstDash val="solid"/>
          </a:ln>
        </p:spPr>
      </p:sp>
      <p:sp>
        <p:nvSpPr>
          <p:cNvPr id="13" name="Text 11"/>
          <p:cNvSpPr/>
          <p:nvPr/>
        </p:nvSpPr>
        <p:spPr>
          <a:xfrm>
            <a:off x="2965033"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02</a:t>
            </a:r>
            <a:endParaRPr lang="en-US" sz="2100" dirty="0"/>
          </a:p>
        </p:txBody>
      </p:sp>
      <p:sp>
        <p:nvSpPr>
          <p:cNvPr id="14" name="Text 12"/>
          <p:cNvSpPr/>
          <p:nvPr/>
        </p:nvSpPr>
        <p:spPr>
          <a:xfrm>
            <a:off x="2965033"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Region</a:t>
            </a:r>
            <a:endParaRPr lang="en-US" sz="1400" dirty="0"/>
          </a:p>
        </p:txBody>
      </p:sp>
      <p:sp>
        <p:nvSpPr>
          <p:cNvPr id="15" name="Text 13"/>
          <p:cNvSpPr/>
          <p:nvPr/>
        </p:nvSpPr>
        <p:spPr>
          <a:xfrm>
            <a:off x="2965033"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Cheapest region that still meets the compliance requirement of the data.</a:t>
            </a:r>
            <a:endParaRPr lang="en-US" sz="1200" dirty="0"/>
          </a:p>
        </p:txBody>
      </p:sp>
      <p:sp>
        <p:nvSpPr>
          <p:cNvPr id="16" name="Shape 14"/>
          <p:cNvSpPr/>
          <p:nvPr/>
        </p:nvSpPr>
        <p:spPr>
          <a:xfrm>
            <a:off x="5070531" y="1508760"/>
            <a:ext cx="2050633" cy="2743200"/>
          </a:xfrm>
          <a:prstGeom prst="roundRect">
            <a:avLst>
              <a:gd name="adj" fmla="val 2675"/>
            </a:avLst>
          </a:prstGeom>
          <a:solidFill>
            <a:srgbClr val="121B2D"/>
          </a:solidFill>
          <a:ln w="12700">
            <a:solidFill>
              <a:srgbClr val="23304A"/>
            </a:solidFill>
            <a:prstDash val="solid"/>
          </a:ln>
        </p:spPr>
      </p:sp>
      <p:sp>
        <p:nvSpPr>
          <p:cNvPr id="17" name="Text 15"/>
          <p:cNvSpPr/>
          <p:nvPr/>
        </p:nvSpPr>
        <p:spPr>
          <a:xfrm>
            <a:off x="5271699"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03</a:t>
            </a:r>
            <a:endParaRPr lang="en-US" sz="2100" dirty="0"/>
          </a:p>
        </p:txBody>
      </p:sp>
      <p:sp>
        <p:nvSpPr>
          <p:cNvPr id="18" name="Text 16"/>
          <p:cNvSpPr/>
          <p:nvPr/>
        </p:nvSpPr>
        <p:spPr>
          <a:xfrm>
            <a:off x="5271699"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Prompt caching</a:t>
            </a:r>
            <a:endParaRPr lang="en-US" sz="1400" dirty="0"/>
          </a:p>
        </p:txBody>
      </p:sp>
      <p:sp>
        <p:nvSpPr>
          <p:cNvPr id="19" name="Text 17"/>
          <p:cNvSpPr/>
          <p:nvPr/>
        </p:nvSpPr>
        <p:spPr>
          <a:xfrm>
            <a:off x="5271699"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Stop paying twice for the same context. Up to 90% off the repeated part.</a:t>
            </a:r>
            <a:endParaRPr lang="en-US" sz="1200" dirty="0"/>
          </a:p>
        </p:txBody>
      </p:sp>
      <p:sp>
        <p:nvSpPr>
          <p:cNvPr id="20" name="Shape 18"/>
          <p:cNvSpPr/>
          <p:nvPr/>
        </p:nvSpPr>
        <p:spPr>
          <a:xfrm>
            <a:off x="7377196" y="1508760"/>
            <a:ext cx="2050633" cy="2743200"/>
          </a:xfrm>
          <a:prstGeom prst="roundRect">
            <a:avLst>
              <a:gd name="adj" fmla="val 2675"/>
            </a:avLst>
          </a:prstGeom>
          <a:solidFill>
            <a:srgbClr val="121B2D"/>
          </a:solidFill>
          <a:ln w="12700">
            <a:solidFill>
              <a:srgbClr val="23304A"/>
            </a:solidFill>
            <a:prstDash val="solid"/>
          </a:ln>
        </p:spPr>
      </p:sp>
      <p:sp>
        <p:nvSpPr>
          <p:cNvPr id="21" name="Text 19"/>
          <p:cNvSpPr/>
          <p:nvPr/>
        </p:nvSpPr>
        <p:spPr>
          <a:xfrm>
            <a:off x="7578364"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04</a:t>
            </a:r>
            <a:endParaRPr lang="en-US" sz="2100" dirty="0"/>
          </a:p>
        </p:txBody>
      </p:sp>
      <p:sp>
        <p:nvSpPr>
          <p:cNvPr id="22" name="Text 20"/>
          <p:cNvSpPr/>
          <p:nvPr/>
        </p:nvSpPr>
        <p:spPr>
          <a:xfrm>
            <a:off x="7578364"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Batch &amp; commit</a:t>
            </a:r>
            <a:endParaRPr lang="en-US" sz="1400" dirty="0"/>
          </a:p>
        </p:txBody>
      </p:sp>
      <p:sp>
        <p:nvSpPr>
          <p:cNvPr id="23" name="Text 21"/>
          <p:cNvSpPr/>
          <p:nvPr/>
        </p:nvSpPr>
        <p:spPr>
          <a:xfrm>
            <a:off x="7578364"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Batch is about 50% cheaper. Commit steady volume to reserved capacity.</a:t>
            </a:r>
            <a:endParaRPr lang="en-US" sz="1200" dirty="0"/>
          </a:p>
        </p:txBody>
      </p:sp>
      <p:sp>
        <p:nvSpPr>
          <p:cNvPr id="24" name="Shape 22"/>
          <p:cNvSpPr/>
          <p:nvPr/>
        </p:nvSpPr>
        <p:spPr>
          <a:xfrm>
            <a:off x="9683862" y="1508760"/>
            <a:ext cx="2050633" cy="2743200"/>
          </a:xfrm>
          <a:prstGeom prst="roundRect">
            <a:avLst>
              <a:gd name="adj" fmla="val 2675"/>
            </a:avLst>
          </a:prstGeom>
          <a:solidFill>
            <a:srgbClr val="121B2D"/>
          </a:solidFill>
          <a:ln w="12700">
            <a:solidFill>
              <a:srgbClr val="23304A"/>
            </a:solidFill>
            <a:prstDash val="solid"/>
          </a:ln>
        </p:spPr>
      </p:sp>
      <p:sp>
        <p:nvSpPr>
          <p:cNvPr id="25" name="Text 23"/>
          <p:cNvSpPr/>
          <p:nvPr/>
        </p:nvSpPr>
        <p:spPr>
          <a:xfrm>
            <a:off x="9885030"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05</a:t>
            </a:r>
            <a:endParaRPr lang="en-US" sz="2100" dirty="0"/>
          </a:p>
        </p:txBody>
      </p:sp>
      <p:sp>
        <p:nvSpPr>
          <p:cNvPr id="26" name="Text 24"/>
          <p:cNvSpPr/>
          <p:nvPr/>
        </p:nvSpPr>
        <p:spPr>
          <a:xfrm>
            <a:off x="9885030"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Platform wins</a:t>
            </a:r>
            <a:endParaRPr lang="en-US" sz="1400" dirty="0"/>
          </a:p>
        </p:txBody>
      </p:sp>
      <p:sp>
        <p:nvSpPr>
          <p:cNvPr id="27" name="Text 25"/>
          <p:cNvSpPr/>
          <p:nvPr/>
        </p:nvSpPr>
        <p:spPr>
          <a:xfrm>
            <a:off x="9885030"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high-impact move each on Bedrock, Copilot and Foundry.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LEVER 1 · THE BIGGEST DRIVER</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Match the model to the task</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single largest determinant of AI unit cost. Escalate on measured need, never by default.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start on the balanced tier, escalate only when quality measurably fails a real test — never 'just in case'. Today 82% of our AWS AI spend is Opus-class, which is the clearest single opportunity in this deck.</a:t>
            </a:r>
            <a:endParaRPr lang="en-US" sz="1200" dirty="0"/>
          </a:p>
        </p:txBody>
      </p:sp>
      <p:sp>
        <p:nvSpPr>
          <p:cNvPr id="8" name="Text 6"/>
          <p:cNvSpPr/>
          <p:nvPr/>
        </p:nvSpPr>
        <p:spPr>
          <a:xfrm>
            <a:off x="457200" y="1234440"/>
            <a:ext cx="7955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three tiers</a:t>
            </a:r>
            <a:endParaRPr lang="en-US" sz="1500" dirty="0"/>
          </a:p>
        </p:txBody>
      </p:sp>
      <p:sp>
        <p:nvSpPr>
          <p:cNvPr id="9" name="Text 7"/>
          <p:cNvSpPr/>
          <p:nvPr/>
        </p:nvSpPr>
        <p:spPr>
          <a:xfrm>
            <a:off x="457200" y="1508760"/>
            <a:ext cx="7955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Start at balanced. Move up only when quality measurably fails a real test.</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955280" cy="914400"/>
        </p:xfrm>
        <a:graphic>
          <a:graphicData uri="http://schemas.openxmlformats.org/drawingml/2006/table">
            <a:tbl>
              <a:tblPr/>
              <a:tblGrid>
                <a:gridCol w="2011680"/>
                <a:gridCol w="3200400"/>
                <a:gridCol w="274320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Light /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High volume, simple: classification, extraction, routing,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Haiku · GPT-4o-mini · small Foundry and open 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Balanced —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Most production work: chat, drafting, document processing, standard coding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Sonnet · GPT-4o · GitHub Copilot base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Top — deliberate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Hard reasoning only: complex underwriting logic, difficult code, deep analysis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Opus · OpenAI o-series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1" name="Shape 8"/>
          <p:cNvSpPr/>
          <p:nvPr/>
        </p:nvSpPr>
        <p:spPr>
          <a:xfrm>
            <a:off x="8778240" y="1234440"/>
            <a:ext cx="295625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979408" y="1325880"/>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GAP BETWEEN TIERS</a:t>
            </a:r>
            <a:endParaRPr lang="en-US" sz="1200" dirty="0"/>
          </a:p>
        </p:txBody>
      </p:sp>
      <p:sp>
        <p:nvSpPr>
          <p:cNvPr id="13" name="Text 10"/>
          <p:cNvSpPr/>
          <p:nvPr/>
        </p:nvSpPr>
        <p:spPr>
          <a:xfrm>
            <a:off x="8979408" y="1527048"/>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5–15×</a:t>
            </a:r>
            <a:endParaRPr lang="en-US" sz="2800" dirty="0"/>
          </a:p>
        </p:txBody>
      </p:sp>
      <p:sp>
        <p:nvSpPr>
          <p:cNvPr id="14" name="Text 11"/>
          <p:cNvSpPr/>
          <p:nvPr/>
        </p:nvSpPr>
        <p:spPr>
          <a:xfrm>
            <a:off x="8979408" y="1929384"/>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same task, different tier</a:t>
            </a:r>
            <a:endParaRPr lang="en-US" sz="1200" dirty="0"/>
          </a:p>
        </p:txBody>
      </p:sp>
      <p:sp>
        <p:nvSpPr>
          <p:cNvPr id="15" name="Shape 12"/>
          <p:cNvSpPr/>
          <p:nvPr/>
        </p:nvSpPr>
        <p:spPr>
          <a:xfrm>
            <a:off x="8778240" y="2459736"/>
            <a:ext cx="295625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979408" y="2551176"/>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OUR BEDROCK SPEND</a:t>
            </a:r>
            <a:endParaRPr lang="en-US" sz="1200" dirty="0"/>
          </a:p>
        </p:txBody>
      </p:sp>
      <p:sp>
        <p:nvSpPr>
          <p:cNvPr id="17" name="Text 14"/>
          <p:cNvSpPr/>
          <p:nvPr/>
        </p:nvSpPr>
        <p:spPr>
          <a:xfrm>
            <a:off x="8979408" y="2752344"/>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a:t>
            </a:r>
            <a:endParaRPr lang="en-US" sz="2800" dirty="0"/>
          </a:p>
        </p:txBody>
      </p:sp>
      <p:sp>
        <p:nvSpPr>
          <p:cNvPr id="18" name="Text 15"/>
          <p:cNvSpPr/>
          <p:nvPr/>
        </p:nvSpPr>
        <p:spPr>
          <a:xfrm>
            <a:off x="8979408" y="3154680"/>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is Opus-class today</a:t>
            </a:r>
            <a:endParaRPr lang="en-US" sz="1200" dirty="0"/>
          </a:p>
        </p:txBody>
      </p:sp>
      <p:sp>
        <p:nvSpPr>
          <p:cNvPr id="19" name="Shape 16"/>
          <p:cNvSpPr/>
          <p:nvPr/>
        </p:nvSpPr>
        <p:spPr>
          <a:xfrm>
            <a:off x="8778240" y="3685032"/>
            <a:ext cx="295625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979408" y="3776472"/>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OPUS → SONNET</a:t>
            </a:r>
            <a:endParaRPr lang="en-US" sz="1200" dirty="0"/>
          </a:p>
        </p:txBody>
      </p:sp>
      <p:sp>
        <p:nvSpPr>
          <p:cNvPr id="21" name="Text 18"/>
          <p:cNvSpPr/>
          <p:nvPr/>
        </p:nvSpPr>
        <p:spPr>
          <a:xfrm>
            <a:off x="8979408" y="3977640"/>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22" name="Text 19"/>
          <p:cNvSpPr/>
          <p:nvPr/>
        </p:nvSpPr>
        <p:spPr>
          <a:xfrm>
            <a:off x="8979408" y="4379976"/>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lower token cost, routine work</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LEVER 2 · REGION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Cheapest region that still complies</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For an insurer this is a compliance decision first and a cost decision second.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Harel rule: regulated data never leaves an approved region — even for a discount. Everything else takes the cheapest compliant route. This is the one lever where the answer is not always 'the cheaper option'.</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Two ways to route a request</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377440"/>
                <a:gridCol w="310896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Routing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Use it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Global / cross-region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cross-region profile · Azure Global Standard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Non-sensitive, high-volume work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Specific / in-region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regional endpoint · Azure Data Zone or Regional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for policyholder, PII and regulated data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GLOBAL ROUTING</a:t>
            </a:r>
            <a:endParaRPr lang="en-US" sz="1200"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Cheapest</a:t>
            </a:r>
            <a:endParaRPr lang="en-US" sz="2800" dirty="0"/>
          </a:p>
        </p:txBody>
      </p:sp>
      <p:sp>
        <p:nvSpPr>
          <p:cNvPr id="13" name="Text 10"/>
          <p:cNvSpPr/>
          <p:nvPr/>
        </p:nvSpPr>
        <p:spPr>
          <a:xfrm>
            <a:off x="9619488" y="1929384"/>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token, best throughput</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023" b="1" spc="120" kern="0" dirty="0">
                <a:solidFill>
                  <a:srgbClr val="91A0B7"/>
                </a:solidFill>
                <a:latin typeface="Calibri" pitchFamily="34" charset="0"/>
                <a:ea typeface="Calibri" pitchFamily="34" charset="-122"/>
                <a:cs typeface="Calibri" pitchFamily="34" charset="-120"/>
              </a:rPr>
              <a:t>BUT IT MAY PROCESS</a:t>
            </a:r>
            <a:endParaRPr lang="en-US" sz="1023"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Outside</a:t>
            </a:r>
            <a:endParaRPr lang="en-US" sz="2800" dirty="0"/>
          </a:p>
        </p:txBody>
      </p:sp>
      <p:sp>
        <p:nvSpPr>
          <p:cNvPr id="17" name="Text 14"/>
          <p:cNvSpPr/>
          <p:nvPr/>
        </p:nvSpPr>
        <p:spPr>
          <a:xfrm>
            <a:off x="9619488" y="3154680"/>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the chosen region</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083" b="1" spc="120" kern="0" dirty="0">
                <a:solidFill>
                  <a:srgbClr val="91A0B7"/>
                </a:solidFill>
                <a:latin typeface="Calibri" pitchFamily="34" charset="0"/>
                <a:ea typeface="Calibri" pitchFamily="34" charset="-122"/>
                <a:cs typeface="Calibri" pitchFamily="34" charset="-120"/>
              </a:rPr>
              <a:t>IN-REGION PREMIUM</a:t>
            </a:r>
            <a:endParaRPr lang="en-US" sz="1083"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a:t>
            </a:r>
            <a:endParaRPr lang="en-US" sz="2800" dirty="0"/>
          </a:p>
        </p:txBody>
      </p:sp>
      <p:sp>
        <p:nvSpPr>
          <p:cNvPr id="21" name="Text 18"/>
          <p:cNvSpPr/>
          <p:nvPr/>
        </p:nvSpPr>
        <p:spPr>
          <a:xfrm>
            <a:off x="9619488" y="4379976"/>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for compliance certainty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LEVER 3 · PROMPT CACHING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Stop paying twice for the same context</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Supported natively by both Bedrock and Azure AI Foundry.</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TO CACHE</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Stable context</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system prompts, policies, forms, code</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BEST FIT</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Assistants</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document Q&amp;A, agentic workflows</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EFFORT</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Configuration</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 new platform, no new licence</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3DDC97"/>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3DDC97"/>
                </a:solidFill>
                <a:latin typeface="Calibri" pitchFamily="34" charset="0"/>
                <a:ea typeface="Calibri" pitchFamily="34" charset="-122"/>
                <a:cs typeface="Calibri" pitchFamily="34" charset="-120"/>
              </a:rPr>
              <a:t>~90%</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lower cost on the cached, repeated portion of the input. Large stable context — system prompts, policy documents, knowledge bases — is re-sent and re-charged on every single call unless it is cached.</a:t>
            </a:r>
            <a:endParaRPr lang="en-US" sz="1550" dirty="0"/>
          </a:p>
        </p:txBody>
      </p:sp>
      <p:sp>
        <p:nvSpPr>
          <p:cNvPr id="22" name="Shape 20"/>
          <p:cNvSpPr/>
          <p:nvPr/>
        </p:nvSpPr>
        <p:spPr>
          <a:xfrm>
            <a:off x="457200" y="4517136"/>
            <a:ext cx="64008" cy="64008"/>
          </a:xfrm>
          <a:prstGeom prst="rect">
            <a:avLst/>
          </a:prstGeom>
          <a:solidFill>
            <a:srgbClr val="3DDC97"/>
          </a:solidFill>
          <a:ln w="12700">
            <a:solidFill>
              <a:srgbClr val="3DDC97"/>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Cache system and instruction prompts, policy documents, forms, knowledge bases, long code references, and few-shot examples reused on every request.</a:t>
            </a:r>
            <a:endParaRPr lang="en-US" sz="1250" dirty="0"/>
          </a:p>
        </p:txBody>
      </p:sp>
      <p:sp>
        <p:nvSpPr>
          <p:cNvPr id="24" name="Shape 22"/>
          <p:cNvSpPr/>
          <p:nvPr/>
        </p:nvSpPr>
        <p:spPr>
          <a:xfrm>
            <a:off x="457200" y="5084064"/>
            <a:ext cx="64008" cy="64008"/>
          </a:xfrm>
          <a:prstGeom prst="rect">
            <a:avLst/>
          </a:prstGeom>
          <a:solidFill>
            <a:srgbClr val="3DDC97"/>
          </a:solidFill>
          <a:ln w="12700">
            <a:solidFill>
              <a:srgbClr val="3DDC97"/>
            </a:solidFill>
            <a:prstDash val="solid"/>
          </a:ln>
        </p:spPr>
      </p:sp>
      <p:sp>
        <p:nvSpPr>
          <p:cNvPr id="25" name="Text 23"/>
          <p:cNvSpPr/>
          <p:nvPr/>
        </p:nvSpPr>
        <p:spPr>
          <a:xfrm>
            <a:off x="630936" y="5001768"/>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saving lands hardest exactly where our spend is growing fastest — internal assistants and document processing.</a:t>
            </a:r>
            <a:endParaRPr lang="en-US" sz="1250" dirty="0"/>
          </a:p>
        </p:txBody>
      </p:sp>
      <p:sp>
        <p:nvSpPr>
          <p:cNvPr id="26" name="Shape 24"/>
          <p:cNvSpPr/>
          <p:nvPr/>
        </p:nvSpPr>
        <p:spPr>
          <a:xfrm>
            <a:off x="457200" y="5431536"/>
            <a:ext cx="64008" cy="64008"/>
          </a:xfrm>
          <a:prstGeom prst="rect">
            <a:avLst/>
          </a:prstGeom>
          <a:solidFill>
            <a:srgbClr val="3DDC97"/>
          </a:solidFill>
          <a:ln w="12700">
            <a:solidFill>
              <a:srgbClr val="3DDC97"/>
            </a:solidFill>
            <a:prstDash val="solid"/>
          </a:ln>
        </p:spPr>
      </p:sp>
      <p:sp>
        <p:nvSpPr>
          <p:cNvPr id="27" name="Text 25"/>
          <p:cNvSpPr/>
          <p:nvPr/>
        </p:nvSpPr>
        <p:spPr>
          <a:xfrm>
            <a:off x="630936" y="5349240"/>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Fastest lever to implement: it is a change to how a request is composed, not to what the workload does.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LEVER 4 · CONSUMPTION MODEL</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Batch it, or commit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different answers to the same question: does this work need to happen in seconds?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if it isn't needed right now, send it to the batch API. Then review quarterly and move anything that has settled into steady production onto committed capacity — the same discipline that already saved $132,118 a year on cloud reservations.</a:t>
            </a:r>
            <a:endParaRPr lang="en-US" sz="1200" dirty="0"/>
          </a:p>
        </p:txBody>
      </p:sp>
      <p:sp>
        <p:nvSpPr>
          <p:cNvPr id="8" name="Text 6"/>
          <p:cNvSpPr/>
          <p:nvPr/>
        </p:nvSpPr>
        <p:spPr>
          <a:xfrm>
            <a:off x="457200" y="1234440"/>
            <a:ext cx="84124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How to buy the capacity</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412480" cy="914400"/>
        </p:xfrm>
        <a:graphic>
          <a:graphicData uri="http://schemas.openxmlformats.org/drawingml/2006/table">
            <a:tbl>
              <a:tblPr/>
              <a:tblGrid>
                <a:gridCol w="2011680"/>
                <a:gridCol w="1645920"/>
                <a:gridCol w="4754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When it applies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 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Anything not needed in seconds: overnight document processing, bulk classification, report generation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Commit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9EB"/>
                          </a:solidFill>
                          <a:latin typeface="Calibri" pitchFamily="34" charset="0"/>
                          <a:ea typeface="Calibri" pitchFamily="34" charset="-122"/>
                          <a:cs typeface="Calibri" pitchFamily="34" charset="-120"/>
                        </a:rPr>
                        <a:t>Lower 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Steady, high-volume production → Bedrock Provisioned Throughput or Azure PTU. Variable and experimental stays 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235440" y="1234440"/>
            <a:ext cx="2499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436608" y="1325880"/>
            <a:ext cx="2096719" cy="237744"/>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BATCH VERSUS REAL-TIME</a:t>
            </a:r>
            <a:endParaRPr lang="en-US" sz="1000" dirty="0"/>
          </a:p>
        </p:txBody>
      </p:sp>
      <p:sp>
        <p:nvSpPr>
          <p:cNvPr id="12" name="Text 9"/>
          <p:cNvSpPr/>
          <p:nvPr/>
        </p:nvSpPr>
        <p:spPr>
          <a:xfrm>
            <a:off x="9436608" y="1527048"/>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 50%</a:t>
            </a:r>
            <a:endParaRPr lang="en-US" sz="2800" dirty="0"/>
          </a:p>
        </p:txBody>
      </p:sp>
      <p:sp>
        <p:nvSpPr>
          <p:cNvPr id="13" name="Text 10"/>
          <p:cNvSpPr/>
          <p:nvPr/>
        </p:nvSpPr>
        <p:spPr>
          <a:xfrm>
            <a:off x="9436608" y="1929384"/>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cheaper for the same work</a:t>
            </a:r>
            <a:endParaRPr lang="en-US" sz="1200" dirty="0"/>
          </a:p>
        </p:txBody>
      </p:sp>
      <p:sp>
        <p:nvSpPr>
          <p:cNvPr id="14" name="Shape 11"/>
          <p:cNvSpPr/>
          <p:nvPr/>
        </p:nvSpPr>
        <p:spPr>
          <a:xfrm>
            <a:off x="9235440" y="2459736"/>
            <a:ext cx="2499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436608" y="2551176"/>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 GIVES</a:t>
            </a:r>
            <a:endParaRPr lang="en-US" sz="1200" dirty="0"/>
          </a:p>
        </p:txBody>
      </p:sp>
      <p:sp>
        <p:nvSpPr>
          <p:cNvPr id="16" name="Text 13"/>
          <p:cNvSpPr/>
          <p:nvPr/>
        </p:nvSpPr>
        <p:spPr>
          <a:xfrm>
            <a:off x="9436608" y="2752344"/>
            <a:ext cx="2096719" cy="438912"/>
          </a:xfrm>
          <a:prstGeom prst="rect">
            <a:avLst/>
          </a:prstGeom>
          <a:noFill/>
          <a:ln/>
        </p:spPr>
        <p:txBody>
          <a:bodyPr wrap="square" lIns="0" tIns="0" rIns="0" bIns="0" rtlCol="0" anchor="ctr"/>
          <a:lstStyle/>
          <a:p>
            <a:pPr indent="0" marL="0">
              <a:buNone/>
            </a:pPr>
            <a:r>
              <a:rPr lang="en-US" sz="2460" b="1" dirty="0">
                <a:solidFill>
                  <a:srgbClr val="F4F7FB"/>
                </a:solidFill>
                <a:latin typeface="Calibri" pitchFamily="34" charset="0"/>
                <a:ea typeface="Calibri" pitchFamily="34" charset="-122"/>
                <a:cs typeface="Calibri" pitchFamily="34" charset="-120"/>
              </a:rPr>
              <a:t>Predictable</a:t>
            </a:r>
            <a:endParaRPr lang="en-US" sz="2460" dirty="0"/>
          </a:p>
        </p:txBody>
      </p:sp>
      <p:sp>
        <p:nvSpPr>
          <p:cNvPr id="17" name="Text 14"/>
          <p:cNvSpPr/>
          <p:nvPr/>
        </p:nvSpPr>
        <p:spPr>
          <a:xfrm>
            <a:off x="9436608" y="3154680"/>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capacity, at a lower rate</a:t>
            </a:r>
            <a:endParaRPr lang="en-US" sz="1200" dirty="0"/>
          </a:p>
        </p:txBody>
      </p:sp>
      <p:sp>
        <p:nvSpPr>
          <p:cNvPr id="18" name="Shape 15"/>
          <p:cNvSpPr/>
          <p:nvPr/>
        </p:nvSpPr>
        <p:spPr>
          <a:xfrm>
            <a:off x="9235440" y="3685032"/>
            <a:ext cx="2499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436608" y="3776472"/>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REVIEW CADENCE</a:t>
            </a:r>
            <a:endParaRPr lang="en-US" sz="1200" dirty="0"/>
          </a:p>
        </p:txBody>
      </p:sp>
      <p:sp>
        <p:nvSpPr>
          <p:cNvPr id="20" name="Text 17"/>
          <p:cNvSpPr/>
          <p:nvPr/>
        </p:nvSpPr>
        <p:spPr>
          <a:xfrm>
            <a:off x="9436608" y="3977640"/>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Quarterly</a:t>
            </a:r>
            <a:endParaRPr lang="en-US" sz="2800" dirty="0"/>
          </a:p>
        </p:txBody>
      </p:sp>
      <p:sp>
        <p:nvSpPr>
          <p:cNvPr id="21" name="Text 18"/>
          <p:cNvSpPr/>
          <p:nvPr/>
        </p:nvSpPr>
        <p:spPr>
          <a:xfrm>
            <a:off x="9436608" y="4379976"/>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promote matured, steady workloads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LEVER 5 · QUICK WINS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One high-impact move per platform</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Three platforms, three different failure modes, three different fixes.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Copilot is a licence problem, Bedrock is an attribution problem, Foundry is a model-choice problem. Each needs a different owner and a different monthly routine.</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Per platform</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194560"/>
                <a:gridCol w="329184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The move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Also worth doing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9F43"/>
                          </a:solidFill>
                          <a:latin typeface="Calibri" pitchFamily="34" charset="0"/>
                          <a:ea typeface="Calibri" pitchFamily="34" charset="-122"/>
                          <a:cs typeface="Calibri" pitchFamily="34" charset="-120"/>
                        </a:rPr>
                        <a:t>Amazon Bedrock</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Tag every workload with team and use case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Per-team budget alerts on token spend · Guardrails to block off-scope 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B07CFF"/>
                          </a:solidFill>
                          <a:latin typeface="Calibri" pitchFamily="34" charset="0"/>
                          <a:ea typeface="Calibri" pitchFamily="34" charset="-122"/>
                          <a:cs typeface="Calibri" pitchFamily="34" charset="-120"/>
                        </a:rPr>
                        <a:t>GitHub Copilot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Reclaim idle seats monthly — it is a per-seat licence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Measure acceptance rate, not seat count · Steer routine work to the included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Azure AI Foundry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Choose by cost-per-capability, not by brand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Smaller and open models cover most cases · Batch deployments for bulk jobs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151" b="1" spc="120" kern="0" dirty="0">
                <a:solidFill>
                  <a:srgbClr val="91A0B7"/>
                </a:solidFill>
                <a:latin typeface="Calibri" pitchFamily="34" charset="0"/>
                <a:ea typeface="Calibri" pitchFamily="34" charset="-122"/>
                <a:cs typeface="Calibri" pitchFamily="34" charset="-120"/>
              </a:rPr>
              <a:t>COPILOT, JAN–JUL</a:t>
            </a:r>
            <a:endParaRPr lang="en-US" sz="1151"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3" name="Text 10"/>
          <p:cNvSpPr/>
          <p:nvPr/>
        </p:nvSpPr>
        <p:spPr>
          <a:xfrm>
            <a:off x="9619488" y="1929384"/>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+593% — seats worth auditing</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BEDROCK, JULY</a:t>
            </a:r>
            <a:endParaRPr lang="en-US" sz="1200"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$25,288</a:t>
            </a:r>
            <a:endParaRPr lang="en-US" sz="2800" dirty="0"/>
          </a:p>
        </p:txBody>
      </p:sp>
      <p:sp>
        <p:nvSpPr>
          <p:cNvPr id="17" name="Text 14"/>
          <p:cNvSpPr/>
          <p:nvPr/>
        </p:nvSpPr>
        <p:spPr>
          <a:xfrm>
            <a:off x="9619488" y="3154680"/>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untagged by use case today</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JULY</a:t>
            </a:r>
            <a:endParaRPr lang="en-US" sz="1200"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$19,613</a:t>
            </a:r>
            <a:endParaRPr lang="en-US" sz="2800" dirty="0"/>
          </a:p>
        </p:txBody>
      </p:sp>
      <p:sp>
        <p:nvSpPr>
          <p:cNvPr id="21" name="Text 18"/>
          <p:cNvSpPr/>
          <p:nvPr/>
        </p:nvSpPr>
        <p:spPr>
          <a:xfrm>
            <a:off x="9619488" y="4379976"/>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model choice not yet governed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THE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How teams use AI at Harel</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page. This is the artefact we are asking to adopt.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restricts what a team may build. It sets the default price of building it, and makes the exception a decision someone owns.</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Default to the balanced model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Escalate to top models only on measured need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Cache stable, repeated context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every non-urgent job</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Pick the compliant region at lowest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Reclaim idle Copilot seats monthly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Tag and budget every workload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03504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Reach for the top model by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Send regulated data to global endpoints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Re-send the same context on every call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Run real-time when batch would 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Leave Copilot seats idle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Ship untagged, un-budgeted workloads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Trust one model choice forever — re-review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need from this meeting</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Six decisions. Each needs a named owner.</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3DD9EB"/>
            </a:solidFill>
            <a:prstDash val="solid"/>
          </a:ln>
        </p:spPr>
      </p:sp>
      <p:sp>
        <p:nvSpPr>
          <p:cNvPr id="8" name="Text 6"/>
          <p:cNvSpPr/>
          <p:nvPr/>
        </p:nvSpPr>
        <p:spPr>
          <a:xfrm>
            <a:off x="457200" y="1536192"/>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Adopt the one-page policy</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As the default for every team building on AI.</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3DD9EB"/>
            </a:solidFill>
            <a:prstDash val="solid"/>
          </a:ln>
        </p:spPr>
      </p:sp>
      <p:sp>
        <p:nvSpPr>
          <p:cNvPr id="12" name="Text 10"/>
          <p:cNvSpPr/>
          <p:nvPr/>
        </p:nvSpPr>
        <p:spPr>
          <a:xfrm>
            <a:off x="457200" y="2194560"/>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Set the tier default</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Balanced tier standard; top tier by exception, with evidence.</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3DD9EB"/>
            </a:solidFill>
            <a:prstDash val="solid"/>
          </a:ln>
        </p:spPr>
      </p:sp>
      <p:sp>
        <p:nvSpPr>
          <p:cNvPr id="16" name="Text 14"/>
          <p:cNvSpPr/>
          <p:nvPr/>
        </p:nvSpPr>
        <p:spPr>
          <a:xfrm>
            <a:off x="457200" y="2852928"/>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Mandate caching</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Stable context cached on assistants and document workloads.</a:t>
            </a:r>
            <a:endParaRPr lang="en-US" sz="1200" dirty="0"/>
          </a:p>
        </p:txBody>
      </p:sp>
      <p:sp>
        <p:nvSpPr>
          <p:cNvPr id="19" name="Shape 17"/>
          <p:cNvSpPr/>
          <p:nvPr/>
        </p:nvSpPr>
        <p:spPr>
          <a:xfrm>
            <a:off x="6278728" y="1536192"/>
            <a:ext cx="329184" cy="329184"/>
          </a:xfrm>
          <a:prstGeom prst="ellipse">
            <a:avLst/>
          </a:prstGeom>
          <a:solidFill>
            <a:srgbClr val="121B2D"/>
          </a:solidFill>
          <a:ln w="12700">
            <a:solidFill>
              <a:srgbClr val="3DD9EB"/>
            </a:solidFill>
            <a:prstDash val="solid"/>
          </a:ln>
        </p:spPr>
      </p:sp>
      <p:sp>
        <p:nvSpPr>
          <p:cNvPr id="20" name="Text 18"/>
          <p:cNvSpPr/>
          <p:nvPr/>
        </p:nvSpPr>
        <p:spPr>
          <a:xfrm>
            <a:off x="6278728" y="1536192"/>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6735928"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Batch by default</a:t>
            </a:r>
            <a:endParaRPr lang="en-US" sz="1400" dirty="0"/>
          </a:p>
        </p:txBody>
      </p:sp>
      <p:sp>
        <p:nvSpPr>
          <p:cNvPr id="22" name="Text 20"/>
          <p:cNvSpPr/>
          <p:nvPr/>
        </p:nvSpPr>
        <p:spPr>
          <a:xfrm>
            <a:off x="6735928"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Anything not needed in seconds goes to the batch API.</a:t>
            </a:r>
            <a:endParaRPr lang="en-US" sz="1200" dirty="0"/>
          </a:p>
        </p:txBody>
      </p:sp>
      <p:sp>
        <p:nvSpPr>
          <p:cNvPr id="23" name="Shape 21"/>
          <p:cNvSpPr/>
          <p:nvPr/>
        </p:nvSpPr>
        <p:spPr>
          <a:xfrm>
            <a:off x="6278728" y="2194560"/>
            <a:ext cx="329184" cy="329184"/>
          </a:xfrm>
          <a:prstGeom prst="ellipse">
            <a:avLst/>
          </a:prstGeom>
          <a:solidFill>
            <a:srgbClr val="121B2D"/>
          </a:solidFill>
          <a:ln w="12700">
            <a:solidFill>
              <a:srgbClr val="3DD9EB"/>
            </a:solidFill>
            <a:prstDash val="solid"/>
          </a:ln>
        </p:spPr>
      </p:sp>
      <p:sp>
        <p:nvSpPr>
          <p:cNvPr id="24" name="Text 22"/>
          <p:cNvSpPr/>
          <p:nvPr/>
        </p:nvSpPr>
        <p:spPr>
          <a:xfrm>
            <a:off x="6278728" y="2194560"/>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Monthly Copilot review</a:t>
            </a:r>
            <a:endParaRPr lang="en-US" sz="1400" dirty="0"/>
          </a:p>
        </p:txBody>
      </p:sp>
      <p:sp>
        <p:nvSpPr>
          <p:cNvPr id="26" name="Text 24"/>
          <p:cNvSpPr/>
          <p:nvPr/>
        </p:nvSpPr>
        <p:spPr>
          <a:xfrm>
            <a:off x="6735928"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Reclaim idle seats; report acceptance rate, not seat count.</a:t>
            </a:r>
            <a:endParaRPr lang="en-US" sz="1200" dirty="0"/>
          </a:p>
        </p:txBody>
      </p:sp>
      <p:sp>
        <p:nvSpPr>
          <p:cNvPr id="27" name="Shape 25"/>
          <p:cNvSpPr/>
          <p:nvPr/>
        </p:nvSpPr>
        <p:spPr>
          <a:xfrm>
            <a:off x="6278728" y="2852928"/>
            <a:ext cx="329184" cy="329184"/>
          </a:xfrm>
          <a:prstGeom prst="ellipse">
            <a:avLst/>
          </a:prstGeom>
          <a:solidFill>
            <a:srgbClr val="121B2D"/>
          </a:solidFill>
          <a:ln w="12700">
            <a:solidFill>
              <a:srgbClr val="3DD9EB"/>
            </a:solidFill>
            <a:prstDash val="solid"/>
          </a:ln>
        </p:spPr>
      </p:sp>
      <p:sp>
        <p:nvSpPr>
          <p:cNvPr id="28" name="Text 26"/>
          <p:cNvSpPr/>
          <p:nvPr/>
        </p:nvSpPr>
        <p:spPr>
          <a:xfrm>
            <a:off x="6278728" y="2852928"/>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Name an owner per platform</a:t>
            </a:r>
            <a:endParaRPr lang="en-US" sz="1400" dirty="0"/>
          </a:p>
        </p:txBody>
      </p:sp>
      <p:sp>
        <p:nvSpPr>
          <p:cNvPr id="30" name="Text 28"/>
          <p:cNvSpPr/>
          <p:nvPr/>
        </p:nvSpPr>
        <p:spPr>
          <a:xfrm>
            <a:off x="6735928"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Bedrock, Copilot and Foundry each need one.</a:t>
            </a:r>
            <a:endParaRPr lang="en-US" sz="1200" dirty="0"/>
          </a:p>
        </p:txBody>
      </p:sp>
      <p:sp>
        <p:nvSpPr>
          <p:cNvPr id="31" name="Shape 29"/>
          <p:cNvSpPr/>
          <p:nvPr/>
        </p:nvSpPr>
        <p:spPr>
          <a:xfrm>
            <a:off x="457200" y="3621024"/>
            <a:ext cx="11277295" cy="914400"/>
          </a:xfrm>
          <a:prstGeom prst="roundRect">
            <a:avLst>
              <a:gd name="adj" fmla="val 6000"/>
            </a:avLst>
          </a:prstGeom>
          <a:solidFill>
            <a:srgbClr val="121B2D"/>
          </a:solidFill>
          <a:ln w="12700">
            <a:solidFill>
              <a:srgbClr val="3DD9EB"/>
            </a:solidFill>
            <a:prstDash val="solid"/>
          </a:ln>
        </p:spPr>
      </p:sp>
      <p:sp>
        <p:nvSpPr>
          <p:cNvPr id="32" name="Text 30"/>
          <p:cNvSpPr/>
          <p:nvPr/>
        </p:nvSpPr>
        <p:spPr>
          <a:xfrm>
            <a:off x="685800" y="3749040"/>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Reassess before 31 August 2026</a:t>
            </a:r>
            <a:endParaRPr lang="en-US" sz="1600" dirty="0"/>
          </a:p>
        </p:txBody>
      </p:sp>
      <p:sp>
        <p:nvSpPr>
          <p:cNvPr id="33" name="Text 31"/>
          <p:cNvSpPr/>
          <p:nvPr/>
        </p:nvSpPr>
        <p:spPr>
          <a:xfrm>
            <a:off x="685800" y="4041648"/>
            <a:ext cx="10820095" cy="402336"/>
          </a:xfrm>
          <a:prstGeom prst="rect">
            <a:avLst/>
          </a:prstGeom>
          <a:noFill/>
          <a:ln/>
        </p:spPr>
        <p:txBody>
          <a:bodyPr wrap="square" lIns="0" tIns="0" rIns="0" bIns="0" rtlCol="0" anchor="t"/>
          <a:lstStyle/>
          <a:p>
            <a:pPr indent="0" marL="0">
              <a:lnSpc>
                <a:spcPct val="115000"/>
              </a:lnSpc>
              <a:buNone/>
            </a:pPr>
            <a:r>
              <a:rPr lang="en-US" sz="1250" dirty="0">
                <a:solidFill>
                  <a:srgbClr val="91A0B7"/>
                </a:solidFill>
                <a:latin typeface="Calibri" pitchFamily="34" charset="0"/>
                <a:ea typeface="Calibri" pitchFamily="34" charset="-122"/>
                <a:cs typeface="Calibri" pitchFamily="34" charset="-120"/>
              </a:rPr>
              <a:t>GitHub Copilot's promotional model pricing ends on that date. The tier decision should be taken and measured before it changes, not after the first invoice that reflects it.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for AI — Harel, CIO briefing</dc:title>
  <dc:subject>PptxGenJS Presentation</dc:subject>
  <dc:creator>Cloud Infrastructure, DevOps &amp; Databases</dc:creator>
  <cp:lastModifiedBy>Cloud Infrastructure, DevOps &amp; Databases</cp:lastModifiedBy>
  <cp:revision>1</cp:revision>
  <dcterms:created xsi:type="dcterms:W3CDTF">2026-08-17T20:00:53Z</dcterms:created>
  <dcterms:modified xsi:type="dcterms:W3CDTF">2026-08-17T20:00:53Z</dcterms:modified>
</cp:coreProperties>
</file>