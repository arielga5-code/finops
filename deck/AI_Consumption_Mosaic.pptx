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READ IT, IN ONE SENTENCE: every block is money. Wide column, big
team. Tall band, big application. The colour is who we paid.
  $79,448 over 50 days, 1,290,499 calls,
  about $48,331 a month at this rate.
THE COLUMNS
  insait        $20,864   26.3% of the bill
  ai-factory    $14,443   18.2% of the bill
  solugen       $11,852   14.9% of the bill
  No owner      $30,125   37.9% of the bill
DO NOT EXPLAIN THE CHART. Point at the right-hand column and say: that one
is bigger than any team we have, and it belongs to nobody. Everything else
on the slide is there to make that comparison fair.
THE NO-OWNER COLUMN IS ORANGE FOR A REASON. Orange is Bedrock everywhere in
this deck, and that is exactly what this money is: $28,370 of Bedrock
model spend with no application tag, plus $1,754 of guardrail fees.
57% of our Bedrock bill has no application on it.
THE RED BANDS INSIDE THE TEAMS are the same defect one level down: rows
whose application name is the word 'unknown' or '(unlabeled)'.
  unknown       Claude  insait       $2,849    31,457 calls
  (unlabeled)   Azure   insait       $2,260    23,227 calls
  (unlabeled)   Azure   solugen        $309    17,502 calls
  (unlabeled)   GCP     unknown         $38     1,341 calls
  (unlabeled)   Azure   unknown         $26     1,053 calls
  (unlabeled)   Azure   ai-factory       $3       128 calls
  (unlabeled)   GCP     ai-factory       $2        64 calls
Together with the untagged column that is $35,612, 45% of the bill with
no application name on it.
IF ASKED ABOUT THE TEAMS
  insait      one application, agent, is two thirds of it
  ai-factory  the only team using all three providers, three different jobs
  solugen     one application, half our call volume, cheapest per call
IF ASKED WHY 13 TEAMS ARE MISSING: they are $1,461 between them, 1.8%.
At true scale that column is a fifth of an inch. Drawing it wide enough to
label would make it look five times its real size, and on a chart where
area is money that is not a rounding choice, it is a false statement. The
figure is in the footnote.
IF ASKED WHETHER IT RECONCILES: the bands add to their column and the
columns add to the bill, and the build fails if they stop doing so.
The workbook's own two tables differ by 1.5% on dollars and agree
exactly on calls.
THE ASK: put an application tag on the Bedrock calls. Gateway
configuration, not a project. Then the right-hand column disappears into
the teams where it belongs, and this becomes a chargeback.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CONSUMPTION, 1 JULY TO 19 AUGUST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45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AI bill, drawn to scale</a:t>
            </a:r>
            <a:endParaRPr lang="en-US" sz="2545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$79,448 over 50 days. Every block is money: how much, whose, and who was paid.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1722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width is the team, band height is the application, block width is the provider, so every area is a dollar figure. Red outline and red type mean no application name. The four columns are 97% of the bill; the rest is 13 teams too small to draw at true scale, $1,461 between them, and $704 of difference between the report's two tables.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985229" cy="45720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29852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53896"/>
            <a:ext cx="29852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$20,864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29852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188,069 calls, $112/1K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2850043" cy="2106303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7243" y="2057400"/>
            <a:ext cx="135186" cy="2106303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66544"/>
            <a:ext cx="280234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258568"/>
            <a:ext cx="2802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$13,870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86563"/>
            <a:ext cx="2985229" cy="432679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5707"/>
            <a:ext cx="280234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87731"/>
            <a:ext cx="2802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$2,849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642102"/>
            <a:ext cx="2985229" cy="343206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42102"/>
            <a:ext cx="18879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(unlabeled)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36589" y="464210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$2,260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008168"/>
            <a:ext cx="2054551" cy="286208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1751" y="5008168"/>
            <a:ext cx="930677" cy="286208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08168"/>
            <a:ext cx="18879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more applications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36589" y="5008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$1,885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057400"/>
            <a:ext cx="2985229" cy="3236976"/>
          </a:xfrm>
          <a:prstGeom prst="rect">
            <a:avLst/>
          </a:prstGeom>
          <a:ln w="9525">
            <a:solidFill>
              <a:srgbClr val="23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5581" y="2011680"/>
            <a:ext cx="2066508" cy="45720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5581" y="1234440"/>
            <a:ext cx="2066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15581" y="1453896"/>
            <a:ext cx="2066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$14,443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515581" y="1810512"/>
            <a:ext cx="2066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408,859 calls, $36/1K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15581" y="2057400"/>
            <a:ext cx="2066508" cy="1155714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7021" y="2066544"/>
            <a:ext cx="1883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claims-copilot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07021" y="2258568"/>
            <a:ext cx="1883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$5,345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515581" y="3235974"/>
            <a:ext cx="2066508" cy="943772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7021" y="3245118"/>
            <a:ext cx="1883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07021" y="3437142"/>
            <a:ext cx="1883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$4,365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515581" y="4202605"/>
            <a:ext cx="2066508" cy="517715"/>
          </a:xfrm>
          <a:prstGeom prst="rect">
            <a:avLst/>
          </a:prstGeom>
          <a:solidFill>
            <a:srgbClr val="3DDC97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07021" y="4211749"/>
            <a:ext cx="1883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ai-factory-idp-ocr...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07021" y="4403773"/>
            <a:ext cx="1883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$2,394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515581" y="4743181"/>
            <a:ext cx="260" cy="430154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15841" y="4743181"/>
            <a:ext cx="2066248" cy="430154"/>
          </a:xfrm>
          <a:prstGeom prst="rect">
            <a:avLst/>
          </a:prstGeom>
          <a:solidFill>
            <a:srgbClr val="3DDC97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07021" y="4752325"/>
            <a:ext cx="1883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idp-ocr-hybrid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07021" y="4944349"/>
            <a:ext cx="1883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515581" y="5196194"/>
            <a:ext cx="1089161" cy="1079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04742" y="5196194"/>
            <a:ext cx="977346" cy="1079"/>
          </a:xfrm>
          <a:prstGeom prst="rect">
            <a:avLst/>
          </a:prstGeom>
          <a:solidFill>
            <a:srgbClr val="3DDC97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15581" y="5220133"/>
            <a:ext cx="173142" cy="74243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88723" y="5220133"/>
            <a:ext cx="1195804" cy="74243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84526" y="5220133"/>
            <a:ext cx="697562" cy="74243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15581" y="2057400"/>
            <a:ext cx="2066508" cy="3236976"/>
          </a:xfrm>
          <a:prstGeom prst="rect">
            <a:avLst/>
          </a:prstGeom>
          <a:ln w="9525">
            <a:solidFill>
              <a:srgbClr val="2330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55241" y="2011680"/>
            <a:ext cx="1695768" cy="45720"/>
          </a:xfrm>
          <a:prstGeom prst="rect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5241" y="1234440"/>
            <a:ext cx="169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SOLUGEN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55241" y="1453896"/>
            <a:ext cx="169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$11,852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5655241" y="1810512"/>
            <a:ext cx="169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$309 unnamed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55241" y="2057400"/>
            <a:ext cx="1695768" cy="3106566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6681" y="2066544"/>
            <a:ext cx="1512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insureGen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746681" y="2258568"/>
            <a:ext cx="151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$11,537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655241" y="5186826"/>
            <a:ext cx="1695768" cy="83266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55241" y="5292952"/>
            <a:ext cx="3206" cy="1424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58446" y="5292952"/>
            <a:ext cx="1692562" cy="1424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55241" y="2057400"/>
            <a:ext cx="1695768" cy="3236976"/>
          </a:xfrm>
          <a:prstGeom prst="rect">
            <a:avLst/>
          </a:prstGeom>
          <a:ln w="9525">
            <a:solidFill>
              <a:srgbClr val="2330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24161" y="2011680"/>
            <a:ext cx="4310335" cy="457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24161" y="1234440"/>
            <a:ext cx="4310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424161" y="1453896"/>
            <a:ext cx="4310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$30,125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7424161" y="1810512"/>
            <a:ext cx="4310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application, no team, no calls reported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424161" y="2057400"/>
            <a:ext cx="4310335" cy="3026950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15601" y="2066544"/>
            <a:ext cx="412745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Bedrock spend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515601" y="2258568"/>
            <a:ext cx="4127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$28,370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424161" y="5107210"/>
            <a:ext cx="4310335" cy="187166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24161" y="2057400"/>
            <a:ext cx="4310335" cy="3236976"/>
          </a:xfrm>
          <a:prstGeom prst="rect">
            <a:avLst/>
          </a:prstGeom>
          <a:ln w="19050">
            <a:solidFill>
              <a:srgbClr val="FF6B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545896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ACTUALLY WENT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57200" y="5678424"/>
            <a:ext cx="7630880" cy="310896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5678424"/>
            <a:ext cx="744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Bedrock   $53,250   68%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088080" y="5678424"/>
            <a:ext cx="2995818" cy="310896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79520" y="5678424"/>
            <a:ext cx="2812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 $20,905   27%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1083899" y="5678424"/>
            <a:ext cx="650597" cy="310896"/>
          </a:xfrm>
          <a:prstGeom prst="rect">
            <a:avLst/>
          </a:prstGeom>
          <a:solidFill>
            <a:srgbClr val="3DDC97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39935" y="5440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 $4,540  6%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Harel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consumption, drawn to scale — Harel</dc:title>
  <dc:subject>PptxGenJS Presentation</dc:subject>
  <dc:creator>Cloud Infrastructure, DevOps &amp; Databases</dc:creator>
  <cp:lastModifiedBy>Cloud Infrastructure, DevOps &amp; Databases</cp:lastModifiedBy>
  <cp:revision>1</cp:revision>
  <dcterms:created xsi:type="dcterms:W3CDTF">2026-09-22T17:12:14Z</dcterms:created>
  <dcterms:modified xsi:type="dcterms:W3CDTF">2026-09-22T17:12:14Z</dcterms:modified>
</cp:coreProperties>
</file>