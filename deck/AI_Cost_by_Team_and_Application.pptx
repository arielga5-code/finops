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4.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Claude</c:v>
                </c:pt>
              </c:strCache>
            </c:strRef>
          </c:tx>
          <c:spPr>
            <a:solidFill>
              <a:srgbClr val="FF9F43"/>
            </a:solidFill>
            <a:effectLst/>
          </c:spPr>
          <c:invertIfNegative val="0"/>
          <c:dLbls>
            <c:numFmt formatCode="[&lt;1390]&quot;&quot;;&quot;$&quot;#,##0" sourceLinked="0"/>
            <c:txPr>
              <a:bodyPr/>
              <a:lstStyle/>
              <a:p>
                <a:pPr>
                  <a:defRPr b="1" i="0" strike="noStrike" sz="1200" u="none">
                    <a:solidFill>
                      <a:srgbClr val="070A12"/>
                    </a:solidFill>
                    <a:latin typeface="Calibri"/>
                  </a:defRPr>
                </a:pPr>
              </a:p>
            </c:txPr>
            <c:dLblPos val="ctr"/>
            <c:showLegendKey val="0"/>
            <c:showVal val="1"/>
            <c:showCatName val="0"/>
            <c:showSerName val="0"/>
            <c:showPercent val="0"/>
            <c:showBubbleSize val="0"/>
            <c:showLeaderLines val="0"/>
          </c:dLbls>
          <c:cat>
            <c:multiLvlStrRef>
              <c:f>Sheet1!$A$2:$A$11</c:f>
              <c:multiLvlStrCache>
                <c:ptCount val="10"/>
                <c:lvl>
                  <c:pt idx="0">
                    <c:v>bedrock-session</c:v>
                  </c:pt>
                  <c:pt idx="1">
                    <c:v>jeff---pension-copilot</c:v>
                  </c:pt>
                  <c:pt idx="2">
                    <c:v>idp-ocr-hybrid</c:v>
                  </c:pt>
                  <c:pt idx="3">
                    <c:v>ai-factory-idp-ocr-hybrid</c:v>
                  </c:pt>
                  <c:pt idx="4">
                    <c:v>(unlabeled)</c:v>
                  </c:pt>
                  <c:pt idx="5">
                    <c:v>unknown</c:v>
                  </c:pt>
                  <c:pt idx="6">
                    <c:v>cli</c:v>
                  </c:pt>
                  <c:pt idx="7">
                    <c:v>claims-copilot</c:v>
                  </c:pt>
                  <c:pt idx="8">
                    <c:v>insureGen</c:v>
                  </c:pt>
                  <c:pt idx="9">
                    <c:v>agent</c:v>
                  </c:pt>
                </c:lvl>
              </c:multiLvlStrCache>
            </c:multiLvlStrRef>
          </c:cat>
          <c:val>
            <c:numRef>
              <c:f>Sheet1!$B$2:$B$11</c:f>
              <c:numCache>
                <c:formatCode>General</c:formatCode>
                <c:ptCount val="10"/>
                <c:pt idx="0">
                  <c:v>969.52</c:v>
                </c:pt>
                <c:pt idx="1">
                  <c:v>1151.13</c:v>
                </c:pt>
                <c:pt idx="2">
                  <c:v>0</c:v>
                </c:pt>
                <c:pt idx="3">
                  <c:v>0</c:v>
                </c:pt>
                <c:pt idx="4">
                  <c:v>0</c:v>
                </c:pt>
                <c:pt idx="5">
                  <c:v>2849.14</c:v>
                </c:pt>
                <c:pt idx="6">
                  <c:v>4365.03</c:v>
                </c:pt>
                <c:pt idx="7">
                  <c:v>0</c:v>
                </c:pt>
                <c:pt idx="8">
                  <c:v>0</c:v>
                </c:pt>
                <c:pt idx="9">
                  <c:v>13241.68</c:v>
                </c:pt>
              </c:numCache>
            </c:numRef>
          </c:val>
        </c:ser>
        <c:ser>
          <c:idx val="1"/>
          <c:order val="1"/>
          <c:tx>
            <c:strRef>
              <c:f>Sheet1!$C$1</c:f>
              <c:strCache>
                <c:ptCount val="1"/>
                <c:pt idx="0">
                  <c:v>Azure OpenAI</c:v>
                </c:pt>
              </c:strCache>
            </c:strRef>
          </c:tx>
          <c:spPr>
            <a:solidFill>
              <a:srgbClr val="2F8CFF"/>
            </a:solidFill>
            <a:effectLst/>
          </c:spPr>
          <c:invertIfNegative val="0"/>
          <c:dLbls>
            <c:numFmt formatCode="[&lt;1390]&quot;&quot;;&quot;$&quot;#,##0" sourceLinked="0"/>
            <c:txPr>
              <a:bodyPr/>
              <a:lstStyle/>
              <a:p>
                <a:pPr>
                  <a:defRPr b="1" i="0" strike="noStrike" sz="1200" u="none">
                    <a:solidFill>
                      <a:srgbClr val="070A12"/>
                    </a:solidFill>
                    <a:latin typeface="Calibri"/>
                  </a:defRPr>
                </a:pPr>
              </a:p>
            </c:txPr>
            <c:dLblPos val="ctr"/>
            <c:showLegendKey val="0"/>
            <c:showVal val="1"/>
            <c:showCatName val="0"/>
            <c:showSerName val="0"/>
            <c:showPercent val="0"/>
            <c:showBubbleSize val="0"/>
            <c:showLeaderLines val="0"/>
          </c:dLbls>
          <c:cat>
            <c:multiLvlStrRef>
              <c:f>Sheet1!$A$2:$A$11</c:f>
              <c:multiLvlStrCache>
                <c:ptCount val="10"/>
                <c:lvl>
                  <c:pt idx="0">
                    <c:v>bedrock-session</c:v>
                  </c:pt>
                  <c:pt idx="1">
                    <c:v>jeff---pension-copilot</c:v>
                  </c:pt>
                  <c:pt idx="2">
                    <c:v>idp-ocr-hybrid</c:v>
                  </c:pt>
                  <c:pt idx="3">
                    <c:v>ai-factory-idp-ocr-hybrid</c:v>
                  </c:pt>
                  <c:pt idx="4">
                    <c:v>(unlabeled)</c:v>
                  </c:pt>
                  <c:pt idx="5">
                    <c:v>unknown</c:v>
                  </c:pt>
                  <c:pt idx="6">
                    <c:v>cli</c:v>
                  </c:pt>
                  <c:pt idx="7">
                    <c:v>claims-copilot</c:v>
                  </c:pt>
                  <c:pt idx="8">
                    <c:v>insureGen</c:v>
                  </c:pt>
                  <c:pt idx="9">
                    <c:v>agent</c:v>
                  </c:pt>
                </c:lvl>
              </c:multiLvlStrCache>
            </c:multiLvlStrRef>
          </c:cat>
          <c:val>
            <c:numRef>
              <c:f>Sheet1!$C$2:$C$11</c:f>
              <c:numCache>
                <c:formatCode>General</c:formatCode>
                <c:ptCount val="10"/>
                <c:pt idx="0">
                  <c:v>0</c:v>
                </c:pt>
                <c:pt idx="1">
                  <c:v>0</c:v>
                </c:pt>
                <c:pt idx="2">
                  <c:v>0.25</c:v>
                </c:pt>
                <c:pt idx="3">
                  <c:v>0</c:v>
                </c:pt>
                <c:pt idx="4">
                  <c:v>2597.7599999999998</c:v>
                </c:pt>
                <c:pt idx="5">
                  <c:v>0</c:v>
                </c:pt>
                <c:pt idx="6">
                  <c:v>0</c:v>
                </c:pt>
                <c:pt idx="7">
                  <c:v>5345.28</c:v>
                </c:pt>
                <c:pt idx="8">
                  <c:v>11537.07</c:v>
                </c:pt>
                <c:pt idx="9">
                  <c:v>628.09</c:v>
                </c:pt>
              </c:numCache>
            </c:numRef>
          </c:val>
        </c:ser>
        <c:ser>
          <c:idx val="2"/>
          <c:order val="2"/>
          <c:tx>
            <c:strRef>
              <c:f>Sheet1!$D$1</c:f>
              <c:strCache>
                <c:ptCount val="1"/>
                <c:pt idx="0">
                  <c:v>GCP</c:v>
                </c:pt>
              </c:strCache>
            </c:strRef>
          </c:tx>
          <c:spPr>
            <a:solidFill>
              <a:srgbClr val="3DDC97"/>
            </a:solidFill>
            <a:effectLst/>
          </c:spPr>
          <c:invertIfNegative val="0"/>
          <c:dLbls>
            <c:numFmt formatCode="[&lt;1390]&quot;&quot;;&quot;$&quot;#,##0" sourceLinked="0"/>
            <c:txPr>
              <a:bodyPr/>
              <a:lstStyle/>
              <a:p>
                <a:pPr>
                  <a:defRPr b="1" i="0" strike="noStrike" sz="1200" u="none">
                    <a:solidFill>
                      <a:srgbClr val="070A12"/>
                    </a:solidFill>
                    <a:latin typeface="Calibri"/>
                  </a:defRPr>
                </a:pPr>
              </a:p>
            </c:txPr>
            <c:dLblPos val="ctr"/>
            <c:showLegendKey val="0"/>
            <c:showVal val="1"/>
            <c:showCatName val="0"/>
            <c:showSerName val="0"/>
            <c:showPercent val="0"/>
            <c:showBubbleSize val="0"/>
            <c:showLeaderLines val="0"/>
          </c:dLbls>
          <c:cat>
            <c:multiLvlStrRef>
              <c:f>Sheet1!$A$2:$A$11</c:f>
              <c:multiLvlStrCache>
                <c:ptCount val="10"/>
                <c:lvl>
                  <c:pt idx="0">
                    <c:v>bedrock-session</c:v>
                  </c:pt>
                  <c:pt idx="1">
                    <c:v>jeff---pension-copilot</c:v>
                  </c:pt>
                  <c:pt idx="2">
                    <c:v>idp-ocr-hybrid</c:v>
                  </c:pt>
                  <c:pt idx="3">
                    <c:v>ai-factory-idp-ocr-hybrid</c:v>
                  </c:pt>
                  <c:pt idx="4">
                    <c:v>(unlabeled)</c:v>
                  </c:pt>
                  <c:pt idx="5">
                    <c:v>unknown</c:v>
                  </c:pt>
                  <c:pt idx="6">
                    <c:v>cli</c:v>
                  </c:pt>
                  <c:pt idx="7">
                    <c:v>claims-copilot</c:v>
                  </c:pt>
                  <c:pt idx="8">
                    <c:v>insureGen</c:v>
                  </c:pt>
                  <c:pt idx="9">
                    <c:v>agent</c:v>
                  </c:pt>
                </c:lvl>
              </c:multiLvlStrCache>
            </c:multiLvlStrRef>
          </c:cat>
          <c:val>
            <c:numRef>
              <c:f>Sheet1!$D$2:$D$11</c:f>
              <c:numCache>
                <c:formatCode>General</c:formatCode>
                <c:ptCount val="10"/>
                <c:pt idx="0">
                  <c:v>0</c:v>
                </c:pt>
                <c:pt idx="1">
                  <c:v>0</c:v>
                </c:pt>
                <c:pt idx="2">
                  <c:v>1989.25</c:v>
                </c:pt>
                <c:pt idx="3">
                  <c:v>2394.48</c:v>
                </c:pt>
                <c:pt idx="4">
                  <c:v>40.33</c:v>
                </c:pt>
                <c:pt idx="5">
                  <c:v>0</c:v>
                </c:pt>
                <c:pt idx="6">
                  <c:v>0</c:v>
                </c:pt>
                <c:pt idx="7">
                  <c:v>0</c:v>
                </c:pt>
                <c:pt idx="8">
                  <c:v>0</c:v>
                </c:pt>
                <c:pt idx="9">
                  <c:v>0</c:v>
                </c:pt>
              </c:numCache>
            </c:numRef>
          </c:val>
        </c:ser>
        <c:dLbls>
          <c:numFmt formatCode="[&lt;1390]&quot;&quot;;&quot;$&quot;#,##0" sourceLinked="0"/>
          <c:txPr>
            <a:bodyPr/>
            <a:lstStyle/>
            <a:p>
              <a:pPr>
                <a:defRPr b="1" i="0" strike="noStrike" sz="1200" u="none">
                  <a:solidFill>
                    <a:srgbClr val="070A12"/>
                  </a:solidFill>
                  <a:latin typeface="Calibri"/>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91A0B7"/>
                </a:solidFill>
                <a:latin typeface="Calibri"/>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23304A"/>
              </a:solidFill>
              <a:prstDash val="solid"/>
              <a:round/>
            </a:ln>
          </c:spPr>
        </c:majorGridlines>
        <c:numFmt formatCode="[=0]&quot;$0&quot;;&quot;$&quot;#,##0,&quot;K&quot;" sourceLinked="0"/>
        <c:majorTickMark val="out"/>
        <c:minorTickMark val="none"/>
        <c:tickLblPos val="low"/>
        <c:spPr>
          <a:ln w="12700" cap="flat">
            <a:noFill/>
            <a:prstDash val="solid"/>
            <a:round/>
          </a:ln>
        </c:spPr>
        <c:txPr>
          <a:bodyPr/>
          <a:lstStyle/>
          <a:p>
            <a:pPr>
              <a:defRPr sz="1200" b="0" i="0" u="none" strike="noStrike">
                <a:solidFill>
                  <a:srgbClr val="91A0B7"/>
                </a:solidFill>
                <a:latin typeface="Calibri"/>
              </a:defRPr>
            </a:pPr>
            <a:endParaRPr lang="en-US"/>
          </a:p>
        </c:txPr>
        <c:crossAx val="2094734554"/>
        <c:crosses val="autoZero"/>
        <c:crossBetween val="between"/>
      </c:valAx>
      <c:spPr>
        <a:solidFill>
          <a:srgbClr val="070A12"/>
        </a:solidFill>
        <a:ln>
          <a:noFill/>
        </a:ln>
        <a:effectLst/>
      </c:spPr>
    </c:plotArea>
    <c:legend>
      <c:legendPos val="b"/>
      <c:overlay val="0"/>
      <c:txPr>
        <a:bodyPr/>
        <a:lstStyle/>
        <a:p>
          <a:pPr>
            <a:defRPr sz="1100">
              <a:solidFill>
                <a:srgbClr val="91A0B7"/>
              </a:solidFill>
              <a:latin typeface="Calibri"/>
              <a:cs typeface="Calibri"/>
            </a:defRPr>
          </a:pPr>
          <a:endParaRPr lang="en-US"/>
        </a:p>
      </c:txPr>
    </c:legend>
    <c:plotVisOnly val="1"/>
    <c:dispBlanksAs val="span"/>
  </c:chart>
  <c:spPr>
    <a:solidFill>
      <a:srgbClr val="070A12"/>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Claude</c:v>
                </c:pt>
              </c:strCache>
            </c:strRef>
          </c:tx>
          <c:spPr>
            <a:solidFill>
              <a:srgbClr val="FF9F43"/>
            </a:solidFill>
            <a:effectLst/>
          </c:spPr>
          <c:invertIfNegative val="0"/>
          <c:dLbls>
            <c:numFmt formatCode="[&lt;1390]&quot;&quot;;&quot;$&quot;#,##0" sourceLinked="0"/>
            <c:txPr>
              <a:bodyPr/>
              <a:lstStyle/>
              <a:p>
                <a:pPr>
                  <a:defRPr b="1" i="0" strike="noStrike" sz="1200" u="none">
                    <a:solidFill>
                      <a:srgbClr val="070A12"/>
                    </a:solidFill>
                    <a:latin typeface="Calibri"/>
                  </a:defRPr>
                </a:pPr>
              </a:p>
            </c:txPr>
            <c:dLblPos val="ctr"/>
            <c:showLegendKey val="0"/>
            <c:showVal val="1"/>
            <c:showCatName val="0"/>
            <c:showSerName val="0"/>
            <c:showPercent val="0"/>
            <c:showBubbleSize val="0"/>
            <c:showLeaderLines val="0"/>
          </c:dLbls>
          <c:cat>
            <c:multiLvlStrRef>
              <c:f>Sheet1!$A$2:$A$12</c:f>
              <c:multiLvlStrCache>
                <c:ptCount val="11"/>
                <c:lvl>
                  <c:pt idx="0">
                    <c:v>23 smaller applications</c:v>
                  </c:pt>
                  <c:pt idx="1">
                    <c:v>IVR - Main Stable</c:v>
                  </c:pt>
                  <c:pt idx="2">
                    <c:v>helper</c:v>
                  </c:pt>
                  <c:pt idx="3">
                    <c:v>Harel Travel Insurance Bot - Aug...</c:v>
                  </c:pt>
                  <c:pt idx="4">
                    <c:v>IVR - Main Stable - 17.8</c:v>
                  </c:pt>
                  <c:pt idx="5">
                    <c:v>Jeff - Pension Copilot preprod</c:v>
                  </c:pt>
                  <c:pt idx="6">
                    <c:v>voice stress test mike</c:v>
                  </c:pt>
                  <c:pt idx="7">
                    <c:v>jeff---pension-copilot</c:v>
                  </c:pt>
                  <c:pt idx="8">
                    <c:v>(unlabeled)</c:v>
                  </c:pt>
                  <c:pt idx="9">
                    <c:v>unknown</c:v>
                  </c:pt>
                  <c:pt idx="10">
                    <c:v>agent</c:v>
                  </c:pt>
                </c:lvl>
              </c:multiLvlStrCache>
            </c:multiLvlStrRef>
          </c:cat>
          <c:val>
            <c:numRef>
              <c:f>Sheet1!$B$2:$B$12</c:f>
              <c:numCache>
                <c:formatCode>General</c:formatCode>
                <c:ptCount val="11"/>
                <c:pt idx="0">
                  <c:v>89.56</c:v>
                </c:pt>
                <c:pt idx="1">
                  <c:v>0</c:v>
                </c:pt>
                <c:pt idx="2">
                  <c:v>56.4</c:v>
                </c:pt>
                <c:pt idx="3">
                  <c:v>0</c:v>
                </c:pt>
                <c:pt idx="4">
                  <c:v>0</c:v>
                </c:pt>
                <c:pt idx="5">
                  <c:v>0</c:v>
                </c:pt>
                <c:pt idx="6">
                  <c:v>0</c:v>
                </c:pt>
                <c:pt idx="7">
                  <c:v>1151.13</c:v>
                </c:pt>
                <c:pt idx="8">
                  <c:v>0</c:v>
                </c:pt>
                <c:pt idx="9">
                  <c:v>2849.14</c:v>
                </c:pt>
                <c:pt idx="10">
                  <c:v>13241.68</c:v>
                </c:pt>
              </c:numCache>
            </c:numRef>
          </c:val>
        </c:ser>
        <c:ser>
          <c:idx val="1"/>
          <c:order val="1"/>
          <c:tx>
            <c:strRef>
              <c:f>Sheet1!$C$1</c:f>
              <c:strCache>
                <c:ptCount val="1"/>
                <c:pt idx="0">
                  <c:v>Azure OpenAI</c:v>
                </c:pt>
              </c:strCache>
            </c:strRef>
          </c:tx>
          <c:spPr>
            <a:solidFill>
              <a:srgbClr val="2F8CFF"/>
            </a:solidFill>
            <a:effectLst/>
          </c:spPr>
          <c:invertIfNegative val="0"/>
          <c:dLbls>
            <c:numFmt formatCode="[&lt;1390]&quot;&quot;;&quot;$&quot;#,##0" sourceLinked="0"/>
            <c:txPr>
              <a:bodyPr/>
              <a:lstStyle/>
              <a:p>
                <a:pPr>
                  <a:defRPr b="1" i="0" strike="noStrike" sz="1200" u="none">
                    <a:solidFill>
                      <a:srgbClr val="070A12"/>
                    </a:solidFill>
                    <a:latin typeface="Calibri"/>
                  </a:defRPr>
                </a:pPr>
              </a:p>
            </c:txPr>
            <c:dLblPos val="ctr"/>
            <c:showLegendKey val="0"/>
            <c:showVal val="1"/>
            <c:showCatName val="0"/>
            <c:showSerName val="0"/>
            <c:showPercent val="0"/>
            <c:showBubbleSize val="0"/>
            <c:showLeaderLines val="0"/>
          </c:dLbls>
          <c:cat>
            <c:multiLvlStrRef>
              <c:f>Sheet1!$A$2:$A$12</c:f>
              <c:multiLvlStrCache>
                <c:ptCount val="11"/>
                <c:lvl>
                  <c:pt idx="0">
                    <c:v>23 smaller applications</c:v>
                  </c:pt>
                  <c:pt idx="1">
                    <c:v>IVR - Main Stable</c:v>
                  </c:pt>
                  <c:pt idx="2">
                    <c:v>helper</c:v>
                  </c:pt>
                  <c:pt idx="3">
                    <c:v>Harel Travel Insurance Bot - Aug...</c:v>
                  </c:pt>
                  <c:pt idx="4">
                    <c:v>IVR - Main Stable - 17.8</c:v>
                  </c:pt>
                  <c:pt idx="5">
                    <c:v>Jeff - Pension Copilot preprod</c:v>
                  </c:pt>
                  <c:pt idx="6">
                    <c:v>voice stress test mike</c:v>
                  </c:pt>
                  <c:pt idx="7">
                    <c:v>jeff---pension-copilot</c:v>
                  </c:pt>
                  <c:pt idx="8">
                    <c:v>(unlabeled)</c:v>
                  </c:pt>
                  <c:pt idx="9">
                    <c:v>unknown</c:v>
                  </c:pt>
                  <c:pt idx="10">
                    <c:v>agent</c:v>
                  </c:pt>
                </c:lvl>
              </c:multiLvlStrCache>
            </c:multiLvlStrRef>
          </c:cat>
          <c:val>
            <c:numRef>
              <c:f>Sheet1!$C$2:$C$12</c:f>
              <c:numCache>
                <c:formatCode>General</c:formatCode>
                <c:ptCount val="11"/>
                <c:pt idx="0">
                  <c:v>23.650000000000002</c:v>
                </c:pt>
                <c:pt idx="1">
                  <c:v>40.02</c:v>
                </c:pt>
                <c:pt idx="2">
                  <c:v>0</c:v>
                </c:pt>
                <c:pt idx="3">
                  <c:v>62.34</c:v>
                </c:pt>
                <c:pt idx="4">
                  <c:v>82.9</c:v>
                </c:pt>
                <c:pt idx="5">
                  <c:v>92.34</c:v>
                </c:pt>
                <c:pt idx="6">
                  <c:v>286.31</c:v>
                </c:pt>
                <c:pt idx="7">
                  <c:v>0</c:v>
                </c:pt>
                <c:pt idx="8">
                  <c:v>2259.97</c:v>
                </c:pt>
                <c:pt idx="9">
                  <c:v>0</c:v>
                </c:pt>
                <c:pt idx="10">
                  <c:v>628.09</c:v>
                </c:pt>
              </c:numCache>
            </c:numRef>
          </c:val>
        </c:ser>
        <c:ser>
          <c:idx val="2"/>
          <c:order val="2"/>
          <c:tx>
            <c:strRef>
              <c:f>Sheet1!$D$1</c:f>
              <c:strCache>
                <c:ptCount val="1"/>
                <c:pt idx="0">
                  <c:v>GCP</c:v>
                </c:pt>
              </c:strCache>
            </c:strRef>
          </c:tx>
          <c:spPr>
            <a:solidFill>
              <a:srgbClr val="3DDC97"/>
            </a:solidFill>
            <a:effectLst/>
          </c:spPr>
          <c:invertIfNegative val="0"/>
          <c:dLbls>
            <c:numFmt formatCode="[&lt;1390]&quot;&quot;;&quot;$&quot;#,##0" sourceLinked="0"/>
            <c:txPr>
              <a:bodyPr/>
              <a:lstStyle/>
              <a:p>
                <a:pPr>
                  <a:defRPr b="1" i="0" strike="noStrike" sz="1200" u="none">
                    <a:solidFill>
                      <a:srgbClr val="070A12"/>
                    </a:solidFill>
                    <a:latin typeface="Calibri"/>
                  </a:defRPr>
                </a:pPr>
              </a:p>
            </c:txPr>
            <c:dLblPos val="ctr"/>
            <c:showLegendKey val="0"/>
            <c:showVal val="1"/>
            <c:showCatName val="0"/>
            <c:showSerName val="0"/>
            <c:showPercent val="0"/>
            <c:showBubbleSize val="0"/>
            <c:showLeaderLines val="0"/>
          </c:dLbls>
          <c:cat>
            <c:multiLvlStrRef>
              <c:f>Sheet1!$A$2:$A$12</c:f>
              <c:multiLvlStrCache>
                <c:ptCount val="11"/>
                <c:lvl>
                  <c:pt idx="0">
                    <c:v>23 smaller applications</c:v>
                  </c:pt>
                  <c:pt idx="1">
                    <c:v>IVR - Main Stable</c:v>
                  </c:pt>
                  <c:pt idx="2">
                    <c:v>helper</c:v>
                  </c:pt>
                  <c:pt idx="3">
                    <c:v>Harel Travel Insurance Bot - Aug...</c:v>
                  </c:pt>
                  <c:pt idx="4">
                    <c:v>IVR - Main Stable - 17.8</c:v>
                  </c:pt>
                  <c:pt idx="5">
                    <c:v>Jeff - Pension Copilot preprod</c:v>
                  </c:pt>
                  <c:pt idx="6">
                    <c:v>voice stress test mike</c:v>
                  </c:pt>
                  <c:pt idx="7">
                    <c:v>jeff---pension-copilot</c:v>
                  </c:pt>
                  <c:pt idx="8">
                    <c:v>(unlabeled)</c:v>
                  </c:pt>
                  <c:pt idx="9">
                    <c:v>unknown</c:v>
                  </c:pt>
                  <c:pt idx="10">
                    <c:v>agent</c:v>
                  </c:pt>
                </c:lvl>
              </c:multiLvlStrCache>
            </c:multiLvlStrRef>
          </c:cat>
          <c:val>
            <c:numRef>
              <c:f>Sheet1!$D$2:$D$12</c:f>
              <c:numCache>
                <c:formatCode>General</c:formatCode>
                <c:ptCount val="11"/>
                <c:pt idx="0">
                  <c:v>0</c:v>
                </c:pt>
                <c:pt idx="1">
                  <c:v>0</c:v>
                </c:pt>
                <c:pt idx="2">
                  <c:v>0</c:v>
                </c:pt>
                <c:pt idx="3">
                  <c:v>0</c:v>
                </c:pt>
                <c:pt idx="4">
                  <c:v>0</c:v>
                </c:pt>
                <c:pt idx="5">
                  <c:v>0</c:v>
                </c:pt>
                <c:pt idx="6">
                  <c:v>0</c:v>
                </c:pt>
                <c:pt idx="7">
                  <c:v>0</c:v>
                </c:pt>
                <c:pt idx="8">
                  <c:v>0</c:v>
                </c:pt>
                <c:pt idx="9">
                  <c:v>0</c:v>
                </c:pt>
                <c:pt idx="10">
                  <c:v>0</c:v>
                </c:pt>
              </c:numCache>
            </c:numRef>
          </c:val>
        </c:ser>
        <c:dLbls>
          <c:numFmt formatCode="[&lt;1390]&quot;&quot;;&quot;$&quot;#,##0" sourceLinked="0"/>
          <c:txPr>
            <a:bodyPr/>
            <a:lstStyle/>
            <a:p>
              <a:pPr>
                <a:defRPr b="1" i="0" strike="noStrike" sz="1200" u="none">
                  <a:solidFill>
                    <a:srgbClr val="070A12"/>
                  </a:solidFill>
                  <a:latin typeface="Calibri"/>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91A0B7"/>
                </a:solidFill>
                <a:latin typeface="Calibri"/>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23304A"/>
              </a:solidFill>
              <a:prstDash val="solid"/>
              <a:round/>
            </a:ln>
          </c:spPr>
        </c:majorGridlines>
        <c:numFmt formatCode="[=0]&quot;$0&quot;;&quot;$&quot;#,##0,&quot;K&quot;" sourceLinked="0"/>
        <c:majorTickMark val="out"/>
        <c:minorTickMark val="none"/>
        <c:tickLblPos val="low"/>
        <c:spPr>
          <a:ln w="12700" cap="flat">
            <a:noFill/>
            <a:prstDash val="solid"/>
            <a:round/>
          </a:ln>
        </c:spPr>
        <c:txPr>
          <a:bodyPr/>
          <a:lstStyle/>
          <a:p>
            <a:pPr>
              <a:defRPr sz="1200" b="0" i="0" u="none" strike="noStrike">
                <a:solidFill>
                  <a:srgbClr val="91A0B7"/>
                </a:solidFill>
                <a:latin typeface="Calibri"/>
              </a:defRPr>
            </a:pPr>
            <a:endParaRPr lang="en-US"/>
          </a:p>
        </c:txPr>
        <c:crossAx val="2094734554"/>
        <c:crosses val="autoZero"/>
        <c:crossBetween val="between"/>
      </c:valAx>
      <c:spPr>
        <a:solidFill>
          <a:srgbClr val="070A12"/>
        </a:solidFill>
        <a:ln>
          <a:noFill/>
        </a:ln>
        <a:effectLst/>
      </c:spPr>
    </c:plotArea>
    <c:legend>
      <c:legendPos val="b"/>
      <c:overlay val="0"/>
      <c:txPr>
        <a:bodyPr/>
        <a:lstStyle/>
        <a:p>
          <a:pPr>
            <a:defRPr sz="1100">
              <a:solidFill>
                <a:srgbClr val="91A0B7"/>
              </a:solidFill>
              <a:latin typeface="Calibri"/>
              <a:cs typeface="Calibri"/>
            </a:defRPr>
          </a:pPr>
          <a:endParaRPr lang="en-US"/>
        </a:p>
      </c:txPr>
    </c:legend>
    <c:plotVisOnly val="1"/>
    <c:dispBlanksAs val="span"/>
  </c:chart>
  <c:spPr>
    <a:solidFill>
      <a:srgbClr val="070A12"/>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Claude</c:v>
                </c:pt>
              </c:strCache>
            </c:strRef>
          </c:tx>
          <c:spPr>
            <a:solidFill>
              <a:srgbClr val="FF9F43"/>
            </a:solidFill>
            <a:effectLst/>
          </c:spPr>
          <c:invertIfNegative val="0"/>
          <c:dLbls>
            <c:numFmt formatCode="[&lt;530]&quot;&quot;;&quot;$&quot;#,##0" sourceLinked="0"/>
            <c:txPr>
              <a:bodyPr/>
              <a:lstStyle/>
              <a:p>
                <a:pPr>
                  <a:defRPr b="1" i="0" strike="noStrike" sz="1200" u="none">
                    <a:solidFill>
                      <a:srgbClr val="070A12"/>
                    </a:solidFill>
                    <a:latin typeface="Calibri"/>
                  </a:defRPr>
                </a:pPr>
              </a:p>
            </c:txPr>
            <c:dLblPos val="ctr"/>
            <c:showLegendKey val="0"/>
            <c:showVal val="1"/>
            <c:showCatName val="0"/>
            <c:showSerName val="0"/>
            <c:showPercent val="0"/>
            <c:showBubbleSize val="0"/>
            <c:showLeaderLines val="0"/>
          </c:dLbls>
          <c:cat>
            <c:multiLvlStrRef>
              <c:f>Sheet1!$A$2:$A$12</c:f>
              <c:multiLvlStrCache>
                <c:ptCount val="11"/>
                <c:lvl>
                  <c:pt idx="0">
                    <c:v>26 smaller applications</c:v>
                  </c:pt>
                  <c:pt idx="1">
                    <c:v>yacovz</c:v>
                  </c:pt>
                  <c:pt idx="2">
                    <c:v>LTS</c:v>
                  </c:pt>
                  <c:pt idx="3">
                    <c:v>use-case-flow</c:v>
                  </c:pt>
                  <c:pt idx="4">
                    <c:v>ai-factory-yakir</c:v>
                  </c:pt>
                  <c:pt idx="5">
                    <c:v>ai-factory-yacovz</c:v>
                  </c:pt>
                  <c:pt idx="6">
                    <c:v>claim-assessor</c:v>
                  </c:pt>
                  <c:pt idx="7">
                    <c:v>idp-ocr-hybrid</c:v>
                  </c:pt>
                  <c:pt idx="8">
                    <c:v>ai-factory-idp-ocr-hybrid</c:v>
                  </c:pt>
                  <c:pt idx="9">
                    <c:v>cli</c:v>
                  </c:pt>
                  <c:pt idx="10">
                    <c:v>claims-copilot</c:v>
                  </c:pt>
                </c:lvl>
              </c:multiLvlStrCache>
            </c:multiLvlStrRef>
          </c:cat>
          <c:val>
            <c:numRef>
              <c:f>Sheet1!$B$2:$B$12</c:f>
              <c:numCache>
                <c:formatCode>General</c:formatCode>
                <c:ptCount val="11"/>
                <c:pt idx="0">
                  <c:v>19.880000000000006</c:v>
                </c:pt>
                <c:pt idx="1">
                  <c:v>8.86</c:v>
                </c:pt>
                <c:pt idx="2">
                  <c:v>0</c:v>
                </c:pt>
                <c:pt idx="3">
                  <c:v>0</c:v>
                </c:pt>
                <c:pt idx="4">
                  <c:v>0</c:v>
                </c:pt>
                <c:pt idx="5">
                  <c:v>0</c:v>
                </c:pt>
                <c:pt idx="6">
                  <c:v>0.03</c:v>
                </c:pt>
                <c:pt idx="7">
                  <c:v>0</c:v>
                </c:pt>
                <c:pt idx="8">
                  <c:v>0</c:v>
                </c:pt>
                <c:pt idx="9">
                  <c:v>4365.03</c:v>
                </c:pt>
                <c:pt idx="10">
                  <c:v>0</c:v>
                </c:pt>
              </c:numCache>
            </c:numRef>
          </c:val>
        </c:ser>
        <c:ser>
          <c:idx val="1"/>
          <c:order val="1"/>
          <c:tx>
            <c:strRef>
              <c:f>Sheet1!$C$1</c:f>
              <c:strCache>
                <c:ptCount val="1"/>
                <c:pt idx="0">
                  <c:v>Azure OpenAI</c:v>
                </c:pt>
              </c:strCache>
            </c:strRef>
          </c:tx>
          <c:spPr>
            <a:solidFill>
              <a:srgbClr val="2F8CFF"/>
            </a:solidFill>
            <a:effectLst/>
          </c:spPr>
          <c:invertIfNegative val="0"/>
          <c:dLbls>
            <c:numFmt formatCode="[&lt;530]&quot;&quot;;&quot;$&quot;#,##0" sourceLinked="0"/>
            <c:txPr>
              <a:bodyPr/>
              <a:lstStyle/>
              <a:p>
                <a:pPr>
                  <a:defRPr b="1" i="0" strike="noStrike" sz="1200" u="none">
                    <a:solidFill>
                      <a:srgbClr val="070A12"/>
                    </a:solidFill>
                    <a:latin typeface="Calibri"/>
                  </a:defRPr>
                </a:pPr>
              </a:p>
            </c:txPr>
            <c:dLblPos val="ctr"/>
            <c:showLegendKey val="0"/>
            <c:showVal val="1"/>
            <c:showCatName val="0"/>
            <c:showSerName val="0"/>
            <c:showPercent val="0"/>
            <c:showBubbleSize val="0"/>
            <c:showLeaderLines val="0"/>
          </c:dLbls>
          <c:cat>
            <c:multiLvlStrRef>
              <c:f>Sheet1!$A$2:$A$12</c:f>
              <c:multiLvlStrCache>
                <c:ptCount val="11"/>
                <c:lvl>
                  <c:pt idx="0">
                    <c:v>26 smaller applications</c:v>
                  </c:pt>
                  <c:pt idx="1">
                    <c:v>yacovz</c:v>
                  </c:pt>
                  <c:pt idx="2">
                    <c:v>LTS</c:v>
                  </c:pt>
                  <c:pt idx="3">
                    <c:v>use-case-flow</c:v>
                  </c:pt>
                  <c:pt idx="4">
                    <c:v>ai-factory-yakir</c:v>
                  </c:pt>
                  <c:pt idx="5">
                    <c:v>ai-factory-yacovz</c:v>
                  </c:pt>
                  <c:pt idx="6">
                    <c:v>claim-assessor</c:v>
                  </c:pt>
                  <c:pt idx="7">
                    <c:v>idp-ocr-hybrid</c:v>
                  </c:pt>
                  <c:pt idx="8">
                    <c:v>ai-factory-idp-ocr-hybrid</c:v>
                  </c:pt>
                  <c:pt idx="9">
                    <c:v>cli</c:v>
                  </c:pt>
                  <c:pt idx="10">
                    <c:v>claims-copilot</c:v>
                  </c:pt>
                </c:lvl>
              </c:multiLvlStrCache>
            </c:multiLvlStrRef>
          </c:cat>
          <c:val>
            <c:numRef>
              <c:f>Sheet1!$C$2:$C$12</c:f>
              <c:numCache>
                <c:formatCode>General</c:formatCode>
                <c:ptCount val="11"/>
                <c:pt idx="0">
                  <c:v>11.129999999999999</c:v>
                </c:pt>
                <c:pt idx="1">
                  <c:v>0</c:v>
                </c:pt>
                <c:pt idx="2">
                  <c:v>12.3</c:v>
                </c:pt>
                <c:pt idx="3">
                  <c:v>15.13</c:v>
                </c:pt>
                <c:pt idx="4">
                  <c:v>0</c:v>
                </c:pt>
                <c:pt idx="5">
                  <c:v>0</c:v>
                </c:pt>
                <c:pt idx="6">
                  <c:v>162.77</c:v>
                </c:pt>
                <c:pt idx="7">
                  <c:v>0.25</c:v>
                </c:pt>
                <c:pt idx="8">
                  <c:v>0</c:v>
                </c:pt>
                <c:pt idx="9">
                  <c:v>0</c:v>
                </c:pt>
                <c:pt idx="10">
                  <c:v>5345.28</c:v>
                </c:pt>
              </c:numCache>
            </c:numRef>
          </c:val>
        </c:ser>
        <c:ser>
          <c:idx val="2"/>
          <c:order val="2"/>
          <c:tx>
            <c:strRef>
              <c:f>Sheet1!$D$1</c:f>
              <c:strCache>
                <c:ptCount val="1"/>
                <c:pt idx="0">
                  <c:v>GCP</c:v>
                </c:pt>
              </c:strCache>
            </c:strRef>
          </c:tx>
          <c:spPr>
            <a:solidFill>
              <a:srgbClr val="3DDC97"/>
            </a:solidFill>
            <a:effectLst/>
          </c:spPr>
          <c:invertIfNegative val="0"/>
          <c:dLbls>
            <c:numFmt formatCode="[&lt;530]&quot;&quot;;&quot;$&quot;#,##0" sourceLinked="0"/>
            <c:txPr>
              <a:bodyPr/>
              <a:lstStyle/>
              <a:p>
                <a:pPr>
                  <a:defRPr b="1" i="0" strike="noStrike" sz="1200" u="none">
                    <a:solidFill>
                      <a:srgbClr val="070A12"/>
                    </a:solidFill>
                    <a:latin typeface="Calibri"/>
                  </a:defRPr>
                </a:pPr>
              </a:p>
            </c:txPr>
            <c:dLblPos val="ctr"/>
            <c:showLegendKey val="0"/>
            <c:showVal val="1"/>
            <c:showCatName val="0"/>
            <c:showSerName val="0"/>
            <c:showPercent val="0"/>
            <c:showBubbleSize val="0"/>
            <c:showLeaderLines val="0"/>
          </c:dLbls>
          <c:cat>
            <c:multiLvlStrRef>
              <c:f>Sheet1!$A$2:$A$12</c:f>
              <c:multiLvlStrCache>
                <c:ptCount val="11"/>
                <c:lvl>
                  <c:pt idx="0">
                    <c:v>26 smaller applications</c:v>
                  </c:pt>
                  <c:pt idx="1">
                    <c:v>yacovz</c:v>
                  </c:pt>
                  <c:pt idx="2">
                    <c:v>LTS</c:v>
                  </c:pt>
                  <c:pt idx="3">
                    <c:v>use-case-flow</c:v>
                  </c:pt>
                  <c:pt idx="4">
                    <c:v>ai-factory-yakir</c:v>
                  </c:pt>
                  <c:pt idx="5">
                    <c:v>ai-factory-yacovz</c:v>
                  </c:pt>
                  <c:pt idx="6">
                    <c:v>claim-assessor</c:v>
                  </c:pt>
                  <c:pt idx="7">
                    <c:v>idp-ocr-hybrid</c:v>
                  </c:pt>
                  <c:pt idx="8">
                    <c:v>ai-factory-idp-ocr-hybrid</c:v>
                  </c:pt>
                  <c:pt idx="9">
                    <c:v>cli</c:v>
                  </c:pt>
                  <c:pt idx="10">
                    <c:v>claims-copilot</c:v>
                  </c:pt>
                </c:lvl>
              </c:multiLvlStrCache>
            </c:multiLvlStrRef>
          </c:cat>
          <c:val>
            <c:numRef>
              <c:f>Sheet1!$D$2:$D$12</c:f>
              <c:numCache>
                <c:formatCode>General</c:formatCode>
                <c:ptCount val="11"/>
                <c:pt idx="0">
                  <c:v>3.6699999999999995</c:v>
                </c:pt>
                <c:pt idx="1">
                  <c:v>0</c:v>
                </c:pt>
                <c:pt idx="2">
                  <c:v>0</c:v>
                </c:pt>
                <c:pt idx="3">
                  <c:v>0</c:v>
                </c:pt>
                <c:pt idx="4">
                  <c:v>23.25</c:v>
                </c:pt>
                <c:pt idx="5">
                  <c:v>91.35</c:v>
                </c:pt>
                <c:pt idx="6">
                  <c:v>0</c:v>
                </c:pt>
                <c:pt idx="7">
                  <c:v>1989.25</c:v>
                </c:pt>
                <c:pt idx="8">
                  <c:v>2394.48</c:v>
                </c:pt>
                <c:pt idx="9">
                  <c:v>0</c:v>
                </c:pt>
                <c:pt idx="10">
                  <c:v>0</c:v>
                </c:pt>
              </c:numCache>
            </c:numRef>
          </c:val>
        </c:ser>
        <c:dLbls>
          <c:numFmt formatCode="[&lt;530]&quot;&quot;;&quot;$&quot;#,##0" sourceLinked="0"/>
          <c:txPr>
            <a:bodyPr/>
            <a:lstStyle/>
            <a:p>
              <a:pPr>
                <a:defRPr b="1" i="0" strike="noStrike" sz="1200" u="none">
                  <a:solidFill>
                    <a:srgbClr val="070A12"/>
                  </a:solidFill>
                  <a:latin typeface="Calibri"/>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91A0B7"/>
                </a:solidFill>
                <a:latin typeface="Calibri"/>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23304A"/>
              </a:solidFill>
              <a:prstDash val="solid"/>
              <a:round/>
            </a:ln>
          </c:spPr>
        </c:majorGridlines>
        <c:numFmt formatCode="&quot;$&quot;#,##0" sourceLinked="0"/>
        <c:majorTickMark val="out"/>
        <c:minorTickMark val="none"/>
        <c:tickLblPos val="low"/>
        <c:spPr>
          <a:ln w="12700" cap="flat">
            <a:noFill/>
            <a:prstDash val="solid"/>
            <a:round/>
          </a:ln>
        </c:spPr>
        <c:txPr>
          <a:bodyPr/>
          <a:lstStyle/>
          <a:p>
            <a:pPr>
              <a:defRPr sz="1200" b="0" i="0" u="none" strike="noStrike">
                <a:solidFill>
                  <a:srgbClr val="91A0B7"/>
                </a:solidFill>
                <a:latin typeface="Calibri"/>
              </a:defRPr>
            </a:pPr>
            <a:endParaRPr lang="en-US"/>
          </a:p>
        </c:txPr>
        <c:crossAx val="2094734554"/>
        <c:crosses val="autoZero"/>
        <c:crossBetween val="between"/>
      </c:valAx>
      <c:spPr>
        <a:solidFill>
          <a:srgbClr val="070A12"/>
        </a:solidFill>
        <a:ln>
          <a:noFill/>
        </a:ln>
        <a:effectLst/>
      </c:spPr>
    </c:plotArea>
    <c:legend>
      <c:legendPos val="b"/>
      <c:overlay val="0"/>
      <c:txPr>
        <a:bodyPr/>
        <a:lstStyle/>
        <a:p>
          <a:pPr>
            <a:defRPr sz="1100">
              <a:solidFill>
                <a:srgbClr val="91A0B7"/>
              </a:solidFill>
              <a:latin typeface="Calibri"/>
              <a:cs typeface="Calibri"/>
            </a:defRPr>
          </a:pPr>
          <a:endParaRPr lang="en-US"/>
        </a:p>
      </c:txPr>
    </c:legend>
    <c:plotVisOnly val="1"/>
    <c:dispBlanksAs val="span"/>
  </c:chart>
  <c:spPr>
    <a:solidFill>
      <a:srgbClr val="070A12"/>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Claude</c:v>
                </c:pt>
              </c:strCache>
            </c:strRef>
          </c:tx>
          <c:spPr>
            <a:solidFill>
              <a:srgbClr val="FF9F43"/>
            </a:solidFill>
            <a:effectLst/>
          </c:spPr>
          <c:invertIfNegative val="0"/>
          <c:dLbls>
            <c:numFmt formatCode="[&lt;1150]&quot;&quot;;&quot;$&quot;#,##0" sourceLinked="0"/>
            <c:txPr>
              <a:bodyPr/>
              <a:lstStyle/>
              <a:p>
                <a:pPr>
                  <a:defRPr b="1" i="0" strike="noStrike" sz="1200" u="none">
                    <a:solidFill>
                      <a:srgbClr val="070A12"/>
                    </a:solidFill>
                    <a:latin typeface="Calibri"/>
                  </a:defRPr>
                </a:pPr>
              </a:p>
            </c:txPr>
            <c:dLblPos val="ctr"/>
            <c:showLegendKey val="0"/>
            <c:showVal val="1"/>
            <c:showCatName val="0"/>
            <c:showSerName val="0"/>
            <c:showPercent val="0"/>
            <c:showBubbleSize val="0"/>
            <c:showLeaderLines val="0"/>
          </c:dLbls>
          <c:cat>
            <c:multiLvlStrRef>
              <c:f>Sheet1!$A$2:$A$6</c:f>
              <c:multiLvlStrCache>
                <c:ptCount val="5"/>
                <c:lvl>
                  <c:pt idx="0">
                    <c:v>4 smaller applications</c:v>
                  </c:pt>
                  <c:pt idx="1">
                    <c:v>unknown-antoni</c:v>
                  </c:pt>
                  <c:pt idx="2">
                    <c:v>agent-marketing-poc</c:v>
                  </c:pt>
                  <c:pt idx="3">
                    <c:v>(unlabeled)</c:v>
                  </c:pt>
                  <c:pt idx="4">
                    <c:v>insureGen</c:v>
                  </c:pt>
                </c:lvl>
              </c:multiLvlStrCache>
            </c:multiLvlStrRef>
          </c:cat>
          <c:val>
            <c:numRef>
              <c:f>Sheet1!$B$2:$B$6</c:f>
              <c:numCache>
                <c:formatCode>General</c:formatCode>
                <c:ptCount val="5"/>
                <c:pt idx="0">
                  <c:v>0</c:v>
                </c:pt>
                <c:pt idx="1">
                  <c:v>0.01</c:v>
                </c:pt>
                <c:pt idx="2">
                  <c:v>0</c:v>
                </c:pt>
                <c:pt idx="3">
                  <c:v>0</c:v>
                </c:pt>
                <c:pt idx="4">
                  <c:v>0</c:v>
                </c:pt>
              </c:numCache>
            </c:numRef>
          </c:val>
        </c:ser>
        <c:ser>
          <c:idx val="1"/>
          <c:order val="1"/>
          <c:tx>
            <c:strRef>
              <c:f>Sheet1!$C$1</c:f>
              <c:strCache>
                <c:ptCount val="1"/>
                <c:pt idx="0">
                  <c:v>Azure OpenAI</c:v>
                </c:pt>
              </c:strCache>
            </c:strRef>
          </c:tx>
          <c:spPr>
            <a:solidFill>
              <a:srgbClr val="2F8CFF"/>
            </a:solidFill>
            <a:effectLst/>
          </c:spPr>
          <c:invertIfNegative val="0"/>
          <c:dLbls>
            <c:numFmt formatCode="[&lt;1150]&quot;&quot;;&quot;$&quot;#,##0" sourceLinked="0"/>
            <c:txPr>
              <a:bodyPr/>
              <a:lstStyle/>
              <a:p>
                <a:pPr>
                  <a:defRPr b="1" i="0" strike="noStrike" sz="1200" u="none">
                    <a:solidFill>
                      <a:srgbClr val="070A12"/>
                    </a:solidFill>
                    <a:latin typeface="Calibri"/>
                  </a:defRPr>
                </a:pPr>
              </a:p>
            </c:txPr>
            <c:dLblPos val="ctr"/>
            <c:showLegendKey val="0"/>
            <c:showVal val="1"/>
            <c:showCatName val="0"/>
            <c:showSerName val="0"/>
            <c:showPercent val="0"/>
            <c:showBubbleSize val="0"/>
            <c:showLeaderLines val="0"/>
          </c:dLbls>
          <c:cat>
            <c:multiLvlStrRef>
              <c:f>Sheet1!$A$2:$A$6</c:f>
              <c:multiLvlStrCache>
                <c:ptCount val="5"/>
                <c:lvl>
                  <c:pt idx="0">
                    <c:v>4 smaller applications</c:v>
                  </c:pt>
                  <c:pt idx="1">
                    <c:v>unknown-antoni</c:v>
                  </c:pt>
                  <c:pt idx="2">
                    <c:v>agent-marketing-poc</c:v>
                  </c:pt>
                  <c:pt idx="3">
                    <c:v>(unlabeled)</c:v>
                  </c:pt>
                  <c:pt idx="4">
                    <c:v>insureGen</c:v>
                  </c:pt>
                </c:lvl>
              </c:multiLvlStrCache>
            </c:multiLvlStrRef>
          </c:cat>
          <c:val>
            <c:numRef>
              <c:f>Sheet1!$C$2:$C$6</c:f>
              <c:numCache>
                <c:formatCode>General</c:formatCode>
                <c:ptCount val="5"/>
                <c:pt idx="0">
                  <c:v>0</c:v>
                </c:pt>
                <c:pt idx="1">
                  <c:v>0</c:v>
                </c:pt>
                <c:pt idx="2">
                  <c:v>5.28</c:v>
                </c:pt>
                <c:pt idx="3">
                  <c:v>309.23</c:v>
                </c:pt>
                <c:pt idx="4">
                  <c:v>11537.07</c:v>
                </c:pt>
              </c:numCache>
            </c:numRef>
          </c:val>
        </c:ser>
        <c:ser>
          <c:idx val="2"/>
          <c:order val="2"/>
          <c:tx>
            <c:strRef>
              <c:f>Sheet1!$D$1</c:f>
              <c:strCache>
                <c:ptCount val="1"/>
                <c:pt idx="0">
                  <c:v>GCP</c:v>
                </c:pt>
              </c:strCache>
            </c:strRef>
          </c:tx>
          <c:spPr>
            <a:solidFill>
              <a:srgbClr val="3DDC97"/>
            </a:solidFill>
            <a:effectLst/>
          </c:spPr>
          <c:invertIfNegative val="0"/>
          <c:dLbls>
            <c:numFmt formatCode="[&lt;1150]&quot;&quot;;&quot;$&quot;#,##0" sourceLinked="0"/>
            <c:txPr>
              <a:bodyPr/>
              <a:lstStyle/>
              <a:p>
                <a:pPr>
                  <a:defRPr b="1" i="0" strike="noStrike" sz="1200" u="none">
                    <a:solidFill>
                      <a:srgbClr val="070A12"/>
                    </a:solidFill>
                    <a:latin typeface="Calibri"/>
                  </a:defRPr>
                </a:pPr>
              </a:p>
            </c:txPr>
            <c:dLblPos val="ctr"/>
            <c:showLegendKey val="0"/>
            <c:showVal val="1"/>
            <c:showCatName val="0"/>
            <c:showSerName val="0"/>
            <c:showPercent val="0"/>
            <c:showBubbleSize val="0"/>
            <c:showLeaderLines val="0"/>
          </c:dLbls>
          <c:cat>
            <c:multiLvlStrRef>
              <c:f>Sheet1!$A$2:$A$6</c:f>
              <c:multiLvlStrCache>
                <c:ptCount val="5"/>
                <c:lvl>
                  <c:pt idx="0">
                    <c:v>4 smaller applications</c:v>
                  </c:pt>
                  <c:pt idx="1">
                    <c:v>unknown-antoni</c:v>
                  </c:pt>
                  <c:pt idx="2">
                    <c:v>agent-marketing-poc</c:v>
                  </c:pt>
                  <c:pt idx="3">
                    <c:v>(unlabeled)</c:v>
                  </c:pt>
                  <c:pt idx="4">
                    <c:v>insureGen</c:v>
                  </c:pt>
                </c:lvl>
              </c:multiLvlStrCache>
            </c:multiLvlStrRef>
          </c:cat>
          <c:val>
            <c:numRef>
              <c:f>Sheet1!$D$2:$D$6</c:f>
              <c:numCache>
                <c:formatCode>General</c:formatCode>
                <c:ptCount val="5"/>
                <c:pt idx="0">
                  <c:v>0</c:v>
                </c:pt>
                <c:pt idx="1">
                  <c:v>0</c:v>
                </c:pt>
                <c:pt idx="2">
                  <c:v>0</c:v>
                </c:pt>
                <c:pt idx="3">
                  <c:v>0</c:v>
                </c:pt>
                <c:pt idx="4">
                  <c:v>0</c:v>
                </c:pt>
              </c:numCache>
            </c:numRef>
          </c:val>
        </c:ser>
        <c:dLbls>
          <c:numFmt formatCode="[&lt;1150]&quot;&quot;;&quot;$&quot;#,##0" sourceLinked="0"/>
          <c:txPr>
            <a:bodyPr/>
            <a:lstStyle/>
            <a:p>
              <a:pPr>
                <a:defRPr b="1" i="0" strike="noStrike" sz="1200" u="none">
                  <a:solidFill>
                    <a:srgbClr val="070A12"/>
                  </a:solidFill>
                  <a:latin typeface="Calibri"/>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91A0B7"/>
                </a:solidFill>
                <a:latin typeface="Calibri"/>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23304A"/>
              </a:solidFill>
              <a:prstDash val="solid"/>
              <a:round/>
            </a:ln>
          </c:spPr>
        </c:majorGridlines>
        <c:numFmt formatCode="[=0]&quot;$0&quot;;&quot;$&quot;#,##0,&quot;K&quot;" sourceLinked="0"/>
        <c:majorTickMark val="out"/>
        <c:minorTickMark val="none"/>
        <c:tickLblPos val="low"/>
        <c:spPr>
          <a:ln w="12700" cap="flat">
            <a:noFill/>
            <a:prstDash val="solid"/>
            <a:round/>
          </a:ln>
        </c:spPr>
        <c:txPr>
          <a:bodyPr/>
          <a:lstStyle/>
          <a:p>
            <a:pPr>
              <a:defRPr sz="1200" b="0" i="0" u="none" strike="noStrike">
                <a:solidFill>
                  <a:srgbClr val="91A0B7"/>
                </a:solidFill>
                <a:latin typeface="Calibri"/>
              </a:defRPr>
            </a:pPr>
            <a:endParaRPr lang="en-US"/>
          </a:p>
        </c:txPr>
        <c:crossAx val="2094734554"/>
        <c:crosses val="autoZero"/>
        <c:crossBetween val="between"/>
      </c:valAx>
      <c:spPr>
        <a:solidFill>
          <a:srgbClr val="070A12"/>
        </a:solidFill>
        <a:ln>
          <a:noFill/>
        </a:ln>
        <a:effectLst/>
      </c:spPr>
    </c:plotArea>
    <c:legend>
      <c:legendPos val="b"/>
      <c:overlay val="0"/>
      <c:txPr>
        <a:bodyPr/>
        <a:lstStyle/>
        <a:p>
          <a:pPr>
            <a:defRPr sz="1100">
              <a:solidFill>
                <a:srgbClr val="91A0B7"/>
              </a:solidFill>
              <a:latin typeface="Calibri"/>
              <a:cs typeface="Calibri"/>
            </a:defRPr>
          </a:pPr>
          <a:endParaRPr lang="en-US"/>
        </a:p>
      </c:txPr>
    </c:legend>
    <c:plotVisOnly val="1"/>
    <c:dispBlanksAs val="span"/>
  </c:chart>
  <c:spPr>
    <a:solidFill>
      <a:srgbClr val="070A12"/>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detail behind the two CIO slides. Same window, same source,
same figures, one level down.
  $49,323 attributed to a team
  79 distinct application names across 115 rows
  1,290,499 calls, 50 days
HOW TO USE IT: the top ten and the unnamed rows are the two slides worth
presenting. The team pages after them are there so that every application
in the file is accounted for and anyone who wants to argue with a number
can find it.
COLOUR IS CONSISTENT THROUGHOUT: Claude orange, Azure OpenAI blue, GCP
green. Same as the rest of the FinOps decks.
ONE THING TO SAY OUT LOUD EARLY: the figures are Cost Explorer actuals
where they exist and the token estimate where they do not. Azure has no
actuals column at all, so every Azure bar here is an estimate.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TEN APPLICATIONS, 1 July to 19 August 2026
   1 agent                        $13,870   28.6%    120,259 calls  insait
   2 insureGen                    $11,537   23.8%    643,475 calls  solugen
   3 claims-copilot                $5,345   11.0%    274,035 calls  ai-factory
   4 cli                           $4,365    9.0%     91,388 calls  ai-factory
   5 unknown                       $2,849    5.9%     31,458 calls  insait,ai-factory
   6 (unlabeled)                   $2,638    5.4%     43,321 calls  insait,solugen,unknown,ai-factory,claims-team
   7 ai-factory-idp-ocr-hybrid     $2,394    4.9%     14,844 calls  ai-factory
   8 idp-ocr-hybrid                $1,990    4.1%     10,832 calls  ai-factory
   9 jeff---pension-copilot        $1,151    2.4%      7,969 calls  insait
  10 bedrock-session                 $970    2.0%     16,853 calls  apim
  top 10 together  $47,109, 97.0%
THE GOOD NEWS FIRST: ten names. Not a hundred. A list this short can have
an owner each and a budget each, and that is a week of work rather than a
programme.
NOW THE PART TO STOP ON: numbers five and six are called 'unknown' and
'(unlabeled)'. They are $5,487 between them and they are not
applications, they are the absence of a name. The next slide is entirely
about that, and it is the one to spend time on.
IF ASKED WHY agent HAS TWO COLOURS: the same application is served by both
Claude and Azure OpenAI, $13,242 and $628.
That is worth knowing on its own, because the two are priced very
differently for what looks like the same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MATTERS. Read the table, do not summarise it.
  unknown       Claude  insait         $2,849    31,457 calls
  (unlabeled)   Azure   insait         $2,260    23,227 calls
  (unlabeled)   Azure   solugen          $309    17,502 calls
  (unlabeled)   GCP     unknown           $38     1,341 calls
  (unlabeled)   Azure   unknown           $26     1,053 calls
  (unlabeled)   Azure   ai-factory         $3       128 calls
  (unlabeled)   GCP     ai-factory         $2        64 calls
  (unlabeled)   GCP     claims-team        $0         4 calls
  (unlabeled)   GCP     solugen            $0         2 calls
  unknown       Claude  ai-factory         $0         1 calls
  $5,487 on 10 rows, 11.3% of attributed spend.
TWO ROWS ARE THE WHOLE PROBLEM: 'unknown' on Claude at $2,849 and
'(unlabeled)' on Azure at $2,260, both on insait. At $91 and $97 per
thousand calls, that is not somebody's test script. That is production
traffic with the label missing.
AND THIS TABLE IS THE SMALLER HALF. $28,370 of Bedrock spend never
reaches the application table at all, plus $1,754 of guardrail fees.
Together with these rows that is $35,612, 44.8% of everything we spent.
WHAT IT COSTS US: no chargeback, no quota anyone can be held to, and no
answer to 'whose is this' for nearly half the bill.
WHAT IT WOULD TAKE: the tag exists, it is simply not being set. This is a
configuration change at the gateway, not a project.
DO NOT BLAME A TEAM FOR THIS. The rows land on insait because insait runs
the most agent traffic, not because insait is careless. The default is
wrong, and everyone inherits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INSAIT, $21,140, 42.9% of attributed spend, 188,069 calls.
  agent                            $13,870   120,259 calls  Claude+Azure
  unknown                           $2,849    31,457 calls  Claude
  (unlabeled)                       $2,260    23,227 calls  Azure
  jeff---pension-copilot            $1,151     7,969 calls  Claude
  voice stress test mike              $286     1,655 calls  Azure
  Jeff - Pension Copilot preprod       $92       221 calls  Azure
  IVR - Main Stable - 17.8             $83       805 calls  Azure
  Harel Travel Insurance Bot - A       $62       242 calls  Azure
  helper                               $56       204 calls  Claude
  IVR - Main Stable                    $40       513 calls  Azure
  jeff---pension-copilot-preprod       $39       310 calls  Claude
  life-insurance-preprod               $22       122 calls  Claude
THREE THINGS TO POINT AT:
1. agent is $13,870 on its own, on both Claude and Azure.
   It is the single largest application we run.
2. The second and third bars have no name. $2,849 and $2,260.
   Almost certainly the same agent workload with the tag missing, but we
   cannot prove that, which is the point.
3. The pension copilot is spread across several rows because the name is
   written differently each time, with and without hyphens, with preprod
   and test suffixes. Same for the IVR service, ten rows for one thing.
   Nothing can be trended while that is true.
TONE: this team is not overspending. It is doing the most expensive kind
of AI work, which is a product decision that was already taken. The ask
here is naming, not restraint.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AI-FACTORY, $14,871, 30.1% of attributed spend, 408,859 calls.
  claims-copilot                    $5,345   274,035 calls  Azure+Claude
  cli                               $4,365    91,388 calls  Claude
  ai-factory-idp-ocr-hybrid         $2,394    14,844 calls  GCP
  idp-ocr-hybrid                    $1,990    10,832 calls  GCP+Azure
  claim-assessor                      $163     8,972 calls  Azure+Claude
  ai-factory-yacovz                    $91       461 calls  GCP
  ai-factory-yakir                     $23       197 calls  GCP
  use-case-flow                        $15       256 calls  Azure
  LTS                                  $12        22 calls  Azure
  yacovz                                $9     2,119 calls  Claude
  responsible_ai                        $9       105 calls  Claude
  extraction-plugin                     $6       129 calls  Claude+Azure
THE SHAPE HERE IS DIFFERENT AND IT IS WORTH NAMING: this is the only team
with real spend on all three providers, and each one is doing a distinct
job rather than the same job three ways.
  Azure OpenAI  claims-copilot, high volume, cheap per call
  Claude        cli, the developer command line
  GCP           idp-ocr-hybrid, document OCR, our dearest per call
cli IS THE ONE TO FLAG: $4,365 of internal developer tooling.
Not customer-facing, not budgeted anywhere, and the fastest-growing line
in the bill on the period decks. It deserves an owner.
THE TAIL IS THE MESSY PART: most of this team's application names are test
rows, template defaults like microservice-name, and personal names. They
cost nothing. They make every report harder to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SOLUGEN, $11,852, 24.0% of attributed spend, 661,197 calls, 51.2% of all calls.
  insureGen                        $11,537   643,475 calls  Azure
  (unlabeled)                         $309    17,504 calls  Azure+GCP
  agent-marketing-poc                   $5       205 calls  Azure
  unknown-antoni                        $0         6 calls  Claude
  test-app                              $0         2 calls  Claude
  antoni                                $0         3 calls  Claude
  test                                  $0         1 calls  Claude
  unknown-test                          $0         1 calls  Claude
THE SIMPLEST TEAM IN THE FILE, AND THE POINT IS THAT THIS IS WHAT GOOD
LOOKS LIKE: one named application, one provider, half our call volume, a
quarter of the money, and a unit cost that has not moved.
It needs no intervention. It needs a budget line and a monthly number.
THE ONE BLEMISH: $309 on an '(unlabeled)' row, 17,504 calls.
Small, and the same defect as everywhere else.
IF SOMEONE ASKS WHY SOLUGEN IS SO CHEAP PER CALL: it is classification
work on Azure OpenAI, short prompts and short answers. Comparing its unit
cost to an agent workload is not a fair comparison, and we should not
invite the room to make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REMAINING TEAMS, $1,461 between them.
  apim                       $970   16,856 calls  not a business owner
  onedoc                     $395   12,836 calls  
  unknown                     $64    2,404 calls  not a business owner
  azure                       $28      166 calls  not a business owner
  datainfra                    $4       20 calls  
  mint                         $1       36 calls  
  peled                        $0       30 calls  
  afunana                      $0        5 calls  
  devops                       $0        6 calls  
  core-systems-division        $0        1 calls  
  databi                       $0        1 calls  
  test-team                    $0        9 calls  
  claims-team                  $0        4 calls  
TWO THINGS ONLY:
1. apim at $970 is the gateway's own row, not a team. Its
   bedrock-session traffic belongs to whoever called through it, and today
   we cannot say who that was.
2. Everything below onedoc is test traffic that reached a billed endpoint.
   It costs nothing. It is on the slide because it is the same defect as
   the unnamed rows, one size down: nobody meant to create these, and
   nothing stops them.
DO NOT SPEND TIME HERE IN THE MEETING. This page exists so that the file
is fully accounted for, not because there is a decision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IN ONE SENTENCE: make the gateway refuse an untagged call, and fix
the names. Both are configuration.
NOBODY HAS TO STOP BUILDING ANYTHING. Say that out loud. A cost slide in a
CIO meeting is usually heard as a restriction, and this one is not.
WHAT IT BUYS: a per-application figure every month that can be sent to a
team and defended. That is the precondition for chargeback and for any
quota model at the gateway. Today the gateway would be enforcing budgets
it cannot prove.
WHAT IT COSTS: nothing to buy. A tagging rule and a naming convention.
IF ASKED WHO OWNS THE FIX: the gateway team, for the tag. The application
teams, for the names. Neither is more than a day of work, and the second
one only has to be done once per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7863840" y="-1280160"/>
            <a:ext cx="5852160" cy="5852160"/>
          </a:xfrm>
          <a:prstGeom prst="ellipse">
            <a:avLst/>
          </a:prstGeom>
          <a:solidFill>
            <a:srgbClr val="3DD9EB">
              <a:alpha val="8000"/>
            </a:srgbClr>
          </a:solidFill>
          <a:ln w="12700">
            <a:solidFill>
              <a:srgbClr val="3DD9EB">
                <a:alpha val="0"/>
              </a:srgbClr>
            </a:solidFill>
            <a:prstDash val="solid"/>
          </a:ln>
        </p:spPr>
      </p:sp>
      <p:sp>
        <p:nvSpPr>
          <p:cNvPr id="4" name="Shape 2"/>
          <p:cNvSpPr/>
          <p:nvPr/>
        </p:nvSpPr>
        <p:spPr>
          <a:xfrm>
            <a:off x="9144000" y="2377440"/>
            <a:ext cx="4754880" cy="4754880"/>
          </a:xfrm>
          <a:prstGeom prst="ellipse">
            <a:avLst/>
          </a:prstGeom>
          <a:solidFill>
            <a:srgbClr val="3DD9EB">
              <a:alpha val="7000"/>
            </a:srgbClr>
          </a:solidFill>
          <a:ln w="12700">
            <a:solidFill>
              <a:srgbClr val="3DD9EB">
                <a:alpha val="0"/>
              </a:srgbClr>
            </a:solidFill>
            <a:prstDash val="solid"/>
          </a:ln>
        </p:spPr>
      </p:sp>
      <p:sp>
        <p:nvSpPr>
          <p:cNvPr id="5" name="Text 3"/>
          <p:cNvSpPr/>
          <p:nvPr/>
        </p:nvSpPr>
        <p:spPr>
          <a:xfrm>
            <a:off x="457200" y="2033016"/>
            <a:ext cx="8229600" cy="274320"/>
          </a:xfrm>
          <a:prstGeom prst="rect">
            <a:avLst/>
          </a:prstGeom>
          <a:noFill/>
          <a:ln/>
        </p:spPr>
        <p:txBody>
          <a:bodyPr wrap="square" lIns="0" tIns="0" rIns="0" bIns="0" rtlCol="0" anchor="ctr"/>
          <a:lstStyle/>
          <a:p>
            <a:pPr indent="0" marL="0">
              <a:buNone/>
            </a:pPr>
            <a:r>
              <a:rPr lang="en-US" sz="1300" b="1" spc="300" kern="0" dirty="0">
                <a:solidFill>
                  <a:srgbClr val="3DD9EB"/>
                </a:solidFill>
                <a:latin typeface="Calibri" pitchFamily="34" charset="0"/>
                <a:ea typeface="Calibri" pitchFamily="34" charset="-122"/>
                <a:cs typeface="Calibri" pitchFamily="34" charset="-120"/>
              </a:rPr>
              <a:t>AI COST BY TEAM AND APPLICATION</a:t>
            </a:r>
            <a:endParaRPr lang="en-US" sz="1300" dirty="0"/>
          </a:p>
        </p:txBody>
      </p:sp>
      <p:sp>
        <p:nvSpPr>
          <p:cNvPr id="6" name="Text 4"/>
          <p:cNvSpPr/>
          <p:nvPr/>
        </p:nvSpPr>
        <p:spPr>
          <a:xfrm>
            <a:off x="457200" y="2380488"/>
            <a:ext cx="8412480" cy="1859280"/>
          </a:xfrm>
          <a:prstGeom prst="rect">
            <a:avLst/>
          </a:prstGeom>
          <a:noFill/>
          <a:ln/>
        </p:spPr>
        <p:txBody>
          <a:bodyPr wrap="square" lIns="0" tIns="0" rIns="0" bIns="0" rtlCol="0" anchor="ctr"/>
          <a:lstStyle/>
          <a:p>
            <a:pPr indent="0" marL="0">
              <a:buNone/>
            </a:pPr>
            <a:r>
              <a:rPr lang="en-US" sz="4000" b="1" dirty="0">
                <a:solidFill>
                  <a:srgbClr val="F4F7FB"/>
                </a:solidFill>
                <a:latin typeface="Calibri" pitchFamily="34" charset="0"/>
                <a:ea typeface="Calibri" pitchFamily="34" charset="-122"/>
                <a:cs typeface="Calibri" pitchFamily="34" charset="-120"/>
              </a:rPr>
              <a:t>Every application,</a:t>
            </a:r>
            <a:endParaRPr lang="en-US" sz="4000" dirty="0"/>
          </a:p>
          <a:p>
            <a:pPr indent="0" marL="0">
              <a:buNone/>
            </a:pPr>
            <a:r>
              <a:rPr lang="en-US" sz="4000" b="1" dirty="0">
                <a:solidFill>
                  <a:srgbClr val="F4F7FB"/>
                </a:solidFill>
                <a:latin typeface="Calibri" pitchFamily="34" charset="0"/>
                <a:ea typeface="Calibri" pitchFamily="34" charset="-122"/>
                <a:cs typeface="Calibri" pitchFamily="34" charset="-120"/>
              </a:rPr>
              <a:t>and who is paying for it</a:t>
            </a:r>
            <a:endParaRPr lang="en-US" sz="4000" dirty="0"/>
          </a:p>
        </p:txBody>
      </p:sp>
      <p:sp>
        <p:nvSpPr>
          <p:cNvPr id="7" name="Text 5"/>
          <p:cNvSpPr/>
          <p:nvPr/>
        </p:nvSpPr>
        <p:spPr>
          <a:xfrm>
            <a:off x="457200" y="4367784"/>
            <a:ext cx="7863840" cy="457200"/>
          </a:xfrm>
          <a:prstGeom prst="rect">
            <a:avLst/>
          </a:prstGeom>
          <a:noFill/>
          <a:ln/>
        </p:spPr>
        <p:txBody>
          <a:bodyPr wrap="square" lIns="0" tIns="0" rIns="0" bIns="0" rtlCol="0" anchor="t"/>
          <a:lstStyle/>
          <a:p>
            <a:pPr indent="0" marL="0">
              <a:buNone/>
            </a:pPr>
            <a:r>
              <a:rPr lang="en-US" sz="1500" dirty="0">
                <a:solidFill>
                  <a:srgbClr val="91A0B7"/>
                </a:solidFill>
                <a:latin typeface="Calibri" pitchFamily="34" charset="0"/>
                <a:ea typeface="Calibri" pitchFamily="34" charset="-122"/>
                <a:cs typeface="Calibri" pitchFamily="34" charset="-120"/>
              </a:rPr>
              <a:t>$49,323 attributed across 79 applications and 14 teams, 1 July to 19 August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3DD9EB"/>
          </a:solidFill>
          <a:ln w="12700">
            <a:solidFill>
              <a:srgbClr val="3DD9EB"/>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3DD9EB"/>
                </a:solidFill>
                <a:latin typeface="Calibri" pitchFamily="34" charset="0"/>
                <a:ea typeface="Calibri" pitchFamily="34" charset="-122"/>
                <a:cs typeface="Calibri" pitchFamily="34" charset="-120"/>
              </a:rPr>
              <a:t>THE WHOLE ESTATE</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2625" b="1" dirty="0">
                <a:solidFill>
                  <a:srgbClr val="F4F7FB"/>
                </a:solidFill>
                <a:latin typeface="Calibri" pitchFamily="34" charset="0"/>
                <a:ea typeface="Calibri" pitchFamily="34" charset="-122"/>
                <a:cs typeface="Calibri" pitchFamily="34" charset="-120"/>
              </a:rPr>
              <a:t>Ten names are 97% of the AI bill</a:t>
            </a:r>
            <a:endParaRPr lang="en-US" sz="2625" dirty="0"/>
          </a:p>
        </p:txBody>
      </p:sp>
      <p:sp>
        <p:nvSpPr>
          <p:cNvPr id="6" name="Text 4"/>
          <p:cNvSpPr/>
          <p:nvPr/>
        </p:nvSpPr>
        <p:spPr>
          <a:xfrm>
            <a:off x="8321040" y="493776"/>
            <a:ext cx="3413455" cy="731520"/>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79 application names in the file. The other 69 carry $1,461 between them.</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indent="0" marL="0">
              <a:lnSpc>
                <a:spcPct val="115000"/>
              </a:lnSpc>
              <a:buNone/>
            </a:pPr>
            <a:r>
              <a:rPr lang="en-US" sz="1200" dirty="0">
                <a:solidFill>
                  <a:srgbClr val="536078"/>
                </a:solidFill>
                <a:latin typeface="Calibri" pitchFamily="34" charset="0"/>
                <a:ea typeface="Calibri" pitchFamily="34" charset="-122"/>
                <a:cs typeface="Calibri" pitchFamily="34" charset="-120"/>
              </a:rPr>
              <a:t>One bar per application name, rolled up across every team and provider it appears in. agent runs on both Claude and Azure OpenAI, which is why its bar has two colours. Figures are Cost Explorer actuals where they exist and the token estimate where they do not.</a:t>
            </a:r>
            <a:endParaRPr lang="en-US" sz="1200" dirty="0"/>
          </a:p>
        </p:txBody>
      </p:sp>
      <p:sp>
        <p:nvSpPr>
          <p:cNvPr id="8" name="Text 6"/>
          <p:cNvSpPr/>
          <p:nvPr/>
        </p:nvSpPr>
        <p:spPr>
          <a:xfrm>
            <a:off x="457200" y="1234440"/>
            <a:ext cx="7360920" cy="237744"/>
          </a:xfrm>
          <a:prstGeom prst="rect">
            <a:avLst/>
          </a:prstGeom>
          <a:noFill/>
          <a:ln/>
        </p:spPr>
        <p:txBody>
          <a:bodyPr wrap="square" lIns="0" tIns="0" rIns="0" bIns="0" rtlCol="0" anchor="ctr"/>
          <a:lstStyle/>
          <a:p>
            <a:pPr indent="0" marL="0">
              <a:buNone/>
            </a:pPr>
            <a:r>
              <a:rPr lang="en-US" sz="1500" b="1" dirty="0">
                <a:solidFill>
                  <a:srgbClr val="F4F7FB"/>
                </a:solidFill>
                <a:latin typeface="Calibri" pitchFamily="34" charset="0"/>
                <a:ea typeface="Calibri" pitchFamily="34" charset="-122"/>
                <a:cs typeface="Calibri" pitchFamily="34" charset="-120"/>
              </a:rPr>
              <a:t>Cost by application, split by provider</a:t>
            </a:r>
            <a:endParaRPr lang="en-US" sz="1500" dirty="0"/>
          </a:p>
        </p:txBody>
      </p:sp>
      <p:graphicFrame>
        <p:nvGraphicFramePr>
          <p:cNvPr id="9" name="Chart 0" descr=""/>
          <p:cNvGraphicFramePr/>
          <p:nvPr/>
        </p:nvGraphicFramePr>
        <p:xfrm>
          <a:off x="411480" y="1508760"/>
          <a:ext cx="7360920" cy="4572000"/>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8092440" y="1234440"/>
            <a:ext cx="3642055" cy="1097280"/>
          </a:xfrm>
          <a:prstGeom prst="roundRect">
            <a:avLst>
              <a:gd name="adj" fmla="val 5000"/>
            </a:avLst>
          </a:prstGeom>
          <a:solidFill>
            <a:srgbClr val="121B2D"/>
          </a:solidFill>
          <a:ln w="12700">
            <a:solidFill>
              <a:srgbClr val="23304A"/>
            </a:solidFill>
            <a:prstDash val="solid"/>
          </a:ln>
        </p:spPr>
      </p:sp>
      <p:sp>
        <p:nvSpPr>
          <p:cNvPr id="11" name="Text 8"/>
          <p:cNvSpPr/>
          <p:nvPr/>
        </p:nvSpPr>
        <p:spPr>
          <a:xfrm>
            <a:off x="8293608" y="1325880"/>
            <a:ext cx="323971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LARGEST APPLICATION</a:t>
            </a:r>
            <a:endParaRPr lang="en-US" sz="1200" dirty="0"/>
          </a:p>
        </p:txBody>
      </p:sp>
      <p:sp>
        <p:nvSpPr>
          <p:cNvPr id="12" name="Text 9"/>
          <p:cNvSpPr/>
          <p:nvPr/>
        </p:nvSpPr>
        <p:spPr>
          <a:xfrm>
            <a:off x="8293608" y="1527048"/>
            <a:ext cx="323971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$13,870</a:t>
            </a:r>
            <a:endParaRPr lang="en-US" sz="2800" dirty="0"/>
          </a:p>
        </p:txBody>
      </p:sp>
      <p:sp>
        <p:nvSpPr>
          <p:cNvPr id="13" name="Text 10"/>
          <p:cNvSpPr/>
          <p:nvPr/>
        </p:nvSpPr>
        <p:spPr>
          <a:xfrm>
            <a:off x="8293608" y="1929384"/>
            <a:ext cx="3239719" cy="356616"/>
          </a:xfrm>
          <a:prstGeom prst="rect">
            <a:avLst/>
          </a:prstGeom>
          <a:noFill/>
          <a:ln/>
        </p:spPr>
        <p:txBody>
          <a:bodyPr wrap="square" lIns="0" tIns="0" rIns="0" bIns="0" rtlCol="0" anchor="t"/>
          <a:lstStyle/>
          <a:p>
            <a:pPr indent="0" marL="0">
              <a:lnSpc>
                <a:spcPct val="105000"/>
              </a:lnSpc>
              <a:buNone/>
            </a:pPr>
            <a:r>
              <a:rPr lang="en-US" sz="1200" b="1" dirty="0">
                <a:solidFill>
                  <a:srgbClr val="3DD9EB"/>
                </a:solidFill>
                <a:latin typeface="Calibri" pitchFamily="34" charset="0"/>
                <a:ea typeface="Calibri" pitchFamily="34" charset="-122"/>
                <a:cs typeface="Calibri" pitchFamily="34" charset="-120"/>
              </a:rPr>
              <a:t>agent, insait, 28.6% of the bill</a:t>
            </a:r>
            <a:endParaRPr lang="en-US" sz="1200" dirty="0"/>
          </a:p>
        </p:txBody>
      </p:sp>
      <p:sp>
        <p:nvSpPr>
          <p:cNvPr id="14" name="Shape 11"/>
          <p:cNvSpPr/>
          <p:nvPr/>
        </p:nvSpPr>
        <p:spPr>
          <a:xfrm>
            <a:off x="8092440" y="2459736"/>
            <a:ext cx="3642055" cy="1097280"/>
          </a:xfrm>
          <a:prstGeom prst="roundRect">
            <a:avLst>
              <a:gd name="adj" fmla="val 5000"/>
            </a:avLst>
          </a:prstGeom>
          <a:solidFill>
            <a:srgbClr val="121B2D"/>
          </a:solidFill>
          <a:ln w="12700">
            <a:solidFill>
              <a:srgbClr val="23304A"/>
            </a:solidFill>
            <a:prstDash val="solid"/>
          </a:ln>
        </p:spPr>
      </p:sp>
      <p:sp>
        <p:nvSpPr>
          <p:cNvPr id="15" name="Text 12"/>
          <p:cNvSpPr/>
          <p:nvPr/>
        </p:nvSpPr>
        <p:spPr>
          <a:xfrm>
            <a:off x="8293608" y="2551176"/>
            <a:ext cx="323971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IN THE TOP TEN</a:t>
            </a:r>
            <a:endParaRPr lang="en-US" sz="1200" dirty="0"/>
          </a:p>
        </p:txBody>
      </p:sp>
      <p:sp>
        <p:nvSpPr>
          <p:cNvPr id="16" name="Text 13"/>
          <p:cNvSpPr/>
          <p:nvPr/>
        </p:nvSpPr>
        <p:spPr>
          <a:xfrm>
            <a:off x="8293608" y="2752344"/>
            <a:ext cx="323971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2 of 10</a:t>
            </a:r>
            <a:endParaRPr lang="en-US" sz="2800" dirty="0"/>
          </a:p>
        </p:txBody>
      </p:sp>
      <p:sp>
        <p:nvSpPr>
          <p:cNvPr id="17" name="Text 14"/>
          <p:cNvSpPr/>
          <p:nvPr/>
        </p:nvSpPr>
        <p:spPr>
          <a:xfrm>
            <a:off x="8293608" y="3154680"/>
            <a:ext cx="3239719" cy="356616"/>
          </a:xfrm>
          <a:prstGeom prst="rect">
            <a:avLst/>
          </a:prstGeom>
          <a:noFill/>
          <a:ln/>
        </p:spPr>
        <p:txBody>
          <a:bodyPr wrap="square" lIns="0" tIns="0" rIns="0" bIns="0" rtlCol="0" anchor="t"/>
          <a:lstStyle/>
          <a:p>
            <a:pPr indent="0" marL="0">
              <a:lnSpc>
                <a:spcPct val="105000"/>
              </a:lnSpc>
              <a:buNone/>
            </a:pPr>
            <a:r>
              <a:rPr lang="en-US" sz="1200" b="1" dirty="0">
                <a:solidFill>
                  <a:srgbClr val="FF6B7A"/>
                </a:solidFill>
                <a:latin typeface="Calibri" pitchFamily="34" charset="0"/>
                <a:ea typeface="Calibri" pitchFamily="34" charset="-122"/>
                <a:cs typeface="Calibri" pitchFamily="34" charset="-120"/>
              </a:rPr>
              <a:t>are not application names: unknown and (unlabeled)</a:t>
            </a:r>
            <a:endParaRPr lang="en-US" sz="1200" dirty="0"/>
          </a:p>
        </p:txBody>
      </p:sp>
      <p:sp>
        <p:nvSpPr>
          <p:cNvPr id="18" name="Shape 15"/>
          <p:cNvSpPr/>
          <p:nvPr/>
        </p:nvSpPr>
        <p:spPr>
          <a:xfrm>
            <a:off x="8092440" y="3685032"/>
            <a:ext cx="3642055" cy="1097280"/>
          </a:xfrm>
          <a:prstGeom prst="roundRect">
            <a:avLst>
              <a:gd name="adj" fmla="val 5000"/>
            </a:avLst>
          </a:prstGeom>
          <a:solidFill>
            <a:srgbClr val="121B2D"/>
          </a:solidFill>
          <a:ln w="12700">
            <a:solidFill>
              <a:srgbClr val="23304A"/>
            </a:solidFill>
            <a:prstDash val="solid"/>
          </a:ln>
        </p:spPr>
      </p:sp>
      <p:sp>
        <p:nvSpPr>
          <p:cNvPr id="19" name="Text 16"/>
          <p:cNvSpPr/>
          <p:nvPr/>
        </p:nvSpPr>
        <p:spPr>
          <a:xfrm>
            <a:off x="8293608" y="3776472"/>
            <a:ext cx="323971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THE LONG TAIL</a:t>
            </a:r>
            <a:endParaRPr lang="en-US" sz="1200" dirty="0"/>
          </a:p>
        </p:txBody>
      </p:sp>
      <p:sp>
        <p:nvSpPr>
          <p:cNvPr id="20" name="Text 17"/>
          <p:cNvSpPr/>
          <p:nvPr/>
        </p:nvSpPr>
        <p:spPr>
          <a:xfrm>
            <a:off x="8293608" y="3977640"/>
            <a:ext cx="323971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69 rows</a:t>
            </a:r>
            <a:endParaRPr lang="en-US" sz="2800" dirty="0"/>
          </a:p>
        </p:txBody>
      </p:sp>
      <p:sp>
        <p:nvSpPr>
          <p:cNvPr id="21" name="Text 18"/>
          <p:cNvSpPr/>
          <p:nvPr/>
        </p:nvSpPr>
        <p:spPr>
          <a:xfrm>
            <a:off x="8293608" y="4379976"/>
            <a:ext cx="3239719" cy="356616"/>
          </a:xfrm>
          <a:prstGeom prst="rect">
            <a:avLst/>
          </a:prstGeom>
          <a:noFill/>
          <a:ln/>
        </p:spPr>
        <p:txBody>
          <a:bodyPr wrap="square" lIns="0" tIns="0" rIns="0" bIns="0" rtlCol="0" anchor="t"/>
          <a:lstStyle/>
          <a:p>
            <a:pPr indent="0" marL="0">
              <a:lnSpc>
                <a:spcPct val="105000"/>
              </a:lnSpc>
              <a:buNone/>
            </a:pPr>
            <a:r>
              <a:rPr lang="en-US" sz="1200" b="1" dirty="0">
                <a:solidFill>
                  <a:srgbClr val="91A0B7"/>
                </a:solidFill>
                <a:latin typeface="Calibri" pitchFamily="34" charset="0"/>
                <a:ea typeface="Calibri" pitchFamily="34" charset="-122"/>
                <a:cs typeface="Calibri" pitchFamily="34" charset="-120"/>
              </a:rPr>
              <a:t>under $1 each, out of 115 rows in the file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FF6B7A"/>
          </a:solidFill>
          <a:ln w="12700">
            <a:solidFill>
              <a:srgbClr val="FF6B7A"/>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FF6B7A"/>
                </a:solidFill>
                <a:latin typeface="Calibri" pitchFamily="34" charset="0"/>
                <a:ea typeface="Calibri" pitchFamily="34" charset="-122"/>
                <a:cs typeface="Calibri" pitchFamily="34" charset="-120"/>
              </a:rPr>
              <a:t>NO APPLICATION NAME</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1800" b="1" dirty="0">
                <a:solidFill>
                  <a:srgbClr val="F4F7FB"/>
                </a:solidFill>
                <a:latin typeface="Calibri" pitchFamily="34" charset="0"/>
                <a:ea typeface="Calibri" pitchFamily="34" charset="-122"/>
                <a:cs typeface="Calibri" pitchFamily="34" charset="-120"/>
              </a:rPr>
              <a:t>Every row in the file that cannot be charged to anyone</a:t>
            </a:r>
            <a:endParaRPr lang="en-US" sz="1800" dirty="0"/>
          </a:p>
        </p:txBody>
      </p:sp>
      <p:sp>
        <p:nvSpPr>
          <p:cNvPr id="6" name="Text 4"/>
          <p:cNvSpPr/>
          <p:nvPr/>
        </p:nvSpPr>
        <p:spPr>
          <a:xfrm>
            <a:off x="8321040" y="493776"/>
            <a:ext cx="3413455" cy="731520"/>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All 10 of them, in full. Nothing here is aggregated away.</a:t>
            </a:r>
            <a:endParaRPr lang="en-US" sz="1200" dirty="0"/>
          </a:p>
        </p:txBody>
      </p:sp>
      <p:sp>
        <p:nvSpPr>
          <p:cNvPr id="7" name="Text 5"/>
          <p:cNvSpPr/>
          <p:nvPr/>
        </p:nvSpPr>
        <p:spPr>
          <a:xfrm>
            <a:off x="457200" y="6172200"/>
            <a:ext cx="11277295" cy="576072"/>
          </a:xfrm>
          <a:prstGeom prst="rect">
            <a:avLst/>
          </a:prstGeom>
          <a:noFill/>
          <a:ln/>
        </p:spPr>
        <p:txBody>
          <a:bodyPr wrap="square" lIns="0" tIns="0" rIns="0" bIns="0" rtlCol="0" anchor="t"/>
          <a:lstStyle/>
          <a:p>
            <a:pPr indent="0" marL="0">
              <a:lnSpc>
                <a:spcPct val="115000"/>
              </a:lnSpc>
              <a:buNone/>
            </a:pPr>
            <a:r>
              <a:rPr lang="en-US" sz="1200" dirty="0">
                <a:solidFill>
                  <a:srgbClr val="536078"/>
                </a:solidFill>
                <a:latin typeface="Calibri" pitchFamily="34" charset="0"/>
                <a:ea typeface="Calibri" pitchFamily="34" charset="-122"/>
                <a:cs typeface="Calibri" pitchFamily="34" charset="-120"/>
              </a:rPr>
              <a:t>The two largest, on insait, are $2,849 on Claude and $2,260 on Azure OpenAI. Both are large enough, and priced highly enough per call, to be production traffic rather than stray tests. Add the $28,370 of untagged Bedrock and guardrail fees that never reach this table and the figure is $35,612.</a:t>
            </a:r>
            <a:endParaRPr lang="en-US" sz="1200" dirty="0"/>
          </a:p>
        </p:txBody>
      </p:sp>
      <p:sp>
        <p:nvSpPr>
          <p:cNvPr id="8" name="Text 6"/>
          <p:cNvSpPr/>
          <p:nvPr/>
        </p:nvSpPr>
        <p:spPr>
          <a:xfrm>
            <a:off x="457200" y="1234440"/>
            <a:ext cx="8229600" cy="237744"/>
          </a:xfrm>
          <a:prstGeom prst="rect">
            <a:avLst/>
          </a:prstGeom>
          <a:noFill/>
          <a:ln/>
        </p:spPr>
        <p:txBody>
          <a:bodyPr wrap="square" lIns="0" tIns="0" rIns="0" bIns="0" rtlCol="0" anchor="ctr"/>
          <a:lstStyle/>
          <a:p>
            <a:pPr indent="0" marL="0">
              <a:buNone/>
            </a:pPr>
            <a:r>
              <a:rPr lang="en-US" sz="1500" b="1" dirty="0">
                <a:solidFill>
                  <a:srgbClr val="F4F7FB"/>
                </a:solidFill>
                <a:latin typeface="Calibri" pitchFamily="34" charset="0"/>
                <a:ea typeface="Calibri" pitchFamily="34" charset="-122"/>
                <a:cs typeface="Calibri" pitchFamily="34" charset="-120"/>
              </a:rPr>
              <a:t>Rows named unknown or (unlabeled), as they appear in the report</a:t>
            </a:r>
            <a:endParaRPr lang="en-US" sz="15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8229600" cy="914400"/>
        </p:xfrm>
        <a:graphic>
          <a:graphicData uri="http://schemas.openxmlformats.org/drawingml/2006/table">
            <a:tbl>
              <a:tblPr/>
              <a:tblGrid>
                <a:gridCol w="1920240"/>
                <a:gridCol w="1371600"/>
                <a:gridCol w="1463040"/>
                <a:gridCol w="1188720"/>
                <a:gridCol w="1188720"/>
                <a:gridCol w="1097280"/>
              </a:tblGrid>
              <a:tr h="292608">
                <a:tc>
                  <a:txBody>
                    <a:bodyPr/>
                    <a:lstStyle/>
                    <a:p>
                      <a:pPr algn="l" indent="0" marL="0">
                        <a:buNone/>
                      </a:pPr>
                      <a:r>
                        <a:rPr lang="en-US" sz="1200" b="1" spc="80" kern="0" dirty="0">
                          <a:solidFill>
                            <a:srgbClr val="91A0B7"/>
                          </a:solidFill>
                          <a:latin typeface="Calibri" pitchFamily="34" charset="0"/>
                          <a:ea typeface="Calibri" pitchFamily="34" charset="-122"/>
                          <a:cs typeface="Calibri" pitchFamily="34" charset="-120"/>
                        </a:rPr>
                        <a:t>Application name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b="1" spc="80" kern="0" dirty="0">
                          <a:solidFill>
                            <a:srgbClr val="91A0B7"/>
                          </a:solidFill>
                          <a:latin typeface="Calibri" pitchFamily="34" charset="0"/>
                          <a:ea typeface="Calibri" pitchFamily="34" charset="-122"/>
                          <a:cs typeface="Calibri" pitchFamily="34" charset="-120"/>
                        </a:rPr>
                        <a:t>Provider</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b="1" spc="80" kern="0" dirty="0">
                          <a:solidFill>
                            <a:srgbClr val="91A0B7"/>
                          </a:solidFill>
                          <a:latin typeface="Calibri" pitchFamily="34" charset="0"/>
                          <a:ea typeface="Calibri" pitchFamily="34" charset="-122"/>
                          <a:cs typeface="Calibri" pitchFamily="34" charset="-120"/>
                        </a:rPr>
                        <a:t>Team</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b="1" spc="80" kern="0" dirty="0">
                          <a:solidFill>
                            <a:srgbClr val="91A0B7"/>
                          </a:solidFill>
                          <a:latin typeface="Calibri" pitchFamily="34" charset="0"/>
                          <a:ea typeface="Calibri" pitchFamily="34" charset="-122"/>
                          <a:cs typeface="Calibri" pitchFamily="34" charset="-120"/>
                        </a:rPr>
                        <a:t>Cost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b="1" spc="80" kern="0" dirty="0">
                          <a:solidFill>
                            <a:srgbClr val="91A0B7"/>
                          </a:solidFill>
                          <a:latin typeface="Calibri" pitchFamily="34" charset="0"/>
                          <a:ea typeface="Calibri" pitchFamily="34" charset="-122"/>
                          <a:cs typeface="Calibri" pitchFamily="34" charset="-120"/>
                        </a:rPr>
                        <a:t>Calls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b="1" spc="80" kern="0" dirty="0">
                          <a:solidFill>
                            <a:srgbClr val="91A0B7"/>
                          </a:solidFill>
                          <a:latin typeface="Calibri" pitchFamily="34" charset="0"/>
                          <a:ea typeface="Calibri" pitchFamily="34" charset="-122"/>
                          <a:cs typeface="Calibri" pitchFamily="34" charset="-120"/>
                        </a:rPr>
                        <a:t>Per 1,000</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r h="292608">
                <a:tc>
                  <a:txBody>
                    <a:bodyPr/>
                    <a:lstStyle/>
                    <a:p>
                      <a:pPr algn="l" indent="0" marL="0">
                        <a:buNone/>
                      </a:pPr>
                      <a:r>
                        <a:rPr lang="en-US" sz="1200" b="1" dirty="0">
                          <a:solidFill>
                            <a:srgbClr val="FF6B7A"/>
                          </a:solidFill>
                          <a:latin typeface="Calibri" pitchFamily="34" charset="0"/>
                          <a:ea typeface="Calibri" pitchFamily="34" charset="-122"/>
                          <a:cs typeface="Calibri" pitchFamily="34" charset="-120"/>
                        </a:rPr>
                        <a:t>unknown</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Claude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insait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b="1" dirty="0">
                          <a:solidFill>
                            <a:srgbClr val="F4F7FB"/>
                          </a:solidFill>
                          <a:latin typeface="Calibri" pitchFamily="34" charset="0"/>
                          <a:ea typeface="Calibri" pitchFamily="34" charset="-122"/>
                          <a:cs typeface="Calibri" pitchFamily="34" charset="-120"/>
                        </a:rPr>
                        <a:t>$2,849</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31,457</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$91</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r>
              <a:tr h="292608">
                <a:tc>
                  <a:txBody>
                    <a:bodyPr/>
                    <a:lstStyle/>
                    <a:p>
                      <a:pPr algn="l" indent="0" marL="0">
                        <a:buNone/>
                      </a:pPr>
                      <a:r>
                        <a:rPr lang="en-US" sz="1200" b="1" dirty="0">
                          <a:solidFill>
                            <a:srgbClr val="FF6B7A"/>
                          </a:solidFill>
                          <a:latin typeface="Calibri" pitchFamily="34" charset="0"/>
                          <a:ea typeface="Calibri" pitchFamily="34" charset="-122"/>
                          <a:cs typeface="Calibri" pitchFamily="34" charset="-120"/>
                        </a:rPr>
                        <a:t>(unlabeled)</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Azure OpenAI</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insait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b="1" dirty="0">
                          <a:solidFill>
                            <a:srgbClr val="F4F7FB"/>
                          </a:solidFill>
                          <a:latin typeface="Calibri" pitchFamily="34" charset="0"/>
                          <a:ea typeface="Calibri" pitchFamily="34" charset="-122"/>
                          <a:cs typeface="Calibri" pitchFamily="34" charset="-120"/>
                        </a:rPr>
                        <a:t>$2,260</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23,227</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$97</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r h="292608">
                <a:tc>
                  <a:txBody>
                    <a:bodyPr/>
                    <a:lstStyle/>
                    <a:p>
                      <a:pPr algn="l" indent="0" marL="0">
                        <a:buNone/>
                      </a:pPr>
                      <a:r>
                        <a:rPr lang="en-US" sz="1200" b="1" dirty="0">
                          <a:solidFill>
                            <a:srgbClr val="FF6B7A"/>
                          </a:solidFill>
                          <a:latin typeface="Calibri" pitchFamily="34" charset="0"/>
                          <a:ea typeface="Calibri" pitchFamily="34" charset="-122"/>
                          <a:cs typeface="Calibri" pitchFamily="34" charset="-120"/>
                        </a:rPr>
                        <a:t>(unlabeled)</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Azure OpenAI</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solugen</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b="1" dirty="0">
                          <a:solidFill>
                            <a:srgbClr val="F4F7FB"/>
                          </a:solidFill>
                          <a:latin typeface="Calibri" pitchFamily="34" charset="0"/>
                          <a:ea typeface="Calibri" pitchFamily="34" charset="-122"/>
                          <a:cs typeface="Calibri" pitchFamily="34" charset="-120"/>
                        </a:rPr>
                        <a:t>$309</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17,502</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$18</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r>
              <a:tr h="292608">
                <a:tc>
                  <a:txBody>
                    <a:bodyPr/>
                    <a:lstStyle/>
                    <a:p>
                      <a:pPr algn="l" indent="0" marL="0">
                        <a:buNone/>
                      </a:pPr>
                      <a:r>
                        <a:rPr lang="en-US" sz="1200" b="1" dirty="0">
                          <a:solidFill>
                            <a:srgbClr val="FF6B7A"/>
                          </a:solidFill>
                          <a:latin typeface="Calibri" pitchFamily="34" charset="0"/>
                          <a:ea typeface="Calibri" pitchFamily="34" charset="-122"/>
                          <a:cs typeface="Calibri" pitchFamily="34" charset="-120"/>
                        </a:rPr>
                        <a:t>(unlabeled)</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GCP</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unknown</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b="1" dirty="0">
                          <a:solidFill>
                            <a:srgbClr val="F4F7FB"/>
                          </a:solidFill>
                          <a:latin typeface="Calibri" pitchFamily="34" charset="0"/>
                          <a:ea typeface="Calibri" pitchFamily="34" charset="-122"/>
                          <a:cs typeface="Calibri" pitchFamily="34" charset="-120"/>
                        </a:rPr>
                        <a:t>$38</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1,341</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$28</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r h="292608">
                <a:tc>
                  <a:txBody>
                    <a:bodyPr/>
                    <a:lstStyle/>
                    <a:p>
                      <a:pPr algn="l" indent="0" marL="0">
                        <a:buNone/>
                      </a:pPr>
                      <a:r>
                        <a:rPr lang="en-US" sz="1200" b="1" dirty="0">
                          <a:solidFill>
                            <a:srgbClr val="FF6B7A"/>
                          </a:solidFill>
                          <a:latin typeface="Calibri" pitchFamily="34" charset="0"/>
                          <a:ea typeface="Calibri" pitchFamily="34" charset="-122"/>
                          <a:cs typeface="Calibri" pitchFamily="34" charset="-120"/>
                        </a:rPr>
                        <a:t>(unlabeled)</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Azure OpenAI</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unknown</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b="1" dirty="0">
                          <a:solidFill>
                            <a:srgbClr val="F4F7FB"/>
                          </a:solidFill>
                          <a:latin typeface="Calibri" pitchFamily="34" charset="0"/>
                          <a:ea typeface="Calibri" pitchFamily="34" charset="-122"/>
                          <a:cs typeface="Calibri" pitchFamily="34" charset="-120"/>
                        </a:rPr>
                        <a:t>$26</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1,053</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$25</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r>
              <a:tr h="292608">
                <a:tc>
                  <a:txBody>
                    <a:bodyPr/>
                    <a:lstStyle/>
                    <a:p>
                      <a:pPr algn="l" indent="0" marL="0">
                        <a:buNone/>
                      </a:pPr>
                      <a:r>
                        <a:rPr lang="en-US" sz="1200" b="1" dirty="0">
                          <a:solidFill>
                            <a:srgbClr val="FF6B7A"/>
                          </a:solidFill>
                          <a:latin typeface="Calibri" pitchFamily="34" charset="0"/>
                          <a:ea typeface="Calibri" pitchFamily="34" charset="-122"/>
                          <a:cs typeface="Calibri" pitchFamily="34" charset="-120"/>
                        </a:rPr>
                        <a:t>(unlabeled)</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Azure OpenAI</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ai-factory</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b="1" dirty="0">
                          <a:solidFill>
                            <a:srgbClr val="F4F7FB"/>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128</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$21</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r h="292608">
                <a:tc>
                  <a:txBody>
                    <a:bodyPr/>
                    <a:lstStyle/>
                    <a:p>
                      <a:pPr algn="l" indent="0" marL="0">
                        <a:buNone/>
                      </a:pPr>
                      <a:r>
                        <a:rPr lang="en-US" sz="1200" b="1" dirty="0">
                          <a:solidFill>
                            <a:srgbClr val="FF6B7A"/>
                          </a:solidFill>
                          <a:latin typeface="Calibri" pitchFamily="34" charset="0"/>
                          <a:ea typeface="Calibri" pitchFamily="34" charset="-122"/>
                          <a:cs typeface="Calibri" pitchFamily="34" charset="-120"/>
                        </a:rPr>
                        <a:t>(unlabeled)</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GCP</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ai-factory</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b="1" dirty="0">
                          <a:solidFill>
                            <a:srgbClr val="F4F7FB"/>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64</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$37</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r>
              <a:tr h="292608">
                <a:tc>
                  <a:txBody>
                    <a:bodyPr/>
                    <a:lstStyle/>
                    <a:p>
                      <a:pPr algn="l" indent="0" marL="0">
                        <a:buNone/>
                      </a:pPr>
                      <a:r>
                        <a:rPr lang="en-US" sz="1200" b="1" dirty="0">
                          <a:solidFill>
                            <a:srgbClr val="FF6B7A"/>
                          </a:solidFill>
                          <a:latin typeface="Calibri" pitchFamily="34" charset="0"/>
                          <a:ea typeface="Calibri" pitchFamily="34" charset="-122"/>
                          <a:cs typeface="Calibri" pitchFamily="34" charset="-120"/>
                        </a:rPr>
                        <a:t>(unlabeled)</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GCP</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claims-team</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under $0.01</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53607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r h="292608">
                <a:tc>
                  <a:txBody>
                    <a:bodyPr/>
                    <a:lstStyle/>
                    <a:p>
                      <a:pPr algn="l" indent="0" marL="0">
                        <a:buNone/>
                      </a:pPr>
                      <a:r>
                        <a:rPr lang="en-US" sz="1200" b="1" dirty="0">
                          <a:solidFill>
                            <a:srgbClr val="FF6B7A"/>
                          </a:solidFill>
                          <a:latin typeface="Calibri" pitchFamily="34" charset="0"/>
                          <a:ea typeface="Calibri" pitchFamily="34" charset="-122"/>
                          <a:cs typeface="Calibri" pitchFamily="34" charset="-120"/>
                        </a:rPr>
                        <a:t>(unlabeled)</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GCP</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solugen</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under $0.01</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53607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r>
              <a:tr h="292608">
                <a:tc>
                  <a:txBody>
                    <a:bodyPr/>
                    <a:lstStyle/>
                    <a:p>
                      <a:pPr algn="l" indent="0" marL="0">
                        <a:buNone/>
                      </a:pPr>
                      <a:r>
                        <a:rPr lang="en-US" sz="1200" b="1" dirty="0">
                          <a:solidFill>
                            <a:srgbClr val="FF6B7A"/>
                          </a:solidFill>
                          <a:latin typeface="Calibri" pitchFamily="34" charset="0"/>
                          <a:ea typeface="Calibri" pitchFamily="34" charset="-122"/>
                          <a:cs typeface="Calibri" pitchFamily="34" charset="-120"/>
                        </a:rPr>
                        <a:t>unknown</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Claude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ai-factory</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under $0.01</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53607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r h="292608">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Total</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l" indent="0" marL="0">
                        <a:buNone/>
                      </a:pP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l" indent="0" marL="0">
                        <a:buNone/>
                      </a:pP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b="1" dirty="0">
                          <a:solidFill>
                            <a:srgbClr val="FF6B7A"/>
                          </a:solidFill>
                          <a:latin typeface="Calibri" pitchFamily="34" charset="0"/>
                          <a:ea typeface="Calibri" pitchFamily="34" charset="-122"/>
                          <a:cs typeface="Calibri" pitchFamily="34" charset="-120"/>
                        </a:rPr>
                        <a:t>$5,487</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b="1" dirty="0">
                          <a:solidFill>
                            <a:srgbClr val="F4F7FB"/>
                          </a:solidFill>
                          <a:latin typeface="Calibri" pitchFamily="34" charset="0"/>
                          <a:ea typeface="Calibri" pitchFamily="34" charset="-122"/>
                          <a:cs typeface="Calibri" pitchFamily="34" charset="-120"/>
                        </a:rPr>
                        <a:t>74,779</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r>
            </a:tbl>
          </a:graphicData>
        </a:graphic>
      </p:graphicFrame>
      <p:sp>
        <p:nvSpPr>
          <p:cNvPr id="10" name="Shape 7"/>
          <p:cNvSpPr/>
          <p:nvPr/>
        </p:nvSpPr>
        <p:spPr>
          <a:xfrm>
            <a:off x="9052560" y="1234440"/>
            <a:ext cx="2681935" cy="1097280"/>
          </a:xfrm>
          <a:prstGeom prst="roundRect">
            <a:avLst>
              <a:gd name="adj" fmla="val 5000"/>
            </a:avLst>
          </a:prstGeom>
          <a:solidFill>
            <a:srgbClr val="121B2D"/>
          </a:solidFill>
          <a:ln w="12700">
            <a:solidFill>
              <a:srgbClr val="23304A"/>
            </a:solidFill>
            <a:prstDash val="solid"/>
          </a:ln>
        </p:spPr>
      </p:sp>
      <p:sp>
        <p:nvSpPr>
          <p:cNvPr id="11" name="Text 8"/>
          <p:cNvSpPr/>
          <p:nvPr/>
        </p:nvSpPr>
        <p:spPr>
          <a:xfrm>
            <a:off x="9253728" y="1325880"/>
            <a:ext cx="227959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UNNAMED ROWS</a:t>
            </a:r>
            <a:endParaRPr lang="en-US" sz="1200" dirty="0"/>
          </a:p>
        </p:txBody>
      </p:sp>
      <p:sp>
        <p:nvSpPr>
          <p:cNvPr id="12" name="Text 9"/>
          <p:cNvSpPr/>
          <p:nvPr/>
        </p:nvSpPr>
        <p:spPr>
          <a:xfrm>
            <a:off x="9253728" y="1527048"/>
            <a:ext cx="227959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$5,487</a:t>
            </a:r>
            <a:endParaRPr lang="en-US" sz="2800" dirty="0"/>
          </a:p>
        </p:txBody>
      </p:sp>
      <p:sp>
        <p:nvSpPr>
          <p:cNvPr id="13" name="Text 10"/>
          <p:cNvSpPr/>
          <p:nvPr/>
        </p:nvSpPr>
        <p:spPr>
          <a:xfrm>
            <a:off x="9253728" y="1929384"/>
            <a:ext cx="2279599" cy="356616"/>
          </a:xfrm>
          <a:prstGeom prst="rect">
            <a:avLst/>
          </a:prstGeom>
          <a:noFill/>
          <a:ln/>
        </p:spPr>
        <p:txBody>
          <a:bodyPr wrap="square" lIns="0" tIns="0" rIns="0" bIns="0" rtlCol="0" anchor="t"/>
          <a:lstStyle/>
          <a:p>
            <a:pPr indent="0" marL="0">
              <a:lnSpc>
                <a:spcPct val="105000"/>
              </a:lnSpc>
              <a:buNone/>
            </a:pPr>
            <a:r>
              <a:rPr lang="en-US" sz="1200" b="1" dirty="0">
                <a:solidFill>
                  <a:srgbClr val="FF6B7A"/>
                </a:solidFill>
                <a:latin typeface="Calibri" pitchFamily="34" charset="0"/>
                <a:ea typeface="Calibri" pitchFamily="34" charset="-122"/>
                <a:cs typeface="Calibri" pitchFamily="34" charset="-120"/>
              </a:rPr>
              <a:t>10 rows above, 11.3% of attributed spend</a:t>
            </a:r>
            <a:endParaRPr lang="en-US" sz="1200" dirty="0"/>
          </a:p>
        </p:txBody>
      </p:sp>
      <p:sp>
        <p:nvSpPr>
          <p:cNvPr id="14" name="Shape 11"/>
          <p:cNvSpPr/>
          <p:nvPr/>
        </p:nvSpPr>
        <p:spPr>
          <a:xfrm>
            <a:off x="9052560" y="2459736"/>
            <a:ext cx="2681935" cy="1097280"/>
          </a:xfrm>
          <a:prstGeom prst="roundRect">
            <a:avLst>
              <a:gd name="adj" fmla="val 5000"/>
            </a:avLst>
          </a:prstGeom>
          <a:solidFill>
            <a:srgbClr val="121B2D"/>
          </a:solidFill>
          <a:ln w="12700">
            <a:solidFill>
              <a:srgbClr val="23304A"/>
            </a:solidFill>
            <a:prstDash val="solid"/>
          </a:ln>
        </p:spPr>
      </p:sp>
      <p:sp>
        <p:nvSpPr>
          <p:cNvPr id="15" name="Text 12"/>
          <p:cNvSpPr/>
          <p:nvPr/>
        </p:nvSpPr>
        <p:spPr>
          <a:xfrm>
            <a:off x="9253728" y="2551176"/>
            <a:ext cx="227959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UNTAGGED BEDROCK</a:t>
            </a:r>
            <a:endParaRPr lang="en-US" sz="1200" dirty="0"/>
          </a:p>
        </p:txBody>
      </p:sp>
      <p:sp>
        <p:nvSpPr>
          <p:cNvPr id="16" name="Text 13"/>
          <p:cNvSpPr/>
          <p:nvPr/>
        </p:nvSpPr>
        <p:spPr>
          <a:xfrm>
            <a:off x="9253728" y="2752344"/>
            <a:ext cx="227959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$28,370</a:t>
            </a:r>
            <a:endParaRPr lang="en-US" sz="2800" dirty="0"/>
          </a:p>
        </p:txBody>
      </p:sp>
      <p:sp>
        <p:nvSpPr>
          <p:cNvPr id="17" name="Text 14"/>
          <p:cNvSpPr/>
          <p:nvPr/>
        </p:nvSpPr>
        <p:spPr>
          <a:xfrm>
            <a:off x="9253728" y="3154680"/>
            <a:ext cx="2279599" cy="356616"/>
          </a:xfrm>
          <a:prstGeom prst="rect">
            <a:avLst/>
          </a:prstGeom>
          <a:noFill/>
          <a:ln/>
        </p:spPr>
        <p:txBody>
          <a:bodyPr wrap="square" lIns="0" tIns="0" rIns="0" bIns="0" rtlCol="0" anchor="t"/>
          <a:lstStyle/>
          <a:p>
            <a:pPr indent="0" marL="0">
              <a:lnSpc>
                <a:spcPct val="105000"/>
              </a:lnSpc>
              <a:buNone/>
            </a:pPr>
            <a:r>
              <a:rPr lang="en-US" sz="1200" b="1" dirty="0">
                <a:solidFill>
                  <a:srgbClr val="FF6B7A"/>
                </a:solidFill>
                <a:latin typeface="Calibri" pitchFamily="34" charset="0"/>
                <a:ea typeface="Calibri" pitchFamily="34" charset="-122"/>
                <a:cs typeface="Calibri" pitchFamily="34" charset="-120"/>
              </a:rPr>
              <a:t>never reached the application table at all</a:t>
            </a:r>
            <a:endParaRPr lang="en-US" sz="1200" dirty="0"/>
          </a:p>
        </p:txBody>
      </p:sp>
      <p:sp>
        <p:nvSpPr>
          <p:cNvPr id="18" name="Shape 15"/>
          <p:cNvSpPr/>
          <p:nvPr/>
        </p:nvSpPr>
        <p:spPr>
          <a:xfrm>
            <a:off x="9052560" y="3685032"/>
            <a:ext cx="2681935" cy="1097280"/>
          </a:xfrm>
          <a:prstGeom prst="roundRect">
            <a:avLst>
              <a:gd name="adj" fmla="val 5000"/>
            </a:avLst>
          </a:prstGeom>
          <a:solidFill>
            <a:srgbClr val="121B2D"/>
          </a:solidFill>
          <a:ln w="12700">
            <a:solidFill>
              <a:srgbClr val="23304A"/>
            </a:solidFill>
            <a:prstDash val="solid"/>
          </a:ln>
        </p:spPr>
      </p:sp>
      <p:sp>
        <p:nvSpPr>
          <p:cNvPr id="19" name="Text 16"/>
          <p:cNvSpPr/>
          <p:nvPr/>
        </p:nvSpPr>
        <p:spPr>
          <a:xfrm>
            <a:off x="9253728" y="3776472"/>
            <a:ext cx="227959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TOGETHER</a:t>
            </a:r>
            <a:endParaRPr lang="en-US" sz="1200" dirty="0"/>
          </a:p>
        </p:txBody>
      </p:sp>
      <p:sp>
        <p:nvSpPr>
          <p:cNvPr id="20" name="Text 17"/>
          <p:cNvSpPr/>
          <p:nvPr/>
        </p:nvSpPr>
        <p:spPr>
          <a:xfrm>
            <a:off x="9253728" y="3977640"/>
            <a:ext cx="227959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44.8%</a:t>
            </a:r>
            <a:endParaRPr lang="en-US" sz="2800" dirty="0"/>
          </a:p>
        </p:txBody>
      </p:sp>
      <p:sp>
        <p:nvSpPr>
          <p:cNvPr id="21" name="Text 18"/>
          <p:cNvSpPr/>
          <p:nvPr/>
        </p:nvSpPr>
        <p:spPr>
          <a:xfrm>
            <a:off x="9253728" y="4379976"/>
            <a:ext cx="2279599" cy="356616"/>
          </a:xfrm>
          <a:prstGeom prst="rect">
            <a:avLst/>
          </a:prstGeom>
          <a:noFill/>
          <a:ln/>
        </p:spPr>
        <p:txBody>
          <a:bodyPr wrap="square" lIns="0" tIns="0" rIns="0" bIns="0" rtlCol="0" anchor="t"/>
          <a:lstStyle/>
          <a:p>
            <a:pPr indent="0" marL="0">
              <a:lnSpc>
                <a:spcPct val="105000"/>
              </a:lnSpc>
              <a:buNone/>
            </a:pPr>
            <a:r>
              <a:rPr lang="en-US" sz="1200" b="1" dirty="0">
                <a:solidFill>
                  <a:srgbClr val="E0A030"/>
                </a:solidFill>
                <a:latin typeface="Calibri" pitchFamily="34" charset="0"/>
                <a:ea typeface="Calibri" pitchFamily="34" charset="-122"/>
                <a:cs typeface="Calibri" pitchFamily="34" charset="-120"/>
              </a:rPr>
              <a:t>$35,612 of the $79,448 bill has no name on it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FF9F43"/>
          </a:solidFill>
          <a:ln w="12700">
            <a:solidFill>
              <a:srgbClr val="FF9F43"/>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FF9F43"/>
                </a:solidFill>
                <a:latin typeface="Calibri" pitchFamily="34" charset="0"/>
                <a:ea typeface="Calibri" pitchFamily="34" charset="-122"/>
                <a:cs typeface="Calibri" pitchFamily="34" charset="-120"/>
              </a:rPr>
              <a:t>TEAM / INSAIT</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1826" b="1" dirty="0">
                <a:solidFill>
                  <a:srgbClr val="F4F7FB"/>
                </a:solidFill>
                <a:latin typeface="Calibri" pitchFamily="34" charset="0"/>
                <a:ea typeface="Calibri" pitchFamily="34" charset="-122"/>
                <a:cs typeface="Calibri" pitchFamily="34" charset="-120"/>
              </a:rPr>
              <a:t>insait: 43% of the spend, and the most unnamed</a:t>
            </a:r>
            <a:endParaRPr lang="en-US" sz="1826" dirty="0"/>
          </a:p>
        </p:txBody>
      </p:sp>
      <p:sp>
        <p:nvSpPr>
          <p:cNvPr id="6" name="Text 4"/>
          <p:cNvSpPr/>
          <p:nvPr/>
        </p:nvSpPr>
        <p:spPr>
          <a:xfrm>
            <a:off x="8321040" y="493776"/>
            <a:ext cx="3413455" cy="731520"/>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$21,140 across 33 applications and 188,069 calls, 1 July to 19 August 2026.</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indent="0" marL="0">
              <a:lnSpc>
                <a:spcPct val="115000"/>
              </a:lnSpc>
              <a:buNone/>
            </a:pPr>
            <a:r>
              <a:rPr lang="en-US" sz="1200" dirty="0">
                <a:solidFill>
                  <a:srgbClr val="536078"/>
                </a:solidFill>
                <a:latin typeface="Calibri" pitchFamily="34" charset="0"/>
                <a:ea typeface="Calibri" pitchFamily="34" charset="-122"/>
                <a:cs typeface="Calibri" pitchFamily="34" charset="-120"/>
              </a:rPr>
              <a:t>insait runs agent and copilot traffic, which is expensive per call by nature: $112 per thousand against $18 for solugen. The two unnamed rows sit here, and the pension copilot appears under several spellings, which is why the tail is longer than it looks.</a:t>
            </a:r>
            <a:endParaRPr lang="en-US" sz="1200" dirty="0"/>
          </a:p>
        </p:txBody>
      </p:sp>
      <p:sp>
        <p:nvSpPr>
          <p:cNvPr id="8" name="Text 6"/>
          <p:cNvSpPr/>
          <p:nvPr/>
        </p:nvSpPr>
        <p:spPr>
          <a:xfrm>
            <a:off x="457200" y="1234440"/>
            <a:ext cx="7360920" cy="237744"/>
          </a:xfrm>
          <a:prstGeom prst="rect">
            <a:avLst/>
          </a:prstGeom>
          <a:noFill/>
          <a:ln/>
        </p:spPr>
        <p:txBody>
          <a:bodyPr wrap="square" lIns="0" tIns="0" rIns="0" bIns="0" rtlCol="0" anchor="ctr"/>
          <a:lstStyle/>
          <a:p>
            <a:pPr indent="0" marL="0">
              <a:buNone/>
            </a:pPr>
            <a:r>
              <a:rPr lang="en-US" sz="1500" b="1" dirty="0">
                <a:solidFill>
                  <a:srgbClr val="F4F7FB"/>
                </a:solidFill>
                <a:latin typeface="Calibri" pitchFamily="34" charset="0"/>
                <a:ea typeface="Calibri" pitchFamily="34" charset="-122"/>
                <a:cs typeface="Calibri" pitchFamily="34" charset="-120"/>
              </a:rPr>
              <a:t>Cost by application, split by provider</a:t>
            </a:r>
            <a:endParaRPr lang="en-US" sz="1500" dirty="0"/>
          </a:p>
        </p:txBody>
      </p:sp>
      <p:graphicFrame>
        <p:nvGraphicFramePr>
          <p:cNvPr id="9" name="Chart 0" descr=""/>
          <p:cNvGraphicFramePr/>
          <p:nvPr/>
        </p:nvGraphicFramePr>
        <p:xfrm>
          <a:off x="411480" y="1508760"/>
          <a:ext cx="7360920" cy="4572000"/>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8092440" y="1234440"/>
            <a:ext cx="3642055" cy="1097280"/>
          </a:xfrm>
          <a:prstGeom prst="roundRect">
            <a:avLst>
              <a:gd name="adj" fmla="val 5000"/>
            </a:avLst>
          </a:prstGeom>
          <a:solidFill>
            <a:srgbClr val="121B2D"/>
          </a:solidFill>
          <a:ln w="12700">
            <a:solidFill>
              <a:srgbClr val="23304A"/>
            </a:solidFill>
            <a:prstDash val="solid"/>
          </a:ln>
        </p:spPr>
      </p:sp>
      <p:sp>
        <p:nvSpPr>
          <p:cNvPr id="11" name="Text 8"/>
          <p:cNvSpPr/>
          <p:nvPr/>
        </p:nvSpPr>
        <p:spPr>
          <a:xfrm>
            <a:off x="8293608" y="1325880"/>
            <a:ext cx="323971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TEAM TOTAL</a:t>
            </a:r>
            <a:endParaRPr lang="en-US" sz="1200" dirty="0"/>
          </a:p>
        </p:txBody>
      </p:sp>
      <p:sp>
        <p:nvSpPr>
          <p:cNvPr id="12" name="Text 9"/>
          <p:cNvSpPr/>
          <p:nvPr/>
        </p:nvSpPr>
        <p:spPr>
          <a:xfrm>
            <a:off x="8293608" y="1527048"/>
            <a:ext cx="323971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$21,140</a:t>
            </a:r>
            <a:endParaRPr lang="en-US" sz="2800" dirty="0"/>
          </a:p>
        </p:txBody>
      </p:sp>
      <p:sp>
        <p:nvSpPr>
          <p:cNvPr id="13" name="Text 10"/>
          <p:cNvSpPr/>
          <p:nvPr/>
        </p:nvSpPr>
        <p:spPr>
          <a:xfrm>
            <a:off x="8293608" y="1929384"/>
            <a:ext cx="3239719" cy="356616"/>
          </a:xfrm>
          <a:prstGeom prst="rect">
            <a:avLst/>
          </a:prstGeom>
          <a:noFill/>
          <a:ln/>
        </p:spPr>
        <p:txBody>
          <a:bodyPr wrap="square" lIns="0" tIns="0" rIns="0" bIns="0" rtlCol="0" anchor="t"/>
          <a:lstStyle/>
          <a:p>
            <a:pPr indent="0" marL="0">
              <a:lnSpc>
                <a:spcPct val="105000"/>
              </a:lnSpc>
              <a:buNone/>
            </a:pPr>
            <a:r>
              <a:rPr lang="en-US" sz="1200" b="1" dirty="0">
                <a:solidFill>
                  <a:srgbClr val="FF9F43"/>
                </a:solidFill>
                <a:latin typeface="Calibri" pitchFamily="34" charset="0"/>
                <a:ea typeface="Calibri" pitchFamily="34" charset="-122"/>
                <a:cs typeface="Calibri" pitchFamily="34" charset="-120"/>
              </a:rPr>
              <a:t>42.9% of all attributed AI spend</a:t>
            </a:r>
            <a:endParaRPr lang="en-US" sz="1200" dirty="0"/>
          </a:p>
        </p:txBody>
      </p:sp>
      <p:sp>
        <p:nvSpPr>
          <p:cNvPr id="14" name="Shape 11"/>
          <p:cNvSpPr/>
          <p:nvPr/>
        </p:nvSpPr>
        <p:spPr>
          <a:xfrm>
            <a:off x="8092440" y="2459736"/>
            <a:ext cx="3642055" cy="1097280"/>
          </a:xfrm>
          <a:prstGeom prst="roundRect">
            <a:avLst>
              <a:gd name="adj" fmla="val 5000"/>
            </a:avLst>
          </a:prstGeom>
          <a:solidFill>
            <a:srgbClr val="121B2D"/>
          </a:solidFill>
          <a:ln w="12700">
            <a:solidFill>
              <a:srgbClr val="23304A"/>
            </a:solidFill>
            <a:prstDash val="solid"/>
          </a:ln>
        </p:spPr>
      </p:sp>
      <p:sp>
        <p:nvSpPr>
          <p:cNvPr id="15" name="Text 12"/>
          <p:cNvSpPr/>
          <p:nvPr/>
        </p:nvSpPr>
        <p:spPr>
          <a:xfrm>
            <a:off x="8293608" y="2551176"/>
            <a:ext cx="323971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COST PER 1,000 CALLS</a:t>
            </a:r>
            <a:endParaRPr lang="en-US" sz="1200" dirty="0"/>
          </a:p>
        </p:txBody>
      </p:sp>
      <p:sp>
        <p:nvSpPr>
          <p:cNvPr id="16" name="Text 13"/>
          <p:cNvSpPr/>
          <p:nvPr/>
        </p:nvSpPr>
        <p:spPr>
          <a:xfrm>
            <a:off x="8293608" y="2752344"/>
            <a:ext cx="323971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$112</a:t>
            </a:r>
            <a:endParaRPr lang="en-US" sz="2800" dirty="0"/>
          </a:p>
        </p:txBody>
      </p:sp>
      <p:sp>
        <p:nvSpPr>
          <p:cNvPr id="17" name="Text 14"/>
          <p:cNvSpPr/>
          <p:nvPr/>
        </p:nvSpPr>
        <p:spPr>
          <a:xfrm>
            <a:off x="8293608" y="3154680"/>
            <a:ext cx="3239719" cy="356616"/>
          </a:xfrm>
          <a:prstGeom prst="rect">
            <a:avLst/>
          </a:prstGeom>
          <a:noFill/>
          <a:ln/>
        </p:spPr>
        <p:txBody>
          <a:bodyPr wrap="square" lIns="0" tIns="0" rIns="0" bIns="0" rtlCol="0" anchor="t"/>
          <a:lstStyle/>
          <a:p>
            <a:pPr indent="0" marL="0">
              <a:lnSpc>
                <a:spcPct val="105000"/>
              </a:lnSpc>
              <a:buNone/>
            </a:pPr>
            <a:r>
              <a:rPr lang="en-US" sz="1200" b="1" dirty="0">
                <a:solidFill>
                  <a:srgbClr val="91A0B7"/>
                </a:solidFill>
                <a:latin typeface="Calibri" pitchFamily="34" charset="0"/>
                <a:ea typeface="Calibri" pitchFamily="34" charset="-122"/>
                <a:cs typeface="Calibri" pitchFamily="34" charset="-120"/>
              </a:rPr>
              <a:t>188,069 calls in the window</a:t>
            </a:r>
            <a:endParaRPr lang="en-US" sz="1200" dirty="0"/>
          </a:p>
        </p:txBody>
      </p:sp>
      <p:sp>
        <p:nvSpPr>
          <p:cNvPr id="18" name="Shape 15"/>
          <p:cNvSpPr/>
          <p:nvPr/>
        </p:nvSpPr>
        <p:spPr>
          <a:xfrm>
            <a:off x="8092440" y="3685032"/>
            <a:ext cx="3642055" cy="1097280"/>
          </a:xfrm>
          <a:prstGeom prst="roundRect">
            <a:avLst>
              <a:gd name="adj" fmla="val 5000"/>
            </a:avLst>
          </a:prstGeom>
          <a:solidFill>
            <a:srgbClr val="121B2D"/>
          </a:solidFill>
          <a:ln w="12700">
            <a:solidFill>
              <a:srgbClr val="23304A"/>
            </a:solidFill>
            <a:prstDash val="solid"/>
          </a:ln>
        </p:spPr>
      </p:sp>
      <p:sp>
        <p:nvSpPr>
          <p:cNvPr id="19" name="Text 16"/>
          <p:cNvSpPr/>
          <p:nvPr/>
        </p:nvSpPr>
        <p:spPr>
          <a:xfrm>
            <a:off x="8293608" y="3776472"/>
            <a:ext cx="323971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UNNAMED HERE</a:t>
            </a:r>
            <a:endParaRPr lang="en-US" sz="1200" dirty="0"/>
          </a:p>
        </p:txBody>
      </p:sp>
      <p:sp>
        <p:nvSpPr>
          <p:cNvPr id="20" name="Text 17"/>
          <p:cNvSpPr/>
          <p:nvPr/>
        </p:nvSpPr>
        <p:spPr>
          <a:xfrm>
            <a:off x="8293608" y="3977640"/>
            <a:ext cx="323971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$5,109</a:t>
            </a:r>
            <a:endParaRPr lang="en-US" sz="2800" dirty="0"/>
          </a:p>
        </p:txBody>
      </p:sp>
      <p:sp>
        <p:nvSpPr>
          <p:cNvPr id="21" name="Text 18"/>
          <p:cNvSpPr/>
          <p:nvPr/>
        </p:nvSpPr>
        <p:spPr>
          <a:xfrm>
            <a:off x="8293608" y="4379976"/>
            <a:ext cx="3239719" cy="356616"/>
          </a:xfrm>
          <a:prstGeom prst="rect">
            <a:avLst/>
          </a:prstGeom>
          <a:noFill/>
          <a:ln/>
        </p:spPr>
        <p:txBody>
          <a:bodyPr wrap="square" lIns="0" tIns="0" rIns="0" bIns="0" rtlCol="0" anchor="t"/>
          <a:lstStyle/>
          <a:p>
            <a:pPr indent="0" marL="0">
              <a:lnSpc>
                <a:spcPct val="105000"/>
              </a:lnSpc>
              <a:buNone/>
            </a:pPr>
            <a:r>
              <a:rPr lang="en-US" sz="1200" b="1" dirty="0">
                <a:solidFill>
                  <a:srgbClr val="FF6B7A"/>
                </a:solidFill>
                <a:latin typeface="Calibri" pitchFamily="34" charset="0"/>
                <a:ea typeface="Calibri" pitchFamily="34" charset="-122"/>
                <a:cs typeface="Calibri" pitchFamily="34" charset="-120"/>
              </a:rPr>
              <a:t>24.2% of this team, on 2 rows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B07CFF"/>
          </a:solidFill>
          <a:ln w="12700">
            <a:solidFill>
              <a:srgbClr val="B07CFF"/>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B07CFF"/>
                </a:solidFill>
                <a:latin typeface="Calibri" pitchFamily="34" charset="0"/>
                <a:ea typeface="Calibri" pitchFamily="34" charset="-122"/>
                <a:cs typeface="Calibri" pitchFamily="34" charset="-120"/>
              </a:rPr>
              <a:t>TEAM / AI-FACTORY</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1800" b="1" dirty="0">
                <a:solidFill>
                  <a:srgbClr val="F4F7FB"/>
                </a:solidFill>
                <a:latin typeface="Calibri" pitchFamily="34" charset="0"/>
                <a:ea typeface="Calibri" pitchFamily="34" charset="-122"/>
                <a:cs typeface="Calibri" pitchFamily="34" charset="-120"/>
              </a:rPr>
              <a:t>ai-factory: the only team using all three providers</a:t>
            </a:r>
            <a:endParaRPr lang="en-US" sz="1800" dirty="0"/>
          </a:p>
        </p:txBody>
      </p:sp>
      <p:sp>
        <p:nvSpPr>
          <p:cNvPr id="6" name="Text 4"/>
          <p:cNvSpPr/>
          <p:nvPr/>
        </p:nvSpPr>
        <p:spPr>
          <a:xfrm>
            <a:off x="8321040" y="493776"/>
            <a:ext cx="3413455" cy="731520"/>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$14,871 across 36 applications and 408,859 calls, 1 July to 19 August 2026.</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indent="0" marL="0">
              <a:lnSpc>
                <a:spcPct val="115000"/>
              </a:lnSpc>
              <a:buNone/>
            </a:pPr>
            <a:r>
              <a:rPr lang="en-US" sz="1200" dirty="0">
                <a:solidFill>
                  <a:srgbClr val="536078"/>
                </a:solidFill>
                <a:latin typeface="Calibri" pitchFamily="34" charset="0"/>
                <a:ea typeface="Calibri" pitchFamily="34" charset="-122"/>
                <a:cs typeface="Calibri" pitchFamily="34" charset="-120"/>
              </a:rPr>
              <a:t>The one team whose work is genuinely split: Azure OpenAI for claims-copilot, Claude for the developer command line, GCP for both document OCR pipelines. 36 application names, most of them worth pennies, which is where the test and template rows collect.</a:t>
            </a:r>
            <a:endParaRPr lang="en-US" sz="1200" dirty="0"/>
          </a:p>
        </p:txBody>
      </p:sp>
      <p:sp>
        <p:nvSpPr>
          <p:cNvPr id="8" name="Text 6"/>
          <p:cNvSpPr/>
          <p:nvPr/>
        </p:nvSpPr>
        <p:spPr>
          <a:xfrm>
            <a:off x="457200" y="1234440"/>
            <a:ext cx="7360920" cy="237744"/>
          </a:xfrm>
          <a:prstGeom prst="rect">
            <a:avLst/>
          </a:prstGeom>
          <a:noFill/>
          <a:ln/>
        </p:spPr>
        <p:txBody>
          <a:bodyPr wrap="square" lIns="0" tIns="0" rIns="0" bIns="0" rtlCol="0" anchor="ctr"/>
          <a:lstStyle/>
          <a:p>
            <a:pPr indent="0" marL="0">
              <a:buNone/>
            </a:pPr>
            <a:r>
              <a:rPr lang="en-US" sz="1500" b="1" dirty="0">
                <a:solidFill>
                  <a:srgbClr val="F4F7FB"/>
                </a:solidFill>
                <a:latin typeface="Calibri" pitchFamily="34" charset="0"/>
                <a:ea typeface="Calibri" pitchFamily="34" charset="-122"/>
                <a:cs typeface="Calibri" pitchFamily="34" charset="-120"/>
              </a:rPr>
              <a:t>Cost by application, split by provider</a:t>
            </a:r>
            <a:endParaRPr lang="en-US" sz="1500" dirty="0"/>
          </a:p>
        </p:txBody>
      </p:sp>
      <p:graphicFrame>
        <p:nvGraphicFramePr>
          <p:cNvPr id="9" name="Chart 0" descr=""/>
          <p:cNvGraphicFramePr/>
          <p:nvPr/>
        </p:nvGraphicFramePr>
        <p:xfrm>
          <a:off x="411480" y="1508760"/>
          <a:ext cx="7360920" cy="4572000"/>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8092440" y="1234440"/>
            <a:ext cx="3642055" cy="1097280"/>
          </a:xfrm>
          <a:prstGeom prst="roundRect">
            <a:avLst>
              <a:gd name="adj" fmla="val 5000"/>
            </a:avLst>
          </a:prstGeom>
          <a:solidFill>
            <a:srgbClr val="121B2D"/>
          </a:solidFill>
          <a:ln w="12700">
            <a:solidFill>
              <a:srgbClr val="23304A"/>
            </a:solidFill>
            <a:prstDash val="solid"/>
          </a:ln>
        </p:spPr>
      </p:sp>
      <p:sp>
        <p:nvSpPr>
          <p:cNvPr id="11" name="Text 8"/>
          <p:cNvSpPr/>
          <p:nvPr/>
        </p:nvSpPr>
        <p:spPr>
          <a:xfrm>
            <a:off x="8293608" y="1325880"/>
            <a:ext cx="323971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TEAM TOTAL</a:t>
            </a:r>
            <a:endParaRPr lang="en-US" sz="1200" dirty="0"/>
          </a:p>
        </p:txBody>
      </p:sp>
      <p:sp>
        <p:nvSpPr>
          <p:cNvPr id="12" name="Text 9"/>
          <p:cNvSpPr/>
          <p:nvPr/>
        </p:nvSpPr>
        <p:spPr>
          <a:xfrm>
            <a:off x="8293608" y="1527048"/>
            <a:ext cx="323971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$14,871</a:t>
            </a:r>
            <a:endParaRPr lang="en-US" sz="2800" dirty="0"/>
          </a:p>
        </p:txBody>
      </p:sp>
      <p:sp>
        <p:nvSpPr>
          <p:cNvPr id="13" name="Text 10"/>
          <p:cNvSpPr/>
          <p:nvPr/>
        </p:nvSpPr>
        <p:spPr>
          <a:xfrm>
            <a:off x="8293608" y="1929384"/>
            <a:ext cx="3239719" cy="356616"/>
          </a:xfrm>
          <a:prstGeom prst="rect">
            <a:avLst/>
          </a:prstGeom>
          <a:noFill/>
          <a:ln/>
        </p:spPr>
        <p:txBody>
          <a:bodyPr wrap="square" lIns="0" tIns="0" rIns="0" bIns="0" rtlCol="0" anchor="t"/>
          <a:lstStyle/>
          <a:p>
            <a:pPr indent="0" marL="0">
              <a:lnSpc>
                <a:spcPct val="105000"/>
              </a:lnSpc>
              <a:buNone/>
            </a:pPr>
            <a:r>
              <a:rPr lang="en-US" sz="1200" b="1" dirty="0">
                <a:solidFill>
                  <a:srgbClr val="B07CFF"/>
                </a:solidFill>
                <a:latin typeface="Calibri" pitchFamily="34" charset="0"/>
                <a:ea typeface="Calibri" pitchFamily="34" charset="-122"/>
                <a:cs typeface="Calibri" pitchFamily="34" charset="-120"/>
              </a:rPr>
              <a:t>30.1% of all attributed AI spend</a:t>
            </a:r>
            <a:endParaRPr lang="en-US" sz="1200" dirty="0"/>
          </a:p>
        </p:txBody>
      </p:sp>
      <p:sp>
        <p:nvSpPr>
          <p:cNvPr id="14" name="Shape 11"/>
          <p:cNvSpPr/>
          <p:nvPr/>
        </p:nvSpPr>
        <p:spPr>
          <a:xfrm>
            <a:off x="8092440" y="2459736"/>
            <a:ext cx="3642055" cy="1097280"/>
          </a:xfrm>
          <a:prstGeom prst="roundRect">
            <a:avLst>
              <a:gd name="adj" fmla="val 5000"/>
            </a:avLst>
          </a:prstGeom>
          <a:solidFill>
            <a:srgbClr val="121B2D"/>
          </a:solidFill>
          <a:ln w="12700">
            <a:solidFill>
              <a:srgbClr val="23304A"/>
            </a:solidFill>
            <a:prstDash val="solid"/>
          </a:ln>
        </p:spPr>
      </p:sp>
      <p:sp>
        <p:nvSpPr>
          <p:cNvPr id="15" name="Text 12"/>
          <p:cNvSpPr/>
          <p:nvPr/>
        </p:nvSpPr>
        <p:spPr>
          <a:xfrm>
            <a:off x="8293608" y="2551176"/>
            <a:ext cx="323971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COST PER 1,000 CALLS</a:t>
            </a:r>
            <a:endParaRPr lang="en-US" sz="1200" dirty="0"/>
          </a:p>
        </p:txBody>
      </p:sp>
      <p:sp>
        <p:nvSpPr>
          <p:cNvPr id="16" name="Text 13"/>
          <p:cNvSpPr/>
          <p:nvPr/>
        </p:nvSpPr>
        <p:spPr>
          <a:xfrm>
            <a:off x="8293608" y="2752344"/>
            <a:ext cx="323971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$36</a:t>
            </a:r>
            <a:endParaRPr lang="en-US" sz="2800" dirty="0"/>
          </a:p>
        </p:txBody>
      </p:sp>
      <p:sp>
        <p:nvSpPr>
          <p:cNvPr id="17" name="Text 14"/>
          <p:cNvSpPr/>
          <p:nvPr/>
        </p:nvSpPr>
        <p:spPr>
          <a:xfrm>
            <a:off x="8293608" y="3154680"/>
            <a:ext cx="3239719" cy="356616"/>
          </a:xfrm>
          <a:prstGeom prst="rect">
            <a:avLst/>
          </a:prstGeom>
          <a:noFill/>
          <a:ln/>
        </p:spPr>
        <p:txBody>
          <a:bodyPr wrap="square" lIns="0" tIns="0" rIns="0" bIns="0" rtlCol="0" anchor="t"/>
          <a:lstStyle/>
          <a:p>
            <a:pPr indent="0" marL="0">
              <a:lnSpc>
                <a:spcPct val="105000"/>
              </a:lnSpc>
              <a:buNone/>
            </a:pPr>
            <a:r>
              <a:rPr lang="en-US" sz="1200" b="1" dirty="0">
                <a:solidFill>
                  <a:srgbClr val="91A0B7"/>
                </a:solidFill>
                <a:latin typeface="Calibri" pitchFamily="34" charset="0"/>
                <a:ea typeface="Calibri" pitchFamily="34" charset="-122"/>
                <a:cs typeface="Calibri" pitchFamily="34" charset="-120"/>
              </a:rPr>
              <a:t>408,859 calls in the window</a:t>
            </a:r>
            <a:endParaRPr lang="en-US" sz="1200" dirty="0"/>
          </a:p>
        </p:txBody>
      </p:sp>
      <p:sp>
        <p:nvSpPr>
          <p:cNvPr id="18" name="Shape 15"/>
          <p:cNvSpPr/>
          <p:nvPr/>
        </p:nvSpPr>
        <p:spPr>
          <a:xfrm>
            <a:off x="8092440" y="3685032"/>
            <a:ext cx="3642055" cy="1097280"/>
          </a:xfrm>
          <a:prstGeom prst="roundRect">
            <a:avLst>
              <a:gd name="adj" fmla="val 5000"/>
            </a:avLst>
          </a:prstGeom>
          <a:solidFill>
            <a:srgbClr val="121B2D"/>
          </a:solidFill>
          <a:ln w="12700">
            <a:solidFill>
              <a:srgbClr val="23304A"/>
            </a:solidFill>
            <a:prstDash val="solid"/>
          </a:ln>
        </p:spPr>
      </p:sp>
      <p:sp>
        <p:nvSpPr>
          <p:cNvPr id="19" name="Text 16"/>
          <p:cNvSpPr/>
          <p:nvPr/>
        </p:nvSpPr>
        <p:spPr>
          <a:xfrm>
            <a:off x="8293608" y="3776472"/>
            <a:ext cx="323971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UNNAMED HERE</a:t>
            </a:r>
            <a:endParaRPr lang="en-US" sz="1200" dirty="0"/>
          </a:p>
        </p:txBody>
      </p:sp>
      <p:sp>
        <p:nvSpPr>
          <p:cNvPr id="20" name="Text 17"/>
          <p:cNvSpPr/>
          <p:nvPr/>
        </p:nvSpPr>
        <p:spPr>
          <a:xfrm>
            <a:off x="8293608" y="3977640"/>
            <a:ext cx="323971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$5</a:t>
            </a:r>
            <a:endParaRPr lang="en-US" sz="2800" dirty="0"/>
          </a:p>
        </p:txBody>
      </p:sp>
      <p:sp>
        <p:nvSpPr>
          <p:cNvPr id="21" name="Text 18"/>
          <p:cNvSpPr/>
          <p:nvPr/>
        </p:nvSpPr>
        <p:spPr>
          <a:xfrm>
            <a:off x="8293608" y="4379976"/>
            <a:ext cx="3239719" cy="356616"/>
          </a:xfrm>
          <a:prstGeom prst="rect">
            <a:avLst/>
          </a:prstGeom>
          <a:noFill/>
          <a:ln/>
        </p:spPr>
        <p:txBody>
          <a:bodyPr wrap="square" lIns="0" tIns="0" rIns="0" bIns="0" rtlCol="0" anchor="t"/>
          <a:lstStyle/>
          <a:p>
            <a:pPr indent="0" marL="0">
              <a:lnSpc>
                <a:spcPct val="105000"/>
              </a:lnSpc>
              <a:buNone/>
            </a:pPr>
            <a:r>
              <a:rPr lang="en-US" sz="1200" b="1" dirty="0">
                <a:solidFill>
                  <a:srgbClr val="FF6B7A"/>
                </a:solidFill>
                <a:latin typeface="Calibri" pitchFamily="34" charset="0"/>
                <a:ea typeface="Calibri" pitchFamily="34" charset="-122"/>
                <a:cs typeface="Calibri" pitchFamily="34" charset="-120"/>
              </a:rPr>
              <a:t>under 0.1% of this team, on 2 rows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3DD9EB"/>
          </a:solidFill>
          <a:ln w="12700">
            <a:solidFill>
              <a:srgbClr val="3DD9EB"/>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3DD9EB"/>
                </a:solidFill>
                <a:latin typeface="Calibri" pitchFamily="34" charset="0"/>
                <a:ea typeface="Calibri" pitchFamily="34" charset="-122"/>
                <a:cs typeface="Calibri" pitchFamily="34" charset="-120"/>
              </a:rPr>
              <a:t>TEAM / SOLUGEN</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1800" b="1" dirty="0">
                <a:solidFill>
                  <a:srgbClr val="F4F7FB"/>
                </a:solidFill>
                <a:latin typeface="Calibri" pitchFamily="34" charset="0"/>
                <a:ea typeface="Calibri" pitchFamily="34" charset="-122"/>
                <a:cs typeface="Calibri" pitchFamily="34" charset="-120"/>
              </a:rPr>
              <a:t>solugen: one application, half of all our calls</a:t>
            </a:r>
            <a:endParaRPr lang="en-US" sz="1800" dirty="0"/>
          </a:p>
        </p:txBody>
      </p:sp>
      <p:sp>
        <p:nvSpPr>
          <p:cNvPr id="6" name="Text 4"/>
          <p:cNvSpPr/>
          <p:nvPr/>
        </p:nvSpPr>
        <p:spPr>
          <a:xfrm>
            <a:off x="8321040" y="493776"/>
            <a:ext cx="3413455" cy="731520"/>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$11,852 across 8 applications and 661,197 calls, 1 July to 19 August 2026.</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indent="0" marL="0">
              <a:lnSpc>
                <a:spcPct val="115000"/>
              </a:lnSpc>
              <a:buNone/>
            </a:pPr>
            <a:r>
              <a:rPr lang="en-US" sz="1200" dirty="0">
                <a:solidFill>
                  <a:srgbClr val="536078"/>
                </a:solidFill>
                <a:latin typeface="Calibri" pitchFamily="34" charset="0"/>
                <a:ea typeface="Calibri" pitchFamily="34" charset="-122"/>
                <a:cs typeface="Calibri" pitchFamily="34" charset="-120"/>
              </a:rPr>
              <a:t>insureGen alone is 643,475 calls, 50% of everything we send to any AI provider, at $18 per thousand. It is the cheapest large workload we run and the clearest one to forecast.</a:t>
            </a:r>
            <a:endParaRPr lang="en-US" sz="1200" dirty="0"/>
          </a:p>
        </p:txBody>
      </p:sp>
      <p:sp>
        <p:nvSpPr>
          <p:cNvPr id="8" name="Text 6"/>
          <p:cNvSpPr/>
          <p:nvPr/>
        </p:nvSpPr>
        <p:spPr>
          <a:xfrm>
            <a:off x="457200" y="1234440"/>
            <a:ext cx="7360920" cy="237744"/>
          </a:xfrm>
          <a:prstGeom prst="rect">
            <a:avLst/>
          </a:prstGeom>
          <a:noFill/>
          <a:ln/>
        </p:spPr>
        <p:txBody>
          <a:bodyPr wrap="square" lIns="0" tIns="0" rIns="0" bIns="0" rtlCol="0" anchor="ctr"/>
          <a:lstStyle/>
          <a:p>
            <a:pPr indent="0" marL="0">
              <a:buNone/>
            </a:pPr>
            <a:r>
              <a:rPr lang="en-US" sz="1500" b="1" dirty="0">
                <a:solidFill>
                  <a:srgbClr val="F4F7FB"/>
                </a:solidFill>
                <a:latin typeface="Calibri" pitchFamily="34" charset="0"/>
                <a:ea typeface="Calibri" pitchFamily="34" charset="-122"/>
                <a:cs typeface="Calibri" pitchFamily="34" charset="-120"/>
              </a:rPr>
              <a:t>Cost by application, split by provider</a:t>
            </a:r>
            <a:endParaRPr lang="en-US" sz="1500" dirty="0"/>
          </a:p>
        </p:txBody>
      </p:sp>
      <p:graphicFrame>
        <p:nvGraphicFramePr>
          <p:cNvPr id="9" name="Chart 0" descr=""/>
          <p:cNvGraphicFramePr/>
          <p:nvPr/>
        </p:nvGraphicFramePr>
        <p:xfrm>
          <a:off x="411480" y="1508760"/>
          <a:ext cx="7360920" cy="4572000"/>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8092440" y="1234440"/>
            <a:ext cx="3642055" cy="1097280"/>
          </a:xfrm>
          <a:prstGeom prst="roundRect">
            <a:avLst>
              <a:gd name="adj" fmla="val 5000"/>
            </a:avLst>
          </a:prstGeom>
          <a:solidFill>
            <a:srgbClr val="121B2D"/>
          </a:solidFill>
          <a:ln w="12700">
            <a:solidFill>
              <a:srgbClr val="23304A"/>
            </a:solidFill>
            <a:prstDash val="solid"/>
          </a:ln>
        </p:spPr>
      </p:sp>
      <p:sp>
        <p:nvSpPr>
          <p:cNvPr id="11" name="Text 8"/>
          <p:cNvSpPr/>
          <p:nvPr/>
        </p:nvSpPr>
        <p:spPr>
          <a:xfrm>
            <a:off x="8293608" y="1325880"/>
            <a:ext cx="323971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TEAM TOTAL</a:t>
            </a:r>
            <a:endParaRPr lang="en-US" sz="1200" dirty="0"/>
          </a:p>
        </p:txBody>
      </p:sp>
      <p:sp>
        <p:nvSpPr>
          <p:cNvPr id="12" name="Text 9"/>
          <p:cNvSpPr/>
          <p:nvPr/>
        </p:nvSpPr>
        <p:spPr>
          <a:xfrm>
            <a:off x="8293608" y="1527048"/>
            <a:ext cx="323971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$11,852</a:t>
            </a:r>
            <a:endParaRPr lang="en-US" sz="2800" dirty="0"/>
          </a:p>
        </p:txBody>
      </p:sp>
      <p:sp>
        <p:nvSpPr>
          <p:cNvPr id="13" name="Text 10"/>
          <p:cNvSpPr/>
          <p:nvPr/>
        </p:nvSpPr>
        <p:spPr>
          <a:xfrm>
            <a:off x="8293608" y="1929384"/>
            <a:ext cx="3239719" cy="356616"/>
          </a:xfrm>
          <a:prstGeom prst="rect">
            <a:avLst/>
          </a:prstGeom>
          <a:noFill/>
          <a:ln/>
        </p:spPr>
        <p:txBody>
          <a:bodyPr wrap="square" lIns="0" tIns="0" rIns="0" bIns="0" rtlCol="0" anchor="t"/>
          <a:lstStyle/>
          <a:p>
            <a:pPr indent="0" marL="0">
              <a:lnSpc>
                <a:spcPct val="105000"/>
              </a:lnSpc>
              <a:buNone/>
            </a:pPr>
            <a:r>
              <a:rPr lang="en-US" sz="1200" b="1" dirty="0">
                <a:solidFill>
                  <a:srgbClr val="3DD9EB"/>
                </a:solidFill>
                <a:latin typeface="Calibri" pitchFamily="34" charset="0"/>
                <a:ea typeface="Calibri" pitchFamily="34" charset="-122"/>
                <a:cs typeface="Calibri" pitchFamily="34" charset="-120"/>
              </a:rPr>
              <a:t>24.0% of all attributed AI spend</a:t>
            </a:r>
            <a:endParaRPr lang="en-US" sz="1200" dirty="0"/>
          </a:p>
        </p:txBody>
      </p:sp>
      <p:sp>
        <p:nvSpPr>
          <p:cNvPr id="14" name="Shape 11"/>
          <p:cNvSpPr/>
          <p:nvPr/>
        </p:nvSpPr>
        <p:spPr>
          <a:xfrm>
            <a:off x="8092440" y="2459736"/>
            <a:ext cx="3642055" cy="1097280"/>
          </a:xfrm>
          <a:prstGeom prst="roundRect">
            <a:avLst>
              <a:gd name="adj" fmla="val 5000"/>
            </a:avLst>
          </a:prstGeom>
          <a:solidFill>
            <a:srgbClr val="121B2D"/>
          </a:solidFill>
          <a:ln w="12700">
            <a:solidFill>
              <a:srgbClr val="23304A"/>
            </a:solidFill>
            <a:prstDash val="solid"/>
          </a:ln>
        </p:spPr>
      </p:sp>
      <p:sp>
        <p:nvSpPr>
          <p:cNvPr id="15" name="Text 12"/>
          <p:cNvSpPr/>
          <p:nvPr/>
        </p:nvSpPr>
        <p:spPr>
          <a:xfrm>
            <a:off x="8293608" y="2551176"/>
            <a:ext cx="323971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COST PER 1,000 CALLS</a:t>
            </a:r>
            <a:endParaRPr lang="en-US" sz="1200" dirty="0"/>
          </a:p>
        </p:txBody>
      </p:sp>
      <p:sp>
        <p:nvSpPr>
          <p:cNvPr id="16" name="Text 13"/>
          <p:cNvSpPr/>
          <p:nvPr/>
        </p:nvSpPr>
        <p:spPr>
          <a:xfrm>
            <a:off x="8293608" y="2752344"/>
            <a:ext cx="323971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$18</a:t>
            </a:r>
            <a:endParaRPr lang="en-US" sz="2800" dirty="0"/>
          </a:p>
        </p:txBody>
      </p:sp>
      <p:sp>
        <p:nvSpPr>
          <p:cNvPr id="17" name="Text 14"/>
          <p:cNvSpPr/>
          <p:nvPr/>
        </p:nvSpPr>
        <p:spPr>
          <a:xfrm>
            <a:off x="8293608" y="3154680"/>
            <a:ext cx="3239719" cy="356616"/>
          </a:xfrm>
          <a:prstGeom prst="rect">
            <a:avLst/>
          </a:prstGeom>
          <a:noFill/>
          <a:ln/>
        </p:spPr>
        <p:txBody>
          <a:bodyPr wrap="square" lIns="0" tIns="0" rIns="0" bIns="0" rtlCol="0" anchor="t"/>
          <a:lstStyle/>
          <a:p>
            <a:pPr indent="0" marL="0">
              <a:lnSpc>
                <a:spcPct val="105000"/>
              </a:lnSpc>
              <a:buNone/>
            </a:pPr>
            <a:r>
              <a:rPr lang="en-US" sz="1200" b="1" dirty="0">
                <a:solidFill>
                  <a:srgbClr val="91A0B7"/>
                </a:solidFill>
                <a:latin typeface="Calibri" pitchFamily="34" charset="0"/>
                <a:ea typeface="Calibri" pitchFamily="34" charset="-122"/>
                <a:cs typeface="Calibri" pitchFamily="34" charset="-120"/>
              </a:rPr>
              <a:t>661,197 calls in the window</a:t>
            </a:r>
            <a:endParaRPr lang="en-US" sz="1200" dirty="0"/>
          </a:p>
        </p:txBody>
      </p:sp>
      <p:sp>
        <p:nvSpPr>
          <p:cNvPr id="18" name="Shape 15"/>
          <p:cNvSpPr/>
          <p:nvPr/>
        </p:nvSpPr>
        <p:spPr>
          <a:xfrm>
            <a:off x="8092440" y="3685032"/>
            <a:ext cx="3642055" cy="1097280"/>
          </a:xfrm>
          <a:prstGeom prst="roundRect">
            <a:avLst>
              <a:gd name="adj" fmla="val 5000"/>
            </a:avLst>
          </a:prstGeom>
          <a:solidFill>
            <a:srgbClr val="121B2D"/>
          </a:solidFill>
          <a:ln w="12700">
            <a:solidFill>
              <a:srgbClr val="23304A"/>
            </a:solidFill>
            <a:prstDash val="solid"/>
          </a:ln>
        </p:spPr>
      </p:sp>
      <p:sp>
        <p:nvSpPr>
          <p:cNvPr id="19" name="Text 16"/>
          <p:cNvSpPr/>
          <p:nvPr/>
        </p:nvSpPr>
        <p:spPr>
          <a:xfrm>
            <a:off x="8293608" y="3776472"/>
            <a:ext cx="323971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UNNAMED HERE</a:t>
            </a:r>
            <a:endParaRPr lang="en-US" sz="1200" dirty="0"/>
          </a:p>
        </p:txBody>
      </p:sp>
      <p:sp>
        <p:nvSpPr>
          <p:cNvPr id="20" name="Text 17"/>
          <p:cNvSpPr/>
          <p:nvPr/>
        </p:nvSpPr>
        <p:spPr>
          <a:xfrm>
            <a:off x="8293608" y="3977640"/>
            <a:ext cx="323971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$309</a:t>
            </a:r>
            <a:endParaRPr lang="en-US" sz="2800" dirty="0"/>
          </a:p>
        </p:txBody>
      </p:sp>
      <p:sp>
        <p:nvSpPr>
          <p:cNvPr id="21" name="Text 18"/>
          <p:cNvSpPr/>
          <p:nvPr/>
        </p:nvSpPr>
        <p:spPr>
          <a:xfrm>
            <a:off x="8293608" y="4379976"/>
            <a:ext cx="3239719" cy="356616"/>
          </a:xfrm>
          <a:prstGeom prst="rect">
            <a:avLst/>
          </a:prstGeom>
          <a:noFill/>
          <a:ln/>
        </p:spPr>
        <p:txBody>
          <a:bodyPr wrap="square" lIns="0" tIns="0" rIns="0" bIns="0" rtlCol="0" anchor="t"/>
          <a:lstStyle/>
          <a:p>
            <a:pPr indent="0" marL="0">
              <a:lnSpc>
                <a:spcPct val="105000"/>
              </a:lnSpc>
              <a:buNone/>
            </a:pPr>
            <a:r>
              <a:rPr lang="en-US" sz="1200" b="1" dirty="0">
                <a:solidFill>
                  <a:srgbClr val="FF6B7A"/>
                </a:solidFill>
                <a:latin typeface="Calibri" pitchFamily="34" charset="0"/>
                <a:ea typeface="Calibri" pitchFamily="34" charset="-122"/>
                <a:cs typeface="Calibri" pitchFamily="34" charset="-120"/>
              </a:rPr>
              <a:t>2.6% of this team, on 1 row</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91A0B7"/>
          </a:solidFill>
          <a:ln w="12700">
            <a:solidFill>
              <a:srgbClr val="91A0B7"/>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91A0B7"/>
                </a:solidFill>
                <a:latin typeface="Calibri" pitchFamily="34" charset="0"/>
                <a:ea typeface="Calibri" pitchFamily="34" charset="-122"/>
                <a:cs typeface="Calibri" pitchFamily="34" charset="-120"/>
              </a:rPr>
              <a:t>THE REST</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The other 13 teams, in full</a:t>
            </a:r>
            <a:endParaRPr lang="en-US" sz="2800" dirty="0"/>
          </a:p>
        </p:txBody>
      </p:sp>
      <p:sp>
        <p:nvSpPr>
          <p:cNvPr id="6" name="Text 4"/>
          <p:cNvSpPr/>
          <p:nvPr/>
        </p:nvSpPr>
        <p:spPr>
          <a:xfrm>
            <a:off x="8321040" y="493776"/>
            <a:ext cx="3413455" cy="731520"/>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$1,461 between them, 3.0% of attributed spend.</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indent="0" marL="0">
              <a:lnSpc>
                <a:spcPct val="115000"/>
              </a:lnSpc>
              <a:buNone/>
            </a:pPr>
            <a:r>
              <a:rPr lang="en-US" sz="1200" dirty="0">
                <a:solidFill>
                  <a:srgbClr val="536078"/>
                </a:solidFill>
                <a:latin typeface="Calibri" pitchFamily="34" charset="0"/>
                <a:ea typeface="Calibri" pitchFamily="34" charset="-122"/>
                <a:cs typeface="Calibri" pitchFamily="34" charset="-120"/>
              </a:rPr>
              <a:t>apim, azure and unknown are amber because they are a gateway and two defaults, not teams anyone can be asked to answer for. Their spend is real and stays in every total, but a chargeback conversation cannot start with them.</a:t>
            </a:r>
            <a:endParaRPr lang="en-US" sz="1200" dirty="0"/>
          </a:p>
        </p:txBody>
      </p:sp>
      <p:sp>
        <p:nvSpPr>
          <p:cNvPr id="8" name="Text 6"/>
          <p:cNvSpPr/>
          <p:nvPr/>
        </p:nvSpPr>
        <p:spPr>
          <a:xfrm>
            <a:off x="457200" y="1234440"/>
            <a:ext cx="8778240" cy="237744"/>
          </a:xfrm>
          <a:prstGeom prst="rect">
            <a:avLst/>
          </a:prstGeom>
          <a:noFill/>
          <a:ln/>
        </p:spPr>
        <p:txBody>
          <a:bodyPr wrap="square" lIns="0" tIns="0" rIns="0" bIns="0" rtlCol="0" anchor="ctr"/>
          <a:lstStyle/>
          <a:p>
            <a:pPr indent="0" marL="0">
              <a:buNone/>
            </a:pPr>
            <a:r>
              <a:rPr lang="en-US" sz="1500" b="1" dirty="0">
                <a:solidFill>
                  <a:srgbClr val="F4F7FB"/>
                </a:solidFill>
                <a:latin typeface="Calibri" pitchFamily="34" charset="0"/>
                <a:ea typeface="Calibri" pitchFamily="34" charset="-122"/>
                <a:cs typeface="Calibri" pitchFamily="34" charset="-120"/>
              </a:rPr>
              <a:t>Every remaining team, its largest application, and its provider split</a:t>
            </a:r>
            <a:endParaRPr lang="en-US" sz="15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8778240" cy="914400"/>
        </p:xfrm>
        <a:graphic>
          <a:graphicData uri="http://schemas.openxmlformats.org/drawingml/2006/table">
            <a:tbl>
              <a:tblPr/>
              <a:tblGrid>
                <a:gridCol w="1737360"/>
                <a:gridCol w="2103120"/>
                <a:gridCol w="1005840"/>
                <a:gridCol w="1005840"/>
                <a:gridCol w="914400"/>
                <a:gridCol w="1005840"/>
                <a:gridCol w="1005840"/>
              </a:tblGrid>
              <a:tr h="292608">
                <a:tc>
                  <a:txBody>
                    <a:bodyPr/>
                    <a:lstStyle/>
                    <a:p>
                      <a:pPr algn="l" indent="0" marL="0">
                        <a:buNone/>
                      </a:pPr>
                      <a:r>
                        <a:rPr lang="en-US" sz="1200" b="1" spc="80" kern="0" dirty="0">
                          <a:solidFill>
                            <a:srgbClr val="91A0B7"/>
                          </a:solidFill>
                          <a:latin typeface="Calibri" pitchFamily="34" charset="0"/>
                          <a:ea typeface="Calibri" pitchFamily="34" charset="-122"/>
                          <a:cs typeface="Calibri" pitchFamily="34" charset="-120"/>
                        </a:rPr>
                        <a:t>Team</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b="1" spc="80" kern="0" dirty="0">
                          <a:solidFill>
                            <a:srgbClr val="91A0B7"/>
                          </a:solidFill>
                          <a:latin typeface="Calibri" pitchFamily="34" charset="0"/>
                          <a:ea typeface="Calibri" pitchFamily="34" charset="-122"/>
                          <a:cs typeface="Calibri" pitchFamily="34" charset="-120"/>
                        </a:rPr>
                        <a:t>Largest application</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b="1" spc="80" kern="0" dirty="0">
                          <a:solidFill>
                            <a:srgbClr val="91A0B7"/>
                          </a:solidFill>
                          <a:latin typeface="Calibri" pitchFamily="34" charset="0"/>
                          <a:ea typeface="Calibri" pitchFamily="34" charset="-122"/>
                          <a:cs typeface="Calibri" pitchFamily="34" charset="-120"/>
                        </a:rPr>
                        <a:t>Claude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b="1" spc="80" kern="0" dirty="0">
                          <a:solidFill>
                            <a:srgbClr val="91A0B7"/>
                          </a:solidFill>
                          <a:latin typeface="Calibri" pitchFamily="34" charset="0"/>
                          <a:ea typeface="Calibri" pitchFamily="34" charset="-122"/>
                          <a:cs typeface="Calibri" pitchFamily="34" charset="-120"/>
                        </a:rPr>
                        <a:t>Azure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b="1" spc="80" kern="0" dirty="0">
                          <a:solidFill>
                            <a:srgbClr val="91A0B7"/>
                          </a:solidFill>
                          <a:latin typeface="Calibri" pitchFamily="34" charset="0"/>
                          <a:ea typeface="Calibri" pitchFamily="34" charset="-122"/>
                          <a:cs typeface="Calibri" pitchFamily="34" charset="-120"/>
                        </a:rPr>
                        <a:t>GCP</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b="1" spc="80" kern="0" dirty="0">
                          <a:solidFill>
                            <a:srgbClr val="91A0B7"/>
                          </a:solidFill>
                          <a:latin typeface="Calibri" pitchFamily="34" charset="0"/>
                          <a:ea typeface="Calibri" pitchFamily="34" charset="-122"/>
                          <a:cs typeface="Calibri" pitchFamily="34" charset="-120"/>
                        </a:rPr>
                        <a:t>Total</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b="1" spc="80" kern="0" dirty="0">
                          <a:solidFill>
                            <a:srgbClr val="91A0B7"/>
                          </a:solidFill>
                          <a:latin typeface="Calibri" pitchFamily="34" charset="0"/>
                          <a:ea typeface="Calibri" pitchFamily="34" charset="-122"/>
                          <a:cs typeface="Calibri" pitchFamily="34" charset="-120"/>
                        </a:rPr>
                        <a:t>Calls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r h="292608">
                <a:tc>
                  <a:txBody>
                    <a:bodyPr/>
                    <a:lstStyle/>
                    <a:p>
                      <a:pPr algn="l" indent="0" marL="0">
                        <a:buNone/>
                      </a:pPr>
                      <a:r>
                        <a:rPr lang="en-US" sz="1200" b="1" dirty="0">
                          <a:solidFill>
                            <a:srgbClr val="E0A030"/>
                          </a:solidFill>
                          <a:latin typeface="Calibri" pitchFamily="34" charset="0"/>
                          <a:ea typeface="Calibri" pitchFamily="34" charset="-122"/>
                          <a:cs typeface="Calibri" pitchFamily="34" charset="-120"/>
                        </a:rPr>
                        <a:t>apim</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bedrock-session (+1)</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$970</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53607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53607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b="1" dirty="0">
                          <a:solidFill>
                            <a:srgbClr val="F4F7FB"/>
                          </a:solidFill>
                          <a:latin typeface="Calibri" pitchFamily="34" charset="0"/>
                          <a:ea typeface="Calibri" pitchFamily="34" charset="-122"/>
                          <a:cs typeface="Calibri" pitchFamily="34" charset="-120"/>
                        </a:rPr>
                        <a:t>$970</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16,856</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r>
              <a:tr h="292608">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onedoc</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onedoc-processor-worker (+2)</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$396</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53607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53607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b="1" dirty="0">
                          <a:solidFill>
                            <a:srgbClr val="F4F7FB"/>
                          </a:solidFill>
                          <a:latin typeface="Calibri" pitchFamily="34" charset="0"/>
                          <a:ea typeface="Calibri" pitchFamily="34" charset="-122"/>
                          <a:cs typeface="Calibri" pitchFamily="34" charset="-120"/>
                        </a:rPr>
                        <a:t>$395</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12,836</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r h="292608">
                <a:tc>
                  <a:txBody>
                    <a:bodyPr/>
                    <a:lstStyle/>
                    <a:p>
                      <a:pPr algn="l" indent="0" marL="0">
                        <a:buNone/>
                      </a:pPr>
                      <a:r>
                        <a:rPr lang="en-US" sz="1200" b="1" dirty="0">
                          <a:solidFill>
                            <a:srgbClr val="E0A030"/>
                          </a:solidFill>
                          <a:latin typeface="Calibri" pitchFamily="34" charset="0"/>
                          <a:ea typeface="Calibri" pitchFamily="34" charset="-122"/>
                          <a:cs typeface="Calibri" pitchFamily="34" charset="-120"/>
                        </a:rPr>
                        <a:t>unknown</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(unlabeled) (+1)</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53607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$26</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$38</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b="1" dirty="0">
                          <a:solidFill>
                            <a:srgbClr val="F4F7FB"/>
                          </a:solidFill>
                          <a:latin typeface="Calibri" pitchFamily="34" charset="0"/>
                          <a:ea typeface="Calibri" pitchFamily="34" charset="-122"/>
                          <a:cs typeface="Calibri" pitchFamily="34" charset="-120"/>
                        </a:rPr>
                        <a:t>$64</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2,404</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r>
              <a:tr h="292608">
                <a:tc>
                  <a:txBody>
                    <a:bodyPr/>
                    <a:lstStyle/>
                    <a:p>
                      <a:pPr algn="l" indent="0" marL="0">
                        <a:buNone/>
                      </a:pPr>
                      <a:r>
                        <a:rPr lang="en-US" sz="1200" b="1" dirty="0">
                          <a:solidFill>
                            <a:srgbClr val="E0A030"/>
                          </a:solidFill>
                          <a:latin typeface="Calibri" pitchFamily="34" charset="0"/>
                          <a:ea typeface="Calibri" pitchFamily="34" charset="-122"/>
                          <a:cs typeface="Calibri" pitchFamily="34" charset="-120"/>
                        </a:rPr>
                        <a:t>azure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apim-iam-user</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$28</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53607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53607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b="1" dirty="0">
                          <a:solidFill>
                            <a:srgbClr val="F4F7FB"/>
                          </a:solidFill>
                          <a:latin typeface="Calibri" pitchFamily="34" charset="0"/>
                          <a:ea typeface="Calibri" pitchFamily="34" charset="-122"/>
                          <a:cs typeface="Calibri" pitchFamily="34" charset="-120"/>
                        </a:rPr>
                        <a:t>$28</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166</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r h="292608">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datainfra</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genai (+1)</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53607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53607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b="1" dirty="0">
                          <a:solidFill>
                            <a:srgbClr val="F4F7FB"/>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r>
              <a:tr h="292608">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mint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test-only (+2)</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53607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53607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b="1" dirty="0">
                          <a:solidFill>
                            <a:srgbClr val="F4F7FB"/>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36</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r h="292608">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peled</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peled (+1)</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53607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&lt;$1</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53607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b="1" dirty="0">
                          <a:solidFill>
                            <a:srgbClr val="F4F7FB"/>
                          </a:solidFill>
                          <a:latin typeface="Calibri" pitchFamily="34" charset="0"/>
                          <a:ea typeface="Calibri" pitchFamily="34" charset="-122"/>
                          <a:cs typeface="Calibri" pitchFamily="34" charset="-120"/>
                        </a:rPr>
                        <a:t>under $1</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30</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r>
              <a:tr h="292608">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afunana</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Testing</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53607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&lt;$1</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53607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b="1" dirty="0">
                          <a:solidFill>
                            <a:srgbClr val="F4F7FB"/>
                          </a:solidFill>
                          <a:latin typeface="Calibri" pitchFamily="34" charset="0"/>
                          <a:ea typeface="Calibri" pitchFamily="34" charset="-122"/>
                          <a:cs typeface="Calibri" pitchFamily="34" charset="-120"/>
                        </a:rPr>
                        <a:t>under $1</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r h="292608">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devops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testapp (+2)</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53607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&lt;$1</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53607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b="1" dirty="0">
                          <a:solidFill>
                            <a:srgbClr val="F4F7FB"/>
                          </a:solidFill>
                          <a:latin typeface="Calibri" pitchFamily="34" charset="0"/>
                          <a:ea typeface="Calibri" pitchFamily="34" charset="-122"/>
                          <a:cs typeface="Calibri" pitchFamily="34" charset="-120"/>
                        </a:rPr>
                        <a:t>under $1</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r>
              <a:tr h="292608">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core-systems-division</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Testing</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53607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&lt;$1</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53607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b="1" dirty="0">
                          <a:solidFill>
                            <a:srgbClr val="F4F7FB"/>
                          </a:solidFill>
                          <a:latin typeface="Calibri" pitchFamily="34" charset="0"/>
                          <a:ea typeface="Calibri" pitchFamily="34" charset="-122"/>
                          <a:cs typeface="Calibri" pitchFamily="34" charset="-120"/>
                        </a:rPr>
                        <a:t>under $1</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r h="292608">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databi</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Test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53607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&lt;$1</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53607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b="1" dirty="0">
                          <a:solidFill>
                            <a:srgbClr val="F4F7FB"/>
                          </a:solidFill>
                          <a:latin typeface="Calibri" pitchFamily="34" charset="0"/>
                          <a:ea typeface="Calibri" pitchFamily="34" charset="-122"/>
                          <a:cs typeface="Calibri" pitchFamily="34" charset="-120"/>
                        </a:rPr>
                        <a:t>under $1</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r>
              <a:tr h="292608">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test-team</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test-app</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53607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53607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53607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b="1" dirty="0">
                          <a:solidFill>
                            <a:srgbClr val="F4F7FB"/>
                          </a:solidFill>
                          <a:latin typeface="Calibri" pitchFamily="34" charset="0"/>
                          <a:ea typeface="Calibri" pitchFamily="34" charset="-122"/>
                          <a:cs typeface="Calibri" pitchFamily="34" charset="-120"/>
                        </a:rPr>
                        <a:t>no spend</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9</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r h="292608">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claims-team</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(unlabeled)</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53607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53607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53607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b="1" dirty="0">
                          <a:solidFill>
                            <a:srgbClr val="F4F7FB"/>
                          </a:solidFill>
                          <a:latin typeface="Calibri" pitchFamily="34" charset="0"/>
                          <a:ea typeface="Calibri" pitchFamily="34" charset="-122"/>
                          <a:cs typeface="Calibri" pitchFamily="34" charset="-120"/>
                        </a:rPr>
                        <a:t>no spend</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r>
            </a:tbl>
          </a:graphicData>
        </a:graphic>
      </p:graphicFrame>
      <p:sp>
        <p:nvSpPr>
          <p:cNvPr id="10" name="Shape 7"/>
          <p:cNvSpPr/>
          <p:nvPr/>
        </p:nvSpPr>
        <p:spPr>
          <a:xfrm>
            <a:off x="9601200" y="1234440"/>
            <a:ext cx="2133295" cy="1097280"/>
          </a:xfrm>
          <a:prstGeom prst="roundRect">
            <a:avLst>
              <a:gd name="adj" fmla="val 5000"/>
            </a:avLst>
          </a:prstGeom>
          <a:solidFill>
            <a:srgbClr val="121B2D"/>
          </a:solidFill>
          <a:ln w="12700">
            <a:solidFill>
              <a:srgbClr val="23304A"/>
            </a:solidFill>
            <a:prstDash val="solid"/>
          </a:ln>
        </p:spPr>
      </p:sp>
      <p:sp>
        <p:nvSpPr>
          <p:cNvPr id="11" name="Text 8"/>
          <p:cNvSpPr/>
          <p:nvPr/>
        </p:nvSpPr>
        <p:spPr>
          <a:xfrm>
            <a:off x="9802368" y="1325880"/>
            <a:ext cx="173095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LARGEST</a:t>
            </a:r>
            <a:endParaRPr lang="en-US" sz="1200" dirty="0"/>
          </a:p>
        </p:txBody>
      </p:sp>
      <p:sp>
        <p:nvSpPr>
          <p:cNvPr id="12" name="Text 9"/>
          <p:cNvSpPr/>
          <p:nvPr/>
        </p:nvSpPr>
        <p:spPr>
          <a:xfrm>
            <a:off x="9802368" y="1527048"/>
            <a:ext cx="173095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$970</a:t>
            </a:r>
            <a:endParaRPr lang="en-US" sz="2800" dirty="0"/>
          </a:p>
        </p:txBody>
      </p:sp>
      <p:sp>
        <p:nvSpPr>
          <p:cNvPr id="13" name="Text 10"/>
          <p:cNvSpPr/>
          <p:nvPr/>
        </p:nvSpPr>
        <p:spPr>
          <a:xfrm>
            <a:off x="9802368" y="1929384"/>
            <a:ext cx="1730959" cy="356616"/>
          </a:xfrm>
          <a:prstGeom prst="rect">
            <a:avLst/>
          </a:prstGeom>
          <a:noFill/>
          <a:ln/>
        </p:spPr>
        <p:txBody>
          <a:bodyPr wrap="square" lIns="0" tIns="0" rIns="0" bIns="0" rtlCol="0" anchor="t"/>
          <a:lstStyle/>
          <a:p>
            <a:pPr indent="0" marL="0">
              <a:lnSpc>
                <a:spcPct val="105000"/>
              </a:lnSpc>
              <a:buNone/>
            </a:pPr>
            <a:r>
              <a:rPr lang="en-US" sz="1200" b="1" dirty="0">
                <a:solidFill>
                  <a:srgbClr val="E0A030"/>
                </a:solidFill>
                <a:latin typeface="Calibri" pitchFamily="34" charset="0"/>
                <a:ea typeface="Calibri" pitchFamily="34" charset="-122"/>
                <a:cs typeface="Calibri" pitchFamily="34" charset="-120"/>
              </a:rPr>
              <a:t>apim, the gateway not a team</a:t>
            </a:r>
            <a:endParaRPr lang="en-US" sz="1200" dirty="0"/>
          </a:p>
        </p:txBody>
      </p:sp>
      <p:sp>
        <p:nvSpPr>
          <p:cNvPr id="14" name="Shape 11"/>
          <p:cNvSpPr/>
          <p:nvPr/>
        </p:nvSpPr>
        <p:spPr>
          <a:xfrm>
            <a:off x="9601200" y="2459736"/>
            <a:ext cx="2133295" cy="1097280"/>
          </a:xfrm>
          <a:prstGeom prst="roundRect">
            <a:avLst>
              <a:gd name="adj" fmla="val 5000"/>
            </a:avLst>
          </a:prstGeom>
          <a:solidFill>
            <a:srgbClr val="121B2D"/>
          </a:solidFill>
          <a:ln w="12700">
            <a:solidFill>
              <a:srgbClr val="23304A"/>
            </a:solidFill>
            <a:prstDash val="solid"/>
          </a:ln>
        </p:spPr>
      </p:sp>
      <p:sp>
        <p:nvSpPr>
          <p:cNvPr id="15" name="Text 12"/>
          <p:cNvSpPr/>
          <p:nvPr/>
        </p:nvSpPr>
        <p:spPr>
          <a:xfrm>
            <a:off x="9802368" y="2551176"/>
            <a:ext cx="173095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NOT OWNERS</a:t>
            </a:r>
            <a:endParaRPr lang="en-US" sz="1200" dirty="0"/>
          </a:p>
        </p:txBody>
      </p:sp>
      <p:sp>
        <p:nvSpPr>
          <p:cNvPr id="16" name="Text 13"/>
          <p:cNvSpPr/>
          <p:nvPr/>
        </p:nvSpPr>
        <p:spPr>
          <a:xfrm>
            <a:off x="9802368" y="2752344"/>
            <a:ext cx="173095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3 of 13</a:t>
            </a:r>
            <a:endParaRPr lang="en-US" sz="2800" dirty="0"/>
          </a:p>
        </p:txBody>
      </p:sp>
      <p:sp>
        <p:nvSpPr>
          <p:cNvPr id="17" name="Text 14"/>
          <p:cNvSpPr/>
          <p:nvPr/>
        </p:nvSpPr>
        <p:spPr>
          <a:xfrm>
            <a:off x="9802368" y="3154680"/>
            <a:ext cx="1730959" cy="356616"/>
          </a:xfrm>
          <a:prstGeom prst="rect">
            <a:avLst/>
          </a:prstGeom>
          <a:noFill/>
          <a:ln/>
        </p:spPr>
        <p:txBody>
          <a:bodyPr wrap="square" lIns="0" tIns="0" rIns="0" bIns="0" rtlCol="0" anchor="t"/>
          <a:lstStyle/>
          <a:p>
            <a:pPr indent="0" marL="0">
              <a:lnSpc>
                <a:spcPct val="105000"/>
              </a:lnSpc>
              <a:buNone/>
            </a:pPr>
            <a:r>
              <a:rPr lang="en-US" sz="1200" b="1" dirty="0">
                <a:solidFill>
                  <a:srgbClr val="E0A030"/>
                </a:solidFill>
                <a:latin typeface="Calibri" pitchFamily="34" charset="0"/>
                <a:ea typeface="Calibri" pitchFamily="34" charset="-122"/>
                <a:cs typeface="Calibri" pitchFamily="34" charset="-120"/>
              </a:rPr>
              <a:t>apim, unknown, azure, in amber</a:t>
            </a:r>
            <a:endParaRPr lang="en-US" sz="1200" dirty="0"/>
          </a:p>
        </p:txBody>
      </p:sp>
      <p:sp>
        <p:nvSpPr>
          <p:cNvPr id="18" name="Shape 15"/>
          <p:cNvSpPr/>
          <p:nvPr/>
        </p:nvSpPr>
        <p:spPr>
          <a:xfrm>
            <a:off x="9601200" y="3685032"/>
            <a:ext cx="2133295" cy="1097280"/>
          </a:xfrm>
          <a:prstGeom prst="roundRect">
            <a:avLst>
              <a:gd name="adj" fmla="val 5000"/>
            </a:avLst>
          </a:prstGeom>
          <a:solidFill>
            <a:srgbClr val="121B2D"/>
          </a:solidFill>
          <a:ln w="12700">
            <a:solidFill>
              <a:srgbClr val="23304A"/>
            </a:solidFill>
            <a:prstDash val="solid"/>
          </a:ln>
        </p:spPr>
      </p:sp>
      <p:sp>
        <p:nvSpPr>
          <p:cNvPr id="19" name="Text 16"/>
          <p:cNvSpPr/>
          <p:nvPr/>
        </p:nvSpPr>
        <p:spPr>
          <a:xfrm>
            <a:off x="9802368" y="3776472"/>
            <a:ext cx="173095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UNDER $5</a:t>
            </a:r>
            <a:endParaRPr lang="en-US" sz="1200" dirty="0"/>
          </a:p>
        </p:txBody>
      </p:sp>
      <p:sp>
        <p:nvSpPr>
          <p:cNvPr id="20" name="Text 17"/>
          <p:cNvSpPr/>
          <p:nvPr/>
        </p:nvSpPr>
        <p:spPr>
          <a:xfrm>
            <a:off x="9802368" y="3977640"/>
            <a:ext cx="173095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9 teams</a:t>
            </a:r>
            <a:endParaRPr lang="en-US" sz="2800" dirty="0"/>
          </a:p>
        </p:txBody>
      </p:sp>
      <p:sp>
        <p:nvSpPr>
          <p:cNvPr id="21" name="Text 18"/>
          <p:cNvSpPr/>
          <p:nvPr/>
        </p:nvSpPr>
        <p:spPr>
          <a:xfrm>
            <a:off x="9802368" y="4379976"/>
            <a:ext cx="1730959" cy="356616"/>
          </a:xfrm>
          <a:prstGeom prst="rect">
            <a:avLst/>
          </a:prstGeom>
          <a:noFill/>
          <a:ln/>
        </p:spPr>
        <p:txBody>
          <a:bodyPr wrap="square" lIns="0" tIns="0" rIns="0" bIns="0" rtlCol="0" anchor="t"/>
          <a:lstStyle/>
          <a:p>
            <a:pPr indent="0" marL="0">
              <a:lnSpc>
                <a:spcPct val="105000"/>
              </a:lnSpc>
              <a:buNone/>
            </a:pPr>
            <a:r>
              <a:rPr lang="en-US" sz="1200" b="1" dirty="0">
                <a:solidFill>
                  <a:srgbClr val="91A0B7"/>
                </a:solidFill>
                <a:latin typeface="Calibri" pitchFamily="34" charset="0"/>
                <a:ea typeface="Calibri" pitchFamily="34" charset="-122"/>
                <a:cs typeface="Calibri" pitchFamily="34" charset="-120"/>
              </a:rPr>
              <a:t>nearly all of it test traffic on a billed endpoint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3DD9EB"/>
          </a:solidFill>
          <a:ln w="12700">
            <a:solidFill>
              <a:srgbClr val="3DD9EB"/>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3DD9EB"/>
                </a:solidFill>
                <a:latin typeface="Calibri" pitchFamily="34" charset="0"/>
                <a:ea typeface="Calibri" pitchFamily="34" charset="-122"/>
                <a:cs typeface="Calibri" pitchFamily="34" charset="-120"/>
              </a:rPr>
              <a:t>THE ASK</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1867" b="1" dirty="0">
                <a:solidFill>
                  <a:srgbClr val="F4F7FB"/>
                </a:solidFill>
                <a:latin typeface="Calibri" pitchFamily="34" charset="0"/>
                <a:ea typeface="Calibri" pitchFamily="34" charset="-122"/>
                <a:cs typeface="Calibri" pitchFamily="34" charset="-120"/>
              </a:rPr>
              <a:t>Four rules that would make this file readable</a:t>
            </a:r>
            <a:endParaRPr lang="en-US" sz="1867" dirty="0"/>
          </a:p>
        </p:txBody>
      </p:sp>
      <p:sp>
        <p:nvSpPr>
          <p:cNvPr id="6" name="Text 4"/>
          <p:cNvSpPr/>
          <p:nvPr/>
        </p:nvSpPr>
        <p:spPr>
          <a:xfrm>
            <a:off x="8321040" y="493776"/>
            <a:ext cx="3413455" cy="731520"/>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All four are gateway configuration or a naming convention. None are engineering work.</a:t>
            </a:r>
            <a:endParaRPr lang="en-US" sz="1200" dirty="0"/>
          </a:p>
        </p:txBody>
      </p:sp>
      <p:sp>
        <p:nvSpPr>
          <p:cNvPr id="7" name="Shape 5"/>
          <p:cNvSpPr/>
          <p:nvPr/>
        </p:nvSpPr>
        <p:spPr>
          <a:xfrm>
            <a:off x="457200" y="1517904"/>
            <a:ext cx="512064" cy="512064"/>
          </a:xfrm>
          <a:prstGeom prst="ellipse">
            <a:avLst/>
          </a:prstGeom>
          <a:solidFill>
            <a:srgbClr val="121B2D"/>
          </a:solidFill>
          <a:ln w="15875">
            <a:solidFill>
              <a:srgbClr val="3DD9EB"/>
            </a:solidFill>
            <a:prstDash val="solid"/>
          </a:ln>
        </p:spPr>
      </p:sp>
      <p:sp>
        <p:nvSpPr>
          <p:cNvPr id="8" name="Text 6"/>
          <p:cNvSpPr/>
          <p:nvPr/>
        </p:nvSpPr>
        <p:spPr>
          <a:xfrm>
            <a:off x="457200" y="1517904"/>
            <a:ext cx="512064" cy="512064"/>
          </a:xfrm>
          <a:prstGeom prst="rect">
            <a:avLst/>
          </a:prstGeom>
          <a:noFill/>
          <a:ln/>
        </p:spPr>
        <p:txBody>
          <a:bodyPr wrap="square" lIns="0" tIns="0" rIns="0" bIns="0" rtlCol="0" anchor="ctr"/>
          <a:lstStyle/>
          <a:p>
            <a:pPr algn="ctr" indent="0" marL="0">
              <a:buNone/>
            </a:pPr>
            <a:r>
              <a:rPr lang="en-US" sz="2000" b="1" dirty="0">
                <a:solidFill>
                  <a:srgbClr val="3DD9EB"/>
                </a:solidFill>
                <a:latin typeface="Calibri" pitchFamily="34" charset="0"/>
                <a:ea typeface="Calibri" pitchFamily="34" charset="-122"/>
                <a:cs typeface="Calibri" pitchFamily="34" charset="-120"/>
              </a:rPr>
              <a:t>1</a:t>
            </a:r>
            <a:endParaRPr lang="en-US" sz="2000" dirty="0"/>
          </a:p>
        </p:txBody>
      </p:sp>
      <p:sp>
        <p:nvSpPr>
          <p:cNvPr id="9" name="Text 7"/>
          <p:cNvSpPr/>
          <p:nvPr/>
        </p:nvSpPr>
        <p:spPr>
          <a:xfrm>
            <a:off x="1115568" y="1463040"/>
            <a:ext cx="4797400" cy="515612"/>
          </a:xfrm>
          <a:prstGeom prst="rect">
            <a:avLst/>
          </a:prstGeom>
          <a:noFill/>
          <a:ln/>
        </p:spPr>
        <p:txBody>
          <a:bodyPr wrap="square" lIns="0" tIns="0" rIns="0" bIns="0" rtlCol="0" anchor="ctr"/>
          <a:lstStyle/>
          <a:p>
            <a:pPr indent="0" marL="0">
              <a:buNone/>
            </a:pPr>
            <a:r>
              <a:rPr lang="en-US" sz="1624" b="1" dirty="0">
                <a:solidFill>
                  <a:srgbClr val="F4F7FB"/>
                </a:solidFill>
                <a:latin typeface="Calibri" pitchFamily="34" charset="0"/>
                <a:ea typeface="Calibri" pitchFamily="34" charset="-122"/>
                <a:cs typeface="Calibri" pitchFamily="34" charset="-120"/>
              </a:rPr>
              <a:t>No call without an application tag</a:t>
            </a:r>
            <a:endParaRPr lang="en-US" sz="1624" dirty="0"/>
          </a:p>
        </p:txBody>
      </p:sp>
      <p:sp>
        <p:nvSpPr>
          <p:cNvPr id="10" name="Text 8"/>
          <p:cNvSpPr/>
          <p:nvPr/>
        </p:nvSpPr>
        <p:spPr>
          <a:xfrm>
            <a:off x="1115568" y="2024372"/>
            <a:ext cx="4797400" cy="392847"/>
          </a:xfrm>
          <a:prstGeom prst="rect">
            <a:avLst/>
          </a:prstGeom>
          <a:noFill/>
          <a:ln/>
        </p:spPr>
        <p:txBody>
          <a:bodyPr wrap="square" lIns="0" tIns="0" rIns="0" bIns="0" rtlCol="0" anchor="t"/>
          <a:lstStyle/>
          <a:p>
            <a:pPr indent="0" marL="0">
              <a:lnSpc>
                <a:spcPct val="112000"/>
              </a:lnSpc>
              <a:buNone/>
            </a:pPr>
            <a:r>
              <a:rPr lang="en-US" sz="1237" dirty="0">
                <a:solidFill>
                  <a:srgbClr val="91A0B7"/>
                </a:solidFill>
                <a:latin typeface="Calibri" pitchFamily="34" charset="0"/>
                <a:ea typeface="Calibri" pitchFamily="34" charset="-122"/>
                <a:cs typeface="Calibri" pitchFamily="34" charset="-120"/>
              </a:rPr>
              <a:t>Reject or default-flag any request that reaches a provider without a named application on it.</a:t>
            </a:r>
            <a:endParaRPr lang="en-US" sz="1237" dirty="0"/>
          </a:p>
        </p:txBody>
      </p:sp>
      <p:sp>
        <p:nvSpPr>
          <p:cNvPr id="11" name="Text 9"/>
          <p:cNvSpPr/>
          <p:nvPr/>
        </p:nvSpPr>
        <p:spPr>
          <a:xfrm>
            <a:off x="1115568" y="2462939"/>
            <a:ext cx="4797400" cy="417576"/>
          </a:xfrm>
          <a:prstGeom prst="rect">
            <a:avLst/>
          </a:prstGeom>
          <a:noFill/>
          <a:ln/>
        </p:spPr>
        <p:txBody>
          <a:bodyPr wrap="square" lIns="0" tIns="0" rIns="0" bIns="0" rtlCol="0" anchor="t"/>
          <a:lstStyle/>
          <a:p>
            <a:pPr indent="0" marL="0">
              <a:lnSpc>
                <a:spcPct val="105000"/>
              </a:lnSpc>
              <a:buNone/>
            </a:pPr>
            <a:r>
              <a:rPr lang="en-US" sz="1200" i="1" dirty="0">
                <a:solidFill>
                  <a:srgbClr val="3DD9EB"/>
                </a:solidFill>
                <a:latin typeface="Calibri" pitchFamily="34" charset="0"/>
                <a:ea typeface="Calibri" pitchFamily="34" charset="-122"/>
                <a:cs typeface="Calibri" pitchFamily="34" charset="-120"/>
              </a:rPr>
              <a:t>Tip: $35,612 has no name today, 45% of the bill.</a:t>
            </a:r>
            <a:endParaRPr lang="en-US" sz="1200" dirty="0"/>
          </a:p>
        </p:txBody>
      </p:sp>
      <p:sp>
        <p:nvSpPr>
          <p:cNvPr id="12" name="Shape 10"/>
          <p:cNvSpPr/>
          <p:nvPr/>
        </p:nvSpPr>
        <p:spPr>
          <a:xfrm>
            <a:off x="457200" y="3156966"/>
            <a:ext cx="512064" cy="512064"/>
          </a:xfrm>
          <a:prstGeom prst="ellipse">
            <a:avLst/>
          </a:prstGeom>
          <a:solidFill>
            <a:srgbClr val="121B2D"/>
          </a:solidFill>
          <a:ln w="15875">
            <a:solidFill>
              <a:srgbClr val="3DD9EB"/>
            </a:solidFill>
            <a:prstDash val="solid"/>
          </a:ln>
        </p:spPr>
      </p:sp>
      <p:sp>
        <p:nvSpPr>
          <p:cNvPr id="13" name="Text 11"/>
          <p:cNvSpPr/>
          <p:nvPr/>
        </p:nvSpPr>
        <p:spPr>
          <a:xfrm>
            <a:off x="457200" y="3156966"/>
            <a:ext cx="512064" cy="512064"/>
          </a:xfrm>
          <a:prstGeom prst="rect">
            <a:avLst/>
          </a:prstGeom>
          <a:noFill/>
          <a:ln/>
        </p:spPr>
        <p:txBody>
          <a:bodyPr wrap="square" lIns="0" tIns="0" rIns="0" bIns="0" rtlCol="0" anchor="ctr"/>
          <a:lstStyle/>
          <a:p>
            <a:pPr algn="ctr" indent="0" marL="0">
              <a:buNone/>
            </a:pPr>
            <a:r>
              <a:rPr lang="en-US" sz="2000" b="1" dirty="0">
                <a:solidFill>
                  <a:srgbClr val="3DD9EB"/>
                </a:solidFill>
                <a:latin typeface="Calibri" pitchFamily="34" charset="0"/>
                <a:ea typeface="Calibri" pitchFamily="34" charset="-122"/>
                <a:cs typeface="Calibri" pitchFamily="34" charset="-120"/>
              </a:rPr>
              <a:t>2</a:t>
            </a:r>
            <a:endParaRPr lang="en-US" sz="2000" dirty="0"/>
          </a:p>
        </p:txBody>
      </p:sp>
      <p:sp>
        <p:nvSpPr>
          <p:cNvPr id="14" name="Text 12"/>
          <p:cNvSpPr/>
          <p:nvPr/>
        </p:nvSpPr>
        <p:spPr>
          <a:xfrm>
            <a:off x="1115568" y="3102102"/>
            <a:ext cx="4797400" cy="515612"/>
          </a:xfrm>
          <a:prstGeom prst="rect">
            <a:avLst/>
          </a:prstGeom>
          <a:noFill/>
          <a:ln/>
        </p:spPr>
        <p:txBody>
          <a:bodyPr wrap="square" lIns="0" tIns="0" rIns="0" bIns="0" rtlCol="0" anchor="ctr"/>
          <a:lstStyle/>
          <a:p>
            <a:pPr indent="0" marL="0">
              <a:buNone/>
            </a:pPr>
            <a:r>
              <a:rPr lang="en-US" sz="1624" b="1" dirty="0">
                <a:solidFill>
                  <a:srgbClr val="F4F7FB"/>
                </a:solidFill>
                <a:latin typeface="Calibri" pitchFamily="34" charset="0"/>
                <a:ea typeface="Calibri" pitchFamily="34" charset="-122"/>
                <a:cs typeface="Calibri" pitchFamily="34" charset="-120"/>
              </a:rPr>
              <a:t>One name per service, not one per version</a:t>
            </a:r>
            <a:endParaRPr lang="en-US" sz="1624" dirty="0"/>
          </a:p>
        </p:txBody>
      </p:sp>
      <p:sp>
        <p:nvSpPr>
          <p:cNvPr id="15" name="Text 13"/>
          <p:cNvSpPr/>
          <p:nvPr/>
        </p:nvSpPr>
        <p:spPr>
          <a:xfrm>
            <a:off x="1115568" y="3663434"/>
            <a:ext cx="4797400" cy="392847"/>
          </a:xfrm>
          <a:prstGeom prst="rect">
            <a:avLst/>
          </a:prstGeom>
          <a:noFill/>
          <a:ln/>
        </p:spPr>
        <p:txBody>
          <a:bodyPr wrap="square" lIns="0" tIns="0" rIns="0" bIns="0" rtlCol="0" anchor="t"/>
          <a:lstStyle/>
          <a:p>
            <a:pPr indent="0" marL="0">
              <a:lnSpc>
                <a:spcPct val="112000"/>
              </a:lnSpc>
              <a:buNone/>
            </a:pPr>
            <a:r>
              <a:rPr lang="en-US" sz="1237" dirty="0">
                <a:solidFill>
                  <a:srgbClr val="91A0B7"/>
                </a:solidFill>
                <a:latin typeface="Calibri" pitchFamily="34" charset="0"/>
                <a:ea typeface="Calibri" pitchFamily="34" charset="-122"/>
                <a:cs typeface="Calibri" pitchFamily="34" charset="-120"/>
              </a:rPr>
              <a:t>Stable application names, with the version and environment carried somewhere other than the name.</a:t>
            </a:r>
            <a:endParaRPr lang="en-US" sz="1237" dirty="0"/>
          </a:p>
        </p:txBody>
      </p:sp>
      <p:sp>
        <p:nvSpPr>
          <p:cNvPr id="16" name="Text 14"/>
          <p:cNvSpPr/>
          <p:nvPr/>
        </p:nvSpPr>
        <p:spPr>
          <a:xfrm>
            <a:off x="1115568" y="4102001"/>
            <a:ext cx="4797400" cy="417576"/>
          </a:xfrm>
          <a:prstGeom prst="rect">
            <a:avLst/>
          </a:prstGeom>
          <a:noFill/>
          <a:ln/>
        </p:spPr>
        <p:txBody>
          <a:bodyPr wrap="square" lIns="0" tIns="0" rIns="0" bIns="0" rtlCol="0" anchor="t"/>
          <a:lstStyle/>
          <a:p>
            <a:pPr indent="0" marL="0">
              <a:lnSpc>
                <a:spcPct val="105000"/>
              </a:lnSpc>
              <a:buNone/>
            </a:pPr>
            <a:r>
              <a:rPr lang="en-US" sz="1200" i="1" dirty="0">
                <a:solidFill>
                  <a:srgbClr val="3DD9EB"/>
                </a:solidFill>
                <a:latin typeface="Calibri" pitchFamily="34" charset="0"/>
                <a:ea typeface="Calibri" pitchFamily="34" charset="-122"/>
                <a:cs typeface="Calibri" pitchFamily="34" charset="-120"/>
              </a:rPr>
              <a:t>Tip: Ten IVR rows and seven pension copilot rows are two services.</a:t>
            </a:r>
            <a:endParaRPr lang="en-US" sz="1200" dirty="0"/>
          </a:p>
        </p:txBody>
      </p:sp>
      <p:sp>
        <p:nvSpPr>
          <p:cNvPr id="17" name="Shape 15"/>
          <p:cNvSpPr/>
          <p:nvPr/>
        </p:nvSpPr>
        <p:spPr>
          <a:xfrm>
            <a:off x="6278728" y="1517904"/>
            <a:ext cx="512064" cy="512064"/>
          </a:xfrm>
          <a:prstGeom prst="ellipse">
            <a:avLst/>
          </a:prstGeom>
          <a:solidFill>
            <a:srgbClr val="121B2D"/>
          </a:solidFill>
          <a:ln w="15875">
            <a:solidFill>
              <a:srgbClr val="3DD9EB"/>
            </a:solidFill>
            <a:prstDash val="solid"/>
          </a:ln>
        </p:spPr>
      </p:sp>
      <p:sp>
        <p:nvSpPr>
          <p:cNvPr id="18" name="Text 16"/>
          <p:cNvSpPr/>
          <p:nvPr/>
        </p:nvSpPr>
        <p:spPr>
          <a:xfrm>
            <a:off x="6278728" y="1517904"/>
            <a:ext cx="512064" cy="512064"/>
          </a:xfrm>
          <a:prstGeom prst="rect">
            <a:avLst/>
          </a:prstGeom>
          <a:noFill/>
          <a:ln/>
        </p:spPr>
        <p:txBody>
          <a:bodyPr wrap="square" lIns="0" tIns="0" rIns="0" bIns="0" rtlCol="0" anchor="ctr"/>
          <a:lstStyle/>
          <a:p>
            <a:pPr algn="ctr" indent="0" marL="0">
              <a:buNone/>
            </a:pPr>
            <a:r>
              <a:rPr lang="en-US" sz="2000" b="1" dirty="0">
                <a:solidFill>
                  <a:srgbClr val="3DD9EB"/>
                </a:solidFill>
                <a:latin typeface="Calibri" pitchFamily="34" charset="0"/>
                <a:ea typeface="Calibri" pitchFamily="34" charset="-122"/>
                <a:cs typeface="Calibri" pitchFamily="34" charset="-120"/>
              </a:rPr>
              <a:t>3</a:t>
            </a:r>
            <a:endParaRPr lang="en-US" sz="2000" dirty="0"/>
          </a:p>
        </p:txBody>
      </p:sp>
      <p:sp>
        <p:nvSpPr>
          <p:cNvPr id="19" name="Text 17"/>
          <p:cNvSpPr/>
          <p:nvPr/>
        </p:nvSpPr>
        <p:spPr>
          <a:xfrm>
            <a:off x="6937096" y="1463040"/>
            <a:ext cx="4797400" cy="515612"/>
          </a:xfrm>
          <a:prstGeom prst="rect">
            <a:avLst/>
          </a:prstGeom>
          <a:noFill/>
          <a:ln/>
        </p:spPr>
        <p:txBody>
          <a:bodyPr wrap="square" lIns="0" tIns="0" rIns="0" bIns="0" rtlCol="0" anchor="ctr"/>
          <a:lstStyle/>
          <a:p>
            <a:pPr indent="0" marL="0">
              <a:buNone/>
            </a:pPr>
            <a:r>
              <a:rPr lang="en-US" sz="1624" b="1" dirty="0">
                <a:solidFill>
                  <a:srgbClr val="F4F7FB"/>
                </a:solidFill>
                <a:latin typeface="Calibri" pitchFamily="34" charset="0"/>
                <a:ea typeface="Calibri" pitchFamily="34" charset="-122"/>
                <a:cs typeface="Calibri" pitchFamily="34" charset="-120"/>
              </a:rPr>
              <a:t>No personal names, no template defaults</a:t>
            </a:r>
            <a:endParaRPr lang="en-US" sz="1624" dirty="0"/>
          </a:p>
        </p:txBody>
      </p:sp>
      <p:sp>
        <p:nvSpPr>
          <p:cNvPr id="20" name="Text 18"/>
          <p:cNvSpPr/>
          <p:nvPr/>
        </p:nvSpPr>
        <p:spPr>
          <a:xfrm>
            <a:off x="6937096" y="2024372"/>
            <a:ext cx="4797400" cy="392847"/>
          </a:xfrm>
          <a:prstGeom prst="rect">
            <a:avLst/>
          </a:prstGeom>
          <a:noFill/>
          <a:ln/>
        </p:spPr>
        <p:txBody>
          <a:bodyPr wrap="square" lIns="0" tIns="0" rIns="0" bIns="0" rtlCol="0" anchor="t"/>
          <a:lstStyle/>
          <a:p>
            <a:pPr indent="0" marL="0">
              <a:lnSpc>
                <a:spcPct val="112000"/>
              </a:lnSpc>
              <a:buNone/>
            </a:pPr>
            <a:r>
              <a:rPr lang="en-US" sz="1237" dirty="0">
                <a:solidFill>
                  <a:srgbClr val="91A0B7"/>
                </a:solidFill>
                <a:latin typeface="Calibri" pitchFamily="34" charset="0"/>
                <a:ea typeface="Calibri" pitchFamily="34" charset="-122"/>
                <a:cs typeface="Calibri" pitchFamily="34" charset="-120"/>
              </a:rPr>
              <a:t>An application name identifies a service. It is not a person and it is not microservice-name.</a:t>
            </a:r>
            <a:endParaRPr lang="en-US" sz="1237" dirty="0"/>
          </a:p>
        </p:txBody>
      </p:sp>
      <p:sp>
        <p:nvSpPr>
          <p:cNvPr id="21" name="Text 19"/>
          <p:cNvSpPr/>
          <p:nvPr/>
        </p:nvSpPr>
        <p:spPr>
          <a:xfrm>
            <a:off x="6937096" y="2462939"/>
            <a:ext cx="4797400" cy="417576"/>
          </a:xfrm>
          <a:prstGeom prst="rect">
            <a:avLst/>
          </a:prstGeom>
          <a:noFill/>
          <a:ln/>
        </p:spPr>
        <p:txBody>
          <a:bodyPr wrap="square" lIns="0" tIns="0" rIns="0" bIns="0" rtlCol="0" anchor="t"/>
          <a:lstStyle/>
          <a:p>
            <a:pPr indent="0" marL="0">
              <a:lnSpc>
                <a:spcPct val="105000"/>
              </a:lnSpc>
              <a:buNone/>
            </a:pPr>
            <a:r>
              <a:rPr lang="en-US" sz="1200" i="1" dirty="0">
                <a:solidFill>
                  <a:srgbClr val="3DD9EB"/>
                </a:solidFill>
                <a:latin typeface="Calibri" pitchFamily="34" charset="0"/>
                <a:ea typeface="Calibri" pitchFamily="34" charset="-122"/>
                <a:cs typeface="Calibri" pitchFamily="34" charset="-120"/>
              </a:rPr>
              <a:t>Tip: Both appear in the file today, across three different teams.</a:t>
            </a:r>
            <a:endParaRPr lang="en-US" sz="1200" dirty="0"/>
          </a:p>
        </p:txBody>
      </p:sp>
      <p:sp>
        <p:nvSpPr>
          <p:cNvPr id="22" name="Shape 20"/>
          <p:cNvSpPr/>
          <p:nvPr/>
        </p:nvSpPr>
        <p:spPr>
          <a:xfrm>
            <a:off x="6278728" y="3156966"/>
            <a:ext cx="512064" cy="512064"/>
          </a:xfrm>
          <a:prstGeom prst="ellipse">
            <a:avLst/>
          </a:prstGeom>
          <a:solidFill>
            <a:srgbClr val="121B2D"/>
          </a:solidFill>
          <a:ln w="15875">
            <a:solidFill>
              <a:srgbClr val="3DD9EB"/>
            </a:solidFill>
            <a:prstDash val="solid"/>
          </a:ln>
        </p:spPr>
      </p:sp>
      <p:sp>
        <p:nvSpPr>
          <p:cNvPr id="23" name="Text 21"/>
          <p:cNvSpPr/>
          <p:nvPr/>
        </p:nvSpPr>
        <p:spPr>
          <a:xfrm>
            <a:off x="6278728" y="3156966"/>
            <a:ext cx="512064" cy="512064"/>
          </a:xfrm>
          <a:prstGeom prst="rect">
            <a:avLst/>
          </a:prstGeom>
          <a:noFill/>
          <a:ln/>
        </p:spPr>
        <p:txBody>
          <a:bodyPr wrap="square" lIns="0" tIns="0" rIns="0" bIns="0" rtlCol="0" anchor="ctr"/>
          <a:lstStyle/>
          <a:p>
            <a:pPr algn="ctr" indent="0" marL="0">
              <a:buNone/>
            </a:pPr>
            <a:r>
              <a:rPr lang="en-US" sz="2000" b="1" dirty="0">
                <a:solidFill>
                  <a:srgbClr val="3DD9EB"/>
                </a:solidFill>
                <a:latin typeface="Calibri" pitchFamily="34" charset="0"/>
                <a:ea typeface="Calibri" pitchFamily="34" charset="-122"/>
                <a:cs typeface="Calibri" pitchFamily="34" charset="-120"/>
              </a:rPr>
              <a:t>4</a:t>
            </a:r>
            <a:endParaRPr lang="en-US" sz="2000" dirty="0"/>
          </a:p>
        </p:txBody>
      </p:sp>
      <p:sp>
        <p:nvSpPr>
          <p:cNvPr id="24" name="Text 22"/>
          <p:cNvSpPr/>
          <p:nvPr/>
        </p:nvSpPr>
        <p:spPr>
          <a:xfrm>
            <a:off x="6937096" y="3102102"/>
            <a:ext cx="4797400" cy="515612"/>
          </a:xfrm>
          <a:prstGeom prst="rect">
            <a:avLst/>
          </a:prstGeom>
          <a:noFill/>
          <a:ln/>
        </p:spPr>
        <p:txBody>
          <a:bodyPr wrap="square" lIns="0" tIns="0" rIns="0" bIns="0" rtlCol="0" anchor="ctr"/>
          <a:lstStyle/>
          <a:p>
            <a:pPr indent="0" marL="0">
              <a:buNone/>
            </a:pPr>
            <a:r>
              <a:rPr lang="en-US" sz="1624" b="1" dirty="0">
                <a:solidFill>
                  <a:srgbClr val="F4F7FB"/>
                </a:solidFill>
                <a:latin typeface="Calibri" pitchFamily="34" charset="0"/>
                <a:ea typeface="Calibri" pitchFamily="34" charset="-122"/>
                <a:cs typeface="Calibri" pitchFamily="34" charset="-120"/>
              </a:rPr>
              <a:t>Test traffic never reaches a billed endpoint</a:t>
            </a:r>
            <a:endParaRPr lang="en-US" sz="1624" dirty="0"/>
          </a:p>
        </p:txBody>
      </p:sp>
      <p:sp>
        <p:nvSpPr>
          <p:cNvPr id="25" name="Text 23"/>
          <p:cNvSpPr/>
          <p:nvPr/>
        </p:nvSpPr>
        <p:spPr>
          <a:xfrm>
            <a:off x="6937096" y="3663434"/>
            <a:ext cx="4797400" cy="392847"/>
          </a:xfrm>
          <a:prstGeom prst="rect">
            <a:avLst/>
          </a:prstGeom>
          <a:noFill/>
          <a:ln/>
        </p:spPr>
        <p:txBody>
          <a:bodyPr wrap="square" lIns="0" tIns="0" rIns="0" bIns="0" rtlCol="0" anchor="t"/>
          <a:lstStyle/>
          <a:p>
            <a:pPr indent="0" marL="0">
              <a:lnSpc>
                <a:spcPct val="112000"/>
              </a:lnSpc>
              <a:buNone/>
            </a:pPr>
            <a:r>
              <a:rPr lang="en-US" sz="1237" dirty="0">
                <a:solidFill>
                  <a:srgbClr val="91A0B7"/>
                </a:solidFill>
                <a:latin typeface="Calibri" pitchFamily="34" charset="0"/>
                <a:ea typeface="Calibri" pitchFamily="34" charset="-122"/>
                <a:cs typeface="Calibri" pitchFamily="34" charset="-120"/>
              </a:rPr>
              <a:t>Give test work its own key and its own quota, so it cannot land in the production bill.</a:t>
            </a:r>
            <a:endParaRPr lang="en-US" sz="1237" dirty="0"/>
          </a:p>
        </p:txBody>
      </p:sp>
      <p:sp>
        <p:nvSpPr>
          <p:cNvPr id="26" name="Text 24"/>
          <p:cNvSpPr/>
          <p:nvPr/>
        </p:nvSpPr>
        <p:spPr>
          <a:xfrm>
            <a:off x="6937096" y="4102001"/>
            <a:ext cx="4797400" cy="417576"/>
          </a:xfrm>
          <a:prstGeom prst="rect">
            <a:avLst/>
          </a:prstGeom>
          <a:noFill/>
          <a:ln/>
        </p:spPr>
        <p:txBody>
          <a:bodyPr wrap="square" lIns="0" tIns="0" rIns="0" bIns="0" rtlCol="0" anchor="t"/>
          <a:lstStyle/>
          <a:p>
            <a:pPr indent="0" marL="0">
              <a:lnSpc>
                <a:spcPct val="105000"/>
              </a:lnSpc>
              <a:buNone/>
            </a:pPr>
            <a:r>
              <a:rPr lang="en-US" sz="1200" i="1" dirty="0">
                <a:solidFill>
                  <a:srgbClr val="3DD9EB"/>
                </a:solidFill>
                <a:latin typeface="Calibri" pitchFamily="34" charset="0"/>
                <a:ea typeface="Calibri" pitchFamily="34" charset="-122"/>
                <a:cs typeface="Calibri" pitchFamily="34" charset="-120"/>
              </a:rPr>
              <a:t>Tip: 34 rows in this file have test in the name.</a:t>
            </a:r>
            <a:endParaRPr lang="en-US" sz="1200" dirty="0"/>
          </a:p>
        </p:txBody>
      </p:sp>
      <p:sp>
        <p:nvSpPr>
          <p:cNvPr id="27" name="Shape 25"/>
          <p:cNvSpPr/>
          <p:nvPr/>
        </p:nvSpPr>
        <p:spPr>
          <a:xfrm>
            <a:off x="457200" y="5015484"/>
            <a:ext cx="11277295" cy="1248156"/>
          </a:xfrm>
          <a:prstGeom prst="roundRect">
            <a:avLst>
              <a:gd name="adj" fmla="val 4396"/>
            </a:avLst>
          </a:prstGeom>
          <a:solidFill>
            <a:srgbClr val="121B2D"/>
          </a:solidFill>
          <a:ln w="12700">
            <a:solidFill>
              <a:srgbClr val="3DD9EB"/>
            </a:solidFill>
            <a:prstDash val="solid"/>
          </a:ln>
        </p:spPr>
      </p:sp>
      <p:sp>
        <p:nvSpPr>
          <p:cNvPr id="28" name="Text 26"/>
          <p:cNvSpPr/>
          <p:nvPr/>
        </p:nvSpPr>
        <p:spPr>
          <a:xfrm>
            <a:off x="713232" y="5161788"/>
            <a:ext cx="10765231" cy="422402"/>
          </a:xfrm>
          <a:prstGeom prst="rect">
            <a:avLst/>
          </a:prstGeom>
          <a:noFill/>
          <a:ln/>
        </p:spPr>
        <p:txBody>
          <a:bodyPr wrap="square" lIns="0" tIns="0" rIns="0" bIns="0" rtlCol="0" anchor="ctr"/>
          <a:lstStyle/>
          <a:p>
            <a:pPr indent="0" marL="0">
              <a:buNone/>
            </a:pPr>
            <a:r>
              <a:rPr lang="en-US" sz="2200" b="1" dirty="0">
                <a:solidFill>
                  <a:srgbClr val="F4F7FB"/>
                </a:solidFill>
                <a:latin typeface="Calibri" pitchFamily="34" charset="0"/>
                <a:ea typeface="Calibri" pitchFamily="34" charset="-122"/>
                <a:cs typeface="Calibri" pitchFamily="34" charset="-120"/>
              </a:rPr>
              <a:t>Then this file becomes a monthly chargeback instead of a diagnosis</a:t>
            </a:r>
            <a:endParaRPr lang="en-US" sz="2200" dirty="0"/>
          </a:p>
        </p:txBody>
      </p:sp>
      <p:sp>
        <p:nvSpPr>
          <p:cNvPr id="29" name="Text 27"/>
          <p:cNvSpPr/>
          <p:nvPr/>
        </p:nvSpPr>
        <p:spPr>
          <a:xfrm>
            <a:off x="713232" y="5584190"/>
            <a:ext cx="10765231" cy="533146"/>
          </a:xfrm>
          <a:prstGeom prst="rect">
            <a:avLst/>
          </a:prstGeom>
          <a:noFill/>
          <a:ln/>
        </p:spPr>
        <p:txBody>
          <a:bodyPr wrap="square" lIns="0" tIns="0" rIns="0" bIns="0" rtlCol="0" anchor="t"/>
          <a:lstStyle/>
          <a:p>
            <a:pPr indent="0" marL="0">
              <a:lnSpc>
                <a:spcPct val="118000"/>
              </a:lnSpc>
              <a:buNone/>
            </a:pPr>
            <a:r>
              <a:rPr lang="en-US" sz="1200" dirty="0">
                <a:solidFill>
                  <a:srgbClr val="91A0B7"/>
                </a:solidFill>
                <a:latin typeface="Calibri" pitchFamily="34" charset="0"/>
                <a:ea typeface="Calibri" pitchFamily="34" charset="-122"/>
                <a:cs typeface="Calibri" pitchFamily="34" charset="-120"/>
              </a:rPr>
              <a:t>Every figure in this deck already exists. The only reason it cannot be sent to a team as an invoice is that 45% of it has no name on it, and the names it does have are not stable enough to compare month to month.</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Harel Insurance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cost by team and application — Harel</dc:title>
  <dc:subject>PptxGenJS Presentation</dc:subject>
  <dc:creator>Cloud Infrastructure, DevOps &amp; Databases</dc:creator>
  <cp:lastModifiedBy>Cloud Infrastructure, DevOps &amp; Databases</cp:lastModifiedBy>
  <cp:revision>1</cp:revision>
  <dcterms:created xsi:type="dcterms:W3CDTF">2026-09-22T17:12:13Z</dcterms:created>
  <dcterms:modified xsi:type="dcterms:W3CDTF">2026-09-22T17:12:13Z</dcterms:modified>
</cp:coreProperties>
</file>