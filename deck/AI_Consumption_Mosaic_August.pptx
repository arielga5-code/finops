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READ IT, IN ONE SENTENCE: every block is money. Wide column, big
team. Tall band, big application. The colour is who we paid.
  $34,370 over 19 days, 691,367 calls,
  about $55,022 a month at this rate.
THE COLUMNS
  insait        $10,773   31.3% of the bill
  ai-factory     $7,743   22.5% of the bill
  solugen        $5,803   16.9% of the bill
  No owner       $9,850   28.7% of the bill
DO NOT EXPLAIN THE CHART. Point at the right-hand column and say: that one
is bigger than any team we have, and it belongs to nobody. Everything else
on the slide is there to make that comparison fair.
THE NO-OWNER COLUMN IS ORANGE FOR A REASON. Orange is Bedrock everywhere in
this deck, and that is exactly what this money is: $9,184 of Bedrock
model spend with no application tag, plus $666 of guardrail fees.
46% of our Bedrock bill has no application on it.
THE RED BANDS INSIDE THE TEAMS are the same defect one level down: rows
whose application name is the word 'unknown' or '(unlabeled)'.
  unknown       Claude  insait       $2,849    30,396 calls
  (unlabeled)   Azure   insait       $2,251    22,100 calls
Together with the untagged column that is $14,950, 43% of the bill with
no application name on it.
IF ASKED ABOUT THE TEAMS
  insait      agent and the copilots, and half of it has no application name
  ai-factory  the only team using all three providers, three different jobs
  solugen     one application, insureGen, and nothing else worth a band
IF ASKED WHY 9 TEAMS ARE MISSING: they are $202 between them, 0.6%.
At true scale that column is a fifth of an inch. Drawing it wide enough to
label would make it look five times its real size, and on a chart where
area is money that is not a rounding choice, it is a false statement. The
figure is in the footnote.
IF ASKED WHETHER IT RECONCILES: the bands add to their column and the
columns add to the bill, and the build fails if they stop doing so.
This export has a single table, so there is no inter-sheet difference.
THE ASK: put an application tag on the Bedrock calls. Gateway
configuration, not a project. Then the right-hand column disappears into
the teams where it belongs, and this becomes a chargeback.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063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CONSUMPTION, 1 TO 19 AUGUST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45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AI bill, drawn to scale</a:t>
            </a:r>
            <a:endParaRPr lang="en-US" sz="2545" dirty="0"/>
          </a:p>
        </p:txBody>
      </p:sp>
      <p:sp>
        <p:nvSpPr>
          <p:cNvPr id="6" name="Text 4"/>
          <p:cNvSpPr/>
          <p:nvPr/>
        </p:nvSpPr>
        <p:spPr>
          <a:xfrm>
            <a:off x="8321040" y="493776"/>
            <a:ext cx="34134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$34,370 over 19 days. Every block is money: how much, whose, and who was paid.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45936"/>
            <a:ext cx="11277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width is the team, band height is the application, block width is the provider, so every area is a dollar figure. Red outline and red type mean no application name. The four columns are 99% of the bill; the rest is 9 teams too small to draw at true scale, $202 between them.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486492" cy="45720"/>
          </a:xfrm>
          <a:prstGeom prst="rect">
            <a:avLst/>
          </a:prstGeom>
          <a:solidFill>
            <a:srgbClr val="3DD9EB"/>
          </a:solidFill>
          <a:ln w="12700">
            <a:solidFill>
              <a:srgbClr val="3DD9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34440"/>
            <a:ext cx="34864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53896"/>
            <a:ext cx="34864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$10,773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3486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115,299 calls, $93/1K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2955009" cy="1236054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2209" y="2057400"/>
            <a:ext cx="531482" cy="1236054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66544"/>
            <a:ext cx="33036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2258568"/>
            <a:ext cx="3303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$4,012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316314"/>
            <a:ext cx="3486492" cy="877848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25458"/>
            <a:ext cx="33036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517482"/>
            <a:ext cx="3303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$2,849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217023"/>
            <a:ext cx="3486492" cy="693657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26167"/>
            <a:ext cx="33036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(unlabeled)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18191"/>
            <a:ext cx="3303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$2,251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933540"/>
            <a:ext cx="3486492" cy="354675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933540"/>
            <a:ext cx="23892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jeff---pension-copilot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37852" y="49335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$1,151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5311075"/>
            <a:ext cx="998173" cy="157037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55373" y="5311075"/>
            <a:ext cx="2488319" cy="157037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057400"/>
            <a:ext cx="3486492" cy="3410712"/>
          </a:xfrm>
          <a:prstGeom prst="rect">
            <a:avLst/>
          </a:prstGeom>
          <a:ln w="9525">
            <a:solidFill>
              <a:srgbClr val="2330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16844" y="2011680"/>
            <a:ext cx="2505760" cy="45720"/>
          </a:xfrm>
          <a:prstGeom prst="rect">
            <a:avLst/>
          </a:prstGeom>
          <a:solidFill>
            <a:srgbClr val="B07CFF"/>
          </a:solidFill>
          <a:ln w="12700">
            <a:solidFill>
              <a:srgbClr val="B07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6844" y="1234440"/>
            <a:ext cx="250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16844" y="1453896"/>
            <a:ext cx="250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$7,743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016844" y="1810512"/>
            <a:ext cx="250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248,437 calls, $31/1K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016844" y="2057400"/>
            <a:ext cx="2505760" cy="1626183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08284" y="2066544"/>
            <a:ext cx="2322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08284" y="2258568"/>
            <a:ext cx="232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$3,767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016844" y="3706443"/>
            <a:ext cx="2505760" cy="1282470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08284" y="3715587"/>
            <a:ext cx="2322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claims-copilot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108284" y="3907611"/>
            <a:ext cx="232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$2,971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016844" y="5011772"/>
            <a:ext cx="2505760" cy="385001"/>
          </a:xfrm>
          <a:prstGeom prst="rect">
            <a:avLst/>
          </a:prstGeom>
          <a:solidFill>
            <a:srgbClr val="3DDC97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08284" y="5011772"/>
            <a:ext cx="232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ai-factory-idp-ocr-hybrid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016844" y="5419633"/>
            <a:ext cx="144576" cy="48479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61420" y="5419633"/>
            <a:ext cx="1946421" cy="48479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07841" y="5419633"/>
            <a:ext cx="414763" cy="48479"/>
          </a:xfrm>
          <a:prstGeom prst="rect">
            <a:avLst/>
          </a:prstGeom>
          <a:solidFill>
            <a:srgbClr val="1D2D42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16844" y="2057400"/>
            <a:ext cx="2505760" cy="3410712"/>
          </a:xfrm>
          <a:prstGeom prst="rect">
            <a:avLst/>
          </a:prstGeom>
          <a:ln w="9525">
            <a:solidFill>
              <a:srgbClr val="2330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95756" y="2011680"/>
            <a:ext cx="1877927" cy="45720"/>
          </a:xfrm>
          <a:prstGeom prst="rect">
            <a:avLst/>
          </a:prstGeom>
          <a:solidFill>
            <a:srgbClr val="E0A030"/>
          </a:solidFill>
          <a:ln w="12700">
            <a:solidFill>
              <a:srgbClr val="E0A03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95756" y="1234440"/>
            <a:ext cx="18779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SOLUGEN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95756" y="1453896"/>
            <a:ext cx="1877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$5,803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595756" y="1810512"/>
            <a:ext cx="187792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321,521 calls, $18/1K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95756" y="2057400"/>
            <a:ext cx="1877927" cy="3410712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87196" y="2066544"/>
            <a:ext cx="169504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insureGen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687196" y="2258568"/>
            <a:ext cx="16950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$5,803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595756" y="2057400"/>
            <a:ext cx="1877927" cy="3410712"/>
          </a:xfrm>
          <a:prstGeom prst="rect">
            <a:avLst/>
          </a:prstGeom>
          <a:ln w="9525">
            <a:solidFill>
              <a:srgbClr val="2330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46835" y="2011680"/>
            <a:ext cx="3187660" cy="45720"/>
          </a:xfrm>
          <a:prstGeom prst="rect">
            <a:avLst/>
          </a:prstGeom>
          <a:solidFill>
            <a:srgbClr val="FF6B7A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46835" y="1234440"/>
            <a:ext cx="31876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OWNER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546835" y="1453896"/>
            <a:ext cx="31876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$9,850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8546835" y="1810512"/>
            <a:ext cx="31876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application, no team, no calls reported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546835" y="2057400"/>
            <a:ext cx="3187660" cy="3158894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38275" y="2066544"/>
            <a:ext cx="30047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Bedrock spend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638275" y="2258568"/>
            <a:ext cx="3004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$9,184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546835" y="5239154"/>
            <a:ext cx="3187660" cy="228958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46835" y="2057400"/>
            <a:ext cx="3187660" cy="3410712"/>
          </a:xfrm>
          <a:prstGeom prst="rect">
            <a:avLst/>
          </a:prstGeom>
          <a:ln w="19050">
            <a:solidFill>
              <a:srgbClr val="FF6B7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7200" y="5632704"/>
            <a:ext cx="11277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ACTUALLY WENT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457200" y="5852160"/>
            <a:ext cx="7010815" cy="310896"/>
          </a:xfrm>
          <a:prstGeom prst="rect">
            <a:avLst/>
          </a:prstGeom>
          <a:solidFill>
            <a:srgbClr val="FF9F43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852160"/>
            <a:ext cx="6827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Bedrock   $21,367   62%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468015" y="5852160"/>
            <a:ext cx="3967718" cy="310896"/>
          </a:xfrm>
          <a:prstGeom prst="rect">
            <a:avLst/>
          </a:prstGeom>
          <a:solidFill>
            <a:srgbClr val="2F8CFF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59455" y="5852160"/>
            <a:ext cx="37848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7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 $12,092   35%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1435734" y="5852160"/>
            <a:ext cx="298762" cy="310896"/>
          </a:xfrm>
          <a:prstGeom prst="rect">
            <a:avLst/>
          </a:prstGeom>
          <a:solidFill>
            <a:srgbClr val="3DDC97"/>
          </a:solidFill>
          <a:ln w="9525">
            <a:solidFill>
              <a:srgbClr val="070A1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539935" y="56144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 $911  3%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Harel Insurance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consumption, August 2026, drawn to scale — Harel</dc:title>
  <dc:subject>PptxGenJS Presentation</dc:subject>
  <dc:creator>Cloud Infrastructure, DevOps &amp; Databases</dc:creator>
  <cp:lastModifiedBy>Cloud Infrastructure, DevOps &amp; Databases</cp:lastModifiedBy>
  <cp:revision>1</cp:revision>
  <dcterms:created xsi:type="dcterms:W3CDTF">2026-09-22T16:58:57Z</dcterms:created>
  <dcterms:modified xsi:type="dcterms:W3CDTF">2026-09-22T16:58:57Z</dcterms:modified>
</cp:coreProperties>
</file>