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3DD9EB"/>
            </a:solidFill>
            <a:effectLst/>
          </c:spPr>
          <c:invertIfNegative val="0"/>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(unlabeled) (GCP)</c:v>
                  </c:pt>
                  <c:pt idx="1">
                    <c:v>ai-factory-yacovz</c:v>
                  </c:pt>
                  <c:pt idx="2">
                    <c:v>claim-assessor (Azure)</c:v>
                  </c:pt>
                  <c:pt idx="3">
                    <c:v>onedoc-processor-worker</c:v>
                  </c:pt>
                  <c:pt idx="4">
                    <c:v>(unlabeled) (Azure)</c:v>
                  </c:pt>
                  <c:pt idx="5">
                    <c:v>cli</c:v>
                  </c:pt>
                  <c:pt idx="6">
                    <c:v>bedrock-session</c:v>
                  </c:pt>
                  <c:pt idx="7">
                    <c:v>idp-ocr-hybrid (GCP)</c:v>
                  </c:pt>
                  <c:pt idx="8">
                    <c:v>ai-factory-idp-ocr-hybrid</c:v>
                  </c:pt>
                  <c:pt idx="9">
                    <c:v>claims-copilot (Azure)</c:v>
                  </c:pt>
                  <c:pt idx="10">
                    <c:v>insureGen</c:v>
                  </c:pt>
                  <c:pt idx="11">
                    <c:v>agent (Claude)</c:v>
                  </c:pt>
                </c:lvl>
              </c:multiLvlStrCache>
            </c:multiLvlStrRef>
          </c:cat>
          <c:val>
            <c:numRef>
              <c:f>Sheet1!$B$2:$B$13</c:f>
              <c:numCache>
                <c:formatCode>General</c:formatCode>
                <c:ptCount val="12"/>
                <c:pt idx="0">
                  <c:v>38.11</c:v>
                </c:pt>
                <c:pt idx="1">
                  <c:v>91.35</c:v>
                </c:pt>
                <c:pt idx="2">
                  <c:v>93.67</c:v>
                </c:pt>
                <c:pt idx="3">
                  <c:v>149.26</c:v>
                </c:pt>
                <c:pt idx="4">
                  <c:v>337.79</c:v>
                </c:pt>
                <c:pt idx="5">
                  <c:v>468.92</c:v>
                </c:pt>
                <c:pt idx="6">
                  <c:v>473.5</c:v>
                </c:pt>
                <c:pt idx="7">
                  <c:v>702.08</c:v>
                </c:pt>
                <c:pt idx="8">
                  <c:v>1484.53</c:v>
                </c:pt>
                <c:pt idx="9">
                  <c:v>2374.22</c:v>
                </c:pt>
                <c:pt idx="10">
                  <c:v>5697.82</c:v>
                </c:pt>
                <c:pt idx="11">
                  <c:v>7378.46</c:v>
                </c:pt>
              </c:numCache>
            </c:numRef>
          </c:val>
        </c:ser>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plotVisOnly val="1"/>
    <c:dispBlanksAs val="span"/>
  </c:chart>
  <c:spPr>
    <a:solidFill>
      <a:srgbClr val="070A1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B07CFF"/>
            </a:solidFill>
            <a:effectLst/>
          </c:spPr>
          <c:invertIfNegative val="0"/>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agent (Azure)</c:v>
                  </c:pt>
                  <c:pt idx="1">
                    <c:v>insureGen</c:v>
                  </c:pt>
                  <c:pt idx="2">
                    <c:v>(unlabeled) (Azure)</c:v>
                  </c:pt>
                  <c:pt idx="3">
                    <c:v>claims-copilot (Azure)</c:v>
                  </c:pt>
                  <c:pt idx="4">
                    <c:v>onedoc-processor-worker</c:v>
                  </c:pt>
                  <c:pt idx="5">
                    <c:v>cli</c:v>
                  </c:pt>
                  <c:pt idx="6">
                    <c:v>bedrock-session</c:v>
                  </c:pt>
                  <c:pt idx="7">
                    <c:v>agent (Claude)</c:v>
                  </c:pt>
                  <c:pt idx="8">
                    <c:v>ai-factory-idp-ocr-hybrid</c:v>
                  </c:pt>
                </c:lvl>
              </c:multiLvlStrCache>
            </c:multiLvlStrRef>
          </c:cat>
          <c:val>
            <c:numRef>
              <c:f>Sheet1!$B$2:$B$10</c:f>
              <c:numCache>
                <c:formatCode>General</c:formatCode>
                <c:ptCount val="9"/>
                <c:pt idx="0">
                  <c:v>2.132580341535565</c:v>
                </c:pt>
                <c:pt idx="1">
                  <c:v>17.810307048390673</c:v>
                </c:pt>
                <c:pt idx="2">
                  <c:v>18.08007279344859</c:v>
                </c:pt>
                <c:pt idx="3">
                  <c:v>22.992862607617738</c:v>
                </c:pt>
                <c:pt idx="4">
                  <c:v>28.05111821086262</c:v>
                </c:pt>
                <c:pt idx="5">
                  <c:v>36.40117994100295</c:v>
                </c:pt>
                <c:pt idx="6">
                  <c:v>56.41606100321697</c:v>
                </c:pt>
                <c:pt idx="7">
                  <c:v>121.54216152997182</c:v>
                </c:pt>
                <c:pt idx="8">
                  <c:v>161.04686482968106</c:v>
                </c:pt>
              </c:numCache>
            </c:numRef>
          </c:val>
        </c:ser>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plotVisOnly val="1"/>
    <c:dispBlanksAs val="span"/>
  </c:chart>
  <c:spPr>
    <a:solidFill>
      <a:srgbClr val="070A1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July cut, one row per application per provider, from the AI
cost export. It sits alongside the provider view in the main deck rather
than replacing it: that one answers what we pay Azure, AWS and GCP, this
one answers which application spent it and whether the figure holds up.
  $19,351 estimated
  560,227 invocations
  45 applications
  31 days, a complete month
TREAT THIS AS THE BASELINE. It is the last full month we have, and every
question about whether August is normal gets answered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PROVIDER
  Azure      $8,543   44.1%    455,073 calls  18 rows
  Claude     $8,487   43.9%     90,707 calls  19 rows
  GCP        $2,321   12.0%     14,447 calls  14 rows
  daily rate  $624
  per 1,000 calls  $34.54
THE CONTRAST WORTH DRAWING: Azure and Claude cost the same to within $55,
but Azure does it over 5.0x the calls. Nobody in the room will guess that,
and it is the reason the unit-cost slide exists.
Do not let the room anchor on the total. Two applications are most of it,
and half of it cannot be checked. Both are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APPLICATIONS, July 2026
  agent (Claude)                    $7,378   38.1%  reconciled
  insureGen                         $5,698   29.4%  estimate only
  claims-copilot (Azure)            $2,374   12.3%  estimate only
  ai-factory-idp-ocr-hybrid         $1,485    7.7%  reconciled
  idp-ocr-hybrid (GCP)                $702    3.6%  reconciled
  bedrock-session                     $474    2.4%  estimate only
  top 1  38.1%
  top 2  67.6%
  top 6  93.6%
THE POINT: this is a manageable list. Six applications is something a person
can own. We do not need to govern a hundred things.
The two at the top are different animals. agent (Claude) is agent traffic,
expensive per call, on Claude. insureGen is high-volume and cheap per
call, on Azure. The same percentage of the bill, nothing else in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TEAM, case-folded, reconciled against estimate-only:
  insait             $7,394  reconciled   $7,378  (100%)  4 applications
  solugen            $6,012  reconciled       $0  (0%)  4 applications
  ai-factory         $5,259  reconciled   $2,771  (53%)  37 applications
  4 smaller teams      $684  reconciled     $185  (27%)  6 applications
SOLUGEN IS THE ONE TO NAME: $6,012, entirely on Azure, entirely
unreconciled, and almost all of it a single application.
THE SHAPE CONTRAST: ai-factory has 37 application rows for $5,259,
insait has 4 for $7,394. One is a platform team running many small things,
the other is a product team running a few large ones. They need different
controls, and a single policy applied to both will annoy one and miss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MATTERS.
  Reconciled      $10,335  53.4%
  Estimate only    $9,016  46.6%
WHY: the CE actual column is blank on all 18 Azure rows. The export's own
notes say so, and say the deltas only mean anything where it exists.
THE ONE REAL CHECK WE HAVE
  Claude rows with both figures: estimate $8,014, actual $10,481
  the estimate is 30.8% low
GCP LOOKS PERFECT AND IS NOT A CHECK. Estimate equals actual to the cent on
every row, which means one column was copied from the other. Say that plainly
if asked, rather than counting it as confirmation.
WHAT NOT TO CLAIM: the $2,776 is a sensitivity, not a finding. It is what
the gap would be if Azure behaves like Claude, and there is no evidence yet
that it does. Offer it as the reason to go and get the data, not as a number
for a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PER 1,000 INVOCATIONS, applications with at least 5,000 calls.
These nine carry 95% of the month.
  ai-factory-idp-ocr-hybrid       $ 161.05/1K     9,218 calls    $1,485
  agent (Claude)                  $ 121.54/1K    60,707 calls    $7,378
  bedrock-session                 $  56.42/1K     8,393 calls      $474
  cli                             $  36.40/1K    12,882 calls      $469
  onedoc-processor-worker         $  28.05/1K     5,321 calls      $149
  claims-copilot (Azure)          $  22.99/1K   103,259 calls    $2,374
  (unlabeled) (Azure)             $  18.08/1K    18,683 calls      $338
  insureGen                       $  17.81/1K   319,917 calls    $5,698
  agent (Azure)                   $   2.13/1K     7,437 calls       $16
TWO DIFFERENT LEVERS, CONSTANTLY CONFUSED:
  High volume, low unit cost  -&gt;  ask whether the calls are necessary.
  Low volume, high unit cost  -&gt;  ask which model is being called.
The floor of 5,000 calls is deliberate. Below it the per-thousand figure
is arithmetic rather than economics: a five-cent row over five calls would
top this chart and mean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IN ONE SENTENCE: give Azure an actuals column and keep the period on
the sheet, and this stops being a one-off table.
All four are changes to how the data is produced, not to how AI is used.
Nobody has to stop building anything. Say that explicitly, because a cost
slide in a CIO meeting is usually heard as a restriction.
WHAT IT BUYS: a monthly per-application figure we can defend, which is the
precondition for chargeback and for any quota model at the gateway. Without
it the gateway can enforce budgets it cannot prove.
WHAT IT COSTS: nothing to buy. Export configuration plus a tagging rule.
CLOSE ON: July is the baseline. The next deck is what happened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1723136"/>
            <a:ext cx="8229600" cy="274320"/>
          </a:xfrm>
          <a:prstGeom prst="rect">
            <a:avLst/>
          </a:prstGeom>
          <a:noFill/>
          <a:ln/>
        </p:spPr>
        <p:txBody>
          <a:bodyPr wrap="square" lIns="0" tIns="0" rIns="0" bIns="0" rtlCol="0" anchor="ctr"/>
          <a:lstStyle/>
          <a:p>
            <a:pPr indent="0" marL="0">
              <a:buNone/>
            </a:pPr>
            <a:r>
              <a:rPr lang="en-US" sz="1300" b="1" spc="300" kern="0" dirty="0">
                <a:solidFill>
                  <a:srgbClr val="3DD9EB"/>
                </a:solidFill>
                <a:latin typeface="Calibri" pitchFamily="34" charset="0"/>
                <a:ea typeface="Calibri" pitchFamily="34" charset="-122"/>
                <a:cs typeface="Calibri" pitchFamily="34" charset="-120"/>
              </a:rPr>
              <a:t>AI COST, JULY 2026</a:t>
            </a:r>
            <a:endParaRPr lang="en-US" sz="1300" dirty="0"/>
          </a:p>
        </p:txBody>
      </p:sp>
      <p:sp>
        <p:nvSpPr>
          <p:cNvPr id="6" name="Text 4"/>
          <p:cNvSpPr/>
          <p:nvPr/>
        </p:nvSpPr>
        <p:spPr>
          <a:xfrm>
            <a:off x="457200" y="2070608"/>
            <a:ext cx="8412480" cy="247904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A full month of AI spend,</a:t>
            </a:r>
            <a:endParaRPr lang="en-US" sz="4000" dirty="0"/>
          </a:p>
          <a:p>
            <a:pPr indent="0" marL="0">
              <a:buNone/>
            </a:pPr>
            <a:r>
              <a:rPr lang="en-US" sz="4000" b="1" dirty="0">
                <a:solidFill>
                  <a:srgbClr val="F4F7FB"/>
                </a:solidFill>
                <a:latin typeface="Calibri" pitchFamily="34" charset="0"/>
                <a:ea typeface="Calibri" pitchFamily="34" charset="-122"/>
                <a:cs typeface="Calibri" pitchFamily="34" charset="-120"/>
              </a:rPr>
              <a:t>application by application</a:t>
            </a:r>
            <a:endParaRPr lang="en-US" sz="4000" dirty="0"/>
          </a:p>
        </p:txBody>
      </p:sp>
      <p:sp>
        <p:nvSpPr>
          <p:cNvPr id="7" name="Text 5"/>
          <p:cNvSpPr/>
          <p:nvPr/>
        </p:nvSpPr>
        <p:spPr>
          <a:xfrm>
            <a:off x="457200" y="467766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$19,351 across 45 applications and 560,227 calls, 31 days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THE MONTH</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154" b="1" dirty="0">
                <a:solidFill>
                  <a:srgbClr val="F4F7FB"/>
                </a:solidFill>
                <a:latin typeface="Calibri" pitchFamily="34" charset="0"/>
                <a:ea typeface="Calibri" pitchFamily="34" charset="-122"/>
                <a:cs typeface="Calibri" pitchFamily="34" charset="-120"/>
              </a:rPr>
              <a:t>Three providers, near enough two halves</a:t>
            </a:r>
            <a:endParaRPr lang="en-US" sz="2154"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Estimated cost per application for July 2026, as exported.</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31 days, 01/07/2026 to 31/07/2026, from the sheet title. Figures are the estimate column; the reconciliation column is dealt with three slides on.</a:t>
            </a:r>
            <a:endParaRPr lang="en-US" sz="1200" dirty="0"/>
          </a:p>
        </p:txBody>
      </p:sp>
      <p:sp>
        <p:nvSpPr>
          <p:cNvPr id="8" name="Text 6"/>
          <p:cNvSpPr/>
          <p:nvPr/>
        </p:nvSpPr>
        <p:spPr>
          <a:xfrm>
            <a:off x="457200" y="1691640"/>
            <a:ext cx="5669280" cy="1371600"/>
          </a:xfrm>
          <a:prstGeom prst="rect">
            <a:avLst/>
          </a:prstGeom>
          <a:noFill/>
          <a:ln/>
        </p:spPr>
        <p:txBody>
          <a:bodyPr wrap="square" lIns="0" tIns="0" rIns="0" bIns="0" rtlCol="0" anchor="ctr"/>
          <a:lstStyle/>
          <a:p>
            <a:pPr indent="0" marL="0">
              <a:buNone/>
            </a:pPr>
            <a:r>
              <a:rPr lang="en-US" sz="9600" b="1" dirty="0">
                <a:solidFill>
                  <a:srgbClr val="F4F7FB"/>
                </a:solidFill>
                <a:latin typeface="Calibri" pitchFamily="34" charset="0"/>
                <a:ea typeface="Calibri" pitchFamily="34" charset="-122"/>
                <a:cs typeface="Calibri" pitchFamily="34" charset="-120"/>
              </a:rPr>
              <a:t>$19,351</a:t>
            </a:r>
            <a:endParaRPr lang="en-US" sz="9600" dirty="0"/>
          </a:p>
        </p:txBody>
      </p:sp>
      <p:sp>
        <p:nvSpPr>
          <p:cNvPr id="9" name="Text 7"/>
          <p:cNvSpPr/>
          <p:nvPr/>
        </p:nvSpPr>
        <p:spPr>
          <a:xfrm>
            <a:off x="457200" y="3063240"/>
            <a:ext cx="5669280" cy="365760"/>
          </a:xfrm>
          <a:prstGeom prst="rect">
            <a:avLst/>
          </a:prstGeom>
          <a:noFill/>
          <a:ln/>
        </p:spPr>
        <p:txBody>
          <a:bodyPr wrap="square" lIns="0" tIns="0" rIns="0" bIns="0" rtlCol="0" anchor="ctr"/>
          <a:lstStyle/>
          <a:p>
            <a:pPr indent="0" marL="0">
              <a:buNone/>
            </a:pPr>
            <a:r>
              <a:rPr lang="en-US" sz="1500" dirty="0">
                <a:solidFill>
                  <a:srgbClr val="91A0B7"/>
                </a:solidFill>
                <a:latin typeface="Calibri" pitchFamily="34" charset="0"/>
                <a:ea typeface="Calibri" pitchFamily="34" charset="-122"/>
                <a:cs typeface="Calibri" pitchFamily="34" charset="-120"/>
              </a:rPr>
              <a:t>estimated AI cost across 45 applications and 560,227 invocations</a:t>
            </a:r>
            <a:endParaRPr lang="en-US" sz="1500" dirty="0"/>
          </a:p>
        </p:txBody>
      </p:sp>
      <p:sp>
        <p:nvSpPr>
          <p:cNvPr id="10" name="Text 8"/>
          <p:cNvSpPr/>
          <p:nvPr/>
        </p:nvSpPr>
        <p:spPr>
          <a:xfrm>
            <a:off x="457200" y="3456432"/>
            <a:ext cx="5669280" cy="365760"/>
          </a:xfrm>
          <a:prstGeom prst="rect">
            <a:avLst/>
          </a:prstGeom>
          <a:noFill/>
          <a:ln/>
        </p:spPr>
        <p:txBody>
          <a:bodyPr wrap="square" lIns="0" tIns="0" rIns="0" bIns="0" rtlCol="0" anchor="ctr"/>
          <a:lstStyle/>
          <a:p>
            <a:pPr indent="0" marL="0">
              <a:buNone/>
            </a:pPr>
            <a:r>
              <a:rPr lang="en-US" sz="1700" b="1" dirty="0">
                <a:solidFill>
                  <a:srgbClr val="3DD9EB"/>
                </a:solidFill>
                <a:latin typeface="Calibri" pitchFamily="34" charset="0"/>
                <a:ea typeface="Calibri" pitchFamily="34" charset="-122"/>
                <a:cs typeface="Calibri" pitchFamily="34" charset="-120"/>
              </a:rPr>
              <a:t>$624 a day across the month</a:t>
            </a:r>
            <a:endParaRPr lang="en-US" sz="1700" dirty="0"/>
          </a:p>
        </p:txBody>
      </p:sp>
      <p:sp>
        <p:nvSpPr>
          <p:cNvPr id="11" name="Shape 9"/>
          <p:cNvSpPr/>
          <p:nvPr/>
        </p:nvSpPr>
        <p:spPr>
          <a:xfrm>
            <a:off x="6492240" y="1554480"/>
            <a:ext cx="5242255" cy="914400"/>
          </a:xfrm>
          <a:prstGeom prst="roundRect">
            <a:avLst>
              <a:gd name="adj" fmla="val 6000"/>
            </a:avLst>
          </a:prstGeom>
          <a:solidFill>
            <a:srgbClr val="121B2D"/>
          </a:solidFill>
          <a:ln w="12700">
            <a:solidFill>
              <a:srgbClr val="23304A"/>
            </a:solidFill>
            <a:prstDash val="solid"/>
          </a:ln>
        </p:spPr>
      </p:sp>
      <p:sp>
        <p:nvSpPr>
          <p:cNvPr id="12" name="Text 10"/>
          <p:cNvSpPr/>
          <p:nvPr/>
        </p:nvSpPr>
        <p:spPr>
          <a:xfrm>
            <a:off x="6693408" y="1682496"/>
            <a:ext cx="4839919" cy="274320"/>
          </a:xfrm>
          <a:prstGeom prst="rect">
            <a:avLst/>
          </a:prstGeom>
          <a:noFill/>
          <a:ln/>
        </p:spPr>
        <p:txBody>
          <a:bodyPr wrap="square" lIns="0" tIns="0" rIns="0" bIns="0" rtlCol="0" anchor="ctr"/>
          <a:lstStyle/>
          <a:p>
            <a:pPr indent="0" marL="0">
              <a:buNone/>
            </a:pPr>
            <a:r>
              <a:rPr lang="en-US" sz="1500" b="1" dirty="0">
                <a:solidFill>
                  <a:srgbClr val="2F8CFF"/>
                </a:solidFill>
                <a:latin typeface="Calibri" pitchFamily="34" charset="0"/>
                <a:ea typeface="Calibri" pitchFamily="34" charset="-122"/>
                <a:cs typeface="Calibri" pitchFamily="34" charset="-120"/>
              </a:rPr>
              <a:t>Azure</a:t>
            </a:r>
            <a:endParaRPr lang="en-US" sz="1500" dirty="0"/>
          </a:p>
        </p:txBody>
      </p:sp>
      <p:sp>
        <p:nvSpPr>
          <p:cNvPr id="13" name="Text 11"/>
          <p:cNvSpPr/>
          <p:nvPr/>
        </p:nvSpPr>
        <p:spPr>
          <a:xfrm>
            <a:off x="6693408" y="197510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$8,543</a:t>
            </a:r>
            <a:endParaRPr lang="en-US" sz="2200" dirty="0"/>
          </a:p>
        </p:txBody>
      </p:sp>
      <p:sp>
        <p:nvSpPr>
          <p:cNvPr id="14" name="Text 12"/>
          <p:cNvSpPr/>
          <p:nvPr/>
        </p:nvSpPr>
        <p:spPr>
          <a:xfrm>
            <a:off x="9113368" y="197510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44.1% of the month</a:t>
            </a:r>
            <a:endParaRPr lang="en-US" sz="1200" dirty="0"/>
          </a:p>
        </p:txBody>
      </p:sp>
      <p:sp>
        <p:nvSpPr>
          <p:cNvPr id="15" name="Shape 13"/>
          <p:cNvSpPr/>
          <p:nvPr/>
        </p:nvSpPr>
        <p:spPr>
          <a:xfrm>
            <a:off x="6492240" y="2606040"/>
            <a:ext cx="5242255" cy="914400"/>
          </a:xfrm>
          <a:prstGeom prst="roundRect">
            <a:avLst>
              <a:gd name="adj" fmla="val 6000"/>
            </a:avLst>
          </a:prstGeom>
          <a:solidFill>
            <a:srgbClr val="121B2D"/>
          </a:solidFill>
          <a:ln w="12700">
            <a:solidFill>
              <a:srgbClr val="23304A"/>
            </a:solidFill>
            <a:prstDash val="solid"/>
          </a:ln>
        </p:spPr>
      </p:sp>
      <p:sp>
        <p:nvSpPr>
          <p:cNvPr id="16" name="Text 14"/>
          <p:cNvSpPr/>
          <p:nvPr/>
        </p:nvSpPr>
        <p:spPr>
          <a:xfrm>
            <a:off x="6693408" y="2734056"/>
            <a:ext cx="4839919" cy="274320"/>
          </a:xfrm>
          <a:prstGeom prst="rect">
            <a:avLst/>
          </a:prstGeom>
          <a:noFill/>
          <a:ln/>
        </p:spPr>
        <p:txBody>
          <a:bodyPr wrap="square" lIns="0" tIns="0" rIns="0" bIns="0" rtlCol="0" anchor="ctr"/>
          <a:lstStyle/>
          <a:p>
            <a:pPr indent="0" marL="0">
              <a:buNone/>
            </a:pPr>
            <a:r>
              <a:rPr lang="en-US" sz="1500" b="1" dirty="0">
                <a:solidFill>
                  <a:srgbClr val="FF9F43"/>
                </a:solidFill>
                <a:latin typeface="Calibri" pitchFamily="34" charset="0"/>
                <a:ea typeface="Calibri" pitchFamily="34" charset="-122"/>
                <a:cs typeface="Calibri" pitchFamily="34" charset="-120"/>
              </a:rPr>
              <a:t>Claude</a:t>
            </a:r>
            <a:endParaRPr lang="en-US" sz="1500" dirty="0"/>
          </a:p>
        </p:txBody>
      </p:sp>
      <p:sp>
        <p:nvSpPr>
          <p:cNvPr id="17" name="Text 15"/>
          <p:cNvSpPr/>
          <p:nvPr/>
        </p:nvSpPr>
        <p:spPr>
          <a:xfrm>
            <a:off x="6693408" y="302666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$8,487</a:t>
            </a:r>
            <a:endParaRPr lang="en-US" sz="2200" dirty="0"/>
          </a:p>
        </p:txBody>
      </p:sp>
      <p:sp>
        <p:nvSpPr>
          <p:cNvPr id="18" name="Text 16"/>
          <p:cNvSpPr/>
          <p:nvPr/>
        </p:nvSpPr>
        <p:spPr>
          <a:xfrm>
            <a:off x="9113368" y="302666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43.9% of the month</a:t>
            </a:r>
            <a:endParaRPr lang="en-US" sz="1200" dirty="0"/>
          </a:p>
        </p:txBody>
      </p:sp>
      <p:sp>
        <p:nvSpPr>
          <p:cNvPr id="19" name="Shape 17"/>
          <p:cNvSpPr/>
          <p:nvPr/>
        </p:nvSpPr>
        <p:spPr>
          <a:xfrm>
            <a:off x="6492240" y="3657600"/>
            <a:ext cx="5242255" cy="914400"/>
          </a:xfrm>
          <a:prstGeom prst="roundRect">
            <a:avLst>
              <a:gd name="adj" fmla="val 6000"/>
            </a:avLst>
          </a:prstGeom>
          <a:solidFill>
            <a:srgbClr val="121B2D"/>
          </a:solidFill>
          <a:ln w="12700">
            <a:solidFill>
              <a:srgbClr val="23304A"/>
            </a:solidFill>
            <a:prstDash val="solid"/>
          </a:ln>
        </p:spPr>
      </p:sp>
      <p:sp>
        <p:nvSpPr>
          <p:cNvPr id="20" name="Text 18"/>
          <p:cNvSpPr/>
          <p:nvPr/>
        </p:nvSpPr>
        <p:spPr>
          <a:xfrm>
            <a:off x="6693408" y="3785616"/>
            <a:ext cx="4839919" cy="274320"/>
          </a:xfrm>
          <a:prstGeom prst="rect">
            <a:avLst/>
          </a:prstGeom>
          <a:noFill/>
          <a:ln/>
        </p:spPr>
        <p:txBody>
          <a:bodyPr wrap="square" lIns="0" tIns="0" rIns="0" bIns="0" rtlCol="0" anchor="ctr"/>
          <a:lstStyle/>
          <a:p>
            <a:pPr indent="0" marL="0">
              <a:buNone/>
            </a:pPr>
            <a:r>
              <a:rPr lang="en-US" sz="1500" b="1" dirty="0">
                <a:solidFill>
                  <a:srgbClr val="3DDC97"/>
                </a:solidFill>
                <a:latin typeface="Calibri" pitchFamily="34" charset="0"/>
                <a:ea typeface="Calibri" pitchFamily="34" charset="-122"/>
                <a:cs typeface="Calibri" pitchFamily="34" charset="-120"/>
              </a:rPr>
              <a:t>GCP</a:t>
            </a:r>
            <a:endParaRPr lang="en-US" sz="1500" dirty="0"/>
          </a:p>
        </p:txBody>
      </p:sp>
      <p:sp>
        <p:nvSpPr>
          <p:cNvPr id="21" name="Text 19"/>
          <p:cNvSpPr/>
          <p:nvPr/>
        </p:nvSpPr>
        <p:spPr>
          <a:xfrm>
            <a:off x="6693408" y="407822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$2,321</a:t>
            </a:r>
            <a:endParaRPr lang="en-US" sz="2200" dirty="0"/>
          </a:p>
        </p:txBody>
      </p:sp>
      <p:sp>
        <p:nvSpPr>
          <p:cNvPr id="22" name="Text 20"/>
          <p:cNvSpPr/>
          <p:nvPr/>
        </p:nvSpPr>
        <p:spPr>
          <a:xfrm>
            <a:off x="9113368" y="407822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12.0% of the month</a:t>
            </a:r>
            <a:endParaRPr lang="en-US" sz="1200" dirty="0"/>
          </a:p>
        </p:txBody>
      </p:sp>
      <p:sp>
        <p:nvSpPr>
          <p:cNvPr id="23" name="Text 21"/>
          <p:cNvSpPr/>
          <p:nvPr/>
        </p:nvSpPr>
        <p:spPr>
          <a:xfrm>
            <a:off x="457200" y="4069080"/>
            <a:ext cx="5669280"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THE SHAPE OF THIS TELLS YOU</a:t>
            </a:r>
            <a:endParaRPr lang="en-US" sz="1200" dirty="0"/>
          </a:p>
        </p:txBody>
      </p:sp>
      <p:sp>
        <p:nvSpPr>
          <p:cNvPr id="24" name="Shape 22"/>
          <p:cNvSpPr/>
          <p:nvPr/>
        </p:nvSpPr>
        <p:spPr>
          <a:xfrm>
            <a:off x="457200" y="4443984"/>
            <a:ext cx="64008" cy="64008"/>
          </a:xfrm>
          <a:prstGeom prst="rect">
            <a:avLst/>
          </a:prstGeom>
          <a:solidFill>
            <a:srgbClr val="3DD9EB"/>
          </a:solidFill>
          <a:ln w="12700">
            <a:solidFill>
              <a:srgbClr val="3DD9EB"/>
            </a:solidFill>
            <a:prstDash val="solid"/>
          </a:ln>
        </p:spPr>
      </p:sp>
      <p:sp>
        <p:nvSpPr>
          <p:cNvPr id="25" name="Text 23"/>
          <p:cNvSpPr/>
          <p:nvPr/>
        </p:nvSpPr>
        <p:spPr>
          <a:xfrm>
            <a:off x="630936" y="4361688"/>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Azure and Claude are within $55 of each other, on completely different volumes: 455,073 calls against 90,707.</a:t>
            </a:r>
            <a:endParaRPr lang="en-US" sz="1250" dirty="0"/>
          </a:p>
        </p:txBody>
      </p:sp>
      <p:sp>
        <p:nvSpPr>
          <p:cNvPr id="26" name="Shape 24"/>
          <p:cNvSpPr/>
          <p:nvPr/>
        </p:nvSpPr>
        <p:spPr>
          <a:xfrm>
            <a:off x="457200" y="5010912"/>
            <a:ext cx="64008" cy="64008"/>
          </a:xfrm>
          <a:prstGeom prst="rect">
            <a:avLst/>
          </a:prstGeom>
          <a:solidFill>
            <a:srgbClr val="3DD9EB"/>
          </a:solidFill>
          <a:ln w="12700">
            <a:solidFill>
              <a:srgbClr val="3DD9EB"/>
            </a:solidFill>
            <a:prstDash val="solid"/>
          </a:ln>
        </p:spPr>
      </p:sp>
      <p:sp>
        <p:nvSpPr>
          <p:cNvPr id="27" name="Text 25"/>
          <p:cNvSpPr/>
          <p:nvPr/>
        </p:nvSpPr>
        <p:spPr>
          <a:xfrm>
            <a:off x="630936" y="4928616"/>
            <a:ext cx="5495544" cy="54864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That volume gap is the whole unit-cost story. Azure runs high-volume, low-value calls, Claude runs agent traffic that is expensive per call.</a:t>
            </a:r>
            <a:endParaRPr lang="en-US" sz="1250" dirty="0"/>
          </a:p>
        </p:txBody>
      </p:sp>
      <p:sp>
        <p:nvSpPr>
          <p:cNvPr id="28" name="Shape 26"/>
          <p:cNvSpPr/>
          <p:nvPr/>
        </p:nvSpPr>
        <p:spPr>
          <a:xfrm>
            <a:off x="457200" y="5797296"/>
            <a:ext cx="64008" cy="64008"/>
          </a:xfrm>
          <a:prstGeom prst="rect">
            <a:avLst/>
          </a:prstGeom>
          <a:solidFill>
            <a:srgbClr val="3DD9EB"/>
          </a:solidFill>
          <a:ln w="12700">
            <a:solidFill>
              <a:srgbClr val="3DD9EB"/>
            </a:solidFill>
            <a:prstDash val="solid"/>
          </a:ln>
        </p:spPr>
      </p:sp>
      <p:sp>
        <p:nvSpPr>
          <p:cNvPr id="29" name="Text 27"/>
          <p:cNvSpPr/>
          <p:nvPr/>
        </p:nvSpPr>
        <p:spPr>
          <a:xfrm>
            <a:off x="630936" y="5715000"/>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GCP is small and single-purpose, 14 rows and almost all of it document OCR.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CONCENTRATION</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270" b="1" dirty="0">
                <a:solidFill>
                  <a:srgbClr val="F4F7FB"/>
                </a:solidFill>
                <a:latin typeface="Calibri" pitchFamily="34" charset="0"/>
                <a:ea typeface="Calibri" pitchFamily="34" charset="-122"/>
                <a:cs typeface="Calibri" pitchFamily="34" charset="-120"/>
              </a:rPr>
              <a:t>Two applications are 68% of the month</a:t>
            </a:r>
            <a:endParaRPr lang="en-US" sz="227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Estimated cost by application, largest first.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Concentration is the good news. 94% of the bill sits in six applications, so governing six of them governs the month. The tail is noise by value but not by count, and it is where the untagged rows hide.</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Estimated cost by application, top 12</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APPLICATION</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$7,378</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agent (Claude), 38.1% of the month</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TOP SIX TOGETHER</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93.6%</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of all estimated AI cost</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THE LONG TAIL</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40 apps</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under $500 each, 8.9% between them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OWNERSHIP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710" b="1" dirty="0">
                <a:solidFill>
                  <a:srgbClr val="F4F7FB"/>
                </a:solidFill>
                <a:latin typeface="Calibri" pitchFamily="34" charset="0"/>
                <a:ea typeface="Calibri" pitchFamily="34" charset="-122"/>
                <a:cs typeface="Calibri" pitchFamily="34" charset="-120"/>
              </a:rPr>
              <a:t>Three teams are the whole month</a:t>
            </a:r>
            <a:endParaRPr lang="en-US" sz="271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Estimated cost by team, and how much of each has an actual figure behind it.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Team names are the tag as written. The source sheet lists ai-factory under two capitalisations and counts it twice, which is why its own team tab does not tie to its provider tab. These figures fold the two together.</a:t>
            </a:r>
            <a:endParaRPr lang="en-US" sz="1200" dirty="0"/>
          </a:p>
        </p:txBody>
      </p:sp>
      <p:sp>
        <p:nvSpPr>
          <p:cNvPr id="8" name="Shape 6"/>
          <p:cNvSpPr/>
          <p:nvPr/>
        </p:nvSpPr>
        <p:spPr>
          <a:xfrm>
            <a:off x="457200" y="1234440"/>
            <a:ext cx="3606698" cy="1078992"/>
          </a:xfrm>
          <a:prstGeom prst="roundRect">
            <a:avLst>
              <a:gd name="adj" fmla="val 5085"/>
            </a:avLst>
          </a:prstGeom>
          <a:solidFill>
            <a:srgbClr val="121B2D"/>
          </a:solidFill>
          <a:ln w="12700">
            <a:solidFill>
              <a:srgbClr val="23304A"/>
            </a:solidFill>
            <a:prstDash val="solid"/>
          </a:ln>
        </p:spPr>
      </p:sp>
      <p:sp>
        <p:nvSpPr>
          <p:cNvPr id="9" name="Text 7"/>
          <p:cNvSpPr/>
          <p:nvPr/>
        </p:nvSpPr>
        <p:spPr>
          <a:xfrm>
            <a:off x="658368"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TEAMS WITH SPEND</a:t>
            </a:r>
            <a:endParaRPr lang="en-US" sz="1200" dirty="0"/>
          </a:p>
        </p:txBody>
      </p:sp>
      <p:sp>
        <p:nvSpPr>
          <p:cNvPr id="10" name="Text 8"/>
          <p:cNvSpPr/>
          <p:nvPr/>
        </p:nvSpPr>
        <p:spPr>
          <a:xfrm>
            <a:off x="658368"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7</a:t>
            </a:r>
            <a:endParaRPr lang="en-US" sz="2800" dirty="0"/>
          </a:p>
        </p:txBody>
      </p:sp>
      <p:sp>
        <p:nvSpPr>
          <p:cNvPr id="11" name="Text 9"/>
          <p:cNvSpPr/>
          <p:nvPr/>
        </p:nvSpPr>
        <p:spPr>
          <a:xfrm>
            <a:off x="658368"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after folding the duplicate capitalisation</a:t>
            </a:r>
            <a:endParaRPr lang="en-US" sz="1200" dirty="0"/>
          </a:p>
        </p:txBody>
      </p:sp>
      <p:sp>
        <p:nvSpPr>
          <p:cNvPr id="12" name="Shape 10"/>
          <p:cNvSpPr/>
          <p:nvPr/>
        </p:nvSpPr>
        <p:spPr>
          <a:xfrm>
            <a:off x="4292498" y="1234440"/>
            <a:ext cx="3606698" cy="1078992"/>
          </a:xfrm>
          <a:prstGeom prst="roundRect">
            <a:avLst>
              <a:gd name="adj" fmla="val 5085"/>
            </a:avLst>
          </a:prstGeom>
          <a:solidFill>
            <a:srgbClr val="121B2D"/>
          </a:solidFill>
          <a:ln w="12700">
            <a:solidFill>
              <a:srgbClr val="23304A"/>
            </a:solidFill>
            <a:prstDash val="solid"/>
          </a:ln>
        </p:spPr>
      </p:sp>
      <p:sp>
        <p:nvSpPr>
          <p:cNvPr id="13" name="Text 11"/>
          <p:cNvSpPr/>
          <p:nvPr/>
        </p:nvSpPr>
        <p:spPr>
          <a:xfrm>
            <a:off x="4493666"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TOP THREE TEAMS</a:t>
            </a:r>
            <a:endParaRPr lang="en-US" sz="1200" dirty="0"/>
          </a:p>
        </p:txBody>
      </p:sp>
      <p:sp>
        <p:nvSpPr>
          <p:cNvPr id="14" name="Text 12"/>
          <p:cNvSpPr/>
          <p:nvPr/>
        </p:nvSpPr>
        <p:spPr>
          <a:xfrm>
            <a:off x="4493666"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96.5%</a:t>
            </a:r>
            <a:endParaRPr lang="en-US" sz="2800" dirty="0"/>
          </a:p>
        </p:txBody>
      </p:sp>
      <p:sp>
        <p:nvSpPr>
          <p:cNvPr id="15" name="Text 13"/>
          <p:cNvSpPr/>
          <p:nvPr/>
        </p:nvSpPr>
        <p:spPr>
          <a:xfrm>
            <a:off x="4493666"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insait, solugen, ai-factory</a:t>
            </a:r>
            <a:endParaRPr lang="en-US" sz="1200" dirty="0"/>
          </a:p>
        </p:txBody>
      </p:sp>
      <p:sp>
        <p:nvSpPr>
          <p:cNvPr id="16" name="Shape 14"/>
          <p:cNvSpPr/>
          <p:nvPr/>
        </p:nvSpPr>
        <p:spPr>
          <a:xfrm>
            <a:off x="8127797" y="1234440"/>
            <a:ext cx="3606698" cy="1078992"/>
          </a:xfrm>
          <a:prstGeom prst="roundRect">
            <a:avLst>
              <a:gd name="adj" fmla="val 5085"/>
            </a:avLst>
          </a:prstGeom>
          <a:solidFill>
            <a:srgbClr val="121B2D"/>
          </a:solidFill>
          <a:ln w="12700">
            <a:solidFill>
              <a:srgbClr val="23304A"/>
            </a:solidFill>
            <a:prstDash val="solid"/>
          </a:ln>
        </p:spPr>
      </p:sp>
      <p:sp>
        <p:nvSpPr>
          <p:cNvPr id="17" name="Text 15"/>
          <p:cNvSpPr/>
          <p:nvPr/>
        </p:nvSpPr>
        <p:spPr>
          <a:xfrm>
            <a:off x="8328965"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APPLICATIONS PER TEAM</a:t>
            </a:r>
            <a:endParaRPr lang="en-US" sz="1200" dirty="0"/>
          </a:p>
        </p:txBody>
      </p:sp>
      <p:sp>
        <p:nvSpPr>
          <p:cNvPr id="18" name="Text 16"/>
          <p:cNvSpPr/>
          <p:nvPr/>
        </p:nvSpPr>
        <p:spPr>
          <a:xfrm>
            <a:off x="8328965"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37 vs 4</a:t>
            </a:r>
            <a:endParaRPr lang="en-US" sz="2800" dirty="0"/>
          </a:p>
        </p:txBody>
      </p:sp>
      <p:sp>
        <p:nvSpPr>
          <p:cNvPr id="19" name="Text 17"/>
          <p:cNvSpPr/>
          <p:nvPr/>
        </p:nvSpPr>
        <p:spPr>
          <a:xfrm>
            <a:off x="8328965"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application rows, ai-factory against insait</a:t>
            </a:r>
            <a:endParaRPr lang="en-US" sz="1200" dirty="0"/>
          </a:p>
        </p:txBody>
      </p:sp>
      <p:sp>
        <p:nvSpPr>
          <p:cNvPr id="20" name="Text 18"/>
          <p:cNvSpPr/>
          <p:nvPr/>
        </p:nvSpPr>
        <p:spPr>
          <a:xfrm>
            <a:off x="457200" y="2514600"/>
            <a:ext cx="11277295"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Estimated cost by team, July 2026</a:t>
            </a:r>
            <a:endParaRPr lang="en-US" sz="1500" dirty="0"/>
          </a:p>
        </p:txBody>
      </p:sp>
      <p:sp>
        <p:nvSpPr>
          <p:cNvPr id="21" name="Text 19"/>
          <p:cNvSpPr/>
          <p:nvPr/>
        </p:nvSpPr>
        <p:spPr>
          <a:xfrm>
            <a:off x="10578694" y="2514600"/>
            <a:ext cx="1155802" cy="237744"/>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Estimate only</a:t>
            </a:r>
            <a:endParaRPr lang="en-US" sz="1200" dirty="0"/>
          </a:p>
        </p:txBody>
      </p:sp>
      <p:sp>
        <p:nvSpPr>
          <p:cNvPr id="22" name="Shape 20"/>
          <p:cNvSpPr/>
          <p:nvPr/>
        </p:nvSpPr>
        <p:spPr>
          <a:xfrm>
            <a:off x="10377526" y="2569464"/>
            <a:ext cx="128016" cy="128016"/>
          </a:xfrm>
          <a:prstGeom prst="rect">
            <a:avLst/>
          </a:prstGeom>
          <a:solidFill>
            <a:srgbClr val="E0A030"/>
          </a:solidFill>
          <a:ln w="12700">
            <a:solidFill>
              <a:srgbClr val="E0A030"/>
            </a:solidFill>
            <a:prstDash val="solid"/>
          </a:ln>
        </p:spPr>
      </p:sp>
      <p:sp>
        <p:nvSpPr>
          <p:cNvPr id="23" name="Text 21"/>
          <p:cNvSpPr/>
          <p:nvPr/>
        </p:nvSpPr>
        <p:spPr>
          <a:xfrm>
            <a:off x="9298534" y="2514600"/>
            <a:ext cx="914400" cy="237744"/>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Reconciled</a:t>
            </a:r>
            <a:endParaRPr lang="en-US" sz="1200" dirty="0"/>
          </a:p>
        </p:txBody>
      </p:sp>
      <p:sp>
        <p:nvSpPr>
          <p:cNvPr id="24" name="Shape 22"/>
          <p:cNvSpPr/>
          <p:nvPr/>
        </p:nvSpPr>
        <p:spPr>
          <a:xfrm>
            <a:off x="9097366" y="2569464"/>
            <a:ext cx="128016" cy="128016"/>
          </a:xfrm>
          <a:prstGeom prst="rect">
            <a:avLst/>
          </a:prstGeom>
          <a:solidFill>
            <a:srgbClr val="3DD9EB"/>
          </a:solidFill>
          <a:ln w="12700">
            <a:solidFill>
              <a:srgbClr val="3DD9EB"/>
            </a:solidFill>
            <a:prstDash val="solid"/>
          </a:ln>
        </p:spPr>
      </p:sp>
      <p:sp>
        <p:nvSpPr>
          <p:cNvPr id="25" name="Text 23"/>
          <p:cNvSpPr/>
          <p:nvPr/>
        </p:nvSpPr>
        <p:spPr>
          <a:xfrm>
            <a:off x="457200" y="2880360"/>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insait</a:t>
            </a:r>
            <a:endParaRPr lang="en-US" sz="1200" dirty="0"/>
          </a:p>
        </p:txBody>
      </p:sp>
      <p:sp>
        <p:nvSpPr>
          <p:cNvPr id="26" name="Text 24"/>
          <p:cNvSpPr/>
          <p:nvPr/>
        </p:nvSpPr>
        <p:spPr>
          <a:xfrm>
            <a:off x="9539935" y="2880360"/>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4 applications</a:t>
            </a:r>
            <a:endParaRPr lang="en-US" sz="1200" dirty="0"/>
          </a:p>
        </p:txBody>
      </p:sp>
      <p:sp>
        <p:nvSpPr>
          <p:cNvPr id="27" name="Shape 25"/>
          <p:cNvSpPr/>
          <p:nvPr/>
        </p:nvSpPr>
        <p:spPr>
          <a:xfrm>
            <a:off x="457200" y="3120396"/>
            <a:ext cx="9905695" cy="324888"/>
          </a:xfrm>
          <a:prstGeom prst="rect">
            <a:avLst/>
          </a:prstGeom>
          <a:solidFill>
            <a:srgbClr val="0E1422"/>
          </a:solidFill>
          <a:ln w="9525">
            <a:solidFill>
              <a:srgbClr val="23304A"/>
            </a:solidFill>
            <a:prstDash val="solid"/>
          </a:ln>
        </p:spPr>
      </p:sp>
      <p:sp>
        <p:nvSpPr>
          <p:cNvPr id="28" name="Shape 26"/>
          <p:cNvSpPr/>
          <p:nvPr/>
        </p:nvSpPr>
        <p:spPr>
          <a:xfrm>
            <a:off x="457200" y="3120396"/>
            <a:ext cx="9884302" cy="324888"/>
          </a:xfrm>
          <a:prstGeom prst="rect">
            <a:avLst/>
          </a:prstGeom>
          <a:solidFill>
            <a:srgbClr val="3DD9EB"/>
          </a:solidFill>
          <a:ln w="12700">
            <a:solidFill>
              <a:srgbClr val="3DD9EB"/>
            </a:solidFill>
            <a:prstDash val="solid"/>
          </a:ln>
        </p:spPr>
      </p:sp>
      <p:sp>
        <p:nvSpPr>
          <p:cNvPr id="29" name="Shape 27"/>
          <p:cNvSpPr/>
          <p:nvPr/>
        </p:nvSpPr>
        <p:spPr>
          <a:xfrm>
            <a:off x="10341502" y="3120396"/>
            <a:ext cx="21394" cy="324888"/>
          </a:xfrm>
          <a:prstGeom prst="rect">
            <a:avLst/>
          </a:prstGeom>
          <a:solidFill>
            <a:srgbClr val="E0A030"/>
          </a:solidFill>
          <a:ln w="12700">
            <a:solidFill>
              <a:srgbClr val="E0A030"/>
            </a:solidFill>
            <a:prstDash val="solid"/>
          </a:ln>
        </p:spPr>
      </p:sp>
      <p:sp>
        <p:nvSpPr>
          <p:cNvPr id="30" name="Text 28"/>
          <p:cNvSpPr/>
          <p:nvPr/>
        </p:nvSpPr>
        <p:spPr>
          <a:xfrm>
            <a:off x="10500055" y="3120396"/>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$7,394</a:t>
            </a:r>
            <a:endParaRPr lang="en-US" sz="1300" dirty="0"/>
          </a:p>
        </p:txBody>
      </p:sp>
      <p:sp>
        <p:nvSpPr>
          <p:cNvPr id="31" name="Text 29"/>
          <p:cNvSpPr/>
          <p:nvPr/>
        </p:nvSpPr>
        <p:spPr>
          <a:xfrm>
            <a:off x="457200" y="3476244"/>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over 99% reconciled, the rest estimate only</a:t>
            </a:r>
            <a:endParaRPr lang="en-US" sz="1200" dirty="0"/>
          </a:p>
        </p:txBody>
      </p:sp>
      <p:sp>
        <p:nvSpPr>
          <p:cNvPr id="32" name="Text 30"/>
          <p:cNvSpPr/>
          <p:nvPr/>
        </p:nvSpPr>
        <p:spPr>
          <a:xfrm>
            <a:off x="457200" y="3721608"/>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solugen</a:t>
            </a:r>
            <a:endParaRPr lang="en-US" sz="1200" dirty="0"/>
          </a:p>
        </p:txBody>
      </p:sp>
      <p:sp>
        <p:nvSpPr>
          <p:cNvPr id="33" name="Text 31"/>
          <p:cNvSpPr/>
          <p:nvPr/>
        </p:nvSpPr>
        <p:spPr>
          <a:xfrm>
            <a:off x="9539935" y="3721608"/>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4 applications</a:t>
            </a:r>
            <a:endParaRPr lang="en-US" sz="1200" dirty="0"/>
          </a:p>
        </p:txBody>
      </p:sp>
      <p:sp>
        <p:nvSpPr>
          <p:cNvPr id="34" name="Shape 32"/>
          <p:cNvSpPr/>
          <p:nvPr/>
        </p:nvSpPr>
        <p:spPr>
          <a:xfrm>
            <a:off x="457200" y="3961644"/>
            <a:ext cx="9905695" cy="324888"/>
          </a:xfrm>
          <a:prstGeom prst="rect">
            <a:avLst/>
          </a:prstGeom>
          <a:solidFill>
            <a:srgbClr val="0E1422"/>
          </a:solidFill>
          <a:ln w="9525">
            <a:solidFill>
              <a:srgbClr val="23304A"/>
            </a:solidFill>
            <a:prstDash val="solid"/>
          </a:ln>
        </p:spPr>
      </p:sp>
      <p:sp>
        <p:nvSpPr>
          <p:cNvPr id="35" name="Shape 33"/>
          <p:cNvSpPr/>
          <p:nvPr/>
        </p:nvSpPr>
        <p:spPr>
          <a:xfrm>
            <a:off x="457200" y="3961644"/>
            <a:ext cx="8054201" cy="324888"/>
          </a:xfrm>
          <a:prstGeom prst="rect">
            <a:avLst/>
          </a:prstGeom>
          <a:solidFill>
            <a:srgbClr val="E0A030"/>
          </a:solidFill>
          <a:ln w="12700">
            <a:solidFill>
              <a:srgbClr val="E0A030"/>
            </a:solidFill>
            <a:prstDash val="solid"/>
          </a:ln>
        </p:spPr>
      </p:sp>
      <p:sp>
        <p:nvSpPr>
          <p:cNvPr id="36" name="Text 34"/>
          <p:cNvSpPr/>
          <p:nvPr/>
        </p:nvSpPr>
        <p:spPr>
          <a:xfrm>
            <a:off x="10500055" y="3961644"/>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$6,012</a:t>
            </a:r>
            <a:endParaRPr lang="en-US" sz="1300" dirty="0"/>
          </a:p>
        </p:txBody>
      </p:sp>
      <p:sp>
        <p:nvSpPr>
          <p:cNvPr id="37" name="Text 35"/>
          <p:cNvSpPr/>
          <p:nvPr/>
        </p:nvSpPr>
        <p:spPr>
          <a:xfrm>
            <a:off x="457200" y="4317492"/>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entirely estimate only</a:t>
            </a:r>
            <a:endParaRPr lang="en-US" sz="1200" dirty="0"/>
          </a:p>
        </p:txBody>
      </p:sp>
      <p:sp>
        <p:nvSpPr>
          <p:cNvPr id="38" name="Text 36"/>
          <p:cNvSpPr/>
          <p:nvPr/>
        </p:nvSpPr>
        <p:spPr>
          <a:xfrm>
            <a:off x="457200" y="4562856"/>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ai-factory</a:t>
            </a:r>
            <a:endParaRPr lang="en-US" sz="1200" dirty="0"/>
          </a:p>
        </p:txBody>
      </p:sp>
      <p:sp>
        <p:nvSpPr>
          <p:cNvPr id="39" name="Text 37"/>
          <p:cNvSpPr/>
          <p:nvPr/>
        </p:nvSpPr>
        <p:spPr>
          <a:xfrm>
            <a:off x="9539935" y="4562856"/>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37 applications</a:t>
            </a:r>
            <a:endParaRPr lang="en-US" sz="1200" dirty="0"/>
          </a:p>
        </p:txBody>
      </p:sp>
      <p:sp>
        <p:nvSpPr>
          <p:cNvPr id="40" name="Shape 38"/>
          <p:cNvSpPr/>
          <p:nvPr/>
        </p:nvSpPr>
        <p:spPr>
          <a:xfrm>
            <a:off x="457200" y="4802892"/>
            <a:ext cx="9905695" cy="324888"/>
          </a:xfrm>
          <a:prstGeom prst="rect">
            <a:avLst/>
          </a:prstGeom>
          <a:solidFill>
            <a:srgbClr val="0E1422"/>
          </a:solidFill>
          <a:ln w="9525">
            <a:solidFill>
              <a:srgbClr val="23304A"/>
            </a:solidFill>
            <a:prstDash val="solid"/>
          </a:ln>
        </p:spPr>
      </p:sp>
      <p:sp>
        <p:nvSpPr>
          <p:cNvPr id="41" name="Shape 39"/>
          <p:cNvSpPr/>
          <p:nvPr/>
        </p:nvSpPr>
        <p:spPr>
          <a:xfrm>
            <a:off x="457200" y="4802892"/>
            <a:ext cx="3712191" cy="324888"/>
          </a:xfrm>
          <a:prstGeom prst="rect">
            <a:avLst/>
          </a:prstGeom>
          <a:solidFill>
            <a:srgbClr val="3DD9EB"/>
          </a:solidFill>
          <a:ln w="12700">
            <a:solidFill>
              <a:srgbClr val="3DD9EB"/>
            </a:solidFill>
            <a:prstDash val="solid"/>
          </a:ln>
        </p:spPr>
      </p:sp>
      <p:sp>
        <p:nvSpPr>
          <p:cNvPr id="42" name="Shape 40"/>
          <p:cNvSpPr/>
          <p:nvPr/>
        </p:nvSpPr>
        <p:spPr>
          <a:xfrm>
            <a:off x="4169391" y="4802892"/>
            <a:ext cx="3333495" cy="324888"/>
          </a:xfrm>
          <a:prstGeom prst="rect">
            <a:avLst/>
          </a:prstGeom>
          <a:solidFill>
            <a:srgbClr val="E0A030"/>
          </a:solidFill>
          <a:ln w="12700">
            <a:solidFill>
              <a:srgbClr val="E0A030"/>
            </a:solidFill>
            <a:prstDash val="solid"/>
          </a:ln>
        </p:spPr>
      </p:sp>
      <p:sp>
        <p:nvSpPr>
          <p:cNvPr id="43" name="Text 41"/>
          <p:cNvSpPr/>
          <p:nvPr/>
        </p:nvSpPr>
        <p:spPr>
          <a:xfrm>
            <a:off x="10500055" y="4802892"/>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$5,259</a:t>
            </a:r>
            <a:endParaRPr lang="en-US" sz="1300" dirty="0"/>
          </a:p>
        </p:txBody>
      </p:sp>
      <p:sp>
        <p:nvSpPr>
          <p:cNvPr id="44" name="Text 42"/>
          <p:cNvSpPr/>
          <p:nvPr/>
        </p:nvSpPr>
        <p:spPr>
          <a:xfrm>
            <a:off x="457200" y="5158740"/>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53% reconciled, 47% estimate only</a:t>
            </a:r>
            <a:endParaRPr lang="en-US" sz="1200" dirty="0"/>
          </a:p>
        </p:txBody>
      </p:sp>
      <p:sp>
        <p:nvSpPr>
          <p:cNvPr id="45" name="Text 43"/>
          <p:cNvSpPr/>
          <p:nvPr/>
        </p:nvSpPr>
        <p:spPr>
          <a:xfrm>
            <a:off x="457200" y="5404104"/>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4 smaller teams</a:t>
            </a:r>
            <a:endParaRPr lang="en-US" sz="1200" dirty="0"/>
          </a:p>
        </p:txBody>
      </p:sp>
      <p:sp>
        <p:nvSpPr>
          <p:cNvPr id="46" name="Text 44"/>
          <p:cNvSpPr/>
          <p:nvPr/>
        </p:nvSpPr>
        <p:spPr>
          <a:xfrm>
            <a:off x="9539935" y="5404104"/>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6 applications</a:t>
            </a:r>
            <a:endParaRPr lang="en-US" sz="1200" dirty="0"/>
          </a:p>
        </p:txBody>
      </p:sp>
      <p:sp>
        <p:nvSpPr>
          <p:cNvPr id="47" name="Shape 45"/>
          <p:cNvSpPr/>
          <p:nvPr/>
        </p:nvSpPr>
        <p:spPr>
          <a:xfrm>
            <a:off x="457200" y="5644140"/>
            <a:ext cx="9905695" cy="324888"/>
          </a:xfrm>
          <a:prstGeom prst="rect">
            <a:avLst/>
          </a:prstGeom>
          <a:solidFill>
            <a:srgbClr val="0E1422"/>
          </a:solidFill>
          <a:ln w="9525">
            <a:solidFill>
              <a:srgbClr val="23304A"/>
            </a:solidFill>
            <a:prstDash val="solid"/>
          </a:ln>
        </p:spPr>
      </p:sp>
      <p:sp>
        <p:nvSpPr>
          <p:cNvPr id="48" name="Shape 46"/>
          <p:cNvSpPr/>
          <p:nvPr/>
        </p:nvSpPr>
        <p:spPr>
          <a:xfrm>
            <a:off x="457200" y="5644140"/>
            <a:ext cx="247842" cy="324888"/>
          </a:xfrm>
          <a:prstGeom prst="rect">
            <a:avLst/>
          </a:prstGeom>
          <a:solidFill>
            <a:srgbClr val="3DD9EB"/>
          </a:solidFill>
          <a:ln w="12700">
            <a:solidFill>
              <a:srgbClr val="3DD9EB"/>
            </a:solidFill>
            <a:prstDash val="solid"/>
          </a:ln>
        </p:spPr>
      </p:sp>
      <p:sp>
        <p:nvSpPr>
          <p:cNvPr id="49" name="Shape 47"/>
          <p:cNvSpPr/>
          <p:nvPr/>
        </p:nvSpPr>
        <p:spPr>
          <a:xfrm>
            <a:off x="705042" y="5644140"/>
            <a:ext cx="669057" cy="324888"/>
          </a:xfrm>
          <a:prstGeom prst="rect">
            <a:avLst/>
          </a:prstGeom>
          <a:solidFill>
            <a:srgbClr val="E0A030"/>
          </a:solidFill>
          <a:ln w="12700">
            <a:solidFill>
              <a:srgbClr val="E0A030"/>
            </a:solidFill>
            <a:prstDash val="solid"/>
          </a:ln>
        </p:spPr>
      </p:sp>
      <p:sp>
        <p:nvSpPr>
          <p:cNvPr id="50" name="Text 48"/>
          <p:cNvSpPr/>
          <p:nvPr/>
        </p:nvSpPr>
        <p:spPr>
          <a:xfrm>
            <a:off x="10500055" y="5644140"/>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$684</a:t>
            </a:r>
            <a:endParaRPr lang="en-US" sz="1300" dirty="0"/>
          </a:p>
        </p:txBody>
      </p:sp>
      <p:sp>
        <p:nvSpPr>
          <p:cNvPr id="51" name="Text 49"/>
          <p:cNvSpPr/>
          <p:nvPr/>
        </p:nvSpPr>
        <p:spPr>
          <a:xfrm>
            <a:off x="457200" y="5999988"/>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27% reconciled, 73% estimate only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E0A030"/>
                </a:solidFill>
                <a:latin typeface="Calibri" pitchFamily="34" charset="0"/>
                <a:ea typeface="Calibri" pitchFamily="34" charset="-122"/>
                <a:cs typeface="Calibri" pitchFamily="34" charset="-120"/>
              </a:rPr>
              <a:t>CONFIDENCE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Just under half the month has nothing to check it against</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reconciliation column is blank on all 18 Azure rows.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GCP is not a second data point: its estimate equals its actual to the cent on all 14 rows, so those two columns are one number rather than two measurements. Claude is the only genuine check in the export.</a:t>
            </a:r>
            <a:endParaRPr lang="en-US" sz="1200" dirty="0"/>
          </a:p>
        </p:txBody>
      </p:sp>
      <p:sp>
        <p:nvSpPr>
          <p:cNvPr id="8" name="Shape 6"/>
          <p:cNvSpPr/>
          <p:nvPr/>
        </p:nvSpPr>
        <p:spPr>
          <a:xfrm>
            <a:off x="457200" y="1280160"/>
            <a:ext cx="5993527" cy="786384"/>
          </a:xfrm>
          <a:prstGeom prst="roundRect">
            <a:avLst>
              <a:gd name="adj" fmla="val 5814"/>
            </a:avLst>
          </a:prstGeom>
          <a:solidFill>
            <a:srgbClr val="3DD9EB"/>
          </a:solidFill>
          <a:ln w="12700">
            <a:solidFill>
              <a:srgbClr val="3DD9EB"/>
            </a:solidFill>
            <a:prstDash val="solid"/>
          </a:ln>
        </p:spPr>
      </p:sp>
      <p:sp>
        <p:nvSpPr>
          <p:cNvPr id="9" name="Text 7"/>
          <p:cNvSpPr/>
          <p:nvPr/>
        </p:nvSpPr>
        <p:spPr>
          <a:xfrm>
            <a:off x="676656" y="1353312"/>
            <a:ext cx="5554615" cy="420624"/>
          </a:xfrm>
          <a:prstGeom prst="rect">
            <a:avLst/>
          </a:prstGeom>
          <a:noFill/>
          <a:ln/>
        </p:spPr>
        <p:txBody>
          <a:bodyPr wrap="square" lIns="0" tIns="0" rIns="0" bIns="0" rtlCol="0" anchor="ctr"/>
          <a:lstStyle/>
          <a:p>
            <a:pPr indent="0" marL="0">
              <a:buNone/>
            </a:pPr>
            <a:r>
              <a:rPr lang="en-US" sz="3000" b="1" dirty="0">
                <a:solidFill>
                  <a:srgbClr val="070A12"/>
                </a:solidFill>
                <a:latin typeface="Calibri" pitchFamily="34" charset="0"/>
                <a:ea typeface="Calibri" pitchFamily="34" charset="-122"/>
                <a:cs typeface="Calibri" pitchFamily="34" charset="-120"/>
              </a:rPr>
              <a:t>53.4%</a:t>
            </a:r>
            <a:endParaRPr lang="en-US" sz="3000" dirty="0"/>
          </a:p>
        </p:txBody>
      </p:sp>
      <p:sp>
        <p:nvSpPr>
          <p:cNvPr id="10" name="Text 8"/>
          <p:cNvSpPr/>
          <p:nvPr/>
        </p:nvSpPr>
        <p:spPr>
          <a:xfrm>
            <a:off x="676656" y="1755648"/>
            <a:ext cx="5554615" cy="237744"/>
          </a:xfrm>
          <a:prstGeom prst="rect">
            <a:avLst/>
          </a:prstGeom>
          <a:noFill/>
          <a:ln/>
        </p:spPr>
        <p:txBody>
          <a:bodyPr wrap="square" lIns="0" tIns="0" rIns="0" bIns="0" rtlCol="0" anchor="ctr"/>
          <a:lstStyle/>
          <a:p>
            <a:pPr indent="0" marL="0">
              <a:buNone/>
            </a:pPr>
            <a:r>
              <a:rPr lang="en-US" sz="1200" b="1" spc="120" kern="0" dirty="0">
                <a:solidFill>
                  <a:srgbClr val="070A12"/>
                </a:solidFill>
                <a:latin typeface="Calibri" pitchFamily="34" charset="0"/>
                <a:ea typeface="Calibri" pitchFamily="34" charset="-122"/>
                <a:cs typeface="Calibri" pitchFamily="34" charset="-120"/>
              </a:rPr>
              <a:t>RECONCILED</a:t>
            </a:r>
            <a:endParaRPr lang="en-US" sz="1200" dirty="0"/>
          </a:p>
        </p:txBody>
      </p:sp>
      <p:sp>
        <p:nvSpPr>
          <p:cNvPr id="11" name="Text 9"/>
          <p:cNvSpPr/>
          <p:nvPr/>
        </p:nvSpPr>
        <p:spPr>
          <a:xfrm>
            <a:off x="676656" y="2157984"/>
            <a:ext cx="5774071" cy="256032"/>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$10,335, an actual figure exists to compare against</a:t>
            </a:r>
            <a:endParaRPr lang="en-US" sz="1200" dirty="0"/>
          </a:p>
        </p:txBody>
      </p:sp>
      <p:sp>
        <p:nvSpPr>
          <p:cNvPr id="12" name="Shape 10"/>
          <p:cNvSpPr/>
          <p:nvPr/>
        </p:nvSpPr>
        <p:spPr>
          <a:xfrm>
            <a:off x="6505591" y="1280160"/>
            <a:ext cx="5228904" cy="786384"/>
          </a:xfrm>
          <a:prstGeom prst="roundRect">
            <a:avLst>
              <a:gd name="adj" fmla="val 5814"/>
            </a:avLst>
          </a:prstGeom>
          <a:solidFill>
            <a:srgbClr val="E0A030"/>
          </a:solidFill>
          <a:ln w="12700">
            <a:solidFill>
              <a:srgbClr val="E0A030"/>
            </a:solidFill>
            <a:prstDash val="solid"/>
          </a:ln>
        </p:spPr>
      </p:sp>
      <p:sp>
        <p:nvSpPr>
          <p:cNvPr id="13" name="Text 11"/>
          <p:cNvSpPr/>
          <p:nvPr/>
        </p:nvSpPr>
        <p:spPr>
          <a:xfrm>
            <a:off x="6725047" y="1353312"/>
            <a:ext cx="4789992" cy="420624"/>
          </a:xfrm>
          <a:prstGeom prst="rect">
            <a:avLst/>
          </a:prstGeom>
          <a:noFill/>
          <a:ln/>
        </p:spPr>
        <p:txBody>
          <a:bodyPr wrap="square" lIns="0" tIns="0" rIns="0" bIns="0" rtlCol="0" anchor="ctr"/>
          <a:lstStyle/>
          <a:p>
            <a:pPr indent="0" marL="0">
              <a:buNone/>
            </a:pPr>
            <a:r>
              <a:rPr lang="en-US" sz="3000" b="1" dirty="0">
                <a:solidFill>
                  <a:srgbClr val="070A12"/>
                </a:solidFill>
                <a:latin typeface="Calibri" pitchFamily="34" charset="0"/>
                <a:ea typeface="Calibri" pitchFamily="34" charset="-122"/>
                <a:cs typeface="Calibri" pitchFamily="34" charset="-120"/>
              </a:rPr>
              <a:t>46.6%</a:t>
            </a:r>
            <a:endParaRPr lang="en-US" sz="3000" dirty="0"/>
          </a:p>
        </p:txBody>
      </p:sp>
      <p:sp>
        <p:nvSpPr>
          <p:cNvPr id="14" name="Text 12"/>
          <p:cNvSpPr/>
          <p:nvPr/>
        </p:nvSpPr>
        <p:spPr>
          <a:xfrm>
            <a:off x="6725047" y="1755648"/>
            <a:ext cx="4789992" cy="237744"/>
          </a:xfrm>
          <a:prstGeom prst="rect">
            <a:avLst/>
          </a:prstGeom>
          <a:noFill/>
          <a:ln/>
        </p:spPr>
        <p:txBody>
          <a:bodyPr wrap="square" lIns="0" tIns="0" rIns="0" bIns="0" rtlCol="0" anchor="ctr"/>
          <a:lstStyle/>
          <a:p>
            <a:pPr indent="0" marL="0">
              <a:buNone/>
            </a:pPr>
            <a:r>
              <a:rPr lang="en-US" sz="1200" b="1" spc="120" kern="0" dirty="0">
                <a:solidFill>
                  <a:srgbClr val="070A12"/>
                </a:solidFill>
                <a:latin typeface="Calibri" pitchFamily="34" charset="0"/>
                <a:ea typeface="Calibri" pitchFamily="34" charset="-122"/>
                <a:cs typeface="Calibri" pitchFamily="34" charset="-120"/>
              </a:rPr>
              <a:t>ESTIMATE ONLY</a:t>
            </a:r>
            <a:endParaRPr lang="en-US" sz="1200" dirty="0"/>
          </a:p>
        </p:txBody>
      </p:sp>
      <p:sp>
        <p:nvSpPr>
          <p:cNvPr id="15" name="Text 13"/>
          <p:cNvSpPr/>
          <p:nvPr/>
        </p:nvSpPr>
        <p:spPr>
          <a:xfrm>
            <a:off x="6725047" y="2157984"/>
            <a:ext cx="5009448" cy="256032"/>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$9,016, no actual figure in the source at all</a:t>
            </a:r>
            <a:endParaRPr lang="en-US" sz="1200" dirty="0"/>
          </a:p>
        </p:txBody>
      </p:sp>
      <p:sp>
        <p:nvSpPr>
          <p:cNvPr id="16" name="Text 14"/>
          <p:cNvSpPr/>
          <p:nvPr/>
        </p:nvSpPr>
        <p:spPr>
          <a:xfrm>
            <a:off x="457200" y="2569464"/>
            <a:ext cx="11277295"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The largest applications, and whether each one can be checked</a:t>
            </a:r>
            <a:endParaRPr lang="en-US" sz="1500" dirty="0"/>
          </a:p>
        </p:txBody>
      </p:sp>
      <p:sp>
        <p:nvSpPr>
          <p:cNvPr id="17" name="Text 15"/>
          <p:cNvSpPr/>
          <p:nvPr/>
        </p:nvSpPr>
        <p:spPr>
          <a:xfrm>
            <a:off x="457200" y="2953512"/>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agent (Claude)</a:t>
            </a:r>
            <a:endParaRPr lang="en-US" sz="1300" dirty="0"/>
          </a:p>
        </p:txBody>
      </p:sp>
      <p:sp>
        <p:nvSpPr>
          <p:cNvPr id="18" name="Shape 16"/>
          <p:cNvSpPr/>
          <p:nvPr/>
        </p:nvSpPr>
        <p:spPr>
          <a:xfrm>
            <a:off x="3474720" y="3026664"/>
            <a:ext cx="7071055" cy="146304"/>
          </a:xfrm>
          <a:prstGeom prst="roundRect">
            <a:avLst>
              <a:gd name="adj" fmla="val 50000"/>
            </a:avLst>
          </a:prstGeom>
          <a:solidFill>
            <a:srgbClr val="0E1422"/>
          </a:solidFill>
          <a:ln w="6350">
            <a:solidFill>
              <a:srgbClr val="23304A"/>
            </a:solidFill>
            <a:prstDash val="solid"/>
          </a:ln>
        </p:spPr>
      </p:sp>
      <p:sp>
        <p:nvSpPr>
          <p:cNvPr id="19" name="Shape 17"/>
          <p:cNvSpPr/>
          <p:nvPr/>
        </p:nvSpPr>
        <p:spPr>
          <a:xfrm>
            <a:off x="3474720" y="3026664"/>
            <a:ext cx="7071055" cy="146304"/>
          </a:xfrm>
          <a:prstGeom prst="roundRect">
            <a:avLst>
              <a:gd name="adj" fmla="val 50000"/>
            </a:avLst>
          </a:prstGeom>
          <a:solidFill>
            <a:srgbClr val="3DD9EB"/>
          </a:solidFill>
          <a:ln w="12700">
            <a:solidFill>
              <a:srgbClr val="3DD9EB"/>
            </a:solidFill>
            <a:prstDash val="solid"/>
          </a:ln>
        </p:spPr>
      </p:sp>
      <p:sp>
        <p:nvSpPr>
          <p:cNvPr id="20" name="Text 18"/>
          <p:cNvSpPr/>
          <p:nvPr/>
        </p:nvSpPr>
        <p:spPr>
          <a:xfrm>
            <a:off x="10682935" y="2953512"/>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$7,378</a:t>
            </a:r>
            <a:endParaRPr lang="en-US" sz="1200" dirty="0"/>
          </a:p>
        </p:txBody>
      </p:sp>
      <p:sp>
        <p:nvSpPr>
          <p:cNvPr id="21" name="Text 19"/>
          <p:cNvSpPr/>
          <p:nvPr/>
        </p:nvSpPr>
        <p:spPr>
          <a:xfrm>
            <a:off x="457200" y="3293502"/>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insureGen</a:t>
            </a:r>
            <a:endParaRPr lang="en-US" sz="1300" dirty="0"/>
          </a:p>
        </p:txBody>
      </p:sp>
      <p:sp>
        <p:nvSpPr>
          <p:cNvPr id="22" name="Shape 20"/>
          <p:cNvSpPr/>
          <p:nvPr/>
        </p:nvSpPr>
        <p:spPr>
          <a:xfrm>
            <a:off x="3474720" y="3366654"/>
            <a:ext cx="7071055" cy="146304"/>
          </a:xfrm>
          <a:prstGeom prst="roundRect">
            <a:avLst>
              <a:gd name="adj" fmla="val 50000"/>
            </a:avLst>
          </a:prstGeom>
          <a:solidFill>
            <a:srgbClr val="0E1422"/>
          </a:solidFill>
          <a:ln w="6350">
            <a:solidFill>
              <a:srgbClr val="23304A"/>
            </a:solidFill>
            <a:prstDash val="solid"/>
          </a:ln>
        </p:spPr>
      </p:sp>
      <p:sp>
        <p:nvSpPr>
          <p:cNvPr id="23" name="Shape 21"/>
          <p:cNvSpPr/>
          <p:nvPr/>
        </p:nvSpPr>
        <p:spPr>
          <a:xfrm>
            <a:off x="3474720" y="3366654"/>
            <a:ext cx="5460435" cy="146304"/>
          </a:xfrm>
          <a:prstGeom prst="roundRect">
            <a:avLst>
              <a:gd name="adj" fmla="val 50000"/>
            </a:avLst>
          </a:prstGeom>
          <a:solidFill>
            <a:srgbClr val="E0A030"/>
          </a:solidFill>
          <a:ln w="12700">
            <a:solidFill>
              <a:srgbClr val="E0A030"/>
            </a:solidFill>
            <a:prstDash val="solid"/>
          </a:ln>
        </p:spPr>
      </p:sp>
      <p:sp>
        <p:nvSpPr>
          <p:cNvPr id="24" name="Text 22"/>
          <p:cNvSpPr/>
          <p:nvPr/>
        </p:nvSpPr>
        <p:spPr>
          <a:xfrm>
            <a:off x="10682935" y="3293502"/>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$5,698</a:t>
            </a:r>
            <a:endParaRPr lang="en-US" sz="1200" dirty="0"/>
          </a:p>
        </p:txBody>
      </p:sp>
      <p:sp>
        <p:nvSpPr>
          <p:cNvPr id="25" name="Text 23"/>
          <p:cNvSpPr/>
          <p:nvPr/>
        </p:nvSpPr>
        <p:spPr>
          <a:xfrm>
            <a:off x="457200" y="3633491"/>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claims-copilot (Azure)</a:t>
            </a:r>
            <a:endParaRPr lang="en-US" sz="1300" dirty="0"/>
          </a:p>
        </p:txBody>
      </p:sp>
      <p:sp>
        <p:nvSpPr>
          <p:cNvPr id="26" name="Shape 24"/>
          <p:cNvSpPr/>
          <p:nvPr/>
        </p:nvSpPr>
        <p:spPr>
          <a:xfrm>
            <a:off x="3474720" y="3706643"/>
            <a:ext cx="7071055" cy="146304"/>
          </a:xfrm>
          <a:prstGeom prst="roundRect">
            <a:avLst>
              <a:gd name="adj" fmla="val 50000"/>
            </a:avLst>
          </a:prstGeom>
          <a:solidFill>
            <a:srgbClr val="0E1422"/>
          </a:solidFill>
          <a:ln w="6350">
            <a:solidFill>
              <a:srgbClr val="23304A"/>
            </a:solidFill>
            <a:prstDash val="solid"/>
          </a:ln>
        </p:spPr>
      </p:sp>
      <p:sp>
        <p:nvSpPr>
          <p:cNvPr id="27" name="Shape 25"/>
          <p:cNvSpPr/>
          <p:nvPr/>
        </p:nvSpPr>
        <p:spPr>
          <a:xfrm>
            <a:off x="3474720" y="3706643"/>
            <a:ext cx="2275304" cy="146304"/>
          </a:xfrm>
          <a:prstGeom prst="roundRect">
            <a:avLst>
              <a:gd name="adj" fmla="val 50000"/>
            </a:avLst>
          </a:prstGeom>
          <a:solidFill>
            <a:srgbClr val="E0A030"/>
          </a:solidFill>
          <a:ln w="12700">
            <a:solidFill>
              <a:srgbClr val="E0A030"/>
            </a:solidFill>
            <a:prstDash val="solid"/>
          </a:ln>
        </p:spPr>
      </p:sp>
      <p:sp>
        <p:nvSpPr>
          <p:cNvPr id="28" name="Text 26"/>
          <p:cNvSpPr/>
          <p:nvPr/>
        </p:nvSpPr>
        <p:spPr>
          <a:xfrm>
            <a:off x="10682935" y="3633491"/>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$2,374</a:t>
            </a:r>
            <a:endParaRPr lang="en-US" sz="1200" dirty="0"/>
          </a:p>
        </p:txBody>
      </p:sp>
      <p:sp>
        <p:nvSpPr>
          <p:cNvPr id="29" name="Text 27"/>
          <p:cNvSpPr/>
          <p:nvPr/>
        </p:nvSpPr>
        <p:spPr>
          <a:xfrm>
            <a:off x="457200" y="3973481"/>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ai-factory-idp-ocr-hybrid</a:t>
            </a:r>
            <a:endParaRPr lang="en-US" sz="1300" dirty="0"/>
          </a:p>
        </p:txBody>
      </p:sp>
      <p:sp>
        <p:nvSpPr>
          <p:cNvPr id="30" name="Shape 28"/>
          <p:cNvSpPr/>
          <p:nvPr/>
        </p:nvSpPr>
        <p:spPr>
          <a:xfrm>
            <a:off x="3474720" y="4046633"/>
            <a:ext cx="7071055" cy="146304"/>
          </a:xfrm>
          <a:prstGeom prst="roundRect">
            <a:avLst>
              <a:gd name="adj" fmla="val 50000"/>
            </a:avLst>
          </a:prstGeom>
          <a:solidFill>
            <a:srgbClr val="0E1422"/>
          </a:solidFill>
          <a:ln w="6350">
            <a:solidFill>
              <a:srgbClr val="23304A"/>
            </a:solidFill>
            <a:prstDash val="solid"/>
          </a:ln>
        </p:spPr>
      </p:sp>
      <p:sp>
        <p:nvSpPr>
          <p:cNvPr id="31" name="Shape 29"/>
          <p:cNvSpPr/>
          <p:nvPr/>
        </p:nvSpPr>
        <p:spPr>
          <a:xfrm>
            <a:off x="3474720" y="4046633"/>
            <a:ext cx="1422681" cy="146304"/>
          </a:xfrm>
          <a:prstGeom prst="roundRect">
            <a:avLst>
              <a:gd name="adj" fmla="val 50000"/>
            </a:avLst>
          </a:prstGeom>
          <a:solidFill>
            <a:srgbClr val="3DD9EB"/>
          </a:solidFill>
          <a:ln w="12700">
            <a:solidFill>
              <a:srgbClr val="3DD9EB"/>
            </a:solidFill>
            <a:prstDash val="solid"/>
          </a:ln>
        </p:spPr>
      </p:sp>
      <p:sp>
        <p:nvSpPr>
          <p:cNvPr id="32" name="Text 30"/>
          <p:cNvSpPr/>
          <p:nvPr/>
        </p:nvSpPr>
        <p:spPr>
          <a:xfrm>
            <a:off x="10682935" y="3973481"/>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$1,485</a:t>
            </a:r>
            <a:endParaRPr lang="en-US" sz="1200" dirty="0"/>
          </a:p>
        </p:txBody>
      </p:sp>
      <p:sp>
        <p:nvSpPr>
          <p:cNvPr id="33" name="Text 31"/>
          <p:cNvSpPr/>
          <p:nvPr/>
        </p:nvSpPr>
        <p:spPr>
          <a:xfrm>
            <a:off x="457200" y="4313470"/>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idp-ocr-hybrid (GCP)</a:t>
            </a:r>
            <a:endParaRPr lang="en-US" sz="1300" dirty="0"/>
          </a:p>
        </p:txBody>
      </p:sp>
      <p:sp>
        <p:nvSpPr>
          <p:cNvPr id="34" name="Shape 32"/>
          <p:cNvSpPr/>
          <p:nvPr/>
        </p:nvSpPr>
        <p:spPr>
          <a:xfrm>
            <a:off x="3474720" y="4386622"/>
            <a:ext cx="7071055" cy="146304"/>
          </a:xfrm>
          <a:prstGeom prst="roundRect">
            <a:avLst>
              <a:gd name="adj" fmla="val 50000"/>
            </a:avLst>
          </a:prstGeom>
          <a:solidFill>
            <a:srgbClr val="0E1422"/>
          </a:solidFill>
          <a:ln w="6350">
            <a:solidFill>
              <a:srgbClr val="23304A"/>
            </a:solidFill>
            <a:prstDash val="solid"/>
          </a:ln>
        </p:spPr>
      </p:sp>
      <p:sp>
        <p:nvSpPr>
          <p:cNvPr id="35" name="Shape 33"/>
          <p:cNvSpPr/>
          <p:nvPr/>
        </p:nvSpPr>
        <p:spPr>
          <a:xfrm>
            <a:off x="3474720" y="4386622"/>
            <a:ext cx="672830" cy="146304"/>
          </a:xfrm>
          <a:prstGeom prst="roundRect">
            <a:avLst>
              <a:gd name="adj" fmla="val 50000"/>
            </a:avLst>
          </a:prstGeom>
          <a:solidFill>
            <a:srgbClr val="3DD9EB"/>
          </a:solidFill>
          <a:ln w="12700">
            <a:solidFill>
              <a:srgbClr val="3DD9EB"/>
            </a:solidFill>
            <a:prstDash val="solid"/>
          </a:ln>
        </p:spPr>
      </p:sp>
      <p:sp>
        <p:nvSpPr>
          <p:cNvPr id="36" name="Text 34"/>
          <p:cNvSpPr/>
          <p:nvPr/>
        </p:nvSpPr>
        <p:spPr>
          <a:xfrm>
            <a:off x="10682935" y="4313470"/>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$702</a:t>
            </a:r>
            <a:endParaRPr lang="en-US" sz="1200" dirty="0"/>
          </a:p>
        </p:txBody>
      </p:sp>
      <p:sp>
        <p:nvSpPr>
          <p:cNvPr id="37" name="Text 35"/>
          <p:cNvSpPr/>
          <p:nvPr/>
        </p:nvSpPr>
        <p:spPr>
          <a:xfrm>
            <a:off x="457200" y="4653460"/>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bedrock-session</a:t>
            </a:r>
            <a:endParaRPr lang="en-US" sz="1300" dirty="0"/>
          </a:p>
        </p:txBody>
      </p:sp>
      <p:sp>
        <p:nvSpPr>
          <p:cNvPr id="38" name="Shape 36"/>
          <p:cNvSpPr/>
          <p:nvPr/>
        </p:nvSpPr>
        <p:spPr>
          <a:xfrm>
            <a:off x="3474720" y="4726612"/>
            <a:ext cx="7071055" cy="146304"/>
          </a:xfrm>
          <a:prstGeom prst="roundRect">
            <a:avLst>
              <a:gd name="adj" fmla="val 50000"/>
            </a:avLst>
          </a:prstGeom>
          <a:solidFill>
            <a:srgbClr val="0E1422"/>
          </a:solidFill>
          <a:ln w="6350">
            <a:solidFill>
              <a:srgbClr val="23304A"/>
            </a:solidFill>
            <a:prstDash val="solid"/>
          </a:ln>
        </p:spPr>
      </p:sp>
      <p:sp>
        <p:nvSpPr>
          <p:cNvPr id="39" name="Shape 37"/>
          <p:cNvSpPr/>
          <p:nvPr/>
        </p:nvSpPr>
        <p:spPr>
          <a:xfrm>
            <a:off x="3474720" y="4726612"/>
            <a:ext cx="453773" cy="146304"/>
          </a:xfrm>
          <a:prstGeom prst="roundRect">
            <a:avLst>
              <a:gd name="adj" fmla="val 50000"/>
            </a:avLst>
          </a:prstGeom>
          <a:solidFill>
            <a:srgbClr val="E0A030"/>
          </a:solidFill>
          <a:ln w="12700">
            <a:solidFill>
              <a:srgbClr val="E0A030"/>
            </a:solidFill>
            <a:prstDash val="solid"/>
          </a:ln>
        </p:spPr>
      </p:sp>
      <p:sp>
        <p:nvSpPr>
          <p:cNvPr id="40" name="Text 38"/>
          <p:cNvSpPr/>
          <p:nvPr/>
        </p:nvSpPr>
        <p:spPr>
          <a:xfrm>
            <a:off x="10682935" y="4653460"/>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$474</a:t>
            </a:r>
            <a:endParaRPr lang="en-US" sz="1200" dirty="0"/>
          </a:p>
        </p:txBody>
      </p:sp>
      <p:sp>
        <p:nvSpPr>
          <p:cNvPr id="41" name="Shape 39"/>
          <p:cNvSpPr/>
          <p:nvPr/>
        </p:nvSpPr>
        <p:spPr>
          <a:xfrm>
            <a:off x="457200" y="5176330"/>
            <a:ext cx="11277295" cy="1041591"/>
          </a:xfrm>
          <a:prstGeom prst="roundRect">
            <a:avLst>
              <a:gd name="adj" fmla="val 5267"/>
            </a:avLst>
          </a:prstGeom>
          <a:solidFill>
            <a:srgbClr val="121B2D"/>
          </a:solidFill>
          <a:ln w="12700">
            <a:solidFill>
              <a:srgbClr val="E0A030"/>
            </a:solidFill>
            <a:prstDash val="solid"/>
          </a:ln>
        </p:spPr>
      </p:sp>
      <p:sp>
        <p:nvSpPr>
          <p:cNvPr id="42" name="Text 40"/>
          <p:cNvSpPr/>
          <p:nvPr/>
        </p:nvSpPr>
        <p:spPr>
          <a:xfrm>
            <a:off x="685800" y="5286058"/>
            <a:ext cx="10820095" cy="292608"/>
          </a:xfrm>
          <a:prstGeom prst="rect">
            <a:avLst/>
          </a:prstGeom>
          <a:noFill/>
          <a:ln/>
        </p:spPr>
        <p:txBody>
          <a:bodyPr wrap="square" lIns="0" tIns="0" rIns="0" bIns="0"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Where the estimate can be checked, it is running 30.8% low</a:t>
            </a:r>
            <a:endParaRPr lang="en-US" sz="1600" dirty="0"/>
          </a:p>
        </p:txBody>
      </p:sp>
      <p:sp>
        <p:nvSpPr>
          <p:cNvPr id="43" name="Text 41"/>
          <p:cNvSpPr/>
          <p:nvPr/>
        </p:nvSpPr>
        <p:spPr>
          <a:xfrm>
            <a:off x="685800" y="5615242"/>
            <a:ext cx="10820095" cy="474663"/>
          </a:xfrm>
          <a:prstGeom prst="rect">
            <a:avLst/>
          </a:prstGeom>
          <a:noFill/>
          <a:ln/>
        </p:spPr>
        <p:txBody>
          <a:bodyPr wrap="square" lIns="0" tIns="0" rIns="0" bIns="0" rtlCol="0" anchor="t"/>
          <a:lstStyle/>
          <a:p>
            <a:pPr indent="0" marL="0">
              <a:lnSpc>
                <a:spcPct val="115000"/>
              </a:lnSpc>
              <a:buNone/>
            </a:pPr>
            <a:r>
              <a:rPr lang="en-US" sz="1300" dirty="0">
                <a:solidFill>
                  <a:srgbClr val="91A0B7"/>
                </a:solidFill>
                <a:latin typeface="Calibri" pitchFamily="34" charset="0"/>
                <a:ea typeface="Calibri" pitchFamily="34" charset="-122"/>
                <a:cs typeface="Calibri" pitchFamily="34" charset="-120"/>
              </a:rPr>
              <a:t>Claude rows carrying both figures: estimate $8,014, actual $10,481. On the unreconciled half that gap would be about $2,776.</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UNIT COST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953" b="1" dirty="0">
                <a:solidFill>
                  <a:srgbClr val="F4F7FB"/>
                </a:solidFill>
                <a:latin typeface="Calibri" pitchFamily="34" charset="0"/>
                <a:ea typeface="Calibri" pitchFamily="34" charset="-122"/>
                <a:cs typeface="Calibri" pitchFamily="34" charset="-120"/>
              </a:rPr>
              <a:t>The same call costs $2 or $161 per thousand</a:t>
            </a:r>
            <a:endParaRPr lang="en-US" sz="1953"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Cost per 1,000 invocations, applications with at least 5,000 calls in the month.</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Volume and price are not the same problem. insureGen is the second largest line in the month and among the cheapest per call, so the lever there is whether the calls are needed. The expensive rows are agent and OCR workloads, where the lever is model choice.</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Estimated cost per 1,000 invocations</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DEAREST PER CALL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$161</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per 1,000, ai-factory-idp-ocr-hybrid</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CHEAPEST PER CALL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per 1,000, agent (Azure)</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MONTH AVERAGE</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$35</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per 1,000 across every call we made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THE ASK</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What would make July 2026 a number we can defend</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Four changes to how the data is produced. None of them are engineering projects.</a:t>
            </a:r>
            <a:endParaRPr lang="en-US" sz="1200" dirty="0"/>
          </a:p>
        </p:txBody>
      </p:sp>
      <p:sp>
        <p:nvSpPr>
          <p:cNvPr id="7" name="Shape 5"/>
          <p:cNvSpPr/>
          <p:nvPr/>
        </p:nvSpPr>
        <p:spPr>
          <a:xfrm>
            <a:off x="457200" y="1517904"/>
            <a:ext cx="512064" cy="512064"/>
          </a:xfrm>
          <a:prstGeom prst="ellipse">
            <a:avLst/>
          </a:prstGeom>
          <a:solidFill>
            <a:srgbClr val="121B2D"/>
          </a:solidFill>
          <a:ln w="15875">
            <a:solidFill>
              <a:srgbClr val="3DD9EB"/>
            </a:solidFill>
            <a:prstDash val="solid"/>
          </a:ln>
        </p:spPr>
      </p:sp>
      <p:sp>
        <p:nvSpPr>
          <p:cNvPr id="8" name="Text 6"/>
          <p:cNvSpPr/>
          <p:nvPr/>
        </p:nvSpPr>
        <p:spPr>
          <a:xfrm>
            <a:off x="457200"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115568" y="1463040"/>
            <a:ext cx="4797400" cy="307351"/>
          </a:xfrm>
          <a:prstGeom prst="rect">
            <a:avLst/>
          </a:prstGeom>
          <a:noFill/>
          <a:ln/>
        </p:spPr>
        <p:txBody>
          <a:bodyPr wrap="square" lIns="0" tIns="0" rIns="0" bIns="0" rtlCol="0" anchor="ctr"/>
          <a:lstStyle/>
          <a:p>
            <a:pPr indent="0" marL="0">
              <a:buNone/>
            </a:pPr>
            <a:r>
              <a:rPr lang="en-US" sz="1936" b="1" dirty="0">
                <a:solidFill>
                  <a:srgbClr val="F4F7FB"/>
                </a:solidFill>
                <a:latin typeface="Calibri" pitchFamily="34" charset="0"/>
                <a:ea typeface="Calibri" pitchFamily="34" charset="-122"/>
                <a:cs typeface="Calibri" pitchFamily="34" charset="-120"/>
              </a:rPr>
              <a:t>Turn on the Azure actuals</a:t>
            </a:r>
            <a:endParaRPr lang="en-US" sz="1936" dirty="0"/>
          </a:p>
        </p:txBody>
      </p:sp>
      <p:sp>
        <p:nvSpPr>
          <p:cNvPr id="10" name="Text 8"/>
          <p:cNvSpPr/>
          <p:nvPr/>
        </p:nvSpPr>
        <p:spPr>
          <a:xfrm>
            <a:off x="1115568" y="1816111"/>
            <a:ext cx="4797400" cy="702516"/>
          </a:xfrm>
          <a:prstGeom prst="rect">
            <a:avLst/>
          </a:prstGeom>
          <a:noFill/>
          <a:ln/>
        </p:spPr>
        <p:txBody>
          <a:bodyPr wrap="square" lIns="0" tIns="0" rIns="0" bIns="0" rtlCol="0" anchor="t"/>
          <a:lstStyle/>
          <a:p>
            <a:pPr indent="0" marL="0">
              <a:lnSpc>
                <a:spcPct val="112000"/>
              </a:lnSpc>
              <a:buNone/>
            </a:pPr>
            <a:r>
              <a:rPr lang="en-US" sz="1475" dirty="0">
                <a:solidFill>
                  <a:srgbClr val="91A0B7"/>
                </a:solidFill>
                <a:latin typeface="Calibri" pitchFamily="34" charset="0"/>
                <a:ea typeface="Calibri" pitchFamily="34" charset="-122"/>
                <a:cs typeface="Calibri" pitchFamily="34" charset="-120"/>
              </a:rPr>
              <a:t>Export the reconciliation figure alongside the estimate, as the other two providers already do.</a:t>
            </a:r>
            <a:endParaRPr lang="en-US" sz="1475" dirty="0"/>
          </a:p>
        </p:txBody>
      </p:sp>
      <p:sp>
        <p:nvSpPr>
          <p:cNvPr id="11" name="Text 9"/>
          <p:cNvSpPr/>
          <p:nvPr/>
        </p:nvSpPr>
        <p:spPr>
          <a:xfrm>
            <a:off x="1115568" y="2564347"/>
            <a:ext cx="4797400" cy="446377"/>
          </a:xfrm>
          <a:prstGeom prst="rect">
            <a:avLst/>
          </a:prstGeom>
          <a:noFill/>
          <a:ln/>
        </p:spPr>
        <p:txBody>
          <a:bodyPr wrap="square" lIns="0" tIns="0" rIns="0" bIns="0" rtlCol="0" anchor="t"/>
          <a:lstStyle/>
          <a:p>
            <a:pPr indent="0" marL="0">
              <a:lnSpc>
                <a:spcPct val="105000"/>
              </a:lnSpc>
              <a:buNone/>
            </a:pPr>
            <a:r>
              <a:rPr lang="en-US" sz="1291" i="1" dirty="0">
                <a:solidFill>
                  <a:srgbClr val="3DD9EB"/>
                </a:solidFill>
                <a:latin typeface="Calibri" pitchFamily="34" charset="0"/>
                <a:ea typeface="Calibri" pitchFamily="34" charset="-122"/>
                <a:cs typeface="Calibri" pitchFamily="34" charset="-120"/>
              </a:rPr>
              <a:t>Tip: $9,016 of the month currently has nothing behind it.</a:t>
            </a:r>
            <a:endParaRPr lang="en-US" sz="1291" dirty="0"/>
          </a:p>
        </p:txBody>
      </p:sp>
      <p:sp>
        <p:nvSpPr>
          <p:cNvPr id="12" name="Shape 10"/>
          <p:cNvSpPr/>
          <p:nvPr/>
        </p:nvSpPr>
        <p:spPr>
          <a:xfrm>
            <a:off x="457200" y="3156966"/>
            <a:ext cx="512064" cy="512064"/>
          </a:xfrm>
          <a:prstGeom prst="ellipse">
            <a:avLst/>
          </a:prstGeom>
          <a:solidFill>
            <a:srgbClr val="121B2D"/>
          </a:solidFill>
          <a:ln w="15875">
            <a:solidFill>
              <a:srgbClr val="3DD9EB"/>
            </a:solidFill>
            <a:prstDash val="solid"/>
          </a:ln>
        </p:spPr>
      </p:sp>
      <p:sp>
        <p:nvSpPr>
          <p:cNvPr id="13" name="Text 11"/>
          <p:cNvSpPr/>
          <p:nvPr/>
        </p:nvSpPr>
        <p:spPr>
          <a:xfrm>
            <a:off x="457200" y="3156966"/>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115568" y="3102102"/>
            <a:ext cx="4797400" cy="307351"/>
          </a:xfrm>
          <a:prstGeom prst="rect">
            <a:avLst/>
          </a:prstGeom>
          <a:noFill/>
          <a:ln/>
        </p:spPr>
        <p:txBody>
          <a:bodyPr wrap="square" lIns="0" tIns="0" rIns="0" bIns="0" rtlCol="0" anchor="ctr"/>
          <a:lstStyle/>
          <a:p>
            <a:pPr indent="0" marL="0">
              <a:buNone/>
            </a:pPr>
            <a:r>
              <a:rPr lang="en-US" sz="1936" b="1" dirty="0">
                <a:solidFill>
                  <a:srgbClr val="F4F7FB"/>
                </a:solidFill>
                <a:latin typeface="Calibri" pitchFamily="34" charset="0"/>
                <a:ea typeface="Calibri" pitchFamily="34" charset="-122"/>
                <a:cs typeface="Calibri" pitchFamily="34" charset="-120"/>
              </a:rPr>
              <a:t>Keep the period on the sheet</a:t>
            </a:r>
            <a:endParaRPr lang="en-US" sz="1936" dirty="0"/>
          </a:p>
        </p:txBody>
      </p:sp>
      <p:sp>
        <p:nvSpPr>
          <p:cNvPr id="15" name="Text 13"/>
          <p:cNvSpPr/>
          <p:nvPr/>
        </p:nvSpPr>
        <p:spPr>
          <a:xfrm>
            <a:off x="1115568" y="3455173"/>
            <a:ext cx="4797400" cy="702516"/>
          </a:xfrm>
          <a:prstGeom prst="rect">
            <a:avLst/>
          </a:prstGeom>
          <a:noFill/>
          <a:ln/>
        </p:spPr>
        <p:txBody>
          <a:bodyPr wrap="square" lIns="0" tIns="0" rIns="0" bIns="0" rtlCol="0" anchor="t"/>
          <a:lstStyle/>
          <a:p>
            <a:pPr indent="0" marL="0">
              <a:lnSpc>
                <a:spcPct val="112000"/>
              </a:lnSpc>
              <a:buNone/>
            </a:pPr>
            <a:r>
              <a:rPr lang="en-US" sz="1475" dirty="0">
                <a:solidFill>
                  <a:srgbClr val="91A0B7"/>
                </a:solidFill>
                <a:latin typeface="Calibri" pitchFamily="34" charset="0"/>
                <a:ea typeface="Calibri" pitchFamily="34" charset="-122"/>
                <a:cs typeface="Calibri" pitchFamily="34" charset="-120"/>
              </a:rPr>
              <a:t>Every extract states the range it covers, so two of them can be compared without counting days.</a:t>
            </a:r>
            <a:endParaRPr lang="en-US" sz="1475" dirty="0"/>
          </a:p>
        </p:txBody>
      </p:sp>
      <p:sp>
        <p:nvSpPr>
          <p:cNvPr id="16" name="Text 14"/>
          <p:cNvSpPr/>
          <p:nvPr/>
        </p:nvSpPr>
        <p:spPr>
          <a:xfrm>
            <a:off x="1115568" y="4203409"/>
            <a:ext cx="4797400" cy="446377"/>
          </a:xfrm>
          <a:prstGeom prst="rect">
            <a:avLst/>
          </a:prstGeom>
          <a:noFill/>
          <a:ln/>
        </p:spPr>
        <p:txBody>
          <a:bodyPr wrap="square" lIns="0" tIns="0" rIns="0" bIns="0" rtlCol="0" anchor="t"/>
          <a:lstStyle/>
          <a:p>
            <a:pPr indent="0" marL="0">
              <a:lnSpc>
                <a:spcPct val="105000"/>
              </a:lnSpc>
              <a:buNone/>
            </a:pPr>
            <a:r>
              <a:rPr lang="en-US" sz="1291" i="1" dirty="0">
                <a:solidFill>
                  <a:srgbClr val="3DD9EB"/>
                </a:solidFill>
                <a:latin typeface="Calibri" pitchFamily="34" charset="0"/>
                <a:ea typeface="Calibri" pitchFamily="34" charset="-122"/>
                <a:cs typeface="Calibri" pitchFamily="34" charset="-120"/>
              </a:rPr>
              <a:t>Tip: A 19-day export next to a 31-day one is not a comparison until you divide.</a:t>
            </a:r>
            <a:endParaRPr lang="en-US" sz="1291" dirty="0"/>
          </a:p>
        </p:txBody>
      </p:sp>
      <p:sp>
        <p:nvSpPr>
          <p:cNvPr id="17" name="Shape 15"/>
          <p:cNvSpPr/>
          <p:nvPr/>
        </p:nvSpPr>
        <p:spPr>
          <a:xfrm>
            <a:off x="6278728" y="1517904"/>
            <a:ext cx="512064" cy="512064"/>
          </a:xfrm>
          <a:prstGeom prst="ellipse">
            <a:avLst/>
          </a:prstGeom>
          <a:solidFill>
            <a:srgbClr val="121B2D"/>
          </a:solidFill>
          <a:ln w="15875">
            <a:solidFill>
              <a:srgbClr val="3DD9EB"/>
            </a:solidFill>
            <a:prstDash val="solid"/>
          </a:ln>
        </p:spPr>
      </p:sp>
      <p:sp>
        <p:nvSpPr>
          <p:cNvPr id="18" name="Text 16"/>
          <p:cNvSpPr/>
          <p:nvPr/>
        </p:nvSpPr>
        <p:spPr>
          <a:xfrm>
            <a:off x="6278728"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6937096" y="1463040"/>
            <a:ext cx="4797400" cy="307351"/>
          </a:xfrm>
          <a:prstGeom prst="rect">
            <a:avLst/>
          </a:prstGeom>
          <a:noFill/>
          <a:ln/>
        </p:spPr>
        <p:txBody>
          <a:bodyPr wrap="square" lIns="0" tIns="0" rIns="0" bIns="0" rtlCol="0" anchor="ctr"/>
          <a:lstStyle/>
          <a:p>
            <a:pPr indent="0" marL="0">
              <a:buNone/>
            </a:pPr>
            <a:r>
              <a:rPr lang="en-US" sz="1936" b="1" dirty="0">
                <a:solidFill>
                  <a:srgbClr val="F4F7FB"/>
                </a:solidFill>
                <a:latin typeface="Calibri" pitchFamily="34" charset="0"/>
                <a:ea typeface="Calibri" pitchFamily="34" charset="-122"/>
                <a:cs typeface="Calibri" pitchFamily="34" charset="-120"/>
              </a:rPr>
              <a:t>One capitalisation per team</a:t>
            </a:r>
            <a:endParaRPr lang="en-US" sz="1936" dirty="0"/>
          </a:p>
        </p:txBody>
      </p:sp>
      <p:sp>
        <p:nvSpPr>
          <p:cNvPr id="20" name="Text 18"/>
          <p:cNvSpPr/>
          <p:nvPr/>
        </p:nvSpPr>
        <p:spPr>
          <a:xfrm>
            <a:off x="6937096" y="1816111"/>
            <a:ext cx="4797400" cy="702516"/>
          </a:xfrm>
          <a:prstGeom prst="rect">
            <a:avLst/>
          </a:prstGeom>
          <a:noFill/>
          <a:ln/>
        </p:spPr>
        <p:txBody>
          <a:bodyPr wrap="square" lIns="0" tIns="0" rIns="0" bIns="0" rtlCol="0" anchor="t"/>
          <a:lstStyle/>
          <a:p>
            <a:pPr indent="0" marL="0">
              <a:lnSpc>
                <a:spcPct val="112000"/>
              </a:lnSpc>
              <a:buNone/>
            </a:pPr>
            <a:r>
              <a:rPr lang="en-US" sz="1475" dirty="0">
                <a:solidFill>
                  <a:srgbClr val="91A0B7"/>
                </a:solidFill>
                <a:latin typeface="Calibri" pitchFamily="34" charset="0"/>
                <a:ea typeface="Calibri" pitchFamily="34" charset="-122"/>
                <a:cs typeface="Calibri" pitchFamily="34" charset="-120"/>
              </a:rPr>
              <a:t>Fold team names at source so a team cannot appear as two rows and be counted twice.</a:t>
            </a:r>
            <a:endParaRPr lang="en-US" sz="1475" dirty="0"/>
          </a:p>
        </p:txBody>
      </p:sp>
      <p:sp>
        <p:nvSpPr>
          <p:cNvPr id="21" name="Text 19"/>
          <p:cNvSpPr/>
          <p:nvPr/>
        </p:nvSpPr>
        <p:spPr>
          <a:xfrm>
            <a:off x="6937096" y="2564347"/>
            <a:ext cx="4797400" cy="446377"/>
          </a:xfrm>
          <a:prstGeom prst="rect">
            <a:avLst/>
          </a:prstGeom>
          <a:noFill/>
          <a:ln/>
        </p:spPr>
        <p:txBody>
          <a:bodyPr wrap="square" lIns="0" tIns="0" rIns="0" bIns="0" rtlCol="0" anchor="t"/>
          <a:lstStyle/>
          <a:p>
            <a:pPr indent="0" marL="0">
              <a:lnSpc>
                <a:spcPct val="105000"/>
              </a:lnSpc>
              <a:buNone/>
            </a:pPr>
            <a:r>
              <a:rPr lang="en-US" sz="1291" i="1" dirty="0">
                <a:solidFill>
                  <a:srgbClr val="3DD9EB"/>
                </a:solidFill>
                <a:latin typeface="Calibri" pitchFamily="34" charset="0"/>
                <a:ea typeface="Calibri" pitchFamily="34" charset="-122"/>
                <a:cs typeface="Calibri" pitchFamily="34" charset="-120"/>
              </a:rPr>
              <a:t>Tip: This is what makes the team tab disagree with the provider tab.</a:t>
            </a:r>
            <a:endParaRPr lang="en-US" sz="1291" dirty="0"/>
          </a:p>
        </p:txBody>
      </p:sp>
      <p:sp>
        <p:nvSpPr>
          <p:cNvPr id="22" name="Shape 20"/>
          <p:cNvSpPr/>
          <p:nvPr/>
        </p:nvSpPr>
        <p:spPr>
          <a:xfrm>
            <a:off x="6278728" y="3156966"/>
            <a:ext cx="512064" cy="512064"/>
          </a:xfrm>
          <a:prstGeom prst="ellipse">
            <a:avLst/>
          </a:prstGeom>
          <a:solidFill>
            <a:srgbClr val="121B2D"/>
          </a:solidFill>
          <a:ln w="15875">
            <a:solidFill>
              <a:srgbClr val="3DD9EB"/>
            </a:solidFill>
            <a:prstDash val="solid"/>
          </a:ln>
        </p:spPr>
      </p:sp>
      <p:sp>
        <p:nvSpPr>
          <p:cNvPr id="23" name="Text 21"/>
          <p:cNvSpPr/>
          <p:nvPr/>
        </p:nvSpPr>
        <p:spPr>
          <a:xfrm>
            <a:off x="6278728" y="3156966"/>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4</a:t>
            </a:r>
            <a:endParaRPr lang="en-US" sz="2000" dirty="0"/>
          </a:p>
        </p:txBody>
      </p:sp>
      <p:sp>
        <p:nvSpPr>
          <p:cNvPr id="24" name="Text 22"/>
          <p:cNvSpPr/>
          <p:nvPr/>
        </p:nvSpPr>
        <p:spPr>
          <a:xfrm>
            <a:off x="6937096" y="3102102"/>
            <a:ext cx="4797400" cy="307351"/>
          </a:xfrm>
          <a:prstGeom prst="rect">
            <a:avLst/>
          </a:prstGeom>
          <a:noFill/>
          <a:ln/>
        </p:spPr>
        <p:txBody>
          <a:bodyPr wrap="square" lIns="0" tIns="0" rIns="0" bIns="0" rtlCol="0" anchor="ctr"/>
          <a:lstStyle/>
          <a:p>
            <a:pPr indent="0" marL="0">
              <a:buNone/>
            </a:pPr>
            <a:r>
              <a:rPr lang="en-US" sz="1936" b="1" dirty="0">
                <a:solidFill>
                  <a:srgbClr val="F4F7FB"/>
                </a:solidFill>
                <a:latin typeface="Calibri" pitchFamily="34" charset="0"/>
                <a:ea typeface="Calibri" pitchFamily="34" charset="-122"/>
                <a:cs typeface="Calibri" pitchFamily="34" charset="-120"/>
              </a:rPr>
              <a:t>No application without a name</a:t>
            </a:r>
            <a:endParaRPr lang="en-US" sz="1936" dirty="0"/>
          </a:p>
        </p:txBody>
      </p:sp>
      <p:sp>
        <p:nvSpPr>
          <p:cNvPr id="25" name="Text 23"/>
          <p:cNvSpPr/>
          <p:nvPr/>
        </p:nvSpPr>
        <p:spPr>
          <a:xfrm>
            <a:off x="6937096" y="3455173"/>
            <a:ext cx="4797400" cy="702516"/>
          </a:xfrm>
          <a:prstGeom prst="rect">
            <a:avLst/>
          </a:prstGeom>
          <a:noFill/>
          <a:ln/>
        </p:spPr>
        <p:txBody>
          <a:bodyPr wrap="square" lIns="0" tIns="0" rIns="0" bIns="0" rtlCol="0" anchor="t"/>
          <a:lstStyle/>
          <a:p>
            <a:pPr indent="0" marL="0">
              <a:lnSpc>
                <a:spcPct val="112000"/>
              </a:lnSpc>
              <a:buNone/>
            </a:pPr>
            <a:r>
              <a:rPr lang="en-US" sz="1475" dirty="0">
                <a:solidFill>
                  <a:srgbClr val="91A0B7"/>
                </a:solidFill>
                <a:latin typeface="Calibri" pitchFamily="34" charset="0"/>
                <a:ea typeface="Calibri" pitchFamily="34" charset="-122"/>
                <a:cs typeface="Calibri" pitchFamily="34" charset="-120"/>
              </a:rPr>
              <a:t>A call tagged unknown or unlabeled cannot be charged to anyone, even in principle.</a:t>
            </a:r>
            <a:endParaRPr lang="en-US" sz="1475" dirty="0"/>
          </a:p>
        </p:txBody>
      </p:sp>
      <p:sp>
        <p:nvSpPr>
          <p:cNvPr id="26" name="Text 24"/>
          <p:cNvSpPr/>
          <p:nvPr/>
        </p:nvSpPr>
        <p:spPr>
          <a:xfrm>
            <a:off x="6937096" y="4203409"/>
            <a:ext cx="4797400" cy="446377"/>
          </a:xfrm>
          <a:prstGeom prst="rect">
            <a:avLst/>
          </a:prstGeom>
          <a:noFill/>
          <a:ln/>
        </p:spPr>
        <p:txBody>
          <a:bodyPr wrap="square" lIns="0" tIns="0" rIns="0" bIns="0" rtlCol="0" anchor="t"/>
          <a:lstStyle/>
          <a:p>
            <a:pPr indent="0" marL="0">
              <a:lnSpc>
                <a:spcPct val="105000"/>
              </a:lnSpc>
              <a:buNone/>
            </a:pPr>
            <a:r>
              <a:rPr lang="en-US" sz="1291" i="1" dirty="0">
                <a:solidFill>
                  <a:srgbClr val="3DD9EB"/>
                </a:solidFill>
                <a:latin typeface="Calibri" pitchFamily="34" charset="0"/>
                <a:ea typeface="Calibri" pitchFamily="34" charset="-122"/>
                <a:cs typeface="Calibri" pitchFamily="34" charset="-120"/>
              </a:rPr>
              <a:t>Tip: $376 in July, 1.9%. Small now, and worth keeping that way.</a:t>
            </a:r>
            <a:endParaRPr lang="en-US" sz="1291" dirty="0"/>
          </a:p>
        </p:txBody>
      </p:sp>
      <p:sp>
        <p:nvSpPr>
          <p:cNvPr id="27" name="Shape 25"/>
          <p:cNvSpPr/>
          <p:nvPr/>
        </p:nvSpPr>
        <p:spPr>
          <a:xfrm>
            <a:off x="457200" y="5015484"/>
            <a:ext cx="11277295" cy="1248156"/>
          </a:xfrm>
          <a:prstGeom prst="roundRect">
            <a:avLst>
              <a:gd name="adj" fmla="val 4396"/>
            </a:avLst>
          </a:prstGeom>
          <a:solidFill>
            <a:srgbClr val="121B2D"/>
          </a:solidFill>
          <a:ln w="12700">
            <a:solidFill>
              <a:srgbClr val="3DD9EB"/>
            </a:solidFill>
            <a:prstDash val="solid"/>
          </a:ln>
        </p:spPr>
      </p:sp>
      <p:sp>
        <p:nvSpPr>
          <p:cNvPr id="28" name="Text 26"/>
          <p:cNvSpPr/>
          <p:nvPr/>
        </p:nvSpPr>
        <p:spPr>
          <a:xfrm>
            <a:off x="713232" y="5161788"/>
            <a:ext cx="10765231" cy="42240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Then the same export answers the same questions every month</a:t>
            </a:r>
            <a:endParaRPr lang="en-US" sz="2200" dirty="0"/>
          </a:p>
        </p:txBody>
      </p:sp>
      <p:sp>
        <p:nvSpPr>
          <p:cNvPr id="29" name="Text 27"/>
          <p:cNvSpPr/>
          <p:nvPr/>
        </p:nvSpPr>
        <p:spPr>
          <a:xfrm>
            <a:off x="713232" y="5584190"/>
            <a:ext cx="10765231" cy="533146"/>
          </a:xfrm>
          <a:prstGeom prst="rect">
            <a:avLst/>
          </a:prstGeom>
          <a:noFill/>
          <a:ln/>
        </p:spPr>
        <p:txBody>
          <a:bodyPr wrap="square" lIns="0" tIns="0" rIns="0" bIns="0" rtlCol="0" anchor="t"/>
          <a:lstStyle/>
          <a:p>
            <a:pPr indent="0" marL="0">
              <a:lnSpc>
                <a:spcPct val="118000"/>
              </a:lnSpc>
              <a:buNone/>
            </a:pPr>
            <a:r>
              <a:rPr lang="en-US" sz="1200" dirty="0">
                <a:solidFill>
                  <a:srgbClr val="91A0B7"/>
                </a:solidFill>
                <a:latin typeface="Calibri" pitchFamily="34" charset="0"/>
                <a:ea typeface="Calibri" pitchFamily="34" charset="-122"/>
                <a:cs typeface="Calibri" pitchFamily="34" charset="-120"/>
              </a:rPr>
              <a:t>With an actuals column on every provider and a stated period, the export tells us what we spent, who spent it, and whether the estimate is holding, without anyone rebuilding the sheet.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cost, July 2026 — Harel</dc:title>
  <dc:subject>PptxGenJS Presentation</dc:subject>
  <dc:creator>Cloud Infrastructure, DevOps &amp; Databases</dc:creator>
  <cp:lastModifiedBy>Cloud Infrastructure, DevOps &amp; Databases</cp:lastModifiedBy>
  <cp:revision>1</cp:revision>
  <dcterms:created xsi:type="dcterms:W3CDTF">2026-09-22T17:12:12Z</dcterms:created>
  <dcterms:modified xsi:type="dcterms:W3CDTF">2026-09-22T17:12:12Z</dcterms:modified>
</cp:coreProperties>
</file>