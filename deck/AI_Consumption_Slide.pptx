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THREE QUESTIONS: which team, which application, which provider.
  $79,448 over 50 days, 1,290,499 calls.
  $49,323 attributed to a team, 62.1%.
READ IT TOP TO BOTTOM. The three teams at the top are 97% of everything
attributed. Everything below them is small or has no owner.
THE RED ROWS ARE THE POINT.
  unknown, Claude, insait           $2,849  31,457 calls
  (unlabeled), Azure, insait        $2,260  23,227 calls
  (unlabeled), Azure, solugen       $309  17,502 calls
  untagged Bedrock, no team at all  $28,370
  guardrail fees, no team at all    $1,754
Those are not applications. They are the absence of a name on $35,612,
44.8% of the bill. At $91 and $97 per thousand calls the two
insait rows are production agent traffic with the label missing, not stray
test scripts.
THE UNTAGGED LINE IS BIGGER THAN ANY TEAM WE HAVE. $28,370 against
$21,140 for insait, our largest. It is the single biggest item on the
slide and it belongs to nobody.
IF ASKED ABOUT THE PROVIDER COLUMNS: they are where the money went, not who
we buy from. ai-factory is the only team using all three, and each one does
a different job: Azure for claims-copilot, Claude for the developer cli,
GCP for both OCR pipelines.
IF ASKED WHY SOME TEAMS SHOW A ROLLED LINE: there are 79 application names
and about twenty rows fit on a slide. Every unnamed row is listed whatever
its size; only real, named, small applications are rolled up, and the count
is on the line.
IF ASKED WHETHER THE NUMBERS ARE SOLID: the report's two tables disagree on
dollars by 1.5% and agree on call volumes exactly. It does not move
anything on this slide.
THE ASK: put an application tag on the Bedrock calls. It is gateway
configuration, not a project, and it is what turns this table into a
monthly chargeback.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AI CONSUMPTION, 1 JULY TO 19 AUGUST 2026</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67" b="1" dirty="0">
                <a:solidFill>
                  <a:srgbClr val="F4F7FB"/>
                </a:solidFill>
                <a:latin typeface="Calibri" pitchFamily="34" charset="0"/>
                <a:ea typeface="Calibri" pitchFamily="34" charset="-122"/>
                <a:cs typeface="Calibri" pitchFamily="34" charset="-120"/>
              </a:rPr>
              <a:t>Every team, every application, every provider</a:t>
            </a:r>
            <a:endParaRPr lang="en-US" sz="1867"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$79,448 over 50 days. Rows in red have no application name.</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Cost Explorer actuals where they exist, token estimate where they do not. Untagged Bedrock and guardrail fees are billed on AWS with no application tag, so they belong to no team. $35,612, 45% of the bill, carries no application name.</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0195560" cy="914400"/>
        </p:xfrm>
        <a:graphic>
          <a:graphicData uri="http://schemas.openxmlformats.org/drawingml/2006/table">
            <a:tbl>
              <a:tblPr/>
              <a:tblGrid>
                <a:gridCol w="1417320"/>
                <a:gridCol w="2880360"/>
                <a:gridCol w="1143000"/>
                <a:gridCol w="1325880"/>
                <a:gridCol w="1005840"/>
                <a:gridCol w="1188720"/>
                <a:gridCol w="1234440"/>
              </a:tblGrid>
              <a:tr h="219456">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Claude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Azure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GCP</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19456">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insait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l" indent="0" marL="0">
                        <a:buNone/>
                      </a:pPr>
                      <a:r>
                        <a:rPr lang="en-US" sz="1200" dirty="0">
                          <a:solidFill>
                            <a:srgbClr val="91A0B7"/>
                          </a:solidFill>
                          <a:latin typeface="Calibri" pitchFamily="34" charset="0"/>
                          <a:ea typeface="Calibri" pitchFamily="34" charset="-122"/>
                          <a:cs typeface="Calibri" pitchFamily="34" charset="-120"/>
                        </a:rPr>
                        <a:t>35 applications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$15,047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$3,476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$21,140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188,069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$13,242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$628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$13,870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120,259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F6B7A"/>
                          </a:solidFill>
                          <a:latin typeface="Calibri" pitchFamily="34" charset="0"/>
                          <a:ea typeface="Calibri" pitchFamily="34" charset="-122"/>
                          <a:cs typeface="Calibri" pitchFamily="34" charset="-120"/>
                        </a:rPr>
                        <a:t>unknown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$2,849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$2,849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31,457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$2,260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$2,260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23,227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jeff---pension-copilot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$1,151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$1,151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7,969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536078"/>
                          </a:solidFill>
                          <a:latin typeface="Calibri" pitchFamily="34" charset="0"/>
                          <a:ea typeface="Calibri" pitchFamily="34" charset="-122"/>
                          <a:cs typeface="Calibri" pitchFamily="34" charset="-120"/>
                        </a:rPr>
                        <a:t>29 more applications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$588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$734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5,157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19456">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ai-factory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l" indent="0" marL="0">
                        <a:buNone/>
                      </a:pPr>
                      <a:r>
                        <a:rPr lang="en-US" sz="1200" dirty="0">
                          <a:solidFill>
                            <a:srgbClr val="91A0B7"/>
                          </a:solidFill>
                          <a:latin typeface="Calibri" pitchFamily="34" charset="0"/>
                          <a:ea typeface="Calibri" pitchFamily="34" charset="-122"/>
                          <a:cs typeface="Calibri" pitchFamily="34" charset="-120"/>
                        </a:rPr>
                        <a:t>47 applications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$4,815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$5,547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$4,502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$14,871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408,859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claims-copilot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$5,345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$5,345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274,035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cli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$4,365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$4,365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91,388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ai-factory-idp-ocr-hybrid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$2,394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$2,394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14,844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idp-ocr-hybrid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&lt;$1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$1,989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$1,990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10,832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536078"/>
                          </a:solidFill>
                          <a:latin typeface="Calibri" pitchFamily="34" charset="0"/>
                          <a:ea typeface="Calibri" pitchFamily="34" charset="-122"/>
                          <a:cs typeface="Calibri" pitchFamily="34" charset="-120"/>
                        </a:rPr>
                        <a:t>31 more applications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$199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$116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$343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17,568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19456">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solugen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l" indent="0" marL="0">
                        <a:buNone/>
                      </a:pPr>
                      <a:r>
                        <a:rPr lang="en-US" sz="1200" dirty="0">
                          <a:solidFill>
                            <a:srgbClr val="91A0B7"/>
                          </a:solidFill>
                          <a:latin typeface="Calibri" pitchFamily="34" charset="0"/>
                          <a:ea typeface="Calibri" pitchFamily="34" charset="-122"/>
                          <a:cs typeface="Calibri" pitchFamily="34" charset="-120"/>
                        </a:rPr>
                        <a:t>9 applications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&lt;$1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$11,852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$11,852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661,197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insureGen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$11,537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$11,537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643,475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F6B7A"/>
                          </a:solidFill>
                          <a:latin typeface="Calibri" pitchFamily="34" charset="0"/>
                          <a:ea typeface="Calibri" pitchFamily="34" charset="-122"/>
                          <a:cs typeface="Calibri" pitchFamily="34" charset="-120"/>
                        </a:rPr>
                        <a:t>(unlabeled)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$309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$309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17,504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19456">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536078"/>
                          </a:solidFill>
                          <a:latin typeface="Calibri" pitchFamily="34" charset="0"/>
                          <a:ea typeface="Calibri" pitchFamily="34" charset="-122"/>
                          <a:cs typeface="Calibri" pitchFamily="34" charset="-120"/>
                        </a:rPr>
                        <a:t>6 more applications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&lt;$1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218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19456">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Other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l" indent="0" marL="0">
                        <a:buNone/>
                      </a:pPr>
                      <a:r>
                        <a:rPr lang="en-US" sz="1200" dirty="0">
                          <a:solidFill>
                            <a:srgbClr val="91A0B7"/>
                          </a:solidFill>
                          <a:latin typeface="Calibri" pitchFamily="34" charset="0"/>
                          <a:ea typeface="Calibri" pitchFamily="34" charset="-122"/>
                          <a:cs typeface="Calibri" pitchFamily="34" charset="-120"/>
                        </a:rPr>
                        <a:t>13 more teams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$1,393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$1,461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32,374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r>
              <a:tr h="219456">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No team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l" indent="0" marL="0">
                        <a:buNone/>
                      </a:pPr>
                      <a:r>
                        <a:rPr lang="en-US" sz="1200" dirty="0">
                          <a:solidFill>
                            <a:srgbClr val="FF6B7A"/>
                          </a:solidFill>
                          <a:latin typeface="Calibri" pitchFamily="34" charset="0"/>
                          <a:ea typeface="Calibri" pitchFamily="34" charset="-122"/>
                          <a:cs typeface="Calibri" pitchFamily="34" charset="-120"/>
                        </a:rPr>
                        <a:t>Untagged Bedrock and guardrails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F6B7A"/>
                          </a:solidFill>
                          <a:latin typeface="Calibri" pitchFamily="34" charset="0"/>
                          <a:ea typeface="Calibri" pitchFamily="34" charset="-122"/>
                          <a:cs typeface="Calibri" pitchFamily="34" charset="-120"/>
                        </a:rPr>
                        <a:t>$30,125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F6B7A"/>
                          </a:solidFill>
                          <a:latin typeface="Calibri" pitchFamily="34" charset="0"/>
                          <a:ea typeface="Calibri" pitchFamily="34" charset="-122"/>
                          <a:cs typeface="Calibri" pitchFamily="34" charset="-120"/>
                        </a:rPr>
                        <a:t>$30,125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not reported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r>
              <a:tr h="219456">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l" indent="0" marL="0">
                        <a:buNone/>
                      </a:pPr>
                      <a:r>
                        <a:rPr lang="en-US" sz="1200" dirty="0">
                          <a:solidFill>
                            <a:srgbClr val="91A0B7"/>
                          </a:solidFill>
                          <a:latin typeface="Calibri" pitchFamily="34" charset="0"/>
                          <a:ea typeface="Calibri" pitchFamily="34" charset="-122"/>
                          <a:cs typeface="Calibri" pitchFamily="34" charset="-120"/>
                        </a:rPr>
                        <a:t>the whole AI bill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$53,250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$20,905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$4,540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3DD9EB"/>
                          </a:solidFill>
                          <a:latin typeface="Calibri" pitchFamily="34" charset="0"/>
                          <a:ea typeface="Calibri" pitchFamily="34" charset="-122"/>
                          <a:cs typeface="Calibri" pitchFamily="34" charset="-120"/>
                        </a:rPr>
                        <a:t>$79,448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1,290,499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D2D4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consumption by team and application — Harel</dc:title>
  <dc:subject>PptxGenJS Presentation</dc:subject>
  <dc:creator>Cloud Infrastructure, DevOps &amp; Databases</dc:creator>
  <cp:lastModifiedBy>Cloud Infrastructure, DevOps &amp; Databases</cp:lastModifiedBy>
  <cp:revision>1</cp:revision>
  <dcterms:created xsi:type="dcterms:W3CDTF">2026-09-22T17:12:13Z</dcterms:created>
  <dcterms:modified xsi:type="dcterms:W3CDTF">2026-09-22T17:12:13Z</dcterms:modified>
</cp:coreProperties>
</file>