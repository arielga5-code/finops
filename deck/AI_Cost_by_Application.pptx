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3DD9EB"/>
            </a:solidFill>
            <a:effectLst/>
          </c:spPr>
          <c:invertIfNegative val="0"/>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onedoc-processor-worker</c:v>
                  </c:pt>
                  <c:pt idx="1">
                    <c:v>bedrock-session</c:v>
                  </c:pt>
                  <c:pt idx="2">
                    <c:v>agent (Azure)</c:v>
                  </c:pt>
                  <c:pt idx="3">
                    <c:v>idp-ocr-hybrid (GCP)</c:v>
                  </c:pt>
                  <c:pt idx="4">
                    <c:v>jeff---pension-copilot</c:v>
                  </c:pt>
                  <c:pt idx="5">
                    <c:v>(unlabeled) (Azure)</c:v>
                  </c:pt>
                  <c:pt idx="6">
                    <c:v>ai-factory-idp-ocr-hybrid</c:v>
                  </c:pt>
                  <c:pt idx="7">
                    <c:v>unknown (Claude)</c:v>
                  </c:pt>
                  <c:pt idx="8">
                    <c:v>cli</c:v>
                  </c:pt>
                  <c:pt idx="9">
                    <c:v>claims-copilot (Azure)</c:v>
                  </c:pt>
                  <c:pt idx="10">
                    <c:v>agent (Claude)</c:v>
                  </c:pt>
                  <c:pt idx="11">
                    <c:v>insureGen</c:v>
                  </c:pt>
                </c:lvl>
              </c:multiLvlStrCache>
            </c:multiLvlStrRef>
          </c:cat>
          <c:val>
            <c:numRef>
              <c:f>Sheet1!$B$2:$B$13</c:f>
              <c:numCache>
                <c:formatCode>General</c:formatCode>
                <c:ptCount val="12"/>
                <c:pt idx="0">
                  <c:v>342.87</c:v>
                </c:pt>
                <c:pt idx="1">
                  <c:v>473.5</c:v>
                </c:pt>
                <c:pt idx="2">
                  <c:v>626.96</c:v>
                </c:pt>
                <c:pt idx="3">
                  <c:v>702.08</c:v>
                </c:pt>
                <c:pt idx="4">
                  <c:v>1083.92</c:v>
                </c:pt>
                <c:pt idx="5">
                  <c:v>2242.47</c:v>
                </c:pt>
                <c:pt idx="6">
                  <c:v>2376.46</c:v>
                </c:pt>
                <c:pt idx="7">
                  <c:v>2723.26</c:v>
                </c:pt>
                <c:pt idx="8">
                  <c:v>4187.87</c:v>
                </c:pt>
                <c:pt idx="9">
                  <c:v>5345.28</c:v>
                </c:pt>
                <c:pt idx="10">
                  <c:v>10746.5</c:v>
                </c:pt>
                <c:pt idx="11">
                  <c:v>11486.32</c:v>
                </c:pt>
              </c:numCache>
            </c:numRef>
          </c:val>
        </c:ser>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B07CFF"/>
            </a:solidFill>
            <a:effectLst/>
          </c:spPr>
          <c:invertIfNegative val="0"/>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agent (Azure)</c:v>
                  </c:pt>
                  <c:pt idx="1">
                    <c:v>(unlabeled) (Azure)</c:v>
                  </c:pt>
                  <c:pt idx="2">
                    <c:v>insureGen</c:v>
                  </c:pt>
                  <c:pt idx="3">
                    <c:v>claim-assessor (Azure)</c:v>
                  </c:pt>
                  <c:pt idx="4">
                    <c:v>claims-copilot (Azure)</c:v>
                  </c:pt>
                  <c:pt idx="5">
                    <c:v>onedoc-processor-worker</c:v>
                  </c:pt>
                  <c:pt idx="6">
                    <c:v>cli</c:v>
                  </c:pt>
                  <c:pt idx="7">
                    <c:v>bedrock-session</c:v>
                  </c:pt>
                  <c:pt idx="8">
                    <c:v>unknown (Claude)</c:v>
                  </c:pt>
                  <c:pt idx="9">
                    <c:v>(unlabeled) (Azure)</c:v>
                  </c:pt>
                  <c:pt idx="10">
                    <c:v>agent (Claude)</c:v>
                  </c:pt>
                  <c:pt idx="11">
                    <c:v>jeff---pension-copilot</c:v>
                  </c:pt>
                  <c:pt idx="12">
                    <c:v>ai-factory-idp-ocr-hybrid</c:v>
                  </c:pt>
                </c:lvl>
              </c:multiLvlStrCache>
            </c:multiLvlStrRef>
          </c:cat>
          <c:val>
            <c:numRef>
              <c:f>Sheet1!$B$2:$B$14</c:f>
              <c:numCache>
                <c:formatCode>General</c:formatCode>
                <c:ptCount val="13"/>
                <c:pt idx="0">
                  <c:v>13.865888181174807</c:v>
                </c:pt>
                <c:pt idx="1">
                  <c:v>17.668266483830422</c:v>
                </c:pt>
                <c:pt idx="2">
                  <c:v>17.929837377814824</c:v>
                </c:pt>
                <c:pt idx="3">
                  <c:v>18.367185736853987</c:v>
                </c:pt>
                <c:pt idx="4">
                  <c:v>19.507253252559167</c:v>
                </c:pt>
                <c:pt idx="5">
                  <c:v>31.051439956529617</c:v>
                </c:pt>
                <c:pt idx="6">
                  <c:v>54.18455407625923</c:v>
                </c:pt>
                <c:pt idx="7">
                  <c:v>56.41606100321697</c:v>
                </c:pt>
                <c:pt idx="8">
                  <c:v>89.5927095670483</c:v>
                </c:pt>
                <c:pt idx="9">
                  <c:v>102.73364485981308</c:v>
                </c:pt>
                <c:pt idx="10">
                  <c:v>144.29674387378316</c:v>
                </c:pt>
                <c:pt idx="11">
                  <c:v>145.29758713136732</c:v>
                </c:pt>
                <c:pt idx="12">
                  <c:v>164.0295416896742</c:v>
                </c:pt>
              </c:numCache>
            </c:numRef>
          </c:val>
        </c:ser>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per-application cut, from the AI cost table. It sits alongside
the provider view in the main deck rather than replacing it: that one
answers what we pay Azure, AWS and GCP; this one answers which application
spent it and whether the figure can be checked.
  $43,547 estimated
  1,250,052 invocations
  101 application rows
THE ONE CAVEAT TO STATE UP FRONT: the workbook does not record a date
range. Everything here is 'the period in the export'. If anyone asks
whether this is a month, the honest answer is that the source does not say,
and that is the first thing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PROVIDER
  Azure      $20,594   47.3%   1,015,810 calls  50 rows
  Claude     $19,722   45.3%     214,081 calls  34 rows
  GCP         $3,231    7.4%      20,161 calls  17 rows
The interesting contrast is Azure against Claude: nearly the same money,
but Azure does it over 4.7x the calls. That is the unit-cost slide later on.
Do not let the room anchor on the total. The next slide is the one that
matters, because half of this number has nothing behind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MATTERS.
  Reconciled       $22,480  51.6%
  Estimate only    $21,067  48.4%
WHY: the CE actual column is blank on all 50 Azure rows. The workbook's own
Notes sheet says so, and says the deltas only mean anything where it exists.
THE ONE REAL CHECK WE DO HAVE
  Claude rows with both figures: estimate $19,248, actual $21,673
  the estimate is 12.6% low
GCP LOOKS PERFECT AND IS NOT A CHECK. Its estimate equals its actual to the
cent on every row, which means one column was copied from the other. If
asked, say that plainly rather than counting it as a second confirmation.
WHAT NOT TO CLAIM: the $2,654 is a sensitivity, not a finding. It is what
the gap would be if Azure behaves like Claude, and we have no evidence yet
that it does. Offer it as the reason to go and get the data, not as a number
to put in a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APPLICATIONS
  insureGen                         $11,486   26.4%  estimate only
  agent (Claude)                    $10,747   24.7%  reconciled
  claims-copilot (Azure)             $5,345   12.3%  estimate only
  cli                                $4,188    9.6%  reconciled
  unknown (Claude)                   $2,723    6.3%  reconciled
  ai-factory-idp-ocr-hybrid          $2,376    5.5%  reconciled
  top 1  26.4%
  top 2  51.1%
  top 6  84.7%
THE POINT TO MAKE: this is manageable. Six applications is a list a person
can own. We do not need to govern a hundred things, we need to govern six
and put a floor under the rest.
The largest one, insureGen, is also the one we cannot reconcile.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PER 1,000 INVOCATIONS, applications with at least 5,000 calls:
  ai-factory-idp-ocr-hybrid       $ 164.03/1K     14,488 calls     $2,376
  jeff---pension-copilot          $ 145.30/1K      7,460 calls     $1,084
  agent (Claude)                  $ 144.30/1K     74,475 calls    $10,747
  (unlabeled) (Azure)             $ 102.73/1K     21,828 calls     $2,242
  unknown (Claude)                $  89.59/1K     30,396 calls     $2,723
  bedrock-session                 $  56.42/1K      8,393 calls       $474
  cli                             $  54.18/1K     77,289 calls     $4,188
  onedoc-processor-worker         $  31.05/1K     11,042 calls       $343
  claims-copilot (Azure)          $  19.51/1K    274,015 calls     $5,345
  claim-assessor (Azure)          $  18.37/1K      8,862 calls       $163
  insureGen                       $  17.93/1K    640,626 calls    $11,486
  (unlabeled) (Azure)             $  17.67/1K     17,502 calls       $309
  agent (Azure)                   $  13.87/1K     45,216 calls       $627
TWO DIFFERENT LEVERS, AND THEY GET CONFUSED CONSTANTLY:
  High volume, low unit cost  -&gt;  ask whether the calls are necessary.
  Low volume, high unit cost  -&gt;  ask which model is being called.
The floor of 5,000 calls is deliberate. Below it the per-thousand figure is
arithmetic rather than economics: a $0.05 row over five calls would top this
chart and mean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TEAM, case-folded, reconciled against estimate-only:
  insait         $17,910  reconciled   $14,694  (82%)  33 applications
  ai-factory     $12,954  reconciled    $7,407  (57%)  44 applications
  solugen        $11,801  reconciled        $0  (0%)  4 applications
  10 smaller teams      $883  reconciled      $375  (42%)  20 applications
SOLUGEN IS THE ONE TO NAME: $11,801, entirely on Azure, entirely
unreconciled, and almost all of it one application.
THE SOURCE-DATA TRAP: the workbook's own team sheet lists ai-factory twice,
as 'AI-Factory' and 'ai-factory', each with the full figure. Its team total
comes to $56,501 against the $43,547 on the provider sheet. Every share on
that tab is computed against the inflated number. If someone in the room has
the spreadsheet open, they will see different percentages, and this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DEFECTS, IN PRIORITY ORDER.
1. No CE actual on Azure. $21,067, 48.4% of the estimate, unverifiable.
   This is an export setting, not a project.
2. No date range. Everything here is 'the period in the file'. We cannot
   annualise it or compare it to next month without knowing what it covers.
3. ai-factory counted twice in Summary_Team, once per capitalisation.
   Team sheet totals $56,501, provider sheet totals $43,547.
4. 9 rows named 'unknown' or '(unlabeled)', $5,342. That is money
   nobody can be charged for regardless of what the reconciliation says.
TONE: none of this is anyone's fault and none of it is expensive to fix.
Say it as a to-do list, not as an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in one sentence: give the export a date and give Azure an actuals
column, and this stops being a one-off table.
All four are changes to how the data is produced, not to how AI is used.
Nobody has to stop building anything. That is worth saying explicitly,
because a cost slide in a CIO meeting is usually heard as a restriction.
IF ASKED WHAT IT BUYS: a monthly per-application figure we can defend, which
is the precondition for chargeback and for the quota model on the governance
slides. Without it, the gateway can enforce budgets it cannot prove.
IF ASKED WHAT IT COSTS: nothing to buy. Export configuration plus a tagging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1723136"/>
            <a:ext cx="8229600" cy="274320"/>
          </a:xfrm>
          <a:prstGeom prst="rect">
            <a:avLst/>
          </a:prstGeom>
          <a:noFill/>
          <a:ln/>
        </p:spPr>
        <p:txBody>
          <a:bodyPr wrap="square" lIns="0" tIns="0" rIns="0" bIns="0" rtlCol="0" anchor="ctr"/>
          <a:lstStyle/>
          <a:p>
            <a:pPr indent="0" marL="0">
              <a:buNone/>
            </a:pPr>
            <a:r>
              <a:rPr lang="en-US" sz="1300" b="1" spc="300" kern="0" dirty="0">
                <a:solidFill>
                  <a:srgbClr val="3DD9EB"/>
                </a:solidFill>
                <a:latin typeface="Calibri" pitchFamily="34" charset="0"/>
                <a:ea typeface="Calibri" pitchFamily="34" charset="-122"/>
                <a:cs typeface="Calibri" pitchFamily="34" charset="-120"/>
              </a:rPr>
              <a:t>AI COST BY APPLICATION</a:t>
            </a:r>
            <a:endParaRPr lang="en-US" sz="1300" dirty="0"/>
          </a:p>
        </p:txBody>
      </p:sp>
      <p:sp>
        <p:nvSpPr>
          <p:cNvPr id="6" name="Text 4"/>
          <p:cNvSpPr/>
          <p:nvPr/>
        </p:nvSpPr>
        <p:spPr>
          <a:xfrm>
            <a:off x="457200" y="2070608"/>
            <a:ext cx="8412480" cy="247904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Where the AI money goes,</a:t>
            </a:r>
            <a:endParaRPr lang="en-US" sz="4000" dirty="0"/>
          </a:p>
          <a:p>
            <a:pPr indent="0" marL="0">
              <a:buNone/>
            </a:pPr>
            <a:r>
              <a:rPr lang="en-US" sz="4000" b="1" dirty="0">
                <a:solidFill>
                  <a:srgbClr val="F4F7FB"/>
                </a:solidFill>
                <a:latin typeface="Calibri" pitchFamily="34" charset="0"/>
                <a:ea typeface="Calibri" pitchFamily="34" charset="-122"/>
                <a:cs typeface="Calibri" pitchFamily="34" charset="-120"/>
              </a:rPr>
              <a:t>and what we can prove</a:t>
            </a:r>
            <a:endParaRPr lang="en-US" sz="4000" dirty="0"/>
          </a:p>
        </p:txBody>
      </p:sp>
      <p:sp>
        <p:nvSpPr>
          <p:cNvPr id="7" name="Text 5"/>
          <p:cNvSpPr/>
          <p:nvPr/>
        </p:nvSpPr>
        <p:spPr>
          <a:xfrm>
            <a:off x="457200" y="467766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$43,547 of estimated AI cost across 101 applications and 1,250,052 calls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TOTAL</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Three providers, one bill</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Estimated cost per application, as supplied in the AI cost table.</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One row per application per provider, 101 rows in total. The workbook states no date range, so this is the period contained in the export rather than a named month.</a:t>
            </a:r>
            <a:endParaRPr lang="en-US" sz="1200" dirty="0"/>
          </a:p>
        </p:txBody>
      </p:sp>
      <p:sp>
        <p:nvSpPr>
          <p:cNvPr id="8" name="Text 6"/>
          <p:cNvSpPr/>
          <p:nvPr/>
        </p:nvSpPr>
        <p:spPr>
          <a:xfrm>
            <a:off x="457200" y="1691640"/>
            <a:ext cx="5669280" cy="1371600"/>
          </a:xfrm>
          <a:prstGeom prst="rect">
            <a:avLst/>
          </a:prstGeom>
          <a:noFill/>
          <a:ln/>
        </p:spPr>
        <p:txBody>
          <a:bodyPr wrap="square" lIns="0" tIns="0" rIns="0" bIns="0" rtlCol="0" anchor="ctr"/>
          <a:lstStyle/>
          <a:p>
            <a:pPr indent="0" marL="0">
              <a:buNone/>
            </a:pPr>
            <a:r>
              <a:rPr lang="en-US" sz="9600" b="1" dirty="0">
                <a:solidFill>
                  <a:srgbClr val="F4F7FB"/>
                </a:solidFill>
                <a:latin typeface="Calibri" pitchFamily="34" charset="0"/>
                <a:ea typeface="Calibri" pitchFamily="34" charset="-122"/>
                <a:cs typeface="Calibri" pitchFamily="34" charset="-120"/>
              </a:rPr>
              <a:t>$43,547</a:t>
            </a:r>
            <a:endParaRPr lang="en-US" sz="9600" dirty="0"/>
          </a:p>
        </p:txBody>
      </p:sp>
      <p:sp>
        <p:nvSpPr>
          <p:cNvPr id="9" name="Text 7"/>
          <p:cNvSpPr/>
          <p:nvPr/>
        </p:nvSpPr>
        <p:spPr>
          <a:xfrm>
            <a:off x="457200" y="3063240"/>
            <a:ext cx="5669280" cy="365760"/>
          </a:xfrm>
          <a:prstGeom prst="rect">
            <a:avLst/>
          </a:prstGeom>
          <a:noFill/>
          <a:ln/>
        </p:spPr>
        <p:txBody>
          <a:bodyPr wrap="square" lIns="0" tIns="0" rIns="0" bIns="0" rtlCol="0" anchor="ctr"/>
          <a:lstStyle/>
          <a:p>
            <a:pPr indent="0" marL="0">
              <a:buNone/>
            </a:pPr>
            <a:r>
              <a:rPr lang="en-US" sz="1500" dirty="0">
                <a:solidFill>
                  <a:srgbClr val="91A0B7"/>
                </a:solidFill>
                <a:latin typeface="Calibri" pitchFamily="34" charset="0"/>
                <a:ea typeface="Calibri" pitchFamily="34" charset="-122"/>
                <a:cs typeface="Calibri" pitchFamily="34" charset="-120"/>
              </a:rPr>
              <a:t>estimated AI cost across 101 applications and 1,250,052 invocations</a:t>
            </a:r>
            <a:endParaRPr lang="en-US" sz="1500" dirty="0"/>
          </a:p>
        </p:txBody>
      </p:sp>
      <p:sp>
        <p:nvSpPr>
          <p:cNvPr id="10" name="Text 8"/>
          <p:cNvSpPr/>
          <p:nvPr/>
        </p:nvSpPr>
        <p:spPr>
          <a:xfrm>
            <a:off x="457200" y="3456432"/>
            <a:ext cx="5669280" cy="365760"/>
          </a:xfrm>
          <a:prstGeom prst="rect">
            <a:avLst/>
          </a:prstGeom>
          <a:noFill/>
          <a:ln/>
        </p:spPr>
        <p:txBody>
          <a:bodyPr wrap="square" lIns="0" tIns="0" rIns="0" bIns="0" rtlCol="0" anchor="ctr"/>
          <a:lstStyle/>
          <a:p>
            <a:pPr indent="0" marL="0">
              <a:buNone/>
            </a:pPr>
            <a:r>
              <a:rPr lang="en-US" sz="1700" b="1" dirty="0">
                <a:solidFill>
                  <a:srgbClr val="3DD9EB"/>
                </a:solidFill>
                <a:latin typeface="Calibri" pitchFamily="34" charset="0"/>
                <a:ea typeface="Calibri" pitchFamily="34" charset="-122"/>
                <a:cs typeface="Calibri" pitchFamily="34" charset="-120"/>
              </a:rPr>
              <a:t>Azure and Claude are 93% of it</a:t>
            </a:r>
            <a:endParaRPr lang="en-US" sz="1700" dirty="0"/>
          </a:p>
        </p:txBody>
      </p:sp>
      <p:sp>
        <p:nvSpPr>
          <p:cNvPr id="11" name="Shape 9"/>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sp>
      <p:sp>
        <p:nvSpPr>
          <p:cNvPr id="12" name="Text 10"/>
          <p:cNvSpPr/>
          <p:nvPr/>
        </p:nvSpPr>
        <p:spPr>
          <a:xfrm>
            <a:off x="6693408" y="1682496"/>
            <a:ext cx="4839919" cy="274320"/>
          </a:xfrm>
          <a:prstGeom prst="rect">
            <a:avLst/>
          </a:prstGeom>
          <a:noFill/>
          <a:ln/>
        </p:spPr>
        <p:txBody>
          <a:bodyPr wrap="square" lIns="0" tIns="0" rIns="0" bIns="0" rtlCol="0" anchor="ctr"/>
          <a:lstStyle/>
          <a:p>
            <a:pPr indent="0" marL="0">
              <a:buNone/>
            </a:pPr>
            <a:r>
              <a:rPr lang="en-US" sz="1500" b="1" dirty="0">
                <a:solidFill>
                  <a:srgbClr val="2F8CFF"/>
                </a:solidFill>
                <a:latin typeface="Calibri" pitchFamily="34" charset="0"/>
                <a:ea typeface="Calibri" pitchFamily="34" charset="-122"/>
                <a:cs typeface="Calibri" pitchFamily="34" charset="-120"/>
              </a:rPr>
              <a:t>Azure</a:t>
            </a:r>
            <a:endParaRPr lang="en-US" sz="1500" dirty="0"/>
          </a:p>
        </p:txBody>
      </p:sp>
      <p:sp>
        <p:nvSpPr>
          <p:cNvPr id="13" name="Text 11"/>
          <p:cNvSpPr/>
          <p:nvPr/>
        </p:nvSpPr>
        <p:spPr>
          <a:xfrm>
            <a:off x="6693408" y="197510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$20,594</a:t>
            </a:r>
            <a:endParaRPr lang="en-US" sz="2200" dirty="0"/>
          </a:p>
        </p:txBody>
      </p:sp>
      <p:sp>
        <p:nvSpPr>
          <p:cNvPr id="14" name="Text 12"/>
          <p:cNvSpPr/>
          <p:nvPr/>
        </p:nvSpPr>
        <p:spPr>
          <a:xfrm>
            <a:off x="9113368" y="197510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47.3% of the estimate</a:t>
            </a:r>
            <a:endParaRPr lang="en-US" sz="1200" dirty="0"/>
          </a:p>
        </p:txBody>
      </p:sp>
      <p:sp>
        <p:nvSpPr>
          <p:cNvPr id="15" name="Shape 13"/>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sp>
      <p:sp>
        <p:nvSpPr>
          <p:cNvPr id="16" name="Text 14"/>
          <p:cNvSpPr/>
          <p:nvPr/>
        </p:nvSpPr>
        <p:spPr>
          <a:xfrm>
            <a:off x="6693408" y="2734056"/>
            <a:ext cx="4839919" cy="274320"/>
          </a:xfrm>
          <a:prstGeom prst="rect">
            <a:avLst/>
          </a:prstGeom>
          <a:noFill/>
          <a:ln/>
        </p:spPr>
        <p:txBody>
          <a:bodyPr wrap="square" lIns="0" tIns="0" rIns="0" bIns="0" rtlCol="0" anchor="ctr"/>
          <a:lstStyle/>
          <a:p>
            <a:pPr indent="0" marL="0">
              <a:buNone/>
            </a:pPr>
            <a:r>
              <a:rPr lang="en-US" sz="1500" b="1" dirty="0">
                <a:solidFill>
                  <a:srgbClr val="FF9F43"/>
                </a:solidFill>
                <a:latin typeface="Calibri" pitchFamily="34" charset="0"/>
                <a:ea typeface="Calibri" pitchFamily="34" charset="-122"/>
                <a:cs typeface="Calibri" pitchFamily="34" charset="-120"/>
              </a:rPr>
              <a:t>Claude</a:t>
            </a:r>
            <a:endParaRPr lang="en-US" sz="1500" dirty="0"/>
          </a:p>
        </p:txBody>
      </p:sp>
      <p:sp>
        <p:nvSpPr>
          <p:cNvPr id="17" name="Text 15"/>
          <p:cNvSpPr/>
          <p:nvPr/>
        </p:nvSpPr>
        <p:spPr>
          <a:xfrm>
            <a:off x="6693408" y="302666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$19,722</a:t>
            </a:r>
            <a:endParaRPr lang="en-US" sz="2200" dirty="0"/>
          </a:p>
        </p:txBody>
      </p:sp>
      <p:sp>
        <p:nvSpPr>
          <p:cNvPr id="18" name="Text 16"/>
          <p:cNvSpPr/>
          <p:nvPr/>
        </p:nvSpPr>
        <p:spPr>
          <a:xfrm>
            <a:off x="9113368" y="302666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45.3% of the estimate</a:t>
            </a:r>
            <a:endParaRPr lang="en-US" sz="1200" dirty="0"/>
          </a:p>
        </p:txBody>
      </p:sp>
      <p:sp>
        <p:nvSpPr>
          <p:cNvPr id="19" name="Shape 17"/>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sp>
      <p:sp>
        <p:nvSpPr>
          <p:cNvPr id="20" name="Text 18"/>
          <p:cNvSpPr/>
          <p:nvPr/>
        </p:nvSpPr>
        <p:spPr>
          <a:xfrm>
            <a:off x="6693408" y="3785616"/>
            <a:ext cx="4839919" cy="274320"/>
          </a:xfrm>
          <a:prstGeom prst="rect">
            <a:avLst/>
          </a:prstGeom>
          <a:noFill/>
          <a:ln/>
        </p:spPr>
        <p:txBody>
          <a:bodyPr wrap="square" lIns="0" tIns="0" rIns="0" bIns="0" rtlCol="0" anchor="ctr"/>
          <a:lstStyle/>
          <a:p>
            <a:pPr indent="0" marL="0">
              <a:buNone/>
            </a:pPr>
            <a:r>
              <a:rPr lang="en-US" sz="1500" b="1" dirty="0">
                <a:solidFill>
                  <a:srgbClr val="3DDC97"/>
                </a:solidFill>
                <a:latin typeface="Calibri" pitchFamily="34" charset="0"/>
                <a:ea typeface="Calibri" pitchFamily="34" charset="-122"/>
                <a:cs typeface="Calibri" pitchFamily="34" charset="-120"/>
              </a:rPr>
              <a:t>GCP</a:t>
            </a:r>
            <a:endParaRPr lang="en-US" sz="1500" dirty="0"/>
          </a:p>
        </p:txBody>
      </p:sp>
      <p:sp>
        <p:nvSpPr>
          <p:cNvPr id="21" name="Text 19"/>
          <p:cNvSpPr/>
          <p:nvPr/>
        </p:nvSpPr>
        <p:spPr>
          <a:xfrm>
            <a:off x="6693408" y="407822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$3,231</a:t>
            </a:r>
            <a:endParaRPr lang="en-US" sz="2200" dirty="0"/>
          </a:p>
        </p:txBody>
      </p:sp>
      <p:sp>
        <p:nvSpPr>
          <p:cNvPr id="22" name="Text 20"/>
          <p:cNvSpPr/>
          <p:nvPr/>
        </p:nvSpPr>
        <p:spPr>
          <a:xfrm>
            <a:off x="9113368" y="407822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7.4% of the estimate</a:t>
            </a:r>
            <a:endParaRPr lang="en-US" sz="1200" dirty="0"/>
          </a:p>
        </p:txBody>
      </p:sp>
      <p:sp>
        <p:nvSpPr>
          <p:cNvPr id="23" name="Text 21"/>
          <p:cNvSpPr/>
          <p:nvPr/>
        </p:nvSpPr>
        <p:spPr>
          <a:xfrm>
            <a:off x="457200" y="4069080"/>
            <a:ext cx="5669280"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THE SHAPE OF THIS TELLS YOU</a:t>
            </a:r>
            <a:endParaRPr lang="en-US" sz="1200" dirty="0"/>
          </a:p>
        </p:txBody>
      </p:sp>
      <p:sp>
        <p:nvSpPr>
          <p:cNvPr id="24" name="Shape 22"/>
          <p:cNvSpPr/>
          <p:nvPr/>
        </p:nvSpPr>
        <p:spPr>
          <a:xfrm>
            <a:off x="457200" y="4443984"/>
            <a:ext cx="64008" cy="64008"/>
          </a:xfrm>
          <a:prstGeom prst="rect">
            <a:avLst/>
          </a:prstGeom>
          <a:solidFill>
            <a:srgbClr val="3DD9EB"/>
          </a:solidFill>
          <a:ln w="12700">
            <a:solidFill>
              <a:srgbClr val="3DD9EB"/>
            </a:solidFill>
            <a:prstDash val="solid"/>
          </a:ln>
        </p:spPr>
      </p:sp>
      <p:sp>
        <p:nvSpPr>
          <p:cNvPr id="25" name="Text 23"/>
          <p:cNvSpPr/>
          <p:nvPr/>
        </p:nvSpPr>
        <p:spPr>
          <a:xfrm>
            <a:off x="630936" y="4361688"/>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Azure carries the most calls by far, 1,015,810 of 1,250,052, at the lowest cost per call.</a:t>
            </a:r>
            <a:endParaRPr lang="en-US" sz="1250" dirty="0"/>
          </a:p>
        </p:txBody>
      </p:sp>
      <p:sp>
        <p:nvSpPr>
          <p:cNvPr id="26" name="Shape 24"/>
          <p:cNvSpPr/>
          <p:nvPr/>
        </p:nvSpPr>
        <p:spPr>
          <a:xfrm>
            <a:off x="457200" y="5010912"/>
            <a:ext cx="64008" cy="64008"/>
          </a:xfrm>
          <a:prstGeom prst="rect">
            <a:avLst/>
          </a:prstGeom>
          <a:solidFill>
            <a:srgbClr val="3DD9EB"/>
          </a:solidFill>
          <a:ln w="12700">
            <a:solidFill>
              <a:srgbClr val="3DD9EB"/>
            </a:solidFill>
            <a:prstDash val="solid"/>
          </a:ln>
        </p:spPr>
      </p:sp>
      <p:sp>
        <p:nvSpPr>
          <p:cNvPr id="27" name="Text 25"/>
          <p:cNvSpPr/>
          <p:nvPr/>
        </p:nvSpPr>
        <p:spPr>
          <a:xfrm>
            <a:off x="630936" y="4928616"/>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Claude costs almost as much as Azure on a fifth of the volume, because agent traffic is expensive per call.</a:t>
            </a:r>
            <a:endParaRPr lang="en-US" sz="1250" dirty="0"/>
          </a:p>
        </p:txBody>
      </p:sp>
      <p:sp>
        <p:nvSpPr>
          <p:cNvPr id="28" name="Shape 26"/>
          <p:cNvSpPr/>
          <p:nvPr/>
        </p:nvSpPr>
        <p:spPr>
          <a:xfrm>
            <a:off x="457200" y="5577840"/>
            <a:ext cx="64008" cy="64008"/>
          </a:xfrm>
          <a:prstGeom prst="rect">
            <a:avLst/>
          </a:prstGeom>
          <a:solidFill>
            <a:srgbClr val="3DD9EB"/>
          </a:solidFill>
          <a:ln w="12700">
            <a:solidFill>
              <a:srgbClr val="3DD9EB"/>
            </a:solidFill>
            <a:prstDash val="solid"/>
          </a:ln>
        </p:spPr>
      </p:sp>
      <p:sp>
        <p:nvSpPr>
          <p:cNvPr id="29" name="Text 27"/>
          <p:cNvSpPr/>
          <p:nvPr/>
        </p:nvSpPr>
        <p:spPr>
          <a:xfrm>
            <a:off x="630936" y="5495544"/>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GCP is small and entirely OCR, the two document-intelligence applications.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CONFIDENCE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67" b="1" dirty="0">
                <a:solidFill>
                  <a:srgbClr val="F4F7FB"/>
                </a:solidFill>
                <a:latin typeface="Calibri" pitchFamily="34" charset="0"/>
                <a:ea typeface="Calibri" pitchFamily="34" charset="-122"/>
                <a:cs typeface="Calibri" pitchFamily="34" charset="-120"/>
              </a:rPr>
              <a:t>Half the bill has nothing to check it against</a:t>
            </a:r>
            <a:endParaRPr lang="en-US" sz="1867"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workbook's reconciliation column is blank on every Azure row.</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GCP is not a third data point: its estimate equals its actual to the cent on all 17 rows, so the two columns are one number rather than two measurements. Claude is the only genuine check in the workbook.</a:t>
            </a:r>
            <a:endParaRPr lang="en-US" sz="1200" dirty="0"/>
          </a:p>
        </p:txBody>
      </p:sp>
      <p:sp>
        <p:nvSpPr>
          <p:cNvPr id="8" name="Shape 6"/>
          <p:cNvSpPr/>
          <p:nvPr/>
        </p:nvSpPr>
        <p:spPr>
          <a:xfrm>
            <a:off x="457200" y="1280160"/>
            <a:ext cx="5793253" cy="786384"/>
          </a:xfrm>
          <a:prstGeom prst="roundRect">
            <a:avLst>
              <a:gd name="adj" fmla="val 5814"/>
            </a:avLst>
          </a:prstGeom>
          <a:solidFill>
            <a:srgbClr val="3DD9EB"/>
          </a:solidFill>
          <a:ln w="12700">
            <a:solidFill>
              <a:srgbClr val="3DD9EB"/>
            </a:solidFill>
            <a:prstDash val="solid"/>
          </a:ln>
        </p:spPr>
      </p:sp>
      <p:sp>
        <p:nvSpPr>
          <p:cNvPr id="9" name="Text 7"/>
          <p:cNvSpPr/>
          <p:nvPr/>
        </p:nvSpPr>
        <p:spPr>
          <a:xfrm>
            <a:off x="676656" y="1353312"/>
            <a:ext cx="5354341"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51.6%</a:t>
            </a:r>
            <a:endParaRPr lang="en-US" sz="3000" dirty="0"/>
          </a:p>
        </p:txBody>
      </p:sp>
      <p:sp>
        <p:nvSpPr>
          <p:cNvPr id="10" name="Text 8"/>
          <p:cNvSpPr/>
          <p:nvPr/>
        </p:nvSpPr>
        <p:spPr>
          <a:xfrm>
            <a:off x="676656" y="1755648"/>
            <a:ext cx="5354341"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RECONCILED</a:t>
            </a:r>
            <a:endParaRPr lang="en-US" sz="1200" dirty="0"/>
          </a:p>
        </p:txBody>
      </p:sp>
      <p:sp>
        <p:nvSpPr>
          <p:cNvPr id="11" name="Text 9"/>
          <p:cNvSpPr/>
          <p:nvPr/>
        </p:nvSpPr>
        <p:spPr>
          <a:xfrm>
            <a:off x="676656" y="2157984"/>
            <a:ext cx="5573797"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$22,480, an actual figure exists to compare against</a:t>
            </a:r>
            <a:endParaRPr lang="en-US" sz="1200" dirty="0"/>
          </a:p>
        </p:txBody>
      </p:sp>
      <p:sp>
        <p:nvSpPr>
          <p:cNvPr id="12" name="Shape 10"/>
          <p:cNvSpPr/>
          <p:nvPr/>
        </p:nvSpPr>
        <p:spPr>
          <a:xfrm>
            <a:off x="6305317" y="1280160"/>
            <a:ext cx="5429178" cy="786384"/>
          </a:xfrm>
          <a:prstGeom prst="roundRect">
            <a:avLst>
              <a:gd name="adj" fmla="val 5814"/>
            </a:avLst>
          </a:prstGeom>
          <a:solidFill>
            <a:srgbClr val="E0A030"/>
          </a:solidFill>
          <a:ln w="12700">
            <a:solidFill>
              <a:srgbClr val="E0A030"/>
            </a:solidFill>
            <a:prstDash val="solid"/>
          </a:ln>
        </p:spPr>
      </p:sp>
      <p:sp>
        <p:nvSpPr>
          <p:cNvPr id="13" name="Text 11"/>
          <p:cNvSpPr/>
          <p:nvPr/>
        </p:nvSpPr>
        <p:spPr>
          <a:xfrm>
            <a:off x="6524773" y="1353312"/>
            <a:ext cx="4990266"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48.4%</a:t>
            </a:r>
            <a:endParaRPr lang="en-US" sz="3000" dirty="0"/>
          </a:p>
        </p:txBody>
      </p:sp>
      <p:sp>
        <p:nvSpPr>
          <p:cNvPr id="14" name="Text 12"/>
          <p:cNvSpPr/>
          <p:nvPr/>
        </p:nvSpPr>
        <p:spPr>
          <a:xfrm>
            <a:off x="6524773" y="1755648"/>
            <a:ext cx="4990266"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ESTIMATE ONLY</a:t>
            </a:r>
            <a:endParaRPr lang="en-US" sz="1200" dirty="0"/>
          </a:p>
        </p:txBody>
      </p:sp>
      <p:sp>
        <p:nvSpPr>
          <p:cNvPr id="15" name="Text 13"/>
          <p:cNvSpPr/>
          <p:nvPr/>
        </p:nvSpPr>
        <p:spPr>
          <a:xfrm>
            <a:off x="6524773" y="2157984"/>
            <a:ext cx="5209722"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$21,067, no actual figure in the source at all</a:t>
            </a:r>
            <a:endParaRPr lang="en-US" sz="1200" dirty="0"/>
          </a:p>
        </p:txBody>
      </p:sp>
      <p:sp>
        <p:nvSpPr>
          <p:cNvPr id="16" name="Text 14"/>
          <p:cNvSpPr/>
          <p:nvPr/>
        </p:nvSpPr>
        <p:spPr>
          <a:xfrm>
            <a:off x="457200" y="2569464"/>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The largest applications, and whether each one can be checked</a:t>
            </a:r>
            <a:endParaRPr lang="en-US" sz="1500" dirty="0"/>
          </a:p>
        </p:txBody>
      </p:sp>
      <p:sp>
        <p:nvSpPr>
          <p:cNvPr id="17" name="Text 15"/>
          <p:cNvSpPr/>
          <p:nvPr/>
        </p:nvSpPr>
        <p:spPr>
          <a:xfrm>
            <a:off x="457200" y="2953512"/>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insureGen</a:t>
            </a:r>
            <a:endParaRPr lang="en-US" sz="1300" dirty="0"/>
          </a:p>
        </p:txBody>
      </p:sp>
      <p:sp>
        <p:nvSpPr>
          <p:cNvPr id="18" name="Shape 16"/>
          <p:cNvSpPr/>
          <p:nvPr/>
        </p:nvSpPr>
        <p:spPr>
          <a:xfrm>
            <a:off x="3474720" y="3026664"/>
            <a:ext cx="7071055" cy="146304"/>
          </a:xfrm>
          <a:prstGeom prst="roundRect">
            <a:avLst>
              <a:gd name="adj" fmla="val 50000"/>
            </a:avLst>
          </a:prstGeom>
          <a:solidFill>
            <a:srgbClr val="0E1422"/>
          </a:solidFill>
          <a:ln w="6350">
            <a:solidFill>
              <a:srgbClr val="23304A"/>
            </a:solidFill>
            <a:prstDash val="solid"/>
          </a:ln>
        </p:spPr>
      </p:sp>
      <p:sp>
        <p:nvSpPr>
          <p:cNvPr id="19" name="Shape 17"/>
          <p:cNvSpPr/>
          <p:nvPr/>
        </p:nvSpPr>
        <p:spPr>
          <a:xfrm>
            <a:off x="3474720" y="3026664"/>
            <a:ext cx="7071055" cy="146304"/>
          </a:xfrm>
          <a:prstGeom prst="roundRect">
            <a:avLst>
              <a:gd name="adj" fmla="val 50000"/>
            </a:avLst>
          </a:prstGeom>
          <a:solidFill>
            <a:srgbClr val="E0A030"/>
          </a:solidFill>
          <a:ln w="12700">
            <a:solidFill>
              <a:srgbClr val="E0A030"/>
            </a:solidFill>
            <a:prstDash val="solid"/>
          </a:ln>
        </p:spPr>
      </p:sp>
      <p:sp>
        <p:nvSpPr>
          <p:cNvPr id="20" name="Text 18"/>
          <p:cNvSpPr/>
          <p:nvPr/>
        </p:nvSpPr>
        <p:spPr>
          <a:xfrm>
            <a:off x="10682935" y="2953512"/>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$11,486</a:t>
            </a:r>
            <a:endParaRPr lang="en-US" sz="1200" dirty="0"/>
          </a:p>
        </p:txBody>
      </p:sp>
      <p:sp>
        <p:nvSpPr>
          <p:cNvPr id="21" name="Text 19"/>
          <p:cNvSpPr/>
          <p:nvPr/>
        </p:nvSpPr>
        <p:spPr>
          <a:xfrm>
            <a:off x="457200" y="3293502"/>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agent (Claude)</a:t>
            </a:r>
            <a:endParaRPr lang="en-US" sz="1300" dirty="0"/>
          </a:p>
        </p:txBody>
      </p:sp>
      <p:sp>
        <p:nvSpPr>
          <p:cNvPr id="22" name="Shape 20"/>
          <p:cNvSpPr/>
          <p:nvPr/>
        </p:nvSpPr>
        <p:spPr>
          <a:xfrm>
            <a:off x="3474720" y="3366654"/>
            <a:ext cx="7071055" cy="146304"/>
          </a:xfrm>
          <a:prstGeom prst="roundRect">
            <a:avLst>
              <a:gd name="adj" fmla="val 50000"/>
            </a:avLst>
          </a:prstGeom>
          <a:solidFill>
            <a:srgbClr val="0E1422"/>
          </a:solidFill>
          <a:ln w="6350">
            <a:solidFill>
              <a:srgbClr val="23304A"/>
            </a:solidFill>
            <a:prstDash val="solid"/>
          </a:ln>
        </p:spPr>
      </p:sp>
      <p:sp>
        <p:nvSpPr>
          <p:cNvPr id="23" name="Shape 21"/>
          <p:cNvSpPr/>
          <p:nvPr/>
        </p:nvSpPr>
        <p:spPr>
          <a:xfrm>
            <a:off x="3474720" y="3366654"/>
            <a:ext cx="6615617" cy="146304"/>
          </a:xfrm>
          <a:prstGeom prst="roundRect">
            <a:avLst>
              <a:gd name="adj" fmla="val 50000"/>
            </a:avLst>
          </a:prstGeom>
          <a:solidFill>
            <a:srgbClr val="3DD9EB"/>
          </a:solidFill>
          <a:ln w="12700">
            <a:solidFill>
              <a:srgbClr val="3DD9EB"/>
            </a:solidFill>
            <a:prstDash val="solid"/>
          </a:ln>
        </p:spPr>
      </p:sp>
      <p:sp>
        <p:nvSpPr>
          <p:cNvPr id="24" name="Text 22"/>
          <p:cNvSpPr/>
          <p:nvPr/>
        </p:nvSpPr>
        <p:spPr>
          <a:xfrm>
            <a:off x="10682935" y="3293502"/>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$10,747</a:t>
            </a:r>
            <a:endParaRPr lang="en-US" sz="1200" dirty="0"/>
          </a:p>
        </p:txBody>
      </p:sp>
      <p:sp>
        <p:nvSpPr>
          <p:cNvPr id="25" name="Text 23"/>
          <p:cNvSpPr/>
          <p:nvPr/>
        </p:nvSpPr>
        <p:spPr>
          <a:xfrm>
            <a:off x="457200" y="3633491"/>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claims-copilot (Azure)</a:t>
            </a:r>
            <a:endParaRPr lang="en-US" sz="1300" dirty="0"/>
          </a:p>
        </p:txBody>
      </p:sp>
      <p:sp>
        <p:nvSpPr>
          <p:cNvPr id="26" name="Shape 24"/>
          <p:cNvSpPr/>
          <p:nvPr/>
        </p:nvSpPr>
        <p:spPr>
          <a:xfrm>
            <a:off x="3474720" y="3706643"/>
            <a:ext cx="7071055" cy="146304"/>
          </a:xfrm>
          <a:prstGeom prst="roundRect">
            <a:avLst>
              <a:gd name="adj" fmla="val 50000"/>
            </a:avLst>
          </a:prstGeom>
          <a:solidFill>
            <a:srgbClr val="0E1422"/>
          </a:solidFill>
          <a:ln w="6350">
            <a:solidFill>
              <a:srgbClr val="23304A"/>
            </a:solidFill>
            <a:prstDash val="solid"/>
          </a:ln>
        </p:spPr>
      </p:sp>
      <p:sp>
        <p:nvSpPr>
          <p:cNvPr id="27" name="Shape 25"/>
          <p:cNvSpPr/>
          <p:nvPr/>
        </p:nvSpPr>
        <p:spPr>
          <a:xfrm>
            <a:off x="3474720" y="3706643"/>
            <a:ext cx="3290590" cy="146304"/>
          </a:xfrm>
          <a:prstGeom prst="roundRect">
            <a:avLst>
              <a:gd name="adj" fmla="val 50000"/>
            </a:avLst>
          </a:prstGeom>
          <a:solidFill>
            <a:srgbClr val="E0A030"/>
          </a:solidFill>
          <a:ln w="12700">
            <a:solidFill>
              <a:srgbClr val="E0A030"/>
            </a:solidFill>
            <a:prstDash val="solid"/>
          </a:ln>
        </p:spPr>
      </p:sp>
      <p:sp>
        <p:nvSpPr>
          <p:cNvPr id="28" name="Text 26"/>
          <p:cNvSpPr/>
          <p:nvPr/>
        </p:nvSpPr>
        <p:spPr>
          <a:xfrm>
            <a:off x="10682935" y="3633491"/>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$5,345</a:t>
            </a:r>
            <a:endParaRPr lang="en-US" sz="1200" dirty="0"/>
          </a:p>
        </p:txBody>
      </p:sp>
      <p:sp>
        <p:nvSpPr>
          <p:cNvPr id="29" name="Text 27"/>
          <p:cNvSpPr/>
          <p:nvPr/>
        </p:nvSpPr>
        <p:spPr>
          <a:xfrm>
            <a:off x="457200" y="3973481"/>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cli</a:t>
            </a:r>
            <a:endParaRPr lang="en-US" sz="1300" dirty="0"/>
          </a:p>
        </p:txBody>
      </p:sp>
      <p:sp>
        <p:nvSpPr>
          <p:cNvPr id="30" name="Shape 28"/>
          <p:cNvSpPr/>
          <p:nvPr/>
        </p:nvSpPr>
        <p:spPr>
          <a:xfrm>
            <a:off x="3474720" y="4046633"/>
            <a:ext cx="7071055" cy="146304"/>
          </a:xfrm>
          <a:prstGeom prst="roundRect">
            <a:avLst>
              <a:gd name="adj" fmla="val 50000"/>
            </a:avLst>
          </a:prstGeom>
          <a:solidFill>
            <a:srgbClr val="0E1422"/>
          </a:solidFill>
          <a:ln w="6350">
            <a:solidFill>
              <a:srgbClr val="23304A"/>
            </a:solidFill>
            <a:prstDash val="solid"/>
          </a:ln>
        </p:spPr>
      </p:sp>
      <p:sp>
        <p:nvSpPr>
          <p:cNvPr id="31" name="Shape 29"/>
          <p:cNvSpPr/>
          <p:nvPr/>
        </p:nvSpPr>
        <p:spPr>
          <a:xfrm>
            <a:off x="3474720" y="4046633"/>
            <a:ext cx="2578081" cy="146304"/>
          </a:xfrm>
          <a:prstGeom prst="roundRect">
            <a:avLst>
              <a:gd name="adj" fmla="val 50000"/>
            </a:avLst>
          </a:prstGeom>
          <a:solidFill>
            <a:srgbClr val="3DD9EB"/>
          </a:solidFill>
          <a:ln w="12700">
            <a:solidFill>
              <a:srgbClr val="3DD9EB"/>
            </a:solidFill>
            <a:prstDash val="solid"/>
          </a:ln>
        </p:spPr>
      </p:sp>
      <p:sp>
        <p:nvSpPr>
          <p:cNvPr id="32" name="Text 30"/>
          <p:cNvSpPr/>
          <p:nvPr/>
        </p:nvSpPr>
        <p:spPr>
          <a:xfrm>
            <a:off x="10682935" y="3973481"/>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$4,188</a:t>
            </a:r>
            <a:endParaRPr lang="en-US" sz="1200" dirty="0"/>
          </a:p>
        </p:txBody>
      </p:sp>
      <p:sp>
        <p:nvSpPr>
          <p:cNvPr id="33" name="Text 31"/>
          <p:cNvSpPr/>
          <p:nvPr/>
        </p:nvSpPr>
        <p:spPr>
          <a:xfrm>
            <a:off x="457200" y="4313470"/>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unknown (Claude)</a:t>
            </a:r>
            <a:endParaRPr lang="en-US" sz="1300" dirty="0"/>
          </a:p>
        </p:txBody>
      </p:sp>
      <p:sp>
        <p:nvSpPr>
          <p:cNvPr id="34" name="Shape 32"/>
          <p:cNvSpPr/>
          <p:nvPr/>
        </p:nvSpPr>
        <p:spPr>
          <a:xfrm>
            <a:off x="3474720" y="4386622"/>
            <a:ext cx="7071055" cy="146304"/>
          </a:xfrm>
          <a:prstGeom prst="roundRect">
            <a:avLst>
              <a:gd name="adj" fmla="val 50000"/>
            </a:avLst>
          </a:prstGeom>
          <a:solidFill>
            <a:srgbClr val="0E1422"/>
          </a:solidFill>
          <a:ln w="6350">
            <a:solidFill>
              <a:srgbClr val="23304A"/>
            </a:solidFill>
            <a:prstDash val="solid"/>
          </a:ln>
        </p:spPr>
      </p:sp>
      <p:sp>
        <p:nvSpPr>
          <p:cNvPr id="35" name="Shape 33"/>
          <p:cNvSpPr/>
          <p:nvPr/>
        </p:nvSpPr>
        <p:spPr>
          <a:xfrm>
            <a:off x="3474720" y="4386622"/>
            <a:ext cx="1676457" cy="146304"/>
          </a:xfrm>
          <a:prstGeom prst="roundRect">
            <a:avLst>
              <a:gd name="adj" fmla="val 50000"/>
            </a:avLst>
          </a:prstGeom>
          <a:solidFill>
            <a:srgbClr val="3DD9EB"/>
          </a:solidFill>
          <a:ln w="12700">
            <a:solidFill>
              <a:srgbClr val="3DD9EB"/>
            </a:solidFill>
            <a:prstDash val="solid"/>
          </a:ln>
        </p:spPr>
      </p:sp>
      <p:sp>
        <p:nvSpPr>
          <p:cNvPr id="36" name="Text 34"/>
          <p:cNvSpPr/>
          <p:nvPr/>
        </p:nvSpPr>
        <p:spPr>
          <a:xfrm>
            <a:off x="10682935" y="4313470"/>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$2,723</a:t>
            </a:r>
            <a:endParaRPr lang="en-US" sz="1200" dirty="0"/>
          </a:p>
        </p:txBody>
      </p:sp>
      <p:sp>
        <p:nvSpPr>
          <p:cNvPr id="37" name="Text 35"/>
          <p:cNvSpPr/>
          <p:nvPr/>
        </p:nvSpPr>
        <p:spPr>
          <a:xfrm>
            <a:off x="457200" y="4653460"/>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ai-factory-idp-ocr-hybrid</a:t>
            </a:r>
            <a:endParaRPr lang="en-US" sz="1300" dirty="0"/>
          </a:p>
        </p:txBody>
      </p:sp>
      <p:sp>
        <p:nvSpPr>
          <p:cNvPr id="38" name="Shape 36"/>
          <p:cNvSpPr/>
          <p:nvPr/>
        </p:nvSpPr>
        <p:spPr>
          <a:xfrm>
            <a:off x="3474720" y="4726612"/>
            <a:ext cx="7071055" cy="146304"/>
          </a:xfrm>
          <a:prstGeom prst="roundRect">
            <a:avLst>
              <a:gd name="adj" fmla="val 50000"/>
            </a:avLst>
          </a:prstGeom>
          <a:solidFill>
            <a:srgbClr val="0E1422"/>
          </a:solidFill>
          <a:ln w="6350">
            <a:solidFill>
              <a:srgbClr val="23304A"/>
            </a:solidFill>
            <a:prstDash val="solid"/>
          </a:ln>
        </p:spPr>
      </p:sp>
      <p:sp>
        <p:nvSpPr>
          <p:cNvPr id="39" name="Shape 37"/>
          <p:cNvSpPr/>
          <p:nvPr/>
        </p:nvSpPr>
        <p:spPr>
          <a:xfrm>
            <a:off x="3474720" y="4726612"/>
            <a:ext cx="1462965" cy="146304"/>
          </a:xfrm>
          <a:prstGeom prst="roundRect">
            <a:avLst>
              <a:gd name="adj" fmla="val 50000"/>
            </a:avLst>
          </a:prstGeom>
          <a:solidFill>
            <a:srgbClr val="3DD9EB"/>
          </a:solidFill>
          <a:ln w="12700">
            <a:solidFill>
              <a:srgbClr val="3DD9EB"/>
            </a:solidFill>
            <a:prstDash val="solid"/>
          </a:ln>
        </p:spPr>
      </p:sp>
      <p:sp>
        <p:nvSpPr>
          <p:cNvPr id="40" name="Text 38"/>
          <p:cNvSpPr/>
          <p:nvPr/>
        </p:nvSpPr>
        <p:spPr>
          <a:xfrm>
            <a:off x="10682935" y="4653460"/>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$2,376</a:t>
            </a:r>
            <a:endParaRPr lang="en-US" sz="1200" dirty="0"/>
          </a:p>
        </p:txBody>
      </p:sp>
      <p:sp>
        <p:nvSpPr>
          <p:cNvPr id="41" name="Shape 39"/>
          <p:cNvSpPr/>
          <p:nvPr/>
        </p:nvSpPr>
        <p:spPr>
          <a:xfrm>
            <a:off x="457200" y="5176330"/>
            <a:ext cx="11277295" cy="1041591"/>
          </a:xfrm>
          <a:prstGeom prst="roundRect">
            <a:avLst>
              <a:gd name="adj" fmla="val 5267"/>
            </a:avLst>
          </a:prstGeom>
          <a:solidFill>
            <a:srgbClr val="121B2D"/>
          </a:solidFill>
          <a:ln w="12700">
            <a:solidFill>
              <a:srgbClr val="E0A030"/>
            </a:solidFill>
            <a:prstDash val="solid"/>
          </a:ln>
        </p:spPr>
      </p:sp>
      <p:sp>
        <p:nvSpPr>
          <p:cNvPr id="42" name="Text 40"/>
          <p:cNvSpPr/>
          <p:nvPr/>
        </p:nvSpPr>
        <p:spPr>
          <a:xfrm>
            <a:off x="685800" y="5286058"/>
            <a:ext cx="10820095" cy="292608"/>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Where the estimate can be checked, it is running 12.6% low</a:t>
            </a:r>
            <a:endParaRPr lang="en-US" sz="1600" dirty="0"/>
          </a:p>
        </p:txBody>
      </p:sp>
      <p:sp>
        <p:nvSpPr>
          <p:cNvPr id="43" name="Text 41"/>
          <p:cNvSpPr/>
          <p:nvPr/>
        </p:nvSpPr>
        <p:spPr>
          <a:xfrm>
            <a:off x="685800" y="5615242"/>
            <a:ext cx="10820095" cy="474663"/>
          </a:xfrm>
          <a:prstGeom prst="rect">
            <a:avLst/>
          </a:prstGeom>
          <a:noFill/>
          <a:ln/>
        </p:spPr>
        <p:txBody>
          <a:bodyPr wrap="square" lIns="0" tIns="0" rIns="0" bIns="0" rtlCol="0" anchor="t"/>
          <a:lstStyle/>
          <a:p>
            <a:pPr indent="0" marL="0">
              <a:lnSpc>
                <a:spcPct val="115000"/>
              </a:lnSpc>
              <a:buNone/>
            </a:pPr>
            <a:r>
              <a:rPr lang="en-US" sz="1300" dirty="0">
                <a:solidFill>
                  <a:srgbClr val="91A0B7"/>
                </a:solidFill>
                <a:latin typeface="Calibri" pitchFamily="34" charset="0"/>
                <a:ea typeface="Calibri" pitchFamily="34" charset="-122"/>
                <a:cs typeface="Calibri" pitchFamily="34" charset="-120"/>
              </a:rPr>
              <a:t>On the Claude rows that carry both figures, the estimate says $19,248 and the actual says $21,673. Applied to the unreconciled half, that gap would be about $2,654.</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CONCENTRATION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Two applications are half of it, 95 more are 15%</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Estimated cost per application, largest first.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Concentration is the good news: 85% of the bill sits in six applications, so governing six of them governs most of the spend. The tail is noise by value but not by count, and it is where the untagged rows hide.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Estimated cost by application, top 12</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APPLICATION</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$11,486</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insureGen, 26.4% of the bill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TOP TWO TOGETHER</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51.1%</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of all estimated AI cost</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THE LONG TAIL</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91 apps</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under $500 each, 4.7% of the bill between them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UNIT COST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710" b="1" dirty="0">
                <a:solidFill>
                  <a:srgbClr val="F4F7FB"/>
                </a:solidFill>
                <a:latin typeface="Calibri" pitchFamily="34" charset="0"/>
                <a:ea typeface="Calibri" pitchFamily="34" charset="-122"/>
                <a:cs typeface="Calibri" pitchFamily="34" charset="-120"/>
              </a:rPr>
              <a:t>The same call costs $14 or $164</a:t>
            </a:r>
            <a:endParaRPr lang="en-US" sz="271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Cost per 1,000 invocations. Applications with at least 5,000 calls.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Volume and cost are not the same problem. insureGen is the largest line in the bill and among the cheapest per call, so the lever there is whether the calls are needed. The expensive-per-call applications are agent workloads, where the lever is model choice.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Estimated cost per 1,000 invocations</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DEAREST PER CALL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$164</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per 1,000, ai-factory-idp-ocr-hybrid</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CHEAPEST PER CALL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$14</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per 1,000, agent (Azure)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BIGGEST APPLICATION</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$18</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per 1,000, and it is the cheap end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OWNERSHIP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100" b="1" dirty="0">
                <a:solidFill>
                  <a:srgbClr val="F4F7FB"/>
                </a:solidFill>
                <a:latin typeface="Calibri" pitchFamily="34" charset="0"/>
                <a:ea typeface="Calibri" pitchFamily="34" charset="-122"/>
                <a:cs typeface="Calibri" pitchFamily="34" charset="-120"/>
              </a:rPr>
              <a:t>Which teams can answer for their AI bill</a:t>
            </a:r>
            <a:endParaRPr lang="en-US" sz="21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Estimated cost by team, and how much of each has an actual figure behind it.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Team names are taken from the tag as written. The source sheet lists ai-factory twice, once capitalised and once not, and counts it twice, which is why its team totals do not match its provider totals. These figures fold the two together.</a:t>
            </a:r>
            <a:endParaRPr lang="en-US" sz="1200" dirty="0"/>
          </a:p>
        </p:txBody>
      </p:sp>
      <p:sp>
        <p:nvSpPr>
          <p:cNvPr id="8" name="Shape 6"/>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TEAMS WITH SPEND</a:t>
            </a:r>
            <a:endParaRPr lang="en-US" sz="1200" dirty="0"/>
          </a:p>
        </p:txBody>
      </p:sp>
      <p:sp>
        <p:nvSpPr>
          <p:cNvPr id="10" name="Text 8"/>
          <p:cNvSpPr/>
          <p:nvPr/>
        </p:nvSpPr>
        <p:spPr>
          <a:xfrm>
            <a:off x="658368"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13</a:t>
            </a:r>
            <a:endParaRPr lang="en-US" sz="2800" dirty="0"/>
          </a:p>
        </p:txBody>
      </p:sp>
      <p:sp>
        <p:nvSpPr>
          <p:cNvPr id="11" name="Text 9"/>
          <p:cNvSpPr/>
          <p:nvPr/>
        </p:nvSpPr>
        <p:spPr>
          <a:xfrm>
            <a:off x="658368"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after folding the duplicate casing in the source</a:t>
            </a:r>
            <a:endParaRPr lang="en-US" sz="1200" dirty="0"/>
          </a:p>
        </p:txBody>
      </p:sp>
      <p:sp>
        <p:nvSpPr>
          <p:cNvPr id="12" name="Shape 10"/>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TOP THREE TEAMS</a:t>
            </a:r>
            <a:endParaRPr lang="en-US" sz="1200" dirty="0"/>
          </a:p>
        </p:txBody>
      </p:sp>
      <p:sp>
        <p:nvSpPr>
          <p:cNvPr id="14" name="Text 12"/>
          <p:cNvSpPr/>
          <p:nvPr/>
        </p:nvSpPr>
        <p:spPr>
          <a:xfrm>
            <a:off x="4493666"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98.0%</a:t>
            </a:r>
            <a:endParaRPr lang="en-US" sz="2800" dirty="0"/>
          </a:p>
        </p:txBody>
      </p:sp>
      <p:sp>
        <p:nvSpPr>
          <p:cNvPr id="15" name="Text 13"/>
          <p:cNvSpPr/>
          <p:nvPr/>
        </p:nvSpPr>
        <p:spPr>
          <a:xfrm>
            <a:off x="4493666"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insait, ai-factory, solugen</a:t>
            </a:r>
            <a:endParaRPr lang="en-US" sz="1200" dirty="0"/>
          </a:p>
        </p:txBody>
      </p:sp>
      <p:sp>
        <p:nvSpPr>
          <p:cNvPr id="16" name="Shape 14"/>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FULLY UNRECONCILED</a:t>
            </a:r>
            <a:endParaRPr lang="en-US" sz="1200" dirty="0"/>
          </a:p>
        </p:txBody>
      </p:sp>
      <p:sp>
        <p:nvSpPr>
          <p:cNvPr id="18" name="Text 16"/>
          <p:cNvSpPr/>
          <p:nvPr/>
        </p:nvSpPr>
        <p:spPr>
          <a:xfrm>
            <a:off x="8328965"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$11,801</a:t>
            </a:r>
            <a:endParaRPr lang="en-US" sz="2800" dirty="0"/>
          </a:p>
        </p:txBody>
      </p:sp>
      <p:sp>
        <p:nvSpPr>
          <p:cNvPr id="19" name="Text 17"/>
          <p:cNvSpPr/>
          <p:nvPr/>
        </p:nvSpPr>
        <p:spPr>
          <a:xfrm>
            <a:off x="8328965"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solugen, no actual figure at all</a:t>
            </a:r>
            <a:endParaRPr lang="en-US" sz="1200" dirty="0"/>
          </a:p>
        </p:txBody>
      </p:sp>
      <p:sp>
        <p:nvSpPr>
          <p:cNvPr id="20" name="Text 18"/>
          <p:cNvSpPr/>
          <p:nvPr/>
        </p:nvSpPr>
        <p:spPr>
          <a:xfrm>
            <a:off x="457200" y="2514600"/>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Estimated cost by team</a:t>
            </a:r>
            <a:endParaRPr lang="en-US" sz="1500" dirty="0"/>
          </a:p>
        </p:txBody>
      </p:sp>
      <p:sp>
        <p:nvSpPr>
          <p:cNvPr id="21" name="Text 19"/>
          <p:cNvSpPr/>
          <p:nvPr/>
        </p:nvSpPr>
        <p:spPr>
          <a:xfrm>
            <a:off x="10578694" y="2514600"/>
            <a:ext cx="1155802" cy="237744"/>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Estimate only</a:t>
            </a:r>
            <a:endParaRPr lang="en-US" sz="1200" dirty="0"/>
          </a:p>
        </p:txBody>
      </p:sp>
      <p:sp>
        <p:nvSpPr>
          <p:cNvPr id="22" name="Shape 20"/>
          <p:cNvSpPr/>
          <p:nvPr/>
        </p:nvSpPr>
        <p:spPr>
          <a:xfrm>
            <a:off x="10377526" y="2569464"/>
            <a:ext cx="128016" cy="128016"/>
          </a:xfrm>
          <a:prstGeom prst="rect">
            <a:avLst/>
          </a:prstGeom>
          <a:solidFill>
            <a:srgbClr val="E0A030"/>
          </a:solidFill>
          <a:ln w="12700">
            <a:solidFill>
              <a:srgbClr val="E0A030"/>
            </a:solidFill>
            <a:prstDash val="solid"/>
          </a:ln>
        </p:spPr>
      </p:sp>
      <p:sp>
        <p:nvSpPr>
          <p:cNvPr id="23" name="Text 21"/>
          <p:cNvSpPr/>
          <p:nvPr/>
        </p:nvSpPr>
        <p:spPr>
          <a:xfrm>
            <a:off x="9298534" y="2514600"/>
            <a:ext cx="914400" cy="237744"/>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Reconciled</a:t>
            </a:r>
            <a:endParaRPr lang="en-US" sz="1200" dirty="0"/>
          </a:p>
        </p:txBody>
      </p:sp>
      <p:sp>
        <p:nvSpPr>
          <p:cNvPr id="24" name="Shape 22"/>
          <p:cNvSpPr/>
          <p:nvPr/>
        </p:nvSpPr>
        <p:spPr>
          <a:xfrm>
            <a:off x="9097366" y="2569464"/>
            <a:ext cx="128016" cy="128016"/>
          </a:xfrm>
          <a:prstGeom prst="rect">
            <a:avLst/>
          </a:prstGeom>
          <a:solidFill>
            <a:srgbClr val="3DD9EB"/>
          </a:solidFill>
          <a:ln w="12700">
            <a:solidFill>
              <a:srgbClr val="3DD9EB"/>
            </a:solidFill>
            <a:prstDash val="solid"/>
          </a:ln>
        </p:spPr>
      </p:sp>
      <p:sp>
        <p:nvSpPr>
          <p:cNvPr id="25" name="Text 23"/>
          <p:cNvSpPr/>
          <p:nvPr/>
        </p:nvSpPr>
        <p:spPr>
          <a:xfrm>
            <a:off x="457200" y="2880360"/>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insait</a:t>
            </a:r>
            <a:endParaRPr lang="en-US" sz="1200" dirty="0"/>
          </a:p>
        </p:txBody>
      </p:sp>
      <p:sp>
        <p:nvSpPr>
          <p:cNvPr id="26" name="Text 24"/>
          <p:cNvSpPr/>
          <p:nvPr/>
        </p:nvSpPr>
        <p:spPr>
          <a:xfrm>
            <a:off x="9539935" y="2880360"/>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33 applications</a:t>
            </a:r>
            <a:endParaRPr lang="en-US" sz="1200" dirty="0"/>
          </a:p>
        </p:txBody>
      </p:sp>
      <p:sp>
        <p:nvSpPr>
          <p:cNvPr id="27" name="Shape 25"/>
          <p:cNvSpPr/>
          <p:nvPr/>
        </p:nvSpPr>
        <p:spPr>
          <a:xfrm>
            <a:off x="457200" y="3120396"/>
            <a:ext cx="9905695" cy="324888"/>
          </a:xfrm>
          <a:prstGeom prst="rect">
            <a:avLst/>
          </a:prstGeom>
          <a:solidFill>
            <a:srgbClr val="0E1422"/>
          </a:solidFill>
          <a:ln w="9525">
            <a:solidFill>
              <a:srgbClr val="23304A"/>
            </a:solidFill>
            <a:prstDash val="solid"/>
          </a:ln>
        </p:spPr>
      </p:sp>
      <p:sp>
        <p:nvSpPr>
          <p:cNvPr id="28" name="Shape 26"/>
          <p:cNvSpPr/>
          <p:nvPr/>
        </p:nvSpPr>
        <p:spPr>
          <a:xfrm>
            <a:off x="457200" y="3120396"/>
            <a:ext cx="8127205" cy="324888"/>
          </a:xfrm>
          <a:prstGeom prst="rect">
            <a:avLst/>
          </a:prstGeom>
          <a:solidFill>
            <a:srgbClr val="3DD9EB"/>
          </a:solidFill>
          <a:ln w="12700">
            <a:solidFill>
              <a:srgbClr val="3DD9EB"/>
            </a:solidFill>
            <a:prstDash val="solid"/>
          </a:ln>
        </p:spPr>
      </p:sp>
      <p:sp>
        <p:nvSpPr>
          <p:cNvPr id="29" name="Shape 27"/>
          <p:cNvSpPr/>
          <p:nvPr/>
        </p:nvSpPr>
        <p:spPr>
          <a:xfrm>
            <a:off x="8584405" y="3120396"/>
            <a:ext cx="1778490" cy="324888"/>
          </a:xfrm>
          <a:prstGeom prst="rect">
            <a:avLst/>
          </a:prstGeom>
          <a:solidFill>
            <a:srgbClr val="E0A030"/>
          </a:solidFill>
          <a:ln w="12700">
            <a:solidFill>
              <a:srgbClr val="E0A030"/>
            </a:solidFill>
            <a:prstDash val="solid"/>
          </a:ln>
        </p:spPr>
      </p:sp>
      <p:sp>
        <p:nvSpPr>
          <p:cNvPr id="30" name="Text 28"/>
          <p:cNvSpPr/>
          <p:nvPr/>
        </p:nvSpPr>
        <p:spPr>
          <a:xfrm>
            <a:off x="10500055" y="3120396"/>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$17,910</a:t>
            </a:r>
            <a:endParaRPr lang="en-US" sz="1300" dirty="0"/>
          </a:p>
        </p:txBody>
      </p:sp>
      <p:sp>
        <p:nvSpPr>
          <p:cNvPr id="31" name="Text 29"/>
          <p:cNvSpPr/>
          <p:nvPr/>
        </p:nvSpPr>
        <p:spPr>
          <a:xfrm>
            <a:off x="457200" y="3476244"/>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82% reconciled, 18% estimate only</a:t>
            </a:r>
            <a:endParaRPr lang="en-US" sz="1200" dirty="0"/>
          </a:p>
        </p:txBody>
      </p:sp>
      <p:sp>
        <p:nvSpPr>
          <p:cNvPr id="32" name="Text 30"/>
          <p:cNvSpPr/>
          <p:nvPr/>
        </p:nvSpPr>
        <p:spPr>
          <a:xfrm>
            <a:off x="457200" y="3721608"/>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ai-factory</a:t>
            </a:r>
            <a:endParaRPr lang="en-US" sz="1200" dirty="0"/>
          </a:p>
        </p:txBody>
      </p:sp>
      <p:sp>
        <p:nvSpPr>
          <p:cNvPr id="33" name="Text 31"/>
          <p:cNvSpPr/>
          <p:nvPr/>
        </p:nvSpPr>
        <p:spPr>
          <a:xfrm>
            <a:off x="9539935" y="3721608"/>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44 applications</a:t>
            </a:r>
            <a:endParaRPr lang="en-US" sz="1200" dirty="0"/>
          </a:p>
        </p:txBody>
      </p:sp>
      <p:sp>
        <p:nvSpPr>
          <p:cNvPr id="34" name="Shape 32"/>
          <p:cNvSpPr/>
          <p:nvPr/>
        </p:nvSpPr>
        <p:spPr>
          <a:xfrm>
            <a:off x="457200" y="3961644"/>
            <a:ext cx="9905695" cy="324888"/>
          </a:xfrm>
          <a:prstGeom prst="rect">
            <a:avLst/>
          </a:prstGeom>
          <a:solidFill>
            <a:srgbClr val="0E1422"/>
          </a:solidFill>
          <a:ln w="9525">
            <a:solidFill>
              <a:srgbClr val="23304A"/>
            </a:solidFill>
            <a:prstDash val="solid"/>
          </a:ln>
        </p:spPr>
      </p:sp>
      <p:sp>
        <p:nvSpPr>
          <p:cNvPr id="35" name="Shape 33"/>
          <p:cNvSpPr/>
          <p:nvPr/>
        </p:nvSpPr>
        <p:spPr>
          <a:xfrm>
            <a:off x="457200" y="3961644"/>
            <a:ext cx="4096741" cy="324888"/>
          </a:xfrm>
          <a:prstGeom prst="rect">
            <a:avLst/>
          </a:prstGeom>
          <a:solidFill>
            <a:srgbClr val="3DD9EB"/>
          </a:solidFill>
          <a:ln w="12700">
            <a:solidFill>
              <a:srgbClr val="3DD9EB"/>
            </a:solidFill>
            <a:prstDash val="solid"/>
          </a:ln>
        </p:spPr>
      </p:sp>
      <p:sp>
        <p:nvSpPr>
          <p:cNvPr id="36" name="Shape 34"/>
          <p:cNvSpPr/>
          <p:nvPr/>
        </p:nvSpPr>
        <p:spPr>
          <a:xfrm>
            <a:off x="4553941" y="3961644"/>
            <a:ext cx="3067816" cy="324888"/>
          </a:xfrm>
          <a:prstGeom prst="rect">
            <a:avLst/>
          </a:prstGeom>
          <a:solidFill>
            <a:srgbClr val="E0A030"/>
          </a:solidFill>
          <a:ln w="12700">
            <a:solidFill>
              <a:srgbClr val="E0A030"/>
            </a:solidFill>
            <a:prstDash val="solid"/>
          </a:ln>
        </p:spPr>
      </p:sp>
      <p:sp>
        <p:nvSpPr>
          <p:cNvPr id="37" name="Text 35"/>
          <p:cNvSpPr/>
          <p:nvPr/>
        </p:nvSpPr>
        <p:spPr>
          <a:xfrm>
            <a:off x="10500055" y="3961644"/>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$12,954</a:t>
            </a:r>
            <a:endParaRPr lang="en-US" sz="1300" dirty="0"/>
          </a:p>
        </p:txBody>
      </p:sp>
      <p:sp>
        <p:nvSpPr>
          <p:cNvPr id="38" name="Text 36"/>
          <p:cNvSpPr/>
          <p:nvPr/>
        </p:nvSpPr>
        <p:spPr>
          <a:xfrm>
            <a:off x="457200" y="4317492"/>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57% reconciled, 43% estimate only</a:t>
            </a:r>
            <a:endParaRPr lang="en-US" sz="1200" dirty="0"/>
          </a:p>
        </p:txBody>
      </p:sp>
      <p:sp>
        <p:nvSpPr>
          <p:cNvPr id="39" name="Text 37"/>
          <p:cNvSpPr/>
          <p:nvPr/>
        </p:nvSpPr>
        <p:spPr>
          <a:xfrm>
            <a:off x="457200" y="4562856"/>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solugen</a:t>
            </a:r>
            <a:endParaRPr lang="en-US" sz="1200" dirty="0"/>
          </a:p>
        </p:txBody>
      </p:sp>
      <p:sp>
        <p:nvSpPr>
          <p:cNvPr id="40" name="Text 38"/>
          <p:cNvSpPr/>
          <p:nvPr/>
        </p:nvSpPr>
        <p:spPr>
          <a:xfrm>
            <a:off x="9539935" y="4562856"/>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4 applications</a:t>
            </a:r>
            <a:endParaRPr lang="en-US" sz="1200" dirty="0"/>
          </a:p>
        </p:txBody>
      </p:sp>
      <p:sp>
        <p:nvSpPr>
          <p:cNvPr id="41" name="Shape 39"/>
          <p:cNvSpPr/>
          <p:nvPr/>
        </p:nvSpPr>
        <p:spPr>
          <a:xfrm>
            <a:off x="457200" y="4802892"/>
            <a:ext cx="9905695" cy="324888"/>
          </a:xfrm>
          <a:prstGeom prst="rect">
            <a:avLst/>
          </a:prstGeom>
          <a:solidFill>
            <a:srgbClr val="0E1422"/>
          </a:solidFill>
          <a:ln w="9525">
            <a:solidFill>
              <a:srgbClr val="23304A"/>
            </a:solidFill>
            <a:prstDash val="solid"/>
          </a:ln>
        </p:spPr>
      </p:sp>
      <p:sp>
        <p:nvSpPr>
          <p:cNvPr id="42" name="Shape 40"/>
          <p:cNvSpPr/>
          <p:nvPr/>
        </p:nvSpPr>
        <p:spPr>
          <a:xfrm>
            <a:off x="457200" y="4802892"/>
            <a:ext cx="6526926" cy="324888"/>
          </a:xfrm>
          <a:prstGeom prst="rect">
            <a:avLst/>
          </a:prstGeom>
          <a:solidFill>
            <a:srgbClr val="E0A030"/>
          </a:solidFill>
          <a:ln w="12700">
            <a:solidFill>
              <a:srgbClr val="E0A030"/>
            </a:solidFill>
            <a:prstDash val="solid"/>
          </a:ln>
        </p:spPr>
      </p:sp>
      <p:sp>
        <p:nvSpPr>
          <p:cNvPr id="43" name="Text 41"/>
          <p:cNvSpPr/>
          <p:nvPr/>
        </p:nvSpPr>
        <p:spPr>
          <a:xfrm>
            <a:off x="10500055" y="4802892"/>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$11,801</a:t>
            </a:r>
            <a:endParaRPr lang="en-US" sz="1300" dirty="0"/>
          </a:p>
        </p:txBody>
      </p:sp>
      <p:sp>
        <p:nvSpPr>
          <p:cNvPr id="44" name="Text 42"/>
          <p:cNvSpPr/>
          <p:nvPr/>
        </p:nvSpPr>
        <p:spPr>
          <a:xfrm>
            <a:off x="457200" y="5158740"/>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entirely estimate only</a:t>
            </a:r>
            <a:endParaRPr lang="en-US" sz="1200" dirty="0"/>
          </a:p>
        </p:txBody>
      </p:sp>
      <p:sp>
        <p:nvSpPr>
          <p:cNvPr id="45" name="Text 43"/>
          <p:cNvSpPr/>
          <p:nvPr/>
        </p:nvSpPr>
        <p:spPr>
          <a:xfrm>
            <a:off x="457200" y="5404104"/>
            <a:ext cx="8899855" cy="190500"/>
          </a:xfrm>
          <a:prstGeom prst="rect">
            <a:avLst/>
          </a:prstGeom>
          <a:noFill/>
          <a:ln/>
        </p:spPr>
        <p:txBody>
          <a:bodyPr wrap="square" lIns="0" tIns="0" rIns="0" bIns="0" rtlCol="0" anchor="ctr"/>
          <a:lstStyle/>
          <a:p>
            <a:pPr indent="0" marL="0">
              <a:buNone/>
            </a:pPr>
            <a:r>
              <a:rPr lang="en-US" sz="1200" b="1" dirty="0">
                <a:solidFill>
                  <a:srgbClr val="F4F7FB"/>
                </a:solidFill>
                <a:latin typeface="Calibri" pitchFamily="34" charset="0"/>
                <a:ea typeface="Calibri" pitchFamily="34" charset="-122"/>
                <a:cs typeface="Calibri" pitchFamily="34" charset="-120"/>
              </a:rPr>
              <a:t>10 smaller teams</a:t>
            </a:r>
            <a:endParaRPr lang="en-US" sz="1200" dirty="0"/>
          </a:p>
        </p:txBody>
      </p:sp>
      <p:sp>
        <p:nvSpPr>
          <p:cNvPr id="46" name="Text 44"/>
          <p:cNvSpPr/>
          <p:nvPr/>
        </p:nvSpPr>
        <p:spPr>
          <a:xfrm>
            <a:off x="9539935" y="5404104"/>
            <a:ext cx="2194560" cy="19050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20 applications</a:t>
            </a:r>
            <a:endParaRPr lang="en-US" sz="1200" dirty="0"/>
          </a:p>
        </p:txBody>
      </p:sp>
      <p:sp>
        <p:nvSpPr>
          <p:cNvPr id="47" name="Shape 45"/>
          <p:cNvSpPr/>
          <p:nvPr/>
        </p:nvSpPr>
        <p:spPr>
          <a:xfrm>
            <a:off x="457200" y="5644140"/>
            <a:ext cx="9905695" cy="324888"/>
          </a:xfrm>
          <a:prstGeom prst="rect">
            <a:avLst/>
          </a:prstGeom>
          <a:solidFill>
            <a:srgbClr val="0E1422"/>
          </a:solidFill>
          <a:ln w="9525">
            <a:solidFill>
              <a:srgbClr val="23304A"/>
            </a:solidFill>
            <a:prstDash val="solid"/>
          </a:ln>
        </p:spPr>
      </p:sp>
      <p:sp>
        <p:nvSpPr>
          <p:cNvPr id="48" name="Shape 46"/>
          <p:cNvSpPr/>
          <p:nvPr/>
        </p:nvSpPr>
        <p:spPr>
          <a:xfrm>
            <a:off x="457200" y="5644140"/>
            <a:ext cx="207348" cy="324888"/>
          </a:xfrm>
          <a:prstGeom prst="rect">
            <a:avLst/>
          </a:prstGeom>
          <a:solidFill>
            <a:srgbClr val="3DD9EB"/>
          </a:solidFill>
          <a:ln w="12700">
            <a:solidFill>
              <a:srgbClr val="3DD9EB"/>
            </a:solidFill>
            <a:prstDash val="solid"/>
          </a:ln>
        </p:spPr>
      </p:sp>
      <p:sp>
        <p:nvSpPr>
          <p:cNvPr id="49" name="Shape 47"/>
          <p:cNvSpPr/>
          <p:nvPr/>
        </p:nvSpPr>
        <p:spPr>
          <a:xfrm>
            <a:off x="664548" y="5644140"/>
            <a:ext cx="280859" cy="324888"/>
          </a:xfrm>
          <a:prstGeom prst="rect">
            <a:avLst/>
          </a:prstGeom>
          <a:solidFill>
            <a:srgbClr val="E0A030"/>
          </a:solidFill>
          <a:ln w="12700">
            <a:solidFill>
              <a:srgbClr val="E0A030"/>
            </a:solidFill>
            <a:prstDash val="solid"/>
          </a:ln>
        </p:spPr>
      </p:sp>
      <p:sp>
        <p:nvSpPr>
          <p:cNvPr id="50" name="Text 48"/>
          <p:cNvSpPr/>
          <p:nvPr/>
        </p:nvSpPr>
        <p:spPr>
          <a:xfrm>
            <a:off x="10500055" y="5644140"/>
            <a:ext cx="1234440" cy="324888"/>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$883</a:t>
            </a:r>
            <a:endParaRPr lang="en-US" sz="1300" dirty="0"/>
          </a:p>
        </p:txBody>
      </p:sp>
      <p:sp>
        <p:nvSpPr>
          <p:cNvPr id="51" name="Text 49"/>
          <p:cNvSpPr/>
          <p:nvPr/>
        </p:nvSpPr>
        <p:spPr>
          <a:xfrm>
            <a:off x="457200" y="5999988"/>
            <a:ext cx="9905695" cy="190500"/>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42% reconciled, 58% estimate only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DATA QUALITY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Four things to fix before this number is quotable</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None of these change what we spent. They change whether we can prove it.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first two are the ones that matter. Without a reconciliation figure the estimate is an assertion, and without a date range it cannot be turned into a run-rate. Both are export settings, not engineering work.</a:t>
            </a:r>
            <a:endParaRPr lang="en-US" sz="1200" dirty="0"/>
          </a:p>
        </p:txBody>
      </p:sp>
      <p:sp>
        <p:nvSpPr>
          <p:cNvPr id="8" name="Text 6"/>
          <p:cNvSpPr/>
          <p:nvPr/>
        </p:nvSpPr>
        <p:spPr>
          <a:xfrm>
            <a:off x="457200" y="1234440"/>
            <a:ext cx="1005840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What is wrong, and what it costs us</a:t>
            </a:r>
            <a:endParaRPr lang="en-US" sz="1500" dirty="0"/>
          </a:p>
        </p:txBody>
      </p:sp>
      <p:sp>
        <p:nvSpPr>
          <p:cNvPr id="9" name="Text 7"/>
          <p:cNvSpPr/>
          <p:nvPr/>
        </p:nvSpPr>
        <p:spPr>
          <a:xfrm>
            <a:off x="457200" y="1508760"/>
            <a:ext cx="1005840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In the order they should be fixed</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10058400" cy="914400"/>
        </p:xfrm>
        <a:graphic>
          <a:graphicData uri="http://schemas.openxmlformats.org/drawingml/2006/table">
            <a:tbl>
              <a:tblPr/>
              <a:tblGrid>
                <a:gridCol w="3017520"/>
                <a:gridCol w="2377440"/>
                <a:gridCol w="3200400"/>
                <a:gridCol w="14630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At stake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No reconciliation figure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Every Azure row</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Nothing to check the estimate against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E0A030"/>
                          </a:solidFill>
                          <a:latin typeface="Calibri" pitchFamily="34" charset="0"/>
                          <a:ea typeface="Calibri" pitchFamily="34" charset="-122"/>
                          <a:cs typeface="Calibri" pitchFamily="34" charset="-120"/>
                        </a:rPr>
                        <a:t>$21,067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No date range recorded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The workbook as a whole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Cannot annualise, cannot trend, cannot compare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536078"/>
                          </a:solidFill>
                          <a:latin typeface="Calibri" pitchFamily="34" charset="0"/>
                          <a:ea typeface="Calibri" pitchFamily="34" charset="-122"/>
                          <a:cs typeface="Calibri" pitchFamily="34" charset="-120"/>
                        </a:rPr>
                        <a:t>all of it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Team listed twice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Summary_Team, ai-factory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Team totals overstated by 30% against the provider sheet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E0A030"/>
                          </a:solidFill>
                          <a:latin typeface="Calibri" pitchFamily="34" charset="0"/>
                          <a:ea typeface="Calibri" pitchFamily="34" charset="-122"/>
                          <a:cs typeface="Calibri" pitchFamily="34" charset="-120"/>
                        </a:rPr>
                        <a:t>$12,954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Applications with no name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9 rows, unknown or unlabeled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Cannot be charged to anyone, even in principle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E0A030"/>
                          </a:solidFill>
                          <a:latin typeface="Calibri" pitchFamily="34" charset="0"/>
                          <a:ea typeface="Calibri" pitchFamily="34" charset="-122"/>
                          <a:cs typeface="Calibri" pitchFamily="34" charset="-120"/>
                        </a:rPr>
                        <a:t>$5,342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1" name="Shape 8"/>
          <p:cNvSpPr/>
          <p:nvPr/>
        </p:nvSpPr>
        <p:spPr>
          <a:xfrm>
            <a:off x="457200" y="4156283"/>
            <a:ext cx="3606698" cy="1078992"/>
          </a:xfrm>
          <a:prstGeom prst="roundRect">
            <a:avLst>
              <a:gd name="adj" fmla="val 5085"/>
            </a:avLst>
          </a:prstGeom>
          <a:solidFill>
            <a:srgbClr val="121B2D"/>
          </a:solidFill>
          <a:ln w="12700">
            <a:solidFill>
              <a:srgbClr val="23304A"/>
            </a:solidFill>
            <a:prstDash val="solid"/>
          </a:ln>
        </p:spPr>
      </p:sp>
      <p:sp>
        <p:nvSpPr>
          <p:cNvPr id="12" name="Text 9"/>
          <p:cNvSpPr/>
          <p:nvPr/>
        </p:nvSpPr>
        <p:spPr>
          <a:xfrm>
            <a:off x="658368" y="4247723"/>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UNRECONCILED</a:t>
            </a:r>
            <a:endParaRPr lang="en-US" sz="1200" dirty="0"/>
          </a:p>
        </p:txBody>
      </p:sp>
      <p:sp>
        <p:nvSpPr>
          <p:cNvPr id="13" name="Text 10"/>
          <p:cNvSpPr/>
          <p:nvPr/>
        </p:nvSpPr>
        <p:spPr>
          <a:xfrm>
            <a:off x="658368" y="4448891"/>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48.4%</a:t>
            </a:r>
            <a:endParaRPr lang="en-US" sz="2800" dirty="0"/>
          </a:p>
        </p:txBody>
      </p:sp>
      <p:sp>
        <p:nvSpPr>
          <p:cNvPr id="14" name="Text 11"/>
          <p:cNvSpPr/>
          <p:nvPr/>
        </p:nvSpPr>
        <p:spPr>
          <a:xfrm>
            <a:off x="658368" y="4851227"/>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of the estimate has no actual behind it</a:t>
            </a:r>
            <a:endParaRPr lang="en-US" sz="1200" dirty="0"/>
          </a:p>
        </p:txBody>
      </p:sp>
      <p:sp>
        <p:nvSpPr>
          <p:cNvPr id="15" name="Shape 12"/>
          <p:cNvSpPr/>
          <p:nvPr/>
        </p:nvSpPr>
        <p:spPr>
          <a:xfrm>
            <a:off x="4292498" y="4156283"/>
            <a:ext cx="3606698" cy="1078992"/>
          </a:xfrm>
          <a:prstGeom prst="roundRect">
            <a:avLst>
              <a:gd name="adj" fmla="val 5085"/>
            </a:avLst>
          </a:prstGeom>
          <a:solidFill>
            <a:srgbClr val="121B2D"/>
          </a:solidFill>
          <a:ln w="12700">
            <a:solidFill>
              <a:srgbClr val="23304A"/>
            </a:solidFill>
            <a:prstDash val="solid"/>
          </a:ln>
        </p:spPr>
      </p:sp>
      <p:sp>
        <p:nvSpPr>
          <p:cNvPr id="16" name="Text 13"/>
          <p:cNvSpPr/>
          <p:nvPr/>
        </p:nvSpPr>
        <p:spPr>
          <a:xfrm>
            <a:off x="4493666" y="4247723"/>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UNATTRIBUTABLE</a:t>
            </a:r>
            <a:endParaRPr lang="en-US" sz="1200" dirty="0"/>
          </a:p>
        </p:txBody>
      </p:sp>
      <p:sp>
        <p:nvSpPr>
          <p:cNvPr id="17" name="Text 14"/>
          <p:cNvSpPr/>
          <p:nvPr/>
        </p:nvSpPr>
        <p:spPr>
          <a:xfrm>
            <a:off x="4493666" y="4448891"/>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$5,342</a:t>
            </a:r>
            <a:endParaRPr lang="en-US" sz="2800" dirty="0"/>
          </a:p>
        </p:txBody>
      </p:sp>
      <p:sp>
        <p:nvSpPr>
          <p:cNvPr id="18" name="Text 15"/>
          <p:cNvSpPr/>
          <p:nvPr/>
        </p:nvSpPr>
        <p:spPr>
          <a:xfrm>
            <a:off x="4493666" y="4851227"/>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12.3% of the bill has no application name</a:t>
            </a:r>
            <a:endParaRPr lang="en-US" sz="1200" dirty="0"/>
          </a:p>
        </p:txBody>
      </p:sp>
      <p:sp>
        <p:nvSpPr>
          <p:cNvPr id="19" name="Shape 16"/>
          <p:cNvSpPr/>
          <p:nvPr/>
        </p:nvSpPr>
        <p:spPr>
          <a:xfrm>
            <a:off x="8127797" y="4156283"/>
            <a:ext cx="3606698" cy="1078992"/>
          </a:xfrm>
          <a:prstGeom prst="roundRect">
            <a:avLst>
              <a:gd name="adj" fmla="val 5085"/>
            </a:avLst>
          </a:prstGeom>
          <a:solidFill>
            <a:srgbClr val="121B2D"/>
          </a:solidFill>
          <a:ln w="12700">
            <a:solidFill>
              <a:srgbClr val="23304A"/>
            </a:solidFill>
            <a:prstDash val="solid"/>
          </a:ln>
        </p:spPr>
      </p:sp>
      <p:sp>
        <p:nvSpPr>
          <p:cNvPr id="20" name="Text 17"/>
          <p:cNvSpPr/>
          <p:nvPr/>
        </p:nvSpPr>
        <p:spPr>
          <a:xfrm>
            <a:off x="8328965" y="4247723"/>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KNOWN UNDERSTATEMENT</a:t>
            </a:r>
            <a:endParaRPr lang="en-US" sz="1200" dirty="0"/>
          </a:p>
        </p:txBody>
      </p:sp>
      <p:sp>
        <p:nvSpPr>
          <p:cNvPr id="21" name="Text 18"/>
          <p:cNvSpPr/>
          <p:nvPr/>
        </p:nvSpPr>
        <p:spPr>
          <a:xfrm>
            <a:off x="8328965" y="4448891"/>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12.6%</a:t>
            </a:r>
            <a:endParaRPr lang="en-US" sz="2800" dirty="0"/>
          </a:p>
        </p:txBody>
      </p:sp>
      <p:sp>
        <p:nvSpPr>
          <p:cNvPr id="22" name="Text 19"/>
          <p:cNvSpPr/>
          <p:nvPr/>
        </p:nvSpPr>
        <p:spPr>
          <a:xfrm>
            <a:off x="8328965" y="4851227"/>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on the only rows we can actually check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ASK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154" b="1" dirty="0">
                <a:solidFill>
                  <a:srgbClr val="F4F7FB"/>
                </a:solidFill>
                <a:latin typeface="Calibri" pitchFamily="34" charset="0"/>
                <a:ea typeface="Calibri" pitchFamily="34" charset="-122"/>
                <a:cs typeface="Calibri" pitchFamily="34" charset="-120"/>
              </a:rPr>
              <a:t>What would make this number trustworthy</a:t>
            </a:r>
            <a:endParaRPr lang="en-US" sz="2154"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Four changes. None of them are engineering projects.</a:t>
            </a:r>
            <a:endParaRPr lang="en-US" sz="1200" dirty="0"/>
          </a:p>
        </p:txBody>
      </p:sp>
      <p:sp>
        <p:nvSpPr>
          <p:cNvPr id="7" name="Shape 5"/>
          <p:cNvSpPr/>
          <p:nvPr/>
        </p:nvSpPr>
        <p:spPr>
          <a:xfrm>
            <a:off x="457200" y="1517904"/>
            <a:ext cx="512064" cy="512064"/>
          </a:xfrm>
          <a:prstGeom prst="ellipse">
            <a:avLst/>
          </a:prstGeom>
          <a:solidFill>
            <a:srgbClr val="121B2D"/>
          </a:solidFill>
          <a:ln w="15875">
            <a:solidFill>
              <a:srgbClr val="3DD9EB"/>
            </a:solidFill>
            <a:prstDash val="solid"/>
          </a:ln>
        </p:spPr>
      </p:sp>
      <p:sp>
        <p:nvSpPr>
          <p:cNvPr id="8" name="Text 6"/>
          <p:cNvSpPr/>
          <p:nvPr/>
        </p:nvSpPr>
        <p:spPr>
          <a:xfrm>
            <a:off x="457200"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115568" y="1463040"/>
            <a:ext cx="4797400" cy="309336"/>
          </a:xfrm>
          <a:prstGeom prst="rect">
            <a:avLst/>
          </a:prstGeom>
          <a:noFill/>
          <a:ln/>
        </p:spPr>
        <p:txBody>
          <a:bodyPr wrap="square" lIns="0" tIns="0" rIns="0" bIns="0" rtlCol="0" anchor="ctr"/>
          <a:lstStyle/>
          <a:p>
            <a:pPr indent="0" marL="0">
              <a:buNone/>
            </a:pPr>
            <a:r>
              <a:rPr lang="en-US" sz="1949" b="1" dirty="0">
                <a:solidFill>
                  <a:srgbClr val="F4F7FB"/>
                </a:solidFill>
                <a:latin typeface="Calibri" pitchFamily="34" charset="0"/>
                <a:ea typeface="Calibri" pitchFamily="34" charset="-122"/>
                <a:cs typeface="Calibri" pitchFamily="34" charset="-120"/>
              </a:rPr>
              <a:t>Turn on the Azure actuals</a:t>
            </a:r>
            <a:endParaRPr lang="en-US" sz="1949" dirty="0"/>
          </a:p>
        </p:txBody>
      </p:sp>
      <p:sp>
        <p:nvSpPr>
          <p:cNvPr id="10" name="Text 8"/>
          <p:cNvSpPr/>
          <p:nvPr/>
        </p:nvSpPr>
        <p:spPr>
          <a:xfrm>
            <a:off x="1115568" y="1818096"/>
            <a:ext cx="4797400" cy="471369"/>
          </a:xfrm>
          <a:prstGeom prst="rect">
            <a:avLst/>
          </a:prstGeom>
          <a:noFill/>
          <a:ln/>
        </p:spPr>
        <p:txBody>
          <a:bodyPr wrap="square" lIns="0" tIns="0" rIns="0" bIns="0" rtlCol="0" anchor="t"/>
          <a:lstStyle/>
          <a:p>
            <a:pPr indent="0" marL="0">
              <a:lnSpc>
                <a:spcPct val="112000"/>
              </a:lnSpc>
              <a:buNone/>
            </a:pPr>
            <a:r>
              <a:rPr lang="en-US" sz="1485" dirty="0">
                <a:solidFill>
                  <a:srgbClr val="91A0B7"/>
                </a:solidFill>
                <a:latin typeface="Calibri" pitchFamily="34" charset="0"/>
                <a:ea typeface="Calibri" pitchFamily="34" charset="-122"/>
                <a:cs typeface="Calibri" pitchFamily="34" charset="-120"/>
              </a:rPr>
              <a:t>Export the reconciliation figure with the estimate, as the other providers already do.</a:t>
            </a:r>
            <a:endParaRPr lang="en-US" sz="1485" dirty="0"/>
          </a:p>
        </p:txBody>
      </p:sp>
      <p:sp>
        <p:nvSpPr>
          <p:cNvPr id="11" name="Text 9"/>
          <p:cNvSpPr/>
          <p:nvPr/>
        </p:nvSpPr>
        <p:spPr>
          <a:xfrm>
            <a:off x="1115568" y="2335185"/>
            <a:ext cx="4797400" cy="242800"/>
          </a:xfrm>
          <a:prstGeom prst="rect">
            <a:avLst/>
          </a:prstGeom>
          <a:noFill/>
          <a:ln/>
        </p:spPr>
        <p:txBody>
          <a:bodyPr wrap="square" lIns="0" tIns="0" rIns="0" bIns="0" rtlCol="0" anchor="t"/>
          <a:lstStyle/>
          <a:p>
            <a:pPr indent="0" marL="0">
              <a:lnSpc>
                <a:spcPct val="105000"/>
              </a:lnSpc>
              <a:buNone/>
            </a:pPr>
            <a:r>
              <a:rPr lang="en-US" sz="1299" i="1" dirty="0">
                <a:solidFill>
                  <a:srgbClr val="3DD9EB"/>
                </a:solidFill>
                <a:latin typeface="Calibri" pitchFamily="34" charset="0"/>
                <a:ea typeface="Calibri" pitchFamily="34" charset="-122"/>
                <a:cs typeface="Calibri" pitchFamily="34" charset="-120"/>
              </a:rPr>
              <a:t>Tip: It is a column in the export, not a new system.</a:t>
            </a:r>
            <a:endParaRPr lang="en-US" sz="1299" dirty="0"/>
          </a:p>
        </p:txBody>
      </p:sp>
      <p:sp>
        <p:nvSpPr>
          <p:cNvPr id="12" name="Shape 10"/>
          <p:cNvSpPr/>
          <p:nvPr/>
        </p:nvSpPr>
        <p:spPr>
          <a:xfrm>
            <a:off x="457200" y="3156966"/>
            <a:ext cx="512064" cy="512064"/>
          </a:xfrm>
          <a:prstGeom prst="ellipse">
            <a:avLst/>
          </a:prstGeom>
          <a:solidFill>
            <a:srgbClr val="121B2D"/>
          </a:solidFill>
          <a:ln w="15875">
            <a:solidFill>
              <a:srgbClr val="3DD9EB"/>
            </a:solidFill>
            <a:prstDash val="solid"/>
          </a:ln>
        </p:spPr>
      </p:sp>
      <p:sp>
        <p:nvSpPr>
          <p:cNvPr id="13" name="Text 11"/>
          <p:cNvSpPr/>
          <p:nvPr/>
        </p:nvSpPr>
        <p:spPr>
          <a:xfrm>
            <a:off x="457200"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115568" y="3102102"/>
            <a:ext cx="4797400" cy="309336"/>
          </a:xfrm>
          <a:prstGeom prst="rect">
            <a:avLst/>
          </a:prstGeom>
          <a:noFill/>
          <a:ln/>
        </p:spPr>
        <p:txBody>
          <a:bodyPr wrap="square" lIns="0" tIns="0" rIns="0" bIns="0" rtlCol="0" anchor="ctr"/>
          <a:lstStyle/>
          <a:p>
            <a:pPr indent="0" marL="0">
              <a:buNone/>
            </a:pPr>
            <a:r>
              <a:rPr lang="en-US" sz="1949" b="1" dirty="0">
                <a:solidFill>
                  <a:srgbClr val="F4F7FB"/>
                </a:solidFill>
                <a:latin typeface="Calibri" pitchFamily="34" charset="0"/>
                <a:ea typeface="Calibri" pitchFamily="34" charset="-122"/>
                <a:cs typeface="Calibri" pitchFamily="34" charset="-120"/>
              </a:rPr>
              <a:t>Stamp the period on the export</a:t>
            </a:r>
            <a:endParaRPr lang="en-US" sz="1949" dirty="0"/>
          </a:p>
        </p:txBody>
      </p:sp>
      <p:sp>
        <p:nvSpPr>
          <p:cNvPr id="15" name="Text 13"/>
          <p:cNvSpPr/>
          <p:nvPr/>
        </p:nvSpPr>
        <p:spPr>
          <a:xfrm>
            <a:off x="1115568" y="3457158"/>
            <a:ext cx="4797400" cy="471369"/>
          </a:xfrm>
          <a:prstGeom prst="rect">
            <a:avLst/>
          </a:prstGeom>
          <a:noFill/>
          <a:ln/>
        </p:spPr>
        <p:txBody>
          <a:bodyPr wrap="square" lIns="0" tIns="0" rIns="0" bIns="0" rtlCol="0" anchor="t"/>
          <a:lstStyle/>
          <a:p>
            <a:pPr indent="0" marL="0">
              <a:lnSpc>
                <a:spcPct val="112000"/>
              </a:lnSpc>
              <a:buNone/>
            </a:pPr>
            <a:r>
              <a:rPr lang="en-US" sz="1485" dirty="0">
                <a:solidFill>
                  <a:srgbClr val="91A0B7"/>
                </a:solidFill>
                <a:latin typeface="Calibri" pitchFamily="34" charset="0"/>
                <a:ea typeface="Calibri" pitchFamily="34" charset="-122"/>
                <a:cs typeface="Calibri" pitchFamily="34" charset="-120"/>
              </a:rPr>
              <a:t>Every extract states the date range it covers, on the sheet.</a:t>
            </a:r>
            <a:endParaRPr lang="en-US" sz="1485" dirty="0"/>
          </a:p>
        </p:txBody>
      </p:sp>
      <p:sp>
        <p:nvSpPr>
          <p:cNvPr id="16" name="Text 14"/>
          <p:cNvSpPr/>
          <p:nvPr/>
        </p:nvSpPr>
        <p:spPr>
          <a:xfrm>
            <a:off x="1115568" y="3974247"/>
            <a:ext cx="4797400" cy="242800"/>
          </a:xfrm>
          <a:prstGeom prst="rect">
            <a:avLst/>
          </a:prstGeom>
          <a:noFill/>
          <a:ln/>
        </p:spPr>
        <p:txBody>
          <a:bodyPr wrap="square" lIns="0" tIns="0" rIns="0" bIns="0" rtlCol="0" anchor="t"/>
          <a:lstStyle/>
          <a:p>
            <a:pPr indent="0" marL="0">
              <a:lnSpc>
                <a:spcPct val="105000"/>
              </a:lnSpc>
              <a:buNone/>
            </a:pPr>
            <a:r>
              <a:rPr lang="en-US" sz="1299" i="1" dirty="0">
                <a:solidFill>
                  <a:srgbClr val="3DD9EB"/>
                </a:solidFill>
                <a:latin typeface="Calibri" pitchFamily="34" charset="0"/>
                <a:ea typeface="Calibri" pitchFamily="34" charset="-122"/>
                <a:cs typeface="Calibri" pitchFamily="34" charset="-120"/>
              </a:rPr>
              <a:t>Tip: Without it, no figure here can become a run-rate.</a:t>
            </a:r>
            <a:endParaRPr lang="en-US" sz="1299" dirty="0"/>
          </a:p>
        </p:txBody>
      </p:sp>
      <p:sp>
        <p:nvSpPr>
          <p:cNvPr id="17" name="Shape 15"/>
          <p:cNvSpPr/>
          <p:nvPr/>
        </p:nvSpPr>
        <p:spPr>
          <a:xfrm>
            <a:off x="6278728" y="1517904"/>
            <a:ext cx="512064" cy="512064"/>
          </a:xfrm>
          <a:prstGeom prst="ellipse">
            <a:avLst/>
          </a:prstGeom>
          <a:solidFill>
            <a:srgbClr val="121B2D"/>
          </a:solidFill>
          <a:ln w="15875">
            <a:solidFill>
              <a:srgbClr val="3DD9EB"/>
            </a:solidFill>
            <a:prstDash val="solid"/>
          </a:ln>
        </p:spPr>
      </p:sp>
      <p:sp>
        <p:nvSpPr>
          <p:cNvPr id="18" name="Text 16"/>
          <p:cNvSpPr/>
          <p:nvPr/>
        </p:nvSpPr>
        <p:spPr>
          <a:xfrm>
            <a:off x="6278728"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6937096" y="1463040"/>
            <a:ext cx="4797400" cy="309336"/>
          </a:xfrm>
          <a:prstGeom prst="rect">
            <a:avLst/>
          </a:prstGeom>
          <a:noFill/>
          <a:ln/>
        </p:spPr>
        <p:txBody>
          <a:bodyPr wrap="square" lIns="0" tIns="0" rIns="0" bIns="0" rtlCol="0" anchor="ctr"/>
          <a:lstStyle/>
          <a:p>
            <a:pPr indent="0" marL="0">
              <a:buNone/>
            </a:pPr>
            <a:r>
              <a:rPr lang="en-US" sz="1949" b="1" dirty="0">
                <a:solidFill>
                  <a:srgbClr val="F4F7FB"/>
                </a:solidFill>
                <a:latin typeface="Calibri" pitchFamily="34" charset="0"/>
                <a:ea typeface="Calibri" pitchFamily="34" charset="-122"/>
                <a:cs typeface="Calibri" pitchFamily="34" charset="-120"/>
              </a:rPr>
              <a:t>Fix the tag, not the spreadsheet</a:t>
            </a:r>
            <a:endParaRPr lang="en-US" sz="1949" dirty="0"/>
          </a:p>
        </p:txBody>
      </p:sp>
      <p:sp>
        <p:nvSpPr>
          <p:cNvPr id="20" name="Text 18"/>
          <p:cNvSpPr/>
          <p:nvPr/>
        </p:nvSpPr>
        <p:spPr>
          <a:xfrm>
            <a:off x="6937096" y="1818096"/>
            <a:ext cx="4797400" cy="471369"/>
          </a:xfrm>
          <a:prstGeom prst="rect">
            <a:avLst/>
          </a:prstGeom>
          <a:noFill/>
          <a:ln/>
        </p:spPr>
        <p:txBody>
          <a:bodyPr wrap="square" lIns="0" tIns="0" rIns="0" bIns="0" rtlCol="0" anchor="t"/>
          <a:lstStyle/>
          <a:p>
            <a:pPr indent="0" marL="0">
              <a:lnSpc>
                <a:spcPct val="112000"/>
              </a:lnSpc>
              <a:buNone/>
            </a:pPr>
            <a:r>
              <a:rPr lang="en-US" sz="1485" dirty="0">
                <a:solidFill>
                  <a:srgbClr val="91A0B7"/>
                </a:solidFill>
                <a:latin typeface="Calibri" pitchFamily="34" charset="0"/>
                <a:ea typeface="Calibri" pitchFamily="34" charset="-122"/>
                <a:cs typeface="Calibri" pitchFamily="34" charset="-120"/>
              </a:rPr>
              <a:t>Case-fold team names at source so a team cannot appear twice.</a:t>
            </a:r>
            <a:endParaRPr lang="en-US" sz="1485" dirty="0"/>
          </a:p>
        </p:txBody>
      </p:sp>
      <p:sp>
        <p:nvSpPr>
          <p:cNvPr id="21" name="Text 19"/>
          <p:cNvSpPr/>
          <p:nvPr/>
        </p:nvSpPr>
        <p:spPr>
          <a:xfrm>
            <a:off x="6937096" y="2335185"/>
            <a:ext cx="4797400" cy="242800"/>
          </a:xfrm>
          <a:prstGeom prst="rect">
            <a:avLst/>
          </a:prstGeom>
          <a:noFill/>
          <a:ln/>
        </p:spPr>
        <p:txBody>
          <a:bodyPr wrap="square" lIns="0" tIns="0" rIns="0" bIns="0" rtlCol="0" anchor="t"/>
          <a:lstStyle/>
          <a:p>
            <a:pPr indent="0" marL="0">
              <a:lnSpc>
                <a:spcPct val="105000"/>
              </a:lnSpc>
              <a:buNone/>
            </a:pPr>
            <a:r>
              <a:rPr lang="en-US" sz="1299" i="1" dirty="0">
                <a:solidFill>
                  <a:srgbClr val="3DD9EB"/>
                </a:solidFill>
                <a:latin typeface="Calibri" pitchFamily="34" charset="0"/>
                <a:ea typeface="Calibri" pitchFamily="34" charset="-122"/>
                <a:cs typeface="Calibri" pitchFamily="34" charset="-120"/>
              </a:rPr>
              <a:t>Tip: Same defect that made the team total 30% too high.</a:t>
            </a:r>
            <a:endParaRPr lang="en-US" sz="1299" dirty="0"/>
          </a:p>
        </p:txBody>
      </p:sp>
      <p:sp>
        <p:nvSpPr>
          <p:cNvPr id="22" name="Shape 20"/>
          <p:cNvSpPr/>
          <p:nvPr/>
        </p:nvSpPr>
        <p:spPr>
          <a:xfrm>
            <a:off x="6278728" y="3156966"/>
            <a:ext cx="512064" cy="512064"/>
          </a:xfrm>
          <a:prstGeom prst="ellipse">
            <a:avLst/>
          </a:prstGeom>
          <a:solidFill>
            <a:srgbClr val="121B2D"/>
          </a:solidFill>
          <a:ln w="15875">
            <a:solidFill>
              <a:srgbClr val="3DD9EB"/>
            </a:solidFill>
            <a:prstDash val="solid"/>
          </a:ln>
        </p:spPr>
      </p:sp>
      <p:sp>
        <p:nvSpPr>
          <p:cNvPr id="23" name="Text 21"/>
          <p:cNvSpPr/>
          <p:nvPr/>
        </p:nvSpPr>
        <p:spPr>
          <a:xfrm>
            <a:off x="6278728" y="3156966"/>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4</a:t>
            </a:r>
            <a:endParaRPr lang="en-US" sz="2000" dirty="0"/>
          </a:p>
        </p:txBody>
      </p:sp>
      <p:sp>
        <p:nvSpPr>
          <p:cNvPr id="24" name="Text 22"/>
          <p:cNvSpPr/>
          <p:nvPr/>
        </p:nvSpPr>
        <p:spPr>
          <a:xfrm>
            <a:off x="6937096" y="3102102"/>
            <a:ext cx="4797400" cy="309336"/>
          </a:xfrm>
          <a:prstGeom prst="rect">
            <a:avLst/>
          </a:prstGeom>
          <a:noFill/>
          <a:ln/>
        </p:spPr>
        <p:txBody>
          <a:bodyPr wrap="square" lIns="0" tIns="0" rIns="0" bIns="0" rtlCol="0" anchor="ctr"/>
          <a:lstStyle/>
          <a:p>
            <a:pPr indent="0" marL="0">
              <a:buNone/>
            </a:pPr>
            <a:r>
              <a:rPr lang="en-US" sz="1949" b="1" dirty="0">
                <a:solidFill>
                  <a:srgbClr val="F4F7FB"/>
                </a:solidFill>
                <a:latin typeface="Calibri" pitchFamily="34" charset="0"/>
                <a:ea typeface="Calibri" pitchFamily="34" charset="-122"/>
                <a:cs typeface="Calibri" pitchFamily="34" charset="-120"/>
              </a:rPr>
              <a:t>No unnamed applications</a:t>
            </a:r>
            <a:endParaRPr lang="en-US" sz="1949" dirty="0"/>
          </a:p>
        </p:txBody>
      </p:sp>
      <p:sp>
        <p:nvSpPr>
          <p:cNvPr id="25" name="Text 23"/>
          <p:cNvSpPr/>
          <p:nvPr/>
        </p:nvSpPr>
        <p:spPr>
          <a:xfrm>
            <a:off x="6937096" y="3457158"/>
            <a:ext cx="4797400" cy="471369"/>
          </a:xfrm>
          <a:prstGeom prst="rect">
            <a:avLst/>
          </a:prstGeom>
          <a:noFill/>
          <a:ln/>
        </p:spPr>
        <p:txBody>
          <a:bodyPr wrap="square" lIns="0" tIns="0" rIns="0" bIns="0" rtlCol="0" anchor="t"/>
          <a:lstStyle/>
          <a:p>
            <a:pPr indent="0" marL="0">
              <a:lnSpc>
                <a:spcPct val="112000"/>
              </a:lnSpc>
              <a:buNone/>
            </a:pPr>
            <a:r>
              <a:rPr lang="en-US" sz="1485" dirty="0">
                <a:solidFill>
                  <a:srgbClr val="91A0B7"/>
                </a:solidFill>
                <a:latin typeface="Calibri" pitchFamily="34" charset="0"/>
                <a:ea typeface="Calibri" pitchFamily="34" charset="-122"/>
                <a:cs typeface="Calibri" pitchFamily="34" charset="-120"/>
              </a:rPr>
              <a:t>An application without a name cannot be charged back to anyone.</a:t>
            </a:r>
            <a:endParaRPr lang="en-US" sz="1485" dirty="0"/>
          </a:p>
        </p:txBody>
      </p:sp>
      <p:sp>
        <p:nvSpPr>
          <p:cNvPr id="26" name="Text 24"/>
          <p:cNvSpPr/>
          <p:nvPr/>
        </p:nvSpPr>
        <p:spPr>
          <a:xfrm>
            <a:off x="6937096" y="3974247"/>
            <a:ext cx="4797400" cy="242800"/>
          </a:xfrm>
          <a:prstGeom prst="rect">
            <a:avLst/>
          </a:prstGeom>
          <a:noFill/>
          <a:ln/>
        </p:spPr>
        <p:txBody>
          <a:bodyPr wrap="square" lIns="0" tIns="0" rIns="0" bIns="0" rtlCol="0" anchor="t"/>
          <a:lstStyle/>
          <a:p>
            <a:pPr indent="0" marL="0">
              <a:lnSpc>
                <a:spcPct val="105000"/>
              </a:lnSpc>
              <a:buNone/>
            </a:pPr>
            <a:r>
              <a:rPr lang="en-US" sz="1299" i="1" dirty="0">
                <a:solidFill>
                  <a:srgbClr val="3DD9EB"/>
                </a:solidFill>
                <a:latin typeface="Calibri" pitchFamily="34" charset="0"/>
                <a:ea typeface="Calibri" pitchFamily="34" charset="-122"/>
                <a:cs typeface="Calibri" pitchFamily="34" charset="-120"/>
              </a:rPr>
              <a:t>Tip: $5,342 is sitting in unknown and unlabeled today.</a:t>
            </a:r>
            <a:endParaRPr lang="en-US" sz="1299" dirty="0"/>
          </a:p>
        </p:txBody>
      </p:sp>
      <p:sp>
        <p:nvSpPr>
          <p:cNvPr id="27" name="Shape 25"/>
          <p:cNvSpPr/>
          <p:nvPr/>
        </p:nvSpPr>
        <p:spPr>
          <a:xfrm>
            <a:off x="457200" y="5015484"/>
            <a:ext cx="11277295" cy="1248156"/>
          </a:xfrm>
          <a:prstGeom prst="roundRect">
            <a:avLst>
              <a:gd name="adj" fmla="val 4396"/>
            </a:avLst>
          </a:prstGeom>
          <a:solidFill>
            <a:srgbClr val="121B2D"/>
          </a:solidFill>
          <a:ln w="12700">
            <a:solidFill>
              <a:srgbClr val="3DD9EB"/>
            </a:solidFill>
            <a:prstDash val="solid"/>
          </a:ln>
        </p:spPr>
      </p:sp>
      <p:sp>
        <p:nvSpPr>
          <p:cNvPr id="28" name="Text 26"/>
          <p:cNvSpPr/>
          <p:nvPr/>
        </p:nvSpPr>
        <p:spPr>
          <a:xfrm>
            <a:off x="713232" y="5161788"/>
            <a:ext cx="10765231" cy="42240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Then this becomes a monthly number instead of a one-off table</a:t>
            </a:r>
            <a:endParaRPr lang="en-US" sz="2200" dirty="0"/>
          </a:p>
        </p:txBody>
      </p:sp>
      <p:sp>
        <p:nvSpPr>
          <p:cNvPr id="29" name="Text 27"/>
          <p:cNvSpPr/>
          <p:nvPr/>
        </p:nvSpPr>
        <p:spPr>
          <a:xfrm>
            <a:off x="713232" y="5584190"/>
            <a:ext cx="10765231" cy="533146"/>
          </a:xfrm>
          <a:prstGeom prst="rect">
            <a:avLst/>
          </a:prstGeom>
          <a:noFill/>
          <a:ln/>
        </p:spPr>
        <p:txBody>
          <a:bodyPr wrap="square" lIns="0" tIns="0" rIns="0" bIns="0" rtlCol="0" anchor="t"/>
          <a:lstStyle/>
          <a:p>
            <a:pPr indent="0" marL="0">
              <a:lnSpc>
                <a:spcPct val="118000"/>
              </a:lnSpc>
              <a:buNone/>
            </a:pPr>
            <a:r>
              <a:rPr lang="en-US" sz="1200" dirty="0">
                <a:solidFill>
                  <a:srgbClr val="91A0B7"/>
                </a:solidFill>
                <a:latin typeface="Calibri" pitchFamily="34" charset="0"/>
                <a:ea typeface="Calibri" pitchFamily="34" charset="-122"/>
                <a:cs typeface="Calibri" pitchFamily="34" charset="-120"/>
              </a:rPr>
              <a:t>With actuals on every provider and a stated period, the same export answers what we spent, who spent it, and whether the estimate is holding, every month, without anyone rebuilding the sheet.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cost by application — Harel</dc:title>
  <dc:subject>PptxGenJS Presentation</dc:subject>
  <dc:creator>Cloud Infrastructure, DevOps &amp; Databases</dc:creator>
  <cp:lastModifiedBy>Cloud Infrastructure, DevOps &amp; Databases</cp:lastModifiedBy>
  <cp:revision>1</cp:revision>
  <dcterms:created xsi:type="dcterms:W3CDTF">2026-09-22T16:58:59Z</dcterms:created>
  <dcterms:modified xsi:type="dcterms:W3CDTF">2026-09-22T16:58:59Z</dcterms:modified>
</cp:coreProperties>
</file>