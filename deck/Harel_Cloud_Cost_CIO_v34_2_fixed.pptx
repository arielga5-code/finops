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7.xml" ContentType="application/vnd.openxmlformats-officedocument.drawingml.chart+xml"/>
  <Override PartName="/ppt/notesSlides/notesSlide27.xml" ContentType="application/vnd.openxmlformats-officedocument.presentationml.notesSlide+xml"/>
  <Override PartName="/ppt/charts/chart8.xml" ContentType="application/vnd.openxmlformats-officedocument.drawingml.chart+xml"/>
  <Override PartName="/ppt/notesSlides/notesSlide28.xml" ContentType="application/vnd.openxmlformats-officedocument.presentationml.notesSlide+xml"/>
  <Override PartName="/ppt/charts/chart9.xml" ContentType="application/vnd.openxmlformats-officedocument.drawingml.chart+xml"/>
  <Override PartName="/ppt/notesSlides/notesSlide29.xml" ContentType="application/vnd.openxmlformats-officedocument.presentationml.notesSlide+xml"/>
  <Override PartName="/ppt/charts/chart10.xml" ContentType="application/vnd.openxmlformats-officedocument.drawingml.chart+xml"/>
  <Override PartName="/ppt/notesSlides/notesSlide30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31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32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notesSlides/notesSlide33.xml" ContentType="application/vnd.openxmlformats-officedocument.presentationml.notesSlide+xml"/>
  <Override PartName="/ppt/charts/chart17.xml" ContentType="application/vnd.openxmlformats-officedocument.drawingml.chart+xml"/>
  <Override PartName="/ppt/notesSlides/notesSlide34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35.xml" ContentType="application/vnd.openxmlformats-officedocument.presentationml.notesSlide+xml"/>
  <Override PartName="/ppt/charts/chart20.xml" ContentType="application/vnd.openxmlformats-officedocument.drawingml.chart+xml"/>
  <Override PartName="/ppt/notesSlides/notesSlide36.xml" ContentType="application/vnd.openxmlformats-officedocument.presentationml.notesSlide+xml"/>
  <Override PartName="/ppt/charts/chart21.xml" ContentType="application/vnd.openxmlformats-officedocument.drawingml.chart+xml"/>
  <Override PartName="/ppt/notesSlides/notesSlide37.xml" ContentType="application/vnd.openxmlformats-officedocument.presentationml.notesSlide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5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8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1750" cap="flat">
              <a:solidFill>
                <a:srgbClr val="F4F7F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F7FB"/>
              </a:solidFill>
              <a:ln w="9525" cap="flat">
                <a:solidFill>
                  <a:srgbClr val="F4F7F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229908</c:v>
                </c:pt>
                <c:pt idx="1">
                  <c:v>257413</c:v>
                </c:pt>
                <c:pt idx="2">
                  <c:v>283322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30D-477D-9213-B160398CDD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Projected — May–Jul rates</c:v>
                </c:pt>
              </c:strCache>
            </c:strRef>
          </c:tx>
          <c:spPr>
            <a:ln w="31750" cap="flat">
              <a:solidFill>
                <a:srgbClr val="FF6B7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7A"/>
              </a:solidFill>
              <a:ln w="9525" cap="flat">
                <a:solidFill>
                  <a:srgbClr val="FF6B7A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2">
                  <c:v>283322</c:v>
                </c:pt>
                <c:pt idx="3">
                  <c:v>314660</c:v>
                </c:pt>
                <c:pt idx="4">
                  <c:v>349617</c:v>
                </c:pt>
                <c:pt idx="5">
                  <c:v>388652</c:v>
                </c:pt>
                <c:pt idx="6">
                  <c:v>432284</c:v>
                </c:pt>
                <c:pt idx="7">
                  <c:v>481097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30D-477D-9213-B160398CDDA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Projected — Jan–Jul rates</c:v>
                </c:pt>
              </c:strCache>
            </c:strRef>
          </c:tx>
          <c:spPr>
            <a:ln w="31750" cap="flat">
              <a:solidFill>
                <a:srgbClr val="E0A03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A030"/>
              </a:solidFill>
              <a:ln w="9525" cap="flat">
                <a:solidFill>
                  <a:srgbClr val="E0A03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2">
                  <c:v>283322</c:v>
                </c:pt>
                <c:pt idx="3">
                  <c:v>292400</c:v>
                </c:pt>
                <c:pt idx="4">
                  <c:v>301800</c:v>
                </c:pt>
                <c:pt idx="5">
                  <c:v>311500</c:v>
                </c:pt>
                <c:pt idx="6">
                  <c:v>321500</c:v>
                </c:pt>
                <c:pt idx="7">
                  <c:v>333900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30D-477D-9213-B160398CDD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Invoiced</c:v>
                </c:pt>
              </c:strCache>
            </c:strRef>
          </c:tx>
          <c:spPr>
            <a:ln w="31750" cap="flat">
              <a:solidFill>
                <a:srgbClr val="2F8C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8CFF"/>
              </a:solidFill>
              <a:ln w="9525" cap="flat">
                <a:solidFill>
                  <a:srgbClr val="2F8CFF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May 2026</c:v>
                </c:pt>
                <c:pt idx="1">
                  <c:v>Jun 2026</c:v>
                </c:pt>
                <c:pt idx="2">
                  <c:v>Jul 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145254</c:v>
                </c:pt>
                <c:pt idx="1">
                  <c:v>168421</c:v>
                </c:pt>
                <c:pt idx="2">
                  <c:v>186541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ED-4827-9F09-995F21FAC6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Azure</c:v>
                </c:pt>
              </c:strCache>
            </c:strRef>
          </c:tx>
          <c:spPr>
            <a:ln w="31750" cap="flat">
              <a:solidFill>
                <a:srgbClr val="2F8C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8CFF"/>
              </a:solidFill>
              <a:ln w="9525" cap="flat">
                <a:solidFill>
                  <a:srgbClr val="2F8CFF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156990</c:v>
                </c:pt>
                <c:pt idx="1">
                  <c:v>135742</c:v>
                </c:pt>
                <c:pt idx="2">
                  <c:v>165199</c:v>
                </c:pt>
                <c:pt idx="3">
                  <c:v>152577</c:v>
                </c:pt>
                <c:pt idx="4">
                  <c:v>152263</c:v>
                </c:pt>
                <c:pt idx="5">
                  <c:v>167406</c:v>
                </c:pt>
                <c:pt idx="6">
                  <c:v>186917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C1-4A4B-A26B-A4F4BB80FB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AWS</c:v>
                </c:pt>
              </c:strCache>
            </c:strRef>
          </c:tx>
          <c:spPr>
            <a:ln w="31750" cap="flat">
              <a:solidFill>
                <a:srgbClr val="FF9F4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9F43"/>
              </a:solidFill>
              <a:ln w="9525" cap="flat">
                <a:solidFill>
                  <a:srgbClr val="FF9F43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77126</c:v>
                </c:pt>
                <c:pt idx="1">
                  <c:v>82582</c:v>
                </c:pt>
                <c:pt idx="2">
                  <c:v>95860</c:v>
                </c:pt>
                <c:pt idx="3">
                  <c:v>81929</c:v>
                </c:pt>
                <c:pt idx="4">
                  <c:v>83062</c:v>
                </c:pt>
                <c:pt idx="5">
                  <c:v>86581</c:v>
                </c:pt>
                <c:pt idx="6">
                  <c:v>92930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C1-4A4B-A26B-A4F4BB80FB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GCP</c:v>
                </c:pt>
              </c:strCache>
            </c:strRef>
          </c:tx>
          <c:spPr>
            <a:ln w="31750" cap="flat">
              <a:solidFill>
                <a:srgbClr val="3DDC9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DDC97"/>
              </a:solidFill>
              <a:ln w="9525" cap="flat">
                <a:solidFill>
                  <a:srgbClr val="3DDC97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396</c:v>
                </c:pt>
                <c:pt idx="3">
                  <c:v>440</c:v>
                </c:pt>
                <c:pt idx="4">
                  <c:v>1449</c:v>
                </c:pt>
                <c:pt idx="5">
                  <c:v>2220</c:v>
                </c:pt>
                <c:pt idx="6">
                  <c:v>3707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6C1-4A4B-A26B-A4F4BB80FB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Azure AI Services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May 2026</c:v>
                </c:pt>
                <c:pt idx="1">
                  <c:v>Jun 2026</c:v>
                </c:pt>
                <c:pt idx="2">
                  <c:v>Jul 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16933</c:v>
                </c:pt>
                <c:pt idx="1">
                  <c:v>25370</c:v>
                </c:pt>
                <c:pt idx="2">
                  <c:v>23301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24-4F2E-9348-211AD98E65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GitHub Copilot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May 2026</c:v>
                </c:pt>
                <c:pt idx="1">
                  <c:v>Jun 2026</c:v>
                </c:pt>
                <c:pt idx="2">
                  <c:v>Jul 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4760</c:v>
                </c:pt>
                <c:pt idx="1">
                  <c:v>11445</c:v>
                </c:pt>
                <c:pt idx="2">
                  <c:v>13460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24-4F2E-9348-211AD98E658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Copilot Studio (Cowork)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May 2026</c:v>
                </c:pt>
                <c:pt idx="1">
                  <c:v>Jun 2026</c:v>
                </c:pt>
                <c:pt idx="2">
                  <c:v>Jul 2026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80</c:v>
                </c:pt>
                <c:pt idx="1">
                  <c:v>0</c:v>
                </c:pt>
                <c:pt idx="2">
                  <c:v>8920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224-4F2E-9348-211AD98E658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Google Vertex AI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May 2026</c:v>
                </c:pt>
                <c:pt idx="1">
                  <c:v>Jun 2026</c:v>
                </c:pt>
                <c:pt idx="2">
                  <c:v>Jul 2026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366</c:v>
                </c:pt>
                <c:pt idx="1">
                  <c:v>958</c:v>
                </c:pt>
                <c:pt idx="2">
                  <c:v>1069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224-4F2E-9348-211AD98E65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A50-4A69-8654-5186C1067275}"/>
              </c:ext>
            </c:extLst>
          </c:dPt>
          <c:dPt>
            <c:idx val="1"/>
            <c:invertIfNegative val="0"/>
            <c:bubble3D val="0"/>
            <c:spPr>
              <a:solidFill>
                <a:srgbClr val="3DD9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50-4A69-8654-5186C1067275}"/>
              </c:ext>
            </c:extLst>
          </c:dPt>
          <c:dPt>
            <c:idx val="2"/>
            <c:invertIfNegative val="0"/>
            <c:bubble3D val="0"/>
            <c:spPr>
              <a:solidFill>
                <a:srgbClr val="FF9F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50-4A69-8654-5186C1067275}"/>
              </c:ext>
            </c:extLst>
          </c:dPt>
          <c:dPt>
            <c:idx val="3"/>
            <c:invertIfNegative val="0"/>
            <c:bubble3D val="0"/>
            <c:spPr>
              <a:solidFill>
                <a:srgbClr val="B07C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A50-4A69-8654-5186C1067275}"/>
              </c:ext>
            </c:extLst>
          </c:dPt>
          <c:dPt>
            <c:idx val="4"/>
            <c:invertIfNegative val="0"/>
            <c:bubble3D val="0"/>
            <c:spPr>
              <a:solidFill>
                <a:srgbClr val="3DDC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A50-4A69-8654-5186C1067275}"/>
              </c:ext>
            </c:extLst>
          </c:dPt>
          <c:dPt>
            <c:idx val="5"/>
            <c:invertIfNegative val="0"/>
            <c:bubble3D val="0"/>
            <c:spPr>
              <a:solidFill>
                <a:srgbClr val="FF6B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A50-4A69-8654-5186C1067275}"/>
              </c:ext>
            </c:extLst>
          </c:dPt>
          <c:dPt>
            <c:idx val="6"/>
            <c:invertIfNegative val="0"/>
            <c:bubble3D val="0"/>
            <c:spPr>
              <a:solidFill>
                <a:srgbClr val="2AD3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A50-4A69-8654-5186C1067275}"/>
              </c:ext>
            </c:extLst>
          </c:dPt>
          <c:dPt>
            <c:idx val="7"/>
            <c:invertIfNegative val="0"/>
            <c:bubble3D val="0"/>
            <c:spPr>
              <a:solidFill>
                <a:srgbClr val="FFB8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A50-4A69-8654-5186C1067275}"/>
              </c:ext>
            </c:extLst>
          </c:dPt>
          <c:dPt>
            <c:idx val="8"/>
            <c:invertIfNegative val="0"/>
            <c:bubble3D val="0"/>
            <c:spPr>
              <a:solidFill>
                <a:srgbClr val="6C8C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A50-4A69-8654-5186C1067275}"/>
              </c:ext>
            </c:extLst>
          </c:dPt>
          <c:dPt>
            <c:idx val="9"/>
            <c:invertIfNegative val="0"/>
            <c:bubble3D val="0"/>
            <c:spPr>
              <a:solidFill>
                <a:srgbClr val="8FD8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A50-4A69-8654-5186C1067275}"/>
              </c:ext>
            </c:extLst>
          </c:dPt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4F7F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F5 Distributed Cloud Bot Defense</c:v>
                </c:pt>
                <c:pt idx="1">
                  <c:v>Fortinet Cloud Security Platform</c:v>
                </c:pt>
                <c:pt idx="2">
                  <c:v>Trellix_Private Offer Only</c:v>
                </c:pt>
                <c:pt idx="3">
                  <c:v>All other</c:v>
                </c:pt>
                <c:pt idx="4">
                  <c:v>(Private) Cortex</c:v>
                </c:pt>
                <c:pt idx="5">
                  <c:v>MongoDB Atlas on AWS - Contract …</c:v>
                </c:pt>
                <c:pt idx="6">
                  <c:v>F5 Distributed Cloud Services</c:v>
                </c:pt>
                <c:pt idx="7">
                  <c:v>CrowdStrike Falcon Identity Prot…</c:v>
                </c:pt>
                <c:pt idx="8">
                  <c:v>TrendAI Enterprise Security Solu…</c:v>
                </c:pt>
                <c:pt idx="9">
                  <c:v>Splunk Private Offer Session 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43307.51</c:v>
                </c:pt>
                <c:pt idx="1">
                  <c:v>61998.34</c:v>
                </c:pt>
                <c:pt idx="2">
                  <c:v>70680</c:v>
                </c:pt>
                <c:pt idx="3">
                  <c:v>101662.59</c:v>
                </c:pt>
                <c:pt idx="4">
                  <c:v>142960.14000000001</c:v>
                </c:pt>
                <c:pt idx="5">
                  <c:v>163240.16999999998</c:v>
                </c:pt>
                <c:pt idx="6">
                  <c:v>166293</c:v>
                </c:pt>
                <c:pt idx="7">
                  <c:v>171303</c:v>
                </c:pt>
                <c:pt idx="8">
                  <c:v>257323</c:v>
                </c:pt>
                <c:pt idx="9">
                  <c:v>365018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A50-4A69-8654-5186C10672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Vertex AI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0.01</c:v>
                </c:pt>
                <c:pt idx="2">
                  <c:v>378.84</c:v>
                </c:pt>
                <c:pt idx="3">
                  <c:v>957.52</c:v>
                </c:pt>
                <c:pt idx="4">
                  <c:v>2359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2D-4AA7-8061-3357B9F0EF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Compute Engine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221.73</c:v>
                </c:pt>
                <c:pt idx="2">
                  <c:v>714.24</c:v>
                </c:pt>
                <c:pt idx="3">
                  <c:v>977.33</c:v>
                </c:pt>
                <c:pt idx="4">
                  <c:v>1011.51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2D-4AA7-8061-3357B9F0EF2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Networking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74.48</c:v>
                </c:pt>
                <c:pt idx="2">
                  <c:v>311.42</c:v>
                </c:pt>
                <c:pt idx="3">
                  <c:v>303.73</c:v>
                </c:pt>
                <c:pt idx="4">
                  <c:v>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32D-4AA7-8061-3357B9F0EF2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Gemini API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395.81</c:v>
                </c:pt>
                <c:pt idx="1">
                  <c:v>134.71</c:v>
                </c:pt>
                <c:pt idx="2">
                  <c:v>92.38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32D-4AA7-8061-3357B9F0EF2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Support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26.43</c:v>
                </c:pt>
                <c:pt idx="3">
                  <c:v>98.24</c:v>
                </c:pt>
                <c:pt idx="4">
                  <c:v>141.65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32D-4AA7-8061-3357B9F0EF2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 services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0.06</c:v>
                </c:pt>
                <c:pt idx="1">
                  <c:v>9.23</c:v>
                </c:pt>
                <c:pt idx="2">
                  <c:v>-73.959999999999994</c:v>
                </c:pt>
                <c:pt idx="3">
                  <c:v>-117.27</c:v>
                </c:pt>
                <c:pt idx="4">
                  <c:v>-115.11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32D-4AA7-8061-3357B9F0EF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aws-prod-Digital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22332.66</c:v>
                </c:pt>
                <c:pt idx="1">
                  <c:v>21140.47</c:v>
                </c:pt>
                <c:pt idx="2">
                  <c:v>21628.91</c:v>
                </c:pt>
                <c:pt idx="3">
                  <c:v>21144.81</c:v>
                </c:pt>
                <c:pt idx="4">
                  <c:v>21545.74</c:v>
                </c:pt>
                <c:pt idx="5">
                  <c:v>21516.36</c:v>
                </c:pt>
                <c:pt idx="6">
                  <c:v>22251.5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75-4DC3-BDE7-0F8D368401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aws-devTest-digital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9774.69</c:v>
                </c:pt>
                <c:pt idx="1">
                  <c:v>9293.5</c:v>
                </c:pt>
                <c:pt idx="2">
                  <c:v>13019.52</c:v>
                </c:pt>
                <c:pt idx="3">
                  <c:v>12889.08</c:v>
                </c:pt>
                <c:pt idx="4">
                  <c:v>14478.53</c:v>
                </c:pt>
                <c:pt idx="5">
                  <c:v>13223.96</c:v>
                </c:pt>
                <c:pt idx="6">
                  <c:v>13679.04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75-4DC3-BDE7-0F8D368401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aws-preProd-digital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10763.47</c:v>
                </c:pt>
                <c:pt idx="1">
                  <c:v>9195.09</c:v>
                </c:pt>
                <c:pt idx="2">
                  <c:v>10753.11</c:v>
                </c:pt>
                <c:pt idx="3">
                  <c:v>10593.41</c:v>
                </c:pt>
                <c:pt idx="4">
                  <c:v>11424.85</c:v>
                </c:pt>
                <c:pt idx="5">
                  <c:v>10158.6</c:v>
                </c:pt>
                <c:pt idx="6">
                  <c:v>10824.22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75-4DC3-BDE7-0F8D368401A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aws-foundation-security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8241.01</c:v>
                </c:pt>
                <c:pt idx="1">
                  <c:v>7426.22</c:v>
                </c:pt>
                <c:pt idx="2">
                  <c:v>8018.52</c:v>
                </c:pt>
                <c:pt idx="3">
                  <c:v>7844.99</c:v>
                </c:pt>
                <c:pt idx="4">
                  <c:v>8595.7999999999993</c:v>
                </c:pt>
                <c:pt idx="5">
                  <c:v>8586.64</c:v>
                </c:pt>
                <c:pt idx="6">
                  <c:v>8752.36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D75-4DC3-BDE7-0F8D368401A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customers3-prod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886.84</c:v>
                </c:pt>
                <c:pt idx="1">
                  <c:v>13482.36</c:v>
                </c:pt>
                <c:pt idx="2">
                  <c:v>11082.36</c:v>
                </c:pt>
                <c:pt idx="3">
                  <c:v>2357.5</c:v>
                </c:pt>
                <c:pt idx="4">
                  <c:v>4222.21</c:v>
                </c:pt>
                <c:pt idx="5">
                  <c:v>6507.56</c:v>
                </c:pt>
                <c:pt idx="6">
                  <c:v>9065.77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75-4DC3-BDE7-0F8D368401A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cloudops-network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6243.55</c:v>
                </c:pt>
                <c:pt idx="1">
                  <c:v>5752.81</c:v>
                </c:pt>
                <c:pt idx="2">
                  <c:v>7021.84</c:v>
                </c:pt>
                <c:pt idx="3">
                  <c:v>6897.91</c:v>
                </c:pt>
                <c:pt idx="4">
                  <c:v>7152.27</c:v>
                </c:pt>
                <c:pt idx="5">
                  <c:v>7100.37</c:v>
                </c:pt>
                <c:pt idx="6">
                  <c:v>7373.13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D75-4DC3-BDE7-0F8D368401AF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aws-foundation-sharedservices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6557.18</c:v>
                </c:pt>
                <c:pt idx="1">
                  <c:v>5506.82</c:v>
                </c:pt>
                <c:pt idx="2">
                  <c:v>5796.97</c:v>
                </c:pt>
                <c:pt idx="3">
                  <c:v>5754.82</c:v>
                </c:pt>
                <c:pt idx="4">
                  <c:v>6022.6</c:v>
                </c:pt>
                <c:pt idx="5">
                  <c:v>6015.61</c:v>
                </c:pt>
                <c:pt idx="6">
                  <c:v>6067.45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D75-4DC3-BDE7-0F8D368401AF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Harel Insurance</c:v>
                </c:pt>
              </c:strCache>
            </c:strRef>
          </c:tx>
          <c:spPr>
            <a:solidFill>
              <a:srgbClr val="FFB84D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Sheet1!$I$2:$I$8</c:f>
              <c:numCache>
                <c:formatCode>General</c:formatCode>
                <c:ptCount val="7"/>
                <c:pt idx="0">
                  <c:v>6065.71</c:v>
                </c:pt>
                <c:pt idx="1">
                  <c:v>3782.04</c:v>
                </c:pt>
                <c:pt idx="2">
                  <c:v>6397.95</c:v>
                </c:pt>
                <c:pt idx="3">
                  <c:v>8584.51</c:v>
                </c:pt>
                <c:pt idx="4">
                  <c:v>3830.37</c:v>
                </c:pt>
                <c:pt idx="5">
                  <c:v>6197.57</c:v>
                </c:pt>
                <c:pt idx="6">
                  <c:v>5139.8599999999997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D75-4DC3-BDE7-0F8D368401AF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6C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Sheet1!$J$2:$J$8</c:f>
              <c:numCache>
                <c:formatCode>General</c:formatCode>
                <c:ptCount val="7"/>
                <c:pt idx="0">
                  <c:v>6260.39</c:v>
                </c:pt>
                <c:pt idx="1">
                  <c:v>7002.8999999999987</c:v>
                </c:pt>
                <c:pt idx="2">
                  <c:v>12141.12</c:v>
                </c:pt>
                <c:pt idx="3">
                  <c:v>5862.0499999999993</c:v>
                </c:pt>
                <c:pt idx="4">
                  <c:v>5790.1100000000015</c:v>
                </c:pt>
                <c:pt idx="5">
                  <c:v>7274.5199999999995</c:v>
                </c:pt>
                <c:pt idx="6">
                  <c:v>-6323.6400000000012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D75-4DC3-BDE7-0F8D368401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EC2 - Compute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31180.69</c:v>
                </c:pt>
                <c:pt idx="1">
                  <c:v>28236.720000000001</c:v>
                </c:pt>
                <c:pt idx="2">
                  <c:v>32994.93</c:v>
                </c:pt>
                <c:pt idx="3">
                  <c:v>32045.93</c:v>
                </c:pt>
                <c:pt idx="4">
                  <c:v>35082.639999999999</c:v>
                </c:pt>
                <c:pt idx="5">
                  <c:v>33427.89</c:v>
                </c:pt>
                <c:pt idx="6">
                  <c:v>35426.33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69-472D-935B-BFB3129122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Business Support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3876.88</c:v>
                </c:pt>
                <c:pt idx="1">
                  <c:v>4268.96</c:v>
                </c:pt>
                <c:pt idx="2">
                  <c:v>4581.17</c:v>
                </c:pt>
                <c:pt idx="3">
                  <c:v>4108.04</c:v>
                </c:pt>
                <c:pt idx="4">
                  <c:v>4478.1000000000004</c:v>
                </c:pt>
                <c:pt idx="5">
                  <c:v>4839.1400000000003</c:v>
                </c:pt>
                <c:pt idx="6">
                  <c:v>5893.49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69-472D-935B-BFB3129122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S3 - Storage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1978.49</c:v>
                </c:pt>
                <c:pt idx="1">
                  <c:v>13276.31</c:v>
                </c:pt>
                <c:pt idx="2">
                  <c:v>5868.01</c:v>
                </c:pt>
                <c:pt idx="3">
                  <c:v>2134.4699999999998</c:v>
                </c:pt>
                <c:pt idx="4">
                  <c:v>2249.46</c:v>
                </c:pt>
                <c:pt idx="5">
                  <c:v>2370.09</c:v>
                </c:pt>
                <c:pt idx="6">
                  <c:v>2324.71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069-472D-935B-BFB31291225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Virtual Private Cloud - Transit Gateway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3925.73</c:v>
                </c:pt>
                <c:pt idx="1">
                  <c:v>3570.88</c:v>
                </c:pt>
                <c:pt idx="2">
                  <c:v>3963.99</c:v>
                </c:pt>
                <c:pt idx="3">
                  <c:v>3878.04</c:v>
                </c:pt>
                <c:pt idx="4">
                  <c:v>4428.68</c:v>
                </c:pt>
                <c:pt idx="5">
                  <c:v>4573.6000000000004</c:v>
                </c:pt>
                <c:pt idx="6">
                  <c:v>4657.2700000000004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069-472D-935B-BFB31291225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RDS - Compute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4939.68</c:v>
                </c:pt>
                <c:pt idx="1">
                  <c:v>3272.18</c:v>
                </c:pt>
                <c:pt idx="2">
                  <c:v>3522.03</c:v>
                </c:pt>
                <c:pt idx="3">
                  <c:v>3408.12</c:v>
                </c:pt>
                <c:pt idx="4">
                  <c:v>3521.72</c:v>
                </c:pt>
                <c:pt idx="5">
                  <c:v>4011.45</c:v>
                </c:pt>
                <c:pt idx="6">
                  <c:v>4355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069-472D-935B-BFB31291225D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Direct Connect - Port Hours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3794.4</c:v>
                </c:pt>
                <c:pt idx="1">
                  <c:v>3427.2</c:v>
                </c:pt>
                <c:pt idx="2">
                  <c:v>3794.4</c:v>
                </c:pt>
                <c:pt idx="3">
                  <c:v>3672</c:v>
                </c:pt>
                <c:pt idx="4">
                  <c:v>3794.4</c:v>
                </c:pt>
                <c:pt idx="5">
                  <c:v>3672</c:v>
                </c:pt>
                <c:pt idx="6">
                  <c:v>3794.4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069-472D-935B-BFB31291225D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CloudWatch Log Groups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2791.6</c:v>
                </c:pt>
                <c:pt idx="1">
                  <c:v>2486.91</c:v>
                </c:pt>
                <c:pt idx="2">
                  <c:v>2914.14</c:v>
                </c:pt>
                <c:pt idx="3">
                  <c:v>2895.9</c:v>
                </c:pt>
                <c:pt idx="4">
                  <c:v>3040.1</c:v>
                </c:pt>
                <c:pt idx="5">
                  <c:v>3061.85</c:v>
                </c:pt>
                <c:pt idx="6">
                  <c:v>2991.11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069-472D-935B-BFB31291225D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all other services</c:v>
                </c:pt>
              </c:strCache>
            </c:strRef>
          </c:tx>
          <c:spPr>
            <a:solidFill>
              <a:srgbClr val="FFB84D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Sheet1!$I$2:$I$8</c:f>
              <c:numCache>
                <c:formatCode>General</c:formatCode>
                <c:ptCount val="7"/>
                <c:pt idx="0">
                  <c:v>2981.34</c:v>
                </c:pt>
                <c:pt idx="1">
                  <c:v>4394.96</c:v>
                </c:pt>
                <c:pt idx="2">
                  <c:v>3697.84</c:v>
                </c:pt>
                <c:pt idx="3">
                  <c:v>2273.25</c:v>
                </c:pt>
                <c:pt idx="4">
                  <c:v>2037.07</c:v>
                </c:pt>
                <c:pt idx="5">
                  <c:v>1889.52</c:v>
                </c:pt>
                <c:pt idx="6">
                  <c:v>1276.28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069-472D-935B-BFB31291225D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6C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Sheet1!$J$2:$J$8</c:f>
              <c:numCache>
                <c:formatCode>General</c:formatCode>
                <c:ptCount val="7"/>
                <c:pt idx="0">
                  <c:v>21656.71000000001</c:v>
                </c:pt>
                <c:pt idx="1">
                  <c:v>19648.099999999999</c:v>
                </c:pt>
                <c:pt idx="2">
                  <c:v>34523.78</c:v>
                </c:pt>
                <c:pt idx="3">
                  <c:v>27513.360000000008</c:v>
                </c:pt>
                <c:pt idx="4">
                  <c:v>24430.3</c:v>
                </c:pt>
                <c:pt idx="5">
                  <c:v>28735.639999999996</c:v>
                </c:pt>
                <c:pt idx="6">
                  <c:v>16111.090000000006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069-472D-935B-BFB3129122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datacloud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47462</c:v>
                </c:pt>
                <c:pt idx="1">
                  <c:v>49198.19</c:v>
                </c:pt>
                <c:pt idx="2">
                  <c:v>54536</c:v>
                </c:pt>
                <c:pt idx="3">
                  <c:v>50235.01</c:v>
                </c:pt>
                <c:pt idx="4">
                  <c:v>43924.46</c:v>
                </c:pt>
                <c:pt idx="5">
                  <c:v>44390</c:v>
                </c:pt>
                <c:pt idx="6">
                  <c:v>49118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A3-4FC6-A24E-9726BE3666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sap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42266</c:v>
                </c:pt>
                <c:pt idx="1">
                  <c:v>39098.06</c:v>
                </c:pt>
                <c:pt idx="2">
                  <c:v>41546</c:v>
                </c:pt>
                <c:pt idx="3">
                  <c:v>40825.4</c:v>
                </c:pt>
                <c:pt idx="4">
                  <c:v>46601</c:v>
                </c:pt>
                <c:pt idx="5">
                  <c:v>42665</c:v>
                </c:pt>
                <c:pt idx="6">
                  <c:v>40925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A3-4FC6-A24E-9726BE3666F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cloudit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30915</c:v>
                </c:pt>
                <c:pt idx="1">
                  <c:v>24680.95</c:v>
                </c:pt>
                <c:pt idx="2">
                  <c:v>40730</c:v>
                </c:pt>
                <c:pt idx="3">
                  <c:v>29195.48</c:v>
                </c:pt>
                <c:pt idx="4">
                  <c:v>28615</c:v>
                </c:pt>
                <c:pt idx="5">
                  <c:v>28585</c:v>
                </c:pt>
                <c:pt idx="6">
                  <c:v>33421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0A3-4FC6-A24E-9726BE3666F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aifactory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854</c:v>
                </c:pt>
                <c:pt idx="1">
                  <c:v>3477.58</c:v>
                </c:pt>
                <c:pt idx="2">
                  <c:v>12632</c:v>
                </c:pt>
                <c:pt idx="3">
                  <c:v>11675.62</c:v>
                </c:pt>
                <c:pt idx="4">
                  <c:v>13656</c:v>
                </c:pt>
                <c:pt idx="5">
                  <c:v>26476</c:v>
                </c:pt>
                <c:pt idx="6">
                  <c:v>24531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0A3-4FC6-A24E-9726BE3666F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4371</c:v>
                </c:pt>
                <c:pt idx="1">
                  <c:v>5240</c:v>
                </c:pt>
                <c:pt idx="2">
                  <c:v>5614</c:v>
                </c:pt>
                <c:pt idx="3">
                  <c:v>5760</c:v>
                </c:pt>
                <c:pt idx="4">
                  <c:v>8681.34</c:v>
                </c:pt>
                <c:pt idx="5">
                  <c:v>18094</c:v>
                </c:pt>
                <c:pt idx="6">
                  <c:v>22410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A3-4FC6-A24E-9726BE3666FB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actuary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15102</c:v>
                </c:pt>
                <c:pt idx="1">
                  <c:v>4959.24</c:v>
                </c:pt>
                <c:pt idx="2">
                  <c:v>3549</c:v>
                </c:pt>
                <c:pt idx="3">
                  <c:v>5341</c:v>
                </c:pt>
                <c:pt idx="4">
                  <c:v>4672</c:v>
                </c:pt>
                <c:pt idx="5">
                  <c:v>2733</c:v>
                </c:pt>
                <c:pt idx="6">
                  <c:v>4058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0A3-4FC6-A24E-9726BE3666FB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Risk Agility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13063</c:v>
                </c:pt>
                <c:pt idx="1">
                  <c:v>5274</c:v>
                </c:pt>
                <c:pt idx="2">
                  <c:v>2617</c:v>
                </c:pt>
                <c:pt idx="3">
                  <c:v>5768</c:v>
                </c:pt>
                <c:pt idx="4">
                  <c:v>2842</c:v>
                </c:pt>
                <c:pt idx="5">
                  <c:v>1031</c:v>
                </c:pt>
                <c:pt idx="6">
                  <c:v>1032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0A3-4FC6-A24E-9726BE3666FB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itsec</c:v>
                </c:pt>
              </c:strCache>
            </c:strRef>
          </c:tx>
          <c:spPr>
            <a:solidFill>
              <a:srgbClr val="FFB84D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Sheet1!$I$2:$I$8</c:f>
              <c:numCache>
                <c:formatCode>General</c:formatCode>
                <c:ptCount val="7"/>
                <c:pt idx="0">
                  <c:v>2082</c:v>
                </c:pt>
                <c:pt idx="1">
                  <c:v>1733.66</c:v>
                </c:pt>
                <c:pt idx="2">
                  <c:v>1908</c:v>
                </c:pt>
                <c:pt idx="3">
                  <c:v>1897.79</c:v>
                </c:pt>
                <c:pt idx="4">
                  <c:v>2047</c:v>
                </c:pt>
                <c:pt idx="5">
                  <c:v>2059</c:v>
                </c:pt>
                <c:pt idx="6">
                  <c:v>2221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0A3-4FC6-A24E-9726BE3666FB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6C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Sheet1!$J$2:$J$8</c:f>
              <c:numCache>
                <c:formatCode>General</c:formatCode>
                <c:ptCount val="7"/>
                <c:pt idx="0">
                  <c:v>874.61</c:v>
                </c:pt>
                <c:pt idx="1">
                  <c:v>2079.7999999999997</c:v>
                </c:pt>
                <c:pt idx="2">
                  <c:v>2067</c:v>
                </c:pt>
                <c:pt idx="3">
                  <c:v>1879.0600000000002</c:v>
                </c:pt>
                <c:pt idx="4">
                  <c:v>1224.2</c:v>
                </c:pt>
                <c:pt idx="5">
                  <c:v>1373</c:v>
                </c:pt>
                <c:pt idx="6">
                  <c:v>9201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0A3-4FC6-A24E-9726BE3666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58546.14</c:v>
                </c:pt>
                <c:pt idx="1">
                  <c:v>48277</c:v>
                </c:pt>
                <c:pt idx="2">
                  <c:v>52579.27</c:v>
                </c:pt>
                <c:pt idx="3">
                  <c:v>51502.75</c:v>
                </c:pt>
                <c:pt idx="4">
                  <c:v>57465.99</c:v>
                </c:pt>
                <c:pt idx="5">
                  <c:v>52188.55</c:v>
                </c:pt>
                <c:pt idx="6">
                  <c:v>53314.28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C4-4E0F-B74A-282E5FA1C5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24139.41</c:v>
                </c:pt>
                <c:pt idx="1">
                  <c:v>22951</c:v>
                </c:pt>
                <c:pt idx="2">
                  <c:v>22458.080000000002</c:v>
                </c:pt>
                <c:pt idx="3">
                  <c:v>22680.51</c:v>
                </c:pt>
                <c:pt idx="4">
                  <c:v>24615.18</c:v>
                </c:pt>
                <c:pt idx="5">
                  <c:v>25022.53</c:v>
                </c:pt>
                <c:pt idx="6">
                  <c:v>26364.22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C4-4E0F-B74A-282E5FA1C5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12726.23</c:v>
                </c:pt>
                <c:pt idx="1">
                  <c:v>12145</c:v>
                </c:pt>
                <c:pt idx="2">
                  <c:v>14087.61</c:v>
                </c:pt>
                <c:pt idx="3">
                  <c:v>15311.83</c:v>
                </c:pt>
                <c:pt idx="4">
                  <c:v>18338.27</c:v>
                </c:pt>
                <c:pt idx="5">
                  <c:v>18564.990000000002</c:v>
                </c:pt>
                <c:pt idx="6">
                  <c:v>21999.599999999999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C4-4E0F-B74A-282E5FA1C5E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services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11748.56</c:v>
                </c:pt>
                <c:pt idx="1">
                  <c:v>10773</c:v>
                </c:pt>
                <c:pt idx="2">
                  <c:v>12318.12</c:v>
                </c:pt>
                <c:pt idx="3">
                  <c:v>12412.59</c:v>
                </c:pt>
                <c:pt idx="4">
                  <c:v>15149.61</c:v>
                </c:pt>
                <c:pt idx="5">
                  <c:v>18338.580000000002</c:v>
                </c:pt>
                <c:pt idx="6">
                  <c:v>20600.18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C4-4E0F-B74A-282E5FA1C5E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Azure Databricks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24556.13</c:v>
                </c:pt>
                <c:pt idx="1">
                  <c:v>18645</c:v>
                </c:pt>
                <c:pt idx="2">
                  <c:v>22427.89</c:v>
                </c:pt>
                <c:pt idx="3">
                  <c:v>19936.330000000002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2C4-4E0F-B74A-282E5FA1C5E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GitHub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2778.52</c:v>
                </c:pt>
                <c:pt idx="1">
                  <c:v>3618</c:v>
                </c:pt>
                <c:pt idx="2">
                  <c:v>4319.13</c:v>
                </c:pt>
                <c:pt idx="3">
                  <c:v>4079.57</c:v>
                </c:pt>
                <c:pt idx="4">
                  <c:v>6467.04</c:v>
                </c:pt>
                <c:pt idx="5">
                  <c:v>16654.2</c:v>
                </c:pt>
                <c:pt idx="6">
                  <c:v>19259.78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2C4-4E0F-B74A-282E5FA1C5EF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Foundry Models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1353.37</c:v>
                </c:pt>
                <c:pt idx="1">
                  <c:v>2260</c:v>
                </c:pt>
                <c:pt idx="2">
                  <c:v>4236.3500000000004</c:v>
                </c:pt>
                <c:pt idx="3">
                  <c:v>8369.39</c:v>
                </c:pt>
                <c:pt idx="4">
                  <c:v>11512.76</c:v>
                </c:pt>
                <c:pt idx="5">
                  <c:v>15453.34</c:v>
                </c:pt>
                <c:pt idx="6">
                  <c:v>12291.25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2C4-4E0F-B74A-282E5FA1C5EF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Log Analytics</c:v>
                </c:pt>
              </c:strCache>
            </c:strRef>
          </c:tx>
          <c:spPr>
            <a:solidFill>
              <a:srgbClr val="FFB84D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Sheet1!$I$2:$I$8</c:f>
              <c:numCache>
                <c:formatCode>General</c:formatCode>
                <c:ptCount val="7"/>
                <c:pt idx="0">
                  <c:v>7521.92</c:v>
                </c:pt>
                <c:pt idx="1">
                  <c:v>3955</c:v>
                </c:pt>
                <c:pt idx="2">
                  <c:v>10858.98</c:v>
                </c:pt>
                <c:pt idx="3">
                  <c:v>3911.97</c:v>
                </c:pt>
                <c:pt idx="4">
                  <c:v>2204.52</c:v>
                </c:pt>
                <c:pt idx="5">
                  <c:v>2318.73</c:v>
                </c:pt>
                <c:pt idx="6">
                  <c:v>2680.5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2C4-4E0F-B74A-282E5FA1C5EF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6C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Sheet1!$J$2:$J$8</c:f>
              <c:numCache>
                <c:formatCode>General</c:formatCode>
                <c:ptCount val="7"/>
                <c:pt idx="0">
                  <c:v>13619.52</c:v>
                </c:pt>
                <c:pt idx="1">
                  <c:v>13118</c:v>
                </c:pt>
                <c:pt idx="2">
                  <c:v>21913.22</c:v>
                </c:pt>
                <c:pt idx="3">
                  <c:v>14372.410000000002</c:v>
                </c:pt>
                <c:pt idx="4">
                  <c:v>16509.63</c:v>
                </c:pt>
                <c:pt idx="5">
                  <c:v>18865.080000000005</c:v>
                </c:pt>
                <c:pt idx="6">
                  <c:v>30407.200000000001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2C4-4E0F-B74A-282E5FA1C5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8001.69</c:v>
                </c:pt>
                <c:pt idx="1">
                  <c:v>8851</c:v>
                </c:pt>
                <c:pt idx="2">
                  <c:v>9977</c:v>
                </c:pt>
                <c:pt idx="3">
                  <c:v>8938.34</c:v>
                </c:pt>
                <c:pt idx="4">
                  <c:v>10192.34</c:v>
                </c:pt>
                <c:pt idx="5">
                  <c:v>10365.58</c:v>
                </c:pt>
                <c:pt idx="6">
                  <c:v>11078.33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D9-47CC-B751-1C612C2102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Azure Databricks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13661.81</c:v>
                </c:pt>
                <c:pt idx="1">
                  <c:v>14023</c:v>
                </c:pt>
                <c:pt idx="2">
                  <c:v>19412</c:v>
                </c:pt>
                <c:pt idx="3">
                  <c:v>16633.53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D9-47CC-B751-1C612C2102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5134.3100000000004</c:v>
                </c:pt>
                <c:pt idx="1">
                  <c:v>5630</c:v>
                </c:pt>
                <c:pt idx="2">
                  <c:v>5747</c:v>
                </c:pt>
                <c:pt idx="3">
                  <c:v>5515.42</c:v>
                </c:pt>
                <c:pt idx="4">
                  <c:v>6124.59</c:v>
                </c:pt>
                <c:pt idx="5">
                  <c:v>6488.31</c:v>
                </c:pt>
                <c:pt idx="6">
                  <c:v>6847.08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D9-47CC-B751-1C612C21022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4756.18</c:v>
                </c:pt>
                <c:pt idx="1">
                  <c:v>4988</c:v>
                </c:pt>
                <c:pt idx="2">
                  <c:v>5905.3</c:v>
                </c:pt>
                <c:pt idx="3">
                  <c:v>5036.83</c:v>
                </c:pt>
                <c:pt idx="4">
                  <c:v>5067.49</c:v>
                </c:pt>
                <c:pt idx="5">
                  <c:v>6698.63</c:v>
                </c:pt>
                <c:pt idx="6">
                  <c:v>7400.62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ED9-47CC-B751-1C612C21022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Foundry Models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1347.06</c:v>
                </c:pt>
                <c:pt idx="1">
                  <c:v>2243</c:v>
                </c:pt>
                <c:pt idx="2">
                  <c:v>1274.47</c:v>
                </c:pt>
                <c:pt idx="3">
                  <c:v>4218.08</c:v>
                </c:pt>
                <c:pt idx="4">
                  <c:v>10329.629999999999</c:v>
                </c:pt>
                <c:pt idx="5">
                  <c:v>5769.96</c:v>
                </c:pt>
                <c:pt idx="6">
                  <c:v>6649.77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D9-47CC-B751-1C612C21022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Foundry Tools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4271.49</c:v>
                </c:pt>
                <c:pt idx="1">
                  <c:v>4337</c:v>
                </c:pt>
                <c:pt idx="2">
                  <c:v>3298.75</c:v>
                </c:pt>
                <c:pt idx="3">
                  <c:v>1922.73</c:v>
                </c:pt>
                <c:pt idx="4">
                  <c:v>3305.17</c:v>
                </c:pt>
                <c:pt idx="5">
                  <c:v>5675.5</c:v>
                </c:pt>
                <c:pt idx="6">
                  <c:v>6603.58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ED9-47CC-B751-1C612C21022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10289.35</c:v>
                </c:pt>
                <c:pt idx="1">
                  <c:v>9126</c:v>
                </c:pt>
                <c:pt idx="2">
                  <c:v>8921.9800000000014</c:v>
                </c:pt>
                <c:pt idx="3">
                  <c:v>7970.0800000000008</c:v>
                </c:pt>
                <c:pt idx="4">
                  <c:v>8905.24</c:v>
                </c:pt>
                <c:pt idx="5">
                  <c:v>9392.630000000001</c:v>
                </c:pt>
                <c:pt idx="6">
                  <c:v>10538.439999999999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ED9-47CC-B751-1C612C2102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DataCloud prod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40269.800000000003</c:v>
                </c:pt>
                <c:pt idx="1">
                  <c:v>41870.089999999997</c:v>
                </c:pt>
                <c:pt idx="2">
                  <c:v>48649</c:v>
                </c:pt>
                <c:pt idx="3">
                  <c:v>42196.41</c:v>
                </c:pt>
                <c:pt idx="4">
                  <c:v>29317.96</c:v>
                </c:pt>
                <c:pt idx="5">
                  <c:v>33038.949999999997</c:v>
                </c:pt>
                <c:pt idx="6">
                  <c:v>36010.25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58-4EEE-8CCF-E69052E574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Solugen Production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854.16</c:v>
                </c:pt>
                <c:pt idx="1">
                  <c:v>702.78</c:v>
                </c:pt>
                <c:pt idx="2">
                  <c:v>620.89</c:v>
                </c:pt>
                <c:pt idx="3">
                  <c:v>1545.48</c:v>
                </c:pt>
                <c:pt idx="4">
                  <c:v>10021.98</c:v>
                </c:pt>
                <c:pt idx="5">
                  <c:v>6749.23</c:v>
                </c:pt>
                <c:pt idx="6">
                  <c:v>8415.8700000000008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58-4EEE-8CCF-E69052E574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DataCloud dev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3242.73</c:v>
                </c:pt>
                <c:pt idx="1">
                  <c:v>2995.17</c:v>
                </c:pt>
                <c:pt idx="2">
                  <c:v>2380</c:v>
                </c:pt>
                <c:pt idx="3">
                  <c:v>3985.63</c:v>
                </c:pt>
                <c:pt idx="4">
                  <c:v>1715.02</c:v>
                </c:pt>
                <c:pt idx="5">
                  <c:v>1838.65</c:v>
                </c:pt>
                <c:pt idx="6">
                  <c:v>1579.05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C58-4EEE-8CCF-E69052E574B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INSAIT Production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1063.6300000000001</c:v>
                </c:pt>
                <c:pt idx="1">
                  <c:v>1914.41</c:v>
                </c:pt>
                <c:pt idx="2">
                  <c:v>1364.48</c:v>
                </c:pt>
                <c:pt idx="3">
                  <c:v>1354.4</c:v>
                </c:pt>
                <c:pt idx="4">
                  <c:v>1456.6</c:v>
                </c:pt>
                <c:pt idx="5">
                  <c:v>1604.48</c:v>
                </c:pt>
                <c:pt idx="6">
                  <c:v>1983.38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C58-4EEE-8CCF-E69052E574B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DataCloud dev 1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324.17</c:v>
                </c:pt>
                <c:pt idx="1">
                  <c:v>275</c:v>
                </c:pt>
                <c:pt idx="2">
                  <c:v>285.86</c:v>
                </c:pt>
                <c:pt idx="3">
                  <c:v>269.83999999999997</c:v>
                </c:pt>
                <c:pt idx="4">
                  <c:v>281.57</c:v>
                </c:pt>
                <c:pt idx="5">
                  <c:v>269.20999999999998</c:v>
                </c:pt>
                <c:pt idx="6">
                  <c:v>278.23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C58-4EEE-8CCF-E69052E574B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Sandbox System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263.89</c:v>
                </c:pt>
                <c:pt idx="1">
                  <c:v>308.02999999999997</c:v>
                </c:pt>
                <c:pt idx="2">
                  <c:v>265</c:v>
                </c:pt>
                <c:pt idx="3">
                  <c:v>260.07</c:v>
                </c:pt>
                <c:pt idx="4">
                  <c:v>335.75</c:v>
                </c:pt>
                <c:pt idx="5">
                  <c:v>256.14</c:v>
                </c:pt>
                <c:pt idx="6">
                  <c:v>267.43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C58-4EEE-8CCF-E69052E574B6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1443.54</c:v>
                </c:pt>
                <c:pt idx="1">
                  <c:v>1132.52</c:v>
                </c:pt>
                <c:pt idx="2">
                  <c:v>971.12000000000012</c:v>
                </c:pt>
                <c:pt idx="3">
                  <c:v>623.18999999999983</c:v>
                </c:pt>
                <c:pt idx="4">
                  <c:v>796.06999999999994</c:v>
                </c:pt>
                <c:pt idx="5">
                  <c:v>633.94999999999993</c:v>
                </c:pt>
                <c:pt idx="6">
                  <c:v>583.62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C58-4EEE-8CCF-E69052E574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30152.87</c:v>
                </c:pt>
                <c:pt idx="1">
                  <c:v>28348</c:v>
                </c:pt>
                <c:pt idx="2">
                  <c:v>31348</c:v>
                </c:pt>
                <c:pt idx="3">
                  <c:v>30597</c:v>
                </c:pt>
                <c:pt idx="4">
                  <c:v>35586.32</c:v>
                </c:pt>
                <c:pt idx="5">
                  <c:v>31413</c:v>
                </c:pt>
                <c:pt idx="6">
                  <c:v>30117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62-4DED-A6C1-8C47259C35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11916.96</c:v>
                </c:pt>
                <c:pt idx="1">
                  <c:v>10639</c:v>
                </c:pt>
                <c:pt idx="2">
                  <c:v>10074</c:v>
                </c:pt>
                <c:pt idx="3">
                  <c:v>10076</c:v>
                </c:pt>
                <c:pt idx="4">
                  <c:v>10811.81</c:v>
                </c:pt>
                <c:pt idx="5">
                  <c:v>11077</c:v>
                </c:pt>
                <c:pt idx="6">
                  <c:v>10526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62-4DED-A6C1-8C47259C35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195.78</c:v>
                </c:pt>
                <c:pt idx="1">
                  <c:v>112</c:v>
                </c:pt>
                <c:pt idx="2">
                  <c:v>124</c:v>
                </c:pt>
                <c:pt idx="3">
                  <c:v>153</c:v>
                </c:pt>
                <c:pt idx="4">
                  <c:v>166.67</c:v>
                </c:pt>
                <c:pt idx="5">
                  <c:v>134</c:v>
                </c:pt>
                <c:pt idx="6">
                  <c:v>238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62-4DED-A6C1-8C47259C35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Virtual Machines Licenses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36.53</c:v>
                </c:pt>
                <c:pt idx="5">
                  <c:v>41</c:v>
                </c:pt>
                <c:pt idx="6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C62-4DED-A6C1-8C47259C35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Bandwidth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0.01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C62-4DED-A6C1-8C47259C35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SAP Dev/Test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23275.74</c:v>
                </c:pt>
                <c:pt idx="1">
                  <c:v>22687</c:v>
                </c:pt>
                <c:pt idx="2">
                  <c:v>24090</c:v>
                </c:pt>
                <c:pt idx="3">
                  <c:v>23647</c:v>
                </c:pt>
                <c:pt idx="4">
                  <c:v>26321.74</c:v>
                </c:pt>
                <c:pt idx="5">
                  <c:v>24985</c:v>
                </c:pt>
                <c:pt idx="6">
                  <c:v>23467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7F-4271-8600-824E2E50D4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SAP Production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18989.88</c:v>
                </c:pt>
                <c:pt idx="1">
                  <c:v>16411</c:v>
                </c:pt>
                <c:pt idx="2">
                  <c:v>17456</c:v>
                </c:pt>
                <c:pt idx="3">
                  <c:v>17178</c:v>
                </c:pt>
                <c:pt idx="4">
                  <c:v>20279.59</c:v>
                </c:pt>
                <c:pt idx="5">
                  <c:v>17680</c:v>
                </c:pt>
                <c:pt idx="6">
                  <c:v>17457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7F-4271-8600-824E2E50D4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5740.91</c:v>
                </c:pt>
                <c:pt idx="1">
                  <c:v>5286</c:v>
                </c:pt>
                <c:pt idx="2">
                  <c:v>5960.04</c:v>
                </c:pt>
                <c:pt idx="3">
                  <c:v>7306.9</c:v>
                </c:pt>
                <c:pt idx="4">
                  <c:v>8900.5</c:v>
                </c:pt>
                <c:pt idx="5">
                  <c:v>8855.65</c:v>
                </c:pt>
                <c:pt idx="6">
                  <c:v>10913.22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CE-4901-A991-74E57E491F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5000.41</c:v>
                </c:pt>
                <c:pt idx="1">
                  <c:v>4756</c:v>
                </c:pt>
                <c:pt idx="2">
                  <c:v>4679.66</c:v>
                </c:pt>
                <c:pt idx="3">
                  <c:v>4663.37</c:v>
                </c:pt>
                <c:pt idx="4">
                  <c:v>4758.84</c:v>
                </c:pt>
                <c:pt idx="5">
                  <c:v>4887.1499999999996</c:v>
                </c:pt>
                <c:pt idx="6">
                  <c:v>6077.62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CE-4901-A991-74E57E491FC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Log Analytics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7300.46</c:v>
                </c:pt>
                <c:pt idx="1">
                  <c:v>3692</c:v>
                </c:pt>
                <c:pt idx="2">
                  <c:v>10596.09</c:v>
                </c:pt>
                <c:pt idx="3">
                  <c:v>3911.97</c:v>
                </c:pt>
                <c:pt idx="4">
                  <c:v>1966.89</c:v>
                </c:pt>
                <c:pt idx="5">
                  <c:v>2066.6999999999998</c:v>
                </c:pt>
                <c:pt idx="6">
                  <c:v>2306.0500000000002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4CE-4901-A991-74E57E491FC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4242.88</c:v>
                </c:pt>
                <c:pt idx="1">
                  <c:v>3549</c:v>
                </c:pt>
                <c:pt idx="2">
                  <c:v>4067.07</c:v>
                </c:pt>
                <c:pt idx="3">
                  <c:v>3938.6</c:v>
                </c:pt>
                <c:pt idx="4">
                  <c:v>4539.7</c:v>
                </c:pt>
                <c:pt idx="5">
                  <c:v>4344.13</c:v>
                </c:pt>
                <c:pt idx="6">
                  <c:v>4847.43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4CE-4901-A991-74E57E491FC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Sentinel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1732.05</c:v>
                </c:pt>
                <c:pt idx="1">
                  <c:v>1468</c:v>
                </c:pt>
                <c:pt idx="2">
                  <c:v>8874.9</c:v>
                </c:pt>
                <c:pt idx="3">
                  <c:v>3278.03</c:v>
                </c:pt>
                <c:pt idx="4">
                  <c:v>1333.2</c:v>
                </c:pt>
                <c:pt idx="5">
                  <c:v>1369.67</c:v>
                </c:pt>
                <c:pt idx="6">
                  <c:v>1467.73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CE-4901-A991-74E57E491FC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 services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2265</c:v>
                </c:pt>
                <c:pt idx="1">
                  <c:v>1965</c:v>
                </c:pt>
                <c:pt idx="2">
                  <c:v>2206</c:v>
                </c:pt>
                <c:pt idx="3">
                  <c:v>2059</c:v>
                </c:pt>
                <c:pt idx="4">
                  <c:v>2253.46</c:v>
                </c:pt>
                <c:pt idx="5">
                  <c:v>2467.09</c:v>
                </c:pt>
                <c:pt idx="6">
                  <c:v>2528.4699999999998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4CE-4901-A991-74E57E491FC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4634.13</c:v>
                </c:pt>
                <c:pt idx="1">
                  <c:v>3962</c:v>
                </c:pt>
                <c:pt idx="2">
                  <c:v>4345.76</c:v>
                </c:pt>
                <c:pt idx="3">
                  <c:v>4241.6400000000003</c:v>
                </c:pt>
                <c:pt idx="4">
                  <c:v>4862.66</c:v>
                </c:pt>
                <c:pt idx="5">
                  <c:v>4595.34</c:v>
                </c:pt>
                <c:pt idx="6">
                  <c:v>5280.59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4CE-4901-A991-74E57E491F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Shared Resources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16903.740000000002</c:v>
                </c:pt>
                <c:pt idx="1">
                  <c:v>12321</c:v>
                </c:pt>
                <c:pt idx="2">
                  <c:v>26897.08</c:v>
                </c:pt>
                <c:pt idx="3">
                  <c:v>14231</c:v>
                </c:pt>
                <c:pt idx="4">
                  <c:v>10755.39</c:v>
                </c:pt>
                <c:pt idx="5">
                  <c:v>10557</c:v>
                </c:pt>
                <c:pt idx="6">
                  <c:v>11092.99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3F-49F4-9F90-544E43BFF1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12493.49</c:v>
                </c:pt>
                <c:pt idx="1">
                  <c:v>11171</c:v>
                </c:pt>
                <c:pt idx="2">
                  <c:v>12360.07</c:v>
                </c:pt>
                <c:pt idx="3">
                  <c:v>13593</c:v>
                </c:pt>
                <c:pt idx="4">
                  <c:v>15743.11</c:v>
                </c:pt>
                <c:pt idx="5">
                  <c:v>15398</c:v>
                </c:pt>
                <c:pt idx="6">
                  <c:v>19303.29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3F-49F4-9F90-544E43BFF1A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CloudOps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872.66</c:v>
                </c:pt>
                <c:pt idx="1">
                  <c:v>555</c:v>
                </c:pt>
                <c:pt idx="2">
                  <c:v>768.67</c:v>
                </c:pt>
                <c:pt idx="3">
                  <c:v>737</c:v>
                </c:pt>
                <c:pt idx="4">
                  <c:v>971.96</c:v>
                </c:pt>
                <c:pt idx="5">
                  <c:v>1089</c:v>
                </c:pt>
                <c:pt idx="6">
                  <c:v>1225.74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3F-49F4-9F90-544E43BFF1A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DataCloud prod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363.16</c:v>
                </c:pt>
                <c:pt idx="1">
                  <c:v>357</c:v>
                </c:pt>
                <c:pt idx="2">
                  <c:v>397.3</c:v>
                </c:pt>
                <c:pt idx="3">
                  <c:v>336</c:v>
                </c:pt>
                <c:pt idx="4">
                  <c:v>370.22</c:v>
                </c:pt>
                <c:pt idx="5">
                  <c:v>550</c:v>
                </c:pt>
                <c:pt idx="6">
                  <c:v>818.11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83F-49F4-9F90-544E43BFF1A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DataCloud dev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188.97</c:v>
                </c:pt>
                <c:pt idx="1">
                  <c:v>169</c:v>
                </c:pt>
                <c:pt idx="2">
                  <c:v>189.53</c:v>
                </c:pt>
                <c:pt idx="3">
                  <c:v>184</c:v>
                </c:pt>
                <c:pt idx="4">
                  <c:v>506.65</c:v>
                </c:pt>
                <c:pt idx="5">
                  <c:v>582</c:v>
                </c:pt>
                <c:pt idx="6">
                  <c:v>573.9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3F-49F4-9F90-544E43BFF1A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93.22</c:v>
                </c:pt>
                <c:pt idx="1">
                  <c:v>107</c:v>
                </c:pt>
                <c:pt idx="2">
                  <c:v>117.14</c:v>
                </c:pt>
                <c:pt idx="3">
                  <c:v>114</c:v>
                </c:pt>
                <c:pt idx="4">
                  <c:v>268.11</c:v>
                </c:pt>
                <c:pt idx="5">
                  <c:v>407</c:v>
                </c:pt>
                <c:pt idx="6">
                  <c:v>406.88000000000005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83F-49F4-9F90-544E43BFF1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Aifactory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854.31</c:v>
                </c:pt>
                <c:pt idx="1">
                  <c:v>3477</c:v>
                </c:pt>
                <c:pt idx="2">
                  <c:v>12632</c:v>
                </c:pt>
                <c:pt idx="3">
                  <c:v>11676</c:v>
                </c:pt>
                <c:pt idx="4">
                  <c:v>13656</c:v>
                </c:pt>
                <c:pt idx="5">
                  <c:v>26342</c:v>
                </c:pt>
                <c:pt idx="6">
                  <c:v>23610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AE-424F-962A-EADDF2D6E6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Solugen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936.63</c:v>
                </c:pt>
                <c:pt idx="1">
                  <c:v>917</c:v>
                </c:pt>
                <c:pt idx="2">
                  <c:v>1027</c:v>
                </c:pt>
                <c:pt idx="3">
                  <c:v>2005</c:v>
                </c:pt>
                <c:pt idx="4">
                  <c:v>10657</c:v>
                </c:pt>
                <c:pt idx="5">
                  <c:v>7230.21</c:v>
                </c:pt>
                <c:pt idx="6">
                  <c:v>8858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AE-424F-962A-EADDF2D6E6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Document Intelligence (OCR Services)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4231</c:v>
                </c:pt>
                <c:pt idx="1">
                  <c:v>4282</c:v>
                </c:pt>
                <c:pt idx="2">
                  <c:v>3552</c:v>
                </c:pt>
                <c:pt idx="3">
                  <c:v>2152</c:v>
                </c:pt>
                <c:pt idx="4">
                  <c:v>3362</c:v>
                </c:pt>
                <c:pt idx="5">
                  <c:v>6114</c:v>
                </c:pt>
                <c:pt idx="6">
                  <c:v>7277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AE-424F-962A-EADDF2D6E6D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INSAIT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1063.6300000000001</c:v>
                </c:pt>
                <c:pt idx="1">
                  <c:v>1914</c:v>
                </c:pt>
                <c:pt idx="2">
                  <c:v>1365</c:v>
                </c:pt>
                <c:pt idx="3">
                  <c:v>1354</c:v>
                </c:pt>
                <c:pt idx="4">
                  <c:v>1456</c:v>
                </c:pt>
                <c:pt idx="5">
                  <c:v>1604.28</c:v>
                </c:pt>
                <c:pt idx="6">
                  <c:v>1983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AAE-424F-962A-EADDF2D6E6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API Management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406</c:v>
                </c:pt>
                <c:pt idx="2">
                  <c:v>2848.78</c:v>
                </c:pt>
                <c:pt idx="3">
                  <c:v>3097.66</c:v>
                </c:pt>
                <c:pt idx="4">
                  <c:v>5693.72</c:v>
                </c:pt>
                <c:pt idx="5">
                  <c:v>5513.76</c:v>
                </c:pt>
                <c:pt idx="6">
                  <c:v>6103.43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E6-4241-BC61-3CAD6326C4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Foundry Models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6</c:v>
                </c:pt>
                <c:pt idx="2">
                  <c:v>2961.34</c:v>
                </c:pt>
                <c:pt idx="3">
                  <c:v>4151.25</c:v>
                </c:pt>
                <c:pt idx="4">
                  <c:v>1183.0999999999999</c:v>
                </c:pt>
                <c:pt idx="5">
                  <c:v>9682.7999999999993</c:v>
                </c:pt>
                <c:pt idx="6">
                  <c:v>5641.2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E6-4241-BC61-3CAD6326C43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487.69</c:v>
                </c:pt>
                <c:pt idx="1">
                  <c:v>1951</c:v>
                </c:pt>
                <c:pt idx="2">
                  <c:v>4361.8999999999996</c:v>
                </c:pt>
                <c:pt idx="3">
                  <c:v>1724.33</c:v>
                </c:pt>
                <c:pt idx="4">
                  <c:v>2887.44</c:v>
                </c:pt>
                <c:pt idx="5">
                  <c:v>4556.63</c:v>
                </c:pt>
                <c:pt idx="6">
                  <c:v>4865.47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E6-4241-BC61-3CAD6326C43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Azure Cognitive Search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23.43</c:v>
                </c:pt>
                <c:pt idx="1">
                  <c:v>68</c:v>
                </c:pt>
                <c:pt idx="2">
                  <c:v>305.51</c:v>
                </c:pt>
                <c:pt idx="3">
                  <c:v>629.28</c:v>
                </c:pt>
                <c:pt idx="4">
                  <c:v>1166.49</c:v>
                </c:pt>
                <c:pt idx="5">
                  <c:v>1582.03</c:v>
                </c:pt>
                <c:pt idx="6">
                  <c:v>1825.03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CE6-4241-BC61-3CAD6326C43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Microsoft Defender for Cloud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83.58</c:v>
                </c:pt>
                <c:pt idx="1">
                  <c:v>237</c:v>
                </c:pt>
                <c:pt idx="2">
                  <c:v>535.5</c:v>
                </c:pt>
                <c:pt idx="3">
                  <c:v>143.21</c:v>
                </c:pt>
                <c:pt idx="4">
                  <c:v>401.16</c:v>
                </c:pt>
                <c:pt idx="5">
                  <c:v>1574.44</c:v>
                </c:pt>
                <c:pt idx="6">
                  <c:v>1166.17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CE6-4241-BC61-3CAD6326C43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Azure Database for PostgreSQL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46.79</c:v>
                </c:pt>
                <c:pt idx="1">
                  <c:v>141</c:v>
                </c:pt>
                <c:pt idx="2">
                  <c:v>356.15</c:v>
                </c:pt>
                <c:pt idx="3">
                  <c:v>489.68</c:v>
                </c:pt>
                <c:pt idx="4">
                  <c:v>790.07</c:v>
                </c:pt>
                <c:pt idx="5">
                  <c:v>1068.76</c:v>
                </c:pt>
                <c:pt idx="6">
                  <c:v>1101.71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CE6-4241-BC61-3CAD6326C434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212.84999999999997</c:v>
                </c:pt>
                <c:pt idx="1">
                  <c:v>669</c:v>
                </c:pt>
                <c:pt idx="2">
                  <c:v>1260.73</c:v>
                </c:pt>
                <c:pt idx="3">
                  <c:v>1440.16</c:v>
                </c:pt>
                <c:pt idx="4">
                  <c:v>1534.08</c:v>
                </c:pt>
                <c:pt idx="5">
                  <c:v>2364.1500000000005</c:v>
                </c:pt>
                <c:pt idx="6">
                  <c:v>2907.3499999999995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CE6-4241-BC61-3CAD6326C4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 Subscription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798.75</c:v>
                </c:pt>
                <c:pt idx="1">
                  <c:v>2844</c:v>
                </c:pt>
                <c:pt idx="2">
                  <c:v>10910</c:v>
                </c:pt>
                <c:pt idx="3">
                  <c:v>9522</c:v>
                </c:pt>
                <c:pt idx="4">
                  <c:v>7610.56</c:v>
                </c:pt>
                <c:pt idx="5">
                  <c:v>17286</c:v>
                </c:pt>
                <c:pt idx="6">
                  <c:v>13714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D9-4378-B4C2-69F80DF9B8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Dev/Test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464</c:v>
                </c:pt>
                <c:pt idx="2">
                  <c:v>1031</c:v>
                </c:pt>
                <c:pt idx="3">
                  <c:v>1368</c:v>
                </c:pt>
                <c:pt idx="4">
                  <c:v>4874.3900000000003</c:v>
                </c:pt>
                <c:pt idx="5">
                  <c:v>7063</c:v>
                </c:pt>
                <c:pt idx="6">
                  <c:v>6454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D9-4378-B4C2-69F80DF9B8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AI Factory prod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55.56</c:v>
                </c:pt>
                <c:pt idx="1">
                  <c:v>169</c:v>
                </c:pt>
                <c:pt idx="2">
                  <c:v>460</c:v>
                </c:pt>
                <c:pt idx="3">
                  <c:v>454</c:v>
                </c:pt>
                <c:pt idx="4">
                  <c:v>575.07000000000005</c:v>
                </c:pt>
                <c:pt idx="5">
                  <c:v>814</c:v>
                </c:pt>
                <c:pt idx="6">
                  <c:v>1160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AD9-4378-B4C2-69F80DF9B82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AI Factory dev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231</c:v>
                </c:pt>
                <c:pt idx="3">
                  <c:v>332</c:v>
                </c:pt>
                <c:pt idx="4">
                  <c:v>347.57</c:v>
                </c:pt>
                <c:pt idx="5">
                  <c:v>497</c:v>
                </c:pt>
                <c:pt idx="6">
                  <c:v>458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AD9-4378-B4C2-69F80DF9B82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INSAIT Dev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193.18</c:v>
                </c:pt>
                <c:pt idx="5">
                  <c:v>239</c:v>
                </c:pt>
                <c:pt idx="6">
                  <c:v>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AD9-4378-B4C2-69F80DF9B82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55.57</c:v>
                </c:pt>
                <c:pt idx="5">
                  <c:v>443</c:v>
                </c:pt>
                <c:pt idx="6">
                  <c:v>485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AD9-4378-B4C2-69F80DF9B8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S0 Custom Pages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3312</c:v>
                </c:pt>
                <c:pt idx="1">
                  <c:v>3720</c:v>
                </c:pt>
                <c:pt idx="2">
                  <c:v>2846</c:v>
                </c:pt>
                <c:pt idx="3">
                  <c:v>1523.49</c:v>
                </c:pt>
                <c:pt idx="4">
                  <c:v>2246.94</c:v>
                </c:pt>
                <c:pt idx="5">
                  <c:v>2764.98</c:v>
                </c:pt>
                <c:pt idx="6">
                  <c:v>2392.3200000000002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3D-4ACA-9D63-CEB9F53299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5.4 opt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941.41</c:v>
                </c:pt>
                <c:pt idx="5">
                  <c:v>6273.8</c:v>
                </c:pt>
                <c:pt idx="6">
                  <c:v>3893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3D-4ACA-9D63-CEB9F53299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5.4 inp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1056.29</c:v>
                </c:pt>
                <c:pt idx="5">
                  <c:v>4877.16</c:v>
                </c:pt>
                <c:pt idx="6">
                  <c:v>4947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3D-4ACA-9D63-CEB9F53299A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S0 Pre-built Pages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804</c:v>
                </c:pt>
                <c:pt idx="1">
                  <c:v>385</c:v>
                </c:pt>
                <c:pt idx="2">
                  <c:v>521</c:v>
                </c:pt>
                <c:pt idx="3">
                  <c:v>336.11</c:v>
                </c:pt>
                <c:pt idx="4">
                  <c:v>627.22</c:v>
                </c:pt>
                <c:pt idx="5">
                  <c:v>2035.82</c:v>
                </c:pt>
                <c:pt idx="6">
                  <c:v>3385.11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93D-4ACA-9D63-CEB9F53299A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gpt 4o 0513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1145</c:v>
                </c:pt>
                <c:pt idx="1">
                  <c:v>1300</c:v>
                </c:pt>
                <c:pt idx="2">
                  <c:v>1060.02</c:v>
                </c:pt>
                <c:pt idx="3">
                  <c:v>3220.28</c:v>
                </c:pt>
                <c:pt idx="4">
                  <c:v>917</c:v>
                </c:pt>
                <c:pt idx="5">
                  <c:v>261</c:v>
                </c:pt>
                <c:pt idx="6">
                  <c:v>188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3D-4ACA-9D63-CEB9F53299A2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gpt 4o 1120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6.11</c:v>
                </c:pt>
                <c:pt idx="1">
                  <c:v>524</c:v>
                </c:pt>
                <c:pt idx="2">
                  <c:v>2563.7600000000002</c:v>
                </c:pt>
                <c:pt idx="3">
                  <c:v>3081.82</c:v>
                </c:pt>
                <c:pt idx="4">
                  <c:v>253</c:v>
                </c:pt>
                <c:pt idx="5">
                  <c:v>663</c:v>
                </c:pt>
                <c:pt idx="6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93D-4ACA-9D63-CEB9F53299A2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GPT 5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13.65</c:v>
                </c:pt>
                <c:pt idx="1">
                  <c:v>17</c:v>
                </c:pt>
                <c:pt idx="2">
                  <c:v>272.95</c:v>
                </c:pt>
                <c:pt idx="3">
                  <c:v>971.26</c:v>
                </c:pt>
                <c:pt idx="4">
                  <c:v>5056</c:v>
                </c:pt>
                <c:pt idx="5">
                  <c:v>494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3D-4ACA-9D63-CEB9F53299A2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GPT 5.1</c:v>
                </c:pt>
              </c:strCache>
            </c:strRef>
          </c:tx>
          <c:spPr>
            <a:solidFill>
              <a:srgbClr val="FFB84D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Sheet1!$I$2:$I$8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22.62</c:v>
                </c:pt>
                <c:pt idx="3">
                  <c:v>0.21</c:v>
                </c:pt>
                <c:pt idx="4">
                  <c:v>220</c:v>
                </c:pt>
                <c:pt idx="5">
                  <c:v>1946</c:v>
                </c:pt>
                <c:pt idx="6">
                  <c:v>1204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93D-4ACA-9D63-CEB9F53299A2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6C8C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Sheet1!$J$2:$J$8</c:f>
              <c:numCache>
                <c:formatCode>General</c:formatCode>
                <c:ptCount val="7"/>
                <c:pt idx="0">
                  <c:v>481.32</c:v>
                </c:pt>
                <c:pt idx="1">
                  <c:v>846</c:v>
                </c:pt>
                <c:pt idx="2">
                  <c:v>552.17999999999995</c:v>
                </c:pt>
                <c:pt idx="3">
                  <c:v>1410.55</c:v>
                </c:pt>
                <c:pt idx="4">
                  <c:v>3611.5500000000006</c:v>
                </c:pt>
                <c:pt idx="5">
                  <c:v>2292.8399999999997</c:v>
                </c:pt>
                <c:pt idx="6">
                  <c:v>3491.7999999999997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93D-4ACA-9D63-CEB9F53299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 Opus 4.6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2866.65</c:v>
                </c:pt>
                <c:pt idx="3">
                  <c:v>4806.49</c:v>
                </c:pt>
                <c:pt idx="4">
                  <c:v>9873.2199999999993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D0-4981-81FB-881022D51F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 Opus 4.8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76.7</c:v>
                </c:pt>
                <c:pt idx="3">
                  <c:v>2024.12</c:v>
                </c:pt>
                <c:pt idx="4">
                  <c:v>11361.86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D0-4981-81FB-881022D51FA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Claude Opus 4.7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786.79</c:v>
                </c:pt>
                <c:pt idx="3">
                  <c:v>2917.83</c:v>
                </c:pt>
                <c:pt idx="4">
                  <c:v>2438.48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D0-4981-81FB-881022D51FA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Amazon Bedrock Edition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841</c:v>
                </c:pt>
                <c:pt idx="1">
                  <c:v>1609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D0-4981-81FB-881022D51FA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Claude Sonnet 4.6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14.53</c:v>
                </c:pt>
                <c:pt idx="3">
                  <c:v>540.41</c:v>
                </c:pt>
                <c:pt idx="4">
                  <c:v>688.26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D0-4981-81FB-881022D51FA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Claude Opus 5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691.45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5D0-4981-81FB-881022D51FA4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Claude Haiku 4.5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</c:strCache>
            </c: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57.15</c:v>
                </c:pt>
                <c:pt idx="3">
                  <c:v>159.32</c:v>
                </c:pt>
                <c:pt idx="4">
                  <c:v>157.37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5D0-4981-81FB-881022D51FA4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Claude Sonnet 4.5</c:v>
                </c:pt>
              </c:strCache>
            </c:strRef>
          </c:tx>
          <c:spPr>
            <a:solidFill>
              <a:srgbClr val="FFB84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</c:strCache>
            </c:strRef>
          </c:cat>
          <c:val>
            <c:numRef>
              <c:f>Sheet1!$I$2:$I$6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9.6300000000000008</c:v>
                </c:pt>
                <c:pt idx="3">
                  <c:v>58.63</c:v>
                </c:pt>
                <c:pt idx="4">
                  <c:v>77.41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5D0-4981-81FB-881022D51FA4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6C8CF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</c:strCache>
            </c:strRef>
          </c:cat>
          <c:val>
            <c:numRef>
              <c:f>Sheet1!$J$2:$J$6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0.01</c:v>
                </c:pt>
                <c:pt idx="3">
                  <c:v>0</c:v>
                </c:pt>
                <c:pt idx="4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5D0-4981-81FB-881022D51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Shared resources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6467</c:v>
                </c:pt>
                <c:pt idx="1">
                  <c:v>16654</c:v>
                </c:pt>
                <c:pt idx="2">
                  <c:v>19260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3C-438F-8BD7-5F64639314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Shared resources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8919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9C-4E97-8802-B6BD3F81F4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VdiHorizion Prod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9C-4E97-8802-B6BD3F81F4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3DD9EB">
              <a:alpha val="8000"/>
            </a:srgbClr>
          </a:solidFill>
          <a:ln w="12700">
            <a:solidFill>
              <a:srgbClr val="3DD9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2377440"/>
            <a:ext cx="4754880" cy="4754880"/>
          </a:xfrm>
          <a:prstGeom prst="ellipse">
            <a:avLst/>
          </a:prstGeom>
          <a:solidFill>
            <a:srgbClr val="3DD9EB">
              <a:alpha val="7000"/>
            </a:srgbClr>
          </a:solidFill>
          <a:ln w="12700">
            <a:solidFill>
              <a:srgbClr val="3DD9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HAREL INSURANCE · CLOUD FINOPS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spend, the AI shift,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we have taken out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May–July 2026 run-rate, against seven months of consumption · CIO briefing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run-rate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annualised, all three clouds. A pace, not a budget.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only — Marketplace purchases are excluded here and reported separately. AWS is shown gross of the $16,100 July credit, which is explained later in this deck.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$3.4M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run-rate today  ·  July consumption × 12, across Azure, AWS and GCP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564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$641K in three months  ·  +23.2%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1554480"/>
            <a:ext cx="5242255" cy="914400"/>
          </a:xfrm>
          <a:prstGeom prst="roundRect">
            <a:avLst>
              <a:gd name="adj" fmla="val 6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1682496"/>
            <a:ext cx="483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93408" y="1975104"/>
            <a:ext cx="241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$186,541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13368" y="1975104"/>
            <a:ext cx="241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of the bill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2606040"/>
            <a:ext cx="5242255" cy="914400"/>
          </a:xfrm>
          <a:prstGeom prst="roundRect">
            <a:avLst>
              <a:gd name="adj" fmla="val 6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734056"/>
            <a:ext cx="483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93408" y="3026664"/>
            <a:ext cx="241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$92,930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13368" y="3026664"/>
            <a:ext cx="241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of the bill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3657600"/>
            <a:ext cx="5242255" cy="914400"/>
          </a:xfrm>
          <a:prstGeom prst="roundRect">
            <a:avLst>
              <a:gd name="adj" fmla="val 6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3785616"/>
            <a:ext cx="483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93408" y="4078224"/>
            <a:ext cx="241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$3,850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13368" y="4078224"/>
            <a:ext cx="241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 of the bill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 IN THREE MONTHS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43984"/>
            <a:ext cx="64008" cy="64008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4361688"/>
            <a:ext cx="5495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added $41,287 a month — AI and data platforms are two thirds of that increase.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928616"/>
            <a:ext cx="64008" cy="64008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4846320"/>
            <a:ext cx="5495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added $9,868 a month of usage, before Marketplace, which is reported separately.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5413248"/>
            <a:ext cx="64008" cy="64008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" y="5330952"/>
            <a:ext cx="5495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is a rounding error in absolute terms and the fastest-growing line in percentage terms.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is between $3.4M and $5.8M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honest readings of the same data. Which one lands depends on whether May–July was a trend or a rebound.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$5.8M figure annualises Azure growing 13.3% a month, measured May to July. Over the full seven months Azure has grown 3.0% a month — May was a local low, so the short window reads a rebound as a trend. Aug and Sep will tell us which it is. Planning against the middle case is the defensible position.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to December, on each basis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11480" y="1508760"/>
          <a:ext cx="73609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1234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93608" y="1344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MAY–JUL REPEATS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93608" y="1527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$5.78M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293608" y="1947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+70% on today — the v33 projection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92440" y="2377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93608" y="2487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SEVEN-MONTH TREND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93608" y="2670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$4.01M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293608" y="3090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 on today — Azure at 3.0%/mo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092440" y="3520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93608" y="3630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JULY SIMPLY REPEATS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93608" y="3813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$3.40M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293608" y="4233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— no growth at all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2F8CFF">
              <a:alpha val="8000"/>
            </a:srgbClr>
          </a:solidFill>
          <a:ln w="12700">
            <a:solidFill>
              <a:srgbClr val="2F8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2377440"/>
            <a:ext cx="4754880" cy="4754880"/>
          </a:xfrm>
          <a:prstGeom prst="ellipse">
            <a:avLst/>
          </a:prstGeom>
          <a:solidFill>
            <a:srgbClr val="3DD9EB">
              <a:alpha val="7000"/>
            </a:srgbClr>
          </a:solidFill>
          <a:ln w="12700">
            <a:solidFill>
              <a:srgbClr val="3DD9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money is doing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sits, where it grew, and one number that did not add up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THE ESTATE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9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is climbing, and AI is climbing faster</a:t>
            </a:r>
            <a:endParaRPr lang="en-US" sz="1909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totals from Azure Cost Management, Commvault annual prepayment excluded so the trend reads as run-rate.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growing at more than twice the rate of everything else. That is the shift this briefing is about — not the absolute number, but the mix moving underneath it.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invoiced spend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11480" y="1508760"/>
          <a:ext cx="73609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1234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93608" y="1344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THREE-MONTH TOTAL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93608" y="1527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$500,216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293608" y="1947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+28.4% over the three months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92440" y="2377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93608" y="2487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DATA PLATFORMS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93608" y="2670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$192,935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293608" y="3090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+62.5% — twice the pace of the bill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092440" y="3520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93608" y="3630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SHARE OF CONSUMPTION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93608" y="3813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293608" y="4233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26.4% in May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SEVEN MONTHS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71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estate, over seven months</a:t>
            </a:r>
            <a:endParaRPr lang="en-US" sz="2471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review covers January onwards. It changes how the last three months read.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was already $261K a month. July is $284K. The three-month view starts at April–May, the softest point of the year, which is why it reads so steep. Both are true; only one is a trend.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consumption by cloud, Jan–Jul 2026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11480" y="1508760"/>
          <a:ext cx="73609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1234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93608" y="1344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CONSUMPTION, JAN–JUL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93608" y="1527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$1.71M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293608" y="1947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$2.9M annualised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92440" y="2377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93608" y="2487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TO JULY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93608" y="2670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+8.5%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293608" y="3090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months, barely moved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092440" y="3520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93608" y="3630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TO JULY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93608" y="3813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+19.7%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293608" y="4233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v33 projects from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PROVIDERS · AI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spend actually sits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platforms, three clouds, bought separately. Stacked to total AI spend per month.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is not in the chart because it is not split by month on the Azure enrollment. Its July figure is shown here at the gross $25,288 — see the reconciliation two slides on.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spend by month — Azure and GCP platforms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11480" y="1508760"/>
          <a:ext cx="73609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1234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93608" y="1344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SERVICES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93608" y="1527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$65,604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293608" y="1947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 May to Jul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92440" y="2377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93608" y="2487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93608" y="2670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$29,664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293608" y="3090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+183% May to Jul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092440" y="3520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93608" y="3630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— CLAUDE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93608" y="3813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$25,288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293608" y="4233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alone, gross of MAP credit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092440" y="4663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93608" y="4773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293608" y="4956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$9,000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8293608" y="5376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 month in July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AI DEEP DIVE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5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AI bill is not models</a:t>
            </a:r>
            <a:endParaRPr lang="en-US" sz="2545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$152,402 of AI meter spend across tagged projects. Each project's split between models and the infrastructure billed under the same tag.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automatically wrong — inference needs somewhere to run — but it is the part of the AI bill that right-sizing can actually move, and it is the part nobody is looking at.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spend by 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Three-month totals, with the infrastructure share of each tag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64792"/>
          <a:ext cx="77724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meter spend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driver inside the tag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DataCloud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$43,840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Databricks 47.3%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$28,358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69.3%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Solugen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$23,855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Models 61.1%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AIFactory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$22,374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64.8%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$13,887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Databricks 55.3%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55.8%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595360" y="1234440"/>
            <a:ext cx="313913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96528" y="1344168"/>
            <a:ext cx="27367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TOP SIX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796528" y="1527048"/>
            <a:ext cx="2736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796528" y="1947672"/>
            <a:ext cx="27367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more on infrastructure than on models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595360" y="2377440"/>
            <a:ext cx="313913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96528" y="2487168"/>
            <a:ext cx="27367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AIFACTORY TAG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796528" y="2670048"/>
            <a:ext cx="2736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$63,609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796528" y="3090672"/>
            <a:ext cx="27367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which 64.8% is infrastructure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595360" y="3520440"/>
            <a:ext cx="313913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96528" y="3630168"/>
            <a:ext cx="27367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LINE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796528" y="3813048"/>
            <a:ext cx="27367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$17,311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8796528" y="4233672"/>
            <a:ext cx="27367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 — ahead of Foundry Models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THE $16,100 QUESTION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undocumented credit, identified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v33 flagged a $16,100.27 charge on ai-factory-dev that was reversed and never itemised. Cross-referencing the operational data identifies it exactly.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reversed charge is Claude Opus 4.8 in full plus part of Opus 4.6, on ai-factory-dev — and the operational deck names the reason: a MAP contract credit. v33 concluded it was 'not a discount on Claude consumption'; the line-level match says otherwise. Worth confirming with Comm-IT before it is treated as settled, but it is no longer an open mystery.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423818" cy="1188720"/>
          </a:xfrm>
          <a:prstGeom prst="roundRect">
            <a:avLst>
              <a:gd name="adj" fmla="val 4615"/>
            </a:avLst>
          </a:prstGeom>
          <a:solidFill>
            <a:srgbClr val="121B2D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80744"/>
            <a:ext cx="30214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AWS USAGE, JULY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655064"/>
            <a:ext cx="3021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$92,930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2093976"/>
            <a:ext cx="30214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usage as metered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3938" y="1234440"/>
            <a:ext cx="3423818" cy="1188720"/>
          </a:xfrm>
          <a:prstGeom prst="roundRect">
            <a:avLst>
              <a:gd name="adj" fmla="val 4615"/>
            </a:avLst>
          </a:prstGeom>
          <a:solidFill>
            <a:srgbClr val="121B2D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5106" y="1380744"/>
            <a:ext cx="30214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APPLIED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85106" y="1655064"/>
            <a:ext cx="3021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$16,100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85106" y="2093976"/>
            <a:ext cx="30214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contract credit, ai-factory-dev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81018" y="1600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310677" y="1234440"/>
            <a:ext cx="3423818" cy="1188720"/>
          </a:xfrm>
          <a:prstGeom prst="roundRect">
            <a:avLst>
              <a:gd name="adj" fmla="val 4615"/>
            </a:avLst>
          </a:prstGeom>
          <a:solidFill>
            <a:srgbClr val="121B2D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11845" y="1380744"/>
            <a:ext cx="30214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BY COMM-IT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11845" y="1655064"/>
            <a:ext cx="3021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$76,830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511845" y="2093976"/>
            <a:ext cx="30214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actually paid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07757" y="1600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$16,100.27 sits — July Bedrock consumption, two sources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45536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model, July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data (gross)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v33 CIO deck (net)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4.8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$11,361.86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9F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$11,361.86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line reversed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4.6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$9,873.22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$5,134.81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9F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$4,738.41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of the line reversed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4.7 · Opus 5 · Sonnet 4.6 · Haiku 4.5 · Sonnet 4.5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$3,362.97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$3,362.97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in both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$25,288.33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$9,188.06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$16,100.27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the credit to the cent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4631436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" y="4741164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58368" y="4924044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$16,100.27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58368" y="534466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4.8 in full, plus part of Opus 4.6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292498" y="4631436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93666" y="4741164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TO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493666" y="4924044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ai-factory-dev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4493666" y="534466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 of all July AWS credits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127797" y="4631436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28965" y="4741164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328965" y="4924044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8328965" y="534466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with Comm-IT, then close the v33 item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dwarfs the usage underneath 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consumption. Security vendors bought, replaced and retired inside the year.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Splunk, CrowdStrike and Trellix land in Q1; TrendAI and Fortinet in June and gone by July; Cortex replaces them. Treating Marketplace as part of the cloud bill makes the trend unreadable — it belongs on its own line in the budget.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Marketplace purchases by product, Jan–Jul total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11480" y="1508760"/>
          <a:ext cx="73609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1234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93608" y="1344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MARKETPLACE, JAN–JUL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93608" y="1527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$1.54M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293608" y="1947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2.6× regular AWS usage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92440" y="2377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93608" y="2487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MARKETPLACE, JAN–JUL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93608" y="2670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$551K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293608" y="3090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the Databricks prepayment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092440" y="3520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93608" y="3630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RECURRING, OF ALL OF IT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93608" y="3813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~$14K/mo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293608" y="4233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and the small tools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and entirely AI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provider by a wide margin, and the fastest growing. All three statements reconcile to their invoices exactly.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passed Compute Engine in July. Every dollar of GCP growth this year is AI — which makes it the cleanest illustration of the shift happening more expensively elsewhere.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service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11480" y="1508760"/>
          <a:ext cx="73609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1234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93608" y="1344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GCP, JULY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93608" y="1527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$3,707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293608" y="1947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 of the total cloud bill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92440" y="2377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93608" y="2487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AI, JULY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93608" y="2670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$2,359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293608" y="3090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largest GCP service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092440" y="3520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93608" y="3630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93608" y="3813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293608" y="4233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networking and DNS unchanged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E0A030">
              <a:alpha val="8000"/>
            </a:srgbClr>
          </a:solidFill>
          <a:ln w="12700">
            <a:solidFill>
              <a:srgbClr val="E0A03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2377440"/>
            <a:ext cx="4754880" cy="4754880"/>
          </a:xfrm>
          <a:prstGeom prst="ellipse">
            <a:avLst/>
          </a:prstGeom>
          <a:solidFill>
            <a:srgbClr val="3DD9EB">
              <a:alpha val="7000"/>
            </a:srgbClr>
          </a:solidFill>
          <a:ln w="12700">
            <a:solidFill>
              <a:srgbClr val="3DD9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waiting costs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gaps that are already priced, and already being paid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3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buys 59% at a discount — AWS buys 93%</a:t>
            </a:r>
            <a:endParaRPr lang="en-US" sz="1953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cloud's compute is actually purchased — the single biggest lever on unit cost.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is the obvious first candidate: it is the largest Azure workload, it has not moved more than a few percent in seven months, and it is almost entirely virtual machines — the flattest, most reservable profile in the estate.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by purchase option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64792"/>
          <a:ext cx="47548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$16,559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Savings 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$16,364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$35,425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577840" y="12344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577840" y="15087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by purchase option</a:t>
            </a:r>
            <a:endParaRPr lang="en-US" sz="9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764792"/>
          <a:ext cx="47548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$21,690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$21,463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Savings 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$9,424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$53,314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384048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10"/>
          <p:cNvSpPr/>
          <p:nvPr/>
        </p:nvSpPr>
        <p:spPr>
          <a:xfrm>
            <a:off x="658368" y="395020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ON-DEMAND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58368" y="413308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$21,690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658368" y="455371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at list price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292498" y="384048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93666" y="395020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AZURE MATCHED AWS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493666" y="413308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~$7,600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4493666" y="455371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saving at 93% coverage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127797" y="384048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28965" y="395020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328965" y="413308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~$91,000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8328965" y="455371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compute alone, nothing switched off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4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$504,000 paid in April. 18% of it used.</a:t>
            </a:r>
            <a:endParaRPr lang="en-US" sz="2154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three-year, 600,000 DBU-hour pre-purchase made on 28 April 2026.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47874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44168"/>
            <a:ext cx="2245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527048"/>
            <a:ext cx="224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$504,000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1947672"/>
            <a:ext cx="2245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P3 pre-purchase, 28 Apr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3674" y="1234440"/>
            <a:ext cx="2647874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4842" y="1344168"/>
            <a:ext cx="2245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34842" y="1527048"/>
            <a:ext cx="224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34842" y="1947672"/>
            <a:ext cx="2245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600,000 DBU hours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0148" y="1234440"/>
            <a:ext cx="2647874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1316" y="1344168"/>
            <a:ext cx="2245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TO JULY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11316" y="1527048"/>
            <a:ext cx="224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$88,666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11316" y="1947672"/>
            <a:ext cx="2245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consumption, not new cash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86621" y="1234440"/>
            <a:ext cx="2647874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7789" y="1344168"/>
            <a:ext cx="2245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UNDERNEATH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87789" y="1527048"/>
            <a:ext cx="224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$63,501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287789" y="1947672"/>
            <a:ext cx="2245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May–Jul — this part still bills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11277295" cy="1691640"/>
          </a:xfrm>
          <a:prstGeom prst="roundRect">
            <a:avLst>
              <a:gd name="adj" fmla="val 3243"/>
            </a:avLst>
          </a:prstGeom>
          <a:solidFill>
            <a:srgbClr val="121B2D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265176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6600" dirty="0"/>
          </a:p>
        </p:txBody>
      </p:sp>
      <p:sp>
        <p:nvSpPr>
          <p:cNvPr id="24" name="Text 22"/>
          <p:cNvSpPr/>
          <p:nvPr/>
        </p:nvSpPr>
        <p:spPr>
          <a:xfrm>
            <a:off x="4023360" y="2724912"/>
            <a:ext cx="7345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utilisation of the Databricks commitment as at July. Databricks compute bills at $0 because it draws against a balance already paid — so it disappears from every consumption report while the money is already gone.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517136"/>
            <a:ext cx="64008" cy="64008"/>
          </a:xfrm>
          <a:prstGeom prst="rect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4434840"/>
            <a:ext cx="111035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current pace the commitment finishes its three-year term substantially unused — the choice is to drive utilisation up or to renegotiate.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818888"/>
            <a:ext cx="64008" cy="64008"/>
          </a:xfrm>
          <a:prstGeom prst="rect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" y="4736592"/>
            <a:ext cx="111035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VMs, networking and storage that Databricks runs on are not covered by the pre-purchase and cost $63,501 across May to July alone.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5120640"/>
            <a:ext cx="64008" cy="64008"/>
          </a:xfrm>
          <a:prstGeom prst="rect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5038344"/>
            <a:ext cx="111035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invisible in a consumption-only view, which is exactly why it belongs in a CIO briefing rather than an operations report.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71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quarter of the bill has no owner</a:t>
            </a:r>
            <a:endParaRPr lang="en-US" sz="2471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Project tag on each resource, Azure enrollment.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4416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UNTAGGED, JULY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52704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194767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8.4% in May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2498" y="123444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3666" y="134416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UNTAGGED AI SPEND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93666" y="152704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$51,381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93666" y="194767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$96,843 untagged in total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27797" y="123444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8965" y="134416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 FIELD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8965" y="152704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28965" y="194767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line of the enrollment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11277295" cy="1691640"/>
          </a:xfrm>
          <a:prstGeom prst="roundRect">
            <a:avLst>
              <a:gd name="adj" fmla="val 3243"/>
            </a:avLst>
          </a:prstGeom>
          <a:solidFill>
            <a:srgbClr val="121B2D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65176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6600" dirty="0"/>
          </a:p>
        </p:txBody>
      </p:sp>
      <p:sp>
        <p:nvSpPr>
          <p:cNvPr id="20" name="Text 18"/>
          <p:cNvSpPr/>
          <p:nvPr/>
        </p:nvSpPr>
        <p:spPr>
          <a:xfrm>
            <a:off x="4023360" y="2724912"/>
            <a:ext cx="7345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July's Azure spend carries no project tag — up from 8.4% in May. Nearly a quarter of the bill cannot be attributed to a team, which means it cannot be charged back, questioned, or defended.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517136"/>
            <a:ext cx="64008" cy="64008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4434840"/>
            <a:ext cx="111035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untagged share tripled in three months — it is getting worse, not better, and it is worst in exactly the AI workloads that are growing fastest.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818888"/>
            <a:ext cx="64008" cy="64008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4736592"/>
            <a:ext cx="111035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is the dependency under everything else: no chargeback, no per-consumer budget, and no gateway quota can be enforced without it.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3DDC97">
              <a:alpha val="8000"/>
            </a:srgbClr>
          </a:solidFill>
          <a:ln w="12700">
            <a:solidFill>
              <a:srgbClr val="3DDC9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2377440"/>
            <a:ext cx="4754880" cy="4754880"/>
          </a:xfrm>
          <a:prstGeom prst="ellipse">
            <a:avLst/>
          </a:prstGeom>
          <a:solidFill>
            <a:srgbClr val="3DD9EB">
              <a:alpha val="7000"/>
            </a:srgbClr>
          </a:solidFill>
          <a:ln w="12700">
            <a:solidFill>
              <a:srgbClr val="3DD9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already taken out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$278,868 banked, $193,000 identified and waiting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3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$278,868 of annual saving, already actioned</a:t>
            </a:r>
            <a:endParaRPr lang="en-US" sz="1953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during 2026. Annualised figures.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half of the story the previous briefing did not tell: the bill grew 23% in three months, and it would have grown considerably more without these.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Banked savings, by type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5303520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 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Decommission North Europe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$70,452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reserved instance purchase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$66,783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 plan purchase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$65,335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unnecessary VMs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unattached disks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$20,576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 renewal — blob storage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$9,432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reserved instance purchase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$7,944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 two unused SQL instances on expiring 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 extended support 1.33 — preprod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 — reserved instance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 refund to reach 100% utilisation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126480" y="1234440"/>
            <a:ext cx="560801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27648" y="1344168"/>
            <a:ext cx="5205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SAVINGS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327648" y="1527048"/>
            <a:ext cx="5205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$278,868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327648" y="1947672"/>
            <a:ext cx="5205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implemented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26480" y="2377440"/>
            <a:ext cx="560801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27648" y="2487168"/>
            <a:ext cx="5205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ANNUALISED SPEND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27648" y="2670048"/>
            <a:ext cx="5205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327648" y="3090672"/>
            <a:ext cx="5205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~$2.9M consumption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26480" y="3520440"/>
            <a:ext cx="560801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8" name="Text 15"/>
          <p:cNvSpPr/>
          <p:nvPr/>
        </p:nvSpPr>
        <p:spPr>
          <a:xfrm>
            <a:off x="6327648" y="3630168"/>
            <a:ext cx="5205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ACTION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27648" y="3813048"/>
            <a:ext cx="5205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$70,452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327648" y="4233672"/>
            <a:ext cx="5205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Europe decommission — $5,871/mo removed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126480" y="4663440"/>
            <a:ext cx="560801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27648" y="4773168"/>
            <a:ext cx="5205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COMMITMENT-BASED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27648" y="4956048"/>
            <a:ext cx="52056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$132,118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6327648" y="5376672"/>
            <a:ext cx="5205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and savings plans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$193,000 more, costed and waiting on a decision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Identified, not yet implemented. Annualised figures.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changes what runs — it changes how it is bought and how long it stays on. The ask is a decision on the top four items, which are 66% of the value.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 if implemented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64792"/>
          <a:ext cx="452628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disks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$44,592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shutdown for 24/7 VMs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$36,741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reserved instance purchase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$26,758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right-size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$19,854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 — Azure Database for PostgreSQL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$17,037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reserved disks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$13,464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unnecessary VMs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$13,147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unattached disks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$7,656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 — Redis Cache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DB right-size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gateway — check necessity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349240" y="12344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49240" y="150876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 if implemented</a:t>
            </a:r>
            <a:endParaRPr lang="en-US" sz="95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764792"/>
          <a:ext cx="452628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 extended support 1.33 — prod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SageMaker — check necessity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480060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491032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POTENTIAL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58368" y="509320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$193K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658368" y="551383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annualised, both clouds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292498" y="480060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93666" y="491032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COVERAGE GAP</a:t>
            </a:r>
            <a:endParaRPr lang="en-US" sz="1000" dirty="0"/>
          </a:p>
        </p:txBody>
      </p:sp>
      <p:sp>
        <p:nvSpPr>
          <p:cNvPr id="9" name="Text 15"/>
          <p:cNvSpPr/>
          <p:nvPr/>
        </p:nvSpPr>
        <p:spPr>
          <a:xfrm>
            <a:off x="4493666" y="509320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~$91K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4493666" y="551383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on-demand at AWS's discount rate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127797" y="480060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28965" y="491032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BANKED PLUS IDENTIFIED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328965" y="509320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$563K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8328965" y="551383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19% of annualised consumption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B07CFF">
              <a:alpha val="8000"/>
            </a:srgbClr>
          </a:solidFill>
          <a:ln w="12700">
            <a:solidFill>
              <a:srgbClr val="B07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2377440"/>
            <a:ext cx="4754880" cy="4754880"/>
          </a:xfrm>
          <a:prstGeom prst="ellipse">
            <a:avLst/>
          </a:prstGeom>
          <a:solidFill>
            <a:srgbClr val="3DD9EB">
              <a:alpha val="7000"/>
            </a:srgbClr>
          </a:solidFill>
          <a:ln w="12700">
            <a:solidFill>
              <a:srgbClr val="3DD9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it recurring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is a one-off. Governance is what stops the next $600K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 for every AI request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enforcement point, not a reporting layer bolted on afterwards — its logs are the financial record.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every business unit buys AI separately, on shared keys, with no owner per consumer — which is why 23.4% of the bill has no name against it.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DEVELOPERS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2140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 and assistants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79776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7977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38144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3814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96512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965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SaaS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71255" y="11155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ESTATE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71255" y="1463040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54135" y="14630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71255" y="2121408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54135" y="212140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71255" y="2779776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54135" y="277977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71255" y="3438144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54135" y="343814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71255" y="4096512"/>
            <a:ext cx="3063240" cy="548640"/>
          </a:xfrm>
          <a:prstGeom prst="roundRect">
            <a:avLst>
              <a:gd name="adj" fmla="val 10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54135" y="40965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OpenAI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0" y="1463040"/>
            <a:ext cx="4510735" cy="3182112"/>
          </a:xfrm>
          <a:prstGeom prst="roundRect">
            <a:avLst>
              <a:gd name="adj" fmla="val 1724"/>
            </a:avLst>
          </a:prstGeom>
          <a:solidFill>
            <a:srgbClr val="1D2D42"/>
          </a:solidFill>
          <a:ln w="15875">
            <a:solidFill>
              <a:srgbClr val="B07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0" y="1627632"/>
            <a:ext cx="4144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Command Center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023360" y="1956816"/>
            <a:ext cx="4144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 point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023360" y="2331720"/>
            <a:ext cx="1981048" cy="365760"/>
          </a:xfrm>
          <a:prstGeom prst="roundRect">
            <a:avLst>
              <a:gd name="adj" fmla="val 25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2331720"/>
            <a:ext cx="1981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87288" y="2331720"/>
            <a:ext cx="1981048" cy="365760"/>
          </a:xfrm>
          <a:prstGeom prst="roundRect">
            <a:avLst>
              <a:gd name="adj" fmla="val 25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87288" y="2331720"/>
            <a:ext cx="1981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per unit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023360" y="2788920"/>
            <a:ext cx="1981048" cy="365760"/>
          </a:xfrm>
          <a:prstGeom prst="roundRect">
            <a:avLst>
              <a:gd name="adj" fmla="val 25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0" y="2788920"/>
            <a:ext cx="1981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87288" y="2788920"/>
            <a:ext cx="1981048" cy="365760"/>
          </a:xfrm>
          <a:prstGeom prst="roundRect">
            <a:avLst>
              <a:gd name="adj" fmla="val 25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7288" y="2788920"/>
            <a:ext cx="1981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023360" y="3246120"/>
            <a:ext cx="1981048" cy="365760"/>
          </a:xfrm>
          <a:prstGeom prst="roundRect">
            <a:avLst>
              <a:gd name="adj" fmla="val 25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0" y="3246120"/>
            <a:ext cx="1981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87288" y="3246120"/>
            <a:ext cx="1981048" cy="365760"/>
          </a:xfrm>
          <a:prstGeom prst="roundRect">
            <a:avLst>
              <a:gd name="adj" fmla="val 25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7288" y="3246120"/>
            <a:ext cx="1981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quotas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023360" y="3703320"/>
            <a:ext cx="1981048" cy="365760"/>
          </a:xfrm>
          <a:prstGeom prst="roundRect">
            <a:avLst>
              <a:gd name="adj" fmla="val 25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0" y="3703320"/>
            <a:ext cx="1981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87288" y="3703320"/>
            <a:ext cx="1981048" cy="365760"/>
          </a:xfrm>
          <a:prstGeom prst="roundRect">
            <a:avLst>
              <a:gd name="adj" fmla="val 25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87288" y="3703320"/>
            <a:ext cx="1981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023360" y="4078224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or over-budget requests are filtered out. Governed, cost-allocated requests pass through.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71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production unowned</a:t>
            </a:r>
            <a:endParaRPr lang="en-US" sz="2471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workload goes live without explicit business ownership and financial allocation.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329184" cy="329184"/>
          </a:xfrm>
          <a:prstGeom prst="ellipse">
            <a:avLst/>
          </a:prstGeom>
          <a:solidFill>
            <a:srgbClr val="121B2D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481328"/>
            <a:ext cx="499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for the use case and its return.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29184" cy="329184"/>
          </a:xfrm>
          <a:prstGeom prst="ellipse">
            <a:avLst/>
          </a:prstGeom>
          <a:solidFill>
            <a:srgbClr val="121B2D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139696"/>
            <a:ext cx="499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owner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395728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model choice and system health.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52928"/>
            <a:ext cx="329184" cy="329184"/>
          </a:xfrm>
          <a:prstGeom prst="ellipse">
            <a:avLst/>
          </a:prstGeom>
          <a:solidFill>
            <a:srgbClr val="121B2D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798064"/>
            <a:ext cx="499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3054096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financial exposure, set before anything runs.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11296"/>
            <a:ext cx="329184" cy="329184"/>
          </a:xfrm>
          <a:prstGeom prst="ellipse">
            <a:avLst/>
          </a:prstGeom>
          <a:solidFill>
            <a:srgbClr val="121B2D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456432"/>
            <a:ext cx="499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3712464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API spam, runaway loops and overload.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78728" y="1536192"/>
            <a:ext cx="329184" cy="329184"/>
          </a:xfrm>
          <a:prstGeom prst="ellipse">
            <a:avLst/>
          </a:prstGeom>
          <a:solidFill>
            <a:srgbClr val="121B2D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8728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35928" y="1481328"/>
            <a:ext cx="499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quota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35928" y="1737360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consumption per consumer, independent of budget.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78728" y="2194560"/>
            <a:ext cx="329184" cy="329184"/>
          </a:xfrm>
          <a:prstGeom prst="ellipse">
            <a:avLst/>
          </a:prstGeom>
          <a:solidFill>
            <a:srgbClr val="121B2D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8728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35928" y="2139696"/>
            <a:ext cx="499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735928" y="2395728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chargeback possible at month end.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78728" y="2852928"/>
            <a:ext cx="329184" cy="329184"/>
          </a:xfrm>
          <a:prstGeom prst="ellipse">
            <a:avLst/>
          </a:prstGeom>
          <a:solidFill>
            <a:srgbClr val="121B2D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8728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35928" y="2798064"/>
            <a:ext cx="499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approval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35928" y="3054096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before launch, not after the first invoice.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279392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121B2D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40740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shadow AI structurally impossible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" y="4700016"/>
            <a:ext cx="108200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at the gateway, these criteria mean an unowned or unfunded workload cannot obtain a key — so it never reaches a provider inside the enterprise network.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33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gated path from proposal to report</a:t>
            </a:r>
            <a:endParaRPr lang="en-US" sz="2333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hard checkpoints sit before deployment. A request that cannot clear them does not reach a provider at all.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02 to 05 are the gates. Everything after them is observation, not permission.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627300" cy="1874520"/>
          </a:xfrm>
          <a:prstGeom prst="roundRect">
            <a:avLst>
              <a:gd name="adj" fmla="val 2927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550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" y="203911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478024"/>
            <a:ext cx="22249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case, expected volume and business justification submitted.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40532" y="1508760"/>
            <a:ext cx="2627300" cy="1874520"/>
          </a:xfrm>
          <a:prstGeom prst="roundRect">
            <a:avLst>
              <a:gd name="adj" fmla="val 2927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1700" y="16550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126584" y="1691640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3D2B0C"/>
          </a:solidFill>
          <a:ln w="9525">
            <a:solidFill>
              <a:srgbClr val="FF9F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6584" y="16916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541700" y="203911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approval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41700" y="2478024"/>
            <a:ext cx="22249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business owner accepts the outcome and the cost.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23864" y="1508760"/>
            <a:ext cx="2627300" cy="1874520"/>
          </a:xfrm>
          <a:prstGeom prst="roundRect">
            <a:avLst>
              <a:gd name="adj" fmla="val 2927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5032" y="16550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009915" y="1691640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3D2B0C"/>
          </a:solidFill>
          <a:ln w="9525">
            <a:solidFill>
              <a:srgbClr val="FF9F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9915" y="16916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25032" y="203911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25032" y="2478024"/>
            <a:ext cx="22249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envelope assigned against a cost centre.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107195" y="1508760"/>
            <a:ext cx="2627300" cy="1874520"/>
          </a:xfrm>
          <a:prstGeom prst="roundRect">
            <a:avLst>
              <a:gd name="adj" fmla="val 2927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08363" y="16550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10893247" y="1691640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3D2B0C"/>
          </a:solidFill>
          <a:ln w="9525">
            <a:solidFill>
              <a:srgbClr val="FF9F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93247" y="16916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308363" y="203911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assignment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08363" y="2478024"/>
            <a:ext cx="22249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quota and rate limit set per consumer.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639312"/>
            <a:ext cx="2627300" cy="1874520"/>
          </a:xfrm>
          <a:prstGeom prst="roundRect">
            <a:avLst>
              <a:gd name="adj" fmla="val 2927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785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2243252" y="3822192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3D2B0C"/>
          </a:solidFill>
          <a:ln w="9525">
            <a:solidFill>
              <a:srgbClr val="FF9F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3252" y="38221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58368" y="4169664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policy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" y="4608576"/>
            <a:ext cx="22249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issued, model tier pinned, policy applied.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40532" y="3639312"/>
            <a:ext cx="2627300" cy="1874520"/>
          </a:xfrm>
          <a:prstGeom prst="roundRect">
            <a:avLst>
              <a:gd name="adj" fmla="val 2927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41700" y="3785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3541700" y="4169664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541700" y="4608576"/>
            <a:ext cx="22249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goes live through the gateway, never around it.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23864" y="3639312"/>
            <a:ext cx="2627300" cy="1874520"/>
          </a:xfrm>
          <a:prstGeom prst="roundRect">
            <a:avLst>
              <a:gd name="adj" fmla="val 2927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5032" y="3785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6425032" y="4169664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25032" y="4608576"/>
            <a:ext cx="22249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Usage, anomalies and unit cost tracked continuously.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107195" y="3639312"/>
            <a:ext cx="2627300" cy="1874520"/>
          </a:xfrm>
          <a:prstGeom prst="roundRect">
            <a:avLst>
              <a:gd name="adj" fmla="val 2927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08363" y="37856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9308363" y="4169664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308363" y="4608576"/>
            <a:ext cx="22249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Consumption, variance and value reported monthly.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POLICY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33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by default, Opus by exception</a:t>
            </a:r>
            <a:endParaRPr lang="en-US" sz="2333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model selection is the one AI lever that needs no new platform — only a policy.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policy applies to Bedrock: 82% of AWS AI spend is Opus-class, and the model mix changes month to month — Opus 4.8 ran and stopped, Opus 5 appeared in July. That is a policy gap, not a usage pattern.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pricing and intended use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pricing, valid through 31 August 2026</a:t>
            </a:r>
            <a:endParaRPr lang="en-US" sz="9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64792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/ 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/ 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cost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usage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model — routine coding, SQL, debugging, documentation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4.8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0A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tasks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E0A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reasoning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4.8 Fast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503920" y="1234440"/>
            <a:ext cx="323057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05088" y="1344168"/>
            <a:ext cx="28282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SAVING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705088" y="1527048"/>
            <a:ext cx="2828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705088" y="1947672"/>
            <a:ext cx="28282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model token cost, routine work Opus → Sonnet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503920" y="2377440"/>
            <a:ext cx="323057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05088" y="2487168"/>
            <a:ext cx="28282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SPEND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705088" y="2670048"/>
            <a:ext cx="2828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$29,664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705088" y="3090672"/>
            <a:ext cx="28282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May–Jul, growing 183%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503920" y="3520440"/>
            <a:ext cx="323057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05088" y="3630168"/>
            <a:ext cx="28282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BEDROCK, OPUS SHARE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705088" y="3813048"/>
            <a:ext cx="2828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8705088" y="4233672"/>
            <a:ext cx="28282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AWS AI spend is Opus-class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503920" y="4663440"/>
            <a:ext cx="323057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05088" y="4773168"/>
            <a:ext cx="28282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PRICING ENDS</a:t>
            </a:r>
            <a:endParaRPr lang="en-US" sz="1000" dirty="0"/>
          </a:p>
        </p:txBody>
      </p:sp>
      <p:sp>
        <p:nvSpPr>
          <p:cNvPr id="9" name="Text 21"/>
          <p:cNvSpPr/>
          <p:nvPr/>
        </p:nvSpPr>
        <p:spPr>
          <a:xfrm>
            <a:off x="8705088" y="4956048"/>
            <a:ext cx="28282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 2026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8705088" y="5376672"/>
            <a:ext cx="28282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before the date, not after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for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items, owners and status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 and efficiency programme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the Cloud FinOps savings plan — right-sizing, auto-shutdown, reserved instances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0A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Division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WIV.AI rollout (free tier)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the WIV.AI platform for governance, cost and usage monitoring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0A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Ariel Oral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Tagging by 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resource tagging by Service, Application, Cost Center and Environment for chargeback and showback, including AI Gateway and AWS Bedrock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DD9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Ariel Oral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FinOps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cost analysis, savings recommendations and AWS service optimisation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0A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Databricks commitment optimisation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DBU commitment utilisation from 18%, track it monthly, and tune Classic vs Serverless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scope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361688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471416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8368" y="4654296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items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58368" y="5074920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$193K recommendation list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92498" y="4361688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3666" y="4471416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493666" y="4654296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493666" y="5074920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 blocks chargeback and gateway quotas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127797" y="4361688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8965" y="4471416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328965" y="4654296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$16,100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28965" y="5074920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credit, with Comm-IT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91A0B7">
              <a:alpha val="8000"/>
            </a:srgbClr>
          </a:solidFill>
          <a:ln w="12700">
            <a:solidFill>
              <a:srgbClr val="91A0B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2377440"/>
            <a:ext cx="4754880" cy="4754880"/>
          </a:xfrm>
          <a:prstGeom prst="ellipse">
            <a:avLst/>
          </a:prstGeom>
          <a:solidFill>
            <a:srgbClr val="3DD9EB">
              <a:alpha val="7000"/>
            </a:srgbClr>
          </a:solidFill>
          <a:ln w="12700">
            <a:solidFill>
              <a:srgbClr val="3DD9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detail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 and project breakdowns, January to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ACCOUNTS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account name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payers sit under AWS. Charges exclude Marketplace purchases, which are shown separately.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linked account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11480" y="1508760"/>
          <a:ext cx="73609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092440" y="1234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93608" y="1344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JAN–JUL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93608" y="1527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$584K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293608" y="1947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Jan→Jul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092440" y="2377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2487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93608" y="2670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$77K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293608" y="3090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MAP credit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110728" y="3657600"/>
            <a:ext cx="3605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110728" y="4032504"/>
            <a:ext cx="64008" cy="6400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3950208"/>
            <a:ext cx="34317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customers3-prod and horizon-prod both stepped up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110728" y="4334256"/>
            <a:ext cx="64008" cy="6400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84464" y="4251960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harel-org-02-root and aws-devTest-digital grew on EC2 and S3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10728" y="4818888"/>
            <a:ext cx="64008" cy="6400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84464" y="4736592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ai-factory-dev carries a MAP contract credit, which is why July nets down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SERVICES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service name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total, cut by service. Charges exclude Marketplace purchases.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service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11480" y="1508760"/>
          <a:ext cx="73609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092440" y="1234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93608" y="1344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JAN–JUL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93608" y="1527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$584K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293608" y="1947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Jan→Jul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092440" y="2377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2487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93608" y="2670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EC2 - Compute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293608" y="3090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of the total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110728" y="3657600"/>
            <a:ext cx="3605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110728" y="4032504"/>
            <a:ext cx="64008" cy="6400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3950208"/>
            <a:ext cx="34317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compute keeps rising month over month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110728" y="4334256"/>
            <a:ext cx="64008" cy="6400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84464" y="4251960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storage and Glacier Deep Archive both up sharply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10728" y="4818888"/>
            <a:ext cx="64008" cy="6400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84464" y="4736592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July dip in 'Other' is the MAP credit, not a usage change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COST CENTRES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cost centre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CostCenter tag. Charges exclude Marketplace purchases.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cost centre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11480" y="1508760"/>
          <a:ext cx="73609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092440" y="1234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93608" y="1344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JAN–JUL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93608" y="1527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$1.12M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293608" y="1947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 Jan→Jul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092440" y="2377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2487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COST CENTRE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93608" y="2670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datacloud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293608" y="3090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the total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110728" y="3657600"/>
            <a:ext cx="3605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110728" y="4032504"/>
            <a:ext cx="64008" cy="64008"/>
          </a:xfrm>
          <a:prstGeom prst="rect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3950208"/>
            <a:ext cx="34317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cloudops, datacloud and cloudit all up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110728" y="4334256"/>
            <a:ext cx="64008" cy="64008"/>
          </a:xfrm>
          <a:prstGeom prst="rect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84464" y="4251960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is the fastest-growing centre in the period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10728" y="4818888"/>
            <a:ext cx="64008" cy="64008"/>
          </a:xfrm>
          <a:prstGeom prst="rect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84464" y="4736592"/>
            <a:ext cx="34317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Agility and Actuary fell back after Q1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SERVICES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service name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total, cut by service. Charges exclude Marketplace purchases.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service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11480" y="1508760"/>
          <a:ext cx="73609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092440" y="1234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93608" y="1344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JAN–JUL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93608" y="1527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$1.12M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293608" y="1947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 Jan→Jul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092440" y="2377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608" y="2487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93608" y="2670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293608" y="3090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of the total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110728" y="3657600"/>
            <a:ext cx="3605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110728" y="4032504"/>
            <a:ext cx="64008" cy="64008"/>
          </a:xfrm>
          <a:prstGeom prst="rect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3950208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and Copilot Studio drive most of the July step-up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110728" y="4517136"/>
            <a:ext cx="64008" cy="64008"/>
          </a:xfrm>
          <a:prstGeom prst="rect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84464" y="4434840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Models and Foundry Tools rise every month from April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10728" y="5001768"/>
            <a:ext cx="64008" cy="64008"/>
          </a:xfrm>
          <a:prstGeom prst="rect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84464" y="4919472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Network, Log Analytics and Sentinel add to the base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DATACLOUD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 — DataCloud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Azure cost centre, by service and by subscription.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drops to zero from May — that is the reserved capacity purchase taking over, not a workload stopping. Foundry Models and Foundry Tools take its place as the growth line.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9844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JAN–JUL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48132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$339K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" y="190195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+3% Jan→Jul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2498" y="118872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3666" y="129844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SUBSCRIPTION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93666" y="148132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DataCloud prod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93666" y="190195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the total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27797" y="118872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8965" y="129844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8965" y="148132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84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2584" dirty="0"/>
          </a:p>
        </p:txBody>
      </p:sp>
      <p:sp>
        <p:nvSpPr>
          <p:cNvPr id="18" name="Text 16"/>
          <p:cNvSpPr/>
          <p:nvPr/>
        </p:nvSpPr>
        <p:spPr>
          <a:xfrm>
            <a:off x="8328965" y="190195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the total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33172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service</a:t>
            </a:r>
            <a:endParaRPr lang="en-US" sz="13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11480" y="2606040"/>
          <a:ext cx="547862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6255868" y="233172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subscription</a:t>
            </a:r>
            <a:endParaRPr lang="en-US" sz="13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6210148" y="2606040"/>
          <a:ext cx="547862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SAP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 — SAP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stable large workload in the estate — and the best candidate for reservations.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Dev/Test costs more than Production every month of the period. Virtual machines are roughly three quarters of the bill and barely vary — a flat, reservable profile.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9844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JAN–JUL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48132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$294K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" y="190195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-3% Jan→Jul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2498" y="118872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3666" y="129844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SUBSCRIPTION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93666" y="148132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Dev/Test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93666" y="190195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of the total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27797" y="118872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8965" y="129844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8965" y="148132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84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2584" dirty="0"/>
          </a:p>
        </p:txBody>
      </p:sp>
      <p:sp>
        <p:nvSpPr>
          <p:cNvPr id="18" name="Text 16"/>
          <p:cNvSpPr/>
          <p:nvPr/>
        </p:nvSpPr>
        <p:spPr>
          <a:xfrm>
            <a:off x="8328965" y="190195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of the total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33172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service</a:t>
            </a:r>
            <a:endParaRPr lang="en-US" sz="13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11480" y="2606040"/>
          <a:ext cx="547862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6255868" y="233172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subscription</a:t>
            </a:r>
            <a:endParaRPr lang="en-US" sz="13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6210148" y="2606040"/>
          <a:ext cx="547862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CLOUD IT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 — Cloud 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 services: network, monitoring and security for everyone else.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 and Sentinel drive the March spike; virtual network and storage carry the underlying growth.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9844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JAN–JUL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48132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$216K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" y="190195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 Jan→Jul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2498" y="118872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3666" y="129844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SUBSCRIPTION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93666" y="148132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84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Resources</a:t>
            </a:r>
            <a:endParaRPr lang="en-US" sz="2584" dirty="0"/>
          </a:p>
        </p:txBody>
      </p:sp>
      <p:sp>
        <p:nvSpPr>
          <p:cNvPr id="14" name="Text 12"/>
          <p:cNvSpPr/>
          <p:nvPr/>
        </p:nvSpPr>
        <p:spPr>
          <a:xfrm>
            <a:off x="4493666" y="190195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of the total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27797" y="118872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8965" y="129844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8965" y="148132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28965" y="190195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of the total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33172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service</a:t>
            </a:r>
            <a:endParaRPr lang="en-US" sz="13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11480" y="2606040"/>
          <a:ext cx="547862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6255868" y="233172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subscription</a:t>
            </a:r>
            <a:endParaRPr lang="en-US" sz="13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6210148" y="2606040"/>
          <a:ext cx="547862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· PROJECTS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project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projects make up the AI Factory programme. AIFactory itself is more than half of it.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roughly quadruples between January and July. June and July are flat against each other — the first month the programme has not grown.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project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11480" y="1508760"/>
          <a:ext cx="73609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1234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93608" y="1344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JAN–JUL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93608" y="1527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$166K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293608" y="1947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+489% Jan→Jul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92440" y="2377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93608" y="2487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PROJECT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93608" y="2670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Aifactory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293608" y="3090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the total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· CORE PROJECT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project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tag covers far more than models — API Management and VMs are the two largest lines.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what is tagged AI Factory is infrastructure rather than inference. That is not automatically wrong — models need somewhere to run — but it is the part right-sizing can move.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9844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JAN–JUL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48132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" y="190195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+2664% Jan→Jul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2498" y="118872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3666" y="129844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93666" y="148132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93666" y="190195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of the total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27797" y="118872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8965" y="129844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MODELS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8965" y="148132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$24K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28965" y="190195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model spend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33172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service</a:t>
            </a:r>
            <a:endParaRPr lang="en-US" sz="13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11480" y="2606040"/>
          <a:ext cx="547862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6255868" y="233172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subscription</a:t>
            </a:r>
            <a:endParaRPr lang="en-US" sz="13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6210148" y="2606040"/>
          <a:ext cx="547862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· MODELS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models and tools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model and meter. This is the closest view of what the models themselves cost.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 input and output become the dominant meters from June. Document intelligence page meters (S0 Custom / Pre-built / Add-on) are the steady base underneath them.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model and meter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11480" y="1508760"/>
          <a:ext cx="73609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1234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93608" y="1344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JAN–JUL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93608" y="1527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$87K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293608" y="1947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+240% Jan→Jul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92440" y="2377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93608" y="2487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METER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93608" y="2670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Custom Pages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293608" y="3090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the total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BEDROCK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Bedrock service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models consumed through Bedrock by the engineering teams, billed as Marketplace lines.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Opus-class models are the overwhelming majority of Bedrock spend. Model mix changes month to month — Opus 5 appears in July — which is exactly what a model policy is for.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model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11480" y="1508760"/>
          <a:ext cx="73609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1234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93608" y="1344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MAR–JUL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93608" y="1527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$42K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293608" y="1947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+2907% Mar→Jul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92440" y="2377440"/>
            <a:ext cx="3642055" cy="1005840"/>
          </a:xfrm>
          <a:prstGeom prst="roundRect">
            <a:avLst>
              <a:gd name="adj" fmla="val 545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93608" y="2487168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MODEL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93608" y="2670048"/>
            <a:ext cx="3239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293608" y="3090672"/>
            <a:ext cx="3239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the total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DEVELOPER AI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and Copilot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321040" y="493776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Developer-facing AI, billed through the Shared Resources subscription.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triples between May and July. Copilot Studio credits appear for the first time in July at $8,919 — no credit applied, billed in full.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9844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MAY–JUL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48132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" y="190195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+198% May→Jul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2498" y="118872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3666" y="129844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STUDIO, JULY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93666" y="148132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$8,919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93666" y="190195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 month billed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27797" y="1188720"/>
            <a:ext cx="3606698" cy="960120"/>
          </a:xfrm>
          <a:prstGeom prst="roundRect">
            <a:avLst>
              <a:gd name="adj" fmla="val 5714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8965" y="1298448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8965" y="148132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$51K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28965" y="1901952"/>
            <a:ext cx="32043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AI, three months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33172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by subscription</a:t>
            </a:r>
            <a:endParaRPr lang="en-US" sz="13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11480" y="2606040"/>
          <a:ext cx="547862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6255868" y="233172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Studio, by subscription</a:t>
            </a:r>
            <a:endParaRPr lang="en-US" sz="13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6210148" y="2606040"/>
          <a:ext cx="547862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3DD9EB">
              <a:alpha val="8000"/>
            </a:srgbClr>
          </a:solidFill>
          <a:ln w="12700">
            <a:solidFill>
              <a:srgbClr val="3DD9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2377440"/>
            <a:ext cx="4754880" cy="4754880"/>
          </a:xfrm>
          <a:prstGeom prst="ellipse">
            <a:avLst/>
          </a:prstGeom>
          <a:solidFill>
            <a:srgbClr val="3DD9EB">
              <a:alpha val="7000"/>
            </a:srgbClr>
          </a:solidFill>
          <a:ln w="12700">
            <a:solidFill>
              <a:srgbClr val="3DD9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286000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HAREL INSURANCE · CLOUD FINOPS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4082</Words>
  <Application>Microsoft Office PowerPoint</Application>
  <PresentationFormat>Widescreen</PresentationFormat>
  <Paragraphs>767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Harel Insurance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Harel Cloud Cost — CIO briefing, v34</dc:title>
  <dc:subject>PptxGenJS Presentation</dc:subject>
  <dc:creator>Cloud Infrastructure, DevOps &amp; Databases</dc:creator>
  <cp:lastModifiedBy>Ariel</cp:lastModifiedBy>
  <cp:revision>2</cp:revision>
  <dcterms:created xsi:type="dcterms:W3CDTF">2026-08-16T15:41:10Z</dcterms:created>
  <dcterms:modified xsi:type="dcterms:W3CDTF">2026-08-16T15:47:44Z</dcterms:modified>
</cp:coreProperties>
</file>