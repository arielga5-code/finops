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7.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9.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0.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7.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0.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21.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Projected at the Jan-Jul pace</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293102</c:v>
                </c:pt>
                <c:pt idx="8">
                  <c:v>302905</c:v>
                </c:pt>
                <c:pt idx="9">
                  <c:v>312972</c:v>
                </c:pt>
                <c:pt idx="10">
                  <c:v>323309</c:v>
                </c:pt>
                <c:pt idx="11">
                  <c:v>333925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Jan-Jul pace / +3.2%/mo</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293160</c:v>
                </c:pt>
                <c:pt idx="8">
                  <c:v>303026</c:v>
                </c:pt>
                <c:pt idx="9">
                  <c:v>313158</c:v>
                </c:pt>
                <c:pt idx="10">
                  <c:v>323566</c:v>
                </c:pt>
                <c:pt idx="11">
                  <c:v>334256</c:v>
                </c:pt>
              </c:numCache>
            </c:numRef>
          </c:val>
          <c:smooth val="0"/>
        </c:ser>
        <c:ser>
          <c:idx val="2"/>
          <c:order val="2"/>
          <c:tx>
            <c:strRef>
              <c:f>Sheet1!$D$1</c:f>
              <c:strCache>
                <c:ptCount val="1"/>
                <c:pt idx="0">
                  <c:v>May-Jul pace / Azure +13.3%/mo</c:v>
                </c:pt>
              </c:strCache>
            </c:strRef>
          </c:tx>
          <c:spPr>
            <a:solidFill>
              <a:srgbClr val="FF6B7A"/>
            </a:solidFill>
            <a:ln w="31750" cap="flat">
              <a:solidFill>
                <a:srgbClr val="FF6B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6B7A"/>
              </a:solidFill>
              <a:ln w="9525" cap="flat">
                <a:solidFill>
                  <a:srgbClr val="FF6B7A"/>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Sheet1!$D$2:$D$13</c:f>
              <c:numCache>
                <c:formatCode>General</c:formatCode>
                <c:ptCount val="12"/>
                <c:pt idx="0">
                  <c:v/>
                </c:pt>
                <c:pt idx="1">
                  <c:v/>
                </c:pt>
                <c:pt idx="2">
                  <c:v/>
                </c:pt>
                <c:pt idx="3">
                  <c:v/>
                </c:pt>
                <c:pt idx="4">
                  <c:v/>
                </c:pt>
                <c:pt idx="5">
                  <c:v/>
                </c:pt>
                <c:pt idx="6">
                  <c:v>283554</c:v>
                </c:pt>
                <c:pt idx="7">
                  <c:v>314904</c:v>
                </c:pt>
                <c:pt idx="8">
                  <c:v>349873</c:v>
                </c:pt>
                <c:pt idx="9">
                  <c:v>388919</c:v>
                </c:pt>
                <c:pt idx="10">
                  <c:v>432559</c:v>
                </c:pt>
                <c:pt idx="11">
                  <c:v>481378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Azure</c:v>
                </c:pt>
              </c:strCache>
            </c:strRef>
          </c:tx>
          <c:spPr>
            <a:solidFill>
              <a:srgbClr val="2F8CFF"/>
            </a:solidFill>
            <a:ln w="31750" cap="flat">
              <a:solidFill>
                <a:srgbClr val="2F8C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F8CFF"/>
              </a:solidFill>
              <a:ln w="9525" cap="flat">
                <a:solidFill>
                  <a:srgbClr val="2F8CFF"/>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156990</c:v>
                </c:pt>
                <c:pt idx="1">
                  <c:v>135742</c:v>
                </c:pt>
                <c:pt idx="2">
                  <c:v>165199</c:v>
                </c:pt>
                <c:pt idx="3">
                  <c:v>152577</c:v>
                </c:pt>
                <c:pt idx="4">
                  <c:v>152263</c:v>
                </c:pt>
                <c:pt idx="5">
                  <c:v>167406</c:v>
                </c:pt>
                <c:pt idx="6">
                  <c:v>186917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Azure AI Foundry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5764</c:v>
                </c:pt>
                <c:pt idx="1">
                  <c:v>6875</c:v>
                </c:pt>
                <c:pt idx="2">
                  <c:v>7840</c:v>
                </c:pt>
                <c:pt idx="3">
                  <c:v>10544</c:v>
                </c:pt>
                <c:pt idx="4">
                  <c:v>14913</c:v>
                </c:pt>
                <c:pt idx="5">
                  <c:v>21609</c:v>
                </c:pt>
                <c:pt idx="6">
                  <c:v>19613</c:v>
                </c:pt>
              </c:numCache>
            </c:numRef>
          </c:val>
        </c:ser>
        <c:ser>
          <c:idx val="1"/>
          <c:order val="1"/>
          <c:tx>
            <c:strRef>
              <c:f>Sheet1!$C$1</c:f>
              <c:strCache>
                <c:ptCount val="1"/>
                <c:pt idx="0">
                  <c:v>GitHub Copilot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2779</c:v>
                </c:pt>
                <c:pt idx="1">
                  <c:v>3618</c:v>
                </c:pt>
                <c:pt idx="2">
                  <c:v>4319</c:v>
                </c:pt>
                <c:pt idx="3">
                  <c:v>4080</c:v>
                </c:pt>
                <c:pt idx="4">
                  <c:v>6467</c:v>
                </c:pt>
                <c:pt idx="5">
                  <c:v>16654</c:v>
                </c:pt>
                <c:pt idx="6">
                  <c:v>19260</c:v>
                </c:pt>
              </c:numCache>
            </c:numRef>
          </c:val>
        </c:ser>
        <c:ser>
          <c:idx val="2"/>
          <c:order val="2"/>
          <c:tx>
            <c:strRef>
              <c:f>Sheet1!$D$1</c:f>
              <c:strCache>
                <c:ptCount val="1"/>
                <c:pt idx="0">
                  <c:v>AWS Bedrock (Claude)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841</c:v>
                </c:pt>
                <c:pt idx="3">
                  <c:v>1609</c:v>
                </c:pt>
                <c:pt idx="4">
                  <c:v>3811</c:v>
                </c:pt>
                <c:pt idx="5">
                  <c:v>10507</c:v>
                </c:pt>
                <c:pt idx="6">
                  <c:v>25288</c:v>
                </c:pt>
              </c:numCache>
            </c:numRef>
          </c:val>
        </c:ser>
        <c:ser>
          <c:idx val="3"/>
          <c:order val="3"/>
          <c:tx>
            <c:strRef>
              <c:f>Sheet1!$E$1</c:f>
              <c:strCache>
                <c:ptCount val="1"/>
                <c:pt idx="0">
                  <c:v>Cowork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97</c:v>
                </c:pt>
                <c:pt idx="1">
                  <c:v>100</c:v>
                </c:pt>
                <c:pt idx="2">
                  <c:v>117</c:v>
                </c:pt>
                <c:pt idx="3">
                  <c:v>130</c:v>
                </c:pt>
                <c:pt idx="4">
                  <c:v>80</c:v>
                </c:pt>
                <c:pt idx="5">
                  <c:v>0</c:v>
                </c:pt>
                <c:pt idx="6">
                  <c:v>8920</c:v>
                </c:pt>
              </c:numCache>
            </c:numRef>
          </c:val>
        </c:ser>
        <c:ser>
          <c:idx val="4"/>
          <c:order val="4"/>
          <c:tx>
            <c:strRef>
              <c:f>Sheet1!$F$1</c:f>
              <c:strCache>
                <c:ptCount val="1"/>
                <c:pt idx="0">
                  <c:v>Google Vertex AI</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379</c:v>
                </c:pt>
                <c:pt idx="5">
                  <c:v>958</c:v>
                </c:pt>
                <c:pt idx="6">
                  <c:v>2359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lvl>
              </c:multiLvlStrCache>
            </c:multiLvlStrRef>
          </c:cat>
          <c:val>
            <c:numRef>
              <c:f>Sheet1!$B$2:$B$11</c:f>
              <c:numCache>
                <c:formatCode>General</c:formatCode>
                <c:ptCount val="10"/>
                <c:pt idx="0">
                  <c:v>43307.51</c:v>
                </c:pt>
                <c:pt idx="1">
                  <c:v>61998.34</c:v>
                </c:pt>
                <c:pt idx="2">
                  <c:v>70680</c:v>
                </c:pt>
                <c:pt idx="3">
                  <c:v>101662.59</c:v>
                </c:pt>
                <c:pt idx="4">
                  <c:v>142960.14</c:v>
                </c:pt>
                <c:pt idx="5">
                  <c:v>163240.16999999998</c:v>
                </c:pt>
                <c:pt idx="6">
                  <c:v>166293</c:v>
                </c:pt>
                <c:pt idx="7">
                  <c:v>171303</c:v>
                </c:pt>
                <c:pt idx="8">
                  <c:v>257323</c:v>
                </c:pt>
                <c:pt idx="9">
                  <c:v>365018</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0.01</c:v>
                </c:pt>
                <c:pt idx="2">
                  <c:v>378.84</c:v>
                </c:pt>
                <c:pt idx="3">
                  <c:v>957.52</c:v>
                </c:pt>
                <c:pt idx="4">
                  <c:v>2359</c:v>
                </c:pt>
              </c:numCache>
            </c:numRef>
          </c:val>
        </c:ser>
        <c:ser>
          <c:idx val="1"/>
          <c:order val="1"/>
          <c:tx>
            <c:strRef>
              <c:f>Sheet1!$C$1</c:f>
              <c:strCache>
                <c:ptCount val="1"/>
                <c:pt idx="0">
                  <c:v>Compute Engine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221.73</c:v>
                </c:pt>
                <c:pt idx="2">
                  <c:v>714.24</c:v>
                </c:pt>
                <c:pt idx="3">
                  <c:v>977.33</c:v>
                </c:pt>
                <c:pt idx="4">
                  <c:v>1011.51</c:v>
                </c:pt>
              </c:numCache>
            </c:numRef>
          </c:val>
        </c:ser>
        <c:ser>
          <c:idx val="2"/>
          <c:order val="2"/>
          <c:tx>
            <c:strRef>
              <c:f>Sheet1!$D$1</c:f>
              <c:strCache>
                <c:ptCount val="1"/>
                <c:pt idx="0">
                  <c:v>Networking</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74.48</c:v>
                </c:pt>
                <c:pt idx="2">
                  <c:v>311.42</c:v>
                </c:pt>
                <c:pt idx="3">
                  <c:v>303.73</c:v>
                </c:pt>
                <c:pt idx="4">
                  <c:v>310</c:v>
                </c:pt>
              </c:numCache>
            </c:numRef>
          </c:val>
        </c:ser>
        <c:ser>
          <c:idx val="3"/>
          <c:order val="3"/>
          <c:tx>
            <c:strRef>
              <c:f>Sheet1!$E$1</c:f>
              <c:strCache>
                <c:ptCount val="1"/>
                <c:pt idx="0">
                  <c:v>Gemini API</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395.81</c:v>
                </c:pt>
                <c:pt idx="1">
                  <c:v>134.71</c:v>
                </c:pt>
                <c:pt idx="2">
                  <c:v>92.38</c:v>
                </c:pt>
                <c:pt idx="3">
                  <c:v>0</c:v>
                </c:pt>
                <c:pt idx="4">
                  <c:v>0</c:v>
                </c:pt>
              </c:numCache>
            </c:numRef>
          </c:val>
        </c:ser>
        <c:ser>
          <c:idx val="4"/>
          <c:order val="4"/>
          <c:tx>
            <c:strRef>
              <c:f>Sheet1!$F$1</c:f>
              <c:strCache>
                <c:ptCount val="1"/>
                <c:pt idx="0">
                  <c:v>Support</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26.43</c:v>
                </c:pt>
                <c:pt idx="3">
                  <c:v>98.24</c:v>
                </c:pt>
                <c:pt idx="4">
                  <c:v>141.65</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0.06</c:v>
                </c:pt>
                <c:pt idx="1">
                  <c:v>9.23</c:v>
                </c:pt>
                <c:pt idx="2">
                  <c:v>-73.96</c:v>
                </c:pt>
                <c:pt idx="3">
                  <c:v>-117.27</c:v>
                </c:pt>
                <c:pt idx="4">
                  <c:v>-115.11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ser>
        <c:ser>
          <c:idx val="1"/>
          <c:order val="1"/>
          <c:tx>
            <c:strRef>
              <c:f>Sheet1!$C$1</c:f>
              <c:strCache>
                <c:ptCount val="1"/>
                <c:pt idx="0">
                  <c:v>aws-devTest-digital</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ser>
        <c:ser>
          <c:idx val="2"/>
          <c:order val="2"/>
          <c:tx>
            <c:strRef>
              <c:f>Sheet1!$D$1</c:f>
              <c:strCache>
                <c:ptCount val="1"/>
                <c:pt idx="0">
                  <c:v>aws-preProd-digital</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ser>
        <c:ser>
          <c:idx val="3"/>
          <c:order val="3"/>
          <c:tx>
            <c:strRef>
              <c:f>Sheet1!$E$1</c:f>
              <c:strCache>
                <c:ptCount val="1"/>
                <c:pt idx="0">
                  <c:v>aws-foundation-security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8241.01</c:v>
                </c:pt>
                <c:pt idx="1">
                  <c:v>7426.22</c:v>
                </c:pt>
                <c:pt idx="2">
                  <c:v>8018.52</c:v>
                </c:pt>
                <c:pt idx="3">
                  <c:v>7844.99</c:v>
                </c:pt>
                <c:pt idx="4">
                  <c:v>8595.8</c:v>
                </c:pt>
                <c:pt idx="5">
                  <c:v>8586.64</c:v>
                </c:pt>
                <c:pt idx="6">
                  <c:v>8752.36</c:v>
                </c:pt>
              </c:numCache>
            </c:numRef>
          </c:val>
        </c:ser>
        <c:ser>
          <c:idx val="4"/>
          <c:order val="4"/>
          <c:tx>
            <c:strRef>
              <c:f>Sheet1!$F$1</c:f>
              <c:strCache>
                <c:ptCount val="1"/>
                <c:pt idx="0">
                  <c:v>customers3-prod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ser>
        <c:ser>
          <c:idx val="5"/>
          <c:order val="5"/>
          <c:tx>
            <c:strRef>
              <c:f>Sheet1!$G$1</c:f>
              <c:strCache>
                <c:ptCount val="1"/>
                <c:pt idx="0">
                  <c:v>cloudops-network</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ser>
        <c:ser>
          <c:idx val="6"/>
          <c:order val="6"/>
          <c:tx>
            <c:strRef>
              <c:f>Sheet1!$H$1</c:f>
              <c:strCache>
                <c:ptCount val="1"/>
                <c:pt idx="0">
                  <c:v>aws-foundation-sharedservices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ser>
        <c:ser>
          <c:idx val="7"/>
          <c:order val="7"/>
          <c:tx>
            <c:strRef>
              <c:f>Sheet1!$I$1</c:f>
              <c:strCache>
                <c:ptCount val="1"/>
                <c:pt idx="0">
                  <c:v>Harel Insurance</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6065.71</c:v>
                </c:pt>
                <c:pt idx="1">
                  <c:v>3782.04</c:v>
                </c:pt>
                <c:pt idx="2">
                  <c:v>6397.95</c:v>
                </c:pt>
                <c:pt idx="3">
                  <c:v>8584.51</c:v>
                </c:pt>
                <c:pt idx="4">
                  <c:v>3830.37</c:v>
                </c:pt>
                <c:pt idx="5">
                  <c:v>6197.57</c:v>
                </c:pt>
                <c:pt idx="6">
                  <c:v>5139.86</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6260.39</c:v>
                </c:pt>
                <c:pt idx="1">
                  <c:v>7002.899999999999</c:v>
                </c:pt>
                <c:pt idx="2">
                  <c:v>12141.12</c:v>
                </c:pt>
                <c:pt idx="3">
                  <c:v>5862.049999999999</c:v>
                </c:pt>
                <c:pt idx="4">
                  <c:v>5790.1100000000015</c:v>
                </c:pt>
                <c:pt idx="5">
                  <c:v>7274.5199999999995</c:v>
                </c:pt>
                <c:pt idx="6">
                  <c:v>-6323.640000000001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31180.69</c:v>
                </c:pt>
                <c:pt idx="1">
                  <c:v>28236.72</c:v>
                </c:pt>
                <c:pt idx="2">
                  <c:v>32994.93</c:v>
                </c:pt>
                <c:pt idx="3">
                  <c:v>32045.93</c:v>
                </c:pt>
                <c:pt idx="4">
                  <c:v>35082.64</c:v>
                </c:pt>
                <c:pt idx="5">
                  <c:v>33427.89</c:v>
                </c:pt>
                <c:pt idx="6">
                  <c:v>35426.33</c:v>
                </c:pt>
              </c:numCache>
            </c:numRef>
          </c:val>
        </c:ser>
        <c:ser>
          <c:idx val="1"/>
          <c:order val="1"/>
          <c:tx>
            <c:strRef>
              <c:f>Sheet1!$C$1</c:f>
              <c:strCache>
                <c:ptCount val="1"/>
                <c:pt idx="0">
                  <c:v>Business Support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3876.88</c:v>
                </c:pt>
                <c:pt idx="1">
                  <c:v>4268.96</c:v>
                </c:pt>
                <c:pt idx="2">
                  <c:v>4581.17</c:v>
                </c:pt>
                <c:pt idx="3">
                  <c:v>4108.04</c:v>
                </c:pt>
                <c:pt idx="4">
                  <c:v>4478.1</c:v>
                </c:pt>
                <c:pt idx="5">
                  <c:v>4839.14</c:v>
                </c:pt>
                <c:pt idx="6">
                  <c:v>5893.49</c:v>
                </c:pt>
              </c:numCache>
            </c:numRef>
          </c:val>
        </c:ser>
        <c:ser>
          <c:idx val="2"/>
          <c:order val="2"/>
          <c:tx>
            <c:strRef>
              <c:f>Sheet1!$D$1</c:f>
              <c:strCache>
                <c:ptCount val="1"/>
                <c:pt idx="0">
                  <c:v>S3 - 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1978.49</c:v>
                </c:pt>
                <c:pt idx="1">
                  <c:v>13276.31</c:v>
                </c:pt>
                <c:pt idx="2">
                  <c:v>5868.01</c:v>
                </c:pt>
                <c:pt idx="3">
                  <c:v>2134.47</c:v>
                </c:pt>
                <c:pt idx="4">
                  <c:v>2249.46</c:v>
                </c:pt>
                <c:pt idx="5">
                  <c:v>2370.09</c:v>
                </c:pt>
                <c:pt idx="6">
                  <c:v>2324.71</c:v>
                </c:pt>
              </c:numCache>
            </c:numRef>
          </c:val>
        </c:ser>
        <c:ser>
          <c:idx val="3"/>
          <c:order val="3"/>
          <c:tx>
            <c:strRef>
              <c:f>Sheet1!$E$1</c:f>
              <c:strCache>
                <c:ptCount val="1"/>
                <c:pt idx="0">
                  <c:v>Virtual Private Cloud - Transit Gateway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3925.73</c:v>
                </c:pt>
                <c:pt idx="1">
                  <c:v>3570.88</c:v>
                </c:pt>
                <c:pt idx="2">
                  <c:v>3963.99</c:v>
                </c:pt>
                <c:pt idx="3">
                  <c:v>3878.04</c:v>
                </c:pt>
                <c:pt idx="4">
                  <c:v>4428.68</c:v>
                </c:pt>
                <c:pt idx="5">
                  <c:v>4573.6</c:v>
                </c:pt>
                <c:pt idx="6">
                  <c:v>4657.27</c:v>
                </c:pt>
              </c:numCache>
            </c:numRef>
          </c:val>
        </c:ser>
        <c:ser>
          <c:idx val="4"/>
          <c:order val="4"/>
          <c:tx>
            <c:strRef>
              <c:f>Sheet1!$F$1</c:f>
              <c:strCache>
                <c:ptCount val="1"/>
                <c:pt idx="0">
                  <c:v>RDS - Compute</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ser>
        <c:ser>
          <c:idx val="5"/>
          <c:order val="5"/>
          <c:tx>
            <c:strRef>
              <c:f>Sheet1!$G$1</c:f>
              <c:strCache>
                <c:ptCount val="1"/>
                <c:pt idx="0">
                  <c:v>Direct Connect - Port Hours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3794.4</c:v>
                </c:pt>
                <c:pt idx="1">
                  <c:v>3427.2</c:v>
                </c:pt>
                <c:pt idx="2">
                  <c:v>3794.4</c:v>
                </c:pt>
                <c:pt idx="3">
                  <c:v>3672</c:v>
                </c:pt>
                <c:pt idx="4">
                  <c:v>3794.4</c:v>
                </c:pt>
                <c:pt idx="5">
                  <c:v>3672</c:v>
                </c:pt>
                <c:pt idx="6">
                  <c:v>3794.4</c:v>
                </c:pt>
              </c:numCache>
            </c:numRef>
          </c:val>
        </c:ser>
        <c:ser>
          <c:idx val="6"/>
          <c:order val="6"/>
          <c:tx>
            <c:strRef>
              <c:f>Sheet1!$H$1</c:f>
              <c:strCache>
                <c:ptCount val="1"/>
                <c:pt idx="0">
                  <c:v>CloudWatch Log Groups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ser>
        <c:ser>
          <c:idx val="7"/>
          <c:order val="7"/>
          <c:tx>
            <c:strRef>
              <c:f>Sheet1!$I$1</c:f>
              <c:strCache>
                <c:ptCount val="1"/>
                <c:pt idx="0">
                  <c:v>all other services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21656.71000000001</c:v>
                </c:pt>
                <c:pt idx="1">
                  <c:v>19648.1</c:v>
                </c:pt>
                <c:pt idx="2">
                  <c:v>34523.78</c:v>
                </c:pt>
                <c:pt idx="3">
                  <c:v>27513.360000000008</c:v>
                </c:pt>
                <c:pt idx="4">
                  <c:v>24430.3</c:v>
                </c:pt>
                <c:pt idx="5">
                  <c:v>28735.639999999996</c:v>
                </c:pt>
                <c:pt idx="6">
                  <c:v>16111.090000000006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ser>
        <c:ser>
          <c:idx val="1"/>
          <c:order val="1"/>
          <c:tx>
            <c:strRef>
              <c:f>Sheet1!$C$1</c:f>
              <c:strCache>
                <c:ptCount val="1"/>
                <c:pt idx="0">
                  <c:v>sap</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ser>
        <c:ser>
          <c:idx val="2"/>
          <c:order val="2"/>
          <c:tx>
            <c:strRef>
              <c:f>Sheet1!$D$1</c:f>
              <c:strCache>
                <c:ptCount val="1"/>
                <c:pt idx="0">
                  <c:v>cloudit</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ser>
        <c:ser>
          <c:idx val="3"/>
          <c:order val="3"/>
          <c:tx>
            <c:strRef>
              <c:f>Sheet1!$E$1</c:f>
              <c:strCache>
                <c:ptCount val="1"/>
                <c:pt idx="0">
                  <c:v>aifactory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ser>
        <c:ser>
          <c:idx val="4"/>
          <c:order val="4"/>
          <c:tx>
            <c:strRef>
              <c:f>Sheet1!$F$1</c:f>
              <c:strCache>
                <c:ptCount val="1"/>
                <c:pt idx="0">
                  <c:v>other</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4371</c:v>
                </c:pt>
                <c:pt idx="1">
                  <c:v>5240</c:v>
                </c:pt>
                <c:pt idx="2">
                  <c:v>5614</c:v>
                </c:pt>
                <c:pt idx="3">
                  <c:v>5760</c:v>
                </c:pt>
                <c:pt idx="4">
                  <c:v>8681.34</c:v>
                </c:pt>
                <c:pt idx="5">
                  <c:v>18094</c:v>
                </c:pt>
                <c:pt idx="6">
                  <c:v>22410</c:v>
                </c:pt>
              </c:numCache>
            </c:numRef>
          </c:val>
        </c:ser>
        <c:ser>
          <c:idx val="5"/>
          <c:order val="5"/>
          <c:tx>
            <c:strRef>
              <c:f>Sheet1!$G$1</c:f>
              <c:strCache>
                <c:ptCount val="1"/>
                <c:pt idx="0">
                  <c:v>actuary</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15102</c:v>
                </c:pt>
                <c:pt idx="1">
                  <c:v>4959.24</c:v>
                </c:pt>
                <c:pt idx="2">
                  <c:v>3549</c:v>
                </c:pt>
                <c:pt idx="3">
                  <c:v>5341</c:v>
                </c:pt>
                <c:pt idx="4">
                  <c:v>4672</c:v>
                </c:pt>
                <c:pt idx="5">
                  <c:v>2733</c:v>
                </c:pt>
                <c:pt idx="6">
                  <c:v>4058</c:v>
                </c:pt>
              </c:numCache>
            </c:numRef>
          </c:val>
        </c:ser>
        <c:ser>
          <c:idx val="6"/>
          <c:order val="6"/>
          <c:tx>
            <c:strRef>
              <c:f>Sheet1!$H$1</c:f>
              <c:strCache>
                <c:ptCount val="1"/>
                <c:pt idx="0">
                  <c:v>Risk Agility</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13063</c:v>
                </c:pt>
                <c:pt idx="1">
                  <c:v>5274</c:v>
                </c:pt>
                <c:pt idx="2">
                  <c:v>2617</c:v>
                </c:pt>
                <c:pt idx="3">
                  <c:v>5768</c:v>
                </c:pt>
                <c:pt idx="4">
                  <c:v>2842</c:v>
                </c:pt>
                <c:pt idx="5">
                  <c:v>1031</c:v>
                </c:pt>
                <c:pt idx="6">
                  <c:v>1032</c:v>
                </c:pt>
              </c:numCache>
            </c:numRef>
          </c:val>
        </c:ser>
        <c:ser>
          <c:idx val="7"/>
          <c:order val="7"/>
          <c:tx>
            <c:strRef>
              <c:f>Sheet1!$I$1</c:f>
              <c:strCache>
                <c:ptCount val="1"/>
                <c:pt idx="0">
                  <c:v>itsec</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2082</c:v>
                </c:pt>
                <c:pt idx="1">
                  <c:v>1733.66</c:v>
                </c:pt>
                <c:pt idx="2">
                  <c:v>1908</c:v>
                </c:pt>
                <c:pt idx="3">
                  <c:v>1897.79</c:v>
                </c:pt>
                <c:pt idx="4">
                  <c:v>2047</c:v>
                </c:pt>
                <c:pt idx="5">
                  <c:v>2059</c:v>
                </c:pt>
                <c:pt idx="6">
                  <c:v>2221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24139.41</c:v>
                </c:pt>
                <c:pt idx="1">
                  <c:v>22951</c:v>
                </c:pt>
                <c:pt idx="2">
                  <c:v>22458.08</c:v>
                </c:pt>
                <c:pt idx="3">
                  <c:v>22680.51</c:v>
                </c:pt>
                <c:pt idx="4">
                  <c:v>24615.18</c:v>
                </c:pt>
                <c:pt idx="5">
                  <c:v>25022.53</c:v>
                </c:pt>
                <c:pt idx="6">
                  <c:v>26364.22</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12726.23</c:v>
                </c:pt>
                <c:pt idx="1">
                  <c:v>12145</c:v>
                </c:pt>
                <c:pt idx="2">
                  <c:v>14087.61</c:v>
                </c:pt>
                <c:pt idx="3">
                  <c:v>15311.83</c:v>
                </c:pt>
                <c:pt idx="4">
                  <c:v>18338.27</c:v>
                </c:pt>
                <c:pt idx="5">
                  <c:v>18564.99</c:v>
                </c:pt>
                <c:pt idx="6">
                  <c:v>21999.6</c:v>
                </c:pt>
              </c:numCache>
            </c:numRef>
          </c:val>
        </c:ser>
        <c:ser>
          <c:idx val="3"/>
          <c:order val="3"/>
          <c:tx>
            <c:strRef>
              <c:f>Sheet1!$E$1</c:f>
              <c:strCache>
                <c:ptCount val="1"/>
                <c:pt idx="0">
                  <c:v>Other services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11748.56</c:v>
                </c:pt>
                <c:pt idx="1">
                  <c:v>10773</c:v>
                </c:pt>
                <c:pt idx="2">
                  <c:v>12318.12</c:v>
                </c:pt>
                <c:pt idx="3">
                  <c:v>12412.59</c:v>
                </c:pt>
                <c:pt idx="4">
                  <c:v>15149.61</c:v>
                </c:pt>
                <c:pt idx="5">
                  <c:v>18338.58</c:v>
                </c:pt>
                <c:pt idx="6">
                  <c:v>20600.18</c:v>
                </c:pt>
              </c:numCache>
            </c:numRef>
          </c:val>
        </c:ser>
        <c:ser>
          <c:idx val="4"/>
          <c:order val="4"/>
          <c:tx>
            <c:strRef>
              <c:f>Sheet1!$F$1</c:f>
              <c:strCache>
                <c:ptCount val="1"/>
                <c:pt idx="0">
                  <c:v>Azure Databricks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24556.13</c:v>
                </c:pt>
                <c:pt idx="1">
                  <c:v>18645</c:v>
                </c:pt>
                <c:pt idx="2">
                  <c:v>22427.89</c:v>
                </c:pt>
                <c:pt idx="3">
                  <c:v>19936.33</c:v>
                </c:pt>
                <c:pt idx="4">
                  <c:v>0</c:v>
                </c:pt>
                <c:pt idx="5">
                  <c:v>0</c:v>
                </c:pt>
                <c:pt idx="6">
                  <c:v>0</c:v>
                </c:pt>
              </c:numCache>
            </c:numRef>
          </c:val>
        </c:ser>
        <c:ser>
          <c:idx val="5"/>
          <c:order val="5"/>
          <c:tx>
            <c:strRef>
              <c:f>Sheet1!$G$1</c:f>
              <c:strCache>
                <c:ptCount val="1"/>
                <c:pt idx="0">
                  <c:v>GitHub</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ser>
        <c:ser>
          <c:idx val="6"/>
          <c:order val="6"/>
          <c:tx>
            <c:strRef>
              <c:f>Sheet1!$H$1</c:f>
              <c:strCache>
                <c:ptCount val="1"/>
                <c:pt idx="0">
                  <c:v>Foundry Models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1353.37</c:v>
                </c:pt>
                <c:pt idx="1">
                  <c:v>2260</c:v>
                </c:pt>
                <c:pt idx="2">
                  <c:v>4236.35</c:v>
                </c:pt>
                <c:pt idx="3">
                  <c:v>8369.39</c:v>
                </c:pt>
                <c:pt idx="4">
                  <c:v>11512.76</c:v>
                </c:pt>
                <c:pt idx="5">
                  <c:v>15453.34</c:v>
                </c:pt>
                <c:pt idx="6">
                  <c:v>12291.25</c:v>
                </c:pt>
              </c:numCache>
            </c:numRef>
          </c:val>
        </c:ser>
        <c:ser>
          <c:idx val="7"/>
          <c:order val="7"/>
          <c:tx>
            <c:strRef>
              <c:f>Sheet1!$I$1</c:f>
              <c:strCache>
                <c:ptCount val="1"/>
                <c:pt idx="0">
                  <c:v>Log Analytics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13619.52</c:v>
                </c:pt>
                <c:pt idx="1">
                  <c:v>13118</c:v>
                </c:pt>
                <c:pt idx="2">
                  <c:v>21913.22</c:v>
                </c:pt>
                <c:pt idx="3">
                  <c:v>14372.410000000002</c:v>
                </c:pt>
                <c:pt idx="4">
                  <c:v>16509.63</c:v>
                </c:pt>
                <c:pt idx="5">
                  <c:v>18865.080000000005</c:v>
                </c:pt>
                <c:pt idx="6">
                  <c:v>30407.2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ser>
        <c:ser>
          <c:idx val="1"/>
          <c:order val="1"/>
          <c:tx>
            <c:strRef>
              <c:f>Sheet1!$C$1</c:f>
              <c:strCache>
                <c:ptCount val="1"/>
                <c:pt idx="0">
                  <c:v>Azure Databricks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13661.81</c:v>
                </c:pt>
                <c:pt idx="1">
                  <c:v>14023</c:v>
                </c:pt>
                <c:pt idx="2">
                  <c:v>19412</c:v>
                </c:pt>
                <c:pt idx="3">
                  <c:v>16633.53</c:v>
                </c:pt>
                <c:pt idx="4">
                  <c:v>0</c:v>
                </c:pt>
                <c:pt idx="5">
                  <c:v>0</c:v>
                </c:pt>
                <c:pt idx="6">
                  <c:v>0</c:v>
                </c:pt>
              </c:numCache>
            </c:numRef>
          </c:val>
        </c:ser>
        <c:ser>
          <c:idx val="2"/>
          <c:order val="2"/>
          <c:tx>
            <c:strRef>
              <c:f>Sheet1!$D$1</c:f>
              <c:strCache>
                <c:ptCount val="1"/>
                <c:pt idx="0">
                  <c:v>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5134.31</c:v>
                </c:pt>
                <c:pt idx="1">
                  <c:v>5630</c:v>
                </c:pt>
                <c:pt idx="2">
                  <c:v>5747</c:v>
                </c:pt>
                <c:pt idx="3">
                  <c:v>5515.42</c:v>
                </c:pt>
                <c:pt idx="4">
                  <c:v>6124.59</c:v>
                </c:pt>
                <c:pt idx="5">
                  <c:v>6488.31</c:v>
                </c:pt>
                <c:pt idx="6">
                  <c:v>6847.08</c:v>
                </c:pt>
              </c:numCache>
            </c:numRef>
          </c:val>
        </c:ser>
        <c:ser>
          <c:idx val="3"/>
          <c:order val="3"/>
          <c:tx>
            <c:strRef>
              <c:f>Sheet1!$E$1</c:f>
              <c:strCache>
                <c:ptCount val="1"/>
                <c:pt idx="0">
                  <c:v>Virtual Network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ser>
        <c:ser>
          <c:idx val="4"/>
          <c:order val="4"/>
          <c:tx>
            <c:strRef>
              <c:f>Sheet1!$F$1</c:f>
              <c:strCache>
                <c:ptCount val="1"/>
                <c:pt idx="0">
                  <c:v>Foundry Models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1347.06</c:v>
                </c:pt>
                <c:pt idx="1">
                  <c:v>2243</c:v>
                </c:pt>
                <c:pt idx="2">
                  <c:v>1274.47</c:v>
                </c:pt>
                <c:pt idx="3">
                  <c:v>4218.08</c:v>
                </c:pt>
                <c:pt idx="4">
                  <c:v>10329.63</c:v>
                </c:pt>
                <c:pt idx="5">
                  <c:v>5769.96</c:v>
                </c:pt>
                <c:pt idx="6">
                  <c:v>6649.77</c:v>
                </c:pt>
              </c:numCache>
            </c:numRef>
          </c:val>
        </c:ser>
        <c:ser>
          <c:idx val="5"/>
          <c:order val="5"/>
          <c:tx>
            <c:strRef>
              <c:f>Sheet1!$G$1</c:f>
              <c:strCache>
                <c:ptCount val="1"/>
                <c:pt idx="0">
                  <c:v>Foundry Tools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10289.35</c:v>
                </c:pt>
                <c:pt idx="1">
                  <c:v>9126</c:v>
                </c:pt>
                <c:pt idx="2">
                  <c:v>8921.980000000001</c:v>
                </c:pt>
                <c:pt idx="3">
                  <c:v>7970.080000000001</c:v>
                </c:pt>
                <c:pt idx="4">
                  <c:v>8905.24</c:v>
                </c:pt>
                <c:pt idx="5">
                  <c:v>9392.630000000001</c:v>
                </c:pt>
                <c:pt idx="6">
                  <c:v>10538.439999999999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40269.8</c:v>
                </c:pt>
                <c:pt idx="1">
                  <c:v>41870.09</c:v>
                </c:pt>
                <c:pt idx="2">
                  <c:v>48649</c:v>
                </c:pt>
                <c:pt idx="3">
                  <c:v>42196.41</c:v>
                </c:pt>
                <c:pt idx="4">
                  <c:v>29317.96</c:v>
                </c:pt>
                <c:pt idx="5">
                  <c:v>33038.95</c:v>
                </c:pt>
                <c:pt idx="6">
                  <c:v>36010.25</c:v>
                </c:pt>
              </c:numCache>
            </c:numRef>
          </c:val>
        </c:ser>
        <c:ser>
          <c:idx val="1"/>
          <c:order val="1"/>
          <c:tx>
            <c:strRef>
              <c:f>Sheet1!$C$1</c:f>
              <c:strCache>
                <c:ptCount val="1"/>
                <c:pt idx="0">
                  <c:v>Solugen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854.16</c:v>
                </c:pt>
                <c:pt idx="1">
                  <c:v>702.78</c:v>
                </c:pt>
                <c:pt idx="2">
                  <c:v>620.89</c:v>
                </c:pt>
                <c:pt idx="3">
                  <c:v>1545.48</c:v>
                </c:pt>
                <c:pt idx="4">
                  <c:v>10021.98</c:v>
                </c:pt>
                <c:pt idx="5">
                  <c:v>6749.23</c:v>
                </c:pt>
                <c:pt idx="6">
                  <c:v>8415.87</c:v>
                </c:pt>
              </c:numCache>
            </c:numRef>
          </c:val>
        </c:ser>
        <c:ser>
          <c:idx val="2"/>
          <c:order val="2"/>
          <c:tx>
            <c:strRef>
              <c:f>Sheet1!$D$1</c:f>
              <c:strCache>
                <c:ptCount val="1"/>
                <c:pt idx="0">
                  <c:v>DataCloud dev</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ser>
        <c:ser>
          <c:idx val="3"/>
          <c:order val="3"/>
          <c:tx>
            <c:strRef>
              <c:f>Sheet1!$E$1</c:f>
              <c:strCache>
                <c:ptCount val="1"/>
                <c:pt idx="0">
                  <c:v>INSAIT Production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1914.41</c:v>
                </c:pt>
                <c:pt idx="2">
                  <c:v>1364.48</c:v>
                </c:pt>
                <c:pt idx="3">
                  <c:v>1354.4</c:v>
                </c:pt>
                <c:pt idx="4">
                  <c:v>1456.6</c:v>
                </c:pt>
                <c:pt idx="5">
                  <c:v>1604.48</c:v>
                </c:pt>
                <c:pt idx="6">
                  <c:v>1983.38</c:v>
                </c:pt>
              </c:numCache>
            </c:numRef>
          </c:val>
        </c:ser>
        <c:ser>
          <c:idx val="4"/>
          <c:order val="4"/>
          <c:tx>
            <c:strRef>
              <c:f>Sheet1!$F$1</c:f>
              <c:strCache>
                <c:ptCount val="1"/>
                <c:pt idx="0">
                  <c:v>DataCloud dev 1</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324.17</c:v>
                </c:pt>
                <c:pt idx="1">
                  <c:v>275</c:v>
                </c:pt>
                <c:pt idx="2">
                  <c:v>285.86</c:v>
                </c:pt>
                <c:pt idx="3">
                  <c:v>269.84</c:v>
                </c:pt>
                <c:pt idx="4">
                  <c:v>281.57</c:v>
                </c:pt>
                <c:pt idx="5">
                  <c:v>269.21</c:v>
                </c:pt>
                <c:pt idx="6">
                  <c:v>278.23</c:v>
                </c:pt>
              </c:numCache>
            </c:numRef>
          </c:val>
        </c:ser>
        <c:ser>
          <c:idx val="5"/>
          <c:order val="5"/>
          <c:tx>
            <c:strRef>
              <c:f>Sheet1!$G$1</c:f>
              <c:strCache>
                <c:ptCount val="1"/>
                <c:pt idx="0">
                  <c:v>Sandbox System</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263.89</c:v>
                </c:pt>
                <c:pt idx="1">
                  <c:v>308.03</c:v>
                </c:pt>
                <c:pt idx="2">
                  <c:v>265</c:v>
                </c:pt>
                <c:pt idx="3">
                  <c:v>260.07</c:v>
                </c:pt>
                <c:pt idx="4">
                  <c:v>335.75</c:v>
                </c:pt>
                <c:pt idx="5">
                  <c:v>256.14</c:v>
                </c:pt>
                <c:pt idx="6">
                  <c:v>267.43</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1443.54</c:v>
                </c:pt>
                <c:pt idx="1">
                  <c:v>1132.52</c:v>
                </c:pt>
                <c:pt idx="2">
                  <c:v>971.1200000000001</c:v>
                </c:pt>
                <c:pt idx="3">
                  <c:v>623.1899999999998</c:v>
                </c:pt>
                <c:pt idx="4">
                  <c:v>796.0699999999999</c:v>
                </c:pt>
                <c:pt idx="5">
                  <c:v>633.9499999999999</c:v>
                </c:pt>
                <c:pt idx="6">
                  <c:v>583.62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195.78</c:v>
                </c:pt>
                <c:pt idx="1">
                  <c:v>112</c:v>
                </c:pt>
                <c:pt idx="2">
                  <c:v>124</c:v>
                </c:pt>
                <c:pt idx="3">
                  <c:v>153</c:v>
                </c:pt>
                <c:pt idx="4">
                  <c:v>166.67</c:v>
                </c:pt>
                <c:pt idx="5">
                  <c:v>134</c:v>
                </c:pt>
                <c:pt idx="6">
                  <c:v>238</c:v>
                </c:pt>
              </c:numCache>
            </c:numRef>
          </c:val>
        </c:ser>
        <c:ser>
          <c:idx val="3"/>
          <c:order val="3"/>
          <c:tx>
            <c:strRef>
              <c:f>Sheet1!$E$1</c:f>
              <c:strCache>
                <c:ptCount val="1"/>
                <c:pt idx="0">
                  <c:v>Virtual Machines Licenses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0</c:v>
                </c:pt>
                <c:pt idx="3">
                  <c:v>0</c:v>
                </c:pt>
                <c:pt idx="4">
                  <c:v>36.53</c:v>
                </c:pt>
                <c:pt idx="5">
                  <c:v>41</c:v>
                </c:pt>
                <c:pt idx="6">
                  <c:v>43</c:v>
                </c:pt>
              </c:numCache>
            </c:numRef>
          </c:val>
        </c:ser>
        <c:ser>
          <c:idx val="4"/>
          <c:order val="4"/>
          <c:tx>
            <c:strRef>
              <c:f>Sheet1!$F$1</c:f>
              <c:strCache>
                <c:ptCount val="1"/>
                <c:pt idx="0">
                  <c:v>Bandwidth</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0.01</c:v>
                </c:pt>
                <c:pt idx="5">
                  <c:v>0</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ser>
        <c:ser>
          <c:idx val="1"/>
          <c:order val="1"/>
          <c:tx>
            <c:strRef>
              <c:f>Sheet1!$C$1</c:f>
              <c:strCache>
                <c:ptCount val="1"/>
                <c:pt idx="0">
                  <c:v>SAP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5000.41</c:v>
                </c:pt>
                <c:pt idx="1">
                  <c:v>4756</c:v>
                </c:pt>
                <c:pt idx="2">
                  <c:v>4679.66</c:v>
                </c:pt>
                <c:pt idx="3">
                  <c:v>4663.37</c:v>
                </c:pt>
                <c:pt idx="4">
                  <c:v>4758.84</c:v>
                </c:pt>
                <c:pt idx="5">
                  <c:v>4887.15</c:v>
                </c:pt>
                <c:pt idx="6">
                  <c:v>6077.62</c:v>
                </c:pt>
              </c:numCache>
            </c:numRef>
          </c:val>
        </c:ser>
        <c:ser>
          <c:idx val="2"/>
          <c:order val="2"/>
          <c:tx>
            <c:strRef>
              <c:f>Sheet1!$D$1</c:f>
              <c:strCache>
                <c:ptCount val="1"/>
                <c:pt idx="0">
                  <c:v>Log Analytics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7300.46</c:v>
                </c:pt>
                <c:pt idx="1">
                  <c:v>3692</c:v>
                </c:pt>
                <c:pt idx="2">
                  <c:v>10596.09</c:v>
                </c:pt>
                <c:pt idx="3">
                  <c:v>3911.97</c:v>
                </c:pt>
                <c:pt idx="4">
                  <c:v>1966.89</c:v>
                </c:pt>
                <c:pt idx="5">
                  <c:v>2066.7</c:v>
                </c:pt>
                <c:pt idx="6">
                  <c:v>2306.05</c:v>
                </c:pt>
              </c:numCache>
            </c:numRef>
          </c:val>
        </c:ser>
        <c:ser>
          <c:idx val="3"/>
          <c:order val="3"/>
          <c:tx>
            <c:strRef>
              <c:f>Sheet1!$E$1</c:f>
              <c:strCache>
                <c:ptCount val="1"/>
                <c:pt idx="0">
                  <c:v>Virtual Machines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ser>
        <c:ser>
          <c:idx val="4"/>
          <c:order val="4"/>
          <c:tx>
            <c:strRef>
              <c:f>Sheet1!$F$1</c:f>
              <c:strCache>
                <c:ptCount val="1"/>
                <c:pt idx="0">
                  <c:v>Sentinel</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2265</c:v>
                </c:pt>
                <c:pt idx="1">
                  <c:v>1965</c:v>
                </c:pt>
                <c:pt idx="2">
                  <c:v>2206</c:v>
                </c:pt>
                <c:pt idx="3">
                  <c:v>2059</c:v>
                </c:pt>
                <c:pt idx="4">
                  <c:v>2253.46</c:v>
                </c:pt>
                <c:pt idx="5">
                  <c:v>2467.09</c:v>
                </c:pt>
                <c:pt idx="6">
                  <c:v>2528.47</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4634.13</c:v>
                </c:pt>
                <c:pt idx="1">
                  <c:v>3962</c:v>
                </c:pt>
                <c:pt idx="2">
                  <c:v>4345.76</c:v>
                </c:pt>
                <c:pt idx="3">
                  <c:v>4241.64</c:v>
                </c:pt>
                <c:pt idx="4">
                  <c:v>4862.66</c:v>
                </c:pt>
                <c:pt idx="5">
                  <c:v>4595.34</c:v>
                </c:pt>
                <c:pt idx="6">
                  <c:v>5280.59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16903.74</c:v>
                </c:pt>
                <c:pt idx="1">
                  <c:v>12321</c:v>
                </c:pt>
                <c:pt idx="2">
                  <c:v>26897.08</c:v>
                </c:pt>
                <c:pt idx="3">
                  <c:v>14231</c:v>
                </c:pt>
                <c:pt idx="4">
                  <c:v>10755.39</c:v>
                </c:pt>
                <c:pt idx="5">
                  <c:v>10557</c:v>
                </c:pt>
                <c:pt idx="6">
                  <c:v>11092.99</c:v>
                </c:pt>
              </c:numCache>
            </c:numRef>
          </c:val>
        </c:ser>
        <c:ser>
          <c:idx val="1"/>
          <c:order val="1"/>
          <c:tx>
            <c:strRef>
              <c:f>Sheet1!$C$1</c:f>
              <c:strCache>
                <c:ptCount val="1"/>
                <c:pt idx="0">
                  <c:v>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ser>
        <c:ser>
          <c:idx val="2"/>
          <c:order val="2"/>
          <c:tx>
            <c:strRef>
              <c:f>Sheet1!$D$1</c:f>
              <c:strCache>
                <c:ptCount val="1"/>
                <c:pt idx="0">
                  <c:v>CloudOps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872.66</c:v>
                </c:pt>
                <c:pt idx="1">
                  <c:v>555</c:v>
                </c:pt>
                <c:pt idx="2">
                  <c:v>768.67</c:v>
                </c:pt>
                <c:pt idx="3">
                  <c:v>737</c:v>
                </c:pt>
                <c:pt idx="4">
                  <c:v>971.96</c:v>
                </c:pt>
                <c:pt idx="5">
                  <c:v>1089</c:v>
                </c:pt>
                <c:pt idx="6">
                  <c:v>1225.74</c:v>
                </c:pt>
              </c:numCache>
            </c:numRef>
          </c:val>
        </c:ser>
        <c:ser>
          <c:idx val="3"/>
          <c:order val="3"/>
          <c:tx>
            <c:strRef>
              <c:f>Sheet1!$E$1</c:f>
              <c:strCache>
                <c:ptCount val="1"/>
                <c:pt idx="0">
                  <c:v>DataCloud prod</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363.16</c:v>
                </c:pt>
                <c:pt idx="1">
                  <c:v>357</c:v>
                </c:pt>
                <c:pt idx="2">
                  <c:v>397.3</c:v>
                </c:pt>
                <c:pt idx="3">
                  <c:v>336</c:v>
                </c:pt>
                <c:pt idx="4">
                  <c:v>370.22</c:v>
                </c:pt>
                <c:pt idx="5">
                  <c:v>550</c:v>
                </c:pt>
                <c:pt idx="6">
                  <c:v>818.11</c:v>
                </c:pt>
              </c:numCache>
            </c:numRef>
          </c:val>
        </c:ser>
        <c:ser>
          <c:idx val="4"/>
          <c:order val="4"/>
          <c:tx>
            <c:strRef>
              <c:f>Sheet1!$F$1</c:f>
              <c:strCache>
                <c:ptCount val="1"/>
                <c:pt idx="0">
                  <c:v>DataCloud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188.97</c:v>
                </c:pt>
                <c:pt idx="1">
                  <c:v>169</c:v>
                </c:pt>
                <c:pt idx="2">
                  <c:v>189.53</c:v>
                </c:pt>
                <c:pt idx="3">
                  <c:v>184</c:v>
                </c:pt>
                <c:pt idx="4">
                  <c:v>506.65</c:v>
                </c:pt>
                <c:pt idx="5">
                  <c:v>582</c:v>
                </c:pt>
                <c:pt idx="6">
                  <c:v>573.9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854.31</c:v>
                </c:pt>
                <c:pt idx="1">
                  <c:v>3477</c:v>
                </c:pt>
                <c:pt idx="2">
                  <c:v>12632</c:v>
                </c:pt>
                <c:pt idx="3">
                  <c:v>11676</c:v>
                </c:pt>
                <c:pt idx="4">
                  <c:v>13656</c:v>
                </c:pt>
                <c:pt idx="5">
                  <c:v>26342</c:v>
                </c:pt>
                <c:pt idx="6">
                  <c:v>23610</c:v>
                </c:pt>
              </c:numCache>
            </c:numRef>
          </c:val>
        </c:ser>
        <c:ser>
          <c:idx val="1"/>
          <c:order val="1"/>
          <c:tx>
            <c:strRef>
              <c:f>Sheet1!$C$1</c:f>
              <c:strCache>
                <c:ptCount val="1"/>
                <c:pt idx="0">
                  <c:v>Solugen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936.63</c:v>
                </c:pt>
                <c:pt idx="1">
                  <c:v>917</c:v>
                </c:pt>
                <c:pt idx="2">
                  <c:v>1027</c:v>
                </c:pt>
                <c:pt idx="3">
                  <c:v>2005</c:v>
                </c:pt>
                <c:pt idx="4">
                  <c:v>10657</c:v>
                </c:pt>
                <c:pt idx="5">
                  <c:v>7230.21</c:v>
                </c:pt>
                <c:pt idx="6">
                  <c:v>8858</c:v>
                </c:pt>
              </c:numCache>
            </c:numRef>
          </c:val>
        </c:ser>
        <c:ser>
          <c:idx val="2"/>
          <c:order val="2"/>
          <c:tx>
            <c:strRef>
              <c:f>Sheet1!$D$1</c:f>
              <c:strCache>
                <c:ptCount val="1"/>
                <c:pt idx="0">
                  <c:v>Document Intelligence (OCR Services)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4231</c:v>
                </c:pt>
                <c:pt idx="1">
                  <c:v>4282</c:v>
                </c:pt>
                <c:pt idx="2">
                  <c:v>3552</c:v>
                </c:pt>
                <c:pt idx="3">
                  <c:v>2152</c:v>
                </c:pt>
                <c:pt idx="4">
                  <c:v>3362</c:v>
                </c:pt>
                <c:pt idx="5">
                  <c:v>6114</c:v>
                </c:pt>
                <c:pt idx="6">
                  <c:v>7277</c:v>
                </c:pt>
              </c:numCache>
            </c:numRef>
          </c:val>
        </c:ser>
        <c:ser>
          <c:idx val="3"/>
          <c:order val="3"/>
          <c:tx>
            <c:strRef>
              <c:f>Sheet1!$E$1</c:f>
              <c:strCache>
                <c:ptCount val="1"/>
                <c:pt idx="0">
                  <c:v>INSAIT</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c:v>
                </c:pt>
                <c:pt idx="2">
                  <c:v>1365</c:v>
                </c:pt>
                <c:pt idx="3">
                  <c:v>1354</c:v>
                </c:pt>
                <c:pt idx="4">
                  <c:v>1456</c:v>
                </c:pt>
                <c:pt idx="5">
                  <c:v>1604.28</c:v>
                </c:pt>
                <c:pt idx="6">
                  <c:v>1983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0</c:v>
                </c:pt>
                <c:pt idx="1">
                  <c:v>406</c:v>
                </c:pt>
                <c:pt idx="2">
                  <c:v>2848.78</c:v>
                </c:pt>
                <c:pt idx="3">
                  <c:v>3097.66</c:v>
                </c:pt>
                <c:pt idx="4">
                  <c:v>5693.72</c:v>
                </c:pt>
                <c:pt idx="5">
                  <c:v>5513.76</c:v>
                </c:pt>
                <c:pt idx="6">
                  <c:v>6103.43</c:v>
                </c:pt>
              </c:numCache>
            </c:numRef>
          </c:val>
        </c:ser>
        <c:ser>
          <c:idx val="1"/>
          <c:order val="1"/>
          <c:tx>
            <c:strRef>
              <c:f>Sheet1!$C$1</c:f>
              <c:strCache>
                <c:ptCount val="1"/>
                <c:pt idx="0">
                  <c:v>Foundry Models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6</c:v>
                </c:pt>
                <c:pt idx="2">
                  <c:v>2961.34</c:v>
                </c:pt>
                <c:pt idx="3">
                  <c:v>4151.25</c:v>
                </c:pt>
                <c:pt idx="4">
                  <c:v>1183.1</c:v>
                </c:pt>
                <c:pt idx="5">
                  <c:v>9682.8</c:v>
                </c:pt>
                <c:pt idx="6">
                  <c:v>5641.2</c:v>
                </c:pt>
              </c:numCache>
            </c:numRef>
          </c:val>
        </c:ser>
        <c:ser>
          <c:idx val="2"/>
          <c:order val="2"/>
          <c:tx>
            <c:strRef>
              <c:f>Sheet1!$D$1</c:f>
              <c:strCache>
                <c:ptCount val="1"/>
                <c:pt idx="0">
                  <c:v>Virtual Machines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487.69</c:v>
                </c:pt>
                <c:pt idx="1">
                  <c:v>1951</c:v>
                </c:pt>
                <c:pt idx="2">
                  <c:v>4361.9</c:v>
                </c:pt>
                <c:pt idx="3">
                  <c:v>1724.33</c:v>
                </c:pt>
                <c:pt idx="4">
                  <c:v>2887.44</c:v>
                </c:pt>
                <c:pt idx="5">
                  <c:v>4556.63</c:v>
                </c:pt>
                <c:pt idx="6">
                  <c:v>4865.47</c:v>
                </c:pt>
              </c:numCache>
            </c:numRef>
          </c:val>
        </c:ser>
        <c:ser>
          <c:idx val="3"/>
          <c:order val="3"/>
          <c:tx>
            <c:strRef>
              <c:f>Sheet1!$E$1</c:f>
              <c:strCache>
                <c:ptCount val="1"/>
                <c:pt idx="0">
                  <c:v>Azure Cognitive Search</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23.43</c:v>
                </c:pt>
                <c:pt idx="1">
                  <c:v>68</c:v>
                </c:pt>
                <c:pt idx="2">
                  <c:v>305.51</c:v>
                </c:pt>
                <c:pt idx="3">
                  <c:v>629.28</c:v>
                </c:pt>
                <c:pt idx="4">
                  <c:v>1166.49</c:v>
                </c:pt>
                <c:pt idx="5">
                  <c:v>1582.03</c:v>
                </c:pt>
                <c:pt idx="6">
                  <c:v>1825.03</c:v>
                </c:pt>
              </c:numCache>
            </c:numRef>
          </c:val>
        </c:ser>
        <c:ser>
          <c:idx val="4"/>
          <c:order val="4"/>
          <c:tx>
            <c:strRef>
              <c:f>Sheet1!$F$1</c:f>
              <c:strCache>
                <c:ptCount val="1"/>
                <c:pt idx="0">
                  <c:v>Microsoft Defender for Cloud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83.58</c:v>
                </c:pt>
                <c:pt idx="1">
                  <c:v>237</c:v>
                </c:pt>
                <c:pt idx="2">
                  <c:v>535.5</c:v>
                </c:pt>
                <c:pt idx="3">
                  <c:v>143.21</c:v>
                </c:pt>
                <c:pt idx="4">
                  <c:v>401.16</c:v>
                </c:pt>
                <c:pt idx="5">
                  <c:v>1574.44</c:v>
                </c:pt>
                <c:pt idx="6">
                  <c:v>1166.17</c:v>
                </c:pt>
              </c:numCache>
            </c:numRef>
          </c:val>
        </c:ser>
        <c:ser>
          <c:idx val="5"/>
          <c:order val="5"/>
          <c:tx>
            <c:strRef>
              <c:f>Sheet1!$G$1</c:f>
              <c:strCache>
                <c:ptCount val="1"/>
                <c:pt idx="0">
                  <c:v>Azure Database for PostgreSQL</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46.79</c:v>
                </c:pt>
                <c:pt idx="1">
                  <c:v>141</c:v>
                </c:pt>
                <c:pt idx="2">
                  <c:v>356.15</c:v>
                </c:pt>
                <c:pt idx="3">
                  <c:v>489.68</c:v>
                </c:pt>
                <c:pt idx="4">
                  <c:v>790.07</c:v>
                </c:pt>
                <c:pt idx="5">
                  <c:v>1068.76</c:v>
                </c:pt>
                <c:pt idx="6">
                  <c:v>1101.71</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798.75</c:v>
                </c:pt>
                <c:pt idx="1">
                  <c:v>2844</c:v>
                </c:pt>
                <c:pt idx="2">
                  <c:v>10910</c:v>
                </c:pt>
                <c:pt idx="3">
                  <c:v>9522</c:v>
                </c:pt>
                <c:pt idx="4">
                  <c:v>7610.56</c:v>
                </c:pt>
                <c:pt idx="5">
                  <c:v>17286</c:v>
                </c:pt>
                <c:pt idx="6">
                  <c:v>13714</c:v>
                </c:pt>
              </c:numCache>
            </c:numRef>
          </c:val>
        </c:ser>
        <c:ser>
          <c:idx val="1"/>
          <c:order val="1"/>
          <c:tx>
            <c:strRef>
              <c:f>Sheet1!$C$1</c:f>
              <c:strCache>
                <c:ptCount val="1"/>
                <c:pt idx="0">
                  <c:v>Dev/Test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464</c:v>
                </c:pt>
                <c:pt idx="2">
                  <c:v>1031</c:v>
                </c:pt>
                <c:pt idx="3">
                  <c:v>1368</c:v>
                </c:pt>
                <c:pt idx="4">
                  <c:v>4874.39</c:v>
                </c:pt>
                <c:pt idx="5">
                  <c:v>7063</c:v>
                </c:pt>
                <c:pt idx="6">
                  <c:v>6454</c:v>
                </c:pt>
              </c:numCache>
            </c:numRef>
          </c:val>
        </c:ser>
        <c:ser>
          <c:idx val="2"/>
          <c:order val="2"/>
          <c:tx>
            <c:strRef>
              <c:f>Sheet1!$D$1</c:f>
              <c:strCache>
                <c:ptCount val="1"/>
                <c:pt idx="0">
                  <c:v>AI Factory prod</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55.56</c:v>
                </c:pt>
                <c:pt idx="1">
                  <c:v>169</c:v>
                </c:pt>
                <c:pt idx="2">
                  <c:v>460</c:v>
                </c:pt>
                <c:pt idx="3">
                  <c:v>454</c:v>
                </c:pt>
                <c:pt idx="4">
                  <c:v>575.07</c:v>
                </c:pt>
                <c:pt idx="5">
                  <c:v>814</c:v>
                </c:pt>
                <c:pt idx="6">
                  <c:v>1160</c:v>
                </c:pt>
              </c:numCache>
            </c:numRef>
          </c:val>
        </c:ser>
        <c:ser>
          <c:idx val="3"/>
          <c:order val="3"/>
          <c:tx>
            <c:strRef>
              <c:f>Sheet1!$E$1</c:f>
              <c:strCache>
                <c:ptCount val="1"/>
                <c:pt idx="0">
                  <c:v>AI Factory dev</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231</c:v>
                </c:pt>
                <c:pt idx="3">
                  <c:v>332</c:v>
                </c:pt>
                <c:pt idx="4">
                  <c:v>347.57</c:v>
                </c:pt>
                <c:pt idx="5">
                  <c:v>497</c:v>
                </c:pt>
                <c:pt idx="6">
                  <c:v>458</c:v>
                </c:pt>
              </c:numCache>
            </c:numRef>
          </c:val>
        </c:ser>
        <c:ser>
          <c:idx val="4"/>
          <c:order val="4"/>
          <c:tx>
            <c:strRef>
              <c:f>Sheet1!$F$1</c:f>
              <c:strCache>
                <c:ptCount val="1"/>
                <c:pt idx="0">
                  <c:v>INSAIT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193.18</c:v>
                </c:pt>
                <c:pt idx="5">
                  <c:v>239</c:v>
                </c:pt>
                <c:pt idx="6">
                  <c:v>1339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0</c:v>
                </c:pt>
                <c:pt idx="1">
                  <c:v>0</c:v>
                </c:pt>
                <c:pt idx="2">
                  <c:v>0</c:v>
                </c:pt>
                <c:pt idx="3">
                  <c:v>0</c:v>
                </c:pt>
                <c:pt idx="4">
                  <c:v>55.57</c:v>
                </c:pt>
                <c:pt idx="5">
                  <c:v>443</c:v>
                </c:pt>
                <c:pt idx="6">
                  <c:v>485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3312</c:v>
                </c:pt>
                <c:pt idx="1">
                  <c:v>3720</c:v>
                </c:pt>
                <c:pt idx="2">
                  <c:v>2846</c:v>
                </c:pt>
                <c:pt idx="3">
                  <c:v>1523.49</c:v>
                </c:pt>
                <c:pt idx="4">
                  <c:v>2246.94</c:v>
                </c:pt>
                <c:pt idx="5">
                  <c:v>2764.98</c:v>
                </c:pt>
                <c:pt idx="6">
                  <c:v>2392.32</c:v>
                </c:pt>
              </c:numCache>
            </c:numRef>
          </c:val>
        </c:ser>
        <c:ser>
          <c:idx val="1"/>
          <c:order val="1"/>
          <c:tx>
            <c:strRef>
              <c:f>Sheet1!$C$1</c:f>
              <c:strCache>
                <c:ptCount val="1"/>
                <c:pt idx="0">
                  <c:v>5.4 opt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0</c:v>
                </c:pt>
                <c:pt idx="2">
                  <c:v>0</c:v>
                </c:pt>
                <c:pt idx="3">
                  <c:v>0</c:v>
                </c:pt>
                <c:pt idx="4">
                  <c:v>941.41</c:v>
                </c:pt>
                <c:pt idx="5">
                  <c:v>6273.8</c:v>
                </c:pt>
                <c:pt idx="6">
                  <c:v>3893</c:v>
                </c:pt>
              </c:numCache>
            </c:numRef>
          </c:val>
        </c:ser>
        <c:ser>
          <c:idx val="2"/>
          <c:order val="2"/>
          <c:tx>
            <c:strRef>
              <c:f>Sheet1!$D$1</c:f>
              <c:strCache>
                <c:ptCount val="1"/>
                <c:pt idx="0">
                  <c:v>5.4 inp</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0</c:v>
                </c:pt>
                <c:pt idx="3">
                  <c:v>0</c:v>
                </c:pt>
                <c:pt idx="4">
                  <c:v>1056.29</c:v>
                </c:pt>
                <c:pt idx="5">
                  <c:v>4877.16</c:v>
                </c:pt>
                <c:pt idx="6">
                  <c:v>4947</c:v>
                </c:pt>
              </c:numCache>
            </c:numRef>
          </c:val>
        </c:ser>
        <c:ser>
          <c:idx val="3"/>
          <c:order val="3"/>
          <c:tx>
            <c:strRef>
              <c:f>Sheet1!$E$1</c:f>
              <c:strCache>
                <c:ptCount val="1"/>
                <c:pt idx="0">
                  <c:v>S0 Pre-built Pages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804</c:v>
                </c:pt>
                <c:pt idx="1">
                  <c:v>385</c:v>
                </c:pt>
                <c:pt idx="2">
                  <c:v>521</c:v>
                </c:pt>
                <c:pt idx="3">
                  <c:v>336.11</c:v>
                </c:pt>
                <c:pt idx="4">
                  <c:v>627.22</c:v>
                </c:pt>
                <c:pt idx="5">
                  <c:v>2035.82</c:v>
                </c:pt>
                <c:pt idx="6">
                  <c:v>3385.11</c:v>
                </c:pt>
              </c:numCache>
            </c:numRef>
          </c:val>
        </c:ser>
        <c:ser>
          <c:idx val="4"/>
          <c:order val="4"/>
          <c:tx>
            <c:strRef>
              <c:f>Sheet1!$F$1</c:f>
              <c:strCache>
                <c:ptCount val="1"/>
                <c:pt idx="0">
                  <c:v>gpt 4o 0513</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1145</c:v>
                </c:pt>
                <c:pt idx="1">
                  <c:v>1300</c:v>
                </c:pt>
                <c:pt idx="2">
                  <c:v>1060.02</c:v>
                </c:pt>
                <c:pt idx="3">
                  <c:v>3220.28</c:v>
                </c:pt>
                <c:pt idx="4">
                  <c:v>917</c:v>
                </c:pt>
                <c:pt idx="5">
                  <c:v>261</c:v>
                </c:pt>
                <c:pt idx="6">
                  <c:v>188</c:v>
                </c:pt>
              </c:numCache>
            </c:numRef>
          </c:val>
        </c:ser>
        <c:ser>
          <c:idx val="5"/>
          <c:order val="5"/>
          <c:tx>
            <c:strRef>
              <c:f>Sheet1!$G$1</c:f>
              <c:strCache>
                <c:ptCount val="1"/>
                <c:pt idx="0">
                  <c:v>gpt 4o 1120</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6.11</c:v>
                </c:pt>
                <c:pt idx="1">
                  <c:v>524</c:v>
                </c:pt>
                <c:pt idx="2">
                  <c:v>2563.76</c:v>
                </c:pt>
                <c:pt idx="3">
                  <c:v>3081.82</c:v>
                </c:pt>
                <c:pt idx="4">
                  <c:v>253</c:v>
                </c:pt>
                <c:pt idx="5">
                  <c:v>663</c:v>
                </c:pt>
                <c:pt idx="6">
                  <c:v>107</c:v>
                </c:pt>
              </c:numCache>
            </c:numRef>
          </c:val>
        </c:ser>
        <c:ser>
          <c:idx val="6"/>
          <c:order val="6"/>
          <c:tx>
            <c:strRef>
              <c:f>Sheet1!$H$1</c:f>
              <c:strCache>
                <c:ptCount val="1"/>
                <c:pt idx="0">
                  <c:v>GPT 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13.65</c:v>
                </c:pt>
                <c:pt idx="1">
                  <c:v>17</c:v>
                </c:pt>
                <c:pt idx="2">
                  <c:v>272.95</c:v>
                </c:pt>
                <c:pt idx="3">
                  <c:v>971.26</c:v>
                </c:pt>
                <c:pt idx="4">
                  <c:v>5056</c:v>
                </c:pt>
                <c:pt idx="5">
                  <c:v>494</c:v>
                </c:pt>
                <c:pt idx="6">
                  <c:v>1</c:v>
                </c:pt>
              </c:numCache>
            </c:numRef>
          </c:val>
        </c:ser>
        <c:ser>
          <c:idx val="7"/>
          <c:order val="7"/>
          <c:tx>
            <c:strRef>
              <c:f>Sheet1!$I$1</c:f>
              <c:strCache>
                <c:ptCount val="1"/>
                <c:pt idx="0">
                  <c:v>GPT 5.1</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0</c:v>
                </c:pt>
                <c:pt idx="1">
                  <c:v>0</c:v>
                </c:pt>
                <c:pt idx="2">
                  <c:v>22.62</c:v>
                </c:pt>
                <c:pt idx="3">
                  <c:v>0.21</c:v>
                </c:pt>
                <c:pt idx="4">
                  <c:v>220</c:v>
                </c:pt>
                <c:pt idx="5">
                  <c:v>1946</c:v>
                </c:pt>
                <c:pt idx="6">
                  <c:v>1204</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481.32</c:v>
                </c:pt>
                <c:pt idx="1">
                  <c:v>846</c:v>
                </c:pt>
                <c:pt idx="2">
                  <c:v>552.18</c:v>
                </c:pt>
                <c:pt idx="3">
                  <c:v>1410.55</c:v>
                </c:pt>
                <c:pt idx="4">
                  <c:v>3611.5500000000006</c:v>
                </c:pt>
                <c:pt idx="5">
                  <c:v>2292.8399999999997</c:v>
                </c:pt>
                <c:pt idx="6">
                  <c:v>3491.7999999999997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c:v>
                </c:pt>
                <c:pt idx="2">
                  <c:v>2866.65</c:v>
                </c:pt>
                <c:pt idx="3">
                  <c:v>4806.49</c:v>
                </c:pt>
                <c:pt idx="4">
                  <c:v>9873.22</c:v>
                </c:pt>
              </c:numCache>
            </c:numRef>
          </c:val>
        </c:ser>
        <c:ser>
          <c:idx val="1"/>
          <c:order val="1"/>
          <c:tx>
            <c:strRef>
              <c:f>Sheet1!$C$1</c:f>
              <c:strCache>
                <c:ptCount val="1"/>
                <c:pt idx="0">
                  <c:v>Claude Opus 4.8</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0</c:v>
                </c:pt>
                <c:pt idx="2">
                  <c:v>76.7</c:v>
                </c:pt>
                <c:pt idx="3">
                  <c:v>2024.12</c:v>
                </c:pt>
                <c:pt idx="4">
                  <c:v>11361.86</c:v>
                </c:pt>
              </c:numCache>
            </c:numRef>
          </c:val>
        </c:ser>
        <c:ser>
          <c:idx val="2"/>
          <c:order val="2"/>
          <c:tx>
            <c:strRef>
              <c:f>Sheet1!$D$1</c:f>
              <c:strCache>
                <c:ptCount val="1"/>
                <c:pt idx="0">
                  <c:v>Claude Opus 4.7</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0</c:v>
                </c:pt>
                <c:pt idx="2">
                  <c:v>786.79</c:v>
                </c:pt>
                <c:pt idx="3">
                  <c:v>2917.83</c:v>
                </c:pt>
                <c:pt idx="4">
                  <c:v>2438.48</c:v>
                </c:pt>
              </c:numCache>
            </c:numRef>
          </c:val>
        </c:ser>
        <c:ser>
          <c:idx val="3"/>
          <c:order val="3"/>
          <c:tx>
            <c:strRef>
              <c:f>Sheet1!$E$1</c:f>
              <c:strCache>
                <c:ptCount val="1"/>
                <c:pt idx="0">
                  <c:v>Amazon Bedrock Edition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841</c:v>
                </c:pt>
                <c:pt idx="1">
                  <c:v>1609</c:v>
                </c:pt>
                <c:pt idx="2">
                  <c:v>0</c:v>
                </c:pt>
                <c:pt idx="3">
                  <c:v>0</c:v>
                </c:pt>
                <c:pt idx="4">
                  <c:v>0</c:v>
                </c:pt>
              </c:numCache>
            </c:numRef>
          </c:val>
        </c:ser>
        <c:ser>
          <c:idx val="4"/>
          <c:order val="4"/>
          <c:tx>
            <c:strRef>
              <c:f>Sheet1!$F$1</c:f>
              <c:strCache>
                <c:ptCount val="1"/>
                <c:pt idx="0">
                  <c:v>Claude Sonnet 4.6</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14.53</c:v>
                </c:pt>
                <c:pt idx="3">
                  <c:v>540.41</c:v>
                </c:pt>
                <c:pt idx="4">
                  <c:v>688.26</c:v>
                </c:pt>
              </c:numCache>
            </c:numRef>
          </c:val>
        </c:ser>
        <c:ser>
          <c:idx val="5"/>
          <c:order val="5"/>
          <c:tx>
            <c:strRef>
              <c:f>Sheet1!$G$1</c:f>
              <c:strCache>
                <c:ptCount val="1"/>
                <c:pt idx="0">
                  <c:v>Claude Opus 5</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c:v>
                </c:pt>
                <c:pt idx="1">
                  <c:v>0</c:v>
                </c:pt>
                <c:pt idx="2">
                  <c:v>0</c:v>
                </c:pt>
                <c:pt idx="3">
                  <c:v>0</c:v>
                </c:pt>
                <c:pt idx="4">
                  <c:v>691.45</c:v>
                </c:pt>
              </c:numCache>
            </c:numRef>
          </c:val>
        </c:ser>
        <c:ser>
          <c:idx val="6"/>
          <c:order val="6"/>
          <c:tx>
            <c:strRef>
              <c:f>Sheet1!$H$1</c:f>
              <c:strCache>
                <c:ptCount val="1"/>
                <c:pt idx="0">
                  <c:v>Claude Haiku 4.5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Sheet1!$H$2:$H$6</c:f>
              <c:numCache>
                <c:formatCode>General</c:formatCode>
                <c:ptCount val="5"/>
                <c:pt idx="0">
                  <c:v>0</c:v>
                </c:pt>
                <c:pt idx="1">
                  <c:v>0</c:v>
                </c:pt>
                <c:pt idx="2">
                  <c:v>57.15</c:v>
                </c:pt>
                <c:pt idx="3">
                  <c:v>159.32</c:v>
                </c:pt>
                <c:pt idx="4">
                  <c:v>157.37</c:v>
                </c:pt>
              </c:numCache>
            </c:numRef>
          </c:val>
        </c:ser>
        <c:ser>
          <c:idx val="7"/>
          <c:order val="7"/>
          <c:tx>
            <c:strRef>
              <c:f>Sheet1!$I$1</c:f>
              <c:strCache>
                <c:ptCount val="1"/>
                <c:pt idx="0">
                  <c:v>Claude Sonnet 4.5</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Sheet1!$I$2:$I$6</c:f>
              <c:numCache>
                <c:formatCode>General</c:formatCode>
                <c:ptCount val="5"/>
                <c:pt idx="0">
                  <c:v>0</c:v>
                </c:pt>
                <c:pt idx="1">
                  <c:v>0</c:v>
                </c:pt>
                <c:pt idx="2">
                  <c:v>9.63</c:v>
                </c:pt>
                <c:pt idx="3">
                  <c:v>58.63</c:v>
                </c:pt>
                <c:pt idx="4">
                  <c:v>77.41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Sheet1!$J$2:$J$6</c:f>
              <c:numCache>
                <c:formatCode>General</c:formatCode>
                <c:ptCount val="5"/>
                <c:pt idx="0">
                  <c:v>0</c:v>
                </c:pt>
                <c:pt idx="1">
                  <c:v>0</c:v>
                </c:pt>
                <c:pt idx="2">
                  <c:v>0.01</c:v>
                </c:pt>
                <c:pt idx="3">
                  <c:v>0</c:v>
                </c:pt>
                <c:pt idx="4">
                  <c:v>0.28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6467</c:v>
                </c:pt>
                <c:pt idx="1">
                  <c:v>16654</c:v>
                </c:pt>
                <c:pt idx="2">
                  <c:v>19260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0</c:v>
                </c:pt>
                <c:pt idx="1">
                  <c:v>0</c:v>
                </c:pt>
                <c:pt idx="2">
                  <c:v>8919</c:v>
                </c:pt>
              </c:numCache>
            </c:numRef>
          </c:val>
        </c:ser>
        <c:ser>
          <c:idx val="1"/>
          <c:order val="1"/>
          <c:tx>
            <c:strRef>
              <c:f>Sheet1!$C$1</c:f>
              <c:strCache>
                <c:ptCount val="1"/>
                <c:pt idx="0">
                  <c:v>VdiHorizion 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Sheet1!$C$2:$C$4</c:f>
              <c:numCache>
                <c:formatCode>General</c:formatCode>
                <c:ptCount val="3"/>
                <c:pt idx="0">
                  <c:v>80</c:v>
                </c:pt>
                <c:pt idx="1">
                  <c:v>0</c:v>
                </c:pt>
                <c:pt idx="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$3.4M IS BUILT,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PROJECTION, BUILT IN THREE STEPS.
1. Measure the pace over the whole period, not a corner of it:
     Jan 234,115  -&gt;  Jul 283,554
     six months, compounding  =  +3.2% per month
2. Carry July forward five months at that pace:
     Aug 293,102   Sep 302,905   Oct 312,972   Nov 323,309   Dec 333,925
3. Annualise December:  333,925 x 12  =  $4.01M
The floor is $3.40M, July repeating with no growth at all.
IF ASKED ABOUT THE $5.8M IN THE JULY BRIEFING
That used May-&gt;Jul only: Azure 145,254 -&gt; 186,541 = +13.3% a month. Two months,
starting from the softest month of the year, so a rebound read as a trend.
Nothing was wrong with the arithmetic; the window was too short. Seven months
of data now says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UPPER BOUND. Same start, same method, faster rate.
Rates from the May-July window, as published in the July briefing:
  Azure  +13.3% per month
  AWS     +5.8% per month
  GCP     +$1.1K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 SEVEN MONTHS OF METERED CONSUMPTION.
  Jan 156,990   Feb 135,742   Mar 165,199   Apr 152,577
  May 152,263   Jun 167,406   Jul 186,917
  Jan-Jul total  1,117,094
  +19% = 186,917 / 156,990 - 1
BILLED AI INSIDE THAT, Foundry Models, Foundry Tools, GitHub Copilot and
Cowork. Databricks is excluded: it draws on the pre-purchase and
bills at $0, so counting it would overstate what we actually pay.
  Jan   8,640   ( 5.5% of Azure )
  Jul  47,792   (25.6% of Azure )
  Jan-Jul total  153,779      growth  +453%
The line to use out loud: Azure grew 19%, its AI bill grew 453%.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Billed AI, all clouds, per month:
  Jan  8,640    Feb 10,593   Mar 13,117   Apr 16,363
  May 25,650    Jun 49,729   Jul 75,439
  Jan-Jul total  199,531        growth  +773%
AGAINST THE WHOLE CLOUD BILL
  Jan   8,640 / 234,115 =  3.7%
  Jul  75,439 / 283,554 = 26.6%
So: in January AI was one dollar in twenty-seven. In July it is one in four.
WHAT IS EXCLUDED AND WHY
Databricks. It draws on the 600,000 DBU pre-purchase and bills at $0, so
including it would inflate what we actually pay. It has its own slide.
The July step-up is Bedrock (Claude, 25,288) plus Cowork arriving at
8,920 in its first full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ITEM 3 ON THE NEXT SLIDE IS TWO JOBS, NOT ONE.
Resource tagging, owner, application, environment, cost centre, business
unit,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OpenTelemetry
spans carry token counts and tool activity. This is the missing half.
IF ASKED WHAT IT COSTS: nothing new to buy. It is a schema decision plus
gateway configuration, done once, enforced in CI/CD.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BUDGET IS NOT A KILL SWITCH
Azure Cost Management budgets are a reporting mechanism: cost data arrives
roughly 8-24 hours late, the budget is evaluated about once a day, and
breaching it does not stop consumption. By the time it fires, the money is
spent. APIM token quota is the enforcement point; the budget is the late
financial control.
SEPARATE IDENTITY PER APPLICATION
Each application gets its own APIM subscription or Entra client_id, carrying
owner, cost centre, environment, monthly budget, approved models, TPM, and
daily plus monthly quota. Never share one key across applications, you can
then neither limit nor attribute.
HARD LIMITS IN APIM, three llm-token-limit instances in &lt;inbound&gt;:
  minute   tokens-per-minute="20000"                    burst protection
  daily    token-quota="3000000"  period="Daily"        runaway job
  monthly  token-quota="60000000" period="Monthly"      hard ceiling
  counter-key on context.Subscription.Id, estimate-prompt-tokens="true"
  so an oversized prompt is blocked before it reaches the model.
  TPM breach returns 429; quota breach returns 403.
Add rate-limit-by-key, cap max_output_tokens, disable streaming and tool
calling where not needed, and cap concurrency for agents.
HIERARCHY: low TPM per user; TPM plus quotas per application; cumulative
quota per cost centre; a ceiling on each expensive model; sandbox well
below production. One user cannot drain an application, one application
cannot drain the organisation.
BUDGET INTO TOKENS, the policy counts tokens, not dollars, so each model
needs its own quota:
  cost = (input tokens x input price + output tokens x output price) / 1M
On a $1,000 budget set the hard quota near $750-$850. The margin covers
in-flight parallel requests, reasoning tokens, price differences between
models, counting lag, and multiple gateways. Microsoft notes concurrent
requests can temporarily exceed the quota, and that in multi-region APIM
each gateway counts separately rather than globally, so split the quota
across regions.
ALERTS: emit llm-emit-token-metric to Application Insights with application,
cost centre, model, environment and owner as dimensions. Alert on an
abnormal token rate over 5 and 15 minutes; 70% of quota to the owner; 85%
to FinOps with a rate reduction; 100% automatic block; a jump in the
output-to-input ratio; and repeated 429s, 403s or agent retries.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1723136"/>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070608"/>
            <a:ext cx="8412480" cy="24790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have taken out</a:t>
            </a:r>
            <a:endParaRPr lang="en-US" sz="4000" dirty="0"/>
          </a:p>
        </p:txBody>
      </p:sp>
      <p:sp>
        <p:nvSpPr>
          <p:cNvPr id="7" name="Text 5"/>
          <p:cNvSpPr/>
          <p:nvPr/>
        </p:nvSpPr>
        <p:spPr>
          <a:xfrm>
            <a:off x="457200" y="467766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Seven months of consumption, January to July 2026,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July annualised, all three clouds. A pace, not a budget.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Consumption only, Marketplace purchases are excluded here and reported separately. AWS is shown gross of the $16,100 July credit, which is explained later in this deck.</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run-rate today. July consumption x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up $593K since January,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WHERE THIS GOES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December is a $4.0M run-rate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Seven months of actuals, carried forward at the pace those seven months actually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base case: the pace measured across the full seven months, 3.2% a month. The next slide carries the faster May-July pace instead, that is where the $5.8M in the July briefing comes from, and it is the top of the range rather than the forecast.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actual January to July, projected to December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$4.01M</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PACE BEING CARRIED</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+3.2%</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month, measured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JULY SIMPLY REPEATS</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$3.40M</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the floor, no growth at all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THE RISK CASE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If the May-July pace returns: $5.8M</a:t>
            </a:r>
            <a:endParaRPr lang="en-US" sz="24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same arithmetic as the previous slide, carried at the faster rate the last three months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July briefing's number, recomputed from today's July actual. It is the upper bound, not the forecast: it assumes Azure resumes 13.3% a month, a rate seen over two months only. August and September decide which line we are on.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to December, on both paces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$5.78M</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+70%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THE BASE CASE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+$1.77M</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 year more than the Jan-Jul pace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EXTRA CASH, AUG-DEC</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$400,465</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if the faster pace resumes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THE ESTATE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Azure grew 19%. Its AI bill grew 453%.</a:t>
            </a:r>
            <a:endParaRPr lang="en-US" sz="221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Metered consumption, January to July. Marketplace and the Databricks prepayment are excluded so the line reads as usage.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Azure itself is growing modestly. What is changing underneath it is the mix: in January AI was one dollar in twenty of the Azure bill, in July it is one in four. The total is not the story, the composition is.</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Azure consumption,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$153,779</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+453%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 SHARE OF AZURE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25.6%</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5.5% in January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SHIFT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AI went from 4% of the bill to 27%</a:t>
            </a:r>
            <a:endParaRPr lang="en-US" sz="247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Five platforms, three clouds, bought separately by different teams. This is the slide the rest of the deck is about: the total bill is manageable, the rate at which AI is taking it over is not, and today nothing sits between a team and a provider.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Billed AI spend by platform,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$75,439</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was $8,640 in January</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SHARE OF THE CLOUD BILL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26.6%</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3.7% in January</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$199,531</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+773% Jan to Jul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AI DEEP DIVE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Most of the AI bill is not models</a:t>
            </a:r>
            <a:endParaRPr lang="en-US" sz="254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May-Jul invoiced, the only window with project-level meter splits. $152,402 of AI meter spend across tagged projects.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Not automatically wrong, inference needs somewhere to run, but it is the part of the AI bill that right-sizing can actually move, and it is the part nobody is looking at.</a:t>
            </a:r>
            <a:endParaRPr lang="en-US" sz="1200" dirty="0"/>
          </a:p>
        </p:txBody>
      </p:sp>
      <p:sp>
        <p:nvSpPr>
          <p:cNvPr id="8" name="Text 6"/>
          <p:cNvSpPr/>
          <p:nvPr/>
        </p:nvSpPr>
        <p:spPr>
          <a:xfrm>
            <a:off x="457200" y="1234440"/>
            <a:ext cx="7772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AI spend by project</a:t>
            </a:r>
            <a:endParaRPr lang="en-US" sz="1500" dirty="0"/>
          </a:p>
        </p:txBody>
      </p:sp>
      <p:sp>
        <p:nvSpPr>
          <p:cNvPr id="9" name="Text 7"/>
          <p:cNvSpPr/>
          <p:nvPr/>
        </p:nvSpPr>
        <p:spPr>
          <a:xfrm>
            <a:off x="457200" y="1508760"/>
            <a:ext cx="7772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Three-month totals, with the infrastructure share of each tag</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772400" cy="914400"/>
        </p:xfrm>
        <a:graphic>
          <a:graphicData uri="http://schemas.openxmlformats.org/drawingml/2006/table">
            <a:tbl>
              <a:tblPr/>
              <a:tblGrid>
                <a:gridCol w="1828800"/>
                <a:gridCol w="1463040"/>
                <a:gridCol w="11887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Project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AI meter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Share of 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Largest driver inside the tag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DataCloud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$43,840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47.3%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$28,358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$23,855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Foundry Models 61.1%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$22,374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Actuary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$13,887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55.3%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Research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55.8%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95360" y="1234440"/>
            <a:ext cx="313913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96528" y="1325880"/>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THREE OF THE TOP SIX</a:t>
            </a:r>
            <a:endParaRPr lang="en-US" sz="1200" dirty="0"/>
          </a:p>
        </p:txBody>
      </p:sp>
      <p:sp>
        <p:nvSpPr>
          <p:cNvPr id="13" name="Text 10"/>
          <p:cNvSpPr/>
          <p:nvPr/>
        </p:nvSpPr>
        <p:spPr>
          <a:xfrm>
            <a:off x="8796528" y="1527048"/>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&gt; 50%</a:t>
            </a:r>
            <a:endParaRPr lang="en-US" sz="2800" dirty="0"/>
          </a:p>
        </p:txBody>
      </p:sp>
      <p:sp>
        <p:nvSpPr>
          <p:cNvPr id="14" name="Text 11"/>
          <p:cNvSpPr/>
          <p:nvPr/>
        </p:nvSpPr>
        <p:spPr>
          <a:xfrm>
            <a:off x="8796528" y="1929384"/>
            <a:ext cx="273679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spend more on infrastructure than on models</a:t>
            </a:r>
            <a:endParaRPr lang="en-US" sz="1200" dirty="0"/>
          </a:p>
        </p:txBody>
      </p:sp>
      <p:sp>
        <p:nvSpPr>
          <p:cNvPr id="15" name="Shape 12"/>
          <p:cNvSpPr/>
          <p:nvPr/>
        </p:nvSpPr>
        <p:spPr>
          <a:xfrm>
            <a:off x="8595360" y="2459736"/>
            <a:ext cx="313913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96528" y="2551176"/>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AIFACTORY TAG</a:t>
            </a:r>
            <a:endParaRPr lang="en-US" sz="1200" dirty="0"/>
          </a:p>
        </p:txBody>
      </p:sp>
      <p:sp>
        <p:nvSpPr>
          <p:cNvPr id="17" name="Text 14"/>
          <p:cNvSpPr/>
          <p:nvPr/>
        </p:nvSpPr>
        <p:spPr>
          <a:xfrm>
            <a:off x="8796528" y="2752344"/>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$63,609</a:t>
            </a:r>
            <a:endParaRPr lang="en-US" sz="2800" dirty="0"/>
          </a:p>
        </p:txBody>
      </p:sp>
      <p:sp>
        <p:nvSpPr>
          <p:cNvPr id="18" name="Text 15"/>
          <p:cNvSpPr/>
          <p:nvPr/>
        </p:nvSpPr>
        <p:spPr>
          <a:xfrm>
            <a:off x="8796528" y="3154680"/>
            <a:ext cx="273679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which 64.8% is infrastructure</a:t>
            </a:r>
            <a:endParaRPr lang="en-US" sz="1200" dirty="0"/>
          </a:p>
        </p:txBody>
      </p:sp>
      <p:sp>
        <p:nvSpPr>
          <p:cNvPr id="19" name="Shape 16"/>
          <p:cNvSpPr/>
          <p:nvPr/>
        </p:nvSpPr>
        <p:spPr>
          <a:xfrm>
            <a:off x="8595360" y="3685032"/>
            <a:ext cx="313913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96528" y="3776472"/>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SINGLE LINE</a:t>
            </a:r>
            <a:endParaRPr lang="en-US" sz="1200" dirty="0"/>
          </a:p>
        </p:txBody>
      </p:sp>
      <p:sp>
        <p:nvSpPr>
          <p:cNvPr id="21" name="Text 18"/>
          <p:cNvSpPr/>
          <p:nvPr/>
        </p:nvSpPr>
        <p:spPr>
          <a:xfrm>
            <a:off x="8796528" y="3977640"/>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$17,311</a:t>
            </a:r>
            <a:endParaRPr lang="en-US" sz="2800" dirty="0"/>
          </a:p>
        </p:txBody>
      </p:sp>
      <p:sp>
        <p:nvSpPr>
          <p:cNvPr id="22" name="Text 19"/>
          <p:cNvSpPr/>
          <p:nvPr/>
        </p:nvSpPr>
        <p:spPr>
          <a:xfrm>
            <a:off x="8796528" y="4379976"/>
            <a:ext cx="273679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API Management, ahead of Foundry Models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THE $16,100 QUESTION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The undocumented credit, identified</a:t>
            </a:r>
            <a:endParaRPr lang="en-US" sz="24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v33 flagged a $16,100.27 charge on ai-factory-dev that was reversed and never itemised. Cross-referencing the operational data identifies it exactly.</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reversed charge is Claude Opus 4.8 in full plus part of Opus 4.6, on ai-factory-dev, and the operational deck names the reason: a MAP contract credit. v33 concluded it was 'not a discount on Claude consumption'; the line-level match says otherwise. Worth confirming with Comm-IT before it is treated as settled, but it is no longer an open mystery.</a:t>
            </a: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sp>
      <p:sp>
        <p:nvSpPr>
          <p:cNvPr id="9" name="Text 7"/>
          <p:cNvSpPr/>
          <p:nvPr/>
        </p:nvSpPr>
        <p:spPr>
          <a:xfrm>
            <a:off x="658368"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sp>
      <p:sp>
        <p:nvSpPr>
          <p:cNvPr id="13" name="Text 11"/>
          <p:cNvSpPr/>
          <p:nvPr/>
        </p:nvSpPr>
        <p:spPr>
          <a:xfrm>
            <a:off x="4585106"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indent="0" marL="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sp>
      <p:sp>
        <p:nvSpPr>
          <p:cNvPr id="18" name="Text 16"/>
          <p:cNvSpPr/>
          <p:nvPr/>
        </p:nvSpPr>
        <p:spPr>
          <a:xfrm>
            <a:off x="8511845"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indent="0" marL="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Where the $16,100.27 sits: July Bedrock consumption, two sources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914400"/>
        </p:xfrm>
        <a:graphic>
          <a:graphicData uri="http://schemas.openxmlformats.org/drawingml/2006/table">
            <a:tbl>
              <a:tblPr/>
              <a:tblGrid>
                <a:gridCol w="2926080"/>
                <a:gridCol w="2103120"/>
                <a:gridCol w="1920240"/>
                <a:gridCol w="1554480"/>
                <a:gridCol w="2770632"/>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4.7, Opus 5, Sonnet 4.6, Haiku 4.5,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25" name="Text 22"/>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29" name="Text 26"/>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33" name="Text 30"/>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raise with Comm-IT, then close the v33 item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2.6x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199" b="1" spc="120" kern="0" dirty="0">
                <a:solidFill>
                  <a:srgbClr val="91A0B7"/>
                </a:solidFill>
                <a:latin typeface="Calibri" pitchFamily="34" charset="0"/>
                <a:ea typeface="Calibri" pitchFamily="34" charset="-122"/>
                <a:cs typeface="Calibri" pitchFamily="34" charset="-120"/>
              </a:rPr>
              <a:t>AZURE MARKETPLACE, JAN-JUL</a:t>
            </a:r>
            <a:endParaRPr lang="en-US" sz="1199"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652776"/>
            <a:ext cx="8229600" cy="274320"/>
          </a:xfrm>
          <a:prstGeom prst="rect">
            <a:avLst/>
          </a:prstGeom>
          <a:noFill/>
          <a:ln/>
        </p:spPr>
        <p:txBody>
          <a:bodyPr wrap="square" lIns="0" tIns="0" rIns="0" bIns="0" rtlCol="0" anchor="ctr"/>
          <a:lstStyle/>
          <a:p>
            <a:pPr indent="0" marL="0">
              <a:buNone/>
            </a:pPr>
            <a:r>
              <a:rPr lang="en-US" sz="1300" b="1" spc="300" kern="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3000248"/>
            <a:ext cx="8412480" cy="61976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4802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70" b="1" dirty="0">
                <a:solidFill>
                  <a:srgbClr val="F4F7FB"/>
                </a:solidFill>
                <a:latin typeface="Calibri" pitchFamily="34" charset="0"/>
                <a:ea typeface="Calibri" pitchFamily="34" charset="-122"/>
                <a:cs typeface="Calibri" pitchFamily="34" charset="-120"/>
              </a:rPr>
              <a:t>Azure buys 59% at a discount, AWS 93%</a:t>
            </a:r>
            <a:endParaRPr lang="en-US" sz="227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the single biggest lever on unit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4" name="Shape 10"/>
          <p:cNvSpPr/>
          <p:nvPr/>
        </p:nvSpPr>
        <p:spPr>
          <a:xfrm>
            <a:off x="457200" y="3938869"/>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4030309"/>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231477"/>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633813"/>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3938869"/>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4030309"/>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231477"/>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633813"/>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3938869"/>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4030309"/>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231477"/>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633813"/>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3534842"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38328"/>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6411316"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sp>
      <p:sp>
        <p:nvSpPr>
          <p:cNvPr id="20" name="Text 18"/>
          <p:cNvSpPr/>
          <p:nvPr/>
        </p:nvSpPr>
        <p:spPr>
          <a:xfrm>
            <a:off x="9287789"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May-Jul,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sp>
      <p:sp>
        <p:nvSpPr>
          <p:cNvPr id="24" name="Text 22"/>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so it disappears from every consumption report while the money is already gone.</a:t>
            </a:r>
            <a:endParaRPr lang="en-US" sz="1550" dirty="0"/>
          </a:p>
        </p:txBody>
      </p:sp>
      <p:sp>
        <p:nvSpPr>
          <p:cNvPr id="26" name="Shape 24"/>
          <p:cNvSpPr/>
          <p:nvPr/>
        </p:nvSpPr>
        <p:spPr>
          <a:xfrm>
            <a:off x="457200" y="4517136"/>
            <a:ext cx="64008" cy="64008"/>
          </a:xfrm>
          <a:prstGeom prst="rect">
            <a:avLst/>
          </a:prstGeom>
          <a:solidFill>
            <a:srgbClr val="B07CFF"/>
          </a:solidFill>
          <a:ln w="12700">
            <a:solidFill>
              <a:srgbClr val="B07CFF"/>
            </a:solidFill>
            <a:prstDash val="solid"/>
          </a:ln>
        </p:spPr>
      </p:sp>
      <p:sp>
        <p:nvSpPr>
          <p:cNvPr id="27" name="Text 25"/>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the current pace the commitment finishes its three-year term substantially unused, the choice is to drive utilisation up or to renegotiate.</a:t>
            </a: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sp>
      <p:sp>
        <p:nvSpPr>
          <p:cNvPr id="29" name="Text 27"/>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0" name="Shape 28"/>
          <p:cNvSpPr/>
          <p:nvPr/>
        </p:nvSpPr>
        <p:spPr>
          <a:xfrm>
            <a:off x="457200" y="5650992"/>
            <a:ext cx="64008" cy="64008"/>
          </a:xfrm>
          <a:prstGeom prst="rect">
            <a:avLst/>
          </a:prstGeom>
          <a:solidFill>
            <a:srgbClr val="B07CFF"/>
          </a:solidFill>
          <a:ln w="12700">
            <a:solidFill>
              <a:srgbClr val="B07CFF"/>
            </a:solidFill>
            <a:prstDash val="solid"/>
          </a:ln>
        </p:spPr>
      </p:sp>
      <p:sp>
        <p:nvSpPr>
          <p:cNvPr id="31" name="Text 29"/>
          <p:cNvSpPr/>
          <p:nvPr/>
        </p:nvSpPr>
        <p:spPr>
          <a:xfrm>
            <a:off x="630936" y="5568696"/>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invisible in a consumption-only view, which is exactly why it belongs in a CIO briefing rather than an operations report.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sp>
      <p:sp>
        <p:nvSpPr>
          <p:cNvPr id="25" name="Text 23"/>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914400"/>
        </p:xfrm>
        <a:graphic>
          <a:graphicData uri="http://schemas.openxmlformats.org/drawingml/2006/table">
            <a:tbl>
              <a:tblPr/>
              <a:tblGrid>
                <a:gridCol w="384048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renewal,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 Service,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6327648" y="1325880"/>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6327648" y="2551176"/>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18"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6327648" y="3776472"/>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North Europe,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sp>
      <p:sp>
        <p:nvSpPr>
          <p:cNvPr id="23" name="Text 20"/>
          <p:cNvSpPr/>
          <p:nvPr/>
        </p:nvSpPr>
        <p:spPr>
          <a:xfrm>
            <a:off x="6327648" y="5001768"/>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Identified, not yet implemented.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changes what runs, it changes how it is bought and how long it stays on. The ask is a decision on the top four items, which are 66% of the value.</a:t>
            </a: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534924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SageMaker,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4" name="Shape 10"/>
          <p:cNvSpPr/>
          <p:nvPr/>
        </p:nvSpPr>
        <p:spPr>
          <a:xfrm>
            <a:off x="457200" y="4843028"/>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493446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13563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53797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843028"/>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493446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13563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53797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843028"/>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493446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13563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53797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about 19% of annualised consumption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Stopping it recurring</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Optimisation is a one-off. Governance is what stops the next $600K</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enforcement point, not a reporting layer bolted on afterwards, its logs are the financial record.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Resource tags answer which subscription. Only per-request metadata answers which use case.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3DD9EB"/>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ENFORCEMENT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Azure Budget will not stop the spend</a:t>
            </a:r>
            <a:endParaRPr lang="en-US" sz="2333"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budget reports. Only the gateway can refuse a request.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 API key is approved without: owner, cost centre, allowed models, max output tokens, TPM, a daily and a monthly quota, and an agreed break-glass path. Direct access to Foundry or a model endpoint is blocked. All traffic goes through the gateway.</a:t>
            </a:r>
            <a:endParaRPr lang="en-US" sz="1200" dirty="0"/>
          </a:p>
        </p:txBody>
      </p:sp>
      <p:sp>
        <p:nvSpPr>
          <p:cNvPr id="8" name="Text 6"/>
          <p:cNvSpPr/>
          <p:nvPr/>
        </p:nvSpPr>
        <p:spPr>
          <a:xfrm>
            <a:off x="457200" y="1234440"/>
            <a:ext cx="786384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control model</a:t>
            </a:r>
            <a:endParaRPr lang="en-US" sz="1500" dirty="0"/>
          </a:p>
        </p:txBody>
      </p:sp>
      <p:sp>
        <p:nvSpPr>
          <p:cNvPr id="9" name="Text 7"/>
          <p:cNvSpPr/>
          <p:nvPr/>
        </p:nvSpPr>
        <p:spPr>
          <a:xfrm>
            <a:off x="457200" y="1508760"/>
            <a:ext cx="786384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Every layer enforced in API Management, per subscription key</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863840" cy="914400"/>
        </p:xfrm>
        <a:graphic>
          <a:graphicData uri="http://schemas.openxmlformats.org/drawingml/2006/table">
            <a:tbl>
              <a:tblPr/>
              <a:tblGrid>
                <a:gridCol w="2468880"/>
                <a:gridCol w="21031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Control layer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Enforced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prevents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TPM / RPM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User and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Minute-scale bursts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Daily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 broken job running for hours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Monthly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 / cost centre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Overrun of the approved budget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Model allowlist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Unplanned jump to an expensive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Max output tokens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request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Runaway answers and agent loops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Global deployment ceiling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Model / backend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Organisation-wide blast radius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686800" y="1234440"/>
            <a:ext cx="304769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887968" y="1325880"/>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BUDGET LATENCY</a:t>
            </a:r>
            <a:endParaRPr lang="en-US" sz="1200" dirty="0"/>
          </a:p>
        </p:txBody>
      </p:sp>
      <p:sp>
        <p:nvSpPr>
          <p:cNvPr id="13" name="Text 10"/>
          <p:cNvSpPr/>
          <p:nvPr/>
        </p:nvSpPr>
        <p:spPr>
          <a:xfrm>
            <a:off x="8887968" y="1527048"/>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8-24 h</a:t>
            </a:r>
            <a:endParaRPr lang="en-US" sz="2800" dirty="0"/>
          </a:p>
        </p:txBody>
      </p:sp>
      <p:sp>
        <p:nvSpPr>
          <p:cNvPr id="14" name="Text 11"/>
          <p:cNvSpPr/>
          <p:nvPr/>
        </p:nvSpPr>
        <p:spPr>
          <a:xfrm>
            <a:off x="8887968" y="1929384"/>
            <a:ext cx="264535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reporting, not enforcement</a:t>
            </a:r>
            <a:endParaRPr lang="en-US" sz="1200" dirty="0"/>
          </a:p>
        </p:txBody>
      </p:sp>
      <p:sp>
        <p:nvSpPr>
          <p:cNvPr id="15" name="Shape 12"/>
          <p:cNvSpPr/>
          <p:nvPr/>
        </p:nvSpPr>
        <p:spPr>
          <a:xfrm>
            <a:off x="8686800" y="2459736"/>
            <a:ext cx="304769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887968" y="2551176"/>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APIM ENFORCEMENT</a:t>
            </a:r>
            <a:endParaRPr lang="en-US" sz="1200" dirty="0"/>
          </a:p>
        </p:txBody>
      </p:sp>
      <p:sp>
        <p:nvSpPr>
          <p:cNvPr id="17" name="Text 14"/>
          <p:cNvSpPr/>
          <p:nvPr/>
        </p:nvSpPr>
        <p:spPr>
          <a:xfrm>
            <a:off x="8887968" y="2752344"/>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Per request</a:t>
            </a:r>
            <a:endParaRPr lang="en-US" sz="2800" dirty="0"/>
          </a:p>
        </p:txBody>
      </p:sp>
      <p:sp>
        <p:nvSpPr>
          <p:cNvPr id="18" name="Text 15"/>
          <p:cNvSpPr/>
          <p:nvPr/>
        </p:nvSpPr>
        <p:spPr>
          <a:xfrm>
            <a:off x="8887968" y="3154680"/>
            <a:ext cx="264535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429 on TPM, 403 on quota</a:t>
            </a:r>
            <a:endParaRPr lang="en-US" sz="1200" dirty="0"/>
          </a:p>
        </p:txBody>
      </p:sp>
      <p:sp>
        <p:nvSpPr>
          <p:cNvPr id="19" name="Shape 16"/>
          <p:cNvSpPr/>
          <p:nvPr/>
        </p:nvSpPr>
        <p:spPr>
          <a:xfrm>
            <a:off x="8686800" y="3685032"/>
            <a:ext cx="304769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887968" y="3776472"/>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SET THE HARD QUOTA AT</a:t>
            </a:r>
            <a:endParaRPr lang="en-US" sz="1200" dirty="0"/>
          </a:p>
        </p:txBody>
      </p:sp>
      <p:sp>
        <p:nvSpPr>
          <p:cNvPr id="21" name="Text 18"/>
          <p:cNvSpPr/>
          <p:nvPr/>
        </p:nvSpPr>
        <p:spPr>
          <a:xfrm>
            <a:off x="8887968" y="3977640"/>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75-85%</a:t>
            </a:r>
            <a:endParaRPr lang="en-US" sz="2800" dirty="0"/>
          </a:p>
        </p:txBody>
      </p:sp>
      <p:sp>
        <p:nvSpPr>
          <p:cNvPr id="22" name="Text 19"/>
          <p:cNvSpPr/>
          <p:nvPr/>
        </p:nvSpPr>
        <p:spPr>
          <a:xfrm>
            <a:off x="8887968" y="4379976"/>
            <a:ext cx="264535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approved budget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17904"/>
            <a:ext cx="409766" cy="409766"/>
          </a:xfrm>
          <a:prstGeom prst="ellipse">
            <a:avLst/>
          </a:prstGeom>
          <a:solidFill>
            <a:srgbClr val="121B2D"/>
          </a:solidFill>
          <a:ln w="15875">
            <a:solidFill>
              <a:srgbClr val="B07CFF"/>
            </a:solidFill>
            <a:prstDash val="solid"/>
          </a:ln>
        </p:spPr>
      </p:sp>
      <p:sp>
        <p:nvSpPr>
          <p:cNvPr id="8" name="Text 6"/>
          <p:cNvSpPr/>
          <p:nvPr/>
        </p:nvSpPr>
        <p:spPr>
          <a:xfrm>
            <a:off x="457200" y="1517904"/>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1</a:t>
            </a:r>
            <a:endParaRPr lang="en-US" sz="1618" dirty="0"/>
          </a:p>
        </p:txBody>
      </p:sp>
      <p:sp>
        <p:nvSpPr>
          <p:cNvPr id="9" name="Text 7"/>
          <p:cNvSpPr/>
          <p:nvPr/>
        </p:nvSpPr>
        <p:spPr>
          <a:xfrm>
            <a:off x="1013270" y="1463040"/>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Business owner</a:t>
            </a:r>
            <a:endParaRPr lang="en-US" sz="1300" dirty="0"/>
          </a:p>
        </p:txBody>
      </p:sp>
      <p:sp>
        <p:nvSpPr>
          <p:cNvPr id="10" name="Text 8"/>
          <p:cNvSpPr/>
          <p:nvPr/>
        </p:nvSpPr>
        <p:spPr>
          <a:xfrm>
            <a:off x="1013270" y="1715135"/>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Text 9"/>
          <p:cNvSpPr/>
          <p:nvPr/>
        </p:nvSpPr>
        <p:spPr>
          <a:xfrm>
            <a:off x="1013270" y="1951355"/>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Record it with the cost centre, so it survives a reorg.</a:t>
            </a:r>
            <a:endParaRPr lang="en-US" sz="1200" dirty="0"/>
          </a:p>
        </p:txBody>
      </p:sp>
      <p:sp>
        <p:nvSpPr>
          <p:cNvPr id="12" name="Shape 10"/>
          <p:cNvSpPr/>
          <p:nvPr/>
        </p:nvSpPr>
        <p:spPr>
          <a:xfrm>
            <a:off x="457200" y="2337435"/>
            <a:ext cx="409766" cy="409766"/>
          </a:xfrm>
          <a:prstGeom prst="ellipse">
            <a:avLst/>
          </a:prstGeom>
          <a:solidFill>
            <a:srgbClr val="121B2D"/>
          </a:solidFill>
          <a:ln w="15875">
            <a:solidFill>
              <a:srgbClr val="B07CFF"/>
            </a:solidFill>
            <a:prstDash val="solid"/>
          </a:ln>
        </p:spPr>
      </p:sp>
      <p:sp>
        <p:nvSpPr>
          <p:cNvPr id="13" name="Text 11"/>
          <p:cNvSpPr/>
          <p:nvPr/>
        </p:nvSpPr>
        <p:spPr>
          <a:xfrm>
            <a:off x="457200" y="2337435"/>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2</a:t>
            </a:r>
            <a:endParaRPr lang="en-US" sz="1618" dirty="0"/>
          </a:p>
        </p:txBody>
      </p:sp>
      <p:sp>
        <p:nvSpPr>
          <p:cNvPr id="14" name="Text 12"/>
          <p:cNvSpPr/>
          <p:nvPr/>
        </p:nvSpPr>
        <p:spPr>
          <a:xfrm>
            <a:off x="1013270" y="2282571"/>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Technical owner</a:t>
            </a:r>
            <a:endParaRPr lang="en-US" sz="1300" dirty="0"/>
          </a:p>
        </p:txBody>
      </p:sp>
      <p:sp>
        <p:nvSpPr>
          <p:cNvPr id="15" name="Text 13"/>
          <p:cNvSpPr/>
          <p:nvPr/>
        </p:nvSpPr>
        <p:spPr>
          <a:xfrm>
            <a:off x="1013270" y="2534666"/>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6" name="Text 14"/>
          <p:cNvSpPr/>
          <p:nvPr/>
        </p:nvSpPr>
        <p:spPr>
          <a:xfrm>
            <a:off x="1013270" y="2770886"/>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On call for the model, not just the pipeline.</a:t>
            </a:r>
            <a:endParaRPr lang="en-US" sz="1200" dirty="0"/>
          </a:p>
        </p:txBody>
      </p:sp>
      <p:sp>
        <p:nvSpPr>
          <p:cNvPr id="17" name="Shape 15"/>
          <p:cNvSpPr/>
          <p:nvPr/>
        </p:nvSpPr>
        <p:spPr>
          <a:xfrm>
            <a:off x="457200" y="3156966"/>
            <a:ext cx="409766" cy="409766"/>
          </a:xfrm>
          <a:prstGeom prst="ellipse">
            <a:avLst/>
          </a:prstGeom>
          <a:solidFill>
            <a:srgbClr val="121B2D"/>
          </a:solidFill>
          <a:ln w="15875">
            <a:solidFill>
              <a:srgbClr val="B07CFF"/>
            </a:solidFill>
            <a:prstDash val="solid"/>
          </a:ln>
        </p:spPr>
      </p:sp>
      <p:sp>
        <p:nvSpPr>
          <p:cNvPr id="18" name="Text 16"/>
          <p:cNvSpPr/>
          <p:nvPr/>
        </p:nvSpPr>
        <p:spPr>
          <a:xfrm>
            <a:off x="457200" y="3156966"/>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3</a:t>
            </a:r>
            <a:endParaRPr lang="en-US" sz="1618" dirty="0"/>
          </a:p>
        </p:txBody>
      </p:sp>
      <p:sp>
        <p:nvSpPr>
          <p:cNvPr id="19" name="Text 17"/>
          <p:cNvSpPr/>
          <p:nvPr/>
        </p:nvSpPr>
        <p:spPr>
          <a:xfrm>
            <a:off x="1013270" y="3102102"/>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Budget</a:t>
            </a:r>
            <a:endParaRPr lang="en-US" sz="1300" dirty="0"/>
          </a:p>
        </p:txBody>
      </p:sp>
      <p:sp>
        <p:nvSpPr>
          <p:cNvPr id="20" name="Text 18"/>
          <p:cNvSpPr/>
          <p:nvPr/>
        </p:nvSpPr>
        <p:spPr>
          <a:xfrm>
            <a:off x="1013270" y="3354197"/>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21" name="Text 19"/>
          <p:cNvSpPr/>
          <p:nvPr/>
        </p:nvSpPr>
        <p:spPr>
          <a:xfrm>
            <a:off x="1013270" y="3590417"/>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Set the hard quota at 75-85% of budget.</a:t>
            </a:r>
            <a:endParaRPr lang="en-US" sz="1200" dirty="0"/>
          </a:p>
        </p:txBody>
      </p:sp>
      <p:sp>
        <p:nvSpPr>
          <p:cNvPr id="22" name="Shape 20"/>
          <p:cNvSpPr/>
          <p:nvPr/>
        </p:nvSpPr>
        <p:spPr>
          <a:xfrm>
            <a:off x="457200" y="3976497"/>
            <a:ext cx="409766" cy="409766"/>
          </a:xfrm>
          <a:prstGeom prst="ellipse">
            <a:avLst/>
          </a:prstGeom>
          <a:solidFill>
            <a:srgbClr val="121B2D"/>
          </a:solidFill>
          <a:ln w="15875">
            <a:solidFill>
              <a:srgbClr val="B07CFF"/>
            </a:solidFill>
            <a:prstDash val="solid"/>
          </a:ln>
        </p:spPr>
      </p:sp>
      <p:sp>
        <p:nvSpPr>
          <p:cNvPr id="23" name="Text 21"/>
          <p:cNvSpPr/>
          <p:nvPr/>
        </p:nvSpPr>
        <p:spPr>
          <a:xfrm>
            <a:off x="457200" y="3976497"/>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4</a:t>
            </a:r>
            <a:endParaRPr lang="en-US" sz="1618" dirty="0"/>
          </a:p>
        </p:txBody>
      </p:sp>
      <p:sp>
        <p:nvSpPr>
          <p:cNvPr id="24" name="Text 22"/>
          <p:cNvSpPr/>
          <p:nvPr/>
        </p:nvSpPr>
        <p:spPr>
          <a:xfrm>
            <a:off x="1013270" y="3921633"/>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Rate limit</a:t>
            </a:r>
            <a:endParaRPr lang="en-US" sz="1300" dirty="0"/>
          </a:p>
        </p:txBody>
      </p:sp>
      <p:sp>
        <p:nvSpPr>
          <p:cNvPr id="25" name="Text 23"/>
          <p:cNvSpPr/>
          <p:nvPr/>
        </p:nvSpPr>
        <p:spPr>
          <a:xfrm>
            <a:off x="1013270" y="4173728"/>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6" name="Text 24"/>
          <p:cNvSpPr/>
          <p:nvPr/>
        </p:nvSpPr>
        <p:spPr>
          <a:xfrm>
            <a:off x="1013270" y="4409948"/>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One key per application, never shared.</a:t>
            </a:r>
            <a:endParaRPr lang="en-US" sz="1200" dirty="0"/>
          </a:p>
        </p:txBody>
      </p:sp>
      <p:sp>
        <p:nvSpPr>
          <p:cNvPr id="27" name="Shape 25"/>
          <p:cNvSpPr/>
          <p:nvPr/>
        </p:nvSpPr>
        <p:spPr>
          <a:xfrm>
            <a:off x="6278728" y="1517904"/>
            <a:ext cx="409766" cy="409766"/>
          </a:xfrm>
          <a:prstGeom prst="ellipse">
            <a:avLst/>
          </a:prstGeom>
          <a:solidFill>
            <a:srgbClr val="121B2D"/>
          </a:solidFill>
          <a:ln w="15875">
            <a:solidFill>
              <a:srgbClr val="B07CFF"/>
            </a:solidFill>
            <a:prstDash val="solid"/>
          </a:ln>
        </p:spPr>
      </p:sp>
      <p:sp>
        <p:nvSpPr>
          <p:cNvPr id="28" name="Text 26"/>
          <p:cNvSpPr/>
          <p:nvPr/>
        </p:nvSpPr>
        <p:spPr>
          <a:xfrm>
            <a:off x="6278728" y="1517904"/>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5</a:t>
            </a:r>
            <a:endParaRPr lang="en-US" sz="1618" dirty="0"/>
          </a:p>
        </p:txBody>
      </p:sp>
      <p:sp>
        <p:nvSpPr>
          <p:cNvPr id="29" name="Text 27"/>
          <p:cNvSpPr/>
          <p:nvPr/>
        </p:nvSpPr>
        <p:spPr>
          <a:xfrm>
            <a:off x="6834797" y="1463040"/>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Token quota</a:t>
            </a:r>
            <a:endParaRPr lang="en-US" sz="1300" dirty="0"/>
          </a:p>
        </p:txBody>
      </p:sp>
      <p:sp>
        <p:nvSpPr>
          <p:cNvPr id="30" name="Text 28"/>
          <p:cNvSpPr/>
          <p:nvPr/>
        </p:nvSpPr>
        <p:spPr>
          <a:xfrm>
            <a:off x="6834797" y="1715135"/>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31" name="Text 29"/>
          <p:cNvSpPr/>
          <p:nvPr/>
        </p:nvSpPr>
        <p:spPr>
          <a:xfrm>
            <a:off x="6834797" y="1951355"/>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Split it by region; each APIM gateway counts alone.</a:t>
            </a:r>
            <a:endParaRPr lang="en-US" sz="1200" dirty="0"/>
          </a:p>
        </p:txBody>
      </p:sp>
      <p:sp>
        <p:nvSpPr>
          <p:cNvPr id="32" name="Shape 30"/>
          <p:cNvSpPr/>
          <p:nvPr/>
        </p:nvSpPr>
        <p:spPr>
          <a:xfrm>
            <a:off x="6278728" y="2337435"/>
            <a:ext cx="409766" cy="409766"/>
          </a:xfrm>
          <a:prstGeom prst="ellipse">
            <a:avLst/>
          </a:prstGeom>
          <a:solidFill>
            <a:srgbClr val="121B2D"/>
          </a:solidFill>
          <a:ln w="15875">
            <a:solidFill>
              <a:srgbClr val="B07CFF"/>
            </a:solidFill>
            <a:prstDash val="solid"/>
          </a:ln>
        </p:spPr>
      </p:sp>
      <p:sp>
        <p:nvSpPr>
          <p:cNvPr id="33" name="Text 31"/>
          <p:cNvSpPr/>
          <p:nvPr/>
        </p:nvSpPr>
        <p:spPr>
          <a:xfrm>
            <a:off x="6278728" y="2337435"/>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6</a:t>
            </a:r>
            <a:endParaRPr lang="en-US" sz="1618" dirty="0"/>
          </a:p>
        </p:txBody>
      </p:sp>
      <p:sp>
        <p:nvSpPr>
          <p:cNvPr id="34" name="Text 32"/>
          <p:cNvSpPr/>
          <p:nvPr/>
        </p:nvSpPr>
        <p:spPr>
          <a:xfrm>
            <a:off x="6834797" y="2282571"/>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Cost centre</a:t>
            </a:r>
            <a:endParaRPr lang="en-US" sz="1300" dirty="0"/>
          </a:p>
        </p:txBody>
      </p:sp>
      <p:sp>
        <p:nvSpPr>
          <p:cNvPr id="35" name="Text 33"/>
          <p:cNvSpPr/>
          <p:nvPr/>
        </p:nvSpPr>
        <p:spPr>
          <a:xfrm>
            <a:off x="6834797" y="2534666"/>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6" name="Text 34"/>
          <p:cNvSpPr/>
          <p:nvPr/>
        </p:nvSpPr>
        <p:spPr>
          <a:xfrm>
            <a:off x="6834797" y="2770886"/>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Tag the request at the gateway, not just the resource.</a:t>
            </a:r>
            <a:endParaRPr lang="en-US" sz="1200" dirty="0"/>
          </a:p>
        </p:txBody>
      </p:sp>
      <p:sp>
        <p:nvSpPr>
          <p:cNvPr id="37" name="Shape 35"/>
          <p:cNvSpPr/>
          <p:nvPr/>
        </p:nvSpPr>
        <p:spPr>
          <a:xfrm>
            <a:off x="6278728" y="3156966"/>
            <a:ext cx="409766" cy="409766"/>
          </a:xfrm>
          <a:prstGeom prst="ellipse">
            <a:avLst/>
          </a:prstGeom>
          <a:solidFill>
            <a:srgbClr val="121B2D"/>
          </a:solidFill>
          <a:ln w="15875">
            <a:solidFill>
              <a:srgbClr val="B07CFF"/>
            </a:solidFill>
            <a:prstDash val="solid"/>
          </a:ln>
        </p:spPr>
      </p:sp>
      <p:sp>
        <p:nvSpPr>
          <p:cNvPr id="38" name="Text 36"/>
          <p:cNvSpPr/>
          <p:nvPr/>
        </p:nvSpPr>
        <p:spPr>
          <a:xfrm>
            <a:off x="6278728" y="3156966"/>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7</a:t>
            </a:r>
            <a:endParaRPr lang="en-US" sz="1618" dirty="0"/>
          </a:p>
        </p:txBody>
      </p:sp>
      <p:sp>
        <p:nvSpPr>
          <p:cNvPr id="39" name="Text 37"/>
          <p:cNvSpPr/>
          <p:nvPr/>
        </p:nvSpPr>
        <p:spPr>
          <a:xfrm>
            <a:off x="6834797" y="3102102"/>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Executive approval</a:t>
            </a:r>
            <a:endParaRPr lang="en-US" sz="1300" dirty="0"/>
          </a:p>
        </p:txBody>
      </p:sp>
      <p:sp>
        <p:nvSpPr>
          <p:cNvPr id="40" name="Text 38"/>
          <p:cNvSpPr/>
          <p:nvPr/>
        </p:nvSpPr>
        <p:spPr>
          <a:xfrm>
            <a:off x="6834797" y="3354197"/>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41" name="Text 39"/>
          <p:cNvSpPr/>
          <p:nvPr/>
        </p:nvSpPr>
        <p:spPr>
          <a:xfrm>
            <a:off x="6834797" y="3590417"/>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Re-approve at every model-tier change.</a:t>
            </a:r>
            <a:endParaRPr lang="en-US" sz="1200" dirty="0"/>
          </a:p>
        </p:txBody>
      </p:sp>
      <p:sp>
        <p:nvSpPr>
          <p:cNvPr id="42" name="Shape 40"/>
          <p:cNvSpPr/>
          <p:nvPr/>
        </p:nvSpPr>
        <p:spPr>
          <a:xfrm>
            <a:off x="457200" y="5015484"/>
            <a:ext cx="11277295" cy="1248156"/>
          </a:xfrm>
          <a:prstGeom prst="roundRect">
            <a:avLst>
              <a:gd name="adj" fmla="val 4396"/>
            </a:avLst>
          </a:prstGeom>
          <a:solidFill>
            <a:srgbClr val="121B2D"/>
          </a:solidFill>
          <a:ln w="12700">
            <a:solidFill>
              <a:srgbClr val="B07CFF"/>
            </a:solidFill>
            <a:prstDash val="solid"/>
          </a:ln>
        </p:spPr>
      </p:sp>
      <p:sp>
        <p:nvSpPr>
          <p:cNvPr id="43" name="Text 41"/>
          <p:cNvSpPr/>
          <p:nvPr/>
        </p:nvSpPr>
        <p:spPr>
          <a:xfrm>
            <a:off x="713232" y="5161788"/>
            <a:ext cx="10765231" cy="389329"/>
          </a:xfrm>
          <a:prstGeom prst="rect">
            <a:avLst/>
          </a:prstGeom>
          <a:noFill/>
          <a:ln/>
        </p:spPr>
        <p:txBody>
          <a:bodyPr wrap="square" lIns="0" tIns="0" rIns="0" bIns="0" rtlCol="0" anchor="ctr"/>
          <a:lstStyle/>
          <a:p>
            <a:pPr indent="0" marL="0">
              <a:buNone/>
            </a:pPr>
            <a:r>
              <a:rPr lang="en-US" sz="1992" b="1" dirty="0">
                <a:solidFill>
                  <a:srgbClr val="F4F7FB"/>
                </a:solidFill>
                <a:latin typeface="Calibri" pitchFamily="34" charset="0"/>
                <a:ea typeface="Calibri" pitchFamily="34" charset="-122"/>
                <a:cs typeface="Calibri" pitchFamily="34" charset="-120"/>
              </a:rPr>
              <a:t>This is what makes shadow AI structurally impossible</a:t>
            </a:r>
            <a:endParaRPr lang="en-US" sz="1992" dirty="0"/>
          </a:p>
        </p:txBody>
      </p:sp>
      <p:sp>
        <p:nvSpPr>
          <p:cNvPr id="44" name="Text 42"/>
          <p:cNvSpPr/>
          <p:nvPr/>
        </p:nvSpPr>
        <p:spPr>
          <a:xfrm>
            <a:off x="713232" y="5551117"/>
            <a:ext cx="10765231" cy="566219"/>
          </a:xfrm>
          <a:prstGeom prst="rect">
            <a:avLst/>
          </a:prstGeom>
          <a:noFill/>
          <a:ln/>
        </p:spPr>
        <p:txBody>
          <a:bodyPr wrap="square" lIns="0" tIns="0" rIns="0" bIns="0" rtlCol="0" anchor="t"/>
          <a:lstStyle/>
          <a:p>
            <a:pPr indent="0" marL="0">
              <a:lnSpc>
                <a:spcPct val="118000"/>
              </a:lnSpc>
              <a:buNone/>
            </a:pPr>
            <a:r>
              <a:rPr lang="en-US" sz="1556"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so it never reaches a provider inside the enterprise network.</a:t>
            </a:r>
            <a:endParaRPr lang="en-US" sz="1556"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sp>
      <p:sp>
        <p:nvSpPr>
          <p:cNvPr id="13" name="Text 11"/>
          <p:cNvSpPr/>
          <p:nvPr/>
        </p:nvSpPr>
        <p:spPr>
          <a:xfrm>
            <a:off x="3541700"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sp>
      <p:sp>
        <p:nvSpPr>
          <p:cNvPr id="15" name="Text 13"/>
          <p:cNvSpPr/>
          <p:nvPr/>
        </p:nvSpPr>
        <p:spPr>
          <a:xfrm>
            <a:off x="5126584"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16" name="Text 14"/>
          <p:cNvSpPr/>
          <p:nvPr/>
        </p:nvSpPr>
        <p:spPr>
          <a:xfrm>
            <a:off x="3541700"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sp>
      <p:sp>
        <p:nvSpPr>
          <p:cNvPr id="19" name="Text 17"/>
          <p:cNvSpPr/>
          <p:nvPr/>
        </p:nvSpPr>
        <p:spPr>
          <a:xfrm>
            <a:off x="6425032"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sp>
      <p:sp>
        <p:nvSpPr>
          <p:cNvPr id="21" name="Text 19"/>
          <p:cNvSpPr/>
          <p:nvPr/>
        </p:nvSpPr>
        <p:spPr>
          <a:xfrm>
            <a:off x="8009915"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2" name="Text 20"/>
          <p:cNvSpPr/>
          <p:nvPr/>
        </p:nvSpPr>
        <p:spPr>
          <a:xfrm>
            <a:off x="6425032"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sp>
      <p:sp>
        <p:nvSpPr>
          <p:cNvPr id="25" name="Text 23"/>
          <p:cNvSpPr/>
          <p:nvPr/>
        </p:nvSpPr>
        <p:spPr>
          <a:xfrm>
            <a:off x="9308363"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sp>
      <p:sp>
        <p:nvSpPr>
          <p:cNvPr id="27" name="Text 25"/>
          <p:cNvSpPr/>
          <p:nvPr/>
        </p:nvSpPr>
        <p:spPr>
          <a:xfrm>
            <a:off x="10893247"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8" name="Text 26"/>
          <p:cNvSpPr/>
          <p:nvPr/>
        </p:nvSpPr>
        <p:spPr>
          <a:xfrm>
            <a:off x="9308363"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sp>
      <p:sp>
        <p:nvSpPr>
          <p:cNvPr id="31" name="Text 29"/>
          <p:cNvSpPr/>
          <p:nvPr/>
        </p:nvSpPr>
        <p:spPr>
          <a:xfrm>
            <a:off x="658368" y="3785616"/>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sp>
      <p:sp>
        <p:nvSpPr>
          <p:cNvPr id="33" name="Text 31"/>
          <p:cNvSpPr/>
          <p:nvPr/>
        </p:nvSpPr>
        <p:spPr>
          <a:xfrm>
            <a:off x="2243252" y="3822192"/>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34" name="Text 32"/>
          <p:cNvSpPr/>
          <p:nvPr/>
        </p:nvSpPr>
        <p:spPr>
          <a:xfrm>
            <a:off x="658368"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sp>
      <p:sp>
        <p:nvSpPr>
          <p:cNvPr id="37" name="Text 35"/>
          <p:cNvSpPr/>
          <p:nvPr/>
        </p:nvSpPr>
        <p:spPr>
          <a:xfrm>
            <a:off x="3541700"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sp>
      <p:sp>
        <p:nvSpPr>
          <p:cNvPr id="41" name="Text 39"/>
          <p:cNvSpPr/>
          <p:nvPr/>
        </p:nvSpPr>
        <p:spPr>
          <a:xfrm>
            <a:off x="6425032"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sp>
      <p:sp>
        <p:nvSpPr>
          <p:cNvPr id="45" name="Text 43"/>
          <p:cNvSpPr/>
          <p:nvPr/>
        </p:nvSpPr>
        <p:spPr>
          <a:xfrm>
            <a:off x="9308363"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only a policy.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680960" cy="914400"/>
        </p:xfrm>
        <a:graphic>
          <a:graphicData uri="http://schemas.openxmlformats.org/drawingml/2006/table">
            <a:tbl>
              <a:tblPr/>
              <a:tblGrid>
                <a:gridCol w="1920240"/>
                <a:gridCol w="1051560"/>
                <a:gridCol w="1143000"/>
                <a:gridCol w="1188720"/>
                <a:gridCol w="23774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model: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05088" y="1325880"/>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to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05088" y="2551176"/>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Jan-Jul, +593% Jan to 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05088" y="3776472"/>
            <a:ext cx="2828239" cy="237744"/>
          </a:xfrm>
          <a:prstGeom prst="rect">
            <a:avLst/>
          </a:prstGeom>
          <a:noFill/>
          <a:ln/>
        </p:spPr>
        <p:txBody>
          <a:bodyPr wrap="square" lIns="0" tIns="0" rIns="0" bIns="0" rtlCol="0" anchor="ctr"/>
          <a:lstStyle/>
          <a:p>
            <a:pPr indent="0" marL="0">
              <a:buNone/>
            </a:pPr>
            <a:r>
              <a:rPr lang="en-US" sz="1183" b="1" spc="120" kern="0" dirty="0">
                <a:solidFill>
                  <a:srgbClr val="91A0B7"/>
                </a:solidFill>
                <a:latin typeface="Calibri" pitchFamily="34" charset="0"/>
                <a:ea typeface="Calibri" pitchFamily="34" charset="-122"/>
                <a:cs typeface="Calibri" pitchFamily="34" charset="-120"/>
              </a:rPr>
              <a:t>AWS BEDROCK, OPUS SHARE</a:t>
            </a:r>
            <a:endParaRPr lang="en-US" sz="1183"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sp>
      <p:sp>
        <p:nvSpPr>
          <p:cNvPr id="24" name="Text 21"/>
          <p:cNvSpPr/>
          <p:nvPr/>
        </p:nvSpPr>
        <p:spPr>
          <a:xfrm>
            <a:off x="8705088" y="5001768"/>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26" name="Text 23"/>
          <p:cNvSpPr/>
          <p:nvPr/>
        </p:nvSpPr>
        <p:spPr>
          <a:xfrm>
            <a:off x="8705088" y="5605272"/>
            <a:ext cx="282823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are asking for</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Open items, owners and status</a:t>
            </a: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10972800" cy="914400"/>
        </p:xfrm>
        <a:graphic>
          <a:graphicData uri="http://schemas.openxmlformats.org/drawingml/2006/table">
            <a:tbl>
              <a:tblPr/>
              <a:tblGrid>
                <a:gridCol w="411480"/>
                <a:gridCol w="2651760"/>
                <a:gridCol w="5303520"/>
                <a:gridCol w="1051560"/>
                <a:gridCol w="1554480"/>
              </a:tblGrid>
              <a:tr h="475488">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Deliver the Cloud FinOps savings plan: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Infrastructure Division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WIV.AI rollout (free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9" name="Shape 6"/>
          <p:cNvSpPr/>
          <p:nvPr/>
        </p:nvSpPr>
        <p:spPr>
          <a:xfrm>
            <a:off x="457200" y="5100041"/>
            <a:ext cx="3606698" cy="1078992"/>
          </a:xfrm>
          <a:prstGeom prst="roundRect">
            <a:avLst>
              <a:gd name="adj" fmla="val 5085"/>
            </a:avLst>
          </a:prstGeom>
          <a:solidFill>
            <a:srgbClr val="121B2D"/>
          </a:solidFill>
          <a:ln w="12700">
            <a:solidFill>
              <a:srgbClr val="23304A"/>
            </a:solidFill>
            <a:prstDash val="solid"/>
          </a:ln>
        </p:spPr>
      </p:sp>
      <p:sp>
        <p:nvSpPr>
          <p:cNvPr id="10" name="Text 7"/>
          <p:cNvSpPr/>
          <p:nvPr/>
        </p:nvSpPr>
        <p:spPr>
          <a:xfrm>
            <a:off x="658368" y="5191481"/>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92649"/>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94985"/>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100041"/>
            <a:ext cx="3606698" cy="1078992"/>
          </a:xfrm>
          <a:prstGeom prst="roundRect">
            <a:avLst>
              <a:gd name="adj" fmla="val 5085"/>
            </a:avLst>
          </a:prstGeom>
          <a:solidFill>
            <a:srgbClr val="121B2D"/>
          </a:solidFill>
          <a:ln w="12700">
            <a:solidFill>
              <a:srgbClr val="23304A"/>
            </a:solidFill>
            <a:prstDash val="solid"/>
          </a:ln>
        </p:spPr>
      </p:sp>
      <p:sp>
        <p:nvSpPr>
          <p:cNvPr id="14" name="Text 11"/>
          <p:cNvSpPr/>
          <p:nvPr/>
        </p:nvSpPr>
        <p:spPr>
          <a:xfrm>
            <a:off x="4493666" y="5191481"/>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92649"/>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94985"/>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7" name="Shape 14"/>
          <p:cNvSpPr/>
          <p:nvPr/>
        </p:nvSpPr>
        <p:spPr>
          <a:xfrm>
            <a:off x="8127797" y="5100041"/>
            <a:ext cx="3606698" cy="1078992"/>
          </a:xfrm>
          <a:prstGeom prst="roundRect">
            <a:avLst>
              <a:gd name="adj" fmla="val 5085"/>
            </a:avLst>
          </a:prstGeom>
          <a:solidFill>
            <a:srgbClr val="121B2D"/>
          </a:solidFill>
          <a:ln w="12700">
            <a:solidFill>
              <a:srgbClr val="23304A"/>
            </a:solidFill>
            <a:prstDash val="solid"/>
          </a:ln>
        </p:spPr>
      </p:sp>
      <p:sp>
        <p:nvSpPr>
          <p:cNvPr id="18" name="Text 15"/>
          <p:cNvSpPr/>
          <p:nvPr/>
        </p:nvSpPr>
        <p:spPr>
          <a:xfrm>
            <a:off x="8328965" y="5191481"/>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 CONFIRM</a:t>
            </a:r>
            <a:endParaRPr lang="en-US" sz="1200" dirty="0"/>
          </a:p>
        </p:txBody>
      </p:sp>
      <p:sp>
        <p:nvSpPr>
          <p:cNvPr id="19" name="Text 16"/>
          <p:cNvSpPr/>
          <p:nvPr/>
        </p:nvSpPr>
        <p:spPr>
          <a:xfrm>
            <a:off x="8328965" y="5392649"/>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a:t>
            </a:r>
            <a:endParaRPr lang="en-US" sz="2800" dirty="0"/>
          </a:p>
        </p:txBody>
      </p:sp>
      <p:sp>
        <p:nvSpPr>
          <p:cNvPr id="20" name="Text 17"/>
          <p:cNvSpPr/>
          <p:nvPr/>
        </p:nvSpPr>
        <p:spPr>
          <a:xfrm>
            <a:off x="8328965" y="5794985"/>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MAP credit, with Comm-IT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payers sit under AWS. Charges exclude Marketplace purchases, which are shown separately.</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GitHub and Cowork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DataCloud</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SAP</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and the best candidate for reservations.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a flat and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Cloud IT</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+8%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+489%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API Management and VMs are the two largest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since models need somewhere to run,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+2664%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+240%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with Opus 5 appearing in July,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+2907% Mar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DEVELOPER AI</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GitHub and Copilot</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Developer-facing AI, billed through the Shared Resources subscription.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GitHub triples between May and July. Cowork credits appear for the first time in July at $8,919, no credit applied, billed in full.</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MAY-JUL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+198% May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COWORK, JULY</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$8,919</a:t>
            </a:r>
            <a:endParaRPr lang="en-US" sz="2800"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first full month billed</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COMBINED</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$51K</a:t>
            </a:r>
            <a:endParaRPr lang="en-US" sz="2800"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developer AI, three months</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GitHub, by subscription</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Cowork, 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Cloud Infrastructure, DevOps &amp; Databases</cp:lastModifiedBy>
  <cp:revision>1</cp:revision>
  <dcterms:created xsi:type="dcterms:W3CDTF">2026-08-19T20:01:21Z</dcterms:created>
  <dcterms:modified xsi:type="dcterms:W3CDTF">2026-08-19T20:01:21Z</dcterms:modified>
</cp:coreProperties>
</file>